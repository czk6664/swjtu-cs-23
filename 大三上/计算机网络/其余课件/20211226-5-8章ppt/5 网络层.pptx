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notesMasterIdLst>
    <p:notesMasterId r:id="rId192"/>
  </p:notesMasterIdLst>
  <p:handoutMasterIdLst>
    <p:handoutMasterId r:id="rId193"/>
  </p:handoutMasterIdLst>
  <p:sldIdLst>
    <p:sldId id="1066" r:id="rId2"/>
    <p:sldId id="1171" r:id="rId3"/>
    <p:sldId id="1067" r:id="rId4"/>
    <p:sldId id="1068" r:id="rId5"/>
    <p:sldId id="1173" r:id="rId6"/>
    <p:sldId id="1069" r:id="rId7"/>
    <p:sldId id="1070" r:id="rId8"/>
    <p:sldId id="1071" r:id="rId9"/>
    <p:sldId id="776" r:id="rId10"/>
    <p:sldId id="837" r:id="rId11"/>
    <p:sldId id="838" r:id="rId12"/>
    <p:sldId id="1074" r:id="rId13"/>
    <p:sldId id="1174" r:id="rId14"/>
    <p:sldId id="1175" r:id="rId15"/>
    <p:sldId id="813" r:id="rId16"/>
    <p:sldId id="814" r:id="rId17"/>
    <p:sldId id="815" r:id="rId18"/>
    <p:sldId id="882" r:id="rId19"/>
    <p:sldId id="883" r:id="rId20"/>
    <p:sldId id="1376" r:id="rId21"/>
    <p:sldId id="884" r:id="rId22"/>
    <p:sldId id="1281" r:id="rId23"/>
    <p:sldId id="1282" r:id="rId24"/>
    <p:sldId id="1261" r:id="rId25"/>
    <p:sldId id="1280" r:id="rId26"/>
    <p:sldId id="889" r:id="rId27"/>
    <p:sldId id="890" r:id="rId28"/>
    <p:sldId id="891" r:id="rId29"/>
    <p:sldId id="892" r:id="rId30"/>
    <p:sldId id="893" r:id="rId31"/>
    <p:sldId id="1284" r:id="rId32"/>
    <p:sldId id="894" r:id="rId33"/>
    <p:sldId id="895" r:id="rId34"/>
    <p:sldId id="1262" r:id="rId35"/>
    <p:sldId id="1265" r:id="rId36"/>
    <p:sldId id="904" r:id="rId37"/>
    <p:sldId id="1267" r:id="rId38"/>
    <p:sldId id="1287" r:id="rId39"/>
    <p:sldId id="905" r:id="rId40"/>
    <p:sldId id="906" r:id="rId41"/>
    <p:sldId id="907" r:id="rId42"/>
    <p:sldId id="908" r:id="rId43"/>
    <p:sldId id="913" r:id="rId44"/>
    <p:sldId id="914" r:id="rId45"/>
    <p:sldId id="1301" r:id="rId46"/>
    <p:sldId id="1302" r:id="rId47"/>
    <p:sldId id="1304" r:id="rId48"/>
    <p:sldId id="1306" r:id="rId49"/>
    <p:sldId id="1308" r:id="rId50"/>
    <p:sldId id="1309" r:id="rId51"/>
    <p:sldId id="1224" r:id="rId52"/>
    <p:sldId id="1226" r:id="rId53"/>
    <p:sldId id="1228" r:id="rId54"/>
    <p:sldId id="1232" r:id="rId55"/>
    <p:sldId id="1233" r:id="rId56"/>
    <p:sldId id="1237" r:id="rId57"/>
    <p:sldId id="1244" r:id="rId58"/>
    <p:sldId id="1245" r:id="rId59"/>
    <p:sldId id="1246" r:id="rId60"/>
    <p:sldId id="1313" r:id="rId61"/>
    <p:sldId id="1319" r:id="rId62"/>
    <p:sldId id="1320" r:id="rId63"/>
    <p:sldId id="1323" r:id="rId64"/>
    <p:sldId id="1324" r:id="rId65"/>
    <p:sldId id="1326" r:id="rId66"/>
    <p:sldId id="1331" r:id="rId67"/>
    <p:sldId id="1391" r:id="rId68"/>
    <p:sldId id="1405" r:id="rId69"/>
    <p:sldId id="1338" r:id="rId70"/>
    <p:sldId id="1423" r:id="rId71"/>
    <p:sldId id="1410" r:id="rId72"/>
    <p:sldId id="1409" r:id="rId73"/>
    <p:sldId id="1377" r:id="rId74"/>
    <p:sldId id="1411" r:id="rId75"/>
    <p:sldId id="1412" r:id="rId76"/>
    <p:sldId id="1415" r:id="rId77"/>
    <p:sldId id="1416" r:id="rId78"/>
    <p:sldId id="1417" r:id="rId79"/>
    <p:sldId id="1419" r:id="rId80"/>
    <p:sldId id="1378" r:id="rId81"/>
    <p:sldId id="1389" r:id="rId82"/>
    <p:sldId id="1421" r:id="rId83"/>
    <p:sldId id="1422" r:id="rId84"/>
    <p:sldId id="1392" r:id="rId85"/>
    <p:sldId id="1393" r:id="rId86"/>
    <p:sldId id="1357" r:id="rId87"/>
    <p:sldId id="1358" r:id="rId88"/>
    <p:sldId id="1394" r:id="rId89"/>
    <p:sldId id="1395" r:id="rId90"/>
    <p:sldId id="1341" r:id="rId91"/>
    <p:sldId id="1342" r:id="rId92"/>
    <p:sldId id="1343" r:id="rId93"/>
    <p:sldId id="1344" r:id="rId94"/>
    <p:sldId id="1355" r:id="rId95"/>
    <p:sldId id="1347" r:id="rId96"/>
    <p:sldId id="1348" r:id="rId97"/>
    <p:sldId id="1354" r:id="rId98"/>
    <p:sldId id="1208" r:id="rId99"/>
    <p:sldId id="1209" r:id="rId100"/>
    <p:sldId id="1211" r:id="rId101"/>
    <p:sldId id="1214" r:id="rId102"/>
    <p:sldId id="1215" r:id="rId103"/>
    <p:sldId id="1216" r:id="rId104"/>
    <p:sldId id="1217" r:id="rId105"/>
    <p:sldId id="1218" r:id="rId106"/>
    <p:sldId id="1219" r:id="rId107"/>
    <p:sldId id="1426" r:id="rId108"/>
    <p:sldId id="1427" r:id="rId109"/>
    <p:sldId id="1428" r:id="rId110"/>
    <p:sldId id="1429" r:id="rId111"/>
    <p:sldId id="1430" r:id="rId112"/>
    <p:sldId id="1431" r:id="rId113"/>
    <p:sldId id="1432" r:id="rId114"/>
    <p:sldId id="1433" r:id="rId115"/>
    <p:sldId id="1434" r:id="rId116"/>
    <p:sldId id="1435" r:id="rId117"/>
    <p:sldId id="1436" r:id="rId118"/>
    <p:sldId id="1437" r:id="rId119"/>
    <p:sldId id="1441" r:id="rId120"/>
    <p:sldId id="1442" r:id="rId121"/>
    <p:sldId id="1443" r:id="rId122"/>
    <p:sldId id="1445" r:id="rId123"/>
    <p:sldId id="1446" r:id="rId124"/>
    <p:sldId id="1447" r:id="rId125"/>
    <p:sldId id="1448" r:id="rId126"/>
    <p:sldId id="1449" r:id="rId127"/>
    <p:sldId id="1450" r:id="rId128"/>
    <p:sldId id="1451" r:id="rId129"/>
    <p:sldId id="1452" r:id="rId130"/>
    <p:sldId id="1453" r:id="rId131"/>
    <p:sldId id="1454" r:id="rId132"/>
    <p:sldId id="1455" r:id="rId133"/>
    <p:sldId id="1456" r:id="rId134"/>
    <p:sldId id="1457" r:id="rId135"/>
    <p:sldId id="1458" r:id="rId136"/>
    <p:sldId id="1459" r:id="rId137"/>
    <p:sldId id="1460" r:id="rId138"/>
    <p:sldId id="1461" r:id="rId139"/>
    <p:sldId id="1462" r:id="rId140"/>
    <p:sldId id="1463" r:id="rId141"/>
    <p:sldId id="1464" r:id="rId142"/>
    <p:sldId id="1465" r:id="rId143"/>
    <p:sldId id="1466" r:id="rId144"/>
    <p:sldId id="1467" r:id="rId145"/>
    <p:sldId id="1469" r:id="rId146"/>
    <p:sldId id="1470" r:id="rId147"/>
    <p:sldId id="1471" r:id="rId148"/>
    <p:sldId id="1472" r:id="rId149"/>
    <p:sldId id="1473" r:id="rId150"/>
    <p:sldId id="1475" r:id="rId151"/>
    <p:sldId id="1476" r:id="rId152"/>
    <p:sldId id="1477" r:id="rId153"/>
    <p:sldId id="1478" r:id="rId154"/>
    <p:sldId id="1479" r:id="rId155"/>
    <p:sldId id="1480" r:id="rId156"/>
    <p:sldId id="1396" r:id="rId157"/>
    <p:sldId id="1247" r:id="rId158"/>
    <p:sldId id="1249" r:id="rId159"/>
    <p:sldId id="1126" r:id="rId160"/>
    <p:sldId id="1128" r:id="rId161"/>
    <p:sldId id="1129" r:id="rId162"/>
    <p:sldId id="1130" r:id="rId163"/>
    <p:sldId id="1397" r:id="rId164"/>
    <p:sldId id="1398" r:id="rId165"/>
    <p:sldId id="1236" r:id="rId166"/>
    <p:sldId id="1133" r:id="rId167"/>
    <p:sldId id="1399" r:id="rId168"/>
    <p:sldId id="1176" r:id="rId169"/>
    <p:sldId id="1177" r:id="rId170"/>
    <p:sldId id="1212" r:id="rId171"/>
    <p:sldId id="1213" r:id="rId172"/>
    <p:sldId id="1400" r:id="rId173"/>
    <p:sldId id="1185" r:id="rId174"/>
    <p:sldId id="1186" r:id="rId175"/>
    <p:sldId id="1189" r:id="rId176"/>
    <p:sldId id="1256" r:id="rId177"/>
    <p:sldId id="1257" r:id="rId178"/>
    <p:sldId id="1401" r:id="rId179"/>
    <p:sldId id="1269" r:id="rId180"/>
    <p:sldId id="1270" r:id="rId181"/>
    <p:sldId id="1272" r:id="rId182"/>
    <p:sldId id="1273" r:id="rId183"/>
    <p:sldId id="1275" r:id="rId184"/>
    <p:sldId id="1276" r:id="rId185"/>
    <p:sldId id="1277" r:id="rId186"/>
    <p:sldId id="1278" r:id="rId187"/>
    <p:sldId id="1279" r:id="rId188"/>
    <p:sldId id="1402" r:id="rId189"/>
    <p:sldId id="1403" r:id="rId190"/>
    <p:sldId id="1404" r:id="rId191"/>
  </p:sldIdLst>
  <p:sldSz cx="12192000"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009900"/>
    <a:srgbClr val="66FF33"/>
    <a:srgbClr val="DDDDDD"/>
    <a:srgbClr val="808080"/>
    <a:srgbClr val="B2B2B2"/>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241" autoAdjust="0"/>
    <p:restoredTop sz="94576" autoAdjust="0"/>
  </p:normalViewPr>
  <p:slideViewPr>
    <p:cSldViewPr snapToGrid="0">
      <p:cViewPr varScale="1">
        <p:scale>
          <a:sx n="63" d="100"/>
          <a:sy n="63" d="100"/>
        </p:scale>
        <p:origin x="714" y="78"/>
      </p:cViewPr>
      <p:guideLst>
        <p:guide orient="horz" pos="2160"/>
        <p:guide pos="384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Lst>
  </p:outlineViewPr>
  <p:notesTextViewPr>
    <p:cViewPr>
      <p:scale>
        <a:sx n="100" d="100"/>
        <a:sy n="100" d="100"/>
      </p:scale>
      <p:origin x="0" y="0"/>
    </p:cViewPr>
  </p:notesTextViewPr>
  <p:sorterViewPr>
    <p:cViewPr>
      <p:scale>
        <a:sx n="66" d="100"/>
        <a:sy n="66" d="100"/>
      </p:scale>
      <p:origin x="0" y="2280"/>
    </p:cViewPr>
  </p:sorterViewPr>
  <p:notesViewPr>
    <p:cSldViewPr snapToGrid="0">
      <p:cViewPr varScale="1">
        <p:scale>
          <a:sx n="38" d="100"/>
          <a:sy n="38" d="100"/>
        </p:scale>
        <p:origin x="-1368" y="-78"/>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notesMaster" Target="notesMasters/notes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handoutMaster" Target="handoutMasters/handoutMaster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viewProps" Target="viewProps.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tableStyles" Target="tableStyle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s>
</file>

<file path=ppt/_rels/viewProps.xml.rels><?xml version="1.0" encoding="UTF-8" standalone="yes"?>
<Relationships xmlns="http://schemas.openxmlformats.org/package/2006/relationships"><Relationship Id="rId8" Type="http://schemas.openxmlformats.org/officeDocument/2006/relationships/slide" Target="slides/slide61.xml"/><Relationship Id="rId13" Type="http://schemas.openxmlformats.org/officeDocument/2006/relationships/slide" Target="slides/slide138.xml"/><Relationship Id="rId3" Type="http://schemas.openxmlformats.org/officeDocument/2006/relationships/slide" Target="slides/slide25.xml"/><Relationship Id="rId7" Type="http://schemas.openxmlformats.org/officeDocument/2006/relationships/slide" Target="slides/slide43.xml"/><Relationship Id="rId12" Type="http://schemas.openxmlformats.org/officeDocument/2006/relationships/slide" Target="slides/slide119.xml"/><Relationship Id="rId2" Type="http://schemas.openxmlformats.org/officeDocument/2006/relationships/slide" Target="slides/slide19.xml"/><Relationship Id="rId1" Type="http://schemas.openxmlformats.org/officeDocument/2006/relationships/slide" Target="slides/slide9.xml"/><Relationship Id="rId6" Type="http://schemas.openxmlformats.org/officeDocument/2006/relationships/slide" Target="slides/slide36.xml"/><Relationship Id="rId11" Type="http://schemas.openxmlformats.org/officeDocument/2006/relationships/slide" Target="slides/slide111.xml"/><Relationship Id="rId5" Type="http://schemas.openxmlformats.org/officeDocument/2006/relationships/slide" Target="slides/slide33.xml"/><Relationship Id="rId10" Type="http://schemas.openxmlformats.org/officeDocument/2006/relationships/slide" Target="slides/slide107.xml"/><Relationship Id="rId4" Type="http://schemas.openxmlformats.org/officeDocument/2006/relationships/slide" Target="slides/slide26.xml"/><Relationship Id="rId9" Type="http://schemas.openxmlformats.org/officeDocument/2006/relationships/slide" Target="slides/slide97.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 Id="rId5" Type="http://schemas.openxmlformats.org/officeDocument/2006/relationships/image" Target="../media/image10.wmf"/><Relationship Id="rId4"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200" b="0">
                <a:solidFill>
                  <a:schemeClr val="tx1"/>
                </a:solidFill>
                <a:latin typeface="Tahoma" panose="020B0604030504040204" pitchFamily="34" charset="0"/>
              </a:defRPr>
            </a:lvl1pPr>
          </a:lstStyle>
          <a:p>
            <a:pPr>
              <a:defRPr/>
            </a:pPr>
            <a:endParaRPr lang="en-US" altLang="zh-CN"/>
          </a:p>
        </p:txBody>
      </p:sp>
      <p:sp>
        <p:nvSpPr>
          <p:cNvPr id="25603" name="Rectangle 3"/>
          <p:cNvSpPr>
            <a:spLocks noGrp="1" noChangeArrowheads="1"/>
          </p:cNvSpPr>
          <p:nvPr>
            <p:ph type="dt" sz="quarter" idx="1"/>
          </p:nvPr>
        </p:nvSpPr>
        <p:spPr bwMode="auto">
          <a:xfrm>
            <a:off x="5181600"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b="0">
                <a:solidFill>
                  <a:schemeClr val="tx1"/>
                </a:solidFill>
                <a:latin typeface="Tahoma" panose="020B0604030504040204" pitchFamily="34" charset="0"/>
              </a:defRPr>
            </a:lvl1pPr>
          </a:lstStyle>
          <a:p>
            <a:pPr>
              <a:defRPr/>
            </a:pPr>
            <a:endParaRPr lang="en-US" altLang="zh-CN"/>
          </a:p>
        </p:txBody>
      </p:sp>
      <p:sp>
        <p:nvSpPr>
          <p:cNvPr id="25604" name="Rectangle 4"/>
          <p:cNvSpPr>
            <a:spLocks noGrp="1" noChangeArrowheads="1"/>
          </p:cNvSpPr>
          <p:nvPr>
            <p:ph type="ftr" sz="quarter" idx="2"/>
          </p:nvPr>
        </p:nvSpPr>
        <p:spPr bwMode="auto">
          <a:xfrm>
            <a:off x="0" y="651510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1" sz="1200" b="0">
                <a:solidFill>
                  <a:schemeClr val="tx1"/>
                </a:solidFill>
                <a:latin typeface="Tahoma" panose="020B0604030504040204" pitchFamily="34" charset="0"/>
              </a:defRPr>
            </a:lvl1pPr>
          </a:lstStyle>
          <a:p>
            <a:pPr>
              <a:defRPr/>
            </a:pPr>
            <a:endParaRPr lang="en-US" altLang="zh-CN"/>
          </a:p>
        </p:txBody>
      </p:sp>
      <p:sp>
        <p:nvSpPr>
          <p:cNvPr id="25605" name="Rectangle 5"/>
          <p:cNvSpPr>
            <a:spLocks noGrp="1" noChangeArrowheads="1"/>
          </p:cNvSpPr>
          <p:nvPr>
            <p:ph type="sldNum" sz="quarter" idx="3"/>
          </p:nvPr>
        </p:nvSpPr>
        <p:spPr bwMode="auto">
          <a:xfrm>
            <a:off x="5181600" y="651510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b="0">
                <a:solidFill>
                  <a:schemeClr val="tx1"/>
                </a:solidFill>
                <a:latin typeface="Tahoma" panose="020B0604030504040204" pitchFamily="34" charset="0"/>
              </a:defRPr>
            </a:lvl1pPr>
          </a:lstStyle>
          <a:p>
            <a:pPr>
              <a:defRPr/>
            </a:pPr>
            <a:fld id="{83640D5B-B091-4870-8771-78165ADB9A93}"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800" units="cm"/>
          <inkml:channel name="Y" type="integer" max="600" units="cm"/>
        </inkml:traceFormat>
        <inkml:channelProperties>
          <inkml:channelProperty channel="X" name="resolution" value="25" units="1/cm"/>
          <inkml:channelProperty channel="Y" name="resolution" value="25" units="1/cm"/>
        </inkml:channelProperties>
      </inkml:inkSource>
      <inkml:timestamp xml:id="ts0" timeString="2005-11-16T09:20:31.296"/>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0 0,'96'0,"-96"0</inkml:trace>
</inkml:ink>
</file>

<file path=ppt/ink/ink2.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25:40.421"/>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100 0,'0'24,"0"26,0-3,0 2,0 0,0-26,0 26,0 0,0-25,0 0,0 1,0-25,0 25,0-2,0-23,0 24,0-24,0 24,0-48</inkml:trace>
  <inkml:trace contextRef="#ctx0" brushRef="#br0" timeOffset="907">0 268,'0'0,"0"23,0-23,0 25,25-1,-25 0,25 0,-25-24,0 25,0 0,0-25,0 23,0-23,0 0,0 24,0-24,0 0,0 0,0 0,0 0,0 24,0-24,0 0,0 0,0 0,0 0,0 0,24 0,-24 0,0 0,0-24,0 24,0-24,0 24,0-23,0 23,0-25,0 0,0 25,0-24,0 24,26-24,-26 0,0 24,24-25,-24 2,0 23,0-26,0 26,0-23,0-1,0 24,25 0,-25-25</inkml:trace>
</inkml:ink>
</file>

<file path=ppt/ink/ink3.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29:53.765"/>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83 3661,'-25'0,"25"-25,-24 25,24-26,0 2,0 24,0-24,-24 24,24-25,0 25,0-25,0 1,0 24,0-25,0 1,0-2,0 26,0-24,0 24,0-25,0 25,0-25,0 1,0 24,0-25,0 0,0 25,0-26,0 26,24-24,-24 24,24-24,-24 24,25-25,-25 25,24 0,1-25,-25 25,23 0,-23 0,0-24,0 24,24 0,-24 0,25 0,-25 0,25 0,-25 0,24 0,1 0,-25 0,24 24,0-24,0 25,-24-25,25 25,-25-1,0 0,25 2,-25-1,0 0,24-1,-24 26,0-26,0-24,0 50,0-25,0-1,0 1,0 0,0-1,0-24,0 24,0-24,0 51,0-51,0 25,-24-25,24 0,-25 0,25 0,-25 0,1 0,24 0,-24 0,0 0,24 0,-25 0,25 0,-24 0,24 0,-50 0,50 0,-24 0,24 0,-23 0,-2 0,25 0,-24 0,24 0,0-25,0 25</inkml:trace>
  <inkml:trace contextRef="#ctx0" brushRef="#br0" timeOffset="4031">497 0,'0'0,"-25"0,25 0,0 25,-24-25,0 0,24 24,-24-24,24 25,-25-1,0 2,25-1,-24-1,0 25,24-24,0-1,-24-24,24 24,0-24,0 26,0-26,0 25,0 0,-25-25,25 0,0 25,0-25,-24 24,24-24</inkml:trace>
</inkml:ink>
</file>

<file path=ppt/ink/ink4.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29:58.984"/>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25 26,'0'-24,"0"24,24 0,-24 0,25 0,-25 0,26 0,-26 0,24 0,1 0,24 0,-24 0,-25 0,24 0,2 0,-26 0,0 24,24-24,-24 25,0 0,24-1,-24-24,0 24,0-24,0 0,0 25,0-25,0 25,-24-25,0 23,24-23,-26 24,-23 2,24-2,-24 26,-26-50,51 23,-1 2,25-25,0 0,25 0,-1 0,27 0,22 0,1 0,0 0,-24 0,-1 0,2 0,-51 0,0 0</inkml:trace>
</inkml:ink>
</file>

<file path=ppt/ink/ink5.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46:03.109"/>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0 102,'0'-25,"0"25,0-25,0 25,0-24,0 24,0-24,0 24,25 0,-25 0,24 0,-24 0,25 0,-25 0,26 0,-26 0,0 0,0 0,0 0,0 0,0 24,0-24,0 0,0 0,0 24,0-24,0 0,0 25,-26-25,26 0,-25 0,25 0,-24 0,-1 0,25 0,0-25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200" b="0">
                <a:solidFill>
                  <a:schemeClr val="tx1"/>
                </a:solidFill>
                <a:latin typeface="Tahoma" panose="020B0604030504040204" pitchFamily="34" charset="0"/>
              </a:defRPr>
            </a:lvl1pPr>
          </a:lstStyle>
          <a:p>
            <a:pPr>
              <a:defRPr/>
            </a:pPr>
            <a:endParaRPr lang="en-US" altLang="zh-CN"/>
          </a:p>
        </p:txBody>
      </p:sp>
      <p:sp>
        <p:nvSpPr>
          <p:cNvPr id="8195" name="Rectangle 3"/>
          <p:cNvSpPr>
            <a:spLocks noGrp="1" noChangeArrowheads="1"/>
          </p:cNvSpPr>
          <p:nvPr>
            <p:ph type="dt" idx="1"/>
          </p:nvPr>
        </p:nvSpPr>
        <p:spPr bwMode="auto">
          <a:xfrm>
            <a:off x="5181600"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b="0">
                <a:solidFill>
                  <a:schemeClr val="tx1"/>
                </a:solidFill>
                <a:latin typeface="Tahoma" panose="020B0604030504040204" pitchFamily="34"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2286000" y="514350"/>
            <a:ext cx="4572000" cy="25717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7" name="Rectangle 5"/>
          <p:cNvSpPr>
            <a:spLocks noGrp="1" noChangeArrowheads="1"/>
          </p:cNvSpPr>
          <p:nvPr>
            <p:ph type="body" sz="quarter" idx="3"/>
          </p:nvPr>
        </p:nvSpPr>
        <p:spPr bwMode="auto">
          <a:xfrm>
            <a:off x="1219200" y="3257550"/>
            <a:ext cx="6705600" cy="308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8198" name="Rectangle 6"/>
          <p:cNvSpPr>
            <a:spLocks noGrp="1" noChangeArrowheads="1"/>
          </p:cNvSpPr>
          <p:nvPr>
            <p:ph type="ftr" sz="quarter" idx="4"/>
          </p:nvPr>
        </p:nvSpPr>
        <p:spPr bwMode="auto">
          <a:xfrm>
            <a:off x="0" y="651510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1" sz="1200" b="0">
                <a:solidFill>
                  <a:schemeClr val="tx1"/>
                </a:solidFill>
                <a:latin typeface="Tahoma" panose="020B0604030504040204" pitchFamily="34" charset="0"/>
              </a:defRPr>
            </a:lvl1pPr>
          </a:lstStyle>
          <a:p>
            <a:pPr>
              <a:defRPr/>
            </a:pPr>
            <a:endParaRPr lang="en-US" altLang="zh-CN"/>
          </a:p>
        </p:txBody>
      </p:sp>
      <p:sp>
        <p:nvSpPr>
          <p:cNvPr id="8199" name="Rectangle 7"/>
          <p:cNvSpPr>
            <a:spLocks noGrp="1" noChangeArrowheads="1"/>
          </p:cNvSpPr>
          <p:nvPr>
            <p:ph type="sldNum" sz="quarter" idx="5"/>
          </p:nvPr>
        </p:nvSpPr>
        <p:spPr bwMode="auto">
          <a:xfrm>
            <a:off x="5181600" y="651510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b="0">
                <a:solidFill>
                  <a:schemeClr val="tx1"/>
                </a:solidFill>
                <a:latin typeface="Tahoma" panose="020B0604030504040204" pitchFamily="34" charset="0"/>
              </a:defRPr>
            </a:lvl1pPr>
          </a:lstStyle>
          <a:p>
            <a:pPr>
              <a:defRPr/>
            </a:pPr>
            <a:fld id="{BDA451E5-B0D0-4842-8785-455D7059AC0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FACBBCA8-E02F-42FB-9118-6DCC607ED6B4}" type="slidenum">
              <a:rPr lang="en-US" altLang="zh-CN" sz="1200" smtClean="0">
                <a:solidFill>
                  <a:schemeClr val="tx1"/>
                </a:solidFill>
                <a:latin typeface="Tahoma" panose="020B0604030504040204" pitchFamily="34" charset="0"/>
              </a:rPr>
              <a:pPr/>
              <a:t>18</a:t>
            </a:fld>
            <a:endParaRPr lang="en-US" altLang="zh-CN" sz="1200">
              <a:solidFill>
                <a:schemeClr val="tx1"/>
              </a:solidFill>
              <a:latin typeface="Tahoma" panose="020B0604030504040204" pitchFamily="34" charset="0"/>
            </a:endParaRPr>
          </a:p>
        </p:txBody>
      </p:sp>
      <p:sp>
        <p:nvSpPr>
          <p:cNvPr id="10243" name="Rectangle 2"/>
          <p:cNvSpPr>
            <a:spLocks noGrp="1" noRot="1" noChangeAspect="1" noChangeArrowheads="1" noTextEdit="1"/>
          </p:cNvSpPr>
          <p:nvPr>
            <p:ph type="sldImg"/>
          </p:nvPr>
        </p:nvSpPr>
        <p:spPr>
          <a:solidFill>
            <a:srgbClr val="FFFFFF"/>
          </a:solidFill>
          <a:ln/>
        </p:spPr>
      </p:sp>
      <p:sp>
        <p:nvSpPr>
          <p:cNvPr id="1024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zh-CN" altLang="en-US"/>
              <a:t>在实现网络互连时的主要问题是如何实现网络地址的统一：</a:t>
            </a:r>
          </a:p>
          <a:p>
            <a:pPr eaLnBrk="1" hangingPunct="1"/>
            <a:r>
              <a:rPr lang="en-US" altLang="zh-CN"/>
              <a:t>1</a:t>
            </a:r>
            <a:r>
              <a:rPr lang="zh-CN" altLang="en-US"/>
              <a:t>。不同的物理网络技术（数据链路层技术）都有各自不同的地址形式，成为物理地址，用于识别该网络中的结点。</a:t>
            </a:r>
          </a:p>
          <a:p>
            <a:pPr eaLnBrk="1" hangingPunct="1"/>
            <a:r>
              <a:rPr lang="en-US" altLang="zh-CN"/>
              <a:t>2</a:t>
            </a:r>
            <a:r>
              <a:rPr lang="zh-CN" altLang="en-US"/>
              <a:t>。不同的数据链路层技术其物理地址的格式、长度、识别方式各不相同。</a:t>
            </a:r>
          </a:p>
          <a:p>
            <a:pPr eaLnBrk="1" hangingPunct="1"/>
            <a:r>
              <a:rPr lang="en-US" altLang="zh-CN"/>
              <a:t>3</a:t>
            </a:r>
            <a:r>
              <a:rPr lang="zh-CN" altLang="en-US"/>
              <a:t>。在采用某种链路技术构成的网络中，不能识别其他链路技术的所使用的物理地址。</a:t>
            </a:r>
          </a:p>
          <a:p>
            <a:pPr eaLnBrk="1" hangingPunct="1"/>
            <a:endParaRPr lang="zh-CN" altLang="en-US"/>
          </a:p>
          <a:p>
            <a:pPr eaLnBrk="1" hangingPunct="1"/>
            <a:r>
              <a:rPr lang="zh-CN" altLang="en-US"/>
              <a:t>如图，互连的网络分别采用了不同的物理网络技术，物理地址系统各不相同。因此。必须采用一种能够在整个互连网种通用的地址系统。</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099891AF-A5D1-4950-B094-7FA7FF916B95}" type="slidenum">
              <a:rPr lang="en-US" altLang="zh-CN" sz="1200" smtClean="0">
                <a:solidFill>
                  <a:schemeClr val="tx1"/>
                </a:solidFill>
                <a:latin typeface="Tahoma" panose="020B0604030504040204" pitchFamily="34" charset="0"/>
              </a:rPr>
              <a:pPr/>
              <a:t>19</a:t>
            </a:fld>
            <a:endParaRPr lang="en-US" altLang="zh-CN" sz="1200">
              <a:solidFill>
                <a:schemeClr val="tx1"/>
              </a:solidFill>
              <a:latin typeface="Tahoma" panose="020B0604030504040204" pitchFamily="34" charset="0"/>
            </a:endParaRPr>
          </a:p>
        </p:txBody>
      </p:sp>
      <p:sp>
        <p:nvSpPr>
          <p:cNvPr id="12291" name="Rectangle 2"/>
          <p:cNvSpPr>
            <a:spLocks noGrp="1" noRot="1" noChangeAspect="1" noChangeArrowheads="1" noTextEdit="1"/>
          </p:cNvSpPr>
          <p:nvPr>
            <p:ph type="sldImg"/>
          </p:nvPr>
        </p:nvSpPr>
        <p:spPr>
          <a:solidFill>
            <a:srgbClr val="FFFFFF"/>
          </a:solidFill>
          <a:ln/>
        </p:spPr>
      </p:sp>
      <p:sp>
        <p:nvSpPr>
          <p:cNvPr id="1229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。互连网（或称</a:t>
            </a:r>
            <a:r>
              <a:rPr lang="en-US" altLang="zh-CN"/>
              <a:t>Internet</a:t>
            </a:r>
            <a:r>
              <a:rPr lang="zh-CN" altLang="en-US"/>
              <a:t>）是通过将许多物理网络互连而构成的一个庞大的网络。</a:t>
            </a:r>
          </a:p>
          <a:p>
            <a:pPr eaLnBrk="1" hangingPunct="1"/>
            <a:r>
              <a:rPr lang="en-US" altLang="zh-CN"/>
              <a:t>2</a:t>
            </a:r>
            <a:r>
              <a:rPr lang="zh-CN" altLang="en-US"/>
              <a:t>。构成互联网的每个网络所采用的技术是不同的，因此会对网际通信造成障碍：</a:t>
            </a:r>
          </a:p>
          <a:p>
            <a:pPr eaLnBrk="1" hangingPunct="1"/>
            <a:r>
              <a:rPr lang="zh-CN" altLang="en-US"/>
              <a:t>	</a:t>
            </a:r>
            <a:r>
              <a:rPr lang="en-US" altLang="zh-CN"/>
              <a:t>a</a:t>
            </a:r>
            <a:r>
              <a:rPr lang="zh-CN" altLang="en-US"/>
              <a:t>。各个网络采用的物理地址形式不同</a:t>
            </a:r>
          </a:p>
          <a:p>
            <a:pPr eaLnBrk="1" hangingPunct="1"/>
            <a:r>
              <a:rPr lang="zh-CN" altLang="en-US"/>
              <a:t>	</a:t>
            </a:r>
            <a:r>
              <a:rPr lang="en-US" altLang="zh-CN"/>
              <a:t>b</a:t>
            </a:r>
            <a:r>
              <a:rPr lang="zh-CN" altLang="en-US"/>
              <a:t>。需要对整个网络中的地址进行统一管理，保证没有重复</a:t>
            </a:r>
          </a:p>
          <a:p>
            <a:pPr eaLnBrk="1" hangingPunct="1"/>
            <a:r>
              <a:rPr lang="en-US" altLang="zh-CN"/>
              <a:t>3</a:t>
            </a:r>
            <a:r>
              <a:rPr lang="zh-CN" altLang="en-US"/>
              <a:t>。</a:t>
            </a:r>
            <a:r>
              <a:rPr lang="en-US" altLang="zh-CN"/>
              <a:t>IP</a:t>
            </a:r>
            <a:r>
              <a:rPr lang="zh-CN" altLang="en-US"/>
              <a:t>地址是全网有效的，其分配和回收等对</a:t>
            </a:r>
            <a:r>
              <a:rPr lang="en-US" altLang="zh-CN"/>
              <a:t>IP</a:t>
            </a:r>
            <a:r>
              <a:rPr lang="zh-CN" altLang="en-US"/>
              <a:t>地址的管理工作都是统一进行的</a:t>
            </a:r>
          </a:p>
          <a:p>
            <a:pPr eaLnBrk="1" hangingPunct="1"/>
            <a:r>
              <a:rPr lang="en-US" altLang="zh-CN"/>
              <a:t>4</a:t>
            </a:r>
            <a:r>
              <a:rPr lang="zh-CN" altLang="en-US"/>
              <a:t>。</a:t>
            </a:r>
            <a:r>
              <a:rPr lang="en-US" altLang="zh-CN"/>
              <a:t>Internet</a:t>
            </a:r>
            <a:r>
              <a:rPr lang="zh-CN" altLang="en-US"/>
              <a:t>的整个结构是层次化的，因此地址管理方式也是层次化的。</a:t>
            </a:r>
          </a:p>
          <a:p>
            <a:pPr eaLnBrk="1" hangingPunct="1"/>
            <a:r>
              <a:rPr lang="en-US" altLang="zh-CN"/>
              <a:t>5</a:t>
            </a:r>
            <a:r>
              <a:rPr lang="zh-CN" altLang="en-US"/>
              <a:t>。</a:t>
            </a:r>
            <a:r>
              <a:rPr lang="en-US" altLang="zh-CN"/>
              <a:t>IP</a:t>
            </a:r>
            <a:r>
              <a:rPr lang="zh-CN" altLang="en-US"/>
              <a:t>地址的最高管理机构称为网络信息中心（</a:t>
            </a:r>
            <a:r>
              <a:rPr lang="en-US" altLang="zh-CN"/>
              <a:t>NIC</a:t>
            </a:r>
            <a:r>
              <a:rPr lang="zh-CN" altLang="en-US"/>
              <a:t>），</a:t>
            </a:r>
            <a:r>
              <a:rPr lang="en-US" altLang="zh-CN"/>
              <a:t>NIC</a:t>
            </a:r>
            <a:r>
              <a:rPr lang="zh-CN" altLang="en-US"/>
              <a:t>向个组织单位（网络）分配网络地址。</a:t>
            </a:r>
          </a:p>
          <a:p>
            <a:pPr eaLnBrk="1" hangingPunct="1"/>
            <a:r>
              <a:rPr lang="en-US" altLang="zh-CN"/>
              <a:t>6</a:t>
            </a:r>
            <a:r>
              <a:rPr lang="zh-CN" altLang="en-US"/>
              <a:t>。各网络中也有各自的网络信息中心，负责管理本网络内部的</a:t>
            </a:r>
            <a:r>
              <a:rPr lang="en-US" altLang="zh-CN"/>
              <a:t>IP</a:t>
            </a:r>
            <a:r>
              <a:rPr lang="zh-CN" altLang="en-US"/>
              <a:t>地址。</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FEEFC283-0A45-459D-A335-C9FB055D14BE}" type="slidenum">
              <a:rPr lang="en-US" altLang="zh-CN" sz="1200" smtClean="0">
                <a:solidFill>
                  <a:schemeClr val="tx1"/>
                </a:solidFill>
                <a:latin typeface="Tahoma" panose="020B0604030504040204" pitchFamily="34" charset="0"/>
              </a:rPr>
              <a:pPr/>
              <a:t>21</a:t>
            </a:fld>
            <a:endParaRPr lang="en-US" altLang="zh-CN" sz="1200">
              <a:solidFill>
                <a:schemeClr val="tx1"/>
              </a:solidFill>
              <a:latin typeface="Tahoma" panose="020B0604030504040204" pitchFamily="34" charset="0"/>
            </a:endParaRPr>
          </a:p>
        </p:txBody>
      </p:sp>
      <p:sp>
        <p:nvSpPr>
          <p:cNvPr id="15363" name="Rectangle 2"/>
          <p:cNvSpPr>
            <a:spLocks noGrp="1" noRot="1" noChangeAspect="1" noChangeArrowheads="1" noTextEdit="1"/>
          </p:cNvSpPr>
          <p:nvPr>
            <p:ph type="sldImg"/>
          </p:nvPr>
        </p:nvSpPr>
        <p:spPr>
          <a:solidFill>
            <a:srgbClr val="FFFFFF"/>
          </a:solidFill>
          <a:ln/>
        </p:spPr>
      </p:sp>
      <p:sp>
        <p:nvSpPr>
          <p:cNvPr id="1536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。由于</a:t>
            </a:r>
            <a:r>
              <a:rPr lang="en-US" altLang="zh-CN"/>
              <a:t>Internet</a:t>
            </a:r>
            <a:r>
              <a:rPr lang="zh-CN" altLang="en-US"/>
              <a:t>是一个十分庞大的网络系统，因此必须采用结构化的、便于寻址操作的地址结构。</a:t>
            </a:r>
          </a:p>
          <a:p>
            <a:pPr eaLnBrk="1" hangingPunct="1"/>
            <a:r>
              <a:rPr lang="en-US" altLang="zh-CN"/>
              <a:t>2</a:t>
            </a:r>
            <a:r>
              <a:rPr lang="zh-CN" altLang="en-US"/>
              <a:t>。由于</a:t>
            </a:r>
            <a:r>
              <a:rPr lang="en-US" altLang="zh-CN"/>
              <a:t>Internet</a:t>
            </a:r>
            <a:r>
              <a:rPr lang="zh-CN" altLang="en-US"/>
              <a:t>的体系结构本身是层次化的，因此</a:t>
            </a:r>
            <a:r>
              <a:rPr lang="en-US" altLang="zh-CN"/>
              <a:t>IP</a:t>
            </a:r>
            <a:r>
              <a:rPr lang="zh-CN" altLang="en-US"/>
              <a:t>地址也是层次化的：</a:t>
            </a:r>
          </a:p>
          <a:p>
            <a:pPr eaLnBrk="1" hangingPunct="1"/>
            <a:r>
              <a:rPr lang="zh-CN" altLang="en-US"/>
              <a:t>	整个</a:t>
            </a:r>
            <a:r>
              <a:rPr lang="en-US" altLang="zh-CN"/>
              <a:t>Internet</a:t>
            </a:r>
            <a:r>
              <a:rPr lang="zh-CN" altLang="en-US"/>
              <a:t>由许多网络构成，每个网络中又存在许多主机或子网络。</a:t>
            </a:r>
          </a:p>
          <a:p>
            <a:pPr eaLnBrk="1" hangingPunct="1"/>
            <a:r>
              <a:rPr lang="zh-CN" altLang="en-US"/>
              <a:t>	（最初没有子网划分的概念，子网的划分是后来根据实际应用的需要提出的）</a:t>
            </a:r>
          </a:p>
          <a:p>
            <a:pPr eaLnBrk="1" hangingPunct="1"/>
            <a:r>
              <a:rPr lang="en-US" altLang="zh-CN"/>
              <a:t>3</a:t>
            </a:r>
            <a:r>
              <a:rPr lang="zh-CN" altLang="en-US"/>
              <a:t>。在</a:t>
            </a:r>
            <a:r>
              <a:rPr lang="en-US" altLang="zh-CN"/>
              <a:t>IP</a:t>
            </a:r>
            <a:r>
              <a:rPr lang="zh-CN" altLang="en-US"/>
              <a:t>地址中，分别对网络对象的网络编号和主机号加以标识。</a:t>
            </a:r>
          </a:p>
          <a:p>
            <a:pPr eaLnBrk="1" hangingPunct="1"/>
            <a:r>
              <a:rPr lang="en-US" altLang="zh-CN"/>
              <a:t>4</a:t>
            </a:r>
            <a:r>
              <a:rPr lang="zh-CN" altLang="en-US"/>
              <a:t>。</a:t>
            </a:r>
            <a:r>
              <a:rPr lang="en-US" altLang="zh-CN"/>
              <a:t>IP</a:t>
            </a:r>
            <a:r>
              <a:rPr lang="zh-CN" altLang="en-US"/>
              <a:t>地址携带了网络对象的位置信息，也就是说，从给定的</a:t>
            </a:r>
            <a:r>
              <a:rPr lang="en-US" altLang="zh-CN"/>
              <a:t>IP</a:t>
            </a:r>
            <a:r>
              <a:rPr lang="zh-CN" altLang="en-US"/>
              <a:t>地址中可以知道该对象所处的网络</a:t>
            </a:r>
          </a:p>
          <a:p>
            <a:pPr eaLnBrk="1" hangingPunct="1"/>
            <a:r>
              <a:rPr lang="en-US" altLang="zh-CN"/>
              <a:t>5</a:t>
            </a:r>
            <a:r>
              <a:rPr lang="zh-CN" altLang="en-US"/>
              <a:t>。这种结构有利于</a:t>
            </a:r>
            <a:r>
              <a:rPr lang="en-US" altLang="zh-CN"/>
              <a:t>IP</a:t>
            </a:r>
            <a:r>
              <a:rPr lang="zh-CN" altLang="en-US"/>
              <a:t>网路由功能的简化</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F33CA60B-2AF4-4C95-9FCA-CD64CFAA3A58}" type="slidenum">
              <a:rPr lang="en-US" altLang="zh-CN" sz="1200" smtClean="0">
                <a:solidFill>
                  <a:schemeClr val="tx1"/>
                </a:solidFill>
                <a:latin typeface="Tahoma" panose="020B0604030504040204" pitchFamily="34" charset="0"/>
              </a:rPr>
              <a:pPr/>
              <a:t>25</a:t>
            </a:fld>
            <a:endParaRPr lang="en-US" altLang="zh-CN" sz="1200">
              <a:solidFill>
                <a:schemeClr val="tx1"/>
              </a:solidFill>
              <a:latin typeface="Tahoma" panose="020B0604030504040204" pitchFamily="34" charset="0"/>
            </a:endParaRPr>
          </a:p>
        </p:txBody>
      </p:sp>
      <p:sp>
        <p:nvSpPr>
          <p:cNvPr id="20483" name="Rectangle 2"/>
          <p:cNvSpPr>
            <a:spLocks noGrp="1" noRot="1" noChangeAspect="1" noChangeArrowheads="1" noTextEdit="1"/>
          </p:cNvSpPr>
          <p:nvPr>
            <p:ph type="sldImg"/>
          </p:nvPr>
        </p:nvSpPr>
        <p:spPr>
          <a:solidFill>
            <a:srgbClr val="FFFFFF"/>
          </a:solidFill>
          <a:ln/>
        </p:spPr>
      </p:sp>
      <p:sp>
        <p:nvSpPr>
          <p:cNvPr id="2048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。在分类寻址中，我们可以利用 </a:t>
            </a:r>
            <a:r>
              <a:rPr lang="en-US" altLang="zh-CN"/>
              <a:t>IP</a:t>
            </a:r>
            <a:r>
              <a:rPr lang="zh-CN" altLang="en-US"/>
              <a:t>地址的类型取得地址中的主机号和网络前缀。此外，我们还可以利用子网掩码来获得网络号，</a:t>
            </a:r>
            <a:r>
              <a:rPr lang="zh-CN" altLang="en-US">
                <a:solidFill>
                  <a:schemeClr val="tx2"/>
                </a:solidFill>
              </a:rPr>
              <a:t>子网掩码定义了地址中网络前缀所占的比特数。</a:t>
            </a:r>
          </a:p>
          <a:p>
            <a:pPr eaLnBrk="1" hangingPunct="1"/>
            <a:endParaRPr lang="zh-CN" altLang="en-US">
              <a:solidFill>
                <a:schemeClr val="tx2"/>
              </a:solidFill>
            </a:endParaRPr>
          </a:p>
          <a:p>
            <a:pPr eaLnBrk="1" hangingPunct="1"/>
            <a:r>
              <a:rPr lang="en-US" altLang="zh-CN">
                <a:solidFill>
                  <a:schemeClr val="tx2"/>
                </a:solidFill>
              </a:rPr>
              <a:t>2</a:t>
            </a:r>
            <a:r>
              <a:rPr lang="zh-CN" altLang="en-US">
                <a:solidFill>
                  <a:schemeClr val="tx2"/>
                </a:solidFill>
              </a:rPr>
              <a:t>。无类型的网络地址：随着网络的发展，发现分类的网络地址对网络前缀的长度有很大限制（后面讲到），因此随后大量采用了无类型的网络地址（不能通过原有的地址分类约定来获得网络前缀的长度），必须采用子网掩码来计算其网络前缀。</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8058CEAF-3FB4-4349-B566-EF81B9F58FBF}" type="slidenum">
              <a:rPr lang="en-US" altLang="zh-CN" sz="1200" smtClean="0">
                <a:solidFill>
                  <a:schemeClr val="tx1"/>
                </a:solidFill>
                <a:latin typeface="Tahoma" panose="020B0604030504040204" pitchFamily="34" charset="0"/>
              </a:rPr>
              <a:pPr/>
              <a:t>26</a:t>
            </a:fld>
            <a:endParaRPr lang="en-US" altLang="zh-CN" sz="1200">
              <a:solidFill>
                <a:schemeClr val="tx1"/>
              </a:solidFill>
              <a:latin typeface="Tahoma" panose="020B0604030504040204" pitchFamily="34" charset="0"/>
            </a:endParaRPr>
          </a:p>
        </p:txBody>
      </p:sp>
      <p:sp>
        <p:nvSpPr>
          <p:cNvPr id="22531" name="Rectangle 2"/>
          <p:cNvSpPr>
            <a:spLocks noGrp="1" noRot="1" noChangeAspect="1" noChangeArrowheads="1" noTextEdit="1"/>
          </p:cNvSpPr>
          <p:nvPr>
            <p:ph type="sldImg"/>
          </p:nvPr>
        </p:nvSpPr>
        <p:spPr>
          <a:solidFill>
            <a:srgbClr val="FFFFFF"/>
          </a:solidFill>
          <a:ln/>
        </p:spPr>
      </p:sp>
      <p:sp>
        <p:nvSpPr>
          <p:cNvPr id="2253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。广播的含义将分组（数据包）同时发送给指定网网络中的每一个主机。</a:t>
            </a:r>
          </a:p>
          <a:p>
            <a:pPr eaLnBrk="1" hangingPunct="1"/>
            <a:r>
              <a:rPr lang="en-US" altLang="zh-CN"/>
              <a:t>2</a:t>
            </a:r>
            <a:r>
              <a:rPr lang="zh-CN" altLang="en-US"/>
              <a:t>。网络上的任意一个结点都可以采用直接广播地址向任何一个网络进行广播（需要知道目的网络号）。</a:t>
            </a:r>
          </a:p>
          <a:p>
            <a:pPr eaLnBrk="1" hangingPunct="1"/>
            <a:r>
              <a:rPr lang="en-US" altLang="zh-CN"/>
              <a:t>3</a:t>
            </a:r>
            <a:r>
              <a:rPr lang="zh-CN" altLang="en-US"/>
              <a:t>。有时需要在本网中进行内部广播，但又不知道本网的网络号（往往发生在主机启动过程中），这时需要采用有限广播方式。</a:t>
            </a:r>
          </a:p>
          <a:p>
            <a:pPr eaLnBrk="1" hangingPunct="1"/>
            <a:r>
              <a:rPr lang="en-US" altLang="zh-CN"/>
              <a:t>4</a:t>
            </a:r>
            <a:r>
              <a:rPr lang="zh-CN" altLang="en-US"/>
              <a:t>。主机启动时，可能不知道本网络的网络号，那么它在本网络内通信的时候，可以采用“</a:t>
            </a:r>
            <a:r>
              <a:rPr lang="en-US" altLang="zh-CN"/>
              <a:t>0” </a:t>
            </a:r>
            <a:r>
              <a:rPr lang="zh-CN" altLang="en-US"/>
              <a:t>作为网络号。</a:t>
            </a:r>
          </a:p>
          <a:p>
            <a:pPr eaLnBrk="1" hangingPunct="1"/>
            <a:r>
              <a:rPr lang="en-US" altLang="zh-CN"/>
              <a:t>5</a:t>
            </a:r>
            <a:r>
              <a:rPr lang="zh-CN" altLang="en-US"/>
              <a:t>。</a:t>
            </a:r>
            <a:r>
              <a:rPr lang="en-US" altLang="zh-CN"/>
              <a:t>A</a:t>
            </a:r>
            <a:r>
              <a:rPr lang="zh-CN" altLang="en-US"/>
              <a:t>类网络种，网络号为</a:t>
            </a:r>
            <a:r>
              <a:rPr lang="en-US" altLang="zh-CN"/>
              <a:t>127</a:t>
            </a:r>
            <a:r>
              <a:rPr lang="zh-CN" altLang="en-US"/>
              <a:t>的地址是一个保留地址。</a:t>
            </a:r>
          </a:p>
          <a:p>
            <a:pPr eaLnBrk="1" hangingPunct="1"/>
            <a:r>
              <a:rPr lang="en-US" altLang="zh-CN"/>
              <a:t>6</a:t>
            </a:r>
            <a:r>
              <a:rPr lang="zh-CN" altLang="en-US"/>
              <a:t>。应用软件使用回送地址发送数据时，网络协议软件将立刻返回，不进行任何网络传输。</a:t>
            </a:r>
          </a:p>
          <a:p>
            <a:pPr eaLnBrk="1" hangingPunct="1"/>
            <a:r>
              <a:rPr lang="en-US" altLang="zh-CN"/>
              <a:t>7</a:t>
            </a:r>
            <a:r>
              <a:rPr lang="zh-CN" altLang="en-US"/>
              <a:t>。</a:t>
            </a:r>
            <a:r>
              <a:rPr lang="en-US" altLang="zh-CN"/>
              <a:t>Internet</a:t>
            </a:r>
            <a:r>
              <a:rPr lang="zh-CN" altLang="en-US"/>
              <a:t>中不能出现采用回送地址的主机，回送地址的分组不能出现在网络上，网络也不支持为回送地址的选路。</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04518116-AB4F-4A7A-A4C9-8D73410EE458}" type="slidenum">
              <a:rPr lang="en-US" altLang="zh-CN" sz="1200" smtClean="0">
                <a:solidFill>
                  <a:schemeClr val="tx1"/>
                </a:solidFill>
                <a:latin typeface="Tahoma" panose="020B0604030504040204" pitchFamily="34" charset="0"/>
              </a:rPr>
              <a:pPr/>
              <a:t>33</a:t>
            </a:fld>
            <a:endParaRPr lang="en-US" altLang="zh-CN" sz="1200">
              <a:solidFill>
                <a:schemeClr val="tx1"/>
              </a:solidFill>
              <a:latin typeface="Tahoma" panose="020B0604030504040204" pitchFamily="34" charset="0"/>
            </a:endParaRPr>
          </a:p>
        </p:txBody>
      </p:sp>
      <p:sp>
        <p:nvSpPr>
          <p:cNvPr id="30723" name="Rectangle 2"/>
          <p:cNvSpPr>
            <a:spLocks noGrp="1" noRot="1" noChangeAspect="1" noChangeArrowheads="1" noTextEdit="1"/>
          </p:cNvSpPr>
          <p:nvPr>
            <p:ph type="sldImg"/>
          </p:nvPr>
        </p:nvSpPr>
        <p:spPr>
          <a:solidFill>
            <a:srgbClr val="FFFFFF"/>
          </a:solidFill>
          <a:ln/>
        </p:spPr>
      </p:sp>
      <p:sp>
        <p:nvSpPr>
          <p:cNvPr id="3072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zh-CN" altLang="en-US"/>
              <a:t>如图，假定一个主机分别通过两个接口连接到不同网络（</a:t>
            </a:r>
            <a:r>
              <a:rPr lang="en-US" altLang="zh-CN"/>
              <a:t>1</a:t>
            </a:r>
            <a:r>
              <a:rPr lang="zh-CN" altLang="en-US"/>
              <a:t>、</a:t>
            </a:r>
            <a:r>
              <a:rPr lang="en-US" altLang="zh-CN"/>
              <a:t>2</a:t>
            </a:r>
            <a:r>
              <a:rPr lang="zh-CN" altLang="en-US"/>
              <a:t>），那么它将拥有两个 </a:t>
            </a:r>
            <a:r>
              <a:rPr lang="en-US" altLang="zh-CN"/>
              <a:t>IP </a:t>
            </a:r>
            <a:r>
              <a:rPr lang="zh-CN" altLang="en-US"/>
              <a:t>地址：</a:t>
            </a:r>
          </a:p>
          <a:p>
            <a:pPr eaLnBrk="1" hangingPunct="1"/>
            <a:r>
              <a:rPr lang="zh-CN" altLang="en-US"/>
              <a:t>	一个是属于网络 </a:t>
            </a:r>
            <a:r>
              <a:rPr lang="en-US" altLang="zh-CN"/>
              <a:t>1 </a:t>
            </a:r>
            <a:r>
              <a:rPr lang="zh-CN" altLang="en-US"/>
              <a:t>的 </a:t>
            </a:r>
            <a:r>
              <a:rPr lang="en-US" altLang="zh-CN"/>
              <a:t>IP </a:t>
            </a:r>
            <a:r>
              <a:rPr lang="zh-CN" altLang="en-US"/>
              <a:t>地址 </a:t>
            </a:r>
            <a:r>
              <a:rPr lang="en-US" altLang="zh-CN"/>
              <a:t>10.0.0.1</a:t>
            </a:r>
            <a:r>
              <a:rPr lang="zh-CN" altLang="en-US"/>
              <a:t>；另一个是属于网络 </a:t>
            </a:r>
            <a:r>
              <a:rPr lang="en-US" altLang="zh-CN"/>
              <a:t>2 </a:t>
            </a:r>
            <a:r>
              <a:rPr lang="zh-CN" altLang="en-US"/>
              <a:t>的 </a:t>
            </a:r>
            <a:r>
              <a:rPr lang="en-US" altLang="zh-CN"/>
              <a:t>IP </a:t>
            </a:r>
            <a:r>
              <a:rPr lang="zh-CN" altLang="en-US"/>
              <a:t>地址 </a:t>
            </a:r>
            <a:r>
              <a:rPr lang="en-US" altLang="zh-CN"/>
              <a:t>192.0.1.1</a:t>
            </a:r>
          </a:p>
          <a:p>
            <a:pPr eaLnBrk="1" hangingPunct="1"/>
            <a:endParaRPr lang="en-US" altLang="zh-CN"/>
          </a:p>
          <a:p>
            <a:pPr eaLnBrk="1" hangingPunct="1"/>
            <a:r>
              <a:rPr lang="zh-CN" altLang="en-US"/>
              <a:t>而实际上在该主机内部，</a:t>
            </a:r>
            <a:r>
              <a:rPr lang="en-US" altLang="zh-CN"/>
              <a:t>IP </a:t>
            </a:r>
            <a:r>
              <a:rPr lang="zh-CN" altLang="en-US"/>
              <a:t>地址</a:t>
            </a:r>
            <a:r>
              <a:rPr lang="en-US" altLang="zh-CN"/>
              <a:t>10.0.0.1</a:t>
            </a:r>
            <a:r>
              <a:rPr lang="zh-CN" altLang="en-US"/>
              <a:t>将被用来标识接口 </a:t>
            </a:r>
            <a:r>
              <a:rPr lang="en-US" altLang="zh-CN"/>
              <a:t>A</a:t>
            </a:r>
            <a:r>
              <a:rPr lang="zh-CN" altLang="en-US"/>
              <a:t>； </a:t>
            </a:r>
            <a:r>
              <a:rPr lang="en-US" altLang="zh-CN"/>
              <a:t>IP </a:t>
            </a:r>
            <a:r>
              <a:rPr lang="zh-CN" altLang="en-US"/>
              <a:t>地址</a:t>
            </a:r>
            <a:r>
              <a:rPr lang="en-US" altLang="zh-CN"/>
              <a:t>192.0.1.1</a:t>
            </a:r>
            <a:r>
              <a:rPr lang="zh-CN" altLang="en-US"/>
              <a:t>将被用来标识接口 </a:t>
            </a:r>
            <a:r>
              <a:rPr lang="en-US" altLang="zh-CN"/>
              <a:t>B</a:t>
            </a:r>
            <a:r>
              <a:rPr lang="zh-CN" altLang="en-US"/>
              <a:t>。</a:t>
            </a:r>
          </a:p>
          <a:p>
            <a:pPr eaLnBrk="1" hangingPunct="1"/>
            <a:endParaRPr lang="zh-CN" altLang="en-US"/>
          </a:p>
          <a:p>
            <a:pPr eaLnBrk="1" hangingPunct="1"/>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72C9DDAB-AF1D-4D15-82EA-60D6A65A42DF}" type="slidenum">
              <a:rPr lang="en-US" altLang="zh-CN" sz="1200" smtClean="0">
                <a:solidFill>
                  <a:schemeClr val="tx1"/>
                </a:solidFill>
                <a:latin typeface="Tahoma" panose="020B0604030504040204" pitchFamily="34" charset="0"/>
              </a:rPr>
              <a:pPr/>
              <a:t>36</a:t>
            </a:fld>
            <a:endParaRPr lang="en-US" altLang="zh-CN" sz="1200">
              <a:solidFill>
                <a:schemeClr val="tx1"/>
              </a:solidFill>
              <a:latin typeface="Tahoma" panose="020B0604030504040204" pitchFamily="34" charset="0"/>
            </a:endParaRPr>
          </a:p>
        </p:txBody>
      </p:sp>
      <p:sp>
        <p:nvSpPr>
          <p:cNvPr id="34819" name="Rectangle 2"/>
          <p:cNvSpPr>
            <a:spLocks noGrp="1" noRot="1" noChangeAspect="1" noChangeArrowheads="1" noTextEdit="1"/>
          </p:cNvSpPr>
          <p:nvPr>
            <p:ph type="sldImg"/>
          </p:nvPr>
        </p:nvSpPr>
        <p:spPr>
          <a:solidFill>
            <a:srgbClr val="FFFFFF"/>
          </a:solidFill>
          <a:ln/>
        </p:spPr>
      </p:sp>
      <p:sp>
        <p:nvSpPr>
          <p:cNvPr id="3482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。分类地址</a:t>
            </a:r>
            <a:r>
              <a:rPr lang="zh-CN" altLang="en-US" sz="1000"/>
              <a:t>（</a:t>
            </a:r>
            <a:r>
              <a:rPr lang="en-US" altLang="zh-CN" sz="1000"/>
              <a:t>classful addess</a:t>
            </a:r>
            <a:r>
              <a:rPr lang="zh-CN" altLang="en-US" sz="1000"/>
              <a:t>）</a:t>
            </a:r>
            <a:r>
              <a:rPr lang="zh-CN" altLang="en-US"/>
              <a:t>的缺陷：</a:t>
            </a:r>
          </a:p>
          <a:p>
            <a:pPr eaLnBrk="1" hangingPunct="1"/>
            <a:r>
              <a:rPr lang="zh-CN" altLang="en-US"/>
              <a:t>	</a:t>
            </a:r>
            <a:r>
              <a:rPr lang="en-US" altLang="zh-CN"/>
              <a:t>a. </a:t>
            </a:r>
            <a:r>
              <a:rPr lang="zh-CN" altLang="en-US"/>
              <a:t>地址分配不够灵活：</a:t>
            </a:r>
            <a:r>
              <a:rPr lang="en-US" altLang="zh-CN"/>
              <a:t>A</a:t>
            </a:r>
            <a:r>
              <a:rPr lang="zh-CN" altLang="en-US"/>
              <a:t>类、</a:t>
            </a:r>
            <a:r>
              <a:rPr lang="en-US" altLang="zh-CN"/>
              <a:t>B</a:t>
            </a:r>
            <a:r>
              <a:rPr lang="zh-CN" altLang="en-US"/>
              <a:t>类、</a:t>
            </a:r>
            <a:r>
              <a:rPr lang="en-US" altLang="zh-CN"/>
              <a:t>C</a:t>
            </a:r>
            <a:r>
              <a:rPr lang="zh-CN" altLang="en-US"/>
              <a:t>类网络的规模不能平滑过渡</a:t>
            </a:r>
          </a:p>
          <a:p>
            <a:pPr eaLnBrk="1" hangingPunct="1"/>
            <a:r>
              <a:rPr lang="zh-CN" altLang="en-US"/>
              <a:t>	</a:t>
            </a:r>
            <a:r>
              <a:rPr lang="en-US" altLang="zh-CN"/>
              <a:t>b. </a:t>
            </a:r>
            <a:r>
              <a:rPr lang="zh-CN" altLang="en-US"/>
              <a:t>地址空间消耗速度快：分类地址中网络的总数量有限，随着网络的扩展，</a:t>
            </a:r>
            <a:r>
              <a:rPr lang="en-US" altLang="zh-CN"/>
              <a:t>IP</a:t>
            </a:r>
            <a:r>
              <a:rPr lang="zh-CN" altLang="en-US"/>
              <a:t>地址将很快被分配完。</a:t>
            </a:r>
          </a:p>
          <a:p>
            <a:pPr eaLnBrk="1" hangingPunct="1"/>
            <a:endParaRPr lang="zh-CN" altLang="en-US"/>
          </a:p>
          <a:p>
            <a:pPr eaLnBrk="1" hangingPunct="1"/>
            <a:r>
              <a:rPr lang="en-US" altLang="zh-CN"/>
              <a:t>2</a:t>
            </a:r>
            <a:r>
              <a:rPr lang="zh-CN" altLang="en-US"/>
              <a:t>。子网划分能够使较大的分类地址空间被多个规模较小的网点所共享（不需要为每个网点分别申请一个分类地址空间。）</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33EBAB6E-4E5E-4517-B6A4-9B3D30B4E947}" type="slidenum">
              <a:rPr lang="en-US" altLang="zh-CN" sz="1200" smtClean="0">
                <a:solidFill>
                  <a:schemeClr val="tx1"/>
                </a:solidFill>
                <a:latin typeface="Tahoma" panose="020B0604030504040204" pitchFamily="34" charset="0"/>
              </a:rPr>
              <a:pPr/>
              <a:t>43</a:t>
            </a:fld>
            <a:endParaRPr lang="en-US" altLang="zh-CN" sz="1200">
              <a:solidFill>
                <a:schemeClr val="tx1"/>
              </a:solidFill>
              <a:latin typeface="Tahoma" panose="020B0604030504040204" pitchFamily="34" charset="0"/>
            </a:endParaRPr>
          </a:p>
        </p:txBody>
      </p:sp>
      <p:sp>
        <p:nvSpPr>
          <p:cNvPr id="46083" name="Rectangle 2"/>
          <p:cNvSpPr>
            <a:spLocks noGrp="1" noRot="1" noChangeAspect="1" noChangeArrowheads="1" noTextEdit="1"/>
          </p:cNvSpPr>
          <p:nvPr>
            <p:ph type="sldImg"/>
          </p:nvPr>
        </p:nvSpPr>
        <p:spPr>
          <a:solidFill>
            <a:srgbClr val="FFFFFF"/>
          </a:solidFill>
          <a:ln/>
        </p:spPr>
      </p:sp>
      <p:sp>
        <p:nvSpPr>
          <p:cNvPr id="4608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1C1A881F-AEAD-48C0-9542-E1B62C86F7DC}" type="slidenum">
              <a:rPr lang="en-US" altLang="zh-CN" sz="1200" smtClean="0">
                <a:solidFill>
                  <a:schemeClr val="tx1"/>
                </a:solidFill>
                <a:latin typeface="Tahoma" panose="020B0604030504040204" pitchFamily="34" charset="0"/>
              </a:rPr>
              <a:pPr/>
              <a:t>44</a:t>
            </a:fld>
            <a:endParaRPr lang="en-US" altLang="zh-CN" sz="1200">
              <a:solidFill>
                <a:schemeClr val="tx1"/>
              </a:solidFill>
              <a:latin typeface="Tahoma" panose="020B0604030504040204" pitchFamily="34" charset="0"/>
            </a:endParaRPr>
          </a:p>
        </p:txBody>
      </p:sp>
      <p:sp>
        <p:nvSpPr>
          <p:cNvPr id="48131" name="Rectangle 2"/>
          <p:cNvSpPr>
            <a:spLocks noGrp="1" noRot="1" noChangeAspect="1" noChangeArrowheads="1" noTextEdit="1"/>
          </p:cNvSpPr>
          <p:nvPr>
            <p:ph type="sldImg"/>
          </p:nvPr>
        </p:nvSpPr>
        <p:spPr>
          <a:solidFill>
            <a:srgbClr val="FFFFFF"/>
          </a:solidFill>
          <a:ln/>
        </p:spPr>
      </p:sp>
      <p:sp>
        <p:nvSpPr>
          <p:cNvPr id="4813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。如图，一个企业拥有 </a:t>
            </a:r>
            <a:r>
              <a:rPr lang="en-US" altLang="zh-CN"/>
              <a:t>16 </a:t>
            </a:r>
            <a:r>
              <a:rPr lang="zh-CN" altLang="en-US"/>
              <a:t>个连续的 </a:t>
            </a:r>
            <a:r>
              <a:rPr lang="en-US" altLang="zh-CN"/>
              <a:t>C </a:t>
            </a:r>
            <a:r>
              <a:rPr lang="zh-CN" altLang="en-US"/>
              <a:t>类网络地址所构成的网络，但希望将这些网络统一起来。利用超网技术，可将</a:t>
            </a:r>
            <a:r>
              <a:rPr lang="en-US" altLang="zh-CN"/>
              <a:t>16 </a:t>
            </a:r>
            <a:r>
              <a:rPr lang="zh-CN" altLang="en-US"/>
              <a:t>个 </a:t>
            </a:r>
            <a:r>
              <a:rPr lang="en-US" altLang="zh-CN"/>
              <a:t>C </a:t>
            </a:r>
            <a:r>
              <a:rPr lang="zh-CN" altLang="en-US"/>
              <a:t>类网络聚合形成一个超网。该网络的网络前缀及子网掩码通过路由器向外界通告。外界看到的是一个网络前缀位 </a:t>
            </a:r>
            <a:r>
              <a:rPr lang="en-US" altLang="zh-CN" sz="2000">
                <a:solidFill>
                  <a:srgbClr val="FFFFCC"/>
                </a:solidFill>
                <a:latin typeface="Verdana" panose="020B0604030504040204" pitchFamily="34" charset="0"/>
                <a:ea typeface="隶书" panose="02010509060101010101" pitchFamily="49" charset="-122"/>
              </a:rPr>
              <a:t>192.18.0.0 </a:t>
            </a:r>
            <a:r>
              <a:rPr lang="zh-CN" altLang="en-US" sz="2000">
                <a:solidFill>
                  <a:srgbClr val="FFFFCC"/>
                </a:solidFill>
                <a:latin typeface="Verdana" panose="020B0604030504040204" pitchFamily="34" charset="0"/>
                <a:ea typeface="隶书" panose="02010509060101010101" pitchFamily="49" charset="-122"/>
              </a:rPr>
              <a:t>、</a:t>
            </a:r>
            <a:r>
              <a:rPr lang="zh-CN" altLang="en-US"/>
              <a:t>子网 </a:t>
            </a:r>
            <a:r>
              <a:rPr lang="en-US" altLang="zh-CN"/>
              <a:t>20 </a:t>
            </a:r>
            <a:r>
              <a:rPr lang="zh-CN" altLang="en-US"/>
              <a:t>位的单一网络。</a:t>
            </a:r>
          </a:p>
          <a:p>
            <a:pPr eaLnBrk="1" hangingPunct="1"/>
            <a:endParaRPr lang="zh-CN" altLang="en-US"/>
          </a:p>
          <a:p>
            <a:pPr eaLnBrk="1" hangingPunct="1"/>
            <a:r>
              <a:rPr lang="en-US" altLang="zh-CN"/>
              <a:t>2</a:t>
            </a:r>
            <a:r>
              <a:rPr lang="zh-CN" altLang="en-US"/>
              <a:t>。实际上，目前 </a:t>
            </a:r>
            <a:r>
              <a:rPr lang="en-US" altLang="zh-CN"/>
              <a:t>Internet </a:t>
            </a:r>
            <a:r>
              <a:rPr lang="zh-CN" altLang="en-US"/>
              <a:t>的地址管理机构分配 </a:t>
            </a:r>
            <a:r>
              <a:rPr lang="en-US" altLang="zh-CN"/>
              <a:t>IP </a:t>
            </a:r>
            <a:r>
              <a:rPr lang="zh-CN" altLang="en-US"/>
              <a:t>地址的时候，都是按照</a:t>
            </a:r>
            <a:r>
              <a:rPr lang="en-US" altLang="zh-CN">
                <a:solidFill>
                  <a:srgbClr val="FFFFCC"/>
                </a:solidFill>
              </a:rPr>
              <a:t>CIDR </a:t>
            </a:r>
            <a:r>
              <a:rPr lang="zh-CN" altLang="en-US">
                <a:solidFill>
                  <a:srgbClr val="FFFFCC"/>
                </a:solidFill>
              </a:rPr>
              <a:t>块进行分配的，而不是按照传统的分类地址进行分配的。</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875F715B-396C-4769-B149-0DF868EC46FE}" type="slidenum">
              <a:rPr lang="en-US" altLang="zh-CN" sz="1200" smtClean="0">
                <a:solidFill>
                  <a:schemeClr val="tx1"/>
                </a:solidFill>
                <a:latin typeface="Tahoma" panose="020B0604030504040204" pitchFamily="34" charset="0"/>
              </a:rPr>
              <a:pPr/>
              <a:t>64</a:t>
            </a:fld>
            <a:endParaRPr lang="en-US" altLang="zh-CN" sz="1200">
              <a:solidFill>
                <a:schemeClr val="tx1"/>
              </a:solidFill>
              <a:latin typeface="Tahoma" panose="020B0604030504040204" pitchFamily="34" charset="0"/>
            </a:endParaRPr>
          </a:p>
        </p:txBody>
      </p:sp>
      <p:sp>
        <p:nvSpPr>
          <p:cNvPr id="76803" name="Rectangle 2"/>
          <p:cNvSpPr>
            <a:spLocks noGrp="1" noRot="1" noChangeAspect="1" noChangeArrowheads="1" noTextEdit="1"/>
          </p:cNvSpPr>
          <p:nvPr>
            <p:ph type="sldImg"/>
          </p:nvPr>
        </p:nvSpPr>
        <p:spPr>
          <a:solidFill>
            <a:srgbClr val="FFFFFF"/>
          </a:solidFill>
          <a:ln/>
        </p:spPr>
      </p:sp>
      <p:sp>
        <p:nvSpPr>
          <p:cNvPr id="7680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Tv = for some country – for sale?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5D077D9F-E8D2-4DB8-8687-B4B561ACA370}" type="slidenum">
              <a:rPr lang="en-US" altLang="zh-CN" sz="1200" smtClean="0">
                <a:solidFill>
                  <a:schemeClr val="tx1"/>
                </a:solidFill>
                <a:latin typeface="Tahoma" panose="020B0604030504040204" pitchFamily="34" charset="0"/>
              </a:rPr>
              <a:pPr/>
              <a:t>65</a:t>
            </a:fld>
            <a:endParaRPr lang="en-US" altLang="zh-CN" sz="1200">
              <a:solidFill>
                <a:schemeClr val="tx1"/>
              </a:solidFill>
              <a:latin typeface="Tahoma" panose="020B0604030504040204" pitchFamily="34" charset="0"/>
            </a:endParaRPr>
          </a:p>
        </p:txBody>
      </p:sp>
      <p:sp>
        <p:nvSpPr>
          <p:cNvPr id="78851" name="Rectangle 2"/>
          <p:cNvSpPr>
            <a:spLocks noGrp="1" noRot="1" noChangeAspect="1" noChangeArrowheads="1" noTextEdit="1"/>
          </p:cNvSpPr>
          <p:nvPr>
            <p:ph type="sldImg"/>
          </p:nvPr>
        </p:nvSpPr>
        <p:spPr>
          <a:solidFill>
            <a:srgbClr val="FFFFFF"/>
          </a:solidFill>
          <a:ln/>
        </p:spPr>
      </p:sp>
      <p:sp>
        <p:nvSpPr>
          <p:cNvPr id="7885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/20 = 20 of the 32 bits in IP address are specified</a:t>
            </a:r>
          </a:p>
          <a:p>
            <a:pPr eaLnBrk="1" hangingPunct="1"/>
            <a:r>
              <a:rPr lang="en-US" altLang="zh-CN"/>
              <a:t>12 bits free 2^12 = 4096</a:t>
            </a:r>
          </a:p>
          <a:p>
            <a:pPr eaLnBrk="1" hangingPunct="1"/>
            <a:endParaRPr lang="en-US" altLang="zh-CN"/>
          </a:p>
          <a:p>
            <a:pPr eaLnBrk="1" hangingPunct="1"/>
            <a:r>
              <a:rPr lang="en-US" altLang="zh-CN"/>
              <a:t>/14 = 14 bits specified</a:t>
            </a:r>
          </a:p>
          <a:p>
            <a:pPr eaLnBrk="1" hangingPunct="1"/>
            <a:r>
              <a:rPr lang="en-US" altLang="zh-CN"/>
              <a:t>18 free 2^18= 262,144</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76C80135-2488-4A6D-BE86-1E875431C308}" type="slidenum">
              <a:rPr lang="en-US" altLang="zh-CN" sz="1200" smtClean="0">
                <a:solidFill>
                  <a:schemeClr val="tx1"/>
                </a:solidFill>
                <a:latin typeface="Tahoma" panose="020B0604030504040204" pitchFamily="34" charset="0"/>
              </a:rPr>
              <a:pPr/>
              <a:t>97</a:t>
            </a:fld>
            <a:endParaRPr lang="en-US" altLang="zh-CN" sz="1200">
              <a:solidFill>
                <a:schemeClr val="tx1"/>
              </a:solidFill>
              <a:latin typeface="Tahoma" panose="020B0604030504040204" pitchFamily="34" charset="0"/>
            </a:endParaRPr>
          </a:p>
        </p:txBody>
      </p:sp>
      <p:sp>
        <p:nvSpPr>
          <p:cNvPr id="20483" name="Rectangle 2"/>
          <p:cNvSpPr>
            <a:spLocks noGrp="1" noRot="1" noChangeAspect="1" noChangeArrowheads="1" noTextEdit="1"/>
          </p:cNvSpPr>
          <p:nvPr>
            <p:ph type="sldImg"/>
          </p:nvPr>
        </p:nvSpPr>
        <p:spPr>
          <a:solidFill>
            <a:srgbClr val="FFFFFF"/>
          </a:solidFill>
          <a:ln/>
        </p:spPr>
      </p:sp>
      <p:sp>
        <p:nvSpPr>
          <p:cNvPr id="2048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路由器用于连通不同的网络。路由器通常具有多个网络接口，分别连接到不同的网络上，其主要功能是完成网络间分组的转发。路由器在进行分组转发时需要计算分组去往目的地的最佳路径（也就是最短或费用最低的通路）。</a:t>
            </a:r>
          </a:p>
          <a:p>
            <a:pPr eaLnBrk="1" hangingPunct="1"/>
            <a:r>
              <a:rPr lang="en-US" altLang="zh-CN"/>
              <a:t>2</a:t>
            </a:r>
            <a:r>
              <a:rPr lang="zh-CN" altLang="en-US"/>
              <a:t>。网络中的路由器之间还需要进行信息交换，这些信息包括互联网中各个网络的位置、可达性。信息交换采用特定的路由协议来完成，利用路由协议进行信息交换也是</a:t>
            </a:r>
            <a:r>
              <a:rPr lang="en-US" altLang="zh-CN"/>
              <a:t>IP</a:t>
            </a:r>
            <a:r>
              <a:rPr lang="zh-CN" altLang="en-US"/>
              <a:t>层的一项重要功能。同时路由协议还被利用来进行最佳路径的计算。</a:t>
            </a:r>
          </a:p>
          <a:p>
            <a:pPr eaLnBrk="1" hangingPunct="1"/>
            <a:r>
              <a:rPr lang="en-US" altLang="zh-CN"/>
              <a:t>3</a:t>
            </a:r>
            <a:r>
              <a:rPr lang="zh-CN" altLang="en-US"/>
              <a:t>。第一代的路由器类似于普通计算机：</a:t>
            </a:r>
          </a:p>
          <a:p>
            <a:pPr eaLnBrk="1" hangingPunct="1"/>
            <a:r>
              <a:rPr lang="zh-CN" altLang="en-US"/>
              <a:t>	</a:t>
            </a:r>
            <a:r>
              <a:rPr lang="en-US" altLang="zh-CN"/>
              <a:t>a. </a:t>
            </a:r>
            <a:r>
              <a:rPr lang="zh-CN" altLang="en-US"/>
              <a:t>处理器和若干网络接口通过共享总线连接</a:t>
            </a:r>
          </a:p>
          <a:p>
            <a:pPr eaLnBrk="1" hangingPunct="1"/>
            <a:r>
              <a:rPr lang="zh-CN" altLang="en-US"/>
              <a:t>	</a:t>
            </a:r>
            <a:r>
              <a:rPr lang="en-US" altLang="zh-CN"/>
              <a:t>b. </a:t>
            </a:r>
            <a:r>
              <a:rPr lang="zh-CN" altLang="en-US"/>
              <a:t>中央处理器实现分组转发（分组转发通过查找路由表完成），并运行路由协议。</a:t>
            </a:r>
          </a:p>
          <a:p>
            <a:pPr eaLnBrk="1" hangingPunct="1"/>
            <a:r>
              <a:rPr lang="zh-CN" altLang="en-US"/>
              <a:t>	</a:t>
            </a:r>
            <a:r>
              <a:rPr lang="en-US" altLang="zh-CN"/>
              <a:t>c. </a:t>
            </a:r>
            <a:r>
              <a:rPr lang="zh-CN" altLang="en-US"/>
              <a:t>分组从一个网络接口进入，通过处理器转发到另一个网络接口。</a:t>
            </a:r>
          </a:p>
          <a:p>
            <a:pPr eaLnBrk="1" hangingPunct="1"/>
            <a:r>
              <a:rPr lang="zh-CN" altLang="en-US"/>
              <a:t>	</a:t>
            </a:r>
            <a:r>
              <a:rPr lang="en-US" altLang="zh-CN"/>
              <a:t>d. </a:t>
            </a:r>
            <a:r>
              <a:rPr lang="zh-CN" altLang="en-US"/>
              <a:t>这种集中式结构的性能瓶颈在于总线的速度和中央处理器的处理速度。</a:t>
            </a:r>
          </a:p>
          <a:p>
            <a:pPr eaLnBrk="1" hangingPunct="1"/>
            <a:r>
              <a:rPr lang="zh-CN" altLang="en-US"/>
              <a:t>	</a:t>
            </a:r>
            <a:r>
              <a:rPr lang="en-US" altLang="zh-CN"/>
              <a:t>e. </a:t>
            </a:r>
            <a:r>
              <a:rPr lang="zh-CN" altLang="en-US"/>
              <a:t>随着网络的扩张，路由表规模也在增大，将增大查找路由表的开销，降低转发效率。</a:t>
            </a:r>
          </a:p>
          <a:p>
            <a:pPr eaLnBrk="1" hangingPunct="1"/>
            <a:r>
              <a:rPr lang="en-US" altLang="zh-CN"/>
              <a:t>4</a:t>
            </a:r>
            <a:r>
              <a:rPr lang="zh-CN" altLang="en-US"/>
              <a:t>。因此，现代的高速路由器都采用了的高速交换结构和分布式的分组转发：</a:t>
            </a:r>
          </a:p>
          <a:p>
            <a:pPr eaLnBrk="1" hangingPunct="1"/>
            <a:r>
              <a:rPr lang="zh-CN" altLang="en-US"/>
              <a:t>	</a:t>
            </a:r>
            <a:r>
              <a:rPr lang="en-US" altLang="zh-CN"/>
              <a:t>a. </a:t>
            </a:r>
            <a:r>
              <a:rPr lang="zh-CN" altLang="en-US"/>
              <a:t>路由器内部采用高速交换机构，实现各适配器之间内部信息的无阻塞交换</a:t>
            </a:r>
          </a:p>
          <a:p>
            <a:pPr eaLnBrk="1" hangingPunct="1"/>
            <a:r>
              <a:rPr lang="zh-CN" altLang="en-US"/>
              <a:t>	</a:t>
            </a:r>
            <a:r>
              <a:rPr lang="en-US" altLang="zh-CN"/>
              <a:t>b. </a:t>
            </a:r>
            <a:r>
              <a:rPr lang="zh-CN" altLang="en-US"/>
              <a:t>每个网络适配器具有分组转发选路功能，各适配器都保存有转发路由表（或路由表的一部分）</a:t>
            </a:r>
          </a:p>
          <a:p>
            <a:pPr eaLnBrk="1" hangingPunct="1"/>
            <a:r>
              <a:rPr lang="zh-CN" altLang="en-US"/>
              <a:t>	</a:t>
            </a:r>
            <a:r>
              <a:rPr lang="en-US" altLang="zh-CN"/>
              <a:t>c.</a:t>
            </a:r>
            <a:r>
              <a:rPr lang="zh-CN" altLang="en-US"/>
              <a:t>分组转发不需要中央处理器的干预，中央处理器只需要利用路由协议来维护路由表。</a:t>
            </a:r>
          </a:p>
          <a:p>
            <a:pPr eaLnBrk="1" hangingPunct="1"/>
            <a:r>
              <a:rPr lang="zh-CN" altLang="en-US"/>
              <a:t>	</a:t>
            </a:r>
            <a:r>
              <a:rPr lang="en-US" altLang="zh-CN"/>
              <a:t>d. </a:t>
            </a:r>
            <a:r>
              <a:rPr lang="zh-CN" altLang="en-US"/>
              <a:t>这种结构大大提高了分组的转发效率。</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0" lang="zh-CN" altLang="en-US" sz="1200" smtClean="0">
                <a:latin typeface="Arial" panose="020B0604020202020204" pitchFamily="34" charset="0"/>
              </a:rPr>
              <a:t>路由表可以以</a:t>
            </a:r>
            <a:r>
              <a:rPr kumimoji="0" lang="en-US" altLang="zh-CN" sz="1200" b="1" smtClean="0">
                <a:latin typeface="Courier" charset="0"/>
              </a:rPr>
              <a:t>netstat –rn</a:t>
            </a:r>
            <a:r>
              <a:rPr kumimoji="0" lang="zh-CN" altLang="en-US" sz="1200" b="1" smtClean="0">
                <a:latin typeface="Courier" charset="0"/>
              </a:rPr>
              <a:t>打印输出</a:t>
            </a:r>
            <a:endParaRPr kumimoji="0" lang="zh-CN" altLang="en-US" sz="1200" smtClean="0"/>
          </a:p>
          <a:p>
            <a:endParaRPr lang="zh-CN" altLang="en-US"/>
          </a:p>
        </p:txBody>
      </p:sp>
      <p:sp>
        <p:nvSpPr>
          <p:cNvPr id="4" name="灯片编号占位符 3"/>
          <p:cNvSpPr>
            <a:spLocks noGrp="1"/>
          </p:cNvSpPr>
          <p:nvPr>
            <p:ph type="sldNum" sz="quarter" idx="10"/>
          </p:nvPr>
        </p:nvSpPr>
        <p:spPr/>
        <p:txBody>
          <a:bodyPr/>
          <a:lstStyle/>
          <a:p>
            <a:pPr>
              <a:defRPr/>
            </a:pPr>
            <a:fld id="{BDA451E5-B0D0-4842-8785-455D7059AC0C}" type="slidenum">
              <a:rPr lang="en-US" altLang="zh-CN" smtClean="0"/>
              <a:pPr>
                <a:defRPr/>
              </a:pPr>
              <a:t>113</a:t>
            </a:fld>
            <a:endParaRPr lang="en-US" altLang="zh-CN"/>
          </a:p>
        </p:txBody>
      </p:sp>
    </p:spTree>
    <p:extLst>
      <p:ext uri="{BB962C8B-B14F-4D97-AF65-F5344CB8AC3E}">
        <p14:creationId xmlns:p14="http://schemas.microsoft.com/office/powerpoint/2010/main" val="19073952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B8FDA07-0A76-4514-AAC8-13758DA96FB3}" type="slidenum">
              <a:rPr lang="en-US" altLang="zh-CN"/>
              <a:pPr/>
              <a:t>119</a:t>
            </a:fld>
            <a:endParaRPr lang="en-US" altLang="zh-CN"/>
          </a:p>
        </p:txBody>
      </p:sp>
      <p:sp>
        <p:nvSpPr>
          <p:cNvPr id="1383426" name="Rectangle 2"/>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138342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zh-CN"/>
              <a:t>1</a:t>
            </a:r>
            <a:r>
              <a:rPr lang="zh-CN" altLang="en-US"/>
              <a:t>。路由器用于连通不同的网络。路由器通常具有多个网络接口，分别连接到不同的网络上，其主要功能是完成网络间分组的转发。路由器在进行分组转发时需要计算分组去往目的地的最佳路径（也就是最短或费用最低的通路）。</a:t>
            </a:r>
          </a:p>
          <a:p>
            <a:r>
              <a:rPr lang="en-US" altLang="zh-CN"/>
              <a:t>2</a:t>
            </a:r>
            <a:r>
              <a:rPr lang="zh-CN" altLang="en-US"/>
              <a:t>。网络中的路由器之间还需要进行信息交换，这些信息包括互联网中各个网络的位置、可达性。信息交换采用特定的路由协议来完成，利用路由协议进行信息交换也是</a:t>
            </a:r>
            <a:r>
              <a:rPr lang="en-US" altLang="zh-CN"/>
              <a:t>IP</a:t>
            </a:r>
            <a:r>
              <a:rPr lang="zh-CN" altLang="en-US"/>
              <a:t>层的一项重要功能。同时路由协议还被利用来进行最佳路径的计算。</a:t>
            </a:r>
          </a:p>
          <a:p>
            <a:r>
              <a:rPr lang="en-US" altLang="zh-CN"/>
              <a:t>3</a:t>
            </a:r>
            <a:r>
              <a:rPr lang="zh-CN" altLang="en-US"/>
              <a:t>。第一代的路由器类似于普通计算机：</a:t>
            </a:r>
          </a:p>
          <a:p>
            <a:r>
              <a:rPr lang="zh-CN" altLang="en-US"/>
              <a:t>	</a:t>
            </a:r>
            <a:r>
              <a:rPr lang="en-US" altLang="zh-CN"/>
              <a:t>a. </a:t>
            </a:r>
            <a:r>
              <a:rPr lang="zh-CN" altLang="en-US"/>
              <a:t>处理器和若干网络接口通过共享总线连接</a:t>
            </a:r>
          </a:p>
          <a:p>
            <a:r>
              <a:rPr lang="zh-CN" altLang="en-US"/>
              <a:t>	</a:t>
            </a:r>
            <a:r>
              <a:rPr lang="en-US" altLang="zh-CN"/>
              <a:t>b. </a:t>
            </a:r>
            <a:r>
              <a:rPr lang="zh-CN" altLang="en-US"/>
              <a:t>中央处理器实现分组转发（分组转发通过查找路由表完成），并运行路由协议。</a:t>
            </a:r>
          </a:p>
          <a:p>
            <a:r>
              <a:rPr lang="zh-CN" altLang="en-US"/>
              <a:t>	</a:t>
            </a:r>
            <a:r>
              <a:rPr lang="en-US" altLang="zh-CN"/>
              <a:t>c. </a:t>
            </a:r>
            <a:r>
              <a:rPr lang="zh-CN" altLang="en-US"/>
              <a:t>分组从一个网络接口进入，通过处理器转发到另一个网络接口。</a:t>
            </a:r>
          </a:p>
          <a:p>
            <a:r>
              <a:rPr lang="zh-CN" altLang="en-US"/>
              <a:t>	</a:t>
            </a:r>
            <a:r>
              <a:rPr lang="en-US" altLang="zh-CN"/>
              <a:t>d. </a:t>
            </a:r>
            <a:r>
              <a:rPr lang="zh-CN" altLang="en-US"/>
              <a:t>这种集中式结构的性能瓶颈在于总线的速度和中央处理器的处理速度。</a:t>
            </a:r>
          </a:p>
          <a:p>
            <a:r>
              <a:rPr lang="zh-CN" altLang="en-US"/>
              <a:t>	</a:t>
            </a:r>
            <a:r>
              <a:rPr lang="en-US" altLang="zh-CN"/>
              <a:t>e. </a:t>
            </a:r>
            <a:r>
              <a:rPr lang="zh-CN" altLang="en-US"/>
              <a:t>随着网络的扩张，路由表规模也在增大，将增大查找路由表的开销，降低转发效率。</a:t>
            </a:r>
          </a:p>
          <a:p>
            <a:r>
              <a:rPr lang="en-US" altLang="zh-CN"/>
              <a:t>4</a:t>
            </a:r>
            <a:r>
              <a:rPr lang="zh-CN" altLang="en-US"/>
              <a:t>。因此，现代的高速路由器都采用了的高速交换结构和分布式的分组转发：</a:t>
            </a:r>
          </a:p>
          <a:p>
            <a:r>
              <a:rPr lang="zh-CN" altLang="en-US"/>
              <a:t>	</a:t>
            </a:r>
            <a:r>
              <a:rPr lang="en-US" altLang="zh-CN"/>
              <a:t>a. </a:t>
            </a:r>
            <a:r>
              <a:rPr lang="zh-CN" altLang="en-US"/>
              <a:t>路由器内部采用高速交换机构，实现各适配器之间内部信息的无阻塞交换</a:t>
            </a:r>
          </a:p>
          <a:p>
            <a:r>
              <a:rPr lang="zh-CN" altLang="en-US"/>
              <a:t>	</a:t>
            </a:r>
            <a:r>
              <a:rPr lang="en-US" altLang="zh-CN"/>
              <a:t>b. </a:t>
            </a:r>
            <a:r>
              <a:rPr lang="zh-CN" altLang="en-US"/>
              <a:t>每个网络适配器具有分组转发选路功能，各适配器都保存有转发路由表（或路由表的一部分）</a:t>
            </a:r>
          </a:p>
          <a:p>
            <a:r>
              <a:rPr lang="zh-CN" altLang="en-US"/>
              <a:t>	</a:t>
            </a:r>
            <a:r>
              <a:rPr lang="en-US" altLang="zh-CN"/>
              <a:t>c.</a:t>
            </a:r>
            <a:r>
              <a:rPr lang="zh-CN" altLang="en-US"/>
              <a:t>分组转发不需要中央处理器的干预，中央处理器只需要利用路由协议来维护路由表。</a:t>
            </a:r>
          </a:p>
          <a:p>
            <a:r>
              <a:rPr lang="zh-CN" altLang="en-US"/>
              <a:t>	</a:t>
            </a:r>
            <a:r>
              <a:rPr lang="en-US" altLang="zh-CN"/>
              <a:t>d. </a:t>
            </a:r>
            <a:r>
              <a:rPr lang="zh-CN" altLang="en-US"/>
              <a:t>这种结构大大提高了分组的转发效率。</a:t>
            </a:r>
          </a:p>
        </p:txBody>
      </p:sp>
    </p:spTree>
    <p:extLst>
      <p:ext uri="{BB962C8B-B14F-4D97-AF65-F5344CB8AC3E}">
        <p14:creationId xmlns:p14="http://schemas.microsoft.com/office/powerpoint/2010/main" val="36321673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smtClean="0">
                <a:solidFill>
                  <a:schemeClr val="tx1"/>
                </a:solidFill>
                <a:effectLst/>
                <a:latin typeface="Times New Roman" panose="02020603050405020304" pitchFamily="18" charset="0"/>
                <a:ea typeface="宋体" panose="02010600030101010101" pitchFamily="2" charset="-122"/>
                <a:cs typeface="+mn-cs"/>
              </a:rPr>
              <a:t>在路由信息传送过程中，路由器从某个接口接收到的更新信息不允许再从这个接口发回去</a:t>
            </a:r>
            <a:endParaRPr lang="zh-CN" altLang="en-US"/>
          </a:p>
        </p:txBody>
      </p:sp>
      <p:sp>
        <p:nvSpPr>
          <p:cNvPr id="4" name="灯片编号占位符 3"/>
          <p:cNvSpPr>
            <a:spLocks noGrp="1"/>
          </p:cNvSpPr>
          <p:nvPr>
            <p:ph type="sldNum" sz="quarter" idx="10"/>
          </p:nvPr>
        </p:nvSpPr>
        <p:spPr/>
        <p:txBody>
          <a:bodyPr/>
          <a:lstStyle/>
          <a:p>
            <a:pPr>
              <a:defRPr/>
            </a:pPr>
            <a:fld id="{BDA451E5-B0D0-4842-8785-455D7059AC0C}" type="slidenum">
              <a:rPr lang="en-US" altLang="zh-CN" smtClean="0"/>
              <a:pPr>
                <a:defRPr/>
              </a:pPr>
              <a:t>143</a:t>
            </a:fld>
            <a:endParaRPr lang="en-US" altLang="zh-CN"/>
          </a:p>
        </p:txBody>
      </p:sp>
    </p:spTree>
    <p:extLst>
      <p:ext uri="{BB962C8B-B14F-4D97-AF65-F5344CB8AC3E}">
        <p14:creationId xmlns:p14="http://schemas.microsoft.com/office/powerpoint/2010/main" val="31041514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6A13B614-5658-4A4D-88B4-3E6596654427}" type="slidenum">
              <a:rPr lang="en-US" altLang="zh-CN" smtClean="0"/>
              <a:pPr>
                <a:defRPr/>
              </a:pPr>
              <a:t>‹#›</a:t>
            </a:fld>
            <a:endParaRPr lang="en-US" altLang="zh-CN"/>
          </a:p>
        </p:txBody>
      </p:sp>
    </p:spTree>
    <p:extLst>
      <p:ext uri="{BB962C8B-B14F-4D97-AF65-F5344CB8AC3E}">
        <p14:creationId xmlns:p14="http://schemas.microsoft.com/office/powerpoint/2010/main" val="230997373"/>
      </p:ext>
    </p:extLst>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86228376"/>
      </p:ext>
    </p:extLst>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C764DE79-268F-4C1A-8933-263129D2AF90}" type="datetimeFigureOut">
              <a:rPr lang="en-US" dirty="0"/>
              <a:t>12/6/2021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11501450"/>
      </p:ext>
    </p:extLst>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12/6/2021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52431897"/>
      </p:ext>
    </p:extLst>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12/6/2021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1686311"/>
      </p:ext>
    </p:extLst>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12/6/2021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74912159"/>
      </p:ext>
    </p:extLst>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12/6/2021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156857826"/>
      </p:ext>
    </p:extLst>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12/6/2021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74737792"/>
      </p:ext>
    </p:extLst>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12/6/2021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11508551"/>
      </p:ext>
    </p:extLst>
  </p:cSld>
  <p:clrMapOvr>
    <a:masterClrMapping/>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95602435"/>
      </p:ext>
    </p:extLst>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8169860"/>
      </p:ext>
    </p:extLst>
  </p:cSld>
  <p:clrMapOvr>
    <a:masterClrMapping/>
  </p:clrMapOvr>
  <p:transition spd="med">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图表占位符 2"/>
          <p:cNvSpPr>
            <a:spLocks noGrp="1"/>
          </p:cNvSpPr>
          <p:nvPr>
            <p:ph type="chart" idx="1"/>
          </p:nvPr>
        </p:nvSpPr>
        <p:spPr>
          <a:xfrm>
            <a:off x="609600" y="1600201"/>
            <a:ext cx="10972800" cy="4525963"/>
          </a:xfrm>
          <a:prstGeom prst="rect">
            <a:avLst/>
          </a:prstGeom>
        </p:spPr>
        <p:txBody>
          <a:bodyPr/>
          <a:lstStyle/>
          <a:p>
            <a:pPr lvl="0"/>
            <a:endParaRPr lang="zh-CN" altLang="en-US" noProof="0"/>
          </a:p>
        </p:txBody>
      </p:sp>
    </p:spTree>
    <p:extLst>
      <p:ext uri="{BB962C8B-B14F-4D97-AF65-F5344CB8AC3E}">
        <p14:creationId xmlns:p14="http://schemas.microsoft.com/office/powerpoint/2010/main" val="2887281542"/>
      </p:ext>
    </p:extLst>
  </p:cSld>
  <p:clrMapOvr>
    <a:masterClrMapping/>
  </p:clrMapOvr>
  <p:transition spd="med">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表格占位符 2"/>
          <p:cNvSpPr>
            <a:spLocks noGrp="1"/>
          </p:cNvSpPr>
          <p:nvPr>
            <p:ph type="tbl" idx="1"/>
          </p:nvPr>
        </p:nvSpPr>
        <p:spPr>
          <a:xfrm>
            <a:off x="609600" y="1600201"/>
            <a:ext cx="10972800" cy="4525963"/>
          </a:xfrm>
          <a:prstGeom prst="rect">
            <a:avLst/>
          </a:prstGeom>
        </p:spPr>
        <p:txBody>
          <a:bodyPr/>
          <a:lstStyle/>
          <a:p>
            <a:pPr lvl="0"/>
            <a:endParaRPr lang="zh-CN" altLang="en-US" noProof="0"/>
          </a:p>
        </p:txBody>
      </p:sp>
    </p:spTree>
    <p:extLst>
      <p:ext uri="{BB962C8B-B14F-4D97-AF65-F5344CB8AC3E}">
        <p14:creationId xmlns:p14="http://schemas.microsoft.com/office/powerpoint/2010/main" val="1651347194"/>
      </p:ext>
    </p:extLst>
  </p:cSld>
  <p:clrMapOvr>
    <a:masterClrMapping/>
  </p:clrMapOvr>
  <p:transition spd="med">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CE1047-8810-48FF-8638-F1820BF72D84}"/>
              </a:ext>
            </a:extLst>
          </p:cNvPr>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
        <p:nvSpPr>
          <p:cNvPr id="3" name="SmartArt 占位符 2">
            <a:extLst>
              <a:ext uri="{FF2B5EF4-FFF2-40B4-BE49-F238E27FC236}">
                <a16:creationId xmlns:a16="http://schemas.microsoft.com/office/drawing/2014/main" id="{91DD5167-F188-4C48-845E-EB81379D9A95}"/>
              </a:ext>
            </a:extLst>
          </p:cNvPr>
          <p:cNvSpPr>
            <a:spLocks noGrp="1"/>
          </p:cNvSpPr>
          <p:nvPr>
            <p:ph type="dgm" idx="1"/>
          </p:nvPr>
        </p:nvSpPr>
        <p:spPr>
          <a:xfrm>
            <a:off x="838200" y="1825625"/>
            <a:ext cx="10515600" cy="4351338"/>
          </a:xfrm>
          <a:prstGeom prst="rect">
            <a:avLst/>
          </a:prstGeom>
        </p:spPr>
        <p:txBody>
          <a:bodyPr/>
          <a:lstStyle/>
          <a:p>
            <a:pPr lvl="0"/>
            <a:endParaRPr lang="zh-CN" altLang="en-US" noProof="0"/>
          </a:p>
        </p:txBody>
      </p:sp>
    </p:spTree>
    <p:extLst>
      <p:ext uri="{BB962C8B-B14F-4D97-AF65-F5344CB8AC3E}">
        <p14:creationId xmlns:p14="http://schemas.microsoft.com/office/powerpoint/2010/main" val="158687412"/>
      </p:ext>
    </p:extLst>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12/6/2021</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
        <p:nvSpPr>
          <p:cNvPr id="7" name="AutoShape 22">
            <a:hlinkClick r:id="" action="ppaction://hlinkshowjump?jump=nextslide" highlightClick="1"/>
            <a:extLst>
              <a:ext uri="{FF2B5EF4-FFF2-40B4-BE49-F238E27FC236}">
                <a16:creationId xmlns:a16="http://schemas.microsoft.com/office/drawing/2014/main" id="{76631A86-B717-4288-B38E-F6261FA7BC30}"/>
              </a:ext>
            </a:extLst>
          </p:cNvPr>
          <p:cNvSpPr>
            <a:spLocks noChangeArrowheads="1"/>
          </p:cNvSpPr>
          <p:nvPr userDrawn="1"/>
        </p:nvSpPr>
        <p:spPr bwMode="auto">
          <a:xfrm>
            <a:off x="11887200" y="1"/>
            <a:ext cx="304800" cy="339725"/>
          </a:xfrm>
          <a:prstGeom prst="actionButtonForwardNext">
            <a:avLst/>
          </a:prstGeom>
          <a:solidFill>
            <a:srgbClr val="CCFFFF"/>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defRPr/>
            </a:pPr>
            <a:endParaRPr lang="zh-CN" altLang="en-US" sz="2800"/>
          </a:p>
        </p:txBody>
      </p:sp>
      <p:sp>
        <p:nvSpPr>
          <p:cNvPr id="8" name="AutoShape 23">
            <a:hlinkClick r:id="" action="ppaction://hlinkshowjump?jump=previousslide" highlightClick="1"/>
            <a:extLst>
              <a:ext uri="{FF2B5EF4-FFF2-40B4-BE49-F238E27FC236}">
                <a16:creationId xmlns:a16="http://schemas.microsoft.com/office/drawing/2014/main" id="{B42679D3-D5F6-427C-87FE-2BBCED37F7FE}"/>
              </a:ext>
            </a:extLst>
          </p:cNvPr>
          <p:cNvSpPr>
            <a:spLocks noChangeArrowheads="1"/>
          </p:cNvSpPr>
          <p:nvPr userDrawn="1"/>
        </p:nvSpPr>
        <p:spPr bwMode="auto">
          <a:xfrm>
            <a:off x="11582400" y="1"/>
            <a:ext cx="304800" cy="339725"/>
          </a:xfrm>
          <a:prstGeom prst="actionButtonBackPrevious">
            <a:avLst/>
          </a:prstGeom>
          <a:solidFill>
            <a:srgbClr val="CCFFFF"/>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defRPr/>
            </a:pPr>
            <a:endParaRPr lang="zh-CN" altLang="en-US" sz="2800"/>
          </a:p>
        </p:txBody>
      </p:sp>
      <p:sp>
        <p:nvSpPr>
          <p:cNvPr id="9" name="AutoShape 24">
            <a:hlinkClick r:id="" action="ppaction://hlinkshowjump?jump=firstslide" highlightClick="1"/>
            <a:extLst>
              <a:ext uri="{FF2B5EF4-FFF2-40B4-BE49-F238E27FC236}">
                <a16:creationId xmlns:a16="http://schemas.microsoft.com/office/drawing/2014/main" id="{CC696745-01D4-431C-9C4C-F953E3B05726}"/>
              </a:ext>
            </a:extLst>
          </p:cNvPr>
          <p:cNvSpPr>
            <a:spLocks noChangeArrowheads="1"/>
          </p:cNvSpPr>
          <p:nvPr userDrawn="1"/>
        </p:nvSpPr>
        <p:spPr bwMode="auto">
          <a:xfrm>
            <a:off x="11277600" y="1"/>
            <a:ext cx="304800" cy="339725"/>
          </a:xfrm>
          <a:prstGeom prst="actionButtonHome">
            <a:avLst/>
          </a:prstGeom>
          <a:solidFill>
            <a:srgbClr val="CCFFFF"/>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defRPr/>
            </a:pPr>
            <a:endParaRPr lang="zh-CN" altLang="en-US" sz="2800"/>
          </a:p>
        </p:txBody>
      </p:sp>
      <p:sp>
        <p:nvSpPr>
          <p:cNvPr id="10" name="Rectangle 25">
            <a:extLst>
              <a:ext uri="{FF2B5EF4-FFF2-40B4-BE49-F238E27FC236}">
                <a16:creationId xmlns:a16="http://schemas.microsoft.com/office/drawing/2014/main" id="{2F9B68F0-C399-4466-B0B7-17F646E8BE4D}"/>
              </a:ext>
            </a:extLst>
          </p:cNvPr>
          <p:cNvSpPr>
            <a:spLocks noChangeArrowheads="1"/>
          </p:cNvSpPr>
          <p:nvPr userDrawn="1"/>
        </p:nvSpPr>
        <p:spPr bwMode="auto">
          <a:xfrm>
            <a:off x="0" y="1081089"/>
            <a:ext cx="12192000" cy="85725"/>
          </a:xfrm>
          <a:prstGeom prst="rect">
            <a:avLst/>
          </a:prstGeom>
          <a:gradFill rotWithShape="0">
            <a:gsLst>
              <a:gs pos="0">
                <a:srgbClr val="0000FF"/>
              </a:gs>
              <a:gs pos="100000">
                <a:srgbClr val="66FF33"/>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defRPr/>
            </a:pPr>
            <a:endParaRPr lang="zh-CN" altLang="en-US" sz="2800"/>
          </a:p>
        </p:txBody>
      </p:sp>
      <p:pic>
        <p:nvPicPr>
          <p:cNvPr id="11" name="Picture 26" descr="RED">
            <a:extLst>
              <a:ext uri="{FF2B5EF4-FFF2-40B4-BE49-F238E27FC236}">
                <a16:creationId xmlns:a16="http://schemas.microsoft.com/office/drawing/2014/main" id="{BD374545-6564-4FD2-AE35-5B83B0199FFA}"/>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1" y="0"/>
            <a:ext cx="214841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81103676"/>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Lst>
  <p:transition spd="med">
    <p:random/>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http://www.swjtu.edu.cn/images02/head1.jpg" TargetMode="External"/><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5.emf"/><Relationship Id="rId5" Type="http://schemas.openxmlformats.org/officeDocument/2006/relationships/oleObject" Target="../embeddings/oleObject2.bin"/><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oleObject" Target="../embeddings/oleObject13.bin"/><Relationship Id="rId18" Type="http://schemas.openxmlformats.org/officeDocument/2006/relationships/oleObject" Target="../embeddings/oleObject16.bin"/><Relationship Id="rId3" Type="http://schemas.openxmlformats.org/officeDocument/2006/relationships/oleObject" Target="../embeddings/oleObject5.bin"/><Relationship Id="rId21" Type="http://schemas.openxmlformats.org/officeDocument/2006/relationships/oleObject" Target="../embeddings/oleObject18.bin"/><Relationship Id="rId7" Type="http://schemas.openxmlformats.org/officeDocument/2006/relationships/oleObject" Target="../embeddings/oleObject7.bin"/><Relationship Id="rId12" Type="http://schemas.openxmlformats.org/officeDocument/2006/relationships/oleObject" Target="../embeddings/oleObject12.bin"/><Relationship Id="rId17" Type="http://schemas.openxmlformats.org/officeDocument/2006/relationships/image" Target="../media/image9.wmf"/><Relationship Id="rId2" Type="http://schemas.openxmlformats.org/officeDocument/2006/relationships/slideLayout" Target="../slideLayouts/slideLayout2.xml"/><Relationship Id="rId16" Type="http://schemas.openxmlformats.org/officeDocument/2006/relationships/oleObject" Target="../embeddings/oleObject15.bin"/><Relationship Id="rId20" Type="http://schemas.openxmlformats.org/officeDocument/2006/relationships/oleObject" Target="../embeddings/oleObject17.bin"/><Relationship Id="rId1" Type="http://schemas.openxmlformats.org/officeDocument/2006/relationships/vmlDrawing" Target="../drawings/vmlDrawing2.vml"/><Relationship Id="rId6" Type="http://schemas.openxmlformats.org/officeDocument/2006/relationships/image" Target="../media/image7.wmf"/><Relationship Id="rId11" Type="http://schemas.openxmlformats.org/officeDocument/2006/relationships/oleObject" Target="../embeddings/oleObject11.bin"/><Relationship Id="rId5" Type="http://schemas.openxmlformats.org/officeDocument/2006/relationships/oleObject" Target="../embeddings/oleObject6.bin"/><Relationship Id="rId15" Type="http://schemas.openxmlformats.org/officeDocument/2006/relationships/oleObject" Target="../embeddings/oleObject14.bin"/><Relationship Id="rId10" Type="http://schemas.openxmlformats.org/officeDocument/2006/relationships/oleObject" Target="../embeddings/oleObject10.bin"/><Relationship Id="rId19" Type="http://schemas.openxmlformats.org/officeDocument/2006/relationships/image" Target="../media/image10.wmf"/><Relationship Id="rId4" Type="http://schemas.openxmlformats.org/officeDocument/2006/relationships/image" Target="../media/image6.wmf"/><Relationship Id="rId9" Type="http://schemas.openxmlformats.org/officeDocument/2006/relationships/oleObject" Target="../embeddings/oleObject9.bin"/><Relationship Id="rId14" Type="http://schemas.openxmlformats.org/officeDocument/2006/relationships/image" Target="../media/image8.wmf"/><Relationship Id="rId22" Type="http://schemas.openxmlformats.org/officeDocument/2006/relationships/oleObject" Target="../embeddings/oleObject19.bin"/></Relationships>
</file>

<file path=ppt/slides/_rels/slide5.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4.xml"/><Relationship Id="rId1" Type="http://schemas.openxmlformats.org/officeDocument/2006/relationships/vmlDrawing" Target="../drawings/vmlDrawing3.vml"/><Relationship Id="rId5" Type="http://schemas.openxmlformats.org/officeDocument/2006/relationships/oleObject" Target="../embeddings/oleObject21.bin"/><Relationship Id="rId4" Type="http://schemas.openxmlformats.org/officeDocument/2006/relationships/image" Target="../media/image6.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http://www.swjtu.edu.cn/images02/head1.jpg" TargetMode="External"/><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slide" Target="slide24.xml"/><Relationship Id="rId1" Type="http://schemas.openxmlformats.org/officeDocument/2006/relationships/slideLayout" Target="../slideLayouts/slideLayout2.xml"/><Relationship Id="rId4" Type="http://schemas.openxmlformats.org/officeDocument/2006/relationships/slide" Target="slide3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slide" Target="slide24.xml"/><Relationship Id="rId1" Type="http://schemas.openxmlformats.org/officeDocument/2006/relationships/slideLayout" Target="../slideLayouts/slideLayout2.xml"/><Relationship Id="rId4" Type="http://schemas.openxmlformats.org/officeDocument/2006/relationships/slide" Target="slide32.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4.xml"/><Relationship Id="rId1" Type="http://schemas.openxmlformats.org/officeDocument/2006/relationships/vmlDrawing" Target="../drawings/vmlDrawing4.vml"/><Relationship Id="rId5" Type="http://schemas.openxmlformats.org/officeDocument/2006/relationships/oleObject" Target="../embeddings/oleObject23.bin"/><Relationship Id="rId4" Type="http://schemas.openxmlformats.org/officeDocument/2006/relationships/image" Target="../media/image6.w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4.xml"/><Relationship Id="rId1" Type="http://schemas.openxmlformats.org/officeDocument/2006/relationships/vmlDrawing" Target="../drawings/vmlDrawing5.vml"/><Relationship Id="rId5" Type="http://schemas.openxmlformats.org/officeDocument/2006/relationships/oleObject" Target="../embeddings/oleObject25.bin"/><Relationship Id="rId4" Type="http://schemas.openxmlformats.org/officeDocument/2006/relationships/image" Target="../media/image6.w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32.wmf"/></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http://www.lhtelecom.com.cn/dxjs/jiao/images/051002.jpg" TargetMode="External"/><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35.wmf"/><Relationship Id="rId4" Type="http://schemas.openxmlformats.org/officeDocument/2006/relationships/oleObject" Target="../embeddings/oleObject27.bin"/></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40.wmf"/><Relationship Id="rId4" Type="http://schemas.openxmlformats.org/officeDocument/2006/relationships/oleObject" Target="../embeddings/oleObject28.bin"/></Relationships>
</file>

<file path=ppt/slides/_rels/slide1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14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15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http://www.zhuoda.org/xiaojf/jichu/img/30.gif" TargetMode="External"/><Relationship Id="rId2" Type="http://schemas.openxmlformats.org/officeDocument/2006/relationships/image" Target="../media/image57.png"/><Relationship Id="rId1" Type="http://schemas.openxmlformats.org/officeDocument/2006/relationships/slideLayout" Target="../slideLayouts/slideLayout2.xml"/><Relationship Id="rId5" Type="http://schemas.openxmlformats.org/officeDocument/2006/relationships/image" Target="http://www.zhuoda.org/xiaojf/jichu/img/31.gif" TargetMode="External"/><Relationship Id="rId4" Type="http://schemas.openxmlformats.org/officeDocument/2006/relationships/image" Target="../media/image58.png"/></Relationships>
</file>

<file path=ppt/slides/_rels/slide16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40.emf"/></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5" Type="http://schemas.openxmlformats.org/officeDocument/2006/relationships/image" Target="../media/image45.emf"/><Relationship Id="rId4" Type="http://schemas.openxmlformats.org/officeDocument/2006/relationships/customXml" Target="../ink/ink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image" Target="../media/image67.wmf"/><Relationship Id="rId7" Type="http://schemas.openxmlformats.org/officeDocument/2006/relationships/oleObject" Target="../embeddings/oleObject29.bin"/><Relationship Id="rId12" Type="http://schemas.openxmlformats.org/officeDocument/2006/relationships/customXml" Target="../ink/ink4.xml"/><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70.wmf"/><Relationship Id="rId11" Type="http://schemas.openxmlformats.org/officeDocument/2006/relationships/image" Target="../media/image54.emf"/><Relationship Id="rId5" Type="http://schemas.openxmlformats.org/officeDocument/2006/relationships/image" Target="../media/image69.wmf"/><Relationship Id="rId15" Type="http://schemas.openxmlformats.org/officeDocument/2006/relationships/image" Target="../media/image56.emf"/><Relationship Id="rId10" Type="http://schemas.openxmlformats.org/officeDocument/2006/relationships/customXml" Target="../ink/ink3.xml"/><Relationship Id="rId4" Type="http://schemas.openxmlformats.org/officeDocument/2006/relationships/image" Target="../media/image68.wmf"/><Relationship Id="rId9" Type="http://schemas.openxmlformats.org/officeDocument/2006/relationships/image" Target="../media/image71.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72.png"/><Relationship Id="rId1" Type="http://schemas.openxmlformats.org/officeDocument/2006/relationships/slideLayout" Target="../slideLayouts/slideLayout2.xml"/><Relationship Id="rId4" Type="http://schemas.openxmlformats.org/officeDocument/2006/relationships/image" Target="../media/image60.emf"/></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 Id="rId4" Type="http://schemas.openxmlformats.org/officeDocument/2006/relationships/image" Target="../media/image8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3"/>
          <p:cNvSpPr txBox="1">
            <a:spLocks noChangeArrowheads="1"/>
          </p:cNvSpPr>
          <p:nvPr/>
        </p:nvSpPr>
        <p:spPr bwMode="auto">
          <a:xfrm>
            <a:off x="3765551" y="1962151"/>
            <a:ext cx="519112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sz="6000">
                <a:solidFill>
                  <a:schemeClr val="folHlink"/>
                </a:solidFill>
                <a:latin typeface="新宋体" panose="02010609030101010101" pitchFamily="49" charset="-122"/>
                <a:ea typeface="新宋体" panose="02010609030101010101" pitchFamily="49" charset="-122"/>
              </a:rPr>
              <a:t>第</a:t>
            </a:r>
            <a:r>
              <a:rPr kumimoji="1" lang="en-US" altLang="zh-CN" sz="6000">
                <a:solidFill>
                  <a:schemeClr val="folHlink"/>
                </a:solidFill>
                <a:latin typeface="新宋体" panose="02010609030101010101" pitchFamily="49" charset="-122"/>
                <a:ea typeface="新宋体" panose="02010609030101010101" pitchFamily="49" charset="-122"/>
              </a:rPr>
              <a:t>5</a:t>
            </a:r>
            <a:r>
              <a:rPr kumimoji="1" lang="zh-CN" altLang="en-US" sz="6000">
                <a:solidFill>
                  <a:schemeClr val="folHlink"/>
                </a:solidFill>
                <a:latin typeface="新宋体" panose="02010609030101010101" pitchFamily="49" charset="-122"/>
                <a:ea typeface="新宋体" panose="02010609030101010101" pitchFamily="49" charset="-122"/>
              </a:rPr>
              <a:t>章 网络层</a:t>
            </a:r>
          </a:p>
        </p:txBody>
      </p:sp>
      <p:pic>
        <p:nvPicPr>
          <p:cNvPr id="5124" name="Picture 5" descr="http://www.swjtu.edu.cn/images02/head1.jpg"/>
          <p:cNvPicPr>
            <a:picLocks noGrp="1" noChangeAspect="1" noChangeArrowheads="1"/>
          </p:cNvPicPr>
          <p:nvPr>
            <p:ph type="title" idx="4294967295"/>
          </p:nvPr>
        </p:nvPicPr>
        <p:blipFill>
          <a:blip r:embed="rId2" r:link="rId3">
            <a:extLst>
              <a:ext uri="{28A0092B-C50C-407E-A947-70E740481C1C}">
                <a14:useLocalDpi xmlns:a14="http://schemas.microsoft.com/office/drawing/2010/main" val="0"/>
              </a:ext>
            </a:extLst>
          </a:blip>
          <a:srcRect/>
          <a:stretch>
            <a:fillRect/>
          </a:stretch>
        </p:blipFill>
        <p:spPr bwMode="auto">
          <a:xfrm>
            <a:off x="0" y="41275"/>
            <a:ext cx="4494213" cy="92392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5" name="Text Box 8"/>
          <p:cNvSpPr txBox="1">
            <a:spLocks noChangeArrowheads="1"/>
          </p:cNvSpPr>
          <p:nvPr/>
        </p:nvSpPr>
        <p:spPr bwMode="auto">
          <a:xfrm>
            <a:off x="4268788" y="3797301"/>
            <a:ext cx="4443412" cy="116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a:solidFill>
                  <a:schemeClr val="tx1"/>
                </a:solidFill>
              </a:rPr>
              <a:t>陈剑波 </a:t>
            </a:r>
            <a:r>
              <a:rPr lang="en-US" altLang="zh-CN">
                <a:solidFill>
                  <a:schemeClr val="tx1"/>
                </a:solidFill>
              </a:rPr>
              <a:t>13709088388</a:t>
            </a:r>
          </a:p>
          <a:p>
            <a:pPr>
              <a:spcBef>
                <a:spcPct val="50000"/>
              </a:spcBef>
            </a:pPr>
            <a:r>
              <a:rPr lang="en-US" altLang="zh-CN">
                <a:solidFill>
                  <a:schemeClr val="tx1"/>
                </a:solidFill>
              </a:rPr>
              <a:t>jbchen@swjtu.edu.cn</a:t>
            </a:r>
          </a:p>
        </p:txBody>
      </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5929" y="1479891"/>
            <a:ext cx="10913666" cy="38758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4"/>
          <p:cNvSpPr txBox="1">
            <a:spLocks noChangeArrowheads="1"/>
          </p:cNvSpPr>
          <p:nvPr/>
        </p:nvSpPr>
        <p:spPr bwMode="auto">
          <a:xfrm>
            <a:off x="2709863" y="2520951"/>
            <a:ext cx="6648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zh-CN" altLang="zh-CN" b="0"/>
          </a:p>
        </p:txBody>
      </p:sp>
      <p:sp>
        <p:nvSpPr>
          <p:cNvPr id="6147" name="Text Box 5"/>
          <p:cNvSpPr txBox="1">
            <a:spLocks noChangeArrowheads="1"/>
          </p:cNvSpPr>
          <p:nvPr/>
        </p:nvSpPr>
        <p:spPr bwMode="auto">
          <a:xfrm>
            <a:off x="4298950" y="3352801"/>
            <a:ext cx="5035550" cy="2480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800" b="1">
                <a:solidFill>
                  <a:srgbClr val="CACACA"/>
                </a:solidFill>
                <a:latin typeface="Times New Roman" panose="02020603050405020304" pitchFamily="18" charset="0"/>
                <a:ea typeface="宋体" panose="02010600030101010101" pitchFamily="2" charset="-122"/>
              </a:defRPr>
            </a:lvl1pPr>
            <a:lvl2pPr marL="914400" indent="-457200">
              <a:defRPr sz="2800" b="1">
                <a:solidFill>
                  <a:srgbClr val="CACACA"/>
                </a:solidFill>
                <a:latin typeface="Times New Roman" panose="02020603050405020304" pitchFamily="18" charset="0"/>
                <a:ea typeface="宋体" panose="02010600030101010101" pitchFamily="2" charset="-122"/>
              </a:defRPr>
            </a:lvl2pPr>
            <a:lvl3pPr marL="1371600" indent="-457200">
              <a:defRPr sz="2800" b="1">
                <a:solidFill>
                  <a:srgbClr val="CACACA"/>
                </a:solidFill>
                <a:latin typeface="Times New Roman" panose="02020603050405020304" pitchFamily="18" charset="0"/>
                <a:ea typeface="宋体" panose="02010600030101010101" pitchFamily="2" charset="-122"/>
              </a:defRPr>
            </a:lvl3pPr>
            <a:lvl4pPr marL="1828800" indent="-457200">
              <a:defRPr sz="2800" b="1">
                <a:solidFill>
                  <a:srgbClr val="CACACA"/>
                </a:solidFill>
                <a:latin typeface="Times New Roman" panose="02020603050405020304" pitchFamily="18" charset="0"/>
                <a:ea typeface="宋体" panose="02010600030101010101" pitchFamily="2" charset="-122"/>
              </a:defRPr>
            </a:lvl4pPr>
            <a:lvl5pPr marL="2286000" indent="-457200">
              <a:defRPr sz="2800" b="1">
                <a:solidFill>
                  <a:srgbClr val="CACACA"/>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spcBef>
                <a:spcPct val="20000"/>
              </a:spcBef>
            </a:pPr>
            <a:r>
              <a:rPr lang="zh-CN" altLang="en-US" sz="4000" b="0">
                <a:solidFill>
                  <a:schemeClr val="tx2"/>
                </a:solidFill>
                <a:latin typeface="宋体" panose="02010600030101010101" pitchFamily="2" charset="-122"/>
              </a:rPr>
              <a:t>本节主要内容</a:t>
            </a:r>
          </a:p>
          <a:p>
            <a:pPr>
              <a:spcBef>
                <a:spcPct val="20000"/>
              </a:spcBef>
              <a:buFontTx/>
              <a:buChar char="•"/>
            </a:pPr>
            <a:r>
              <a:rPr lang="zh-CN" altLang="en-US" sz="3200" b="0">
                <a:solidFill>
                  <a:schemeClr val="tx1"/>
                </a:solidFill>
                <a:latin typeface="宋体" panose="02010600030101010101" pitchFamily="2" charset="-122"/>
              </a:rPr>
              <a:t>网络层概述</a:t>
            </a:r>
          </a:p>
          <a:p>
            <a:pPr>
              <a:spcBef>
                <a:spcPct val="20000"/>
              </a:spcBef>
              <a:buFontTx/>
              <a:buChar char="•"/>
            </a:pPr>
            <a:r>
              <a:rPr lang="zh-CN" altLang="en-US" sz="3200" b="0">
                <a:solidFill>
                  <a:schemeClr val="tx1"/>
                </a:solidFill>
                <a:latin typeface="宋体" panose="02010600030101010101" pitchFamily="2" charset="-122"/>
              </a:rPr>
              <a:t>网络层提供的服务</a:t>
            </a:r>
          </a:p>
          <a:p>
            <a:pPr>
              <a:spcBef>
                <a:spcPct val="20000"/>
              </a:spcBef>
              <a:buFontTx/>
              <a:buChar char="•"/>
            </a:pPr>
            <a:r>
              <a:rPr lang="en-US" altLang="zh-CN" sz="3200" b="0">
                <a:solidFill>
                  <a:schemeClr val="tx1"/>
                </a:solidFill>
                <a:latin typeface="宋体" panose="02010600030101010101" pitchFamily="2" charset="-122"/>
              </a:rPr>
              <a:t>Internet</a:t>
            </a:r>
            <a:r>
              <a:rPr lang="zh-CN" altLang="en-US" sz="3200" b="0">
                <a:solidFill>
                  <a:schemeClr val="tx1"/>
                </a:solidFill>
                <a:latin typeface="宋体" panose="02010600030101010101" pitchFamily="2" charset="-122"/>
              </a:rPr>
              <a:t>网络层</a:t>
            </a:r>
          </a:p>
        </p:txBody>
      </p:sp>
      <p:sp>
        <p:nvSpPr>
          <p:cNvPr id="6148" name="Rectangle 6"/>
          <p:cNvSpPr>
            <a:spLocks noGrp="1" noChangeArrowheads="1"/>
          </p:cNvSpPr>
          <p:nvPr>
            <p:ph type="title"/>
          </p:nvPr>
        </p:nvSpPr>
        <p:spPr bwMode="auto">
          <a:xfrm>
            <a:off x="2209800" y="436563"/>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sz="3600">
                <a:solidFill>
                  <a:schemeClr val="hlink"/>
                </a:solidFill>
                <a:latin typeface="华文新魏" panose="02010800040101010101" pitchFamily="2" charset="-122"/>
                <a:ea typeface="华文新魏" panose="02010800040101010101" pitchFamily="2" charset="-122"/>
              </a:rPr>
              <a:t>5.1 </a:t>
            </a:r>
            <a:r>
              <a:rPr lang="zh-CN" altLang="en-US" sz="3600">
                <a:solidFill>
                  <a:schemeClr val="hlink"/>
                </a:solidFill>
                <a:latin typeface="华文新魏" panose="02010800040101010101" pitchFamily="2" charset="-122"/>
                <a:ea typeface="华文新魏" panose="02010800040101010101" pitchFamily="2" charset="-122"/>
              </a:rPr>
              <a:t>网络层服务</a:t>
            </a:r>
          </a:p>
        </p:txBody>
      </p:sp>
      <p:grpSp>
        <p:nvGrpSpPr>
          <p:cNvPr id="6149" name="Group 50"/>
          <p:cNvGrpSpPr>
            <a:grpSpLocks/>
          </p:cNvGrpSpPr>
          <p:nvPr/>
        </p:nvGrpSpPr>
        <p:grpSpPr bwMode="auto">
          <a:xfrm>
            <a:off x="3662363" y="1581150"/>
            <a:ext cx="4400550" cy="1492250"/>
            <a:chOff x="1775" y="922"/>
            <a:chExt cx="2772" cy="940"/>
          </a:xfrm>
        </p:grpSpPr>
        <p:grpSp>
          <p:nvGrpSpPr>
            <p:cNvPr id="6150" name="Group 51"/>
            <p:cNvGrpSpPr>
              <a:grpSpLocks/>
            </p:cNvGrpSpPr>
            <p:nvPr/>
          </p:nvGrpSpPr>
          <p:grpSpPr bwMode="auto">
            <a:xfrm>
              <a:off x="1775" y="922"/>
              <a:ext cx="2666" cy="940"/>
              <a:chOff x="1200" y="194"/>
              <a:chExt cx="3121" cy="1439"/>
            </a:xfrm>
          </p:grpSpPr>
          <p:sp>
            <p:nvSpPr>
              <p:cNvPr id="6152" name="Freeform 52"/>
              <p:cNvSpPr>
                <a:spLocks/>
              </p:cNvSpPr>
              <p:nvPr/>
            </p:nvSpPr>
            <p:spPr bwMode="auto">
              <a:xfrm>
                <a:off x="2519" y="486"/>
                <a:ext cx="1802" cy="1141"/>
              </a:xfrm>
              <a:custGeom>
                <a:avLst/>
                <a:gdLst>
                  <a:gd name="T0" fmla="*/ 22 w 1802"/>
                  <a:gd name="T1" fmla="*/ 88 h 1141"/>
                  <a:gd name="T2" fmla="*/ 0 w 1802"/>
                  <a:gd name="T3" fmla="*/ 119 h 1141"/>
                  <a:gd name="T4" fmla="*/ 25 w 1802"/>
                  <a:gd name="T5" fmla="*/ 176 h 1141"/>
                  <a:gd name="T6" fmla="*/ 45 w 1802"/>
                  <a:gd name="T7" fmla="*/ 384 h 1141"/>
                  <a:gd name="T8" fmla="*/ 45 w 1802"/>
                  <a:gd name="T9" fmla="*/ 537 h 1141"/>
                  <a:gd name="T10" fmla="*/ 40 w 1802"/>
                  <a:gd name="T11" fmla="*/ 734 h 1141"/>
                  <a:gd name="T12" fmla="*/ 22 w 1802"/>
                  <a:gd name="T13" fmla="*/ 975 h 1141"/>
                  <a:gd name="T14" fmla="*/ 0 w 1802"/>
                  <a:gd name="T15" fmla="*/ 1113 h 1141"/>
                  <a:gd name="T16" fmla="*/ 412 w 1802"/>
                  <a:gd name="T17" fmla="*/ 1133 h 1141"/>
                  <a:gd name="T18" fmla="*/ 616 w 1802"/>
                  <a:gd name="T19" fmla="*/ 1140 h 1141"/>
                  <a:gd name="T20" fmla="*/ 1063 w 1802"/>
                  <a:gd name="T21" fmla="*/ 1140 h 1141"/>
                  <a:gd name="T22" fmla="*/ 1403 w 1802"/>
                  <a:gd name="T23" fmla="*/ 1133 h 1141"/>
                  <a:gd name="T24" fmla="*/ 1680 w 1802"/>
                  <a:gd name="T25" fmla="*/ 1120 h 1141"/>
                  <a:gd name="T26" fmla="*/ 1801 w 1802"/>
                  <a:gd name="T27" fmla="*/ 1113 h 1141"/>
                  <a:gd name="T28" fmla="*/ 1758 w 1802"/>
                  <a:gd name="T29" fmla="*/ 941 h 1141"/>
                  <a:gd name="T30" fmla="*/ 1733 w 1802"/>
                  <a:gd name="T31" fmla="*/ 759 h 1141"/>
                  <a:gd name="T32" fmla="*/ 1718 w 1802"/>
                  <a:gd name="T33" fmla="*/ 530 h 1141"/>
                  <a:gd name="T34" fmla="*/ 1724 w 1802"/>
                  <a:gd name="T35" fmla="*/ 389 h 1141"/>
                  <a:gd name="T36" fmla="*/ 1751 w 1802"/>
                  <a:gd name="T37" fmla="*/ 276 h 1141"/>
                  <a:gd name="T38" fmla="*/ 1769 w 1802"/>
                  <a:gd name="T39" fmla="*/ 168 h 1141"/>
                  <a:gd name="T40" fmla="*/ 1769 w 1802"/>
                  <a:gd name="T41" fmla="*/ 131 h 1141"/>
                  <a:gd name="T42" fmla="*/ 1751 w 1802"/>
                  <a:gd name="T43" fmla="*/ 116 h 1141"/>
                  <a:gd name="T44" fmla="*/ 1421 w 1802"/>
                  <a:gd name="T45" fmla="*/ 46 h 1141"/>
                  <a:gd name="T46" fmla="*/ 1228 w 1802"/>
                  <a:gd name="T47" fmla="*/ 15 h 1141"/>
                  <a:gd name="T48" fmla="*/ 1126 w 1802"/>
                  <a:gd name="T49" fmla="*/ 3 h 1141"/>
                  <a:gd name="T50" fmla="*/ 1023 w 1802"/>
                  <a:gd name="T51" fmla="*/ 0 h 1141"/>
                  <a:gd name="T52" fmla="*/ 702 w 1802"/>
                  <a:gd name="T53" fmla="*/ 3 h 1141"/>
                  <a:gd name="T54" fmla="*/ 522 w 1802"/>
                  <a:gd name="T55" fmla="*/ 23 h 1141"/>
                  <a:gd name="T56" fmla="*/ 328 w 1802"/>
                  <a:gd name="T57" fmla="*/ 42 h 1141"/>
                  <a:gd name="T58" fmla="*/ 97 w 1802"/>
                  <a:gd name="T59" fmla="*/ 77 h 1141"/>
                  <a:gd name="T60" fmla="*/ 22 w 1802"/>
                  <a:gd name="T61" fmla="*/ 88 h 114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802" h="1141">
                    <a:moveTo>
                      <a:pt x="22" y="88"/>
                    </a:moveTo>
                    <a:lnTo>
                      <a:pt x="0" y="119"/>
                    </a:lnTo>
                    <a:lnTo>
                      <a:pt x="25" y="176"/>
                    </a:lnTo>
                    <a:lnTo>
                      <a:pt x="45" y="384"/>
                    </a:lnTo>
                    <a:lnTo>
                      <a:pt x="45" y="537"/>
                    </a:lnTo>
                    <a:lnTo>
                      <a:pt x="40" y="734"/>
                    </a:lnTo>
                    <a:lnTo>
                      <a:pt x="22" y="975"/>
                    </a:lnTo>
                    <a:lnTo>
                      <a:pt x="0" y="1113"/>
                    </a:lnTo>
                    <a:lnTo>
                      <a:pt x="412" y="1133"/>
                    </a:lnTo>
                    <a:lnTo>
                      <a:pt x="616" y="1140"/>
                    </a:lnTo>
                    <a:lnTo>
                      <a:pt x="1063" y="1140"/>
                    </a:lnTo>
                    <a:lnTo>
                      <a:pt x="1403" y="1133"/>
                    </a:lnTo>
                    <a:lnTo>
                      <a:pt x="1680" y="1120"/>
                    </a:lnTo>
                    <a:lnTo>
                      <a:pt x="1801" y="1113"/>
                    </a:lnTo>
                    <a:lnTo>
                      <a:pt x="1758" y="941"/>
                    </a:lnTo>
                    <a:lnTo>
                      <a:pt x="1733" y="759"/>
                    </a:lnTo>
                    <a:lnTo>
                      <a:pt x="1718" y="530"/>
                    </a:lnTo>
                    <a:lnTo>
                      <a:pt x="1724" y="389"/>
                    </a:lnTo>
                    <a:lnTo>
                      <a:pt x="1751" y="276"/>
                    </a:lnTo>
                    <a:lnTo>
                      <a:pt x="1769" y="168"/>
                    </a:lnTo>
                    <a:lnTo>
                      <a:pt x="1769" y="131"/>
                    </a:lnTo>
                    <a:lnTo>
                      <a:pt x="1751" y="116"/>
                    </a:lnTo>
                    <a:lnTo>
                      <a:pt x="1421" y="46"/>
                    </a:lnTo>
                    <a:lnTo>
                      <a:pt x="1228" y="15"/>
                    </a:lnTo>
                    <a:lnTo>
                      <a:pt x="1126" y="3"/>
                    </a:lnTo>
                    <a:lnTo>
                      <a:pt x="1023" y="0"/>
                    </a:lnTo>
                    <a:lnTo>
                      <a:pt x="702" y="3"/>
                    </a:lnTo>
                    <a:lnTo>
                      <a:pt x="522" y="23"/>
                    </a:lnTo>
                    <a:lnTo>
                      <a:pt x="328" y="42"/>
                    </a:lnTo>
                    <a:lnTo>
                      <a:pt x="97" y="77"/>
                    </a:lnTo>
                    <a:lnTo>
                      <a:pt x="22" y="88"/>
                    </a:lnTo>
                  </a:path>
                </a:pathLst>
              </a:custGeom>
              <a:solidFill>
                <a:srgbClr val="FFFFFF"/>
              </a:solidFill>
              <a:ln w="12700" cap="rnd" cmpd="sng">
                <a:solidFill>
                  <a:srgbClr val="FFFF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3" name="Freeform 53"/>
              <p:cNvSpPr>
                <a:spLocks/>
              </p:cNvSpPr>
              <p:nvPr/>
            </p:nvSpPr>
            <p:spPr bwMode="auto">
              <a:xfrm>
                <a:off x="1216" y="598"/>
                <a:ext cx="1797" cy="1032"/>
              </a:xfrm>
              <a:custGeom>
                <a:avLst/>
                <a:gdLst>
                  <a:gd name="T0" fmla="*/ 1256 w 1797"/>
                  <a:gd name="T1" fmla="*/ 0 h 1032"/>
                  <a:gd name="T2" fmla="*/ 1308 w 1797"/>
                  <a:gd name="T3" fmla="*/ 4 h 1032"/>
                  <a:gd name="T4" fmla="*/ 1338 w 1797"/>
                  <a:gd name="T5" fmla="*/ 55 h 1032"/>
                  <a:gd name="T6" fmla="*/ 1349 w 1797"/>
                  <a:gd name="T7" fmla="*/ 195 h 1032"/>
                  <a:gd name="T8" fmla="*/ 1356 w 1797"/>
                  <a:gd name="T9" fmla="*/ 397 h 1032"/>
                  <a:gd name="T10" fmla="*/ 1344 w 1797"/>
                  <a:gd name="T11" fmla="*/ 581 h 1032"/>
                  <a:gd name="T12" fmla="*/ 1338 w 1797"/>
                  <a:gd name="T13" fmla="*/ 811 h 1032"/>
                  <a:gd name="T14" fmla="*/ 1315 w 1797"/>
                  <a:gd name="T15" fmla="*/ 943 h 1032"/>
                  <a:gd name="T16" fmla="*/ 1308 w 1797"/>
                  <a:gd name="T17" fmla="*/ 1008 h 1032"/>
                  <a:gd name="T18" fmla="*/ 1796 w 1797"/>
                  <a:gd name="T19" fmla="*/ 1031 h 1032"/>
                  <a:gd name="T20" fmla="*/ 647 w 1797"/>
                  <a:gd name="T21" fmla="*/ 1031 h 1032"/>
                  <a:gd name="T22" fmla="*/ 670 w 1797"/>
                  <a:gd name="T23" fmla="*/ 984 h 1032"/>
                  <a:gd name="T24" fmla="*/ 681 w 1797"/>
                  <a:gd name="T25" fmla="*/ 923 h 1032"/>
                  <a:gd name="T26" fmla="*/ 495 w 1797"/>
                  <a:gd name="T27" fmla="*/ 908 h 1032"/>
                  <a:gd name="T28" fmla="*/ 434 w 1797"/>
                  <a:gd name="T29" fmla="*/ 864 h 1032"/>
                  <a:gd name="T30" fmla="*/ 495 w 1797"/>
                  <a:gd name="T31" fmla="*/ 793 h 1032"/>
                  <a:gd name="T32" fmla="*/ 499 w 1797"/>
                  <a:gd name="T33" fmla="*/ 722 h 1032"/>
                  <a:gd name="T34" fmla="*/ 121 w 1797"/>
                  <a:gd name="T35" fmla="*/ 674 h 1032"/>
                  <a:gd name="T36" fmla="*/ 0 w 1797"/>
                  <a:gd name="T37" fmla="*/ 573 h 1032"/>
                  <a:gd name="T38" fmla="*/ 0 w 1797"/>
                  <a:gd name="T39" fmla="*/ 516 h 1032"/>
                  <a:gd name="T40" fmla="*/ 49 w 1797"/>
                  <a:gd name="T41" fmla="*/ 491 h 1032"/>
                  <a:gd name="T42" fmla="*/ 29 w 1797"/>
                  <a:gd name="T43" fmla="*/ 473 h 1032"/>
                  <a:gd name="T44" fmla="*/ 128 w 1797"/>
                  <a:gd name="T45" fmla="*/ 375 h 1032"/>
                  <a:gd name="T46" fmla="*/ 72 w 1797"/>
                  <a:gd name="T47" fmla="*/ 277 h 1032"/>
                  <a:gd name="T48" fmla="*/ 113 w 1797"/>
                  <a:gd name="T49" fmla="*/ 205 h 1032"/>
                  <a:gd name="T50" fmla="*/ 168 w 1797"/>
                  <a:gd name="T51" fmla="*/ 192 h 1032"/>
                  <a:gd name="T52" fmla="*/ 193 w 1797"/>
                  <a:gd name="T53" fmla="*/ 156 h 1032"/>
                  <a:gd name="T54" fmla="*/ 308 w 1797"/>
                  <a:gd name="T55" fmla="*/ 138 h 1032"/>
                  <a:gd name="T56" fmla="*/ 488 w 1797"/>
                  <a:gd name="T57" fmla="*/ 68 h 1032"/>
                  <a:gd name="T58" fmla="*/ 712 w 1797"/>
                  <a:gd name="T59" fmla="*/ 30 h 1032"/>
                  <a:gd name="T60" fmla="*/ 1256 w 1797"/>
                  <a:gd name="T61" fmla="*/ 0 h 103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797" h="1032">
                    <a:moveTo>
                      <a:pt x="1256" y="0"/>
                    </a:moveTo>
                    <a:lnTo>
                      <a:pt x="1308" y="4"/>
                    </a:lnTo>
                    <a:lnTo>
                      <a:pt x="1338" y="55"/>
                    </a:lnTo>
                    <a:lnTo>
                      <a:pt x="1349" y="195"/>
                    </a:lnTo>
                    <a:lnTo>
                      <a:pt x="1356" y="397"/>
                    </a:lnTo>
                    <a:lnTo>
                      <a:pt x="1344" y="581"/>
                    </a:lnTo>
                    <a:lnTo>
                      <a:pt x="1338" y="811"/>
                    </a:lnTo>
                    <a:lnTo>
                      <a:pt x="1315" y="943"/>
                    </a:lnTo>
                    <a:lnTo>
                      <a:pt x="1308" y="1008"/>
                    </a:lnTo>
                    <a:lnTo>
                      <a:pt x="1796" y="1031"/>
                    </a:lnTo>
                    <a:lnTo>
                      <a:pt x="647" y="1031"/>
                    </a:lnTo>
                    <a:lnTo>
                      <a:pt x="670" y="984"/>
                    </a:lnTo>
                    <a:lnTo>
                      <a:pt x="681" y="923"/>
                    </a:lnTo>
                    <a:lnTo>
                      <a:pt x="495" y="908"/>
                    </a:lnTo>
                    <a:lnTo>
                      <a:pt x="434" y="864"/>
                    </a:lnTo>
                    <a:lnTo>
                      <a:pt x="495" y="793"/>
                    </a:lnTo>
                    <a:lnTo>
                      <a:pt x="499" y="722"/>
                    </a:lnTo>
                    <a:lnTo>
                      <a:pt x="121" y="674"/>
                    </a:lnTo>
                    <a:lnTo>
                      <a:pt x="0" y="573"/>
                    </a:lnTo>
                    <a:lnTo>
                      <a:pt x="0" y="516"/>
                    </a:lnTo>
                    <a:lnTo>
                      <a:pt x="49" y="491"/>
                    </a:lnTo>
                    <a:lnTo>
                      <a:pt x="29" y="473"/>
                    </a:lnTo>
                    <a:lnTo>
                      <a:pt x="128" y="375"/>
                    </a:lnTo>
                    <a:lnTo>
                      <a:pt x="72" y="277"/>
                    </a:lnTo>
                    <a:lnTo>
                      <a:pt x="113" y="205"/>
                    </a:lnTo>
                    <a:lnTo>
                      <a:pt x="168" y="192"/>
                    </a:lnTo>
                    <a:lnTo>
                      <a:pt x="193" y="156"/>
                    </a:lnTo>
                    <a:lnTo>
                      <a:pt x="308" y="138"/>
                    </a:lnTo>
                    <a:lnTo>
                      <a:pt x="488" y="68"/>
                    </a:lnTo>
                    <a:lnTo>
                      <a:pt x="712" y="30"/>
                    </a:lnTo>
                    <a:lnTo>
                      <a:pt x="1256" y="0"/>
                    </a:lnTo>
                  </a:path>
                </a:pathLst>
              </a:custGeom>
              <a:solidFill>
                <a:srgbClr val="4C4C4C"/>
              </a:solidFill>
              <a:ln w="12700" cap="rnd" cmpd="sng">
                <a:solidFill>
                  <a:srgbClr val="4C4C4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4" name="Freeform 54"/>
              <p:cNvSpPr>
                <a:spLocks/>
              </p:cNvSpPr>
              <p:nvPr/>
            </p:nvSpPr>
            <p:spPr bwMode="auto">
              <a:xfrm>
                <a:off x="1953" y="665"/>
                <a:ext cx="607" cy="364"/>
              </a:xfrm>
              <a:custGeom>
                <a:avLst/>
                <a:gdLst>
                  <a:gd name="T0" fmla="*/ 523 w 607"/>
                  <a:gd name="T1" fmla="*/ 0 h 364"/>
                  <a:gd name="T2" fmla="*/ 563 w 607"/>
                  <a:gd name="T3" fmla="*/ 32 h 364"/>
                  <a:gd name="T4" fmla="*/ 599 w 607"/>
                  <a:gd name="T5" fmla="*/ 87 h 364"/>
                  <a:gd name="T6" fmla="*/ 606 w 607"/>
                  <a:gd name="T7" fmla="*/ 243 h 364"/>
                  <a:gd name="T8" fmla="*/ 577 w 607"/>
                  <a:gd name="T9" fmla="*/ 281 h 364"/>
                  <a:gd name="T10" fmla="*/ 478 w 607"/>
                  <a:gd name="T11" fmla="*/ 363 h 364"/>
                  <a:gd name="T12" fmla="*/ 310 w 607"/>
                  <a:gd name="T13" fmla="*/ 320 h 364"/>
                  <a:gd name="T14" fmla="*/ 195 w 607"/>
                  <a:gd name="T15" fmla="*/ 271 h 364"/>
                  <a:gd name="T16" fmla="*/ 105 w 607"/>
                  <a:gd name="T17" fmla="*/ 197 h 364"/>
                  <a:gd name="T18" fmla="*/ 52 w 607"/>
                  <a:gd name="T19" fmla="*/ 146 h 364"/>
                  <a:gd name="T20" fmla="*/ 11 w 607"/>
                  <a:gd name="T21" fmla="*/ 77 h 364"/>
                  <a:gd name="T22" fmla="*/ 0 w 607"/>
                  <a:gd name="T23" fmla="*/ 37 h 364"/>
                  <a:gd name="T24" fmla="*/ 523 w 607"/>
                  <a:gd name="T25" fmla="*/ 0 h 36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07" h="364">
                    <a:moveTo>
                      <a:pt x="523" y="0"/>
                    </a:moveTo>
                    <a:lnTo>
                      <a:pt x="563" y="32"/>
                    </a:lnTo>
                    <a:lnTo>
                      <a:pt x="599" y="87"/>
                    </a:lnTo>
                    <a:lnTo>
                      <a:pt x="606" y="243"/>
                    </a:lnTo>
                    <a:lnTo>
                      <a:pt x="577" y="281"/>
                    </a:lnTo>
                    <a:lnTo>
                      <a:pt x="478" y="363"/>
                    </a:lnTo>
                    <a:lnTo>
                      <a:pt x="310" y="320"/>
                    </a:lnTo>
                    <a:lnTo>
                      <a:pt x="195" y="271"/>
                    </a:lnTo>
                    <a:lnTo>
                      <a:pt x="105" y="197"/>
                    </a:lnTo>
                    <a:lnTo>
                      <a:pt x="52" y="146"/>
                    </a:lnTo>
                    <a:lnTo>
                      <a:pt x="11" y="77"/>
                    </a:lnTo>
                    <a:lnTo>
                      <a:pt x="0" y="37"/>
                    </a:lnTo>
                    <a:lnTo>
                      <a:pt x="523" y="0"/>
                    </a:lnTo>
                  </a:path>
                </a:pathLst>
              </a:custGeom>
              <a:solidFill>
                <a:srgbClr val="FFFFFF"/>
              </a:solidFill>
              <a:ln w="12700" cap="rnd" cmpd="sng">
                <a:solidFill>
                  <a:srgbClr val="FFFF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5" name="Freeform 55"/>
              <p:cNvSpPr>
                <a:spLocks/>
              </p:cNvSpPr>
              <p:nvPr/>
            </p:nvSpPr>
            <p:spPr bwMode="auto">
              <a:xfrm>
                <a:off x="2195" y="750"/>
                <a:ext cx="303" cy="284"/>
              </a:xfrm>
              <a:custGeom>
                <a:avLst/>
                <a:gdLst>
                  <a:gd name="T0" fmla="*/ 0 w 303"/>
                  <a:gd name="T1" fmla="*/ 16 h 284"/>
                  <a:gd name="T2" fmla="*/ 67 w 303"/>
                  <a:gd name="T3" fmla="*/ 0 h 284"/>
                  <a:gd name="T4" fmla="*/ 153 w 303"/>
                  <a:gd name="T5" fmla="*/ 5 h 284"/>
                  <a:gd name="T6" fmla="*/ 144 w 303"/>
                  <a:gd name="T7" fmla="*/ 81 h 284"/>
                  <a:gd name="T8" fmla="*/ 302 w 303"/>
                  <a:gd name="T9" fmla="*/ 233 h 284"/>
                  <a:gd name="T10" fmla="*/ 230 w 303"/>
                  <a:gd name="T11" fmla="*/ 283 h 284"/>
                  <a:gd name="T12" fmla="*/ 124 w 303"/>
                  <a:gd name="T13" fmla="*/ 238 h 284"/>
                  <a:gd name="T14" fmla="*/ 108 w 303"/>
                  <a:gd name="T15" fmla="*/ 80 h 284"/>
                  <a:gd name="T16" fmla="*/ 83 w 303"/>
                  <a:gd name="T17" fmla="*/ 80 h 284"/>
                  <a:gd name="T18" fmla="*/ 16 w 303"/>
                  <a:gd name="T19" fmla="*/ 30 h 284"/>
                  <a:gd name="T20" fmla="*/ 0 w 303"/>
                  <a:gd name="T21" fmla="*/ 16 h 2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03" h="284">
                    <a:moveTo>
                      <a:pt x="0" y="16"/>
                    </a:moveTo>
                    <a:lnTo>
                      <a:pt x="67" y="0"/>
                    </a:lnTo>
                    <a:lnTo>
                      <a:pt x="153" y="5"/>
                    </a:lnTo>
                    <a:lnTo>
                      <a:pt x="144" y="81"/>
                    </a:lnTo>
                    <a:lnTo>
                      <a:pt x="302" y="233"/>
                    </a:lnTo>
                    <a:lnTo>
                      <a:pt x="230" y="283"/>
                    </a:lnTo>
                    <a:lnTo>
                      <a:pt x="124" y="238"/>
                    </a:lnTo>
                    <a:lnTo>
                      <a:pt x="108" y="80"/>
                    </a:lnTo>
                    <a:lnTo>
                      <a:pt x="83" y="80"/>
                    </a:lnTo>
                    <a:lnTo>
                      <a:pt x="16" y="30"/>
                    </a:lnTo>
                    <a:lnTo>
                      <a:pt x="0" y="16"/>
                    </a:lnTo>
                  </a:path>
                </a:pathLst>
              </a:custGeom>
              <a:solidFill>
                <a:srgbClr val="FFFF00"/>
              </a:solidFill>
              <a:ln w="12700" cap="rnd" cmpd="sng">
                <a:solidFill>
                  <a:srgbClr val="FFFF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6" name="Freeform 56"/>
              <p:cNvSpPr>
                <a:spLocks/>
              </p:cNvSpPr>
              <p:nvPr/>
            </p:nvSpPr>
            <p:spPr bwMode="auto">
              <a:xfrm>
                <a:off x="1833" y="962"/>
                <a:ext cx="700" cy="344"/>
              </a:xfrm>
              <a:custGeom>
                <a:avLst/>
                <a:gdLst>
                  <a:gd name="T0" fmla="*/ 213 w 700"/>
                  <a:gd name="T1" fmla="*/ 0 h 344"/>
                  <a:gd name="T2" fmla="*/ 247 w 700"/>
                  <a:gd name="T3" fmla="*/ 0 h 344"/>
                  <a:gd name="T4" fmla="*/ 304 w 700"/>
                  <a:gd name="T5" fmla="*/ 26 h 344"/>
                  <a:gd name="T6" fmla="*/ 315 w 700"/>
                  <a:gd name="T7" fmla="*/ 68 h 344"/>
                  <a:gd name="T8" fmla="*/ 286 w 700"/>
                  <a:gd name="T9" fmla="*/ 113 h 344"/>
                  <a:gd name="T10" fmla="*/ 286 w 700"/>
                  <a:gd name="T11" fmla="*/ 130 h 344"/>
                  <a:gd name="T12" fmla="*/ 315 w 700"/>
                  <a:gd name="T13" fmla="*/ 139 h 344"/>
                  <a:gd name="T14" fmla="*/ 636 w 700"/>
                  <a:gd name="T15" fmla="*/ 130 h 344"/>
                  <a:gd name="T16" fmla="*/ 699 w 700"/>
                  <a:gd name="T17" fmla="*/ 144 h 344"/>
                  <a:gd name="T18" fmla="*/ 699 w 700"/>
                  <a:gd name="T19" fmla="*/ 180 h 344"/>
                  <a:gd name="T20" fmla="*/ 670 w 700"/>
                  <a:gd name="T21" fmla="*/ 193 h 344"/>
                  <a:gd name="T22" fmla="*/ 490 w 700"/>
                  <a:gd name="T23" fmla="*/ 196 h 344"/>
                  <a:gd name="T24" fmla="*/ 382 w 700"/>
                  <a:gd name="T25" fmla="*/ 211 h 344"/>
                  <a:gd name="T26" fmla="*/ 359 w 700"/>
                  <a:gd name="T27" fmla="*/ 300 h 344"/>
                  <a:gd name="T28" fmla="*/ 312 w 700"/>
                  <a:gd name="T29" fmla="*/ 318 h 344"/>
                  <a:gd name="T30" fmla="*/ 301 w 700"/>
                  <a:gd name="T31" fmla="*/ 334 h 344"/>
                  <a:gd name="T32" fmla="*/ 256 w 700"/>
                  <a:gd name="T33" fmla="*/ 343 h 344"/>
                  <a:gd name="T34" fmla="*/ 139 w 700"/>
                  <a:gd name="T35" fmla="*/ 343 h 344"/>
                  <a:gd name="T36" fmla="*/ 20 w 700"/>
                  <a:gd name="T37" fmla="*/ 327 h 344"/>
                  <a:gd name="T38" fmla="*/ 0 w 700"/>
                  <a:gd name="T39" fmla="*/ 276 h 344"/>
                  <a:gd name="T40" fmla="*/ 16 w 700"/>
                  <a:gd name="T41" fmla="*/ 213 h 344"/>
                  <a:gd name="T42" fmla="*/ 68 w 700"/>
                  <a:gd name="T43" fmla="*/ 153 h 344"/>
                  <a:gd name="T44" fmla="*/ 121 w 700"/>
                  <a:gd name="T45" fmla="*/ 114 h 344"/>
                  <a:gd name="T46" fmla="*/ 198 w 700"/>
                  <a:gd name="T47" fmla="*/ 79 h 344"/>
                  <a:gd name="T48" fmla="*/ 213 w 700"/>
                  <a:gd name="T49" fmla="*/ 0 h 34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00" h="344">
                    <a:moveTo>
                      <a:pt x="213" y="0"/>
                    </a:moveTo>
                    <a:lnTo>
                      <a:pt x="247" y="0"/>
                    </a:lnTo>
                    <a:lnTo>
                      <a:pt x="304" y="26"/>
                    </a:lnTo>
                    <a:lnTo>
                      <a:pt x="315" y="68"/>
                    </a:lnTo>
                    <a:lnTo>
                      <a:pt x="286" y="113"/>
                    </a:lnTo>
                    <a:lnTo>
                      <a:pt x="286" y="130"/>
                    </a:lnTo>
                    <a:lnTo>
                      <a:pt x="315" y="139"/>
                    </a:lnTo>
                    <a:lnTo>
                      <a:pt x="636" y="130"/>
                    </a:lnTo>
                    <a:lnTo>
                      <a:pt x="699" y="144"/>
                    </a:lnTo>
                    <a:lnTo>
                      <a:pt x="699" y="180"/>
                    </a:lnTo>
                    <a:lnTo>
                      <a:pt x="670" y="193"/>
                    </a:lnTo>
                    <a:lnTo>
                      <a:pt x="490" y="196"/>
                    </a:lnTo>
                    <a:lnTo>
                      <a:pt x="382" y="211"/>
                    </a:lnTo>
                    <a:lnTo>
                      <a:pt x="359" y="300"/>
                    </a:lnTo>
                    <a:lnTo>
                      <a:pt x="312" y="318"/>
                    </a:lnTo>
                    <a:lnTo>
                      <a:pt x="301" y="334"/>
                    </a:lnTo>
                    <a:lnTo>
                      <a:pt x="256" y="343"/>
                    </a:lnTo>
                    <a:lnTo>
                      <a:pt x="139" y="343"/>
                    </a:lnTo>
                    <a:lnTo>
                      <a:pt x="20" y="327"/>
                    </a:lnTo>
                    <a:lnTo>
                      <a:pt x="0" y="276"/>
                    </a:lnTo>
                    <a:lnTo>
                      <a:pt x="16" y="213"/>
                    </a:lnTo>
                    <a:lnTo>
                      <a:pt x="68" y="153"/>
                    </a:lnTo>
                    <a:lnTo>
                      <a:pt x="121" y="114"/>
                    </a:lnTo>
                    <a:lnTo>
                      <a:pt x="198" y="79"/>
                    </a:lnTo>
                    <a:lnTo>
                      <a:pt x="213" y="0"/>
                    </a:lnTo>
                  </a:path>
                </a:pathLst>
              </a:custGeom>
              <a:solidFill>
                <a:srgbClr val="FFC17F"/>
              </a:solidFill>
              <a:ln w="12700" cap="rnd" cmpd="sng">
                <a:solidFill>
                  <a:srgbClr val="FFC1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7" name="Freeform 57"/>
              <p:cNvSpPr>
                <a:spLocks/>
              </p:cNvSpPr>
              <p:nvPr/>
            </p:nvSpPr>
            <p:spPr bwMode="auto">
              <a:xfrm>
                <a:off x="3053" y="446"/>
                <a:ext cx="520" cy="151"/>
              </a:xfrm>
              <a:custGeom>
                <a:avLst/>
                <a:gdLst>
                  <a:gd name="T0" fmla="*/ 16 w 520"/>
                  <a:gd name="T1" fmla="*/ 57 h 151"/>
                  <a:gd name="T2" fmla="*/ 101 w 520"/>
                  <a:gd name="T3" fmla="*/ 47 h 151"/>
                  <a:gd name="T4" fmla="*/ 193 w 520"/>
                  <a:gd name="T5" fmla="*/ 43 h 151"/>
                  <a:gd name="T6" fmla="*/ 187 w 520"/>
                  <a:gd name="T7" fmla="*/ 66 h 151"/>
                  <a:gd name="T8" fmla="*/ 171 w 520"/>
                  <a:gd name="T9" fmla="*/ 113 h 151"/>
                  <a:gd name="T10" fmla="*/ 200 w 520"/>
                  <a:gd name="T11" fmla="*/ 141 h 151"/>
                  <a:gd name="T12" fmla="*/ 252 w 520"/>
                  <a:gd name="T13" fmla="*/ 150 h 151"/>
                  <a:gd name="T14" fmla="*/ 317 w 520"/>
                  <a:gd name="T15" fmla="*/ 133 h 151"/>
                  <a:gd name="T16" fmla="*/ 342 w 520"/>
                  <a:gd name="T17" fmla="*/ 120 h 151"/>
                  <a:gd name="T18" fmla="*/ 405 w 520"/>
                  <a:gd name="T19" fmla="*/ 124 h 151"/>
                  <a:gd name="T20" fmla="*/ 434 w 520"/>
                  <a:gd name="T21" fmla="*/ 115 h 151"/>
                  <a:gd name="T22" fmla="*/ 452 w 520"/>
                  <a:gd name="T23" fmla="*/ 93 h 151"/>
                  <a:gd name="T24" fmla="*/ 463 w 520"/>
                  <a:gd name="T25" fmla="*/ 86 h 151"/>
                  <a:gd name="T26" fmla="*/ 519 w 520"/>
                  <a:gd name="T27" fmla="*/ 61 h 151"/>
                  <a:gd name="T28" fmla="*/ 478 w 520"/>
                  <a:gd name="T29" fmla="*/ 12 h 151"/>
                  <a:gd name="T30" fmla="*/ 335 w 520"/>
                  <a:gd name="T31" fmla="*/ 0 h 151"/>
                  <a:gd name="T32" fmla="*/ 269 w 520"/>
                  <a:gd name="T33" fmla="*/ 7 h 151"/>
                  <a:gd name="T34" fmla="*/ 245 w 520"/>
                  <a:gd name="T35" fmla="*/ 0 h 151"/>
                  <a:gd name="T36" fmla="*/ 175 w 520"/>
                  <a:gd name="T37" fmla="*/ 7 h 151"/>
                  <a:gd name="T38" fmla="*/ 139 w 520"/>
                  <a:gd name="T39" fmla="*/ 26 h 151"/>
                  <a:gd name="T40" fmla="*/ 88 w 520"/>
                  <a:gd name="T41" fmla="*/ 7 h 151"/>
                  <a:gd name="T42" fmla="*/ 25 w 520"/>
                  <a:gd name="T43" fmla="*/ 6 h 151"/>
                  <a:gd name="T44" fmla="*/ 0 w 520"/>
                  <a:gd name="T45" fmla="*/ 13 h 151"/>
                  <a:gd name="T46" fmla="*/ 16 w 520"/>
                  <a:gd name="T47" fmla="*/ 57 h 15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20" h="151">
                    <a:moveTo>
                      <a:pt x="16" y="57"/>
                    </a:moveTo>
                    <a:lnTo>
                      <a:pt x="101" y="47"/>
                    </a:lnTo>
                    <a:lnTo>
                      <a:pt x="193" y="43"/>
                    </a:lnTo>
                    <a:lnTo>
                      <a:pt x="187" y="66"/>
                    </a:lnTo>
                    <a:lnTo>
                      <a:pt x="171" y="113"/>
                    </a:lnTo>
                    <a:lnTo>
                      <a:pt x="200" y="141"/>
                    </a:lnTo>
                    <a:lnTo>
                      <a:pt x="252" y="150"/>
                    </a:lnTo>
                    <a:lnTo>
                      <a:pt x="317" y="133"/>
                    </a:lnTo>
                    <a:lnTo>
                      <a:pt x="342" y="120"/>
                    </a:lnTo>
                    <a:lnTo>
                      <a:pt x="405" y="124"/>
                    </a:lnTo>
                    <a:lnTo>
                      <a:pt x="434" y="115"/>
                    </a:lnTo>
                    <a:lnTo>
                      <a:pt x="452" y="93"/>
                    </a:lnTo>
                    <a:lnTo>
                      <a:pt x="463" y="86"/>
                    </a:lnTo>
                    <a:lnTo>
                      <a:pt x="519" y="61"/>
                    </a:lnTo>
                    <a:lnTo>
                      <a:pt x="478" y="12"/>
                    </a:lnTo>
                    <a:lnTo>
                      <a:pt x="335" y="0"/>
                    </a:lnTo>
                    <a:lnTo>
                      <a:pt x="269" y="7"/>
                    </a:lnTo>
                    <a:lnTo>
                      <a:pt x="245" y="0"/>
                    </a:lnTo>
                    <a:lnTo>
                      <a:pt x="175" y="7"/>
                    </a:lnTo>
                    <a:lnTo>
                      <a:pt x="139" y="26"/>
                    </a:lnTo>
                    <a:lnTo>
                      <a:pt x="88" y="7"/>
                    </a:lnTo>
                    <a:lnTo>
                      <a:pt x="25" y="6"/>
                    </a:lnTo>
                    <a:lnTo>
                      <a:pt x="0" y="13"/>
                    </a:lnTo>
                    <a:lnTo>
                      <a:pt x="16" y="57"/>
                    </a:lnTo>
                  </a:path>
                </a:pathLst>
              </a:custGeom>
              <a:solidFill>
                <a:srgbClr val="FFC17F"/>
              </a:solidFill>
              <a:ln w="12700" cap="rnd" cmpd="sng">
                <a:solidFill>
                  <a:srgbClr val="FFC1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8" name="Freeform 58"/>
              <p:cNvSpPr>
                <a:spLocks/>
              </p:cNvSpPr>
              <p:nvPr/>
            </p:nvSpPr>
            <p:spPr bwMode="auto">
              <a:xfrm>
                <a:off x="1699" y="249"/>
                <a:ext cx="856" cy="508"/>
              </a:xfrm>
              <a:custGeom>
                <a:avLst/>
                <a:gdLst>
                  <a:gd name="T0" fmla="*/ 7 w 856"/>
                  <a:gd name="T1" fmla="*/ 183 h 508"/>
                  <a:gd name="T2" fmla="*/ 49 w 856"/>
                  <a:gd name="T3" fmla="*/ 167 h 508"/>
                  <a:gd name="T4" fmla="*/ 95 w 856"/>
                  <a:gd name="T5" fmla="*/ 52 h 508"/>
                  <a:gd name="T6" fmla="*/ 128 w 856"/>
                  <a:gd name="T7" fmla="*/ 32 h 508"/>
                  <a:gd name="T8" fmla="*/ 583 w 856"/>
                  <a:gd name="T9" fmla="*/ 0 h 508"/>
                  <a:gd name="T10" fmla="*/ 722 w 856"/>
                  <a:gd name="T11" fmla="*/ 127 h 508"/>
                  <a:gd name="T12" fmla="*/ 733 w 856"/>
                  <a:gd name="T13" fmla="*/ 159 h 508"/>
                  <a:gd name="T14" fmla="*/ 810 w 856"/>
                  <a:gd name="T15" fmla="*/ 162 h 508"/>
                  <a:gd name="T16" fmla="*/ 850 w 856"/>
                  <a:gd name="T17" fmla="*/ 187 h 508"/>
                  <a:gd name="T18" fmla="*/ 855 w 856"/>
                  <a:gd name="T19" fmla="*/ 223 h 508"/>
                  <a:gd name="T20" fmla="*/ 774 w 856"/>
                  <a:gd name="T21" fmla="*/ 264 h 508"/>
                  <a:gd name="T22" fmla="*/ 778 w 856"/>
                  <a:gd name="T23" fmla="*/ 384 h 508"/>
                  <a:gd name="T24" fmla="*/ 736 w 856"/>
                  <a:gd name="T25" fmla="*/ 446 h 508"/>
                  <a:gd name="T26" fmla="*/ 626 w 856"/>
                  <a:gd name="T27" fmla="*/ 480 h 508"/>
                  <a:gd name="T28" fmla="*/ 592 w 856"/>
                  <a:gd name="T29" fmla="*/ 499 h 508"/>
                  <a:gd name="T30" fmla="*/ 520 w 856"/>
                  <a:gd name="T31" fmla="*/ 507 h 508"/>
                  <a:gd name="T32" fmla="*/ 499 w 856"/>
                  <a:gd name="T33" fmla="*/ 499 h 508"/>
                  <a:gd name="T34" fmla="*/ 473 w 856"/>
                  <a:gd name="T35" fmla="*/ 507 h 508"/>
                  <a:gd name="T36" fmla="*/ 412 w 856"/>
                  <a:gd name="T37" fmla="*/ 493 h 508"/>
                  <a:gd name="T38" fmla="*/ 376 w 856"/>
                  <a:gd name="T39" fmla="*/ 480 h 508"/>
                  <a:gd name="T40" fmla="*/ 320 w 856"/>
                  <a:gd name="T41" fmla="*/ 474 h 508"/>
                  <a:gd name="T42" fmla="*/ 243 w 856"/>
                  <a:gd name="T43" fmla="*/ 447 h 508"/>
                  <a:gd name="T44" fmla="*/ 207 w 856"/>
                  <a:gd name="T45" fmla="*/ 426 h 508"/>
                  <a:gd name="T46" fmla="*/ 175 w 856"/>
                  <a:gd name="T47" fmla="*/ 370 h 508"/>
                  <a:gd name="T48" fmla="*/ 144 w 856"/>
                  <a:gd name="T49" fmla="*/ 266 h 508"/>
                  <a:gd name="T50" fmla="*/ 86 w 856"/>
                  <a:gd name="T51" fmla="*/ 276 h 508"/>
                  <a:gd name="T52" fmla="*/ 43 w 856"/>
                  <a:gd name="T53" fmla="*/ 264 h 508"/>
                  <a:gd name="T54" fmla="*/ 0 w 856"/>
                  <a:gd name="T55" fmla="*/ 210 h 508"/>
                  <a:gd name="T56" fmla="*/ 7 w 856"/>
                  <a:gd name="T57" fmla="*/ 183 h 50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56" h="508">
                    <a:moveTo>
                      <a:pt x="7" y="183"/>
                    </a:moveTo>
                    <a:lnTo>
                      <a:pt x="49" y="167"/>
                    </a:lnTo>
                    <a:lnTo>
                      <a:pt x="95" y="52"/>
                    </a:lnTo>
                    <a:lnTo>
                      <a:pt x="128" y="32"/>
                    </a:lnTo>
                    <a:lnTo>
                      <a:pt x="583" y="0"/>
                    </a:lnTo>
                    <a:lnTo>
                      <a:pt x="722" y="127"/>
                    </a:lnTo>
                    <a:lnTo>
                      <a:pt x="733" y="159"/>
                    </a:lnTo>
                    <a:lnTo>
                      <a:pt x="810" y="162"/>
                    </a:lnTo>
                    <a:lnTo>
                      <a:pt x="850" y="187"/>
                    </a:lnTo>
                    <a:lnTo>
                      <a:pt x="855" y="223"/>
                    </a:lnTo>
                    <a:lnTo>
                      <a:pt x="774" y="264"/>
                    </a:lnTo>
                    <a:lnTo>
                      <a:pt x="778" y="384"/>
                    </a:lnTo>
                    <a:lnTo>
                      <a:pt x="736" y="446"/>
                    </a:lnTo>
                    <a:lnTo>
                      <a:pt x="626" y="480"/>
                    </a:lnTo>
                    <a:lnTo>
                      <a:pt x="592" y="499"/>
                    </a:lnTo>
                    <a:lnTo>
                      <a:pt x="520" y="507"/>
                    </a:lnTo>
                    <a:lnTo>
                      <a:pt x="499" y="499"/>
                    </a:lnTo>
                    <a:lnTo>
                      <a:pt x="473" y="507"/>
                    </a:lnTo>
                    <a:lnTo>
                      <a:pt x="412" y="493"/>
                    </a:lnTo>
                    <a:lnTo>
                      <a:pt x="376" y="480"/>
                    </a:lnTo>
                    <a:lnTo>
                      <a:pt x="320" y="474"/>
                    </a:lnTo>
                    <a:lnTo>
                      <a:pt x="243" y="447"/>
                    </a:lnTo>
                    <a:lnTo>
                      <a:pt x="207" y="426"/>
                    </a:lnTo>
                    <a:lnTo>
                      <a:pt x="175" y="370"/>
                    </a:lnTo>
                    <a:lnTo>
                      <a:pt x="144" y="266"/>
                    </a:lnTo>
                    <a:lnTo>
                      <a:pt x="86" y="276"/>
                    </a:lnTo>
                    <a:lnTo>
                      <a:pt x="43" y="264"/>
                    </a:lnTo>
                    <a:lnTo>
                      <a:pt x="0" y="210"/>
                    </a:lnTo>
                    <a:lnTo>
                      <a:pt x="7" y="183"/>
                    </a:lnTo>
                  </a:path>
                </a:pathLst>
              </a:custGeom>
              <a:solidFill>
                <a:srgbClr val="FFC17F"/>
              </a:solidFill>
              <a:ln w="12700" cap="rnd" cmpd="sng">
                <a:solidFill>
                  <a:srgbClr val="FFC1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9" name="Freeform 59"/>
              <p:cNvSpPr>
                <a:spLocks/>
              </p:cNvSpPr>
              <p:nvPr/>
            </p:nvSpPr>
            <p:spPr bwMode="auto">
              <a:xfrm>
                <a:off x="2281" y="255"/>
                <a:ext cx="156" cy="122"/>
              </a:xfrm>
              <a:custGeom>
                <a:avLst/>
                <a:gdLst>
                  <a:gd name="T0" fmla="*/ 7 w 156"/>
                  <a:gd name="T1" fmla="*/ 0 h 122"/>
                  <a:gd name="T2" fmla="*/ 0 w 156"/>
                  <a:gd name="T3" fmla="*/ 43 h 122"/>
                  <a:gd name="T4" fmla="*/ 16 w 156"/>
                  <a:gd name="T5" fmla="*/ 78 h 122"/>
                  <a:gd name="T6" fmla="*/ 155 w 156"/>
                  <a:gd name="T7" fmla="*/ 121 h 122"/>
                  <a:gd name="T8" fmla="*/ 133 w 156"/>
                  <a:gd name="T9" fmla="*/ 49 h 122"/>
                  <a:gd name="T10" fmla="*/ 96 w 156"/>
                  <a:gd name="T11" fmla="*/ 20 h 122"/>
                  <a:gd name="T12" fmla="*/ 7 w 156"/>
                  <a:gd name="T13" fmla="*/ 0 h 1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6" h="122">
                    <a:moveTo>
                      <a:pt x="7" y="0"/>
                    </a:moveTo>
                    <a:lnTo>
                      <a:pt x="0" y="43"/>
                    </a:lnTo>
                    <a:lnTo>
                      <a:pt x="16" y="78"/>
                    </a:lnTo>
                    <a:lnTo>
                      <a:pt x="155" y="121"/>
                    </a:lnTo>
                    <a:lnTo>
                      <a:pt x="133" y="49"/>
                    </a:lnTo>
                    <a:lnTo>
                      <a:pt x="96" y="20"/>
                    </a:lnTo>
                    <a:lnTo>
                      <a:pt x="7" y="0"/>
                    </a:lnTo>
                  </a:path>
                </a:pathLst>
              </a:custGeom>
              <a:solidFill>
                <a:srgbClr val="601E00"/>
              </a:solidFill>
              <a:ln w="12700" cap="rnd" cmpd="sng">
                <a:solidFill>
                  <a:srgbClr val="601E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0" name="Freeform 60"/>
              <p:cNvSpPr>
                <a:spLocks/>
              </p:cNvSpPr>
              <p:nvPr/>
            </p:nvSpPr>
            <p:spPr bwMode="auto">
              <a:xfrm>
                <a:off x="1830" y="199"/>
                <a:ext cx="454" cy="80"/>
              </a:xfrm>
              <a:custGeom>
                <a:avLst/>
                <a:gdLst>
                  <a:gd name="T0" fmla="*/ 0 w 454"/>
                  <a:gd name="T1" fmla="*/ 79 h 80"/>
                  <a:gd name="T2" fmla="*/ 70 w 454"/>
                  <a:gd name="T3" fmla="*/ 13 h 80"/>
                  <a:gd name="T4" fmla="*/ 146 w 454"/>
                  <a:gd name="T5" fmla="*/ 0 h 80"/>
                  <a:gd name="T6" fmla="*/ 325 w 454"/>
                  <a:gd name="T7" fmla="*/ 0 h 80"/>
                  <a:gd name="T8" fmla="*/ 408 w 454"/>
                  <a:gd name="T9" fmla="*/ 10 h 80"/>
                  <a:gd name="T10" fmla="*/ 453 w 454"/>
                  <a:gd name="T11" fmla="*/ 35 h 80"/>
                  <a:gd name="T12" fmla="*/ 101 w 454"/>
                  <a:gd name="T13" fmla="*/ 79 h 80"/>
                  <a:gd name="T14" fmla="*/ 0 w 454"/>
                  <a:gd name="T15" fmla="*/ 79 h 8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54" h="80">
                    <a:moveTo>
                      <a:pt x="0" y="79"/>
                    </a:moveTo>
                    <a:lnTo>
                      <a:pt x="70" y="13"/>
                    </a:lnTo>
                    <a:lnTo>
                      <a:pt x="146" y="0"/>
                    </a:lnTo>
                    <a:lnTo>
                      <a:pt x="325" y="0"/>
                    </a:lnTo>
                    <a:lnTo>
                      <a:pt x="408" y="10"/>
                    </a:lnTo>
                    <a:lnTo>
                      <a:pt x="453" y="35"/>
                    </a:lnTo>
                    <a:lnTo>
                      <a:pt x="101" y="79"/>
                    </a:lnTo>
                    <a:lnTo>
                      <a:pt x="0" y="79"/>
                    </a:lnTo>
                  </a:path>
                </a:pathLst>
              </a:custGeom>
              <a:solidFill>
                <a:srgbClr val="601E00"/>
              </a:solidFill>
              <a:ln w="12700" cap="rnd" cmpd="sng">
                <a:solidFill>
                  <a:srgbClr val="601E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1" name="Freeform 61"/>
              <p:cNvSpPr>
                <a:spLocks/>
              </p:cNvSpPr>
              <p:nvPr/>
            </p:nvSpPr>
            <p:spPr bwMode="auto">
              <a:xfrm>
                <a:off x="2031" y="566"/>
                <a:ext cx="253" cy="57"/>
              </a:xfrm>
              <a:custGeom>
                <a:avLst/>
                <a:gdLst>
                  <a:gd name="T0" fmla="*/ 0 w 253"/>
                  <a:gd name="T1" fmla="*/ 2 h 57"/>
                  <a:gd name="T2" fmla="*/ 23 w 253"/>
                  <a:gd name="T3" fmla="*/ 22 h 57"/>
                  <a:gd name="T4" fmla="*/ 49 w 253"/>
                  <a:gd name="T5" fmla="*/ 49 h 57"/>
                  <a:gd name="T6" fmla="*/ 85 w 253"/>
                  <a:gd name="T7" fmla="*/ 56 h 57"/>
                  <a:gd name="T8" fmla="*/ 173 w 253"/>
                  <a:gd name="T9" fmla="*/ 56 h 57"/>
                  <a:gd name="T10" fmla="*/ 189 w 253"/>
                  <a:gd name="T11" fmla="*/ 49 h 57"/>
                  <a:gd name="T12" fmla="*/ 252 w 253"/>
                  <a:gd name="T13" fmla="*/ 0 h 57"/>
                  <a:gd name="T14" fmla="*/ 119 w 253"/>
                  <a:gd name="T15" fmla="*/ 17 h 57"/>
                  <a:gd name="T16" fmla="*/ 58 w 253"/>
                  <a:gd name="T17" fmla="*/ 17 h 57"/>
                  <a:gd name="T18" fmla="*/ 23 w 253"/>
                  <a:gd name="T19" fmla="*/ 8 h 57"/>
                  <a:gd name="T20" fmla="*/ 0 w 253"/>
                  <a:gd name="T21" fmla="*/ 2 h 5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53" h="57">
                    <a:moveTo>
                      <a:pt x="0" y="2"/>
                    </a:moveTo>
                    <a:lnTo>
                      <a:pt x="23" y="22"/>
                    </a:lnTo>
                    <a:lnTo>
                      <a:pt x="49" y="49"/>
                    </a:lnTo>
                    <a:lnTo>
                      <a:pt x="85" y="56"/>
                    </a:lnTo>
                    <a:lnTo>
                      <a:pt x="173" y="56"/>
                    </a:lnTo>
                    <a:lnTo>
                      <a:pt x="189" y="49"/>
                    </a:lnTo>
                    <a:lnTo>
                      <a:pt x="252" y="0"/>
                    </a:lnTo>
                    <a:lnTo>
                      <a:pt x="119" y="17"/>
                    </a:lnTo>
                    <a:lnTo>
                      <a:pt x="58" y="17"/>
                    </a:lnTo>
                    <a:lnTo>
                      <a:pt x="23" y="8"/>
                    </a:lnTo>
                    <a:lnTo>
                      <a:pt x="0" y="2"/>
                    </a:lnTo>
                  </a:path>
                </a:pathLst>
              </a:custGeom>
              <a:solidFill>
                <a:srgbClr val="FFFFFF"/>
              </a:solidFill>
              <a:ln w="12700" cap="rnd" cmpd="sng">
                <a:solidFill>
                  <a:srgbClr val="FFFF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2" name="Freeform 62"/>
              <p:cNvSpPr>
                <a:spLocks/>
              </p:cNvSpPr>
              <p:nvPr/>
            </p:nvSpPr>
            <p:spPr bwMode="auto">
              <a:xfrm>
                <a:off x="1698" y="194"/>
                <a:ext cx="744" cy="276"/>
              </a:xfrm>
              <a:custGeom>
                <a:avLst/>
                <a:gdLst>
                  <a:gd name="T0" fmla="*/ 131 w 744"/>
                  <a:gd name="T1" fmla="*/ 92 h 276"/>
                  <a:gd name="T2" fmla="*/ 252 w 744"/>
                  <a:gd name="T3" fmla="*/ 95 h 276"/>
                  <a:gd name="T4" fmla="*/ 392 w 744"/>
                  <a:gd name="T5" fmla="*/ 89 h 276"/>
                  <a:gd name="T6" fmla="*/ 498 w 744"/>
                  <a:gd name="T7" fmla="*/ 78 h 276"/>
                  <a:gd name="T8" fmla="*/ 572 w 744"/>
                  <a:gd name="T9" fmla="*/ 63 h 276"/>
                  <a:gd name="T10" fmla="*/ 565 w 744"/>
                  <a:gd name="T11" fmla="*/ 98 h 276"/>
                  <a:gd name="T12" fmla="*/ 576 w 744"/>
                  <a:gd name="T13" fmla="*/ 128 h 276"/>
                  <a:gd name="T14" fmla="*/ 608 w 744"/>
                  <a:gd name="T15" fmla="*/ 148 h 276"/>
                  <a:gd name="T16" fmla="*/ 662 w 744"/>
                  <a:gd name="T17" fmla="*/ 162 h 276"/>
                  <a:gd name="T18" fmla="*/ 702 w 744"/>
                  <a:gd name="T19" fmla="*/ 188 h 276"/>
                  <a:gd name="T20" fmla="*/ 716 w 744"/>
                  <a:gd name="T21" fmla="*/ 232 h 276"/>
                  <a:gd name="T22" fmla="*/ 743 w 744"/>
                  <a:gd name="T23" fmla="*/ 232 h 276"/>
                  <a:gd name="T24" fmla="*/ 736 w 744"/>
                  <a:gd name="T25" fmla="*/ 208 h 276"/>
                  <a:gd name="T26" fmla="*/ 729 w 744"/>
                  <a:gd name="T27" fmla="*/ 162 h 276"/>
                  <a:gd name="T28" fmla="*/ 707 w 744"/>
                  <a:gd name="T29" fmla="*/ 112 h 276"/>
                  <a:gd name="T30" fmla="*/ 716 w 744"/>
                  <a:gd name="T31" fmla="*/ 167 h 276"/>
                  <a:gd name="T32" fmla="*/ 644 w 744"/>
                  <a:gd name="T33" fmla="*/ 147 h 276"/>
                  <a:gd name="T34" fmla="*/ 599 w 744"/>
                  <a:gd name="T35" fmla="*/ 127 h 276"/>
                  <a:gd name="T36" fmla="*/ 585 w 744"/>
                  <a:gd name="T37" fmla="*/ 107 h 276"/>
                  <a:gd name="T38" fmla="*/ 579 w 744"/>
                  <a:gd name="T39" fmla="*/ 88 h 276"/>
                  <a:gd name="T40" fmla="*/ 624 w 744"/>
                  <a:gd name="T41" fmla="*/ 112 h 276"/>
                  <a:gd name="T42" fmla="*/ 579 w 744"/>
                  <a:gd name="T43" fmla="*/ 68 h 276"/>
                  <a:gd name="T44" fmla="*/ 613 w 744"/>
                  <a:gd name="T45" fmla="*/ 72 h 276"/>
                  <a:gd name="T46" fmla="*/ 673 w 744"/>
                  <a:gd name="T47" fmla="*/ 84 h 276"/>
                  <a:gd name="T48" fmla="*/ 702 w 744"/>
                  <a:gd name="T49" fmla="*/ 102 h 276"/>
                  <a:gd name="T50" fmla="*/ 673 w 744"/>
                  <a:gd name="T51" fmla="*/ 75 h 276"/>
                  <a:gd name="T52" fmla="*/ 594 w 744"/>
                  <a:gd name="T53" fmla="*/ 41 h 276"/>
                  <a:gd name="T54" fmla="*/ 549 w 744"/>
                  <a:gd name="T55" fmla="*/ 13 h 276"/>
                  <a:gd name="T56" fmla="*/ 446 w 744"/>
                  <a:gd name="T57" fmla="*/ 0 h 276"/>
                  <a:gd name="T58" fmla="*/ 335 w 744"/>
                  <a:gd name="T59" fmla="*/ 3 h 276"/>
                  <a:gd name="T60" fmla="*/ 419 w 744"/>
                  <a:gd name="T61" fmla="*/ 4 h 276"/>
                  <a:gd name="T62" fmla="*/ 507 w 744"/>
                  <a:gd name="T63" fmla="*/ 13 h 276"/>
                  <a:gd name="T64" fmla="*/ 552 w 744"/>
                  <a:gd name="T65" fmla="*/ 27 h 276"/>
                  <a:gd name="T66" fmla="*/ 461 w 744"/>
                  <a:gd name="T67" fmla="*/ 23 h 276"/>
                  <a:gd name="T68" fmla="*/ 353 w 744"/>
                  <a:gd name="T69" fmla="*/ 33 h 276"/>
                  <a:gd name="T70" fmla="*/ 255 w 744"/>
                  <a:gd name="T71" fmla="*/ 53 h 276"/>
                  <a:gd name="T72" fmla="*/ 270 w 744"/>
                  <a:gd name="T73" fmla="*/ 33 h 276"/>
                  <a:gd name="T74" fmla="*/ 219 w 744"/>
                  <a:gd name="T75" fmla="*/ 43 h 276"/>
                  <a:gd name="T76" fmla="*/ 178 w 744"/>
                  <a:gd name="T77" fmla="*/ 65 h 276"/>
                  <a:gd name="T78" fmla="*/ 184 w 744"/>
                  <a:gd name="T79" fmla="*/ 43 h 276"/>
                  <a:gd name="T80" fmla="*/ 203 w 744"/>
                  <a:gd name="T81" fmla="*/ 18 h 276"/>
                  <a:gd name="T82" fmla="*/ 270 w 744"/>
                  <a:gd name="T83" fmla="*/ 3 h 276"/>
                  <a:gd name="T84" fmla="*/ 184 w 744"/>
                  <a:gd name="T85" fmla="*/ 18 h 276"/>
                  <a:gd name="T86" fmla="*/ 131 w 744"/>
                  <a:gd name="T87" fmla="*/ 52 h 276"/>
                  <a:gd name="T88" fmla="*/ 104 w 744"/>
                  <a:gd name="T89" fmla="*/ 89 h 276"/>
                  <a:gd name="T90" fmla="*/ 22 w 744"/>
                  <a:gd name="T91" fmla="*/ 124 h 276"/>
                  <a:gd name="T92" fmla="*/ 0 w 744"/>
                  <a:gd name="T93" fmla="*/ 155 h 276"/>
                  <a:gd name="T94" fmla="*/ 2 w 744"/>
                  <a:gd name="T95" fmla="*/ 198 h 276"/>
                  <a:gd name="T96" fmla="*/ 32 w 744"/>
                  <a:gd name="T97" fmla="*/ 226 h 276"/>
                  <a:gd name="T98" fmla="*/ 77 w 744"/>
                  <a:gd name="T99" fmla="*/ 237 h 276"/>
                  <a:gd name="T100" fmla="*/ 117 w 744"/>
                  <a:gd name="T101" fmla="*/ 275 h 276"/>
                  <a:gd name="T102" fmla="*/ 117 w 744"/>
                  <a:gd name="T103" fmla="*/ 256 h 276"/>
                  <a:gd name="T104" fmla="*/ 108 w 744"/>
                  <a:gd name="T105" fmla="*/ 209 h 276"/>
                  <a:gd name="T106" fmla="*/ 101 w 744"/>
                  <a:gd name="T107" fmla="*/ 112 h 276"/>
                  <a:gd name="T108" fmla="*/ 117 w 744"/>
                  <a:gd name="T109" fmla="*/ 94 h 276"/>
                  <a:gd name="T110" fmla="*/ 131 w 744"/>
                  <a:gd name="T111" fmla="*/ 92 h 27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44" h="276">
                    <a:moveTo>
                      <a:pt x="131" y="92"/>
                    </a:moveTo>
                    <a:lnTo>
                      <a:pt x="252" y="95"/>
                    </a:lnTo>
                    <a:lnTo>
                      <a:pt x="392" y="89"/>
                    </a:lnTo>
                    <a:lnTo>
                      <a:pt x="498" y="78"/>
                    </a:lnTo>
                    <a:lnTo>
                      <a:pt x="572" y="63"/>
                    </a:lnTo>
                    <a:lnTo>
                      <a:pt x="565" y="98"/>
                    </a:lnTo>
                    <a:lnTo>
                      <a:pt x="576" y="128"/>
                    </a:lnTo>
                    <a:lnTo>
                      <a:pt x="608" y="148"/>
                    </a:lnTo>
                    <a:lnTo>
                      <a:pt x="662" y="162"/>
                    </a:lnTo>
                    <a:lnTo>
                      <a:pt x="702" y="188"/>
                    </a:lnTo>
                    <a:lnTo>
                      <a:pt x="716" y="232"/>
                    </a:lnTo>
                    <a:lnTo>
                      <a:pt x="743" y="232"/>
                    </a:lnTo>
                    <a:lnTo>
                      <a:pt x="736" y="208"/>
                    </a:lnTo>
                    <a:lnTo>
                      <a:pt x="729" y="162"/>
                    </a:lnTo>
                    <a:lnTo>
                      <a:pt x="707" y="112"/>
                    </a:lnTo>
                    <a:lnTo>
                      <a:pt x="716" y="167"/>
                    </a:lnTo>
                    <a:lnTo>
                      <a:pt x="644" y="147"/>
                    </a:lnTo>
                    <a:lnTo>
                      <a:pt x="599" y="127"/>
                    </a:lnTo>
                    <a:lnTo>
                      <a:pt x="585" y="107"/>
                    </a:lnTo>
                    <a:lnTo>
                      <a:pt x="579" y="88"/>
                    </a:lnTo>
                    <a:lnTo>
                      <a:pt x="624" y="112"/>
                    </a:lnTo>
                    <a:lnTo>
                      <a:pt x="579" y="68"/>
                    </a:lnTo>
                    <a:lnTo>
                      <a:pt x="613" y="72"/>
                    </a:lnTo>
                    <a:lnTo>
                      <a:pt x="673" y="84"/>
                    </a:lnTo>
                    <a:lnTo>
                      <a:pt x="702" y="102"/>
                    </a:lnTo>
                    <a:lnTo>
                      <a:pt x="673" y="75"/>
                    </a:lnTo>
                    <a:lnTo>
                      <a:pt x="594" y="41"/>
                    </a:lnTo>
                    <a:lnTo>
                      <a:pt x="549" y="13"/>
                    </a:lnTo>
                    <a:lnTo>
                      <a:pt x="446" y="0"/>
                    </a:lnTo>
                    <a:lnTo>
                      <a:pt x="335" y="3"/>
                    </a:lnTo>
                    <a:lnTo>
                      <a:pt x="419" y="4"/>
                    </a:lnTo>
                    <a:lnTo>
                      <a:pt x="507" y="13"/>
                    </a:lnTo>
                    <a:lnTo>
                      <a:pt x="552" y="27"/>
                    </a:lnTo>
                    <a:lnTo>
                      <a:pt x="461" y="23"/>
                    </a:lnTo>
                    <a:lnTo>
                      <a:pt x="353" y="33"/>
                    </a:lnTo>
                    <a:lnTo>
                      <a:pt x="255" y="53"/>
                    </a:lnTo>
                    <a:lnTo>
                      <a:pt x="270" y="33"/>
                    </a:lnTo>
                    <a:lnTo>
                      <a:pt x="219" y="43"/>
                    </a:lnTo>
                    <a:lnTo>
                      <a:pt x="178" y="65"/>
                    </a:lnTo>
                    <a:lnTo>
                      <a:pt x="184" y="43"/>
                    </a:lnTo>
                    <a:lnTo>
                      <a:pt x="203" y="18"/>
                    </a:lnTo>
                    <a:lnTo>
                      <a:pt x="270" y="3"/>
                    </a:lnTo>
                    <a:lnTo>
                      <a:pt x="184" y="18"/>
                    </a:lnTo>
                    <a:lnTo>
                      <a:pt x="131" y="52"/>
                    </a:lnTo>
                    <a:lnTo>
                      <a:pt x="104" y="89"/>
                    </a:lnTo>
                    <a:lnTo>
                      <a:pt x="22" y="124"/>
                    </a:lnTo>
                    <a:lnTo>
                      <a:pt x="0" y="155"/>
                    </a:lnTo>
                    <a:lnTo>
                      <a:pt x="2" y="198"/>
                    </a:lnTo>
                    <a:lnTo>
                      <a:pt x="32" y="226"/>
                    </a:lnTo>
                    <a:lnTo>
                      <a:pt x="77" y="237"/>
                    </a:lnTo>
                    <a:lnTo>
                      <a:pt x="117" y="275"/>
                    </a:lnTo>
                    <a:lnTo>
                      <a:pt x="117" y="256"/>
                    </a:lnTo>
                    <a:lnTo>
                      <a:pt x="108" y="209"/>
                    </a:lnTo>
                    <a:lnTo>
                      <a:pt x="101" y="112"/>
                    </a:lnTo>
                    <a:lnTo>
                      <a:pt x="117" y="94"/>
                    </a:lnTo>
                    <a:lnTo>
                      <a:pt x="131" y="9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3" name="Freeform 63"/>
              <p:cNvSpPr>
                <a:spLocks/>
              </p:cNvSpPr>
              <p:nvPr/>
            </p:nvSpPr>
            <p:spPr bwMode="auto">
              <a:xfrm>
                <a:off x="1920" y="335"/>
                <a:ext cx="125" cy="42"/>
              </a:xfrm>
              <a:custGeom>
                <a:avLst/>
                <a:gdLst>
                  <a:gd name="T0" fmla="*/ 15 w 125"/>
                  <a:gd name="T1" fmla="*/ 41 h 42"/>
                  <a:gd name="T2" fmla="*/ 73 w 125"/>
                  <a:gd name="T3" fmla="*/ 32 h 42"/>
                  <a:gd name="T4" fmla="*/ 119 w 125"/>
                  <a:gd name="T5" fmla="*/ 21 h 42"/>
                  <a:gd name="T6" fmla="*/ 124 w 125"/>
                  <a:gd name="T7" fmla="*/ 6 h 42"/>
                  <a:gd name="T8" fmla="*/ 106 w 125"/>
                  <a:gd name="T9" fmla="*/ 0 h 42"/>
                  <a:gd name="T10" fmla="*/ 84 w 125"/>
                  <a:gd name="T11" fmla="*/ 3 h 42"/>
                  <a:gd name="T12" fmla="*/ 55 w 125"/>
                  <a:gd name="T13" fmla="*/ 21 h 42"/>
                  <a:gd name="T14" fmla="*/ 4 w 125"/>
                  <a:gd name="T15" fmla="*/ 32 h 42"/>
                  <a:gd name="T16" fmla="*/ 0 w 125"/>
                  <a:gd name="T17" fmla="*/ 41 h 42"/>
                  <a:gd name="T18" fmla="*/ 15 w 125"/>
                  <a:gd name="T19" fmla="*/ 41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5" h="42">
                    <a:moveTo>
                      <a:pt x="15" y="41"/>
                    </a:moveTo>
                    <a:lnTo>
                      <a:pt x="73" y="32"/>
                    </a:lnTo>
                    <a:lnTo>
                      <a:pt x="119" y="21"/>
                    </a:lnTo>
                    <a:lnTo>
                      <a:pt x="124" y="6"/>
                    </a:lnTo>
                    <a:lnTo>
                      <a:pt x="106" y="0"/>
                    </a:lnTo>
                    <a:lnTo>
                      <a:pt x="84" y="3"/>
                    </a:lnTo>
                    <a:lnTo>
                      <a:pt x="55" y="21"/>
                    </a:lnTo>
                    <a:lnTo>
                      <a:pt x="4" y="32"/>
                    </a:lnTo>
                    <a:lnTo>
                      <a:pt x="0" y="41"/>
                    </a:lnTo>
                    <a:lnTo>
                      <a:pt x="15" y="41"/>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4" name="Freeform 64"/>
              <p:cNvSpPr>
                <a:spLocks/>
              </p:cNvSpPr>
              <p:nvPr/>
            </p:nvSpPr>
            <p:spPr bwMode="auto">
              <a:xfrm>
                <a:off x="2085" y="326"/>
                <a:ext cx="119" cy="39"/>
              </a:xfrm>
              <a:custGeom>
                <a:avLst/>
                <a:gdLst>
                  <a:gd name="T0" fmla="*/ 20 w 119"/>
                  <a:gd name="T1" fmla="*/ 0 h 39"/>
                  <a:gd name="T2" fmla="*/ 0 w 119"/>
                  <a:gd name="T3" fmla="*/ 3 h 39"/>
                  <a:gd name="T4" fmla="*/ 0 w 119"/>
                  <a:gd name="T5" fmla="*/ 16 h 39"/>
                  <a:gd name="T6" fmla="*/ 30 w 119"/>
                  <a:gd name="T7" fmla="*/ 24 h 39"/>
                  <a:gd name="T8" fmla="*/ 77 w 119"/>
                  <a:gd name="T9" fmla="*/ 30 h 39"/>
                  <a:gd name="T10" fmla="*/ 107 w 119"/>
                  <a:gd name="T11" fmla="*/ 38 h 39"/>
                  <a:gd name="T12" fmla="*/ 118 w 119"/>
                  <a:gd name="T13" fmla="*/ 32 h 39"/>
                  <a:gd name="T14" fmla="*/ 113 w 119"/>
                  <a:gd name="T15" fmla="*/ 26 h 39"/>
                  <a:gd name="T16" fmla="*/ 89 w 119"/>
                  <a:gd name="T17" fmla="*/ 12 h 39"/>
                  <a:gd name="T18" fmla="*/ 52 w 119"/>
                  <a:gd name="T19" fmla="*/ 9 h 39"/>
                  <a:gd name="T20" fmla="*/ 36 w 119"/>
                  <a:gd name="T21" fmla="*/ 4 h 39"/>
                  <a:gd name="T22" fmla="*/ 20 w 119"/>
                  <a:gd name="T23" fmla="*/ 0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19" h="39">
                    <a:moveTo>
                      <a:pt x="20" y="0"/>
                    </a:moveTo>
                    <a:lnTo>
                      <a:pt x="0" y="3"/>
                    </a:lnTo>
                    <a:lnTo>
                      <a:pt x="0" y="16"/>
                    </a:lnTo>
                    <a:lnTo>
                      <a:pt x="30" y="24"/>
                    </a:lnTo>
                    <a:lnTo>
                      <a:pt x="77" y="30"/>
                    </a:lnTo>
                    <a:lnTo>
                      <a:pt x="107" y="38"/>
                    </a:lnTo>
                    <a:lnTo>
                      <a:pt x="118" y="32"/>
                    </a:lnTo>
                    <a:lnTo>
                      <a:pt x="113" y="26"/>
                    </a:lnTo>
                    <a:lnTo>
                      <a:pt x="89" y="12"/>
                    </a:lnTo>
                    <a:lnTo>
                      <a:pt x="52" y="9"/>
                    </a:lnTo>
                    <a:lnTo>
                      <a:pt x="36" y="4"/>
                    </a:lnTo>
                    <a:lnTo>
                      <a:pt x="20"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5" name="Freeform 65"/>
              <p:cNvSpPr>
                <a:spLocks/>
              </p:cNvSpPr>
              <p:nvPr/>
            </p:nvSpPr>
            <p:spPr bwMode="auto">
              <a:xfrm>
                <a:off x="2005" y="385"/>
                <a:ext cx="28" cy="16"/>
              </a:xfrm>
              <a:custGeom>
                <a:avLst/>
                <a:gdLst>
                  <a:gd name="T0" fmla="*/ 27 w 28"/>
                  <a:gd name="T1" fmla="*/ 4 h 16"/>
                  <a:gd name="T2" fmla="*/ 13 w 28"/>
                  <a:gd name="T3" fmla="*/ 0 h 16"/>
                  <a:gd name="T4" fmla="*/ 0 w 28"/>
                  <a:gd name="T5" fmla="*/ 8 h 16"/>
                  <a:gd name="T6" fmla="*/ 11 w 28"/>
                  <a:gd name="T7" fmla="*/ 15 h 16"/>
                  <a:gd name="T8" fmla="*/ 25 w 28"/>
                  <a:gd name="T9" fmla="*/ 15 h 16"/>
                  <a:gd name="T10" fmla="*/ 27 w 28"/>
                  <a:gd name="T11" fmla="*/ 4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 h="16">
                    <a:moveTo>
                      <a:pt x="27" y="4"/>
                    </a:moveTo>
                    <a:lnTo>
                      <a:pt x="13" y="0"/>
                    </a:lnTo>
                    <a:lnTo>
                      <a:pt x="0" y="8"/>
                    </a:lnTo>
                    <a:lnTo>
                      <a:pt x="11" y="15"/>
                    </a:lnTo>
                    <a:lnTo>
                      <a:pt x="25" y="15"/>
                    </a:lnTo>
                    <a:lnTo>
                      <a:pt x="27" y="4"/>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6" name="Freeform 66"/>
              <p:cNvSpPr>
                <a:spLocks/>
              </p:cNvSpPr>
              <p:nvPr/>
            </p:nvSpPr>
            <p:spPr bwMode="auto">
              <a:xfrm>
                <a:off x="2107" y="380"/>
                <a:ext cx="26" cy="13"/>
              </a:xfrm>
              <a:custGeom>
                <a:avLst/>
                <a:gdLst>
                  <a:gd name="T0" fmla="*/ 13 w 26"/>
                  <a:gd name="T1" fmla="*/ 0 h 13"/>
                  <a:gd name="T2" fmla="*/ 0 w 26"/>
                  <a:gd name="T3" fmla="*/ 7 h 13"/>
                  <a:gd name="T4" fmla="*/ 9 w 26"/>
                  <a:gd name="T5" fmla="*/ 12 h 13"/>
                  <a:gd name="T6" fmla="*/ 25 w 26"/>
                  <a:gd name="T7" fmla="*/ 12 h 13"/>
                  <a:gd name="T8" fmla="*/ 25 w 26"/>
                  <a:gd name="T9" fmla="*/ 2 h 13"/>
                  <a:gd name="T10" fmla="*/ 13 w 26"/>
                  <a:gd name="T11" fmla="*/ 0 h 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3">
                    <a:moveTo>
                      <a:pt x="13" y="0"/>
                    </a:moveTo>
                    <a:lnTo>
                      <a:pt x="0" y="7"/>
                    </a:lnTo>
                    <a:lnTo>
                      <a:pt x="9" y="12"/>
                    </a:lnTo>
                    <a:lnTo>
                      <a:pt x="25" y="12"/>
                    </a:lnTo>
                    <a:lnTo>
                      <a:pt x="25" y="2"/>
                    </a:lnTo>
                    <a:lnTo>
                      <a:pt x="13"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7" name="Freeform 67"/>
              <p:cNvSpPr>
                <a:spLocks/>
              </p:cNvSpPr>
              <p:nvPr/>
            </p:nvSpPr>
            <p:spPr bwMode="auto">
              <a:xfrm>
                <a:off x="2032" y="410"/>
                <a:ext cx="166" cy="147"/>
              </a:xfrm>
              <a:custGeom>
                <a:avLst/>
                <a:gdLst>
                  <a:gd name="T0" fmla="*/ 22 w 166"/>
                  <a:gd name="T1" fmla="*/ 3 h 147"/>
                  <a:gd name="T2" fmla="*/ 5 w 166"/>
                  <a:gd name="T3" fmla="*/ 49 h 147"/>
                  <a:gd name="T4" fmla="*/ 0 w 166"/>
                  <a:gd name="T5" fmla="*/ 92 h 147"/>
                  <a:gd name="T6" fmla="*/ 18 w 166"/>
                  <a:gd name="T7" fmla="*/ 120 h 147"/>
                  <a:gd name="T8" fmla="*/ 48 w 166"/>
                  <a:gd name="T9" fmla="*/ 140 h 147"/>
                  <a:gd name="T10" fmla="*/ 95 w 166"/>
                  <a:gd name="T11" fmla="*/ 146 h 147"/>
                  <a:gd name="T12" fmla="*/ 145 w 166"/>
                  <a:gd name="T13" fmla="*/ 136 h 147"/>
                  <a:gd name="T14" fmla="*/ 163 w 166"/>
                  <a:gd name="T15" fmla="*/ 113 h 147"/>
                  <a:gd name="T16" fmla="*/ 165 w 166"/>
                  <a:gd name="T17" fmla="*/ 84 h 147"/>
                  <a:gd name="T18" fmla="*/ 151 w 166"/>
                  <a:gd name="T19" fmla="*/ 55 h 147"/>
                  <a:gd name="T20" fmla="*/ 83 w 166"/>
                  <a:gd name="T21" fmla="*/ 0 h 147"/>
                  <a:gd name="T22" fmla="*/ 140 w 166"/>
                  <a:gd name="T23" fmla="*/ 53 h 147"/>
                  <a:gd name="T24" fmla="*/ 152 w 166"/>
                  <a:gd name="T25" fmla="*/ 92 h 147"/>
                  <a:gd name="T26" fmla="*/ 151 w 166"/>
                  <a:gd name="T27" fmla="*/ 113 h 147"/>
                  <a:gd name="T28" fmla="*/ 133 w 166"/>
                  <a:gd name="T29" fmla="*/ 132 h 147"/>
                  <a:gd name="T30" fmla="*/ 95 w 166"/>
                  <a:gd name="T31" fmla="*/ 136 h 147"/>
                  <a:gd name="T32" fmla="*/ 52 w 166"/>
                  <a:gd name="T33" fmla="*/ 132 h 147"/>
                  <a:gd name="T34" fmla="*/ 25 w 166"/>
                  <a:gd name="T35" fmla="*/ 113 h 147"/>
                  <a:gd name="T36" fmla="*/ 11 w 166"/>
                  <a:gd name="T37" fmla="*/ 93 h 147"/>
                  <a:gd name="T38" fmla="*/ 11 w 166"/>
                  <a:gd name="T39" fmla="*/ 55 h 147"/>
                  <a:gd name="T40" fmla="*/ 18 w 166"/>
                  <a:gd name="T41" fmla="*/ 26 h 147"/>
                  <a:gd name="T42" fmla="*/ 22 w 166"/>
                  <a:gd name="T43" fmla="*/ 3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6" h="147">
                    <a:moveTo>
                      <a:pt x="22" y="3"/>
                    </a:moveTo>
                    <a:lnTo>
                      <a:pt x="5" y="49"/>
                    </a:lnTo>
                    <a:lnTo>
                      <a:pt x="0" y="92"/>
                    </a:lnTo>
                    <a:lnTo>
                      <a:pt x="18" y="120"/>
                    </a:lnTo>
                    <a:lnTo>
                      <a:pt x="48" y="140"/>
                    </a:lnTo>
                    <a:lnTo>
                      <a:pt x="95" y="146"/>
                    </a:lnTo>
                    <a:lnTo>
                      <a:pt x="145" y="136"/>
                    </a:lnTo>
                    <a:lnTo>
                      <a:pt x="163" y="113"/>
                    </a:lnTo>
                    <a:lnTo>
                      <a:pt x="165" y="84"/>
                    </a:lnTo>
                    <a:lnTo>
                      <a:pt x="151" y="55"/>
                    </a:lnTo>
                    <a:lnTo>
                      <a:pt x="83" y="0"/>
                    </a:lnTo>
                    <a:lnTo>
                      <a:pt x="140" y="53"/>
                    </a:lnTo>
                    <a:lnTo>
                      <a:pt x="152" y="92"/>
                    </a:lnTo>
                    <a:lnTo>
                      <a:pt x="151" y="113"/>
                    </a:lnTo>
                    <a:lnTo>
                      <a:pt x="133" y="132"/>
                    </a:lnTo>
                    <a:lnTo>
                      <a:pt x="95" y="136"/>
                    </a:lnTo>
                    <a:lnTo>
                      <a:pt x="52" y="132"/>
                    </a:lnTo>
                    <a:lnTo>
                      <a:pt x="25" y="113"/>
                    </a:lnTo>
                    <a:lnTo>
                      <a:pt x="11" y="93"/>
                    </a:lnTo>
                    <a:lnTo>
                      <a:pt x="11" y="55"/>
                    </a:lnTo>
                    <a:lnTo>
                      <a:pt x="18" y="26"/>
                    </a:lnTo>
                    <a:lnTo>
                      <a:pt x="22" y="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8" name="Freeform 68"/>
              <p:cNvSpPr>
                <a:spLocks/>
              </p:cNvSpPr>
              <p:nvPr/>
            </p:nvSpPr>
            <p:spPr bwMode="auto">
              <a:xfrm>
                <a:off x="1981" y="543"/>
                <a:ext cx="331" cy="44"/>
              </a:xfrm>
              <a:custGeom>
                <a:avLst/>
                <a:gdLst>
                  <a:gd name="T0" fmla="*/ 0 w 331"/>
                  <a:gd name="T1" fmla="*/ 11 h 44"/>
                  <a:gd name="T2" fmla="*/ 23 w 331"/>
                  <a:gd name="T3" fmla="*/ 0 h 44"/>
                  <a:gd name="T4" fmla="*/ 41 w 331"/>
                  <a:gd name="T5" fmla="*/ 5 h 44"/>
                  <a:gd name="T6" fmla="*/ 27 w 331"/>
                  <a:gd name="T7" fmla="*/ 17 h 44"/>
                  <a:gd name="T8" fmla="*/ 69 w 331"/>
                  <a:gd name="T9" fmla="*/ 27 h 44"/>
                  <a:gd name="T10" fmla="*/ 108 w 331"/>
                  <a:gd name="T11" fmla="*/ 40 h 44"/>
                  <a:gd name="T12" fmla="*/ 151 w 331"/>
                  <a:gd name="T13" fmla="*/ 40 h 44"/>
                  <a:gd name="T14" fmla="*/ 206 w 331"/>
                  <a:gd name="T15" fmla="*/ 31 h 44"/>
                  <a:gd name="T16" fmla="*/ 303 w 331"/>
                  <a:gd name="T17" fmla="*/ 17 h 44"/>
                  <a:gd name="T18" fmla="*/ 303 w 331"/>
                  <a:gd name="T19" fmla="*/ 5 h 44"/>
                  <a:gd name="T20" fmla="*/ 330 w 331"/>
                  <a:gd name="T21" fmla="*/ 7 h 44"/>
                  <a:gd name="T22" fmla="*/ 330 w 331"/>
                  <a:gd name="T23" fmla="*/ 25 h 44"/>
                  <a:gd name="T24" fmla="*/ 310 w 331"/>
                  <a:gd name="T25" fmla="*/ 27 h 44"/>
                  <a:gd name="T26" fmla="*/ 296 w 331"/>
                  <a:gd name="T27" fmla="*/ 23 h 44"/>
                  <a:gd name="T28" fmla="*/ 162 w 331"/>
                  <a:gd name="T29" fmla="*/ 43 h 44"/>
                  <a:gd name="T30" fmla="*/ 105 w 331"/>
                  <a:gd name="T31" fmla="*/ 43 h 44"/>
                  <a:gd name="T32" fmla="*/ 41 w 331"/>
                  <a:gd name="T33" fmla="*/ 25 h 44"/>
                  <a:gd name="T34" fmla="*/ 27 w 331"/>
                  <a:gd name="T35" fmla="*/ 23 h 44"/>
                  <a:gd name="T36" fmla="*/ 13 w 331"/>
                  <a:gd name="T37" fmla="*/ 27 h 44"/>
                  <a:gd name="T38" fmla="*/ 0 w 331"/>
                  <a:gd name="T39" fmla="*/ 23 h 44"/>
                  <a:gd name="T40" fmla="*/ 0 w 331"/>
                  <a:gd name="T41" fmla="*/ 11 h 4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31" h="44">
                    <a:moveTo>
                      <a:pt x="0" y="11"/>
                    </a:moveTo>
                    <a:lnTo>
                      <a:pt x="23" y="0"/>
                    </a:lnTo>
                    <a:lnTo>
                      <a:pt x="41" y="5"/>
                    </a:lnTo>
                    <a:lnTo>
                      <a:pt x="27" y="17"/>
                    </a:lnTo>
                    <a:lnTo>
                      <a:pt x="69" y="27"/>
                    </a:lnTo>
                    <a:lnTo>
                      <a:pt x="108" y="40"/>
                    </a:lnTo>
                    <a:lnTo>
                      <a:pt x="151" y="40"/>
                    </a:lnTo>
                    <a:lnTo>
                      <a:pt x="206" y="31"/>
                    </a:lnTo>
                    <a:lnTo>
                      <a:pt x="303" y="17"/>
                    </a:lnTo>
                    <a:lnTo>
                      <a:pt x="303" y="5"/>
                    </a:lnTo>
                    <a:lnTo>
                      <a:pt x="330" y="7"/>
                    </a:lnTo>
                    <a:lnTo>
                      <a:pt x="330" y="25"/>
                    </a:lnTo>
                    <a:lnTo>
                      <a:pt x="310" y="27"/>
                    </a:lnTo>
                    <a:lnTo>
                      <a:pt x="296" y="23"/>
                    </a:lnTo>
                    <a:lnTo>
                      <a:pt x="162" y="43"/>
                    </a:lnTo>
                    <a:lnTo>
                      <a:pt x="105" y="43"/>
                    </a:lnTo>
                    <a:lnTo>
                      <a:pt x="41" y="25"/>
                    </a:lnTo>
                    <a:lnTo>
                      <a:pt x="27" y="23"/>
                    </a:lnTo>
                    <a:lnTo>
                      <a:pt x="13" y="27"/>
                    </a:lnTo>
                    <a:lnTo>
                      <a:pt x="0" y="23"/>
                    </a:lnTo>
                    <a:lnTo>
                      <a:pt x="0" y="11"/>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9" name="Freeform 69"/>
              <p:cNvSpPr>
                <a:spLocks/>
              </p:cNvSpPr>
              <p:nvPr/>
            </p:nvSpPr>
            <p:spPr bwMode="auto">
              <a:xfrm>
                <a:off x="2031" y="566"/>
                <a:ext cx="253" cy="60"/>
              </a:xfrm>
              <a:custGeom>
                <a:avLst/>
                <a:gdLst>
                  <a:gd name="T0" fmla="*/ 0 w 253"/>
                  <a:gd name="T1" fmla="*/ 8 h 60"/>
                  <a:gd name="T2" fmla="*/ 16 w 253"/>
                  <a:gd name="T3" fmla="*/ 22 h 60"/>
                  <a:gd name="T4" fmla="*/ 34 w 253"/>
                  <a:gd name="T5" fmla="*/ 49 h 60"/>
                  <a:gd name="T6" fmla="*/ 70 w 253"/>
                  <a:gd name="T7" fmla="*/ 59 h 60"/>
                  <a:gd name="T8" fmla="*/ 157 w 253"/>
                  <a:gd name="T9" fmla="*/ 59 h 60"/>
                  <a:gd name="T10" fmla="*/ 180 w 253"/>
                  <a:gd name="T11" fmla="*/ 53 h 60"/>
                  <a:gd name="T12" fmla="*/ 252 w 253"/>
                  <a:gd name="T13" fmla="*/ 0 h 60"/>
                  <a:gd name="T14" fmla="*/ 232 w 253"/>
                  <a:gd name="T15" fmla="*/ 2 h 60"/>
                  <a:gd name="T16" fmla="*/ 167 w 253"/>
                  <a:gd name="T17" fmla="*/ 49 h 60"/>
                  <a:gd name="T18" fmla="*/ 148 w 253"/>
                  <a:gd name="T19" fmla="*/ 51 h 60"/>
                  <a:gd name="T20" fmla="*/ 81 w 253"/>
                  <a:gd name="T21" fmla="*/ 53 h 60"/>
                  <a:gd name="T22" fmla="*/ 49 w 253"/>
                  <a:gd name="T23" fmla="*/ 47 h 60"/>
                  <a:gd name="T24" fmla="*/ 36 w 253"/>
                  <a:gd name="T25" fmla="*/ 39 h 60"/>
                  <a:gd name="T26" fmla="*/ 23 w 253"/>
                  <a:gd name="T27" fmla="*/ 20 h 60"/>
                  <a:gd name="T28" fmla="*/ 0 w 253"/>
                  <a:gd name="T29" fmla="*/ 8 h 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53" h="60">
                    <a:moveTo>
                      <a:pt x="0" y="8"/>
                    </a:moveTo>
                    <a:lnTo>
                      <a:pt x="16" y="22"/>
                    </a:lnTo>
                    <a:lnTo>
                      <a:pt x="34" y="49"/>
                    </a:lnTo>
                    <a:lnTo>
                      <a:pt x="70" y="59"/>
                    </a:lnTo>
                    <a:lnTo>
                      <a:pt x="157" y="59"/>
                    </a:lnTo>
                    <a:lnTo>
                      <a:pt x="180" y="53"/>
                    </a:lnTo>
                    <a:lnTo>
                      <a:pt x="252" y="0"/>
                    </a:lnTo>
                    <a:lnTo>
                      <a:pt x="232" y="2"/>
                    </a:lnTo>
                    <a:lnTo>
                      <a:pt x="167" y="49"/>
                    </a:lnTo>
                    <a:lnTo>
                      <a:pt x="148" y="51"/>
                    </a:lnTo>
                    <a:lnTo>
                      <a:pt x="81" y="53"/>
                    </a:lnTo>
                    <a:lnTo>
                      <a:pt x="49" y="47"/>
                    </a:lnTo>
                    <a:lnTo>
                      <a:pt x="36" y="39"/>
                    </a:lnTo>
                    <a:lnTo>
                      <a:pt x="23" y="20"/>
                    </a:lnTo>
                    <a:lnTo>
                      <a:pt x="0" y="8"/>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0" name="Freeform 70"/>
              <p:cNvSpPr>
                <a:spLocks/>
              </p:cNvSpPr>
              <p:nvPr/>
            </p:nvSpPr>
            <p:spPr bwMode="auto">
              <a:xfrm>
                <a:off x="1679" y="401"/>
                <a:ext cx="879" cy="366"/>
              </a:xfrm>
              <a:custGeom>
                <a:avLst/>
                <a:gdLst>
                  <a:gd name="T0" fmla="*/ 150 w 879"/>
                  <a:gd name="T1" fmla="*/ 84 h 366"/>
                  <a:gd name="T2" fmla="*/ 169 w 879"/>
                  <a:gd name="T3" fmla="*/ 130 h 366"/>
                  <a:gd name="T4" fmla="*/ 197 w 879"/>
                  <a:gd name="T5" fmla="*/ 218 h 366"/>
                  <a:gd name="T6" fmla="*/ 224 w 879"/>
                  <a:gd name="T7" fmla="*/ 269 h 366"/>
                  <a:gd name="T8" fmla="*/ 261 w 879"/>
                  <a:gd name="T9" fmla="*/ 289 h 366"/>
                  <a:gd name="T10" fmla="*/ 346 w 879"/>
                  <a:gd name="T11" fmla="*/ 314 h 366"/>
                  <a:gd name="T12" fmla="*/ 406 w 879"/>
                  <a:gd name="T13" fmla="*/ 324 h 366"/>
                  <a:gd name="T14" fmla="*/ 438 w 879"/>
                  <a:gd name="T15" fmla="*/ 341 h 366"/>
                  <a:gd name="T16" fmla="*/ 487 w 879"/>
                  <a:gd name="T17" fmla="*/ 347 h 366"/>
                  <a:gd name="T18" fmla="*/ 508 w 879"/>
                  <a:gd name="T19" fmla="*/ 330 h 366"/>
                  <a:gd name="T20" fmla="*/ 546 w 879"/>
                  <a:gd name="T21" fmla="*/ 341 h 366"/>
                  <a:gd name="T22" fmla="*/ 604 w 879"/>
                  <a:gd name="T23" fmla="*/ 338 h 366"/>
                  <a:gd name="T24" fmla="*/ 624 w 879"/>
                  <a:gd name="T25" fmla="*/ 324 h 366"/>
                  <a:gd name="T26" fmla="*/ 669 w 879"/>
                  <a:gd name="T27" fmla="*/ 307 h 366"/>
                  <a:gd name="T28" fmla="*/ 736 w 879"/>
                  <a:gd name="T29" fmla="*/ 285 h 366"/>
                  <a:gd name="T30" fmla="*/ 770 w 879"/>
                  <a:gd name="T31" fmla="*/ 257 h 366"/>
                  <a:gd name="T32" fmla="*/ 782 w 879"/>
                  <a:gd name="T33" fmla="*/ 222 h 366"/>
                  <a:gd name="T34" fmla="*/ 775 w 879"/>
                  <a:gd name="T35" fmla="*/ 54 h 366"/>
                  <a:gd name="T36" fmla="*/ 800 w 879"/>
                  <a:gd name="T37" fmla="*/ 80 h 366"/>
                  <a:gd name="T38" fmla="*/ 865 w 879"/>
                  <a:gd name="T39" fmla="*/ 68 h 366"/>
                  <a:gd name="T40" fmla="*/ 826 w 879"/>
                  <a:gd name="T41" fmla="*/ 11 h 366"/>
                  <a:gd name="T42" fmla="*/ 755 w 879"/>
                  <a:gd name="T43" fmla="*/ 4 h 366"/>
                  <a:gd name="T44" fmla="*/ 833 w 879"/>
                  <a:gd name="T45" fmla="*/ 0 h 366"/>
                  <a:gd name="T46" fmla="*/ 878 w 879"/>
                  <a:gd name="T47" fmla="*/ 34 h 366"/>
                  <a:gd name="T48" fmla="*/ 876 w 879"/>
                  <a:gd name="T49" fmla="*/ 74 h 366"/>
                  <a:gd name="T50" fmla="*/ 800 w 879"/>
                  <a:gd name="T51" fmla="*/ 113 h 366"/>
                  <a:gd name="T52" fmla="*/ 793 w 879"/>
                  <a:gd name="T53" fmla="*/ 252 h 366"/>
                  <a:gd name="T54" fmla="*/ 748 w 879"/>
                  <a:gd name="T55" fmla="*/ 306 h 366"/>
                  <a:gd name="T56" fmla="*/ 613 w 879"/>
                  <a:gd name="T57" fmla="*/ 347 h 366"/>
                  <a:gd name="T58" fmla="*/ 508 w 879"/>
                  <a:gd name="T59" fmla="*/ 365 h 366"/>
                  <a:gd name="T60" fmla="*/ 425 w 879"/>
                  <a:gd name="T61" fmla="*/ 341 h 366"/>
                  <a:gd name="T62" fmla="*/ 344 w 879"/>
                  <a:gd name="T63" fmla="*/ 334 h 366"/>
                  <a:gd name="T64" fmla="*/ 265 w 879"/>
                  <a:gd name="T65" fmla="*/ 307 h 366"/>
                  <a:gd name="T66" fmla="*/ 224 w 879"/>
                  <a:gd name="T67" fmla="*/ 279 h 366"/>
                  <a:gd name="T68" fmla="*/ 182 w 879"/>
                  <a:gd name="T69" fmla="*/ 222 h 366"/>
                  <a:gd name="T70" fmla="*/ 150 w 879"/>
                  <a:gd name="T71" fmla="*/ 116 h 366"/>
                  <a:gd name="T72" fmla="*/ 101 w 879"/>
                  <a:gd name="T73" fmla="*/ 129 h 366"/>
                  <a:gd name="T74" fmla="*/ 47 w 879"/>
                  <a:gd name="T75" fmla="*/ 110 h 366"/>
                  <a:gd name="T76" fmla="*/ 0 w 879"/>
                  <a:gd name="T77" fmla="*/ 58 h 366"/>
                  <a:gd name="T78" fmla="*/ 13 w 879"/>
                  <a:gd name="T79" fmla="*/ 27 h 366"/>
                  <a:gd name="T80" fmla="*/ 47 w 879"/>
                  <a:gd name="T81" fmla="*/ 14 h 366"/>
                  <a:gd name="T82" fmla="*/ 52 w 879"/>
                  <a:gd name="T83" fmla="*/ 20 h 366"/>
                  <a:gd name="T84" fmla="*/ 22 w 879"/>
                  <a:gd name="T85" fmla="*/ 31 h 366"/>
                  <a:gd name="T86" fmla="*/ 13 w 879"/>
                  <a:gd name="T87" fmla="*/ 54 h 366"/>
                  <a:gd name="T88" fmla="*/ 61 w 879"/>
                  <a:gd name="T89" fmla="*/ 108 h 366"/>
                  <a:gd name="T90" fmla="*/ 144 w 879"/>
                  <a:gd name="T91" fmla="*/ 108 h 366"/>
                  <a:gd name="T92" fmla="*/ 130 w 879"/>
                  <a:gd name="T93" fmla="*/ 54 h 366"/>
                  <a:gd name="T94" fmla="*/ 150 w 879"/>
                  <a:gd name="T95" fmla="*/ 84 h 36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879" h="366">
                    <a:moveTo>
                      <a:pt x="150" y="84"/>
                    </a:moveTo>
                    <a:lnTo>
                      <a:pt x="169" y="130"/>
                    </a:lnTo>
                    <a:lnTo>
                      <a:pt x="197" y="218"/>
                    </a:lnTo>
                    <a:lnTo>
                      <a:pt x="224" y="269"/>
                    </a:lnTo>
                    <a:lnTo>
                      <a:pt x="261" y="289"/>
                    </a:lnTo>
                    <a:lnTo>
                      <a:pt x="346" y="314"/>
                    </a:lnTo>
                    <a:lnTo>
                      <a:pt x="406" y="324"/>
                    </a:lnTo>
                    <a:lnTo>
                      <a:pt x="438" y="341"/>
                    </a:lnTo>
                    <a:lnTo>
                      <a:pt x="487" y="347"/>
                    </a:lnTo>
                    <a:lnTo>
                      <a:pt x="508" y="330"/>
                    </a:lnTo>
                    <a:lnTo>
                      <a:pt x="546" y="341"/>
                    </a:lnTo>
                    <a:lnTo>
                      <a:pt x="604" y="338"/>
                    </a:lnTo>
                    <a:lnTo>
                      <a:pt x="624" y="324"/>
                    </a:lnTo>
                    <a:lnTo>
                      <a:pt x="669" y="307"/>
                    </a:lnTo>
                    <a:lnTo>
                      <a:pt x="736" y="285"/>
                    </a:lnTo>
                    <a:lnTo>
                      <a:pt x="770" y="257"/>
                    </a:lnTo>
                    <a:lnTo>
                      <a:pt x="782" y="222"/>
                    </a:lnTo>
                    <a:lnTo>
                      <a:pt x="775" y="54"/>
                    </a:lnTo>
                    <a:lnTo>
                      <a:pt x="800" y="80"/>
                    </a:lnTo>
                    <a:lnTo>
                      <a:pt x="865" y="68"/>
                    </a:lnTo>
                    <a:lnTo>
                      <a:pt x="826" y="11"/>
                    </a:lnTo>
                    <a:lnTo>
                      <a:pt x="755" y="4"/>
                    </a:lnTo>
                    <a:lnTo>
                      <a:pt x="833" y="0"/>
                    </a:lnTo>
                    <a:lnTo>
                      <a:pt x="878" y="34"/>
                    </a:lnTo>
                    <a:lnTo>
                      <a:pt x="876" y="74"/>
                    </a:lnTo>
                    <a:lnTo>
                      <a:pt x="800" y="113"/>
                    </a:lnTo>
                    <a:lnTo>
                      <a:pt x="793" y="252"/>
                    </a:lnTo>
                    <a:lnTo>
                      <a:pt x="748" y="306"/>
                    </a:lnTo>
                    <a:lnTo>
                      <a:pt x="613" y="347"/>
                    </a:lnTo>
                    <a:lnTo>
                      <a:pt x="508" y="365"/>
                    </a:lnTo>
                    <a:lnTo>
                      <a:pt x="425" y="341"/>
                    </a:lnTo>
                    <a:lnTo>
                      <a:pt x="344" y="334"/>
                    </a:lnTo>
                    <a:lnTo>
                      <a:pt x="265" y="307"/>
                    </a:lnTo>
                    <a:lnTo>
                      <a:pt x="224" y="279"/>
                    </a:lnTo>
                    <a:lnTo>
                      <a:pt x="182" y="222"/>
                    </a:lnTo>
                    <a:lnTo>
                      <a:pt x="150" y="116"/>
                    </a:lnTo>
                    <a:lnTo>
                      <a:pt x="101" y="129"/>
                    </a:lnTo>
                    <a:lnTo>
                      <a:pt x="47" y="110"/>
                    </a:lnTo>
                    <a:lnTo>
                      <a:pt x="0" y="58"/>
                    </a:lnTo>
                    <a:lnTo>
                      <a:pt x="13" y="27"/>
                    </a:lnTo>
                    <a:lnTo>
                      <a:pt x="47" y="14"/>
                    </a:lnTo>
                    <a:lnTo>
                      <a:pt x="52" y="20"/>
                    </a:lnTo>
                    <a:lnTo>
                      <a:pt x="22" y="31"/>
                    </a:lnTo>
                    <a:lnTo>
                      <a:pt x="13" y="54"/>
                    </a:lnTo>
                    <a:lnTo>
                      <a:pt x="61" y="108"/>
                    </a:lnTo>
                    <a:lnTo>
                      <a:pt x="144" y="108"/>
                    </a:lnTo>
                    <a:lnTo>
                      <a:pt x="130" y="54"/>
                    </a:lnTo>
                    <a:lnTo>
                      <a:pt x="150" y="84"/>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1" name="Freeform 71"/>
              <p:cNvSpPr>
                <a:spLocks/>
              </p:cNvSpPr>
              <p:nvPr/>
            </p:nvSpPr>
            <p:spPr bwMode="auto">
              <a:xfrm>
                <a:off x="2066" y="651"/>
                <a:ext cx="147" cy="18"/>
              </a:xfrm>
              <a:custGeom>
                <a:avLst/>
                <a:gdLst>
                  <a:gd name="T0" fmla="*/ 9 w 147"/>
                  <a:gd name="T1" fmla="*/ 0 h 18"/>
                  <a:gd name="T2" fmla="*/ 29 w 147"/>
                  <a:gd name="T3" fmla="*/ 7 h 18"/>
                  <a:gd name="T4" fmla="*/ 67 w 147"/>
                  <a:gd name="T5" fmla="*/ 10 h 18"/>
                  <a:gd name="T6" fmla="*/ 99 w 147"/>
                  <a:gd name="T7" fmla="*/ 10 h 18"/>
                  <a:gd name="T8" fmla="*/ 139 w 147"/>
                  <a:gd name="T9" fmla="*/ 7 h 18"/>
                  <a:gd name="T10" fmla="*/ 146 w 147"/>
                  <a:gd name="T11" fmla="*/ 14 h 18"/>
                  <a:gd name="T12" fmla="*/ 119 w 147"/>
                  <a:gd name="T13" fmla="*/ 17 h 18"/>
                  <a:gd name="T14" fmla="*/ 67 w 147"/>
                  <a:gd name="T15" fmla="*/ 17 h 18"/>
                  <a:gd name="T16" fmla="*/ 29 w 147"/>
                  <a:gd name="T17" fmla="*/ 14 h 18"/>
                  <a:gd name="T18" fmla="*/ 0 w 147"/>
                  <a:gd name="T19" fmla="*/ 3 h 18"/>
                  <a:gd name="T20" fmla="*/ 9 w 147"/>
                  <a:gd name="T21" fmla="*/ 0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7" h="18">
                    <a:moveTo>
                      <a:pt x="9" y="0"/>
                    </a:moveTo>
                    <a:lnTo>
                      <a:pt x="29" y="7"/>
                    </a:lnTo>
                    <a:lnTo>
                      <a:pt x="67" y="10"/>
                    </a:lnTo>
                    <a:lnTo>
                      <a:pt x="99" y="10"/>
                    </a:lnTo>
                    <a:lnTo>
                      <a:pt x="139" y="7"/>
                    </a:lnTo>
                    <a:lnTo>
                      <a:pt x="146" y="14"/>
                    </a:lnTo>
                    <a:lnTo>
                      <a:pt x="119" y="17"/>
                    </a:lnTo>
                    <a:lnTo>
                      <a:pt x="67" y="17"/>
                    </a:lnTo>
                    <a:lnTo>
                      <a:pt x="29" y="14"/>
                    </a:lnTo>
                    <a:lnTo>
                      <a:pt x="0" y="3"/>
                    </a:lnTo>
                    <a:lnTo>
                      <a:pt x="9"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2" name="Freeform 72"/>
              <p:cNvSpPr>
                <a:spLocks/>
              </p:cNvSpPr>
              <p:nvPr/>
            </p:nvSpPr>
            <p:spPr bwMode="auto">
              <a:xfrm>
                <a:off x="1690" y="447"/>
                <a:ext cx="126" cy="26"/>
              </a:xfrm>
              <a:custGeom>
                <a:avLst/>
                <a:gdLst>
                  <a:gd name="T0" fmla="*/ 123 w 126"/>
                  <a:gd name="T1" fmla="*/ 15 h 26"/>
                  <a:gd name="T2" fmla="*/ 84 w 126"/>
                  <a:gd name="T3" fmla="*/ 3 h 26"/>
                  <a:gd name="T4" fmla="*/ 39 w 126"/>
                  <a:gd name="T5" fmla="*/ 0 h 26"/>
                  <a:gd name="T6" fmla="*/ 2 w 126"/>
                  <a:gd name="T7" fmla="*/ 0 h 26"/>
                  <a:gd name="T8" fmla="*/ 0 w 126"/>
                  <a:gd name="T9" fmla="*/ 8 h 26"/>
                  <a:gd name="T10" fmla="*/ 46 w 126"/>
                  <a:gd name="T11" fmla="*/ 8 h 26"/>
                  <a:gd name="T12" fmla="*/ 89 w 126"/>
                  <a:gd name="T13" fmla="*/ 13 h 26"/>
                  <a:gd name="T14" fmla="*/ 125 w 126"/>
                  <a:gd name="T15" fmla="*/ 25 h 26"/>
                  <a:gd name="T16" fmla="*/ 123 w 126"/>
                  <a:gd name="T17" fmla="*/ 15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6" h="26">
                    <a:moveTo>
                      <a:pt x="123" y="15"/>
                    </a:moveTo>
                    <a:lnTo>
                      <a:pt x="84" y="3"/>
                    </a:lnTo>
                    <a:lnTo>
                      <a:pt x="39" y="0"/>
                    </a:lnTo>
                    <a:lnTo>
                      <a:pt x="2" y="0"/>
                    </a:lnTo>
                    <a:lnTo>
                      <a:pt x="0" y="8"/>
                    </a:lnTo>
                    <a:lnTo>
                      <a:pt x="46" y="8"/>
                    </a:lnTo>
                    <a:lnTo>
                      <a:pt x="89" y="13"/>
                    </a:lnTo>
                    <a:lnTo>
                      <a:pt x="125" y="25"/>
                    </a:lnTo>
                    <a:lnTo>
                      <a:pt x="123" y="15"/>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3" name="Freeform 73"/>
              <p:cNvSpPr>
                <a:spLocks/>
              </p:cNvSpPr>
              <p:nvPr/>
            </p:nvSpPr>
            <p:spPr bwMode="auto">
              <a:xfrm>
                <a:off x="2454" y="416"/>
                <a:ext cx="66" cy="44"/>
              </a:xfrm>
              <a:custGeom>
                <a:avLst/>
                <a:gdLst>
                  <a:gd name="T0" fmla="*/ 0 w 66"/>
                  <a:gd name="T1" fmla="*/ 33 h 44"/>
                  <a:gd name="T2" fmla="*/ 22 w 66"/>
                  <a:gd name="T3" fmla="*/ 17 h 44"/>
                  <a:gd name="T4" fmla="*/ 61 w 66"/>
                  <a:gd name="T5" fmla="*/ 0 h 44"/>
                  <a:gd name="T6" fmla="*/ 65 w 66"/>
                  <a:gd name="T7" fmla="*/ 8 h 44"/>
                  <a:gd name="T8" fmla="*/ 33 w 66"/>
                  <a:gd name="T9" fmla="*/ 20 h 44"/>
                  <a:gd name="T10" fmla="*/ 0 w 66"/>
                  <a:gd name="T11" fmla="*/ 43 h 44"/>
                  <a:gd name="T12" fmla="*/ 0 w 66"/>
                  <a:gd name="T13" fmla="*/ 33 h 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4">
                    <a:moveTo>
                      <a:pt x="0" y="33"/>
                    </a:moveTo>
                    <a:lnTo>
                      <a:pt x="22" y="17"/>
                    </a:lnTo>
                    <a:lnTo>
                      <a:pt x="61" y="0"/>
                    </a:lnTo>
                    <a:lnTo>
                      <a:pt x="65" y="8"/>
                    </a:lnTo>
                    <a:lnTo>
                      <a:pt x="33" y="20"/>
                    </a:lnTo>
                    <a:lnTo>
                      <a:pt x="0" y="43"/>
                    </a:lnTo>
                    <a:lnTo>
                      <a:pt x="0" y="3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4" name="Freeform 74"/>
              <p:cNvSpPr>
                <a:spLocks/>
              </p:cNvSpPr>
              <p:nvPr/>
            </p:nvSpPr>
            <p:spPr bwMode="auto">
              <a:xfrm>
                <a:off x="1221" y="633"/>
                <a:ext cx="660" cy="477"/>
              </a:xfrm>
              <a:custGeom>
                <a:avLst/>
                <a:gdLst>
                  <a:gd name="T0" fmla="*/ 645 w 660"/>
                  <a:gd name="T1" fmla="*/ 0 h 477"/>
                  <a:gd name="T2" fmla="*/ 468 w 660"/>
                  <a:gd name="T3" fmla="*/ 32 h 477"/>
                  <a:gd name="T4" fmla="*/ 274 w 660"/>
                  <a:gd name="T5" fmla="*/ 101 h 477"/>
                  <a:gd name="T6" fmla="*/ 158 w 660"/>
                  <a:gd name="T7" fmla="*/ 119 h 477"/>
                  <a:gd name="T8" fmla="*/ 139 w 660"/>
                  <a:gd name="T9" fmla="*/ 158 h 477"/>
                  <a:gd name="T10" fmla="*/ 97 w 660"/>
                  <a:gd name="T11" fmla="*/ 166 h 477"/>
                  <a:gd name="T12" fmla="*/ 47 w 660"/>
                  <a:gd name="T13" fmla="*/ 239 h 477"/>
                  <a:gd name="T14" fmla="*/ 81 w 660"/>
                  <a:gd name="T15" fmla="*/ 303 h 477"/>
                  <a:gd name="T16" fmla="*/ 50 w 660"/>
                  <a:gd name="T17" fmla="*/ 342 h 477"/>
                  <a:gd name="T18" fmla="*/ 74 w 660"/>
                  <a:gd name="T19" fmla="*/ 366 h 477"/>
                  <a:gd name="T20" fmla="*/ 0 w 660"/>
                  <a:gd name="T21" fmla="*/ 443 h 477"/>
                  <a:gd name="T22" fmla="*/ 18 w 660"/>
                  <a:gd name="T23" fmla="*/ 457 h 477"/>
                  <a:gd name="T24" fmla="*/ 43 w 660"/>
                  <a:gd name="T25" fmla="*/ 450 h 477"/>
                  <a:gd name="T26" fmla="*/ 31 w 660"/>
                  <a:gd name="T27" fmla="*/ 438 h 477"/>
                  <a:gd name="T28" fmla="*/ 104 w 660"/>
                  <a:gd name="T29" fmla="*/ 358 h 477"/>
                  <a:gd name="T30" fmla="*/ 277 w 660"/>
                  <a:gd name="T31" fmla="*/ 362 h 477"/>
                  <a:gd name="T32" fmla="*/ 463 w 660"/>
                  <a:gd name="T33" fmla="*/ 453 h 477"/>
                  <a:gd name="T34" fmla="*/ 202 w 660"/>
                  <a:gd name="T35" fmla="*/ 445 h 477"/>
                  <a:gd name="T36" fmla="*/ 279 w 660"/>
                  <a:gd name="T37" fmla="*/ 450 h 477"/>
                  <a:gd name="T38" fmla="*/ 355 w 660"/>
                  <a:gd name="T39" fmla="*/ 476 h 477"/>
                  <a:gd name="T40" fmla="*/ 547 w 660"/>
                  <a:gd name="T41" fmla="*/ 466 h 477"/>
                  <a:gd name="T42" fmla="*/ 659 w 660"/>
                  <a:gd name="T43" fmla="*/ 466 h 477"/>
                  <a:gd name="T44" fmla="*/ 544 w 660"/>
                  <a:gd name="T45" fmla="*/ 457 h 477"/>
                  <a:gd name="T46" fmla="*/ 544 w 660"/>
                  <a:gd name="T47" fmla="*/ 406 h 477"/>
                  <a:gd name="T48" fmla="*/ 412 w 660"/>
                  <a:gd name="T49" fmla="*/ 261 h 477"/>
                  <a:gd name="T50" fmla="*/ 297 w 660"/>
                  <a:gd name="T51" fmla="*/ 209 h 477"/>
                  <a:gd name="T52" fmla="*/ 407 w 660"/>
                  <a:gd name="T53" fmla="*/ 270 h 477"/>
                  <a:gd name="T54" fmla="*/ 477 w 660"/>
                  <a:gd name="T55" fmla="*/ 371 h 477"/>
                  <a:gd name="T56" fmla="*/ 477 w 660"/>
                  <a:gd name="T57" fmla="*/ 443 h 477"/>
                  <a:gd name="T58" fmla="*/ 277 w 660"/>
                  <a:gd name="T59" fmla="*/ 350 h 477"/>
                  <a:gd name="T60" fmla="*/ 191 w 660"/>
                  <a:gd name="T61" fmla="*/ 335 h 477"/>
                  <a:gd name="T62" fmla="*/ 94 w 660"/>
                  <a:gd name="T63" fmla="*/ 298 h 477"/>
                  <a:gd name="T64" fmla="*/ 67 w 660"/>
                  <a:gd name="T65" fmla="*/ 247 h 477"/>
                  <a:gd name="T66" fmla="*/ 97 w 660"/>
                  <a:gd name="T67" fmla="*/ 218 h 477"/>
                  <a:gd name="T68" fmla="*/ 97 w 660"/>
                  <a:gd name="T69" fmla="*/ 178 h 477"/>
                  <a:gd name="T70" fmla="*/ 144 w 660"/>
                  <a:gd name="T71" fmla="*/ 164 h 477"/>
                  <a:gd name="T72" fmla="*/ 202 w 660"/>
                  <a:gd name="T73" fmla="*/ 178 h 477"/>
                  <a:gd name="T74" fmla="*/ 171 w 660"/>
                  <a:gd name="T75" fmla="*/ 145 h 477"/>
                  <a:gd name="T76" fmla="*/ 191 w 660"/>
                  <a:gd name="T77" fmla="*/ 118 h 477"/>
                  <a:gd name="T78" fmla="*/ 279 w 660"/>
                  <a:gd name="T79" fmla="*/ 106 h 477"/>
                  <a:gd name="T80" fmla="*/ 479 w 660"/>
                  <a:gd name="T81" fmla="*/ 32 h 477"/>
                  <a:gd name="T82" fmla="*/ 645 w 660"/>
                  <a:gd name="T83" fmla="*/ 0 h 47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60" h="477">
                    <a:moveTo>
                      <a:pt x="645" y="0"/>
                    </a:moveTo>
                    <a:lnTo>
                      <a:pt x="468" y="32"/>
                    </a:lnTo>
                    <a:lnTo>
                      <a:pt x="274" y="101"/>
                    </a:lnTo>
                    <a:lnTo>
                      <a:pt x="158" y="119"/>
                    </a:lnTo>
                    <a:lnTo>
                      <a:pt x="139" y="158"/>
                    </a:lnTo>
                    <a:lnTo>
                      <a:pt x="97" y="166"/>
                    </a:lnTo>
                    <a:lnTo>
                      <a:pt x="47" y="239"/>
                    </a:lnTo>
                    <a:lnTo>
                      <a:pt x="81" y="303"/>
                    </a:lnTo>
                    <a:lnTo>
                      <a:pt x="50" y="342"/>
                    </a:lnTo>
                    <a:lnTo>
                      <a:pt x="74" y="366"/>
                    </a:lnTo>
                    <a:lnTo>
                      <a:pt x="0" y="443"/>
                    </a:lnTo>
                    <a:lnTo>
                      <a:pt x="18" y="457"/>
                    </a:lnTo>
                    <a:lnTo>
                      <a:pt x="43" y="450"/>
                    </a:lnTo>
                    <a:lnTo>
                      <a:pt x="31" y="438"/>
                    </a:lnTo>
                    <a:lnTo>
                      <a:pt x="104" y="358"/>
                    </a:lnTo>
                    <a:lnTo>
                      <a:pt x="277" y="362"/>
                    </a:lnTo>
                    <a:lnTo>
                      <a:pt x="463" y="453"/>
                    </a:lnTo>
                    <a:lnTo>
                      <a:pt x="202" y="445"/>
                    </a:lnTo>
                    <a:lnTo>
                      <a:pt x="279" y="450"/>
                    </a:lnTo>
                    <a:lnTo>
                      <a:pt x="355" y="476"/>
                    </a:lnTo>
                    <a:lnTo>
                      <a:pt x="547" y="466"/>
                    </a:lnTo>
                    <a:lnTo>
                      <a:pt x="659" y="466"/>
                    </a:lnTo>
                    <a:lnTo>
                      <a:pt x="544" y="457"/>
                    </a:lnTo>
                    <a:lnTo>
                      <a:pt x="544" y="406"/>
                    </a:lnTo>
                    <a:lnTo>
                      <a:pt x="412" y="261"/>
                    </a:lnTo>
                    <a:lnTo>
                      <a:pt x="297" y="209"/>
                    </a:lnTo>
                    <a:lnTo>
                      <a:pt x="407" y="270"/>
                    </a:lnTo>
                    <a:lnTo>
                      <a:pt x="477" y="371"/>
                    </a:lnTo>
                    <a:lnTo>
                      <a:pt x="477" y="443"/>
                    </a:lnTo>
                    <a:lnTo>
                      <a:pt x="277" y="350"/>
                    </a:lnTo>
                    <a:lnTo>
                      <a:pt x="191" y="335"/>
                    </a:lnTo>
                    <a:lnTo>
                      <a:pt x="94" y="298"/>
                    </a:lnTo>
                    <a:lnTo>
                      <a:pt x="67" y="247"/>
                    </a:lnTo>
                    <a:lnTo>
                      <a:pt x="97" y="218"/>
                    </a:lnTo>
                    <a:lnTo>
                      <a:pt x="97" y="178"/>
                    </a:lnTo>
                    <a:lnTo>
                      <a:pt x="144" y="164"/>
                    </a:lnTo>
                    <a:lnTo>
                      <a:pt x="202" y="178"/>
                    </a:lnTo>
                    <a:lnTo>
                      <a:pt x="171" y="145"/>
                    </a:lnTo>
                    <a:lnTo>
                      <a:pt x="191" y="118"/>
                    </a:lnTo>
                    <a:lnTo>
                      <a:pt x="279" y="106"/>
                    </a:lnTo>
                    <a:lnTo>
                      <a:pt x="479" y="32"/>
                    </a:lnTo>
                    <a:lnTo>
                      <a:pt x="645"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5" name="Freeform 75"/>
              <p:cNvSpPr>
                <a:spLocks/>
              </p:cNvSpPr>
              <p:nvPr/>
            </p:nvSpPr>
            <p:spPr bwMode="auto">
              <a:xfrm>
                <a:off x="1200" y="1071"/>
                <a:ext cx="696" cy="259"/>
              </a:xfrm>
              <a:custGeom>
                <a:avLst/>
                <a:gdLst>
                  <a:gd name="T0" fmla="*/ 115 w 696"/>
                  <a:gd name="T1" fmla="*/ 0 h 259"/>
                  <a:gd name="T2" fmla="*/ 22 w 696"/>
                  <a:gd name="T3" fmla="*/ 43 h 259"/>
                  <a:gd name="T4" fmla="*/ 22 w 696"/>
                  <a:gd name="T5" fmla="*/ 99 h 259"/>
                  <a:gd name="T6" fmla="*/ 140 w 696"/>
                  <a:gd name="T7" fmla="*/ 192 h 259"/>
                  <a:gd name="T8" fmla="*/ 393 w 696"/>
                  <a:gd name="T9" fmla="*/ 175 h 259"/>
                  <a:gd name="T10" fmla="*/ 506 w 696"/>
                  <a:gd name="T11" fmla="*/ 223 h 259"/>
                  <a:gd name="T12" fmla="*/ 598 w 696"/>
                  <a:gd name="T13" fmla="*/ 220 h 259"/>
                  <a:gd name="T14" fmla="*/ 609 w 696"/>
                  <a:gd name="T15" fmla="*/ 127 h 259"/>
                  <a:gd name="T16" fmla="*/ 695 w 696"/>
                  <a:gd name="T17" fmla="*/ 35 h 259"/>
                  <a:gd name="T18" fmla="*/ 643 w 696"/>
                  <a:gd name="T19" fmla="*/ 114 h 259"/>
                  <a:gd name="T20" fmla="*/ 643 w 696"/>
                  <a:gd name="T21" fmla="*/ 192 h 259"/>
                  <a:gd name="T22" fmla="*/ 672 w 696"/>
                  <a:gd name="T23" fmla="*/ 258 h 259"/>
                  <a:gd name="T24" fmla="*/ 499 w 696"/>
                  <a:gd name="T25" fmla="*/ 251 h 259"/>
                  <a:gd name="T26" fmla="*/ 337 w 696"/>
                  <a:gd name="T27" fmla="*/ 233 h 259"/>
                  <a:gd name="T28" fmla="*/ 158 w 696"/>
                  <a:gd name="T29" fmla="*/ 233 h 259"/>
                  <a:gd name="T30" fmla="*/ 79 w 696"/>
                  <a:gd name="T31" fmla="*/ 183 h 259"/>
                  <a:gd name="T32" fmla="*/ 0 w 696"/>
                  <a:gd name="T33" fmla="*/ 94 h 259"/>
                  <a:gd name="T34" fmla="*/ 4 w 696"/>
                  <a:gd name="T35" fmla="*/ 28 h 259"/>
                  <a:gd name="T36" fmla="*/ 115 w 696"/>
                  <a:gd name="T37" fmla="*/ 0 h 2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96" h="259">
                    <a:moveTo>
                      <a:pt x="115" y="0"/>
                    </a:moveTo>
                    <a:lnTo>
                      <a:pt x="22" y="43"/>
                    </a:lnTo>
                    <a:lnTo>
                      <a:pt x="22" y="99"/>
                    </a:lnTo>
                    <a:lnTo>
                      <a:pt x="140" y="192"/>
                    </a:lnTo>
                    <a:lnTo>
                      <a:pt x="393" y="175"/>
                    </a:lnTo>
                    <a:lnTo>
                      <a:pt x="506" y="223"/>
                    </a:lnTo>
                    <a:lnTo>
                      <a:pt x="598" y="220"/>
                    </a:lnTo>
                    <a:lnTo>
                      <a:pt x="609" y="127"/>
                    </a:lnTo>
                    <a:lnTo>
                      <a:pt x="695" y="35"/>
                    </a:lnTo>
                    <a:lnTo>
                      <a:pt x="643" y="114"/>
                    </a:lnTo>
                    <a:lnTo>
                      <a:pt x="643" y="192"/>
                    </a:lnTo>
                    <a:lnTo>
                      <a:pt x="672" y="258"/>
                    </a:lnTo>
                    <a:lnTo>
                      <a:pt x="499" y="251"/>
                    </a:lnTo>
                    <a:lnTo>
                      <a:pt x="337" y="233"/>
                    </a:lnTo>
                    <a:lnTo>
                      <a:pt x="158" y="233"/>
                    </a:lnTo>
                    <a:lnTo>
                      <a:pt x="79" y="183"/>
                    </a:lnTo>
                    <a:lnTo>
                      <a:pt x="0" y="94"/>
                    </a:lnTo>
                    <a:lnTo>
                      <a:pt x="4" y="28"/>
                    </a:lnTo>
                    <a:lnTo>
                      <a:pt x="115"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6" name="Freeform 76"/>
              <p:cNvSpPr>
                <a:spLocks/>
              </p:cNvSpPr>
              <p:nvPr/>
            </p:nvSpPr>
            <p:spPr bwMode="auto">
              <a:xfrm>
                <a:off x="2414" y="905"/>
                <a:ext cx="131" cy="132"/>
              </a:xfrm>
              <a:custGeom>
                <a:avLst/>
                <a:gdLst>
                  <a:gd name="T0" fmla="*/ 0 w 131"/>
                  <a:gd name="T1" fmla="*/ 122 h 132"/>
                  <a:gd name="T2" fmla="*/ 58 w 131"/>
                  <a:gd name="T3" fmla="*/ 75 h 132"/>
                  <a:gd name="T4" fmla="*/ 121 w 131"/>
                  <a:gd name="T5" fmla="*/ 0 h 132"/>
                  <a:gd name="T6" fmla="*/ 130 w 131"/>
                  <a:gd name="T7" fmla="*/ 23 h 132"/>
                  <a:gd name="T8" fmla="*/ 72 w 131"/>
                  <a:gd name="T9" fmla="*/ 85 h 132"/>
                  <a:gd name="T10" fmla="*/ 20 w 131"/>
                  <a:gd name="T11" fmla="*/ 131 h 132"/>
                  <a:gd name="T12" fmla="*/ 0 w 131"/>
                  <a:gd name="T13" fmla="*/ 122 h 1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1" h="132">
                    <a:moveTo>
                      <a:pt x="0" y="122"/>
                    </a:moveTo>
                    <a:lnTo>
                      <a:pt x="58" y="75"/>
                    </a:lnTo>
                    <a:lnTo>
                      <a:pt x="121" y="0"/>
                    </a:lnTo>
                    <a:lnTo>
                      <a:pt x="130" y="23"/>
                    </a:lnTo>
                    <a:lnTo>
                      <a:pt x="72" y="85"/>
                    </a:lnTo>
                    <a:lnTo>
                      <a:pt x="20" y="131"/>
                    </a:lnTo>
                    <a:lnTo>
                      <a:pt x="0" y="12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7" name="Freeform 77"/>
              <p:cNvSpPr>
                <a:spLocks/>
              </p:cNvSpPr>
              <p:nvPr/>
            </p:nvSpPr>
            <p:spPr bwMode="auto">
              <a:xfrm>
                <a:off x="1959" y="741"/>
                <a:ext cx="534" cy="348"/>
              </a:xfrm>
              <a:custGeom>
                <a:avLst/>
                <a:gdLst>
                  <a:gd name="T0" fmla="*/ 533 w 534"/>
                  <a:gd name="T1" fmla="*/ 347 h 348"/>
                  <a:gd name="T2" fmla="*/ 477 w 534"/>
                  <a:gd name="T3" fmla="*/ 279 h 348"/>
                  <a:gd name="T4" fmla="*/ 261 w 534"/>
                  <a:gd name="T5" fmla="*/ 215 h 348"/>
                  <a:gd name="T6" fmla="*/ 142 w 534"/>
                  <a:gd name="T7" fmla="*/ 150 h 348"/>
                  <a:gd name="T8" fmla="*/ 38 w 534"/>
                  <a:gd name="T9" fmla="*/ 61 h 348"/>
                  <a:gd name="T10" fmla="*/ 0 w 534"/>
                  <a:gd name="T11" fmla="*/ 0 h 348"/>
                  <a:gd name="T12" fmla="*/ 47 w 534"/>
                  <a:gd name="T13" fmla="*/ 93 h 348"/>
                  <a:gd name="T14" fmla="*/ 180 w 534"/>
                  <a:gd name="T15" fmla="*/ 199 h 348"/>
                  <a:gd name="T16" fmla="*/ 353 w 534"/>
                  <a:gd name="T17" fmla="*/ 272 h 348"/>
                  <a:gd name="T18" fmla="*/ 470 w 534"/>
                  <a:gd name="T19" fmla="*/ 312 h 348"/>
                  <a:gd name="T20" fmla="*/ 499 w 534"/>
                  <a:gd name="T21" fmla="*/ 342 h 348"/>
                  <a:gd name="T22" fmla="*/ 533 w 534"/>
                  <a:gd name="T23" fmla="*/ 347 h 3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34" h="348">
                    <a:moveTo>
                      <a:pt x="533" y="347"/>
                    </a:moveTo>
                    <a:lnTo>
                      <a:pt x="477" y="279"/>
                    </a:lnTo>
                    <a:lnTo>
                      <a:pt x="261" y="215"/>
                    </a:lnTo>
                    <a:lnTo>
                      <a:pt x="142" y="150"/>
                    </a:lnTo>
                    <a:lnTo>
                      <a:pt x="38" y="61"/>
                    </a:lnTo>
                    <a:lnTo>
                      <a:pt x="0" y="0"/>
                    </a:lnTo>
                    <a:lnTo>
                      <a:pt x="47" y="93"/>
                    </a:lnTo>
                    <a:lnTo>
                      <a:pt x="180" y="199"/>
                    </a:lnTo>
                    <a:lnTo>
                      <a:pt x="353" y="272"/>
                    </a:lnTo>
                    <a:lnTo>
                      <a:pt x="470" y="312"/>
                    </a:lnTo>
                    <a:lnTo>
                      <a:pt x="499" y="342"/>
                    </a:lnTo>
                    <a:lnTo>
                      <a:pt x="533" y="347"/>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8" name="Freeform 78"/>
              <p:cNvSpPr>
                <a:spLocks/>
              </p:cNvSpPr>
              <p:nvPr/>
            </p:nvSpPr>
            <p:spPr bwMode="auto">
              <a:xfrm>
                <a:off x="1888" y="961"/>
                <a:ext cx="169" cy="156"/>
              </a:xfrm>
              <a:custGeom>
                <a:avLst/>
                <a:gdLst>
                  <a:gd name="T0" fmla="*/ 7 w 169"/>
                  <a:gd name="T1" fmla="*/ 140 h 156"/>
                  <a:gd name="T2" fmla="*/ 43 w 169"/>
                  <a:gd name="T3" fmla="*/ 103 h 156"/>
                  <a:gd name="T4" fmla="*/ 121 w 169"/>
                  <a:gd name="T5" fmla="*/ 78 h 156"/>
                  <a:gd name="T6" fmla="*/ 150 w 169"/>
                  <a:gd name="T7" fmla="*/ 0 h 156"/>
                  <a:gd name="T8" fmla="*/ 168 w 169"/>
                  <a:gd name="T9" fmla="*/ 26 h 156"/>
                  <a:gd name="T10" fmla="*/ 159 w 169"/>
                  <a:gd name="T11" fmla="*/ 66 h 156"/>
                  <a:gd name="T12" fmla="*/ 126 w 169"/>
                  <a:gd name="T13" fmla="*/ 103 h 156"/>
                  <a:gd name="T14" fmla="*/ 58 w 169"/>
                  <a:gd name="T15" fmla="*/ 117 h 156"/>
                  <a:gd name="T16" fmla="*/ 0 w 169"/>
                  <a:gd name="T17" fmla="*/ 155 h 156"/>
                  <a:gd name="T18" fmla="*/ 7 w 169"/>
                  <a:gd name="T19" fmla="*/ 140 h 1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9" h="156">
                    <a:moveTo>
                      <a:pt x="7" y="140"/>
                    </a:moveTo>
                    <a:lnTo>
                      <a:pt x="43" y="103"/>
                    </a:lnTo>
                    <a:lnTo>
                      <a:pt x="121" y="78"/>
                    </a:lnTo>
                    <a:lnTo>
                      <a:pt x="150" y="0"/>
                    </a:lnTo>
                    <a:lnTo>
                      <a:pt x="168" y="26"/>
                    </a:lnTo>
                    <a:lnTo>
                      <a:pt x="159" y="66"/>
                    </a:lnTo>
                    <a:lnTo>
                      <a:pt x="126" y="103"/>
                    </a:lnTo>
                    <a:lnTo>
                      <a:pt x="58" y="117"/>
                    </a:lnTo>
                    <a:lnTo>
                      <a:pt x="0" y="155"/>
                    </a:lnTo>
                    <a:lnTo>
                      <a:pt x="7" y="14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9" name="Freeform 79"/>
              <p:cNvSpPr>
                <a:spLocks/>
              </p:cNvSpPr>
              <p:nvPr/>
            </p:nvSpPr>
            <p:spPr bwMode="auto">
              <a:xfrm>
                <a:off x="1838" y="961"/>
                <a:ext cx="703" cy="348"/>
              </a:xfrm>
              <a:custGeom>
                <a:avLst/>
                <a:gdLst>
                  <a:gd name="T0" fmla="*/ 234 w 703"/>
                  <a:gd name="T1" fmla="*/ 0 h 348"/>
                  <a:gd name="T2" fmla="*/ 301 w 703"/>
                  <a:gd name="T3" fmla="*/ 23 h 348"/>
                  <a:gd name="T4" fmla="*/ 311 w 703"/>
                  <a:gd name="T5" fmla="*/ 58 h 348"/>
                  <a:gd name="T6" fmla="*/ 304 w 703"/>
                  <a:gd name="T7" fmla="*/ 82 h 348"/>
                  <a:gd name="T8" fmla="*/ 277 w 703"/>
                  <a:gd name="T9" fmla="*/ 108 h 348"/>
                  <a:gd name="T10" fmla="*/ 277 w 703"/>
                  <a:gd name="T11" fmla="*/ 127 h 348"/>
                  <a:gd name="T12" fmla="*/ 311 w 703"/>
                  <a:gd name="T13" fmla="*/ 133 h 348"/>
                  <a:gd name="T14" fmla="*/ 396 w 703"/>
                  <a:gd name="T15" fmla="*/ 133 h 348"/>
                  <a:gd name="T16" fmla="*/ 596 w 703"/>
                  <a:gd name="T17" fmla="*/ 124 h 348"/>
                  <a:gd name="T18" fmla="*/ 625 w 703"/>
                  <a:gd name="T19" fmla="*/ 122 h 348"/>
                  <a:gd name="T20" fmla="*/ 680 w 703"/>
                  <a:gd name="T21" fmla="*/ 131 h 348"/>
                  <a:gd name="T22" fmla="*/ 702 w 703"/>
                  <a:gd name="T23" fmla="*/ 153 h 348"/>
                  <a:gd name="T24" fmla="*/ 702 w 703"/>
                  <a:gd name="T25" fmla="*/ 185 h 348"/>
                  <a:gd name="T26" fmla="*/ 659 w 703"/>
                  <a:gd name="T27" fmla="*/ 199 h 348"/>
                  <a:gd name="T28" fmla="*/ 500 w 703"/>
                  <a:gd name="T29" fmla="*/ 199 h 348"/>
                  <a:gd name="T30" fmla="*/ 396 w 703"/>
                  <a:gd name="T31" fmla="*/ 209 h 348"/>
                  <a:gd name="T32" fmla="*/ 410 w 703"/>
                  <a:gd name="T33" fmla="*/ 232 h 348"/>
                  <a:gd name="T34" fmla="*/ 396 w 703"/>
                  <a:gd name="T35" fmla="*/ 258 h 348"/>
                  <a:gd name="T36" fmla="*/ 382 w 703"/>
                  <a:gd name="T37" fmla="*/ 267 h 348"/>
                  <a:gd name="T38" fmla="*/ 382 w 703"/>
                  <a:gd name="T39" fmla="*/ 297 h 348"/>
                  <a:gd name="T40" fmla="*/ 335 w 703"/>
                  <a:gd name="T41" fmla="*/ 312 h 348"/>
                  <a:gd name="T42" fmla="*/ 324 w 703"/>
                  <a:gd name="T43" fmla="*/ 330 h 348"/>
                  <a:gd name="T44" fmla="*/ 247 w 703"/>
                  <a:gd name="T45" fmla="*/ 344 h 348"/>
                  <a:gd name="T46" fmla="*/ 115 w 703"/>
                  <a:gd name="T47" fmla="*/ 347 h 348"/>
                  <a:gd name="T48" fmla="*/ 0 w 703"/>
                  <a:gd name="T49" fmla="*/ 324 h 348"/>
                  <a:gd name="T50" fmla="*/ 133 w 703"/>
                  <a:gd name="T51" fmla="*/ 335 h 348"/>
                  <a:gd name="T52" fmla="*/ 243 w 703"/>
                  <a:gd name="T53" fmla="*/ 335 h 348"/>
                  <a:gd name="T54" fmla="*/ 284 w 703"/>
                  <a:gd name="T55" fmla="*/ 324 h 348"/>
                  <a:gd name="T56" fmla="*/ 293 w 703"/>
                  <a:gd name="T57" fmla="*/ 302 h 348"/>
                  <a:gd name="T58" fmla="*/ 328 w 703"/>
                  <a:gd name="T59" fmla="*/ 293 h 348"/>
                  <a:gd name="T60" fmla="*/ 331 w 703"/>
                  <a:gd name="T61" fmla="*/ 258 h 348"/>
                  <a:gd name="T62" fmla="*/ 346 w 703"/>
                  <a:gd name="T63" fmla="*/ 234 h 348"/>
                  <a:gd name="T64" fmla="*/ 338 w 703"/>
                  <a:gd name="T65" fmla="*/ 209 h 348"/>
                  <a:gd name="T66" fmla="*/ 475 w 703"/>
                  <a:gd name="T67" fmla="*/ 192 h 348"/>
                  <a:gd name="T68" fmla="*/ 648 w 703"/>
                  <a:gd name="T69" fmla="*/ 190 h 348"/>
                  <a:gd name="T70" fmla="*/ 673 w 703"/>
                  <a:gd name="T71" fmla="*/ 176 h 348"/>
                  <a:gd name="T72" fmla="*/ 670 w 703"/>
                  <a:gd name="T73" fmla="*/ 142 h 348"/>
                  <a:gd name="T74" fmla="*/ 634 w 703"/>
                  <a:gd name="T75" fmla="*/ 135 h 348"/>
                  <a:gd name="T76" fmla="*/ 576 w 703"/>
                  <a:gd name="T77" fmla="*/ 133 h 348"/>
                  <a:gd name="T78" fmla="*/ 396 w 703"/>
                  <a:gd name="T79" fmla="*/ 140 h 348"/>
                  <a:gd name="T80" fmla="*/ 301 w 703"/>
                  <a:gd name="T81" fmla="*/ 140 h 348"/>
                  <a:gd name="T82" fmla="*/ 248 w 703"/>
                  <a:gd name="T83" fmla="*/ 131 h 348"/>
                  <a:gd name="T84" fmla="*/ 274 w 703"/>
                  <a:gd name="T85" fmla="*/ 103 h 348"/>
                  <a:gd name="T86" fmla="*/ 293 w 703"/>
                  <a:gd name="T87" fmla="*/ 58 h 348"/>
                  <a:gd name="T88" fmla="*/ 284 w 703"/>
                  <a:gd name="T89" fmla="*/ 26 h 348"/>
                  <a:gd name="T90" fmla="*/ 234 w 703"/>
                  <a:gd name="T91" fmla="*/ 0 h 34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703" h="348">
                    <a:moveTo>
                      <a:pt x="234" y="0"/>
                    </a:moveTo>
                    <a:lnTo>
                      <a:pt x="301" y="23"/>
                    </a:lnTo>
                    <a:lnTo>
                      <a:pt x="311" y="58"/>
                    </a:lnTo>
                    <a:lnTo>
                      <a:pt x="304" y="82"/>
                    </a:lnTo>
                    <a:lnTo>
                      <a:pt x="277" y="108"/>
                    </a:lnTo>
                    <a:lnTo>
                      <a:pt x="277" y="127"/>
                    </a:lnTo>
                    <a:lnTo>
                      <a:pt x="311" y="133"/>
                    </a:lnTo>
                    <a:lnTo>
                      <a:pt x="396" y="133"/>
                    </a:lnTo>
                    <a:lnTo>
                      <a:pt x="596" y="124"/>
                    </a:lnTo>
                    <a:lnTo>
                      <a:pt x="625" y="122"/>
                    </a:lnTo>
                    <a:lnTo>
                      <a:pt x="680" y="131"/>
                    </a:lnTo>
                    <a:lnTo>
                      <a:pt x="702" y="153"/>
                    </a:lnTo>
                    <a:lnTo>
                      <a:pt x="702" y="185"/>
                    </a:lnTo>
                    <a:lnTo>
                      <a:pt x="659" y="199"/>
                    </a:lnTo>
                    <a:lnTo>
                      <a:pt x="500" y="199"/>
                    </a:lnTo>
                    <a:lnTo>
                      <a:pt x="396" y="209"/>
                    </a:lnTo>
                    <a:lnTo>
                      <a:pt x="410" y="232"/>
                    </a:lnTo>
                    <a:lnTo>
                      <a:pt x="396" y="258"/>
                    </a:lnTo>
                    <a:lnTo>
                      <a:pt x="382" y="267"/>
                    </a:lnTo>
                    <a:lnTo>
                      <a:pt x="382" y="297"/>
                    </a:lnTo>
                    <a:lnTo>
                      <a:pt x="335" y="312"/>
                    </a:lnTo>
                    <a:lnTo>
                      <a:pt x="324" y="330"/>
                    </a:lnTo>
                    <a:lnTo>
                      <a:pt x="247" y="344"/>
                    </a:lnTo>
                    <a:lnTo>
                      <a:pt x="115" y="347"/>
                    </a:lnTo>
                    <a:lnTo>
                      <a:pt x="0" y="324"/>
                    </a:lnTo>
                    <a:lnTo>
                      <a:pt x="133" y="335"/>
                    </a:lnTo>
                    <a:lnTo>
                      <a:pt x="243" y="335"/>
                    </a:lnTo>
                    <a:lnTo>
                      <a:pt x="284" y="324"/>
                    </a:lnTo>
                    <a:lnTo>
                      <a:pt x="293" y="302"/>
                    </a:lnTo>
                    <a:lnTo>
                      <a:pt x="328" y="293"/>
                    </a:lnTo>
                    <a:lnTo>
                      <a:pt x="331" y="258"/>
                    </a:lnTo>
                    <a:lnTo>
                      <a:pt x="346" y="234"/>
                    </a:lnTo>
                    <a:lnTo>
                      <a:pt x="338" y="209"/>
                    </a:lnTo>
                    <a:lnTo>
                      <a:pt x="475" y="192"/>
                    </a:lnTo>
                    <a:lnTo>
                      <a:pt x="648" y="190"/>
                    </a:lnTo>
                    <a:lnTo>
                      <a:pt x="673" y="176"/>
                    </a:lnTo>
                    <a:lnTo>
                      <a:pt x="670" y="142"/>
                    </a:lnTo>
                    <a:lnTo>
                      <a:pt x="634" y="135"/>
                    </a:lnTo>
                    <a:lnTo>
                      <a:pt x="576" y="133"/>
                    </a:lnTo>
                    <a:lnTo>
                      <a:pt x="396" y="140"/>
                    </a:lnTo>
                    <a:lnTo>
                      <a:pt x="301" y="140"/>
                    </a:lnTo>
                    <a:lnTo>
                      <a:pt x="248" y="131"/>
                    </a:lnTo>
                    <a:lnTo>
                      <a:pt x="274" y="103"/>
                    </a:lnTo>
                    <a:lnTo>
                      <a:pt x="293" y="58"/>
                    </a:lnTo>
                    <a:lnTo>
                      <a:pt x="284" y="26"/>
                    </a:lnTo>
                    <a:lnTo>
                      <a:pt x="234"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0" name="Freeform 80"/>
              <p:cNvSpPr>
                <a:spLocks/>
              </p:cNvSpPr>
              <p:nvPr/>
            </p:nvSpPr>
            <p:spPr bwMode="auto">
              <a:xfrm>
                <a:off x="1849" y="713"/>
                <a:ext cx="97" cy="106"/>
              </a:xfrm>
              <a:custGeom>
                <a:avLst/>
                <a:gdLst>
                  <a:gd name="T0" fmla="*/ 4 w 97"/>
                  <a:gd name="T1" fmla="*/ 0 h 106"/>
                  <a:gd name="T2" fmla="*/ 0 w 97"/>
                  <a:gd name="T3" fmla="*/ 58 h 106"/>
                  <a:gd name="T4" fmla="*/ 14 w 97"/>
                  <a:gd name="T5" fmla="*/ 92 h 106"/>
                  <a:gd name="T6" fmla="*/ 39 w 97"/>
                  <a:gd name="T7" fmla="*/ 89 h 106"/>
                  <a:gd name="T8" fmla="*/ 41 w 97"/>
                  <a:gd name="T9" fmla="*/ 105 h 106"/>
                  <a:gd name="T10" fmla="*/ 96 w 97"/>
                  <a:gd name="T11" fmla="*/ 83 h 106"/>
                  <a:gd name="T12" fmla="*/ 46 w 97"/>
                  <a:gd name="T13" fmla="*/ 83 h 106"/>
                  <a:gd name="T14" fmla="*/ 18 w 97"/>
                  <a:gd name="T15" fmla="*/ 84 h 106"/>
                  <a:gd name="T16" fmla="*/ 9 w 97"/>
                  <a:gd name="T17" fmla="*/ 63 h 106"/>
                  <a:gd name="T18" fmla="*/ 9 w 97"/>
                  <a:gd name="T19" fmla="*/ 35 h 106"/>
                  <a:gd name="T20" fmla="*/ 4 w 97"/>
                  <a:gd name="T21" fmla="*/ 0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7" h="106">
                    <a:moveTo>
                      <a:pt x="4" y="0"/>
                    </a:moveTo>
                    <a:lnTo>
                      <a:pt x="0" y="58"/>
                    </a:lnTo>
                    <a:lnTo>
                      <a:pt x="14" y="92"/>
                    </a:lnTo>
                    <a:lnTo>
                      <a:pt x="39" y="89"/>
                    </a:lnTo>
                    <a:lnTo>
                      <a:pt x="41" y="105"/>
                    </a:lnTo>
                    <a:lnTo>
                      <a:pt x="96" y="83"/>
                    </a:lnTo>
                    <a:lnTo>
                      <a:pt x="46" y="83"/>
                    </a:lnTo>
                    <a:lnTo>
                      <a:pt x="18" y="84"/>
                    </a:lnTo>
                    <a:lnTo>
                      <a:pt x="9" y="63"/>
                    </a:lnTo>
                    <a:lnTo>
                      <a:pt x="9" y="35"/>
                    </a:lnTo>
                    <a:lnTo>
                      <a:pt x="4"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1" name="Freeform 81"/>
              <p:cNvSpPr>
                <a:spLocks/>
              </p:cNvSpPr>
              <p:nvPr/>
            </p:nvSpPr>
            <p:spPr bwMode="auto">
              <a:xfrm>
                <a:off x="1924" y="854"/>
                <a:ext cx="540" cy="230"/>
              </a:xfrm>
              <a:custGeom>
                <a:avLst/>
                <a:gdLst>
                  <a:gd name="T0" fmla="*/ 11 w 540"/>
                  <a:gd name="T1" fmla="*/ 0 h 230"/>
                  <a:gd name="T2" fmla="*/ 0 w 540"/>
                  <a:gd name="T3" fmla="*/ 8 h 230"/>
                  <a:gd name="T4" fmla="*/ 63 w 540"/>
                  <a:gd name="T5" fmla="*/ 61 h 230"/>
                  <a:gd name="T6" fmla="*/ 148 w 540"/>
                  <a:gd name="T7" fmla="*/ 101 h 230"/>
                  <a:gd name="T8" fmla="*/ 252 w 540"/>
                  <a:gd name="T9" fmla="*/ 152 h 230"/>
                  <a:gd name="T10" fmla="*/ 442 w 540"/>
                  <a:gd name="T11" fmla="*/ 197 h 230"/>
                  <a:gd name="T12" fmla="*/ 505 w 540"/>
                  <a:gd name="T13" fmla="*/ 211 h 230"/>
                  <a:gd name="T14" fmla="*/ 539 w 540"/>
                  <a:gd name="T15" fmla="*/ 229 h 230"/>
                  <a:gd name="T16" fmla="*/ 512 w 540"/>
                  <a:gd name="T17" fmla="*/ 206 h 230"/>
                  <a:gd name="T18" fmla="*/ 310 w 540"/>
                  <a:gd name="T19" fmla="*/ 157 h 230"/>
                  <a:gd name="T20" fmla="*/ 209 w 540"/>
                  <a:gd name="T21" fmla="*/ 117 h 230"/>
                  <a:gd name="T22" fmla="*/ 90 w 540"/>
                  <a:gd name="T23" fmla="*/ 54 h 230"/>
                  <a:gd name="T24" fmla="*/ 27 w 540"/>
                  <a:gd name="T25" fmla="*/ 8 h 230"/>
                  <a:gd name="T26" fmla="*/ 11 w 540"/>
                  <a:gd name="T27" fmla="*/ 0 h 2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40" h="230">
                    <a:moveTo>
                      <a:pt x="11" y="0"/>
                    </a:moveTo>
                    <a:lnTo>
                      <a:pt x="0" y="8"/>
                    </a:lnTo>
                    <a:lnTo>
                      <a:pt x="63" y="61"/>
                    </a:lnTo>
                    <a:lnTo>
                      <a:pt x="148" y="101"/>
                    </a:lnTo>
                    <a:lnTo>
                      <a:pt x="252" y="152"/>
                    </a:lnTo>
                    <a:lnTo>
                      <a:pt x="442" y="197"/>
                    </a:lnTo>
                    <a:lnTo>
                      <a:pt x="505" y="211"/>
                    </a:lnTo>
                    <a:lnTo>
                      <a:pt x="539" y="229"/>
                    </a:lnTo>
                    <a:lnTo>
                      <a:pt x="512" y="206"/>
                    </a:lnTo>
                    <a:lnTo>
                      <a:pt x="310" y="157"/>
                    </a:lnTo>
                    <a:lnTo>
                      <a:pt x="209" y="117"/>
                    </a:lnTo>
                    <a:lnTo>
                      <a:pt x="90" y="54"/>
                    </a:lnTo>
                    <a:lnTo>
                      <a:pt x="27" y="8"/>
                    </a:lnTo>
                    <a:lnTo>
                      <a:pt x="11"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2" name="Freeform 82"/>
              <p:cNvSpPr>
                <a:spLocks/>
              </p:cNvSpPr>
              <p:nvPr/>
            </p:nvSpPr>
            <p:spPr bwMode="auto">
              <a:xfrm>
                <a:off x="2111" y="741"/>
                <a:ext cx="369" cy="108"/>
              </a:xfrm>
              <a:custGeom>
                <a:avLst/>
                <a:gdLst>
                  <a:gd name="T0" fmla="*/ 0 w 369"/>
                  <a:gd name="T1" fmla="*/ 107 h 108"/>
                  <a:gd name="T2" fmla="*/ 54 w 369"/>
                  <a:gd name="T3" fmla="*/ 13 h 108"/>
                  <a:gd name="T4" fmla="*/ 188 w 369"/>
                  <a:gd name="T5" fmla="*/ 0 h 108"/>
                  <a:gd name="T6" fmla="*/ 303 w 369"/>
                  <a:gd name="T7" fmla="*/ 23 h 108"/>
                  <a:gd name="T8" fmla="*/ 368 w 369"/>
                  <a:gd name="T9" fmla="*/ 68 h 108"/>
                  <a:gd name="T10" fmla="*/ 260 w 369"/>
                  <a:gd name="T11" fmla="*/ 23 h 108"/>
                  <a:gd name="T12" fmla="*/ 220 w 369"/>
                  <a:gd name="T13" fmla="*/ 87 h 108"/>
                  <a:gd name="T14" fmla="*/ 220 w 369"/>
                  <a:gd name="T15" fmla="*/ 13 h 108"/>
                  <a:gd name="T16" fmla="*/ 162 w 369"/>
                  <a:gd name="T17" fmla="*/ 11 h 108"/>
                  <a:gd name="T18" fmla="*/ 90 w 369"/>
                  <a:gd name="T19" fmla="*/ 20 h 108"/>
                  <a:gd name="T20" fmla="*/ 157 w 369"/>
                  <a:gd name="T21" fmla="*/ 87 h 108"/>
                  <a:gd name="T22" fmla="*/ 61 w 369"/>
                  <a:gd name="T23" fmla="*/ 33 h 108"/>
                  <a:gd name="T24" fmla="*/ 0 w 369"/>
                  <a:gd name="T25" fmla="*/ 107 h 1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69" h="108">
                    <a:moveTo>
                      <a:pt x="0" y="107"/>
                    </a:moveTo>
                    <a:lnTo>
                      <a:pt x="54" y="13"/>
                    </a:lnTo>
                    <a:lnTo>
                      <a:pt x="188" y="0"/>
                    </a:lnTo>
                    <a:lnTo>
                      <a:pt x="303" y="23"/>
                    </a:lnTo>
                    <a:lnTo>
                      <a:pt x="368" y="68"/>
                    </a:lnTo>
                    <a:lnTo>
                      <a:pt x="260" y="23"/>
                    </a:lnTo>
                    <a:lnTo>
                      <a:pt x="220" y="87"/>
                    </a:lnTo>
                    <a:lnTo>
                      <a:pt x="220" y="13"/>
                    </a:lnTo>
                    <a:lnTo>
                      <a:pt x="162" y="11"/>
                    </a:lnTo>
                    <a:lnTo>
                      <a:pt x="90" y="20"/>
                    </a:lnTo>
                    <a:lnTo>
                      <a:pt x="157" y="87"/>
                    </a:lnTo>
                    <a:lnTo>
                      <a:pt x="61" y="33"/>
                    </a:lnTo>
                    <a:lnTo>
                      <a:pt x="0" y="107"/>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3" name="Freeform 83"/>
              <p:cNvSpPr>
                <a:spLocks/>
              </p:cNvSpPr>
              <p:nvPr/>
            </p:nvSpPr>
            <p:spPr bwMode="auto">
              <a:xfrm>
                <a:off x="2292" y="828"/>
                <a:ext cx="196" cy="172"/>
              </a:xfrm>
              <a:custGeom>
                <a:avLst/>
                <a:gdLst>
                  <a:gd name="T0" fmla="*/ 40 w 196"/>
                  <a:gd name="T1" fmla="*/ 0 h 172"/>
                  <a:gd name="T2" fmla="*/ 0 w 196"/>
                  <a:gd name="T3" fmla="*/ 0 h 172"/>
                  <a:gd name="T4" fmla="*/ 0 w 196"/>
                  <a:gd name="T5" fmla="*/ 153 h 172"/>
                  <a:gd name="T6" fmla="*/ 47 w 196"/>
                  <a:gd name="T7" fmla="*/ 171 h 172"/>
                  <a:gd name="T8" fmla="*/ 43 w 196"/>
                  <a:gd name="T9" fmla="*/ 138 h 172"/>
                  <a:gd name="T10" fmla="*/ 16 w 196"/>
                  <a:gd name="T11" fmla="*/ 84 h 172"/>
                  <a:gd name="T12" fmla="*/ 40 w 196"/>
                  <a:gd name="T13" fmla="*/ 11 h 172"/>
                  <a:gd name="T14" fmla="*/ 188 w 196"/>
                  <a:gd name="T15" fmla="*/ 155 h 172"/>
                  <a:gd name="T16" fmla="*/ 195 w 196"/>
                  <a:gd name="T17" fmla="*/ 140 h 172"/>
                  <a:gd name="T18" fmla="*/ 51 w 196"/>
                  <a:gd name="T19" fmla="*/ 4 h 172"/>
                  <a:gd name="T20" fmla="*/ 40 w 196"/>
                  <a:gd name="T21" fmla="*/ 0 h 17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6" h="172">
                    <a:moveTo>
                      <a:pt x="40" y="0"/>
                    </a:moveTo>
                    <a:lnTo>
                      <a:pt x="0" y="0"/>
                    </a:lnTo>
                    <a:lnTo>
                      <a:pt x="0" y="153"/>
                    </a:lnTo>
                    <a:lnTo>
                      <a:pt x="47" y="171"/>
                    </a:lnTo>
                    <a:lnTo>
                      <a:pt x="43" y="138"/>
                    </a:lnTo>
                    <a:lnTo>
                      <a:pt x="16" y="84"/>
                    </a:lnTo>
                    <a:lnTo>
                      <a:pt x="40" y="11"/>
                    </a:lnTo>
                    <a:lnTo>
                      <a:pt x="188" y="155"/>
                    </a:lnTo>
                    <a:lnTo>
                      <a:pt x="195" y="140"/>
                    </a:lnTo>
                    <a:lnTo>
                      <a:pt x="51" y="4"/>
                    </a:lnTo>
                    <a:lnTo>
                      <a:pt x="40"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4" name="Freeform 84"/>
              <p:cNvSpPr>
                <a:spLocks/>
              </p:cNvSpPr>
              <p:nvPr/>
            </p:nvSpPr>
            <p:spPr bwMode="auto">
              <a:xfrm>
                <a:off x="2492" y="1152"/>
                <a:ext cx="53" cy="107"/>
              </a:xfrm>
              <a:custGeom>
                <a:avLst/>
                <a:gdLst>
                  <a:gd name="T0" fmla="*/ 18 w 53"/>
                  <a:gd name="T1" fmla="*/ 0 h 107"/>
                  <a:gd name="T2" fmla="*/ 52 w 53"/>
                  <a:gd name="T3" fmla="*/ 64 h 107"/>
                  <a:gd name="T4" fmla="*/ 52 w 53"/>
                  <a:gd name="T5" fmla="*/ 106 h 107"/>
                  <a:gd name="T6" fmla="*/ 0 w 53"/>
                  <a:gd name="T7" fmla="*/ 6 h 107"/>
                  <a:gd name="T8" fmla="*/ 18 w 53"/>
                  <a:gd name="T9" fmla="*/ 0 h 1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07">
                    <a:moveTo>
                      <a:pt x="18" y="0"/>
                    </a:moveTo>
                    <a:lnTo>
                      <a:pt x="52" y="64"/>
                    </a:lnTo>
                    <a:lnTo>
                      <a:pt x="52" y="106"/>
                    </a:lnTo>
                    <a:lnTo>
                      <a:pt x="0" y="6"/>
                    </a:lnTo>
                    <a:lnTo>
                      <a:pt x="18"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5" name="Freeform 85"/>
              <p:cNvSpPr>
                <a:spLocks/>
              </p:cNvSpPr>
              <p:nvPr/>
            </p:nvSpPr>
            <p:spPr bwMode="auto">
              <a:xfrm>
                <a:off x="1625" y="1307"/>
                <a:ext cx="848" cy="290"/>
              </a:xfrm>
              <a:custGeom>
                <a:avLst/>
                <a:gdLst>
                  <a:gd name="T0" fmla="*/ 74 w 848"/>
                  <a:gd name="T1" fmla="*/ 12 h 290"/>
                  <a:gd name="T2" fmla="*/ 65 w 848"/>
                  <a:gd name="T3" fmla="*/ 82 h 290"/>
                  <a:gd name="T4" fmla="*/ 0 w 848"/>
                  <a:gd name="T5" fmla="*/ 157 h 290"/>
                  <a:gd name="T6" fmla="*/ 74 w 848"/>
                  <a:gd name="T7" fmla="*/ 198 h 290"/>
                  <a:gd name="T8" fmla="*/ 254 w 848"/>
                  <a:gd name="T9" fmla="*/ 219 h 290"/>
                  <a:gd name="T10" fmla="*/ 249 w 848"/>
                  <a:gd name="T11" fmla="*/ 289 h 290"/>
                  <a:gd name="T12" fmla="*/ 278 w 848"/>
                  <a:gd name="T13" fmla="*/ 248 h 290"/>
                  <a:gd name="T14" fmla="*/ 283 w 848"/>
                  <a:gd name="T15" fmla="*/ 216 h 290"/>
                  <a:gd name="T16" fmla="*/ 732 w 848"/>
                  <a:gd name="T17" fmla="*/ 164 h 290"/>
                  <a:gd name="T18" fmla="*/ 847 w 848"/>
                  <a:gd name="T19" fmla="*/ 108 h 290"/>
                  <a:gd name="T20" fmla="*/ 710 w 848"/>
                  <a:gd name="T21" fmla="*/ 161 h 290"/>
                  <a:gd name="T22" fmla="*/ 371 w 848"/>
                  <a:gd name="T23" fmla="*/ 189 h 290"/>
                  <a:gd name="T24" fmla="*/ 97 w 848"/>
                  <a:gd name="T25" fmla="*/ 189 h 290"/>
                  <a:gd name="T26" fmla="*/ 25 w 848"/>
                  <a:gd name="T27" fmla="*/ 155 h 290"/>
                  <a:gd name="T28" fmla="*/ 81 w 848"/>
                  <a:gd name="T29" fmla="*/ 82 h 290"/>
                  <a:gd name="T30" fmla="*/ 92 w 848"/>
                  <a:gd name="T31" fmla="*/ 0 h 290"/>
                  <a:gd name="T32" fmla="*/ 74 w 848"/>
                  <a:gd name="T33" fmla="*/ 12 h 29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48" h="290">
                    <a:moveTo>
                      <a:pt x="74" y="12"/>
                    </a:moveTo>
                    <a:lnTo>
                      <a:pt x="65" y="82"/>
                    </a:lnTo>
                    <a:lnTo>
                      <a:pt x="0" y="157"/>
                    </a:lnTo>
                    <a:lnTo>
                      <a:pt x="74" y="198"/>
                    </a:lnTo>
                    <a:lnTo>
                      <a:pt x="254" y="219"/>
                    </a:lnTo>
                    <a:lnTo>
                      <a:pt x="249" y="289"/>
                    </a:lnTo>
                    <a:lnTo>
                      <a:pt x="278" y="248"/>
                    </a:lnTo>
                    <a:lnTo>
                      <a:pt x="283" y="216"/>
                    </a:lnTo>
                    <a:lnTo>
                      <a:pt x="732" y="164"/>
                    </a:lnTo>
                    <a:lnTo>
                      <a:pt x="847" y="108"/>
                    </a:lnTo>
                    <a:lnTo>
                      <a:pt x="710" y="161"/>
                    </a:lnTo>
                    <a:lnTo>
                      <a:pt x="371" y="189"/>
                    </a:lnTo>
                    <a:lnTo>
                      <a:pt x="97" y="189"/>
                    </a:lnTo>
                    <a:lnTo>
                      <a:pt x="25" y="155"/>
                    </a:lnTo>
                    <a:lnTo>
                      <a:pt x="81" y="82"/>
                    </a:lnTo>
                    <a:lnTo>
                      <a:pt x="92" y="0"/>
                    </a:lnTo>
                    <a:lnTo>
                      <a:pt x="74" y="1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6" name="Freeform 86"/>
              <p:cNvSpPr>
                <a:spLocks/>
              </p:cNvSpPr>
              <p:nvPr/>
            </p:nvSpPr>
            <p:spPr bwMode="auto">
              <a:xfrm>
                <a:off x="2508" y="441"/>
                <a:ext cx="900" cy="198"/>
              </a:xfrm>
              <a:custGeom>
                <a:avLst/>
                <a:gdLst>
                  <a:gd name="T0" fmla="*/ 731 w 900"/>
                  <a:gd name="T1" fmla="*/ 47 h 198"/>
                  <a:gd name="T2" fmla="*/ 584 w 900"/>
                  <a:gd name="T3" fmla="*/ 53 h 198"/>
                  <a:gd name="T4" fmla="*/ 344 w 900"/>
                  <a:gd name="T5" fmla="*/ 82 h 198"/>
                  <a:gd name="T6" fmla="*/ 159 w 900"/>
                  <a:gd name="T7" fmla="*/ 109 h 198"/>
                  <a:gd name="T8" fmla="*/ 72 w 900"/>
                  <a:gd name="T9" fmla="*/ 121 h 198"/>
                  <a:gd name="T10" fmla="*/ 20 w 900"/>
                  <a:gd name="T11" fmla="*/ 126 h 198"/>
                  <a:gd name="T12" fmla="*/ 0 w 900"/>
                  <a:gd name="T13" fmla="*/ 149 h 198"/>
                  <a:gd name="T14" fmla="*/ 4 w 900"/>
                  <a:gd name="T15" fmla="*/ 179 h 198"/>
                  <a:gd name="T16" fmla="*/ 34 w 900"/>
                  <a:gd name="T17" fmla="*/ 197 h 198"/>
                  <a:gd name="T18" fmla="*/ 11 w 900"/>
                  <a:gd name="T19" fmla="*/ 174 h 198"/>
                  <a:gd name="T20" fmla="*/ 20 w 900"/>
                  <a:gd name="T21" fmla="*/ 144 h 198"/>
                  <a:gd name="T22" fmla="*/ 67 w 900"/>
                  <a:gd name="T23" fmla="*/ 129 h 198"/>
                  <a:gd name="T24" fmla="*/ 108 w 900"/>
                  <a:gd name="T25" fmla="*/ 140 h 198"/>
                  <a:gd name="T26" fmla="*/ 128 w 900"/>
                  <a:gd name="T27" fmla="*/ 165 h 198"/>
                  <a:gd name="T28" fmla="*/ 108 w 900"/>
                  <a:gd name="T29" fmla="*/ 185 h 198"/>
                  <a:gd name="T30" fmla="*/ 72 w 900"/>
                  <a:gd name="T31" fmla="*/ 182 h 198"/>
                  <a:gd name="T32" fmla="*/ 49 w 900"/>
                  <a:gd name="T33" fmla="*/ 168 h 198"/>
                  <a:gd name="T34" fmla="*/ 56 w 900"/>
                  <a:gd name="T35" fmla="*/ 190 h 198"/>
                  <a:gd name="T36" fmla="*/ 90 w 900"/>
                  <a:gd name="T37" fmla="*/ 197 h 198"/>
                  <a:gd name="T38" fmla="*/ 148 w 900"/>
                  <a:gd name="T39" fmla="*/ 197 h 198"/>
                  <a:gd name="T40" fmla="*/ 209 w 900"/>
                  <a:gd name="T41" fmla="*/ 194 h 198"/>
                  <a:gd name="T42" fmla="*/ 313 w 900"/>
                  <a:gd name="T43" fmla="*/ 162 h 198"/>
                  <a:gd name="T44" fmla="*/ 447 w 900"/>
                  <a:gd name="T45" fmla="*/ 129 h 198"/>
                  <a:gd name="T46" fmla="*/ 569 w 900"/>
                  <a:gd name="T47" fmla="*/ 105 h 198"/>
                  <a:gd name="T48" fmla="*/ 710 w 900"/>
                  <a:gd name="T49" fmla="*/ 87 h 198"/>
                  <a:gd name="T50" fmla="*/ 699 w 900"/>
                  <a:gd name="T51" fmla="*/ 118 h 198"/>
                  <a:gd name="T52" fmla="*/ 735 w 900"/>
                  <a:gd name="T53" fmla="*/ 147 h 198"/>
                  <a:gd name="T54" fmla="*/ 798 w 900"/>
                  <a:gd name="T55" fmla="*/ 157 h 198"/>
                  <a:gd name="T56" fmla="*/ 872 w 900"/>
                  <a:gd name="T57" fmla="*/ 135 h 198"/>
                  <a:gd name="T58" fmla="*/ 899 w 900"/>
                  <a:gd name="T59" fmla="*/ 80 h 198"/>
                  <a:gd name="T60" fmla="*/ 881 w 900"/>
                  <a:gd name="T61" fmla="*/ 37 h 198"/>
                  <a:gd name="T62" fmla="*/ 791 w 900"/>
                  <a:gd name="T63" fmla="*/ 0 h 198"/>
                  <a:gd name="T64" fmla="*/ 721 w 900"/>
                  <a:gd name="T65" fmla="*/ 5 h 198"/>
                  <a:gd name="T66" fmla="*/ 670 w 900"/>
                  <a:gd name="T67" fmla="*/ 31 h 198"/>
                  <a:gd name="T68" fmla="*/ 731 w 900"/>
                  <a:gd name="T69" fmla="*/ 12 h 198"/>
                  <a:gd name="T70" fmla="*/ 784 w 900"/>
                  <a:gd name="T71" fmla="*/ 7 h 198"/>
                  <a:gd name="T72" fmla="*/ 868 w 900"/>
                  <a:gd name="T73" fmla="*/ 45 h 198"/>
                  <a:gd name="T74" fmla="*/ 885 w 900"/>
                  <a:gd name="T75" fmla="*/ 77 h 198"/>
                  <a:gd name="T76" fmla="*/ 850 w 900"/>
                  <a:gd name="T77" fmla="*/ 133 h 198"/>
                  <a:gd name="T78" fmla="*/ 787 w 900"/>
                  <a:gd name="T79" fmla="*/ 149 h 198"/>
                  <a:gd name="T80" fmla="*/ 739 w 900"/>
                  <a:gd name="T81" fmla="*/ 140 h 198"/>
                  <a:gd name="T82" fmla="*/ 713 w 900"/>
                  <a:gd name="T83" fmla="*/ 116 h 198"/>
                  <a:gd name="T84" fmla="*/ 728 w 900"/>
                  <a:gd name="T85" fmla="*/ 60 h 198"/>
                  <a:gd name="T86" fmla="*/ 704 w 900"/>
                  <a:gd name="T87" fmla="*/ 82 h 198"/>
                  <a:gd name="T88" fmla="*/ 504 w 900"/>
                  <a:gd name="T89" fmla="*/ 107 h 198"/>
                  <a:gd name="T90" fmla="*/ 294 w 900"/>
                  <a:gd name="T91" fmla="*/ 157 h 198"/>
                  <a:gd name="T92" fmla="*/ 180 w 900"/>
                  <a:gd name="T93" fmla="*/ 189 h 198"/>
                  <a:gd name="T94" fmla="*/ 123 w 900"/>
                  <a:gd name="T95" fmla="*/ 189 h 198"/>
                  <a:gd name="T96" fmla="*/ 144 w 900"/>
                  <a:gd name="T97" fmla="*/ 167 h 198"/>
                  <a:gd name="T98" fmla="*/ 137 w 900"/>
                  <a:gd name="T99" fmla="*/ 137 h 198"/>
                  <a:gd name="T100" fmla="*/ 101 w 900"/>
                  <a:gd name="T101" fmla="*/ 125 h 198"/>
                  <a:gd name="T102" fmla="*/ 393 w 900"/>
                  <a:gd name="T103" fmla="*/ 82 h 198"/>
                  <a:gd name="T104" fmla="*/ 613 w 900"/>
                  <a:gd name="T105" fmla="*/ 55 h 198"/>
                  <a:gd name="T106" fmla="*/ 731 w 900"/>
                  <a:gd name="T107" fmla="*/ 47 h 19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00" h="198">
                    <a:moveTo>
                      <a:pt x="731" y="47"/>
                    </a:moveTo>
                    <a:lnTo>
                      <a:pt x="584" y="53"/>
                    </a:lnTo>
                    <a:lnTo>
                      <a:pt x="344" y="82"/>
                    </a:lnTo>
                    <a:lnTo>
                      <a:pt x="159" y="109"/>
                    </a:lnTo>
                    <a:lnTo>
                      <a:pt x="72" y="121"/>
                    </a:lnTo>
                    <a:lnTo>
                      <a:pt x="20" y="126"/>
                    </a:lnTo>
                    <a:lnTo>
                      <a:pt x="0" y="149"/>
                    </a:lnTo>
                    <a:lnTo>
                      <a:pt x="4" y="179"/>
                    </a:lnTo>
                    <a:lnTo>
                      <a:pt x="34" y="197"/>
                    </a:lnTo>
                    <a:lnTo>
                      <a:pt x="11" y="174"/>
                    </a:lnTo>
                    <a:lnTo>
                      <a:pt x="20" y="144"/>
                    </a:lnTo>
                    <a:lnTo>
                      <a:pt x="67" y="129"/>
                    </a:lnTo>
                    <a:lnTo>
                      <a:pt x="108" y="140"/>
                    </a:lnTo>
                    <a:lnTo>
                      <a:pt x="128" y="165"/>
                    </a:lnTo>
                    <a:lnTo>
                      <a:pt x="108" y="185"/>
                    </a:lnTo>
                    <a:lnTo>
                      <a:pt x="72" y="182"/>
                    </a:lnTo>
                    <a:lnTo>
                      <a:pt x="49" y="168"/>
                    </a:lnTo>
                    <a:lnTo>
                      <a:pt x="56" y="190"/>
                    </a:lnTo>
                    <a:lnTo>
                      <a:pt x="90" y="197"/>
                    </a:lnTo>
                    <a:lnTo>
                      <a:pt x="148" y="197"/>
                    </a:lnTo>
                    <a:lnTo>
                      <a:pt x="209" y="194"/>
                    </a:lnTo>
                    <a:lnTo>
                      <a:pt x="313" y="162"/>
                    </a:lnTo>
                    <a:lnTo>
                      <a:pt x="447" y="129"/>
                    </a:lnTo>
                    <a:lnTo>
                      <a:pt x="569" y="105"/>
                    </a:lnTo>
                    <a:lnTo>
                      <a:pt x="710" y="87"/>
                    </a:lnTo>
                    <a:lnTo>
                      <a:pt x="699" y="118"/>
                    </a:lnTo>
                    <a:lnTo>
                      <a:pt x="735" y="147"/>
                    </a:lnTo>
                    <a:lnTo>
                      <a:pt x="798" y="157"/>
                    </a:lnTo>
                    <a:lnTo>
                      <a:pt x="872" y="135"/>
                    </a:lnTo>
                    <a:lnTo>
                      <a:pt x="899" y="80"/>
                    </a:lnTo>
                    <a:lnTo>
                      <a:pt x="881" y="37"/>
                    </a:lnTo>
                    <a:lnTo>
                      <a:pt x="791" y="0"/>
                    </a:lnTo>
                    <a:lnTo>
                      <a:pt x="721" y="5"/>
                    </a:lnTo>
                    <a:lnTo>
                      <a:pt x="670" y="31"/>
                    </a:lnTo>
                    <a:lnTo>
                      <a:pt x="731" y="12"/>
                    </a:lnTo>
                    <a:lnTo>
                      <a:pt x="784" y="7"/>
                    </a:lnTo>
                    <a:lnTo>
                      <a:pt x="868" y="45"/>
                    </a:lnTo>
                    <a:lnTo>
                      <a:pt x="885" y="77"/>
                    </a:lnTo>
                    <a:lnTo>
                      <a:pt x="850" y="133"/>
                    </a:lnTo>
                    <a:lnTo>
                      <a:pt x="787" y="149"/>
                    </a:lnTo>
                    <a:lnTo>
                      <a:pt x="739" y="140"/>
                    </a:lnTo>
                    <a:lnTo>
                      <a:pt x="713" y="116"/>
                    </a:lnTo>
                    <a:lnTo>
                      <a:pt x="728" y="60"/>
                    </a:lnTo>
                    <a:lnTo>
                      <a:pt x="704" y="82"/>
                    </a:lnTo>
                    <a:lnTo>
                      <a:pt x="504" y="107"/>
                    </a:lnTo>
                    <a:lnTo>
                      <a:pt x="294" y="157"/>
                    </a:lnTo>
                    <a:lnTo>
                      <a:pt x="180" y="189"/>
                    </a:lnTo>
                    <a:lnTo>
                      <a:pt x="123" y="189"/>
                    </a:lnTo>
                    <a:lnTo>
                      <a:pt x="144" y="167"/>
                    </a:lnTo>
                    <a:lnTo>
                      <a:pt x="137" y="137"/>
                    </a:lnTo>
                    <a:lnTo>
                      <a:pt x="101" y="125"/>
                    </a:lnTo>
                    <a:lnTo>
                      <a:pt x="393" y="82"/>
                    </a:lnTo>
                    <a:lnTo>
                      <a:pt x="613" y="55"/>
                    </a:lnTo>
                    <a:lnTo>
                      <a:pt x="731" y="47"/>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7" name="Freeform 87"/>
              <p:cNvSpPr>
                <a:spLocks/>
              </p:cNvSpPr>
              <p:nvPr/>
            </p:nvSpPr>
            <p:spPr bwMode="auto">
              <a:xfrm>
                <a:off x="3323" y="441"/>
                <a:ext cx="253" cy="95"/>
              </a:xfrm>
              <a:custGeom>
                <a:avLst/>
                <a:gdLst>
                  <a:gd name="T0" fmla="*/ 0 w 253"/>
                  <a:gd name="T1" fmla="*/ 8 h 95"/>
                  <a:gd name="T2" fmla="*/ 63 w 253"/>
                  <a:gd name="T3" fmla="*/ 0 h 95"/>
                  <a:gd name="T4" fmla="*/ 137 w 253"/>
                  <a:gd name="T5" fmla="*/ 7 h 95"/>
                  <a:gd name="T6" fmla="*/ 209 w 253"/>
                  <a:gd name="T7" fmla="*/ 8 h 95"/>
                  <a:gd name="T8" fmla="*/ 252 w 253"/>
                  <a:gd name="T9" fmla="*/ 65 h 95"/>
                  <a:gd name="T10" fmla="*/ 178 w 253"/>
                  <a:gd name="T11" fmla="*/ 94 h 95"/>
                  <a:gd name="T12" fmla="*/ 238 w 253"/>
                  <a:gd name="T13" fmla="*/ 62 h 95"/>
                  <a:gd name="T14" fmla="*/ 194 w 253"/>
                  <a:gd name="T15" fmla="*/ 18 h 95"/>
                  <a:gd name="T16" fmla="*/ 151 w 253"/>
                  <a:gd name="T17" fmla="*/ 18 h 95"/>
                  <a:gd name="T18" fmla="*/ 173 w 253"/>
                  <a:gd name="T19" fmla="*/ 51 h 95"/>
                  <a:gd name="T20" fmla="*/ 99 w 253"/>
                  <a:gd name="T21" fmla="*/ 8 h 95"/>
                  <a:gd name="T22" fmla="*/ 0 w 253"/>
                  <a:gd name="T23" fmla="*/ 8 h 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53" h="95">
                    <a:moveTo>
                      <a:pt x="0" y="8"/>
                    </a:moveTo>
                    <a:lnTo>
                      <a:pt x="63" y="0"/>
                    </a:lnTo>
                    <a:lnTo>
                      <a:pt x="137" y="7"/>
                    </a:lnTo>
                    <a:lnTo>
                      <a:pt x="209" y="8"/>
                    </a:lnTo>
                    <a:lnTo>
                      <a:pt x="252" y="65"/>
                    </a:lnTo>
                    <a:lnTo>
                      <a:pt x="178" y="94"/>
                    </a:lnTo>
                    <a:lnTo>
                      <a:pt x="238" y="62"/>
                    </a:lnTo>
                    <a:lnTo>
                      <a:pt x="194" y="18"/>
                    </a:lnTo>
                    <a:lnTo>
                      <a:pt x="151" y="18"/>
                    </a:lnTo>
                    <a:lnTo>
                      <a:pt x="173" y="51"/>
                    </a:lnTo>
                    <a:lnTo>
                      <a:pt x="99" y="8"/>
                    </a:lnTo>
                    <a:lnTo>
                      <a:pt x="0" y="8"/>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8" name="Freeform 88"/>
              <p:cNvSpPr>
                <a:spLocks/>
              </p:cNvSpPr>
              <p:nvPr/>
            </p:nvSpPr>
            <p:spPr bwMode="auto">
              <a:xfrm>
                <a:off x="3380" y="506"/>
                <a:ext cx="116" cy="69"/>
              </a:xfrm>
              <a:custGeom>
                <a:avLst/>
                <a:gdLst>
                  <a:gd name="T0" fmla="*/ 115 w 116"/>
                  <a:gd name="T1" fmla="*/ 0 h 69"/>
                  <a:gd name="T2" fmla="*/ 79 w 116"/>
                  <a:gd name="T3" fmla="*/ 57 h 69"/>
                  <a:gd name="T4" fmla="*/ 5 w 116"/>
                  <a:gd name="T5" fmla="*/ 53 h 69"/>
                  <a:gd name="T6" fmla="*/ 0 w 116"/>
                  <a:gd name="T7" fmla="*/ 61 h 69"/>
                  <a:gd name="T8" fmla="*/ 65 w 116"/>
                  <a:gd name="T9" fmla="*/ 68 h 69"/>
                  <a:gd name="T10" fmla="*/ 115 w 116"/>
                  <a:gd name="T11" fmla="*/ 51 h 69"/>
                  <a:gd name="T12" fmla="*/ 115 w 116"/>
                  <a:gd name="T13" fmla="*/ 0 h 6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6" h="69">
                    <a:moveTo>
                      <a:pt x="115" y="0"/>
                    </a:moveTo>
                    <a:lnTo>
                      <a:pt x="79" y="57"/>
                    </a:lnTo>
                    <a:lnTo>
                      <a:pt x="5" y="53"/>
                    </a:lnTo>
                    <a:lnTo>
                      <a:pt x="0" y="61"/>
                    </a:lnTo>
                    <a:lnTo>
                      <a:pt x="65" y="68"/>
                    </a:lnTo>
                    <a:lnTo>
                      <a:pt x="115" y="51"/>
                    </a:lnTo>
                    <a:lnTo>
                      <a:pt x="115"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9" name="Freeform 89"/>
              <p:cNvSpPr>
                <a:spLocks/>
              </p:cNvSpPr>
              <p:nvPr/>
            </p:nvSpPr>
            <p:spPr bwMode="auto">
              <a:xfrm>
                <a:off x="3041" y="446"/>
                <a:ext cx="158" cy="54"/>
              </a:xfrm>
              <a:custGeom>
                <a:avLst/>
                <a:gdLst>
                  <a:gd name="T0" fmla="*/ 13 w 158"/>
                  <a:gd name="T1" fmla="*/ 53 h 54"/>
                  <a:gd name="T2" fmla="*/ 0 w 158"/>
                  <a:gd name="T3" fmla="*/ 7 h 54"/>
                  <a:gd name="T4" fmla="*/ 42 w 158"/>
                  <a:gd name="T5" fmla="*/ 0 h 54"/>
                  <a:gd name="T6" fmla="*/ 112 w 158"/>
                  <a:gd name="T7" fmla="*/ 2 h 54"/>
                  <a:gd name="T8" fmla="*/ 150 w 158"/>
                  <a:gd name="T9" fmla="*/ 25 h 54"/>
                  <a:gd name="T10" fmla="*/ 157 w 158"/>
                  <a:gd name="T11" fmla="*/ 46 h 54"/>
                  <a:gd name="T12" fmla="*/ 128 w 158"/>
                  <a:gd name="T13" fmla="*/ 46 h 54"/>
                  <a:gd name="T14" fmla="*/ 115 w 158"/>
                  <a:gd name="T15" fmla="*/ 20 h 54"/>
                  <a:gd name="T16" fmla="*/ 79 w 158"/>
                  <a:gd name="T17" fmla="*/ 8 h 54"/>
                  <a:gd name="T18" fmla="*/ 32 w 158"/>
                  <a:gd name="T19" fmla="*/ 7 h 54"/>
                  <a:gd name="T20" fmla="*/ 7 w 158"/>
                  <a:gd name="T21" fmla="*/ 10 h 54"/>
                  <a:gd name="T22" fmla="*/ 25 w 158"/>
                  <a:gd name="T23" fmla="*/ 53 h 54"/>
                  <a:gd name="T24" fmla="*/ 13 w 158"/>
                  <a:gd name="T25" fmla="*/ 53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8" h="54">
                    <a:moveTo>
                      <a:pt x="13" y="53"/>
                    </a:moveTo>
                    <a:lnTo>
                      <a:pt x="0" y="7"/>
                    </a:lnTo>
                    <a:lnTo>
                      <a:pt x="42" y="0"/>
                    </a:lnTo>
                    <a:lnTo>
                      <a:pt x="112" y="2"/>
                    </a:lnTo>
                    <a:lnTo>
                      <a:pt x="150" y="25"/>
                    </a:lnTo>
                    <a:lnTo>
                      <a:pt x="157" y="46"/>
                    </a:lnTo>
                    <a:lnTo>
                      <a:pt x="128" y="46"/>
                    </a:lnTo>
                    <a:lnTo>
                      <a:pt x="115" y="20"/>
                    </a:lnTo>
                    <a:lnTo>
                      <a:pt x="79" y="8"/>
                    </a:lnTo>
                    <a:lnTo>
                      <a:pt x="32" y="7"/>
                    </a:lnTo>
                    <a:lnTo>
                      <a:pt x="7" y="10"/>
                    </a:lnTo>
                    <a:lnTo>
                      <a:pt x="25" y="53"/>
                    </a:lnTo>
                    <a:lnTo>
                      <a:pt x="13" y="5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0" name="Freeform 90"/>
              <p:cNvSpPr>
                <a:spLocks/>
              </p:cNvSpPr>
              <p:nvPr/>
            </p:nvSpPr>
            <p:spPr bwMode="auto">
              <a:xfrm>
                <a:off x="3531" y="486"/>
                <a:ext cx="761" cy="291"/>
              </a:xfrm>
              <a:custGeom>
                <a:avLst/>
                <a:gdLst>
                  <a:gd name="T0" fmla="*/ 29 w 761"/>
                  <a:gd name="T1" fmla="*/ 0 h 291"/>
                  <a:gd name="T2" fmla="*/ 169 w 761"/>
                  <a:gd name="T3" fmla="*/ 6 h 291"/>
                  <a:gd name="T4" fmla="*/ 324 w 761"/>
                  <a:gd name="T5" fmla="*/ 28 h 291"/>
                  <a:gd name="T6" fmla="*/ 582 w 761"/>
                  <a:gd name="T7" fmla="*/ 80 h 291"/>
                  <a:gd name="T8" fmla="*/ 753 w 761"/>
                  <a:gd name="T9" fmla="*/ 120 h 291"/>
                  <a:gd name="T10" fmla="*/ 760 w 761"/>
                  <a:gd name="T11" fmla="*/ 140 h 291"/>
                  <a:gd name="T12" fmla="*/ 747 w 761"/>
                  <a:gd name="T13" fmla="*/ 209 h 291"/>
                  <a:gd name="T14" fmla="*/ 724 w 761"/>
                  <a:gd name="T15" fmla="*/ 290 h 291"/>
                  <a:gd name="T16" fmla="*/ 747 w 761"/>
                  <a:gd name="T17" fmla="*/ 145 h 291"/>
                  <a:gd name="T18" fmla="*/ 735 w 761"/>
                  <a:gd name="T19" fmla="*/ 123 h 291"/>
                  <a:gd name="T20" fmla="*/ 692 w 761"/>
                  <a:gd name="T21" fmla="*/ 112 h 291"/>
                  <a:gd name="T22" fmla="*/ 654 w 761"/>
                  <a:gd name="T23" fmla="*/ 125 h 291"/>
                  <a:gd name="T24" fmla="*/ 638 w 761"/>
                  <a:gd name="T25" fmla="*/ 150 h 291"/>
                  <a:gd name="T26" fmla="*/ 648 w 761"/>
                  <a:gd name="T27" fmla="*/ 170 h 291"/>
                  <a:gd name="T28" fmla="*/ 670 w 761"/>
                  <a:gd name="T29" fmla="*/ 170 h 291"/>
                  <a:gd name="T30" fmla="*/ 708 w 761"/>
                  <a:gd name="T31" fmla="*/ 161 h 291"/>
                  <a:gd name="T32" fmla="*/ 713 w 761"/>
                  <a:gd name="T33" fmla="*/ 142 h 291"/>
                  <a:gd name="T34" fmla="*/ 719 w 761"/>
                  <a:gd name="T35" fmla="*/ 161 h 291"/>
                  <a:gd name="T36" fmla="*/ 677 w 761"/>
                  <a:gd name="T37" fmla="*/ 182 h 291"/>
                  <a:gd name="T38" fmla="*/ 625 w 761"/>
                  <a:gd name="T39" fmla="*/ 182 h 291"/>
                  <a:gd name="T40" fmla="*/ 580 w 761"/>
                  <a:gd name="T41" fmla="*/ 170 h 291"/>
                  <a:gd name="T42" fmla="*/ 317 w 761"/>
                  <a:gd name="T43" fmla="*/ 99 h 291"/>
                  <a:gd name="T44" fmla="*/ 137 w 761"/>
                  <a:gd name="T45" fmla="*/ 55 h 291"/>
                  <a:gd name="T46" fmla="*/ 32 w 761"/>
                  <a:gd name="T47" fmla="*/ 37 h 291"/>
                  <a:gd name="T48" fmla="*/ 0 w 761"/>
                  <a:gd name="T49" fmla="*/ 35 h 291"/>
                  <a:gd name="T50" fmla="*/ 22 w 761"/>
                  <a:gd name="T51" fmla="*/ 27 h 291"/>
                  <a:gd name="T52" fmla="*/ 117 w 761"/>
                  <a:gd name="T53" fmla="*/ 39 h 291"/>
                  <a:gd name="T54" fmla="*/ 281 w 761"/>
                  <a:gd name="T55" fmla="*/ 77 h 291"/>
                  <a:gd name="T56" fmla="*/ 463 w 761"/>
                  <a:gd name="T57" fmla="*/ 125 h 291"/>
                  <a:gd name="T58" fmla="*/ 630 w 761"/>
                  <a:gd name="T59" fmla="*/ 172 h 291"/>
                  <a:gd name="T60" fmla="*/ 618 w 761"/>
                  <a:gd name="T61" fmla="*/ 150 h 291"/>
                  <a:gd name="T62" fmla="*/ 627 w 761"/>
                  <a:gd name="T63" fmla="*/ 125 h 291"/>
                  <a:gd name="T64" fmla="*/ 670 w 761"/>
                  <a:gd name="T65" fmla="*/ 108 h 291"/>
                  <a:gd name="T66" fmla="*/ 475 w 761"/>
                  <a:gd name="T67" fmla="*/ 64 h 291"/>
                  <a:gd name="T68" fmla="*/ 288 w 761"/>
                  <a:gd name="T69" fmla="*/ 28 h 291"/>
                  <a:gd name="T70" fmla="*/ 166 w 761"/>
                  <a:gd name="T71" fmla="*/ 10 h 291"/>
                  <a:gd name="T72" fmla="*/ 25 w 761"/>
                  <a:gd name="T73" fmla="*/ 2 h 291"/>
                  <a:gd name="T74" fmla="*/ 29 w 761"/>
                  <a:gd name="T75" fmla="*/ 0 h 2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761" h="291">
                    <a:moveTo>
                      <a:pt x="29" y="0"/>
                    </a:moveTo>
                    <a:lnTo>
                      <a:pt x="169" y="6"/>
                    </a:lnTo>
                    <a:lnTo>
                      <a:pt x="324" y="28"/>
                    </a:lnTo>
                    <a:lnTo>
                      <a:pt x="582" y="80"/>
                    </a:lnTo>
                    <a:lnTo>
                      <a:pt x="753" y="120"/>
                    </a:lnTo>
                    <a:lnTo>
                      <a:pt x="760" y="140"/>
                    </a:lnTo>
                    <a:lnTo>
                      <a:pt x="747" y="209"/>
                    </a:lnTo>
                    <a:lnTo>
                      <a:pt x="724" y="290"/>
                    </a:lnTo>
                    <a:lnTo>
                      <a:pt x="747" y="145"/>
                    </a:lnTo>
                    <a:lnTo>
                      <a:pt x="735" y="123"/>
                    </a:lnTo>
                    <a:lnTo>
                      <a:pt x="692" y="112"/>
                    </a:lnTo>
                    <a:lnTo>
                      <a:pt x="654" y="125"/>
                    </a:lnTo>
                    <a:lnTo>
                      <a:pt x="638" y="150"/>
                    </a:lnTo>
                    <a:lnTo>
                      <a:pt x="648" y="170"/>
                    </a:lnTo>
                    <a:lnTo>
                      <a:pt x="670" y="170"/>
                    </a:lnTo>
                    <a:lnTo>
                      <a:pt x="708" y="161"/>
                    </a:lnTo>
                    <a:lnTo>
                      <a:pt x="713" y="142"/>
                    </a:lnTo>
                    <a:lnTo>
                      <a:pt x="719" y="161"/>
                    </a:lnTo>
                    <a:lnTo>
                      <a:pt x="677" y="182"/>
                    </a:lnTo>
                    <a:lnTo>
                      <a:pt x="625" y="182"/>
                    </a:lnTo>
                    <a:lnTo>
                      <a:pt x="580" y="170"/>
                    </a:lnTo>
                    <a:lnTo>
                      <a:pt x="317" y="99"/>
                    </a:lnTo>
                    <a:lnTo>
                      <a:pt x="137" y="55"/>
                    </a:lnTo>
                    <a:lnTo>
                      <a:pt x="32" y="37"/>
                    </a:lnTo>
                    <a:lnTo>
                      <a:pt x="0" y="35"/>
                    </a:lnTo>
                    <a:lnTo>
                      <a:pt x="22" y="27"/>
                    </a:lnTo>
                    <a:lnTo>
                      <a:pt x="117" y="39"/>
                    </a:lnTo>
                    <a:lnTo>
                      <a:pt x="281" y="77"/>
                    </a:lnTo>
                    <a:lnTo>
                      <a:pt x="463" y="125"/>
                    </a:lnTo>
                    <a:lnTo>
                      <a:pt x="630" y="172"/>
                    </a:lnTo>
                    <a:lnTo>
                      <a:pt x="618" y="150"/>
                    </a:lnTo>
                    <a:lnTo>
                      <a:pt x="627" y="125"/>
                    </a:lnTo>
                    <a:lnTo>
                      <a:pt x="670" y="108"/>
                    </a:lnTo>
                    <a:lnTo>
                      <a:pt x="475" y="64"/>
                    </a:lnTo>
                    <a:lnTo>
                      <a:pt x="288" y="28"/>
                    </a:lnTo>
                    <a:lnTo>
                      <a:pt x="166" y="10"/>
                    </a:lnTo>
                    <a:lnTo>
                      <a:pt x="25" y="2"/>
                    </a:lnTo>
                    <a:lnTo>
                      <a:pt x="29"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1" name="Freeform 91"/>
              <p:cNvSpPr>
                <a:spLocks/>
              </p:cNvSpPr>
              <p:nvPr/>
            </p:nvSpPr>
            <p:spPr bwMode="auto">
              <a:xfrm>
                <a:off x="2508" y="603"/>
                <a:ext cx="1807" cy="1030"/>
              </a:xfrm>
              <a:custGeom>
                <a:avLst/>
                <a:gdLst>
                  <a:gd name="T0" fmla="*/ 11 w 1807"/>
                  <a:gd name="T1" fmla="*/ 3 h 1030"/>
                  <a:gd name="T2" fmla="*/ 43 w 1807"/>
                  <a:gd name="T3" fmla="*/ 45 h 1030"/>
                  <a:gd name="T4" fmla="*/ 56 w 1807"/>
                  <a:gd name="T5" fmla="*/ 149 h 1030"/>
                  <a:gd name="T6" fmla="*/ 61 w 1807"/>
                  <a:gd name="T7" fmla="*/ 307 h 1030"/>
                  <a:gd name="T8" fmla="*/ 56 w 1807"/>
                  <a:gd name="T9" fmla="*/ 520 h 1030"/>
                  <a:gd name="T10" fmla="*/ 50 w 1807"/>
                  <a:gd name="T11" fmla="*/ 688 h 1030"/>
                  <a:gd name="T12" fmla="*/ 36 w 1807"/>
                  <a:gd name="T13" fmla="*/ 887 h 1030"/>
                  <a:gd name="T14" fmla="*/ 20 w 1807"/>
                  <a:gd name="T15" fmla="*/ 995 h 1030"/>
                  <a:gd name="T16" fmla="*/ 433 w 1807"/>
                  <a:gd name="T17" fmla="*/ 1012 h 1030"/>
                  <a:gd name="T18" fmla="*/ 685 w 1807"/>
                  <a:gd name="T19" fmla="*/ 1015 h 1030"/>
                  <a:gd name="T20" fmla="*/ 1179 w 1807"/>
                  <a:gd name="T21" fmla="*/ 1012 h 1030"/>
                  <a:gd name="T22" fmla="*/ 1431 w 1807"/>
                  <a:gd name="T23" fmla="*/ 1007 h 1030"/>
                  <a:gd name="T24" fmla="*/ 1806 w 1807"/>
                  <a:gd name="T25" fmla="*/ 992 h 1030"/>
                  <a:gd name="T26" fmla="*/ 1467 w 1807"/>
                  <a:gd name="T27" fmla="*/ 1022 h 1030"/>
                  <a:gd name="T28" fmla="*/ 1161 w 1807"/>
                  <a:gd name="T29" fmla="*/ 1026 h 1030"/>
                  <a:gd name="T30" fmla="*/ 744 w 1807"/>
                  <a:gd name="T31" fmla="*/ 1029 h 1030"/>
                  <a:gd name="T32" fmla="*/ 362 w 1807"/>
                  <a:gd name="T33" fmla="*/ 1018 h 1030"/>
                  <a:gd name="T34" fmla="*/ 0 w 1807"/>
                  <a:gd name="T35" fmla="*/ 1003 h 1030"/>
                  <a:gd name="T36" fmla="*/ 20 w 1807"/>
                  <a:gd name="T37" fmla="*/ 850 h 1030"/>
                  <a:gd name="T38" fmla="*/ 32 w 1807"/>
                  <a:gd name="T39" fmla="*/ 614 h 1030"/>
                  <a:gd name="T40" fmla="*/ 36 w 1807"/>
                  <a:gd name="T41" fmla="*/ 397 h 1030"/>
                  <a:gd name="T42" fmla="*/ 36 w 1807"/>
                  <a:gd name="T43" fmla="*/ 202 h 1030"/>
                  <a:gd name="T44" fmla="*/ 20 w 1807"/>
                  <a:gd name="T45" fmla="*/ 63 h 1030"/>
                  <a:gd name="T46" fmla="*/ 0 w 1807"/>
                  <a:gd name="T47" fmla="*/ 0 h 1030"/>
                  <a:gd name="T48" fmla="*/ 11 w 1807"/>
                  <a:gd name="T49" fmla="*/ 3 h 103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807" h="1030">
                    <a:moveTo>
                      <a:pt x="11" y="3"/>
                    </a:moveTo>
                    <a:lnTo>
                      <a:pt x="43" y="45"/>
                    </a:lnTo>
                    <a:lnTo>
                      <a:pt x="56" y="149"/>
                    </a:lnTo>
                    <a:lnTo>
                      <a:pt x="61" y="307"/>
                    </a:lnTo>
                    <a:lnTo>
                      <a:pt x="56" y="520"/>
                    </a:lnTo>
                    <a:lnTo>
                      <a:pt x="50" y="688"/>
                    </a:lnTo>
                    <a:lnTo>
                      <a:pt x="36" y="887"/>
                    </a:lnTo>
                    <a:lnTo>
                      <a:pt x="20" y="995"/>
                    </a:lnTo>
                    <a:lnTo>
                      <a:pt x="433" y="1012"/>
                    </a:lnTo>
                    <a:lnTo>
                      <a:pt x="685" y="1015"/>
                    </a:lnTo>
                    <a:lnTo>
                      <a:pt x="1179" y="1012"/>
                    </a:lnTo>
                    <a:lnTo>
                      <a:pt x="1431" y="1007"/>
                    </a:lnTo>
                    <a:lnTo>
                      <a:pt x="1806" y="992"/>
                    </a:lnTo>
                    <a:lnTo>
                      <a:pt x="1467" y="1022"/>
                    </a:lnTo>
                    <a:lnTo>
                      <a:pt x="1161" y="1026"/>
                    </a:lnTo>
                    <a:lnTo>
                      <a:pt x="744" y="1029"/>
                    </a:lnTo>
                    <a:lnTo>
                      <a:pt x="362" y="1018"/>
                    </a:lnTo>
                    <a:lnTo>
                      <a:pt x="0" y="1003"/>
                    </a:lnTo>
                    <a:lnTo>
                      <a:pt x="20" y="850"/>
                    </a:lnTo>
                    <a:lnTo>
                      <a:pt x="32" y="614"/>
                    </a:lnTo>
                    <a:lnTo>
                      <a:pt x="36" y="397"/>
                    </a:lnTo>
                    <a:lnTo>
                      <a:pt x="36" y="202"/>
                    </a:lnTo>
                    <a:lnTo>
                      <a:pt x="20" y="63"/>
                    </a:lnTo>
                    <a:lnTo>
                      <a:pt x="0" y="0"/>
                    </a:lnTo>
                    <a:lnTo>
                      <a:pt x="11" y="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2" name="Freeform 92"/>
              <p:cNvSpPr>
                <a:spLocks/>
              </p:cNvSpPr>
              <p:nvPr/>
            </p:nvSpPr>
            <p:spPr bwMode="auto">
              <a:xfrm>
                <a:off x="4226" y="768"/>
                <a:ext cx="89" cy="831"/>
              </a:xfrm>
              <a:custGeom>
                <a:avLst/>
                <a:gdLst>
                  <a:gd name="T0" fmla="*/ 26 w 89"/>
                  <a:gd name="T1" fmla="*/ 41 h 831"/>
                  <a:gd name="T2" fmla="*/ 18 w 89"/>
                  <a:gd name="T3" fmla="*/ 158 h 831"/>
                  <a:gd name="T4" fmla="*/ 26 w 89"/>
                  <a:gd name="T5" fmla="*/ 393 h 831"/>
                  <a:gd name="T6" fmla="*/ 51 w 89"/>
                  <a:gd name="T7" fmla="*/ 655 h 831"/>
                  <a:gd name="T8" fmla="*/ 88 w 89"/>
                  <a:gd name="T9" fmla="*/ 830 h 831"/>
                  <a:gd name="T10" fmla="*/ 51 w 89"/>
                  <a:gd name="T11" fmla="*/ 715 h 831"/>
                  <a:gd name="T12" fmla="*/ 18 w 89"/>
                  <a:gd name="T13" fmla="*/ 550 h 831"/>
                  <a:gd name="T14" fmla="*/ 13 w 89"/>
                  <a:gd name="T15" fmla="*/ 348 h 831"/>
                  <a:gd name="T16" fmla="*/ 0 w 89"/>
                  <a:gd name="T17" fmla="*/ 142 h 831"/>
                  <a:gd name="T18" fmla="*/ 26 w 89"/>
                  <a:gd name="T19" fmla="*/ 0 h 831"/>
                  <a:gd name="T20" fmla="*/ 26 w 89"/>
                  <a:gd name="T21" fmla="*/ 41 h 8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9" h="831">
                    <a:moveTo>
                      <a:pt x="26" y="41"/>
                    </a:moveTo>
                    <a:lnTo>
                      <a:pt x="18" y="158"/>
                    </a:lnTo>
                    <a:lnTo>
                      <a:pt x="26" y="393"/>
                    </a:lnTo>
                    <a:lnTo>
                      <a:pt x="51" y="655"/>
                    </a:lnTo>
                    <a:lnTo>
                      <a:pt x="88" y="830"/>
                    </a:lnTo>
                    <a:lnTo>
                      <a:pt x="51" y="715"/>
                    </a:lnTo>
                    <a:lnTo>
                      <a:pt x="18" y="550"/>
                    </a:lnTo>
                    <a:lnTo>
                      <a:pt x="13" y="348"/>
                    </a:lnTo>
                    <a:lnTo>
                      <a:pt x="0" y="142"/>
                    </a:lnTo>
                    <a:lnTo>
                      <a:pt x="26" y="0"/>
                    </a:lnTo>
                    <a:lnTo>
                      <a:pt x="26" y="41"/>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151" name="Text Box 93"/>
            <p:cNvSpPr txBox="1">
              <a:spLocks noChangeArrowheads="1"/>
            </p:cNvSpPr>
            <p:nvPr/>
          </p:nvSpPr>
          <p:spPr bwMode="auto">
            <a:xfrm>
              <a:off x="2895" y="1241"/>
              <a:ext cx="165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400" b="0">
                  <a:solidFill>
                    <a:srgbClr val="DC0081"/>
                  </a:solidFill>
                </a:rPr>
                <a:t>Overview</a:t>
              </a:r>
            </a:p>
          </p:txBody>
        </p:sp>
      </p:grpSp>
    </p:spTree>
  </p:cSld>
  <p:clrMapOvr>
    <a:masterClrMapping/>
  </p:clrMapOvr>
  <p:transition spd="med">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2239963" y="165100"/>
            <a:ext cx="7772400" cy="812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sz="3600">
                <a:solidFill>
                  <a:schemeClr val="hlink"/>
                </a:solidFill>
                <a:latin typeface="华文新魏" panose="02010800040101010101" pitchFamily="2" charset="-122"/>
                <a:ea typeface="华文新魏" panose="02010800040101010101" pitchFamily="2" charset="-122"/>
              </a:rPr>
              <a:t>5.1.1 </a:t>
            </a:r>
            <a:r>
              <a:rPr lang="zh-CN" altLang="en-US" sz="3600">
                <a:solidFill>
                  <a:schemeClr val="hlink"/>
                </a:solidFill>
                <a:latin typeface="华文新魏" panose="02010800040101010101" pitchFamily="2" charset="-122"/>
                <a:ea typeface="华文新魏" panose="02010800040101010101" pitchFamily="2" charset="-122"/>
              </a:rPr>
              <a:t>网络层概述</a:t>
            </a:r>
          </a:p>
        </p:txBody>
      </p:sp>
      <p:sp>
        <p:nvSpPr>
          <p:cNvPr id="1633283" name="Text Box 3"/>
          <p:cNvSpPr txBox="1">
            <a:spLocks noChangeArrowheads="1"/>
          </p:cNvSpPr>
          <p:nvPr/>
        </p:nvSpPr>
        <p:spPr bwMode="auto">
          <a:xfrm>
            <a:off x="2986089" y="4484688"/>
            <a:ext cx="6713537" cy="133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3688" indent="-293688">
              <a:defRPr sz="2800" b="1">
                <a:solidFill>
                  <a:srgbClr val="CACACA"/>
                </a:solidFill>
                <a:latin typeface="Times New Roman" panose="02020603050405020304" pitchFamily="18" charset="0"/>
                <a:ea typeface="宋体" panose="02010600030101010101" pitchFamily="2" charset="-122"/>
              </a:defRPr>
            </a:lvl1pPr>
            <a:lvl2pPr marL="757238" indent="-2730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zh-CN" altLang="en-US" b="0">
                <a:solidFill>
                  <a:schemeClr val="tx1"/>
                </a:solidFill>
                <a:latin typeface="华文新魏" panose="02010800040101010101" pitchFamily="2" charset="-122"/>
                <a:ea typeface="华文新魏" panose="02010800040101010101" pitchFamily="2" charset="-122"/>
              </a:rPr>
              <a:t>两个节点通过通信子网进行通信</a:t>
            </a:r>
            <a:r>
              <a:rPr lang="en-US" altLang="zh-CN" b="0">
                <a:solidFill>
                  <a:schemeClr val="tx1"/>
                </a:solidFill>
                <a:latin typeface="Arial" panose="020B0604020202020204" pitchFamily="34" charset="0"/>
                <a:ea typeface="华文新魏" panose="02010800040101010101" pitchFamily="2" charset="-122"/>
              </a:rPr>
              <a:t>…</a:t>
            </a:r>
            <a:endParaRPr lang="en-US" altLang="zh-CN" b="0">
              <a:solidFill>
                <a:schemeClr val="tx1"/>
              </a:solidFill>
              <a:latin typeface="华文新魏" panose="02010800040101010101" pitchFamily="2" charset="-122"/>
              <a:ea typeface="华文新魏" panose="02010800040101010101" pitchFamily="2" charset="-122"/>
            </a:endParaRPr>
          </a:p>
          <a:p>
            <a:pPr lvl="1" eaLnBrk="1" hangingPunct="1">
              <a:spcBef>
                <a:spcPct val="20000"/>
              </a:spcBef>
            </a:pPr>
            <a:r>
              <a:rPr lang="en-US" altLang="zh-CN" sz="2400" b="0">
                <a:solidFill>
                  <a:schemeClr val="tx1"/>
                </a:solidFill>
                <a:latin typeface="华文新魏" panose="02010800040101010101" pitchFamily="2" charset="-122"/>
                <a:ea typeface="华文新魏" panose="02010800040101010101" pitchFamily="2" charset="-122"/>
              </a:rPr>
              <a:t>--</a:t>
            </a:r>
            <a:r>
              <a:rPr lang="zh-CN" altLang="en-US" sz="2400" b="0">
                <a:solidFill>
                  <a:schemeClr val="tx1"/>
                </a:solidFill>
                <a:latin typeface="华文新魏" panose="02010800040101010101" pitchFamily="2" charset="-122"/>
                <a:ea typeface="华文新魏" panose="02010800040101010101" pitchFamily="2" charset="-122"/>
              </a:rPr>
              <a:t>分组是怎样在这个多路访问交换系统中传输的？</a:t>
            </a:r>
            <a:r>
              <a:rPr lang="en-US" altLang="zh-CN" sz="2400" b="0">
                <a:solidFill>
                  <a:schemeClr val="tx1"/>
                </a:solidFill>
                <a:latin typeface="华文新魏" panose="02010800040101010101" pitchFamily="2" charset="-122"/>
                <a:ea typeface="华文新魏" panose="02010800040101010101" pitchFamily="2" charset="-122"/>
              </a:rPr>
              <a:t>(</a:t>
            </a:r>
            <a:r>
              <a:rPr lang="zh-CN" altLang="en-US" sz="2400" b="0">
                <a:solidFill>
                  <a:schemeClr val="tx1"/>
                </a:solidFill>
                <a:latin typeface="华文新魏" panose="02010800040101010101" pitchFamily="2" charset="-122"/>
                <a:ea typeface="华文新魏" panose="02010800040101010101" pitchFamily="2" charset="-122"/>
              </a:rPr>
              <a:t>寻址、路由、转发、互连</a:t>
            </a:r>
            <a:r>
              <a:rPr lang="en-US" altLang="zh-CN" sz="2400" b="0">
                <a:solidFill>
                  <a:schemeClr val="tx1"/>
                </a:solidFill>
                <a:latin typeface="Arial" panose="020B0604020202020204" pitchFamily="34" charset="0"/>
                <a:ea typeface="华文新魏" panose="02010800040101010101" pitchFamily="2" charset="-122"/>
              </a:rPr>
              <a:t>…</a:t>
            </a:r>
            <a:r>
              <a:rPr lang="en-US" altLang="zh-CN" sz="2400" b="0">
                <a:solidFill>
                  <a:schemeClr val="tx1"/>
                </a:solidFill>
                <a:latin typeface="华文新魏" panose="02010800040101010101" pitchFamily="2" charset="-122"/>
                <a:ea typeface="华文新魏" panose="02010800040101010101" pitchFamily="2" charset="-122"/>
              </a:rPr>
              <a:t> )</a:t>
            </a:r>
          </a:p>
        </p:txBody>
      </p:sp>
      <p:grpSp>
        <p:nvGrpSpPr>
          <p:cNvPr id="7172" name="Group 17"/>
          <p:cNvGrpSpPr>
            <a:grpSpLocks/>
          </p:cNvGrpSpPr>
          <p:nvPr/>
        </p:nvGrpSpPr>
        <p:grpSpPr bwMode="auto">
          <a:xfrm>
            <a:off x="3246438" y="1651001"/>
            <a:ext cx="5562600" cy="2543175"/>
            <a:chOff x="1516" y="850"/>
            <a:chExt cx="3504" cy="1835"/>
          </a:xfrm>
        </p:grpSpPr>
        <p:sp>
          <p:nvSpPr>
            <p:cNvPr id="7174" name="Rectangle 4"/>
            <p:cNvSpPr>
              <a:spLocks noChangeArrowheads="1"/>
            </p:cNvSpPr>
            <p:nvPr/>
          </p:nvSpPr>
          <p:spPr bwMode="auto">
            <a:xfrm>
              <a:off x="1516" y="850"/>
              <a:ext cx="432" cy="331"/>
            </a:xfrm>
            <a:prstGeom prst="rect">
              <a:avLst/>
            </a:prstGeom>
            <a:noFill/>
            <a:ln w="25400">
              <a:solidFill>
                <a:srgbClr val="CACACA"/>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5" name="Rectangle 5"/>
            <p:cNvSpPr>
              <a:spLocks noChangeArrowheads="1"/>
            </p:cNvSpPr>
            <p:nvPr/>
          </p:nvSpPr>
          <p:spPr bwMode="auto">
            <a:xfrm>
              <a:off x="4588" y="850"/>
              <a:ext cx="432" cy="331"/>
            </a:xfrm>
            <a:prstGeom prst="rect">
              <a:avLst/>
            </a:prstGeom>
            <a:noFill/>
            <a:ln w="25400">
              <a:solidFill>
                <a:srgbClr val="CACACA"/>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6" name="Line 6"/>
            <p:cNvSpPr>
              <a:spLocks noChangeShapeType="1"/>
            </p:cNvSpPr>
            <p:nvPr/>
          </p:nvSpPr>
          <p:spPr bwMode="auto">
            <a:xfrm>
              <a:off x="1948" y="1075"/>
              <a:ext cx="480" cy="5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7" name="Text Box 7"/>
            <p:cNvSpPr txBox="1">
              <a:spLocks noChangeArrowheads="1"/>
            </p:cNvSpPr>
            <p:nvPr/>
          </p:nvSpPr>
          <p:spPr bwMode="auto">
            <a:xfrm>
              <a:off x="1612" y="884"/>
              <a:ext cx="25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400" b="0">
                  <a:solidFill>
                    <a:schemeClr val="hlink"/>
                  </a:solidFill>
                </a:rPr>
                <a:t>A</a:t>
              </a:r>
            </a:p>
          </p:txBody>
        </p:sp>
        <p:sp>
          <p:nvSpPr>
            <p:cNvPr id="7178" name="Text Box 8"/>
            <p:cNvSpPr txBox="1">
              <a:spLocks noChangeArrowheads="1"/>
            </p:cNvSpPr>
            <p:nvPr/>
          </p:nvSpPr>
          <p:spPr bwMode="auto">
            <a:xfrm>
              <a:off x="4684" y="884"/>
              <a:ext cx="24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400" b="0">
                  <a:solidFill>
                    <a:schemeClr val="hlink"/>
                  </a:solidFill>
                </a:rPr>
                <a:t>B</a:t>
              </a:r>
            </a:p>
          </p:txBody>
        </p:sp>
        <p:sp>
          <p:nvSpPr>
            <p:cNvPr id="7179" name="Line 9"/>
            <p:cNvSpPr>
              <a:spLocks noChangeShapeType="1"/>
            </p:cNvSpPr>
            <p:nvPr/>
          </p:nvSpPr>
          <p:spPr bwMode="auto">
            <a:xfrm flipV="1">
              <a:off x="4348" y="1062"/>
              <a:ext cx="240" cy="45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180" name="Object 10"/>
            <p:cNvGraphicFramePr>
              <a:graphicFrameLocks noChangeAspect="1"/>
            </p:cNvGraphicFramePr>
            <p:nvPr/>
          </p:nvGraphicFramePr>
          <p:xfrm>
            <a:off x="2284" y="1302"/>
            <a:ext cx="2544" cy="1383"/>
          </p:xfrm>
          <a:graphic>
            <a:graphicData uri="http://schemas.openxmlformats.org/presentationml/2006/ole">
              <mc:AlternateContent xmlns:mc="http://schemas.openxmlformats.org/markup-compatibility/2006">
                <mc:Choice xmlns:v="urn:schemas-microsoft-com:vml" Requires="v">
                  <p:oleObj spid="_x0000_s7923" name="VISIO" r:id="rId3" imgW="3999240" imgH="3008520" progId="Visio.Drawing.5">
                    <p:embed/>
                  </p:oleObj>
                </mc:Choice>
                <mc:Fallback>
                  <p:oleObj name="VISIO" r:id="rId3" imgW="3999240" imgH="3008520" progId="Visio.Drawing.5">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4" y="1302"/>
                          <a:ext cx="2544" cy="1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81" name="Object 11"/>
            <p:cNvGraphicFramePr>
              <a:graphicFrameLocks noChangeAspect="1"/>
            </p:cNvGraphicFramePr>
            <p:nvPr/>
          </p:nvGraphicFramePr>
          <p:xfrm>
            <a:off x="2380" y="1448"/>
            <a:ext cx="720" cy="466"/>
          </p:xfrm>
          <a:graphic>
            <a:graphicData uri="http://schemas.openxmlformats.org/presentationml/2006/ole">
              <mc:AlternateContent xmlns:mc="http://schemas.openxmlformats.org/markup-compatibility/2006">
                <mc:Choice xmlns:v="urn:schemas-microsoft-com:vml" Requires="v">
                  <p:oleObj spid="_x0000_s7924" name="VISIO" r:id="rId5" imgW="3999240" imgH="3008520" progId="Visio.Drawing.5">
                    <p:embed/>
                  </p:oleObj>
                </mc:Choice>
                <mc:Fallback>
                  <p:oleObj name="VISIO" r:id="rId5" imgW="3999240" imgH="3008520" progId="Visio.Drawing.5">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80" y="1448"/>
                          <a:ext cx="720" cy="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82" name="Object 12"/>
            <p:cNvGraphicFramePr>
              <a:graphicFrameLocks noChangeAspect="1"/>
            </p:cNvGraphicFramePr>
            <p:nvPr/>
          </p:nvGraphicFramePr>
          <p:xfrm>
            <a:off x="3820" y="1544"/>
            <a:ext cx="720" cy="466"/>
          </p:xfrm>
          <a:graphic>
            <a:graphicData uri="http://schemas.openxmlformats.org/presentationml/2006/ole">
              <mc:AlternateContent xmlns:mc="http://schemas.openxmlformats.org/markup-compatibility/2006">
                <mc:Choice xmlns:v="urn:schemas-microsoft-com:vml" Requires="v">
                  <p:oleObj spid="_x0000_s7925" name="VISIO" r:id="rId7" imgW="3999240" imgH="3008520" progId="Visio.Drawing.5">
                    <p:embed/>
                  </p:oleObj>
                </mc:Choice>
                <mc:Fallback>
                  <p:oleObj name="VISIO" r:id="rId7" imgW="3999240" imgH="3008520" progId="Visio.Drawing.5">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20" y="1544"/>
                          <a:ext cx="720" cy="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83" name="Line 13"/>
            <p:cNvSpPr>
              <a:spLocks noChangeShapeType="1"/>
            </p:cNvSpPr>
            <p:nvPr/>
          </p:nvSpPr>
          <p:spPr bwMode="auto">
            <a:xfrm>
              <a:off x="3100" y="1613"/>
              <a:ext cx="768" cy="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184" name="Object 14"/>
            <p:cNvGraphicFramePr>
              <a:graphicFrameLocks noChangeAspect="1"/>
            </p:cNvGraphicFramePr>
            <p:nvPr/>
          </p:nvGraphicFramePr>
          <p:xfrm>
            <a:off x="3148" y="2168"/>
            <a:ext cx="720" cy="466"/>
          </p:xfrm>
          <a:graphic>
            <a:graphicData uri="http://schemas.openxmlformats.org/presentationml/2006/ole">
              <mc:AlternateContent xmlns:mc="http://schemas.openxmlformats.org/markup-compatibility/2006">
                <mc:Choice xmlns:v="urn:schemas-microsoft-com:vml" Requires="v">
                  <p:oleObj spid="_x0000_s7926" name="VISIO" r:id="rId8" imgW="3999240" imgH="3008520" progId="Visio.Drawing.5">
                    <p:embed/>
                  </p:oleObj>
                </mc:Choice>
                <mc:Fallback>
                  <p:oleObj name="VISIO" r:id="rId8" imgW="3999240" imgH="3008520" progId="Visio.Drawing.5">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48" y="2168"/>
                          <a:ext cx="720" cy="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85" name="Line 15"/>
            <p:cNvSpPr>
              <a:spLocks noChangeShapeType="1"/>
            </p:cNvSpPr>
            <p:nvPr/>
          </p:nvSpPr>
          <p:spPr bwMode="auto">
            <a:xfrm>
              <a:off x="2860" y="1948"/>
              <a:ext cx="336" cy="28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6" name="Line 16"/>
            <p:cNvSpPr>
              <a:spLocks noChangeShapeType="1"/>
            </p:cNvSpPr>
            <p:nvPr/>
          </p:nvSpPr>
          <p:spPr bwMode="auto">
            <a:xfrm flipV="1">
              <a:off x="3820" y="2067"/>
              <a:ext cx="240" cy="1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173" name="Text Box 18"/>
          <p:cNvSpPr txBox="1">
            <a:spLocks noChangeArrowheads="1"/>
          </p:cNvSpPr>
          <p:nvPr/>
        </p:nvSpPr>
        <p:spPr bwMode="auto">
          <a:xfrm>
            <a:off x="4802188" y="1449388"/>
            <a:ext cx="2673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kumimoji="1" lang="zh-CN" altLang="en-US" sz="3600" b="0">
                <a:solidFill>
                  <a:schemeClr val="hlink"/>
                </a:solidFill>
                <a:latin typeface="华文新魏" panose="02010800040101010101" pitchFamily="2" charset="-122"/>
                <a:ea typeface="华文新魏" panose="02010800040101010101" pitchFamily="2" charset="-122"/>
              </a:rPr>
              <a:t>网络互连</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33283">
                                            <p:txEl>
                                              <p:pRg st="0" end="0"/>
                                            </p:txEl>
                                          </p:spTgt>
                                        </p:tgtEl>
                                        <p:attrNameLst>
                                          <p:attrName>style.visibility</p:attrName>
                                        </p:attrNameLst>
                                      </p:cBhvr>
                                      <p:to>
                                        <p:strVal val="visible"/>
                                      </p:to>
                                    </p:set>
                                    <p:anim calcmode="lin" valueType="num">
                                      <p:cBhvr additive="base">
                                        <p:cTn id="7" dur="500" fill="hold"/>
                                        <p:tgtEl>
                                          <p:spTgt spid="163328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63328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633283">
                                            <p:txEl>
                                              <p:pRg st="1" end="1"/>
                                            </p:txEl>
                                          </p:spTgt>
                                        </p:tgtEl>
                                        <p:attrNameLst>
                                          <p:attrName>style.visibility</p:attrName>
                                        </p:attrNameLst>
                                      </p:cBhvr>
                                      <p:to>
                                        <p:strVal val="visible"/>
                                      </p:to>
                                    </p:set>
                                    <p:anim calcmode="lin" valueType="num">
                                      <p:cBhvr additive="base">
                                        <p:cTn id="11" dur="500" fill="hold"/>
                                        <p:tgtEl>
                                          <p:spTgt spid="1633283">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63328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3283"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4307" name="Freeform 3"/>
          <p:cNvSpPr>
            <a:spLocks/>
          </p:cNvSpPr>
          <p:nvPr/>
        </p:nvSpPr>
        <p:spPr bwMode="auto">
          <a:xfrm>
            <a:off x="6597650" y="2176463"/>
            <a:ext cx="3678238" cy="2222500"/>
          </a:xfrm>
          <a:custGeom>
            <a:avLst/>
            <a:gdLst>
              <a:gd name="T0" fmla="*/ 1937101908 w 1292"/>
              <a:gd name="T1" fmla="*/ 21952279 h 1255"/>
              <a:gd name="T2" fmla="*/ 283676988 w 1292"/>
              <a:gd name="T3" fmla="*/ 492374952 h 1255"/>
              <a:gd name="T4" fmla="*/ 235045671 w 1292"/>
              <a:gd name="T5" fmla="*/ 1640203229 h 1255"/>
              <a:gd name="T6" fmla="*/ 429565245 w 1292"/>
              <a:gd name="T7" fmla="*/ 2147483646 h 1255"/>
              <a:gd name="T8" fmla="*/ 1985733225 w 1292"/>
              <a:gd name="T9" fmla="*/ 2147483646 h 1255"/>
              <a:gd name="T10" fmla="*/ 2147483646 w 1292"/>
              <a:gd name="T11" fmla="*/ 2147483646 h 1255"/>
              <a:gd name="T12" fmla="*/ 2147483646 w 1292"/>
              <a:gd name="T13" fmla="*/ 2147483646 h 1255"/>
              <a:gd name="T14" fmla="*/ 2147483646 w 1292"/>
              <a:gd name="T15" fmla="*/ 2147483646 h 1255"/>
              <a:gd name="T16" fmla="*/ 2147483646 w 1292"/>
              <a:gd name="T17" fmla="*/ 1395584785 h 1255"/>
              <a:gd name="T18" fmla="*/ 2147483646 w 1292"/>
              <a:gd name="T19" fmla="*/ 661725910 h 1255"/>
              <a:gd name="T20" fmla="*/ 2147483646 w 1292"/>
              <a:gd name="T21" fmla="*/ 360655966 h 1255"/>
              <a:gd name="T22" fmla="*/ 1937101908 w 1292"/>
              <a:gd name="T23" fmla="*/ 21952279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CC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4308" name="Freeform 4"/>
          <p:cNvSpPr>
            <a:spLocks/>
          </p:cNvSpPr>
          <p:nvPr/>
        </p:nvSpPr>
        <p:spPr bwMode="auto">
          <a:xfrm>
            <a:off x="2754314" y="1987550"/>
            <a:ext cx="3817937" cy="2108200"/>
          </a:xfrm>
          <a:custGeom>
            <a:avLst/>
            <a:gdLst>
              <a:gd name="T0" fmla="*/ 2147483646 w 1340"/>
              <a:gd name="T1" fmla="*/ 131598765 h 1191"/>
              <a:gd name="T2" fmla="*/ 665674411 w 1340"/>
              <a:gd name="T3" fmla="*/ 187997983 h 1191"/>
              <a:gd name="T4" fmla="*/ 470842807 w 1340"/>
              <a:gd name="T5" fmla="*/ 1259581351 h 1191"/>
              <a:gd name="T6" fmla="*/ 227304013 w 1340"/>
              <a:gd name="T7" fmla="*/ 2147483646 h 1191"/>
              <a:gd name="T8" fmla="*/ 909213204 w 1340"/>
              <a:gd name="T9" fmla="*/ 2147483646 h 1191"/>
              <a:gd name="T10" fmla="*/ 2147483646 w 1340"/>
              <a:gd name="T11" fmla="*/ 2147483646 h 1191"/>
              <a:gd name="T12" fmla="*/ 2147483646 w 1340"/>
              <a:gd name="T13" fmla="*/ 2147483646 h 1191"/>
              <a:gd name="T14" fmla="*/ 2147483646 w 1340"/>
              <a:gd name="T15" fmla="*/ 2147483646 h 1191"/>
              <a:gd name="T16" fmla="*/ 2147483646 w 1340"/>
              <a:gd name="T17" fmla="*/ 1785972870 h 1191"/>
              <a:gd name="T18" fmla="*/ 2147483646 w 1340"/>
              <a:gd name="T19" fmla="*/ 1071583368 h 1191"/>
              <a:gd name="T20" fmla="*/ 2147483646 w 1340"/>
              <a:gd name="T21" fmla="*/ 902385715 h 1191"/>
              <a:gd name="T22" fmla="*/ 2147483646 w 1340"/>
              <a:gd name="T23" fmla="*/ 131598765 h 11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CC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4309" name="Freeform 5"/>
          <p:cNvSpPr>
            <a:spLocks/>
          </p:cNvSpPr>
          <p:nvPr/>
        </p:nvSpPr>
        <p:spPr bwMode="auto">
          <a:xfrm>
            <a:off x="3508375" y="3913188"/>
            <a:ext cx="6083300" cy="2944812"/>
          </a:xfrm>
          <a:custGeom>
            <a:avLst/>
            <a:gdLst>
              <a:gd name="T0" fmla="*/ 219203951 w 2135"/>
              <a:gd name="T1" fmla="*/ 2046918976 h 1662"/>
              <a:gd name="T2" fmla="*/ 852456961 w 2135"/>
              <a:gd name="T3" fmla="*/ 238597102 h 1662"/>
              <a:gd name="T4" fmla="*/ 2147483646 w 2135"/>
              <a:gd name="T5" fmla="*/ 615331048 h 1662"/>
              <a:gd name="T6" fmla="*/ 2147483646 w 2135"/>
              <a:gd name="T7" fmla="*/ 313944954 h 1662"/>
              <a:gd name="T8" fmla="*/ 2147483646 w 2135"/>
              <a:gd name="T9" fmla="*/ 1274614566 h 1662"/>
              <a:gd name="T10" fmla="*/ 2147483646 w 2135"/>
              <a:gd name="T11" fmla="*/ 2147483646 h 1662"/>
              <a:gd name="T12" fmla="*/ 2147483646 w 2135"/>
              <a:gd name="T13" fmla="*/ 2147483646 h 1662"/>
              <a:gd name="T14" fmla="*/ 2147483646 w 2135"/>
              <a:gd name="T15" fmla="*/ 2147483646 h 1662"/>
              <a:gd name="T16" fmla="*/ 2147483646 w 2135"/>
              <a:gd name="T17" fmla="*/ 2147483646 h 1662"/>
              <a:gd name="T18" fmla="*/ 1485709970 w 2135"/>
              <a:gd name="T19" fmla="*/ 2147483646 h 1662"/>
              <a:gd name="T20" fmla="*/ 219203951 w 2135"/>
              <a:gd name="T21" fmla="*/ 2046918976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CC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197" name="Group 6"/>
          <p:cNvGrpSpPr>
            <a:grpSpLocks/>
          </p:cNvGrpSpPr>
          <p:nvPr/>
        </p:nvGrpSpPr>
        <p:grpSpPr bwMode="auto">
          <a:xfrm>
            <a:off x="2994025" y="2165351"/>
            <a:ext cx="1500188" cy="423863"/>
            <a:chOff x="3552" y="246"/>
            <a:chExt cx="527" cy="248"/>
          </a:xfrm>
        </p:grpSpPr>
        <p:graphicFrame>
          <p:nvGraphicFramePr>
            <p:cNvPr id="8608" name="Object 7"/>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spid="_x0000_s32875" name="Clip" r:id="rId3" imgW="1307263" imgH="1084139" progId="MS_ClipArt_Gallery.2">
                    <p:embed/>
                  </p:oleObj>
                </mc:Choice>
                <mc:Fallback>
                  <p:oleObj name="Clip" r:id="rId3" imgW="1307263" imgH="1084139" progId="MS_ClipArt_Gallery.2">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9" name="Object 8"/>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spid="_x0000_s32876" name="Clip" r:id="rId5" imgW="681706" imgH="480401" progId="MS_ClipArt_Gallery.2">
                    <p:embed/>
                  </p:oleObj>
                </mc:Choice>
                <mc:Fallback>
                  <p:oleObj name="Clip" r:id="rId5" imgW="681706" imgH="480401" progId="MS_ClipArt_Gallery.2">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10" name="Line 9"/>
            <p:cNvSpPr>
              <a:spLocks noChangeShapeType="1"/>
            </p:cNvSpPr>
            <p:nvPr/>
          </p:nvSpPr>
          <p:spPr bwMode="auto">
            <a:xfrm flipV="1">
              <a:off x="3844" y="434"/>
              <a:ext cx="82"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198" name="Group 10"/>
          <p:cNvGrpSpPr>
            <a:grpSpLocks/>
          </p:cNvGrpSpPr>
          <p:nvPr/>
        </p:nvGrpSpPr>
        <p:grpSpPr bwMode="auto">
          <a:xfrm>
            <a:off x="2994025" y="2955926"/>
            <a:ext cx="1500188" cy="423863"/>
            <a:chOff x="3552" y="246"/>
            <a:chExt cx="527" cy="248"/>
          </a:xfrm>
        </p:grpSpPr>
        <p:graphicFrame>
          <p:nvGraphicFramePr>
            <p:cNvPr id="8605" name="Object 11"/>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spid="_x0000_s32877" name="Clip" r:id="rId7" imgW="1307263" imgH="1084139" progId="MS_ClipArt_Gallery.2">
                    <p:embed/>
                  </p:oleObj>
                </mc:Choice>
                <mc:Fallback>
                  <p:oleObj name="Clip" r:id="rId7" imgW="1307263" imgH="1084139" progId="MS_ClipArt_Gallery.2">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6" name="Object 12"/>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spid="_x0000_s32878" name="Clip" r:id="rId8" imgW="681706" imgH="480401" progId="MS_ClipArt_Gallery.2">
                    <p:embed/>
                  </p:oleObj>
                </mc:Choice>
                <mc:Fallback>
                  <p:oleObj name="Clip" r:id="rId8" imgW="681706" imgH="480401" progId="MS_ClipArt_Gallery.2">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7" name="Line 13"/>
            <p:cNvSpPr>
              <a:spLocks noChangeShapeType="1"/>
            </p:cNvSpPr>
            <p:nvPr/>
          </p:nvSpPr>
          <p:spPr bwMode="auto">
            <a:xfrm flipV="1">
              <a:off x="3844" y="434"/>
              <a:ext cx="82"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199" name="Group 14"/>
          <p:cNvGrpSpPr>
            <a:grpSpLocks/>
          </p:cNvGrpSpPr>
          <p:nvPr/>
        </p:nvGrpSpPr>
        <p:grpSpPr bwMode="auto">
          <a:xfrm>
            <a:off x="3763964" y="2673351"/>
            <a:ext cx="142875" cy="284163"/>
            <a:chOff x="3842" y="406"/>
            <a:chExt cx="51" cy="167"/>
          </a:xfrm>
        </p:grpSpPr>
        <p:sp>
          <p:nvSpPr>
            <p:cNvPr id="8602" name="Oval 15"/>
            <p:cNvSpPr>
              <a:spLocks noChangeArrowheads="1"/>
            </p:cNvSpPr>
            <p:nvPr/>
          </p:nvSpPr>
          <p:spPr bwMode="auto">
            <a:xfrm>
              <a:off x="3842" y="40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603" name="Oval 16"/>
            <p:cNvSpPr>
              <a:spLocks noChangeArrowheads="1"/>
            </p:cNvSpPr>
            <p:nvPr/>
          </p:nvSpPr>
          <p:spPr bwMode="auto">
            <a:xfrm>
              <a:off x="3844" y="46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604" name="Oval 17"/>
            <p:cNvSpPr>
              <a:spLocks noChangeArrowheads="1"/>
            </p:cNvSpPr>
            <p:nvPr/>
          </p:nvSpPr>
          <p:spPr bwMode="auto">
            <a:xfrm>
              <a:off x="3846" y="52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grpSp>
        <p:nvGrpSpPr>
          <p:cNvPr id="8200" name="Group 18"/>
          <p:cNvGrpSpPr>
            <a:grpSpLocks/>
          </p:cNvGrpSpPr>
          <p:nvPr/>
        </p:nvGrpSpPr>
        <p:grpSpPr bwMode="auto">
          <a:xfrm>
            <a:off x="4724401" y="3341689"/>
            <a:ext cx="428625" cy="523875"/>
            <a:chOff x="4180" y="783"/>
            <a:chExt cx="150" cy="307"/>
          </a:xfrm>
        </p:grpSpPr>
        <p:sp>
          <p:nvSpPr>
            <p:cNvPr id="8594" name="AutoShape 19"/>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5" name="Rectangle 20"/>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6" name="Rectangle 21"/>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7" name="AutoShape 22"/>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8" name="Line 23"/>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99" name="Line 24"/>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0" name="Rectangle 25"/>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601" name="Rectangle 26"/>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grpSp>
        <p:nvGrpSpPr>
          <p:cNvPr id="8201" name="Group 27"/>
          <p:cNvGrpSpPr>
            <a:grpSpLocks/>
          </p:cNvGrpSpPr>
          <p:nvPr/>
        </p:nvGrpSpPr>
        <p:grpSpPr bwMode="auto">
          <a:xfrm rot="16200000">
            <a:off x="5394326" y="3360739"/>
            <a:ext cx="106363" cy="477837"/>
            <a:chOff x="3842" y="406"/>
            <a:chExt cx="51" cy="167"/>
          </a:xfrm>
        </p:grpSpPr>
        <p:sp>
          <p:nvSpPr>
            <p:cNvPr id="8591" name="Oval 28"/>
            <p:cNvSpPr>
              <a:spLocks noChangeArrowheads="1"/>
            </p:cNvSpPr>
            <p:nvPr/>
          </p:nvSpPr>
          <p:spPr bwMode="auto">
            <a:xfrm>
              <a:off x="3842" y="40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2" name="Oval 29"/>
            <p:cNvSpPr>
              <a:spLocks noChangeArrowheads="1"/>
            </p:cNvSpPr>
            <p:nvPr/>
          </p:nvSpPr>
          <p:spPr bwMode="auto">
            <a:xfrm>
              <a:off x="3844" y="46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3" name="Oval 30"/>
            <p:cNvSpPr>
              <a:spLocks noChangeArrowheads="1"/>
            </p:cNvSpPr>
            <p:nvPr/>
          </p:nvSpPr>
          <p:spPr bwMode="auto">
            <a:xfrm>
              <a:off x="3846" y="52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8202" name="Line 31"/>
          <p:cNvSpPr>
            <a:spLocks noChangeShapeType="1"/>
          </p:cNvSpPr>
          <p:nvPr/>
        </p:nvSpPr>
        <p:spPr bwMode="auto">
          <a:xfrm>
            <a:off x="5003801" y="3219450"/>
            <a:ext cx="1012825" cy="1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3" name="Line 32"/>
          <p:cNvSpPr>
            <a:spLocks noChangeShapeType="1"/>
          </p:cNvSpPr>
          <p:nvPr/>
        </p:nvSpPr>
        <p:spPr bwMode="auto">
          <a:xfrm>
            <a:off x="5010151" y="3214688"/>
            <a:ext cx="3175" cy="127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4" name="Line 33"/>
          <p:cNvSpPr>
            <a:spLocks noChangeShapeType="1"/>
          </p:cNvSpPr>
          <p:nvPr/>
        </p:nvSpPr>
        <p:spPr bwMode="auto">
          <a:xfrm>
            <a:off x="6022976" y="3213100"/>
            <a:ext cx="3175" cy="1095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5" name="Line 34"/>
          <p:cNvSpPr>
            <a:spLocks noChangeShapeType="1"/>
          </p:cNvSpPr>
          <p:nvPr/>
        </p:nvSpPr>
        <p:spPr bwMode="auto">
          <a:xfrm>
            <a:off x="4391025" y="2503489"/>
            <a:ext cx="590550" cy="3508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6" name="Line 35"/>
          <p:cNvSpPr>
            <a:spLocks noChangeShapeType="1"/>
          </p:cNvSpPr>
          <p:nvPr/>
        </p:nvSpPr>
        <p:spPr bwMode="auto">
          <a:xfrm flipV="1">
            <a:off x="4416425" y="2882900"/>
            <a:ext cx="565150" cy="438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7" name="Line 36"/>
          <p:cNvSpPr>
            <a:spLocks noChangeShapeType="1"/>
          </p:cNvSpPr>
          <p:nvPr/>
        </p:nvSpPr>
        <p:spPr bwMode="auto">
          <a:xfrm flipV="1">
            <a:off x="5494339" y="2995614"/>
            <a:ext cx="3175" cy="2174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208" name="Group 37"/>
          <p:cNvGrpSpPr>
            <a:grpSpLocks/>
          </p:cNvGrpSpPr>
          <p:nvPr/>
        </p:nvGrpSpPr>
        <p:grpSpPr bwMode="auto">
          <a:xfrm>
            <a:off x="5737226" y="3311526"/>
            <a:ext cx="428625" cy="525463"/>
            <a:chOff x="4180" y="783"/>
            <a:chExt cx="150" cy="307"/>
          </a:xfrm>
        </p:grpSpPr>
        <p:sp>
          <p:nvSpPr>
            <p:cNvPr id="8583" name="AutoShape 38"/>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84" name="Rectangle 39"/>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85" name="Rectangle 40"/>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86" name="AutoShape 41"/>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87" name="Line 42"/>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88" name="Line 43"/>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89" name="Rectangle 44"/>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0" name="Rectangle 45"/>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grpSp>
        <p:nvGrpSpPr>
          <p:cNvPr id="8209" name="Group 46"/>
          <p:cNvGrpSpPr>
            <a:grpSpLocks/>
          </p:cNvGrpSpPr>
          <p:nvPr/>
        </p:nvGrpSpPr>
        <p:grpSpPr bwMode="auto">
          <a:xfrm>
            <a:off x="3779839" y="4133851"/>
            <a:ext cx="981075" cy="1228725"/>
            <a:chOff x="3314" y="1248"/>
            <a:chExt cx="344" cy="694"/>
          </a:xfrm>
        </p:grpSpPr>
        <p:graphicFrame>
          <p:nvGraphicFramePr>
            <p:cNvPr id="8574" name="Object 47"/>
            <p:cNvGraphicFramePr>
              <a:graphicFrameLocks noChangeAspect="1"/>
            </p:cNvGraphicFramePr>
            <p:nvPr/>
          </p:nvGraphicFramePr>
          <p:xfrm>
            <a:off x="3314" y="1248"/>
            <a:ext cx="299" cy="248"/>
          </p:xfrm>
          <a:graphic>
            <a:graphicData uri="http://schemas.openxmlformats.org/presentationml/2006/ole">
              <mc:AlternateContent xmlns:mc="http://schemas.openxmlformats.org/markup-compatibility/2006">
                <mc:Choice xmlns:v="urn:schemas-microsoft-com:vml" Requires="v">
                  <p:oleObj spid="_x0000_s32879" name="Clip" r:id="rId9" imgW="1307263" imgH="1084139" progId="MS_ClipArt_Gallery.2">
                    <p:embed/>
                  </p:oleObj>
                </mc:Choice>
                <mc:Fallback>
                  <p:oleObj name="Clip" r:id="rId9" imgW="1307263" imgH="1084139" progId="MS_ClipArt_Gallery.2">
                    <p:embed/>
                    <p:pic>
                      <p:nvPicPr>
                        <p:cNvPr id="0" name="Object 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 y="1248"/>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75" name="Line 48"/>
            <p:cNvSpPr>
              <a:spLocks noChangeShapeType="1"/>
            </p:cNvSpPr>
            <p:nvPr/>
          </p:nvSpPr>
          <p:spPr bwMode="auto">
            <a:xfrm flipV="1">
              <a:off x="3606" y="1433"/>
              <a:ext cx="52"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576" name="Object 49"/>
            <p:cNvGraphicFramePr>
              <a:graphicFrameLocks noChangeAspect="1"/>
            </p:cNvGraphicFramePr>
            <p:nvPr/>
          </p:nvGraphicFramePr>
          <p:xfrm>
            <a:off x="3314" y="1694"/>
            <a:ext cx="299" cy="248"/>
          </p:xfrm>
          <a:graphic>
            <a:graphicData uri="http://schemas.openxmlformats.org/presentationml/2006/ole">
              <mc:AlternateContent xmlns:mc="http://schemas.openxmlformats.org/markup-compatibility/2006">
                <mc:Choice xmlns:v="urn:schemas-microsoft-com:vml" Requires="v">
                  <p:oleObj spid="_x0000_s32880" name="Clip" r:id="rId10" imgW="1307263" imgH="1084139" progId="MS_ClipArt_Gallery.2">
                    <p:embed/>
                  </p:oleObj>
                </mc:Choice>
                <mc:Fallback>
                  <p:oleObj name="Clip" r:id="rId10" imgW="1307263" imgH="1084139" progId="MS_ClipArt_Gallery.2">
                    <p:embed/>
                    <p:pic>
                      <p:nvPicPr>
                        <p:cNvPr id="0" name="Object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 y="1694"/>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77" name="Line 50"/>
            <p:cNvSpPr>
              <a:spLocks noChangeShapeType="1"/>
            </p:cNvSpPr>
            <p:nvPr/>
          </p:nvSpPr>
          <p:spPr bwMode="auto">
            <a:xfrm flipV="1">
              <a:off x="3606" y="1882"/>
              <a:ext cx="52"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578" name="Group 51"/>
            <p:cNvGrpSpPr>
              <a:grpSpLocks/>
            </p:cNvGrpSpPr>
            <p:nvPr/>
          </p:nvGrpSpPr>
          <p:grpSpPr bwMode="auto">
            <a:xfrm>
              <a:off x="3404" y="1504"/>
              <a:ext cx="51" cy="167"/>
              <a:chOff x="3842" y="406"/>
              <a:chExt cx="51" cy="167"/>
            </a:xfrm>
          </p:grpSpPr>
          <p:sp>
            <p:nvSpPr>
              <p:cNvPr id="8580" name="Oval 52"/>
              <p:cNvSpPr>
                <a:spLocks noChangeArrowheads="1"/>
              </p:cNvSpPr>
              <p:nvPr/>
            </p:nvSpPr>
            <p:spPr bwMode="auto">
              <a:xfrm>
                <a:off x="3842" y="40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81" name="Oval 53"/>
              <p:cNvSpPr>
                <a:spLocks noChangeArrowheads="1"/>
              </p:cNvSpPr>
              <p:nvPr/>
            </p:nvSpPr>
            <p:spPr bwMode="auto">
              <a:xfrm>
                <a:off x="3844" y="46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82" name="Oval 54"/>
              <p:cNvSpPr>
                <a:spLocks noChangeArrowheads="1"/>
              </p:cNvSpPr>
              <p:nvPr/>
            </p:nvSpPr>
            <p:spPr bwMode="auto">
              <a:xfrm>
                <a:off x="3846" y="52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8579" name="Line 55"/>
            <p:cNvSpPr>
              <a:spLocks noChangeShapeType="1"/>
            </p:cNvSpPr>
            <p:nvPr/>
          </p:nvSpPr>
          <p:spPr bwMode="auto">
            <a:xfrm>
              <a:off x="3654" y="1431"/>
              <a:ext cx="0" cy="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8210" name="Object 56"/>
          <p:cNvGraphicFramePr>
            <a:graphicFrameLocks noChangeAspect="1"/>
          </p:cNvGraphicFramePr>
          <p:nvPr/>
        </p:nvGraphicFramePr>
        <p:xfrm>
          <a:off x="5556251" y="5473700"/>
          <a:ext cx="854075" cy="439738"/>
        </p:xfrm>
        <a:graphic>
          <a:graphicData uri="http://schemas.openxmlformats.org/presentationml/2006/ole">
            <mc:AlternateContent xmlns:mc="http://schemas.openxmlformats.org/markup-compatibility/2006">
              <mc:Choice xmlns:v="urn:schemas-microsoft-com:vml" Requires="v">
                <p:oleObj spid="_x0000_s32881" name="Clip" r:id="rId11" imgW="1307263" imgH="1084139" progId="MS_ClipArt_Gallery.2">
                  <p:embed/>
                </p:oleObj>
              </mc:Choice>
              <mc:Fallback>
                <p:oleObj name="Clip" r:id="rId11" imgW="1307263" imgH="1084139" progId="MS_ClipArt_Gallery.2">
                  <p:embed/>
                  <p:pic>
                    <p:nvPicPr>
                      <p:cNvPr id="0" name="Object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6251" y="5473700"/>
                        <a:ext cx="854075" cy="43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1" name="Object 57"/>
          <p:cNvGraphicFramePr>
            <a:graphicFrameLocks noChangeAspect="1"/>
          </p:cNvGraphicFramePr>
          <p:nvPr/>
        </p:nvGraphicFramePr>
        <p:xfrm>
          <a:off x="4298950" y="5459413"/>
          <a:ext cx="850900" cy="438150"/>
        </p:xfrm>
        <a:graphic>
          <a:graphicData uri="http://schemas.openxmlformats.org/presentationml/2006/ole">
            <mc:AlternateContent xmlns:mc="http://schemas.openxmlformats.org/markup-compatibility/2006">
              <mc:Choice xmlns:v="urn:schemas-microsoft-com:vml" Requires="v">
                <p:oleObj spid="_x0000_s32882" name="Clip" r:id="rId12" imgW="1307263" imgH="1084139" progId="MS_ClipArt_Gallery.2">
                  <p:embed/>
                </p:oleObj>
              </mc:Choice>
              <mc:Fallback>
                <p:oleObj name="Clip" r:id="rId12" imgW="1307263" imgH="1084139" progId="MS_ClipArt_Gallery.2">
                  <p:embed/>
                  <p:pic>
                    <p:nvPicPr>
                      <p:cNvPr id="0" name="Object 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8950" y="5459413"/>
                        <a:ext cx="850900"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12" name="Oval 58"/>
          <p:cNvSpPr>
            <a:spLocks noChangeArrowheads="1"/>
          </p:cNvSpPr>
          <p:nvPr/>
        </p:nvSpPr>
        <p:spPr bwMode="auto">
          <a:xfrm rot="16200000">
            <a:off x="5174456" y="5572919"/>
            <a:ext cx="84138" cy="13335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13" name="Oval 59"/>
          <p:cNvSpPr>
            <a:spLocks noChangeArrowheads="1"/>
          </p:cNvSpPr>
          <p:nvPr/>
        </p:nvSpPr>
        <p:spPr bwMode="auto">
          <a:xfrm rot="16200000">
            <a:off x="5349083" y="5569745"/>
            <a:ext cx="84137" cy="136525"/>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14" name="Oval 60"/>
          <p:cNvSpPr>
            <a:spLocks noChangeArrowheads="1"/>
          </p:cNvSpPr>
          <p:nvPr/>
        </p:nvSpPr>
        <p:spPr bwMode="auto">
          <a:xfrm rot="16200000">
            <a:off x="5507038" y="5576888"/>
            <a:ext cx="82550" cy="13335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15" name="Line 61"/>
          <p:cNvSpPr>
            <a:spLocks noChangeShapeType="1"/>
          </p:cNvSpPr>
          <p:nvPr/>
        </p:nvSpPr>
        <p:spPr bwMode="auto">
          <a:xfrm rot="16200000">
            <a:off x="6037264" y="5440364"/>
            <a:ext cx="79375" cy="31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6" name="Line 62"/>
          <p:cNvSpPr>
            <a:spLocks noChangeShapeType="1"/>
          </p:cNvSpPr>
          <p:nvPr/>
        </p:nvSpPr>
        <p:spPr bwMode="auto">
          <a:xfrm rot="5400000" flipH="1">
            <a:off x="4756944" y="5430044"/>
            <a:ext cx="8413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7" name="Line 63"/>
          <p:cNvSpPr>
            <a:spLocks noChangeShapeType="1"/>
          </p:cNvSpPr>
          <p:nvPr/>
        </p:nvSpPr>
        <p:spPr bwMode="auto">
          <a:xfrm rot="16200000" flipV="1">
            <a:off x="5443538" y="4754563"/>
            <a:ext cx="0" cy="12827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8" name="Line 64"/>
          <p:cNvSpPr>
            <a:spLocks noChangeShapeType="1"/>
          </p:cNvSpPr>
          <p:nvPr/>
        </p:nvSpPr>
        <p:spPr bwMode="auto">
          <a:xfrm flipV="1">
            <a:off x="4760914" y="4899026"/>
            <a:ext cx="192087" cy="31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9" name="Line 65"/>
          <p:cNvSpPr>
            <a:spLocks noChangeShapeType="1"/>
          </p:cNvSpPr>
          <p:nvPr/>
        </p:nvSpPr>
        <p:spPr bwMode="auto">
          <a:xfrm>
            <a:off x="5991226" y="4959351"/>
            <a:ext cx="619125" cy="5127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0" name="Line 66"/>
          <p:cNvSpPr>
            <a:spLocks noChangeShapeType="1"/>
          </p:cNvSpPr>
          <p:nvPr/>
        </p:nvSpPr>
        <p:spPr bwMode="auto">
          <a:xfrm flipH="1">
            <a:off x="7616825" y="4956176"/>
            <a:ext cx="571500" cy="5191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221" name="Object 67"/>
          <p:cNvGraphicFramePr>
            <a:graphicFrameLocks noChangeAspect="1"/>
          </p:cNvGraphicFramePr>
          <p:nvPr/>
        </p:nvGraphicFramePr>
        <p:xfrm>
          <a:off x="7980364" y="4360864"/>
          <a:ext cx="415925" cy="320675"/>
        </p:xfrm>
        <a:graphic>
          <a:graphicData uri="http://schemas.openxmlformats.org/presentationml/2006/ole">
            <mc:AlternateContent xmlns:mc="http://schemas.openxmlformats.org/markup-compatibility/2006">
              <mc:Choice xmlns:v="urn:schemas-microsoft-com:vml" Requires="v">
                <p:oleObj spid="_x0000_s32883" name="Clip" r:id="rId13" imgW="982811" imgH="1208363" progId="MS_ClipArt_Gallery.2">
                  <p:embed/>
                </p:oleObj>
              </mc:Choice>
              <mc:Fallback>
                <p:oleObj name="Clip" r:id="rId13" imgW="982811" imgH="1208363" progId="MS_ClipArt_Gallery.2">
                  <p:embed/>
                  <p:pic>
                    <p:nvPicPr>
                      <p:cNvPr id="0" name="Object 6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980364" y="4360864"/>
                        <a:ext cx="415925" cy="320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22" name="Object 68"/>
          <p:cNvGraphicFramePr>
            <a:graphicFrameLocks noChangeAspect="1"/>
          </p:cNvGraphicFramePr>
          <p:nvPr/>
        </p:nvGraphicFramePr>
        <p:xfrm>
          <a:off x="5248275" y="4468813"/>
          <a:ext cx="414338" cy="317500"/>
        </p:xfrm>
        <a:graphic>
          <a:graphicData uri="http://schemas.openxmlformats.org/presentationml/2006/ole">
            <mc:AlternateContent xmlns:mc="http://schemas.openxmlformats.org/markup-compatibility/2006">
              <mc:Choice xmlns:v="urn:schemas-microsoft-com:vml" Requires="v">
                <p:oleObj spid="_x0000_s32884" name="Clip" r:id="rId15" imgW="982811" imgH="1208363" progId="MS_ClipArt_Gallery.2">
                  <p:embed/>
                </p:oleObj>
              </mc:Choice>
              <mc:Fallback>
                <p:oleObj name="Clip" r:id="rId15" imgW="982811" imgH="1208363" progId="MS_ClipArt_Gallery.2">
                  <p:embed/>
                  <p:pic>
                    <p:nvPicPr>
                      <p:cNvPr id="0" name="Object 6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48275" y="4468813"/>
                        <a:ext cx="414338"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223" name="Group 69"/>
          <p:cNvGrpSpPr>
            <a:grpSpLocks/>
          </p:cNvGrpSpPr>
          <p:nvPr/>
        </p:nvGrpSpPr>
        <p:grpSpPr bwMode="auto">
          <a:xfrm>
            <a:off x="5957888" y="6057900"/>
            <a:ext cx="831850" cy="566738"/>
            <a:chOff x="2870" y="1518"/>
            <a:chExt cx="292" cy="320"/>
          </a:xfrm>
        </p:grpSpPr>
        <p:graphicFrame>
          <p:nvGraphicFramePr>
            <p:cNvPr id="8572" name="Object 7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2885" name="Clip" r:id="rId16" imgW="826829" imgH="840406" progId="MS_ClipArt_Gallery.2">
                    <p:embed/>
                  </p:oleObj>
                </mc:Choice>
                <mc:Fallback>
                  <p:oleObj name="Clip" r:id="rId16" imgW="826829" imgH="840406" progId="MS_ClipArt_Gallery.2">
                    <p:embed/>
                    <p:pic>
                      <p:nvPicPr>
                        <p:cNvPr id="0" name="Object 7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73" name="Object 7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2886" name="Clip" r:id="rId18" imgW="1268295" imgH="1199426" progId="MS_ClipArt_Gallery.2">
                    <p:embed/>
                  </p:oleObj>
                </mc:Choice>
                <mc:Fallback>
                  <p:oleObj name="Clip" r:id="rId18" imgW="1268295" imgH="1199426" progId="MS_ClipArt_Gallery.2">
                    <p:embed/>
                    <p:pic>
                      <p:nvPicPr>
                        <p:cNvPr id="0" name="Object 7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24" name="Group 72"/>
          <p:cNvGrpSpPr>
            <a:grpSpLocks/>
          </p:cNvGrpSpPr>
          <p:nvPr/>
        </p:nvGrpSpPr>
        <p:grpSpPr bwMode="auto">
          <a:xfrm>
            <a:off x="7548563" y="6099175"/>
            <a:ext cx="831850" cy="566738"/>
            <a:chOff x="2870" y="1518"/>
            <a:chExt cx="292" cy="320"/>
          </a:xfrm>
        </p:grpSpPr>
        <p:graphicFrame>
          <p:nvGraphicFramePr>
            <p:cNvPr id="8570" name="Object 7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2887" name="Clip" r:id="rId20" imgW="826829" imgH="840406" progId="MS_ClipArt_Gallery.2">
                    <p:embed/>
                  </p:oleObj>
                </mc:Choice>
                <mc:Fallback>
                  <p:oleObj name="Clip" r:id="rId20" imgW="826829" imgH="840406" progId="MS_ClipArt_Gallery.2">
                    <p:embed/>
                    <p:pic>
                      <p:nvPicPr>
                        <p:cNvPr id="0" name="Object 7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71" name="Object 7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2888" name="Clip" r:id="rId21" imgW="1268295" imgH="1199426" progId="MS_ClipArt_Gallery.2">
                    <p:embed/>
                  </p:oleObj>
                </mc:Choice>
                <mc:Fallback>
                  <p:oleObj name="Clip" r:id="rId21" imgW="1268295" imgH="1199426" progId="MS_ClipArt_Gallery.2">
                    <p:embed/>
                    <p:pic>
                      <p:nvPicPr>
                        <p:cNvPr id="0" name="Object 7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25" name="Group 75"/>
          <p:cNvGrpSpPr>
            <a:grpSpLocks/>
          </p:cNvGrpSpPr>
          <p:nvPr/>
        </p:nvGrpSpPr>
        <p:grpSpPr bwMode="auto">
          <a:xfrm>
            <a:off x="6702425" y="5722939"/>
            <a:ext cx="774700" cy="498475"/>
            <a:chOff x="4733" y="2082"/>
            <a:chExt cx="272" cy="282"/>
          </a:xfrm>
        </p:grpSpPr>
        <p:graphicFrame>
          <p:nvGraphicFramePr>
            <p:cNvPr id="8568" name="Object 76"/>
            <p:cNvGraphicFramePr>
              <a:graphicFrameLocks noChangeAspect="1"/>
            </p:cNvGraphicFramePr>
            <p:nvPr/>
          </p:nvGraphicFramePr>
          <p:xfrm>
            <a:off x="4733" y="2082"/>
            <a:ext cx="272" cy="282"/>
          </p:xfrm>
          <a:graphic>
            <a:graphicData uri="http://schemas.openxmlformats.org/presentationml/2006/ole">
              <mc:AlternateContent xmlns:mc="http://schemas.openxmlformats.org/markup-compatibility/2006">
                <mc:Choice xmlns:v="urn:schemas-microsoft-com:vml" Requires="v">
                  <p:oleObj spid="_x0000_s32889" name="Clip" r:id="rId22" imgW="826829" imgH="840406" progId="MS_ClipArt_Gallery.2">
                    <p:embed/>
                  </p:oleObj>
                </mc:Choice>
                <mc:Fallback>
                  <p:oleObj name="Clip" r:id="rId22" imgW="826829" imgH="840406" progId="MS_ClipArt_Gallery.2">
                    <p:embed/>
                    <p:pic>
                      <p:nvPicPr>
                        <p:cNvPr id="0" name="Object 7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33" y="2082"/>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69" name="Rectangle 77"/>
            <p:cNvSpPr>
              <a:spLocks noChangeArrowheads="1"/>
            </p:cNvSpPr>
            <p:nvPr/>
          </p:nvSpPr>
          <p:spPr bwMode="auto">
            <a:xfrm>
              <a:off x="4812" y="2181"/>
              <a:ext cx="192" cy="183"/>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8226" name="Line 78"/>
          <p:cNvSpPr>
            <a:spLocks noChangeShapeType="1"/>
          </p:cNvSpPr>
          <p:nvPr/>
        </p:nvSpPr>
        <p:spPr bwMode="auto">
          <a:xfrm>
            <a:off x="7327900" y="5594351"/>
            <a:ext cx="0" cy="303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227" name="Group 79"/>
          <p:cNvGrpSpPr>
            <a:grpSpLocks/>
          </p:cNvGrpSpPr>
          <p:nvPr/>
        </p:nvGrpSpPr>
        <p:grpSpPr bwMode="auto">
          <a:xfrm>
            <a:off x="8802688" y="4829176"/>
            <a:ext cx="425450" cy="542925"/>
            <a:chOff x="4180" y="783"/>
            <a:chExt cx="150" cy="307"/>
          </a:xfrm>
        </p:grpSpPr>
        <p:sp>
          <p:nvSpPr>
            <p:cNvPr id="8560" name="AutoShape 80"/>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61" name="Rectangle 81"/>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62" name="Rectangle 82"/>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63" name="AutoShape 83"/>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64" name="Line 84"/>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65" name="Line 85"/>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66" name="Rectangle 86"/>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67" name="Rectangle 87"/>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grpSp>
        <p:nvGrpSpPr>
          <p:cNvPr id="8228" name="Group 88"/>
          <p:cNvGrpSpPr>
            <a:grpSpLocks/>
          </p:cNvGrpSpPr>
          <p:nvPr/>
        </p:nvGrpSpPr>
        <p:grpSpPr bwMode="auto">
          <a:xfrm>
            <a:off x="8775700" y="5419726"/>
            <a:ext cx="425450" cy="542925"/>
            <a:chOff x="4180" y="783"/>
            <a:chExt cx="150" cy="307"/>
          </a:xfrm>
        </p:grpSpPr>
        <p:sp>
          <p:nvSpPr>
            <p:cNvPr id="8552" name="AutoShape 89"/>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53" name="Rectangle 90"/>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54" name="Rectangle 91"/>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55" name="AutoShape 92"/>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56" name="Line 93"/>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57" name="Line 94"/>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58" name="Rectangle 95"/>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59" name="Rectangle 96"/>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8229" name="Line 97"/>
          <p:cNvSpPr>
            <a:spLocks noChangeShapeType="1"/>
          </p:cNvSpPr>
          <p:nvPr/>
        </p:nvSpPr>
        <p:spPr bwMode="auto">
          <a:xfrm rot="5400000" flipH="1">
            <a:off x="8230394" y="5325269"/>
            <a:ext cx="8112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0" name="Line 98"/>
          <p:cNvSpPr>
            <a:spLocks noChangeShapeType="1"/>
          </p:cNvSpPr>
          <p:nvPr/>
        </p:nvSpPr>
        <p:spPr bwMode="auto">
          <a:xfrm rot="16200000">
            <a:off x="8735219" y="5623719"/>
            <a:ext cx="0" cy="2111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1" name="Line 99"/>
          <p:cNvSpPr>
            <a:spLocks noChangeShapeType="1"/>
          </p:cNvSpPr>
          <p:nvPr/>
        </p:nvSpPr>
        <p:spPr bwMode="auto">
          <a:xfrm rot="16200000">
            <a:off x="8714582" y="5006182"/>
            <a:ext cx="0" cy="1825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2" name="Line 100"/>
          <p:cNvSpPr>
            <a:spLocks noChangeShapeType="1"/>
          </p:cNvSpPr>
          <p:nvPr/>
        </p:nvSpPr>
        <p:spPr bwMode="auto">
          <a:xfrm flipV="1">
            <a:off x="6013451" y="2570164"/>
            <a:ext cx="938213" cy="276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3" name="Line 101"/>
          <p:cNvSpPr>
            <a:spLocks noChangeShapeType="1"/>
          </p:cNvSpPr>
          <p:nvPr/>
        </p:nvSpPr>
        <p:spPr bwMode="auto">
          <a:xfrm>
            <a:off x="7926389" y="2549526"/>
            <a:ext cx="992187" cy="276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4" name="Line 102"/>
          <p:cNvSpPr>
            <a:spLocks noChangeShapeType="1"/>
          </p:cNvSpPr>
          <p:nvPr/>
        </p:nvSpPr>
        <p:spPr bwMode="auto">
          <a:xfrm flipH="1">
            <a:off x="8986838" y="2995614"/>
            <a:ext cx="493712" cy="9048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5" name="Line 103"/>
          <p:cNvSpPr>
            <a:spLocks noChangeShapeType="1"/>
          </p:cNvSpPr>
          <p:nvPr/>
        </p:nvSpPr>
        <p:spPr bwMode="auto">
          <a:xfrm>
            <a:off x="7413625" y="2698750"/>
            <a:ext cx="0" cy="5730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6" name="Line 104"/>
          <p:cNvSpPr>
            <a:spLocks noChangeShapeType="1"/>
          </p:cNvSpPr>
          <p:nvPr/>
        </p:nvSpPr>
        <p:spPr bwMode="auto">
          <a:xfrm>
            <a:off x="7464425" y="3559175"/>
            <a:ext cx="1093788" cy="4889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7" name="Line 105"/>
          <p:cNvSpPr>
            <a:spLocks noChangeShapeType="1"/>
          </p:cNvSpPr>
          <p:nvPr/>
        </p:nvSpPr>
        <p:spPr bwMode="auto">
          <a:xfrm flipH="1">
            <a:off x="8405813" y="4176714"/>
            <a:ext cx="546100" cy="4778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8" name="Line 106"/>
          <p:cNvSpPr>
            <a:spLocks noChangeShapeType="1"/>
          </p:cNvSpPr>
          <p:nvPr/>
        </p:nvSpPr>
        <p:spPr bwMode="auto">
          <a:xfrm flipH="1">
            <a:off x="7942264" y="2954339"/>
            <a:ext cx="1146175" cy="5095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9" name="Line 107"/>
          <p:cNvSpPr>
            <a:spLocks noChangeShapeType="1"/>
          </p:cNvSpPr>
          <p:nvPr/>
        </p:nvSpPr>
        <p:spPr bwMode="auto">
          <a:xfrm flipH="1">
            <a:off x="7961313" y="2209801"/>
            <a:ext cx="717550" cy="3397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0" name="Line 108"/>
          <p:cNvSpPr>
            <a:spLocks noChangeShapeType="1"/>
          </p:cNvSpPr>
          <p:nvPr/>
        </p:nvSpPr>
        <p:spPr bwMode="auto">
          <a:xfrm flipH="1">
            <a:off x="9428163" y="2444751"/>
            <a:ext cx="412750" cy="2333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241" name="Group 109"/>
          <p:cNvGrpSpPr>
            <a:grpSpLocks/>
          </p:cNvGrpSpPr>
          <p:nvPr/>
        </p:nvGrpSpPr>
        <p:grpSpPr bwMode="auto">
          <a:xfrm>
            <a:off x="4953001" y="2698751"/>
            <a:ext cx="1025525" cy="309563"/>
            <a:chOff x="3600" y="219"/>
            <a:chExt cx="360" cy="175"/>
          </a:xfrm>
        </p:grpSpPr>
        <p:sp>
          <p:nvSpPr>
            <p:cNvPr id="8539" name="Oval 110"/>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40" name="Line 111"/>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41" name="Line 112"/>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42" name="Rectangle 113"/>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543" name="Oval 114"/>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544" name="Group 115"/>
            <p:cNvGrpSpPr>
              <a:grpSpLocks/>
            </p:cNvGrpSpPr>
            <p:nvPr/>
          </p:nvGrpSpPr>
          <p:grpSpPr bwMode="auto">
            <a:xfrm>
              <a:off x="3686" y="244"/>
              <a:ext cx="177" cy="66"/>
              <a:chOff x="2848" y="848"/>
              <a:chExt cx="140" cy="98"/>
            </a:xfrm>
          </p:grpSpPr>
          <p:sp>
            <p:nvSpPr>
              <p:cNvPr id="8549" name="Line 11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50" name="Line 11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51" name="Line 11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545" name="Group 119"/>
            <p:cNvGrpSpPr>
              <a:grpSpLocks/>
            </p:cNvGrpSpPr>
            <p:nvPr/>
          </p:nvGrpSpPr>
          <p:grpSpPr bwMode="auto">
            <a:xfrm flipV="1">
              <a:off x="3686" y="243"/>
              <a:ext cx="177" cy="66"/>
              <a:chOff x="2848" y="848"/>
              <a:chExt cx="140" cy="98"/>
            </a:xfrm>
          </p:grpSpPr>
          <p:sp>
            <p:nvSpPr>
              <p:cNvPr id="8546" name="Line 12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47" name="Line 12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48" name="Line 12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2" name="Group 123"/>
          <p:cNvGrpSpPr>
            <a:grpSpLocks/>
          </p:cNvGrpSpPr>
          <p:nvPr/>
        </p:nvGrpSpPr>
        <p:grpSpPr bwMode="auto">
          <a:xfrm>
            <a:off x="6899276" y="2395538"/>
            <a:ext cx="1027113" cy="309562"/>
            <a:chOff x="3600" y="219"/>
            <a:chExt cx="360" cy="175"/>
          </a:xfrm>
        </p:grpSpPr>
        <p:sp>
          <p:nvSpPr>
            <p:cNvPr id="8526" name="Oval 124"/>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27" name="Line 125"/>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8" name="Line 126"/>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9" name="Rectangle 127"/>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530" name="Oval 128"/>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531" name="Group 129"/>
            <p:cNvGrpSpPr>
              <a:grpSpLocks/>
            </p:cNvGrpSpPr>
            <p:nvPr/>
          </p:nvGrpSpPr>
          <p:grpSpPr bwMode="auto">
            <a:xfrm>
              <a:off x="3686" y="244"/>
              <a:ext cx="177" cy="66"/>
              <a:chOff x="2848" y="848"/>
              <a:chExt cx="140" cy="98"/>
            </a:xfrm>
          </p:grpSpPr>
          <p:sp>
            <p:nvSpPr>
              <p:cNvPr id="8536" name="Line 13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37" name="Line 13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38" name="Line 13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532" name="Group 133"/>
            <p:cNvGrpSpPr>
              <a:grpSpLocks/>
            </p:cNvGrpSpPr>
            <p:nvPr/>
          </p:nvGrpSpPr>
          <p:grpSpPr bwMode="auto">
            <a:xfrm flipV="1">
              <a:off x="3686" y="243"/>
              <a:ext cx="177" cy="66"/>
              <a:chOff x="2848" y="848"/>
              <a:chExt cx="140" cy="98"/>
            </a:xfrm>
          </p:grpSpPr>
          <p:sp>
            <p:nvSpPr>
              <p:cNvPr id="8533" name="Line 13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34" name="Line 13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35" name="Line 13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3" name="Group 137"/>
          <p:cNvGrpSpPr>
            <a:grpSpLocks/>
          </p:cNvGrpSpPr>
          <p:nvPr/>
        </p:nvGrpSpPr>
        <p:grpSpPr bwMode="auto">
          <a:xfrm>
            <a:off x="6935789" y="3268663"/>
            <a:ext cx="1025525" cy="309562"/>
            <a:chOff x="3600" y="219"/>
            <a:chExt cx="360" cy="175"/>
          </a:xfrm>
        </p:grpSpPr>
        <p:sp>
          <p:nvSpPr>
            <p:cNvPr id="8513" name="Oval 138"/>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14" name="Line 139"/>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15" name="Line 140"/>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16" name="Rectangle 141"/>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517" name="Oval 142"/>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518" name="Group 143"/>
            <p:cNvGrpSpPr>
              <a:grpSpLocks/>
            </p:cNvGrpSpPr>
            <p:nvPr/>
          </p:nvGrpSpPr>
          <p:grpSpPr bwMode="auto">
            <a:xfrm>
              <a:off x="3686" y="244"/>
              <a:ext cx="177" cy="66"/>
              <a:chOff x="2848" y="848"/>
              <a:chExt cx="140" cy="98"/>
            </a:xfrm>
          </p:grpSpPr>
          <p:sp>
            <p:nvSpPr>
              <p:cNvPr id="8523" name="Line 14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4" name="Line 14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5" name="Line 14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519" name="Group 147"/>
            <p:cNvGrpSpPr>
              <a:grpSpLocks/>
            </p:cNvGrpSpPr>
            <p:nvPr/>
          </p:nvGrpSpPr>
          <p:grpSpPr bwMode="auto">
            <a:xfrm flipV="1">
              <a:off x="3686" y="243"/>
              <a:ext cx="177" cy="66"/>
              <a:chOff x="2848" y="848"/>
              <a:chExt cx="140" cy="98"/>
            </a:xfrm>
          </p:grpSpPr>
          <p:sp>
            <p:nvSpPr>
              <p:cNvPr id="8520" name="Line 14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1" name="Line 14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2" name="Line 15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4" name="Group 151"/>
          <p:cNvGrpSpPr>
            <a:grpSpLocks/>
          </p:cNvGrpSpPr>
          <p:nvPr/>
        </p:nvGrpSpPr>
        <p:grpSpPr bwMode="auto">
          <a:xfrm>
            <a:off x="8918575" y="2671763"/>
            <a:ext cx="1023938" cy="309562"/>
            <a:chOff x="3600" y="219"/>
            <a:chExt cx="360" cy="175"/>
          </a:xfrm>
        </p:grpSpPr>
        <p:sp>
          <p:nvSpPr>
            <p:cNvPr id="8500" name="Oval 152"/>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01" name="Line 153"/>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 name="Line 154"/>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 name="Rectangle 155"/>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504" name="Oval 156"/>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505" name="Group 157"/>
            <p:cNvGrpSpPr>
              <a:grpSpLocks/>
            </p:cNvGrpSpPr>
            <p:nvPr/>
          </p:nvGrpSpPr>
          <p:grpSpPr bwMode="auto">
            <a:xfrm>
              <a:off x="3686" y="244"/>
              <a:ext cx="177" cy="66"/>
              <a:chOff x="2848" y="848"/>
              <a:chExt cx="140" cy="98"/>
            </a:xfrm>
          </p:grpSpPr>
          <p:sp>
            <p:nvSpPr>
              <p:cNvPr id="8510" name="Line 15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11" name="Line 15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12" name="Line 16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506" name="Group 161"/>
            <p:cNvGrpSpPr>
              <a:grpSpLocks/>
            </p:cNvGrpSpPr>
            <p:nvPr/>
          </p:nvGrpSpPr>
          <p:grpSpPr bwMode="auto">
            <a:xfrm flipV="1">
              <a:off x="3686" y="243"/>
              <a:ext cx="177" cy="66"/>
              <a:chOff x="2848" y="848"/>
              <a:chExt cx="140" cy="98"/>
            </a:xfrm>
          </p:grpSpPr>
          <p:sp>
            <p:nvSpPr>
              <p:cNvPr id="8507" name="Line 162"/>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8" name="Line 16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9" name="Line 164"/>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5" name="Group 165"/>
          <p:cNvGrpSpPr>
            <a:grpSpLocks/>
          </p:cNvGrpSpPr>
          <p:nvPr/>
        </p:nvGrpSpPr>
        <p:grpSpPr bwMode="auto">
          <a:xfrm>
            <a:off x="8523289" y="3862388"/>
            <a:ext cx="1025525" cy="309562"/>
            <a:chOff x="3600" y="219"/>
            <a:chExt cx="360" cy="175"/>
          </a:xfrm>
        </p:grpSpPr>
        <p:sp>
          <p:nvSpPr>
            <p:cNvPr id="8487" name="Oval 166"/>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88" name="Line 167"/>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9" name="Line 168"/>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0" name="Rectangle 169"/>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491" name="Oval 170"/>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492" name="Group 171"/>
            <p:cNvGrpSpPr>
              <a:grpSpLocks/>
            </p:cNvGrpSpPr>
            <p:nvPr/>
          </p:nvGrpSpPr>
          <p:grpSpPr bwMode="auto">
            <a:xfrm>
              <a:off x="3686" y="244"/>
              <a:ext cx="177" cy="66"/>
              <a:chOff x="2848" y="848"/>
              <a:chExt cx="140" cy="98"/>
            </a:xfrm>
          </p:grpSpPr>
          <p:sp>
            <p:nvSpPr>
              <p:cNvPr id="8497" name="Line 172"/>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8" name="Line 17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9" name="Line 174"/>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93" name="Group 175"/>
            <p:cNvGrpSpPr>
              <a:grpSpLocks/>
            </p:cNvGrpSpPr>
            <p:nvPr/>
          </p:nvGrpSpPr>
          <p:grpSpPr bwMode="auto">
            <a:xfrm flipV="1">
              <a:off x="3686" y="243"/>
              <a:ext cx="177" cy="66"/>
              <a:chOff x="2848" y="848"/>
              <a:chExt cx="140" cy="98"/>
            </a:xfrm>
          </p:grpSpPr>
          <p:sp>
            <p:nvSpPr>
              <p:cNvPr id="8494" name="Line 17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5" name="Line 17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6" name="Line 17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6" name="Group 179"/>
          <p:cNvGrpSpPr>
            <a:grpSpLocks/>
          </p:cNvGrpSpPr>
          <p:nvPr/>
        </p:nvGrpSpPr>
        <p:grpSpPr bwMode="auto">
          <a:xfrm>
            <a:off x="7840663" y="4637089"/>
            <a:ext cx="1027112" cy="312737"/>
            <a:chOff x="3600" y="219"/>
            <a:chExt cx="360" cy="175"/>
          </a:xfrm>
        </p:grpSpPr>
        <p:sp>
          <p:nvSpPr>
            <p:cNvPr id="8474" name="Oval 180"/>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75" name="Line 181"/>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76" name="Line 182"/>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77" name="Rectangle 183"/>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478" name="Oval 184"/>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479" name="Group 185"/>
            <p:cNvGrpSpPr>
              <a:grpSpLocks/>
            </p:cNvGrpSpPr>
            <p:nvPr/>
          </p:nvGrpSpPr>
          <p:grpSpPr bwMode="auto">
            <a:xfrm>
              <a:off x="3686" y="244"/>
              <a:ext cx="177" cy="66"/>
              <a:chOff x="2848" y="848"/>
              <a:chExt cx="140" cy="98"/>
            </a:xfrm>
          </p:grpSpPr>
          <p:sp>
            <p:nvSpPr>
              <p:cNvPr id="8484" name="Line 18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5" name="Line 18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6" name="Line 18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80" name="Group 189"/>
            <p:cNvGrpSpPr>
              <a:grpSpLocks/>
            </p:cNvGrpSpPr>
            <p:nvPr/>
          </p:nvGrpSpPr>
          <p:grpSpPr bwMode="auto">
            <a:xfrm flipV="1">
              <a:off x="3686" y="243"/>
              <a:ext cx="177" cy="66"/>
              <a:chOff x="2848" y="848"/>
              <a:chExt cx="140" cy="98"/>
            </a:xfrm>
          </p:grpSpPr>
          <p:sp>
            <p:nvSpPr>
              <p:cNvPr id="8481" name="Line 19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2" name="Line 19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3" name="Line 19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7" name="Group 193"/>
          <p:cNvGrpSpPr>
            <a:grpSpLocks/>
          </p:cNvGrpSpPr>
          <p:nvPr/>
        </p:nvGrpSpPr>
        <p:grpSpPr bwMode="auto">
          <a:xfrm>
            <a:off x="6594475" y="5286376"/>
            <a:ext cx="1022350" cy="309563"/>
            <a:chOff x="3600" y="219"/>
            <a:chExt cx="360" cy="175"/>
          </a:xfrm>
        </p:grpSpPr>
        <p:sp>
          <p:nvSpPr>
            <p:cNvPr id="8461" name="Oval 194"/>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62" name="Line 195"/>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3" name="Line 196"/>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4" name="Rectangle 197"/>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465" name="Oval 198"/>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466" name="Group 199"/>
            <p:cNvGrpSpPr>
              <a:grpSpLocks/>
            </p:cNvGrpSpPr>
            <p:nvPr/>
          </p:nvGrpSpPr>
          <p:grpSpPr bwMode="auto">
            <a:xfrm>
              <a:off x="3686" y="244"/>
              <a:ext cx="177" cy="66"/>
              <a:chOff x="2848" y="848"/>
              <a:chExt cx="140" cy="98"/>
            </a:xfrm>
          </p:grpSpPr>
          <p:sp>
            <p:nvSpPr>
              <p:cNvPr id="8471" name="Line 20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72" name="Line 20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73" name="Line 20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67" name="Group 203"/>
            <p:cNvGrpSpPr>
              <a:grpSpLocks/>
            </p:cNvGrpSpPr>
            <p:nvPr/>
          </p:nvGrpSpPr>
          <p:grpSpPr bwMode="auto">
            <a:xfrm flipV="1">
              <a:off x="3686" y="243"/>
              <a:ext cx="177" cy="66"/>
              <a:chOff x="2848" y="848"/>
              <a:chExt cx="140" cy="98"/>
            </a:xfrm>
          </p:grpSpPr>
          <p:sp>
            <p:nvSpPr>
              <p:cNvPr id="8468" name="Line 20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9" name="Line 20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70" name="Line 20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8" name="Group 207"/>
          <p:cNvGrpSpPr>
            <a:grpSpLocks/>
          </p:cNvGrpSpPr>
          <p:nvPr/>
        </p:nvGrpSpPr>
        <p:grpSpPr bwMode="auto">
          <a:xfrm>
            <a:off x="4953001" y="4786313"/>
            <a:ext cx="1025525" cy="311150"/>
            <a:chOff x="3600" y="219"/>
            <a:chExt cx="360" cy="175"/>
          </a:xfrm>
        </p:grpSpPr>
        <p:sp>
          <p:nvSpPr>
            <p:cNvPr id="8448" name="Oval 208"/>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49" name="Line 209"/>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50" name="Line 210"/>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51" name="Rectangle 211"/>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452" name="Oval 212"/>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453" name="Group 213"/>
            <p:cNvGrpSpPr>
              <a:grpSpLocks/>
            </p:cNvGrpSpPr>
            <p:nvPr/>
          </p:nvGrpSpPr>
          <p:grpSpPr bwMode="auto">
            <a:xfrm>
              <a:off x="3686" y="244"/>
              <a:ext cx="177" cy="66"/>
              <a:chOff x="2848" y="848"/>
              <a:chExt cx="140" cy="98"/>
            </a:xfrm>
          </p:grpSpPr>
          <p:sp>
            <p:nvSpPr>
              <p:cNvPr id="8458" name="Line 21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59" name="Line 21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0" name="Line 21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54" name="Group 217"/>
            <p:cNvGrpSpPr>
              <a:grpSpLocks/>
            </p:cNvGrpSpPr>
            <p:nvPr/>
          </p:nvGrpSpPr>
          <p:grpSpPr bwMode="auto">
            <a:xfrm flipV="1">
              <a:off x="3686" y="243"/>
              <a:ext cx="177" cy="66"/>
              <a:chOff x="2848" y="848"/>
              <a:chExt cx="140" cy="98"/>
            </a:xfrm>
          </p:grpSpPr>
          <p:sp>
            <p:nvSpPr>
              <p:cNvPr id="8455" name="Line 21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56" name="Line 21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57" name="Line 22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8249" name="Line 221"/>
          <p:cNvSpPr>
            <a:spLocks noChangeShapeType="1"/>
          </p:cNvSpPr>
          <p:nvPr/>
        </p:nvSpPr>
        <p:spPr bwMode="auto">
          <a:xfrm flipV="1">
            <a:off x="5475289" y="5068889"/>
            <a:ext cx="3175" cy="3317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34526" name="Group 222"/>
          <p:cNvGrpSpPr>
            <a:grpSpLocks/>
          </p:cNvGrpSpPr>
          <p:nvPr/>
        </p:nvGrpSpPr>
        <p:grpSpPr bwMode="auto">
          <a:xfrm>
            <a:off x="2484438" y="1562100"/>
            <a:ext cx="7853362" cy="5054600"/>
            <a:chOff x="605" y="984"/>
            <a:chExt cx="4947" cy="3184"/>
          </a:xfrm>
        </p:grpSpPr>
        <p:grpSp>
          <p:nvGrpSpPr>
            <p:cNvPr id="8252" name="Group 223"/>
            <p:cNvGrpSpPr>
              <a:grpSpLocks/>
            </p:cNvGrpSpPr>
            <p:nvPr/>
          </p:nvGrpSpPr>
          <p:grpSpPr bwMode="auto">
            <a:xfrm>
              <a:off x="1933" y="1280"/>
              <a:ext cx="3619" cy="2501"/>
              <a:chOff x="3658" y="1203"/>
              <a:chExt cx="1770" cy="1885"/>
            </a:xfrm>
          </p:grpSpPr>
          <p:grpSp>
            <p:nvGrpSpPr>
              <p:cNvPr id="8272" name="Group 224"/>
              <p:cNvGrpSpPr>
                <a:grpSpLocks/>
              </p:cNvGrpSpPr>
              <p:nvPr/>
            </p:nvGrpSpPr>
            <p:grpSpPr bwMode="auto">
              <a:xfrm>
                <a:off x="3712" y="2313"/>
                <a:ext cx="513" cy="453"/>
                <a:chOff x="3937" y="633"/>
                <a:chExt cx="513" cy="453"/>
              </a:xfrm>
            </p:grpSpPr>
            <p:sp>
              <p:nvSpPr>
                <p:cNvPr id="8427" name="Line 225"/>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28" name="Line 226"/>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29" name="Oval 227"/>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30" name="Line 228"/>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31" name="Line 229"/>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32" name="Rectangle 230"/>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433" name="Oval 231"/>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434" name="Group 232"/>
                <p:cNvGrpSpPr>
                  <a:grpSpLocks/>
                </p:cNvGrpSpPr>
                <p:nvPr/>
              </p:nvGrpSpPr>
              <p:grpSpPr bwMode="auto">
                <a:xfrm>
                  <a:off x="4120" y="809"/>
                  <a:ext cx="156" cy="55"/>
                  <a:chOff x="2848" y="848"/>
                  <a:chExt cx="140" cy="98"/>
                </a:xfrm>
              </p:grpSpPr>
              <p:sp>
                <p:nvSpPr>
                  <p:cNvPr id="8445" name="Line 23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46" name="Line 23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47" name="Line 23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35" name="Group 236"/>
                <p:cNvGrpSpPr>
                  <a:grpSpLocks/>
                </p:cNvGrpSpPr>
                <p:nvPr/>
              </p:nvGrpSpPr>
              <p:grpSpPr bwMode="auto">
                <a:xfrm flipV="1">
                  <a:off x="4120" y="808"/>
                  <a:ext cx="156" cy="56"/>
                  <a:chOff x="2848" y="848"/>
                  <a:chExt cx="140" cy="98"/>
                </a:xfrm>
              </p:grpSpPr>
              <p:sp>
                <p:nvSpPr>
                  <p:cNvPr id="8442" name="Line 23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43" name="Line 23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44" name="Line 23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436" name="Rectangle 240"/>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37" name="Rectangle 241"/>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38" name="Line 242"/>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39" name="Line 243"/>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40" name="Rectangle 244"/>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41" name="Text Box 245"/>
                <p:cNvSpPr txBox="1">
                  <a:spLocks noChangeArrowheads="1"/>
                </p:cNvSpPr>
                <p:nvPr/>
              </p:nvSpPr>
              <p:spPr bwMode="auto">
                <a:xfrm>
                  <a:off x="3937" y="633"/>
                  <a:ext cx="513"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物理层</a:t>
                  </a:r>
                </a:p>
              </p:txBody>
            </p:sp>
          </p:grpSp>
          <p:grpSp>
            <p:nvGrpSpPr>
              <p:cNvPr id="8273" name="Group 246"/>
              <p:cNvGrpSpPr>
                <a:grpSpLocks/>
              </p:cNvGrpSpPr>
              <p:nvPr/>
            </p:nvGrpSpPr>
            <p:grpSpPr bwMode="auto">
              <a:xfrm>
                <a:off x="4261" y="1671"/>
                <a:ext cx="513" cy="453"/>
                <a:chOff x="3937" y="633"/>
                <a:chExt cx="513" cy="453"/>
              </a:xfrm>
            </p:grpSpPr>
            <p:sp>
              <p:nvSpPr>
                <p:cNvPr id="8406" name="Line 247"/>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7" name="Line 248"/>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8" name="Oval 249"/>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09" name="Line 250"/>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0" name="Line 251"/>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1" name="Rectangle 252"/>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412" name="Oval 253"/>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413" name="Group 254"/>
                <p:cNvGrpSpPr>
                  <a:grpSpLocks/>
                </p:cNvGrpSpPr>
                <p:nvPr/>
              </p:nvGrpSpPr>
              <p:grpSpPr bwMode="auto">
                <a:xfrm>
                  <a:off x="4120" y="809"/>
                  <a:ext cx="156" cy="55"/>
                  <a:chOff x="2848" y="848"/>
                  <a:chExt cx="140" cy="98"/>
                </a:xfrm>
              </p:grpSpPr>
              <p:sp>
                <p:nvSpPr>
                  <p:cNvPr id="8424" name="Line 25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25" name="Line 25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26" name="Line 25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14" name="Group 258"/>
                <p:cNvGrpSpPr>
                  <a:grpSpLocks/>
                </p:cNvGrpSpPr>
                <p:nvPr/>
              </p:nvGrpSpPr>
              <p:grpSpPr bwMode="auto">
                <a:xfrm flipV="1">
                  <a:off x="4120" y="808"/>
                  <a:ext cx="156" cy="56"/>
                  <a:chOff x="2848" y="848"/>
                  <a:chExt cx="140" cy="98"/>
                </a:xfrm>
              </p:grpSpPr>
              <p:sp>
                <p:nvSpPr>
                  <p:cNvPr id="8421" name="Line 25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22" name="Line 26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23" name="Line 26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415" name="Rectangle 262"/>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16" name="Rectangle 263"/>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17" name="Line 264"/>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8" name="Line 265"/>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9" name="Rectangle 266"/>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20" name="Text Box 267"/>
                <p:cNvSpPr txBox="1">
                  <a:spLocks noChangeArrowheads="1"/>
                </p:cNvSpPr>
                <p:nvPr/>
              </p:nvSpPr>
              <p:spPr bwMode="auto">
                <a:xfrm>
                  <a:off x="3937" y="633"/>
                  <a:ext cx="513"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物理层</a:t>
                  </a:r>
                </a:p>
              </p:txBody>
            </p:sp>
          </p:grpSp>
          <p:grpSp>
            <p:nvGrpSpPr>
              <p:cNvPr id="8274" name="Group 268"/>
              <p:cNvGrpSpPr>
                <a:grpSpLocks/>
              </p:cNvGrpSpPr>
              <p:nvPr/>
            </p:nvGrpSpPr>
            <p:grpSpPr bwMode="auto">
              <a:xfrm>
                <a:off x="4270" y="1203"/>
                <a:ext cx="513" cy="453"/>
                <a:chOff x="3937" y="633"/>
                <a:chExt cx="513" cy="453"/>
              </a:xfrm>
            </p:grpSpPr>
            <p:sp>
              <p:nvSpPr>
                <p:cNvPr id="8385" name="Line 269"/>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6" name="Line 270"/>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7" name="Oval 271"/>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88" name="Line 272"/>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9" name="Line 273"/>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0" name="Rectangle 274"/>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391" name="Oval 275"/>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392" name="Group 276"/>
                <p:cNvGrpSpPr>
                  <a:grpSpLocks/>
                </p:cNvGrpSpPr>
                <p:nvPr/>
              </p:nvGrpSpPr>
              <p:grpSpPr bwMode="auto">
                <a:xfrm>
                  <a:off x="4120" y="809"/>
                  <a:ext cx="156" cy="55"/>
                  <a:chOff x="2848" y="848"/>
                  <a:chExt cx="140" cy="98"/>
                </a:xfrm>
              </p:grpSpPr>
              <p:sp>
                <p:nvSpPr>
                  <p:cNvPr id="8403" name="Line 27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4" name="Line 27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5" name="Line 27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393" name="Group 280"/>
                <p:cNvGrpSpPr>
                  <a:grpSpLocks/>
                </p:cNvGrpSpPr>
                <p:nvPr/>
              </p:nvGrpSpPr>
              <p:grpSpPr bwMode="auto">
                <a:xfrm flipV="1">
                  <a:off x="4120" y="808"/>
                  <a:ext cx="156" cy="56"/>
                  <a:chOff x="2848" y="848"/>
                  <a:chExt cx="140" cy="98"/>
                </a:xfrm>
              </p:grpSpPr>
              <p:sp>
                <p:nvSpPr>
                  <p:cNvPr id="8400" name="Line 28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1" name="Line 28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2" name="Line 28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94" name="Rectangle 284"/>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95" name="Rectangle 285"/>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96" name="Line 286"/>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 name="Line 287"/>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8" name="Rectangle 288"/>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99" name="Text Box 289"/>
                <p:cNvSpPr txBox="1">
                  <a:spLocks noChangeArrowheads="1"/>
                </p:cNvSpPr>
                <p:nvPr/>
              </p:nvSpPr>
              <p:spPr bwMode="auto">
                <a:xfrm>
                  <a:off x="3937" y="633"/>
                  <a:ext cx="513"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网络层</a:t>
                  </a:r>
                  <a:endParaRPr lang="zh-CN" altLang="en-US" sz="1400">
                    <a:solidFill>
                      <a:schemeClr val="tx1"/>
                    </a:solidFill>
                  </a:endParaRPr>
                </a:p>
              </p:txBody>
            </p:sp>
          </p:grpSp>
          <p:grpSp>
            <p:nvGrpSpPr>
              <p:cNvPr id="8275" name="Group 290"/>
              <p:cNvGrpSpPr>
                <a:grpSpLocks/>
              </p:cNvGrpSpPr>
              <p:nvPr/>
            </p:nvGrpSpPr>
            <p:grpSpPr bwMode="auto">
              <a:xfrm>
                <a:off x="4477" y="2241"/>
                <a:ext cx="513" cy="555"/>
                <a:chOff x="3937" y="633"/>
                <a:chExt cx="513" cy="555"/>
              </a:xfrm>
            </p:grpSpPr>
            <p:sp>
              <p:nvSpPr>
                <p:cNvPr id="8364" name="Line 291"/>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5" name="Line 292"/>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6" name="Oval 293"/>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67" name="Line 294"/>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8" name="Line 295"/>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9" name="Rectangle 296"/>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370" name="Oval 297"/>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371" name="Group 298"/>
                <p:cNvGrpSpPr>
                  <a:grpSpLocks/>
                </p:cNvGrpSpPr>
                <p:nvPr/>
              </p:nvGrpSpPr>
              <p:grpSpPr bwMode="auto">
                <a:xfrm>
                  <a:off x="4120" y="809"/>
                  <a:ext cx="156" cy="55"/>
                  <a:chOff x="2848" y="848"/>
                  <a:chExt cx="140" cy="98"/>
                </a:xfrm>
              </p:grpSpPr>
              <p:sp>
                <p:nvSpPr>
                  <p:cNvPr id="8382" name="Line 29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3" name="Line 30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4" name="Line 30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372" name="Group 302"/>
                <p:cNvGrpSpPr>
                  <a:grpSpLocks/>
                </p:cNvGrpSpPr>
                <p:nvPr/>
              </p:nvGrpSpPr>
              <p:grpSpPr bwMode="auto">
                <a:xfrm flipV="1">
                  <a:off x="4120" y="808"/>
                  <a:ext cx="156" cy="56"/>
                  <a:chOff x="2848" y="848"/>
                  <a:chExt cx="140" cy="98"/>
                </a:xfrm>
              </p:grpSpPr>
              <p:sp>
                <p:nvSpPr>
                  <p:cNvPr id="8379" name="Line 30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0" name="Line 30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1" name="Line 30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73" name="Rectangle 306"/>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74" name="Rectangle 307"/>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75" name="Line 308"/>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76" name="Line 309"/>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77" name="Rectangle 310"/>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78" name="Text Box 311"/>
                <p:cNvSpPr txBox="1">
                  <a:spLocks noChangeArrowheads="1"/>
                </p:cNvSpPr>
                <p:nvPr/>
              </p:nvSpPr>
              <p:spPr bwMode="auto">
                <a:xfrm>
                  <a:off x="3937" y="633"/>
                  <a:ext cx="513" cy="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物理层</a:t>
                  </a:r>
                </a:p>
                <a:p>
                  <a:pPr algn="ctr"/>
                  <a:endParaRPr lang="en-US" altLang="zh-CN" sz="1400">
                    <a:solidFill>
                      <a:schemeClr val="tx1"/>
                    </a:solidFill>
                    <a:latin typeface="Comic Sans MS" panose="030F0702030302020204" pitchFamily="66" charset="0"/>
                  </a:endParaRPr>
                </a:p>
              </p:txBody>
            </p:sp>
          </p:grpSp>
          <p:grpSp>
            <p:nvGrpSpPr>
              <p:cNvPr id="8276" name="Group 312"/>
              <p:cNvGrpSpPr>
                <a:grpSpLocks/>
              </p:cNvGrpSpPr>
              <p:nvPr/>
            </p:nvGrpSpPr>
            <p:grpSpPr bwMode="auto">
              <a:xfrm>
                <a:off x="4786" y="1860"/>
                <a:ext cx="513" cy="555"/>
                <a:chOff x="3937" y="633"/>
                <a:chExt cx="513" cy="555"/>
              </a:xfrm>
            </p:grpSpPr>
            <p:sp>
              <p:nvSpPr>
                <p:cNvPr id="8343" name="Line 313"/>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4" name="Line 314"/>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 name="Oval 315"/>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46" name="Line 316"/>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7" name="Line 317"/>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8" name="Rectangle 318"/>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349" name="Oval 319"/>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350" name="Group 320"/>
                <p:cNvGrpSpPr>
                  <a:grpSpLocks/>
                </p:cNvGrpSpPr>
                <p:nvPr/>
              </p:nvGrpSpPr>
              <p:grpSpPr bwMode="auto">
                <a:xfrm>
                  <a:off x="4120" y="809"/>
                  <a:ext cx="156" cy="55"/>
                  <a:chOff x="2848" y="848"/>
                  <a:chExt cx="140" cy="98"/>
                </a:xfrm>
              </p:grpSpPr>
              <p:sp>
                <p:nvSpPr>
                  <p:cNvPr id="8361" name="Line 32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2" name="Line 32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3" name="Line 32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351" name="Group 324"/>
                <p:cNvGrpSpPr>
                  <a:grpSpLocks/>
                </p:cNvGrpSpPr>
                <p:nvPr/>
              </p:nvGrpSpPr>
              <p:grpSpPr bwMode="auto">
                <a:xfrm flipV="1">
                  <a:off x="4120" y="808"/>
                  <a:ext cx="156" cy="56"/>
                  <a:chOff x="2848" y="848"/>
                  <a:chExt cx="140" cy="98"/>
                </a:xfrm>
              </p:grpSpPr>
              <p:sp>
                <p:nvSpPr>
                  <p:cNvPr id="8358" name="Line 32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59" name="Line 32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0" name="Line 32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52" name="Rectangle 328"/>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53" name="Rectangle 329"/>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54" name="Line 330"/>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55" name="Line 331"/>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56" name="Rectangle 332"/>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57" name="Text Box 333"/>
                <p:cNvSpPr txBox="1">
                  <a:spLocks noChangeArrowheads="1"/>
                </p:cNvSpPr>
                <p:nvPr/>
              </p:nvSpPr>
              <p:spPr bwMode="auto">
                <a:xfrm>
                  <a:off x="3937" y="633"/>
                  <a:ext cx="513" cy="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物理层</a:t>
                  </a:r>
                </a:p>
                <a:p>
                  <a:pPr algn="ctr"/>
                  <a:r>
                    <a:rPr lang="en-US" altLang="zh-CN" sz="1400">
                      <a:solidFill>
                        <a:schemeClr val="tx1"/>
                      </a:solidFill>
                      <a:latin typeface="Comic Sans MS" panose="030F0702030302020204" pitchFamily="66" charset="0"/>
                    </a:rPr>
                    <a:t>l</a:t>
                  </a:r>
                </a:p>
              </p:txBody>
            </p:sp>
          </p:grpSp>
          <p:grpSp>
            <p:nvGrpSpPr>
              <p:cNvPr id="8277" name="Group 334"/>
              <p:cNvGrpSpPr>
                <a:grpSpLocks/>
              </p:cNvGrpSpPr>
              <p:nvPr/>
            </p:nvGrpSpPr>
            <p:grpSpPr bwMode="auto">
              <a:xfrm>
                <a:off x="4915" y="1323"/>
                <a:ext cx="513" cy="453"/>
                <a:chOff x="3937" y="633"/>
                <a:chExt cx="513" cy="453"/>
              </a:xfrm>
            </p:grpSpPr>
            <p:sp>
              <p:nvSpPr>
                <p:cNvPr id="8322" name="Line 335"/>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3" name="Line 336"/>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4" name="Oval 337"/>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25" name="Line 338"/>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6" name="Line 339"/>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7" name="Rectangle 340"/>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328" name="Oval 341"/>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329" name="Group 342"/>
                <p:cNvGrpSpPr>
                  <a:grpSpLocks/>
                </p:cNvGrpSpPr>
                <p:nvPr/>
              </p:nvGrpSpPr>
              <p:grpSpPr bwMode="auto">
                <a:xfrm>
                  <a:off x="4120" y="809"/>
                  <a:ext cx="156" cy="55"/>
                  <a:chOff x="2848" y="848"/>
                  <a:chExt cx="140" cy="98"/>
                </a:xfrm>
              </p:grpSpPr>
              <p:sp>
                <p:nvSpPr>
                  <p:cNvPr id="8340" name="Line 34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1" name="Line 34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2" name="Line 34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330" name="Group 346"/>
                <p:cNvGrpSpPr>
                  <a:grpSpLocks/>
                </p:cNvGrpSpPr>
                <p:nvPr/>
              </p:nvGrpSpPr>
              <p:grpSpPr bwMode="auto">
                <a:xfrm flipV="1">
                  <a:off x="4120" y="808"/>
                  <a:ext cx="156" cy="56"/>
                  <a:chOff x="2848" y="848"/>
                  <a:chExt cx="140" cy="98"/>
                </a:xfrm>
              </p:grpSpPr>
              <p:sp>
                <p:nvSpPr>
                  <p:cNvPr id="8337" name="Line 34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8" name="Line 34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9" name="Line 34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31" name="Rectangle 350"/>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32" name="Rectangle 351"/>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33" name="Line 352"/>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4" name="Line 353"/>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 name="Rectangle 354"/>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36" name="Text Box 355"/>
                <p:cNvSpPr txBox="1">
                  <a:spLocks noChangeArrowheads="1"/>
                </p:cNvSpPr>
                <p:nvPr/>
              </p:nvSpPr>
              <p:spPr bwMode="auto">
                <a:xfrm>
                  <a:off x="3937" y="633"/>
                  <a:ext cx="513"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物理层</a:t>
                  </a:r>
                  <a:endParaRPr lang="zh-CN" altLang="en-US" sz="1400">
                    <a:solidFill>
                      <a:schemeClr val="tx1"/>
                    </a:solidFill>
                  </a:endParaRPr>
                </a:p>
              </p:txBody>
            </p:sp>
          </p:grpSp>
          <p:grpSp>
            <p:nvGrpSpPr>
              <p:cNvPr id="8278" name="Group 356"/>
              <p:cNvGrpSpPr>
                <a:grpSpLocks/>
              </p:cNvGrpSpPr>
              <p:nvPr/>
            </p:nvGrpSpPr>
            <p:grpSpPr bwMode="auto">
              <a:xfrm>
                <a:off x="4189" y="2635"/>
                <a:ext cx="513" cy="453"/>
                <a:chOff x="3937" y="634"/>
                <a:chExt cx="513" cy="453"/>
              </a:xfrm>
            </p:grpSpPr>
            <p:sp>
              <p:nvSpPr>
                <p:cNvPr id="8301" name="Line 357"/>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2" name="Line 358"/>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3" name="Oval 359"/>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04" name="Line 360"/>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5" name="Line 361"/>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6" name="Rectangle 362"/>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307" name="Oval 363"/>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308" name="Group 364"/>
                <p:cNvGrpSpPr>
                  <a:grpSpLocks/>
                </p:cNvGrpSpPr>
                <p:nvPr/>
              </p:nvGrpSpPr>
              <p:grpSpPr bwMode="auto">
                <a:xfrm>
                  <a:off x="4120" y="809"/>
                  <a:ext cx="156" cy="55"/>
                  <a:chOff x="2848" y="848"/>
                  <a:chExt cx="140" cy="98"/>
                </a:xfrm>
              </p:grpSpPr>
              <p:sp>
                <p:nvSpPr>
                  <p:cNvPr id="8319" name="Line 36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0" name="Line 36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1" name="Line 36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309" name="Group 368"/>
                <p:cNvGrpSpPr>
                  <a:grpSpLocks/>
                </p:cNvGrpSpPr>
                <p:nvPr/>
              </p:nvGrpSpPr>
              <p:grpSpPr bwMode="auto">
                <a:xfrm flipV="1">
                  <a:off x="4120" y="808"/>
                  <a:ext cx="156" cy="56"/>
                  <a:chOff x="2848" y="848"/>
                  <a:chExt cx="140" cy="98"/>
                </a:xfrm>
              </p:grpSpPr>
              <p:sp>
                <p:nvSpPr>
                  <p:cNvPr id="8316" name="Line 36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17" name="Line 37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18" name="Line 37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10" name="Rectangle 372"/>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11" name="Rectangle 373"/>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12" name="Line 374"/>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13" name="Line 375"/>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14" name="Rectangle 376"/>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15" name="Text Box 377"/>
                <p:cNvSpPr txBox="1">
                  <a:spLocks noChangeArrowheads="1"/>
                </p:cNvSpPr>
                <p:nvPr/>
              </p:nvSpPr>
              <p:spPr bwMode="auto">
                <a:xfrm>
                  <a:off x="3937" y="634"/>
                  <a:ext cx="513"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r>
                    <a:rPr lang="zh-CN" altLang="en-US" sz="1400">
                      <a:solidFill>
                        <a:schemeClr val="tx1"/>
                      </a:solidFill>
                      <a:latin typeface="Comic Sans MS" panose="030F0702030302020204" pitchFamily="66" charset="0"/>
                    </a:rPr>
                    <a:t>    数据链路层</a:t>
                  </a:r>
                </a:p>
                <a:p>
                  <a:r>
                    <a:rPr lang="zh-CN" altLang="en-US" sz="1400">
                      <a:solidFill>
                        <a:schemeClr val="tx1"/>
                      </a:solidFill>
                      <a:latin typeface="Comic Sans MS" panose="030F0702030302020204" pitchFamily="66" charset="0"/>
                    </a:rPr>
                    <a:t>       物理层</a:t>
                  </a:r>
                </a:p>
              </p:txBody>
            </p:sp>
          </p:grpSp>
          <p:grpSp>
            <p:nvGrpSpPr>
              <p:cNvPr id="8279" name="Group 378"/>
              <p:cNvGrpSpPr>
                <a:grpSpLocks/>
              </p:cNvGrpSpPr>
              <p:nvPr/>
            </p:nvGrpSpPr>
            <p:grpSpPr bwMode="auto">
              <a:xfrm>
                <a:off x="3658" y="1308"/>
                <a:ext cx="513" cy="453"/>
                <a:chOff x="3937" y="633"/>
                <a:chExt cx="513" cy="453"/>
              </a:xfrm>
            </p:grpSpPr>
            <p:sp>
              <p:nvSpPr>
                <p:cNvPr id="8280" name="Line 379"/>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81" name="Line 380"/>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82" name="Oval 381"/>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83" name="Line 382"/>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84" name="Line 383"/>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85" name="Rectangle 384"/>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286" name="Oval 385"/>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287" name="Group 386"/>
                <p:cNvGrpSpPr>
                  <a:grpSpLocks/>
                </p:cNvGrpSpPr>
                <p:nvPr/>
              </p:nvGrpSpPr>
              <p:grpSpPr bwMode="auto">
                <a:xfrm>
                  <a:off x="4120" y="809"/>
                  <a:ext cx="156" cy="55"/>
                  <a:chOff x="2848" y="848"/>
                  <a:chExt cx="140" cy="98"/>
                </a:xfrm>
              </p:grpSpPr>
              <p:sp>
                <p:nvSpPr>
                  <p:cNvPr id="8298" name="Line 38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9" name="Line 38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0" name="Line 38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88" name="Group 390"/>
                <p:cNvGrpSpPr>
                  <a:grpSpLocks/>
                </p:cNvGrpSpPr>
                <p:nvPr/>
              </p:nvGrpSpPr>
              <p:grpSpPr bwMode="auto">
                <a:xfrm flipV="1">
                  <a:off x="4120" y="808"/>
                  <a:ext cx="156" cy="56"/>
                  <a:chOff x="2848" y="848"/>
                  <a:chExt cx="140" cy="98"/>
                </a:xfrm>
              </p:grpSpPr>
              <p:sp>
                <p:nvSpPr>
                  <p:cNvPr id="8295" name="Line 39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 name="Line 39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 name="Line 39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289" name="Rectangle 394"/>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90" name="Rectangle 395"/>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91" name="Line 396"/>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2" name="Line 397"/>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3" name="Rectangle 398"/>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94" name="Text Box 399"/>
                <p:cNvSpPr txBox="1">
                  <a:spLocks noChangeArrowheads="1"/>
                </p:cNvSpPr>
                <p:nvPr/>
              </p:nvSpPr>
              <p:spPr bwMode="auto">
                <a:xfrm>
                  <a:off x="3937" y="633"/>
                  <a:ext cx="513"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bg1"/>
                    </a:solidFill>
                    <a:latin typeface="宋体" panose="02010600030101010101" pitchFamily="2" charset="-122"/>
                  </a:endParaRPr>
                </a:p>
                <a:p>
                  <a:pPr algn="ctr"/>
                  <a:r>
                    <a:rPr lang="zh-CN" altLang="en-US" sz="1400">
                      <a:solidFill>
                        <a:schemeClr val="tx1"/>
                      </a:solidFill>
                      <a:latin typeface="宋体" panose="02010600030101010101" pitchFamily="2" charset="-122"/>
                    </a:rPr>
                    <a:t>网络层</a:t>
                  </a:r>
                </a:p>
                <a:p>
                  <a:pPr algn="ctr"/>
                  <a:r>
                    <a:rPr lang="zh-CN" altLang="en-US" sz="1400">
                      <a:solidFill>
                        <a:schemeClr val="tx1"/>
                      </a:solidFill>
                      <a:latin typeface="宋体" panose="02010600030101010101" pitchFamily="2" charset="-122"/>
                    </a:rPr>
                    <a:t>数据链路层</a:t>
                  </a:r>
                </a:p>
                <a:p>
                  <a:pPr algn="ctr"/>
                  <a:r>
                    <a:rPr lang="zh-CN" altLang="en-US" sz="1400">
                      <a:solidFill>
                        <a:schemeClr val="tx1"/>
                      </a:solidFill>
                      <a:latin typeface="宋体" panose="02010600030101010101" pitchFamily="2" charset="-122"/>
                    </a:rPr>
                    <a:t>物理层</a:t>
                  </a:r>
                </a:p>
              </p:txBody>
            </p:sp>
          </p:grpSp>
        </p:grpSp>
        <p:grpSp>
          <p:nvGrpSpPr>
            <p:cNvPr id="8253" name="Group 400"/>
            <p:cNvGrpSpPr>
              <a:grpSpLocks/>
            </p:cNvGrpSpPr>
            <p:nvPr/>
          </p:nvGrpSpPr>
          <p:grpSpPr bwMode="auto">
            <a:xfrm>
              <a:off x="605" y="984"/>
              <a:ext cx="4853" cy="3184"/>
              <a:chOff x="2956" y="969"/>
              <a:chExt cx="2373" cy="2400"/>
            </a:xfrm>
          </p:grpSpPr>
          <p:grpSp>
            <p:nvGrpSpPr>
              <p:cNvPr id="8254" name="Group 401"/>
              <p:cNvGrpSpPr>
                <a:grpSpLocks/>
              </p:cNvGrpSpPr>
              <p:nvPr/>
            </p:nvGrpSpPr>
            <p:grpSpPr bwMode="auto">
              <a:xfrm>
                <a:off x="2956" y="969"/>
                <a:ext cx="513" cy="564"/>
                <a:chOff x="2956" y="969"/>
                <a:chExt cx="513" cy="564"/>
              </a:xfrm>
            </p:grpSpPr>
            <p:sp>
              <p:nvSpPr>
                <p:cNvPr id="8264" name="Rectangle 402"/>
                <p:cNvSpPr>
                  <a:spLocks noChangeArrowheads="1"/>
                </p:cNvSpPr>
                <p:nvPr/>
              </p:nvSpPr>
              <p:spPr bwMode="auto">
                <a:xfrm>
                  <a:off x="3018" y="969"/>
                  <a:ext cx="426" cy="48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65" name="Rectangle 403"/>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66" name="Rectangle 404"/>
                <p:cNvSpPr>
                  <a:spLocks noChangeArrowheads="1"/>
                </p:cNvSpPr>
                <p:nvPr/>
              </p:nvSpPr>
              <p:spPr bwMode="auto">
                <a:xfrm>
                  <a:off x="3000" y="1185"/>
                  <a:ext cx="432"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67" name="Text Box 405"/>
                <p:cNvSpPr txBox="1">
                  <a:spLocks noChangeArrowheads="1"/>
                </p:cNvSpPr>
                <p:nvPr/>
              </p:nvSpPr>
              <p:spPr bwMode="auto">
                <a:xfrm>
                  <a:off x="2956" y="978"/>
                  <a:ext cx="513" cy="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zh-CN" altLang="en-US" sz="1400">
                      <a:solidFill>
                        <a:schemeClr val="tx1"/>
                      </a:solidFill>
                      <a:latin typeface="Comic Sans MS" panose="030F0702030302020204" pitchFamily="66" charset="0"/>
                    </a:rPr>
                    <a:t>应用层</a:t>
                  </a:r>
                </a:p>
                <a:p>
                  <a:pPr algn="ctr"/>
                  <a:r>
                    <a:rPr lang="zh-CN" altLang="en-US" sz="1400">
                      <a:solidFill>
                        <a:schemeClr val="tx1"/>
                      </a:solidFill>
                      <a:latin typeface="Comic Sans MS" panose="030F0702030302020204" pitchFamily="66" charset="0"/>
                    </a:rPr>
                    <a:t>传输层</a:t>
                  </a:r>
                </a:p>
                <a:p>
                  <a:pPr algn="ctr"/>
                  <a:r>
                    <a:rPr lang="zh-CN" altLang="en-US" sz="1400">
                      <a:solidFill>
                        <a:schemeClr val="tx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物理层</a:t>
                  </a:r>
                  <a:endParaRPr lang="zh-CN" altLang="en-US" sz="1400">
                    <a:solidFill>
                      <a:schemeClr val="tx1"/>
                    </a:solidFill>
                  </a:endParaRPr>
                </a:p>
              </p:txBody>
            </p:sp>
            <p:sp>
              <p:nvSpPr>
                <p:cNvPr id="8268" name="Line 406"/>
                <p:cNvSpPr>
                  <a:spLocks noChangeShapeType="1"/>
                </p:cNvSpPr>
                <p:nvPr/>
              </p:nvSpPr>
              <p:spPr bwMode="auto">
                <a:xfrm>
                  <a:off x="2997" y="119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9" name="Line 407"/>
                <p:cNvSpPr>
                  <a:spLocks noChangeShapeType="1"/>
                </p:cNvSpPr>
                <p:nvPr/>
              </p:nvSpPr>
              <p:spPr bwMode="auto">
                <a:xfrm>
                  <a:off x="3003" y="1290"/>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0" name="Line 408"/>
                <p:cNvSpPr>
                  <a:spLocks noChangeShapeType="1"/>
                </p:cNvSpPr>
                <p:nvPr/>
              </p:nvSpPr>
              <p:spPr bwMode="auto">
                <a:xfrm>
                  <a:off x="3003" y="137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1" name="Line 409"/>
                <p:cNvSpPr>
                  <a:spLocks noChangeShapeType="1"/>
                </p:cNvSpPr>
                <p:nvPr/>
              </p:nvSpPr>
              <p:spPr bwMode="auto">
                <a:xfrm>
                  <a:off x="3003" y="1092"/>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55" name="Group 410"/>
              <p:cNvGrpSpPr>
                <a:grpSpLocks/>
              </p:cNvGrpSpPr>
              <p:nvPr/>
            </p:nvGrpSpPr>
            <p:grpSpPr bwMode="auto">
              <a:xfrm>
                <a:off x="4816" y="2805"/>
                <a:ext cx="513" cy="564"/>
                <a:chOff x="2956" y="969"/>
                <a:chExt cx="513" cy="564"/>
              </a:xfrm>
            </p:grpSpPr>
            <p:sp>
              <p:nvSpPr>
                <p:cNvPr id="8256" name="Rectangle 411"/>
                <p:cNvSpPr>
                  <a:spLocks noChangeArrowheads="1"/>
                </p:cNvSpPr>
                <p:nvPr/>
              </p:nvSpPr>
              <p:spPr bwMode="auto">
                <a:xfrm>
                  <a:off x="3018" y="969"/>
                  <a:ext cx="426" cy="48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57" name="Rectangle 412"/>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58" name="Rectangle 413"/>
                <p:cNvSpPr>
                  <a:spLocks noChangeArrowheads="1"/>
                </p:cNvSpPr>
                <p:nvPr/>
              </p:nvSpPr>
              <p:spPr bwMode="auto">
                <a:xfrm>
                  <a:off x="3000" y="1185"/>
                  <a:ext cx="432"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59" name="Text Box 414"/>
                <p:cNvSpPr txBox="1">
                  <a:spLocks noChangeArrowheads="1"/>
                </p:cNvSpPr>
                <p:nvPr/>
              </p:nvSpPr>
              <p:spPr bwMode="auto">
                <a:xfrm>
                  <a:off x="2956" y="978"/>
                  <a:ext cx="513" cy="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zh-CN" altLang="en-US" sz="1400">
                      <a:solidFill>
                        <a:schemeClr val="tx1"/>
                      </a:solidFill>
                      <a:latin typeface="Comic Sans MS" panose="030F0702030302020204" pitchFamily="66" charset="0"/>
                    </a:rPr>
                    <a:t>应用层</a:t>
                  </a:r>
                </a:p>
                <a:p>
                  <a:pPr algn="ctr"/>
                  <a:r>
                    <a:rPr lang="zh-CN" altLang="en-US" sz="1400">
                      <a:solidFill>
                        <a:schemeClr val="tx1"/>
                      </a:solidFill>
                      <a:latin typeface="Comic Sans MS" panose="030F0702030302020204" pitchFamily="66" charset="0"/>
                    </a:rPr>
                    <a:t>传输层</a:t>
                  </a:r>
                </a:p>
                <a:p>
                  <a:pPr algn="ctr"/>
                  <a:r>
                    <a:rPr lang="zh-CN" altLang="en-US" sz="1400">
                      <a:solidFill>
                        <a:schemeClr val="bg1"/>
                      </a:solidFill>
                      <a:latin typeface="Comic Sans MS" panose="030F0702030302020204" pitchFamily="66" charset="0"/>
                    </a:rPr>
                    <a:t>网络层</a:t>
                  </a:r>
                  <a:endParaRPr lang="zh-CN" altLang="en-US" sz="1400">
                    <a:solidFill>
                      <a:schemeClr val="tx1"/>
                    </a:solidFill>
                    <a:latin typeface="Comic Sans MS" panose="030F0702030302020204" pitchFamily="66" charset="0"/>
                  </a:endParaRPr>
                </a:p>
                <a:p>
                  <a:r>
                    <a:rPr lang="zh-CN" altLang="en-US" sz="1400">
                      <a:solidFill>
                        <a:schemeClr val="tx1"/>
                      </a:solidFill>
                      <a:latin typeface="Comic Sans MS" panose="030F0702030302020204" pitchFamily="66" charset="0"/>
                    </a:rPr>
                    <a:t>      数据链路层</a:t>
                  </a:r>
                </a:p>
                <a:p>
                  <a:r>
                    <a:rPr lang="zh-CN" altLang="en-US" sz="1400">
                      <a:solidFill>
                        <a:schemeClr val="tx1"/>
                      </a:solidFill>
                      <a:latin typeface="Comic Sans MS" panose="030F0702030302020204" pitchFamily="66" charset="0"/>
                    </a:rPr>
                    <a:t>         物理层</a:t>
                  </a:r>
                </a:p>
              </p:txBody>
            </p:sp>
            <p:sp>
              <p:nvSpPr>
                <p:cNvPr id="8260" name="Line 415"/>
                <p:cNvSpPr>
                  <a:spLocks noChangeShapeType="1"/>
                </p:cNvSpPr>
                <p:nvPr/>
              </p:nvSpPr>
              <p:spPr bwMode="auto">
                <a:xfrm>
                  <a:off x="2997" y="119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1" name="Line 416"/>
                <p:cNvSpPr>
                  <a:spLocks noChangeShapeType="1"/>
                </p:cNvSpPr>
                <p:nvPr/>
              </p:nvSpPr>
              <p:spPr bwMode="auto">
                <a:xfrm>
                  <a:off x="3003" y="1290"/>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2" name="Line 417"/>
                <p:cNvSpPr>
                  <a:spLocks noChangeShapeType="1"/>
                </p:cNvSpPr>
                <p:nvPr/>
              </p:nvSpPr>
              <p:spPr bwMode="auto">
                <a:xfrm>
                  <a:off x="3003" y="137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3" name="Line 418"/>
                <p:cNvSpPr>
                  <a:spLocks noChangeShapeType="1"/>
                </p:cNvSpPr>
                <p:nvPr/>
              </p:nvSpPr>
              <p:spPr bwMode="auto">
                <a:xfrm>
                  <a:off x="3003" y="1092"/>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sp>
        <p:nvSpPr>
          <p:cNvPr id="8251" name="Rectangle 419"/>
          <p:cNvSpPr>
            <a:spLocks noGrp="1" noChangeArrowheads="1"/>
          </p:cNvSpPr>
          <p:nvPr>
            <p:ph type="title"/>
          </p:nvPr>
        </p:nvSpPr>
        <p:spPr bwMode="auto">
          <a:xfrm>
            <a:off x="2184400" y="187325"/>
            <a:ext cx="7772400" cy="7366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zh-CN" altLang="en-US" sz="3600">
                <a:solidFill>
                  <a:schemeClr val="hlink"/>
                </a:solidFill>
                <a:latin typeface="华文新魏" panose="02010800040101010101" pitchFamily="2" charset="-122"/>
                <a:ea typeface="华文新魏" panose="02010800040101010101" pitchFamily="2" charset="-122"/>
              </a:rPr>
              <a:t>网络层模型</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634308"/>
                                        </p:tgtEl>
                                        <p:attrNameLst>
                                          <p:attrName>style.visibility</p:attrName>
                                        </p:attrNameLst>
                                      </p:cBhvr>
                                      <p:to>
                                        <p:strVal val="visible"/>
                                      </p:to>
                                    </p:set>
                                    <p:anim calcmode="lin" valueType="num">
                                      <p:cBhvr additive="base">
                                        <p:cTn id="7" dur="500" fill="hold"/>
                                        <p:tgtEl>
                                          <p:spTgt spid="1634308"/>
                                        </p:tgtEl>
                                        <p:attrNameLst>
                                          <p:attrName>ppt_x</p:attrName>
                                        </p:attrNameLst>
                                      </p:cBhvr>
                                      <p:tavLst>
                                        <p:tav tm="0">
                                          <p:val>
                                            <p:strVal val="1+#ppt_w/2"/>
                                          </p:val>
                                        </p:tav>
                                        <p:tav tm="100000">
                                          <p:val>
                                            <p:strVal val="#ppt_x"/>
                                          </p:val>
                                        </p:tav>
                                      </p:tavLst>
                                    </p:anim>
                                    <p:anim calcmode="lin" valueType="num">
                                      <p:cBhvr additive="base">
                                        <p:cTn id="8" dur="500" fill="hold"/>
                                        <p:tgtEl>
                                          <p:spTgt spid="163430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634307"/>
                                        </p:tgtEl>
                                        <p:attrNameLst>
                                          <p:attrName>style.visibility</p:attrName>
                                        </p:attrNameLst>
                                      </p:cBhvr>
                                      <p:to>
                                        <p:strVal val="visible"/>
                                      </p:to>
                                    </p:set>
                                    <p:anim calcmode="lin" valueType="num">
                                      <p:cBhvr additive="base">
                                        <p:cTn id="13" dur="500" fill="hold"/>
                                        <p:tgtEl>
                                          <p:spTgt spid="1634307"/>
                                        </p:tgtEl>
                                        <p:attrNameLst>
                                          <p:attrName>ppt_x</p:attrName>
                                        </p:attrNameLst>
                                      </p:cBhvr>
                                      <p:tavLst>
                                        <p:tav tm="0">
                                          <p:val>
                                            <p:strVal val="1+#ppt_w/2"/>
                                          </p:val>
                                        </p:tav>
                                        <p:tav tm="100000">
                                          <p:val>
                                            <p:strVal val="#ppt_x"/>
                                          </p:val>
                                        </p:tav>
                                      </p:tavLst>
                                    </p:anim>
                                    <p:anim calcmode="lin" valueType="num">
                                      <p:cBhvr additive="base">
                                        <p:cTn id="14" dur="500" fill="hold"/>
                                        <p:tgtEl>
                                          <p:spTgt spid="163430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634309"/>
                                        </p:tgtEl>
                                        <p:attrNameLst>
                                          <p:attrName>style.visibility</p:attrName>
                                        </p:attrNameLst>
                                      </p:cBhvr>
                                      <p:to>
                                        <p:strVal val="visible"/>
                                      </p:to>
                                    </p:set>
                                    <p:anim calcmode="lin" valueType="num">
                                      <p:cBhvr additive="base">
                                        <p:cTn id="19" dur="500" fill="hold"/>
                                        <p:tgtEl>
                                          <p:spTgt spid="1634309"/>
                                        </p:tgtEl>
                                        <p:attrNameLst>
                                          <p:attrName>ppt_x</p:attrName>
                                        </p:attrNameLst>
                                      </p:cBhvr>
                                      <p:tavLst>
                                        <p:tav tm="0">
                                          <p:val>
                                            <p:strVal val="1+#ppt_w/2"/>
                                          </p:val>
                                        </p:tav>
                                        <p:tav tm="100000">
                                          <p:val>
                                            <p:strVal val="#ppt_x"/>
                                          </p:val>
                                        </p:tav>
                                      </p:tavLst>
                                    </p:anim>
                                    <p:anim calcmode="lin" valueType="num">
                                      <p:cBhvr additive="base">
                                        <p:cTn id="20" dur="500" fill="hold"/>
                                        <p:tgtEl>
                                          <p:spTgt spid="163430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1634526"/>
                                        </p:tgtEl>
                                        <p:attrNameLst>
                                          <p:attrName>style.visibility</p:attrName>
                                        </p:attrNameLst>
                                      </p:cBhvr>
                                      <p:to>
                                        <p:strVal val="visible"/>
                                      </p:to>
                                    </p:set>
                                    <p:anim calcmode="lin" valueType="num">
                                      <p:cBhvr additive="base">
                                        <p:cTn id="25" dur="500" fill="hold"/>
                                        <p:tgtEl>
                                          <p:spTgt spid="1634526"/>
                                        </p:tgtEl>
                                        <p:attrNameLst>
                                          <p:attrName>ppt_x</p:attrName>
                                        </p:attrNameLst>
                                      </p:cBhvr>
                                      <p:tavLst>
                                        <p:tav tm="0">
                                          <p:val>
                                            <p:strVal val="1+#ppt_w/2"/>
                                          </p:val>
                                        </p:tav>
                                        <p:tav tm="100000">
                                          <p:val>
                                            <p:strVal val="#ppt_x"/>
                                          </p:val>
                                        </p:tav>
                                      </p:tavLst>
                                    </p:anim>
                                    <p:anim calcmode="lin" valueType="num">
                                      <p:cBhvr additive="base">
                                        <p:cTn id="26" dur="500" fill="hold"/>
                                        <p:tgtEl>
                                          <p:spTgt spid="16345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hlinkClick r:id="rId2" action="ppaction://hlinksldjump"/>
          </p:cNvPr>
          <p:cNvSpPr>
            <a:spLocks noChangeArrowheads="1"/>
          </p:cNvSpPr>
          <p:nvPr/>
        </p:nvSpPr>
        <p:spPr bwMode="auto">
          <a:xfrm>
            <a:off x="1981200" y="2133600"/>
            <a:ext cx="23622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9219" name="Rectangle 3"/>
          <p:cNvSpPr>
            <a:spLocks noChangeArrowheads="1"/>
          </p:cNvSpPr>
          <p:nvPr/>
        </p:nvSpPr>
        <p:spPr bwMode="auto">
          <a:xfrm>
            <a:off x="2133600" y="2514600"/>
            <a:ext cx="1066800" cy="609600"/>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HTTP</a:t>
            </a:r>
          </a:p>
        </p:txBody>
      </p:sp>
      <p:sp>
        <p:nvSpPr>
          <p:cNvPr id="9220" name="Rectangle 4"/>
          <p:cNvSpPr>
            <a:spLocks noChangeArrowheads="1"/>
          </p:cNvSpPr>
          <p:nvPr/>
        </p:nvSpPr>
        <p:spPr bwMode="auto">
          <a:xfrm>
            <a:off x="2133600" y="3352800"/>
            <a:ext cx="1066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TCP</a:t>
            </a:r>
          </a:p>
        </p:txBody>
      </p:sp>
      <p:sp>
        <p:nvSpPr>
          <p:cNvPr id="9221" name="Rectangle 5"/>
          <p:cNvSpPr>
            <a:spLocks noChangeArrowheads="1"/>
          </p:cNvSpPr>
          <p:nvPr/>
        </p:nvSpPr>
        <p:spPr bwMode="auto">
          <a:xfrm>
            <a:off x="2133600" y="4267200"/>
            <a:ext cx="1066800" cy="685800"/>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IP</a:t>
            </a:r>
          </a:p>
        </p:txBody>
      </p:sp>
      <p:sp>
        <p:nvSpPr>
          <p:cNvPr id="9222" name="Rectangle 6"/>
          <p:cNvSpPr>
            <a:spLocks noChangeArrowheads="1"/>
          </p:cNvSpPr>
          <p:nvPr/>
        </p:nvSpPr>
        <p:spPr bwMode="auto">
          <a:xfrm>
            <a:off x="2133600" y="5181600"/>
            <a:ext cx="1066800" cy="762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ethernet</a:t>
            </a:r>
          </a:p>
        </p:txBody>
      </p:sp>
      <p:sp>
        <p:nvSpPr>
          <p:cNvPr id="9223" name="Line 7"/>
          <p:cNvSpPr>
            <a:spLocks noChangeShapeType="1"/>
          </p:cNvSpPr>
          <p:nvPr/>
        </p:nvSpPr>
        <p:spPr bwMode="auto">
          <a:xfrm>
            <a:off x="2819400" y="31242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4" name="Line 8"/>
          <p:cNvSpPr>
            <a:spLocks noChangeShapeType="1"/>
          </p:cNvSpPr>
          <p:nvPr/>
        </p:nvSpPr>
        <p:spPr bwMode="auto">
          <a:xfrm>
            <a:off x="2819400" y="49530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5" name="Line 9"/>
          <p:cNvSpPr>
            <a:spLocks noChangeShapeType="1"/>
          </p:cNvSpPr>
          <p:nvPr/>
        </p:nvSpPr>
        <p:spPr bwMode="auto">
          <a:xfrm>
            <a:off x="2819400" y="40386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6" name="Text Box 10"/>
          <p:cNvSpPr txBox="1">
            <a:spLocks noChangeArrowheads="1"/>
          </p:cNvSpPr>
          <p:nvPr/>
        </p:nvSpPr>
        <p:spPr bwMode="auto">
          <a:xfrm>
            <a:off x="2209801" y="1676400"/>
            <a:ext cx="1014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400" b="0">
                <a:solidFill>
                  <a:schemeClr val="tx1"/>
                </a:solidFill>
              </a:rPr>
              <a:t>主机</a:t>
            </a:r>
            <a:r>
              <a:rPr lang="en-US" altLang="zh-CN" sz="2400" b="0">
                <a:solidFill>
                  <a:schemeClr val="tx1"/>
                </a:solidFill>
              </a:rPr>
              <a:t>A</a:t>
            </a:r>
          </a:p>
        </p:txBody>
      </p:sp>
      <p:sp>
        <p:nvSpPr>
          <p:cNvPr id="9227" name="Line 11"/>
          <p:cNvSpPr>
            <a:spLocks noChangeShapeType="1"/>
          </p:cNvSpPr>
          <p:nvPr/>
        </p:nvSpPr>
        <p:spPr bwMode="auto">
          <a:xfrm flipH="1">
            <a:off x="2819400" y="22860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8" name="Line 12"/>
          <p:cNvSpPr>
            <a:spLocks noChangeShapeType="1"/>
          </p:cNvSpPr>
          <p:nvPr/>
        </p:nvSpPr>
        <p:spPr bwMode="auto">
          <a:xfrm>
            <a:off x="7772400" y="5715000"/>
            <a:ext cx="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9" name="Line 13"/>
          <p:cNvSpPr>
            <a:spLocks noChangeShapeType="1"/>
          </p:cNvSpPr>
          <p:nvPr/>
        </p:nvSpPr>
        <p:spPr bwMode="auto">
          <a:xfrm>
            <a:off x="4495800" y="5791200"/>
            <a:ext cx="0" cy="83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0" name="Line 14"/>
          <p:cNvSpPr>
            <a:spLocks noChangeShapeType="1"/>
          </p:cNvSpPr>
          <p:nvPr/>
        </p:nvSpPr>
        <p:spPr bwMode="auto">
          <a:xfrm>
            <a:off x="3581400" y="6629400"/>
            <a:ext cx="47244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1" name="Freeform 15"/>
          <p:cNvSpPr>
            <a:spLocks/>
          </p:cNvSpPr>
          <p:nvPr/>
        </p:nvSpPr>
        <p:spPr bwMode="auto">
          <a:xfrm>
            <a:off x="2514600" y="6248400"/>
            <a:ext cx="1447800" cy="152400"/>
          </a:xfrm>
          <a:custGeom>
            <a:avLst/>
            <a:gdLst>
              <a:gd name="T0" fmla="*/ 0 w 672"/>
              <a:gd name="T1" fmla="*/ 241935000 h 96"/>
              <a:gd name="T2" fmla="*/ 891209233 w 672"/>
              <a:gd name="T3" fmla="*/ 0 h 96"/>
              <a:gd name="T4" fmla="*/ 2147483646 w 672"/>
              <a:gd name="T5" fmla="*/ 241935000 h 96"/>
              <a:gd name="T6" fmla="*/ 2147483646 w 672"/>
              <a:gd name="T7" fmla="*/ 0 h 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2" h="96">
                <a:moveTo>
                  <a:pt x="0" y="96"/>
                </a:moveTo>
                <a:cubicBezTo>
                  <a:pt x="56" y="48"/>
                  <a:pt x="112" y="0"/>
                  <a:pt x="192" y="0"/>
                </a:cubicBezTo>
                <a:cubicBezTo>
                  <a:pt x="272" y="0"/>
                  <a:pt x="400" y="96"/>
                  <a:pt x="480" y="96"/>
                </a:cubicBezTo>
                <a:cubicBezTo>
                  <a:pt x="560" y="96"/>
                  <a:pt x="616" y="48"/>
                  <a:pt x="672" y="0"/>
                </a:cubicBezTo>
              </a:path>
            </a:pathLst>
          </a:custGeom>
          <a:noFill/>
          <a:ln w="381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2" name="Freeform 16"/>
          <p:cNvSpPr>
            <a:spLocks/>
          </p:cNvSpPr>
          <p:nvPr/>
        </p:nvSpPr>
        <p:spPr bwMode="auto">
          <a:xfrm>
            <a:off x="7620000" y="6172200"/>
            <a:ext cx="2057400" cy="152400"/>
          </a:xfrm>
          <a:custGeom>
            <a:avLst/>
            <a:gdLst>
              <a:gd name="T0" fmla="*/ 0 w 672"/>
              <a:gd name="T1" fmla="*/ 241935000 h 96"/>
              <a:gd name="T2" fmla="*/ 1799701465 w 672"/>
              <a:gd name="T3" fmla="*/ 0 h 96"/>
              <a:gd name="T4" fmla="*/ 2147483646 w 672"/>
              <a:gd name="T5" fmla="*/ 241935000 h 96"/>
              <a:gd name="T6" fmla="*/ 2147483646 w 672"/>
              <a:gd name="T7" fmla="*/ 0 h 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2" h="96">
                <a:moveTo>
                  <a:pt x="0" y="96"/>
                </a:moveTo>
                <a:cubicBezTo>
                  <a:pt x="56" y="48"/>
                  <a:pt x="112" y="0"/>
                  <a:pt x="192" y="0"/>
                </a:cubicBezTo>
                <a:cubicBezTo>
                  <a:pt x="272" y="0"/>
                  <a:pt x="400" y="96"/>
                  <a:pt x="480" y="96"/>
                </a:cubicBezTo>
                <a:cubicBezTo>
                  <a:pt x="560" y="96"/>
                  <a:pt x="616" y="48"/>
                  <a:pt x="672" y="0"/>
                </a:cubicBezTo>
              </a:path>
            </a:pathLst>
          </a:custGeom>
          <a:noFill/>
          <a:ln w="381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3" name="Line 17"/>
          <p:cNvSpPr>
            <a:spLocks noChangeShapeType="1"/>
          </p:cNvSpPr>
          <p:nvPr/>
        </p:nvSpPr>
        <p:spPr bwMode="auto">
          <a:xfrm>
            <a:off x="2819400" y="59436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4" name="Rectangle 18"/>
          <p:cNvSpPr>
            <a:spLocks noChangeArrowheads="1"/>
          </p:cNvSpPr>
          <p:nvPr/>
        </p:nvSpPr>
        <p:spPr bwMode="auto">
          <a:xfrm>
            <a:off x="3733800" y="4114800"/>
            <a:ext cx="1066800" cy="685800"/>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IP</a:t>
            </a:r>
          </a:p>
        </p:txBody>
      </p:sp>
      <p:sp>
        <p:nvSpPr>
          <p:cNvPr id="9235" name="Rectangle 19"/>
          <p:cNvSpPr>
            <a:spLocks noChangeArrowheads="1"/>
          </p:cNvSpPr>
          <p:nvPr/>
        </p:nvSpPr>
        <p:spPr bwMode="auto">
          <a:xfrm>
            <a:off x="3581400" y="5029200"/>
            <a:ext cx="685800" cy="762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b="0">
                <a:solidFill>
                  <a:schemeClr val="tx1"/>
                </a:solidFill>
              </a:rPr>
              <a:t>ethernet</a:t>
            </a:r>
            <a:endParaRPr lang="en-US" altLang="zh-CN" sz="2400" b="0">
              <a:solidFill>
                <a:schemeClr val="tx1"/>
              </a:solidFill>
            </a:endParaRPr>
          </a:p>
        </p:txBody>
      </p:sp>
      <p:sp>
        <p:nvSpPr>
          <p:cNvPr id="9236" name="Line 20"/>
          <p:cNvSpPr>
            <a:spLocks noChangeShapeType="1"/>
          </p:cNvSpPr>
          <p:nvPr/>
        </p:nvSpPr>
        <p:spPr bwMode="auto">
          <a:xfrm>
            <a:off x="4572000" y="48006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7" name="Text Box 21"/>
          <p:cNvSpPr txBox="1">
            <a:spLocks noChangeArrowheads="1"/>
          </p:cNvSpPr>
          <p:nvPr/>
        </p:nvSpPr>
        <p:spPr bwMode="auto">
          <a:xfrm>
            <a:off x="3657600" y="2133600"/>
            <a:ext cx="1301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400" b="0">
                <a:solidFill>
                  <a:schemeClr val="tx1"/>
                </a:solidFill>
              </a:rPr>
              <a:t>路由器</a:t>
            </a:r>
            <a:r>
              <a:rPr lang="en-US" altLang="zh-CN" sz="2400" b="0">
                <a:solidFill>
                  <a:schemeClr val="tx1"/>
                </a:solidFill>
              </a:rPr>
              <a:t>R</a:t>
            </a:r>
          </a:p>
        </p:txBody>
      </p:sp>
      <p:sp>
        <p:nvSpPr>
          <p:cNvPr id="9238" name="Rectangle 22"/>
          <p:cNvSpPr>
            <a:spLocks noChangeArrowheads="1"/>
          </p:cNvSpPr>
          <p:nvPr/>
        </p:nvSpPr>
        <p:spPr bwMode="auto">
          <a:xfrm>
            <a:off x="4343400" y="5029200"/>
            <a:ext cx="685800" cy="762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b="0">
                <a:solidFill>
                  <a:schemeClr val="tx1"/>
                </a:solidFill>
              </a:rPr>
              <a:t>link</a:t>
            </a:r>
            <a:endParaRPr lang="en-US" altLang="zh-CN" sz="2400" b="0">
              <a:solidFill>
                <a:schemeClr val="tx1"/>
              </a:solidFill>
            </a:endParaRPr>
          </a:p>
        </p:txBody>
      </p:sp>
      <p:sp>
        <p:nvSpPr>
          <p:cNvPr id="9239" name="Line 23"/>
          <p:cNvSpPr>
            <a:spLocks noChangeShapeType="1"/>
          </p:cNvSpPr>
          <p:nvPr/>
        </p:nvSpPr>
        <p:spPr bwMode="auto">
          <a:xfrm flipV="1">
            <a:off x="3733800" y="5791200"/>
            <a:ext cx="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0" name="Line 24"/>
          <p:cNvSpPr>
            <a:spLocks noChangeShapeType="1"/>
          </p:cNvSpPr>
          <p:nvPr/>
        </p:nvSpPr>
        <p:spPr bwMode="auto">
          <a:xfrm flipV="1">
            <a:off x="3962400" y="48006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1" name="Rectangle 25"/>
          <p:cNvSpPr>
            <a:spLocks noChangeArrowheads="1"/>
          </p:cNvSpPr>
          <p:nvPr/>
        </p:nvSpPr>
        <p:spPr bwMode="auto">
          <a:xfrm>
            <a:off x="8991600" y="2438400"/>
            <a:ext cx="1066800" cy="609600"/>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HTTP</a:t>
            </a:r>
          </a:p>
        </p:txBody>
      </p:sp>
      <p:sp>
        <p:nvSpPr>
          <p:cNvPr id="9242" name="Rectangle 26"/>
          <p:cNvSpPr>
            <a:spLocks noChangeArrowheads="1"/>
          </p:cNvSpPr>
          <p:nvPr/>
        </p:nvSpPr>
        <p:spPr bwMode="auto">
          <a:xfrm>
            <a:off x="8991600" y="3276600"/>
            <a:ext cx="1066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TCP</a:t>
            </a:r>
          </a:p>
        </p:txBody>
      </p:sp>
      <p:sp>
        <p:nvSpPr>
          <p:cNvPr id="9243" name="Rectangle 27"/>
          <p:cNvSpPr>
            <a:spLocks noChangeArrowheads="1"/>
          </p:cNvSpPr>
          <p:nvPr/>
        </p:nvSpPr>
        <p:spPr bwMode="auto">
          <a:xfrm>
            <a:off x="8991600" y="4191000"/>
            <a:ext cx="1066800" cy="685800"/>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IP</a:t>
            </a:r>
          </a:p>
        </p:txBody>
      </p:sp>
      <p:sp>
        <p:nvSpPr>
          <p:cNvPr id="9244" name="Rectangle 28"/>
          <p:cNvSpPr>
            <a:spLocks noChangeArrowheads="1"/>
          </p:cNvSpPr>
          <p:nvPr/>
        </p:nvSpPr>
        <p:spPr bwMode="auto">
          <a:xfrm>
            <a:off x="8991600" y="5105400"/>
            <a:ext cx="1066800" cy="762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ethernet</a:t>
            </a:r>
          </a:p>
        </p:txBody>
      </p:sp>
      <p:sp>
        <p:nvSpPr>
          <p:cNvPr id="9245" name="Line 29"/>
          <p:cNvSpPr>
            <a:spLocks noChangeShapeType="1"/>
          </p:cNvSpPr>
          <p:nvPr/>
        </p:nvSpPr>
        <p:spPr bwMode="auto">
          <a:xfrm>
            <a:off x="9296400" y="4876800"/>
            <a:ext cx="0" cy="2286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6" name="Line 30"/>
          <p:cNvSpPr>
            <a:spLocks noChangeShapeType="1"/>
          </p:cNvSpPr>
          <p:nvPr/>
        </p:nvSpPr>
        <p:spPr bwMode="auto">
          <a:xfrm>
            <a:off x="9296400" y="5867400"/>
            <a:ext cx="0" cy="4572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7" name="Line 31"/>
          <p:cNvSpPr>
            <a:spLocks noChangeShapeType="1"/>
          </p:cNvSpPr>
          <p:nvPr/>
        </p:nvSpPr>
        <p:spPr bwMode="auto">
          <a:xfrm>
            <a:off x="9296400" y="3962400"/>
            <a:ext cx="0" cy="2286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8" name="Line 32"/>
          <p:cNvSpPr>
            <a:spLocks noChangeShapeType="1"/>
          </p:cNvSpPr>
          <p:nvPr/>
        </p:nvSpPr>
        <p:spPr bwMode="auto">
          <a:xfrm>
            <a:off x="9296400" y="3048000"/>
            <a:ext cx="0" cy="2286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9" name="Line 33"/>
          <p:cNvSpPr>
            <a:spLocks noChangeShapeType="1"/>
          </p:cNvSpPr>
          <p:nvPr/>
        </p:nvSpPr>
        <p:spPr bwMode="auto">
          <a:xfrm>
            <a:off x="9296400" y="2209800"/>
            <a:ext cx="0" cy="2286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0" name="Text Box 34"/>
          <p:cNvSpPr txBox="1">
            <a:spLocks noChangeArrowheads="1"/>
          </p:cNvSpPr>
          <p:nvPr/>
        </p:nvSpPr>
        <p:spPr bwMode="auto">
          <a:xfrm>
            <a:off x="6400800" y="2133600"/>
            <a:ext cx="1385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400" b="0">
                <a:solidFill>
                  <a:schemeClr val="tx1"/>
                </a:solidFill>
              </a:rPr>
              <a:t>路由器</a:t>
            </a:r>
            <a:r>
              <a:rPr lang="en-US" altLang="zh-CN" sz="2400" b="0">
                <a:solidFill>
                  <a:schemeClr val="tx1"/>
                </a:solidFill>
              </a:rPr>
              <a:t>W</a:t>
            </a:r>
          </a:p>
        </p:txBody>
      </p:sp>
      <p:sp>
        <p:nvSpPr>
          <p:cNvPr id="9251" name="Text Box 35"/>
          <p:cNvSpPr txBox="1">
            <a:spLocks noChangeArrowheads="1"/>
          </p:cNvSpPr>
          <p:nvPr/>
        </p:nvSpPr>
        <p:spPr bwMode="auto">
          <a:xfrm>
            <a:off x="8534400" y="1676400"/>
            <a:ext cx="996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400" b="0">
                <a:solidFill>
                  <a:schemeClr val="tx1"/>
                </a:solidFill>
              </a:rPr>
              <a:t>主机</a:t>
            </a:r>
            <a:r>
              <a:rPr lang="en-US" altLang="zh-CN" sz="2400" b="0">
                <a:solidFill>
                  <a:schemeClr val="tx1"/>
                </a:solidFill>
              </a:rPr>
              <a:t>B</a:t>
            </a:r>
          </a:p>
        </p:txBody>
      </p:sp>
      <p:sp>
        <p:nvSpPr>
          <p:cNvPr id="9252" name="Rectangle 36"/>
          <p:cNvSpPr>
            <a:spLocks noChangeArrowheads="1"/>
          </p:cNvSpPr>
          <p:nvPr/>
        </p:nvSpPr>
        <p:spPr bwMode="auto">
          <a:xfrm>
            <a:off x="6553200" y="4114800"/>
            <a:ext cx="1066800" cy="685800"/>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IP</a:t>
            </a:r>
          </a:p>
        </p:txBody>
      </p:sp>
      <p:sp>
        <p:nvSpPr>
          <p:cNvPr id="9253" name="Rectangle 37"/>
          <p:cNvSpPr>
            <a:spLocks noChangeArrowheads="1"/>
          </p:cNvSpPr>
          <p:nvPr/>
        </p:nvSpPr>
        <p:spPr bwMode="auto">
          <a:xfrm>
            <a:off x="7162800" y="5029200"/>
            <a:ext cx="685800" cy="762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b="0">
                <a:solidFill>
                  <a:schemeClr val="tx1"/>
                </a:solidFill>
              </a:rPr>
              <a:t>ethernet</a:t>
            </a:r>
            <a:endParaRPr lang="en-US" altLang="zh-CN" sz="2400" b="0">
              <a:solidFill>
                <a:schemeClr val="tx1"/>
              </a:solidFill>
            </a:endParaRPr>
          </a:p>
        </p:txBody>
      </p:sp>
      <p:sp>
        <p:nvSpPr>
          <p:cNvPr id="9254" name="Line 38"/>
          <p:cNvSpPr>
            <a:spLocks noChangeShapeType="1"/>
          </p:cNvSpPr>
          <p:nvPr/>
        </p:nvSpPr>
        <p:spPr bwMode="auto">
          <a:xfrm>
            <a:off x="7391400" y="48006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5" name="Rectangle 39"/>
          <p:cNvSpPr>
            <a:spLocks noChangeArrowheads="1"/>
          </p:cNvSpPr>
          <p:nvPr/>
        </p:nvSpPr>
        <p:spPr bwMode="auto">
          <a:xfrm>
            <a:off x="6400800" y="5029200"/>
            <a:ext cx="685800" cy="762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b="0">
                <a:solidFill>
                  <a:schemeClr val="tx1"/>
                </a:solidFill>
              </a:rPr>
              <a:t>link</a:t>
            </a:r>
            <a:endParaRPr lang="en-US" altLang="zh-CN" sz="2400" b="0">
              <a:solidFill>
                <a:schemeClr val="tx1"/>
              </a:solidFill>
            </a:endParaRPr>
          </a:p>
        </p:txBody>
      </p:sp>
      <p:sp>
        <p:nvSpPr>
          <p:cNvPr id="9256" name="Line 40"/>
          <p:cNvSpPr>
            <a:spLocks noChangeShapeType="1"/>
          </p:cNvSpPr>
          <p:nvPr/>
        </p:nvSpPr>
        <p:spPr bwMode="auto">
          <a:xfrm flipV="1">
            <a:off x="6553200" y="5791200"/>
            <a:ext cx="0" cy="83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7" name="Line 41"/>
          <p:cNvSpPr>
            <a:spLocks noChangeShapeType="1"/>
          </p:cNvSpPr>
          <p:nvPr/>
        </p:nvSpPr>
        <p:spPr bwMode="auto">
          <a:xfrm flipV="1">
            <a:off x="6781800" y="48006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962" name="Freeform 42"/>
          <p:cNvSpPr>
            <a:spLocks/>
          </p:cNvSpPr>
          <p:nvPr/>
        </p:nvSpPr>
        <p:spPr bwMode="auto">
          <a:xfrm>
            <a:off x="2260600" y="2057400"/>
            <a:ext cx="7493000" cy="4775200"/>
          </a:xfrm>
          <a:custGeom>
            <a:avLst/>
            <a:gdLst>
              <a:gd name="T0" fmla="*/ 403225000 w 4720"/>
              <a:gd name="T1" fmla="*/ 362902500 h 3008"/>
              <a:gd name="T2" fmla="*/ 282257500 w 4720"/>
              <a:gd name="T3" fmla="*/ 2147483646 h 3008"/>
              <a:gd name="T4" fmla="*/ 2096770000 w 4720"/>
              <a:gd name="T5" fmla="*/ 2147483646 h 3008"/>
              <a:gd name="T6" fmla="*/ 2147483646 w 4720"/>
              <a:gd name="T7" fmla="*/ 2147483646 h 3008"/>
              <a:gd name="T8" fmla="*/ 2147483646 w 4720"/>
              <a:gd name="T9" fmla="*/ 2147483646 h 3008"/>
              <a:gd name="T10" fmla="*/ 2147483646 w 4720"/>
              <a:gd name="T11" fmla="*/ 2147483646 h 3008"/>
              <a:gd name="T12" fmla="*/ 2147483646 w 4720"/>
              <a:gd name="T13" fmla="*/ 2147483646 h 3008"/>
              <a:gd name="T14" fmla="*/ 2147483646 w 4720"/>
              <a:gd name="T15" fmla="*/ 2147483646 h 3008"/>
              <a:gd name="T16" fmla="*/ 2147483646 w 4720"/>
              <a:gd name="T17" fmla="*/ 2147483646 h 3008"/>
              <a:gd name="T18" fmla="*/ 2147483646 w 4720"/>
              <a:gd name="T19" fmla="*/ 2147483646 h 3008"/>
              <a:gd name="T20" fmla="*/ 2147483646 w 4720"/>
              <a:gd name="T21" fmla="*/ 2147483646 h 3008"/>
              <a:gd name="T22" fmla="*/ 2147483646 w 4720"/>
              <a:gd name="T23" fmla="*/ 2147483646 h 3008"/>
              <a:gd name="T24" fmla="*/ 2147483646 w 4720"/>
              <a:gd name="T25" fmla="*/ 2147483646 h 3008"/>
              <a:gd name="T26" fmla="*/ 2147483646 w 4720"/>
              <a:gd name="T27" fmla="*/ 2147483646 h 3008"/>
              <a:gd name="T28" fmla="*/ 2147483646 w 4720"/>
              <a:gd name="T29" fmla="*/ 2147483646 h 3008"/>
              <a:gd name="T30" fmla="*/ 2147483646 w 4720"/>
              <a:gd name="T31" fmla="*/ 0 h 30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720" h="3008">
                <a:moveTo>
                  <a:pt x="160" y="144"/>
                </a:moveTo>
                <a:cubicBezTo>
                  <a:pt x="80" y="1160"/>
                  <a:pt x="0" y="2176"/>
                  <a:pt x="112" y="2592"/>
                </a:cubicBezTo>
                <a:cubicBezTo>
                  <a:pt x="224" y="3008"/>
                  <a:pt x="672" y="2840"/>
                  <a:pt x="832" y="2640"/>
                </a:cubicBezTo>
                <a:cubicBezTo>
                  <a:pt x="992" y="2440"/>
                  <a:pt x="960" y="1600"/>
                  <a:pt x="1072" y="1392"/>
                </a:cubicBezTo>
                <a:cubicBezTo>
                  <a:pt x="1184" y="1184"/>
                  <a:pt x="1400" y="1232"/>
                  <a:pt x="1504" y="1392"/>
                </a:cubicBezTo>
                <a:cubicBezTo>
                  <a:pt x="1608" y="1552"/>
                  <a:pt x="1640" y="2112"/>
                  <a:pt x="1696" y="2352"/>
                </a:cubicBezTo>
                <a:cubicBezTo>
                  <a:pt x="1752" y="2592"/>
                  <a:pt x="1688" y="2760"/>
                  <a:pt x="1840" y="2832"/>
                </a:cubicBezTo>
                <a:cubicBezTo>
                  <a:pt x="1992" y="2904"/>
                  <a:pt x="2472" y="2912"/>
                  <a:pt x="2608" y="2784"/>
                </a:cubicBezTo>
                <a:cubicBezTo>
                  <a:pt x="2744" y="2656"/>
                  <a:pt x="2624" y="2296"/>
                  <a:pt x="2656" y="2064"/>
                </a:cubicBezTo>
                <a:cubicBezTo>
                  <a:pt x="2688" y="1832"/>
                  <a:pt x="2696" y="1504"/>
                  <a:pt x="2800" y="1392"/>
                </a:cubicBezTo>
                <a:cubicBezTo>
                  <a:pt x="2904" y="1280"/>
                  <a:pt x="3176" y="1280"/>
                  <a:pt x="3280" y="1392"/>
                </a:cubicBezTo>
                <a:cubicBezTo>
                  <a:pt x="3384" y="1504"/>
                  <a:pt x="3368" y="1848"/>
                  <a:pt x="3424" y="2064"/>
                </a:cubicBezTo>
                <a:cubicBezTo>
                  <a:pt x="3480" y="2280"/>
                  <a:pt x="3432" y="2576"/>
                  <a:pt x="3616" y="2688"/>
                </a:cubicBezTo>
                <a:cubicBezTo>
                  <a:pt x="3800" y="2800"/>
                  <a:pt x="4352" y="2816"/>
                  <a:pt x="4528" y="2736"/>
                </a:cubicBezTo>
                <a:cubicBezTo>
                  <a:pt x="4704" y="2656"/>
                  <a:pt x="4640" y="2664"/>
                  <a:pt x="4672" y="2208"/>
                </a:cubicBezTo>
                <a:cubicBezTo>
                  <a:pt x="4704" y="1752"/>
                  <a:pt x="4712" y="876"/>
                  <a:pt x="4720" y="0"/>
                </a:cubicBezTo>
              </a:path>
            </a:pathLst>
          </a:custGeom>
          <a:noFill/>
          <a:ln w="28575" cmpd="sng">
            <a:solidFill>
              <a:srgbClr val="0000FF"/>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9" name="Rectangle 43"/>
          <p:cNvSpPr>
            <a:spLocks noGrp="1" noChangeArrowheads="1"/>
          </p:cNvSpPr>
          <p:nvPr>
            <p:ph type="title"/>
          </p:nvPr>
        </p:nvSpPr>
        <p:spPr bwMode="auto">
          <a:xfrm>
            <a:off x="2209800" y="3683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a:t> </a:t>
            </a:r>
            <a:r>
              <a:rPr lang="en-US" altLang="zh-CN" sz="3600">
                <a:solidFill>
                  <a:schemeClr val="hlink"/>
                </a:solidFill>
                <a:latin typeface="华文新魏" panose="02010800040101010101" pitchFamily="2" charset="-122"/>
                <a:ea typeface="华文新魏" panose="02010800040101010101" pitchFamily="2" charset="-122"/>
              </a:rPr>
              <a:t>Internet</a:t>
            </a:r>
            <a:r>
              <a:rPr lang="zh-CN" altLang="en-US" sz="3600">
                <a:solidFill>
                  <a:schemeClr val="hlink"/>
                </a:solidFill>
                <a:latin typeface="华文新魏" panose="02010800040101010101" pitchFamily="2" charset="-122"/>
                <a:ea typeface="华文新魏" panose="02010800040101010101" pitchFamily="2" charset="-122"/>
              </a:rPr>
              <a:t>协议栈</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7459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2227263" y="4191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zh-CN" altLang="en-US" sz="3600">
                <a:solidFill>
                  <a:schemeClr val="hlink"/>
                </a:solidFill>
                <a:latin typeface="华文新魏" panose="02010800040101010101" pitchFamily="2" charset="-122"/>
                <a:ea typeface="华文新魏" panose="02010800040101010101" pitchFamily="2" charset="-122"/>
              </a:rPr>
              <a:t>网络层的功能</a:t>
            </a:r>
          </a:p>
        </p:txBody>
      </p:sp>
      <p:sp>
        <p:nvSpPr>
          <p:cNvPr id="10243" name="Text Box 3"/>
          <p:cNvSpPr txBox="1">
            <a:spLocks noChangeArrowheads="1"/>
          </p:cNvSpPr>
          <p:nvPr/>
        </p:nvSpPr>
        <p:spPr bwMode="auto">
          <a:xfrm>
            <a:off x="2312989" y="1727200"/>
            <a:ext cx="765333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87363" indent="-487363">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buFont typeface="Wingdings" panose="05000000000000000000" pitchFamily="2" charset="2"/>
              <a:buChar char="Ø"/>
            </a:pPr>
            <a:r>
              <a:rPr kumimoji="1" lang="zh-CN" altLang="en-US" sz="3200">
                <a:solidFill>
                  <a:schemeClr val="hlink"/>
                </a:solidFill>
                <a:latin typeface="宋体" panose="02010600030101010101" pitchFamily="2" charset="-122"/>
              </a:rPr>
              <a:t>基本功能：</a:t>
            </a:r>
            <a:r>
              <a:rPr kumimoji="1" lang="zh-CN" altLang="en-US" sz="3200">
                <a:solidFill>
                  <a:schemeClr val="tx2"/>
                </a:solidFill>
                <a:latin typeface="宋体" panose="02010600030101010101" pitchFamily="2" charset="-122"/>
              </a:rPr>
              <a:t>实现网络端到网络端</a:t>
            </a:r>
            <a:r>
              <a:rPr kumimoji="1" lang="en-US" altLang="zh-CN" sz="3200">
                <a:solidFill>
                  <a:schemeClr val="tx2"/>
                </a:solidFill>
                <a:latin typeface="宋体" panose="02010600030101010101" pitchFamily="2" charset="-122"/>
              </a:rPr>
              <a:t>(</a:t>
            </a:r>
            <a:r>
              <a:rPr kumimoji="1" lang="zh-CN" altLang="en-US" sz="3200">
                <a:solidFill>
                  <a:schemeClr val="tx2"/>
                </a:solidFill>
                <a:latin typeface="宋体" panose="02010600030101010101" pitchFamily="2" charset="-122"/>
              </a:rPr>
              <a:t>源</a:t>
            </a:r>
            <a:r>
              <a:rPr kumimoji="1" lang="en-US" altLang="zh-CN" sz="3200">
                <a:solidFill>
                  <a:schemeClr val="tx2"/>
                </a:solidFill>
                <a:latin typeface="宋体" panose="02010600030101010101" pitchFamily="2" charset="-122"/>
              </a:rPr>
              <a:t>IMP</a:t>
            </a:r>
            <a:r>
              <a:rPr kumimoji="1" lang="zh-CN" altLang="en-US" sz="3200">
                <a:solidFill>
                  <a:schemeClr val="tx2"/>
                </a:solidFill>
                <a:latin typeface="宋体" panose="02010600030101010101" pitchFamily="2" charset="-122"/>
              </a:rPr>
              <a:t>到目的</a:t>
            </a:r>
            <a:r>
              <a:rPr kumimoji="1" lang="en-US" altLang="zh-CN" sz="3200">
                <a:solidFill>
                  <a:schemeClr val="tx2"/>
                </a:solidFill>
                <a:latin typeface="宋体" panose="02010600030101010101" pitchFamily="2" charset="-122"/>
              </a:rPr>
              <a:t>IMP)</a:t>
            </a:r>
            <a:r>
              <a:rPr kumimoji="1" lang="zh-CN" altLang="en-US" sz="3200">
                <a:solidFill>
                  <a:schemeClr val="tx2"/>
                </a:solidFill>
                <a:latin typeface="宋体" panose="02010600030101010101" pitchFamily="2" charset="-122"/>
              </a:rPr>
              <a:t>的传输</a:t>
            </a:r>
            <a:r>
              <a:rPr kumimoji="1" lang="zh-CN" altLang="en-US" sz="3200">
                <a:solidFill>
                  <a:schemeClr val="tx1"/>
                </a:solidFill>
                <a:latin typeface="宋体" panose="02010600030101010101" pitchFamily="2" charset="-122"/>
              </a:rPr>
              <a:t>，屏蔽不同通信子网技术上的差异，向上层提供统一的服务。</a:t>
            </a:r>
            <a:r>
              <a:rPr kumimoji="1" lang="zh-CN" altLang="en-US" b="0">
                <a:solidFill>
                  <a:schemeClr val="tx1"/>
                </a:solidFill>
                <a:latin typeface="华文中宋" panose="02010600040101010101" pitchFamily="2" charset="-122"/>
                <a:ea typeface="华文中宋" panose="02010600040101010101" pitchFamily="2" charset="-122"/>
              </a:rPr>
              <a:t> </a:t>
            </a:r>
            <a:endParaRPr kumimoji="1" lang="zh-CN" altLang="en-US" b="0">
              <a:solidFill>
                <a:schemeClr val="tx1"/>
              </a:solidFill>
            </a:endParaRPr>
          </a:p>
        </p:txBody>
      </p:sp>
    </p:spTree>
  </p:cSld>
  <p:clrMapOvr>
    <a:masterClrMapping/>
  </p:clrMapOvr>
  <p:transition spd="med">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ChangeArrowheads="1"/>
          </p:cNvSpPr>
          <p:nvPr/>
        </p:nvSpPr>
        <p:spPr bwMode="auto">
          <a:xfrm>
            <a:off x="1752600" y="2406650"/>
            <a:ext cx="8763000" cy="3475038"/>
          </a:xfrm>
          <a:prstGeom prst="rect">
            <a:avLst/>
          </a:prstGeom>
          <a:solidFill>
            <a:srgbClr val="F8F9C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67" name="Rectangle 5"/>
          <p:cNvSpPr>
            <a:spLocks noChangeArrowheads="1"/>
          </p:cNvSpPr>
          <p:nvPr/>
        </p:nvSpPr>
        <p:spPr bwMode="auto">
          <a:xfrm>
            <a:off x="6337300" y="3863975"/>
            <a:ext cx="838200" cy="508000"/>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68" name="Rectangle 6"/>
          <p:cNvSpPr>
            <a:spLocks noChangeArrowheads="1"/>
          </p:cNvSpPr>
          <p:nvPr/>
        </p:nvSpPr>
        <p:spPr bwMode="auto">
          <a:xfrm>
            <a:off x="4279900" y="3863975"/>
            <a:ext cx="914400" cy="508000"/>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69" name="Rectangle 7"/>
          <p:cNvSpPr>
            <a:spLocks noChangeArrowheads="1"/>
          </p:cNvSpPr>
          <p:nvPr/>
        </p:nvSpPr>
        <p:spPr bwMode="auto">
          <a:xfrm>
            <a:off x="5422900" y="3863975"/>
            <a:ext cx="685800" cy="508000"/>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70" name="Text Box 8"/>
          <p:cNvSpPr txBox="1">
            <a:spLocks noChangeArrowheads="1"/>
          </p:cNvSpPr>
          <p:nvPr/>
        </p:nvSpPr>
        <p:spPr bwMode="auto">
          <a:xfrm>
            <a:off x="4268789" y="3948113"/>
            <a:ext cx="9911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Telnet </a:t>
            </a:r>
          </a:p>
        </p:txBody>
      </p:sp>
      <p:sp>
        <p:nvSpPr>
          <p:cNvPr id="11271" name="Text Box 9"/>
          <p:cNvSpPr txBox="1">
            <a:spLocks noChangeArrowheads="1"/>
          </p:cNvSpPr>
          <p:nvPr/>
        </p:nvSpPr>
        <p:spPr bwMode="auto">
          <a:xfrm>
            <a:off x="5422901" y="3930651"/>
            <a:ext cx="6651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FTP</a:t>
            </a:r>
          </a:p>
        </p:txBody>
      </p:sp>
      <p:sp>
        <p:nvSpPr>
          <p:cNvPr id="11272" name="Text Box 10"/>
          <p:cNvSpPr txBox="1">
            <a:spLocks noChangeArrowheads="1"/>
          </p:cNvSpPr>
          <p:nvPr/>
        </p:nvSpPr>
        <p:spPr bwMode="auto">
          <a:xfrm>
            <a:off x="6405564" y="3930651"/>
            <a:ext cx="693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NFS</a:t>
            </a:r>
          </a:p>
        </p:txBody>
      </p:sp>
      <p:grpSp>
        <p:nvGrpSpPr>
          <p:cNvPr id="1636363" name="Group 11"/>
          <p:cNvGrpSpPr>
            <a:grpSpLocks/>
          </p:cNvGrpSpPr>
          <p:nvPr/>
        </p:nvGrpSpPr>
        <p:grpSpPr bwMode="auto">
          <a:xfrm>
            <a:off x="7404101" y="4964114"/>
            <a:ext cx="1236663" cy="492125"/>
            <a:chOff x="3456" y="2399"/>
            <a:chExt cx="672" cy="481"/>
          </a:xfrm>
        </p:grpSpPr>
        <p:sp>
          <p:nvSpPr>
            <p:cNvPr id="11301" name="Rectangle 12"/>
            <p:cNvSpPr>
              <a:spLocks noChangeArrowheads="1"/>
            </p:cNvSpPr>
            <p:nvPr/>
          </p:nvSpPr>
          <p:spPr bwMode="auto">
            <a:xfrm>
              <a:off x="3456" y="2400"/>
              <a:ext cx="672" cy="480"/>
            </a:xfrm>
            <a:prstGeom prst="rect">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302" name="Text Box 13"/>
            <p:cNvSpPr txBox="1">
              <a:spLocks noChangeArrowheads="1"/>
            </p:cNvSpPr>
            <p:nvPr/>
          </p:nvSpPr>
          <p:spPr bwMode="auto">
            <a:xfrm>
              <a:off x="3494" y="2399"/>
              <a:ext cx="521"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无线网</a:t>
              </a:r>
            </a:p>
          </p:txBody>
        </p:sp>
      </p:grpSp>
      <p:sp>
        <p:nvSpPr>
          <p:cNvPr id="11274" name="Rectangle 14"/>
          <p:cNvSpPr>
            <a:spLocks noChangeArrowheads="1"/>
          </p:cNvSpPr>
          <p:nvPr/>
        </p:nvSpPr>
        <p:spPr bwMode="auto">
          <a:xfrm>
            <a:off x="4737100" y="4965701"/>
            <a:ext cx="1143000" cy="512763"/>
          </a:xfrm>
          <a:prstGeom prst="rect">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75" name="Text Box 15"/>
          <p:cNvSpPr txBox="1">
            <a:spLocks noChangeArrowheads="1"/>
          </p:cNvSpPr>
          <p:nvPr/>
        </p:nvSpPr>
        <p:spPr bwMode="auto">
          <a:xfrm>
            <a:off x="4610100" y="4978401"/>
            <a:ext cx="12842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a:solidFill>
                  <a:schemeClr val="tx1"/>
                </a:solidFill>
                <a:latin typeface="Arial" panose="020B0604020202020204" pitchFamily="34" charset="0"/>
              </a:rPr>
              <a:t> Ethernet</a:t>
            </a:r>
          </a:p>
        </p:txBody>
      </p:sp>
      <p:sp>
        <p:nvSpPr>
          <p:cNvPr id="11276" name="Rectangle 16"/>
          <p:cNvSpPr>
            <a:spLocks noChangeArrowheads="1"/>
          </p:cNvSpPr>
          <p:nvPr/>
        </p:nvSpPr>
        <p:spPr bwMode="auto">
          <a:xfrm>
            <a:off x="6184900" y="4965701"/>
            <a:ext cx="990600" cy="512763"/>
          </a:xfrm>
          <a:prstGeom prst="rect">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77" name="Text Box 17"/>
          <p:cNvSpPr txBox="1">
            <a:spLocks noChangeArrowheads="1"/>
          </p:cNvSpPr>
          <p:nvPr/>
        </p:nvSpPr>
        <p:spPr bwMode="auto">
          <a:xfrm>
            <a:off x="6245226" y="4964113"/>
            <a:ext cx="9589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光纤网</a:t>
            </a:r>
          </a:p>
        </p:txBody>
      </p:sp>
      <p:sp>
        <p:nvSpPr>
          <p:cNvPr id="11278" name="Line 18"/>
          <p:cNvSpPr>
            <a:spLocks noChangeShapeType="1"/>
          </p:cNvSpPr>
          <p:nvPr/>
        </p:nvSpPr>
        <p:spPr bwMode="auto">
          <a:xfrm>
            <a:off x="3898900" y="4711700"/>
            <a:ext cx="4495800"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9" name="Text Box 19"/>
          <p:cNvSpPr txBox="1">
            <a:spLocks noChangeArrowheads="1"/>
          </p:cNvSpPr>
          <p:nvPr/>
        </p:nvSpPr>
        <p:spPr bwMode="auto">
          <a:xfrm>
            <a:off x="2332038" y="3946526"/>
            <a:ext cx="9509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应用层</a:t>
            </a:r>
          </a:p>
        </p:txBody>
      </p:sp>
      <p:sp>
        <p:nvSpPr>
          <p:cNvPr id="11280" name="Text Box 20"/>
          <p:cNvSpPr txBox="1">
            <a:spLocks noChangeArrowheads="1"/>
          </p:cNvSpPr>
          <p:nvPr/>
        </p:nvSpPr>
        <p:spPr bwMode="auto">
          <a:xfrm>
            <a:off x="2359025" y="5035550"/>
            <a:ext cx="1217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通信子网</a:t>
            </a:r>
          </a:p>
        </p:txBody>
      </p:sp>
      <p:cxnSp>
        <p:nvCxnSpPr>
          <p:cNvPr id="11281" name="AutoShape 21"/>
          <p:cNvCxnSpPr>
            <a:cxnSpLocks noChangeShapeType="1"/>
            <a:stCxn id="11270" idx="2"/>
            <a:endCxn id="11275" idx="0"/>
          </p:cNvCxnSpPr>
          <p:nvPr/>
        </p:nvCxnSpPr>
        <p:spPr bwMode="auto">
          <a:xfrm>
            <a:off x="4764374" y="4348224"/>
            <a:ext cx="487871" cy="630177"/>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2" name="AutoShape 22"/>
          <p:cNvCxnSpPr>
            <a:cxnSpLocks noChangeShapeType="1"/>
            <a:stCxn id="11270" idx="2"/>
            <a:endCxn id="11276" idx="0"/>
          </p:cNvCxnSpPr>
          <p:nvPr/>
        </p:nvCxnSpPr>
        <p:spPr bwMode="auto">
          <a:xfrm>
            <a:off x="4764374" y="4348224"/>
            <a:ext cx="1915827" cy="617477"/>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3" name="AutoShape 23"/>
          <p:cNvCxnSpPr>
            <a:cxnSpLocks noChangeShapeType="1"/>
            <a:stCxn id="11271" idx="2"/>
            <a:endCxn id="11274" idx="0"/>
          </p:cNvCxnSpPr>
          <p:nvPr/>
        </p:nvCxnSpPr>
        <p:spPr bwMode="auto">
          <a:xfrm flipH="1">
            <a:off x="5308601" y="4327525"/>
            <a:ext cx="447675" cy="628650"/>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4" name="AutoShape 24"/>
          <p:cNvCxnSpPr>
            <a:cxnSpLocks noChangeShapeType="1"/>
            <a:stCxn id="11269" idx="2"/>
            <a:endCxn id="11276" idx="0"/>
          </p:cNvCxnSpPr>
          <p:nvPr/>
        </p:nvCxnSpPr>
        <p:spPr bwMode="auto">
          <a:xfrm>
            <a:off x="5765800" y="4381501"/>
            <a:ext cx="914400" cy="574675"/>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5" name="AutoShape 25"/>
          <p:cNvCxnSpPr>
            <a:cxnSpLocks noChangeShapeType="1"/>
            <a:stCxn id="11267" idx="2"/>
            <a:endCxn id="11274" idx="0"/>
          </p:cNvCxnSpPr>
          <p:nvPr/>
        </p:nvCxnSpPr>
        <p:spPr bwMode="auto">
          <a:xfrm flipH="1">
            <a:off x="5308600" y="4381501"/>
            <a:ext cx="1447800" cy="574675"/>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6" name="AutoShape 26"/>
          <p:cNvCxnSpPr>
            <a:cxnSpLocks noChangeShapeType="1"/>
            <a:stCxn id="11267" idx="2"/>
            <a:endCxn id="11276" idx="0"/>
          </p:cNvCxnSpPr>
          <p:nvPr/>
        </p:nvCxnSpPr>
        <p:spPr bwMode="auto">
          <a:xfrm flipH="1">
            <a:off x="6680200" y="4381501"/>
            <a:ext cx="76200" cy="574675"/>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636379" name="Group 27"/>
          <p:cNvGrpSpPr>
            <a:grpSpLocks/>
          </p:cNvGrpSpPr>
          <p:nvPr/>
        </p:nvGrpSpPr>
        <p:grpSpPr bwMode="auto">
          <a:xfrm>
            <a:off x="7404101" y="3863975"/>
            <a:ext cx="849313" cy="508000"/>
            <a:chOff x="3456" y="1776"/>
            <a:chExt cx="535" cy="288"/>
          </a:xfrm>
        </p:grpSpPr>
        <p:sp>
          <p:nvSpPr>
            <p:cNvPr id="11299" name="Rectangle 28"/>
            <p:cNvSpPr>
              <a:spLocks noChangeArrowheads="1"/>
            </p:cNvSpPr>
            <p:nvPr/>
          </p:nvSpPr>
          <p:spPr bwMode="auto">
            <a:xfrm>
              <a:off x="3463" y="1776"/>
              <a:ext cx="528" cy="288"/>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300" name="Text Box 29"/>
            <p:cNvSpPr txBox="1">
              <a:spLocks noChangeArrowheads="1"/>
            </p:cNvSpPr>
            <p:nvPr/>
          </p:nvSpPr>
          <p:spPr bwMode="auto">
            <a:xfrm>
              <a:off x="3456" y="1814"/>
              <a:ext cx="535"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HTTP</a:t>
              </a:r>
            </a:p>
          </p:txBody>
        </p:sp>
      </p:grpSp>
      <p:grpSp>
        <p:nvGrpSpPr>
          <p:cNvPr id="1636382" name="Group 30"/>
          <p:cNvGrpSpPr>
            <a:grpSpLocks/>
          </p:cNvGrpSpPr>
          <p:nvPr/>
        </p:nvGrpSpPr>
        <p:grpSpPr bwMode="auto">
          <a:xfrm>
            <a:off x="4737100" y="4383088"/>
            <a:ext cx="3200400" cy="571500"/>
            <a:chOff x="1776" y="2070"/>
            <a:chExt cx="2016" cy="324"/>
          </a:xfrm>
        </p:grpSpPr>
        <p:cxnSp>
          <p:nvCxnSpPr>
            <p:cNvPr id="11295" name="AutoShape 31"/>
            <p:cNvCxnSpPr>
              <a:cxnSpLocks noChangeShapeType="1"/>
            </p:cNvCxnSpPr>
            <p:nvPr/>
          </p:nvCxnSpPr>
          <p:spPr bwMode="auto">
            <a:xfrm>
              <a:off x="1776" y="2070"/>
              <a:ext cx="2016" cy="324"/>
            </a:xfrm>
            <a:prstGeom prst="straightConnector1">
              <a:avLst/>
            </a:prstGeom>
            <a:noFill/>
            <a:ln w="254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6" name="AutoShape 32"/>
            <p:cNvCxnSpPr>
              <a:cxnSpLocks noChangeShapeType="1"/>
            </p:cNvCxnSpPr>
            <p:nvPr/>
          </p:nvCxnSpPr>
          <p:spPr bwMode="auto">
            <a:xfrm>
              <a:off x="2424" y="2070"/>
              <a:ext cx="1368" cy="324"/>
            </a:xfrm>
            <a:prstGeom prst="straightConnector1">
              <a:avLst/>
            </a:prstGeom>
            <a:noFill/>
            <a:ln w="254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7" name="AutoShape 33"/>
            <p:cNvCxnSpPr>
              <a:cxnSpLocks noChangeShapeType="1"/>
            </p:cNvCxnSpPr>
            <p:nvPr/>
          </p:nvCxnSpPr>
          <p:spPr bwMode="auto">
            <a:xfrm>
              <a:off x="3048" y="2070"/>
              <a:ext cx="744" cy="324"/>
            </a:xfrm>
            <a:prstGeom prst="straightConnector1">
              <a:avLst/>
            </a:prstGeom>
            <a:noFill/>
            <a:ln w="254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8" name="AutoShape 34"/>
            <p:cNvCxnSpPr>
              <a:cxnSpLocks noChangeShapeType="1"/>
            </p:cNvCxnSpPr>
            <p:nvPr/>
          </p:nvCxnSpPr>
          <p:spPr bwMode="auto">
            <a:xfrm>
              <a:off x="3727" y="2070"/>
              <a:ext cx="65" cy="324"/>
            </a:xfrm>
            <a:prstGeom prst="straightConnector1">
              <a:avLst/>
            </a:prstGeom>
            <a:noFill/>
            <a:ln w="254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636387" name="Group 35"/>
          <p:cNvGrpSpPr>
            <a:grpSpLocks/>
          </p:cNvGrpSpPr>
          <p:nvPr/>
        </p:nvGrpSpPr>
        <p:grpSpPr bwMode="auto">
          <a:xfrm>
            <a:off x="5308601" y="4371976"/>
            <a:ext cx="2525713" cy="582613"/>
            <a:chOff x="2136" y="2064"/>
            <a:chExt cx="1591" cy="330"/>
          </a:xfrm>
        </p:grpSpPr>
        <p:cxnSp>
          <p:nvCxnSpPr>
            <p:cNvPr id="11293" name="AutoShape 36"/>
            <p:cNvCxnSpPr>
              <a:cxnSpLocks noChangeShapeType="1"/>
            </p:cNvCxnSpPr>
            <p:nvPr/>
          </p:nvCxnSpPr>
          <p:spPr bwMode="auto">
            <a:xfrm flipH="1">
              <a:off x="2136" y="2064"/>
              <a:ext cx="1548" cy="330"/>
            </a:xfrm>
            <a:prstGeom prst="straightConnector1">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4" name="AutoShape 37"/>
            <p:cNvCxnSpPr>
              <a:cxnSpLocks noChangeShapeType="1"/>
            </p:cNvCxnSpPr>
            <p:nvPr/>
          </p:nvCxnSpPr>
          <p:spPr bwMode="auto">
            <a:xfrm flipH="1">
              <a:off x="3000" y="2070"/>
              <a:ext cx="727" cy="324"/>
            </a:xfrm>
            <a:prstGeom prst="straightConnector1">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1290" name="Text Box 38"/>
          <p:cNvSpPr txBox="1">
            <a:spLocks noChangeArrowheads="1"/>
          </p:cNvSpPr>
          <p:nvPr/>
        </p:nvSpPr>
        <p:spPr bwMode="auto">
          <a:xfrm>
            <a:off x="3760789" y="3186113"/>
            <a:ext cx="4618037" cy="57785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1600" b="0">
                <a:solidFill>
                  <a:schemeClr val="tx1"/>
                </a:solidFill>
                <a:latin typeface="Arial" panose="020B0604020202020204" pitchFamily="34" charset="0"/>
              </a:rPr>
              <a:t>(TELNET – </a:t>
            </a:r>
            <a:r>
              <a:rPr lang="zh-CN" altLang="en-US" sz="1600" b="0">
                <a:solidFill>
                  <a:schemeClr val="tx1"/>
                </a:solidFill>
                <a:latin typeface="Arial" panose="020B0604020202020204" pitchFamily="34" charset="0"/>
              </a:rPr>
              <a:t>虚拟终端协议，</a:t>
            </a:r>
            <a:r>
              <a:rPr lang="en-US" altLang="zh-CN" sz="1600" b="0">
                <a:solidFill>
                  <a:schemeClr val="tx1"/>
                </a:solidFill>
                <a:latin typeface="Arial" panose="020B0604020202020204" pitchFamily="34" charset="0"/>
              </a:rPr>
              <a:t>FTP – </a:t>
            </a:r>
            <a:r>
              <a:rPr lang="zh-CN" altLang="en-US" sz="1600" b="0">
                <a:solidFill>
                  <a:schemeClr val="tx1"/>
                </a:solidFill>
                <a:latin typeface="Arial" panose="020B0604020202020204" pitchFamily="34" charset="0"/>
              </a:rPr>
              <a:t>文件传输协议</a:t>
            </a:r>
            <a:r>
              <a:rPr lang="en-US" altLang="zh-CN" sz="1600" b="0">
                <a:solidFill>
                  <a:schemeClr val="tx1"/>
                </a:solidFill>
                <a:latin typeface="Arial" panose="020B0604020202020204" pitchFamily="34" charset="0"/>
              </a:rPr>
              <a:t>, </a:t>
            </a:r>
          </a:p>
          <a:p>
            <a:pPr algn="ctr"/>
            <a:r>
              <a:rPr lang="en-US" altLang="zh-CN" sz="1600" b="0">
                <a:solidFill>
                  <a:schemeClr val="tx1"/>
                </a:solidFill>
                <a:latin typeface="Arial" panose="020B0604020202020204" pitchFamily="34" charset="0"/>
              </a:rPr>
              <a:t>NFS –</a:t>
            </a:r>
            <a:r>
              <a:rPr lang="zh-CN" altLang="en-US" sz="1600" b="0">
                <a:solidFill>
                  <a:schemeClr val="tx1"/>
                </a:solidFill>
                <a:latin typeface="Arial" panose="020B0604020202020204" pitchFamily="34" charset="0"/>
              </a:rPr>
              <a:t>网络文件系统</a:t>
            </a:r>
            <a:r>
              <a:rPr lang="en-US" altLang="zh-CN" sz="1600" b="0">
                <a:solidFill>
                  <a:schemeClr val="tx1"/>
                </a:solidFill>
                <a:latin typeface="Arial" panose="020B0604020202020204" pitchFamily="34" charset="0"/>
              </a:rPr>
              <a:t>, HTTP – </a:t>
            </a:r>
            <a:r>
              <a:rPr lang="zh-CN" altLang="en-US" sz="1600" b="0">
                <a:solidFill>
                  <a:schemeClr val="tx1"/>
                </a:solidFill>
                <a:latin typeface="Arial" panose="020B0604020202020204" pitchFamily="34" charset="0"/>
              </a:rPr>
              <a:t>超文本传输协议</a:t>
            </a:r>
            <a:r>
              <a:rPr lang="en-US" altLang="zh-CN" sz="1600" b="0">
                <a:solidFill>
                  <a:schemeClr val="tx1"/>
                </a:solidFill>
                <a:latin typeface="Arial" panose="020B0604020202020204" pitchFamily="34" charset="0"/>
              </a:rPr>
              <a:t>l)</a:t>
            </a:r>
          </a:p>
        </p:txBody>
      </p:sp>
      <p:sp>
        <p:nvSpPr>
          <p:cNvPr id="11291" name="Text Box 39"/>
          <p:cNvSpPr txBox="1">
            <a:spLocks noChangeArrowheads="1"/>
          </p:cNvSpPr>
          <p:nvPr/>
        </p:nvSpPr>
        <p:spPr bwMode="auto">
          <a:xfrm>
            <a:off x="3116264" y="1311275"/>
            <a:ext cx="62325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b="0">
                <a:solidFill>
                  <a:schemeClr val="tx1"/>
                </a:solidFill>
                <a:latin typeface="Arial" panose="020B0604020202020204" pitchFamily="34" charset="0"/>
                <a:ea typeface="华文行楷" panose="02010800040101010101" pitchFamily="2" charset="-122"/>
              </a:rPr>
              <a:t>没有网络层结构：以至于每种网络技术都需要各自实现新的应用程序！</a:t>
            </a:r>
          </a:p>
        </p:txBody>
      </p:sp>
      <p:sp>
        <p:nvSpPr>
          <p:cNvPr id="11292" name="Rectangle 40"/>
          <p:cNvSpPr>
            <a:spLocks noGrp="1" noChangeArrowheads="1"/>
          </p:cNvSpPr>
          <p:nvPr>
            <p:ph type="title"/>
          </p:nvPr>
        </p:nvSpPr>
        <p:spPr bwMode="auto">
          <a:xfrm>
            <a:off x="2244725" y="454025"/>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zh-CN" altLang="en-US" sz="3600">
                <a:solidFill>
                  <a:schemeClr val="hlink"/>
                </a:solidFill>
                <a:latin typeface="华文新魏" panose="02010800040101010101" pitchFamily="2" charset="-122"/>
                <a:ea typeface="华文新魏" panose="02010800040101010101" pitchFamily="2" charset="-122"/>
              </a:rPr>
              <a:t>在</a:t>
            </a:r>
            <a:r>
              <a:rPr lang="en-US" altLang="zh-CN" sz="3600">
                <a:solidFill>
                  <a:schemeClr val="hlink"/>
                </a:solidFill>
                <a:latin typeface="华文新魏" panose="02010800040101010101" pitchFamily="2" charset="-122"/>
                <a:ea typeface="华文新魏" panose="02010800040101010101" pitchFamily="2" charset="-122"/>
              </a:rPr>
              <a:t>IP</a:t>
            </a:r>
            <a:r>
              <a:rPr lang="zh-CN" altLang="en-US" sz="3600">
                <a:solidFill>
                  <a:schemeClr val="hlink"/>
                </a:solidFill>
                <a:latin typeface="华文新魏" panose="02010800040101010101" pitchFamily="2" charset="-122"/>
                <a:ea typeface="华文新魏" panose="02010800040101010101" pitchFamily="2" charset="-122"/>
              </a:rPr>
              <a:t>之前</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63637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63638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63636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6363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ChangeArrowheads="1"/>
          </p:cNvSpPr>
          <p:nvPr/>
        </p:nvSpPr>
        <p:spPr bwMode="auto">
          <a:xfrm>
            <a:off x="3203575" y="1244600"/>
            <a:ext cx="6629400" cy="3124200"/>
          </a:xfrm>
          <a:prstGeom prst="rect">
            <a:avLst/>
          </a:prstGeom>
          <a:solidFill>
            <a:srgbClr val="F8F9C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291" name="Rectangle 5"/>
          <p:cNvSpPr>
            <a:spLocks noChangeArrowheads="1"/>
          </p:cNvSpPr>
          <p:nvPr/>
        </p:nvSpPr>
        <p:spPr bwMode="auto">
          <a:xfrm>
            <a:off x="7300913" y="1517650"/>
            <a:ext cx="838200" cy="457200"/>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292" name="Rectangle 6"/>
          <p:cNvSpPr>
            <a:spLocks noChangeArrowheads="1"/>
          </p:cNvSpPr>
          <p:nvPr/>
        </p:nvSpPr>
        <p:spPr bwMode="auto">
          <a:xfrm>
            <a:off x="5243513" y="1517650"/>
            <a:ext cx="914400" cy="457200"/>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293" name="Rectangle 7"/>
          <p:cNvSpPr>
            <a:spLocks noChangeArrowheads="1"/>
          </p:cNvSpPr>
          <p:nvPr/>
        </p:nvSpPr>
        <p:spPr bwMode="auto">
          <a:xfrm>
            <a:off x="6386513" y="1517650"/>
            <a:ext cx="685800" cy="457200"/>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294" name="Text Box 8"/>
          <p:cNvSpPr txBox="1">
            <a:spLocks noChangeArrowheads="1"/>
          </p:cNvSpPr>
          <p:nvPr/>
        </p:nvSpPr>
        <p:spPr bwMode="auto">
          <a:xfrm>
            <a:off x="5232401" y="1593851"/>
            <a:ext cx="10017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Telnet </a:t>
            </a:r>
          </a:p>
        </p:txBody>
      </p:sp>
      <p:sp>
        <p:nvSpPr>
          <p:cNvPr id="12295" name="Text Box 9"/>
          <p:cNvSpPr txBox="1">
            <a:spLocks noChangeArrowheads="1"/>
          </p:cNvSpPr>
          <p:nvPr/>
        </p:nvSpPr>
        <p:spPr bwMode="auto">
          <a:xfrm>
            <a:off x="6386513" y="1577976"/>
            <a:ext cx="6651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FTP</a:t>
            </a:r>
          </a:p>
        </p:txBody>
      </p:sp>
      <p:sp>
        <p:nvSpPr>
          <p:cNvPr id="12296" name="Text Box 10"/>
          <p:cNvSpPr txBox="1">
            <a:spLocks noChangeArrowheads="1"/>
          </p:cNvSpPr>
          <p:nvPr/>
        </p:nvSpPr>
        <p:spPr bwMode="auto">
          <a:xfrm>
            <a:off x="7369175" y="1577976"/>
            <a:ext cx="693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NFS</a:t>
            </a:r>
          </a:p>
        </p:txBody>
      </p:sp>
      <p:grpSp>
        <p:nvGrpSpPr>
          <p:cNvPr id="1637387" name="Group 11"/>
          <p:cNvGrpSpPr>
            <a:grpSpLocks/>
          </p:cNvGrpSpPr>
          <p:nvPr/>
        </p:nvGrpSpPr>
        <p:grpSpPr bwMode="auto">
          <a:xfrm>
            <a:off x="8367713" y="3286125"/>
            <a:ext cx="1066800" cy="762000"/>
            <a:chOff x="3456" y="2400"/>
            <a:chExt cx="672" cy="480"/>
          </a:xfrm>
        </p:grpSpPr>
        <p:sp>
          <p:nvSpPr>
            <p:cNvPr id="12320" name="Rectangle 12"/>
            <p:cNvSpPr>
              <a:spLocks noChangeArrowheads="1"/>
            </p:cNvSpPr>
            <p:nvPr/>
          </p:nvSpPr>
          <p:spPr bwMode="auto">
            <a:xfrm>
              <a:off x="3456" y="2400"/>
              <a:ext cx="672" cy="480"/>
            </a:xfrm>
            <a:prstGeom prst="rect">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21" name="Text Box 13"/>
            <p:cNvSpPr txBox="1">
              <a:spLocks noChangeArrowheads="1"/>
            </p:cNvSpPr>
            <p:nvPr/>
          </p:nvSpPr>
          <p:spPr bwMode="auto">
            <a:xfrm>
              <a:off x="3494" y="2407"/>
              <a:ext cx="63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Packet</a:t>
              </a:r>
            </a:p>
            <a:p>
              <a:r>
                <a:rPr lang="en-US" altLang="zh-CN" sz="2000">
                  <a:solidFill>
                    <a:schemeClr val="tx1"/>
                  </a:solidFill>
                  <a:latin typeface="Arial" panose="020B0604020202020204" pitchFamily="34" charset="0"/>
                </a:rPr>
                <a:t>radio</a:t>
              </a:r>
            </a:p>
          </p:txBody>
        </p:sp>
      </p:grpSp>
      <p:sp>
        <p:nvSpPr>
          <p:cNvPr id="12298" name="Rectangle 14"/>
          <p:cNvSpPr>
            <a:spLocks noChangeArrowheads="1"/>
          </p:cNvSpPr>
          <p:nvPr/>
        </p:nvSpPr>
        <p:spPr bwMode="auto">
          <a:xfrm>
            <a:off x="5700713" y="3286125"/>
            <a:ext cx="1143000" cy="762000"/>
          </a:xfrm>
          <a:prstGeom prst="rect">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299" name="Text Box 15"/>
          <p:cNvSpPr txBox="1">
            <a:spLocks noChangeArrowheads="1"/>
          </p:cNvSpPr>
          <p:nvPr/>
        </p:nvSpPr>
        <p:spPr bwMode="auto">
          <a:xfrm>
            <a:off x="5657850" y="3400426"/>
            <a:ext cx="1214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Ethernet</a:t>
            </a:r>
          </a:p>
        </p:txBody>
      </p:sp>
      <p:sp>
        <p:nvSpPr>
          <p:cNvPr id="12300" name="Rectangle 16"/>
          <p:cNvSpPr>
            <a:spLocks noChangeArrowheads="1"/>
          </p:cNvSpPr>
          <p:nvPr/>
        </p:nvSpPr>
        <p:spPr bwMode="auto">
          <a:xfrm>
            <a:off x="7148513" y="3286125"/>
            <a:ext cx="990600" cy="762000"/>
          </a:xfrm>
          <a:prstGeom prst="rect">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01" name="Text Box 17"/>
          <p:cNvSpPr txBox="1">
            <a:spLocks noChangeArrowheads="1"/>
          </p:cNvSpPr>
          <p:nvPr/>
        </p:nvSpPr>
        <p:spPr bwMode="auto">
          <a:xfrm>
            <a:off x="7208838" y="3297239"/>
            <a:ext cx="80486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Fiber</a:t>
            </a:r>
          </a:p>
          <a:p>
            <a:r>
              <a:rPr lang="en-US" altLang="zh-CN" sz="2000">
                <a:solidFill>
                  <a:schemeClr val="tx1"/>
                </a:solidFill>
                <a:latin typeface="Arial" panose="020B0604020202020204" pitchFamily="34" charset="0"/>
              </a:rPr>
              <a:t>optic</a:t>
            </a:r>
          </a:p>
        </p:txBody>
      </p:sp>
      <p:sp>
        <p:nvSpPr>
          <p:cNvPr id="12302" name="Line 18"/>
          <p:cNvSpPr>
            <a:spLocks noChangeShapeType="1"/>
          </p:cNvSpPr>
          <p:nvPr/>
        </p:nvSpPr>
        <p:spPr bwMode="auto">
          <a:xfrm>
            <a:off x="4862513" y="2295525"/>
            <a:ext cx="4495800"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3" name="Text Box 19"/>
          <p:cNvSpPr txBox="1">
            <a:spLocks noChangeArrowheads="1"/>
          </p:cNvSpPr>
          <p:nvPr/>
        </p:nvSpPr>
        <p:spPr bwMode="auto">
          <a:xfrm>
            <a:off x="3295651" y="1590676"/>
            <a:ext cx="950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应用层</a:t>
            </a:r>
          </a:p>
        </p:txBody>
      </p:sp>
      <p:sp>
        <p:nvSpPr>
          <p:cNvPr id="12304" name="Text Box 20"/>
          <p:cNvSpPr txBox="1">
            <a:spLocks noChangeArrowheads="1"/>
          </p:cNvSpPr>
          <p:nvPr/>
        </p:nvSpPr>
        <p:spPr bwMode="auto">
          <a:xfrm>
            <a:off x="3322638" y="3348038"/>
            <a:ext cx="12170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通信子网</a:t>
            </a:r>
          </a:p>
          <a:p>
            <a:endParaRPr lang="en-US" altLang="zh-CN" sz="2000">
              <a:solidFill>
                <a:schemeClr val="tx1"/>
              </a:solidFill>
              <a:latin typeface="Arial" panose="020B0604020202020204" pitchFamily="34" charset="0"/>
            </a:endParaRPr>
          </a:p>
        </p:txBody>
      </p:sp>
      <p:grpSp>
        <p:nvGrpSpPr>
          <p:cNvPr id="1637397" name="Group 21"/>
          <p:cNvGrpSpPr>
            <a:grpSpLocks/>
          </p:cNvGrpSpPr>
          <p:nvPr/>
        </p:nvGrpSpPr>
        <p:grpSpPr bwMode="auto">
          <a:xfrm>
            <a:off x="8367713" y="1517650"/>
            <a:ext cx="849312" cy="457200"/>
            <a:chOff x="3456" y="1776"/>
            <a:chExt cx="535" cy="288"/>
          </a:xfrm>
        </p:grpSpPr>
        <p:sp>
          <p:nvSpPr>
            <p:cNvPr id="12318" name="Rectangle 22"/>
            <p:cNvSpPr>
              <a:spLocks noChangeArrowheads="1"/>
            </p:cNvSpPr>
            <p:nvPr/>
          </p:nvSpPr>
          <p:spPr bwMode="auto">
            <a:xfrm>
              <a:off x="3463" y="1776"/>
              <a:ext cx="528" cy="288"/>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19" name="Text Box 23"/>
            <p:cNvSpPr txBox="1">
              <a:spLocks noChangeArrowheads="1"/>
            </p:cNvSpPr>
            <p:nvPr/>
          </p:nvSpPr>
          <p:spPr bwMode="auto">
            <a:xfrm>
              <a:off x="3456" y="1814"/>
              <a:ext cx="53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HTTP</a:t>
              </a:r>
            </a:p>
          </p:txBody>
        </p:sp>
      </p:grpSp>
      <p:sp>
        <p:nvSpPr>
          <p:cNvPr id="12306" name="Rectangle 24"/>
          <p:cNvSpPr>
            <a:spLocks noChangeArrowheads="1"/>
          </p:cNvSpPr>
          <p:nvPr/>
        </p:nvSpPr>
        <p:spPr bwMode="auto">
          <a:xfrm>
            <a:off x="6386513" y="2540000"/>
            <a:ext cx="1447800" cy="228600"/>
          </a:xfrm>
          <a:prstGeom prst="rect">
            <a:avLst/>
          </a:prstGeom>
          <a:solidFill>
            <a:srgbClr val="EAEAEA"/>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07" name="Line 25"/>
          <p:cNvSpPr>
            <a:spLocks noChangeShapeType="1"/>
          </p:cNvSpPr>
          <p:nvPr/>
        </p:nvSpPr>
        <p:spPr bwMode="auto">
          <a:xfrm>
            <a:off x="4862513" y="2981325"/>
            <a:ext cx="4495800"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8" name="Text Box 26"/>
          <p:cNvSpPr txBox="1">
            <a:spLocks noChangeArrowheads="1"/>
          </p:cNvSpPr>
          <p:nvPr/>
        </p:nvSpPr>
        <p:spPr bwMode="auto">
          <a:xfrm>
            <a:off x="3338513" y="2311401"/>
            <a:ext cx="1428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中间层 </a:t>
            </a:r>
            <a:r>
              <a:rPr lang="en-US" altLang="zh-CN" sz="2000">
                <a:solidFill>
                  <a:schemeClr val="tx1"/>
                </a:solidFill>
                <a:latin typeface="Arial" panose="020B0604020202020204" pitchFamily="34" charset="0"/>
              </a:rPr>
              <a:t>(IP)</a:t>
            </a:r>
          </a:p>
        </p:txBody>
      </p:sp>
      <p:cxnSp>
        <p:nvCxnSpPr>
          <p:cNvPr id="12309" name="AutoShape 27"/>
          <p:cNvCxnSpPr>
            <a:cxnSpLocks noChangeShapeType="1"/>
            <a:stCxn id="12292" idx="2"/>
            <a:endCxn id="12306" idx="0"/>
          </p:cNvCxnSpPr>
          <p:nvPr/>
        </p:nvCxnSpPr>
        <p:spPr bwMode="auto">
          <a:xfrm>
            <a:off x="5700713" y="1984376"/>
            <a:ext cx="1409700" cy="542925"/>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10" name="AutoShape 28"/>
          <p:cNvCxnSpPr>
            <a:cxnSpLocks noChangeShapeType="1"/>
            <a:stCxn id="12293" idx="2"/>
            <a:endCxn id="12306" idx="0"/>
          </p:cNvCxnSpPr>
          <p:nvPr/>
        </p:nvCxnSpPr>
        <p:spPr bwMode="auto">
          <a:xfrm>
            <a:off x="6729413" y="1984376"/>
            <a:ext cx="381000" cy="542925"/>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11" name="AutoShape 29"/>
          <p:cNvCxnSpPr>
            <a:cxnSpLocks noChangeShapeType="1"/>
            <a:stCxn id="12291" idx="2"/>
            <a:endCxn id="12306" idx="0"/>
          </p:cNvCxnSpPr>
          <p:nvPr/>
        </p:nvCxnSpPr>
        <p:spPr bwMode="auto">
          <a:xfrm flipH="1">
            <a:off x="7110413" y="1984376"/>
            <a:ext cx="609600" cy="542925"/>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12" name="AutoShape 30"/>
          <p:cNvCxnSpPr>
            <a:cxnSpLocks noChangeShapeType="1"/>
            <a:stCxn id="12306" idx="2"/>
            <a:endCxn id="12298" idx="0"/>
          </p:cNvCxnSpPr>
          <p:nvPr/>
        </p:nvCxnSpPr>
        <p:spPr bwMode="auto">
          <a:xfrm flipH="1">
            <a:off x="6272213" y="2781300"/>
            <a:ext cx="838200" cy="495300"/>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13" name="AutoShape 31"/>
          <p:cNvCxnSpPr>
            <a:cxnSpLocks noChangeShapeType="1"/>
            <a:stCxn id="12306" idx="2"/>
            <a:endCxn id="12300" idx="0"/>
          </p:cNvCxnSpPr>
          <p:nvPr/>
        </p:nvCxnSpPr>
        <p:spPr bwMode="auto">
          <a:xfrm>
            <a:off x="7110413" y="2781300"/>
            <a:ext cx="533400" cy="495300"/>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7408" name="AutoShape 32"/>
          <p:cNvCxnSpPr>
            <a:cxnSpLocks noChangeShapeType="1"/>
            <a:stCxn id="12318" idx="2"/>
            <a:endCxn id="12306" idx="0"/>
          </p:cNvCxnSpPr>
          <p:nvPr/>
        </p:nvCxnSpPr>
        <p:spPr bwMode="auto">
          <a:xfrm flipH="1">
            <a:off x="7110413" y="1984376"/>
            <a:ext cx="1687512" cy="542925"/>
          </a:xfrm>
          <a:prstGeom prst="straightConnector1">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7409" name="AutoShape 33"/>
          <p:cNvCxnSpPr>
            <a:cxnSpLocks noChangeShapeType="1"/>
            <a:stCxn id="12306" idx="2"/>
            <a:endCxn id="12320" idx="0"/>
          </p:cNvCxnSpPr>
          <p:nvPr/>
        </p:nvCxnSpPr>
        <p:spPr bwMode="auto">
          <a:xfrm>
            <a:off x="7110413" y="2781300"/>
            <a:ext cx="1790700" cy="495300"/>
          </a:xfrm>
          <a:prstGeom prst="straightConnector1">
            <a:avLst/>
          </a:prstGeom>
          <a:noFill/>
          <a:ln w="254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37410" name="Text Box 34"/>
          <p:cNvSpPr txBox="1">
            <a:spLocks noChangeArrowheads="1"/>
          </p:cNvSpPr>
          <p:nvPr/>
        </p:nvSpPr>
        <p:spPr bwMode="auto">
          <a:xfrm>
            <a:off x="2543176" y="4560889"/>
            <a:ext cx="7591425"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0500" indent="-190500">
              <a:defRPr sz="2800" b="1">
                <a:solidFill>
                  <a:srgbClr val="CACACA"/>
                </a:solidFill>
                <a:latin typeface="Times New Roman" panose="02020603050405020304" pitchFamily="18" charset="0"/>
                <a:ea typeface="宋体" panose="02010600030101010101" pitchFamily="2" charset="-122"/>
              </a:defRPr>
            </a:lvl1pPr>
            <a:lvl2pPr marL="762000" indent="-30480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nSpc>
                <a:spcPct val="90000"/>
              </a:lnSpc>
              <a:spcBef>
                <a:spcPct val="20000"/>
              </a:spcBef>
              <a:buClr>
                <a:schemeClr val="accent2"/>
              </a:buClr>
              <a:buSzPct val="75000"/>
              <a:buFont typeface="Monotype Sorts" pitchFamily="2" charset="2"/>
              <a:buChar char="q"/>
            </a:pPr>
            <a:r>
              <a:rPr lang="zh-CN" altLang="en-US" b="0">
                <a:solidFill>
                  <a:schemeClr val="tx1"/>
                </a:solidFill>
                <a:latin typeface="Arial" panose="020B0604020202020204" pitchFamily="34" charset="0"/>
              </a:rPr>
              <a:t>主要概念</a:t>
            </a:r>
            <a:r>
              <a:rPr lang="en-US" altLang="zh-CN" b="0">
                <a:solidFill>
                  <a:schemeClr val="tx1"/>
                </a:solidFill>
                <a:latin typeface="Arial" panose="020B0604020202020204" pitchFamily="34" charset="0"/>
              </a:rPr>
              <a:t>: </a:t>
            </a:r>
          </a:p>
          <a:p>
            <a:pPr lvl="1">
              <a:lnSpc>
                <a:spcPct val="90000"/>
              </a:lnSpc>
              <a:spcBef>
                <a:spcPct val="20000"/>
              </a:spcBef>
              <a:buClr>
                <a:schemeClr val="accent2"/>
              </a:buClr>
              <a:buSzPct val="75000"/>
              <a:buFont typeface="Monotype Sorts" pitchFamily="2" charset="2"/>
              <a:buChar char="q"/>
            </a:pPr>
            <a:r>
              <a:rPr lang="zh-CN" altLang="en-US" b="0">
                <a:solidFill>
                  <a:schemeClr val="tx2"/>
                </a:solidFill>
                <a:latin typeface="Arial" panose="020B0604020202020204" pitchFamily="34" charset="0"/>
              </a:rPr>
              <a:t>中间层结构</a:t>
            </a:r>
            <a:r>
              <a:rPr lang="en-US" altLang="zh-CN" b="0">
                <a:solidFill>
                  <a:schemeClr val="tx1"/>
                </a:solidFill>
                <a:latin typeface="Arial" panose="020B0604020202020204" pitchFamily="34" charset="0"/>
              </a:rPr>
              <a:t>: </a:t>
            </a:r>
            <a:r>
              <a:rPr lang="zh-CN" altLang="en-US" b="0">
                <a:solidFill>
                  <a:schemeClr val="tx1"/>
                </a:solidFill>
                <a:latin typeface="Arial" panose="020B0604020202020204" pitchFamily="34" charset="0"/>
              </a:rPr>
              <a:t>能更好地进行任意两点间的传输。同时，进行了更少及更简单地交换。</a:t>
            </a:r>
          </a:p>
          <a:p>
            <a:pPr lvl="1">
              <a:lnSpc>
                <a:spcPct val="90000"/>
              </a:lnSpc>
              <a:spcBef>
                <a:spcPct val="20000"/>
              </a:spcBef>
              <a:buClr>
                <a:schemeClr val="accent2"/>
              </a:buClr>
              <a:buSzPct val="75000"/>
              <a:buFont typeface="Monotype Sorts" pitchFamily="2" charset="2"/>
              <a:buChar char="q"/>
            </a:pPr>
            <a:r>
              <a:rPr lang="zh-CN" altLang="en-US" b="0">
                <a:solidFill>
                  <a:schemeClr val="tx2"/>
                </a:solidFill>
                <a:latin typeface="Arial" panose="020B0604020202020204" pitchFamily="34" charset="0"/>
              </a:rPr>
              <a:t>网络层</a:t>
            </a:r>
            <a:r>
              <a:rPr lang="en-US" altLang="zh-CN" b="0">
                <a:solidFill>
                  <a:schemeClr val="tx1"/>
                </a:solidFill>
                <a:latin typeface="Arial" panose="020B0604020202020204" pitchFamily="34" charset="0"/>
              </a:rPr>
              <a:t>: </a:t>
            </a:r>
            <a:r>
              <a:rPr lang="zh-CN" altLang="en-US" b="0">
                <a:solidFill>
                  <a:schemeClr val="tx1"/>
                </a:solidFill>
                <a:latin typeface="Arial" panose="020B0604020202020204" pitchFamily="34" charset="0"/>
              </a:rPr>
              <a:t>有效地进行全局性的寻址。</a:t>
            </a:r>
            <a:endParaRPr lang="zh-CN" altLang="en-US" b="0">
              <a:solidFill>
                <a:schemeClr val="tx1"/>
              </a:solidFill>
            </a:endParaRPr>
          </a:p>
        </p:txBody>
      </p:sp>
      <p:sp>
        <p:nvSpPr>
          <p:cNvPr id="12317" name="Rectangle 35"/>
          <p:cNvSpPr>
            <a:spLocks noGrp="1" noChangeArrowheads="1"/>
          </p:cNvSpPr>
          <p:nvPr>
            <p:ph type="title"/>
          </p:nvPr>
        </p:nvSpPr>
        <p:spPr bwMode="auto">
          <a:xfrm>
            <a:off x="2244725" y="454025"/>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sz="3600">
                <a:solidFill>
                  <a:schemeClr val="hlink"/>
                </a:solidFill>
                <a:latin typeface="华文新魏" panose="02010800040101010101" pitchFamily="2" charset="-122"/>
                <a:ea typeface="华文新魏" panose="02010800040101010101" pitchFamily="2" charset="-122"/>
              </a:rPr>
              <a:t>IP</a:t>
            </a:r>
            <a:r>
              <a:rPr lang="zh-CN" altLang="en-US" sz="3600">
                <a:solidFill>
                  <a:schemeClr val="hlink"/>
                </a:solidFill>
                <a:latin typeface="华文新魏" panose="02010800040101010101" pitchFamily="2" charset="-122"/>
                <a:ea typeface="华文新魏" panose="02010800040101010101" pitchFamily="2" charset="-122"/>
              </a:rPr>
              <a:t>之后</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63739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63740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63738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63740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1637410">
                                            <p:txEl>
                                              <p:pRg st="0" end="0"/>
                                            </p:txEl>
                                          </p:spTgt>
                                        </p:tgtEl>
                                        <p:attrNameLst>
                                          <p:attrName>style.visibility</p:attrName>
                                        </p:attrNameLst>
                                      </p:cBhvr>
                                      <p:to>
                                        <p:strVal val="visible"/>
                                      </p:to>
                                    </p:set>
                                    <p:anim calcmode="lin" valueType="num">
                                      <p:cBhvr additive="base">
                                        <p:cTn id="23" dur="500" fill="hold"/>
                                        <p:tgtEl>
                                          <p:spTgt spid="1637410">
                                            <p:txEl>
                                              <p:pRg st="0" end="0"/>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637410">
                                            <p:txEl>
                                              <p:pRg st="0" end="0"/>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637410">
                                            <p:txEl>
                                              <p:pRg st="1" end="1"/>
                                            </p:txEl>
                                          </p:spTgt>
                                        </p:tgtEl>
                                        <p:attrNameLst>
                                          <p:attrName>style.visibility</p:attrName>
                                        </p:attrNameLst>
                                      </p:cBhvr>
                                      <p:to>
                                        <p:strVal val="visible"/>
                                      </p:to>
                                    </p:set>
                                    <p:anim calcmode="lin" valueType="num">
                                      <p:cBhvr additive="base">
                                        <p:cTn id="27" dur="500" fill="hold"/>
                                        <p:tgtEl>
                                          <p:spTgt spid="1637410">
                                            <p:txEl>
                                              <p:pRg st="1" end="1"/>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637410">
                                            <p:txEl>
                                              <p:pRg st="1" end="1"/>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637410">
                                            <p:txEl>
                                              <p:pRg st="2" end="2"/>
                                            </p:txEl>
                                          </p:spTgt>
                                        </p:tgtEl>
                                        <p:attrNameLst>
                                          <p:attrName>style.visibility</p:attrName>
                                        </p:attrNameLst>
                                      </p:cBhvr>
                                      <p:to>
                                        <p:strVal val="visible"/>
                                      </p:to>
                                    </p:set>
                                    <p:anim calcmode="lin" valueType="num">
                                      <p:cBhvr additive="base">
                                        <p:cTn id="31" dur="500" fill="hold"/>
                                        <p:tgtEl>
                                          <p:spTgt spid="1637410">
                                            <p:txEl>
                                              <p:pRg st="2" end="2"/>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637410">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7410"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5" name="Rectangle 49"/>
          <p:cNvSpPr>
            <a:spLocks noGrp="1" noChangeArrowheads="1"/>
          </p:cNvSpPr>
          <p:nvPr>
            <p:ph type="title"/>
          </p:nvPr>
        </p:nvSpPr>
        <p:spPr bwMode="auto">
          <a:xfrm>
            <a:off x="2244725" y="333375"/>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zh-CN" altLang="en-US" sz="3600">
                <a:solidFill>
                  <a:schemeClr val="hlink"/>
                </a:solidFill>
                <a:latin typeface="华文新魏" panose="02010800040101010101" pitchFamily="2" charset="-122"/>
                <a:ea typeface="华文新魏" panose="02010800040101010101" pitchFamily="2" charset="-122"/>
              </a:rPr>
              <a:t>网络层解决的问题</a:t>
            </a:r>
          </a:p>
        </p:txBody>
      </p:sp>
      <p:sp>
        <p:nvSpPr>
          <p:cNvPr id="1288195" name="Rectangle 3"/>
          <p:cNvSpPr>
            <a:spLocks noGrp="1" noChangeArrowheads="1"/>
          </p:cNvSpPr>
          <p:nvPr>
            <p:ph idx="1"/>
          </p:nvPr>
        </p:nvSpPr>
        <p:spPr bwMode="auto">
          <a:xfrm>
            <a:off x="2505075" y="1295400"/>
            <a:ext cx="7772400" cy="47625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pPr>
            <a:r>
              <a:rPr lang="en-US" altLang="zh-CN" sz="2800"/>
              <a:t>Network Layer(</a:t>
            </a:r>
            <a:r>
              <a:rPr lang="zh-CN" altLang="en-US" sz="2800"/>
              <a:t>网络层</a:t>
            </a:r>
            <a:r>
              <a:rPr lang="en-US" altLang="zh-CN" sz="2800"/>
              <a:t>)</a:t>
            </a:r>
          </a:p>
          <a:p>
            <a:pPr lvl="1" eaLnBrk="1" hangingPunct="1">
              <a:lnSpc>
                <a:spcPct val="90000"/>
              </a:lnSpc>
            </a:pPr>
            <a:r>
              <a:rPr lang="zh-CN" altLang="en-US" sz="2400"/>
              <a:t>网络服务</a:t>
            </a:r>
            <a:r>
              <a:rPr lang="en-US" altLang="zh-CN" sz="2400"/>
              <a:t>(DG)</a:t>
            </a:r>
          </a:p>
          <a:p>
            <a:pPr lvl="1" eaLnBrk="1" hangingPunct="1">
              <a:lnSpc>
                <a:spcPct val="90000"/>
              </a:lnSpc>
            </a:pPr>
            <a:r>
              <a:rPr lang="zh-CN" altLang="en-US" sz="2400"/>
              <a:t>寻址和地址转换</a:t>
            </a:r>
            <a:r>
              <a:rPr lang="en-US" altLang="zh-CN" sz="2400"/>
              <a:t>(ARP/RARP)</a:t>
            </a:r>
          </a:p>
          <a:p>
            <a:pPr lvl="1" eaLnBrk="1" hangingPunct="1">
              <a:lnSpc>
                <a:spcPct val="90000"/>
              </a:lnSpc>
            </a:pPr>
            <a:r>
              <a:rPr lang="zh-CN" altLang="en-US" sz="2400"/>
              <a:t>分组传送</a:t>
            </a:r>
            <a:r>
              <a:rPr lang="en-US" altLang="zh-CN" sz="2400"/>
              <a:t>(</a:t>
            </a:r>
            <a:r>
              <a:rPr lang="zh-CN" altLang="en-US" sz="2400"/>
              <a:t>转发</a:t>
            </a:r>
            <a:r>
              <a:rPr lang="en-US" altLang="zh-CN" sz="2400"/>
              <a:t>) ---IP</a:t>
            </a:r>
          </a:p>
          <a:p>
            <a:pPr lvl="1" eaLnBrk="1" hangingPunct="1">
              <a:lnSpc>
                <a:spcPct val="90000"/>
              </a:lnSpc>
            </a:pPr>
            <a:r>
              <a:rPr lang="zh-CN" altLang="en-US" sz="2400"/>
              <a:t>路由</a:t>
            </a:r>
            <a:r>
              <a:rPr lang="en-US" altLang="zh-CN" sz="2000"/>
              <a:t>(</a:t>
            </a:r>
            <a:r>
              <a:rPr lang="zh-CN" altLang="en-US" sz="2000">
                <a:latin typeface="Times New Roman" panose="02020603050405020304" pitchFamily="18" charset="0"/>
              </a:rPr>
              <a:t>如何构造路由表</a:t>
            </a:r>
            <a:r>
              <a:rPr lang="en-US" altLang="zh-CN" sz="2000">
                <a:latin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 </a:t>
            </a:r>
            <a:r>
              <a:rPr lang="zh-CN" altLang="en-US" sz="2000">
                <a:latin typeface="Times New Roman" panose="02020603050405020304" pitchFamily="18" charset="0"/>
              </a:rPr>
              <a:t>路由器之间如何交换路由信息</a:t>
            </a:r>
            <a:r>
              <a:rPr lang="en-US" altLang="zh-CN" sz="2000">
                <a:latin typeface="Times New Roman" panose="02020603050405020304" pitchFamily="18" charset="0"/>
              </a:rPr>
              <a:t>;</a:t>
            </a:r>
            <a:r>
              <a:rPr lang="zh-CN" altLang="en-US" sz="2000">
                <a:latin typeface="Times New Roman" panose="02020603050405020304" pitchFamily="18" charset="0"/>
              </a:rPr>
              <a:t>交换路由信息的实现（</a:t>
            </a:r>
            <a:r>
              <a:rPr lang="en-US" altLang="zh-CN" sz="2000">
                <a:latin typeface="Times New Roman" panose="02020603050405020304" pitchFamily="18" charset="0"/>
                <a:cs typeface="Times New Roman" panose="02020603050405020304" pitchFamily="18" charset="0"/>
              </a:rPr>
              <a:t>RIP</a:t>
            </a:r>
            <a:r>
              <a:rPr lang="zh-CN" altLang="en-US" sz="2000">
                <a:latin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OSPF</a:t>
            </a:r>
            <a:r>
              <a:rPr lang="zh-CN" altLang="en-US" sz="2000">
                <a:latin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BGP	</a:t>
            </a:r>
            <a:r>
              <a:rPr lang="en-US" altLang="zh-CN" sz="2000">
                <a:latin typeface="Times New Roman" panose="02020603050405020304" pitchFamily="18" charset="0"/>
              </a:rPr>
              <a:t>…</a:t>
            </a:r>
            <a:r>
              <a:rPr lang="zh-CN" altLang="en-US" sz="2000">
                <a:latin typeface="Times New Roman" panose="02020603050405020304" pitchFamily="18" charset="0"/>
              </a:rPr>
              <a:t>）</a:t>
            </a:r>
            <a:r>
              <a:rPr lang="zh-CN" altLang="en-US" sz="2400"/>
              <a:t> </a:t>
            </a:r>
          </a:p>
          <a:p>
            <a:pPr lvl="1" eaLnBrk="1" hangingPunct="1">
              <a:lnSpc>
                <a:spcPct val="90000"/>
              </a:lnSpc>
            </a:pPr>
            <a:r>
              <a:rPr lang="zh-CN" altLang="en-US" sz="2400"/>
              <a:t>拥塞控制</a:t>
            </a:r>
            <a:r>
              <a:rPr lang="en-US" altLang="zh-CN" sz="2400"/>
              <a:t>---ICMP</a:t>
            </a:r>
          </a:p>
          <a:p>
            <a:pPr lvl="1" eaLnBrk="1" hangingPunct="1">
              <a:lnSpc>
                <a:spcPct val="90000"/>
              </a:lnSpc>
            </a:pPr>
            <a:r>
              <a:rPr lang="zh-CN" altLang="en-US" sz="2400"/>
              <a:t>差错控制</a:t>
            </a:r>
            <a:r>
              <a:rPr lang="en-US" altLang="zh-CN" sz="2400"/>
              <a:t>---ICMP</a:t>
            </a:r>
          </a:p>
          <a:p>
            <a:pPr lvl="1" eaLnBrk="1" hangingPunct="1">
              <a:lnSpc>
                <a:spcPct val="90000"/>
              </a:lnSpc>
            </a:pPr>
            <a:r>
              <a:rPr lang="zh-CN" altLang="en-US" sz="2400"/>
              <a:t>网络互连</a:t>
            </a:r>
            <a:r>
              <a:rPr lang="en-US" altLang="zh-CN" sz="2400"/>
              <a:t>(HUB,Bridge,switch,router,gateway)</a:t>
            </a:r>
          </a:p>
          <a:p>
            <a:pPr lvl="1" eaLnBrk="1" hangingPunct="1">
              <a:lnSpc>
                <a:spcPct val="90000"/>
              </a:lnSpc>
            </a:pPr>
            <a:r>
              <a:rPr lang="zh-CN" altLang="en-US" sz="2400"/>
              <a:t>组播</a:t>
            </a:r>
          </a:p>
          <a:p>
            <a:pPr lvl="1" eaLnBrk="1" hangingPunct="1">
              <a:lnSpc>
                <a:spcPct val="90000"/>
              </a:lnSpc>
            </a:pPr>
            <a:r>
              <a:rPr lang="zh-CN" altLang="en-US" sz="2400"/>
              <a:t>其它主题 </a:t>
            </a:r>
            <a:r>
              <a:rPr lang="en-US" altLang="zh-CN" sz="2400"/>
              <a:t>(IP v6/DHCP/Tunneling/MobileIP)</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88195">
                                            <p:txEl>
                                              <p:pRg st="0" end="0"/>
                                            </p:txEl>
                                          </p:spTgt>
                                        </p:tgtEl>
                                        <p:attrNameLst>
                                          <p:attrName>style.visibility</p:attrName>
                                        </p:attrNameLst>
                                      </p:cBhvr>
                                      <p:to>
                                        <p:strVal val="visible"/>
                                      </p:to>
                                    </p:set>
                                    <p:anim calcmode="lin" valueType="num">
                                      <p:cBhvr additive="base">
                                        <p:cTn id="7" dur="500" fill="hold"/>
                                        <p:tgtEl>
                                          <p:spTgt spid="128819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28819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288195">
                                            <p:txEl>
                                              <p:pRg st="1" end="1"/>
                                            </p:txEl>
                                          </p:spTgt>
                                        </p:tgtEl>
                                        <p:attrNameLst>
                                          <p:attrName>style.visibility</p:attrName>
                                        </p:attrNameLst>
                                      </p:cBhvr>
                                      <p:to>
                                        <p:strVal val="visible"/>
                                      </p:to>
                                    </p:set>
                                    <p:anim calcmode="lin" valueType="num">
                                      <p:cBhvr additive="base">
                                        <p:cTn id="11" dur="500" fill="hold"/>
                                        <p:tgtEl>
                                          <p:spTgt spid="1288195">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288195">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288195">
                                            <p:txEl>
                                              <p:pRg st="2" end="2"/>
                                            </p:txEl>
                                          </p:spTgt>
                                        </p:tgtEl>
                                        <p:attrNameLst>
                                          <p:attrName>style.visibility</p:attrName>
                                        </p:attrNameLst>
                                      </p:cBhvr>
                                      <p:to>
                                        <p:strVal val="visible"/>
                                      </p:to>
                                    </p:set>
                                    <p:anim calcmode="lin" valueType="num">
                                      <p:cBhvr additive="base">
                                        <p:cTn id="15" dur="500" fill="hold"/>
                                        <p:tgtEl>
                                          <p:spTgt spid="1288195">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288195">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288195">
                                            <p:txEl>
                                              <p:pRg st="3" end="3"/>
                                            </p:txEl>
                                          </p:spTgt>
                                        </p:tgtEl>
                                        <p:attrNameLst>
                                          <p:attrName>style.visibility</p:attrName>
                                        </p:attrNameLst>
                                      </p:cBhvr>
                                      <p:to>
                                        <p:strVal val="visible"/>
                                      </p:to>
                                    </p:set>
                                    <p:anim calcmode="lin" valueType="num">
                                      <p:cBhvr additive="base">
                                        <p:cTn id="19" dur="500" fill="hold"/>
                                        <p:tgtEl>
                                          <p:spTgt spid="1288195">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288195">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288195">
                                            <p:txEl>
                                              <p:pRg st="4" end="4"/>
                                            </p:txEl>
                                          </p:spTgt>
                                        </p:tgtEl>
                                        <p:attrNameLst>
                                          <p:attrName>style.visibility</p:attrName>
                                        </p:attrNameLst>
                                      </p:cBhvr>
                                      <p:to>
                                        <p:strVal val="visible"/>
                                      </p:to>
                                    </p:set>
                                    <p:anim calcmode="lin" valueType="num">
                                      <p:cBhvr additive="base">
                                        <p:cTn id="23" dur="500" fill="hold"/>
                                        <p:tgtEl>
                                          <p:spTgt spid="1288195">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288195">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288195">
                                            <p:txEl>
                                              <p:pRg st="5" end="5"/>
                                            </p:txEl>
                                          </p:spTgt>
                                        </p:tgtEl>
                                        <p:attrNameLst>
                                          <p:attrName>style.visibility</p:attrName>
                                        </p:attrNameLst>
                                      </p:cBhvr>
                                      <p:to>
                                        <p:strVal val="visible"/>
                                      </p:to>
                                    </p:set>
                                    <p:anim calcmode="lin" valueType="num">
                                      <p:cBhvr additive="base">
                                        <p:cTn id="27" dur="500" fill="hold"/>
                                        <p:tgtEl>
                                          <p:spTgt spid="1288195">
                                            <p:txEl>
                                              <p:pRg st="5" end="5"/>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288195">
                                            <p:txEl>
                                              <p:pRg st="5" end="5"/>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288195">
                                            <p:txEl>
                                              <p:pRg st="6" end="6"/>
                                            </p:txEl>
                                          </p:spTgt>
                                        </p:tgtEl>
                                        <p:attrNameLst>
                                          <p:attrName>style.visibility</p:attrName>
                                        </p:attrNameLst>
                                      </p:cBhvr>
                                      <p:to>
                                        <p:strVal val="visible"/>
                                      </p:to>
                                    </p:set>
                                    <p:anim calcmode="lin" valueType="num">
                                      <p:cBhvr additive="base">
                                        <p:cTn id="31" dur="500" fill="hold"/>
                                        <p:tgtEl>
                                          <p:spTgt spid="1288195">
                                            <p:txEl>
                                              <p:pRg st="6" end="6"/>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288195">
                                            <p:txEl>
                                              <p:pRg st="6" end="6"/>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1288195">
                                            <p:txEl>
                                              <p:pRg st="7" end="7"/>
                                            </p:txEl>
                                          </p:spTgt>
                                        </p:tgtEl>
                                        <p:attrNameLst>
                                          <p:attrName>style.visibility</p:attrName>
                                        </p:attrNameLst>
                                      </p:cBhvr>
                                      <p:to>
                                        <p:strVal val="visible"/>
                                      </p:to>
                                    </p:set>
                                    <p:anim calcmode="lin" valueType="num">
                                      <p:cBhvr additive="base">
                                        <p:cTn id="35" dur="500" fill="hold"/>
                                        <p:tgtEl>
                                          <p:spTgt spid="1288195">
                                            <p:txEl>
                                              <p:pRg st="7" end="7"/>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1288195">
                                            <p:txEl>
                                              <p:pRg st="7" end="7"/>
                                            </p:tx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1288195">
                                            <p:txEl>
                                              <p:pRg st="8" end="8"/>
                                            </p:txEl>
                                          </p:spTgt>
                                        </p:tgtEl>
                                        <p:attrNameLst>
                                          <p:attrName>style.visibility</p:attrName>
                                        </p:attrNameLst>
                                      </p:cBhvr>
                                      <p:to>
                                        <p:strVal val="visible"/>
                                      </p:to>
                                    </p:set>
                                    <p:anim calcmode="lin" valueType="num">
                                      <p:cBhvr additive="base">
                                        <p:cTn id="39" dur="500" fill="hold"/>
                                        <p:tgtEl>
                                          <p:spTgt spid="1288195">
                                            <p:txEl>
                                              <p:pRg st="8" end="8"/>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1288195">
                                            <p:txEl>
                                              <p:pRg st="8" end="8"/>
                                            </p:txEl>
                                          </p:spTgt>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1288195">
                                            <p:txEl>
                                              <p:pRg st="9" end="9"/>
                                            </p:txEl>
                                          </p:spTgt>
                                        </p:tgtEl>
                                        <p:attrNameLst>
                                          <p:attrName>style.visibility</p:attrName>
                                        </p:attrNameLst>
                                      </p:cBhvr>
                                      <p:to>
                                        <p:strVal val="visible"/>
                                      </p:to>
                                    </p:set>
                                    <p:anim calcmode="lin" valueType="num">
                                      <p:cBhvr additive="base">
                                        <p:cTn id="43" dur="500" fill="hold"/>
                                        <p:tgtEl>
                                          <p:spTgt spid="1288195">
                                            <p:txEl>
                                              <p:pRg st="9" end="9"/>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288195">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8195"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67" name="Rectangle 148"/>
          <p:cNvSpPr>
            <a:spLocks noGrp="1" noChangeArrowheads="1"/>
          </p:cNvSpPr>
          <p:nvPr>
            <p:ph type="title"/>
          </p:nvPr>
        </p:nvSpPr>
        <p:spPr bwMode="auto">
          <a:xfrm>
            <a:off x="1524000" y="519113"/>
            <a:ext cx="91440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just" eaLnBrk="1" hangingPunct="1"/>
            <a:r>
              <a:rPr lang="en-US" altLang="zh-CN" sz="3200">
                <a:solidFill>
                  <a:schemeClr val="hlink"/>
                </a:solidFill>
                <a:latin typeface="华文新魏" panose="02010800040101010101" pitchFamily="2" charset="-122"/>
                <a:ea typeface="华文新魏" panose="02010800040101010101" pitchFamily="2" charset="-122"/>
              </a:rPr>
              <a:t>5.1.2 </a:t>
            </a:r>
            <a:r>
              <a:rPr lang="zh-CN" altLang="en-US" sz="3200">
                <a:solidFill>
                  <a:schemeClr val="hlink"/>
                </a:solidFill>
                <a:latin typeface="华文新魏" panose="02010800040101010101" pitchFamily="2" charset="-122"/>
                <a:ea typeface="华文新魏" panose="02010800040101010101" pitchFamily="2" charset="-122"/>
              </a:rPr>
              <a:t>网络层服务</a:t>
            </a:r>
            <a:r>
              <a:rPr lang="en-US" altLang="zh-CN" sz="3200">
                <a:solidFill>
                  <a:schemeClr val="hlink"/>
                </a:solidFill>
                <a:latin typeface="华文新魏" panose="02010800040101010101" pitchFamily="2" charset="-122"/>
                <a:ea typeface="华文新魏" panose="02010800040101010101" pitchFamily="2" charset="-122"/>
              </a:rPr>
              <a:t>——Internet</a:t>
            </a:r>
            <a:r>
              <a:rPr lang="zh-CN" altLang="en-US" sz="3200">
                <a:solidFill>
                  <a:schemeClr val="hlink"/>
                </a:solidFill>
                <a:latin typeface="华文新魏" panose="02010800040101010101" pitchFamily="2" charset="-122"/>
                <a:ea typeface="华文新魏" panose="02010800040101010101" pitchFamily="2" charset="-122"/>
              </a:rPr>
              <a:t>只提供数据报服务</a:t>
            </a:r>
            <a:endParaRPr lang="zh-CN" altLang="en-US" sz="2400">
              <a:solidFill>
                <a:schemeClr val="hlink"/>
              </a:solidFill>
              <a:latin typeface="华文新魏" panose="02010800040101010101" pitchFamily="2" charset="-122"/>
              <a:ea typeface="华文新魏" panose="02010800040101010101" pitchFamily="2" charset="-122"/>
            </a:endParaRPr>
          </a:p>
        </p:txBody>
      </p:sp>
      <p:sp>
        <p:nvSpPr>
          <p:cNvPr id="14338" name="Rectangle 3"/>
          <p:cNvSpPr>
            <a:spLocks noGrp="1" noChangeArrowheads="1"/>
          </p:cNvSpPr>
          <p:nvPr>
            <p:ph sz="half" idx="1"/>
          </p:nvPr>
        </p:nvSpPr>
        <p:spPr bwMode="auto">
          <a:xfrm>
            <a:off x="2201864" y="1274764"/>
            <a:ext cx="7781925" cy="2682875"/>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10000"/>
          </a:bodyPr>
          <a:lstStyle/>
          <a:p>
            <a:pPr eaLnBrk="1" hangingPunct="1">
              <a:lnSpc>
                <a:spcPct val="90000"/>
              </a:lnSpc>
            </a:pPr>
            <a:r>
              <a:rPr lang="zh-CN" altLang="en-US" sz="2400"/>
              <a:t>在网络层中不需要建立专用的虚电路</a:t>
            </a:r>
          </a:p>
          <a:p>
            <a:pPr eaLnBrk="1" hangingPunct="1">
              <a:lnSpc>
                <a:spcPct val="90000"/>
              </a:lnSpc>
            </a:pPr>
            <a:r>
              <a:rPr lang="zh-CN" altLang="en-US" sz="2400"/>
              <a:t>路由器</a:t>
            </a:r>
            <a:r>
              <a:rPr lang="en-US" altLang="zh-CN" sz="2400"/>
              <a:t>: </a:t>
            </a:r>
            <a:r>
              <a:rPr lang="zh-CN" altLang="en-US" sz="2400"/>
              <a:t>不存在端到端处于连接的状态</a:t>
            </a:r>
          </a:p>
          <a:p>
            <a:pPr lvl="1" eaLnBrk="1" hangingPunct="1">
              <a:lnSpc>
                <a:spcPct val="90000"/>
              </a:lnSpc>
            </a:pPr>
            <a:r>
              <a:rPr lang="zh-CN" altLang="en-US" sz="2000"/>
              <a:t>在网络层中没有</a:t>
            </a:r>
            <a:r>
              <a:rPr lang="zh-CN" altLang="en-US" sz="2000">
                <a:latin typeface="Comic Sans MS" panose="030F0702030302020204" pitchFamily="66" charset="0"/>
              </a:rPr>
              <a:t>“</a:t>
            </a:r>
            <a:r>
              <a:rPr lang="zh-CN" altLang="en-US" sz="2000"/>
              <a:t>连接</a:t>
            </a:r>
            <a:r>
              <a:rPr lang="zh-CN" altLang="en-US" sz="2000">
                <a:latin typeface="Comic Sans MS" panose="030F0702030302020204" pitchFamily="66" charset="0"/>
              </a:rPr>
              <a:t>”</a:t>
            </a:r>
            <a:r>
              <a:rPr lang="zh-CN" altLang="en-US" sz="2000"/>
              <a:t>这个概念。</a:t>
            </a:r>
          </a:p>
          <a:p>
            <a:pPr eaLnBrk="1" hangingPunct="1">
              <a:lnSpc>
                <a:spcPct val="90000"/>
              </a:lnSpc>
            </a:pPr>
            <a:r>
              <a:rPr lang="zh-CN" altLang="en-US" sz="2400"/>
              <a:t>分组利用目的地址进行路由</a:t>
            </a:r>
          </a:p>
          <a:p>
            <a:pPr lvl="1" eaLnBrk="1" hangingPunct="1">
              <a:lnSpc>
                <a:spcPct val="90000"/>
              </a:lnSpc>
            </a:pPr>
            <a:r>
              <a:rPr lang="zh-CN" altLang="en-US" sz="2000"/>
              <a:t>在源地址和目的地址间传送的分组可能选择不同的路径</a:t>
            </a:r>
          </a:p>
          <a:p>
            <a:pPr eaLnBrk="1" hangingPunct="1">
              <a:lnSpc>
                <a:spcPct val="90000"/>
              </a:lnSpc>
            </a:pPr>
            <a:r>
              <a:rPr lang="zh-CN" altLang="en-US" sz="2400"/>
              <a:t>尽力服务（</a:t>
            </a:r>
            <a:r>
              <a:rPr lang="en-US" altLang="zh-CN" sz="2400"/>
              <a:t>best effort)</a:t>
            </a:r>
          </a:p>
          <a:p>
            <a:pPr eaLnBrk="1" hangingPunct="1">
              <a:lnSpc>
                <a:spcPct val="90000"/>
              </a:lnSpc>
            </a:pPr>
            <a:r>
              <a:rPr lang="zh-CN" altLang="en-US" sz="2400"/>
              <a:t>应用在当今的</a:t>
            </a:r>
            <a:r>
              <a:rPr lang="en-US" altLang="zh-CN" sz="2400"/>
              <a:t>Internet</a:t>
            </a:r>
            <a:r>
              <a:rPr lang="zh-CN" altLang="en-US" sz="2400"/>
              <a:t>中</a:t>
            </a:r>
          </a:p>
        </p:txBody>
      </p:sp>
      <p:sp>
        <p:nvSpPr>
          <p:cNvPr id="14339" name="Freeform 4"/>
          <p:cNvSpPr>
            <a:spLocks/>
          </p:cNvSpPr>
          <p:nvPr/>
        </p:nvSpPr>
        <p:spPr bwMode="auto">
          <a:xfrm>
            <a:off x="4622801" y="5256214"/>
            <a:ext cx="2847975" cy="1481137"/>
          </a:xfrm>
          <a:custGeom>
            <a:avLst/>
            <a:gdLst>
              <a:gd name="T0" fmla="*/ 15120938 w 1794"/>
              <a:gd name="T1" fmla="*/ 1217234264 h 933"/>
              <a:gd name="T2" fmla="*/ 272176875 w 1794"/>
              <a:gd name="T3" fmla="*/ 315018631 h 933"/>
              <a:gd name="T4" fmla="*/ 1408768138 w 1794"/>
              <a:gd name="T5" fmla="*/ 252015540 h 933"/>
              <a:gd name="T6" fmla="*/ 2147483646 w 1794"/>
              <a:gd name="T7" fmla="*/ 73083713 h 933"/>
              <a:gd name="T8" fmla="*/ 2147483646 w 1794"/>
              <a:gd name="T9" fmla="*/ 693041941 h 933"/>
              <a:gd name="T10" fmla="*/ 2147483646 w 1794"/>
              <a:gd name="T11" fmla="*/ 2084167721 h 933"/>
              <a:gd name="T12" fmla="*/ 2147483646 w 1794"/>
              <a:gd name="T13" fmla="*/ 2147483646 h 933"/>
              <a:gd name="T14" fmla="*/ 2116931250 w 1794"/>
              <a:gd name="T15" fmla="*/ 2147483646 h 933"/>
              <a:gd name="T16" fmla="*/ 1043344688 w 1794"/>
              <a:gd name="T17" fmla="*/ 2147483646 h 933"/>
              <a:gd name="T18" fmla="*/ 360383138 w 1794"/>
              <a:gd name="T19" fmla="*/ 2096769292 h 933"/>
              <a:gd name="T20" fmla="*/ 15120938 w 1794"/>
              <a:gd name="T21" fmla="*/ 1217234264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CC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0" name="Line 5"/>
          <p:cNvSpPr>
            <a:spLocks noChangeShapeType="1"/>
          </p:cNvSpPr>
          <p:nvPr/>
        </p:nvSpPr>
        <p:spPr bwMode="auto">
          <a:xfrm rot="5400000" flipV="1">
            <a:off x="3976688" y="4999038"/>
            <a:ext cx="6350" cy="15779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1" name="Freeform 6"/>
          <p:cNvSpPr>
            <a:spLocks/>
          </p:cNvSpPr>
          <p:nvPr/>
        </p:nvSpPr>
        <p:spPr bwMode="auto">
          <a:xfrm>
            <a:off x="5260976" y="5549901"/>
            <a:ext cx="542925" cy="295275"/>
          </a:xfrm>
          <a:custGeom>
            <a:avLst/>
            <a:gdLst>
              <a:gd name="T0" fmla="*/ 0 w 342"/>
              <a:gd name="T1" fmla="*/ 468749063 h 186"/>
              <a:gd name="T2" fmla="*/ 861893438 w 342"/>
              <a:gd name="T3" fmla="*/ 0 h 186"/>
              <a:gd name="T4" fmla="*/ 0 60000 65536"/>
              <a:gd name="T5" fmla="*/ 0 60000 65536"/>
            </a:gdLst>
            <a:ahLst/>
            <a:cxnLst>
              <a:cxn ang="T4">
                <a:pos x="T0" y="T1"/>
              </a:cxn>
              <a:cxn ang="T5">
                <a:pos x="T2" y="T3"/>
              </a:cxn>
            </a:cxnLst>
            <a:rect l="0" t="0" r="r" b="b"/>
            <a:pathLst>
              <a:path w="342" h="186">
                <a:moveTo>
                  <a:pt x="0" y="186"/>
                </a:moveTo>
                <a:lnTo>
                  <a:pt x="342"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342" name="Group 7"/>
          <p:cNvGrpSpPr>
            <a:grpSpLocks/>
          </p:cNvGrpSpPr>
          <p:nvPr/>
        </p:nvGrpSpPr>
        <p:grpSpPr bwMode="auto">
          <a:xfrm>
            <a:off x="4767263" y="5724526"/>
            <a:ext cx="501650" cy="233363"/>
            <a:chOff x="3600" y="219"/>
            <a:chExt cx="360" cy="175"/>
          </a:xfrm>
        </p:grpSpPr>
        <p:sp>
          <p:nvSpPr>
            <p:cNvPr id="14471" name="Oval 8"/>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72" name="Line 9"/>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73" name="Line 10"/>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74" name="Rectangle 11"/>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14475" name="Oval 12"/>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476" name="Group 13"/>
            <p:cNvGrpSpPr>
              <a:grpSpLocks/>
            </p:cNvGrpSpPr>
            <p:nvPr/>
          </p:nvGrpSpPr>
          <p:grpSpPr bwMode="auto">
            <a:xfrm>
              <a:off x="3686" y="244"/>
              <a:ext cx="177" cy="66"/>
              <a:chOff x="2848" y="848"/>
              <a:chExt cx="140" cy="98"/>
            </a:xfrm>
          </p:grpSpPr>
          <p:sp>
            <p:nvSpPr>
              <p:cNvPr id="14481" name="Line 1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82" name="Line 1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83" name="Line 1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77" name="Group 17"/>
            <p:cNvGrpSpPr>
              <a:grpSpLocks/>
            </p:cNvGrpSpPr>
            <p:nvPr/>
          </p:nvGrpSpPr>
          <p:grpSpPr bwMode="auto">
            <a:xfrm flipV="1">
              <a:off x="3686" y="243"/>
              <a:ext cx="177" cy="66"/>
              <a:chOff x="2848" y="848"/>
              <a:chExt cx="140" cy="98"/>
            </a:xfrm>
          </p:grpSpPr>
          <p:sp>
            <p:nvSpPr>
              <p:cNvPr id="14478" name="Line 1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79" name="Line 1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80" name="Line 2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343" name="Group 21"/>
          <p:cNvGrpSpPr>
            <a:grpSpLocks/>
          </p:cNvGrpSpPr>
          <p:nvPr/>
        </p:nvGrpSpPr>
        <p:grpSpPr bwMode="auto">
          <a:xfrm>
            <a:off x="5119688" y="6362701"/>
            <a:ext cx="501650" cy="233363"/>
            <a:chOff x="3600" y="219"/>
            <a:chExt cx="360" cy="175"/>
          </a:xfrm>
        </p:grpSpPr>
        <p:sp>
          <p:nvSpPr>
            <p:cNvPr id="14458" name="Oval 22"/>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59" name="Line 23"/>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60" name="Line 24"/>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61" name="Rectangle 25"/>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14462" name="Oval 26"/>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463" name="Group 27"/>
            <p:cNvGrpSpPr>
              <a:grpSpLocks/>
            </p:cNvGrpSpPr>
            <p:nvPr/>
          </p:nvGrpSpPr>
          <p:grpSpPr bwMode="auto">
            <a:xfrm>
              <a:off x="3686" y="244"/>
              <a:ext cx="177" cy="66"/>
              <a:chOff x="2848" y="848"/>
              <a:chExt cx="140" cy="98"/>
            </a:xfrm>
          </p:grpSpPr>
          <p:sp>
            <p:nvSpPr>
              <p:cNvPr id="14468" name="Line 2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69" name="Line 2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70" name="Line 3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64" name="Group 31"/>
            <p:cNvGrpSpPr>
              <a:grpSpLocks/>
            </p:cNvGrpSpPr>
            <p:nvPr/>
          </p:nvGrpSpPr>
          <p:grpSpPr bwMode="auto">
            <a:xfrm flipV="1">
              <a:off x="3686" y="243"/>
              <a:ext cx="177" cy="66"/>
              <a:chOff x="2848" y="848"/>
              <a:chExt cx="140" cy="98"/>
            </a:xfrm>
          </p:grpSpPr>
          <p:sp>
            <p:nvSpPr>
              <p:cNvPr id="14465" name="Line 32"/>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66" name="Line 3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67" name="Line 34"/>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344" name="Group 35"/>
          <p:cNvGrpSpPr>
            <a:grpSpLocks/>
          </p:cNvGrpSpPr>
          <p:nvPr/>
        </p:nvGrpSpPr>
        <p:grpSpPr bwMode="auto">
          <a:xfrm>
            <a:off x="5794375" y="5419726"/>
            <a:ext cx="501650" cy="233363"/>
            <a:chOff x="3600" y="219"/>
            <a:chExt cx="360" cy="175"/>
          </a:xfrm>
        </p:grpSpPr>
        <p:sp>
          <p:nvSpPr>
            <p:cNvPr id="14445" name="Oval 36"/>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46" name="Line 37"/>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47" name="Line 38"/>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48" name="Rectangle 39"/>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14449" name="Oval 40"/>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450" name="Group 41"/>
            <p:cNvGrpSpPr>
              <a:grpSpLocks/>
            </p:cNvGrpSpPr>
            <p:nvPr/>
          </p:nvGrpSpPr>
          <p:grpSpPr bwMode="auto">
            <a:xfrm>
              <a:off x="3686" y="244"/>
              <a:ext cx="177" cy="66"/>
              <a:chOff x="2848" y="848"/>
              <a:chExt cx="140" cy="98"/>
            </a:xfrm>
          </p:grpSpPr>
          <p:sp>
            <p:nvSpPr>
              <p:cNvPr id="14455" name="Line 42"/>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56" name="Line 4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57" name="Line 44"/>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51" name="Group 45"/>
            <p:cNvGrpSpPr>
              <a:grpSpLocks/>
            </p:cNvGrpSpPr>
            <p:nvPr/>
          </p:nvGrpSpPr>
          <p:grpSpPr bwMode="auto">
            <a:xfrm flipV="1">
              <a:off x="3686" y="243"/>
              <a:ext cx="177" cy="66"/>
              <a:chOff x="2848" y="848"/>
              <a:chExt cx="140" cy="98"/>
            </a:xfrm>
          </p:grpSpPr>
          <p:sp>
            <p:nvSpPr>
              <p:cNvPr id="14452" name="Line 4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53" name="Line 4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54" name="Line 4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345" name="Group 49"/>
          <p:cNvGrpSpPr>
            <a:grpSpLocks/>
          </p:cNvGrpSpPr>
          <p:nvPr/>
        </p:nvGrpSpPr>
        <p:grpSpPr bwMode="auto">
          <a:xfrm>
            <a:off x="5716588" y="6084888"/>
            <a:ext cx="500062" cy="233362"/>
            <a:chOff x="3600" y="219"/>
            <a:chExt cx="360" cy="175"/>
          </a:xfrm>
        </p:grpSpPr>
        <p:sp>
          <p:nvSpPr>
            <p:cNvPr id="14432" name="Oval 50"/>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33" name="Line 51"/>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34" name="Line 52"/>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35" name="Rectangle 53"/>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14436" name="Oval 54"/>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437" name="Group 55"/>
            <p:cNvGrpSpPr>
              <a:grpSpLocks/>
            </p:cNvGrpSpPr>
            <p:nvPr/>
          </p:nvGrpSpPr>
          <p:grpSpPr bwMode="auto">
            <a:xfrm>
              <a:off x="3686" y="244"/>
              <a:ext cx="177" cy="66"/>
              <a:chOff x="2848" y="848"/>
              <a:chExt cx="140" cy="98"/>
            </a:xfrm>
          </p:grpSpPr>
          <p:sp>
            <p:nvSpPr>
              <p:cNvPr id="14442" name="Line 5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43" name="Line 5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44" name="Line 5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38" name="Group 59"/>
            <p:cNvGrpSpPr>
              <a:grpSpLocks/>
            </p:cNvGrpSpPr>
            <p:nvPr/>
          </p:nvGrpSpPr>
          <p:grpSpPr bwMode="auto">
            <a:xfrm flipV="1">
              <a:off x="3686" y="243"/>
              <a:ext cx="177" cy="66"/>
              <a:chOff x="2848" y="848"/>
              <a:chExt cx="140" cy="98"/>
            </a:xfrm>
          </p:grpSpPr>
          <p:sp>
            <p:nvSpPr>
              <p:cNvPr id="14439" name="Line 6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40" name="Line 6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41" name="Line 6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346" name="Group 63"/>
          <p:cNvGrpSpPr>
            <a:grpSpLocks/>
          </p:cNvGrpSpPr>
          <p:nvPr/>
        </p:nvGrpSpPr>
        <p:grpSpPr bwMode="auto">
          <a:xfrm>
            <a:off x="6351588" y="6381751"/>
            <a:ext cx="501650" cy="233363"/>
            <a:chOff x="3600" y="219"/>
            <a:chExt cx="360" cy="175"/>
          </a:xfrm>
        </p:grpSpPr>
        <p:sp>
          <p:nvSpPr>
            <p:cNvPr id="14419" name="Oval 64"/>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20" name="Line 65"/>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21" name="Line 66"/>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22" name="Rectangle 67"/>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14423" name="Oval 68"/>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424" name="Group 69"/>
            <p:cNvGrpSpPr>
              <a:grpSpLocks/>
            </p:cNvGrpSpPr>
            <p:nvPr/>
          </p:nvGrpSpPr>
          <p:grpSpPr bwMode="auto">
            <a:xfrm>
              <a:off x="3686" y="244"/>
              <a:ext cx="177" cy="66"/>
              <a:chOff x="2848" y="848"/>
              <a:chExt cx="140" cy="98"/>
            </a:xfrm>
          </p:grpSpPr>
          <p:sp>
            <p:nvSpPr>
              <p:cNvPr id="14429" name="Line 7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30" name="Line 7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31" name="Line 7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25" name="Group 73"/>
            <p:cNvGrpSpPr>
              <a:grpSpLocks/>
            </p:cNvGrpSpPr>
            <p:nvPr/>
          </p:nvGrpSpPr>
          <p:grpSpPr bwMode="auto">
            <a:xfrm flipV="1">
              <a:off x="3686" y="243"/>
              <a:ext cx="177" cy="66"/>
              <a:chOff x="2848" y="848"/>
              <a:chExt cx="140" cy="98"/>
            </a:xfrm>
          </p:grpSpPr>
          <p:sp>
            <p:nvSpPr>
              <p:cNvPr id="14426" name="Line 7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27" name="Line 7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28" name="Line 7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347" name="Group 77"/>
          <p:cNvGrpSpPr>
            <a:grpSpLocks/>
          </p:cNvGrpSpPr>
          <p:nvPr/>
        </p:nvGrpSpPr>
        <p:grpSpPr bwMode="auto">
          <a:xfrm>
            <a:off x="6796088" y="5726113"/>
            <a:ext cx="501650" cy="233362"/>
            <a:chOff x="3600" y="219"/>
            <a:chExt cx="360" cy="175"/>
          </a:xfrm>
        </p:grpSpPr>
        <p:sp>
          <p:nvSpPr>
            <p:cNvPr id="14406" name="Oval 78"/>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7" name="Line 79"/>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8" name="Line 80"/>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9" name="Rectangle 81"/>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14410" name="Oval 82"/>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411" name="Group 83"/>
            <p:cNvGrpSpPr>
              <a:grpSpLocks/>
            </p:cNvGrpSpPr>
            <p:nvPr/>
          </p:nvGrpSpPr>
          <p:grpSpPr bwMode="auto">
            <a:xfrm>
              <a:off x="3686" y="244"/>
              <a:ext cx="177" cy="66"/>
              <a:chOff x="2848" y="848"/>
              <a:chExt cx="140" cy="98"/>
            </a:xfrm>
          </p:grpSpPr>
          <p:sp>
            <p:nvSpPr>
              <p:cNvPr id="14416" name="Line 8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7" name="Line 8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8" name="Line 8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12" name="Group 87"/>
            <p:cNvGrpSpPr>
              <a:grpSpLocks/>
            </p:cNvGrpSpPr>
            <p:nvPr/>
          </p:nvGrpSpPr>
          <p:grpSpPr bwMode="auto">
            <a:xfrm flipV="1">
              <a:off x="3686" y="243"/>
              <a:ext cx="177" cy="66"/>
              <a:chOff x="2848" y="848"/>
              <a:chExt cx="140" cy="98"/>
            </a:xfrm>
          </p:grpSpPr>
          <p:sp>
            <p:nvSpPr>
              <p:cNvPr id="14413" name="Line 8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4" name="Line 8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5" name="Line 9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348" name="Group 91"/>
          <p:cNvGrpSpPr>
            <a:grpSpLocks/>
          </p:cNvGrpSpPr>
          <p:nvPr/>
        </p:nvGrpSpPr>
        <p:grpSpPr bwMode="auto">
          <a:xfrm>
            <a:off x="1749426" y="3919538"/>
            <a:ext cx="1566863" cy="1987550"/>
            <a:chOff x="2366" y="929"/>
            <a:chExt cx="987" cy="1252"/>
          </a:xfrm>
        </p:grpSpPr>
        <p:graphicFrame>
          <p:nvGraphicFramePr>
            <p:cNvPr id="14396" name="Object 92"/>
            <p:cNvGraphicFramePr>
              <a:graphicFrameLocks noChangeAspect="1"/>
            </p:cNvGraphicFramePr>
            <p:nvPr/>
          </p:nvGraphicFramePr>
          <p:xfrm>
            <a:off x="2741" y="929"/>
            <a:ext cx="333" cy="264"/>
          </p:xfrm>
          <a:graphic>
            <a:graphicData uri="http://schemas.openxmlformats.org/presentationml/2006/ole">
              <mc:AlternateContent xmlns:mc="http://schemas.openxmlformats.org/markup-compatibility/2006">
                <mc:Choice xmlns:v="urn:schemas-microsoft-com:vml" Requires="v">
                  <p:oleObj spid="_x0000_s14852" name="Clip" r:id="rId3" imgW="1307263" imgH="1084139" progId="MS_ClipArt_Gallery.2">
                    <p:embed/>
                  </p:oleObj>
                </mc:Choice>
                <mc:Fallback>
                  <p:oleObj name="Clip" r:id="rId3" imgW="1307263" imgH="1084139" progId="MS_ClipArt_Gallery.2">
                    <p:embed/>
                    <p:pic>
                      <p:nvPicPr>
                        <p:cNvPr id="0" name="Object 9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1" y="929"/>
                          <a:ext cx="333"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397" name="Group 93"/>
            <p:cNvGrpSpPr>
              <a:grpSpLocks/>
            </p:cNvGrpSpPr>
            <p:nvPr/>
          </p:nvGrpSpPr>
          <p:grpSpPr bwMode="auto">
            <a:xfrm>
              <a:off x="2366" y="1145"/>
              <a:ext cx="987" cy="1036"/>
              <a:chOff x="2956" y="969"/>
              <a:chExt cx="513" cy="529"/>
            </a:xfrm>
          </p:grpSpPr>
          <p:sp>
            <p:nvSpPr>
              <p:cNvPr id="14398" name="Rectangle 94"/>
              <p:cNvSpPr>
                <a:spLocks noChangeArrowheads="1"/>
              </p:cNvSpPr>
              <p:nvPr/>
            </p:nvSpPr>
            <p:spPr bwMode="auto">
              <a:xfrm>
                <a:off x="3018" y="969"/>
                <a:ext cx="426" cy="48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99" name="Rectangle 95"/>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0" name="Rectangle 96"/>
              <p:cNvSpPr>
                <a:spLocks noChangeArrowheads="1"/>
              </p:cNvSpPr>
              <p:nvPr/>
            </p:nvSpPr>
            <p:spPr bwMode="auto">
              <a:xfrm>
                <a:off x="3000" y="1185"/>
                <a:ext cx="432"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1" name="Text Box 97"/>
              <p:cNvSpPr txBox="1">
                <a:spLocks noChangeArrowheads="1"/>
              </p:cNvSpPr>
              <p:nvPr/>
            </p:nvSpPr>
            <p:spPr bwMode="auto">
              <a:xfrm>
                <a:off x="2956" y="978"/>
                <a:ext cx="513"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b="0">
                    <a:solidFill>
                      <a:schemeClr val="tx1"/>
                    </a:solidFill>
                    <a:latin typeface="Comic Sans MS" panose="030F0702030302020204" pitchFamily="66" charset="0"/>
                  </a:rPr>
                  <a:t>application</a:t>
                </a:r>
              </a:p>
              <a:p>
                <a:pPr algn="ctr"/>
                <a:r>
                  <a:rPr lang="en-US" altLang="zh-CN" sz="2000" b="0">
                    <a:solidFill>
                      <a:schemeClr val="tx1"/>
                    </a:solidFill>
                    <a:latin typeface="Comic Sans MS" panose="030F0702030302020204" pitchFamily="66" charset="0"/>
                  </a:rPr>
                  <a:t>transport</a:t>
                </a:r>
              </a:p>
              <a:p>
                <a:pPr algn="ctr"/>
                <a:r>
                  <a:rPr lang="en-US" altLang="zh-CN" sz="2000" b="0">
                    <a:solidFill>
                      <a:schemeClr val="bg1"/>
                    </a:solidFill>
                    <a:latin typeface="Comic Sans MS" panose="030F0702030302020204" pitchFamily="66" charset="0"/>
                  </a:rPr>
                  <a:t>network</a:t>
                </a:r>
                <a:endParaRPr lang="en-US" altLang="zh-CN" sz="2000" b="0">
                  <a:solidFill>
                    <a:schemeClr val="tx1"/>
                  </a:solidFill>
                  <a:latin typeface="Comic Sans MS" panose="030F0702030302020204" pitchFamily="66" charset="0"/>
                </a:endParaRPr>
              </a:p>
              <a:p>
                <a:pPr algn="ctr"/>
                <a:r>
                  <a:rPr lang="en-US" altLang="zh-CN" sz="2000" b="0">
                    <a:solidFill>
                      <a:schemeClr val="tx1"/>
                    </a:solidFill>
                    <a:latin typeface="Comic Sans MS" panose="030F0702030302020204" pitchFamily="66" charset="0"/>
                  </a:rPr>
                  <a:t>data link</a:t>
                </a:r>
              </a:p>
              <a:p>
                <a:pPr algn="ctr"/>
                <a:r>
                  <a:rPr lang="en-US" altLang="zh-CN" sz="2000" b="0">
                    <a:solidFill>
                      <a:schemeClr val="tx1"/>
                    </a:solidFill>
                    <a:latin typeface="Comic Sans MS" panose="030F0702030302020204" pitchFamily="66" charset="0"/>
                  </a:rPr>
                  <a:t>physical</a:t>
                </a:r>
                <a:endParaRPr lang="en-US" altLang="zh-CN" sz="2000" b="0">
                  <a:solidFill>
                    <a:schemeClr val="tx1"/>
                  </a:solidFill>
                </a:endParaRPr>
              </a:p>
            </p:txBody>
          </p:sp>
          <p:sp>
            <p:nvSpPr>
              <p:cNvPr id="14402" name="Line 98"/>
              <p:cNvSpPr>
                <a:spLocks noChangeShapeType="1"/>
              </p:cNvSpPr>
              <p:nvPr/>
            </p:nvSpPr>
            <p:spPr bwMode="auto">
              <a:xfrm>
                <a:off x="2997" y="119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3" name="Line 99"/>
              <p:cNvSpPr>
                <a:spLocks noChangeShapeType="1"/>
              </p:cNvSpPr>
              <p:nvPr/>
            </p:nvSpPr>
            <p:spPr bwMode="auto">
              <a:xfrm>
                <a:off x="3003" y="1290"/>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4" name="Line 100"/>
              <p:cNvSpPr>
                <a:spLocks noChangeShapeType="1"/>
              </p:cNvSpPr>
              <p:nvPr/>
            </p:nvSpPr>
            <p:spPr bwMode="auto">
              <a:xfrm>
                <a:off x="3003" y="137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5" name="Line 101"/>
              <p:cNvSpPr>
                <a:spLocks noChangeShapeType="1"/>
              </p:cNvSpPr>
              <p:nvPr/>
            </p:nvSpPr>
            <p:spPr bwMode="auto">
              <a:xfrm>
                <a:off x="3003" y="1092"/>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4349" name="Freeform 102"/>
          <p:cNvSpPr>
            <a:spLocks/>
          </p:cNvSpPr>
          <p:nvPr/>
        </p:nvSpPr>
        <p:spPr bwMode="auto">
          <a:xfrm>
            <a:off x="6302376" y="5543551"/>
            <a:ext cx="504825" cy="307975"/>
          </a:xfrm>
          <a:custGeom>
            <a:avLst/>
            <a:gdLst>
              <a:gd name="T0" fmla="*/ 0 w 318"/>
              <a:gd name="T1" fmla="*/ 0 h 194"/>
              <a:gd name="T2" fmla="*/ 801409688 w 318"/>
              <a:gd name="T3" fmla="*/ 488910313 h 194"/>
              <a:gd name="T4" fmla="*/ 0 60000 65536"/>
              <a:gd name="T5" fmla="*/ 0 60000 65536"/>
            </a:gdLst>
            <a:ahLst/>
            <a:cxnLst>
              <a:cxn ang="T4">
                <a:pos x="T0" y="T1"/>
              </a:cxn>
              <a:cxn ang="T5">
                <a:pos x="T2" y="T3"/>
              </a:cxn>
            </a:cxnLst>
            <a:rect l="0" t="0" r="r" b="b"/>
            <a:pathLst>
              <a:path w="318" h="194">
                <a:moveTo>
                  <a:pt x="0" y="0"/>
                </a:moveTo>
                <a:lnTo>
                  <a:pt x="318" y="194"/>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0" name="Freeform 103"/>
          <p:cNvSpPr>
            <a:spLocks/>
          </p:cNvSpPr>
          <p:nvPr/>
        </p:nvSpPr>
        <p:spPr bwMode="auto">
          <a:xfrm>
            <a:off x="5237163" y="5935664"/>
            <a:ext cx="481012" cy="238125"/>
          </a:xfrm>
          <a:custGeom>
            <a:avLst/>
            <a:gdLst>
              <a:gd name="T0" fmla="*/ 0 w 294"/>
              <a:gd name="T1" fmla="*/ 0 h 174"/>
              <a:gd name="T2" fmla="*/ 786981443 w 294"/>
              <a:gd name="T3" fmla="*/ 325882274 h 174"/>
              <a:gd name="T4" fmla="*/ 0 60000 65536"/>
              <a:gd name="T5" fmla="*/ 0 60000 65536"/>
            </a:gdLst>
            <a:ahLst/>
            <a:cxnLst>
              <a:cxn ang="T4">
                <a:pos x="T0" y="T1"/>
              </a:cxn>
              <a:cxn ang="T5">
                <a:pos x="T2" y="T3"/>
              </a:cxn>
            </a:cxnLst>
            <a:rect l="0" t="0" r="r" b="b"/>
            <a:pathLst>
              <a:path w="294" h="174">
                <a:moveTo>
                  <a:pt x="0" y="0"/>
                </a:moveTo>
                <a:lnTo>
                  <a:pt x="294" y="174"/>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1" name="Freeform 104"/>
          <p:cNvSpPr>
            <a:spLocks/>
          </p:cNvSpPr>
          <p:nvPr/>
        </p:nvSpPr>
        <p:spPr bwMode="auto">
          <a:xfrm>
            <a:off x="6184900" y="5911850"/>
            <a:ext cx="628650" cy="247650"/>
          </a:xfrm>
          <a:custGeom>
            <a:avLst/>
            <a:gdLst>
              <a:gd name="T0" fmla="*/ 0 w 378"/>
              <a:gd name="T1" fmla="*/ 352474267 h 174"/>
              <a:gd name="T2" fmla="*/ 1045504821 w 378"/>
              <a:gd name="T3" fmla="*/ 0 h 174"/>
              <a:gd name="T4" fmla="*/ 0 60000 65536"/>
              <a:gd name="T5" fmla="*/ 0 60000 65536"/>
            </a:gdLst>
            <a:ahLst/>
            <a:cxnLst>
              <a:cxn ang="T4">
                <a:pos x="T0" y="T1"/>
              </a:cxn>
              <a:cxn ang="T5">
                <a:pos x="T2" y="T3"/>
              </a:cxn>
            </a:cxnLst>
            <a:rect l="0" t="0" r="r" b="b"/>
            <a:pathLst>
              <a:path w="378" h="174">
                <a:moveTo>
                  <a:pt x="0" y="174"/>
                </a:moveTo>
                <a:lnTo>
                  <a:pt x="378"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2" name="Freeform 105"/>
          <p:cNvSpPr>
            <a:spLocks/>
          </p:cNvSpPr>
          <p:nvPr/>
        </p:nvSpPr>
        <p:spPr bwMode="auto">
          <a:xfrm>
            <a:off x="6851651" y="5965825"/>
            <a:ext cx="206375" cy="508000"/>
          </a:xfrm>
          <a:custGeom>
            <a:avLst/>
            <a:gdLst>
              <a:gd name="T0" fmla="*/ 0 w 118"/>
              <a:gd name="T1" fmla="*/ 516128000 h 500"/>
              <a:gd name="T2" fmla="*/ 360937632 w 118"/>
              <a:gd name="T3" fmla="*/ 0 h 500"/>
              <a:gd name="T4" fmla="*/ 0 60000 65536"/>
              <a:gd name="T5" fmla="*/ 0 60000 65536"/>
            </a:gdLst>
            <a:ahLst/>
            <a:cxnLst>
              <a:cxn ang="T4">
                <a:pos x="T0" y="T1"/>
              </a:cxn>
              <a:cxn ang="T5">
                <a:pos x="T2" y="T3"/>
              </a:cxn>
            </a:cxnLst>
            <a:rect l="0" t="0" r="r" b="b"/>
            <a:pathLst>
              <a:path w="118" h="500">
                <a:moveTo>
                  <a:pt x="0" y="500"/>
                </a:moveTo>
                <a:lnTo>
                  <a:pt x="118"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3" name="Freeform 106"/>
          <p:cNvSpPr>
            <a:spLocks/>
          </p:cNvSpPr>
          <p:nvPr/>
        </p:nvSpPr>
        <p:spPr bwMode="auto">
          <a:xfrm>
            <a:off x="5616575" y="6499226"/>
            <a:ext cx="736600" cy="74613"/>
          </a:xfrm>
          <a:custGeom>
            <a:avLst/>
            <a:gdLst>
              <a:gd name="T0" fmla="*/ 1466431243 w 370"/>
              <a:gd name="T1" fmla="*/ 173971868 h 32"/>
              <a:gd name="T2" fmla="*/ 0 w 370"/>
              <a:gd name="T3" fmla="*/ 0 h 32"/>
              <a:gd name="T4" fmla="*/ 0 60000 65536"/>
              <a:gd name="T5" fmla="*/ 0 60000 65536"/>
            </a:gdLst>
            <a:ahLst/>
            <a:cxnLst>
              <a:cxn ang="T4">
                <a:pos x="T0" y="T1"/>
              </a:cxn>
              <a:cxn ang="T5">
                <a:pos x="T2" y="T3"/>
              </a:cxn>
            </a:cxnLst>
            <a:rect l="0" t="0" r="r" b="b"/>
            <a:pathLst>
              <a:path w="370" h="32">
                <a:moveTo>
                  <a:pt x="370" y="32"/>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4" name="Freeform 107"/>
          <p:cNvSpPr>
            <a:spLocks/>
          </p:cNvSpPr>
          <p:nvPr/>
        </p:nvSpPr>
        <p:spPr bwMode="auto">
          <a:xfrm>
            <a:off x="5080001" y="5959475"/>
            <a:ext cx="193675" cy="425450"/>
          </a:xfrm>
          <a:custGeom>
            <a:avLst/>
            <a:gdLst>
              <a:gd name="T0" fmla="*/ 196171867 w 176"/>
              <a:gd name="T1" fmla="*/ 435073225 h 412"/>
              <a:gd name="T2" fmla="*/ 213125032 w 176"/>
              <a:gd name="T3" fmla="*/ 439339084 h 412"/>
              <a:gd name="T4" fmla="*/ 0 w 176"/>
              <a:gd name="T5" fmla="*/ 0 h 412"/>
              <a:gd name="T6" fmla="*/ 0 60000 65536"/>
              <a:gd name="T7" fmla="*/ 0 60000 65536"/>
              <a:gd name="T8" fmla="*/ 0 60000 65536"/>
            </a:gdLst>
            <a:ahLst/>
            <a:cxnLst>
              <a:cxn ang="T6">
                <a:pos x="T0" y="T1"/>
              </a:cxn>
              <a:cxn ang="T7">
                <a:pos x="T2" y="T3"/>
              </a:cxn>
              <a:cxn ang="T8">
                <a:pos x="T4" y="T5"/>
              </a:cxn>
            </a:cxnLst>
            <a:rect l="0" t="0" r="r" b="b"/>
            <a:pathLst>
              <a:path w="176" h="412">
                <a:moveTo>
                  <a:pt x="162" y="408"/>
                </a:moveTo>
                <a:lnTo>
                  <a:pt x="176" y="412"/>
                </a:ln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355" name="Group 108"/>
          <p:cNvGrpSpPr>
            <a:grpSpLocks/>
          </p:cNvGrpSpPr>
          <p:nvPr/>
        </p:nvGrpSpPr>
        <p:grpSpPr bwMode="auto">
          <a:xfrm>
            <a:off x="8531226" y="4090988"/>
            <a:ext cx="1566863" cy="1987550"/>
            <a:chOff x="2366" y="929"/>
            <a:chExt cx="987" cy="1252"/>
          </a:xfrm>
        </p:grpSpPr>
        <p:graphicFrame>
          <p:nvGraphicFramePr>
            <p:cNvPr id="14386" name="Object 109"/>
            <p:cNvGraphicFramePr>
              <a:graphicFrameLocks noChangeAspect="1"/>
            </p:cNvGraphicFramePr>
            <p:nvPr/>
          </p:nvGraphicFramePr>
          <p:xfrm>
            <a:off x="2741" y="929"/>
            <a:ext cx="333" cy="264"/>
          </p:xfrm>
          <a:graphic>
            <a:graphicData uri="http://schemas.openxmlformats.org/presentationml/2006/ole">
              <mc:AlternateContent xmlns:mc="http://schemas.openxmlformats.org/markup-compatibility/2006">
                <mc:Choice xmlns:v="urn:schemas-microsoft-com:vml" Requires="v">
                  <p:oleObj spid="_x0000_s14853" name="Clip" r:id="rId5" imgW="1307263" imgH="1084139" progId="MS_ClipArt_Gallery.2">
                    <p:embed/>
                  </p:oleObj>
                </mc:Choice>
                <mc:Fallback>
                  <p:oleObj name="Clip" r:id="rId5" imgW="1307263" imgH="1084139" progId="MS_ClipArt_Gallery.2">
                    <p:embed/>
                    <p:pic>
                      <p:nvPicPr>
                        <p:cNvPr id="0" name="Object 10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1" y="929"/>
                          <a:ext cx="333"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387" name="Group 110"/>
            <p:cNvGrpSpPr>
              <a:grpSpLocks/>
            </p:cNvGrpSpPr>
            <p:nvPr/>
          </p:nvGrpSpPr>
          <p:grpSpPr bwMode="auto">
            <a:xfrm>
              <a:off x="2366" y="1145"/>
              <a:ext cx="987" cy="1036"/>
              <a:chOff x="2956" y="969"/>
              <a:chExt cx="513" cy="529"/>
            </a:xfrm>
          </p:grpSpPr>
          <p:sp>
            <p:nvSpPr>
              <p:cNvPr id="14388" name="Rectangle 111"/>
              <p:cNvSpPr>
                <a:spLocks noChangeArrowheads="1"/>
              </p:cNvSpPr>
              <p:nvPr/>
            </p:nvSpPr>
            <p:spPr bwMode="auto">
              <a:xfrm>
                <a:off x="3018" y="969"/>
                <a:ext cx="426" cy="48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9" name="Rectangle 112"/>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90" name="Rectangle 113"/>
              <p:cNvSpPr>
                <a:spLocks noChangeArrowheads="1"/>
              </p:cNvSpPr>
              <p:nvPr/>
            </p:nvSpPr>
            <p:spPr bwMode="auto">
              <a:xfrm>
                <a:off x="3000" y="1185"/>
                <a:ext cx="432"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91" name="Text Box 114"/>
              <p:cNvSpPr txBox="1">
                <a:spLocks noChangeArrowheads="1"/>
              </p:cNvSpPr>
              <p:nvPr/>
            </p:nvSpPr>
            <p:spPr bwMode="auto">
              <a:xfrm>
                <a:off x="2956" y="978"/>
                <a:ext cx="513"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b="0">
                    <a:solidFill>
                      <a:schemeClr val="tx1"/>
                    </a:solidFill>
                    <a:latin typeface="Comic Sans MS" panose="030F0702030302020204" pitchFamily="66" charset="0"/>
                  </a:rPr>
                  <a:t>application</a:t>
                </a:r>
              </a:p>
              <a:p>
                <a:pPr algn="ctr"/>
                <a:r>
                  <a:rPr lang="en-US" altLang="zh-CN" sz="2000" b="0">
                    <a:solidFill>
                      <a:schemeClr val="tx1"/>
                    </a:solidFill>
                    <a:latin typeface="Comic Sans MS" panose="030F0702030302020204" pitchFamily="66" charset="0"/>
                  </a:rPr>
                  <a:t>transport</a:t>
                </a:r>
              </a:p>
              <a:p>
                <a:pPr algn="ctr"/>
                <a:r>
                  <a:rPr lang="en-US" altLang="zh-CN" sz="2000" b="0">
                    <a:solidFill>
                      <a:schemeClr val="bg1"/>
                    </a:solidFill>
                    <a:latin typeface="Comic Sans MS" panose="030F0702030302020204" pitchFamily="66" charset="0"/>
                  </a:rPr>
                  <a:t>network</a:t>
                </a:r>
                <a:endParaRPr lang="en-US" altLang="zh-CN" sz="2000" b="0">
                  <a:solidFill>
                    <a:schemeClr val="tx1"/>
                  </a:solidFill>
                  <a:latin typeface="Comic Sans MS" panose="030F0702030302020204" pitchFamily="66" charset="0"/>
                </a:endParaRPr>
              </a:p>
              <a:p>
                <a:pPr algn="ctr"/>
                <a:r>
                  <a:rPr lang="en-US" altLang="zh-CN" sz="2000" b="0">
                    <a:solidFill>
                      <a:schemeClr val="tx1"/>
                    </a:solidFill>
                    <a:latin typeface="Comic Sans MS" panose="030F0702030302020204" pitchFamily="66" charset="0"/>
                  </a:rPr>
                  <a:t>data link</a:t>
                </a:r>
              </a:p>
              <a:p>
                <a:pPr algn="ctr"/>
                <a:r>
                  <a:rPr lang="en-US" altLang="zh-CN" sz="2000" b="0">
                    <a:solidFill>
                      <a:schemeClr val="tx1"/>
                    </a:solidFill>
                    <a:latin typeface="Comic Sans MS" panose="030F0702030302020204" pitchFamily="66" charset="0"/>
                  </a:rPr>
                  <a:t>physical</a:t>
                </a:r>
                <a:endParaRPr lang="en-US" altLang="zh-CN" sz="2000" b="0">
                  <a:solidFill>
                    <a:schemeClr val="tx1"/>
                  </a:solidFill>
                </a:endParaRPr>
              </a:p>
            </p:txBody>
          </p:sp>
          <p:sp>
            <p:nvSpPr>
              <p:cNvPr id="14392" name="Line 115"/>
              <p:cNvSpPr>
                <a:spLocks noChangeShapeType="1"/>
              </p:cNvSpPr>
              <p:nvPr/>
            </p:nvSpPr>
            <p:spPr bwMode="auto">
              <a:xfrm>
                <a:off x="2997" y="119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3" name="Line 116"/>
              <p:cNvSpPr>
                <a:spLocks noChangeShapeType="1"/>
              </p:cNvSpPr>
              <p:nvPr/>
            </p:nvSpPr>
            <p:spPr bwMode="auto">
              <a:xfrm>
                <a:off x="3003" y="1290"/>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4" name="Line 117"/>
              <p:cNvSpPr>
                <a:spLocks noChangeShapeType="1"/>
              </p:cNvSpPr>
              <p:nvPr/>
            </p:nvSpPr>
            <p:spPr bwMode="auto">
              <a:xfrm>
                <a:off x="3003" y="137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5" name="Line 118"/>
              <p:cNvSpPr>
                <a:spLocks noChangeShapeType="1"/>
              </p:cNvSpPr>
              <p:nvPr/>
            </p:nvSpPr>
            <p:spPr bwMode="auto">
              <a:xfrm>
                <a:off x="3003" y="1092"/>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4356" name="Line 119"/>
          <p:cNvSpPr>
            <a:spLocks noChangeShapeType="1"/>
          </p:cNvSpPr>
          <p:nvPr/>
        </p:nvSpPr>
        <p:spPr bwMode="auto">
          <a:xfrm rot="16200000" flipH="1" flipV="1">
            <a:off x="7972425" y="5181600"/>
            <a:ext cx="6350" cy="1403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3848" name="Text Box 120"/>
          <p:cNvSpPr txBox="1">
            <a:spLocks noChangeArrowheads="1"/>
          </p:cNvSpPr>
          <p:nvPr/>
        </p:nvSpPr>
        <p:spPr bwMode="auto">
          <a:xfrm>
            <a:off x="3268663" y="5124451"/>
            <a:ext cx="1497012"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1800" b="0">
                <a:solidFill>
                  <a:srgbClr val="FF0000"/>
                </a:solidFill>
                <a:latin typeface="Comic Sans MS" panose="030F0702030302020204" pitchFamily="66" charset="0"/>
              </a:rPr>
              <a:t>1. Send data</a:t>
            </a:r>
            <a:endParaRPr lang="en-US" altLang="zh-CN" sz="2400" b="0">
              <a:solidFill>
                <a:schemeClr val="tx1"/>
              </a:solidFill>
            </a:endParaRPr>
          </a:p>
        </p:txBody>
      </p:sp>
      <p:sp>
        <p:nvSpPr>
          <p:cNvPr id="1353849" name="Text Box 121"/>
          <p:cNvSpPr txBox="1">
            <a:spLocks noChangeArrowheads="1"/>
          </p:cNvSpPr>
          <p:nvPr/>
        </p:nvSpPr>
        <p:spPr bwMode="auto">
          <a:xfrm>
            <a:off x="6888164" y="5191126"/>
            <a:ext cx="1806575"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1800" b="0">
                <a:solidFill>
                  <a:srgbClr val="FF0000"/>
                </a:solidFill>
                <a:latin typeface="Comic Sans MS" panose="030F0702030302020204" pitchFamily="66" charset="0"/>
              </a:rPr>
              <a:t>2. Receive data</a:t>
            </a:r>
            <a:endParaRPr lang="en-US" altLang="zh-CN" sz="2400" b="0">
              <a:solidFill>
                <a:schemeClr val="tx1"/>
              </a:solidFill>
            </a:endParaRPr>
          </a:p>
        </p:txBody>
      </p:sp>
      <p:sp>
        <p:nvSpPr>
          <p:cNvPr id="14359" name="Freeform 122"/>
          <p:cNvSpPr>
            <a:spLocks/>
          </p:cNvSpPr>
          <p:nvPr/>
        </p:nvSpPr>
        <p:spPr bwMode="auto">
          <a:xfrm>
            <a:off x="3298825" y="5092701"/>
            <a:ext cx="304800" cy="657225"/>
          </a:xfrm>
          <a:custGeom>
            <a:avLst/>
            <a:gdLst>
              <a:gd name="T0" fmla="*/ 0 w 192"/>
              <a:gd name="T1" fmla="*/ 0 h 414"/>
              <a:gd name="T2" fmla="*/ 0 w 192"/>
              <a:gd name="T3" fmla="*/ 1043344688 h 414"/>
              <a:gd name="T4" fmla="*/ 483870000 w 192"/>
              <a:gd name="T5" fmla="*/ 1028223750 h 414"/>
              <a:gd name="T6" fmla="*/ 0 60000 65536"/>
              <a:gd name="T7" fmla="*/ 0 60000 65536"/>
              <a:gd name="T8" fmla="*/ 0 60000 65536"/>
            </a:gdLst>
            <a:ahLst/>
            <a:cxnLst>
              <a:cxn ang="T6">
                <a:pos x="T0" y="T1"/>
              </a:cxn>
              <a:cxn ang="T7">
                <a:pos x="T2" y="T3"/>
              </a:cxn>
              <a:cxn ang="T8">
                <a:pos x="T4" y="T5"/>
              </a:cxn>
            </a:cxnLst>
            <a:rect l="0" t="0" r="r" b="b"/>
            <a:pathLst>
              <a:path w="192" h="414">
                <a:moveTo>
                  <a:pt x="0" y="0"/>
                </a:moveTo>
                <a:lnTo>
                  <a:pt x="0" y="414"/>
                </a:lnTo>
                <a:lnTo>
                  <a:pt x="192" y="408"/>
                </a:lnTo>
              </a:path>
            </a:pathLst>
          </a:custGeom>
          <a:noFill/>
          <a:ln w="1905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0" name="Freeform 123"/>
          <p:cNvSpPr>
            <a:spLocks/>
          </p:cNvSpPr>
          <p:nvPr/>
        </p:nvSpPr>
        <p:spPr bwMode="auto">
          <a:xfrm>
            <a:off x="7932738" y="5535614"/>
            <a:ext cx="609600" cy="295275"/>
          </a:xfrm>
          <a:custGeom>
            <a:avLst/>
            <a:gdLst>
              <a:gd name="T0" fmla="*/ 0 w 384"/>
              <a:gd name="T1" fmla="*/ 468749063 h 186"/>
              <a:gd name="T2" fmla="*/ 967740000 w 384"/>
              <a:gd name="T3" fmla="*/ 468749063 h 186"/>
              <a:gd name="T4" fmla="*/ 967740000 w 384"/>
              <a:gd name="T5" fmla="*/ 0 h 186"/>
              <a:gd name="T6" fmla="*/ 0 60000 65536"/>
              <a:gd name="T7" fmla="*/ 0 60000 65536"/>
              <a:gd name="T8" fmla="*/ 0 60000 65536"/>
            </a:gdLst>
            <a:ahLst/>
            <a:cxnLst>
              <a:cxn ang="T6">
                <a:pos x="T0" y="T1"/>
              </a:cxn>
              <a:cxn ang="T7">
                <a:pos x="T2" y="T3"/>
              </a:cxn>
              <a:cxn ang="T8">
                <a:pos x="T4" y="T5"/>
              </a:cxn>
            </a:cxnLst>
            <a:rect l="0" t="0" r="r" b="b"/>
            <a:pathLst>
              <a:path w="384" h="186">
                <a:moveTo>
                  <a:pt x="0" y="186"/>
                </a:moveTo>
                <a:lnTo>
                  <a:pt x="384" y="186"/>
                </a:lnTo>
                <a:lnTo>
                  <a:pt x="384" y="0"/>
                </a:lnTo>
              </a:path>
            </a:pathLst>
          </a:custGeom>
          <a:noFill/>
          <a:ln w="1905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361" name="Group 124"/>
          <p:cNvGrpSpPr>
            <a:grpSpLocks/>
          </p:cNvGrpSpPr>
          <p:nvPr/>
        </p:nvGrpSpPr>
        <p:grpSpPr bwMode="auto">
          <a:xfrm>
            <a:off x="3656013" y="5530850"/>
            <a:ext cx="361950" cy="261938"/>
            <a:chOff x="1548" y="3723"/>
            <a:chExt cx="228" cy="165"/>
          </a:xfrm>
        </p:grpSpPr>
        <p:sp>
          <p:nvSpPr>
            <p:cNvPr id="14383" name="Rectangle 125"/>
            <p:cNvSpPr>
              <a:spLocks noChangeArrowheads="1"/>
            </p:cNvSpPr>
            <p:nvPr/>
          </p:nvSpPr>
          <p:spPr bwMode="auto">
            <a:xfrm>
              <a:off x="1563" y="3723"/>
              <a:ext cx="102"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4" name="Rectangle 126"/>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5" name="Line 127"/>
            <p:cNvSpPr>
              <a:spLocks noChangeShapeType="1"/>
            </p:cNvSpPr>
            <p:nvPr/>
          </p:nvSpPr>
          <p:spPr bwMode="auto">
            <a:xfrm>
              <a:off x="1650" y="3816"/>
              <a:ext cx="12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62" name="Group 128"/>
          <p:cNvGrpSpPr>
            <a:grpSpLocks/>
          </p:cNvGrpSpPr>
          <p:nvPr/>
        </p:nvGrpSpPr>
        <p:grpSpPr bwMode="auto">
          <a:xfrm>
            <a:off x="4446588" y="5535614"/>
            <a:ext cx="361950" cy="261937"/>
            <a:chOff x="1548" y="3723"/>
            <a:chExt cx="228" cy="165"/>
          </a:xfrm>
        </p:grpSpPr>
        <p:sp>
          <p:nvSpPr>
            <p:cNvPr id="14380" name="Rectangle 129"/>
            <p:cNvSpPr>
              <a:spLocks noChangeArrowheads="1"/>
            </p:cNvSpPr>
            <p:nvPr/>
          </p:nvSpPr>
          <p:spPr bwMode="auto">
            <a:xfrm>
              <a:off x="1563" y="3723"/>
              <a:ext cx="102"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1" name="Rectangle 130"/>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2" name="Line 131"/>
            <p:cNvSpPr>
              <a:spLocks noChangeShapeType="1"/>
            </p:cNvSpPr>
            <p:nvPr/>
          </p:nvSpPr>
          <p:spPr bwMode="auto">
            <a:xfrm>
              <a:off x="1650" y="3816"/>
              <a:ext cx="12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63" name="Group 132"/>
          <p:cNvGrpSpPr>
            <a:grpSpLocks/>
          </p:cNvGrpSpPr>
          <p:nvPr/>
        </p:nvGrpSpPr>
        <p:grpSpPr bwMode="auto">
          <a:xfrm>
            <a:off x="6318250" y="5426075"/>
            <a:ext cx="361950" cy="261938"/>
            <a:chOff x="1548" y="3723"/>
            <a:chExt cx="228" cy="165"/>
          </a:xfrm>
        </p:grpSpPr>
        <p:sp>
          <p:nvSpPr>
            <p:cNvPr id="14377" name="Rectangle 133"/>
            <p:cNvSpPr>
              <a:spLocks noChangeArrowheads="1"/>
            </p:cNvSpPr>
            <p:nvPr/>
          </p:nvSpPr>
          <p:spPr bwMode="auto">
            <a:xfrm>
              <a:off x="1563" y="3723"/>
              <a:ext cx="102"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8" name="Rectangle 134"/>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9" name="Line 135"/>
            <p:cNvSpPr>
              <a:spLocks noChangeShapeType="1"/>
            </p:cNvSpPr>
            <p:nvPr/>
          </p:nvSpPr>
          <p:spPr bwMode="auto">
            <a:xfrm>
              <a:off x="1650" y="3816"/>
              <a:ext cx="12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64" name="Group 136"/>
          <p:cNvGrpSpPr>
            <a:grpSpLocks/>
          </p:cNvGrpSpPr>
          <p:nvPr/>
        </p:nvGrpSpPr>
        <p:grpSpPr bwMode="auto">
          <a:xfrm>
            <a:off x="5794375" y="6364289"/>
            <a:ext cx="361950" cy="261937"/>
            <a:chOff x="1548" y="3723"/>
            <a:chExt cx="228" cy="165"/>
          </a:xfrm>
        </p:grpSpPr>
        <p:sp>
          <p:nvSpPr>
            <p:cNvPr id="14374" name="Rectangle 137"/>
            <p:cNvSpPr>
              <a:spLocks noChangeArrowheads="1"/>
            </p:cNvSpPr>
            <p:nvPr/>
          </p:nvSpPr>
          <p:spPr bwMode="auto">
            <a:xfrm>
              <a:off x="1563" y="3723"/>
              <a:ext cx="102"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5" name="Rectangle 138"/>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6" name="Line 139"/>
            <p:cNvSpPr>
              <a:spLocks noChangeShapeType="1"/>
            </p:cNvSpPr>
            <p:nvPr/>
          </p:nvSpPr>
          <p:spPr bwMode="auto">
            <a:xfrm>
              <a:off x="1650" y="3816"/>
              <a:ext cx="12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65" name="Group 140"/>
          <p:cNvGrpSpPr>
            <a:grpSpLocks/>
          </p:cNvGrpSpPr>
          <p:nvPr/>
        </p:nvGrpSpPr>
        <p:grpSpPr bwMode="auto">
          <a:xfrm>
            <a:off x="5375275" y="5888039"/>
            <a:ext cx="361950" cy="261937"/>
            <a:chOff x="1548" y="3723"/>
            <a:chExt cx="228" cy="165"/>
          </a:xfrm>
        </p:grpSpPr>
        <p:sp>
          <p:nvSpPr>
            <p:cNvPr id="14371" name="Rectangle 141"/>
            <p:cNvSpPr>
              <a:spLocks noChangeArrowheads="1"/>
            </p:cNvSpPr>
            <p:nvPr/>
          </p:nvSpPr>
          <p:spPr bwMode="auto">
            <a:xfrm>
              <a:off x="1563" y="3723"/>
              <a:ext cx="102"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2" name="Rectangle 142"/>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3" name="Line 143"/>
            <p:cNvSpPr>
              <a:spLocks noChangeShapeType="1"/>
            </p:cNvSpPr>
            <p:nvPr/>
          </p:nvSpPr>
          <p:spPr bwMode="auto">
            <a:xfrm>
              <a:off x="1650" y="3816"/>
              <a:ext cx="12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66" name="Group 144"/>
          <p:cNvGrpSpPr>
            <a:grpSpLocks/>
          </p:cNvGrpSpPr>
          <p:nvPr/>
        </p:nvGrpSpPr>
        <p:grpSpPr bwMode="auto">
          <a:xfrm>
            <a:off x="7727950" y="5611814"/>
            <a:ext cx="361950" cy="261937"/>
            <a:chOff x="1548" y="3723"/>
            <a:chExt cx="228" cy="165"/>
          </a:xfrm>
        </p:grpSpPr>
        <p:sp>
          <p:nvSpPr>
            <p:cNvPr id="14368" name="Rectangle 145"/>
            <p:cNvSpPr>
              <a:spLocks noChangeArrowheads="1"/>
            </p:cNvSpPr>
            <p:nvPr/>
          </p:nvSpPr>
          <p:spPr bwMode="auto">
            <a:xfrm>
              <a:off x="1563" y="3723"/>
              <a:ext cx="102"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69" name="Rectangle 146"/>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0" name="Line 147"/>
            <p:cNvSpPr>
              <a:spLocks noChangeShapeType="1"/>
            </p:cNvSpPr>
            <p:nvPr/>
          </p:nvSpPr>
          <p:spPr bwMode="auto">
            <a:xfrm>
              <a:off x="1650" y="3816"/>
              <a:ext cx="12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53848"/>
                                        </p:tgtEl>
                                        <p:attrNameLst>
                                          <p:attrName>style.visibility</p:attrName>
                                        </p:attrNameLst>
                                      </p:cBhvr>
                                      <p:to>
                                        <p:strVal val="visible"/>
                                      </p:to>
                                    </p:set>
                                    <p:animEffect transition="in" filter="dissolve">
                                      <p:cBhvr>
                                        <p:cTn id="7" dur="500"/>
                                        <p:tgtEl>
                                          <p:spTgt spid="1353848"/>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353849"/>
                                        </p:tgtEl>
                                        <p:attrNameLst>
                                          <p:attrName>style.visibility</p:attrName>
                                        </p:attrNameLst>
                                      </p:cBhvr>
                                      <p:to>
                                        <p:strVal val="visible"/>
                                      </p:to>
                                    </p:set>
                                    <p:animEffect transition="in" filter="dissolve">
                                      <p:cBhvr>
                                        <p:cTn id="11" dur="500"/>
                                        <p:tgtEl>
                                          <p:spTgt spid="13538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3848" grpId="0" autoUpdateAnimBg="0"/>
      <p:bldP spid="1353849"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4"/>
          <p:cNvSpPr>
            <a:spLocks noGrp="1" noChangeArrowheads="1"/>
          </p:cNvSpPr>
          <p:nvPr>
            <p:ph type="title"/>
          </p:nvPr>
        </p:nvSpPr>
        <p:spPr bwMode="auto">
          <a:xfrm>
            <a:off x="2176463" y="401638"/>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sz="3600">
                <a:solidFill>
                  <a:schemeClr val="hlink"/>
                </a:solidFill>
                <a:latin typeface="华文新魏" panose="02010800040101010101" pitchFamily="2" charset="-122"/>
                <a:ea typeface="华文新魏" panose="02010800040101010101" pitchFamily="2" charset="-122"/>
              </a:rPr>
              <a:t>Best Effort</a:t>
            </a:r>
          </a:p>
        </p:txBody>
      </p:sp>
      <p:sp>
        <p:nvSpPr>
          <p:cNvPr id="15362" name="Rectangle 3"/>
          <p:cNvSpPr>
            <a:spLocks noGrp="1" noChangeArrowheads="1"/>
          </p:cNvSpPr>
          <p:nvPr>
            <p:ph idx="1"/>
          </p:nvPr>
        </p:nvSpPr>
        <p:spPr bwMode="auto">
          <a:xfrm>
            <a:off x="3348038" y="1292226"/>
            <a:ext cx="5994400" cy="3732213"/>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zh-CN" altLang="en-US">
                <a:solidFill>
                  <a:srgbClr val="FF0000"/>
                </a:solidFill>
              </a:rPr>
              <a:t>数据报只提供</a:t>
            </a:r>
            <a:r>
              <a:rPr lang="en-US" altLang="zh-CN" sz="2400">
                <a:solidFill>
                  <a:schemeClr val="hlink"/>
                </a:solidFill>
                <a:latin typeface="华文新魏" panose="02010800040101010101" pitchFamily="2" charset="-122"/>
                <a:ea typeface="华文新魏" panose="02010800040101010101" pitchFamily="2" charset="-122"/>
              </a:rPr>
              <a:t>Best Effort</a:t>
            </a:r>
            <a:r>
              <a:rPr lang="zh-CN" altLang="en-US">
                <a:solidFill>
                  <a:srgbClr val="FF0000"/>
                </a:solidFill>
              </a:rPr>
              <a:t>服务，可能遭遇到的情况：</a:t>
            </a:r>
          </a:p>
          <a:p>
            <a:pPr marL="0" indent="0" algn="ctr" eaLnBrk="1" hangingPunct="1">
              <a:buNone/>
            </a:pPr>
            <a:endParaRPr lang="zh-CN" altLang="en-US" sz="1800">
              <a:solidFill>
                <a:srgbClr val="FF0000"/>
              </a:solidFill>
            </a:endParaRPr>
          </a:p>
          <a:p>
            <a:pPr marL="0" indent="0" eaLnBrk="1" hangingPunct="1"/>
            <a:r>
              <a:rPr lang="zh-CN" altLang="en-US" sz="2800">
                <a:sym typeface="Symbol" panose="05050102010706020507" pitchFamily="18" charset="2"/>
              </a:rPr>
              <a:t>数据报在物理层被破坏 </a:t>
            </a:r>
          </a:p>
          <a:p>
            <a:pPr marL="0" indent="0" eaLnBrk="1" hangingPunct="1"/>
            <a:r>
              <a:rPr lang="zh-CN" altLang="en-US" sz="2800">
                <a:sym typeface="Symbol" panose="05050102010706020507" pitchFamily="18" charset="2"/>
              </a:rPr>
              <a:t>因为缓冲区溢出而被丢弃</a:t>
            </a:r>
          </a:p>
          <a:p>
            <a:pPr marL="0" indent="0" eaLnBrk="1" hangingPunct="1"/>
            <a:r>
              <a:rPr lang="zh-CN" altLang="en-US" sz="2800">
                <a:sym typeface="Symbol" panose="05050102010706020507" pitchFamily="18" charset="2"/>
              </a:rPr>
              <a:t>目的地不可到达</a:t>
            </a:r>
          </a:p>
          <a:p>
            <a:pPr marL="0" indent="0" eaLnBrk="1" hangingPunct="1"/>
            <a:r>
              <a:rPr lang="zh-CN" altLang="en-US" sz="2800">
                <a:sym typeface="Symbol" panose="05050102010706020507" pitchFamily="18" charset="2"/>
              </a:rPr>
              <a:t>路由环路</a:t>
            </a:r>
          </a:p>
        </p:txBody>
      </p:sp>
    </p:spTree>
  </p:cSld>
  <p:clrMapOvr>
    <a:masterClrMapping/>
  </p:clrMapOvr>
  <p:transition spd="med">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bwMode="auto">
          <a:xfrm>
            <a:off x="2209800" y="436563"/>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zh-CN" altLang="en-US" sz="3600">
                <a:solidFill>
                  <a:schemeClr val="hlink"/>
                </a:solidFill>
                <a:latin typeface="华文新魏" panose="02010800040101010101" pitchFamily="2" charset="-122"/>
                <a:ea typeface="华文新魏" panose="02010800040101010101" pitchFamily="2" charset="-122"/>
              </a:rPr>
              <a:t>路由表</a:t>
            </a:r>
          </a:p>
        </p:txBody>
      </p:sp>
      <p:sp>
        <p:nvSpPr>
          <p:cNvPr id="1640451" name="Text Box 3"/>
          <p:cNvSpPr txBox="1">
            <a:spLocks noChangeArrowheads="1"/>
          </p:cNvSpPr>
          <p:nvPr/>
        </p:nvSpPr>
        <p:spPr bwMode="auto">
          <a:xfrm>
            <a:off x="2300289" y="3741739"/>
            <a:ext cx="7627937"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Char char="Ø"/>
            </a:pPr>
            <a:r>
              <a:rPr kumimoji="1" lang="zh-CN" altLang="en-US" b="0">
                <a:solidFill>
                  <a:schemeClr val="hlink"/>
                </a:solidFill>
                <a:latin typeface="新宋体" panose="02010609030101010101" pitchFamily="49" charset="-122"/>
                <a:ea typeface="新宋体" panose="02010609030101010101" pitchFamily="49" charset="-122"/>
              </a:rPr>
              <a:t>数据报的路由表</a:t>
            </a:r>
          </a:p>
          <a:p>
            <a:pPr eaLnBrk="1" hangingPunct="1"/>
            <a:r>
              <a:rPr kumimoji="1" lang="zh-CN" altLang="en-US" b="0">
                <a:solidFill>
                  <a:schemeClr val="tx1"/>
                </a:solidFill>
                <a:latin typeface="新宋体" panose="02010609030101010101" pitchFamily="49" charset="-122"/>
                <a:ea typeface="新宋体" panose="02010609030101010101" pitchFamily="49" charset="-122"/>
              </a:rPr>
              <a:t>    </a:t>
            </a:r>
            <a:r>
              <a:rPr kumimoji="1" lang="zh-CN" altLang="en-US" sz="2400" b="0">
                <a:solidFill>
                  <a:schemeClr val="tx1"/>
                </a:solidFill>
                <a:latin typeface="新宋体" panose="02010609030101010101" pitchFamily="49" charset="-122"/>
                <a:ea typeface="新宋体" panose="02010609030101010101" pitchFamily="49" charset="-122"/>
              </a:rPr>
              <a:t>每个分组都需要携带完整的目的地址。每个结点保存一个到网内其他结点的输出线选择表（路由表）</a:t>
            </a:r>
          </a:p>
        </p:txBody>
      </p:sp>
      <p:pic>
        <p:nvPicPr>
          <p:cNvPr id="16404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5051" y="1347789"/>
            <a:ext cx="3006725" cy="2281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404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1638" y="1352550"/>
            <a:ext cx="2654300" cy="230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40451">
                                            <p:txEl>
                                              <p:pRg st="0" end="0"/>
                                            </p:txEl>
                                          </p:spTgt>
                                        </p:tgtEl>
                                        <p:attrNameLst>
                                          <p:attrName>style.visibility</p:attrName>
                                        </p:attrNameLst>
                                      </p:cBhvr>
                                      <p:to>
                                        <p:strVal val="visible"/>
                                      </p:to>
                                    </p:set>
                                    <p:anim calcmode="lin" valueType="num">
                                      <p:cBhvr additive="base">
                                        <p:cTn id="7" dur="500" fill="hold"/>
                                        <p:tgtEl>
                                          <p:spTgt spid="164045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6404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40451">
                                            <p:txEl>
                                              <p:pRg st="1" end="1"/>
                                            </p:txEl>
                                          </p:spTgt>
                                        </p:tgtEl>
                                        <p:attrNameLst>
                                          <p:attrName>style.visibility</p:attrName>
                                        </p:attrNameLst>
                                      </p:cBhvr>
                                      <p:to>
                                        <p:strVal val="visible"/>
                                      </p:to>
                                    </p:set>
                                    <p:anim calcmode="lin" valueType="num">
                                      <p:cBhvr additive="base">
                                        <p:cTn id="13" dur="500" fill="hold"/>
                                        <p:tgtEl>
                                          <p:spTgt spid="164045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6404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640452"/>
                                        </p:tgtEl>
                                        <p:attrNameLst>
                                          <p:attrName>style.visibility</p:attrName>
                                        </p:attrNameLst>
                                      </p:cBhvr>
                                      <p:to>
                                        <p:strVal val="visible"/>
                                      </p:to>
                                    </p:set>
                                    <p:anim calcmode="lin" valueType="num">
                                      <p:cBhvr additive="base">
                                        <p:cTn id="19" dur="500" fill="hold"/>
                                        <p:tgtEl>
                                          <p:spTgt spid="1640452"/>
                                        </p:tgtEl>
                                        <p:attrNameLst>
                                          <p:attrName>ppt_x</p:attrName>
                                        </p:attrNameLst>
                                      </p:cBhvr>
                                      <p:tavLst>
                                        <p:tav tm="0">
                                          <p:val>
                                            <p:strVal val="1+#ppt_w/2"/>
                                          </p:val>
                                        </p:tav>
                                        <p:tav tm="100000">
                                          <p:val>
                                            <p:strVal val="#ppt_x"/>
                                          </p:val>
                                        </p:tav>
                                      </p:tavLst>
                                    </p:anim>
                                    <p:anim calcmode="lin" valueType="num">
                                      <p:cBhvr additive="base">
                                        <p:cTn id="20" dur="500" fill="hold"/>
                                        <p:tgtEl>
                                          <p:spTgt spid="164045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640453"/>
                                        </p:tgtEl>
                                        <p:attrNameLst>
                                          <p:attrName>style.visibility</p:attrName>
                                        </p:attrNameLst>
                                      </p:cBhvr>
                                      <p:to>
                                        <p:strVal val="visible"/>
                                      </p:to>
                                    </p:set>
                                    <p:anim calcmode="lin" valueType="num">
                                      <p:cBhvr additive="base">
                                        <p:cTn id="25" dur="500" fill="hold"/>
                                        <p:tgtEl>
                                          <p:spTgt spid="1640453"/>
                                        </p:tgtEl>
                                        <p:attrNameLst>
                                          <p:attrName>ppt_x</p:attrName>
                                        </p:attrNameLst>
                                      </p:cBhvr>
                                      <p:tavLst>
                                        <p:tav tm="0">
                                          <p:val>
                                            <p:strVal val="0-#ppt_w/2"/>
                                          </p:val>
                                        </p:tav>
                                        <p:tav tm="100000">
                                          <p:val>
                                            <p:strVal val="#ppt_x"/>
                                          </p:val>
                                        </p:tav>
                                      </p:tavLst>
                                    </p:anim>
                                    <p:anim calcmode="lin" valueType="num">
                                      <p:cBhvr additive="base">
                                        <p:cTn id="26" dur="500" fill="hold"/>
                                        <p:tgtEl>
                                          <p:spTgt spid="16404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0451"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3394075" y="2293938"/>
            <a:ext cx="6534150" cy="4076700"/>
          </a:xfrm>
          <a:prstGeom prst="rect">
            <a:avLst/>
          </a:prstGeom>
          <a:solidFill>
            <a:schemeClr val="bg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11" name="Rectangle 3"/>
          <p:cNvSpPr>
            <a:spLocks noChangeArrowheads="1"/>
          </p:cNvSpPr>
          <p:nvPr/>
        </p:nvSpPr>
        <p:spPr bwMode="auto">
          <a:xfrm>
            <a:off x="3327400" y="2360613"/>
            <a:ext cx="6534150" cy="4392612"/>
          </a:xfrm>
          <a:prstGeom prst="rect">
            <a:avLst/>
          </a:prstGeom>
          <a:solidFill>
            <a:srgbClr val="FF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746949" name="Group 5"/>
          <p:cNvGrpSpPr>
            <a:grpSpLocks/>
          </p:cNvGrpSpPr>
          <p:nvPr/>
        </p:nvGrpSpPr>
        <p:grpSpPr bwMode="auto">
          <a:xfrm>
            <a:off x="5372100" y="3956050"/>
            <a:ext cx="966788" cy="1214438"/>
            <a:chOff x="3996" y="2883"/>
            <a:chExt cx="609" cy="765"/>
          </a:xfrm>
        </p:grpSpPr>
        <p:sp>
          <p:nvSpPr>
            <p:cNvPr id="17446" name="Rectangle 6"/>
            <p:cNvSpPr>
              <a:spLocks noChangeArrowheads="1"/>
            </p:cNvSpPr>
            <p:nvPr/>
          </p:nvSpPr>
          <p:spPr bwMode="auto">
            <a:xfrm>
              <a:off x="4023" y="2883"/>
              <a:ext cx="582" cy="738"/>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47" name="Rectangle 7"/>
            <p:cNvSpPr>
              <a:spLocks noChangeArrowheads="1"/>
            </p:cNvSpPr>
            <p:nvPr/>
          </p:nvSpPr>
          <p:spPr bwMode="auto">
            <a:xfrm>
              <a:off x="3996" y="2910"/>
              <a:ext cx="582" cy="738"/>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48" name="Text Box 8"/>
            <p:cNvSpPr txBox="1">
              <a:spLocks noChangeArrowheads="1"/>
            </p:cNvSpPr>
            <p:nvPr/>
          </p:nvSpPr>
          <p:spPr bwMode="auto">
            <a:xfrm>
              <a:off x="4021" y="3062"/>
              <a:ext cx="548"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800" b="0">
                <a:solidFill>
                  <a:schemeClr val="tx1"/>
                </a:solidFill>
                <a:latin typeface="Comic Sans MS" panose="030F0702030302020204" pitchFamily="66" charset="0"/>
              </a:endParaRPr>
            </a:p>
            <a:p>
              <a:pPr algn="ctr"/>
              <a:r>
                <a:rPr lang="zh-CN" altLang="en-US" sz="1800" b="0">
                  <a:solidFill>
                    <a:schemeClr val="tx1"/>
                  </a:solidFill>
                  <a:latin typeface="Comic Sans MS" panose="030F0702030302020204" pitchFamily="66" charset="0"/>
                </a:rPr>
                <a:t>路由表</a:t>
              </a:r>
            </a:p>
          </p:txBody>
        </p:sp>
        <p:sp>
          <p:nvSpPr>
            <p:cNvPr id="17449" name="Line 9"/>
            <p:cNvSpPr>
              <a:spLocks noChangeShapeType="1"/>
            </p:cNvSpPr>
            <p:nvPr/>
          </p:nvSpPr>
          <p:spPr bwMode="auto">
            <a:xfrm>
              <a:off x="4065" y="2994"/>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0" name="Line 10"/>
            <p:cNvSpPr>
              <a:spLocks noChangeShapeType="1"/>
            </p:cNvSpPr>
            <p:nvPr/>
          </p:nvSpPr>
          <p:spPr bwMode="auto">
            <a:xfrm>
              <a:off x="4071" y="3048"/>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1" name="Line 11"/>
            <p:cNvSpPr>
              <a:spLocks noChangeShapeType="1"/>
            </p:cNvSpPr>
            <p:nvPr/>
          </p:nvSpPr>
          <p:spPr bwMode="auto">
            <a:xfrm>
              <a:off x="4074" y="3102"/>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2" name="Line 12"/>
            <p:cNvSpPr>
              <a:spLocks noChangeShapeType="1"/>
            </p:cNvSpPr>
            <p:nvPr/>
          </p:nvSpPr>
          <p:spPr bwMode="auto">
            <a:xfrm>
              <a:off x="4065" y="3477"/>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3" name="Line 13"/>
            <p:cNvSpPr>
              <a:spLocks noChangeShapeType="1"/>
            </p:cNvSpPr>
            <p:nvPr/>
          </p:nvSpPr>
          <p:spPr bwMode="auto">
            <a:xfrm>
              <a:off x="4068" y="3528"/>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4" name="Line 14"/>
            <p:cNvSpPr>
              <a:spLocks noChangeShapeType="1"/>
            </p:cNvSpPr>
            <p:nvPr/>
          </p:nvSpPr>
          <p:spPr bwMode="auto">
            <a:xfrm>
              <a:off x="4071" y="3579"/>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413" name="Line 15"/>
          <p:cNvSpPr>
            <a:spLocks noChangeShapeType="1"/>
          </p:cNvSpPr>
          <p:nvPr/>
        </p:nvSpPr>
        <p:spPr bwMode="auto">
          <a:xfrm flipV="1">
            <a:off x="3386139" y="6324601"/>
            <a:ext cx="6505575" cy="95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4" name="Line 16"/>
          <p:cNvSpPr>
            <a:spLocks noChangeShapeType="1"/>
          </p:cNvSpPr>
          <p:nvPr/>
        </p:nvSpPr>
        <p:spPr bwMode="auto">
          <a:xfrm flipV="1">
            <a:off x="3346451" y="5845176"/>
            <a:ext cx="6524625" cy="95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46961" name="Group 17"/>
          <p:cNvGrpSpPr>
            <a:grpSpLocks/>
          </p:cNvGrpSpPr>
          <p:nvPr/>
        </p:nvGrpSpPr>
        <p:grpSpPr bwMode="auto">
          <a:xfrm>
            <a:off x="3479800" y="3065464"/>
            <a:ext cx="1887538" cy="885825"/>
            <a:chOff x="1175" y="1848"/>
            <a:chExt cx="1189" cy="558"/>
          </a:xfrm>
        </p:grpSpPr>
        <p:sp>
          <p:nvSpPr>
            <p:cNvPr id="17443" name="Rectangle 18"/>
            <p:cNvSpPr>
              <a:spLocks noChangeArrowheads="1"/>
            </p:cNvSpPr>
            <p:nvPr/>
          </p:nvSpPr>
          <p:spPr bwMode="auto">
            <a:xfrm>
              <a:off x="1224" y="1848"/>
              <a:ext cx="1140" cy="516"/>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44" name="Rectangle 19"/>
            <p:cNvSpPr>
              <a:spLocks noChangeArrowheads="1"/>
            </p:cNvSpPr>
            <p:nvPr/>
          </p:nvSpPr>
          <p:spPr bwMode="auto">
            <a:xfrm>
              <a:off x="1182" y="1890"/>
              <a:ext cx="1140" cy="516"/>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45" name="Text Box 20"/>
            <p:cNvSpPr txBox="1">
              <a:spLocks noChangeArrowheads="1"/>
            </p:cNvSpPr>
            <p:nvPr/>
          </p:nvSpPr>
          <p:spPr bwMode="auto">
            <a:xfrm>
              <a:off x="1175" y="1885"/>
              <a:ext cx="1100" cy="5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1600" b="0">
                  <a:solidFill>
                    <a:srgbClr val="FF0000"/>
                  </a:solidFill>
                  <a:latin typeface="Comic Sans MS" panose="030F0702030302020204" pitchFamily="66" charset="0"/>
                </a:rPr>
                <a:t>路由协议</a:t>
              </a:r>
            </a:p>
            <a:p>
              <a:pPr>
                <a:buFontTx/>
                <a:buChar char="•"/>
              </a:pPr>
              <a:r>
                <a:rPr lang="zh-CN" altLang="en-US" sz="1600" b="0">
                  <a:solidFill>
                    <a:schemeClr val="tx1"/>
                  </a:solidFill>
                  <a:latin typeface="Comic Sans MS" panose="030F0702030302020204" pitchFamily="66" charset="0"/>
                </a:rPr>
                <a:t>路径算法</a:t>
              </a:r>
            </a:p>
            <a:p>
              <a:pPr>
                <a:buFontTx/>
                <a:buChar char="•"/>
              </a:pPr>
              <a:r>
                <a:rPr lang="en-US" altLang="zh-CN" sz="1600" b="0">
                  <a:solidFill>
                    <a:schemeClr val="tx1"/>
                  </a:solidFill>
                  <a:latin typeface="Comic Sans MS" panose="030F0702030302020204" pitchFamily="66" charset="0"/>
                </a:rPr>
                <a:t>RIP, OSPF, BGP</a:t>
              </a:r>
              <a:endParaRPr lang="en-US" altLang="zh-CN" sz="1800" b="0">
                <a:solidFill>
                  <a:schemeClr val="tx1"/>
                </a:solidFill>
                <a:latin typeface="Comic Sans MS" panose="030F0702030302020204" pitchFamily="66" charset="0"/>
              </a:endParaRPr>
            </a:p>
          </p:txBody>
        </p:sp>
      </p:grpSp>
      <p:sp>
        <p:nvSpPr>
          <p:cNvPr id="1746965" name="Freeform 21"/>
          <p:cNvSpPr>
            <a:spLocks/>
          </p:cNvSpPr>
          <p:nvPr/>
        </p:nvSpPr>
        <p:spPr bwMode="auto">
          <a:xfrm>
            <a:off x="4699000" y="3986214"/>
            <a:ext cx="628650" cy="390525"/>
          </a:xfrm>
          <a:custGeom>
            <a:avLst/>
            <a:gdLst>
              <a:gd name="T0" fmla="*/ 0 w 396"/>
              <a:gd name="T1" fmla="*/ 0 h 246"/>
              <a:gd name="T2" fmla="*/ 378023438 w 396"/>
              <a:gd name="T3" fmla="*/ 468749063 h 246"/>
              <a:gd name="T4" fmla="*/ 997981875 w 396"/>
              <a:gd name="T5" fmla="*/ 529232813 h 246"/>
              <a:gd name="T6" fmla="*/ 0 60000 65536"/>
              <a:gd name="T7" fmla="*/ 0 60000 65536"/>
              <a:gd name="T8" fmla="*/ 0 60000 65536"/>
            </a:gdLst>
            <a:ahLst/>
            <a:cxnLst>
              <a:cxn ang="T6">
                <a:pos x="T0" y="T1"/>
              </a:cxn>
              <a:cxn ang="T7">
                <a:pos x="T2" y="T3"/>
              </a:cxn>
              <a:cxn ang="T8">
                <a:pos x="T4" y="T5"/>
              </a:cxn>
            </a:cxnLst>
            <a:rect l="0" t="0" r="r" b="b"/>
            <a:pathLst>
              <a:path w="396" h="246">
                <a:moveTo>
                  <a:pt x="0" y="0"/>
                </a:moveTo>
                <a:cubicBezTo>
                  <a:pt x="30" y="16"/>
                  <a:pt x="42" y="126"/>
                  <a:pt x="150" y="186"/>
                </a:cubicBezTo>
                <a:cubicBezTo>
                  <a:pt x="258" y="246"/>
                  <a:pt x="345" y="205"/>
                  <a:pt x="396" y="210"/>
                </a:cubicBezTo>
              </a:path>
            </a:pathLst>
          </a:custGeom>
          <a:noFill/>
          <a:ln w="38100" cap="flat" cmpd="sng">
            <a:solidFill>
              <a:schemeClr val="accent2"/>
            </a:solidFill>
            <a:prstDash val="solid"/>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46966" name="Group 22"/>
          <p:cNvGrpSpPr>
            <a:grpSpLocks/>
          </p:cNvGrpSpPr>
          <p:nvPr/>
        </p:nvGrpSpPr>
        <p:grpSpPr bwMode="auto">
          <a:xfrm>
            <a:off x="6708776" y="3113088"/>
            <a:ext cx="3000375" cy="1181100"/>
            <a:chOff x="102" y="1272"/>
            <a:chExt cx="1890" cy="744"/>
          </a:xfrm>
        </p:grpSpPr>
        <p:sp>
          <p:nvSpPr>
            <p:cNvPr id="17440" name="Rectangle 23"/>
            <p:cNvSpPr>
              <a:spLocks noChangeArrowheads="1"/>
            </p:cNvSpPr>
            <p:nvPr/>
          </p:nvSpPr>
          <p:spPr bwMode="auto">
            <a:xfrm>
              <a:off x="144" y="1272"/>
              <a:ext cx="1848" cy="690"/>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41" name="Rectangle 24"/>
            <p:cNvSpPr>
              <a:spLocks noChangeArrowheads="1"/>
            </p:cNvSpPr>
            <p:nvPr/>
          </p:nvSpPr>
          <p:spPr bwMode="auto">
            <a:xfrm>
              <a:off x="102" y="1314"/>
              <a:ext cx="1848" cy="702"/>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42" name="Text Box 25"/>
            <p:cNvSpPr txBox="1">
              <a:spLocks noChangeArrowheads="1"/>
            </p:cNvSpPr>
            <p:nvPr/>
          </p:nvSpPr>
          <p:spPr bwMode="auto">
            <a:xfrm>
              <a:off x="116" y="1319"/>
              <a:ext cx="1021" cy="6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1600" b="0">
                  <a:solidFill>
                    <a:srgbClr val="FF0000"/>
                  </a:solidFill>
                  <a:latin typeface="Comic Sans MS" panose="030F0702030302020204" pitchFamily="66" charset="0"/>
                </a:rPr>
                <a:t>网际协议（</a:t>
              </a:r>
              <a:r>
                <a:rPr lang="en-US" altLang="zh-CN" sz="1600" b="0">
                  <a:solidFill>
                    <a:srgbClr val="FF0000"/>
                  </a:solidFill>
                  <a:latin typeface="Comic Sans MS" panose="030F0702030302020204" pitchFamily="66" charset="0"/>
                </a:rPr>
                <a:t>IP</a:t>
              </a:r>
              <a:r>
                <a:rPr lang="zh-CN" altLang="en-US" sz="1600" b="0">
                  <a:solidFill>
                    <a:srgbClr val="FF0000"/>
                  </a:solidFill>
                  <a:latin typeface="Comic Sans MS" panose="030F0702030302020204" pitchFamily="66" charset="0"/>
                </a:rPr>
                <a:t>）</a:t>
              </a:r>
            </a:p>
            <a:p>
              <a:pPr>
                <a:buFontTx/>
                <a:buChar char="•"/>
              </a:pPr>
              <a:r>
                <a:rPr lang="zh-CN" altLang="en-US" sz="1600" b="0">
                  <a:solidFill>
                    <a:schemeClr val="tx1"/>
                  </a:solidFill>
                  <a:latin typeface="Comic Sans MS" panose="030F0702030302020204" pitchFamily="66" charset="0"/>
                </a:rPr>
                <a:t>寻址</a:t>
              </a:r>
            </a:p>
            <a:p>
              <a:pPr>
                <a:buFontTx/>
                <a:buChar char="•"/>
              </a:pPr>
              <a:r>
                <a:rPr lang="zh-CN" altLang="en-US" sz="1600" b="0">
                  <a:solidFill>
                    <a:schemeClr val="tx1"/>
                  </a:solidFill>
                  <a:latin typeface="Comic Sans MS" panose="030F0702030302020204" pitchFamily="66" charset="0"/>
                </a:rPr>
                <a:t>数据报格式</a:t>
              </a:r>
            </a:p>
            <a:p>
              <a:pPr>
                <a:buFontTx/>
                <a:buChar char="•"/>
              </a:pPr>
              <a:r>
                <a:rPr lang="zh-CN" altLang="en-US" sz="1600" b="0">
                  <a:solidFill>
                    <a:schemeClr val="tx1"/>
                  </a:solidFill>
                  <a:latin typeface="Comic Sans MS" panose="030F0702030302020204" pitchFamily="66" charset="0"/>
                </a:rPr>
                <a:t>分组转发</a:t>
              </a:r>
              <a:endParaRPr lang="zh-CN" altLang="en-US" sz="1800" b="0">
                <a:solidFill>
                  <a:schemeClr val="tx1"/>
                </a:solidFill>
                <a:latin typeface="Comic Sans MS" panose="030F0702030302020204" pitchFamily="66" charset="0"/>
              </a:endParaRPr>
            </a:p>
          </p:txBody>
        </p:sp>
      </p:grpSp>
      <p:grpSp>
        <p:nvGrpSpPr>
          <p:cNvPr id="1746970" name="Group 26"/>
          <p:cNvGrpSpPr>
            <a:grpSpLocks/>
          </p:cNvGrpSpPr>
          <p:nvPr/>
        </p:nvGrpSpPr>
        <p:grpSpPr bwMode="auto">
          <a:xfrm>
            <a:off x="6569076" y="4427538"/>
            <a:ext cx="1978025" cy="1414462"/>
            <a:chOff x="72" y="1146"/>
            <a:chExt cx="1260" cy="579"/>
          </a:xfrm>
        </p:grpSpPr>
        <p:sp>
          <p:nvSpPr>
            <p:cNvPr id="17437" name="Rectangle 27"/>
            <p:cNvSpPr>
              <a:spLocks noChangeArrowheads="1"/>
            </p:cNvSpPr>
            <p:nvPr/>
          </p:nvSpPr>
          <p:spPr bwMode="auto">
            <a:xfrm>
              <a:off x="114" y="1146"/>
              <a:ext cx="1218" cy="516"/>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38" name="Rectangle 28"/>
            <p:cNvSpPr>
              <a:spLocks noChangeArrowheads="1"/>
            </p:cNvSpPr>
            <p:nvPr/>
          </p:nvSpPr>
          <p:spPr bwMode="auto">
            <a:xfrm>
              <a:off x="72" y="1188"/>
              <a:ext cx="1218" cy="516"/>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39" name="Text Box 29"/>
            <p:cNvSpPr txBox="1">
              <a:spLocks noChangeArrowheads="1"/>
            </p:cNvSpPr>
            <p:nvPr/>
          </p:nvSpPr>
          <p:spPr bwMode="auto">
            <a:xfrm>
              <a:off x="80" y="1187"/>
              <a:ext cx="1197" cy="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1600" b="0">
                  <a:solidFill>
                    <a:srgbClr val="FF0000"/>
                  </a:solidFill>
                  <a:latin typeface="Comic Sans MS" panose="030F0702030302020204" pitchFamily="66" charset="0"/>
                </a:rPr>
                <a:t>控制报文协议</a:t>
              </a:r>
              <a:r>
                <a:rPr lang="en-US" altLang="zh-CN" sz="1600" b="0">
                  <a:solidFill>
                    <a:srgbClr val="FF0000"/>
                  </a:solidFill>
                  <a:latin typeface="Comic Sans MS" panose="030F0702030302020204" pitchFamily="66" charset="0"/>
                </a:rPr>
                <a:t>(ICMP)</a:t>
              </a:r>
            </a:p>
            <a:p>
              <a:pPr>
                <a:buFontTx/>
                <a:buChar char="•"/>
              </a:pPr>
              <a:r>
                <a:rPr lang="zh-CN" altLang="en-US" sz="1600" b="0">
                  <a:solidFill>
                    <a:schemeClr val="tx1"/>
                  </a:solidFill>
                  <a:latin typeface="Comic Sans MS" panose="030F0702030302020204" pitchFamily="66" charset="0"/>
                </a:rPr>
                <a:t>差错报告</a:t>
              </a:r>
            </a:p>
            <a:p>
              <a:pPr>
                <a:buFontTx/>
                <a:buChar char="•"/>
              </a:pPr>
              <a:r>
                <a:rPr lang="zh-CN" altLang="en-US" sz="1600" b="0">
                  <a:solidFill>
                    <a:schemeClr val="tx1"/>
                  </a:solidFill>
                  <a:latin typeface="Comic Sans MS" panose="030F0702030302020204" pitchFamily="66" charset="0"/>
                </a:rPr>
                <a:t>拥塞控制</a:t>
              </a:r>
            </a:p>
            <a:p>
              <a:pPr>
                <a:buFontTx/>
                <a:buChar char="•"/>
              </a:pPr>
              <a:r>
                <a:rPr lang="zh-CN" altLang="en-US" sz="1600" b="0">
                  <a:solidFill>
                    <a:schemeClr val="tx1"/>
                  </a:solidFill>
                  <a:latin typeface="Comic Sans MS" panose="030F0702030302020204" pitchFamily="66" charset="0"/>
                </a:rPr>
                <a:t>路由器的信令</a:t>
              </a:r>
              <a:endParaRPr lang="zh-CN" altLang="en-US" sz="1800" b="0">
                <a:solidFill>
                  <a:schemeClr val="tx1"/>
                </a:solidFill>
                <a:latin typeface="Comic Sans MS" panose="030F0702030302020204" pitchFamily="66" charset="0"/>
              </a:endParaRPr>
            </a:p>
          </p:txBody>
        </p:sp>
      </p:grpSp>
      <p:sp>
        <p:nvSpPr>
          <p:cNvPr id="17419" name="Line 30"/>
          <p:cNvSpPr>
            <a:spLocks noChangeShapeType="1"/>
          </p:cNvSpPr>
          <p:nvPr/>
        </p:nvSpPr>
        <p:spPr bwMode="auto">
          <a:xfrm flipV="1">
            <a:off x="3346451" y="2979739"/>
            <a:ext cx="6524625" cy="95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0" name="Text Box 31"/>
          <p:cNvSpPr txBox="1">
            <a:spLocks noChangeArrowheads="1"/>
          </p:cNvSpPr>
          <p:nvPr/>
        </p:nvSpPr>
        <p:spPr bwMode="auto">
          <a:xfrm>
            <a:off x="4787901" y="2506663"/>
            <a:ext cx="2549525"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1800" b="0">
                <a:solidFill>
                  <a:schemeClr val="tx2"/>
                </a:solidFill>
                <a:latin typeface="Comic Sans MS" panose="030F0702030302020204" pitchFamily="66" charset="0"/>
              </a:rPr>
              <a:t>        </a:t>
            </a:r>
            <a:r>
              <a:rPr lang="zh-CN" altLang="en-US" sz="1800" b="0">
                <a:solidFill>
                  <a:schemeClr val="tx2"/>
                </a:solidFill>
                <a:latin typeface="Comic Sans MS" panose="030F0702030302020204" pitchFamily="66" charset="0"/>
              </a:rPr>
              <a:t>传输层</a:t>
            </a:r>
            <a:r>
              <a:rPr lang="en-US" altLang="zh-CN" sz="1800" b="0">
                <a:solidFill>
                  <a:schemeClr val="tx2"/>
                </a:solidFill>
                <a:latin typeface="Comic Sans MS" panose="030F0702030302020204" pitchFamily="66" charset="0"/>
              </a:rPr>
              <a:t>: TCP, UDP</a:t>
            </a:r>
          </a:p>
        </p:txBody>
      </p:sp>
      <p:sp>
        <p:nvSpPr>
          <p:cNvPr id="17421" name="Text Box 32"/>
          <p:cNvSpPr txBox="1">
            <a:spLocks noChangeArrowheads="1"/>
          </p:cNvSpPr>
          <p:nvPr/>
        </p:nvSpPr>
        <p:spPr bwMode="auto">
          <a:xfrm>
            <a:off x="5832475" y="5972176"/>
            <a:ext cx="8699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1800" b="0">
                <a:solidFill>
                  <a:schemeClr val="tx2"/>
                </a:solidFill>
                <a:latin typeface="Comic Sans MS" panose="030F0702030302020204" pitchFamily="66" charset="0"/>
              </a:rPr>
              <a:t>链路层</a:t>
            </a:r>
          </a:p>
        </p:txBody>
      </p:sp>
      <p:sp>
        <p:nvSpPr>
          <p:cNvPr id="17422" name="Text Box 33"/>
          <p:cNvSpPr txBox="1">
            <a:spLocks noChangeArrowheads="1"/>
          </p:cNvSpPr>
          <p:nvPr/>
        </p:nvSpPr>
        <p:spPr bwMode="auto">
          <a:xfrm>
            <a:off x="5749926" y="6386513"/>
            <a:ext cx="938213"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1800" b="0">
                <a:solidFill>
                  <a:schemeClr val="tx2"/>
                </a:solidFill>
                <a:latin typeface="Comic Sans MS" panose="030F0702030302020204" pitchFamily="66" charset="0"/>
              </a:rPr>
              <a:t> </a:t>
            </a:r>
            <a:r>
              <a:rPr lang="zh-CN" altLang="en-US" sz="1800" b="0">
                <a:solidFill>
                  <a:schemeClr val="tx2"/>
                </a:solidFill>
                <a:latin typeface="Comic Sans MS" panose="030F0702030302020204" pitchFamily="66" charset="0"/>
              </a:rPr>
              <a:t>物理层</a:t>
            </a:r>
          </a:p>
        </p:txBody>
      </p:sp>
      <p:sp>
        <p:nvSpPr>
          <p:cNvPr id="17423" name="Text Box 34"/>
          <p:cNvSpPr txBox="1">
            <a:spLocks noChangeArrowheads="1"/>
          </p:cNvSpPr>
          <p:nvPr/>
        </p:nvSpPr>
        <p:spPr bwMode="auto">
          <a:xfrm>
            <a:off x="2206625" y="3976688"/>
            <a:ext cx="1098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r"/>
            <a:r>
              <a:rPr lang="zh-CN" altLang="en-US" sz="2400" b="0">
                <a:solidFill>
                  <a:srgbClr val="FF0000"/>
                </a:solidFill>
                <a:latin typeface="Comic Sans MS" panose="030F0702030302020204" pitchFamily="66" charset="0"/>
              </a:rPr>
              <a:t>网络层</a:t>
            </a:r>
            <a:endParaRPr lang="zh-CN" altLang="en-US" sz="1800" b="0">
              <a:solidFill>
                <a:schemeClr val="tx1"/>
              </a:solidFill>
              <a:latin typeface="Comic Sans MS" panose="030F0702030302020204" pitchFamily="66" charset="0"/>
            </a:endParaRPr>
          </a:p>
        </p:txBody>
      </p:sp>
      <p:sp>
        <p:nvSpPr>
          <p:cNvPr id="17424" name="Line 35"/>
          <p:cNvSpPr>
            <a:spLocks noChangeShapeType="1"/>
          </p:cNvSpPr>
          <p:nvPr/>
        </p:nvSpPr>
        <p:spPr bwMode="auto">
          <a:xfrm flipV="1">
            <a:off x="2781300" y="3021013"/>
            <a:ext cx="0" cy="74295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5" name="Line 36"/>
          <p:cNvSpPr>
            <a:spLocks noChangeShapeType="1"/>
          </p:cNvSpPr>
          <p:nvPr/>
        </p:nvSpPr>
        <p:spPr bwMode="auto">
          <a:xfrm>
            <a:off x="2781300" y="4687889"/>
            <a:ext cx="0" cy="1144587"/>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6" name="Rectangle 37"/>
          <p:cNvSpPr>
            <a:spLocks noGrp="1" noChangeArrowheads="1"/>
          </p:cNvSpPr>
          <p:nvPr>
            <p:ph type="title"/>
          </p:nvPr>
        </p:nvSpPr>
        <p:spPr bwMode="auto">
          <a:xfrm>
            <a:off x="2192338" y="4889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sz="3200">
                <a:solidFill>
                  <a:schemeClr val="hlink"/>
                </a:solidFill>
                <a:latin typeface="华文新魏" panose="02010800040101010101" pitchFamily="2" charset="-122"/>
                <a:ea typeface="华文新魏" panose="02010800040101010101" pitchFamily="2" charset="-122"/>
              </a:rPr>
              <a:t>5.1.3 Internet</a:t>
            </a:r>
            <a:r>
              <a:rPr lang="zh-CN" altLang="en-US" sz="3200">
                <a:solidFill>
                  <a:schemeClr val="hlink"/>
                </a:solidFill>
                <a:latin typeface="华文新魏" panose="02010800040101010101" pitchFamily="2" charset="-122"/>
                <a:ea typeface="华文新魏" panose="02010800040101010101" pitchFamily="2" charset="-122"/>
              </a:rPr>
              <a:t>的网络层</a:t>
            </a:r>
          </a:p>
        </p:txBody>
      </p:sp>
      <p:sp>
        <p:nvSpPr>
          <p:cNvPr id="17427" name="Text Box 38"/>
          <p:cNvSpPr txBox="1">
            <a:spLocks noChangeArrowheads="1"/>
          </p:cNvSpPr>
          <p:nvPr/>
        </p:nvSpPr>
        <p:spPr bwMode="auto">
          <a:xfrm>
            <a:off x="3722688" y="1398589"/>
            <a:ext cx="52895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spcBef>
                <a:spcPct val="50000"/>
              </a:spcBef>
            </a:pPr>
            <a:r>
              <a:rPr kumimoji="1" lang="en-US" altLang="zh-CN" sz="2400" b="0">
                <a:solidFill>
                  <a:schemeClr val="tx1"/>
                </a:solidFill>
                <a:latin typeface="Tahoma" panose="020B0604030504040204" pitchFamily="34" charset="0"/>
              </a:rPr>
              <a:t>Host, router network layer functions:</a:t>
            </a:r>
            <a:r>
              <a:rPr kumimoji="1" lang="zh-CN" altLang="en-US" sz="2400" b="0">
                <a:solidFill>
                  <a:schemeClr val="tx1"/>
                </a:solidFill>
                <a:latin typeface="Tahoma" panose="020B0604030504040204" pitchFamily="34" charset="0"/>
              </a:rPr>
              <a:t>主机和路由器在网络层的功能</a:t>
            </a:r>
          </a:p>
        </p:txBody>
      </p:sp>
      <p:grpSp>
        <p:nvGrpSpPr>
          <p:cNvPr id="1746983" name="Group 39"/>
          <p:cNvGrpSpPr>
            <a:grpSpLocks/>
          </p:cNvGrpSpPr>
          <p:nvPr/>
        </p:nvGrpSpPr>
        <p:grpSpPr bwMode="auto">
          <a:xfrm>
            <a:off x="3405189" y="4630739"/>
            <a:ext cx="1887537" cy="885825"/>
            <a:chOff x="1175" y="1848"/>
            <a:chExt cx="1189" cy="558"/>
          </a:xfrm>
        </p:grpSpPr>
        <p:sp>
          <p:nvSpPr>
            <p:cNvPr id="17434" name="Rectangle 40"/>
            <p:cNvSpPr>
              <a:spLocks noChangeArrowheads="1"/>
            </p:cNvSpPr>
            <p:nvPr/>
          </p:nvSpPr>
          <p:spPr bwMode="auto">
            <a:xfrm>
              <a:off x="1224" y="1848"/>
              <a:ext cx="1140" cy="516"/>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35" name="Rectangle 41"/>
            <p:cNvSpPr>
              <a:spLocks noChangeArrowheads="1"/>
            </p:cNvSpPr>
            <p:nvPr/>
          </p:nvSpPr>
          <p:spPr bwMode="auto">
            <a:xfrm>
              <a:off x="1182" y="1890"/>
              <a:ext cx="1140" cy="516"/>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36" name="Text Box 42"/>
            <p:cNvSpPr txBox="1">
              <a:spLocks noChangeArrowheads="1"/>
            </p:cNvSpPr>
            <p:nvPr/>
          </p:nvSpPr>
          <p:spPr bwMode="auto">
            <a:xfrm>
              <a:off x="1175" y="1885"/>
              <a:ext cx="839" cy="5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1600" b="0">
                  <a:solidFill>
                    <a:srgbClr val="FF0000"/>
                  </a:solidFill>
                  <a:latin typeface="Comic Sans MS" panose="030F0702030302020204" pitchFamily="66" charset="0"/>
                </a:rPr>
                <a:t>地址协议</a:t>
              </a:r>
            </a:p>
            <a:p>
              <a:pPr>
                <a:buFontTx/>
                <a:buChar char="•"/>
              </a:pPr>
              <a:r>
                <a:rPr lang="zh-CN" altLang="en-US" sz="1600" b="0">
                  <a:solidFill>
                    <a:schemeClr val="tx1"/>
                  </a:solidFill>
                  <a:latin typeface="Comic Sans MS" panose="030F0702030302020204" pitchFamily="66" charset="0"/>
                </a:rPr>
                <a:t> 地址转换</a:t>
              </a:r>
            </a:p>
            <a:p>
              <a:pPr>
                <a:buFontTx/>
                <a:buChar char="•"/>
              </a:pPr>
              <a:r>
                <a:rPr lang="zh-CN" altLang="en-US" sz="1600" b="0">
                  <a:solidFill>
                    <a:schemeClr val="tx1"/>
                  </a:solidFill>
                  <a:latin typeface="Comic Sans MS" panose="030F0702030302020204" pitchFamily="66" charset="0"/>
                </a:rPr>
                <a:t> </a:t>
              </a:r>
              <a:r>
                <a:rPr lang="en-US" altLang="zh-CN" sz="1600" b="0">
                  <a:solidFill>
                    <a:schemeClr val="tx1"/>
                  </a:solidFill>
                  <a:latin typeface="Comic Sans MS" panose="030F0702030302020204" pitchFamily="66" charset="0"/>
                </a:rPr>
                <a:t>ARP, RARP</a:t>
              </a:r>
              <a:endParaRPr lang="en-US" altLang="zh-CN" sz="1800" b="0">
                <a:solidFill>
                  <a:schemeClr val="tx1"/>
                </a:solidFill>
                <a:latin typeface="Comic Sans MS" panose="030F0702030302020204" pitchFamily="66" charset="0"/>
              </a:endParaRPr>
            </a:p>
          </p:txBody>
        </p:sp>
      </p:grpSp>
      <p:grpSp>
        <p:nvGrpSpPr>
          <p:cNvPr id="1746987" name="Group 43"/>
          <p:cNvGrpSpPr>
            <a:grpSpLocks/>
          </p:cNvGrpSpPr>
          <p:nvPr/>
        </p:nvGrpSpPr>
        <p:grpSpPr bwMode="auto">
          <a:xfrm>
            <a:off x="8202613" y="4392613"/>
            <a:ext cx="1600200" cy="1160462"/>
            <a:chOff x="800" y="1848"/>
            <a:chExt cx="1564" cy="573"/>
          </a:xfrm>
        </p:grpSpPr>
        <p:sp>
          <p:nvSpPr>
            <p:cNvPr id="17431" name="Rectangle 44"/>
            <p:cNvSpPr>
              <a:spLocks noChangeArrowheads="1"/>
            </p:cNvSpPr>
            <p:nvPr/>
          </p:nvSpPr>
          <p:spPr bwMode="auto">
            <a:xfrm>
              <a:off x="1224" y="1848"/>
              <a:ext cx="1140" cy="516"/>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32" name="Rectangle 45"/>
            <p:cNvSpPr>
              <a:spLocks noChangeArrowheads="1"/>
            </p:cNvSpPr>
            <p:nvPr/>
          </p:nvSpPr>
          <p:spPr bwMode="auto">
            <a:xfrm>
              <a:off x="1182" y="1890"/>
              <a:ext cx="1140" cy="516"/>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33" name="Text Box 46"/>
            <p:cNvSpPr txBox="1">
              <a:spLocks noChangeArrowheads="1"/>
            </p:cNvSpPr>
            <p:nvPr/>
          </p:nvSpPr>
          <p:spPr bwMode="auto">
            <a:xfrm>
              <a:off x="800" y="1893"/>
              <a:ext cx="1490"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1600" b="0">
                  <a:solidFill>
                    <a:srgbClr val="FF0000"/>
                  </a:solidFill>
                  <a:latin typeface="Comic Sans MS" panose="030F0702030302020204" pitchFamily="66" charset="0"/>
                </a:rPr>
                <a:t>     Internet</a:t>
              </a:r>
              <a:r>
                <a:rPr lang="zh-CN" altLang="en-US" sz="1600" b="0">
                  <a:solidFill>
                    <a:srgbClr val="FF0000"/>
                  </a:solidFill>
                  <a:latin typeface="Comic Sans MS" panose="030F0702030302020204" pitchFamily="66" charset="0"/>
                </a:rPr>
                <a:t>组</a:t>
              </a:r>
            </a:p>
            <a:p>
              <a:pPr algn="ctr"/>
              <a:r>
                <a:rPr lang="zh-CN" altLang="en-US" sz="1600" b="0">
                  <a:solidFill>
                    <a:srgbClr val="FF0000"/>
                  </a:solidFill>
                  <a:latin typeface="Comic Sans MS" panose="030F0702030302020204" pitchFamily="66" charset="0"/>
                </a:rPr>
                <a:t>  管理协议</a:t>
              </a:r>
            </a:p>
            <a:p>
              <a:pPr algn="ctr"/>
              <a:r>
                <a:rPr lang="zh-CN" altLang="en-US" sz="1600" b="0">
                  <a:solidFill>
                    <a:srgbClr val="FF0000"/>
                  </a:solidFill>
                  <a:latin typeface="Comic Sans MS" panose="030F0702030302020204" pitchFamily="66" charset="0"/>
                </a:rPr>
                <a:t>  （</a:t>
              </a:r>
              <a:r>
                <a:rPr lang="en-US" altLang="zh-CN" sz="1600" b="0">
                  <a:solidFill>
                    <a:srgbClr val="FF0000"/>
                  </a:solidFill>
                  <a:latin typeface="Comic Sans MS" panose="030F0702030302020204" pitchFamily="66" charset="0"/>
                </a:rPr>
                <a:t>IGMP</a:t>
              </a:r>
              <a:r>
                <a:rPr lang="zh-CN" altLang="en-US" sz="1600" b="0">
                  <a:solidFill>
                    <a:srgbClr val="FF0000"/>
                  </a:solidFill>
                  <a:latin typeface="Comic Sans MS" panose="030F0702030302020204" pitchFamily="66" charset="0"/>
                </a:rPr>
                <a:t>）</a:t>
              </a:r>
            </a:p>
            <a:p>
              <a:pPr algn="ctr">
                <a:buFont typeface="Wingdings" panose="05000000000000000000" pitchFamily="2" charset="2"/>
                <a:buChar char="§"/>
              </a:pPr>
              <a:r>
                <a:rPr lang="zh-CN" altLang="en-US" sz="1600" b="0">
                  <a:solidFill>
                    <a:schemeClr val="tx1"/>
                  </a:solidFill>
                  <a:latin typeface="Comic Sans MS" panose="030F0702030302020204" pitchFamily="66" charset="0"/>
                </a:rPr>
                <a:t> 组播</a:t>
              </a:r>
            </a:p>
          </p:txBody>
        </p:sp>
      </p:grpSp>
      <p:sp>
        <p:nvSpPr>
          <p:cNvPr id="1746992" name="Freeform 48"/>
          <p:cNvSpPr>
            <a:spLocks/>
          </p:cNvSpPr>
          <p:nvPr/>
        </p:nvSpPr>
        <p:spPr bwMode="auto">
          <a:xfrm flipV="1">
            <a:off x="6335713" y="3668714"/>
            <a:ext cx="404812" cy="592137"/>
          </a:xfrm>
          <a:custGeom>
            <a:avLst/>
            <a:gdLst>
              <a:gd name="T0" fmla="*/ 0 w 396"/>
              <a:gd name="T1" fmla="*/ 0 h 246"/>
              <a:gd name="T2" fmla="*/ 156750158 w 396"/>
              <a:gd name="T3" fmla="*/ 1077672491 h 246"/>
              <a:gd name="T4" fmla="*/ 413820089 w 396"/>
              <a:gd name="T5" fmla="*/ 1216728403 h 246"/>
              <a:gd name="T6" fmla="*/ 0 60000 65536"/>
              <a:gd name="T7" fmla="*/ 0 60000 65536"/>
              <a:gd name="T8" fmla="*/ 0 60000 65536"/>
            </a:gdLst>
            <a:ahLst/>
            <a:cxnLst>
              <a:cxn ang="T6">
                <a:pos x="T0" y="T1"/>
              </a:cxn>
              <a:cxn ang="T7">
                <a:pos x="T2" y="T3"/>
              </a:cxn>
              <a:cxn ang="T8">
                <a:pos x="T4" y="T5"/>
              </a:cxn>
            </a:cxnLst>
            <a:rect l="0" t="0" r="r" b="b"/>
            <a:pathLst>
              <a:path w="396" h="246">
                <a:moveTo>
                  <a:pt x="0" y="0"/>
                </a:moveTo>
                <a:cubicBezTo>
                  <a:pt x="30" y="16"/>
                  <a:pt x="42" y="126"/>
                  <a:pt x="150" y="186"/>
                </a:cubicBezTo>
                <a:cubicBezTo>
                  <a:pt x="258" y="246"/>
                  <a:pt x="345" y="205"/>
                  <a:pt x="396" y="210"/>
                </a:cubicBezTo>
              </a:path>
            </a:pathLst>
          </a:custGeom>
          <a:noFill/>
          <a:ln w="38100" cap="flat" cmpd="sng">
            <a:solidFill>
              <a:schemeClr val="accent2"/>
            </a:solidFill>
            <a:prstDash val="solid"/>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746966"/>
                                        </p:tgtEl>
                                        <p:attrNameLst>
                                          <p:attrName>style.visibility</p:attrName>
                                        </p:attrNameLst>
                                      </p:cBhvr>
                                      <p:to>
                                        <p:strVal val="visible"/>
                                      </p:to>
                                    </p:set>
                                    <p:anim calcmode="lin" valueType="num">
                                      <p:cBhvr additive="base">
                                        <p:cTn id="7" dur="500" fill="hold"/>
                                        <p:tgtEl>
                                          <p:spTgt spid="1746966"/>
                                        </p:tgtEl>
                                        <p:attrNameLst>
                                          <p:attrName>ppt_x</p:attrName>
                                        </p:attrNameLst>
                                      </p:cBhvr>
                                      <p:tavLst>
                                        <p:tav tm="0">
                                          <p:val>
                                            <p:strVal val="1+#ppt_w/2"/>
                                          </p:val>
                                        </p:tav>
                                        <p:tav tm="100000">
                                          <p:val>
                                            <p:strVal val="#ppt_x"/>
                                          </p:val>
                                        </p:tav>
                                      </p:tavLst>
                                    </p:anim>
                                    <p:anim calcmode="lin" valueType="num">
                                      <p:cBhvr additive="base">
                                        <p:cTn id="8" dur="500" fill="hold"/>
                                        <p:tgtEl>
                                          <p:spTgt spid="174696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746983"/>
                                        </p:tgtEl>
                                        <p:attrNameLst>
                                          <p:attrName>style.visibility</p:attrName>
                                        </p:attrNameLst>
                                      </p:cBhvr>
                                      <p:to>
                                        <p:strVal val="visible"/>
                                      </p:to>
                                    </p:set>
                                    <p:anim calcmode="lin" valueType="num">
                                      <p:cBhvr additive="base">
                                        <p:cTn id="13" dur="500" fill="hold"/>
                                        <p:tgtEl>
                                          <p:spTgt spid="1746983"/>
                                        </p:tgtEl>
                                        <p:attrNameLst>
                                          <p:attrName>ppt_x</p:attrName>
                                        </p:attrNameLst>
                                      </p:cBhvr>
                                      <p:tavLst>
                                        <p:tav tm="0">
                                          <p:val>
                                            <p:strVal val="1+#ppt_w/2"/>
                                          </p:val>
                                        </p:tav>
                                        <p:tav tm="100000">
                                          <p:val>
                                            <p:strVal val="#ppt_x"/>
                                          </p:val>
                                        </p:tav>
                                      </p:tavLst>
                                    </p:anim>
                                    <p:anim calcmode="lin" valueType="num">
                                      <p:cBhvr additive="base">
                                        <p:cTn id="14" dur="500" fill="hold"/>
                                        <p:tgtEl>
                                          <p:spTgt spid="174698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746949"/>
                                        </p:tgtEl>
                                        <p:attrNameLst>
                                          <p:attrName>style.visibility</p:attrName>
                                        </p:attrNameLst>
                                      </p:cBhvr>
                                      <p:to>
                                        <p:strVal val="visible"/>
                                      </p:to>
                                    </p:set>
                                    <p:anim calcmode="lin" valueType="num">
                                      <p:cBhvr additive="base">
                                        <p:cTn id="19" dur="500" fill="hold"/>
                                        <p:tgtEl>
                                          <p:spTgt spid="1746949"/>
                                        </p:tgtEl>
                                        <p:attrNameLst>
                                          <p:attrName>ppt_x</p:attrName>
                                        </p:attrNameLst>
                                      </p:cBhvr>
                                      <p:tavLst>
                                        <p:tav tm="0">
                                          <p:val>
                                            <p:strVal val="1+#ppt_w/2"/>
                                          </p:val>
                                        </p:tav>
                                        <p:tav tm="100000">
                                          <p:val>
                                            <p:strVal val="#ppt_x"/>
                                          </p:val>
                                        </p:tav>
                                      </p:tavLst>
                                    </p:anim>
                                    <p:anim calcmode="lin" valueType="num">
                                      <p:cBhvr additive="base">
                                        <p:cTn id="20" dur="500" fill="hold"/>
                                        <p:tgtEl>
                                          <p:spTgt spid="174694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1746961"/>
                                        </p:tgtEl>
                                        <p:attrNameLst>
                                          <p:attrName>style.visibility</p:attrName>
                                        </p:attrNameLst>
                                      </p:cBhvr>
                                      <p:to>
                                        <p:strVal val="visible"/>
                                      </p:to>
                                    </p:set>
                                    <p:anim calcmode="lin" valueType="num">
                                      <p:cBhvr additive="base">
                                        <p:cTn id="25" dur="500" fill="hold"/>
                                        <p:tgtEl>
                                          <p:spTgt spid="1746961"/>
                                        </p:tgtEl>
                                        <p:attrNameLst>
                                          <p:attrName>ppt_x</p:attrName>
                                        </p:attrNameLst>
                                      </p:cBhvr>
                                      <p:tavLst>
                                        <p:tav tm="0">
                                          <p:val>
                                            <p:strVal val="1+#ppt_w/2"/>
                                          </p:val>
                                        </p:tav>
                                        <p:tav tm="100000">
                                          <p:val>
                                            <p:strVal val="#ppt_x"/>
                                          </p:val>
                                        </p:tav>
                                      </p:tavLst>
                                    </p:anim>
                                    <p:anim calcmode="lin" valueType="num">
                                      <p:cBhvr additive="base">
                                        <p:cTn id="26" dur="500" fill="hold"/>
                                        <p:tgtEl>
                                          <p:spTgt spid="1746961"/>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1746965"/>
                                        </p:tgtEl>
                                        <p:attrNameLst>
                                          <p:attrName>style.visibility</p:attrName>
                                        </p:attrNameLst>
                                      </p:cBhvr>
                                      <p:to>
                                        <p:strVal val="visible"/>
                                      </p:to>
                                    </p:set>
                                    <p:anim calcmode="lin" valueType="num">
                                      <p:cBhvr additive="base">
                                        <p:cTn id="31" dur="500" fill="hold"/>
                                        <p:tgtEl>
                                          <p:spTgt spid="1746965"/>
                                        </p:tgtEl>
                                        <p:attrNameLst>
                                          <p:attrName>ppt_x</p:attrName>
                                        </p:attrNameLst>
                                      </p:cBhvr>
                                      <p:tavLst>
                                        <p:tav tm="0">
                                          <p:val>
                                            <p:strVal val="1+#ppt_w/2"/>
                                          </p:val>
                                        </p:tav>
                                        <p:tav tm="100000">
                                          <p:val>
                                            <p:strVal val="#ppt_x"/>
                                          </p:val>
                                        </p:tav>
                                      </p:tavLst>
                                    </p:anim>
                                    <p:anim calcmode="lin" valueType="num">
                                      <p:cBhvr additive="base">
                                        <p:cTn id="32" dur="500" fill="hold"/>
                                        <p:tgtEl>
                                          <p:spTgt spid="174696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nodeType="clickEffect">
                                  <p:stCondLst>
                                    <p:cond delay="0"/>
                                  </p:stCondLst>
                                  <p:childTnLst>
                                    <p:set>
                                      <p:cBhvr>
                                        <p:cTn id="36" dur="1" fill="hold">
                                          <p:stCondLst>
                                            <p:cond delay="0"/>
                                          </p:stCondLst>
                                        </p:cTn>
                                        <p:tgtEl>
                                          <p:spTgt spid="1746992"/>
                                        </p:tgtEl>
                                        <p:attrNameLst>
                                          <p:attrName>style.visibility</p:attrName>
                                        </p:attrNameLst>
                                      </p:cBhvr>
                                      <p:to>
                                        <p:strVal val="visible"/>
                                      </p:to>
                                    </p:set>
                                    <p:anim calcmode="lin" valueType="num">
                                      <p:cBhvr additive="base">
                                        <p:cTn id="37" dur="500" fill="hold"/>
                                        <p:tgtEl>
                                          <p:spTgt spid="1746992"/>
                                        </p:tgtEl>
                                        <p:attrNameLst>
                                          <p:attrName>ppt_x</p:attrName>
                                        </p:attrNameLst>
                                      </p:cBhvr>
                                      <p:tavLst>
                                        <p:tav tm="0">
                                          <p:val>
                                            <p:strVal val="1+#ppt_w/2"/>
                                          </p:val>
                                        </p:tav>
                                        <p:tav tm="100000">
                                          <p:val>
                                            <p:strVal val="#ppt_x"/>
                                          </p:val>
                                        </p:tav>
                                      </p:tavLst>
                                    </p:anim>
                                    <p:anim calcmode="lin" valueType="num">
                                      <p:cBhvr additive="base">
                                        <p:cTn id="38" dur="500" fill="hold"/>
                                        <p:tgtEl>
                                          <p:spTgt spid="1746992"/>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nodeType="clickEffect">
                                  <p:stCondLst>
                                    <p:cond delay="0"/>
                                  </p:stCondLst>
                                  <p:childTnLst>
                                    <p:set>
                                      <p:cBhvr>
                                        <p:cTn id="42" dur="1" fill="hold">
                                          <p:stCondLst>
                                            <p:cond delay="0"/>
                                          </p:stCondLst>
                                        </p:cTn>
                                        <p:tgtEl>
                                          <p:spTgt spid="1746970"/>
                                        </p:tgtEl>
                                        <p:attrNameLst>
                                          <p:attrName>style.visibility</p:attrName>
                                        </p:attrNameLst>
                                      </p:cBhvr>
                                      <p:to>
                                        <p:strVal val="visible"/>
                                      </p:to>
                                    </p:set>
                                    <p:anim calcmode="lin" valueType="num">
                                      <p:cBhvr additive="base">
                                        <p:cTn id="43" dur="500" fill="hold"/>
                                        <p:tgtEl>
                                          <p:spTgt spid="1746970"/>
                                        </p:tgtEl>
                                        <p:attrNameLst>
                                          <p:attrName>ppt_x</p:attrName>
                                        </p:attrNameLst>
                                      </p:cBhvr>
                                      <p:tavLst>
                                        <p:tav tm="0">
                                          <p:val>
                                            <p:strVal val="1+#ppt_w/2"/>
                                          </p:val>
                                        </p:tav>
                                        <p:tav tm="100000">
                                          <p:val>
                                            <p:strVal val="#ppt_x"/>
                                          </p:val>
                                        </p:tav>
                                      </p:tavLst>
                                    </p:anim>
                                    <p:anim calcmode="lin" valueType="num">
                                      <p:cBhvr additive="base">
                                        <p:cTn id="44" dur="500" fill="hold"/>
                                        <p:tgtEl>
                                          <p:spTgt spid="1746970"/>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nodeType="clickEffect">
                                  <p:stCondLst>
                                    <p:cond delay="0"/>
                                  </p:stCondLst>
                                  <p:childTnLst>
                                    <p:set>
                                      <p:cBhvr>
                                        <p:cTn id="48" dur="1" fill="hold">
                                          <p:stCondLst>
                                            <p:cond delay="0"/>
                                          </p:stCondLst>
                                        </p:cTn>
                                        <p:tgtEl>
                                          <p:spTgt spid="1746987"/>
                                        </p:tgtEl>
                                        <p:attrNameLst>
                                          <p:attrName>style.visibility</p:attrName>
                                        </p:attrNameLst>
                                      </p:cBhvr>
                                      <p:to>
                                        <p:strVal val="visible"/>
                                      </p:to>
                                    </p:set>
                                    <p:anim calcmode="lin" valueType="num">
                                      <p:cBhvr additive="base">
                                        <p:cTn id="49" dur="500" fill="hold"/>
                                        <p:tgtEl>
                                          <p:spTgt spid="1746987"/>
                                        </p:tgtEl>
                                        <p:attrNameLst>
                                          <p:attrName>ppt_x</p:attrName>
                                        </p:attrNameLst>
                                      </p:cBhvr>
                                      <p:tavLst>
                                        <p:tav tm="0">
                                          <p:val>
                                            <p:strVal val="1+#ppt_w/2"/>
                                          </p:val>
                                        </p:tav>
                                        <p:tav tm="100000">
                                          <p:val>
                                            <p:strVal val="#ppt_x"/>
                                          </p:val>
                                        </p:tav>
                                      </p:tavLst>
                                    </p:anim>
                                    <p:anim calcmode="lin" valueType="num">
                                      <p:cBhvr additive="base">
                                        <p:cTn id="50" dur="500" fill="hold"/>
                                        <p:tgtEl>
                                          <p:spTgt spid="17469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3335338" y="1"/>
            <a:ext cx="48831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sz="6000">
                <a:solidFill>
                  <a:schemeClr val="tx1"/>
                </a:solidFill>
              </a:rPr>
              <a:t>    </a:t>
            </a:r>
            <a:endParaRPr kumimoji="1" lang="en-US" altLang="zh-CN">
              <a:solidFill>
                <a:schemeClr val="tx1"/>
              </a:solidFill>
            </a:endParaRPr>
          </a:p>
        </p:txBody>
      </p:sp>
      <p:sp>
        <p:nvSpPr>
          <p:cNvPr id="5123" name="Text Box 3"/>
          <p:cNvSpPr txBox="1">
            <a:spLocks noChangeArrowheads="1"/>
          </p:cNvSpPr>
          <p:nvPr/>
        </p:nvSpPr>
        <p:spPr bwMode="auto">
          <a:xfrm>
            <a:off x="3381376" y="2482851"/>
            <a:ext cx="52228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en-US" altLang="zh-CN" sz="6000" b="1">
                <a:solidFill>
                  <a:schemeClr val="folHlink"/>
                </a:solidFill>
                <a:latin typeface="新宋体" panose="02010609030101010101" pitchFamily="49" charset="-122"/>
                <a:ea typeface="新宋体" panose="02010609030101010101" pitchFamily="49" charset="-122"/>
              </a:rPr>
              <a:t>5.2 </a:t>
            </a:r>
            <a:r>
              <a:rPr kumimoji="1" lang="zh-CN" altLang="en-US" sz="6000" b="1">
                <a:solidFill>
                  <a:schemeClr val="folHlink"/>
                </a:solidFill>
                <a:latin typeface="新宋体" panose="02010609030101010101" pitchFamily="49" charset="-122"/>
                <a:ea typeface="新宋体" panose="02010609030101010101" pitchFamily="49" charset="-122"/>
              </a:rPr>
              <a:t>网络地址</a:t>
            </a:r>
          </a:p>
        </p:txBody>
      </p:sp>
      <p:pic>
        <p:nvPicPr>
          <p:cNvPr id="5124" name="Picture 5" descr="http://www.swjtu.edu.cn/images02/head1.jpg"/>
          <p:cNvPicPr>
            <a:picLocks noGrp="1" noChangeAspect="1" noChangeArrowheads="1"/>
          </p:cNvPicPr>
          <p:nvPr>
            <p:ph type="title" idx="4294967295"/>
          </p:nvPr>
        </p:nvPicPr>
        <p:blipFill>
          <a:blip r:embed="rId2" r:link="rId3">
            <a:extLst>
              <a:ext uri="{28A0092B-C50C-407E-A947-70E740481C1C}">
                <a14:useLocalDpi xmlns:a14="http://schemas.microsoft.com/office/drawing/2010/main" val="0"/>
              </a:ext>
            </a:extLst>
          </a:blip>
          <a:srcRect/>
          <a:stretch>
            <a:fillRect/>
          </a:stretch>
        </p:blipFill>
        <p:spPr bwMode="auto">
          <a:xfrm>
            <a:off x="3549651" y="268289"/>
            <a:ext cx="4494213" cy="9239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2028825" y="36195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网络地址</a:t>
            </a:r>
          </a:p>
        </p:txBody>
      </p:sp>
      <p:sp>
        <p:nvSpPr>
          <p:cNvPr id="1328132" name="Text Box 4"/>
          <p:cNvSpPr txBox="1">
            <a:spLocks noChangeArrowheads="1"/>
          </p:cNvSpPr>
          <p:nvPr/>
        </p:nvSpPr>
        <p:spPr bwMode="auto">
          <a:xfrm>
            <a:off x="2135188" y="1322388"/>
            <a:ext cx="5980112" cy="393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网络地址类别</a:t>
            </a:r>
          </a:p>
          <a:p>
            <a:pPr eaLnBrk="1" hangingPunct="1">
              <a:buClr>
                <a:schemeClr val="folHlink"/>
              </a:buClr>
              <a:buSzPct val="60000"/>
              <a:buFont typeface="Wingdings" panose="05000000000000000000" pitchFamily="2" charset="2"/>
              <a:buChar char="q"/>
            </a:pPr>
            <a:r>
              <a:rPr kumimoji="1" lang="en-US" altLang="zh-CN">
                <a:solidFill>
                  <a:schemeClr val="tx1"/>
                </a:solidFill>
                <a:latin typeface="Tahoma" panose="020B0604030504040204" pitchFamily="34" charset="0"/>
              </a:rPr>
              <a:t>IP </a:t>
            </a:r>
            <a:r>
              <a:rPr kumimoji="1" lang="zh-CN" altLang="en-US">
                <a:solidFill>
                  <a:schemeClr val="tx1"/>
                </a:solidFill>
                <a:latin typeface="Tahoma" panose="020B0604030504040204" pitchFamily="34" charset="0"/>
              </a:rPr>
              <a:t>地址</a:t>
            </a:r>
          </a:p>
          <a:p>
            <a:pPr eaLnBrk="1" hangingPunct="1">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子网</a:t>
            </a:r>
          </a:p>
          <a:p>
            <a:pPr eaLnBrk="1" hangingPunct="1">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特殊 </a:t>
            </a:r>
            <a:r>
              <a:rPr kumimoji="1" lang="en-US" altLang="zh-CN">
                <a:solidFill>
                  <a:schemeClr val="tx1"/>
                </a:solidFill>
                <a:latin typeface="Tahoma" panose="020B0604030504040204" pitchFamily="34" charset="0"/>
              </a:rPr>
              <a:t>IP </a:t>
            </a:r>
            <a:r>
              <a:rPr kumimoji="1" lang="zh-CN" altLang="en-US">
                <a:solidFill>
                  <a:schemeClr val="tx1"/>
                </a:solidFill>
                <a:latin typeface="Tahoma" panose="020B0604030504040204" pitchFamily="34" charset="0"/>
              </a:rPr>
              <a:t>地址</a:t>
            </a:r>
          </a:p>
          <a:p>
            <a:pPr eaLnBrk="1" hangingPunct="1">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专用 </a:t>
            </a:r>
            <a:r>
              <a:rPr kumimoji="1" lang="en-US" altLang="zh-CN">
                <a:solidFill>
                  <a:schemeClr val="tx1"/>
                </a:solidFill>
                <a:latin typeface="Tahoma" panose="020B0604030504040204" pitchFamily="34" charset="0"/>
              </a:rPr>
              <a:t>IP </a:t>
            </a:r>
            <a:r>
              <a:rPr kumimoji="1" lang="zh-CN" altLang="en-US">
                <a:solidFill>
                  <a:schemeClr val="tx1"/>
                </a:solidFill>
                <a:latin typeface="Tahoma" panose="020B0604030504040204" pitchFamily="34" charset="0"/>
              </a:rPr>
              <a:t>地址</a:t>
            </a:r>
          </a:p>
          <a:p>
            <a:pPr eaLnBrk="1" hangingPunct="1">
              <a:buClr>
                <a:schemeClr val="folHlink"/>
              </a:buClr>
              <a:buSzPct val="60000"/>
              <a:buFont typeface="Wingdings" panose="05000000000000000000" pitchFamily="2" charset="2"/>
              <a:buChar char="q"/>
            </a:pPr>
            <a:r>
              <a:rPr kumimoji="1" lang="en-US" altLang="zh-CN">
                <a:solidFill>
                  <a:schemeClr val="tx1"/>
                </a:solidFill>
                <a:latin typeface="Tahoma" panose="020B0604030504040204" pitchFamily="34" charset="0"/>
              </a:rPr>
              <a:t>CIDR</a:t>
            </a:r>
            <a:r>
              <a:rPr kumimoji="1" lang="zh-CN" altLang="en-US">
                <a:solidFill>
                  <a:schemeClr val="tx1"/>
                </a:solidFill>
                <a:latin typeface="Tahoma" panose="020B0604030504040204" pitchFamily="34" charset="0"/>
              </a:rPr>
              <a:t>（无类型域间路由）</a:t>
            </a:r>
          </a:p>
          <a:p>
            <a:pPr eaLnBrk="1" hangingPunct="1">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地址转换</a:t>
            </a:r>
            <a:r>
              <a:rPr kumimoji="1" lang="en-US" altLang="zh-CN">
                <a:solidFill>
                  <a:schemeClr val="tx1"/>
                </a:solidFill>
                <a:latin typeface="Tahoma" panose="020B0604030504040204" pitchFamily="34" charset="0"/>
              </a:rPr>
              <a:t>(ARP/RARP/DNS)</a:t>
            </a:r>
          </a:p>
          <a:p>
            <a:pPr eaLnBrk="1" hangingPunct="1">
              <a:buClr>
                <a:schemeClr val="folHlink"/>
              </a:buClr>
              <a:buSzPct val="60000"/>
              <a:buFont typeface="Wingdings" panose="05000000000000000000" pitchFamily="2" charset="2"/>
              <a:buChar char="q"/>
            </a:pPr>
            <a:r>
              <a:rPr kumimoji="1" lang="en-US" altLang="zh-CN">
                <a:solidFill>
                  <a:schemeClr val="tx1"/>
                </a:solidFill>
                <a:latin typeface="Tahoma" panose="020B0604030504040204" pitchFamily="34" charset="0"/>
              </a:rPr>
              <a:t>NAT</a:t>
            </a:r>
            <a:r>
              <a:rPr kumimoji="1" lang="zh-CN" altLang="en-US">
                <a:solidFill>
                  <a:schemeClr val="tx1"/>
                </a:solidFill>
                <a:latin typeface="Tahoma" panose="020B0604030504040204" pitchFamily="34" charset="0"/>
              </a:rPr>
              <a:t>（网络地址转换）</a:t>
            </a:r>
          </a:p>
          <a:p>
            <a:pPr eaLnBrk="1" hangingPunct="1">
              <a:buClr>
                <a:schemeClr val="folHlink"/>
              </a:buClr>
              <a:buSzPct val="60000"/>
              <a:buFont typeface="Wingdings" panose="05000000000000000000" pitchFamily="2" charset="2"/>
              <a:buChar char="q"/>
            </a:pPr>
            <a:r>
              <a:rPr kumimoji="1" lang="en-US" altLang="zh-CN">
                <a:solidFill>
                  <a:schemeClr val="tx1"/>
                </a:solidFill>
                <a:latin typeface="Tahoma" panose="020B0604030504040204" pitchFamily="34" charset="0"/>
              </a:rPr>
              <a:t>IP V6</a:t>
            </a:r>
          </a:p>
        </p:txBody>
      </p:sp>
      <p:grpSp>
        <p:nvGrpSpPr>
          <p:cNvPr id="6148" name="Group 6"/>
          <p:cNvGrpSpPr>
            <a:grpSpLocks/>
          </p:cNvGrpSpPr>
          <p:nvPr/>
        </p:nvGrpSpPr>
        <p:grpSpPr bwMode="auto">
          <a:xfrm>
            <a:off x="7204076" y="1233488"/>
            <a:ext cx="2936875" cy="1492250"/>
            <a:chOff x="1775" y="922"/>
            <a:chExt cx="2772" cy="940"/>
          </a:xfrm>
        </p:grpSpPr>
        <p:grpSp>
          <p:nvGrpSpPr>
            <p:cNvPr id="6149" name="Group 7"/>
            <p:cNvGrpSpPr>
              <a:grpSpLocks/>
            </p:cNvGrpSpPr>
            <p:nvPr/>
          </p:nvGrpSpPr>
          <p:grpSpPr bwMode="auto">
            <a:xfrm>
              <a:off x="1775" y="922"/>
              <a:ext cx="2666" cy="940"/>
              <a:chOff x="1200" y="194"/>
              <a:chExt cx="3121" cy="1439"/>
            </a:xfrm>
          </p:grpSpPr>
          <p:sp>
            <p:nvSpPr>
              <p:cNvPr id="6151" name="Freeform 8"/>
              <p:cNvSpPr>
                <a:spLocks/>
              </p:cNvSpPr>
              <p:nvPr/>
            </p:nvSpPr>
            <p:spPr bwMode="auto">
              <a:xfrm>
                <a:off x="2519" y="486"/>
                <a:ext cx="1802" cy="1141"/>
              </a:xfrm>
              <a:custGeom>
                <a:avLst/>
                <a:gdLst>
                  <a:gd name="T0" fmla="*/ 22 w 1802"/>
                  <a:gd name="T1" fmla="*/ 88 h 1141"/>
                  <a:gd name="T2" fmla="*/ 0 w 1802"/>
                  <a:gd name="T3" fmla="*/ 119 h 1141"/>
                  <a:gd name="T4" fmla="*/ 25 w 1802"/>
                  <a:gd name="T5" fmla="*/ 176 h 1141"/>
                  <a:gd name="T6" fmla="*/ 45 w 1802"/>
                  <a:gd name="T7" fmla="*/ 384 h 1141"/>
                  <a:gd name="T8" fmla="*/ 45 w 1802"/>
                  <a:gd name="T9" fmla="*/ 537 h 1141"/>
                  <a:gd name="T10" fmla="*/ 40 w 1802"/>
                  <a:gd name="T11" fmla="*/ 734 h 1141"/>
                  <a:gd name="T12" fmla="*/ 22 w 1802"/>
                  <a:gd name="T13" fmla="*/ 975 h 1141"/>
                  <a:gd name="T14" fmla="*/ 0 w 1802"/>
                  <a:gd name="T15" fmla="*/ 1113 h 1141"/>
                  <a:gd name="T16" fmla="*/ 412 w 1802"/>
                  <a:gd name="T17" fmla="*/ 1133 h 1141"/>
                  <a:gd name="T18" fmla="*/ 616 w 1802"/>
                  <a:gd name="T19" fmla="*/ 1140 h 1141"/>
                  <a:gd name="T20" fmla="*/ 1063 w 1802"/>
                  <a:gd name="T21" fmla="*/ 1140 h 1141"/>
                  <a:gd name="T22" fmla="*/ 1403 w 1802"/>
                  <a:gd name="T23" fmla="*/ 1133 h 1141"/>
                  <a:gd name="T24" fmla="*/ 1680 w 1802"/>
                  <a:gd name="T25" fmla="*/ 1120 h 1141"/>
                  <a:gd name="T26" fmla="*/ 1801 w 1802"/>
                  <a:gd name="T27" fmla="*/ 1113 h 1141"/>
                  <a:gd name="T28" fmla="*/ 1758 w 1802"/>
                  <a:gd name="T29" fmla="*/ 941 h 1141"/>
                  <a:gd name="T30" fmla="*/ 1733 w 1802"/>
                  <a:gd name="T31" fmla="*/ 759 h 1141"/>
                  <a:gd name="T32" fmla="*/ 1718 w 1802"/>
                  <a:gd name="T33" fmla="*/ 530 h 1141"/>
                  <a:gd name="T34" fmla="*/ 1724 w 1802"/>
                  <a:gd name="T35" fmla="*/ 389 h 1141"/>
                  <a:gd name="T36" fmla="*/ 1751 w 1802"/>
                  <a:gd name="T37" fmla="*/ 276 h 1141"/>
                  <a:gd name="T38" fmla="*/ 1769 w 1802"/>
                  <a:gd name="T39" fmla="*/ 168 h 1141"/>
                  <a:gd name="T40" fmla="*/ 1769 w 1802"/>
                  <a:gd name="T41" fmla="*/ 131 h 1141"/>
                  <a:gd name="T42" fmla="*/ 1751 w 1802"/>
                  <a:gd name="T43" fmla="*/ 116 h 1141"/>
                  <a:gd name="T44" fmla="*/ 1421 w 1802"/>
                  <a:gd name="T45" fmla="*/ 46 h 1141"/>
                  <a:gd name="T46" fmla="*/ 1228 w 1802"/>
                  <a:gd name="T47" fmla="*/ 15 h 1141"/>
                  <a:gd name="T48" fmla="*/ 1126 w 1802"/>
                  <a:gd name="T49" fmla="*/ 3 h 1141"/>
                  <a:gd name="T50" fmla="*/ 1023 w 1802"/>
                  <a:gd name="T51" fmla="*/ 0 h 1141"/>
                  <a:gd name="T52" fmla="*/ 702 w 1802"/>
                  <a:gd name="T53" fmla="*/ 3 h 1141"/>
                  <a:gd name="T54" fmla="*/ 522 w 1802"/>
                  <a:gd name="T55" fmla="*/ 23 h 1141"/>
                  <a:gd name="T56" fmla="*/ 328 w 1802"/>
                  <a:gd name="T57" fmla="*/ 42 h 1141"/>
                  <a:gd name="T58" fmla="*/ 97 w 1802"/>
                  <a:gd name="T59" fmla="*/ 77 h 1141"/>
                  <a:gd name="T60" fmla="*/ 22 w 1802"/>
                  <a:gd name="T61" fmla="*/ 88 h 114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802"/>
                  <a:gd name="T94" fmla="*/ 0 h 1141"/>
                  <a:gd name="T95" fmla="*/ 1802 w 1802"/>
                  <a:gd name="T96" fmla="*/ 1141 h 114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802" h="1141">
                    <a:moveTo>
                      <a:pt x="22" y="88"/>
                    </a:moveTo>
                    <a:lnTo>
                      <a:pt x="0" y="119"/>
                    </a:lnTo>
                    <a:lnTo>
                      <a:pt x="25" y="176"/>
                    </a:lnTo>
                    <a:lnTo>
                      <a:pt x="45" y="384"/>
                    </a:lnTo>
                    <a:lnTo>
                      <a:pt x="45" y="537"/>
                    </a:lnTo>
                    <a:lnTo>
                      <a:pt x="40" y="734"/>
                    </a:lnTo>
                    <a:lnTo>
                      <a:pt x="22" y="975"/>
                    </a:lnTo>
                    <a:lnTo>
                      <a:pt x="0" y="1113"/>
                    </a:lnTo>
                    <a:lnTo>
                      <a:pt x="412" y="1133"/>
                    </a:lnTo>
                    <a:lnTo>
                      <a:pt x="616" y="1140"/>
                    </a:lnTo>
                    <a:lnTo>
                      <a:pt x="1063" y="1140"/>
                    </a:lnTo>
                    <a:lnTo>
                      <a:pt x="1403" y="1133"/>
                    </a:lnTo>
                    <a:lnTo>
                      <a:pt x="1680" y="1120"/>
                    </a:lnTo>
                    <a:lnTo>
                      <a:pt x="1801" y="1113"/>
                    </a:lnTo>
                    <a:lnTo>
                      <a:pt x="1758" y="941"/>
                    </a:lnTo>
                    <a:lnTo>
                      <a:pt x="1733" y="759"/>
                    </a:lnTo>
                    <a:lnTo>
                      <a:pt x="1718" y="530"/>
                    </a:lnTo>
                    <a:lnTo>
                      <a:pt x="1724" y="389"/>
                    </a:lnTo>
                    <a:lnTo>
                      <a:pt x="1751" y="276"/>
                    </a:lnTo>
                    <a:lnTo>
                      <a:pt x="1769" y="168"/>
                    </a:lnTo>
                    <a:lnTo>
                      <a:pt x="1769" y="131"/>
                    </a:lnTo>
                    <a:lnTo>
                      <a:pt x="1751" y="116"/>
                    </a:lnTo>
                    <a:lnTo>
                      <a:pt x="1421" y="46"/>
                    </a:lnTo>
                    <a:lnTo>
                      <a:pt x="1228" y="15"/>
                    </a:lnTo>
                    <a:lnTo>
                      <a:pt x="1126" y="3"/>
                    </a:lnTo>
                    <a:lnTo>
                      <a:pt x="1023" y="0"/>
                    </a:lnTo>
                    <a:lnTo>
                      <a:pt x="702" y="3"/>
                    </a:lnTo>
                    <a:lnTo>
                      <a:pt x="522" y="23"/>
                    </a:lnTo>
                    <a:lnTo>
                      <a:pt x="328" y="42"/>
                    </a:lnTo>
                    <a:lnTo>
                      <a:pt x="97" y="77"/>
                    </a:lnTo>
                    <a:lnTo>
                      <a:pt x="22" y="88"/>
                    </a:lnTo>
                  </a:path>
                </a:pathLst>
              </a:custGeom>
              <a:solidFill>
                <a:srgbClr val="FFFFFF"/>
              </a:solidFill>
              <a:ln w="12700" cap="rnd">
                <a:solidFill>
                  <a:srgbClr val="FFFFFF"/>
                </a:solidFill>
                <a:round/>
                <a:headEnd/>
                <a:tailEnd/>
              </a:ln>
            </p:spPr>
            <p:txBody>
              <a:bodyPr/>
              <a:lstStyle/>
              <a:p>
                <a:endParaRPr lang="zh-CN" altLang="en-US"/>
              </a:p>
            </p:txBody>
          </p:sp>
          <p:sp>
            <p:nvSpPr>
              <p:cNvPr id="6152" name="Freeform 9"/>
              <p:cNvSpPr>
                <a:spLocks/>
              </p:cNvSpPr>
              <p:nvPr/>
            </p:nvSpPr>
            <p:spPr bwMode="auto">
              <a:xfrm>
                <a:off x="1216" y="598"/>
                <a:ext cx="1797" cy="1032"/>
              </a:xfrm>
              <a:custGeom>
                <a:avLst/>
                <a:gdLst>
                  <a:gd name="T0" fmla="*/ 1256 w 1797"/>
                  <a:gd name="T1" fmla="*/ 0 h 1032"/>
                  <a:gd name="T2" fmla="*/ 1308 w 1797"/>
                  <a:gd name="T3" fmla="*/ 4 h 1032"/>
                  <a:gd name="T4" fmla="*/ 1338 w 1797"/>
                  <a:gd name="T5" fmla="*/ 55 h 1032"/>
                  <a:gd name="T6" fmla="*/ 1349 w 1797"/>
                  <a:gd name="T7" fmla="*/ 195 h 1032"/>
                  <a:gd name="T8" fmla="*/ 1356 w 1797"/>
                  <a:gd name="T9" fmla="*/ 397 h 1032"/>
                  <a:gd name="T10" fmla="*/ 1344 w 1797"/>
                  <a:gd name="T11" fmla="*/ 581 h 1032"/>
                  <a:gd name="T12" fmla="*/ 1338 w 1797"/>
                  <a:gd name="T13" fmla="*/ 811 h 1032"/>
                  <a:gd name="T14" fmla="*/ 1315 w 1797"/>
                  <a:gd name="T15" fmla="*/ 943 h 1032"/>
                  <a:gd name="T16" fmla="*/ 1308 w 1797"/>
                  <a:gd name="T17" fmla="*/ 1008 h 1032"/>
                  <a:gd name="T18" fmla="*/ 1796 w 1797"/>
                  <a:gd name="T19" fmla="*/ 1031 h 1032"/>
                  <a:gd name="T20" fmla="*/ 647 w 1797"/>
                  <a:gd name="T21" fmla="*/ 1031 h 1032"/>
                  <a:gd name="T22" fmla="*/ 670 w 1797"/>
                  <a:gd name="T23" fmla="*/ 984 h 1032"/>
                  <a:gd name="T24" fmla="*/ 681 w 1797"/>
                  <a:gd name="T25" fmla="*/ 923 h 1032"/>
                  <a:gd name="T26" fmla="*/ 495 w 1797"/>
                  <a:gd name="T27" fmla="*/ 908 h 1032"/>
                  <a:gd name="T28" fmla="*/ 434 w 1797"/>
                  <a:gd name="T29" fmla="*/ 864 h 1032"/>
                  <a:gd name="T30" fmla="*/ 495 w 1797"/>
                  <a:gd name="T31" fmla="*/ 793 h 1032"/>
                  <a:gd name="T32" fmla="*/ 499 w 1797"/>
                  <a:gd name="T33" fmla="*/ 722 h 1032"/>
                  <a:gd name="T34" fmla="*/ 121 w 1797"/>
                  <a:gd name="T35" fmla="*/ 674 h 1032"/>
                  <a:gd name="T36" fmla="*/ 0 w 1797"/>
                  <a:gd name="T37" fmla="*/ 573 h 1032"/>
                  <a:gd name="T38" fmla="*/ 0 w 1797"/>
                  <a:gd name="T39" fmla="*/ 516 h 1032"/>
                  <a:gd name="T40" fmla="*/ 49 w 1797"/>
                  <a:gd name="T41" fmla="*/ 491 h 1032"/>
                  <a:gd name="T42" fmla="*/ 29 w 1797"/>
                  <a:gd name="T43" fmla="*/ 473 h 1032"/>
                  <a:gd name="T44" fmla="*/ 128 w 1797"/>
                  <a:gd name="T45" fmla="*/ 375 h 1032"/>
                  <a:gd name="T46" fmla="*/ 72 w 1797"/>
                  <a:gd name="T47" fmla="*/ 277 h 1032"/>
                  <a:gd name="T48" fmla="*/ 113 w 1797"/>
                  <a:gd name="T49" fmla="*/ 205 h 1032"/>
                  <a:gd name="T50" fmla="*/ 168 w 1797"/>
                  <a:gd name="T51" fmla="*/ 192 h 1032"/>
                  <a:gd name="T52" fmla="*/ 193 w 1797"/>
                  <a:gd name="T53" fmla="*/ 156 h 1032"/>
                  <a:gd name="T54" fmla="*/ 308 w 1797"/>
                  <a:gd name="T55" fmla="*/ 138 h 1032"/>
                  <a:gd name="T56" fmla="*/ 488 w 1797"/>
                  <a:gd name="T57" fmla="*/ 68 h 1032"/>
                  <a:gd name="T58" fmla="*/ 712 w 1797"/>
                  <a:gd name="T59" fmla="*/ 30 h 1032"/>
                  <a:gd name="T60" fmla="*/ 1256 w 1797"/>
                  <a:gd name="T61" fmla="*/ 0 h 103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97"/>
                  <a:gd name="T94" fmla="*/ 0 h 1032"/>
                  <a:gd name="T95" fmla="*/ 1797 w 1797"/>
                  <a:gd name="T96" fmla="*/ 1032 h 103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97" h="1032">
                    <a:moveTo>
                      <a:pt x="1256" y="0"/>
                    </a:moveTo>
                    <a:lnTo>
                      <a:pt x="1308" y="4"/>
                    </a:lnTo>
                    <a:lnTo>
                      <a:pt x="1338" y="55"/>
                    </a:lnTo>
                    <a:lnTo>
                      <a:pt x="1349" y="195"/>
                    </a:lnTo>
                    <a:lnTo>
                      <a:pt x="1356" y="397"/>
                    </a:lnTo>
                    <a:lnTo>
                      <a:pt x="1344" y="581"/>
                    </a:lnTo>
                    <a:lnTo>
                      <a:pt x="1338" y="811"/>
                    </a:lnTo>
                    <a:lnTo>
                      <a:pt x="1315" y="943"/>
                    </a:lnTo>
                    <a:lnTo>
                      <a:pt x="1308" y="1008"/>
                    </a:lnTo>
                    <a:lnTo>
                      <a:pt x="1796" y="1031"/>
                    </a:lnTo>
                    <a:lnTo>
                      <a:pt x="647" y="1031"/>
                    </a:lnTo>
                    <a:lnTo>
                      <a:pt x="670" y="984"/>
                    </a:lnTo>
                    <a:lnTo>
                      <a:pt x="681" y="923"/>
                    </a:lnTo>
                    <a:lnTo>
                      <a:pt x="495" y="908"/>
                    </a:lnTo>
                    <a:lnTo>
                      <a:pt x="434" y="864"/>
                    </a:lnTo>
                    <a:lnTo>
                      <a:pt x="495" y="793"/>
                    </a:lnTo>
                    <a:lnTo>
                      <a:pt x="499" y="722"/>
                    </a:lnTo>
                    <a:lnTo>
                      <a:pt x="121" y="674"/>
                    </a:lnTo>
                    <a:lnTo>
                      <a:pt x="0" y="573"/>
                    </a:lnTo>
                    <a:lnTo>
                      <a:pt x="0" y="516"/>
                    </a:lnTo>
                    <a:lnTo>
                      <a:pt x="49" y="491"/>
                    </a:lnTo>
                    <a:lnTo>
                      <a:pt x="29" y="473"/>
                    </a:lnTo>
                    <a:lnTo>
                      <a:pt x="128" y="375"/>
                    </a:lnTo>
                    <a:lnTo>
                      <a:pt x="72" y="277"/>
                    </a:lnTo>
                    <a:lnTo>
                      <a:pt x="113" y="205"/>
                    </a:lnTo>
                    <a:lnTo>
                      <a:pt x="168" y="192"/>
                    </a:lnTo>
                    <a:lnTo>
                      <a:pt x="193" y="156"/>
                    </a:lnTo>
                    <a:lnTo>
                      <a:pt x="308" y="138"/>
                    </a:lnTo>
                    <a:lnTo>
                      <a:pt x="488" y="68"/>
                    </a:lnTo>
                    <a:lnTo>
                      <a:pt x="712" y="30"/>
                    </a:lnTo>
                    <a:lnTo>
                      <a:pt x="1256" y="0"/>
                    </a:lnTo>
                  </a:path>
                </a:pathLst>
              </a:custGeom>
              <a:solidFill>
                <a:srgbClr val="4C4C4C"/>
              </a:solidFill>
              <a:ln w="12700" cap="rnd">
                <a:solidFill>
                  <a:srgbClr val="4C4C4C"/>
                </a:solidFill>
                <a:round/>
                <a:headEnd/>
                <a:tailEnd/>
              </a:ln>
            </p:spPr>
            <p:txBody>
              <a:bodyPr/>
              <a:lstStyle/>
              <a:p>
                <a:endParaRPr lang="zh-CN" altLang="en-US"/>
              </a:p>
            </p:txBody>
          </p:sp>
          <p:sp>
            <p:nvSpPr>
              <p:cNvPr id="6153" name="Freeform 10"/>
              <p:cNvSpPr>
                <a:spLocks/>
              </p:cNvSpPr>
              <p:nvPr/>
            </p:nvSpPr>
            <p:spPr bwMode="auto">
              <a:xfrm>
                <a:off x="1953" y="665"/>
                <a:ext cx="607" cy="364"/>
              </a:xfrm>
              <a:custGeom>
                <a:avLst/>
                <a:gdLst>
                  <a:gd name="T0" fmla="*/ 523 w 607"/>
                  <a:gd name="T1" fmla="*/ 0 h 364"/>
                  <a:gd name="T2" fmla="*/ 563 w 607"/>
                  <a:gd name="T3" fmla="*/ 32 h 364"/>
                  <a:gd name="T4" fmla="*/ 599 w 607"/>
                  <a:gd name="T5" fmla="*/ 87 h 364"/>
                  <a:gd name="T6" fmla="*/ 606 w 607"/>
                  <a:gd name="T7" fmla="*/ 243 h 364"/>
                  <a:gd name="T8" fmla="*/ 577 w 607"/>
                  <a:gd name="T9" fmla="*/ 281 h 364"/>
                  <a:gd name="T10" fmla="*/ 478 w 607"/>
                  <a:gd name="T11" fmla="*/ 363 h 364"/>
                  <a:gd name="T12" fmla="*/ 310 w 607"/>
                  <a:gd name="T13" fmla="*/ 320 h 364"/>
                  <a:gd name="T14" fmla="*/ 195 w 607"/>
                  <a:gd name="T15" fmla="*/ 271 h 364"/>
                  <a:gd name="T16" fmla="*/ 105 w 607"/>
                  <a:gd name="T17" fmla="*/ 197 h 364"/>
                  <a:gd name="T18" fmla="*/ 52 w 607"/>
                  <a:gd name="T19" fmla="*/ 146 h 364"/>
                  <a:gd name="T20" fmla="*/ 11 w 607"/>
                  <a:gd name="T21" fmla="*/ 77 h 364"/>
                  <a:gd name="T22" fmla="*/ 0 w 607"/>
                  <a:gd name="T23" fmla="*/ 37 h 364"/>
                  <a:gd name="T24" fmla="*/ 523 w 607"/>
                  <a:gd name="T25" fmla="*/ 0 h 36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7"/>
                  <a:gd name="T40" fmla="*/ 0 h 364"/>
                  <a:gd name="T41" fmla="*/ 607 w 607"/>
                  <a:gd name="T42" fmla="*/ 364 h 36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7" h="364">
                    <a:moveTo>
                      <a:pt x="523" y="0"/>
                    </a:moveTo>
                    <a:lnTo>
                      <a:pt x="563" y="32"/>
                    </a:lnTo>
                    <a:lnTo>
                      <a:pt x="599" y="87"/>
                    </a:lnTo>
                    <a:lnTo>
                      <a:pt x="606" y="243"/>
                    </a:lnTo>
                    <a:lnTo>
                      <a:pt x="577" y="281"/>
                    </a:lnTo>
                    <a:lnTo>
                      <a:pt x="478" y="363"/>
                    </a:lnTo>
                    <a:lnTo>
                      <a:pt x="310" y="320"/>
                    </a:lnTo>
                    <a:lnTo>
                      <a:pt x="195" y="271"/>
                    </a:lnTo>
                    <a:lnTo>
                      <a:pt x="105" y="197"/>
                    </a:lnTo>
                    <a:lnTo>
                      <a:pt x="52" y="146"/>
                    </a:lnTo>
                    <a:lnTo>
                      <a:pt x="11" y="77"/>
                    </a:lnTo>
                    <a:lnTo>
                      <a:pt x="0" y="37"/>
                    </a:lnTo>
                    <a:lnTo>
                      <a:pt x="523" y="0"/>
                    </a:lnTo>
                  </a:path>
                </a:pathLst>
              </a:custGeom>
              <a:solidFill>
                <a:srgbClr val="FFFFFF"/>
              </a:solidFill>
              <a:ln w="12700" cap="rnd">
                <a:solidFill>
                  <a:srgbClr val="FFFFFF"/>
                </a:solidFill>
                <a:round/>
                <a:headEnd/>
                <a:tailEnd/>
              </a:ln>
            </p:spPr>
            <p:txBody>
              <a:bodyPr/>
              <a:lstStyle/>
              <a:p>
                <a:endParaRPr lang="zh-CN" altLang="en-US"/>
              </a:p>
            </p:txBody>
          </p:sp>
          <p:sp>
            <p:nvSpPr>
              <p:cNvPr id="6154" name="Freeform 11"/>
              <p:cNvSpPr>
                <a:spLocks/>
              </p:cNvSpPr>
              <p:nvPr/>
            </p:nvSpPr>
            <p:spPr bwMode="auto">
              <a:xfrm>
                <a:off x="2195" y="750"/>
                <a:ext cx="303" cy="284"/>
              </a:xfrm>
              <a:custGeom>
                <a:avLst/>
                <a:gdLst>
                  <a:gd name="T0" fmla="*/ 0 w 303"/>
                  <a:gd name="T1" fmla="*/ 16 h 284"/>
                  <a:gd name="T2" fmla="*/ 67 w 303"/>
                  <a:gd name="T3" fmla="*/ 0 h 284"/>
                  <a:gd name="T4" fmla="*/ 153 w 303"/>
                  <a:gd name="T5" fmla="*/ 5 h 284"/>
                  <a:gd name="T6" fmla="*/ 144 w 303"/>
                  <a:gd name="T7" fmla="*/ 81 h 284"/>
                  <a:gd name="T8" fmla="*/ 302 w 303"/>
                  <a:gd name="T9" fmla="*/ 233 h 284"/>
                  <a:gd name="T10" fmla="*/ 230 w 303"/>
                  <a:gd name="T11" fmla="*/ 283 h 284"/>
                  <a:gd name="T12" fmla="*/ 124 w 303"/>
                  <a:gd name="T13" fmla="*/ 238 h 284"/>
                  <a:gd name="T14" fmla="*/ 108 w 303"/>
                  <a:gd name="T15" fmla="*/ 80 h 284"/>
                  <a:gd name="T16" fmla="*/ 83 w 303"/>
                  <a:gd name="T17" fmla="*/ 80 h 284"/>
                  <a:gd name="T18" fmla="*/ 16 w 303"/>
                  <a:gd name="T19" fmla="*/ 30 h 284"/>
                  <a:gd name="T20" fmla="*/ 0 w 303"/>
                  <a:gd name="T21" fmla="*/ 16 h 2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03"/>
                  <a:gd name="T34" fmla="*/ 0 h 284"/>
                  <a:gd name="T35" fmla="*/ 303 w 303"/>
                  <a:gd name="T36" fmla="*/ 284 h 2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03" h="284">
                    <a:moveTo>
                      <a:pt x="0" y="16"/>
                    </a:moveTo>
                    <a:lnTo>
                      <a:pt x="67" y="0"/>
                    </a:lnTo>
                    <a:lnTo>
                      <a:pt x="153" y="5"/>
                    </a:lnTo>
                    <a:lnTo>
                      <a:pt x="144" y="81"/>
                    </a:lnTo>
                    <a:lnTo>
                      <a:pt x="302" y="233"/>
                    </a:lnTo>
                    <a:lnTo>
                      <a:pt x="230" y="283"/>
                    </a:lnTo>
                    <a:lnTo>
                      <a:pt x="124" y="238"/>
                    </a:lnTo>
                    <a:lnTo>
                      <a:pt x="108" y="80"/>
                    </a:lnTo>
                    <a:lnTo>
                      <a:pt x="83" y="80"/>
                    </a:lnTo>
                    <a:lnTo>
                      <a:pt x="16" y="30"/>
                    </a:lnTo>
                    <a:lnTo>
                      <a:pt x="0" y="16"/>
                    </a:lnTo>
                  </a:path>
                </a:pathLst>
              </a:custGeom>
              <a:solidFill>
                <a:srgbClr val="FFFF00"/>
              </a:solidFill>
              <a:ln w="12700" cap="rnd">
                <a:solidFill>
                  <a:srgbClr val="FFFF00"/>
                </a:solidFill>
                <a:round/>
                <a:headEnd/>
                <a:tailEnd/>
              </a:ln>
            </p:spPr>
            <p:txBody>
              <a:bodyPr/>
              <a:lstStyle/>
              <a:p>
                <a:endParaRPr lang="zh-CN" altLang="en-US"/>
              </a:p>
            </p:txBody>
          </p:sp>
          <p:sp>
            <p:nvSpPr>
              <p:cNvPr id="6155" name="Freeform 12"/>
              <p:cNvSpPr>
                <a:spLocks/>
              </p:cNvSpPr>
              <p:nvPr/>
            </p:nvSpPr>
            <p:spPr bwMode="auto">
              <a:xfrm>
                <a:off x="1833" y="962"/>
                <a:ext cx="700" cy="344"/>
              </a:xfrm>
              <a:custGeom>
                <a:avLst/>
                <a:gdLst>
                  <a:gd name="T0" fmla="*/ 213 w 700"/>
                  <a:gd name="T1" fmla="*/ 0 h 344"/>
                  <a:gd name="T2" fmla="*/ 247 w 700"/>
                  <a:gd name="T3" fmla="*/ 0 h 344"/>
                  <a:gd name="T4" fmla="*/ 304 w 700"/>
                  <a:gd name="T5" fmla="*/ 26 h 344"/>
                  <a:gd name="T6" fmla="*/ 315 w 700"/>
                  <a:gd name="T7" fmla="*/ 68 h 344"/>
                  <a:gd name="T8" fmla="*/ 286 w 700"/>
                  <a:gd name="T9" fmla="*/ 113 h 344"/>
                  <a:gd name="T10" fmla="*/ 286 w 700"/>
                  <a:gd name="T11" fmla="*/ 130 h 344"/>
                  <a:gd name="T12" fmla="*/ 315 w 700"/>
                  <a:gd name="T13" fmla="*/ 139 h 344"/>
                  <a:gd name="T14" fmla="*/ 636 w 700"/>
                  <a:gd name="T15" fmla="*/ 130 h 344"/>
                  <a:gd name="T16" fmla="*/ 699 w 700"/>
                  <a:gd name="T17" fmla="*/ 144 h 344"/>
                  <a:gd name="T18" fmla="*/ 699 w 700"/>
                  <a:gd name="T19" fmla="*/ 180 h 344"/>
                  <a:gd name="T20" fmla="*/ 670 w 700"/>
                  <a:gd name="T21" fmla="*/ 193 h 344"/>
                  <a:gd name="T22" fmla="*/ 490 w 700"/>
                  <a:gd name="T23" fmla="*/ 196 h 344"/>
                  <a:gd name="T24" fmla="*/ 382 w 700"/>
                  <a:gd name="T25" fmla="*/ 211 h 344"/>
                  <a:gd name="T26" fmla="*/ 359 w 700"/>
                  <a:gd name="T27" fmla="*/ 300 h 344"/>
                  <a:gd name="T28" fmla="*/ 312 w 700"/>
                  <a:gd name="T29" fmla="*/ 318 h 344"/>
                  <a:gd name="T30" fmla="*/ 301 w 700"/>
                  <a:gd name="T31" fmla="*/ 334 h 344"/>
                  <a:gd name="T32" fmla="*/ 256 w 700"/>
                  <a:gd name="T33" fmla="*/ 343 h 344"/>
                  <a:gd name="T34" fmla="*/ 139 w 700"/>
                  <a:gd name="T35" fmla="*/ 343 h 344"/>
                  <a:gd name="T36" fmla="*/ 20 w 700"/>
                  <a:gd name="T37" fmla="*/ 327 h 344"/>
                  <a:gd name="T38" fmla="*/ 0 w 700"/>
                  <a:gd name="T39" fmla="*/ 276 h 344"/>
                  <a:gd name="T40" fmla="*/ 16 w 700"/>
                  <a:gd name="T41" fmla="*/ 213 h 344"/>
                  <a:gd name="T42" fmla="*/ 68 w 700"/>
                  <a:gd name="T43" fmla="*/ 153 h 344"/>
                  <a:gd name="T44" fmla="*/ 121 w 700"/>
                  <a:gd name="T45" fmla="*/ 114 h 344"/>
                  <a:gd name="T46" fmla="*/ 198 w 700"/>
                  <a:gd name="T47" fmla="*/ 79 h 344"/>
                  <a:gd name="T48" fmla="*/ 213 w 700"/>
                  <a:gd name="T49" fmla="*/ 0 h 34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00"/>
                  <a:gd name="T76" fmla="*/ 0 h 344"/>
                  <a:gd name="T77" fmla="*/ 700 w 700"/>
                  <a:gd name="T78" fmla="*/ 344 h 34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00" h="344">
                    <a:moveTo>
                      <a:pt x="213" y="0"/>
                    </a:moveTo>
                    <a:lnTo>
                      <a:pt x="247" y="0"/>
                    </a:lnTo>
                    <a:lnTo>
                      <a:pt x="304" y="26"/>
                    </a:lnTo>
                    <a:lnTo>
                      <a:pt x="315" y="68"/>
                    </a:lnTo>
                    <a:lnTo>
                      <a:pt x="286" y="113"/>
                    </a:lnTo>
                    <a:lnTo>
                      <a:pt x="286" y="130"/>
                    </a:lnTo>
                    <a:lnTo>
                      <a:pt x="315" y="139"/>
                    </a:lnTo>
                    <a:lnTo>
                      <a:pt x="636" y="130"/>
                    </a:lnTo>
                    <a:lnTo>
                      <a:pt x="699" y="144"/>
                    </a:lnTo>
                    <a:lnTo>
                      <a:pt x="699" y="180"/>
                    </a:lnTo>
                    <a:lnTo>
                      <a:pt x="670" y="193"/>
                    </a:lnTo>
                    <a:lnTo>
                      <a:pt x="490" y="196"/>
                    </a:lnTo>
                    <a:lnTo>
                      <a:pt x="382" y="211"/>
                    </a:lnTo>
                    <a:lnTo>
                      <a:pt x="359" y="300"/>
                    </a:lnTo>
                    <a:lnTo>
                      <a:pt x="312" y="318"/>
                    </a:lnTo>
                    <a:lnTo>
                      <a:pt x="301" y="334"/>
                    </a:lnTo>
                    <a:lnTo>
                      <a:pt x="256" y="343"/>
                    </a:lnTo>
                    <a:lnTo>
                      <a:pt x="139" y="343"/>
                    </a:lnTo>
                    <a:lnTo>
                      <a:pt x="20" y="327"/>
                    </a:lnTo>
                    <a:lnTo>
                      <a:pt x="0" y="276"/>
                    </a:lnTo>
                    <a:lnTo>
                      <a:pt x="16" y="213"/>
                    </a:lnTo>
                    <a:lnTo>
                      <a:pt x="68" y="153"/>
                    </a:lnTo>
                    <a:lnTo>
                      <a:pt x="121" y="114"/>
                    </a:lnTo>
                    <a:lnTo>
                      <a:pt x="198" y="79"/>
                    </a:lnTo>
                    <a:lnTo>
                      <a:pt x="213" y="0"/>
                    </a:lnTo>
                  </a:path>
                </a:pathLst>
              </a:custGeom>
              <a:solidFill>
                <a:srgbClr val="FFC17F"/>
              </a:solidFill>
              <a:ln w="12700" cap="rnd">
                <a:solidFill>
                  <a:srgbClr val="FFC17F"/>
                </a:solidFill>
                <a:round/>
                <a:headEnd/>
                <a:tailEnd/>
              </a:ln>
            </p:spPr>
            <p:txBody>
              <a:bodyPr/>
              <a:lstStyle/>
              <a:p>
                <a:endParaRPr lang="zh-CN" altLang="en-US"/>
              </a:p>
            </p:txBody>
          </p:sp>
          <p:sp>
            <p:nvSpPr>
              <p:cNvPr id="6156" name="Freeform 13"/>
              <p:cNvSpPr>
                <a:spLocks/>
              </p:cNvSpPr>
              <p:nvPr/>
            </p:nvSpPr>
            <p:spPr bwMode="auto">
              <a:xfrm>
                <a:off x="3053" y="446"/>
                <a:ext cx="520" cy="151"/>
              </a:xfrm>
              <a:custGeom>
                <a:avLst/>
                <a:gdLst>
                  <a:gd name="T0" fmla="*/ 16 w 520"/>
                  <a:gd name="T1" fmla="*/ 57 h 151"/>
                  <a:gd name="T2" fmla="*/ 101 w 520"/>
                  <a:gd name="T3" fmla="*/ 47 h 151"/>
                  <a:gd name="T4" fmla="*/ 193 w 520"/>
                  <a:gd name="T5" fmla="*/ 43 h 151"/>
                  <a:gd name="T6" fmla="*/ 187 w 520"/>
                  <a:gd name="T7" fmla="*/ 66 h 151"/>
                  <a:gd name="T8" fmla="*/ 171 w 520"/>
                  <a:gd name="T9" fmla="*/ 113 h 151"/>
                  <a:gd name="T10" fmla="*/ 200 w 520"/>
                  <a:gd name="T11" fmla="*/ 141 h 151"/>
                  <a:gd name="T12" fmla="*/ 252 w 520"/>
                  <a:gd name="T13" fmla="*/ 150 h 151"/>
                  <a:gd name="T14" fmla="*/ 317 w 520"/>
                  <a:gd name="T15" fmla="*/ 133 h 151"/>
                  <a:gd name="T16" fmla="*/ 342 w 520"/>
                  <a:gd name="T17" fmla="*/ 120 h 151"/>
                  <a:gd name="T18" fmla="*/ 405 w 520"/>
                  <a:gd name="T19" fmla="*/ 124 h 151"/>
                  <a:gd name="T20" fmla="*/ 434 w 520"/>
                  <a:gd name="T21" fmla="*/ 115 h 151"/>
                  <a:gd name="T22" fmla="*/ 452 w 520"/>
                  <a:gd name="T23" fmla="*/ 93 h 151"/>
                  <a:gd name="T24" fmla="*/ 463 w 520"/>
                  <a:gd name="T25" fmla="*/ 86 h 151"/>
                  <a:gd name="T26" fmla="*/ 519 w 520"/>
                  <a:gd name="T27" fmla="*/ 61 h 151"/>
                  <a:gd name="T28" fmla="*/ 478 w 520"/>
                  <a:gd name="T29" fmla="*/ 12 h 151"/>
                  <a:gd name="T30" fmla="*/ 335 w 520"/>
                  <a:gd name="T31" fmla="*/ 0 h 151"/>
                  <a:gd name="T32" fmla="*/ 269 w 520"/>
                  <a:gd name="T33" fmla="*/ 7 h 151"/>
                  <a:gd name="T34" fmla="*/ 245 w 520"/>
                  <a:gd name="T35" fmla="*/ 0 h 151"/>
                  <a:gd name="T36" fmla="*/ 175 w 520"/>
                  <a:gd name="T37" fmla="*/ 7 h 151"/>
                  <a:gd name="T38" fmla="*/ 139 w 520"/>
                  <a:gd name="T39" fmla="*/ 26 h 151"/>
                  <a:gd name="T40" fmla="*/ 88 w 520"/>
                  <a:gd name="T41" fmla="*/ 7 h 151"/>
                  <a:gd name="T42" fmla="*/ 25 w 520"/>
                  <a:gd name="T43" fmla="*/ 6 h 151"/>
                  <a:gd name="T44" fmla="*/ 0 w 520"/>
                  <a:gd name="T45" fmla="*/ 13 h 151"/>
                  <a:gd name="T46" fmla="*/ 16 w 520"/>
                  <a:gd name="T47" fmla="*/ 57 h 15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20"/>
                  <a:gd name="T73" fmla="*/ 0 h 151"/>
                  <a:gd name="T74" fmla="*/ 520 w 520"/>
                  <a:gd name="T75" fmla="*/ 151 h 15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20" h="151">
                    <a:moveTo>
                      <a:pt x="16" y="57"/>
                    </a:moveTo>
                    <a:lnTo>
                      <a:pt x="101" y="47"/>
                    </a:lnTo>
                    <a:lnTo>
                      <a:pt x="193" y="43"/>
                    </a:lnTo>
                    <a:lnTo>
                      <a:pt x="187" y="66"/>
                    </a:lnTo>
                    <a:lnTo>
                      <a:pt x="171" y="113"/>
                    </a:lnTo>
                    <a:lnTo>
                      <a:pt x="200" y="141"/>
                    </a:lnTo>
                    <a:lnTo>
                      <a:pt x="252" y="150"/>
                    </a:lnTo>
                    <a:lnTo>
                      <a:pt x="317" y="133"/>
                    </a:lnTo>
                    <a:lnTo>
                      <a:pt x="342" y="120"/>
                    </a:lnTo>
                    <a:lnTo>
                      <a:pt x="405" y="124"/>
                    </a:lnTo>
                    <a:lnTo>
                      <a:pt x="434" y="115"/>
                    </a:lnTo>
                    <a:lnTo>
                      <a:pt x="452" y="93"/>
                    </a:lnTo>
                    <a:lnTo>
                      <a:pt x="463" y="86"/>
                    </a:lnTo>
                    <a:lnTo>
                      <a:pt x="519" y="61"/>
                    </a:lnTo>
                    <a:lnTo>
                      <a:pt x="478" y="12"/>
                    </a:lnTo>
                    <a:lnTo>
                      <a:pt x="335" y="0"/>
                    </a:lnTo>
                    <a:lnTo>
                      <a:pt x="269" y="7"/>
                    </a:lnTo>
                    <a:lnTo>
                      <a:pt x="245" y="0"/>
                    </a:lnTo>
                    <a:lnTo>
                      <a:pt x="175" y="7"/>
                    </a:lnTo>
                    <a:lnTo>
                      <a:pt x="139" y="26"/>
                    </a:lnTo>
                    <a:lnTo>
                      <a:pt x="88" y="7"/>
                    </a:lnTo>
                    <a:lnTo>
                      <a:pt x="25" y="6"/>
                    </a:lnTo>
                    <a:lnTo>
                      <a:pt x="0" y="13"/>
                    </a:lnTo>
                    <a:lnTo>
                      <a:pt x="16" y="57"/>
                    </a:lnTo>
                  </a:path>
                </a:pathLst>
              </a:custGeom>
              <a:solidFill>
                <a:srgbClr val="FFC17F"/>
              </a:solidFill>
              <a:ln w="12700" cap="rnd">
                <a:solidFill>
                  <a:srgbClr val="FFC17F"/>
                </a:solidFill>
                <a:round/>
                <a:headEnd/>
                <a:tailEnd/>
              </a:ln>
            </p:spPr>
            <p:txBody>
              <a:bodyPr/>
              <a:lstStyle/>
              <a:p>
                <a:endParaRPr lang="zh-CN" altLang="en-US"/>
              </a:p>
            </p:txBody>
          </p:sp>
          <p:sp>
            <p:nvSpPr>
              <p:cNvPr id="6157" name="Freeform 14"/>
              <p:cNvSpPr>
                <a:spLocks/>
              </p:cNvSpPr>
              <p:nvPr/>
            </p:nvSpPr>
            <p:spPr bwMode="auto">
              <a:xfrm>
                <a:off x="1699" y="249"/>
                <a:ext cx="856" cy="508"/>
              </a:xfrm>
              <a:custGeom>
                <a:avLst/>
                <a:gdLst>
                  <a:gd name="T0" fmla="*/ 7 w 856"/>
                  <a:gd name="T1" fmla="*/ 183 h 508"/>
                  <a:gd name="T2" fmla="*/ 49 w 856"/>
                  <a:gd name="T3" fmla="*/ 167 h 508"/>
                  <a:gd name="T4" fmla="*/ 95 w 856"/>
                  <a:gd name="T5" fmla="*/ 52 h 508"/>
                  <a:gd name="T6" fmla="*/ 128 w 856"/>
                  <a:gd name="T7" fmla="*/ 32 h 508"/>
                  <a:gd name="T8" fmla="*/ 583 w 856"/>
                  <a:gd name="T9" fmla="*/ 0 h 508"/>
                  <a:gd name="T10" fmla="*/ 722 w 856"/>
                  <a:gd name="T11" fmla="*/ 127 h 508"/>
                  <a:gd name="T12" fmla="*/ 733 w 856"/>
                  <a:gd name="T13" fmla="*/ 159 h 508"/>
                  <a:gd name="T14" fmla="*/ 810 w 856"/>
                  <a:gd name="T15" fmla="*/ 162 h 508"/>
                  <a:gd name="T16" fmla="*/ 850 w 856"/>
                  <a:gd name="T17" fmla="*/ 187 h 508"/>
                  <a:gd name="T18" fmla="*/ 855 w 856"/>
                  <a:gd name="T19" fmla="*/ 223 h 508"/>
                  <a:gd name="T20" fmla="*/ 774 w 856"/>
                  <a:gd name="T21" fmla="*/ 264 h 508"/>
                  <a:gd name="T22" fmla="*/ 778 w 856"/>
                  <a:gd name="T23" fmla="*/ 384 h 508"/>
                  <a:gd name="T24" fmla="*/ 736 w 856"/>
                  <a:gd name="T25" fmla="*/ 446 h 508"/>
                  <a:gd name="T26" fmla="*/ 626 w 856"/>
                  <a:gd name="T27" fmla="*/ 480 h 508"/>
                  <a:gd name="T28" fmla="*/ 592 w 856"/>
                  <a:gd name="T29" fmla="*/ 499 h 508"/>
                  <a:gd name="T30" fmla="*/ 520 w 856"/>
                  <a:gd name="T31" fmla="*/ 507 h 508"/>
                  <a:gd name="T32" fmla="*/ 499 w 856"/>
                  <a:gd name="T33" fmla="*/ 499 h 508"/>
                  <a:gd name="T34" fmla="*/ 473 w 856"/>
                  <a:gd name="T35" fmla="*/ 507 h 508"/>
                  <a:gd name="T36" fmla="*/ 412 w 856"/>
                  <a:gd name="T37" fmla="*/ 493 h 508"/>
                  <a:gd name="T38" fmla="*/ 376 w 856"/>
                  <a:gd name="T39" fmla="*/ 480 h 508"/>
                  <a:gd name="T40" fmla="*/ 320 w 856"/>
                  <a:gd name="T41" fmla="*/ 474 h 508"/>
                  <a:gd name="T42" fmla="*/ 243 w 856"/>
                  <a:gd name="T43" fmla="*/ 447 h 508"/>
                  <a:gd name="T44" fmla="*/ 207 w 856"/>
                  <a:gd name="T45" fmla="*/ 426 h 508"/>
                  <a:gd name="T46" fmla="*/ 175 w 856"/>
                  <a:gd name="T47" fmla="*/ 370 h 508"/>
                  <a:gd name="T48" fmla="*/ 144 w 856"/>
                  <a:gd name="T49" fmla="*/ 266 h 508"/>
                  <a:gd name="T50" fmla="*/ 86 w 856"/>
                  <a:gd name="T51" fmla="*/ 276 h 508"/>
                  <a:gd name="T52" fmla="*/ 43 w 856"/>
                  <a:gd name="T53" fmla="*/ 264 h 508"/>
                  <a:gd name="T54" fmla="*/ 0 w 856"/>
                  <a:gd name="T55" fmla="*/ 210 h 508"/>
                  <a:gd name="T56" fmla="*/ 7 w 856"/>
                  <a:gd name="T57" fmla="*/ 183 h 50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56"/>
                  <a:gd name="T88" fmla="*/ 0 h 508"/>
                  <a:gd name="T89" fmla="*/ 856 w 856"/>
                  <a:gd name="T90" fmla="*/ 508 h 50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56" h="508">
                    <a:moveTo>
                      <a:pt x="7" y="183"/>
                    </a:moveTo>
                    <a:lnTo>
                      <a:pt x="49" y="167"/>
                    </a:lnTo>
                    <a:lnTo>
                      <a:pt x="95" y="52"/>
                    </a:lnTo>
                    <a:lnTo>
                      <a:pt x="128" y="32"/>
                    </a:lnTo>
                    <a:lnTo>
                      <a:pt x="583" y="0"/>
                    </a:lnTo>
                    <a:lnTo>
                      <a:pt x="722" y="127"/>
                    </a:lnTo>
                    <a:lnTo>
                      <a:pt x="733" y="159"/>
                    </a:lnTo>
                    <a:lnTo>
                      <a:pt x="810" y="162"/>
                    </a:lnTo>
                    <a:lnTo>
                      <a:pt x="850" y="187"/>
                    </a:lnTo>
                    <a:lnTo>
                      <a:pt x="855" y="223"/>
                    </a:lnTo>
                    <a:lnTo>
                      <a:pt x="774" y="264"/>
                    </a:lnTo>
                    <a:lnTo>
                      <a:pt x="778" y="384"/>
                    </a:lnTo>
                    <a:lnTo>
                      <a:pt x="736" y="446"/>
                    </a:lnTo>
                    <a:lnTo>
                      <a:pt x="626" y="480"/>
                    </a:lnTo>
                    <a:lnTo>
                      <a:pt x="592" y="499"/>
                    </a:lnTo>
                    <a:lnTo>
                      <a:pt x="520" y="507"/>
                    </a:lnTo>
                    <a:lnTo>
                      <a:pt x="499" y="499"/>
                    </a:lnTo>
                    <a:lnTo>
                      <a:pt x="473" y="507"/>
                    </a:lnTo>
                    <a:lnTo>
                      <a:pt x="412" y="493"/>
                    </a:lnTo>
                    <a:lnTo>
                      <a:pt x="376" y="480"/>
                    </a:lnTo>
                    <a:lnTo>
                      <a:pt x="320" y="474"/>
                    </a:lnTo>
                    <a:lnTo>
                      <a:pt x="243" y="447"/>
                    </a:lnTo>
                    <a:lnTo>
                      <a:pt x="207" y="426"/>
                    </a:lnTo>
                    <a:lnTo>
                      <a:pt x="175" y="370"/>
                    </a:lnTo>
                    <a:lnTo>
                      <a:pt x="144" y="266"/>
                    </a:lnTo>
                    <a:lnTo>
                      <a:pt x="86" y="276"/>
                    </a:lnTo>
                    <a:lnTo>
                      <a:pt x="43" y="264"/>
                    </a:lnTo>
                    <a:lnTo>
                      <a:pt x="0" y="210"/>
                    </a:lnTo>
                    <a:lnTo>
                      <a:pt x="7" y="183"/>
                    </a:lnTo>
                  </a:path>
                </a:pathLst>
              </a:custGeom>
              <a:solidFill>
                <a:srgbClr val="FFC17F"/>
              </a:solidFill>
              <a:ln w="12700" cap="rnd">
                <a:solidFill>
                  <a:srgbClr val="FFC17F"/>
                </a:solidFill>
                <a:round/>
                <a:headEnd/>
                <a:tailEnd/>
              </a:ln>
            </p:spPr>
            <p:txBody>
              <a:bodyPr/>
              <a:lstStyle/>
              <a:p>
                <a:endParaRPr lang="zh-CN" altLang="en-US"/>
              </a:p>
            </p:txBody>
          </p:sp>
          <p:sp>
            <p:nvSpPr>
              <p:cNvPr id="6158" name="Freeform 15"/>
              <p:cNvSpPr>
                <a:spLocks/>
              </p:cNvSpPr>
              <p:nvPr/>
            </p:nvSpPr>
            <p:spPr bwMode="auto">
              <a:xfrm>
                <a:off x="2281" y="255"/>
                <a:ext cx="156" cy="122"/>
              </a:xfrm>
              <a:custGeom>
                <a:avLst/>
                <a:gdLst>
                  <a:gd name="T0" fmla="*/ 7 w 156"/>
                  <a:gd name="T1" fmla="*/ 0 h 122"/>
                  <a:gd name="T2" fmla="*/ 0 w 156"/>
                  <a:gd name="T3" fmla="*/ 43 h 122"/>
                  <a:gd name="T4" fmla="*/ 16 w 156"/>
                  <a:gd name="T5" fmla="*/ 78 h 122"/>
                  <a:gd name="T6" fmla="*/ 155 w 156"/>
                  <a:gd name="T7" fmla="*/ 121 h 122"/>
                  <a:gd name="T8" fmla="*/ 133 w 156"/>
                  <a:gd name="T9" fmla="*/ 49 h 122"/>
                  <a:gd name="T10" fmla="*/ 96 w 156"/>
                  <a:gd name="T11" fmla="*/ 20 h 122"/>
                  <a:gd name="T12" fmla="*/ 7 w 156"/>
                  <a:gd name="T13" fmla="*/ 0 h 122"/>
                  <a:gd name="T14" fmla="*/ 0 60000 65536"/>
                  <a:gd name="T15" fmla="*/ 0 60000 65536"/>
                  <a:gd name="T16" fmla="*/ 0 60000 65536"/>
                  <a:gd name="T17" fmla="*/ 0 60000 65536"/>
                  <a:gd name="T18" fmla="*/ 0 60000 65536"/>
                  <a:gd name="T19" fmla="*/ 0 60000 65536"/>
                  <a:gd name="T20" fmla="*/ 0 60000 65536"/>
                  <a:gd name="T21" fmla="*/ 0 w 156"/>
                  <a:gd name="T22" fmla="*/ 0 h 122"/>
                  <a:gd name="T23" fmla="*/ 156 w 156"/>
                  <a:gd name="T24" fmla="*/ 122 h 1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6" h="122">
                    <a:moveTo>
                      <a:pt x="7" y="0"/>
                    </a:moveTo>
                    <a:lnTo>
                      <a:pt x="0" y="43"/>
                    </a:lnTo>
                    <a:lnTo>
                      <a:pt x="16" y="78"/>
                    </a:lnTo>
                    <a:lnTo>
                      <a:pt x="155" y="121"/>
                    </a:lnTo>
                    <a:lnTo>
                      <a:pt x="133" y="49"/>
                    </a:lnTo>
                    <a:lnTo>
                      <a:pt x="96" y="20"/>
                    </a:lnTo>
                    <a:lnTo>
                      <a:pt x="7" y="0"/>
                    </a:lnTo>
                  </a:path>
                </a:pathLst>
              </a:custGeom>
              <a:solidFill>
                <a:srgbClr val="601E00"/>
              </a:solidFill>
              <a:ln w="12700" cap="rnd">
                <a:solidFill>
                  <a:srgbClr val="601E00"/>
                </a:solidFill>
                <a:round/>
                <a:headEnd/>
                <a:tailEnd/>
              </a:ln>
            </p:spPr>
            <p:txBody>
              <a:bodyPr/>
              <a:lstStyle/>
              <a:p>
                <a:endParaRPr lang="zh-CN" altLang="en-US"/>
              </a:p>
            </p:txBody>
          </p:sp>
          <p:sp>
            <p:nvSpPr>
              <p:cNvPr id="6159" name="Freeform 16"/>
              <p:cNvSpPr>
                <a:spLocks/>
              </p:cNvSpPr>
              <p:nvPr/>
            </p:nvSpPr>
            <p:spPr bwMode="auto">
              <a:xfrm>
                <a:off x="1830" y="199"/>
                <a:ext cx="454" cy="80"/>
              </a:xfrm>
              <a:custGeom>
                <a:avLst/>
                <a:gdLst>
                  <a:gd name="T0" fmla="*/ 0 w 454"/>
                  <a:gd name="T1" fmla="*/ 79 h 80"/>
                  <a:gd name="T2" fmla="*/ 70 w 454"/>
                  <a:gd name="T3" fmla="*/ 13 h 80"/>
                  <a:gd name="T4" fmla="*/ 146 w 454"/>
                  <a:gd name="T5" fmla="*/ 0 h 80"/>
                  <a:gd name="T6" fmla="*/ 325 w 454"/>
                  <a:gd name="T7" fmla="*/ 0 h 80"/>
                  <a:gd name="T8" fmla="*/ 408 w 454"/>
                  <a:gd name="T9" fmla="*/ 10 h 80"/>
                  <a:gd name="T10" fmla="*/ 453 w 454"/>
                  <a:gd name="T11" fmla="*/ 35 h 80"/>
                  <a:gd name="T12" fmla="*/ 101 w 454"/>
                  <a:gd name="T13" fmla="*/ 79 h 80"/>
                  <a:gd name="T14" fmla="*/ 0 w 454"/>
                  <a:gd name="T15" fmla="*/ 79 h 80"/>
                  <a:gd name="T16" fmla="*/ 0 60000 65536"/>
                  <a:gd name="T17" fmla="*/ 0 60000 65536"/>
                  <a:gd name="T18" fmla="*/ 0 60000 65536"/>
                  <a:gd name="T19" fmla="*/ 0 60000 65536"/>
                  <a:gd name="T20" fmla="*/ 0 60000 65536"/>
                  <a:gd name="T21" fmla="*/ 0 60000 65536"/>
                  <a:gd name="T22" fmla="*/ 0 60000 65536"/>
                  <a:gd name="T23" fmla="*/ 0 60000 65536"/>
                  <a:gd name="T24" fmla="*/ 0 w 454"/>
                  <a:gd name="T25" fmla="*/ 0 h 80"/>
                  <a:gd name="T26" fmla="*/ 454 w 454"/>
                  <a:gd name="T27" fmla="*/ 80 h 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54" h="80">
                    <a:moveTo>
                      <a:pt x="0" y="79"/>
                    </a:moveTo>
                    <a:lnTo>
                      <a:pt x="70" y="13"/>
                    </a:lnTo>
                    <a:lnTo>
                      <a:pt x="146" y="0"/>
                    </a:lnTo>
                    <a:lnTo>
                      <a:pt x="325" y="0"/>
                    </a:lnTo>
                    <a:lnTo>
                      <a:pt x="408" y="10"/>
                    </a:lnTo>
                    <a:lnTo>
                      <a:pt x="453" y="35"/>
                    </a:lnTo>
                    <a:lnTo>
                      <a:pt x="101" y="79"/>
                    </a:lnTo>
                    <a:lnTo>
                      <a:pt x="0" y="79"/>
                    </a:lnTo>
                  </a:path>
                </a:pathLst>
              </a:custGeom>
              <a:solidFill>
                <a:srgbClr val="601E00"/>
              </a:solidFill>
              <a:ln w="12700" cap="rnd">
                <a:solidFill>
                  <a:srgbClr val="601E00"/>
                </a:solidFill>
                <a:round/>
                <a:headEnd/>
                <a:tailEnd/>
              </a:ln>
            </p:spPr>
            <p:txBody>
              <a:bodyPr/>
              <a:lstStyle/>
              <a:p>
                <a:endParaRPr lang="zh-CN" altLang="en-US"/>
              </a:p>
            </p:txBody>
          </p:sp>
          <p:sp>
            <p:nvSpPr>
              <p:cNvPr id="6160" name="Freeform 17"/>
              <p:cNvSpPr>
                <a:spLocks/>
              </p:cNvSpPr>
              <p:nvPr/>
            </p:nvSpPr>
            <p:spPr bwMode="auto">
              <a:xfrm>
                <a:off x="2031" y="566"/>
                <a:ext cx="253" cy="57"/>
              </a:xfrm>
              <a:custGeom>
                <a:avLst/>
                <a:gdLst>
                  <a:gd name="T0" fmla="*/ 0 w 253"/>
                  <a:gd name="T1" fmla="*/ 2 h 57"/>
                  <a:gd name="T2" fmla="*/ 23 w 253"/>
                  <a:gd name="T3" fmla="*/ 22 h 57"/>
                  <a:gd name="T4" fmla="*/ 49 w 253"/>
                  <a:gd name="T5" fmla="*/ 49 h 57"/>
                  <a:gd name="T6" fmla="*/ 85 w 253"/>
                  <a:gd name="T7" fmla="*/ 56 h 57"/>
                  <a:gd name="T8" fmla="*/ 173 w 253"/>
                  <a:gd name="T9" fmla="*/ 56 h 57"/>
                  <a:gd name="T10" fmla="*/ 189 w 253"/>
                  <a:gd name="T11" fmla="*/ 49 h 57"/>
                  <a:gd name="T12" fmla="*/ 252 w 253"/>
                  <a:gd name="T13" fmla="*/ 0 h 57"/>
                  <a:gd name="T14" fmla="*/ 119 w 253"/>
                  <a:gd name="T15" fmla="*/ 17 h 57"/>
                  <a:gd name="T16" fmla="*/ 58 w 253"/>
                  <a:gd name="T17" fmla="*/ 17 h 57"/>
                  <a:gd name="T18" fmla="*/ 23 w 253"/>
                  <a:gd name="T19" fmla="*/ 8 h 57"/>
                  <a:gd name="T20" fmla="*/ 0 w 253"/>
                  <a:gd name="T21" fmla="*/ 2 h 5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3"/>
                  <a:gd name="T34" fmla="*/ 0 h 57"/>
                  <a:gd name="T35" fmla="*/ 253 w 253"/>
                  <a:gd name="T36" fmla="*/ 57 h 5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3" h="57">
                    <a:moveTo>
                      <a:pt x="0" y="2"/>
                    </a:moveTo>
                    <a:lnTo>
                      <a:pt x="23" y="22"/>
                    </a:lnTo>
                    <a:lnTo>
                      <a:pt x="49" y="49"/>
                    </a:lnTo>
                    <a:lnTo>
                      <a:pt x="85" y="56"/>
                    </a:lnTo>
                    <a:lnTo>
                      <a:pt x="173" y="56"/>
                    </a:lnTo>
                    <a:lnTo>
                      <a:pt x="189" y="49"/>
                    </a:lnTo>
                    <a:lnTo>
                      <a:pt x="252" y="0"/>
                    </a:lnTo>
                    <a:lnTo>
                      <a:pt x="119" y="17"/>
                    </a:lnTo>
                    <a:lnTo>
                      <a:pt x="58" y="17"/>
                    </a:lnTo>
                    <a:lnTo>
                      <a:pt x="23" y="8"/>
                    </a:lnTo>
                    <a:lnTo>
                      <a:pt x="0" y="2"/>
                    </a:lnTo>
                  </a:path>
                </a:pathLst>
              </a:custGeom>
              <a:solidFill>
                <a:srgbClr val="FFFFFF"/>
              </a:solidFill>
              <a:ln w="12700" cap="rnd">
                <a:solidFill>
                  <a:srgbClr val="FFFFFF"/>
                </a:solidFill>
                <a:round/>
                <a:headEnd/>
                <a:tailEnd/>
              </a:ln>
            </p:spPr>
            <p:txBody>
              <a:bodyPr/>
              <a:lstStyle/>
              <a:p>
                <a:endParaRPr lang="zh-CN" altLang="en-US"/>
              </a:p>
            </p:txBody>
          </p:sp>
          <p:sp>
            <p:nvSpPr>
              <p:cNvPr id="6161" name="Freeform 18"/>
              <p:cNvSpPr>
                <a:spLocks/>
              </p:cNvSpPr>
              <p:nvPr/>
            </p:nvSpPr>
            <p:spPr bwMode="auto">
              <a:xfrm>
                <a:off x="1698" y="194"/>
                <a:ext cx="744" cy="276"/>
              </a:xfrm>
              <a:custGeom>
                <a:avLst/>
                <a:gdLst>
                  <a:gd name="T0" fmla="*/ 131 w 744"/>
                  <a:gd name="T1" fmla="*/ 92 h 276"/>
                  <a:gd name="T2" fmla="*/ 252 w 744"/>
                  <a:gd name="T3" fmla="*/ 95 h 276"/>
                  <a:gd name="T4" fmla="*/ 392 w 744"/>
                  <a:gd name="T5" fmla="*/ 89 h 276"/>
                  <a:gd name="T6" fmla="*/ 498 w 744"/>
                  <a:gd name="T7" fmla="*/ 78 h 276"/>
                  <a:gd name="T8" fmla="*/ 572 w 744"/>
                  <a:gd name="T9" fmla="*/ 63 h 276"/>
                  <a:gd name="T10" fmla="*/ 565 w 744"/>
                  <a:gd name="T11" fmla="*/ 98 h 276"/>
                  <a:gd name="T12" fmla="*/ 576 w 744"/>
                  <a:gd name="T13" fmla="*/ 128 h 276"/>
                  <a:gd name="T14" fmla="*/ 608 w 744"/>
                  <a:gd name="T15" fmla="*/ 148 h 276"/>
                  <a:gd name="T16" fmla="*/ 662 w 744"/>
                  <a:gd name="T17" fmla="*/ 162 h 276"/>
                  <a:gd name="T18" fmla="*/ 702 w 744"/>
                  <a:gd name="T19" fmla="*/ 188 h 276"/>
                  <a:gd name="T20" fmla="*/ 716 w 744"/>
                  <a:gd name="T21" fmla="*/ 232 h 276"/>
                  <a:gd name="T22" fmla="*/ 743 w 744"/>
                  <a:gd name="T23" fmla="*/ 232 h 276"/>
                  <a:gd name="T24" fmla="*/ 736 w 744"/>
                  <a:gd name="T25" fmla="*/ 208 h 276"/>
                  <a:gd name="T26" fmla="*/ 729 w 744"/>
                  <a:gd name="T27" fmla="*/ 162 h 276"/>
                  <a:gd name="T28" fmla="*/ 707 w 744"/>
                  <a:gd name="T29" fmla="*/ 112 h 276"/>
                  <a:gd name="T30" fmla="*/ 716 w 744"/>
                  <a:gd name="T31" fmla="*/ 167 h 276"/>
                  <a:gd name="T32" fmla="*/ 644 w 744"/>
                  <a:gd name="T33" fmla="*/ 147 h 276"/>
                  <a:gd name="T34" fmla="*/ 599 w 744"/>
                  <a:gd name="T35" fmla="*/ 127 h 276"/>
                  <a:gd name="T36" fmla="*/ 585 w 744"/>
                  <a:gd name="T37" fmla="*/ 107 h 276"/>
                  <a:gd name="T38" fmla="*/ 579 w 744"/>
                  <a:gd name="T39" fmla="*/ 88 h 276"/>
                  <a:gd name="T40" fmla="*/ 624 w 744"/>
                  <a:gd name="T41" fmla="*/ 112 h 276"/>
                  <a:gd name="T42" fmla="*/ 579 w 744"/>
                  <a:gd name="T43" fmla="*/ 68 h 276"/>
                  <a:gd name="T44" fmla="*/ 613 w 744"/>
                  <a:gd name="T45" fmla="*/ 72 h 276"/>
                  <a:gd name="T46" fmla="*/ 673 w 744"/>
                  <a:gd name="T47" fmla="*/ 84 h 276"/>
                  <a:gd name="T48" fmla="*/ 702 w 744"/>
                  <a:gd name="T49" fmla="*/ 102 h 276"/>
                  <a:gd name="T50" fmla="*/ 673 w 744"/>
                  <a:gd name="T51" fmla="*/ 75 h 276"/>
                  <a:gd name="T52" fmla="*/ 594 w 744"/>
                  <a:gd name="T53" fmla="*/ 41 h 276"/>
                  <a:gd name="T54" fmla="*/ 549 w 744"/>
                  <a:gd name="T55" fmla="*/ 13 h 276"/>
                  <a:gd name="T56" fmla="*/ 446 w 744"/>
                  <a:gd name="T57" fmla="*/ 0 h 276"/>
                  <a:gd name="T58" fmla="*/ 335 w 744"/>
                  <a:gd name="T59" fmla="*/ 3 h 276"/>
                  <a:gd name="T60" fmla="*/ 419 w 744"/>
                  <a:gd name="T61" fmla="*/ 4 h 276"/>
                  <a:gd name="T62" fmla="*/ 507 w 744"/>
                  <a:gd name="T63" fmla="*/ 13 h 276"/>
                  <a:gd name="T64" fmla="*/ 552 w 744"/>
                  <a:gd name="T65" fmla="*/ 27 h 276"/>
                  <a:gd name="T66" fmla="*/ 461 w 744"/>
                  <a:gd name="T67" fmla="*/ 23 h 276"/>
                  <a:gd name="T68" fmla="*/ 353 w 744"/>
                  <a:gd name="T69" fmla="*/ 33 h 276"/>
                  <a:gd name="T70" fmla="*/ 255 w 744"/>
                  <a:gd name="T71" fmla="*/ 53 h 276"/>
                  <a:gd name="T72" fmla="*/ 270 w 744"/>
                  <a:gd name="T73" fmla="*/ 33 h 276"/>
                  <a:gd name="T74" fmla="*/ 219 w 744"/>
                  <a:gd name="T75" fmla="*/ 43 h 276"/>
                  <a:gd name="T76" fmla="*/ 178 w 744"/>
                  <a:gd name="T77" fmla="*/ 65 h 276"/>
                  <a:gd name="T78" fmla="*/ 184 w 744"/>
                  <a:gd name="T79" fmla="*/ 43 h 276"/>
                  <a:gd name="T80" fmla="*/ 203 w 744"/>
                  <a:gd name="T81" fmla="*/ 18 h 276"/>
                  <a:gd name="T82" fmla="*/ 270 w 744"/>
                  <a:gd name="T83" fmla="*/ 3 h 276"/>
                  <a:gd name="T84" fmla="*/ 184 w 744"/>
                  <a:gd name="T85" fmla="*/ 18 h 276"/>
                  <a:gd name="T86" fmla="*/ 131 w 744"/>
                  <a:gd name="T87" fmla="*/ 52 h 276"/>
                  <a:gd name="T88" fmla="*/ 104 w 744"/>
                  <a:gd name="T89" fmla="*/ 89 h 276"/>
                  <a:gd name="T90" fmla="*/ 22 w 744"/>
                  <a:gd name="T91" fmla="*/ 124 h 276"/>
                  <a:gd name="T92" fmla="*/ 0 w 744"/>
                  <a:gd name="T93" fmla="*/ 155 h 276"/>
                  <a:gd name="T94" fmla="*/ 2 w 744"/>
                  <a:gd name="T95" fmla="*/ 198 h 276"/>
                  <a:gd name="T96" fmla="*/ 32 w 744"/>
                  <a:gd name="T97" fmla="*/ 226 h 276"/>
                  <a:gd name="T98" fmla="*/ 77 w 744"/>
                  <a:gd name="T99" fmla="*/ 237 h 276"/>
                  <a:gd name="T100" fmla="*/ 117 w 744"/>
                  <a:gd name="T101" fmla="*/ 275 h 276"/>
                  <a:gd name="T102" fmla="*/ 117 w 744"/>
                  <a:gd name="T103" fmla="*/ 256 h 276"/>
                  <a:gd name="T104" fmla="*/ 108 w 744"/>
                  <a:gd name="T105" fmla="*/ 209 h 276"/>
                  <a:gd name="T106" fmla="*/ 101 w 744"/>
                  <a:gd name="T107" fmla="*/ 112 h 276"/>
                  <a:gd name="T108" fmla="*/ 117 w 744"/>
                  <a:gd name="T109" fmla="*/ 94 h 276"/>
                  <a:gd name="T110" fmla="*/ 131 w 744"/>
                  <a:gd name="T111" fmla="*/ 92 h 27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44"/>
                  <a:gd name="T169" fmla="*/ 0 h 276"/>
                  <a:gd name="T170" fmla="*/ 744 w 744"/>
                  <a:gd name="T171" fmla="*/ 276 h 27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44" h="276">
                    <a:moveTo>
                      <a:pt x="131" y="92"/>
                    </a:moveTo>
                    <a:lnTo>
                      <a:pt x="252" y="95"/>
                    </a:lnTo>
                    <a:lnTo>
                      <a:pt x="392" y="89"/>
                    </a:lnTo>
                    <a:lnTo>
                      <a:pt x="498" y="78"/>
                    </a:lnTo>
                    <a:lnTo>
                      <a:pt x="572" y="63"/>
                    </a:lnTo>
                    <a:lnTo>
                      <a:pt x="565" y="98"/>
                    </a:lnTo>
                    <a:lnTo>
                      <a:pt x="576" y="128"/>
                    </a:lnTo>
                    <a:lnTo>
                      <a:pt x="608" y="148"/>
                    </a:lnTo>
                    <a:lnTo>
                      <a:pt x="662" y="162"/>
                    </a:lnTo>
                    <a:lnTo>
                      <a:pt x="702" y="188"/>
                    </a:lnTo>
                    <a:lnTo>
                      <a:pt x="716" y="232"/>
                    </a:lnTo>
                    <a:lnTo>
                      <a:pt x="743" y="232"/>
                    </a:lnTo>
                    <a:lnTo>
                      <a:pt x="736" y="208"/>
                    </a:lnTo>
                    <a:lnTo>
                      <a:pt x="729" y="162"/>
                    </a:lnTo>
                    <a:lnTo>
                      <a:pt x="707" y="112"/>
                    </a:lnTo>
                    <a:lnTo>
                      <a:pt x="716" y="167"/>
                    </a:lnTo>
                    <a:lnTo>
                      <a:pt x="644" y="147"/>
                    </a:lnTo>
                    <a:lnTo>
                      <a:pt x="599" y="127"/>
                    </a:lnTo>
                    <a:lnTo>
                      <a:pt x="585" y="107"/>
                    </a:lnTo>
                    <a:lnTo>
                      <a:pt x="579" y="88"/>
                    </a:lnTo>
                    <a:lnTo>
                      <a:pt x="624" y="112"/>
                    </a:lnTo>
                    <a:lnTo>
                      <a:pt x="579" y="68"/>
                    </a:lnTo>
                    <a:lnTo>
                      <a:pt x="613" y="72"/>
                    </a:lnTo>
                    <a:lnTo>
                      <a:pt x="673" y="84"/>
                    </a:lnTo>
                    <a:lnTo>
                      <a:pt x="702" y="102"/>
                    </a:lnTo>
                    <a:lnTo>
                      <a:pt x="673" y="75"/>
                    </a:lnTo>
                    <a:lnTo>
                      <a:pt x="594" y="41"/>
                    </a:lnTo>
                    <a:lnTo>
                      <a:pt x="549" y="13"/>
                    </a:lnTo>
                    <a:lnTo>
                      <a:pt x="446" y="0"/>
                    </a:lnTo>
                    <a:lnTo>
                      <a:pt x="335" y="3"/>
                    </a:lnTo>
                    <a:lnTo>
                      <a:pt x="419" y="4"/>
                    </a:lnTo>
                    <a:lnTo>
                      <a:pt x="507" y="13"/>
                    </a:lnTo>
                    <a:lnTo>
                      <a:pt x="552" y="27"/>
                    </a:lnTo>
                    <a:lnTo>
                      <a:pt x="461" y="23"/>
                    </a:lnTo>
                    <a:lnTo>
                      <a:pt x="353" y="33"/>
                    </a:lnTo>
                    <a:lnTo>
                      <a:pt x="255" y="53"/>
                    </a:lnTo>
                    <a:lnTo>
                      <a:pt x="270" y="33"/>
                    </a:lnTo>
                    <a:lnTo>
                      <a:pt x="219" y="43"/>
                    </a:lnTo>
                    <a:lnTo>
                      <a:pt x="178" y="65"/>
                    </a:lnTo>
                    <a:lnTo>
                      <a:pt x="184" y="43"/>
                    </a:lnTo>
                    <a:lnTo>
                      <a:pt x="203" y="18"/>
                    </a:lnTo>
                    <a:lnTo>
                      <a:pt x="270" y="3"/>
                    </a:lnTo>
                    <a:lnTo>
                      <a:pt x="184" y="18"/>
                    </a:lnTo>
                    <a:lnTo>
                      <a:pt x="131" y="52"/>
                    </a:lnTo>
                    <a:lnTo>
                      <a:pt x="104" y="89"/>
                    </a:lnTo>
                    <a:lnTo>
                      <a:pt x="22" y="124"/>
                    </a:lnTo>
                    <a:lnTo>
                      <a:pt x="0" y="155"/>
                    </a:lnTo>
                    <a:lnTo>
                      <a:pt x="2" y="198"/>
                    </a:lnTo>
                    <a:lnTo>
                      <a:pt x="32" y="226"/>
                    </a:lnTo>
                    <a:lnTo>
                      <a:pt x="77" y="237"/>
                    </a:lnTo>
                    <a:lnTo>
                      <a:pt x="117" y="275"/>
                    </a:lnTo>
                    <a:lnTo>
                      <a:pt x="117" y="256"/>
                    </a:lnTo>
                    <a:lnTo>
                      <a:pt x="108" y="209"/>
                    </a:lnTo>
                    <a:lnTo>
                      <a:pt x="101" y="112"/>
                    </a:lnTo>
                    <a:lnTo>
                      <a:pt x="117" y="94"/>
                    </a:lnTo>
                    <a:lnTo>
                      <a:pt x="131" y="92"/>
                    </a:lnTo>
                  </a:path>
                </a:pathLst>
              </a:custGeom>
              <a:solidFill>
                <a:srgbClr val="000000"/>
              </a:solidFill>
              <a:ln w="12700" cap="rnd">
                <a:solidFill>
                  <a:srgbClr val="000000"/>
                </a:solidFill>
                <a:round/>
                <a:headEnd/>
                <a:tailEnd/>
              </a:ln>
            </p:spPr>
            <p:txBody>
              <a:bodyPr/>
              <a:lstStyle/>
              <a:p>
                <a:endParaRPr lang="zh-CN" altLang="en-US"/>
              </a:p>
            </p:txBody>
          </p:sp>
          <p:sp>
            <p:nvSpPr>
              <p:cNvPr id="6162" name="Freeform 19"/>
              <p:cNvSpPr>
                <a:spLocks/>
              </p:cNvSpPr>
              <p:nvPr/>
            </p:nvSpPr>
            <p:spPr bwMode="auto">
              <a:xfrm>
                <a:off x="1920" y="335"/>
                <a:ext cx="125" cy="42"/>
              </a:xfrm>
              <a:custGeom>
                <a:avLst/>
                <a:gdLst>
                  <a:gd name="T0" fmla="*/ 15 w 125"/>
                  <a:gd name="T1" fmla="*/ 41 h 42"/>
                  <a:gd name="T2" fmla="*/ 73 w 125"/>
                  <a:gd name="T3" fmla="*/ 32 h 42"/>
                  <a:gd name="T4" fmla="*/ 119 w 125"/>
                  <a:gd name="T5" fmla="*/ 21 h 42"/>
                  <a:gd name="T6" fmla="*/ 124 w 125"/>
                  <a:gd name="T7" fmla="*/ 6 h 42"/>
                  <a:gd name="T8" fmla="*/ 106 w 125"/>
                  <a:gd name="T9" fmla="*/ 0 h 42"/>
                  <a:gd name="T10" fmla="*/ 84 w 125"/>
                  <a:gd name="T11" fmla="*/ 3 h 42"/>
                  <a:gd name="T12" fmla="*/ 55 w 125"/>
                  <a:gd name="T13" fmla="*/ 21 h 42"/>
                  <a:gd name="T14" fmla="*/ 4 w 125"/>
                  <a:gd name="T15" fmla="*/ 32 h 42"/>
                  <a:gd name="T16" fmla="*/ 0 w 125"/>
                  <a:gd name="T17" fmla="*/ 41 h 42"/>
                  <a:gd name="T18" fmla="*/ 15 w 125"/>
                  <a:gd name="T19" fmla="*/ 41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2"/>
                  <a:gd name="T32" fmla="*/ 125 w 12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2">
                    <a:moveTo>
                      <a:pt x="15" y="41"/>
                    </a:moveTo>
                    <a:lnTo>
                      <a:pt x="73" y="32"/>
                    </a:lnTo>
                    <a:lnTo>
                      <a:pt x="119" y="21"/>
                    </a:lnTo>
                    <a:lnTo>
                      <a:pt x="124" y="6"/>
                    </a:lnTo>
                    <a:lnTo>
                      <a:pt x="106" y="0"/>
                    </a:lnTo>
                    <a:lnTo>
                      <a:pt x="84" y="3"/>
                    </a:lnTo>
                    <a:lnTo>
                      <a:pt x="55" y="21"/>
                    </a:lnTo>
                    <a:lnTo>
                      <a:pt x="4" y="32"/>
                    </a:lnTo>
                    <a:lnTo>
                      <a:pt x="0" y="41"/>
                    </a:lnTo>
                    <a:lnTo>
                      <a:pt x="15" y="41"/>
                    </a:lnTo>
                  </a:path>
                </a:pathLst>
              </a:custGeom>
              <a:solidFill>
                <a:srgbClr val="000000"/>
              </a:solidFill>
              <a:ln w="12700" cap="rnd">
                <a:solidFill>
                  <a:srgbClr val="000000"/>
                </a:solidFill>
                <a:round/>
                <a:headEnd/>
                <a:tailEnd/>
              </a:ln>
            </p:spPr>
            <p:txBody>
              <a:bodyPr/>
              <a:lstStyle/>
              <a:p>
                <a:endParaRPr lang="zh-CN" altLang="en-US"/>
              </a:p>
            </p:txBody>
          </p:sp>
          <p:sp>
            <p:nvSpPr>
              <p:cNvPr id="6163" name="Freeform 20"/>
              <p:cNvSpPr>
                <a:spLocks/>
              </p:cNvSpPr>
              <p:nvPr/>
            </p:nvSpPr>
            <p:spPr bwMode="auto">
              <a:xfrm>
                <a:off x="2085" y="326"/>
                <a:ext cx="119" cy="39"/>
              </a:xfrm>
              <a:custGeom>
                <a:avLst/>
                <a:gdLst>
                  <a:gd name="T0" fmla="*/ 20 w 119"/>
                  <a:gd name="T1" fmla="*/ 0 h 39"/>
                  <a:gd name="T2" fmla="*/ 0 w 119"/>
                  <a:gd name="T3" fmla="*/ 3 h 39"/>
                  <a:gd name="T4" fmla="*/ 0 w 119"/>
                  <a:gd name="T5" fmla="*/ 16 h 39"/>
                  <a:gd name="T6" fmla="*/ 30 w 119"/>
                  <a:gd name="T7" fmla="*/ 24 h 39"/>
                  <a:gd name="T8" fmla="*/ 77 w 119"/>
                  <a:gd name="T9" fmla="*/ 30 h 39"/>
                  <a:gd name="T10" fmla="*/ 107 w 119"/>
                  <a:gd name="T11" fmla="*/ 38 h 39"/>
                  <a:gd name="T12" fmla="*/ 118 w 119"/>
                  <a:gd name="T13" fmla="*/ 32 h 39"/>
                  <a:gd name="T14" fmla="*/ 113 w 119"/>
                  <a:gd name="T15" fmla="*/ 26 h 39"/>
                  <a:gd name="T16" fmla="*/ 89 w 119"/>
                  <a:gd name="T17" fmla="*/ 12 h 39"/>
                  <a:gd name="T18" fmla="*/ 52 w 119"/>
                  <a:gd name="T19" fmla="*/ 9 h 39"/>
                  <a:gd name="T20" fmla="*/ 36 w 119"/>
                  <a:gd name="T21" fmla="*/ 4 h 39"/>
                  <a:gd name="T22" fmla="*/ 20 w 119"/>
                  <a:gd name="T23" fmla="*/ 0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9"/>
                  <a:gd name="T37" fmla="*/ 0 h 39"/>
                  <a:gd name="T38" fmla="*/ 119 w 119"/>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9" h="39">
                    <a:moveTo>
                      <a:pt x="20" y="0"/>
                    </a:moveTo>
                    <a:lnTo>
                      <a:pt x="0" y="3"/>
                    </a:lnTo>
                    <a:lnTo>
                      <a:pt x="0" y="16"/>
                    </a:lnTo>
                    <a:lnTo>
                      <a:pt x="30" y="24"/>
                    </a:lnTo>
                    <a:lnTo>
                      <a:pt x="77" y="30"/>
                    </a:lnTo>
                    <a:lnTo>
                      <a:pt x="107" y="38"/>
                    </a:lnTo>
                    <a:lnTo>
                      <a:pt x="118" y="32"/>
                    </a:lnTo>
                    <a:lnTo>
                      <a:pt x="113" y="26"/>
                    </a:lnTo>
                    <a:lnTo>
                      <a:pt x="89" y="12"/>
                    </a:lnTo>
                    <a:lnTo>
                      <a:pt x="52" y="9"/>
                    </a:lnTo>
                    <a:lnTo>
                      <a:pt x="36" y="4"/>
                    </a:lnTo>
                    <a:lnTo>
                      <a:pt x="20" y="0"/>
                    </a:lnTo>
                  </a:path>
                </a:pathLst>
              </a:custGeom>
              <a:solidFill>
                <a:srgbClr val="000000"/>
              </a:solidFill>
              <a:ln w="12700" cap="rnd">
                <a:solidFill>
                  <a:srgbClr val="000000"/>
                </a:solidFill>
                <a:round/>
                <a:headEnd/>
                <a:tailEnd/>
              </a:ln>
            </p:spPr>
            <p:txBody>
              <a:bodyPr/>
              <a:lstStyle/>
              <a:p>
                <a:endParaRPr lang="zh-CN" altLang="en-US"/>
              </a:p>
            </p:txBody>
          </p:sp>
          <p:sp>
            <p:nvSpPr>
              <p:cNvPr id="6164" name="Freeform 21"/>
              <p:cNvSpPr>
                <a:spLocks/>
              </p:cNvSpPr>
              <p:nvPr/>
            </p:nvSpPr>
            <p:spPr bwMode="auto">
              <a:xfrm>
                <a:off x="2005" y="385"/>
                <a:ext cx="28" cy="16"/>
              </a:xfrm>
              <a:custGeom>
                <a:avLst/>
                <a:gdLst>
                  <a:gd name="T0" fmla="*/ 27 w 28"/>
                  <a:gd name="T1" fmla="*/ 4 h 16"/>
                  <a:gd name="T2" fmla="*/ 13 w 28"/>
                  <a:gd name="T3" fmla="*/ 0 h 16"/>
                  <a:gd name="T4" fmla="*/ 0 w 28"/>
                  <a:gd name="T5" fmla="*/ 8 h 16"/>
                  <a:gd name="T6" fmla="*/ 11 w 28"/>
                  <a:gd name="T7" fmla="*/ 15 h 16"/>
                  <a:gd name="T8" fmla="*/ 25 w 28"/>
                  <a:gd name="T9" fmla="*/ 15 h 16"/>
                  <a:gd name="T10" fmla="*/ 27 w 28"/>
                  <a:gd name="T11" fmla="*/ 4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27" y="4"/>
                    </a:moveTo>
                    <a:lnTo>
                      <a:pt x="13" y="0"/>
                    </a:lnTo>
                    <a:lnTo>
                      <a:pt x="0" y="8"/>
                    </a:lnTo>
                    <a:lnTo>
                      <a:pt x="11" y="15"/>
                    </a:lnTo>
                    <a:lnTo>
                      <a:pt x="25" y="15"/>
                    </a:lnTo>
                    <a:lnTo>
                      <a:pt x="27" y="4"/>
                    </a:lnTo>
                  </a:path>
                </a:pathLst>
              </a:custGeom>
              <a:solidFill>
                <a:srgbClr val="000000"/>
              </a:solidFill>
              <a:ln w="12700" cap="rnd">
                <a:solidFill>
                  <a:srgbClr val="000000"/>
                </a:solidFill>
                <a:round/>
                <a:headEnd/>
                <a:tailEnd/>
              </a:ln>
            </p:spPr>
            <p:txBody>
              <a:bodyPr/>
              <a:lstStyle/>
              <a:p>
                <a:endParaRPr lang="zh-CN" altLang="en-US"/>
              </a:p>
            </p:txBody>
          </p:sp>
          <p:sp>
            <p:nvSpPr>
              <p:cNvPr id="6165" name="Freeform 22"/>
              <p:cNvSpPr>
                <a:spLocks/>
              </p:cNvSpPr>
              <p:nvPr/>
            </p:nvSpPr>
            <p:spPr bwMode="auto">
              <a:xfrm>
                <a:off x="2107" y="380"/>
                <a:ext cx="26" cy="13"/>
              </a:xfrm>
              <a:custGeom>
                <a:avLst/>
                <a:gdLst>
                  <a:gd name="T0" fmla="*/ 13 w 26"/>
                  <a:gd name="T1" fmla="*/ 0 h 13"/>
                  <a:gd name="T2" fmla="*/ 0 w 26"/>
                  <a:gd name="T3" fmla="*/ 7 h 13"/>
                  <a:gd name="T4" fmla="*/ 9 w 26"/>
                  <a:gd name="T5" fmla="*/ 12 h 13"/>
                  <a:gd name="T6" fmla="*/ 25 w 26"/>
                  <a:gd name="T7" fmla="*/ 12 h 13"/>
                  <a:gd name="T8" fmla="*/ 25 w 26"/>
                  <a:gd name="T9" fmla="*/ 2 h 13"/>
                  <a:gd name="T10" fmla="*/ 13 w 26"/>
                  <a:gd name="T11" fmla="*/ 0 h 13"/>
                  <a:gd name="T12" fmla="*/ 0 60000 65536"/>
                  <a:gd name="T13" fmla="*/ 0 60000 65536"/>
                  <a:gd name="T14" fmla="*/ 0 60000 65536"/>
                  <a:gd name="T15" fmla="*/ 0 60000 65536"/>
                  <a:gd name="T16" fmla="*/ 0 60000 65536"/>
                  <a:gd name="T17" fmla="*/ 0 60000 65536"/>
                  <a:gd name="T18" fmla="*/ 0 w 26"/>
                  <a:gd name="T19" fmla="*/ 0 h 13"/>
                  <a:gd name="T20" fmla="*/ 26 w 26"/>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26" h="13">
                    <a:moveTo>
                      <a:pt x="13" y="0"/>
                    </a:moveTo>
                    <a:lnTo>
                      <a:pt x="0" y="7"/>
                    </a:lnTo>
                    <a:lnTo>
                      <a:pt x="9" y="12"/>
                    </a:lnTo>
                    <a:lnTo>
                      <a:pt x="25" y="12"/>
                    </a:lnTo>
                    <a:lnTo>
                      <a:pt x="25" y="2"/>
                    </a:lnTo>
                    <a:lnTo>
                      <a:pt x="13" y="0"/>
                    </a:lnTo>
                  </a:path>
                </a:pathLst>
              </a:custGeom>
              <a:solidFill>
                <a:srgbClr val="000000"/>
              </a:solidFill>
              <a:ln w="12700" cap="rnd">
                <a:solidFill>
                  <a:srgbClr val="000000"/>
                </a:solidFill>
                <a:round/>
                <a:headEnd/>
                <a:tailEnd/>
              </a:ln>
            </p:spPr>
            <p:txBody>
              <a:bodyPr/>
              <a:lstStyle/>
              <a:p>
                <a:endParaRPr lang="zh-CN" altLang="en-US"/>
              </a:p>
            </p:txBody>
          </p:sp>
          <p:sp>
            <p:nvSpPr>
              <p:cNvPr id="6166" name="Freeform 23"/>
              <p:cNvSpPr>
                <a:spLocks/>
              </p:cNvSpPr>
              <p:nvPr/>
            </p:nvSpPr>
            <p:spPr bwMode="auto">
              <a:xfrm>
                <a:off x="2032" y="410"/>
                <a:ext cx="166" cy="147"/>
              </a:xfrm>
              <a:custGeom>
                <a:avLst/>
                <a:gdLst>
                  <a:gd name="T0" fmla="*/ 22 w 166"/>
                  <a:gd name="T1" fmla="*/ 3 h 147"/>
                  <a:gd name="T2" fmla="*/ 5 w 166"/>
                  <a:gd name="T3" fmla="*/ 49 h 147"/>
                  <a:gd name="T4" fmla="*/ 0 w 166"/>
                  <a:gd name="T5" fmla="*/ 92 h 147"/>
                  <a:gd name="T6" fmla="*/ 18 w 166"/>
                  <a:gd name="T7" fmla="*/ 120 h 147"/>
                  <a:gd name="T8" fmla="*/ 48 w 166"/>
                  <a:gd name="T9" fmla="*/ 140 h 147"/>
                  <a:gd name="T10" fmla="*/ 95 w 166"/>
                  <a:gd name="T11" fmla="*/ 146 h 147"/>
                  <a:gd name="T12" fmla="*/ 145 w 166"/>
                  <a:gd name="T13" fmla="*/ 136 h 147"/>
                  <a:gd name="T14" fmla="*/ 163 w 166"/>
                  <a:gd name="T15" fmla="*/ 113 h 147"/>
                  <a:gd name="T16" fmla="*/ 165 w 166"/>
                  <a:gd name="T17" fmla="*/ 84 h 147"/>
                  <a:gd name="T18" fmla="*/ 151 w 166"/>
                  <a:gd name="T19" fmla="*/ 55 h 147"/>
                  <a:gd name="T20" fmla="*/ 83 w 166"/>
                  <a:gd name="T21" fmla="*/ 0 h 147"/>
                  <a:gd name="T22" fmla="*/ 140 w 166"/>
                  <a:gd name="T23" fmla="*/ 53 h 147"/>
                  <a:gd name="T24" fmla="*/ 152 w 166"/>
                  <a:gd name="T25" fmla="*/ 92 h 147"/>
                  <a:gd name="T26" fmla="*/ 151 w 166"/>
                  <a:gd name="T27" fmla="*/ 113 h 147"/>
                  <a:gd name="T28" fmla="*/ 133 w 166"/>
                  <a:gd name="T29" fmla="*/ 132 h 147"/>
                  <a:gd name="T30" fmla="*/ 95 w 166"/>
                  <a:gd name="T31" fmla="*/ 136 h 147"/>
                  <a:gd name="T32" fmla="*/ 52 w 166"/>
                  <a:gd name="T33" fmla="*/ 132 h 147"/>
                  <a:gd name="T34" fmla="*/ 25 w 166"/>
                  <a:gd name="T35" fmla="*/ 113 h 147"/>
                  <a:gd name="T36" fmla="*/ 11 w 166"/>
                  <a:gd name="T37" fmla="*/ 93 h 147"/>
                  <a:gd name="T38" fmla="*/ 11 w 166"/>
                  <a:gd name="T39" fmla="*/ 55 h 147"/>
                  <a:gd name="T40" fmla="*/ 18 w 166"/>
                  <a:gd name="T41" fmla="*/ 26 h 147"/>
                  <a:gd name="T42" fmla="*/ 22 w 166"/>
                  <a:gd name="T43" fmla="*/ 3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66"/>
                  <a:gd name="T67" fmla="*/ 0 h 147"/>
                  <a:gd name="T68" fmla="*/ 166 w 166"/>
                  <a:gd name="T69" fmla="*/ 147 h 14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66" h="147">
                    <a:moveTo>
                      <a:pt x="22" y="3"/>
                    </a:moveTo>
                    <a:lnTo>
                      <a:pt x="5" y="49"/>
                    </a:lnTo>
                    <a:lnTo>
                      <a:pt x="0" y="92"/>
                    </a:lnTo>
                    <a:lnTo>
                      <a:pt x="18" y="120"/>
                    </a:lnTo>
                    <a:lnTo>
                      <a:pt x="48" y="140"/>
                    </a:lnTo>
                    <a:lnTo>
                      <a:pt x="95" y="146"/>
                    </a:lnTo>
                    <a:lnTo>
                      <a:pt x="145" y="136"/>
                    </a:lnTo>
                    <a:lnTo>
                      <a:pt x="163" y="113"/>
                    </a:lnTo>
                    <a:lnTo>
                      <a:pt x="165" y="84"/>
                    </a:lnTo>
                    <a:lnTo>
                      <a:pt x="151" y="55"/>
                    </a:lnTo>
                    <a:lnTo>
                      <a:pt x="83" y="0"/>
                    </a:lnTo>
                    <a:lnTo>
                      <a:pt x="140" y="53"/>
                    </a:lnTo>
                    <a:lnTo>
                      <a:pt x="152" y="92"/>
                    </a:lnTo>
                    <a:lnTo>
                      <a:pt x="151" y="113"/>
                    </a:lnTo>
                    <a:lnTo>
                      <a:pt x="133" y="132"/>
                    </a:lnTo>
                    <a:lnTo>
                      <a:pt x="95" y="136"/>
                    </a:lnTo>
                    <a:lnTo>
                      <a:pt x="52" y="132"/>
                    </a:lnTo>
                    <a:lnTo>
                      <a:pt x="25" y="113"/>
                    </a:lnTo>
                    <a:lnTo>
                      <a:pt x="11" y="93"/>
                    </a:lnTo>
                    <a:lnTo>
                      <a:pt x="11" y="55"/>
                    </a:lnTo>
                    <a:lnTo>
                      <a:pt x="18" y="26"/>
                    </a:lnTo>
                    <a:lnTo>
                      <a:pt x="22" y="3"/>
                    </a:lnTo>
                  </a:path>
                </a:pathLst>
              </a:custGeom>
              <a:solidFill>
                <a:srgbClr val="000000"/>
              </a:solidFill>
              <a:ln w="12700" cap="rnd">
                <a:solidFill>
                  <a:srgbClr val="000000"/>
                </a:solidFill>
                <a:round/>
                <a:headEnd/>
                <a:tailEnd/>
              </a:ln>
            </p:spPr>
            <p:txBody>
              <a:bodyPr/>
              <a:lstStyle/>
              <a:p>
                <a:endParaRPr lang="zh-CN" altLang="en-US"/>
              </a:p>
            </p:txBody>
          </p:sp>
          <p:sp>
            <p:nvSpPr>
              <p:cNvPr id="6167" name="Freeform 24"/>
              <p:cNvSpPr>
                <a:spLocks/>
              </p:cNvSpPr>
              <p:nvPr/>
            </p:nvSpPr>
            <p:spPr bwMode="auto">
              <a:xfrm>
                <a:off x="1981" y="543"/>
                <a:ext cx="331" cy="44"/>
              </a:xfrm>
              <a:custGeom>
                <a:avLst/>
                <a:gdLst>
                  <a:gd name="T0" fmla="*/ 0 w 331"/>
                  <a:gd name="T1" fmla="*/ 11 h 44"/>
                  <a:gd name="T2" fmla="*/ 23 w 331"/>
                  <a:gd name="T3" fmla="*/ 0 h 44"/>
                  <a:gd name="T4" fmla="*/ 41 w 331"/>
                  <a:gd name="T5" fmla="*/ 5 h 44"/>
                  <a:gd name="T6" fmla="*/ 27 w 331"/>
                  <a:gd name="T7" fmla="*/ 17 h 44"/>
                  <a:gd name="T8" fmla="*/ 69 w 331"/>
                  <a:gd name="T9" fmla="*/ 27 h 44"/>
                  <a:gd name="T10" fmla="*/ 108 w 331"/>
                  <a:gd name="T11" fmla="*/ 40 h 44"/>
                  <a:gd name="T12" fmla="*/ 151 w 331"/>
                  <a:gd name="T13" fmla="*/ 40 h 44"/>
                  <a:gd name="T14" fmla="*/ 206 w 331"/>
                  <a:gd name="T15" fmla="*/ 31 h 44"/>
                  <a:gd name="T16" fmla="*/ 303 w 331"/>
                  <a:gd name="T17" fmla="*/ 17 h 44"/>
                  <a:gd name="T18" fmla="*/ 303 w 331"/>
                  <a:gd name="T19" fmla="*/ 5 h 44"/>
                  <a:gd name="T20" fmla="*/ 330 w 331"/>
                  <a:gd name="T21" fmla="*/ 7 h 44"/>
                  <a:gd name="T22" fmla="*/ 330 w 331"/>
                  <a:gd name="T23" fmla="*/ 25 h 44"/>
                  <a:gd name="T24" fmla="*/ 310 w 331"/>
                  <a:gd name="T25" fmla="*/ 27 h 44"/>
                  <a:gd name="T26" fmla="*/ 296 w 331"/>
                  <a:gd name="T27" fmla="*/ 23 h 44"/>
                  <a:gd name="T28" fmla="*/ 162 w 331"/>
                  <a:gd name="T29" fmla="*/ 43 h 44"/>
                  <a:gd name="T30" fmla="*/ 105 w 331"/>
                  <a:gd name="T31" fmla="*/ 43 h 44"/>
                  <a:gd name="T32" fmla="*/ 41 w 331"/>
                  <a:gd name="T33" fmla="*/ 25 h 44"/>
                  <a:gd name="T34" fmla="*/ 27 w 331"/>
                  <a:gd name="T35" fmla="*/ 23 h 44"/>
                  <a:gd name="T36" fmla="*/ 13 w 331"/>
                  <a:gd name="T37" fmla="*/ 27 h 44"/>
                  <a:gd name="T38" fmla="*/ 0 w 331"/>
                  <a:gd name="T39" fmla="*/ 23 h 44"/>
                  <a:gd name="T40" fmla="*/ 0 w 331"/>
                  <a:gd name="T41" fmla="*/ 11 h 4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31"/>
                  <a:gd name="T64" fmla="*/ 0 h 44"/>
                  <a:gd name="T65" fmla="*/ 331 w 331"/>
                  <a:gd name="T66" fmla="*/ 44 h 4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31" h="44">
                    <a:moveTo>
                      <a:pt x="0" y="11"/>
                    </a:moveTo>
                    <a:lnTo>
                      <a:pt x="23" y="0"/>
                    </a:lnTo>
                    <a:lnTo>
                      <a:pt x="41" y="5"/>
                    </a:lnTo>
                    <a:lnTo>
                      <a:pt x="27" y="17"/>
                    </a:lnTo>
                    <a:lnTo>
                      <a:pt x="69" y="27"/>
                    </a:lnTo>
                    <a:lnTo>
                      <a:pt x="108" y="40"/>
                    </a:lnTo>
                    <a:lnTo>
                      <a:pt x="151" y="40"/>
                    </a:lnTo>
                    <a:lnTo>
                      <a:pt x="206" y="31"/>
                    </a:lnTo>
                    <a:lnTo>
                      <a:pt x="303" y="17"/>
                    </a:lnTo>
                    <a:lnTo>
                      <a:pt x="303" y="5"/>
                    </a:lnTo>
                    <a:lnTo>
                      <a:pt x="330" y="7"/>
                    </a:lnTo>
                    <a:lnTo>
                      <a:pt x="330" y="25"/>
                    </a:lnTo>
                    <a:lnTo>
                      <a:pt x="310" y="27"/>
                    </a:lnTo>
                    <a:lnTo>
                      <a:pt x="296" y="23"/>
                    </a:lnTo>
                    <a:lnTo>
                      <a:pt x="162" y="43"/>
                    </a:lnTo>
                    <a:lnTo>
                      <a:pt x="105" y="43"/>
                    </a:lnTo>
                    <a:lnTo>
                      <a:pt x="41" y="25"/>
                    </a:lnTo>
                    <a:lnTo>
                      <a:pt x="27" y="23"/>
                    </a:lnTo>
                    <a:lnTo>
                      <a:pt x="13" y="27"/>
                    </a:lnTo>
                    <a:lnTo>
                      <a:pt x="0" y="23"/>
                    </a:lnTo>
                    <a:lnTo>
                      <a:pt x="0" y="11"/>
                    </a:lnTo>
                  </a:path>
                </a:pathLst>
              </a:custGeom>
              <a:solidFill>
                <a:srgbClr val="000000"/>
              </a:solidFill>
              <a:ln w="12700" cap="rnd">
                <a:solidFill>
                  <a:srgbClr val="000000"/>
                </a:solidFill>
                <a:round/>
                <a:headEnd/>
                <a:tailEnd/>
              </a:ln>
            </p:spPr>
            <p:txBody>
              <a:bodyPr/>
              <a:lstStyle/>
              <a:p>
                <a:endParaRPr lang="zh-CN" altLang="en-US"/>
              </a:p>
            </p:txBody>
          </p:sp>
          <p:sp>
            <p:nvSpPr>
              <p:cNvPr id="6168" name="Freeform 25"/>
              <p:cNvSpPr>
                <a:spLocks/>
              </p:cNvSpPr>
              <p:nvPr/>
            </p:nvSpPr>
            <p:spPr bwMode="auto">
              <a:xfrm>
                <a:off x="2031" y="566"/>
                <a:ext cx="253" cy="60"/>
              </a:xfrm>
              <a:custGeom>
                <a:avLst/>
                <a:gdLst>
                  <a:gd name="T0" fmla="*/ 0 w 253"/>
                  <a:gd name="T1" fmla="*/ 8 h 60"/>
                  <a:gd name="T2" fmla="*/ 16 w 253"/>
                  <a:gd name="T3" fmla="*/ 22 h 60"/>
                  <a:gd name="T4" fmla="*/ 34 w 253"/>
                  <a:gd name="T5" fmla="*/ 49 h 60"/>
                  <a:gd name="T6" fmla="*/ 70 w 253"/>
                  <a:gd name="T7" fmla="*/ 59 h 60"/>
                  <a:gd name="T8" fmla="*/ 157 w 253"/>
                  <a:gd name="T9" fmla="*/ 59 h 60"/>
                  <a:gd name="T10" fmla="*/ 180 w 253"/>
                  <a:gd name="T11" fmla="*/ 53 h 60"/>
                  <a:gd name="T12" fmla="*/ 252 w 253"/>
                  <a:gd name="T13" fmla="*/ 0 h 60"/>
                  <a:gd name="T14" fmla="*/ 232 w 253"/>
                  <a:gd name="T15" fmla="*/ 2 h 60"/>
                  <a:gd name="T16" fmla="*/ 167 w 253"/>
                  <a:gd name="T17" fmla="*/ 49 h 60"/>
                  <a:gd name="T18" fmla="*/ 148 w 253"/>
                  <a:gd name="T19" fmla="*/ 51 h 60"/>
                  <a:gd name="T20" fmla="*/ 81 w 253"/>
                  <a:gd name="T21" fmla="*/ 53 h 60"/>
                  <a:gd name="T22" fmla="*/ 49 w 253"/>
                  <a:gd name="T23" fmla="*/ 47 h 60"/>
                  <a:gd name="T24" fmla="*/ 36 w 253"/>
                  <a:gd name="T25" fmla="*/ 39 h 60"/>
                  <a:gd name="T26" fmla="*/ 23 w 253"/>
                  <a:gd name="T27" fmla="*/ 20 h 60"/>
                  <a:gd name="T28" fmla="*/ 0 w 253"/>
                  <a:gd name="T29" fmla="*/ 8 h 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3"/>
                  <a:gd name="T46" fmla="*/ 0 h 60"/>
                  <a:gd name="T47" fmla="*/ 253 w 253"/>
                  <a:gd name="T48" fmla="*/ 60 h 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3" h="60">
                    <a:moveTo>
                      <a:pt x="0" y="8"/>
                    </a:moveTo>
                    <a:lnTo>
                      <a:pt x="16" y="22"/>
                    </a:lnTo>
                    <a:lnTo>
                      <a:pt x="34" y="49"/>
                    </a:lnTo>
                    <a:lnTo>
                      <a:pt x="70" y="59"/>
                    </a:lnTo>
                    <a:lnTo>
                      <a:pt x="157" y="59"/>
                    </a:lnTo>
                    <a:lnTo>
                      <a:pt x="180" y="53"/>
                    </a:lnTo>
                    <a:lnTo>
                      <a:pt x="252" y="0"/>
                    </a:lnTo>
                    <a:lnTo>
                      <a:pt x="232" y="2"/>
                    </a:lnTo>
                    <a:lnTo>
                      <a:pt x="167" y="49"/>
                    </a:lnTo>
                    <a:lnTo>
                      <a:pt x="148" y="51"/>
                    </a:lnTo>
                    <a:lnTo>
                      <a:pt x="81" y="53"/>
                    </a:lnTo>
                    <a:lnTo>
                      <a:pt x="49" y="47"/>
                    </a:lnTo>
                    <a:lnTo>
                      <a:pt x="36" y="39"/>
                    </a:lnTo>
                    <a:lnTo>
                      <a:pt x="23" y="20"/>
                    </a:lnTo>
                    <a:lnTo>
                      <a:pt x="0" y="8"/>
                    </a:lnTo>
                  </a:path>
                </a:pathLst>
              </a:custGeom>
              <a:solidFill>
                <a:srgbClr val="000000"/>
              </a:solidFill>
              <a:ln w="12700" cap="rnd">
                <a:solidFill>
                  <a:srgbClr val="000000"/>
                </a:solidFill>
                <a:round/>
                <a:headEnd/>
                <a:tailEnd/>
              </a:ln>
            </p:spPr>
            <p:txBody>
              <a:bodyPr/>
              <a:lstStyle/>
              <a:p>
                <a:endParaRPr lang="zh-CN" altLang="en-US"/>
              </a:p>
            </p:txBody>
          </p:sp>
          <p:sp>
            <p:nvSpPr>
              <p:cNvPr id="6169" name="Freeform 26"/>
              <p:cNvSpPr>
                <a:spLocks/>
              </p:cNvSpPr>
              <p:nvPr/>
            </p:nvSpPr>
            <p:spPr bwMode="auto">
              <a:xfrm>
                <a:off x="1679" y="401"/>
                <a:ext cx="879" cy="366"/>
              </a:xfrm>
              <a:custGeom>
                <a:avLst/>
                <a:gdLst>
                  <a:gd name="T0" fmla="*/ 150 w 879"/>
                  <a:gd name="T1" fmla="*/ 84 h 366"/>
                  <a:gd name="T2" fmla="*/ 169 w 879"/>
                  <a:gd name="T3" fmla="*/ 130 h 366"/>
                  <a:gd name="T4" fmla="*/ 197 w 879"/>
                  <a:gd name="T5" fmla="*/ 218 h 366"/>
                  <a:gd name="T6" fmla="*/ 224 w 879"/>
                  <a:gd name="T7" fmla="*/ 269 h 366"/>
                  <a:gd name="T8" fmla="*/ 261 w 879"/>
                  <a:gd name="T9" fmla="*/ 289 h 366"/>
                  <a:gd name="T10" fmla="*/ 346 w 879"/>
                  <a:gd name="T11" fmla="*/ 314 h 366"/>
                  <a:gd name="T12" fmla="*/ 406 w 879"/>
                  <a:gd name="T13" fmla="*/ 324 h 366"/>
                  <a:gd name="T14" fmla="*/ 438 w 879"/>
                  <a:gd name="T15" fmla="*/ 341 h 366"/>
                  <a:gd name="T16" fmla="*/ 487 w 879"/>
                  <a:gd name="T17" fmla="*/ 347 h 366"/>
                  <a:gd name="T18" fmla="*/ 508 w 879"/>
                  <a:gd name="T19" fmla="*/ 330 h 366"/>
                  <a:gd name="T20" fmla="*/ 546 w 879"/>
                  <a:gd name="T21" fmla="*/ 341 h 366"/>
                  <a:gd name="T22" fmla="*/ 604 w 879"/>
                  <a:gd name="T23" fmla="*/ 338 h 366"/>
                  <a:gd name="T24" fmla="*/ 624 w 879"/>
                  <a:gd name="T25" fmla="*/ 324 h 366"/>
                  <a:gd name="T26" fmla="*/ 669 w 879"/>
                  <a:gd name="T27" fmla="*/ 307 h 366"/>
                  <a:gd name="T28" fmla="*/ 736 w 879"/>
                  <a:gd name="T29" fmla="*/ 285 h 366"/>
                  <a:gd name="T30" fmla="*/ 770 w 879"/>
                  <a:gd name="T31" fmla="*/ 257 h 366"/>
                  <a:gd name="T32" fmla="*/ 782 w 879"/>
                  <a:gd name="T33" fmla="*/ 222 h 366"/>
                  <a:gd name="T34" fmla="*/ 775 w 879"/>
                  <a:gd name="T35" fmla="*/ 54 h 366"/>
                  <a:gd name="T36" fmla="*/ 800 w 879"/>
                  <a:gd name="T37" fmla="*/ 80 h 366"/>
                  <a:gd name="T38" fmla="*/ 865 w 879"/>
                  <a:gd name="T39" fmla="*/ 68 h 366"/>
                  <a:gd name="T40" fmla="*/ 826 w 879"/>
                  <a:gd name="T41" fmla="*/ 11 h 366"/>
                  <a:gd name="T42" fmla="*/ 755 w 879"/>
                  <a:gd name="T43" fmla="*/ 4 h 366"/>
                  <a:gd name="T44" fmla="*/ 833 w 879"/>
                  <a:gd name="T45" fmla="*/ 0 h 366"/>
                  <a:gd name="T46" fmla="*/ 878 w 879"/>
                  <a:gd name="T47" fmla="*/ 34 h 366"/>
                  <a:gd name="T48" fmla="*/ 876 w 879"/>
                  <a:gd name="T49" fmla="*/ 74 h 366"/>
                  <a:gd name="T50" fmla="*/ 800 w 879"/>
                  <a:gd name="T51" fmla="*/ 113 h 366"/>
                  <a:gd name="T52" fmla="*/ 793 w 879"/>
                  <a:gd name="T53" fmla="*/ 252 h 366"/>
                  <a:gd name="T54" fmla="*/ 748 w 879"/>
                  <a:gd name="T55" fmla="*/ 306 h 366"/>
                  <a:gd name="T56" fmla="*/ 613 w 879"/>
                  <a:gd name="T57" fmla="*/ 347 h 366"/>
                  <a:gd name="T58" fmla="*/ 508 w 879"/>
                  <a:gd name="T59" fmla="*/ 365 h 366"/>
                  <a:gd name="T60" fmla="*/ 425 w 879"/>
                  <a:gd name="T61" fmla="*/ 341 h 366"/>
                  <a:gd name="T62" fmla="*/ 344 w 879"/>
                  <a:gd name="T63" fmla="*/ 334 h 366"/>
                  <a:gd name="T64" fmla="*/ 265 w 879"/>
                  <a:gd name="T65" fmla="*/ 307 h 366"/>
                  <a:gd name="T66" fmla="*/ 224 w 879"/>
                  <a:gd name="T67" fmla="*/ 279 h 366"/>
                  <a:gd name="T68" fmla="*/ 182 w 879"/>
                  <a:gd name="T69" fmla="*/ 222 h 366"/>
                  <a:gd name="T70" fmla="*/ 150 w 879"/>
                  <a:gd name="T71" fmla="*/ 116 h 366"/>
                  <a:gd name="T72" fmla="*/ 101 w 879"/>
                  <a:gd name="T73" fmla="*/ 129 h 366"/>
                  <a:gd name="T74" fmla="*/ 47 w 879"/>
                  <a:gd name="T75" fmla="*/ 110 h 366"/>
                  <a:gd name="T76" fmla="*/ 0 w 879"/>
                  <a:gd name="T77" fmla="*/ 58 h 366"/>
                  <a:gd name="T78" fmla="*/ 13 w 879"/>
                  <a:gd name="T79" fmla="*/ 27 h 366"/>
                  <a:gd name="T80" fmla="*/ 47 w 879"/>
                  <a:gd name="T81" fmla="*/ 14 h 366"/>
                  <a:gd name="T82" fmla="*/ 52 w 879"/>
                  <a:gd name="T83" fmla="*/ 20 h 366"/>
                  <a:gd name="T84" fmla="*/ 22 w 879"/>
                  <a:gd name="T85" fmla="*/ 31 h 366"/>
                  <a:gd name="T86" fmla="*/ 13 w 879"/>
                  <a:gd name="T87" fmla="*/ 54 h 366"/>
                  <a:gd name="T88" fmla="*/ 61 w 879"/>
                  <a:gd name="T89" fmla="*/ 108 h 366"/>
                  <a:gd name="T90" fmla="*/ 144 w 879"/>
                  <a:gd name="T91" fmla="*/ 108 h 366"/>
                  <a:gd name="T92" fmla="*/ 130 w 879"/>
                  <a:gd name="T93" fmla="*/ 54 h 366"/>
                  <a:gd name="T94" fmla="*/ 150 w 879"/>
                  <a:gd name="T95" fmla="*/ 84 h 36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79"/>
                  <a:gd name="T145" fmla="*/ 0 h 366"/>
                  <a:gd name="T146" fmla="*/ 879 w 879"/>
                  <a:gd name="T147" fmla="*/ 366 h 36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79" h="366">
                    <a:moveTo>
                      <a:pt x="150" y="84"/>
                    </a:moveTo>
                    <a:lnTo>
                      <a:pt x="169" y="130"/>
                    </a:lnTo>
                    <a:lnTo>
                      <a:pt x="197" y="218"/>
                    </a:lnTo>
                    <a:lnTo>
                      <a:pt x="224" y="269"/>
                    </a:lnTo>
                    <a:lnTo>
                      <a:pt x="261" y="289"/>
                    </a:lnTo>
                    <a:lnTo>
                      <a:pt x="346" y="314"/>
                    </a:lnTo>
                    <a:lnTo>
                      <a:pt x="406" y="324"/>
                    </a:lnTo>
                    <a:lnTo>
                      <a:pt x="438" y="341"/>
                    </a:lnTo>
                    <a:lnTo>
                      <a:pt x="487" y="347"/>
                    </a:lnTo>
                    <a:lnTo>
                      <a:pt x="508" y="330"/>
                    </a:lnTo>
                    <a:lnTo>
                      <a:pt x="546" y="341"/>
                    </a:lnTo>
                    <a:lnTo>
                      <a:pt x="604" y="338"/>
                    </a:lnTo>
                    <a:lnTo>
                      <a:pt x="624" y="324"/>
                    </a:lnTo>
                    <a:lnTo>
                      <a:pt x="669" y="307"/>
                    </a:lnTo>
                    <a:lnTo>
                      <a:pt x="736" y="285"/>
                    </a:lnTo>
                    <a:lnTo>
                      <a:pt x="770" y="257"/>
                    </a:lnTo>
                    <a:lnTo>
                      <a:pt x="782" y="222"/>
                    </a:lnTo>
                    <a:lnTo>
                      <a:pt x="775" y="54"/>
                    </a:lnTo>
                    <a:lnTo>
                      <a:pt x="800" y="80"/>
                    </a:lnTo>
                    <a:lnTo>
                      <a:pt x="865" y="68"/>
                    </a:lnTo>
                    <a:lnTo>
                      <a:pt x="826" y="11"/>
                    </a:lnTo>
                    <a:lnTo>
                      <a:pt x="755" y="4"/>
                    </a:lnTo>
                    <a:lnTo>
                      <a:pt x="833" y="0"/>
                    </a:lnTo>
                    <a:lnTo>
                      <a:pt x="878" y="34"/>
                    </a:lnTo>
                    <a:lnTo>
                      <a:pt x="876" y="74"/>
                    </a:lnTo>
                    <a:lnTo>
                      <a:pt x="800" y="113"/>
                    </a:lnTo>
                    <a:lnTo>
                      <a:pt x="793" y="252"/>
                    </a:lnTo>
                    <a:lnTo>
                      <a:pt x="748" y="306"/>
                    </a:lnTo>
                    <a:lnTo>
                      <a:pt x="613" y="347"/>
                    </a:lnTo>
                    <a:lnTo>
                      <a:pt x="508" y="365"/>
                    </a:lnTo>
                    <a:lnTo>
                      <a:pt x="425" y="341"/>
                    </a:lnTo>
                    <a:lnTo>
                      <a:pt x="344" y="334"/>
                    </a:lnTo>
                    <a:lnTo>
                      <a:pt x="265" y="307"/>
                    </a:lnTo>
                    <a:lnTo>
                      <a:pt x="224" y="279"/>
                    </a:lnTo>
                    <a:lnTo>
                      <a:pt x="182" y="222"/>
                    </a:lnTo>
                    <a:lnTo>
                      <a:pt x="150" y="116"/>
                    </a:lnTo>
                    <a:lnTo>
                      <a:pt x="101" y="129"/>
                    </a:lnTo>
                    <a:lnTo>
                      <a:pt x="47" y="110"/>
                    </a:lnTo>
                    <a:lnTo>
                      <a:pt x="0" y="58"/>
                    </a:lnTo>
                    <a:lnTo>
                      <a:pt x="13" y="27"/>
                    </a:lnTo>
                    <a:lnTo>
                      <a:pt x="47" y="14"/>
                    </a:lnTo>
                    <a:lnTo>
                      <a:pt x="52" y="20"/>
                    </a:lnTo>
                    <a:lnTo>
                      <a:pt x="22" y="31"/>
                    </a:lnTo>
                    <a:lnTo>
                      <a:pt x="13" y="54"/>
                    </a:lnTo>
                    <a:lnTo>
                      <a:pt x="61" y="108"/>
                    </a:lnTo>
                    <a:lnTo>
                      <a:pt x="144" y="108"/>
                    </a:lnTo>
                    <a:lnTo>
                      <a:pt x="130" y="54"/>
                    </a:lnTo>
                    <a:lnTo>
                      <a:pt x="150" y="84"/>
                    </a:lnTo>
                  </a:path>
                </a:pathLst>
              </a:custGeom>
              <a:solidFill>
                <a:srgbClr val="000000"/>
              </a:solidFill>
              <a:ln w="12700" cap="rnd">
                <a:solidFill>
                  <a:srgbClr val="000000"/>
                </a:solidFill>
                <a:round/>
                <a:headEnd/>
                <a:tailEnd/>
              </a:ln>
            </p:spPr>
            <p:txBody>
              <a:bodyPr/>
              <a:lstStyle/>
              <a:p>
                <a:endParaRPr lang="zh-CN" altLang="en-US"/>
              </a:p>
            </p:txBody>
          </p:sp>
          <p:sp>
            <p:nvSpPr>
              <p:cNvPr id="6170" name="Freeform 27"/>
              <p:cNvSpPr>
                <a:spLocks/>
              </p:cNvSpPr>
              <p:nvPr/>
            </p:nvSpPr>
            <p:spPr bwMode="auto">
              <a:xfrm>
                <a:off x="2066" y="651"/>
                <a:ext cx="147" cy="18"/>
              </a:xfrm>
              <a:custGeom>
                <a:avLst/>
                <a:gdLst>
                  <a:gd name="T0" fmla="*/ 9 w 147"/>
                  <a:gd name="T1" fmla="*/ 0 h 18"/>
                  <a:gd name="T2" fmla="*/ 29 w 147"/>
                  <a:gd name="T3" fmla="*/ 7 h 18"/>
                  <a:gd name="T4" fmla="*/ 67 w 147"/>
                  <a:gd name="T5" fmla="*/ 10 h 18"/>
                  <a:gd name="T6" fmla="*/ 99 w 147"/>
                  <a:gd name="T7" fmla="*/ 10 h 18"/>
                  <a:gd name="T8" fmla="*/ 139 w 147"/>
                  <a:gd name="T9" fmla="*/ 7 h 18"/>
                  <a:gd name="T10" fmla="*/ 146 w 147"/>
                  <a:gd name="T11" fmla="*/ 14 h 18"/>
                  <a:gd name="T12" fmla="*/ 119 w 147"/>
                  <a:gd name="T13" fmla="*/ 17 h 18"/>
                  <a:gd name="T14" fmla="*/ 67 w 147"/>
                  <a:gd name="T15" fmla="*/ 17 h 18"/>
                  <a:gd name="T16" fmla="*/ 29 w 147"/>
                  <a:gd name="T17" fmla="*/ 14 h 18"/>
                  <a:gd name="T18" fmla="*/ 0 w 147"/>
                  <a:gd name="T19" fmla="*/ 3 h 18"/>
                  <a:gd name="T20" fmla="*/ 9 w 147"/>
                  <a:gd name="T21" fmla="*/ 0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7"/>
                  <a:gd name="T34" fmla="*/ 0 h 18"/>
                  <a:gd name="T35" fmla="*/ 147 w 147"/>
                  <a:gd name="T36" fmla="*/ 18 h 1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7" h="18">
                    <a:moveTo>
                      <a:pt x="9" y="0"/>
                    </a:moveTo>
                    <a:lnTo>
                      <a:pt x="29" y="7"/>
                    </a:lnTo>
                    <a:lnTo>
                      <a:pt x="67" y="10"/>
                    </a:lnTo>
                    <a:lnTo>
                      <a:pt x="99" y="10"/>
                    </a:lnTo>
                    <a:lnTo>
                      <a:pt x="139" y="7"/>
                    </a:lnTo>
                    <a:lnTo>
                      <a:pt x="146" y="14"/>
                    </a:lnTo>
                    <a:lnTo>
                      <a:pt x="119" y="17"/>
                    </a:lnTo>
                    <a:lnTo>
                      <a:pt x="67" y="17"/>
                    </a:lnTo>
                    <a:lnTo>
                      <a:pt x="29" y="14"/>
                    </a:lnTo>
                    <a:lnTo>
                      <a:pt x="0" y="3"/>
                    </a:lnTo>
                    <a:lnTo>
                      <a:pt x="9" y="0"/>
                    </a:lnTo>
                  </a:path>
                </a:pathLst>
              </a:custGeom>
              <a:solidFill>
                <a:srgbClr val="000000"/>
              </a:solidFill>
              <a:ln w="12700" cap="rnd">
                <a:solidFill>
                  <a:srgbClr val="000000"/>
                </a:solidFill>
                <a:round/>
                <a:headEnd/>
                <a:tailEnd/>
              </a:ln>
            </p:spPr>
            <p:txBody>
              <a:bodyPr/>
              <a:lstStyle/>
              <a:p>
                <a:endParaRPr lang="zh-CN" altLang="en-US"/>
              </a:p>
            </p:txBody>
          </p:sp>
          <p:sp>
            <p:nvSpPr>
              <p:cNvPr id="6171" name="Freeform 28"/>
              <p:cNvSpPr>
                <a:spLocks/>
              </p:cNvSpPr>
              <p:nvPr/>
            </p:nvSpPr>
            <p:spPr bwMode="auto">
              <a:xfrm>
                <a:off x="1690" y="447"/>
                <a:ext cx="126" cy="26"/>
              </a:xfrm>
              <a:custGeom>
                <a:avLst/>
                <a:gdLst>
                  <a:gd name="T0" fmla="*/ 123 w 126"/>
                  <a:gd name="T1" fmla="*/ 15 h 26"/>
                  <a:gd name="T2" fmla="*/ 84 w 126"/>
                  <a:gd name="T3" fmla="*/ 3 h 26"/>
                  <a:gd name="T4" fmla="*/ 39 w 126"/>
                  <a:gd name="T5" fmla="*/ 0 h 26"/>
                  <a:gd name="T6" fmla="*/ 2 w 126"/>
                  <a:gd name="T7" fmla="*/ 0 h 26"/>
                  <a:gd name="T8" fmla="*/ 0 w 126"/>
                  <a:gd name="T9" fmla="*/ 8 h 26"/>
                  <a:gd name="T10" fmla="*/ 46 w 126"/>
                  <a:gd name="T11" fmla="*/ 8 h 26"/>
                  <a:gd name="T12" fmla="*/ 89 w 126"/>
                  <a:gd name="T13" fmla="*/ 13 h 26"/>
                  <a:gd name="T14" fmla="*/ 125 w 126"/>
                  <a:gd name="T15" fmla="*/ 25 h 26"/>
                  <a:gd name="T16" fmla="*/ 123 w 126"/>
                  <a:gd name="T17" fmla="*/ 15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6"/>
                  <a:gd name="T28" fmla="*/ 0 h 26"/>
                  <a:gd name="T29" fmla="*/ 126 w 126"/>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6" h="26">
                    <a:moveTo>
                      <a:pt x="123" y="15"/>
                    </a:moveTo>
                    <a:lnTo>
                      <a:pt x="84" y="3"/>
                    </a:lnTo>
                    <a:lnTo>
                      <a:pt x="39" y="0"/>
                    </a:lnTo>
                    <a:lnTo>
                      <a:pt x="2" y="0"/>
                    </a:lnTo>
                    <a:lnTo>
                      <a:pt x="0" y="8"/>
                    </a:lnTo>
                    <a:lnTo>
                      <a:pt x="46" y="8"/>
                    </a:lnTo>
                    <a:lnTo>
                      <a:pt x="89" y="13"/>
                    </a:lnTo>
                    <a:lnTo>
                      <a:pt x="125" y="25"/>
                    </a:lnTo>
                    <a:lnTo>
                      <a:pt x="123" y="15"/>
                    </a:lnTo>
                  </a:path>
                </a:pathLst>
              </a:custGeom>
              <a:solidFill>
                <a:srgbClr val="000000"/>
              </a:solidFill>
              <a:ln w="12700" cap="rnd">
                <a:solidFill>
                  <a:srgbClr val="000000"/>
                </a:solidFill>
                <a:round/>
                <a:headEnd/>
                <a:tailEnd/>
              </a:ln>
            </p:spPr>
            <p:txBody>
              <a:bodyPr/>
              <a:lstStyle/>
              <a:p>
                <a:endParaRPr lang="zh-CN" altLang="en-US"/>
              </a:p>
            </p:txBody>
          </p:sp>
          <p:sp>
            <p:nvSpPr>
              <p:cNvPr id="6172" name="Freeform 29"/>
              <p:cNvSpPr>
                <a:spLocks/>
              </p:cNvSpPr>
              <p:nvPr/>
            </p:nvSpPr>
            <p:spPr bwMode="auto">
              <a:xfrm>
                <a:off x="2454" y="416"/>
                <a:ext cx="66" cy="44"/>
              </a:xfrm>
              <a:custGeom>
                <a:avLst/>
                <a:gdLst>
                  <a:gd name="T0" fmla="*/ 0 w 66"/>
                  <a:gd name="T1" fmla="*/ 33 h 44"/>
                  <a:gd name="T2" fmla="*/ 22 w 66"/>
                  <a:gd name="T3" fmla="*/ 17 h 44"/>
                  <a:gd name="T4" fmla="*/ 61 w 66"/>
                  <a:gd name="T5" fmla="*/ 0 h 44"/>
                  <a:gd name="T6" fmla="*/ 65 w 66"/>
                  <a:gd name="T7" fmla="*/ 8 h 44"/>
                  <a:gd name="T8" fmla="*/ 33 w 66"/>
                  <a:gd name="T9" fmla="*/ 20 h 44"/>
                  <a:gd name="T10" fmla="*/ 0 w 66"/>
                  <a:gd name="T11" fmla="*/ 43 h 44"/>
                  <a:gd name="T12" fmla="*/ 0 w 66"/>
                  <a:gd name="T13" fmla="*/ 33 h 44"/>
                  <a:gd name="T14" fmla="*/ 0 60000 65536"/>
                  <a:gd name="T15" fmla="*/ 0 60000 65536"/>
                  <a:gd name="T16" fmla="*/ 0 60000 65536"/>
                  <a:gd name="T17" fmla="*/ 0 60000 65536"/>
                  <a:gd name="T18" fmla="*/ 0 60000 65536"/>
                  <a:gd name="T19" fmla="*/ 0 60000 65536"/>
                  <a:gd name="T20" fmla="*/ 0 60000 65536"/>
                  <a:gd name="T21" fmla="*/ 0 w 66"/>
                  <a:gd name="T22" fmla="*/ 0 h 44"/>
                  <a:gd name="T23" fmla="*/ 66 w 66"/>
                  <a:gd name="T24" fmla="*/ 44 h 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44">
                    <a:moveTo>
                      <a:pt x="0" y="33"/>
                    </a:moveTo>
                    <a:lnTo>
                      <a:pt x="22" y="17"/>
                    </a:lnTo>
                    <a:lnTo>
                      <a:pt x="61" y="0"/>
                    </a:lnTo>
                    <a:lnTo>
                      <a:pt x="65" y="8"/>
                    </a:lnTo>
                    <a:lnTo>
                      <a:pt x="33" y="20"/>
                    </a:lnTo>
                    <a:lnTo>
                      <a:pt x="0" y="43"/>
                    </a:lnTo>
                    <a:lnTo>
                      <a:pt x="0" y="33"/>
                    </a:lnTo>
                  </a:path>
                </a:pathLst>
              </a:custGeom>
              <a:solidFill>
                <a:srgbClr val="000000"/>
              </a:solidFill>
              <a:ln w="12700" cap="rnd">
                <a:solidFill>
                  <a:srgbClr val="000000"/>
                </a:solidFill>
                <a:round/>
                <a:headEnd/>
                <a:tailEnd/>
              </a:ln>
            </p:spPr>
            <p:txBody>
              <a:bodyPr/>
              <a:lstStyle/>
              <a:p>
                <a:endParaRPr lang="zh-CN" altLang="en-US"/>
              </a:p>
            </p:txBody>
          </p:sp>
          <p:sp>
            <p:nvSpPr>
              <p:cNvPr id="6173" name="Freeform 30"/>
              <p:cNvSpPr>
                <a:spLocks/>
              </p:cNvSpPr>
              <p:nvPr/>
            </p:nvSpPr>
            <p:spPr bwMode="auto">
              <a:xfrm>
                <a:off x="1221" y="633"/>
                <a:ext cx="660" cy="477"/>
              </a:xfrm>
              <a:custGeom>
                <a:avLst/>
                <a:gdLst>
                  <a:gd name="T0" fmla="*/ 645 w 660"/>
                  <a:gd name="T1" fmla="*/ 0 h 477"/>
                  <a:gd name="T2" fmla="*/ 468 w 660"/>
                  <a:gd name="T3" fmla="*/ 32 h 477"/>
                  <a:gd name="T4" fmla="*/ 274 w 660"/>
                  <a:gd name="T5" fmla="*/ 101 h 477"/>
                  <a:gd name="T6" fmla="*/ 158 w 660"/>
                  <a:gd name="T7" fmla="*/ 119 h 477"/>
                  <a:gd name="T8" fmla="*/ 139 w 660"/>
                  <a:gd name="T9" fmla="*/ 158 h 477"/>
                  <a:gd name="T10" fmla="*/ 97 w 660"/>
                  <a:gd name="T11" fmla="*/ 166 h 477"/>
                  <a:gd name="T12" fmla="*/ 47 w 660"/>
                  <a:gd name="T13" fmla="*/ 239 h 477"/>
                  <a:gd name="T14" fmla="*/ 81 w 660"/>
                  <a:gd name="T15" fmla="*/ 303 h 477"/>
                  <a:gd name="T16" fmla="*/ 50 w 660"/>
                  <a:gd name="T17" fmla="*/ 342 h 477"/>
                  <a:gd name="T18" fmla="*/ 74 w 660"/>
                  <a:gd name="T19" fmla="*/ 366 h 477"/>
                  <a:gd name="T20" fmla="*/ 0 w 660"/>
                  <a:gd name="T21" fmla="*/ 443 h 477"/>
                  <a:gd name="T22" fmla="*/ 18 w 660"/>
                  <a:gd name="T23" fmla="*/ 457 h 477"/>
                  <a:gd name="T24" fmla="*/ 43 w 660"/>
                  <a:gd name="T25" fmla="*/ 450 h 477"/>
                  <a:gd name="T26" fmla="*/ 31 w 660"/>
                  <a:gd name="T27" fmla="*/ 438 h 477"/>
                  <a:gd name="T28" fmla="*/ 104 w 660"/>
                  <a:gd name="T29" fmla="*/ 358 h 477"/>
                  <a:gd name="T30" fmla="*/ 277 w 660"/>
                  <a:gd name="T31" fmla="*/ 362 h 477"/>
                  <a:gd name="T32" fmla="*/ 463 w 660"/>
                  <a:gd name="T33" fmla="*/ 453 h 477"/>
                  <a:gd name="T34" fmla="*/ 202 w 660"/>
                  <a:gd name="T35" fmla="*/ 445 h 477"/>
                  <a:gd name="T36" fmla="*/ 279 w 660"/>
                  <a:gd name="T37" fmla="*/ 450 h 477"/>
                  <a:gd name="T38" fmla="*/ 355 w 660"/>
                  <a:gd name="T39" fmla="*/ 476 h 477"/>
                  <a:gd name="T40" fmla="*/ 547 w 660"/>
                  <a:gd name="T41" fmla="*/ 466 h 477"/>
                  <a:gd name="T42" fmla="*/ 659 w 660"/>
                  <a:gd name="T43" fmla="*/ 466 h 477"/>
                  <a:gd name="T44" fmla="*/ 544 w 660"/>
                  <a:gd name="T45" fmla="*/ 457 h 477"/>
                  <a:gd name="T46" fmla="*/ 544 w 660"/>
                  <a:gd name="T47" fmla="*/ 406 h 477"/>
                  <a:gd name="T48" fmla="*/ 412 w 660"/>
                  <a:gd name="T49" fmla="*/ 261 h 477"/>
                  <a:gd name="T50" fmla="*/ 297 w 660"/>
                  <a:gd name="T51" fmla="*/ 209 h 477"/>
                  <a:gd name="T52" fmla="*/ 407 w 660"/>
                  <a:gd name="T53" fmla="*/ 270 h 477"/>
                  <a:gd name="T54" fmla="*/ 477 w 660"/>
                  <a:gd name="T55" fmla="*/ 371 h 477"/>
                  <a:gd name="T56" fmla="*/ 477 w 660"/>
                  <a:gd name="T57" fmla="*/ 443 h 477"/>
                  <a:gd name="T58" fmla="*/ 277 w 660"/>
                  <a:gd name="T59" fmla="*/ 350 h 477"/>
                  <a:gd name="T60" fmla="*/ 191 w 660"/>
                  <a:gd name="T61" fmla="*/ 335 h 477"/>
                  <a:gd name="T62" fmla="*/ 94 w 660"/>
                  <a:gd name="T63" fmla="*/ 298 h 477"/>
                  <a:gd name="T64" fmla="*/ 67 w 660"/>
                  <a:gd name="T65" fmla="*/ 247 h 477"/>
                  <a:gd name="T66" fmla="*/ 97 w 660"/>
                  <a:gd name="T67" fmla="*/ 218 h 477"/>
                  <a:gd name="T68" fmla="*/ 97 w 660"/>
                  <a:gd name="T69" fmla="*/ 178 h 477"/>
                  <a:gd name="T70" fmla="*/ 144 w 660"/>
                  <a:gd name="T71" fmla="*/ 164 h 477"/>
                  <a:gd name="T72" fmla="*/ 202 w 660"/>
                  <a:gd name="T73" fmla="*/ 178 h 477"/>
                  <a:gd name="T74" fmla="*/ 171 w 660"/>
                  <a:gd name="T75" fmla="*/ 145 h 477"/>
                  <a:gd name="T76" fmla="*/ 191 w 660"/>
                  <a:gd name="T77" fmla="*/ 118 h 477"/>
                  <a:gd name="T78" fmla="*/ 279 w 660"/>
                  <a:gd name="T79" fmla="*/ 106 h 477"/>
                  <a:gd name="T80" fmla="*/ 479 w 660"/>
                  <a:gd name="T81" fmla="*/ 32 h 477"/>
                  <a:gd name="T82" fmla="*/ 645 w 660"/>
                  <a:gd name="T83" fmla="*/ 0 h 47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60"/>
                  <a:gd name="T127" fmla="*/ 0 h 477"/>
                  <a:gd name="T128" fmla="*/ 660 w 660"/>
                  <a:gd name="T129" fmla="*/ 477 h 47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60" h="477">
                    <a:moveTo>
                      <a:pt x="645" y="0"/>
                    </a:moveTo>
                    <a:lnTo>
                      <a:pt x="468" y="32"/>
                    </a:lnTo>
                    <a:lnTo>
                      <a:pt x="274" y="101"/>
                    </a:lnTo>
                    <a:lnTo>
                      <a:pt x="158" y="119"/>
                    </a:lnTo>
                    <a:lnTo>
                      <a:pt x="139" y="158"/>
                    </a:lnTo>
                    <a:lnTo>
                      <a:pt x="97" y="166"/>
                    </a:lnTo>
                    <a:lnTo>
                      <a:pt x="47" y="239"/>
                    </a:lnTo>
                    <a:lnTo>
                      <a:pt x="81" y="303"/>
                    </a:lnTo>
                    <a:lnTo>
                      <a:pt x="50" y="342"/>
                    </a:lnTo>
                    <a:lnTo>
                      <a:pt x="74" y="366"/>
                    </a:lnTo>
                    <a:lnTo>
                      <a:pt x="0" y="443"/>
                    </a:lnTo>
                    <a:lnTo>
                      <a:pt x="18" y="457"/>
                    </a:lnTo>
                    <a:lnTo>
                      <a:pt x="43" y="450"/>
                    </a:lnTo>
                    <a:lnTo>
                      <a:pt x="31" y="438"/>
                    </a:lnTo>
                    <a:lnTo>
                      <a:pt x="104" y="358"/>
                    </a:lnTo>
                    <a:lnTo>
                      <a:pt x="277" y="362"/>
                    </a:lnTo>
                    <a:lnTo>
                      <a:pt x="463" y="453"/>
                    </a:lnTo>
                    <a:lnTo>
                      <a:pt x="202" y="445"/>
                    </a:lnTo>
                    <a:lnTo>
                      <a:pt x="279" y="450"/>
                    </a:lnTo>
                    <a:lnTo>
                      <a:pt x="355" y="476"/>
                    </a:lnTo>
                    <a:lnTo>
                      <a:pt x="547" y="466"/>
                    </a:lnTo>
                    <a:lnTo>
                      <a:pt x="659" y="466"/>
                    </a:lnTo>
                    <a:lnTo>
                      <a:pt x="544" y="457"/>
                    </a:lnTo>
                    <a:lnTo>
                      <a:pt x="544" y="406"/>
                    </a:lnTo>
                    <a:lnTo>
                      <a:pt x="412" y="261"/>
                    </a:lnTo>
                    <a:lnTo>
                      <a:pt x="297" y="209"/>
                    </a:lnTo>
                    <a:lnTo>
                      <a:pt x="407" y="270"/>
                    </a:lnTo>
                    <a:lnTo>
                      <a:pt x="477" y="371"/>
                    </a:lnTo>
                    <a:lnTo>
                      <a:pt x="477" y="443"/>
                    </a:lnTo>
                    <a:lnTo>
                      <a:pt x="277" y="350"/>
                    </a:lnTo>
                    <a:lnTo>
                      <a:pt x="191" y="335"/>
                    </a:lnTo>
                    <a:lnTo>
                      <a:pt x="94" y="298"/>
                    </a:lnTo>
                    <a:lnTo>
                      <a:pt x="67" y="247"/>
                    </a:lnTo>
                    <a:lnTo>
                      <a:pt x="97" y="218"/>
                    </a:lnTo>
                    <a:lnTo>
                      <a:pt x="97" y="178"/>
                    </a:lnTo>
                    <a:lnTo>
                      <a:pt x="144" y="164"/>
                    </a:lnTo>
                    <a:lnTo>
                      <a:pt x="202" y="178"/>
                    </a:lnTo>
                    <a:lnTo>
                      <a:pt x="171" y="145"/>
                    </a:lnTo>
                    <a:lnTo>
                      <a:pt x="191" y="118"/>
                    </a:lnTo>
                    <a:lnTo>
                      <a:pt x="279" y="106"/>
                    </a:lnTo>
                    <a:lnTo>
                      <a:pt x="479" y="32"/>
                    </a:lnTo>
                    <a:lnTo>
                      <a:pt x="645" y="0"/>
                    </a:lnTo>
                  </a:path>
                </a:pathLst>
              </a:custGeom>
              <a:solidFill>
                <a:srgbClr val="000000"/>
              </a:solidFill>
              <a:ln w="12700" cap="rnd">
                <a:solidFill>
                  <a:srgbClr val="000000"/>
                </a:solidFill>
                <a:round/>
                <a:headEnd/>
                <a:tailEnd/>
              </a:ln>
            </p:spPr>
            <p:txBody>
              <a:bodyPr/>
              <a:lstStyle/>
              <a:p>
                <a:endParaRPr lang="zh-CN" altLang="en-US"/>
              </a:p>
            </p:txBody>
          </p:sp>
          <p:sp>
            <p:nvSpPr>
              <p:cNvPr id="6174" name="Freeform 31"/>
              <p:cNvSpPr>
                <a:spLocks/>
              </p:cNvSpPr>
              <p:nvPr/>
            </p:nvSpPr>
            <p:spPr bwMode="auto">
              <a:xfrm>
                <a:off x="1200" y="1071"/>
                <a:ext cx="696" cy="259"/>
              </a:xfrm>
              <a:custGeom>
                <a:avLst/>
                <a:gdLst>
                  <a:gd name="T0" fmla="*/ 115 w 696"/>
                  <a:gd name="T1" fmla="*/ 0 h 259"/>
                  <a:gd name="T2" fmla="*/ 22 w 696"/>
                  <a:gd name="T3" fmla="*/ 43 h 259"/>
                  <a:gd name="T4" fmla="*/ 22 w 696"/>
                  <a:gd name="T5" fmla="*/ 99 h 259"/>
                  <a:gd name="T6" fmla="*/ 140 w 696"/>
                  <a:gd name="T7" fmla="*/ 192 h 259"/>
                  <a:gd name="T8" fmla="*/ 393 w 696"/>
                  <a:gd name="T9" fmla="*/ 175 h 259"/>
                  <a:gd name="T10" fmla="*/ 506 w 696"/>
                  <a:gd name="T11" fmla="*/ 223 h 259"/>
                  <a:gd name="T12" fmla="*/ 598 w 696"/>
                  <a:gd name="T13" fmla="*/ 220 h 259"/>
                  <a:gd name="T14" fmla="*/ 609 w 696"/>
                  <a:gd name="T15" fmla="*/ 127 h 259"/>
                  <a:gd name="T16" fmla="*/ 695 w 696"/>
                  <a:gd name="T17" fmla="*/ 35 h 259"/>
                  <a:gd name="T18" fmla="*/ 643 w 696"/>
                  <a:gd name="T19" fmla="*/ 114 h 259"/>
                  <a:gd name="T20" fmla="*/ 643 w 696"/>
                  <a:gd name="T21" fmla="*/ 192 h 259"/>
                  <a:gd name="T22" fmla="*/ 672 w 696"/>
                  <a:gd name="T23" fmla="*/ 258 h 259"/>
                  <a:gd name="T24" fmla="*/ 499 w 696"/>
                  <a:gd name="T25" fmla="*/ 251 h 259"/>
                  <a:gd name="T26" fmla="*/ 337 w 696"/>
                  <a:gd name="T27" fmla="*/ 233 h 259"/>
                  <a:gd name="T28" fmla="*/ 158 w 696"/>
                  <a:gd name="T29" fmla="*/ 233 h 259"/>
                  <a:gd name="T30" fmla="*/ 79 w 696"/>
                  <a:gd name="T31" fmla="*/ 183 h 259"/>
                  <a:gd name="T32" fmla="*/ 0 w 696"/>
                  <a:gd name="T33" fmla="*/ 94 h 259"/>
                  <a:gd name="T34" fmla="*/ 4 w 696"/>
                  <a:gd name="T35" fmla="*/ 28 h 259"/>
                  <a:gd name="T36" fmla="*/ 115 w 696"/>
                  <a:gd name="T37" fmla="*/ 0 h 2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96"/>
                  <a:gd name="T58" fmla="*/ 0 h 259"/>
                  <a:gd name="T59" fmla="*/ 696 w 696"/>
                  <a:gd name="T60" fmla="*/ 259 h 25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96" h="259">
                    <a:moveTo>
                      <a:pt x="115" y="0"/>
                    </a:moveTo>
                    <a:lnTo>
                      <a:pt x="22" y="43"/>
                    </a:lnTo>
                    <a:lnTo>
                      <a:pt x="22" y="99"/>
                    </a:lnTo>
                    <a:lnTo>
                      <a:pt x="140" y="192"/>
                    </a:lnTo>
                    <a:lnTo>
                      <a:pt x="393" y="175"/>
                    </a:lnTo>
                    <a:lnTo>
                      <a:pt x="506" y="223"/>
                    </a:lnTo>
                    <a:lnTo>
                      <a:pt x="598" y="220"/>
                    </a:lnTo>
                    <a:lnTo>
                      <a:pt x="609" y="127"/>
                    </a:lnTo>
                    <a:lnTo>
                      <a:pt x="695" y="35"/>
                    </a:lnTo>
                    <a:lnTo>
                      <a:pt x="643" y="114"/>
                    </a:lnTo>
                    <a:lnTo>
                      <a:pt x="643" y="192"/>
                    </a:lnTo>
                    <a:lnTo>
                      <a:pt x="672" y="258"/>
                    </a:lnTo>
                    <a:lnTo>
                      <a:pt x="499" y="251"/>
                    </a:lnTo>
                    <a:lnTo>
                      <a:pt x="337" y="233"/>
                    </a:lnTo>
                    <a:lnTo>
                      <a:pt x="158" y="233"/>
                    </a:lnTo>
                    <a:lnTo>
                      <a:pt x="79" y="183"/>
                    </a:lnTo>
                    <a:lnTo>
                      <a:pt x="0" y="94"/>
                    </a:lnTo>
                    <a:lnTo>
                      <a:pt x="4" y="28"/>
                    </a:lnTo>
                    <a:lnTo>
                      <a:pt x="115" y="0"/>
                    </a:lnTo>
                  </a:path>
                </a:pathLst>
              </a:custGeom>
              <a:solidFill>
                <a:srgbClr val="000000"/>
              </a:solidFill>
              <a:ln w="12700" cap="rnd">
                <a:solidFill>
                  <a:srgbClr val="000000"/>
                </a:solidFill>
                <a:round/>
                <a:headEnd/>
                <a:tailEnd/>
              </a:ln>
            </p:spPr>
            <p:txBody>
              <a:bodyPr/>
              <a:lstStyle/>
              <a:p>
                <a:endParaRPr lang="zh-CN" altLang="en-US"/>
              </a:p>
            </p:txBody>
          </p:sp>
          <p:sp>
            <p:nvSpPr>
              <p:cNvPr id="6175" name="Freeform 32"/>
              <p:cNvSpPr>
                <a:spLocks/>
              </p:cNvSpPr>
              <p:nvPr/>
            </p:nvSpPr>
            <p:spPr bwMode="auto">
              <a:xfrm>
                <a:off x="2414" y="905"/>
                <a:ext cx="131" cy="132"/>
              </a:xfrm>
              <a:custGeom>
                <a:avLst/>
                <a:gdLst>
                  <a:gd name="T0" fmla="*/ 0 w 131"/>
                  <a:gd name="T1" fmla="*/ 122 h 132"/>
                  <a:gd name="T2" fmla="*/ 58 w 131"/>
                  <a:gd name="T3" fmla="*/ 75 h 132"/>
                  <a:gd name="T4" fmla="*/ 121 w 131"/>
                  <a:gd name="T5" fmla="*/ 0 h 132"/>
                  <a:gd name="T6" fmla="*/ 130 w 131"/>
                  <a:gd name="T7" fmla="*/ 23 h 132"/>
                  <a:gd name="T8" fmla="*/ 72 w 131"/>
                  <a:gd name="T9" fmla="*/ 85 h 132"/>
                  <a:gd name="T10" fmla="*/ 20 w 131"/>
                  <a:gd name="T11" fmla="*/ 131 h 132"/>
                  <a:gd name="T12" fmla="*/ 0 w 131"/>
                  <a:gd name="T13" fmla="*/ 122 h 132"/>
                  <a:gd name="T14" fmla="*/ 0 60000 65536"/>
                  <a:gd name="T15" fmla="*/ 0 60000 65536"/>
                  <a:gd name="T16" fmla="*/ 0 60000 65536"/>
                  <a:gd name="T17" fmla="*/ 0 60000 65536"/>
                  <a:gd name="T18" fmla="*/ 0 60000 65536"/>
                  <a:gd name="T19" fmla="*/ 0 60000 65536"/>
                  <a:gd name="T20" fmla="*/ 0 60000 65536"/>
                  <a:gd name="T21" fmla="*/ 0 w 131"/>
                  <a:gd name="T22" fmla="*/ 0 h 132"/>
                  <a:gd name="T23" fmla="*/ 131 w 131"/>
                  <a:gd name="T24" fmla="*/ 132 h 1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1" h="132">
                    <a:moveTo>
                      <a:pt x="0" y="122"/>
                    </a:moveTo>
                    <a:lnTo>
                      <a:pt x="58" y="75"/>
                    </a:lnTo>
                    <a:lnTo>
                      <a:pt x="121" y="0"/>
                    </a:lnTo>
                    <a:lnTo>
                      <a:pt x="130" y="23"/>
                    </a:lnTo>
                    <a:lnTo>
                      <a:pt x="72" y="85"/>
                    </a:lnTo>
                    <a:lnTo>
                      <a:pt x="20" y="131"/>
                    </a:lnTo>
                    <a:lnTo>
                      <a:pt x="0" y="122"/>
                    </a:lnTo>
                  </a:path>
                </a:pathLst>
              </a:custGeom>
              <a:solidFill>
                <a:srgbClr val="000000"/>
              </a:solidFill>
              <a:ln w="12700" cap="rnd">
                <a:solidFill>
                  <a:srgbClr val="000000"/>
                </a:solidFill>
                <a:round/>
                <a:headEnd/>
                <a:tailEnd/>
              </a:ln>
            </p:spPr>
            <p:txBody>
              <a:bodyPr/>
              <a:lstStyle/>
              <a:p>
                <a:endParaRPr lang="zh-CN" altLang="en-US"/>
              </a:p>
            </p:txBody>
          </p:sp>
          <p:sp>
            <p:nvSpPr>
              <p:cNvPr id="6176" name="Freeform 33"/>
              <p:cNvSpPr>
                <a:spLocks/>
              </p:cNvSpPr>
              <p:nvPr/>
            </p:nvSpPr>
            <p:spPr bwMode="auto">
              <a:xfrm>
                <a:off x="1959" y="741"/>
                <a:ext cx="534" cy="348"/>
              </a:xfrm>
              <a:custGeom>
                <a:avLst/>
                <a:gdLst>
                  <a:gd name="T0" fmla="*/ 533 w 534"/>
                  <a:gd name="T1" fmla="*/ 347 h 348"/>
                  <a:gd name="T2" fmla="*/ 477 w 534"/>
                  <a:gd name="T3" fmla="*/ 279 h 348"/>
                  <a:gd name="T4" fmla="*/ 261 w 534"/>
                  <a:gd name="T5" fmla="*/ 215 h 348"/>
                  <a:gd name="T6" fmla="*/ 142 w 534"/>
                  <a:gd name="T7" fmla="*/ 150 h 348"/>
                  <a:gd name="T8" fmla="*/ 38 w 534"/>
                  <a:gd name="T9" fmla="*/ 61 h 348"/>
                  <a:gd name="T10" fmla="*/ 0 w 534"/>
                  <a:gd name="T11" fmla="*/ 0 h 348"/>
                  <a:gd name="T12" fmla="*/ 47 w 534"/>
                  <a:gd name="T13" fmla="*/ 93 h 348"/>
                  <a:gd name="T14" fmla="*/ 180 w 534"/>
                  <a:gd name="T15" fmla="*/ 199 h 348"/>
                  <a:gd name="T16" fmla="*/ 353 w 534"/>
                  <a:gd name="T17" fmla="*/ 272 h 348"/>
                  <a:gd name="T18" fmla="*/ 470 w 534"/>
                  <a:gd name="T19" fmla="*/ 312 h 348"/>
                  <a:gd name="T20" fmla="*/ 499 w 534"/>
                  <a:gd name="T21" fmla="*/ 342 h 348"/>
                  <a:gd name="T22" fmla="*/ 533 w 534"/>
                  <a:gd name="T23" fmla="*/ 347 h 3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4"/>
                  <a:gd name="T37" fmla="*/ 0 h 348"/>
                  <a:gd name="T38" fmla="*/ 534 w 534"/>
                  <a:gd name="T39" fmla="*/ 348 h 3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4" h="348">
                    <a:moveTo>
                      <a:pt x="533" y="347"/>
                    </a:moveTo>
                    <a:lnTo>
                      <a:pt x="477" y="279"/>
                    </a:lnTo>
                    <a:lnTo>
                      <a:pt x="261" y="215"/>
                    </a:lnTo>
                    <a:lnTo>
                      <a:pt x="142" y="150"/>
                    </a:lnTo>
                    <a:lnTo>
                      <a:pt x="38" y="61"/>
                    </a:lnTo>
                    <a:lnTo>
                      <a:pt x="0" y="0"/>
                    </a:lnTo>
                    <a:lnTo>
                      <a:pt x="47" y="93"/>
                    </a:lnTo>
                    <a:lnTo>
                      <a:pt x="180" y="199"/>
                    </a:lnTo>
                    <a:lnTo>
                      <a:pt x="353" y="272"/>
                    </a:lnTo>
                    <a:lnTo>
                      <a:pt x="470" y="312"/>
                    </a:lnTo>
                    <a:lnTo>
                      <a:pt x="499" y="342"/>
                    </a:lnTo>
                    <a:lnTo>
                      <a:pt x="533" y="347"/>
                    </a:lnTo>
                  </a:path>
                </a:pathLst>
              </a:custGeom>
              <a:solidFill>
                <a:srgbClr val="000000"/>
              </a:solidFill>
              <a:ln w="12700" cap="rnd">
                <a:solidFill>
                  <a:srgbClr val="000000"/>
                </a:solidFill>
                <a:round/>
                <a:headEnd/>
                <a:tailEnd/>
              </a:ln>
            </p:spPr>
            <p:txBody>
              <a:bodyPr/>
              <a:lstStyle/>
              <a:p>
                <a:endParaRPr lang="zh-CN" altLang="en-US"/>
              </a:p>
            </p:txBody>
          </p:sp>
          <p:sp>
            <p:nvSpPr>
              <p:cNvPr id="6177" name="Freeform 34"/>
              <p:cNvSpPr>
                <a:spLocks/>
              </p:cNvSpPr>
              <p:nvPr/>
            </p:nvSpPr>
            <p:spPr bwMode="auto">
              <a:xfrm>
                <a:off x="1888" y="961"/>
                <a:ext cx="169" cy="156"/>
              </a:xfrm>
              <a:custGeom>
                <a:avLst/>
                <a:gdLst>
                  <a:gd name="T0" fmla="*/ 7 w 169"/>
                  <a:gd name="T1" fmla="*/ 140 h 156"/>
                  <a:gd name="T2" fmla="*/ 43 w 169"/>
                  <a:gd name="T3" fmla="*/ 103 h 156"/>
                  <a:gd name="T4" fmla="*/ 121 w 169"/>
                  <a:gd name="T5" fmla="*/ 78 h 156"/>
                  <a:gd name="T6" fmla="*/ 150 w 169"/>
                  <a:gd name="T7" fmla="*/ 0 h 156"/>
                  <a:gd name="T8" fmla="*/ 168 w 169"/>
                  <a:gd name="T9" fmla="*/ 26 h 156"/>
                  <a:gd name="T10" fmla="*/ 159 w 169"/>
                  <a:gd name="T11" fmla="*/ 66 h 156"/>
                  <a:gd name="T12" fmla="*/ 126 w 169"/>
                  <a:gd name="T13" fmla="*/ 103 h 156"/>
                  <a:gd name="T14" fmla="*/ 58 w 169"/>
                  <a:gd name="T15" fmla="*/ 117 h 156"/>
                  <a:gd name="T16" fmla="*/ 0 w 169"/>
                  <a:gd name="T17" fmla="*/ 155 h 156"/>
                  <a:gd name="T18" fmla="*/ 7 w 169"/>
                  <a:gd name="T19" fmla="*/ 140 h 1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9"/>
                  <a:gd name="T31" fmla="*/ 0 h 156"/>
                  <a:gd name="T32" fmla="*/ 169 w 169"/>
                  <a:gd name="T33" fmla="*/ 156 h 15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9" h="156">
                    <a:moveTo>
                      <a:pt x="7" y="140"/>
                    </a:moveTo>
                    <a:lnTo>
                      <a:pt x="43" y="103"/>
                    </a:lnTo>
                    <a:lnTo>
                      <a:pt x="121" y="78"/>
                    </a:lnTo>
                    <a:lnTo>
                      <a:pt x="150" y="0"/>
                    </a:lnTo>
                    <a:lnTo>
                      <a:pt x="168" y="26"/>
                    </a:lnTo>
                    <a:lnTo>
                      <a:pt x="159" y="66"/>
                    </a:lnTo>
                    <a:lnTo>
                      <a:pt x="126" y="103"/>
                    </a:lnTo>
                    <a:lnTo>
                      <a:pt x="58" y="117"/>
                    </a:lnTo>
                    <a:lnTo>
                      <a:pt x="0" y="155"/>
                    </a:lnTo>
                    <a:lnTo>
                      <a:pt x="7" y="140"/>
                    </a:lnTo>
                  </a:path>
                </a:pathLst>
              </a:custGeom>
              <a:solidFill>
                <a:srgbClr val="000000"/>
              </a:solidFill>
              <a:ln w="12700" cap="rnd">
                <a:solidFill>
                  <a:srgbClr val="000000"/>
                </a:solidFill>
                <a:round/>
                <a:headEnd/>
                <a:tailEnd/>
              </a:ln>
            </p:spPr>
            <p:txBody>
              <a:bodyPr/>
              <a:lstStyle/>
              <a:p>
                <a:endParaRPr lang="zh-CN" altLang="en-US"/>
              </a:p>
            </p:txBody>
          </p:sp>
          <p:sp>
            <p:nvSpPr>
              <p:cNvPr id="6178" name="Freeform 35"/>
              <p:cNvSpPr>
                <a:spLocks/>
              </p:cNvSpPr>
              <p:nvPr/>
            </p:nvSpPr>
            <p:spPr bwMode="auto">
              <a:xfrm>
                <a:off x="1838" y="961"/>
                <a:ext cx="703" cy="348"/>
              </a:xfrm>
              <a:custGeom>
                <a:avLst/>
                <a:gdLst>
                  <a:gd name="T0" fmla="*/ 234 w 703"/>
                  <a:gd name="T1" fmla="*/ 0 h 348"/>
                  <a:gd name="T2" fmla="*/ 301 w 703"/>
                  <a:gd name="T3" fmla="*/ 23 h 348"/>
                  <a:gd name="T4" fmla="*/ 311 w 703"/>
                  <a:gd name="T5" fmla="*/ 58 h 348"/>
                  <a:gd name="T6" fmla="*/ 304 w 703"/>
                  <a:gd name="T7" fmla="*/ 82 h 348"/>
                  <a:gd name="T8" fmla="*/ 277 w 703"/>
                  <a:gd name="T9" fmla="*/ 108 h 348"/>
                  <a:gd name="T10" fmla="*/ 277 w 703"/>
                  <a:gd name="T11" fmla="*/ 127 h 348"/>
                  <a:gd name="T12" fmla="*/ 311 w 703"/>
                  <a:gd name="T13" fmla="*/ 133 h 348"/>
                  <a:gd name="T14" fmla="*/ 396 w 703"/>
                  <a:gd name="T15" fmla="*/ 133 h 348"/>
                  <a:gd name="T16" fmla="*/ 596 w 703"/>
                  <a:gd name="T17" fmla="*/ 124 h 348"/>
                  <a:gd name="T18" fmla="*/ 625 w 703"/>
                  <a:gd name="T19" fmla="*/ 122 h 348"/>
                  <a:gd name="T20" fmla="*/ 680 w 703"/>
                  <a:gd name="T21" fmla="*/ 131 h 348"/>
                  <a:gd name="T22" fmla="*/ 702 w 703"/>
                  <a:gd name="T23" fmla="*/ 153 h 348"/>
                  <a:gd name="T24" fmla="*/ 702 w 703"/>
                  <a:gd name="T25" fmla="*/ 185 h 348"/>
                  <a:gd name="T26" fmla="*/ 659 w 703"/>
                  <a:gd name="T27" fmla="*/ 199 h 348"/>
                  <a:gd name="T28" fmla="*/ 500 w 703"/>
                  <a:gd name="T29" fmla="*/ 199 h 348"/>
                  <a:gd name="T30" fmla="*/ 396 w 703"/>
                  <a:gd name="T31" fmla="*/ 209 h 348"/>
                  <a:gd name="T32" fmla="*/ 410 w 703"/>
                  <a:gd name="T33" fmla="*/ 232 h 348"/>
                  <a:gd name="T34" fmla="*/ 396 w 703"/>
                  <a:gd name="T35" fmla="*/ 258 h 348"/>
                  <a:gd name="T36" fmla="*/ 382 w 703"/>
                  <a:gd name="T37" fmla="*/ 267 h 348"/>
                  <a:gd name="T38" fmla="*/ 382 w 703"/>
                  <a:gd name="T39" fmla="*/ 297 h 348"/>
                  <a:gd name="T40" fmla="*/ 335 w 703"/>
                  <a:gd name="T41" fmla="*/ 312 h 348"/>
                  <a:gd name="T42" fmla="*/ 324 w 703"/>
                  <a:gd name="T43" fmla="*/ 330 h 348"/>
                  <a:gd name="T44" fmla="*/ 247 w 703"/>
                  <a:gd name="T45" fmla="*/ 344 h 348"/>
                  <a:gd name="T46" fmla="*/ 115 w 703"/>
                  <a:gd name="T47" fmla="*/ 347 h 348"/>
                  <a:gd name="T48" fmla="*/ 0 w 703"/>
                  <a:gd name="T49" fmla="*/ 324 h 348"/>
                  <a:gd name="T50" fmla="*/ 133 w 703"/>
                  <a:gd name="T51" fmla="*/ 335 h 348"/>
                  <a:gd name="T52" fmla="*/ 243 w 703"/>
                  <a:gd name="T53" fmla="*/ 335 h 348"/>
                  <a:gd name="T54" fmla="*/ 284 w 703"/>
                  <a:gd name="T55" fmla="*/ 324 h 348"/>
                  <a:gd name="T56" fmla="*/ 293 w 703"/>
                  <a:gd name="T57" fmla="*/ 302 h 348"/>
                  <a:gd name="T58" fmla="*/ 328 w 703"/>
                  <a:gd name="T59" fmla="*/ 293 h 348"/>
                  <a:gd name="T60" fmla="*/ 331 w 703"/>
                  <a:gd name="T61" fmla="*/ 258 h 348"/>
                  <a:gd name="T62" fmla="*/ 346 w 703"/>
                  <a:gd name="T63" fmla="*/ 234 h 348"/>
                  <a:gd name="T64" fmla="*/ 338 w 703"/>
                  <a:gd name="T65" fmla="*/ 209 h 348"/>
                  <a:gd name="T66" fmla="*/ 475 w 703"/>
                  <a:gd name="T67" fmla="*/ 192 h 348"/>
                  <a:gd name="T68" fmla="*/ 648 w 703"/>
                  <a:gd name="T69" fmla="*/ 190 h 348"/>
                  <a:gd name="T70" fmla="*/ 673 w 703"/>
                  <a:gd name="T71" fmla="*/ 176 h 348"/>
                  <a:gd name="T72" fmla="*/ 670 w 703"/>
                  <a:gd name="T73" fmla="*/ 142 h 348"/>
                  <a:gd name="T74" fmla="*/ 634 w 703"/>
                  <a:gd name="T75" fmla="*/ 135 h 348"/>
                  <a:gd name="T76" fmla="*/ 576 w 703"/>
                  <a:gd name="T77" fmla="*/ 133 h 348"/>
                  <a:gd name="T78" fmla="*/ 396 w 703"/>
                  <a:gd name="T79" fmla="*/ 140 h 348"/>
                  <a:gd name="T80" fmla="*/ 301 w 703"/>
                  <a:gd name="T81" fmla="*/ 140 h 348"/>
                  <a:gd name="T82" fmla="*/ 248 w 703"/>
                  <a:gd name="T83" fmla="*/ 131 h 348"/>
                  <a:gd name="T84" fmla="*/ 274 w 703"/>
                  <a:gd name="T85" fmla="*/ 103 h 348"/>
                  <a:gd name="T86" fmla="*/ 293 w 703"/>
                  <a:gd name="T87" fmla="*/ 58 h 348"/>
                  <a:gd name="T88" fmla="*/ 284 w 703"/>
                  <a:gd name="T89" fmla="*/ 26 h 348"/>
                  <a:gd name="T90" fmla="*/ 234 w 703"/>
                  <a:gd name="T91" fmla="*/ 0 h 34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703"/>
                  <a:gd name="T139" fmla="*/ 0 h 348"/>
                  <a:gd name="T140" fmla="*/ 703 w 703"/>
                  <a:gd name="T141" fmla="*/ 348 h 348"/>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703" h="348">
                    <a:moveTo>
                      <a:pt x="234" y="0"/>
                    </a:moveTo>
                    <a:lnTo>
                      <a:pt x="301" y="23"/>
                    </a:lnTo>
                    <a:lnTo>
                      <a:pt x="311" y="58"/>
                    </a:lnTo>
                    <a:lnTo>
                      <a:pt x="304" y="82"/>
                    </a:lnTo>
                    <a:lnTo>
                      <a:pt x="277" y="108"/>
                    </a:lnTo>
                    <a:lnTo>
                      <a:pt x="277" y="127"/>
                    </a:lnTo>
                    <a:lnTo>
                      <a:pt x="311" y="133"/>
                    </a:lnTo>
                    <a:lnTo>
                      <a:pt x="396" y="133"/>
                    </a:lnTo>
                    <a:lnTo>
                      <a:pt x="596" y="124"/>
                    </a:lnTo>
                    <a:lnTo>
                      <a:pt x="625" y="122"/>
                    </a:lnTo>
                    <a:lnTo>
                      <a:pt x="680" y="131"/>
                    </a:lnTo>
                    <a:lnTo>
                      <a:pt x="702" y="153"/>
                    </a:lnTo>
                    <a:lnTo>
                      <a:pt x="702" y="185"/>
                    </a:lnTo>
                    <a:lnTo>
                      <a:pt x="659" y="199"/>
                    </a:lnTo>
                    <a:lnTo>
                      <a:pt x="500" y="199"/>
                    </a:lnTo>
                    <a:lnTo>
                      <a:pt x="396" y="209"/>
                    </a:lnTo>
                    <a:lnTo>
                      <a:pt x="410" y="232"/>
                    </a:lnTo>
                    <a:lnTo>
                      <a:pt x="396" y="258"/>
                    </a:lnTo>
                    <a:lnTo>
                      <a:pt x="382" y="267"/>
                    </a:lnTo>
                    <a:lnTo>
                      <a:pt x="382" y="297"/>
                    </a:lnTo>
                    <a:lnTo>
                      <a:pt x="335" y="312"/>
                    </a:lnTo>
                    <a:lnTo>
                      <a:pt x="324" y="330"/>
                    </a:lnTo>
                    <a:lnTo>
                      <a:pt x="247" y="344"/>
                    </a:lnTo>
                    <a:lnTo>
                      <a:pt x="115" y="347"/>
                    </a:lnTo>
                    <a:lnTo>
                      <a:pt x="0" y="324"/>
                    </a:lnTo>
                    <a:lnTo>
                      <a:pt x="133" y="335"/>
                    </a:lnTo>
                    <a:lnTo>
                      <a:pt x="243" y="335"/>
                    </a:lnTo>
                    <a:lnTo>
                      <a:pt x="284" y="324"/>
                    </a:lnTo>
                    <a:lnTo>
                      <a:pt x="293" y="302"/>
                    </a:lnTo>
                    <a:lnTo>
                      <a:pt x="328" y="293"/>
                    </a:lnTo>
                    <a:lnTo>
                      <a:pt x="331" y="258"/>
                    </a:lnTo>
                    <a:lnTo>
                      <a:pt x="346" y="234"/>
                    </a:lnTo>
                    <a:lnTo>
                      <a:pt x="338" y="209"/>
                    </a:lnTo>
                    <a:lnTo>
                      <a:pt x="475" y="192"/>
                    </a:lnTo>
                    <a:lnTo>
                      <a:pt x="648" y="190"/>
                    </a:lnTo>
                    <a:lnTo>
                      <a:pt x="673" y="176"/>
                    </a:lnTo>
                    <a:lnTo>
                      <a:pt x="670" y="142"/>
                    </a:lnTo>
                    <a:lnTo>
                      <a:pt x="634" y="135"/>
                    </a:lnTo>
                    <a:lnTo>
                      <a:pt x="576" y="133"/>
                    </a:lnTo>
                    <a:lnTo>
                      <a:pt x="396" y="140"/>
                    </a:lnTo>
                    <a:lnTo>
                      <a:pt x="301" y="140"/>
                    </a:lnTo>
                    <a:lnTo>
                      <a:pt x="248" y="131"/>
                    </a:lnTo>
                    <a:lnTo>
                      <a:pt x="274" y="103"/>
                    </a:lnTo>
                    <a:lnTo>
                      <a:pt x="293" y="58"/>
                    </a:lnTo>
                    <a:lnTo>
                      <a:pt x="284" y="26"/>
                    </a:lnTo>
                    <a:lnTo>
                      <a:pt x="234" y="0"/>
                    </a:lnTo>
                  </a:path>
                </a:pathLst>
              </a:custGeom>
              <a:solidFill>
                <a:srgbClr val="000000"/>
              </a:solidFill>
              <a:ln w="12700" cap="rnd">
                <a:solidFill>
                  <a:srgbClr val="000000"/>
                </a:solidFill>
                <a:round/>
                <a:headEnd/>
                <a:tailEnd/>
              </a:ln>
            </p:spPr>
            <p:txBody>
              <a:bodyPr/>
              <a:lstStyle/>
              <a:p>
                <a:endParaRPr lang="zh-CN" altLang="en-US"/>
              </a:p>
            </p:txBody>
          </p:sp>
          <p:sp>
            <p:nvSpPr>
              <p:cNvPr id="6179" name="Freeform 36"/>
              <p:cNvSpPr>
                <a:spLocks/>
              </p:cNvSpPr>
              <p:nvPr/>
            </p:nvSpPr>
            <p:spPr bwMode="auto">
              <a:xfrm>
                <a:off x="1849" y="713"/>
                <a:ext cx="97" cy="106"/>
              </a:xfrm>
              <a:custGeom>
                <a:avLst/>
                <a:gdLst>
                  <a:gd name="T0" fmla="*/ 4 w 97"/>
                  <a:gd name="T1" fmla="*/ 0 h 106"/>
                  <a:gd name="T2" fmla="*/ 0 w 97"/>
                  <a:gd name="T3" fmla="*/ 58 h 106"/>
                  <a:gd name="T4" fmla="*/ 14 w 97"/>
                  <a:gd name="T5" fmla="*/ 92 h 106"/>
                  <a:gd name="T6" fmla="*/ 39 w 97"/>
                  <a:gd name="T7" fmla="*/ 89 h 106"/>
                  <a:gd name="T8" fmla="*/ 41 w 97"/>
                  <a:gd name="T9" fmla="*/ 105 h 106"/>
                  <a:gd name="T10" fmla="*/ 96 w 97"/>
                  <a:gd name="T11" fmla="*/ 83 h 106"/>
                  <a:gd name="T12" fmla="*/ 46 w 97"/>
                  <a:gd name="T13" fmla="*/ 83 h 106"/>
                  <a:gd name="T14" fmla="*/ 18 w 97"/>
                  <a:gd name="T15" fmla="*/ 84 h 106"/>
                  <a:gd name="T16" fmla="*/ 9 w 97"/>
                  <a:gd name="T17" fmla="*/ 63 h 106"/>
                  <a:gd name="T18" fmla="*/ 9 w 97"/>
                  <a:gd name="T19" fmla="*/ 35 h 106"/>
                  <a:gd name="T20" fmla="*/ 4 w 97"/>
                  <a:gd name="T21" fmla="*/ 0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7"/>
                  <a:gd name="T34" fmla="*/ 0 h 106"/>
                  <a:gd name="T35" fmla="*/ 97 w 97"/>
                  <a:gd name="T36" fmla="*/ 106 h 1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7" h="106">
                    <a:moveTo>
                      <a:pt x="4" y="0"/>
                    </a:moveTo>
                    <a:lnTo>
                      <a:pt x="0" y="58"/>
                    </a:lnTo>
                    <a:lnTo>
                      <a:pt x="14" y="92"/>
                    </a:lnTo>
                    <a:lnTo>
                      <a:pt x="39" y="89"/>
                    </a:lnTo>
                    <a:lnTo>
                      <a:pt x="41" y="105"/>
                    </a:lnTo>
                    <a:lnTo>
                      <a:pt x="96" y="83"/>
                    </a:lnTo>
                    <a:lnTo>
                      <a:pt x="46" y="83"/>
                    </a:lnTo>
                    <a:lnTo>
                      <a:pt x="18" y="84"/>
                    </a:lnTo>
                    <a:lnTo>
                      <a:pt x="9" y="63"/>
                    </a:lnTo>
                    <a:lnTo>
                      <a:pt x="9" y="35"/>
                    </a:lnTo>
                    <a:lnTo>
                      <a:pt x="4" y="0"/>
                    </a:lnTo>
                  </a:path>
                </a:pathLst>
              </a:custGeom>
              <a:solidFill>
                <a:srgbClr val="000000"/>
              </a:solidFill>
              <a:ln w="12700" cap="rnd">
                <a:solidFill>
                  <a:srgbClr val="000000"/>
                </a:solidFill>
                <a:round/>
                <a:headEnd/>
                <a:tailEnd/>
              </a:ln>
            </p:spPr>
            <p:txBody>
              <a:bodyPr/>
              <a:lstStyle/>
              <a:p>
                <a:endParaRPr lang="zh-CN" altLang="en-US"/>
              </a:p>
            </p:txBody>
          </p:sp>
          <p:sp>
            <p:nvSpPr>
              <p:cNvPr id="6180" name="Freeform 37"/>
              <p:cNvSpPr>
                <a:spLocks/>
              </p:cNvSpPr>
              <p:nvPr/>
            </p:nvSpPr>
            <p:spPr bwMode="auto">
              <a:xfrm>
                <a:off x="1924" y="854"/>
                <a:ext cx="540" cy="230"/>
              </a:xfrm>
              <a:custGeom>
                <a:avLst/>
                <a:gdLst>
                  <a:gd name="T0" fmla="*/ 11 w 540"/>
                  <a:gd name="T1" fmla="*/ 0 h 230"/>
                  <a:gd name="T2" fmla="*/ 0 w 540"/>
                  <a:gd name="T3" fmla="*/ 8 h 230"/>
                  <a:gd name="T4" fmla="*/ 63 w 540"/>
                  <a:gd name="T5" fmla="*/ 61 h 230"/>
                  <a:gd name="T6" fmla="*/ 148 w 540"/>
                  <a:gd name="T7" fmla="*/ 101 h 230"/>
                  <a:gd name="T8" fmla="*/ 252 w 540"/>
                  <a:gd name="T9" fmla="*/ 152 h 230"/>
                  <a:gd name="T10" fmla="*/ 442 w 540"/>
                  <a:gd name="T11" fmla="*/ 197 h 230"/>
                  <a:gd name="T12" fmla="*/ 505 w 540"/>
                  <a:gd name="T13" fmla="*/ 211 h 230"/>
                  <a:gd name="T14" fmla="*/ 539 w 540"/>
                  <a:gd name="T15" fmla="*/ 229 h 230"/>
                  <a:gd name="T16" fmla="*/ 512 w 540"/>
                  <a:gd name="T17" fmla="*/ 206 h 230"/>
                  <a:gd name="T18" fmla="*/ 310 w 540"/>
                  <a:gd name="T19" fmla="*/ 157 h 230"/>
                  <a:gd name="T20" fmla="*/ 209 w 540"/>
                  <a:gd name="T21" fmla="*/ 117 h 230"/>
                  <a:gd name="T22" fmla="*/ 90 w 540"/>
                  <a:gd name="T23" fmla="*/ 54 h 230"/>
                  <a:gd name="T24" fmla="*/ 27 w 540"/>
                  <a:gd name="T25" fmla="*/ 8 h 230"/>
                  <a:gd name="T26" fmla="*/ 11 w 540"/>
                  <a:gd name="T27" fmla="*/ 0 h 2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40"/>
                  <a:gd name="T43" fmla="*/ 0 h 230"/>
                  <a:gd name="T44" fmla="*/ 540 w 540"/>
                  <a:gd name="T45" fmla="*/ 230 h 23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40" h="230">
                    <a:moveTo>
                      <a:pt x="11" y="0"/>
                    </a:moveTo>
                    <a:lnTo>
                      <a:pt x="0" y="8"/>
                    </a:lnTo>
                    <a:lnTo>
                      <a:pt x="63" y="61"/>
                    </a:lnTo>
                    <a:lnTo>
                      <a:pt x="148" y="101"/>
                    </a:lnTo>
                    <a:lnTo>
                      <a:pt x="252" y="152"/>
                    </a:lnTo>
                    <a:lnTo>
                      <a:pt x="442" y="197"/>
                    </a:lnTo>
                    <a:lnTo>
                      <a:pt x="505" y="211"/>
                    </a:lnTo>
                    <a:lnTo>
                      <a:pt x="539" y="229"/>
                    </a:lnTo>
                    <a:lnTo>
                      <a:pt x="512" y="206"/>
                    </a:lnTo>
                    <a:lnTo>
                      <a:pt x="310" y="157"/>
                    </a:lnTo>
                    <a:lnTo>
                      <a:pt x="209" y="117"/>
                    </a:lnTo>
                    <a:lnTo>
                      <a:pt x="90" y="54"/>
                    </a:lnTo>
                    <a:lnTo>
                      <a:pt x="27" y="8"/>
                    </a:lnTo>
                    <a:lnTo>
                      <a:pt x="11" y="0"/>
                    </a:lnTo>
                  </a:path>
                </a:pathLst>
              </a:custGeom>
              <a:solidFill>
                <a:srgbClr val="000000"/>
              </a:solidFill>
              <a:ln w="12700" cap="rnd">
                <a:solidFill>
                  <a:srgbClr val="000000"/>
                </a:solidFill>
                <a:round/>
                <a:headEnd/>
                <a:tailEnd/>
              </a:ln>
            </p:spPr>
            <p:txBody>
              <a:bodyPr/>
              <a:lstStyle/>
              <a:p>
                <a:endParaRPr lang="zh-CN" altLang="en-US"/>
              </a:p>
            </p:txBody>
          </p:sp>
          <p:sp>
            <p:nvSpPr>
              <p:cNvPr id="6181" name="Freeform 38"/>
              <p:cNvSpPr>
                <a:spLocks/>
              </p:cNvSpPr>
              <p:nvPr/>
            </p:nvSpPr>
            <p:spPr bwMode="auto">
              <a:xfrm>
                <a:off x="2111" y="741"/>
                <a:ext cx="369" cy="108"/>
              </a:xfrm>
              <a:custGeom>
                <a:avLst/>
                <a:gdLst>
                  <a:gd name="T0" fmla="*/ 0 w 369"/>
                  <a:gd name="T1" fmla="*/ 107 h 108"/>
                  <a:gd name="T2" fmla="*/ 54 w 369"/>
                  <a:gd name="T3" fmla="*/ 13 h 108"/>
                  <a:gd name="T4" fmla="*/ 188 w 369"/>
                  <a:gd name="T5" fmla="*/ 0 h 108"/>
                  <a:gd name="T6" fmla="*/ 303 w 369"/>
                  <a:gd name="T7" fmla="*/ 23 h 108"/>
                  <a:gd name="T8" fmla="*/ 368 w 369"/>
                  <a:gd name="T9" fmla="*/ 68 h 108"/>
                  <a:gd name="T10" fmla="*/ 260 w 369"/>
                  <a:gd name="T11" fmla="*/ 23 h 108"/>
                  <a:gd name="T12" fmla="*/ 220 w 369"/>
                  <a:gd name="T13" fmla="*/ 87 h 108"/>
                  <a:gd name="T14" fmla="*/ 220 w 369"/>
                  <a:gd name="T15" fmla="*/ 13 h 108"/>
                  <a:gd name="T16" fmla="*/ 162 w 369"/>
                  <a:gd name="T17" fmla="*/ 11 h 108"/>
                  <a:gd name="T18" fmla="*/ 90 w 369"/>
                  <a:gd name="T19" fmla="*/ 20 h 108"/>
                  <a:gd name="T20" fmla="*/ 157 w 369"/>
                  <a:gd name="T21" fmla="*/ 87 h 108"/>
                  <a:gd name="T22" fmla="*/ 61 w 369"/>
                  <a:gd name="T23" fmla="*/ 33 h 108"/>
                  <a:gd name="T24" fmla="*/ 0 w 369"/>
                  <a:gd name="T25" fmla="*/ 107 h 1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69"/>
                  <a:gd name="T40" fmla="*/ 0 h 108"/>
                  <a:gd name="T41" fmla="*/ 369 w 369"/>
                  <a:gd name="T42" fmla="*/ 108 h 1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69" h="108">
                    <a:moveTo>
                      <a:pt x="0" y="107"/>
                    </a:moveTo>
                    <a:lnTo>
                      <a:pt x="54" y="13"/>
                    </a:lnTo>
                    <a:lnTo>
                      <a:pt x="188" y="0"/>
                    </a:lnTo>
                    <a:lnTo>
                      <a:pt x="303" y="23"/>
                    </a:lnTo>
                    <a:lnTo>
                      <a:pt x="368" y="68"/>
                    </a:lnTo>
                    <a:lnTo>
                      <a:pt x="260" y="23"/>
                    </a:lnTo>
                    <a:lnTo>
                      <a:pt x="220" y="87"/>
                    </a:lnTo>
                    <a:lnTo>
                      <a:pt x="220" y="13"/>
                    </a:lnTo>
                    <a:lnTo>
                      <a:pt x="162" y="11"/>
                    </a:lnTo>
                    <a:lnTo>
                      <a:pt x="90" y="20"/>
                    </a:lnTo>
                    <a:lnTo>
                      <a:pt x="157" y="87"/>
                    </a:lnTo>
                    <a:lnTo>
                      <a:pt x="61" y="33"/>
                    </a:lnTo>
                    <a:lnTo>
                      <a:pt x="0" y="107"/>
                    </a:lnTo>
                  </a:path>
                </a:pathLst>
              </a:custGeom>
              <a:solidFill>
                <a:srgbClr val="000000"/>
              </a:solidFill>
              <a:ln w="12700" cap="rnd">
                <a:solidFill>
                  <a:srgbClr val="000000"/>
                </a:solidFill>
                <a:round/>
                <a:headEnd/>
                <a:tailEnd/>
              </a:ln>
            </p:spPr>
            <p:txBody>
              <a:bodyPr/>
              <a:lstStyle/>
              <a:p>
                <a:endParaRPr lang="zh-CN" altLang="en-US"/>
              </a:p>
            </p:txBody>
          </p:sp>
          <p:sp>
            <p:nvSpPr>
              <p:cNvPr id="6182" name="Freeform 39"/>
              <p:cNvSpPr>
                <a:spLocks/>
              </p:cNvSpPr>
              <p:nvPr/>
            </p:nvSpPr>
            <p:spPr bwMode="auto">
              <a:xfrm>
                <a:off x="2292" y="828"/>
                <a:ext cx="196" cy="172"/>
              </a:xfrm>
              <a:custGeom>
                <a:avLst/>
                <a:gdLst>
                  <a:gd name="T0" fmla="*/ 40 w 196"/>
                  <a:gd name="T1" fmla="*/ 0 h 172"/>
                  <a:gd name="T2" fmla="*/ 0 w 196"/>
                  <a:gd name="T3" fmla="*/ 0 h 172"/>
                  <a:gd name="T4" fmla="*/ 0 w 196"/>
                  <a:gd name="T5" fmla="*/ 153 h 172"/>
                  <a:gd name="T6" fmla="*/ 47 w 196"/>
                  <a:gd name="T7" fmla="*/ 171 h 172"/>
                  <a:gd name="T8" fmla="*/ 43 w 196"/>
                  <a:gd name="T9" fmla="*/ 138 h 172"/>
                  <a:gd name="T10" fmla="*/ 16 w 196"/>
                  <a:gd name="T11" fmla="*/ 84 h 172"/>
                  <a:gd name="T12" fmla="*/ 40 w 196"/>
                  <a:gd name="T13" fmla="*/ 11 h 172"/>
                  <a:gd name="T14" fmla="*/ 188 w 196"/>
                  <a:gd name="T15" fmla="*/ 155 h 172"/>
                  <a:gd name="T16" fmla="*/ 195 w 196"/>
                  <a:gd name="T17" fmla="*/ 140 h 172"/>
                  <a:gd name="T18" fmla="*/ 51 w 196"/>
                  <a:gd name="T19" fmla="*/ 4 h 172"/>
                  <a:gd name="T20" fmla="*/ 40 w 196"/>
                  <a:gd name="T21" fmla="*/ 0 h 17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6"/>
                  <a:gd name="T34" fmla="*/ 0 h 172"/>
                  <a:gd name="T35" fmla="*/ 196 w 196"/>
                  <a:gd name="T36" fmla="*/ 172 h 17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6" h="172">
                    <a:moveTo>
                      <a:pt x="40" y="0"/>
                    </a:moveTo>
                    <a:lnTo>
                      <a:pt x="0" y="0"/>
                    </a:lnTo>
                    <a:lnTo>
                      <a:pt x="0" y="153"/>
                    </a:lnTo>
                    <a:lnTo>
                      <a:pt x="47" y="171"/>
                    </a:lnTo>
                    <a:lnTo>
                      <a:pt x="43" y="138"/>
                    </a:lnTo>
                    <a:lnTo>
                      <a:pt x="16" y="84"/>
                    </a:lnTo>
                    <a:lnTo>
                      <a:pt x="40" y="11"/>
                    </a:lnTo>
                    <a:lnTo>
                      <a:pt x="188" y="155"/>
                    </a:lnTo>
                    <a:lnTo>
                      <a:pt x="195" y="140"/>
                    </a:lnTo>
                    <a:lnTo>
                      <a:pt x="51" y="4"/>
                    </a:lnTo>
                    <a:lnTo>
                      <a:pt x="40" y="0"/>
                    </a:lnTo>
                  </a:path>
                </a:pathLst>
              </a:custGeom>
              <a:solidFill>
                <a:srgbClr val="000000"/>
              </a:solidFill>
              <a:ln w="12700" cap="rnd">
                <a:solidFill>
                  <a:srgbClr val="000000"/>
                </a:solidFill>
                <a:round/>
                <a:headEnd/>
                <a:tailEnd/>
              </a:ln>
            </p:spPr>
            <p:txBody>
              <a:bodyPr/>
              <a:lstStyle/>
              <a:p>
                <a:endParaRPr lang="zh-CN" altLang="en-US"/>
              </a:p>
            </p:txBody>
          </p:sp>
          <p:sp>
            <p:nvSpPr>
              <p:cNvPr id="6183" name="Freeform 40"/>
              <p:cNvSpPr>
                <a:spLocks/>
              </p:cNvSpPr>
              <p:nvPr/>
            </p:nvSpPr>
            <p:spPr bwMode="auto">
              <a:xfrm>
                <a:off x="2492" y="1152"/>
                <a:ext cx="53" cy="107"/>
              </a:xfrm>
              <a:custGeom>
                <a:avLst/>
                <a:gdLst>
                  <a:gd name="T0" fmla="*/ 18 w 53"/>
                  <a:gd name="T1" fmla="*/ 0 h 107"/>
                  <a:gd name="T2" fmla="*/ 52 w 53"/>
                  <a:gd name="T3" fmla="*/ 64 h 107"/>
                  <a:gd name="T4" fmla="*/ 52 w 53"/>
                  <a:gd name="T5" fmla="*/ 106 h 107"/>
                  <a:gd name="T6" fmla="*/ 0 w 53"/>
                  <a:gd name="T7" fmla="*/ 6 h 107"/>
                  <a:gd name="T8" fmla="*/ 18 w 53"/>
                  <a:gd name="T9" fmla="*/ 0 h 107"/>
                  <a:gd name="T10" fmla="*/ 0 60000 65536"/>
                  <a:gd name="T11" fmla="*/ 0 60000 65536"/>
                  <a:gd name="T12" fmla="*/ 0 60000 65536"/>
                  <a:gd name="T13" fmla="*/ 0 60000 65536"/>
                  <a:gd name="T14" fmla="*/ 0 60000 65536"/>
                  <a:gd name="T15" fmla="*/ 0 w 53"/>
                  <a:gd name="T16" fmla="*/ 0 h 107"/>
                  <a:gd name="T17" fmla="*/ 53 w 53"/>
                  <a:gd name="T18" fmla="*/ 107 h 107"/>
                </a:gdLst>
                <a:ahLst/>
                <a:cxnLst>
                  <a:cxn ang="T10">
                    <a:pos x="T0" y="T1"/>
                  </a:cxn>
                  <a:cxn ang="T11">
                    <a:pos x="T2" y="T3"/>
                  </a:cxn>
                  <a:cxn ang="T12">
                    <a:pos x="T4" y="T5"/>
                  </a:cxn>
                  <a:cxn ang="T13">
                    <a:pos x="T6" y="T7"/>
                  </a:cxn>
                  <a:cxn ang="T14">
                    <a:pos x="T8" y="T9"/>
                  </a:cxn>
                </a:cxnLst>
                <a:rect l="T15" t="T16" r="T17" b="T18"/>
                <a:pathLst>
                  <a:path w="53" h="107">
                    <a:moveTo>
                      <a:pt x="18" y="0"/>
                    </a:moveTo>
                    <a:lnTo>
                      <a:pt x="52" y="64"/>
                    </a:lnTo>
                    <a:lnTo>
                      <a:pt x="52" y="106"/>
                    </a:lnTo>
                    <a:lnTo>
                      <a:pt x="0" y="6"/>
                    </a:lnTo>
                    <a:lnTo>
                      <a:pt x="18" y="0"/>
                    </a:lnTo>
                  </a:path>
                </a:pathLst>
              </a:custGeom>
              <a:solidFill>
                <a:srgbClr val="000000"/>
              </a:solidFill>
              <a:ln w="12700" cap="rnd">
                <a:solidFill>
                  <a:srgbClr val="000000"/>
                </a:solidFill>
                <a:round/>
                <a:headEnd/>
                <a:tailEnd/>
              </a:ln>
            </p:spPr>
            <p:txBody>
              <a:bodyPr/>
              <a:lstStyle/>
              <a:p>
                <a:endParaRPr lang="zh-CN" altLang="en-US"/>
              </a:p>
            </p:txBody>
          </p:sp>
          <p:sp>
            <p:nvSpPr>
              <p:cNvPr id="6184" name="Freeform 41"/>
              <p:cNvSpPr>
                <a:spLocks/>
              </p:cNvSpPr>
              <p:nvPr/>
            </p:nvSpPr>
            <p:spPr bwMode="auto">
              <a:xfrm>
                <a:off x="1625" y="1307"/>
                <a:ext cx="848" cy="290"/>
              </a:xfrm>
              <a:custGeom>
                <a:avLst/>
                <a:gdLst>
                  <a:gd name="T0" fmla="*/ 74 w 848"/>
                  <a:gd name="T1" fmla="*/ 12 h 290"/>
                  <a:gd name="T2" fmla="*/ 65 w 848"/>
                  <a:gd name="T3" fmla="*/ 82 h 290"/>
                  <a:gd name="T4" fmla="*/ 0 w 848"/>
                  <a:gd name="T5" fmla="*/ 157 h 290"/>
                  <a:gd name="T6" fmla="*/ 74 w 848"/>
                  <a:gd name="T7" fmla="*/ 198 h 290"/>
                  <a:gd name="T8" fmla="*/ 254 w 848"/>
                  <a:gd name="T9" fmla="*/ 219 h 290"/>
                  <a:gd name="T10" fmla="*/ 249 w 848"/>
                  <a:gd name="T11" fmla="*/ 289 h 290"/>
                  <a:gd name="T12" fmla="*/ 278 w 848"/>
                  <a:gd name="T13" fmla="*/ 248 h 290"/>
                  <a:gd name="T14" fmla="*/ 283 w 848"/>
                  <a:gd name="T15" fmla="*/ 216 h 290"/>
                  <a:gd name="T16" fmla="*/ 732 w 848"/>
                  <a:gd name="T17" fmla="*/ 164 h 290"/>
                  <a:gd name="T18" fmla="*/ 847 w 848"/>
                  <a:gd name="T19" fmla="*/ 108 h 290"/>
                  <a:gd name="T20" fmla="*/ 710 w 848"/>
                  <a:gd name="T21" fmla="*/ 161 h 290"/>
                  <a:gd name="T22" fmla="*/ 371 w 848"/>
                  <a:gd name="T23" fmla="*/ 189 h 290"/>
                  <a:gd name="T24" fmla="*/ 97 w 848"/>
                  <a:gd name="T25" fmla="*/ 189 h 290"/>
                  <a:gd name="T26" fmla="*/ 25 w 848"/>
                  <a:gd name="T27" fmla="*/ 155 h 290"/>
                  <a:gd name="T28" fmla="*/ 81 w 848"/>
                  <a:gd name="T29" fmla="*/ 82 h 290"/>
                  <a:gd name="T30" fmla="*/ 92 w 848"/>
                  <a:gd name="T31" fmla="*/ 0 h 290"/>
                  <a:gd name="T32" fmla="*/ 74 w 848"/>
                  <a:gd name="T33" fmla="*/ 12 h 29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48"/>
                  <a:gd name="T52" fmla="*/ 0 h 290"/>
                  <a:gd name="T53" fmla="*/ 848 w 848"/>
                  <a:gd name="T54" fmla="*/ 290 h 29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48" h="290">
                    <a:moveTo>
                      <a:pt x="74" y="12"/>
                    </a:moveTo>
                    <a:lnTo>
                      <a:pt x="65" y="82"/>
                    </a:lnTo>
                    <a:lnTo>
                      <a:pt x="0" y="157"/>
                    </a:lnTo>
                    <a:lnTo>
                      <a:pt x="74" y="198"/>
                    </a:lnTo>
                    <a:lnTo>
                      <a:pt x="254" y="219"/>
                    </a:lnTo>
                    <a:lnTo>
                      <a:pt x="249" y="289"/>
                    </a:lnTo>
                    <a:lnTo>
                      <a:pt x="278" y="248"/>
                    </a:lnTo>
                    <a:lnTo>
                      <a:pt x="283" y="216"/>
                    </a:lnTo>
                    <a:lnTo>
                      <a:pt x="732" y="164"/>
                    </a:lnTo>
                    <a:lnTo>
                      <a:pt x="847" y="108"/>
                    </a:lnTo>
                    <a:lnTo>
                      <a:pt x="710" y="161"/>
                    </a:lnTo>
                    <a:lnTo>
                      <a:pt x="371" y="189"/>
                    </a:lnTo>
                    <a:lnTo>
                      <a:pt x="97" y="189"/>
                    </a:lnTo>
                    <a:lnTo>
                      <a:pt x="25" y="155"/>
                    </a:lnTo>
                    <a:lnTo>
                      <a:pt x="81" y="82"/>
                    </a:lnTo>
                    <a:lnTo>
                      <a:pt x="92" y="0"/>
                    </a:lnTo>
                    <a:lnTo>
                      <a:pt x="74" y="12"/>
                    </a:lnTo>
                  </a:path>
                </a:pathLst>
              </a:custGeom>
              <a:solidFill>
                <a:srgbClr val="000000"/>
              </a:solidFill>
              <a:ln w="12700" cap="rnd">
                <a:solidFill>
                  <a:srgbClr val="000000"/>
                </a:solidFill>
                <a:round/>
                <a:headEnd/>
                <a:tailEnd/>
              </a:ln>
            </p:spPr>
            <p:txBody>
              <a:bodyPr/>
              <a:lstStyle/>
              <a:p>
                <a:endParaRPr lang="zh-CN" altLang="en-US"/>
              </a:p>
            </p:txBody>
          </p:sp>
          <p:sp>
            <p:nvSpPr>
              <p:cNvPr id="6185" name="Freeform 42"/>
              <p:cNvSpPr>
                <a:spLocks/>
              </p:cNvSpPr>
              <p:nvPr/>
            </p:nvSpPr>
            <p:spPr bwMode="auto">
              <a:xfrm>
                <a:off x="2508" y="441"/>
                <a:ext cx="900" cy="198"/>
              </a:xfrm>
              <a:custGeom>
                <a:avLst/>
                <a:gdLst>
                  <a:gd name="T0" fmla="*/ 731 w 900"/>
                  <a:gd name="T1" fmla="*/ 47 h 198"/>
                  <a:gd name="T2" fmla="*/ 584 w 900"/>
                  <a:gd name="T3" fmla="*/ 53 h 198"/>
                  <a:gd name="T4" fmla="*/ 344 w 900"/>
                  <a:gd name="T5" fmla="*/ 82 h 198"/>
                  <a:gd name="T6" fmla="*/ 159 w 900"/>
                  <a:gd name="T7" fmla="*/ 109 h 198"/>
                  <a:gd name="T8" fmla="*/ 72 w 900"/>
                  <a:gd name="T9" fmla="*/ 121 h 198"/>
                  <a:gd name="T10" fmla="*/ 20 w 900"/>
                  <a:gd name="T11" fmla="*/ 126 h 198"/>
                  <a:gd name="T12" fmla="*/ 0 w 900"/>
                  <a:gd name="T13" fmla="*/ 149 h 198"/>
                  <a:gd name="T14" fmla="*/ 4 w 900"/>
                  <a:gd name="T15" fmla="*/ 179 h 198"/>
                  <a:gd name="T16" fmla="*/ 34 w 900"/>
                  <a:gd name="T17" fmla="*/ 197 h 198"/>
                  <a:gd name="T18" fmla="*/ 11 w 900"/>
                  <a:gd name="T19" fmla="*/ 174 h 198"/>
                  <a:gd name="T20" fmla="*/ 20 w 900"/>
                  <a:gd name="T21" fmla="*/ 144 h 198"/>
                  <a:gd name="T22" fmla="*/ 67 w 900"/>
                  <a:gd name="T23" fmla="*/ 129 h 198"/>
                  <a:gd name="T24" fmla="*/ 108 w 900"/>
                  <a:gd name="T25" fmla="*/ 140 h 198"/>
                  <a:gd name="T26" fmla="*/ 128 w 900"/>
                  <a:gd name="T27" fmla="*/ 165 h 198"/>
                  <a:gd name="T28" fmla="*/ 108 w 900"/>
                  <a:gd name="T29" fmla="*/ 185 h 198"/>
                  <a:gd name="T30" fmla="*/ 72 w 900"/>
                  <a:gd name="T31" fmla="*/ 182 h 198"/>
                  <a:gd name="T32" fmla="*/ 49 w 900"/>
                  <a:gd name="T33" fmla="*/ 168 h 198"/>
                  <a:gd name="T34" fmla="*/ 56 w 900"/>
                  <a:gd name="T35" fmla="*/ 190 h 198"/>
                  <a:gd name="T36" fmla="*/ 90 w 900"/>
                  <a:gd name="T37" fmla="*/ 197 h 198"/>
                  <a:gd name="T38" fmla="*/ 148 w 900"/>
                  <a:gd name="T39" fmla="*/ 197 h 198"/>
                  <a:gd name="T40" fmla="*/ 209 w 900"/>
                  <a:gd name="T41" fmla="*/ 194 h 198"/>
                  <a:gd name="T42" fmla="*/ 313 w 900"/>
                  <a:gd name="T43" fmla="*/ 162 h 198"/>
                  <a:gd name="T44" fmla="*/ 447 w 900"/>
                  <a:gd name="T45" fmla="*/ 129 h 198"/>
                  <a:gd name="T46" fmla="*/ 569 w 900"/>
                  <a:gd name="T47" fmla="*/ 105 h 198"/>
                  <a:gd name="T48" fmla="*/ 710 w 900"/>
                  <a:gd name="T49" fmla="*/ 87 h 198"/>
                  <a:gd name="T50" fmla="*/ 699 w 900"/>
                  <a:gd name="T51" fmla="*/ 118 h 198"/>
                  <a:gd name="T52" fmla="*/ 735 w 900"/>
                  <a:gd name="T53" fmla="*/ 147 h 198"/>
                  <a:gd name="T54" fmla="*/ 798 w 900"/>
                  <a:gd name="T55" fmla="*/ 157 h 198"/>
                  <a:gd name="T56" fmla="*/ 872 w 900"/>
                  <a:gd name="T57" fmla="*/ 135 h 198"/>
                  <a:gd name="T58" fmla="*/ 899 w 900"/>
                  <a:gd name="T59" fmla="*/ 80 h 198"/>
                  <a:gd name="T60" fmla="*/ 881 w 900"/>
                  <a:gd name="T61" fmla="*/ 37 h 198"/>
                  <a:gd name="T62" fmla="*/ 791 w 900"/>
                  <a:gd name="T63" fmla="*/ 0 h 198"/>
                  <a:gd name="T64" fmla="*/ 721 w 900"/>
                  <a:gd name="T65" fmla="*/ 5 h 198"/>
                  <a:gd name="T66" fmla="*/ 670 w 900"/>
                  <a:gd name="T67" fmla="*/ 31 h 198"/>
                  <a:gd name="T68" fmla="*/ 731 w 900"/>
                  <a:gd name="T69" fmla="*/ 12 h 198"/>
                  <a:gd name="T70" fmla="*/ 784 w 900"/>
                  <a:gd name="T71" fmla="*/ 7 h 198"/>
                  <a:gd name="T72" fmla="*/ 868 w 900"/>
                  <a:gd name="T73" fmla="*/ 45 h 198"/>
                  <a:gd name="T74" fmla="*/ 885 w 900"/>
                  <a:gd name="T75" fmla="*/ 77 h 198"/>
                  <a:gd name="T76" fmla="*/ 850 w 900"/>
                  <a:gd name="T77" fmla="*/ 133 h 198"/>
                  <a:gd name="T78" fmla="*/ 787 w 900"/>
                  <a:gd name="T79" fmla="*/ 149 h 198"/>
                  <a:gd name="T80" fmla="*/ 739 w 900"/>
                  <a:gd name="T81" fmla="*/ 140 h 198"/>
                  <a:gd name="T82" fmla="*/ 713 w 900"/>
                  <a:gd name="T83" fmla="*/ 116 h 198"/>
                  <a:gd name="T84" fmla="*/ 728 w 900"/>
                  <a:gd name="T85" fmla="*/ 60 h 198"/>
                  <a:gd name="T86" fmla="*/ 704 w 900"/>
                  <a:gd name="T87" fmla="*/ 82 h 198"/>
                  <a:gd name="T88" fmla="*/ 504 w 900"/>
                  <a:gd name="T89" fmla="*/ 107 h 198"/>
                  <a:gd name="T90" fmla="*/ 294 w 900"/>
                  <a:gd name="T91" fmla="*/ 157 h 198"/>
                  <a:gd name="T92" fmla="*/ 180 w 900"/>
                  <a:gd name="T93" fmla="*/ 189 h 198"/>
                  <a:gd name="T94" fmla="*/ 123 w 900"/>
                  <a:gd name="T95" fmla="*/ 189 h 198"/>
                  <a:gd name="T96" fmla="*/ 144 w 900"/>
                  <a:gd name="T97" fmla="*/ 167 h 198"/>
                  <a:gd name="T98" fmla="*/ 137 w 900"/>
                  <a:gd name="T99" fmla="*/ 137 h 198"/>
                  <a:gd name="T100" fmla="*/ 101 w 900"/>
                  <a:gd name="T101" fmla="*/ 125 h 198"/>
                  <a:gd name="T102" fmla="*/ 393 w 900"/>
                  <a:gd name="T103" fmla="*/ 82 h 198"/>
                  <a:gd name="T104" fmla="*/ 613 w 900"/>
                  <a:gd name="T105" fmla="*/ 55 h 198"/>
                  <a:gd name="T106" fmla="*/ 731 w 900"/>
                  <a:gd name="T107" fmla="*/ 47 h 19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900"/>
                  <a:gd name="T163" fmla="*/ 0 h 198"/>
                  <a:gd name="T164" fmla="*/ 900 w 900"/>
                  <a:gd name="T165" fmla="*/ 198 h 19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900" h="198">
                    <a:moveTo>
                      <a:pt x="731" y="47"/>
                    </a:moveTo>
                    <a:lnTo>
                      <a:pt x="584" y="53"/>
                    </a:lnTo>
                    <a:lnTo>
                      <a:pt x="344" y="82"/>
                    </a:lnTo>
                    <a:lnTo>
                      <a:pt x="159" y="109"/>
                    </a:lnTo>
                    <a:lnTo>
                      <a:pt x="72" y="121"/>
                    </a:lnTo>
                    <a:lnTo>
                      <a:pt x="20" y="126"/>
                    </a:lnTo>
                    <a:lnTo>
                      <a:pt x="0" y="149"/>
                    </a:lnTo>
                    <a:lnTo>
                      <a:pt x="4" y="179"/>
                    </a:lnTo>
                    <a:lnTo>
                      <a:pt x="34" y="197"/>
                    </a:lnTo>
                    <a:lnTo>
                      <a:pt x="11" y="174"/>
                    </a:lnTo>
                    <a:lnTo>
                      <a:pt x="20" y="144"/>
                    </a:lnTo>
                    <a:lnTo>
                      <a:pt x="67" y="129"/>
                    </a:lnTo>
                    <a:lnTo>
                      <a:pt x="108" y="140"/>
                    </a:lnTo>
                    <a:lnTo>
                      <a:pt x="128" y="165"/>
                    </a:lnTo>
                    <a:lnTo>
                      <a:pt x="108" y="185"/>
                    </a:lnTo>
                    <a:lnTo>
                      <a:pt x="72" y="182"/>
                    </a:lnTo>
                    <a:lnTo>
                      <a:pt x="49" y="168"/>
                    </a:lnTo>
                    <a:lnTo>
                      <a:pt x="56" y="190"/>
                    </a:lnTo>
                    <a:lnTo>
                      <a:pt x="90" y="197"/>
                    </a:lnTo>
                    <a:lnTo>
                      <a:pt x="148" y="197"/>
                    </a:lnTo>
                    <a:lnTo>
                      <a:pt x="209" y="194"/>
                    </a:lnTo>
                    <a:lnTo>
                      <a:pt x="313" y="162"/>
                    </a:lnTo>
                    <a:lnTo>
                      <a:pt x="447" y="129"/>
                    </a:lnTo>
                    <a:lnTo>
                      <a:pt x="569" y="105"/>
                    </a:lnTo>
                    <a:lnTo>
                      <a:pt x="710" y="87"/>
                    </a:lnTo>
                    <a:lnTo>
                      <a:pt x="699" y="118"/>
                    </a:lnTo>
                    <a:lnTo>
                      <a:pt x="735" y="147"/>
                    </a:lnTo>
                    <a:lnTo>
                      <a:pt x="798" y="157"/>
                    </a:lnTo>
                    <a:lnTo>
                      <a:pt x="872" y="135"/>
                    </a:lnTo>
                    <a:lnTo>
                      <a:pt x="899" y="80"/>
                    </a:lnTo>
                    <a:lnTo>
                      <a:pt x="881" y="37"/>
                    </a:lnTo>
                    <a:lnTo>
                      <a:pt x="791" y="0"/>
                    </a:lnTo>
                    <a:lnTo>
                      <a:pt x="721" y="5"/>
                    </a:lnTo>
                    <a:lnTo>
                      <a:pt x="670" y="31"/>
                    </a:lnTo>
                    <a:lnTo>
                      <a:pt x="731" y="12"/>
                    </a:lnTo>
                    <a:lnTo>
                      <a:pt x="784" y="7"/>
                    </a:lnTo>
                    <a:lnTo>
                      <a:pt x="868" y="45"/>
                    </a:lnTo>
                    <a:lnTo>
                      <a:pt x="885" y="77"/>
                    </a:lnTo>
                    <a:lnTo>
                      <a:pt x="850" y="133"/>
                    </a:lnTo>
                    <a:lnTo>
                      <a:pt x="787" y="149"/>
                    </a:lnTo>
                    <a:lnTo>
                      <a:pt x="739" y="140"/>
                    </a:lnTo>
                    <a:lnTo>
                      <a:pt x="713" y="116"/>
                    </a:lnTo>
                    <a:lnTo>
                      <a:pt x="728" y="60"/>
                    </a:lnTo>
                    <a:lnTo>
                      <a:pt x="704" y="82"/>
                    </a:lnTo>
                    <a:lnTo>
                      <a:pt x="504" y="107"/>
                    </a:lnTo>
                    <a:lnTo>
                      <a:pt x="294" y="157"/>
                    </a:lnTo>
                    <a:lnTo>
                      <a:pt x="180" y="189"/>
                    </a:lnTo>
                    <a:lnTo>
                      <a:pt x="123" y="189"/>
                    </a:lnTo>
                    <a:lnTo>
                      <a:pt x="144" y="167"/>
                    </a:lnTo>
                    <a:lnTo>
                      <a:pt x="137" y="137"/>
                    </a:lnTo>
                    <a:lnTo>
                      <a:pt x="101" y="125"/>
                    </a:lnTo>
                    <a:lnTo>
                      <a:pt x="393" y="82"/>
                    </a:lnTo>
                    <a:lnTo>
                      <a:pt x="613" y="55"/>
                    </a:lnTo>
                    <a:lnTo>
                      <a:pt x="731" y="47"/>
                    </a:lnTo>
                  </a:path>
                </a:pathLst>
              </a:custGeom>
              <a:solidFill>
                <a:srgbClr val="000000"/>
              </a:solidFill>
              <a:ln w="12700" cap="rnd">
                <a:solidFill>
                  <a:srgbClr val="000000"/>
                </a:solidFill>
                <a:round/>
                <a:headEnd/>
                <a:tailEnd/>
              </a:ln>
            </p:spPr>
            <p:txBody>
              <a:bodyPr/>
              <a:lstStyle/>
              <a:p>
                <a:endParaRPr lang="zh-CN" altLang="en-US"/>
              </a:p>
            </p:txBody>
          </p:sp>
          <p:sp>
            <p:nvSpPr>
              <p:cNvPr id="6186" name="Freeform 43"/>
              <p:cNvSpPr>
                <a:spLocks/>
              </p:cNvSpPr>
              <p:nvPr/>
            </p:nvSpPr>
            <p:spPr bwMode="auto">
              <a:xfrm>
                <a:off x="3323" y="441"/>
                <a:ext cx="253" cy="95"/>
              </a:xfrm>
              <a:custGeom>
                <a:avLst/>
                <a:gdLst>
                  <a:gd name="T0" fmla="*/ 0 w 253"/>
                  <a:gd name="T1" fmla="*/ 8 h 95"/>
                  <a:gd name="T2" fmla="*/ 63 w 253"/>
                  <a:gd name="T3" fmla="*/ 0 h 95"/>
                  <a:gd name="T4" fmla="*/ 137 w 253"/>
                  <a:gd name="T5" fmla="*/ 7 h 95"/>
                  <a:gd name="T6" fmla="*/ 209 w 253"/>
                  <a:gd name="T7" fmla="*/ 8 h 95"/>
                  <a:gd name="T8" fmla="*/ 252 w 253"/>
                  <a:gd name="T9" fmla="*/ 65 h 95"/>
                  <a:gd name="T10" fmla="*/ 178 w 253"/>
                  <a:gd name="T11" fmla="*/ 94 h 95"/>
                  <a:gd name="T12" fmla="*/ 238 w 253"/>
                  <a:gd name="T13" fmla="*/ 62 h 95"/>
                  <a:gd name="T14" fmla="*/ 194 w 253"/>
                  <a:gd name="T15" fmla="*/ 18 h 95"/>
                  <a:gd name="T16" fmla="*/ 151 w 253"/>
                  <a:gd name="T17" fmla="*/ 18 h 95"/>
                  <a:gd name="T18" fmla="*/ 173 w 253"/>
                  <a:gd name="T19" fmla="*/ 51 h 95"/>
                  <a:gd name="T20" fmla="*/ 99 w 253"/>
                  <a:gd name="T21" fmla="*/ 8 h 95"/>
                  <a:gd name="T22" fmla="*/ 0 w 253"/>
                  <a:gd name="T23" fmla="*/ 8 h 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3"/>
                  <a:gd name="T37" fmla="*/ 0 h 95"/>
                  <a:gd name="T38" fmla="*/ 253 w 253"/>
                  <a:gd name="T39" fmla="*/ 95 h 9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3" h="95">
                    <a:moveTo>
                      <a:pt x="0" y="8"/>
                    </a:moveTo>
                    <a:lnTo>
                      <a:pt x="63" y="0"/>
                    </a:lnTo>
                    <a:lnTo>
                      <a:pt x="137" y="7"/>
                    </a:lnTo>
                    <a:lnTo>
                      <a:pt x="209" y="8"/>
                    </a:lnTo>
                    <a:lnTo>
                      <a:pt x="252" y="65"/>
                    </a:lnTo>
                    <a:lnTo>
                      <a:pt x="178" y="94"/>
                    </a:lnTo>
                    <a:lnTo>
                      <a:pt x="238" y="62"/>
                    </a:lnTo>
                    <a:lnTo>
                      <a:pt x="194" y="18"/>
                    </a:lnTo>
                    <a:lnTo>
                      <a:pt x="151" y="18"/>
                    </a:lnTo>
                    <a:lnTo>
                      <a:pt x="173" y="51"/>
                    </a:lnTo>
                    <a:lnTo>
                      <a:pt x="99" y="8"/>
                    </a:lnTo>
                    <a:lnTo>
                      <a:pt x="0" y="8"/>
                    </a:lnTo>
                  </a:path>
                </a:pathLst>
              </a:custGeom>
              <a:solidFill>
                <a:srgbClr val="000000"/>
              </a:solidFill>
              <a:ln w="12700" cap="rnd">
                <a:solidFill>
                  <a:srgbClr val="000000"/>
                </a:solidFill>
                <a:round/>
                <a:headEnd/>
                <a:tailEnd/>
              </a:ln>
            </p:spPr>
            <p:txBody>
              <a:bodyPr/>
              <a:lstStyle/>
              <a:p>
                <a:endParaRPr lang="zh-CN" altLang="en-US"/>
              </a:p>
            </p:txBody>
          </p:sp>
          <p:sp>
            <p:nvSpPr>
              <p:cNvPr id="6187" name="Freeform 44"/>
              <p:cNvSpPr>
                <a:spLocks/>
              </p:cNvSpPr>
              <p:nvPr/>
            </p:nvSpPr>
            <p:spPr bwMode="auto">
              <a:xfrm>
                <a:off x="3380" y="506"/>
                <a:ext cx="116" cy="69"/>
              </a:xfrm>
              <a:custGeom>
                <a:avLst/>
                <a:gdLst>
                  <a:gd name="T0" fmla="*/ 115 w 116"/>
                  <a:gd name="T1" fmla="*/ 0 h 69"/>
                  <a:gd name="T2" fmla="*/ 79 w 116"/>
                  <a:gd name="T3" fmla="*/ 57 h 69"/>
                  <a:gd name="T4" fmla="*/ 5 w 116"/>
                  <a:gd name="T5" fmla="*/ 53 h 69"/>
                  <a:gd name="T6" fmla="*/ 0 w 116"/>
                  <a:gd name="T7" fmla="*/ 61 h 69"/>
                  <a:gd name="T8" fmla="*/ 65 w 116"/>
                  <a:gd name="T9" fmla="*/ 68 h 69"/>
                  <a:gd name="T10" fmla="*/ 115 w 116"/>
                  <a:gd name="T11" fmla="*/ 51 h 69"/>
                  <a:gd name="T12" fmla="*/ 115 w 116"/>
                  <a:gd name="T13" fmla="*/ 0 h 69"/>
                  <a:gd name="T14" fmla="*/ 0 60000 65536"/>
                  <a:gd name="T15" fmla="*/ 0 60000 65536"/>
                  <a:gd name="T16" fmla="*/ 0 60000 65536"/>
                  <a:gd name="T17" fmla="*/ 0 60000 65536"/>
                  <a:gd name="T18" fmla="*/ 0 60000 65536"/>
                  <a:gd name="T19" fmla="*/ 0 60000 65536"/>
                  <a:gd name="T20" fmla="*/ 0 60000 65536"/>
                  <a:gd name="T21" fmla="*/ 0 w 116"/>
                  <a:gd name="T22" fmla="*/ 0 h 69"/>
                  <a:gd name="T23" fmla="*/ 116 w 116"/>
                  <a:gd name="T24" fmla="*/ 69 h 6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 h="69">
                    <a:moveTo>
                      <a:pt x="115" y="0"/>
                    </a:moveTo>
                    <a:lnTo>
                      <a:pt x="79" y="57"/>
                    </a:lnTo>
                    <a:lnTo>
                      <a:pt x="5" y="53"/>
                    </a:lnTo>
                    <a:lnTo>
                      <a:pt x="0" y="61"/>
                    </a:lnTo>
                    <a:lnTo>
                      <a:pt x="65" y="68"/>
                    </a:lnTo>
                    <a:lnTo>
                      <a:pt x="115" y="51"/>
                    </a:lnTo>
                    <a:lnTo>
                      <a:pt x="115" y="0"/>
                    </a:lnTo>
                  </a:path>
                </a:pathLst>
              </a:custGeom>
              <a:solidFill>
                <a:srgbClr val="000000"/>
              </a:solidFill>
              <a:ln w="12700" cap="rnd">
                <a:solidFill>
                  <a:srgbClr val="000000"/>
                </a:solidFill>
                <a:round/>
                <a:headEnd/>
                <a:tailEnd/>
              </a:ln>
            </p:spPr>
            <p:txBody>
              <a:bodyPr/>
              <a:lstStyle/>
              <a:p>
                <a:endParaRPr lang="zh-CN" altLang="en-US"/>
              </a:p>
            </p:txBody>
          </p:sp>
          <p:sp>
            <p:nvSpPr>
              <p:cNvPr id="6188" name="Freeform 45"/>
              <p:cNvSpPr>
                <a:spLocks/>
              </p:cNvSpPr>
              <p:nvPr/>
            </p:nvSpPr>
            <p:spPr bwMode="auto">
              <a:xfrm>
                <a:off x="3041" y="446"/>
                <a:ext cx="158" cy="54"/>
              </a:xfrm>
              <a:custGeom>
                <a:avLst/>
                <a:gdLst>
                  <a:gd name="T0" fmla="*/ 13 w 158"/>
                  <a:gd name="T1" fmla="*/ 53 h 54"/>
                  <a:gd name="T2" fmla="*/ 0 w 158"/>
                  <a:gd name="T3" fmla="*/ 7 h 54"/>
                  <a:gd name="T4" fmla="*/ 42 w 158"/>
                  <a:gd name="T5" fmla="*/ 0 h 54"/>
                  <a:gd name="T6" fmla="*/ 112 w 158"/>
                  <a:gd name="T7" fmla="*/ 2 h 54"/>
                  <a:gd name="T8" fmla="*/ 150 w 158"/>
                  <a:gd name="T9" fmla="*/ 25 h 54"/>
                  <a:gd name="T10" fmla="*/ 157 w 158"/>
                  <a:gd name="T11" fmla="*/ 46 h 54"/>
                  <a:gd name="T12" fmla="*/ 128 w 158"/>
                  <a:gd name="T13" fmla="*/ 46 h 54"/>
                  <a:gd name="T14" fmla="*/ 115 w 158"/>
                  <a:gd name="T15" fmla="*/ 20 h 54"/>
                  <a:gd name="T16" fmla="*/ 79 w 158"/>
                  <a:gd name="T17" fmla="*/ 8 h 54"/>
                  <a:gd name="T18" fmla="*/ 32 w 158"/>
                  <a:gd name="T19" fmla="*/ 7 h 54"/>
                  <a:gd name="T20" fmla="*/ 7 w 158"/>
                  <a:gd name="T21" fmla="*/ 10 h 54"/>
                  <a:gd name="T22" fmla="*/ 25 w 158"/>
                  <a:gd name="T23" fmla="*/ 53 h 54"/>
                  <a:gd name="T24" fmla="*/ 13 w 158"/>
                  <a:gd name="T25" fmla="*/ 53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8"/>
                  <a:gd name="T40" fmla="*/ 0 h 54"/>
                  <a:gd name="T41" fmla="*/ 158 w 158"/>
                  <a:gd name="T42" fmla="*/ 54 h 5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8" h="54">
                    <a:moveTo>
                      <a:pt x="13" y="53"/>
                    </a:moveTo>
                    <a:lnTo>
                      <a:pt x="0" y="7"/>
                    </a:lnTo>
                    <a:lnTo>
                      <a:pt x="42" y="0"/>
                    </a:lnTo>
                    <a:lnTo>
                      <a:pt x="112" y="2"/>
                    </a:lnTo>
                    <a:lnTo>
                      <a:pt x="150" y="25"/>
                    </a:lnTo>
                    <a:lnTo>
                      <a:pt x="157" y="46"/>
                    </a:lnTo>
                    <a:lnTo>
                      <a:pt x="128" y="46"/>
                    </a:lnTo>
                    <a:lnTo>
                      <a:pt x="115" y="20"/>
                    </a:lnTo>
                    <a:lnTo>
                      <a:pt x="79" y="8"/>
                    </a:lnTo>
                    <a:lnTo>
                      <a:pt x="32" y="7"/>
                    </a:lnTo>
                    <a:lnTo>
                      <a:pt x="7" y="10"/>
                    </a:lnTo>
                    <a:lnTo>
                      <a:pt x="25" y="53"/>
                    </a:lnTo>
                    <a:lnTo>
                      <a:pt x="13" y="53"/>
                    </a:lnTo>
                  </a:path>
                </a:pathLst>
              </a:custGeom>
              <a:solidFill>
                <a:srgbClr val="000000"/>
              </a:solidFill>
              <a:ln w="12700" cap="rnd">
                <a:solidFill>
                  <a:srgbClr val="000000"/>
                </a:solidFill>
                <a:round/>
                <a:headEnd/>
                <a:tailEnd/>
              </a:ln>
            </p:spPr>
            <p:txBody>
              <a:bodyPr/>
              <a:lstStyle/>
              <a:p>
                <a:endParaRPr lang="zh-CN" altLang="en-US"/>
              </a:p>
            </p:txBody>
          </p:sp>
          <p:sp>
            <p:nvSpPr>
              <p:cNvPr id="6189" name="Freeform 46"/>
              <p:cNvSpPr>
                <a:spLocks/>
              </p:cNvSpPr>
              <p:nvPr/>
            </p:nvSpPr>
            <p:spPr bwMode="auto">
              <a:xfrm>
                <a:off x="3531" y="486"/>
                <a:ext cx="761" cy="291"/>
              </a:xfrm>
              <a:custGeom>
                <a:avLst/>
                <a:gdLst>
                  <a:gd name="T0" fmla="*/ 29 w 761"/>
                  <a:gd name="T1" fmla="*/ 0 h 291"/>
                  <a:gd name="T2" fmla="*/ 169 w 761"/>
                  <a:gd name="T3" fmla="*/ 6 h 291"/>
                  <a:gd name="T4" fmla="*/ 324 w 761"/>
                  <a:gd name="T5" fmla="*/ 28 h 291"/>
                  <a:gd name="T6" fmla="*/ 582 w 761"/>
                  <a:gd name="T7" fmla="*/ 80 h 291"/>
                  <a:gd name="T8" fmla="*/ 753 w 761"/>
                  <a:gd name="T9" fmla="*/ 120 h 291"/>
                  <a:gd name="T10" fmla="*/ 760 w 761"/>
                  <a:gd name="T11" fmla="*/ 140 h 291"/>
                  <a:gd name="T12" fmla="*/ 747 w 761"/>
                  <a:gd name="T13" fmla="*/ 209 h 291"/>
                  <a:gd name="T14" fmla="*/ 724 w 761"/>
                  <a:gd name="T15" fmla="*/ 290 h 291"/>
                  <a:gd name="T16" fmla="*/ 747 w 761"/>
                  <a:gd name="T17" fmla="*/ 145 h 291"/>
                  <a:gd name="T18" fmla="*/ 735 w 761"/>
                  <a:gd name="T19" fmla="*/ 123 h 291"/>
                  <a:gd name="T20" fmla="*/ 692 w 761"/>
                  <a:gd name="T21" fmla="*/ 112 h 291"/>
                  <a:gd name="T22" fmla="*/ 654 w 761"/>
                  <a:gd name="T23" fmla="*/ 125 h 291"/>
                  <a:gd name="T24" fmla="*/ 638 w 761"/>
                  <a:gd name="T25" fmla="*/ 150 h 291"/>
                  <a:gd name="T26" fmla="*/ 648 w 761"/>
                  <a:gd name="T27" fmla="*/ 170 h 291"/>
                  <a:gd name="T28" fmla="*/ 670 w 761"/>
                  <a:gd name="T29" fmla="*/ 170 h 291"/>
                  <a:gd name="T30" fmla="*/ 708 w 761"/>
                  <a:gd name="T31" fmla="*/ 161 h 291"/>
                  <a:gd name="T32" fmla="*/ 713 w 761"/>
                  <a:gd name="T33" fmla="*/ 142 h 291"/>
                  <a:gd name="T34" fmla="*/ 719 w 761"/>
                  <a:gd name="T35" fmla="*/ 161 h 291"/>
                  <a:gd name="T36" fmla="*/ 677 w 761"/>
                  <a:gd name="T37" fmla="*/ 182 h 291"/>
                  <a:gd name="T38" fmla="*/ 625 w 761"/>
                  <a:gd name="T39" fmla="*/ 182 h 291"/>
                  <a:gd name="T40" fmla="*/ 580 w 761"/>
                  <a:gd name="T41" fmla="*/ 170 h 291"/>
                  <a:gd name="T42" fmla="*/ 317 w 761"/>
                  <a:gd name="T43" fmla="*/ 99 h 291"/>
                  <a:gd name="T44" fmla="*/ 137 w 761"/>
                  <a:gd name="T45" fmla="*/ 55 h 291"/>
                  <a:gd name="T46" fmla="*/ 32 w 761"/>
                  <a:gd name="T47" fmla="*/ 37 h 291"/>
                  <a:gd name="T48" fmla="*/ 0 w 761"/>
                  <a:gd name="T49" fmla="*/ 35 h 291"/>
                  <a:gd name="T50" fmla="*/ 22 w 761"/>
                  <a:gd name="T51" fmla="*/ 27 h 291"/>
                  <a:gd name="T52" fmla="*/ 117 w 761"/>
                  <a:gd name="T53" fmla="*/ 39 h 291"/>
                  <a:gd name="T54" fmla="*/ 281 w 761"/>
                  <a:gd name="T55" fmla="*/ 77 h 291"/>
                  <a:gd name="T56" fmla="*/ 463 w 761"/>
                  <a:gd name="T57" fmla="*/ 125 h 291"/>
                  <a:gd name="T58" fmla="*/ 630 w 761"/>
                  <a:gd name="T59" fmla="*/ 172 h 291"/>
                  <a:gd name="T60" fmla="*/ 618 w 761"/>
                  <a:gd name="T61" fmla="*/ 150 h 291"/>
                  <a:gd name="T62" fmla="*/ 627 w 761"/>
                  <a:gd name="T63" fmla="*/ 125 h 291"/>
                  <a:gd name="T64" fmla="*/ 670 w 761"/>
                  <a:gd name="T65" fmla="*/ 108 h 291"/>
                  <a:gd name="T66" fmla="*/ 475 w 761"/>
                  <a:gd name="T67" fmla="*/ 64 h 291"/>
                  <a:gd name="T68" fmla="*/ 288 w 761"/>
                  <a:gd name="T69" fmla="*/ 28 h 291"/>
                  <a:gd name="T70" fmla="*/ 166 w 761"/>
                  <a:gd name="T71" fmla="*/ 10 h 291"/>
                  <a:gd name="T72" fmla="*/ 25 w 761"/>
                  <a:gd name="T73" fmla="*/ 2 h 291"/>
                  <a:gd name="T74" fmla="*/ 29 w 761"/>
                  <a:gd name="T75" fmla="*/ 0 h 2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761"/>
                  <a:gd name="T115" fmla="*/ 0 h 291"/>
                  <a:gd name="T116" fmla="*/ 761 w 761"/>
                  <a:gd name="T117" fmla="*/ 291 h 29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761" h="291">
                    <a:moveTo>
                      <a:pt x="29" y="0"/>
                    </a:moveTo>
                    <a:lnTo>
                      <a:pt x="169" y="6"/>
                    </a:lnTo>
                    <a:lnTo>
                      <a:pt x="324" y="28"/>
                    </a:lnTo>
                    <a:lnTo>
                      <a:pt x="582" y="80"/>
                    </a:lnTo>
                    <a:lnTo>
                      <a:pt x="753" y="120"/>
                    </a:lnTo>
                    <a:lnTo>
                      <a:pt x="760" y="140"/>
                    </a:lnTo>
                    <a:lnTo>
                      <a:pt x="747" y="209"/>
                    </a:lnTo>
                    <a:lnTo>
                      <a:pt x="724" y="290"/>
                    </a:lnTo>
                    <a:lnTo>
                      <a:pt x="747" y="145"/>
                    </a:lnTo>
                    <a:lnTo>
                      <a:pt x="735" y="123"/>
                    </a:lnTo>
                    <a:lnTo>
                      <a:pt x="692" y="112"/>
                    </a:lnTo>
                    <a:lnTo>
                      <a:pt x="654" y="125"/>
                    </a:lnTo>
                    <a:lnTo>
                      <a:pt x="638" y="150"/>
                    </a:lnTo>
                    <a:lnTo>
                      <a:pt x="648" y="170"/>
                    </a:lnTo>
                    <a:lnTo>
                      <a:pt x="670" y="170"/>
                    </a:lnTo>
                    <a:lnTo>
                      <a:pt x="708" y="161"/>
                    </a:lnTo>
                    <a:lnTo>
                      <a:pt x="713" y="142"/>
                    </a:lnTo>
                    <a:lnTo>
                      <a:pt x="719" y="161"/>
                    </a:lnTo>
                    <a:lnTo>
                      <a:pt x="677" y="182"/>
                    </a:lnTo>
                    <a:lnTo>
                      <a:pt x="625" y="182"/>
                    </a:lnTo>
                    <a:lnTo>
                      <a:pt x="580" y="170"/>
                    </a:lnTo>
                    <a:lnTo>
                      <a:pt x="317" y="99"/>
                    </a:lnTo>
                    <a:lnTo>
                      <a:pt x="137" y="55"/>
                    </a:lnTo>
                    <a:lnTo>
                      <a:pt x="32" y="37"/>
                    </a:lnTo>
                    <a:lnTo>
                      <a:pt x="0" y="35"/>
                    </a:lnTo>
                    <a:lnTo>
                      <a:pt x="22" y="27"/>
                    </a:lnTo>
                    <a:lnTo>
                      <a:pt x="117" y="39"/>
                    </a:lnTo>
                    <a:lnTo>
                      <a:pt x="281" y="77"/>
                    </a:lnTo>
                    <a:lnTo>
                      <a:pt x="463" y="125"/>
                    </a:lnTo>
                    <a:lnTo>
                      <a:pt x="630" y="172"/>
                    </a:lnTo>
                    <a:lnTo>
                      <a:pt x="618" y="150"/>
                    </a:lnTo>
                    <a:lnTo>
                      <a:pt x="627" y="125"/>
                    </a:lnTo>
                    <a:lnTo>
                      <a:pt x="670" y="108"/>
                    </a:lnTo>
                    <a:lnTo>
                      <a:pt x="475" y="64"/>
                    </a:lnTo>
                    <a:lnTo>
                      <a:pt x="288" y="28"/>
                    </a:lnTo>
                    <a:lnTo>
                      <a:pt x="166" y="10"/>
                    </a:lnTo>
                    <a:lnTo>
                      <a:pt x="25" y="2"/>
                    </a:lnTo>
                    <a:lnTo>
                      <a:pt x="29" y="0"/>
                    </a:lnTo>
                  </a:path>
                </a:pathLst>
              </a:custGeom>
              <a:solidFill>
                <a:srgbClr val="000000"/>
              </a:solidFill>
              <a:ln w="12700" cap="rnd">
                <a:solidFill>
                  <a:srgbClr val="000000"/>
                </a:solidFill>
                <a:round/>
                <a:headEnd/>
                <a:tailEnd/>
              </a:ln>
            </p:spPr>
            <p:txBody>
              <a:bodyPr/>
              <a:lstStyle/>
              <a:p>
                <a:endParaRPr lang="zh-CN" altLang="en-US"/>
              </a:p>
            </p:txBody>
          </p:sp>
          <p:sp>
            <p:nvSpPr>
              <p:cNvPr id="6190" name="Freeform 47"/>
              <p:cNvSpPr>
                <a:spLocks/>
              </p:cNvSpPr>
              <p:nvPr/>
            </p:nvSpPr>
            <p:spPr bwMode="auto">
              <a:xfrm>
                <a:off x="2508" y="603"/>
                <a:ext cx="1807" cy="1030"/>
              </a:xfrm>
              <a:custGeom>
                <a:avLst/>
                <a:gdLst>
                  <a:gd name="T0" fmla="*/ 11 w 1807"/>
                  <a:gd name="T1" fmla="*/ 3 h 1030"/>
                  <a:gd name="T2" fmla="*/ 43 w 1807"/>
                  <a:gd name="T3" fmla="*/ 45 h 1030"/>
                  <a:gd name="T4" fmla="*/ 56 w 1807"/>
                  <a:gd name="T5" fmla="*/ 149 h 1030"/>
                  <a:gd name="T6" fmla="*/ 61 w 1807"/>
                  <a:gd name="T7" fmla="*/ 307 h 1030"/>
                  <a:gd name="T8" fmla="*/ 56 w 1807"/>
                  <a:gd name="T9" fmla="*/ 520 h 1030"/>
                  <a:gd name="T10" fmla="*/ 50 w 1807"/>
                  <a:gd name="T11" fmla="*/ 688 h 1030"/>
                  <a:gd name="T12" fmla="*/ 36 w 1807"/>
                  <a:gd name="T13" fmla="*/ 887 h 1030"/>
                  <a:gd name="T14" fmla="*/ 20 w 1807"/>
                  <a:gd name="T15" fmla="*/ 995 h 1030"/>
                  <a:gd name="T16" fmla="*/ 433 w 1807"/>
                  <a:gd name="T17" fmla="*/ 1012 h 1030"/>
                  <a:gd name="T18" fmla="*/ 685 w 1807"/>
                  <a:gd name="T19" fmla="*/ 1015 h 1030"/>
                  <a:gd name="T20" fmla="*/ 1179 w 1807"/>
                  <a:gd name="T21" fmla="*/ 1012 h 1030"/>
                  <a:gd name="T22" fmla="*/ 1431 w 1807"/>
                  <a:gd name="T23" fmla="*/ 1007 h 1030"/>
                  <a:gd name="T24" fmla="*/ 1806 w 1807"/>
                  <a:gd name="T25" fmla="*/ 992 h 1030"/>
                  <a:gd name="T26" fmla="*/ 1467 w 1807"/>
                  <a:gd name="T27" fmla="*/ 1022 h 1030"/>
                  <a:gd name="T28" fmla="*/ 1161 w 1807"/>
                  <a:gd name="T29" fmla="*/ 1026 h 1030"/>
                  <a:gd name="T30" fmla="*/ 744 w 1807"/>
                  <a:gd name="T31" fmla="*/ 1029 h 1030"/>
                  <a:gd name="T32" fmla="*/ 362 w 1807"/>
                  <a:gd name="T33" fmla="*/ 1018 h 1030"/>
                  <a:gd name="T34" fmla="*/ 0 w 1807"/>
                  <a:gd name="T35" fmla="*/ 1003 h 1030"/>
                  <a:gd name="T36" fmla="*/ 20 w 1807"/>
                  <a:gd name="T37" fmla="*/ 850 h 1030"/>
                  <a:gd name="T38" fmla="*/ 32 w 1807"/>
                  <a:gd name="T39" fmla="*/ 614 h 1030"/>
                  <a:gd name="T40" fmla="*/ 36 w 1807"/>
                  <a:gd name="T41" fmla="*/ 397 h 1030"/>
                  <a:gd name="T42" fmla="*/ 36 w 1807"/>
                  <a:gd name="T43" fmla="*/ 202 h 1030"/>
                  <a:gd name="T44" fmla="*/ 20 w 1807"/>
                  <a:gd name="T45" fmla="*/ 63 h 1030"/>
                  <a:gd name="T46" fmla="*/ 0 w 1807"/>
                  <a:gd name="T47" fmla="*/ 0 h 1030"/>
                  <a:gd name="T48" fmla="*/ 11 w 1807"/>
                  <a:gd name="T49" fmla="*/ 3 h 103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807"/>
                  <a:gd name="T76" fmla="*/ 0 h 1030"/>
                  <a:gd name="T77" fmla="*/ 1807 w 1807"/>
                  <a:gd name="T78" fmla="*/ 1030 h 103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807" h="1030">
                    <a:moveTo>
                      <a:pt x="11" y="3"/>
                    </a:moveTo>
                    <a:lnTo>
                      <a:pt x="43" y="45"/>
                    </a:lnTo>
                    <a:lnTo>
                      <a:pt x="56" y="149"/>
                    </a:lnTo>
                    <a:lnTo>
                      <a:pt x="61" y="307"/>
                    </a:lnTo>
                    <a:lnTo>
                      <a:pt x="56" y="520"/>
                    </a:lnTo>
                    <a:lnTo>
                      <a:pt x="50" y="688"/>
                    </a:lnTo>
                    <a:lnTo>
                      <a:pt x="36" y="887"/>
                    </a:lnTo>
                    <a:lnTo>
                      <a:pt x="20" y="995"/>
                    </a:lnTo>
                    <a:lnTo>
                      <a:pt x="433" y="1012"/>
                    </a:lnTo>
                    <a:lnTo>
                      <a:pt x="685" y="1015"/>
                    </a:lnTo>
                    <a:lnTo>
                      <a:pt x="1179" y="1012"/>
                    </a:lnTo>
                    <a:lnTo>
                      <a:pt x="1431" y="1007"/>
                    </a:lnTo>
                    <a:lnTo>
                      <a:pt x="1806" y="992"/>
                    </a:lnTo>
                    <a:lnTo>
                      <a:pt x="1467" y="1022"/>
                    </a:lnTo>
                    <a:lnTo>
                      <a:pt x="1161" y="1026"/>
                    </a:lnTo>
                    <a:lnTo>
                      <a:pt x="744" y="1029"/>
                    </a:lnTo>
                    <a:lnTo>
                      <a:pt x="362" y="1018"/>
                    </a:lnTo>
                    <a:lnTo>
                      <a:pt x="0" y="1003"/>
                    </a:lnTo>
                    <a:lnTo>
                      <a:pt x="20" y="850"/>
                    </a:lnTo>
                    <a:lnTo>
                      <a:pt x="32" y="614"/>
                    </a:lnTo>
                    <a:lnTo>
                      <a:pt x="36" y="397"/>
                    </a:lnTo>
                    <a:lnTo>
                      <a:pt x="36" y="202"/>
                    </a:lnTo>
                    <a:lnTo>
                      <a:pt x="20" y="63"/>
                    </a:lnTo>
                    <a:lnTo>
                      <a:pt x="0" y="0"/>
                    </a:lnTo>
                    <a:lnTo>
                      <a:pt x="11" y="3"/>
                    </a:lnTo>
                  </a:path>
                </a:pathLst>
              </a:custGeom>
              <a:solidFill>
                <a:srgbClr val="000000"/>
              </a:solidFill>
              <a:ln w="12700" cap="rnd">
                <a:solidFill>
                  <a:srgbClr val="000000"/>
                </a:solidFill>
                <a:round/>
                <a:headEnd/>
                <a:tailEnd/>
              </a:ln>
            </p:spPr>
            <p:txBody>
              <a:bodyPr/>
              <a:lstStyle/>
              <a:p>
                <a:endParaRPr lang="zh-CN" altLang="en-US"/>
              </a:p>
            </p:txBody>
          </p:sp>
          <p:sp>
            <p:nvSpPr>
              <p:cNvPr id="6191" name="Freeform 48"/>
              <p:cNvSpPr>
                <a:spLocks/>
              </p:cNvSpPr>
              <p:nvPr/>
            </p:nvSpPr>
            <p:spPr bwMode="auto">
              <a:xfrm>
                <a:off x="4226" y="768"/>
                <a:ext cx="89" cy="831"/>
              </a:xfrm>
              <a:custGeom>
                <a:avLst/>
                <a:gdLst>
                  <a:gd name="T0" fmla="*/ 26 w 89"/>
                  <a:gd name="T1" fmla="*/ 41 h 831"/>
                  <a:gd name="T2" fmla="*/ 18 w 89"/>
                  <a:gd name="T3" fmla="*/ 158 h 831"/>
                  <a:gd name="T4" fmla="*/ 26 w 89"/>
                  <a:gd name="T5" fmla="*/ 393 h 831"/>
                  <a:gd name="T6" fmla="*/ 51 w 89"/>
                  <a:gd name="T7" fmla="*/ 655 h 831"/>
                  <a:gd name="T8" fmla="*/ 88 w 89"/>
                  <a:gd name="T9" fmla="*/ 830 h 831"/>
                  <a:gd name="T10" fmla="*/ 51 w 89"/>
                  <a:gd name="T11" fmla="*/ 715 h 831"/>
                  <a:gd name="T12" fmla="*/ 18 w 89"/>
                  <a:gd name="T13" fmla="*/ 550 h 831"/>
                  <a:gd name="T14" fmla="*/ 13 w 89"/>
                  <a:gd name="T15" fmla="*/ 348 h 831"/>
                  <a:gd name="T16" fmla="*/ 0 w 89"/>
                  <a:gd name="T17" fmla="*/ 142 h 831"/>
                  <a:gd name="T18" fmla="*/ 26 w 89"/>
                  <a:gd name="T19" fmla="*/ 0 h 831"/>
                  <a:gd name="T20" fmla="*/ 26 w 89"/>
                  <a:gd name="T21" fmla="*/ 41 h 8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9"/>
                  <a:gd name="T34" fmla="*/ 0 h 831"/>
                  <a:gd name="T35" fmla="*/ 89 w 89"/>
                  <a:gd name="T36" fmla="*/ 831 h 83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9" h="831">
                    <a:moveTo>
                      <a:pt x="26" y="41"/>
                    </a:moveTo>
                    <a:lnTo>
                      <a:pt x="18" y="158"/>
                    </a:lnTo>
                    <a:lnTo>
                      <a:pt x="26" y="393"/>
                    </a:lnTo>
                    <a:lnTo>
                      <a:pt x="51" y="655"/>
                    </a:lnTo>
                    <a:lnTo>
                      <a:pt x="88" y="830"/>
                    </a:lnTo>
                    <a:lnTo>
                      <a:pt x="51" y="715"/>
                    </a:lnTo>
                    <a:lnTo>
                      <a:pt x="18" y="550"/>
                    </a:lnTo>
                    <a:lnTo>
                      <a:pt x="13" y="348"/>
                    </a:lnTo>
                    <a:lnTo>
                      <a:pt x="0" y="142"/>
                    </a:lnTo>
                    <a:lnTo>
                      <a:pt x="26" y="0"/>
                    </a:lnTo>
                    <a:lnTo>
                      <a:pt x="26" y="41"/>
                    </a:lnTo>
                  </a:path>
                </a:pathLst>
              </a:custGeom>
              <a:solidFill>
                <a:srgbClr val="000000"/>
              </a:solidFill>
              <a:ln w="12700" cap="rnd">
                <a:solidFill>
                  <a:srgbClr val="000000"/>
                </a:solidFill>
                <a:round/>
                <a:headEnd/>
                <a:tailEnd/>
              </a:ln>
            </p:spPr>
            <p:txBody>
              <a:bodyPr/>
              <a:lstStyle/>
              <a:p>
                <a:endParaRPr lang="zh-CN" altLang="en-US"/>
              </a:p>
            </p:txBody>
          </p:sp>
        </p:grpSp>
        <p:sp>
          <p:nvSpPr>
            <p:cNvPr id="6150" name="Text Box 49"/>
            <p:cNvSpPr txBox="1">
              <a:spLocks noChangeArrowheads="1"/>
            </p:cNvSpPr>
            <p:nvPr/>
          </p:nvSpPr>
          <p:spPr bwMode="auto">
            <a:xfrm>
              <a:off x="2894" y="1241"/>
              <a:ext cx="165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DC0081"/>
                  </a:solidFill>
                </a:rPr>
                <a:t>Overview</a:t>
              </a:r>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28132">
                                            <p:txEl>
                                              <p:pRg st="0" end="0"/>
                                            </p:txEl>
                                          </p:spTgt>
                                        </p:tgtEl>
                                        <p:attrNameLst>
                                          <p:attrName>style.visibility</p:attrName>
                                        </p:attrNameLst>
                                      </p:cBhvr>
                                      <p:to>
                                        <p:strVal val="visible"/>
                                      </p:to>
                                    </p:set>
                                    <p:anim calcmode="lin" valueType="num">
                                      <p:cBhvr additive="base">
                                        <p:cTn id="7" dur="500" fill="hold"/>
                                        <p:tgtEl>
                                          <p:spTgt spid="132813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32813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328132">
                                            <p:txEl>
                                              <p:pRg st="1" end="1"/>
                                            </p:txEl>
                                          </p:spTgt>
                                        </p:tgtEl>
                                        <p:attrNameLst>
                                          <p:attrName>style.visibility</p:attrName>
                                        </p:attrNameLst>
                                      </p:cBhvr>
                                      <p:to>
                                        <p:strVal val="visible"/>
                                      </p:to>
                                    </p:set>
                                    <p:anim calcmode="lin" valueType="num">
                                      <p:cBhvr additive="base">
                                        <p:cTn id="13" dur="500" fill="hold"/>
                                        <p:tgtEl>
                                          <p:spTgt spid="1328132">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32813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328132">
                                            <p:txEl>
                                              <p:pRg st="2" end="2"/>
                                            </p:txEl>
                                          </p:spTgt>
                                        </p:tgtEl>
                                        <p:attrNameLst>
                                          <p:attrName>style.visibility</p:attrName>
                                        </p:attrNameLst>
                                      </p:cBhvr>
                                      <p:to>
                                        <p:strVal val="visible"/>
                                      </p:to>
                                    </p:set>
                                    <p:anim calcmode="lin" valueType="num">
                                      <p:cBhvr additive="base">
                                        <p:cTn id="19" dur="500" fill="hold"/>
                                        <p:tgtEl>
                                          <p:spTgt spid="1328132">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32813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328132">
                                            <p:txEl>
                                              <p:pRg st="3" end="3"/>
                                            </p:txEl>
                                          </p:spTgt>
                                        </p:tgtEl>
                                        <p:attrNameLst>
                                          <p:attrName>style.visibility</p:attrName>
                                        </p:attrNameLst>
                                      </p:cBhvr>
                                      <p:to>
                                        <p:strVal val="visible"/>
                                      </p:to>
                                    </p:set>
                                    <p:anim calcmode="lin" valueType="num">
                                      <p:cBhvr additive="base">
                                        <p:cTn id="25" dur="500" fill="hold"/>
                                        <p:tgtEl>
                                          <p:spTgt spid="1328132">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32813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328132">
                                            <p:txEl>
                                              <p:pRg st="4" end="4"/>
                                            </p:txEl>
                                          </p:spTgt>
                                        </p:tgtEl>
                                        <p:attrNameLst>
                                          <p:attrName>style.visibility</p:attrName>
                                        </p:attrNameLst>
                                      </p:cBhvr>
                                      <p:to>
                                        <p:strVal val="visible"/>
                                      </p:to>
                                    </p:set>
                                    <p:anim calcmode="lin" valueType="num">
                                      <p:cBhvr additive="base">
                                        <p:cTn id="31" dur="500" fill="hold"/>
                                        <p:tgtEl>
                                          <p:spTgt spid="1328132">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32813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328132">
                                            <p:txEl>
                                              <p:pRg st="5" end="5"/>
                                            </p:txEl>
                                          </p:spTgt>
                                        </p:tgtEl>
                                        <p:attrNameLst>
                                          <p:attrName>style.visibility</p:attrName>
                                        </p:attrNameLst>
                                      </p:cBhvr>
                                      <p:to>
                                        <p:strVal val="visible"/>
                                      </p:to>
                                    </p:set>
                                    <p:anim calcmode="lin" valueType="num">
                                      <p:cBhvr additive="base">
                                        <p:cTn id="37" dur="500" fill="hold"/>
                                        <p:tgtEl>
                                          <p:spTgt spid="1328132">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328132">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328132">
                                            <p:txEl>
                                              <p:pRg st="6" end="6"/>
                                            </p:txEl>
                                          </p:spTgt>
                                        </p:tgtEl>
                                        <p:attrNameLst>
                                          <p:attrName>style.visibility</p:attrName>
                                        </p:attrNameLst>
                                      </p:cBhvr>
                                      <p:to>
                                        <p:strVal val="visible"/>
                                      </p:to>
                                    </p:set>
                                    <p:anim calcmode="lin" valueType="num">
                                      <p:cBhvr additive="base">
                                        <p:cTn id="43" dur="500" fill="hold"/>
                                        <p:tgtEl>
                                          <p:spTgt spid="1328132">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328132">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328132">
                                            <p:txEl>
                                              <p:pRg st="7" end="7"/>
                                            </p:txEl>
                                          </p:spTgt>
                                        </p:tgtEl>
                                        <p:attrNameLst>
                                          <p:attrName>style.visibility</p:attrName>
                                        </p:attrNameLst>
                                      </p:cBhvr>
                                      <p:to>
                                        <p:strVal val="visible"/>
                                      </p:to>
                                    </p:set>
                                    <p:anim calcmode="lin" valueType="num">
                                      <p:cBhvr additive="base">
                                        <p:cTn id="49" dur="500" fill="hold"/>
                                        <p:tgtEl>
                                          <p:spTgt spid="1328132">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328132">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328132">
                                            <p:txEl>
                                              <p:pRg st="8" end="8"/>
                                            </p:txEl>
                                          </p:spTgt>
                                        </p:tgtEl>
                                        <p:attrNameLst>
                                          <p:attrName>style.visibility</p:attrName>
                                        </p:attrNameLst>
                                      </p:cBhvr>
                                      <p:to>
                                        <p:strVal val="visible"/>
                                      </p:to>
                                    </p:set>
                                    <p:anim calcmode="lin" valueType="num">
                                      <p:cBhvr additive="base">
                                        <p:cTn id="55" dur="500" fill="hold"/>
                                        <p:tgtEl>
                                          <p:spTgt spid="1328132">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328132">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8132"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2228850"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网络地址类别</a:t>
            </a:r>
          </a:p>
        </p:txBody>
      </p:sp>
      <p:sp>
        <p:nvSpPr>
          <p:cNvPr id="7171" name="Rectangle 4"/>
          <p:cNvSpPr>
            <a:spLocks noChangeArrowheads="1"/>
          </p:cNvSpPr>
          <p:nvPr/>
        </p:nvSpPr>
        <p:spPr bwMode="auto">
          <a:xfrm>
            <a:off x="7162800" y="2463800"/>
            <a:ext cx="3048000" cy="24384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172" name="Rectangle 5"/>
          <p:cNvSpPr>
            <a:spLocks noChangeArrowheads="1"/>
          </p:cNvSpPr>
          <p:nvPr/>
        </p:nvSpPr>
        <p:spPr bwMode="auto">
          <a:xfrm>
            <a:off x="7239000" y="4140200"/>
            <a:ext cx="2895600" cy="6858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IP Layer</a:t>
            </a:r>
          </a:p>
        </p:txBody>
      </p:sp>
      <p:sp>
        <p:nvSpPr>
          <p:cNvPr id="1329158" name="AutoShape 6"/>
          <p:cNvSpPr>
            <a:spLocks noChangeArrowheads="1"/>
          </p:cNvSpPr>
          <p:nvPr/>
        </p:nvSpPr>
        <p:spPr bwMode="auto">
          <a:xfrm>
            <a:off x="5486400" y="3378200"/>
            <a:ext cx="1447800" cy="914400"/>
          </a:xfrm>
          <a:prstGeom prst="wedgeRoundRectCallout">
            <a:avLst>
              <a:gd name="adj1" fmla="val 69407"/>
              <a:gd name="adj2" fmla="val 77431"/>
              <a:gd name="adj3" fmla="val 16667"/>
            </a:avLst>
          </a:prstGeom>
          <a:solidFill>
            <a:schemeClr val="accent2"/>
          </a:solidFill>
          <a:ln w="9525">
            <a:solidFill>
              <a:schemeClr val="tx1"/>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bg1"/>
                </a:solidFill>
                <a:latin typeface="Tahoma" panose="020B0604030504040204" pitchFamily="34" charset="0"/>
              </a:rPr>
              <a:t>IP</a:t>
            </a:r>
          </a:p>
          <a:p>
            <a:pPr algn="ctr" eaLnBrk="1" hangingPunct="1"/>
            <a:r>
              <a:rPr lang="en-US" altLang="zh-CN" sz="2400">
                <a:solidFill>
                  <a:schemeClr val="bg1"/>
                </a:solidFill>
                <a:latin typeface="Tahoma" panose="020B0604030504040204" pitchFamily="34" charset="0"/>
              </a:rPr>
              <a:t>Address</a:t>
            </a:r>
          </a:p>
        </p:txBody>
      </p:sp>
      <p:sp>
        <p:nvSpPr>
          <p:cNvPr id="7174" name="Line 7"/>
          <p:cNvSpPr>
            <a:spLocks noChangeShapeType="1"/>
          </p:cNvSpPr>
          <p:nvPr/>
        </p:nvSpPr>
        <p:spPr bwMode="auto">
          <a:xfrm flipH="1" flipV="1">
            <a:off x="8001000" y="3759200"/>
            <a:ext cx="609600" cy="3810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75" name="Line 8"/>
          <p:cNvSpPr>
            <a:spLocks noChangeShapeType="1"/>
          </p:cNvSpPr>
          <p:nvPr/>
        </p:nvSpPr>
        <p:spPr bwMode="auto">
          <a:xfrm flipV="1">
            <a:off x="8839200" y="3759200"/>
            <a:ext cx="533400" cy="3810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76" name="Rectangle 9"/>
          <p:cNvSpPr>
            <a:spLocks noChangeArrowheads="1"/>
          </p:cNvSpPr>
          <p:nvPr/>
        </p:nvSpPr>
        <p:spPr bwMode="auto">
          <a:xfrm>
            <a:off x="7391400" y="2921000"/>
            <a:ext cx="1143000" cy="8382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UDP</a:t>
            </a:r>
          </a:p>
        </p:txBody>
      </p:sp>
      <p:sp>
        <p:nvSpPr>
          <p:cNvPr id="7177" name="Rectangle 10"/>
          <p:cNvSpPr>
            <a:spLocks noChangeArrowheads="1"/>
          </p:cNvSpPr>
          <p:nvPr/>
        </p:nvSpPr>
        <p:spPr bwMode="auto">
          <a:xfrm>
            <a:off x="8839200" y="2921000"/>
            <a:ext cx="1143000" cy="8382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TCP</a:t>
            </a:r>
          </a:p>
        </p:txBody>
      </p:sp>
      <p:sp>
        <p:nvSpPr>
          <p:cNvPr id="7178" name="Text Box 11"/>
          <p:cNvSpPr txBox="1">
            <a:spLocks noChangeArrowheads="1"/>
          </p:cNvSpPr>
          <p:nvPr/>
        </p:nvSpPr>
        <p:spPr bwMode="auto">
          <a:xfrm>
            <a:off x="7239000" y="2463800"/>
            <a:ext cx="266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Operating System</a:t>
            </a:r>
          </a:p>
        </p:txBody>
      </p:sp>
      <p:sp>
        <p:nvSpPr>
          <p:cNvPr id="7179" name="Rectangle 12"/>
          <p:cNvSpPr>
            <a:spLocks noChangeArrowheads="1"/>
          </p:cNvSpPr>
          <p:nvPr/>
        </p:nvSpPr>
        <p:spPr bwMode="auto">
          <a:xfrm>
            <a:off x="6705600" y="1320800"/>
            <a:ext cx="990600" cy="9144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File </a:t>
            </a:r>
          </a:p>
          <a:p>
            <a:pPr algn="ctr" eaLnBrk="1" hangingPunct="1"/>
            <a:r>
              <a:rPr lang="en-US" altLang="zh-CN" sz="2400">
                <a:solidFill>
                  <a:schemeClr val="tx1"/>
                </a:solidFill>
                <a:latin typeface="Tahoma" panose="020B0604030504040204" pitchFamily="34" charset="0"/>
              </a:rPr>
              <a:t>trans.</a:t>
            </a:r>
          </a:p>
        </p:txBody>
      </p:sp>
      <p:sp>
        <p:nvSpPr>
          <p:cNvPr id="7180" name="Rectangle 13"/>
          <p:cNvSpPr>
            <a:spLocks noChangeArrowheads="1"/>
          </p:cNvSpPr>
          <p:nvPr/>
        </p:nvSpPr>
        <p:spPr bwMode="auto">
          <a:xfrm>
            <a:off x="8077200" y="1320800"/>
            <a:ext cx="990600" cy="9144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Real</a:t>
            </a:r>
          </a:p>
          <a:p>
            <a:pPr algn="ctr" eaLnBrk="1" hangingPunct="1"/>
            <a:r>
              <a:rPr lang="en-US" altLang="zh-CN" sz="2400">
                <a:solidFill>
                  <a:schemeClr val="tx1"/>
                </a:solidFill>
                <a:latin typeface="Tahoma" panose="020B0604030504040204" pitchFamily="34" charset="0"/>
              </a:rPr>
              <a:t>Audio</a:t>
            </a:r>
          </a:p>
        </p:txBody>
      </p:sp>
      <p:sp>
        <p:nvSpPr>
          <p:cNvPr id="7181" name="Rectangle 14"/>
          <p:cNvSpPr>
            <a:spLocks noChangeArrowheads="1"/>
          </p:cNvSpPr>
          <p:nvPr/>
        </p:nvSpPr>
        <p:spPr bwMode="auto">
          <a:xfrm>
            <a:off x="9448800" y="1320800"/>
            <a:ext cx="990600" cy="9144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Web</a:t>
            </a:r>
          </a:p>
        </p:txBody>
      </p:sp>
      <p:sp>
        <p:nvSpPr>
          <p:cNvPr id="7182" name="AutoShape 15"/>
          <p:cNvSpPr>
            <a:spLocks/>
          </p:cNvSpPr>
          <p:nvPr/>
        </p:nvSpPr>
        <p:spPr bwMode="auto">
          <a:xfrm>
            <a:off x="6324600" y="1320800"/>
            <a:ext cx="152400" cy="914400"/>
          </a:xfrm>
          <a:prstGeom prst="leftBrace">
            <a:avLst>
              <a:gd name="adj1" fmla="val 50000"/>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183" name="Text Box 16"/>
          <p:cNvSpPr txBox="1">
            <a:spLocks noChangeArrowheads="1"/>
          </p:cNvSpPr>
          <p:nvPr/>
        </p:nvSpPr>
        <p:spPr bwMode="auto">
          <a:xfrm>
            <a:off x="4495801" y="1549400"/>
            <a:ext cx="178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Applications</a:t>
            </a:r>
          </a:p>
        </p:txBody>
      </p:sp>
      <p:sp>
        <p:nvSpPr>
          <p:cNvPr id="7184" name="Line 17"/>
          <p:cNvSpPr>
            <a:spLocks noChangeShapeType="1"/>
          </p:cNvSpPr>
          <p:nvPr/>
        </p:nvSpPr>
        <p:spPr bwMode="auto">
          <a:xfrm flipH="1" flipV="1">
            <a:off x="7391400" y="2235200"/>
            <a:ext cx="457200" cy="6858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85" name="Line 18"/>
          <p:cNvSpPr>
            <a:spLocks noChangeShapeType="1"/>
          </p:cNvSpPr>
          <p:nvPr/>
        </p:nvSpPr>
        <p:spPr bwMode="auto">
          <a:xfrm flipV="1">
            <a:off x="7848600" y="2235200"/>
            <a:ext cx="762000" cy="6858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29171" name="AutoShape 19"/>
          <p:cNvSpPr>
            <a:spLocks noChangeArrowheads="1"/>
          </p:cNvSpPr>
          <p:nvPr/>
        </p:nvSpPr>
        <p:spPr bwMode="auto">
          <a:xfrm>
            <a:off x="5715000" y="2463800"/>
            <a:ext cx="1066800" cy="609600"/>
          </a:xfrm>
          <a:prstGeom prst="wedgeRoundRectCallout">
            <a:avLst>
              <a:gd name="adj1" fmla="val 106694"/>
              <a:gd name="adj2" fmla="val 88801"/>
              <a:gd name="adj3" fmla="val 16667"/>
            </a:avLst>
          </a:prstGeom>
          <a:solidFill>
            <a:schemeClr val="accent2"/>
          </a:solidFill>
          <a:ln w="9525">
            <a:solidFill>
              <a:schemeClr val="tx1"/>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bg1"/>
                </a:solidFill>
                <a:latin typeface="Tahoma" panose="020B0604030504040204" pitchFamily="34" charset="0"/>
              </a:rPr>
              <a:t>Port</a:t>
            </a:r>
          </a:p>
        </p:txBody>
      </p:sp>
      <p:sp>
        <p:nvSpPr>
          <p:cNvPr id="7187" name="Rectangle 20"/>
          <p:cNvSpPr>
            <a:spLocks noChangeArrowheads="1"/>
          </p:cNvSpPr>
          <p:nvPr/>
        </p:nvSpPr>
        <p:spPr bwMode="auto">
          <a:xfrm>
            <a:off x="7391400" y="2921000"/>
            <a:ext cx="1143000" cy="838200"/>
          </a:xfrm>
          <a:prstGeom prst="rect">
            <a:avLst/>
          </a:prstGeom>
          <a:solidFill>
            <a:schemeClr val="hlink"/>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UDP</a:t>
            </a:r>
          </a:p>
        </p:txBody>
      </p:sp>
      <p:sp>
        <p:nvSpPr>
          <p:cNvPr id="7188" name="Rectangle 21"/>
          <p:cNvSpPr>
            <a:spLocks noChangeArrowheads="1"/>
          </p:cNvSpPr>
          <p:nvPr/>
        </p:nvSpPr>
        <p:spPr bwMode="auto">
          <a:xfrm>
            <a:off x="8077200" y="1320800"/>
            <a:ext cx="990600" cy="914400"/>
          </a:xfrm>
          <a:prstGeom prst="rect">
            <a:avLst/>
          </a:prstGeom>
          <a:solidFill>
            <a:schemeClr val="hlink"/>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Real</a:t>
            </a:r>
          </a:p>
          <a:p>
            <a:pPr algn="ctr" eaLnBrk="1" hangingPunct="1"/>
            <a:r>
              <a:rPr lang="en-US" altLang="zh-CN" sz="2400">
                <a:solidFill>
                  <a:schemeClr val="tx1"/>
                </a:solidFill>
                <a:latin typeface="Tahoma" panose="020B0604030504040204" pitchFamily="34" charset="0"/>
              </a:rPr>
              <a:t>Audio</a:t>
            </a:r>
          </a:p>
        </p:txBody>
      </p:sp>
      <p:sp>
        <p:nvSpPr>
          <p:cNvPr id="7189" name="Line 22"/>
          <p:cNvSpPr>
            <a:spLocks noChangeShapeType="1"/>
          </p:cNvSpPr>
          <p:nvPr/>
        </p:nvSpPr>
        <p:spPr bwMode="auto">
          <a:xfrm flipH="1" flipV="1">
            <a:off x="8001000" y="3759200"/>
            <a:ext cx="609600" cy="381000"/>
          </a:xfrm>
          <a:prstGeom prst="line">
            <a:avLst/>
          </a:prstGeom>
          <a:noFill/>
          <a:ln w="3810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90" name="Line 23"/>
          <p:cNvSpPr>
            <a:spLocks noChangeShapeType="1"/>
          </p:cNvSpPr>
          <p:nvPr/>
        </p:nvSpPr>
        <p:spPr bwMode="auto">
          <a:xfrm flipV="1">
            <a:off x="7848600" y="2235200"/>
            <a:ext cx="762000" cy="685800"/>
          </a:xfrm>
          <a:prstGeom prst="line">
            <a:avLst/>
          </a:prstGeom>
          <a:noFill/>
          <a:ln w="3810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91" name="Line 25"/>
          <p:cNvSpPr>
            <a:spLocks noChangeShapeType="1"/>
          </p:cNvSpPr>
          <p:nvPr/>
        </p:nvSpPr>
        <p:spPr bwMode="auto">
          <a:xfrm>
            <a:off x="2209800" y="6553200"/>
            <a:ext cx="7543800" cy="0"/>
          </a:xfrm>
          <a:prstGeom prst="line">
            <a:avLst/>
          </a:prstGeom>
          <a:noFill/>
          <a:ln w="762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192" name="Line 26"/>
          <p:cNvSpPr>
            <a:spLocks noChangeShapeType="1"/>
          </p:cNvSpPr>
          <p:nvPr/>
        </p:nvSpPr>
        <p:spPr bwMode="auto">
          <a:xfrm>
            <a:off x="8686800" y="5562600"/>
            <a:ext cx="0" cy="9906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193" name="Rectangle 27"/>
          <p:cNvSpPr>
            <a:spLocks noChangeArrowheads="1"/>
          </p:cNvSpPr>
          <p:nvPr/>
        </p:nvSpPr>
        <p:spPr bwMode="auto">
          <a:xfrm>
            <a:off x="7239000" y="4140200"/>
            <a:ext cx="2895600" cy="685800"/>
          </a:xfrm>
          <a:prstGeom prst="rect">
            <a:avLst/>
          </a:prstGeom>
          <a:solidFill>
            <a:schemeClr val="hlink"/>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IP Layer</a:t>
            </a:r>
          </a:p>
        </p:txBody>
      </p:sp>
      <p:sp>
        <p:nvSpPr>
          <p:cNvPr id="7194" name="Line 28"/>
          <p:cNvSpPr>
            <a:spLocks noChangeShapeType="1"/>
          </p:cNvSpPr>
          <p:nvPr/>
        </p:nvSpPr>
        <p:spPr bwMode="auto">
          <a:xfrm flipV="1">
            <a:off x="9372600" y="2235200"/>
            <a:ext cx="533400" cy="6858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95" name="Rectangle 30"/>
          <p:cNvSpPr>
            <a:spLocks noChangeArrowheads="1"/>
          </p:cNvSpPr>
          <p:nvPr/>
        </p:nvSpPr>
        <p:spPr bwMode="auto">
          <a:xfrm>
            <a:off x="7239000" y="5283200"/>
            <a:ext cx="2895600" cy="685800"/>
          </a:xfrm>
          <a:prstGeom prst="rect">
            <a:avLst/>
          </a:prstGeom>
          <a:solidFill>
            <a:srgbClr val="3366FF"/>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hlink"/>
                </a:solidFill>
                <a:latin typeface="Tahoma" panose="020B0604030504040204" pitchFamily="34" charset="0"/>
              </a:rPr>
              <a:t>Link Layer</a:t>
            </a:r>
          </a:p>
        </p:txBody>
      </p:sp>
      <p:sp>
        <p:nvSpPr>
          <p:cNvPr id="7196" name="Line 31"/>
          <p:cNvSpPr>
            <a:spLocks noChangeShapeType="1"/>
          </p:cNvSpPr>
          <p:nvPr/>
        </p:nvSpPr>
        <p:spPr bwMode="auto">
          <a:xfrm flipV="1">
            <a:off x="8661400" y="4826000"/>
            <a:ext cx="0"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29184" name="AutoShape 32"/>
          <p:cNvSpPr>
            <a:spLocks noChangeArrowheads="1"/>
          </p:cNvSpPr>
          <p:nvPr/>
        </p:nvSpPr>
        <p:spPr bwMode="auto">
          <a:xfrm>
            <a:off x="5486400" y="4597400"/>
            <a:ext cx="1447800" cy="914400"/>
          </a:xfrm>
          <a:prstGeom prst="wedgeRoundRectCallout">
            <a:avLst>
              <a:gd name="adj1" fmla="val 69407"/>
              <a:gd name="adj2" fmla="val 77431"/>
              <a:gd name="adj3" fmla="val 16667"/>
            </a:avLst>
          </a:prstGeom>
          <a:solidFill>
            <a:schemeClr val="accent2"/>
          </a:solidFill>
          <a:ln w="9525">
            <a:solidFill>
              <a:schemeClr val="tx1"/>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bg1"/>
                </a:solidFill>
                <a:latin typeface="Tahoma" panose="020B0604030504040204" pitchFamily="34" charset="0"/>
              </a:rPr>
              <a:t>MAC</a:t>
            </a:r>
          </a:p>
          <a:p>
            <a:pPr algn="ctr" eaLnBrk="1" hangingPunct="1"/>
            <a:r>
              <a:rPr lang="en-US" altLang="zh-CN" sz="2400">
                <a:solidFill>
                  <a:schemeClr val="bg1"/>
                </a:solidFill>
                <a:latin typeface="Tahoma" panose="020B0604030504040204" pitchFamily="34" charset="0"/>
              </a:rPr>
              <a:t>Address</a:t>
            </a:r>
          </a:p>
        </p:txBody>
      </p:sp>
      <p:sp>
        <p:nvSpPr>
          <p:cNvPr id="1329186" name="AutoShape 34"/>
          <p:cNvSpPr>
            <a:spLocks noChangeArrowheads="1"/>
          </p:cNvSpPr>
          <p:nvPr/>
        </p:nvSpPr>
        <p:spPr bwMode="auto">
          <a:xfrm>
            <a:off x="2565400" y="3479800"/>
            <a:ext cx="2438400" cy="736600"/>
          </a:xfrm>
          <a:prstGeom prst="wedgeRoundRectCallout">
            <a:avLst>
              <a:gd name="adj1" fmla="val 64583"/>
              <a:gd name="adj2" fmla="val 32111"/>
              <a:gd name="adj3" fmla="val 16667"/>
            </a:avLst>
          </a:prstGeom>
          <a:solidFill>
            <a:schemeClr val="accent1"/>
          </a:solidFill>
          <a:ln w="9525">
            <a:solidFill>
              <a:srgbClr val="CACACA"/>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a:solidFill>
                  <a:schemeClr val="hlink"/>
                </a:solidFill>
              </a:rPr>
              <a:t>域名</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329184"/>
                                        </p:tgtEl>
                                        <p:attrNameLst>
                                          <p:attrName>style.visibility</p:attrName>
                                        </p:attrNameLst>
                                      </p:cBhvr>
                                      <p:to>
                                        <p:strVal val="visible"/>
                                      </p:to>
                                    </p:set>
                                    <p:anim calcmode="lin" valueType="num">
                                      <p:cBhvr additive="base">
                                        <p:cTn id="7" dur="500" fill="hold"/>
                                        <p:tgtEl>
                                          <p:spTgt spid="1329184"/>
                                        </p:tgtEl>
                                        <p:attrNameLst>
                                          <p:attrName>ppt_x</p:attrName>
                                        </p:attrNameLst>
                                      </p:cBhvr>
                                      <p:tavLst>
                                        <p:tav tm="0">
                                          <p:val>
                                            <p:strVal val="1+#ppt_w/2"/>
                                          </p:val>
                                        </p:tav>
                                        <p:tav tm="100000">
                                          <p:val>
                                            <p:strVal val="#ppt_x"/>
                                          </p:val>
                                        </p:tav>
                                      </p:tavLst>
                                    </p:anim>
                                    <p:anim calcmode="lin" valueType="num">
                                      <p:cBhvr additive="base">
                                        <p:cTn id="8" dur="500" fill="hold"/>
                                        <p:tgtEl>
                                          <p:spTgt spid="1329184"/>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1329158"/>
                                        </p:tgtEl>
                                        <p:attrNameLst>
                                          <p:attrName>style.visibility</p:attrName>
                                        </p:attrNameLst>
                                      </p:cBhvr>
                                      <p:to>
                                        <p:strVal val="visible"/>
                                      </p:to>
                                    </p:set>
                                    <p:anim calcmode="lin" valueType="num">
                                      <p:cBhvr additive="base">
                                        <p:cTn id="12" dur="500" fill="hold"/>
                                        <p:tgtEl>
                                          <p:spTgt spid="1329158"/>
                                        </p:tgtEl>
                                        <p:attrNameLst>
                                          <p:attrName>ppt_x</p:attrName>
                                        </p:attrNameLst>
                                      </p:cBhvr>
                                      <p:tavLst>
                                        <p:tav tm="0">
                                          <p:val>
                                            <p:strVal val="1+#ppt_w/2"/>
                                          </p:val>
                                        </p:tav>
                                        <p:tav tm="100000">
                                          <p:val>
                                            <p:strVal val="#ppt_x"/>
                                          </p:val>
                                        </p:tav>
                                      </p:tavLst>
                                    </p:anim>
                                    <p:anim calcmode="lin" valueType="num">
                                      <p:cBhvr additive="base">
                                        <p:cTn id="13" dur="500" fill="hold"/>
                                        <p:tgtEl>
                                          <p:spTgt spid="1329158"/>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329186"/>
                                        </p:tgtEl>
                                        <p:attrNameLst>
                                          <p:attrName>style.visibility</p:attrName>
                                        </p:attrNameLst>
                                      </p:cBhvr>
                                      <p:to>
                                        <p:strVal val="visible"/>
                                      </p:to>
                                    </p:set>
                                    <p:anim calcmode="lin" valueType="num">
                                      <p:cBhvr additive="base">
                                        <p:cTn id="18" dur="500" fill="hold"/>
                                        <p:tgtEl>
                                          <p:spTgt spid="1329186"/>
                                        </p:tgtEl>
                                        <p:attrNameLst>
                                          <p:attrName>ppt_x</p:attrName>
                                        </p:attrNameLst>
                                      </p:cBhvr>
                                      <p:tavLst>
                                        <p:tav tm="0">
                                          <p:val>
                                            <p:strVal val="1+#ppt_w/2"/>
                                          </p:val>
                                        </p:tav>
                                        <p:tav tm="100000">
                                          <p:val>
                                            <p:strVal val="#ppt_x"/>
                                          </p:val>
                                        </p:tav>
                                      </p:tavLst>
                                    </p:anim>
                                    <p:anim calcmode="lin" valueType="num">
                                      <p:cBhvr additive="base">
                                        <p:cTn id="19" dur="500" fill="hold"/>
                                        <p:tgtEl>
                                          <p:spTgt spid="1329186"/>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500"/>
                            </p:stCondLst>
                            <p:childTnLst>
                              <p:par>
                                <p:cTn id="21" presetID="1" presetClass="entr" presetSubtype="0" fill="hold" grpId="0" nodeType="afterEffect">
                                  <p:stCondLst>
                                    <p:cond delay="0"/>
                                  </p:stCondLst>
                                  <p:childTnLst>
                                    <p:set>
                                      <p:cBhvr>
                                        <p:cTn id="22" dur="1" fill="hold">
                                          <p:stCondLst>
                                            <p:cond delay="499"/>
                                          </p:stCondLst>
                                        </p:cTn>
                                        <p:tgtEl>
                                          <p:spTgt spid="13291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9158" grpId="0" animBg="1" autoUpdateAnimBg="0"/>
      <p:bldP spid="1329171" grpId="0" animBg="1" autoUpdateAnimBg="0"/>
      <p:bldP spid="1329184" grpId="0" animBg="1" autoUpdateAnimBg="0"/>
      <p:bldP spid="1329186"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2228850" y="4333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网络地址转换</a:t>
            </a:r>
          </a:p>
        </p:txBody>
      </p:sp>
      <p:grpSp>
        <p:nvGrpSpPr>
          <p:cNvPr id="8195" name="Group 21"/>
          <p:cNvGrpSpPr>
            <a:grpSpLocks/>
          </p:cNvGrpSpPr>
          <p:nvPr/>
        </p:nvGrpSpPr>
        <p:grpSpPr bwMode="auto">
          <a:xfrm>
            <a:off x="2497139" y="1766889"/>
            <a:ext cx="7959725" cy="3811587"/>
            <a:chOff x="613" y="1168"/>
            <a:chExt cx="4993" cy="2434"/>
          </a:xfrm>
        </p:grpSpPr>
        <p:grpSp>
          <p:nvGrpSpPr>
            <p:cNvPr id="8196" name="Group 12"/>
            <p:cNvGrpSpPr>
              <a:grpSpLocks/>
            </p:cNvGrpSpPr>
            <p:nvPr/>
          </p:nvGrpSpPr>
          <p:grpSpPr bwMode="auto">
            <a:xfrm>
              <a:off x="4280" y="2201"/>
              <a:ext cx="1326" cy="716"/>
              <a:chOff x="4157" y="2802"/>
              <a:chExt cx="1326" cy="716"/>
            </a:xfrm>
          </p:grpSpPr>
          <p:sp>
            <p:nvSpPr>
              <p:cNvPr id="8212" name="Line 13"/>
              <p:cNvSpPr>
                <a:spLocks noChangeShapeType="1"/>
              </p:cNvSpPr>
              <p:nvPr/>
            </p:nvSpPr>
            <p:spPr bwMode="auto">
              <a:xfrm flipV="1">
                <a:off x="4157" y="2802"/>
                <a:ext cx="0" cy="716"/>
              </a:xfrm>
              <a:prstGeom prst="line">
                <a:avLst/>
              </a:prstGeom>
              <a:noFill/>
              <a:ln w="3810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13" name="Text Box 14"/>
              <p:cNvSpPr txBox="1">
                <a:spLocks noChangeArrowheads="1"/>
              </p:cNvSpPr>
              <p:nvPr/>
            </p:nvSpPr>
            <p:spPr bwMode="auto">
              <a:xfrm>
                <a:off x="4206" y="2992"/>
                <a:ext cx="1277"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tx2"/>
                    </a:solidFill>
                  </a:rPr>
                  <a:t>DNS</a:t>
                </a:r>
              </a:p>
            </p:txBody>
          </p:sp>
        </p:grpSp>
        <p:grpSp>
          <p:nvGrpSpPr>
            <p:cNvPr id="8197" name="Group 20"/>
            <p:cNvGrpSpPr>
              <a:grpSpLocks/>
            </p:cNvGrpSpPr>
            <p:nvPr/>
          </p:nvGrpSpPr>
          <p:grpSpPr bwMode="auto">
            <a:xfrm>
              <a:off x="613" y="1168"/>
              <a:ext cx="4429" cy="2434"/>
              <a:chOff x="613" y="1168"/>
              <a:chExt cx="4429" cy="2434"/>
            </a:xfrm>
          </p:grpSpPr>
          <p:sp>
            <p:nvSpPr>
              <p:cNvPr id="8198" name="Text Box 3"/>
              <p:cNvSpPr txBox="1">
                <a:spLocks noChangeArrowheads="1"/>
              </p:cNvSpPr>
              <p:nvPr/>
            </p:nvSpPr>
            <p:spPr bwMode="auto">
              <a:xfrm>
                <a:off x="1118" y="1402"/>
                <a:ext cx="980" cy="6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sz="3200">
                    <a:solidFill>
                      <a:schemeClr val="tx1"/>
                    </a:solidFill>
                  </a:rPr>
                  <a:t>MAC Address</a:t>
                </a:r>
              </a:p>
            </p:txBody>
          </p:sp>
          <p:sp>
            <p:nvSpPr>
              <p:cNvPr id="8199" name="Text Box 4"/>
              <p:cNvSpPr txBox="1">
                <a:spLocks noChangeArrowheads="1"/>
              </p:cNvSpPr>
              <p:nvPr/>
            </p:nvSpPr>
            <p:spPr bwMode="auto">
              <a:xfrm>
                <a:off x="3780" y="1371"/>
                <a:ext cx="1074" cy="84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en-US" altLang="zh-CN" sz="3200">
                    <a:solidFill>
                      <a:schemeClr val="tx1"/>
                    </a:solidFill>
                  </a:rPr>
                  <a:t>IP</a:t>
                </a:r>
              </a:p>
              <a:p>
                <a:pPr>
                  <a:spcBef>
                    <a:spcPct val="50000"/>
                  </a:spcBef>
                </a:pPr>
                <a:r>
                  <a:rPr lang="en-US" altLang="zh-CN" sz="3200">
                    <a:solidFill>
                      <a:schemeClr val="tx1"/>
                    </a:solidFill>
                  </a:rPr>
                  <a:t>Address</a:t>
                </a:r>
              </a:p>
            </p:txBody>
          </p:sp>
          <p:sp>
            <p:nvSpPr>
              <p:cNvPr id="8200" name="Text Box 5"/>
              <p:cNvSpPr txBox="1">
                <a:spLocks noChangeArrowheads="1"/>
              </p:cNvSpPr>
              <p:nvPr/>
            </p:nvSpPr>
            <p:spPr bwMode="auto">
              <a:xfrm>
                <a:off x="3734" y="2941"/>
                <a:ext cx="1308" cy="37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3200">
                    <a:solidFill>
                      <a:schemeClr val="tx1"/>
                    </a:solidFill>
                  </a:rPr>
                  <a:t>域名</a:t>
                </a:r>
              </a:p>
            </p:txBody>
          </p:sp>
          <p:grpSp>
            <p:nvGrpSpPr>
              <p:cNvPr id="8201" name="Group 6"/>
              <p:cNvGrpSpPr>
                <a:grpSpLocks/>
              </p:cNvGrpSpPr>
              <p:nvPr/>
            </p:nvGrpSpPr>
            <p:grpSpPr bwMode="auto">
              <a:xfrm>
                <a:off x="2114" y="1168"/>
                <a:ext cx="1744" cy="331"/>
                <a:chOff x="1930" y="1744"/>
                <a:chExt cx="1744" cy="331"/>
              </a:xfrm>
            </p:grpSpPr>
            <p:sp>
              <p:nvSpPr>
                <p:cNvPr id="8210" name="Line 7"/>
                <p:cNvSpPr>
                  <a:spLocks noChangeShapeType="1"/>
                </p:cNvSpPr>
                <p:nvPr/>
              </p:nvSpPr>
              <p:spPr bwMode="auto">
                <a:xfrm flipH="1">
                  <a:off x="1930" y="2070"/>
                  <a:ext cx="1666" cy="0"/>
                </a:xfrm>
                <a:prstGeom prst="line">
                  <a:avLst/>
                </a:prstGeom>
                <a:noFill/>
                <a:ln w="3810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11" name="Text Box 8"/>
                <p:cNvSpPr txBox="1">
                  <a:spLocks noChangeArrowheads="1"/>
                </p:cNvSpPr>
                <p:nvPr/>
              </p:nvSpPr>
              <p:spPr bwMode="auto">
                <a:xfrm>
                  <a:off x="2398" y="1744"/>
                  <a:ext cx="1276"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tx2"/>
                      </a:solidFill>
                    </a:rPr>
                    <a:t>ARP</a:t>
                  </a:r>
                </a:p>
              </p:txBody>
            </p:sp>
          </p:grpSp>
          <p:grpSp>
            <p:nvGrpSpPr>
              <p:cNvPr id="8202" name="Group 9"/>
              <p:cNvGrpSpPr>
                <a:grpSpLocks/>
              </p:cNvGrpSpPr>
              <p:nvPr/>
            </p:nvGrpSpPr>
            <p:grpSpPr bwMode="auto">
              <a:xfrm>
                <a:off x="2099" y="1930"/>
                <a:ext cx="1747" cy="382"/>
                <a:chOff x="1915" y="2506"/>
                <a:chExt cx="1747" cy="382"/>
              </a:xfrm>
            </p:grpSpPr>
            <p:sp>
              <p:nvSpPr>
                <p:cNvPr id="8208" name="Line 10"/>
                <p:cNvSpPr>
                  <a:spLocks noChangeShapeType="1"/>
                </p:cNvSpPr>
                <p:nvPr/>
              </p:nvSpPr>
              <p:spPr bwMode="auto">
                <a:xfrm>
                  <a:off x="1915" y="2506"/>
                  <a:ext cx="1666" cy="0"/>
                </a:xfrm>
                <a:prstGeom prst="line">
                  <a:avLst/>
                </a:prstGeom>
                <a:noFill/>
                <a:ln w="3810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09" name="Text Box 11"/>
                <p:cNvSpPr txBox="1">
                  <a:spLocks noChangeArrowheads="1"/>
                </p:cNvSpPr>
                <p:nvPr/>
              </p:nvSpPr>
              <p:spPr bwMode="auto">
                <a:xfrm>
                  <a:off x="2384" y="2557"/>
                  <a:ext cx="127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tx2"/>
                      </a:solidFill>
                    </a:rPr>
                    <a:t>RARP</a:t>
                  </a:r>
                </a:p>
              </p:txBody>
            </p:sp>
          </p:grpSp>
          <p:grpSp>
            <p:nvGrpSpPr>
              <p:cNvPr id="8203" name="Group 19"/>
              <p:cNvGrpSpPr>
                <a:grpSpLocks/>
              </p:cNvGrpSpPr>
              <p:nvPr/>
            </p:nvGrpSpPr>
            <p:grpSpPr bwMode="auto">
              <a:xfrm>
                <a:off x="613" y="2745"/>
                <a:ext cx="2585" cy="857"/>
                <a:chOff x="515" y="2929"/>
                <a:chExt cx="2585" cy="857"/>
              </a:xfrm>
            </p:grpSpPr>
            <p:sp>
              <p:nvSpPr>
                <p:cNvPr id="8204" name="Text Box 15"/>
                <p:cNvSpPr txBox="1">
                  <a:spLocks noChangeArrowheads="1"/>
                </p:cNvSpPr>
                <p:nvPr/>
              </p:nvSpPr>
              <p:spPr bwMode="auto">
                <a:xfrm>
                  <a:off x="515" y="3027"/>
                  <a:ext cx="811" cy="747"/>
                </a:xfrm>
                <a:prstGeom prst="rect">
                  <a:avLst/>
                </a:prstGeom>
                <a:noFill/>
                <a:ln w="9525">
                  <a:solidFill>
                    <a:srgbClr val="99CC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a:solidFill>
                        <a:schemeClr val="tx1"/>
                      </a:solidFill>
                    </a:rPr>
                    <a:t>私用</a:t>
                  </a:r>
                </a:p>
                <a:p>
                  <a:pPr algn="ctr">
                    <a:spcBef>
                      <a:spcPct val="50000"/>
                    </a:spcBef>
                  </a:pPr>
                  <a:r>
                    <a:rPr lang="en-US" altLang="zh-CN">
                      <a:solidFill>
                        <a:schemeClr val="tx1"/>
                      </a:solidFill>
                    </a:rPr>
                    <a:t>IP</a:t>
                  </a:r>
                  <a:r>
                    <a:rPr lang="zh-CN" altLang="en-US">
                      <a:solidFill>
                        <a:schemeClr val="tx1"/>
                      </a:solidFill>
                    </a:rPr>
                    <a:t>地址</a:t>
                  </a:r>
                </a:p>
              </p:txBody>
            </p:sp>
            <p:sp>
              <p:nvSpPr>
                <p:cNvPr id="8205" name="Text Box 16"/>
                <p:cNvSpPr txBox="1">
                  <a:spLocks noChangeArrowheads="1"/>
                </p:cNvSpPr>
                <p:nvPr/>
              </p:nvSpPr>
              <p:spPr bwMode="auto">
                <a:xfrm>
                  <a:off x="2289" y="3039"/>
                  <a:ext cx="811" cy="747"/>
                </a:xfrm>
                <a:prstGeom prst="rect">
                  <a:avLst/>
                </a:prstGeom>
                <a:noFill/>
                <a:ln w="9525">
                  <a:solidFill>
                    <a:srgbClr val="99CC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a:solidFill>
                        <a:schemeClr val="tx1"/>
                      </a:solidFill>
                    </a:rPr>
                    <a:t>合法</a:t>
                  </a:r>
                </a:p>
                <a:p>
                  <a:pPr algn="ctr">
                    <a:spcBef>
                      <a:spcPct val="50000"/>
                    </a:spcBef>
                  </a:pPr>
                  <a:r>
                    <a:rPr lang="en-US" altLang="zh-CN">
                      <a:solidFill>
                        <a:schemeClr val="tx1"/>
                      </a:solidFill>
                    </a:rPr>
                    <a:t>IP</a:t>
                  </a:r>
                  <a:r>
                    <a:rPr lang="zh-CN" altLang="en-US">
                      <a:solidFill>
                        <a:schemeClr val="tx1"/>
                      </a:solidFill>
                    </a:rPr>
                    <a:t>地址</a:t>
                  </a:r>
                </a:p>
              </p:txBody>
            </p:sp>
            <p:sp>
              <p:nvSpPr>
                <p:cNvPr id="8206" name="Line 17"/>
                <p:cNvSpPr>
                  <a:spLocks noChangeShapeType="1"/>
                </p:cNvSpPr>
                <p:nvPr/>
              </p:nvSpPr>
              <p:spPr bwMode="auto">
                <a:xfrm>
                  <a:off x="1324" y="3395"/>
                  <a:ext cx="943"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07" name="Text Box 18"/>
                <p:cNvSpPr txBox="1">
                  <a:spLocks noChangeArrowheads="1"/>
                </p:cNvSpPr>
                <p:nvPr/>
              </p:nvSpPr>
              <p:spPr bwMode="auto">
                <a:xfrm>
                  <a:off x="1458" y="2929"/>
                  <a:ext cx="699"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en-US" altLang="zh-CN">
                      <a:solidFill>
                        <a:schemeClr val="tx2"/>
                      </a:solidFill>
                    </a:rPr>
                    <a:t>NAT</a:t>
                  </a:r>
                </a:p>
              </p:txBody>
            </p:sp>
          </p:grpSp>
        </p:grpSp>
      </p:grpSp>
    </p:spTree>
  </p:cSld>
  <p:clrMapOvr>
    <a:masterClrMapping/>
  </p:clrMapOvr>
  <p:transition spd="med">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2084388" y="1897063"/>
            <a:ext cx="8229600" cy="3397250"/>
            <a:chOff x="288" y="1056"/>
            <a:chExt cx="5184" cy="2784"/>
          </a:xfrm>
        </p:grpSpPr>
        <p:sp>
          <p:nvSpPr>
            <p:cNvPr id="9235" name="Rectangle 4"/>
            <p:cNvSpPr>
              <a:spLocks noChangeArrowheads="1"/>
            </p:cNvSpPr>
            <p:nvPr/>
          </p:nvSpPr>
          <p:spPr bwMode="auto">
            <a:xfrm>
              <a:off x="288" y="1056"/>
              <a:ext cx="5184" cy="2784"/>
            </a:xfrm>
            <a:prstGeom prst="rect">
              <a:avLst/>
            </a:prstGeom>
            <a:solidFill>
              <a:srgbClr val="000066"/>
            </a:solidFill>
            <a:ln w="9525">
              <a:solidFill>
                <a:schemeClr val="bg1"/>
              </a:solidFill>
              <a:miter lim="800000"/>
              <a:headEnd/>
              <a:tailEnd/>
            </a:ln>
            <a:effectLst>
              <a:outerShdw dist="233487" dir="2700000" algn="ctr" rotWithShape="0">
                <a:srgbClr val="000066">
                  <a:alpha val="50000"/>
                </a:srgbClr>
              </a:outerShdw>
            </a:effec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9236" name="Rectangle 5"/>
            <p:cNvSpPr>
              <a:spLocks noChangeArrowheads="1"/>
            </p:cNvSpPr>
            <p:nvPr/>
          </p:nvSpPr>
          <p:spPr bwMode="auto">
            <a:xfrm>
              <a:off x="2112" y="2064"/>
              <a:ext cx="672" cy="432"/>
            </a:xfrm>
            <a:prstGeom prst="rect">
              <a:avLst/>
            </a:prstGeom>
            <a:solidFill>
              <a:srgbClr val="0000CC"/>
            </a:solidFill>
            <a:ln w="19050">
              <a:solidFill>
                <a:schemeClr val="bg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路由器</a:t>
              </a:r>
            </a:p>
          </p:txBody>
        </p:sp>
        <p:sp>
          <p:nvSpPr>
            <p:cNvPr id="9237" name="AutoShape 6">
              <a:hlinkHover r:id="" action="ppaction://noaction" highlightClick="1"/>
            </p:cNvPr>
            <p:cNvSpPr>
              <a:spLocks noChangeArrowheads="1"/>
            </p:cNvSpPr>
            <p:nvPr/>
          </p:nvSpPr>
          <p:spPr bwMode="auto">
            <a:xfrm>
              <a:off x="432" y="2496"/>
              <a:ext cx="1200" cy="912"/>
            </a:xfrm>
            <a:prstGeom prst="cloudCallout">
              <a:avLst>
                <a:gd name="adj1" fmla="val 17417"/>
                <a:gd name="adj2" fmla="val 33116"/>
              </a:avLst>
            </a:prstGeom>
            <a:solidFill>
              <a:srgbClr val="FF0066"/>
            </a:solidFill>
            <a:ln w="19050">
              <a:solidFill>
                <a:schemeClr val="bg1"/>
              </a:solidFill>
              <a:round/>
              <a:headEnd/>
              <a:tailEnd/>
            </a:ln>
          </p:spPr>
          <p:txBody>
            <a:bodyPr anchor="ctr" anchorCtr="1"/>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1800">
                  <a:solidFill>
                    <a:schemeClr val="hlink"/>
                  </a:solidFill>
                  <a:latin typeface="Verdana" panose="020B0604030504040204" pitchFamily="34" charset="0"/>
                  <a:ea typeface="隶书" panose="02010509060101010101" pitchFamily="49" charset="-122"/>
                </a:rPr>
                <a:t>网络 </a:t>
              </a:r>
              <a:r>
                <a:rPr kumimoji="1" lang="en-US" altLang="zh-CN" sz="1800">
                  <a:solidFill>
                    <a:schemeClr val="hlink"/>
                  </a:solidFill>
                  <a:latin typeface="Verdana" panose="020B0604030504040204" pitchFamily="34" charset="0"/>
                  <a:ea typeface="隶书" panose="02010509060101010101" pitchFamily="49" charset="-122"/>
                </a:rPr>
                <a:t>2</a:t>
              </a:r>
            </a:p>
            <a:p>
              <a:pPr algn="ctr" eaLnBrk="1" hangingPunct="1"/>
              <a:r>
                <a:rPr kumimoji="1" lang="zh-CN" altLang="en-US" sz="1800">
                  <a:solidFill>
                    <a:schemeClr val="hlink"/>
                  </a:solidFill>
                  <a:latin typeface="Verdana" panose="020B0604030504040204" pitchFamily="34" charset="0"/>
                  <a:ea typeface="隶书" panose="02010509060101010101" pitchFamily="49" charset="-122"/>
                </a:rPr>
                <a:t>令牌环</a:t>
              </a:r>
            </a:p>
          </p:txBody>
        </p:sp>
        <p:sp>
          <p:nvSpPr>
            <p:cNvPr id="9238" name="AutoShape 7">
              <a:hlinkHover r:id="" action="ppaction://noaction" highlightClick="1"/>
            </p:cNvPr>
            <p:cNvSpPr>
              <a:spLocks noChangeArrowheads="1"/>
            </p:cNvSpPr>
            <p:nvPr/>
          </p:nvSpPr>
          <p:spPr bwMode="auto">
            <a:xfrm>
              <a:off x="3120" y="2304"/>
              <a:ext cx="1248" cy="816"/>
            </a:xfrm>
            <a:prstGeom prst="cloudCallout">
              <a:avLst>
                <a:gd name="adj1" fmla="val 29486"/>
                <a:gd name="adj2" fmla="val 21690"/>
              </a:avLst>
            </a:prstGeom>
            <a:solidFill>
              <a:srgbClr val="FF0066"/>
            </a:solidFill>
            <a:ln w="19050">
              <a:solidFill>
                <a:schemeClr val="bg1"/>
              </a:solidFill>
              <a:round/>
              <a:headEnd/>
              <a:tailEnd/>
            </a:ln>
          </p:spPr>
          <p:txBody>
            <a:bodyPr anchor="ctr" anchorCtr="1"/>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hlink"/>
                  </a:solidFill>
                  <a:latin typeface="Verdana" panose="020B0604030504040204" pitchFamily="34" charset="0"/>
                  <a:ea typeface="华文新魏" panose="02010800040101010101" pitchFamily="2" charset="-122"/>
                </a:rPr>
                <a:t>网络</a:t>
              </a:r>
              <a:r>
                <a:rPr kumimoji="1" lang="zh-CN" altLang="en-US" sz="2400">
                  <a:solidFill>
                    <a:schemeClr val="hlink"/>
                  </a:solidFill>
                  <a:latin typeface="Verdana" panose="020B0604030504040204" pitchFamily="34" charset="0"/>
                  <a:ea typeface="华文新魏" panose="02010800040101010101" pitchFamily="2" charset="-122"/>
                </a:rPr>
                <a:t> </a:t>
              </a:r>
              <a:r>
                <a:rPr kumimoji="1" lang="en-US" altLang="zh-CN" sz="2400">
                  <a:solidFill>
                    <a:schemeClr val="hlink"/>
                  </a:solidFill>
                  <a:latin typeface="Verdana" panose="020B0604030504040204" pitchFamily="34" charset="0"/>
                  <a:ea typeface="华文新魏" panose="02010800040101010101" pitchFamily="2" charset="-122"/>
                </a:rPr>
                <a:t>3</a:t>
              </a:r>
            </a:p>
            <a:p>
              <a:pPr algn="ctr" eaLnBrk="1" hangingPunct="1"/>
              <a:r>
                <a:rPr kumimoji="1" lang="en-US" altLang="zh-CN" sz="1800">
                  <a:solidFill>
                    <a:schemeClr val="hlink"/>
                  </a:solidFill>
                  <a:latin typeface="Verdana" panose="020B0604030504040204" pitchFamily="34" charset="0"/>
                  <a:ea typeface="隶书" panose="02010509060101010101" pitchFamily="49" charset="-122"/>
                </a:rPr>
                <a:t>ATM</a:t>
              </a:r>
            </a:p>
          </p:txBody>
        </p:sp>
        <p:sp>
          <p:nvSpPr>
            <p:cNvPr id="9239" name="AutoShape 8">
              <a:hlinkHover r:id="" action="ppaction://noaction" highlightClick="1"/>
            </p:cNvPr>
            <p:cNvSpPr>
              <a:spLocks noChangeArrowheads="1"/>
            </p:cNvSpPr>
            <p:nvPr/>
          </p:nvSpPr>
          <p:spPr bwMode="auto">
            <a:xfrm>
              <a:off x="816" y="1152"/>
              <a:ext cx="1200" cy="912"/>
            </a:xfrm>
            <a:prstGeom prst="cloudCallout">
              <a:avLst>
                <a:gd name="adj1" fmla="val 20167"/>
                <a:gd name="adj2" fmla="val -41556"/>
              </a:avLst>
            </a:prstGeom>
            <a:solidFill>
              <a:srgbClr val="FF0066"/>
            </a:solidFill>
            <a:ln w="19050">
              <a:solidFill>
                <a:schemeClr val="bg1"/>
              </a:solidFill>
              <a:round/>
              <a:headEnd/>
              <a:tailEnd/>
            </a:ln>
          </p:spPr>
          <p:txBody>
            <a:bodyPr anchor="ctr" anchorCtr="1"/>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1800">
                  <a:solidFill>
                    <a:schemeClr val="hlink"/>
                  </a:solidFill>
                  <a:latin typeface="Verdana" panose="020B0604030504040204" pitchFamily="34" charset="0"/>
                  <a:ea typeface="隶书" panose="02010509060101010101" pitchFamily="49" charset="-122"/>
                </a:rPr>
                <a:t>网络 </a:t>
              </a:r>
              <a:r>
                <a:rPr kumimoji="1" lang="en-US" altLang="zh-CN" sz="1800">
                  <a:solidFill>
                    <a:schemeClr val="hlink"/>
                  </a:solidFill>
                  <a:latin typeface="Verdana" panose="020B0604030504040204" pitchFamily="34" charset="0"/>
                  <a:ea typeface="隶书" panose="02010509060101010101" pitchFamily="49" charset="-122"/>
                </a:rPr>
                <a:t>1</a:t>
              </a:r>
            </a:p>
            <a:p>
              <a:pPr algn="ctr" eaLnBrk="1" hangingPunct="1"/>
              <a:r>
                <a:rPr kumimoji="1" lang="zh-CN" altLang="en-US" sz="1800">
                  <a:solidFill>
                    <a:schemeClr val="hlink"/>
                  </a:solidFill>
                  <a:latin typeface="Verdana" panose="020B0604030504040204" pitchFamily="34" charset="0"/>
                  <a:ea typeface="隶书" panose="02010509060101010101" pitchFamily="49" charset="-122"/>
                </a:rPr>
                <a:t>以太网</a:t>
              </a:r>
            </a:p>
          </p:txBody>
        </p:sp>
        <p:sp>
          <p:nvSpPr>
            <p:cNvPr id="9240" name="Rectangle 9"/>
            <p:cNvSpPr>
              <a:spLocks noChangeArrowheads="1"/>
            </p:cNvSpPr>
            <p:nvPr/>
          </p:nvSpPr>
          <p:spPr bwMode="auto">
            <a:xfrm>
              <a:off x="4368" y="1632"/>
              <a:ext cx="672" cy="432"/>
            </a:xfrm>
            <a:prstGeom prst="rect">
              <a:avLst/>
            </a:prstGeom>
            <a:solidFill>
              <a:srgbClr val="0000CC"/>
            </a:solidFill>
            <a:ln w="19050">
              <a:solidFill>
                <a:schemeClr val="bg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路由器</a:t>
              </a:r>
            </a:p>
          </p:txBody>
        </p:sp>
        <p:sp>
          <p:nvSpPr>
            <p:cNvPr id="9241" name="Line 10"/>
            <p:cNvSpPr>
              <a:spLocks noChangeShapeType="1"/>
            </p:cNvSpPr>
            <p:nvPr/>
          </p:nvSpPr>
          <p:spPr bwMode="auto">
            <a:xfrm flipV="1">
              <a:off x="1536" y="2400"/>
              <a:ext cx="576" cy="24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2" name="Line 11"/>
            <p:cNvSpPr>
              <a:spLocks noChangeShapeType="1"/>
            </p:cNvSpPr>
            <p:nvPr/>
          </p:nvSpPr>
          <p:spPr bwMode="auto">
            <a:xfrm>
              <a:off x="1776" y="1920"/>
              <a:ext cx="336" cy="19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3" name="Line 12"/>
            <p:cNvSpPr>
              <a:spLocks noChangeShapeType="1"/>
            </p:cNvSpPr>
            <p:nvPr/>
          </p:nvSpPr>
          <p:spPr bwMode="auto">
            <a:xfrm>
              <a:off x="2784" y="2448"/>
              <a:ext cx="336" cy="19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4" name="Line 13"/>
            <p:cNvSpPr>
              <a:spLocks noChangeShapeType="1"/>
            </p:cNvSpPr>
            <p:nvPr/>
          </p:nvSpPr>
          <p:spPr bwMode="auto">
            <a:xfrm flipV="1">
              <a:off x="3936" y="1920"/>
              <a:ext cx="432" cy="3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5" name="Line 14"/>
            <p:cNvSpPr>
              <a:spLocks noChangeShapeType="1"/>
            </p:cNvSpPr>
            <p:nvPr/>
          </p:nvSpPr>
          <p:spPr bwMode="auto">
            <a:xfrm flipV="1">
              <a:off x="5040" y="1824"/>
              <a:ext cx="192" cy="1"/>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6" name="Rectangle 15"/>
            <p:cNvSpPr>
              <a:spLocks noChangeArrowheads="1"/>
            </p:cNvSpPr>
            <p:nvPr/>
          </p:nvSpPr>
          <p:spPr bwMode="auto">
            <a:xfrm>
              <a:off x="1680" y="3504"/>
              <a:ext cx="2064" cy="288"/>
            </a:xfrm>
            <a:prstGeom prst="rect">
              <a:avLst/>
            </a:prstGeom>
            <a:noFill/>
            <a:ln w="1905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异种网络互连</a:t>
              </a:r>
            </a:p>
          </p:txBody>
        </p:sp>
      </p:grpSp>
      <p:sp>
        <p:nvSpPr>
          <p:cNvPr id="1408016" name="Text Box 16"/>
          <p:cNvSpPr txBox="1">
            <a:spLocks noChangeArrowheads="1"/>
          </p:cNvSpPr>
          <p:nvPr/>
        </p:nvSpPr>
        <p:spPr bwMode="auto">
          <a:xfrm>
            <a:off x="1846263" y="5719764"/>
            <a:ext cx="6265862"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20000"/>
              </a:spcBef>
            </a:pPr>
            <a:r>
              <a:rPr kumimoji="1" lang="zh-CN" altLang="en-US" sz="2400">
                <a:solidFill>
                  <a:srgbClr val="000099"/>
                </a:solidFill>
                <a:ea typeface="华文新魏" panose="02010800040101010101" pitchFamily="2" charset="-122"/>
              </a:rPr>
              <a:t>不同的网络具有不同的物理地址！</a:t>
            </a:r>
          </a:p>
          <a:p>
            <a:pPr algn="ctr" eaLnBrk="1" hangingPunct="1">
              <a:spcBef>
                <a:spcPct val="20000"/>
              </a:spcBef>
            </a:pPr>
            <a:r>
              <a:rPr kumimoji="1" lang="zh-CN" altLang="en-US" sz="2400">
                <a:solidFill>
                  <a:srgbClr val="000099"/>
                </a:solidFill>
                <a:ea typeface="华文新魏" panose="02010800040101010101" pitchFamily="2" charset="-122"/>
              </a:rPr>
              <a:t>报文在</a:t>
            </a:r>
            <a:r>
              <a:rPr kumimoji="1" lang="en-US" altLang="zh-CN" sz="2400">
                <a:solidFill>
                  <a:srgbClr val="000099"/>
                </a:solidFill>
                <a:ea typeface="华文新魏" panose="02010800040101010101" pitchFamily="2" charset="-122"/>
              </a:rPr>
              <a:t>Internet</a:t>
            </a:r>
            <a:r>
              <a:rPr kumimoji="1" lang="zh-CN" altLang="en-US" sz="2400">
                <a:solidFill>
                  <a:srgbClr val="000099"/>
                </a:solidFill>
                <a:ea typeface="华文新魏" panose="02010800040101010101" pitchFamily="2" charset="-122"/>
              </a:rPr>
              <a:t>上传送时</a:t>
            </a:r>
            <a:r>
              <a:rPr kumimoji="1" lang="en-US" altLang="zh-CN" sz="2400">
                <a:solidFill>
                  <a:srgbClr val="000099"/>
                </a:solidFill>
                <a:ea typeface="华文新魏" panose="02010800040101010101" pitchFamily="2" charset="-122"/>
              </a:rPr>
              <a:t>,</a:t>
            </a:r>
            <a:r>
              <a:rPr kumimoji="1" lang="zh-CN" altLang="en-US" sz="2400">
                <a:solidFill>
                  <a:srgbClr val="000099"/>
                </a:solidFill>
                <a:ea typeface="华文新魏" panose="02010800040101010101" pitchFamily="2" charset="-122"/>
              </a:rPr>
              <a:t>物理地址不断变化</a:t>
            </a:r>
            <a:r>
              <a:rPr kumimoji="1" lang="en-US" altLang="zh-CN" sz="2400">
                <a:solidFill>
                  <a:srgbClr val="000099"/>
                </a:solidFill>
                <a:ea typeface="华文新魏" panose="02010800040101010101" pitchFamily="2" charset="-122"/>
              </a:rPr>
              <a:t>!</a:t>
            </a:r>
          </a:p>
        </p:txBody>
      </p:sp>
      <p:sp>
        <p:nvSpPr>
          <p:cNvPr id="1408017" name="Text Box 17"/>
          <p:cNvSpPr txBox="1">
            <a:spLocks noChangeArrowheads="1"/>
          </p:cNvSpPr>
          <p:nvPr/>
        </p:nvSpPr>
        <p:spPr bwMode="auto">
          <a:xfrm>
            <a:off x="7866063" y="5821364"/>
            <a:ext cx="25273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en-US" altLang="zh-CN" sz="3200">
                <a:solidFill>
                  <a:srgbClr val="000099"/>
                </a:solidFill>
                <a:ea typeface="华文新魏" panose="02010800040101010101" pitchFamily="2" charset="-122"/>
              </a:rPr>
              <a:t>→ </a:t>
            </a:r>
            <a:r>
              <a:rPr kumimoji="1" lang="zh-CN" altLang="en-US" sz="3200">
                <a:solidFill>
                  <a:srgbClr val="000099"/>
                </a:solidFill>
                <a:ea typeface="华文新魏" panose="02010800040101010101" pitchFamily="2" charset="-122"/>
              </a:rPr>
              <a:t>地址统一</a:t>
            </a:r>
          </a:p>
        </p:txBody>
      </p:sp>
      <p:sp>
        <p:nvSpPr>
          <p:cNvPr id="9221" name="Text Box 18"/>
          <p:cNvSpPr txBox="1">
            <a:spLocks noChangeArrowheads="1"/>
          </p:cNvSpPr>
          <p:nvPr/>
        </p:nvSpPr>
        <p:spPr bwMode="auto">
          <a:xfrm>
            <a:off x="3232151" y="1244601"/>
            <a:ext cx="64563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kumimoji="1" lang="zh-CN" altLang="en-US" b="1">
                <a:solidFill>
                  <a:schemeClr val="tx2"/>
                </a:solidFill>
                <a:latin typeface="Verdana" panose="020B0604030504040204" pitchFamily="34" charset="0"/>
                <a:ea typeface="隶书" panose="02010509060101010101" pitchFamily="49" charset="-122"/>
              </a:rPr>
              <a:t>异种网络互连时的地址统一问题</a:t>
            </a:r>
          </a:p>
        </p:txBody>
      </p:sp>
      <p:sp>
        <p:nvSpPr>
          <p:cNvPr id="9222" name="Rectangle 19"/>
          <p:cNvSpPr>
            <a:spLocks noGrp="1" noChangeArrowheads="1"/>
          </p:cNvSpPr>
          <p:nvPr>
            <p:ph type="title"/>
          </p:nvPr>
        </p:nvSpPr>
        <p:spPr bwMode="auto">
          <a:xfrm>
            <a:off x="2268538" y="434976"/>
            <a:ext cx="7772400" cy="696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TCP/IP </a:t>
            </a:r>
            <a:r>
              <a:rPr lang="zh-CN" altLang="en-US" sz="3600">
                <a:solidFill>
                  <a:schemeClr val="hlink"/>
                </a:solidFill>
                <a:ea typeface="华文行楷" panose="02010800040101010101" pitchFamily="2" charset="-122"/>
              </a:rPr>
              <a:t>地址系统</a:t>
            </a:r>
          </a:p>
        </p:txBody>
      </p:sp>
      <p:sp>
        <p:nvSpPr>
          <p:cNvPr id="9223" name="Text Box 20"/>
          <p:cNvSpPr txBox="1">
            <a:spLocks noChangeArrowheads="1"/>
          </p:cNvSpPr>
          <p:nvPr/>
        </p:nvSpPr>
        <p:spPr bwMode="auto">
          <a:xfrm>
            <a:off x="3192463" y="2560638"/>
            <a:ext cx="13255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2400">
                <a:solidFill>
                  <a:schemeClr val="bg1"/>
                </a:solidFill>
              </a:rPr>
              <a:t>网络</a:t>
            </a:r>
            <a:r>
              <a:rPr lang="en-US" altLang="zh-CN" sz="2400">
                <a:solidFill>
                  <a:schemeClr val="bg1"/>
                </a:solidFill>
              </a:rPr>
              <a:t>1</a:t>
            </a:r>
          </a:p>
        </p:txBody>
      </p:sp>
      <p:sp>
        <p:nvSpPr>
          <p:cNvPr id="9224" name="Text Box 21"/>
          <p:cNvSpPr txBox="1">
            <a:spLocks noChangeArrowheads="1"/>
          </p:cNvSpPr>
          <p:nvPr/>
        </p:nvSpPr>
        <p:spPr bwMode="auto">
          <a:xfrm>
            <a:off x="2659063" y="4244975"/>
            <a:ext cx="13255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2400">
                <a:solidFill>
                  <a:schemeClr val="bg1"/>
                </a:solidFill>
              </a:rPr>
              <a:t>网络</a:t>
            </a:r>
            <a:r>
              <a:rPr lang="en-US" altLang="zh-CN" sz="2400">
                <a:solidFill>
                  <a:schemeClr val="bg1"/>
                </a:solidFill>
              </a:rPr>
              <a:t>2</a:t>
            </a:r>
          </a:p>
        </p:txBody>
      </p:sp>
      <p:sp>
        <p:nvSpPr>
          <p:cNvPr id="9225" name="Text Box 22"/>
          <p:cNvSpPr txBox="1">
            <a:spLocks noChangeArrowheads="1"/>
          </p:cNvSpPr>
          <p:nvPr/>
        </p:nvSpPr>
        <p:spPr bwMode="auto">
          <a:xfrm>
            <a:off x="6978651" y="4016375"/>
            <a:ext cx="1325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2400">
                <a:solidFill>
                  <a:schemeClr val="bg1"/>
                </a:solidFill>
              </a:rPr>
              <a:t>网络</a:t>
            </a:r>
            <a:r>
              <a:rPr lang="en-US" altLang="zh-CN" sz="2400">
                <a:solidFill>
                  <a:schemeClr val="bg1"/>
                </a:solidFill>
              </a:rPr>
              <a:t>3</a:t>
            </a:r>
          </a:p>
        </p:txBody>
      </p:sp>
      <p:grpSp>
        <p:nvGrpSpPr>
          <p:cNvPr id="3" name="Group 30"/>
          <p:cNvGrpSpPr>
            <a:grpSpLocks/>
          </p:cNvGrpSpPr>
          <p:nvPr/>
        </p:nvGrpSpPr>
        <p:grpSpPr bwMode="auto">
          <a:xfrm>
            <a:off x="4711701" y="2530476"/>
            <a:ext cx="1306513" cy="760413"/>
            <a:chOff x="2008" y="1594"/>
            <a:chExt cx="823" cy="479"/>
          </a:xfrm>
        </p:grpSpPr>
        <p:sp>
          <p:nvSpPr>
            <p:cNvPr id="9233" name="Text Box 24"/>
            <p:cNvSpPr txBox="1">
              <a:spLocks noChangeArrowheads="1"/>
            </p:cNvSpPr>
            <p:nvPr/>
          </p:nvSpPr>
          <p:spPr bwMode="auto">
            <a:xfrm>
              <a:off x="2022" y="1594"/>
              <a:ext cx="80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1600">
                  <a:solidFill>
                    <a:schemeClr val="hlink"/>
                  </a:solidFill>
                </a:rPr>
                <a:t>物理地址</a:t>
              </a:r>
              <a:r>
                <a:rPr lang="en-US" altLang="zh-CN" sz="1600">
                  <a:solidFill>
                    <a:schemeClr val="hlink"/>
                  </a:solidFill>
                </a:rPr>
                <a:t>1</a:t>
              </a:r>
            </a:p>
          </p:txBody>
        </p:sp>
        <p:sp>
          <p:nvSpPr>
            <p:cNvPr id="9234" name="Text Box 25"/>
            <p:cNvSpPr txBox="1">
              <a:spLocks noChangeArrowheads="1"/>
            </p:cNvSpPr>
            <p:nvPr/>
          </p:nvSpPr>
          <p:spPr bwMode="auto">
            <a:xfrm>
              <a:off x="2008" y="1861"/>
              <a:ext cx="80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1600">
                  <a:solidFill>
                    <a:schemeClr val="hlink"/>
                  </a:solidFill>
                </a:rPr>
                <a:t>物理地址</a:t>
              </a:r>
              <a:r>
                <a:rPr lang="en-US" altLang="zh-CN" sz="1600">
                  <a:solidFill>
                    <a:schemeClr val="hlink"/>
                  </a:solidFill>
                </a:rPr>
                <a:t>2</a:t>
              </a:r>
            </a:p>
          </p:txBody>
        </p:sp>
      </p:grpSp>
      <p:grpSp>
        <p:nvGrpSpPr>
          <p:cNvPr id="4" name="Group 31"/>
          <p:cNvGrpSpPr>
            <a:grpSpLocks/>
          </p:cNvGrpSpPr>
          <p:nvPr/>
        </p:nvGrpSpPr>
        <p:grpSpPr bwMode="auto">
          <a:xfrm>
            <a:off x="5081588" y="3967164"/>
            <a:ext cx="2119312" cy="784225"/>
            <a:chOff x="2241" y="2499"/>
            <a:chExt cx="1335" cy="494"/>
          </a:xfrm>
        </p:grpSpPr>
        <p:sp>
          <p:nvSpPr>
            <p:cNvPr id="9231" name="Text Box 26"/>
            <p:cNvSpPr txBox="1">
              <a:spLocks noChangeArrowheads="1"/>
            </p:cNvSpPr>
            <p:nvPr/>
          </p:nvSpPr>
          <p:spPr bwMode="auto">
            <a:xfrm>
              <a:off x="2241" y="2499"/>
              <a:ext cx="80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1600">
                  <a:solidFill>
                    <a:schemeClr val="hlink"/>
                  </a:solidFill>
                </a:rPr>
                <a:t>物理地址</a:t>
              </a:r>
              <a:r>
                <a:rPr lang="en-US" altLang="zh-CN" sz="1600">
                  <a:solidFill>
                    <a:schemeClr val="hlink"/>
                  </a:solidFill>
                </a:rPr>
                <a:t>3</a:t>
              </a:r>
            </a:p>
          </p:txBody>
        </p:sp>
        <p:sp>
          <p:nvSpPr>
            <p:cNvPr id="9232" name="Text Box 27"/>
            <p:cNvSpPr txBox="1">
              <a:spLocks noChangeArrowheads="1"/>
            </p:cNvSpPr>
            <p:nvPr/>
          </p:nvSpPr>
          <p:spPr bwMode="auto">
            <a:xfrm>
              <a:off x="2767" y="2781"/>
              <a:ext cx="80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1600">
                  <a:solidFill>
                    <a:schemeClr val="hlink"/>
                  </a:solidFill>
                </a:rPr>
                <a:t>物理地址</a:t>
              </a:r>
              <a:r>
                <a:rPr lang="en-US" altLang="zh-CN" sz="1600">
                  <a:solidFill>
                    <a:schemeClr val="hlink"/>
                  </a:solidFill>
                </a:rPr>
                <a:t>4</a:t>
              </a:r>
            </a:p>
          </p:txBody>
        </p:sp>
      </p:grpSp>
      <p:grpSp>
        <p:nvGrpSpPr>
          <p:cNvPr id="5" name="Group 32"/>
          <p:cNvGrpSpPr>
            <a:grpSpLocks/>
          </p:cNvGrpSpPr>
          <p:nvPr/>
        </p:nvGrpSpPr>
        <p:grpSpPr bwMode="auto">
          <a:xfrm>
            <a:off x="6656389" y="2352676"/>
            <a:ext cx="2219325" cy="1133475"/>
            <a:chOff x="3233" y="1482"/>
            <a:chExt cx="1398" cy="714"/>
          </a:xfrm>
        </p:grpSpPr>
        <p:sp>
          <p:nvSpPr>
            <p:cNvPr id="9229" name="Text Box 28"/>
            <p:cNvSpPr txBox="1">
              <a:spLocks noChangeArrowheads="1"/>
            </p:cNvSpPr>
            <p:nvPr/>
          </p:nvSpPr>
          <p:spPr bwMode="auto">
            <a:xfrm>
              <a:off x="3233" y="1984"/>
              <a:ext cx="80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1600">
                  <a:solidFill>
                    <a:schemeClr val="hlink"/>
                  </a:solidFill>
                </a:rPr>
                <a:t>物理地址</a:t>
              </a:r>
              <a:r>
                <a:rPr lang="en-US" altLang="zh-CN" sz="1600">
                  <a:solidFill>
                    <a:schemeClr val="hlink"/>
                  </a:solidFill>
                </a:rPr>
                <a:t>5</a:t>
              </a:r>
            </a:p>
          </p:txBody>
        </p:sp>
        <p:sp>
          <p:nvSpPr>
            <p:cNvPr id="9230" name="Text Box 29"/>
            <p:cNvSpPr txBox="1">
              <a:spLocks noChangeArrowheads="1"/>
            </p:cNvSpPr>
            <p:nvPr/>
          </p:nvSpPr>
          <p:spPr bwMode="auto">
            <a:xfrm>
              <a:off x="3822" y="1482"/>
              <a:ext cx="80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1600">
                  <a:solidFill>
                    <a:schemeClr val="hlink"/>
                  </a:solidFill>
                </a:rPr>
                <a:t>物理地址</a:t>
              </a:r>
              <a:r>
                <a:rPr lang="en-US" altLang="zh-CN" sz="1600">
                  <a:solidFill>
                    <a:schemeClr val="hlink"/>
                  </a:solidFill>
                </a:rPr>
                <a:t>6</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1408016">
                                            <p:txEl>
                                              <p:pRg st="0" end="0"/>
                                            </p:txEl>
                                          </p:spTgt>
                                        </p:tgtEl>
                                        <p:attrNameLst>
                                          <p:attrName>style.visibility</p:attrName>
                                        </p:attrNameLst>
                                      </p:cBhvr>
                                      <p:to>
                                        <p:strVal val="visible"/>
                                      </p:to>
                                    </p:set>
                                    <p:anim calcmode="lin" valueType="num">
                                      <p:cBhvr additive="base">
                                        <p:cTn id="12" dur="500" fill="hold"/>
                                        <p:tgtEl>
                                          <p:spTgt spid="1408016">
                                            <p:txEl>
                                              <p:pRg st="0" end="0"/>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140801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408016">
                                            <p:txEl>
                                              <p:pRg st="1" end="1"/>
                                            </p:txEl>
                                          </p:spTgt>
                                        </p:tgtEl>
                                        <p:attrNameLst>
                                          <p:attrName>style.visibility</p:attrName>
                                        </p:attrNameLst>
                                      </p:cBhvr>
                                      <p:to>
                                        <p:strVal val="visible"/>
                                      </p:to>
                                    </p:set>
                                    <p:anim calcmode="lin" valueType="num">
                                      <p:cBhvr additive="base">
                                        <p:cTn id="18" dur="500" fill="hold"/>
                                        <p:tgtEl>
                                          <p:spTgt spid="1408016">
                                            <p:txEl>
                                              <p:pRg st="1" end="1"/>
                                            </p:txEl>
                                          </p:spTgt>
                                        </p:tgtEl>
                                        <p:attrNameLst>
                                          <p:attrName>ppt_x</p:attrName>
                                        </p:attrNameLst>
                                      </p:cBhvr>
                                      <p:tavLst>
                                        <p:tav tm="0">
                                          <p:val>
                                            <p:strVal val="1+#ppt_w/2"/>
                                          </p:val>
                                        </p:tav>
                                        <p:tav tm="100000">
                                          <p:val>
                                            <p:strVal val="#ppt_x"/>
                                          </p:val>
                                        </p:tav>
                                      </p:tavLst>
                                    </p:anim>
                                    <p:anim calcmode="lin" valueType="num">
                                      <p:cBhvr additive="base">
                                        <p:cTn id="19" dur="500" fill="hold"/>
                                        <p:tgtEl>
                                          <p:spTgt spid="140801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2"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1+#ppt_w/2"/>
                                          </p:val>
                                        </p:tav>
                                        <p:tav tm="100000">
                                          <p:val>
                                            <p:strVal val="#ppt_x"/>
                                          </p:val>
                                        </p:tav>
                                      </p:tavLst>
                                    </p:anim>
                                    <p:anim calcmode="lin" valueType="num">
                                      <p:cBhvr additive="base">
                                        <p:cTn id="25"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2"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 calcmode="lin" valueType="num">
                                      <p:cBhvr additive="base">
                                        <p:cTn id="30" dur="500" fill="hold"/>
                                        <p:tgtEl>
                                          <p:spTgt spid="4"/>
                                        </p:tgtEl>
                                        <p:attrNameLst>
                                          <p:attrName>ppt_x</p:attrName>
                                        </p:attrNameLst>
                                      </p:cBhvr>
                                      <p:tavLst>
                                        <p:tav tm="0">
                                          <p:val>
                                            <p:strVal val="1+#ppt_w/2"/>
                                          </p:val>
                                        </p:tav>
                                        <p:tav tm="100000">
                                          <p:val>
                                            <p:strVal val="#ppt_x"/>
                                          </p:val>
                                        </p:tav>
                                      </p:tavLst>
                                    </p:anim>
                                    <p:anim calcmode="lin" valueType="num">
                                      <p:cBhvr additive="base">
                                        <p:cTn id="31"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2" fill="hold" nodeType="clickEffect">
                                  <p:stCondLst>
                                    <p:cond delay="0"/>
                                  </p:stCondLst>
                                  <p:childTnLst>
                                    <p:set>
                                      <p:cBhvr>
                                        <p:cTn id="35" dur="1" fill="hold">
                                          <p:stCondLst>
                                            <p:cond delay="0"/>
                                          </p:stCondLst>
                                        </p:cTn>
                                        <p:tgtEl>
                                          <p:spTgt spid="5"/>
                                        </p:tgtEl>
                                        <p:attrNameLst>
                                          <p:attrName>style.visibility</p:attrName>
                                        </p:attrNameLst>
                                      </p:cBhvr>
                                      <p:to>
                                        <p:strVal val="visible"/>
                                      </p:to>
                                    </p:set>
                                    <p:anim calcmode="lin" valueType="num">
                                      <p:cBhvr additive="base">
                                        <p:cTn id="36" dur="500" fill="hold"/>
                                        <p:tgtEl>
                                          <p:spTgt spid="5"/>
                                        </p:tgtEl>
                                        <p:attrNameLst>
                                          <p:attrName>ppt_x</p:attrName>
                                        </p:attrNameLst>
                                      </p:cBhvr>
                                      <p:tavLst>
                                        <p:tav tm="0">
                                          <p:val>
                                            <p:strVal val="1+#ppt_w/2"/>
                                          </p:val>
                                        </p:tav>
                                        <p:tav tm="100000">
                                          <p:val>
                                            <p:strVal val="#ppt_x"/>
                                          </p:val>
                                        </p:tav>
                                      </p:tavLst>
                                    </p:anim>
                                    <p:anim calcmode="lin" valueType="num">
                                      <p:cBhvr additive="base">
                                        <p:cTn id="37"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1408017">
                                            <p:txEl>
                                              <p:pRg st="0" end="0"/>
                                            </p:txEl>
                                          </p:spTgt>
                                        </p:tgtEl>
                                        <p:attrNameLst>
                                          <p:attrName>style.visibility</p:attrName>
                                        </p:attrNameLst>
                                      </p:cBhvr>
                                      <p:to>
                                        <p:strVal val="visible"/>
                                      </p:to>
                                    </p:set>
                                    <p:anim calcmode="lin" valueType="num">
                                      <p:cBhvr additive="base">
                                        <p:cTn id="42" dur="500" fill="hold"/>
                                        <p:tgtEl>
                                          <p:spTgt spid="1408017">
                                            <p:txEl>
                                              <p:pRg st="0" end="0"/>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140801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8016" grpId="0" build="p" autoUpdateAnimBg="0"/>
      <p:bldP spid="1408017"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10051" name="Rectangle 3"/>
          <p:cNvSpPr>
            <a:spLocks noGrp="1" noChangeArrowheads="1"/>
          </p:cNvSpPr>
          <p:nvPr>
            <p:ph type="body" idx="1"/>
          </p:nvPr>
        </p:nvSpPr>
        <p:spPr bwMode="auto">
          <a:xfrm>
            <a:off x="1720850" y="1244600"/>
            <a:ext cx="8763000" cy="5181600"/>
          </a:xfrm>
          <a:solidFill>
            <a:srgbClr val="FFFFFF"/>
          </a:solidFill>
          <a:ln>
            <a:solidFill>
              <a:srgbClr val="CCFFCC"/>
            </a:solidFill>
            <a:miter lim="800000"/>
            <a:headEnd/>
            <a:tailEnd/>
          </a:ln>
        </p:spPr>
        <p:txBody>
          <a:bodyPr vert="horz" wrap="square" lIns="91440" tIns="45720" rIns="91440" bIns="45720" numCol="1" rtlCol="0" anchor="t" anchorCtr="0" compatLnSpc="1">
            <a:prstTxWarp prst="textNoShape">
              <a:avLst/>
            </a:prstTxWarp>
            <a:normAutofit/>
          </a:bodyPr>
          <a:lstStyle/>
          <a:p>
            <a:pPr eaLnBrk="1" hangingPunct="1">
              <a:spcBef>
                <a:spcPct val="10000"/>
              </a:spcBef>
            </a:pPr>
            <a:r>
              <a:rPr lang="zh-CN" altLang="en-US">
                <a:latin typeface="新宋体" panose="02010609030101010101" pitchFamily="49" charset="-122"/>
                <a:ea typeface="新宋体" panose="02010609030101010101" pitchFamily="49" charset="-122"/>
              </a:rPr>
              <a:t>实现网际互连必须使用统一的地址形式</a:t>
            </a:r>
          </a:p>
          <a:p>
            <a:pPr marL="958850" lvl="1" indent="-425450">
              <a:spcBef>
                <a:spcPct val="10000"/>
              </a:spcBef>
            </a:pPr>
            <a:r>
              <a:rPr lang="zh-CN" altLang="en-US" sz="2200">
                <a:latin typeface="新宋体" panose="02010609030101010101" pitchFamily="49" charset="-122"/>
                <a:ea typeface="新宋体" panose="02010609030101010101" pitchFamily="49" charset="-122"/>
              </a:rPr>
              <a:t>没有可以直接使用的统一物理地址系统</a:t>
            </a:r>
          </a:p>
          <a:p>
            <a:pPr marL="958850" lvl="1" indent="-425450">
              <a:spcBef>
                <a:spcPct val="10000"/>
              </a:spcBef>
            </a:pPr>
            <a:r>
              <a:rPr lang="zh-CN" altLang="en-US" sz="2200">
                <a:latin typeface="新宋体" panose="02010609030101010101" pitchFamily="49" charset="-122"/>
                <a:ea typeface="新宋体" panose="02010609030101010101" pitchFamily="49" charset="-122"/>
              </a:rPr>
              <a:t>也不可能对现有链路技术的物理地址进行修改</a:t>
            </a:r>
          </a:p>
          <a:p>
            <a:pPr marL="958850" lvl="1" indent="-425450">
              <a:spcBef>
                <a:spcPct val="10000"/>
              </a:spcBef>
            </a:pPr>
            <a:r>
              <a:rPr lang="zh-CN" altLang="en-US" sz="2200">
                <a:latin typeface="新宋体" panose="02010609030101010101" pitchFamily="49" charset="-122"/>
                <a:ea typeface="新宋体" panose="02010609030101010101" pitchFamily="49" charset="-122"/>
              </a:rPr>
              <a:t>必须在更高的层次上（网络层）来实现地址统一</a:t>
            </a:r>
          </a:p>
          <a:p>
            <a:pPr eaLnBrk="1" hangingPunct="1">
              <a:spcBef>
                <a:spcPct val="10000"/>
              </a:spcBef>
            </a:pPr>
            <a:r>
              <a:rPr lang="en-US" altLang="zh-CN">
                <a:latin typeface="新宋体" panose="02010609030101010101" pitchFamily="49" charset="-122"/>
                <a:ea typeface="新宋体" panose="02010609030101010101" pitchFamily="49" charset="-122"/>
              </a:rPr>
              <a:t>IP </a:t>
            </a:r>
            <a:r>
              <a:rPr lang="zh-CN" altLang="en-US">
                <a:latin typeface="新宋体" panose="02010609030101010101" pitchFamily="49" charset="-122"/>
                <a:ea typeface="新宋体" panose="02010609030101010101" pitchFamily="49" charset="-122"/>
              </a:rPr>
              <a:t>地址的引入</a:t>
            </a:r>
          </a:p>
          <a:p>
            <a:pPr marL="958850" lvl="1" indent="-425450">
              <a:spcBef>
                <a:spcPct val="10000"/>
              </a:spcBef>
            </a:pPr>
            <a:r>
              <a:rPr lang="zh-CN" altLang="en-US" sz="2200">
                <a:latin typeface="新宋体" panose="02010609030101010101" pitchFamily="49" charset="-122"/>
                <a:ea typeface="新宋体" panose="02010609030101010101" pitchFamily="49" charset="-122"/>
              </a:rPr>
              <a:t>在 </a:t>
            </a:r>
            <a:r>
              <a:rPr lang="en-US" altLang="zh-CN" sz="2200">
                <a:latin typeface="新宋体" panose="02010609030101010101" pitchFamily="49" charset="-122"/>
                <a:ea typeface="新宋体" panose="02010609030101010101" pitchFamily="49" charset="-122"/>
              </a:rPr>
              <a:t>TCP/IP </a:t>
            </a:r>
            <a:r>
              <a:rPr lang="zh-CN" altLang="en-US" sz="2200">
                <a:latin typeface="新宋体" panose="02010609030101010101" pitchFamily="49" charset="-122"/>
                <a:ea typeface="新宋体" panose="02010609030101010101" pitchFamily="49" charset="-122"/>
              </a:rPr>
              <a:t>体系结构中，实现不同网络的网际互连是通过 </a:t>
            </a:r>
            <a:r>
              <a:rPr lang="en-US" altLang="zh-CN" sz="2200">
                <a:latin typeface="新宋体" panose="02010609030101010101" pitchFamily="49" charset="-122"/>
                <a:ea typeface="新宋体" panose="02010609030101010101" pitchFamily="49" charset="-122"/>
              </a:rPr>
              <a:t>IP </a:t>
            </a:r>
            <a:r>
              <a:rPr lang="zh-CN" altLang="en-US" sz="2200">
                <a:latin typeface="新宋体" panose="02010609030101010101" pitchFamily="49" charset="-122"/>
                <a:ea typeface="新宋体" panose="02010609030101010101" pitchFamily="49" charset="-122"/>
              </a:rPr>
              <a:t>协议完成的</a:t>
            </a:r>
          </a:p>
          <a:p>
            <a:pPr marL="958850" lvl="1" indent="-425450">
              <a:spcBef>
                <a:spcPct val="10000"/>
              </a:spcBef>
            </a:pPr>
            <a:r>
              <a:rPr lang="zh-CN" altLang="en-US" sz="2200">
                <a:latin typeface="新宋体" panose="02010609030101010101" pitchFamily="49" charset="-122"/>
                <a:ea typeface="新宋体" panose="02010609030101010101" pitchFamily="49" charset="-122"/>
              </a:rPr>
              <a:t>为解决互联网（</a:t>
            </a:r>
            <a:r>
              <a:rPr lang="en-US" altLang="zh-CN" sz="2200">
                <a:latin typeface="新宋体" panose="02010609030101010101" pitchFamily="49" charset="-122"/>
                <a:ea typeface="新宋体" panose="02010609030101010101" pitchFamily="49" charset="-122"/>
              </a:rPr>
              <a:t>Internet</a:t>
            </a:r>
            <a:r>
              <a:rPr lang="zh-CN" altLang="en-US" sz="2200">
                <a:latin typeface="新宋体" panose="02010609030101010101" pitchFamily="49" charset="-122"/>
                <a:ea typeface="新宋体" panose="02010609030101010101" pitchFamily="49" charset="-122"/>
              </a:rPr>
              <a:t>）中的寻址问题，</a:t>
            </a:r>
            <a:r>
              <a:rPr lang="en-US" altLang="zh-CN" sz="2200">
                <a:latin typeface="新宋体" panose="02010609030101010101" pitchFamily="49" charset="-122"/>
                <a:ea typeface="新宋体" panose="02010609030101010101" pitchFamily="49" charset="-122"/>
              </a:rPr>
              <a:t>IP </a:t>
            </a:r>
            <a:r>
              <a:rPr lang="zh-CN" altLang="en-US" sz="2200">
                <a:latin typeface="新宋体" panose="02010609030101010101" pitchFamily="49" charset="-122"/>
                <a:ea typeface="新宋体" panose="02010609030101010101" pitchFamily="49" charset="-122"/>
              </a:rPr>
              <a:t>协议定义了在全网唯一的通用 </a:t>
            </a:r>
            <a:r>
              <a:rPr lang="en-US" altLang="zh-CN" sz="2200">
                <a:latin typeface="新宋体" panose="02010609030101010101" pitchFamily="49" charset="-122"/>
                <a:ea typeface="新宋体" panose="02010609030101010101" pitchFamily="49" charset="-122"/>
              </a:rPr>
              <a:t>32 </a:t>
            </a:r>
            <a:r>
              <a:rPr lang="zh-CN" altLang="en-US" sz="2200">
                <a:latin typeface="新宋体" panose="02010609030101010101" pitchFamily="49" charset="-122"/>
                <a:ea typeface="新宋体" panose="02010609030101010101" pitchFamily="49" charset="-122"/>
              </a:rPr>
              <a:t>位地址格式 </a:t>
            </a:r>
            <a:r>
              <a:rPr lang="en-US" altLang="zh-CN" sz="2200">
                <a:latin typeface="Times New Roman" panose="02020603050405020304" pitchFamily="18" charset="0"/>
                <a:ea typeface="新宋体" panose="02010609030101010101" pitchFamily="49" charset="-122"/>
              </a:rPr>
              <a:t>——</a:t>
            </a:r>
            <a:r>
              <a:rPr lang="en-US" altLang="zh-CN" sz="2200">
                <a:latin typeface="新宋体" panose="02010609030101010101" pitchFamily="49" charset="-122"/>
                <a:ea typeface="新宋体" panose="02010609030101010101" pitchFamily="49" charset="-122"/>
              </a:rPr>
              <a:t> IP </a:t>
            </a:r>
            <a:r>
              <a:rPr lang="zh-CN" altLang="en-US" sz="2200">
                <a:latin typeface="新宋体" panose="02010609030101010101" pitchFamily="49" charset="-122"/>
                <a:ea typeface="新宋体" panose="02010609030101010101" pitchFamily="49" charset="-122"/>
              </a:rPr>
              <a:t>地址</a:t>
            </a:r>
          </a:p>
          <a:p>
            <a:pPr eaLnBrk="1" hangingPunct="1">
              <a:spcBef>
                <a:spcPct val="10000"/>
              </a:spcBef>
            </a:pPr>
            <a:r>
              <a:rPr lang="en-US" altLang="zh-CN">
                <a:latin typeface="新宋体" panose="02010609030101010101" pitchFamily="49" charset="-122"/>
                <a:ea typeface="新宋体" panose="02010609030101010101" pitchFamily="49" charset="-122"/>
              </a:rPr>
              <a:t>IP</a:t>
            </a:r>
            <a:r>
              <a:rPr lang="zh-CN" altLang="en-US">
                <a:latin typeface="新宋体" panose="02010609030101010101" pitchFamily="49" charset="-122"/>
                <a:ea typeface="新宋体" panose="02010609030101010101" pitchFamily="49" charset="-122"/>
              </a:rPr>
              <a:t>地址的分配由</a:t>
            </a:r>
            <a:r>
              <a:rPr lang="zh-CN" altLang="en-US" sz="2000">
                <a:latin typeface="新宋体" panose="02010609030101010101" pitchFamily="49" charset="-122"/>
                <a:ea typeface="新宋体" panose="02010609030101010101" pitchFamily="49" charset="-122"/>
              </a:rPr>
              <a:t>（</a:t>
            </a:r>
            <a:r>
              <a:rPr lang="en-US" altLang="zh-CN" sz="2000">
                <a:latin typeface="新宋体" panose="02010609030101010101" pitchFamily="49" charset="-122"/>
                <a:ea typeface="新宋体" panose="02010609030101010101" pitchFamily="49" charset="-122"/>
              </a:rPr>
              <a:t>NIC:</a:t>
            </a:r>
            <a:r>
              <a:rPr lang="zh-CN" altLang="en-US" sz="2000">
                <a:latin typeface="新宋体" panose="02010609030101010101" pitchFamily="49" charset="-122"/>
                <a:ea typeface="新宋体" panose="02010609030101010101" pitchFamily="49" charset="-122"/>
              </a:rPr>
              <a:t>网络信息中心）</a:t>
            </a:r>
            <a:r>
              <a:rPr lang="zh-CN" altLang="en-US">
                <a:latin typeface="新宋体" panose="02010609030101010101" pitchFamily="49" charset="-122"/>
                <a:ea typeface="新宋体" panose="02010609030101010101" pitchFamily="49" charset="-122"/>
              </a:rPr>
              <a:t>统一的管理</a:t>
            </a:r>
          </a:p>
          <a:p>
            <a:pPr eaLnBrk="1" hangingPunct="1">
              <a:spcBef>
                <a:spcPct val="10000"/>
              </a:spcBef>
            </a:pPr>
            <a:r>
              <a:rPr lang="en-US" altLang="zh-CN">
                <a:latin typeface="新宋体" panose="02010609030101010101" pitchFamily="49" charset="-122"/>
                <a:ea typeface="新宋体" panose="02010609030101010101" pitchFamily="49" charset="-122"/>
              </a:rPr>
              <a:t>IP </a:t>
            </a:r>
            <a:r>
              <a:rPr lang="zh-CN" altLang="en-US">
                <a:latin typeface="新宋体" panose="02010609030101010101" pitchFamily="49" charset="-122"/>
                <a:ea typeface="新宋体" panose="02010609030101010101" pitchFamily="49" charset="-122"/>
              </a:rPr>
              <a:t>地址在网络层上屏蔽了异种网络之间物理地址等特性的差异，利于网间通信的实现</a:t>
            </a:r>
          </a:p>
        </p:txBody>
      </p:sp>
      <p:sp>
        <p:nvSpPr>
          <p:cNvPr id="11267" name="Rectangle 4"/>
          <p:cNvSpPr>
            <a:spLocks noGrp="1" noChangeArrowheads="1"/>
          </p:cNvSpPr>
          <p:nvPr>
            <p:ph type="title"/>
          </p:nvPr>
        </p:nvSpPr>
        <p:spPr bwMode="auto">
          <a:xfrm>
            <a:off x="2268538"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地址的引入</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10051">
                                            <p:txEl>
                                              <p:pRg st="0" end="0"/>
                                            </p:txEl>
                                          </p:spTgt>
                                        </p:tgtEl>
                                        <p:attrNameLst>
                                          <p:attrName>style.visibility</p:attrName>
                                        </p:attrNameLst>
                                      </p:cBhvr>
                                      <p:to>
                                        <p:strVal val="visible"/>
                                      </p:to>
                                    </p:set>
                                    <p:anim calcmode="lin" valueType="num">
                                      <p:cBhvr additive="base">
                                        <p:cTn id="7" dur="500" fill="hold"/>
                                        <p:tgtEl>
                                          <p:spTgt spid="141005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1005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410051">
                                            <p:txEl>
                                              <p:pRg st="1" end="1"/>
                                            </p:txEl>
                                          </p:spTgt>
                                        </p:tgtEl>
                                        <p:attrNameLst>
                                          <p:attrName>style.visibility</p:attrName>
                                        </p:attrNameLst>
                                      </p:cBhvr>
                                      <p:to>
                                        <p:strVal val="visible"/>
                                      </p:to>
                                    </p:set>
                                    <p:anim calcmode="lin" valueType="num">
                                      <p:cBhvr additive="base">
                                        <p:cTn id="11" dur="500" fill="hold"/>
                                        <p:tgtEl>
                                          <p:spTgt spid="141005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410051">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410051">
                                            <p:txEl>
                                              <p:pRg st="2" end="2"/>
                                            </p:txEl>
                                          </p:spTgt>
                                        </p:tgtEl>
                                        <p:attrNameLst>
                                          <p:attrName>style.visibility</p:attrName>
                                        </p:attrNameLst>
                                      </p:cBhvr>
                                      <p:to>
                                        <p:strVal val="visible"/>
                                      </p:to>
                                    </p:set>
                                    <p:anim calcmode="lin" valueType="num">
                                      <p:cBhvr additive="base">
                                        <p:cTn id="15" dur="500" fill="hold"/>
                                        <p:tgtEl>
                                          <p:spTgt spid="1410051">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410051">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410051">
                                            <p:txEl>
                                              <p:pRg st="3" end="3"/>
                                            </p:txEl>
                                          </p:spTgt>
                                        </p:tgtEl>
                                        <p:attrNameLst>
                                          <p:attrName>style.visibility</p:attrName>
                                        </p:attrNameLst>
                                      </p:cBhvr>
                                      <p:to>
                                        <p:strVal val="visible"/>
                                      </p:to>
                                    </p:set>
                                    <p:anim calcmode="lin" valueType="num">
                                      <p:cBhvr additive="base">
                                        <p:cTn id="19" dur="500" fill="hold"/>
                                        <p:tgtEl>
                                          <p:spTgt spid="1410051">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41005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410051">
                                            <p:txEl>
                                              <p:pRg st="4" end="4"/>
                                            </p:txEl>
                                          </p:spTgt>
                                        </p:tgtEl>
                                        <p:attrNameLst>
                                          <p:attrName>style.visibility</p:attrName>
                                        </p:attrNameLst>
                                      </p:cBhvr>
                                      <p:to>
                                        <p:strVal val="visible"/>
                                      </p:to>
                                    </p:set>
                                    <p:anim calcmode="lin" valueType="num">
                                      <p:cBhvr additive="base">
                                        <p:cTn id="25" dur="500" fill="hold"/>
                                        <p:tgtEl>
                                          <p:spTgt spid="1410051">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410051">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410051">
                                            <p:txEl>
                                              <p:pRg st="5" end="5"/>
                                            </p:txEl>
                                          </p:spTgt>
                                        </p:tgtEl>
                                        <p:attrNameLst>
                                          <p:attrName>style.visibility</p:attrName>
                                        </p:attrNameLst>
                                      </p:cBhvr>
                                      <p:to>
                                        <p:strVal val="visible"/>
                                      </p:to>
                                    </p:set>
                                    <p:anim calcmode="lin" valueType="num">
                                      <p:cBhvr additive="base">
                                        <p:cTn id="29" dur="500" fill="hold"/>
                                        <p:tgtEl>
                                          <p:spTgt spid="1410051">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410051">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410051">
                                            <p:txEl>
                                              <p:pRg st="6" end="6"/>
                                            </p:txEl>
                                          </p:spTgt>
                                        </p:tgtEl>
                                        <p:attrNameLst>
                                          <p:attrName>style.visibility</p:attrName>
                                        </p:attrNameLst>
                                      </p:cBhvr>
                                      <p:to>
                                        <p:strVal val="visible"/>
                                      </p:to>
                                    </p:set>
                                    <p:anim calcmode="lin" valueType="num">
                                      <p:cBhvr additive="base">
                                        <p:cTn id="33" dur="500" fill="hold"/>
                                        <p:tgtEl>
                                          <p:spTgt spid="1410051">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141005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1410051">
                                            <p:txEl>
                                              <p:pRg st="7" end="7"/>
                                            </p:txEl>
                                          </p:spTgt>
                                        </p:tgtEl>
                                        <p:attrNameLst>
                                          <p:attrName>style.visibility</p:attrName>
                                        </p:attrNameLst>
                                      </p:cBhvr>
                                      <p:to>
                                        <p:strVal val="visible"/>
                                      </p:to>
                                    </p:set>
                                    <p:anim calcmode="lin" valueType="num">
                                      <p:cBhvr additive="base">
                                        <p:cTn id="39" dur="500" fill="hold"/>
                                        <p:tgtEl>
                                          <p:spTgt spid="1410051">
                                            <p:txEl>
                                              <p:pRg st="7" end="7"/>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1410051">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1410051">
                                            <p:txEl>
                                              <p:pRg st="8" end="8"/>
                                            </p:txEl>
                                          </p:spTgt>
                                        </p:tgtEl>
                                        <p:attrNameLst>
                                          <p:attrName>style.visibility</p:attrName>
                                        </p:attrNameLst>
                                      </p:cBhvr>
                                      <p:to>
                                        <p:strVal val="visible"/>
                                      </p:to>
                                    </p:set>
                                    <p:anim calcmode="lin" valueType="num">
                                      <p:cBhvr additive="base">
                                        <p:cTn id="45" dur="500" fill="hold"/>
                                        <p:tgtEl>
                                          <p:spTgt spid="1410051">
                                            <p:txEl>
                                              <p:pRg st="8" end="8"/>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1410051">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0051"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bwMode="auto">
          <a:xfrm>
            <a:off x="2209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2800">
                <a:solidFill>
                  <a:schemeClr val="hlink"/>
                </a:solidFill>
                <a:ea typeface="华文行楷" panose="02010800040101010101" pitchFamily="2" charset="-122"/>
              </a:rPr>
              <a:t>通过</a:t>
            </a:r>
            <a:r>
              <a:rPr lang="en-US" altLang="zh-CN" sz="2800">
                <a:solidFill>
                  <a:schemeClr val="hlink"/>
                </a:solidFill>
                <a:ea typeface="华文行楷" panose="02010800040101010101" pitchFamily="2" charset="-122"/>
              </a:rPr>
              <a:t>IP</a:t>
            </a:r>
            <a:r>
              <a:rPr lang="zh-CN" altLang="en-US" sz="2800">
                <a:solidFill>
                  <a:schemeClr val="hlink"/>
                </a:solidFill>
                <a:ea typeface="华文行楷" panose="02010800040101010101" pitchFamily="2" charset="-122"/>
              </a:rPr>
              <a:t>地址屏蔽物理网络之间的差异</a:t>
            </a:r>
          </a:p>
        </p:txBody>
      </p:sp>
      <p:grpSp>
        <p:nvGrpSpPr>
          <p:cNvPr id="13315" name="Group 4"/>
          <p:cNvGrpSpPr>
            <a:grpSpLocks/>
          </p:cNvGrpSpPr>
          <p:nvPr/>
        </p:nvGrpSpPr>
        <p:grpSpPr bwMode="auto">
          <a:xfrm>
            <a:off x="4252914" y="1730376"/>
            <a:ext cx="4014787" cy="3730625"/>
            <a:chOff x="3600" y="10800"/>
            <a:chExt cx="3105" cy="3272"/>
          </a:xfrm>
        </p:grpSpPr>
        <p:sp>
          <p:nvSpPr>
            <p:cNvPr id="13316" name="Text Box 5"/>
            <p:cNvSpPr txBox="1">
              <a:spLocks noChangeArrowheads="1"/>
            </p:cNvSpPr>
            <p:nvPr/>
          </p:nvSpPr>
          <p:spPr bwMode="auto">
            <a:xfrm>
              <a:off x="5265" y="11102"/>
              <a:ext cx="14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rPr>
                <a:t>IP</a:t>
              </a:r>
              <a:r>
                <a:rPr lang="zh-CN" altLang="en-US" sz="2400">
                  <a:solidFill>
                    <a:schemeClr val="tx1"/>
                  </a:solidFill>
                </a:rPr>
                <a:t>数据报</a:t>
              </a:r>
            </a:p>
          </p:txBody>
        </p:sp>
        <p:sp>
          <p:nvSpPr>
            <p:cNvPr id="13317" name="Text Box 6"/>
            <p:cNvSpPr txBox="1">
              <a:spLocks noChangeArrowheads="1"/>
            </p:cNvSpPr>
            <p:nvPr/>
          </p:nvSpPr>
          <p:spPr bwMode="auto">
            <a:xfrm>
              <a:off x="3600" y="11732"/>
              <a:ext cx="2880" cy="468"/>
            </a:xfrm>
            <a:prstGeom prst="rect">
              <a:avLst/>
            </a:prstGeom>
            <a:solidFill>
              <a:srgbClr val="FFFFFF"/>
            </a:solidFill>
            <a:ln w="9525">
              <a:solidFill>
                <a:srgbClr val="000000"/>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rPr>
                <a:t>IP</a:t>
              </a:r>
            </a:p>
          </p:txBody>
        </p:sp>
        <p:sp>
          <p:nvSpPr>
            <p:cNvPr id="13318" name="Text Box 7"/>
            <p:cNvSpPr txBox="1">
              <a:spLocks noChangeArrowheads="1"/>
            </p:cNvSpPr>
            <p:nvPr/>
          </p:nvSpPr>
          <p:spPr bwMode="auto">
            <a:xfrm>
              <a:off x="3600" y="12668"/>
              <a:ext cx="540" cy="1404"/>
            </a:xfrm>
            <a:prstGeom prst="rect">
              <a:avLst/>
            </a:prstGeom>
            <a:solidFill>
              <a:srgbClr val="FFFFFF"/>
            </a:solidFill>
            <a:ln w="9525">
              <a:solidFill>
                <a:srgbClr val="000000"/>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sz="2400">
                  <a:solidFill>
                    <a:schemeClr val="tx1"/>
                  </a:solidFill>
                </a:rPr>
                <a:t>以太网帧</a:t>
              </a:r>
            </a:p>
          </p:txBody>
        </p:sp>
        <p:sp>
          <p:nvSpPr>
            <p:cNvPr id="13319" name="Text Box 8"/>
            <p:cNvSpPr txBox="1">
              <a:spLocks noChangeArrowheads="1"/>
            </p:cNvSpPr>
            <p:nvPr/>
          </p:nvSpPr>
          <p:spPr bwMode="auto">
            <a:xfrm>
              <a:off x="4320" y="12668"/>
              <a:ext cx="540" cy="1404"/>
            </a:xfrm>
            <a:prstGeom prst="rect">
              <a:avLst/>
            </a:prstGeom>
            <a:solidFill>
              <a:srgbClr val="FFFFFF"/>
            </a:solidFill>
            <a:ln w="9525">
              <a:solidFill>
                <a:srgbClr val="000000"/>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sz="2400">
                  <a:solidFill>
                    <a:schemeClr val="tx1"/>
                  </a:solidFill>
                </a:rPr>
                <a:t>令牌环帧</a:t>
              </a:r>
            </a:p>
          </p:txBody>
        </p:sp>
        <p:sp>
          <p:nvSpPr>
            <p:cNvPr id="13320" name="Text Box 9"/>
            <p:cNvSpPr txBox="1">
              <a:spLocks noChangeArrowheads="1"/>
            </p:cNvSpPr>
            <p:nvPr/>
          </p:nvSpPr>
          <p:spPr bwMode="auto">
            <a:xfrm>
              <a:off x="5040" y="12824"/>
              <a:ext cx="720" cy="10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en-US" altLang="zh-CN" sz="2400">
                <a:solidFill>
                  <a:schemeClr val="tx1"/>
                </a:solidFill>
              </a:endParaRPr>
            </a:p>
            <a:p>
              <a:pPr algn="ctr"/>
              <a:endParaRPr lang="en-US" altLang="zh-CN" sz="2400">
                <a:solidFill>
                  <a:schemeClr val="tx1"/>
                </a:solidFill>
              </a:endParaRPr>
            </a:p>
            <a:p>
              <a:pPr algn="ctr"/>
              <a:r>
                <a:rPr lang="zh-CN" altLang="en-US" sz="2400">
                  <a:solidFill>
                    <a:schemeClr val="tx1"/>
                  </a:solidFill>
                </a:rPr>
                <a:t>。。。</a:t>
              </a:r>
            </a:p>
          </p:txBody>
        </p:sp>
        <p:sp>
          <p:nvSpPr>
            <p:cNvPr id="13321" name="Text Box 10"/>
            <p:cNvSpPr txBox="1">
              <a:spLocks noChangeArrowheads="1"/>
            </p:cNvSpPr>
            <p:nvPr/>
          </p:nvSpPr>
          <p:spPr bwMode="auto">
            <a:xfrm>
              <a:off x="5940" y="12668"/>
              <a:ext cx="540" cy="1404"/>
            </a:xfrm>
            <a:prstGeom prst="rect">
              <a:avLst/>
            </a:prstGeom>
            <a:solidFill>
              <a:srgbClr val="FFFFFF"/>
            </a:solidFill>
            <a:ln w="9525">
              <a:solidFill>
                <a:srgbClr val="000000"/>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rPr>
                <a:t>P</a:t>
              </a:r>
            </a:p>
            <a:p>
              <a:pPr algn="ctr"/>
              <a:r>
                <a:rPr lang="en-US" altLang="zh-CN" sz="2400">
                  <a:solidFill>
                    <a:schemeClr val="tx1"/>
                  </a:solidFill>
                </a:rPr>
                <a:t>P</a:t>
              </a:r>
            </a:p>
            <a:p>
              <a:pPr algn="ctr"/>
              <a:r>
                <a:rPr lang="en-US" altLang="zh-CN" sz="2400">
                  <a:solidFill>
                    <a:schemeClr val="tx1"/>
                  </a:solidFill>
                </a:rPr>
                <a:t>P</a:t>
              </a:r>
            </a:p>
            <a:p>
              <a:pPr algn="ctr"/>
              <a:r>
                <a:rPr lang="zh-CN" altLang="en-US" sz="2400">
                  <a:solidFill>
                    <a:schemeClr val="tx1"/>
                  </a:solidFill>
                </a:rPr>
                <a:t>帧</a:t>
              </a:r>
            </a:p>
          </p:txBody>
        </p:sp>
        <p:sp>
          <p:nvSpPr>
            <p:cNvPr id="13322" name="AutoShape 11"/>
            <p:cNvSpPr>
              <a:spLocks noChangeArrowheads="1"/>
            </p:cNvSpPr>
            <p:nvPr/>
          </p:nvSpPr>
          <p:spPr bwMode="auto">
            <a:xfrm>
              <a:off x="3780" y="12204"/>
              <a:ext cx="180" cy="468"/>
            </a:xfrm>
            <a:prstGeom prst="upArrow">
              <a:avLst>
                <a:gd name="adj1" fmla="val 50000"/>
                <a:gd name="adj2" fmla="val 65000"/>
              </a:avLst>
            </a:prstGeom>
            <a:solidFill>
              <a:srgbClr val="FFFFFF"/>
            </a:solidFill>
            <a:ln w="9525">
              <a:solidFill>
                <a:srgbClr val="000000"/>
              </a:solidFill>
              <a:miter lim="800000"/>
              <a:headEnd/>
              <a:tailEnd/>
            </a:ln>
          </p:spPr>
          <p:txBody>
            <a:bodyPr vert="eaVert"/>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3323" name="AutoShape 12"/>
            <p:cNvSpPr>
              <a:spLocks noChangeArrowheads="1"/>
            </p:cNvSpPr>
            <p:nvPr/>
          </p:nvSpPr>
          <p:spPr bwMode="auto">
            <a:xfrm>
              <a:off x="4500" y="12204"/>
              <a:ext cx="180" cy="468"/>
            </a:xfrm>
            <a:prstGeom prst="upArrow">
              <a:avLst>
                <a:gd name="adj1" fmla="val 50000"/>
                <a:gd name="adj2" fmla="val 65000"/>
              </a:avLst>
            </a:prstGeom>
            <a:solidFill>
              <a:srgbClr val="FFFFFF"/>
            </a:solidFill>
            <a:ln w="9525">
              <a:solidFill>
                <a:srgbClr val="000000"/>
              </a:solidFill>
              <a:miter lim="800000"/>
              <a:headEnd/>
              <a:tailEnd/>
            </a:ln>
          </p:spPr>
          <p:txBody>
            <a:bodyPr vert="eaVert"/>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3324" name="AutoShape 13"/>
            <p:cNvSpPr>
              <a:spLocks noChangeArrowheads="1"/>
            </p:cNvSpPr>
            <p:nvPr/>
          </p:nvSpPr>
          <p:spPr bwMode="auto">
            <a:xfrm>
              <a:off x="6120" y="12204"/>
              <a:ext cx="180" cy="468"/>
            </a:xfrm>
            <a:prstGeom prst="upArrow">
              <a:avLst>
                <a:gd name="adj1" fmla="val 50000"/>
                <a:gd name="adj2" fmla="val 65000"/>
              </a:avLst>
            </a:prstGeom>
            <a:solidFill>
              <a:srgbClr val="FFFFFF"/>
            </a:solidFill>
            <a:ln w="9525">
              <a:solidFill>
                <a:srgbClr val="000000"/>
              </a:solidFill>
              <a:miter lim="800000"/>
              <a:headEnd/>
              <a:tailEnd/>
            </a:ln>
          </p:spPr>
          <p:txBody>
            <a:bodyPr vert="eaVert"/>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3325" name="AutoShape 14"/>
            <p:cNvSpPr>
              <a:spLocks noChangeArrowheads="1"/>
            </p:cNvSpPr>
            <p:nvPr/>
          </p:nvSpPr>
          <p:spPr bwMode="auto">
            <a:xfrm>
              <a:off x="5040" y="10800"/>
              <a:ext cx="180" cy="936"/>
            </a:xfrm>
            <a:prstGeom prst="upArrow">
              <a:avLst>
                <a:gd name="adj1" fmla="val 50000"/>
                <a:gd name="adj2" fmla="val 130000"/>
              </a:avLst>
            </a:prstGeom>
            <a:solidFill>
              <a:srgbClr val="FFFFFF"/>
            </a:solidFill>
            <a:ln w="9525">
              <a:solidFill>
                <a:srgbClr val="000000"/>
              </a:solidFill>
              <a:miter lim="800000"/>
              <a:headEnd/>
              <a:tailEnd/>
            </a:ln>
          </p:spPr>
          <p:txBody>
            <a:bodyPr vert="eaVert"/>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Tree>
  </p:cSld>
  <p:clrMapOvr>
    <a:masterClrMapping/>
  </p:clrMapOvr>
  <p:transition spd="med">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2000250" y="1541463"/>
            <a:ext cx="8229600" cy="4419600"/>
            <a:chOff x="288" y="1056"/>
            <a:chExt cx="5184" cy="2784"/>
          </a:xfrm>
        </p:grpSpPr>
        <p:sp>
          <p:nvSpPr>
            <p:cNvPr id="14357" name="Rectangle 4"/>
            <p:cNvSpPr>
              <a:spLocks noChangeArrowheads="1"/>
            </p:cNvSpPr>
            <p:nvPr/>
          </p:nvSpPr>
          <p:spPr bwMode="auto">
            <a:xfrm>
              <a:off x="288" y="1056"/>
              <a:ext cx="5184" cy="2784"/>
            </a:xfrm>
            <a:prstGeom prst="rect">
              <a:avLst/>
            </a:prstGeom>
            <a:solidFill>
              <a:srgbClr val="000066"/>
            </a:solidFill>
            <a:ln w="9525">
              <a:solidFill>
                <a:srgbClr val="FFFFFF"/>
              </a:solidFill>
              <a:miter lim="800000"/>
              <a:headEnd/>
              <a:tailEnd/>
            </a:ln>
            <a:effectLst>
              <a:outerShdw dist="233487" dir="2700000" algn="ctr" rotWithShape="0">
                <a:srgbClr val="000066">
                  <a:alpha val="50000"/>
                </a:srgbClr>
              </a:outerShdw>
            </a:effec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4358" name="Rectangle 5"/>
            <p:cNvSpPr>
              <a:spLocks noChangeArrowheads="1"/>
            </p:cNvSpPr>
            <p:nvPr/>
          </p:nvSpPr>
          <p:spPr bwMode="auto">
            <a:xfrm>
              <a:off x="1344" y="1296"/>
              <a:ext cx="624" cy="240"/>
            </a:xfrm>
            <a:prstGeom prst="rect">
              <a:avLst/>
            </a:prstGeom>
            <a:solidFill>
              <a:srgbClr val="0000CC"/>
            </a:solidFill>
            <a:ln w="19050">
              <a:solidFill>
                <a:srgbClr val="FFFFFF"/>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en-US" altLang="zh-CN">
                  <a:solidFill>
                    <a:schemeClr val="bg1"/>
                  </a:solidFill>
                  <a:ea typeface="华文新魏" panose="02010800040101010101" pitchFamily="2" charset="-122"/>
                </a:rPr>
                <a:t>Internet</a:t>
              </a:r>
            </a:p>
          </p:txBody>
        </p:sp>
        <p:sp>
          <p:nvSpPr>
            <p:cNvPr id="14359" name="Rectangle 6"/>
            <p:cNvSpPr>
              <a:spLocks noChangeArrowheads="1"/>
            </p:cNvSpPr>
            <p:nvPr/>
          </p:nvSpPr>
          <p:spPr bwMode="auto">
            <a:xfrm>
              <a:off x="912" y="1872"/>
              <a:ext cx="528" cy="240"/>
            </a:xfrm>
            <a:prstGeom prst="rect">
              <a:avLst/>
            </a:prstGeom>
            <a:solidFill>
              <a:srgbClr val="0000CC"/>
            </a:solidFill>
            <a:ln w="19050">
              <a:solidFill>
                <a:srgbClr val="FFFFFF"/>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网络</a:t>
              </a:r>
            </a:p>
          </p:txBody>
        </p:sp>
        <p:sp>
          <p:nvSpPr>
            <p:cNvPr id="14360" name="Line 7"/>
            <p:cNvSpPr>
              <a:spLocks noChangeShapeType="1"/>
            </p:cNvSpPr>
            <p:nvPr/>
          </p:nvSpPr>
          <p:spPr bwMode="auto">
            <a:xfrm>
              <a:off x="1776" y="1536"/>
              <a:ext cx="528" cy="528"/>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1" name="Rectangle 8"/>
            <p:cNvSpPr>
              <a:spLocks noChangeArrowheads="1"/>
            </p:cNvSpPr>
            <p:nvPr/>
          </p:nvSpPr>
          <p:spPr bwMode="auto">
            <a:xfrm>
              <a:off x="480" y="3552"/>
              <a:ext cx="2064" cy="288"/>
            </a:xfrm>
            <a:prstGeom prst="rect">
              <a:avLst/>
            </a:prstGeom>
            <a:noFill/>
            <a:ln w="19050">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en-US" altLang="zh-CN">
                  <a:solidFill>
                    <a:schemeClr val="bg1"/>
                  </a:solidFill>
                  <a:ea typeface="华文新魏" panose="02010800040101010101" pitchFamily="2" charset="-122"/>
                </a:rPr>
                <a:t>Internet</a:t>
              </a:r>
              <a:r>
                <a:rPr kumimoji="1" lang="zh-CN" altLang="en-US">
                  <a:solidFill>
                    <a:schemeClr val="bg1"/>
                  </a:solidFill>
                  <a:ea typeface="华文新魏" panose="02010800040101010101" pitchFamily="2" charset="-122"/>
                </a:rPr>
                <a:t>的概念层次</a:t>
              </a:r>
            </a:p>
          </p:txBody>
        </p:sp>
        <p:sp>
          <p:nvSpPr>
            <p:cNvPr id="14362" name="Rectangle 9"/>
            <p:cNvSpPr>
              <a:spLocks noChangeArrowheads="1"/>
            </p:cNvSpPr>
            <p:nvPr/>
          </p:nvSpPr>
          <p:spPr bwMode="auto">
            <a:xfrm>
              <a:off x="2016" y="2064"/>
              <a:ext cx="528" cy="240"/>
            </a:xfrm>
            <a:prstGeom prst="rect">
              <a:avLst/>
            </a:prstGeom>
            <a:solidFill>
              <a:srgbClr val="0000CC"/>
            </a:solidFill>
            <a:ln w="19050">
              <a:solidFill>
                <a:srgbClr val="FFFFFF"/>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网络</a:t>
              </a:r>
            </a:p>
          </p:txBody>
        </p:sp>
        <p:sp>
          <p:nvSpPr>
            <p:cNvPr id="14363" name="Oval 10"/>
            <p:cNvSpPr>
              <a:spLocks noChangeArrowheads="1"/>
            </p:cNvSpPr>
            <p:nvPr/>
          </p:nvSpPr>
          <p:spPr bwMode="auto">
            <a:xfrm>
              <a:off x="2352" y="3024"/>
              <a:ext cx="432" cy="432"/>
            </a:xfrm>
            <a:prstGeom prst="ellipse">
              <a:avLst/>
            </a:prstGeom>
            <a:solidFill>
              <a:srgbClr val="FF0066"/>
            </a:solidFill>
            <a:ln w="19050">
              <a:solidFill>
                <a:srgbClr val="FFFFFF"/>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主机</a:t>
              </a:r>
            </a:p>
          </p:txBody>
        </p:sp>
        <p:sp>
          <p:nvSpPr>
            <p:cNvPr id="14364" name="Oval 11"/>
            <p:cNvSpPr>
              <a:spLocks noChangeArrowheads="1"/>
            </p:cNvSpPr>
            <p:nvPr/>
          </p:nvSpPr>
          <p:spPr bwMode="auto">
            <a:xfrm>
              <a:off x="1296" y="3024"/>
              <a:ext cx="432" cy="432"/>
            </a:xfrm>
            <a:prstGeom prst="ellipse">
              <a:avLst/>
            </a:prstGeom>
            <a:solidFill>
              <a:srgbClr val="FF0066"/>
            </a:solidFill>
            <a:ln w="19050">
              <a:solidFill>
                <a:srgbClr val="FFFFFF"/>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主机</a:t>
              </a:r>
            </a:p>
          </p:txBody>
        </p:sp>
        <p:sp>
          <p:nvSpPr>
            <p:cNvPr id="14365" name="Oval 12"/>
            <p:cNvSpPr>
              <a:spLocks noChangeArrowheads="1"/>
            </p:cNvSpPr>
            <p:nvPr/>
          </p:nvSpPr>
          <p:spPr bwMode="auto">
            <a:xfrm>
              <a:off x="1872" y="3024"/>
              <a:ext cx="432" cy="432"/>
            </a:xfrm>
            <a:prstGeom prst="ellipse">
              <a:avLst/>
            </a:prstGeom>
            <a:solidFill>
              <a:srgbClr val="FF0066"/>
            </a:solidFill>
            <a:ln w="19050">
              <a:solidFill>
                <a:srgbClr val="FFFFFF"/>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主机</a:t>
              </a:r>
            </a:p>
          </p:txBody>
        </p:sp>
        <p:sp>
          <p:nvSpPr>
            <p:cNvPr id="14366" name="Oval 13"/>
            <p:cNvSpPr>
              <a:spLocks noChangeArrowheads="1"/>
            </p:cNvSpPr>
            <p:nvPr/>
          </p:nvSpPr>
          <p:spPr bwMode="auto">
            <a:xfrm>
              <a:off x="816" y="3024"/>
              <a:ext cx="432" cy="432"/>
            </a:xfrm>
            <a:prstGeom prst="ellipse">
              <a:avLst/>
            </a:prstGeom>
            <a:solidFill>
              <a:srgbClr val="FF0066"/>
            </a:solidFill>
            <a:ln w="19050">
              <a:solidFill>
                <a:srgbClr val="FFFFFF"/>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主机</a:t>
              </a:r>
            </a:p>
          </p:txBody>
        </p:sp>
        <p:sp>
          <p:nvSpPr>
            <p:cNvPr id="14367" name="Line 14"/>
            <p:cNvSpPr>
              <a:spLocks noChangeShapeType="1"/>
            </p:cNvSpPr>
            <p:nvPr/>
          </p:nvSpPr>
          <p:spPr bwMode="auto">
            <a:xfrm>
              <a:off x="2352" y="2304"/>
              <a:ext cx="240" cy="720"/>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8" name="Line 15"/>
            <p:cNvSpPr>
              <a:spLocks noChangeShapeType="1"/>
            </p:cNvSpPr>
            <p:nvPr/>
          </p:nvSpPr>
          <p:spPr bwMode="auto">
            <a:xfrm flipH="1">
              <a:off x="2112" y="2304"/>
              <a:ext cx="48" cy="720"/>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9" name="Line 16"/>
            <p:cNvSpPr>
              <a:spLocks noChangeShapeType="1"/>
            </p:cNvSpPr>
            <p:nvPr/>
          </p:nvSpPr>
          <p:spPr bwMode="auto">
            <a:xfrm flipH="1">
              <a:off x="1056" y="2112"/>
              <a:ext cx="96" cy="912"/>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70" name="Line 17"/>
            <p:cNvSpPr>
              <a:spLocks noChangeShapeType="1"/>
            </p:cNvSpPr>
            <p:nvPr/>
          </p:nvSpPr>
          <p:spPr bwMode="auto">
            <a:xfrm>
              <a:off x="1296" y="2112"/>
              <a:ext cx="192" cy="912"/>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71" name="Line 18"/>
            <p:cNvSpPr>
              <a:spLocks noChangeShapeType="1"/>
            </p:cNvSpPr>
            <p:nvPr/>
          </p:nvSpPr>
          <p:spPr bwMode="auto">
            <a:xfrm flipH="1">
              <a:off x="1200" y="1536"/>
              <a:ext cx="336" cy="336"/>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9"/>
          <p:cNvGrpSpPr>
            <a:grpSpLocks/>
          </p:cNvGrpSpPr>
          <p:nvPr/>
        </p:nvGrpSpPr>
        <p:grpSpPr bwMode="auto">
          <a:xfrm>
            <a:off x="2076450" y="3379788"/>
            <a:ext cx="6629400" cy="2133600"/>
            <a:chOff x="336" y="2112"/>
            <a:chExt cx="4176" cy="1344"/>
          </a:xfrm>
        </p:grpSpPr>
        <p:grpSp>
          <p:nvGrpSpPr>
            <p:cNvPr id="14347" name="Group 20"/>
            <p:cNvGrpSpPr>
              <a:grpSpLocks/>
            </p:cNvGrpSpPr>
            <p:nvPr/>
          </p:nvGrpSpPr>
          <p:grpSpPr bwMode="auto">
            <a:xfrm>
              <a:off x="336" y="2112"/>
              <a:ext cx="720" cy="1344"/>
              <a:chOff x="336" y="2112"/>
              <a:chExt cx="720" cy="1344"/>
            </a:xfrm>
          </p:grpSpPr>
          <p:sp>
            <p:nvSpPr>
              <p:cNvPr id="14353" name="Line 21"/>
              <p:cNvSpPr>
                <a:spLocks noChangeShapeType="1"/>
              </p:cNvSpPr>
              <p:nvPr/>
            </p:nvSpPr>
            <p:spPr bwMode="auto">
              <a:xfrm flipH="1">
                <a:off x="576" y="2736"/>
                <a:ext cx="48" cy="288"/>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4" name="Line 22"/>
              <p:cNvSpPr>
                <a:spLocks noChangeShapeType="1"/>
              </p:cNvSpPr>
              <p:nvPr/>
            </p:nvSpPr>
            <p:spPr bwMode="auto">
              <a:xfrm flipV="1">
                <a:off x="672" y="2112"/>
                <a:ext cx="384" cy="384"/>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5" name="Rectangle 23"/>
              <p:cNvSpPr>
                <a:spLocks noChangeArrowheads="1"/>
              </p:cNvSpPr>
              <p:nvPr/>
            </p:nvSpPr>
            <p:spPr bwMode="auto">
              <a:xfrm>
                <a:off x="432" y="2496"/>
                <a:ext cx="432" cy="240"/>
              </a:xfrm>
              <a:prstGeom prst="rect">
                <a:avLst/>
              </a:prstGeom>
              <a:solidFill>
                <a:srgbClr val="0000CC"/>
              </a:solidFill>
              <a:ln w="19050">
                <a:solidFill>
                  <a:srgbClr val="FFFFFF"/>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子网</a:t>
                </a:r>
              </a:p>
            </p:txBody>
          </p:sp>
          <p:sp>
            <p:nvSpPr>
              <p:cNvPr id="14356" name="Oval 24"/>
              <p:cNvSpPr>
                <a:spLocks noChangeArrowheads="1"/>
              </p:cNvSpPr>
              <p:nvPr/>
            </p:nvSpPr>
            <p:spPr bwMode="auto">
              <a:xfrm>
                <a:off x="336" y="3024"/>
                <a:ext cx="432" cy="432"/>
              </a:xfrm>
              <a:prstGeom prst="ellipse">
                <a:avLst/>
              </a:prstGeom>
              <a:solidFill>
                <a:srgbClr val="FF0066"/>
              </a:solidFill>
              <a:ln w="19050">
                <a:solidFill>
                  <a:srgbClr val="FFFFFF"/>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主机</a:t>
                </a:r>
              </a:p>
            </p:txBody>
          </p:sp>
        </p:grpSp>
        <p:grpSp>
          <p:nvGrpSpPr>
            <p:cNvPr id="14348" name="Group 25"/>
            <p:cNvGrpSpPr>
              <a:grpSpLocks/>
            </p:cNvGrpSpPr>
            <p:nvPr/>
          </p:nvGrpSpPr>
          <p:grpSpPr bwMode="auto">
            <a:xfrm>
              <a:off x="3456" y="2160"/>
              <a:ext cx="1056" cy="672"/>
              <a:chOff x="3456" y="2160"/>
              <a:chExt cx="1056" cy="672"/>
            </a:xfrm>
          </p:grpSpPr>
          <p:sp>
            <p:nvSpPr>
              <p:cNvPr id="14349" name="Rectangle 26"/>
              <p:cNvSpPr>
                <a:spLocks noChangeArrowheads="1"/>
              </p:cNvSpPr>
              <p:nvPr/>
            </p:nvSpPr>
            <p:spPr bwMode="auto">
              <a:xfrm>
                <a:off x="3456" y="2448"/>
                <a:ext cx="624" cy="384"/>
              </a:xfrm>
              <a:prstGeom prst="rect">
                <a:avLst/>
              </a:prstGeom>
              <a:solidFill>
                <a:srgbClr val="0000CC"/>
              </a:solidFill>
              <a:ln w="19050">
                <a:solidFill>
                  <a:srgbClr val="FFFFFF"/>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网络</a:t>
                </a:r>
              </a:p>
            </p:txBody>
          </p:sp>
          <p:sp>
            <p:nvSpPr>
              <p:cNvPr id="14350" name="Rectangle 27"/>
              <p:cNvSpPr>
                <a:spLocks noChangeArrowheads="1"/>
              </p:cNvSpPr>
              <p:nvPr/>
            </p:nvSpPr>
            <p:spPr bwMode="auto">
              <a:xfrm>
                <a:off x="4080" y="2448"/>
                <a:ext cx="432" cy="384"/>
              </a:xfrm>
              <a:prstGeom prst="rect">
                <a:avLst/>
              </a:prstGeom>
              <a:solidFill>
                <a:srgbClr val="0000CC"/>
              </a:solidFill>
              <a:ln w="19050">
                <a:solidFill>
                  <a:srgbClr val="FFFFFF"/>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子网</a:t>
                </a:r>
              </a:p>
            </p:txBody>
          </p:sp>
          <p:sp>
            <p:nvSpPr>
              <p:cNvPr id="14351" name="Line 28"/>
              <p:cNvSpPr>
                <a:spLocks noChangeShapeType="1"/>
              </p:cNvSpPr>
              <p:nvPr/>
            </p:nvSpPr>
            <p:spPr bwMode="auto">
              <a:xfrm>
                <a:off x="3456" y="2160"/>
                <a:ext cx="0" cy="288"/>
              </a:xfrm>
              <a:prstGeom prst="line">
                <a:avLst/>
              </a:prstGeom>
              <a:noFill/>
              <a:ln w="19050">
                <a:solidFill>
                  <a:srgbClr val="FFFF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2" name="Line 29"/>
              <p:cNvSpPr>
                <a:spLocks noChangeShapeType="1"/>
              </p:cNvSpPr>
              <p:nvPr/>
            </p:nvSpPr>
            <p:spPr bwMode="auto">
              <a:xfrm>
                <a:off x="4512" y="2160"/>
                <a:ext cx="0" cy="288"/>
              </a:xfrm>
              <a:prstGeom prst="line">
                <a:avLst/>
              </a:prstGeom>
              <a:noFill/>
              <a:ln w="19050">
                <a:solidFill>
                  <a:srgbClr val="FFFF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6" name="Group 30"/>
          <p:cNvGrpSpPr>
            <a:grpSpLocks/>
          </p:cNvGrpSpPr>
          <p:nvPr/>
        </p:nvGrpSpPr>
        <p:grpSpPr bwMode="auto">
          <a:xfrm>
            <a:off x="6858000" y="2819400"/>
            <a:ext cx="3276600" cy="2743200"/>
            <a:chOff x="3360" y="1776"/>
            <a:chExt cx="2064" cy="1728"/>
          </a:xfrm>
        </p:grpSpPr>
        <p:sp>
          <p:nvSpPr>
            <p:cNvPr id="14344" name="Rectangle 31"/>
            <p:cNvSpPr>
              <a:spLocks noChangeArrowheads="1"/>
            </p:cNvSpPr>
            <p:nvPr/>
          </p:nvSpPr>
          <p:spPr bwMode="auto">
            <a:xfrm>
              <a:off x="3456" y="1776"/>
              <a:ext cx="1056" cy="384"/>
            </a:xfrm>
            <a:prstGeom prst="rect">
              <a:avLst/>
            </a:prstGeom>
            <a:solidFill>
              <a:srgbClr val="0000CC"/>
            </a:solidFill>
            <a:ln w="19050">
              <a:solidFill>
                <a:schemeClr val="tx2"/>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网络号</a:t>
              </a:r>
            </a:p>
          </p:txBody>
        </p:sp>
        <p:sp>
          <p:nvSpPr>
            <p:cNvPr id="14345" name="Rectangle 32"/>
            <p:cNvSpPr>
              <a:spLocks noChangeArrowheads="1"/>
            </p:cNvSpPr>
            <p:nvPr/>
          </p:nvSpPr>
          <p:spPr bwMode="auto">
            <a:xfrm>
              <a:off x="4512" y="1776"/>
              <a:ext cx="720" cy="384"/>
            </a:xfrm>
            <a:prstGeom prst="rect">
              <a:avLst/>
            </a:prstGeom>
            <a:solidFill>
              <a:srgbClr val="FF0066"/>
            </a:solidFill>
            <a:ln w="19050">
              <a:solidFill>
                <a:schemeClr val="tx2"/>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主机号</a:t>
              </a:r>
            </a:p>
          </p:txBody>
        </p:sp>
        <p:sp>
          <p:nvSpPr>
            <p:cNvPr id="14346" name="Rectangle 33"/>
            <p:cNvSpPr>
              <a:spLocks noChangeArrowheads="1"/>
            </p:cNvSpPr>
            <p:nvPr/>
          </p:nvSpPr>
          <p:spPr bwMode="auto">
            <a:xfrm>
              <a:off x="3360" y="3216"/>
              <a:ext cx="20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en-US" altLang="zh-CN">
                  <a:solidFill>
                    <a:schemeClr val="bg1"/>
                  </a:solidFill>
                  <a:ea typeface="华文新魏" panose="02010800040101010101" pitchFamily="2" charset="-122"/>
                </a:rPr>
                <a:t>IP</a:t>
              </a:r>
              <a:r>
                <a:rPr kumimoji="1" lang="en-US" altLang="zh-CN">
                  <a:solidFill>
                    <a:schemeClr val="tx2"/>
                  </a:solidFill>
                  <a:ea typeface="华文新魏" panose="02010800040101010101" pitchFamily="2" charset="-122"/>
                </a:rPr>
                <a:t> </a:t>
              </a:r>
              <a:r>
                <a:rPr kumimoji="1" lang="zh-CN" altLang="en-US">
                  <a:solidFill>
                    <a:schemeClr val="bg1"/>
                  </a:solidFill>
                  <a:ea typeface="华文新魏" panose="02010800040101010101" pitchFamily="2" charset="-122"/>
                </a:rPr>
                <a:t>地址的概念结构</a:t>
              </a:r>
            </a:p>
          </p:txBody>
        </p:sp>
      </p:grpSp>
      <p:sp>
        <p:nvSpPr>
          <p:cNvPr id="14341" name="Text Box 34"/>
          <p:cNvSpPr txBox="1">
            <a:spLocks noChangeArrowheads="1"/>
          </p:cNvSpPr>
          <p:nvPr/>
        </p:nvSpPr>
        <p:spPr bwMode="auto">
          <a:xfrm>
            <a:off x="2197100" y="6184901"/>
            <a:ext cx="78247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kumimoji="1" lang="zh-CN" altLang="en-US">
                <a:solidFill>
                  <a:schemeClr val="folHlink"/>
                </a:solidFill>
                <a:ea typeface="楷体_GB2312" pitchFamily="49" charset="-122"/>
              </a:rPr>
              <a:t>网间网在概念上分为</a:t>
            </a:r>
            <a:r>
              <a:rPr kumimoji="1" lang="zh-CN" altLang="en-US">
                <a:solidFill>
                  <a:srgbClr val="FF0000"/>
                </a:solidFill>
                <a:ea typeface="楷体_GB2312" pitchFamily="49" charset="-122"/>
              </a:rPr>
              <a:t>三个层次</a:t>
            </a:r>
            <a:r>
              <a:rPr kumimoji="1" lang="zh-CN" altLang="en-US" b="1">
                <a:solidFill>
                  <a:schemeClr val="folHlink"/>
                </a:solidFill>
                <a:latin typeface="Verdana" panose="020B0604030504040204" pitchFamily="34" charset="0"/>
                <a:ea typeface="隶书" panose="02010509060101010101" pitchFamily="49" charset="-122"/>
              </a:rPr>
              <a:t> </a:t>
            </a:r>
          </a:p>
        </p:txBody>
      </p:sp>
      <p:sp>
        <p:nvSpPr>
          <p:cNvPr id="14342" name="Rectangle 35"/>
          <p:cNvSpPr>
            <a:spLocks noGrp="1" noChangeArrowheads="1"/>
          </p:cNvSpPr>
          <p:nvPr>
            <p:ph type="title"/>
          </p:nvPr>
        </p:nvSpPr>
        <p:spPr bwMode="auto">
          <a:xfrm>
            <a:off x="2209800"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网间网层次结构</a:t>
            </a:r>
          </a:p>
        </p:txBody>
      </p:sp>
      <p:sp>
        <p:nvSpPr>
          <p:cNvPr id="1412132" name="Text Box 36"/>
          <p:cNvSpPr txBox="1">
            <a:spLocks noChangeArrowheads="1"/>
          </p:cNvSpPr>
          <p:nvPr/>
        </p:nvSpPr>
        <p:spPr bwMode="auto">
          <a:xfrm>
            <a:off x="6145214" y="1952626"/>
            <a:ext cx="37814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2400">
                <a:solidFill>
                  <a:schemeClr val="folHlink"/>
                </a:solidFill>
              </a:rPr>
              <a:t>一个网间网地址必须指明两点</a:t>
            </a:r>
            <a:r>
              <a:rPr lang="en-US" altLang="zh-CN" sz="2400">
                <a:solidFill>
                  <a:schemeClr val="folHlink"/>
                </a:solidFill>
              </a:rPr>
              <a:t>:</a:t>
            </a:r>
            <a:r>
              <a:rPr lang="en-US" altLang="zh-CN" sz="2400">
                <a:solidFill>
                  <a:srgbClr val="008000"/>
                </a:solidFill>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1412132">
                                            <p:txEl>
                                              <p:pRg st="0" end="0"/>
                                            </p:txEl>
                                          </p:spTgt>
                                        </p:tgtEl>
                                        <p:attrNameLst>
                                          <p:attrName>style.visibility</p:attrName>
                                        </p:attrNameLst>
                                      </p:cBhvr>
                                      <p:to>
                                        <p:strVal val="visible"/>
                                      </p:to>
                                    </p:set>
                                    <p:anim calcmode="lin" valueType="num">
                                      <p:cBhvr additive="base">
                                        <p:cTn id="12" dur="500" fill="hold"/>
                                        <p:tgtEl>
                                          <p:spTgt spid="1412132">
                                            <p:txEl>
                                              <p:pRg st="0" end="0"/>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141213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dissolve">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2132"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body" idx="1"/>
          </p:nvPr>
        </p:nvSpPr>
        <p:spPr bwMode="auto">
          <a:xfrm>
            <a:off x="2222500" y="1393825"/>
            <a:ext cx="7772400" cy="801688"/>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p>
            <a:pPr eaLnBrk="1" hangingPunct="1">
              <a:lnSpc>
                <a:spcPct val="90000"/>
              </a:lnSpc>
            </a:pPr>
            <a:r>
              <a:rPr lang="zh-CN" altLang="en-US" sz="3600"/>
              <a:t>单播地址</a:t>
            </a:r>
            <a:r>
              <a:rPr lang="en-US" altLang="zh-CN" sz="3600"/>
              <a:t>:</a:t>
            </a:r>
          </a:p>
          <a:p>
            <a:pPr eaLnBrk="1" hangingPunct="1">
              <a:lnSpc>
                <a:spcPct val="90000"/>
              </a:lnSpc>
            </a:pPr>
            <a:endParaRPr lang="en-US" altLang="zh-CN"/>
          </a:p>
          <a:p>
            <a:pPr eaLnBrk="1" hangingPunct="1">
              <a:lnSpc>
                <a:spcPct val="90000"/>
              </a:lnSpc>
            </a:pPr>
            <a:endParaRPr lang="en-US" altLang="zh-CN"/>
          </a:p>
          <a:p>
            <a:pPr eaLnBrk="1" hangingPunct="1">
              <a:lnSpc>
                <a:spcPct val="90000"/>
              </a:lnSpc>
            </a:pPr>
            <a:endParaRPr lang="en-US" altLang="zh-CN"/>
          </a:p>
          <a:p>
            <a:pPr eaLnBrk="1" hangingPunct="1">
              <a:lnSpc>
                <a:spcPct val="90000"/>
              </a:lnSpc>
            </a:pPr>
            <a:endParaRPr lang="en-US" altLang="zh-CN"/>
          </a:p>
          <a:p>
            <a:pPr eaLnBrk="1" hangingPunct="1">
              <a:lnSpc>
                <a:spcPct val="90000"/>
              </a:lnSpc>
            </a:pPr>
            <a:endParaRPr lang="en-US" altLang="zh-CN"/>
          </a:p>
          <a:p>
            <a:pPr eaLnBrk="1" hangingPunct="1">
              <a:lnSpc>
                <a:spcPct val="90000"/>
              </a:lnSpc>
            </a:pPr>
            <a:endParaRPr lang="en-US" altLang="zh-CN"/>
          </a:p>
          <a:p>
            <a:pPr eaLnBrk="1" hangingPunct="1">
              <a:lnSpc>
                <a:spcPct val="90000"/>
              </a:lnSpc>
            </a:pPr>
            <a:endParaRPr lang="en-US" altLang="zh-CN"/>
          </a:p>
          <a:p>
            <a:pPr eaLnBrk="1" hangingPunct="1">
              <a:lnSpc>
                <a:spcPct val="90000"/>
              </a:lnSpc>
            </a:pPr>
            <a:r>
              <a:rPr lang="en-US" altLang="zh-CN"/>
              <a:t>Note:</a:t>
            </a:r>
            <a:r>
              <a:rPr lang="zh-CN" altLang="en-US"/>
              <a:t>非单播地址始于 </a:t>
            </a:r>
            <a:r>
              <a:rPr lang="en-US" altLang="zh-CN"/>
              <a:t>111 (i.e., </a:t>
            </a:r>
            <a:r>
              <a:rPr lang="zh-CN" altLang="en-US"/>
              <a:t>第一字节大于等于 </a:t>
            </a:r>
            <a:r>
              <a:rPr lang="en-US" altLang="zh-CN"/>
              <a:t>224)</a:t>
            </a:r>
          </a:p>
        </p:txBody>
      </p:sp>
      <p:sp>
        <p:nvSpPr>
          <p:cNvPr id="16387" name="Rectangle 3"/>
          <p:cNvSpPr>
            <a:spLocks noChangeArrowheads="1"/>
          </p:cNvSpPr>
          <p:nvPr/>
        </p:nvSpPr>
        <p:spPr bwMode="auto">
          <a:xfrm>
            <a:off x="2908300" y="2384425"/>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0</a:t>
            </a:r>
          </a:p>
        </p:txBody>
      </p:sp>
      <p:sp>
        <p:nvSpPr>
          <p:cNvPr id="16388" name="Rectangle 4"/>
          <p:cNvSpPr>
            <a:spLocks noChangeArrowheads="1"/>
          </p:cNvSpPr>
          <p:nvPr/>
        </p:nvSpPr>
        <p:spPr bwMode="auto">
          <a:xfrm>
            <a:off x="3213100" y="2384425"/>
            <a:ext cx="1219200" cy="381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Network</a:t>
            </a:r>
          </a:p>
        </p:txBody>
      </p:sp>
      <p:sp>
        <p:nvSpPr>
          <p:cNvPr id="16389" name="Rectangle 5"/>
          <p:cNvSpPr>
            <a:spLocks noChangeArrowheads="1"/>
          </p:cNvSpPr>
          <p:nvPr/>
        </p:nvSpPr>
        <p:spPr bwMode="auto">
          <a:xfrm>
            <a:off x="4432300" y="2384425"/>
            <a:ext cx="3733800" cy="381000"/>
          </a:xfrm>
          <a:prstGeom prst="rect">
            <a:avLst/>
          </a:prstGeom>
          <a:solidFill>
            <a:srgbClr val="FF6600"/>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Host</a:t>
            </a:r>
          </a:p>
        </p:txBody>
      </p:sp>
      <p:sp>
        <p:nvSpPr>
          <p:cNvPr id="16390" name="Text Box 6"/>
          <p:cNvSpPr txBox="1">
            <a:spLocks noChangeArrowheads="1"/>
          </p:cNvSpPr>
          <p:nvPr/>
        </p:nvSpPr>
        <p:spPr bwMode="auto">
          <a:xfrm>
            <a:off x="2908300" y="2079625"/>
            <a:ext cx="3613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600">
                <a:solidFill>
                  <a:schemeClr val="tx1"/>
                </a:solidFill>
                <a:latin typeface="Tahoma" panose="020B0604030504040204" pitchFamily="34" charset="0"/>
              </a:rPr>
              <a:t>1          7                                     24</a:t>
            </a:r>
          </a:p>
        </p:txBody>
      </p:sp>
      <p:sp>
        <p:nvSpPr>
          <p:cNvPr id="16391" name="Text Box 7"/>
          <p:cNvSpPr txBox="1">
            <a:spLocks noChangeArrowheads="1"/>
          </p:cNvSpPr>
          <p:nvPr/>
        </p:nvSpPr>
        <p:spPr bwMode="auto">
          <a:xfrm>
            <a:off x="8361219" y="2384426"/>
            <a:ext cx="2130136"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tx1"/>
                </a:solidFill>
                <a:latin typeface="Tahoma" panose="020B0604030504040204" pitchFamily="34" charset="0"/>
              </a:rPr>
              <a:t>Class A 1-127</a:t>
            </a:r>
          </a:p>
        </p:txBody>
      </p:sp>
      <p:sp>
        <p:nvSpPr>
          <p:cNvPr id="16392" name="Rectangle 8"/>
          <p:cNvSpPr>
            <a:spLocks noChangeArrowheads="1"/>
          </p:cNvSpPr>
          <p:nvPr/>
        </p:nvSpPr>
        <p:spPr bwMode="auto">
          <a:xfrm>
            <a:off x="2908300" y="3451225"/>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6393" name="Rectangle 9"/>
          <p:cNvSpPr>
            <a:spLocks noChangeArrowheads="1"/>
          </p:cNvSpPr>
          <p:nvPr/>
        </p:nvSpPr>
        <p:spPr bwMode="auto">
          <a:xfrm>
            <a:off x="3517900" y="3451225"/>
            <a:ext cx="2209800" cy="381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Network</a:t>
            </a:r>
          </a:p>
        </p:txBody>
      </p:sp>
      <p:sp>
        <p:nvSpPr>
          <p:cNvPr id="16394" name="Rectangle 10"/>
          <p:cNvSpPr>
            <a:spLocks noChangeArrowheads="1"/>
          </p:cNvSpPr>
          <p:nvPr/>
        </p:nvSpPr>
        <p:spPr bwMode="auto">
          <a:xfrm>
            <a:off x="5727700" y="3451225"/>
            <a:ext cx="2438400" cy="381000"/>
          </a:xfrm>
          <a:prstGeom prst="rect">
            <a:avLst/>
          </a:prstGeom>
          <a:solidFill>
            <a:srgbClr val="FF6600"/>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Host</a:t>
            </a:r>
          </a:p>
        </p:txBody>
      </p:sp>
      <p:sp>
        <p:nvSpPr>
          <p:cNvPr id="16395" name="Rectangle 11"/>
          <p:cNvSpPr>
            <a:spLocks noChangeArrowheads="1"/>
          </p:cNvSpPr>
          <p:nvPr/>
        </p:nvSpPr>
        <p:spPr bwMode="auto">
          <a:xfrm>
            <a:off x="3213100" y="3451225"/>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0</a:t>
            </a:r>
          </a:p>
        </p:txBody>
      </p:sp>
      <p:sp>
        <p:nvSpPr>
          <p:cNvPr id="16396" name="Text Box 12"/>
          <p:cNvSpPr txBox="1">
            <a:spLocks noChangeArrowheads="1"/>
          </p:cNvSpPr>
          <p:nvPr/>
        </p:nvSpPr>
        <p:spPr bwMode="auto">
          <a:xfrm>
            <a:off x="2908300" y="3146425"/>
            <a:ext cx="480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600">
                <a:solidFill>
                  <a:schemeClr val="tx1"/>
                </a:solidFill>
                <a:latin typeface="Tahoma" panose="020B0604030504040204" pitchFamily="34" charset="0"/>
              </a:rPr>
              <a:t>1   1                 14                                 16</a:t>
            </a:r>
          </a:p>
        </p:txBody>
      </p:sp>
      <p:sp>
        <p:nvSpPr>
          <p:cNvPr id="16397" name="Text Box 13"/>
          <p:cNvSpPr txBox="1">
            <a:spLocks noChangeArrowheads="1"/>
          </p:cNvSpPr>
          <p:nvPr/>
        </p:nvSpPr>
        <p:spPr bwMode="auto">
          <a:xfrm>
            <a:off x="8361218" y="3451225"/>
            <a:ext cx="21301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tx1"/>
                </a:solidFill>
                <a:latin typeface="Tahoma" panose="020B0604030504040204" pitchFamily="34" charset="0"/>
              </a:rPr>
              <a:t>Class B 128-191</a:t>
            </a:r>
          </a:p>
        </p:txBody>
      </p:sp>
      <p:sp>
        <p:nvSpPr>
          <p:cNvPr id="16398" name="Rectangle 14"/>
          <p:cNvSpPr>
            <a:spLocks noChangeArrowheads="1"/>
          </p:cNvSpPr>
          <p:nvPr/>
        </p:nvSpPr>
        <p:spPr bwMode="auto">
          <a:xfrm>
            <a:off x="2908300" y="4518025"/>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6399" name="Rectangle 15"/>
          <p:cNvSpPr>
            <a:spLocks noChangeArrowheads="1"/>
          </p:cNvSpPr>
          <p:nvPr/>
        </p:nvSpPr>
        <p:spPr bwMode="auto">
          <a:xfrm>
            <a:off x="3822700" y="4518025"/>
            <a:ext cx="3048000" cy="381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Network</a:t>
            </a:r>
          </a:p>
        </p:txBody>
      </p:sp>
      <p:sp>
        <p:nvSpPr>
          <p:cNvPr id="16400" name="Rectangle 16"/>
          <p:cNvSpPr>
            <a:spLocks noChangeArrowheads="1"/>
          </p:cNvSpPr>
          <p:nvPr/>
        </p:nvSpPr>
        <p:spPr bwMode="auto">
          <a:xfrm>
            <a:off x="6870700" y="4518025"/>
            <a:ext cx="1295400" cy="381000"/>
          </a:xfrm>
          <a:prstGeom prst="rect">
            <a:avLst/>
          </a:prstGeom>
          <a:solidFill>
            <a:srgbClr val="FF6600"/>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Host</a:t>
            </a:r>
          </a:p>
        </p:txBody>
      </p:sp>
      <p:sp>
        <p:nvSpPr>
          <p:cNvPr id="16401" name="Rectangle 17"/>
          <p:cNvSpPr>
            <a:spLocks noChangeArrowheads="1"/>
          </p:cNvSpPr>
          <p:nvPr/>
        </p:nvSpPr>
        <p:spPr bwMode="auto">
          <a:xfrm>
            <a:off x="3213100" y="4518025"/>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6402" name="Text Box 18"/>
          <p:cNvSpPr txBox="1">
            <a:spLocks noChangeArrowheads="1"/>
          </p:cNvSpPr>
          <p:nvPr/>
        </p:nvSpPr>
        <p:spPr bwMode="auto">
          <a:xfrm>
            <a:off x="2908300" y="4213225"/>
            <a:ext cx="480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600">
                <a:solidFill>
                  <a:schemeClr val="tx1"/>
                </a:solidFill>
                <a:latin typeface="Tahoma" panose="020B0604030504040204" pitchFamily="34" charset="0"/>
              </a:rPr>
              <a:t>1   1   1                       21                                 8</a:t>
            </a:r>
          </a:p>
        </p:txBody>
      </p:sp>
      <p:sp>
        <p:nvSpPr>
          <p:cNvPr id="16403" name="Text Box 19"/>
          <p:cNvSpPr txBox="1">
            <a:spLocks noChangeArrowheads="1"/>
          </p:cNvSpPr>
          <p:nvPr/>
        </p:nvSpPr>
        <p:spPr bwMode="auto">
          <a:xfrm>
            <a:off x="8361218" y="4558724"/>
            <a:ext cx="2234046"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tx1"/>
                </a:solidFill>
                <a:latin typeface="Tahoma" panose="020B0604030504040204" pitchFamily="34" charset="0"/>
              </a:rPr>
              <a:t>Class C 192-223</a:t>
            </a:r>
          </a:p>
        </p:txBody>
      </p:sp>
      <p:sp>
        <p:nvSpPr>
          <p:cNvPr id="16404" name="Rectangle 20"/>
          <p:cNvSpPr>
            <a:spLocks noChangeArrowheads="1"/>
          </p:cNvSpPr>
          <p:nvPr/>
        </p:nvSpPr>
        <p:spPr bwMode="auto">
          <a:xfrm>
            <a:off x="3517900" y="4518025"/>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0</a:t>
            </a:r>
          </a:p>
        </p:txBody>
      </p:sp>
      <p:sp>
        <p:nvSpPr>
          <p:cNvPr id="16405" name="Rectangle 21"/>
          <p:cNvSpPr>
            <a:spLocks noGrp="1" noChangeArrowheads="1"/>
          </p:cNvSpPr>
          <p:nvPr>
            <p:ph type="title"/>
          </p:nvPr>
        </p:nvSpPr>
        <p:spPr bwMode="auto">
          <a:xfrm>
            <a:off x="2287588" y="3571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地址的类型</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body" idx="1"/>
          </p:nvPr>
        </p:nvSpPr>
        <p:spPr bwMode="auto">
          <a:xfrm>
            <a:off x="2327275" y="1323975"/>
            <a:ext cx="7772400" cy="4383088"/>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pPr>
            <a:r>
              <a:rPr lang="zh-CN" altLang="en-US"/>
              <a:t>多播 </a:t>
            </a:r>
            <a:r>
              <a:rPr lang="en-US" altLang="zh-CN"/>
              <a:t>( D</a:t>
            </a:r>
            <a:r>
              <a:rPr lang="zh-CN" altLang="en-US"/>
              <a:t>类</a:t>
            </a:r>
            <a:r>
              <a:rPr lang="en-US" altLang="zh-CN"/>
              <a:t>) </a:t>
            </a:r>
            <a:r>
              <a:rPr lang="zh-CN" altLang="en-US"/>
              <a:t>地址</a:t>
            </a:r>
          </a:p>
          <a:p>
            <a:pPr eaLnBrk="1" hangingPunct="1">
              <a:lnSpc>
                <a:spcPct val="90000"/>
              </a:lnSpc>
            </a:pPr>
            <a:endParaRPr lang="zh-CN" altLang="en-US"/>
          </a:p>
          <a:p>
            <a:pPr eaLnBrk="1" hangingPunct="1">
              <a:lnSpc>
                <a:spcPct val="90000"/>
              </a:lnSpc>
            </a:pPr>
            <a:endParaRPr lang="zh-CN" altLang="en-US"/>
          </a:p>
          <a:p>
            <a:pPr lvl="1" eaLnBrk="1" hangingPunct="1">
              <a:lnSpc>
                <a:spcPct val="90000"/>
              </a:lnSpc>
            </a:pPr>
            <a:r>
              <a:rPr lang="zh-CN" altLang="en-US"/>
              <a:t>分组被送到监听广播地址的所有目的地 </a:t>
            </a:r>
          </a:p>
          <a:p>
            <a:pPr lvl="1" eaLnBrk="1" hangingPunct="1">
              <a:lnSpc>
                <a:spcPct val="90000"/>
              </a:lnSpc>
            </a:pPr>
            <a:r>
              <a:rPr lang="zh-CN" altLang="en-US"/>
              <a:t> </a:t>
            </a:r>
            <a:r>
              <a:rPr lang="en-US" altLang="zh-CN"/>
              <a:t>E </a:t>
            </a:r>
            <a:r>
              <a:rPr lang="zh-CN" altLang="en-US"/>
              <a:t>类地址 </a:t>
            </a:r>
            <a:r>
              <a:rPr lang="en-US" altLang="zh-CN"/>
              <a:t>(</a:t>
            </a:r>
            <a:r>
              <a:rPr lang="zh-CN" altLang="en-US"/>
              <a:t>未用</a:t>
            </a:r>
            <a:r>
              <a:rPr lang="en-US" altLang="zh-CN"/>
              <a:t>)</a:t>
            </a:r>
          </a:p>
          <a:p>
            <a:pPr eaLnBrk="1" hangingPunct="1">
              <a:lnSpc>
                <a:spcPct val="90000"/>
              </a:lnSpc>
            </a:pPr>
            <a:endParaRPr lang="en-US" altLang="zh-CN"/>
          </a:p>
          <a:p>
            <a:pPr eaLnBrk="1" hangingPunct="1">
              <a:lnSpc>
                <a:spcPct val="90000"/>
              </a:lnSpc>
            </a:pPr>
            <a:endParaRPr lang="en-US" altLang="zh-CN"/>
          </a:p>
          <a:p>
            <a:pPr eaLnBrk="1" hangingPunct="1">
              <a:lnSpc>
                <a:spcPct val="90000"/>
              </a:lnSpc>
            </a:pPr>
            <a:r>
              <a:rPr lang="zh-CN" altLang="en-US"/>
              <a:t>广播地址</a:t>
            </a:r>
            <a:r>
              <a:rPr lang="en-US" altLang="zh-CN"/>
              <a:t>: 255.255.255.255</a:t>
            </a:r>
          </a:p>
        </p:txBody>
      </p:sp>
      <p:sp>
        <p:nvSpPr>
          <p:cNvPr id="17411" name="Rectangle 3"/>
          <p:cNvSpPr>
            <a:spLocks noChangeArrowheads="1"/>
          </p:cNvSpPr>
          <p:nvPr/>
        </p:nvSpPr>
        <p:spPr bwMode="auto">
          <a:xfrm>
            <a:off x="2668588" y="22018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12" name="Rectangle 4"/>
          <p:cNvSpPr>
            <a:spLocks noChangeArrowheads="1"/>
          </p:cNvSpPr>
          <p:nvPr/>
        </p:nvSpPr>
        <p:spPr bwMode="auto">
          <a:xfrm>
            <a:off x="3887788" y="2201863"/>
            <a:ext cx="4038600" cy="381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Multicast group ID</a:t>
            </a:r>
          </a:p>
        </p:txBody>
      </p:sp>
      <p:sp>
        <p:nvSpPr>
          <p:cNvPr id="17413" name="Rectangle 5"/>
          <p:cNvSpPr>
            <a:spLocks noChangeArrowheads="1"/>
          </p:cNvSpPr>
          <p:nvPr/>
        </p:nvSpPr>
        <p:spPr bwMode="auto">
          <a:xfrm>
            <a:off x="2973388" y="22018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14" name="Text Box 6"/>
          <p:cNvSpPr txBox="1">
            <a:spLocks noChangeArrowheads="1"/>
          </p:cNvSpPr>
          <p:nvPr/>
        </p:nvSpPr>
        <p:spPr bwMode="auto">
          <a:xfrm>
            <a:off x="2668588" y="1897063"/>
            <a:ext cx="480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600">
                <a:solidFill>
                  <a:schemeClr val="tx1"/>
                </a:solidFill>
                <a:latin typeface="Tahoma" panose="020B0604030504040204" pitchFamily="34" charset="0"/>
              </a:rPr>
              <a:t>1   1   1   1                                28</a:t>
            </a:r>
          </a:p>
        </p:txBody>
      </p:sp>
      <p:sp>
        <p:nvSpPr>
          <p:cNvPr id="17415" name="Text Box 7"/>
          <p:cNvSpPr txBox="1">
            <a:spLocks noChangeArrowheads="1"/>
          </p:cNvSpPr>
          <p:nvPr/>
        </p:nvSpPr>
        <p:spPr bwMode="auto">
          <a:xfrm>
            <a:off x="8307389" y="2201864"/>
            <a:ext cx="1006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tx1"/>
                </a:solidFill>
                <a:latin typeface="Tahoma" panose="020B0604030504040204" pitchFamily="34" charset="0"/>
              </a:rPr>
              <a:t>Class D</a:t>
            </a:r>
          </a:p>
        </p:txBody>
      </p:sp>
      <p:sp>
        <p:nvSpPr>
          <p:cNvPr id="17416" name="Rectangle 8"/>
          <p:cNvSpPr>
            <a:spLocks noChangeArrowheads="1"/>
          </p:cNvSpPr>
          <p:nvPr/>
        </p:nvSpPr>
        <p:spPr bwMode="auto">
          <a:xfrm>
            <a:off x="3278188" y="22018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17" name="Rectangle 9"/>
          <p:cNvSpPr>
            <a:spLocks noChangeArrowheads="1"/>
          </p:cNvSpPr>
          <p:nvPr/>
        </p:nvSpPr>
        <p:spPr bwMode="auto">
          <a:xfrm>
            <a:off x="3582988" y="22018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0</a:t>
            </a:r>
          </a:p>
        </p:txBody>
      </p:sp>
      <p:sp>
        <p:nvSpPr>
          <p:cNvPr id="17418" name="Rectangle 10"/>
          <p:cNvSpPr>
            <a:spLocks noChangeArrowheads="1"/>
          </p:cNvSpPr>
          <p:nvPr/>
        </p:nvSpPr>
        <p:spPr bwMode="auto">
          <a:xfrm>
            <a:off x="2668588" y="43354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19" name="Rectangle 11"/>
          <p:cNvSpPr>
            <a:spLocks noChangeArrowheads="1"/>
          </p:cNvSpPr>
          <p:nvPr/>
        </p:nvSpPr>
        <p:spPr bwMode="auto">
          <a:xfrm>
            <a:off x="4192588" y="4335463"/>
            <a:ext cx="3733800" cy="381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Reserved for future use</a:t>
            </a:r>
          </a:p>
        </p:txBody>
      </p:sp>
      <p:sp>
        <p:nvSpPr>
          <p:cNvPr id="17420" name="Rectangle 12"/>
          <p:cNvSpPr>
            <a:spLocks noChangeArrowheads="1"/>
          </p:cNvSpPr>
          <p:nvPr/>
        </p:nvSpPr>
        <p:spPr bwMode="auto">
          <a:xfrm>
            <a:off x="2973388" y="43354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21" name="Text Box 13"/>
          <p:cNvSpPr txBox="1">
            <a:spLocks noChangeArrowheads="1"/>
          </p:cNvSpPr>
          <p:nvPr/>
        </p:nvSpPr>
        <p:spPr bwMode="auto">
          <a:xfrm>
            <a:off x="2668588" y="4030663"/>
            <a:ext cx="480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600">
                <a:solidFill>
                  <a:schemeClr val="tx1"/>
                </a:solidFill>
                <a:latin typeface="Tahoma" panose="020B0604030504040204" pitchFamily="34" charset="0"/>
              </a:rPr>
              <a:t>1   1   1   1   1                            27</a:t>
            </a:r>
          </a:p>
        </p:txBody>
      </p:sp>
      <p:sp>
        <p:nvSpPr>
          <p:cNvPr id="17422" name="Text Box 14"/>
          <p:cNvSpPr txBox="1">
            <a:spLocks noChangeArrowheads="1"/>
          </p:cNvSpPr>
          <p:nvPr/>
        </p:nvSpPr>
        <p:spPr bwMode="auto">
          <a:xfrm>
            <a:off x="8307388" y="4335464"/>
            <a:ext cx="976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tx1"/>
                </a:solidFill>
                <a:latin typeface="Tahoma" panose="020B0604030504040204" pitchFamily="34" charset="0"/>
              </a:rPr>
              <a:t>Class E</a:t>
            </a:r>
          </a:p>
        </p:txBody>
      </p:sp>
      <p:sp>
        <p:nvSpPr>
          <p:cNvPr id="17423" name="Rectangle 15"/>
          <p:cNvSpPr>
            <a:spLocks noChangeArrowheads="1"/>
          </p:cNvSpPr>
          <p:nvPr/>
        </p:nvSpPr>
        <p:spPr bwMode="auto">
          <a:xfrm>
            <a:off x="3278188" y="43354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24" name="Rectangle 16"/>
          <p:cNvSpPr>
            <a:spLocks noChangeArrowheads="1"/>
          </p:cNvSpPr>
          <p:nvPr/>
        </p:nvSpPr>
        <p:spPr bwMode="auto">
          <a:xfrm>
            <a:off x="3887788" y="43354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0</a:t>
            </a:r>
          </a:p>
        </p:txBody>
      </p:sp>
      <p:sp>
        <p:nvSpPr>
          <p:cNvPr id="17425" name="Rectangle 17"/>
          <p:cNvSpPr>
            <a:spLocks noChangeArrowheads="1"/>
          </p:cNvSpPr>
          <p:nvPr/>
        </p:nvSpPr>
        <p:spPr bwMode="auto">
          <a:xfrm>
            <a:off x="3582988" y="43354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26" name="Rectangle 18"/>
          <p:cNvSpPr>
            <a:spLocks noGrp="1" noChangeArrowheads="1"/>
          </p:cNvSpPr>
          <p:nvPr>
            <p:ph type="title"/>
          </p:nvPr>
        </p:nvSpPr>
        <p:spPr bwMode="auto">
          <a:xfrm>
            <a:off x="2209800" y="3762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其他 </a:t>
            </a:r>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a:t>
            </a:r>
          </a:p>
        </p:txBody>
      </p:sp>
    </p:spTree>
  </p:cSld>
  <p:clrMapOvr>
    <a:masterClrMapping/>
  </p:clrMapOvr>
  <p:transition spd="med">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bwMode="auto">
          <a:xfrm>
            <a:off x="2209800" y="3968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ctr" eaLnBrk="1" hangingPunct="1"/>
            <a:r>
              <a:rPr lang="en-US" altLang="zh-CN" sz="3600">
                <a:solidFill>
                  <a:schemeClr val="hlink"/>
                </a:solidFill>
                <a:ea typeface="华文行楷" panose="02010800040101010101" pitchFamily="2" charset="-122"/>
              </a:rPr>
              <a:t>IP</a:t>
            </a:r>
            <a:r>
              <a:rPr lang="zh-CN" altLang="en-US" sz="3600">
                <a:solidFill>
                  <a:schemeClr val="hlink"/>
                </a:solidFill>
                <a:ea typeface="华文行楷" panose="02010800040101010101" pitchFamily="2" charset="-122"/>
              </a:rPr>
              <a:t>地址范围</a:t>
            </a:r>
            <a:r>
              <a:rPr kumimoji="0" lang="zh-CN" altLang="en-US">
                <a:latin typeface="Arial" panose="020B0604020202020204" pitchFamily="34" charset="0"/>
              </a:rPr>
              <a:t/>
            </a:r>
            <a:br>
              <a:rPr kumimoji="0" lang="zh-CN" altLang="en-US">
                <a:latin typeface="Arial" panose="020B0604020202020204" pitchFamily="34" charset="0"/>
              </a:rPr>
            </a:br>
            <a:endParaRPr kumimoji="0" lang="zh-CN" altLang="en-US" b="1">
              <a:latin typeface="Times New Roman" panose="02020603050405020304" pitchFamily="18" charset="0"/>
            </a:endParaRPr>
          </a:p>
        </p:txBody>
      </p:sp>
      <p:sp>
        <p:nvSpPr>
          <p:cNvPr id="1848324" name="Text Box 4"/>
          <p:cNvSpPr txBox="1">
            <a:spLocks noChangeArrowheads="1"/>
          </p:cNvSpPr>
          <p:nvPr/>
        </p:nvSpPr>
        <p:spPr bwMode="auto">
          <a:xfrm>
            <a:off x="2897189" y="1304926"/>
            <a:ext cx="6618287" cy="441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90525" indent="-390525">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10000"/>
              </a:spcBef>
            </a:pPr>
            <a:r>
              <a:rPr lang="en-US" altLang="zh-CN" sz="2600">
                <a:solidFill>
                  <a:srgbClr val="000000"/>
                </a:solidFill>
                <a:latin typeface="Arial" panose="020B0604020202020204" pitchFamily="34" charset="0"/>
              </a:rPr>
              <a:t>• </a:t>
            </a:r>
            <a:r>
              <a:rPr lang="zh-CN" altLang="en-US" sz="2600">
                <a:solidFill>
                  <a:srgbClr val="000000"/>
                </a:solidFill>
                <a:latin typeface="Arial" panose="020B0604020202020204" pitchFamily="34" charset="0"/>
              </a:rPr>
              <a:t>总共有 </a:t>
            </a:r>
            <a:r>
              <a:rPr lang="en-US" altLang="zh-CN" sz="2600" i="1">
                <a:solidFill>
                  <a:srgbClr val="0000FF"/>
                </a:solidFill>
                <a:latin typeface="Arial" panose="020B0604020202020204" pitchFamily="34" charset="0"/>
              </a:rPr>
              <a:t>2</a:t>
            </a:r>
            <a:r>
              <a:rPr lang="en-US" altLang="zh-CN" sz="2600" i="1" baseline="30000">
                <a:solidFill>
                  <a:srgbClr val="0000FF"/>
                </a:solidFill>
                <a:latin typeface="Arial" panose="020B0604020202020204" pitchFamily="34" charset="0"/>
              </a:rPr>
              <a:t>32</a:t>
            </a:r>
            <a:r>
              <a:rPr lang="en-US" altLang="zh-CN" sz="2600" i="1">
                <a:solidFill>
                  <a:srgbClr val="0000FF"/>
                </a:solidFill>
                <a:latin typeface="Arial" panose="020B0604020202020204" pitchFamily="34" charset="0"/>
              </a:rPr>
              <a:t> = 4,294,967,296  </a:t>
            </a:r>
            <a:r>
              <a:rPr lang="zh-CN" altLang="en-US" sz="2600" i="1">
                <a:solidFill>
                  <a:srgbClr val="0000FF"/>
                </a:solidFill>
                <a:latin typeface="Arial" panose="020B0604020202020204" pitchFamily="34" charset="0"/>
              </a:rPr>
              <a:t>个</a:t>
            </a:r>
            <a:r>
              <a:rPr lang="en-US" altLang="zh-CN" sz="2600">
                <a:solidFill>
                  <a:srgbClr val="000000"/>
                </a:solidFill>
                <a:latin typeface="Arial" panose="020B0604020202020204" pitchFamily="34" charset="0"/>
              </a:rPr>
              <a:t>IP </a:t>
            </a:r>
            <a:r>
              <a:rPr lang="zh-CN" altLang="en-US" sz="2600">
                <a:solidFill>
                  <a:srgbClr val="000000"/>
                </a:solidFill>
                <a:latin typeface="Arial" panose="020B0604020202020204" pitchFamily="34" charset="0"/>
              </a:rPr>
              <a:t>地址</a:t>
            </a:r>
            <a:r>
              <a:rPr lang="en-US" altLang="zh-CN" sz="2600">
                <a:solidFill>
                  <a:srgbClr val="000000"/>
                </a:solidFill>
                <a:latin typeface="Arial" panose="020B0604020202020204" pitchFamily="34" charset="0"/>
              </a:rPr>
              <a:t>.</a:t>
            </a:r>
          </a:p>
          <a:p>
            <a:pPr>
              <a:spcBef>
                <a:spcPct val="10000"/>
              </a:spcBef>
            </a:pPr>
            <a:r>
              <a:rPr lang="en-US" altLang="zh-CN" sz="2600" b="1">
                <a:solidFill>
                  <a:srgbClr val="FF0000"/>
                </a:solidFill>
                <a:latin typeface="Arial" panose="020B0604020202020204" pitchFamily="34" charset="0"/>
              </a:rPr>
              <a:t>A </a:t>
            </a:r>
            <a:r>
              <a:rPr lang="zh-CN" altLang="en-US" sz="2600" b="1">
                <a:solidFill>
                  <a:srgbClr val="FF0000"/>
                </a:solidFill>
                <a:latin typeface="Arial" panose="020B0604020202020204" pitchFamily="34" charset="0"/>
              </a:rPr>
              <a:t>类</a:t>
            </a:r>
            <a:r>
              <a:rPr lang="en-US" altLang="zh-CN" sz="2600" b="1">
                <a:solidFill>
                  <a:srgbClr val="FF0000"/>
                </a:solidFill>
                <a:latin typeface="Arial" panose="020B0604020202020204" pitchFamily="34" charset="0"/>
              </a:rPr>
              <a:t>(</a:t>
            </a:r>
            <a:r>
              <a:rPr lang="zh-CN" altLang="en-US" sz="2600" b="1">
                <a:solidFill>
                  <a:srgbClr val="FF0000"/>
                </a:solidFill>
                <a:latin typeface="Arial" panose="020B0604020202020204" pitchFamily="34" charset="0"/>
              </a:rPr>
              <a:t>前缀 </a:t>
            </a:r>
            <a:r>
              <a:rPr lang="en-US" altLang="zh-CN" sz="2600" b="1">
                <a:solidFill>
                  <a:srgbClr val="FF0000"/>
                </a:solidFill>
                <a:latin typeface="Arial" panose="020B0604020202020204" pitchFamily="34" charset="0"/>
              </a:rPr>
              <a:t>/8): </a:t>
            </a:r>
            <a:r>
              <a:rPr lang="en-US" altLang="zh-CN" sz="2600" b="1">
                <a:solidFill>
                  <a:srgbClr val="000000"/>
                </a:solidFill>
                <a:latin typeface="Arial" panose="020B0604020202020204" pitchFamily="34" charset="0"/>
              </a:rPr>
              <a:t>7 </a:t>
            </a:r>
            <a:r>
              <a:rPr lang="zh-CN" altLang="en-US" sz="2600" b="1">
                <a:solidFill>
                  <a:srgbClr val="000000"/>
                </a:solidFill>
                <a:latin typeface="Arial" panose="020B0604020202020204" pitchFamily="34" charset="0"/>
              </a:rPr>
              <a:t>位标识网络地址</a:t>
            </a:r>
          </a:p>
          <a:p>
            <a:pPr>
              <a:spcBef>
                <a:spcPct val="10000"/>
              </a:spcBef>
              <a:buClr>
                <a:schemeClr val="tx2"/>
              </a:buClr>
              <a:buFont typeface="Wingdings" panose="05000000000000000000" pitchFamily="2" charset="2"/>
              <a:buChar char="ü"/>
            </a:pPr>
            <a:r>
              <a:rPr lang="zh-CN" altLang="en-US" sz="2600">
                <a:solidFill>
                  <a:srgbClr val="000000"/>
                </a:solidFill>
                <a:latin typeface="Arial" panose="020B0604020202020204" pitchFamily="34" charset="0"/>
              </a:rPr>
              <a:t>只有 </a:t>
            </a:r>
            <a:r>
              <a:rPr lang="en-US" altLang="zh-CN" sz="2600">
                <a:solidFill>
                  <a:srgbClr val="000000"/>
                </a:solidFill>
                <a:latin typeface="Arial" panose="020B0604020202020204" pitchFamily="34" charset="0"/>
              </a:rPr>
              <a:t>127 </a:t>
            </a:r>
            <a:r>
              <a:rPr lang="zh-CN" altLang="en-US" sz="2600">
                <a:solidFill>
                  <a:srgbClr val="000000"/>
                </a:solidFill>
                <a:latin typeface="Arial" panose="020B0604020202020204" pitchFamily="34" charset="0"/>
              </a:rPr>
              <a:t>个 </a:t>
            </a:r>
            <a:r>
              <a:rPr lang="en-US" altLang="zh-CN" sz="2600">
                <a:solidFill>
                  <a:srgbClr val="000000"/>
                </a:solidFill>
                <a:latin typeface="Arial" panose="020B0604020202020204" pitchFamily="34" charset="0"/>
              </a:rPr>
              <a:t>A </a:t>
            </a:r>
            <a:r>
              <a:rPr lang="zh-CN" altLang="en-US" sz="2600">
                <a:solidFill>
                  <a:srgbClr val="000000"/>
                </a:solidFill>
                <a:latin typeface="Arial" panose="020B0604020202020204" pitchFamily="34" charset="0"/>
              </a:rPr>
              <a:t>类地址（</a:t>
            </a:r>
            <a:r>
              <a:rPr lang="en-US" altLang="zh-CN" sz="2600">
                <a:solidFill>
                  <a:srgbClr val="000000"/>
                </a:solidFill>
                <a:latin typeface="Arial" panose="020B0604020202020204" pitchFamily="34" charset="0"/>
              </a:rPr>
              <a:t>1~127</a:t>
            </a:r>
            <a:r>
              <a:rPr lang="zh-CN" altLang="en-US" sz="2600">
                <a:solidFill>
                  <a:srgbClr val="000000"/>
                </a:solidFill>
                <a:latin typeface="Arial" panose="020B0604020202020204" pitchFamily="34" charset="0"/>
              </a:rPr>
              <a:t>）</a:t>
            </a:r>
          </a:p>
          <a:p>
            <a:pPr>
              <a:spcBef>
                <a:spcPct val="10000"/>
              </a:spcBef>
              <a:buClr>
                <a:schemeClr val="tx2"/>
              </a:buClr>
              <a:buFont typeface="Wingdings" panose="05000000000000000000" pitchFamily="2" charset="2"/>
              <a:buChar char="ü"/>
            </a:pPr>
            <a:r>
              <a:rPr lang="zh-CN" altLang="en-US" sz="2600">
                <a:solidFill>
                  <a:srgbClr val="000000"/>
                </a:solidFill>
                <a:latin typeface="Arial" panose="020B0604020202020204" pitchFamily="34" charset="0"/>
              </a:rPr>
              <a:t>每个网络有 </a:t>
            </a:r>
            <a:r>
              <a:rPr lang="en-US" altLang="zh-CN" sz="2600">
                <a:solidFill>
                  <a:srgbClr val="0000FF"/>
                </a:solidFill>
                <a:latin typeface="Arial" panose="020B0604020202020204" pitchFamily="34" charset="0"/>
              </a:rPr>
              <a:t>1</a:t>
            </a:r>
            <a:r>
              <a:rPr lang="zh-CN" altLang="en-US" sz="2600">
                <a:solidFill>
                  <a:srgbClr val="0000FF"/>
                </a:solidFill>
                <a:latin typeface="Arial" panose="020B0604020202020204" pitchFamily="34" charset="0"/>
              </a:rPr>
              <a:t>千</a:t>
            </a:r>
            <a:r>
              <a:rPr lang="en-US" altLang="zh-CN" sz="2600">
                <a:solidFill>
                  <a:srgbClr val="0000FF"/>
                </a:solidFill>
                <a:latin typeface="Arial" panose="020B0604020202020204" pitchFamily="34" charset="0"/>
              </a:rPr>
              <a:t>6 </a:t>
            </a:r>
            <a:r>
              <a:rPr lang="zh-CN" altLang="en-US" sz="2600">
                <a:solidFill>
                  <a:srgbClr val="0000FF"/>
                </a:solidFill>
                <a:latin typeface="Arial" panose="020B0604020202020204" pitchFamily="34" charset="0"/>
              </a:rPr>
              <a:t>百万 </a:t>
            </a:r>
            <a:r>
              <a:rPr lang="en-US" altLang="zh-CN" sz="2600">
                <a:solidFill>
                  <a:srgbClr val="000000"/>
                </a:solidFill>
                <a:latin typeface="Arial" panose="020B0604020202020204" pitchFamily="34" charset="0"/>
              </a:rPr>
              <a:t>(</a:t>
            </a:r>
            <a:r>
              <a:rPr lang="en-US" altLang="zh-CN" sz="2600" i="1">
                <a:solidFill>
                  <a:srgbClr val="0000FF"/>
                </a:solidFill>
                <a:latin typeface="Arial" panose="020B0604020202020204" pitchFamily="34" charset="0"/>
              </a:rPr>
              <a:t>2</a:t>
            </a:r>
            <a:r>
              <a:rPr lang="en-US" altLang="zh-CN" sz="2600" i="1" baseline="30000">
                <a:solidFill>
                  <a:srgbClr val="0000FF"/>
                </a:solidFill>
                <a:latin typeface="Arial" panose="020B0604020202020204" pitchFamily="34" charset="0"/>
              </a:rPr>
              <a:t>24</a:t>
            </a:r>
            <a:r>
              <a:rPr lang="en-US" altLang="zh-CN" sz="2600" i="1">
                <a:solidFill>
                  <a:srgbClr val="0000FF"/>
                </a:solidFill>
                <a:latin typeface="Arial" panose="020B0604020202020204" pitchFamily="34" charset="0"/>
              </a:rPr>
              <a:t>-2</a:t>
            </a:r>
            <a:r>
              <a:rPr lang="en-US" altLang="zh-CN" sz="2600">
                <a:solidFill>
                  <a:srgbClr val="000000"/>
                </a:solidFill>
                <a:latin typeface="Arial" panose="020B0604020202020204" pitchFamily="34" charset="0"/>
              </a:rPr>
              <a:t>) </a:t>
            </a:r>
            <a:r>
              <a:rPr lang="zh-CN" altLang="en-US" sz="2600">
                <a:solidFill>
                  <a:srgbClr val="000000"/>
                </a:solidFill>
                <a:latin typeface="Arial" panose="020B0604020202020204" pitchFamily="34" charset="0"/>
              </a:rPr>
              <a:t>主机</a:t>
            </a:r>
            <a:r>
              <a:rPr lang="en-US" altLang="zh-CN" sz="2600">
                <a:solidFill>
                  <a:srgbClr val="000000"/>
                </a:solidFill>
                <a:latin typeface="Arial" panose="020B0604020202020204" pitchFamily="34" charset="0"/>
              </a:rPr>
              <a:t>.</a:t>
            </a:r>
          </a:p>
          <a:p>
            <a:pPr>
              <a:spcBef>
                <a:spcPct val="10000"/>
              </a:spcBef>
            </a:pPr>
            <a:r>
              <a:rPr lang="en-US" altLang="zh-CN" sz="2600" b="1">
                <a:solidFill>
                  <a:srgbClr val="FF0000"/>
                </a:solidFill>
                <a:latin typeface="Arial" panose="020B0604020202020204" pitchFamily="34" charset="0"/>
              </a:rPr>
              <a:t>B </a:t>
            </a:r>
            <a:r>
              <a:rPr lang="zh-CN" altLang="en-US" sz="2600" b="1">
                <a:solidFill>
                  <a:srgbClr val="FF0000"/>
                </a:solidFill>
                <a:latin typeface="Arial" panose="020B0604020202020204" pitchFamily="34" charset="0"/>
              </a:rPr>
              <a:t>类</a:t>
            </a:r>
            <a:r>
              <a:rPr lang="en-US" altLang="zh-CN" sz="2600" b="1">
                <a:solidFill>
                  <a:srgbClr val="FF0000"/>
                </a:solidFill>
                <a:latin typeface="Arial" panose="020B0604020202020204" pitchFamily="34" charset="0"/>
              </a:rPr>
              <a:t>(</a:t>
            </a:r>
            <a:r>
              <a:rPr lang="zh-CN" altLang="en-US" sz="2600" b="1">
                <a:solidFill>
                  <a:srgbClr val="FF0000"/>
                </a:solidFill>
                <a:latin typeface="Arial" panose="020B0604020202020204" pitchFamily="34" charset="0"/>
              </a:rPr>
              <a:t>前缀</a:t>
            </a:r>
            <a:r>
              <a:rPr lang="en-US" altLang="zh-CN" sz="2600" b="1">
                <a:solidFill>
                  <a:srgbClr val="FF0000"/>
                </a:solidFill>
                <a:latin typeface="Arial" panose="020B0604020202020204" pitchFamily="34" charset="0"/>
              </a:rPr>
              <a:t>/16): </a:t>
            </a:r>
            <a:r>
              <a:rPr lang="en-US" altLang="zh-CN" sz="2600" b="1">
                <a:solidFill>
                  <a:srgbClr val="000000"/>
                </a:solidFill>
                <a:latin typeface="Arial" panose="020B0604020202020204" pitchFamily="34" charset="0"/>
              </a:rPr>
              <a:t>14</a:t>
            </a:r>
            <a:r>
              <a:rPr lang="zh-CN" altLang="en-US" sz="2600" b="1">
                <a:solidFill>
                  <a:srgbClr val="000000"/>
                </a:solidFill>
                <a:latin typeface="Arial" panose="020B0604020202020204" pitchFamily="34" charset="0"/>
              </a:rPr>
              <a:t>位标识网络地址</a:t>
            </a:r>
          </a:p>
          <a:p>
            <a:pPr>
              <a:spcBef>
                <a:spcPct val="10000"/>
              </a:spcBef>
              <a:buClr>
                <a:schemeClr val="tx2"/>
              </a:buClr>
              <a:buFont typeface="Wingdings" panose="05000000000000000000" pitchFamily="2" charset="2"/>
              <a:buChar char="ü"/>
            </a:pPr>
            <a:r>
              <a:rPr lang="zh-CN" altLang="en-US" sz="2600">
                <a:solidFill>
                  <a:srgbClr val="000000"/>
                </a:solidFill>
                <a:latin typeface="Arial" panose="020B0604020202020204" pitchFamily="34" charset="0"/>
              </a:rPr>
              <a:t>大约 </a:t>
            </a:r>
            <a:r>
              <a:rPr lang="en-US" altLang="zh-CN" sz="2600">
                <a:solidFill>
                  <a:srgbClr val="000000"/>
                </a:solidFill>
                <a:latin typeface="Arial" panose="020B0604020202020204" pitchFamily="34" charset="0"/>
              </a:rPr>
              <a:t>16,000 (</a:t>
            </a:r>
            <a:r>
              <a:rPr lang="en-US" altLang="zh-CN" sz="2600" i="1">
                <a:solidFill>
                  <a:srgbClr val="0000FF"/>
                </a:solidFill>
                <a:latin typeface="Arial" panose="020B0604020202020204" pitchFamily="34" charset="0"/>
              </a:rPr>
              <a:t>2</a:t>
            </a:r>
            <a:r>
              <a:rPr lang="en-US" altLang="zh-CN" sz="2600" i="1" baseline="30000">
                <a:solidFill>
                  <a:srgbClr val="0000FF"/>
                </a:solidFill>
                <a:latin typeface="Arial" panose="020B0604020202020204" pitchFamily="34" charset="0"/>
              </a:rPr>
              <a:t>16</a:t>
            </a:r>
            <a:r>
              <a:rPr lang="en-US" altLang="zh-CN" sz="2600" i="1">
                <a:solidFill>
                  <a:srgbClr val="0000FF"/>
                </a:solidFill>
                <a:latin typeface="Arial" panose="020B0604020202020204" pitchFamily="34" charset="0"/>
              </a:rPr>
              <a:t>-2</a:t>
            </a:r>
            <a:r>
              <a:rPr lang="en-US" altLang="zh-CN" sz="2600">
                <a:solidFill>
                  <a:srgbClr val="000000"/>
                </a:solidFill>
                <a:latin typeface="Arial" panose="020B0604020202020204" pitchFamily="34" charset="0"/>
              </a:rPr>
              <a:t>) </a:t>
            </a:r>
            <a:r>
              <a:rPr lang="zh-CN" altLang="en-US" sz="2600">
                <a:solidFill>
                  <a:srgbClr val="000000"/>
                </a:solidFill>
                <a:latin typeface="Arial" panose="020B0604020202020204" pitchFamily="34" charset="0"/>
              </a:rPr>
              <a:t>个网络 </a:t>
            </a:r>
          </a:p>
          <a:p>
            <a:pPr>
              <a:spcBef>
                <a:spcPct val="10000"/>
              </a:spcBef>
              <a:buClr>
                <a:schemeClr val="tx2"/>
              </a:buClr>
              <a:buFont typeface="Wingdings" panose="05000000000000000000" pitchFamily="2" charset="2"/>
              <a:buChar char="ü"/>
            </a:pPr>
            <a:r>
              <a:rPr lang="zh-CN" altLang="en-US" sz="2600">
                <a:solidFill>
                  <a:srgbClr val="000000"/>
                </a:solidFill>
                <a:latin typeface="Arial" panose="020B0604020202020204" pitchFamily="34" charset="0"/>
              </a:rPr>
              <a:t>每个网络大约 </a:t>
            </a:r>
            <a:r>
              <a:rPr lang="en-US" altLang="zh-CN" sz="2600">
                <a:solidFill>
                  <a:srgbClr val="000000"/>
                </a:solidFill>
                <a:latin typeface="Arial" panose="020B0604020202020204" pitchFamily="34" charset="0"/>
              </a:rPr>
              <a:t>65,000 (</a:t>
            </a:r>
            <a:r>
              <a:rPr lang="en-US" altLang="zh-CN" sz="2600" i="1">
                <a:solidFill>
                  <a:srgbClr val="0000FF"/>
                </a:solidFill>
                <a:latin typeface="Arial" panose="020B0604020202020204" pitchFamily="34" charset="0"/>
              </a:rPr>
              <a:t>2</a:t>
            </a:r>
            <a:r>
              <a:rPr lang="en-US" altLang="zh-CN" sz="2600" i="1" baseline="30000">
                <a:solidFill>
                  <a:srgbClr val="0000FF"/>
                </a:solidFill>
                <a:latin typeface="Arial" panose="020B0604020202020204" pitchFamily="34" charset="0"/>
              </a:rPr>
              <a:t>16</a:t>
            </a:r>
            <a:r>
              <a:rPr lang="en-US" altLang="zh-CN" sz="2600" i="1">
                <a:solidFill>
                  <a:srgbClr val="0000FF"/>
                </a:solidFill>
                <a:latin typeface="Arial" panose="020B0604020202020204" pitchFamily="34" charset="0"/>
              </a:rPr>
              <a:t>-2</a:t>
            </a:r>
            <a:r>
              <a:rPr lang="en-US" altLang="zh-CN" sz="2600">
                <a:solidFill>
                  <a:srgbClr val="000000"/>
                </a:solidFill>
                <a:latin typeface="Arial" panose="020B0604020202020204" pitchFamily="34" charset="0"/>
              </a:rPr>
              <a:t>) </a:t>
            </a:r>
            <a:r>
              <a:rPr lang="zh-CN" altLang="en-US" sz="2600">
                <a:solidFill>
                  <a:srgbClr val="000000"/>
                </a:solidFill>
                <a:latin typeface="Arial" panose="020B0604020202020204" pitchFamily="34" charset="0"/>
              </a:rPr>
              <a:t>个主机</a:t>
            </a:r>
          </a:p>
          <a:p>
            <a:pPr>
              <a:spcBef>
                <a:spcPct val="10000"/>
              </a:spcBef>
            </a:pPr>
            <a:r>
              <a:rPr lang="en-US" altLang="zh-CN" sz="2600" b="1">
                <a:solidFill>
                  <a:srgbClr val="FF0000"/>
                </a:solidFill>
                <a:latin typeface="Arial" panose="020B0604020202020204" pitchFamily="34" charset="0"/>
              </a:rPr>
              <a:t>C </a:t>
            </a:r>
            <a:r>
              <a:rPr lang="zh-CN" altLang="en-US" sz="2600" b="1">
                <a:solidFill>
                  <a:srgbClr val="FF0000"/>
                </a:solidFill>
                <a:latin typeface="Arial" panose="020B0604020202020204" pitchFamily="34" charset="0"/>
              </a:rPr>
              <a:t>类</a:t>
            </a:r>
            <a:r>
              <a:rPr lang="en-US" altLang="zh-CN" sz="2600" b="1">
                <a:solidFill>
                  <a:srgbClr val="FF0000"/>
                </a:solidFill>
                <a:latin typeface="Arial" panose="020B0604020202020204" pitchFamily="34" charset="0"/>
              </a:rPr>
              <a:t>(</a:t>
            </a:r>
            <a:r>
              <a:rPr lang="zh-CN" altLang="en-US" sz="2600" b="1">
                <a:solidFill>
                  <a:srgbClr val="FF0000"/>
                </a:solidFill>
                <a:latin typeface="Arial" panose="020B0604020202020204" pitchFamily="34" charset="0"/>
              </a:rPr>
              <a:t>前缀</a:t>
            </a:r>
            <a:r>
              <a:rPr lang="en-US" altLang="zh-CN" sz="2600" b="1">
                <a:solidFill>
                  <a:srgbClr val="FF0000"/>
                </a:solidFill>
                <a:latin typeface="Arial" panose="020B0604020202020204" pitchFamily="34" charset="0"/>
              </a:rPr>
              <a:t>/24): </a:t>
            </a:r>
            <a:r>
              <a:rPr lang="en-US" altLang="zh-CN" sz="2600" b="1">
                <a:solidFill>
                  <a:srgbClr val="000000"/>
                </a:solidFill>
                <a:latin typeface="Arial" panose="020B0604020202020204" pitchFamily="34" charset="0"/>
              </a:rPr>
              <a:t>21</a:t>
            </a:r>
            <a:r>
              <a:rPr lang="zh-CN" altLang="en-US" sz="2600" b="1">
                <a:solidFill>
                  <a:srgbClr val="000000"/>
                </a:solidFill>
                <a:latin typeface="Arial" panose="020B0604020202020204" pitchFamily="34" charset="0"/>
              </a:rPr>
              <a:t>位标识网络地址</a:t>
            </a:r>
          </a:p>
          <a:p>
            <a:pPr>
              <a:spcBef>
                <a:spcPct val="10000"/>
              </a:spcBef>
              <a:buClr>
                <a:schemeClr val="tx2"/>
              </a:buClr>
              <a:buFont typeface="Wingdings" panose="05000000000000000000" pitchFamily="2" charset="2"/>
              <a:buChar char="ü"/>
            </a:pPr>
            <a:r>
              <a:rPr lang="zh-CN" altLang="en-US" sz="2600">
                <a:solidFill>
                  <a:srgbClr val="000000"/>
                </a:solidFill>
                <a:latin typeface="Arial" panose="020B0604020202020204" pitchFamily="34" charset="0"/>
              </a:rPr>
              <a:t>大约 </a:t>
            </a:r>
            <a:r>
              <a:rPr lang="en-US" altLang="zh-CN" sz="2600">
                <a:solidFill>
                  <a:srgbClr val="000000"/>
                </a:solidFill>
                <a:latin typeface="Arial" panose="020B0604020202020204" pitchFamily="34" charset="0"/>
              </a:rPr>
              <a:t>2 (</a:t>
            </a:r>
            <a:r>
              <a:rPr lang="en-US" altLang="zh-CN" sz="2600" i="1">
                <a:solidFill>
                  <a:srgbClr val="0000FF"/>
                </a:solidFill>
                <a:latin typeface="Arial" panose="020B0604020202020204" pitchFamily="34" charset="0"/>
              </a:rPr>
              <a:t>2</a:t>
            </a:r>
            <a:r>
              <a:rPr lang="en-US" altLang="zh-CN" sz="2600" i="1" baseline="30000">
                <a:solidFill>
                  <a:srgbClr val="0000FF"/>
                </a:solidFill>
                <a:latin typeface="Arial" panose="020B0604020202020204" pitchFamily="34" charset="0"/>
              </a:rPr>
              <a:t>24</a:t>
            </a:r>
            <a:r>
              <a:rPr lang="en-US" altLang="zh-CN" sz="2600" i="1">
                <a:solidFill>
                  <a:srgbClr val="0000FF"/>
                </a:solidFill>
                <a:latin typeface="Arial" panose="020B0604020202020204" pitchFamily="34" charset="0"/>
              </a:rPr>
              <a:t>-2</a:t>
            </a:r>
            <a:r>
              <a:rPr lang="en-US" altLang="zh-CN" sz="2600">
                <a:solidFill>
                  <a:srgbClr val="000000"/>
                </a:solidFill>
                <a:latin typeface="Arial" panose="020B0604020202020204" pitchFamily="34" charset="0"/>
              </a:rPr>
              <a:t>) </a:t>
            </a:r>
            <a:r>
              <a:rPr lang="zh-CN" altLang="en-US" sz="2600">
                <a:solidFill>
                  <a:srgbClr val="000000"/>
                </a:solidFill>
                <a:latin typeface="Arial" panose="020B0604020202020204" pitchFamily="34" charset="0"/>
              </a:rPr>
              <a:t>个网络</a:t>
            </a:r>
            <a:r>
              <a:rPr lang="en-US" altLang="zh-CN" sz="2600">
                <a:solidFill>
                  <a:srgbClr val="000000"/>
                </a:solidFill>
                <a:latin typeface="Arial" panose="020B0604020202020204" pitchFamily="34" charset="0"/>
              </a:rPr>
              <a:t>(</a:t>
            </a:r>
            <a:r>
              <a:rPr lang="zh-CN" altLang="en-US" sz="2600">
                <a:solidFill>
                  <a:srgbClr val="000000"/>
                </a:solidFill>
                <a:latin typeface="Arial" panose="020B0604020202020204" pitchFamily="34" charset="0"/>
              </a:rPr>
              <a:t>百万级别</a:t>
            </a:r>
            <a:r>
              <a:rPr lang="en-US" altLang="zh-CN" sz="2600">
                <a:solidFill>
                  <a:srgbClr val="000000"/>
                </a:solidFill>
                <a:latin typeface="Arial" panose="020B0604020202020204" pitchFamily="34" charset="0"/>
              </a:rPr>
              <a:t>)</a:t>
            </a:r>
          </a:p>
          <a:p>
            <a:pPr>
              <a:spcBef>
                <a:spcPct val="10000"/>
              </a:spcBef>
              <a:buClr>
                <a:schemeClr val="tx2"/>
              </a:buClr>
              <a:buFont typeface="Wingdings" panose="05000000000000000000" pitchFamily="2" charset="2"/>
              <a:buChar char="ü"/>
            </a:pPr>
            <a:r>
              <a:rPr lang="zh-CN" altLang="en-US" sz="2600">
                <a:solidFill>
                  <a:srgbClr val="000000"/>
                </a:solidFill>
                <a:latin typeface="Arial" panose="020B0604020202020204" pitchFamily="34" charset="0"/>
              </a:rPr>
              <a:t>每个网络只有 </a:t>
            </a:r>
            <a:r>
              <a:rPr lang="en-US" altLang="zh-CN" sz="2600">
                <a:solidFill>
                  <a:srgbClr val="000000"/>
                </a:solidFill>
                <a:latin typeface="Arial" panose="020B0604020202020204" pitchFamily="34" charset="0"/>
              </a:rPr>
              <a:t>254  </a:t>
            </a:r>
            <a:r>
              <a:rPr lang="zh-CN" altLang="en-US" sz="2600">
                <a:solidFill>
                  <a:srgbClr val="000000"/>
                </a:solidFill>
                <a:latin typeface="Arial" panose="020B0604020202020204" pitchFamily="34" charset="0"/>
              </a:rPr>
              <a:t>个主机</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48324">
                                            <p:txEl>
                                              <p:pRg st="0" end="0"/>
                                            </p:txEl>
                                          </p:spTgt>
                                        </p:tgtEl>
                                        <p:attrNameLst>
                                          <p:attrName>style.visibility</p:attrName>
                                        </p:attrNameLst>
                                      </p:cBhvr>
                                      <p:to>
                                        <p:strVal val="visible"/>
                                      </p:to>
                                    </p:set>
                                    <p:anim calcmode="lin" valueType="num">
                                      <p:cBhvr additive="base">
                                        <p:cTn id="7" dur="500" fill="hold"/>
                                        <p:tgtEl>
                                          <p:spTgt spid="184832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4832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48324">
                                            <p:txEl>
                                              <p:pRg st="1" end="1"/>
                                            </p:txEl>
                                          </p:spTgt>
                                        </p:tgtEl>
                                        <p:attrNameLst>
                                          <p:attrName>style.visibility</p:attrName>
                                        </p:attrNameLst>
                                      </p:cBhvr>
                                      <p:to>
                                        <p:strVal val="visible"/>
                                      </p:to>
                                    </p:set>
                                    <p:anim calcmode="lin" valueType="num">
                                      <p:cBhvr additive="base">
                                        <p:cTn id="13" dur="500" fill="hold"/>
                                        <p:tgtEl>
                                          <p:spTgt spid="1848324">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4832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48324">
                                            <p:txEl>
                                              <p:pRg st="2" end="2"/>
                                            </p:txEl>
                                          </p:spTgt>
                                        </p:tgtEl>
                                        <p:attrNameLst>
                                          <p:attrName>style.visibility</p:attrName>
                                        </p:attrNameLst>
                                      </p:cBhvr>
                                      <p:to>
                                        <p:strVal val="visible"/>
                                      </p:to>
                                    </p:set>
                                    <p:anim calcmode="lin" valueType="num">
                                      <p:cBhvr additive="base">
                                        <p:cTn id="19" dur="500" fill="hold"/>
                                        <p:tgtEl>
                                          <p:spTgt spid="1848324">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4832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48324">
                                            <p:txEl>
                                              <p:pRg st="3" end="3"/>
                                            </p:txEl>
                                          </p:spTgt>
                                        </p:tgtEl>
                                        <p:attrNameLst>
                                          <p:attrName>style.visibility</p:attrName>
                                        </p:attrNameLst>
                                      </p:cBhvr>
                                      <p:to>
                                        <p:strVal val="visible"/>
                                      </p:to>
                                    </p:set>
                                    <p:anim calcmode="lin" valueType="num">
                                      <p:cBhvr additive="base">
                                        <p:cTn id="25" dur="500" fill="hold"/>
                                        <p:tgtEl>
                                          <p:spTgt spid="1848324">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4832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48324">
                                            <p:txEl>
                                              <p:pRg st="4" end="4"/>
                                            </p:txEl>
                                          </p:spTgt>
                                        </p:tgtEl>
                                        <p:attrNameLst>
                                          <p:attrName>style.visibility</p:attrName>
                                        </p:attrNameLst>
                                      </p:cBhvr>
                                      <p:to>
                                        <p:strVal val="visible"/>
                                      </p:to>
                                    </p:set>
                                    <p:anim calcmode="lin" valueType="num">
                                      <p:cBhvr additive="base">
                                        <p:cTn id="31" dur="500" fill="hold"/>
                                        <p:tgtEl>
                                          <p:spTgt spid="1848324">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4832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48324">
                                            <p:txEl>
                                              <p:pRg st="5" end="5"/>
                                            </p:txEl>
                                          </p:spTgt>
                                        </p:tgtEl>
                                        <p:attrNameLst>
                                          <p:attrName>style.visibility</p:attrName>
                                        </p:attrNameLst>
                                      </p:cBhvr>
                                      <p:to>
                                        <p:strVal val="visible"/>
                                      </p:to>
                                    </p:set>
                                    <p:anim calcmode="lin" valueType="num">
                                      <p:cBhvr additive="base">
                                        <p:cTn id="37" dur="500" fill="hold"/>
                                        <p:tgtEl>
                                          <p:spTgt spid="1848324">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48324">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848324">
                                            <p:txEl>
                                              <p:pRg st="6" end="6"/>
                                            </p:txEl>
                                          </p:spTgt>
                                        </p:tgtEl>
                                        <p:attrNameLst>
                                          <p:attrName>style.visibility</p:attrName>
                                        </p:attrNameLst>
                                      </p:cBhvr>
                                      <p:to>
                                        <p:strVal val="visible"/>
                                      </p:to>
                                    </p:set>
                                    <p:anim calcmode="lin" valueType="num">
                                      <p:cBhvr additive="base">
                                        <p:cTn id="43" dur="500" fill="hold"/>
                                        <p:tgtEl>
                                          <p:spTgt spid="1848324">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848324">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848324">
                                            <p:txEl>
                                              <p:pRg st="7" end="7"/>
                                            </p:txEl>
                                          </p:spTgt>
                                        </p:tgtEl>
                                        <p:attrNameLst>
                                          <p:attrName>style.visibility</p:attrName>
                                        </p:attrNameLst>
                                      </p:cBhvr>
                                      <p:to>
                                        <p:strVal val="visible"/>
                                      </p:to>
                                    </p:set>
                                    <p:anim calcmode="lin" valueType="num">
                                      <p:cBhvr additive="base">
                                        <p:cTn id="49" dur="500" fill="hold"/>
                                        <p:tgtEl>
                                          <p:spTgt spid="1848324">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848324">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848324">
                                            <p:txEl>
                                              <p:pRg st="8" end="8"/>
                                            </p:txEl>
                                          </p:spTgt>
                                        </p:tgtEl>
                                        <p:attrNameLst>
                                          <p:attrName>style.visibility</p:attrName>
                                        </p:attrNameLst>
                                      </p:cBhvr>
                                      <p:to>
                                        <p:strVal val="visible"/>
                                      </p:to>
                                    </p:set>
                                    <p:anim calcmode="lin" valueType="num">
                                      <p:cBhvr additive="base">
                                        <p:cTn id="55" dur="500" fill="hold"/>
                                        <p:tgtEl>
                                          <p:spTgt spid="1848324">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848324">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1848324">
                                            <p:txEl>
                                              <p:pRg st="9" end="9"/>
                                            </p:txEl>
                                          </p:spTgt>
                                        </p:tgtEl>
                                        <p:attrNameLst>
                                          <p:attrName>style.visibility</p:attrName>
                                        </p:attrNameLst>
                                      </p:cBhvr>
                                      <p:to>
                                        <p:strVal val="visible"/>
                                      </p:to>
                                    </p:set>
                                    <p:anim calcmode="lin" valueType="num">
                                      <p:cBhvr additive="base">
                                        <p:cTn id="61" dur="500" fill="hold"/>
                                        <p:tgtEl>
                                          <p:spTgt spid="1848324">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1848324">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8324"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4"/>
          <p:cNvSpPr>
            <a:spLocks noGrp="1" noChangeArrowheads="1"/>
          </p:cNvSpPr>
          <p:nvPr>
            <p:ph type="title"/>
          </p:nvPr>
        </p:nvSpPr>
        <p:spPr bwMode="auto">
          <a:xfrm>
            <a:off x="2230438" y="3571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地址表示法</a:t>
            </a:r>
          </a:p>
        </p:txBody>
      </p:sp>
      <p:sp>
        <p:nvSpPr>
          <p:cNvPr id="19459" name="Text Box 6"/>
          <p:cNvSpPr txBox="1">
            <a:spLocks noChangeArrowheads="1"/>
          </p:cNvSpPr>
          <p:nvPr/>
        </p:nvSpPr>
        <p:spPr bwMode="auto">
          <a:xfrm>
            <a:off x="1906589" y="1277938"/>
            <a:ext cx="813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zh-CN" altLang="zh-CN"/>
          </a:p>
        </p:txBody>
      </p:sp>
      <p:sp>
        <p:nvSpPr>
          <p:cNvPr id="1867783" name="Rectangle 7"/>
          <p:cNvSpPr>
            <a:spLocks noGrp="1" noChangeArrowheads="1"/>
          </p:cNvSpPr>
          <p:nvPr>
            <p:ph type="body" idx="1"/>
          </p:nvPr>
        </p:nvSpPr>
        <p:spPr bwMode="auto">
          <a:xfrm>
            <a:off x="2105025" y="4452938"/>
            <a:ext cx="8307388" cy="1447800"/>
          </a:xfrm>
          <a:noFill/>
          <a:ln w="12700">
            <a:solidFill>
              <a:srgbClr val="CCFFCC"/>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0488" tIns="44450" rIns="90488" bIns="44450" numCol="1" rtlCol="0" anchor="t" anchorCtr="0" compatLnSpc="1">
            <a:prstTxWarp prst="textNoShape">
              <a:avLst/>
            </a:prstTxWarp>
            <a:normAutofit/>
          </a:bodyPr>
          <a:lstStyle/>
          <a:p>
            <a:pPr eaLnBrk="1" hangingPunct="1"/>
            <a:r>
              <a:rPr lang="zh-CN" altLang="en-US"/>
              <a:t>二进制</a:t>
            </a:r>
            <a:r>
              <a:rPr lang="en-US" altLang="zh-CN"/>
              <a:t>: </a:t>
            </a:r>
            <a:r>
              <a:rPr lang="en-US" altLang="zh-CN" sz="2400"/>
              <a:t>11000000 00000101 00110000 00000011</a:t>
            </a:r>
            <a:br>
              <a:rPr lang="en-US" altLang="zh-CN" sz="2400"/>
            </a:br>
            <a:r>
              <a:rPr lang="zh-CN" altLang="en-US"/>
              <a:t>十六进制</a:t>
            </a:r>
            <a:r>
              <a:rPr lang="en-US" altLang="zh-CN"/>
              <a:t>: C0:05:30:03 </a:t>
            </a:r>
            <a:br>
              <a:rPr lang="en-US" altLang="zh-CN"/>
            </a:br>
            <a:r>
              <a:rPr lang="zh-CN" altLang="en-US"/>
              <a:t>点分十进制</a:t>
            </a:r>
            <a:r>
              <a:rPr lang="en-US" altLang="zh-CN"/>
              <a:t>: 192.5.48.3</a:t>
            </a:r>
          </a:p>
        </p:txBody>
      </p:sp>
      <p:sp>
        <p:nvSpPr>
          <p:cNvPr id="19461" name="Text Box 8"/>
          <p:cNvSpPr txBox="1">
            <a:spLocks noChangeArrowheads="1"/>
          </p:cNvSpPr>
          <p:nvPr/>
        </p:nvSpPr>
        <p:spPr bwMode="auto">
          <a:xfrm>
            <a:off x="2994025" y="1130301"/>
            <a:ext cx="6129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zh-CN" altLang="zh-CN"/>
          </a:p>
        </p:txBody>
      </p:sp>
      <p:sp>
        <p:nvSpPr>
          <p:cNvPr id="19462" name="Rectangle 9"/>
          <p:cNvSpPr>
            <a:spLocks noChangeArrowheads="1"/>
          </p:cNvSpPr>
          <p:nvPr/>
        </p:nvSpPr>
        <p:spPr bwMode="auto">
          <a:xfrm>
            <a:off x="4073525" y="1420814"/>
            <a:ext cx="1082028"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Class</a:t>
            </a:r>
          </a:p>
        </p:txBody>
      </p:sp>
      <p:sp>
        <p:nvSpPr>
          <p:cNvPr id="19463" name="Rectangle 10"/>
          <p:cNvSpPr>
            <a:spLocks noChangeArrowheads="1"/>
          </p:cNvSpPr>
          <p:nvPr/>
        </p:nvSpPr>
        <p:spPr bwMode="auto">
          <a:xfrm>
            <a:off x="5411789" y="1397000"/>
            <a:ext cx="2840037"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a:solidFill>
                  <a:schemeClr val="tx1"/>
                </a:solidFill>
                <a:latin typeface="Arial" panose="020B0604020202020204" pitchFamily="34" charset="0"/>
              </a:rPr>
              <a:t>范围</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首字节</a:t>
            </a:r>
            <a:r>
              <a:rPr lang="en-US" altLang="zh-CN">
                <a:solidFill>
                  <a:schemeClr val="tx1"/>
                </a:solidFill>
                <a:latin typeface="Arial" panose="020B0604020202020204" pitchFamily="34" charset="0"/>
              </a:rPr>
              <a:t>)</a:t>
            </a:r>
          </a:p>
        </p:txBody>
      </p:sp>
      <p:sp>
        <p:nvSpPr>
          <p:cNvPr id="19464" name="Rectangle 11"/>
          <p:cNvSpPr>
            <a:spLocks noChangeArrowheads="1"/>
          </p:cNvSpPr>
          <p:nvPr/>
        </p:nvSpPr>
        <p:spPr bwMode="auto">
          <a:xfrm>
            <a:off x="4335464" y="1893889"/>
            <a:ext cx="421591"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A</a:t>
            </a:r>
          </a:p>
        </p:txBody>
      </p:sp>
      <p:sp>
        <p:nvSpPr>
          <p:cNvPr id="19465" name="Rectangle 12"/>
          <p:cNvSpPr>
            <a:spLocks noChangeArrowheads="1"/>
          </p:cNvSpPr>
          <p:nvPr/>
        </p:nvSpPr>
        <p:spPr bwMode="auto">
          <a:xfrm>
            <a:off x="5445125" y="1893888"/>
            <a:ext cx="1303338"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1 - 127</a:t>
            </a:r>
          </a:p>
        </p:txBody>
      </p:sp>
      <p:sp>
        <p:nvSpPr>
          <p:cNvPr id="19466" name="Rectangle 13"/>
          <p:cNvSpPr>
            <a:spLocks noChangeArrowheads="1"/>
          </p:cNvSpPr>
          <p:nvPr/>
        </p:nvSpPr>
        <p:spPr bwMode="auto">
          <a:xfrm>
            <a:off x="4335464" y="2320926"/>
            <a:ext cx="421591"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B</a:t>
            </a:r>
          </a:p>
        </p:txBody>
      </p:sp>
      <p:sp>
        <p:nvSpPr>
          <p:cNvPr id="19467" name="Rectangle 14"/>
          <p:cNvSpPr>
            <a:spLocks noChangeArrowheads="1"/>
          </p:cNvSpPr>
          <p:nvPr/>
        </p:nvSpPr>
        <p:spPr bwMode="auto">
          <a:xfrm>
            <a:off x="5445125" y="2320926"/>
            <a:ext cx="1703994"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128 - 191</a:t>
            </a:r>
          </a:p>
        </p:txBody>
      </p:sp>
      <p:sp>
        <p:nvSpPr>
          <p:cNvPr id="19468" name="Rectangle 15"/>
          <p:cNvSpPr>
            <a:spLocks noChangeArrowheads="1"/>
          </p:cNvSpPr>
          <p:nvPr/>
        </p:nvSpPr>
        <p:spPr bwMode="auto">
          <a:xfrm>
            <a:off x="4335463" y="2746376"/>
            <a:ext cx="442430"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C</a:t>
            </a:r>
          </a:p>
        </p:txBody>
      </p:sp>
      <p:sp>
        <p:nvSpPr>
          <p:cNvPr id="19469" name="Rectangle 16"/>
          <p:cNvSpPr>
            <a:spLocks noChangeArrowheads="1"/>
          </p:cNvSpPr>
          <p:nvPr/>
        </p:nvSpPr>
        <p:spPr bwMode="auto">
          <a:xfrm>
            <a:off x="5445125" y="2746376"/>
            <a:ext cx="1703994"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192 - 223</a:t>
            </a:r>
          </a:p>
        </p:txBody>
      </p:sp>
      <p:sp>
        <p:nvSpPr>
          <p:cNvPr id="19470" name="Rectangle 17"/>
          <p:cNvSpPr>
            <a:spLocks noChangeArrowheads="1"/>
          </p:cNvSpPr>
          <p:nvPr/>
        </p:nvSpPr>
        <p:spPr bwMode="auto">
          <a:xfrm>
            <a:off x="4335463" y="3173414"/>
            <a:ext cx="442430"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D</a:t>
            </a:r>
          </a:p>
        </p:txBody>
      </p:sp>
      <p:sp>
        <p:nvSpPr>
          <p:cNvPr id="19471" name="Rectangle 18"/>
          <p:cNvSpPr>
            <a:spLocks noChangeArrowheads="1"/>
          </p:cNvSpPr>
          <p:nvPr/>
        </p:nvSpPr>
        <p:spPr bwMode="auto">
          <a:xfrm>
            <a:off x="5445125" y="3173414"/>
            <a:ext cx="1703994"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224 - 239</a:t>
            </a:r>
          </a:p>
        </p:txBody>
      </p:sp>
      <p:sp>
        <p:nvSpPr>
          <p:cNvPr id="19472" name="Rectangle 19"/>
          <p:cNvSpPr>
            <a:spLocks noChangeArrowheads="1"/>
          </p:cNvSpPr>
          <p:nvPr/>
        </p:nvSpPr>
        <p:spPr bwMode="auto">
          <a:xfrm>
            <a:off x="4335464" y="3600451"/>
            <a:ext cx="421591"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E</a:t>
            </a:r>
          </a:p>
        </p:txBody>
      </p:sp>
      <p:sp>
        <p:nvSpPr>
          <p:cNvPr id="19473" name="Rectangle 20"/>
          <p:cNvSpPr>
            <a:spLocks noChangeArrowheads="1"/>
          </p:cNvSpPr>
          <p:nvPr/>
        </p:nvSpPr>
        <p:spPr bwMode="auto">
          <a:xfrm>
            <a:off x="5445125" y="3600451"/>
            <a:ext cx="1703994"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240 - 255</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67783">
                                            <p:txEl>
                                              <p:pRg st="0" end="0"/>
                                            </p:txEl>
                                          </p:spTgt>
                                        </p:tgtEl>
                                        <p:attrNameLst>
                                          <p:attrName>style.visibility</p:attrName>
                                        </p:attrNameLst>
                                      </p:cBhvr>
                                      <p:to>
                                        <p:strVal val="visible"/>
                                      </p:to>
                                    </p:set>
                                    <p:anim calcmode="lin" valueType="num">
                                      <p:cBhvr additive="base">
                                        <p:cTn id="7" dur="500" fill="hold"/>
                                        <p:tgtEl>
                                          <p:spTgt spid="186778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6778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7783"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body" idx="1"/>
          </p:nvPr>
        </p:nvSpPr>
        <p:spPr bwMode="auto">
          <a:xfrm>
            <a:off x="1631950" y="1196975"/>
            <a:ext cx="8891588" cy="50292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pPr>
            <a:r>
              <a:rPr lang="zh-CN" altLang="en-US"/>
              <a:t>直接广播地址</a:t>
            </a:r>
            <a:r>
              <a:rPr lang="zh-CN" altLang="en-US" sz="2400"/>
              <a:t>（</a:t>
            </a:r>
            <a:r>
              <a:rPr lang="en-US" altLang="zh-CN" sz="2400"/>
              <a:t>broadcast address</a:t>
            </a:r>
            <a:r>
              <a:rPr lang="zh-CN" altLang="en-US" sz="2400"/>
              <a:t>）</a:t>
            </a:r>
            <a:endParaRPr lang="zh-CN" altLang="en-US"/>
          </a:p>
          <a:p>
            <a:pPr marL="857250" lvl="1" indent="-323850"/>
            <a:r>
              <a:rPr lang="en-US" altLang="zh-CN"/>
              <a:t>{&lt;Network-number&gt;,-1} </a:t>
            </a:r>
            <a:r>
              <a:rPr lang="zh-CN" altLang="en-US"/>
              <a:t>向指定的网络进行广播。</a:t>
            </a:r>
          </a:p>
          <a:p>
            <a:pPr marL="857250" lvl="1" indent="-323850"/>
            <a:endParaRPr lang="zh-CN" altLang="en-US" sz="1600"/>
          </a:p>
          <a:p>
            <a:pPr eaLnBrk="1" hangingPunct="1">
              <a:lnSpc>
                <a:spcPct val="90000"/>
              </a:lnSpc>
            </a:pPr>
            <a:r>
              <a:rPr lang="zh-CN" altLang="en-US"/>
              <a:t>有限广播地址</a:t>
            </a:r>
            <a:r>
              <a:rPr lang="zh-CN" altLang="en-US" sz="2400"/>
              <a:t>（</a:t>
            </a:r>
            <a:r>
              <a:rPr lang="en-US" altLang="zh-CN" sz="2400"/>
              <a:t>limited broadcast address</a:t>
            </a:r>
            <a:r>
              <a:rPr lang="zh-CN" altLang="en-US" sz="2400"/>
              <a:t>）</a:t>
            </a:r>
            <a:endParaRPr lang="zh-CN" altLang="en-US"/>
          </a:p>
          <a:p>
            <a:pPr marL="857250" lvl="1" indent="-323850"/>
            <a:r>
              <a:rPr lang="en-US" altLang="zh-CN"/>
              <a:t>32 </a:t>
            </a:r>
            <a:r>
              <a:rPr lang="zh-CN" altLang="en-US"/>
              <a:t>位 </a:t>
            </a:r>
            <a:r>
              <a:rPr lang="en-US" altLang="zh-CN"/>
              <a:t>IP </a:t>
            </a:r>
            <a:r>
              <a:rPr lang="zh-CN" altLang="en-US"/>
              <a:t>地址位全 </a:t>
            </a:r>
            <a:r>
              <a:rPr lang="en-US" altLang="zh-CN"/>
              <a:t>1</a:t>
            </a:r>
            <a:r>
              <a:rPr lang="zh-CN" altLang="en-US"/>
              <a:t>（即 </a:t>
            </a:r>
            <a:r>
              <a:rPr lang="en-US" altLang="zh-CN"/>
              <a:t>255.255.255.255</a:t>
            </a:r>
            <a:r>
              <a:rPr lang="zh-CN" altLang="en-US"/>
              <a:t>）表示用于在本网络中广播的有限广播地址。</a:t>
            </a:r>
          </a:p>
          <a:p>
            <a:pPr eaLnBrk="1" hangingPunct="1">
              <a:lnSpc>
                <a:spcPct val="90000"/>
              </a:lnSpc>
            </a:pPr>
            <a:r>
              <a:rPr lang="en-US" altLang="zh-CN"/>
              <a:t>0 </a:t>
            </a:r>
            <a:r>
              <a:rPr lang="zh-CN" altLang="en-US"/>
              <a:t>地址</a:t>
            </a:r>
          </a:p>
          <a:p>
            <a:pPr marL="857250" lvl="1" indent="-323850"/>
            <a:r>
              <a:rPr lang="en-US" altLang="zh-CN"/>
              <a:t>{0</a:t>
            </a:r>
            <a:r>
              <a:rPr lang="zh-CN" altLang="en-US">
                <a:latin typeface="Times New Roman" panose="02020603050405020304" pitchFamily="18" charset="0"/>
              </a:rPr>
              <a:t>，</a:t>
            </a:r>
            <a:r>
              <a:rPr lang="en-US" altLang="zh-CN"/>
              <a:t>0} </a:t>
            </a:r>
            <a:r>
              <a:rPr lang="zh-CN" altLang="en-US">
                <a:latin typeface="Times New Roman" panose="02020603050405020304" pitchFamily="18" charset="0"/>
              </a:rPr>
              <a:t>该主机在该网络上</a:t>
            </a:r>
            <a:r>
              <a:rPr lang="zh-CN" altLang="en-US"/>
              <a:t> </a:t>
            </a:r>
          </a:p>
          <a:p>
            <a:pPr marL="857250" lvl="1" indent="-323850"/>
            <a:r>
              <a:rPr lang="en-US" altLang="zh-CN"/>
              <a:t>{0,&lt;Host-number&gt;} </a:t>
            </a:r>
            <a:r>
              <a:rPr lang="zh-CN" altLang="en-US" sz="2000"/>
              <a:t>特定主机在该网络上，只能做源地址</a:t>
            </a:r>
            <a:r>
              <a:rPr lang="zh-CN" altLang="en-US"/>
              <a:t>。</a:t>
            </a:r>
          </a:p>
          <a:p>
            <a:pPr eaLnBrk="1" hangingPunct="1">
              <a:lnSpc>
                <a:spcPct val="90000"/>
              </a:lnSpc>
            </a:pPr>
            <a:r>
              <a:rPr lang="zh-CN" altLang="en-US"/>
              <a:t>回送地址</a:t>
            </a:r>
            <a:r>
              <a:rPr lang="zh-CN" altLang="en-US" sz="2400"/>
              <a:t>（</a:t>
            </a:r>
            <a:r>
              <a:rPr lang="en-US" altLang="zh-CN" sz="2400"/>
              <a:t>loopback address</a:t>
            </a:r>
            <a:r>
              <a:rPr lang="zh-CN" altLang="en-US" sz="2400"/>
              <a:t>）</a:t>
            </a:r>
          </a:p>
          <a:p>
            <a:pPr marL="857250" lvl="1" indent="-323850"/>
            <a:r>
              <a:rPr lang="zh-CN" altLang="en-US"/>
              <a:t>网络号为 </a:t>
            </a:r>
            <a:r>
              <a:rPr lang="en-US" altLang="zh-CN"/>
              <a:t>127 </a:t>
            </a:r>
            <a:r>
              <a:rPr lang="zh-CN" altLang="en-US"/>
              <a:t>的 </a:t>
            </a:r>
            <a:r>
              <a:rPr lang="en-US" altLang="zh-CN"/>
              <a:t>A </a:t>
            </a:r>
            <a:r>
              <a:rPr lang="zh-CN" altLang="en-US"/>
              <a:t>类地址（如</a:t>
            </a:r>
            <a:r>
              <a:rPr lang="en-US" altLang="zh-CN"/>
              <a:t>127.0.0.1</a:t>
            </a:r>
            <a:r>
              <a:rPr lang="zh-CN" altLang="en-US"/>
              <a:t>）用于本地软件测试（测试应用层与网络软件之间的进程间通信）</a:t>
            </a:r>
          </a:p>
        </p:txBody>
      </p:sp>
      <p:grpSp>
        <p:nvGrpSpPr>
          <p:cNvPr id="21507" name="Group 4"/>
          <p:cNvGrpSpPr>
            <a:grpSpLocks/>
          </p:cNvGrpSpPr>
          <p:nvPr/>
        </p:nvGrpSpPr>
        <p:grpSpPr bwMode="auto">
          <a:xfrm>
            <a:off x="3937000" y="2051050"/>
            <a:ext cx="4800600" cy="381000"/>
            <a:chOff x="1200" y="2976"/>
            <a:chExt cx="2640" cy="192"/>
          </a:xfrm>
        </p:grpSpPr>
        <p:sp>
          <p:nvSpPr>
            <p:cNvPr id="21509" name="Rectangle 5"/>
            <p:cNvSpPr>
              <a:spLocks noChangeArrowheads="1"/>
            </p:cNvSpPr>
            <p:nvPr/>
          </p:nvSpPr>
          <p:spPr bwMode="auto">
            <a:xfrm>
              <a:off x="1200" y="2976"/>
              <a:ext cx="432" cy="192"/>
            </a:xfrm>
            <a:prstGeom prst="rect">
              <a:avLst/>
            </a:prstGeom>
            <a:solidFill>
              <a:schemeClr val="bg1"/>
            </a:solidFill>
            <a:ln w="19050">
              <a:solidFill>
                <a:schemeClr val="tx2"/>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hlink"/>
                  </a:solidFill>
                  <a:latin typeface="隶书" panose="02010509060101010101" pitchFamily="49" charset="-122"/>
                  <a:ea typeface="隶书" panose="02010509060101010101" pitchFamily="49" charset="-122"/>
                </a:rPr>
                <a:t>类型</a:t>
              </a:r>
            </a:p>
          </p:txBody>
        </p:sp>
        <p:sp>
          <p:nvSpPr>
            <p:cNvPr id="21510" name="Rectangle 6"/>
            <p:cNvSpPr>
              <a:spLocks noChangeArrowheads="1"/>
            </p:cNvSpPr>
            <p:nvPr/>
          </p:nvSpPr>
          <p:spPr bwMode="auto">
            <a:xfrm>
              <a:off x="1632" y="2976"/>
              <a:ext cx="768" cy="192"/>
            </a:xfrm>
            <a:prstGeom prst="rect">
              <a:avLst/>
            </a:prstGeom>
            <a:solidFill>
              <a:srgbClr val="0000CC"/>
            </a:solidFill>
            <a:ln w="19050">
              <a:solidFill>
                <a:schemeClr val="tx2"/>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tx2"/>
                  </a:solidFill>
                  <a:latin typeface="隶书" panose="02010509060101010101" pitchFamily="49" charset="-122"/>
                  <a:ea typeface="隶书" panose="02010509060101010101" pitchFamily="49" charset="-122"/>
                </a:rPr>
                <a:t>网络前缀</a:t>
              </a:r>
            </a:p>
          </p:txBody>
        </p:sp>
        <p:sp>
          <p:nvSpPr>
            <p:cNvPr id="21511" name="Rectangle 7"/>
            <p:cNvSpPr>
              <a:spLocks noChangeArrowheads="1"/>
            </p:cNvSpPr>
            <p:nvPr/>
          </p:nvSpPr>
          <p:spPr bwMode="auto">
            <a:xfrm>
              <a:off x="2400" y="2976"/>
              <a:ext cx="1440" cy="192"/>
            </a:xfrm>
            <a:prstGeom prst="rect">
              <a:avLst/>
            </a:prstGeom>
            <a:solidFill>
              <a:srgbClr val="FF00FF"/>
            </a:solidFill>
            <a:ln w="19050">
              <a:solidFill>
                <a:schemeClr val="tx2"/>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rgbClr val="000099"/>
                  </a:solidFill>
                  <a:latin typeface="隶书" panose="02010509060101010101" pitchFamily="49" charset="-122"/>
                  <a:ea typeface="隶书" panose="02010509060101010101" pitchFamily="49" charset="-122"/>
                </a:rPr>
                <a:t>主机号 全 </a:t>
              </a:r>
              <a:r>
                <a:rPr kumimoji="1" lang="zh-CN" altLang="en-US" sz="2400">
                  <a:solidFill>
                    <a:srgbClr val="000099"/>
                  </a:solidFill>
                  <a:latin typeface="Verdana" panose="020B0604030504040204" pitchFamily="34" charset="0"/>
                  <a:ea typeface="隶书" panose="02010509060101010101" pitchFamily="49" charset="-122"/>
                </a:rPr>
                <a:t>“</a:t>
              </a:r>
              <a:r>
                <a:rPr kumimoji="1" lang="en-US" altLang="zh-CN" sz="2400">
                  <a:solidFill>
                    <a:srgbClr val="000099"/>
                  </a:solidFill>
                  <a:latin typeface="隶书" panose="02010509060101010101" pitchFamily="49" charset="-122"/>
                  <a:ea typeface="隶书" panose="02010509060101010101" pitchFamily="49" charset="-122"/>
                </a:rPr>
                <a:t>1</a:t>
              </a:r>
              <a:r>
                <a:rPr kumimoji="1" lang="en-US" altLang="zh-CN" sz="2400">
                  <a:solidFill>
                    <a:srgbClr val="000099"/>
                  </a:solidFill>
                  <a:latin typeface="Verdana" panose="020B0604030504040204" pitchFamily="34" charset="0"/>
                  <a:ea typeface="隶书" panose="02010509060101010101" pitchFamily="49" charset="-122"/>
                </a:rPr>
                <a:t>”</a:t>
              </a:r>
              <a:endParaRPr kumimoji="1" lang="en-US" altLang="zh-CN" sz="2400">
                <a:solidFill>
                  <a:srgbClr val="000099"/>
                </a:solidFill>
                <a:latin typeface="隶书" panose="02010509060101010101" pitchFamily="49" charset="-122"/>
                <a:ea typeface="隶书" panose="02010509060101010101" pitchFamily="49" charset="-122"/>
              </a:endParaRPr>
            </a:p>
          </p:txBody>
        </p:sp>
      </p:grpSp>
      <p:sp>
        <p:nvSpPr>
          <p:cNvPr id="21508" name="Rectangle 8"/>
          <p:cNvSpPr>
            <a:spLocks noGrp="1" noChangeArrowheads="1"/>
          </p:cNvSpPr>
          <p:nvPr>
            <p:ph type="title"/>
          </p:nvPr>
        </p:nvSpPr>
        <p:spPr bwMode="auto">
          <a:xfrm>
            <a:off x="2209800"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特殊的 </a:t>
            </a:r>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a:t>
            </a:r>
          </a:p>
        </p:txBody>
      </p:sp>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1743075" y="1239838"/>
            <a:ext cx="8763000" cy="4559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Rectangle 4"/>
          <p:cNvSpPr>
            <a:spLocks noGrp="1" noChangeArrowheads="1"/>
          </p:cNvSpPr>
          <p:nvPr>
            <p:ph type="title"/>
          </p:nvPr>
        </p:nvSpPr>
        <p:spPr bwMode="auto">
          <a:xfrm>
            <a:off x="2266950" y="236539"/>
            <a:ext cx="7772400" cy="5683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ctr" eaLnBrk="1" hangingPunct="1"/>
            <a:r>
              <a:rPr lang="zh-CN" altLang="en-US" sz="3600">
                <a:solidFill>
                  <a:schemeClr val="hlink"/>
                </a:solidFill>
                <a:ea typeface="华文行楷" panose="02010800040101010101" pitchFamily="2" charset="-122"/>
              </a:rPr>
              <a:t>直接广播地址</a:t>
            </a:r>
          </a:p>
        </p:txBody>
      </p:sp>
      <p:sp>
        <p:nvSpPr>
          <p:cNvPr id="23556" name="Text Box 6"/>
          <p:cNvSpPr txBox="1">
            <a:spLocks noChangeArrowheads="1"/>
          </p:cNvSpPr>
          <p:nvPr/>
        </p:nvSpPr>
        <p:spPr bwMode="auto">
          <a:xfrm>
            <a:off x="2225676" y="4729163"/>
            <a:ext cx="4454525"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en-US" altLang="zh-CN"/>
          </a:p>
          <a:p>
            <a:pPr>
              <a:spcBef>
                <a:spcPct val="50000"/>
              </a:spcBef>
            </a:pPr>
            <a:endParaRPr lang="en-US" altLang="zh-CN"/>
          </a:p>
        </p:txBody>
      </p:sp>
      <p:sp>
        <p:nvSpPr>
          <p:cNvPr id="23557" name="Text Box 7"/>
          <p:cNvSpPr txBox="1">
            <a:spLocks noChangeArrowheads="1"/>
          </p:cNvSpPr>
          <p:nvPr/>
        </p:nvSpPr>
        <p:spPr bwMode="auto">
          <a:xfrm>
            <a:off x="1952626" y="4672013"/>
            <a:ext cx="4786313"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en-US" altLang="zh-CN">
              <a:solidFill>
                <a:schemeClr val="bg1"/>
              </a:solidFill>
            </a:endParaRPr>
          </a:p>
          <a:p>
            <a:pPr>
              <a:spcBef>
                <a:spcPct val="50000"/>
              </a:spcBef>
            </a:pPr>
            <a:endParaRPr lang="en-US" altLang="zh-CN">
              <a:solidFill>
                <a:schemeClr val="bg1"/>
              </a:solidFill>
            </a:endParaRPr>
          </a:p>
        </p:txBody>
      </p:sp>
      <p:sp>
        <p:nvSpPr>
          <p:cNvPr id="23558" name="Text Box 8"/>
          <p:cNvSpPr txBox="1">
            <a:spLocks noChangeArrowheads="1"/>
          </p:cNvSpPr>
          <p:nvPr/>
        </p:nvSpPr>
        <p:spPr bwMode="auto">
          <a:xfrm>
            <a:off x="1893888" y="5253038"/>
            <a:ext cx="4843462" cy="180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bg1"/>
                </a:solidFill>
              </a:rPr>
              <a:t>                                                     </a:t>
            </a:r>
          </a:p>
          <a:p>
            <a:pPr>
              <a:spcBef>
                <a:spcPct val="50000"/>
              </a:spcBef>
            </a:pPr>
            <a:r>
              <a:rPr lang="en-US" altLang="zh-CN">
                <a:solidFill>
                  <a:schemeClr val="bg1"/>
                </a:solidFill>
              </a:rPr>
              <a:t>                                                     </a:t>
            </a:r>
          </a:p>
          <a:p>
            <a:pPr>
              <a:spcBef>
                <a:spcPct val="50000"/>
              </a:spcBef>
            </a:pPr>
            <a:r>
              <a:rPr lang="en-US" altLang="zh-CN">
                <a:solidFill>
                  <a:schemeClr val="bg1"/>
                </a:solidFill>
              </a:rPr>
              <a:t>                                                    </a:t>
            </a:r>
          </a:p>
        </p:txBody>
      </p:sp>
      <p:sp>
        <p:nvSpPr>
          <p:cNvPr id="23559" name="Rectangle 9"/>
          <p:cNvSpPr>
            <a:spLocks noChangeArrowheads="1"/>
          </p:cNvSpPr>
          <p:nvPr/>
        </p:nvSpPr>
        <p:spPr bwMode="auto">
          <a:xfrm>
            <a:off x="2222500" y="4721225"/>
            <a:ext cx="4611688" cy="1244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422341" name="Text Box 5"/>
          <p:cNvSpPr txBox="1">
            <a:spLocks noChangeArrowheads="1"/>
          </p:cNvSpPr>
          <p:nvPr/>
        </p:nvSpPr>
        <p:spPr bwMode="auto">
          <a:xfrm>
            <a:off x="2165350" y="4808539"/>
            <a:ext cx="4649788"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1800">
                <a:solidFill>
                  <a:schemeClr val="tx1"/>
                </a:solidFill>
              </a:rPr>
              <a:t>直接广播地址一般用于路由器向指定网络内的所有主机发送消息，所有的主机</a:t>
            </a:r>
            <a:r>
              <a:rPr lang="en-US" altLang="zh-CN" sz="1800">
                <a:solidFill>
                  <a:schemeClr val="tx1"/>
                </a:solidFill>
              </a:rPr>
              <a:t>/</a:t>
            </a:r>
            <a:r>
              <a:rPr lang="zh-CN" altLang="en-US" sz="1800">
                <a:solidFill>
                  <a:schemeClr val="tx1"/>
                </a:solidFill>
              </a:rPr>
              <a:t>路由器都接收并处理具有直接广播地址的报文分组</a:t>
            </a:r>
            <a:r>
              <a:rPr lang="en-US" altLang="zh-CN" sz="1800">
                <a:solidFill>
                  <a:schemeClr val="tx1"/>
                </a:solidFill>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22341">
                                            <p:txEl>
                                              <p:pRg st="0" end="0"/>
                                            </p:txEl>
                                          </p:spTgt>
                                        </p:tgtEl>
                                        <p:attrNameLst>
                                          <p:attrName>style.visibility</p:attrName>
                                        </p:attrNameLst>
                                      </p:cBhvr>
                                      <p:to>
                                        <p:strVal val="visible"/>
                                      </p:to>
                                    </p:set>
                                    <p:anim calcmode="lin" valueType="num">
                                      <p:cBhvr additive="base">
                                        <p:cTn id="7" dur="500" fill="hold"/>
                                        <p:tgtEl>
                                          <p:spTgt spid="142234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2234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2341"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1698625" y="1233488"/>
            <a:ext cx="8763000" cy="4730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Rectangle 4"/>
          <p:cNvSpPr>
            <a:spLocks noGrp="1" noChangeArrowheads="1"/>
          </p:cNvSpPr>
          <p:nvPr>
            <p:ph type="title"/>
          </p:nvPr>
        </p:nvSpPr>
        <p:spPr bwMode="auto">
          <a:xfrm>
            <a:off x="2268538" y="493713"/>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有限广播地址</a:t>
            </a:r>
          </a:p>
        </p:txBody>
      </p:sp>
      <p:sp>
        <p:nvSpPr>
          <p:cNvPr id="24580" name="Rectangle 7"/>
          <p:cNvSpPr>
            <a:spLocks noChangeArrowheads="1"/>
          </p:cNvSpPr>
          <p:nvPr/>
        </p:nvSpPr>
        <p:spPr bwMode="auto">
          <a:xfrm>
            <a:off x="2690814" y="5622925"/>
            <a:ext cx="4960937" cy="973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423365" name="Text Box 5"/>
          <p:cNvSpPr txBox="1">
            <a:spLocks noChangeArrowheads="1"/>
          </p:cNvSpPr>
          <p:nvPr/>
        </p:nvSpPr>
        <p:spPr bwMode="auto">
          <a:xfrm>
            <a:off x="3081339" y="5661025"/>
            <a:ext cx="4649787"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1800">
                <a:solidFill>
                  <a:schemeClr val="tx1"/>
                </a:solidFill>
              </a:rPr>
              <a:t>有限广播地址一般用于路由器向同一网络内的所有主机发送报文，然而</a:t>
            </a:r>
            <a:r>
              <a:rPr lang="en-US" altLang="zh-CN" sz="1800">
                <a:solidFill>
                  <a:schemeClr val="tx1"/>
                </a:solidFill>
              </a:rPr>
              <a:t>,</a:t>
            </a:r>
            <a:r>
              <a:rPr lang="zh-CN" altLang="en-US" sz="1800">
                <a:solidFill>
                  <a:schemeClr val="tx1"/>
                </a:solidFill>
              </a:rPr>
              <a:t>该报文分组被路由器限制在本地网络之内</a:t>
            </a:r>
            <a:r>
              <a:rPr lang="en-US" altLang="zh-CN" sz="1800">
                <a:solidFill>
                  <a:schemeClr val="tx1"/>
                </a:solidFill>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23365">
                                            <p:txEl>
                                              <p:pRg st="0" end="0"/>
                                            </p:txEl>
                                          </p:spTgt>
                                        </p:tgtEl>
                                        <p:attrNameLst>
                                          <p:attrName>style.visibility</p:attrName>
                                        </p:attrNameLst>
                                      </p:cBhvr>
                                      <p:to>
                                        <p:strVal val="visible"/>
                                      </p:to>
                                    </p:set>
                                    <p:anim calcmode="lin" valueType="num">
                                      <p:cBhvr additive="base">
                                        <p:cTn id="7" dur="500" fill="hold"/>
                                        <p:tgtEl>
                                          <p:spTgt spid="142336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2336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65"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3"/>
          <p:cNvPicPr>
            <a:picLocks noGrp="1" noChangeAspect="1" noChangeArrowheads="1"/>
          </p:cNvPicPr>
          <p:nvPr>
            <p:ph type="tbl" idx="1"/>
          </p:nvPr>
        </p:nvPicPr>
        <p:blipFill>
          <a:blip r:embed="rId2">
            <a:extLst>
              <a:ext uri="{28A0092B-C50C-407E-A947-70E740481C1C}">
                <a14:useLocalDpi xmlns:a14="http://schemas.microsoft.com/office/drawing/2010/main" val="0"/>
              </a:ext>
            </a:extLst>
          </a:blip>
          <a:srcRect/>
          <a:stretch>
            <a:fillRect/>
          </a:stretch>
        </p:blipFill>
        <p:spPr bwMode="auto">
          <a:xfrm>
            <a:off x="2301875" y="1225550"/>
            <a:ext cx="7913688" cy="4908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Rectangle 4"/>
          <p:cNvSpPr>
            <a:spLocks noGrp="1" noChangeArrowheads="1"/>
          </p:cNvSpPr>
          <p:nvPr>
            <p:ph type="title"/>
          </p:nvPr>
        </p:nvSpPr>
        <p:spPr bwMode="auto">
          <a:xfrm>
            <a:off x="2308225" y="2794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0 </a:t>
            </a:r>
            <a:r>
              <a:rPr lang="zh-CN" altLang="en-US" sz="3600">
                <a:solidFill>
                  <a:schemeClr val="hlink"/>
                </a:solidFill>
                <a:ea typeface="华文行楷" panose="02010800040101010101" pitchFamily="2" charset="-122"/>
              </a:rPr>
              <a:t>地址</a:t>
            </a:r>
            <a:r>
              <a:rPr lang="en-US" altLang="zh-CN" sz="3600">
                <a:solidFill>
                  <a:schemeClr val="hlink"/>
                </a:solidFill>
                <a:ea typeface="华文行楷" panose="02010800040101010101" pitchFamily="2" charset="-122"/>
              </a:rPr>
              <a:t>(</a:t>
            </a:r>
            <a:r>
              <a:rPr lang="zh-CN" altLang="en-US" sz="3600">
                <a:solidFill>
                  <a:schemeClr val="hlink"/>
                </a:solidFill>
                <a:ea typeface="华文行楷" panose="02010800040101010101" pitchFamily="2" charset="-122"/>
              </a:rPr>
              <a:t>本网络</a:t>
            </a:r>
            <a:r>
              <a:rPr lang="en-US" altLang="zh-CN" sz="3600">
                <a:solidFill>
                  <a:schemeClr val="hlink"/>
                </a:solidFill>
                <a:ea typeface="华文行楷" panose="02010800040101010101" pitchFamily="2" charset="-122"/>
              </a:rPr>
              <a:t>+</a:t>
            </a:r>
            <a:r>
              <a:rPr lang="zh-CN" altLang="en-US" sz="3600">
                <a:solidFill>
                  <a:schemeClr val="hlink"/>
                </a:solidFill>
                <a:ea typeface="华文行楷" panose="02010800040101010101" pitchFamily="2" charset="-122"/>
              </a:rPr>
              <a:t>本主机）</a:t>
            </a:r>
          </a:p>
        </p:txBody>
      </p:sp>
      <p:sp>
        <p:nvSpPr>
          <p:cNvPr id="25604" name="Rectangle 7"/>
          <p:cNvSpPr>
            <a:spLocks noChangeArrowheads="1"/>
          </p:cNvSpPr>
          <p:nvPr/>
        </p:nvSpPr>
        <p:spPr bwMode="auto">
          <a:xfrm>
            <a:off x="3567113" y="5603875"/>
            <a:ext cx="5213350" cy="9921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424389" name="Text Box 5"/>
          <p:cNvSpPr txBox="1">
            <a:spLocks noChangeArrowheads="1"/>
          </p:cNvSpPr>
          <p:nvPr/>
        </p:nvSpPr>
        <p:spPr bwMode="auto">
          <a:xfrm>
            <a:off x="3992564" y="5610225"/>
            <a:ext cx="4649787"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1800">
                <a:solidFill>
                  <a:schemeClr val="tx1"/>
                </a:solidFill>
              </a:rPr>
              <a:t>不知道本站</a:t>
            </a:r>
            <a:r>
              <a:rPr lang="en-US" altLang="zh-CN" sz="1800">
                <a:solidFill>
                  <a:schemeClr val="tx1"/>
                </a:solidFill>
              </a:rPr>
              <a:t>IP</a:t>
            </a:r>
            <a:r>
              <a:rPr lang="zh-CN" altLang="en-US" sz="1800">
                <a:solidFill>
                  <a:schemeClr val="tx1"/>
                </a:solidFill>
              </a:rPr>
              <a:t>地址的主机使用</a:t>
            </a:r>
            <a:r>
              <a:rPr lang="en-US" altLang="zh-CN" sz="1800">
                <a:solidFill>
                  <a:schemeClr val="tx1"/>
                </a:solidFill>
              </a:rPr>
              <a:t>0.0.0.0IP</a:t>
            </a:r>
            <a:r>
              <a:rPr lang="zh-CN" altLang="en-US" sz="1800">
                <a:solidFill>
                  <a:schemeClr val="tx1"/>
                </a:solidFill>
              </a:rPr>
              <a:t>地址作为源地址</a:t>
            </a:r>
            <a:r>
              <a:rPr lang="en-US" altLang="zh-CN" sz="1800">
                <a:solidFill>
                  <a:schemeClr val="tx1"/>
                </a:solidFill>
              </a:rPr>
              <a:t>,255.255.255.255</a:t>
            </a:r>
            <a:r>
              <a:rPr lang="zh-CN" altLang="en-US" sz="1800">
                <a:solidFill>
                  <a:schemeClr val="tx1"/>
                </a:solidFill>
              </a:rPr>
              <a:t>为目的地址</a:t>
            </a:r>
            <a:r>
              <a:rPr lang="en-US" altLang="zh-CN" sz="1800">
                <a:solidFill>
                  <a:schemeClr val="tx1"/>
                </a:solidFill>
              </a:rPr>
              <a:t>,</a:t>
            </a:r>
            <a:r>
              <a:rPr lang="zh-CN" altLang="en-US" sz="1800">
                <a:solidFill>
                  <a:schemeClr val="tx1"/>
                </a:solidFill>
              </a:rPr>
              <a:t>向引导服务器发送报文</a:t>
            </a:r>
            <a:r>
              <a:rPr lang="en-US" altLang="zh-CN" sz="1800">
                <a:solidFill>
                  <a:schemeClr val="tx1"/>
                </a:solidFill>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24389">
                                            <p:txEl>
                                              <p:pRg st="0" end="0"/>
                                            </p:txEl>
                                          </p:spTgt>
                                        </p:tgtEl>
                                        <p:attrNameLst>
                                          <p:attrName>style.visibility</p:attrName>
                                        </p:attrNameLst>
                                      </p:cBhvr>
                                      <p:to>
                                        <p:strVal val="visible"/>
                                      </p:to>
                                    </p:set>
                                    <p:anim calcmode="lin" valueType="num">
                                      <p:cBhvr additive="base">
                                        <p:cTn id="7" dur="500" fill="hold"/>
                                        <p:tgtEl>
                                          <p:spTgt spid="142438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2438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4389"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1697038" y="1236663"/>
            <a:ext cx="8763000" cy="4787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Rectangle 4"/>
          <p:cNvSpPr>
            <a:spLocks noGrp="1" noChangeArrowheads="1"/>
          </p:cNvSpPr>
          <p:nvPr>
            <p:ph type="title"/>
          </p:nvPr>
        </p:nvSpPr>
        <p:spPr bwMode="auto">
          <a:xfrm>
            <a:off x="2306638"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0 </a:t>
            </a:r>
            <a:r>
              <a:rPr lang="zh-CN" altLang="en-US" sz="3600">
                <a:solidFill>
                  <a:schemeClr val="hlink"/>
                </a:solidFill>
                <a:ea typeface="华文行楷" panose="02010800040101010101" pitchFamily="2" charset="-122"/>
              </a:rPr>
              <a:t>地址</a:t>
            </a:r>
            <a:r>
              <a:rPr lang="en-US" altLang="zh-CN" sz="3600">
                <a:solidFill>
                  <a:schemeClr val="hlink"/>
                </a:solidFill>
                <a:ea typeface="华文行楷" panose="02010800040101010101" pitchFamily="2" charset="-122"/>
              </a:rPr>
              <a:t>(</a:t>
            </a:r>
            <a:r>
              <a:rPr lang="zh-CN" altLang="en-US" sz="3600">
                <a:solidFill>
                  <a:schemeClr val="hlink"/>
                </a:solidFill>
                <a:ea typeface="华文行楷" panose="02010800040101010101" pitchFamily="2" charset="-122"/>
              </a:rPr>
              <a:t>本网络）</a:t>
            </a:r>
          </a:p>
        </p:txBody>
      </p:sp>
      <p:sp>
        <p:nvSpPr>
          <p:cNvPr id="26628" name="Rectangle 6"/>
          <p:cNvSpPr>
            <a:spLocks noChangeArrowheads="1"/>
          </p:cNvSpPr>
          <p:nvPr/>
        </p:nvSpPr>
        <p:spPr bwMode="auto">
          <a:xfrm>
            <a:off x="3916364" y="5797550"/>
            <a:ext cx="4962525" cy="7000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425413" name="Text Box 5"/>
          <p:cNvSpPr txBox="1">
            <a:spLocks noChangeArrowheads="1"/>
          </p:cNvSpPr>
          <p:nvPr/>
        </p:nvSpPr>
        <p:spPr bwMode="auto">
          <a:xfrm>
            <a:off x="3994150" y="5894388"/>
            <a:ext cx="46497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1800">
                <a:solidFill>
                  <a:schemeClr val="tx1"/>
                </a:solidFill>
              </a:rPr>
              <a:t>该地址用于路由器或主机向本网络内指定的目的站发送报文</a:t>
            </a:r>
            <a:r>
              <a:rPr lang="en-US" altLang="zh-CN" sz="1800">
                <a:solidFill>
                  <a:schemeClr val="tx1"/>
                </a:solidFill>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25413">
                                            <p:txEl>
                                              <p:pRg st="0" end="0"/>
                                            </p:txEl>
                                          </p:spTgt>
                                        </p:tgtEl>
                                        <p:attrNameLst>
                                          <p:attrName>style.visibility</p:attrName>
                                        </p:attrNameLst>
                                      </p:cBhvr>
                                      <p:to>
                                        <p:strVal val="visible"/>
                                      </p:to>
                                    </p:set>
                                    <p:anim calcmode="lin" valueType="num">
                                      <p:cBhvr additive="base">
                                        <p:cTn id="7" dur="500" fill="hold"/>
                                        <p:tgtEl>
                                          <p:spTgt spid="142541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2541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5413"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2284414" y="1654175"/>
            <a:ext cx="8002587" cy="46370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Rectangle 4"/>
          <p:cNvSpPr>
            <a:spLocks noGrp="1" noChangeArrowheads="1"/>
          </p:cNvSpPr>
          <p:nvPr>
            <p:ph type="title"/>
          </p:nvPr>
        </p:nvSpPr>
        <p:spPr bwMode="auto">
          <a:xfrm>
            <a:off x="2287588" y="254001"/>
            <a:ext cx="7772400" cy="787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0 </a:t>
            </a:r>
            <a:r>
              <a:rPr lang="zh-CN" altLang="en-US" sz="3600">
                <a:solidFill>
                  <a:schemeClr val="hlink"/>
                </a:solidFill>
                <a:ea typeface="华文行楷" panose="02010800040101010101" pitchFamily="2" charset="-122"/>
              </a:rPr>
              <a:t>地址</a:t>
            </a:r>
            <a:r>
              <a:rPr lang="en-US" altLang="zh-CN" sz="3600">
                <a:solidFill>
                  <a:schemeClr val="hlink"/>
                </a:solidFill>
                <a:ea typeface="华文行楷" panose="02010800040101010101" pitchFamily="2" charset="-122"/>
              </a:rPr>
              <a:t>(</a:t>
            </a:r>
            <a:r>
              <a:rPr lang="zh-CN" altLang="en-US" sz="3600">
                <a:solidFill>
                  <a:schemeClr val="hlink"/>
                </a:solidFill>
                <a:ea typeface="华文行楷" panose="02010800040101010101" pitchFamily="2" charset="-122"/>
              </a:rPr>
              <a:t>本主机）</a:t>
            </a:r>
          </a:p>
        </p:txBody>
      </p:sp>
      <p:sp>
        <p:nvSpPr>
          <p:cNvPr id="1872901" name="Text Box 5"/>
          <p:cNvSpPr txBox="1">
            <a:spLocks noChangeArrowheads="1"/>
          </p:cNvSpPr>
          <p:nvPr/>
        </p:nvSpPr>
        <p:spPr bwMode="auto">
          <a:xfrm>
            <a:off x="6777038" y="5564189"/>
            <a:ext cx="3192462"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1800">
                <a:solidFill>
                  <a:schemeClr val="tx1"/>
                </a:solidFill>
              </a:rPr>
              <a:t>不知道本站</a:t>
            </a:r>
            <a:r>
              <a:rPr lang="en-US" altLang="zh-CN" sz="1800">
                <a:solidFill>
                  <a:schemeClr val="tx1"/>
                </a:solidFill>
              </a:rPr>
              <a:t>IP</a:t>
            </a:r>
            <a:r>
              <a:rPr lang="zh-CN" altLang="en-US" sz="1800">
                <a:solidFill>
                  <a:schemeClr val="tx1"/>
                </a:solidFill>
              </a:rPr>
              <a:t>地址的主机使用</a:t>
            </a:r>
            <a:r>
              <a:rPr lang="en-US" altLang="zh-CN" sz="1800">
                <a:solidFill>
                  <a:schemeClr val="tx1"/>
                </a:solidFill>
              </a:rPr>
              <a:t>0.0.0.0IP</a:t>
            </a:r>
            <a:r>
              <a:rPr lang="zh-CN" altLang="en-US" sz="1800">
                <a:solidFill>
                  <a:schemeClr val="tx1"/>
                </a:solidFill>
              </a:rPr>
              <a:t>地址作为源地址向指定网络的引导服务器发送报文</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72901">
                                            <p:txEl>
                                              <p:pRg st="0" end="0"/>
                                            </p:txEl>
                                          </p:spTgt>
                                        </p:tgtEl>
                                        <p:attrNameLst>
                                          <p:attrName>style.visibility</p:attrName>
                                        </p:attrNameLst>
                                      </p:cBhvr>
                                      <p:to>
                                        <p:strVal val="visible"/>
                                      </p:to>
                                    </p:set>
                                    <p:anim calcmode="lin" valueType="num">
                                      <p:cBhvr additive="base">
                                        <p:cTn id="7" dur="500" fill="hold"/>
                                        <p:tgtEl>
                                          <p:spTgt spid="187290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7290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2901"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1882776" y="1219200"/>
            <a:ext cx="8132763" cy="4732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Rectangle 4"/>
          <p:cNvSpPr>
            <a:spLocks noGrp="1" noChangeArrowheads="1"/>
          </p:cNvSpPr>
          <p:nvPr>
            <p:ph type="title"/>
          </p:nvPr>
        </p:nvSpPr>
        <p:spPr bwMode="auto">
          <a:xfrm>
            <a:off x="2209800" y="3762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回送地址</a:t>
            </a:r>
          </a:p>
        </p:txBody>
      </p:sp>
      <p:sp>
        <p:nvSpPr>
          <p:cNvPr id="28676" name="Rectangle 6"/>
          <p:cNvSpPr>
            <a:spLocks noChangeArrowheads="1"/>
          </p:cNvSpPr>
          <p:nvPr/>
        </p:nvSpPr>
        <p:spPr bwMode="auto">
          <a:xfrm>
            <a:off x="4189414" y="6108701"/>
            <a:ext cx="3502025" cy="447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426437" name="Text Box 5"/>
          <p:cNvSpPr txBox="1">
            <a:spLocks noChangeArrowheads="1"/>
          </p:cNvSpPr>
          <p:nvPr/>
        </p:nvSpPr>
        <p:spPr bwMode="auto">
          <a:xfrm>
            <a:off x="3722689" y="6072188"/>
            <a:ext cx="52149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1800">
                <a:solidFill>
                  <a:schemeClr val="tx1"/>
                </a:solidFill>
              </a:rPr>
              <a:t>带有回送地址的报文将不会到达网络</a:t>
            </a:r>
            <a:r>
              <a:rPr lang="en-US" altLang="zh-CN" sz="1800">
                <a:solidFill>
                  <a:schemeClr val="tx1"/>
                </a:solidFill>
              </a:rPr>
              <a:t>,</a:t>
            </a:r>
            <a:r>
              <a:rPr lang="zh-CN" altLang="en-US" sz="1800">
                <a:solidFill>
                  <a:schemeClr val="tx1"/>
                </a:solidFill>
              </a:rPr>
              <a:t>而直接回送</a:t>
            </a:r>
            <a:r>
              <a:rPr lang="en-US" altLang="zh-CN" sz="1800">
                <a:solidFill>
                  <a:schemeClr val="tx1"/>
                </a:solidFill>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26437">
                                            <p:txEl>
                                              <p:pRg st="0" end="0"/>
                                            </p:txEl>
                                          </p:spTgt>
                                        </p:tgtEl>
                                        <p:attrNameLst>
                                          <p:attrName>style.visibility</p:attrName>
                                        </p:attrNameLst>
                                      </p:cBhvr>
                                      <p:to>
                                        <p:strVal val="visible"/>
                                      </p:to>
                                    </p:set>
                                    <p:anim calcmode="lin" valueType="num">
                                      <p:cBhvr additive="base">
                                        <p:cTn id="7" dur="500" fill="hold"/>
                                        <p:tgtEl>
                                          <p:spTgt spid="142643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2643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6437"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3"/>
          <p:cNvSpPr>
            <a:spLocks noGrp="1" noChangeArrowheads="1"/>
          </p:cNvSpPr>
          <p:nvPr>
            <p:ph type="body" idx="1"/>
          </p:nvPr>
        </p:nvSpPr>
        <p:spPr bwMode="auto">
          <a:xfrm>
            <a:off x="1631950" y="1268413"/>
            <a:ext cx="8839200" cy="27686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lnSpcReduction="10000"/>
          </a:bodyPr>
          <a:lstStyle/>
          <a:p>
            <a:pPr marL="293688" indent="-293688"/>
            <a:r>
              <a:rPr lang="zh-CN" altLang="en-US"/>
              <a:t>一类特殊的结点：</a:t>
            </a:r>
            <a:r>
              <a:rPr lang="zh-CN" altLang="en-US" sz="2400"/>
              <a:t>具有多个物理接口、连接到多个网络上</a:t>
            </a:r>
          </a:p>
          <a:p>
            <a:pPr marL="658813" lvl="1" indent="-174625"/>
            <a:r>
              <a:rPr lang="zh-CN" altLang="en-US" sz="2200"/>
              <a:t>路由器、多穴主机（</a:t>
            </a:r>
            <a:r>
              <a:rPr lang="en-US" altLang="zh-CN" sz="2200"/>
              <a:t>multi-homed host</a:t>
            </a:r>
            <a:r>
              <a:rPr lang="zh-CN" altLang="en-US" sz="2200"/>
              <a:t>）</a:t>
            </a:r>
          </a:p>
          <a:p>
            <a:pPr marL="658813" lvl="1" indent="-174625"/>
            <a:r>
              <a:rPr lang="zh-CN" altLang="en-US" sz="2200"/>
              <a:t>该结点同时属于它所连接的多个网络</a:t>
            </a:r>
          </a:p>
          <a:p>
            <a:pPr marL="658813" lvl="1" indent="-174625"/>
            <a:r>
              <a:rPr lang="zh-CN" altLang="en-US" sz="2200"/>
              <a:t>对应于结点所连接的每一个网络，给该结点分配一个 </a:t>
            </a:r>
            <a:r>
              <a:rPr lang="en-US" altLang="zh-CN" sz="2200"/>
              <a:t>IP </a:t>
            </a:r>
            <a:r>
              <a:rPr lang="zh-CN" altLang="en-US" sz="2200"/>
              <a:t>地址</a:t>
            </a:r>
          </a:p>
          <a:p>
            <a:pPr marL="658813" lvl="1" indent="-174625"/>
            <a:r>
              <a:rPr lang="zh-CN" altLang="en-US" sz="2200"/>
              <a:t>结点具有多少个网络连接就拥有多少 个</a:t>
            </a:r>
            <a:r>
              <a:rPr lang="en-US" altLang="zh-CN" sz="2200"/>
              <a:t>IP </a:t>
            </a:r>
            <a:r>
              <a:rPr lang="zh-CN" altLang="en-US" sz="2200"/>
              <a:t>地址</a:t>
            </a:r>
          </a:p>
          <a:p>
            <a:pPr marL="293688" indent="-293688"/>
            <a:r>
              <a:rPr lang="zh-CN" altLang="en-US"/>
              <a:t>可见，</a:t>
            </a:r>
            <a:r>
              <a:rPr lang="zh-CN" altLang="en-US">
                <a:solidFill>
                  <a:srgbClr val="FF0000"/>
                </a:solidFill>
                <a:latin typeface="Times New Roman" panose="02020603050405020304" pitchFamily="18" charset="0"/>
              </a:rPr>
              <a:t>网间网地址真正标识的不是主机</a:t>
            </a:r>
            <a:r>
              <a:rPr lang="en-US" altLang="zh-CN">
                <a:solidFill>
                  <a:srgbClr val="FF0000"/>
                </a:solidFill>
              </a:rPr>
              <a:t>, </a:t>
            </a:r>
            <a:r>
              <a:rPr lang="zh-CN" altLang="en-US">
                <a:solidFill>
                  <a:srgbClr val="FF0000"/>
                </a:solidFill>
                <a:latin typeface="Times New Roman" panose="02020603050405020304" pitchFamily="18" charset="0"/>
              </a:rPr>
              <a:t>而是主机的网络连接</a:t>
            </a:r>
            <a:r>
              <a:rPr lang="en-US" altLang="zh-CN">
                <a:solidFill>
                  <a:srgbClr val="FF0000"/>
                </a:solidFill>
              </a:rPr>
              <a:t>.</a:t>
            </a:r>
            <a:r>
              <a:rPr lang="en-US" altLang="zh-CN"/>
              <a:t> </a:t>
            </a:r>
          </a:p>
        </p:txBody>
      </p:sp>
      <p:grpSp>
        <p:nvGrpSpPr>
          <p:cNvPr id="2" name="Group 4"/>
          <p:cNvGrpSpPr>
            <a:grpSpLocks/>
          </p:cNvGrpSpPr>
          <p:nvPr/>
        </p:nvGrpSpPr>
        <p:grpSpPr bwMode="auto">
          <a:xfrm>
            <a:off x="1781176" y="3973514"/>
            <a:ext cx="8670925" cy="1900237"/>
            <a:chOff x="139" y="2726"/>
            <a:chExt cx="5462" cy="1197"/>
          </a:xfrm>
        </p:grpSpPr>
        <p:sp>
          <p:nvSpPr>
            <p:cNvPr id="29704" name="Line 5"/>
            <p:cNvSpPr>
              <a:spLocks noChangeShapeType="1"/>
            </p:cNvSpPr>
            <p:nvPr/>
          </p:nvSpPr>
          <p:spPr bwMode="auto">
            <a:xfrm>
              <a:off x="1408" y="3474"/>
              <a:ext cx="2970" cy="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05" name="AutoShape 6"/>
            <p:cNvSpPr>
              <a:spLocks noChangeArrowheads="1"/>
            </p:cNvSpPr>
            <p:nvPr/>
          </p:nvSpPr>
          <p:spPr bwMode="auto">
            <a:xfrm>
              <a:off x="139" y="2867"/>
              <a:ext cx="1344" cy="1056"/>
            </a:xfrm>
            <a:prstGeom prst="cloudCallout">
              <a:avLst>
                <a:gd name="adj1" fmla="val -34375"/>
                <a:gd name="adj2" fmla="val 35699"/>
              </a:avLst>
            </a:prstGeom>
            <a:solidFill>
              <a:srgbClr val="0000FF"/>
            </a:solidFill>
            <a:ln w="12700">
              <a:solidFill>
                <a:schemeClr val="tx2"/>
              </a:solidFill>
              <a:round/>
              <a:headEnd/>
              <a:tailEnd/>
            </a:ln>
          </p:spPr>
          <p:txBody>
            <a:bodyPr wrap="none" lIns="0" tIns="0" rIns="0" bIns="0"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latin typeface="Verdana" panose="020B0604030504040204" pitchFamily="34" charset="0"/>
                </a:rPr>
                <a:t>网络 </a:t>
              </a:r>
              <a:r>
                <a:rPr kumimoji="1" lang="en-US" altLang="zh-CN">
                  <a:solidFill>
                    <a:schemeClr val="bg1"/>
                  </a:solidFill>
                  <a:latin typeface="Verdana" panose="020B0604030504040204" pitchFamily="34" charset="0"/>
                </a:rPr>
                <a:t>1</a:t>
              </a:r>
            </a:p>
            <a:p>
              <a:pPr algn="ctr" eaLnBrk="1" hangingPunct="1"/>
              <a:r>
                <a:rPr kumimoji="1" lang="en-US" altLang="zh-CN" sz="2000">
                  <a:solidFill>
                    <a:schemeClr val="bg1"/>
                  </a:solidFill>
                  <a:latin typeface="Verdana" panose="020B0604030504040204" pitchFamily="34" charset="0"/>
                </a:rPr>
                <a:t>10.0.0.0/8</a:t>
              </a:r>
            </a:p>
          </p:txBody>
        </p:sp>
        <p:sp>
          <p:nvSpPr>
            <p:cNvPr id="29706" name="AutoShape 7"/>
            <p:cNvSpPr>
              <a:spLocks noChangeArrowheads="1"/>
            </p:cNvSpPr>
            <p:nvPr/>
          </p:nvSpPr>
          <p:spPr bwMode="auto">
            <a:xfrm>
              <a:off x="4257" y="2778"/>
              <a:ext cx="1344" cy="1056"/>
            </a:xfrm>
            <a:prstGeom prst="cloudCallout">
              <a:avLst>
                <a:gd name="adj1" fmla="val -34375"/>
                <a:gd name="adj2" fmla="val 35699"/>
              </a:avLst>
            </a:prstGeom>
            <a:solidFill>
              <a:srgbClr val="0000FF"/>
            </a:solidFill>
            <a:ln w="12700">
              <a:solidFill>
                <a:schemeClr val="tx2"/>
              </a:solidFill>
              <a:round/>
              <a:headEnd/>
              <a:tailEnd/>
            </a:ln>
          </p:spPr>
          <p:txBody>
            <a:bodyPr wrap="none" lIns="0" tIns="0" rIns="0" bIns="0"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000">
                  <a:solidFill>
                    <a:schemeClr val="bg1"/>
                  </a:solidFill>
                  <a:latin typeface="Verdana" panose="020B0604030504040204" pitchFamily="34" charset="0"/>
                </a:rPr>
                <a:t>网络 </a:t>
              </a:r>
              <a:r>
                <a:rPr kumimoji="1" lang="en-US" altLang="zh-CN" sz="2000">
                  <a:solidFill>
                    <a:schemeClr val="bg1"/>
                  </a:solidFill>
                  <a:latin typeface="Verdana" panose="020B0604030504040204" pitchFamily="34" charset="0"/>
                </a:rPr>
                <a:t>2</a:t>
              </a:r>
            </a:p>
            <a:p>
              <a:pPr algn="ctr" eaLnBrk="1" hangingPunct="1"/>
              <a:r>
                <a:rPr kumimoji="1" lang="en-US" altLang="zh-CN" sz="2000">
                  <a:solidFill>
                    <a:schemeClr val="bg1"/>
                  </a:solidFill>
                  <a:latin typeface="Verdana" panose="020B0604030504040204" pitchFamily="34" charset="0"/>
                </a:rPr>
                <a:t>192.0.1.0/24</a:t>
              </a:r>
            </a:p>
          </p:txBody>
        </p:sp>
        <p:grpSp>
          <p:nvGrpSpPr>
            <p:cNvPr id="29707" name="Group 8"/>
            <p:cNvGrpSpPr>
              <a:grpSpLocks/>
            </p:cNvGrpSpPr>
            <p:nvPr/>
          </p:nvGrpSpPr>
          <p:grpSpPr bwMode="auto">
            <a:xfrm>
              <a:off x="2381" y="2726"/>
              <a:ext cx="876" cy="992"/>
              <a:chOff x="2530" y="2726"/>
              <a:chExt cx="876" cy="992"/>
            </a:xfrm>
          </p:grpSpPr>
          <p:sp>
            <p:nvSpPr>
              <p:cNvPr id="29708" name="Rectangle 9"/>
              <p:cNvSpPr>
                <a:spLocks noChangeArrowheads="1"/>
              </p:cNvSpPr>
              <p:nvPr/>
            </p:nvSpPr>
            <p:spPr bwMode="auto">
              <a:xfrm>
                <a:off x="2531" y="2726"/>
                <a:ext cx="875" cy="992"/>
              </a:xfrm>
              <a:prstGeom prst="rect">
                <a:avLst/>
              </a:prstGeom>
              <a:solidFill>
                <a:srgbClr val="0066FF"/>
              </a:solidFill>
              <a:ln w="28575">
                <a:solidFill>
                  <a:schemeClr val="tx2"/>
                </a:solidFill>
                <a:miter lim="800000"/>
                <a:headEnd/>
                <a:tailEnd/>
              </a:ln>
            </p:spPr>
            <p:txBody>
              <a:bodyPr wrap="none"/>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主机</a:t>
                </a:r>
              </a:p>
            </p:txBody>
          </p:sp>
          <p:sp>
            <p:nvSpPr>
              <p:cNvPr id="29709" name="Rectangle 10"/>
              <p:cNvSpPr>
                <a:spLocks noChangeArrowheads="1"/>
              </p:cNvSpPr>
              <p:nvPr/>
            </p:nvSpPr>
            <p:spPr bwMode="auto">
              <a:xfrm>
                <a:off x="2530" y="3046"/>
                <a:ext cx="336" cy="624"/>
              </a:xfrm>
              <a:prstGeom prst="rect">
                <a:avLst/>
              </a:prstGeom>
              <a:solidFill>
                <a:srgbClr val="FF66FF"/>
              </a:solidFill>
              <a:ln w="9525">
                <a:solidFill>
                  <a:schemeClr val="bg2"/>
                </a:solidFill>
                <a:miter lim="800000"/>
                <a:headEnd/>
                <a:tailEnd/>
              </a:ln>
            </p:spPr>
            <p:txBody>
              <a:bodyPr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rgbClr val="000099"/>
                    </a:solidFill>
                    <a:latin typeface="Verdana" panose="020B0604030504040204" pitchFamily="34" charset="0"/>
                    <a:ea typeface="隶书" panose="02010509060101010101" pitchFamily="49" charset="-122"/>
                  </a:rPr>
                  <a:t>接口</a:t>
                </a:r>
                <a:r>
                  <a:rPr kumimoji="1" lang="en-US" altLang="zh-CN" sz="2400">
                    <a:solidFill>
                      <a:srgbClr val="000099"/>
                    </a:solidFill>
                    <a:latin typeface="Verdana" panose="020B0604030504040204" pitchFamily="34" charset="0"/>
                    <a:ea typeface="隶书" panose="02010509060101010101" pitchFamily="49" charset="-122"/>
                  </a:rPr>
                  <a:t>A</a:t>
                </a:r>
              </a:p>
            </p:txBody>
          </p:sp>
          <p:sp>
            <p:nvSpPr>
              <p:cNvPr id="29710" name="Rectangle 11"/>
              <p:cNvSpPr>
                <a:spLocks noChangeArrowheads="1"/>
              </p:cNvSpPr>
              <p:nvPr/>
            </p:nvSpPr>
            <p:spPr bwMode="auto">
              <a:xfrm>
                <a:off x="3070" y="3046"/>
                <a:ext cx="336" cy="624"/>
              </a:xfrm>
              <a:prstGeom prst="rect">
                <a:avLst/>
              </a:prstGeom>
              <a:solidFill>
                <a:srgbClr val="FF66FF"/>
              </a:solidFill>
              <a:ln w="9525">
                <a:solidFill>
                  <a:schemeClr val="bg2"/>
                </a:solidFill>
                <a:miter lim="800000"/>
                <a:headEnd/>
                <a:tailEnd/>
              </a:ln>
            </p:spPr>
            <p:txBody>
              <a:bodyPr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rgbClr val="000099"/>
                    </a:solidFill>
                    <a:latin typeface="Verdana" panose="020B0604030504040204" pitchFamily="34" charset="0"/>
                    <a:ea typeface="隶书" panose="02010509060101010101" pitchFamily="49" charset="-122"/>
                  </a:rPr>
                  <a:t>接口</a:t>
                </a:r>
                <a:r>
                  <a:rPr kumimoji="1" lang="en-US" altLang="zh-CN" sz="2400">
                    <a:solidFill>
                      <a:srgbClr val="000099"/>
                    </a:solidFill>
                    <a:latin typeface="Verdana" panose="020B0604030504040204" pitchFamily="34" charset="0"/>
                    <a:ea typeface="隶书" panose="02010509060101010101" pitchFamily="49" charset="-122"/>
                  </a:rPr>
                  <a:t>B</a:t>
                </a:r>
              </a:p>
            </p:txBody>
          </p:sp>
        </p:grpSp>
      </p:grpSp>
      <p:grpSp>
        <p:nvGrpSpPr>
          <p:cNvPr id="4" name="Group 12"/>
          <p:cNvGrpSpPr>
            <a:grpSpLocks/>
          </p:cNvGrpSpPr>
          <p:nvPr/>
        </p:nvGrpSpPr>
        <p:grpSpPr bwMode="auto">
          <a:xfrm>
            <a:off x="4260851" y="5140326"/>
            <a:ext cx="3535363" cy="315913"/>
            <a:chOff x="1488" y="2544"/>
            <a:chExt cx="2832" cy="288"/>
          </a:xfrm>
        </p:grpSpPr>
        <p:sp>
          <p:nvSpPr>
            <p:cNvPr id="29702" name="Rectangle 13"/>
            <p:cNvSpPr>
              <a:spLocks noChangeArrowheads="1"/>
            </p:cNvSpPr>
            <p:nvPr/>
          </p:nvSpPr>
          <p:spPr bwMode="auto">
            <a:xfrm>
              <a:off x="1488" y="2544"/>
              <a:ext cx="81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r" eaLnBrk="1" hangingPunct="1"/>
              <a:r>
                <a:rPr kumimoji="1" lang="en-US" altLang="zh-CN">
                  <a:solidFill>
                    <a:schemeClr val="tx2"/>
                  </a:solidFill>
                  <a:ea typeface="华文新魏" panose="02010800040101010101" pitchFamily="2" charset="-122"/>
                </a:rPr>
                <a:t>10.0.0.1</a:t>
              </a:r>
            </a:p>
          </p:txBody>
        </p:sp>
        <p:sp>
          <p:nvSpPr>
            <p:cNvPr id="29703" name="Rectangle 14"/>
            <p:cNvSpPr>
              <a:spLocks noChangeArrowheads="1"/>
            </p:cNvSpPr>
            <p:nvPr/>
          </p:nvSpPr>
          <p:spPr bwMode="auto">
            <a:xfrm>
              <a:off x="3504" y="2592"/>
              <a:ext cx="81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kumimoji="1" lang="en-US" altLang="zh-CN">
                  <a:solidFill>
                    <a:schemeClr val="tx2"/>
                  </a:solidFill>
                  <a:ea typeface="华文新魏" panose="02010800040101010101" pitchFamily="2" charset="-122"/>
                </a:rPr>
                <a:t>192.0.1.1</a:t>
              </a:r>
            </a:p>
          </p:txBody>
        </p:sp>
      </p:grpSp>
      <p:sp>
        <p:nvSpPr>
          <p:cNvPr id="29701" name="Rectangle 15"/>
          <p:cNvSpPr>
            <a:spLocks noGrp="1" noChangeArrowheads="1"/>
          </p:cNvSpPr>
          <p:nvPr>
            <p:ph type="title"/>
          </p:nvPr>
        </p:nvSpPr>
        <p:spPr bwMode="auto">
          <a:xfrm>
            <a:off x="2209800" y="4730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200">
                <a:solidFill>
                  <a:schemeClr val="hlink"/>
                </a:solidFill>
                <a:ea typeface="华文行楷" panose="02010800040101010101" pitchFamily="2" charset="-122"/>
              </a:rPr>
              <a:t>路由器和多穴主机的 </a:t>
            </a:r>
            <a:r>
              <a:rPr lang="en-US" altLang="zh-CN" sz="3200">
                <a:solidFill>
                  <a:schemeClr val="hlink"/>
                </a:solidFill>
                <a:ea typeface="华文行楷" panose="02010800040101010101" pitchFamily="2" charset="-122"/>
              </a:rPr>
              <a:t>IP </a:t>
            </a:r>
            <a:r>
              <a:rPr lang="zh-CN" altLang="en-US" sz="3200">
                <a:solidFill>
                  <a:schemeClr val="hlink"/>
                </a:solidFill>
                <a:ea typeface="华文行楷" panose="02010800040101010101" pitchFamily="2" charset="-122"/>
              </a:rPr>
              <a:t>地址</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bwMode="auto">
          <a:xfrm>
            <a:off x="2209800" y="247651"/>
            <a:ext cx="7772400" cy="7350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分类</a:t>
            </a:r>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地址存在的问题</a:t>
            </a:r>
          </a:p>
        </p:txBody>
      </p:sp>
      <p:sp>
        <p:nvSpPr>
          <p:cNvPr id="1849348" name="Text Box 4"/>
          <p:cNvSpPr txBox="1">
            <a:spLocks noChangeArrowheads="1"/>
          </p:cNvSpPr>
          <p:nvPr/>
        </p:nvSpPr>
        <p:spPr bwMode="auto">
          <a:xfrm>
            <a:off x="2379664" y="1227138"/>
            <a:ext cx="8047037" cy="4573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分类地址划分存在许多问题：</a:t>
            </a:r>
          </a:p>
          <a:p>
            <a:pPr>
              <a:spcBef>
                <a:spcPct val="20000"/>
              </a:spcBef>
            </a:pPr>
            <a:r>
              <a:rPr lang="zh-CN" altLang="en-US" b="1">
                <a:solidFill>
                  <a:srgbClr val="FF0000"/>
                </a:solidFill>
                <a:latin typeface="Arial" panose="020B0604020202020204" pitchFamily="34" charset="0"/>
              </a:rPr>
              <a:t>问题 </a:t>
            </a:r>
            <a:r>
              <a:rPr lang="en-US" altLang="zh-CN" b="1">
                <a:solidFill>
                  <a:srgbClr val="FF0000"/>
                </a:solidFill>
                <a:latin typeface="Arial" panose="020B0604020202020204" pitchFamily="34" charset="0"/>
              </a:rPr>
              <a:t>1. </a:t>
            </a:r>
            <a:r>
              <a:rPr lang="zh-CN" altLang="en-US" b="1">
                <a:solidFill>
                  <a:srgbClr val="3333CD"/>
                </a:solidFill>
                <a:latin typeface="Arial" panose="020B0604020202020204" pitchFamily="34" charset="0"/>
              </a:rPr>
              <a:t>用于大型网络的地址太少</a:t>
            </a:r>
          </a:p>
          <a:p>
            <a:pPr>
              <a:spcBef>
                <a:spcPct val="20000"/>
              </a:spcBef>
            </a:pPr>
            <a:r>
              <a:rPr lang="en-US" altLang="zh-CN">
                <a:solidFill>
                  <a:srgbClr val="000000"/>
                </a:solidFill>
                <a:latin typeface="Arial" panose="020B0604020202020204" pitchFamily="34" charset="0"/>
              </a:rPr>
              <a:t>	</a:t>
            </a:r>
            <a:r>
              <a:rPr lang="en-US" altLang="zh-CN">
                <a:solidFill>
                  <a:srgbClr val="000000"/>
                </a:solidFill>
              </a:rPr>
              <a:t> – </a:t>
            </a:r>
            <a:r>
              <a:rPr lang="en-US" altLang="zh-CN">
                <a:solidFill>
                  <a:srgbClr val="000000"/>
                </a:solidFill>
                <a:latin typeface="Arial" panose="020B0604020202020204" pitchFamily="34" charset="0"/>
              </a:rPr>
              <a:t>A </a:t>
            </a:r>
            <a:r>
              <a:rPr lang="zh-CN" altLang="en-US">
                <a:solidFill>
                  <a:srgbClr val="000000"/>
                </a:solidFill>
                <a:latin typeface="Arial" panose="020B0604020202020204" pitchFamily="34" charset="0"/>
              </a:rPr>
              <a:t>类和 </a:t>
            </a:r>
            <a:r>
              <a:rPr lang="en-US" altLang="zh-CN">
                <a:solidFill>
                  <a:srgbClr val="000000"/>
                </a:solidFill>
                <a:latin typeface="Arial" panose="020B0604020202020204" pitchFamily="34" charset="0"/>
              </a:rPr>
              <a:t>B </a:t>
            </a:r>
            <a:r>
              <a:rPr lang="zh-CN" altLang="en-US">
                <a:solidFill>
                  <a:srgbClr val="000000"/>
                </a:solidFill>
                <a:latin typeface="Arial" panose="020B0604020202020204" pitchFamily="34" charset="0"/>
              </a:rPr>
              <a:t>类地址快用完了</a:t>
            </a:r>
            <a:r>
              <a:rPr lang="en-US" altLang="zh-CN">
                <a:solidFill>
                  <a:srgbClr val="000000"/>
                </a:solidFill>
                <a:latin typeface="Arial" panose="020B0604020202020204" pitchFamily="34" charset="0"/>
              </a:rPr>
              <a:t>.</a:t>
            </a:r>
          </a:p>
          <a:p>
            <a:pPr algn="just"/>
            <a:r>
              <a:rPr lang="zh-CN" altLang="en-US" b="1">
                <a:solidFill>
                  <a:srgbClr val="FF0000"/>
                </a:solidFill>
              </a:rPr>
              <a:t>问题 </a:t>
            </a:r>
            <a:r>
              <a:rPr lang="en-US" altLang="zh-CN" b="1">
                <a:solidFill>
                  <a:srgbClr val="FF0000"/>
                </a:solidFill>
              </a:rPr>
              <a:t>2. </a:t>
            </a:r>
            <a:r>
              <a:rPr lang="zh-CN" altLang="en-US" b="1">
                <a:solidFill>
                  <a:srgbClr val="3333CD"/>
                </a:solidFill>
              </a:rPr>
              <a:t>两层体系用于具有 </a:t>
            </a:r>
            <a:r>
              <a:rPr lang="en-US" altLang="zh-CN" b="1">
                <a:solidFill>
                  <a:srgbClr val="3333CD"/>
                </a:solidFill>
              </a:rPr>
              <a:t>A </a:t>
            </a:r>
            <a:r>
              <a:rPr lang="zh-CN" altLang="en-US" b="1">
                <a:solidFill>
                  <a:srgbClr val="3333CD"/>
                </a:solidFill>
              </a:rPr>
              <a:t>类和 </a:t>
            </a:r>
            <a:r>
              <a:rPr lang="en-US" altLang="zh-CN" b="1">
                <a:solidFill>
                  <a:srgbClr val="3333CD"/>
                </a:solidFill>
              </a:rPr>
              <a:t>B </a:t>
            </a:r>
            <a:r>
              <a:rPr lang="zh-CN" altLang="en-US" b="1">
                <a:solidFill>
                  <a:srgbClr val="3333CD"/>
                </a:solidFill>
              </a:rPr>
              <a:t>类地址的大 </a:t>
            </a:r>
            <a:endParaRPr lang="en-US" altLang="zh-CN" b="1">
              <a:solidFill>
                <a:srgbClr val="3333CD"/>
              </a:solidFill>
            </a:endParaRPr>
          </a:p>
          <a:p>
            <a:pPr algn="just"/>
            <a:r>
              <a:rPr lang="en-US" altLang="zh-CN" b="1">
                <a:solidFill>
                  <a:srgbClr val="3333CD"/>
                </a:solidFill>
              </a:rPr>
              <a:t>             </a:t>
            </a:r>
            <a:r>
              <a:rPr lang="zh-CN" altLang="en-US" b="1">
                <a:solidFill>
                  <a:srgbClr val="3333CD"/>
                </a:solidFill>
              </a:rPr>
              <a:t>型网络时效率太低</a:t>
            </a:r>
            <a:r>
              <a:rPr lang="en-US" altLang="zh-CN" b="1">
                <a:solidFill>
                  <a:srgbClr val="3333CD"/>
                </a:solidFill>
              </a:rPr>
              <a:t>.</a:t>
            </a:r>
          </a:p>
          <a:p>
            <a:pPr algn="just"/>
            <a:r>
              <a:rPr lang="en-US" altLang="zh-CN">
                <a:solidFill>
                  <a:srgbClr val="000000"/>
                </a:solidFill>
              </a:rPr>
              <a:t>	– </a:t>
            </a:r>
            <a:r>
              <a:rPr lang="zh-CN" altLang="en-US" b="1">
                <a:solidFill>
                  <a:srgbClr val="000000"/>
                </a:solidFill>
              </a:rPr>
              <a:t>解决办法</a:t>
            </a:r>
            <a:r>
              <a:rPr lang="en-US" altLang="zh-CN" b="1">
                <a:solidFill>
                  <a:srgbClr val="000000"/>
                </a:solidFill>
              </a:rPr>
              <a:t>#1: </a:t>
            </a:r>
            <a:r>
              <a:rPr lang="zh-CN" altLang="en-US" b="1">
                <a:solidFill>
                  <a:srgbClr val="FF0000"/>
                </a:solidFill>
              </a:rPr>
              <a:t>子网划分</a:t>
            </a:r>
            <a:endParaRPr lang="en-US" altLang="zh-CN" b="1">
              <a:solidFill>
                <a:srgbClr val="FF0000"/>
              </a:solidFill>
            </a:endParaRPr>
          </a:p>
          <a:p>
            <a:pPr algn="just"/>
            <a:r>
              <a:rPr lang="zh-CN" altLang="en-US" b="1">
                <a:solidFill>
                  <a:srgbClr val="FF0000"/>
                </a:solidFill>
              </a:rPr>
              <a:t>问题 </a:t>
            </a:r>
            <a:r>
              <a:rPr lang="en-US" altLang="zh-CN" b="1">
                <a:solidFill>
                  <a:srgbClr val="FF0000"/>
                </a:solidFill>
              </a:rPr>
              <a:t>3. </a:t>
            </a:r>
            <a:r>
              <a:rPr lang="zh-CN" altLang="en-US" b="1">
                <a:solidFill>
                  <a:srgbClr val="3333CD"/>
                </a:solidFill>
              </a:rPr>
              <a:t>灵活性差</a:t>
            </a:r>
            <a:r>
              <a:rPr lang="en-US" altLang="zh-CN" b="1">
                <a:solidFill>
                  <a:srgbClr val="3333CD"/>
                </a:solidFill>
              </a:rPr>
              <a:t>. </a:t>
            </a:r>
            <a:r>
              <a:rPr lang="zh-CN" altLang="en-US">
                <a:solidFill>
                  <a:srgbClr val="000000"/>
                </a:solidFill>
              </a:rPr>
              <a:t>假设一个公司需要 </a:t>
            </a:r>
            <a:r>
              <a:rPr lang="en-US" altLang="zh-CN">
                <a:solidFill>
                  <a:srgbClr val="000000"/>
                </a:solidFill>
              </a:rPr>
              <a:t>2,000 </a:t>
            </a:r>
            <a:r>
              <a:rPr lang="zh-CN" altLang="en-US">
                <a:solidFill>
                  <a:srgbClr val="000000"/>
                </a:solidFill>
              </a:rPr>
              <a:t>个地址</a:t>
            </a:r>
          </a:p>
          <a:p>
            <a:pPr algn="just"/>
            <a:r>
              <a:rPr lang="zh-CN" altLang="en-US">
                <a:solidFill>
                  <a:srgbClr val="000000"/>
                </a:solidFill>
              </a:rPr>
              <a:t>   </a:t>
            </a:r>
            <a:r>
              <a:rPr lang="en-US" altLang="zh-CN">
                <a:solidFill>
                  <a:srgbClr val="000000"/>
                </a:solidFill>
              </a:rPr>
              <a:t>–A </a:t>
            </a:r>
            <a:r>
              <a:rPr lang="zh-CN" altLang="en-US">
                <a:solidFill>
                  <a:srgbClr val="000000"/>
                </a:solidFill>
              </a:rPr>
              <a:t>类</a:t>
            </a:r>
            <a:r>
              <a:rPr lang="en-US" altLang="zh-CN">
                <a:solidFill>
                  <a:srgbClr val="000000"/>
                </a:solidFill>
              </a:rPr>
              <a:t>(1</a:t>
            </a:r>
            <a:r>
              <a:rPr lang="zh-CN" altLang="en-US">
                <a:solidFill>
                  <a:srgbClr val="000000"/>
                </a:solidFill>
              </a:rPr>
              <a:t>千</a:t>
            </a:r>
            <a:r>
              <a:rPr lang="en-US" altLang="zh-CN">
                <a:solidFill>
                  <a:srgbClr val="000000"/>
                </a:solidFill>
              </a:rPr>
              <a:t>6</a:t>
            </a:r>
            <a:r>
              <a:rPr lang="zh-CN" altLang="en-US">
                <a:solidFill>
                  <a:srgbClr val="000000"/>
                </a:solidFill>
              </a:rPr>
              <a:t>百万</a:t>
            </a:r>
            <a:r>
              <a:rPr lang="en-US" altLang="zh-CN">
                <a:solidFill>
                  <a:srgbClr val="000000"/>
                </a:solidFill>
              </a:rPr>
              <a:t>)</a:t>
            </a:r>
            <a:r>
              <a:rPr lang="zh-CN" altLang="en-US">
                <a:solidFill>
                  <a:srgbClr val="000000"/>
                </a:solidFill>
              </a:rPr>
              <a:t>和 </a:t>
            </a:r>
            <a:r>
              <a:rPr lang="en-US" altLang="zh-CN">
                <a:solidFill>
                  <a:srgbClr val="000000"/>
                </a:solidFill>
              </a:rPr>
              <a:t>B </a:t>
            </a:r>
            <a:r>
              <a:rPr lang="zh-CN" altLang="en-US">
                <a:solidFill>
                  <a:srgbClr val="000000"/>
                </a:solidFill>
              </a:rPr>
              <a:t>类</a:t>
            </a:r>
            <a:r>
              <a:rPr lang="en-US" altLang="zh-CN">
                <a:solidFill>
                  <a:srgbClr val="000000"/>
                </a:solidFill>
              </a:rPr>
              <a:t>(65000)</a:t>
            </a:r>
            <a:r>
              <a:rPr lang="zh-CN" altLang="en-US">
                <a:solidFill>
                  <a:srgbClr val="000000"/>
                </a:solidFill>
              </a:rPr>
              <a:t>地址太浪费</a:t>
            </a:r>
            <a:endParaRPr lang="en-US" altLang="zh-CN">
              <a:solidFill>
                <a:srgbClr val="000000"/>
              </a:solidFill>
            </a:endParaRPr>
          </a:p>
          <a:p>
            <a:pPr algn="just"/>
            <a:r>
              <a:rPr lang="en-US" altLang="zh-CN">
                <a:solidFill>
                  <a:srgbClr val="000000"/>
                </a:solidFill>
              </a:rPr>
              <a:t>	–C </a:t>
            </a:r>
            <a:r>
              <a:rPr lang="zh-CN" altLang="en-US">
                <a:solidFill>
                  <a:srgbClr val="000000"/>
                </a:solidFill>
              </a:rPr>
              <a:t>类地址又不够 </a:t>
            </a:r>
            <a:r>
              <a:rPr lang="en-US" altLang="zh-CN">
                <a:solidFill>
                  <a:srgbClr val="000000"/>
                </a:solidFill>
              </a:rPr>
              <a:t>(</a:t>
            </a:r>
            <a:r>
              <a:rPr lang="zh-CN" altLang="en-US">
                <a:solidFill>
                  <a:srgbClr val="000000"/>
                </a:solidFill>
              </a:rPr>
              <a:t>需要 </a:t>
            </a:r>
            <a:r>
              <a:rPr lang="en-US" altLang="zh-CN">
                <a:solidFill>
                  <a:srgbClr val="000000"/>
                </a:solidFill>
              </a:rPr>
              <a:t>40 </a:t>
            </a:r>
            <a:r>
              <a:rPr lang="zh-CN" altLang="en-US">
                <a:solidFill>
                  <a:srgbClr val="000000"/>
                </a:solidFill>
              </a:rPr>
              <a:t>个</a:t>
            </a:r>
            <a:r>
              <a:rPr lang="en-US" altLang="zh-CN">
                <a:solidFill>
                  <a:srgbClr val="000000"/>
                </a:solidFill>
              </a:rPr>
              <a:t>C </a:t>
            </a:r>
            <a:r>
              <a:rPr lang="zh-CN" altLang="en-US">
                <a:solidFill>
                  <a:srgbClr val="000000"/>
                </a:solidFill>
              </a:rPr>
              <a:t>类地址</a:t>
            </a:r>
            <a:r>
              <a:rPr lang="en-US" altLang="zh-CN">
                <a:solidFill>
                  <a:srgbClr val="000000"/>
                </a:solidFill>
              </a:rPr>
              <a:t>)</a:t>
            </a:r>
          </a:p>
          <a:p>
            <a:pPr algn="just"/>
            <a:r>
              <a:rPr lang="en-US" altLang="zh-CN">
                <a:solidFill>
                  <a:srgbClr val="000000"/>
                </a:solidFill>
              </a:rPr>
              <a:t>	– </a:t>
            </a:r>
            <a:r>
              <a:rPr lang="zh-CN" altLang="en-US" b="1">
                <a:solidFill>
                  <a:srgbClr val="000000"/>
                </a:solidFill>
              </a:rPr>
              <a:t>解决办法 </a:t>
            </a:r>
            <a:r>
              <a:rPr lang="en-US" altLang="zh-CN" b="1">
                <a:solidFill>
                  <a:srgbClr val="000000"/>
                </a:solidFill>
              </a:rPr>
              <a:t>#2: </a:t>
            </a:r>
            <a:r>
              <a:rPr lang="zh-CN" altLang="en-US" b="1">
                <a:solidFill>
                  <a:srgbClr val="FF0000"/>
                </a:solidFill>
              </a:rPr>
              <a:t>无类别域间路由 </a:t>
            </a:r>
            <a:r>
              <a:rPr lang="en-US" altLang="zh-CN" b="1">
                <a:solidFill>
                  <a:srgbClr val="FF0000"/>
                </a:solidFill>
              </a:rPr>
              <a:t>(CIDR)</a:t>
            </a:r>
            <a:endParaRPr lang="en-US" altLang="zh-CN">
              <a:solidFill>
                <a:srgbClr val="000000"/>
              </a:solidFill>
              <a:latin typeface="Arial" panose="020B0604020202020204" pitchFamily="34"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49348">
                                            <p:txEl>
                                              <p:pRg st="0" end="0"/>
                                            </p:txEl>
                                          </p:spTgt>
                                        </p:tgtEl>
                                        <p:attrNameLst>
                                          <p:attrName>style.visibility</p:attrName>
                                        </p:attrNameLst>
                                      </p:cBhvr>
                                      <p:to>
                                        <p:strVal val="visible"/>
                                      </p:to>
                                    </p:set>
                                    <p:anim calcmode="lin" valueType="num">
                                      <p:cBhvr additive="base">
                                        <p:cTn id="7" dur="500" fill="hold"/>
                                        <p:tgtEl>
                                          <p:spTgt spid="184934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4934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49348">
                                            <p:txEl>
                                              <p:pRg st="1" end="1"/>
                                            </p:txEl>
                                          </p:spTgt>
                                        </p:tgtEl>
                                        <p:attrNameLst>
                                          <p:attrName>style.visibility</p:attrName>
                                        </p:attrNameLst>
                                      </p:cBhvr>
                                      <p:to>
                                        <p:strVal val="visible"/>
                                      </p:to>
                                    </p:set>
                                    <p:anim calcmode="lin" valueType="num">
                                      <p:cBhvr additive="base">
                                        <p:cTn id="13" dur="500" fill="hold"/>
                                        <p:tgtEl>
                                          <p:spTgt spid="1849348">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4934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49348">
                                            <p:txEl>
                                              <p:pRg st="2" end="2"/>
                                            </p:txEl>
                                          </p:spTgt>
                                        </p:tgtEl>
                                        <p:attrNameLst>
                                          <p:attrName>style.visibility</p:attrName>
                                        </p:attrNameLst>
                                      </p:cBhvr>
                                      <p:to>
                                        <p:strVal val="visible"/>
                                      </p:to>
                                    </p:set>
                                    <p:anim calcmode="lin" valueType="num">
                                      <p:cBhvr additive="base">
                                        <p:cTn id="19" dur="500" fill="hold"/>
                                        <p:tgtEl>
                                          <p:spTgt spid="1849348">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4934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49348">
                                            <p:txEl>
                                              <p:pRg st="3" end="3"/>
                                            </p:txEl>
                                          </p:spTgt>
                                        </p:tgtEl>
                                        <p:attrNameLst>
                                          <p:attrName>style.visibility</p:attrName>
                                        </p:attrNameLst>
                                      </p:cBhvr>
                                      <p:to>
                                        <p:strVal val="visible"/>
                                      </p:to>
                                    </p:set>
                                    <p:anim calcmode="lin" valueType="num">
                                      <p:cBhvr additive="base">
                                        <p:cTn id="25" dur="500" fill="hold"/>
                                        <p:tgtEl>
                                          <p:spTgt spid="1849348">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4934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49348">
                                            <p:txEl>
                                              <p:pRg st="4" end="4"/>
                                            </p:txEl>
                                          </p:spTgt>
                                        </p:tgtEl>
                                        <p:attrNameLst>
                                          <p:attrName>style.visibility</p:attrName>
                                        </p:attrNameLst>
                                      </p:cBhvr>
                                      <p:to>
                                        <p:strVal val="visible"/>
                                      </p:to>
                                    </p:set>
                                    <p:anim calcmode="lin" valueType="num">
                                      <p:cBhvr additive="base">
                                        <p:cTn id="31" dur="500" fill="hold"/>
                                        <p:tgtEl>
                                          <p:spTgt spid="1849348">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4934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49348">
                                            <p:txEl>
                                              <p:pRg st="5" end="5"/>
                                            </p:txEl>
                                          </p:spTgt>
                                        </p:tgtEl>
                                        <p:attrNameLst>
                                          <p:attrName>style.visibility</p:attrName>
                                        </p:attrNameLst>
                                      </p:cBhvr>
                                      <p:to>
                                        <p:strVal val="visible"/>
                                      </p:to>
                                    </p:set>
                                    <p:anim calcmode="lin" valueType="num">
                                      <p:cBhvr additive="base">
                                        <p:cTn id="37" dur="500" fill="hold"/>
                                        <p:tgtEl>
                                          <p:spTgt spid="1849348">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49348">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849348">
                                            <p:txEl>
                                              <p:pRg st="6" end="6"/>
                                            </p:txEl>
                                          </p:spTgt>
                                        </p:tgtEl>
                                        <p:attrNameLst>
                                          <p:attrName>style.visibility</p:attrName>
                                        </p:attrNameLst>
                                      </p:cBhvr>
                                      <p:to>
                                        <p:strVal val="visible"/>
                                      </p:to>
                                    </p:set>
                                    <p:anim calcmode="lin" valueType="num">
                                      <p:cBhvr additive="base">
                                        <p:cTn id="43" dur="500" fill="hold"/>
                                        <p:tgtEl>
                                          <p:spTgt spid="1849348">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849348">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849348">
                                            <p:txEl>
                                              <p:pRg st="7" end="7"/>
                                            </p:txEl>
                                          </p:spTgt>
                                        </p:tgtEl>
                                        <p:attrNameLst>
                                          <p:attrName>style.visibility</p:attrName>
                                        </p:attrNameLst>
                                      </p:cBhvr>
                                      <p:to>
                                        <p:strVal val="visible"/>
                                      </p:to>
                                    </p:set>
                                    <p:anim calcmode="lin" valueType="num">
                                      <p:cBhvr additive="base">
                                        <p:cTn id="49" dur="500" fill="hold"/>
                                        <p:tgtEl>
                                          <p:spTgt spid="1849348">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849348">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849348">
                                            <p:txEl>
                                              <p:pRg st="8" end="8"/>
                                            </p:txEl>
                                          </p:spTgt>
                                        </p:tgtEl>
                                        <p:attrNameLst>
                                          <p:attrName>style.visibility</p:attrName>
                                        </p:attrNameLst>
                                      </p:cBhvr>
                                      <p:to>
                                        <p:strVal val="visible"/>
                                      </p:to>
                                    </p:set>
                                    <p:anim calcmode="lin" valueType="num">
                                      <p:cBhvr additive="base">
                                        <p:cTn id="55" dur="500" fill="hold"/>
                                        <p:tgtEl>
                                          <p:spTgt spid="1849348">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849348">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1849348">
                                            <p:txEl>
                                              <p:pRg st="9" end="9"/>
                                            </p:txEl>
                                          </p:spTgt>
                                        </p:tgtEl>
                                        <p:attrNameLst>
                                          <p:attrName>style.visibility</p:attrName>
                                        </p:attrNameLst>
                                      </p:cBhvr>
                                      <p:to>
                                        <p:strVal val="visible"/>
                                      </p:to>
                                    </p:set>
                                    <p:anim calcmode="lin" valueType="num">
                                      <p:cBhvr additive="base">
                                        <p:cTn id="61" dur="500" fill="hold"/>
                                        <p:tgtEl>
                                          <p:spTgt spid="1849348">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1849348">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9348"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050"/>
          <p:cNvSpPr>
            <a:spLocks noGrp="1" noChangeArrowheads="1"/>
          </p:cNvSpPr>
          <p:nvPr>
            <p:ph type="title"/>
          </p:nvPr>
        </p:nvSpPr>
        <p:spPr bwMode="auto">
          <a:xfrm>
            <a:off x="1931988" y="211138"/>
            <a:ext cx="8005762" cy="760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分类</a:t>
            </a:r>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地址存在的问题</a:t>
            </a:r>
          </a:p>
        </p:txBody>
      </p:sp>
      <p:sp>
        <p:nvSpPr>
          <p:cNvPr id="1852420" name="Text Box 2052"/>
          <p:cNvSpPr txBox="1">
            <a:spLocks noChangeArrowheads="1"/>
          </p:cNvSpPr>
          <p:nvPr/>
        </p:nvSpPr>
        <p:spPr bwMode="auto">
          <a:xfrm>
            <a:off x="2062163" y="1470025"/>
            <a:ext cx="7834312" cy="436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b="1">
                <a:solidFill>
                  <a:srgbClr val="FF0000"/>
                </a:solidFill>
              </a:rPr>
              <a:t>问题 </a:t>
            </a:r>
            <a:r>
              <a:rPr lang="en-US" altLang="zh-CN" b="1">
                <a:solidFill>
                  <a:srgbClr val="FF0000"/>
                </a:solidFill>
              </a:rPr>
              <a:t>4: </a:t>
            </a:r>
            <a:r>
              <a:rPr lang="zh-CN" altLang="en-US" b="1">
                <a:solidFill>
                  <a:srgbClr val="3333CD"/>
                </a:solidFill>
              </a:rPr>
              <a:t>路由表膨胀</a:t>
            </a:r>
            <a:r>
              <a:rPr lang="en-US" altLang="zh-CN" b="1">
                <a:solidFill>
                  <a:srgbClr val="3333CD"/>
                </a:solidFill>
              </a:rPr>
              <a:t>: </a:t>
            </a:r>
            <a:r>
              <a:rPr lang="zh-CN" altLang="en-US">
                <a:solidFill>
                  <a:srgbClr val="000000"/>
                </a:solidFill>
              </a:rPr>
              <a:t>主干网路由需要知道每个网络的入口地址</a:t>
            </a:r>
            <a:r>
              <a:rPr lang="en-US" altLang="zh-CN">
                <a:solidFill>
                  <a:srgbClr val="000000"/>
                </a:solidFill>
              </a:rPr>
              <a:t>. </a:t>
            </a:r>
            <a:r>
              <a:rPr lang="zh-CN" altLang="en-US">
                <a:solidFill>
                  <a:srgbClr val="000000"/>
                </a:solidFill>
              </a:rPr>
              <a:t>早在</a:t>
            </a:r>
            <a:r>
              <a:rPr lang="en-US" altLang="zh-CN">
                <a:solidFill>
                  <a:srgbClr val="000000"/>
                </a:solidFill>
              </a:rPr>
              <a:t>1993</a:t>
            </a:r>
            <a:r>
              <a:rPr lang="zh-CN" altLang="en-US">
                <a:solidFill>
                  <a:srgbClr val="000000"/>
                </a:solidFill>
              </a:rPr>
              <a:t>年</a:t>
            </a:r>
            <a:r>
              <a:rPr lang="en-US" altLang="zh-CN">
                <a:solidFill>
                  <a:srgbClr val="000000"/>
                </a:solidFill>
              </a:rPr>
              <a:t>, </a:t>
            </a:r>
            <a:r>
              <a:rPr lang="zh-CN" altLang="en-US">
                <a:solidFill>
                  <a:srgbClr val="000000"/>
                </a:solidFill>
              </a:rPr>
              <a:t>路由表的大小就已经超出了路由器的承受能力</a:t>
            </a:r>
            <a:r>
              <a:rPr lang="en-US" altLang="zh-CN">
                <a:solidFill>
                  <a:srgbClr val="000000"/>
                </a:solidFill>
              </a:rPr>
              <a:t>.</a:t>
            </a:r>
          </a:p>
          <a:p>
            <a:pPr algn="just"/>
            <a:r>
              <a:rPr lang="en-US" altLang="zh-CN">
                <a:solidFill>
                  <a:srgbClr val="000000"/>
                </a:solidFill>
              </a:rPr>
              <a:t>– </a:t>
            </a:r>
            <a:r>
              <a:rPr lang="zh-CN" altLang="en-US" b="1">
                <a:solidFill>
                  <a:srgbClr val="000000"/>
                </a:solidFill>
              </a:rPr>
              <a:t>解决办法 </a:t>
            </a:r>
            <a:r>
              <a:rPr lang="en-US" altLang="zh-CN" b="1">
                <a:solidFill>
                  <a:srgbClr val="000000"/>
                </a:solidFill>
              </a:rPr>
              <a:t>#2: </a:t>
            </a:r>
            <a:r>
              <a:rPr lang="en-US" altLang="zh-CN" b="1">
                <a:solidFill>
                  <a:srgbClr val="FF0000"/>
                </a:solidFill>
              </a:rPr>
              <a:t> (CIDR)</a:t>
            </a:r>
            <a:endParaRPr lang="en-US" altLang="zh-CN"/>
          </a:p>
          <a:p>
            <a:pPr>
              <a:spcBef>
                <a:spcPct val="20000"/>
              </a:spcBef>
            </a:pPr>
            <a:r>
              <a:rPr lang="zh-CN" altLang="en-US" b="1">
                <a:solidFill>
                  <a:srgbClr val="FF0000"/>
                </a:solidFill>
                <a:latin typeface="Arial" panose="020B0604020202020204" pitchFamily="34" charset="0"/>
              </a:rPr>
              <a:t>问题 </a:t>
            </a:r>
            <a:r>
              <a:rPr lang="en-US" altLang="zh-CN" b="1">
                <a:solidFill>
                  <a:srgbClr val="FF0000"/>
                </a:solidFill>
                <a:latin typeface="Arial" panose="020B0604020202020204" pitchFamily="34" charset="0"/>
              </a:rPr>
              <a:t>5. </a:t>
            </a:r>
            <a:r>
              <a:rPr lang="en-US" altLang="zh-CN" b="1">
                <a:solidFill>
                  <a:srgbClr val="3333CD"/>
                </a:solidFill>
                <a:latin typeface="Arial" panose="020B0604020202020204" pitchFamily="34" charset="0"/>
              </a:rPr>
              <a:t>Internet </a:t>
            </a:r>
            <a:r>
              <a:rPr lang="zh-CN" altLang="en-US" b="1">
                <a:solidFill>
                  <a:srgbClr val="3333CD"/>
                </a:solidFill>
                <a:latin typeface="Arial" panose="020B0604020202020204" pitchFamily="34" charset="0"/>
              </a:rPr>
              <a:t>的增长将使 </a:t>
            </a:r>
            <a:r>
              <a:rPr lang="en-US" altLang="zh-CN" b="1">
                <a:solidFill>
                  <a:srgbClr val="3333CD"/>
                </a:solidFill>
                <a:latin typeface="Arial" panose="020B0604020202020204" pitchFamily="34" charset="0"/>
              </a:rPr>
              <a:t>32</a:t>
            </a:r>
            <a:r>
              <a:rPr lang="zh-CN" altLang="en-US" b="1">
                <a:solidFill>
                  <a:srgbClr val="3333CD"/>
                </a:solidFill>
                <a:latin typeface="Arial" panose="020B0604020202020204" pitchFamily="34" charset="0"/>
              </a:rPr>
              <a:t>位地址不够用</a:t>
            </a:r>
          </a:p>
          <a:p>
            <a:pPr>
              <a:spcBef>
                <a:spcPct val="20000"/>
              </a:spcBef>
            </a:pPr>
            <a:r>
              <a:rPr lang="en-US" altLang="zh-CN">
                <a:solidFill>
                  <a:srgbClr val="000000"/>
                </a:solidFill>
                <a:latin typeface="Arial" panose="020B0604020202020204" pitchFamily="34" charset="0"/>
              </a:rPr>
              <a:t>– </a:t>
            </a:r>
            <a:r>
              <a:rPr lang="zh-CN" altLang="en-US" b="1">
                <a:solidFill>
                  <a:srgbClr val="000000"/>
                </a:solidFill>
                <a:latin typeface="Arial" panose="020B0604020202020204" pitchFamily="34" charset="0"/>
              </a:rPr>
              <a:t>解决办法 </a:t>
            </a:r>
            <a:r>
              <a:rPr lang="en-US" altLang="zh-CN" b="1">
                <a:solidFill>
                  <a:srgbClr val="000000"/>
                </a:solidFill>
                <a:latin typeface="Arial" panose="020B0604020202020204" pitchFamily="34" charset="0"/>
              </a:rPr>
              <a:t>#3: </a:t>
            </a:r>
            <a:r>
              <a:rPr lang="en-US" altLang="zh-CN" b="1">
                <a:solidFill>
                  <a:srgbClr val="FF0000"/>
                </a:solidFill>
                <a:latin typeface="Arial" panose="020B0604020202020204" pitchFamily="34" charset="0"/>
              </a:rPr>
              <a:t>IP Version 6</a:t>
            </a:r>
          </a:p>
          <a:p>
            <a:pPr>
              <a:spcBef>
                <a:spcPct val="20000"/>
              </a:spcBef>
            </a:pPr>
            <a:r>
              <a:rPr lang="en-US" altLang="zh-CN" b="1">
                <a:solidFill>
                  <a:srgbClr val="FF0000"/>
                </a:solidFill>
                <a:latin typeface="Arial" panose="020B0604020202020204" pitchFamily="34" charset="0"/>
              </a:rPr>
              <a:t>                          CIDR</a:t>
            </a:r>
          </a:p>
          <a:p>
            <a:pPr>
              <a:spcBef>
                <a:spcPct val="20000"/>
              </a:spcBef>
            </a:pPr>
            <a:r>
              <a:rPr lang="en-US" altLang="zh-CN" b="1">
                <a:solidFill>
                  <a:srgbClr val="FF0000"/>
                </a:solidFill>
                <a:latin typeface="Arial" panose="020B0604020202020204" pitchFamily="34" charset="0"/>
              </a:rPr>
              <a:t>                          NAT</a:t>
            </a:r>
          </a:p>
          <a:p>
            <a:pPr>
              <a:spcBef>
                <a:spcPct val="20000"/>
              </a:spcBef>
            </a:pPr>
            <a:r>
              <a:rPr lang="en-US" altLang="zh-CN" b="1">
                <a:solidFill>
                  <a:srgbClr val="FF0000"/>
                </a:solidFill>
                <a:latin typeface="Arial" panose="020B0604020202020204" pitchFamily="34" charset="0"/>
              </a:rPr>
              <a:t>                          DHCP</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52420">
                                            <p:txEl>
                                              <p:pRg st="0" end="0"/>
                                            </p:txEl>
                                          </p:spTgt>
                                        </p:tgtEl>
                                        <p:attrNameLst>
                                          <p:attrName>style.visibility</p:attrName>
                                        </p:attrNameLst>
                                      </p:cBhvr>
                                      <p:to>
                                        <p:strVal val="visible"/>
                                      </p:to>
                                    </p:set>
                                    <p:anim calcmode="lin" valueType="num">
                                      <p:cBhvr additive="base">
                                        <p:cTn id="7" dur="500" fill="hold"/>
                                        <p:tgtEl>
                                          <p:spTgt spid="185242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524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52420">
                                            <p:txEl>
                                              <p:pRg st="1" end="1"/>
                                            </p:txEl>
                                          </p:spTgt>
                                        </p:tgtEl>
                                        <p:attrNameLst>
                                          <p:attrName>style.visibility</p:attrName>
                                        </p:attrNameLst>
                                      </p:cBhvr>
                                      <p:to>
                                        <p:strVal val="visible"/>
                                      </p:to>
                                    </p:set>
                                    <p:anim calcmode="lin" valueType="num">
                                      <p:cBhvr additive="base">
                                        <p:cTn id="13" dur="500" fill="hold"/>
                                        <p:tgtEl>
                                          <p:spTgt spid="1852420">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5242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52420">
                                            <p:txEl>
                                              <p:pRg st="2" end="2"/>
                                            </p:txEl>
                                          </p:spTgt>
                                        </p:tgtEl>
                                        <p:attrNameLst>
                                          <p:attrName>style.visibility</p:attrName>
                                        </p:attrNameLst>
                                      </p:cBhvr>
                                      <p:to>
                                        <p:strVal val="visible"/>
                                      </p:to>
                                    </p:set>
                                    <p:anim calcmode="lin" valueType="num">
                                      <p:cBhvr additive="base">
                                        <p:cTn id="19" dur="500" fill="hold"/>
                                        <p:tgtEl>
                                          <p:spTgt spid="1852420">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5242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52420">
                                            <p:txEl>
                                              <p:pRg st="3" end="3"/>
                                            </p:txEl>
                                          </p:spTgt>
                                        </p:tgtEl>
                                        <p:attrNameLst>
                                          <p:attrName>style.visibility</p:attrName>
                                        </p:attrNameLst>
                                      </p:cBhvr>
                                      <p:to>
                                        <p:strVal val="visible"/>
                                      </p:to>
                                    </p:set>
                                    <p:anim calcmode="lin" valueType="num">
                                      <p:cBhvr additive="base">
                                        <p:cTn id="25" dur="500" fill="hold"/>
                                        <p:tgtEl>
                                          <p:spTgt spid="1852420">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5242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52420">
                                            <p:txEl>
                                              <p:pRg st="4" end="4"/>
                                            </p:txEl>
                                          </p:spTgt>
                                        </p:tgtEl>
                                        <p:attrNameLst>
                                          <p:attrName>style.visibility</p:attrName>
                                        </p:attrNameLst>
                                      </p:cBhvr>
                                      <p:to>
                                        <p:strVal val="visible"/>
                                      </p:to>
                                    </p:set>
                                    <p:anim calcmode="lin" valueType="num">
                                      <p:cBhvr additive="base">
                                        <p:cTn id="31" dur="500" fill="hold"/>
                                        <p:tgtEl>
                                          <p:spTgt spid="1852420">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5242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52420">
                                            <p:txEl>
                                              <p:pRg st="5" end="5"/>
                                            </p:txEl>
                                          </p:spTgt>
                                        </p:tgtEl>
                                        <p:attrNameLst>
                                          <p:attrName>style.visibility</p:attrName>
                                        </p:attrNameLst>
                                      </p:cBhvr>
                                      <p:to>
                                        <p:strVal val="visible"/>
                                      </p:to>
                                    </p:set>
                                    <p:anim calcmode="lin" valueType="num">
                                      <p:cBhvr additive="base">
                                        <p:cTn id="37" dur="500" fill="hold"/>
                                        <p:tgtEl>
                                          <p:spTgt spid="1852420">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52420">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852420">
                                            <p:txEl>
                                              <p:pRg st="6" end="6"/>
                                            </p:txEl>
                                          </p:spTgt>
                                        </p:tgtEl>
                                        <p:attrNameLst>
                                          <p:attrName>style.visibility</p:attrName>
                                        </p:attrNameLst>
                                      </p:cBhvr>
                                      <p:to>
                                        <p:strVal val="visible"/>
                                      </p:to>
                                    </p:set>
                                    <p:anim calcmode="lin" valueType="num">
                                      <p:cBhvr additive="base">
                                        <p:cTn id="43" dur="500" fill="hold"/>
                                        <p:tgtEl>
                                          <p:spTgt spid="1852420">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852420">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2420"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8723" name="Rectangle 3"/>
          <p:cNvSpPr>
            <a:spLocks noGrp="1" noChangeArrowheads="1"/>
          </p:cNvSpPr>
          <p:nvPr>
            <p:ph type="body" idx="1"/>
          </p:nvPr>
        </p:nvSpPr>
        <p:spPr bwMode="auto">
          <a:xfrm>
            <a:off x="1817689" y="1241426"/>
            <a:ext cx="8624887" cy="4651375"/>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spcBef>
                <a:spcPct val="10000"/>
              </a:spcBef>
            </a:pPr>
            <a:r>
              <a:rPr lang="zh-CN" altLang="en-US"/>
              <a:t>子网划分技术：</a:t>
            </a:r>
          </a:p>
          <a:p>
            <a:pPr marL="858838" lvl="1" indent="-325438">
              <a:spcBef>
                <a:spcPct val="10000"/>
              </a:spcBef>
              <a:buNone/>
            </a:pPr>
            <a:r>
              <a:rPr lang="zh-CN" altLang="en-US"/>
              <a:t>将较大的分类地址（</a:t>
            </a:r>
            <a:r>
              <a:rPr lang="en-US" altLang="zh-CN"/>
              <a:t>A/B/C </a:t>
            </a:r>
            <a:r>
              <a:rPr lang="zh-CN" altLang="en-US"/>
              <a:t>类）空间划分成多个小的子网。</a:t>
            </a:r>
          </a:p>
          <a:p>
            <a:pPr eaLnBrk="1" hangingPunct="1">
              <a:spcBef>
                <a:spcPct val="10000"/>
              </a:spcBef>
            </a:pPr>
            <a:r>
              <a:rPr lang="zh-CN" altLang="en-US"/>
              <a:t>地址掩码 </a:t>
            </a:r>
          </a:p>
          <a:p>
            <a:pPr marL="858838" lvl="1" indent="-325438">
              <a:spcBef>
                <a:spcPct val="10000"/>
              </a:spcBef>
            </a:pPr>
            <a:r>
              <a:rPr lang="zh-CN" altLang="en-US" sz="2200"/>
              <a:t>子网划分地址中的主机部分与网络部分（</a:t>
            </a:r>
            <a:r>
              <a:rPr lang="zh-CN" altLang="en-US" sz="2200">
                <a:solidFill>
                  <a:schemeClr val="tx2"/>
                </a:solidFill>
              </a:rPr>
              <a:t>网络</a:t>
            </a:r>
            <a:r>
              <a:rPr lang="en-US" altLang="zh-CN" sz="2200">
                <a:solidFill>
                  <a:schemeClr val="tx2"/>
                </a:solidFill>
              </a:rPr>
              <a:t>+</a:t>
            </a:r>
            <a:r>
              <a:rPr lang="zh-CN" altLang="en-US" sz="2200">
                <a:solidFill>
                  <a:schemeClr val="tx2"/>
                </a:solidFill>
              </a:rPr>
              <a:t>子网</a:t>
            </a:r>
            <a:r>
              <a:rPr lang="zh-CN" altLang="en-US" sz="2200"/>
              <a:t>）的边界由子网掩码来定义。</a:t>
            </a:r>
          </a:p>
          <a:p>
            <a:pPr marL="858838" lvl="1" indent="-325438">
              <a:spcBef>
                <a:spcPct val="10000"/>
              </a:spcBef>
            </a:pPr>
            <a:r>
              <a:rPr lang="zh-CN" altLang="en-US" sz="2200"/>
              <a:t>子网划分时，子网掩码的位数可以根据需要</a:t>
            </a:r>
            <a:r>
              <a:rPr lang="en-US" altLang="zh-CN" sz="2200"/>
              <a:t>(</a:t>
            </a:r>
            <a:r>
              <a:rPr lang="zh-CN" altLang="en-US" sz="2200"/>
              <a:t>子网数和子网内的主机数</a:t>
            </a:r>
            <a:r>
              <a:rPr lang="en-US" altLang="zh-CN" sz="2200"/>
              <a:t>)</a:t>
            </a:r>
            <a:r>
              <a:rPr lang="zh-CN" altLang="en-US" sz="2200"/>
              <a:t>来确定</a:t>
            </a:r>
          </a:p>
          <a:p>
            <a:pPr marL="858838" lvl="1" indent="-325438">
              <a:spcBef>
                <a:spcPct val="10000"/>
              </a:spcBef>
            </a:pPr>
            <a:r>
              <a:rPr lang="zh-CN" altLang="en-US" sz="2200"/>
              <a:t>利用</a:t>
            </a:r>
            <a:r>
              <a:rPr lang="zh-CN" altLang="en-US" sz="2200">
                <a:solidFill>
                  <a:schemeClr val="tx2"/>
                </a:solidFill>
              </a:rPr>
              <a:t>可变长子网掩码（</a:t>
            </a:r>
            <a:r>
              <a:rPr lang="en-US" altLang="zh-CN" sz="2200">
                <a:solidFill>
                  <a:schemeClr val="tx2"/>
                </a:solidFill>
              </a:rPr>
              <a:t>VLSM</a:t>
            </a:r>
            <a:r>
              <a:rPr lang="zh-CN" altLang="en-US" sz="2200">
                <a:solidFill>
                  <a:schemeClr val="tx2"/>
                </a:solidFill>
              </a:rPr>
              <a:t>），</a:t>
            </a:r>
            <a:r>
              <a:rPr lang="zh-CN" altLang="en-US" sz="2200"/>
              <a:t>可把一个地址空间划分为若干大小不同的子网。</a:t>
            </a:r>
          </a:p>
          <a:p>
            <a:pPr marL="858838" lvl="1" indent="-325438">
              <a:spcBef>
                <a:spcPct val="10000"/>
              </a:spcBef>
            </a:pPr>
            <a:r>
              <a:rPr lang="en-US" altLang="zh-CN" sz="2200"/>
              <a:t>VLSM </a:t>
            </a:r>
            <a:r>
              <a:rPr lang="zh-CN" altLang="en-US" sz="2200"/>
              <a:t>的采用能够更有效地管理地址空间：在地址分配时，可实现地址空间容量与子网中主机的数量达到最佳的匹配</a:t>
            </a:r>
            <a:r>
              <a:rPr lang="zh-CN" altLang="en-US"/>
              <a:t>。</a:t>
            </a:r>
          </a:p>
        </p:txBody>
      </p:sp>
      <p:sp>
        <p:nvSpPr>
          <p:cNvPr id="33795" name="Rectangle 4"/>
          <p:cNvSpPr>
            <a:spLocks noGrp="1" noChangeArrowheads="1"/>
          </p:cNvSpPr>
          <p:nvPr>
            <p:ph type="title"/>
          </p:nvPr>
        </p:nvSpPr>
        <p:spPr bwMode="auto">
          <a:xfrm>
            <a:off x="2209800"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子网</a:t>
            </a:r>
            <a:r>
              <a:rPr lang="zh-CN" altLang="en-US" sz="2800">
                <a:solidFill>
                  <a:schemeClr val="hlink"/>
                </a:solidFill>
                <a:ea typeface="华文行楷" panose="02010800040101010101" pitchFamily="2" charset="-122"/>
              </a:rPr>
              <a:t>（</a:t>
            </a:r>
            <a:r>
              <a:rPr lang="en-US" altLang="zh-CN" sz="2800">
                <a:solidFill>
                  <a:schemeClr val="hlink"/>
                </a:solidFill>
                <a:ea typeface="华文行楷" panose="02010800040101010101" pitchFamily="2" charset="-122"/>
              </a:rPr>
              <a:t>Subnet</a:t>
            </a:r>
            <a:r>
              <a:rPr lang="zh-CN" altLang="en-US" sz="2800">
                <a:solidFill>
                  <a:schemeClr val="hlink"/>
                </a:solidFill>
                <a:ea typeface="华文行楷" panose="02010800040101010101" pitchFamily="2" charset="-122"/>
              </a:rPr>
              <a:t>）</a:t>
            </a:r>
            <a:r>
              <a:rPr lang="zh-CN" altLang="en-US" sz="3600">
                <a:solidFill>
                  <a:schemeClr val="hlink"/>
                </a:solidFill>
                <a:ea typeface="华文行楷" panose="02010800040101010101" pitchFamily="2" charset="-122"/>
              </a:rPr>
              <a:t>划分</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38723">
                                            <p:txEl>
                                              <p:pRg st="0" end="0"/>
                                            </p:txEl>
                                          </p:spTgt>
                                        </p:tgtEl>
                                        <p:attrNameLst>
                                          <p:attrName>style.visibility</p:attrName>
                                        </p:attrNameLst>
                                      </p:cBhvr>
                                      <p:to>
                                        <p:strVal val="visible"/>
                                      </p:to>
                                    </p:set>
                                    <p:anim calcmode="lin" valueType="num">
                                      <p:cBhvr additive="base">
                                        <p:cTn id="7" dur="500" fill="hold"/>
                                        <p:tgtEl>
                                          <p:spTgt spid="143872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3872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438723">
                                            <p:txEl>
                                              <p:pRg st="1" end="1"/>
                                            </p:txEl>
                                          </p:spTgt>
                                        </p:tgtEl>
                                        <p:attrNameLst>
                                          <p:attrName>style.visibility</p:attrName>
                                        </p:attrNameLst>
                                      </p:cBhvr>
                                      <p:to>
                                        <p:strVal val="visible"/>
                                      </p:to>
                                    </p:set>
                                    <p:anim calcmode="lin" valueType="num">
                                      <p:cBhvr additive="base">
                                        <p:cTn id="11" dur="500" fill="hold"/>
                                        <p:tgtEl>
                                          <p:spTgt spid="1438723">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4387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438723">
                                            <p:txEl>
                                              <p:pRg st="2" end="2"/>
                                            </p:txEl>
                                          </p:spTgt>
                                        </p:tgtEl>
                                        <p:attrNameLst>
                                          <p:attrName>style.visibility</p:attrName>
                                        </p:attrNameLst>
                                      </p:cBhvr>
                                      <p:to>
                                        <p:strVal val="visible"/>
                                      </p:to>
                                    </p:set>
                                    <p:anim calcmode="lin" valueType="num">
                                      <p:cBhvr additive="base">
                                        <p:cTn id="17" dur="500" fill="hold"/>
                                        <p:tgtEl>
                                          <p:spTgt spid="1438723">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438723">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438723">
                                            <p:txEl>
                                              <p:pRg st="3" end="3"/>
                                            </p:txEl>
                                          </p:spTgt>
                                        </p:tgtEl>
                                        <p:attrNameLst>
                                          <p:attrName>style.visibility</p:attrName>
                                        </p:attrNameLst>
                                      </p:cBhvr>
                                      <p:to>
                                        <p:strVal val="visible"/>
                                      </p:to>
                                    </p:set>
                                    <p:anim calcmode="lin" valueType="num">
                                      <p:cBhvr additive="base">
                                        <p:cTn id="21" dur="500" fill="hold"/>
                                        <p:tgtEl>
                                          <p:spTgt spid="1438723">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438723">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438723">
                                            <p:txEl>
                                              <p:pRg st="4" end="4"/>
                                            </p:txEl>
                                          </p:spTgt>
                                        </p:tgtEl>
                                        <p:attrNameLst>
                                          <p:attrName>style.visibility</p:attrName>
                                        </p:attrNameLst>
                                      </p:cBhvr>
                                      <p:to>
                                        <p:strVal val="visible"/>
                                      </p:to>
                                    </p:set>
                                    <p:anim calcmode="lin" valueType="num">
                                      <p:cBhvr additive="base">
                                        <p:cTn id="25" dur="500" fill="hold"/>
                                        <p:tgtEl>
                                          <p:spTgt spid="1438723">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438723">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438723">
                                            <p:txEl>
                                              <p:pRg st="5" end="5"/>
                                            </p:txEl>
                                          </p:spTgt>
                                        </p:tgtEl>
                                        <p:attrNameLst>
                                          <p:attrName>style.visibility</p:attrName>
                                        </p:attrNameLst>
                                      </p:cBhvr>
                                      <p:to>
                                        <p:strVal val="visible"/>
                                      </p:to>
                                    </p:set>
                                    <p:anim calcmode="lin" valueType="num">
                                      <p:cBhvr additive="base">
                                        <p:cTn id="29" dur="500" fill="hold"/>
                                        <p:tgtEl>
                                          <p:spTgt spid="1438723">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438723">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438723">
                                            <p:txEl>
                                              <p:pRg st="6" end="6"/>
                                            </p:txEl>
                                          </p:spTgt>
                                        </p:tgtEl>
                                        <p:attrNameLst>
                                          <p:attrName>style.visibility</p:attrName>
                                        </p:attrNameLst>
                                      </p:cBhvr>
                                      <p:to>
                                        <p:strVal val="visible"/>
                                      </p:to>
                                    </p:set>
                                    <p:anim calcmode="lin" valueType="num">
                                      <p:cBhvr additive="base">
                                        <p:cTn id="33" dur="500" fill="hold"/>
                                        <p:tgtEl>
                                          <p:spTgt spid="1438723">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143872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8723"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bwMode="auto">
          <a:xfrm>
            <a:off x="2209800" y="4730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子网划分的基本思路</a:t>
            </a:r>
          </a:p>
        </p:txBody>
      </p:sp>
      <p:sp>
        <p:nvSpPr>
          <p:cNvPr id="1854468" name="Text Box 4"/>
          <p:cNvSpPr txBox="1">
            <a:spLocks noChangeArrowheads="1"/>
          </p:cNvSpPr>
          <p:nvPr/>
        </p:nvSpPr>
        <p:spPr bwMode="auto">
          <a:xfrm>
            <a:off x="3230564" y="1235075"/>
            <a:ext cx="5984875" cy="1471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把</a:t>
            </a:r>
            <a:r>
              <a:rPr lang="en-US" altLang="zh-CN">
                <a:solidFill>
                  <a:srgbClr val="000000"/>
                </a:solidFill>
                <a:latin typeface="Arial" panose="020B0604020202020204" pitchFamily="34" charset="0"/>
              </a:rPr>
              <a:t>IP </a:t>
            </a:r>
            <a:r>
              <a:rPr lang="zh-CN" altLang="en-US">
                <a:solidFill>
                  <a:srgbClr val="000000"/>
                </a:solidFill>
                <a:latin typeface="Arial" panose="020B0604020202020204" pitchFamily="34" charset="0"/>
              </a:rPr>
              <a:t>地址主机号部分分成</a:t>
            </a:r>
            <a:r>
              <a:rPr lang="zh-CN" altLang="en-US" b="1">
                <a:solidFill>
                  <a:srgbClr val="3333CD"/>
                </a:solidFill>
                <a:latin typeface="Courier" charset="0"/>
              </a:rPr>
              <a:t>子网号 </a:t>
            </a:r>
            <a:r>
              <a:rPr lang="zh-CN" altLang="en-US">
                <a:solidFill>
                  <a:srgbClr val="000000"/>
                </a:solidFill>
                <a:latin typeface="Arial" panose="020B0604020202020204" pitchFamily="34" charset="0"/>
              </a:rPr>
              <a:t>和一个 </a:t>
            </a:r>
            <a:r>
              <a:rPr lang="en-US" altLang="zh-CN">
                <a:solidFill>
                  <a:srgbClr val="000000"/>
                </a:solidFill>
                <a:latin typeface="Arial" panose="020B0604020202020204" pitchFamily="34" charset="0"/>
              </a:rPr>
              <a:t>(</a:t>
            </a:r>
            <a:r>
              <a:rPr lang="zh-CN" altLang="en-US">
                <a:solidFill>
                  <a:srgbClr val="000000"/>
                </a:solidFill>
                <a:latin typeface="Arial" panose="020B0604020202020204" pitchFamily="34" charset="0"/>
              </a:rPr>
              <a:t>小一点的</a:t>
            </a:r>
            <a:r>
              <a:rPr lang="en-US" altLang="zh-CN">
                <a:solidFill>
                  <a:srgbClr val="000000"/>
                </a:solidFill>
                <a:latin typeface="Arial" panose="020B0604020202020204" pitchFamily="34" charset="0"/>
              </a:rPr>
              <a:t>) </a:t>
            </a:r>
            <a:r>
              <a:rPr lang="zh-CN" altLang="en-US" b="1">
                <a:solidFill>
                  <a:srgbClr val="3333CD"/>
                </a:solidFill>
                <a:latin typeface="Courier" charset="0"/>
              </a:rPr>
              <a:t>主机号</a:t>
            </a:r>
            <a:endParaRPr lang="en-US" altLang="zh-CN">
              <a:solidFill>
                <a:srgbClr val="3333CD"/>
              </a:solidFill>
              <a:latin typeface="Arial" panose="020B0604020202020204" pitchFamily="34" charset="0"/>
            </a:endParaRPr>
          </a:p>
          <a:p>
            <a:pPr>
              <a:spcBef>
                <a:spcPct val="2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结果是一个三层体系</a:t>
            </a:r>
          </a:p>
        </p:txBody>
      </p:sp>
      <p:pic>
        <p:nvPicPr>
          <p:cNvPr id="185446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0513" y="2659063"/>
            <a:ext cx="7340600" cy="161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54470" name="Text Box 6"/>
          <p:cNvSpPr txBox="1">
            <a:spLocks noChangeArrowheads="1"/>
          </p:cNvSpPr>
          <p:nvPr/>
        </p:nvSpPr>
        <p:spPr bwMode="auto">
          <a:xfrm>
            <a:off x="2039939" y="4224339"/>
            <a:ext cx="8131175" cy="185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r>
              <a:rPr lang="en-US" altLang="zh-CN">
                <a:solidFill>
                  <a:srgbClr val="FF0000"/>
                </a:solidFill>
                <a:latin typeface="Arial" panose="020B0604020202020204" pitchFamily="34" charset="0"/>
              </a:rPr>
              <a:t>• </a:t>
            </a:r>
            <a:r>
              <a:rPr lang="zh-CN" altLang="en-US">
                <a:solidFill>
                  <a:srgbClr val="FF0000"/>
                </a:solidFill>
                <a:latin typeface="Arial" panose="020B0604020202020204" pitchFamily="34" charset="0"/>
              </a:rPr>
              <a:t>这样</a:t>
            </a:r>
            <a:r>
              <a:rPr lang="en-US" altLang="zh-CN">
                <a:solidFill>
                  <a:srgbClr val="FF0000"/>
                </a:solidFill>
                <a:latin typeface="Arial" panose="020B0604020202020204" pitchFamily="34" charset="0"/>
              </a:rPr>
              <a:t>:</a:t>
            </a:r>
          </a:p>
          <a:p>
            <a:pPr>
              <a:spcBef>
                <a:spcPct val="20000"/>
              </a:spcBef>
            </a:pPr>
            <a:r>
              <a:rPr lang="en-US" altLang="zh-CN" sz="2400">
                <a:solidFill>
                  <a:srgbClr val="000000"/>
                </a:solidFill>
                <a:latin typeface="Arial" panose="020B0604020202020204" pitchFamily="34" charset="0"/>
              </a:rPr>
              <a:t>• </a:t>
            </a:r>
            <a:r>
              <a:rPr lang="zh-CN" altLang="en-US" sz="2400">
                <a:solidFill>
                  <a:srgbClr val="000000"/>
                </a:solidFill>
                <a:latin typeface="Arial" panose="020B0604020202020204" pitchFamily="34" charset="0"/>
              </a:rPr>
              <a:t>组织内能随意分配自己的子网地址</a:t>
            </a:r>
          </a:p>
          <a:p>
            <a:pPr>
              <a:spcBef>
                <a:spcPct val="20000"/>
              </a:spcBef>
            </a:pPr>
            <a:r>
              <a:rPr lang="en-US" altLang="zh-CN" sz="2400">
                <a:solidFill>
                  <a:srgbClr val="000000"/>
                </a:solidFill>
                <a:latin typeface="Arial" panose="020B0604020202020204" pitchFamily="34" charset="0"/>
              </a:rPr>
              <a:t>• </a:t>
            </a:r>
            <a:r>
              <a:rPr lang="zh-CN" altLang="en-US" sz="2400">
                <a:solidFill>
                  <a:srgbClr val="000000"/>
                </a:solidFill>
                <a:latin typeface="Arial" panose="020B0604020202020204" pitchFamily="34" charset="0"/>
              </a:rPr>
              <a:t>在内部，子网被视为一个单独的网络</a:t>
            </a:r>
          </a:p>
          <a:p>
            <a:pPr>
              <a:spcBef>
                <a:spcPct val="20000"/>
              </a:spcBef>
            </a:pPr>
            <a:r>
              <a:rPr lang="en-US" altLang="zh-CN" sz="2400">
                <a:solidFill>
                  <a:srgbClr val="000000"/>
                </a:solidFill>
                <a:latin typeface="Arial" panose="020B0604020202020204" pitchFamily="34" charset="0"/>
              </a:rPr>
              <a:t>• </a:t>
            </a:r>
            <a:r>
              <a:rPr lang="zh-CN" altLang="en-US" sz="2400">
                <a:solidFill>
                  <a:srgbClr val="000000"/>
                </a:solidFill>
                <a:latin typeface="Arial" panose="020B0604020202020204" pitchFamily="34" charset="0"/>
              </a:rPr>
              <a:t>子网结构对外部不可见</a:t>
            </a:r>
            <a:endParaRPr lang="zh-CN" altLang="en-US" sz="2400"/>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54468">
                                            <p:txEl>
                                              <p:pRg st="0" end="0"/>
                                            </p:txEl>
                                          </p:spTgt>
                                        </p:tgtEl>
                                        <p:attrNameLst>
                                          <p:attrName>style.visibility</p:attrName>
                                        </p:attrNameLst>
                                      </p:cBhvr>
                                      <p:to>
                                        <p:strVal val="visible"/>
                                      </p:to>
                                    </p:set>
                                    <p:anim calcmode="lin" valueType="num">
                                      <p:cBhvr additive="base">
                                        <p:cTn id="7" dur="500" fill="hold"/>
                                        <p:tgtEl>
                                          <p:spTgt spid="185446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5446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54468">
                                            <p:txEl>
                                              <p:pRg st="1" end="1"/>
                                            </p:txEl>
                                          </p:spTgt>
                                        </p:tgtEl>
                                        <p:attrNameLst>
                                          <p:attrName>style.visibility</p:attrName>
                                        </p:attrNameLst>
                                      </p:cBhvr>
                                      <p:to>
                                        <p:strVal val="visible"/>
                                      </p:to>
                                    </p:set>
                                    <p:anim calcmode="lin" valueType="num">
                                      <p:cBhvr additive="base">
                                        <p:cTn id="13" dur="500" fill="hold"/>
                                        <p:tgtEl>
                                          <p:spTgt spid="1854468">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5446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854469"/>
                                        </p:tgtEl>
                                        <p:attrNameLst>
                                          <p:attrName>style.visibility</p:attrName>
                                        </p:attrNameLst>
                                      </p:cBhvr>
                                      <p:to>
                                        <p:strVal val="visible"/>
                                      </p:to>
                                    </p:set>
                                    <p:anim calcmode="lin" valueType="num">
                                      <p:cBhvr additive="base">
                                        <p:cTn id="19" dur="500" fill="hold"/>
                                        <p:tgtEl>
                                          <p:spTgt spid="1854469"/>
                                        </p:tgtEl>
                                        <p:attrNameLst>
                                          <p:attrName>ppt_x</p:attrName>
                                        </p:attrNameLst>
                                      </p:cBhvr>
                                      <p:tavLst>
                                        <p:tav tm="0">
                                          <p:val>
                                            <p:strVal val="1+#ppt_w/2"/>
                                          </p:val>
                                        </p:tav>
                                        <p:tav tm="100000">
                                          <p:val>
                                            <p:strVal val="#ppt_x"/>
                                          </p:val>
                                        </p:tav>
                                      </p:tavLst>
                                    </p:anim>
                                    <p:anim calcmode="lin" valueType="num">
                                      <p:cBhvr additive="base">
                                        <p:cTn id="20" dur="500" fill="hold"/>
                                        <p:tgtEl>
                                          <p:spTgt spid="185446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54470">
                                            <p:txEl>
                                              <p:pRg st="0" end="0"/>
                                            </p:txEl>
                                          </p:spTgt>
                                        </p:tgtEl>
                                        <p:attrNameLst>
                                          <p:attrName>style.visibility</p:attrName>
                                        </p:attrNameLst>
                                      </p:cBhvr>
                                      <p:to>
                                        <p:strVal val="visible"/>
                                      </p:to>
                                    </p:set>
                                    <p:anim calcmode="lin" valueType="num">
                                      <p:cBhvr additive="base">
                                        <p:cTn id="25" dur="500" fill="hold"/>
                                        <p:tgtEl>
                                          <p:spTgt spid="1854470">
                                            <p:txEl>
                                              <p:pRg st="0" end="0"/>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5447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54470">
                                            <p:txEl>
                                              <p:pRg st="1" end="1"/>
                                            </p:txEl>
                                          </p:spTgt>
                                        </p:tgtEl>
                                        <p:attrNameLst>
                                          <p:attrName>style.visibility</p:attrName>
                                        </p:attrNameLst>
                                      </p:cBhvr>
                                      <p:to>
                                        <p:strVal val="visible"/>
                                      </p:to>
                                    </p:set>
                                    <p:anim calcmode="lin" valueType="num">
                                      <p:cBhvr additive="base">
                                        <p:cTn id="31" dur="500" fill="hold"/>
                                        <p:tgtEl>
                                          <p:spTgt spid="1854470">
                                            <p:txEl>
                                              <p:pRg st="1" end="1"/>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5447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54470">
                                            <p:txEl>
                                              <p:pRg st="2" end="2"/>
                                            </p:txEl>
                                          </p:spTgt>
                                        </p:tgtEl>
                                        <p:attrNameLst>
                                          <p:attrName>style.visibility</p:attrName>
                                        </p:attrNameLst>
                                      </p:cBhvr>
                                      <p:to>
                                        <p:strVal val="visible"/>
                                      </p:to>
                                    </p:set>
                                    <p:anim calcmode="lin" valueType="num">
                                      <p:cBhvr additive="base">
                                        <p:cTn id="37" dur="500" fill="hold"/>
                                        <p:tgtEl>
                                          <p:spTgt spid="1854470">
                                            <p:txEl>
                                              <p:pRg st="2" end="2"/>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5447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854470">
                                            <p:txEl>
                                              <p:pRg st="3" end="3"/>
                                            </p:txEl>
                                          </p:spTgt>
                                        </p:tgtEl>
                                        <p:attrNameLst>
                                          <p:attrName>style.visibility</p:attrName>
                                        </p:attrNameLst>
                                      </p:cBhvr>
                                      <p:to>
                                        <p:strVal val="visible"/>
                                      </p:to>
                                    </p:set>
                                    <p:anim calcmode="lin" valueType="num">
                                      <p:cBhvr additive="base">
                                        <p:cTn id="43" dur="500" fill="hold"/>
                                        <p:tgtEl>
                                          <p:spTgt spid="1854470">
                                            <p:txEl>
                                              <p:pRg st="3" end="3"/>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854470">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4468" grpId="0" build="p" autoUpdateAnimBg="0"/>
      <p:bldP spid="1854470"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body" idx="1"/>
          </p:nvPr>
        </p:nvSpPr>
        <p:spPr bwMode="auto">
          <a:xfrm>
            <a:off x="3257551" y="1492251"/>
            <a:ext cx="5770563" cy="569913"/>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zh-CN" altLang="en-US"/>
              <a:t>子网掩码决定</a:t>
            </a:r>
            <a:r>
              <a:rPr lang="en-US" altLang="zh-CN"/>
              <a:t>IP</a:t>
            </a:r>
            <a:r>
              <a:rPr lang="zh-CN" altLang="en-US"/>
              <a:t>地址的子网域</a:t>
            </a:r>
          </a:p>
        </p:txBody>
      </p:sp>
      <p:grpSp>
        <p:nvGrpSpPr>
          <p:cNvPr id="36867" name="Group 3"/>
          <p:cNvGrpSpPr>
            <a:grpSpLocks/>
          </p:cNvGrpSpPr>
          <p:nvPr/>
        </p:nvGrpSpPr>
        <p:grpSpPr bwMode="auto">
          <a:xfrm>
            <a:off x="3779838" y="2241551"/>
            <a:ext cx="4419600" cy="2982771"/>
            <a:chOff x="1492" y="1824"/>
            <a:chExt cx="2780" cy="1967"/>
          </a:xfrm>
        </p:grpSpPr>
        <p:sp>
          <p:nvSpPr>
            <p:cNvPr id="36869" name="Rectangle 4"/>
            <p:cNvSpPr>
              <a:spLocks noChangeArrowheads="1"/>
            </p:cNvSpPr>
            <p:nvPr/>
          </p:nvSpPr>
          <p:spPr bwMode="auto">
            <a:xfrm>
              <a:off x="1675" y="1904"/>
              <a:ext cx="436"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1800">
                  <a:solidFill>
                    <a:srgbClr val="000000"/>
                  </a:solidFill>
                  <a:latin typeface="Arial" panose="020B0604020202020204" pitchFamily="34" charset="0"/>
                </a:rPr>
                <a:t>网路号</a:t>
              </a:r>
              <a:endParaRPr lang="zh-CN" altLang="en-US" sz="2400">
                <a:solidFill>
                  <a:schemeClr val="tx1"/>
                </a:solidFill>
              </a:endParaRPr>
            </a:p>
          </p:txBody>
        </p:sp>
        <p:sp>
          <p:nvSpPr>
            <p:cNvPr id="36870" name="Rectangle 5"/>
            <p:cNvSpPr>
              <a:spLocks noChangeArrowheads="1"/>
            </p:cNvSpPr>
            <p:nvPr/>
          </p:nvSpPr>
          <p:spPr bwMode="auto">
            <a:xfrm>
              <a:off x="3199" y="1904"/>
              <a:ext cx="58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2400">
                  <a:solidFill>
                    <a:schemeClr val="tx1"/>
                  </a:solidFill>
                </a:rPr>
                <a:t>主机号</a:t>
              </a:r>
            </a:p>
          </p:txBody>
        </p:sp>
        <p:sp>
          <p:nvSpPr>
            <p:cNvPr id="36871" name="Freeform 6"/>
            <p:cNvSpPr>
              <a:spLocks/>
            </p:cNvSpPr>
            <p:nvPr/>
          </p:nvSpPr>
          <p:spPr bwMode="auto">
            <a:xfrm>
              <a:off x="1492" y="1828"/>
              <a:ext cx="2780" cy="322"/>
            </a:xfrm>
            <a:custGeom>
              <a:avLst/>
              <a:gdLst>
                <a:gd name="T0" fmla="*/ 1628 w 2972"/>
                <a:gd name="T1" fmla="*/ 116 h 366"/>
                <a:gd name="T2" fmla="*/ 1629 w 2972"/>
                <a:gd name="T3" fmla="*/ 0 h 366"/>
                <a:gd name="T4" fmla="*/ 0 w 2972"/>
                <a:gd name="T5" fmla="*/ 0 h 366"/>
                <a:gd name="T6" fmla="*/ 0 w 2972"/>
                <a:gd name="T7" fmla="*/ 116 h 366"/>
                <a:gd name="T8" fmla="*/ 1629 w 2972"/>
                <a:gd name="T9" fmla="*/ 116 h 366"/>
                <a:gd name="T10" fmla="*/ 1629 w 2972"/>
                <a:gd name="T11" fmla="*/ 116 h 366"/>
                <a:gd name="T12" fmla="*/ 0 60000 65536"/>
                <a:gd name="T13" fmla="*/ 0 60000 65536"/>
                <a:gd name="T14" fmla="*/ 0 60000 65536"/>
                <a:gd name="T15" fmla="*/ 0 60000 65536"/>
                <a:gd name="T16" fmla="*/ 0 60000 65536"/>
                <a:gd name="T17" fmla="*/ 0 60000 65536"/>
                <a:gd name="T18" fmla="*/ 0 w 2972"/>
                <a:gd name="T19" fmla="*/ 0 h 366"/>
                <a:gd name="T20" fmla="*/ 2972 w 2972"/>
                <a:gd name="T21" fmla="*/ 366 h 366"/>
              </a:gdLst>
              <a:ahLst/>
              <a:cxnLst>
                <a:cxn ang="T12">
                  <a:pos x="T0" y="T1"/>
                </a:cxn>
                <a:cxn ang="T13">
                  <a:pos x="T2" y="T3"/>
                </a:cxn>
                <a:cxn ang="T14">
                  <a:pos x="T4" y="T5"/>
                </a:cxn>
                <a:cxn ang="T15">
                  <a:pos x="T6" y="T7"/>
                </a:cxn>
                <a:cxn ang="T16">
                  <a:pos x="T8" y="T9"/>
                </a:cxn>
                <a:cxn ang="T17">
                  <a:pos x="T10" y="T11"/>
                </a:cxn>
              </a:cxnLst>
              <a:rect l="T18" t="T19" r="T20" b="T21"/>
              <a:pathLst>
                <a:path w="2972" h="366">
                  <a:moveTo>
                    <a:pt x="2968" y="366"/>
                  </a:moveTo>
                  <a:lnTo>
                    <a:pt x="2972" y="0"/>
                  </a:lnTo>
                  <a:lnTo>
                    <a:pt x="0" y="0"/>
                  </a:lnTo>
                  <a:lnTo>
                    <a:pt x="0" y="366"/>
                  </a:lnTo>
                  <a:lnTo>
                    <a:pt x="2972" y="366"/>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72" name="Line 7"/>
            <p:cNvSpPr>
              <a:spLocks noChangeShapeType="1"/>
            </p:cNvSpPr>
            <p:nvPr/>
          </p:nvSpPr>
          <p:spPr bwMode="auto">
            <a:xfrm>
              <a:off x="2884" y="1824"/>
              <a:ext cx="1" cy="32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3" name="Rectangle 8"/>
            <p:cNvSpPr>
              <a:spLocks noChangeArrowheads="1"/>
            </p:cNvSpPr>
            <p:nvPr/>
          </p:nvSpPr>
          <p:spPr bwMode="auto">
            <a:xfrm>
              <a:off x="2426" y="2236"/>
              <a:ext cx="573"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000000"/>
                  </a:solidFill>
                  <a:latin typeface="Arial" panose="020B0604020202020204" pitchFamily="34" charset="0"/>
                </a:rPr>
                <a:t>B </a:t>
              </a:r>
              <a:r>
                <a:rPr lang="zh-CN" altLang="en-US" sz="1800">
                  <a:solidFill>
                    <a:srgbClr val="000000"/>
                  </a:solidFill>
                  <a:latin typeface="Arial" panose="020B0604020202020204" pitchFamily="34" charset="0"/>
                </a:rPr>
                <a:t>类地址</a:t>
              </a:r>
              <a:endParaRPr lang="zh-CN" altLang="en-US" sz="2400">
                <a:solidFill>
                  <a:schemeClr val="tx1"/>
                </a:solidFill>
              </a:endParaRPr>
            </a:p>
          </p:txBody>
        </p:sp>
        <p:sp>
          <p:nvSpPr>
            <p:cNvPr id="36874" name="Rectangle 9"/>
            <p:cNvSpPr>
              <a:spLocks noChangeArrowheads="1"/>
            </p:cNvSpPr>
            <p:nvPr/>
          </p:nvSpPr>
          <p:spPr bwMode="auto">
            <a:xfrm>
              <a:off x="2015" y="2884"/>
              <a:ext cx="163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1800">
                  <a:solidFill>
                    <a:srgbClr val="000000"/>
                  </a:solidFill>
                  <a:latin typeface="Arial" panose="020B0604020202020204" pitchFamily="34" charset="0"/>
                </a:rPr>
                <a:t>子网掩码 </a:t>
              </a:r>
              <a:r>
                <a:rPr lang="en-US" altLang="zh-CN" sz="1800">
                  <a:solidFill>
                    <a:srgbClr val="000000"/>
                  </a:solidFill>
                  <a:latin typeface="Arial" panose="020B0604020202020204" pitchFamily="34" charset="0"/>
                </a:rPr>
                <a:t>(255.255.255.0)</a:t>
              </a:r>
              <a:endParaRPr lang="en-US" altLang="zh-CN" sz="2400">
                <a:solidFill>
                  <a:schemeClr val="tx1"/>
                </a:solidFill>
              </a:endParaRPr>
            </a:p>
          </p:txBody>
        </p:sp>
        <p:sp>
          <p:nvSpPr>
            <p:cNvPr id="36875" name="Rectangle 10"/>
            <p:cNvSpPr>
              <a:spLocks noChangeArrowheads="1"/>
            </p:cNvSpPr>
            <p:nvPr/>
          </p:nvSpPr>
          <p:spPr bwMode="auto">
            <a:xfrm>
              <a:off x="2350" y="3608"/>
              <a:ext cx="1162"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1800">
                  <a:solidFill>
                    <a:srgbClr val="000000"/>
                  </a:solidFill>
                  <a:latin typeface="Arial" panose="020B0604020202020204" pitchFamily="34" charset="0"/>
                </a:rPr>
                <a:t>划分子网后的地址</a:t>
              </a:r>
              <a:endParaRPr lang="zh-CN" altLang="en-US" sz="2400">
                <a:solidFill>
                  <a:schemeClr val="tx1"/>
                </a:solidFill>
              </a:endParaRPr>
            </a:p>
          </p:txBody>
        </p:sp>
        <p:sp>
          <p:nvSpPr>
            <p:cNvPr id="36876" name="Rectangle 11"/>
            <p:cNvSpPr>
              <a:spLocks noChangeArrowheads="1"/>
            </p:cNvSpPr>
            <p:nvPr/>
          </p:nvSpPr>
          <p:spPr bwMode="auto">
            <a:xfrm>
              <a:off x="1536" y="2585"/>
              <a:ext cx="1688"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000000"/>
                  </a:solidFill>
                  <a:latin typeface="Arial" panose="020B0604020202020204" pitchFamily="34" charset="0"/>
                </a:rPr>
                <a:t>11111111111111111</a:t>
              </a:r>
              <a:r>
                <a:rPr lang="en-US" altLang="zh-CN" sz="1800">
                  <a:solidFill>
                    <a:schemeClr val="tx2"/>
                  </a:solidFill>
                  <a:latin typeface="Arial" panose="020B0604020202020204" pitchFamily="34" charset="0"/>
                </a:rPr>
                <a:t>1111111</a:t>
              </a:r>
            </a:p>
          </p:txBody>
        </p:sp>
        <p:sp>
          <p:nvSpPr>
            <p:cNvPr id="36877" name="Rectangle 12"/>
            <p:cNvSpPr>
              <a:spLocks noChangeArrowheads="1"/>
            </p:cNvSpPr>
            <p:nvPr/>
          </p:nvSpPr>
          <p:spPr bwMode="auto">
            <a:xfrm>
              <a:off x="3578" y="2585"/>
              <a:ext cx="64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000000"/>
                  </a:solidFill>
                  <a:latin typeface="Arial" panose="020B0604020202020204" pitchFamily="34" charset="0"/>
                </a:rPr>
                <a:t>00000000</a:t>
              </a:r>
              <a:endParaRPr lang="en-US" altLang="zh-CN" sz="2400">
                <a:solidFill>
                  <a:schemeClr val="tx1"/>
                </a:solidFill>
              </a:endParaRPr>
            </a:p>
          </p:txBody>
        </p:sp>
        <p:sp>
          <p:nvSpPr>
            <p:cNvPr id="36878" name="Freeform 13"/>
            <p:cNvSpPr>
              <a:spLocks/>
            </p:cNvSpPr>
            <p:nvPr/>
          </p:nvSpPr>
          <p:spPr bwMode="auto">
            <a:xfrm>
              <a:off x="1492" y="2491"/>
              <a:ext cx="2780" cy="326"/>
            </a:xfrm>
            <a:custGeom>
              <a:avLst/>
              <a:gdLst>
                <a:gd name="T0" fmla="*/ 1628 w 2972"/>
                <a:gd name="T1" fmla="*/ 115 h 371"/>
                <a:gd name="T2" fmla="*/ 1629 w 2972"/>
                <a:gd name="T3" fmla="*/ 0 h 371"/>
                <a:gd name="T4" fmla="*/ 0 w 2972"/>
                <a:gd name="T5" fmla="*/ 0 h 371"/>
                <a:gd name="T6" fmla="*/ 0 w 2972"/>
                <a:gd name="T7" fmla="*/ 115 h 371"/>
                <a:gd name="T8" fmla="*/ 1629 w 2972"/>
                <a:gd name="T9" fmla="*/ 115 h 371"/>
                <a:gd name="T10" fmla="*/ 1629 w 2972"/>
                <a:gd name="T11" fmla="*/ 115 h 371"/>
                <a:gd name="T12" fmla="*/ 0 60000 65536"/>
                <a:gd name="T13" fmla="*/ 0 60000 65536"/>
                <a:gd name="T14" fmla="*/ 0 60000 65536"/>
                <a:gd name="T15" fmla="*/ 0 60000 65536"/>
                <a:gd name="T16" fmla="*/ 0 60000 65536"/>
                <a:gd name="T17" fmla="*/ 0 60000 65536"/>
                <a:gd name="T18" fmla="*/ 0 w 2972"/>
                <a:gd name="T19" fmla="*/ 0 h 371"/>
                <a:gd name="T20" fmla="*/ 2972 w 2972"/>
                <a:gd name="T21" fmla="*/ 371 h 371"/>
              </a:gdLst>
              <a:ahLst/>
              <a:cxnLst>
                <a:cxn ang="T12">
                  <a:pos x="T0" y="T1"/>
                </a:cxn>
                <a:cxn ang="T13">
                  <a:pos x="T2" y="T3"/>
                </a:cxn>
                <a:cxn ang="T14">
                  <a:pos x="T4" y="T5"/>
                </a:cxn>
                <a:cxn ang="T15">
                  <a:pos x="T6" y="T7"/>
                </a:cxn>
                <a:cxn ang="T16">
                  <a:pos x="T8" y="T9"/>
                </a:cxn>
                <a:cxn ang="T17">
                  <a:pos x="T10" y="T11"/>
                </a:cxn>
              </a:cxnLst>
              <a:rect l="T18" t="T19" r="T20" b="T21"/>
              <a:pathLst>
                <a:path w="2972" h="371">
                  <a:moveTo>
                    <a:pt x="2968" y="367"/>
                  </a:moveTo>
                  <a:lnTo>
                    <a:pt x="2972" y="0"/>
                  </a:lnTo>
                  <a:lnTo>
                    <a:pt x="0" y="0"/>
                  </a:lnTo>
                  <a:lnTo>
                    <a:pt x="0" y="371"/>
                  </a:lnTo>
                  <a:lnTo>
                    <a:pt x="2972" y="371"/>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79" name="Line 14"/>
            <p:cNvSpPr>
              <a:spLocks noChangeShapeType="1"/>
            </p:cNvSpPr>
            <p:nvPr/>
          </p:nvSpPr>
          <p:spPr bwMode="auto">
            <a:xfrm>
              <a:off x="3483" y="2491"/>
              <a:ext cx="0" cy="32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0" name="Rectangle 15"/>
            <p:cNvSpPr>
              <a:spLocks noChangeArrowheads="1"/>
            </p:cNvSpPr>
            <p:nvPr/>
          </p:nvSpPr>
          <p:spPr bwMode="auto">
            <a:xfrm>
              <a:off x="1647" y="3265"/>
              <a:ext cx="106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000000"/>
                  </a:solidFill>
                  <a:latin typeface="Arial" panose="020B0604020202020204" pitchFamily="34" charset="0"/>
                </a:rPr>
                <a:t>Network number</a:t>
              </a:r>
              <a:endParaRPr lang="en-US" altLang="zh-CN" sz="2400">
                <a:solidFill>
                  <a:schemeClr val="tx1"/>
                </a:solidFill>
              </a:endParaRPr>
            </a:p>
          </p:txBody>
        </p:sp>
        <p:sp>
          <p:nvSpPr>
            <p:cNvPr id="36881" name="Rectangle 16"/>
            <p:cNvSpPr>
              <a:spLocks noChangeArrowheads="1"/>
            </p:cNvSpPr>
            <p:nvPr/>
          </p:nvSpPr>
          <p:spPr bwMode="auto">
            <a:xfrm>
              <a:off x="3682" y="3265"/>
              <a:ext cx="484"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000000"/>
                  </a:solidFill>
                  <a:latin typeface="Arial" panose="020B0604020202020204" pitchFamily="34" charset="0"/>
                </a:rPr>
                <a:t>Host ID</a:t>
              </a:r>
              <a:endParaRPr lang="en-US" altLang="zh-CN" sz="2400">
                <a:solidFill>
                  <a:schemeClr val="tx1"/>
                </a:solidFill>
              </a:endParaRPr>
            </a:p>
          </p:txBody>
        </p:sp>
        <p:sp>
          <p:nvSpPr>
            <p:cNvPr id="36882" name="Rectangle 17"/>
            <p:cNvSpPr>
              <a:spLocks noChangeArrowheads="1"/>
            </p:cNvSpPr>
            <p:nvPr/>
          </p:nvSpPr>
          <p:spPr bwMode="auto">
            <a:xfrm>
              <a:off x="2876" y="3265"/>
              <a:ext cx="64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000000"/>
                  </a:solidFill>
                  <a:latin typeface="Arial" panose="020B0604020202020204" pitchFamily="34" charset="0"/>
                </a:rPr>
                <a:t>Subnet ID</a:t>
              </a:r>
              <a:endParaRPr lang="en-US" altLang="zh-CN" sz="2400">
                <a:solidFill>
                  <a:schemeClr val="tx1"/>
                </a:solidFill>
              </a:endParaRPr>
            </a:p>
          </p:txBody>
        </p:sp>
        <p:sp>
          <p:nvSpPr>
            <p:cNvPr id="36883" name="Freeform 18"/>
            <p:cNvSpPr>
              <a:spLocks/>
            </p:cNvSpPr>
            <p:nvPr/>
          </p:nvSpPr>
          <p:spPr bwMode="auto">
            <a:xfrm>
              <a:off x="1492" y="3192"/>
              <a:ext cx="2780" cy="322"/>
            </a:xfrm>
            <a:custGeom>
              <a:avLst/>
              <a:gdLst>
                <a:gd name="T0" fmla="*/ 1628 w 2972"/>
                <a:gd name="T1" fmla="*/ 116 h 366"/>
                <a:gd name="T2" fmla="*/ 1629 w 2972"/>
                <a:gd name="T3" fmla="*/ 0 h 366"/>
                <a:gd name="T4" fmla="*/ 0 w 2972"/>
                <a:gd name="T5" fmla="*/ 0 h 366"/>
                <a:gd name="T6" fmla="*/ 0 w 2972"/>
                <a:gd name="T7" fmla="*/ 116 h 366"/>
                <a:gd name="T8" fmla="*/ 1629 w 2972"/>
                <a:gd name="T9" fmla="*/ 116 h 366"/>
                <a:gd name="T10" fmla="*/ 1629 w 2972"/>
                <a:gd name="T11" fmla="*/ 116 h 366"/>
                <a:gd name="T12" fmla="*/ 0 60000 65536"/>
                <a:gd name="T13" fmla="*/ 0 60000 65536"/>
                <a:gd name="T14" fmla="*/ 0 60000 65536"/>
                <a:gd name="T15" fmla="*/ 0 60000 65536"/>
                <a:gd name="T16" fmla="*/ 0 60000 65536"/>
                <a:gd name="T17" fmla="*/ 0 60000 65536"/>
                <a:gd name="T18" fmla="*/ 0 w 2972"/>
                <a:gd name="T19" fmla="*/ 0 h 366"/>
                <a:gd name="T20" fmla="*/ 2972 w 2972"/>
                <a:gd name="T21" fmla="*/ 366 h 366"/>
              </a:gdLst>
              <a:ahLst/>
              <a:cxnLst>
                <a:cxn ang="T12">
                  <a:pos x="T0" y="T1"/>
                </a:cxn>
                <a:cxn ang="T13">
                  <a:pos x="T2" y="T3"/>
                </a:cxn>
                <a:cxn ang="T14">
                  <a:pos x="T4" y="T5"/>
                </a:cxn>
                <a:cxn ang="T15">
                  <a:pos x="T6" y="T7"/>
                </a:cxn>
                <a:cxn ang="T16">
                  <a:pos x="T8" y="T9"/>
                </a:cxn>
                <a:cxn ang="T17">
                  <a:pos x="T10" y="T11"/>
                </a:cxn>
              </a:cxnLst>
              <a:rect l="T18" t="T19" r="T20" b="T21"/>
              <a:pathLst>
                <a:path w="2972" h="366">
                  <a:moveTo>
                    <a:pt x="2968" y="366"/>
                  </a:moveTo>
                  <a:lnTo>
                    <a:pt x="2972" y="0"/>
                  </a:lnTo>
                  <a:lnTo>
                    <a:pt x="0" y="0"/>
                  </a:lnTo>
                  <a:lnTo>
                    <a:pt x="0" y="366"/>
                  </a:lnTo>
                  <a:lnTo>
                    <a:pt x="2972" y="366"/>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84" name="Line 19"/>
            <p:cNvSpPr>
              <a:spLocks noChangeShapeType="1"/>
            </p:cNvSpPr>
            <p:nvPr/>
          </p:nvSpPr>
          <p:spPr bwMode="auto">
            <a:xfrm>
              <a:off x="2778" y="3183"/>
              <a:ext cx="4" cy="32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5" name="Line 20"/>
            <p:cNvSpPr>
              <a:spLocks noChangeShapeType="1"/>
            </p:cNvSpPr>
            <p:nvPr/>
          </p:nvSpPr>
          <p:spPr bwMode="auto">
            <a:xfrm>
              <a:off x="3546" y="3188"/>
              <a:ext cx="1" cy="32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6868" name="Rectangle 21"/>
          <p:cNvSpPr>
            <a:spLocks noGrp="1" noChangeArrowheads="1"/>
          </p:cNvSpPr>
          <p:nvPr>
            <p:ph type="title"/>
          </p:nvPr>
        </p:nvSpPr>
        <p:spPr bwMode="auto">
          <a:xfrm>
            <a:off x="2209800" y="3968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子网划分</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1524000" y="1927226"/>
            <a:ext cx="8763000" cy="3908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Text Box 4"/>
          <p:cNvSpPr txBox="1">
            <a:spLocks noChangeArrowheads="1"/>
          </p:cNvSpPr>
          <p:nvPr/>
        </p:nvSpPr>
        <p:spPr bwMode="auto">
          <a:xfrm>
            <a:off x="4610100" y="5951539"/>
            <a:ext cx="3943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3200">
                <a:solidFill>
                  <a:schemeClr val="tx1"/>
                </a:solidFill>
                <a:ea typeface="华文新魏" panose="02010800040101010101" pitchFamily="2" charset="-122"/>
              </a:rPr>
              <a:t>所有主机在同一层上</a:t>
            </a:r>
            <a:r>
              <a:rPr kumimoji="1" lang="en-US" altLang="zh-CN" sz="3200">
                <a:solidFill>
                  <a:schemeClr val="tx1"/>
                </a:solidFill>
                <a:ea typeface="华文新魏" panose="02010800040101010101" pitchFamily="2" charset="-122"/>
              </a:rPr>
              <a:t>.</a:t>
            </a:r>
          </a:p>
        </p:txBody>
      </p:sp>
      <p:sp>
        <p:nvSpPr>
          <p:cNvPr id="37892" name="Rectangle 5"/>
          <p:cNvSpPr>
            <a:spLocks noGrp="1" noChangeArrowheads="1"/>
          </p:cNvSpPr>
          <p:nvPr>
            <p:ph type="title"/>
          </p:nvPr>
        </p:nvSpPr>
        <p:spPr bwMode="auto">
          <a:xfrm>
            <a:off x="2228850" y="3952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不划分子网</a:t>
            </a:r>
          </a:p>
        </p:txBody>
      </p:sp>
    </p:spTree>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8914"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1762125" y="1614489"/>
            <a:ext cx="8763000" cy="4892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1796" name="Text Box 4"/>
          <p:cNvSpPr txBox="1">
            <a:spLocks noChangeArrowheads="1"/>
          </p:cNvSpPr>
          <p:nvPr/>
        </p:nvSpPr>
        <p:spPr bwMode="auto">
          <a:xfrm>
            <a:off x="3379788" y="3009900"/>
            <a:ext cx="1962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en-US" altLang="zh-CN" sz="2400">
                <a:solidFill>
                  <a:srgbClr val="000099"/>
                </a:solidFill>
                <a:ea typeface="华文新魏" panose="02010800040101010101" pitchFamily="2" charset="-122"/>
              </a:rPr>
              <a:t>141.14.2.1</a:t>
            </a:r>
          </a:p>
        </p:txBody>
      </p:sp>
      <p:sp>
        <p:nvSpPr>
          <p:cNvPr id="1441797" name="Text Box 5"/>
          <p:cNvSpPr txBox="1">
            <a:spLocks noChangeArrowheads="1"/>
          </p:cNvSpPr>
          <p:nvPr/>
        </p:nvSpPr>
        <p:spPr bwMode="auto">
          <a:xfrm>
            <a:off x="3962400" y="3541713"/>
            <a:ext cx="1962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en-US" altLang="zh-CN" sz="2400">
                <a:solidFill>
                  <a:srgbClr val="000099"/>
                </a:solidFill>
                <a:ea typeface="华文新魏" panose="02010800040101010101" pitchFamily="2" charset="-122"/>
              </a:rPr>
              <a:t>141.14.7.2</a:t>
            </a:r>
          </a:p>
        </p:txBody>
      </p:sp>
      <p:sp>
        <p:nvSpPr>
          <p:cNvPr id="1441798" name="Text Box 6"/>
          <p:cNvSpPr txBox="1">
            <a:spLocks noChangeArrowheads="1"/>
          </p:cNvSpPr>
          <p:nvPr/>
        </p:nvSpPr>
        <p:spPr bwMode="auto">
          <a:xfrm>
            <a:off x="3236913" y="4160838"/>
            <a:ext cx="1962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en-US" altLang="zh-CN" sz="2400">
                <a:solidFill>
                  <a:srgbClr val="000099"/>
                </a:solidFill>
                <a:ea typeface="华文新魏" panose="02010800040101010101" pitchFamily="2" charset="-122"/>
              </a:rPr>
              <a:t>141.14.22.3</a:t>
            </a:r>
          </a:p>
        </p:txBody>
      </p:sp>
      <p:sp>
        <p:nvSpPr>
          <p:cNvPr id="38918" name="Rectangle 7"/>
          <p:cNvSpPr>
            <a:spLocks noGrp="1" noChangeArrowheads="1"/>
          </p:cNvSpPr>
          <p:nvPr>
            <p:ph type="title"/>
          </p:nvPr>
        </p:nvSpPr>
        <p:spPr bwMode="auto">
          <a:xfrm>
            <a:off x="2228850" y="3952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划分子网后</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41796">
                                            <p:txEl>
                                              <p:pRg st="0" end="0"/>
                                            </p:txEl>
                                          </p:spTgt>
                                        </p:tgtEl>
                                        <p:attrNameLst>
                                          <p:attrName>style.visibility</p:attrName>
                                        </p:attrNameLst>
                                      </p:cBhvr>
                                      <p:to>
                                        <p:strVal val="visible"/>
                                      </p:to>
                                    </p:set>
                                    <p:anim calcmode="lin" valueType="num">
                                      <p:cBhvr additive="base">
                                        <p:cTn id="7" dur="500" fill="hold"/>
                                        <p:tgtEl>
                                          <p:spTgt spid="144179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4179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441797">
                                            <p:txEl>
                                              <p:pRg st="0" end="0"/>
                                            </p:txEl>
                                          </p:spTgt>
                                        </p:tgtEl>
                                        <p:attrNameLst>
                                          <p:attrName>style.visibility</p:attrName>
                                        </p:attrNameLst>
                                      </p:cBhvr>
                                      <p:to>
                                        <p:strVal val="visible"/>
                                      </p:to>
                                    </p:set>
                                    <p:anim calcmode="lin" valueType="num">
                                      <p:cBhvr additive="base">
                                        <p:cTn id="13" dur="500" fill="hold"/>
                                        <p:tgtEl>
                                          <p:spTgt spid="1441797">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44179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441798">
                                            <p:txEl>
                                              <p:pRg st="0" end="0"/>
                                            </p:txEl>
                                          </p:spTgt>
                                        </p:tgtEl>
                                        <p:attrNameLst>
                                          <p:attrName>style.visibility</p:attrName>
                                        </p:attrNameLst>
                                      </p:cBhvr>
                                      <p:to>
                                        <p:strVal val="visible"/>
                                      </p:to>
                                    </p:set>
                                    <p:anim calcmode="lin" valueType="num">
                                      <p:cBhvr additive="base">
                                        <p:cTn id="19" dur="500" fill="hold"/>
                                        <p:tgtEl>
                                          <p:spTgt spid="1441798">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44179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1796" grpId="0" build="p" autoUpdateAnimBg="0"/>
      <p:bldP spid="1441797" grpId="0" build="p" autoUpdateAnimBg="0"/>
      <p:bldP spid="1441798"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0500" y="1220789"/>
            <a:ext cx="6916738"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9" name="Rectangle 4"/>
          <p:cNvSpPr>
            <a:spLocks noGrp="1" noChangeArrowheads="1"/>
          </p:cNvSpPr>
          <p:nvPr>
            <p:ph type="title"/>
          </p:nvPr>
        </p:nvSpPr>
        <p:spPr bwMode="auto">
          <a:xfrm>
            <a:off x="2230438"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上例网络中的地址</a:t>
            </a:r>
          </a:p>
        </p:txBody>
      </p:sp>
    </p:spTree>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4438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8389" y="1943100"/>
            <a:ext cx="7781925"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43843" name="Picture 3"/>
          <p:cNvPicPr>
            <a:picLocks noGrp="1" noChangeAspect="1" noChangeArrowheads="1"/>
          </p:cNvPicPr>
          <p:nvPr>
            <p:ph type="chart" idx="1"/>
          </p:nvPr>
        </p:nvPicPr>
        <p:blipFill>
          <a:blip r:embed="rId3">
            <a:extLst>
              <a:ext uri="{28A0092B-C50C-407E-A947-70E740481C1C}">
                <a14:useLocalDpi xmlns:a14="http://schemas.microsoft.com/office/drawing/2010/main" val="0"/>
              </a:ext>
            </a:extLst>
          </a:blip>
          <a:srcRect/>
          <a:stretch>
            <a:fillRect/>
          </a:stretch>
        </p:blipFill>
        <p:spPr bwMode="auto">
          <a:xfrm>
            <a:off x="2414588" y="1230313"/>
            <a:ext cx="7650162" cy="4540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4" name="Rectangle 5"/>
          <p:cNvSpPr>
            <a:spLocks noGrp="1" noChangeArrowheads="1"/>
          </p:cNvSpPr>
          <p:nvPr>
            <p:ph type="title"/>
          </p:nvPr>
        </p:nvSpPr>
        <p:spPr bwMode="auto">
          <a:xfrm>
            <a:off x="2268538" y="4143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子网掩码</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443844"/>
                                        </p:tgtEl>
                                        <p:attrNameLst>
                                          <p:attrName>style.visibility</p:attrName>
                                        </p:attrNameLst>
                                      </p:cBhvr>
                                      <p:to>
                                        <p:strVal val="visible"/>
                                      </p:to>
                                    </p:set>
                                    <p:anim calcmode="lin" valueType="num">
                                      <p:cBhvr additive="base">
                                        <p:cTn id="7" dur="500" fill="hold"/>
                                        <p:tgtEl>
                                          <p:spTgt spid="1443844"/>
                                        </p:tgtEl>
                                        <p:attrNameLst>
                                          <p:attrName>ppt_x</p:attrName>
                                        </p:attrNameLst>
                                      </p:cBhvr>
                                      <p:tavLst>
                                        <p:tav tm="0">
                                          <p:val>
                                            <p:strVal val="0-#ppt_w/2"/>
                                          </p:val>
                                        </p:tav>
                                        <p:tav tm="100000">
                                          <p:val>
                                            <p:strVal val="#ppt_x"/>
                                          </p:val>
                                        </p:tav>
                                      </p:tavLst>
                                    </p:anim>
                                    <p:anim calcmode="lin" valueType="num">
                                      <p:cBhvr additive="base">
                                        <p:cTn id="8" dur="500" fill="hold"/>
                                        <p:tgtEl>
                                          <p:spTgt spid="144384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443843"/>
                                        </p:tgtEl>
                                        <p:attrNameLst>
                                          <p:attrName>style.visibility</p:attrName>
                                        </p:attrNameLst>
                                      </p:cBhvr>
                                      <p:to>
                                        <p:strVal val="visible"/>
                                      </p:to>
                                    </p:set>
                                    <p:anim calcmode="lin" valueType="num">
                                      <p:cBhvr additive="base">
                                        <p:cTn id="13" dur="500" fill="hold"/>
                                        <p:tgtEl>
                                          <p:spTgt spid="1443843"/>
                                        </p:tgtEl>
                                        <p:attrNameLst>
                                          <p:attrName>ppt_x</p:attrName>
                                        </p:attrNameLst>
                                      </p:cBhvr>
                                      <p:tavLst>
                                        <p:tav tm="0">
                                          <p:val>
                                            <p:strVal val="0-#ppt_w/2"/>
                                          </p:val>
                                        </p:tav>
                                        <p:tav tm="100000">
                                          <p:val>
                                            <p:strVal val="#ppt_x"/>
                                          </p:val>
                                        </p:tav>
                                      </p:tavLst>
                                    </p:anim>
                                    <p:anim calcmode="lin" valueType="num">
                                      <p:cBhvr additive="base">
                                        <p:cTn id="14" dur="500" fill="hold"/>
                                        <p:tgtEl>
                                          <p:spTgt spid="1443843"/>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44384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49987" name="Rectangle 3"/>
          <p:cNvSpPr>
            <a:spLocks noGrp="1" noChangeArrowheads="1"/>
          </p:cNvSpPr>
          <p:nvPr>
            <p:ph type="body" idx="1"/>
          </p:nvPr>
        </p:nvSpPr>
        <p:spPr bwMode="auto">
          <a:xfrm>
            <a:off x="1631950" y="1773239"/>
            <a:ext cx="8839200" cy="4225925"/>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zh-CN" altLang="en-US"/>
              <a:t>利用超网来进行网络汇聚</a:t>
            </a:r>
          </a:p>
          <a:p>
            <a:pPr marL="858838" lvl="1" indent="-325438"/>
            <a:r>
              <a:rPr lang="zh-CN" altLang="en-US"/>
              <a:t>超网：</a:t>
            </a:r>
            <a:r>
              <a:rPr lang="zh-CN" altLang="en-US">
                <a:solidFill>
                  <a:schemeClr val="tx2"/>
                </a:solidFill>
              </a:rPr>
              <a:t>将多个 </a:t>
            </a:r>
            <a:r>
              <a:rPr lang="en-US" altLang="zh-CN">
                <a:solidFill>
                  <a:schemeClr val="tx2"/>
                </a:solidFill>
              </a:rPr>
              <a:t>C </a:t>
            </a:r>
            <a:r>
              <a:rPr lang="zh-CN" altLang="en-US">
                <a:solidFill>
                  <a:schemeClr val="tx2"/>
                </a:solidFill>
              </a:rPr>
              <a:t>类的网络聚合起来，构成一个单一的、具有共同地址前缀的网络</a:t>
            </a:r>
          </a:p>
          <a:p>
            <a:pPr eaLnBrk="1" hangingPunct="1"/>
            <a:r>
              <a:rPr lang="zh-CN" altLang="en-US"/>
              <a:t>优点：</a:t>
            </a:r>
          </a:p>
          <a:p>
            <a:pPr marL="858838" lvl="1" indent="-325438"/>
            <a:r>
              <a:rPr lang="zh-CN" altLang="en-US"/>
              <a:t>可以减少路由表表项的数量，节省路由器中的资源</a:t>
            </a:r>
          </a:p>
          <a:p>
            <a:pPr marL="858838" lvl="1" indent="-325438"/>
            <a:r>
              <a:rPr lang="zh-CN" altLang="en-US"/>
              <a:t>按照实际需要进行网络地址分配，提高地址空间的利用率</a:t>
            </a:r>
          </a:p>
          <a:p>
            <a:pPr marL="858838" lvl="1" indent="-325438">
              <a:buNone/>
            </a:pPr>
            <a:r>
              <a:rPr lang="zh-CN" altLang="en-US"/>
              <a:t>	</a:t>
            </a:r>
            <a:r>
              <a:rPr lang="zh-CN" altLang="en-US">
                <a:solidFill>
                  <a:schemeClr val="tx2"/>
                </a:solidFill>
              </a:rPr>
              <a:t>例如：规模在 </a:t>
            </a:r>
            <a:r>
              <a:rPr lang="en-US" altLang="zh-CN">
                <a:solidFill>
                  <a:schemeClr val="tx2"/>
                </a:solidFill>
              </a:rPr>
              <a:t>254 </a:t>
            </a:r>
            <a:r>
              <a:rPr lang="zh-CN" altLang="en-US">
                <a:solidFill>
                  <a:schemeClr val="tx2"/>
                </a:solidFill>
              </a:rPr>
              <a:t>结点以上（但远小于 </a:t>
            </a:r>
            <a:r>
              <a:rPr lang="en-US" altLang="zh-CN">
                <a:solidFill>
                  <a:schemeClr val="tx2"/>
                </a:solidFill>
              </a:rPr>
              <a:t>64K</a:t>
            </a:r>
            <a:r>
              <a:rPr lang="zh-CN" altLang="en-US">
                <a:solidFill>
                  <a:schemeClr val="tx2"/>
                </a:solidFill>
              </a:rPr>
              <a:t>）的网络，可分配一个由若干 </a:t>
            </a:r>
            <a:r>
              <a:rPr lang="en-US" altLang="zh-CN">
                <a:solidFill>
                  <a:schemeClr val="tx2"/>
                </a:solidFill>
              </a:rPr>
              <a:t>C </a:t>
            </a:r>
            <a:r>
              <a:rPr lang="zh-CN" altLang="en-US">
                <a:solidFill>
                  <a:schemeClr val="tx2"/>
                </a:solidFill>
              </a:rPr>
              <a:t>类地址聚合成的超网地址空间块，而不必占用一个完整的 </a:t>
            </a:r>
            <a:r>
              <a:rPr lang="en-US" altLang="zh-CN">
                <a:solidFill>
                  <a:schemeClr val="tx2"/>
                </a:solidFill>
              </a:rPr>
              <a:t>B </a:t>
            </a:r>
            <a:r>
              <a:rPr lang="zh-CN" altLang="en-US">
                <a:solidFill>
                  <a:schemeClr val="tx2"/>
                </a:solidFill>
              </a:rPr>
              <a:t>类地址空间。</a:t>
            </a:r>
          </a:p>
          <a:p>
            <a:pPr eaLnBrk="1" hangingPunct="1">
              <a:buFont typeface="Wingdings" panose="05000000000000000000" pitchFamily="2" charset="2"/>
              <a:buNone/>
            </a:pPr>
            <a:endParaRPr lang="en-US" altLang="zh-CN" sz="2400"/>
          </a:p>
        </p:txBody>
      </p:sp>
      <p:sp>
        <p:nvSpPr>
          <p:cNvPr id="45059" name="Rectangle 4"/>
          <p:cNvSpPr>
            <a:spLocks noGrp="1" noChangeArrowheads="1"/>
          </p:cNvSpPr>
          <p:nvPr>
            <p:ph type="title"/>
          </p:nvPr>
        </p:nvSpPr>
        <p:spPr bwMode="auto">
          <a:xfrm>
            <a:off x="2228850" y="4540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CIDR</a:t>
            </a:r>
            <a:r>
              <a:rPr lang="zh-CN" altLang="en-US" sz="3600">
                <a:solidFill>
                  <a:schemeClr val="hlink"/>
                </a:solidFill>
                <a:ea typeface="华文行楷" panose="02010800040101010101" pitchFamily="2" charset="-122"/>
              </a:rPr>
              <a:t>（超网）</a:t>
            </a:r>
          </a:p>
        </p:txBody>
      </p:sp>
      <p:sp>
        <p:nvSpPr>
          <p:cNvPr id="45060" name="Text Box 5"/>
          <p:cNvSpPr txBox="1">
            <a:spLocks noChangeArrowheads="1"/>
          </p:cNvSpPr>
          <p:nvPr/>
        </p:nvSpPr>
        <p:spPr bwMode="auto">
          <a:xfrm>
            <a:off x="2224088" y="1271588"/>
            <a:ext cx="7612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sz="2400" b="1">
                <a:solidFill>
                  <a:schemeClr val="folHlink"/>
                </a:solidFill>
                <a:latin typeface="Arial" panose="020B0604020202020204" pitchFamily="34" charset="0"/>
              </a:rPr>
              <a:t>RFC 1519: Classless Inter-Domain Routing (CIDR)</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49987">
                                            <p:txEl>
                                              <p:pRg st="0" end="0"/>
                                            </p:txEl>
                                          </p:spTgt>
                                        </p:tgtEl>
                                        <p:attrNameLst>
                                          <p:attrName>style.visibility</p:attrName>
                                        </p:attrNameLst>
                                      </p:cBhvr>
                                      <p:to>
                                        <p:strVal val="visible"/>
                                      </p:to>
                                    </p:set>
                                    <p:anim calcmode="lin" valueType="num">
                                      <p:cBhvr additive="base">
                                        <p:cTn id="7" dur="500" fill="hold"/>
                                        <p:tgtEl>
                                          <p:spTgt spid="144998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4998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449987">
                                            <p:txEl>
                                              <p:pRg st="1" end="1"/>
                                            </p:txEl>
                                          </p:spTgt>
                                        </p:tgtEl>
                                        <p:attrNameLst>
                                          <p:attrName>style.visibility</p:attrName>
                                        </p:attrNameLst>
                                      </p:cBhvr>
                                      <p:to>
                                        <p:strVal val="visible"/>
                                      </p:to>
                                    </p:set>
                                    <p:anim calcmode="lin" valueType="num">
                                      <p:cBhvr additive="base">
                                        <p:cTn id="11" dur="500" fill="hold"/>
                                        <p:tgtEl>
                                          <p:spTgt spid="1449987">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4499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449987">
                                            <p:txEl>
                                              <p:pRg st="2" end="2"/>
                                            </p:txEl>
                                          </p:spTgt>
                                        </p:tgtEl>
                                        <p:attrNameLst>
                                          <p:attrName>style.visibility</p:attrName>
                                        </p:attrNameLst>
                                      </p:cBhvr>
                                      <p:to>
                                        <p:strVal val="visible"/>
                                      </p:to>
                                    </p:set>
                                    <p:anim calcmode="lin" valueType="num">
                                      <p:cBhvr additive="base">
                                        <p:cTn id="17" dur="500" fill="hold"/>
                                        <p:tgtEl>
                                          <p:spTgt spid="1449987">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449987">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449987">
                                            <p:txEl>
                                              <p:pRg st="3" end="3"/>
                                            </p:txEl>
                                          </p:spTgt>
                                        </p:tgtEl>
                                        <p:attrNameLst>
                                          <p:attrName>style.visibility</p:attrName>
                                        </p:attrNameLst>
                                      </p:cBhvr>
                                      <p:to>
                                        <p:strVal val="visible"/>
                                      </p:to>
                                    </p:set>
                                    <p:anim calcmode="lin" valueType="num">
                                      <p:cBhvr additive="base">
                                        <p:cTn id="21" dur="500" fill="hold"/>
                                        <p:tgtEl>
                                          <p:spTgt spid="1449987">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449987">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449987">
                                            <p:txEl>
                                              <p:pRg st="4" end="4"/>
                                            </p:txEl>
                                          </p:spTgt>
                                        </p:tgtEl>
                                        <p:attrNameLst>
                                          <p:attrName>style.visibility</p:attrName>
                                        </p:attrNameLst>
                                      </p:cBhvr>
                                      <p:to>
                                        <p:strVal val="visible"/>
                                      </p:to>
                                    </p:set>
                                    <p:anim calcmode="lin" valueType="num">
                                      <p:cBhvr additive="base">
                                        <p:cTn id="25" dur="500" fill="hold"/>
                                        <p:tgtEl>
                                          <p:spTgt spid="1449987">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449987">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449987">
                                            <p:txEl>
                                              <p:pRg st="5" end="5"/>
                                            </p:txEl>
                                          </p:spTgt>
                                        </p:tgtEl>
                                        <p:attrNameLst>
                                          <p:attrName>style.visibility</p:attrName>
                                        </p:attrNameLst>
                                      </p:cBhvr>
                                      <p:to>
                                        <p:strVal val="visible"/>
                                      </p:to>
                                    </p:set>
                                    <p:anim calcmode="lin" valueType="num">
                                      <p:cBhvr additive="base">
                                        <p:cTn id="29" dur="500" fill="hold"/>
                                        <p:tgtEl>
                                          <p:spTgt spid="1449987">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44998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9987"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8"/>
          <p:cNvSpPr>
            <a:spLocks noGrp="1" noChangeArrowheads="1"/>
          </p:cNvSpPr>
          <p:nvPr>
            <p:ph type="title"/>
          </p:nvPr>
        </p:nvSpPr>
        <p:spPr bwMode="auto">
          <a:xfrm>
            <a:off x="2249488"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超网的作用</a:t>
            </a:r>
          </a:p>
        </p:txBody>
      </p:sp>
      <p:grpSp>
        <p:nvGrpSpPr>
          <p:cNvPr id="2" name="Group 57"/>
          <p:cNvGrpSpPr>
            <a:grpSpLocks/>
          </p:cNvGrpSpPr>
          <p:nvPr/>
        </p:nvGrpSpPr>
        <p:grpSpPr bwMode="auto">
          <a:xfrm>
            <a:off x="2322513" y="1584325"/>
            <a:ext cx="7848600" cy="2425700"/>
            <a:chOff x="192" y="998"/>
            <a:chExt cx="4944" cy="1528"/>
          </a:xfrm>
        </p:grpSpPr>
        <p:sp>
          <p:nvSpPr>
            <p:cNvPr id="47125" name="Oval 21"/>
            <p:cNvSpPr>
              <a:spLocks noChangeArrowheads="1"/>
            </p:cNvSpPr>
            <p:nvPr/>
          </p:nvSpPr>
          <p:spPr bwMode="auto">
            <a:xfrm>
              <a:off x="4224" y="1414"/>
              <a:ext cx="912" cy="986"/>
            </a:xfrm>
            <a:prstGeom prst="ellipse">
              <a:avLst/>
            </a:prstGeom>
            <a:solidFill>
              <a:schemeClr val="folHlink"/>
            </a:solidFill>
            <a:ln w="25400">
              <a:solidFill>
                <a:schemeClr val="tx1"/>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sz="2000">
                  <a:solidFill>
                    <a:schemeClr val="tx1"/>
                  </a:solidFill>
                </a:rPr>
                <a:t>全局</a:t>
              </a:r>
            </a:p>
            <a:p>
              <a:pPr algn="ctr"/>
              <a:r>
                <a:rPr lang="en-US" altLang="zh-CN" sz="2400">
                  <a:solidFill>
                    <a:schemeClr val="tx1"/>
                  </a:solidFill>
                </a:rPr>
                <a:t>Internet</a:t>
              </a:r>
            </a:p>
            <a:p>
              <a:pPr algn="ctr"/>
              <a:r>
                <a:rPr lang="zh-CN" altLang="en-US" sz="2000">
                  <a:solidFill>
                    <a:schemeClr val="tx1"/>
                  </a:solidFill>
                </a:rPr>
                <a:t>路由网</a:t>
              </a:r>
            </a:p>
          </p:txBody>
        </p:sp>
        <p:sp>
          <p:nvSpPr>
            <p:cNvPr id="47126" name="Oval 23"/>
            <p:cNvSpPr>
              <a:spLocks noChangeArrowheads="1"/>
            </p:cNvSpPr>
            <p:nvPr/>
          </p:nvSpPr>
          <p:spPr bwMode="auto">
            <a:xfrm>
              <a:off x="1440" y="1471"/>
              <a:ext cx="816" cy="828"/>
            </a:xfrm>
            <a:prstGeom prst="ellipse">
              <a:avLst/>
            </a:prstGeom>
            <a:solidFill>
              <a:schemeClr val="hlink"/>
            </a:solidFill>
            <a:ln w="25400">
              <a:solidFill>
                <a:schemeClr val="tx1"/>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sz="2400">
                  <a:solidFill>
                    <a:schemeClr val="tx1"/>
                  </a:solidFill>
                </a:rPr>
                <a:t>服务</a:t>
              </a:r>
            </a:p>
            <a:p>
              <a:pPr algn="ctr"/>
              <a:r>
                <a:rPr lang="zh-CN" altLang="en-US" sz="2400">
                  <a:solidFill>
                    <a:schemeClr val="tx1"/>
                  </a:solidFill>
                </a:rPr>
                <a:t>提供商</a:t>
              </a:r>
            </a:p>
          </p:txBody>
        </p:sp>
        <p:sp>
          <p:nvSpPr>
            <p:cNvPr id="47127" name="Line 24"/>
            <p:cNvSpPr>
              <a:spLocks noChangeShapeType="1"/>
            </p:cNvSpPr>
            <p:nvPr/>
          </p:nvSpPr>
          <p:spPr bwMode="auto">
            <a:xfrm>
              <a:off x="1104" y="1392"/>
              <a:ext cx="336" cy="35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8" name="Line 25"/>
            <p:cNvSpPr>
              <a:spLocks noChangeShapeType="1"/>
            </p:cNvSpPr>
            <p:nvPr/>
          </p:nvSpPr>
          <p:spPr bwMode="auto">
            <a:xfrm>
              <a:off x="1104" y="1589"/>
              <a:ext cx="336" cy="19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9" name="Line 26"/>
            <p:cNvSpPr>
              <a:spLocks noChangeShapeType="1"/>
            </p:cNvSpPr>
            <p:nvPr/>
          </p:nvSpPr>
          <p:spPr bwMode="auto">
            <a:xfrm>
              <a:off x="1104" y="1747"/>
              <a:ext cx="336" cy="3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0" name="Line 27"/>
            <p:cNvSpPr>
              <a:spLocks noChangeShapeType="1"/>
            </p:cNvSpPr>
            <p:nvPr/>
          </p:nvSpPr>
          <p:spPr bwMode="auto">
            <a:xfrm>
              <a:off x="2256" y="1865"/>
              <a:ext cx="336"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1" name="Text Box 28"/>
            <p:cNvSpPr txBox="1">
              <a:spLocks noChangeArrowheads="1"/>
            </p:cNvSpPr>
            <p:nvPr/>
          </p:nvSpPr>
          <p:spPr bwMode="auto">
            <a:xfrm>
              <a:off x="210" y="1256"/>
              <a:ext cx="9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204.71.0.0</a:t>
              </a:r>
            </a:p>
          </p:txBody>
        </p:sp>
        <p:sp>
          <p:nvSpPr>
            <p:cNvPr id="47132" name="Text Box 29"/>
            <p:cNvSpPr txBox="1">
              <a:spLocks noChangeArrowheads="1"/>
            </p:cNvSpPr>
            <p:nvPr/>
          </p:nvSpPr>
          <p:spPr bwMode="auto">
            <a:xfrm>
              <a:off x="200" y="1432"/>
              <a:ext cx="9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204.71.1.0</a:t>
              </a:r>
            </a:p>
          </p:txBody>
        </p:sp>
        <p:sp>
          <p:nvSpPr>
            <p:cNvPr id="47133" name="Text Box 30"/>
            <p:cNvSpPr txBox="1">
              <a:spLocks noChangeArrowheads="1"/>
            </p:cNvSpPr>
            <p:nvPr/>
          </p:nvSpPr>
          <p:spPr bwMode="auto">
            <a:xfrm>
              <a:off x="220" y="1630"/>
              <a:ext cx="9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204.71.2.0</a:t>
              </a:r>
            </a:p>
          </p:txBody>
        </p:sp>
        <p:sp>
          <p:nvSpPr>
            <p:cNvPr id="47134" name="Text Box 31"/>
            <p:cNvSpPr txBox="1">
              <a:spLocks noChangeArrowheads="1"/>
            </p:cNvSpPr>
            <p:nvPr/>
          </p:nvSpPr>
          <p:spPr bwMode="auto">
            <a:xfrm>
              <a:off x="192" y="2141"/>
              <a:ext cx="11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204.71.255.0</a:t>
              </a:r>
            </a:p>
          </p:txBody>
        </p:sp>
        <p:sp>
          <p:nvSpPr>
            <p:cNvPr id="47135" name="Text Box 32"/>
            <p:cNvSpPr txBox="1">
              <a:spLocks noChangeArrowheads="1"/>
            </p:cNvSpPr>
            <p:nvPr/>
          </p:nvSpPr>
          <p:spPr bwMode="auto">
            <a:xfrm>
              <a:off x="240" y="1826"/>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a:t>
              </a:r>
            </a:p>
          </p:txBody>
        </p:sp>
        <p:sp>
          <p:nvSpPr>
            <p:cNvPr id="47136" name="Line 33"/>
            <p:cNvSpPr>
              <a:spLocks noChangeShapeType="1"/>
            </p:cNvSpPr>
            <p:nvPr/>
          </p:nvSpPr>
          <p:spPr bwMode="auto">
            <a:xfrm flipV="1">
              <a:off x="1104" y="1786"/>
              <a:ext cx="336" cy="1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7" name="Line 34"/>
            <p:cNvSpPr>
              <a:spLocks noChangeShapeType="1"/>
            </p:cNvSpPr>
            <p:nvPr/>
          </p:nvSpPr>
          <p:spPr bwMode="auto">
            <a:xfrm flipV="1">
              <a:off x="1104" y="1786"/>
              <a:ext cx="336" cy="35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8" name="Text Box 35"/>
            <p:cNvSpPr txBox="1">
              <a:spLocks noChangeArrowheads="1"/>
            </p:cNvSpPr>
            <p:nvPr/>
          </p:nvSpPr>
          <p:spPr bwMode="auto">
            <a:xfrm>
              <a:off x="2830" y="1353"/>
              <a:ext cx="9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204.71.0.0</a:t>
              </a:r>
            </a:p>
          </p:txBody>
        </p:sp>
        <p:sp>
          <p:nvSpPr>
            <p:cNvPr id="47139" name="Text Box 36"/>
            <p:cNvSpPr txBox="1">
              <a:spLocks noChangeArrowheads="1"/>
            </p:cNvSpPr>
            <p:nvPr/>
          </p:nvSpPr>
          <p:spPr bwMode="auto">
            <a:xfrm>
              <a:off x="2820" y="1529"/>
              <a:ext cx="9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204.71.1.0</a:t>
              </a:r>
            </a:p>
          </p:txBody>
        </p:sp>
        <p:sp>
          <p:nvSpPr>
            <p:cNvPr id="47140" name="Text Box 37"/>
            <p:cNvSpPr txBox="1">
              <a:spLocks noChangeArrowheads="1"/>
            </p:cNvSpPr>
            <p:nvPr/>
          </p:nvSpPr>
          <p:spPr bwMode="auto">
            <a:xfrm>
              <a:off x="2840" y="1725"/>
              <a:ext cx="9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204.71.2.0</a:t>
              </a:r>
            </a:p>
          </p:txBody>
        </p:sp>
        <p:sp>
          <p:nvSpPr>
            <p:cNvPr id="47141" name="Text Box 38"/>
            <p:cNvSpPr txBox="1">
              <a:spLocks noChangeArrowheads="1"/>
            </p:cNvSpPr>
            <p:nvPr/>
          </p:nvSpPr>
          <p:spPr bwMode="auto">
            <a:xfrm>
              <a:off x="2812" y="2238"/>
              <a:ext cx="11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204.71.255.0</a:t>
              </a:r>
            </a:p>
          </p:txBody>
        </p:sp>
        <p:sp>
          <p:nvSpPr>
            <p:cNvPr id="47142" name="Text Box 39"/>
            <p:cNvSpPr txBox="1">
              <a:spLocks noChangeArrowheads="1"/>
            </p:cNvSpPr>
            <p:nvPr/>
          </p:nvSpPr>
          <p:spPr bwMode="auto">
            <a:xfrm>
              <a:off x="2860" y="1924"/>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a:t>
              </a:r>
            </a:p>
          </p:txBody>
        </p:sp>
        <p:sp>
          <p:nvSpPr>
            <p:cNvPr id="47143" name="AutoShape 40"/>
            <p:cNvSpPr>
              <a:spLocks/>
            </p:cNvSpPr>
            <p:nvPr/>
          </p:nvSpPr>
          <p:spPr bwMode="auto">
            <a:xfrm>
              <a:off x="2686" y="1353"/>
              <a:ext cx="240" cy="1143"/>
            </a:xfrm>
            <a:prstGeom prst="leftBrace">
              <a:avLst>
                <a:gd name="adj1" fmla="val 39687"/>
                <a:gd name="adj2" fmla="val 500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47144" name="Text Box 41"/>
            <p:cNvSpPr txBox="1">
              <a:spLocks noChangeArrowheads="1"/>
            </p:cNvSpPr>
            <p:nvPr/>
          </p:nvSpPr>
          <p:spPr bwMode="auto">
            <a:xfrm>
              <a:off x="240" y="998"/>
              <a:ext cx="23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b="1" u="sng">
                  <a:solidFill>
                    <a:schemeClr val="folHlink"/>
                  </a:solidFill>
                </a:rPr>
                <a:t>不用 </a:t>
              </a:r>
              <a:r>
                <a:rPr lang="en-US" altLang="zh-CN" b="1" u="sng">
                  <a:solidFill>
                    <a:schemeClr val="folHlink"/>
                  </a:solidFill>
                </a:rPr>
                <a:t>CIDR</a:t>
              </a:r>
              <a:r>
                <a:rPr lang="zh-CN" altLang="en-US" b="1" u="sng">
                  <a:solidFill>
                    <a:schemeClr val="folHlink"/>
                  </a:solidFill>
                </a:rPr>
                <a:t>的域间路由</a:t>
              </a:r>
            </a:p>
          </p:txBody>
        </p:sp>
      </p:grpSp>
      <p:grpSp>
        <p:nvGrpSpPr>
          <p:cNvPr id="3" name="Group 58"/>
          <p:cNvGrpSpPr>
            <a:grpSpLocks/>
          </p:cNvGrpSpPr>
          <p:nvPr/>
        </p:nvGrpSpPr>
        <p:grpSpPr bwMode="auto">
          <a:xfrm>
            <a:off x="2425700" y="4029076"/>
            <a:ext cx="7848600" cy="2655879"/>
            <a:chOff x="288" y="2650"/>
            <a:chExt cx="4944" cy="1676"/>
          </a:xfrm>
        </p:grpSpPr>
        <p:sp>
          <p:nvSpPr>
            <p:cNvPr id="47110" name="Oval 42"/>
            <p:cNvSpPr>
              <a:spLocks noChangeArrowheads="1"/>
            </p:cNvSpPr>
            <p:nvPr/>
          </p:nvSpPr>
          <p:spPr bwMode="auto">
            <a:xfrm>
              <a:off x="1536" y="3348"/>
              <a:ext cx="816" cy="828"/>
            </a:xfrm>
            <a:prstGeom prst="ellipse">
              <a:avLst/>
            </a:prstGeom>
            <a:solidFill>
              <a:schemeClr val="hlink"/>
            </a:solidFill>
            <a:ln w="25400">
              <a:solidFill>
                <a:schemeClr val="tx1"/>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rPr>
                <a:t>Service</a:t>
              </a:r>
            </a:p>
            <a:p>
              <a:pPr algn="ctr"/>
              <a:r>
                <a:rPr lang="en-US" altLang="zh-CN" sz="2400">
                  <a:solidFill>
                    <a:schemeClr val="tx1"/>
                  </a:solidFill>
                </a:rPr>
                <a:t>Provider</a:t>
              </a:r>
            </a:p>
          </p:txBody>
        </p:sp>
        <p:sp>
          <p:nvSpPr>
            <p:cNvPr id="47111" name="Oval 43"/>
            <p:cNvSpPr>
              <a:spLocks noChangeArrowheads="1"/>
            </p:cNvSpPr>
            <p:nvPr/>
          </p:nvSpPr>
          <p:spPr bwMode="auto">
            <a:xfrm>
              <a:off x="4320" y="3334"/>
              <a:ext cx="912" cy="986"/>
            </a:xfrm>
            <a:prstGeom prst="ellipse">
              <a:avLst/>
            </a:prstGeom>
            <a:solidFill>
              <a:schemeClr val="folHlink"/>
            </a:solidFill>
            <a:ln w="25400">
              <a:solidFill>
                <a:schemeClr val="tx1"/>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rPr>
                <a:t>Global </a:t>
              </a:r>
            </a:p>
            <a:p>
              <a:pPr algn="ctr"/>
              <a:r>
                <a:rPr lang="en-US" altLang="zh-CN" sz="2400">
                  <a:solidFill>
                    <a:schemeClr val="tx1"/>
                  </a:solidFill>
                </a:rPr>
                <a:t>Internet</a:t>
              </a:r>
            </a:p>
            <a:p>
              <a:pPr algn="ctr"/>
              <a:r>
                <a:rPr lang="en-US" altLang="zh-CN" sz="2400">
                  <a:solidFill>
                    <a:schemeClr val="tx1"/>
                  </a:solidFill>
                </a:rPr>
                <a:t>Routing </a:t>
              </a:r>
            </a:p>
            <a:p>
              <a:pPr algn="ctr"/>
              <a:r>
                <a:rPr lang="en-US" altLang="zh-CN" sz="2400">
                  <a:solidFill>
                    <a:schemeClr val="tx1"/>
                  </a:solidFill>
                </a:rPr>
                <a:t>Mesh</a:t>
              </a:r>
            </a:p>
          </p:txBody>
        </p:sp>
        <p:sp>
          <p:nvSpPr>
            <p:cNvPr id="47112" name="Line 44"/>
            <p:cNvSpPr>
              <a:spLocks noChangeShapeType="1"/>
            </p:cNvSpPr>
            <p:nvPr/>
          </p:nvSpPr>
          <p:spPr bwMode="auto">
            <a:xfrm>
              <a:off x="1200" y="3149"/>
              <a:ext cx="336" cy="35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3" name="Line 45"/>
            <p:cNvSpPr>
              <a:spLocks noChangeShapeType="1"/>
            </p:cNvSpPr>
            <p:nvPr/>
          </p:nvSpPr>
          <p:spPr bwMode="auto">
            <a:xfrm>
              <a:off x="1200" y="3355"/>
              <a:ext cx="336" cy="19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4" name="Line 46"/>
            <p:cNvSpPr>
              <a:spLocks noChangeShapeType="1"/>
            </p:cNvSpPr>
            <p:nvPr/>
          </p:nvSpPr>
          <p:spPr bwMode="auto">
            <a:xfrm>
              <a:off x="1200" y="3513"/>
              <a:ext cx="336" cy="3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5" name="Line 47"/>
            <p:cNvSpPr>
              <a:spLocks noChangeShapeType="1"/>
            </p:cNvSpPr>
            <p:nvPr/>
          </p:nvSpPr>
          <p:spPr bwMode="auto">
            <a:xfrm>
              <a:off x="2352" y="3648"/>
              <a:ext cx="336" cy="1"/>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6" name="Text Box 48"/>
            <p:cNvSpPr txBox="1">
              <a:spLocks noChangeArrowheads="1"/>
            </p:cNvSpPr>
            <p:nvPr/>
          </p:nvSpPr>
          <p:spPr bwMode="auto">
            <a:xfrm>
              <a:off x="306" y="2957"/>
              <a:ext cx="94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204.71.0.0</a:t>
              </a:r>
            </a:p>
          </p:txBody>
        </p:sp>
        <p:sp>
          <p:nvSpPr>
            <p:cNvPr id="47117" name="Text Box 49"/>
            <p:cNvSpPr txBox="1">
              <a:spLocks noChangeArrowheads="1"/>
            </p:cNvSpPr>
            <p:nvPr/>
          </p:nvSpPr>
          <p:spPr bwMode="auto">
            <a:xfrm>
              <a:off x="296" y="3171"/>
              <a:ext cx="94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204.71.1.0</a:t>
              </a:r>
            </a:p>
          </p:txBody>
        </p:sp>
        <p:sp>
          <p:nvSpPr>
            <p:cNvPr id="47118" name="Text Box 50"/>
            <p:cNvSpPr txBox="1">
              <a:spLocks noChangeArrowheads="1"/>
            </p:cNvSpPr>
            <p:nvPr/>
          </p:nvSpPr>
          <p:spPr bwMode="auto">
            <a:xfrm>
              <a:off x="316" y="3411"/>
              <a:ext cx="94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204.71.2.0</a:t>
              </a:r>
            </a:p>
          </p:txBody>
        </p:sp>
        <p:sp>
          <p:nvSpPr>
            <p:cNvPr id="47119" name="Text Box 51"/>
            <p:cNvSpPr txBox="1">
              <a:spLocks noChangeArrowheads="1"/>
            </p:cNvSpPr>
            <p:nvPr/>
          </p:nvSpPr>
          <p:spPr bwMode="auto">
            <a:xfrm>
              <a:off x="288" y="4035"/>
              <a:ext cx="11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204.71.255.0</a:t>
              </a:r>
            </a:p>
          </p:txBody>
        </p:sp>
        <p:sp>
          <p:nvSpPr>
            <p:cNvPr id="47120" name="Text Box 52"/>
            <p:cNvSpPr txBox="1">
              <a:spLocks noChangeArrowheads="1"/>
            </p:cNvSpPr>
            <p:nvPr/>
          </p:nvSpPr>
          <p:spPr bwMode="auto">
            <a:xfrm>
              <a:off x="336" y="3651"/>
              <a:ext cx="8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a:t>
              </a:r>
            </a:p>
          </p:txBody>
        </p:sp>
        <p:sp>
          <p:nvSpPr>
            <p:cNvPr id="47121" name="Line 53"/>
            <p:cNvSpPr>
              <a:spLocks noChangeShapeType="1"/>
            </p:cNvSpPr>
            <p:nvPr/>
          </p:nvSpPr>
          <p:spPr bwMode="auto">
            <a:xfrm flipV="1">
              <a:off x="1200" y="3586"/>
              <a:ext cx="336" cy="1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2" name="Line 54"/>
            <p:cNvSpPr>
              <a:spLocks noChangeShapeType="1"/>
            </p:cNvSpPr>
            <p:nvPr/>
          </p:nvSpPr>
          <p:spPr bwMode="auto">
            <a:xfrm flipV="1">
              <a:off x="1200" y="3629"/>
              <a:ext cx="336" cy="35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3" name="Text Box 55"/>
            <p:cNvSpPr txBox="1">
              <a:spLocks noChangeArrowheads="1"/>
            </p:cNvSpPr>
            <p:nvPr/>
          </p:nvSpPr>
          <p:spPr bwMode="auto">
            <a:xfrm>
              <a:off x="2736" y="3555"/>
              <a:ext cx="118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204.71.0.0/16</a:t>
              </a:r>
            </a:p>
          </p:txBody>
        </p:sp>
        <p:sp>
          <p:nvSpPr>
            <p:cNvPr id="47124" name="Text Box 56"/>
            <p:cNvSpPr txBox="1">
              <a:spLocks noChangeArrowheads="1"/>
            </p:cNvSpPr>
            <p:nvPr/>
          </p:nvSpPr>
          <p:spPr bwMode="auto">
            <a:xfrm>
              <a:off x="336" y="2650"/>
              <a:ext cx="2095"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b="1" u="sng">
                  <a:solidFill>
                    <a:schemeClr val="folHlink"/>
                  </a:solidFill>
                </a:rPr>
                <a:t>用 </a:t>
              </a:r>
              <a:r>
                <a:rPr lang="en-US" altLang="zh-CN" b="1" u="sng">
                  <a:solidFill>
                    <a:schemeClr val="folHlink"/>
                  </a:solidFill>
                </a:rPr>
                <a:t>CIDR</a:t>
              </a:r>
              <a:r>
                <a:rPr lang="zh-CN" altLang="en-US" b="1" u="sng">
                  <a:solidFill>
                    <a:schemeClr val="folHlink"/>
                  </a:solidFill>
                </a:rPr>
                <a:t>的域间路由</a:t>
              </a:r>
            </a:p>
          </p:txBody>
        </p:sp>
      </p:grpSp>
      <p:sp>
        <p:nvSpPr>
          <p:cNvPr id="1452091" name="AutoShape 59"/>
          <p:cNvSpPr>
            <a:spLocks noChangeArrowheads="1"/>
          </p:cNvSpPr>
          <p:nvPr/>
        </p:nvSpPr>
        <p:spPr bwMode="auto">
          <a:xfrm>
            <a:off x="6308725" y="4202113"/>
            <a:ext cx="2743200" cy="1109662"/>
          </a:xfrm>
          <a:prstGeom prst="wedgeRoundRectCallout">
            <a:avLst>
              <a:gd name="adj1" fmla="val -41375"/>
              <a:gd name="adj2" fmla="val 71745"/>
              <a:gd name="adj3" fmla="val 16667"/>
            </a:avLst>
          </a:prstGeom>
          <a:solidFill>
            <a:schemeClr val="accent1"/>
          </a:solidFill>
          <a:ln w="9525">
            <a:solidFill>
              <a:srgbClr val="CACACA"/>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buFont typeface="Wingdings" panose="05000000000000000000" pitchFamily="2" charset="2"/>
              <a:buChar char="ü"/>
            </a:pPr>
            <a:r>
              <a:rPr lang="zh-CN" altLang="en-US" sz="2000">
                <a:solidFill>
                  <a:schemeClr val="tx2"/>
                </a:solidFill>
              </a:rPr>
              <a:t>减少路由表的条目</a:t>
            </a:r>
          </a:p>
          <a:p>
            <a:pPr>
              <a:buFont typeface="Wingdings" panose="05000000000000000000" pitchFamily="2" charset="2"/>
              <a:buChar char="ü"/>
            </a:pPr>
            <a:r>
              <a:rPr lang="zh-CN" altLang="en-US" sz="2000">
                <a:solidFill>
                  <a:schemeClr val="tx2"/>
                </a:solidFill>
              </a:rPr>
              <a:t>便于</a:t>
            </a:r>
            <a:r>
              <a:rPr lang="en-US" altLang="zh-CN" sz="2000">
                <a:solidFill>
                  <a:schemeClr val="tx2"/>
                </a:solidFill>
              </a:rPr>
              <a:t>(</a:t>
            </a:r>
            <a:r>
              <a:rPr lang="zh-CN" altLang="en-US" sz="2000">
                <a:solidFill>
                  <a:schemeClr val="tx2"/>
                </a:solidFill>
              </a:rPr>
              <a:t>查表）路由</a:t>
            </a:r>
          </a:p>
          <a:p>
            <a:pPr>
              <a:buFont typeface="Wingdings" panose="05000000000000000000" pitchFamily="2" charset="2"/>
              <a:buChar char="ü"/>
            </a:pPr>
            <a:r>
              <a:rPr lang="zh-CN" altLang="en-US" sz="2000">
                <a:solidFill>
                  <a:schemeClr val="tx2"/>
                </a:solidFill>
              </a:rPr>
              <a:t>便于记忆</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1+#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452091"/>
                                        </p:tgtEl>
                                        <p:attrNameLst>
                                          <p:attrName>style.visibility</p:attrName>
                                        </p:attrNameLst>
                                      </p:cBhvr>
                                      <p:to>
                                        <p:strVal val="visible"/>
                                      </p:to>
                                    </p:set>
                                    <p:anim calcmode="lin" valueType="num">
                                      <p:cBhvr additive="base">
                                        <p:cTn id="19" dur="500" fill="hold"/>
                                        <p:tgtEl>
                                          <p:spTgt spid="1452091"/>
                                        </p:tgtEl>
                                        <p:attrNameLst>
                                          <p:attrName>ppt_x</p:attrName>
                                        </p:attrNameLst>
                                      </p:cBhvr>
                                      <p:tavLst>
                                        <p:tav tm="0">
                                          <p:val>
                                            <p:strVal val="1+#ppt_w/2"/>
                                          </p:val>
                                        </p:tav>
                                        <p:tav tm="100000">
                                          <p:val>
                                            <p:strVal val="#ppt_x"/>
                                          </p:val>
                                        </p:tav>
                                      </p:tavLst>
                                    </p:anim>
                                    <p:anim calcmode="lin" valueType="num">
                                      <p:cBhvr additive="base">
                                        <p:cTn id="20" dur="500" fill="hold"/>
                                        <p:tgtEl>
                                          <p:spTgt spid="14520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2091" grpId="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4"/>
          <p:cNvSpPr txBox="1">
            <a:spLocks noChangeArrowheads="1"/>
          </p:cNvSpPr>
          <p:nvPr/>
        </p:nvSpPr>
        <p:spPr bwMode="auto">
          <a:xfrm>
            <a:off x="2173288" y="1446213"/>
            <a:ext cx="7637462"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kumimoji="1" lang="zh-CN" altLang="en-US" sz="9600">
                <a:solidFill>
                  <a:schemeClr val="tx2"/>
                </a:solidFill>
                <a:latin typeface="Tahoma" panose="020B0604030504040204" pitchFamily="34" charset="0"/>
              </a:rPr>
              <a:t>网络地址转换</a:t>
            </a:r>
          </a:p>
        </p:txBody>
      </p:sp>
      <p:sp>
        <p:nvSpPr>
          <p:cNvPr id="53251" name="Rectangle 5"/>
          <p:cNvSpPr>
            <a:spLocks noGrp="1" noChangeArrowheads="1"/>
          </p:cNvSpPr>
          <p:nvPr>
            <p:ph type="title"/>
          </p:nvPr>
        </p:nvSpPr>
        <p:spPr bwMode="auto">
          <a:xfrm>
            <a:off x="2228850"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NAT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91331" name="Rectangle 3"/>
          <p:cNvSpPr>
            <a:spLocks noGrp="1" noChangeArrowheads="1"/>
          </p:cNvSpPr>
          <p:nvPr>
            <p:ph type="body" idx="1"/>
          </p:nvPr>
        </p:nvSpPr>
        <p:spPr bwMode="auto">
          <a:xfrm>
            <a:off x="2354263" y="1268413"/>
            <a:ext cx="7772400" cy="40513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zh-CN"/>
              <a:t>IP </a:t>
            </a:r>
            <a:r>
              <a:rPr lang="zh-CN" altLang="en-US"/>
              <a:t>定义了私有的 </a:t>
            </a:r>
            <a:r>
              <a:rPr lang="en-US" altLang="zh-CN"/>
              <a:t>intranet </a:t>
            </a:r>
            <a:r>
              <a:rPr lang="zh-CN" altLang="en-US"/>
              <a:t>地址范围</a:t>
            </a:r>
          </a:p>
          <a:p>
            <a:pPr lvl="1" eaLnBrk="1" hangingPunct="1"/>
            <a:r>
              <a:rPr lang="en-US" altLang="zh-CN"/>
              <a:t>10.0.0.0 - 10.255.255.255 (Class A)</a:t>
            </a:r>
          </a:p>
          <a:p>
            <a:pPr lvl="1" eaLnBrk="1" hangingPunct="1"/>
            <a:r>
              <a:rPr lang="en-US" altLang="zh-CN">
                <a:solidFill>
                  <a:srgbClr val="FF0000"/>
                </a:solidFill>
              </a:rPr>
              <a:t>172.16.0.0 - 172.31.255.255 (Class B)</a:t>
            </a:r>
          </a:p>
          <a:p>
            <a:pPr lvl="1" eaLnBrk="1" hangingPunct="1"/>
            <a:r>
              <a:rPr lang="en-US" altLang="zh-CN"/>
              <a:t>192.168.0.0 - 192.168.255.255 (Class C)</a:t>
            </a:r>
          </a:p>
          <a:p>
            <a:pPr eaLnBrk="1" hangingPunct="1"/>
            <a:r>
              <a:rPr lang="zh-CN" altLang="en-US"/>
              <a:t>地址可被许多组织重用</a:t>
            </a:r>
          </a:p>
          <a:p>
            <a:pPr eaLnBrk="1" hangingPunct="1"/>
            <a:r>
              <a:rPr lang="zh-CN" altLang="en-US"/>
              <a:t> 地址不能用于</a:t>
            </a:r>
            <a:r>
              <a:rPr lang="en-US" altLang="zh-CN"/>
              <a:t>Internet</a:t>
            </a:r>
            <a:r>
              <a:rPr lang="zh-CN" altLang="en-US"/>
              <a:t>上的通信</a:t>
            </a:r>
            <a:r>
              <a:rPr lang="en-US" altLang="zh-CN"/>
              <a:t>(</a:t>
            </a:r>
            <a:r>
              <a:rPr lang="zh-CN" altLang="en-US"/>
              <a:t>对外必须转换为合法的</a:t>
            </a:r>
            <a:r>
              <a:rPr lang="en-US" altLang="zh-CN"/>
              <a:t>IP</a:t>
            </a:r>
            <a:r>
              <a:rPr lang="zh-CN" altLang="en-US"/>
              <a:t>地址</a:t>
            </a:r>
            <a:r>
              <a:rPr lang="en-US" altLang="zh-CN"/>
              <a:t>)</a:t>
            </a:r>
          </a:p>
        </p:txBody>
      </p:sp>
      <p:sp>
        <p:nvSpPr>
          <p:cNvPr id="54275" name="Rectangle 4"/>
          <p:cNvSpPr>
            <a:spLocks noGrp="1" noChangeArrowheads="1"/>
          </p:cNvSpPr>
          <p:nvPr>
            <p:ph type="title"/>
          </p:nvPr>
        </p:nvSpPr>
        <p:spPr bwMode="auto">
          <a:xfrm>
            <a:off x="2209800" y="4540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背景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91331">
                                            <p:txEl>
                                              <p:pRg st="0" end="0"/>
                                            </p:txEl>
                                          </p:spTgt>
                                        </p:tgtEl>
                                        <p:attrNameLst>
                                          <p:attrName>style.visibility</p:attrName>
                                        </p:attrNameLst>
                                      </p:cBhvr>
                                      <p:to>
                                        <p:strVal val="visible"/>
                                      </p:to>
                                    </p:set>
                                    <p:anim calcmode="lin" valueType="num">
                                      <p:cBhvr additive="base">
                                        <p:cTn id="7" dur="500" fill="hold"/>
                                        <p:tgtEl>
                                          <p:spTgt spid="189133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9133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891331">
                                            <p:txEl>
                                              <p:pRg st="1" end="1"/>
                                            </p:txEl>
                                          </p:spTgt>
                                        </p:tgtEl>
                                        <p:attrNameLst>
                                          <p:attrName>style.visibility</p:attrName>
                                        </p:attrNameLst>
                                      </p:cBhvr>
                                      <p:to>
                                        <p:strVal val="visible"/>
                                      </p:to>
                                    </p:set>
                                    <p:anim calcmode="lin" valueType="num">
                                      <p:cBhvr additive="base">
                                        <p:cTn id="11" dur="500" fill="hold"/>
                                        <p:tgtEl>
                                          <p:spTgt spid="189133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891331">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891331">
                                            <p:txEl>
                                              <p:pRg st="2" end="2"/>
                                            </p:txEl>
                                          </p:spTgt>
                                        </p:tgtEl>
                                        <p:attrNameLst>
                                          <p:attrName>style.visibility</p:attrName>
                                        </p:attrNameLst>
                                      </p:cBhvr>
                                      <p:to>
                                        <p:strVal val="visible"/>
                                      </p:to>
                                    </p:set>
                                    <p:anim calcmode="lin" valueType="num">
                                      <p:cBhvr additive="base">
                                        <p:cTn id="15" dur="500" fill="hold"/>
                                        <p:tgtEl>
                                          <p:spTgt spid="1891331">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891331">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891331">
                                            <p:txEl>
                                              <p:pRg st="3" end="3"/>
                                            </p:txEl>
                                          </p:spTgt>
                                        </p:tgtEl>
                                        <p:attrNameLst>
                                          <p:attrName>style.visibility</p:attrName>
                                        </p:attrNameLst>
                                      </p:cBhvr>
                                      <p:to>
                                        <p:strVal val="visible"/>
                                      </p:to>
                                    </p:set>
                                    <p:anim calcmode="lin" valueType="num">
                                      <p:cBhvr additive="base">
                                        <p:cTn id="19" dur="500" fill="hold"/>
                                        <p:tgtEl>
                                          <p:spTgt spid="1891331">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913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91331">
                                            <p:txEl>
                                              <p:pRg st="4" end="4"/>
                                            </p:txEl>
                                          </p:spTgt>
                                        </p:tgtEl>
                                        <p:attrNameLst>
                                          <p:attrName>style.visibility</p:attrName>
                                        </p:attrNameLst>
                                      </p:cBhvr>
                                      <p:to>
                                        <p:strVal val="visible"/>
                                      </p:to>
                                    </p:set>
                                    <p:anim calcmode="lin" valueType="num">
                                      <p:cBhvr additive="base">
                                        <p:cTn id="25" dur="500" fill="hold"/>
                                        <p:tgtEl>
                                          <p:spTgt spid="1891331">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9133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91331">
                                            <p:txEl>
                                              <p:pRg st="5" end="5"/>
                                            </p:txEl>
                                          </p:spTgt>
                                        </p:tgtEl>
                                        <p:attrNameLst>
                                          <p:attrName>style.visibility</p:attrName>
                                        </p:attrNameLst>
                                      </p:cBhvr>
                                      <p:to>
                                        <p:strVal val="visible"/>
                                      </p:to>
                                    </p:set>
                                    <p:anim calcmode="lin" valueType="num">
                                      <p:cBhvr additive="base">
                                        <p:cTn id="31" dur="500" fill="hold"/>
                                        <p:tgtEl>
                                          <p:spTgt spid="1891331">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9133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1331"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Line 2"/>
          <p:cNvSpPr>
            <a:spLocks noChangeShapeType="1"/>
          </p:cNvSpPr>
          <p:nvPr/>
        </p:nvSpPr>
        <p:spPr bwMode="auto">
          <a:xfrm>
            <a:off x="1801813" y="3403600"/>
            <a:ext cx="8305800"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5299" name="Freeform 3"/>
          <p:cNvSpPr>
            <a:spLocks/>
          </p:cNvSpPr>
          <p:nvPr/>
        </p:nvSpPr>
        <p:spPr bwMode="auto">
          <a:xfrm>
            <a:off x="2182813" y="4857234"/>
            <a:ext cx="6553200" cy="369332"/>
          </a:xfrm>
          <a:custGeom>
            <a:avLst/>
            <a:gdLst>
              <a:gd name="T0" fmla="*/ 2147483646 w 482"/>
              <a:gd name="T1" fmla="*/ 2147483646 h 401"/>
              <a:gd name="T2" fmla="*/ 0 w 482"/>
              <a:gd name="T3" fmla="*/ 2147483646 h 401"/>
              <a:gd name="T4" fmla="*/ 2147483646 w 482"/>
              <a:gd name="T5" fmla="*/ 2147483646 h 401"/>
              <a:gd name="T6" fmla="*/ 2147483646 w 482"/>
              <a:gd name="T7" fmla="*/ 2147483646 h 401"/>
              <a:gd name="T8" fmla="*/ 2147483646 w 482"/>
              <a:gd name="T9" fmla="*/ 2147483646 h 401"/>
              <a:gd name="T10" fmla="*/ 2147483646 w 482"/>
              <a:gd name="T11" fmla="*/ 2147483646 h 401"/>
              <a:gd name="T12" fmla="*/ 2147483646 w 482"/>
              <a:gd name="T13" fmla="*/ 2147483646 h 401"/>
              <a:gd name="T14" fmla="*/ 2147483646 w 482"/>
              <a:gd name="T15" fmla="*/ 2147483646 h 401"/>
              <a:gd name="T16" fmla="*/ 2147483646 w 482"/>
              <a:gd name="T17" fmla="*/ 2147483646 h 401"/>
              <a:gd name="T18" fmla="*/ 2147483646 w 482"/>
              <a:gd name="T19" fmla="*/ 2147483646 h 401"/>
              <a:gd name="T20" fmla="*/ 2147483646 w 482"/>
              <a:gd name="T21" fmla="*/ 2147483646 h 401"/>
              <a:gd name="T22" fmla="*/ 2147483646 w 482"/>
              <a:gd name="T23" fmla="*/ 2147483646 h 401"/>
              <a:gd name="T24" fmla="*/ 2147483646 w 482"/>
              <a:gd name="T25" fmla="*/ 2147483646 h 401"/>
              <a:gd name="T26" fmla="*/ 2147483646 w 482"/>
              <a:gd name="T27" fmla="*/ 2147483646 h 401"/>
              <a:gd name="T28" fmla="*/ 2147483646 w 482"/>
              <a:gd name="T29" fmla="*/ 2147483646 h 401"/>
              <a:gd name="T30" fmla="*/ 2147483646 w 482"/>
              <a:gd name="T31" fmla="*/ 2147483646 h 401"/>
              <a:gd name="T32" fmla="*/ 2147483646 w 482"/>
              <a:gd name="T33" fmla="*/ 2147483646 h 401"/>
              <a:gd name="T34" fmla="*/ 2147483646 w 482"/>
              <a:gd name="T35" fmla="*/ 2147483646 h 401"/>
              <a:gd name="T36" fmla="*/ 2147483646 w 482"/>
              <a:gd name="T37" fmla="*/ 2147483646 h 401"/>
              <a:gd name="T38" fmla="*/ 2147483646 w 482"/>
              <a:gd name="T39" fmla="*/ 2147483646 h 401"/>
              <a:gd name="T40" fmla="*/ 2147483646 w 482"/>
              <a:gd name="T41" fmla="*/ 0 h 401"/>
              <a:gd name="T42" fmla="*/ 2147483646 w 482"/>
              <a:gd name="T43" fmla="*/ 2147483646 h 401"/>
              <a:gd name="T44" fmla="*/ 2147483646 w 482"/>
              <a:gd name="T45" fmla="*/ 2147483646 h 401"/>
              <a:gd name="T46" fmla="*/ 2147483646 w 482"/>
              <a:gd name="T47" fmla="*/ 2147483646 h 401"/>
              <a:gd name="T48" fmla="*/ 2147483646 w 482"/>
              <a:gd name="T49" fmla="*/ 2147483646 h 401"/>
              <a:gd name="T50" fmla="*/ 2147483646 w 482"/>
              <a:gd name="T51" fmla="*/ 2147483646 h 401"/>
              <a:gd name="T52" fmla="*/ 2147483646 w 482"/>
              <a:gd name="T53" fmla="*/ 2147483646 h 401"/>
              <a:gd name="T54" fmla="*/ 2147483646 w 482"/>
              <a:gd name="T55" fmla="*/ 2147483646 h 401"/>
              <a:gd name="T56" fmla="*/ 2147483646 w 482"/>
              <a:gd name="T57" fmla="*/ 2147483646 h 401"/>
              <a:gd name="T58" fmla="*/ 2147483646 w 482"/>
              <a:gd name="T59" fmla="*/ 2147483646 h 40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82"/>
              <a:gd name="T91" fmla="*/ 0 h 401"/>
              <a:gd name="T92" fmla="*/ 482 w 482"/>
              <a:gd name="T93" fmla="*/ 401 h 40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82" h="401">
                <a:moveTo>
                  <a:pt x="46" y="211"/>
                </a:moveTo>
                <a:cubicBezTo>
                  <a:pt x="27" y="220"/>
                  <a:pt x="14" y="227"/>
                  <a:pt x="0" y="242"/>
                </a:cubicBezTo>
                <a:cubicBezTo>
                  <a:pt x="2" y="257"/>
                  <a:pt x="0" y="273"/>
                  <a:pt x="5" y="288"/>
                </a:cubicBezTo>
                <a:cubicBezTo>
                  <a:pt x="20" y="334"/>
                  <a:pt x="61" y="340"/>
                  <a:pt x="102" y="344"/>
                </a:cubicBezTo>
                <a:cubicBezTo>
                  <a:pt x="117" y="376"/>
                  <a:pt x="106" y="360"/>
                  <a:pt x="138" y="390"/>
                </a:cubicBezTo>
                <a:cubicBezTo>
                  <a:pt x="149" y="401"/>
                  <a:pt x="184" y="401"/>
                  <a:pt x="184" y="401"/>
                </a:cubicBezTo>
                <a:cubicBezTo>
                  <a:pt x="198" y="399"/>
                  <a:pt x="212" y="398"/>
                  <a:pt x="225" y="395"/>
                </a:cubicBezTo>
                <a:cubicBezTo>
                  <a:pt x="236" y="393"/>
                  <a:pt x="256" y="385"/>
                  <a:pt x="256" y="385"/>
                </a:cubicBezTo>
                <a:cubicBezTo>
                  <a:pt x="272" y="369"/>
                  <a:pt x="285" y="357"/>
                  <a:pt x="297" y="339"/>
                </a:cubicBezTo>
                <a:cubicBezTo>
                  <a:pt x="323" y="356"/>
                  <a:pt x="306" y="347"/>
                  <a:pt x="348" y="360"/>
                </a:cubicBezTo>
                <a:cubicBezTo>
                  <a:pt x="358" y="363"/>
                  <a:pt x="379" y="370"/>
                  <a:pt x="379" y="370"/>
                </a:cubicBezTo>
                <a:cubicBezTo>
                  <a:pt x="397" y="361"/>
                  <a:pt x="407" y="350"/>
                  <a:pt x="425" y="344"/>
                </a:cubicBezTo>
                <a:cubicBezTo>
                  <a:pt x="454" y="318"/>
                  <a:pt x="464" y="295"/>
                  <a:pt x="471" y="257"/>
                </a:cubicBezTo>
                <a:cubicBezTo>
                  <a:pt x="469" y="252"/>
                  <a:pt x="470" y="246"/>
                  <a:pt x="466" y="242"/>
                </a:cubicBezTo>
                <a:cubicBezTo>
                  <a:pt x="462" y="238"/>
                  <a:pt x="451" y="241"/>
                  <a:pt x="451" y="236"/>
                </a:cubicBezTo>
                <a:cubicBezTo>
                  <a:pt x="451" y="228"/>
                  <a:pt x="462" y="223"/>
                  <a:pt x="466" y="216"/>
                </a:cubicBezTo>
                <a:cubicBezTo>
                  <a:pt x="476" y="200"/>
                  <a:pt x="477" y="196"/>
                  <a:pt x="482" y="180"/>
                </a:cubicBezTo>
                <a:cubicBezTo>
                  <a:pt x="477" y="141"/>
                  <a:pt x="476" y="118"/>
                  <a:pt x="436" y="108"/>
                </a:cubicBezTo>
                <a:cubicBezTo>
                  <a:pt x="421" y="45"/>
                  <a:pt x="423" y="44"/>
                  <a:pt x="359" y="31"/>
                </a:cubicBezTo>
                <a:cubicBezTo>
                  <a:pt x="338" y="38"/>
                  <a:pt x="334" y="49"/>
                  <a:pt x="312" y="42"/>
                </a:cubicBezTo>
                <a:cubicBezTo>
                  <a:pt x="296" y="25"/>
                  <a:pt x="278" y="9"/>
                  <a:pt x="256" y="0"/>
                </a:cubicBezTo>
                <a:cubicBezTo>
                  <a:pt x="241" y="3"/>
                  <a:pt x="223" y="2"/>
                  <a:pt x="210" y="11"/>
                </a:cubicBezTo>
                <a:cubicBezTo>
                  <a:pt x="200" y="18"/>
                  <a:pt x="184" y="36"/>
                  <a:pt x="184" y="36"/>
                </a:cubicBezTo>
                <a:cubicBezTo>
                  <a:pt x="179" y="31"/>
                  <a:pt x="175" y="24"/>
                  <a:pt x="169" y="21"/>
                </a:cubicBezTo>
                <a:cubicBezTo>
                  <a:pt x="159" y="16"/>
                  <a:pt x="138" y="11"/>
                  <a:pt x="138" y="11"/>
                </a:cubicBezTo>
                <a:cubicBezTo>
                  <a:pt x="116" y="18"/>
                  <a:pt x="111" y="27"/>
                  <a:pt x="97" y="47"/>
                </a:cubicBezTo>
                <a:cubicBezTo>
                  <a:pt x="85" y="82"/>
                  <a:pt x="84" y="67"/>
                  <a:pt x="92" y="93"/>
                </a:cubicBezTo>
                <a:cubicBezTo>
                  <a:pt x="67" y="110"/>
                  <a:pt x="49" y="118"/>
                  <a:pt x="25" y="139"/>
                </a:cubicBezTo>
                <a:cubicBezTo>
                  <a:pt x="14" y="172"/>
                  <a:pt x="10" y="186"/>
                  <a:pt x="46" y="195"/>
                </a:cubicBezTo>
                <a:cubicBezTo>
                  <a:pt x="41" y="213"/>
                  <a:pt x="35" y="211"/>
                  <a:pt x="46" y="211"/>
                </a:cubicBezTo>
                <a:close/>
              </a:path>
            </a:pathLst>
          </a:custGeom>
          <a:solidFill>
            <a:srgbClr val="969696"/>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endParaRPr lang="zh-CN" altLang="en-US"/>
          </a:p>
        </p:txBody>
      </p:sp>
      <p:sp>
        <p:nvSpPr>
          <p:cNvPr id="55300" name="Rectangle 5"/>
          <p:cNvSpPr>
            <a:spLocks noChangeArrowheads="1"/>
          </p:cNvSpPr>
          <p:nvPr/>
        </p:nvSpPr>
        <p:spPr bwMode="auto">
          <a:xfrm>
            <a:off x="5688013" y="3327400"/>
            <a:ext cx="609600" cy="609600"/>
          </a:xfrm>
          <a:prstGeom prst="rect">
            <a:avLst/>
          </a:prstGeom>
          <a:solidFill>
            <a:srgbClr val="FE7E93"/>
          </a:solidFill>
          <a:ln w="1270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a:solidFill>
                  <a:schemeClr val="tx1"/>
                </a:solidFill>
              </a:rPr>
              <a:t>Gateway</a:t>
            </a:r>
          </a:p>
        </p:txBody>
      </p:sp>
      <p:sp>
        <p:nvSpPr>
          <p:cNvPr id="55301" name="Line 6"/>
          <p:cNvSpPr>
            <a:spLocks noChangeShapeType="1"/>
          </p:cNvSpPr>
          <p:nvPr/>
        </p:nvSpPr>
        <p:spPr bwMode="auto">
          <a:xfrm>
            <a:off x="3478213" y="4546600"/>
            <a:ext cx="4267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02" name="Line 7"/>
          <p:cNvSpPr>
            <a:spLocks noChangeShapeType="1"/>
          </p:cNvSpPr>
          <p:nvPr/>
        </p:nvSpPr>
        <p:spPr bwMode="auto">
          <a:xfrm>
            <a:off x="5992813" y="3937000"/>
            <a:ext cx="0" cy="609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03" name="Line 8"/>
          <p:cNvSpPr>
            <a:spLocks noChangeShapeType="1"/>
          </p:cNvSpPr>
          <p:nvPr/>
        </p:nvSpPr>
        <p:spPr bwMode="auto">
          <a:xfrm>
            <a:off x="3478213" y="4546600"/>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grpSp>
        <p:nvGrpSpPr>
          <p:cNvPr id="55304" name="Group 9"/>
          <p:cNvGrpSpPr>
            <a:grpSpLocks/>
          </p:cNvGrpSpPr>
          <p:nvPr/>
        </p:nvGrpSpPr>
        <p:grpSpPr bwMode="auto">
          <a:xfrm>
            <a:off x="3249613" y="4825258"/>
            <a:ext cx="457200" cy="690806"/>
            <a:chOff x="528" y="217"/>
            <a:chExt cx="384" cy="621"/>
          </a:xfrm>
        </p:grpSpPr>
        <p:sp>
          <p:nvSpPr>
            <p:cNvPr id="55384" name="Rectangle 10"/>
            <p:cNvSpPr>
              <a:spLocks noChangeArrowheads="1"/>
            </p:cNvSpPr>
            <p:nvPr/>
          </p:nvSpPr>
          <p:spPr bwMode="auto">
            <a:xfrm>
              <a:off x="642" y="221"/>
              <a:ext cx="155" cy="47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5385" name="Freeform 11"/>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55386" name="Line 12"/>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87" name="Line 13"/>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88" name="Line 14"/>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89" name="Line 15"/>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90" name="Line 16"/>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91" name="Line 17"/>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92" name="Line 18"/>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93" name="Line 19"/>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94" name="Rectangle 20"/>
            <p:cNvSpPr>
              <a:spLocks noChangeArrowheads="1"/>
            </p:cNvSpPr>
            <p:nvPr/>
          </p:nvSpPr>
          <p:spPr bwMode="auto">
            <a:xfrm>
              <a:off x="597" y="217"/>
              <a:ext cx="244" cy="47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grpSp>
        <p:nvGrpSpPr>
          <p:cNvPr id="55305" name="Group 21"/>
          <p:cNvGrpSpPr>
            <a:grpSpLocks/>
          </p:cNvGrpSpPr>
          <p:nvPr/>
        </p:nvGrpSpPr>
        <p:grpSpPr bwMode="auto">
          <a:xfrm>
            <a:off x="5383213" y="4825258"/>
            <a:ext cx="457200" cy="690806"/>
            <a:chOff x="528" y="217"/>
            <a:chExt cx="384" cy="621"/>
          </a:xfrm>
        </p:grpSpPr>
        <p:sp>
          <p:nvSpPr>
            <p:cNvPr id="55373" name="Rectangle 22"/>
            <p:cNvSpPr>
              <a:spLocks noChangeArrowheads="1"/>
            </p:cNvSpPr>
            <p:nvPr/>
          </p:nvSpPr>
          <p:spPr bwMode="auto">
            <a:xfrm>
              <a:off x="642" y="221"/>
              <a:ext cx="155" cy="470"/>
            </a:xfrm>
            <a:prstGeom prst="rect">
              <a:avLst/>
            </a:prstGeom>
            <a:solidFill>
              <a:srgbClr val="0000FF"/>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5374" name="Freeform 23"/>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solidFill>
              <a:srgbClr val="0000FF"/>
            </a:solidFill>
            <a:ln w="12700">
              <a:solidFill>
                <a:schemeClr val="tx1"/>
              </a:solidFill>
              <a:round/>
              <a:headEnd/>
              <a:tailEnd/>
            </a:ln>
          </p:spPr>
          <p:txBody>
            <a:bodyPr anchor="ctr">
              <a:spAutoFit/>
            </a:bodyPr>
            <a:lstStyle/>
            <a:p>
              <a:endParaRPr lang="zh-CN" altLang="en-US"/>
            </a:p>
          </p:txBody>
        </p:sp>
        <p:sp>
          <p:nvSpPr>
            <p:cNvPr id="55375" name="Line 24"/>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76" name="Line 25"/>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77" name="Line 26"/>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78" name="Line 27"/>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79" name="Line 28"/>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80" name="Line 29"/>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81" name="Line 30"/>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82" name="Line 31"/>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83" name="Rectangle 32"/>
            <p:cNvSpPr>
              <a:spLocks noChangeArrowheads="1"/>
            </p:cNvSpPr>
            <p:nvPr/>
          </p:nvSpPr>
          <p:spPr bwMode="auto">
            <a:xfrm>
              <a:off x="597" y="217"/>
              <a:ext cx="244" cy="470"/>
            </a:xfrm>
            <a:prstGeom prst="rect">
              <a:avLst/>
            </a:prstGeom>
            <a:solidFill>
              <a:srgbClr val="0000FF"/>
            </a:solidFill>
            <a:ln w="12700">
              <a:solidFill>
                <a:schemeClr val="tx1"/>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grpSp>
        <p:nvGrpSpPr>
          <p:cNvPr id="55306" name="Group 33"/>
          <p:cNvGrpSpPr>
            <a:grpSpLocks/>
          </p:cNvGrpSpPr>
          <p:nvPr/>
        </p:nvGrpSpPr>
        <p:grpSpPr bwMode="auto">
          <a:xfrm>
            <a:off x="7516813" y="4825258"/>
            <a:ext cx="457200" cy="690806"/>
            <a:chOff x="528" y="217"/>
            <a:chExt cx="384" cy="621"/>
          </a:xfrm>
        </p:grpSpPr>
        <p:sp>
          <p:nvSpPr>
            <p:cNvPr id="55362" name="Rectangle 34"/>
            <p:cNvSpPr>
              <a:spLocks noChangeArrowheads="1"/>
            </p:cNvSpPr>
            <p:nvPr/>
          </p:nvSpPr>
          <p:spPr bwMode="auto">
            <a:xfrm>
              <a:off x="642" y="221"/>
              <a:ext cx="155" cy="47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5363" name="Freeform 35"/>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55364" name="Line 36"/>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65" name="Line 37"/>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66" name="Line 38"/>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67" name="Line 39"/>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68" name="Line 40"/>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69" name="Line 41"/>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70" name="Line 42"/>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71" name="Line 43"/>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72" name="Rectangle 44"/>
            <p:cNvSpPr>
              <a:spLocks noChangeArrowheads="1"/>
            </p:cNvSpPr>
            <p:nvPr/>
          </p:nvSpPr>
          <p:spPr bwMode="auto">
            <a:xfrm>
              <a:off x="597" y="217"/>
              <a:ext cx="244" cy="47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55307" name="Line 45"/>
          <p:cNvSpPr>
            <a:spLocks noChangeShapeType="1"/>
          </p:cNvSpPr>
          <p:nvPr/>
        </p:nvSpPr>
        <p:spPr bwMode="auto">
          <a:xfrm>
            <a:off x="5611813" y="4546600"/>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08" name="Line 46"/>
          <p:cNvSpPr>
            <a:spLocks noChangeShapeType="1"/>
          </p:cNvSpPr>
          <p:nvPr/>
        </p:nvSpPr>
        <p:spPr bwMode="auto">
          <a:xfrm>
            <a:off x="7745413" y="4546600"/>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09" name="Text Box 47"/>
          <p:cNvSpPr txBox="1">
            <a:spLocks noChangeArrowheads="1"/>
          </p:cNvSpPr>
          <p:nvPr/>
        </p:nvSpPr>
        <p:spPr bwMode="auto">
          <a:xfrm>
            <a:off x="5948363" y="3922713"/>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10.0.0.1</a:t>
            </a:r>
          </a:p>
        </p:txBody>
      </p:sp>
      <p:sp>
        <p:nvSpPr>
          <p:cNvPr id="55310" name="Text Box 48"/>
          <p:cNvSpPr txBox="1">
            <a:spLocks noChangeArrowheads="1"/>
          </p:cNvSpPr>
          <p:nvPr/>
        </p:nvSpPr>
        <p:spPr bwMode="auto">
          <a:xfrm>
            <a:off x="3433763" y="4667250"/>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10.0.0.2</a:t>
            </a:r>
          </a:p>
        </p:txBody>
      </p:sp>
      <p:sp>
        <p:nvSpPr>
          <p:cNvPr id="55311" name="Text Box 49"/>
          <p:cNvSpPr txBox="1">
            <a:spLocks noChangeArrowheads="1"/>
          </p:cNvSpPr>
          <p:nvPr/>
        </p:nvSpPr>
        <p:spPr bwMode="auto">
          <a:xfrm>
            <a:off x="5543550" y="4668838"/>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10.0.0.3</a:t>
            </a:r>
          </a:p>
        </p:txBody>
      </p:sp>
      <p:sp>
        <p:nvSpPr>
          <p:cNvPr id="55312" name="Text Box 50"/>
          <p:cNvSpPr txBox="1">
            <a:spLocks noChangeArrowheads="1"/>
          </p:cNvSpPr>
          <p:nvPr/>
        </p:nvSpPr>
        <p:spPr bwMode="auto">
          <a:xfrm>
            <a:off x="7669213" y="4667250"/>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10.0.0.4</a:t>
            </a:r>
          </a:p>
        </p:txBody>
      </p:sp>
      <p:sp>
        <p:nvSpPr>
          <p:cNvPr id="55313" name="Text Box 51"/>
          <p:cNvSpPr txBox="1">
            <a:spLocks noChangeArrowheads="1"/>
          </p:cNvSpPr>
          <p:nvPr/>
        </p:nvSpPr>
        <p:spPr bwMode="auto">
          <a:xfrm>
            <a:off x="5305426" y="5400675"/>
            <a:ext cx="6191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a:solidFill>
                  <a:schemeClr val="tx1"/>
                </a:solidFill>
              </a:rPr>
              <a:t>Host A</a:t>
            </a:r>
          </a:p>
        </p:txBody>
      </p:sp>
      <p:grpSp>
        <p:nvGrpSpPr>
          <p:cNvPr id="55314" name="Group 52"/>
          <p:cNvGrpSpPr>
            <a:grpSpLocks/>
          </p:cNvGrpSpPr>
          <p:nvPr/>
        </p:nvGrpSpPr>
        <p:grpSpPr bwMode="auto">
          <a:xfrm>
            <a:off x="2259013" y="2082058"/>
            <a:ext cx="457200" cy="690806"/>
            <a:chOff x="528" y="217"/>
            <a:chExt cx="384" cy="621"/>
          </a:xfrm>
        </p:grpSpPr>
        <p:sp>
          <p:nvSpPr>
            <p:cNvPr id="55351" name="Rectangle 53"/>
            <p:cNvSpPr>
              <a:spLocks noChangeArrowheads="1"/>
            </p:cNvSpPr>
            <p:nvPr/>
          </p:nvSpPr>
          <p:spPr bwMode="auto">
            <a:xfrm>
              <a:off x="642" y="221"/>
              <a:ext cx="155" cy="470"/>
            </a:xfrm>
            <a:prstGeom prst="rect">
              <a:avLst/>
            </a:prstGeom>
            <a:solidFill>
              <a:srgbClr val="FFFF66"/>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5352" name="Freeform 54"/>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solidFill>
              <a:srgbClr val="FFFF66"/>
            </a:solidFill>
            <a:ln w="12700">
              <a:solidFill>
                <a:schemeClr val="tx1"/>
              </a:solidFill>
              <a:round/>
              <a:headEnd/>
              <a:tailEnd/>
            </a:ln>
          </p:spPr>
          <p:txBody>
            <a:bodyPr anchor="ctr">
              <a:spAutoFit/>
            </a:bodyPr>
            <a:lstStyle/>
            <a:p>
              <a:endParaRPr lang="zh-CN" altLang="en-US"/>
            </a:p>
          </p:txBody>
        </p:sp>
        <p:sp>
          <p:nvSpPr>
            <p:cNvPr id="55353" name="Line 55"/>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54" name="Line 56"/>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55" name="Line 57"/>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56" name="Line 58"/>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57" name="Line 59"/>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58" name="Line 60"/>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59" name="Line 61"/>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60" name="Line 62"/>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61" name="Rectangle 63"/>
            <p:cNvSpPr>
              <a:spLocks noChangeArrowheads="1"/>
            </p:cNvSpPr>
            <p:nvPr/>
          </p:nvSpPr>
          <p:spPr bwMode="auto">
            <a:xfrm>
              <a:off x="597" y="217"/>
              <a:ext cx="244" cy="470"/>
            </a:xfrm>
            <a:prstGeom prst="rect">
              <a:avLst/>
            </a:prstGeom>
            <a:solidFill>
              <a:srgbClr val="FFFF66"/>
            </a:solidFill>
            <a:ln w="12700">
              <a:solidFill>
                <a:schemeClr val="tx1"/>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55315" name="Line 64"/>
          <p:cNvSpPr>
            <a:spLocks noChangeShapeType="1"/>
          </p:cNvSpPr>
          <p:nvPr/>
        </p:nvSpPr>
        <p:spPr bwMode="auto">
          <a:xfrm flipV="1">
            <a:off x="5992813" y="2946400"/>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16" name="Freeform 65"/>
          <p:cNvSpPr>
            <a:spLocks/>
          </p:cNvSpPr>
          <p:nvPr/>
        </p:nvSpPr>
        <p:spPr bwMode="auto">
          <a:xfrm>
            <a:off x="5230813" y="2279928"/>
            <a:ext cx="1447800" cy="369332"/>
          </a:xfrm>
          <a:custGeom>
            <a:avLst/>
            <a:gdLst>
              <a:gd name="T0" fmla="*/ 2147483646 w 482"/>
              <a:gd name="T1" fmla="*/ 2147483646 h 401"/>
              <a:gd name="T2" fmla="*/ 0 w 482"/>
              <a:gd name="T3" fmla="*/ 2147483646 h 401"/>
              <a:gd name="T4" fmla="*/ 2147483646 w 482"/>
              <a:gd name="T5" fmla="*/ 2147483646 h 401"/>
              <a:gd name="T6" fmla="*/ 2147483646 w 482"/>
              <a:gd name="T7" fmla="*/ 2147483646 h 401"/>
              <a:gd name="T8" fmla="*/ 2147483646 w 482"/>
              <a:gd name="T9" fmla="*/ 2147483646 h 401"/>
              <a:gd name="T10" fmla="*/ 2147483646 w 482"/>
              <a:gd name="T11" fmla="*/ 2147483646 h 401"/>
              <a:gd name="T12" fmla="*/ 2147483646 w 482"/>
              <a:gd name="T13" fmla="*/ 2147483646 h 401"/>
              <a:gd name="T14" fmla="*/ 2147483646 w 482"/>
              <a:gd name="T15" fmla="*/ 2147483646 h 401"/>
              <a:gd name="T16" fmla="*/ 2147483646 w 482"/>
              <a:gd name="T17" fmla="*/ 2147483646 h 401"/>
              <a:gd name="T18" fmla="*/ 2147483646 w 482"/>
              <a:gd name="T19" fmla="*/ 2147483646 h 401"/>
              <a:gd name="T20" fmla="*/ 2147483646 w 482"/>
              <a:gd name="T21" fmla="*/ 2147483646 h 401"/>
              <a:gd name="T22" fmla="*/ 2147483646 w 482"/>
              <a:gd name="T23" fmla="*/ 2147483646 h 401"/>
              <a:gd name="T24" fmla="*/ 2147483646 w 482"/>
              <a:gd name="T25" fmla="*/ 2147483646 h 401"/>
              <a:gd name="T26" fmla="*/ 2147483646 w 482"/>
              <a:gd name="T27" fmla="*/ 2147483646 h 401"/>
              <a:gd name="T28" fmla="*/ 2147483646 w 482"/>
              <a:gd name="T29" fmla="*/ 2147483646 h 401"/>
              <a:gd name="T30" fmla="*/ 2147483646 w 482"/>
              <a:gd name="T31" fmla="*/ 2147483646 h 401"/>
              <a:gd name="T32" fmla="*/ 2147483646 w 482"/>
              <a:gd name="T33" fmla="*/ 2147483646 h 401"/>
              <a:gd name="T34" fmla="*/ 2147483646 w 482"/>
              <a:gd name="T35" fmla="*/ 2147483646 h 401"/>
              <a:gd name="T36" fmla="*/ 2147483646 w 482"/>
              <a:gd name="T37" fmla="*/ 2147483646 h 401"/>
              <a:gd name="T38" fmla="*/ 2147483646 w 482"/>
              <a:gd name="T39" fmla="*/ 2147483646 h 401"/>
              <a:gd name="T40" fmla="*/ 2147483646 w 482"/>
              <a:gd name="T41" fmla="*/ 0 h 401"/>
              <a:gd name="T42" fmla="*/ 2147483646 w 482"/>
              <a:gd name="T43" fmla="*/ 2147483646 h 401"/>
              <a:gd name="T44" fmla="*/ 2147483646 w 482"/>
              <a:gd name="T45" fmla="*/ 2147483646 h 401"/>
              <a:gd name="T46" fmla="*/ 2147483646 w 482"/>
              <a:gd name="T47" fmla="*/ 2147483646 h 401"/>
              <a:gd name="T48" fmla="*/ 2147483646 w 482"/>
              <a:gd name="T49" fmla="*/ 2147483646 h 401"/>
              <a:gd name="T50" fmla="*/ 2147483646 w 482"/>
              <a:gd name="T51" fmla="*/ 2147483646 h 401"/>
              <a:gd name="T52" fmla="*/ 2147483646 w 482"/>
              <a:gd name="T53" fmla="*/ 2147483646 h 401"/>
              <a:gd name="T54" fmla="*/ 2147483646 w 482"/>
              <a:gd name="T55" fmla="*/ 2147483646 h 401"/>
              <a:gd name="T56" fmla="*/ 2147483646 w 482"/>
              <a:gd name="T57" fmla="*/ 2147483646 h 401"/>
              <a:gd name="T58" fmla="*/ 2147483646 w 482"/>
              <a:gd name="T59" fmla="*/ 2147483646 h 40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82"/>
              <a:gd name="T91" fmla="*/ 0 h 401"/>
              <a:gd name="T92" fmla="*/ 482 w 482"/>
              <a:gd name="T93" fmla="*/ 401 h 40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82" h="401">
                <a:moveTo>
                  <a:pt x="46" y="211"/>
                </a:moveTo>
                <a:cubicBezTo>
                  <a:pt x="27" y="220"/>
                  <a:pt x="14" y="227"/>
                  <a:pt x="0" y="242"/>
                </a:cubicBezTo>
                <a:cubicBezTo>
                  <a:pt x="2" y="257"/>
                  <a:pt x="0" y="273"/>
                  <a:pt x="5" y="288"/>
                </a:cubicBezTo>
                <a:cubicBezTo>
                  <a:pt x="20" y="334"/>
                  <a:pt x="61" y="340"/>
                  <a:pt x="102" y="344"/>
                </a:cubicBezTo>
                <a:cubicBezTo>
                  <a:pt x="117" y="376"/>
                  <a:pt x="106" y="360"/>
                  <a:pt x="138" y="390"/>
                </a:cubicBezTo>
                <a:cubicBezTo>
                  <a:pt x="149" y="401"/>
                  <a:pt x="184" y="401"/>
                  <a:pt x="184" y="401"/>
                </a:cubicBezTo>
                <a:cubicBezTo>
                  <a:pt x="198" y="399"/>
                  <a:pt x="212" y="398"/>
                  <a:pt x="225" y="395"/>
                </a:cubicBezTo>
                <a:cubicBezTo>
                  <a:pt x="236" y="393"/>
                  <a:pt x="256" y="385"/>
                  <a:pt x="256" y="385"/>
                </a:cubicBezTo>
                <a:cubicBezTo>
                  <a:pt x="272" y="369"/>
                  <a:pt x="285" y="357"/>
                  <a:pt x="297" y="339"/>
                </a:cubicBezTo>
                <a:cubicBezTo>
                  <a:pt x="323" y="356"/>
                  <a:pt x="306" y="347"/>
                  <a:pt x="348" y="360"/>
                </a:cubicBezTo>
                <a:cubicBezTo>
                  <a:pt x="358" y="363"/>
                  <a:pt x="379" y="370"/>
                  <a:pt x="379" y="370"/>
                </a:cubicBezTo>
                <a:cubicBezTo>
                  <a:pt x="397" y="361"/>
                  <a:pt x="407" y="350"/>
                  <a:pt x="425" y="344"/>
                </a:cubicBezTo>
                <a:cubicBezTo>
                  <a:pt x="454" y="318"/>
                  <a:pt x="464" y="295"/>
                  <a:pt x="471" y="257"/>
                </a:cubicBezTo>
                <a:cubicBezTo>
                  <a:pt x="469" y="252"/>
                  <a:pt x="470" y="246"/>
                  <a:pt x="466" y="242"/>
                </a:cubicBezTo>
                <a:cubicBezTo>
                  <a:pt x="462" y="238"/>
                  <a:pt x="451" y="241"/>
                  <a:pt x="451" y="236"/>
                </a:cubicBezTo>
                <a:cubicBezTo>
                  <a:pt x="451" y="228"/>
                  <a:pt x="462" y="223"/>
                  <a:pt x="466" y="216"/>
                </a:cubicBezTo>
                <a:cubicBezTo>
                  <a:pt x="476" y="200"/>
                  <a:pt x="477" y="196"/>
                  <a:pt x="482" y="180"/>
                </a:cubicBezTo>
                <a:cubicBezTo>
                  <a:pt x="477" y="141"/>
                  <a:pt x="476" y="118"/>
                  <a:pt x="436" y="108"/>
                </a:cubicBezTo>
                <a:cubicBezTo>
                  <a:pt x="421" y="45"/>
                  <a:pt x="423" y="44"/>
                  <a:pt x="359" y="31"/>
                </a:cubicBezTo>
                <a:cubicBezTo>
                  <a:pt x="338" y="38"/>
                  <a:pt x="334" y="49"/>
                  <a:pt x="312" y="42"/>
                </a:cubicBezTo>
                <a:cubicBezTo>
                  <a:pt x="296" y="25"/>
                  <a:pt x="278" y="9"/>
                  <a:pt x="256" y="0"/>
                </a:cubicBezTo>
                <a:cubicBezTo>
                  <a:pt x="241" y="3"/>
                  <a:pt x="223" y="2"/>
                  <a:pt x="210" y="11"/>
                </a:cubicBezTo>
                <a:cubicBezTo>
                  <a:pt x="200" y="18"/>
                  <a:pt x="184" y="36"/>
                  <a:pt x="184" y="36"/>
                </a:cubicBezTo>
                <a:cubicBezTo>
                  <a:pt x="179" y="31"/>
                  <a:pt x="175" y="24"/>
                  <a:pt x="169" y="21"/>
                </a:cubicBezTo>
                <a:cubicBezTo>
                  <a:pt x="159" y="16"/>
                  <a:pt x="138" y="11"/>
                  <a:pt x="138" y="11"/>
                </a:cubicBezTo>
                <a:cubicBezTo>
                  <a:pt x="116" y="18"/>
                  <a:pt x="111" y="27"/>
                  <a:pt x="97" y="47"/>
                </a:cubicBezTo>
                <a:cubicBezTo>
                  <a:pt x="85" y="82"/>
                  <a:pt x="84" y="67"/>
                  <a:pt x="92" y="93"/>
                </a:cubicBezTo>
                <a:cubicBezTo>
                  <a:pt x="67" y="110"/>
                  <a:pt x="49" y="118"/>
                  <a:pt x="25" y="139"/>
                </a:cubicBezTo>
                <a:cubicBezTo>
                  <a:pt x="14" y="172"/>
                  <a:pt x="10" y="186"/>
                  <a:pt x="46" y="195"/>
                </a:cubicBezTo>
                <a:cubicBezTo>
                  <a:pt x="41" y="213"/>
                  <a:pt x="35" y="211"/>
                  <a:pt x="46" y="211"/>
                </a:cubicBezTo>
                <a:close/>
              </a:path>
            </a:pathLst>
          </a:custGeom>
          <a:solidFill>
            <a:srgbClr val="969696"/>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endParaRPr lang="zh-CN" altLang="en-US"/>
          </a:p>
        </p:txBody>
      </p:sp>
      <p:sp>
        <p:nvSpPr>
          <p:cNvPr id="55317" name="Freeform 66"/>
          <p:cNvSpPr>
            <a:spLocks/>
          </p:cNvSpPr>
          <p:nvPr/>
        </p:nvSpPr>
        <p:spPr bwMode="auto">
          <a:xfrm>
            <a:off x="3554413" y="2203728"/>
            <a:ext cx="1143000" cy="369332"/>
          </a:xfrm>
          <a:custGeom>
            <a:avLst/>
            <a:gdLst>
              <a:gd name="T0" fmla="*/ 2147483646 w 482"/>
              <a:gd name="T1" fmla="*/ 2147483646 h 401"/>
              <a:gd name="T2" fmla="*/ 0 w 482"/>
              <a:gd name="T3" fmla="*/ 2147483646 h 401"/>
              <a:gd name="T4" fmla="*/ 2147483646 w 482"/>
              <a:gd name="T5" fmla="*/ 2147483646 h 401"/>
              <a:gd name="T6" fmla="*/ 2147483646 w 482"/>
              <a:gd name="T7" fmla="*/ 2147483646 h 401"/>
              <a:gd name="T8" fmla="*/ 2147483646 w 482"/>
              <a:gd name="T9" fmla="*/ 2147483646 h 401"/>
              <a:gd name="T10" fmla="*/ 2147483646 w 482"/>
              <a:gd name="T11" fmla="*/ 2147483646 h 401"/>
              <a:gd name="T12" fmla="*/ 2147483646 w 482"/>
              <a:gd name="T13" fmla="*/ 2147483646 h 401"/>
              <a:gd name="T14" fmla="*/ 2147483646 w 482"/>
              <a:gd name="T15" fmla="*/ 2147483646 h 401"/>
              <a:gd name="T16" fmla="*/ 2147483646 w 482"/>
              <a:gd name="T17" fmla="*/ 2147483646 h 401"/>
              <a:gd name="T18" fmla="*/ 2147483646 w 482"/>
              <a:gd name="T19" fmla="*/ 2147483646 h 401"/>
              <a:gd name="T20" fmla="*/ 2147483646 w 482"/>
              <a:gd name="T21" fmla="*/ 2147483646 h 401"/>
              <a:gd name="T22" fmla="*/ 2147483646 w 482"/>
              <a:gd name="T23" fmla="*/ 2147483646 h 401"/>
              <a:gd name="T24" fmla="*/ 2147483646 w 482"/>
              <a:gd name="T25" fmla="*/ 2147483646 h 401"/>
              <a:gd name="T26" fmla="*/ 2147483646 w 482"/>
              <a:gd name="T27" fmla="*/ 2147483646 h 401"/>
              <a:gd name="T28" fmla="*/ 2147483646 w 482"/>
              <a:gd name="T29" fmla="*/ 2147483646 h 401"/>
              <a:gd name="T30" fmla="*/ 2147483646 w 482"/>
              <a:gd name="T31" fmla="*/ 2147483646 h 401"/>
              <a:gd name="T32" fmla="*/ 2147483646 w 482"/>
              <a:gd name="T33" fmla="*/ 2147483646 h 401"/>
              <a:gd name="T34" fmla="*/ 2147483646 w 482"/>
              <a:gd name="T35" fmla="*/ 2147483646 h 401"/>
              <a:gd name="T36" fmla="*/ 2147483646 w 482"/>
              <a:gd name="T37" fmla="*/ 2147483646 h 401"/>
              <a:gd name="T38" fmla="*/ 2147483646 w 482"/>
              <a:gd name="T39" fmla="*/ 2147483646 h 401"/>
              <a:gd name="T40" fmla="*/ 2147483646 w 482"/>
              <a:gd name="T41" fmla="*/ 0 h 401"/>
              <a:gd name="T42" fmla="*/ 2147483646 w 482"/>
              <a:gd name="T43" fmla="*/ 2147483646 h 401"/>
              <a:gd name="T44" fmla="*/ 2147483646 w 482"/>
              <a:gd name="T45" fmla="*/ 2147483646 h 401"/>
              <a:gd name="T46" fmla="*/ 2147483646 w 482"/>
              <a:gd name="T47" fmla="*/ 2147483646 h 401"/>
              <a:gd name="T48" fmla="*/ 2147483646 w 482"/>
              <a:gd name="T49" fmla="*/ 2147483646 h 401"/>
              <a:gd name="T50" fmla="*/ 2147483646 w 482"/>
              <a:gd name="T51" fmla="*/ 2147483646 h 401"/>
              <a:gd name="T52" fmla="*/ 2147483646 w 482"/>
              <a:gd name="T53" fmla="*/ 2147483646 h 401"/>
              <a:gd name="T54" fmla="*/ 2147483646 w 482"/>
              <a:gd name="T55" fmla="*/ 2147483646 h 401"/>
              <a:gd name="T56" fmla="*/ 2147483646 w 482"/>
              <a:gd name="T57" fmla="*/ 2147483646 h 401"/>
              <a:gd name="T58" fmla="*/ 2147483646 w 482"/>
              <a:gd name="T59" fmla="*/ 2147483646 h 40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82"/>
              <a:gd name="T91" fmla="*/ 0 h 401"/>
              <a:gd name="T92" fmla="*/ 482 w 482"/>
              <a:gd name="T93" fmla="*/ 401 h 40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82" h="401">
                <a:moveTo>
                  <a:pt x="46" y="211"/>
                </a:moveTo>
                <a:cubicBezTo>
                  <a:pt x="27" y="220"/>
                  <a:pt x="14" y="227"/>
                  <a:pt x="0" y="242"/>
                </a:cubicBezTo>
                <a:cubicBezTo>
                  <a:pt x="2" y="257"/>
                  <a:pt x="0" y="273"/>
                  <a:pt x="5" y="288"/>
                </a:cubicBezTo>
                <a:cubicBezTo>
                  <a:pt x="20" y="334"/>
                  <a:pt x="61" y="340"/>
                  <a:pt x="102" y="344"/>
                </a:cubicBezTo>
                <a:cubicBezTo>
                  <a:pt x="117" y="376"/>
                  <a:pt x="106" y="360"/>
                  <a:pt x="138" y="390"/>
                </a:cubicBezTo>
                <a:cubicBezTo>
                  <a:pt x="149" y="401"/>
                  <a:pt x="184" y="401"/>
                  <a:pt x="184" y="401"/>
                </a:cubicBezTo>
                <a:cubicBezTo>
                  <a:pt x="198" y="399"/>
                  <a:pt x="212" y="398"/>
                  <a:pt x="225" y="395"/>
                </a:cubicBezTo>
                <a:cubicBezTo>
                  <a:pt x="236" y="393"/>
                  <a:pt x="256" y="385"/>
                  <a:pt x="256" y="385"/>
                </a:cubicBezTo>
                <a:cubicBezTo>
                  <a:pt x="272" y="369"/>
                  <a:pt x="285" y="357"/>
                  <a:pt x="297" y="339"/>
                </a:cubicBezTo>
                <a:cubicBezTo>
                  <a:pt x="323" y="356"/>
                  <a:pt x="306" y="347"/>
                  <a:pt x="348" y="360"/>
                </a:cubicBezTo>
                <a:cubicBezTo>
                  <a:pt x="358" y="363"/>
                  <a:pt x="379" y="370"/>
                  <a:pt x="379" y="370"/>
                </a:cubicBezTo>
                <a:cubicBezTo>
                  <a:pt x="397" y="361"/>
                  <a:pt x="407" y="350"/>
                  <a:pt x="425" y="344"/>
                </a:cubicBezTo>
                <a:cubicBezTo>
                  <a:pt x="454" y="318"/>
                  <a:pt x="464" y="295"/>
                  <a:pt x="471" y="257"/>
                </a:cubicBezTo>
                <a:cubicBezTo>
                  <a:pt x="469" y="252"/>
                  <a:pt x="470" y="246"/>
                  <a:pt x="466" y="242"/>
                </a:cubicBezTo>
                <a:cubicBezTo>
                  <a:pt x="462" y="238"/>
                  <a:pt x="451" y="241"/>
                  <a:pt x="451" y="236"/>
                </a:cubicBezTo>
                <a:cubicBezTo>
                  <a:pt x="451" y="228"/>
                  <a:pt x="462" y="223"/>
                  <a:pt x="466" y="216"/>
                </a:cubicBezTo>
                <a:cubicBezTo>
                  <a:pt x="476" y="200"/>
                  <a:pt x="477" y="196"/>
                  <a:pt x="482" y="180"/>
                </a:cubicBezTo>
                <a:cubicBezTo>
                  <a:pt x="477" y="141"/>
                  <a:pt x="476" y="118"/>
                  <a:pt x="436" y="108"/>
                </a:cubicBezTo>
                <a:cubicBezTo>
                  <a:pt x="421" y="45"/>
                  <a:pt x="423" y="44"/>
                  <a:pt x="359" y="31"/>
                </a:cubicBezTo>
                <a:cubicBezTo>
                  <a:pt x="338" y="38"/>
                  <a:pt x="334" y="49"/>
                  <a:pt x="312" y="42"/>
                </a:cubicBezTo>
                <a:cubicBezTo>
                  <a:pt x="296" y="25"/>
                  <a:pt x="278" y="9"/>
                  <a:pt x="256" y="0"/>
                </a:cubicBezTo>
                <a:cubicBezTo>
                  <a:pt x="241" y="3"/>
                  <a:pt x="223" y="2"/>
                  <a:pt x="210" y="11"/>
                </a:cubicBezTo>
                <a:cubicBezTo>
                  <a:pt x="200" y="18"/>
                  <a:pt x="184" y="36"/>
                  <a:pt x="184" y="36"/>
                </a:cubicBezTo>
                <a:cubicBezTo>
                  <a:pt x="179" y="31"/>
                  <a:pt x="175" y="24"/>
                  <a:pt x="169" y="21"/>
                </a:cubicBezTo>
                <a:cubicBezTo>
                  <a:pt x="159" y="16"/>
                  <a:pt x="138" y="11"/>
                  <a:pt x="138" y="11"/>
                </a:cubicBezTo>
                <a:cubicBezTo>
                  <a:pt x="116" y="18"/>
                  <a:pt x="111" y="27"/>
                  <a:pt x="97" y="47"/>
                </a:cubicBezTo>
                <a:cubicBezTo>
                  <a:pt x="85" y="82"/>
                  <a:pt x="84" y="67"/>
                  <a:pt x="92" y="93"/>
                </a:cubicBezTo>
                <a:cubicBezTo>
                  <a:pt x="67" y="110"/>
                  <a:pt x="49" y="118"/>
                  <a:pt x="25" y="139"/>
                </a:cubicBezTo>
                <a:cubicBezTo>
                  <a:pt x="14" y="172"/>
                  <a:pt x="10" y="186"/>
                  <a:pt x="46" y="195"/>
                </a:cubicBezTo>
                <a:cubicBezTo>
                  <a:pt x="41" y="213"/>
                  <a:pt x="35" y="211"/>
                  <a:pt x="46" y="211"/>
                </a:cubicBezTo>
                <a:close/>
              </a:path>
            </a:pathLst>
          </a:custGeom>
          <a:solidFill>
            <a:srgbClr val="969696"/>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endParaRPr lang="zh-CN" altLang="en-US"/>
          </a:p>
        </p:txBody>
      </p:sp>
      <p:sp>
        <p:nvSpPr>
          <p:cNvPr id="55318" name="Line 67"/>
          <p:cNvSpPr>
            <a:spLocks noChangeShapeType="1"/>
          </p:cNvSpPr>
          <p:nvPr/>
        </p:nvSpPr>
        <p:spPr bwMode="auto">
          <a:xfrm>
            <a:off x="4697413" y="2336800"/>
            <a:ext cx="6096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19" name="Line 68"/>
          <p:cNvSpPr>
            <a:spLocks noChangeShapeType="1"/>
          </p:cNvSpPr>
          <p:nvPr/>
        </p:nvSpPr>
        <p:spPr bwMode="auto">
          <a:xfrm>
            <a:off x="2640013" y="2336800"/>
            <a:ext cx="9906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20" name="Text Box 69"/>
          <p:cNvSpPr txBox="1">
            <a:spLocks noChangeArrowheads="1"/>
          </p:cNvSpPr>
          <p:nvPr/>
        </p:nvSpPr>
        <p:spPr bwMode="auto">
          <a:xfrm>
            <a:off x="2106614" y="2641600"/>
            <a:ext cx="623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a:solidFill>
                  <a:schemeClr val="tx1"/>
                </a:solidFill>
              </a:rPr>
              <a:t>BMRC</a:t>
            </a:r>
          </a:p>
          <a:p>
            <a:pPr algn="ctr"/>
            <a:r>
              <a:rPr lang="en-US" altLang="zh-CN" sz="1200">
                <a:solidFill>
                  <a:schemeClr val="tx1"/>
                </a:solidFill>
              </a:rPr>
              <a:t>Server</a:t>
            </a:r>
          </a:p>
        </p:txBody>
      </p:sp>
      <p:sp>
        <p:nvSpPr>
          <p:cNvPr id="55321" name="Text Box 70"/>
          <p:cNvSpPr txBox="1">
            <a:spLocks noChangeArrowheads="1"/>
          </p:cNvSpPr>
          <p:nvPr/>
        </p:nvSpPr>
        <p:spPr bwMode="auto">
          <a:xfrm>
            <a:off x="5965825" y="3057525"/>
            <a:ext cx="10287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24.1.70.210</a:t>
            </a:r>
          </a:p>
        </p:txBody>
      </p:sp>
      <p:grpSp>
        <p:nvGrpSpPr>
          <p:cNvPr id="55322" name="Group 71"/>
          <p:cNvGrpSpPr>
            <a:grpSpLocks/>
          </p:cNvGrpSpPr>
          <p:nvPr/>
        </p:nvGrpSpPr>
        <p:grpSpPr bwMode="auto">
          <a:xfrm>
            <a:off x="9650413" y="2082058"/>
            <a:ext cx="457200" cy="690806"/>
            <a:chOff x="528" y="217"/>
            <a:chExt cx="384" cy="621"/>
          </a:xfrm>
        </p:grpSpPr>
        <p:sp>
          <p:nvSpPr>
            <p:cNvPr id="55340" name="Rectangle 72"/>
            <p:cNvSpPr>
              <a:spLocks noChangeArrowheads="1"/>
            </p:cNvSpPr>
            <p:nvPr/>
          </p:nvSpPr>
          <p:spPr bwMode="auto">
            <a:xfrm>
              <a:off x="642" y="221"/>
              <a:ext cx="155" cy="470"/>
            </a:xfrm>
            <a:prstGeom prst="rect">
              <a:avLst/>
            </a:prstGeom>
            <a:solidFill>
              <a:schemeClr val="accent2"/>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5341" name="Freeform 73"/>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solidFill>
              <a:schemeClr val="accent2"/>
            </a:solidFill>
            <a:ln w="12700">
              <a:solidFill>
                <a:schemeClr val="tx1"/>
              </a:solidFill>
              <a:round/>
              <a:headEnd/>
              <a:tailEnd/>
            </a:ln>
          </p:spPr>
          <p:txBody>
            <a:bodyPr anchor="ctr">
              <a:spAutoFit/>
            </a:bodyPr>
            <a:lstStyle/>
            <a:p>
              <a:endParaRPr lang="zh-CN" altLang="en-US"/>
            </a:p>
          </p:txBody>
        </p:sp>
        <p:sp>
          <p:nvSpPr>
            <p:cNvPr id="55342" name="Line 74"/>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43" name="Line 75"/>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44" name="Line 76"/>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45" name="Line 77"/>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46" name="Line 78"/>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47" name="Line 79"/>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48" name="Line 80"/>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49" name="Line 81"/>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50" name="Rectangle 82"/>
            <p:cNvSpPr>
              <a:spLocks noChangeArrowheads="1"/>
            </p:cNvSpPr>
            <p:nvPr/>
          </p:nvSpPr>
          <p:spPr bwMode="auto">
            <a:xfrm>
              <a:off x="597" y="217"/>
              <a:ext cx="244" cy="470"/>
            </a:xfrm>
            <a:prstGeom prst="rect">
              <a:avLst/>
            </a:prstGeom>
            <a:solidFill>
              <a:schemeClr val="accent2"/>
            </a:solidFill>
            <a:ln w="12700">
              <a:solidFill>
                <a:schemeClr val="tx1"/>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55323" name="Line 83"/>
          <p:cNvSpPr>
            <a:spLocks noChangeShapeType="1"/>
          </p:cNvSpPr>
          <p:nvPr/>
        </p:nvSpPr>
        <p:spPr bwMode="auto">
          <a:xfrm>
            <a:off x="6678613" y="2336800"/>
            <a:ext cx="685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24" name="Line 84"/>
          <p:cNvSpPr>
            <a:spLocks noChangeShapeType="1"/>
          </p:cNvSpPr>
          <p:nvPr/>
        </p:nvSpPr>
        <p:spPr bwMode="auto">
          <a:xfrm>
            <a:off x="8431213" y="2336800"/>
            <a:ext cx="12954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25" name="Freeform 85"/>
          <p:cNvSpPr>
            <a:spLocks/>
          </p:cNvSpPr>
          <p:nvPr/>
        </p:nvSpPr>
        <p:spPr bwMode="auto">
          <a:xfrm>
            <a:off x="7288213" y="2203728"/>
            <a:ext cx="1143000" cy="369332"/>
          </a:xfrm>
          <a:custGeom>
            <a:avLst/>
            <a:gdLst>
              <a:gd name="T0" fmla="*/ 2147483646 w 482"/>
              <a:gd name="T1" fmla="*/ 2147483646 h 401"/>
              <a:gd name="T2" fmla="*/ 0 w 482"/>
              <a:gd name="T3" fmla="*/ 2147483646 h 401"/>
              <a:gd name="T4" fmla="*/ 2147483646 w 482"/>
              <a:gd name="T5" fmla="*/ 2147483646 h 401"/>
              <a:gd name="T6" fmla="*/ 2147483646 w 482"/>
              <a:gd name="T7" fmla="*/ 2147483646 h 401"/>
              <a:gd name="T8" fmla="*/ 2147483646 w 482"/>
              <a:gd name="T9" fmla="*/ 2147483646 h 401"/>
              <a:gd name="T10" fmla="*/ 2147483646 w 482"/>
              <a:gd name="T11" fmla="*/ 2147483646 h 401"/>
              <a:gd name="T12" fmla="*/ 2147483646 w 482"/>
              <a:gd name="T13" fmla="*/ 2147483646 h 401"/>
              <a:gd name="T14" fmla="*/ 2147483646 w 482"/>
              <a:gd name="T15" fmla="*/ 2147483646 h 401"/>
              <a:gd name="T16" fmla="*/ 2147483646 w 482"/>
              <a:gd name="T17" fmla="*/ 2147483646 h 401"/>
              <a:gd name="T18" fmla="*/ 2147483646 w 482"/>
              <a:gd name="T19" fmla="*/ 2147483646 h 401"/>
              <a:gd name="T20" fmla="*/ 2147483646 w 482"/>
              <a:gd name="T21" fmla="*/ 2147483646 h 401"/>
              <a:gd name="T22" fmla="*/ 2147483646 w 482"/>
              <a:gd name="T23" fmla="*/ 2147483646 h 401"/>
              <a:gd name="T24" fmla="*/ 2147483646 w 482"/>
              <a:gd name="T25" fmla="*/ 2147483646 h 401"/>
              <a:gd name="T26" fmla="*/ 2147483646 w 482"/>
              <a:gd name="T27" fmla="*/ 2147483646 h 401"/>
              <a:gd name="T28" fmla="*/ 2147483646 w 482"/>
              <a:gd name="T29" fmla="*/ 2147483646 h 401"/>
              <a:gd name="T30" fmla="*/ 2147483646 w 482"/>
              <a:gd name="T31" fmla="*/ 2147483646 h 401"/>
              <a:gd name="T32" fmla="*/ 2147483646 w 482"/>
              <a:gd name="T33" fmla="*/ 2147483646 h 401"/>
              <a:gd name="T34" fmla="*/ 2147483646 w 482"/>
              <a:gd name="T35" fmla="*/ 2147483646 h 401"/>
              <a:gd name="T36" fmla="*/ 2147483646 w 482"/>
              <a:gd name="T37" fmla="*/ 2147483646 h 401"/>
              <a:gd name="T38" fmla="*/ 2147483646 w 482"/>
              <a:gd name="T39" fmla="*/ 2147483646 h 401"/>
              <a:gd name="T40" fmla="*/ 2147483646 w 482"/>
              <a:gd name="T41" fmla="*/ 0 h 401"/>
              <a:gd name="T42" fmla="*/ 2147483646 w 482"/>
              <a:gd name="T43" fmla="*/ 2147483646 h 401"/>
              <a:gd name="T44" fmla="*/ 2147483646 w 482"/>
              <a:gd name="T45" fmla="*/ 2147483646 h 401"/>
              <a:gd name="T46" fmla="*/ 2147483646 w 482"/>
              <a:gd name="T47" fmla="*/ 2147483646 h 401"/>
              <a:gd name="T48" fmla="*/ 2147483646 w 482"/>
              <a:gd name="T49" fmla="*/ 2147483646 h 401"/>
              <a:gd name="T50" fmla="*/ 2147483646 w 482"/>
              <a:gd name="T51" fmla="*/ 2147483646 h 401"/>
              <a:gd name="T52" fmla="*/ 2147483646 w 482"/>
              <a:gd name="T53" fmla="*/ 2147483646 h 401"/>
              <a:gd name="T54" fmla="*/ 2147483646 w 482"/>
              <a:gd name="T55" fmla="*/ 2147483646 h 401"/>
              <a:gd name="T56" fmla="*/ 2147483646 w 482"/>
              <a:gd name="T57" fmla="*/ 2147483646 h 401"/>
              <a:gd name="T58" fmla="*/ 2147483646 w 482"/>
              <a:gd name="T59" fmla="*/ 2147483646 h 40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82"/>
              <a:gd name="T91" fmla="*/ 0 h 401"/>
              <a:gd name="T92" fmla="*/ 482 w 482"/>
              <a:gd name="T93" fmla="*/ 401 h 40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82" h="401">
                <a:moveTo>
                  <a:pt x="46" y="211"/>
                </a:moveTo>
                <a:cubicBezTo>
                  <a:pt x="27" y="220"/>
                  <a:pt x="14" y="227"/>
                  <a:pt x="0" y="242"/>
                </a:cubicBezTo>
                <a:cubicBezTo>
                  <a:pt x="2" y="257"/>
                  <a:pt x="0" y="273"/>
                  <a:pt x="5" y="288"/>
                </a:cubicBezTo>
                <a:cubicBezTo>
                  <a:pt x="20" y="334"/>
                  <a:pt x="61" y="340"/>
                  <a:pt x="102" y="344"/>
                </a:cubicBezTo>
                <a:cubicBezTo>
                  <a:pt x="117" y="376"/>
                  <a:pt x="106" y="360"/>
                  <a:pt x="138" y="390"/>
                </a:cubicBezTo>
                <a:cubicBezTo>
                  <a:pt x="149" y="401"/>
                  <a:pt x="184" y="401"/>
                  <a:pt x="184" y="401"/>
                </a:cubicBezTo>
                <a:cubicBezTo>
                  <a:pt x="198" y="399"/>
                  <a:pt x="212" y="398"/>
                  <a:pt x="225" y="395"/>
                </a:cubicBezTo>
                <a:cubicBezTo>
                  <a:pt x="236" y="393"/>
                  <a:pt x="256" y="385"/>
                  <a:pt x="256" y="385"/>
                </a:cubicBezTo>
                <a:cubicBezTo>
                  <a:pt x="272" y="369"/>
                  <a:pt x="285" y="357"/>
                  <a:pt x="297" y="339"/>
                </a:cubicBezTo>
                <a:cubicBezTo>
                  <a:pt x="323" y="356"/>
                  <a:pt x="306" y="347"/>
                  <a:pt x="348" y="360"/>
                </a:cubicBezTo>
                <a:cubicBezTo>
                  <a:pt x="358" y="363"/>
                  <a:pt x="379" y="370"/>
                  <a:pt x="379" y="370"/>
                </a:cubicBezTo>
                <a:cubicBezTo>
                  <a:pt x="397" y="361"/>
                  <a:pt x="407" y="350"/>
                  <a:pt x="425" y="344"/>
                </a:cubicBezTo>
                <a:cubicBezTo>
                  <a:pt x="454" y="318"/>
                  <a:pt x="464" y="295"/>
                  <a:pt x="471" y="257"/>
                </a:cubicBezTo>
                <a:cubicBezTo>
                  <a:pt x="469" y="252"/>
                  <a:pt x="470" y="246"/>
                  <a:pt x="466" y="242"/>
                </a:cubicBezTo>
                <a:cubicBezTo>
                  <a:pt x="462" y="238"/>
                  <a:pt x="451" y="241"/>
                  <a:pt x="451" y="236"/>
                </a:cubicBezTo>
                <a:cubicBezTo>
                  <a:pt x="451" y="228"/>
                  <a:pt x="462" y="223"/>
                  <a:pt x="466" y="216"/>
                </a:cubicBezTo>
                <a:cubicBezTo>
                  <a:pt x="476" y="200"/>
                  <a:pt x="477" y="196"/>
                  <a:pt x="482" y="180"/>
                </a:cubicBezTo>
                <a:cubicBezTo>
                  <a:pt x="477" y="141"/>
                  <a:pt x="476" y="118"/>
                  <a:pt x="436" y="108"/>
                </a:cubicBezTo>
                <a:cubicBezTo>
                  <a:pt x="421" y="45"/>
                  <a:pt x="423" y="44"/>
                  <a:pt x="359" y="31"/>
                </a:cubicBezTo>
                <a:cubicBezTo>
                  <a:pt x="338" y="38"/>
                  <a:pt x="334" y="49"/>
                  <a:pt x="312" y="42"/>
                </a:cubicBezTo>
                <a:cubicBezTo>
                  <a:pt x="296" y="25"/>
                  <a:pt x="278" y="9"/>
                  <a:pt x="256" y="0"/>
                </a:cubicBezTo>
                <a:cubicBezTo>
                  <a:pt x="241" y="3"/>
                  <a:pt x="223" y="2"/>
                  <a:pt x="210" y="11"/>
                </a:cubicBezTo>
                <a:cubicBezTo>
                  <a:pt x="200" y="18"/>
                  <a:pt x="184" y="36"/>
                  <a:pt x="184" y="36"/>
                </a:cubicBezTo>
                <a:cubicBezTo>
                  <a:pt x="179" y="31"/>
                  <a:pt x="175" y="24"/>
                  <a:pt x="169" y="21"/>
                </a:cubicBezTo>
                <a:cubicBezTo>
                  <a:pt x="159" y="16"/>
                  <a:pt x="138" y="11"/>
                  <a:pt x="138" y="11"/>
                </a:cubicBezTo>
                <a:cubicBezTo>
                  <a:pt x="116" y="18"/>
                  <a:pt x="111" y="27"/>
                  <a:pt x="97" y="47"/>
                </a:cubicBezTo>
                <a:cubicBezTo>
                  <a:pt x="85" y="82"/>
                  <a:pt x="84" y="67"/>
                  <a:pt x="92" y="93"/>
                </a:cubicBezTo>
                <a:cubicBezTo>
                  <a:pt x="67" y="110"/>
                  <a:pt x="49" y="118"/>
                  <a:pt x="25" y="139"/>
                </a:cubicBezTo>
                <a:cubicBezTo>
                  <a:pt x="14" y="172"/>
                  <a:pt x="10" y="186"/>
                  <a:pt x="46" y="195"/>
                </a:cubicBezTo>
                <a:cubicBezTo>
                  <a:pt x="41" y="213"/>
                  <a:pt x="35" y="211"/>
                  <a:pt x="46" y="211"/>
                </a:cubicBezTo>
                <a:close/>
              </a:path>
            </a:pathLst>
          </a:custGeom>
          <a:solidFill>
            <a:srgbClr val="969696"/>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endParaRPr lang="zh-CN" altLang="en-US"/>
          </a:p>
        </p:txBody>
      </p:sp>
      <p:sp>
        <p:nvSpPr>
          <p:cNvPr id="55326" name="Text Box 86"/>
          <p:cNvSpPr txBox="1">
            <a:spLocks noChangeArrowheads="1"/>
          </p:cNvSpPr>
          <p:nvPr/>
        </p:nvSpPr>
        <p:spPr bwMode="auto">
          <a:xfrm>
            <a:off x="2563813" y="2093913"/>
            <a:ext cx="1117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128.32.32.68</a:t>
            </a:r>
          </a:p>
        </p:txBody>
      </p:sp>
      <p:grpSp>
        <p:nvGrpSpPr>
          <p:cNvPr id="7" name="Group 87"/>
          <p:cNvGrpSpPr>
            <a:grpSpLocks/>
          </p:cNvGrpSpPr>
          <p:nvPr/>
        </p:nvGrpSpPr>
        <p:grpSpPr bwMode="auto">
          <a:xfrm>
            <a:off x="2335213" y="3281364"/>
            <a:ext cx="3276600" cy="530225"/>
            <a:chOff x="480" y="1843"/>
            <a:chExt cx="2064" cy="334"/>
          </a:xfrm>
        </p:grpSpPr>
        <p:sp>
          <p:nvSpPr>
            <p:cNvPr id="55338" name="Text Box 88"/>
            <p:cNvSpPr txBox="1">
              <a:spLocks noChangeArrowheads="1"/>
            </p:cNvSpPr>
            <p:nvPr/>
          </p:nvSpPr>
          <p:spPr bwMode="auto">
            <a:xfrm>
              <a:off x="480" y="1843"/>
              <a:ext cx="1498" cy="334"/>
            </a:xfrm>
            <a:prstGeom prst="rect">
              <a:avLst/>
            </a:prstGeom>
            <a:solidFill>
              <a:schemeClr val="accent1"/>
            </a:solidFill>
            <a:ln w="12700">
              <a:solidFill>
                <a:srgbClr val="0000FF"/>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1400">
                  <a:solidFill>
                    <a:srgbClr val="0000FF"/>
                  </a:solidFill>
                </a:rPr>
                <a:t>对外通信时</a:t>
              </a:r>
              <a:r>
                <a:rPr lang="en-US" altLang="zh-CN" sz="1400">
                  <a:solidFill>
                    <a:srgbClr val="0000FF"/>
                  </a:solidFill>
                </a:rPr>
                <a:t>,</a:t>
              </a:r>
              <a:r>
                <a:rPr lang="zh-CN" altLang="en-US" sz="1400">
                  <a:solidFill>
                    <a:srgbClr val="0000FF"/>
                  </a:solidFill>
                </a:rPr>
                <a:t>所用专用网络上的主机要使用网关的</a:t>
              </a:r>
              <a:r>
                <a:rPr lang="en-US" altLang="zh-CN" sz="1400">
                  <a:solidFill>
                    <a:srgbClr val="0000FF"/>
                  </a:solidFill>
                </a:rPr>
                <a:t>IP</a:t>
              </a:r>
              <a:r>
                <a:rPr lang="zh-CN" altLang="en-US" sz="1400">
                  <a:solidFill>
                    <a:srgbClr val="0000FF"/>
                  </a:solidFill>
                </a:rPr>
                <a:t>地址</a:t>
              </a:r>
            </a:p>
          </p:txBody>
        </p:sp>
        <p:sp>
          <p:nvSpPr>
            <p:cNvPr id="55339" name="Line 89"/>
            <p:cNvSpPr>
              <a:spLocks noChangeShapeType="1"/>
            </p:cNvSpPr>
            <p:nvPr/>
          </p:nvSpPr>
          <p:spPr bwMode="auto">
            <a:xfrm>
              <a:off x="1968" y="2016"/>
              <a:ext cx="576" cy="0"/>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grpSp>
      <p:sp>
        <p:nvSpPr>
          <p:cNvPr id="55328" name="Text Box 90"/>
          <p:cNvSpPr txBox="1">
            <a:spLocks noChangeArrowheads="1"/>
          </p:cNvSpPr>
          <p:nvPr/>
        </p:nvSpPr>
        <p:spPr bwMode="auto">
          <a:xfrm>
            <a:off x="3629025" y="5873751"/>
            <a:ext cx="180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b="1">
                <a:solidFill>
                  <a:schemeClr val="tx1"/>
                </a:solidFill>
              </a:rPr>
              <a:t>Private Network</a:t>
            </a:r>
          </a:p>
        </p:txBody>
      </p:sp>
      <p:sp>
        <p:nvSpPr>
          <p:cNvPr id="55329" name="Text Box 91"/>
          <p:cNvSpPr txBox="1">
            <a:spLocks noChangeArrowheads="1"/>
          </p:cNvSpPr>
          <p:nvPr/>
        </p:nvSpPr>
        <p:spPr bwMode="auto">
          <a:xfrm>
            <a:off x="7681913" y="2870201"/>
            <a:ext cx="1663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b="1">
                <a:solidFill>
                  <a:schemeClr val="tx1"/>
                </a:solidFill>
              </a:rPr>
              <a:t>Public Internet</a:t>
            </a:r>
          </a:p>
        </p:txBody>
      </p:sp>
      <p:grpSp>
        <p:nvGrpSpPr>
          <p:cNvPr id="8" name="Group 92"/>
          <p:cNvGrpSpPr>
            <a:grpSpLocks/>
          </p:cNvGrpSpPr>
          <p:nvPr/>
        </p:nvGrpSpPr>
        <p:grpSpPr bwMode="auto">
          <a:xfrm>
            <a:off x="6602413" y="3327400"/>
            <a:ext cx="3200400" cy="546100"/>
            <a:chOff x="3168" y="1872"/>
            <a:chExt cx="2016" cy="344"/>
          </a:xfrm>
        </p:grpSpPr>
        <p:sp>
          <p:nvSpPr>
            <p:cNvPr id="55336" name="Text Box 93"/>
            <p:cNvSpPr txBox="1">
              <a:spLocks noChangeArrowheads="1"/>
            </p:cNvSpPr>
            <p:nvPr/>
          </p:nvSpPr>
          <p:spPr bwMode="auto">
            <a:xfrm>
              <a:off x="3840" y="2016"/>
              <a:ext cx="1344" cy="200"/>
            </a:xfrm>
            <a:prstGeom prst="rect">
              <a:avLst/>
            </a:prstGeom>
            <a:solidFill>
              <a:schemeClr val="accent1"/>
            </a:solidFill>
            <a:ln w="12700">
              <a:solidFill>
                <a:srgbClr val="0000FF"/>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1400">
                  <a:solidFill>
                    <a:srgbClr val="0000FF"/>
                  </a:solidFill>
                </a:rPr>
                <a:t>公用网的</a:t>
              </a:r>
              <a:r>
                <a:rPr lang="en-US" altLang="zh-CN" sz="1400">
                  <a:solidFill>
                    <a:srgbClr val="0000FF"/>
                  </a:solidFill>
                </a:rPr>
                <a:t>IP</a:t>
              </a:r>
              <a:r>
                <a:rPr lang="zh-CN" altLang="en-US" sz="1400">
                  <a:solidFill>
                    <a:srgbClr val="0000FF"/>
                  </a:solidFill>
                </a:rPr>
                <a:t>地址</a:t>
              </a:r>
            </a:p>
          </p:txBody>
        </p:sp>
        <p:sp>
          <p:nvSpPr>
            <p:cNvPr id="55337" name="Line 94"/>
            <p:cNvSpPr>
              <a:spLocks noChangeShapeType="1"/>
            </p:cNvSpPr>
            <p:nvPr/>
          </p:nvSpPr>
          <p:spPr bwMode="auto">
            <a:xfrm flipH="1" flipV="1">
              <a:off x="3168" y="1872"/>
              <a:ext cx="672" cy="240"/>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grpSp>
      <p:grpSp>
        <p:nvGrpSpPr>
          <p:cNvPr id="9" name="Group 95"/>
          <p:cNvGrpSpPr>
            <a:grpSpLocks/>
          </p:cNvGrpSpPr>
          <p:nvPr/>
        </p:nvGrpSpPr>
        <p:grpSpPr bwMode="auto">
          <a:xfrm>
            <a:off x="6221413" y="4165600"/>
            <a:ext cx="3429000" cy="2084388"/>
            <a:chOff x="2928" y="2400"/>
            <a:chExt cx="2160" cy="1313"/>
          </a:xfrm>
        </p:grpSpPr>
        <p:sp>
          <p:nvSpPr>
            <p:cNvPr id="55333" name="Text Box 96"/>
            <p:cNvSpPr txBox="1">
              <a:spLocks noChangeArrowheads="1"/>
            </p:cNvSpPr>
            <p:nvPr/>
          </p:nvSpPr>
          <p:spPr bwMode="auto">
            <a:xfrm>
              <a:off x="3648" y="3379"/>
              <a:ext cx="1440" cy="334"/>
            </a:xfrm>
            <a:prstGeom prst="rect">
              <a:avLst/>
            </a:prstGeom>
            <a:solidFill>
              <a:schemeClr val="accent1"/>
            </a:solidFill>
            <a:ln w="12700">
              <a:solidFill>
                <a:srgbClr val="0000FF"/>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1400">
                  <a:solidFill>
                    <a:srgbClr val="0000FF"/>
                  </a:solidFill>
                </a:rPr>
                <a:t>一些专用网的</a:t>
              </a:r>
              <a:r>
                <a:rPr lang="en-US" altLang="zh-CN" sz="1400">
                  <a:solidFill>
                    <a:srgbClr val="0000FF"/>
                  </a:solidFill>
                </a:rPr>
                <a:t>IP</a:t>
              </a:r>
              <a:r>
                <a:rPr lang="zh-CN" altLang="en-US" sz="1400">
                  <a:solidFill>
                    <a:srgbClr val="0000FF"/>
                  </a:solidFill>
                </a:rPr>
                <a:t>地址</a:t>
              </a:r>
              <a:r>
                <a:rPr lang="en-US" altLang="zh-CN" sz="1400">
                  <a:solidFill>
                    <a:srgbClr val="0000FF"/>
                  </a:solidFill>
                </a:rPr>
                <a:t>,</a:t>
              </a:r>
              <a:r>
                <a:rPr lang="zh-CN" altLang="en-US" sz="1400">
                  <a:solidFill>
                    <a:srgbClr val="0000FF"/>
                  </a:solidFill>
                </a:rPr>
                <a:t>可以被许多组织使用</a:t>
              </a:r>
            </a:p>
          </p:txBody>
        </p:sp>
        <p:sp>
          <p:nvSpPr>
            <p:cNvPr id="55334" name="Line 97"/>
            <p:cNvSpPr>
              <a:spLocks noChangeShapeType="1"/>
            </p:cNvSpPr>
            <p:nvPr/>
          </p:nvSpPr>
          <p:spPr bwMode="auto">
            <a:xfrm flipH="1" flipV="1">
              <a:off x="2928" y="2880"/>
              <a:ext cx="720" cy="672"/>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35" name="Line 98"/>
            <p:cNvSpPr>
              <a:spLocks noChangeShapeType="1"/>
            </p:cNvSpPr>
            <p:nvPr/>
          </p:nvSpPr>
          <p:spPr bwMode="auto">
            <a:xfrm flipH="1" flipV="1">
              <a:off x="2928" y="2400"/>
              <a:ext cx="720" cy="1152"/>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grpSp>
      <p:sp>
        <p:nvSpPr>
          <p:cNvPr id="55332" name="Rectangle 99"/>
          <p:cNvSpPr>
            <a:spLocks noGrp="1" noChangeArrowheads="1"/>
          </p:cNvSpPr>
          <p:nvPr>
            <p:ph type="title"/>
          </p:nvPr>
        </p:nvSpPr>
        <p:spPr bwMode="auto">
          <a:xfrm>
            <a:off x="2228850" y="474663"/>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Scenario(</a:t>
            </a:r>
            <a:r>
              <a:rPr lang="zh-CN" altLang="en-US" sz="3600">
                <a:solidFill>
                  <a:schemeClr val="hlink"/>
                </a:solidFill>
                <a:ea typeface="华文行楷" panose="02010800040101010101" pitchFamily="2" charset="-122"/>
              </a:rPr>
              <a:t>情景</a:t>
            </a:r>
            <a:r>
              <a:rPr lang="en-US" altLang="zh-CN" sz="3600">
                <a:solidFill>
                  <a:schemeClr val="hlink"/>
                </a:solidFill>
                <a:ea typeface="华文行楷" panose="020108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3"/>
          <p:cNvSpPr txBox="1">
            <a:spLocks noChangeArrowheads="1"/>
          </p:cNvSpPr>
          <p:nvPr/>
        </p:nvSpPr>
        <p:spPr bwMode="auto">
          <a:xfrm>
            <a:off x="4724400" y="2057400"/>
            <a:ext cx="1828800" cy="3429000"/>
          </a:xfrm>
          <a:prstGeom prst="rect">
            <a:avLst/>
          </a:prstGeom>
          <a:solidFill>
            <a:srgbClr val="FE7E93"/>
          </a:solidFill>
          <a:ln w="12700">
            <a:solidFill>
              <a:schemeClr val="tx1"/>
            </a:solidFill>
            <a:miter lim="800000"/>
            <a:headEnd/>
            <a:tailEnd/>
          </a:ln>
        </p:spPr>
        <p:txBody>
          <a:bodyPr wrap="none"/>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600" b="1">
                <a:solidFill>
                  <a:schemeClr val="tx1"/>
                </a:solidFill>
              </a:rPr>
              <a:t>NAT Gateway</a:t>
            </a:r>
          </a:p>
        </p:txBody>
      </p:sp>
      <p:grpSp>
        <p:nvGrpSpPr>
          <p:cNvPr id="57347" name="Group 4"/>
          <p:cNvGrpSpPr>
            <a:grpSpLocks/>
          </p:cNvGrpSpPr>
          <p:nvPr/>
        </p:nvGrpSpPr>
        <p:grpSpPr bwMode="auto">
          <a:xfrm>
            <a:off x="1981200" y="3250458"/>
            <a:ext cx="457200" cy="690806"/>
            <a:chOff x="528" y="217"/>
            <a:chExt cx="384" cy="621"/>
          </a:xfrm>
        </p:grpSpPr>
        <p:sp>
          <p:nvSpPr>
            <p:cNvPr id="57368" name="Rectangle 5"/>
            <p:cNvSpPr>
              <a:spLocks noChangeArrowheads="1"/>
            </p:cNvSpPr>
            <p:nvPr/>
          </p:nvSpPr>
          <p:spPr bwMode="auto">
            <a:xfrm>
              <a:off x="642" y="221"/>
              <a:ext cx="155" cy="470"/>
            </a:xfrm>
            <a:prstGeom prst="rect">
              <a:avLst/>
            </a:prstGeom>
            <a:solidFill>
              <a:srgbClr val="0000FF"/>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7369" name="Freeform 6"/>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solidFill>
              <a:srgbClr val="0000FF"/>
            </a:solidFill>
            <a:ln w="12700">
              <a:solidFill>
                <a:schemeClr val="tx1"/>
              </a:solidFill>
              <a:round/>
              <a:headEnd/>
              <a:tailEnd/>
            </a:ln>
          </p:spPr>
          <p:txBody>
            <a:bodyPr anchor="ctr">
              <a:spAutoFit/>
            </a:bodyPr>
            <a:lstStyle/>
            <a:p>
              <a:endParaRPr lang="zh-CN" altLang="en-US"/>
            </a:p>
          </p:txBody>
        </p:sp>
        <p:sp>
          <p:nvSpPr>
            <p:cNvPr id="57370" name="Line 7"/>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7371" name="Line 8"/>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7372" name="Line 9"/>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7373" name="Line 10"/>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7374" name="Line 11"/>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7375" name="Line 12"/>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7376" name="Line 13"/>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7377" name="Line 14"/>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7378" name="Rectangle 15"/>
            <p:cNvSpPr>
              <a:spLocks noChangeArrowheads="1"/>
            </p:cNvSpPr>
            <p:nvPr/>
          </p:nvSpPr>
          <p:spPr bwMode="auto">
            <a:xfrm>
              <a:off x="597" y="217"/>
              <a:ext cx="244" cy="470"/>
            </a:xfrm>
            <a:prstGeom prst="rect">
              <a:avLst/>
            </a:prstGeom>
            <a:solidFill>
              <a:srgbClr val="0000FF"/>
            </a:solidFill>
            <a:ln w="12700">
              <a:solidFill>
                <a:schemeClr val="tx1"/>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grpSp>
        <p:nvGrpSpPr>
          <p:cNvPr id="57348" name="Group 16"/>
          <p:cNvGrpSpPr>
            <a:grpSpLocks/>
          </p:cNvGrpSpPr>
          <p:nvPr/>
        </p:nvGrpSpPr>
        <p:grpSpPr bwMode="auto">
          <a:xfrm>
            <a:off x="9067798" y="2825750"/>
            <a:ext cx="1268332" cy="1060450"/>
            <a:chOff x="3984" y="868"/>
            <a:chExt cx="711" cy="668"/>
          </a:xfrm>
        </p:grpSpPr>
        <p:sp>
          <p:nvSpPr>
            <p:cNvPr id="57360" name="Freeform 17"/>
            <p:cNvSpPr>
              <a:spLocks/>
            </p:cNvSpPr>
            <p:nvPr/>
          </p:nvSpPr>
          <p:spPr bwMode="auto">
            <a:xfrm>
              <a:off x="3984" y="1204"/>
              <a:ext cx="104" cy="233"/>
            </a:xfrm>
            <a:custGeom>
              <a:avLst/>
              <a:gdLst>
                <a:gd name="T0" fmla="*/ 0 w 288"/>
                <a:gd name="T1" fmla="*/ 0 h 624"/>
                <a:gd name="T2" fmla="*/ 0 w 288"/>
                <a:gd name="T3" fmla="*/ 528 h 624"/>
                <a:gd name="T4" fmla="*/ 288 w 288"/>
                <a:gd name="T5" fmla="*/ 624 h 624"/>
                <a:gd name="T6" fmla="*/ 288 w 288"/>
                <a:gd name="T7" fmla="*/ 96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chemeClr val="accent2"/>
            </a:solidFill>
            <a:ln w="12700">
              <a:solidFill>
                <a:schemeClr val="tx1"/>
              </a:solidFill>
              <a:round/>
              <a:headEnd/>
              <a:tailEnd/>
            </a:ln>
          </p:spPr>
          <p:txBody>
            <a:bodyPr wrap="none" anchor="ctr">
              <a:spAutoFit/>
            </a:bodyPr>
            <a:lstStyle/>
            <a:p>
              <a:endParaRPr lang="zh-CN" altLang="en-US"/>
            </a:p>
          </p:txBody>
        </p:sp>
        <p:sp>
          <p:nvSpPr>
            <p:cNvPr id="57361" name="Line 18"/>
            <p:cNvSpPr>
              <a:spLocks noChangeShapeType="1"/>
            </p:cNvSpPr>
            <p:nvPr/>
          </p:nvSpPr>
          <p:spPr bwMode="auto">
            <a:xfrm>
              <a:off x="3984" y="1440"/>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7362" name="Line 19"/>
            <p:cNvSpPr>
              <a:spLocks noChangeShapeType="1"/>
            </p:cNvSpPr>
            <p:nvPr/>
          </p:nvSpPr>
          <p:spPr bwMode="auto">
            <a:xfrm>
              <a:off x="3984" y="1344"/>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7363" name="Line 20"/>
            <p:cNvSpPr>
              <a:spLocks noChangeShapeType="1"/>
            </p:cNvSpPr>
            <p:nvPr/>
          </p:nvSpPr>
          <p:spPr bwMode="auto">
            <a:xfrm>
              <a:off x="3984" y="1248"/>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7364" name="Line 21"/>
            <p:cNvSpPr>
              <a:spLocks noChangeShapeType="1"/>
            </p:cNvSpPr>
            <p:nvPr/>
          </p:nvSpPr>
          <p:spPr bwMode="auto">
            <a:xfrm>
              <a:off x="3984" y="1152"/>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7365" name="Freeform 22"/>
            <p:cNvSpPr>
              <a:spLocks/>
            </p:cNvSpPr>
            <p:nvPr/>
          </p:nvSpPr>
          <p:spPr bwMode="auto">
            <a:xfrm>
              <a:off x="4272" y="1180"/>
              <a:ext cx="104" cy="233"/>
            </a:xfrm>
            <a:custGeom>
              <a:avLst/>
              <a:gdLst>
                <a:gd name="T0" fmla="*/ 0 w 480"/>
                <a:gd name="T1" fmla="*/ 672 h 672"/>
                <a:gd name="T2" fmla="*/ 480 w 480"/>
                <a:gd name="T3" fmla="*/ 528 h 672"/>
                <a:gd name="T4" fmla="*/ 480 w 480"/>
                <a:gd name="T5" fmla="*/ 0 h 672"/>
                <a:gd name="T6" fmla="*/ 0 w 480"/>
                <a:gd name="T7" fmla="*/ 144 h 672"/>
                <a:gd name="T8" fmla="*/ 0 w 480"/>
                <a:gd name="T9" fmla="*/ 67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chemeClr val="accent2"/>
            </a:solidFill>
            <a:ln w="12700">
              <a:solidFill>
                <a:schemeClr val="tx1"/>
              </a:solidFill>
              <a:round/>
              <a:headEnd/>
              <a:tailEnd/>
            </a:ln>
          </p:spPr>
          <p:txBody>
            <a:bodyPr wrap="none" anchor="ctr">
              <a:spAutoFit/>
            </a:bodyPr>
            <a:lstStyle/>
            <a:p>
              <a:endParaRPr lang="zh-CN" altLang="en-US"/>
            </a:p>
          </p:txBody>
        </p:sp>
        <p:sp>
          <p:nvSpPr>
            <p:cNvPr id="57366" name="Text Box 23"/>
            <p:cNvSpPr txBox="1">
              <a:spLocks noChangeArrowheads="1"/>
            </p:cNvSpPr>
            <p:nvPr/>
          </p:nvSpPr>
          <p:spPr bwMode="auto">
            <a:xfrm>
              <a:off x="4333" y="1200"/>
              <a:ext cx="362" cy="173"/>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sz="1200" b="1">
                  <a:solidFill>
                    <a:schemeClr val="tx1"/>
                  </a:solidFill>
                </a:rPr>
                <a:t>服务器</a:t>
              </a:r>
            </a:p>
          </p:txBody>
        </p:sp>
        <p:sp>
          <p:nvSpPr>
            <p:cNvPr id="57367" name="Freeform 24"/>
            <p:cNvSpPr>
              <a:spLocks/>
            </p:cNvSpPr>
            <p:nvPr/>
          </p:nvSpPr>
          <p:spPr bwMode="auto">
            <a:xfrm>
              <a:off x="3984" y="868"/>
              <a:ext cx="104" cy="233"/>
            </a:xfrm>
            <a:custGeom>
              <a:avLst/>
              <a:gdLst>
                <a:gd name="T0" fmla="*/ 288 w 768"/>
                <a:gd name="T1" fmla="*/ 240 h 240"/>
                <a:gd name="T2" fmla="*/ 0 w 768"/>
                <a:gd name="T3" fmla="*/ 144 h 240"/>
                <a:gd name="T4" fmla="*/ 528 w 768"/>
                <a:gd name="T5" fmla="*/ 0 h 240"/>
                <a:gd name="T6" fmla="*/ 768 w 768"/>
                <a:gd name="T7" fmla="*/ 96 h 240"/>
                <a:gd name="T8" fmla="*/ 288 w 768"/>
                <a:gd name="T9" fmla="*/ 240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chemeClr val="accent2"/>
            </a:solidFill>
            <a:ln w="12700">
              <a:solidFill>
                <a:schemeClr val="tx1"/>
              </a:solidFill>
              <a:round/>
              <a:headEnd/>
              <a:tailEnd/>
            </a:ln>
          </p:spPr>
          <p:txBody>
            <a:bodyPr wrap="none" anchor="ctr">
              <a:spAutoFit/>
            </a:bodyPr>
            <a:lstStyle/>
            <a:p>
              <a:endParaRPr lang="zh-CN" altLang="en-US"/>
            </a:p>
          </p:txBody>
        </p:sp>
      </p:grpSp>
      <p:sp>
        <p:nvSpPr>
          <p:cNvPr id="57349" name="Rectangle 25"/>
          <p:cNvSpPr>
            <a:spLocks noChangeArrowheads="1"/>
          </p:cNvSpPr>
          <p:nvPr/>
        </p:nvSpPr>
        <p:spPr bwMode="auto">
          <a:xfrm>
            <a:off x="5181600" y="3124200"/>
            <a:ext cx="914400" cy="838200"/>
          </a:xfrm>
          <a:prstGeom prst="rect">
            <a:avLst/>
          </a:prstGeom>
          <a:solidFill>
            <a:srgbClr val="FFFFFF"/>
          </a:solidFill>
          <a:ln w="12700">
            <a:solidFill>
              <a:schemeClr val="tx1"/>
            </a:solidFill>
            <a:miter lim="800000"/>
            <a:headEnd/>
            <a:tailEnd/>
          </a:ln>
        </p:spPr>
        <p:txBody>
          <a:bodyPr wrap="none" lIns="90488" tIns="44450" rIns="90488" bIns="44450"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20000"/>
              </a:spcBef>
            </a:pPr>
            <a:r>
              <a:rPr lang="zh-CN" altLang="en-US" sz="1400">
                <a:solidFill>
                  <a:schemeClr val="tx1"/>
                </a:solidFill>
              </a:rPr>
              <a:t>地址</a:t>
            </a:r>
          </a:p>
          <a:p>
            <a:pPr algn="ctr">
              <a:spcBef>
                <a:spcPct val="20000"/>
              </a:spcBef>
            </a:pPr>
            <a:r>
              <a:rPr lang="zh-CN" altLang="en-US" sz="1400">
                <a:solidFill>
                  <a:schemeClr val="tx1"/>
                </a:solidFill>
              </a:rPr>
              <a:t>转换设备</a:t>
            </a:r>
          </a:p>
        </p:txBody>
      </p:sp>
      <p:sp>
        <p:nvSpPr>
          <p:cNvPr id="57350" name="Text Box 26"/>
          <p:cNvSpPr txBox="1">
            <a:spLocks noChangeArrowheads="1"/>
          </p:cNvSpPr>
          <p:nvPr/>
        </p:nvSpPr>
        <p:spPr bwMode="auto">
          <a:xfrm>
            <a:off x="9525000" y="3581400"/>
            <a:ext cx="9842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128.32.32.68</a:t>
            </a:r>
          </a:p>
        </p:txBody>
      </p:sp>
      <p:sp>
        <p:nvSpPr>
          <p:cNvPr id="57351" name="Text Box 27"/>
          <p:cNvSpPr txBox="1">
            <a:spLocks noChangeArrowheads="1"/>
          </p:cNvSpPr>
          <p:nvPr/>
        </p:nvSpPr>
        <p:spPr bwMode="auto">
          <a:xfrm>
            <a:off x="9066286" y="4036807"/>
            <a:ext cx="1507978"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20000"/>
              </a:spcBef>
            </a:pPr>
            <a:r>
              <a:rPr lang="en-US" altLang="zh-CN" sz="1400">
                <a:solidFill>
                  <a:schemeClr val="tx1"/>
                </a:solidFill>
              </a:rPr>
              <a:t>bmrc.berkeley.edu</a:t>
            </a:r>
          </a:p>
        </p:txBody>
      </p:sp>
      <p:grpSp>
        <p:nvGrpSpPr>
          <p:cNvPr id="4" name="Group 28"/>
          <p:cNvGrpSpPr>
            <a:grpSpLocks/>
          </p:cNvGrpSpPr>
          <p:nvPr/>
        </p:nvGrpSpPr>
        <p:grpSpPr bwMode="auto">
          <a:xfrm>
            <a:off x="2362200" y="3122615"/>
            <a:ext cx="6705600" cy="534988"/>
            <a:chOff x="528" y="1967"/>
            <a:chExt cx="4224" cy="337"/>
          </a:xfrm>
        </p:grpSpPr>
        <p:sp>
          <p:nvSpPr>
            <p:cNvPr id="57354" name="Rectangle 29"/>
            <p:cNvSpPr>
              <a:spLocks noChangeArrowheads="1"/>
            </p:cNvSpPr>
            <p:nvPr/>
          </p:nvSpPr>
          <p:spPr bwMode="auto">
            <a:xfrm>
              <a:off x="2880" y="2160"/>
              <a:ext cx="1872" cy="144"/>
            </a:xfrm>
            <a:prstGeom prst="rect">
              <a:avLst/>
            </a:prstGeom>
            <a:solidFill>
              <a:srgbClr val="FFFF66"/>
            </a:solidFill>
            <a:ln w="12700">
              <a:solidFill>
                <a:schemeClr val="tx1"/>
              </a:solidFill>
              <a:miter lim="800000"/>
              <a:headEnd/>
              <a:tailEnd/>
            </a:ln>
          </p:spPr>
          <p:txBody>
            <a:bodyPr wrap="none" lIns="90488" tIns="44450" rIns="90488" bIns="44450"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endParaRPr lang="zh-CN" altLang="zh-CN" sz="1400">
                <a:solidFill>
                  <a:schemeClr val="tx1"/>
                </a:solidFill>
              </a:endParaRPr>
            </a:p>
          </p:txBody>
        </p:sp>
        <p:sp>
          <p:nvSpPr>
            <p:cNvPr id="57355" name="Text Box 30"/>
            <p:cNvSpPr txBox="1">
              <a:spLocks noChangeArrowheads="1"/>
            </p:cNvSpPr>
            <p:nvPr/>
          </p:nvSpPr>
          <p:spPr bwMode="auto">
            <a:xfrm>
              <a:off x="3309" y="1967"/>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20000"/>
                </a:spcBef>
              </a:pPr>
              <a:r>
                <a:rPr lang="en-US" altLang="zh-CN" sz="1400">
                  <a:solidFill>
                    <a:schemeClr val="tx1"/>
                  </a:solidFill>
                </a:rPr>
                <a:t>TCP Connection 1</a:t>
              </a:r>
            </a:p>
          </p:txBody>
        </p:sp>
        <p:sp>
          <p:nvSpPr>
            <p:cNvPr id="57356" name="Line 31"/>
            <p:cNvSpPr>
              <a:spLocks noChangeShapeType="1"/>
            </p:cNvSpPr>
            <p:nvPr/>
          </p:nvSpPr>
          <p:spPr bwMode="auto">
            <a:xfrm>
              <a:off x="2928" y="2256"/>
              <a:ext cx="288"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7357" name="Rectangle 32"/>
            <p:cNvSpPr>
              <a:spLocks noChangeArrowheads="1"/>
            </p:cNvSpPr>
            <p:nvPr/>
          </p:nvSpPr>
          <p:spPr bwMode="auto">
            <a:xfrm>
              <a:off x="528" y="2160"/>
              <a:ext cx="1776" cy="144"/>
            </a:xfrm>
            <a:prstGeom prst="rect">
              <a:avLst/>
            </a:prstGeom>
            <a:solidFill>
              <a:srgbClr val="FFFF66"/>
            </a:solidFill>
            <a:ln w="12700">
              <a:solidFill>
                <a:schemeClr val="tx1"/>
              </a:solidFill>
              <a:miter lim="800000"/>
              <a:headEnd/>
              <a:tailEnd/>
            </a:ln>
          </p:spPr>
          <p:txBody>
            <a:bodyPr wrap="none" lIns="90488" tIns="44450" rIns="90488" bIns="44450"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endParaRPr lang="zh-CN" altLang="zh-CN" sz="1400">
                <a:solidFill>
                  <a:schemeClr val="tx1"/>
                </a:solidFill>
              </a:endParaRPr>
            </a:p>
          </p:txBody>
        </p:sp>
        <p:sp>
          <p:nvSpPr>
            <p:cNvPr id="57358" name="Text Box 33"/>
            <p:cNvSpPr txBox="1">
              <a:spLocks noChangeArrowheads="1"/>
            </p:cNvSpPr>
            <p:nvPr/>
          </p:nvSpPr>
          <p:spPr bwMode="auto">
            <a:xfrm>
              <a:off x="817" y="1967"/>
              <a:ext cx="65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20000"/>
                </a:spcBef>
              </a:pPr>
              <a:r>
                <a:rPr lang="en-US" altLang="zh-CN" sz="1400">
                  <a:solidFill>
                    <a:schemeClr val="tx1"/>
                  </a:solidFill>
                </a:rPr>
                <a:t>TCP </a:t>
              </a:r>
              <a:r>
                <a:rPr lang="zh-CN" altLang="en-US" sz="1400">
                  <a:solidFill>
                    <a:schemeClr val="tx1"/>
                  </a:solidFill>
                </a:rPr>
                <a:t>连接 </a:t>
              </a:r>
              <a:r>
                <a:rPr lang="en-US" altLang="zh-CN" sz="1400">
                  <a:solidFill>
                    <a:schemeClr val="tx1"/>
                  </a:solidFill>
                </a:rPr>
                <a:t>1</a:t>
              </a:r>
            </a:p>
          </p:txBody>
        </p:sp>
        <p:sp>
          <p:nvSpPr>
            <p:cNvPr id="57359" name="Line 34"/>
            <p:cNvSpPr>
              <a:spLocks noChangeShapeType="1"/>
            </p:cNvSpPr>
            <p:nvPr/>
          </p:nvSpPr>
          <p:spPr bwMode="auto">
            <a:xfrm flipV="1">
              <a:off x="576" y="2256"/>
              <a:ext cx="24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grpSp>
      <p:sp>
        <p:nvSpPr>
          <p:cNvPr id="57353" name="Rectangle 35"/>
          <p:cNvSpPr>
            <a:spLocks noGrp="1" noChangeArrowheads="1"/>
          </p:cNvSpPr>
          <p:nvPr>
            <p:ph type="title"/>
          </p:nvPr>
        </p:nvSpPr>
        <p:spPr bwMode="auto">
          <a:xfrm>
            <a:off x="2228850" y="4143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NAT </a:t>
            </a:r>
            <a:r>
              <a:rPr lang="zh-CN" altLang="en-US" sz="3600">
                <a:solidFill>
                  <a:schemeClr val="hlink"/>
                </a:solidFill>
                <a:ea typeface="华文行楷" panose="02010800040101010101" pitchFamily="2" charset="-122"/>
              </a:rPr>
              <a:t>例子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370" name="Group 3"/>
          <p:cNvGrpSpPr>
            <a:grpSpLocks/>
          </p:cNvGrpSpPr>
          <p:nvPr/>
        </p:nvGrpSpPr>
        <p:grpSpPr bwMode="auto">
          <a:xfrm>
            <a:off x="2643188" y="3275858"/>
            <a:ext cx="457200" cy="690806"/>
            <a:chOff x="528" y="217"/>
            <a:chExt cx="384" cy="621"/>
          </a:xfrm>
        </p:grpSpPr>
        <p:sp>
          <p:nvSpPr>
            <p:cNvPr id="58462" name="Rectangle 4"/>
            <p:cNvSpPr>
              <a:spLocks noChangeArrowheads="1"/>
            </p:cNvSpPr>
            <p:nvPr/>
          </p:nvSpPr>
          <p:spPr bwMode="auto">
            <a:xfrm>
              <a:off x="642" y="221"/>
              <a:ext cx="155" cy="470"/>
            </a:xfrm>
            <a:prstGeom prst="rect">
              <a:avLst/>
            </a:prstGeom>
            <a:solidFill>
              <a:srgbClr val="0000FF"/>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63" name="Freeform 5"/>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solidFill>
              <a:srgbClr val="0000FF"/>
            </a:solidFill>
            <a:ln w="12700">
              <a:solidFill>
                <a:schemeClr val="tx1"/>
              </a:solidFill>
              <a:round/>
              <a:headEnd/>
              <a:tailEnd/>
            </a:ln>
          </p:spPr>
          <p:txBody>
            <a:bodyPr anchor="ctr">
              <a:spAutoFit/>
            </a:bodyPr>
            <a:lstStyle/>
            <a:p>
              <a:endParaRPr lang="zh-CN" altLang="en-US"/>
            </a:p>
          </p:txBody>
        </p:sp>
        <p:sp>
          <p:nvSpPr>
            <p:cNvPr id="58464" name="Line 6"/>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65" name="Line 7"/>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66" name="Line 8"/>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67" name="Line 9"/>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468" name="Line 10"/>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69" name="Line 11"/>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70" name="Line 12"/>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471" name="Line 13"/>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72" name="Rectangle 14"/>
            <p:cNvSpPr>
              <a:spLocks noChangeArrowheads="1"/>
            </p:cNvSpPr>
            <p:nvPr/>
          </p:nvSpPr>
          <p:spPr bwMode="auto">
            <a:xfrm>
              <a:off x="597" y="217"/>
              <a:ext cx="244" cy="470"/>
            </a:xfrm>
            <a:prstGeom prst="rect">
              <a:avLst/>
            </a:prstGeom>
            <a:solidFill>
              <a:srgbClr val="0000FF"/>
            </a:solidFill>
            <a:ln w="12700">
              <a:solidFill>
                <a:schemeClr val="tx1"/>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cxnSp>
        <p:nvCxnSpPr>
          <p:cNvPr id="58371" name="AutoShape 15"/>
          <p:cNvCxnSpPr>
            <a:cxnSpLocks noChangeShapeType="1"/>
            <a:stCxn id="58472" idx="3"/>
            <a:endCxn id="58381" idx="1"/>
          </p:cNvCxnSpPr>
          <p:nvPr/>
        </p:nvCxnSpPr>
        <p:spPr bwMode="auto">
          <a:xfrm flipV="1">
            <a:off x="3015855" y="3532188"/>
            <a:ext cx="1572021" cy="5086"/>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nvGrpSpPr>
          <p:cNvPr id="58372" name="Group 16"/>
          <p:cNvGrpSpPr>
            <a:grpSpLocks/>
          </p:cNvGrpSpPr>
          <p:nvPr/>
        </p:nvGrpSpPr>
        <p:grpSpPr bwMode="auto">
          <a:xfrm>
            <a:off x="8586785" y="2927350"/>
            <a:ext cx="1254060" cy="1060450"/>
            <a:chOff x="3984" y="868"/>
            <a:chExt cx="703" cy="668"/>
          </a:xfrm>
        </p:grpSpPr>
        <p:sp>
          <p:nvSpPr>
            <p:cNvPr id="58454" name="Freeform 17"/>
            <p:cNvSpPr>
              <a:spLocks/>
            </p:cNvSpPr>
            <p:nvPr/>
          </p:nvSpPr>
          <p:spPr bwMode="auto">
            <a:xfrm>
              <a:off x="3984" y="1204"/>
              <a:ext cx="104" cy="233"/>
            </a:xfrm>
            <a:custGeom>
              <a:avLst/>
              <a:gdLst>
                <a:gd name="T0" fmla="*/ 0 w 288"/>
                <a:gd name="T1" fmla="*/ 0 h 624"/>
                <a:gd name="T2" fmla="*/ 0 w 288"/>
                <a:gd name="T3" fmla="*/ 528 h 624"/>
                <a:gd name="T4" fmla="*/ 288 w 288"/>
                <a:gd name="T5" fmla="*/ 624 h 624"/>
                <a:gd name="T6" fmla="*/ 288 w 288"/>
                <a:gd name="T7" fmla="*/ 96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chemeClr val="accent2"/>
            </a:solidFill>
            <a:ln w="12700">
              <a:solidFill>
                <a:schemeClr val="tx1"/>
              </a:solidFill>
              <a:round/>
              <a:headEnd/>
              <a:tailEnd/>
            </a:ln>
          </p:spPr>
          <p:txBody>
            <a:bodyPr wrap="none" anchor="ctr">
              <a:spAutoFit/>
            </a:bodyPr>
            <a:lstStyle/>
            <a:p>
              <a:endParaRPr lang="zh-CN" altLang="en-US"/>
            </a:p>
          </p:txBody>
        </p:sp>
        <p:sp>
          <p:nvSpPr>
            <p:cNvPr id="58455" name="Line 18"/>
            <p:cNvSpPr>
              <a:spLocks noChangeShapeType="1"/>
            </p:cNvSpPr>
            <p:nvPr/>
          </p:nvSpPr>
          <p:spPr bwMode="auto">
            <a:xfrm>
              <a:off x="3984" y="1440"/>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456" name="Line 19"/>
            <p:cNvSpPr>
              <a:spLocks noChangeShapeType="1"/>
            </p:cNvSpPr>
            <p:nvPr/>
          </p:nvSpPr>
          <p:spPr bwMode="auto">
            <a:xfrm>
              <a:off x="3984" y="1344"/>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457" name="Line 20"/>
            <p:cNvSpPr>
              <a:spLocks noChangeShapeType="1"/>
            </p:cNvSpPr>
            <p:nvPr/>
          </p:nvSpPr>
          <p:spPr bwMode="auto">
            <a:xfrm>
              <a:off x="3984" y="1248"/>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458" name="Line 21"/>
            <p:cNvSpPr>
              <a:spLocks noChangeShapeType="1"/>
            </p:cNvSpPr>
            <p:nvPr/>
          </p:nvSpPr>
          <p:spPr bwMode="auto">
            <a:xfrm>
              <a:off x="3984" y="1152"/>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459" name="Freeform 22"/>
            <p:cNvSpPr>
              <a:spLocks/>
            </p:cNvSpPr>
            <p:nvPr/>
          </p:nvSpPr>
          <p:spPr bwMode="auto">
            <a:xfrm>
              <a:off x="4272" y="1180"/>
              <a:ext cx="104" cy="233"/>
            </a:xfrm>
            <a:custGeom>
              <a:avLst/>
              <a:gdLst>
                <a:gd name="T0" fmla="*/ 0 w 480"/>
                <a:gd name="T1" fmla="*/ 672 h 672"/>
                <a:gd name="T2" fmla="*/ 480 w 480"/>
                <a:gd name="T3" fmla="*/ 528 h 672"/>
                <a:gd name="T4" fmla="*/ 480 w 480"/>
                <a:gd name="T5" fmla="*/ 0 h 672"/>
                <a:gd name="T6" fmla="*/ 0 w 480"/>
                <a:gd name="T7" fmla="*/ 144 h 672"/>
                <a:gd name="T8" fmla="*/ 0 w 480"/>
                <a:gd name="T9" fmla="*/ 67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chemeClr val="accent2"/>
            </a:solidFill>
            <a:ln w="12700">
              <a:solidFill>
                <a:schemeClr val="tx1"/>
              </a:solidFill>
              <a:round/>
              <a:headEnd/>
              <a:tailEnd/>
            </a:ln>
          </p:spPr>
          <p:txBody>
            <a:bodyPr wrap="none" anchor="ctr">
              <a:spAutoFit/>
            </a:bodyPr>
            <a:lstStyle/>
            <a:p>
              <a:endParaRPr lang="zh-CN" altLang="en-US"/>
            </a:p>
          </p:txBody>
        </p:sp>
        <p:sp>
          <p:nvSpPr>
            <p:cNvPr id="58460" name="Text Box 23"/>
            <p:cNvSpPr txBox="1">
              <a:spLocks noChangeArrowheads="1"/>
            </p:cNvSpPr>
            <p:nvPr/>
          </p:nvSpPr>
          <p:spPr bwMode="auto">
            <a:xfrm>
              <a:off x="4341" y="1200"/>
              <a:ext cx="346" cy="173"/>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Server</a:t>
              </a:r>
            </a:p>
          </p:txBody>
        </p:sp>
        <p:sp>
          <p:nvSpPr>
            <p:cNvPr id="58461" name="Freeform 24"/>
            <p:cNvSpPr>
              <a:spLocks/>
            </p:cNvSpPr>
            <p:nvPr/>
          </p:nvSpPr>
          <p:spPr bwMode="auto">
            <a:xfrm>
              <a:off x="3984" y="868"/>
              <a:ext cx="104" cy="233"/>
            </a:xfrm>
            <a:custGeom>
              <a:avLst/>
              <a:gdLst>
                <a:gd name="T0" fmla="*/ 288 w 768"/>
                <a:gd name="T1" fmla="*/ 240 h 240"/>
                <a:gd name="T2" fmla="*/ 0 w 768"/>
                <a:gd name="T3" fmla="*/ 144 h 240"/>
                <a:gd name="T4" fmla="*/ 528 w 768"/>
                <a:gd name="T5" fmla="*/ 0 h 240"/>
                <a:gd name="T6" fmla="*/ 768 w 768"/>
                <a:gd name="T7" fmla="*/ 96 h 240"/>
                <a:gd name="T8" fmla="*/ 288 w 768"/>
                <a:gd name="T9" fmla="*/ 240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chemeClr val="accent2"/>
            </a:solidFill>
            <a:ln w="12700">
              <a:solidFill>
                <a:schemeClr val="tx1"/>
              </a:solidFill>
              <a:round/>
              <a:headEnd/>
              <a:tailEnd/>
            </a:ln>
          </p:spPr>
          <p:txBody>
            <a:bodyPr wrap="none" anchor="ctr">
              <a:spAutoFit/>
            </a:bodyPr>
            <a:lstStyle/>
            <a:p>
              <a:endParaRPr lang="zh-CN" altLang="en-US"/>
            </a:p>
          </p:txBody>
        </p:sp>
      </p:grpSp>
      <p:cxnSp>
        <p:nvCxnSpPr>
          <p:cNvPr id="58373" name="AutoShape 25"/>
          <p:cNvCxnSpPr>
            <a:cxnSpLocks noChangeShapeType="1"/>
            <a:stCxn id="58381" idx="3"/>
            <a:endCxn id="58452" idx="34"/>
          </p:cNvCxnSpPr>
          <p:nvPr/>
        </p:nvCxnSpPr>
        <p:spPr bwMode="auto">
          <a:xfrm>
            <a:off x="5181601" y="3532189"/>
            <a:ext cx="755651" cy="26429"/>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58374" name="AutoShape 26"/>
          <p:cNvCxnSpPr>
            <a:cxnSpLocks noChangeShapeType="1"/>
            <a:stCxn id="58452" idx="14"/>
            <a:endCxn id="58457" idx="0"/>
          </p:cNvCxnSpPr>
          <p:nvPr/>
        </p:nvCxnSpPr>
        <p:spPr bwMode="auto">
          <a:xfrm flipV="1">
            <a:off x="7608889" y="3530600"/>
            <a:ext cx="977897" cy="2575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nvGrpSpPr>
          <p:cNvPr id="58375" name="Group 27"/>
          <p:cNvGrpSpPr>
            <a:grpSpLocks/>
          </p:cNvGrpSpPr>
          <p:nvPr/>
        </p:nvGrpSpPr>
        <p:grpSpPr bwMode="auto">
          <a:xfrm>
            <a:off x="5919788" y="3384552"/>
            <a:ext cx="1828800" cy="496888"/>
            <a:chOff x="2784" y="1108"/>
            <a:chExt cx="1152" cy="313"/>
          </a:xfrm>
        </p:grpSpPr>
        <p:sp>
          <p:nvSpPr>
            <p:cNvPr id="58452" name="Freeform 28"/>
            <p:cNvSpPr>
              <a:spLocks/>
            </p:cNvSpPr>
            <p:nvPr/>
          </p:nvSpPr>
          <p:spPr bwMode="auto">
            <a:xfrm>
              <a:off x="2784" y="1108"/>
              <a:ext cx="1152" cy="233"/>
            </a:xfrm>
            <a:custGeom>
              <a:avLst/>
              <a:gdLst>
                <a:gd name="T0" fmla="*/ 412 w 1152"/>
                <a:gd name="T1" fmla="*/ 63 h 816"/>
                <a:gd name="T2" fmla="*/ 441 w 1152"/>
                <a:gd name="T3" fmla="*/ 20 h 816"/>
                <a:gd name="T4" fmla="*/ 477 w 1152"/>
                <a:gd name="T5" fmla="*/ 9 h 816"/>
                <a:gd name="T6" fmla="*/ 501 w 1152"/>
                <a:gd name="T7" fmla="*/ 2 h 816"/>
                <a:gd name="T8" fmla="*/ 669 w 1152"/>
                <a:gd name="T9" fmla="*/ 51 h 816"/>
                <a:gd name="T10" fmla="*/ 735 w 1152"/>
                <a:gd name="T11" fmla="*/ 63 h 816"/>
                <a:gd name="T12" fmla="*/ 848 w 1152"/>
                <a:gd name="T13" fmla="*/ 87 h 816"/>
                <a:gd name="T14" fmla="*/ 908 w 1152"/>
                <a:gd name="T15" fmla="*/ 123 h 816"/>
                <a:gd name="T16" fmla="*/ 926 w 1152"/>
                <a:gd name="T17" fmla="*/ 157 h 816"/>
                <a:gd name="T18" fmla="*/ 933 w 1152"/>
                <a:gd name="T19" fmla="*/ 182 h 816"/>
                <a:gd name="T20" fmla="*/ 986 w 1152"/>
                <a:gd name="T21" fmla="*/ 188 h 816"/>
                <a:gd name="T22" fmla="*/ 1035 w 1152"/>
                <a:gd name="T23" fmla="*/ 200 h 816"/>
                <a:gd name="T24" fmla="*/ 1082 w 1152"/>
                <a:gd name="T25" fmla="*/ 253 h 816"/>
                <a:gd name="T26" fmla="*/ 1113 w 1152"/>
                <a:gd name="T27" fmla="*/ 314 h 816"/>
                <a:gd name="T28" fmla="*/ 1064 w 1152"/>
                <a:gd name="T29" fmla="*/ 379 h 816"/>
                <a:gd name="T30" fmla="*/ 1136 w 1152"/>
                <a:gd name="T31" fmla="*/ 480 h 816"/>
                <a:gd name="T32" fmla="*/ 1064 w 1152"/>
                <a:gd name="T33" fmla="*/ 629 h 816"/>
                <a:gd name="T34" fmla="*/ 1071 w 1152"/>
                <a:gd name="T35" fmla="*/ 695 h 816"/>
                <a:gd name="T36" fmla="*/ 975 w 1152"/>
                <a:gd name="T37" fmla="*/ 790 h 816"/>
                <a:gd name="T38" fmla="*/ 723 w 1152"/>
                <a:gd name="T39" fmla="*/ 772 h 816"/>
                <a:gd name="T40" fmla="*/ 700 w 1152"/>
                <a:gd name="T41" fmla="*/ 761 h 816"/>
                <a:gd name="T42" fmla="*/ 687 w 1152"/>
                <a:gd name="T43" fmla="*/ 779 h 816"/>
                <a:gd name="T44" fmla="*/ 615 w 1152"/>
                <a:gd name="T45" fmla="*/ 815 h 816"/>
                <a:gd name="T46" fmla="*/ 483 w 1152"/>
                <a:gd name="T47" fmla="*/ 808 h 816"/>
                <a:gd name="T48" fmla="*/ 436 w 1152"/>
                <a:gd name="T49" fmla="*/ 785 h 816"/>
                <a:gd name="T50" fmla="*/ 417 w 1152"/>
                <a:gd name="T51" fmla="*/ 761 h 816"/>
                <a:gd name="T52" fmla="*/ 376 w 1152"/>
                <a:gd name="T53" fmla="*/ 731 h 816"/>
                <a:gd name="T54" fmla="*/ 298 w 1152"/>
                <a:gd name="T55" fmla="*/ 754 h 816"/>
                <a:gd name="T56" fmla="*/ 196 w 1152"/>
                <a:gd name="T57" fmla="*/ 731 h 816"/>
                <a:gd name="T58" fmla="*/ 153 w 1152"/>
                <a:gd name="T59" fmla="*/ 689 h 816"/>
                <a:gd name="T60" fmla="*/ 130 w 1152"/>
                <a:gd name="T61" fmla="*/ 653 h 816"/>
                <a:gd name="T62" fmla="*/ 124 w 1152"/>
                <a:gd name="T63" fmla="*/ 546 h 816"/>
                <a:gd name="T64" fmla="*/ 94 w 1152"/>
                <a:gd name="T65" fmla="*/ 534 h 816"/>
                <a:gd name="T66" fmla="*/ 41 w 1152"/>
                <a:gd name="T67" fmla="*/ 492 h 816"/>
                <a:gd name="T68" fmla="*/ 11 w 1152"/>
                <a:gd name="T69" fmla="*/ 384 h 816"/>
                <a:gd name="T70" fmla="*/ 52 w 1152"/>
                <a:gd name="T71" fmla="*/ 319 h 816"/>
                <a:gd name="T72" fmla="*/ 70 w 1152"/>
                <a:gd name="T73" fmla="*/ 218 h 816"/>
                <a:gd name="T74" fmla="*/ 153 w 1152"/>
                <a:gd name="T75" fmla="*/ 105 h 816"/>
                <a:gd name="T76" fmla="*/ 267 w 1152"/>
                <a:gd name="T77" fmla="*/ 15 h 816"/>
                <a:gd name="T78" fmla="*/ 394 w 1152"/>
                <a:gd name="T79" fmla="*/ 45 h 816"/>
                <a:gd name="T80" fmla="*/ 412 w 1152"/>
                <a:gd name="T81" fmla="*/ 63 h 81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2"/>
                <a:gd name="T124" fmla="*/ 0 h 816"/>
                <a:gd name="T125" fmla="*/ 1152 w 1152"/>
                <a:gd name="T126" fmla="*/ 816 h 81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2" h="816">
                  <a:moveTo>
                    <a:pt x="412" y="63"/>
                  </a:moveTo>
                  <a:cubicBezTo>
                    <a:pt x="420" y="46"/>
                    <a:pt x="423" y="30"/>
                    <a:pt x="441" y="20"/>
                  </a:cubicBezTo>
                  <a:cubicBezTo>
                    <a:pt x="452" y="15"/>
                    <a:pt x="465" y="12"/>
                    <a:pt x="477" y="9"/>
                  </a:cubicBezTo>
                  <a:cubicBezTo>
                    <a:pt x="485" y="7"/>
                    <a:pt x="501" y="2"/>
                    <a:pt x="501" y="2"/>
                  </a:cubicBezTo>
                  <a:cubicBezTo>
                    <a:pt x="624" y="10"/>
                    <a:pt x="595" y="0"/>
                    <a:pt x="669" y="51"/>
                  </a:cubicBezTo>
                  <a:cubicBezTo>
                    <a:pt x="681" y="89"/>
                    <a:pt x="704" y="70"/>
                    <a:pt x="735" y="63"/>
                  </a:cubicBezTo>
                  <a:cubicBezTo>
                    <a:pt x="803" y="67"/>
                    <a:pt x="803" y="62"/>
                    <a:pt x="848" y="87"/>
                  </a:cubicBezTo>
                  <a:cubicBezTo>
                    <a:pt x="869" y="98"/>
                    <a:pt x="908" y="123"/>
                    <a:pt x="908" y="123"/>
                  </a:cubicBezTo>
                  <a:cubicBezTo>
                    <a:pt x="922" y="143"/>
                    <a:pt x="920" y="136"/>
                    <a:pt x="926" y="157"/>
                  </a:cubicBezTo>
                  <a:cubicBezTo>
                    <a:pt x="929" y="165"/>
                    <a:pt x="925" y="179"/>
                    <a:pt x="933" y="182"/>
                  </a:cubicBezTo>
                  <a:cubicBezTo>
                    <a:pt x="949" y="190"/>
                    <a:pt x="968" y="185"/>
                    <a:pt x="986" y="188"/>
                  </a:cubicBezTo>
                  <a:cubicBezTo>
                    <a:pt x="992" y="189"/>
                    <a:pt x="1030" y="197"/>
                    <a:pt x="1035" y="200"/>
                  </a:cubicBezTo>
                  <a:cubicBezTo>
                    <a:pt x="1054" y="211"/>
                    <a:pt x="1066" y="238"/>
                    <a:pt x="1082" y="253"/>
                  </a:cubicBezTo>
                  <a:cubicBezTo>
                    <a:pt x="1092" y="274"/>
                    <a:pt x="1106" y="291"/>
                    <a:pt x="1113" y="314"/>
                  </a:cubicBezTo>
                  <a:cubicBezTo>
                    <a:pt x="1102" y="345"/>
                    <a:pt x="1092" y="360"/>
                    <a:pt x="1064" y="379"/>
                  </a:cubicBezTo>
                  <a:cubicBezTo>
                    <a:pt x="1074" y="416"/>
                    <a:pt x="1108" y="452"/>
                    <a:pt x="1136" y="480"/>
                  </a:cubicBezTo>
                  <a:cubicBezTo>
                    <a:pt x="1152" y="566"/>
                    <a:pt x="1150" y="614"/>
                    <a:pt x="1064" y="629"/>
                  </a:cubicBezTo>
                  <a:cubicBezTo>
                    <a:pt x="1057" y="656"/>
                    <a:pt x="1062" y="670"/>
                    <a:pt x="1071" y="695"/>
                  </a:cubicBezTo>
                  <a:cubicBezTo>
                    <a:pt x="1058" y="761"/>
                    <a:pt x="1046" y="780"/>
                    <a:pt x="975" y="790"/>
                  </a:cubicBezTo>
                  <a:cubicBezTo>
                    <a:pt x="810" y="786"/>
                    <a:pt x="821" y="795"/>
                    <a:pt x="723" y="772"/>
                  </a:cubicBezTo>
                  <a:cubicBezTo>
                    <a:pt x="715" y="769"/>
                    <a:pt x="709" y="760"/>
                    <a:pt x="700" y="761"/>
                  </a:cubicBezTo>
                  <a:cubicBezTo>
                    <a:pt x="693" y="762"/>
                    <a:pt x="693" y="773"/>
                    <a:pt x="687" y="779"/>
                  </a:cubicBezTo>
                  <a:cubicBezTo>
                    <a:pt x="667" y="799"/>
                    <a:pt x="641" y="805"/>
                    <a:pt x="615" y="815"/>
                  </a:cubicBezTo>
                  <a:cubicBezTo>
                    <a:pt x="571" y="813"/>
                    <a:pt x="527" y="816"/>
                    <a:pt x="483" y="808"/>
                  </a:cubicBezTo>
                  <a:cubicBezTo>
                    <a:pt x="466" y="805"/>
                    <a:pt x="436" y="785"/>
                    <a:pt x="436" y="785"/>
                  </a:cubicBezTo>
                  <a:cubicBezTo>
                    <a:pt x="430" y="777"/>
                    <a:pt x="425" y="768"/>
                    <a:pt x="417" y="761"/>
                  </a:cubicBezTo>
                  <a:cubicBezTo>
                    <a:pt x="405" y="750"/>
                    <a:pt x="376" y="731"/>
                    <a:pt x="376" y="731"/>
                  </a:cubicBezTo>
                  <a:cubicBezTo>
                    <a:pt x="350" y="740"/>
                    <a:pt x="324" y="746"/>
                    <a:pt x="298" y="754"/>
                  </a:cubicBezTo>
                  <a:cubicBezTo>
                    <a:pt x="229" y="750"/>
                    <a:pt x="234" y="764"/>
                    <a:pt x="196" y="731"/>
                  </a:cubicBezTo>
                  <a:cubicBezTo>
                    <a:pt x="182" y="717"/>
                    <a:pt x="165" y="706"/>
                    <a:pt x="153" y="689"/>
                  </a:cubicBezTo>
                  <a:cubicBezTo>
                    <a:pt x="146" y="677"/>
                    <a:pt x="130" y="653"/>
                    <a:pt x="130" y="653"/>
                  </a:cubicBezTo>
                  <a:cubicBezTo>
                    <a:pt x="122" y="622"/>
                    <a:pt x="148" y="566"/>
                    <a:pt x="124" y="546"/>
                  </a:cubicBezTo>
                  <a:cubicBezTo>
                    <a:pt x="116" y="540"/>
                    <a:pt x="104" y="538"/>
                    <a:pt x="94" y="534"/>
                  </a:cubicBezTo>
                  <a:cubicBezTo>
                    <a:pt x="63" y="518"/>
                    <a:pt x="64" y="516"/>
                    <a:pt x="41" y="492"/>
                  </a:cubicBezTo>
                  <a:cubicBezTo>
                    <a:pt x="32" y="469"/>
                    <a:pt x="20" y="408"/>
                    <a:pt x="11" y="384"/>
                  </a:cubicBezTo>
                  <a:cubicBezTo>
                    <a:pt x="15" y="333"/>
                    <a:pt x="0" y="332"/>
                    <a:pt x="52" y="319"/>
                  </a:cubicBezTo>
                  <a:cubicBezTo>
                    <a:pt x="102" y="293"/>
                    <a:pt x="79" y="266"/>
                    <a:pt x="70" y="218"/>
                  </a:cubicBezTo>
                  <a:cubicBezTo>
                    <a:pt x="78" y="110"/>
                    <a:pt x="65" y="133"/>
                    <a:pt x="153" y="105"/>
                  </a:cubicBezTo>
                  <a:cubicBezTo>
                    <a:pt x="186" y="57"/>
                    <a:pt x="219" y="39"/>
                    <a:pt x="267" y="15"/>
                  </a:cubicBezTo>
                  <a:cubicBezTo>
                    <a:pt x="310" y="25"/>
                    <a:pt x="352" y="33"/>
                    <a:pt x="394" y="45"/>
                  </a:cubicBezTo>
                  <a:cubicBezTo>
                    <a:pt x="414" y="57"/>
                    <a:pt x="412" y="49"/>
                    <a:pt x="412" y="63"/>
                  </a:cubicBezTo>
                  <a:close/>
                </a:path>
              </a:pathLst>
            </a:custGeom>
            <a:solidFill>
              <a:srgbClr val="969696"/>
            </a:solidFill>
            <a:ln w="12700">
              <a:solidFill>
                <a:schemeClr val="tx1"/>
              </a:solidFill>
              <a:round/>
              <a:headEnd/>
              <a:tailEnd/>
            </a:ln>
          </p:spPr>
          <p:txBody>
            <a:bodyPr anchor="ctr">
              <a:spAutoFit/>
            </a:bodyPr>
            <a:lstStyle/>
            <a:p>
              <a:endParaRPr lang="zh-CN" altLang="en-US"/>
            </a:p>
          </p:txBody>
        </p:sp>
        <p:sp>
          <p:nvSpPr>
            <p:cNvPr id="58453" name="Text Box 29"/>
            <p:cNvSpPr txBox="1">
              <a:spLocks noChangeArrowheads="1"/>
            </p:cNvSpPr>
            <p:nvPr/>
          </p:nvSpPr>
          <p:spPr bwMode="auto">
            <a:xfrm>
              <a:off x="3120" y="1248"/>
              <a:ext cx="452" cy="173"/>
            </a:xfrm>
            <a:prstGeom prst="rect">
              <a:avLst/>
            </a:prstGeom>
            <a:solidFill>
              <a:srgbClr val="969696"/>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Internet</a:t>
              </a:r>
            </a:p>
          </p:txBody>
        </p:sp>
      </p:grpSp>
      <p:sp>
        <p:nvSpPr>
          <p:cNvPr id="58376" name="Text Box 30"/>
          <p:cNvSpPr txBox="1">
            <a:spLocks noChangeArrowheads="1"/>
          </p:cNvSpPr>
          <p:nvPr/>
        </p:nvSpPr>
        <p:spPr bwMode="auto">
          <a:xfrm>
            <a:off x="2489200" y="3835400"/>
            <a:ext cx="6794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10.0.0.3</a:t>
            </a:r>
          </a:p>
        </p:txBody>
      </p:sp>
      <p:sp>
        <p:nvSpPr>
          <p:cNvPr id="58377" name="Text Box 31"/>
          <p:cNvSpPr txBox="1">
            <a:spLocks noChangeArrowheads="1"/>
          </p:cNvSpPr>
          <p:nvPr/>
        </p:nvSpPr>
        <p:spPr bwMode="auto">
          <a:xfrm>
            <a:off x="4837113" y="3813175"/>
            <a:ext cx="9080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24.1.70.210</a:t>
            </a:r>
          </a:p>
        </p:txBody>
      </p:sp>
      <p:sp>
        <p:nvSpPr>
          <p:cNvPr id="58378" name="Text Box 32"/>
          <p:cNvSpPr txBox="1">
            <a:spLocks noChangeArrowheads="1"/>
          </p:cNvSpPr>
          <p:nvPr/>
        </p:nvSpPr>
        <p:spPr bwMode="auto">
          <a:xfrm>
            <a:off x="9034463" y="3652839"/>
            <a:ext cx="984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128.32.32.68</a:t>
            </a:r>
          </a:p>
        </p:txBody>
      </p:sp>
      <p:sp>
        <p:nvSpPr>
          <p:cNvPr id="1897505" name="Line 33"/>
          <p:cNvSpPr>
            <a:spLocks noChangeShapeType="1"/>
          </p:cNvSpPr>
          <p:nvPr/>
        </p:nvSpPr>
        <p:spPr bwMode="auto">
          <a:xfrm>
            <a:off x="7747000" y="3378200"/>
            <a:ext cx="763588" cy="0"/>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897506" name="Line 34"/>
          <p:cNvSpPr>
            <a:spLocks noChangeShapeType="1"/>
          </p:cNvSpPr>
          <p:nvPr/>
        </p:nvSpPr>
        <p:spPr bwMode="auto">
          <a:xfrm flipH="1">
            <a:off x="5232400" y="3683000"/>
            <a:ext cx="685800" cy="0"/>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381" name="Text Box 35"/>
          <p:cNvSpPr txBox="1">
            <a:spLocks noChangeArrowheads="1"/>
          </p:cNvSpPr>
          <p:nvPr/>
        </p:nvSpPr>
        <p:spPr bwMode="auto">
          <a:xfrm>
            <a:off x="4587876" y="3235326"/>
            <a:ext cx="593725" cy="593725"/>
          </a:xfrm>
          <a:prstGeom prst="rect">
            <a:avLst/>
          </a:prstGeom>
          <a:solidFill>
            <a:srgbClr val="FE7E93"/>
          </a:solidFill>
          <a:ln w="1270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NAT</a:t>
            </a:r>
          </a:p>
          <a:p>
            <a:pPr algn="ctr"/>
            <a:r>
              <a:rPr lang="en-US" altLang="zh-CN" sz="1200" b="1">
                <a:solidFill>
                  <a:schemeClr val="tx1"/>
                </a:solidFill>
              </a:rPr>
              <a:t>Gateway</a:t>
            </a:r>
          </a:p>
        </p:txBody>
      </p:sp>
      <p:grpSp>
        <p:nvGrpSpPr>
          <p:cNvPr id="5" name="Group 36"/>
          <p:cNvGrpSpPr>
            <a:grpSpLocks/>
          </p:cNvGrpSpPr>
          <p:nvPr/>
        </p:nvGrpSpPr>
        <p:grpSpPr bwMode="auto">
          <a:xfrm>
            <a:off x="5156200" y="1701800"/>
            <a:ext cx="4800600" cy="1938338"/>
            <a:chOff x="2304" y="816"/>
            <a:chExt cx="3024" cy="1221"/>
          </a:xfrm>
        </p:grpSpPr>
        <p:grpSp>
          <p:nvGrpSpPr>
            <p:cNvPr id="58437" name="Group 37"/>
            <p:cNvGrpSpPr>
              <a:grpSpLocks/>
            </p:cNvGrpSpPr>
            <p:nvPr/>
          </p:nvGrpSpPr>
          <p:grpSpPr bwMode="auto">
            <a:xfrm>
              <a:off x="2784" y="864"/>
              <a:ext cx="918" cy="611"/>
              <a:chOff x="384" y="1632"/>
              <a:chExt cx="918" cy="611"/>
            </a:xfrm>
          </p:grpSpPr>
          <p:sp>
            <p:nvSpPr>
              <p:cNvPr id="58443" name="Text Box 38"/>
              <p:cNvSpPr txBox="1">
                <a:spLocks noChangeArrowheads="1"/>
              </p:cNvSpPr>
              <p:nvPr/>
            </p:nvSpPr>
            <p:spPr bwMode="auto">
              <a:xfrm>
                <a:off x="432" y="1632"/>
                <a:ext cx="217"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tx1"/>
                    </a:solidFill>
                    <a:latin typeface="Courier New" panose="02070309020205020404" pitchFamily="49" charset="0"/>
                  </a:rPr>
                  <a:t>PROTO</a:t>
                </a:r>
              </a:p>
              <a:p>
                <a:r>
                  <a:rPr lang="en-US" altLang="zh-CN" sz="900" b="1">
                    <a:solidFill>
                      <a:schemeClr val="tx1"/>
                    </a:solidFill>
                    <a:latin typeface="Courier New" panose="02070309020205020404" pitchFamily="49" charset="0"/>
                  </a:rPr>
                  <a:t>SADDR</a:t>
                </a:r>
              </a:p>
              <a:p>
                <a:r>
                  <a:rPr lang="en-US" altLang="zh-CN" sz="900" b="1">
                    <a:solidFill>
                      <a:schemeClr val="tx1"/>
                    </a:solidFill>
                    <a:latin typeface="Courier New" panose="02070309020205020404" pitchFamily="49" charset="0"/>
                  </a:rPr>
                  <a:t>DADDR</a:t>
                </a:r>
              </a:p>
              <a:p>
                <a:r>
                  <a:rPr lang="en-US" altLang="zh-CN" sz="900" b="1">
                    <a:solidFill>
                      <a:schemeClr val="tx1"/>
                    </a:solidFill>
                    <a:latin typeface="Courier New" panose="02070309020205020404" pitchFamily="49" charset="0"/>
                  </a:rPr>
                  <a:t>SPORT</a:t>
                </a:r>
              </a:p>
              <a:p>
                <a:r>
                  <a:rPr lang="en-US" altLang="zh-CN" sz="900" b="1">
                    <a:solidFill>
                      <a:schemeClr val="tx1"/>
                    </a:solidFill>
                    <a:latin typeface="Courier New" panose="02070309020205020404" pitchFamily="49" charset="0"/>
                  </a:rPr>
                  <a:t>DPORT</a:t>
                </a:r>
              </a:p>
              <a:p>
                <a:r>
                  <a:rPr lang="en-US" altLang="zh-CN" sz="900" b="1">
                    <a:solidFill>
                      <a:schemeClr val="tx1"/>
                    </a:solidFill>
                    <a:latin typeface="Courier New" panose="02070309020205020404" pitchFamily="49" charset="0"/>
                  </a:rPr>
                  <a:t>FLAGS</a:t>
                </a:r>
              </a:p>
              <a:p>
                <a:r>
                  <a:rPr lang="en-US" altLang="zh-CN" sz="900" b="1">
                    <a:solidFill>
                      <a:schemeClr val="tx1"/>
                    </a:solidFill>
                    <a:latin typeface="Courier New" panose="02070309020205020404" pitchFamily="49" charset="0"/>
                  </a:rPr>
                  <a:t>CKSUM</a:t>
                </a:r>
              </a:p>
            </p:txBody>
          </p:sp>
          <p:sp>
            <p:nvSpPr>
              <p:cNvPr id="58444" name="Text Box 39"/>
              <p:cNvSpPr txBox="1">
                <a:spLocks noChangeArrowheads="1"/>
              </p:cNvSpPr>
              <p:nvPr/>
            </p:nvSpPr>
            <p:spPr bwMode="auto">
              <a:xfrm>
                <a:off x="720" y="1632"/>
                <a:ext cx="521"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rgbClr val="0000FF"/>
                    </a:solidFill>
                    <a:latin typeface="Courier New" panose="02070309020205020404" pitchFamily="49" charset="0"/>
                  </a:rPr>
                  <a:t>TCP</a:t>
                </a:r>
              </a:p>
              <a:p>
                <a:r>
                  <a:rPr lang="en-US" altLang="zh-CN" sz="900" b="1">
                    <a:solidFill>
                      <a:schemeClr val="hlink"/>
                    </a:solidFill>
                    <a:latin typeface="Courier New" panose="02070309020205020404" pitchFamily="49" charset="0"/>
                  </a:rPr>
                  <a:t>24.1.70.210</a:t>
                </a:r>
              </a:p>
              <a:p>
                <a:r>
                  <a:rPr lang="en-US" altLang="zh-CN" sz="900" b="1">
                    <a:solidFill>
                      <a:srgbClr val="0000FF"/>
                    </a:solidFill>
                    <a:latin typeface="Courier New" panose="02070309020205020404" pitchFamily="49" charset="0"/>
                  </a:rPr>
                  <a:t>128.32.32.68</a:t>
                </a:r>
              </a:p>
              <a:p>
                <a:r>
                  <a:rPr lang="en-US" altLang="zh-CN" sz="900" b="1">
                    <a:solidFill>
                      <a:schemeClr val="hlink"/>
                    </a:solidFill>
                    <a:latin typeface="Courier New" panose="02070309020205020404" pitchFamily="49" charset="0"/>
                  </a:rPr>
                  <a:t>40960</a:t>
                </a:r>
              </a:p>
              <a:p>
                <a:r>
                  <a:rPr lang="en-US" altLang="zh-CN" sz="900" b="1">
                    <a:solidFill>
                      <a:srgbClr val="0000FF"/>
                    </a:solidFill>
                    <a:latin typeface="Courier New" panose="02070309020205020404" pitchFamily="49" charset="0"/>
                  </a:rPr>
                  <a:t>80</a:t>
                </a:r>
              </a:p>
              <a:p>
                <a:r>
                  <a:rPr lang="en-US" altLang="zh-CN" sz="900" b="1">
                    <a:solidFill>
                      <a:srgbClr val="0000FF"/>
                    </a:solidFill>
                    <a:latin typeface="Courier New" panose="02070309020205020404" pitchFamily="49" charset="0"/>
                  </a:rPr>
                  <a:t>SYN</a:t>
                </a:r>
              </a:p>
              <a:p>
                <a:r>
                  <a:rPr lang="en-US" altLang="zh-CN" sz="900" b="1">
                    <a:solidFill>
                      <a:schemeClr val="hlink"/>
                    </a:solidFill>
                    <a:latin typeface="Courier New" panose="02070309020205020404" pitchFamily="49" charset="0"/>
                  </a:rPr>
                  <a:t>0x2436</a:t>
                </a:r>
              </a:p>
            </p:txBody>
          </p:sp>
          <p:sp>
            <p:nvSpPr>
              <p:cNvPr id="58445" name="Rectangle 40"/>
              <p:cNvSpPr>
                <a:spLocks noChangeArrowheads="1"/>
              </p:cNvSpPr>
              <p:nvPr/>
            </p:nvSpPr>
            <p:spPr bwMode="auto">
              <a:xfrm>
                <a:off x="384" y="1779"/>
                <a:ext cx="912" cy="33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46" name="Line 41"/>
              <p:cNvSpPr>
                <a:spLocks noChangeShapeType="1"/>
              </p:cNvSpPr>
              <p:nvPr/>
            </p:nvSpPr>
            <p:spPr bwMode="auto">
              <a:xfrm>
                <a:off x="390" y="1717"/>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47" name="Line 42"/>
              <p:cNvSpPr>
                <a:spLocks noChangeShapeType="1"/>
              </p:cNvSpPr>
              <p:nvPr/>
            </p:nvSpPr>
            <p:spPr bwMode="auto">
              <a:xfrm>
                <a:off x="384" y="1803"/>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48" name="Line 43"/>
              <p:cNvSpPr>
                <a:spLocks noChangeShapeType="1"/>
              </p:cNvSpPr>
              <p:nvPr/>
            </p:nvSpPr>
            <p:spPr bwMode="auto">
              <a:xfrm>
                <a:off x="384" y="189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49" name="Line 44"/>
              <p:cNvSpPr>
                <a:spLocks noChangeShapeType="1"/>
              </p:cNvSpPr>
              <p:nvPr/>
            </p:nvSpPr>
            <p:spPr bwMode="auto">
              <a:xfrm>
                <a:off x="384" y="1977"/>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50" name="Line 45"/>
              <p:cNvSpPr>
                <a:spLocks noChangeShapeType="1"/>
              </p:cNvSpPr>
              <p:nvPr/>
            </p:nvSpPr>
            <p:spPr bwMode="auto">
              <a:xfrm>
                <a:off x="384" y="2064"/>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51" name="Line 46"/>
              <p:cNvSpPr>
                <a:spLocks noChangeShapeType="1"/>
              </p:cNvSpPr>
              <p:nvPr/>
            </p:nvSpPr>
            <p:spPr bwMode="auto">
              <a:xfrm>
                <a:off x="387" y="215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58438" name="Rectangle 47"/>
            <p:cNvSpPr>
              <a:spLocks noChangeArrowheads="1"/>
            </p:cNvSpPr>
            <p:nvPr/>
          </p:nvSpPr>
          <p:spPr bwMode="auto">
            <a:xfrm>
              <a:off x="2343" y="1707"/>
              <a:ext cx="116" cy="330"/>
            </a:xfrm>
            <a:prstGeom prst="rect">
              <a:avLst/>
            </a:prstGeom>
            <a:solidFill>
              <a:srgbClr val="0000FF"/>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39" name="Line 48"/>
            <p:cNvSpPr>
              <a:spLocks noChangeShapeType="1"/>
            </p:cNvSpPr>
            <p:nvPr/>
          </p:nvSpPr>
          <p:spPr bwMode="auto">
            <a:xfrm>
              <a:off x="2497" y="1872"/>
              <a:ext cx="336" cy="0"/>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cxnSp>
          <p:nvCxnSpPr>
            <p:cNvPr id="58440" name="AutoShape 49"/>
            <p:cNvCxnSpPr>
              <a:cxnSpLocks noChangeShapeType="1"/>
              <a:stCxn id="58438" idx="0"/>
              <a:endCxn id="58445" idx="2"/>
            </p:cNvCxnSpPr>
            <p:nvPr/>
          </p:nvCxnSpPr>
          <p:spPr bwMode="auto">
            <a:xfrm rot="5400000" flipH="1" flipV="1">
              <a:off x="2638" y="1105"/>
              <a:ext cx="366" cy="839"/>
            </a:xfrm>
            <a:prstGeom prst="curvedConnector3">
              <a:avLst>
                <a:gd name="adj1" fmla="val 50000"/>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8441" name="Oval 50"/>
            <p:cNvSpPr>
              <a:spLocks noChangeArrowheads="1"/>
            </p:cNvSpPr>
            <p:nvPr/>
          </p:nvSpPr>
          <p:spPr bwMode="auto">
            <a:xfrm>
              <a:off x="2304" y="1584"/>
              <a:ext cx="144" cy="198"/>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400" b="1">
                  <a:solidFill>
                    <a:schemeClr val="tx1"/>
                  </a:solidFill>
                </a:rPr>
                <a:t>2</a:t>
              </a:r>
              <a:endParaRPr lang="en-US" altLang="zh-CN" sz="1800" b="1">
                <a:solidFill>
                  <a:schemeClr val="tx1"/>
                </a:solidFill>
              </a:endParaRPr>
            </a:p>
          </p:txBody>
        </p:sp>
        <p:sp>
          <p:nvSpPr>
            <p:cNvPr id="58442" name="Text Box 51"/>
            <p:cNvSpPr txBox="1">
              <a:spLocks noChangeArrowheads="1"/>
            </p:cNvSpPr>
            <p:nvPr/>
          </p:nvSpPr>
          <p:spPr bwMode="auto">
            <a:xfrm>
              <a:off x="3792" y="816"/>
              <a:ext cx="153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2. NAT gateway </a:t>
              </a:r>
              <a:r>
                <a:rPr lang="zh-CN" altLang="en-US" sz="1400">
                  <a:solidFill>
                    <a:schemeClr val="tx1"/>
                  </a:solidFill>
                </a:rPr>
                <a:t>发现 </a:t>
              </a:r>
              <a:r>
                <a:rPr lang="en-US" altLang="zh-CN" sz="1400">
                  <a:solidFill>
                    <a:schemeClr val="tx1"/>
                  </a:solidFill>
                </a:rPr>
                <a:t>SYN </a:t>
              </a:r>
              <a:r>
                <a:rPr lang="zh-CN" altLang="en-US" sz="1400">
                  <a:solidFill>
                    <a:schemeClr val="tx1"/>
                  </a:solidFill>
                </a:rPr>
                <a:t>标志置位</a:t>
              </a:r>
              <a:r>
                <a:rPr lang="en-US" altLang="zh-CN" sz="1400">
                  <a:solidFill>
                    <a:schemeClr val="tx1"/>
                  </a:solidFill>
                </a:rPr>
                <a:t>,</a:t>
              </a:r>
              <a:r>
                <a:rPr lang="zh-CN" altLang="en-US" sz="1400">
                  <a:solidFill>
                    <a:schemeClr val="tx1"/>
                  </a:solidFill>
                </a:rPr>
                <a:t>往</a:t>
              </a:r>
              <a:r>
                <a:rPr lang="en-US" altLang="zh-CN" sz="1400">
                  <a:solidFill>
                    <a:schemeClr val="tx1"/>
                  </a:solidFill>
                </a:rPr>
                <a:t>NAT</a:t>
              </a:r>
              <a:r>
                <a:rPr lang="zh-CN" altLang="en-US" sz="1400">
                  <a:solidFill>
                    <a:schemeClr val="tx1"/>
                  </a:solidFill>
                </a:rPr>
                <a:t>地址转换表中增加一个条目</a:t>
              </a:r>
              <a:r>
                <a:rPr lang="en-US" altLang="zh-CN" sz="1400">
                  <a:solidFill>
                    <a:schemeClr val="tx1"/>
                  </a:solidFill>
                </a:rPr>
                <a:t>,</a:t>
              </a:r>
              <a:r>
                <a:rPr lang="zh-CN" altLang="en-US" sz="1400">
                  <a:solidFill>
                    <a:schemeClr val="tx1"/>
                  </a:solidFill>
                </a:rPr>
                <a:t>然后利用网关的外部</a:t>
              </a:r>
              <a:r>
                <a:rPr lang="en-US" altLang="zh-CN" sz="1400">
                  <a:solidFill>
                    <a:schemeClr val="tx1"/>
                  </a:solidFill>
                </a:rPr>
                <a:t>IP</a:t>
              </a:r>
              <a:r>
                <a:rPr lang="zh-CN" altLang="en-US" sz="1400">
                  <a:solidFill>
                    <a:schemeClr val="tx1"/>
                  </a:solidFill>
                </a:rPr>
                <a:t>地址 </a:t>
              </a:r>
              <a:r>
                <a:rPr lang="en-US" altLang="zh-CN" sz="1400">
                  <a:solidFill>
                    <a:schemeClr val="tx1"/>
                  </a:solidFill>
                </a:rPr>
                <a:t>24.1.70.210</a:t>
              </a:r>
              <a:r>
                <a:rPr lang="zh-CN" altLang="en-US" sz="1400">
                  <a:solidFill>
                    <a:schemeClr val="tx1"/>
                  </a:solidFill>
                </a:rPr>
                <a:t>改写报文，更新报文的校验和</a:t>
              </a:r>
              <a:r>
                <a:rPr lang="en-US" altLang="zh-CN" sz="1400">
                  <a:solidFill>
                    <a:schemeClr val="tx1"/>
                  </a:solidFill>
                </a:rPr>
                <a:t>.</a:t>
              </a:r>
              <a:r>
                <a:rPr lang="en-US" altLang="zh-CN" sz="1200" b="1">
                  <a:solidFill>
                    <a:schemeClr val="tx1"/>
                  </a:solidFill>
                </a:rPr>
                <a:t> </a:t>
              </a:r>
            </a:p>
          </p:txBody>
        </p:sp>
      </p:grpSp>
      <p:sp>
        <p:nvSpPr>
          <p:cNvPr id="58383" name="Text Box 52"/>
          <p:cNvSpPr txBox="1">
            <a:spLocks noChangeArrowheads="1"/>
          </p:cNvSpPr>
          <p:nvPr/>
        </p:nvSpPr>
        <p:spPr bwMode="auto">
          <a:xfrm>
            <a:off x="4217988" y="3813175"/>
            <a:ext cx="6794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10.0.0.1</a:t>
            </a:r>
          </a:p>
        </p:txBody>
      </p:sp>
      <p:grpSp>
        <p:nvGrpSpPr>
          <p:cNvPr id="7" name="Group 53"/>
          <p:cNvGrpSpPr>
            <a:grpSpLocks/>
          </p:cNvGrpSpPr>
          <p:nvPr/>
        </p:nvGrpSpPr>
        <p:grpSpPr bwMode="auto">
          <a:xfrm>
            <a:off x="7670800" y="3421063"/>
            <a:ext cx="2133600" cy="2928938"/>
            <a:chOff x="3888" y="1899"/>
            <a:chExt cx="1344" cy="1845"/>
          </a:xfrm>
        </p:grpSpPr>
        <p:grpSp>
          <p:nvGrpSpPr>
            <p:cNvPr id="58422" name="Group 54"/>
            <p:cNvGrpSpPr>
              <a:grpSpLocks/>
            </p:cNvGrpSpPr>
            <p:nvPr/>
          </p:nvGrpSpPr>
          <p:grpSpPr bwMode="auto">
            <a:xfrm>
              <a:off x="3888" y="2544"/>
              <a:ext cx="918" cy="611"/>
              <a:chOff x="384" y="1632"/>
              <a:chExt cx="918" cy="611"/>
            </a:xfrm>
          </p:grpSpPr>
          <p:sp>
            <p:nvSpPr>
              <p:cNvPr id="58428" name="Text Box 55"/>
              <p:cNvSpPr txBox="1">
                <a:spLocks noChangeArrowheads="1"/>
              </p:cNvSpPr>
              <p:nvPr/>
            </p:nvSpPr>
            <p:spPr bwMode="auto">
              <a:xfrm>
                <a:off x="432" y="1632"/>
                <a:ext cx="217"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tx1"/>
                    </a:solidFill>
                    <a:latin typeface="Courier New" panose="02070309020205020404" pitchFamily="49" charset="0"/>
                  </a:rPr>
                  <a:t>PROTO</a:t>
                </a:r>
              </a:p>
              <a:p>
                <a:r>
                  <a:rPr lang="en-US" altLang="zh-CN" sz="900" b="1">
                    <a:solidFill>
                      <a:schemeClr val="tx1"/>
                    </a:solidFill>
                    <a:latin typeface="Courier New" panose="02070309020205020404" pitchFamily="49" charset="0"/>
                  </a:rPr>
                  <a:t>SADDR</a:t>
                </a:r>
              </a:p>
              <a:p>
                <a:r>
                  <a:rPr lang="en-US" altLang="zh-CN" sz="900" b="1">
                    <a:solidFill>
                      <a:schemeClr val="tx1"/>
                    </a:solidFill>
                    <a:latin typeface="Courier New" panose="02070309020205020404" pitchFamily="49" charset="0"/>
                  </a:rPr>
                  <a:t>DADDR</a:t>
                </a:r>
              </a:p>
              <a:p>
                <a:r>
                  <a:rPr lang="en-US" altLang="zh-CN" sz="900" b="1">
                    <a:solidFill>
                      <a:schemeClr val="tx1"/>
                    </a:solidFill>
                    <a:latin typeface="Courier New" panose="02070309020205020404" pitchFamily="49" charset="0"/>
                  </a:rPr>
                  <a:t>SPORT</a:t>
                </a:r>
              </a:p>
              <a:p>
                <a:r>
                  <a:rPr lang="en-US" altLang="zh-CN" sz="900" b="1">
                    <a:solidFill>
                      <a:schemeClr val="tx1"/>
                    </a:solidFill>
                    <a:latin typeface="Courier New" panose="02070309020205020404" pitchFamily="49" charset="0"/>
                  </a:rPr>
                  <a:t>DPORT</a:t>
                </a:r>
              </a:p>
              <a:p>
                <a:r>
                  <a:rPr lang="en-US" altLang="zh-CN" sz="900" b="1">
                    <a:solidFill>
                      <a:schemeClr val="tx1"/>
                    </a:solidFill>
                    <a:latin typeface="Courier New" panose="02070309020205020404" pitchFamily="49" charset="0"/>
                  </a:rPr>
                  <a:t>FLAGS</a:t>
                </a:r>
              </a:p>
              <a:p>
                <a:r>
                  <a:rPr lang="en-US" altLang="zh-CN" sz="900" b="1">
                    <a:solidFill>
                      <a:schemeClr val="tx1"/>
                    </a:solidFill>
                    <a:latin typeface="Courier New" panose="02070309020205020404" pitchFamily="49" charset="0"/>
                  </a:rPr>
                  <a:t>CKSUM</a:t>
                </a:r>
              </a:p>
            </p:txBody>
          </p:sp>
          <p:sp>
            <p:nvSpPr>
              <p:cNvPr id="58429" name="Text Box 56"/>
              <p:cNvSpPr txBox="1">
                <a:spLocks noChangeArrowheads="1"/>
              </p:cNvSpPr>
              <p:nvPr/>
            </p:nvSpPr>
            <p:spPr bwMode="auto">
              <a:xfrm>
                <a:off x="720" y="1632"/>
                <a:ext cx="564"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accent2"/>
                    </a:solidFill>
                    <a:latin typeface="Courier New" panose="02070309020205020404" pitchFamily="49" charset="0"/>
                  </a:rPr>
                  <a:t>TCP</a:t>
                </a:r>
              </a:p>
              <a:p>
                <a:r>
                  <a:rPr lang="en-US" altLang="zh-CN" sz="900" b="1">
                    <a:solidFill>
                      <a:schemeClr val="accent2"/>
                    </a:solidFill>
                    <a:latin typeface="Courier New" panose="02070309020205020404" pitchFamily="49" charset="0"/>
                  </a:rPr>
                  <a:t>128.32.32.68 </a:t>
                </a:r>
              </a:p>
              <a:p>
                <a:r>
                  <a:rPr lang="en-US" altLang="zh-CN" sz="900" b="1">
                    <a:solidFill>
                      <a:schemeClr val="accent2"/>
                    </a:solidFill>
                    <a:latin typeface="Courier New" panose="02070309020205020404" pitchFamily="49" charset="0"/>
                  </a:rPr>
                  <a:t>24.1.70.210</a:t>
                </a:r>
              </a:p>
              <a:p>
                <a:r>
                  <a:rPr lang="en-US" altLang="zh-CN" sz="900" b="1">
                    <a:solidFill>
                      <a:schemeClr val="accent2"/>
                    </a:solidFill>
                    <a:latin typeface="Courier New" panose="02070309020205020404" pitchFamily="49" charset="0"/>
                  </a:rPr>
                  <a:t>80</a:t>
                </a:r>
              </a:p>
              <a:p>
                <a:r>
                  <a:rPr lang="en-US" altLang="zh-CN" sz="900" b="1">
                    <a:solidFill>
                      <a:schemeClr val="accent2"/>
                    </a:solidFill>
                    <a:latin typeface="Courier New" panose="02070309020205020404" pitchFamily="49" charset="0"/>
                  </a:rPr>
                  <a:t>40960</a:t>
                </a:r>
              </a:p>
              <a:p>
                <a:r>
                  <a:rPr lang="en-US" altLang="zh-CN" sz="900" b="1">
                    <a:solidFill>
                      <a:schemeClr val="accent2"/>
                    </a:solidFill>
                    <a:latin typeface="Courier New" panose="02070309020205020404" pitchFamily="49" charset="0"/>
                  </a:rPr>
                  <a:t>SYN, ACK</a:t>
                </a:r>
              </a:p>
              <a:p>
                <a:r>
                  <a:rPr lang="en-US" altLang="zh-CN" sz="900" b="1">
                    <a:solidFill>
                      <a:schemeClr val="accent2"/>
                    </a:solidFill>
                    <a:latin typeface="Courier New" panose="02070309020205020404" pitchFamily="49" charset="0"/>
                  </a:rPr>
                  <a:t>0x8041</a:t>
                </a:r>
              </a:p>
            </p:txBody>
          </p:sp>
          <p:sp>
            <p:nvSpPr>
              <p:cNvPr id="58430" name="Rectangle 57"/>
              <p:cNvSpPr>
                <a:spLocks noChangeArrowheads="1"/>
              </p:cNvSpPr>
              <p:nvPr/>
            </p:nvSpPr>
            <p:spPr bwMode="auto">
              <a:xfrm>
                <a:off x="384" y="1779"/>
                <a:ext cx="912" cy="33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31" name="Line 58"/>
              <p:cNvSpPr>
                <a:spLocks noChangeShapeType="1"/>
              </p:cNvSpPr>
              <p:nvPr/>
            </p:nvSpPr>
            <p:spPr bwMode="auto">
              <a:xfrm>
                <a:off x="390" y="1717"/>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32" name="Line 59"/>
              <p:cNvSpPr>
                <a:spLocks noChangeShapeType="1"/>
              </p:cNvSpPr>
              <p:nvPr/>
            </p:nvSpPr>
            <p:spPr bwMode="auto">
              <a:xfrm>
                <a:off x="384" y="1803"/>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33" name="Line 60"/>
              <p:cNvSpPr>
                <a:spLocks noChangeShapeType="1"/>
              </p:cNvSpPr>
              <p:nvPr/>
            </p:nvSpPr>
            <p:spPr bwMode="auto">
              <a:xfrm>
                <a:off x="384" y="189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34" name="Line 61"/>
              <p:cNvSpPr>
                <a:spLocks noChangeShapeType="1"/>
              </p:cNvSpPr>
              <p:nvPr/>
            </p:nvSpPr>
            <p:spPr bwMode="auto">
              <a:xfrm>
                <a:off x="384" y="1977"/>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35" name="Line 62"/>
              <p:cNvSpPr>
                <a:spLocks noChangeShapeType="1"/>
              </p:cNvSpPr>
              <p:nvPr/>
            </p:nvSpPr>
            <p:spPr bwMode="auto">
              <a:xfrm>
                <a:off x="384" y="2064"/>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36" name="Line 63"/>
              <p:cNvSpPr>
                <a:spLocks noChangeShapeType="1"/>
              </p:cNvSpPr>
              <p:nvPr/>
            </p:nvSpPr>
            <p:spPr bwMode="auto">
              <a:xfrm>
                <a:off x="387" y="215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58423" name="Rectangle 64"/>
            <p:cNvSpPr>
              <a:spLocks noChangeArrowheads="1"/>
            </p:cNvSpPr>
            <p:nvPr/>
          </p:nvSpPr>
          <p:spPr bwMode="auto">
            <a:xfrm>
              <a:off x="4310" y="1899"/>
              <a:ext cx="116" cy="330"/>
            </a:xfrm>
            <a:prstGeom prst="rect">
              <a:avLst/>
            </a:prstGeom>
            <a:solidFill>
              <a:schemeClr val="accent2"/>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cxnSp>
          <p:nvCxnSpPr>
            <p:cNvPr id="58424" name="AutoShape 65"/>
            <p:cNvCxnSpPr>
              <a:cxnSpLocks noChangeShapeType="1"/>
              <a:stCxn id="58423" idx="2"/>
              <a:endCxn id="58430" idx="0"/>
            </p:cNvCxnSpPr>
            <p:nvPr/>
          </p:nvCxnSpPr>
          <p:spPr bwMode="auto">
            <a:xfrm rot="5400000">
              <a:off x="4125" y="2448"/>
              <a:ext cx="462" cy="24"/>
            </a:xfrm>
            <a:prstGeom prst="curvedConnector3">
              <a:avLst>
                <a:gd name="adj1" fmla="val 50000"/>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8425" name="Line 66"/>
            <p:cNvSpPr>
              <a:spLocks noChangeShapeType="1"/>
            </p:cNvSpPr>
            <p:nvPr/>
          </p:nvSpPr>
          <p:spPr bwMode="auto">
            <a:xfrm flipH="1">
              <a:off x="3936" y="2064"/>
              <a:ext cx="336" cy="0"/>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26" name="Oval 67"/>
            <p:cNvSpPr>
              <a:spLocks noChangeArrowheads="1"/>
            </p:cNvSpPr>
            <p:nvPr/>
          </p:nvSpPr>
          <p:spPr bwMode="auto">
            <a:xfrm>
              <a:off x="4176" y="2112"/>
              <a:ext cx="144" cy="198"/>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400" b="1">
                  <a:solidFill>
                    <a:schemeClr val="tx1"/>
                  </a:solidFill>
                </a:rPr>
                <a:t>3</a:t>
              </a:r>
              <a:endParaRPr lang="en-US" altLang="zh-CN" sz="1800" b="1">
                <a:solidFill>
                  <a:schemeClr val="tx1"/>
                </a:solidFill>
              </a:endParaRPr>
            </a:p>
          </p:txBody>
        </p:sp>
        <p:sp>
          <p:nvSpPr>
            <p:cNvPr id="58427" name="Text Box 68"/>
            <p:cNvSpPr txBox="1">
              <a:spLocks noChangeArrowheads="1"/>
            </p:cNvSpPr>
            <p:nvPr/>
          </p:nvSpPr>
          <p:spPr bwMode="auto">
            <a:xfrm>
              <a:off x="3888" y="3216"/>
              <a:ext cx="1344"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600">
                  <a:solidFill>
                    <a:schemeClr val="tx1"/>
                  </a:solidFill>
                </a:rPr>
                <a:t>3. </a:t>
              </a:r>
              <a:r>
                <a:rPr lang="zh-CN" altLang="en-US" sz="1600">
                  <a:solidFill>
                    <a:schemeClr val="tx1"/>
                  </a:solidFill>
                </a:rPr>
                <a:t>服务器响应</a:t>
              </a:r>
              <a:r>
                <a:rPr lang="en-US" altLang="zh-CN" sz="1600">
                  <a:solidFill>
                    <a:schemeClr val="tx1"/>
                  </a:solidFill>
                </a:rPr>
                <a:t>SYN ACK</a:t>
              </a:r>
              <a:r>
                <a:rPr lang="zh-CN" altLang="en-US" sz="1600">
                  <a:solidFill>
                    <a:schemeClr val="tx1"/>
                  </a:solidFill>
                </a:rPr>
                <a:t>报文，该报文被发送到</a:t>
              </a:r>
              <a:r>
                <a:rPr lang="en-US" altLang="zh-CN" sz="1600">
                  <a:solidFill>
                    <a:schemeClr val="tx1"/>
                  </a:solidFill>
                </a:rPr>
                <a:t>NAT </a:t>
              </a:r>
              <a:r>
                <a:rPr lang="zh-CN" altLang="en-US" sz="1600">
                  <a:solidFill>
                    <a:schemeClr val="tx1"/>
                  </a:solidFill>
                </a:rPr>
                <a:t>网关的</a:t>
              </a:r>
              <a:r>
                <a:rPr lang="en-US" altLang="zh-CN" sz="1600">
                  <a:solidFill>
                    <a:schemeClr val="tx1"/>
                  </a:solidFill>
                </a:rPr>
                <a:t>IP</a:t>
              </a:r>
              <a:r>
                <a:rPr lang="zh-CN" altLang="en-US" sz="1200" b="1">
                  <a:solidFill>
                    <a:schemeClr val="tx1"/>
                  </a:solidFill>
                </a:rPr>
                <a:t>地址 </a:t>
              </a:r>
            </a:p>
          </p:txBody>
        </p:sp>
      </p:grpSp>
      <p:sp>
        <p:nvSpPr>
          <p:cNvPr id="1897541" name="Text Box 69"/>
          <p:cNvSpPr txBox="1">
            <a:spLocks noChangeArrowheads="1"/>
          </p:cNvSpPr>
          <p:nvPr/>
        </p:nvSpPr>
        <p:spPr bwMode="auto">
          <a:xfrm>
            <a:off x="4470400" y="4597401"/>
            <a:ext cx="3170740"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tx1"/>
                </a:solidFill>
                <a:latin typeface="Courier New" panose="02070309020205020404" pitchFamily="49" charset="0"/>
              </a:rPr>
              <a:t>     Client              Server</a:t>
            </a:r>
          </a:p>
          <a:p>
            <a:r>
              <a:rPr lang="en-US" altLang="zh-CN" sz="900" b="1" u="sng">
                <a:solidFill>
                  <a:schemeClr val="tx1"/>
                </a:solidFill>
                <a:latin typeface="Courier New" panose="02070309020205020404" pitchFamily="49" charset="0"/>
              </a:rPr>
              <a:t>  IPAddr   Port      IPAddr    Port   NATPort </a:t>
            </a:r>
            <a:endParaRPr lang="en-US" altLang="zh-CN" sz="900" b="1">
              <a:solidFill>
                <a:schemeClr val="tx1"/>
              </a:solidFill>
              <a:latin typeface="Courier New" panose="02070309020205020404" pitchFamily="49" charset="0"/>
            </a:endParaRPr>
          </a:p>
          <a:p>
            <a:r>
              <a:rPr lang="en-US" altLang="zh-CN" sz="900" b="1">
                <a:solidFill>
                  <a:schemeClr val="tx1"/>
                </a:solidFill>
                <a:latin typeface="Courier New" panose="02070309020205020404" pitchFamily="49" charset="0"/>
              </a:rPr>
              <a:t>10.0.0.3   1049   128.32.32.68  80     40960</a:t>
            </a:r>
          </a:p>
          <a:p>
            <a:r>
              <a:rPr lang="en-US" altLang="zh-CN" sz="900" b="1">
                <a:solidFill>
                  <a:schemeClr val="tx1"/>
                </a:solidFill>
                <a:latin typeface="Courier New" panose="02070309020205020404" pitchFamily="49" charset="0"/>
              </a:rPr>
              <a:t>  . . .     ..        . . .     ..      . .</a:t>
            </a:r>
          </a:p>
          <a:p>
            <a:endParaRPr lang="en-US" altLang="zh-CN" sz="900" b="1">
              <a:solidFill>
                <a:schemeClr val="tx1"/>
              </a:solidFill>
              <a:latin typeface="Courier New" panose="02070309020205020404" pitchFamily="49" charset="0"/>
            </a:endParaRPr>
          </a:p>
        </p:txBody>
      </p:sp>
      <p:sp>
        <p:nvSpPr>
          <p:cNvPr id="58386" name="Rectangle 70"/>
          <p:cNvSpPr>
            <a:spLocks noChangeArrowheads="1"/>
          </p:cNvSpPr>
          <p:nvPr/>
        </p:nvSpPr>
        <p:spPr bwMode="auto">
          <a:xfrm>
            <a:off x="4470400" y="4678690"/>
            <a:ext cx="3124200" cy="523220"/>
          </a:xfrm>
          <a:prstGeom prst="rect">
            <a:avLst/>
          </a:prstGeom>
          <a:noFill/>
          <a:ln w="127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387" name="Text Box 71"/>
          <p:cNvSpPr txBox="1">
            <a:spLocks noChangeArrowheads="1"/>
          </p:cNvSpPr>
          <p:nvPr/>
        </p:nvSpPr>
        <p:spPr bwMode="auto">
          <a:xfrm>
            <a:off x="5003800" y="4292600"/>
            <a:ext cx="17160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NAT Translation Table</a:t>
            </a:r>
          </a:p>
        </p:txBody>
      </p:sp>
      <p:cxnSp>
        <p:nvCxnSpPr>
          <p:cNvPr id="58388" name="AutoShape 72"/>
          <p:cNvCxnSpPr>
            <a:cxnSpLocks noChangeShapeType="1"/>
            <a:stCxn id="58381" idx="2"/>
            <a:endCxn id="58386" idx="1"/>
          </p:cNvCxnSpPr>
          <p:nvPr/>
        </p:nvCxnSpPr>
        <p:spPr bwMode="auto">
          <a:xfrm rot="5400000">
            <a:off x="4121944" y="4177506"/>
            <a:ext cx="1111250" cy="414338"/>
          </a:xfrm>
          <a:prstGeom prst="curvedConnector4">
            <a:avLst>
              <a:gd name="adj1" fmla="val 38229"/>
              <a:gd name="adj2" fmla="val 155172"/>
            </a:avLst>
          </a:prstGeom>
          <a:noFill/>
          <a:ln w="12700">
            <a:solidFill>
              <a:schemeClr val="hlink"/>
            </a:solidFill>
            <a:round/>
            <a:headEnd/>
            <a:tailEnd type="triangle" w="med" len="med"/>
          </a:ln>
          <a:extLst>
            <a:ext uri="{909E8E84-426E-40DD-AFC4-6F175D3DCCD1}">
              <a14:hiddenFill xmlns:a14="http://schemas.microsoft.com/office/drawing/2010/main">
                <a:noFill/>
              </a14:hiddenFill>
            </a:ext>
          </a:extLst>
        </p:spPr>
      </p:cxnSp>
      <p:grpSp>
        <p:nvGrpSpPr>
          <p:cNvPr id="9" name="Group 73"/>
          <p:cNvGrpSpPr>
            <a:grpSpLocks/>
          </p:cNvGrpSpPr>
          <p:nvPr/>
        </p:nvGrpSpPr>
        <p:grpSpPr bwMode="auto">
          <a:xfrm>
            <a:off x="2413000" y="1701800"/>
            <a:ext cx="3124200" cy="1938338"/>
            <a:chOff x="576" y="816"/>
            <a:chExt cx="1968" cy="1221"/>
          </a:xfrm>
        </p:grpSpPr>
        <p:grpSp>
          <p:nvGrpSpPr>
            <p:cNvPr id="58407" name="Group 74"/>
            <p:cNvGrpSpPr>
              <a:grpSpLocks/>
            </p:cNvGrpSpPr>
            <p:nvPr/>
          </p:nvGrpSpPr>
          <p:grpSpPr bwMode="auto">
            <a:xfrm>
              <a:off x="576" y="864"/>
              <a:ext cx="918" cy="611"/>
              <a:chOff x="384" y="1632"/>
              <a:chExt cx="918" cy="611"/>
            </a:xfrm>
          </p:grpSpPr>
          <p:sp>
            <p:nvSpPr>
              <p:cNvPr id="58413" name="Text Box 75"/>
              <p:cNvSpPr txBox="1">
                <a:spLocks noChangeArrowheads="1"/>
              </p:cNvSpPr>
              <p:nvPr/>
            </p:nvSpPr>
            <p:spPr bwMode="auto">
              <a:xfrm>
                <a:off x="432" y="1632"/>
                <a:ext cx="217"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tx1"/>
                    </a:solidFill>
                    <a:latin typeface="Courier New" panose="02070309020205020404" pitchFamily="49" charset="0"/>
                  </a:rPr>
                  <a:t>PROTO</a:t>
                </a:r>
              </a:p>
              <a:p>
                <a:r>
                  <a:rPr lang="en-US" altLang="zh-CN" sz="900" b="1">
                    <a:solidFill>
                      <a:schemeClr val="tx1"/>
                    </a:solidFill>
                    <a:latin typeface="Courier New" panose="02070309020205020404" pitchFamily="49" charset="0"/>
                  </a:rPr>
                  <a:t>SADDR</a:t>
                </a:r>
              </a:p>
              <a:p>
                <a:r>
                  <a:rPr lang="en-US" altLang="zh-CN" sz="900" b="1">
                    <a:solidFill>
                      <a:schemeClr val="tx1"/>
                    </a:solidFill>
                    <a:latin typeface="Courier New" panose="02070309020205020404" pitchFamily="49" charset="0"/>
                  </a:rPr>
                  <a:t>DADDR</a:t>
                </a:r>
              </a:p>
              <a:p>
                <a:r>
                  <a:rPr lang="en-US" altLang="zh-CN" sz="900" b="1">
                    <a:solidFill>
                      <a:schemeClr val="tx1"/>
                    </a:solidFill>
                    <a:latin typeface="Courier New" panose="02070309020205020404" pitchFamily="49" charset="0"/>
                  </a:rPr>
                  <a:t>SPORT</a:t>
                </a:r>
              </a:p>
              <a:p>
                <a:r>
                  <a:rPr lang="en-US" altLang="zh-CN" sz="900" b="1">
                    <a:solidFill>
                      <a:schemeClr val="tx1"/>
                    </a:solidFill>
                    <a:latin typeface="Courier New" panose="02070309020205020404" pitchFamily="49" charset="0"/>
                  </a:rPr>
                  <a:t>DPORT</a:t>
                </a:r>
              </a:p>
              <a:p>
                <a:r>
                  <a:rPr lang="en-US" altLang="zh-CN" sz="900" b="1">
                    <a:solidFill>
                      <a:schemeClr val="tx1"/>
                    </a:solidFill>
                    <a:latin typeface="Courier New" panose="02070309020205020404" pitchFamily="49" charset="0"/>
                  </a:rPr>
                  <a:t>FLAGS</a:t>
                </a:r>
              </a:p>
              <a:p>
                <a:r>
                  <a:rPr lang="en-US" altLang="zh-CN" sz="900" b="1">
                    <a:solidFill>
                      <a:schemeClr val="tx1"/>
                    </a:solidFill>
                    <a:latin typeface="Courier New" panose="02070309020205020404" pitchFamily="49" charset="0"/>
                  </a:rPr>
                  <a:t>CKSUM</a:t>
                </a:r>
              </a:p>
            </p:txBody>
          </p:sp>
          <p:sp>
            <p:nvSpPr>
              <p:cNvPr id="58414" name="Text Box 76"/>
              <p:cNvSpPr txBox="1">
                <a:spLocks noChangeArrowheads="1"/>
              </p:cNvSpPr>
              <p:nvPr/>
            </p:nvSpPr>
            <p:spPr bwMode="auto">
              <a:xfrm>
                <a:off x="720" y="1632"/>
                <a:ext cx="521"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rgbClr val="0000FF"/>
                    </a:solidFill>
                    <a:latin typeface="Courier New" panose="02070309020205020404" pitchFamily="49" charset="0"/>
                  </a:rPr>
                  <a:t>TCP</a:t>
                </a:r>
              </a:p>
              <a:p>
                <a:r>
                  <a:rPr lang="en-US" altLang="zh-CN" sz="900" b="1">
                    <a:solidFill>
                      <a:srgbClr val="0000FF"/>
                    </a:solidFill>
                    <a:latin typeface="Courier New" panose="02070309020205020404" pitchFamily="49" charset="0"/>
                  </a:rPr>
                  <a:t>10.0.0.3</a:t>
                </a:r>
              </a:p>
              <a:p>
                <a:r>
                  <a:rPr lang="en-US" altLang="zh-CN" sz="900" b="1">
                    <a:solidFill>
                      <a:srgbClr val="0000FF"/>
                    </a:solidFill>
                    <a:latin typeface="Courier New" panose="02070309020205020404" pitchFamily="49" charset="0"/>
                  </a:rPr>
                  <a:t>128.32.32.68</a:t>
                </a:r>
              </a:p>
              <a:p>
                <a:r>
                  <a:rPr lang="en-US" altLang="zh-CN" sz="900" b="1">
                    <a:solidFill>
                      <a:srgbClr val="0000FF"/>
                    </a:solidFill>
                    <a:latin typeface="Courier New" panose="02070309020205020404" pitchFamily="49" charset="0"/>
                  </a:rPr>
                  <a:t>1049</a:t>
                </a:r>
              </a:p>
              <a:p>
                <a:r>
                  <a:rPr lang="en-US" altLang="zh-CN" sz="900" b="1">
                    <a:solidFill>
                      <a:srgbClr val="0000FF"/>
                    </a:solidFill>
                    <a:latin typeface="Courier New" panose="02070309020205020404" pitchFamily="49" charset="0"/>
                  </a:rPr>
                  <a:t>80</a:t>
                </a:r>
              </a:p>
              <a:p>
                <a:r>
                  <a:rPr lang="en-US" altLang="zh-CN" sz="900" b="1">
                    <a:solidFill>
                      <a:srgbClr val="0000FF"/>
                    </a:solidFill>
                    <a:latin typeface="Courier New" panose="02070309020205020404" pitchFamily="49" charset="0"/>
                  </a:rPr>
                  <a:t>SYN</a:t>
                </a:r>
              </a:p>
              <a:p>
                <a:r>
                  <a:rPr lang="en-US" altLang="zh-CN" sz="900" b="1">
                    <a:solidFill>
                      <a:srgbClr val="0000FF"/>
                    </a:solidFill>
                    <a:latin typeface="Courier New" panose="02070309020205020404" pitchFamily="49" charset="0"/>
                  </a:rPr>
                  <a:t>0x1636</a:t>
                </a:r>
              </a:p>
            </p:txBody>
          </p:sp>
          <p:sp>
            <p:nvSpPr>
              <p:cNvPr id="58415" name="Rectangle 77"/>
              <p:cNvSpPr>
                <a:spLocks noChangeArrowheads="1"/>
              </p:cNvSpPr>
              <p:nvPr/>
            </p:nvSpPr>
            <p:spPr bwMode="auto">
              <a:xfrm>
                <a:off x="384" y="1779"/>
                <a:ext cx="912" cy="33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16" name="Line 78"/>
              <p:cNvSpPr>
                <a:spLocks noChangeShapeType="1"/>
              </p:cNvSpPr>
              <p:nvPr/>
            </p:nvSpPr>
            <p:spPr bwMode="auto">
              <a:xfrm>
                <a:off x="390" y="1717"/>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17" name="Line 79"/>
              <p:cNvSpPr>
                <a:spLocks noChangeShapeType="1"/>
              </p:cNvSpPr>
              <p:nvPr/>
            </p:nvSpPr>
            <p:spPr bwMode="auto">
              <a:xfrm>
                <a:off x="384" y="1803"/>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18" name="Line 80"/>
              <p:cNvSpPr>
                <a:spLocks noChangeShapeType="1"/>
              </p:cNvSpPr>
              <p:nvPr/>
            </p:nvSpPr>
            <p:spPr bwMode="auto">
              <a:xfrm>
                <a:off x="384" y="189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19" name="Line 81"/>
              <p:cNvSpPr>
                <a:spLocks noChangeShapeType="1"/>
              </p:cNvSpPr>
              <p:nvPr/>
            </p:nvSpPr>
            <p:spPr bwMode="auto">
              <a:xfrm>
                <a:off x="384" y="1977"/>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20" name="Line 82"/>
              <p:cNvSpPr>
                <a:spLocks noChangeShapeType="1"/>
              </p:cNvSpPr>
              <p:nvPr/>
            </p:nvSpPr>
            <p:spPr bwMode="auto">
              <a:xfrm>
                <a:off x="384" y="2064"/>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21" name="Line 83"/>
              <p:cNvSpPr>
                <a:spLocks noChangeShapeType="1"/>
              </p:cNvSpPr>
              <p:nvPr/>
            </p:nvSpPr>
            <p:spPr bwMode="auto">
              <a:xfrm>
                <a:off x="387" y="215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58408" name="Rectangle 84"/>
            <p:cNvSpPr>
              <a:spLocks noChangeArrowheads="1"/>
            </p:cNvSpPr>
            <p:nvPr/>
          </p:nvSpPr>
          <p:spPr bwMode="auto">
            <a:xfrm>
              <a:off x="998" y="1707"/>
              <a:ext cx="116" cy="330"/>
            </a:xfrm>
            <a:prstGeom prst="rect">
              <a:avLst/>
            </a:prstGeom>
            <a:solidFill>
              <a:srgbClr val="0000FF"/>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09" name="Line 85"/>
            <p:cNvSpPr>
              <a:spLocks noChangeShapeType="1"/>
            </p:cNvSpPr>
            <p:nvPr/>
          </p:nvSpPr>
          <p:spPr bwMode="auto">
            <a:xfrm>
              <a:off x="1152" y="1872"/>
              <a:ext cx="721" cy="0"/>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cxnSp>
          <p:nvCxnSpPr>
            <p:cNvPr id="58410" name="AutoShape 86"/>
            <p:cNvCxnSpPr>
              <a:cxnSpLocks noChangeShapeType="1"/>
              <a:stCxn id="58408" idx="0"/>
              <a:endCxn id="58415" idx="2"/>
            </p:cNvCxnSpPr>
            <p:nvPr/>
          </p:nvCxnSpPr>
          <p:spPr bwMode="auto">
            <a:xfrm rot="16200000" flipV="1">
              <a:off x="861" y="1512"/>
              <a:ext cx="366" cy="24"/>
            </a:xfrm>
            <a:prstGeom prst="curvedConnector3">
              <a:avLst>
                <a:gd name="adj1" fmla="val 50000"/>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8411" name="Oval 87"/>
            <p:cNvSpPr>
              <a:spLocks noChangeArrowheads="1"/>
            </p:cNvSpPr>
            <p:nvPr/>
          </p:nvSpPr>
          <p:spPr bwMode="auto">
            <a:xfrm>
              <a:off x="864" y="1632"/>
              <a:ext cx="144" cy="198"/>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400" b="1">
                  <a:solidFill>
                    <a:schemeClr val="tx1"/>
                  </a:solidFill>
                </a:rPr>
                <a:t>1</a:t>
              </a:r>
              <a:endParaRPr lang="en-US" altLang="zh-CN" sz="1800" b="1">
                <a:solidFill>
                  <a:schemeClr val="tx1"/>
                </a:solidFill>
              </a:endParaRPr>
            </a:p>
          </p:txBody>
        </p:sp>
        <p:sp>
          <p:nvSpPr>
            <p:cNvPr id="58412" name="Text Box 88"/>
            <p:cNvSpPr txBox="1">
              <a:spLocks noChangeArrowheads="1"/>
            </p:cNvSpPr>
            <p:nvPr/>
          </p:nvSpPr>
          <p:spPr bwMode="auto">
            <a:xfrm>
              <a:off x="1536" y="816"/>
              <a:ext cx="1008"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1. </a:t>
              </a:r>
              <a:r>
                <a:rPr lang="zh-CN" altLang="en-US" sz="1400">
                  <a:solidFill>
                    <a:schemeClr val="tx1"/>
                  </a:solidFill>
                </a:rPr>
                <a:t>主机希望与</a:t>
              </a:r>
              <a:r>
                <a:rPr lang="en-US" altLang="zh-CN" sz="1400">
                  <a:solidFill>
                    <a:schemeClr val="tx1"/>
                  </a:solidFill>
                </a:rPr>
                <a:t>web </a:t>
              </a:r>
              <a:r>
                <a:rPr lang="zh-CN" altLang="en-US" sz="1400">
                  <a:solidFill>
                    <a:schemeClr val="tx1"/>
                  </a:solidFill>
                </a:rPr>
                <a:t>服务器 </a:t>
              </a:r>
              <a:r>
                <a:rPr lang="en-US" altLang="zh-CN" sz="1400">
                  <a:solidFill>
                    <a:schemeClr val="tx1"/>
                  </a:solidFill>
                </a:rPr>
                <a:t>128.32.32.68</a:t>
              </a:r>
              <a:r>
                <a:rPr lang="zh-CN" altLang="en-US" sz="1400">
                  <a:solidFill>
                    <a:schemeClr val="tx1"/>
                  </a:solidFill>
                </a:rPr>
                <a:t>建立连接</a:t>
              </a:r>
              <a:r>
                <a:rPr lang="en-US" altLang="zh-CN" sz="1400">
                  <a:solidFill>
                    <a:schemeClr val="tx1"/>
                  </a:solidFill>
                </a:rPr>
                <a:t>,</a:t>
              </a:r>
              <a:r>
                <a:rPr lang="zh-CN" altLang="en-US" sz="1400">
                  <a:solidFill>
                    <a:schemeClr val="tx1"/>
                  </a:solidFill>
                </a:rPr>
                <a:t>它使用它的内部地址</a:t>
              </a:r>
              <a:r>
                <a:rPr lang="en-US" altLang="zh-CN" sz="1400">
                  <a:solidFill>
                    <a:schemeClr val="tx1"/>
                  </a:solidFill>
                </a:rPr>
                <a:t>10.0.0.3</a:t>
              </a:r>
              <a:r>
                <a:rPr lang="zh-CN" altLang="en-US" sz="1400">
                  <a:solidFill>
                    <a:schemeClr val="tx1"/>
                  </a:solidFill>
                </a:rPr>
                <a:t>发送</a:t>
              </a:r>
              <a:r>
                <a:rPr lang="en-US" altLang="zh-CN" sz="1400">
                  <a:solidFill>
                    <a:schemeClr val="tx1"/>
                  </a:solidFill>
                </a:rPr>
                <a:t>SYN</a:t>
              </a:r>
              <a:r>
                <a:rPr lang="zh-CN" altLang="en-US" sz="1400">
                  <a:solidFill>
                    <a:schemeClr val="tx1"/>
                  </a:solidFill>
                </a:rPr>
                <a:t>报文</a:t>
              </a:r>
            </a:p>
          </p:txBody>
        </p:sp>
      </p:grpSp>
      <p:grpSp>
        <p:nvGrpSpPr>
          <p:cNvPr id="11" name="Group 89"/>
          <p:cNvGrpSpPr>
            <a:grpSpLocks/>
          </p:cNvGrpSpPr>
          <p:nvPr/>
        </p:nvGrpSpPr>
        <p:grpSpPr bwMode="auto">
          <a:xfrm>
            <a:off x="2489200" y="3421063"/>
            <a:ext cx="2057400" cy="3309938"/>
            <a:chOff x="624" y="1899"/>
            <a:chExt cx="1296" cy="2085"/>
          </a:xfrm>
        </p:grpSpPr>
        <p:grpSp>
          <p:nvGrpSpPr>
            <p:cNvPr id="58392" name="Group 90"/>
            <p:cNvGrpSpPr>
              <a:grpSpLocks/>
            </p:cNvGrpSpPr>
            <p:nvPr/>
          </p:nvGrpSpPr>
          <p:grpSpPr bwMode="auto">
            <a:xfrm>
              <a:off x="624" y="2544"/>
              <a:ext cx="918" cy="611"/>
              <a:chOff x="1056" y="2448"/>
              <a:chExt cx="918" cy="611"/>
            </a:xfrm>
          </p:grpSpPr>
          <p:sp>
            <p:nvSpPr>
              <p:cNvPr id="58398" name="Text Box 91"/>
              <p:cNvSpPr txBox="1">
                <a:spLocks noChangeArrowheads="1"/>
              </p:cNvSpPr>
              <p:nvPr/>
            </p:nvSpPr>
            <p:spPr bwMode="auto">
              <a:xfrm>
                <a:off x="1104" y="2448"/>
                <a:ext cx="217"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tx1"/>
                    </a:solidFill>
                    <a:latin typeface="Courier New" panose="02070309020205020404" pitchFamily="49" charset="0"/>
                  </a:rPr>
                  <a:t>PROTO</a:t>
                </a:r>
              </a:p>
              <a:p>
                <a:r>
                  <a:rPr lang="en-US" altLang="zh-CN" sz="900" b="1">
                    <a:solidFill>
                      <a:schemeClr val="tx1"/>
                    </a:solidFill>
                    <a:latin typeface="Courier New" panose="02070309020205020404" pitchFamily="49" charset="0"/>
                  </a:rPr>
                  <a:t>SADDR</a:t>
                </a:r>
              </a:p>
              <a:p>
                <a:r>
                  <a:rPr lang="en-US" altLang="zh-CN" sz="900" b="1">
                    <a:solidFill>
                      <a:schemeClr val="tx1"/>
                    </a:solidFill>
                    <a:latin typeface="Courier New" panose="02070309020205020404" pitchFamily="49" charset="0"/>
                  </a:rPr>
                  <a:t>DADDR</a:t>
                </a:r>
              </a:p>
              <a:p>
                <a:r>
                  <a:rPr lang="en-US" altLang="zh-CN" sz="900" b="1">
                    <a:solidFill>
                      <a:schemeClr val="tx1"/>
                    </a:solidFill>
                    <a:latin typeface="Courier New" panose="02070309020205020404" pitchFamily="49" charset="0"/>
                  </a:rPr>
                  <a:t>SPORT</a:t>
                </a:r>
              </a:p>
              <a:p>
                <a:r>
                  <a:rPr lang="en-US" altLang="zh-CN" sz="900" b="1">
                    <a:solidFill>
                      <a:schemeClr val="tx1"/>
                    </a:solidFill>
                    <a:latin typeface="Courier New" panose="02070309020205020404" pitchFamily="49" charset="0"/>
                  </a:rPr>
                  <a:t>DPORT</a:t>
                </a:r>
              </a:p>
              <a:p>
                <a:r>
                  <a:rPr lang="en-US" altLang="zh-CN" sz="900" b="1">
                    <a:solidFill>
                      <a:schemeClr val="tx1"/>
                    </a:solidFill>
                    <a:latin typeface="Courier New" panose="02070309020205020404" pitchFamily="49" charset="0"/>
                  </a:rPr>
                  <a:t>FLAGS</a:t>
                </a:r>
              </a:p>
              <a:p>
                <a:r>
                  <a:rPr lang="en-US" altLang="zh-CN" sz="900" b="1">
                    <a:solidFill>
                      <a:schemeClr val="tx1"/>
                    </a:solidFill>
                    <a:latin typeface="Courier New" panose="02070309020205020404" pitchFamily="49" charset="0"/>
                  </a:rPr>
                  <a:t>CKSUM</a:t>
                </a:r>
              </a:p>
            </p:txBody>
          </p:sp>
          <p:sp>
            <p:nvSpPr>
              <p:cNvPr id="58399" name="Text Box 92"/>
              <p:cNvSpPr txBox="1">
                <a:spLocks noChangeArrowheads="1"/>
              </p:cNvSpPr>
              <p:nvPr/>
            </p:nvSpPr>
            <p:spPr bwMode="auto">
              <a:xfrm>
                <a:off x="1392" y="2448"/>
                <a:ext cx="564"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accent2"/>
                    </a:solidFill>
                    <a:latin typeface="Courier New" panose="02070309020205020404" pitchFamily="49" charset="0"/>
                  </a:rPr>
                  <a:t>TCP</a:t>
                </a:r>
              </a:p>
              <a:p>
                <a:r>
                  <a:rPr lang="en-US" altLang="zh-CN" sz="900" b="1">
                    <a:solidFill>
                      <a:schemeClr val="accent2"/>
                    </a:solidFill>
                    <a:latin typeface="Courier New" panose="02070309020205020404" pitchFamily="49" charset="0"/>
                  </a:rPr>
                  <a:t>128.32.32.68</a:t>
                </a:r>
                <a:r>
                  <a:rPr lang="en-US" altLang="zh-CN" sz="900" b="1">
                    <a:solidFill>
                      <a:srgbClr val="0000FF"/>
                    </a:solidFill>
                    <a:latin typeface="Courier New" panose="02070309020205020404" pitchFamily="49" charset="0"/>
                  </a:rPr>
                  <a:t> </a:t>
                </a:r>
              </a:p>
              <a:p>
                <a:r>
                  <a:rPr lang="en-US" altLang="zh-CN" sz="900" b="1">
                    <a:solidFill>
                      <a:schemeClr val="hlink"/>
                    </a:solidFill>
                    <a:latin typeface="Courier New" panose="02070309020205020404" pitchFamily="49" charset="0"/>
                  </a:rPr>
                  <a:t>10.0.0.3</a:t>
                </a:r>
              </a:p>
              <a:p>
                <a:r>
                  <a:rPr lang="en-US" altLang="zh-CN" sz="900" b="1">
                    <a:solidFill>
                      <a:schemeClr val="accent2"/>
                    </a:solidFill>
                    <a:latin typeface="Courier New" panose="02070309020205020404" pitchFamily="49" charset="0"/>
                  </a:rPr>
                  <a:t>80</a:t>
                </a:r>
              </a:p>
              <a:p>
                <a:r>
                  <a:rPr lang="en-US" altLang="zh-CN" sz="900" b="1">
                    <a:solidFill>
                      <a:schemeClr val="hlink"/>
                    </a:solidFill>
                    <a:latin typeface="Courier New" panose="02070309020205020404" pitchFamily="49" charset="0"/>
                  </a:rPr>
                  <a:t>1049</a:t>
                </a:r>
              </a:p>
              <a:p>
                <a:r>
                  <a:rPr lang="en-US" altLang="zh-CN" sz="900" b="1">
                    <a:solidFill>
                      <a:schemeClr val="accent2"/>
                    </a:solidFill>
                    <a:latin typeface="Courier New" panose="02070309020205020404" pitchFamily="49" charset="0"/>
                  </a:rPr>
                  <a:t>SYN, ACK</a:t>
                </a:r>
              </a:p>
              <a:p>
                <a:r>
                  <a:rPr lang="en-US" altLang="zh-CN" sz="900" b="1">
                    <a:solidFill>
                      <a:schemeClr val="hlink"/>
                    </a:solidFill>
                    <a:latin typeface="Courier New" panose="02070309020205020404" pitchFamily="49" charset="0"/>
                  </a:rPr>
                  <a:t>0x7841</a:t>
                </a:r>
              </a:p>
            </p:txBody>
          </p:sp>
          <p:sp>
            <p:nvSpPr>
              <p:cNvPr id="58400" name="Rectangle 93"/>
              <p:cNvSpPr>
                <a:spLocks noChangeArrowheads="1"/>
              </p:cNvSpPr>
              <p:nvPr/>
            </p:nvSpPr>
            <p:spPr bwMode="auto">
              <a:xfrm>
                <a:off x="1056" y="2595"/>
                <a:ext cx="912" cy="33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01" name="Line 94"/>
              <p:cNvSpPr>
                <a:spLocks noChangeShapeType="1"/>
              </p:cNvSpPr>
              <p:nvPr/>
            </p:nvSpPr>
            <p:spPr bwMode="auto">
              <a:xfrm>
                <a:off x="1062" y="2533"/>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02" name="Line 95"/>
              <p:cNvSpPr>
                <a:spLocks noChangeShapeType="1"/>
              </p:cNvSpPr>
              <p:nvPr/>
            </p:nvSpPr>
            <p:spPr bwMode="auto">
              <a:xfrm>
                <a:off x="1056" y="2619"/>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03" name="Line 96"/>
              <p:cNvSpPr>
                <a:spLocks noChangeShapeType="1"/>
              </p:cNvSpPr>
              <p:nvPr/>
            </p:nvSpPr>
            <p:spPr bwMode="auto">
              <a:xfrm>
                <a:off x="1056" y="2706"/>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04" name="Line 97"/>
              <p:cNvSpPr>
                <a:spLocks noChangeShapeType="1"/>
              </p:cNvSpPr>
              <p:nvPr/>
            </p:nvSpPr>
            <p:spPr bwMode="auto">
              <a:xfrm>
                <a:off x="1056" y="2793"/>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05" name="Line 98"/>
              <p:cNvSpPr>
                <a:spLocks noChangeShapeType="1"/>
              </p:cNvSpPr>
              <p:nvPr/>
            </p:nvSpPr>
            <p:spPr bwMode="auto">
              <a:xfrm>
                <a:off x="1056" y="288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06" name="Line 99"/>
              <p:cNvSpPr>
                <a:spLocks noChangeShapeType="1"/>
              </p:cNvSpPr>
              <p:nvPr/>
            </p:nvSpPr>
            <p:spPr bwMode="auto">
              <a:xfrm>
                <a:off x="1059" y="2966"/>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58393" name="Rectangle 100"/>
            <p:cNvSpPr>
              <a:spLocks noChangeArrowheads="1"/>
            </p:cNvSpPr>
            <p:nvPr/>
          </p:nvSpPr>
          <p:spPr bwMode="auto">
            <a:xfrm>
              <a:off x="1766" y="1899"/>
              <a:ext cx="116" cy="330"/>
            </a:xfrm>
            <a:prstGeom prst="rect">
              <a:avLst/>
            </a:prstGeom>
            <a:solidFill>
              <a:schemeClr val="accent2"/>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394" name="Line 101"/>
            <p:cNvSpPr>
              <a:spLocks noChangeShapeType="1"/>
            </p:cNvSpPr>
            <p:nvPr/>
          </p:nvSpPr>
          <p:spPr bwMode="auto">
            <a:xfrm flipH="1">
              <a:off x="1008" y="2064"/>
              <a:ext cx="720" cy="0"/>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395" name="Oval 102"/>
            <p:cNvSpPr>
              <a:spLocks noChangeArrowheads="1"/>
            </p:cNvSpPr>
            <p:nvPr/>
          </p:nvSpPr>
          <p:spPr bwMode="auto">
            <a:xfrm>
              <a:off x="1625" y="2154"/>
              <a:ext cx="144" cy="198"/>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400" b="1">
                  <a:solidFill>
                    <a:schemeClr val="tx1"/>
                  </a:solidFill>
                </a:rPr>
                <a:t>4</a:t>
              </a:r>
              <a:endParaRPr lang="en-US" altLang="zh-CN" sz="1800" b="1">
                <a:solidFill>
                  <a:schemeClr val="tx1"/>
                </a:solidFill>
              </a:endParaRPr>
            </a:p>
          </p:txBody>
        </p:sp>
        <p:sp>
          <p:nvSpPr>
            <p:cNvPr id="58396" name="Text Box 103"/>
            <p:cNvSpPr txBox="1">
              <a:spLocks noChangeArrowheads="1"/>
            </p:cNvSpPr>
            <p:nvPr/>
          </p:nvSpPr>
          <p:spPr bwMode="auto">
            <a:xfrm>
              <a:off x="624" y="3216"/>
              <a:ext cx="129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4. NAT </a:t>
              </a:r>
              <a:r>
                <a:rPr lang="zh-CN" altLang="en-US" sz="1400">
                  <a:solidFill>
                    <a:schemeClr val="tx1"/>
                  </a:solidFill>
                </a:rPr>
                <a:t>网关查找地址转换表</a:t>
              </a:r>
              <a:r>
                <a:rPr lang="en-US" altLang="zh-CN" sz="1400">
                  <a:solidFill>
                    <a:schemeClr val="tx1"/>
                  </a:solidFill>
                </a:rPr>
                <a:t>,</a:t>
              </a:r>
              <a:r>
                <a:rPr lang="zh-CN" altLang="en-US" sz="1400">
                  <a:solidFill>
                    <a:schemeClr val="tx1"/>
                  </a:solidFill>
                </a:rPr>
                <a:t>找到匹配的源和目的地址和端口号</a:t>
              </a:r>
              <a:r>
                <a:rPr lang="en-US" altLang="zh-CN" sz="1400">
                  <a:solidFill>
                    <a:schemeClr val="tx1"/>
                  </a:solidFill>
                </a:rPr>
                <a:t>,</a:t>
              </a:r>
              <a:r>
                <a:rPr lang="zh-CN" altLang="en-US" sz="1400">
                  <a:solidFill>
                    <a:schemeClr val="tx1"/>
                  </a:solidFill>
                </a:rPr>
                <a:t>利用内部</a:t>
              </a:r>
              <a:r>
                <a:rPr lang="en-US" altLang="zh-CN" sz="1400">
                  <a:solidFill>
                    <a:schemeClr val="tx1"/>
                  </a:solidFill>
                </a:rPr>
                <a:t>IP</a:t>
              </a:r>
              <a:r>
                <a:rPr lang="zh-CN" altLang="en-US" sz="1400">
                  <a:solidFill>
                    <a:schemeClr val="tx1"/>
                  </a:solidFill>
                </a:rPr>
                <a:t>地址改写报文</a:t>
              </a:r>
              <a:r>
                <a:rPr lang="zh-CN" altLang="en-US" sz="1200" b="1">
                  <a:solidFill>
                    <a:schemeClr val="tx1"/>
                  </a:solidFill>
                </a:rPr>
                <a:t> </a:t>
              </a:r>
            </a:p>
          </p:txBody>
        </p:sp>
        <p:sp>
          <p:nvSpPr>
            <p:cNvPr id="58397" name="Freeform 104"/>
            <p:cNvSpPr>
              <a:spLocks/>
            </p:cNvSpPr>
            <p:nvPr/>
          </p:nvSpPr>
          <p:spPr bwMode="auto">
            <a:xfrm>
              <a:off x="1152" y="2212"/>
              <a:ext cx="116" cy="233"/>
            </a:xfrm>
            <a:custGeom>
              <a:avLst/>
              <a:gdLst>
                <a:gd name="T0" fmla="*/ 672 w 672"/>
                <a:gd name="T1" fmla="*/ 0 h 432"/>
                <a:gd name="T2" fmla="*/ 432 w 672"/>
                <a:gd name="T3" fmla="*/ 48 h 432"/>
                <a:gd name="T4" fmla="*/ 192 w 672"/>
                <a:gd name="T5" fmla="*/ 96 h 432"/>
                <a:gd name="T6" fmla="*/ 48 w 672"/>
                <a:gd name="T7" fmla="*/ 240 h 432"/>
                <a:gd name="T8" fmla="*/ 0 w 672"/>
                <a:gd name="T9" fmla="*/ 432 h 432"/>
                <a:gd name="T10" fmla="*/ 0 60000 65536"/>
                <a:gd name="T11" fmla="*/ 0 60000 65536"/>
                <a:gd name="T12" fmla="*/ 0 60000 65536"/>
                <a:gd name="T13" fmla="*/ 0 60000 65536"/>
                <a:gd name="T14" fmla="*/ 0 60000 65536"/>
                <a:gd name="T15" fmla="*/ 0 w 672"/>
                <a:gd name="T16" fmla="*/ 0 h 432"/>
                <a:gd name="T17" fmla="*/ 672 w 672"/>
                <a:gd name="T18" fmla="*/ 432 h 432"/>
              </a:gdLst>
              <a:ahLst/>
              <a:cxnLst>
                <a:cxn ang="T10">
                  <a:pos x="T0" y="T1"/>
                </a:cxn>
                <a:cxn ang="T11">
                  <a:pos x="T2" y="T3"/>
                </a:cxn>
                <a:cxn ang="T12">
                  <a:pos x="T4" y="T5"/>
                </a:cxn>
                <a:cxn ang="T13">
                  <a:pos x="T6" y="T7"/>
                </a:cxn>
                <a:cxn ang="T14">
                  <a:pos x="T8" y="T9"/>
                </a:cxn>
              </a:cxnLst>
              <a:rect l="T15" t="T16" r="T17" b="T18"/>
              <a:pathLst>
                <a:path w="672" h="432">
                  <a:moveTo>
                    <a:pt x="672" y="0"/>
                  </a:moveTo>
                  <a:cubicBezTo>
                    <a:pt x="592" y="16"/>
                    <a:pt x="512" y="32"/>
                    <a:pt x="432" y="48"/>
                  </a:cubicBezTo>
                  <a:cubicBezTo>
                    <a:pt x="352" y="64"/>
                    <a:pt x="256" y="64"/>
                    <a:pt x="192" y="96"/>
                  </a:cubicBezTo>
                  <a:cubicBezTo>
                    <a:pt x="128" y="128"/>
                    <a:pt x="80" y="184"/>
                    <a:pt x="48" y="240"/>
                  </a:cubicBezTo>
                  <a:cubicBezTo>
                    <a:pt x="16" y="296"/>
                    <a:pt x="8" y="364"/>
                    <a:pt x="0" y="432"/>
                  </a:cubicBezTo>
                </a:path>
              </a:pathLst>
            </a:custGeom>
            <a:noFill/>
            <a:ln w="127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grpSp>
      <p:sp>
        <p:nvSpPr>
          <p:cNvPr id="58391" name="Rectangle 105"/>
          <p:cNvSpPr>
            <a:spLocks noGrp="1" noChangeArrowheads="1"/>
          </p:cNvSpPr>
          <p:nvPr>
            <p:ph type="title"/>
          </p:nvPr>
        </p:nvSpPr>
        <p:spPr bwMode="auto">
          <a:xfrm>
            <a:off x="2209800" y="396875"/>
            <a:ext cx="7772400" cy="5794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ctr" eaLnBrk="1" hangingPunct="1"/>
            <a:r>
              <a:rPr lang="en-US" altLang="zh-CN" sz="3600">
                <a:solidFill>
                  <a:schemeClr val="hlink"/>
                </a:solidFill>
                <a:ea typeface="华文行楷" panose="02010800040101010101" pitchFamily="2" charset="-122"/>
              </a:rPr>
              <a:t>TCP NAT </a:t>
            </a:r>
            <a:r>
              <a:rPr lang="zh-CN" altLang="en-US" sz="3600">
                <a:solidFill>
                  <a:schemeClr val="hlink"/>
                </a:solidFill>
                <a:ea typeface="华文行楷" panose="02010800040101010101" pitchFamily="2" charset="-122"/>
              </a:rPr>
              <a:t>例子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9754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89750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89750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7541"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98499" name="Rectangle 3"/>
          <p:cNvSpPr>
            <a:spLocks noGrp="1" noChangeArrowheads="1"/>
          </p:cNvSpPr>
          <p:nvPr>
            <p:ph type="body" idx="1"/>
          </p:nvPr>
        </p:nvSpPr>
        <p:spPr bwMode="auto">
          <a:xfrm>
            <a:off x="2359025" y="5086351"/>
            <a:ext cx="7772400" cy="1236663"/>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zh-CN"/>
              <a:t>web </a:t>
            </a:r>
            <a:r>
              <a:rPr lang="zh-CN" altLang="en-US"/>
              <a:t>服务器（对外）只用一个</a:t>
            </a:r>
            <a:r>
              <a:rPr lang="en-US" altLang="zh-CN"/>
              <a:t>IP</a:t>
            </a:r>
            <a:r>
              <a:rPr lang="zh-CN" altLang="en-US"/>
              <a:t>地址</a:t>
            </a:r>
          </a:p>
          <a:p>
            <a:pPr eaLnBrk="1" hangingPunct="1"/>
            <a:r>
              <a:rPr lang="zh-CN" altLang="en-US"/>
              <a:t>把负载重定向到内部的多个服务器</a:t>
            </a:r>
          </a:p>
        </p:txBody>
      </p:sp>
      <p:sp>
        <p:nvSpPr>
          <p:cNvPr id="59395" name="Freeform 4"/>
          <p:cNvSpPr>
            <a:spLocks/>
          </p:cNvSpPr>
          <p:nvPr/>
        </p:nvSpPr>
        <p:spPr bwMode="auto">
          <a:xfrm>
            <a:off x="6380163" y="3134797"/>
            <a:ext cx="3657600" cy="369332"/>
          </a:xfrm>
          <a:custGeom>
            <a:avLst/>
            <a:gdLst>
              <a:gd name="T0" fmla="*/ 2147483646 w 482"/>
              <a:gd name="T1" fmla="*/ 2147483646 h 401"/>
              <a:gd name="T2" fmla="*/ 0 w 482"/>
              <a:gd name="T3" fmla="*/ 2147483646 h 401"/>
              <a:gd name="T4" fmla="*/ 2147483646 w 482"/>
              <a:gd name="T5" fmla="*/ 2147483646 h 401"/>
              <a:gd name="T6" fmla="*/ 2147483646 w 482"/>
              <a:gd name="T7" fmla="*/ 2147483646 h 401"/>
              <a:gd name="T8" fmla="*/ 2147483646 w 482"/>
              <a:gd name="T9" fmla="*/ 2147483646 h 401"/>
              <a:gd name="T10" fmla="*/ 2147483646 w 482"/>
              <a:gd name="T11" fmla="*/ 2147483646 h 401"/>
              <a:gd name="T12" fmla="*/ 2147483646 w 482"/>
              <a:gd name="T13" fmla="*/ 2147483646 h 401"/>
              <a:gd name="T14" fmla="*/ 2147483646 w 482"/>
              <a:gd name="T15" fmla="*/ 2147483646 h 401"/>
              <a:gd name="T16" fmla="*/ 2147483646 w 482"/>
              <a:gd name="T17" fmla="*/ 2147483646 h 401"/>
              <a:gd name="T18" fmla="*/ 2147483646 w 482"/>
              <a:gd name="T19" fmla="*/ 2147483646 h 401"/>
              <a:gd name="T20" fmla="*/ 2147483646 w 482"/>
              <a:gd name="T21" fmla="*/ 2147483646 h 401"/>
              <a:gd name="T22" fmla="*/ 2147483646 w 482"/>
              <a:gd name="T23" fmla="*/ 2147483646 h 401"/>
              <a:gd name="T24" fmla="*/ 2147483646 w 482"/>
              <a:gd name="T25" fmla="*/ 2147483646 h 401"/>
              <a:gd name="T26" fmla="*/ 2147483646 w 482"/>
              <a:gd name="T27" fmla="*/ 2147483646 h 401"/>
              <a:gd name="T28" fmla="*/ 2147483646 w 482"/>
              <a:gd name="T29" fmla="*/ 2147483646 h 401"/>
              <a:gd name="T30" fmla="*/ 2147483646 w 482"/>
              <a:gd name="T31" fmla="*/ 2147483646 h 401"/>
              <a:gd name="T32" fmla="*/ 2147483646 w 482"/>
              <a:gd name="T33" fmla="*/ 2147483646 h 401"/>
              <a:gd name="T34" fmla="*/ 2147483646 w 482"/>
              <a:gd name="T35" fmla="*/ 2147483646 h 401"/>
              <a:gd name="T36" fmla="*/ 2147483646 w 482"/>
              <a:gd name="T37" fmla="*/ 2147483646 h 401"/>
              <a:gd name="T38" fmla="*/ 2147483646 w 482"/>
              <a:gd name="T39" fmla="*/ 2147483646 h 401"/>
              <a:gd name="T40" fmla="*/ 2147483646 w 482"/>
              <a:gd name="T41" fmla="*/ 0 h 401"/>
              <a:gd name="T42" fmla="*/ 2147483646 w 482"/>
              <a:gd name="T43" fmla="*/ 2147483646 h 401"/>
              <a:gd name="T44" fmla="*/ 2147483646 w 482"/>
              <a:gd name="T45" fmla="*/ 2147483646 h 401"/>
              <a:gd name="T46" fmla="*/ 2147483646 w 482"/>
              <a:gd name="T47" fmla="*/ 2147483646 h 401"/>
              <a:gd name="T48" fmla="*/ 2147483646 w 482"/>
              <a:gd name="T49" fmla="*/ 2147483646 h 401"/>
              <a:gd name="T50" fmla="*/ 2147483646 w 482"/>
              <a:gd name="T51" fmla="*/ 2147483646 h 401"/>
              <a:gd name="T52" fmla="*/ 2147483646 w 482"/>
              <a:gd name="T53" fmla="*/ 2147483646 h 401"/>
              <a:gd name="T54" fmla="*/ 2147483646 w 482"/>
              <a:gd name="T55" fmla="*/ 2147483646 h 401"/>
              <a:gd name="T56" fmla="*/ 2147483646 w 482"/>
              <a:gd name="T57" fmla="*/ 2147483646 h 401"/>
              <a:gd name="T58" fmla="*/ 2147483646 w 482"/>
              <a:gd name="T59" fmla="*/ 2147483646 h 40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82"/>
              <a:gd name="T91" fmla="*/ 0 h 401"/>
              <a:gd name="T92" fmla="*/ 482 w 482"/>
              <a:gd name="T93" fmla="*/ 401 h 40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82" h="401">
                <a:moveTo>
                  <a:pt x="46" y="211"/>
                </a:moveTo>
                <a:cubicBezTo>
                  <a:pt x="27" y="220"/>
                  <a:pt x="14" y="227"/>
                  <a:pt x="0" y="242"/>
                </a:cubicBezTo>
                <a:cubicBezTo>
                  <a:pt x="2" y="257"/>
                  <a:pt x="0" y="273"/>
                  <a:pt x="5" y="288"/>
                </a:cubicBezTo>
                <a:cubicBezTo>
                  <a:pt x="20" y="334"/>
                  <a:pt x="61" y="340"/>
                  <a:pt x="102" y="344"/>
                </a:cubicBezTo>
                <a:cubicBezTo>
                  <a:pt x="117" y="376"/>
                  <a:pt x="106" y="360"/>
                  <a:pt x="138" y="390"/>
                </a:cubicBezTo>
                <a:cubicBezTo>
                  <a:pt x="149" y="401"/>
                  <a:pt x="184" y="401"/>
                  <a:pt x="184" y="401"/>
                </a:cubicBezTo>
                <a:cubicBezTo>
                  <a:pt x="198" y="399"/>
                  <a:pt x="212" y="398"/>
                  <a:pt x="225" y="395"/>
                </a:cubicBezTo>
                <a:cubicBezTo>
                  <a:pt x="236" y="393"/>
                  <a:pt x="256" y="385"/>
                  <a:pt x="256" y="385"/>
                </a:cubicBezTo>
                <a:cubicBezTo>
                  <a:pt x="272" y="369"/>
                  <a:pt x="285" y="357"/>
                  <a:pt x="297" y="339"/>
                </a:cubicBezTo>
                <a:cubicBezTo>
                  <a:pt x="323" y="356"/>
                  <a:pt x="306" y="347"/>
                  <a:pt x="348" y="360"/>
                </a:cubicBezTo>
                <a:cubicBezTo>
                  <a:pt x="358" y="363"/>
                  <a:pt x="379" y="370"/>
                  <a:pt x="379" y="370"/>
                </a:cubicBezTo>
                <a:cubicBezTo>
                  <a:pt x="397" y="361"/>
                  <a:pt x="407" y="350"/>
                  <a:pt x="425" y="344"/>
                </a:cubicBezTo>
                <a:cubicBezTo>
                  <a:pt x="454" y="318"/>
                  <a:pt x="464" y="295"/>
                  <a:pt x="471" y="257"/>
                </a:cubicBezTo>
                <a:cubicBezTo>
                  <a:pt x="469" y="252"/>
                  <a:pt x="470" y="246"/>
                  <a:pt x="466" y="242"/>
                </a:cubicBezTo>
                <a:cubicBezTo>
                  <a:pt x="462" y="238"/>
                  <a:pt x="451" y="241"/>
                  <a:pt x="451" y="236"/>
                </a:cubicBezTo>
                <a:cubicBezTo>
                  <a:pt x="451" y="228"/>
                  <a:pt x="462" y="223"/>
                  <a:pt x="466" y="216"/>
                </a:cubicBezTo>
                <a:cubicBezTo>
                  <a:pt x="476" y="200"/>
                  <a:pt x="477" y="196"/>
                  <a:pt x="482" y="180"/>
                </a:cubicBezTo>
                <a:cubicBezTo>
                  <a:pt x="477" y="141"/>
                  <a:pt x="476" y="118"/>
                  <a:pt x="436" y="108"/>
                </a:cubicBezTo>
                <a:cubicBezTo>
                  <a:pt x="421" y="45"/>
                  <a:pt x="423" y="44"/>
                  <a:pt x="359" y="31"/>
                </a:cubicBezTo>
                <a:cubicBezTo>
                  <a:pt x="338" y="38"/>
                  <a:pt x="334" y="49"/>
                  <a:pt x="312" y="42"/>
                </a:cubicBezTo>
                <a:cubicBezTo>
                  <a:pt x="296" y="25"/>
                  <a:pt x="278" y="9"/>
                  <a:pt x="256" y="0"/>
                </a:cubicBezTo>
                <a:cubicBezTo>
                  <a:pt x="241" y="3"/>
                  <a:pt x="223" y="2"/>
                  <a:pt x="210" y="11"/>
                </a:cubicBezTo>
                <a:cubicBezTo>
                  <a:pt x="200" y="18"/>
                  <a:pt x="184" y="36"/>
                  <a:pt x="184" y="36"/>
                </a:cubicBezTo>
                <a:cubicBezTo>
                  <a:pt x="179" y="31"/>
                  <a:pt x="175" y="24"/>
                  <a:pt x="169" y="21"/>
                </a:cubicBezTo>
                <a:cubicBezTo>
                  <a:pt x="159" y="16"/>
                  <a:pt x="138" y="11"/>
                  <a:pt x="138" y="11"/>
                </a:cubicBezTo>
                <a:cubicBezTo>
                  <a:pt x="116" y="18"/>
                  <a:pt x="111" y="27"/>
                  <a:pt x="97" y="47"/>
                </a:cubicBezTo>
                <a:cubicBezTo>
                  <a:pt x="85" y="82"/>
                  <a:pt x="84" y="67"/>
                  <a:pt x="92" y="93"/>
                </a:cubicBezTo>
                <a:cubicBezTo>
                  <a:pt x="67" y="110"/>
                  <a:pt x="49" y="118"/>
                  <a:pt x="25" y="139"/>
                </a:cubicBezTo>
                <a:cubicBezTo>
                  <a:pt x="14" y="172"/>
                  <a:pt x="10" y="186"/>
                  <a:pt x="46" y="195"/>
                </a:cubicBezTo>
                <a:cubicBezTo>
                  <a:pt x="41" y="213"/>
                  <a:pt x="35" y="211"/>
                  <a:pt x="46" y="211"/>
                </a:cubicBezTo>
                <a:close/>
              </a:path>
            </a:pathLst>
          </a:custGeom>
          <a:solidFill>
            <a:srgbClr val="969696"/>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endParaRPr lang="zh-CN" altLang="en-US"/>
          </a:p>
        </p:txBody>
      </p:sp>
      <p:grpSp>
        <p:nvGrpSpPr>
          <p:cNvPr id="59396" name="Group 5"/>
          <p:cNvGrpSpPr>
            <a:grpSpLocks/>
          </p:cNvGrpSpPr>
          <p:nvPr/>
        </p:nvGrpSpPr>
        <p:grpSpPr bwMode="auto">
          <a:xfrm>
            <a:off x="7446964" y="1935165"/>
            <a:ext cx="746125" cy="636588"/>
            <a:chOff x="3168" y="1240"/>
            <a:chExt cx="470" cy="401"/>
          </a:xfrm>
        </p:grpSpPr>
        <p:sp>
          <p:nvSpPr>
            <p:cNvPr id="59455" name="Freeform 6"/>
            <p:cNvSpPr>
              <a:spLocks/>
            </p:cNvSpPr>
            <p:nvPr/>
          </p:nvSpPr>
          <p:spPr bwMode="auto">
            <a:xfrm>
              <a:off x="3168" y="1408"/>
              <a:ext cx="116" cy="233"/>
            </a:xfrm>
            <a:custGeom>
              <a:avLst/>
              <a:gdLst>
                <a:gd name="T0" fmla="*/ 0 w 288"/>
                <a:gd name="T1" fmla="*/ 0 h 624"/>
                <a:gd name="T2" fmla="*/ 0 w 288"/>
                <a:gd name="T3" fmla="*/ 2 h 624"/>
                <a:gd name="T4" fmla="*/ 4 w 288"/>
                <a:gd name="T5" fmla="*/ 2 h 624"/>
                <a:gd name="T6" fmla="*/ 4 w 288"/>
                <a:gd name="T7" fmla="*/ 1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56" name="Line 7"/>
            <p:cNvSpPr>
              <a:spLocks noChangeShapeType="1"/>
            </p:cNvSpPr>
            <p:nvPr/>
          </p:nvSpPr>
          <p:spPr bwMode="auto">
            <a:xfrm>
              <a:off x="3168" y="1584"/>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57" name="Line 8"/>
            <p:cNvSpPr>
              <a:spLocks noChangeShapeType="1"/>
            </p:cNvSpPr>
            <p:nvPr/>
          </p:nvSpPr>
          <p:spPr bwMode="auto">
            <a:xfrm>
              <a:off x="3168" y="1536"/>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58" name="Line 9"/>
            <p:cNvSpPr>
              <a:spLocks noChangeShapeType="1"/>
            </p:cNvSpPr>
            <p:nvPr/>
          </p:nvSpPr>
          <p:spPr bwMode="auto">
            <a:xfrm>
              <a:off x="3168" y="1488"/>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59" name="Line 10"/>
            <p:cNvSpPr>
              <a:spLocks noChangeShapeType="1"/>
            </p:cNvSpPr>
            <p:nvPr/>
          </p:nvSpPr>
          <p:spPr bwMode="auto">
            <a:xfrm>
              <a:off x="3168" y="1440"/>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60" name="Freeform 11"/>
            <p:cNvSpPr>
              <a:spLocks/>
            </p:cNvSpPr>
            <p:nvPr/>
          </p:nvSpPr>
          <p:spPr bwMode="auto">
            <a:xfrm>
              <a:off x="3348" y="1396"/>
              <a:ext cx="116" cy="233"/>
            </a:xfrm>
            <a:custGeom>
              <a:avLst/>
              <a:gdLst>
                <a:gd name="T0" fmla="*/ 0 w 480"/>
                <a:gd name="T1" fmla="*/ 2 h 672"/>
                <a:gd name="T2" fmla="*/ 7 w 480"/>
                <a:gd name="T3" fmla="*/ 2 h 672"/>
                <a:gd name="T4" fmla="*/ 7 w 480"/>
                <a:gd name="T5" fmla="*/ 0 h 672"/>
                <a:gd name="T6" fmla="*/ 0 w 480"/>
                <a:gd name="T7" fmla="*/ 1 h 672"/>
                <a:gd name="T8" fmla="*/ 0 w 480"/>
                <a:gd name="T9" fmla="*/ 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61" name="Text Box 12"/>
            <p:cNvSpPr txBox="1">
              <a:spLocks noChangeArrowheads="1"/>
            </p:cNvSpPr>
            <p:nvPr/>
          </p:nvSpPr>
          <p:spPr bwMode="auto">
            <a:xfrm>
              <a:off x="3362" y="1449"/>
              <a:ext cx="276" cy="116"/>
            </a:xfrm>
            <a:prstGeom prst="rect">
              <a:avLst/>
            </a:prstGeom>
            <a:solidFill>
              <a:srgbClr val="FE7E93"/>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Server</a:t>
              </a:r>
            </a:p>
          </p:txBody>
        </p:sp>
        <p:sp>
          <p:nvSpPr>
            <p:cNvPr id="59462" name="Freeform 13"/>
            <p:cNvSpPr>
              <a:spLocks/>
            </p:cNvSpPr>
            <p:nvPr/>
          </p:nvSpPr>
          <p:spPr bwMode="auto">
            <a:xfrm>
              <a:off x="3168" y="1240"/>
              <a:ext cx="116" cy="233"/>
            </a:xfrm>
            <a:custGeom>
              <a:avLst/>
              <a:gdLst>
                <a:gd name="T0" fmla="*/ 4 w 768"/>
                <a:gd name="T1" fmla="*/ 1 h 240"/>
                <a:gd name="T2" fmla="*/ 0 w 768"/>
                <a:gd name="T3" fmla="*/ 1 h 240"/>
                <a:gd name="T4" fmla="*/ 8 w 768"/>
                <a:gd name="T5" fmla="*/ 0 h 240"/>
                <a:gd name="T6" fmla="*/ 11 w 768"/>
                <a:gd name="T7" fmla="*/ 1 h 240"/>
                <a:gd name="T8" fmla="*/ 4 w 768"/>
                <a:gd name="T9" fmla="*/ 1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grpSp>
      <p:grpSp>
        <p:nvGrpSpPr>
          <p:cNvPr id="59397" name="Group 14"/>
          <p:cNvGrpSpPr>
            <a:grpSpLocks/>
          </p:cNvGrpSpPr>
          <p:nvPr/>
        </p:nvGrpSpPr>
        <p:grpSpPr bwMode="auto">
          <a:xfrm>
            <a:off x="7446964" y="2544765"/>
            <a:ext cx="746125" cy="636588"/>
            <a:chOff x="3168" y="1240"/>
            <a:chExt cx="470" cy="401"/>
          </a:xfrm>
        </p:grpSpPr>
        <p:sp>
          <p:nvSpPr>
            <p:cNvPr id="59447" name="Freeform 15"/>
            <p:cNvSpPr>
              <a:spLocks/>
            </p:cNvSpPr>
            <p:nvPr/>
          </p:nvSpPr>
          <p:spPr bwMode="auto">
            <a:xfrm>
              <a:off x="3168" y="1408"/>
              <a:ext cx="116" cy="233"/>
            </a:xfrm>
            <a:custGeom>
              <a:avLst/>
              <a:gdLst>
                <a:gd name="T0" fmla="*/ 0 w 288"/>
                <a:gd name="T1" fmla="*/ 0 h 624"/>
                <a:gd name="T2" fmla="*/ 0 w 288"/>
                <a:gd name="T3" fmla="*/ 2 h 624"/>
                <a:gd name="T4" fmla="*/ 4 w 288"/>
                <a:gd name="T5" fmla="*/ 2 h 624"/>
                <a:gd name="T6" fmla="*/ 4 w 288"/>
                <a:gd name="T7" fmla="*/ 1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48" name="Line 16"/>
            <p:cNvSpPr>
              <a:spLocks noChangeShapeType="1"/>
            </p:cNvSpPr>
            <p:nvPr/>
          </p:nvSpPr>
          <p:spPr bwMode="auto">
            <a:xfrm>
              <a:off x="3168" y="1584"/>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49" name="Line 17"/>
            <p:cNvSpPr>
              <a:spLocks noChangeShapeType="1"/>
            </p:cNvSpPr>
            <p:nvPr/>
          </p:nvSpPr>
          <p:spPr bwMode="auto">
            <a:xfrm>
              <a:off x="3168" y="1536"/>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50" name="Line 18"/>
            <p:cNvSpPr>
              <a:spLocks noChangeShapeType="1"/>
            </p:cNvSpPr>
            <p:nvPr/>
          </p:nvSpPr>
          <p:spPr bwMode="auto">
            <a:xfrm>
              <a:off x="3168" y="1488"/>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51" name="Line 19"/>
            <p:cNvSpPr>
              <a:spLocks noChangeShapeType="1"/>
            </p:cNvSpPr>
            <p:nvPr/>
          </p:nvSpPr>
          <p:spPr bwMode="auto">
            <a:xfrm>
              <a:off x="3168" y="1440"/>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52" name="Freeform 20"/>
            <p:cNvSpPr>
              <a:spLocks/>
            </p:cNvSpPr>
            <p:nvPr/>
          </p:nvSpPr>
          <p:spPr bwMode="auto">
            <a:xfrm>
              <a:off x="3348" y="1396"/>
              <a:ext cx="116" cy="233"/>
            </a:xfrm>
            <a:custGeom>
              <a:avLst/>
              <a:gdLst>
                <a:gd name="T0" fmla="*/ 0 w 480"/>
                <a:gd name="T1" fmla="*/ 2 h 672"/>
                <a:gd name="T2" fmla="*/ 7 w 480"/>
                <a:gd name="T3" fmla="*/ 2 h 672"/>
                <a:gd name="T4" fmla="*/ 7 w 480"/>
                <a:gd name="T5" fmla="*/ 0 h 672"/>
                <a:gd name="T6" fmla="*/ 0 w 480"/>
                <a:gd name="T7" fmla="*/ 1 h 672"/>
                <a:gd name="T8" fmla="*/ 0 w 480"/>
                <a:gd name="T9" fmla="*/ 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53" name="Text Box 21"/>
            <p:cNvSpPr txBox="1">
              <a:spLocks noChangeArrowheads="1"/>
            </p:cNvSpPr>
            <p:nvPr/>
          </p:nvSpPr>
          <p:spPr bwMode="auto">
            <a:xfrm>
              <a:off x="3362" y="1449"/>
              <a:ext cx="276" cy="116"/>
            </a:xfrm>
            <a:prstGeom prst="rect">
              <a:avLst/>
            </a:prstGeom>
            <a:solidFill>
              <a:srgbClr val="FE7E93"/>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Server</a:t>
              </a:r>
            </a:p>
          </p:txBody>
        </p:sp>
        <p:sp>
          <p:nvSpPr>
            <p:cNvPr id="59454" name="Freeform 22"/>
            <p:cNvSpPr>
              <a:spLocks/>
            </p:cNvSpPr>
            <p:nvPr/>
          </p:nvSpPr>
          <p:spPr bwMode="auto">
            <a:xfrm>
              <a:off x="3168" y="1240"/>
              <a:ext cx="116" cy="233"/>
            </a:xfrm>
            <a:custGeom>
              <a:avLst/>
              <a:gdLst>
                <a:gd name="T0" fmla="*/ 4 w 768"/>
                <a:gd name="T1" fmla="*/ 1 h 240"/>
                <a:gd name="T2" fmla="*/ 0 w 768"/>
                <a:gd name="T3" fmla="*/ 1 h 240"/>
                <a:gd name="T4" fmla="*/ 8 w 768"/>
                <a:gd name="T5" fmla="*/ 0 h 240"/>
                <a:gd name="T6" fmla="*/ 11 w 768"/>
                <a:gd name="T7" fmla="*/ 1 h 240"/>
                <a:gd name="T8" fmla="*/ 4 w 768"/>
                <a:gd name="T9" fmla="*/ 1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grpSp>
      <p:grpSp>
        <p:nvGrpSpPr>
          <p:cNvPr id="59398" name="Group 23"/>
          <p:cNvGrpSpPr>
            <a:grpSpLocks/>
          </p:cNvGrpSpPr>
          <p:nvPr/>
        </p:nvGrpSpPr>
        <p:grpSpPr bwMode="auto">
          <a:xfrm>
            <a:off x="7446964" y="3230565"/>
            <a:ext cx="746125" cy="636588"/>
            <a:chOff x="3168" y="1240"/>
            <a:chExt cx="470" cy="401"/>
          </a:xfrm>
        </p:grpSpPr>
        <p:sp>
          <p:nvSpPr>
            <p:cNvPr id="59439" name="Freeform 24"/>
            <p:cNvSpPr>
              <a:spLocks/>
            </p:cNvSpPr>
            <p:nvPr/>
          </p:nvSpPr>
          <p:spPr bwMode="auto">
            <a:xfrm>
              <a:off x="3168" y="1408"/>
              <a:ext cx="116" cy="233"/>
            </a:xfrm>
            <a:custGeom>
              <a:avLst/>
              <a:gdLst>
                <a:gd name="T0" fmla="*/ 0 w 288"/>
                <a:gd name="T1" fmla="*/ 0 h 624"/>
                <a:gd name="T2" fmla="*/ 0 w 288"/>
                <a:gd name="T3" fmla="*/ 2 h 624"/>
                <a:gd name="T4" fmla="*/ 4 w 288"/>
                <a:gd name="T5" fmla="*/ 2 h 624"/>
                <a:gd name="T6" fmla="*/ 4 w 288"/>
                <a:gd name="T7" fmla="*/ 1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40" name="Line 25"/>
            <p:cNvSpPr>
              <a:spLocks noChangeShapeType="1"/>
            </p:cNvSpPr>
            <p:nvPr/>
          </p:nvSpPr>
          <p:spPr bwMode="auto">
            <a:xfrm>
              <a:off x="3168" y="1584"/>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41" name="Line 26"/>
            <p:cNvSpPr>
              <a:spLocks noChangeShapeType="1"/>
            </p:cNvSpPr>
            <p:nvPr/>
          </p:nvSpPr>
          <p:spPr bwMode="auto">
            <a:xfrm>
              <a:off x="3168" y="1536"/>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42" name="Line 27"/>
            <p:cNvSpPr>
              <a:spLocks noChangeShapeType="1"/>
            </p:cNvSpPr>
            <p:nvPr/>
          </p:nvSpPr>
          <p:spPr bwMode="auto">
            <a:xfrm>
              <a:off x="3168" y="1488"/>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43" name="Line 28"/>
            <p:cNvSpPr>
              <a:spLocks noChangeShapeType="1"/>
            </p:cNvSpPr>
            <p:nvPr/>
          </p:nvSpPr>
          <p:spPr bwMode="auto">
            <a:xfrm>
              <a:off x="3168" y="1440"/>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44" name="Freeform 29"/>
            <p:cNvSpPr>
              <a:spLocks/>
            </p:cNvSpPr>
            <p:nvPr/>
          </p:nvSpPr>
          <p:spPr bwMode="auto">
            <a:xfrm>
              <a:off x="3348" y="1396"/>
              <a:ext cx="116" cy="233"/>
            </a:xfrm>
            <a:custGeom>
              <a:avLst/>
              <a:gdLst>
                <a:gd name="T0" fmla="*/ 0 w 480"/>
                <a:gd name="T1" fmla="*/ 2 h 672"/>
                <a:gd name="T2" fmla="*/ 7 w 480"/>
                <a:gd name="T3" fmla="*/ 2 h 672"/>
                <a:gd name="T4" fmla="*/ 7 w 480"/>
                <a:gd name="T5" fmla="*/ 0 h 672"/>
                <a:gd name="T6" fmla="*/ 0 w 480"/>
                <a:gd name="T7" fmla="*/ 1 h 672"/>
                <a:gd name="T8" fmla="*/ 0 w 480"/>
                <a:gd name="T9" fmla="*/ 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45" name="Text Box 30"/>
            <p:cNvSpPr txBox="1">
              <a:spLocks noChangeArrowheads="1"/>
            </p:cNvSpPr>
            <p:nvPr/>
          </p:nvSpPr>
          <p:spPr bwMode="auto">
            <a:xfrm>
              <a:off x="3362" y="1449"/>
              <a:ext cx="276" cy="116"/>
            </a:xfrm>
            <a:prstGeom prst="rect">
              <a:avLst/>
            </a:prstGeom>
            <a:solidFill>
              <a:srgbClr val="FE7E93"/>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Server</a:t>
              </a:r>
            </a:p>
          </p:txBody>
        </p:sp>
        <p:sp>
          <p:nvSpPr>
            <p:cNvPr id="59446" name="Freeform 31"/>
            <p:cNvSpPr>
              <a:spLocks/>
            </p:cNvSpPr>
            <p:nvPr/>
          </p:nvSpPr>
          <p:spPr bwMode="auto">
            <a:xfrm>
              <a:off x="3168" y="1240"/>
              <a:ext cx="116" cy="233"/>
            </a:xfrm>
            <a:custGeom>
              <a:avLst/>
              <a:gdLst>
                <a:gd name="T0" fmla="*/ 4 w 768"/>
                <a:gd name="T1" fmla="*/ 1 h 240"/>
                <a:gd name="T2" fmla="*/ 0 w 768"/>
                <a:gd name="T3" fmla="*/ 1 h 240"/>
                <a:gd name="T4" fmla="*/ 8 w 768"/>
                <a:gd name="T5" fmla="*/ 0 h 240"/>
                <a:gd name="T6" fmla="*/ 11 w 768"/>
                <a:gd name="T7" fmla="*/ 1 h 240"/>
                <a:gd name="T8" fmla="*/ 4 w 768"/>
                <a:gd name="T9" fmla="*/ 1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grpSp>
      <p:grpSp>
        <p:nvGrpSpPr>
          <p:cNvPr id="59399" name="Group 32"/>
          <p:cNvGrpSpPr>
            <a:grpSpLocks/>
          </p:cNvGrpSpPr>
          <p:nvPr/>
        </p:nvGrpSpPr>
        <p:grpSpPr bwMode="auto">
          <a:xfrm>
            <a:off x="7446964" y="3916365"/>
            <a:ext cx="746125" cy="636588"/>
            <a:chOff x="3168" y="1240"/>
            <a:chExt cx="470" cy="401"/>
          </a:xfrm>
        </p:grpSpPr>
        <p:sp>
          <p:nvSpPr>
            <p:cNvPr id="59431" name="Freeform 33"/>
            <p:cNvSpPr>
              <a:spLocks/>
            </p:cNvSpPr>
            <p:nvPr/>
          </p:nvSpPr>
          <p:spPr bwMode="auto">
            <a:xfrm>
              <a:off x="3168" y="1408"/>
              <a:ext cx="116" cy="233"/>
            </a:xfrm>
            <a:custGeom>
              <a:avLst/>
              <a:gdLst>
                <a:gd name="T0" fmla="*/ 0 w 288"/>
                <a:gd name="T1" fmla="*/ 0 h 624"/>
                <a:gd name="T2" fmla="*/ 0 w 288"/>
                <a:gd name="T3" fmla="*/ 2 h 624"/>
                <a:gd name="T4" fmla="*/ 4 w 288"/>
                <a:gd name="T5" fmla="*/ 2 h 624"/>
                <a:gd name="T6" fmla="*/ 4 w 288"/>
                <a:gd name="T7" fmla="*/ 1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32" name="Line 34"/>
            <p:cNvSpPr>
              <a:spLocks noChangeShapeType="1"/>
            </p:cNvSpPr>
            <p:nvPr/>
          </p:nvSpPr>
          <p:spPr bwMode="auto">
            <a:xfrm>
              <a:off x="3168" y="1584"/>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33" name="Line 35"/>
            <p:cNvSpPr>
              <a:spLocks noChangeShapeType="1"/>
            </p:cNvSpPr>
            <p:nvPr/>
          </p:nvSpPr>
          <p:spPr bwMode="auto">
            <a:xfrm>
              <a:off x="3168" y="1536"/>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34" name="Line 36"/>
            <p:cNvSpPr>
              <a:spLocks noChangeShapeType="1"/>
            </p:cNvSpPr>
            <p:nvPr/>
          </p:nvSpPr>
          <p:spPr bwMode="auto">
            <a:xfrm>
              <a:off x="3168" y="1488"/>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35" name="Line 37"/>
            <p:cNvSpPr>
              <a:spLocks noChangeShapeType="1"/>
            </p:cNvSpPr>
            <p:nvPr/>
          </p:nvSpPr>
          <p:spPr bwMode="auto">
            <a:xfrm>
              <a:off x="3168" y="1440"/>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36" name="Freeform 38"/>
            <p:cNvSpPr>
              <a:spLocks/>
            </p:cNvSpPr>
            <p:nvPr/>
          </p:nvSpPr>
          <p:spPr bwMode="auto">
            <a:xfrm>
              <a:off x="3348" y="1396"/>
              <a:ext cx="116" cy="233"/>
            </a:xfrm>
            <a:custGeom>
              <a:avLst/>
              <a:gdLst>
                <a:gd name="T0" fmla="*/ 0 w 480"/>
                <a:gd name="T1" fmla="*/ 2 h 672"/>
                <a:gd name="T2" fmla="*/ 7 w 480"/>
                <a:gd name="T3" fmla="*/ 2 h 672"/>
                <a:gd name="T4" fmla="*/ 7 w 480"/>
                <a:gd name="T5" fmla="*/ 0 h 672"/>
                <a:gd name="T6" fmla="*/ 0 w 480"/>
                <a:gd name="T7" fmla="*/ 1 h 672"/>
                <a:gd name="T8" fmla="*/ 0 w 480"/>
                <a:gd name="T9" fmla="*/ 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37" name="Text Box 39"/>
            <p:cNvSpPr txBox="1">
              <a:spLocks noChangeArrowheads="1"/>
            </p:cNvSpPr>
            <p:nvPr/>
          </p:nvSpPr>
          <p:spPr bwMode="auto">
            <a:xfrm>
              <a:off x="3362" y="1449"/>
              <a:ext cx="276" cy="116"/>
            </a:xfrm>
            <a:prstGeom prst="rect">
              <a:avLst/>
            </a:prstGeom>
            <a:solidFill>
              <a:srgbClr val="FE7E93"/>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Server</a:t>
              </a:r>
            </a:p>
          </p:txBody>
        </p:sp>
        <p:sp>
          <p:nvSpPr>
            <p:cNvPr id="59438" name="Freeform 40"/>
            <p:cNvSpPr>
              <a:spLocks/>
            </p:cNvSpPr>
            <p:nvPr/>
          </p:nvSpPr>
          <p:spPr bwMode="auto">
            <a:xfrm>
              <a:off x="3168" y="1240"/>
              <a:ext cx="116" cy="233"/>
            </a:xfrm>
            <a:custGeom>
              <a:avLst/>
              <a:gdLst>
                <a:gd name="T0" fmla="*/ 4 w 768"/>
                <a:gd name="T1" fmla="*/ 1 h 240"/>
                <a:gd name="T2" fmla="*/ 0 w 768"/>
                <a:gd name="T3" fmla="*/ 1 h 240"/>
                <a:gd name="T4" fmla="*/ 8 w 768"/>
                <a:gd name="T5" fmla="*/ 0 h 240"/>
                <a:gd name="T6" fmla="*/ 11 w 768"/>
                <a:gd name="T7" fmla="*/ 1 h 240"/>
                <a:gd name="T8" fmla="*/ 4 w 768"/>
                <a:gd name="T9" fmla="*/ 1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grpSp>
      <p:grpSp>
        <p:nvGrpSpPr>
          <p:cNvPr id="59400" name="Group 41"/>
          <p:cNvGrpSpPr>
            <a:grpSpLocks/>
          </p:cNvGrpSpPr>
          <p:nvPr/>
        </p:nvGrpSpPr>
        <p:grpSpPr bwMode="auto">
          <a:xfrm>
            <a:off x="5541963" y="2563813"/>
            <a:ext cx="1262062" cy="1060450"/>
            <a:chOff x="2400" y="1204"/>
            <a:chExt cx="795" cy="668"/>
          </a:xfrm>
        </p:grpSpPr>
        <p:sp>
          <p:nvSpPr>
            <p:cNvPr id="59423" name="Freeform 42"/>
            <p:cNvSpPr>
              <a:spLocks/>
            </p:cNvSpPr>
            <p:nvPr/>
          </p:nvSpPr>
          <p:spPr bwMode="auto">
            <a:xfrm>
              <a:off x="2400" y="1540"/>
              <a:ext cx="116" cy="233"/>
            </a:xfrm>
            <a:custGeom>
              <a:avLst/>
              <a:gdLst>
                <a:gd name="T0" fmla="*/ 0 w 288"/>
                <a:gd name="T1" fmla="*/ 0 h 624"/>
                <a:gd name="T2" fmla="*/ 0 w 288"/>
                <a:gd name="T3" fmla="*/ 528 h 624"/>
                <a:gd name="T4" fmla="*/ 833 w 288"/>
                <a:gd name="T5" fmla="*/ 624 h 624"/>
                <a:gd name="T6" fmla="*/ 833 w 288"/>
                <a:gd name="T7" fmla="*/ 96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24" name="Line 43"/>
            <p:cNvSpPr>
              <a:spLocks noChangeShapeType="1"/>
            </p:cNvSpPr>
            <p:nvPr/>
          </p:nvSpPr>
          <p:spPr bwMode="auto">
            <a:xfrm>
              <a:off x="2400" y="1776"/>
              <a:ext cx="324"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25" name="Line 44"/>
            <p:cNvSpPr>
              <a:spLocks noChangeShapeType="1"/>
            </p:cNvSpPr>
            <p:nvPr/>
          </p:nvSpPr>
          <p:spPr bwMode="auto">
            <a:xfrm>
              <a:off x="2400" y="1680"/>
              <a:ext cx="324"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26" name="Line 45"/>
            <p:cNvSpPr>
              <a:spLocks noChangeShapeType="1"/>
            </p:cNvSpPr>
            <p:nvPr/>
          </p:nvSpPr>
          <p:spPr bwMode="auto">
            <a:xfrm>
              <a:off x="2400" y="1584"/>
              <a:ext cx="324"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27" name="Line 46"/>
            <p:cNvSpPr>
              <a:spLocks noChangeShapeType="1"/>
            </p:cNvSpPr>
            <p:nvPr/>
          </p:nvSpPr>
          <p:spPr bwMode="auto">
            <a:xfrm>
              <a:off x="2400" y="1488"/>
              <a:ext cx="324"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28" name="Freeform 47"/>
            <p:cNvSpPr>
              <a:spLocks/>
            </p:cNvSpPr>
            <p:nvPr/>
          </p:nvSpPr>
          <p:spPr bwMode="auto">
            <a:xfrm>
              <a:off x="2724" y="1516"/>
              <a:ext cx="116" cy="233"/>
            </a:xfrm>
            <a:custGeom>
              <a:avLst/>
              <a:gdLst>
                <a:gd name="T0" fmla="*/ 0 w 480"/>
                <a:gd name="T1" fmla="*/ 672 h 672"/>
                <a:gd name="T2" fmla="*/ 1361 w 480"/>
                <a:gd name="T3" fmla="*/ 528 h 672"/>
                <a:gd name="T4" fmla="*/ 1361 w 480"/>
                <a:gd name="T5" fmla="*/ 0 h 672"/>
                <a:gd name="T6" fmla="*/ 0 w 480"/>
                <a:gd name="T7" fmla="*/ 144 h 672"/>
                <a:gd name="T8" fmla="*/ 0 w 480"/>
                <a:gd name="T9" fmla="*/ 67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29" name="Text Box 48"/>
            <p:cNvSpPr txBox="1">
              <a:spLocks noChangeArrowheads="1"/>
            </p:cNvSpPr>
            <p:nvPr/>
          </p:nvSpPr>
          <p:spPr bwMode="auto">
            <a:xfrm rot="20820000">
              <a:off x="2754" y="1392"/>
              <a:ext cx="441"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NAT</a:t>
              </a:r>
            </a:p>
            <a:p>
              <a:pPr algn="ctr"/>
              <a:r>
                <a:rPr lang="en-US" altLang="zh-CN" sz="1200" b="1">
                  <a:solidFill>
                    <a:schemeClr val="tx1"/>
                  </a:solidFill>
                </a:rPr>
                <a:t>Gateway</a:t>
              </a:r>
            </a:p>
            <a:p>
              <a:pPr algn="ctr"/>
              <a:r>
                <a:rPr lang="en-US" altLang="zh-CN" sz="1200" b="1">
                  <a:solidFill>
                    <a:schemeClr val="tx1"/>
                  </a:solidFill>
                </a:rPr>
                <a:t>(Virtual</a:t>
              </a:r>
            </a:p>
            <a:p>
              <a:pPr algn="ctr"/>
              <a:r>
                <a:rPr lang="en-US" altLang="zh-CN" sz="1200" b="1">
                  <a:solidFill>
                    <a:schemeClr val="tx1"/>
                  </a:solidFill>
                </a:rPr>
                <a:t>Server)</a:t>
              </a:r>
            </a:p>
          </p:txBody>
        </p:sp>
        <p:sp>
          <p:nvSpPr>
            <p:cNvPr id="59430" name="Freeform 49"/>
            <p:cNvSpPr>
              <a:spLocks/>
            </p:cNvSpPr>
            <p:nvPr/>
          </p:nvSpPr>
          <p:spPr bwMode="auto">
            <a:xfrm>
              <a:off x="2400" y="1204"/>
              <a:ext cx="116" cy="233"/>
            </a:xfrm>
            <a:custGeom>
              <a:avLst/>
              <a:gdLst>
                <a:gd name="T0" fmla="*/ 825 w 768"/>
                <a:gd name="T1" fmla="*/ 240 h 240"/>
                <a:gd name="T2" fmla="*/ 0 w 768"/>
                <a:gd name="T3" fmla="*/ 144 h 240"/>
                <a:gd name="T4" fmla="*/ 1507 w 768"/>
                <a:gd name="T5" fmla="*/ 0 h 240"/>
                <a:gd name="T6" fmla="*/ 2195 w 768"/>
                <a:gd name="T7" fmla="*/ 96 h 240"/>
                <a:gd name="T8" fmla="*/ 825 w 768"/>
                <a:gd name="T9" fmla="*/ 240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grpSp>
      <p:sp>
        <p:nvSpPr>
          <p:cNvPr id="59401" name="Text Box 50"/>
          <p:cNvSpPr txBox="1">
            <a:spLocks noChangeArrowheads="1"/>
          </p:cNvSpPr>
          <p:nvPr/>
        </p:nvSpPr>
        <p:spPr bwMode="auto">
          <a:xfrm>
            <a:off x="8671270" y="2699730"/>
            <a:ext cx="913713" cy="631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20000"/>
              </a:spcBef>
            </a:pPr>
            <a:r>
              <a:rPr lang="en-US" altLang="zh-CN" sz="1600" b="1">
                <a:solidFill>
                  <a:schemeClr val="tx1"/>
                </a:solidFill>
              </a:rPr>
              <a:t>Private</a:t>
            </a:r>
          </a:p>
          <a:p>
            <a:pPr algn="ctr">
              <a:spcBef>
                <a:spcPct val="20000"/>
              </a:spcBef>
            </a:pPr>
            <a:r>
              <a:rPr lang="en-US" altLang="zh-CN" sz="1600" b="1">
                <a:solidFill>
                  <a:schemeClr val="tx1"/>
                </a:solidFill>
              </a:rPr>
              <a:t>Intranet</a:t>
            </a:r>
          </a:p>
        </p:txBody>
      </p:sp>
      <p:sp>
        <p:nvSpPr>
          <p:cNvPr id="59402" name="Line 51"/>
          <p:cNvSpPr>
            <a:spLocks noChangeShapeType="1"/>
          </p:cNvSpPr>
          <p:nvPr/>
        </p:nvSpPr>
        <p:spPr bwMode="auto">
          <a:xfrm flipV="1">
            <a:off x="6913563" y="2405063"/>
            <a:ext cx="533400" cy="533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9403" name="Line 52"/>
          <p:cNvSpPr>
            <a:spLocks noChangeShapeType="1"/>
          </p:cNvSpPr>
          <p:nvPr/>
        </p:nvSpPr>
        <p:spPr bwMode="auto">
          <a:xfrm flipV="1">
            <a:off x="6913563" y="2938463"/>
            <a:ext cx="533400" cy="76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9404" name="Line 53"/>
          <p:cNvSpPr>
            <a:spLocks noChangeShapeType="1"/>
          </p:cNvSpPr>
          <p:nvPr/>
        </p:nvSpPr>
        <p:spPr bwMode="auto">
          <a:xfrm>
            <a:off x="6913563" y="3090863"/>
            <a:ext cx="533400" cy="533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9405" name="Line 54"/>
          <p:cNvSpPr>
            <a:spLocks noChangeShapeType="1"/>
          </p:cNvSpPr>
          <p:nvPr/>
        </p:nvSpPr>
        <p:spPr bwMode="auto">
          <a:xfrm>
            <a:off x="6913563" y="3167063"/>
            <a:ext cx="533400" cy="1143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9406" name="Freeform 55"/>
          <p:cNvSpPr>
            <a:spLocks/>
          </p:cNvSpPr>
          <p:nvPr/>
        </p:nvSpPr>
        <p:spPr bwMode="auto">
          <a:xfrm>
            <a:off x="2417763" y="3096697"/>
            <a:ext cx="2667000" cy="369332"/>
          </a:xfrm>
          <a:custGeom>
            <a:avLst/>
            <a:gdLst>
              <a:gd name="T0" fmla="*/ 2147483646 w 482"/>
              <a:gd name="T1" fmla="*/ 2147483646 h 401"/>
              <a:gd name="T2" fmla="*/ 0 w 482"/>
              <a:gd name="T3" fmla="*/ 2147483646 h 401"/>
              <a:gd name="T4" fmla="*/ 2147483646 w 482"/>
              <a:gd name="T5" fmla="*/ 2147483646 h 401"/>
              <a:gd name="T6" fmla="*/ 2147483646 w 482"/>
              <a:gd name="T7" fmla="*/ 2147483646 h 401"/>
              <a:gd name="T8" fmla="*/ 2147483646 w 482"/>
              <a:gd name="T9" fmla="*/ 2147483646 h 401"/>
              <a:gd name="T10" fmla="*/ 2147483646 w 482"/>
              <a:gd name="T11" fmla="*/ 2147483646 h 401"/>
              <a:gd name="T12" fmla="*/ 2147483646 w 482"/>
              <a:gd name="T13" fmla="*/ 2147483646 h 401"/>
              <a:gd name="T14" fmla="*/ 2147483646 w 482"/>
              <a:gd name="T15" fmla="*/ 2147483646 h 401"/>
              <a:gd name="T16" fmla="*/ 2147483646 w 482"/>
              <a:gd name="T17" fmla="*/ 2147483646 h 401"/>
              <a:gd name="T18" fmla="*/ 2147483646 w 482"/>
              <a:gd name="T19" fmla="*/ 2147483646 h 401"/>
              <a:gd name="T20" fmla="*/ 2147483646 w 482"/>
              <a:gd name="T21" fmla="*/ 2147483646 h 401"/>
              <a:gd name="T22" fmla="*/ 2147483646 w 482"/>
              <a:gd name="T23" fmla="*/ 2147483646 h 401"/>
              <a:gd name="T24" fmla="*/ 2147483646 w 482"/>
              <a:gd name="T25" fmla="*/ 2147483646 h 401"/>
              <a:gd name="T26" fmla="*/ 2147483646 w 482"/>
              <a:gd name="T27" fmla="*/ 2147483646 h 401"/>
              <a:gd name="T28" fmla="*/ 2147483646 w 482"/>
              <a:gd name="T29" fmla="*/ 2147483646 h 401"/>
              <a:gd name="T30" fmla="*/ 2147483646 w 482"/>
              <a:gd name="T31" fmla="*/ 2147483646 h 401"/>
              <a:gd name="T32" fmla="*/ 2147483646 w 482"/>
              <a:gd name="T33" fmla="*/ 2147483646 h 401"/>
              <a:gd name="T34" fmla="*/ 2147483646 w 482"/>
              <a:gd name="T35" fmla="*/ 2147483646 h 401"/>
              <a:gd name="T36" fmla="*/ 2147483646 w 482"/>
              <a:gd name="T37" fmla="*/ 2147483646 h 401"/>
              <a:gd name="T38" fmla="*/ 2147483646 w 482"/>
              <a:gd name="T39" fmla="*/ 2147483646 h 401"/>
              <a:gd name="T40" fmla="*/ 2147483646 w 482"/>
              <a:gd name="T41" fmla="*/ 0 h 401"/>
              <a:gd name="T42" fmla="*/ 2147483646 w 482"/>
              <a:gd name="T43" fmla="*/ 2147483646 h 401"/>
              <a:gd name="T44" fmla="*/ 2147483646 w 482"/>
              <a:gd name="T45" fmla="*/ 2147483646 h 401"/>
              <a:gd name="T46" fmla="*/ 2147483646 w 482"/>
              <a:gd name="T47" fmla="*/ 2147483646 h 401"/>
              <a:gd name="T48" fmla="*/ 2147483646 w 482"/>
              <a:gd name="T49" fmla="*/ 2147483646 h 401"/>
              <a:gd name="T50" fmla="*/ 2147483646 w 482"/>
              <a:gd name="T51" fmla="*/ 2147483646 h 401"/>
              <a:gd name="T52" fmla="*/ 2147483646 w 482"/>
              <a:gd name="T53" fmla="*/ 2147483646 h 401"/>
              <a:gd name="T54" fmla="*/ 2147483646 w 482"/>
              <a:gd name="T55" fmla="*/ 2147483646 h 401"/>
              <a:gd name="T56" fmla="*/ 2147483646 w 482"/>
              <a:gd name="T57" fmla="*/ 2147483646 h 401"/>
              <a:gd name="T58" fmla="*/ 2147483646 w 482"/>
              <a:gd name="T59" fmla="*/ 2147483646 h 40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82"/>
              <a:gd name="T91" fmla="*/ 0 h 401"/>
              <a:gd name="T92" fmla="*/ 482 w 482"/>
              <a:gd name="T93" fmla="*/ 401 h 40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82" h="401">
                <a:moveTo>
                  <a:pt x="46" y="211"/>
                </a:moveTo>
                <a:cubicBezTo>
                  <a:pt x="27" y="220"/>
                  <a:pt x="14" y="227"/>
                  <a:pt x="0" y="242"/>
                </a:cubicBezTo>
                <a:cubicBezTo>
                  <a:pt x="2" y="257"/>
                  <a:pt x="0" y="273"/>
                  <a:pt x="5" y="288"/>
                </a:cubicBezTo>
                <a:cubicBezTo>
                  <a:pt x="20" y="334"/>
                  <a:pt x="61" y="340"/>
                  <a:pt x="102" y="344"/>
                </a:cubicBezTo>
                <a:cubicBezTo>
                  <a:pt x="117" y="376"/>
                  <a:pt x="106" y="360"/>
                  <a:pt x="138" y="390"/>
                </a:cubicBezTo>
                <a:cubicBezTo>
                  <a:pt x="149" y="401"/>
                  <a:pt x="184" y="401"/>
                  <a:pt x="184" y="401"/>
                </a:cubicBezTo>
                <a:cubicBezTo>
                  <a:pt x="198" y="399"/>
                  <a:pt x="212" y="398"/>
                  <a:pt x="225" y="395"/>
                </a:cubicBezTo>
                <a:cubicBezTo>
                  <a:pt x="236" y="393"/>
                  <a:pt x="256" y="385"/>
                  <a:pt x="256" y="385"/>
                </a:cubicBezTo>
                <a:cubicBezTo>
                  <a:pt x="272" y="369"/>
                  <a:pt x="285" y="357"/>
                  <a:pt x="297" y="339"/>
                </a:cubicBezTo>
                <a:cubicBezTo>
                  <a:pt x="323" y="356"/>
                  <a:pt x="306" y="347"/>
                  <a:pt x="348" y="360"/>
                </a:cubicBezTo>
                <a:cubicBezTo>
                  <a:pt x="358" y="363"/>
                  <a:pt x="379" y="370"/>
                  <a:pt x="379" y="370"/>
                </a:cubicBezTo>
                <a:cubicBezTo>
                  <a:pt x="397" y="361"/>
                  <a:pt x="407" y="350"/>
                  <a:pt x="425" y="344"/>
                </a:cubicBezTo>
                <a:cubicBezTo>
                  <a:pt x="454" y="318"/>
                  <a:pt x="464" y="295"/>
                  <a:pt x="471" y="257"/>
                </a:cubicBezTo>
                <a:cubicBezTo>
                  <a:pt x="469" y="252"/>
                  <a:pt x="470" y="246"/>
                  <a:pt x="466" y="242"/>
                </a:cubicBezTo>
                <a:cubicBezTo>
                  <a:pt x="462" y="238"/>
                  <a:pt x="451" y="241"/>
                  <a:pt x="451" y="236"/>
                </a:cubicBezTo>
                <a:cubicBezTo>
                  <a:pt x="451" y="228"/>
                  <a:pt x="462" y="223"/>
                  <a:pt x="466" y="216"/>
                </a:cubicBezTo>
                <a:cubicBezTo>
                  <a:pt x="476" y="200"/>
                  <a:pt x="477" y="196"/>
                  <a:pt x="482" y="180"/>
                </a:cubicBezTo>
                <a:cubicBezTo>
                  <a:pt x="477" y="141"/>
                  <a:pt x="476" y="118"/>
                  <a:pt x="436" y="108"/>
                </a:cubicBezTo>
                <a:cubicBezTo>
                  <a:pt x="421" y="45"/>
                  <a:pt x="423" y="44"/>
                  <a:pt x="359" y="31"/>
                </a:cubicBezTo>
                <a:cubicBezTo>
                  <a:pt x="338" y="38"/>
                  <a:pt x="334" y="49"/>
                  <a:pt x="312" y="42"/>
                </a:cubicBezTo>
                <a:cubicBezTo>
                  <a:pt x="296" y="25"/>
                  <a:pt x="278" y="9"/>
                  <a:pt x="256" y="0"/>
                </a:cubicBezTo>
                <a:cubicBezTo>
                  <a:pt x="241" y="3"/>
                  <a:pt x="223" y="2"/>
                  <a:pt x="210" y="11"/>
                </a:cubicBezTo>
                <a:cubicBezTo>
                  <a:pt x="200" y="18"/>
                  <a:pt x="184" y="36"/>
                  <a:pt x="184" y="36"/>
                </a:cubicBezTo>
                <a:cubicBezTo>
                  <a:pt x="179" y="31"/>
                  <a:pt x="175" y="24"/>
                  <a:pt x="169" y="21"/>
                </a:cubicBezTo>
                <a:cubicBezTo>
                  <a:pt x="159" y="16"/>
                  <a:pt x="138" y="11"/>
                  <a:pt x="138" y="11"/>
                </a:cubicBezTo>
                <a:cubicBezTo>
                  <a:pt x="116" y="18"/>
                  <a:pt x="111" y="27"/>
                  <a:pt x="97" y="47"/>
                </a:cubicBezTo>
                <a:cubicBezTo>
                  <a:pt x="85" y="82"/>
                  <a:pt x="84" y="67"/>
                  <a:pt x="92" y="93"/>
                </a:cubicBezTo>
                <a:cubicBezTo>
                  <a:pt x="67" y="110"/>
                  <a:pt x="49" y="118"/>
                  <a:pt x="25" y="139"/>
                </a:cubicBezTo>
                <a:cubicBezTo>
                  <a:pt x="14" y="172"/>
                  <a:pt x="10" y="186"/>
                  <a:pt x="46" y="195"/>
                </a:cubicBezTo>
                <a:cubicBezTo>
                  <a:pt x="41" y="213"/>
                  <a:pt x="35" y="211"/>
                  <a:pt x="46" y="211"/>
                </a:cubicBezTo>
                <a:close/>
              </a:path>
            </a:pathLst>
          </a:custGeom>
          <a:solidFill>
            <a:srgbClr val="969696"/>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endParaRPr lang="zh-CN" altLang="en-US"/>
          </a:p>
        </p:txBody>
      </p:sp>
      <p:sp>
        <p:nvSpPr>
          <p:cNvPr id="59407" name="Text Box 56"/>
          <p:cNvSpPr txBox="1">
            <a:spLocks noChangeArrowheads="1"/>
          </p:cNvSpPr>
          <p:nvPr/>
        </p:nvSpPr>
        <p:spPr bwMode="auto">
          <a:xfrm>
            <a:off x="3254773" y="3006118"/>
            <a:ext cx="902492" cy="631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20000"/>
              </a:spcBef>
            </a:pPr>
            <a:r>
              <a:rPr lang="en-US" altLang="zh-CN" sz="1600" b="1">
                <a:solidFill>
                  <a:schemeClr val="tx1"/>
                </a:solidFill>
              </a:rPr>
              <a:t>Public</a:t>
            </a:r>
          </a:p>
          <a:p>
            <a:pPr algn="ctr">
              <a:spcBef>
                <a:spcPct val="20000"/>
              </a:spcBef>
            </a:pPr>
            <a:r>
              <a:rPr lang="en-US" altLang="zh-CN" sz="1600" b="1">
                <a:solidFill>
                  <a:schemeClr val="tx1"/>
                </a:solidFill>
              </a:rPr>
              <a:t>Internet</a:t>
            </a:r>
          </a:p>
        </p:txBody>
      </p:sp>
      <p:sp>
        <p:nvSpPr>
          <p:cNvPr id="59408" name="Line 57"/>
          <p:cNvSpPr>
            <a:spLocks noChangeShapeType="1"/>
          </p:cNvSpPr>
          <p:nvPr/>
        </p:nvSpPr>
        <p:spPr bwMode="auto">
          <a:xfrm>
            <a:off x="5065713" y="3235325"/>
            <a:ext cx="476250" cy="79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grpSp>
        <p:nvGrpSpPr>
          <p:cNvPr id="59409" name="Group 58"/>
          <p:cNvGrpSpPr>
            <a:grpSpLocks/>
          </p:cNvGrpSpPr>
          <p:nvPr/>
        </p:nvGrpSpPr>
        <p:grpSpPr bwMode="auto">
          <a:xfrm>
            <a:off x="1843088" y="3004396"/>
            <a:ext cx="457200" cy="690806"/>
            <a:chOff x="528" y="217"/>
            <a:chExt cx="384" cy="621"/>
          </a:xfrm>
        </p:grpSpPr>
        <p:sp>
          <p:nvSpPr>
            <p:cNvPr id="59412" name="Rectangle 59"/>
            <p:cNvSpPr>
              <a:spLocks noChangeArrowheads="1"/>
            </p:cNvSpPr>
            <p:nvPr/>
          </p:nvSpPr>
          <p:spPr bwMode="auto">
            <a:xfrm>
              <a:off x="642" y="221"/>
              <a:ext cx="155" cy="470"/>
            </a:xfrm>
            <a:prstGeom prst="rect">
              <a:avLst/>
            </a:prstGeom>
            <a:solidFill>
              <a:schemeClr val="accent2"/>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9413" name="Freeform 60"/>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solidFill>
              <a:schemeClr val="accent2"/>
            </a:solidFill>
            <a:ln w="12700">
              <a:solidFill>
                <a:schemeClr val="tx1"/>
              </a:solidFill>
              <a:round/>
              <a:headEnd/>
              <a:tailEnd/>
            </a:ln>
          </p:spPr>
          <p:txBody>
            <a:bodyPr anchor="ctr">
              <a:spAutoFit/>
            </a:bodyPr>
            <a:lstStyle/>
            <a:p>
              <a:endParaRPr lang="zh-CN" altLang="en-US"/>
            </a:p>
          </p:txBody>
        </p:sp>
        <p:sp>
          <p:nvSpPr>
            <p:cNvPr id="59414" name="Line 61"/>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15" name="Line 62"/>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16" name="Line 63"/>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17" name="Line 64"/>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18" name="Line 65"/>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19" name="Line 66"/>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20" name="Line 67"/>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21" name="Line 68"/>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22" name="Rectangle 69"/>
            <p:cNvSpPr>
              <a:spLocks noChangeArrowheads="1"/>
            </p:cNvSpPr>
            <p:nvPr/>
          </p:nvSpPr>
          <p:spPr bwMode="auto">
            <a:xfrm>
              <a:off x="597" y="217"/>
              <a:ext cx="244" cy="470"/>
            </a:xfrm>
            <a:prstGeom prst="rect">
              <a:avLst/>
            </a:prstGeom>
            <a:solidFill>
              <a:schemeClr val="accent2"/>
            </a:solidFill>
            <a:ln w="12700">
              <a:solidFill>
                <a:schemeClr val="tx1"/>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59410" name="Line 70"/>
          <p:cNvSpPr>
            <a:spLocks noChangeShapeType="1"/>
          </p:cNvSpPr>
          <p:nvPr/>
        </p:nvSpPr>
        <p:spPr bwMode="auto">
          <a:xfrm>
            <a:off x="2224088" y="3259138"/>
            <a:ext cx="609600" cy="76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9411" name="Rectangle 71"/>
          <p:cNvSpPr>
            <a:spLocks noGrp="1" noChangeArrowheads="1"/>
          </p:cNvSpPr>
          <p:nvPr>
            <p:ph type="title"/>
          </p:nvPr>
        </p:nvSpPr>
        <p:spPr bwMode="auto">
          <a:xfrm>
            <a:off x="2287588" y="3762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NAT</a:t>
            </a:r>
            <a:r>
              <a:rPr lang="zh-CN" altLang="en-US" sz="3600">
                <a:solidFill>
                  <a:schemeClr val="hlink"/>
                </a:solidFill>
                <a:ea typeface="华文行楷" panose="02010800040101010101" pitchFamily="2" charset="-122"/>
              </a:rPr>
              <a:t>实现负载平衡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98499">
                                            <p:txEl>
                                              <p:pRg st="0" end="0"/>
                                            </p:txEl>
                                          </p:spTgt>
                                        </p:tgtEl>
                                        <p:attrNameLst>
                                          <p:attrName>style.visibility</p:attrName>
                                        </p:attrNameLst>
                                      </p:cBhvr>
                                      <p:to>
                                        <p:strVal val="visible"/>
                                      </p:to>
                                    </p:set>
                                    <p:anim calcmode="lin" valueType="num">
                                      <p:cBhvr additive="base">
                                        <p:cTn id="7" dur="500" fill="hold"/>
                                        <p:tgtEl>
                                          <p:spTgt spid="189849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984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98499">
                                            <p:txEl>
                                              <p:pRg st="1" end="1"/>
                                            </p:txEl>
                                          </p:spTgt>
                                        </p:tgtEl>
                                        <p:attrNameLst>
                                          <p:attrName>style.visibility</p:attrName>
                                        </p:attrNameLst>
                                      </p:cBhvr>
                                      <p:to>
                                        <p:strVal val="visible"/>
                                      </p:to>
                                    </p:set>
                                    <p:anim calcmode="lin" valueType="num">
                                      <p:cBhvr additive="base">
                                        <p:cTn id="13" dur="500" fill="hold"/>
                                        <p:tgtEl>
                                          <p:spTgt spid="189849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9849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8499"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bwMode="auto">
          <a:xfrm>
            <a:off x="2249488" y="3762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TCP/IP </a:t>
            </a:r>
            <a:r>
              <a:rPr lang="zh-CN" altLang="en-US" sz="3600">
                <a:solidFill>
                  <a:schemeClr val="hlink"/>
                </a:solidFill>
                <a:ea typeface="华文行楷" panose="02010800040101010101" pitchFamily="2" charset="-122"/>
              </a:rPr>
              <a:t>的地址解析</a:t>
            </a:r>
          </a:p>
        </p:txBody>
      </p:sp>
      <p:sp>
        <p:nvSpPr>
          <p:cNvPr id="60419" name="Text Box 3"/>
          <p:cNvSpPr txBox="1">
            <a:spLocks noChangeArrowheads="1"/>
          </p:cNvSpPr>
          <p:nvPr/>
        </p:nvSpPr>
        <p:spPr bwMode="auto">
          <a:xfrm>
            <a:off x="2117725" y="1854201"/>
            <a:ext cx="74374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zh-CN" altLang="zh-CN"/>
          </a:p>
        </p:txBody>
      </p:sp>
      <p:sp>
        <p:nvSpPr>
          <p:cNvPr id="60420" name="Text Box 4"/>
          <p:cNvSpPr txBox="1">
            <a:spLocks noChangeArrowheads="1"/>
          </p:cNvSpPr>
          <p:nvPr/>
        </p:nvSpPr>
        <p:spPr bwMode="auto">
          <a:xfrm>
            <a:off x="2206626" y="2244726"/>
            <a:ext cx="8139113" cy="367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10000"/>
              </a:spcBef>
            </a:pPr>
            <a:r>
              <a:rPr lang="en-US" altLang="zh-CN">
                <a:solidFill>
                  <a:srgbClr val="000000"/>
                </a:solidFill>
                <a:latin typeface="Arial" panose="020B0604020202020204" pitchFamily="34" charset="0"/>
              </a:rPr>
              <a:t>• Note:</a:t>
            </a:r>
          </a:p>
          <a:p>
            <a:pPr>
              <a:spcBef>
                <a:spcPct val="10000"/>
              </a:spcBef>
            </a:pPr>
            <a:r>
              <a:rPr lang="en-US" altLang="zh-CN">
                <a:solidFill>
                  <a:srgbClr val="000000"/>
                </a:solidFill>
                <a:latin typeface="Arial" panose="020B0604020202020204" pitchFamily="34" charset="0"/>
              </a:rPr>
              <a:t>– Internet </a:t>
            </a:r>
            <a:r>
              <a:rPr lang="zh-CN" altLang="en-US">
                <a:solidFill>
                  <a:srgbClr val="000000"/>
                </a:solidFill>
                <a:latin typeface="Arial" panose="020B0604020202020204" pitchFamily="34" charset="0"/>
              </a:rPr>
              <a:t>基于 </a:t>
            </a:r>
            <a:r>
              <a:rPr lang="en-US" altLang="zh-CN">
                <a:solidFill>
                  <a:srgbClr val="000000"/>
                </a:solidFill>
                <a:latin typeface="Arial" panose="020B0604020202020204" pitchFamily="34" charset="0"/>
              </a:rPr>
              <a:t>IP </a:t>
            </a:r>
            <a:r>
              <a:rPr lang="zh-CN" altLang="en-US">
                <a:solidFill>
                  <a:srgbClr val="000000"/>
                </a:solidFill>
                <a:latin typeface="Arial" panose="020B0604020202020204" pitchFamily="34" charset="0"/>
              </a:rPr>
              <a:t>地址</a:t>
            </a:r>
          </a:p>
          <a:p>
            <a:pPr>
              <a:spcBef>
                <a:spcPct val="1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数据链路协议 </a:t>
            </a:r>
            <a:r>
              <a:rPr lang="en-US" altLang="zh-CN">
                <a:solidFill>
                  <a:srgbClr val="000000"/>
                </a:solidFill>
                <a:latin typeface="Arial" panose="020B0604020202020204" pitchFamily="34" charset="0"/>
              </a:rPr>
              <a:t>(Ethernet, FDDI, ATM) </a:t>
            </a:r>
            <a:r>
              <a:rPr lang="zh-CN" altLang="en-US">
                <a:solidFill>
                  <a:srgbClr val="000000"/>
                </a:solidFill>
                <a:latin typeface="Arial" panose="020B0604020202020204" pitchFamily="34" charset="0"/>
              </a:rPr>
              <a:t>具有不同的 </a:t>
            </a:r>
            <a:r>
              <a:rPr lang="en-US" altLang="zh-CN">
                <a:solidFill>
                  <a:srgbClr val="000000"/>
                </a:solidFill>
                <a:latin typeface="Arial" panose="020B0604020202020204" pitchFamily="34" charset="0"/>
              </a:rPr>
              <a:t>(MAC) </a:t>
            </a:r>
            <a:r>
              <a:rPr lang="zh-CN" altLang="en-US">
                <a:solidFill>
                  <a:srgbClr val="000000"/>
                </a:solidFill>
                <a:latin typeface="Arial" panose="020B0604020202020204" pitchFamily="34" charset="0"/>
              </a:rPr>
              <a:t>地址</a:t>
            </a:r>
          </a:p>
          <a:p>
            <a:pPr>
              <a:spcBef>
                <a:spcPct val="10000"/>
              </a:spcBef>
            </a:pPr>
            <a:r>
              <a:rPr lang="en-US" altLang="zh-CN">
                <a:solidFill>
                  <a:srgbClr val="000000"/>
                </a:solidFill>
                <a:latin typeface="Arial" panose="020B0604020202020204" pitchFamily="34" charset="0"/>
              </a:rPr>
              <a:t>• ARP</a:t>
            </a:r>
            <a:r>
              <a:rPr lang="zh-CN" altLang="en-US">
                <a:solidFill>
                  <a:srgbClr val="000000"/>
                </a:solidFill>
                <a:latin typeface="Arial" panose="020B0604020202020204" pitchFamily="34" charset="0"/>
              </a:rPr>
              <a:t>和 </a:t>
            </a:r>
            <a:r>
              <a:rPr lang="en-US" altLang="zh-CN">
                <a:solidFill>
                  <a:srgbClr val="000000"/>
                </a:solidFill>
                <a:latin typeface="Arial" panose="020B0604020202020204" pitchFamily="34" charset="0"/>
              </a:rPr>
              <a:t>RARP </a:t>
            </a:r>
            <a:r>
              <a:rPr lang="zh-CN" altLang="en-US">
                <a:solidFill>
                  <a:srgbClr val="000000"/>
                </a:solidFill>
                <a:latin typeface="Arial" panose="020B0604020202020204" pitchFamily="34" charset="0"/>
              </a:rPr>
              <a:t>协议负责</a:t>
            </a:r>
            <a:r>
              <a:rPr lang="zh-CN" altLang="en-US">
                <a:solidFill>
                  <a:srgbClr val="0000FF"/>
                </a:solidFill>
                <a:latin typeface="Arial" panose="020B0604020202020204" pitchFamily="34" charset="0"/>
              </a:rPr>
              <a:t> </a:t>
            </a:r>
            <a:r>
              <a:rPr lang="en-US" altLang="zh-CN">
                <a:solidFill>
                  <a:srgbClr val="0000FF"/>
                </a:solidFill>
                <a:latin typeface="Arial" panose="020B0604020202020204" pitchFamily="34" charset="0"/>
              </a:rPr>
              <a:t>IP </a:t>
            </a:r>
            <a:r>
              <a:rPr lang="zh-CN" altLang="en-US">
                <a:solidFill>
                  <a:srgbClr val="0000FF"/>
                </a:solidFill>
                <a:latin typeface="Arial" panose="020B0604020202020204" pitchFamily="34" charset="0"/>
              </a:rPr>
              <a:t>地址 和 </a:t>
            </a:r>
            <a:r>
              <a:rPr lang="en-US" altLang="zh-CN">
                <a:solidFill>
                  <a:srgbClr val="0000FF"/>
                </a:solidFill>
                <a:latin typeface="Arial" panose="020B0604020202020204" pitchFamily="34" charset="0"/>
              </a:rPr>
              <a:t>MAC </a:t>
            </a:r>
            <a:r>
              <a:rPr lang="zh-CN" altLang="en-US">
                <a:solidFill>
                  <a:srgbClr val="0000FF"/>
                </a:solidFill>
                <a:latin typeface="Arial" panose="020B0604020202020204" pitchFamily="34" charset="0"/>
              </a:rPr>
              <a:t>地址 之间解释</a:t>
            </a:r>
          </a:p>
          <a:p>
            <a:pPr>
              <a:spcBef>
                <a:spcPct val="1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我们将讨论 广播 </a:t>
            </a:r>
            <a:r>
              <a:rPr lang="en-US" altLang="zh-CN">
                <a:solidFill>
                  <a:srgbClr val="000000"/>
                </a:solidFill>
                <a:latin typeface="Arial" panose="020B0604020202020204" pitchFamily="34" charset="0"/>
              </a:rPr>
              <a:t>LANs </a:t>
            </a:r>
            <a:r>
              <a:rPr lang="zh-CN" altLang="en-US">
                <a:solidFill>
                  <a:srgbClr val="000000"/>
                </a:solidFill>
                <a:latin typeface="Arial" panose="020B0604020202020204" pitchFamily="34" charset="0"/>
              </a:rPr>
              <a:t>和代理 路由器的 </a:t>
            </a:r>
            <a:r>
              <a:rPr lang="en-US" altLang="zh-CN">
                <a:solidFill>
                  <a:srgbClr val="000000"/>
                </a:solidFill>
                <a:latin typeface="Arial" panose="020B0604020202020204" pitchFamily="34" charset="0"/>
              </a:rPr>
              <a:t>ARP</a:t>
            </a:r>
            <a:r>
              <a:rPr lang="zh-CN" altLang="en-US">
                <a:solidFill>
                  <a:srgbClr val="000000"/>
                </a:solidFill>
                <a:latin typeface="Arial" panose="020B0604020202020204" pitchFamily="34" charset="0"/>
              </a:rPr>
              <a:t>协议</a:t>
            </a:r>
          </a:p>
        </p:txBody>
      </p:sp>
    </p:spTree>
  </p:cSld>
  <p:clrMapOvr>
    <a:masterClrMapping/>
  </p:clrMapOvr>
  <p:transition spd="med">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body" idx="1"/>
          </p:nvPr>
        </p:nvSpPr>
        <p:spPr bwMode="auto">
          <a:xfrm>
            <a:off x="1752600" y="3810000"/>
            <a:ext cx="8726488" cy="2630488"/>
          </a:xfrm>
          <a:solidFill>
            <a:srgbClr val="FFFFFF"/>
          </a:solidFill>
          <a:ln>
            <a:solidFill>
              <a:srgbClr val="000000"/>
            </a:solidFill>
            <a:miter lim="800000"/>
            <a:headEnd/>
            <a:tailEnd/>
          </a:ln>
        </p:spPr>
        <p:txBody>
          <a:bodyPr vert="horz" wrap="square" lIns="91440" tIns="45720" rIns="91440" bIns="45720" numCol="1" rtlCol="0" anchor="t" anchorCtr="0" compatLnSpc="1">
            <a:prstTxWarp prst="textNoShape">
              <a:avLst/>
            </a:prstTxWarp>
            <a:normAutofit/>
          </a:bodyPr>
          <a:lstStyle/>
          <a:p>
            <a:pPr eaLnBrk="1" hangingPunct="1">
              <a:buFont typeface="Wingdings" panose="05000000000000000000" pitchFamily="2" charset="2"/>
              <a:buNone/>
            </a:pPr>
            <a:r>
              <a:rPr lang="en-US" altLang="zh-CN"/>
              <a:t>Step #		Source 	     Destination</a:t>
            </a:r>
          </a:p>
          <a:p>
            <a:pPr eaLnBrk="1" hangingPunct="1">
              <a:buFont typeface="Wingdings" panose="05000000000000000000" pitchFamily="2" charset="2"/>
              <a:buNone/>
            </a:pPr>
            <a:endParaRPr lang="en-US" altLang="zh-CN"/>
          </a:p>
        </p:txBody>
      </p:sp>
      <p:sp>
        <p:nvSpPr>
          <p:cNvPr id="61443" name="Text Box 3"/>
          <p:cNvSpPr txBox="1">
            <a:spLocks noChangeArrowheads="1"/>
          </p:cNvSpPr>
          <p:nvPr/>
        </p:nvSpPr>
        <p:spPr bwMode="auto">
          <a:xfrm>
            <a:off x="4419600" y="426720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IP 	Eth		IP 	  Eth</a:t>
            </a:r>
          </a:p>
        </p:txBody>
      </p:sp>
      <p:sp>
        <p:nvSpPr>
          <p:cNvPr id="61444" name="Rectangle 4"/>
          <p:cNvSpPr>
            <a:spLocks noChangeArrowheads="1"/>
          </p:cNvSpPr>
          <p:nvPr/>
        </p:nvSpPr>
        <p:spPr bwMode="auto">
          <a:xfrm>
            <a:off x="2209800" y="2667000"/>
            <a:ext cx="762000" cy="685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1800">
                <a:solidFill>
                  <a:schemeClr val="tx1"/>
                </a:solidFill>
                <a:latin typeface="Tahoma" panose="020B0604030504040204" pitchFamily="34" charset="0"/>
              </a:rPr>
              <a:t>IP</a:t>
            </a:r>
            <a:r>
              <a:rPr lang="en-US" altLang="zh-CN" sz="1800" baseline="-25000">
                <a:solidFill>
                  <a:schemeClr val="tx1"/>
                </a:solidFill>
                <a:latin typeface="Tahoma" panose="020B0604030504040204" pitchFamily="34" charset="0"/>
              </a:rPr>
              <a:t>A</a:t>
            </a:r>
          </a:p>
          <a:p>
            <a:pPr algn="ctr" eaLnBrk="1" hangingPunct="1"/>
            <a:r>
              <a:rPr lang="en-US" altLang="zh-CN" sz="1800">
                <a:solidFill>
                  <a:schemeClr val="tx1"/>
                </a:solidFill>
                <a:latin typeface="Tahoma" panose="020B0604030504040204" pitchFamily="34" charset="0"/>
              </a:rPr>
              <a:t>Eth</a:t>
            </a:r>
            <a:r>
              <a:rPr lang="en-US" altLang="zh-CN" sz="1800" baseline="-25000">
                <a:solidFill>
                  <a:schemeClr val="tx1"/>
                </a:solidFill>
                <a:latin typeface="Tahoma" panose="020B0604030504040204" pitchFamily="34" charset="0"/>
              </a:rPr>
              <a:t>A</a:t>
            </a:r>
          </a:p>
        </p:txBody>
      </p:sp>
      <p:sp>
        <p:nvSpPr>
          <p:cNvPr id="61445" name="Line 5"/>
          <p:cNvSpPr>
            <a:spLocks noChangeShapeType="1"/>
          </p:cNvSpPr>
          <p:nvPr/>
        </p:nvSpPr>
        <p:spPr bwMode="auto">
          <a:xfrm flipV="1">
            <a:off x="2971800" y="3276600"/>
            <a:ext cx="1371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46" name="AutoShape 6"/>
          <p:cNvSpPr>
            <a:spLocks noChangeArrowheads="1"/>
          </p:cNvSpPr>
          <p:nvPr/>
        </p:nvSpPr>
        <p:spPr bwMode="auto">
          <a:xfrm>
            <a:off x="4038600" y="2209800"/>
            <a:ext cx="1219200" cy="685800"/>
          </a:xfrm>
          <a:prstGeom prst="roundRect">
            <a:avLst>
              <a:gd name="adj" fmla="val 16667"/>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1800">
                <a:solidFill>
                  <a:schemeClr val="tx1"/>
                </a:solidFill>
                <a:latin typeface="Tahoma" panose="020B0604030504040204" pitchFamily="34" charset="0"/>
              </a:rPr>
              <a:t>IP</a:t>
            </a:r>
            <a:r>
              <a:rPr lang="en-US" altLang="zh-CN" sz="1800" baseline="-25000">
                <a:solidFill>
                  <a:schemeClr val="tx1"/>
                </a:solidFill>
                <a:latin typeface="Tahoma" panose="020B0604030504040204" pitchFamily="34" charset="0"/>
              </a:rPr>
              <a:t>B</a:t>
            </a:r>
          </a:p>
          <a:p>
            <a:pPr algn="ctr" eaLnBrk="1" hangingPunct="1"/>
            <a:r>
              <a:rPr lang="en-US" altLang="zh-CN" sz="1800">
                <a:solidFill>
                  <a:schemeClr val="tx1"/>
                </a:solidFill>
                <a:latin typeface="Tahoma" panose="020B0604030504040204" pitchFamily="34" charset="0"/>
              </a:rPr>
              <a:t>Eth</a:t>
            </a:r>
            <a:r>
              <a:rPr lang="en-US" altLang="zh-CN" sz="1800" baseline="-25000">
                <a:solidFill>
                  <a:schemeClr val="tx1"/>
                </a:solidFill>
                <a:latin typeface="Tahoma" panose="020B0604030504040204" pitchFamily="34" charset="0"/>
              </a:rPr>
              <a:t>B   </a:t>
            </a:r>
            <a:r>
              <a:rPr lang="en-US" altLang="zh-CN" sz="1800">
                <a:solidFill>
                  <a:schemeClr val="tx1"/>
                </a:solidFill>
                <a:latin typeface="Tahoma" panose="020B0604030504040204" pitchFamily="34" charset="0"/>
              </a:rPr>
              <a:t>Sonet</a:t>
            </a:r>
            <a:endParaRPr lang="en-US" altLang="zh-CN" sz="1800" baseline="-25000">
              <a:solidFill>
                <a:schemeClr val="tx1"/>
              </a:solidFill>
              <a:latin typeface="Tahoma" panose="020B0604030504040204" pitchFamily="34" charset="0"/>
            </a:endParaRPr>
          </a:p>
        </p:txBody>
      </p:sp>
      <p:sp>
        <p:nvSpPr>
          <p:cNvPr id="61447" name="Line 7"/>
          <p:cNvSpPr>
            <a:spLocks noChangeShapeType="1"/>
          </p:cNvSpPr>
          <p:nvPr/>
        </p:nvSpPr>
        <p:spPr bwMode="auto">
          <a:xfrm flipV="1">
            <a:off x="4343400" y="2895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48" name="Line 8"/>
          <p:cNvSpPr>
            <a:spLocks noChangeShapeType="1"/>
          </p:cNvSpPr>
          <p:nvPr/>
        </p:nvSpPr>
        <p:spPr bwMode="auto">
          <a:xfrm>
            <a:off x="4038600" y="2590800"/>
            <a:ext cx="1219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49" name="Line 9"/>
          <p:cNvSpPr>
            <a:spLocks noChangeShapeType="1"/>
          </p:cNvSpPr>
          <p:nvPr/>
        </p:nvSpPr>
        <p:spPr bwMode="auto">
          <a:xfrm>
            <a:off x="4572000" y="2590800"/>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0" name="Line 10"/>
          <p:cNvSpPr>
            <a:spLocks noChangeShapeType="1"/>
          </p:cNvSpPr>
          <p:nvPr/>
        </p:nvSpPr>
        <p:spPr bwMode="auto">
          <a:xfrm>
            <a:off x="4953000" y="2895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1" name="Line 11"/>
          <p:cNvSpPr>
            <a:spLocks noChangeShapeType="1"/>
          </p:cNvSpPr>
          <p:nvPr/>
        </p:nvSpPr>
        <p:spPr bwMode="auto">
          <a:xfrm flipV="1">
            <a:off x="4953000" y="3276600"/>
            <a:ext cx="1371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2" name="Line 12"/>
          <p:cNvSpPr>
            <a:spLocks noChangeShapeType="1"/>
          </p:cNvSpPr>
          <p:nvPr/>
        </p:nvSpPr>
        <p:spPr bwMode="auto">
          <a:xfrm flipV="1">
            <a:off x="6934200" y="3276600"/>
            <a:ext cx="1371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3" name="AutoShape 13"/>
          <p:cNvSpPr>
            <a:spLocks noChangeArrowheads="1"/>
          </p:cNvSpPr>
          <p:nvPr/>
        </p:nvSpPr>
        <p:spPr bwMode="auto">
          <a:xfrm>
            <a:off x="6019800" y="2209800"/>
            <a:ext cx="1295400" cy="685800"/>
          </a:xfrm>
          <a:prstGeom prst="roundRect">
            <a:avLst>
              <a:gd name="adj" fmla="val 16667"/>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1800">
                <a:solidFill>
                  <a:schemeClr val="tx1"/>
                </a:solidFill>
                <a:latin typeface="Tahoma" panose="020B0604030504040204" pitchFamily="34" charset="0"/>
              </a:rPr>
              <a:t>IP</a:t>
            </a:r>
            <a:r>
              <a:rPr lang="en-US" altLang="zh-CN" sz="1800" baseline="-25000">
                <a:solidFill>
                  <a:schemeClr val="tx1"/>
                </a:solidFill>
                <a:latin typeface="Tahoma" panose="020B0604030504040204" pitchFamily="34" charset="0"/>
              </a:rPr>
              <a:t>C</a:t>
            </a:r>
          </a:p>
          <a:p>
            <a:pPr algn="ctr" eaLnBrk="1" hangingPunct="1"/>
            <a:r>
              <a:rPr lang="en-US" altLang="zh-CN" sz="1800">
                <a:solidFill>
                  <a:schemeClr val="tx1"/>
                </a:solidFill>
                <a:latin typeface="Tahoma" panose="020B0604030504040204" pitchFamily="34" charset="0"/>
              </a:rPr>
              <a:t>Sonet  Eth</a:t>
            </a:r>
            <a:r>
              <a:rPr lang="en-US" altLang="zh-CN" sz="1800" baseline="-25000">
                <a:solidFill>
                  <a:schemeClr val="tx1"/>
                </a:solidFill>
                <a:latin typeface="Tahoma" panose="020B0604030504040204" pitchFamily="34" charset="0"/>
              </a:rPr>
              <a:t>C </a:t>
            </a:r>
          </a:p>
        </p:txBody>
      </p:sp>
      <p:sp>
        <p:nvSpPr>
          <p:cNvPr id="61454" name="Line 14"/>
          <p:cNvSpPr>
            <a:spLocks noChangeShapeType="1"/>
          </p:cNvSpPr>
          <p:nvPr/>
        </p:nvSpPr>
        <p:spPr bwMode="auto">
          <a:xfrm>
            <a:off x="6019800" y="2590800"/>
            <a:ext cx="1295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5" name="Line 15"/>
          <p:cNvSpPr>
            <a:spLocks noChangeShapeType="1"/>
          </p:cNvSpPr>
          <p:nvPr/>
        </p:nvSpPr>
        <p:spPr bwMode="auto">
          <a:xfrm>
            <a:off x="6705600" y="2590800"/>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6" name="Line 16"/>
          <p:cNvSpPr>
            <a:spLocks noChangeShapeType="1"/>
          </p:cNvSpPr>
          <p:nvPr/>
        </p:nvSpPr>
        <p:spPr bwMode="auto">
          <a:xfrm>
            <a:off x="6934200" y="2895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7" name="Line 17"/>
          <p:cNvSpPr>
            <a:spLocks noChangeShapeType="1"/>
          </p:cNvSpPr>
          <p:nvPr/>
        </p:nvSpPr>
        <p:spPr bwMode="auto">
          <a:xfrm>
            <a:off x="6324600" y="2895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8" name="Line 18"/>
          <p:cNvSpPr>
            <a:spLocks noChangeShapeType="1"/>
          </p:cNvSpPr>
          <p:nvPr/>
        </p:nvSpPr>
        <p:spPr bwMode="auto">
          <a:xfrm>
            <a:off x="2209800" y="3048000"/>
            <a:ext cx="762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9" name="Rectangle 19"/>
          <p:cNvSpPr>
            <a:spLocks noChangeArrowheads="1"/>
          </p:cNvSpPr>
          <p:nvPr/>
        </p:nvSpPr>
        <p:spPr bwMode="auto">
          <a:xfrm>
            <a:off x="8305800" y="2667000"/>
            <a:ext cx="762000" cy="685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1800">
                <a:solidFill>
                  <a:schemeClr val="tx1"/>
                </a:solidFill>
                <a:latin typeface="Tahoma" panose="020B0604030504040204" pitchFamily="34" charset="0"/>
              </a:rPr>
              <a:t>IP</a:t>
            </a:r>
            <a:r>
              <a:rPr lang="en-US" altLang="zh-CN" sz="1800" baseline="-25000">
                <a:solidFill>
                  <a:schemeClr val="tx1"/>
                </a:solidFill>
                <a:latin typeface="Tahoma" panose="020B0604030504040204" pitchFamily="34" charset="0"/>
              </a:rPr>
              <a:t>D</a:t>
            </a:r>
          </a:p>
          <a:p>
            <a:pPr algn="ctr" eaLnBrk="1" hangingPunct="1"/>
            <a:r>
              <a:rPr lang="en-US" altLang="zh-CN" sz="1800">
                <a:solidFill>
                  <a:schemeClr val="tx1"/>
                </a:solidFill>
                <a:latin typeface="Tahoma" panose="020B0604030504040204" pitchFamily="34" charset="0"/>
              </a:rPr>
              <a:t>Eth</a:t>
            </a:r>
            <a:r>
              <a:rPr lang="en-US" altLang="zh-CN" sz="1800" baseline="-25000">
                <a:solidFill>
                  <a:schemeClr val="tx1"/>
                </a:solidFill>
                <a:latin typeface="Tahoma" panose="020B0604030504040204" pitchFamily="34" charset="0"/>
              </a:rPr>
              <a:t>D</a:t>
            </a:r>
          </a:p>
        </p:txBody>
      </p:sp>
      <p:sp>
        <p:nvSpPr>
          <p:cNvPr id="61460" name="Line 20"/>
          <p:cNvSpPr>
            <a:spLocks noChangeShapeType="1"/>
          </p:cNvSpPr>
          <p:nvPr/>
        </p:nvSpPr>
        <p:spPr bwMode="auto">
          <a:xfrm>
            <a:off x="8305800" y="3048000"/>
            <a:ext cx="762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1" name="Text Box 21"/>
          <p:cNvSpPr txBox="1">
            <a:spLocks noChangeArrowheads="1"/>
          </p:cNvSpPr>
          <p:nvPr/>
        </p:nvSpPr>
        <p:spPr bwMode="auto">
          <a:xfrm>
            <a:off x="2057401" y="3352801"/>
            <a:ext cx="63946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Host A		Router B	   Router C	       Host D</a:t>
            </a:r>
          </a:p>
        </p:txBody>
      </p:sp>
      <p:sp>
        <p:nvSpPr>
          <p:cNvPr id="61462" name="Line 22"/>
          <p:cNvSpPr>
            <a:spLocks noChangeShapeType="1"/>
          </p:cNvSpPr>
          <p:nvPr/>
        </p:nvSpPr>
        <p:spPr bwMode="auto">
          <a:xfrm>
            <a:off x="1752600" y="3810000"/>
            <a:ext cx="7848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3" name="Line 23"/>
          <p:cNvSpPr>
            <a:spLocks noChangeShapeType="1"/>
          </p:cNvSpPr>
          <p:nvPr/>
        </p:nvSpPr>
        <p:spPr bwMode="auto">
          <a:xfrm>
            <a:off x="1752600" y="3810000"/>
            <a:ext cx="0" cy="2743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4" name="Line 24"/>
          <p:cNvSpPr>
            <a:spLocks noChangeShapeType="1"/>
          </p:cNvSpPr>
          <p:nvPr/>
        </p:nvSpPr>
        <p:spPr bwMode="auto">
          <a:xfrm>
            <a:off x="5105400" y="4343400"/>
            <a:ext cx="0" cy="2209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5" name="Line 25"/>
          <p:cNvSpPr>
            <a:spLocks noChangeShapeType="1"/>
          </p:cNvSpPr>
          <p:nvPr/>
        </p:nvSpPr>
        <p:spPr bwMode="auto">
          <a:xfrm>
            <a:off x="6553200" y="3810000"/>
            <a:ext cx="0" cy="2743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6" name="Line 26"/>
          <p:cNvSpPr>
            <a:spLocks noChangeShapeType="1"/>
          </p:cNvSpPr>
          <p:nvPr/>
        </p:nvSpPr>
        <p:spPr bwMode="auto">
          <a:xfrm>
            <a:off x="3657600" y="3810000"/>
            <a:ext cx="0" cy="2743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7" name="Line 27"/>
          <p:cNvSpPr>
            <a:spLocks noChangeShapeType="1"/>
          </p:cNvSpPr>
          <p:nvPr/>
        </p:nvSpPr>
        <p:spPr bwMode="auto">
          <a:xfrm>
            <a:off x="9601200" y="3810000"/>
            <a:ext cx="0" cy="2743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8" name="Line 28"/>
          <p:cNvSpPr>
            <a:spLocks noChangeShapeType="1"/>
          </p:cNvSpPr>
          <p:nvPr/>
        </p:nvSpPr>
        <p:spPr bwMode="auto">
          <a:xfrm>
            <a:off x="8077200" y="4343400"/>
            <a:ext cx="0" cy="2209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9" name="Line 29"/>
          <p:cNvSpPr>
            <a:spLocks noChangeShapeType="1"/>
          </p:cNvSpPr>
          <p:nvPr/>
        </p:nvSpPr>
        <p:spPr bwMode="auto">
          <a:xfrm>
            <a:off x="1752600" y="6553200"/>
            <a:ext cx="7848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70" name="Line 30"/>
          <p:cNvSpPr>
            <a:spLocks noChangeShapeType="1"/>
          </p:cNvSpPr>
          <p:nvPr/>
        </p:nvSpPr>
        <p:spPr bwMode="auto">
          <a:xfrm>
            <a:off x="1752600" y="4724400"/>
            <a:ext cx="7848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71" name="Rectangle 31"/>
          <p:cNvSpPr>
            <a:spLocks noGrp="1" noChangeArrowheads="1"/>
          </p:cNvSpPr>
          <p:nvPr>
            <p:ph type="title"/>
          </p:nvPr>
        </p:nvSpPr>
        <p:spPr bwMode="auto">
          <a:xfrm>
            <a:off x="2209800"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传输过程中的网络地址</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ChangeArrowheads="1"/>
          </p:cNvSpPr>
          <p:nvPr/>
        </p:nvSpPr>
        <p:spPr bwMode="auto">
          <a:xfrm>
            <a:off x="5395913" y="3602038"/>
            <a:ext cx="1600200" cy="457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Link/MAC</a:t>
            </a:r>
          </a:p>
        </p:txBody>
      </p:sp>
      <p:sp>
        <p:nvSpPr>
          <p:cNvPr id="62467" name="Rectangle 3"/>
          <p:cNvSpPr>
            <a:spLocks noChangeArrowheads="1"/>
          </p:cNvSpPr>
          <p:nvPr/>
        </p:nvSpPr>
        <p:spPr bwMode="auto">
          <a:xfrm>
            <a:off x="5395913" y="2687638"/>
            <a:ext cx="1600200" cy="457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IP</a:t>
            </a:r>
          </a:p>
        </p:txBody>
      </p:sp>
      <p:sp>
        <p:nvSpPr>
          <p:cNvPr id="62468" name="Rectangle 4"/>
          <p:cNvSpPr>
            <a:spLocks noChangeArrowheads="1"/>
          </p:cNvSpPr>
          <p:nvPr/>
        </p:nvSpPr>
        <p:spPr bwMode="auto">
          <a:xfrm>
            <a:off x="6538913" y="1773238"/>
            <a:ext cx="1600200" cy="457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TCP</a:t>
            </a:r>
          </a:p>
        </p:txBody>
      </p:sp>
      <p:sp>
        <p:nvSpPr>
          <p:cNvPr id="62469" name="Rectangle 5"/>
          <p:cNvSpPr>
            <a:spLocks noChangeArrowheads="1"/>
          </p:cNvSpPr>
          <p:nvPr/>
        </p:nvSpPr>
        <p:spPr bwMode="auto">
          <a:xfrm>
            <a:off x="4252913" y="1773238"/>
            <a:ext cx="1600200" cy="457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UDP</a:t>
            </a:r>
          </a:p>
        </p:txBody>
      </p:sp>
      <p:sp>
        <p:nvSpPr>
          <p:cNvPr id="62470" name="Line 6"/>
          <p:cNvSpPr>
            <a:spLocks noChangeShapeType="1"/>
          </p:cNvSpPr>
          <p:nvPr/>
        </p:nvSpPr>
        <p:spPr bwMode="auto">
          <a:xfrm>
            <a:off x="5014913" y="2230438"/>
            <a:ext cx="106680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2471" name="Line 7"/>
          <p:cNvSpPr>
            <a:spLocks noChangeShapeType="1"/>
          </p:cNvSpPr>
          <p:nvPr/>
        </p:nvSpPr>
        <p:spPr bwMode="auto">
          <a:xfrm flipH="1">
            <a:off x="6234113" y="2230438"/>
            <a:ext cx="114300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2472" name="Line 8"/>
          <p:cNvSpPr>
            <a:spLocks noChangeShapeType="1"/>
          </p:cNvSpPr>
          <p:nvPr/>
        </p:nvSpPr>
        <p:spPr bwMode="auto">
          <a:xfrm>
            <a:off x="6157913" y="3144838"/>
            <a:ext cx="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2473" name="Rectangle 9"/>
          <p:cNvSpPr>
            <a:spLocks noChangeArrowheads="1"/>
          </p:cNvSpPr>
          <p:nvPr/>
        </p:nvSpPr>
        <p:spPr bwMode="auto">
          <a:xfrm>
            <a:off x="3338513" y="3525838"/>
            <a:ext cx="1371600" cy="4572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ARP</a:t>
            </a:r>
          </a:p>
        </p:txBody>
      </p:sp>
      <p:sp>
        <p:nvSpPr>
          <p:cNvPr id="62474" name="Rectangle 10"/>
          <p:cNvSpPr>
            <a:spLocks noChangeArrowheads="1"/>
          </p:cNvSpPr>
          <p:nvPr/>
        </p:nvSpPr>
        <p:spPr bwMode="auto">
          <a:xfrm>
            <a:off x="7758113" y="3525838"/>
            <a:ext cx="1371600" cy="457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RARP</a:t>
            </a:r>
          </a:p>
        </p:txBody>
      </p:sp>
      <p:sp>
        <p:nvSpPr>
          <p:cNvPr id="62475" name="Line 11"/>
          <p:cNvSpPr>
            <a:spLocks noChangeShapeType="1"/>
          </p:cNvSpPr>
          <p:nvPr/>
        </p:nvSpPr>
        <p:spPr bwMode="auto">
          <a:xfrm>
            <a:off x="4710113" y="3754438"/>
            <a:ext cx="685800" cy="76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2476" name="Line 12"/>
          <p:cNvSpPr>
            <a:spLocks noChangeShapeType="1"/>
          </p:cNvSpPr>
          <p:nvPr/>
        </p:nvSpPr>
        <p:spPr bwMode="auto">
          <a:xfrm flipV="1">
            <a:off x="6996113" y="3754438"/>
            <a:ext cx="762000" cy="76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2477" name="Rectangle 13"/>
          <p:cNvSpPr>
            <a:spLocks noGrp="1" noChangeArrowheads="1"/>
          </p:cNvSpPr>
          <p:nvPr>
            <p:ph type="title"/>
          </p:nvPr>
        </p:nvSpPr>
        <p:spPr bwMode="auto">
          <a:xfrm>
            <a:off x="2228850" y="5111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ARP</a:t>
            </a:r>
          </a:p>
        </p:txBody>
      </p:sp>
      <p:sp>
        <p:nvSpPr>
          <p:cNvPr id="62478" name="Text Box 14"/>
          <p:cNvSpPr txBox="1">
            <a:spLocks noChangeArrowheads="1"/>
          </p:cNvSpPr>
          <p:nvPr/>
        </p:nvSpPr>
        <p:spPr bwMode="auto">
          <a:xfrm>
            <a:off x="2613025" y="4527551"/>
            <a:ext cx="7685088"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buClr>
                <a:schemeClr val="hlink"/>
              </a:buClr>
              <a:buFont typeface="Wingdings" panose="05000000000000000000" pitchFamily="2" charset="2"/>
              <a:buChar char="Ø"/>
            </a:pPr>
            <a:r>
              <a:rPr kumimoji="1" lang="en-US" altLang="zh-CN">
                <a:solidFill>
                  <a:schemeClr val="tx2"/>
                </a:solidFill>
                <a:latin typeface="Tahoma" panose="020B0604030504040204" pitchFamily="34" charset="0"/>
              </a:rPr>
              <a:t>ARP</a:t>
            </a:r>
            <a:r>
              <a:rPr kumimoji="1" lang="en-US" altLang="zh-CN">
                <a:solidFill>
                  <a:schemeClr val="tx1"/>
                </a:solidFill>
                <a:latin typeface="Tahoma" panose="020B0604030504040204" pitchFamily="34" charset="0"/>
              </a:rPr>
              <a:t>:</a:t>
            </a:r>
            <a:r>
              <a:rPr kumimoji="1" lang="zh-CN" altLang="en-US">
                <a:solidFill>
                  <a:schemeClr val="tx1"/>
                </a:solidFill>
                <a:latin typeface="Tahoma" panose="020B0604030504040204" pitchFamily="34" charset="0"/>
              </a:rPr>
              <a:t>地址解析协议</a:t>
            </a:r>
            <a:r>
              <a:rPr kumimoji="1" lang="en-US" altLang="zh-CN">
                <a:solidFill>
                  <a:schemeClr val="tx1"/>
                </a:solidFill>
                <a:latin typeface="Tahoma" panose="020B0604030504040204" pitchFamily="34" charset="0"/>
              </a:rPr>
              <a:t>(IP→MAC)</a:t>
            </a:r>
          </a:p>
          <a:p>
            <a:pPr>
              <a:spcBef>
                <a:spcPct val="50000"/>
              </a:spcBef>
              <a:buClr>
                <a:schemeClr val="hlink"/>
              </a:buClr>
              <a:buFont typeface="Wingdings" panose="05000000000000000000" pitchFamily="2" charset="2"/>
              <a:buChar char="Ø"/>
            </a:pPr>
            <a:r>
              <a:rPr kumimoji="1" lang="zh-CN" altLang="en-US">
                <a:solidFill>
                  <a:schemeClr val="tx1"/>
                </a:solidFill>
                <a:latin typeface="Tahoma" panose="020B0604030504040204" pitchFamily="34" charset="0"/>
              </a:rPr>
              <a:t>把</a:t>
            </a:r>
            <a:r>
              <a:rPr kumimoji="1" lang="en-US" altLang="zh-CN">
                <a:solidFill>
                  <a:schemeClr val="tx1"/>
                </a:solidFill>
                <a:latin typeface="Tahoma" panose="020B0604030504040204" pitchFamily="34" charset="0"/>
              </a:rPr>
              <a:t>IP</a:t>
            </a:r>
            <a:r>
              <a:rPr kumimoji="1" lang="zh-CN" altLang="en-US">
                <a:solidFill>
                  <a:schemeClr val="tx1"/>
                </a:solidFill>
                <a:latin typeface="Tahoma" panose="020B0604030504040204" pitchFamily="34" charset="0"/>
              </a:rPr>
              <a:t>地址转换成数据链路层</a:t>
            </a:r>
            <a:r>
              <a:rPr kumimoji="1" lang="en-US" altLang="zh-CN">
                <a:solidFill>
                  <a:schemeClr val="tx1"/>
                </a:solidFill>
                <a:latin typeface="Tahoma" panose="020B0604030504040204" pitchFamily="34" charset="0"/>
              </a:rPr>
              <a:t>(</a:t>
            </a:r>
            <a:r>
              <a:rPr kumimoji="1" lang="zh-CN" altLang="en-US">
                <a:solidFill>
                  <a:schemeClr val="tx1"/>
                </a:solidFill>
                <a:latin typeface="Tahoma" panose="020B0604030504040204" pitchFamily="34" charset="0"/>
              </a:rPr>
              <a:t>出口的</a:t>
            </a:r>
            <a:r>
              <a:rPr kumimoji="1" lang="en-US" altLang="zh-CN">
                <a:solidFill>
                  <a:schemeClr val="tx1"/>
                </a:solidFill>
                <a:latin typeface="Tahoma" panose="020B0604030504040204" pitchFamily="34" charset="0"/>
              </a:rPr>
              <a:t>)MAC</a:t>
            </a:r>
            <a:r>
              <a:rPr kumimoji="1" lang="zh-CN" altLang="en-US">
                <a:solidFill>
                  <a:schemeClr val="tx1"/>
                </a:solidFill>
                <a:latin typeface="Tahoma" panose="020B0604030504040204" pitchFamily="34" charset="0"/>
              </a:rPr>
              <a:t>地址</a:t>
            </a:r>
            <a:r>
              <a:rPr kumimoji="1" lang="en-US" altLang="zh-CN">
                <a:solidFill>
                  <a:schemeClr val="tx1"/>
                </a:solidFill>
                <a:latin typeface="Tahoma" panose="020B0604030504040204" pitchFamily="34" charset="0"/>
              </a:rPr>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bwMode="auto">
          <a:xfrm>
            <a:off x="2457450" y="3381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本地 </a:t>
            </a:r>
            <a:r>
              <a:rPr lang="en-US" altLang="zh-CN" sz="3600">
                <a:solidFill>
                  <a:schemeClr val="hlink"/>
                </a:solidFill>
                <a:ea typeface="华文行楷" panose="02010800040101010101" pitchFamily="2" charset="-122"/>
              </a:rPr>
              <a:t>ARP </a:t>
            </a:r>
            <a:r>
              <a:rPr lang="zh-CN" altLang="en-US" sz="3600">
                <a:solidFill>
                  <a:schemeClr val="hlink"/>
                </a:solidFill>
                <a:ea typeface="华文行楷" panose="02010800040101010101" pitchFamily="2" charset="-122"/>
              </a:rPr>
              <a:t>总结</a:t>
            </a:r>
          </a:p>
        </p:txBody>
      </p:sp>
      <p:sp>
        <p:nvSpPr>
          <p:cNvPr id="1817603" name="Text Box 3"/>
          <p:cNvSpPr txBox="1">
            <a:spLocks noChangeArrowheads="1"/>
          </p:cNvSpPr>
          <p:nvPr/>
        </p:nvSpPr>
        <p:spPr bwMode="auto">
          <a:xfrm>
            <a:off x="6173788" y="2163764"/>
            <a:ext cx="4222750" cy="3711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90525" indent="-390525">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r>
              <a:rPr lang="en-US" altLang="zh-CN" sz="2400">
                <a:solidFill>
                  <a:srgbClr val="000000"/>
                </a:solidFill>
                <a:latin typeface="Arial" panose="020B0604020202020204" pitchFamily="34" charset="0"/>
              </a:rPr>
              <a:t>(1) HOST-A </a:t>
            </a:r>
            <a:r>
              <a:rPr lang="zh-CN" altLang="en-US" sz="2400">
                <a:solidFill>
                  <a:srgbClr val="000000"/>
                </a:solidFill>
                <a:latin typeface="Arial" panose="020B0604020202020204" pitchFamily="34" charset="0"/>
              </a:rPr>
              <a:t>想把 </a:t>
            </a:r>
            <a:r>
              <a:rPr lang="en-US" altLang="zh-CN" sz="2400">
                <a:solidFill>
                  <a:srgbClr val="000000"/>
                </a:solidFill>
                <a:latin typeface="Arial" panose="020B0604020202020204" pitchFamily="34" charset="0"/>
              </a:rPr>
              <a:t>IP</a:t>
            </a:r>
            <a:r>
              <a:rPr lang="zh-CN" altLang="en-US" sz="2400">
                <a:solidFill>
                  <a:srgbClr val="000000"/>
                </a:solidFill>
                <a:latin typeface="Arial" panose="020B0604020202020204" pitchFamily="34" charset="0"/>
              </a:rPr>
              <a:t>包文 送给 </a:t>
            </a:r>
            <a:r>
              <a:rPr lang="en-US" altLang="zh-CN" sz="2400">
                <a:solidFill>
                  <a:srgbClr val="000000"/>
                </a:solidFill>
                <a:latin typeface="Arial" panose="020B0604020202020204" pitchFamily="34" charset="0"/>
              </a:rPr>
              <a:t>HOST-B</a:t>
            </a:r>
          </a:p>
          <a:p>
            <a:pPr>
              <a:spcBef>
                <a:spcPct val="20000"/>
              </a:spcBef>
            </a:pPr>
            <a:r>
              <a:rPr lang="en-US" altLang="zh-CN" sz="2400">
                <a:solidFill>
                  <a:srgbClr val="000000"/>
                </a:solidFill>
                <a:latin typeface="Arial" panose="020B0604020202020204" pitchFamily="34" charset="0"/>
              </a:rPr>
              <a:t>(2) HOST-A </a:t>
            </a:r>
            <a:r>
              <a:rPr lang="zh-CN" altLang="en-US" sz="2400">
                <a:solidFill>
                  <a:srgbClr val="000000"/>
                </a:solidFill>
                <a:latin typeface="Arial" panose="020B0604020202020204" pitchFamily="34" charset="0"/>
              </a:rPr>
              <a:t>广播一个 </a:t>
            </a:r>
            <a:r>
              <a:rPr lang="en-US" altLang="zh-CN" sz="2400">
                <a:solidFill>
                  <a:srgbClr val="000000"/>
                </a:solidFill>
                <a:latin typeface="Arial" panose="020B0604020202020204" pitchFamily="34" charset="0"/>
              </a:rPr>
              <a:t>ARP </a:t>
            </a:r>
            <a:r>
              <a:rPr lang="zh-CN" altLang="en-US" sz="2400">
                <a:solidFill>
                  <a:srgbClr val="000000"/>
                </a:solidFill>
                <a:latin typeface="Arial" panose="020B0604020202020204" pitchFamily="34" charset="0"/>
              </a:rPr>
              <a:t>请求到所有的主机</a:t>
            </a:r>
            <a:r>
              <a:rPr lang="en-US" altLang="zh-CN" sz="2400">
                <a:solidFill>
                  <a:srgbClr val="000000"/>
                </a:solidFill>
                <a:latin typeface="Arial" panose="020B0604020202020204" pitchFamily="34" charset="0"/>
              </a:rPr>
              <a:t>: </a:t>
            </a:r>
            <a:r>
              <a:rPr lang="en-US" altLang="zh-CN" sz="2400" b="1">
                <a:solidFill>
                  <a:srgbClr val="3333CD"/>
                </a:solidFill>
                <a:latin typeface="Arial" panose="020B0604020202020204" pitchFamily="34" charset="0"/>
              </a:rPr>
              <a:t>“HOSTB</a:t>
            </a:r>
            <a:r>
              <a:rPr lang="zh-CN" altLang="en-US" sz="2400" b="1">
                <a:solidFill>
                  <a:srgbClr val="3333CD"/>
                </a:solidFill>
                <a:latin typeface="Arial" panose="020B0604020202020204" pitchFamily="34" charset="0"/>
              </a:rPr>
              <a:t>的硬件地址是多少</a:t>
            </a:r>
            <a:r>
              <a:rPr lang="en-US" altLang="zh-CN" sz="2400" b="1">
                <a:solidFill>
                  <a:srgbClr val="3333CD"/>
                </a:solidFill>
                <a:latin typeface="Arial" panose="020B0604020202020204" pitchFamily="34" charset="0"/>
              </a:rPr>
              <a:t>?”</a:t>
            </a:r>
          </a:p>
          <a:p>
            <a:pPr>
              <a:spcBef>
                <a:spcPct val="20000"/>
              </a:spcBef>
            </a:pPr>
            <a:r>
              <a:rPr lang="en-US" altLang="zh-CN" sz="2400">
                <a:solidFill>
                  <a:srgbClr val="000000"/>
                </a:solidFill>
                <a:latin typeface="Arial" panose="020B0604020202020204" pitchFamily="34" charset="0"/>
              </a:rPr>
              <a:t>(3) HOST-B </a:t>
            </a:r>
            <a:r>
              <a:rPr lang="zh-CN" altLang="en-US" sz="2400">
                <a:solidFill>
                  <a:srgbClr val="000000"/>
                </a:solidFill>
                <a:latin typeface="Arial" panose="020B0604020202020204" pitchFamily="34" charset="0"/>
              </a:rPr>
              <a:t>以一个包含了其硬件地址的 </a:t>
            </a:r>
            <a:r>
              <a:rPr lang="en-US" altLang="zh-CN" sz="2400">
                <a:solidFill>
                  <a:srgbClr val="000000"/>
                </a:solidFill>
                <a:latin typeface="Arial" panose="020B0604020202020204" pitchFamily="34" charset="0"/>
              </a:rPr>
              <a:t>ARP </a:t>
            </a:r>
            <a:r>
              <a:rPr lang="zh-CN" altLang="en-US" sz="2400">
                <a:solidFill>
                  <a:srgbClr val="000000"/>
                </a:solidFill>
                <a:latin typeface="Arial" panose="020B0604020202020204" pitchFamily="34" charset="0"/>
              </a:rPr>
              <a:t>作答</a:t>
            </a:r>
          </a:p>
          <a:p>
            <a:pPr>
              <a:spcBef>
                <a:spcPct val="20000"/>
              </a:spcBef>
            </a:pPr>
            <a:r>
              <a:rPr lang="en-US" altLang="zh-CN" sz="2400">
                <a:solidFill>
                  <a:srgbClr val="000000"/>
                </a:solidFill>
                <a:latin typeface="Arial" panose="020B0604020202020204" pitchFamily="34" charset="0"/>
              </a:rPr>
              <a:t>(4) HOST-A </a:t>
            </a:r>
            <a:r>
              <a:rPr lang="zh-CN" altLang="en-US" sz="2400">
                <a:solidFill>
                  <a:srgbClr val="000000"/>
                </a:solidFill>
                <a:latin typeface="Arial" panose="020B0604020202020204" pitchFamily="34" charset="0"/>
              </a:rPr>
              <a:t>把 </a:t>
            </a:r>
            <a:r>
              <a:rPr lang="en-US" altLang="zh-CN" sz="2400">
                <a:solidFill>
                  <a:srgbClr val="000000"/>
                </a:solidFill>
                <a:latin typeface="Arial" panose="020B0604020202020204" pitchFamily="34" charset="0"/>
              </a:rPr>
              <a:t>IP</a:t>
            </a:r>
          </a:p>
          <a:p>
            <a:pPr>
              <a:spcBef>
                <a:spcPct val="20000"/>
              </a:spcBef>
            </a:pPr>
            <a:r>
              <a:rPr lang="zh-CN" altLang="en-US" sz="2400">
                <a:solidFill>
                  <a:srgbClr val="000000"/>
                </a:solidFill>
                <a:latin typeface="Arial" panose="020B0604020202020204" pitchFamily="34" charset="0"/>
              </a:rPr>
              <a:t>数据包传送到 </a:t>
            </a:r>
            <a:r>
              <a:rPr lang="en-US" altLang="zh-CN" sz="2400">
                <a:solidFill>
                  <a:srgbClr val="000000"/>
                </a:solidFill>
                <a:latin typeface="Arial" panose="020B0604020202020204" pitchFamily="34" charset="0"/>
              </a:rPr>
              <a:t>HOST-B</a:t>
            </a:r>
            <a:endParaRPr lang="en-US" altLang="zh-CN" sz="2400"/>
          </a:p>
        </p:txBody>
      </p:sp>
      <p:pic>
        <p:nvPicPr>
          <p:cNvPr id="634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1651" y="1565276"/>
            <a:ext cx="4352925"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17603">
                                            <p:txEl>
                                              <p:pRg st="0" end="0"/>
                                            </p:txEl>
                                          </p:spTgt>
                                        </p:tgtEl>
                                        <p:attrNameLst>
                                          <p:attrName>style.visibility</p:attrName>
                                        </p:attrNameLst>
                                      </p:cBhvr>
                                      <p:to>
                                        <p:strVal val="visible"/>
                                      </p:to>
                                    </p:set>
                                    <p:anim calcmode="lin" valueType="num">
                                      <p:cBhvr additive="base">
                                        <p:cTn id="7" dur="500" fill="hold"/>
                                        <p:tgtEl>
                                          <p:spTgt spid="181760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176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17603">
                                            <p:txEl>
                                              <p:pRg st="1" end="1"/>
                                            </p:txEl>
                                          </p:spTgt>
                                        </p:tgtEl>
                                        <p:attrNameLst>
                                          <p:attrName>style.visibility</p:attrName>
                                        </p:attrNameLst>
                                      </p:cBhvr>
                                      <p:to>
                                        <p:strVal val="visible"/>
                                      </p:to>
                                    </p:set>
                                    <p:anim calcmode="lin" valueType="num">
                                      <p:cBhvr additive="base">
                                        <p:cTn id="13" dur="500" fill="hold"/>
                                        <p:tgtEl>
                                          <p:spTgt spid="181760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1760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17603">
                                            <p:txEl>
                                              <p:pRg st="2" end="2"/>
                                            </p:txEl>
                                          </p:spTgt>
                                        </p:tgtEl>
                                        <p:attrNameLst>
                                          <p:attrName>style.visibility</p:attrName>
                                        </p:attrNameLst>
                                      </p:cBhvr>
                                      <p:to>
                                        <p:strVal val="visible"/>
                                      </p:to>
                                    </p:set>
                                    <p:anim calcmode="lin" valueType="num">
                                      <p:cBhvr additive="base">
                                        <p:cTn id="19" dur="500" fill="hold"/>
                                        <p:tgtEl>
                                          <p:spTgt spid="181760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1760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17603">
                                            <p:txEl>
                                              <p:pRg st="3" end="3"/>
                                            </p:txEl>
                                          </p:spTgt>
                                        </p:tgtEl>
                                        <p:attrNameLst>
                                          <p:attrName>style.visibility</p:attrName>
                                        </p:attrNameLst>
                                      </p:cBhvr>
                                      <p:to>
                                        <p:strVal val="visible"/>
                                      </p:to>
                                    </p:set>
                                    <p:anim calcmode="lin" valueType="num">
                                      <p:cBhvr additive="base">
                                        <p:cTn id="25" dur="500" fill="hold"/>
                                        <p:tgtEl>
                                          <p:spTgt spid="181760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1760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17603">
                                            <p:txEl>
                                              <p:pRg st="4" end="4"/>
                                            </p:txEl>
                                          </p:spTgt>
                                        </p:tgtEl>
                                        <p:attrNameLst>
                                          <p:attrName>style.visibility</p:attrName>
                                        </p:attrNameLst>
                                      </p:cBhvr>
                                      <p:to>
                                        <p:strVal val="visible"/>
                                      </p:to>
                                    </p:set>
                                    <p:anim calcmode="lin" valueType="num">
                                      <p:cBhvr additive="base">
                                        <p:cTn id="31" dur="500" fill="hold"/>
                                        <p:tgtEl>
                                          <p:spTgt spid="1817603">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1760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7603" grpId="0" build="p"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bwMode="auto">
          <a:xfrm>
            <a:off x="2287588"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ARP </a:t>
            </a:r>
            <a:r>
              <a:rPr lang="zh-CN" altLang="en-US" sz="3600">
                <a:solidFill>
                  <a:schemeClr val="hlink"/>
                </a:solidFill>
                <a:ea typeface="华文行楷" panose="02010800040101010101" pitchFamily="2" charset="-122"/>
              </a:rPr>
              <a:t>补充说明</a:t>
            </a:r>
          </a:p>
        </p:txBody>
      </p:sp>
      <p:sp>
        <p:nvSpPr>
          <p:cNvPr id="64515" name="Text Box 3"/>
          <p:cNvSpPr txBox="1">
            <a:spLocks noChangeArrowheads="1"/>
          </p:cNvSpPr>
          <p:nvPr/>
        </p:nvSpPr>
        <p:spPr bwMode="auto">
          <a:xfrm>
            <a:off x="2266950" y="2087563"/>
            <a:ext cx="7907338" cy="3754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3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如果一个</a:t>
            </a:r>
            <a:r>
              <a:rPr lang="en-US" altLang="zh-CN">
                <a:solidFill>
                  <a:srgbClr val="000000"/>
                </a:solidFill>
                <a:latin typeface="Arial" panose="020B0604020202020204" pitchFamily="34" charset="0"/>
              </a:rPr>
              <a:t>ARP </a:t>
            </a:r>
            <a:r>
              <a:rPr lang="zh-CN" altLang="en-US">
                <a:solidFill>
                  <a:srgbClr val="000000"/>
                </a:solidFill>
                <a:latin typeface="Arial" panose="020B0604020202020204" pitchFamily="34" charset="0"/>
              </a:rPr>
              <a:t>请求送给一个 不存在的主机会发生什么情况</a:t>
            </a:r>
            <a:r>
              <a:rPr lang="en-US" altLang="zh-CN">
                <a:solidFill>
                  <a:srgbClr val="000000"/>
                </a:solidFill>
                <a:latin typeface="Arial" panose="020B0604020202020204" pitchFamily="34" charset="0"/>
              </a:rPr>
              <a:t>?</a:t>
            </a:r>
          </a:p>
          <a:p>
            <a:pPr>
              <a:spcBef>
                <a:spcPct val="30000"/>
              </a:spcBef>
            </a:pPr>
            <a:r>
              <a:rPr lang="en-US" altLang="zh-CN" sz="2400">
                <a:solidFill>
                  <a:srgbClr val="0000FF"/>
                </a:solidFill>
                <a:latin typeface="Arial" panose="020B0604020202020204" pitchFamily="34" charset="0"/>
              </a:rPr>
              <a:t>    - </a:t>
            </a:r>
            <a:r>
              <a:rPr lang="zh-CN" altLang="en-US" sz="2400">
                <a:solidFill>
                  <a:srgbClr val="0000FF"/>
                </a:solidFill>
                <a:latin typeface="Arial" panose="020B0604020202020204" pitchFamily="34" charset="0"/>
              </a:rPr>
              <a:t>由于会超时，最终 </a:t>
            </a:r>
            <a:r>
              <a:rPr lang="en-US" altLang="zh-CN" sz="2400">
                <a:solidFill>
                  <a:srgbClr val="0000FF"/>
                </a:solidFill>
                <a:latin typeface="Arial" panose="020B0604020202020204" pitchFamily="34" charset="0"/>
              </a:rPr>
              <a:t>ARP </a:t>
            </a:r>
            <a:r>
              <a:rPr lang="zh-CN" altLang="en-US" sz="2400">
                <a:solidFill>
                  <a:srgbClr val="0000FF"/>
                </a:solidFill>
                <a:latin typeface="Arial" panose="020B0604020202020204" pitchFamily="34" charset="0"/>
              </a:rPr>
              <a:t>会放弃</a:t>
            </a:r>
            <a:r>
              <a:rPr lang="en-US" altLang="zh-CN" sz="2400">
                <a:solidFill>
                  <a:srgbClr val="0000FF"/>
                </a:solidFill>
                <a:latin typeface="Arial" panose="020B0604020202020204" pitchFamily="34" charset="0"/>
              </a:rPr>
              <a:t>.</a:t>
            </a:r>
          </a:p>
          <a:p>
            <a:pPr>
              <a:spcBef>
                <a:spcPct val="3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一个主机 发送一个 </a:t>
            </a:r>
            <a:r>
              <a:rPr lang="en-US" altLang="zh-CN">
                <a:solidFill>
                  <a:srgbClr val="000000"/>
                </a:solidFill>
                <a:latin typeface="Arial" panose="020B0604020202020204" pitchFamily="34" charset="0"/>
              </a:rPr>
              <a:t>ARP </a:t>
            </a:r>
            <a:r>
              <a:rPr lang="zh-CN" altLang="en-US">
                <a:solidFill>
                  <a:srgbClr val="000000"/>
                </a:solidFill>
                <a:latin typeface="Arial" panose="020B0604020202020204" pitchFamily="34" charset="0"/>
              </a:rPr>
              <a:t>请求给自己的</a:t>
            </a:r>
            <a:r>
              <a:rPr lang="en-US" altLang="zh-CN">
                <a:solidFill>
                  <a:srgbClr val="000000"/>
                </a:solidFill>
                <a:latin typeface="Arial" panose="020B0604020202020204" pitchFamily="34" charset="0"/>
              </a:rPr>
              <a:t>IP</a:t>
            </a:r>
            <a:r>
              <a:rPr lang="zh-CN" altLang="en-US">
                <a:solidFill>
                  <a:srgbClr val="000000"/>
                </a:solidFill>
                <a:latin typeface="Arial" panose="020B0604020202020204" pitchFamily="34" charset="0"/>
              </a:rPr>
              <a:t>地址会怎样</a:t>
            </a:r>
            <a:r>
              <a:rPr lang="en-US" altLang="zh-CN">
                <a:solidFill>
                  <a:srgbClr val="000000"/>
                </a:solidFill>
                <a:latin typeface="Arial" panose="020B0604020202020204" pitchFamily="34" charset="0"/>
              </a:rPr>
              <a:t>?</a:t>
            </a:r>
          </a:p>
          <a:p>
            <a:pPr>
              <a:spcBef>
                <a:spcPct val="30000"/>
              </a:spcBef>
            </a:pPr>
            <a:r>
              <a:rPr lang="en-US" altLang="zh-CN" sz="2400">
                <a:solidFill>
                  <a:srgbClr val="0000FF"/>
                </a:solidFill>
                <a:latin typeface="Arial" panose="020B0604020202020204" pitchFamily="34" charset="0"/>
              </a:rPr>
              <a:t>    - </a:t>
            </a:r>
            <a:r>
              <a:rPr lang="zh-CN" altLang="en-US" sz="2400">
                <a:solidFill>
                  <a:srgbClr val="0000FF"/>
                </a:solidFill>
                <a:latin typeface="Arial" panose="020B0604020202020204" pitchFamily="34" charset="0"/>
              </a:rPr>
              <a:t>另一台主机（如，服务器）就像处理一个正常的</a:t>
            </a:r>
            <a:r>
              <a:rPr lang="en-US" altLang="zh-CN" sz="2400">
                <a:solidFill>
                  <a:srgbClr val="0000FF"/>
                </a:solidFill>
                <a:latin typeface="Arial" panose="020B0604020202020204" pitchFamily="34" charset="0"/>
              </a:rPr>
              <a:t>ARP</a:t>
            </a:r>
            <a:r>
              <a:rPr lang="zh-CN" altLang="en-US" sz="2400">
                <a:solidFill>
                  <a:srgbClr val="0000FF"/>
                </a:solidFill>
                <a:latin typeface="Arial" panose="020B0604020202020204" pitchFamily="34" charset="0"/>
              </a:rPr>
              <a:t>请求那样回应 </a:t>
            </a:r>
            <a:r>
              <a:rPr lang="en-US" altLang="zh-CN" sz="2400">
                <a:solidFill>
                  <a:srgbClr val="FF0000"/>
                </a:solidFill>
                <a:latin typeface="Arial" panose="020B0604020202020204" pitchFamily="34" charset="0"/>
              </a:rPr>
              <a:t>(</a:t>
            </a:r>
            <a:r>
              <a:rPr lang="zh-CN" altLang="en-US" sz="2400">
                <a:solidFill>
                  <a:srgbClr val="FF0000"/>
                </a:solidFill>
                <a:latin typeface="Arial" panose="020B0604020202020204" pitchFamily="34" charset="0"/>
              </a:rPr>
              <a:t>无偿 </a:t>
            </a:r>
            <a:r>
              <a:rPr lang="en-US" altLang="zh-CN" sz="2400">
                <a:solidFill>
                  <a:srgbClr val="FF0000"/>
                </a:solidFill>
                <a:latin typeface="Arial" panose="020B0604020202020204" pitchFamily="34" charset="0"/>
              </a:rPr>
              <a:t>ARP)</a:t>
            </a:r>
            <a:r>
              <a:rPr lang="en-US" altLang="zh-CN" sz="2400">
                <a:solidFill>
                  <a:srgbClr val="0000FF"/>
                </a:solidFill>
                <a:latin typeface="Arial" panose="020B0604020202020204" pitchFamily="34" charset="0"/>
              </a:rPr>
              <a:t>.</a:t>
            </a:r>
          </a:p>
          <a:p>
            <a:pPr>
              <a:spcBef>
                <a:spcPct val="30000"/>
              </a:spcBef>
            </a:pPr>
            <a:r>
              <a:rPr lang="en-US" altLang="zh-CN" sz="2400">
                <a:solidFill>
                  <a:srgbClr val="0000FF"/>
                </a:solidFill>
                <a:latin typeface="Arial" panose="020B0604020202020204" pitchFamily="34" charset="0"/>
              </a:rPr>
              <a:t>     - </a:t>
            </a:r>
            <a:r>
              <a:rPr lang="zh-CN" altLang="en-US" sz="2400">
                <a:solidFill>
                  <a:srgbClr val="0000FF"/>
                </a:solidFill>
                <a:latin typeface="Arial" panose="020B0604020202020204" pitchFamily="34" charset="0"/>
              </a:rPr>
              <a:t>这有助于探测一个</a:t>
            </a:r>
            <a:r>
              <a:rPr lang="en-US" altLang="zh-CN" sz="2400">
                <a:solidFill>
                  <a:srgbClr val="0000FF"/>
                </a:solidFill>
                <a:latin typeface="Arial" panose="020B0604020202020204" pitchFamily="34" charset="0"/>
              </a:rPr>
              <a:t>IP</a:t>
            </a:r>
            <a:r>
              <a:rPr lang="zh-CN" altLang="en-US" sz="2400">
                <a:solidFill>
                  <a:srgbClr val="0000FF"/>
                </a:solidFill>
                <a:latin typeface="Arial" panose="020B0604020202020204" pitchFamily="34" charset="0"/>
              </a:rPr>
              <a:t>地址是否已被分配</a:t>
            </a:r>
            <a:endParaRPr lang="zh-CN" altLang="en-US" sz="2400"/>
          </a:p>
        </p:txBody>
      </p:sp>
    </p:spTree>
  </p:cSld>
  <p:clrMapOvr>
    <a:masterClrMapping/>
  </p:clrMapOvr>
  <p:transition spd="med">
    <p:random/>
  </p:transition>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22722" name="Rectangle 2"/>
          <p:cNvSpPr>
            <a:spLocks noGrp="1" noChangeArrowheads="1"/>
          </p:cNvSpPr>
          <p:nvPr>
            <p:ph type="body" idx="1"/>
          </p:nvPr>
        </p:nvSpPr>
        <p:spPr bwMode="auto">
          <a:xfrm>
            <a:off x="2125663" y="1665288"/>
            <a:ext cx="7772400" cy="41148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indent="-246063">
              <a:buFont typeface="Wingdings" panose="05000000000000000000" pitchFamily="2" charset="2"/>
              <a:buChar char="q"/>
            </a:pPr>
            <a:r>
              <a:rPr lang="zh-CN" altLang="en-US" sz="2400">
                <a:latin typeface="Times New Roman" panose="02020603050405020304" pitchFamily="18" charset="0"/>
              </a:rPr>
              <a:t>一旦收到</a:t>
            </a:r>
            <a:r>
              <a:rPr lang="en-US" altLang="zh-CN" sz="2400">
                <a:latin typeface="Times New Roman" panose="02020603050405020304" pitchFamily="18" charset="0"/>
              </a:rPr>
              <a:t>ARP</a:t>
            </a:r>
            <a:r>
              <a:rPr lang="zh-CN" altLang="en-US" sz="2400">
                <a:latin typeface="Times New Roman" panose="02020603050405020304" pitchFamily="18" charset="0"/>
              </a:rPr>
              <a:t>应答</a:t>
            </a:r>
            <a:r>
              <a:rPr lang="en-US" altLang="zh-CN" sz="2400">
                <a:latin typeface="Times New Roman" panose="02020603050405020304" pitchFamily="18" charset="0"/>
              </a:rPr>
              <a:t>, </a:t>
            </a:r>
            <a:r>
              <a:rPr lang="zh-CN" altLang="en-US" sz="2400">
                <a:latin typeface="Times New Roman" panose="02020603050405020304" pitchFamily="18" charset="0"/>
              </a:rPr>
              <a:t>主机就将获得的网间网地址和物理地址存入缓存</a:t>
            </a:r>
            <a:r>
              <a:rPr lang="en-US" altLang="zh-CN" sz="2400">
                <a:latin typeface="Times New Roman" panose="02020603050405020304" pitchFamily="18" charset="0"/>
              </a:rPr>
              <a:t>. </a:t>
            </a:r>
            <a:r>
              <a:rPr lang="zh-CN" altLang="en-US" sz="2400">
                <a:latin typeface="Times New Roman" panose="02020603050405020304" pitchFamily="18" charset="0"/>
              </a:rPr>
              <a:t>欲发送报文时</a:t>
            </a:r>
            <a:r>
              <a:rPr lang="en-US" altLang="zh-CN" sz="2400">
                <a:latin typeface="Times New Roman" panose="02020603050405020304" pitchFamily="18" charset="0"/>
              </a:rPr>
              <a:t>, </a:t>
            </a:r>
            <a:r>
              <a:rPr lang="zh-CN" altLang="en-US" sz="2400">
                <a:latin typeface="Times New Roman" panose="02020603050405020304" pitchFamily="18" charset="0"/>
              </a:rPr>
              <a:t>首先去缓存中查找相应的项</a:t>
            </a:r>
            <a:r>
              <a:rPr lang="en-US" altLang="zh-CN" sz="2400">
                <a:latin typeface="Times New Roman" panose="02020603050405020304" pitchFamily="18" charset="0"/>
              </a:rPr>
              <a:t>, </a:t>
            </a:r>
            <a:r>
              <a:rPr lang="zh-CN" altLang="en-US" sz="2400">
                <a:latin typeface="Times New Roman" panose="02020603050405020304" pitchFamily="18" charset="0"/>
              </a:rPr>
              <a:t>若找不到</a:t>
            </a:r>
            <a:r>
              <a:rPr lang="en-US" altLang="zh-CN" sz="2400">
                <a:latin typeface="Times New Roman" panose="02020603050405020304" pitchFamily="18" charset="0"/>
              </a:rPr>
              <a:t>,</a:t>
            </a:r>
            <a:r>
              <a:rPr lang="zh-CN" altLang="en-US" sz="2400">
                <a:latin typeface="Times New Roman" panose="02020603050405020304" pitchFamily="18" charset="0"/>
              </a:rPr>
              <a:t>再利用</a:t>
            </a:r>
            <a:r>
              <a:rPr lang="en-US" altLang="zh-CN" sz="2400">
                <a:latin typeface="Times New Roman" panose="02020603050405020304" pitchFamily="18" charset="0"/>
              </a:rPr>
              <a:t>ARP</a:t>
            </a:r>
            <a:r>
              <a:rPr lang="zh-CN" altLang="en-US" sz="2400">
                <a:latin typeface="Times New Roman" panose="02020603050405020304" pitchFamily="18" charset="0"/>
              </a:rPr>
              <a:t>进行地址解析</a:t>
            </a:r>
            <a:r>
              <a:rPr lang="en-US" altLang="zh-CN" sz="2400">
                <a:latin typeface="Times New Roman" panose="02020603050405020304" pitchFamily="18" charset="0"/>
              </a:rPr>
              <a:t>. </a:t>
            </a:r>
          </a:p>
          <a:p>
            <a:pPr indent="-246063">
              <a:buFont typeface="Wingdings" panose="05000000000000000000" pitchFamily="2" charset="2"/>
              <a:buChar char="q"/>
            </a:pPr>
            <a:r>
              <a:rPr lang="zh-CN" altLang="en-US" sz="2400">
                <a:latin typeface="Times New Roman" panose="02020603050405020304" pitchFamily="18" charset="0"/>
              </a:rPr>
              <a:t>在</a:t>
            </a:r>
            <a:r>
              <a:rPr lang="en-US" altLang="zh-CN" sz="2400">
                <a:latin typeface="Times New Roman" panose="02020603050405020304" pitchFamily="18" charset="0"/>
              </a:rPr>
              <a:t>ARP</a:t>
            </a:r>
            <a:r>
              <a:rPr lang="zh-CN" altLang="en-US" sz="2400">
                <a:latin typeface="Times New Roman" panose="02020603050405020304" pitchFamily="18" charset="0"/>
              </a:rPr>
              <a:t>请求中填上自己的</a:t>
            </a:r>
            <a:r>
              <a:rPr lang="en-US" altLang="zh-CN" sz="2400">
                <a:latin typeface="Times New Roman" panose="02020603050405020304" pitchFamily="18" charset="0"/>
              </a:rPr>
              <a:t>IP</a:t>
            </a:r>
            <a:r>
              <a:rPr lang="zh-CN" altLang="en-US" sz="2400">
                <a:latin typeface="Times New Roman" panose="02020603050405020304" pitchFamily="18" charset="0"/>
              </a:rPr>
              <a:t>地址和硬件地址，以避免其它主机过后再发</a:t>
            </a:r>
            <a:r>
              <a:rPr lang="en-US" altLang="zh-CN" sz="2400">
                <a:latin typeface="Times New Roman" panose="02020603050405020304" pitchFamily="18" charset="0"/>
              </a:rPr>
              <a:t>ARP</a:t>
            </a:r>
            <a:r>
              <a:rPr lang="zh-CN" altLang="en-US" sz="2400">
                <a:latin typeface="Times New Roman" panose="02020603050405020304" pitchFamily="18" charset="0"/>
              </a:rPr>
              <a:t>请求。</a:t>
            </a:r>
          </a:p>
          <a:p>
            <a:pPr indent="-246063">
              <a:buFont typeface="Wingdings" panose="05000000000000000000" pitchFamily="2" charset="2"/>
              <a:buChar char="q"/>
            </a:pPr>
            <a:r>
              <a:rPr lang="zh-CN" altLang="en-US" sz="2400">
                <a:latin typeface="Times New Roman" panose="02020603050405020304" pitchFamily="18" charset="0"/>
              </a:rPr>
              <a:t> 当广播</a:t>
            </a:r>
            <a:r>
              <a:rPr lang="en-US" altLang="zh-CN" sz="2400">
                <a:latin typeface="Times New Roman" panose="02020603050405020304" pitchFamily="18" charset="0"/>
              </a:rPr>
              <a:t>ARP</a:t>
            </a:r>
            <a:r>
              <a:rPr lang="zh-CN" altLang="en-US" sz="2400">
                <a:latin typeface="Times New Roman" panose="02020603050405020304" pitchFamily="18" charset="0"/>
              </a:rPr>
              <a:t>请求时，网上所有的计算机都能收到该报文，此时各站应更新</a:t>
            </a:r>
            <a:r>
              <a:rPr lang="en-US" altLang="zh-CN" sz="2400">
                <a:latin typeface="Times New Roman" panose="02020603050405020304" pitchFamily="18" charset="0"/>
              </a:rPr>
              <a:t>A</a:t>
            </a:r>
            <a:r>
              <a:rPr lang="zh-CN" altLang="en-US" sz="2400">
                <a:latin typeface="Times New Roman" panose="02020603050405020304" pitchFamily="18" charset="0"/>
              </a:rPr>
              <a:t>的</a:t>
            </a:r>
            <a:r>
              <a:rPr lang="en-US" altLang="zh-CN" sz="2400">
                <a:latin typeface="Times New Roman" panose="02020603050405020304" pitchFamily="18" charset="0"/>
              </a:rPr>
              <a:t>IP</a:t>
            </a:r>
            <a:r>
              <a:rPr lang="zh-CN" altLang="en-US" sz="2400">
                <a:latin typeface="Times New Roman" panose="02020603050405020304" pitchFamily="18" charset="0"/>
              </a:rPr>
              <a:t>地址到物理地址之间的绑定</a:t>
            </a:r>
          </a:p>
          <a:p>
            <a:pPr indent="-246063">
              <a:buFont typeface="Wingdings" panose="05000000000000000000" pitchFamily="2" charset="2"/>
              <a:buChar char="q"/>
            </a:pPr>
            <a:r>
              <a:rPr lang="zh-CN" altLang="en-US" sz="2400">
                <a:latin typeface="Times New Roman" panose="02020603050405020304" pitchFamily="18" charset="0"/>
              </a:rPr>
              <a:t>当网上出现一个新的计算机时，该新的计算机尽可能主动广播它的</a:t>
            </a:r>
            <a:r>
              <a:rPr lang="en-US" altLang="zh-CN" sz="2400">
                <a:latin typeface="Times New Roman" panose="02020603050405020304" pitchFamily="18" charset="0"/>
                <a:cs typeface="Times New Roman" panose="02020603050405020304" pitchFamily="18" charset="0"/>
              </a:rPr>
              <a:t>IP</a:t>
            </a:r>
            <a:r>
              <a:rPr lang="zh-CN" altLang="en-US" sz="2400">
                <a:latin typeface="Times New Roman" panose="02020603050405020304" pitchFamily="18" charset="0"/>
              </a:rPr>
              <a:t>地址和物理地址，以避免其它站再都运行</a:t>
            </a:r>
            <a:r>
              <a:rPr lang="en-US" altLang="zh-CN" sz="2400">
                <a:latin typeface="Times New Roman" panose="02020603050405020304" pitchFamily="18" charset="0"/>
                <a:cs typeface="Times New Roman" panose="02020603050405020304" pitchFamily="18" charset="0"/>
              </a:rPr>
              <a:t>ARP</a:t>
            </a:r>
            <a:r>
              <a:rPr lang="zh-CN" altLang="en-US" sz="2400">
                <a:latin typeface="Times New Roman" panose="02020603050405020304" pitchFamily="18" charset="0"/>
              </a:rPr>
              <a:t>。</a:t>
            </a:r>
            <a:r>
              <a:rPr lang="zh-CN" altLang="en-US"/>
              <a:t> </a:t>
            </a:r>
          </a:p>
        </p:txBody>
      </p:sp>
      <p:sp>
        <p:nvSpPr>
          <p:cNvPr id="65539" name="Rectangle 3"/>
          <p:cNvSpPr>
            <a:spLocks noGrp="1" noChangeArrowheads="1"/>
          </p:cNvSpPr>
          <p:nvPr>
            <p:ph type="title"/>
          </p:nvPr>
        </p:nvSpPr>
        <p:spPr bwMode="auto">
          <a:xfrm>
            <a:off x="2209800" y="4730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ARP </a:t>
            </a:r>
            <a:r>
              <a:rPr lang="zh-CN" altLang="en-US" sz="3600">
                <a:solidFill>
                  <a:schemeClr val="hlink"/>
                </a:solidFill>
                <a:ea typeface="华文行楷" panose="02010800040101010101" pitchFamily="2" charset="-122"/>
              </a:rPr>
              <a:t>优化</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22722">
                                            <p:txEl>
                                              <p:pRg st="0" end="0"/>
                                            </p:txEl>
                                          </p:spTgt>
                                        </p:tgtEl>
                                        <p:attrNameLst>
                                          <p:attrName>style.visibility</p:attrName>
                                        </p:attrNameLst>
                                      </p:cBhvr>
                                      <p:to>
                                        <p:strVal val="visible"/>
                                      </p:to>
                                    </p:set>
                                    <p:anim calcmode="lin" valueType="num">
                                      <p:cBhvr additive="base">
                                        <p:cTn id="7" dur="500" fill="hold"/>
                                        <p:tgtEl>
                                          <p:spTgt spid="182272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227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22722">
                                            <p:txEl>
                                              <p:pRg st="1" end="1"/>
                                            </p:txEl>
                                          </p:spTgt>
                                        </p:tgtEl>
                                        <p:attrNameLst>
                                          <p:attrName>style.visibility</p:attrName>
                                        </p:attrNameLst>
                                      </p:cBhvr>
                                      <p:to>
                                        <p:strVal val="visible"/>
                                      </p:to>
                                    </p:set>
                                    <p:anim calcmode="lin" valueType="num">
                                      <p:cBhvr additive="base">
                                        <p:cTn id="13" dur="500" fill="hold"/>
                                        <p:tgtEl>
                                          <p:spTgt spid="1822722">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2272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22722">
                                            <p:txEl>
                                              <p:pRg st="2" end="2"/>
                                            </p:txEl>
                                          </p:spTgt>
                                        </p:tgtEl>
                                        <p:attrNameLst>
                                          <p:attrName>style.visibility</p:attrName>
                                        </p:attrNameLst>
                                      </p:cBhvr>
                                      <p:to>
                                        <p:strVal val="visible"/>
                                      </p:to>
                                    </p:set>
                                    <p:anim calcmode="lin" valueType="num">
                                      <p:cBhvr additive="base">
                                        <p:cTn id="19" dur="500" fill="hold"/>
                                        <p:tgtEl>
                                          <p:spTgt spid="1822722">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2272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22722">
                                            <p:txEl>
                                              <p:pRg st="3" end="3"/>
                                            </p:txEl>
                                          </p:spTgt>
                                        </p:tgtEl>
                                        <p:attrNameLst>
                                          <p:attrName>style.visibility</p:attrName>
                                        </p:attrNameLst>
                                      </p:cBhvr>
                                      <p:to>
                                        <p:strVal val="visible"/>
                                      </p:to>
                                    </p:set>
                                    <p:anim calcmode="lin" valueType="num">
                                      <p:cBhvr additive="base">
                                        <p:cTn id="25" dur="500" fill="hold"/>
                                        <p:tgtEl>
                                          <p:spTgt spid="1822722">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22722">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22" grpId="0" build="p"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bwMode="auto">
          <a:xfrm>
            <a:off x="2230438" y="473075"/>
            <a:ext cx="7772400" cy="5159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ctr" eaLnBrk="1" hangingPunct="1"/>
            <a:r>
              <a:rPr lang="en-US" altLang="zh-CN" sz="3600">
                <a:solidFill>
                  <a:schemeClr val="hlink"/>
                </a:solidFill>
                <a:ea typeface="华文行楷" panose="02010800040101010101" pitchFamily="2" charset="-122"/>
              </a:rPr>
              <a:t>DHCP</a:t>
            </a:r>
          </a:p>
        </p:txBody>
      </p:sp>
      <p:sp>
        <p:nvSpPr>
          <p:cNvPr id="1830915" name="Text Box 3"/>
          <p:cNvSpPr txBox="1">
            <a:spLocks noChangeArrowheads="1"/>
          </p:cNvSpPr>
          <p:nvPr/>
        </p:nvSpPr>
        <p:spPr bwMode="auto">
          <a:xfrm>
            <a:off x="2794000" y="1606550"/>
            <a:ext cx="6713538"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tx1"/>
                </a:solidFill>
                <a:latin typeface="Arial" panose="020B0604020202020204" pitchFamily="34" charset="0"/>
              </a:rPr>
              <a:t>• DHCP = </a:t>
            </a:r>
            <a:r>
              <a:rPr lang="zh-CN" altLang="en-US">
                <a:solidFill>
                  <a:schemeClr val="tx1"/>
                </a:solidFill>
                <a:latin typeface="Arial" panose="020B0604020202020204" pitchFamily="34" charset="0"/>
              </a:rPr>
              <a:t>动态主机配置协议</a:t>
            </a:r>
          </a:p>
          <a:p>
            <a:pPr>
              <a:spcBef>
                <a:spcPct val="50000"/>
              </a:spcBef>
            </a:pPr>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基于</a:t>
            </a:r>
            <a:r>
              <a:rPr lang="en-US" altLang="zh-CN">
                <a:solidFill>
                  <a:schemeClr val="tx1"/>
                </a:solidFill>
                <a:latin typeface="Arial" panose="020B0604020202020204" pitchFamily="34" charset="0"/>
              </a:rPr>
              <a:t>C/S</a:t>
            </a:r>
            <a:r>
              <a:rPr lang="zh-CN" altLang="en-US">
                <a:solidFill>
                  <a:schemeClr val="tx1"/>
                </a:solidFill>
                <a:latin typeface="Arial" panose="020B0604020202020204" pitchFamily="34" charset="0"/>
              </a:rPr>
              <a:t>的方法来动态分配</a:t>
            </a:r>
            <a:r>
              <a:rPr lang="en-US" altLang="zh-CN">
                <a:solidFill>
                  <a:schemeClr val="tx1"/>
                </a:solidFill>
                <a:latin typeface="Arial" panose="020B0604020202020204" pitchFamily="34" charset="0"/>
              </a:rPr>
              <a:t>IP</a:t>
            </a:r>
            <a:r>
              <a:rPr lang="zh-CN" altLang="en-US">
                <a:solidFill>
                  <a:schemeClr val="tx1"/>
                </a:solidFill>
                <a:latin typeface="Arial" panose="020B0604020202020204" pitchFamily="34" charset="0"/>
              </a:rPr>
              <a:t>地址 </a:t>
            </a:r>
          </a:p>
          <a:p>
            <a:pPr>
              <a:spcBef>
                <a:spcPct val="50000"/>
              </a:spcBef>
            </a:pPr>
            <a:r>
              <a:rPr lang="en-US" altLang="zh-CN">
                <a:solidFill>
                  <a:schemeClr val="tx1"/>
                </a:solidFill>
                <a:latin typeface="Arial" panose="020B0604020202020204" pitchFamily="34" charset="0"/>
              </a:rPr>
              <a:t>• DHCP </a:t>
            </a:r>
            <a:r>
              <a:rPr lang="zh-CN" altLang="en-US">
                <a:solidFill>
                  <a:schemeClr val="tx1"/>
                </a:solidFill>
                <a:latin typeface="Arial" panose="020B0604020202020204" pitchFamily="34" charset="0"/>
              </a:rPr>
              <a:t>服务器维持了一个</a:t>
            </a:r>
            <a:r>
              <a:rPr lang="en-US" altLang="zh-CN">
                <a:solidFill>
                  <a:schemeClr val="tx1"/>
                </a:solidFill>
                <a:latin typeface="Arial" panose="020B0604020202020204" pitchFamily="34" charset="0"/>
              </a:rPr>
              <a:t>IP</a:t>
            </a:r>
            <a:r>
              <a:rPr lang="zh-CN" altLang="en-US">
                <a:solidFill>
                  <a:schemeClr val="tx1"/>
                </a:solidFill>
                <a:latin typeface="Arial" panose="020B0604020202020204" pitchFamily="34" charset="0"/>
              </a:rPr>
              <a:t>地址的缓冲池</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并根据主机的请求来分配它们</a:t>
            </a:r>
            <a:endParaRPr lang="zh-CN" altLang="en-US">
              <a:solidFill>
                <a:schemeClr val="tx1"/>
              </a:solidFill>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30915">
                                            <p:txEl>
                                              <p:pRg st="0" end="0"/>
                                            </p:txEl>
                                          </p:spTgt>
                                        </p:tgtEl>
                                        <p:attrNameLst>
                                          <p:attrName>style.visibility</p:attrName>
                                        </p:attrNameLst>
                                      </p:cBhvr>
                                      <p:to>
                                        <p:strVal val="visible"/>
                                      </p:to>
                                    </p:set>
                                    <p:anim calcmode="lin" valueType="num">
                                      <p:cBhvr additive="base">
                                        <p:cTn id="7" dur="500" fill="hold"/>
                                        <p:tgtEl>
                                          <p:spTgt spid="183091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309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30915">
                                            <p:txEl>
                                              <p:pRg st="1" end="1"/>
                                            </p:txEl>
                                          </p:spTgt>
                                        </p:tgtEl>
                                        <p:attrNameLst>
                                          <p:attrName>style.visibility</p:attrName>
                                        </p:attrNameLst>
                                      </p:cBhvr>
                                      <p:to>
                                        <p:strVal val="visible"/>
                                      </p:to>
                                    </p:set>
                                    <p:anim calcmode="lin" valueType="num">
                                      <p:cBhvr additive="base">
                                        <p:cTn id="13" dur="500" fill="hold"/>
                                        <p:tgtEl>
                                          <p:spTgt spid="183091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309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30915">
                                            <p:txEl>
                                              <p:pRg st="2" end="2"/>
                                            </p:txEl>
                                          </p:spTgt>
                                        </p:tgtEl>
                                        <p:attrNameLst>
                                          <p:attrName>style.visibility</p:attrName>
                                        </p:attrNameLst>
                                      </p:cBhvr>
                                      <p:to>
                                        <p:strVal val="visible"/>
                                      </p:to>
                                    </p:set>
                                    <p:anim calcmode="lin" valueType="num">
                                      <p:cBhvr additive="base">
                                        <p:cTn id="19" dur="500" fill="hold"/>
                                        <p:tgtEl>
                                          <p:spTgt spid="183091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30915">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0915" grpId="0" build="p"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Rectangle 2"/>
          <p:cNvSpPr>
            <a:spLocks noGrp="1" noChangeArrowheads="1"/>
          </p:cNvSpPr>
          <p:nvPr>
            <p:ph type="body" idx="1"/>
          </p:nvPr>
        </p:nvSpPr>
        <p:spPr bwMode="auto">
          <a:xfrm>
            <a:off x="3640139" y="1541464"/>
            <a:ext cx="6230937" cy="725487"/>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77500" lnSpcReduction="20000"/>
          </a:bodyPr>
          <a:lstStyle/>
          <a:p>
            <a:pPr eaLnBrk="1" hangingPunct="1">
              <a:lnSpc>
                <a:spcPct val="90000"/>
              </a:lnSpc>
            </a:pPr>
            <a:r>
              <a:rPr lang="zh-CN" altLang="en-US"/>
              <a:t>动态主机配置协议 </a:t>
            </a:r>
          </a:p>
          <a:p>
            <a:pPr eaLnBrk="1" hangingPunct="1">
              <a:lnSpc>
                <a:spcPct val="90000"/>
              </a:lnSpc>
            </a:pPr>
            <a:r>
              <a:rPr lang="zh-CN" altLang="en-US"/>
              <a:t>使用</a:t>
            </a:r>
            <a:r>
              <a:rPr lang="en-US" altLang="zh-CN"/>
              <a:t>ARP </a:t>
            </a:r>
            <a:r>
              <a:rPr lang="zh-CN" altLang="en-US"/>
              <a:t>把 地址分配给工作站</a:t>
            </a:r>
          </a:p>
        </p:txBody>
      </p:sp>
      <p:sp>
        <p:nvSpPr>
          <p:cNvPr id="69635" name="Line 3"/>
          <p:cNvSpPr>
            <a:spLocks noChangeShapeType="1"/>
          </p:cNvSpPr>
          <p:nvPr/>
        </p:nvSpPr>
        <p:spPr bwMode="auto">
          <a:xfrm>
            <a:off x="2590800" y="4724400"/>
            <a:ext cx="6172200"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pic>
        <p:nvPicPr>
          <p:cNvPr id="69636" name="Picture 4" descr="p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43201" y="5334001"/>
            <a:ext cx="14382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7" name="Picture 5" descr="p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1" y="5334001"/>
            <a:ext cx="14382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8" name="Picture 6" descr="p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19601" y="5334001"/>
            <a:ext cx="14382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9" name="Line 7"/>
          <p:cNvSpPr>
            <a:spLocks noChangeShapeType="1"/>
          </p:cNvSpPr>
          <p:nvPr/>
        </p:nvSpPr>
        <p:spPr bwMode="auto">
          <a:xfrm>
            <a:off x="3429000" y="4724400"/>
            <a:ext cx="0" cy="609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9640" name="Line 8"/>
          <p:cNvSpPr>
            <a:spLocks noChangeShapeType="1"/>
          </p:cNvSpPr>
          <p:nvPr/>
        </p:nvSpPr>
        <p:spPr bwMode="auto">
          <a:xfrm>
            <a:off x="5105400" y="4724400"/>
            <a:ext cx="0" cy="609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9641" name="Line 9"/>
          <p:cNvSpPr>
            <a:spLocks noChangeShapeType="1"/>
          </p:cNvSpPr>
          <p:nvPr/>
        </p:nvSpPr>
        <p:spPr bwMode="auto">
          <a:xfrm>
            <a:off x="6781800" y="4724400"/>
            <a:ext cx="0" cy="609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31946" name="Rectangle 10"/>
          <p:cNvSpPr>
            <a:spLocks noChangeArrowheads="1"/>
          </p:cNvSpPr>
          <p:nvPr/>
        </p:nvSpPr>
        <p:spPr bwMode="auto">
          <a:xfrm>
            <a:off x="2209800" y="2667000"/>
            <a:ext cx="1600200" cy="1066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DHCP</a:t>
            </a:r>
          </a:p>
          <a:p>
            <a:pPr algn="ctr" eaLnBrk="1" hangingPunct="1"/>
            <a:r>
              <a:rPr lang="en-US" altLang="zh-CN" sz="2400">
                <a:solidFill>
                  <a:schemeClr val="tx1"/>
                </a:solidFill>
                <a:latin typeface="Tahoma" panose="020B0604030504040204" pitchFamily="34" charset="0"/>
              </a:rPr>
              <a:t>Server</a:t>
            </a:r>
          </a:p>
        </p:txBody>
      </p:sp>
      <p:sp>
        <p:nvSpPr>
          <p:cNvPr id="69643" name="Line 11"/>
          <p:cNvSpPr>
            <a:spLocks noChangeShapeType="1"/>
          </p:cNvSpPr>
          <p:nvPr/>
        </p:nvSpPr>
        <p:spPr bwMode="auto">
          <a:xfrm>
            <a:off x="8077200" y="4191000"/>
            <a:ext cx="0" cy="533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31948" name="Rectangle 12"/>
          <p:cNvSpPr>
            <a:spLocks noChangeArrowheads="1"/>
          </p:cNvSpPr>
          <p:nvPr/>
        </p:nvSpPr>
        <p:spPr bwMode="auto">
          <a:xfrm>
            <a:off x="4876800" y="5410200"/>
            <a:ext cx="533400" cy="381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831949" name="AutoShape 13"/>
          <p:cNvSpPr>
            <a:spLocks noChangeArrowheads="1"/>
          </p:cNvSpPr>
          <p:nvPr/>
        </p:nvSpPr>
        <p:spPr bwMode="auto">
          <a:xfrm>
            <a:off x="2362200" y="3810000"/>
            <a:ext cx="2057400" cy="1371600"/>
          </a:xfrm>
          <a:prstGeom prst="wedgeRoundRectCallout">
            <a:avLst>
              <a:gd name="adj1" fmla="val 64815"/>
              <a:gd name="adj2" fmla="val 65856"/>
              <a:gd name="adj3" fmla="val 16667"/>
            </a:avLst>
          </a:prstGeom>
          <a:solidFill>
            <a:srgbClr val="CCFFFF"/>
          </a:solidFill>
          <a:ln w="9525">
            <a:solidFill>
              <a:schemeClr val="tx1"/>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b="1">
                <a:solidFill>
                  <a:schemeClr val="tx1"/>
                </a:solidFill>
                <a:latin typeface="Tahoma" panose="020B0604030504040204" pitchFamily="34" charset="0"/>
              </a:rPr>
              <a:t>Broadcast:</a:t>
            </a:r>
          </a:p>
          <a:p>
            <a:pPr algn="ctr" eaLnBrk="1" hangingPunct="1"/>
            <a:r>
              <a:rPr lang="en-US" altLang="zh-CN" sz="2000">
                <a:solidFill>
                  <a:schemeClr val="tx1"/>
                </a:solidFill>
                <a:latin typeface="Tahoma" panose="020B0604030504040204" pitchFamily="34" charset="0"/>
              </a:rPr>
              <a:t>My hardware address is </a:t>
            </a:r>
            <a:r>
              <a:rPr lang="en-US" altLang="zh-CN" sz="2000" i="1">
                <a:solidFill>
                  <a:schemeClr val="hlink"/>
                </a:solidFill>
                <a:latin typeface="Tahoma" panose="020B0604030504040204" pitchFamily="34" charset="0"/>
              </a:rPr>
              <a:t>this</a:t>
            </a:r>
            <a:r>
              <a:rPr lang="en-US" altLang="zh-CN" sz="2000">
                <a:solidFill>
                  <a:schemeClr val="tx1"/>
                </a:solidFill>
                <a:latin typeface="Tahoma" panose="020B0604030504040204" pitchFamily="34" charset="0"/>
              </a:rPr>
              <a:t>. Who am I?</a:t>
            </a:r>
          </a:p>
        </p:txBody>
      </p:sp>
      <p:sp>
        <p:nvSpPr>
          <p:cNvPr id="69646" name="Rectangle 14"/>
          <p:cNvSpPr>
            <a:spLocks noChangeArrowheads="1"/>
          </p:cNvSpPr>
          <p:nvPr/>
        </p:nvSpPr>
        <p:spPr bwMode="auto">
          <a:xfrm>
            <a:off x="7772400" y="3352800"/>
            <a:ext cx="990600" cy="838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Relay</a:t>
            </a:r>
          </a:p>
          <a:p>
            <a:pPr algn="ctr" eaLnBrk="1" hangingPunct="1"/>
            <a:r>
              <a:rPr lang="en-US" altLang="zh-CN" sz="2400">
                <a:solidFill>
                  <a:schemeClr val="tx1"/>
                </a:solidFill>
                <a:latin typeface="Tahoma" panose="020B0604030504040204" pitchFamily="34" charset="0"/>
              </a:rPr>
              <a:t>Agent</a:t>
            </a:r>
          </a:p>
        </p:txBody>
      </p:sp>
      <p:sp>
        <p:nvSpPr>
          <p:cNvPr id="1831951" name="Freeform 15"/>
          <p:cNvSpPr>
            <a:spLocks/>
          </p:cNvSpPr>
          <p:nvPr/>
        </p:nvSpPr>
        <p:spPr bwMode="auto">
          <a:xfrm>
            <a:off x="3886200" y="2730500"/>
            <a:ext cx="3733800" cy="698500"/>
          </a:xfrm>
          <a:custGeom>
            <a:avLst/>
            <a:gdLst>
              <a:gd name="T0" fmla="*/ 2147483646 w 2352"/>
              <a:gd name="T1" fmla="*/ 2147483646 h 440"/>
              <a:gd name="T2" fmla="*/ 2147483646 w 2352"/>
              <a:gd name="T3" fmla="*/ 2147483646 h 440"/>
              <a:gd name="T4" fmla="*/ 0 w 2352"/>
              <a:gd name="T5" fmla="*/ 2147483646 h 440"/>
              <a:gd name="T6" fmla="*/ 0 60000 65536"/>
              <a:gd name="T7" fmla="*/ 0 60000 65536"/>
              <a:gd name="T8" fmla="*/ 0 60000 65536"/>
              <a:gd name="T9" fmla="*/ 0 w 2352"/>
              <a:gd name="T10" fmla="*/ 0 h 440"/>
              <a:gd name="T11" fmla="*/ 2352 w 2352"/>
              <a:gd name="T12" fmla="*/ 440 h 440"/>
            </a:gdLst>
            <a:ahLst/>
            <a:cxnLst>
              <a:cxn ang="T6">
                <a:pos x="T0" y="T1"/>
              </a:cxn>
              <a:cxn ang="T7">
                <a:pos x="T2" y="T3"/>
              </a:cxn>
              <a:cxn ang="T8">
                <a:pos x="T4" y="T5"/>
              </a:cxn>
            </a:cxnLst>
            <a:rect l="T9" t="T10" r="T11" b="T12"/>
            <a:pathLst>
              <a:path w="2352" h="440">
                <a:moveTo>
                  <a:pt x="2352" y="440"/>
                </a:moveTo>
                <a:cubicBezTo>
                  <a:pt x="1972" y="276"/>
                  <a:pt x="1592" y="112"/>
                  <a:pt x="1200" y="56"/>
                </a:cubicBezTo>
                <a:cubicBezTo>
                  <a:pt x="808" y="0"/>
                  <a:pt x="200" y="96"/>
                  <a:pt x="0" y="104"/>
                </a:cubicBezTo>
              </a:path>
            </a:pathLst>
          </a:custGeom>
          <a:noFill/>
          <a:ln w="9525">
            <a:solidFill>
              <a:schemeClr val="hlink"/>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831952" name="Text Box 16"/>
          <p:cNvSpPr txBox="1">
            <a:spLocks noChangeArrowheads="1"/>
          </p:cNvSpPr>
          <p:nvPr/>
        </p:nvSpPr>
        <p:spPr bwMode="auto">
          <a:xfrm>
            <a:off x="4648200" y="2700339"/>
            <a:ext cx="2819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Request IP for Eth</a:t>
            </a:r>
          </a:p>
          <a:p>
            <a:pPr eaLnBrk="1" hangingPunct="1"/>
            <a:r>
              <a:rPr lang="en-US" altLang="zh-CN" sz="2400">
                <a:solidFill>
                  <a:schemeClr val="tx1"/>
                </a:solidFill>
                <a:latin typeface="Tahoma" panose="020B0604030504040204" pitchFamily="34" charset="0"/>
              </a:rPr>
              <a:t>address </a:t>
            </a:r>
            <a:r>
              <a:rPr lang="en-US" altLang="zh-CN" sz="2400" i="1">
                <a:solidFill>
                  <a:schemeClr val="hlink"/>
                </a:solidFill>
                <a:latin typeface="Tahoma" panose="020B0604030504040204" pitchFamily="34" charset="0"/>
              </a:rPr>
              <a:t>this</a:t>
            </a:r>
          </a:p>
        </p:txBody>
      </p:sp>
      <p:sp>
        <p:nvSpPr>
          <p:cNvPr id="1831953" name="Freeform 17"/>
          <p:cNvSpPr>
            <a:spLocks/>
          </p:cNvSpPr>
          <p:nvPr/>
        </p:nvSpPr>
        <p:spPr bwMode="auto">
          <a:xfrm>
            <a:off x="3886200" y="3429000"/>
            <a:ext cx="3810000" cy="546100"/>
          </a:xfrm>
          <a:custGeom>
            <a:avLst/>
            <a:gdLst>
              <a:gd name="T0" fmla="*/ 0 w 2400"/>
              <a:gd name="T1" fmla="*/ 0 h 344"/>
              <a:gd name="T2" fmla="*/ 2147483646 w 2400"/>
              <a:gd name="T3" fmla="*/ 2147483646 h 344"/>
              <a:gd name="T4" fmla="*/ 2147483646 w 2400"/>
              <a:gd name="T5" fmla="*/ 2147483646 h 344"/>
              <a:gd name="T6" fmla="*/ 0 60000 65536"/>
              <a:gd name="T7" fmla="*/ 0 60000 65536"/>
              <a:gd name="T8" fmla="*/ 0 60000 65536"/>
              <a:gd name="T9" fmla="*/ 0 w 2400"/>
              <a:gd name="T10" fmla="*/ 0 h 344"/>
              <a:gd name="T11" fmla="*/ 2400 w 2400"/>
              <a:gd name="T12" fmla="*/ 344 h 344"/>
            </a:gdLst>
            <a:ahLst/>
            <a:cxnLst>
              <a:cxn ang="T6">
                <a:pos x="T0" y="T1"/>
              </a:cxn>
              <a:cxn ang="T7">
                <a:pos x="T2" y="T3"/>
              </a:cxn>
              <a:cxn ang="T8">
                <a:pos x="T4" y="T5"/>
              </a:cxn>
            </a:cxnLst>
            <a:rect l="T9" t="T10" r="T11" b="T12"/>
            <a:pathLst>
              <a:path w="2400" h="344">
                <a:moveTo>
                  <a:pt x="0" y="0"/>
                </a:moveTo>
                <a:cubicBezTo>
                  <a:pt x="352" y="116"/>
                  <a:pt x="704" y="232"/>
                  <a:pt x="1104" y="288"/>
                </a:cubicBezTo>
                <a:cubicBezTo>
                  <a:pt x="1504" y="344"/>
                  <a:pt x="2184" y="328"/>
                  <a:pt x="2400" y="336"/>
                </a:cubicBezTo>
              </a:path>
            </a:pathLst>
          </a:custGeom>
          <a:noFill/>
          <a:ln w="9525">
            <a:solidFill>
              <a:schemeClr val="hlink"/>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831954" name="Text Box 18"/>
          <p:cNvSpPr txBox="1">
            <a:spLocks noChangeArrowheads="1"/>
          </p:cNvSpPr>
          <p:nvPr/>
        </p:nvSpPr>
        <p:spPr bwMode="auto">
          <a:xfrm>
            <a:off x="5867400" y="3886200"/>
            <a:ext cx="1601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IP address</a:t>
            </a:r>
          </a:p>
        </p:txBody>
      </p:sp>
      <p:sp>
        <p:nvSpPr>
          <p:cNvPr id="69651" name="Rectangle 19"/>
          <p:cNvSpPr>
            <a:spLocks noGrp="1" noChangeArrowheads="1"/>
          </p:cNvSpPr>
          <p:nvPr>
            <p:ph type="title"/>
          </p:nvPr>
        </p:nvSpPr>
        <p:spPr bwMode="auto">
          <a:xfrm>
            <a:off x="2268538" y="4921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DHCP</a:t>
            </a:r>
          </a:p>
        </p:txBody>
      </p:sp>
      <p:grpSp>
        <p:nvGrpSpPr>
          <p:cNvPr id="2" name="Group 20"/>
          <p:cNvGrpSpPr>
            <a:grpSpLocks/>
          </p:cNvGrpSpPr>
          <p:nvPr/>
        </p:nvGrpSpPr>
        <p:grpSpPr bwMode="auto">
          <a:xfrm>
            <a:off x="5651500" y="4800600"/>
            <a:ext cx="4178300" cy="990600"/>
            <a:chOff x="2600" y="3024"/>
            <a:chExt cx="2632" cy="624"/>
          </a:xfrm>
        </p:grpSpPr>
        <p:sp>
          <p:nvSpPr>
            <p:cNvPr id="69653" name="AutoShape 21"/>
            <p:cNvSpPr>
              <a:spLocks noChangeArrowheads="1"/>
            </p:cNvSpPr>
            <p:nvPr/>
          </p:nvSpPr>
          <p:spPr bwMode="auto">
            <a:xfrm>
              <a:off x="4560" y="3024"/>
              <a:ext cx="672" cy="624"/>
            </a:xfrm>
            <a:prstGeom prst="wedgeRoundRectCallout">
              <a:avLst>
                <a:gd name="adj1" fmla="val -42412"/>
                <a:gd name="adj2" fmla="val -107370"/>
                <a:gd name="adj3" fmla="val 16667"/>
              </a:avLst>
            </a:prstGeom>
            <a:solidFill>
              <a:srgbClr val="CCFFFF"/>
            </a:solidFill>
            <a:ln w="9525">
              <a:solidFill>
                <a:schemeClr val="tx1"/>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Your IP is </a:t>
              </a:r>
              <a:r>
                <a:rPr lang="en-US" altLang="zh-CN" sz="2000" i="1">
                  <a:solidFill>
                    <a:schemeClr val="hlink"/>
                  </a:solidFill>
                  <a:latin typeface="Tahoma" panose="020B0604030504040204" pitchFamily="34" charset="0"/>
                </a:rPr>
                <a:t>that</a:t>
              </a:r>
            </a:p>
          </p:txBody>
        </p:sp>
        <p:sp>
          <p:nvSpPr>
            <p:cNvPr id="69654" name="Line 22"/>
            <p:cNvSpPr>
              <a:spLocks noChangeShapeType="1"/>
            </p:cNvSpPr>
            <p:nvPr/>
          </p:nvSpPr>
          <p:spPr bwMode="auto">
            <a:xfrm flipH="1">
              <a:off x="2600" y="3285"/>
              <a:ext cx="1930" cy="218"/>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31948"/>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831949"/>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499"/>
                                          </p:stCondLst>
                                        </p:cTn>
                                        <p:tgtEl>
                                          <p:spTgt spid="1831951"/>
                                        </p:tgtEl>
                                        <p:attrNameLst>
                                          <p:attrName>style.visibility</p:attrName>
                                        </p:attrNameLst>
                                      </p:cBhvr>
                                      <p:to>
                                        <p:strVal val="visible"/>
                                      </p:to>
                                    </p:set>
                                  </p:childTnLst>
                                </p:cTn>
                              </p:par>
                            </p:childTnLst>
                          </p:cTn>
                        </p:par>
                        <p:par>
                          <p:cTn id="14" fill="hold" nodeType="afterGroup">
                            <p:stCondLst>
                              <p:cond delay="500"/>
                            </p:stCondLst>
                            <p:childTnLst>
                              <p:par>
                                <p:cTn id="15" presetID="1" presetClass="entr" presetSubtype="0" fill="hold" grpId="0" nodeType="afterEffect">
                                  <p:stCondLst>
                                    <p:cond delay="0"/>
                                  </p:stCondLst>
                                  <p:childTnLst>
                                    <p:set>
                                      <p:cBhvr>
                                        <p:cTn id="16" dur="1" fill="hold">
                                          <p:stCondLst>
                                            <p:cond delay="499"/>
                                          </p:stCondLst>
                                        </p:cTn>
                                        <p:tgtEl>
                                          <p:spTgt spid="1831952"/>
                                        </p:tgtEl>
                                        <p:attrNameLst>
                                          <p:attrName>style.visibility</p:attrName>
                                        </p:attrNameLst>
                                      </p:cBhvr>
                                      <p:to>
                                        <p:strVal val="visible"/>
                                      </p:to>
                                    </p:set>
                                  </p:childTnLst>
                                </p:cTn>
                              </p:par>
                            </p:childTnLst>
                          </p:cTn>
                        </p:par>
                        <p:par>
                          <p:cTn id="17" fill="hold" nodeType="afterGroup">
                            <p:stCondLst>
                              <p:cond delay="1000"/>
                            </p:stCondLst>
                            <p:childTnLst>
                              <p:par>
                                <p:cTn id="18" presetID="1" presetClass="entr" presetSubtype="0" fill="hold" grpId="0" nodeType="afterEffect">
                                  <p:stCondLst>
                                    <p:cond delay="0"/>
                                  </p:stCondLst>
                                  <p:childTnLst>
                                    <p:set>
                                      <p:cBhvr>
                                        <p:cTn id="19" dur="1" fill="hold">
                                          <p:stCondLst>
                                            <p:cond delay="499"/>
                                          </p:stCondLst>
                                        </p:cTn>
                                        <p:tgtEl>
                                          <p:spTgt spid="1831946"/>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499"/>
                                          </p:stCondLst>
                                        </p:cTn>
                                        <p:tgtEl>
                                          <p:spTgt spid="1831953"/>
                                        </p:tgtEl>
                                        <p:attrNameLst>
                                          <p:attrName>style.visibility</p:attrName>
                                        </p:attrNameLst>
                                      </p:cBhvr>
                                      <p:to>
                                        <p:strVal val="visible"/>
                                      </p:to>
                                    </p:set>
                                  </p:childTnLst>
                                </p:cTn>
                              </p:par>
                            </p:childTnLst>
                          </p:cTn>
                        </p:par>
                        <p:par>
                          <p:cTn id="24" fill="hold" nodeType="afterGroup">
                            <p:stCondLst>
                              <p:cond delay="500"/>
                            </p:stCondLst>
                            <p:childTnLst>
                              <p:par>
                                <p:cTn id="25" presetID="1" presetClass="entr" presetSubtype="0" fill="hold" grpId="0" nodeType="afterEffect">
                                  <p:stCondLst>
                                    <p:cond delay="0"/>
                                  </p:stCondLst>
                                  <p:childTnLst>
                                    <p:set>
                                      <p:cBhvr>
                                        <p:cTn id="26" dur="1" fill="hold">
                                          <p:stCondLst>
                                            <p:cond delay="499"/>
                                          </p:stCondLst>
                                        </p:cTn>
                                        <p:tgtEl>
                                          <p:spTgt spid="183195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1+#ppt_w/2"/>
                                          </p:val>
                                        </p:tav>
                                        <p:tav tm="100000">
                                          <p:val>
                                            <p:strVal val="#ppt_x"/>
                                          </p:val>
                                        </p:tav>
                                      </p:tavLst>
                                    </p:anim>
                                    <p:anim calcmode="lin" valueType="num">
                                      <p:cBhvr additive="base">
                                        <p:cTn id="3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1946" grpId="0" animBg="1" autoUpdateAnimBg="0"/>
      <p:bldP spid="1831948" grpId="0" animBg="1"/>
      <p:bldP spid="1831949" grpId="0" animBg="1" autoUpdateAnimBg="0"/>
      <p:bldP spid="1831952" grpId="0" autoUpdateAnimBg="0"/>
      <p:bldP spid="1831954"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bwMode="auto">
          <a:xfrm>
            <a:off x="2249488" y="4921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  DHCP</a:t>
            </a:r>
            <a:r>
              <a:rPr lang="zh-CN" altLang="en-US" sz="3600">
                <a:solidFill>
                  <a:schemeClr val="hlink"/>
                </a:solidFill>
                <a:ea typeface="华文行楷" panose="02010800040101010101" pitchFamily="2" charset="-122"/>
              </a:rPr>
              <a:t>说明</a:t>
            </a:r>
          </a:p>
        </p:txBody>
      </p:sp>
      <p:sp>
        <p:nvSpPr>
          <p:cNvPr id="70659" name="Text Box 3"/>
          <p:cNvSpPr txBox="1">
            <a:spLocks noChangeArrowheads="1"/>
          </p:cNvSpPr>
          <p:nvPr/>
        </p:nvSpPr>
        <p:spPr bwMode="auto">
          <a:xfrm>
            <a:off x="2774950" y="1660526"/>
            <a:ext cx="6927850" cy="333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90525" indent="-390525">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buClr>
                <a:schemeClr val="folHlink"/>
              </a:buClr>
              <a:buFont typeface="Wingdings" panose="05000000000000000000" pitchFamily="2" charset="2"/>
              <a:buChar char="ü"/>
            </a:pPr>
            <a:r>
              <a:rPr lang="en-US" altLang="zh-CN">
                <a:solidFill>
                  <a:schemeClr val="tx1"/>
                </a:solidFill>
                <a:latin typeface="Arial" panose="020B0604020202020204" pitchFamily="34" charset="0"/>
              </a:rPr>
              <a:t>DHCP </a:t>
            </a:r>
            <a:r>
              <a:rPr lang="zh-CN" altLang="en-US">
                <a:solidFill>
                  <a:schemeClr val="tx1"/>
                </a:solidFill>
                <a:latin typeface="Arial" panose="020B0604020202020204" pitchFamily="34" charset="0"/>
              </a:rPr>
              <a:t>基于 </a:t>
            </a:r>
            <a:r>
              <a:rPr lang="en-US" altLang="zh-CN">
                <a:solidFill>
                  <a:schemeClr val="tx2"/>
                </a:solidFill>
                <a:latin typeface="Arial" panose="020B0604020202020204" pitchFamily="34" charset="0"/>
              </a:rPr>
              <a:t>BOOTP</a:t>
            </a:r>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一个动态分配 </a:t>
            </a:r>
            <a:r>
              <a:rPr lang="en-US" altLang="zh-CN">
                <a:solidFill>
                  <a:schemeClr val="tx1"/>
                </a:solidFill>
                <a:latin typeface="Arial" panose="020B0604020202020204" pitchFamily="34" charset="0"/>
              </a:rPr>
              <a:t>IP </a:t>
            </a:r>
            <a:r>
              <a:rPr lang="zh-CN" altLang="en-US">
                <a:solidFill>
                  <a:schemeClr val="tx1"/>
                </a:solidFill>
                <a:latin typeface="Arial" panose="020B0604020202020204" pitchFamily="34" charset="0"/>
              </a:rPr>
              <a:t>地址的早期协议</a:t>
            </a:r>
          </a:p>
          <a:p>
            <a:pPr>
              <a:spcBef>
                <a:spcPct val="20000"/>
              </a:spcBef>
              <a:buClr>
                <a:schemeClr val="folHlink"/>
              </a:buClr>
              <a:buFont typeface="Wingdings" panose="05000000000000000000" pitchFamily="2" charset="2"/>
              <a:buChar char="ü"/>
            </a:pPr>
            <a:r>
              <a:rPr lang="en-US" altLang="zh-CN">
                <a:solidFill>
                  <a:schemeClr val="tx1"/>
                </a:solidFill>
                <a:latin typeface="Arial" panose="020B0604020202020204" pitchFamily="34" charset="0"/>
              </a:rPr>
              <a:t>DHCP</a:t>
            </a:r>
            <a:r>
              <a:rPr lang="zh-CN" altLang="en-US">
                <a:solidFill>
                  <a:schemeClr val="tx1"/>
                </a:solidFill>
                <a:latin typeface="Arial" panose="020B0604020202020204" pitchFamily="34" charset="0"/>
              </a:rPr>
              <a:t>服务器拥有一块可以动态分配给主机的</a:t>
            </a:r>
            <a:r>
              <a:rPr lang="en-US" altLang="zh-CN">
                <a:solidFill>
                  <a:schemeClr val="tx1"/>
                </a:solidFill>
                <a:latin typeface="Arial" panose="020B0604020202020204" pitchFamily="34" charset="0"/>
              </a:rPr>
              <a:t>IP</a:t>
            </a:r>
            <a:r>
              <a:rPr lang="zh-CN" altLang="en-US">
                <a:solidFill>
                  <a:schemeClr val="tx1"/>
                </a:solidFill>
                <a:latin typeface="Arial" panose="020B0604020202020204" pitchFamily="34" charset="0"/>
              </a:rPr>
              <a:t>地址 </a:t>
            </a:r>
          </a:p>
          <a:p>
            <a:pPr>
              <a:spcBef>
                <a:spcPct val="20000"/>
              </a:spcBef>
              <a:buClr>
                <a:schemeClr val="folHlink"/>
              </a:buClr>
              <a:buFont typeface="Wingdings" panose="05000000000000000000" pitchFamily="2" charset="2"/>
              <a:buChar char="ü"/>
            </a:pPr>
            <a:r>
              <a:rPr lang="en-US" altLang="zh-CN">
                <a:solidFill>
                  <a:schemeClr val="tx1"/>
                </a:solidFill>
                <a:latin typeface="Arial" panose="020B0604020202020204" pitchFamily="34" charset="0"/>
              </a:rPr>
              <a:t>DHCP </a:t>
            </a:r>
            <a:r>
              <a:rPr lang="zh-CN" altLang="en-US">
                <a:solidFill>
                  <a:schemeClr val="tx1"/>
                </a:solidFill>
                <a:latin typeface="Arial" panose="020B0604020202020204" pitchFamily="34" charset="0"/>
              </a:rPr>
              <a:t>允许</a:t>
            </a:r>
            <a:r>
              <a:rPr lang="en-US" altLang="zh-CN">
                <a:solidFill>
                  <a:schemeClr val="tx1"/>
                </a:solidFill>
                <a:latin typeface="Arial" panose="020B0604020202020204" pitchFamily="34" charset="0"/>
              </a:rPr>
              <a:t>IP</a:t>
            </a:r>
            <a:r>
              <a:rPr lang="zh-CN" altLang="en-US">
                <a:solidFill>
                  <a:schemeClr val="tx1"/>
                </a:solidFill>
                <a:latin typeface="Arial" panose="020B0604020202020204" pitchFamily="34" charset="0"/>
              </a:rPr>
              <a:t>地址被租用一段时间</a:t>
            </a:r>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当租期满时，服务器能重新分配该地址</a:t>
            </a:r>
            <a:r>
              <a:rPr lang="en-US" altLang="zh-CN">
                <a:solidFill>
                  <a:schemeClr val="tx1"/>
                </a:solidFill>
                <a:latin typeface="Arial" panose="020B0604020202020204" pitchFamily="34" charset="0"/>
              </a:rPr>
              <a:t>.</a:t>
            </a:r>
          </a:p>
          <a:p>
            <a:pPr>
              <a:spcBef>
                <a:spcPct val="20000"/>
              </a:spcBef>
              <a:buClr>
                <a:schemeClr val="folHlink"/>
              </a:buClr>
              <a:buFont typeface="Wingdings" panose="05000000000000000000" pitchFamily="2" charset="2"/>
              <a:buChar char="ü"/>
            </a:pPr>
            <a:r>
              <a:rPr lang="en-US" altLang="zh-CN">
                <a:solidFill>
                  <a:schemeClr val="tx1"/>
                </a:solidFill>
                <a:latin typeface="Arial" panose="020B0604020202020204" pitchFamily="34" charset="0"/>
              </a:rPr>
              <a:t>DHCP</a:t>
            </a:r>
            <a:r>
              <a:rPr lang="zh-CN" altLang="en-US">
                <a:solidFill>
                  <a:schemeClr val="tx1"/>
                </a:solidFill>
                <a:latin typeface="Arial" panose="020B0604020202020204" pitchFamily="34" charset="0"/>
              </a:rPr>
              <a:t>报文以</a:t>
            </a:r>
            <a:r>
              <a:rPr lang="en-US" altLang="zh-CN">
                <a:solidFill>
                  <a:schemeClr val="tx1"/>
                </a:solidFill>
                <a:latin typeface="Arial" panose="020B0604020202020204" pitchFamily="34" charset="0"/>
              </a:rPr>
              <a:t>UDP/IP</a:t>
            </a:r>
            <a:r>
              <a:rPr lang="zh-CN" altLang="en-US">
                <a:solidFill>
                  <a:schemeClr val="tx1"/>
                </a:solidFill>
                <a:latin typeface="Arial" panose="020B0604020202020204" pitchFamily="34" charset="0"/>
              </a:rPr>
              <a:t>的形式传送</a:t>
            </a:r>
          </a:p>
        </p:txBody>
      </p:sp>
    </p:spTree>
  </p:cSld>
  <p:clrMapOvr>
    <a:masterClrMapping/>
  </p:clrMapOvr>
  <p:transition spd="med">
    <p:rand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bwMode="auto">
          <a:xfrm>
            <a:off x="5135563" y="358775"/>
            <a:ext cx="3268662" cy="5540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eaLnBrk="1" hangingPunct="1"/>
            <a:r>
              <a:rPr lang="en-US" altLang="zh-CN" sz="3600">
                <a:solidFill>
                  <a:schemeClr val="hlink"/>
                </a:solidFill>
                <a:ea typeface="华文行楷" panose="02010800040101010101" pitchFamily="2" charset="-122"/>
              </a:rPr>
              <a:t>DNS</a:t>
            </a:r>
          </a:p>
        </p:txBody>
      </p:sp>
      <p:sp>
        <p:nvSpPr>
          <p:cNvPr id="71683" name="Text Box 4"/>
          <p:cNvSpPr txBox="1">
            <a:spLocks noChangeArrowheads="1"/>
          </p:cNvSpPr>
          <p:nvPr/>
        </p:nvSpPr>
        <p:spPr bwMode="auto">
          <a:xfrm>
            <a:off x="4244976" y="2746375"/>
            <a:ext cx="4048125"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7200">
                <a:solidFill>
                  <a:schemeClr val="tx1"/>
                </a:solidFill>
                <a:latin typeface="隶书" panose="02010509060101010101" pitchFamily="49" charset="-122"/>
                <a:ea typeface="隶书" panose="02010509060101010101" pitchFamily="49" charset="-122"/>
              </a:rPr>
              <a:t>域名系统</a:t>
            </a:r>
            <a:r>
              <a:rPr lang="zh-CN" altLang="en-US">
                <a:solidFill>
                  <a:schemeClr val="tx1"/>
                </a:solidFill>
                <a:latin typeface="隶书" panose="02010509060101010101" pitchFamily="49" charset="-122"/>
                <a:ea typeface="隶书" panose="02010509060101010101" pitchFamily="49" charset="-122"/>
              </a:rPr>
              <a:t> </a:t>
            </a:r>
          </a:p>
        </p:txBody>
      </p:sp>
    </p:spTree>
  </p:cSld>
  <p:clrMapOvr>
    <a:masterClrMapping/>
  </p:clrMapOvr>
  <p:transition spd="med">
    <p:rand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3"/>
          <p:cNvSpPr>
            <a:spLocks noGrp="1" noChangeArrowheads="1"/>
          </p:cNvSpPr>
          <p:nvPr>
            <p:ph type="body" idx="1"/>
          </p:nvPr>
        </p:nvSpPr>
        <p:spPr bwMode="auto">
          <a:xfrm>
            <a:off x="3121025" y="1311275"/>
            <a:ext cx="6465888" cy="4876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110000"/>
              </a:lnSpc>
              <a:spcBef>
                <a:spcPct val="0"/>
              </a:spcBef>
            </a:pPr>
            <a:r>
              <a:rPr lang="zh-CN" altLang="en-US"/>
              <a:t>名字</a:t>
            </a:r>
            <a:r>
              <a:rPr lang="en-US" altLang="zh-CN"/>
              <a:t>: www.swjtu.edu.cn</a:t>
            </a:r>
          </a:p>
          <a:p>
            <a:pPr eaLnBrk="1" hangingPunct="1">
              <a:lnSpc>
                <a:spcPct val="110000"/>
              </a:lnSpc>
              <a:spcBef>
                <a:spcPct val="0"/>
              </a:spcBef>
            </a:pPr>
            <a:r>
              <a:rPr lang="en-US" altLang="zh-CN"/>
              <a:t>IP </a:t>
            </a:r>
            <a:r>
              <a:rPr lang="zh-CN" altLang="en-US"/>
              <a:t>地址</a:t>
            </a:r>
            <a:r>
              <a:rPr lang="en-US" altLang="zh-CN"/>
              <a:t>: 202.110.64.146</a:t>
            </a:r>
          </a:p>
          <a:p>
            <a:pPr lvl="1" eaLnBrk="1" hangingPunct="1">
              <a:lnSpc>
                <a:spcPct val="110000"/>
              </a:lnSpc>
              <a:spcBef>
                <a:spcPct val="0"/>
              </a:spcBef>
            </a:pPr>
            <a:r>
              <a:rPr lang="en-US" altLang="zh-CN"/>
              <a:t>(</a:t>
            </a:r>
            <a:r>
              <a:rPr lang="zh-CN" altLang="en-US"/>
              <a:t>也包括</a:t>
            </a:r>
            <a:r>
              <a:rPr lang="en-US" altLang="zh-CN"/>
              <a:t>Ethernet </a:t>
            </a:r>
            <a:r>
              <a:rPr lang="zh-CN" altLang="en-US"/>
              <a:t>或其他 链路层地址</a:t>
            </a:r>
            <a:r>
              <a:rPr lang="en-US" altLang="zh-CN"/>
              <a:t>.)</a:t>
            </a:r>
          </a:p>
          <a:p>
            <a:pPr eaLnBrk="1" hangingPunct="1">
              <a:lnSpc>
                <a:spcPct val="110000"/>
              </a:lnSpc>
              <a:spcBef>
                <a:spcPct val="0"/>
              </a:spcBef>
            </a:pPr>
            <a:r>
              <a:rPr lang="en-US" altLang="zh-CN"/>
              <a:t>IP</a:t>
            </a:r>
            <a:r>
              <a:rPr lang="zh-CN" altLang="en-US"/>
              <a:t>地址是固定长度的数字</a:t>
            </a:r>
            <a:r>
              <a:rPr lang="en-US" altLang="zh-CN"/>
              <a:t>.</a:t>
            </a:r>
          </a:p>
          <a:p>
            <a:pPr lvl="1" eaLnBrk="1" hangingPunct="1">
              <a:lnSpc>
                <a:spcPct val="110000"/>
              </a:lnSpc>
              <a:spcBef>
                <a:spcPct val="0"/>
              </a:spcBef>
            </a:pPr>
            <a:r>
              <a:rPr lang="en-US" altLang="zh-CN"/>
              <a:t>32 bits </a:t>
            </a:r>
          </a:p>
          <a:p>
            <a:pPr eaLnBrk="1" hangingPunct="1">
              <a:lnSpc>
                <a:spcPct val="110000"/>
              </a:lnSpc>
              <a:spcBef>
                <a:spcPct val="0"/>
              </a:spcBef>
            </a:pPr>
            <a:r>
              <a:rPr lang="zh-CN" altLang="en-US"/>
              <a:t>名字便于记忆，灵活</a:t>
            </a:r>
          </a:p>
          <a:p>
            <a:pPr lvl="1" eaLnBrk="1" hangingPunct="1">
              <a:lnSpc>
                <a:spcPct val="110000"/>
              </a:lnSpc>
              <a:spcBef>
                <a:spcPct val="0"/>
              </a:spcBef>
            </a:pPr>
            <a:r>
              <a:rPr lang="zh-CN" altLang="en-US"/>
              <a:t>长度可变</a:t>
            </a:r>
          </a:p>
          <a:p>
            <a:pPr lvl="1" eaLnBrk="1" hangingPunct="1">
              <a:lnSpc>
                <a:spcPct val="110000"/>
              </a:lnSpc>
              <a:spcBef>
                <a:spcPct val="0"/>
              </a:spcBef>
            </a:pPr>
            <a:r>
              <a:rPr lang="zh-CN" altLang="en-US"/>
              <a:t>单个 </a:t>
            </a:r>
            <a:r>
              <a:rPr lang="en-US" altLang="zh-CN"/>
              <a:t>IP</a:t>
            </a:r>
            <a:r>
              <a:rPr lang="zh-CN" altLang="en-US"/>
              <a:t>地址可有多个名字</a:t>
            </a:r>
            <a:r>
              <a:rPr lang="en-US" altLang="zh-CN"/>
              <a:t>. </a:t>
            </a:r>
          </a:p>
          <a:p>
            <a:pPr lvl="1" eaLnBrk="1" hangingPunct="1">
              <a:lnSpc>
                <a:spcPct val="110000"/>
              </a:lnSpc>
              <a:spcBef>
                <a:spcPct val="0"/>
              </a:spcBef>
            </a:pPr>
            <a:r>
              <a:rPr lang="zh-CN" altLang="en-US"/>
              <a:t>地址的改变不意味着改变名字</a:t>
            </a:r>
            <a:r>
              <a:rPr lang="en-US" altLang="zh-CN"/>
              <a:t>.</a:t>
            </a:r>
          </a:p>
          <a:p>
            <a:pPr lvl="1" eaLnBrk="1" hangingPunct="1">
              <a:lnSpc>
                <a:spcPct val="110000"/>
              </a:lnSpc>
              <a:spcBef>
                <a:spcPct val="0"/>
              </a:spcBef>
            </a:pPr>
            <a:r>
              <a:rPr lang="en-US" altLang="zh-CN"/>
              <a:t>iPv6</a:t>
            </a:r>
            <a:r>
              <a:rPr lang="zh-CN" altLang="en-US"/>
              <a:t>地址是 </a:t>
            </a:r>
            <a:r>
              <a:rPr lang="en-US" altLang="zh-CN"/>
              <a:t>128</a:t>
            </a:r>
            <a:r>
              <a:rPr lang="zh-CN" altLang="en-US"/>
              <a:t>位 </a:t>
            </a:r>
            <a:r>
              <a:rPr lang="en-US" altLang="zh-CN">
                <a:latin typeface="Comic Sans MS" panose="030F0702030302020204" pitchFamily="66" charset="0"/>
              </a:rPr>
              <a:t>–</a:t>
            </a:r>
            <a:r>
              <a:rPr lang="en-US" altLang="zh-CN"/>
              <a:t> </a:t>
            </a:r>
            <a:r>
              <a:rPr lang="zh-CN" altLang="en-US"/>
              <a:t>更难记忆</a:t>
            </a:r>
            <a:r>
              <a:rPr lang="en-US" altLang="zh-CN"/>
              <a:t>!</a:t>
            </a:r>
          </a:p>
        </p:txBody>
      </p:sp>
      <p:sp>
        <p:nvSpPr>
          <p:cNvPr id="72707" name="Rectangle 4"/>
          <p:cNvSpPr>
            <a:spLocks noGrp="1" noChangeArrowheads="1"/>
          </p:cNvSpPr>
          <p:nvPr>
            <p:ph type="title"/>
          </p:nvPr>
        </p:nvSpPr>
        <p:spPr bwMode="auto">
          <a:xfrm>
            <a:off x="3251200" y="349250"/>
            <a:ext cx="5341938"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域名与地址</a:t>
            </a:r>
            <a:r>
              <a:rPr lang="en-US" altLang="zh-CN" sz="3600">
                <a:solidFill>
                  <a:schemeClr val="hlink"/>
                </a:solidFill>
                <a:ea typeface="华文行楷" panose="02010800040101010101" pitchFamily="2" charset="-122"/>
              </a:rPr>
              <a:t>:</a:t>
            </a:r>
            <a:r>
              <a:rPr lang="zh-CN" altLang="en-US" sz="3600">
                <a:solidFill>
                  <a:schemeClr val="hlink"/>
                </a:solidFill>
                <a:ea typeface="华文行楷" panose="02010800040101010101" pitchFamily="2" charset="-122"/>
              </a:rPr>
              <a:t>共存</a:t>
            </a:r>
            <a:r>
              <a:rPr lang="en-US" altLang="zh-CN" sz="3600">
                <a:solidFill>
                  <a:schemeClr val="hlink"/>
                </a:solidFill>
                <a:ea typeface="华文行楷" panose="02010800040101010101" pitchFamily="2" charset="-122"/>
              </a:rPr>
              <a: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3"/>
          <p:cNvSpPr>
            <a:spLocks noGrp="1" noChangeArrowheads="1"/>
          </p:cNvSpPr>
          <p:nvPr>
            <p:ph type="body" idx="1"/>
          </p:nvPr>
        </p:nvSpPr>
        <p:spPr bwMode="auto">
          <a:xfrm>
            <a:off x="2222500" y="1511300"/>
            <a:ext cx="7772400" cy="41148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pPr>
            <a:r>
              <a:rPr lang="zh-CN" altLang="en-US"/>
              <a:t>一个域名可能有多个</a:t>
            </a:r>
            <a:r>
              <a:rPr lang="en-US" altLang="zh-CN"/>
              <a:t>IP</a:t>
            </a:r>
            <a:r>
              <a:rPr lang="zh-CN" altLang="en-US"/>
              <a:t>地址 </a:t>
            </a:r>
          </a:p>
          <a:p>
            <a:pPr lvl="1" eaLnBrk="1" hangingPunct="1">
              <a:lnSpc>
                <a:spcPct val="90000"/>
              </a:lnSpc>
            </a:pPr>
            <a:r>
              <a:rPr lang="zh-CN" altLang="en-US"/>
              <a:t>每个网络接口有一个</a:t>
            </a:r>
            <a:r>
              <a:rPr lang="en-US" altLang="zh-CN"/>
              <a:t>IP</a:t>
            </a:r>
            <a:r>
              <a:rPr lang="zh-CN" altLang="en-US"/>
              <a:t>地址</a:t>
            </a:r>
          </a:p>
          <a:p>
            <a:pPr lvl="1" eaLnBrk="1" hangingPunct="1">
              <a:lnSpc>
                <a:spcPct val="90000"/>
              </a:lnSpc>
            </a:pPr>
            <a:r>
              <a:rPr lang="zh-CN" altLang="en-US"/>
              <a:t>多穴主机有不止一个网络接口 </a:t>
            </a:r>
            <a:r>
              <a:rPr lang="en-US" altLang="zh-CN"/>
              <a:t>-</a:t>
            </a:r>
            <a:r>
              <a:rPr lang="en-US" altLang="zh-CN">
                <a:latin typeface="Comic Sans MS" panose="030F0702030302020204" pitchFamily="66" charset="0"/>
              </a:rPr>
              <a:t>–</a:t>
            </a:r>
            <a:r>
              <a:rPr lang="en-US" altLang="zh-CN"/>
              <a:t> </a:t>
            </a:r>
            <a:r>
              <a:rPr lang="zh-CN" altLang="en-US"/>
              <a:t>每个有一个自己的</a:t>
            </a:r>
            <a:r>
              <a:rPr lang="en-US" altLang="zh-CN"/>
              <a:t>IP </a:t>
            </a:r>
            <a:r>
              <a:rPr lang="zh-CN" altLang="en-US"/>
              <a:t>地址</a:t>
            </a:r>
          </a:p>
          <a:p>
            <a:pPr lvl="1" eaLnBrk="1" hangingPunct="1">
              <a:lnSpc>
                <a:spcPct val="90000"/>
              </a:lnSpc>
            </a:pPr>
            <a:r>
              <a:rPr lang="zh-CN" altLang="en-US"/>
              <a:t>例</a:t>
            </a:r>
            <a:r>
              <a:rPr lang="en-US" altLang="zh-CN"/>
              <a:t>: </a:t>
            </a:r>
            <a:r>
              <a:rPr lang="zh-CN" altLang="en-US"/>
              <a:t>路由器、网关</a:t>
            </a:r>
          </a:p>
          <a:p>
            <a:pPr eaLnBrk="1" hangingPunct="1">
              <a:lnSpc>
                <a:spcPct val="90000"/>
              </a:lnSpc>
            </a:pPr>
            <a:r>
              <a:rPr lang="zh-CN" altLang="en-US"/>
              <a:t>一个</a:t>
            </a:r>
            <a:r>
              <a:rPr lang="en-US" altLang="zh-CN"/>
              <a:t>IP</a:t>
            </a:r>
            <a:r>
              <a:rPr lang="zh-CN" altLang="en-US"/>
              <a:t>地址可能映射到多个名字 </a:t>
            </a:r>
          </a:p>
          <a:p>
            <a:pPr lvl="1" eaLnBrk="1" hangingPunct="1">
              <a:lnSpc>
                <a:spcPct val="90000"/>
              </a:lnSpc>
            </a:pPr>
            <a:r>
              <a:rPr lang="zh-CN" altLang="en-US"/>
              <a:t>一台服务服务器可能是</a:t>
            </a:r>
            <a:r>
              <a:rPr lang="en-US" altLang="zh-CN"/>
              <a:t>web</a:t>
            </a:r>
            <a:r>
              <a:rPr lang="zh-CN" altLang="en-US"/>
              <a:t>服务器</a:t>
            </a:r>
            <a:r>
              <a:rPr lang="en-US" altLang="zh-CN"/>
              <a:t>(www.foo,com) </a:t>
            </a:r>
            <a:r>
              <a:rPr lang="zh-CN" altLang="en-US"/>
              <a:t>，邮件服务器（</a:t>
            </a:r>
            <a:r>
              <a:rPr lang="en-US" altLang="zh-CN"/>
              <a:t>mail server</a:t>
            </a:r>
            <a:r>
              <a:rPr lang="zh-CN" altLang="en-US"/>
              <a:t>） </a:t>
            </a:r>
            <a:r>
              <a:rPr lang="en-US" altLang="zh-CN"/>
              <a:t>(mail.foo.com)</a:t>
            </a:r>
            <a:r>
              <a:rPr lang="zh-CN" altLang="en-US"/>
              <a:t>等等  </a:t>
            </a:r>
          </a:p>
          <a:p>
            <a:pPr eaLnBrk="1" hangingPunct="1">
              <a:lnSpc>
                <a:spcPct val="90000"/>
              </a:lnSpc>
              <a:buFont typeface="Wingdings" panose="05000000000000000000" pitchFamily="2" charset="2"/>
              <a:buNone/>
            </a:pPr>
            <a:endParaRPr lang="en-US" altLang="zh-CN"/>
          </a:p>
        </p:txBody>
      </p:sp>
      <p:sp>
        <p:nvSpPr>
          <p:cNvPr id="73731" name="Rectangle 4"/>
          <p:cNvSpPr>
            <a:spLocks noGrp="1" noChangeArrowheads="1"/>
          </p:cNvSpPr>
          <p:nvPr>
            <p:ph type="title"/>
          </p:nvPr>
        </p:nvSpPr>
        <p:spPr bwMode="auto">
          <a:xfrm>
            <a:off x="2209800" y="4540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不是一对一的映射</a:t>
            </a:r>
            <a:endParaRPr lang="zh-CN" altLang="en-US"/>
          </a:p>
        </p:txBody>
      </p:sp>
    </p:spTree>
  </p:cSld>
  <p:clrMapOvr>
    <a:masterClrMapping/>
  </p:clrMapOvr>
  <p:transition spd="med">
    <p:rand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a:hlinkClick r:id="rId2" action="ppaction://hlinksldjump"/>
          </p:cNvPr>
          <p:cNvSpPr>
            <a:spLocks noChangeArrowheads="1"/>
          </p:cNvSpPr>
          <p:nvPr/>
        </p:nvSpPr>
        <p:spPr bwMode="auto">
          <a:xfrm>
            <a:off x="1828800" y="1397000"/>
            <a:ext cx="2362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4755" name="Rectangle 4">
            <a:hlinkClick r:id="rId2" action="ppaction://hlinksldjump"/>
          </p:cNvPr>
          <p:cNvSpPr>
            <a:spLocks noChangeArrowheads="1"/>
          </p:cNvSpPr>
          <p:nvPr/>
        </p:nvSpPr>
        <p:spPr bwMode="auto">
          <a:xfrm>
            <a:off x="1981200" y="1549400"/>
            <a:ext cx="2362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4756" name="Rectangle 5">
            <a:hlinkClick r:id="rId3" action="ppaction://hlinksldjump"/>
          </p:cNvPr>
          <p:cNvSpPr>
            <a:spLocks noChangeArrowheads="1"/>
          </p:cNvSpPr>
          <p:nvPr/>
        </p:nvSpPr>
        <p:spPr bwMode="auto">
          <a:xfrm>
            <a:off x="1905000" y="2540000"/>
            <a:ext cx="2819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4757" name="Rectangle 6">
            <a:hlinkClick r:id="rId4" action="ppaction://hlinksldjump"/>
          </p:cNvPr>
          <p:cNvSpPr>
            <a:spLocks noChangeArrowheads="1"/>
          </p:cNvSpPr>
          <p:nvPr/>
        </p:nvSpPr>
        <p:spPr bwMode="auto">
          <a:xfrm>
            <a:off x="8458200" y="28638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latin typeface="Arial" panose="020B0604020202020204" pitchFamily="34" charset="0"/>
              </a:rPr>
              <a:t>ccTLDs</a:t>
            </a:r>
          </a:p>
        </p:txBody>
      </p:sp>
      <p:sp>
        <p:nvSpPr>
          <p:cNvPr id="74758" name="Text Box 7"/>
          <p:cNvSpPr txBox="1">
            <a:spLocks noChangeArrowheads="1"/>
          </p:cNvSpPr>
          <p:nvPr/>
        </p:nvSpPr>
        <p:spPr bwMode="auto">
          <a:xfrm>
            <a:off x="5029200" y="1473200"/>
            <a:ext cx="2070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root (unnamed)</a:t>
            </a:r>
          </a:p>
        </p:txBody>
      </p:sp>
      <p:sp>
        <p:nvSpPr>
          <p:cNvPr id="74759" name="Text Box 8"/>
          <p:cNvSpPr txBox="1">
            <a:spLocks noChangeArrowheads="1"/>
          </p:cNvSpPr>
          <p:nvPr/>
        </p:nvSpPr>
        <p:spPr bwMode="auto">
          <a:xfrm>
            <a:off x="2438401" y="2311400"/>
            <a:ext cx="70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com</a:t>
            </a:r>
          </a:p>
        </p:txBody>
      </p:sp>
      <p:sp>
        <p:nvSpPr>
          <p:cNvPr id="74760" name="Text Box 9"/>
          <p:cNvSpPr txBox="1">
            <a:spLocks noChangeArrowheads="1"/>
          </p:cNvSpPr>
          <p:nvPr/>
        </p:nvSpPr>
        <p:spPr bwMode="auto">
          <a:xfrm>
            <a:off x="4648201" y="2311400"/>
            <a:ext cx="588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mil</a:t>
            </a:r>
          </a:p>
        </p:txBody>
      </p:sp>
      <p:sp>
        <p:nvSpPr>
          <p:cNvPr id="74761" name="Text Box 10"/>
          <p:cNvSpPr txBox="1">
            <a:spLocks noChangeArrowheads="1"/>
          </p:cNvSpPr>
          <p:nvPr/>
        </p:nvSpPr>
        <p:spPr bwMode="auto">
          <a:xfrm>
            <a:off x="3886200" y="2311400"/>
            <a:ext cx="64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gov</a:t>
            </a:r>
          </a:p>
        </p:txBody>
      </p:sp>
      <p:sp>
        <p:nvSpPr>
          <p:cNvPr id="74762" name="Text Box 11"/>
          <p:cNvSpPr txBox="1">
            <a:spLocks noChangeArrowheads="1"/>
          </p:cNvSpPr>
          <p:nvPr/>
        </p:nvSpPr>
        <p:spPr bwMode="auto">
          <a:xfrm>
            <a:off x="3200400" y="2311400"/>
            <a:ext cx="623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edu</a:t>
            </a:r>
          </a:p>
        </p:txBody>
      </p:sp>
      <p:sp>
        <p:nvSpPr>
          <p:cNvPr id="74763" name="Text Box 12"/>
          <p:cNvSpPr txBox="1">
            <a:spLocks noChangeArrowheads="1"/>
          </p:cNvSpPr>
          <p:nvPr/>
        </p:nvSpPr>
        <p:spPr bwMode="auto">
          <a:xfrm>
            <a:off x="7924800" y="2311400"/>
            <a:ext cx="43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gr</a:t>
            </a:r>
          </a:p>
        </p:txBody>
      </p:sp>
      <p:sp>
        <p:nvSpPr>
          <p:cNvPr id="74764" name="Text Box 13"/>
          <p:cNvSpPr txBox="1">
            <a:spLocks noChangeArrowheads="1"/>
          </p:cNvSpPr>
          <p:nvPr/>
        </p:nvSpPr>
        <p:spPr bwMode="auto">
          <a:xfrm>
            <a:off x="5943600" y="2311400"/>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org</a:t>
            </a:r>
          </a:p>
        </p:txBody>
      </p:sp>
      <p:sp>
        <p:nvSpPr>
          <p:cNvPr id="74765" name="Text Box 14"/>
          <p:cNvSpPr txBox="1">
            <a:spLocks noChangeArrowheads="1"/>
          </p:cNvSpPr>
          <p:nvPr/>
        </p:nvSpPr>
        <p:spPr bwMode="auto">
          <a:xfrm>
            <a:off x="5334001" y="2311400"/>
            <a:ext cx="55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net</a:t>
            </a:r>
          </a:p>
        </p:txBody>
      </p:sp>
      <p:sp>
        <p:nvSpPr>
          <p:cNvPr id="74766" name="Text Box 15"/>
          <p:cNvSpPr txBox="1">
            <a:spLocks noChangeArrowheads="1"/>
          </p:cNvSpPr>
          <p:nvPr/>
        </p:nvSpPr>
        <p:spPr bwMode="auto">
          <a:xfrm>
            <a:off x="7391400" y="23114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fr</a:t>
            </a:r>
          </a:p>
        </p:txBody>
      </p:sp>
      <p:sp>
        <p:nvSpPr>
          <p:cNvPr id="74767" name="Text Box 16"/>
          <p:cNvSpPr txBox="1">
            <a:spLocks noChangeArrowheads="1"/>
          </p:cNvSpPr>
          <p:nvPr/>
        </p:nvSpPr>
        <p:spPr bwMode="auto">
          <a:xfrm>
            <a:off x="9067800" y="23114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uk</a:t>
            </a:r>
          </a:p>
        </p:txBody>
      </p:sp>
      <p:sp>
        <p:nvSpPr>
          <p:cNvPr id="74768" name="Text Box 17"/>
          <p:cNvSpPr txBox="1">
            <a:spLocks noChangeArrowheads="1"/>
          </p:cNvSpPr>
          <p:nvPr/>
        </p:nvSpPr>
        <p:spPr bwMode="auto">
          <a:xfrm>
            <a:off x="8534401" y="2311400"/>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us</a:t>
            </a:r>
          </a:p>
        </p:txBody>
      </p:sp>
      <p:sp>
        <p:nvSpPr>
          <p:cNvPr id="74769" name="Text Box 18"/>
          <p:cNvSpPr txBox="1">
            <a:spLocks noChangeArrowheads="1"/>
          </p:cNvSpPr>
          <p:nvPr/>
        </p:nvSpPr>
        <p:spPr bwMode="auto">
          <a:xfrm>
            <a:off x="9525000" y="2159000"/>
            <a:ext cx="488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3200">
                <a:solidFill>
                  <a:schemeClr val="tx1"/>
                </a:solidFill>
              </a:rPr>
              <a:t>...</a:t>
            </a:r>
          </a:p>
        </p:txBody>
      </p:sp>
      <p:sp>
        <p:nvSpPr>
          <p:cNvPr id="74770" name="Text Box 19"/>
          <p:cNvSpPr txBox="1">
            <a:spLocks noChangeArrowheads="1"/>
          </p:cNvSpPr>
          <p:nvPr/>
        </p:nvSpPr>
        <p:spPr bwMode="auto">
          <a:xfrm>
            <a:off x="6629400" y="2159000"/>
            <a:ext cx="488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3200">
                <a:solidFill>
                  <a:schemeClr val="tx1"/>
                </a:solidFill>
              </a:rPr>
              <a:t>...</a:t>
            </a:r>
          </a:p>
        </p:txBody>
      </p:sp>
      <p:sp>
        <p:nvSpPr>
          <p:cNvPr id="74771" name="Line 20"/>
          <p:cNvSpPr>
            <a:spLocks noChangeShapeType="1"/>
          </p:cNvSpPr>
          <p:nvPr/>
        </p:nvSpPr>
        <p:spPr bwMode="auto">
          <a:xfrm flipH="1">
            <a:off x="2895600" y="1854200"/>
            <a:ext cx="2133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2" name="Line 21"/>
          <p:cNvSpPr>
            <a:spLocks noChangeShapeType="1"/>
          </p:cNvSpPr>
          <p:nvPr/>
        </p:nvSpPr>
        <p:spPr bwMode="auto">
          <a:xfrm flipH="1">
            <a:off x="3657600" y="1930400"/>
            <a:ext cx="1600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3" name="Line 22"/>
          <p:cNvSpPr>
            <a:spLocks noChangeShapeType="1"/>
          </p:cNvSpPr>
          <p:nvPr/>
        </p:nvSpPr>
        <p:spPr bwMode="auto">
          <a:xfrm flipH="1">
            <a:off x="4953000" y="1930400"/>
            <a:ext cx="685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4" name="Line 23"/>
          <p:cNvSpPr>
            <a:spLocks noChangeShapeType="1"/>
          </p:cNvSpPr>
          <p:nvPr/>
        </p:nvSpPr>
        <p:spPr bwMode="auto">
          <a:xfrm flipH="1">
            <a:off x="5638800" y="18542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5" name="Line 24"/>
          <p:cNvSpPr>
            <a:spLocks noChangeShapeType="1"/>
          </p:cNvSpPr>
          <p:nvPr/>
        </p:nvSpPr>
        <p:spPr bwMode="auto">
          <a:xfrm flipH="1">
            <a:off x="6248400" y="18542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6" name="Line 25"/>
          <p:cNvSpPr>
            <a:spLocks noChangeShapeType="1"/>
          </p:cNvSpPr>
          <p:nvPr/>
        </p:nvSpPr>
        <p:spPr bwMode="auto">
          <a:xfrm>
            <a:off x="6477000" y="1930400"/>
            <a:ext cx="1066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7" name="Line 26"/>
          <p:cNvSpPr>
            <a:spLocks noChangeShapeType="1"/>
          </p:cNvSpPr>
          <p:nvPr/>
        </p:nvSpPr>
        <p:spPr bwMode="auto">
          <a:xfrm flipH="1">
            <a:off x="4343400" y="1930400"/>
            <a:ext cx="1143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8" name="Line 27"/>
          <p:cNvSpPr>
            <a:spLocks noChangeShapeType="1"/>
          </p:cNvSpPr>
          <p:nvPr/>
        </p:nvSpPr>
        <p:spPr bwMode="auto">
          <a:xfrm>
            <a:off x="7086600" y="1930400"/>
            <a:ext cx="1600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9" name="Line 28"/>
          <p:cNvSpPr>
            <a:spLocks noChangeShapeType="1"/>
          </p:cNvSpPr>
          <p:nvPr/>
        </p:nvSpPr>
        <p:spPr bwMode="auto">
          <a:xfrm>
            <a:off x="7086600" y="1854200"/>
            <a:ext cx="2057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0" name="Line 29"/>
          <p:cNvSpPr>
            <a:spLocks noChangeShapeType="1"/>
          </p:cNvSpPr>
          <p:nvPr/>
        </p:nvSpPr>
        <p:spPr bwMode="auto">
          <a:xfrm>
            <a:off x="6781800" y="1930400"/>
            <a:ext cx="1371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1" name="Rectangle 30"/>
          <p:cNvSpPr>
            <a:spLocks noChangeArrowheads="1"/>
          </p:cNvSpPr>
          <p:nvPr/>
        </p:nvSpPr>
        <p:spPr bwMode="auto">
          <a:xfrm>
            <a:off x="2266950" y="2463800"/>
            <a:ext cx="4819650" cy="457200"/>
          </a:xfrm>
          <a:prstGeom prst="rect">
            <a:avLst/>
          </a:prstGeom>
          <a:noFill/>
          <a:ln w="9525"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4782" name="Text Box 31"/>
          <p:cNvSpPr txBox="1">
            <a:spLocks noChangeArrowheads="1"/>
          </p:cNvSpPr>
          <p:nvPr/>
        </p:nvSpPr>
        <p:spPr bwMode="auto">
          <a:xfrm>
            <a:off x="2971800" y="3454400"/>
            <a:ext cx="1028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cornell</a:t>
            </a:r>
          </a:p>
        </p:txBody>
      </p:sp>
      <p:sp>
        <p:nvSpPr>
          <p:cNvPr id="74783" name="Text Box 32"/>
          <p:cNvSpPr txBox="1">
            <a:spLocks noChangeArrowheads="1"/>
          </p:cNvSpPr>
          <p:nvPr/>
        </p:nvSpPr>
        <p:spPr bwMode="auto">
          <a:xfrm>
            <a:off x="4572000" y="3454400"/>
            <a:ext cx="1030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ustreas</a:t>
            </a:r>
          </a:p>
        </p:txBody>
      </p:sp>
      <p:sp>
        <p:nvSpPr>
          <p:cNvPr id="74784" name="Line 33"/>
          <p:cNvSpPr>
            <a:spLocks noChangeShapeType="1"/>
          </p:cNvSpPr>
          <p:nvPr/>
        </p:nvSpPr>
        <p:spPr bwMode="auto">
          <a:xfrm>
            <a:off x="4267200" y="2768600"/>
            <a:ext cx="838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5" name="AutoShape 34"/>
          <p:cNvSpPr>
            <a:spLocks/>
          </p:cNvSpPr>
          <p:nvPr/>
        </p:nvSpPr>
        <p:spPr bwMode="auto">
          <a:xfrm>
            <a:off x="6019800" y="3454400"/>
            <a:ext cx="152400" cy="533400"/>
          </a:xfrm>
          <a:prstGeom prst="rightBrace">
            <a:avLst>
              <a:gd name="adj1" fmla="val 291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4786" name="Rectangle 35">
            <a:hlinkClick r:id="rId4" action="ppaction://hlinksldjump"/>
          </p:cNvPr>
          <p:cNvSpPr>
            <a:spLocks noChangeArrowheads="1"/>
          </p:cNvSpPr>
          <p:nvPr/>
        </p:nvSpPr>
        <p:spPr bwMode="auto">
          <a:xfrm>
            <a:off x="7620000" y="3454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latin typeface="Arial" panose="020B0604020202020204" pitchFamily="34" charset="0"/>
              </a:rPr>
              <a:t>second level (sub-)domains</a:t>
            </a:r>
          </a:p>
        </p:txBody>
      </p:sp>
      <p:sp>
        <p:nvSpPr>
          <p:cNvPr id="74787" name="Text Box 36"/>
          <p:cNvSpPr txBox="1">
            <a:spLocks noChangeArrowheads="1"/>
          </p:cNvSpPr>
          <p:nvPr/>
        </p:nvSpPr>
        <p:spPr bwMode="auto">
          <a:xfrm>
            <a:off x="1676400" y="3454400"/>
            <a:ext cx="927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lucent</a:t>
            </a:r>
          </a:p>
        </p:txBody>
      </p:sp>
      <p:sp>
        <p:nvSpPr>
          <p:cNvPr id="74788" name="Line 37"/>
          <p:cNvSpPr>
            <a:spLocks noChangeShapeType="1"/>
          </p:cNvSpPr>
          <p:nvPr/>
        </p:nvSpPr>
        <p:spPr bwMode="auto">
          <a:xfrm flipH="1">
            <a:off x="2133600" y="2692400"/>
            <a:ext cx="5334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9" name="Line 38"/>
          <p:cNvSpPr>
            <a:spLocks noChangeShapeType="1"/>
          </p:cNvSpPr>
          <p:nvPr/>
        </p:nvSpPr>
        <p:spPr bwMode="auto">
          <a:xfrm flipH="1">
            <a:off x="3505200" y="2844800"/>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90" name="Rectangle 39"/>
          <p:cNvSpPr>
            <a:spLocks noChangeArrowheads="1"/>
          </p:cNvSpPr>
          <p:nvPr/>
        </p:nvSpPr>
        <p:spPr bwMode="auto">
          <a:xfrm>
            <a:off x="7315200" y="2444750"/>
            <a:ext cx="3048000" cy="457200"/>
          </a:xfrm>
          <a:prstGeom prst="rect">
            <a:avLst/>
          </a:prstGeom>
          <a:noFill/>
          <a:ln w="9525"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4791" name="Rectangle 40">
            <a:hlinkClick r:id="rId4" action="ppaction://hlinksldjump"/>
          </p:cNvPr>
          <p:cNvSpPr>
            <a:spLocks noChangeArrowheads="1"/>
          </p:cNvSpPr>
          <p:nvPr/>
        </p:nvSpPr>
        <p:spPr bwMode="auto">
          <a:xfrm>
            <a:off x="5048250" y="29019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latin typeface="Arial" panose="020B0604020202020204" pitchFamily="34" charset="0"/>
              </a:rPr>
              <a:t>gTLDs</a:t>
            </a:r>
          </a:p>
        </p:txBody>
      </p:sp>
      <p:sp>
        <p:nvSpPr>
          <p:cNvPr id="74792" name="Rectangle 41">
            <a:hlinkClick r:id="rId4" action="ppaction://hlinksldjump"/>
          </p:cNvPr>
          <p:cNvSpPr>
            <a:spLocks noChangeArrowheads="1"/>
          </p:cNvSpPr>
          <p:nvPr/>
        </p:nvSpPr>
        <p:spPr bwMode="auto">
          <a:xfrm>
            <a:off x="2417763" y="4649788"/>
            <a:ext cx="77724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latin typeface="Arial" panose="020B0604020202020204" pitchFamily="34" charset="0"/>
              </a:rPr>
              <a:t>gTLDs= Generic Top Level Domains</a:t>
            </a:r>
          </a:p>
          <a:p>
            <a:pPr algn="ctr"/>
            <a:r>
              <a:rPr lang="zh-CN" altLang="en-US" sz="2400">
                <a:solidFill>
                  <a:schemeClr val="tx1"/>
                </a:solidFill>
                <a:latin typeface="Arial" panose="020B0604020202020204" pitchFamily="34" charset="0"/>
              </a:rPr>
              <a:t>（普通顶级域名） </a:t>
            </a:r>
          </a:p>
          <a:p>
            <a:pPr algn="ctr"/>
            <a:r>
              <a:rPr lang="en-US" altLang="zh-CN" sz="2400">
                <a:solidFill>
                  <a:schemeClr val="tx1"/>
                </a:solidFill>
                <a:latin typeface="Arial" panose="020B0604020202020204" pitchFamily="34" charset="0"/>
              </a:rPr>
              <a:t>ccTLDs = Country Code Top Level Domains</a:t>
            </a:r>
          </a:p>
          <a:p>
            <a:pPr algn="ctr"/>
            <a:r>
              <a:rPr lang="zh-CN" altLang="en-US" sz="2400">
                <a:solidFill>
                  <a:schemeClr val="tx1"/>
                </a:solidFill>
                <a:latin typeface="Arial" panose="020B0604020202020204" pitchFamily="34" charset="0"/>
              </a:rPr>
              <a:t>（国家代码顶级域名）</a:t>
            </a:r>
          </a:p>
        </p:txBody>
      </p:sp>
      <p:sp>
        <p:nvSpPr>
          <p:cNvPr id="74793" name="Rectangle 42"/>
          <p:cNvSpPr>
            <a:spLocks noGrp="1" noChangeArrowheads="1"/>
          </p:cNvSpPr>
          <p:nvPr>
            <p:ph type="title"/>
          </p:nvPr>
        </p:nvSpPr>
        <p:spPr bwMode="auto">
          <a:xfrm>
            <a:off x="2209800" y="4921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域名结构</a:t>
            </a:r>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noChangeArrowheads="1"/>
          </p:cNvSpPr>
          <p:nvPr>
            <p:ph type="body" idx="1"/>
          </p:nvPr>
        </p:nvSpPr>
        <p:spPr bwMode="auto">
          <a:xfrm>
            <a:off x="2925764" y="1454150"/>
            <a:ext cx="7107237" cy="4865688"/>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pPr>
            <a:r>
              <a:rPr lang="zh-CN" altLang="en-US"/>
              <a:t>普通顶级域名 </a:t>
            </a:r>
            <a:r>
              <a:rPr lang="en-US" altLang="zh-CN"/>
              <a:t>(gTLDs)</a:t>
            </a:r>
          </a:p>
          <a:p>
            <a:pPr lvl="1" eaLnBrk="1" hangingPunct="1">
              <a:lnSpc>
                <a:spcPct val="90000"/>
              </a:lnSpc>
            </a:pPr>
            <a:r>
              <a:rPr lang="en-US" altLang="zh-CN"/>
              <a:t>.com </a:t>
            </a:r>
            <a:r>
              <a:rPr lang="en-US" altLang="zh-CN">
                <a:latin typeface="Comic Sans MS" panose="030F0702030302020204" pitchFamily="66" charset="0"/>
              </a:rPr>
              <a:t>–</a:t>
            </a:r>
            <a:r>
              <a:rPr lang="en-US" altLang="zh-CN"/>
              <a:t> </a:t>
            </a:r>
            <a:r>
              <a:rPr lang="zh-CN" altLang="en-US"/>
              <a:t>商业组织</a:t>
            </a:r>
            <a:r>
              <a:rPr lang="en-US" altLang="zh-CN"/>
              <a:t>(Commercial)</a:t>
            </a:r>
          </a:p>
          <a:p>
            <a:pPr lvl="1" eaLnBrk="1" hangingPunct="1">
              <a:lnSpc>
                <a:spcPct val="90000"/>
              </a:lnSpc>
            </a:pPr>
            <a:r>
              <a:rPr lang="en-US" altLang="zh-CN"/>
              <a:t>.org </a:t>
            </a:r>
            <a:r>
              <a:rPr lang="en-US" altLang="zh-CN">
                <a:latin typeface="Comic Sans MS" panose="030F0702030302020204" pitchFamily="66" charset="0"/>
              </a:rPr>
              <a:t>–</a:t>
            </a:r>
            <a:r>
              <a:rPr lang="en-US" altLang="zh-CN"/>
              <a:t> </a:t>
            </a:r>
            <a:r>
              <a:rPr lang="zh-CN" altLang="en-US"/>
              <a:t>非营利组织</a:t>
            </a:r>
            <a:r>
              <a:rPr lang="en-US" altLang="zh-CN"/>
              <a:t>(organizations)</a:t>
            </a:r>
          </a:p>
          <a:p>
            <a:pPr lvl="1" eaLnBrk="1" hangingPunct="1">
              <a:lnSpc>
                <a:spcPct val="90000"/>
              </a:lnSpc>
            </a:pPr>
            <a:r>
              <a:rPr lang="en-US" altLang="zh-CN"/>
              <a:t>.edu </a:t>
            </a:r>
            <a:r>
              <a:rPr lang="en-US" altLang="zh-CN">
                <a:latin typeface="Comic Sans MS" panose="030F0702030302020204" pitchFamily="66" charset="0"/>
              </a:rPr>
              <a:t>–</a:t>
            </a:r>
            <a:r>
              <a:rPr lang="en-US" altLang="zh-CN"/>
              <a:t> </a:t>
            </a:r>
            <a:r>
              <a:rPr lang="zh-CN" altLang="en-US"/>
              <a:t>教育机构</a:t>
            </a:r>
            <a:r>
              <a:rPr lang="en-US" altLang="zh-CN"/>
              <a:t>(education)</a:t>
            </a:r>
          </a:p>
          <a:p>
            <a:pPr lvl="1" eaLnBrk="1" hangingPunct="1">
              <a:lnSpc>
                <a:spcPct val="90000"/>
              </a:lnSpc>
            </a:pPr>
            <a:r>
              <a:rPr lang="en-US" altLang="zh-CN"/>
              <a:t>.mil </a:t>
            </a:r>
            <a:r>
              <a:rPr lang="en-US" altLang="zh-CN">
                <a:latin typeface="Comic Sans MS" panose="030F0702030302020204" pitchFamily="66" charset="0"/>
              </a:rPr>
              <a:t>–</a:t>
            </a:r>
            <a:r>
              <a:rPr lang="en-US" altLang="zh-CN"/>
              <a:t> </a:t>
            </a:r>
            <a:r>
              <a:rPr lang="zh-CN" altLang="en-US"/>
              <a:t>军事组织</a:t>
            </a:r>
            <a:r>
              <a:rPr lang="en-US" altLang="zh-CN"/>
              <a:t>(military)</a:t>
            </a:r>
          </a:p>
          <a:p>
            <a:pPr lvl="1" eaLnBrk="1" hangingPunct="1">
              <a:lnSpc>
                <a:spcPct val="90000"/>
              </a:lnSpc>
            </a:pPr>
            <a:r>
              <a:rPr lang="en-US" altLang="zh-CN"/>
              <a:t>.gov </a:t>
            </a:r>
            <a:r>
              <a:rPr lang="en-US" altLang="zh-CN">
                <a:latin typeface="Comic Sans MS" panose="030F0702030302020204" pitchFamily="66" charset="0"/>
              </a:rPr>
              <a:t>–</a:t>
            </a:r>
            <a:r>
              <a:rPr lang="en-US" altLang="zh-CN"/>
              <a:t> </a:t>
            </a:r>
            <a:r>
              <a:rPr lang="zh-CN" altLang="en-US"/>
              <a:t>政府机构</a:t>
            </a:r>
            <a:r>
              <a:rPr lang="en-US" altLang="zh-CN"/>
              <a:t>(government)</a:t>
            </a:r>
          </a:p>
          <a:p>
            <a:pPr lvl="1" eaLnBrk="1" hangingPunct="1">
              <a:lnSpc>
                <a:spcPct val="90000"/>
              </a:lnSpc>
            </a:pPr>
            <a:r>
              <a:rPr lang="en-US" altLang="zh-CN"/>
              <a:t>.net </a:t>
            </a:r>
            <a:r>
              <a:rPr lang="en-US" altLang="zh-CN">
                <a:latin typeface="Comic Sans MS" panose="030F0702030302020204" pitchFamily="66" charset="0"/>
              </a:rPr>
              <a:t>–</a:t>
            </a:r>
            <a:r>
              <a:rPr lang="en-US" altLang="zh-CN"/>
              <a:t> </a:t>
            </a:r>
            <a:r>
              <a:rPr lang="zh-CN" altLang="en-US"/>
              <a:t>网络服务提供商</a:t>
            </a:r>
            <a:r>
              <a:rPr lang="en-US" altLang="zh-CN"/>
              <a:t>(network)</a:t>
            </a:r>
          </a:p>
          <a:p>
            <a:pPr lvl="1" eaLnBrk="1" hangingPunct="1">
              <a:lnSpc>
                <a:spcPct val="90000"/>
              </a:lnSpc>
            </a:pPr>
            <a:r>
              <a:rPr lang="en-US" altLang="zh-CN"/>
              <a:t>New: .biz, .info, .name, </a:t>
            </a:r>
            <a:r>
              <a:rPr lang="en-US" altLang="zh-CN">
                <a:latin typeface="Comic Sans MS" panose="030F0702030302020204" pitchFamily="66" charset="0"/>
              </a:rPr>
              <a:t>…</a:t>
            </a:r>
            <a:endParaRPr lang="en-US" altLang="zh-CN"/>
          </a:p>
          <a:p>
            <a:pPr eaLnBrk="1" hangingPunct="1">
              <a:lnSpc>
                <a:spcPct val="90000"/>
              </a:lnSpc>
            </a:pPr>
            <a:r>
              <a:rPr lang="zh-CN" altLang="en-US"/>
              <a:t>国家级顶级域名 </a:t>
            </a:r>
            <a:r>
              <a:rPr lang="en-US" altLang="zh-CN"/>
              <a:t>(ccTLDs)</a:t>
            </a:r>
          </a:p>
          <a:p>
            <a:pPr lvl="1" eaLnBrk="1" hangingPunct="1">
              <a:lnSpc>
                <a:spcPct val="90000"/>
              </a:lnSpc>
            </a:pPr>
            <a:r>
              <a:rPr lang="zh-CN" altLang="en-US"/>
              <a:t>每个国家一个</a:t>
            </a:r>
            <a:r>
              <a:rPr lang="en-US" altLang="zh-CN"/>
              <a:t>(</a:t>
            </a:r>
            <a:r>
              <a:rPr lang="zh-CN" altLang="en-US"/>
              <a:t>如</a:t>
            </a:r>
            <a:r>
              <a:rPr lang="en-US" altLang="zh-CN"/>
              <a:t>cn </a:t>
            </a:r>
            <a:r>
              <a:rPr lang="zh-CN" altLang="en-US"/>
              <a:t>中国</a:t>
            </a:r>
            <a:r>
              <a:rPr lang="en-US" altLang="zh-CN"/>
              <a:t>,uk </a:t>
            </a:r>
            <a:r>
              <a:rPr lang="zh-CN" altLang="en-US"/>
              <a:t>英国</a:t>
            </a:r>
            <a:r>
              <a:rPr lang="en-US" altLang="zh-CN"/>
              <a:t>, </a:t>
            </a:r>
            <a:r>
              <a:rPr lang="en-US" altLang="zh-CN">
                <a:latin typeface="Arial" panose="020B0604020202020204" pitchFamily="34" charset="0"/>
              </a:rPr>
              <a:t>au(</a:t>
            </a:r>
            <a:r>
              <a:rPr lang="zh-CN" altLang="en-US">
                <a:latin typeface="Arial" panose="020B0604020202020204" pitchFamily="34" charset="0"/>
              </a:rPr>
              <a:t>澳大利亚）</a:t>
            </a:r>
            <a:r>
              <a:rPr lang="en-US" altLang="zh-CN">
                <a:latin typeface="Arial" panose="020B0604020202020204" pitchFamily="34" charset="0"/>
              </a:rPr>
              <a:t>, ca(</a:t>
            </a:r>
            <a:r>
              <a:rPr lang="zh-CN" altLang="en-US">
                <a:latin typeface="Arial" panose="020B0604020202020204" pitchFamily="34" charset="0"/>
              </a:rPr>
              <a:t>加拿大）</a:t>
            </a:r>
            <a:r>
              <a:rPr lang="zh-CN" altLang="en-US"/>
              <a:t> </a:t>
            </a:r>
            <a:r>
              <a:rPr lang="en-US" altLang="zh-CN">
                <a:latin typeface="Comic Sans MS" panose="030F0702030302020204" pitchFamily="66" charset="0"/>
              </a:rPr>
              <a:t>……</a:t>
            </a:r>
            <a:r>
              <a:rPr lang="en-US" altLang="zh-CN"/>
              <a:t>)</a:t>
            </a:r>
          </a:p>
        </p:txBody>
      </p:sp>
      <p:sp>
        <p:nvSpPr>
          <p:cNvPr id="75779" name="Rectangle 4"/>
          <p:cNvSpPr>
            <a:spLocks noGrp="1" noChangeArrowheads="1"/>
          </p:cNvSpPr>
          <p:nvPr>
            <p:ph type="title"/>
          </p:nvPr>
        </p:nvSpPr>
        <p:spPr bwMode="auto">
          <a:xfrm>
            <a:off x="2228850" y="4143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顶级域名 </a:t>
            </a:r>
            <a:r>
              <a:rPr lang="en-US" altLang="zh-CN" sz="3600">
                <a:solidFill>
                  <a:schemeClr val="hlink"/>
                </a:solidFill>
                <a:ea typeface="华文行楷" panose="02010800040101010101" pitchFamily="2" charset="-122"/>
              </a:rPr>
              <a:t>(TLDs)</a:t>
            </a:r>
            <a:endParaRPr lang="en-US" altLang="zh-CN"/>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a:spLocks noGrp="1" noChangeArrowheads="1"/>
          </p:cNvSpPr>
          <p:nvPr>
            <p:ph type="body" idx="1"/>
          </p:nvPr>
        </p:nvSpPr>
        <p:spPr bwMode="auto">
          <a:xfrm>
            <a:off x="2184400" y="1524000"/>
            <a:ext cx="7772400" cy="41148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endParaRPr lang="en-US" altLang="zh-CN"/>
          </a:p>
          <a:p>
            <a:pPr eaLnBrk="1" hangingPunct="1"/>
            <a:r>
              <a:rPr lang="en-US" altLang="zh-CN"/>
              <a:t>Answer 1: </a:t>
            </a:r>
            <a:r>
              <a:rPr lang="zh-CN" altLang="en-US"/>
              <a:t>通常通过因特网服务提供商得到</a:t>
            </a:r>
          </a:p>
          <a:p>
            <a:pPr eaLnBrk="1" hangingPunct="1"/>
            <a:r>
              <a:rPr lang="en-US" altLang="zh-CN"/>
              <a:t>Answer 2: </a:t>
            </a:r>
            <a:r>
              <a:rPr lang="zh-CN" altLang="en-US"/>
              <a:t>如果你需要很多</a:t>
            </a:r>
            <a:r>
              <a:rPr lang="en-US" altLang="zh-CN"/>
              <a:t>IP</a:t>
            </a:r>
            <a:r>
              <a:rPr lang="zh-CN" altLang="en-US"/>
              <a:t>地址， </a:t>
            </a:r>
            <a:r>
              <a:rPr lang="en-US" altLang="zh-CN">
                <a:solidFill>
                  <a:schemeClr val="hlink"/>
                </a:solidFill>
                <a:ea typeface="华文行楷" panose="02010800040101010101" pitchFamily="2" charset="-122"/>
              </a:rPr>
              <a:t>Internet </a:t>
            </a:r>
            <a:r>
              <a:rPr lang="zh-CN" altLang="en-US">
                <a:solidFill>
                  <a:schemeClr val="hlink"/>
                </a:solidFill>
                <a:ea typeface="华文行楷" panose="02010800040101010101" pitchFamily="2" charset="-122"/>
              </a:rPr>
              <a:t>注册</a:t>
            </a:r>
            <a:r>
              <a:rPr lang="zh-CN" altLang="en-US" sz="2400"/>
              <a:t>（</a:t>
            </a:r>
            <a:r>
              <a:rPr lang="en-US" altLang="zh-CN" sz="2400"/>
              <a:t>IP </a:t>
            </a:r>
            <a:r>
              <a:rPr lang="zh-CN" altLang="en-US" sz="2400"/>
              <a:t>地址是一种希缺资源 </a:t>
            </a:r>
            <a:r>
              <a:rPr lang="en-US" altLang="zh-CN" sz="2400">
                <a:latin typeface="Comic Sans MS" panose="030F0702030302020204" pitchFamily="66" charset="0"/>
              </a:rPr>
              <a:t>–</a:t>
            </a:r>
            <a:r>
              <a:rPr lang="en-US" altLang="zh-CN" sz="2400"/>
              <a:t> </a:t>
            </a:r>
            <a:r>
              <a:rPr lang="zh-CN" altLang="en-US" sz="2400"/>
              <a:t>除非你原有的地址块已不够用，否则不要要求分配一块大的地址块 ） </a:t>
            </a:r>
            <a:endParaRPr lang="zh-CN" altLang="en-US"/>
          </a:p>
        </p:txBody>
      </p:sp>
      <p:sp>
        <p:nvSpPr>
          <p:cNvPr id="77827" name="Rectangle 4"/>
          <p:cNvSpPr>
            <a:spLocks noGrp="1" noChangeArrowheads="1"/>
          </p:cNvSpPr>
          <p:nvPr>
            <p:ph type="title"/>
          </p:nvPr>
        </p:nvSpPr>
        <p:spPr bwMode="auto">
          <a:xfrm>
            <a:off x="2189163" y="4476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怎样得到一个</a:t>
            </a:r>
            <a:r>
              <a:rPr lang="en-US" altLang="zh-CN" sz="3600">
                <a:solidFill>
                  <a:schemeClr val="hlink"/>
                </a:solidFill>
                <a:ea typeface="华文行楷" panose="02010800040101010101" pitchFamily="2" charset="-122"/>
              </a:rPr>
              <a:t>IP</a:t>
            </a:r>
            <a:r>
              <a:rPr lang="zh-CN" altLang="en-US" sz="3600">
                <a:solidFill>
                  <a:schemeClr val="hlink"/>
                </a:solidFill>
                <a:ea typeface="华文行楷" panose="02010800040101010101" pitchFamily="2" charset="-122"/>
              </a:rPr>
              <a:t>地址</a:t>
            </a:r>
            <a:endParaRPr lang="zh-C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a:hlinkClick r:id="rId2" action="ppaction://hlinksldjump"/>
          </p:cNvPr>
          <p:cNvSpPr>
            <a:spLocks noChangeArrowheads="1"/>
          </p:cNvSpPr>
          <p:nvPr/>
        </p:nvSpPr>
        <p:spPr bwMode="auto">
          <a:xfrm>
            <a:off x="1828800" y="1638300"/>
            <a:ext cx="2362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9875" name="Rectangle 4">
            <a:hlinkClick r:id="rId2" action="ppaction://hlinksldjump"/>
          </p:cNvPr>
          <p:cNvSpPr>
            <a:spLocks noChangeArrowheads="1"/>
          </p:cNvSpPr>
          <p:nvPr/>
        </p:nvSpPr>
        <p:spPr bwMode="auto">
          <a:xfrm>
            <a:off x="1981200" y="1790700"/>
            <a:ext cx="2362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9876" name="Text Box 5"/>
          <p:cNvSpPr txBox="1">
            <a:spLocks noChangeArrowheads="1"/>
          </p:cNvSpPr>
          <p:nvPr/>
        </p:nvSpPr>
        <p:spPr bwMode="auto">
          <a:xfrm>
            <a:off x="5657850" y="1676400"/>
            <a:ext cx="750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root </a:t>
            </a:r>
          </a:p>
        </p:txBody>
      </p:sp>
      <p:sp>
        <p:nvSpPr>
          <p:cNvPr id="79877" name="Line 6"/>
          <p:cNvSpPr>
            <a:spLocks noChangeShapeType="1"/>
          </p:cNvSpPr>
          <p:nvPr/>
        </p:nvSpPr>
        <p:spPr bwMode="auto">
          <a:xfrm flipH="1">
            <a:off x="2895600" y="2095500"/>
            <a:ext cx="2133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78" name="Line 7"/>
          <p:cNvSpPr>
            <a:spLocks noChangeShapeType="1"/>
          </p:cNvSpPr>
          <p:nvPr/>
        </p:nvSpPr>
        <p:spPr bwMode="auto">
          <a:xfrm flipH="1">
            <a:off x="3657600" y="2171700"/>
            <a:ext cx="1600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79" name="Line 8"/>
          <p:cNvSpPr>
            <a:spLocks noChangeShapeType="1"/>
          </p:cNvSpPr>
          <p:nvPr/>
        </p:nvSpPr>
        <p:spPr bwMode="auto">
          <a:xfrm flipH="1">
            <a:off x="4953000" y="2171700"/>
            <a:ext cx="685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0" name="Line 9"/>
          <p:cNvSpPr>
            <a:spLocks noChangeShapeType="1"/>
          </p:cNvSpPr>
          <p:nvPr/>
        </p:nvSpPr>
        <p:spPr bwMode="auto">
          <a:xfrm flipH="1">
            <a:off x="5638800" y="20955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1" name="Line 10"/>
          <p:cNvSpPr>
            <a:spLocks noChangeShapeType="1"/>
          </p:cNvSpPr>
          <p:nvPr/>
        </p:nvSpPr>
        <p:spPr bwMode="auto">
          <a:xfrm flipH="1">
            <a:off x="6248400" y="20955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2" name="Line 11"/>
          <p:cNvSpPr>
            <a:spLocks noChangeShapeType="1"/>
          </p:cNvSpPr>
          <p:nvPr/>
        </p:nvSpPr>
        <p:spPr bwMode="auto">
          <a:xfrm>
            <a:off x="6477000" y="2171700"/>
            <a:ext cx="1066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3" name="Line 12"/>
          <p:cNvSpPr>
            <a:spLocks noChangeShapeType="1"/>
          </p:cNvSpPr>
          <p:nvPr/>
        </p:nvSpPr>
        <p:spPr bwMode="auto">
          <a:xfrm flipH="1">
            <a:off x="4343400" y="2171700"/>
            <a:ext cx="1143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4" name="Line 13"/>
          <p:cNvSpPr>
            <a:spLocks noChangeShapeType="1"/>
          </p:cNvSpPr>
          <p:nvPr/>
        </p:nvSpPr>
        <p:spPr bwMode="auto">
          <a:xfrm>
            <a:off x="7086600" y="2171700"/>
            <a:ext cx="1600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5" name="Line 14"/>
          <p:cNvSpPr>
            <a:spLocks noChangeShapeType="1"/>
          </p:cNvSpPr>
          <p:nvPr/>
        </p:nvSpPr>
        <p:spPr bwMode="auto">
          <a:xfrm>
            <a:off x="7086600" y="2095500"/>
            <a:ext cx="2057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6" name="Line 15"/>
          <p:cNvSpPr>
            <a:spLocks noChangeShapeType="1"/>
          </p:cNvSpPr>
          <p:nvPr/>
        </p:nvSpPr>
        <p:spPr bwMode="auto">
          <a:xfrm>
            <a:off x="6781800" y="2171700"/>
            <a:ext cx="1371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7" name="Rectangle 16">
            <a:hlinkClick r:id="rId3" action="ppaction://hlinksldjump"/>
          </p:cNvPr>
          <p:cNvSpPr>
            <a:spLocks noChangeArrowheads="1"/>
          </p:cNvSpPr>
          <p:nvPr/>
        </p:nvSpPr>
        <p:spPr bwMode="auto">
          <a:xfrm>
            <a:off x="7620000" y="36957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latin typeface="Arial" panose="020B0604020202020204" pitchFamily="34" charset="0"/>
              </a:rPr>
              <a:t>Structure based on</a:t>
            </a:r>
          </a:p>
          <a:p>
            <a:pPr algn="ctr"/>
            <a:r>
              <a:rPr lang="en-US" altLang="zh-CN" sz="2400" b="1">
                <a:solidFill>
                  <a:schemeClr val="tx1"/>
                </a:solidFill>
                <a:latin typeface="Arial" panose="020B0604020202020204" pitchFamily="34" charset="0"/>
              </a:rPr>
              <a:t>administrative issues.</a:t>
            </a:r>
            <a:endParaRPr lang="en-US" altLang="zh-CN" sz="2400">
              <a:solidFill>
                <a:schemeClr val="tx1"/>
              </a:solidFill>
              <a:latin typeface="Arial" panose="020B0604020202020204" pitchFamily="34" charset="0"/>
            </a:endParaRPr>
          </a:p>
        </p:txBody>
      </p:sp>
      <p:sp>
        <p:nvSpPr>
          <p:cNvPr id="79888" name="Text Box 17"/>
          <p:cNvSpPr txBox="1">
            <a:spLocks noChangeArrowheads="1"/>
          </p:cNvSpPr>
          <p:nvPr/>
        </p:nvSpPr>
        <p:spPr bwMode="auto">
          <a:xfrm>
            <a:off x="1676400" y="3695700"/>
            <a:ext cx="927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lucent</a:t>
            </a:r>
          </a:p>
        </p:txBody>
      </p:sp>
      <p:sp>
        <p:nvSpPr>
          <p:cNvPr id="79889" name="Line 18"/>
          <p:cNvSpPr>
            <a:spLocks noChangeShapeType="1"/>
          </p:cNvSpPr>
          <p:nvPr/>
        </p:nvSpPr>
        <p:spPr bwMode="auto">
          <a:xfrm flipH="1">
            <a:off x="2133600" y="2933700"/>
            <a:ext cx="5334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90" name="Rectangle 19"/>
          <p:cNvSpPr>
            <a:spLocks noChangeArrowheads="1"/>
          </p:cNvSpPr>
          <p:nvPr/>
        </p:nvSpPr>
        <p:spPr bwMode="auto">
          <a:xfrm>
            <a:off x="2286000" y="2628900"/>
            <a:ext cx="7924800" cy="457200"/>
          </a:xfrm>
          <a:prstGeom prst="rect">
            <a:avLst/>
          </a:prstGeom>
          <a:solidFill>
            <a:srgbClr val="66FFFF">
              <a:alpha val="50195"/>
            </a:srgbClr>
          </a:solidFill>
          <a:ln w="9525" cap="rnd">
            <a:solidFill>
              <a:schemeClr val="tx1"/>
            </a:solidFill>
            <a:prstDash val="sysDot"/>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9891" name="Text Box 20"/>
          <p:cNvSpPr txBox="1">
            <a:spLocks noChangeArrowheads="1"/>
          </p:cNvSpPr>
          <p:nvPr/>
        </p:nvSpPr>
        <p:spPr bwMode="auto">
          <a:xfrm>
            <a:off x="2514601" y="2628900"/>
            <a:ext cx="70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com</a:t>
            </a:r>
          </a:p>
        </p:txBody>
      </p:sp>
      <p:sp>
        <p:nvSpPr>
          <p:cNvPr id="79892" name="Text Box 21"/>
          <p:cNvSpPr txBox="1">
            <a:spLocks noChangeArrowheads="1"/>
          </p:cNvSpPr>
          <p:nvPr/>
        </p:nvSpPr>
        <p:spPr bwMode="auto">
          <a:xfrm>
            <a:off x="4724401" y="2628900"/>
            <a:ext cx="588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mil</a:t>
            </a:r>
          </a:p>
        </p:txBody>
      </p:sp>
      <p:sp>
        <p:nvSpPr>
          <p:cNvPr id="79893" name="Text Box 22"/>
          <p:cNvSpPr txBox="1">
            <a:spLocks noChangeArrowheads="1"/>
          </p:cNvSpPr>
          <p:nvPr/>
        </p:nvSpPr>
        <p:spPr bwMode="auto">
          <a:xfrm>
            <a:off x="3962400" y="2628900"/>
            <a:ext cx="623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edu</a:t>
            </a:r>
          </a:p>
        </p:txBody>
      </p:sp>
      <p:sp>
        <p:nvSpPr>
          <p:cNvPr id="79894" name="Text Box 23"/>
          <p:cNvSpPr txBox="1">
            <a:spLocks noChangeArrowheads="1"/>
          </p:cNvSpPr>
          <p:nvPr/>
        </p:nvSpPr>
        <p:spPr bwMode="auto">
          <a:xfrm>
            <a:off x="3276600" y="2628900"/>
            <a:ext cx="64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gov</a:t>
            </a:r>
          </a:p>
        </p:txBody>
      </p:sp>
      <p:sp>
        <p:nvSpPr>
          <p:cNvPr id="79895" name="Text Box 24"/>
          <p:cNvSpPr txBox="1">
            <a:spLocks noChangeArrowheads="1"/>
          </p:cNvSpPr>
          <p:nvPr/>
        </p:nvSpPr>
        <p:spPr bwMode="auto">
          <a:xfrm>
            <a:off x="8001000" y="2628900"/>
            <a:ext cx="43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gr</a:t>
            </a:r>
          </a:p>
        </p:txBody>
      </p:sp>
      <p:sp>
        <p:nvSpPr>
          <p:cNvPr id="79896" name="Text Box 25"/>
          <p:cNvSpPr txBox="1">
            <a:spLocks noChangeArrowheads="1"/>
          </p:cNvSpPr>
          <p:nvPr/>
        </p:nvSpPr>
        <p:spPr bwMode="auto">
          <a:xfrm>
            <a:off x="6019800" y="2628900"/>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org</a:t>
            </a:r>
          </a:p>
        </p:txBody>
      </p:sp>
      <p:sp>
        <p:nvSpPr>
          <p:cNvPr id="79897" name="Text Box 26"/>
          <p:cNvSpPr txBox="1">
            <a:spLocks noChangeArrowheads="1"/>
          </p:cNvSpPr>
          <p:nvPr/>
        </p:nvSpPr>
        <p:spPr bwMode="auto">
          <a:xfrm>
            <a:off x="5410201" y="2628900"/>
            <a:ext cx="55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net</a:t>
            </a:r>
          </a:p>
        </p:txBody>
      </p:sp>
      <p:sp>
        <p:nvSpPr>
          <p:cNvPr id="79898" name="Text Box 27"/>
          <p:cNvSpPr txBox="1">
            <a:spLocks noChangeArrowheads="1"/>
          </p:cNvSpPr>
          <p:nvPr/>
        </p:nvSpPr>
        <p:spPr bwMode="auto">
          <a:xfrm>
            <a:off x="7467600" y="26289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fr</a:t>
            </a:r>
          </a:p>
        </p:txBody>
      </p:sp>
      <p:sp>
        <p:nvSpPr>
          <p:cNvPr id="79899" name="Text Box 28"/>
          <p:cNvSpPr txBox="1">
            <a:spLocks noChangeArrowheads="1"/>
          </p:cNvSpPr>
          <p:nvPr/>
        </p:nvSpPr>
        <p:spPr bwMode="auto">
          <a:xfrm>
            <a:off x="9144000" y="26289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uk</a:t>
            </a:r>
          </a:p>
        </p:txBody>
      </p:sp>
      <p:sp>
        <p:nvSpPr>
          <p:cNvPr id="79900" name="Text Box 29"/>
          <p:cNvSpPr txBox="1">
            <a:spLocks noChangeArrowheads="1"/>
          </p:cNvSpPr>
          <p:nvPr/>
        </p:nvSpPr>
        <p:spPr bwMode="auto">
          <a:xfrm>
            <a:off x="8610601" y="2628900"/>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us</a:t>
            </a:r>
          </a:p>
        </p:txBody>
      </p:sp>
      <p:sp>
        <p:nvSpPr>
          <p:cNvPr id="79901" name="Freeform 30"/>
          <p:cNvSpPr>
            <a:spLocks/>
          </p:cNvSpPr>
          <p:nvPr/>
        </p:nvSpPr>
        <p:spPr bwMode="auto">
          <a:xfrm>
            <a:off x="2895600" y="3695700"/>
            <a:ext cx="1371600" cy="1295400"/>
          </a:xfrm>
          <a:custGeom>
            <a:avLst/>
            <a:gdLst>
              <a:gd name="T0" fmla="*/ 2147483646 w 864"/>
              <a:gd name="T1" fmla="*/ 2147483646 h 816"/>
              <a:gd name="T2" fmla="*/ 2147483646 w 864"/>
              <a:gd name="T3" fmla="*/ 2147483646 h 816"/>
              <a:gd name="T4" fmla="*/ 2147483646 w 864"/>
              <a:gd name="T5" fmla="*/ 2147483646 h 816"/>
              <a:gd name="T6" fmla="*/ 2147483646 w 864"/>
              <a:gd name="T7" fmla="*/ 2147483646 h 816"/>
              <a:gd name="T8" fmla="*/ 2147483646 w 864"/>
              <a:gd name="T9" fmla="*/ 2147483646 h 816"/>
              <a:gd name="T10" fmla="*/ 0 w 864"/>
              <a:gd name="T11" fmla="*/ 2147483646 h 816"/>
              <a:gd name="T12" fmla="*/ 2147483646 w 864"/>
              <a:gd name="T13" fmla="*/ 2147483646 h 816"/>
              <a:gd name="T14" fmla="*/ 2147483646 w 864"/>
              <a:gd name="T15" fmla="*/ 2147483646 h 816"/>
              <a:gd name="T16" fmla="*/ 2147483646 w 864"/>
              <a:gd name="T17" fmla="*/ 2147483646 h 816"/>
              <a:gd name="T18" fmla="*/ 2147483646 w 864"/>
              <a:gd name="T19" fmla="*/ 2147483646 h 816"/>
              <a:gd name="T20" fmla="*/ 2147483646 w 864"/>
              <a:gd name="T21" fmla="*/ 2147483646 h 816"/>
              <a:gd name="T22" fmla="*/ 2147483646 w 864"/>
              <a:gd name="T23" fmla="*/ 0 h 816"/>
              <a:gd name="T24" fmla="*/ 2147483646 w 864"/>
              <a:gd name="T25" fmla="*/ 2147483646 h 816"/>
              <a:gd name="T26" fmla="*/ 2147483646 w 864"/>
              <a:gd name="T27" fmla="*/ 2147483646 h 81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64"/>
              <a:gd name="T43" fmla="*/ 0 h 816"/>
              <a:gd name="T44" fmla="*/ 864 w 864"/>
              <a:gd name="T45" fmla="*/ 816 h 81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64" h="816">
                <a:moveTo>
                  <a:pt x="239" y="22"/>
                </a:moveTo>
                <a:cubicBezTo>
                  <a:pt x="205" y="33"/>
                  <a:pt x="180" y="71"/>
                  <a:pt x="156" y="99"/>
                </a:cubicBezTo>
                <a:cubicBezTo>
                  <a:pt x="145" y="131"/>
                  <a:pt x="160" y="89"/>
                  <a:pt x="135" y="135"/>
                </a:cubicBezTo>
                <a:cubicBezTo>
                  <a:pt x="116" y="168"/>
                  <a:pt x="102" y="205"/>
                  <a:pt x="85" y="239"/>
                </a:cubicBezTo>
                <a:cubicBezTo>
                  <a:pt x="67" y="272"/>
                  <a:pt x="68" y="255"/>
                  <a:pt x="68" y="270"/>
                </a:cubicBezTo>
                <a:lnTo>
                  <a:pt x="0" y="449"/>
                </a:lnTo>
                <a:lnTo>
                  <a:pt x="75" y="816"/>
                </a:lnTo>
                <a:lnTo>
                  <a:pt x="376" y="734"/>
                </a:lnTo>
                <a:lnTo>
                  <a:pt x="413" y="408"/>
                </a:lnTo>
                <a:lnTo>
                  <a:pt x="826" y="326"/>
                </a:lnTo>
                <a:lnTo>
                  <a:pt x="864" y="41"/>
                </a:lnTo>
                <a:lnTo>
                  <a:pt x="526" y="0"/>
                </a:lnTo>
                <a:lnTo>
                  <a:pt x="283" y="71"/>
                </a:lnTo>
                <a:cubicBezTo>
                  <a:pt x="283" y="71"/>
                  <a:pt x="239" y="22"/>
                  <a:pt x="239" y="22"/>
                </a:cubicBezTo>
                <a:close/>
              </a:path>
            </a:pathLst>
          </a:custGeom>
          <a:solidFill>
            <a:srgbClr val="66FFFF">
              <a:alpha val="50195"/>
            </a:srgbClr>
          </a:solidFill>
          <a:ln w="9525">
            <a:solidFill>
              <a:schemeClr val="tx1"/>
            </a:solidFill>
            <a:round/>
            <a:headEnd/>
            <a:tailEnd/>
          </a:ln>
        </p:spPr>
        <p:txBody>
          <a:bodyPr wrap="none" anchor="ctr"/>
          <a:lstStyle/>
          <a:p>
            <a:endParaRPr lang="zh-CN" altLang="en-US"/>
          </a:p>
        </p:txBody>
      </p:sp>
      <p:sp>
        <p:nvSpPr>
          <p:cNvPr id="79902" name="Text Box 31"/>
          <p:cNvSpPr txBox="1">
            <a:spLocks noChangeArrowheads="1"/>
          </p:cNvSpPr>
          <p:nvPr/>
        </p:nvSpPr>
        <p:spPr bwMode="auto">
          <a:xfrm>
            <a:off x="3048000" y="3771900"/>
            <a:ext cx="1030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ustreas</a:t>
            </a:r>
          </a:p>
        </p:txBody>
      </p:sp>
      <p:sp>
        <p:nvSpPr>
          <p:cNvPr id="79903" name="Line 32"/>
          <p:cNvSpPr>
            <a:spLocks noChangeShapeType="1"/>
          </p:cNvSpPr>
          <p:nvPr/>
        </p:nvSpPr>
        <p:spPr bwMode="auto">
          <a:xfrm>
            <a:off x="3581400" y="3009900"/>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04" name="Line 33"/>
          <p:cNvSpPr>
            <a:spLocks noChangeShapeType="1"/>
          </p:cNvSpPr>
          <p:nvPr/>
        </p:nvSpPr>
        <p:spPr bwMode="auto">
          <a:xfrm>
            <a:off x="3962400" y="4229100"/>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05" name="Freeform 34"/>
          <p:cNvSpPr>
            <a:spLocks/>
          </p:cNvSpPr>
          <p:nvPr/>
        </p:nvSpPr>
        <p:spPr bwMode="auto">
          <a:xfrm>
            <a:off x="3759200" y="4749800"/>
            <a:ext cx="1219200" cy="1346200"/>
          </a:xfrm>
          <a:custGeom>
            <a:avLst/>
            <a:gdLst>
              <a:gd name="T0" fmla="*/ 2147483646 w 768"/>
              <a:gd name="T1" fmla="*/ 2147483646 h 848"/>
              <a:gd name="T2" fmla="*/ 2147483646 w 768"/>
              <a:gd name="T3" fmla="*/ 2147483646 h 848"/>
              <a:gd name="T4" fmla="*/ 2147483646 w 768"/>
              <a:gd name="T5" fmla="*/ 2147483646 h 848"/>
              <a:gd name="T6" fmla="*/ 2147483646 w 768"/>
              <a:gd name="T7" fmla="*/ 2147483646 h 848"/>
              <a:gd name="T8" fmla="*/ 2147483646 w 768"/>
              <a:gd name="T9" fmla="*/ 2147483646 h 848"/>
              <a:gd name="T10" fmla="*/ 2147483646 w 768"/>
              <a:gd name="T11" fmla="*/ 2147483646 h 848"/>
              <a:gd name="T12" fmla="*/ 2147483646 w 768"/>
              <a:gd name="T13" fmla="*/ 2147483646 h 848"/>
              <a:gd name="T14" fmla="*/ 0 60000 65536"/>
              <a:gd name="T15" fmla="*/ 0 60000 65536"/>
              <a:gd name="T16" fmla="*/ 0 60000 65536"/>
              <a:gd name="T17" fmla="*/ 0 60000 65536"/>
              <a:gd name="T18" fmla="*/ 0 60000 65536"/>
              <a:gd name="T19" fmla="*/ 0 60000 65536"/>
              <a:gd name="T20" fmla="*/ 0 60000 65536"/>
              <a:gd name="T21" fmla="*/ 0 w 768"/>
              <a:gd name="T22" fmla="*/ 0 h 848"/>
              <a:gd name="T23" fmla="*/ 768 w 768"/>
              <a:gd name="T24" fmla="*/ 848 h 8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68" h="848">
                <a:moveTo>
                  <a:pt x="272" y="8"/>
                </a:moveTo>
                <a:cubicBezTo>
                  <a:pt x="176" y="16"/>
                  <a:pt x="64" y="176"/>
                  <a:pt x="32" y="296"/>
                </a:cubicBezTo>
                <a:cubicBezTo>
                  <a:pt x="0" y="416"/>
                  <a:pt x="0" y="640"/>
                  <a:pt x="80" y="728"/>
                </a:cubicBezTo>
                <a:cubicBezTo>
                  <a:pt x="160" y="816"/>
                  <a:pt x="400" y="848"/>
                  <a:pt x="512" y="824"/>
                </a:cubicBezTo>
                <a:cubicBezTo>
                  <a:pt x="624" y="800"/>
                  <a:pt x="736" y="680"/>
                  <a:pt x="752" y="584"/>
                </a:cubicBezTo>
                <a:cubicBezTo>
                  <a:pt x="768" y="488"/>
                  <a:pt x="688" y="344"/>
                  <a:pt x="608" y="248"/>
                </a:cubicBezTo>
                <a:cubicBezTo>
                  <a:pt x="528" y="152"/>
                  <a:pt x="368" y="0"/>
                  <a:pt x="272" y="8"/>
                </a:cubicBezTo>
                <a:close/>
              </a:path>
            </a:pathLst>
          </a:custGeom>
          <a:solidFill>
            <a:srgbClr val="66FFFF">
              <a:alpha val="50195"/>
            </a:srgbClr>
          </a:solidFill>
          <a:ln w="9525">
            <a:solidFill>
              <a:schemeClr val="tx1"/>
            </a:solidFill>
            <a:round/>
            <a:headEnd/>
            <a:tailEnd/>
          </a:ln>
        </p:spPr>
        <p:txBody>
          <a:bodyPr wrap="none" anchor="ctr"/>
          <a:lstStyle/>
          <a:p>
            <a:endParaRPr lang="zh-CN" altLang="en-US"/>
          </a:p>
        </p:txBody>
      </p:sp>
      <p:grpSp>
        <p:nvGrpSpPr>
          <p:cNvPr id="79906" name="Group 35"/>
          <p:cNvGrpSpPr>
            <a:grpSpLocks/>
          </p:cNvGrpSpPr>
          <p:nvPr/>
        </p:nvGrpSpPr>
        <p:grpSpPr bwMode="auto">
          <a:xfrm>
            <a:off x="2971800" y="4838700"/>
            <a:ext cx="3048000" cy="1219200"/>
            <a:chOff x="864" y="3024"/>
            <a:chExt cx="1920" cy="768"/>
          </a:xfrm>
        </p:grpSpPr>
        <p:sp>
          <p:nvSpPr>
            <p:cNvPr id="79913" name="Rectangle 36">
              <a:hlinkClick r:id="rId4" action="ppaction://hlinksldjump"/>
            </p:cNvPr>
            <p:cNvSpPr>
              <a:spLocks noChangeArrowheads="1"/>
            </p:cNvSpPr>
            <p:nvPr/>
          </p:nvSpPr>
          <p:spPr bwMode="auto">
            <a:xfrm>
              <a:off x="864" y="3456"/>
              <a:ext cx="192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rPr>
                <a:t>www</a:t>
              </a:r>
            </a:p>
          </p:txBody>
        </p:sp>
        <p:sp>
          <p:nvSpPr>
            <p:cNvPr id="79914" name="Text Box 37"/>
            <p:cNvSpPr txBox="1">
              <a:spLocks noChangeArrowheads="1"/>
            </p:cNvSpPr>
            <p:nvPr/>
          </p:nvSpPr>
          <p:spPr bwMode="auto">
            <a:xfrm>
              <a:off x="1440" y="3024"/>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irs</a:t>
              </a:r>
            </a:p>
          </p:txBody>
        </p:sp>
        <p:sp>
          <p:nvSpPr>
            <p:cNvPr id="79915" name="Line 38"/>
            <p:cNvSpPr>
              <a:spLocks noChangeShapeType="1"/>
            </p:cNvSpPr>
            <p:nvPr/>
          </p:nvSpPr>
          <p:spPr bwMode="auto">
            <a:xfrm>
              <a:off x="1680" y="3264"/>
              <a:ext cx="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 name="Group 39"/>
          <p:cNvGrpSpPr>
            <a:grpSpLocks/>
          </p:cNvGrpSpPr>
          <p:nvPr/>
        </p:nvGrpSpPr>
        <p:grpSpPr bwMode="auto">
          <a:xfrm>
            <a:off x="4343400" y="2933700"/>
            <a:ext cx="6002338" cy="2438400"/>
            <a:chOff x="1776" y="2016"/>
            <a:chExt cx="3781" cy="1536"/>
          </a:xfrm>
        </p:grpSpPr>
        <p:sp>
          <p:nvSpPr>
            <p:cNvPr id="79909" name="Text Box 40"/>
            <p:cNvSpPr txBox="1">
              <a:spLocks noChangeArrowheads="1"/>
            </p:cNvSpPr>
            <p:nvPr/>
          </p:nvSpPr>
          <p:spPr bwMode="auto">
            <a:xfrm>
              <a:off x="3168" y="3120"/>
              <a:ext cx="23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latin typeface="Arial" panose="020B0604020202020204" pitchFamily="34" charset="0"/>
                </a:rPr>
                <a:t>区</a:t>
              </a:r>
              <a:r>
                <a:rPr lang="en-US" altLang="zh-CN" sz="2400">
                  <a:solidFill>
                    <a:schemeClr val="tx1"/>
                  </a:solidFill>
                  <a:latin typeface="Arial" panose="020B0604020202020204" pitchFamily="34" charset="0"/>
                </a:rPr>
                <a:t>: </a:t>
              </a:r>
              <a:r>
                <a:rPr lang="zh-CN" altLang="en-US" sz="2400">
                  <a:solidFill>
                    <a:schemeClr val="tx1"/>
                  </a:solidFill>
                  <a:latin typeface="Arial" panose="020B0604020202020204" pitchFamily="34" charset="0"/>
                </a:rPr>
                <a:t>有共同管理机构的子树</a:t>
              </a:r>
              <a:r>
                <a:rPr lang="en-US" altLang="zh-CN" sz="2400">
                  <a:solidFill>
                    <a:schemeClr val="tx1"/>
                  </a:solidFill>
                  <a:latin typeface="Arial" panose="020B0604020202020204" pitchFamily="34" charset="0"/>
                </a:rPr>
                <a:t>.</a:t>
              </a:r>
            </a:p>
          </p:txBody>
        </p:sp>
        <p:sp>
          <p:nvSpPr>
            <p:cNvPr id="79910" name="Line 41"/>
            <p:cNvSpPr>
              <a:spLocks noChangeShapeType="1"/>
            </p:cNvSpPr>
            <p:nvPr/>
          </p:nvSpPr>
          <p:spPr bwMode="auto">
            <a:xfrm flipH="1">
              <a:off x="2016" y="3264"/>
              <a:ext cx="1152"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1" name="Line 42"/>
            <p:cNvSpPr>
              <a:spLocks noChangeShapeType="1"/>
            </p:cNvSpPr>
            <p:nvPr/>
          </p:nvSpPr>
          <p:spPr bwMode="auto">
            <a:xfrm flipV="1">
              <a:off x="3168" y="2016"/>
              <a:ext cx="144" cy="11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2" name="Line 43"/>
            <p:cNvSpPr>
              <a:spLocks noChangeShapeType="1"/>
            </p:cNvSpPr>
            <p:nvPr/>
          </p:nvSpPr>
          <p:spPr bwMode="auto">
            <a:xfrm flipH="1" flipV="1">
              <a:off x="1776" y="2832"/>
              <a:ext cx="1344"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9908" name="Rectangle 44"/>
          <p:cNvSpPr>
            <a:spLocks noGrp="1" noChangeArrowheads="1"/>
          </p:cNvSpPr>
          <p:nvPr>
            <p:ph type="title"/>
          </p:nvPr>
        </p:nvSpPr>
        <p:spPr bwMode="auto">
          <a:xfrm>
            <a:off x="2190750" y="468313"/>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域名服务器的结构</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bwMode="auto">
          <a:xfrm>
            <a:off x="4493623" y="219075"/>
            <a:ext cx="3285127" cy="712788"/>
          </a:xfrm>
          <a:solidFill>
            <a:srgbClr val="FFFFFF"/>
          </a:solidFill>
          <a:ln>
            <a:solidFill>
              <a:srgbClr val="000000"/>
            </a:solidFill>
            <a:miter lim="800000"/>
            <a:headEnd/>
            <a:tailEnd/>
          </a:ln>
        </p:spPr>
        <p:txBody>
          <a:bodyPr vert="horz" wrap="square" lIns="91440" tIns="45720" rIns="91440" bIns="45720" numCol="1" rtlCol="0" anchor="t" anchorCtr="0" compatLnSpc="1">
            <a:prstTxWarp prst="textNoShape">
              <a:avLst/>
            </a:prstTxWarp>
            <a:normAutofit fontScale="90000"/>
          </a:bodyPr>
          <a:lstStyle/>
          <a:p>
            <a:pPr algn="ctr" eaLnBrk="1" hangingPunct="1"/>
            <a:r>
              <a:rPr lang="en-US" altLang="zh-CN" sz="3600">
                <a:solidFill>
                  <a:schemeClr val="hlink"/>
                </a:solidFill>
                <a:ea typeface="华文行楷" panose="02010800040101010101" pitchFamily="2" charset="-122"/>
              </a:rPr>
              <a:t>DNS </a:t>
            </a:r>
            <a:r>
              <a:rPr lang="zh-CN" altLang="en-US" sz="3600" smtClean="0">
                <a:solidFill>
                  <a:schemeClr val="hlink"/>
                </a:solidFill>
                <a:ea typeface="华文行楷" panose="02010800040101010101" pitchFamily="2" charset="-122"/>
              </a:rPr>
              <a:t>的递归查询</a:t>
            </a:r>
            <a:endParaRPr lang="zh-CN" altLang="en-US" sz="3600">
              <a:solidFill>
                <a:schemeClr val="hlink"/>
              </a:solidFill>
              <a:ea typeface="华文行楷" panose="02010800040101010101" pitchFamily="2" charset="-122"/>
            </a:endParaRPr>
          </a:p>
        </p:txBody>
      </p:sp>
      <p:sp>
        <p:nvSpPr>
          <p:cNvPr id="80899" name="Rectangle 3"/>
          <p:cNvSpPr>
            <a:spLocks noGrp="1" noChangeArrowheads="1"/>
          </p:cNvSpPr>
          <p:nvPr>
            <p:ph type="body" sz="half" idx="1"/>
          </p:nvPr>
        </p:nvSpPr>
        <p:spPr bwMode="auto">
          <a:xfrm>
            <a:off x="1887538" y="1758950"/>
            <a:ext cx="3162300" cy="3448050"/>
          </a:xfrm>
          <a:solidFill>
            <a:srgbClr val="FFFFFF"/>
          </a:solidFill>
          <a:ln>
            <a:solidFill>
              <a:srgbClr val="000000"/>
            </a:solidFill>
            <a:miter lim="800000"/>
            <a:headEnd/>
            <a:tailEnd/>
          </a:ln>
        </p:spPr>
        <p:txBody>
          <a:bodyPr vert="horz" wrap="square" lIns="91440" tIns="45720" rIns="91440" bIns="45720" numCol="1" rtlCol="0" anchor="t" anchorCtr="0" compatLnSpc="1">
            <a:prstTxWarp prst="textNoShape">
              <a:avLst/>
            </a:prstTxWarp>
            <a:normAutofit/>
          </a:bodyPr>
          <a:lstStyle/>
          <a:p>
            <a:pPr eaLnBrk="1" hangingPunct="1">
              <a:buFont typeface="Wingdings" panose="05000000000000000000" pitchFamily="2" charset="2"/>
              <a:buNone/>
            </a:pPr>
            <a:r>
              <a:rPr lang="zh-CN" altLang="en-US" sz="3200"/>
              <a:t>根域名服务器</a:t>
            </a:r>
            <a:r>
              <a:rPr lang="en-US" altLang="zh-CN" sz="3200"/>
              <a:t>:</a:t>
            </a:r>
            <a:endParaRPr lang="en-US" altLang="zh-CN"/>
          </a:p>
          <a:p>
            <a:pPr eaLnBrk="1" hangingPunct="1"/>
            <a:r>
              <a:rPr lang="zh-CN" altLang="en-US"/>
              <a:t>可能不知道授权域名服务器</a:t>
            </a:r>
          </a:p>
          <a:p>
            <a:pPr eaLnBrk="1" hangingPunct="1"/>
            <a:r>
              <a:rPr lang="zh-CN" altLang="en-US"/>
              <a:t>可能知道中间名字服务器</a:t>
            </a:r>
            <a:r>
              <a:rPr lang="en-US" altLang="zh-CN" i="1">
                <a:solidFill>
                  <a:schemeClr val="accent2"/>
                </a:solidFill>
              </a:rPr>
              <a:t>:</a:t>
            </a:r>
            <a:r>
              <a:rPr lang="en-US" altLang="zh-CN"/>
              <a:t> </a:t>
            </a:r>
            <a:r>
              <a:rPr lang="zh-CN" altLang="en-US"/>
              <a:t>那些与之联系以查找授权域名服务器</a:t>
            </a:r>
          </a:p>
        </p:txBody>
      </p:sp>
      <p:sp>
        <p:nvSpPr>
          <p:cNvPr id="80900" name="Text Box 6"/>
          <p:cNvSpPr txBox="1">
            <a:spLocks noChangeArrowheads="1"/>
          </p:cNvSpPr>
          <p:nvPr/>
        </p:nvSpPr>
        <p:spPr bwMode="auto">
          <a:xfrm>
            <a:off x="7921625" y="6521450"/>
            <a:ext cx="22621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600" b="1">
                <a:solidFill>
                  <a:schemeClr val="tx1"/>
                </a:solidFill>
                <a:latin typeface="Courier New" panose="02070309020205020404" pitchFamily="49" charset="0"/>
              </a:rPr>
              <a:t>gaia.cs.umass.edu</a:t>
            </a:r>
            <a:endParaRPr lang="en-US" altLang="zh-CN" sz="1600">
              <a:solidFill>
                <a:schemeClr val="tx1"/>
              </a:solidFill>
            </a:endParaRPr>
          </a:p>
        </p:txBody>
      </p:sp>
      <p:grpSp>
        <p:nvGrpSpPr>
          <p:cNvPr id="80901" name="Group 68"/>
          <p:cNvGrpSpPr>
            <a:grpSpLocks/>
          </p:cNvGrpSpPr>
          <p:nvPr/>
        </p:nvGrpSpPr>
        <p:grpSpPr bwMode="auto">
          <a:xfrm>
            <a:off x="5510213" y="1246188"/>
            <a:ext cx="4837112" cy="5346700"/>
            <a:chOff x="2511" y="785"/>
            <a:chExt cx="3047" cy="3368"/>
          </a:xfrm>
        </p:grpSpPr>
        <p:graphicFrame>
          <p:nvGraphicFramePr>
            <p:cNvPr id="80902" name="Object 4"/>
            <p:cNvGraphicFramePr>
              <a:graphicFrameLocks noChangeAspect="1"/>
            </p:cNvGraphicFramePr>
            <p:nvPr/>
          </p:nvGraphicFramePr>
          <p:xfrm>
            <a:off x="3089" y="3247"/>
            <a:ext cx="525" cy="402"/>
          </p:xfrm>
          <a:graphic>
            <a:graphicData uri="http://schemas.openxmlformats.org/presentationml/2006/ole">
              <mc:AlternateContent xmlns:mc="http://schemas.openxmlformats.org/markup-compatibility/2006">
                <mc:Choice xmlns:v="urn:schemas-microsoft-com:vml" Requires="v">
                  <p:oleObj spid="_x0000_s19808" name="Clip" r:id="rId3" imgW="1307263" imgH="1084139" progId="MS_ClipArt_Gallery.2">
                    <p:embed/>
                  </p:oleObj>
                </mc:Choice>
                <mc:Fallback>
                  <p:oleObj name="Clip" r:id="rId3" imgW="1307263" imgH="1084139" progId="MS_ClipArt_Gallery.2">
                    <p:embed/>
                    <p:pic>
                      <p:nvPicPr>
                        <p:cNvPr id="8090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9" y="3247"/>
                          <a:ext cx="525" cy="4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0903" name="Text Box 5"/>
            <p:cNvSpPr txBox="1">
              <a:spLocks noChangeArrowheads="1"/>
            </p:cNvSpPr>
            <p:nvPr/>
          </p:nvSpPr>
          <p:spPr bwMode="auto">
            <a:xfrm>
              <a:off x="2511" y="3611"/>
              <a:ext cx="1271"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chemeClr val="tx1"/>
                  </a:solidFill>
                  <a:latin typeface="Comic Sans MS" panose="030F0702030302020204" pitchFamily="66" charset="0"/>
                </a:rPr>
                <a:t>requesting host</a:t>
              </a:r>
              <a:endParaRPr lang="en-US" altLang="zh-CN" sz="2400">
                <a:solidFill>
                  <a:schemeClr val="tx1"/>
                </a:solidFill>
              </a:endParaRPr>
            </a:p>
            <a:p>
              <a:pPr algn="ctr"/>
              <a:r>
                <a:rPr lang="en-US" altLang="zh-CN" sz="1600" b="1">
                  <a:solidFill>
                    <a:schemeClr val="tx1"/>
                  </a:solidFill>
                  <a:latin typeface="Courier New" panose="02070309020205020404" pitchFamily="49" charset="0"/>
                </a:rPr>
                <a:t>surf.eurecom.fr</a:t>
              </a:r>
              <a:endParaRPr lang="en-US" altLang="zh-CN" sz="1600">
                <a:solidFill>
                  <a:schemeClr val="tx1"/>
                </a:solidFill>
              </a:endParaRPr>
            </a:p>
          </p:txBody>
        </p:sp>
        <p:graphicFrame>
          <p:nvGraphicFramePr>
            <p:cNvPr id="80904" name="Object 7"/>
            <p:cNvGraphicFramePr>
              <a:graphicFrameLocks noChangeAspect="1"/>
            </p:cNvGraphicFramePr>
            <p:nvPr/>
          </p:nvGraphicFramePr>
          <p:xfrm>
            <a:off x="4427" y="3751"/>
            <a:ext cx="525" cy="402"/>
          </p:xfrm>
          <a:graphic>
            <a:graphicData uri="http://schemas.openxmlformats.org/presentationml/2006/ole">
              <mc:AlternateContent xmlns:mc="http://schemas.openxmlformats.org/markup-compatibility/2006">
                <mc:Choice xmlns:v="urn:schemas-microsoft-com:vml" Requires="v">
                  <p:oleObj spid="_x0000_s19809" name="Clip" r:id="rId5" imgW="1307263" imgH="1084139" progId="MS_ClipArt_Gallery.2">
                    <p:embed/>
                  </p:oleObj>
                </mc:Choice>
                <mc:Fallback>
                  <p:oleObj name="Clip" r:id="rId5" imgW="1307263" imgH="1084139" progId="MS_ClipArt_Gallery.2">
                    <p:embed/>
                    <p:pic>
                      <p:nvPicPr>
                        <p:cNvPr id="80904"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7" y="3751"/>
                          <a:ext cx="525" cy="4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0905" name="Group 8"/>
            <p:cNvGrpSpPr>
              <a:grpSpLocks/>
            </p:cNvGrpSpPr>
            <p:nvPr/>
          </p:nvGrpSpPr>
          <p:grpSpPr bwMode="auto">
            <a:xfrm>
              <a:off x="3245" y="1940"/>
              <a:ext cx="233" cy="414"/>
              <a:chOff x="4180" y="783"/>
              <a:chExt cx="150" cy="307"/>
            </a:xfrm>
          </p:grpSpPr>
          <p:sp>
            <p:nvSpPr>
              <p:cNvPr id="80957" name="AutoShape 9"/>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58" name="Rectangle 10"/>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59" name="Rectangle 11"/>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60" name="AutoShape 12"/>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61" name="Line 13"/>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62" name="Line 14"/>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63" name="Rectangle 15"/>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64" name="Rectangle 16"/>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80906" name="Text Box 17"/>
            <p:cNvSpPr txBox="1">
              <a:spLocks noChangeArrowheads="1"/>
            </p:cNvSpPr>
            <p:nvPr/>
          </p:nvSpPr>
          <p:spPr bwMode="auto">
            <a:xfrm>
              <a:off x="3576" y="785"/>
              <a:ext cx="126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chemeClr val="tx1"/>
                  </a:solidFill>
                  <a:latin typeface="Comic Sans MS" panose="030F0702030302020204" pitchFamily="66" charset="0"/>
                </a:rPr>
                <a:t>root name server</a:t>
              </a:r>
              <a:endParaRPr lang="en-US" altLang="zh-CN" sz="1600">
                <a:solidFill>
                  <a:schemeClr val="tx1"/>
                </a:solidFill>
              </a:endParaRPr>
            </a:p>
          </p:txBody>
        </p:sp>
        <p:sp>
          <p:nvSpPr>
            <p:cNvPr id="80907" name="Line 18"/>
            <p:cNvSpPr>
              <a:spLocks noChangeShapeType="1"/>
            </p:cNvSpPr>
            <p:nvPr/>
          </p:nvSpPr>
          <p:spPr bwMode="auto">
            <a:xfrm flipH="1" flipV="1">
              <a:off x="3276" y="2373"/>
              <a:ext cx="0" cy="82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08" name="Line 19"/>
            <p:cNvSpPr>
              <a:spLocks noChangeShapeType="1"/>
            </p:cNvSpPr>
            <p:nvPr/>
          </p:nvSpPr>
          <p:spPr bwMode="auto">
            <a:xfrm flipV="1">
              <a:off x="3348" y="1305"/>
              <a:ext cx="576" cy="61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09" name="Line 20"/>
            <p:cNvSpPr>
              <a:spLocks noChangeShapeType="1"/>
            </p:cNvSpPr>
            <p:nvPr/>
          </p:nvSpPr>
          <p:spPr bwMode="auto">
            <a:xfrm>
              <a:off x="4170" y="1419"/>
              <a:ext cx="354" cy="50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10" name="Line 21"/>
            <p:cNvSpPr>
              <a:spLocks noChangeShapeType="1"/>
            </p:cNvSpPr>
            <p:nvPr/>
          </p:nvSpPr>
          <p:spPr bwMode="auto">
            <a:xfrm flipH="1" flipV="1">
              <a:off x="4224" y="1311"/>
              <a:ext cx="408" cy="58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11" name="Line 22"/>
            <p:cNvSpPr>
              <a:spLocks noChangeShapeType="1"/>
            </p:cNvSpPr>
            <p:nvPr/>
          </p:nvSpPr>
          <p:spPr bwMode="auto">
            <a:xfrm flipH="1">
              <a:off x="3468" y="1437"/>
              <a:ext cx="462" cy="48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12" name="Line 23"/>
            <p:cNvSpPr>
              <a:spLocks noChangeShapeType="1"/>
            </p:cNvSpPr>
            <p:nvPr/>
          </p:nvSpPr>
          <p:spPr bwMode="auto">
            <a:xfrm>
              <a:off x="3396" y="2391"/>
              <a:ext cx="6" cy="83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0913" name="Group 24"/>
            <p:cNvGrpSpPr>
              <a:grpSpLocks/>
            </p:cNvGrpSpPr>
            <p:nvPr/>
          </p:nvGrpSpPr>
          <p:grpSpPr bwMode="auto">
            <a:xfrm>
              <a:off x="2537" y="2465"/>
              <a:ext cx="1280" cy="385"/>
              <a:chOff x="2789" y="2132"/>
              <a:chExt cx="1280" cy="385"/>
            </a:xfrm>
          </p:grpSpPr>
          <p:sp>
            <p:nvSpPr>
              <p:cNvPr id="80955" name="Rectangle 25"/>
              <p:cNvSpPr>
                <a:spLocks noChangeArrowheads="1"/>
              </p:cNvSpPr>
              <p:nvPr/>
            </p:nvSpPr>
            <p:spPr bwMode="auto">
              <a:xfrm>
                <a:off x="2838" y="2178"/>
                <a:ext cx="1182" cy="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56" name="Text Box 26"/>
              <p:cNvSpPr txBox="1">
                <a:spLocks noChangeArrowheads="1"/>
              </p:cNvSpPr>
              <p:nvPr/>
            </p:nvSpPr>
            <p:spPr bwMode="auto">
              <a:xfrm>
                <a:off x="2789" y="2132"/>
                <a:ext cx="1280"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chemeClr val="tx1"/>
                    </a:solidFill>
                    <a:latin typeface="Comic Sans MS" panose="030F0702030302020204" pitchFamily="66" charset="0"/>
                  </a:rPr>
                  <a:t>local name server</a:t>
                </a:r>
                <a:endParaRPr lang="en-US" altLang="zh-CN" sz="2400">
                  <a:solidFill>
                    <a:schemeClr val="tx1"/>
                  </a:solidFill>
                </a:endParaRPr>
              </a:p>
              <a:p>
                <a:pPr algn="ctr"/>
                <a:r>
                  <a:rPr lang="en-US" altLang="zh-CN" sz="1600" b="1">
                    <a:solidFill>
                      <a:schemeClr val="tx1"/>
                    </a:solidFill>
                    <a:latin typeface="Courier New" panose="02070309020205020404" pitchFamily="49" charset="0"/>
                  </a:rPr>
                  <a:t>dns.eurecom.fr</a:t>
                </a:r>
                <a:endParaRPr lang="en-US" altLang="zh-CN" sz="1600">
                  <a:solidFill>
                    <a:schemeClr val="tx1"/>
                  </a:solidFill>
                </a:endParaRPr>
              </a:p>
            </p:txBody>
          </p:sp>
        </p:grpSp>
        <p:sp>
          <p:nvSpPr>
            <p:cNvPr id="80914" name="Text Box 27"/>
            <p:cNvSpPr txBox="1">
              <a:spLocks noChangeArrowheads="1"/>
            </p:cNvSpPr>
            <p:nvPr/>
          </p:nvSpPr>
          <p:spPr bwMode="auto">
            <a:xfrm>
              <a:off x="3094" y="291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1</a:t>
              </a:r>
              <a:endParaRPr lang="en-US" altLang="zh-CN" sz="2400">
                <a:solidFill>
                  <a:schemeClr val="tx1"/>
                </a:solidFill>
              </a:endParaRPr>
            </a:p>
          </p:txBody>
        </p:sp>
        <p:sp>
          <p:nvSpPr>
            <p:cNvPr id="80915" name="Text Box 28"/>
            <p:cNvSpPr txBox="1">
              <a:spLocks noChangeArrowheads="1"/>
            </p:cNvSpPr>
            <p:nvPr/>
          </p:nvSpPr>
          <p:spPr bwMode="auto">
            <a:xfrm>
              <a:off x="3436" y="144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2</a:t>
              </a:r>
              <a:endParaRPr lang="en-US" altLang="zh-CN" sz="2400">
                <a:solidFill>
                  <a:schemeClr val="tx1"/>
                </a:solidFill>
              </a:endParaRPr>
            </a:p>
          </p:txBody>
        </p:sp>
        <p:sp>
          <p:nvSpPr>
            <p:cNvPr id="80916" name="Text Box 29"/>
            <p:cNvSpPr txBox="1">
              <a:spLocks noChangeArrowheads="1"/>
            </p:cNvSpPr>
            <p:nvPr/>
          </p:nvSpPr>
          <p:spPr bwMode="auto">
            <a:xfrm>
              <a:off x="4156" y="1598"/>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3</a:t>
              </a:r>
              <a:endParaRPr lang="en-US" altLang="zh-CN" sz="2400">
                <a:solidFill>
                  <a:schemeClr val="tx1"/>
                </a:solidFill>
              </a:endParaRPr>
            </a:p>
          </p:txBody>
        </p:sp>
        <p:sp>
          <p:nvSpPr>
            <p:cNvPr id="80917" name="Text Box 30"/>
            <p:cNvSpPr txBox="1">
              <a:spLocks noChangeArrowheads="1"/>
            </p:cNvSpPr>
            <p:nvPr/>
          </p:nvSpPr>
          <p:spPr bwMode="auto">
            <a:xfrm>
              <a:off x="4324" y="2798"/>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4</a:t>
              </a:r>
              <a:endParaRPr lang="en-US" altLang="zh-CN" sz="2400">
                <a:solidFill>
                  <a:schemeClr val="tx1"/>
                </a:solidFill>
              </a:endParaRPr>
            </a:p>
          </p:txBody>
        </p:sp>
        <p:sp>
          <p:nvSpPr>
            <p:cNvPr id="80918" name="Text Box 31"/>
            <p:cNvSpPr txBox="1">
              <a:spLocks noChangeArrowheads="1"/>
            </p:cNvSpPr>
            <p:nvPr/>
          </p:nvSpPr>
          <p:spPr bwMode="auto">
            <a:xfrm>
              <a:off x="4654" y="278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5</a:t>
              </a:r>
              <a:endParaRPr lang="en-US" altLang="zh-CN" sz="2400">
                <a:solidFill>
                  <a:schemeClr val="tx1"/>
                </a:solidFill>
              </a:endParaRPr>
            </a:p>
          </p:txBody>
        </p:sp>
        <p:sp>
          <p:nvSpPr>
            <p:cNvPr id="80919" name="Text Box 32"/>
            <p:cNvSpPr txBox="1">
              <a:spLocks noChangeArrowheads="1"/>
            </p:cNvSpPr>
            <p:nvPr/>
          </p:nvSpPr>
          <p:spPr bwMode="auto">
            <a:xfrm>
              <a:off x="4408" y="1418"/>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6</a:t>
              </a:r>
              <a:endParaRPr lang="en-US" altLang="zh-CN" sz="2400">
                <a:solidFill>
                  <a:schemeClr val="tx1"/>
                </a:solidFill>
              </a:endParaRPr>
            </a:p>
          </p:txBody>
        </p:sp>
        <p:grpSp>
          <p:nvGrpSpPr>
            <p:cNvPr id="80920" name="Group 33"/>
            <p:cNvGrpSpPr>
              <a:grpSpLocks/>
            </p:cNvGrpSpPr>
            <p:nvPr/>
          </p:nvGrpSpPr>
          <p:grpSpPr bwMode="auto">
            <a:xfrm>
              <a:off x="3947" y="1046"/>
              <a:ext cx="233" cy="414"/>
              <a:chOff x="4180" y="783"/>
              <a:chExt cx="150" cy="307"/>
            </a:xfrm>
          </p:grpSpPr>
          <p:sp>
            <p:nvSpPr>
              <p:cNvPr id="80947" name="AutoShape 34"/>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8" name="Rectangle 35"/>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9" name="Rectangle 36"/>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50" name="AutoShape 37"/>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51" name="Line 38"/>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52" name="Line 39"/>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53" name="Rectangle 40"/>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54" name="Rectangle 41"/>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grpSp>
          <p:nvGrpSpPr>
            <p:cNvPr id="80921" name="Group 42"/>
            <p:cNvGrpSpPr>
              <a:grpSpLocks/>
            </p:cNvGrpSpPr>
            <p:nvPr/>
          </p:nvGrpSpPr>
          <p:grpSpPr bwMode="auto">
            <a:xfrm>
              <a:off x="4469" y="1946"/>
              <a:ext cx="233" cy="414"/>
              <a:chOff x="4180" y="783"/>
              <a:chExt cx="150" cy="307"/>
            </a:xfrm>
          </p:grpSpPr>
          <p:sp>
            <p:nvSpPr>
              <p:cNvPr id="80939" name="AutoShape 43"/>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0" name="Rectangle 44"/>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1" name="Rectangle 45"/>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2" name="AutoShape 46"/>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3" name="Line 47"/>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44" name="Line 48"/>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45" name="Rectangle 49"/>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6" name="Rectangle 50"/>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grpSp>
          <p:nvGrpSpPr>
            <p:cNvPr id="80922" name="Group 51"/>
            <p:cNvGrpSpPr>
              <a:grpSpLocks/>
            </p:cNvGrpSpPr>
            <p:nvPr/>
          </p:nvGrpSpPr>
          <p:grpSpPr bwMode="auto">
            <a:xfrm>
              <a:off x="4457" y="2966"/>
              <a:ext cx="233" cy="414"/>
              <a:chOff x="4180" y="783"/>
              <a:chExt cx="150" cy="307"/>
            </a:xfrm>
          </p:grpSpPr>
          <p:sp>
            <p:nvSpPr>
              <p:cNvPr id="80931" name="AutoShape 52"/>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32" name="Rectangle 53"/>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33" name="Rectangle 54"/>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34" name="AutoShape 55"/>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35" name="Line 56"/>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36" name="Line 57"/>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37" name="Rectangle 58"/>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38" name="Rectangle 59"/>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80923" name="Text Box 60"/>
            <p:cNvSpPr txBox="1">
              <a:spLocks noChangeArrowheads="1"/>
            </p:cNvSpPr>
            <p:nvPr/>
          </p:nvSpPr>
          <p:spPr bwMode="auto">
            <a:xfrm>
              <a:off x="3870" y="3326"/>
              <a:ext cx="1668"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600">
                  <a:solidFill>
                    <a:schemeClr val="tx1"/>
                  </a:solidFill>
                  <a:latin typeface="Comic Sans MS" panose="030F0702030302020204" pitchFamily="66" charset="0"/>
                </a:rPr>
                <a:t>authoritative name server</a:t>
              </a:r>
              <a:endParaRPr lang="en-US" altLang="zh-CN" sz="2400">
                <a:solidFill>
                  <a:schemeClr val="tx1"/>
                </a:solidFill>
              </a:endParaRPr>
            </a:p>
            <a:p>
              <a:pPr algn="ctr"/>
              <a:r>
                <a:rPr lang="en-US" altLang="zh-CN" sz="1600" b="1">
                  <a:solidFill>
                    <a:schemeClr val="tx1"/>
                  </a:solidFill>
                  <a:latin typeface="Courier New" panose="02070309020205020404" pitchFamily="49" charset="0"/>
                </a:rPr>
                <a:t>dns.cs.umass.edu</a:t>
              </a:r>
              <a:endParaRPr lang="en-US" altLang="zh-CN" sz="1600">
                <a:solidFill>
                  <a:schemeClr val="tx1"/>
                </a:solidFill>
              </a:endParaRPr>
            </a:p>
          </p:txBody>
        </p:sp>
        <p:sp>
          <p:nvSpPr>
            <p:cNvPr id="80924" name="Line 61"/>
            <p:cNvSpPr>
              <a:spLocks noChangeShapeType="1"/>
            </p:cNvSpPr>
            <p:nvPr/>
          </p:nvSpPr>
          <p:spPr bwMode="auto">
            <a:xfrm>
              <a:off x="4524" y="2391"/>
              <a:ext cx="6" cy="58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25" name="Line 62"/>
            <p:cNvSpPr>
              <a:spLocks noChangeShapeType="1"/>
            </p:cNvSpPr>
            <p:nvPr/>
          </p:nvSpPr>
          <p:spPr bwMode="auto">
            <a:xfrm flipH="1" flipV="1">
              <a:off x="4644" y="2397"/>
              <a:ext cx="0" cy="54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0926" name="Group 63"/>
            <p:cNvGrpSpPr>
              <a:grpSpLocks/>
            </p:cNvGrpSpPr>
            <p:nvPr/>
          </p:nvGrpSpPr>
          <p:grpSpPr bwMode="auto">
            <a:xfrm>
              <a:off x="3905" y="2480"/>
              <a:ext cx="1653" cy="366"/>
              <a:chOff x="4115" y="2147"/>
              <a:chExt cx="1653" cy="366"/>
            </a:xfrm>
          </p:grpSpPr>
          <p:sp>
            <p:nvSpPr>
              <p:cNvPr id="80929" name="Rectangle 64"/>
              <p:cNvSpPr>
                <a:spLocks noChangeArrowheads="1"/>
              </p:cNvSpPr>
              <p:nvPr/>
            </p:nvSpPr>
            <p:spPr bwMode="auto">
              <a:xfrm>
                <a:off x="4170" y="2196"/>
                <a:ext cx="1512" cy="2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30" name="Text Box 65"/>
              <p:cNvSpPr txBox="1">
                <a:spLocks noChangeArrowheads="1"/>
              </p:cNvSpPr>
              <p:nvPr/>
            </p:nvSpPr>
            <p:spPr bwMode="auto">
              <a:xfrm>
                <a:off x="4115" y="2147"/>
                <a:ext cx="1653"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600">
                    <a:solidFill>
                      <a:schemeClr val="tx1"/>
                    </a:solidFill>
                    <a:latin typeface="Comic Sans MS" panose="030F0702030302020204" pitchFamily="66" charset="0"/>
                  </a:rPr>
                  <a:t>intermediate name server</a:t>
                </a:r>
                <a:endParaRPr lang="en-US" altLang="zh-CN" sz="2400">
                  <a:solidFill>
                    <a:schemeClr val="tx1"/>
                  </a:solidFill>
                </a:endParaRPr>
              </a:p>
              <a:p>
                <a:pPr algn="ctr"/>
                <a:r>
                  <a:rPr lang="en-US" altLang="zh-CN" sz="1600" b="1">
                    <a:solidFill>
                      <a:schemeClr val="tx1"/>
                    </a:solidFill>
                    <a:latin typeface="Courier New" panose="02070309020205020404" pitchFamily="49" charset="0"/>
                  </a:rPr>
                  <a:t>dns.umass.edu</a:t>
                </a:r>
                <a:endParaRPr lang="en-US" altLang="zh-CN" sz="1600">
                  <a:solidFill>
                    <a:schemeClr val="tx1"/>
                  </a:solidFill>
                </a:endParaRPr>
              </a:p>
            </p:txBody>
          </p:sp>
        </p:grpSp>
        <p:sp>
          <p:nvSpPr>
            <p:cNvPr id="80927" name="Text Box 66"/>
            <p:cNvSpPr txBox="1">
              <a:spLocks noChangeArrowheads="1"/>
            </p:cNvSpPr>
            <p:nvPr/>
          </p:nvSpPr>
          <p:spPr bwMode="auto">
            <a:xfrm>
              <a:off x="3706" y="162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7</a:t>
              </a:r>
              <a:endParaRPr lang="en-US" altLang="zh-CN" sz="2400">
                <a:solidFill>
                  <a:schemeClr val="tx1"/>
                </a:solidFill>
              </a:endParaRPr>
            </a:p>
          </p:txBody>
        </p:sp>
        <p:sp>
          <p:nvSpPr>
            <p:cNvPr id="80928" name="Text Box 67"/>
            <p:cNvSpPr txBox="1">
              <a:spLocks noChangeArrowheads="1"/>
            </p:cNvSpPr>
            <p:nvPr/>
          </p:nvSpPr>
          <p:spPr bwMode="auto">
            <a:xfrm>
              <a:off x="3442" y="292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8</a:t>
              </a:r>
              <a:endParaRPr lang="en-US" altLang="zh-CN" sz="2400">
                <a:solidFill>
                  <a:schemeClr val="tx1"/>
                </a:solidFill>
              </a:endParaRPr>
            </a:p>
          </p:txBody>
        </p:sp>
      </p:gr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bwMode="auto">
          <a:xfrm>
            <a:off x="2463800" y="325211"/>
            <a:ext cx="7772400" cy="527279"/>
          </a:xfrm>
          <a:solidFill>
            <a:srgbClr val="FFFFFF"/>
          </a:solidFill>
          <a:ln>
            <a:solidFill>
              <a:srgbClr val="000000"/>
            </a:solidFill>
            <a:miter lim="800000"/>
            <a:headEnd/>
            <a:tailEnd/>
          </a:ln>
        </p:spPr>
        <p:txBody>
          <a:bodyPr vert="horz" wrap="square" lIns="91440" tIns="45720" rIns="91440" bIns="45720" numCol="1" rtlCol="0" anchor="t" anchorCtr="0" compatLnSpc="1">
            <a:prstTxWarp prst="textNoShape">
              <a:avLst/>
            </a:prstTxWarp>
            <a:normAutofit fontScale="90000"/>
          </a:bodyPr>
          <a:lstStyle/>
          <a:p>
            <a:pPr algn="ctr" eaLnBrk="1" hangingPunct="1"/>
            <a:r>
              <a:rPr lang="en-US" altLang="zh-CN" sz="3600">
                <a:solidFill>
                  <a:schemeClr val="hlink"/>
                </a:solidFill>
                <a:ea typeface="华文行楷" panose="02010800040101010101" pitchFamily="2" charset="-122"/>
              </a:rPr>
              <a:t>DNS: </a:t>
            </a:r>
            <a:r>
              <a:rPr lang="zh-CN" altLang="en-US" sz="3600">
                <a:solidFill>
                  <a:schemeClr val="hlink"/>
                </a:solidFill>
                <a:ea typeface="华文行楷" panose="02010800040101010101" pitchFamily="2" charset="-122"/>
              </a:rPr>
              <a:t>迭代查询</a:t>
            </a:r>
          </a:p>
        </p:txBody>
      </p:sp>
      <p:sp>
        <p:nvSpPr>
          <p:cNvPr id="163843" name="Rectangle 3"/>
          <p:cNvSpPr>
            <a:spLocks noGrp="1" noChangeArrowheads="1"/>
          </p:cNvSpPr>
          <p:nvPr>
            <p:ph type="body" sz="half" idx="1"/>
          </p:nvPr>
        </p:nvSpPr>
        <p:spPr bwMode="auto">
          <a:xfrm>
            <a:off x="742950" y="1438276"/>
            <a:ext cx="4562475" cy="4733925"/>
          </a:xfrm>
          <a:solidFill>
            <a:srgbClr val="FFFFFF"/>
          </a:solidFill>
          <a:ln>
            <a:solidFill>
              <a:srgbClr val="000000"/>
            </a:solidFill>
            <a:miter lim="800000"/>
            <a:headEnd/>
            <a:tailEnd/>
          </a:ln>
        </p:spPr>
        <p:txBody>
          <a:bodyPr vert="horz" wrap="square" lIns="91440" tIns="45720" rIns="91440" bIns="45720" numCol="1" rtlCol="0" anchor="t" anchorCtr="0" compatLnSpc="1">
            <a:prstTxWarp prst="textNoShape">
              <a:avLst/>
            </a:prstTxWarp>
            <a:normAutofit/>
          </a:bodyPr>
          <a:lstStyle/>
          <a:p>
            <a:pPr eaLnBrk="1" hangingPunct="1">
              <a:lnSpc>
                <a:spcPct val="90000"/>
              </a:lnSpc>
              <a:spcBef>
                <a:spcPct val="0"/>
              </a:spcBef>
              <a:buFont typeface="Wingdings" panose="05000000000000000000" pitchFamily="2" charset="2"/>
              <a:buNone/>
            </a:pPr>
            <a:r>
              <a:rPr lang="zh-CN" altLang="en-US" u="sng">
                <a:solidFill>
                  <a:srgbClr val="FF0000"/>
                </a:solidFill>
              </a:rPr>
              <a:t>递归查询</a:t>
            </a:r>
            <a:r>
              <a:rPr lang="en-US" altLang="zh-CN" u="sng">
                <a:solidFill>
                  <a:srgbClr val="FF0000"/>
                </a:solidFill>
              </a:rPr>
              <a:t>:</a:t>
            </a:r>
            <a:endParaRPr lang="en-US" altLang="zh-CN" sz="2400"/>
          </a:p>
          <a:p>
            <a:pPr eaLnBrk="1" hangingPunct="1">
              <a:lnSpc>
                <a:spcPct val="90000"/>
              </a:lnSpc>
              <a:spcBef>
                <a:spcPct val="0"/>
              </a:spcBef>
            </a:pPr>
            <a:r>
              <a:rPr lang="zh-CN" altLang="en-US" sz="2400"/>
              <a:t>将域名解析的负担分担到相关的域名服务器上</a:t>
            </a:r>
          </a:p>
          <a:p>
            <a:pPr eaLnBrk="1" hangingPunct="1">
              <a:lnSpc>
                <a:spcPct val="90000"/>
              </a:lnSpc>
              <a:spcBef>
                <a:spcPct val="0"/>
              </a:spcBef>
            </a:pPr>
            <a:r>
              <a:rPr lang="zh-CN" altLang="en-US" sz="2400"/>
              <a:t>负担较重</a:t>
            </a:r>
            <a:r>
              <a:rPr lang="en-US" altLang="zh-CN" sz="2400"/>
              <a:t>?</a:t>
            </a:r>
          </a:p>
          <a:p>
            <a:pPr eaLnBrk="1" hangingPunct="1">
              <a:lnSpc>
                <a:spcPct val="90000"/>
              </a:lnSpc>
              <a:spcBef>
                <a:spcPct val="0"/>
              </a:spcBef>
              <a:buFont typeface="Wingdings" panose="05000000000000000000" pitchFamily="2" charset="2"/>
              <a:buNone/>
            </a:pPr>
            <a:r>
              <a:rPr lang="zh-CN" altLang="en-US" u="sng">
                <a:solidFill>
                  <a:srgbClr val="FF0000"/>
                </a:solidFill>
              </a:rPr>
              <a:t>迭代查询</a:t>
            </a:r>
            <a:r>
              <a:rPr lang="en-US" altLang="zh-CN" u="sng">
                <a:solidFill>
                  <a:srgbClr val="FF0000"/>
                </a:solidFill>
              </a:rPr>
              <a:t>:</a:t>
            </a:r>
            <a:endParaRPr lang="en-US" altLang="zh-CN" sz="2400">
              <a:solidFill>
                <a:srgbClr val="FF0000"/>
              </a:solidFill>
            </a:endParaRPr>
          </a:p>
          <a:p>
            <a:pPr eaLnBrk="1" hangingPunct="1">
              <a:lnSpc>
                <a:spcPct val="90000"/>
              </a:lnSpc>
              <a:spcBef>
                <a:spcPct val="0"/>
              </a:spcBef>
            </a:pPr>
            <a:r>
              <a:rPr lang="zh-CN" altLang="en-US" sz="2400"/>
              <a:t>相关连的服务器以带有服务器名字的回复来进行关联</a:t>
            </a:r>
          </a:p>
          <a:p>
            <a:pPr eaLnBrk="1" hangingPunct="1">
              <a:lnSpc>
                <a:spcPct val="90000"/>
              </a:lnSpc>
              <a:spcBef>
                <a:spcPct val="0"/>
              </a:spcBef>
            </a:pPr>
            <a:r>
              <a:rPr lang="zh-CN" altLang="en-US" sz="2400">
                <a:latin typeface="Comic Sans MS" panose="030F0702030302020204" pitchFamily="66" charset="0"/>
              </a:rPr>
              <a:t>“</a:t>
            </a:r>
            <a:r>
              <a:rPr lang="en-US" altLang="zh-CN" sz="2400"/>
              <a:t>I don</a:t>
            </a:r>
            <a:r>
              <a:rPr lang="en-US" altLang="zh-CN" sz="2400">
                <a:latin typeface="Comic Sans MS" panose="030F0702030302020204" pitchFamily="66" charset="0"/>
              </a:rPr>
              <a:t>’</a:t>
            </a:r>
            <a:r>
              <a:rPr lang="en-US" altLang="zh-CN" sz="2400"/>
              <a:t>t know this name, but ask this server</a:t>
            </a:r>
            <a:r>
              <a:rPr lang="en-US" altLang="zh-CN" sz="2400">
                <a:latin typeface="Comic Sans MS" panose="030F0702030302020204" pitchFamily="66" charset="0"/>
              </a:rPr>
              <a:t>”</a:t>
            </a:r>
            <a:endParaRPr lang="en-US" altLang="zh-CN" sz="2400"/>
          </a:p>
          <a:p>
            <a:pPr eaLnBrk="1" hangingPunct="1">
              <a:lnSpc>
                <a:spcPct val="90000"/>
              </a:lnSpc>
              <a:spcBef>
                <a:spcPct val="0"/>
              </a:spcBef>
            </a:pPr>
            <a:r>
              <a:rPr lang="zh-CN" altLang="en-US" sz="2400"/>
              <a:t>降低了根服务器的负担</a:t>
            </a:r>
          </a:p>
          <a:p>
            <a:pPr eaLnBrk="1" hangingPunct="1">
              <a:lnSpc>
                <a:spcPct val="90000"/>
              </a:lnSpc>
            </a:pPr>
            <a:endParaRPr lang="en-US" altLang="zh-CN" sz="2400"/>
          </a:p>
        </p:txBody>
      </p:sp>
      <p:graphicFrame>
        <p:nvGraphicFramePr>
          <p:cNvPr id="163844" name="Object 4"/>
          <p:cNvGraphicFramePr>
            <a:graphicFrameLocks noChangeAspect="1"/>
          </p:cNvGraphicFramePr>
          <p:nvPr/>
        </p:nvGraphicFramePr>
        <p:xfrm>
          <a:off x="6342064" y="5006976"/>
          <a:ext cx="833437" cy="638175"/>
        </p:xfrm>
        <a:graphic>
          <a:graphicData uri="http://schemas.openxmlformats.org/presentationml/2006/ole">
            <mc:AlternateContent xmlns:mc="http://schemas.openxmlformats.org/markup-compatibility/2006">
              <mc:Choice xmlns:v="urn:schemas-microsoft-com:vml" Requires="v">
                <p:oleObj spid="_x0000_s24888" name="Clip" r:id="rId3" imgW="1307263" imgH="1084139" progId="MS_ClipArt_Gallery.2">
                  <p:embed/>
                </p:oleObj>
              </mc:Choice>
              <mc:Fallback>
                <p:oleObj name="Clip" r:id="rId3" imgW="1307263" imgH="1084139" progId="MS_ClipArt_Gallery.2">
                  <p:embed/>
                  <p:pic>
                    <p:nvPicPr>
                      <p:cNvPr id="16384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2064" y="5006976"/>
                        <a:ext cx="833437" cy="63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45" name="Text Box 5"/>
          <p:cNvSpPr txBox="1">
            <a:spLocks noChangeArrowheads="1"/>
          </p:cNvSpPr>
          <p:nvPr/>
        </p:nvSpPr>
        <p:spPr bwMode="auto">
          <a:xfrm>
            <a:off x="5424488" y="5584825"/>
            <a:ext cx="2017712" cy="611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chemeClr val="tx1"/>
                </a:solidFill>
                <a:latin typeface="Comic Sans MS" panose="030F0702030302020204" pitchFamily="66" charset="0"/>
              </a:rPr>
              <a:t>requesting host</a:t>
            </a:r>
            <a:endParaRPr lang="en-US" altLang="zh-CN" sz="2400">
              <a:solidFill>
                <a:schemeClr val="tx1"/>
              </a:solidFill>
            </a:endParaRPr>
          </a:p>
          <a:p>
            <a:r>
              <a:rPr lang="en-US" altLang="zh-CN" sz="1600" b="1">
                <a:solidFill>
                  <a:schemeClr val="tx1"/>
                </a:solidFill>
                <a:latin typeface="Courier New" panose="02070309020205020404" pitchFamily="49" charset="0"/>
              </a:rPr>
              <a:t>surf.eurecom.fr</a:t>
            </a:r>
            <a:endParaRPr lang="en-US" altLang="zh-CN" sz="1600">
              <a:solidFill>
                <a:schemeClr val="tx1"/>
              </a:solidFill>
            </a:endParaRPr>
          </a:p>
        </p:txBody>
      </p:sp>
      <p:sp>
        <p:nvSpPr>
          <p:cNvPr id="163846" name="Text Box 6"/>
          <p:cNvSpPr txBox="1">
            <a:spLocks noChangeArrowheads="1"/>
          </p:cNvSpPr>
          <p:nvPr/>
        </p:nvSpPr>
        <p:spPr bwMode="auto">
          <a:xfrm>
            <a:off x="7835900" y="6373813"/>
            <a:ext cx="2262188"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600" b="1">
                <a:solidFill>
                  <a:schemeClr val="tx1"/>
                </a:solidFill>
                <a:latin typeface="Courier New" panose="02070309020205020404" pitchFamily="49" charset="0"/>
              </a:rPr>
              <a:t>gaia.cs.umass.edu</a:t>
            </a:r>
            <a:endParaRPr lang="en-US" altLang="zh-CN" sz="1600">
              <a:solidFill>
                <a:schemeClr val="tx1"/>
              </a:solidFill>
            </a:endParaRPr>
          </a:p>
        </p:txBody>
      </p:sp>
      <p:graphicFrame>
        <p:nvGraphicFramePr>
          <p:cNvPr id="163847" name="Object 7"/>
          <p:cNvGraphicFramePr>
            <a:graphicFrameLocks noChangeAspect="1"/>
          </p:cNvGraphicFramePr>
          <p:nvPr/>
        </p:nvGraphicFramePr>
        <p:xfrm>
          <a:off x="8466139" y="5807076"/>
          <a:ext cx="833437" cy="638175"/>
        </p:xfrm>
        <a:graphic>
          <a:graphicData uri="http://schemas.openxmlformats.org/presentationml/2006/ole">
            <mc:AlternateContent xmlns:mc="http://schemas.openxmlformats.org/markup-compatibility/2006">
              <mc:Choice xmlns:v="urn:schemas-microsoft-com:vml" Requires="v">
                <p:oleObj spid="_x0000_s24889" name="Clip" r:id="rId5" imgW="1307263" imgH="1084139" progId="MS_ClipArt_Gallery.2">
                  <p:embed/>
                </p:oleObj>
              </mc:Choice>
              <mc:Fallback>
                <p:oleObj name="Clip" r:id="rId5" imgW="1307263" imgH="1084139" progId="MS_ClipArt_Gallery.2">
                  <p:embed/>
                  <p:pic>
                    <p:nvPicPr>
                      <p:cNvPr id="163847"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66139" y="5807076"/>
                        <a:ext cx="833437" cy="63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63848" name="Group 8"/>
          <p:cNvGrpSpPr>
            <a:grpSpLocks/>
          </p:cNvGrpSpPr>
          <p:nvPr/>
        </p:nvGrpSpPr>
        <p:grpSpPr bwMode="auto">
          <a:xfrm>
            <a:off x="6589714" y="2932114"/>
            <a:ext cx="369887" cy="657225"/>
            <a:chOff x="4180" y="783"/>
            <a:chExt cx="150" cy="307"/>
          </a:xfrm>
        </p:grpSpPr>
        <p:sp>
          <p:nvSpPr>
            <p:cNvPr id="163902" name="AutoShape 9"/>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63903" name="Rectangle 10"/>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63904" name="Rectangle 11"/>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63905" name="AutoShape 12"/>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63906" name="Line 13"/>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07" name="Line 14"/>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08" name="Rectangle 15"/>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63909" name="Rectangle 16"/>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163850" name="Line 18"/>
          <p:cNvSpPr>
            <a:spLocks noChangeShapeType="1"/>
          </p:cNvSpPr>
          <p:nvPr/>
        </p:nvSpPr>
        <p:spPr bwMode="auto">
          <a:xfrm flipH="1" flipV="1">
            <a:off x="6638925" y="3619500"/>
            <a:ext cx="0" cy="131445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852" name="Line 20"/>
          <p:cNvSpPr>
            <a:spLocks noChangeShapeType="1"/>
          </p:cNvSpPr>
          <p:nvPr/>
        </p:nvSpPr>
        <p:spPr bwMode="auto">
          <a:xfrm flipV="1">
            <a:off x="7038975" y="3086101"/>
            <a:ext cx="1485900" cy="9525"/>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853" name="Line 21"/>
          <p:cNvSpPr>
            <a:spLocks noChangeShapeType="1"/>
          </p:cNvSpPr>
          <p:nvPr/>
        </p:nvSpPr>
        <p:spPr bwMode="auto">
          <a:xfrm flipH="1" flipV="1">
            <a:off x="7038976" y="3257550"/>
            <a:ext cx="1419225"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855" name="Line 23"/>
          <p:cNvSpPr>
            <a:spLocks noChangeShapeType="1"/>
          </p:cNvSpPr>
          <p:nvPr/>
        </p:nvSpPr>
        <p:spPr bwMode="auto">
          <a:xfrm>
            <a:off x="6829426" y="3648076"/>
            <a:ext cx="9525" cy="1323975"/>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3856" name="Group 24"/>
          <p:cNvGrpSpPr>
            <a:grpSpLocks/>
          </p:cNvGrpSpPr>
          <p:nvPr/>
        </p:nvGrpSpPr>
        <p:grpSpPr bwMode="auto">
          <a:xfrm>
            <a:off x="5465763" y="3765550"/>
            <a:ext cx="2032000" cy="611188"/>
            <a:chOff x="2789" y="2132"/>
            <a:chExt cx="1280" cy="385"/>
          </a:xfrm>
        </p:grpSpPr>
        <p:sp>
          <p:nvSpPr>
            <p:cNvPr id="163900" name="Rectangle 25"/>
            <p:cNvSpPr>
              <a:spLocks noChangeArrowheads="1"/>
            </p:cNvSpPr>
            <p:nvPr/>
          </p:nvSpPr>
          <p:spPr bwMode="auto">
            <a:xfrm>
              <a:off x="2838" y="2178"/>
              <a:ext cx="1182" cy="3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63901" name="Text Box 26"/>
            <p:cNvSpPr txBox="1">
              <a:spLocks noChangeArrowheads="1"/>
            </p:cNvSpPr>
            <p:nvPr/>
          </p:nvSpPr>
          <p:spPr bwMode="auto">
            <a:xfrm>
              <a:off x="2789" y="2132"/>
              <a:ext cx="1280" cy="3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chemeClr val="tx1"/>
                  </a:solidFill>
                  <a:latin typeface="Comic Sans MS" panose="030F0702030302020204" pitchFamily="66" charset="0"/>
                </a:rPr>
                <a:t>local name server</a:t>
              </a:r>
              <a:endParaRPr lang="en-US" altLang="zh-CN" sz="2400">
                <a:solidFill>
                  <a:schemeClr val="tx1"/>
                </a:solidFill>
              </a:endParaRPr>
            </a:p>
            <a:p>
              <a:r>
                <a:rPr lang="en-US" altLang="zh-CN" sz="1600" b="1">
                  <a:solidFill>
                    <a:schemeClr val="tx1"/>
                  </a:solidFill>
                  <a:latin typeface="Courier New" panose="02070309020205020404" pitchFamily="49" charset="0"/>
                </a:rPr>
                <a:t>dns.eurecom.fr</a:t>
              </a:r>
              <a:endParaRPr lang="en-US" altLang="zh-CN" sz="1600">
                <a:solidFill>
                  <a:schemeClr val="tx1"/>
                </a:solidFill>
              </a:endParaRPr>
            </a:p>
          </p:txBody>
        </p:sp>
      </p:grpSp>
      <p:sp>
        <p:nvSpPr>
          <p:cNvPr id="163857" name="Text Box 27"/>
          <p:cNvSpPr txBox="1">
            <a:spLocks noChangeArrowheads="1"/>
          </p:cNvSpPr>
          <p:nvPr/>
        </p:nvSpPr>
        <p:spPr bwMode="auto">
          <a:xfrm>
            <a:off x="6350000" y="4475163"/>
            <a:ext cx="3111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FF0000"/>
                </a:solidFill>
                <a:latin typeface="Arial" panose="020B0604020202020204" pitchFamily="34" charset="0"/>
              </a:rPr>
              <a:t>1</a:t>
            </a:r>
            <a:endParaRPr lang="en-US" altLang="zh-CN" sz="2400">
              <a:solidFill>
                <a:schemeClr val="tx1"/>
              </a:solidFill>
            </a:endParaRPr>
          </a:p>
        </p:txBody>
      </p:sp>
      <p:sp>
        <p:nvSpPr>
          <p:cNvPr id="163860" name="Text Box 30"/>
          <p:cNvSpPr txBox="1">
            <a:spLocks noChangeArrowheads="1"/>
          </p:cNvSpPr>
          <p:nvPr/>
        </p:nvSpPr>
        <p:spPr bwMode="auto">
          <a:xfrm>
            <a:off x="7644521" y="2789238"/>
            <a:ext cx="312907"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smtClean="0">
                <a:solidFill>
                  <a:srgbClr val="FF0000"/>
                </a:solidFill>
                <a:latin typeface="Arial" panose="020B0604020202020204" pitchFamily="34" charset="0"/>
              </a:rPr>
              <a:t>2</a:t>
            </a:r>
            <a:endParaRPr lang="en-US" altLang="zh-CN" sz="2400">
              <a:solidFill>
                <a:schemeClr val="tx1"/>
              </a:solidFill>
            </a:endParaRPr>
          </a:p>
        </p:txBody>
      </p:sp>
      <p:sp>
        <p:nvSpPr>
          <p:cNvPr id="163861" name="Text Box 31"/>
          <p:cNvSpPr txBox="1">
            <a:spLocks noChangeArrowheads="1"/>
          </p:cNvSpPr>
          <p:nvPr/>
        </p:nvSpPr>
        <p:spPr bwMode="auto">
          <a:xfrm>
            <a:off x="8216900" y="4294188"/>
            <a:ext cx="3111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smtClean="0">
                <a:solidFill>
                  <a:srgbClr val="FF0000"/>
                </a:solidFill>
                <a:latin typeface="Arial" panose="020B0604020202020204" pitchFamily="34" charset="0"/>
              </a:rPr>
              <a:t>3</a:t>
            </a:r>
            <a:endParaRPr lang="en-US" altLang="zh-CN" sz="2400">
              <a:solidFill>
                <a:schemeClr val="tx1"/>
              </a:solidFill>
            </a:endParaRPr>
          </a:p>
        </p:txBody>
      </p:sp>
      <p:sp>
        <p:nvSpPr>
          <p:cNvPr id="163862" name="Text Box 32"/>
          <p:cNvSpPr txBox="1">
            <a:spLocks noChangeArrowheads="1"/>
          </p:cNvSpPr>
          <p:nvPr/>
        </p:nvSpPr>
        <p:spPr bwMode="auto">
          <a:xfrm>
            <a:off x="8864600" y="4303713"/>
            <a:ext cx="3111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smtClean="0">
                <a:solidFill>
                  <a:srgbClr val="FF0000"/>
                </a:solidFill>
                <a:latin typeface="Arial" panose="020B0604020202020204" pitchFamily="34" charset="0"/>
              </a:rPr>
              <a:t>4</a:t>
            </a:r>
            <a:endParaRPr lang="en-US" altLang="zh-CN" sz="2400">
              <a:solidFill>
                <a:schemeClr val="tx1"/>
              </a:solidFill>
            </a:endParaRPr>
          </a:p>
        </p:txBody>
      </p:sp>
      <p:grpSp>
        <p:nvGrpSpPr>
          <p:cNvPr id="163864" name="Group 42"/>
          <p:cNvGrpSpPr>
            <a:grpSpLocks/>
          </p:cNvGrpSpPr>
          <p:nvPr/>
        </p:nvGrpSpPr>
        <p:grpSpPr bwMode="auto">
          <a:xfrm>
            <a:off x="8532814" y="2941639"/>
            <a:ext cx="369887" cy="657225"/>
            <a:chOff x="4180" y="783"/>
            <a:chExt cx="150" cy="307"/>
          </a:xfrm>
        </p:grpSpPr>
        <p:sp>
          <p:nvSpPr>
            <p:cNvPr id="163884" name="AutoShape 43"/>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63885" name="Rectangle 44"/>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63886" name="Rectangle 45"/>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63887" name="AutoShape 46"/>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63888" name="Line 47"/>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889" name="Line 48"/>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890" name="Rectangle 49"/>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63891" name="Rectangle 50"/>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grpSp>
        <p:nvGrpSpPr>
          <p:cNvPr id="163865" name="Group 51"/>
          <p:cNvGrpSpPr>
            <a:grpSpLocks/>
          </p:cNvGrpSpPr>
          <p:nvPr/>
        </p:nvGrpSpPr>
        <p:grpSpPr bwMode="auto">
          <a:xfrm>
            <a:off x="8513764" y="4560889"/>
            <a:ext cx="369887" cy="657225"/>
            <a:chOff x="4180" y="783"/>
            <a:chExt cx="150" cy="307"/>
          </a:xfrm>
        </p:grpSpPr>
        <p:sp>
          <p:nvSpPr>
            <p:cNvPr id="163876" name="AutoShape 52"/>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63877" name="Rectangle 53"/>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63878" name="Rectangle 54"/>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63879" name="AutoShape 55"/>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63880" name="Line 56"/>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881" name="Line 57"/>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882" name="Rectangle 58"/>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63883" name="Rectangle 59"/>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163866" name="Text Box 60"/>
          <p:cNvSpPr txBox="1">
            <a:spLocks noChangeArrowheads="1"/>
          </p:cNvSpPr>
          <p:nvPr/>
        </p:nvSpPr>
        <p:spPr bwMode="auto">
          <a:xfrm>
            <a:off x="7581900" y="5132389"/>
            <a:ext cx="264795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600">
                <a:solidFill>
                  <a:schemeClr val="tx1"/>
                </a:solidFill>
                <a:latin typeface="Comic Sans MS" panose="030F0702030302020204" pitchFamily="66" charset="0"/>
              </a:rPr>
              <a:t>authoritative name server</a:t>
            </a:r>
            <a:endParaRPr lang="en-US" altLang="zh-CN" sz="2400">
              <a:solidFill>
                <a:schemeClr val="tx1"/>
              </a:solidFill>
            </a:endParaRPr>
          </a:p>
          <a:p>
            <a:r>
              <a:rPr lang="en-US" altLang="zh-CN" sz="1600" b="1">
                <a:solidFill>
                  <a:schemeClr val="tx1"/>
                </a:solidFill>
                <a:latin typeface="Courier New" panose="02070309020205020404" pitchFamily="49" charset="0"/>
              </a:rPr>
              <a:t>dns.cs.umass.edu</a:t>
            </a:r>
            <a:endParaRPr lang="en-US" altLang="zh-CN" sz="1600">
              <a:solidFill>
                <a:schemeClr val="tx1"/>
              </a:solidFill>
            </a:endParaRPr>
          </a:p>
        </p:txBody>
      </p:sp>
      <p:sp>
        <p:nvSpPr>
          <p:cNvPr id="163867" name="Line 61"/>
          <p:cNvSpPr>
            <a:spLocks noChangeShapeType="1"/>
          </p:cNvSpPr>
          <p:nvPr/>
        </p:nvSpPr>
        <p:spPr bwMode="auto">
          <a:xfrm>
            <a:off x="8620126" y="3648076"/>
            <a:ext cx="9525" cy="923925"/>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868" name="Line 62"/>
          <p:cNvSpPr>
            <a:spLocks noChangeShapeType="1"/>
          </p:cNvSpPr>
          <p:nvPr/>
        </p:nvSpPr>
        <p:spPr bwMode="auto">
          <a:xfrm flipH="1" flipV="1">
            <a:off x="8810625" y="3657601"/>
            <a:ext cx="0" cy="866775"/>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3869" name="Group 63"/>
          <p:cNvGrpSpPr>
            <a:grpSpLocks/>
          </p:cNvGrpSpPr>
          <p:nvPr/>
        </p:nvGrpSpPr>
        <p:grpSpPr bwMode="auto">
          <a:xfrm>
            <a:off x="7637464" y="3789364"/>
            <a:ext cx="2624137" cy="581025"/>
            <a:chOff x="4115" y="2147"/>
            <a:chExt cx="1653" cy="366"/>
          </a:xfrm>
        </p:grpSpPr>
        <p:sp>
          <p:nvSpPr>
            <p:cNvPr id="163874" name="Rectangle 64"/>
            <p:cNvSpPr>
              <a:spLocks noChangeArrowheads="1"/>
            </p:cNvSpPr>
            <p:nvPr/>
          </p:nvSpPr>
          <p:spPr bwMode="auto">
            <a:xfrm>
              <a:off x="4170" y="2196"/>
              <a:ext cx="1512" cy="27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63875" name="Text Box 65"/>
            <p:cNvSpPr txBox="1">
              <a:spLocks noChangeArrowheads="1"/>
            </p:cNvSpPr>
            <p:nvPr/>
          </p:nvSpPr>
          <p:spPr bwMode="auto">
            <a:xfrm>
              <a:off x="4115" y="2147"/>
              <a:ext cx="1653"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600">
                  <a:solidFill>
                    <a:schemeClr val="tx1"/>
                  </a:solidFill>
                  <a:latin typeface="Comic Sans MS" panose="030F0702030302020204" pitchFamily="66" charset="0"/>
                </a:rPr>
                <a:t>intermediate name server</a:t>
              </a:r>
              <a:endParaRPr lang="en-US" altLang="zh-CN" sz="2400">
                <a:solidFill>
                  <a:schemeClr val="tx1"/>
                </a:solidFill>
              </a:endParaRPr>
            </a:p>
            <a:p>
              <a:r>
                <a:rPr lang="en-US" altLang="zh-CN" sz="1600" b="1">
                  <a:solidFill>
                    <a:schemeClr val="tx1"/>
                  </a:solidFill>
                  <a:latin typeface="Courier New" panose="02070309020205020404" pitchFamily="49" charset="0"/>
                </a:rPr>
                <a:t>dns.umass.edu</a:t>
              </a:r>
              <a:endParaRPr lang="en-US" altLang="zh-CN" sz="1600">
                <a:solidFill>
                  <a:schemeClr val="tx1"/>
                </a:solidFill>
              </a:endParaRPr>
            </a:p>
          </p:txBody>
        </p:sp>
      </p:grpSp>
      <p:sp>
        <p:nvSpPr>
          <p:cNvPr id="163870" name="Text Box 66"/>
          <p:cNvSpPr txBox="1">
            <a:spLocks noChangeArrowheads="1"/>
          </p:cNvSpPr>
          <p:nvPr/>
        </p:nvSpPr>
        <p:spPr bwMode="auto">
          <a:xfrm>
            <a:off x="7682621" y="3303588"/>
            <a:ext cx="312907"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FF0000"/>
                </a:solidFill>
                <a:latin typeface="Arial" panose="020B0604020202020204" pitchFamily="34" charset="0"/>
              </a:rPr>
              <a:t>5</a:t>
            </a:r>
            <a:endParaRPr lang="en-US" altLang="zh-CN" sz="2400">
              <a:solidFill>
                <a:schemeClr val="tx1"/>
              </a:solidFill>
            </a:endParaRPr>
          </a:p>
        </p:txBody>
      </p:sp>
      <p:sp>
        <p:nvSpPr>
          <p:cNvPr id="163871" name="Text Box 67"/>
          <p:cNvSpPr txBox="1">
            <a:spLocks noChangeArrowheads="1"/>
          </p:cNvSpPr>
          <p:nvPr/>
        </p:nvSpPr>
        <p:spPr bwMode="auto">
          <a:xfrm>
            <a:off x="6902450" y="4494213"/>
            <a:ext cx="3111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smtClean="0">
                <a:solidFill>
                  <a:srgbClr val="FF0000"/>
                </a:solidFill>
                <a:latin typeface="Arial" panose="020B0604020202020204" pitchFamily="34" charset="0"/>
              </a:rPr>
              <a:t>6</a:t>
            </a:r>
            <a:endParaRPr lang="en-US" altLang="zh-CN" sz="2400">
              <a:solidFill>
                <a:schemeClr val="tx1"/>
              </a:solidFill>
            </a:endParaRPr>
          </a:p>
        </p:txBody>
      </p:sp>
      <p:sp>
        <p:nvSpPr>
          <p:cNvPr id="163873" name="Text Box 69"/>
          <p:cNvSpPr txBox="1">
            <a:spLocks noChangeArrowheads="1"/>
          </p:cNvSpPr>
          <p:nvPr/>
        </p:nvSpPr>
        <p:spPr bwMode="auto">
          <a:xfrm>
            <a:off x="8156576" y="2028826"/>
            <a:ext cx="1744663"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chemeClr val="accent2"/>
                </a:solidFill>
                <a:latin typeface="Comic Sans MS" panose="030F0702030302020204" pitchFamily="66" charset="0"/>
              </a:rPr>
              <a:t>iterated query</a:t>
            </a:r>
            <a:endParaRPr lang="en-US" altLang="zh-CN" sz="1600">
              <a:solidFill>
                <a:schemeClr val="tx1"/>
              </a:solidFill>
            </a:endParaRPr>
          </a:p>
        </p:txBody>
      </p:sp>
    </p:spTree>
    <p:extLst>
      <p:ext uri="{BB962C8B-B14F-4D97-AF65-F5344CB8AC3E}">
        <p14:creationId xmlns:p14="http://schemas.microsoft.com/office/powerpoint/2010/main" val="416750119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a:spLocks noGrp="1" noChangeArrowheads="1"/>
          </p:cNvSpPr>
          <p:nvPr>
            <p:ph type="body" sz="half" idx="1"/>
          </p:nvPr>
        </p:nvSpPr>
        <p:spPr bwMode="auto">
          <a:xfrm>
            <a:off x="2327276" y="1627189"/>
            <a:ext cx="7515225" cy="3336925"/>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zh-CN" altLang="en-US"/>
              <a:t>一旦 </a:t>
            </a:r>
            <a:r>
              <a:rPr lang="en-US" altLang="zh-CN"/>
              <a:t>(</a:t>
            </a:r>
            <a:r>
              <a:rPr lang="zh-CN" altLang="en-US"/>
              <a:t>任何</a:t>
            </a:r>
            <a:r>
              <a:rPr lang="en-US" altLang="zh-CN"/>
              <a:t>) </a:t>
            </a:r>
            <a:r>
              <a:rPr lang="zh-CN" altLang="en-US"/>
              <a:t>域名服务器 知道了映射</a:t>
            </a:r>
            <a:r>
              <a:rPr lang="en-US" altLang="zh-CN"/>
              <a:t>, </a:t>
            </a:r>
            <a:r>
              <a:rPr lang="zh-CN" altLang="en-US"/>
              <a:t>就把映射缓存起来</a:t>
            </a:r>
          </a:p>
          <a:p>
            <a:pPr lvl="1"/>
            <a:r>
              <a:rPr lang="zh-CN" altLang="en-US" sz="3000"/>
              <a:t>缓存条目在一段时间后超时</a:t>
            </a:r>
          </a:p>
          <a:p>
            <a:pPr eaLnBrk="1" hangingPunct="1"/>
            <a:r>
              <a:rPr lang="en-US" altLang="zh-CN"/>
              <a:t>IETF</a:t>
            </a:r>
            <a:r>
              <a:rPr lang="zh-CN" altLang="en-US"/>
              <a:t>设计的更新</a:t>
            </a:r>
            <a:r>
              <a:rPr lang="en-US" altLang="zh-CN"/>
              <a:t>/</a:t>
            </a:r>
            <a:r>
              <a:rPr lang="zh-CN" altLang="en-US"/>
              <a:t>通知 机制 </a:t>
            </a:r>
          </a:p>
          <a:p>
            <a:pPr lvl="1" eaLnBrk="1" hangingPunct="1"/>
            <a:r>
              <a:rPr lang="zh-CN" altLang="en-US"/>
              <a:t>建议标准</a:t>
            </a:r>
            <a:r>
              <a:rPr lang="en-US" altLang="zh-CN"/>
              <a:t>: RFC 2136 </a:t>
            </a:r>
          </a:p>
        </p:txBody>
      </p:sp>
      <p:sp>
        <p:nvSpPr>
          <p:cNvPr id="81923" name="Rectangle 4"/>
          <p:cNvSpPr>
            <a:spLocks noGrp="1" noChangeArrowheads="1"/>
          </p:cNvSpPr>
          <p:nvPr>
            <p:ph type="title"/>
          </p:nvPr>
        </p:nvSpPr>
        <p:spPr bwMode="auto">
          <a:xfrm>
            <a:off x="2228850" y="4333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DNS: </a:t>
            </a:r>
            <a:r>
              <a:rPr lang="zh-CN" altLang="en-US" sz="3600">
                <a:solidFill>
                  <a:schemeClr val="hlink"/>
                </a:solidFill>
                <a:ea typeface="华文行楷" panose="02010800040101010101" pitchFamily="2" charset="-122"/>
              </a:rPr>
              <a:t>缓存与更新纪录</a:t>
            </a:r>
            <a:r>
              <a:rPr lang="en-US" altLang="zh-CN" sz="3600">
                <a:solidFill>
                  <a:schemeClr val="hlink"/>
                </a:solidFill>
                <a:ea typeface="华文行楷" panose="02010800040101010101" pitchFamily="2" charset="-122"/>
              </a:rPr>
              <a:t>20211108</a:t>
            </a:r>
            <a:endParaRPr lang="zh-CN" altLang="en-US"/>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a:spLocks noGrp="1" noChangeArrowheads="1"/>
          </p:cNvSpPr>
          <p:nvPr>
            <p:ph type="body" sz="half" idx="1"/>
          </p:nvPr>
        </p:nvSpPr>
        <p:spPr bwMode="auto">
          <a:xfrm>
            <a:off x="2327276" y="1627189"/>
            <a:ext cx="7515225" cy="3336925"/>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zh-CN" smtClean="0"/>
              <a:t>hosts</a:t>
            </a:r>
            <a:r>
              <a:rPr lang="zh-CN" altLang="en-US" smtClean="0"/>
              <a:t>文件</a:t>
            </a:r>
            <a:endParaRPr lang="en-US" altLang="zh-CN" smtClean="0"/>
          </a:p>
          <a:p>
            <a:pPr lvl="1"/>
            <a:r>
              <a:rPr lang="en-US" altLang="zh-CN"/>
              <a:t>C:\</a:t>
            </a:r>
            <a:r>
              <a:rPr lang="en-US" altLang="zh-CN" smtClean="0"/>
              <a:t>Windows\System32\drivers\etc\hosts</a:t>
            </a:r>
          </a:p>
          <a:p>
            <a:pPr lvl="1"/>
            <a:r>
              <a:rPr lang="en-US" altLang="zh-CN" smtClean="0"/>
              <a:t>/etc/hosts</a:t>
            </a:r>
            <a:endParaRPr lang="en-US" altLang="zh-CN"/>
          </a:p>
          <a:p>
            <a:pPr eaLnBrk="1" hangingPunct="1"/>
            <a:r>
              <a:rPr lang="zh-CN" altLang="en-US" smtClean="0"/>
              <a:t>本地缓存</a:t>
            </a:r>
            <a:endParaRPr lang="en-US" altLang="zh-CN" smtClean="0"/>
          </a:p>
          <a:p>
            <a:pPr eaLnBrk="1" hangingPunct="1"/>
            <a:r>
              <a:rPr lang="zh-CN" altLang="en-US" smtClean="0"/>
              <a:t>本地</a:t>
            </a:r>
            <a:r>
              <a:rPr lang="en-US" altLang="zh-CN" smtClean="0"/>
              <a:t>DNS</a:t>
            </a:r>
            <a:r>
              <a:rPr lang="zh-CN" altLang="en-US" smtClean="0"/>
              <a:t>服务器缓存</a:t>
            </a:r>
            <a:endParaRPr lang="en-US" altLang="zh-CN" smtClean="0"/>
          </a:p>
          <a:p>
            <a:pPr eaLnBrk="1" hangingPunct="1"/>
            <a:r>
              <a:rPr lang="zh-CN" altLang="en-US" smtClean="0"/>
              <a:t>目标直接</a:t>
            </a:r>
            <a:r>
              <a:rPr lang="en-US" altLang="zh-CN" smtClean="0"/>
              <a:t>DNS</a:t>
            </a:r>
            <a:r>
              <a:rPr lang="zh-CN" altLang="en-US" smtClean="0"/>
              <a:t>服务器缓存</a:t>
            </a:r>
            <a:endParaRPr lang="en-US" altLang="zh-CN" smtClean="0"/>
          </a:p>
          <a:p>
            <a:pPr eaLnBrk="1" hangingPunct="1"/>
            <a:r>
              <a:rPr lang="zh-CN" altLang="en-US"/>
              <a:t>最终</a:t>
            </a:r>
            <a:r>
              <a:rPr lang="zh-CN" altLang="en-US" smtClean="0"/>
              <a:t>目标授权</a:t>
            </a:r>
            <a:r>
              <a:rPr lang="en-US" altLang="zh-CN" smtClean="0"/>
              <a:t>DNS</a:t>
            </a:r>
            <a:r>
              <a:rPr lang="zh-CN" altLang="en-US" smtClean="0"/>
              <a:t>服务器的绑定（</a:t>
            </a:r>
            <a:r>
              <a:rPr lang="en-US" altLang="zh-CN" smtClean="0"/>
              <a:t>IP</a:t>
            </a:r>
            <a:r>
              <a:rPr lang="zh-CN" altLang="en-US" smtClean="0"/>
              <a:t>和名字）</a:t>
            </a:r>
            <a:endParaRPr lang="en-US" altLang="zh-CN"/>
          </a:p>
        </p:txBody>
      </p:sp>
      <p:sp>
        <p:nvSpPr>
          <p:cNvPr id="81923" name="Rectangle 4"/>
          <p:cNvSpPr>
            <a:spLocks noGrp="1" noChangeArrowheads="1"/>
          </p:cNvSpPr>
          <p:nvPr>
            <p:ph type="title"/>
          </p:nvPr>
        </p:nvSpPr>
        <p:spPr bwMode="auto">
          <a:xfrm>
            <a:off x="2228850" y="4333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smtClean="0">
                <a:solidFill>
                  <a:schemeClr val="hlink"/>
                </a:solidFill>
                <a:ea typeface="华文行楷" panose="02010800040101010101" pitchFamily="2" charset="-122"/>
              </a:rPr>
              <a:t>DNS</a:t>
            </a:r>
            <a:r>
              <a:rPr lang="zh-CN" altLang="en-US" sz="3600" smtClean="0">
                <a:solidFill>
                  <a:schemeClr val="hlink"/>
                </a:solidFill>
                <a:ea typeface="华文行楷" panose="02010800040101010101" pitchFamily="2" charset="-122"/>
              </a:rPr>
              <a:t>优先级（高到低）</a:t>
            </a:r>
            <a:endParaRPr lang="zh-CN" altLang="en-US"/>
          </a:p>
        </p:txBody>
      </p:sp>
    </p:spTree>
    <p:extLst>
      <p:ext uri="{BB962C8B-B14F-4D97-AF65-F5344CB8AC3E}">
        <p14:creationId xmlns:p14="http://schemas.microsoft.com/office/powerpoint/2010/main" val="298172838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bwMode="auto">
          <a:xfrm>
            <a:off x="4210050" y="3873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eaLnBrk="1" hangingPunct="1"/>
            <a:r>
              <a:rPr lang="en-US" altLang="zh-CN" sz="3600">
                <a:solidFill>
                  <a:schemeClr val="hlink"/>
                </a:solidFill>
                <a:ea typeface="华文行楷" panose="02010800040101010101" pitchFamily="2" charset="-122"/>
              </a:rPr>
              <a:t>DNS </a:t>
            </a:r>
            <a:r>
              <a:rPr lang="zh-CN" altLang="en-US" sz="3600">
                <a:solidFill>
                  <a:schemeClr val="hlink"/>
                </a:solidFill>
                <a:ea typeface="华文行楷" panose="02010800040101010101" pitchFamily="2" charset="-122"/>
              </a:rPr>
              <a:t>纪录</a:t>
            </a:r>
          </a:p>
        </p:txBody>
      </p:sp>
      <p:sp>
        <p:nvSpPr>
          <p:cNvPr id="166915" name="Rectangle 5"/>
          <p:cNvSpPr>
            <a:spLocks noGrp="1" noChangeArrowheads="1"/>
          </p:cNvSpPr>
          <p:nvPr>
            <p:ph type="body" sz="half" idx="2"/>
          </p:nvPr>
        </p:nvSpPr>
        <p:spPr bwMode="auto">
          <a:xfrm>
            <a:off x="2038350" y="3876675"/>
            <a:ext cx="4000500" cy="1866900"/>
          </a:xfrm>
          <a:solidFill>
            <a:srgbClr val="FFFFFF"/>
          </a:solidFill>
          <a:ln>
            <a:solidFill>
              <a:srgbClr val="000000"/>
            </a:solidFill>
            <a:miter lim="800000"/>
            <a:headEnd/>
            <a:tailEnd/>
          </a:ln>
        </p:spPr>
        <p:txBody>
          <a:bodyPr vert="horz" wrap="square" lIns="91440" tIns="45720" rIns="91440" bIns="45720" numCol="1" rtlCol="0" anchor="t" anchorCtr="0" compatLnSpc="1">
            <a:prstTxWarp prst="textNoShape">
              <a:avLst/>
            </a:prstTxWarp>
            <a:normAutofit/>
          </a:bodyPr>
          <a:lstStyle/>
          <a:p>
            <a:pPr eaLnBrk="1" hangingPunct="1"/>
            <a:r>
              <a:rPr lang="en-US" altLang="zh-CN"/>
              <a:t>Type=NS</a:t>
            </a:r>
          </a:p>
          <a:p>
            <a:pPr lvl="1" eaLnBrk="1" hangingPunct="1"/>
            <a:r>
              <a:rPr lang="zh-CN" altLang="en-US" sz="2000" b="1">
                <a:latin typeface="Courier New" panose="02070309020205020404" pitchFamily="49" charset="0"/>
              </a:rPr>
              <a:t>名字是域名</a:t>
            </a:r>
            <a:r>
              <a:rPr lang="zh-CN" altLang="en-US" sz="2000"/>
              <a:t> </a:t>
            </a:r>
            <a:r>
              <a:rPr lang="en-US" altLang="zh-CN" sz="2000"/>
              <a:t>(e.g. foo.com)</a:t>
            </a:r>
          </a:p>
          <a:p>
            <a:pPr lvl="1" eaLnBrk="1" hangingPunct="1"/>
            <a:r>
              <a:rPr lang="zh-CN" altLang="en-US" sz="2000" b="1">
                <a:latin typeface="Courier New" panose="02070309020205020404" pitchFamily="49" charset="0"/>
              </a:rPr>
              <a:t>值是本域授权域名服务器的</a:t>
            </a:r>
            <a:r>
              <a:rPr lang="en-US" altLang="zh-CN" sz="2000" b="1">
                <a:latin typeface="Courier New" panose="02070309020205020404" pitchFamily="49" charset="0"/>
              </a:rPr>
              <a:t>IP</a:t>
            </a:r>
            <a:r>
              <a:rPr lang="zh-CN" altLang="en-US" sz="2000" b="1">
                <a:latin typeface="Courier New" panose="02070309020205020404" pitchFamily="49" charset="0"/>
              </a:rPr>
              <a:t>地址</a:t>
            </a:r>
            <a:endParaRPr lang="zh-CN" altLang="en-US" sz="2000"/>
          </a:p>
        </p:txBody>
      </p:sp>
      <p:sp>
        <p:nvSpPr>
          <p:cNvPr id="166916" name="Rectangle 6"/>
          <p:cNvSpPr>
            <a:spLocks noChangeArrowheads="1"/>
          </p:cNvSpPr>
          <p:nvPr/>
        </p:nvSpPr>
        <p:spPr bwMode="auto">
          <a:xfrm>
            <a:off x="1971675" y="1757363"/>
            <a:ext cx="4133850"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l" eaLnBrk="1" hangingPunct="1">
              <a:buClr>
                <a:schemeClr val="folHlink"/>
              </a:buClr>
              <a:buSzPct val="60000"/>
              <a:buFont typeface="Wingdings" panose="05000000000000000000" pitchFamily="2" charset="2"/>
              <a:buChar char="n"/>
            </a:pPr>
            <a:r>
              <a:rPr kumimoji="1" lang="en-US" altLang="zh-CN">
                <a:solidFill>
                  <a:schemeClr val="tx1"/>
                </a:solidFill>
                <a:latin typeface="Tahoma" panose="020B0604030504040204" pitchFamily="34" charset="0"/>
              </a:rPr>
              <a:t>Type=A || AAAA</a:t>
            </a:r>
          </a:p>
          <a:p>
            <a:pPr lvl="1" algn="l" eaLnBrk="1" hangingPunct="1">
              <a:buClr>
                <a:schemeClr val="hlink"/>
              </a:buClr>
              <a:buSzPct val="55000"/>
              <a:buFont typeface="Wingdings" panose="05000000000000000000" pitchFamily="2" charset="2"/>
              <a:buChar char="n"/>
            </a:pPr>
            <a:r>
              <a:rPr kumimoji="1" lang="zh-CN" altLang="en-US" sz="2400" b="1">
                <a:solidFill>
                  <a:schemeClr val="tx1"/>
                </a:solidFill>
                <a:latin typeface="Courier New" panose="02070309020205020404" pitchFamily="49" charset="0"/>
              </a:rPr>
              <a:t>名字是主机名</a:t>
            </a:r>
            <a:endParaRPr kumimoji="1" lang="zh-CN" altLang="en-US" sz="2400">
              <a:solidFill>
                <a:schemeClr val="tx1"/>
              </a:solidFill>
              <a:latin typeface="Tahoma" panose="020B0604030504040204" pitchFamily="34" charset="0"/>
            </a:endParaRPr>
          </a:p>
          <a:p>
            <a:pPr lvl="1" algn="l" eaLnBrk="1" hangingPunct="1">
              <a:buClr>
                <a:schemeClr val="hlink"/>
              </a:buClr>
              <a:buSzPct val="55000"/>
              <a:buFont typeface="Wingdings" panose="05000000000000000000" pitchFamily="2" charset="2"/>
              <a:buChar char="n"/>
            </a:pPr>
            <a:r>
              <a:rPr kumimoji="1" lang="zh-CN" altLang="en-US" sz="2400" b="1">
                <a:solidFill>
                  <a:schemeClr val="tx1"/>
                </a:solidFill>
                <a:latin typeface="Courier New" panose="02070309020205020404" pitchFamily="49" charset="0"/>
              </a:rPr>
              <a:t>值是</a:t>
            </a:r>
            <a:r>
              <a:rPr kumimoji="1" lang="en-US" altLang="zh-CN" sz="2400" b="1">
                <a:solidFill>
                  <a:schemeClr val="tx1"/>
                </a:solidFill>
                <a:latin typeface="Courier New" panose="02070309020205020404" pitchFamily="49" charset="0"/>
              </a:rPr>
              <a:t>IP</a:t>
            </a:r>
            <a:r>
              <a:rPr kumimoji="1" lang="zh-CN" altLang="en-US" sz="2400" b="1">
                <a:solidFill>
                  <a:schemeClr val="tx1"/>
                </a:solidFill>
                <a:latin typeface="Courier New" panose="02070309020205020404" pitchFamily="49" charset="0"/>
              </a:rPr>
              <a:t>或</a:t>
            </a:r>
            <a:r>
              <a:rPr kumimoji="1" lang="en-US" altLang="zh-CN" sz="2400" b="1">
                <a:solidFill>
                  <a:schemeClr val="tx1"/>
                </a:solidFill>
                <a:latin typeface="Courier New" panose="02070309020205020404" pitchFamily="49" charset="0"/>
              </a:rPr>
              <a:t>IPv6</a:t>
            </a:r>
            <a:r>
              <a:rPr kumimoji="1" lang="zh-CN" altLang="en-US" sz="2400" b="1">
                <a:solidFill>
                  <a:schemeClr val="tx1"/>
                </a:solidFill>
                <a:latin typeface="Courier New" panose="02070309020205020404" pitchFamily="49" charset="0"/>
              </a:rPr>
              <a:t>地址</a:t>
            </a:r>
            <a:endParaRPr kumimoji="1" lang="en-US" altLang="zh-CN">
              <a:solidFill>
                <a:schemeClr val="tx1"/>
              </a:solidFill>
              <a:latin typeface="Tahoma" panose="020B0604030504040204" pitchFamily="34" charset="0"/>
            </a:endParaRPr>
          </a:p>
        </p:txBody>
      </p:sp>
      <p:sp>
        <p:nvSpPr>
          <p:cNvPr id="166917" name="Rectangle 7"/>
          <p:cNvSpPr>
            <a:spLocks noChangeArrowheads="1"/>
          </p:cNvSpPr>
          <p:nvPr/>
        </p:nvSpPr>
        <p:spPr bwMode="auto">
          <a:xfrm>
            <a:off x="6105525" y="1757362"/>
            <a:ext cx="4203700" cy="217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l" eaLnBrk="1" hangingPunct="1">
              <a:buClr>
                <a:schemeClr val="folHlink"/>
              </a:buClr>
              <a:buSzPct val="60000"/>
              <a:buFont typeface="Wingdings" panose="05000000000000000000" pitchFamily="2" charset="2"/>
              <a:buChar char="n"/>
            </a:pPr>
            <a:r>
              <a:rPr kumimoji="1" lang="en-US" altLang="zh-CN">
                <a:solidFill>
                  <a:schemeClr val="tx1"/>
                </a:solidFill>
                <a:latin typeface="Tahoma" panose="020B0604030504040204" pitchFamily="34" charset="0"/>
              </a:rPr>
              <a:t>Type=CNAME</a:t>
            </a:r>
          </a:p>
          <a:p>
            <a:pPr lvl="1" algn="l" eaLnBrk="1" hangingPunct="1">
              <a:spcBef>
                <a:spcPct val="20000"/>
              </a:spcBef>
              <a:buClr>
                <a:schemeClr val="folHlink"/>
              </a:buClr>
              <a:buSzPct val="60000"/>
              <a:buFont typeface="Wingdings" panose="05000000000000000000" pitchFamily="2" charset="2"/>
              <a:buChar char="n"/>
            </a:pPr>
            <a:r>
              <a:rPr kumimoji="1" lang="zh-CN" altLang="en-US">
                <a:solidFill>
                  <a:schemeClr val="tx1"/>
                </a:solidFill>
                <a:latin typeface="Tahoma" panose="020B0604030504040204" pitchFamily="34" charset="0"/>
              </a:rPr>
              <a:t>主机别名</a:t>
            </a:r>
            <a:endParaRPr kumimoji="1" lang="en-US" altLang="zh-CN">
              <a:solidFill>
                <a:schemeClr val="tx1"/>
              </a:solidFill>
              <a:latin typeface="Tahoma" panose="020B0604030504040204" pitchFamily="34" charset="0"/>
            </a:endParaRPr>
          </a:p>
          <a:p>
            <a:pPr lvl="1" algn="l" eaLnBrk="1" hangingPunct="1">
              <a:spcBef>
                <a:spcPct val="20000"/>
              </a:spcBef>
              <a:buClr>
                <a:schemeClr val="folHlink"/>
              </a:buClr>
              <a:buSzPct val="60000"/>
              <a:buFont typeface="Wingdings" panose="05000000000000000000" pitchFamily="2" charset="2"/>
              <a:buChar char="n"/>
            </a:pPr>
            <a:r>
              <a:rPr kumimoji="1" lang="zh-CN" altLang="en-US">
                <a:solidFill>
                  <a:schemeClr val="tx1"/>
                </a:solidFill>
                <a:latin typeface="Tahoma" panose="020B0604030504040204" pitchFamily="34" charset="0"/>
              </a:rPr>
              <a:t>应对</a:t>
            </a:r>
            <a:r>
              <a:rPr kumimoji="1" lang="en-US" altLang="zh-CN">
                <a:solidFill>
                  <a:schemeClr val="tx1"/>
                </a:solidFill>
                <a:latin typeface="Tahoma" panose="020B0604030504040204" pitchFamily="34" charset="0"/>
              </a:rPr>
              <a:t>IP</a:t>
            </a:r>
            <a:r>
              <a:rPr kumimoji="1" lang="zh-CN" altLang="en-US">
                <a:solidFill>
                  <a:schemeClr val="tx1"/>
                </a:solidFill>
                <a:latin typeface="Tahoma" panose="020B0604030504040204" pitchFamily="34" charset="0"/>
              </a:rPr>
              <a:t>地址迁移</a:t>
            </a:r>
            <a:endParaRPr kumimoji="1" lang="en-US" altLang="zh-CN">
              <a:solidFill>
                <a:schemeClr val="tx1"/>
              </a:solidFill>
              <a:latin typeface="Tahoma" panose="020B0604030504040204" pitchFamily="34" charset="0"/>
            </a:endParaRPr>
          </a:p>
        </p:txBody>
      </p:sp>
      <p:sp>
        <p:nvSpPr>
          <p:cNvPr id="166918" name="Rectangle 8"/>
          <p:cNvSpPr>
            <a:spLocks noChangeArrowheads="1"/>
          </p:cNvSpPr>
          <p:nvPr/>
        </p:nvSpPr>
        <p:spPr bwMode="auto">
          <a:xfrm>
            <a:off x="6219826" y="3876675"/>
            <a:ext cx="4448175" cy="186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ctr">
              <a:defRPr sz="2800">
                <a:solidFill>
                  <a:srgbClr val="CACACA"/>
                </a:solidFill>
                <a:latin typeface="Times New Roman" panose="02020603050405020304" pitchFamily="18" charset="0"/>
                <a:ea typeface="宋体" panose="02010600030101010101" pitchFamily="2" charset="-122"/>
              </a:defRPr>
            </a:lvl1pPr>
            <a:lvl2pPr marL="742950" indent="-285750" algn="ctr">
              <a:defRPr sz="2800">
                <a:solidFill>
                  <a:srgbClr val="CACACA"/>
                </a:solidFill>
                <a:latin typeface="Times New Roman" panose="02020603050405020304" pitchFamily="18" charset="0"/>
                <a:ea typeface="宋体" panose="02010600030101010101" pitchFamily="2" charset="-122"/>
              </a:defRPr>
            </a:lvl2pPr>
            <a:lvl3pPr marL="1143000" indent="-228600" algn="ctr">
              <a:defRPr sz="2800">
                <a:solidFill>
                  <a:srgbClr val="CACACA"/>
                </a:solidFill>
                <a:latin typeface="Times New Roman" panose="02020603050405020304" pitchFamily="18" charset="0"/>
                <a:ea typeface="宋体" panose="02010600030101010101" pitchFamily="2" charset="-122"/>
              </a:defRPr>
            </a:lvl3pPr>
            <a:lvl4pPr marL="1600200" indent="-228600" algn="ctr">
              <a:defRPr sz="2800">
                <a:solidFill>
                  <a:srgbClr val="CACACA"/>
                </a:solidFill>
                <a:latin typeface="Times New Roman" panose="02020603050405020304" pitchFamily="18" charset="0"/>
                <a:ea typeface="宋体" panose="02010600030101010101" pitchFamily="2" charset="-122"/>
              </a:defRPr>
            </a:lvl4pPr>
            <a:lvl5pPr marL="2057400" indent="-228600" algn="ctr">
              <a:defRPr sz="28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l" eaLnBrk="1" hangingPunct="1">
              <a:spcBef>
                <a:spcPct val="20000"/>
              </a:spcBef>
              <a:buClr>
                <a:schemeClr val="folHlink"/>
              </a:buClr>
              <a:buSzPct val="60000"/>
              <a:buFont typeface="Wingdings" panose="05000000000000000000" pitchFamily="2" charset="2"/>
              <a:buChar char="n"/>
            </a:pPr>
            <a:r>
              <a:rPr kumimoji="1" lang="en-US" altLang="zh-CN">
                <a:solidFill>
                  <a:schemeClr val="tx1"/>
                </a:solidFill>
                <a:latin typeface="Tahoma" panose="020B0604030504040204" pitchFamily="34" charset="0"/>
              </a:rPr>
              <a:t>Type=MX</a:t>
            </a:r>
          </a:p>
          <a:p>
            <a:pPr lvl="1" algn="l" eaLnBrk="1" hangingPunct="1">
              <a:spcBef>
                <a:spcPct val="20000"/>
              </a:spcBef>
              <a:buClr>
                <a:schemeClr val="hlink"/>
              </a:buClr>
              <a:buSzPct val="55000"/>
              <a:buFont typeface="Wingdings" panose="05000000000000000000" pitchFamily="2" charset="2"/>
              <a:buChar char="n"/>
            </a:pPr>
            <a:r>
              <a:rPr kumimoji="1" lang="zh-CN" altLang="en-US" sz="2400" b="1">
                <a:solidFill>
                  <a:schemeClr val="tx1"/>
                </a:solidFill>
                <a:latin typeface="Courier New" panose="02070309020205020404" pitchFamily="49" charset="0"/>
              </a:rPr>
              <a:t>是邮件交换记录</a:t>
            </a:r>
            <a:endParaRPr kumimoji="1" lang="en-US" altLang="zh-CN" sz="2400" b="1">
              <a:solidFill>
                <a:schemeClr val="tx1"/>
              </a:solidFill>
              <a:latin typeface="Courier New" panose="02070309020205020404" pitchFamily="49" charset="0"/>
            </a:endParaRPr>
          </a:p>
          <a:p>
            <a:pPr lvl="1" algn="l" eaLnBrk="1" hangingPunct="1">
              <a:spcBef>
                <a:spcPct val="20000"/>
              </a:spcBef>
              <a:buClr>
                <a:schemeClr val="hlink"/>
              </a:buClr>
              <a:buSzPct val="55000"/>
              <a:buFont typeface="Wingdings" panose="05000000000000000000" pitchFamily="2" charset="2"/>
              <a:buChar char="n"/>
            </a:pPr>
            <a:r>
              <a:rPr kumimoji="1" lang="en-US" altLang="zh-CN" sz="2400" b="1">
                <a:solidFill>
                  <a:schemeClr val="tx1"/>
                </a:solidFill>
                <a:latin typeface="Courier New" panose="02070309020205020404" pitchFamily="49" charset="0"/>
              </a:rPr>
              <a:t>user@mydomain.com</a:t>
            </a:r>
            <a:endParaRPr kumimoji="1" lang="zh-CN" altLang="en-US" sz="2400">
              <a:solidFill>
                <a:schemeClr val="tx1"/>
              </a:solidFill>
              <a:latin typeface="Tahoma" panose="020B0604030504040204" pitchFamily="34" charset="0"/>
            </a:endParaRPr>
          </a:p>
        </p:txBody>
      </p:sp>
    </p:spTree>
    <p:extLst>
      <p:ext uri="{BB962C8B-B14F-4D97-AF65-F5344CB8AC3E}">
        <p14:creationId xmlns:p14="http://schemas.microsoft.com/office/powerpoint/2010/main" val="2971302468"/>
      </p:ext>
    </p:extLst>
  </p:cSld>
  <p:clrMapOvr>
    <a:masterClrMapping/>
  </p:clrMapOvr>
  <p:transition spd="med">
    <p:random/>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671195"/>
          </a:xfrm>
        </p:spPr>
        <p:txBody>
          <a:bodyPr>
            <a:normAutofit fontScale="90000"/>
          </a:bodyPr>
          <a:lstStyle/>
          <a:p>
            <a:r>
              <a:rPr lang="zh-CN" altLang="en-US" smtClean="0"/>
              <a:t>联网操作</a:t>
            </a:r>
            <a:r>
              <a:rPr lang="en-US" altLang="zh-CN" smtClean="0"/>
              <a:t>DNS</a:t>
            </a:r>
            <a:r>
              <a:rPr lang="zh-CN" altLang="en-US" smtClean="0"/>
              <a:t>解析</a:t>
            </a:r>
            <a:endParaRPr lang="zh-CN" altLang="en-US"/>
          </a:p>
        </p:txBody>
      </p:sp>
      <p:pic>
        <p:nvPicPr>
          <p:cNvPr id="5" name="图片 4"/>
          <p:cNvPicPr>
            <a:picLocks noChangeAspect="1"/>
          </p:cNvPicPr>
          <p:nvPr/>
        </p:nvPicPr>
        <p:blipFill>
          <a:blip r:embed="rId2"/>
          <a:stretch>
            <a:fillRect/>
          </a:stretch>
        </p:blipFill>
        <p:spPr>
          <a:xfrm>
            <a:off x="294549" y="1363324"/>
            <a:ext cx="6171429" cy="4542857"/>
          </a:xfrm>
          <a:prstGeom prst="rect">
            <a:avLst/>
          </a:prstGeom>
        </p:spPr>
      </p:pic>
      <p:pic>
        <p:nvPicPr>
          <p:cNvPr id="6" name="图片 5"/>
          <p:cNvPicPr>
            <a:picLocks noChangeAspect="1"/>
          </p:cNvPicPr>
          <p:nvPr/>
        </p:nvPicPr>
        <p:blipFill>
          <a:blip r:embed="rId3"/>
          <a:stretch>
            <a:fillRect/>
          </a:stretch>
        </p:blipFill>
        <p:spPr>
          <a:xfrm>
            <a:off x="7216955" y="1257549"/>
            <a:ext cx="4287441" cy="2257176"/>
          </a:xfrm>
          <a:prstGeom prst="rect">
            <a:avLst/>
          </a:prstGeom>
        </p:spPr>
      </p:pic>
      <p:pic>
        <p:nvPicPr>
          <p:cNvPr id="7" name="图片 6"/>
          <p:cNvPicPr>
            <a:picLocks noChangeAspect="1"/>
          </p:cNvPicPr>
          <p:nvPr/>
        </p:nvPicPr>
        <p:blipFill>
          <a:blip r:embed="rId4"/>
          <a:stretch>
            <a:fillRect/>
          </a:stretch>
        </p:blipFill>
        <p:spPr>
          <a:xfrm>
            <a:off x="7216955" y="3952789"/>
            <a:ext cx="4038095" cy="1828571"/>
          </a:xfrm>
          <a:prstGeom prst="rect">
            <a:avLst/>
          </a:prstGeom>
        </p:spPr>
      </p:pic>
    </p:spTree>
    <p:extLst>
      <p:ext uri="{BB962C8B-B14F-4D97-AF65-F5344CB8AC3E}">
        <p14:creationId xmlns:p14="http://schemas.microsoft.com/office/powerpoint/2010/main" val="1644906955"/>
      </p:ext>
    </p:extLst>
  </p:cSld>
  <p:clrMapOvr>
    <a:masterClrMapping/>
  </p:clrMapOvr>
  <p:transition spd="med">
    <p:random/>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bwMode="auto">
          <a:xfrm>
            <a:off x="2306638"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IPv6</a:t>
            </a:r>
          </a:p>
        </p:txBody>
      </p:sp>
      <p:sp>
        <p:nvSpPr>
          <p:cNvPr id="82947" name="Text Box 3"/>
          <p:cNvSpPr txBox="1">
            <a:spLocks noChangeArrowheads="1"/>
          </p:cNvSpPr>
          <p:nvPr/>
        </p:nvSpPr>
        <p:spPr bwMode="auto">
          <a:xfrm>
            <a:off x="1419225" y="1841501"/>
            <a:ext cx="964882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smtClean="0">
                <a:solidFill>
                  <a:schemeClr val="hlink"/>
                </a:solidFill>
              </a:rPr>
              <a:t>IP</a:t>
            </a:r>
            <a:r>
              <a:rPr lang="zh-CN" altLang="en-US">
                <a:solidFill>
                  <a:schemeClr val="hlink"/>
                </a:solidFill>
              </a:rPr>
              <a:t>地址严重</a:t>
            </a:r>
            <a:r>
              <a:rPr lang="zh-CN" altLang="en-US" smtClean="0">
                <a:solidFill>
                  <a:schemeClr val="hlink"/>
                </a:solidFill>
              </a:rPr>
              <a:t>不足</a:t>
            </a:r>
            <a:endParaRPr lang="en-US" altLang="zh-CN" smtClean="0">
              <a:solidFill>
                <a:schemeClr val="tx1"/>
              </a:solidFill>
            </a:endParaRPr>
          </a:p>
          <a:p>
            <a:pPr>
              <a:spcBef>
                <a:spcPct val="50000"/>
              </a:spcBef>
            </a:pPr>
            <a:r>
              <a:rPr lang="zh-CN" altLang="en-US" smtClean="0">
                <a:solidFill>
                  <a:schemeClr val="tx1"/>
                </a:solidFill>
              </a:rPr>
              <a:t>有</a:t>
            </a:r>
            <a:r>
              <a:rPr lang="zh-CN" altLang="en-US">
                <a:solidFill>
                  <a:schemeClr val="tx1"/>
                </a:solidFill>
              </a:rPr>
              <a:t>预测表明，以目前</a:t>
            </a:r>
            <a:r>
              <a:rPr lang="en-US" altLang="zh-CN">
                <a:solidFill>
                  <a:schemeClr val="tx1"/>
                </a:solidFill>
              </a:rPr>
              <a:t>Internet</a:t>
            </a:r>
            <a:r>
              <a:rPr lang="zh-CN" altLang="en-US">
                <a:solidFill>
                  <a:schemeClr val="tx1"/>
                </a:solidFill>
              </a:rPr>
              <a:t>发展速度计算，所有</a:t>
            </a:r>
            <a:r>
              <a:rPr lang="en-US" altLang="zh-CN">
                <a:solidFill>
                  <a:schemeClr val="tx1"/>
                </a:solidFill>
              </a:rPr>
              <a:t>IPv4</a:t>
            </a:r>
            <a:r>
              <a:rPr lang="zh-CN" altLang="en-US" smtClean="0">
                <a:solidFill>
                  <a:schemeClr val="tx1"/>
                </a:solidFill>
              </a:rPr>
              <a:t>地址已基本分配</a:t>
            </a:r>
            <a:r>
              <a:rPr lang="zh-CN" altLang="en-US">
                <a:solidFill>
                  <a:schemeClr val="tx1"/>
                </a:solidFill>
              </a:rPr>
              <a:t>完毕</a:t>
            </a:r>
            <a:r>
              <a:rPr lang="zh-CN" altLang="en-US" smtClean="0">
                <a:solidFill>
                  <a:schemeClr val="tx1"/>
                </a:solidFill>
              </a:rPr>
              <a:t>。</a:t>
            </a:r>
            <a:endParaRPr lang="en-US" altLang="zh-CN" smtClean="0">
              <a:solidFill>
                <a:schemeClr val="tx1"/>
              </a:solidFill>
            </a:endParaRPr>
          </a:p>
          <a:p>
            <a:pPr>
              <a:spcBef>
                <a:spcPct val="50000"/>
              </a:spcBef>
            </a:pPr>
            <a:r>
              <a:rPr lang="zh-CN" altLang="en-US" smtClean="0">
                <a:solidFill>
                  <a:schemeClr val="tx1"/>
                </a:solidFill>
              </a:rPr>
              <a:t>为了</a:t>
            </a:r>
            <a:r>
              <a:rPr lang="zh-CN" altLang="en-US">
                <a:solidFill>
                  <a:schemeClr val="tx1"/>
                </a:solidFill>
              </a:rPr>
              <a:t>彻底解决</a:t>
            </a:r>
            <a:r>
              <a:rPr lang="en-US" altLang="zh-CN">
                <a:solidFill>
                  <a:schemeClr val="tx1"/>
                </a:solidFill>
              </a:rPr>
              <a:t>IPv4</a:t>
            </a:r>
            <a:r>
              <a:rPr lang="zh-CN" altLang="en-US">
                <a:solidFill>
                  <a:schemeClr val="tx1"/>
                </a:solidFill>
              </a:rPr>
              <a:t>存在的问题，</a:t>
            </a:r>
            <a:r>
              <a:rPr lang="en-US" altLang="zh-CN">
                <a:solidFill>
                  <a:schemeClr val="tx1"/>
                </a:solidFill>
              </a:rPr>
              <a:t>IETF</a:t>
            </a:r>
            <a:r>
              <a:rPr lang="zh-CN" altLang="en-US">
                <a:solidFill>
                  <a:schemeClr val="tx1"/>
                </a:solidFill>
              </a:rPr>
              <a:t>从</a:t>
            </a:r>
            <a:r>
              <a:rPr lang="en-US" altLang="zh-CN">
                <a:solidFill>
                  <a:schemeClr val="tx1"/>
                </a:solidFill>
              </a:rPr>
              <a:t>1995</a:t>
            </a:r>
            <a:r>
              <a:rPr lang="zh-CN" altLang="en-US">
                <a:solidFill>
                  <a:schemeClr val="tx1"/>
                </a:solidFill>
              </a:rPr>
              <a:t>年开始，着手研究开发下一代</a:t>
            </a:r>
            <a:r>
              <a:rPr lang="en-US" altLang="zh-CN">
                <a:solidFill>
                  <a:schemeClr val="tx1"/>
                </a:solidFill>
              </a:rPr>
              <a:t>IP</a:t>
            </a:r>
            <a:r>
              <a:rPr lang="zh-CN" altLang="en-US">
                <a:solidFill>
                  <a:schemeClr val="tx1"/>
                </a:solidFill>
              </a:rPr>
              <a:t>协议，即</a:t>
            </a:r>
            <a:r>
              <a:rPr lang="en-US" altLang="zh-CN">
                <a:solidFill>
                  <a:schemeClr val="tx1"/>
                </a:solidFill>
              </a:rPr>
              <a:t>IPv6</a:t>
            </a:r>
            <a:r>
              <a:rPr lang="zh-CN" altLang="en-US">
                <a:solidFill>
                  <a:schemeClr val="tx1"/>
                </a:solidFill>
              </a:rPr>
              <a:t>。</a:t>
            </a:r>
            <a:r>
              <a:rPr lang="zh-CN" altLang="en-US"/>
              <a:t> </a:t>
            </a:r>
          </a:p>
        </p:txBody>
      </p:sp>
    </p:spTree>
  </p:cSld>
  <p:clrMapOvr>
    <a:masterClrMapping/>
  </p:clrMapOvr>
  <p:transition spd="med">
    <p:random/>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4210" name="Group 2"/>
          <p:cNvGrpSpPr>
            <a:grpSpLocks/>
          </p:cNvGrpSpPr>
          <p:nvPr/>
        </p:nvGrpSpPr>
        <p:grpSpPr bwMode="auto">
          <a:xfrm>
            <a:off x="425451" y="1619251"/>
            <a:ext cx="5641975" cy="4410075"/>
            <a:chOff x="1108" y="635"/>
            <a:chExt cx="3554" cy="2778"/>
          </a:xfrm>
        </p:grpSpPr>
        <p:sp>
          <p:nvSpPr>
            <p:cNvPr id="94212" name="Rectangle 3"/>
            <p:cNvSpPr>
              <a:spLocks noChangeArrowheads="1"/>
            </p:cNvSpPr>
            <p:nvPr/>
          </p:nvSpPr>
          <p:spPr bwMode="auto">
            <a:xfrm>
              <a:off x="1199" y="882"/>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500">
                  <a:solidFill>
                    <a:srgbClr val="000000"/>
                  </a:solidFill>
                  <a:latin typeface="Arial" panose="020B0604020202020204" pitchFamily="34" charset="0"/>
                </a:rPr>
                <a:t>V</a:t>
              </a:r>
              <a:endParaRPr lang="en-US" altLang="zh-CN" sz="2400">
                <a:solidFill>
                  <a:schemeClr val="tx1"/>
                </a:solidFill>
              </a:endParaRPr>
            </a:p>
          </p:txBody>
        </p:sp>
        <p:sp>
          <p:nvSpPr>
            <p:cNvPr id="94213" name="Rectangle 4"/>
            <p:cNvSpPr>
              <a:spLocks noChangeArrowheads="1"/>
            </p:cNvSpPr>
            <p:nvPr/>
          </p:nvSpPr>
          <p:spPr bwMode="auto">
            <a:xfrm>
              <a:off x="1275" y="882"/>
              <a:ext cx="32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500">
                  <a:solidFill>
                    <a:srgbClr val="000000"/>
                  </a:solidFill>
                  <a:latin typeface="Arial" panose="020B0604020202020204" pitchFamily="34" charset="0"/>
                </a:rPr>
                <a:t>ersion</a:t>
              </a:r>
              <a:endParaRPr lang="en-US" altLang="zh-CN" sz="2400">
                <a:solidFill>
                  <a:schemeClr val="tx1"/>
                </a:solidFill>
              </a:endParaRPr>
            </a:p>
          </p:txBody>
        </p:sp>
        <p:sp>
          <p:nvSpPr>
            <p:cNvPr id="94214" name="Rectangle 5"/>
            <p:cNvSpPr>
              <a:spLocks noChangeArrowheads="1"/>
            </p:cNvSpPr>
            <p:nvPr/>
          </p:nvSpPr>
          <p:spPr bwMode="auto">
            <a:xfrm>
              <a:off x="1796" y="882"/>
              <a:ext cx="28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500">
                  <a:solidFill>
                    <a:srgbClr val="000000"/>
                  </a:solidFill>
                  <a:latin typeface="Arial" panose="020B0604020202020204" pitchFamily="34" charset="0"/>
                </a:rPr>
                <a:t>HLen</a:t>
              </a:r>
              <a:endParaRPr lang="en-US" altLang="zh-CN" sz="2400">
                <a:solidFill>
                  <a:schemeClr val="tx1"/>
                </a:solidFill>
              </a:endParaRPr>
            </a:p>
          </p:txBody>
        </p:sp>
        <p:sp>
          <p:nvSpPr>
            <p:cNvPr id="94215" name="Rectangle 6"/>
            <p:cNvSpPr>
              <a:spLocks noChangeArrowheads="1"/>
            </p:cNvSpPr>
            <p:nvPr/>
          </p:nvSpPr>
          <p:spPr bwMode="auto">
            <a:xfrm>
              <a:off x="2386" y="879"/>
              <a:ext cx="24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500" strike="sngStrike">
                  <a:solidFill>
                    <a:srgbClr val="FF0000"/>
                  </a:solidFill>
                  <a:latin typeface="Arial" panose="020B0604020202020204" pitchFamily="34" charset="0"/>
                </a:rPr>
                <a:t>TOS</a:t>
              </a:r>
              <a:endParaRPr lang="en-US" altLang="zh-CN" sz="2400" strike="sngStrike">
                <a:solidFill>
                  <a:srgbClr val="FF0000"/>
                </a:solidFill>
              </a:endParaRPr>
            </a:p>
          </p:txBody>
        </p:sp>
        <p:sp>
          <p:nvSpPr>
            <p:cNvPr id="94216" name="Rectangle 7"/>
            <p:cNvSpPr>
              <a:spLocks noChangeArrowheads="1"/>
            </p:cNvSpPr>
            <p:nvPr/>
          </p:nvSpPr>
          <p:spPr bwMode="auto">
            <a:xfrm>
              <a:off x="3578" y="879"/>
              <a:ext cx="36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500">
                  <a:solidFill>
                    <a:srgbClr val="000000"/>
                  </a:solidFill>
                  <a:latin typeface="Arial" panose="020B0604020202020204" pitchFamily="34" charset="0"/>
                </a:rPr>
                <a:t>Length</a:t>
              </a:r>
              <a:endParaRPr lang="en-US" altLang="zh-CN" sz="2400">
                <a:solidFill>
                  <a:schemeClr val="tx1"/>
                </a:solidFill>
              </a:endParaRPr>
            </a:p>
          </p:txBody>
        </p:sp>
        <p:sp>
          <p:nvSpPr>
            <p:cNvPr id="94217" name="Rectangle 8"/>
            <p:cNvSpPr>
              <a:spLocks noChangeArrowheads="1"/>
            </p:cNvSpPr>
            <p:nvPr/>
          </p:nvSpPr>
          <p:spPr bwMode="auto">
            <a:xfrm>
              <a:off x="1865" y="1185"/>
              <a:ext cx="2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500">
                  <a:solidFill>
                    <a:srgbClr val="000000"/>
                  </a:solidFill>
                  <a:latin typeface="Arial" panose="020B0604020202020204" pitchFamily="34" charset="0"/>
                </a:rPr>
                <a:t>Ident</a:t>
              </a:r>
              <a:endParaRPr lang="en-US" altLang="zh-CN" sz="2400">
                <a:solidFill>
                  <a:schemeClr val="tx1"/>
                </a:solidFill>
              </a:endParaRPr>
            </a:p>
          </p:txBody>
        </p:sp>
        <p:sp>
          <p:nvSpPr>
            <p:cNvPr id="94218" name="Rectangle 9"/>
            <p:cNvSpPr>
              <a:spLocks noChangeArrowheads="1"/>
            </p:cNvSpPr>
            <p:nvPr/>
          </p:nvSpPr>
          <p:spPr bwMode="auto">
            <a:xfrm>
              <a:off x="2947" y="1185"/>
              <a:ext cx="29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500">
                  <a:solidFill>
                    <a:srgbClr val="000000"/>
                  </a:solidFill>
                  <a:latin typeface="Arial" panose="020B0604020202020204" pitchFamily="34" charset="0"/>
                </a:rPr>
                <a:t>Flags</a:t>
              </a:r>
              <a:endParaRPr lang="en-US" altLang="zh-CN" sz="2400">
                <a:solidFill>
                  <a:schemeClr val="tx1"/>
                </a:solidFill>
              </a:endParaRPr>
            </a:p>
          </p:txBody>
        </p:sp>
        <p:sp>
          <p:nvSpPr>
            <p:cNvPr id="94219" name="Rectangle 10"/>
            <p:cNvSpPr>
              <a:spLocks noChangeArrowheads="1"/>
            </p:cNvSpPr>
            <p:nvPr/>
          </p:nvSpPr>
          <p:spPr bwMode="auto">
            <a:xfrm>
              <a:off x="3796" y="1185"/>
              <a:ext cx="31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500">
                  <a:solidFill>
                    <a:srgbClr val="000000"/>
                  </a:solidFill>
                  <a:latin typeface="Arial" panose="020B0604020202020204" pitchFamily="34" charset="0"/>
                </a:rPr>
                <a:t>Offset</a:t>
              </a:r>
              <a:endParaRPr lang="en-US" altLang="zh-CN" sz="2400">
                <a:solidFill>
                  <a:schemeClr val="tx1"/>
                </a:solidFill>
              </a:endParaRPr>
            </a:p>
          </p:txBody>
        </p:sp>
        <p:sp>
          <p:nvSpPr>
            <p:cNvPr id="94220" name="Rectangle 11"/>
            <p:cNvSpPr>
              <a:spLocks noChangeArrowheads="1"/>
            </p:cNvSpPr>
            <p:nvPr/>
          </p:nvSpPr>
          <p:spPr bwMode="auto">
            <a:xfrm>
              <a:off x="1567" y="1479"/>
              <a:ext cx="21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500">
                  <a:solidFill>
                    <a:srgbClr val="000000"/>
                  </a:solidFill>
                  <a:latin typeface="Arial" panose="020B0604020202020204" pitchFamily="34" charset="0"/>
                </a:rPr>
                <a:t>TTL</a:t>
              </a:r>
              <a:endParaRPr lang="en-US" altLang="zh-CN" sz="2400">
                <a:solidFill>
                  <a:schemeClr val="tx1"/>
                </a:solidFill>
              </a:endParaRPr>
            </a:p>
          </p:txBody>
        </p:sp>
        <p:sp>
          <p:nvSpPr>
            <p:cNvPr id="94221" name="Rectangle 12"/>
            <p:cNvSpPr>
              <a:spLocks noChangeArrowheads="1"/>
            </p:cNvSpPr>
            <p:nvPr/>
          </p:nvSpPr>
          <p:spPr bwMode="auto">
            <a:xfrm>
              <a:off x="2310" y="1479"/>
              <a:ext cx="44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500">
                  <a:solidFill>
                    <a:srgbClr val="000000"/>
                  </a:solidFill>
                  <a:latin typeface="Arial" panose="020B0604020202020204" pitchFamily="34" charset="0"/>
                </a:rPr>
                <a:t>Protocol</a:t>
              </a:r>
              <a:endParaRPr lang="en-US" altLang="zh-CN" sz="2400">
                <a:solidFill>
                  <a:schemeClr val="tx1"/>
                </a:solidFill>
              </a:endParaRPr>
            </a:p>
          </p:txBody>
        </p:sp>
        <p:sp>
          <p:nvSpPr>
            <p:cNvPr id="94222" name="Rectangle 13"/>
            <p:cNvSpPr>
              <a:spLocks noChangeArrowheads="1"/>
            </p:cNvSpPr>
            <p:nvPr/>
          </p:nvSpPr>
          <p:spPr bwMode="auto">
            <a:xfrm>
              <a:off x="3483" y="1479"/>
              <a:ext cx="56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500">
                  <a:solidFill>
                    <a:srgbClr val="000000"/>
                  </a:solidFill>
                  <a:latin typeface="Arial" panose="020B0604020202020204" pitchFamily="34" charset="0"/>
                </a:rPr>
                <a:t>Checksum</a:t>
              </a:r>
              <a:endParaRPr lang="en-US" altLang="zh-CN" sz="2400">
                <a:solidFill>
                  <a:schemeClr val="tx1"/>
                </a:solidFill>
              </a:endParaRPr>
            </a:p>
          </p:txBody>
        </p:sp>
        <p:sp>
          <p:nvSpPr>
            <p:cNvPr id="94223" name="Rectangle 14"/>
            <p:cNvSpPr>
              <a:spLocks noChangeArrowheads="1"/>
            </p:cNvSpPr>
            <p:nvPr/>
          </p:nvSpPr>
          <p:spPr bwMode="auto">
            <a:xfrm>
              <a:off x="2539" y="1771"/>
              <a:ext cx="957"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500" smtClean="0">
                  <a:solidFill>
                    <a:srgbClr val="000000"/>
                  </a:solidFill>
                  <a:latin typeface="Arial" panose="020B0604020202020204" pitchFamily="34" charset="0"/>
                </a:rPr>
                <a:t>SourceAddr(</a:t>
              </a:r>
              <a:r>
                <a:rPr lang="zh-CN" altLang="en-US" sz="1500" smtClean="0">
                  <a:solidFill>
                    <a:srgbClr val="000000"/>
                  </a:solidFill>
                  <a:latin typeface="Arial" panose="020B0604020202020204" pitchFamily="34" charset="0"/>
                </a:rPr>
                <a:t>源</a:t>
              </a:r>
              <a:r>
                <a:rPr lang="en-US" altLang="zh-CN" sz="1500" smtClean="0">
                  <a:solidFill>
                    <a:srgbClr val="000000"/>
                  </a:solidFill>
                  <a:latin typeface="Arial" panose="020B0604020202020204" pitchFamily="34" charset="0"/>
                </a:rPr>
                <a:t>IP)</a:t>
              </a:r>
              <a:endParaRPr lang="en-US" altLang="zh-CN" sz="2400">
                <a:solidFill>
                  <a:schemeClr val="tx1"/>
                </a:solidFill>
              </a:endParaRPr>
            </a:p>
          </p:txBody>
        </p:sp>
        <p:sp>
          <p:nvSpPr>
            <p:cNvPr id="94224" name="Rectangle 15"/>
            <p:cNvSpPr>
              <a:spLocks noChangeArrowheads="1"/>
            </p:cNvSpPr>
            <p:nvPr/>
          </p:nvSpPr>
          <p:spPr bwMode="auto">
            <a:xfrm>
              <a:off x="2415" y="2069"/>
              <a:ext cx="1302"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500" smtClean="0">
                  <a:solidFill>
                    <a:srgbClr val="000000"/>
                  </a:solidFill>
                  <a:latin typeface="Arial" panose="020B0604020202020204" pitchFamily="34" charset="0"/>
                </a:rPr>
                <a:t>DestinationAddr(</a:t>
              </a:r>
              <a:r>
                <a:rPr lang="zh-CN" altLang="en-US" sz="1500" smtClean="0">
                  <a:solidFill>
                    <a:srgbClr val="000000"/>
                  </a:solidFill>
                  <a:latin typeface="Arial" panose="020B0604020202020204" pitchFamily="34" charset="0"/>
                </a:rPr>
                <a:t>目标</a:t>
              </a:r>
              <a:r>
                <a:rPr lang="en-US" altLang="zh-CN" sz="1500" smtClean="0">
                  <a:solidFill>
                    <a:srgbClr val="000000"/>
                  </a:solidFill>
                  <a:latin typeface="Arial" panose="020B0604020202020204" pitchFamily="34" charset="0"/>
                </a:rPr>
                <a:t>IP)</a:t>
              </a:r>
              <a:endParaRPr lang="en-US" altLang="zh-CN" sz="2400">
                <a:solidFill>
                  <a:schemeClr val="tx1"/>
                </a:solidFill>
              </a:endParaRPr>
            </a:p>
          </p:txBody>
        </p:sp>
        <p:sp>
          <p:nvSpPr>
            <p:cNvPr id="94225" name="Rectangle 16"/>
            <p:cNvSpPr>
              <a:spLocks noChangeArrowheads="1"/>
            </p:cNvSpPr>
            <p:nvPr/>
          </p:nvSpPr>
          <p:spPr bwMode="auto">
            <a:xfrm>
              <a:off x="1978" y="2368"/>
              <a:ext cx="94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500">
                  <a:solidFill>
                    <a:srgbClr val="000000"/>
                  </a:solidFill>
                  <a:latin typeface="Arial" panose="020B0604020202020204" pitchFamily="34" charset="0"/>
                </a:rPr>
                <a:t>Options (variable)</a:t>
              </a:r>
              <a:endParaRPr lang="en-US" altLang="zh-CN" sz="2400">
                <a:solidFill>
                  <a:schemeClr val="tx1"/>
                </a:solidFill>
              </a:endParaRPr>
            </a:p>
          </p:txBody>
        </p:sp>
        <p:sp>
          <p:nvSpPr>
            <p:cNvPr id="94226" name="Rectangle 17"/>
            <p:cNvSpPr>
              <a:spLocks noChangeArrowheads="1"/>
            </p:cNvSpPr>
            <p:nvPr/>
          </p:nvSpPr>
          <p:spPr bwMode="auto">
            <a:xfrm>
              <a:off x="4073" y="2313"/>
              <a:ext cx="21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500">
                  <a:solidFill>
                    <a:srgbClr val="000000"/>
                  </a:solidFill>
                  <a:latin typeface="Arial" panose="020B0604020202020204" pitchFamily="34" charset="0"/>
                </a:rPr>
                <a:t>Pad</a:t>
              </a:r>
              <a:endParaRPr lang="en-US" altLang="zh-CN" sz="2400">
                <a:solidFill>
                  <a:schemeClr val="tx1"/>
                </a:solidFill>
              </a:endParaRPr>
            </a:p>
          </p:txBody>
        </p:sp>
        <p:sp>
          <p:nvSpPr>
            <p:cNvPr id="94227" name="Rectangle 18"/>
            <p:cNvSpPr>
              <a:spLocks noChangeArrowheads="1"/>
            </p:cNvSpPr>
            <p:nvPr/>
          </p:nvSpPr>
          <p:spPr bwMode="auto">
            <a:xfrm>
              <a:off x="3935" y="2437"/>
              <a:ext cx="50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500">
                  <a:solidFill>
                    <a:srgbClr val="000000"/>
                  </a:solidFill>
                  <a:latin typeface="Arial" panose="020B0604020202020204" pitchFamily="34" charset="0"/>
                </a:rPr>
                <a:t>(variable)</a:t>
              </a:r>
              <a:endParaRPr lang="en-US" altLang="zh-CN" sz="2400">
                <a:solidFill>
                  <a:schemeClr val="tx1"/>
                </a:solidFill>
              </a:endParaRPr>
            </a:p>
          </p:txBody>
        </p:sp>
        <p:sp>
          <p:nvSpPr>
            <p:cNvPr id="94228" name="Freeform 19"/>
            <p:cNvSpPr>
              <a:spLocks/>
            </p:cNvSpPr>
            <p:nvPr/>
          </p:nvSpPr>
          <p:spPr bwMode="auto">
            <a:xfrm>
              <a:off x="1140" y="810"/>
              <a:ext cx="3458" cy="2075"/>
            </a:xfrm>
            <a:custGeom>
              <a:avLst/>
              <a:gdLst>
                <a:gd name="T0" fmla="*/ 3458 w 3458"/>
                <a:gd name="T1" fmla="*/ 2071 h 2075"/>
                <a:gd name="T2" fmla="*/ 3458 w 3458"/>
                <a:gd name="T3" fmla="*/ 0 h 2075"/>
                <a:gd name="T4" fmla="*/ 0 w 3458"/>
                <a:gd name="T5" fmla="*/ 0 h 2075"/>
                <a:gd name="T6" fmla="*/ 0 w 3458"/>
                <a:gd name="T7" fmla="*/ 2075 h 207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458" h="2075">
                  <a:moveTo>
                    <a:pt x="3458" y="2071"/>
                  </a:moveTo>
                  <a:lnTo>
                    <a:pt x="3458" y="0"/>
                  </a:lnTo>
                  <a:lnTo>
                    <a:pt x="0" y="0"/>
                  </a:lnTo>
                  <a:lnTo>
                    <a:pt x="0" y="2075"/>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29" name="Line 20"/>
            <p:cNvSpPr>
              <a:spLocks noChangeShapeType="1"/>
            </p:cNvSpPr>
            <p:nvPr/>
          </p:nvSpPr>
          <p:spPr bwMode="auto">
            <a:xfrm>
              <a:off x="1140" y="1108"/>
              <a:ext cx="3458"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0" name="Line 21"/>
            <p:cNvSpPr>
              <a:spLocks noChangeShapeType="1"/>
            </p:cNvSpPr>
            <p:nvPr/>
          </p:nvSpPr>
          <p:spPr bwMode="auto">
            <a:xfrm>
              <a:off x="1140" y="1407"/>
              <a:ext cx="3458"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1" name="Line 22"/>
            <p:cNvSpPr>
              <a:spLocks noChangeShapeType="1"/>
            </p:cNvSpPr>
            <p:nvPr/>
          </p:nvSpPr>
          <p:spPr bwMode="auto">
            <a:xfrm>
              <a:off x="1140" y="1705"/>
              <a:ext cx="3458"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2" name="Line 23"/>
            <p:cNvSpPr>
              <a:spLocks noChangeShapeType="1"/>
            </p:cNvSpPr>
            <p:nvPr/>
          </p:nvSpPr>
          <p:spPr bwMode="auto">
            <a:xfrm>
              <a:off x="1140" y="2004"/>
              <a:ext cx="3458" cy="3"/>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3" name="Line 24"/>
            <p:cNvSpPr>
              <a:spLocks noChangeShapeType="1"/>
            </p:cNvSpPr>
            <p:nvPr/>
          </p:nvSpPr>
          <p:spPr bwMode="auto">
            <a:xfrm>
              <a:off x="1152" y="2304"/>
              <a:ext cx="3458" cy="4"/>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4" name="Line 25"/>
            <p:cNvSpPr>
              <a:spLocks noChangeShapeType="1"/>
            </p:cNvSpPr>
            <p:nvPr/>
          </p:nvSpPr>
          <p:spPr bwMode="auto">
            <a:xfrm>
              <a:off x="2880" y="816"/>
              <a:ext cx="1" cy="903"/>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5" name="Line 26"/>
            <p:cNvSpPr>
              <a:spLocks noChangeShapeType="1"/>
            </p:cNvSpPr>
            <p:nvPr/>
          </p:nvSpPr>
          <p:spPr bwMode="auto">
            <a:xfrm>
              <a:off x="2201" y="806"/>
              <a:ext cx="1" cy="30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6" name="Line 27"/>
            <p:cNvSpPr>
              <a:spLocks noChangeShapeType="1"/>
            </p:cNvSpPr>
            <p:nvPr/>
          </p:nvSpPr>
          <p:spPr bwMode="auto">
            <a:xfrm>
              <a:off x="3315" y="1108"/>
              <a:ext cx="1" cy="299"/>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7" name="Line 28"/>
            <p:cNvSpPr>
              <a:spLocks noChangeShapeType="1"/>
            </p:cNvSpPr>
            <p:nvPr/>
          </p:nvSpPr>
          <p:spPr bwMode="auto">
            <a:xfrm>
              <a:off x="3760" y="2306"/>
              <a:ext cx="3" cy="299"/>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8" name="Line 29"/>
            <p:cNvSpPr>
              <a:spLocks noChangeShapeType="1"/>
            </p:cNvSpPr>
            <p:nvPr/>
          </p:nvSpPr>
          <p:spPr bwMode="auto">
            <a:xfrm>
              <a:off x="2201" y="1407"/>
              <a:ext cx="1" cy="298"/>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9" name="Line 30"/>
            <p:cNvSpPr>
              <a:spLocks noChangeShapeType="1"/>
            </p:cNvSpPr>
            <p:nvPr/>
          </p:nvSpPr>
          <p:spPr bwMode="auto">
            <a:xfrm>
              <a:off x="1672" y="806"/>
              <a:ext cx="1" cy="30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40" name="Rectangle 31"/>
            <p:cNvSpPr>
              <a:spLocks noChangeArrowheads="1"/>
            </p:cNvSpPr>
            <p:nvPr/>
          </p:nvSpPr>
          <p:spPr bwMode="auto">
            <a:xfrm>
              <a:off x="1108" y="635"/>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500">
                  <a:solidFill>
                    <a:srgbClr val="000000"/>
                  </a:solidFill>
                  <a:latin typeface="Arial" panose="020B0604020202020204" pitchFamily="34" charset="0"/>
                </a:rPr>
                <a:t>0</a:t>
              </a:r>
              <a:endParaRPr lang="en-US" altLang="zh-CN" sz="2400">
                <a:solidFill>
                  <a:schemeClr val="tx1"/>
                </a:solidFill>
              </a:endParaRPr>
            </a:p>
          </p:txBody>
        </p:sp>
        <p:sp>
          <p:nvSpPr>
            <p:cNvPr id="94241" name="Rectangle 32"/>
            <p:cNvSpPr>
              <a:spLocks noChangeArrowheads="1"/>
            </p:cNvSpPr>
            <p:nvPr/>
          </p:nvSpPr>
          <p:spPr bwMode="auto">
            <a:xfrm>
              <a:off x="1636" y="635"/>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500">
                  <a:solidFill>
                    <a:srgbClr val="000000"/>
                  </a:solidFill>
                  <a:latin typeface="Arial" panose="020B0604020202020204" pitchFamily="34" charset="0"/>
                </a:rPr>
                <a:t>4</a:t>
              </a:r>
              <a:endParaRPr lang="en-US" altLang="zh-CN" sz="2400">
                <a:solidFill>
                  <a:schemeClr val="tx1"/>
                </a:solidFill>
              </a:endParaRPr>
            </a:p>
          </p:txBody>
        </p:sp>
        <p:sp>
          <p:nvSpPr>
            <p:cNvPr id="94242" name="Rectangle 33"/>
            <p:cNvSpPr>
              <a:spLocks noChangeArrowheads="1"/>
            </p:cNvSpPr>
            <p:nvPr/>
          </p:nvSpPr>
          <p:spPr bwMode="auto">
            <a:xfrm>
              <a:off x="2164" y="635"/>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500">
                  <a:solidFill>
                    <a:srgbClr val="000000"/>
                  </a:solidFill>
                  <a:latin typeface="Arial" panose="020B0604020202020204" pitchFamily="34" charset="0"/>
                </a:rPr>
                <a:t>8</a:t>
              </a:r>
              <a:endParaRPr lang="en-US" altLang="zh-CN" sz="2400">
                <a:solidFill>
                  <a:schemeClr val="tx1"/>
                </a:solidFill>
              </a:endParaRPr>
            </a:p>
          </p:txBody>
        </p:sp>
        <p:sp>
          <p:nvSpPr>
            <p:cNvPr id="94243" name="Rectangle 34"/>
            <p:cNvSpPr>
              <a:spLocks noChangeArrowheads="1"/>
            </p:cNvSpPr>
            <p:nvPr/>
          </p:nvSpPr>
          <p:spPr bwMode="auto">
            <a:xfrm>
              <a:off x="2794" y="635"/>
              <a:ext cx="13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500">
                  <a:solidFill>
                    <a:srgbClr val="000000"/>
                  </a:solidFill>
                  <a:latin typeface="Arial" panose="020B0604020202020204" pitchFamily="34" charset="0"/>
                </a:rPr>
                <a:t>16</a:t>
              </a:r>
              <a:endParaRPr lang="en-US" altLang="zh-CN" sz="2400">
                <a:solidFill>
                  <a:schemeClr val="tx1"/>
                </a:solidFill>
              </a:endParaRPr>
            </a:p>
          </p:txBody>
        </p:sp>
        <p:sp>
          <p:nvSpPr>
            <p:cNvPr id="94244" name="Rectangle 35"/>
            <p:cNvSpPr>
              <a:spLocks noChangeArrowheads="1"/>
            </p:cNvSpPr>
            <p:nvPr/>
          </p:nvSpPr>
          <p:spPr bwMode="auto">
            <a:xfrm>
              <a:off x="3293" y="635"/>
              <a:ext cx="13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500">
                  <a:solidFill>
                    <a:srgbClr val="000000"/>
                  </a:solidFill>
                  <a:latin typeface="Arial" panose="020B0604020202020204" pitchFamily="34" charset="0"/>
                </a:rPr>
                <a:t>19</a:t>
              </a:r>
              <a:endParaRPr lang="en-US" altLang="zh-CN" sz="2400">
                <a:solidFill>
                  <a:schemeClr val="tx1"/>
                </a:solidFill>
              </a:endParaRPr>
            </a:p>
          </p:txBody>
        </p:sp>
        <p:sp>
          <p:nvSpPr>
            <p:cNvPr id="94245" name="Rectangle 36"/>
            <p:cNvSpPr>
              <a:spLocks noChangeArrowheads="1"/>
            </p:cNvSpPr>
            <p:nvPr/>
          </p:nvSpPr>
          <p:spPr bwMode="auto">
            <a:xfrm>
              <a:off x="4528" y="635"/>
              <a:ext cx="13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500">
                  <a:solidFill>
                    <a:srgbClr val="000000"/>
                  </a:solidFill>
                  <a:latin typeface="Arial" panose="020B0604020202020204" pitchFamily="34" charset="0"/>
                </a:rPr>
                <a:t>31</a:t>
              </a:r>
              <a:endParaRPr lang="en-US" altLang="zh-CN" sz="2400">
                <a:solidFill>
                  <a:schemeClr val="tx1"/>
                </a:solidFill>
              </a:endParaRPr>
            </a:p>
          </p:txBody>
        </p:sp>
        <p:sp>
          <p:nvSpPr>
            <p:cNvPr id="94246" name="Freeform 37"/>
            <p:cNvSpPr>
              <a:spLocks/>
            </p:cNvSpPr>
            <p:nvPr/>
          </p:nvSpPr>
          <p:spPr bwMode="auto">
            <a:xfrm>
              <a:off x="1140" y="2605"/>
              <a:ext cx="3458" cy="407"/>
            </a:xfrm>
            <a:custGeom>
              <a:avLst/>
              <a:gdLst>
                <a:gd name="T0" fmla="*/ 0 w 3458"/>
                <a:gd name="T1" fmla="*/ 375 h 407"/>
                <a:gd name="T2" fmla="*/ 0 w 3458"/>
                <a:gd name="T3" fmla="*/ 0 h 407"/>
                <a:gd name="T4" fmla="*/ 3458 w 3458"/>
                <a:gd name="T5" fmla="*/ 0 h 407"/>
                <a:gd name="T6" fmla="*/ 3458 w 3458"/>
                <a:gd name="T7" fmla="*/ 375 h 407"/>
                <a:gd name="T8" fmla="*/ 3217 w 3458"/>
                <a:gd name="T9" fmla="*/ 254 h 407"/>
                <a:gd name="T10" fmla="*/ 2926 w 3458"/>
                <a:gd name="T11" fmla="*/ 349 h 407"/>
                <a:gd name="T12" fmla="*/ 2667 w 3458"/>
                <a:gd name="T13" fmla="*/ 200 h 407"/>
                <a:gd name="T14" fmla="*/ 2481 w 3458"/>
                <a:gd name="T15" fmla="*/ 349 h 407"/>
                <a:gd name="T16" fmla="*/ 2223 w 3458"/>
                <a:gd name="T17" fmla="*/ 276 h 407"/>
                <a:gd name="T18" fmla="*/ 1964 w 3458"/>
                <a:gd name="T19" fmla="*/ 345 h 407"/>
                <a:gd name="T20" fmla="*/ 1716 w 3458"/>
                <a:gd name="T21" fmla="*/ 251 h 407"/>
                <a:gd name="T22" fmla="*/ 1520 w 3458"/>
                <a:gd name="T23" fmla="*/ 367 h 407"/>
                <a:gd name="T24" fmla="*/ 1352 w 3458"/>
                <a:gd name="T25" fmla="*/ 258 h 407"/>
                <a:gd name="T26" fmla="*/ 1155 w 3458"/>
                <a:gd name="T27" fmla="*/ 324 h 407"/>
                <a:gd name="T28" fmla="*/ 984 w 3458"/>
                <a:gd name="T29" fmla="*/ 251 h 407"/>
                <a:gd name="T30" fmla="*/ 780 w 3458"/>
                <a:gd name="T31" fmla="*/ 407 h 407"/>
                <a:gd name="T32" fmla="*/ 612 w 3458"/>
                <a:gd name="T33" fmla="*/ 265 h 407"/>
                <a:gd name="T34" fmla="*/ 387 w 3458"/>
                <a:gd name="T35" fmla="*/ 345 h 407"/>
                <a:gd name="T36" fmla="*/ 208 w 3458"/>
                <a:gd name="T37" fmla="*/ 265 h 407"/>
                <a:gd name="T38" fmla="*/ 0 w 3458"/>
                <a:gd name="T39" fmla="*/ 378 h 407"/>
                <a:gd name="T40" fmla="*/ 0 w 3458"/>
                <a:gd name="T41" fmla="*/ 378 h 407"/>
                <a:gd name="T42" fmla="*/ 0 w 3458"/>
                <a:gd name="T43" fmla="*/ 375 h 40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458" h="407">
                  <a:moveTo>
                    <a:pt x="0" y="375"/>
                  </a:moveTo>
                  <a:lnTo>
                    <a:pt x="0" y="0"/>
                  </a:lnTo>
                  <a:lnTo>
                    <a:pt x="3458" y="0"/>
                  </a:lnTo>
                  <a:lnTo>
                    <a:pt x="3458" y="375"/>
                  </a:lnTo>
                  <a:lnTo>
                    <a:pt x="3217" y="254"/>
                  </a:lnTo>
                  <a:lnTo>
                    <a:pt x="2926" y="349"/>
                  </a:lnTo>
                  <a:lnTo>
                    <a:pt x="2667" y="200"/>
                  </a:lnTo>
                  <a:lnTo>
                    <a:pt x="2481" y="349"/>
                  </a:lnTo>
                  <a:lnTo>
                    <a:pt x="2223" y="276"/>
                  </a:lnTo>
                  <a:lnTo>
                    <a:pt x="1964" y="345"/>
                  </a:lnTo>
                  <a:lnTo>
                    <a:pt x="1716" y="251"/>
                  </a:lnTo>
                  <a:lnTo>
                    <a:pt x="1520" y="367"/>
                  </a:lnTo>
                  <a:lnTo>
                    <a:pt x="1352" y="258"/>
                  </a:lnTo>
                  <a:lnTo>
                    <a:pt x="1155" y="324"/>
                  </a:lnTo>
                  <a:lnTo>
                    <a:pt x="984" y="251"/>
                  </a:lnTo>
                  <a:lnTo>
                    <a:pt x="780" y="407"/>
                  </a:lnTo>
                  <a:lnTo>
                    <a:pt x="612" y="265"/>
                  </a:lnTo>
                  <a:lnTo>
                    <a:pt x="387" y="345"/>
                  </a:lnTo>
                  <a:lnTo>
                    <a:pt x="208" y="265"/>
                  </a:lnTo>
                  <a:lnTo>
                    <a:pt x="0" y="378"/>
                  </a:lnTo>
                  <a:lnTo>
                    <a:pt x="0" y="375"/>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247" name="Freeform 38"/>
            <p:cNvSpPr>
              <a:spLocks/>
            </p:cNvSpPr>
            <p:nvPr/>
          </p:nvSpPr>
          <p:spPr bwMode="auto">
            <a:xfrm>
              <a:off x="1140" y="2605"/>
              <a:ext cx="3458" cy="407"/>
            </a:xfrm>
            <a:custGeom>
              <a:avLst/>
              <a:gdLst>
                <a:gd name="T0" fmla="*/ 0 w 3458"/>
                <a:gd name="T1" fmla="*/ 375 h 407"/>
                <a:gd name="T2" fmla="*/ 0 w 3458"/>
                <a:gd name="T3" fmla="*/ 0 h 407"/>
                <a:gd name="T4" fmla="*/ 3458 w 3458"/>
                <a:gd name="T5" fmla="*/ 0 h 407"/>
                <a:gd name="T6" fmla="*/ 3458 w 3458"/>
                <a:gd name="T7" fmla="*/ 375 h 407"/>
                <a:gd name="T8" fmla="*/ 3217 w 3458"/>
                <a:gd name="T9" fmla="*/ 254 h 407"/>
                <a:gd name="T10" fmla="*/ 2926 w 3458"/>
                <a:gd name="T11" fmla="*/ 349 h 407"/>
                <a:gd name="T12" fmla="*/ 2667 w 3458"/>
                <a:gd name="T13" fmla="*/ 200 h 407"/>
                <a:gd name="T14" fmla="*/ 2481 w 3458"/>
                <a:gd name="T15" fmla="*/ 349 h 407"/>
                <a:gd name="T16" fmla="*/ 2223 w 3458"/>
                <a:gd name="T17" fmla="*/ 276 h 407"/>
                <a:gd name="T18" fmla="*/ 1964 w 3458"/>
                <a:gd name="T19" fmla="*/ 345 h 407"/>
                <a:gd name="T20" fmla="*/ 1716 w 3458"/>
                <a:gd name="T21" fmla="*/ 251 h 407"/>
                <a:gd name="T22" fmla="*/ 1520 w 3458"/>
                <a:gd name="T23" fmla="*/ 367 h 407"/>
                <a:gd name="T24" fmla="*/ 1352 w 3458"/>
                <a:gd name="T25" fmla="*/ 258 h 407"/>
                <a:gd name="T26" fmla="*/ 1155 w 3458"/>
                <a:gd name="T27" fmla="*/ 324 h 407"/>
                <a:gd name="T28" fmla="*/ 984 w 3458"/>
                <a:gd name="T29" fmla="*/ 251 h 407"/>
                <a:gd name="T30" fmla="*/ 780 w 3458"/>
                <a:gd name="T31" fmla="*/ 407 h 407"/>
                <a:gd name="T32" fmla="*/ 612 w 3458"/>
                <a:gd name="T33" fmla="*/ 265 h 407"/>
                <a:gd name="T34" fmla="*/ 387 w 3458"/>
                <a:gd name="T35" fmla="*/ 345 h 407"/>
                <a:gd name="T36" fmla="*/ 208 w 3458"/>
                <a:gd name="T37" fmla="*/ 265 h 407"/>
                <a:gd name="T38" fmla="*/ 0 w 3458"/>
                <a:gd name="T39" fmla="*/ 378 h 407"/>
                <a:gd name="T40" fmla="*/ 0 w 3458"/>
                <a:gd name="T41" fmla="*/ 378 h 40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458" h="407">
                  <a:moveTo>
                    <a:pt x="0" y="375"/>
                  </a:moveTo>
                  <a:lnTo>
                    <a:pt x="0" y="0"/>
                  </a:lnTo>
                  <a:lnTo>
                    <a:pt x="3458" y="0"/>
                  </a:lnTo>
                  <a:lnTo>
                    <a:pt x="3458" y="375"/>
                  </a:lnTo>
                  <a:lnTo>
                    <a:pt x="3217" y="254"/>
                  </a:lnTo>
                  <a:lnTo>
                    <a:pt x="2926" y="349"/>
                  </a:lnTo>
                  <a:lnTo>
                    <a:pt x="2667" y="200"/>
                  </a:lnTo>
                  <a:lnTo>
                    <a:pt x="2481" y="349"/>
                  </a:lnTo>
                  <a:lnTo>
                    <a:pt x="2223" y="276"/>
                  </a:lnTo>
                  <a:lnTo>
                    <a:pt x="1964" y="345"/>
                  </a:lnTo>
                  <a:lnTo>
                    <a:pt x="1716" y="251"/>
                  </a:lnTo>
                  <a:lnTo>
                    <a:pt x="1520" y="367"/>
                  </a:lnTo>
                  <a:lnTo>
                    <a:pt x="1352" y="258"/>
                  </a:lnTo>
                  <a:lnTo>
                    <a:pt x="1155" y="324"/>
                  </a:lnTo>
                  <a:lnTo>
                    <a:pt x="984" y="251"/>
                  </a:lnTo>
                  <a:lnTo>
                    <a:pt x="780" y="407"/>
                  </a:lnTo>
                  <a:lnTo>
                    <a:pt x="612" y="265"/>
                  </a:lnTo>
                  <a:lnTo>
                    <a:pt x="387" y="345"/>
                  </a:lnTo>
                  <a:lnTo>
                    <a:pt x="208" y="265"/>
                  </a:lnTo>
                  <a:lnTo>
                    <a:pt x="0" y="378"/>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48" name="Rectangle 39"/>
            <p:cNvSpPr>
              <a:spLocks noChangeArrowheads="1"/>
            </p:cNvSpPr>
            <p:nvPr/>
          </p:nvSpPr>
          <p:spPr bwMode="auto">
            <a:xfrm>
              <a:off x="2729" y="2637"/>
              <a:ext cx="25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500">
                  <a:solidFill>
                    <a:srgbClr val="000000"/>
                  </a:solidFill>
                  <a:latin typeface="Arial" panose="020B0604020202020204" pitchFamily="34" charset="0"/>
                </a:rPr>
                <a:t>Data</a:t>
              </a:r>
              <a:endParaRPr lang="en-US" altLang="zh-CN" sz="2400">
                <a:solidFill>
                  <a:schemeClr val="tx1"/>
                </a:solidFill>
              </a:endParaRPr>
            </a:p>
          </p:txBody>
        </p:sp>
        <p:sp>
          <p:nvSpPr>
            <p:cNvPr id="94249" name="Freeform 40"/>
            <p:cNvSpPr>
              <a:spLocks/>
            </p:cNvSpPr>
            <p:nvPr/>
          </p:nvSpPr>
          <p:spPr bwMode="auto">
            <a:xfrm>
              <a:off x="1144" y="2914"/>
              <a:ext cx="3457" cy="499"/>
            </a:xfrm>
            <a:custGeom>
              <a:avLst/>
              <a:gdLst>
                <a:gd name="T0" fmla="*/ 0 w 3457"/>
                <a:gd name="T1" fmla="*/ 175 h 499"/>
                <a:gd name="T2" fmla="*/ 4 w 3457"/>
                <a:gd name="T3" fmla="*/ 499 h 499"/>
                <a:gd name="T4" fmla="*/ 3457 w 3457"/>
                <a:gd name="T5" fmla="*/ 499 h 499"/>
                <a:gd name="T6" fmla="*/ 3457 w 3457"/>
                <a:gd name="T7" fmla="*/ 171 h 499"/>
                <a:gd name="T8" fmla="*/ 3220 w 3457"/>
                <a:gd name="T9" fmla="*/ 55 h 499"/>
                <a:gd name="T10" fmla="*/ 2929 w 3457"/>
                <a:gd name="T11" fmla="*/ 149 h 499"/>
                <a:gd name="T12" fmla="*/ 2670 w 3457"/>
                <a:gd name="T13" fmla="*/ 0 h 499"/>
                <a:gd name="T14" fmla="*/ 2485 w 3457"/>
                <a:gd name="T15" fmla="*/ 149 h 499"/>
                <a:gd name="T16" fmla="*/ 2226 w 3457"/>
                <a:gd name="T17" fmla="*/ 73 h 499"/>
                <a:gd name="T18" fmla="*/ 1964 w 3457"/>
                <a:gd name="T19" fmla="*/ 146 h 499"/>
                <a:gd name="T20" fmla="*/ 1716 w 3457"/>
                <a:gd name="T21" fmla="*/ 51 h 499"/>
                <a:gd name="T22" fmla="*/ 1519 w 3457"/>
                <a:gd name="T23" fmla="*/ 164 h 499"/>
                <a:gd name="T24" fmla="*/ 1352 w 3457"/>
                <a:gd name="T25" fmla="*/ 58 h 499"/>
                <a:gd name="T26" fmla="*/ 1155 w 3457"/>
                <a:gd name="T27" fmla="*/ 124 h 499"/>
                <a:gd name="T28" fmla="*/ 984 w 3457"/>
                <a:gd name="T29" fmla="*/ 51 h 499"/>
                <a:gd name="T30" fmla="*/ 780 w 3457"/>
                <a:gd name="T31" fmla="*/ 208 h 499"/>
                <a:gd name="T32" fmla="*/ 612 w 3457"/>
                <a:gd name="T33" fmla="*/ 66 h 499"/>
                <a:gd name="T34" fmla="*/ 390 w 3457"/>
                <a:gd name="T35" fmla="*/ 146 h 499"/>
                <a:gd name="T36" fmla="*/ 211 w 3457"/>
                <a:gd name="T37" fmla="*/ 66 h 499"/>
                <a:gd name="T38" fmla="*/ 4 w 3457"/>
                <a:gd name="T39" fmla="*/ 178 h 499"/>
                <a:gd name="T40" fmla="*/ 4 w 3457"/>
                <a:gd name="T41" fmla="*/ 178 h 499"/>
                <a:gd name="T42" fmla="*/ 0 w 3457"/>
                <a:gd name="T43" fmla="*/ 175 h 49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457" h="499">
                  <a:moveTo>
                    <a:pt x="0" y="175"/>
                  </a:moveTo>
                  <a:lnTo>
                    <a:pt x="4" y="499"/>
                  </a:lnTo>
                  <a:lnTo>
                    <a:pt x="3457" y="499"/>
                  </a:lnTo>
                  <a:lnTo>
                    <a:pt x="3457" y="171"/>
                  </a:lnTo>
                  <a:lnTo>
                    <a:pt x="3220" y="55"/>
                  </a:lnTo>
                  <a:lnTo>
                    <a:pt x="2929" y="149"/>
                  </a:lnTo>
                  <a:lnTo>
                    <a:pt x="2670" y="0"/>
                  </a:lnTo>
                  <a:lnTo>
                    <a:pt x="2485" y="149"/>
                  </a:lnTo>
                  <a:lnTo>
                    <a:pt x="2226" y="73"/>
                  </a:lnTo>
                  <a:lnTo>
                    <a:pt x="1964" y="146"/>
                  </a:lnTo>
                  <a:lnTo>
                    <a:pt x="1716" y="51"/>
                  </a:lnTo>
                  <a:lnTo>
                    <a:pt x="1519" y="164"/>
                  </a:lnTo>
                  <a:lnTo>
                    <a:pt x="1352" y="58"/>
                  </a:lnTo>
                  <a:lnTo>
                    <a:pt x="1155" y="124"/>
                  </a:lnTo>
                  <a:lnTo>
                    <a:pt x="984" y="51"/>
                  </a:lnTo>
                  <a:lnTo>
                    <a:pt x="780" y="208"/>
                  </a:lnTo>
                  <a:lnTo>
                    <a:pt x="612" y="66"/>
                  </a:lnTo>
                  <a:lnTo>
                    <a:pt x="390" y="146"/>
                  </a:lnTo>
                  <a:lnTo>
                    <a:pt x="211" y="66"/>
                  </a:lnTo>
                  <a:lnTo>
                    <a:pt x="4" y="178"/>
                  </a:lnTo>
                  <a:lnTo>
                    <a:pt x="0" y="175"/>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250" name="Freeform 41"/>
            <p:cNvSpPr>
              <a:spLocks/>
            </p:cNvSpPr>
            <p:nvPr/>
          </p:nvSpPr>
          <p:spPr bwMode="auto">
            <a:xfrm>
              <a:off x="1144" y="2914"/>
              <a:ext cx="3457" cy="499"/>
            </a:xfrm>
            <a:custGeom>
              <a:avLst/>
              <a:gdLst>
                <a:gd name="T0" fmla="*/ 0 w 3457"/>
                <a:gd name="T1" fmla="*/ 175 h 499"/>
                <a:gd name="T2" fmla="*/ 4 w 3457"/>
                <a:gd name="T3" fmla="*/ 499 h 499"/>
                <a:gd name="T4" fmla="*/ 3457 w 3457"/>
                <a:gd name="T5" fmla="*/ 499 h 499"/>
                <a:gd name="T6" fmla="*/ 3457 w 3457"/>
                <a:gd name="T7" fmla="*/ 171 h 499"/>
                <a:gd name="T8" fmla="*/ 3220 w 3457"/>
                <a:gd name="T9" fmla="*/ 55 h 499"/>
                <a:gd name="T10" fmla="*/ 2929 w 3457"/>
                <a:gd name="T11" fmla="*/ 149 h 499"/>
                <a:gd name="T12" fmla="*/ 2670 w 3457"/>
                <a:gd name="T13" fmla="*/ 0 h 499"/>
                <a:gd name="T14" fmla="*/ 2485 w 3457"/>
                <a:gd name="T15" fmla="*/ 149 h 499"/>
                <a:gd name="T16" fmla="*/ 2226 w 3457"/>
                <a:gd name="T17" fmla="*/ 73 h 499"/>
                <a:gd name="T18" fmla="*/ 1964 w 3457"/>
                <a:gd name="T19" fmla="*/ 146 h 499"/>
                <a:gd name="T20" fmla="*/ 1716 w 3457"/>
                <a:gd name="T21" fmla="*/ 51 h 499"/>
                <a:gd name="T22" fmla="*/ 1519 w 3457"/>
                <a:gd name="T23" fmla="*/ 164 h 499"/>
                <a:gd name="T24" fmla="*/ 1352 w 3457"/>
                <a:gd name="T25" fmla="*/ 58 h 499"/>
                <a:gd name="T26" fmla="*/ 1155 w 3457"/>
                <a:gd name="T27" fmla="*/ 124 h 499"/>
                <a:gd name="T28" fmla="*/ 984 w 3457"/>
                <a:gd name="T29" fmla="*/ 51 h 499"/>
                <a:gd name="T30" fmla="*/ 780 w 3457"/>
                <a:gd name="T31" fmla="*/ 208 h 499"/>
                <a:gd name="T32" fmla="*/ 612 w 3457"/>
                <a:gd name="T33" fmla="*/ 66 h 499"/>
                <a:gd name="T34" fmla="*/ 390 w 3457"/>
                <a:gd name="T35" fmla="*/ 146 h 499"/>
                <a:gd name="T36" fmla="*/ 211 w 3457"/>
                <a:gd name="T37" fmla="*/ 66 h 499"/>
                <a:gd name="T38" fmla="*/ 4 w 3457"/>
                <a:gd name="T39" fmla="*/ 178 h 499"/>
                <a:gd name="T40" fmla="*/ 4 w 3457"/>
                <a:gd name="T41" fmla="*/ 178 h 49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457" h="499">
                  <a:moveTo>
                    <a:pt x="0" y="175"/>
                  </a:moveTo>
                  <a:lnTo>
                    <a:pt x="4" y="499"/>
                  </a:lnTo>
                  <a:lnTo>
                    <a:pt x="3457" y="499"/>
                  </a:lnTo>
                  <a:lnTo>
                    <a:pt x="3457" y="171"/>
                  </a:lnTo>
                  <a:lnTo>
                    <a:pt x="3220" y="55"/>
                  </a:lnTo>
                  <a:lnTo>
                    <a:pt x="2929" y="149"/>
                  </a:lnTo>
                  <a:lnTo>
                    <a:pt x="2670" y="0"/>
                  </a:lnTo>
                  <a:lnTo>
                    <a:pt x="2485" y="149"/>
                  </a:lnTo>
                  <a:lnTo>
                    <a:pt x="2226" y="73"/>
                  </a:lnTo>
                  <a:lnTo>
                    <a:pt x="1964" y="146"/>
                  </a:lnTo>
                  <a:lnTo>
                    <a:pt x="1716" y="51"/>
                  </a:lnTo>
                  <a:lnTo>
                    <a:pt x="1519" y="164"/>
                  </a:lnTo>
                  <a:lnTo>
                    <a:pt x="1352" y="58"/>
                  </a:lnTo>
                  <a:lnTo>
                    <a:pt x="1155" y="124"/>
                  </a:lnTo>
                  <a:lnTo>
                    <a:pt x="984" y="51"/>
                  </a:lnTo>
                  <a:lnTo>
                    <a:pt x="780" y="208"/>
                  </a:lnTo>
                  <a:lnTo>
                    <a:pt x="612" y="66"/>
                  </a:lnTo>
                  <a:lnTo>
                    <a:pt x="390" y="146"/>
                  </a:lnTo>
                  <a:lnTo>
                    <a:pt x="211" y="66"/>
                  </a:lnTo>
                  <a:lnTo>
                    <a:pt x="4" y="178"/>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94211" name="Rectangle 42"/>
          <p:cNvSpPr>
            <a:spLocks noGrp="1" noChangeArrowheads="1"/>
          </p:cNvSpPr>
          <p:nvPr>
            <p:ph type="title"/>
          </p:nvPr>
        </p:nvSpPr>
        <p:spPr bwMode="auto">
          <a:xfrm>
            <a:off x="2209800" y="6096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eaLnBrk="1" hangingPunct="1"/>
            <a:r>
              <a:rPr lang="en-US" altLang="zh-CN" sz="3600">
                <a:solidFill>
                  <a:schemeClr val="hlink"/>
                </a:solidFill>
                <a:ea typeface="华文行楷" panose="02010800040101010101" pitchFamily="2" charset="-122"/>
              </a:rPr>
              <a:t>IPv4 </a:t>
            </a:r>
            <a:r>
              <a:rPr lang="zh-CN" altLang="en-US" sz="3600">
                <a:solidFill>
                  <a:schemeClr val="hlink"/>
                </a:solidFill>
                <a:ea typeface="华文行楷" panose="02010800040101010101" pitchFamily="2" charset="-122"/>
              </a:rPr>
              <a:t>数据报</a:t>
            </a:r>
          </a:p>
        </p:txBody>
      </p:sp>
      <p:sp>
        <p:nvSpPr>
          <p:cNvPr id="43" name="Text Box 3"/>
          <p:cNvSpPr txBox="1">
            <a:spLocks noChangeArrowheads="1"/>
          </p:cNvSpPr>
          <p:nvPr/>
        </p:nvSpPr>
        <p:spPr bwMode="auto">
          <a:xfrm>
            <a:off x="6276974" y="1726611"/>
            <a:ext cx="5621337" cy="374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lnSpc>
                <a:spcPct val="90000"/>
              </a:lnSpc>
              <a:spcBef>
                <a:spcPct val="10000"/>
              </a:spcBef>
              <a:buClr>
                <a:schemeClr val="folHlink"/>
              </a:buClr>
              <a:buSzPct val="60000"/>
              <a:buFont typeface="Wingdings" panose="05000000000000000000" pitchFamily="2" charset="2"/>
              <a:buChar char="n"/>
            </a:pPr>
            <a:r>
              <a:rPr kumimoji="1" lang="en-US" altLang="zh-CN" sz="2400">
                <a:solidFill>
                  <a:schemeClr val="tx1"/>
                </a:solidFill>
                <a:latin typeface="Tahoma" panose="020B0604030504040204" pitchFamily="34" charset="0"/>
              </a:rPr>
              <a:t>VERS = </a:t>
            </a:r>
            <a:r>
              <a:rPr kumimoji="1" lang="en-US" altLang="zh-CN" sz="2400" smtClean="0">
                <a:solidFill>
                  <a:schemeClr val="tx1"/>
                </a:solidFill>
                <a:latin typeface="Tahoma" panose="020B0604030504040204" pitchFamily="34" charset="0"/>
              </a:rPr>
              <a:t>IPv4</a:t>
            </a:r>
            <a:r>
              <a:rPr kumimoji="1" lang="zh-CN" altLang="en-US" sz="2400" smtClean="0">
                <a:solidFill>
                  <a:schemeClr val="tx1"/>
                </a:solidFill>
                <a:latin typeface="Tahoma" panose="020B0604030504040204" pitchFamily="34" charset="0"/>
              </a:rPr>
              <a:t>，版本号</a:t>
            </a:r>
            <a:endParaRPr kumimoji="1" lang="en-US" altLang="zh-CN" sz="2400">
              <a:solidFill>
                <a:schemeClr val="tx1"/>
              </a:solidFill>
              <a:latin typeface="Tahoma" panose="020B0604030504040204" pitchFamily="34" charset="0"/>
            </a:endParaRPr>
          </a:p>
          <a:p>
            <a:pPr eaLnBrk="1" hangingPunct="1">
              <a:lnSpc>
                <a:spcPct val="90000"/>
              </a:lnSpc>
              <a:spcBef>
                <a:spcPct val="10000"/>
              </a:spcBef>
              <a:buClr>
                <a:schemeClr val="folHlink"/>
              </a:buClr>
              <a:buSzPct val="60000"/>
              <a:buFont typeface="Wingdings" panose="05000000000000000000" pitchFamily="2" charset="2"/>
              <a:buChar char="n"/>
            </a:pPr>
            <a:r>
              <a:rPr kumimoji="1" lang="en-US" altLang="zh-CN" sz="2400" smtClean="0">
                <a:solidFill>
                  <a:schemeClr val="tx1"/>
                </a:solidFill>
                <a:latin typeface="Tahoma" panose="020B0604030504040204" pitchFamily="34" charset="0"/>
              </a:rPr>
              <a:t>HLen</a:t>
            </a:r>
            <a:r>
              <a:rPr kumimoji="1" lang="zh-CN" altLang="en-US" sz="2400" smtClean="0">
                <a:solidFill>
                  <a:schemeClr val="tx1"/>
                </a:solidFill>
                <a:latin typeface="Tahoma" panose="020B0604030504040204" pitchFamily="34" charset="0"/>
              </a:rPr>
              <a:t>：头标长，</a:t>
            </a:r>
            <a:r>
              <a:rPr kumimoji="1" lang="en-US" altLang="zh-CN" sz="2400" smtClean="0">
                <a:solidFill>
                  <a:schemeClr val="tx1"/>
                </a:solidFill>
                <a:latin typeface="Tahoma" panose="020B0604030504040204" pitchFamily="34" charset="0"/>
              </a:rPr>
              <a:t>32</a:t>
            </a:r>
            <a:r>
              <a:rPr kumimoji="1" lang="zh-CN" altLang="en-US" sz="2400" smtClean="0">
                <a:solidFill>
                  <a:schemeClr val="tx1"/>
                </a:solidFill>
                <a:latin typeface="Tahoma" panose="020B0604030504040204" pitchFamily="34" charset="0"/>
              </a:rPr>
              <a:t>位的整数倍</a:t>
            </a:r>
            <a:endParaRPr kumimoji="1" lang="zh-CN" altLang="en-US" sz="2400">
              <a:solidFill>
                <a:schemeClr val="tx1"/>
              </a:solidFill>
              <a:latin typeface="Tahoma" panose="020B0604030504040204" pitchFamily="34" charset="0"/>
            </a:endParaRPr>
          </a:p>
          <a:p>
            <a:pPr eaLnBrk="1" hangingPunct="1">
              <a:lnSpc>
                <a:spcPct val="90000"/>
              </a:lnSpc>
              <a:spcBef>
                <a:spcPct val="10000"/>
              </a:spcBef>
              <a:buClr>
                <a:schemeClr val="folHlink"/>
              </a:buClr>
              <a:buSzPct val="60000"/>
              <a:buFont typeface="Wingdings" panose="05000000000000000000" pitchFamily="2" charset="2"/>
              <a:buChar char="n"/>
            </a:pPr>
            <a:r>
              <a:rPr kumimoji="1" lang="en-US" altLang="zh-CN" sz="2400" smtClean="0">
                <a:solidFill>
                  <a:schemeClr val="tx1"/>
                </a:solidFill>
                <a:latin typeface="Tahoma" panose="020B0604030504040204" pitchFamily="34" charset="0"/>
              </a:rPr>
              <a:t>TOS</a:t>
            </a:r>
            <a:r>
              <a:rPr kumimoji="1" lang="zh-CN" altLang="en-US" sz="2400" smtClean="0">
                <a:solidFill>
                  <a:schemeClr val="tx1"/>
                </a:solidFill>
                <a:latin typeface="Tahoma" panose="020B0604030504040204" pitchFamily="34" charset="0"/>
              </a:rPr>
              <a:t>：</a:t>
            </a:r>
            <a:r>
              <a:rPr kumimoji="1" lang="en-US" altLang="zh-CN" sz="2400" smtClean="0">
                <a:solidFill>
                  <a:schemeClr val="tx1"/>
                </a:solidFill>
                <a:latin typeface="Tahoma" panose="020B0604030504040204" pitchFamily="34" charset="0"/>
              </a:rPr>
              <a:t>type of service</a:t>
            </a:r>
            <a:r>
              <a:rPr kumimoji="1" lang="zh-CN" altLang="en-US" sz="2400" smtClean="0">
                <a:solidFill>
                  <a:schemeClr val="tx1"/>
                </a:solidFill>
                <a:latin typeface="Tahoma" panose="020B0604030504040204" pitchFamily="34" charset="0"/>
              </a:rPr>
              <a:t>，实际未用</a:t>
            </a:r>
            <a:endParaRPr kumimoji="1" lang="en-US" altLang="zh-CN" sz="2400" smtClean="0">
              <a:solidFill>
                <a:schemeClr val="tx1"/>
              </a:solidFill>
              <a:latin typeface="Tahoma" panose="020B0604030504040204" pitchFamily="34" charset="0"/>
            </a:endParaRPr>
          </a:p>
          <a:p>
            <a:pPr eaLnBrk="1" hangingPunct="1">
              <a:lnSpc>
                <a:spcPct val="90000"/>
              </a:lnSpc>
              <a:spcBef>
                <a:spcPct val="10000"/>
              </a:spcBef>
              <a:buClr>
                <a:schemeClr val="folHlink"/>
              </a:buClr>
              <a:buSzPct val="60000"/>
              <a:buFont typeface="Wingdings" panose="05000000000000000000" pitchFamily="2" charset="2"/>
              <a:buChar char="n"/>
            </a:pPr>
            <a:r>
              <a:rPr kumimoji="1" lang="en-US" altLang="zh-CN" sz="2400" smtClean="0">
                <a:solidFill>
                  <a:schemeClr val="tx1"/>
                </a:solidFill>
                <a:latin typeface="Tahoma" panose="020B0604030504040204" pitchFamily="34" charset="0"/>
              </a:rPr>
              <a:t>ID</a:t>
            </a:r>
            <a:r>
              <a:rPr kumimoji="1" lang="zh-CN" altLang="en-US" sz="2400" smtClean="0">
                <a:solidFill>
                  <a:schemeClr val="tx1"/>
                </a:solidFill>
                <a:latin typeface="Tahoma" panose="020B0604030504040204" pitchFamily="34" charset="0"/>
              </a:rPr>
              <a:t>：序列号</a:t>
            </a:r>
            <a:endParaRPr kumimoji="1" lang="en-US" altLang="zh-CN" sz="2400" smtClean="0">
              <a:solidFill>
                <a:schemeClr val="tx1"/>
              </a:solidFill>
              <a:latin typeface="Tahoma" panose="020B0604030504040204" pitchFamily="34" charset="0"/>
            </a:endParaRPr>
          </a:p>
          <a:p>
            <a:pPr eaLnBrk="1" hangingPunct="1">
              <a:lnSpc>
                <a:spcPct val="90000"/>
              </a:lnSpc>
              <a:spcBef>
                <a:spcPct val="10000"/>
              </a:spcBef>
              <a:buClr>
                <a:schemeClr val="folHlink"/>
              </a:buClr>
              <a:buSzPct val="60000"/>
              <a:buFont typeface="Wingdings" panose="05000000000000000000" pitchFamily="2" charset="2"/>
              <a:buChar char="n"/>
            </a:pPr>
            <a:r>
              <a:rPr kumimoji="1" lang="en-US" altLang="zh-CN" sz="2400" smtClean="0">
                <a:solidFill>
                  <a:schemeClr val="tx1"/>
                </a:solidFill>
                <a:latin typeface="Tahoma" panose="020B0604030504040204" pitchFamily="34" charset="0"/>
              </a:rPr>
              <a:t>Flag</a:t>
            </a:r>
            <a:r>
              <a:rPr kumimoji="1" lang="zh-CN" altLang="en-US" sz="2400" smtClean="0">
                <a:solidFill>
                  <a:schemeClr val="tx1"/>
                </a:solidFill>
                <a:latin typeface="Tahoma" panose="020B0604030504040204" pitchFamily="34" charset="0"/>
              </a:rPr>
              <a:t>和</a:t>
            </a:r>
            <a:r>
              <a:rPr kumimoji="1" lang="en-US" altLang="zh-CN" sz="2400" smtClean="0">
                <a:solidFill>
                  <a:schemeClr val="tx1"/>
                </a:solidFill>
                <a:latin typeface="Tahoma" panose="020B0604030504040204" pitchFamily="34" charset="0"/>
              </a:rPr>
              <a:t>Offset</a:t>
            </a:r>
            <a:r>
              <a:rPr kumimoji="1" lang="zh-CN" altLang="en-US" sz="2400" smtClean="0">
                <a:solidFill>
                  <a:schemeClr val="tx1"/>
                </a:solidFill>
                <a:latin typeface="Tahoma" panose="020B0604030504040204" pitchFamily="34" charset="0"/>
              </a:rPr>
              <a:t>：分片和片偏移</a:t>
            </a:r>
            <a:endParaRPr kumimoji="1" lang="en-US" altLang="zh-CN" sz="2400" smtClean="0">
              <a:solidFill>
                <a:schemeClr val="tx1"/>
              </a:solidFill>
              <a:latin typeface="Tahoma" panose="020B0604030504040204" pitchFamily="34" charset="0"/>
            </a:endParaRPr>
          </a:p>
          <a:p>
            <a:pPr eaLnBrk="1" hangingPunct="1">
              <a:lnSpc>
                <a:spcPct val="90000"/>
              </a:lnSpc>
              <a:spcBef>
                <a:spcPct val="10000"/>
              </a:spcBef>
              <a:buClr>
                <a:schemeClr val="folHlink"/>
              </a:buClr>
              <a:buSzPct val="60000"/>
              <a:buFont typeface="Wingdings" panose="05000000000000000000" pitchFamily="2" charset="2"/>
              <a:buChar char="n"/>
            </a:pPr>
            <a:r>
              <a:rPr kumimoji="1" lang="en-US" altLang="zh-CN" sz="2400" smtClean="0">
                <a:solidFill>
                  <a:schemeClr val="tx1"/>
                </a:solidFill>
                <a:latin typeface="Tahoma" panose="020B0604030504040204" pitchFamily="34" charset="0"/>
              </a:rPr>
              <a:t>TTL</a:t>
            </a:r>
            <a:r>
              <a:rPr kumimoji="1" lang="zh-CN" altLang="en-US" sz="2400" smtClean="0">
                <a:solidFill>
                  <a:schemeClr val="tx1"/>
                </a:solidFill>
                <a:latin typeface="Tahoma" panose="020B0604030504040204" pitchFamily="34" charset="0"/>
              </a:rPr>
              <a:t>：</a:t>
            </a:r>
            <a:r>
              <a:rPr kumimoji="1" lang="en-US" altLang="zh-CN" sz="2400" smtClean="0">
                <a:solidFill>
                  <a:schemeClr val="tx1"/>
                </a:solidFill>
                <a:latin typeface="Tahoma" panose="020B0604030504040204" pitchFamily="34" charset="0"/>
              </a:rPr>
              <a:t>Time To Live</a:t>
            </a:r>
          </a:p>
          <a:p>
            <a:pPr eaLnBrk="1" hangingPunct="1">
              <a:lnSpc>
                <a:spcPct val="90000"/>
              </a:lnSpc>
              <a:spcBef>
                <a:spcPct val="10000"/>
              </a:spcBef>
              <a:buClr>
                <a:schemeClr val="folHlink"/>
              </a:buClr>
              <a:buSzPct val="60000"/>
              <a:buFont typeface="Wingdings" panose="05000000000000000000" pitchFamily="2" charset="2"/>
              <a:buChar char="n"/>
            </a:pPr>
            <a:r>
              <a:rPr kumimoji="1" lang="en-US" altLang="zh-CN" sz="2400" smtClean="0">
                <a:solidFill>
                  <a:schemeClr val="tx1"/>
                </a:solidFill>
                <a:latin typeface="Tahoma" panose="020B0604030504040204" pitchFamily="34" charset="0"/>
              </a:rPr>
              <a:t>Protocol</a:t>
            </a:r>
            <a:r>
              <a:rPr kumimoji="1" lang="zh-CN" altLang="en-US" sz="2400" smtClean="0">
                <a:solidFill>
                  <a:schemeClr val="tx1"/>
                </a:solidFill>
                <a:latin typeface="Tahoma" panose="020B0604030504040204" pitchFamily="34" charset="0"/>
              </a:rPr>
              <a:t>：上层协议类型</a:t>
            </a:r>
            <a:endParaRPr kumimoji="1" lang="en-US" altLang="zh-CN" sz="2400" smtClean="0">
              <a:solidFill>
                <a:schemeClr val="tx1"/>
              </a:solidFill>
              <a:latin typeface="Tahoma" panose="020B0604030504040204" pitchFamily="34" charset="0"/>
            </a:endParaRPr>
          </a:p>
          <a:p>
            <a:pPr eaLnBrk="1" hangingPunct="1">
              <a:lnSpc>
                <a:spcPct val="90000"/>
              </a:lnSpc>
              <a:spcBef>
                <a:spcPct val="10000"/>
              </a:spcBef>
              <a:buClr>
                <a:schemeClr val="folHlink"/>
              </a:buClr>
              <a:buSzPct val="60000"/>
              <a:buFont typeface="Wingdings" panose="05000000000000000000" pitchFamily="2" charset="2"/>
              <a:buChar char="n"/>
            </a:pPr>
            <a:r>
              <a:rPr kumimoji="1" lang="en-US" altLang="zh-CN" sz="2400" smtClean="0">
                <a:solidFill>
                  <a:schemeClr val="tx1"/>
                </a:solidFill>
                <a:latin typeface="Tahoma" panose="020B0604030504040204" pitchFamily="34" charset="0"/>
              </a:rPr>
              <a:t>Checksum</a:t>
            </a:r>
            <a:r>
              <a:rPr kumimoji="1" lang="zh-CN" altLang="en-US" sz="2400" smtClean="0">
                <a:solidFill>
                  <a:schemeClr val="tx1"/>
                </a:solidFill>
                <a:latin typeface="Tahoma" panose="020B0604030504040204" pitchFamily="34" charset="0"/>
              </a:rPr>
              <a:t>：校验和</a:t>
            </a:r>
            <a:endParaRPr kumimoji="1" lang="en-US" altLang="zh-CN" sz="2400" smtClean="0">
              <a:solidFill>
                <a:schemeClr val="tx1"/>
              </a:solidFill>
              <a:latin typeface="Tahoma" panose="020B0604030504040204" pitchFamily="34" charset="0"/>
            </a:endParaRPr>
          </a:p>
          <a:p>
            <a:pPr eaLnBrk="1" hangingPunct="1">
              <a:lnSpc>
                <a:spcPct val="90000"/>
              </a:lnSpc>
              <a:spcBef>
                <a:spcPct val="10000"/>
              </a:spcBef>
              <a:buClr>
                <a:schemeClr val="folHlink"/>
              </a:buClr>
              <a:buSzPct val="60000"/>
              <a:buFont typeface="Wingdings" panose="05000000000000000000" pitchFamily="2" charset="2"/>
              <a:buChar char="n"/>
            </a:pPr>
            <a:r>
              <a:rPr kumimoji="1" lang="zh-CN" altLang="en-US" sz="2400" smtClean="0">
                <a:solidFill>
                  <a:schemeClr val="tx1"/>
                </a:solidFill>
                <a:latin typeface="Tahoma" panose="020B0604030504040204" pitchFamily="34" charset="0"/>
              </a:rPr>
              <a:t>选项</a:t>
            </a:r>
            <a:endParaRPr kumimoji="1" lang="en-US" altLang="zh-CN" sz="2400" smtClean="0">
              <a:solidFill>
                <a:schemeClr val="tx1"/>
              </a:solidFill>
              <a:latin typeface="Tahoma" panose="020B0604030504040204" pitchFamily="34" charset="0"/>
            </a:endParaRPr>
          </a:p>
          <a:p>
            <a:pPr eaLnBrk="1" hangingPunct="1">
              <a:lnSpc>
                <a:spcPct val="90000"/>
              </a:lnSpc>
              <a:spcBef>
                <a:spcPct val="10000"/>
              </a:spcBef>
              <a:buClr>
                <a:schemeClr val="folHlink"/>
              </a:buClr>
              <a:buSzPct val="60000"/>
              <a:buFont typeface="Wingdings" panose="05000000000000000000" pitchFamily="2" charset="2"/>
              <a:buChar char="n"/>
            </a:pPr>
            <a:r>
              <a:rPr kumimoji="1" lang="zh-CN" altLang="en-US" sz="2400">
                <a:solidFill>
                  <a:schemeClr val="tx1"/>
                </a:solidFill>
                <a:latin typeface="Tahoma" panose="020B0604030504040204" pitchFamily="34" charset="0"/>
              </a:rPr>
              <a:t>填充</a:t>
            </a:r>
            <a:r>
              <a:rPr kumimoji="1" lang="zh-CN" altLang="en-US" sz="2400" smtClean="0">
                <a:solidFill>
                  <a:schemeClr val="tx1"/>
                </a:solidFill>
                <a:latin typeface="Tahoma" panose="020B0604030504040204" pitchFamily="34" charset="0"/>
              </a:rPr>
              <a:t>：不足</a:t>
            </a:r>
            <a:r>
              <a:rPr kumimoji="1" lang="en-US" altLang="zh-CN" sz="2400" smtClean="0">
                <a:solidFill>
                  <a:schemeClr val="tx1"/>
                </a:solidFill>
                <a:latin typeface="Tahoma" panose="020B0604030504040204" pitchFamily="34" charset="0"/>
              </a:rPr>
              <a:t>32</a:t>
            </a:r>
            <a:r>
              <a:rPr kumimoji="1" lang="zh-CN" altLang="en-US" sz="2400" smtClean="0">
                <a:solidFill>
                  <a:schemeClr val="tx1"/>
                </a:solidFill>
                <a:latin typeface="Tahoma" panose="020B0604030504040204" pitchFamily="34" charset="0"/>
              </a:rPr>
              <a:t>位整数倍的头部将填充</a:t>
            </a:r>
            <a:endParaRPr kumimoji="1" lang="zh-CN" altLang="en-US" sz="2400">
              <a:solidFill>
                <a:schemeClr val="tx1"/>
              </a:solidFill>
              <a:latin typeface="Tahoma" panose="020B0604030504040204" pitchFamily="34" charset="0"/>
            </a:endParaRPr>
          </a:p>
        </p:txBody>
      </p:sp>
    </p:spTree>
    <p:extLst>
      <p:ext uri="{BB962C8B-B14F-4D97-AF65-F5344CB8AC3E}">
        <p14:creationId xmlns:p14="http://schemas.microsoft.com/office/powerpoint/2010/main" val="221358408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5234" name="Group 2"/>
          <p:cNvGrpSpPr>
            <a:grpSpLocks/>
          </p:cNvGrpSpPr>
          <p:nvPr/>
        </p:nvGrpSpPr>
        <p:grpSpPr bwMode="auto">
          <a:xfrm>
            <a:off x="336550" y="1431925"/>
            <a:ext cx="4729110" cy="5029200"/>
            <a:chOff x="1296" y="243"/>
            <a:chExt cx="3081" cy="3228"/>
          </a:xfrm>
        </p:grpSpPr>
        <p:sp>
          <p:nvSpPr>
            <p:cNvPr id="95236" name="Rectangle 3"/>
            <p:cNvSpPr>
              <a:spLocks noChangeArrowheads="1"/>
            </p:cNvSpPr>
            <p:nvPr/>
          </p:nvSpPr>
          <p:spPr bwMode="auto">
            <a:xfrm>
              <a:off x="1378" y="441"/>
              <a:ext cx="72"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300">
                  <a:solidFill>
                    <a:srgbClr val="000000"/>
                  </a:solidFill>
                  <a:latin typeface="Arial" panose="020B0604020202020204" pitchFamily="34" charset="0"/>
                </a:rPr>
                <a:t>V</a:t>
              </a:r>
              <a:endParaRPr lang="en-US" altLang="zh-CN" sz="2400">
                <a:solidFill>
                  <a:schemeClr val="tx1"/>
                </a:solidFill>
              </a:endParaRPr>
            </a:p>
          </p:txBody>
        </p:sp>
        <p:sp>
          <p:nvSpPr>
            <p:cNvPr id="95237" name="Rectangle 4"/>
            <p:cNvSpPr>
              <a:spLocks noChangeArrowheads="1"/>
            </p:cNvSpPr>
            <p:nvPr/>
          </p:nvSpPr>
          <p:spPr bwMode="auto">
            <a:xfrm>
              <a:off x="1441" y="441"/>
              <a:ext cx="297"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300">
                  <a:solidFill>
                    <a:srgbClr val="000000"/>
                  </a:solidFill>
                  <a:latin typeface="Arial" panose="020B0604020202020204" pitchFamily="34" charset="0"/>
                </a:rPr>
                <a:t>ersion</a:t>
              </a:r>
              <a:endParaRPr lang="en-US" altLang="zh-CN" sz="2400">
                <a:solidFill>
                  <a:schemeClr val="tx1"/>
                </a:solidFill>
              </a:endParaRPr>
            </a:p>
          </p:txBody>
        </p:sp>
        <p:sp>
          <p:nvSpPr>
            <p:cNvPr id="95238" name="Rectangle 5"/>
            <p:cNvSpPr>
              <a:spLocks noChangeArrowheads="1"/>
            </p:cNvSpPr>
            <p:nvPr/>
          </p:nvSpPr>
          <p:spPr bwMode="auto">
            <a:xfrm>
              <a:off x="1901" y="441"/>
              <a:ext cx="67"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300">
                  <a:solidFill>
                    <a:srgbClr val="000000"/>
                  </a:solidFill>
                  <a:latin typeface="Arial" panose="020B0604020202020204" pitchFamily="34" charset="0"/>
                </a:rPr>
                <a:t>T</a:t>
              </a:r>
              <a:endParaRPr lang="en-US" altLang="zh-CN" sz="2400">
                <a:solidFill>
                  <a:schemeClr val="tx1"/>
                </a:solidFill>
              </a:endParaRPr>
            </a:p>
          </p:txBody>
        </p:sp>
        <p:sp>
          <p:nvSpPr>
            <p:cNvPr id="95239" name="Rectangle 6"/>
            <p:cNvSpPr>
              <a:spLocks noChangeArrowheads="1"/>
            </p:cNvSpPr>
            <p:nvPr/>
          </p:nvSpPr>
          <p:spPr bwMode="auto">
            <a:xfrm>
              <a:off x="1954" y="441"/>
              <a:ext cx="506"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300">
                  <a:solidFill>
                    <a:srgbClr val="000000"/>
                  </a:solidFill>
                  <a:latin typeface="Arial" panose="020B0604020202020204" pitchFamily="34" charset="0"/>
                </a:rPr>
                <a:t>rafficClass</a:t>
              </a:r>
              <a:endParaRPr lang="en-US" altLang="zh-CN" sz="2400">
                <a:solidFill>
                  <a:schemeClr val="tx1"/>
                </a:solidFill>
              </a:endParaRPr>
            </a:p>
          </p:txBody>
        </p:sp>
        <p:sp>
          <p:nvSpPr>
            <p:cNvPr id="95240" name="Rectangle 7"/>
            <p:cNvSpPr>
              <a:spLocks noChangeArrowheads="1"/>
            </p:cNvSpPr>
            <p:nvPr/>
          </p:nvSpPr>
          <p:spPr bwMode="auto">
            <a:xfrm>
              <a:off x="3034" y="441"/>
              <a:ext cx="496"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300">
                  <a:solidFill>
                    <a:srgbClr val="000000"/>
                  </a:solidFill>
                  <a:latin typeface="Arial" panose="020B0604020202020204" pitchFamily="34" charset="0"/>
                </a:rPr>
                <a:t>FlowLabel</a:t>
              </a:r>
              <a:endParaRPr lang="en-US" altLang="zh-CN" sz="2400">
                <a:solidFill>
                  <a:schemeClr val="tx1"/>
                </a:solidFill>
              </a:endParaRPr>
            </a:p>
          </p:txBody>
        </p:sp>
        <p:sp>
          <p:nvSpPr>
            <p:cNvPr id="95241" name="Rectangle 8"/>
            <p:cNvSpPr>
              <a:spLocks noChangeArrowheads="1"/>
            </p:cNvSpPr>
            <p:nvPr/>
          </p:nvSpPr>
          <p:spPr bwMode="auto">
            <a:xfrm>
              <a:off x="1831" y="674"/>
              <a:ext cx="574"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300">
                  <a:solidFill>
                    <a:srgbClr val="000000"/>
                  </a:solidFill>
                  <a:latin typeface="Arial" panose="020B0604020202020204" pitchFamily="34" charset="0"/>
                </a:rPr>
                <a:t>PayloadLen</a:t>
              </a:r>
              <a:endParaRPr lang="en-US" altLang="zh-CN" sz="2400">
                <a:solidFill>
                  <a:schemeClr val="tx1"/>
                </a:solidFill>
              </a:endParaRPr>
            </a:p>
          </p:txBody>
        </p:sp>
        <p:sp>
          <p:nvSpPr>
            <p:cNvPr id="95242" name="Rectangle 9"/>
            <p:cNvSpPr>
              <a:spLocks noChangeArrowheads="1"/>
            </p:cNvSpPr>
            <p:nvPr/>
          </p:nvSpPr>
          <p:spPr bwMode="auto">
            <a:xfrm>
              <a:off x="2956" y="674"/>
              <a:ext cx="58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300">
                  <a:solidFill>
                    <a:srgbClr val="000000"/>
                  </a:solidFill>
                  <a:latin typeface="Arial" panose="020B0604020202020204" pitchFamily="34" charset="0"/>
                </a:rPr>
                <a:t>NextHeader</a:t>
              </a:r>
              <a:endParaRPr lang="en-US" altLang="zh-CN" sz="2400">
                <a:solidFill>
                  <a:schemeClr val="tx1"/>
                </a:solidFill>
              </a:endParaRPr>
            </a:p>
          </p:txBody>
        </p:sp>
        <p:sp>
          <p:nvSpPr>
            <p:cNvPr id="95243" name="Rectangle 10"/>
            <p:cNvSpPr>
              <a:spLocks noChangeArrowheads="1"/>
            </p:cNvSpPr>
            <p:nvPr/>
          </p:nvSpPr>
          <p:spPr bwMode="auto">
            <a:xfrm>
              <a:off x="3740" y="674"/>
              <a:ext cx="429"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300">
                  <a:solidFill>
                    <a:srgbClr val="000000"/>
                  </a:solidFill>
                  <a:latin typeface="Arial" panose="020B0604020202020204" pitchFamily="34" charset="0"/>
                </a:rPr>
                <a:t>HopLimit</a:t>
              </a:r>
              <a:endParaRPr lang="en-US" altLang="zh-CN" sz="2400">
                <a:solidFill>
                  <a:schemeClr val="tx1"/>
                </a:solidFill>
              </a:endParaRPr>
            </a:p>
          </p:txBody>
        </p:sp>
        <p:sp>
          <p:nvSpPr>
            <p:cNvPr id="95244" name="Rectangle 11"/>
            <p:cNvSpPr>
              <a:spLocks noChangeArrowheads="1"/>
            </p:cNvSpPr>
            <p:nvPr/>
          </p:nvSpPr>
          <p:spPr bwMode="auto">
            <a:xfrm>
              <a:off x="2467" y="911"/>
              <a:ext cx="744"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300">
                  <a:solidFill>
                    <a:srgbClr val="000000"/>
                  </a:solidFill>
                  <a:latin typeface="Arial" panose="020B0604020202020204" pitchFamily="34" charset="0"/>
                </a:rPr>
                <a:t>SourceAddress</a:t>
              </a:r>
              <a:endParaRPr lang="en-US" altLang="zh-CN" sz="2400">
                <a:solidFill>
                  <a:schemeClr val="tx1"/>
                </a:solidFill>
              </a:endParaRPr>
            </a:p>
          </p:txBody>
        </p:sp>
        <p:sp>
          <p:nvSpPr>
            <p:cNvPr id="95245" name="Rectangle 12"/>
            <p:cNvSpPr>
              <a:spLocks noChangeArrowheads="1"/>
            </p:cNvSpPr>
            <p:nvPr/>
          </p:nvSpPr>
          <p:spPr bwMode="auto">
            <a:xfrm>
              <a:off x="2367" y="1874"/>
              <a:ext cx="934"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300">
                  <a:solidFill>
                    <a:srgbClr val="000000"/>
                  </a:solidFill>
                  <a:latin typeface="Arial" panose="020B0604020202020204" pitchFamily="34" charset="0"/>
                </a:rPr>
                <a:t>DestinationAddress</a:t>
              </a:r>
              <a:endParaRPr lang="en-US" altLang="zh-CN" sz="2400">
                <a:solidFill>
                  <a:schemeClr val="tx1"/>
                </a:solidFill>
              </a:endParaRPr>
            </a:p>
          </p:txBody>
        </p:sp>
        <p:sp>
          <p:nvSpPr>
            <p:cNvPr id="95246" name="Rectangle 13"/>
            <p:cNvSpPr>
              <a:spLocks noChangeArrowheads="1"/>
            </p:cNvSpPr>
            <p:nvPr/>
          </p:nvSpPr>
          <p:spPr bwMode="auto">
            <a:xfrm>
              <a:off x="1327" y="391"/>
              <a:ext cx="2989" cy="257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95247" name="Line 14"/>
            <p:cNvSpPr>
              <a:spLocks noChangeShapeType="1"/>
            </p:cNvSpPr>
            <p:nvPr/>
          </p:nvSpPr>
          <p:spPr bwMode="auto">
            <a:xfrm>
              <a:off x="1344" y="624"/>
              <a:ext cx="298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48" name="Line 15"/>
            <p:cNvSpPr>
              <a:spLocks noChangeShapeType="1"/>
            </p:cNvSpPr>
            <p:nvPr/>
          </p:nvSpPr>
          <p:spPr bwMode="auto">
            <a:xfrm>
              <a:off x="1327" y="867"/>
              <a:ext cx="2989" cy="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49" name="Line 16"/>
            <p:cNvSpPr>
              <a:spLocks noChangeShapeType="1"/>
            </p:cNvSpPr>
            <p:nvPr/>
          </p:nvSpPr>
          <p:spPr bwMode="auto">
            <a:xfrm>
              <a:off x="1327" y="1106"/>
              <a:ext cx="298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0" name="Line 17"/>
            <p:cNvSpPr>
              <a:spLocks noChangeShapeType="1"/>
            </p:cNvSpPr>
            <p:nvPr/>
          </p:nvSpPr>
          <p:spPr bwMode="auto">
            <a:xfrm>
              <a:off x="1296" y="1344"/>
              <a:ext cx="2989" cy="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1" name="Line 18"/>
            <p:cNvSpPr>
              <a:spLocks noChangeShapeType="1"/>
            </p:cNvSpPr>
            <p:nvPr/>
          </p:nvSpPr>
          <p:spPr bwMode="auto">
            <a:xfrm>
              <a:off x="1327" y="1582"/>
              <a:ext cx="298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2" name="Line 19"/>
            <p:cNvSpPr>
              <a:spLocks noChangeShapeType="1"/>
            </p:cNvSpPr>
            <p:nvPr/>
          </p:nvSpPr>
          <p:spPr bwMode="auto">
            <a:xfrm>
              <a:off x="1327" y="1818"/>
              <a:ext cx="2989" cy="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3" name="Line 20"/>
            <p:cNvSpPr>
              <a:spLocks noChangeShapeType="1"/>
            </p:cNvSpPr>
            <p:nvPr/>
          </p:nvSpPr>
          <p:spPr bwMode="auto">
            <a:xfrm>
              <a:off x="1327" y="2060"/>
              <a:ext cx="298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4" name="Line 21"/>
            <p:cNvSpPr>
              <a:spLocks noChangeShapeType="1"/>
            </p:cNvSpPr>
            <p:nvPr/>
          </p:nvSpPr>
          <p:spPr bwMode="auto">
            <a:xfrm>
              <a:off x="1327" y="2300"/>
              <a:ext cx="298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5" name="Line 22"/>
            <p:cNvSpPr>
              <a:spLocks noChangeShapeType="1"/>
            </p:cNvSpPr>
            <p:nvPr/>
          </p:nvSpPr>
          <p:spPr bwMode="auto">
            <a:xfrm>
              <a:off x="1327" y="2536"/>
              <a:ext cx="2989" cy="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6" name="Line 23"/>
            <p:cNvSpPr>
              <a:spLocks noChangeShapeType="1"/>
            </p:cNvSpPr>
            <p:nvPr/>
          </p:nvSpPr>
          <p:spPr bwMode="auto">
            <a:xfrm>
              <a:off x="1327" y="2775"/>
              <a:ext cx="298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7" name="Line 24"/>
            <p:cNvSpPr>
              <a:spLocks noChangeShapeType="1"/>
            </p:cNvSpPr>
            <p:nvPr/>
          </p:nvSpPr>
          <p:spPr bwMode="auto">
            <a:xfrm>
              <a:off x="2880" y="631"/>
              <a:ext cx="1" cy="23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8" name="Line 25"/>
            <p:cNvSpPr>
              <a:spLocks noChangeShapeType="1"/>
            </p:cNvSpPr>
            <p:nvPr/>
          </p:nvSpPr>
          <p:spPr bwMode="auto">
            <a:xfrm>
              <a:off x="2552" y="391"/>
              <a:ext cx="4" cy="2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9" name="Line 26"/>
            <p:cNvSpPr>
              <a:spLocks noChangeShapeType="1"/>
            </p:cNvSpPr>
            <p:nvPr/>
          </p:nvSpPr>
          <p:spPr bwMode="auto">
            <a:xfrm>
              <a:off x="3598" y="631"/>
              <a:ext cx="1" cy="23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60" name="Line 27"/>
            <p:cNvSpPr>
              <a:spLocks noChangeShapeType="1"/>
            </p:cNvSpPr>
            <p:nvPr/>
          </p:nvSpPr>
          <p:spPr bwMode="auto">
            <a:xfrm>
              <a:off x="1778" y="391"/>
              <a:ext cx="3" cy="2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61" name="Rectangle 28"/>
            <p:cNvSpPr>
              <a:spLocks noChangeArrowheads="1"/>
            </p:cNvSpPr>
            <p:nvPr/>
          </p:nvSpPr>
          <p:spPr bwMode="auto">
            <a:xfrm>
              <a:off x="1299" y="243"/>
              <a:ext cx="6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300">
                  <a:solidFill>
                    <a:srgbClr val="000000"/>
                  </a:solidFill>
                  <a:latin typeface="Arial" panose="020B0604020202020204" pitchFamily="34" charset="0"/>
                </a:rPr>
                <a:t>0</a:t>
              </a:r>
              <a:endParaRPr lang="en-US" altLang="zh-CN" sz="2400">
                <a:solidFill>
                  <a:schemeClr val="tx1"/>
                </a:solidFill>
              </a:endParaRPr>
            </a:p>
          </p:txBody>
        </p:sp>
        <p:sp>
          <p:nvSpPr>
            <p:cNvPr id="95262" name="Rectangle 29"/>
            <p:cNvSpPr>
              <a:spLocks noChangeArrowheads="1"/>
            </p:cNvSpPr>
            <p:nvPr/>
          </p:nvSpPr>
          <p:spPr bwMode="auto">
            <a:xfrm>
              <a:off x="1749" y="243"/>
              <a:ext cx="6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300">
                  <a:solidFill>
                    <a:srgbClr val="000000"/>
                  </a:solidFill>
                  <a:latin typeface="Arial" panose="020B0604020202020204" pitchFamily="34" charset="0"/>
                </a:rPr>
                <a:t>4</a:t>
              </a:r>
              <a:endParaRPr lang="en-US" altLang="zh-CN" sz="2400">
                <a:solidFill>
                  <a:schemeClr val="tx1"/>
                </a:solidFill>
              </a:endParaRPr>
            </a:p>
          </p:txBody>
        </p:sp>
        <p:sp>
          <p:nvSpPr>
            <p:cNvPr id="95263" name="Rectangle 30"/>
            <p:cNvSpPr>
              <a:spLocks noChangeArrowheads="1"/>
            </p:cNvSpPr>
            <p:nvPr/>
          </p:nvSpPr>
          <p:spPr bwMode="auto">
            <a:xfrm>
              <a:off x="2496" y="243"/>
              <a:ext cx="12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300">
                  <a:solidFill>
                    <a:srgbClr val="000000"/>
                  </a:solidFill>
                  <a:latin typeface="Arial" panose="020B0604020202020204" pitchFamily="34" charset="0"/>
                </a:rPr>
                <a:t>12</a:t>
              </a:r>
              <a:endParaRPr lang="en-US" altLang="zh-CN" sz="2400">
                <a:solidFill>
                  <a:schemeClr val="tx1"/>
                </a:solidFill>
              </a:endParaRPr>
            </a:p>
          </p:txBody>
        </p:sp>
        <p:sp>
          <p:nvSpPr>
            <p:cNvPr id="95264" name="Rectangle 31"/>
            <p:cNvSpPr>
              <a:spLocks noChangeArrowheads="1"/>
            </p:cNvSpPr>
            <p:nvPr/>
          </p:nvSpPr>
          <p:spPr bwMode="auto">
            <a:xfrm>
              <a:off x="2830" y="243"/>
              <a:ext cx="12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300">
                  <a:solidFill>
                    <a:srgbClr val="000000"/>
                  </a:solidFill>
                  <a:latin typeface="Arial" panose="020B0604020202020204" pitchFamily="34" charset="0"/>
                </a:rPr>
                <a:t>16</a:t>
              </a:r>
              <a:endParaRPr lang="en-US" altLang="zh-CN" sz="2400">
                <a:solidFill>
                  <a:schemeClr val="tx1"/>
                </a:solidFill>
              </a:endParaRPr>
            </a:p>
          </p:txBody>
        </p:sp>
        <p:sp>
          <p:nvSpPr>
            <p:cNvPr id="95265" name="Rectangle 32"/>
            <p:cNvSpPr>
              <a:spLocks noChangeArrowheads="1"/>
            </p:cNvSpPr>
            <p:nvPr/>
          </p:nvSpPr>
          <p:spPr bwMode="auto">
            <a:xfrm>
              <a:off x="3554" y="243"/>
              <a:ext cx="12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300">
                  <a:solidFill>
                    <a:srgbClr val="000000"/>
                  </a:solidFill>
                  <a:latin typeface="Arial" panose="020B0604020202020204" pitchFamily="34" charset="0"/>
                </a:rPr>
                <a:t>24</a:t>
              </a:r>
              <a:endParaRPr lang="en-US" altLang="zh-CN" sz="2400">
                <a:solidFill>
                  <a:schemeClr val="tx1"/>
                </a:solidFill>
              </a:endParaRPr>
            </a:p>
          </p:txBody>
        </p:sp>
        <p:sp>
          <p:nvSpPr>
            <p:cNvPr id="95266" name="Rectangle 33"/>
            <p:cNvSpPr>
              <a:spLocks noChangeArrowheads="1"/>
            </p:cNvSpPr>
            <p:nvPr/>
          </p:nvSpPr>
          <p:spPr bwMode="auto">
            <a:xfrm>
              <a:off x="4256" y="243"/>
              <a:ext cx="12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300">
                  <a:solidFill>
                    <a:srgbClr val="000000"/>
                  </a:solidFill>
                  <a:latin typeface="Arial" panose="020B0604020202020204" pitchFamily="34" charset="0"/>
                </a:rPr>
                <a:t>31</a:t>
              </a:r>
              <a:endParaRPr lang="en-US" altLang="zh-CN" sz="2400">
                <a:solidFill>
                  <a:schemeClr val="tx1"/>
                </a:solidFill>
              </a:endParaRPr>
            </a:p>
          </p:txBody>
        </p:sp>
        <p:sp>
          <p:nvSpPr>
            <p:cNvPr id="95267" name="Freeform 34"/>
            <p:cNvSpPr>
              <a:spLocks/>
            </p:cNvSpPr>
            <p:nvPr/>
          </p:nvSpPr>
          <p:spPr bwMode="auto">
            <a:xfrm>
              <a:off x="1327" y="2775"/>
              <a:ext cx="2989" cy="350"/>
            </a:xfrm>
            <a:custGeom>
              <a:avLst/>
              <a:gdLst>
                <a:gd name="T0" fmla="*/ 0 w 2989"/>
                <a:gd name="T1" fmla="*/ 325 h 350"/>
                <a:gd name="T2" fmla="*/ 0 w 2989"/>
                <a:gd name="T3" fmla="*/ 0 h 350"/>
                <a:gd name="T4" fmla="*/ 2989 w 2989"/>
                <a:gd name="T5" fmla="*/ 0 h 350"/>
                <a:gd name="T6" fmla="*/ 2989 w 2989"/>
                <a:gd name="T7" fmla="*/ 322 h 350"/>
                <a:gd name="T8" fmla="*/ 2784 w 2989"/>
                <a:gd name="T9" fmla="*/ 221 h 350"/>
                <a:gd name="T10" fmla="*/ 2529 w 2989"/>
                <a:gd name="T11" fmla="*/ 303 h 350"/>
                <a:gd name="T12" fmla="*/ 2306 w 2989"/>
                <a:gd name="T13" fmla="*/ 170 h 350"/>
                <a:gd name="T14" fmla="*/ 2145 w 2989"/>
                <a:gd name="T15" fmla="*/ 303 h 350"/>
                <a:gd name="T16" fmla="*/ 1925 w 2989"/>
                <a:gd name="T17" fmla="*/ 237 h 350"/>
                <a:gd name="T18" fmla="*/ 1698 w 2989"/>
                <a:gd name="T19" fmla="*/ 300 h 350"/>
                <a:gd name="T20" fmla="*/ 1484 w 2989"/>
                <a:gd name="T21" fmla="*/ 218 h 350"/>
                <a:gd name="T22" fmla="*/ 1314 w 2989"/>
                <a:gd name="T23" fmla="*/ 315 h 350"/>
                <a:gd name="T24" fmla="*/ 1169 w 2989"/>
                <a:gd name="T25" fmla="*/ 224 h 350"/>
                <a:gd name="T26" fmla="*/ 999 w 2989"/>
                <a:gd name="T27" fmla="*/ 278 h 350"/>
                <a:gd name="T28" fmla="*/ 851 w 2989"/>
                <a:gd name="T29" fmla="*/ 218 h 350"/>
                <a:gd name="T30" fmla="*/ 674 w 2989"/>
                <a:gd name="T31" fmla="*/ 350 h 350"/>
                <a:gd name="T32" fmla="*/ 530 w 2989"/>
                <a:gd name="T33" fmla="*/ 230 h 350"/>
                <a:gd name="T34" fmla="*/ 334 w 2989"/>
                <a:gd name="T35" fmla="*/ 300 h 350"/>
                <a:gd name="T36" fmla="*/ 180 w 2989"/>
                <a:gd name="T37" fmla="*/ 230 h 350"/>
                <a:gd name="T38" fmla="*/ 0 w 2989"/>
                <a:gd name="T39" fmla="*/ 325 h 350"/>
                <a:gd name="T40" fmla="*/ 0 w 2989"/>
                <a:gd name="T41" fmla="*/ 325 h 3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989" h="350">
                  <a:moveTo>
                    <a:pt x="0" y="325"/>
                  </a:moveTo>
                  <a:lnTo>
                    <a:pt x="0" y="0"/>
                  </a:lnTo>
                  <a:lnTo>
                    <a:pt x="2989" y="0"/>
                  </a:lnTo>
                  <a:lnTo>
                    <a:pt x="2989" y="322"/>
                  </a:lnTo>
                  <a:lnTo>
                    <a:pt x="2784" y="221"/>
                  </a:lnTo>
                  <a:lnTo>
                    <a:pt x="2529" y="303"/>
                  </a:lnTo>
                  <a:lnTo>
                    <a:pt x="2306" y="170"/>
                  </a:lnTo>
                  <a:lnTo>
                    <a:pt x="2145" y="303"/>
                  </a:lnTo>
                  <a:lnTo>
                    <a:pt x="1925" y="237"/>
                  </a:lnTo>
                  <a:lnTo>
                    <a:pt x="1698" y="300"/>
                  </a:lnTo>
                  <a:lnTo>
                    <a:pt x="1484" y="218"/>
                  </a:lnTo>
                  <a:lnTo>
                    <a:pt x="1314" y="315"/>
                  </a:lnTo>
                  <a:lnTo>
                    <a:pt x="1169" y="224"/>
                  </a:lnTo>
                  <a:lnTo>
                    <a:pt x="999" y="278"/>
                  </a:lnTo>
                  <a:lnTo>
                    <a:pt x="851" y="218"/>
                  </a:lnTo>
                  <a:lnTo>
                    <a:pt x="674" y="350"/>
                  </a:lnTo>
                  <a:lnTo>
                    <a:pt x="530" y="230"/>
                  </a:lnTo>
                  <a:lnTo>
                    <a:pt x="334" y="300"/>
                  </a:lnTo>
                  <a:lnTo>
                    <a:pt x="180" y="230"/>
                  </a:lnTo>
                  <a:lnTo>
                    <a:pt x="0" y="325"/>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268" name="Freeform 35"/>
            <p:cNvSpPr>
              <a:spLocks/>
            </p:cNvSpPr>
            <p:nvPr/>
          </p:nvSpPr>
          <p:spPr bwMode="auto">
            <a:xfrm>
              <a:off x="1327" y="2775"/>
              <a:ext cx="2989" cy="350"/>
            </a:xfrm>
            <a:custGeom>
              <a:avLst/>
              <a:gdLst>
                <a:gd name="T0" fmla="*/ 0 w 2989"/>
                <a:gd name="T1" fmla="*/ 325 h 350"/>
                <a:gd name="T2" fmla="*/ 0 w 2989"/>
                <a:gd name="T3" fmla="*/ 0 h 350"/>
                <a:gd name="T4" fmla="*/ 2989 w 2989"/>
                <a:gd name="T5" fmla="*/ 0 h 350"/>
                <a:gd name="T6" fmla="*/ 2989 w 2989"/>
                <a:gd name="T7" fmla="*/ 322 h 350"/>
                <a:gd name="T8" fmla="*/ 2784 w 2989"/>
                <a:gd name="T9" fmla="*/ 221 h 350"/>
                <a:gd name="T10" fmla="*/ 2529 w 2989"/>
                <a:gd name="T11" fmla="*/ 303 h 350"/>
                <a:gd name="T12" fmla="*/ 2306 w 2989"/>
                <a:gd name="T13" fmla="*/ 170 h 350"/>
                <a:gd name="T14" fmla="*/ 2145 w 2989"/>
                <a:gd name="T15" fmla="*/ 303 h 350"/>
                <a:gd name="T16" fmla="*/ 1925 w 2989"/>
                <a:gd name="T17" fmla="*/ 237 h 350"/>
                <a:gd name="T18" fmla="*/ 1698 w 2989"/>
                <a:gd name="T19" fmla="*/ 300 h 350"/>
                <a:gd name="T20" fmla="*/ 1484 w 2989"/>
                <a:gd name="T21" fmla="*/ 218 h 350"/>
                <a:gd name="T22" fmla="*/ 1314 w 2989"/>
                <a:gd name="T23" fmla="*/ 315 h 350"/>
                <a:gd name="T24" fmla="*/ 1169 w 2989"/>
                <a:gd name="T25" fmla="*/ 224 h 350"/>
                <a:gd name="T26" fmla="*/ 999 w 2989"/>
                <a:gd name="T27" fmla="*/ 278 h 350"/>
                <a:gd name="T28" fmla="*/ 851 w 2989"/>
                <a:gd name="T29" fmla="*/ 218 h 350"/>
                <a:gd name="T30" fmla="*/ 674 w 2989"/>
                <a:gd name="T31" fmla="*/ 350 h 350"/>
                <a:gd name="T32" fmla="*/ 530 w 2989"/>
                <a:gd name="T33" fmla="*/ 230 h 350"/>
                <a:gd name="T34" fmla="*/ 334 w 2989"/>
                <a:gd name="T35" fmla="*/ 300 h 350"/>
                <a:gd name="T36" fmla="*/ 180 w 2989"/>
                <a:gd name="T37" fmla="*/ 230 h 350"/>
                <a:gd name="T38" fmla="*/ 0 w 2989"/>
                <a:gd name="T39" fmla="*/ 325 h 350"/>
                <a:gd name="T40" fmla="*/ 0 w 2989"/>
                <a:gd name="T41" fmla="*/ 325 h 3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989" h="350">
                  <a:moveTo>
                    <a:pt x="0" y="325"/>
                  </a:moveTo>
                  <a:lnTo>
                    <a:pt x="0" y="0"/>
                  </a:lnTo>
                  <a:lnTo>
                    <a:pt x="2989" y="0"/>
                  </a:lnTo>
                  <a:lnTo>
                    <a:pt x="2989" y="322"/>
                  </a:lnTo>
                  <a:lnTo>
                    <a:pt x="2784" y="221"/>
                  </a:lnTo>
                  <a:lnTo>
                    <a:pt x="2529" y="303"/>
                  </a:lnTo>
                  <a:lnTo>
                    <a:pt x="2306" y="170"/>
                  </a:lnTo>
                  <a:lnTo>
                    <a:pt x="2145" y="303"/>
                  </a:lnTo>
                  <a:lnTo>
                    <a:pt x="1925" y="237"/>
                  </a:lnTo>
                  <a:lnTo>
                    <a:pt x="1698" y="300"/>
                  </a:lnTo>
                  <a:lnTo>
                    <a:pt x="1484" y="218"/>
                  </a:lnTo>
                  <a:lnTo>
                    <a:pt x="1314" y="315"/>
                  </a:lnTo>
                  <a:lnTo>
                    <a:pt x="1169" y="224"/>
                  </a:lnTo>
                  <a:lnTo>
                    <a:pt x="999" y="278"/>
                  </a:lnTo>
                  <a:lnTo>
                    <a:pt x="851" y="218"/>
                  </a:lnTo>
                  <a:lnTo>
                    <a:pt x="674" y="350"/>
                  </a:lnTo>
                  <a:lnTo>
                    <a:pt x="530" y="230"/>
                  </a:lnTo>
                  <a:lnTo>
                    <a:pt x="334" y="300"/>
                  </a:lnTo>
                  <a:lnTo>
                    <a:pt x="180" y="230"/>
                  </a:lnTo>
                  <a:lnTo>
                    <a:pt x="0" y="325"/>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5269" name="Freeform 36"/>
            <p:cNvSpPr>
              <a:spLocks/>
            </p:cNvSpPr>
            <p:nvPr/>
          </p:nvSpPr>
          <p:spPr bwMode="auto">
            <a:xfrm>
              <a:off x="1324" y="3040"/>
              <a:ext cx="2992" cy="431"/>
            </a:xfrm>
            <a:custGeom>
              <a:avLst/>
              <a:gdLst>
                <a:gd name="T0" fmla="*/ 0 w 2992"/>
                <a:gd name="T1" fmla="*/ 154 h 431"/>
                <a:gd name="T2" fmla="*/ 3 w 2992"/>
                <a:gd name="T3" fmla="*/ 431 h 431"/>
                <a:gd name="T4" fmla="*/ 2992 w 2992"/>
                <a:gd name="T5" fmla="*/ 431 h 431"/>
                <a:gd name="T6" fmla="*/ 2992 w 2992"/>
                <a:gd name="T7" fmla="*/ 151 h 431"/>
                <a:gd name="T8" fmla="*/ 2784 w 2992"/>
                <a:gd name="T9" fmla="*/ 50 h 431"/>
                <a:gd name="T10" fmla="*/ 2532 w 2992"/>
                <a:gd name="T11" fmla="*/ 132 h 431"/>
                <a:gd name="T12" fmla="*/ 2309 w 2992"/>
                <a:gd name="T13" fmla="*/ 0 h 431"/>
                <a:gd name="T14" fmla="*/ 2148 w 2992"/>
                <a:gd name="T15" fmla="*/ 132 h 431"/>
                <a:gd name="T16" fmla="*/ 1924 w 2992"/>
                <a:gd name="T17" fmla="*/ 66 h 431"/>
                <a:gd name="T18" fmla="*/ 1701 w 2992"/>
                <a:gd name="T19" fmla="*/ 129 h 431"/>
                <a:gd name="T20" fmla="*/ 1487 w 2992"/>
                <a:gd name="T21" fmla="*/ 44 h 431"/>
                <a:gd name="T22" fmla="*/ 1317 w 2992"/>
                <a:gd name="T23" fmla="*/ 145 h 431"/>
                <a:gd name="T24" fmla="*/ 1172 w 2992"/>
                <a:gd name="T25" fmla="*/ 53 h 431"/>
                <a:gd name="T26" fmla="*/ 1002 w 2992"/>
                <a:gd name="T27" fmla="*/ 107 h 431"/>
                <a:gd name="T28" fmla="*/ 854 w 2992"/>
                <a:gd name="T29" fmla="*/ 44 h 431"/>
                <a:gd name="T30" fmla="*/ 677 w 2992"/>
                <a:gd name="T31" fmla="*/ 179 h 431"/>
                <a:gd name="T32" fmla="*/ 533 w 2992"/>
                <a:gd name="T33" fmla="*/ 60 h 431"/>
                <a:gd name="T34" fmla="*/ 337 w 2992"/>
                <a:gd name="T35" fmla="*/ 129 h 431"/>
                <a:gd name="T36" fmla="*/ 183 w 2992"/>
                <a:gd name="T37" fmla="*/ 60 h 431"/>
                <a:gd name="T38" fmla="*/ 3 w 2992"/>
                <a:gd name="T39" fmla="*/ 154 h 431"/>
                <a:gd name="T40" fmla="*/ 3 w 2992"/>
                <a:gd name="T41" fmla="*/ 154 h 431"/>
                <a:gd name="T42" fmla="*/ 0 w 2992"/>
                <a:gd name="T43" fmla="*/ 154 h 43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992" h="431">
                  <a:moveTo>
                    <a:pt x="0" y="154"/>
                  </a:moveTo>
                  <a:lnTo>
                    <a:pt x="3" y="431"/>
                  </a:lnTo>
                  <a:lnTo>
                    <a:pt x="2992" y="431"/>
                  </a:lnTo>
                  <a:lnTo>
                    <a:pt x="2992" y="151"/>
                  </a:lnTo>
                  <a:lnTo>
                    <a:pt x="2784" y="50"/>
                  </a:lnTo>
                  <a:lnTo>
                    <a:pt x="2532" y="132"/>
                  </a:lnTo>
                  <a:lnTo>
                    <a:pt x="2309" y="0"/>
                  </a:lnTo>
                  <a:lnTo>
                    <a:pt x="2148" y="132"/>
                  </a:lnTo>
                  <a:lnTo>
                    <a:pt x="1924" y="66"/>
                  </a:lnTo>
                  <a:lnTo>
                    <a:pt x="1701" y="129"/>
                  </a:lnTo>
                  <a:lnTo>
                    <a:pt x="1487" y="44"/>
                  </a:lnTo>
                  <a:lnTo>
                    <a:pt x="1317" y="145"/>
                  </a:lnTo>
                  <a:lnTo>
                    <a:pt x="1172" y="53"/>
                  </a:lnTo>
                  <a:lnTo>
                    <a:pt x="1002" y="107"/>
                  </a:lnTo>
                  <a:lnTo>
                    <a:pt x="854" y="44"/>
                  </a:lnTo>
                  <a:lnTo>
                    <a:pt x="677" y="179"/>
                  </a:lnTo>
                  <a:lnTo>
                    <a:pt x="533" y="60"/>
                  </a:lnTo>
                  <a:lnTo>
                    <a:pt x="337" y="129"/>
                  </a:lnTo>
                  <a:lnTo>
                    <a:pt x="183" y="60"/>
                  </a:lnTo>
                  <a:lnTo>
                    <a:pt x="3" y="154"/>
                  </a:lnTo>
                  <a:lnTo>
                    <a:pt x="0" y="154"/>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270" name="Freeform 37"/>
            <p:cNvSpPr>
              <a:spLocks/>
            </p:cNvSpPr>
            <p:nvPr/>
          </p:nvSpPr>
          <p:spPr bwMode="auto">
            <a:xfrm>
              <a:off x="1324" y="3040"/>
              <a:ext cx="2992" cy="431"/>
            </a:xfrm>
            <a:custGeom>
              <a:avLst/>
              <a:gdLst>
                <a:gd name="T0" fmla="*/ 0 w 2992"/>
                <a:gd name="T1" fmla="*/ 154 h 431"/>
                <a:gd name="T2" fmla="*/ 3 w 2992"/>
                <a:gd name="T3" fmla="*/ 431 h 431"/>
                <a:gd name="T4" fmla="*/ 2992 w 2992"/>
                <a:gd name="T5" fmla="*/ 431 h 431"/>
                <a:gd name="T6" fmla="*/ 2992 w 2992"/>
                <a:gd name="T7" fmla="*/ 151 h 431"/>
                <a:gd name="T8" fmla="*/ 2784 w 2992"/>
                <a:gd name="T9" fmla="*/ 50 h 431"/>
                <a:gd name="T10" fmla="*/ 2532 w 2992"/>
                <a:gd name="T11" fmla="*/ 132 h 431"/>
                <a:gd name="T12" fmla="*/ 2309 w 2992"/>
                <a:gd name="T13" fmla="*/ 0 h 431"/>
                <a:gd name="T14" fmla="*/ 2148 w 2992"/>
                <a:gd name="T15" fmla="*/ 132 h 431"/>
                <a:gd name="T16" fmla="*/ 1924 w 2992"/>
                <a:gd name="T17" fmla="*/ 66 h 431"/>
                <a:gd name="T18" fmla="*/ 1701 w 2992"/>
                <a:gd name="T19" fmla="*/ 129 h 431"/>
                <a:gd name="T20" fmla="*/ 1487 w 2992"/>
                <a:gd name="T21" fmla="*/ 44 h 431"/>
                <a:gd name="T22" fmla="*/ 1317 w 2992"/>
                <a:gd name="T23" fmla="*/ 145 h 431"/>
                <a:gd name="T24" fmla="*/ 1172 w 2992"/>
                <a:gd name="T25" fmla="*/ 53 h 431"/>
                <a:gd name="T26" fmla="*/ 1002 w 2992"/>
                <a:gd name="T27" fmla="*/ 107 h 431"/>
                <a:gd name="T28" fmla="*/ 854 w 2992"/>
                <a:gd name="T29" fmla="*/ 44 h 431"/>
                <a:gd name="T30" fmla="*/ 677 w 2992"/>
                <a:gd name="T31" fmla="*/ 179 h 431"/>
                <a:gd name="T32" fmla="*/ 533 w 2992"/>
                <a:gd name="T33" fmla="*/ 60 h 431"/>
                <a:gd name="T34" fmla="*/ 337 w 2992"/>
                <a:gd name="T35" fmla="*/ 129 h 431"/>
                <a:gd name="T36" fmla="*/ 183 w 2992"/>
                <a:gd name="T37" fmla="*/ 60 h 431"/>
                <a:gd name="T38" fmla="*/ 3 w 2992"/>
                <a:gd name="T39" fmla="*/ 154 h 431"/>
                <a:gd name="T40" fmla="*/ 3 w 2992"/>
                <a:gd name="T41" fmla="*/ 154 h 43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992" h="431">
                  <a:moveTo>
                    <a:pt x="0" y="154"/>
                  </a:moveTo>
                  <a:lnTo>
                    <a:pt x="3" y="431"/>
                  </a:lnTo>
                  <a:lnTo>
                    <a:pt x="2992" y="431"/>
                  </a:lnTo>
                  <a:lnTo>
                    <a:pt x="2992" y="151"/>
                  </a:lnTo>
                  <a:lnTo>
                    <a:pt x="2784" y="50"/>
                  </a:lnTo>
                  <a:lnTo>
                    <a:pt x="2532" y="132"/>
                  </a:lnTo>
                  <a:lnTo>
                    <a:pt x="2309" y="0"/>
                  </a:lnTo>
                  <a:lnTo>
                    <a:pt x="2148" y="132"/>
                  </a:lnTo>
                  <a:lnTo>
                    <a:pt x="1924" y="66"/>
                  </a:lnTo>
                  <a:lnTo>
                    <a:pt x="1701" y="129"/>
                  </a:lnTo>
                  <a:lnTo>
                    <a:pt x="1487" y="44"/>
                  </a:lnTo>
                  <a:lnTo>
                    <a:pt x="1317" y="145"/>
                  </a:lnTo>
                  <a:lnTo>
                    <a:pt x="1172" y="53"/>
                  </a:lnTo>
                  <a:lnTo>
                    <a:pt x="1002" y="107"/>
                  </a:lnTo>
                  <a:lnTo>
                    <a:pt x="854" y="44"/>
                  </a:lnTo>
                  <a:lnTo>
                    <a:pt x="677" y="179"/>
                  </a:lnTo>
                  <a:lnTo>
                    <a:pt x="533" y="60"/>
                  </a:lnTo>
                  <a:lnTo>
                    <a:pt x="337" y="129"/>
                  </a:lnTo>
                  <a:lnTo>
                    <a:pt x="183" y="60"/>
                  </a:lnTo>
                  <a:lnTo>
                    <a:pt x="3" y="154"/>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5271" name="Rectangle 38"/>
            <p:cNvSpPr>
              <a:spLocks noChangeArrowheads="1"/>
            </p:cNvSpPr>
            <p:nvPr/>
          </p:nvSpPr>
          <p:spPr bwMode="auto">
            <a:xfrm>
              <a:off x="2423" y="2818"/>
              <a:ext cx="835"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300">
                  <a:solidFill>
                    <a:srgbClr val="000000"/>
                  </a:solidFill>
                  <a:latin typeface="Arial" panose="020B0604020202020204" pitchFamily="34" charset="0"/>
                </a:rPr>
                <a:t>Next header/data</a:t>
              </a:r>
              <a:endParaRPr lang="en-US" altLang="zh-CN" sz="2400">
                <a:solidFill>
                  <a:schemeClr val="tx1"/>
                </a:solidFill>
              </a:endParaRPr>
            </a:p>
          </p:txBody>
        </p:sp>
      </p:grpSp>
      <p:sp>
        <p:nvSpPr>
          <p:cNvPr id="95235" name="Rectangle 39"/>
          <p:cNvSpPr>
            <a:spLocks noGrp="1" noChangeArrowheads="1"/>
          </p:cNvSpPr>
          <p:nvPr>
            <p:ph type="title"/>
          </p:nvPr>
        </p:nvSpPr>
        <p:spPr bwMode="auto">
          <a:xfrm>
            <a:off x="2209800" y="6096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eaLnBrk="1" hangingPunct="1"/>
            <a:r>
              <a:rPr lang="en-US" altLang="zh-CN" sz="3600">
                <a:solidFill>
                  <a:schemeClr val="hlink"/>
                </a:solidFill>
                <a:ea typeface="华文行楷" panose="02010800040101010101" pitchFamily="2" charset="-122"/>
              </a:rPr>
              <a:t>IPv6 </a:t>
            </a:r>
            <a:r>
              <a:rPr lang="zh-CN" altLang="en-US" sz="3600">
                <a:solidFill>
                  <a:schemeClr val="hlink"/>
                </a:solidFill>
                <a:ea typeface="华文行楷" panose="02010800040101010101" pitchFamily="2" charset="-122"/>
              </a:rPr>
              <a:t>数据报</a:t>
            </a:r>
          </a:p>
        </p:txBody>
      </p:sp>
      <p:sp>
        <p:nvSpPr>
          <p:cNvPr id="40" name="Text Box 3"/>
          <p:cNvSpPr txBox="1">
            <a:spLocks noChangeArrowheads="1"/>
          </p:cNvSpPr>
          <p:nvPr/>
        </p:nvSpPr>
        <p:spPr bwMode="auto">
          <a:xfrm>
            <a:off x="5421763" y="1631348"/>
            <a:ext cx="6503537" cy="3637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lnSpc>
                <a:spcPct val="90000"/>
              </a:lnSpc>
              <a:spcBef>
                <a:spcPct val="10000"/>
              </a:spcBef>
              <a:buClr>
                <a:schemeClr val="folHlink"/>
              </a:buClr>
              <a:buSzPct val="60000"/>
              <a:buFont typeface="Wingdings" panose="05000000000000000000" pitchFamily="2" charset="2"/>
              <a:buChar char="n"/>
            </a:pPr>
            <a:r>
              <a:rPr kumimoji="1" lang="en-US" altLang="zh-CN" sz="2400">
                <a:solidFill>
                  <a:schemeClr val="tx1"/>
                </a:solidFill>
                <a:latin typeface="Tahoma" panose="020B0604030504040204" pitchFamily="34" charset="0"/>
              </a:rPr>
              <a:t>VERS = IPv6</a:t>
            </a:r>
          </a:p>
          <a:p>
            <a:pPr eaLnBrk="1" hangingPunct="1">
              <a:lnSpc>
                <a:spcPct val="90000"/>
              </a:lnSpc>
              <a:spcBef>
                <a:spcPct val="10000"/>
              </a:spcBef>
              <a:buClr>
                <a:schemeClr val="folHlink"/>
              </a:buClr>
              <a:buSzPct val="60000"/>
              <a:buFont typeface="Wingdings" panose="05000000000000000000" pitchFamily="2" charset="2"/>
              <a:buChar char="n"/>
            </a:pPr>
            <a:r>
              <a:rPr kumimoji="1" lang="en-US" altLang="zh-CN" sz="2400">
                <a:solidFill>
                  <a:schemeClr val="tx1"/>
                </a:solidFill>
                <a:latin typeface="Tahoma" panose="020B0604030504040204" pitchFamily="34" charset="0"/>
              </a:rPr>
              <a:t>TRAFFICE CLASS:</a:t>
            </a:r>
            <a:r>
              <a:rPr kumimoji="1" lang="zh-CN" altLang="en-US" sz="2400">
                <a:solidFill>
                  <a:schemeClr val="tx1"/>
                </a:solidFill>
                <a:latin typeface="Tahoma" panose="020B0604030504040204" pitchFamily="34" charset="0"/>
              </a:rPr>
              <a:t>指定</a:t>
            </a:r>
            <a:r>
              <a:rPr kumimoji="1" lang="en-US" altLang="zh-CN" sz="2400">
                <a:solidFill>
                  <a:schemeClr val="tx1"/>
                </a:solidFill>
                <a:latin typeface="Tahoma" panose="020B0604030504040204" pitchFamily="34" charset="0"/>
              </a:rPr>
              <a:t>QoS</a:t>
            </a:r>
            <a:r>
              <a:rPr kumimoji="1" lang="zh-CN" altLang="en-US" sz="2400">
                <a:solidFill>
                  <a:schemeClr val="tx1"/>
                </a:solidFill>
                <a:latin typeface="Tahoma" panose="020B0604030504040204" pitchFamily="34" charset="0"/>
              </a:rPr>
              <a:t>请求的</a:t>
            </a:r>
            <a:r>
              <a:rPr kumimoji="1" lang="zh-CN" altLang="en-US" sz="2400">
                <a:solidFill>
                  <a:srgbClr val="FF0000"/>
                </a:solidFill>
                <a:latin typeface="Tahoma" panose="020B0604030504040204" pitchFamily="34" charset="0"/>
              </a:rPr>
              <a:t>路由</a:t>
            </a:r>
            <a:r>
              <a:rPr kumimoji="1" lang="zh-CN" altLang="en-US" sz="2400">
                <a:solidFill>
                  <a:schemeClr val="tx1"/>
                </a:solidFill>
                <a:latin typeface="Tahoma" panose="020B0604030504040204" pitchFamily="34" charset="0"/>
              </a:rPr>
              <a:t>优先权 </a:t>
            </a:r>
          </a:p>
          <a:p>
            <a:pPr eaLnBrk="1" hangingPunct="1">
              <a:lnSpc>
                <a:spcPct val="90000"/>
              </a:lnSpc>
              <a:spcBef>
                <a:spcPct val="10000"/>
              </a:spcBef>
              <a:buClr>
                <a:schemeClr val="folHlink"/>
              </a:buClr>
              <a:buSzPct val="60000"/>
              <a:buFont typeface="Wingdings" panose="05000000000000000000" pitchFamily="2" charset="2"/>
              <a:buChar char="n"/>
            </a:pPr>
            <a:r>
              <a:rPr kumimoji="1" lang="en-US" altLang="zh-CN" sz="2400">
                <a:solidFill>
                  <a:schemeClr val="tx1"/>
                </a:solidFill>
                <a:latin typeface="Tahoma" panose="020B0604030504040204" pitchFamily="34" charset="0"/>
              </a:rPr>
              <a:t>FLOW LABEL: </a:t>
            </a:r>
            <a:r>
              <a:rPr kumimoji="1" lang="zh-CN" altLang="en-US" sz="2400">
                <a:solidFill>
                  <a:schemeClr val="tx1"/>
                </a:solidFill>
                <a:latin typeface="Tahoma" panose="020B0604030504040204" pitchFamily="34" charset="0"/>
              </a:rPr>
              <a:t>被</a:t>
            </a:r>
            <a:r>
              <a:rPr kumimoji="1" lang="zh-CN" altLang="en-US" sz="2400">
                <a:solidFill>
                  <a:srgbClr val="FF0000"/>
                </a:solidFill>
                <a:latin typeface="Tahoma" panose="020B0604030504040204" pitchFamily="34" charset="0"/>
              </a:rPr>
              <a:t>应用程序</a:t>
            </a:r>
            <a:r>
              <a:rPr kumimoji="1" lang="zh-CN" altLang="en-US" sz="2400">
                <a:solidFill>
                  <a:schemeClr val="tx1"/>
                </a:solidFill>
                <a:latin typeface="Tahoma" panose="020B0604030504040204" pitchFamily="34" charset="0"/>
              </a:rPr>
              <a:t>用作请求性能保证</a:t>
            </a:r>
          </a:p>
          <a:p>
            <a:pPr eaLnBrk="1" hangingPunct="1">
              <a:lnSpc>
                <a:spcPct val="90000"/>
              </a:lnSpc>
              <a:spcBef>
                <a:spcPct val="10000"/>
              </a:spcBef>
              <a:buClr>
                <a:schemeClr val="folHlink"/>
              </a:buClr>
              <a:buSzPct val="60000"/>
              <a:buFont typeface="Wingdings" panose="05000000000000000000" pitchFamily="2" charset="2"/>
              <a:buChar char="n"/>
            </a:pPr>
            <a:r>
              <a:rPr kumimoji="1" lang="en-US" altLang="zh-CN" sz="2400">
                <a:solidFill>
                  <a:schemeClr val="tx1"/>
                </a:solidFill>
                <a:latin typeface="Tahoma" panose="020B0604030504040204" pitchFamily="34" charset="0"/>
              </a:rPr>
              <a:t>PAYLOAD LENGTH: </a:t>
            </a:r>
            <a:r>
              <a:rPr kumimoji="1" lang="zh-CN" altLang="en-US" sz="2400">
                <a:solidFill>
                  <a:schemeClr val="tx1"/>
                </a:solidFill>
                <a:latin typeface="Tahoma" panose="020B0604030504040204" pitchFamily="34" charset="0"/>
              </a:rPr>
              <a:t>与 </a:t>
            </a:r>
            <a:r>
              <a:rPr kumimoji="1" lang="en-US" altLang="zh-CN" sz="2400">
                <a:solidFill>
                  <a:schemeClr val="tx1"/>
                </a:solidFill>
                <a:latin typeface="Tahoma" panose="020B0604030504040204" pitchFamily="34" charset="0"/>
              </a:rPr>
              <a:t>IPv4</a:t>
            </a:r>
            <a:r>
              <a:rPr kumimoji="1" lang="zh-CN" altLang="en-US" sz="2400">
                <a:solidFill>
                  <a:schemeClr val="tx1"/>
                </a:solidFill>
                <a:latin typeface="Tahoma" panose="020B0604030504040204" pitchFamily="34" charset="0"/>
              </a:rPr>
              <a:t>数据报长度类似</a:t>
            </a:r>
            <a:r>
              <a:rPr kumimoji="1" lang="en-US" altLang="zh-CN" sz="2400">
                <a:solidFill>
                  <a:schemeClr val="tx1"/>
                </a:solidFill>
                <a:latin typeface="Tahoma" panose="020B0604030504040204" pitchFamily="34" charset="0"/>
              </a:rPr>
              <a:t>, </a:t>
            </a:r>
            <a:r>
              <a:rPr kumimoji="1" lang="zh-CN" altLang="en-US" sz="2400">
                <a:solidFill>
                  <a:schemeClr val="tx1"/>
                </a:solidFill>
                <a:latin typeface="Tahoma" panose="020B0604030504040204" pitchFamily="34" charset="0"/>
              </a:rPr>
              <a:t>但不包括头长度域</a:t>
            </a:r>
          </a:p>
          <a:p>
            <a:pPr eaLnBrk="1" hangingPunct="1">
              <a:lnSpc>
                <a:spcPct val="90000"/>
              </a:lnSpc>
              <a:spcBef>
                <a:spcPct val="10000"/>
              </a:spcBef>
              <a:buClr>
                <a:schemeClr val="folHlink"/>
              </a:buClr>
              <a:buSzPct val="60000"/>
              <a:buFont typeface="Wingdings" panose="05000000000000000000" pitchFamily="2" charset="2"/>
              <a:buChar char="n"/>
            </a:pPr>
            <a:r>
              <a:rPr kumimoji="1" lang="en-US" altLang="zh-CN" sz="2400">
                <a:solidFill>
                  <a:schemeClr val="tx1"/>
                </a:solidFill>
                <a:latin typeface="Tahoma" panose="020B0604030504040204" pitchFamily="34" charset="0"/>
              </a:rPr>
              <a:t>NEXT HEADER:  </a:t>
            </a:r>
            <a:r>
              <a:rPr kumimoji="1" lang="zh-CN" altLang="en-US" sz="2400">
                <a:solidFill>
                  <a:schemeClr val="tx1"/>
                </a:solidFill>
                <a:latin typeface="Tahoma" panose="020B0604030504040204" pitchFamily="34" charset="0"/>
              </a:rPr>
              <a:t>指出下一个对象是扩展头类型或数据类型</a:t>
            </a:r>
          </a:p>
          <a:p>
            <a:pPr eaLnBrk="1" hangingPunct="1">
              <a:lnSpc>
                <a:spcPct val="90000"/>
              </a:lnSpc>
              <a:spcBef>
                <a:spcPct val="10000"/>
              </a:spcBef>
              <a:buClr>
                <a:schemeClr val="folHlink"/>
              </a:buClr>
              <a:buSzPct val="60000"/>
              <a:buFont typeface="Wingdings" panose="05000000000000000000" pitchFamily="2" charset="2"/>
              <a:buChar char="n"/>
            </a:pPr>
            <a:r>
              <a:rPr kumimoji="1" lang="en-US" altLang="zh-CN" sz="2400">
                <a:solidFill>
                  <a:schemeClr val="tx1"/>
                </a:solidFill>
                <a:latin typeface="Tahoma" panose="020B0604030504040204" pitchFamily="34" charset="0"/>
              </a:rPr>
              <a:t>HOP LIMIT: </a:t>
            </a:r>
            <a:r>
              <a:rPr kumimoji="1" lang="zh-CN" altLang="en-US" sz="2400">
                <a:solidFill>
                  <a:schemeClr val="tx1"/>
                </a:solidFill>
                <a:latin typeface="Tahoma" panose="020B0604030504040204" pitchFamily="34" charset="0"/>
              </a:rPr>
              <a:t>类似于 </a:t>
            </a:r>
            <a:r>
              <a:rPr kumimoji="1" lang="en-US" altLang="zh-CN" sz="2400">
                <a:solidFill>
                  <a:schemeClr val="tx1"/>
                </a:solidFill>
                <a:latin typeface="Tahoma" panose="020B0604030504040204" pitchFamily="34" charset="0"/>
              </a:rPr>
              <a:t>IPv4</a:t>
            </a:r>
            <a:r>
              <a:rPr kumimoji="1" lang="zh-CN" altLang="en-US" sz="2400">
                <a:solidFill>
                  <a:schemeClr val="tx1"/>
                </a:solidFill>
                <a:latin typeface="Tahoma" panose="020B0604030504040204" pitchFamily="34" charset="0"/>
              </a:rPr>
              <a:t>的 </a:t>
            </a:r>
            <a:r>
              <a:rPr kumimoji="1" lang="en-US" altLang="zh-CN" sz="2400">
                <a:solidFill>
                  <a:schemeClr val="tx1"/>
                </a:solidFill>
                <a:latin typeface="Tahoma" panose="020B0604030504040204" pitchFamily="34" charset="0"/>
              </a:rPr>
              <a:t>TimeToLive </a:t>
            </a:r>
            <a:r>
              <a:rPr kumimoji="1" lang="zh-CN" altLang="en-US" sz="2400">
                <a:solidFill>
                  <a:schemeClr val="tx1"/>
                </a:solidFill>
                <a:latin typeface="Tahoma" panose="020B0604030504040204" pitchFamily="34" charset="0"/>
              </a:rPr>
              <a:t>域 但命名不同</a:t>
            </a:r>
          </a:p>
          <a:p>
            <a:pPr eaLnBrk="1" hangingPunct="1">
              <a:lnSpc>
                <a:spcPct val="90000"/>
              </a:lnSpc>
              <a:spcBef>
                <a:spcPct val="10000"/>
              </a:spcBef>
              <a:buClr>
                <a:schemeClr val="folHlink"/>
              </a:buClr>
              <a:buSzPct val="60000"/>
              <a:buFont typeface="Wingdings" panose="05000000000000000000" pitchFamily="2" charset="2"/>
              <a:buChar char="n"/>
            </a:pPr>
            <a:r>
              <a:rPr kumimoji="1" lang="en-US" altLang="zh-CN" sz="2400">
                <a:solidFill>
                  <a:schemeClr val="tx1"/>
                </a:solidFill>
                <a:latin typeface="Tahoma" panose="020B0604030504040204" pitchFamily="34" charset="0"/>
              </a:rPr>
              <a:t>NO CHECKSUM (</a:t>
            </a:r>
            <a:r>
              <a:rPr kumimoji="1" lang="zh-CN" altLang="en-US" sz="2400">
                <a:solidFill>
                  <a:schemeClr val="tx1"/>
                </a:solidFill>
                <a:latin typeface="Tahoma" panose="020B0604030504040204" pitchFamily="34" charset="0"/>
              </a:rPr>
              <a:t>提高处理效率</a:t>
            </a:r>
            <a:r>
              <a:rPr kumimoji="1" lang="en-US" altLang="zh-CN" sz="2400">
                <a:solidFill>
                  <a:schemeClr val="tx1"/>
                </a:solidFill>
                <a:latin typeface="Tahoma" panose="020B0604030504040204" pitchFamily="34" charset="0"/>
              </a:rPr>
              <a:t>)</a:t>
            </a:r>
          </a:p>
        </p:txBody>
      </p:sp>
    </p:spTree>
    <p:extLst>
      <p:ext uri="{BB962C8B-B14F-4D97-AF65-F5344CB8AC3E}">
        <p14:creationId xmlns:p14="http://schemas.microsoft.com/office/powerpoint/2010/main" val="1938191956"/>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bwMode="auto">
          <a:xfrm>
            <a:off x="2209800" y="6096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eaLnBrk="1" hangingPunct="1"/>
            <a:r>
              <a:rPr lang="zh-CN" altLang="en-US" sz="3600">
                <a:solidFill>
                  <a:schemeClr val="hlink"/>
                </a:solidFill>
                <a:ea typeface="华文行楷" panose="02010800040101010101" pitchFamily="2" charset="-122"/>
              </a:rPr>
              <a:t>地址空间</a:t>
            </a:r>
          </a:p>
        </p:txBody>
      </p:sp>
      <p:sp>
        <p:nvSpPr>
          <p:cNvPr id="97283" name="Text Box 3"/>
          <p:cNvSpPr txBox="1">
            <a:spLocks noChangeArrowheads="1"/>
          </p:cNvSpPr>
          <p:nvPr/>
        </p:nvSpPr>
        <p:spPr bwMode="auto">
          <a:xfrm>
            <a:off x="1781175" y="2174876"/>
            <a:ext cx="7488238" cy="2246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57238" indent="-2730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folHlink"/>
              </a:buClr>
              <a:buSzPct val="60000"/>
              <a:buFont typeface="Wingdings" panose="05000000000000000000" pitchFamily="2" charset="2"/>
              <a:buChar char="n"/>
            </a:pPr>
            <a:r>
              <a:rPr kumimoji="1" lang="en-US" altLang="zh-CN" sz="3200">
                <a:solidFill>
                  <a:schemeClr val="tx1"/>
                </a:solidFill>
                <a:latin typeface="Tahoma" panose="020B0604030504040204" pitchFamily="34" charset="0"/>
              </a:rPr>
              <a:t>32 bits </a:t>
            </a:r>
            <a:r>
              <a:rPr kumimoji="1" lang="zh-CN" altLang="en-US" sz="3200">
                <a:solidFill>
                  <a:schemeClr val="tx1"/>
                </a:solidFill>
                <a:latin typeface="Tahoma" panose="020B0604030504040204" pitchFamily="34" charset="0"/>
              </a:rPr>
              <a:t>与 </a:t>
            </a:r>
            <a:r>
              <a:rPr kumimoji="1" lang="en-US" altLang="zh-CN" sz="3200">
                <a:solidFill>
                  <a:schemeClr val="tx1"/>
                </a:solidFill>
                <a:latin typeface="Tahoma" panose="020B0604030504040204" pitchFamily="34" charset="0"/>
              </a:rPr>
              <a:t>128 bits </a:t>
            </a:r>
            <a:r>
              <a:rPr kumimoji="1" lang="en-US" altLang="zh-CN" sz="3200">
                <a:solidFill>
                  <a:schemeClr val="tx1"/>
                </a:solidFill>
                <a:latin typeface="Comic Sans MS" panose="030F0702030302020204" pitchFamily="66" charset="0"/>
              </a:rPr>
              <a:t>–</a:t>
            </a:r>
            <a:r>
              <a:rPr kumimoji="1" lang="en-US" altLang="zh-CN" sz="3200">
                <a:solidFill>
                  <a:schemeClr val="tx1"/>
                </a:solidFill>
                <a:latin typeface="Tahoma" panose="020B0604030504040204" pitchFamily="34" charset="0"/>
              </a:rPr>
              <a:t> </a:t>
            </a:r>
            <a:r>
              <a:rPr kumimoji="1" lang="zh-CN" altLang="en-US" sz="3200">
                <a:solidFill>
                  <a:schemeClr val="tx1"/>
                </a:solidFill>
                <a:latin typeface="Tahoma" panose="020B0604030504040204" pitchFamily="34" charset="0"/>
              </a:rPr>
              <a:t>含义</a:t>
            </a:r>
            <a:r>
              <a:rPr kumimoji="1" lang="en-US" altLang="zh-CN" sz="3200">
                <a:solidFill>
                  <a:schemeClr val="tx1"/>
                </a:solidFill>
                <a:latin typeface="Tahoma" panose="020B0604030504040204" pitchFamily="34" charset="0"/>
              </a:rPr>
              <a:t>?</a:t>
            </a:r>
          </a:p>
          <a:p>
            <a:pPr lvl="1" eaLnBrk="1" hangingPunct="1">
              <a:spcBef>
                <a:spcPct val="20000"/>
              </a:spcBef>
              <a:buClr>
                <a:schemeClr val="hlink"/>
              </a:buClr>
              <a:buSzPct val="55000"/>
              <a:buFont typeface="Wingdings" panose="05000000000000000000" pitchFamily="2" charset="2"/>
              <a:buChar char="n"/>
            </a:pPr>
            <a:r>
              <a:rPr kumimoji="1" lang="en-US" altLang="zh-CN" smtClean="0">
                <a:solidFill>
                  <a:schemeClr val="tx1"/>
                </a:solidFill>
                <a:latin typeface="Tahoma" panose="020B0604030504040204" pitchFamily="34" charset="0"/>
              </a:rPr>
              <a:t>2</a:t>
            </a:r>
            <a:r>
              <a:rPr kumimoji="1" lang="en-US" altLang="zh-CN" baseline="30000" smtClean="0">
                <a:solidFill>
                  <a:schemeClr val="tx1"/>
                </a:solidFill>
                <a:latin typeface="Tahoma" panose="020B0604030504040204" pitchFamily="34" charset="0"/>
              </a:rPr>
              <a:t>32</a:t>
            </a:r>
            <a:r>
              <a:rPr kumimoji="1" lang="en-US" altLang="zh-CN" smtClean="0">
                <a:solidFill>
                  <a:schemeClr val="tx1"/>
                </a:solidFill>
                <a:latin typeface="Tahoma" panose="020B0604030504040204" pitchFamily="34" charset="0"/>
              </a:rPr>
              <a:t> vs 2</a:t>
            </a:r>
            <a:r>
              <a:rPr kumimoji="1" lang="en-US" altLang="zh-CN" baseline="30000" smtClean="0">
                <a:solidFill>
                  <a:schemeClr val="tx1"/>
                </a:solidFill>
                <a:latin typeface="Tahoma" panose="020B0604030504040204" pitchFamily="34" charset="0"/>
              </a:rPr>
              <a:t>128</a:t>
            </a:r>
            <a:endParaRPr kumimoji="1" lang="en-US" altLang="zh-CN" baseline="30000">
              <a:solidFill>
                <a:schemeClr val="tx1"/>
              </a:solidFill>
              <a:latin typeface="Tahoma" panose="020B0604030504040204" pitchFamily="34" charset="0"/>
            </a:endParaRPr>
          </a:p>
          <a:p>
            <a:pPr lvl="1" eaLnBrk="1" hangingPunct="1">
              <a:spcBef>
                <a:spcPct val="20000"/>
              </a:spcBef>
              <a:buClr>
                <a:schemeClr val="hlink"/>
              </a:buClr>
              <a:buSzPct val="55000"/>
              <a:buFont typeface="Wingdings" panose="05000000000000000000" pitchFamily="2" charset="2"/>
              <a:buChar char="n"/>
            </a:pPr>
            <a:r>
              <a:rPr kumimoji="1" lang="zh-CN" altLang="en-US">
                <a:solidFill>
                  <a:schemeClr val="tx1"/>
                </a:solidFill>
                <a:latin typeface="Tahoma" panose="020B0604030504040204" pitchFamily="34" charset="0"/>
              </a:rPr>
              <a:t>地球表面每平方英尺</a:t>
            </a:r>
            <a:r>
              <a:rPr kumimoji="1" lang="en-US" altLang="zh-CN">
                <a:solidFill>
                  <a:schemeClr val="tx1"/>
                </a:solidFill>
                <a:latin typeface="Tahoma" panose="020B0604030504040204" pitchFamily="34" charset="0"/>
              </a:rPr>
              <a:t>1500</a:t>
            </a:r>
            <a:r>
              <a:rPr kumimoji="1" lang="zh-CN" altLang="en-US">
                <a:solidFill>
                  <a:schemeClr val="tx1"/>
                </a:solidFill>
                <a:latin typeface="Tahoma" panose="020B0604030504040204" pitchFamily="34" charset="0"/>
              </a:rPr>
              <a:t>个地址</a:t>
            </a:r>
          </a:p>
          <a:p>
            <a:pPr>
              <a:spcBef>
                <a:spcPct val="50000"/>
              </a:spcBef>
            </a:pPr>
            <a:endParaRPr lang="en-US" altLang="zh-CN"/>
          </a:p>
        </p:txBody>
      </p:sp>
    </p:spTree>
    <p:extLst>
      <p:ext uri="{BB962C8B-B14F-4D97-AF65-F5344CB8AC3E}">
        <p14:creationId xmlns:p14="http://schemas.microsoft.com/office/powerpoint/2010/main" val="305736434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bwMode="auto">
          <a:xfrm>
            <a:off x="2286000" y="266700"/>
            <a:ext cx="7772400" cy="56197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Autofit/>
          </a:bodyPr>
          <a:lstStyle/>
          <a:p>
            <a:pPr eaLnBrk="1" hangingPunct="1"/>
            <a:r>
              <a:rPr lang="en-US" altLang="zh-CN" sz="3600" smtClean="0">
                <a:solidFill>
                  <a:schemeClr val="hlink"/>
                </a:solidFill>
                <a:ea typeface="华文行楷" panose="02010800040101010101" pitchFamily="2" charset="-122"/>
              </a:rPr>
              <a:t>IPv6</a:t>
            </a:r>
            <a:r>
              <a:rPr lang="zh-CN" altLang="en-US" sz="3600" smtClean="0">
                <a:solidFill>
                  <a:schemeClr val="hlink"/>
                </a:solidFill>
                <a:ea typeface="华文行楷" panose="02010800040101010101" pitchFamily="2" charset="-122"/>
              </a:rPr>
              <a:t>地址</a:t>
            </a:r>
            <a:endParaRPr lang="zh-CN" altLang="en-US" sz="3600">
              <a:solidFill>
                <a:schemeClr val="hlink"/>
              </a:solidFill>
              <a:ea typeface="华文行楷" panose="02010800040101010101" pitchFamily="2" charset="-122"/>
            </a:endParaRPr>
          </a:p>
        </p:txBody>
      </p:sp>
      <p:sp>
        <p:nvSpPr>
          <p:cNvPr id="98307" name="Text Box 3"/>
          <p:cNvSpPr txBox="1">
            <a:spLocks noChangeArrowheads="1"/>
          </p:cNvSpPr>
          <p:nvPr/>
        </p:nvSpPr>
        <p:spPr bwMode="auto">
          <a:xfrm>
            <a:off x="1440656" y="1898650"/>
            <a:ext cx="9310687" cy="1618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90525" indent="-390525">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Clr>
                <a:schemeClr val="folHlink"/>
              </a:buClr>
              <a:buSzPct val="60000"/>
              <a:buFont typeface="Wingdings" panose="05000000000000000000" pitchFamily="2" charset="2"/>
              <a:buChar char="n"/>
            </a:pPr>
            <a:r>
              <a:rPr kumimoji="1" lang="zh-CN" altLang="en-US" sz="3200">
                <a:solidFill>
                  <a:schemeClr val="tx1"/>
                </a:solidFill>
                <a:latin typeface="Tahoma" panose="020B0604030504040204" pitchFamily="34" charset="0"/>
              </a:rPr>
              <a:t>前缀指示</a:t>
            </a:r>
            <a:r>
              <a:rPr kumimoji="1" lang="zh-CN" altLang="en-US" sz="3200" smtClean="0">
                <a:solidFill>
                  <a:schemeClr val="tx1"/>
                </a:solidFill>
                <a:latin typeface="Tahoma" panose="020B0604030504040204" pitchFamily="34" charset="0"/>
              </a:rPr>
              <a:t>网络，后缀</a:t>
            </a:r>
            <a:r>
              <a:rPr kumimoji="1" lang="zh-CN" altLang="en-US" sz="3200">
                <a:solidFill>
                  <a:schemeClr val="tx1"/>
                </a:solidFill>
                <a:latin typeface="Tahoma" panose="020B0604030504040204" pitchFamily="34" charset="0"/>
              </a:rPr>
              <a:t>指示主机 </a:t>
            </a:r>
            <a:endParaRPr kumimoji="1" lang="en-US" altLang="zh-CN" sz="3200" smtClean="0">
              <a:solidFill>
                <a:schemeClr val="tx1"/>
              </a:solidFill>
              <a:latin typeface="Tahoma" panose="020B0604030504040204" pitchFamily="34" charset="0"/>
            </a:endParaRPr>
          </a:p>
          <a:p>
            <a:pPr eaLnBrk="1" hangingPunct="1">
              <a:lnSpc>
                <a:spcPct val="90000"/>
              </a:lnSpc>
              <a:spcBef>
                <a:spcPct val="20000"/>
              </a:spcBef>
              <a:buClr>
                <a:schemeClr val="folHlink"/>
              </a:buClr>
              <a:buSzPct val="60000"/>
              <a:buFont typeface="Wingdings" panose="05000000000000000000" pitchFamily="2" charset="2"/>
              <a:buChar char="n"/>
            </a:pPr>
            <a:r>
              <a:rPr kumimoji="1" lang="zh-CN" altLang="en-US" sz="3200" smtClean="0">
                <a:solidFill>
                  <a:schemeClr val="tx1"/>
                </a:solidFill>
                <a:latin typeface="Tahoma" panose="020B0604030504040204" pitchFamily="34" charset="0"/>
              </a:rPr>
              <a:t>无</a:t>
            </a:r>
            <a:r>
              <a:rPr kumimoji="1" lang="zh-CN" altLang="en-US" sz="3200">
                <a:solidFill>
                  <a:schemeClr val="tx1"/>
                </a:solidFill>
                <a:latin typeface="Tahoma" panose="020B0604030504040204" pitchFamily="34" charset="0"/>
              </a:rPr>
              <a:t>固定</a:t>
            </a:r>
            <a:r>
              <a:rPr kumimoji="1" lang="zh-CN" altLang="en-US" sz="3200" smtClean="0">
                <a:solidFill>
                  <a:schemeClr val="tx1"/>
                </a:solidFill>
                <a:latin typeface="Tahoma" panose="020B0604030504040204" pitchFamily="34" charset="0"/>
              </a:rPr>
              <a:t>类别：前缀</a:t>
            </a:r>
            <a:r>
              <a:rPr kumimoji="1" lang="zh-CN" altLang="en-US" sz="3200">
                <a:solidFill>
                  <a:schemeClr val="tx1"/>
                </a:solidFill>
                <a:latin typeface="Tahoma" panose="020B0604030504040204" pitchFamily="34" charset="0"/>
              </a:rPr>
              <a:t>与后缀无明显</a:t>
            </a:r>
            <a:r>
              <a:rPr kumimoji="1" lang="zh-CN" altLang="en-US" sz="3200" smtClean="0">
                <a:solidFill>
                  <a:schemeClr val="tx1"/>
                </a:solidFill>
                <a:latin typeface="Tahoma" panose="020B0604030504040204" pitchFamily="34" charset="0"/>
              </a:rPr>
              <a:t>界限</a:t>
            </a:r>
            <a:r>
              <a:rPr kumimoji="1" lang="en-US" altLang="zh-CN" sz="3200" smtClean="0">
                <a:solidFill>
                  <a:schemeClr val="tx1"/>
                </a:solidFill>
                <a:latin typeface="Tahoma" panose="020B0604030504040204" pitchFamily="34" charset="0"/>
              </a:rPr>
              <a:t>(</a:t>
            </a:r>
            <a:r>
              <a:rPr kumimoji="1" lang="en-US" altLang="zh-CN" sz="3200">
                <a:solidFill>
                  <a:schemeClr val="tx1"/>
                </a:solidFill>
                <a:latin typeface="Tahoma" panose="020B0604030504040204" pitchFamily="34" charset="0"/>
              </a:rPr>
              <a:t>CIDR only)</a:t>
            </a:r>
          </a:p>
          <a:p>
            <a:pPr eaLnBrk="1" hangingPunct="1">
              <a:lnSpc>
                <a:spcPct val="90000"/>
              </a:lnSpc>
              <a:spcBef>
                <a:spcPct val="20000"/>
              </a:spcBef>
              <a:buClr>
                <a:schemeClr val="folHlink"/>
              </a:buClr>
              <a:buSzPct val="60000"/>
              <a:buFont typeface="Wingdings" panose="05000000000000000000" pitchFamily="2" charset="2"/>
              <a:buChar char="n"/>
            </a:pPr>
            <a:r>
              <a:rPr kumimoji="1" lang="zh-CN" altLang="en-US" sz="3200">
                <a:solidFill>
                  <a:schemeClr val="tx1"/>
                </a:solidFill>
                <a:latin typeface="Tahoma" panose="020B0604030504040204" pitchFamily="34" charset="0"/>
              </a:rPr>
              <a:t>前缀长度与每个地址相关</a:t>
            </a:r>
            <a:endParaRPr lang="zh-CN" altLang="en-US"/>
          </a:p>
        </p:txBody>
      </p:sp>
    </p:spTree>
    <p:extLst>
      <p:ext uri="{BB962C8B-B14F-4D97-AF65-F5344CB8AC3E}">
        <p14:creationId xmlns:p14="http://schemas.microsoft.com/office/powerpoint/2010/main" val="52703745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body" idx="1"/>
          </p:nvPr>
        </p:nvSpPr>
        <p:spPr bwMode="auto">
          <a:xfrm>
            <a:off x="2270125" y="1803400"/>
            <a:ext cx="7772400" cy="233045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zh-CN" altLang="en-US" smtClean="0"/>
              <a:t>单播</a:t>
            </a:r>
            <a:r>
              <a:rPr lang="en-US" altLang="zh-CN" smtClean="0"/>
              <a:t>: </a:t>
            </a:r>
            <a:r>
              <a:rPr lang="zh-CN" altLang="en-US" smtClean="0"/>
              <a:t>只传给一台机器</a:t>
            </a:r>
          </a:p>
          <a:p>
            <a:pPr eaLnBrk="1" hangingPunct="1"/>
            <a:r>
              <a:rPr lang="zh-CN" altLang="en-US" smtClean="0"/>
              <a:t>多播</a:t>
            </a:r>
            <a:r>
              <a:rPr lang="en-US" altLang="zh-CN" smtClean="0"/>
              <a:t>: </a:t>
            </a:r>
            <a:r>
              <a:rPr lang="zh-CN" altLang="en-US" smtClean="0"/>
              <a:t>传给一类机器 </a:t>
            </a:r>
            <a:r>
              <a:rPr lang="en-US" altLang="zh-CN" smtClean="0"/>
              <a:t>(</a:t>
            </a:r>
            <a:r>
              <a:rPr lang="zh-CN" altLang="en-US" smtClean="0"/>
              <a:t>可以是任何地方</a:t>
            </a:r>
            <a:r>
              <a:rPr lang="en-US" altLang="zh-CN" smtClean="0"/>
              <a:t>)</a:t>
            </a:r>
          </a:p>
          <a:p>
            <a:pPr eaLnBrk="1" hangingPunct="1"/>
            <a:r>
              <a:rPr lang="zh-CN" altLang="en-US" smtClean="0"/>
              <a:t>任意播送</a:t>
            </a:r>
            <a:r>
              <a:rPr lang="en-US" altLang="zh-CN" smtClean="0"/>
              <a:t>: </a:t>
            </a:r>
            <a:r>
              <a:rPr lang="zh-CN" altLang="en-US" smtClean="0"/>
              <a:t>传给共享已给前缀的任何一台机器</a:t>
            </a:r>
          </a:p>
        </p:txBody>
      </p:sp>
      <p:sp>
        <p:nvSpPr>
          <p:cNvPr id="99331" name="Rectangle 3"/>
          <p:cNvSpPr>
            <a:spLocks noGrp="1" noChangeArrowheads="1"/>
          </p:cNvSpPr>
          <p:nvPr>
            <p:ph type="title"/>
          </p:nvPr>
        </p:nvSpPr>
        <p:spPr bwMode="auto">
          <a:xfrm>
            <a:off x="1914525" y="1905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地址类型</a:t>
            </a:r>
          </a:p>
        </p:txBody>
      </p:sp>
    </p:spTree>
    <p:extLst>
      <p:ext uri="{BB962C8B-B14F-4D97-AF65-F5344CB8AC3E}">
        <p14:creationId xmlns:p14="http://schemas.microsoft.com/office/powerpoint/2010/main" val="35053195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body" idx="1"/>
          </p:nvPr>
        </p:nvSpPr>
        <p:spPr bwMode="auto">
          <a:xfrm>
            <a:off x="1535702" y="1752600"/>
            <a:ext cx="8808449" cy="3070225"/>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p>
            <a:pPr eaLnBrk="1" hangingPunct="1">
              <a:lnSpc>
                <a:spcPct val="90000"/>
              </a:lnSpc>
            </a:pPr>
            <a:r>
              <a:rPr lang="zh-CN" altLang="en-US" sz="3200"/>
              <a:t>为了</a:t>
            </a:r>
            <a:r>
              <a:rPr lang="zh-CN" altLang="en-US" sz="3200" smtClean="0"/>
              <a:t>兼容性而保留的</a:t>
            </a:r>
            <a:r>
              <a:rPr lang="en-US" altLang="zh-CN" sz="3200" smtClean="0"/>
              <a:t>Ipv4 </a:t>
            </a:r>
            <a:r>
              <a:rPr lang="zh-CN" altLang="en-US" sz="3200" smtClean="0"/>
              <a:t>地址</a:t>
            </a:r>
          </a:p>
          <a:p>
            <a:pPr lvl="1" eaLnBrk="1" hangingPunct="1">
              <a:lnSpc>
                <a:spcPct val="90000"/>
              </a:lnSpc>
            </a:pPr>
            <a:r>
              <a:rPr lang="en-US" altLang="zh-CN" sz="2800" smtClean="0"/>
              <a:t>96 </a:t>
            </a:r>
            <a:r>
              <a:rPr lang="zh-CN" altLang="en-US" sz="2800" smtClean="0"/>
              <a:t>个</a:t>
            </a:r>
            <a:r>
              <a:rPr lang="en-US" altLang="zh-CN" sz="2800" smtClean="0"/>
              <a:t>0 + IPv4 </a:t>
            </a:r>
            <a:r>
              <a:rPr lang="zh-CN" altLang="en-US" sz="2800" smtClean="0"/>
              <a:t>地址 </a:t>
            </a:r>
            <a:r>
              <a:rPr lang="en-US" altLang="zh-CN" sz="2800" smtClean="0"/>
              <a:t>= </a:t>
            </a:r>
            <a:r>
              <a:rPr lang="zh-CN" altLang="en-US" sz="2800" smtClean="0"/>
              <a:t>有效的</a:t>
            </a:r>
            <a:r>
              <a:rPr lang="en-US" altLang="zh-CN" sz="2800" smtClean="0"/>
              <a:t>IPv6 </a:t>
            </a:r>
            <a:r>
              <a:rPr lang="zh-CN" altLang="en-US" sz="2800" smtClean="0"/>
              <a:t>地址</a:t>
            </a:r>
          </a:p>
          <a:p>
            <a:pPr eaLnBrk="1" hangingPunct="1">
              <a:lnSpc>
                <a:spcPct val="90000"/>
              </a:lnSpc>
            </a:pPr>
            <a:r>
              <a:rPr lang="zh-CN" altLang="en-US" sz="3200" smtClean="0"/>
              <a:t>本地使用的</a:t>
            </a:r>
            <a:r>
              <a:rPr lang="en-US" altLang="zh-CN" sz="3200" smtClean="0"/>
              <a:t>IP</a:t>
            </a:r>
            <a:r>
              <a:rPr lang="zh-CN" altLang="en-US" sz="3200" smtClean="0"/>
              <a:t>地址</a:t>
            </a:r>
          </a:p>
          <a:p>
            <a:pPr lvl="1" eaLnBrk="1" hangingPunct="1">
              <a:lnSpc>
                <a:spcPct val="90000"/>
              </a:lnSpc>
            </a:pPr>
            <a:r>
              <a:rPr lang="zh-CN" altLang="en-US" sz="2800" smtClean="0"/>
              <a:t>特殊的前缀意味着 </a:t>
            </a:r>
            <a:r>
              <a:rPr lang="zh-CN" altLang="en-US" sz="2800" smtClean="0">
                <a:latin typeface="Comic Sans MS" panose="030F0702030302020204" pitchFamily="66" charset="0"/>
              </a:rPr>
              <a:t>“</a:t>
            </a:r>
            <a:r>
              <a:rPr lang="zh-CN" altLang="en-US" sz="2800" smtClean="0"/>
              <a:t>不需要保持全局唯一性</a:t>
            </a:r>
            <a:r>
              <a:rPr lang="zh-CN" altLang="en-US" sz="2800" smtClean="0">
                <a:latin typeface="Comic Sans MS" panose="030F0702030302020204" pitchFamily="66" charset="0"/>
              </a:rPr>
              <a:t>”</a:t>
            </a:r>
            <a:endParaRPr lang="zh-CN" altLang="en-US" sz="2800" smtClean="0"/>
          </a:p>
          <a:p>
            <a:pPr lvl="1" eaLnBrk="1" hangingPunct="1">
              <a:lnSpc>
                <a:spcPct val="90000"/>
              </a:lnSpc>
            </a:pPr>
            <a:r>
              <a:rPr lang="zh-CN" altLang="en-US" sz="2800" smtClean="0"/>
              <a:t>只允许本地使用</a:t>
            </a:r>
          </a:p>
          <a:p>
            <a:pPr lvl="1" eaLnBrk="1" hangingPunct="1">
              <a:lnSpc>
                <a:spcPct val="90000"/>
              </a:lnSpc>
            </a:pPr>
            <a:r>
              <a:rPr lang="zh-CN" altLang="en-US" sz="2800" smtClean="0"/>
              <a:t>有助于自动配置</a:t>
            </a:r>
            <a:br>
              <a:rPr lang="zh-CN" altLang="en-US" sz="2800" smtClean="0"/>
            </a:br>
            <a:endParaRPr lang="zh-CN" altLang="en-US" sz="2800" smtClean="0"/>
          </a:p>
        </p:txBody>
      </p:sp>
      <p:sp>
        <p:nvSpPr>
          <p:cNvPr id="101379" name="Rectangle 3"/>
          <p:cNvSpPr>
            <a:spLocks noGrp="1" noChangeArrowheads="1"/>
          </p:cNvSpPr>
          <p:nvPr>
            <p:ph type="title"/>
          </p:nvPr>
        </p:nvSpPr>
        <p:spPr bwMode="auto">
          <a:xfrm>
            <a:off x="2238375" y="219075"/>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特殊地址</a:t>
            </a:r>
          </a:p>
        </p:txBody>
      </p:sp>
    </p:spTree>
    <p:extLst>
      <p:ext uri="{BB962C8B-B14F-4D97-AF65-F5344CB8AC3E}">
        <p14:creationId xmlns:p14="http://schemas.microsoft.com/office/powerpoint/2010/main" val="10568963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bwMode="auto">
          <a:xfrm>
            <a:off x="2209800" y="4540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IPv6 </a:t>
            </a:r>
            <a:r>
              <a:rPr lang="zh-CN" altLang="en-US" sz="3600">
                <a:solidFill>
                  <a:schemeClr val="hlink"/>
                </a:solidFill>
                <a:ea typeface="华文行楷" panose="02010800040101010101" pitchFamily="2" charset="-122"/>
              </a:rPr>
              <a:t>的目标</a:t>
            </a:r>
          </a:p>
        </p:txBody>
      </p:sp>
      <p:sp>
        <p:nvSpPr>
          <p:cNvPr id="83971" name="Text Box 3"/>
          <p:cNvSpPr txBox="1">
            <a:spLocks noChangeArrowheads="1"/>
          </p:cNvSpPr>
          <p:nvPr/>
        </p:nvSpPr>
        <p:spPr bwMode="auto">
          <a:xfrm>
            <a:off x="2376487" y="1449389"/>
            <a:ext cx="7439025"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8938" indent="-38893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folHlink"/>
              </a:buClr>
              <a:buSzPct val="60000"/>
              <a:buFont typeface="Wingdings" panose="05000000000000000000" pitchFamily="2" charset="2"/>
              <a:buChar char="q"/>
            </a:pPr>
            <a:r>
              <a:rPr kumimoji="1" lang="zh-CN" altLang="en-US">
                <a:solidFill>
                  <a:schemeClr val="tx1"/>
                </a:solidFill>
              </a:rPr>
              <a:t>地址容量的</a:t>
            </a:r>
            <a:r>
              <a:rPr kumimoji="1" lang="zh-CN" altLang="en-US" smtClean="0">
                <a:solidFill>
                  <a:schemeClr val="tx1"/>
                </a:solidFill>
              </a:rPr>
              <a:t>扩展</a:t>
            </a:r>
            <a:r>
              <a:rPr kumimoji="1" lang="zh-CN" altLang="en-US">
                <a:solidFill>
                  <a:schemeClr val="tx1"/>
                </a:solidFill>
                <a:latin typeface="Tahoma" panose="020B0604030504040204" pitchFamily="34" charset="0"/>
              </a:rPr>
              <a:t>：</a:t>
            </a:r>
            <a:r>
              <a:rPr kumimoji="1" lang="en-US" altLang="zh-CN" sz="2400" smtClean="0">
                <a:solidFill>
                  <a:schemeClr val="tx1"/>
                </a:solidFill>
                <a:latin typeface="Tahoma" panose="020B0604030504040204" pitchFamily="34" charset="0"/>
              </a:rPr>
              <a:t>IPv6</a:t>
            </a:r>
            <a:r>
              <a:rPr kumimoji="1" lang="zh-CN" altLang="en-US" sz="2400">
                <a:solidFill>
                  <a:schemeClr val="tx1"/>
                </a:solidFill>
                <a:latin typeface="Tahoma" panose="020B0604030504040204" pitchFamily="34" charset="0"/>
              </a:rPr>
              <a:t>具有长达</a:t>
            </a:r>
            <a:r>
              <a:rPr kumimoji="1" lang="en-US" altLang="zh-CN" sz="2400">
                <a:solidFill>
                  <a:schemeClr val="tx1"/>
                </a:solidFill>
                <a:latin typeface="Tahoma" panose="020B0604030504040204" pitchFamily="34" charset="0"/>
              </a:rPr>
              <a:t>128</a:t>
            </a:r>
            <a:r>
              <a:rPr kumimoji="1" lang="zh-CN" altLang="en-US" sz="2400">
                <a:solidFill>
                  <a:schemeClr val="tx1"/>
                </a:solidFill>
                <a:latin typeface="Tahoma" panose="020B0604030504040204" pitchFamily="34" charset="0"/>
              </a:rPr>
              <a:t>位的地址空间，可以彻底解决</a:t>
            </a:r>
            <a:r>
              <a:rPr kumimoji="1" lang="en-US" altLang="zh-CN" sz="2400">
                <a:solidFill>
                  <a:schemeClr val="tx1"/>
                </a:solidFill>
                <a:latin typeface="Tahoma" panose="020B0604030504040204" pitchFamily="34" charset="0"/>
              </a:rPr>
              <a:t>IPv4</a:t>
            </a:r>
            <a:r>
              <a:rPr kumimoji="1" lang="zh-CN" altLang="en-US" sz="2400">
                <a:solidFill>
                  <a:schemeClr val="tx1"/>
                </a:solidFill>
                <a:latin typeface="Tahoma" panose="020B0604030504040204" pitchFamily="34" charset="0"/>
              </a:rPr>
              <a:t>地址不足的问题</a:t>
            </a:r>
          </a:p>
          <a:p>
            <a:pPr eaLnBrk="1" hangingPunct="1">
              <a:spcBef>
                <a:spcPct val="20000"/>
              </a:spcBef>
              <a:buClr>
                <a:schemeClr val="folHlink"/>
              </a:buClr>
              <a:buSzPct val="60000"/>
              <a:buFont typeface="Wingdings" panose="05000000000000000000" pitchFamily="2" charset="2"/>
              <a:buChar char="q"/>
            </a:pPr>
            <a:r>
              <a:rPr kumimoji="1" lang="zh-CN" altLang="en-US">
                <a:solidFill>
                  <a:schemeClr val="tx1"/>
                </a:solidFill>
              </a:rPr>
              <a:t>支持扩展和选项的改进</a:t>
            </a:r>
            <a:r>
              <a:rPr kumimoji="1" lang="zh-CN" altLang="en-US">
                <a:solidFill>
                  <a:schemeClr val="tx1"/>
                </a:solidFill>
                <a:latin typeface="Tahoma" panose="020B0604030504040204" pitchFamily="34" charset="0"/>
              </a:rPr>
              <a:t> </a:t>
            </a:r>
          </a:p>
          <a:p>
            <a:pPr>
              <a:spcBef>
                <a:spcPct val="20000"/>
              </a:spcBef>
              <a:buClr>
                <a:schemeClr val="folHlink"/>
              </a:buClr>
              <a:buSzPct val="60000"/>
              <a:buFont typeface="Wingdings" panose="05000000000000000000" pitchFamily="2" charset="2"/>
              <a:buChar char="q"/>
            </a:pPr>
            <a:r>
              <a:rPr kumimoji="1" lang="zh-CN" altLang="en-US">
                <a:solidFill>
                  <a:schemeClr val="tx1"/>
                </a:solidFill>
              </a:rPr>
              <a:t>首部格式的</a:t>
            </a:r>
            <a:r>
              <a:rPr kumimoji="1" lang="zh-CN" altLang="en-US" smtClean="0">
                <a:solidFill>
                  <a:schemeClr val="tx1"/>
                </a:solidFill>
              </a:rPr>
              <a:t>简化</a:t>
            </a:r>
            <a:r>
              <a:rPr kumimoji="1" lang="zh-CN" altLang="en-US">
                <a:solidFill>
                  <a:schemeClr val="tx1"/>
                </a:solidFill>
                <a:latin typeface="Tahoma" panose="020B0604030504040204" pitchFamily="34" charset="0"/>
              </a:rPr>
              <a:t>：</a:t>
            </a:r>
            <a:r>
              <a:rPr kumimoji="1" lang="zh-CN" altLang="en-US" sz="2400" smtClean="0">
                <a:solidFill>
                  <a:schemeClr val="tx1"/>
                </a:solidFill>
              </a:rPr>
              <a:t>一些 </a:t>
            </a:r>
            <a:r>
              <a:rPr kumimoji="1" lang="en-US" altLang="zh-CN" sz="2400">
                <a:solidFill>
                  <a:schemeClr val="tx1"/>
                </a:solidFill>
              </a:rPr>
              <a:t>IPv4 </a:t>
            </a:r>
            <a:r>
              <a:rPr kumimoji="1" lang="zh-CN" altLang="en-US" sz="2400">
                <a:solidFill>
                  <a:schemeClr val="tx1"/>
                </a:solidFill>
              </a:rPr>
              <a:t>首部字段被删除或者成为可选字段 </a:t>
            </a:r>
            <a:r>
              <a:rPr kumimoji="1" lang="zh-CN" altLang="en-US" sz="2400">
                <a:solidFill>
                  <a:schemeClr val="tx1"/>
                </a:solidFill>
                <a:latin typeface="Tahoma" panose="020B0604030504040204" pitchFamily="34" charset="0"/>
              </a:rPr>
              <a:t> </a:t>
            </a:r>
          </a:p>
          <a:p>
            <a:pPr>
              <a:spcBef>
                <a:spcPct val="20000"/>
              </a:spcBef>
              <a:buClr>
                <a:schemeClr val="folHlink"/>
              </a:buClr>
              <a:buSzPct val="60000"/>
              <a:buFont typeface="Wingdings" panose="05000000000000000000" pitchFamily="2" charset="2"/>
              <a:buChar char="q"/>
            </a:pPr>
            <a:r>
              <a:rPr kumimoji="1" lang="zh-CN" altLang="en-US">
                <a:solidFill>
                  <a:schemeClr val="tx1"/>
                </a:solidFill>
              </a:rPr>
              <a:t>数据流标签的</a:t>
            </a:r>
            <a:r>
              <a:rPr kumimoji="1" lang="zh-CN" altLang="en-US" smtClean="0">
                <a:solidFill>
                  <a:schemeClr val="tx1"/>
                </a:solidFill>
              </a:rPr>
              <a:t>能力</a:t>
            </a:r>
            <a:r>
              <a:rPr kumimoji="1" lang="zh-CN" altLang="en-US">
                <a:solidFill>
                  <a:schemeClr val="tx1"/>
                </a:solidFill>
                <a:latin typeface="Tahoma" panose="020B0604030504040204" pitchFamily="34" charset="0"/>
              </a:rPr>
              <a:t>：</a:t>
            </a:r>
            <a:r>
              <a:rPr kumimoji="1" lang="zh-CN" altLang="en-US" sz="2400" smtClean="0">
                <a:solidFill>
                  <a:schemeClr val="tx1"/>
                </a:solidFill>
                <a:latin typeface="Tahoma" panose="020B0604030504040204" pitchFamily="34" charset="0"/>
              </a:rPr>
              <a:t>服务</a:t>
            </a:r>
            <a:r>
              <a:rPr kumimoji="1" lang="zh-CN" altLang="en-US" sz="2400">
                <a:solidFill>
                  <a:schemeClr val="tx1"/>
                </a:solidFill>
                <a:latin typeface="Tahoma" panose="020B0604030504040204" pitchFamily="34" charset="0"/>
              </a:rPr>
              <a:t>质量</a:t>
            </a:r>
            <a:r>
              <a:rPr kumimoji="1" lang="zh-CN" altLang="en-US" sz="2400">
                <a:solidFill>
                  <a:schemeClr val="tx1"/>
                </a:solidFill>
              </a:rPr>
              <a:t>或者</a:t>
            </a:r>
            <a:r>
              <a:rPr kumimoji="1" lang="en-US" altLang="zh-CN" sz="2400">
                <a:solidFill>
                  <a:schemeClr val="tx1"/>
                </a:solidFill>
                <a:cs typeface="Times New Roman" panose="02020603050405020304" pitchFamily="18" charset="0"/>
              </a:rPr>
              <a:t>"</a:t>
            </a:r>
            <a:r>
              <a:rPr kumimoji="1" lang="zh-CN" altLang="en-US" sz="2400">
                <a:solidFill>
                  <a:schemeClr val="tx1"/>
                </a:solidFill>
              </a:rPr>
              <a:t>实时</a:t>
            </a:r>
            <a:r>
              <a:rPr kumimoji="1" lang="en-US" altLang="zh-CN" sz="2400">
                <a:solidFill>
                  <a:schemeClr val="tx1"/>
                </a:solidFill>
                <a:cs typeface="Times New Roman" panose="02020603050405020304" pitchFamily="18" charset="0"/>
              </a:rPr>
              <a:t>"</a:t>
            </a:r>
            <a:r>
              <a:rPr kumimoji="1" lang="zh-CN" altLang="en-US" sz="2400">
                <a:solidFill>
                  <a:schemeClr val="tx1"/>
                </a:solidFill>
              </a:rPr>
              <a:t>服务</a:t>
            </a:r>
            <a:r>
              <a:rPr kumimoji="1" lang="zh-CN" altLang="en-US">
                <a:solidFill>
                  <a:schemeClr val="tx1"/>
                </a:solidFill>
                <a:latin typeface="Tahoma" panose="020B0604030504040204" pitchFamily="34" charset="0"/>
              </a:rPr>
              <a:t> </a:t>
            </a:r>
          </a:p>
          <a:p>
            <a:pPr eaLnBrk="1" hangingPunct="1">
              <a:spcBef>
                <a:spcPct val="20000"/>
              </a:spcBef>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主机地址自动配置</a:t>
            </a:r>
          </a:p>
          <a:p>
            <a:pPr eaLnBrk="1" hangingPunct="1">
              <a:spcBef>
                <a:spcPct val="20000"/>
              </a:spcBef>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认证和加密（</a:t>
            </a:r>
            <a:r>
              <a:rPr kumimoji="1" lang="en-US" altLang="zh-CN">
                <a:solidFill>
                  <a:schemeClr val="tx1"/>
                </a:solidFill>
                <a:cs typeface="Times New Roman" panose="02020603050405020304" pitchFamily="18" charset="0"/>
              </a:rPr>
              <a:t>IPSec</a:t>
            </a:r>
            <a:r>
              <a:rPr kumimoji="1" lang="zh-CN" altLang="en-US">
                <a:solidFill>
                  <a:schemeClr val="tx1"/>
                </a:solidFill>
              </a:rPr>
              <a:t>是</a:t>
            </a:r>
            <a:r>
              <a:rPr kumimoji="1" lang="en-US" altLang="zh-CN">
                <a:solidFill>
                  <a:schemeClr val="tx1"/>
                </a:solidFill>
                <a:cs typeface="Times New Roman" panose="02020603050405020304" pitchFamily="18" charset="0"/>
              </a:rPr>
              <a:t>IPv6</a:t>
            </a:r>
            <a:r>
              <a:rPr kumimoji="1" lang="zh-CN" altLang="en-US">
                <a:solidFill>
                  <a:schemeClr val="tx1"/>
                </a:solidFill>
              </a:rPr>
              <a:t>的一个组成部分</a:t>
            </a:r>
            <a:r>
              <a:rPr kumimoji="1" lang="zh-CN" altLang="en-US">
                <a:solidFill>
                  <a:schemeClr val="tx1"/>
                </a:solidFill>
                <a:latin typeface="Tahoma" panose="020B0604030504040204" pitchFamily="34" charset="0"/>
              </a:rPr>
              <a:t> ）</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bwMode="auto">
          <a:xfrm>
            <a:off x="2189163"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IPv4 </a:t>
            </a:r>
            <a:r>
              <a:rPr lang="zh-CN" altLang="en-US" sz="3600">
                <a:solidFill>
                  <a:schemeClr val="hlink"/>
                </a:solidFill>
                <a:ea typeface="华文行楷" panose="02010800040101010101" pitchFamily="2" charset="-122"/>
              </a:rPr>
              <a:t>到 </a:t>
            </a:r>
            <a:r>
              <a:rPr lang="en-US" altLang="zh-CN" sz="3600">
                <a:solidFill>
                  <a:schemeClr val="hlink"/>
                </a:solidFill>
                <a:ea typeface="华文行楷" panose="02010800040101010101" pitchFamily="2" charset="-122"/>
              </a:rPr>
              <a:t>IPv6</a:t>
            </a:r>
            <a:r>
              <a:rPr lang="zh-CN" altLang="en-US" sz="3600">
                <a:solidFill>
                  <a:schemeClr val="hlink"/>
                </a:solidFill>
                <a:ea typeface="华文行楷" panose="02010800040101010101" pitchFamily="2" charset="-122"/>
              </a:rPr>
              <a:t>变迁</a:t>
            </a:r>
          </a:p>
        </p:txBody>
      </p:sp>
      <p:sp>
        <p:nvSpPr>
          <p:cNvPr id="1987587" name="Text Box 3"/>
          <p:cNvSpPr txBox="1">
            <a:spLocks noChangeArrowheads="1"/>
          </p:cNvSpPr>
          <p:nvPr/>
        </p:nvSpPr>
        <p:spPr bwMode="auto">
          <a:xfrm>
            <a:off x="904875" y="1520826"/>
            <a:ext cx="10248900" cy="3330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2400">
                <a:solidFill>
                  <a:schemeClr val="tx1"/>
                </a:solidFill>
              </a:rPr>
              <a:t>尽管</a:t>
            </a:r>
            <a:r>
              <a:rPr lang="en-US" altLang="zh-CN" sz="2400">
                <a:solidFill>
                  <a:schemeClr val="tx1"/>
                </a:solidFill>
              </a:rPr>
              <a:t>IPv6</a:t>
            </a:r>
            <a:r>
              <a:rPr lang="zh-CN" altLang="en-US" sz="2400">
                <a:solidFill>
                  <a:schemeClr val="tx1"/>
                </a:solidFill>
              </a:rPr>
              <a:t>比</a:t>
            </a:r>
            <a:r>
              <a:rPr lang="en-US" altLang="zh-CN" sz="2400">
                <a:solidFill>
                  <a:schemeClr val="tx1"/>
                </a:solidFill>
              </a:rPr>
              <a:t>IPv4</a:t>
            </a:r>
            <a:r>
              <a:rPr lang="zh-CN" altLang="en-US" sz="2400">
                <a:solidFill>
                  <a:schemeClr val="tx1"/>
                </a:solidFill>
              </a:rPr>
              <a:t>具有明显的先进性，但是</a:t>
            </a:r>
            <a:r>
              <a:rPr lang="en-US" altLang="zh-CN" sz="2400">
                <a:solidFill>
                  <a:schemeClr val="tx1"/>
                </a:solidFill>
              </a:rPr>
              <a:t>IETF</a:t>
            </a:r>
            <a:r>
              <a:rPr lang="zh-CN" altLang="en-US" sz="2400">
                <a:solidFill>
                  <a:schemeClr val="tx1"/>
                </a:solidFill>
              </a:rPr>
              <a:t>认识到，要想在短时间内将</a:t>
            </a:r>
            <a:r>
              <a:rPr lang="en-US" altLang="zh-CN" sz="2400">
                <a:solidFill>
                  <a:schemeClr val="tx1"/>
                </a:solidFill>
              </a:rPr>
              <a:t>Internet</a:t>
            </a:r>
            <a:r>
              <a:rPr lang="zh-CN" altLang="en-US" sz="2400">
                <a:solidFill>
                  <a:schemeClr val="tx1"/>
                </a:solidFill>
              </a:rPr>
              <a:t>和各个企业网络中的所有系统全部从 </a:t>
            </a:r>
            <a:r>
              <a:rPr lang="en-US" altLang="zh-CN" sz="2400">
                <a:solidFill>
                  <a:schemeClr val="tx1"/>
                </a:solidFill>
              </a:rPr>
              <a:t>IPv4</a:t>
            </a:r>
            <a:r>
              <a:rPr lang="zh-CN" altLang="en-US" sz="2400">
                <a:solidFill>
                  <a:schemeClr val="tx1"/>
                </a:solidFill>
              </a:rPr>
              <a:t>升级到</a:t>
            </a:r>
            <a:r>
              <a:rPr lang="en-US" altLang="zh-CN" sz="2400">
                <a:solidFill>
                  <a:schemeClr val="tx1"/>
                </a:solidFill>
              </a:rPr>
              <a:t>IPv6</a:t>
            </a:r>
            <a:r>
              <a:rPr lang="zh-CN" altLang="en-US" sz="2400">
                <a:solidFill>
                  <a:schemeClr val="tx1"/>
                </a:solidFill>
              </a:rPr>
              <a:t>是不可能的，换言之，</a:t>
            </a:r>
            <a:r>
              <a:rPr lang="en-US" altLang="zh-CN" sz="2400">
                <a:solidFill>
                  <a:schemeClr val="tx1"/>
                </a:solidFill>
              </a:rPr>
              <a:t>IPv6</a:t>
            </a:r>
            <a:r>
              <a:rPr lang="zh-CN" altLang="en-US" sz="2400">
                <a:solidFill>
                  <a:schemeClr val="tx1"/>
                </a:solidFill>
              </a:rPr>
              <a:t>与</a:t>
            </a:r>
            <a:r>
              <a:rPr lang="en-US" altLang="zh-CN" sz="2400">
                <a:solidFill>
                  <a:schemeClr val="tx1"/>
                </a:solidFill>
              </a:rPr>
              <a:t>IPv4</a:t>
            </a:r>
            <a:r>
              <a:rPr lang="zh-CN" altLang="en-US" sz="2400">
                <a:solidFill>
                  <a:schemeClr val="tx1"/>
                </a:solidFill>
              </a:rPr>
              <a:t>系统在</a:t>
            </a:r>
            <a:r>
              <a:rPr lang="en-US" altLang="zh-CN" sz="2400">
                <a:solidFill>
                  <a:schemeClr val="tx1"/>
                </a:solidFill>
              </a:rPr>
              <a:t>Internet</a:t>
            </a:r>
            <a:r>
              <a:rPr lang="zh-CN" altLang="en-US" sz="2400">
                <a:solidFill>
                  <a:schemeClr val="tx1"/>
                </a:solidFill>
              </a:rPr>
              <a:t>中长期共存是不可避免的现实。为此，做为</a:t>
            </a:r>
            <a:r>
              <a:rPr lang="en-US" altLang="zh-CN" sz="2400">
                <a:solidFill>
                  <a:schemeClr val="tx1"/>
                </a:solidFill>
              </a:rPr>
              <a:t>IPv6</a:t>
            </a:r>
            <a:r>
              <a:rPr lang="zh-CN" altLang="en-US" sz="2400">
                <a:solidFill>
                  <a:schemeClr val="tx1"/>
                </a:solidFill>
              </a:rPr>
              <a:t>研究工作的一个部分，</a:t>
            </a:r>
            <a:r>
              <a:rPr lang="en-US" altLang="zh-CN" sz="2400">
                <a:solidFill>
                  <a:schemeClr val="tx1"/>
                </a:solidFill>
              </a:rPr>
              <a:t>IETF</a:t>
            </a:r>
            <a:r>
              <a:rPr lang="zh-CN" altLang="en-US" sz="2400">
                <a:solidFill>
                  <a:schemeClr val="tx1"/>
                </a:solidFill>
              </a:rPr>
              <a:t>制定了推动</a:t>
            </a:r>
            <a:r>
              <a:rPr lang="en-US" altLang="zh-CN" sz="2400">
                <a:solidFill>
                  <a:schemeClr val="tx1"/>
                </a:solidFill>
              </a:rPr>
              <a:t>IPv4</a:t>
            </a:r>
            <a:r>
              <a:rPr lang="zh-CN" altLang="en-US" sz="2400">
                <a:solidFill>
                  <a:schemeClr val="tx1"/>
                </a:solidFill>
              </a:rPr>
              <a:t>向</a:t>
            </a:r>
            <a:r>
              <a:rPr lang="en-US" altLang="zh-CN" sz="2400">
                <a:solidFill>
                  <a:schemeClr val="tx1"/>
                </a:solidFill>
              </a:rPr>
              <a:t>IPv6</a:t>
            </a:r>
            <a:r>
              <a:rPr lang="zh-CN" altLang="en-US" sz="2400">
                <a:solidFill>
                  <a:schemeClr val="tx1"/>
                </a:solidFill>
              </a:rPr>
              <a:t>过渡的方案，其中</a:t>
            </a:r>
            <a:r>
              <a:rPr lang="zh-CN" altLang="en-US" sz="2400" smtClean="0">
                <a:solidFill>
                  <a:schemeClr val="tx1"/>
                </a:solidFill>
              </a:rPr>
              <a:t>包括：</a:t>
            </a:r>
            <a:endParaRPr lang="zh-CN" altLang="en-US" sz="2400">
              <a:solidFill>
                <a:schemeClr val="tx1"/>
              </a:solidFill>
            </a:endParaRPr>
          </a:p>
          <a:p>
            <a:pPr>
              <a:spcBef>
                <a:spcPct val="20000"/>
              </a:spcBef>
              <a:buClr>
                <a:schemeClr val="hlink"/>
              </a:buClr>
              <a:buFont typeface="Wingdings" panose="05000000000000000000" pitchFamily="2" charset="2"/>
              <a:buChar char="ü"/>
            </a:pPr>
            <a:r>
              <a:rPr lang="zh-CN" altLang="en-US" sz="2400" smtClean="0">
                <a:solidFill>
                  <a:schemeClr val="tx2"/>
                </a:solidFill>
              </a:rPr>
              <a:t> 双</a:t>
            </a:r>
            <a:r>
              <a:rPr lang="en-US" altLang="zh-CN" sz="2400" smtClean="0">
                <a:solidFill>
                  <a:schemeClr val="tx2"/>
                </a:solidFill>
              </a:rPr>
              <a:t>IP</a:t>
            </a:r>
            <a:r>
              <a:rPr lang="zh-CN" altLang="en-US" sz="2400">
                <a:solidFill>
                  <a:schemeClr val="tx2"/>
                </a:solidFill>
              </a:rPr>
              <a:t>协议栈：一些有双堆栈的路由器 </a:t>
            </a:r>
            <a:r>
              <a:rPr lang="en-US" altLang="zh-CN" sz="2400">
                <a:solidFill>
                  <a:schemeClr val="tx2"/>
                </a:solidFill>
              </a:rPr>
              <a:t>(v6, v4) </a:t>
            </a:r>
            <a:r>
              <a:rPr lang="zh-CN" altLang="en-US" sz="2400">
                <a:solidFill>
                  <a:schemeClr val="tx2"/>
                </a:solidFill>
              </a:rPr>
              <a:t>能够转换这两种</a:t>
            </a:r>
            <a:r>
              <a:rPr lang="zh-CN" altLang="en-US" sz="2400" smtClean="0">
                <a:solidFill>
                  <a:schemeClr val="tx2"/>
                </a:solidFill>
              </a:rPr>
              <a:t>格式</a:t>
            </a:r>
          </a:p>
          <a:p>
            <a:pPr>
              <a:spcBef>
                <a:spcPct val="20000"/>
              </a:spcBef>
              <a:buClr>
                <a:schemeClr val="hlink"/>
              </a:buClr>
              <a:buFont typeface="Wingdings" panose="05000000000000000000" pitchFamily="2" charset="2"/>
              <a:buChar char="ü"/>
            </a:pPr>
            <a:r>
              <a:rPr lang="zh-CN" altLang="en-US" sz="2400" smtClean="0">
                <a:solidFill>
                  <a:schemeClr val="tx2"/>
                </a:solidFill>
              </a:rPr>
              <a:t>  </a:t>
            </a:r>
            <a:r>
              <a:rPr lang="zh-CN" altLang="en-US" sz="2400">
                <a:solidFill>
                  <a:schemeClr val="tx2"/>
                </a:solidFill>
              </a:rPr>
              <a:t>基于</a:t>
            </a:r>
            <a:r>
              <a:rPr lang="en-US" altLang="zh-CN" sz="2400">
                <a:solidFill>
                  <a:schemeClr val="tx2"/>
                </a:solidFill>
              </a:rPr>
              <a:t>IPv4</a:t>
            </a:r>
            <a:r>
              <a:rPr lang="zh-CN" altLang="en-US" sz="2400">
                <a:solidFill>
                  <a:schemeClr val="tx2"/>
                </a:solidFill>
              </a:rPr>
              <a:t>隧道的</a:t>
            </a:r>
            <a:r>
              <a:rPr lang="en-US" altLang="zh-CN" sz="2400" smtClean="0">
                <a:solidFill>
                  <a:schemeClr val="tx2"/>
                </a:solidFill>
              </a:rPr>
              <a:t>IPv6</a:t>
            </a:r>
            <a:r>
              <a:rPr lang="zh-CN" altLang="en-US">
                <a:solidFill>
                  <a:schemeClr val="tx1"/>
                </a:solidFill>
              </a:rPr>
              <a:t> ：在</a:t>
            </a:r>
            <a:r>
              <a:rPr lang="en-US" altLang="zh-CN">
                <a:solidFill>
                  <a:schemeClr val="tx1"/>
                </a:solidFill>
              </a:rPr>
              <a:t>IPv4 </a:t>
            </a:r>
            <a:r>
              <a:rPr lang="zh-CN" altLang="en-US">
                <a:solidFill>
                  <a:schemeClr val="tx1"/>
                </a:solidFill>
              </a:rPr>
              <a:t>路由器中将</a:t>
            </a:r>
            <a:r>
              <a:rPr lang="en-US" altLang="zh-CN">
                <a:solidFill>
                  <a:schemeClr val="tx1"/>
                </a:solidFill>
              </a:rPr>
              <a:t>IPv6 </a:t>
            </a:r>
            <a:r>
              <a:rPr lang="zh-CN" altLang="en-US">
                <a:solidFill>
                  <a:schemeClr val="tx1"/>
                </a:solidFill>
              </a:rPr>
              <a:t>作为 </a:t>
            </a:r>
            <a:r>
              <a:rPr lang="en-US" altLang="zh-CN">
                <a:solidFill>
                  <a:schemeClr val="tx1"/>
                </a:solidFill>
              </a:rPr>
              <a:t>IPv4</a:t>
            </a:r>
            <a:r>
              <a:rPr lang="zh-CN" altLang="en-US">
                <a:solidFill>
                  <a:schemeClr val="tx1"/>
                </a:solidFill>
              </a:rPr>
              <a:t>数据报的有效载荷</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87587">
                                            <p:txEl>
                                              <p:pRg st="0" end="0"/>
                                            </p:txEl>
                                          </p:spTgt>
                                        </p:tgtEl>
                                        <p:attrNameLst>
                                          <p:attrName>style.visibility</p:attrName>
                                        </p:attrNameLst>
                                      </p:cBhvr>
                                      <p:to>
                                        <p:strVal val="visible"/>
                                      </p:to>
                                    </p:set>
                                    <p:anim calcmode="lin" valueType="num">
                                      <p:cBhvr additive="base">
                                        <p:cTn id="7" dur="500" fill="hold"/>
                                        <p:tgtEl>
                                          <p:spTgt spid="198758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875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87587">
                                            <p:txEl>
                                              <p:pRg st="1" end="1"/>
                                            </p:txEl>
                                          </p:spTgt>
                                        </p:tgtEl>
                                        <p:attrNameLst>
                                          <p:attrName>style.visibility</p:attrName>
                                        </p:attrNameLst>
                                      </p:cBhvr>
                                      <p:to>
                                        <p:strVal val="visible"/>
                                      </p:to>
                                    </p:set>
                                    <p:anim calcmode="lin" valueType="num">
                                      <p:cBhvr additive="base">
                                        <p:cTn id="13" dur="500" fill="hold"/>
                                        <p:tgtEl>
                                          <p:spTgt spid="198758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9875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87587">
                                            <p:txEl>
                                              <p:pRg st="2" end="2"/>
                                            </p:txEl>
                                          </p:spTgt>
                                        </p:tgtEl>
                                        <p:attrNameLst>
                                          <p:attrName>style.visibility</p:attrName>
                                        </p:attrNameLst>
                                      </p:cBhvr>
                                      <p:to>
                                        <p:strVal val="visible"/>
                                      </p:to>
                                    </p:set>
                                    <p:anim calcmode="lin" valueType="num">
                                      <p:cBhvr additive="base">
                                        <p:cTn id="19" dur="500" fill="hold"/>
                                        <p:tgtEl>
                                          <p:spTgt spid="198758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98758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7587" grpId="0" build="p"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0" name="Picture 3" descr="C:\UMASS\book\slides\04-4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8031" y="1752600"/>
            <a:ext cx="8135938" cy="381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1" name="Rectangle 4"/>
          <p:cNvSpPr>
            <a:spLocks noGrp="1" noChangeArrowheads="1"/>
          </p:cNvSpPr>
          <p:nvPr>
            <p:ph type="title"/>
          </p:nvPr>
        </p:nvSpPr>
        <p:spPr bwMode="auto">
          <a:xfrm>
            <a:off x="2209800" y="190500"/>
            <a:ext cx="7772400" cy="6667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eaLnBrk="1" hangingPunct="1"/>
            <a:r>
              <a:rPr lang="zh-CN" altLang="en-US" sz="3600">
                <a:solidFill>
                  <a:schemeClr val="hlink"/>
                </a:solidFill>
                <a:ea typeface="华文行楷" panose="02010800040101010101" pitchFamily="2" charset="-122"/>
              </a:rPr>
              <a:t>双堆方案</a:t>
            </a:r>
          </a:p>
        </p:txBody>
      </p:sp>
    </p:spTree>
    <p:extLst>
      <p:ext uri="{BB962C8B-B14F-4D97-AF65-F5344CB8AC3E}">
        <p14:creationId xmlns:p14="http://schemas.microsoft.com/office/powerpoint/2010/main" val="2673928794"/>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3" descr="C:\UMASS\book\slides\04-4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3738" y="1611314"/>
            <a:ext cx="7789862" cy="495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595" name="Text Box 4"/>
          <p:cNvSpPr txBox="1">
            <a:spLocks noChangeArrowheads="1"/>
          </p:cNvSpPr>
          <p:nvPr/>
        </p:nvSpPr>
        <p:spPr bwMode="auto">
          <a:xfrm>
            <a:off x="6015038" y="2346326"/>
            <a:ext cx="347980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FF0000"/>
                </a:solidFill>
                <a:latin typeface="Comic Sans MS" panose="030F0702030302020204" pitchFamily="66" charset="0"/>
              </a:rPr>
              <a:t>IPv6 inside IPv4 where needed</a:t>
            </a:r>
            <a:endParaRPr lang="en-US" altLang="zh-CN" sz="1800">
              <a:solidFill>
                <a:schemeClr val="tx1"/>
              </a:solidFill>
              <a:latin typeface="Comic Sans MS" panose="030F0702030302020204" pitchFamily="66" charset="0"/>
            </a:endParaRPr>
          </a:p>
        </p:txBody>
      </p:sp>
      <p:sp>
        <p:nvSpPr>
          <p:cNvPr id="110596" name="Freeform 5"/>
          <p:cNvSpPr>
            <a:spLocks/>
          </p:cNvSpPr>
          <p:nvPr/>
        </p:nvSpPr>
        <p:spPr bwMode="auto">
          <a:xfrm>
            <a:off x="3757613" y="2398714"/>
            <a:ext cx="2246312" cy="693737"/>
          </a:xfrm>
          <a:custGeom>
            <a:avLst/>
            <a:gdLst>
              <a:gd name="T0" fmla="*/ 0 w 1415"/>
              <a:gd name="T1" fmla="*/ 1045863296 h 437"/>
              <a:gd name="T2" fmla="*/ 0 w 1415"/>
              <a:gd name="T3" fmla="*/ 0 h 437"/>
              <a:gd name="T4" fmla="*/ 2147483646 w 1415"/>
              <a:gd name="T5" fmla="*/ 0 h 437"/>
              <a:gd name="T6" fmla="*/ 2147483646 w 1415"/>
              <a:gd name="T7" fmla="*/ 1101306694 h 4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15" h="437">
                <a:moveTo>
                  <a:pt x="0" y="415"/>
                </a:moveTo>
                <a:lnTo>
                  <a:pt x="0" y="0"/>
                </a:lnTo>
                <a:lnTo>
                  <a:pt x="1415" y="0"/>
                </a:lnTo>
                <a:lnTo>
                  <a:pt x="1415" y="437"/>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597" name="Rectangle 6"/>
          <p:cNvSpPr>
            <a:spLocks noGrp="1" noChangeArrowheads="1"/>
          </p:cNvSpPr>
          <p:nvPr>
            <p:ph type="title"/>
          </p:nvPr>
        </p:nvSpPr>
        <p:spPr bwMode="auto">
          <a:xfrm>
            <a:off x="2257425" y="238126"/>
            <a:ext cx="7772400" cy="628649"/>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eaLnBrk="1" hangingPunct="1"/>
            <a:r>
              <a:rPr lang="zh-CN" altLang="en-US" sz="3600">
                <a:solidFill>
                  <a:schemeClr val="hlink"/>
                </a:solidFill>
                <a:ea typeface="华文行楷" panose="02010800040101010101" pitchFamily="2" charset="-122"/>
              </a:rPr>
              <a:t>隧道</a:t>
            </a:r>
          </a:p>
        </p:txBody>
      </p:sp>
    </p:spTree>
    <p:extLst>
      <p:ext uri="{BB962C8B-B14F-4D97-AF65-F5344CB8AC3E}">
        <p14:creationId xmlns:p14="http://schemas.microsoft.com/office/powerpoint/2010/main" val="276389222"/>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bwMode="auto">
          <a:xfrm>
            <a:off x="2278063" y="381000"/>
            <a:ext cx="7772400" cy="5540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ctr" eaLnBrk="1" hangingPunct="1"/>
            <a:r>
              <a:rPr lang="en-US" altLang="zh-CN" sz="3600">
                <a:solidFill>
                  <a:schemeClr val="hlink"/>
                </a:solidFill>
                <a:ea typeface="华文行楷" panose="02010800040101010101" pitchFamily="2" charset="-122"/>
              </a:rPr>
              <a:t>Summary</a:t>
            </a:r>
          </a:p>
        </p:txBody>
      </p:sp>
      <p:graphicFrame>
        <p:nvGraphicFramePr>
          <p:cNvPr id="86019" name="Object 3">
            <a:hlinkClick r:id="" action="ppaction://ole?verb=0"/>
          </p:cNvPr>
          <p:cNvGraphicFramePr>
            <a:graphicFrameLocks/>
          </p:cNvGraphicFramePr>
          <p:nvPr/>
        </p:nvGraphicFramePr>
        <p:xfrm>
          <a:off x="4821239" y="1468439"/>
          <a:ext cx="2439987" cy="1254125"/>
        </p:xfrm>
        <a:graphic>
          <a:graphicData uri="http://schemas.openxmlformats.org/presentationml/2006/ole">
            <mc:AlternateContent xmlns:mc="http://schemas.openxmlformats.org/markup-compatibility/2006">
              <mc:Choice xmlns:v="urn:schemas-microsoft-com:vml" Requires="v">
                <p:oleObj spid="_x0000_s20657" name="Clip" r:id="rId3" imgW="4054475" imgH="3549650" progId="MS_ClipArt_Gallery.2">
                  <p:embed/>
                </p:oleObj>
              </mc:Choice>
              <mc:Fallback>
                <p:oleObj name="Clip" r:id="rId3" imgW="4054475" imgH="3549650" progId="MS_ClipArt_Gallery.2">
                  <p:embed/>
                  <p:pic>
                    <p:nvPicPr>
                      <p:cNvPr id="86019" name="Object 3">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1239" y="1468439"/>
                        <a:ext cx="2439987" cy="125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20" name="Text Box 4"/>
          <p:cNvSpPr txBox="1">
            <a:spLocks noChangeArrowheads="1"/>
          </p:cNvSpPr>
          <p:nvPr/>
        </p:nvSpPr>
        <p:spPr bwMode="auto">
          <a:xfrm>
            <a:off x="4824414" y="2946401"/>
            <a:ext cx="5513387"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5763" indent="-385763">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buClr>
                <a:schemeClr val="folHlink"/>
              </a:buClr>
              <a:buSzPct val="60000"/>
              <a:buFont typeface="Wingdings" panose="05000000000000000000" pitchFamily="2" charset="2"/>
              <a:buChar char="q"/>
            </a:pPr>
            <a:r>
              <a:rPr kumimoji="1" lang="zh-CN" altLang="en-US" b="1">
                <a:solidFill>
                  <a:schemeClr val="tx1"/>
                </a:solidFill>
                <a:latin typeface="Tahoma" panose="020B0604030504040204" pitchFamily="34" charset="0"/>
              </a:rPr>
              <a:t>网络</a:t>
            </a:r>
            <a:r>
              <a:rPr kumimoji="1" lang="zh-CN" altLang="en-US" sz="2400">
                <a:solidFill>
                  <a:schemeClr val="tx1"/>
                </a:solidFill>
                <a:latin typeface="Tahoma" panose="020B0604030504040204" pitchFamily="34" charset="0"/>
              </a:rPr>
              <a:t>地址类型</a:t>
            </a:r>
          </a:p>
          <a:p>
            <a:pPr eaLnBrk="1" hangingPunct="1">
              <a:buClr>
                <a:schemeClr val="folHlink"/>
              </a:buClr>
              <a:buSzPct val="60000"/>
              <a:buFont typeface="Wingdings" panose="05000000000000000000" pitchFamily="2" charset="2"/>
              <a:buChar char="q"/>
            </a:pPr>
            <a:r>
              <a:rPr kumimoji="1" lang="en-US" altLang="zh-CN" sz="2400">
                <a:solidFill>
                  <a:schemeClr val="tx1"/>
                </a:solidFill>
                <a:latin typeface="Tahoma" panose="020B0604030504040204" pitchFamily="34" charset="0"/>
              </a:rPr>
              <a:t>IP </a:t>
            </a:r>
            <a:r>
              <a:rPr kumimoji="1" lang="zh-CN" altLang="en-US" sz="2400">
                <a:solidFill>
                  <a:schemeClr val="tx1"/>
                </a:solidFill>
                <a:latin typeface="Tahoma" panose="020B0604030504040204" pitchFamily="34" charset="0"/>
              </a:rPr>
              <a:t>地址</a:t>
            </a:r>
          </a:p>
          <a:p>
            <a:pPr eaLnBrk="1" hangingPunct="1">
              <a:buClr>
                <a:schemeClr val="folHlink"/>
              </a:buClr>
              <a:buSzPct val="60000"/>
              <a:buFont typeface="Wingdings" panose="05000000000000000000" pitchFamily="2" charset="2"/>
              <a:buChar char="q"/>
            </a:pPr>
            <a:r>
              <a:rPr kumimoji="1" lang="zh-CN" altLang="en-US" sz="2400">
                <a:solidFill>
                  <a:schemeClr val="tx1"/>
                </a:solidFill>
                <a:latin typeface="Tahoma" panose="020B0604030504040204" pitchFamily="34" charset="0"/>
              </a:rPr>
              <a:t>子网</a:t>
            </a:r>
          </a:p>
          <a:p>
            <a:pPr eaLnBrk="1" hangingPunct="1">
              <a:buClr>
                <a:schemeClr val="folHlink"/>
              </a:buClr>
              <a:buSzPct val="60000"/>
              <a:buFont typeface="Wingdings" panose="05000000000000000000" pitchFamily="2" charset="2"/>
              <a:buChar char="q"/>
            </a:pPr>
            <a:r>
              <a:rPr kumimoji="1" lang="zh-CN" altLang="en-US" sz="2400">
                <a:solidFill>
                  <a:schemeClr val="tx1"/>
                </a:solidFill>
                <a:latin typeface="Tahoma" panose="020B0604030504040204" pitchFamily="34" charset="0"/>
              </a:rPr>
              <a:t>特殊 </a:t>
            </a:r>
            <a:r>
              <a:rPr kumimoji="1" lang="en-US" altLang="zh-CN" sz="2400">
                <a:solidFill>
                  <a:schemeClr val="tx1"/>
                </a:solidFill>
                <a:latin typeface="Tahoma" panose="020B0604030504040204" pitchFamily="34" charset="0"/>
              </a:rPr>
              <a:t>IP </a:t>
            </a:r>
            <a:r>
              <a:rPr kumimoji="1" lang="zh-CN" altLang="en-US" sz="2400">
                <a:solidFill>
                  <a:schemeClr val="tx1"/>
                </a:solidFill>
                <a:latin typeface="Tahoma" panose="020B0604030504040204" pitchFamily="34" charset="0"/>
              </a:rPr>
              <a:t>地址</a:t>
            </a:r>
          </a:p>
          <a:p>
            <a:pPr eaLnBrk="1" hangingPunct="1">
              <a:buClr>
                <a:schemeClr val="folHlink"/>
              </a:buClr>
              <a:buSzPct val="60000"/>
              <a:buFont typeface="Wingdings" panose="05000000000000000000" pitchFamily="2" charset="2"/>
              <a:buChar char="q"/>
            </a:pPr>
            <a:r>
              <a:rPr kumimoji="1" lang="zh-CN" altLang="en-US" sz="2400">
                <a:solidFill>
                  <a:schemeClr val="tx1"/>
                </a:solidFill>
                <a:latin typeface="Tahoma" panose="020B0604030504040204" pitchFamily="34" charset="0"/>
              </a:rPr>
              <a:t>专用 </a:t>
            </a:r>
            <a:r>
              <a:rPr kumimoji="1" lang="en-US" altLang="zh-CN" sz="2400">
                <a:solidFill>
                  <a:schemeClr val="tx1"/>
                </a:solidFill>
                <a:latin typeface="Tahoma" panose="020B0604030504040204" pitchFamily="34" charset="0"/>
              </a:rPr>
              <a:t>IP </a:t>
            </a:r>
            <a:r>
              <a:rPr kumimoji="1" lang="zh-CN" altLang="en-US" sz="2400">
                <a:solidFill>
                  <a:schemeClr val="tx1"/>
                </a:solidFill>
                <a:latin typeface="Tahoma" panose="020B0604030504040204" pitchFamily="34" charset="0"/>
              </a:rPr>
              <a:t>地址</a:t>
            </a:r>
          </a:p>
          <a:p>
            <a:pPr eaLnBrk="1" hangingPunct="1">
              <a:buClr>
                <a:schemeClr val="folHlink"/>
              </a:buClr>
              <a:buSzPct val="60000"/>
              <a:buFont typeface="Wingdings" panose="05000000000000000000" pitchFamily="2" charset="2"/>
              <a:buChar char="q"/>
            </a:pPr>
            <a:r>
              <a:rPr kumimoji="1" lang="en-US" altLang="zh-CN" sz="2400">
                <a:solidFill>
                  <a:schemeClr val="tx1"/>
                </a:solidFill>
                <a:latin typeface="Tahoma" panose="020B0604030504040204" pitchFamily="34" charset="0"/>
              </a:rPr>
              <a:t>CIDR</a:t>
            </a:r>
          </a:p>
          <a:p>
            <a:pPr eaLnBrk="1" hangingPunct="1">
              <a:buClr>
                <a:schemeClr val="folHlink"/>
              </a:buClr>
              <a:buSzPct val="60000"/>
              <a:buFont typeface="Wingdings" panose="05000000000000000000" pitchFamily="2" charset="2"/>
              <a:buChar char="q"/>
            </a:pPr>
            <a:r>
              <a:rPr kumimoji="1" lang="zh-CN" altLang="en-US" sz="2400">
                <a:solidFill>
                  <a:schemeClr val="tx1"/>
                </a:solidFill>
                <a:latin typeface="Tahoma" panose="020B0604030504040204" pitchFamily="34" charset="0"/>
              </a:rPr>
              <a:t>地址转换</a:t>
            </a:r>
            <a:r>
              <a:rPr kumimoji="1" lang="en-US" altLang="zh-CN" sz="2400">
                <a:solidFill>
                  <a:schemeClr val="tx1"/>
                </a:solidFill>
                <a:latin typeface="Tahoma" panose="020B0604030504040204" pitchFamily="34" charset="0"/>
              </a:rPr>
              <a:t>(ARP/RARP/DNS)</a:t>
            </a:r>
          </a:p>
          <a:p>
            <a:pPr eaLnBrk="1" hangingPunct="1">
              <a:buClr>
                <a:schemeClr val="folHlink"/>
              </a:buClr>
              <a:buSzPct val="60000"/>
              <a:buFont typeface="Wingdings" panose="05000000000000000000" pitchFamily="2" charset="2"/>
              <a:buChar char="q"/>
            </a:pPr>
            <a:r>
              <a:rPr kumimoji="1" lang="zh-CN" altLang="en-US" sz="2400">
                <a:solidFill>
                  <a:schemeClr val="tx1"/>
                </a:solidFill>
                <a:latin typeface="Tahoma" panose="020B0604030504040204" pitchFamily="34" charset="0"/>
              </a:rPr>
              <a:t>网络地址转换</a:t>
            </a:r>
          </a:p>
          <a:p>
            <a:pPr eaLnBrk="1" hangingPunct="1">
              <a:buClr>
                <a:schemeClr val="folHlink"/>
              </a:buClr>
              <a:buSzPct val="60000"/>
              <a:buFont typeface="Wingdings" panose="05000000000000000000" pitchFamily="2" charset="2"/>
              <a:buChar char="q"/>
            </a:pPr>
            <a:r>
              <a:rPr kumimoji="1" lang="en-US" altLang="zh-CN" sz="2400" smtClean="0">
                <a:solidFill>
                  <a:schemeClr val="tx1"/>
                </a:solidFill>
                <a:latin typeface="Tahoma" panose="020B0604030504040204" pitchFamily="34" charset="0"/>
              </a:rPr>
              <a:t>IPv6</a:t>
            </a:r>
            <a:r>
              <a:rPr kumimoji="1" lang="zh-CN" altLang="en-US" sz="2400" smtClean="0">
                <a:solidFill>
                  <a:schemeClr val="tx1"/>
                </a:solidFill>
                <a:latin typeface="Tahoma" panose="020B0604030504040204" pitchFamily="34" charset="0"/>
              </a:rPr>
              <a:t>，</a:t>
            </a:r>
            <a:r>
              <a:rPr kumimoji="1" lang="en-US" altLang="zh-CN" sz="2400">
                <a:solidFill>
                  <a:schemeClr val="tx1"/>
                </a:solidFill>
                <a:latin typeface="Tahoma" panose="020B0604030504040204" pitchFamily="34" charset="0"/>
              </a:rPr>
              <a:t>DHCP</a:t>
            </a:r>
          </a:p>
        </p:txBody>
      </p:sp>
    </p:spTree>
  </p:cSld>
  <p:clrMapOvr>
    <a:masterClrMapping/>
  </p:clrMapOvr>
  <p:transition spd="med">
    <p:random/>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3335338" y="1"/>
            <a:ext cx="48831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sz="6000">
                <a:solidFill>
                  <a:schemeClr val="tx1"/>
                </a:solidFill>
              </a:rPr>
              <a:t>    </a:t>
            </a:r>
            <a:endParaRPr kumimoji="1" lang="en-US" altLang="zh-CN">
              <a:solidFill>
                <a:schemeClr val="tx1"/>
              </a:solidFill>
            </a:endParaRPr>
          </a:p>
        </p:txBody>
      </p:sp>
      <p:sp>
        <p:nvSpPr>
          <p:cNvPr id="5123" name="Text Box 3"/>
          <p:cNvSpPr txBox="1">
            <a:spLocks noChangeArrowheads="1"/>
          </p:cNvSpPr>
          <p:nvPr/>
        </p:nvSpPr>
        <p:spPr bwMode="auto">
          <a:xfrm>
            <a:off x="4483100" y="1289051"/>
            <a:ext cx="31464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en-US" altLang="zh-CN" sz="6000" b="1">
                <a:solidFill>
                  <a:schemeClr val="folHlink"/>
                </a:solidFill>
                <a:latin typeface="新宋体" panose="02010609030101010101" pitchFamily="49" charset="-122"/>
                <a:ea typeface="新宋体" panose="02010609030101010101" pitchFamily="49" charset="-122"/>
              </a:rPr>
              <a:t>5.3</a:t>
            </a:r>
          </a:p>
        </p:txBody>
      </p:sp>
      <p:sp>
        <p:nvSpPr>
          <p:cNvPr id="5124" name="WordArt 6"/>
          <p:cNvSpPr>
            <a:spLocks noChangeArrowheads="1" noChangeShapeType="1" noTextEdit="1"/>
          </p:cNvSpPr>
          <p:nvPr/>
        </p:nvSpPr>
        <p:spPr bwMode="auto">
          <a:xfrm>
            <a:off x="2932113" y="2776538"/>
            <a:ext cx="6248400" cy="1143000"/>
          </a:xfrm>
          <a:prstGeom prst="rect">
            <a:avLst/>
          </a:prstGeom>
        </p:spPr>
        <p:txBody>
          <a:bodyPr wrap="none" fromWordArt="1">
            <a:prstTxWarp prst="textPlain">
              <a:avLst>
                <a:gd name="adj" fmla="val 50000"/>
              </a:avLst>
            </a:prstTxWarp>
          </a:bodyPr>
          <a:lstStyle/>
          <a:p>
            <a:pPr algn="ctr"/>
            <a:r>
              <a:rPr lang="zh-CN" altLang="en-US" sz="6600" b="1"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隶书" panose="02010509060101010101" pitchFamily="49" charset="-122"/>
                <a:ea typeface="隶书" panose="02010509060101010101" pitchFamily="49" charset="-122"/>
              </a:rPr>
              <a:t>路由</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p:cNvSpPr>
            <a:spLocks noGrp="1" noChangeArrowheads="1"/>
          </p:cNvSpPr>
          <p:nvPr>
            <p:ph type="body" idx="1"/>
          </p:nvPr>
        </p:nvSpPr>
        <p:spPr bwMode="auto">
          <a:xfrm>
            <a:off x="2182811" y="1246188"/>
            <a:ext cx="9180514" cy="1649412"/>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pPr>
            <a:r>
              <a:rPr lang="zh-CN" altLang="en-US"/>
              <a:t>数据平面</a:t>
            </a:r>
            <a:r>
              <a:rPr lang="en-US" altLang="zh-CN"/>
              <a:t>: </a:t>
            </a:r>
            <a:r>
              <a:rPr lang="zh-CN" altLang="en-US"/>
              <a:t>利用路由表来转发报文分组 </a:t>
            </a:r>
          </a:p>
          <a:p>
            <a:pPr eaLnBrk="1" hangingPunct="1">
              <a:lnSpc>
                <a:spcPct val="90000"/>
              </a:lnSpc>
            </a:pPr>
            <a:r>
              <a:rPr lang="zh-CN" altLang="en-US"/>
              <a:t>控制平面</a:t>
            </a:r>
            <a:r>
              <a:rPr lang="en-US" altLang="zh-CN"/>
              <a:t>: </a:t>
            </a:r>
            <a:r>
              <a:rPr lang="zh-CN" altLang="en-US"/>
              <a:t>构造和维护路由表 </a:t>
            </a:r>
            <a:r>
              <a:rPr lang="en-US" altLang="zh-CN" sz="2400"/>
              <a:t>(e.g., </a:t>
            </a:r>
            <a:r>
              <a:rPr lang="zh-CN" altLang="en-US" sz="2400"/>
              <a:t>路由算法，路由协议</a:t>
            </a:r>
            <a:r>
              <a:rPr lang="en-US" altLang="zh-CN" sz="2400"/>
              <a:t>)</a:t>
            </a:r>
            <a:r>
              <a:rPr lang="zh-CN" altLang="en-US" sz="2400"/>
              <a:t>。</a:t>
            </a:r>
            <a:endParaRPr lang="en-US" altLang="zh-CN" sz="2400"/>
          </a:p>
          <a:p>
            <a:pPr eaLnBrk="1" hangingPunct="1">
              <a:lnSpc>
                <a:spcPct val="90000"/>
              </a:lnSpc>
            </a:pPr>
            <a:r>
              <a:rPr lang="zh-CN" altLang="en-US" sz="2400">
                <a:solidFill>
                  <a:srgbClr val="FF0000"/>
                </a:solidFill>
              </a:rPr>
              <a:t>注意：表里面的主机指网络号</a:t>
            </a:r>
            <a:endParaRPr lang="en-US" altLang="zh-CN" sz="2400">
              <a:solidFill>
                <a:srgbClr val="FF0000"/>
              </a:solidFill>
            </a:endParaRPr>
          </a:p>
        </p:txBody>
      </p:sp>
      <p:sp>
        <p:nvSpPr>
          <p:cNvPr id="6147" name="Rectangle 4"/>
          <p:cNvSpPr>
            <a:spLocks noChangeArrowheads="1"/>
          </p:cNvSpPr>
          <p:nvPr/>
        </p:nvSpPr>
        <p:spPr bwMode="auto">
          <a:xfrm>
            <a:off x="4138613" y="4556125"/>
            <a:ext cx="457200" cy="381000"/>
          </a:xfrm>
          <a:prstGeom prst="rect">
            <a:avLst/>
          </a:prstGeom>
          <a:solidFill>
            <a:srgbClr val="99CCFF"/>
          </a:solidFill>
          <a:ln w="1905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48" name="Rectangle 5"/>
          <p:cNvSpPr>
            <a:spLocks noChangeArrowheads="1"/>
          </p:cNvSpPr>
          <p:nvPr/>
        </p:nvSpPr>
        <p:spPr bwMode="auto">
          <a:xfrm>
            <a:off x="5510213" y="5165725"/>
            <a:ext cx="457200" cy="381000"/>
          </a:xfrm>
          <a:prstGeom prst="rect">
            <a:avLst/>
          </a:prstGeom>
          <a:solidFill>
            <a:srgbClr val="99CCFF"/>
          </a:solidFill>
          <a:ln w="1905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49" name="Rectangle 6"/>
          <p:cNvSpPr>
            <a:spLocks noChangeArrowheads="1"/>
          </p:cNvSpPr>
          <p:nvPr/>
        </p:nvSpPr>
        <p:spPr bwMode="auto">
          <a:xfrm>
            <a:off x="6577013" y="4403725"/>
            <a:ext cx="457200" cy="381000"/>
          </a:xfrm>
          <a:prstGeom prst="rect">
            <a:avLst/>
          </a:prstGeom>
          <a:solidFill>
            <a:srgbClr val="99CCFF"/>
          </a:solidFill>
          <a:ln w="1905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50" name="Rectangle 7"/>
          <p:cNvSpPr>
            <a:spLocks noChangeArrowheads="1"/>
          </p:cNvSpPr>
          <p:nvPr/>
        </p:nvSpPr>
        <p:spPr bwMode="auto">
          <a:xfrm>
            <a:off x="7034213" y="5867400"/>
            <a:ext cx="457200" cy="381000"/>
          </a:xfrm>
          <a:prstGeom prst="rect">
            <a:avLst/>
          </a:prstGeom>
          <a:solidFill>
            <a:srgbClr val="99CCFF"/>
          </a:solidFill>
          <a:ln w="1905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51" name="Rectangle 8"/>
          <p:cNvSpPr>
            <a:spLocks noChangeArrowheads="1"/>
          </p:cNvSpPr>
          <p:nvPr/>
        </p:nvSpPr>
        <p:spPr bwMode="auto">
          <a:xfrm>
            <a:off x="4291013" y="5715000"/>
            <a:ext cx="457200" cy="381000"/>
          </a:xfrm>
          <a:prstGeom prst="rect">
            <a:avLst/>
          </a:prstGeom>
          <a:solidFill>
            <a:srgbClr val="99CCFF"/>
          </a:solidFill>
          <a:ln w="1905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52" name="Rectangle 9"/>
          <p:cNvSpPr>
            <a:spLocks noChangeArrowheads="1"/>
          </p:cNvSpPr>
          <p:nvPr/>
        </p:nvSpPr>
        <p:spPr bwMode="auto">
          <a:xfrm>
            <a:off x="7643813" y="5241925"/>
            <a:ext cx="457200" cy="381000"/>
          </a:xfrm>
          <a:prstGeom prst="rect">
            <a:avLst/>
          </a:prstGeom>
          <a:solidFill>
            <a:srgbClr val="99CCFF"/>
          </a:solidFill>
          <a:ln w="1905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53" name="Oval 10"/>
          <p:cNvSpPr>
            <a:spLocks noChangeArrowheads="1"/>
          </p:cNvSpPr>
          <p:nvPr/>
        </p:nvSpPr>
        <p:spPr bwMode="auto">
          <a:xfrm>
            <a:off x="2919413" y="4251325"/>
            <a:ext cx="381000" cy="381000"/>
          </a:xfrm>
          <a:prstGeom prst="ellipse">
            <a:avLst/>
          </a:prstGeom>
          <a:solidFill>
            <a:srgbClr val="FFFFCC"/>
          </a:solidFill>
          <a:ln w="19050">
            <a:solidFill>
              <a:schemeClr val="tx1"/>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54" name="Oval 11"/>
          <p:cNvSpPr>
            <a:spLocks noChangeArrowheads="1"/>
          </p:cNvSpPr>
          <p:nvPr/>
        </p:nvSpPr>
        <p:spPr bwMode="auto">
          <a:xfrm>
            <a:off x="8939213" y="4479925"/>
            <a:ext cx="381000" cy="381000"/>
          </a:xfrm>
          <a:prstGeom prst="ellipse">
            <a:avLst/>
          </a:prstGeom>
          <a:solidFill>
            <a:srgbClr val="FFFFCC"/>
          </a:solidFill>
          <a:ln w="19050">
            <a:solidFill>
              <a:schemeClr val="tx1"/>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55" name="Line 12"/>
          <p:cNvSpPr>
            <a:spLocks noChangeShapeType="1"/>
          </p:cNvSpPr>
          <p:nvPr/>
        </p:nvSpPr>
        <p:spPr bwMode="auto">
          <a:xfrm>
            <a:off x="3300413" y="4479925"/>
            <a:ext cx="838200" cy="228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6" name="Line 13"/>
          <p:cNvSpPr>
            <a:spLocks noChangeShapeType="1"/>
          </p:cNvSpPr>
          <p:nvPr/>
        </p:nvSpPr>
        <p:spPr bwMode="auto">
          <a:xfrm flipV="1">
            <a:off x="4595813" y="4556125"/>
            <a:ext cx="1981200" cy="152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7" name="Line 14"/>
          <p:cNvSpPr>
            <a:spLocks noChangeShapeType="1"/>
          </p:cNvSpPr>
          <p:nvPr/>
        </p:nvSpPr>
        <p:spPr bwMode="auto">
          <a:xfrm>
            <a:off x="4595813" y="4708525"/>
            <a:ext cx="914400" cy="685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8" name="Line 15"/>
          <p:cNvSpPr>
            <a:spLocks noChangeShapeType="1"/>
          </p:cNvSpPr>
          <p:nvPr/>
        </p:nvSpPr>
        <p:spPr bwMode="auto">
          <a:xfrm flipV="1">
            <a:off x="4748213" y="5394325"/>
            <a:ext cx="762000" cy="609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9" name="Line 16"/>
          <p:cNvSpPr>
            <a:spLocks noChangeShapeType="1"/>
          </p:cNvSpPr>
          <p:nvPr/>
        </p:nvSpPr>
        <p:spPr bwMode="auto">
          <a:xfrm>
            <a:off x="5967413" y="5318125"/>
            <a:ext cx="1676400" cy="152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0" name="Line 17"/>
          <p:cNvSpPr>
            <a:spLocks noChangeShapeType="1"/>
          </p:cNvSpPr>
          <p:nvPr/>
        </p:nvSpPr>
        <p:spPr bwMode="auto">
          <a:xfrm flipV="1">
            <a:off x="8101013" y="4784725"/>
            <a:ext cx="838200" cy="609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1" name="Line 18"/>
          <p:cNvSpPr>
            <a:spLocks noChangeShapeType="1"/>
          </p:cNvSpPr>
          <p:nvPr/>
        </p:nvSpPr>
        <p:spPr bwMode="auto">
          <a:xfrm>
            <a:off x="5967413" y="5318125"/>
            <a:ext cx="1066800" cy="7620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2" name="Line 19"/>
          <p:cNvSpPr>
            <a:spLocks noChangeShapeType="1"/>
          </p:cNvSpPr>
          <p:nvPr/>
        </p:nvSpPr>
        <p:spPr bwMode="auto">
          <a:xfrm flipV="1">
            <a:off x="5967413" y="4632325"/>
            <a:ext cx="609600" cy="685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3" name="Text Box 20"/>
          <p:cNvSpPr txBox="1">
            <a:spLocks noChangeArrowheads="1"/>
          </p:cNvSpPr>
          <p:nvPr/>
        </p:nvSpPr>
        <p:spPr bwMode="auto">
          <a:xfrm>
            <a:off x="2867025" y="3854451"/>
            <a:ext cx="5095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H1</a:t>
            </a:r>
          </a:p>
        </p:txBody>
      </p:sp>
      <p:sp>
        <p:nvSpPr>
          <p:cNvPr id="6164" name="Text Box 21"/>
          <p:cNvSpPr txBox="1">
            <a:spLocks noChangeArrowheads="1"/>
          </p:cNvSpPr>
          <p:nvPr/>
        </p:nvSpPr>
        <p:spPr bwMode="auto">
          <a:xfrm>
            <a:off x="8863014" y="4098926"/>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H2</a:t>
            </a:r>
          </a:p>
        </p:txBody>
      </p:sp>
      <p:sp>
        <p:nvSpPr>
          <p:cNvPr id="6165" name="Text Box 22"/>
          <p:cNvSpPr txBox="1">
            <a:spLocks noChangeArrowheads="1"/>
          </p:cNvSpPr>
          <p:nvPr/>
        </p:nvSpPr>
        <p:spPr bwMode="auto">
          <a:xfrm>
            <a:off x="4138614" y="4540251"/>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R1</a:t>
            </a:r>
          </a:p>
        </p:txBody>
      </p:sp>
      <p:sp>
        <p:nvSpPr>
          <p:cNvPr id="6166" name="Text Box 23"/>
          <p:cNvSpPr txBox="1">
            <a:spLocks noChangeArrowheads="1"/>
          </p:cNvSpPr>
          <p:nvPr/>
        </p:nvSpPr>
        <p:spPr bwMode="auto">
          <a:xfrm>
            <a:off x="4291014" y="5699126"/>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R2</a:t>
            </a:r>
          </a:p>
        </p:txBody>
      </p:sp>
      <p:sp>
        <p:nvSpPr>
          <p:cNvPr id="6167" name="Text Box 24"/>
          <p:cNvSpPr txBox="1">
            <a:spLocks noChangeArrowheads="1"/>
          </p:cNvSpPr>
          <p:nvPr/>
        </p:nvSpPr>
        <p:spPr bwMode="auto">
          <a:xfrm>
            <a:off x="5510214" y="5165726"/>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R3</a:t>
            </a:r>
          </a:p>
        </p:txBody>
      </p:sp>
      <p:sp>
        <p:nvSpPr>
          <p:cNvPr id="6168" name="Text Box 25"/>
          <p:cNvSpPr txBox="1">
            <a:spLocks noChangeArrowheads="1"/>
          </p:cNvSpPr>
          <p:nvPr/>
        </p:nvSpPr>
        <p:spPr bwMode="auto">
          <a:xfrm>
            <a:off x="6577014" y="4403726"/>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R4</a:t>
            </a:r>
          </a:p>
        </p:txBody>
      </p:sp>
      <p:sp>
        <p:nvSpPr>
          <p:cNvPr id="6169" name="Text Box 26"/>
          <p:cNvSpPr txBox="1">
            <a:spLocks noChangeArrowheads="1"/>
          </p:cNvSpPr>
          <p:nvPr/>
        </p:nvSpPr>
        <p:spPr bwMode="auto">
          <a:xfrm>
            <a:off x="7034214" y="5851526"/>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R5</a:t>
            </a:r>
          </a:p>
        </p:txBody>
      </p:sp>
      <p:sp>
        <p:nvSpPr>
          <p:cNvPr id="6170" name="Text Box 27"/>
          <p:cNvSpPr txBox="1">
            <a:spLocks noChangeArrowheads="1"/>
          </p:cNvSpPr>
          <p:nvPr/>
        </p:nvSpPr>
        <p:spPr bwMode="auto">
          <a:xfrm>
            <a:off x="7643814" y="5241926"/>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R6</a:t>
            </a:r>
          </a:p>
        </p:txBody>
      </p:sp>
      <p:sp>
        <p:nvSpPr>
          <p:cNvPr id="6171" name="Rectangle 28"/>
          <p:cNvSpPr>
            <a:spLocks noChangeArrowheads="1"/>
          </p:cNvSpPr>
          <p:nvPr/>
        </p:nvSpPr>
        <p:spPr bwMode="auto">
          <a:xfrm>
            <a:off x="4367213" y="3336925"/>
            <a:ext cx="914400" cy="8382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72" name="Line 29"/>
          <p:cNvSpPr>
            <a:spLocks noChangeShapeType="1"/>
          </p:cNvSpPr>
          <p:nvPr/>
        </p:nvSpPr>
        <p:spPr bwMode="auto">
          <a:xfrm>
            <a:off x="4367213" y="3565525"/>
            <a:ext cx="914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73" name="Text Box 30"/>
          <p:cNvSpPr txBox="1">
            <a:spLocks noChangeArrowheads="1"/>
          </p:cNvSpPr>
          <p:nvPr/>
        </p:nvSpPr>
        <p:spPr bwMode="auto">
          <a:xfrm>
            <a:off x="4367213" y="3549650"/>
            <a:ext cx="10438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H2’  R4</a:t>
            </a:r>
          </a:p>
        </p:txBody>
      </p:sp>
      <p:sp>
        <p:nvSpPr>
          <p:cNvPr id="6174" name="Line 31"/>
          <p:cNvSpPr>
            <a:spLocks noChangeShapeType="1"/>
          </p:cNvSpPr>
          <p:nvPr/>
        </p:nvSpPr>
        <p:spPr bwMode="auto">
          <a:xfrm>
            <a:off x="4367213" y="3946525"/>
            <a:ext cx="914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75" name="Line 32"/>
          <p:cNvSpPr>
            <a:spLocks noChangeShapeType="1"/>
          </p:cNvSpPr>
          <p:nvPr/>
        </p:nvSpPr>
        <p:spPr bwMode="auto">
          <a:xfrm>
            <a:off x="4824413" y="3489325"/>
            <a:ext cx="0" cy="533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76" name="Text Box 33"/>
          <p:cNvSpPr txBox="1">
            <a:spLocks noChangeArrowheads="1"/>
          </p:cNvSpPr>
          <p:nvPr/>
        </p:nvSpPr>
        <p:spPr bwMode="auto">
          <a:xfrm>
            <a:off x="4614863" y="3778251"/>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a:t>
            </a:r>
          </a:p>
        </p:txBody>
      </p:sp>
      <p:sp>
        <p:nvSpPr>
          <p:cNvPr id="6177" name="Line 34"/>
          <p:cNvSpPr>
            <a:spLocks noChangeShapeType="1"/>
          </p:cNvSpPr>
          <p:nvPr/>
        </p:nvSpPr>
        <p:spPr bwMode="auto">
          <a:xfrm>
            <a:off x="7034213" y="4632325"/>
            <a:ext cx="762000" cy="609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78" name="Rectangle 35"/>
          <p:cNvSpPr>
            <a:spLocks noChangeArrowheads="1"/>
          </p:cNvSpPr>
          <p:nvPr/>
        </p:nvSpPr>
        <p:spPr bwMode="auto">
          <a:xfrm>
            <a:off x="6897688" y="3184525"/>
            <a:ext cx="914400" cy="8382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79" name="Line 36"/>
          <p:cNvSpPr>
            <a:spLocks noChangeShapeType="1"/>
          </p:cNvSpPr>
          <p:nvPr/>
        </p:nvSpPr>
        <p:spPr bwMode="auto">
          <a:xfrm>
            <a:off x="6897688" y="3413125"/>
            <a:ext cx="914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80" name="Text Box 37"/>
          <p:cNvSpPr txBox="1">
            <a:spLocks noChangeArrowheads="1"/>
          </p:cNvSpPr>
          <p:nvPr/>
        </p:nvSpPr>
        <p:spPr bwMode="auto">
          <a:xfrm>
            <a:off x="6897688" y="3397250"/>
            <a:ext cx="10438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H2’  R6</a:t>
            </a:r>
          </a:p>
        </p:txBody>
      </p:sp>
      <p:sp>
        <p:nvSpPr>
          <p:cNvPr id="6181" name="Line 38"/>
          <p:cNvSpPr>
            <a:spLocks noChangeShapeType="1"/>
          </p:cNvSpPr>
          <p:nvPr/>
        </p:nvSpPr>
        <p:spPr bwMode="auto">
          <a:xfrm>
            <a:off x="6897688" y="3794125"/>
            <a:ext cx="914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82" name="Line 39"/>
          <p:cNvSpPr>
            <a:spLocks noChangeShapeType="1"/>
          </p:cNvSpPr>
          <p:nvPr/>
        </p:nvSpPr>
        <p:spPr bwMode="auto">
          <a:xfrm>
            <a:off x="7354888" y="3336925"/>
            <a:ext cx="0" cy="533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83" name="Text Box 40"/>
          <p:cNvSpPr txBox="1">
            <a:spLocks noChangeArrowheads="1"/>
          </p:cNvSpPr>
          <p:nvPr/>
        </p:nvSpPr>
        <p:spPr bwMode="auto">
          <a:xfrm>
            <a:off x="7145338" y="3625851"/>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a:t>
            </a:r>
          </a:p>
        </p:txBody>
      </p:sp>
      <p:sp>
        <p:nvSpPr>
          <p:cNvPr id="6184" name="AutoShape 41"/>
          <p:cNvSpPr>
            <a:spLocks noChangeArrowheads="1"/>
          </p:cNvSpPr>
          <p:nvPr/>
        </p:nvSpPr>
        <p:spPr bwMode="auto">
          <a:xfrm>
            <a:off x="4214813" y="2955925"/>
            <a:ext cx="1295400" cy="1371600"/>
          </a:xfrm>
          <a:prstGeom prst="wedgeRoundRectCallout">
            <a:avLst>
              <a:gd name="adj1" fmla="val -38602"/>
              <a:gd name="adj2" fmla="val 61111"/>
              <a:gd name="adj3" fmla="val 16667"/>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zh-CN" sz="2000" b="1">
              <a:solidFill>
                <a:schemeClr val="tx1"/>
              </a:solidFill>
              <a:latin typeface="Arial" panose="020B0604020202020204" pitchFamily="34" charset="0"/>
            </a:endParaRPr>
          </a:p>
        </p:txBody>
      </p:sp>
      <p:sp>
        <p:nvSpPr>
          <p:cNvPr id="6185" name="Text Box 42"/>
          <p:cNvSpPr txBox="1">
            <a:spLocks noChangeArrowheads="1"/>
          </p:cNvSpPr>
          <p:nvPr/>
        </p:nvSpPr>
        <p:spPr bwMode="auto">
          <a:xfrm>
            <a:off x="4232275" y="2971801"/>
            <a:ext cx="13541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Fwd table</a:t>
            </a:r>
          </a:p>
        </p:txBody>
      </p:sp>
      <p:sp>
        <p:nvSpPr>
          <p:cNvPr id="6186" name="AutoShape 43"/>
          <p:cNvSpPr>
            <a:spLocks noChangeArrowheads="1"/>
          </p:cNvSpPr>
          <p:nvPr/>
        </p:nvSpPr>
        <p:spPr bwMode="auto">
          <a:xfrm>
            <a:off x="6729413" y="2803525"/>
            <a:ext cx="1295400" cy="1371600"/>
          </a:xfrm>
          <a:prstGeom prst="wedgeRoundRectCallout">
            <a:avLst>
              <a:gd name="adj1" fmla="val -38602"/>
              <a:gd name="adj2" fmla="val 61111"/>
              <a:gd name="adj3" fmla="val 16667"/>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zh-CN" sz="2000" b="1">
              <a:solidFill>
                <a:schemeClr val="tx1"/>
              </a:solidFill>
              <a:latin typeface="Arial" panose="020B0604020202020204" pitchFamily="34" charset="0"/>
            </a:endParaRPr>
          </a:p>
        </p:txBody>
      </p:sp>
      <p:sp>
        <p:nvSpPr>
          <p:cNvPr id="6187" name="Text Box 44"/>
          <p:cNvSpPr txBox="1">
            <a:spLocks noChangeArrowheads="1"/>
          </p:cNvSpPr>
          <p:nvPr/>
        </p:nvSpPr>
        <p:spPr bwMode="auto">
          <a:xfrm>
            <a:off x="6729414" y="2819401"/>
            <a:ext cx="13541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Fwd table</a:t>
            </a:r>
          </a:p>
        </p:txBody>
      </p:sp>
      <p:sp>
        <p:nvSpPr>
          <p:cNvPr id="1961005" name="Line 45"/>
          <p:cNvSpPr>
            <a:spLocks noChangeShapeType="1"/>
          </p:cNvSpPr>
          <p:nvPr/>
        </p:nvSpPr>
        <p:spPr bwMode="auto">
          <a:xfrm>
            <a:off x="3376613" y="4403725"/>
            <a:ext cx="685800" cy="1524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61006" name="Line 46"/>
          <p:cNvSpPr>
            <a:spLocks noChangeShapeType="1"/>
          </p:cNvSpPr>
          <p:nvPr/>
        </p:nvSpPr>
        <p:spPr bwMode="auto">
          <a:xfrm flipV="1">
            <a:off x="4672013" y="4479925"/>
            <a:ext cx="1828800" cy="1524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61007" name="Line 47"/>
          <p:cNvSpPr>
            <a:spLocks noChangeShapeType="1"/>
          </p:cNvSpPr>
          <p:nvPr/>
        </p:nvSpPr>
        <p:spPr bwMode="auto">
          <a:xfrm>
            <a:off x="7110413" y="4556125"/>
            <a:ext cx="762000" cy="6096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61008" name="Line 48"/>
          <p:cNvSpPr>
            <a:spLocks noChangeShapeType="1"/>
          </p:cNvSpPr>
          <p:nvPr/>
        </p:nvSpPr>
        <p:spPr bwMode="auto">
          <a:xfrm flipV="1">
            <a:off x="8177213" y="4708525"/>
            <a:ext cx="762000" cy="5334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92" name="Rectangle 49"/>
          <p:cNvSpPr>
            <a:spLocks noGrp="1" noChangeArrowheads="1"/>
          </p:cNvSpPr>
          <p:nvPr>
            <p:ph type="title"/>
          </p:nvPr>
        </p:nvSpPr>
        <p:spPr bwMode="auto">
          <a:xfrm>
            <a:off x="2178050" y="268288"/>
            <a:ext cx="7772400" cy="603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路由</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96100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96100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96100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9610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026"/>
          <p:cNvSpPr>
            <a:spLocks noGrp="1" noChangeArrowheads="1"/>
          </p:cNvSpPr>
          <p:nvPr>
            <p:ph type="title"/>
          </p:nvPr>
        </p:nvSpPr>
        <p:spPr bwMode="auto">
          <a:xfrm>
            <a:off x="2209800" y="204788"/>
            <a:ext cx="7772400" cy="576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ctr" eaLnBrk="1" hangingPunct="1"/>
            <a:r>
              <a:rPr lang="zh-CN" altLang="en-US" sz="3600" b="1">
                <a:latin typeface="新宋体" panose="02010609030101010101" pitchFamily="49" charset="-122"/>
                <a:ea typeface="新宋体" panose="02010609030101010101" pitchFamily="49" charset="-122"/>
              </a:rPr>
              <a:t>路由</a:t>
            </a:r>
          </a:p>
        </p:txBody>
      </p:sp>
      <p:sp>
        <p:nvSpPr>
          <p:cNvPr id="7171" name="Rectangle 1029"/>
          <p:cNvSpPr>
            <a:spLocks noChangeArrowheads="1"/>
          </p:cNvSpPr>
          <p:nvPr/>
        </p:nvSpPr>
        <p:spPr bwMode="auto">
          <a:xfrm>
            <a:off x="5200650" y="2743200"/>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pic>
        <p:nvPicPr>
          <p:cNvPr id="7172" name="Picture 1028" descr="http://www.lhtelecom.com.cn/dxjs/jiao/images/051002.jpg"/>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3619500" y="1790700"/>
            <a:ext cx="5676900"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Text Box 1030"/>
          <p:cNvSpPr txBox="1">
            <a:spLocks noChangeArrowheads="1"/>
          </p:cNvSpPr>
          <p:nvPr/>
        </p:nvSpPr>
        <p:spPr bwMode="auto">
          <a:xfrm>
            <a:off x="5467350" y="1504950"/>
            <a:ext cx="1733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2400">
                <a:solidFill>
                  <a:schemeClr val="tx1"/>
                </a:solidFill>
                <a:ea typeface="华文楷体" panose="02010600040101010101" pitchFamily="2" charset="-122"/>
              </a:rPr>
              <a:t>路由算法</a:t>
            </a:r>
          </a:p>
        </p:txBody>
      </p:sp>
      <p:sp>
        <p:nvSpPr>
          <p:cNvPr id="7174" name="Text Box 1031"/>
          <p:cNvSpPr txBox="1">
            <a:spLocks noChangeArrowheads="1"/>
          </p:cNvSpPr>
          <p:nvPr/>
        </p:nvSpPr>
        <p:spPr bwMode="auto">
          <a:xfrm>
            <a:off x="3505200" y="4419601"/>
            <a:ext cx="5295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zh-CN" altLang="zh-CN"/>
          </a:p>
        </p:txBody>
      </p:sp>
      <p:sp>
        <p:nvSpPr>
          <p:cNvPr id="7175" name="Text Box 1032"/>
          <p:cNvSpPr txBox="1">
            <a:spLocks noChangeArrowheads="1"/>
          </p:cNvSpPr>
          <p:nvPr/>
        </p:nvSpPr>
        <p:spPr bwMode="auto">
          <a:xfrm>
            <a:off x="3502025" y="4438650"/>
            <a:ext cx="6324600" cy="154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buClr>
                <a:schemeClr val="tx2"/>
              </a:buClr>
              <a:buFont typeface="Wingdings" panose="05000000000000000000" pitchFamily="2" charset="2"/>
              <a:buChar char="ü"/>
            </a:pPr>
            <a:r>
              <a:rPr lang="zh-CN" altLang="en-US">
                <a:solidFill>
                  <a:schemeClr val="tx1"/>
                </a:solidFill>
              </a:rPr>
              <a:t>路由表</a:t>
            </a:r>
          </a:p>
          <a:p>
            <a:pPr>
              <a:spcBef>
                <a:spcPct val="20000"/>
              </a:spcBef>
              <a:buClr>
                <a:schemeClr val="tx2"/>
              </a:buClr>
              <a:buFont typeface="Wingdings" panose="05000000000000000000" pitchFamily="2" charset="2"/>
              <a:buChar char="ü"/>
            </a:pPr>
            <a:r>
              <a:rPr lang="zh-CN" altLang="en-US">
                <a:solidFill>
                  <a:schemeClr val="tx1"/>
                </a:solidFill>
              </a:rPr>
              <a:t>路由算法（节点之间交换路由信息）</a:t>
            </a:r>
          </a:p>
          <a:p>
            <a:pPr>
              <a:spcBef>
                <a:spcPct val="20000"/>
              </a:spcBef>
              <a:buClr>
                <a:schemeClr val="tx2"/>
              </a:buClr>
              <a:buFont typeface="Wingdings" panose="05000000000000000000" pitchFamily="2" charset="2"/>
              <a:buChar char="ü"/>
            </a:pPr>
            <a:r>
              <a:rPr lang="zh-CN" altLang="en-US">
                <a:solidFill>
                  <a:schemeClr val="tx1"/>
                </a:solidFill>
              </a:rPr>
              <a:t>路由协议（路由算法的具体实现）</a:t>
            </a:r>
          </a:p>
        </p:txBody>
      </p:sp>
    </p:spTree>
  </p:cSld>
  <p:clrMapOvr>
    <a:masterClrMapping/>
  </p:clrMapOvr>
  <p:transition spd="med">
    <p:random/>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2225675" y="3810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转发与路由</a:t>
            </a:r>
          </a:p>
        </p:txBody>
      </p:sp>
      <p:sp>
        <p:nvSpPr>
          <p:cNvPr id="1822724" name="Text Box 4"/>
          <p:cNvSpPr txBox="1">
            <a:spLocks noChangeArrowheads="1"/>
          </p:cNvSpPr>
          <p:nvPr/>
        </p:nvSpPr>
        <p:spPr bwMode="auto">
          <a:xfrm>
            <a:off x="2449513" y="1344614"/>
            <a:ext cx="7593012" cy="344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95263" indent="-195263">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路由 </a:t>
            </a:r>
            <a:r>
              <a:rPr lang="en-US" altLang="zh-CN">
                <a:solidFill>
                  <a:srgbClr val="000000"/>
                </a:solidFill>
                <a:latin typeface="Arial" panose="020B0604020202020204" pitchFamily="34" charset="0"/>
              </a:rPr>
              <a:t>IP</a:t>
            </a:r>
            <a:r>
              <a:rPr lang="zh-CN" altLang="en-US">
                <a:solidFill>
                  <a:srgbClr val="000000"/>
                </a:solidFill>
                <a:latin typeface="Arial" panose="020B0604020202020204" pitchFamily="34" charset="0"/>
              </a:rPr>
              <a:t>分组包括两部分</a:t>
            </a:r>
            <a:r>
              <a:rPr lang="en-US" altLang="zh-CN">
                <a:solidFill>
                  <a:srgbClr val="000000"/>
                </a:solidFill>
                <a:latin typeface="Arial" panose="020B0604020202020204" pitchFamily="34" charset="0"/>
              </a:rPr>
              <a:t>:</a:t>
            </a:r>
          </a:p>
          <a:p>
            <a:pPr>
              <a:spcBef>
                <a:spcPct val="50000"/>
              </a:spcBef>
            </a:pPr>
            <a:r>
              <a:rPr lang="en-US" altLang="zh-CN" sz="2400">
                <a:solidFill>
                  <a:srgbClr val="FF0000"/>
                </a:solidFill>
                <a:latin typeface="Arial" panose="020B0604020202020204" pitchFamily="34" charset="0"/>
              </a:rPr>
              <a:t>    </a:t>
            </a:r>
            <a:r>
              <a:rPr lang="en-US" altLang="zh-CN" sz="2400">
                <a:solidFill>
                  <a:schemeClr val="tx1"/>
                </a:solidFill>
                <a:latin typeface="Arial" panose="020B0604020202020204" pitchFamily="34" charset="0"/>
              </a:rPr>
              <a:t>1.</a:t>
            </a:r>
            <a:r>
              <a:rPr lang="zh-CN" altLang="en-US" sz="2400">
                <a:solidFill>
                  <a:schemeClr val="tx1"/>
                </a:solidFill>
                <a:latin typeface="Arial" panose="020B0604020202020204" pitchFamily="34" charset="0"/>
              </a:rPr>
              <a:t>怎样将报文从路由器的输入接口送到输出接口</a:t>
            </a:r>
            <a:r>
              <a:rPr lang="zh-CN" altLang="en-US" sz="2400">
                <a:solidFill>
                  <a:srgbClr val="FF0000"/>
                </a:solidFill>
                <a:latin typeface="Arial" panose="020B0604020202020204" pitchFamily="34" charset="0"/>
              </a:rPr>
              <a:t>     </a:t>
            </a:r>
          </a:p>
          <a:p>
            <a:pPr>
              <a:spcBef>
                <a:spcPct val="50000"/>
              </a:spcBef>
            </a:pPr>
            <a:r>
              <a:rPr lang="zh-CN" altLang="en-US" sz="2400">
                <a:solidFill>
                  <a:srgbClr val="FF0000"/>
                </a:solidFill>
                <a:latin typeface="Arial" panose="020B0604020202020204" pitchFamily="34" charset="0"/>
              </a:rPr>
              <a:t>        </a:t>
            </a:r>
            <a:r>
              <a:rPr lang="en-US" altLang="zh-CN" sz="2400">
                <a:solidFill>
                  <a:schemeClr val="tx1"/>
                </a:solidFill>
                <a:latin typeface="Arial" panose="020B0604020202020204" pitchFamily="34" charset="0"/>
              </a:rPr>
              <a:t>(</a:t>
            </a:r>
            <a:r>
              <a:rPr lang="en-US" altLang="zh-CN" sz="2400">
                <a:solidFill>
                  <a:srgbClr val="FF0000"/>
                </a:solidFill>
                <a:latin typeface="Arial" panose="020B0604020202020204" pitchFamily="34" charset="0"/>
              </a:rPr>
              <a:t>“IP </a:t>
            </a:r>
            <a:r>
              <a:rPr lang="zh-CN" altLang="en-US" sz="2400">
                <a:solidFill>
                  <a:srgbClr val="FF0000"/>
                </a:solidFill>
                <a:latin typeface="Arial" panose="020B0604020202020204" pitchFamily="34" charset="0"/>
              </a:rPr>
              <a:t>转发”</a:t>
            </a:r>
            <a:r>
              <a:rPr lang="en-US" altLang="zh-CN" sz="2400">
                <a:solidFill>
                  <a:schemeClr val="tx1"/>
                </a:solidFill>
                <a:latin typeface="Arial" panose="020B0604020202020204" pitchFamily="34" charset="0"/>
              </a:rPr>
              <a:t>) ?</a:t>
            </a:r>
          </a:p>
          <a:p>
            <a:pPr>
              <a:spcBef>
                <a:spcPct val="50000"/>
              </a:spcBef>
            </a:pPr>
            <a:r>
              <a:rPr lang="en-US" altLang="zh-CN" sz="2400">
                <a:solidFill>
                  <a:schemeClr val="tx1"/>
                </a:solidFill>
                <a:latin typeface="Arial" panose="020B0604020202020204" pitchFamily="34" charset="0"/>
              </a:rPr>
              <a:t>    2. </a:t>
            </a:r>
            <a:r>
              <a:rPr lang="zh-CN" altLang="en-US" sz="2400">
                <a:solidFill>
                  <a:schemeClr val="tx1"/>
                </a:solidFill>
                <a:latin typeface="Arial" panose="020B0604020202020204" pitchFamily="34" charset="0"/>
              </a:rPr>
              <a:t>怎样查找和建立路由 </a:t>
            </a:r>
            <a:r>
              <a:rPr lang="en-US" altLang="zh-CN" sz="2400">
                <a:solidFill>
                  <a:schemeClr val="tx1"/>
                </a:solidFill>
                <a:latin typeface="Arial" panose="020B0604020202020204" pitchFamily="34" charset="0"/>
              </a:rPr>
              <a:t>(</a:t>
            </a:r>
            <a:r>
              <a:rPr lang="en-US" altLang="zh-CN" sz="2400">
                <a:solidFill>
                  <a:srgbClr val="FF0000"/>
                </a:solidFill>
                <a:latin typeface="Arial" panose="020B0604020202020204" pitchFamily="34" charset="0"/>
              </a:rPr>
              <a:t>“IP </a:t>
            </a:r>
            <a:r>
              <a:rPr lang="zh-CN" altLang="en-US" sz="2400">
                <a:solidFill>
                  <a:srgbClr val="FF0000"/>
                </a:solidFill>
                <a:latin typeface="Arial" panose="020B0604020202020204" pitchFamily="34" charset="0"/>
              </a:rPr>
              <a:t>路由”</a:t>
            </a:r>
            <a:r>
              <a:rPr lang="en-US" altLang="zh-CN" sz="2400">
                <a:solidFill>
                  <a:schemeClr val="tx1"/>
                </a:solidFill>
                <a:latin typeface="Arial" panose="020B0604020202020204" pitchFamily="34" charset="0"/>
              </a:rPr>
              <a:t>)?</a:t>
            </a:r>
          </a:p>
          <a:p>
            <a:pPr>
              <a:spcBef>
                <a:spcPct val="50000"/>
              </a:spcBef>
            </a:pPr>
            <a:r>
              <a:rPr lang="en-US" altLang="zh-CN">
                <a:solidFill>
                  <a:srgbClr val="000000"/>
                </a:solidFill>
                <a:latin typeface="Arial" panose="020B0604020202020204" pitchFamily="34" charset="0"/>
              </a:rPr>
              <a:t>• IP</a:t>
            </a:r>
            <a:r>
              <a:rPr lang="zh-CN" altLang="en-US">
                <a:solidFill>
                  <a:srgbClr val="000000"/>
                </a:solidFill>
                <a:latin typeface="Arial" panose="020B0604020202020204" pitchFamily="34" charset="0"/>
              </a:rPr>
              <a:t>转发由</a:t>
            </a:r>
            <a:r>
              <a:rPr lang="en-US" altLang="zh-CN">
                <a:solidFill>
                  <a:srgbClr val="000000"/>
                </a:solidFill>
                <a:latin typeface="Arial" panose="020B0604020202020204" pitchFamily="34" charset="0"/>
              </a:rPr>
              <a:t>IP</a:t>
            </a:r>
            <a:r>
              <a:rPr lang="zh-CN" altLang="en-US">
                <a:solidFill>
                  <a:srgbClr val="000000"/>
                </a:solidFill>
                <a:latin typeface="Arial" panose="020B0604020202020204" pitchFamily="34" charset="0"/>
              </a:rPr>
              <a:t>协议完成 </a:t>
            </a:r>
          </a:p>
          <a:p>
            <a:pPr>
              <a:spcBef>
                <a:spcPct val="50000"/>
              </a:spcBef>
            </a:pPr>
            <a:r>
              <a:rPr lang="en-US" altLang="zh-CN">
                <a:solidFill>
                  <a:srgbClr val="000000"/>
                </a:solidFill>
                <a:latin typeface="Arial" panose="020B0604020202020204" pitchFamily="34" charset="0"/>
              </a:rPr>
              <a:t>• IP</a:t>
            </a:r>
            <a:r>
              <a:rPr lang="zh-CN" altLang="en-US">
                <a:solidFill>
                  <a:srgbClr val="000000"/>
                </a:solidFill>
                <a:latin typeface="Arial" panose="020B0604020202020204" pitchFamily="34" charset="0"/>
              </a:rPr>
              <a:t>路由由路由算法和路由协议完成</a:t>
            </a:r>
            <a:endParaRPr lang="zh-CN" altLang="en-US"/>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22724">
                                            <p:txEl>
                                              <p:pRg st="0" end="0"/>
                                            </p:txEl>
                                          </p:spTgt>
                                        </p:tgtEl>
                                        <p:attrNameLst>
                                          <p:attrName>style.visibility</p:attrName>
                                        </p:attrNameLst>
                                      </p:cBhvr>
                                      <p:to>
                                        <p:strVal val="visible"/>
                                      </p:to>
                                    </p:set>
                                    <p:anim calcmode="lin" valueType="num">
                                      <p:cBhvr additive="base">
                                        <p:cTn id="7" dur="500" fill="hold"/>
                                        <p:tgtEl>
                                          <p:spTgt spid="182272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2272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22724">
                                            <p:txEl>
                                              <p:pRg st="1" end="1"/>
                                            </p:txEl>
                                          </p:spTgt>
                                        </p:tgtEl>
                                        <p:attrNameLst>
                                          <p:attrName>style.visibility</p:attrName>
                                        </p:attrNameLst>
                                      </p:cBhvr>
                                      <p:to>
                                        <p:strVal val="visible"/>
                                      </p:to>
                                    </p:set>
                                    <p:anim calcmode="lin" valueType="num">
                                      <p:cBhvr additive="base">
                                        <p:cTn id="13" dur="500" fill="hold"/>
                                        <p:tgtEl>
                                          <p:spTgt spid="1822724">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2272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22724">
                                            <p:txEl>
                                              <p:pRg st="2" end="2"/>
                                            </p:txEl>
                                          </p:spTgt>
                                        </p:tgtEl>
                                        <p:attrNameLst>
                                          <p:attrName>style.visibility</p:attrName>
                                        </p:attrNameLst>
                                      </p:cBhvr>
                                      <p:to>
                                        <p:strVal val="visible"/>
                                      </p:to>
                                    </p:set>
                                    <p:anim calcmode="lin" valueType="num">
                                      <p:cBhvr additive="base">
                                        <p:cTn id="19" dur="500" fill="hold"/>
                                        <p:tgtEl>
                                          <p:spTgt spid="1822724">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2272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22724">
                                            <p:txEl>
                                              <p:pRg st="3" end="3"/>
                                            </p:txEl>
                                          </p:spTgt>
                                        </p:tgtEl>
                                        <p:attrNameLst>
                                          <p:attrName>style.visibility</p:attrName>
                                        </p:attrNameLst>
                                      </p:cBhvr>
                                      <p:to>
                                        <p:strVal val="visible"/>
                                      </p:to>
                                    </p:set>
                                    <p:anim calcmode="lin" valueType="num">
                                      <p:cBhvr additive="base">
                                        <p:cTn id="25" dur="500" fill="hold"/>
                                        <p:tgtEl>
                                          <p:spTgt spid="1822724">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2272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22724">
                                            <p:txEl>
                                              <p:pRg st="4" end="4"/>
                                            </p:txEl>
                                          </p:spTgt>
                                        </p:tgtEl>
                                        <p:attrNameLst>
                                          <p:attrName>style.visibility</p:attrName>
                                        </p:attrNameLst>
                                      </p:cBhvr>
                                      <p:to>
                                        <p:strVal val="visible"/>
                                      </p:to>
                                    </p:set>
                                    <p:anim calcmode="lin" valueType="num">
                                      <p:cBhvr additive="base">
                                        <p:cTn id="31" dur="500" fill="hold"/>
                                        <p:tgtEl>
                                          <p:spTgt spid="1822724">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2272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22724">
                                            <p:txEl>
                                              <p:pRg st="5" end="5"/>
                                            </p:txEl>
                                          </p:spTgt>
                                        </p:tgtEl>
                                        <p:attrNameLst>
                                          <p:attrName>style.visibility</p:attrName>
                                        </p:attrNameLst>
                                      </p:cBhvr>
                                      <p:to>
                                        <p:strVal val="visible"/>
                                      </p:to>
                                    </p:set>
                                    <p:anim calcmode="lin" valueType="num">
                                      <p:cBhvr additive="base">
                                        <p:cTn id="37" dur="500" fill="hold"/>
                                        <p:tgtEl>
                                          <p:spTgt spid="1822724">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22724">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24" grpId="0" build="p"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p:cNvSpPr>
            <a:spLocks noGrp="1" noChangeArrowheads="1"/>
          </p:cNvSpPr>
          <p:nvPr>
            <p:ph type="title"/>
          </p:nvPr>
        </p:nvSpPr>
        <p:spPr bwMode="auto">
          <a:xfrm>
            <a:off x="2249488" y="4476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b="1">
                <a:latin typeface="新宋体" panose="02010609030101010101" pitchFamily="49" charset="-122"/>
                <a:ea typeface="新宋体" panose="02010609030101010101" pitchFamily="49" charset="-122"/>
              </a:rPr>
              <a:t>4.3.1 </a:t>
            </a:r>
            <a:r>
              <a:rPr lang="zh-CN" altLang="en-US" sz="3600" b="1">
                <a:latin typeface="新宋体" panose="02010609030101010101" pitchFamily="49" charset="-122"/>
                <a:ea typeface="新宋体" panose="02010609030101010101" pitchFamily="49" charset="-122"/>
              </a:rPr>
              <a:t>报文转发</a:t>
            </a:r>
          </a:p>
        </p:txBody>
      </p:sp>
      <p:sp>
        <p:nvSpPr>
          <p:cNvPr id="9219" name="Text Box 1027"/>
          <p:cNvSpPr txBox="1">
            <a:spLocks noChangeArrowheads="1"/>
          </p:cNvSpPr>
          <p:nvPr/>
        </p:nvSpPr>
        <p:spPr bwMode="auto">
          <a:xfrm>
            <a:off x="3532189" y="1527175"/>
            <a:ext cx="5322887"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hlink"/>
              </a:buClr>
              <a:buFont typeface="Wingdings" panose="05000000000000000000" pitchFamily="2" charset="2"/>
              <a:buChar char="Ø"/>
            </a:pPr>
            <a:r>
              <a:rPr kumimoji="1" lang="zh-CN" altLang="en-US" sz="4400">
                <a:solidFill>
                  <a:schemeClr val="tx1"/>
                </a:solidFill>
                <a:latin typeface="Tahoma" panose="020B0604030504040204" pitchFamily="34" charset="0"/>
              </a:rPr>
              <a:t>路由表</a:t>
            </a:r>
          </a:p>
          <a:p>
            <a:pPr>
              <a:spcBef>
                <a:spcPct val="50000"/>
              </a:spcBef>
              <a:buClr>
                <a:schemeClr val="hlink"/>
              </a:buClr>
              <a:buFont typeface="Wingdings" panose="05000000000000000000" pitchFamily="2" charset="2"/>
              <a:buChar char="Ø"/>
            </a:pPr>
            <a:r>
              <a:rPr kumimoji="1" lang="zh-CN" altLang="en-US" sz="4400">
                <a:solidFill>
                  <a:schemeClr val="tx1"/>
                </a:solidFill>
                <a:latin typeface="Tahoma" panose="020B0604030504040204" pitchFamily="34" charset="0"/>
              </a:rPr>
              <a:t>报文转发</a:t>
            </a:r>
          </a:p>
        </p:txBody>
      </p:sp>
    </p:spTree>
  </p:cSld>
  <p:clrMapOvr>
    <a:masterClrMapping/>
  </p:clrMapOvr>
  <p:transition spd="med">
    <p:random/>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4064000" y="436564"/>
            <a:ext cx="4064000" cy="6238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b="1">
                <a:latin typeface="新宋体" panose="02010609030101010101" pitchFamily="49" charset="-122"/>
                <a:ea typeface="新宋体" panose="02010609030101010101" pitchFamily="49" charset="-122"/>
              </a:rPr>
              <a:t>IP </a:t>
            </a:r>
            <a:r>
              <a:rPr lang="zh-CN" altLang="en-US" sz="3600" b="1">
                <a:latin typeface="新宋体" panose="02010609030101010101" pitchFamily="49" charset="-122"/>
                <a:ea typeface="新宋体" panose="02010609030101010101" pitchFamily="49" charset="-122"/>
              </a:rPr>
              <a:t>转发</a:t>
            </a:r>
          </a:p>
        </p:txBody>
      </p:sp>
      <p:pic>
        <p:nvPicPr>
          <p:cNvPr id="194253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6964" y="1255714"/>
            <a:ext cx="7185025"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2532" name="Text Box 4"/>
          <p:cNvSpPr txBox="1">
            <a:spLocks noChangeArrowheads="1"/>
          </p:cNvSpPr>
          <p:nvPr/>
        </p:nvSpPr>
        <p:spPr bwMode="auto">
          <a:xfrm>
            <a:off x="1784350" y="3021013"/>
            <a:ext cx="8402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8425" indent="-98425">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分组在到达目的主机前需要经过很多路由器的转发</a:t>
            </a:r>
            <a:endParaRPr lang="zh-CN" altLang="en-US">
              <a:solidFill>
                <a:schemeClr val="tx1"/>
              </a:solidFill>
            </a:endParaRPr>
          </a:p>
        </p:txBody>
      </p:sp>
      <p:sp>
        <p:nvSpPr>
          <p:cNvPr id="1942533" name="Text Box 5"/>
          <p:cNvSpPr txBox="1">
            <a:spLocks noChangeArrowheads="1"/>
          </p:cNvSpPr>
          <p:nvPr/>
        </p:nvSpPr>
        <p:spPr bwMode="auto">
          <a:xfrm>
            <a:off x="2176464" y="3854450"/>
            <a:ext cx="813117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r>
              <a:rPr lang="en-US" altLang="zh-CN">
                <a:solidFill>
                  <a:schemeClr val="tx1"/>
                </a:solidFill>
                <a:latin typeface="Arial" panose="020B0604020202020204" pitchFamily="34" charset="0"/>
              </a:rPr>
              <a:t>IP </a:t>
            </a:r>
            <a:r>
              <a:rPr lang="zh-CN" altLang="en-US">
                <a:solidFill>
                  <a:schemeClr val="tx1"/>
                </a:solidFill>
                <a:latin typeface="Arial" panose="020B0604020202020204" pitchFamily="34" charset="0"/>
              </a:rPr>
              <a:t>转发是通过</a:t>
            </a:r>
            <a:r>
              <a:rPr lang="en-US" altLang="zh-CN">
                <a:solidFill>
                  <a:schemeClr val="tx1"/>
                </a:solidFill>
                <a:latin typeface="Arial" panose="020B0604020202020204" pitchFamily="34" charset="0"/>
              </a:rPr>
              <a:t>hop-by-hop</a:t>
            </a:r>
            <a:r>
              <a:rPr lang="zh-CN" altLang="en-US">
                <a:solidFill>
                  <a:schemeClr val="tx1"/>
                </a:solidFill>
                <a:latin typeface="Arial" panose="020B0604020202020204" pitchFamily="34" charset="0"/>
              </a:rPr>
              <a:t>方式实现的</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没有哪个节点知道完整的路由 </a:t>
            </a:r>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转发的目的是把报文送到离目的节点尽可能近的下一个节点</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42532">
                                            <p:txEl>
                                              <p:pRg st="0" end="0"/>
                                            </p:txEl>
                                          </p:spTgt>
                                        </p:tgtEl>
                                        <p:attrNameLst>
                                          <p:attrName>style.visibility</p:attrName>
                                        </p:attrNameLst>
                                      </p:cBhvr>
                                      <p:to>
                                        <p:strVal val="visible"/>
                                      </p:to>
                                    </p:set>
                                    <p:anim calcmode="lin" valueType="num">
                                      <p:cBhvr additive="base">
                                        <p:cTn id="7" dur="500" fill="hold"/>
                                        <p:tgtEl>
                                          <p:spTgt spid="194253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4253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942531"/>
                                        </p:tgtEl>
                                        <p:attrNameLst>
                                          <p:attrName>style.visibility</p:attrName>
                                        </p:attrNameLst>
                                      </p:cBhvr>
                                      <p:to>
                                        <p:strVal val="visible"/>
                                      </p:to>
                                    </p:set>
                                    <p:anim calcmode="lin" valueType="num">
                                      <p:cBhvr additive="base">
                                        <p:cTn id="13" dur="500" fill="hold"/>
                                        <p:tgtEl>
                                          <p:spTgt spid="1942531"/>
                                        </p:tgtEl>
                                        <p:attrNameLst>
                                          <p:attrName>ppt_x</p:attrName>
                                        </p:attrNameLst>
                                      </p:cBhvr>
                                      <p:tavLst>
                                        <p:tav tm="0">
                                          <p:val>
                                            <p:strVal val="1+#ppt_w/2"/>
                                          </p:val>
                                        </p:tav>
                                        <p:tav tm="100000">
                                          <p:val>
                                            <p:strVal val="#ppt_x"/>
                                          </p:val>
                                        </p:tav>
                                      </p:tavLst>
                                    </p:anim>
                                    <p:anim calcmode="lin" valueType="num">
                                      <p:cBhvr additive="base">
                                        <p:cTn id="14" dur="500" fill="hold"/>
                                        <p:tgtEl>
                                          <p:spTgt spid="194253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42533">
                                            <p:txEl>
                                              <p:pRg st="0" end="0"/>
                                            </p:txEl>
                                          </p:spTgt>
                                        </p:tgtEl>
                                        <p:attrNameLst>
                                          <p:attrName>style.visibility</p:attrName>
                                        </p:attrNameLst>
                                      </p:cBhvr>
                                      <p:to>
                                        <p:strVal val="visible"/>
                                      </p:to>
                                    </p:set>
                                    <p:anim calcmode="lin" valueType="num">
                                      <p:cBhvr additive="base">
                                        <p:cTn id="19" dur="500" fill="hold"/>
                                        <p:tgtEl>
                                          <p:spTgt spid="1942533">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94253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2532" grpId="0" build="p" autoUpdateAnimBg="0"/>
      <p:bldP spid="1942533" grpId="0" build="p"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026"/>
          <p:cNvSpPr>
            <a:spLocks noChangeArrowheads="1"/>
          </p:cNvSpPr>
          <p:nvPr/>
        </p:nvSpPr>
        <p:spPr bwMode="auto">
          <a:xfrm>
            <a:off x="4724400" y="1473200"/>
            <a:ext cx="3581400" cy="36576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67" name="Line 1027"/>
          <p:cNvSpPr>
            <a:spLocks noChangeShapeType="1"/>
          </p:cNvSpPr>
          <p:nvPr/>
        </p:nvSpPr>
        <p:spPr bwMode="auto">
          <a:xfrm>
            <a:off x="4876800" y="26162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68" name="Line 1028"/>
          <p:cNvSpPr>
            <a:spLocks noChangeShapeType="1"/>
          </p:cNvSpPr>
          <p:nvPr/>
        </p:nvSpPr>
        <p:spPr bwMode="auto">
          <a:xfrm>
            <a:off x="6019800" y="26162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69" name="Line 1029"/>
          <p:cNvSpPr>
            <a:spLocks noChangeShapeType="1"/>
          </p:cNvSpPr>
          <p:nvPr/>
        </p:nvSpPr>
        <p:spPr bwMode="auto">
          <a:xfrm flipH="1">
            <a:off x="4876800" y="29972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0" name="Line 1030"/>
          <p:cNvSpPr>
            <a:spLocks noChangeShapeType="1"/>
          </p:cNvSpPr>
          <p:nvPr/>
        </p:nvSpPr>
        <p:spPr bwMode="auto">
          <a:xfrm>
            <a:off x="4876800" y="35306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1" name="Line 1031"/>
          <p:cNvSpPr>
            <a:spLocks noChangeShapeType="1"/>
          </p:cNvSpPr>
          <p:nvPr/>
        </p:nvSpPr>
        <p:spPr bwMode="auto">
          <a:xfrm>
            <a:off x="6019800" y="3530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2" name="Line 1032"/>
          <p:cNvSpPr>
            <a:spLocks noChangeShapeType="1"/>
          </p:cNvSpPr>
          <p:nvPr/>
        </p:nvSpPr>
        <p:spPr bwMode="auto">
          <a:xfrm flipH="1">
            <a:off x="4876800" y="39116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3" name="Line 1033"/>
          <p:cNvSpPr>
            <a:spLocks noChangeShapeType="1"/>
          </p:cNvSpPr>
          <p:nvPr/>
        </p:nvSpPr>
        <p:spPr bwMode="auto">
          <a:xfrm>
            <a:off x="4876800" y="44450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4" name="Line 1034"/>
          <p:cNvSpPr>
            <a:spLocks noChangeShapeType="1"/>
          </p:cNvSpPr>
          <p:nvPr/>
        </p:nvSpPr>
        <p:spPr bwMode="auto">
          <a:xfrm>
            <a:off x="6019800" y="44450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5" name="Line 1035"/>
          <p:cNvSpPr>
            <a:spLocks noChangeShapeType="1"/>
          </p:cNvSpPr>
          <p:nvPr/>
        </p:nvSpPr>
        <p:spPr bwMode="auto">
          <a:xfrm flipH="1">
            <a:off x="4876800" y="48260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6" name="Line 1036"/>
          <p:cNvSpPr>
            <a:spLocks noChangeShapeType="1"/>
          </p:cNvSpPr>
          <p:nvPr/>
        </p:nvSpPr>
        <p:spPr bwMode="auto">
          <a:xfrm>
            <a:off x="6934200" y="26162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7" name="Line 1037"/>
          <p:cNvSpPr>
            <a:spLocks noChangeShapeType="1"/>
          </p:cNvSpPr>
          <p:nvPr/>
        </p:nvSpPr>
        <p:spPr bwMode="auto">
          <a:xfrm>
            <a:off x="8077200" y="26162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8" name="Line 1038"/>
          <p:cNvSpPr>
            <a:spLocks noChangeShapeType="1"/>
          </p:cNvSpPr>
          <p:nvPr/>
        </p:nvSpPr>
        <p:spPr bwMode="auto">
          <a:xfrm flipH="1">
            <a:off x="6934200" y="29972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9" name="Line 1039"/>
          <p:cNvSpPr>
            <a:spLocks noChangeShapeType="1"/>
          </p:cNvSpPr>
          <p:nvPr/>
        </p:nvSpPr>
        <p:spPr bwMode="auto">
          <a:xfrm>
            <a:off x="6934200" y="35306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0" name="Line 1040"/>
          <p:cNvSpPr>
            <a:spLocks noChangeShapeType="1"/>
          </p:cNvSpPr>
          <p:nvPr/>
        </p:nvSpPr>
        <p:spPr bwMode="auto">
          <a:xfrm>
            <a:off x="8077200" y="3530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1" name="Line 1041"/>
          <p:cNvSpPr>
            <a:spLocks noChangeShapeType="1"/>
          </p:cNvSpPr>
          <p:nvPr/>
        </p:nvSpPr>
        <p:spPr bwMode="auto">
          <a:xfrm flipH="1">
            <a:off x="6934200" y="39116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2" name="Line 1042"/>
          <p:cNvSpPr>
            <a:spLocks noChangeShapeType="1"/>
          </p:cNvSpPr>
          <p:nvPr/>
        </p:nvSpPr>
        <p:spPr bwMode="auto">
          <a:xfrm>
            <a:off x="6934200" y="44450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3" name="Line 1043"/>
          <p:cNvSpPr>
            <a:spLocks noChangeShapeType="1"/>
          </p:cNvSpPr>
          <p:nvPr/>
        </p:nvSpPr>
        <p:spPr bwMode="auto">
          <a:xfrm>
            <a:off x="8077200" y="44450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4" name="Line 1044"/>
          <p:cNvSpPr>
            <a:spLocks noChangeShapeType="1"/>
          </p:cNvSpPr>
          <p:nvPr/>
        </p:nvSpPr>
        <p:spPr bwMode="auto">
          <a:xfrm flipH="1">
            <a:off x="6934200" y="48260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5" name="Text Box 1045"/>
          <p:cNvSpPr txBox="1">
            <a:spLocks noChangeArrowheads="1"/>
          </p:cNvSpPr>
          <p:nvPr/>
        </p:nvSpPr>
        <p:spPr bwMode="auto">
          <a:xfrm>
            <a:off x="3108326" y="3411539"/>
            <a:ext cx="91416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Input</a:t>
            </a:r>
          </a:p>
          <a:p>
            <a:pPr eaLnBrk="1" hangingPunct="1"/>
            <a:r>
              <a:rPr lang="en-US" altLang="zh-CN" sz="2400">
                <a:solidFill>
                  <a:schemeClr val="tx1"/>
                </a:solidFill>
                <a:latin typeface="Tahoma" panose="020B0604030504040204" pitchFamily="34" charset="0"/>
              </a:rPr>
              <a:t>Links</a:t>
            </a:r>
          </a:p>
        </p:txBody>
      </p:sp>
      <p:sp>
        <p:nvSpPr>
          <p:cNvPr id="11286" name="Text Box 1046"/>
          <p:cNvSpPr txBox="1">
            <a:spLocks noChangeArrowheads="1"/>
          </p:cNvSpPr>
          <p:nvPr/>
        </p:nvSpPr>
        <p:spPr bwMode="auto">
          <a:xfrm>
            <a:off x="8899525" y="3182939"/>
            <a:ext cx="112082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Output</a:t>
            </a:r>
          </a:p>
          <a:p>
            <a:pPr eaLnBrk="1" hangingPunct="1"/>
            <a:r>
              <a:rPr lang="en-US" altLang="zh-CN" sz="2400">
                <a:solidFill>
                  <a:schemeClr val="tx1"/>
                </a:solidFill>
                <a:latin typeface="Tahoma" panose="020B0604030504040204" pitchFamily="34" charset="0"/>
              </a:rPr>
              <a:t>Links</a:t>
            </a:r>
          </a:p>
        </p:txBody>
      </p:sp>
      <p:sp>
        <p:nvSpPr>
          <p:cNvPr id="11287" name="Rectangle 1047"/>
          <p:cNvSpPr>
            <a:spLocks noChangeArrowheads="1"/>
          </p:cNvSpPr>
          <p:nvPr/>
        </p:nvSpPr>
        <p:spPr bwMode="auto">
          <a:xfrm>
            <a:off x="4953000" y="1625600"/>
            <a:ext cx="2971800" cy="762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bg1"/>
                </a:solidFill>
                <a:latin typeface="Tahoma" panose="020B0604030504040204" pitchFamily="34" charset="0"/>
              </a:rPr>
              <a:t>Forwarding Table</a:t>
            </a:r>
          </a:p>
        </p:txBody>
      </p:sp>
      <p:sp>
        <p:nvSpPr>
          <p:cNvPr id="11288" name="Line 1048"/>
          <p:cNvSpPr>
            <a:spLocks noChangeShapeType="1"/>
          </p:cNvSpPr>
          <p:nvPr/>
        </p:nvSpPr>
        <p:spPr bwMode="auto">
          <a:xfrm>
            <a:off x="5181600" y="1625600"/>
            <a:ext cx="0" cy="762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9" name="Line 1049"/>
          <p:cNvSpPr>
            <a:spLocks noChangeShapeType="1"/>
          </p:cNvSpPr>
          <p:nvPr/>
        </p:nvSpPr>
        <p:spPr bwMode="auto">
          <a:xfrm>
            <a:off x="4953000" y="1778000"/>
            <a:ext cx="2971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90" name="Rectangle 1050"/>
          <p:cNvSpPr>
            <a:spLocks noChangeArrowheads="1"/>
          </p:cNvSpPr>
          <p:nvPr/>
        </p:nvSpPr>
        <p:spPr bwMode="auto">
          <a:xfrm>
            <a:off x="4038600" y="2768600"/>
            <a:ext cx="685800" cy="76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1" name="Rectangle 1051"/>
          <p:cNvSpPr>
            <a:spLocks noChangeArrowheads="1"/>
          </p:cNvSpPr>
          <p:nvPr/>
        </p:nvSpPr>
        <p:spPr bwMode="auto">
          <a:xfrm>
            <a:off x="4038600" y="4597400"/>
            <a:ext cx="685800" cy="76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2" name="Rectangle 1052"/>
          <p:cNvSpPr>
            <a:spLocks noChangeArrowheads="1"/>
          </p:cNvSpPr>
          <p:nvPr/>
        </p:nvSpPr>
        <p:spPr bwMode="auto">
          <a:xfrm>
            <a:off x="4038600" y="3683000"/>
            <a:ext cx="685800" cy="76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3" name="Rectangle 1053"/>
          <p:cNvSpPr>
            <a:spLocks noChangeArrowheads="1"/>
          </p:cNvSpPr>
          <p:nvPr/>
        </p:nvSpPr>
        <p:spPr bwMode="auto">
          <a:xfrm>
            <a:off x="8305800" y="3683000"/>
            <a:ext cx="685800" cy="76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4" name="Rectangle 1054"/>
          <p:cNvSpPr>
            <a:spLocks noChangeArrowheads="1"/>
          </p:cNvSpPr>
          <p:nvPr/>
        </p:nvSpPr>
        <p:spPr bwMode="auto">
          <a:xfrm>
            <a:off x="8305800" y="2768600"/>
            <a:ext cx="685800" cy="76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5" name="Rectangle 1055"/>
          <p:cNvSpPr>
            <a:spLocks noChangeArrowheads="1"/>
          </p:cNvSpPr>
          <p:nvPr/>
        </p:nvSpPr>
        <p:spPr bwMode="auto">
          <a:xfrm>
            <a:off x="8305800" y="4597400"/>
            <a:ext cx="685800" cy="76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6" name="AutoShape 1056"/>
          <p:cNvSpPr>
            <a:spLocks/>
          </p:cNvSpPr>
          <p:nvPr/>
        </p:nvSpPr>
        <p:spPr bwMode="auto">
          <a:xfrm>
            <a:off x="8534400" y="2540000"/>
            <a:ext cx="304800" cy="2438400"/>
          </a:xfrm>
          <a:prstGeom prst="rightBrace">
            <a:avLst>
              <a:gd name="adj1" fmla="val 66667"/>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7" name="AutoShape 1057"/>
          <p:cNvSpPr>
            <a:spLocks/>
          </p:cNvSpPr>
          <p:nvPr/>
        </p:nvSpPr>
        <p:spPr bwMode="auto">
          <a:xfrm>
            <a:off x="4191000" y="2540000"/>
            <a:ext cx="304800" cy="2362200"/>
          </a:xfrm>
          <a:prstGeom prst="leftBrace">
            <a:avLst>
              <a:gd name="adj1" fmla="val 64583"/>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8" name="Text Box 1058"/>
          <p:cNvSpPr txBox="1">
            <a:spLocks noChangeArrowheads="1"/>
          </p:cNvSpPr>
          <p:nvPr/>
        </p:nvSpPr>
        <p:spPr bwMode="auto">
          <a:xfrm>
            <a:off x="5165725" y="5087938"/>
            <a:ext cx="2293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Network Router</a:t>
            </a:r>
          </a:p>
        </p:txBody>
      </p:sp>
      <p:pic>
        <p:nvPicPr>
          <p:cNvPr id="11299" name="Picture 1059" descr="BD04914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71800" y="2311401"/>
            <a:ext cx="985838"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00" name="Line 1060"/>
          <p:cNvSpPr>
            <a:spLocks noChangeShapeType="1"/>
          </p:cNvSpPr>
          <p:nvPr/>
        </p:nvSpPr>
        <p:spPr bwMode="auto">
          <a:xfrm>
            <a:off x="2895600" y="2997200"/>
            <a:ext cx="1371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301" name="Text Box 1061"/>
          <p:cNvSpPr txBox="1">
            <a:spLocks noChangeArrowheads="1"/>
          </p:cNvSpPr>
          <p:nvPr/>
        </p:nvSpPr>
        <p:spPr bwMode="auto">
          <a:xfrm>
            <a:off x="2819400" y="1778000"/>
            <a:ext cx="81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Addr</a:t>
            </a:r>
          </a:p>
        </p:txBody>
      </p:sp>
      <p:graphicFrame>
        <p:nvGraphicFramePr>
          <p:cNvPr id="11302" name="Object 1062"/>
          <p:cNvGraphicFramePr>
            <a:graphicFrameLocks noChangeAspect="1"/>
          </p:cNvGraphicFramePr>
          <p:nvPr/>
        </p:nvGraphicFramePr>
        <p:xfrm>
          <a:off x="3505200" y="1320800"/>
          <a:ext cx="1328738" cy="1828800"/>
        </p:xfrm>
        <a:graphic>
          <a:graphicData uri="http://schemas.openxmlformats.org/presentationml/2006/ole">
            <mc:AlternateContent xmlns:mc="http://schemas.openxmlformats.org/markup-compatibility/2006">
              <mc:Choice xmlns:v="urn:schemas-microsoft-com:vml" Requires="v">
                <p:oleObj spid="_x0000_s21681" name="Clip" r:id="rId4" imgW="2309813" imgH="3176588" progId="MS_ClipArt_Gallery.2">
                  <p:embed/>
                </p:oleObj>
              </mc:Choice>
              <mc:Fallback>
                <p:oleObj name="Clip" r:id="rId4" imgW="2309813" imgH="3176588" progId="MS_ClipArt_Gallery.2">
                  <p:embed/>
                  <p:pic>
                    <p:nvPicPr>
                      <p:cNvPr id="11302" name="Object 106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5200" y="1320800"/>
                        <a:ext cx="1328738" cy="182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03" name="Text Box 1063"/>
          <p:cNvSpPr txBox="1">
            <a:spLocks noChangeArrowheads="1"/>
          </p:cNvSpPr>
          <p:nvPr/>
        </p:nvSpPr>
        <p:spPr bwMode="auto">
          <a:xfrm rot="21232227">
            <a:off x="3498851" y="1581150"/>
            <a:ext cx="10509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3600">
                <a:solidFill>
                  <a:schemeClr val="tx1"/>
                </a:solidFill>
                <a:latin typeface="Tahoma" panose="020B0604030504040204" pitchFamily="34" charset="0"/>
              </a:rPr>
              <a:t>ess?</a:t>
            </a:r>
          </a:p>
        </p:txBody>
      </p:sp>
      <p:sp>
        <p:nvSpPr>
          <p:cNvPr id="11304" name="Rectangle 1064"/>
          <p:cNvSpPr>
            <a:spLocks noGrp="1" noChangeArrowheads="1"/>
          </p:cNvSpPr>
          <p:nvPr>
            <p:ph type="title"/>
          </p:nvPr>
        </p:nvSpPr>
        <p:spPr bwMode="auto">
          <a:xfrm>
            <a:off x="3819525" y="293688"/>
            <a:ext cx="4979988"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分组转发</a:t>
            </a: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1828800" y="3048000"/>
            <a:ext cx="4114800" cy="3048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endParaRPr lang="zh-CN" altLang="zh-CN" sz="2400">
              <a:solidFill>
                <a:schemeClr val="tx1"/>
              </a:solidFill>
              <a:latin typeface="Tahoma" panose="020B0604030504040204" pitchFamily="34" charset="0"/>
            </a:endParaRPr>
          </a:p>
        </p:txBody>
      </p:sp>
      <p:sp>
        <p:nvSpPr>
          <p:cNvPr id="12291" name="Line 3"/>
          <p:cNvSpPr>
            <a:spLocks noChangeShapeType="1"/>
          </p:cNvSpPr>
          <p:nvPr/>
        </p:nvSpPr>
        <p:spPr bwMode="auto">
          <a:xfrm>
            <a:off x="1828800" y="3657600"/>
            <a:ext cx="4114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292" name="Line 4"/>
          <p:cNvSpPr>
            <a:spLocks noChangeShapeType="1"/>
          </p:cNvSpPr>
          <p:nvPr/>
        </p:nvSpPr>
        <p:spPr bwMode="auto">
          <a:xfrm>
            <a:off x="1828800" y="4267200"/>
            <a:ext cx="4114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293" name="Line 5"/>
          <p:cNvSpPr>
            <a:spLocks noChangeShapeType="1"/>
          </p:cNvSpPr>
          <p:nvPr/>
        </p:nvSpPr>
        <p:spPr bwMode="auto">
          <a:xfrm>
            <a:off x="1828800" y="5486400"/>
            <a:ext cx="4114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294" name="Line 6"/>
          <p:cNvSpPr>
            <a:spLocks noChangeShapeType="1"/>
          </p:cNvSpPr>
          <p:nvPr/>
        </p:nvSpPr>
        <p:spPr bwMode="auto">
          <a:xfrm>
            <a:off x="1828800" y="4876800"/>
            <a:ext cx="4114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295" name="Line 7"/>
          <p:cNvSpPr>
            <a:spLocks noChangeShapeType="1"/>
          </p:cNvSpPr>
          <p:nvPr/>
        </p:nvSpPr>
        <p:spPr bwMode="auto">
          <a:xfrm>
            <a:off x="3657600" y="3048000"/>
            <a:ext cx="0" cy="3048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296" name="Text Box 8"/>
          <p:cNvSpPr txBox="1">
            <a:spLocks noChangeArrowheads="1"/>
          </p:cNvSpPr>
          <p:nvPr/>
        </p:nvSpPr>
        <p:spPr bwMode="auto">
          <a:xfrm>
            <a:off x="1905000" y="3124200"/>
            <a:ext cx="1695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Destination</a:t>
            </a:r>
          </a:p>
        </p:txBody>
      </p:sp>
      <p:sp>
        <p:nvSpPr>
          <p:cNvPr id="12297" name="Text Box 9"/>
          <p:cNvSpPr txBox="1">
            <a:spLocks noChangeArrowheads="1"/>
          </p:cNvSpPr>
          <p:nvPr/>
        </p:nvSpPr>
        <p:spPr bwMode="auto">
          <a:xfrm>
            <a:off x="3657600" y="3124200"/>
            <a:ext cx="2273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Next hop (port)</a:t>
            </a:r>
          </a:p>
        </p:txBody>
      </p:sp>
      <p:sp>
        <p:nvSpPr>
          <p:cNvPr id="12298" name="Text Box 10"/>
          <p:cNvSpPr txBox="1">
            <a:spLocks noChangeArrowheads="1"/>
          </p:cNvSpPr>
          <p:nvPr/>
        </p:nvSpPr>
        <p:spPr bwMode="auto">
          <a:xfrm>
            <a:off x="1981200" y="3733800"/>
            <a:ext cx="157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Network X</a:t>
            </a:r>
          </a:p>
        </p:txBody>
      </p:sp>
      <p:sp>
        <p:nvSpPr>
          <p:cNvPr id="12299" name="Text Box 11"/>
          <p:cNvSpPr txBox="1">
            <a:spLocks noChangeArrowheads="1"/>
          </p:cNvSpPr>
          <p:nvPr/>
        </p:nvSpPr>
        <p:spPr bwMode="auto">
          <a:xfrm>
            <a:off x="1981200" y="4343400"/>
            <a:ext cx="157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Network Y</a:t>
            </a:r>
          </a:p>
        </p:txBody>
      </p:sp>
      <p:sp>
        <p:nvSpPr>
          <p:cNvPr id="12300" name="Text Box 12"/>
          <p:cNvSpPr txBox="1">
            <a:spLocks noChangeArrowheads="1"/>
          </p:cNvSpPr>
          <p:nvPr/>
        </p:nvSpPr>
        <p:spPr bwMode="auto">
          <a:xfrm>
            <a:off x="1981200" y="4953000"/>
            <a:ext cx="1568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Network Z</a:t>
            </a:r>
          </a:p>
        </p:txBody>
      </p:sp>
      <p:sp>
        <p:nvSpPr>
          <p:cNvPr id="12301" name="Text Box 13"/>
          <p:cNvSpPr txBox="1">
            <a:spLocks noChangeArrowheads="1"/>
          </p:cNvSpPr>
          <p:nvPr/>
        </p:nvSpPr>
        <p:spPr bwMode="auto">
          <a:xfrm>
            <a:off x="1981200" y="556260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Network W</a:t>
            </a:r>
          </a:p>
        </p:txBody>
      </p:sp>
      <p:sp>
        <p:nvSpPr>
          <p:cNvPr id="12302" name="Oval 14"/>
          <p:cNvSpPr>
            <a:spLocks noChangeArrowheads="1"/>
          </p:cNvSpPr>
          <p:nvPr/>
        </p:nvSpPr>
        <p:spPr bwMode="auto">
          <a:xfrm>
            <a:off x="9601200" y="4419600"/>
            <a:ext cx="457200" cy="457200"/>
          </a:xfrm>
          <a:prstGeom prst="ellipse">
            <a:avLst/>
          </a:prstGeom>
          <a:solidFill>
            <a:schemeClr val="hlink"/>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endParaRPr lang="zh-CN" altLang="zh-CN" sz="2000">
              <a:solidFill>
                <a:schemeClr val="tx1"/>
              </a:solidFill>
              <a:latin typeface="Tahoma" panose="020B0604030504040204" pitchFamily="34" charset="0"/>
            </a:endParaRPr>
          </a:p>
        </p:txBody>
      </p:sp>
      <p:sp>
        <p:nvSpPr>
          <p:cNvPr id="12303" name="Oval 15"/>
          <p:cNvSpPr>
            <a:spLocks noChangeArrowheads="1"/>
          </p:cNvSpPr>
          <p:nvPr/>
        </p:nvSpPr>
        <p:spPr bwMode="auto">
          <a:xfrm>
            <a:off x="9067800" y="2819400"/>
            <a:ext cx="457200" cy="457200"/>
          </a:xfrm>
          <a:prstGeom prst="ellipse">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E</a:t>
            </a:r>
          </a:p>
        </p:txBody>
      </p:sp>
      <p:sp>
        <p:nvSpPr>
          <p:cNvPr id="12304" name="Oval 16"/>
          <p:cNvSpPr>
            <a:spLocks noChangeArrowheads="1"/>
          </p:cNvSpPr>
          <p:nvPr/>
        </p:nvSpPr>
        <p:spPr bwMode="auto">
          <a:xfrm>
            <a:off x="7543800" y="3657600"/>
            <a:ext cx="457200" cy="457200"/>
          </a:xfrm>
          <a:prstGeom prst="ellipse">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C</a:t>
            </a:r>
          </a:p>
        </p:txBody>
      </p:sp>
      <p:sp>
        <p:nvSpPr>
          <p:cNvPr id="12305" name="Oval 17"/>
          <p:cNvSpPr>
            <a:spLocks noChangeArrowheads="1"/>
          </p:cNvSpPr>
          <p:nvPr/>
        </p:nvSpPr>
        <p:spPr bwMode="auto">
          <a:xfrm>
            <a:off x="8229600" y="5334000"/>
            <a:ext cx="457200" cy="457200"/>
          </a:xfrm>
          <a:prstGeom prst="ellipse">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A</a:t>
            </a:r>
          </a:p>
        </p:txBody>
      </p:sp>
      <p:sp>
        <p:nvSpPr>
          <p:cNvPr id="12306" name="Line 18"/>
          <p:cNvSpPr>
            <a:spLocks noChangeShapeType="1"/>
          </p:cNvSpPr>
          <p:nvPr/>
        </p:nvSpPr>
        <p:spPr bwMode="auto">
          <a:xfrm flipV="1">
            <a:off x="8610600" y="4724400"/>
            <a:ext cx="1066800" cy="762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07" name="Line 19"/>
          <p:cNvSpPr>
            <a:spLocks noChangeShapeType="1"/>
          </p:cNvSpPr>
          <p:nvPr/>
        </p:nvSpPr>
        <p:spPr bwMode="auto">
          <a:xfrm flipH="1" flipV="1">
            <a:off x="7924800" y="3962400"/>
            <a:ext cx="1752600" cy="609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08" name="Line 20"/>
          <p:cNvSpPr>
            <a:spLocks noChangeShapeType="1"/>
          </p:cNvSpPr>
          <p:nvPr/>
        </p:nvSpPr>
        <p:spPr bwMode="auto">
          <a:xfrm flipH="1" flipV="1">
            <a:off x="9372600" y="3200400"/>
            <a:ext cx="457200" cy="1219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09" name="Line 21"/>
          <p:cNvSpPr>
            <a:spLocks noChangeShapeType="1"/>
          </p:cNvSpPr>
          <p:nvPr/>
        </p:nvSpPr>
        <p:spPr bwMode="auto">
          <a:xfrm>
            <a:off x="7239000" y="6172200"/>
            <a:ext cx="2667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0" name="Line 22"/>
          <p:cNvSpPr>
            <a:spLocks noChangeShapeType="1"/>
          </p:cNvSpPr>
          <p:nvPr/>
        </p:nvSpPr>
        <p:spPr bwMode="auto">
          <a:xfrm>
            <a:off x="6172200" y="5181600"/>
            <a:ext cx="2057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1" name="Line 23"/>
          <p:cNvSpPr>
            <a:spLocks noChangeShapeType="1"/>
          </p:cNvSpPr>
          <p:nvPr/>
        </p:nvSpPr>
        <p:spPr bwMode="auto">
          <a:xfrm>
            <a:off x="8839200" y="2590800"/>
            <a:ext cx="1676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2" name="Oval 24"/>
          <p:cNvSpPr>
            <a:spLocks noChangeArrowheads="1"/>
          </p:cNvSpPr>
          <p:nvPr/>
        </p:nvSpPr>
        <p:spPr bwMode="auto">
          <a:xfrm>
            <a:off x="7162800" y="4343400"/>
            <a:ext cx="457200" cy="457200"/>
          </a:xfrm>
          <a:prstGeom prst="ellipse">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B</a:t>
            </a:r>
          </a:p>
        </p:txBody>
      </p:sp>
      <p:sp>
        <p:nvSpPr>
          <p:cNvPr id="12313" name="Oval 25"/>
          <p:cNvSpPr>
            <a:spLocks noChangeArrowheads="1"/>
          </p:cNvSpPr>
          <p:nvPr/>
        </p:nvSpPr>
        <p:spPr bwMode="auto">
          <a:xfrm>
            <a:off x="8001000" y="2819400"/>
            <a:ext cx="457200" cy="457200"/>
          </a:xfrm>
          <a:prstGeom prst="ellipse">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F</a:t>
            </a:r>
          </a:p>
        </p:txBody>
      </p:sp>
      <p:sp>
        <p:nvSpPr>
          <p:cNvPr id="12314" name="Line 26"/>
          <p:cNvSpPr>
            <a:spLocks noChangeShapeType="1"/>
          </p:cNvSpPr>
          <p:nvPr/>
        </p:nvSpPr>
        <p:spPr bwMode="auto">
          <a:xfrm flipH="1">
            <a:off x="7467600" y="4038600"/>
            <a:ext cx="1524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5" name="Line 27"/>
          <p:cNvSpPr>
            <a:spLocks noChangeShapeType="1"/>
          </p:cNvSpPr>
          <p:nvPr/>
        </p:nvSpPr>
        <p:spPr bwMode="auto">
          <a:xfrm flipV="1">
            <a:off x="7848600" y="3200400"/>
            <a:ext cx="22860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6" name="Line 28"/>
          <p:cNvSpPr>
            <a:spLocks noChangeShapeType="1"/>
          </p:cNvSpPr>
          <p:nvPr/>
        </p:nvSpPr>
        <p:spPr bwMode="auto">
          <a:xfrm>
            <a:off x="7391400" y="4800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7" name="Line 29"/>
          <p:cNvSpPr>
            <a:spLocks noChangeShapeType="1"/>
          </p:cNvSpPr>
          <p:nvPr/>
        </p:nvSpPr>
        <p:spPr bwMode="auto">
          <a:xfrm flipV="1">
            <a:off x="9296400" y="25908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8" name="Line 30"/>
          <p:cNvSpPr>
            <a:spLocks noChangeShapeType="1"/>
          </p:cNvSpPr>
          <p:nvPr/>
        </p:nvSpPr>
        <p:spPr bwMode="auto">
          <a:xfrm flipH="1">
            <a:off x="6172200" y="32766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9" name="Oval 31"/>
          <p:cNvSpPr>
            <a:spLocks noChangeArrowheads="1"/>
          </p:cNvSpPr>
          <p:nvPr/>
        </p:nvSpPr>
        <p:spPr bwMode="auto">
          <a:xfrm>
            <a:off x="7086600" y="2590800"/>
            <a:ext cx="457200" cy="457200"/>
          </a:xfrm>
          <a:prstGeom prst="ellipse">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D</a:t>
            </a:r>
          </a:p>
        </p:txBody>
      </p:sp>
      <p:sp>
        <p:nvSpPr>
          <p:cNvPr id="12320" name="Line 32"/>
          <p:cNvSpPr>
            <a:spLocks noChangeShapeType="1"/>
          </p:cNvSpPr>
          <p:nvPr/>
        </p:nvSpPr>
        <p:spPr bwMode="auto">
          <a:xfrm flipH="1" flipV="1">
            <a:off x="7543800" y="2895600"/>
            <a:ext cx="457200" cy="76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21" name="Line 33"/>
          <p:cNvSpPr>
            <a:spLocks noChangeShapeType="1"/>
          </p:cNvSpPr>
          <p:nvPr/>
        </p:nvSpPr>
        <p:spPr bwMode="auto">
          <a:xfrm>
            <a:off x="7315200" y="30480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22" name="Line 34"/>
          <p:cNvSpPr>
            <a:spLocks noChangeShapeType="1"/>
          </p:cNvSpPr>
          <p:nvPr/>
        </p:nvSpPr>
        <p:spPr bwMode="auto">
          <a:xfrm flipV="1">
            <a:off x="8229600" y="2286000"/>
            <a:ext cx="76200" cy="533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23" name="Line 35"/>
          <p:cNvSpPr>
            <a:spLocks noChangeShapeType="1"/>
          </p:cNvSpPr>
          <p:nvPr/>
        </p:nvSpPr>
        <p:spPr bwMode="auto">
          <a:xfrm>
            <a:off x="9982200" y="4724400"/>
            <a:ext cx="38100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24" name="Line 36"/>
          <p:cNvSpPr>
            <a:spLocks noChangeShapeType="1"/>
          </p:cNvSpPr>
          <p:nvPr/>
        </p:nvSpPr>
        <p:spPr bwMode="auto">
          <a:xfrm>
            <a:off x="8458200" y="57912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25" name="Text Box 37"/>
          <p:cNvSpPr txBox="1">
            <a:spLocks noChangeArrowheads="1"/>
          </p:cNvSpPr>
          <p:nvPr/>
        </p:nvSpPr>
        <p:spPr bwMode="auto">
          <a:xfrm>
            <a:off x="9439276" y="2590801"/>
            <a:ext cx="1228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800">
                <a:solidFill>
                  <a:schemeClr val="tx1"/>
                </a:solidFill>
                <a:latin typeface="Tahoma" panose="020B0604030504040204" pitchFamily="34" charset="0"/>
              </a:rPr>
              <a:t>Network X</a:t>
            </a:r>
          </a:p>
        </p:txBody>
      </p:sp>
      <p:sp>
        <p:nvSpPr>
          <p:cNvPr id="12326" name="Text Box 38"/>
          <p:cNvSpPr txBox="1">
            <a:spLocks noChangeArrowheads="1"/>
          </p:cNvSpPr>
          <p:nvPr/>
        </p:nvSpPr>
        <p:spPr bwMode="auto">
          <a:xfrm>
            <a:off x="6629400" y="3276601"/>
            <a:ext cx="12271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800">
                <a:solidFill>
                  <a:schemeClr val="tx1"/>
                </a:solidFill>
                <a:latin typeface="Tahoma" panose="020B0604030504040204" pitchFamily="34" charset="0"/>
              </a:rPr>
              <a:t>Network Y</a:t>
            </a:r>
          </a:p>
        </p:txBody>
      </p:sp>
      <p:sp>
        <p:nvSpPr>
          <p:cNvPr id="12327" name="Text Box 39"/>
          <p:cNvSpPr txBox="1">
            <a:spLocks noChangeArrowheads="1"/>
          </p:cNvSpPr>
          <p:nvPr/>
        </p:nvSpPr>
        <p:spPr bwMode="auto">
          <a:xfrm>
            <a:off x="6172201" y="4800601"/>
            <a:ext cx="12239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800">
                <a:solidFill>
                  <a:schemeClr val="tx1"/>
                </a:solidFill>
                <a:latin typeface="Tahoma" panose="020B0604030504040204" pitchFamily="34" charset="0"/>
              </a:rPr>
              <a:t>Network Z</a:t>
            </a:r>
          </a:p>
        </p:txBody>
      </p:sp>
      <p:sp>
        <p:nvSpPr>
          <p:cNvPr id="12328" name="Text Box 40"/>
          <p:cNvSpPr txBox="1">
            <a:spLocks noChangeArrowheads="1"/>
          </p:cNvSpPr>
          <p:nvPr/>
        </p:nvSpPr>
        <p:spPr bwMode="auto">
          <a:xfrm>
            <a:off x="8534400" y="5791201"/>
            <a:ext cx="1301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800">
                <a:solidFill>
                  <a:schemeClr val="tx1"/>
                </a:solidFill>
                <a:latin typeface="Tahoma" panose="020B0604030504040204" pitchFamily="34" charset="0"/>
              </a:rPr>
              <a:t>Network W</a:t>
            </a:r>
          </a:p>
        </p:txBody>
      </p:sp>
      <p:sp>
        <p:nvSpPr>
          <p:cNvPr id="12329" name="Rectangle 41"/>
          <p:cNvSpPr>
            <a:spLocks noChangeArrowheads="1"/>
          </p:cNvSpPr>
          <p:nvPr/>
        </p:nvSpPr>
        <p:spPr bwMode="auto">
          <a:xfrm>
            <a:off x="8991600" y="20574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30" name="Rectangle 42"/>
          <p:cNvSpPr>
            <a:spLocks noChangeArrowheads="1"/>
          </p:cNvSpPr>
          <p:nvPr/>
        </p:nvSpPr>
        <p:spPr bwMode="auto">
          <a:xfrm>
            <a:off x="9677400" y="20574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31" name="Rectangle 43"/>
          <p:cNvSpPr>
            <a:spLocks noChangeArrowheads="1"/>
          </p:cNvSpPr>
          <p:nvPr/>
        </p:nvSpPr>
        <p:spPr bwMode="auto">
          <a:xfrm>
            <a:off x="6172200" y="35052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32" name="Line 44"/>
          <p:cNvSpPr>
            <a:spLocks noChangeShapeType="1"/>
          </p:cNvSpPr>
          <p:nvPr/>
        </p:nvSpPr>
        <p:spPr bwMode="auto">
          <a:xfrm>
            <a:off x="6400800" y="32766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33" name="Line 45"/>
          <p:cNvSpPr>
            <a:spLocks noChangeShapeType="1"/>
          </p:cNvSpPr>
          <p:nvPr/>
        </p:nvSpPr>
        <p:spPr bwMode="auto">
          <a:xfrm>
            <a:off x="9220200" y="23622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34" name="Line 46"/>
          <p:cNvSpPr>
            <a:spLocks noChangeShapeType="1"/>
          </p:cNvSpPr>
          <p:nvPr/>
        </p:nvSpPr>
        <p:spPr bwMode="auto">
          <a:xfrm>
            <a:off x="9906000" y="23622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35" name="Rectangle 47"/>
          <p:cNvSpPr>
            <a:spLocks noChangeArrowheads="1"/>
          </p:cNvSpPr>
          <p:nvPr/>
        </p:nvSpPr>
        <p:spPr bwMode="auto">
          <a:xfrm>
            <a:off x="8839200" y="64008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36" name="Rectangle 48"/>
          <p:cNvSpPr>
            <a:spLocks noChangeArrowheads="1"/>
          </p:cNvSpPr>
          <p:nvPr/>
        </p:nvSpPr>
        <p:spPr bwMode="auto">
          <a:xfrm>
            <a:off x="8077200" y="64008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37" name="Rectangle 49"/>
          <p:cNvSpPr>
            <a:spLocks noChangeArrowheads="1"/>
          </p:cNvSpPr>
          <p:nvPr/>
        </p:nvSpPr>
        <p:spPr bwMode="auto">
          <a:xfrm>
            <a:off x="7315200" y="64008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38" name="Line 50"/>
          <p:cNvSpPr>
            <a:spLocks noChangeShapeType="1"/>
          </p:cNvSpPr>
          <p:nvPr/>
        </p:nvSpPr>
        <p:spPr bwMode="auto">
          <a:xfrm>
            <a:off x="7543800" y="61722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39" name="Line 51"/>
          <p:cNvSpPr>
            <a:spLocks noChangeShapeType="1"/>
          </p:cNvSpPr>
          <p:nvPr/>
        </p:nvSpPr>
        <p:spPr bwMode="auto">
          <a:xfrm>
            <a:off x="8305800" y="61722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40" name="Line 52"/>
          <p:cNvSpPr>
            <a:spLocks noChangeShapeType="1"/>
          </p:cNvSpPr>
          <p:nvPr/>
        </p:nvSpPr>
        <p:spPr bwMode="auto">
          <a:xfrm>
            <a:off x="9067800" y="61722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41" name="Rectangle 53"/>
          <p:cNvSpPr>
            <a:spLocks noChangeArrowheads="1"/>
          </p:cNvSpPr>
          <p:nvPr/>
        </p:nvSpPr>
        <p:spPr bwMode="auto">
          <a:xfrm>
            <a:off x="7010400" y="54102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42" name="Rectangle 54"/>
          <p:cNvSpPr>
            <a:spLocks noChangeArrowheads="1"/>
          </p:cNvSpPr>
          <p:nvPr/>
        </p:nvSpPr>
        <p:spPr bwMode="auto">
          <a:xfrm>
            <a:off x="6324600" y="54102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43" name="Line 55"/>
          <p:cNvSpPr>
            <a:spLocks noChangeShapeType="1"/>
          </p:cNvSpPr>
          <p:nvPr/>
        </p:nvSpPr>
        <p:spPr bwMode="auto">
          <a:xfrm>
            <a:off x="6553200" y="51816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44" name="Line 56"/>
          <p:cNvSpPr>
            <a:spLocks noChangeShapeType="1"/>
          </p:cNvSpPr>
          <p:nvPr/>
        </p:nvSpPr>
        <p:spPr bwMode="auto">
          <a:xfrm>
            <a:off x="7239000" y="51816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44633" name="Text Box 57"/>
          <p:cNvSpPr txBox="1">
            <a:spLocks noChangeArrowheads="1"/>
          </p:cNvSpPr>
          <p:nvPr/>
        </p:nvSpPr>
        <p:spPr bwMode="auto">
          <a:xfrm>
            <a:off x="4495800" y="3733800"/>
            <a:ext cx="35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rgbClr val="FFFF00"/>
                </a:solidFill>
                <a:latin typeface="Tahoma" panose="020B0604030504040204" pitchFamily="34" charset="0"/>
              </a:rPr>
              <a:t>E</a:t>
            </a:r>
          </a:p>
        </p:txBody>
      </p:sp>
      <p:sp>
        <p:nvSpPr>
          <p:cNvPr id="1944634" name="Text Box 58"/>
          <p:cNvSpPr txBox="1">
            <a:spLocks noChangeArrowheads="1"/>
          </p:cNvSpPr>
          <p:nvPr/>
        </p:nvSpPr>
        <p:spPr bwMode="auto">
          <a:xfrm>
            <a:off x="4495801" y="4343400"/>
            <a:ext cx="36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rgbClr val="FFFF00"/>
                </a:solidFill>
                <a:latin typeface="Tahoma" panose="020B0604030504040204" pitchFamily="34" charset="0"/>
              </a:rPr>
              <a:t>C</a:t>
            </a:r>
          </a:p>
        </p:txBody>
      </p:sp>
      <p:sp>
        <p:nvSpPr>
          <p:cNvPr id="1944635" name="Text Box 59"/>
          <p:cNvSpPr txBox="1">
            <a:spLocks noChangeArrowheads="1"/>
          </p:cNvSpPr>
          <p:nvPr/>
        </p:nvSpPr>
        <p:spPr bwMode="auto">
          <a:xfrm>
            <a:off x="4495801" y="4953000"/>
            <a:ext cx="36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rgbClr val="FFFF00"/>
                </a:solidFill>
                <a:latin typeface="Tahoma" panose="020B0604030504040204" pitchFamily="34" charset="0"/>
              </a:rPr>
              <a:t>C</a:t>
            </a:r>
          </a:p>
        </p:txBody>
      </p:sp>
      <p:sp>
        <p:nvSpPr>
          <p:cNvPr id="1944636" name="Text Box 60"/>
          <p:cNvSpPr txBox="1">
            <a:spLocks noChangeArrowheads="1"/>
          </p:cNvSpPr>
          <p:nvPr/>
        </p:nvSpPr>
        <p:spPr bwMode="auto">
          <a:xfrm>
            <a:off x="4495801" y="5562600"/>
            <a:ext cx="36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rgbClr val="FFFF00"/>
                </a:solidFill>
                <a:latin typeface="Tahoma" panose="020B0604030504040204" pitchFamily="34" charset="0"/>
              </a:rPr>
              <a:t>A</a:t>
            </a:r>
          </a:p>
        </p:txBody>
      </p:sp>
      <p:sp>
        <p:nvSpPr>
          <p:cNvPr id="1944637" name="Text Box 61"/>
          <p:cNvSpPr txBox="1">
            <a:spLocks noChangeArrowheads="1"/>
          </p:cNvSpPr>
          <p:nvPr/>
        </p:nvSpPr>
        <p:spPr bwMode="auto">
          <a:xfrm>
            <a:off x="3925888" y="1246189"/>
            <a:ext cx="4551362" cy="1274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90525" indent="-390525">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buClr>
                <a:schemeClr val="folHlink"/>
              </a:buClr>
              <a:buFont typeface="Wingdings" panose="05000000000000000000" pitchFamily="2" charset="2"/>
              <a:buChar char="q"/>
            </a:pPr>
            <a:r>
              <a:rPr kumimoji="1" lang="zh-CN" altLang="en-US" sz="2400">
                <a:solidFill>
                  <a:schemeClr val="tx1"/>
                </a:solidFill>
                <a:latin typeface="Tahoma" panose="020B0604030504040204" pitchFamily="34" charset="0"/>
              </a:rPr>
              <a:t>基于网络地址 </a:t>
            </a:r>
          </a:p>
          <a:p>
            <a:pPr>
              <a:spcBef>
                <a:spcPct val="20000"/>
              </a:spcBef>
              <a:buClr>
                <a:schemeClr val="folHlink"/>
              </a:buClr>
              <a:buFont typeface="Wingdings" panose="05000000000000000000" pitchFamily="2" charset="2"/>
              <a:buChar char="q"/>
            </a:pPr>
            <a:r>
              <a:rPr kumimoji="1" lang="zh-CN" altLang="en-US" sz="2400">
                <a:solidFill>
                  <a:schemeClr val="tx1"/>
                </a:solidFill>
                <a:latin typeface="Tahoma" panose="020B0604030504040204" pitchFamily="34" charset="0"/>
              </a:rPr>
              <a:t>路由器找一个匹配的网络地址来决定下一跳</a:t>
            </a:r>
          </a:p>
        </p:txBody>
      </p:sp>
      <p:sp>
        <p:nvSpPr>
          <p:cNvPr id="12350" name="Rectangle 62"/>
          <p:cNvSpPr>
            <a:spLocks noGrp="1" noChangeArrowheads="1"/>
          </p:cNvSpPr>
          <p:nvPr>
            <p:ph type="title"/>
          </p:nvPr>
        </p:nvSpPr>
        <p:spPr bwMode="auto">
          <a:xfrm>
            <a:off x="3495675" y="346075"/>
            <a:ext cx="6091238"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b="1">
                <a:latin typeface="新宋体" panose="02010609030101010101" pitchFamily="49" charset="-122"/>
                <a:ea typeface="新宋体" panose="02010609030101010101" pitchFamily="49" charset="-122"/>
              </a:rPr>
              <a:t>IP </a:t>
            </a:r>
            <a:r>
              <a:rPr lang="zh-CN" altLang="en-US" sz="3600" b="1">
                <a:latin typeface="新宋体" panose="02010609030101010101" pitchFamily="49" charset="-122"/>
                <a:ea typeface="新宋体" panose="02010609030101010101" pitchFamily="49" charset="-122"/>
              </a:rPr>
              <a:t>转发表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44637">
                                            <p:txEl>
                                              <p:pRg st="0" end="0"/>
                                            </p:txEl>
                                          </p:spTgt>
                                        </p:tgtEl>
                                        <p:attrNameLst>
                                          <p:attrName>style.visibility</p:attrName>
                                        </p:attrNameLst>
                                      </p:cBhvr>
                                      <p:to>
                                        <p:strVal val="visible"/>
                                      </p:to>
                                    </p:set>
                                    <p:anim calcmode="lin" valueType="num">
                                      <p:cBhvr additive="base">
                                        <p:cTn id="7" dur="500" fill="hold"/>
                                        <p:tgtEl>
                                          <p:spTgt spid="194463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4463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44637">
                                            <p:txEl>
                                              <p:pRg st="1" end="1"/>
                                            </p:txEl>
                                          </p:spTgt>
                                        </p:tgtEl>
                                        <p:attrNameLst>
                                          <p:attrName>style.visibility</p:attrName>
                                        </p:attrNameLst>
                                      </p:cBhvr>
                                      <p:to>
                                        <p:strVal val="visible"/>
                                      </p:to>
                                    </p:set>
                                    <p:anim calcmode="lin" valueType="num">
                                      <p:cBhvr additive="base">
                                        <p:cTn id="13" dur="500" fill="hold"/>
                                        <p:tgtEl>
                                          <p:spTgt spid="194463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94463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44633"/>
                                        </p:tgtEl>
                                        <p:attrNameLst>
                                          <p:attrName>style.visibility</p:attrName>
                                        </p:attrNameLst>
                                      </p:cBhvr>
                                      <p:to>
                                        <p:strVal val="visible"/>
                                      </p:to>
                                    </p:set>
                                    <p:anim calcmode="lin" valueType="num">
                                      <p:cBhvr additive="base">
                                        <p:cTn id="19" dur="500" fill="hold"/>
                                        <p:tgtEl>
                                          <p:spTgt spid="1944633"/>
                                        </p:tgtEl>
                                        <p:attrNameLst>
                                          <p:attrName>ppt_x</p:attrName>
                                        </p:attrNameLst>
                                      </p:cBhvr>
                                      <p:tavLst>
                                        <p:tav tm="0">
                                          <p:val>
                                            <p:strVal val="0-#ppt_w/2"/>
                                          </p:val>
                                        </p:tav>
                                        <p:tav tm="100000">
                                          <p:val>
                                            <p:strVal val="#ppt_x"/>
                                          </p:val>
                                        </p:tav>
                                      </p:tavLst>
                                    </p:anim>
                                    <p:anim calcmode="lin" valueType="num">
                                      <p:cBhvr additive="base">
                                        <p:cTn id="20" dur="500" fill="hold"/>
                                        <p:tgtEl>
                                          <p:spTgt spid="194463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944634"/>
                                        </p:tgtEl>
                                        <p:attrNameLst>
                                          <p:attrName>style.visibility</p:attrName>
                                        </p:attrNameLst>
                                      </p:cBhvr>
                                      <p:to>
                                        <p:strVal val="visible"/>
                                      </p:to>
                                    </p:set>
                                    <p:anim calcmode="lin" valueType="num">
                                      <p:cBhvr additive="base">
                                        <p:cTn id="25" dur="500" fill="hold"/>
                                        <p:tgtEl>
                                          <p:spTgt spid="1944634"/>
                                        </p:tgtEl>
                                        <p:attrNameLst>
                                          <p:attrName>ppt_x</p:attrName>
                                        </p:attrNameLst>
                                      </p:cBhvr>
                                      <p:tavLst>
                                        <p:tav tm="0">
                                          <p:val>
                                            <p:strVal val="0-#ppt_w/2"/>
                                          </p:val>
                                        </p:tav>
                                        <p:tav tm="100000">
                                          <p:val>
                                            <p:strVal val="#ppt_x"/>
                                          </p:val>
                                        </p:tav>
                                      </p:tavLst>
                                    </p:anim>
                                    <p:anim calcmode="lin" valueType="num">
                                      <p:cBhvr additive="base">
                                        <p:cTn id="26" dur="500" fill="hold"/>
                                        <p:tgtEl>
                                          <p:spTgt spid="1944634"/>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944635"/>
                                        </p:tgtEl>
                                        <p:attrNameLst>
                                          <p:attrName>style.visibility</p:attrName>
                                        </p:attrNameLst>
                                      </p:cBhvr>
                                      <p:to>
                                        <p:strVal val="visible"/>
                                      </p:to>
                                    </p:set>
                                    <p:anim calcmode="lin" valueType="num">
                                      <p:cBhvr additive="base">
                                        <p:cTn id="31" dur="500" fill="hold"/>
                                        <p:tgtEl>
                                          <p:spTgt spid="1944635"/>
                                        </p:tgtEl>
                                        <p:attrNameLst>
                                          <p:attrName>ppt_x</p:attrName>
                                        </p:attrNameLst>
                                      </p:cBhvr>
                                      <p:tavLst>
                                        <p:tav tm="0">
                                          <p:val>
                                            <p:strVal val="0-#ppt_w/2"/>
                                          </p:val>
                                        </p:tav>
                                        <p:tav tm="100000">
                                          <p:val>
                                            <p:strVal val="#ppt_x"/>
                                          </p:val>
                                        </p:tav>
                                      </p:tavLst>
                                    </p:anim>
                                    <p:anim calcmode="lin" valueType="num">
                                      <p:cBhvr additive="base">
                                        <p:cTn id="32" dur="500" fill="hold"/>
                                        <p:tgtEl>
                                          <p:spTgt spid="194463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944636"/>
                                        </p:tgtEl>
                                        <p:attrNameLst>
                                          <p:attrName>style.visibility</p:attrName>
                                        </p:attrNameLst>
                                      </p:cBhvr>
                                      <p:to>
                                        <p:strVal val="visible"/>
                                      </p:to>
                                    </p:set>
                                    <p:anim calcmode="lin" valueType="num">
                                      <p:cBhvr additive="base">
                                        <p:cTn id="37" dur="500" fill="hold"/>
                                        <p:tgtEl>
                                          <p:spTgt spid="1944636"/>
                                        </p:tgtEl>
                                        <p:attrNameLst>
                                          <p:attrName>ppt_x</p:attrName>
                                        </p:attrNameLst>
                                      </p:cBhvr>
                                      <p:tavLst>
                                        <p:tav tm="0">
                                          <p:val>
                                            <p:strVal val="0-#ppt_w/2"/>
                                          </p:val>
                                        </p:tav>
                                        <p:tav tm="100000">
                                          <p:val>
                                            <p:strVal val="#ppt_x"/>
                                          </p:val>
                                        </p:tav>
                                      </p:tavLst>
                                    </p:anim>
                                    <p:anim calcmode="lin" valueType="num">
                                      <p:cBhvr additive="base">
                                        <p:cTn id="38" dur="500" fill="hold"/>
                                        <p:tgtEl>
                                          <p:spTgt spid="19446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4633" grpId="0" autoUpdateAnimBg="0"/>
      <p:bldP spid="1944634" grpId="0" autoUpdateAnimBg="0"/>
      <p:bldP spid="1944635" grpId="0" autoUpdateAnimBg="0"/>
      <p:bldP spid="1944636" grpId="0" autoUpdateAnimBg="0"/>
      <p:bldP spid="1944637" grpId="0" build="p"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bwMode="auto">
          <a:xfrm>
            <a:off x="4064001" y="338138"/>
            <a:ext cx="4659313"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b="1">
                <a:latin typeface="新宋体" panose="02010609030101010101" pitchFamily="49" charset="-122"/>
                <a:ea typeface="新宋体" panose="02010609030101010101" pitchFamily="49" charset="-122"/>
              </a:rPr>
              <a:t>IP </a:t>
            </a:r>
            <a:r>
              <a:rPr lang="zh-CN" altLang="en-US" sz="3600" b="1">
                <a:latin typeface="新宋体" panose="02010609030101010101" pitchFamily="49" charset="-122"/>
                <a:ea typeface="新宋体" panose="02010609030101010101" pitchFamily="49" charset="-122"/>
              </a:rPr>
              <a:t>转发表样式</a:t>
            </a:r>
          </a:p>
        </p:txBody>
      </p:sp>
      <p:sp>
        <p:nvSpPr>
          <p:cNvPr id="13315" name="Text Box 3"/>
          <p:cNvSpPr txBox="1">
            <a:spLocks noChangeArrowheads="1"/>
          </p:cNvSpPr>
          <p:nvPr/>
        </p:nvSpPr>
        <p:spPr bwMode="auto">
          <a:xfrm>
            <a:off x="2397126" y="4322764"/>
            <a:ext cx="7885113" cy="1717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2563" indent="-182563">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r>
              <a:rPr lang="en-US" altLang="zh-CN" sz="2400">
                <a:solidFill>
                  <a:schemeClr val="tx1"/>
                </a:solidFill>
                <a:latin typeface="Arial" panose="020B0604020202020204" pitchFamily="34" charset="0"/>
              </a:rPr>
              <a:t>• IP </a:t>
            </a:r>
            <a:r>
              <a:rPr lang="zh-CN" altLang="en-US" sz="2400">
                <a:solidFill>
                  <a:schemeClr val="tx1"/>
                </a:solidFill>
                <a:latin typeface="Arial" panose="020B0604020202020204" pitchFamily="34" charset="0"/>
              </a:rPr>
              <a:t>转发由主机或路由器完成</a:t>
            </a:r>
            <a:r>
              <a:rPr lang="en-US" altLang="zh-CN" sz="2400">
                <a:solidFill>
                  <a:schemeClr val="tx1"/>
                </a:solidFill>
                <a:latin typeface="Arial" panose="020B0604020202020204" pitchFamily="34" charset="0"/>
              </a:rPr>
              <a:t>.</a:t>
            </a:r>
          </a:p>
          <a:p>
            <a:pPr>
              <a:spcBef>
                <a:spcPct val="20000"/>
              </a:spcBef>
            </a:pPr>
            <a:r>
              <a:rPr lang="en-US" altLang="zh-CN" sz="2400">
                <a:solidFill>
                  <a:schemeClr val="tx1"/>
                </a:solidFill>
                <a:latin typeface="Arial" panose="020B0604020202020204" pitchFamily="34" charset="0"/>
              </a:rPr>
              <a:t>• </a:t>
            </a:r>
            <a:r>
              <a:rPr lang="zh-CN" altLang="en-US" sz="2400">
                <a:solidFill>
                  <a:schemeClr val="tx2"/>
                </a:solidFill>
                <a:latin typeface="Arial" panose="020B0604020202020204" pitchFamily="34" charset="0"/>
              </a:rPr>
              <a:t>主机</a:t>
            </a:r>
            <a:r>
              <a:rPr lang="zh-CN" altLang="en-US" sz="2400">
                <a:solidFill>
                  <a:schemeClr val="tx1"/>
                </a:solidFill>
                <a:latin typeface="Arial" panose="020B0604020202020204" pitchFamily="34" charset="0"/>
              </a:rPr>
              <a:t>不会把任何报文从输入接口送到输出接口</a:t>
            </a:r>
            <a:r>
              <a:rPr lang="en-US" altLang="zh-CN" sz="2400">
                <a:solidFill>
                  <a:schemeClr val="tx1"/>
                </a:solidFill>
                <a:latin typeface="Arial" panose="020B0604020202020204" pitchFamily="34" charset="0"/>
              </a:rPr>
              <a:t>.</a:t>
            </a:r>
          </a:p>
          <a:p>
            <a:pPr>
              <a:spcBef>
                <a:spcPct val="20000"/>
              </a:spcBef>
            </a:pPr>
            <a:r>
              <a:rPr lang="en-US" altLang="zh-CN" sz="2400">
                <a:solidFill>
                  <a:schemeClr val="tx1"/>
                </a:solidFill>
                <a:latin typeface="Arial" panose="020B0604020202020204" pitchFamily="34" charset="0"/>
              </a:rPr>
              <a:t>• </a:t>
            </a:r>
            <a:r>
              <a:rPr lang="zh-CN" altLang="en-US" sz="2400">
                <a:solidFill>
                  <a:schemeClr val="tx2"/>
                </a:solidFill>
                <a:latin typeface="Arial" panose="020B0604020202020204" pitchFamily="34" charset="0"/>
              </a:rPr>
              <a:t>路由器</a:t>
            </a:r>
            <a:r>
              <a:rPr lang="zh-CN" altLang="en-US" sz="2400">
                <a:solidFill>
                  <a:schemeClr val="tx1"/>
                </a:solidFill>
                <a:latin typeface="Arial" panose="020B0604020202020204" pitchFamily="34" charset="0"/>
              </a:rPr>
              <a:t>和</a:t>
            </a:r>
            <a:r>
              <a:rPr lang="zh-CN" altLang="en-US" sz="2400">
                <a:solidFill>
                  <a:schemeClr val="tx2"/>
                </a:solidFill>
                <a:latin typeface="Arial" panose="020B0604020202020204" pitchFamily="34" charset="0"/>
              </a:rPr>
              <a:t>主机</a:t>
            </a:r>
            <a:r>
              <a:rPr lang="zh-CN" altLang="en-US" sz="2400">
                <a:solidFill>
                  <a:schemeClr val="tx1"/>
                </a:solidFill>
                <a:latin typeface="Arial" panose="020B0604020202020204" pitchFamily="34" charset="0"/>
              </a:rPr>
              <a:t>都有一个路由表</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见上表</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，每个数据包都通过查找该路由表来转发</a:t>
            </a:r>
          </a:p>
        </p:txBody>
      </p:sp>
      <p:graphicFrame>
        <p:nvGraphicFramePr>
          <p:cNvPr id="1945623" name="Group 23"/>
          <p:cNvGraphicFramePr>
            <a:graphicFrameLocks noGrp="1"/>
          </p:cNvGraphicFramePr>
          <p:nvPr>
            <p:extLst>
              <p:ext uri="{D42A27DB-BD31-4B8C-83A1-F6EECF244321}">
                <p14:modId xmlns:p14="http://schemas.microsoft.com/office/powerpoint/2010/main" val="2369609238"/>
              </p:ext>
            </p:extLst>
          </p:nvPr>
        </p:nvGraphicFramePr>
        <p:xfrm>
          <a:off x="742950" y="1420814"/>
          <a:ext cx="9696451" cy="2530475"/>
        </p:xfrm>
        <a:graphic>
          <a:graphicData uri="http://schemas.openxmlformats.org/drawingml/2006/table">
            <a:tbl>
              <a:tblPr/>
              <a:tblGrid>
                <a:gridCol w="3013234">
                  <a:extLst>
                    <a:ext uri="{9D8B030D-6E8A-4147-A177-3AD203B41FA5}">
                      <a16:colId xmlns:a16="http://schemas.microsoft.com/office/drawing/2014/main" val="20000"/>
                    </a:ext>
                  </a:extLst>
                </a:gridCol>
                <a:gridCol w="2374277">
                  <a:extLst>
                    <a:ext uri="{9D8B030D-6E8A-4147-A177-3AD203B41FA5}">
                      <a16:colId xmlns:a16="http://schemas.microsoft.com/office/drawing/2014/main" val="20001"/>
                    </a:ext>
                  </a:extLst>
                </a:gridCol>
                <a:gridCol w="2082388">
                  <a:extLst>
                    <a:ext uri="{9D8B030D-6E8A-4147-A177-3AD203B41FA5}">
                      <a16:colId xmlns:a16="http://schemas.microsoft.com/office/drawing/2014/main" val="20002"/>
                    </a:ext>
                  </a:extLst>
                </a:gridCol>
                <a:gridCol w="2226552">
                  <a:extLst>
                    <a:ext uri="{9D8B030D-6E8A-4147-A177-3AD203B41FA5}">
                      <a16:colId xmlns:a16="http://schemas.microsoft.com/office/drawing/2014/main" val="20003"/>
                    </a:ext>
                  </a:extLst>
                </a:gridCol>
              </a:tblGrid>
              <a:tr h="128111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rgbClr val="FF00FF"/>
                          </a:solidFill>
                          <a:effectLst/>
                          <a:latin typeface="Arial" pitchFamily="34" charset="0"/>
                          <a:ea typeface="宋体" pitchFamily="2" charset="-122"/>
                        </a:rPr>
                        <a:t>Destination IP</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rgbClr val="FF00FF"/>
                          </a:solidFill>
                          <a:effectLst/>
                          <a:latin typeface="Arial" pitchFamily="34" charset="0"/>
                          <a:ea typeface="宋体" pitchFamily="2" charset="-122"/>
                        </a:rPr>
                        <a:t>address</a:t>
                      </a:r>
                      <a:endParaRPr kumimoji="1" lang="en-US"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rgbClr val="FF00FF"/>
                          </a:solidFill>
                          <a:effectLst/>
                          <a:latin typeface="Arial" pitchFamily="34" charset="0"/>
                          <a:ea typeface="宋体" pitchFamily="2" charset="-122"/>
                        </a:rPr>
                        <a:t>address of</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rgbClr val="FF00FF"/>
                          </a:solidFill>
                          <a:effectLst/>
                          <a:latin typeface="Arial" pitchFamily="34" charset="0"/>
                          <a:ea typeface="宋体" pitchFamily="2" charset="-122"/>
                        </a:rPr>
                        <a:t>Next-hop-Router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rgbClr val="FF00FF"/>
                          </a:solidFill>
                          <a:effectLst/>
                          <a:latin typeface="Arial" pitchFamily="34" charset="0"/>
                          <a:ea typeface="宋体" pitchFamily="2" charset="-122"/>
                        </a:rPr>
                        <a:t>Flags</a:t>
                      </a:r>
                      <a:endParaRPr kumimoji="1" lang="en-US" altLang="zh-CN" sz="2400" b="0" i="0" u="none" strike="noStrike" cap="none" normalizeH="0" baseline="0">
                        <a:ln>
                          <a:noFill/>
                        </a:ln>
                        <a:solidFill>
                          <a:srgbClr val="000000"/>
                        </a:solidFill>
                        <a:effectLst/>
                        <a:latin typeface="Arial" pitchFamily="34"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en-US"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rgbClr val="FF00FF"/>
                          </a:solidFill>
                          <a:effectLst/>
                          <a:latin typeface="Arial" pitchFamily="34" charset="0"/>
                          <a:ea typeface="宋体" pitchFamily="2" charset="-122"/>
                        </a:rPr>
                        <a:t>Specification of an interface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493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0" i="0" u="none" strike="noStrike" cap="none" normalizeH="0" baseline="0">
                          <a:ln>
                            <a:noFill/>
                          </a:ln>
                          <a:solidFill>
                            <a:schemeClr val="tx1"/>
                          </a:solidFill>
                          <a:effectLst/>
                          <a:latin typeface="Tahoma" pitchFamily="34" charset="0"/>
                          <a:ea typeface="宋体" pitchFamily="2" charset="-122"/>
                        </a:rPr>
                        <a:t>目的主机或网络地址</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0" i="0" u="none" strike="noStrike" cap="none" normalizeH="0" baseline="0">
                          <a:ln>
                            <a:noFill/>
                          </a:ln>
                          <a:solidFill>
                            <a:schemeClr val="tx1"/>
                          </a:solidFill>
                          <a:effectLst/>
                          <a:latin typeface="Tahoma" pitchFamily="34" charset="0"/>
                          <a:ea typeface="宋体" pitchFamily="2" charset="-122"/>
                        </a:rPr>
                        <a:t>下一跳路由器或直连网络地址</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0" i="0" u="none" strike="noStrike" cap="none" normalizeH="0" baseline="0">
                          <a:ln>
                            <a:noFill/>
                          </a:ln>
                          <a:solidFill>
                            <a:schemeClr val="tx1"/>
                          </a:solidFill>
                          <a:effectLst/>
                          <a:latin typeface="Tahoma" pitchFamily="34" charset="0"/>
                          <a:ea typeface="宋体" pitchFamily="2" charset="-122"/>
                        </a:rPr>
                        <a:t>路由类型</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0" i="0" u="none" strike="noStrike" cap="none" normalizeH="0" baseline="0">
                          <a:ln>
                            <a:noFill/>
                          </a:ln>
                          <a:solidFill>
                            <a:schemeClr val="tx1"/>
                          </a:solidFill>
                          <a:effectLst/>
                          <a:latin typeface="Tahoma" pitchFamily="34" charset="0"/>
                          <a:ea typeface="宋体" pitchFamily="2" charset="-122"/>
                        </a:rPr>
                        <a:t>分组传送给的接口</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945623"/>
                                        </p:tgtEl>
                                        <p:attrNameLst>
                                          <p:attrName>style.visibility</p:attrName>
                                        </p:attrNameLst>
                                      </p:cBhvr>
                                      <p:to>
                                        <p:strVal val="visible"/>
                                      </p:to>
                                    </p:set>
                                    <p:anim calcmode="lin" valueType="num">
                                      <p:cBhvr additive="base">
                                        <p:cTn id="7" dur="500" fill="hold"/>
                                        <p:tgtEl>
                                          <p:spTgt spid="1945623"/>
                                        </p:tgtEl>
                                        <p:attrNameLst>
                                          <p:attrName>ppt_x</p:attrName>
                                        </p:attrNameLst>
                                      </p:cBhvr>
                                      <p:tavLst>
                                        <p:tav tm="0">
                                          <p:val>
                                            <p:strVal val="1+#ppt_w/2"/>
                                          </p:val>
                                        </p:tav>
                                        <p:tav tm="100000">
                                          <p:val>
                                            <p:strVal val="#ppt_x"/>
                                          </p:val>
                                        </p:tav>
                                      </p:tavLst>
                                    </p:anim>
                                    <p:anim calcmode="lin" valueType="num">
                                      <p:cBhvr additive="base">
                                        <p:cTn id="8" dur="500" fill="hold"/>
                                        <p:tgtEl>
                                          <p:spTgt spid="19456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26"/>
          <p:cNvSpPr>
            <a:spLocks noGrp="1" noChangeArrowheads="1"/>
          </p:cNvSpPr>
          <p:nvPr>
            <p:ph type="title"/>
          </p:nvPr>
        </p:nvSpPr>
        <p:spPr bwMode="auto">
          <a:xfrm>
            <a:off x="2120900" y="177801"/>
            <a:ext cx="7772400" cy="728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路由表查找</a:t>
            </a:r>
          </a:p>
        </p:txBody>
      </p:sp>
      <p:sp>
        <p:nvSpPr>
          <p:cNvPr id="1957893" name="Text Box 1029"/>
          <p:cNvSpPr txBox="1">
            <a:spLocks noChangeArrowheads="1"/>
          </p:cNvSpPr>
          <p:nvPr/>
        </p:nvSpPr>
        <p:spPr bwMode="auto">
          <a:xfrm>
            <a:off x="3097214" y="1390651"/>
            <a:ext cx="604202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对每一个</a:t>
            </a:r>
            <a:r>
              <a:rPr lang="en-US" altLang="zh-CN">
                <a:solidFill>
                  <a:schemeClr val="tx1"/>
                </a:solidFill>
                <a:latin typeface="Arial" panose="020B0604020202020204" pitchFamily="34" charset="0"/>
              </a:rPr>
              <a:t>IP</a:t>
            </a:r>
            <a:r>
              <a:rPr lang="zh-CN" altLang="en-US">
                <a:solidFill>
                  <a:schemeClr val="tx1"/>
                </a:solidFill>
                <a:latin typeface="Arial" panose="020B0604020202020204" pitchFamily="34" charset="0"/>
              </a:rPr>
              <a:t>分组，查找一次路由表</a:t>
            </a:r>
            <a:r>
              <a:rPr lang="en-US" altLang="zh-CN">
                <a:solidFill>
                  <a:schemeClr val="tx1"/>
                </a:solidFill>
                <a:latin typeface="Arial" panose="020B0604020202020204" pitchFamily="34" charset="0"/>
              </a:rPr>
              <a:t>.</a:t>
            </a:r>
          </a:p>
          <a:p>
            <a:r>
              <a:rPr lang="en-US" altLang="zh-CN">
                <a:solidFill>
                  <a:schemeClr val="tx1"/>
                </a:solidFill>
                <a:latin typeface="Arial" panose="020B0604020202020204" pitchFamily="34" charset="0"/>
              </a:rPr>
              <a:t>      1. </a:t>
            </a:r>
            <a:r>
              <a:rPr lang="zh-CN" altLang="en-US">
                <a:solidFill>
                  <a:schemeClr val="tx1"/>
                </a:solidFill>
                <a:latin typeface="Arial" panose="020B0604020202020204" pitchFamily="34" charset="0"/>
              </a:rPr>
              <a:t>找出匹配的主机地址</a:t>
            </a:r>
          </a:p>
          <a:p>
            <a:r>
              <a:rPr lang="zh-CN" altLang="en-US">
                <a:solidFill>
                  <a:schemeClr val="tx1"/>
                </a:solidFill>
                <a:latin typeface="Arial" panose="020B0604020202020204" pitchFamily="34" charset="0"/>
              </a:rPr>
              <a:t>      </a:t>
            </a:r>
            <a:r>
              <a:rPr lang="en-US" altLang="zh-CN">
                <a:solidFill>
                  <a:schemeClr val="tx1"/>
                </a:solidFill>
                <a:latin typeface="Arial" panose="020B0604020202020204" pitchFamily="34" charset="0"/>
              </a:rPr>
              <a:t>2. </a:t>
            </a:r>
            <a:r>
              <a:rPr lang="zh-CN" altLang="en-US">
                <a:solidFill>
                  <a:schemeClr val="tx1"/>
                </a:solidFill>
                <a:latin typeface="Arial" panose="020B0604020202020204" pitchFamily="34" charset="0"/>
              </a:rPr>
              <a:t>找出匹配的网络地址</a:t>
            </a:r>
          </a:p>
          <a:p>
            <a:r>
              <a:rPr lang="zh-CN" altLang="en-US">
                <a:solidFill>
                  <a:schemeClr val="tx1"/>
                </a:solidFill>
                <a:latin typeface="Arial" panose="020B0604020202020204" pitchFamily="34" charset="0"/>
              </a:rPr>
              <a:t>      </a:t>
            </a:r>
            <a:r>
              <a:rPr lang="en-US" altLang="zh-CN">
                <a:solidFill>
                  <a:schemeClr val="tx1"/>
                </a:solidFill>
                <a:latin typeface="Arial" panose="020B0604020202020204" pitchFamily="34" charset="0"/>
              </a:rPr>
              <a:t>3. </a:t>
            </a:r>
            <a:r>
              <a:rPr lang="zh-CN" altLang="en-US">
                <a:solidFill>
                  <a:schemeClr val="tx1"/>
                </a:solidFill>
                <a:latin typeface="Arial" panose="020B0604020202020204" pitchFamily="34" charset="0"/>
              </a:rPr>
              <a:t>找到缺省条目</a:t>
            </a:r>
            <a:r>
              <a:rPr lang="en-US" altLang="zh-CN">
                <a:solidFill>
                  <a:schemeClr val="tx1"/>
                </a:solidFill>
                <a:latin typeface="Arial" panose="020B0604020202020204" pitchFamily="34" charset="0"/>
              </a:rPr>
              <a:t>(entry)</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57893">
                                            <p:txEl>
                                              <p:pRg st="0" end="0"/>
                                            </p:txEl>
                                          </p:spTgt>
                                        </p:tgtEl>
                                        <p:attrNameLst>
                                          <p:attrName>style.visibility</p:attrName>
                                        </p:attrNameLst>
                                      </p:cBhvr>
                                      <p:to>
                                        <p:strVal val="visible"/>
                                      </p:to>
                                    </p:set>
                                    <p:anim calcmode="lin" valueType="num">
                                      <p:cBhvr additive="base">
                                        <p:cTn id="7" dur="500" fill="hold"/>
                                        <p:tgtEl>
                                          <p:spTgt spid="195789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5789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57893">
                                            <p:txEl>
                                              <p:pRg st="1" end="1"/>
                                            </p:txEl>
                                          </p:spTgt>
                                        </p:tgtEl>
                                        <p:attrNameLst>
                                          <p:attrName>style.visibility</p:attrName>
                                        </p:attrNameLst>
                                      </p:cBhvr>
                                      <p:to>
                                        <p:strVal val="visible"/>
                                      </p:to>
                                    </p:set>
                                    <p:anim calcmode="lin" valueType="num">
                                      <p:cBhvr additive="base">
                                        <p:cTn id="13" dur="500" fill="hold"/>
                                        <p:tgtEl>
                                          <p:spTgt spid="195789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95789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57893">
                                            <p:txEl>
                                              <p:pRg st="2" end="2"/>
                                            </p:txEl>
                                          </p:spTgt>
                                        </p:tgtEl>
                                        <p:attrNameLst>
                                          <p:attrName>style.visibility</p:attrName>
                                        </p:attrNameLst>
                                      </p:cBhvr>
                                      <p:to>
                                        <p:strVal val="visible"/>
                                      </p:to>
                                    </p:set>
                                    <p:anim calcmode="lin" valueType="num">
                                      <p:cBhvr additive="base">
                                        <p:cTn id="19" dur="500" fill="hold"/>
                                        <p:tgtEl>
                                          <p:spTgt spid="195789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95789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957893">
                                            <p:txEl>
                                              <p:pRg st="3" end="3"/>
                                            </p:txEl>
                                          </p:spTgt>
                                        </p:tgtEl>
                                        <p:attrNameLst>
                                          <p:attrName>style.visibility</p:attrName>
                                        </p:attrNameLst>
                                      </p:cBhvr>
                                      <p:to>
                                        <p:strVal val="visible"/>
                                      </p:to>
                                    </p:set>
                                    <p:anim calcmode="lin" valueType="num">
                                      <p:cBhvr additive="base">
                                        <p:cTn id="25" dur="500" fill="hold"/>
                                        <p:tgtEl>
                                          <p:spTgt spid="195789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95789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7893" grpId="0" build="p"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026"/>
          <p:cNvSpPr>
            <a:spLocks noGrp="1" noChangeArrowheads="1"/>
          </p:cNvSpPr>
          <p:nvPr>
            <p:ph type="title"/>
          </p:nvPr>
        </p:nvSpPr>
        <p:spPr bwMode="auto">
          <a:xfrm>
            <a:off x="2205038" y="3905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主机的分组转发</a:t>
            </a:r>
          </a:p>
        </p:txBody>
      </p:sp>
      <p:sp>
        <p:nvSpPr>
          <p:cNvPr id="1948675" name="Text Box 1027"/>
          <p:cNvSpPr txBox="1">
            <a:spLocks noChangeArrowheads="1"/>
          </p:cNvSpPr>
          <p:nvPr/>
        </p:nvSpPr>
        <p:spPr bwMode="auto">
          <a:xfrm>
            <a:off x="1794164" y="1246188"/>
            <a:ext cx="8437418" cy="4647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在</a:t>
            </a:r>
            <a:r>
              <a:rPr lang="en-US" altLang="zh-CN" sz="2400">
                <a:solidFill>
                  <a:srgbClr val="000000"/>
                </a:solidFill>
                <a:latin typeface="Arial" panose="020B0604020202020204" pitchFamily="34" charset="0"/>
              </a:rPr>
              <a:t>(</a:t>
            </a:r>
            <a:r>
              <a:rPr lang="zh-CN" altLang="en-US" sz="2400">
                <a:solidFill>
                  <a:srgbClr val="000000"/>
                </a:solidFill>
                <a:latin typeface="Arial" panose="020B0604020202020204" pitchFamily="34" charset="0"/>
              </a:rPr>
              <a:t>多穴</a:t>
            </a:r>
            <a:r>
              <a:rPr lang="en-US" altLang="zh-CN" sz="2400">
                <a:solidFill>
                  <a:srgbClr val="000000"/>
                </a:solidFill>
                <a:latin typeface="Arial" panose="020B0604020202020204" pitchFamily="34" charset="0"/>
              </a:rPr>
              <a:t>)</a:t>
            </a:r>
            <a:r>
              <a:rPr lang="zh-CN" altLang="en-US">
                <a:solidFill>
                  <a:srgbClr val="000000"/>
                </a:solidFill>
                <a:latin typeface="Arial" panose="020B0604020202020204" pitchFamily="34" charset="0"/>
              </a:rPr>
              <a:t>主机上</a:t>
            </a:r>
            <a:r>
              <a:rPr lang="zh-CN" altLang="en-US">
                <a:solidFill>
                  <a:schemeClr val="tx2"/>
                </a:solidFill>
                <a:latin typeface="Arial" panose="020B0604020202020204" pitchFamily="34" charset="0"/>
              </a:rPr>
              <a:t>转发</a:t>
            </a:r>
            <a:r>
              <a:rPr lang="zh-CN" altLang="en-US">
                <a:solidFill>
                  <a:srgbClr val="000000"/>
                </a:solidFill>
                <a:latin typeface="Arial" panose="020B0604020202020204" pitchFamily="34" charset="0"/>
              </a:rPr>
              <a:t>一个 </a:t>
            </a:r>
            <a:r>
              <a:rPr lang="en-US" altLang="zh-CN">
                <a:solidFill>
                  <a:srgbClr val="000000"/>
                </a:solidFill>
                <a:latin typeface="Arial" panose="020B0604020202020204" pitchFamily="34" charset="0"/>
              </a:rPr>
              <a:t>IP </a:t>
            </a:r>
            <a:r>
              <a:rPr lang="zh-CN" altLang="en-US">
                <a:solidFill>
                  <a:srgbClr val="000000"/>
                </a:solidFill>
                <a:latin typeface="Arial" panose="020B0604020202020204" pitchFamily="34" charset="0"/>
              </a:rPr>
              <a:t>分组</a:t>
            </a:r>
            <a:r>
              <a:rPr lang="en-US" altLang="zh-CN">
                <a:solidFill>
                  <a:srgbClr val="000000"/>
                </a:solidFill>
                <a:latin typeface="Arial" panose="020B0604020202020204" pitchFamily="34" charset="0"/>
              </a:rPr>
              <a:t>:</a:t>
            </a:r>
          </a:p>
          <a:p>
            <a:r>
              <a:rPr lang="en-US" altLang="zh-CN" sz="2400">
                <a:solidFill>
                  <a:srgbClr val="0000FF"/>
                </a:solidFill>
                <a:latin typeface="Courier" charset="0"/>
              </a:rPr>
              <a:t>DestNet = </a:t>
            </a:r>
            <a:r>
              <a:rPr lang="zh-CN" altLang="en-US" sz="2400">
                <a:solidFill>
                  <a:srgbClr val="0000FF"/>
                </a:solidFill>
                <a:latin typeface="Courier" charset="0"/>
              </a:rPr>
              <a:t>目的</a:t>
            </a:r>
            <a:r>
              <a:rPr lang="en-US" altLang="zh-CN" sz="2400">
                <a:solidFill>
                  <a:srgbClr val="0000FF"/>
                </a:solidFill>
                <a:latin typeface="Courier" charset="0"/>
              </a:rPr>
              <a:t>IP</a:t>
            </a:r>
            <a:r>
              <a:rPr lang="zh-CN" altLang="en-US" sz="2400">
                <a:solidFill>
                  <a:srgbClr val="0000FF"/>
                </a:solidFill>
                <a:latin typeface="Courier" charset="0"/>
              </a:rPr>
              <a:t>地址的网络号</a:t>
            </a:r>
          </a:p>
          <a:p>
            <a:r>
              <a:rPr lang="en-US" altLang="zh-CN" sz="2400">
                <a:solidFill>
                  <a:srgbClr val="0000FF"/>
                </a:solidFill>
                <a:latin typeface="Courier" charset="0"/>
              </a:rPr>
              <a:t>If (DestNet == </a:t>
            </a:r>
            <a:r>
              <a:rPr lang="zh-CN" altLang="en-US" sz="2400">
                <a:solidFill>
                  <a:srgbClr val="0000FF"/>
                </a:solidFill>
                <a:latin typeface="Courier" charset="0"/>
              </a:rPr>
              <a:t>本地网络号</a:t>
            </a:r>
            <a:r>
              <a:rPr lang="en-US" altLang="zh-CN" sz="2400">
                <a:solidFill>
                  <a:srgbClr val="0000FF"/>
                </a:solidFill>
                <a:latin typeface="Courier" charset="0"/>
              </a:rPr>
              <a:t>)</a:t>
            </a:r>
          </a:p>
          <a:p>
            <a:r>
              <a:rPr lang="en-US" altLang="zh-CN" sz="2400">
                <a:solidFill>
                  <a:srgbClr val="FF00FF"/>
                </a:solidFill>
                <a:latin typeface="Arial" panose="020B0604020202020204" pitchFamily="34" charset="0"/>
              </a:rPr>
              <a:t>     </a:t>
            </a:r>
            <a:r>
              <a:rPr lang="zh-CN" altLang="en-US" sz="2400">
                <a:solidFill>
                  <a:srgbClr val="FF00FF"/>
                </a:solidFill>
                <a:latin typeface="Arial" panose="020B0604020202020204" pitchFamily="34" charset="0"/>
              </a:rPr>
              <a:t>直接把数据报传送到目的站</a:t>
            </a:r>
            <a:r>
              <a:rPr lang="en-US" altLang="zh-CN" sz="2400">
                <a:solidFill>
                  <a:srgbClr val="FF00FF"/>
                </a:solidFill>
                <a:latin typeface="Arial" panose="020B0604020202020204" pitchFamily="34" charset="0"/>
              </a:rPr>
              <a:t>;</a:t>
            </a:r>
          </a:p>
          <a:p>
            <a:r>
              <a:rPr lang="en-US" altLang="zh-CN" sz="2400">
                <a:solidFill>
                  <a:srgbClr val="0000FF"/>
                </a:solidFill>
                <a:latin typeface="Courier" charset="0"/>
              </a:rPr>
              <a:t>else</a:t>
            </a:r>
          </a:p>
          <a:p>
            <a:r>
              <a:rPr lang="en-US" altLang="zh-CN" sz="2400">
                <a:solidFill>
                  <a:srgbClr val="FF00FF"/>
                </a:solidFill>
                <a:latin typeface="Arial" panose="020B0604020202020204" pitchFamily="34" charset="0"/>
              </a:rPr>
              <a:t>    </a:t>
            </a:r>
            <a:r>
              <a:rPr lang="zh-CN" altLang="en-US" sz="2400">
                <a:solidFill>
                  <a:srgbClr val="FF00FF"/>
                </a:solidFill>
                <a:latin typeface="Arial" panose="020B0604020202020204" pitchFamily="34" charset="0"/>
              </a:rPr>
              <a:t>把数据报发送到默认路由器</a:t>
            </a:r>
            <a:r>
              <a:rPr lang="en-US" altLang="zh-CN" sz="2400">
                <a:solidFill>
                  <a:srgbClr val="FF00FF"/>
                </a:solidFill>
                <a:latin typeface="Arial" panose="020B0604020202020204" pitchFamily="34" charset="0"/>
              </a:rPr>
              <a:t>;</a:t>
            </a:r>
          </a:p>
          <a:p>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在主机上</a:t>
            </a:r>
            <a:r>
              <a:rPr lang="zh-CN" altLang="en-US">
                <a:solidFill>
                  <a:schemeClr val="tx2"/>
                </a:solidFill>
                <a:latin typeface="Arial" panose="020B0604020202020204" pitchFamily="34" charset="0"/>
              </a:rPr>
              <a:t>接收</a:t>
            </a:r>
            <a:r>
              <a:rPr lang="zh-CN" altLang="en-US">
                <a:solidFill>
                  <a:srgbClr val="000000"/>
                </a:solidFill>
                <a:latin typeface="Arial" panose="020B0604020202020204" pitchFamily="34" charset="0"/>
              </a:rPr>
              <a:t>一个 </a:t>
            </a:r>
            <a:r>
              <a:rPr lang="en-US" altLang="zh-CN">
                <a:solidFill>
                  <a:srgbClr val="000000"/>
                </a:solidFill>
                <a:latin typeface="Arial" panose="020B0604020202020204" pitchFamily="34" charset="0"/>
              </a:rPr>
              <a:t>IP</a:t>
            </a:r>
            <a:r>
              <a:rPr lang="zh-CN" altLang="en-US">
                <a:solidFill>
                  <a:srgbClr val="000000"/>
                </a:solidFill>
                <a:latin typeface="Arial" panose="020B0604020202020204" pitchFamily="34" charset="0"/>
              </a:rPr>
              <a:t>分组</a:t>
            </a:r>
            <a:r>
              <a:rPr lang="en-US" altLang="zh-CN">
                <a:solidFill>
                  <a:srgbClr val="000000"/>
                </a:solidFill>
                <a:latin typeface="Arial" panose="020B0604020202020204" pitchFamily="34" charset="0"/>
              </a:rPr>
              <a:t>:</a:t>
            </a:r>
          </a:p>
          <a:p>
            <a:r>
              <a:rPr lang="zh-CN" altLang="en-US" sz="2400">
                <a:solidFill>
                  <a:srgbClr val="0000FF"/>
                </a:solidFill>
                <a:latin typeface="Courier" charset="0"/>
              </a:rPr>
              <a:t>从接口上收到数据报</a:t>
            </a:r>
          </a:p>
          <a:p>
            <a:r>
              <a:rPr lang="en-US" altLang="zh-CN" sz="2400">
                <a:solidFill>
                  <a:srgbClr val="0000FF"/>
                </a:solidFill>
                <a:latin typeface="Courier" charset="0"/>
              </a:rPr>
              <a:t>If (</a:t>
            </a:r>
            <a:r>
              <a:rPr lang="zh-CN" altLang="en-US" sz="2400">
                <a:solidFill>
                  <a:srgbClr val="0000FF"/>
                </a:solidFill>
                <a:latin typeface="Courier" charset="0"/>
              </a:rPr>
              <a:t>目的 </a:t>
            </a:r>
            <a:r>
              <a:rPr lang="en-US" altLang="zh-CN" sz="2400">
                <a:solidFill>
                  <a:srgbClr val="0000FF"/>
                </a:solidFill>
                <a:latin typeface="Courier" charset="0"/>
              </a:rPr>
              <a:t>IP </a:t>
            </a:r>
            <a:r>
              <a:rPr lang="zh-CN" altLang="en-US" sz="2400">
                <a:solidFill>
                  <a:srgbClr val="0000FF"/>
                </a:solidFill>
                <a:latin typeface="Courier" charset="0"/>
              </a:rPr>
              <a:t>地址 </a:t>
            </a:r>
            <a:r>
              <a:rPr lang="en-US" altLang="zh-CN" sz="2400">
                <a:solidFill>
                  <a:srgbClr val="0000FF"/>
                </a:solidFill>
                <a:latin typeface="Courier" charset="0"/>
              </a:rPr>
              <a:t>== (</a:t>
            </a:r>
            <a:r>
              <a:rPr lang="zh-CN" altLang="en-US" sz="2400">
                <a:solidFill>
                  <a:srgbClr val="0000FF"/>
                </a:solidFill>
                <a:latin typeface="Courier" charset="0"/>
              </a:rPr>
              <a:t>本地 </a:t>
            </a:r>
            <a:r>
              <a:rPr lang="en-US" altLang="zh-CN" sz="2400">
                <a:solidFill>
                  <a:srgbClr val="0000FF"/>
                </a:solidFill>
                <a:latin typeface="Courier" charset="0"/>
              </a:rPr>
              <a:t>IP </a:t>
            </a:r>
            <a:r>
              <a:rPr lang="zh-CN" altLang="en-US" sz="2400">
                <a:solidFill>
                  <a:srgbClr val="0000FF"/>
                </a:solidFill>
                <a:latin typeface="Courier" charset="0"/>
              </a:rPr>
              <a:t>地址 </a:t>
            </a:r>
            <a:r>
              <a:rPr lang="en-US" altLang="zh-CN" sz="2400">
                <a:solidFill>
                  <a:srgbClr val="0000FF"/>
                </a:solidFill>
                <a:latin typeface="Courier" charset="0"/>
              </a:rPr>
              <a:t>|| </a:t>
            </a:r>
            <a:r>
              <a:rPr lang="zh-CN" altLang="en-US" sz="2400">
                <a:solidFill>
                  <a:srgbClr val="0000FF"/>
                </a:solidFill>
                <a:latin typeface="Courier" charset="0"/>
              </a:rPr>
              <a:t>广播地址</a:t>
            </a:r>
            <a:r>
              <a:rPr lang="en-US" altLang="zh-CN" sz="2400">
                <a:solidFill>
                  <a:srgbClr val="0000FF"/>
                </a:solidFill>
                <a:latin typeface="Courier" charset="0"/>
              </a:rPr>
              <a:t>))</a:t>
            </a:r>
          </a:p>
          <a:p>
            <a:r>
              <a:rPr lang="en-US" altLang="zh-CN" sz="2400">
                <a:solidFill>
                  <a:srgbClr val="FF00FF"/>
                </a:solidFill>
                <a:latin typeface="Arial" panose="020B0604020202020204" pitchFamily="34" charset="0"/>
              </a:rPr>
              <a:t>      </a:t>
            </a:r>
            <a:r>
              <a:rPr lang="zh-CN" altLang="en-US" sz="2400">
                <a:solidFill>
                  <a:srgbClr val="FF00FF"/>
                </a:solidFill>
                <a:latin typeface="Arial" panose="020B0604020202020204" pitchFamily="34" charset="0"/>
              </a:rPr>
              <a:t>把数据报传送到高层</a:t>
            </a:r>
            <a:r>
              <a:rPr lang="en-US" altLang="zh-CN" sz="2400">
                <a:solidFill>
                  <a:srgbClr val="FF00FF"/>
                </a:solidFill>
                <a:latin typeface="Arial" panose="020B0604020202020204" pitchFamily="34" charset="0"/>
              </a:rPr>
              <a:t>;</a:t>
            </a:r>
          </a:p>
          <a:p>
            <a:r>
              <a:rPr lang="en-US" altLang="zh-CN" sz="2400">
                <a:solidFill>
                  <a:srgbClr val="0000FF"/>
                </a:solidFill>
                <a:latin typeface="Courier" charset="0"/>
              </a:rPr>
              <a:t>else</a:t>
            </a:r>
          </a:p>
          <a:p>
            <a:r>
              <a:rPr lang="en-US" altLang="zh-CN" sz="2400">
                <a:solidFill>
                  <a:srgbClr val="FF00FF"/>
                </a:solidFill>
                <a:latin typeface="Arial" panose="020B0604020202020204" pitchFamily="34" charset="0"/>
              </a:rPr>
              <a:t>      </a:t>
            </a:r>
            <a:r>
              <a:rPr lang="zh-CN" altLang="en-US" sz="2400">
                <a:solidFill>
                  <a:srgbClr val="FF00FF"/>
                </a:solidFill>
                <a:latin typeface="Arial" panose="020B0604020202020204" pitchFamily="34" charset="0"/>
              </a:rPr>
              <a:t>丢掉数据报</a:t>
            </a:r>
            <a:endParaRPr lang="zh-CN" altLang="en-US" sz="2400"/>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48675">
                                            <p:txEl>
                                              <p:pRg st="0" end="0"/>
                                            </p:txEl>
                                          </p:spTgt>
                                        </p:tgtEl>
                                        <p:attrNameLst>
                                          <p:attrName>style.visibility</p:attrName>
                                        </p:attrNameLst>
                                      </p:cBhvr>
                                      <p:to>
                                        <p:strVal val="visible"/>
                                      </p:to>
                                    </p:set>
                                    <p:anim calcmode="lin" valueType="num">
                                      <p:cBhvr additive="base">
                                        <p:cTn id="7" dur="500" fill="hold"/>
                                        <p:tgtEl>
                                          <p:spTgt spid="194867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486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48675">
                                            <p:txEl>
                                              <p:pRg st="1" end="1"/>
                                            </p:txEl>
                                          </p:spTgt>
                                        </p:tgtEl>
                                        <p:attrNameLst>
                                          <p:attrName>style.visibility</p:attrName>
                                        </p:attrNameLst>
                                      </p:cBhvr>
                                      <p:to>
                                        <p:strVal val="visible"/>
                                      </p:to>
                                    </p:set>
                                    <p:anim calcmode="lin" valueType="num">
                                      <p:cBhvr additive="base">
                                        <p:cTn id="13" dur="500" fill="hold"/>
                                        <p:tgtEl>
                                          <p:spTgt spid="194867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9486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48675">
                                            <p:txEl>
                                              <p:pRg st="2" end="2"/>
                                            </p:txEl>
                                          </p:spTgt>
                                        </p:tgtEl>
                                        <p:attrNameLst>
                                          <p:attrName>style.visibility</p:attrName>
                                        </p:attrNameLst>
                                      </p:cBhvr>
                                      <p:to>
                                        <p:strVal val="visible"/>
                                      </p:to>
                                    </p:set>
                                    <p:anim calcmode="lin" valueType="num">
                                      <p:cBhvr additive="base">
                                        <p:cTn id="19" dur="500" fill="hold"/>
                                        <p:tgtEl>
                                          <p:spTgt spid="194867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9486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948675">
                                            <p:txEl>
                                              <p:pRg st="3" end="3"/>
                                            </p:txEl>
                                          </p:spTgt>
                                        </p:tgtEl>
                                        <p:attrNameLst>
                                          <p:attrName>style.visibility</p:attrName>
                                        </p:attrNameLst>
                                      </p:cBhvr>
                                      <p:to>
                                        <p:strVal val="visible"/>
                                      </p:to>
                                    </p:set>
                                    <p:anim calcmode="lin" valueType="num">
                                      <p:cBhvr additive="base">
                                        <p:cTn id="25" dur="500" fill="hold"/>
                                        <p:tgtEl>
                                          <p:spTgt spid="194867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94867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948675">
                                            <p:txEl>
                                              <p:pRg st="4" end="4"/>
                                            </p:txEl>
                                          </p:spTgt>
                                        </p:tgtEl>
                                        <p:attrNameLst>
                                          <p:attrName>style.visibility</p:attrName>
                                        </p:attrNameLst>
                                      </p:cBhvr>
                                      <p:to>
                                        <p:strVal val="visible"/>
                                      </p:to>
                                    </p:set>
                                    <p:anim calcmode="lin" valueType="num">
                                      <p:cBhvr additive="base">
                                        <p:cTn id="31" dur="500" fill="hold"/>
                                        <p:tgtEl>
                                          <p:spTgt spid="1948675">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94867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948675">
                                            <p:txEl>
                                              <p:pRg st="5" end="5"/>
                                            </p:txEl>
                                          </p:spTgt>
                                        </p:tgtEl>
                                        <p:attrNameLst>
                                          <p:attrName>style.visibility</p:attrName>
                                        </p:attrNameLst>
                                      </p:cBhvr>
                                      <p:to>
                                        <p:strVal val="visible"/>
                                      </p:to>
                                    </p:set>
                                    <p:anim calcmode="lin" valueType="num">
                                      <p:cBhvr additive="base">
                                        <p:cTn id="37" dur="500" fill="hold"/>
                                        <p:tgtEl>
                                          <p:spTgt spid="1948675">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94867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948675">
                                            <p:txEl>
                                              <p:pRg st="6" end="6"/>
                                            </p:txEl>
                                          </p:spTgt>
                                        </p:tgtEl>
                                        <p:attrNameLst>
                                          <p:attrName>style.visibility</p:attrName>
                                        </p:attrNameLst>
                                      </p:cBhvr>
                                      <p:to>
                                        <p:strVal val="visible"/>
                                      </p:to>
                                    </p:set>
                                    <p:anim calcmode="lin" valueType="num">
                                      <p:cBhvr additive="base">
                                        <p:cTn id="43" dur="500" fill="hold"/>
                                        <p:tgtEl>
                                          <p:spTgt spid="1948675">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94867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948675">
                                            <p:txEl>
                                              <p:pRg st="7" end="7"/>
                                            </p:txEl>
                                          </p:spTgt>
                                        </p:tgtEl>
                                        <p:attrNameLst>
                                          <p:attrName>style.visibility</p:attrName>
                                        </p:attrNameLst>
                                      </p:cBhvr>
                                      <p:to>
                                        <p:strVal val="visible"/>
                                      </p:to>
                                    </p:set>
                                    <p:anim calcmode="lin" valueType="num">
                                      <p:cBhvr additive="base">
                                        <p:cTn id="49" dur="500" fill="hold"/>
                                        <p:tgtEl>
                                          <p:spTgt spid="1948675">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948675">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948675">
                                            <p:txEl>
                                              <p:pRg st="8" end="8"/>
                                            </p:txEl>
                                          </p:spTgt>
                                        </p:tgtEl>
                                        <p:attrNameLst>
                                          <p:attrName>style.visibility</p:attrName>
                                        </p:attrNameLst>
                                      </p:cBhvr>
                                      <p:to>
                                        <p:strVal val="visible"/>
                                      </p:to>
                                    </p:set>
                                    <p:anim calcmode="lin" valueType="num">
                                      <p:cBhvr additive="base">
                                        <p:cTn id="55" dur="500" fill="hold"/>
                                        <p:tgtEl>
                                          <p:spTgt spid="1948675">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948675">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1948675">
                                            <p:txEl>
                                              <p:pRg st="9" end="9"/>
                                            </p:txEl>
                                          </p:spTgt>
                                        </p:tgtEl>
                                        <p:attrNameLst>
                                          <p:attrName>style.visibility</p:attrName>
                                        </p:attrNameLst>
                                      </p:cBhvr>
                                      <p:to>
                                        <p:strVal val="visible"/>
                                      </p:to>
                                    </p:set>
                                    <p:anim calcmode="lin" valueType="num">
                                      <p:cBhvr additive="base">
                                        <p:cTn id="61" dur="500" fill="hold"/>
                                        <p:tgtEl>
                                          <p:spTgt spid="1948675">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1948675">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1948675">
                                            <p:txEl>
                                              <p:pRg st="10" end="10"/>
                                            </p:txEl>
                                          </p:spTgt>
                                        </p:tgtEl>
                                        <p:attrNameLst>
                                          <p:attrName>style.visibility</p:attrName>
                                        </p:attrNameLst>
                                      </p:cBhvr>
                                      <p:to>
                                        <p:strVal val="visible"/>
                                      </p:to>
                                    </p:set>
                                    <p:anim calcmode="lin" valueType="num">
                                      <p:cBhvr additive="base">
                                        <p:cTn id="67" dur="500" fill="hold"/>
                                        <p:tgtEl>
                                          <p:spTgt spid="1948675">
                                            <p:txEl>
                                              <p:pRg st="10" end="10"/>
                                            </p:tx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1948675">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2" fill="hold" grpId="0" nodeType="clickEffect">
                                  <p:stCondLst>
                                    <p:cond delay="0"/>
                                  </p:stCondLst>
                                  <p:childTnLst>
                                    <p:set>
                                      <p:cBhvr>
                                        <p:cTn id="72" dur="1" fill="hold">
                                          <p:stCondLst>
                                            <p:cond delay="0"/>
                                          </p:stCondLst>
                                        </p:cTn>
                                        <p:tgtEl>
                                          <p:spTgt spid="1948675">
                                            <p:txEl>
                                              <p:pRg st="11" end="11"/>
                                            </p:txEl>
                                          </p:spTgt>
                                        </p:tgtEl>
                                        <p:attrNameLst>
                                          <p:attrName>style.visibility</p:attrName>
                                        </p:attrNameLst>
                                      </p:cBhvr>
                                      <p:to>
                                        <p:strVal val="visible"/>
                                      </p:to>
                                    </p:set>
                                    <p:anim calcmode="lin" valueType="num">
                                      <p:cBhvr additive="base">
                                        <p:cTn id="73" dur="500" fill="hold"/>
                                        <p:tgtEl>
                                          <p:spTgt spid="1948675">
                                            <p:txEl>
                                              <p:pRg st="11" end="11"/>
                                            </p:txEl>
                                          </p:spTgt>
                                        </p:tgtEl>
                                        <p:attrNameLst>
                                          <p:attrName>ppt_x</p:attrName>
                                        </p:attrNameLst>
                                      </p:cBhvr>
                                      <p:tavLst>
                                        <p:tav tm="0">
                                          <p:val>
                                            <p:strVal val="1+#ppt_w/2"/>
                                          </p:val>
                                        </p:tav>
                                        <p:tav tm="100000">
                                          <p:val>
                                            <p:strVal val="#ppt_x"/>
                                          </p:val>
                                        </p:tav>
                                      </p:tavLst>
                                    </p:anim>
                                    <p:anim calcmode="lin" valueType="num">
                                      <p:cBhvr additive="base">
                                        <p:cTn id="74" dur="500" fill="hold"/>
                                        <p:tgtEl>
                                          <p:spTgt spid="1948675">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8675" grpId="0" build="p"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026"/>
          <p:cNvSpPr>
            <a:spLocks noGrp="1" noChangeArrowheads="1"/>
          </p:cNvSpPr>
          <p:nvPr>
            <p:ph type="body" idx="1"/>
          </p:nvPr>
        </p:nvSpPr>
        <p:spPr bwMode="auto">
          <a:xfrm>
            <a:off x="2540001" y="1287463"/>
            <a:ext cx="7446963" cy="41148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2500" lnSpcReduction="10000"/>
          </a:bodyPr>
          <a:lstStyle/>
          <a:p>
            <a:pPr eaLnBrk="1" hangingPunct="1">
              <a:lnSpc>
                <a:spcPct val="90000"/>
              </a:lnSpc>
              <a:buFont typeface="Wingdings" panose="05000000000000000000" pitchFamily="2" charset="2"/>
              <a:buNone/>
            </a:pPr>
            <a:r>
              <a:rPr lang="zh-CN" altLang="en-US" sz="2400">
                <a:latin typeface="Courier New" panose="02070309020205020404" pitchFamily="49" charset="0"/>
              </a:rPr>
              <a:t>查找报文的目的 </a:t>
            </a:r>
            <a:r>
              <a:rPr lang="en-US" altLang="zh-CN" sz="2400" i="1">
                <a:solidFill>
                  <a:schemeClr val="folHlink"/>
                </a:solidFill>
                <a:latin typeface="Courier New" panose="02070309020205020404" pitchFamily="49" charset="0"/>
              </a:rPr>
              <a:t>network_num</a:t>
            </a:r>
          </a:p>
          <a:p>
            <a:pPr eaLnBrk="1" hangingPunct="1">
              <a:lnSpc>
                <a:spcPct val="90000"/>
              </a:lnSpc>
              <a:buFont typeface="Wingdings" panose="05000000000000000000" pitchFamily="2" charset="2"/>
              <a:buNone/>
            </a:pPr>
            <a:r>
              <a:rPr lang="en-US" altLang="zh-CN" sz="2400" b="1">
                <a:latin typeface="Courier New" panose="02070309020205020404" pitchFamily="49" charset="0"/>
              </a:rPr>
              <a:t>if</a:t>
            </a:r>
            <a:r>
              <a:rPr lang="en-US" altLang="zh-CN" sz="2400">
                <a:latin typeface="Courier New" panose="02070309020205020404" pitchFamily="49" charset="0"/>
              </a:rPr>
              <a:t> (</a:t>
            </a:r>
            <a:r>
              <a:rPr lang="en-US" altLang="zh-CN" sz="2400" i="1">
                <a:solidFill>
                  <a:schemeClr val="folHlink"/>
                </a:solidFill>
                <a:latin typeface="Courier New" panose="02070309020205020404" pitchFamily="49" charset="0"/>
              </a:rPr>
              <a:t>network_num</a:t>
            </a:r>
            <a:r>
              <a:rPr lang="en-US" altLang="zh-CN" sz="2400">
                <a:latin typeface="Courier New" panose="02070309020205020404" pitchFamily="49" charset="0"/>
              </a:rPr>
              <a:t> = </a:t>
            </a:r>
            <a:r>
              <a:rPr lang="zh-CN" altLang="en-US" sz="2400">
                <a:latin typeface="Courier New" panose="02070309020205020404" pitchFamily="49" charset="0"/>
              </a:rPr>
              <a:t>本路由器的接口之一</a:t>
            </a:r>
            <a:r>
              <a:rPr lang="en-US" altLang="zh-CN" sz="2400">
                <a:latin typeface="Courier New" panose="02070309020205020404" pitchFamily="49" charset="0"/>
              </a:rPr>
              <a:t>)</a:t>
            </a:r>
          </a:p>
          <a:p>
            <a:pPr eaLnBrk="1" hangingPunct="1">
              <a:lnSpc>
                <a:spcPct val="90000"/>
              </a:lnSpc>
              <a:buFont typeface="Wingdings" panose="05000000000000000000" pitchFamily="2" charset="2"/>
              <a:buNone/>
            </a:pPr>
            <a:r>
              <a:rPr lang="en-US" altLang="zh-CN" sz="2400" b="1">
                <a:latin typeface="Courier New" panose="02070309020205020404" pitchFamily="49" charset="0"/>
              </a:rPr>
              <a:t>then</a:t>
            </a:r>
          </a:p>
          <a:p>
            <a:pPr eaLnBrk="1" hangingPunct="1">
              <a:lnSpc>
                <a:spcPct val="90000"/>
              </a:lnSpc>
              <a:buFont typeface="Wingdings" panose="05000000000000000000" pitchFamily="2" charset="2"/>
              <a:buNone/>
            </a:pPr>
            <a:r>
              <a:rPr lang="en-US" altLang="zh-CN" sz="2400">
                <a:latin typeface="Courier New" panose="02070309020205020404" pitchFamily="49" charset="0"/>
              </a:rPr>
              <a:t>	</a:t>
            </a:r>
            <a:r>
              <a:rPr lang="zh-CN" altLang="en-US" sz="2400">
                <a:latin typeface="Courier New" panose="02070309020205020404" pitchFamily="49" charset="0"/>
              </a:rPr>
              <a:t>通过此接口传送到目的站</a:t>
            </a:r>
          </a:p>
          <a:p>
            <a:pPr eaLnBrk="1" hangingPunct="1">
              <a:lnSpc>
                <a:spcPct val="90000"/>
              </a:lnSpc>
              <a:buFont typeface="Wingdings" panose="05000000000000000000" pitchFamily="2" charset="2"/>
              <a:buNone/>
            </a:pPr>
            <a:r>
              <a:rPr lang="en-US" altLang="zh-CN" sz="2400" b="1">
                <a:latin typeface="Courier New" panose="02070309020205020404" pitchFamily="49" charset="0"/>
              </a:rPr>
              <a:t>else</a:t>
            </a:r>
          </a:p>
          <a:p>
            <a:pPr eaLnBrk="1" hangingPunct="1">
              <a:lnSpc>
                <a:spcPct val="90000"/>
              </a:lnSpc>
              <a:buFont typeface="Wingdings" panose="05000000000000000000" pitchFamily="2" charset="2"/>
              <a:buNone/>
            </a:pPr>
            <a:r>
              <a:rPr lang="en-US" altLang="zh-CN" sz="2400">
                <a:latin typeface="Courier New" panose="02070309020205020404" pitchFamily="49" charset="0"/>
              </a:rPr>
              <a:t>	</a:t>
            </a:r>
            <a:r>
              <a:rPr lang="en-US" altLang="zh-CN" sz="2400" b="1">
                <a:latin typeface="Courier New" panose="02070309020205020404" pitchFamily="49" charset="0"/>
              </a:rPr>
              <a:t>if</a:t>
            </a:r>
            <a:r>
              <a:rPr lang="en-US" altLang="zh-CN" sz="2400">
                <a:latin typeface="Courier New" panose="02070309020205020404" pitchFamily="49" charset="0"/>
              </a:rPr>
              <a:t> (</a:t>
            </a:r>
            <a:r>
              <a:rPr lang="en-US" altLang="zh-CN" sz="2400" i="1">
                <a:solidFill>
                  <a:schemeClr val="folHlink"/>
                </a:solidFill>
                <a:latin typeface="Courier New" panose="02070309020205020404" pitchFamily="49" charset="0"/>
              </a:rPr>
              <a:t>network_num</a:t>
            </a:r>
            <a:r>
              <a:rPr lang="en-US" altLang="zh-CN" sz="2400">
                <a:latin typeface="Courier New" panose="02070309020205020404" pitchFamily="49" charset="0"/>
              </a:rPr>
              <a:t> </a:t>
            </a:r>
            <a:r>
              <a:rPr lang="zh-CN" altLang="en-US" sz="2400">
                <a:latin typeface="Courier New" panose="02070309020205020404" pitchFamily="49" charset="0"/>
              </a:rPr>
              <a:t>在本地转发表中</a:t>
            </a:r>
            <a:r>
              <a:rPr lang="en-US" altLang="zh-CN" sz="2400">
                <a:latin typeface="Courier New" panose="02070309020205020404" pitchFamily="49" charset="0"/>
              </a:rPr>
              <a:t>)</a:t>
            </a:r>
          </a:p>
          <a:p>
            <a:pPr eaLnBrk="1" hangingPunct="1">
              <a:lnSpc>
                <a:spcPct val="90000"/>
              </a:lnSpc>
              <a:buFont typeface="Wingdings" panose="05000000000000000000" pitchFamily="2" charset="2"/>
              <a:buNone/>
            </a:pPr>
            <a:r>
              <a:rPr lang="en-US" altLang="zh-CN" sz="2400">
                <a:latin typeface="Courier New" panose="02070309020205020404" pitchFamily="49" charset="0"/>
              </a:rPr>
              <a:t>	</a:t>
            </a:r>
            <a:r>
              <a:rPr lang="en-US" altLang="zh-CN" sz="2400" b="1">
                <a:latin typeface="Courier New" panose="02070309020205020404" pitchFamily="49" charset="0"/>
              </a:rPr>
              <a:t>then</a:t>
            </a:r>
          </a:p>
          <a:p>
            <a:pPr eaLnBrk="1" hangingPunct="1">
              <a:lnSpc>
                <a:spcPct val="90000"/>
              </a:lnSpc>
              <a:buFont typeface="Wingdings" panose="05000000000000000000" pitchFamily="2" charset="2"/>
              <a:buNone/>
            </a:pPr>
            <a:r>
              <a:rPr lang="en-US" altLang="zh-CN" sz="2400">
                <a:latin typeface="Courier New" panose="02070309020205020404" pitchFamily="49" charset="0"/>
              </a:rPr>
              <a:t>		</a:t>
            </a:r>
            <a:r>
              <a:rPr lang="zh-CN" altLang="en-US" sz="2400">
                <a:latin typeface="Courier New" panose="02070309020205020404" pitchFamily="49" charset="0"/>
              </a:rPr>
              <a:t>传送到下一个路由器</a:t>
            </a:r>
          </a:p>
          <a:p>
            <a:pPr eaLnBrk="1" hangingPunct="1">
              <a:lnSpc>
                <a:spcPct val="90000"/>
              </a:lnSpc>
              <a:buFont typeface="Wingdings" panose="05000000000000000000" pitchFamily="2" charset="2"/>
              <a:buNone/>
            </a:pPr>
            <a:r>
              <a:rPr lang="zh-CN" altLang="en-US" sz="2400">
                <a:latin typeface="Courier New" panose="02070309020205020404" pitchFamily="49" charset="0"/>
              </a:rPr>
              <a:t>	</a:t>
            </a:r>
            <a:r>
              <a:rPr lang="en-US" altLang="zh-CN" sz="2400" b="1">
                <a:latin typeface="Courier New" panose="02070309020205020404" pitchFamily="49" charset="0"/>
              </a:rPr>
              <a:t>else</a:t>
            </a:r>
          </a:p>
          <a:p>
            <a:pPr eaLnBrk="1" hangingPunct="1">
              <a:lnSpc>
                <a:spcPct val="90000"/>
              </a:lnSpc>
              <a:buFont typeface="Wingdings" panose="05000000000000000000" pitchFamily="2" charset="2"/>
              <a:buNone/>
            </a:pPr>
            <a:r>
              <a:rPr lang="en-US" altLang="zh-CN" sz="2400">
                <a:latin typeface="Courier New" panose="02070309020205020404" pitchFamily="49" charset="0"/>
              </a:rPr>
              <a:t>		</a:t>
            </a:r>
            <a:r>
              <a:rPr lang="zh-CN" altLang="en-US" sz="2400">
                <a:latin typeface="Courier New" panose="02070309020205020404" pitchFamily="49" charset="0"/>
              </a:rPr>
              <a:t>传送到默认路由器</a:t>
            </a:r>
          </a:p>
        </p:txBody>
      </p:sp>
      <p:sp>
        <p:nvSpPr>
          <p:cNvPr id="18435" name="Rectangle 1027"/>
          <p:cNvSpPr>
            <a:spLocks noGrp="1" noChangeArrowheads="1"/>
          </p:cNvSpPr>
          <p:nvPr>
            <p:ph type="title"/>
          </p:nvPr>
        </p:nvSpPr>
        <p:spPr bwMode="auto">
          <a:xfrm>
            <a:off x="2324100" y="3810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路由器的分组转发</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55842" name="Rectangle 4098"/>
          <p:cNvSpPr>
            <a:spLocks noGrp="1" noChangeArrowheads="1"/>
          </p:cNvSpPr>
          <p:nvPr>
            <p:ph type="body" idx="1"/>
          </p:nvPr>
        </p:nvSpPr>
        <p:spPr bwMode="auto">
          <a:xfrm>
            <a:off x="2665413" y="1268414"/>
            <a:ext cx="7258050" cy="3578225"/>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spcBef>
                <a:spcPct val="40000"/>
              </a:spcBef>
            </a:pPr>
            <a:r>
              <a:rPr lang="zh-CN" altLang="en-US"/>
              <a:t>路由器的功能</a:t>
            </a:r>
          </a:p>
          <a:p>
            <a:pPr lvl="1" eaLnBrk="1" hangingPunct="1">
              <a:lnSpc>
                <a:spcPct val="90000"/>
              </a:lnSpc>
              <a:spcBef>
                <a:spcPct val="40000"/>
              </a:spcBef>
            </a:pPr>
            <a:r>
              <a:rPr lang="zh-CN" altLang="en-US"/>
              <a:t>利用</a:t>
            </a:r>
            <a:r>
              <a:rPr lang="zh-CN" altLang="en-US">
                <a:latin typeface="Times New Roman" panose="02020603050405020304" pitchFamily="18" charset="0"/>
              </a:rPr>
              <a:t>“</a:t>
            </a:r>
            <a:r>
              <a:rPr lang="zh-CN" altLang="en-US"/>
              <a:t>最佳路径</a:t>
            </a:r>
            <a:r>
              <a:rPr lang="zh-CN" altLang="en-US">
                <a:latin typeface="Times New Roman" panose="02020603050405020304" pitchFamily="18" charset="0"/>
              </a:rPr>
              <a:t>”</a:t>
            </a:r>
            <a:r>
              <a:rPr lang="zh-CN" altLang="en-US"/>
              <a:t>将分组从一个网络转发到另一个网络</a:t>
            </a:r>
            <a:r>
              <a:rPr lang="zh-CN" altLang="en-US">
                <a:solidFill>
                  <a:schemeClr val="folHlink"/>
                </a:solidFill>
              </a:rPr>
              <a:t>   </a:t>
            </a:r>
            <a:r>
              <a:rPr lang="en-US" altLang="zh-CN">
                <a:solidFill>
                  <a:schemeClr val="folHlink"/>
                </a:solidFill>
              </a:rPr>
              <a:t>(IP Forwarding)</a:t>
            </a:r>
          </a:p>
          <a:p>
            <a:pPr lvl="1" eaLnBrk="1" hangingPunct="1">
              <a:lnSpc>
                <a:spcPct val="90000"/>
              </a:lnSpc>
              <a:spcBef>
                <a:spcPct val="40000"/>
              </a:spcBef>
            </a:pPr>
            <a:r>
              <a:rPr lang="zh-CN" altLang="en-US"/>
              <a:t>与其它路由器进行路由信息（各网络的位置、可达性等）交换</a:t>
            </a:r>
            <a:r>
              <a:rPr lang="en-US" altLang="zh-CN"/>
              <a:t>.</a:t>
            </a:r>
            <a:r>
              <a:rPr lang="en-US" altLang="zh-CN" i="1" u="sng">
                <a:solidFill>
                  <a:schemeClr val="accent2"/>
                </a:solidFill>
              </a:rPr>
              <a:t>(</a:t>
            </a:r>
            <a:r>
              <a:rPr lang="zh-CN" altLang="en-US" i="1" u="sng">
                <a:solidFill>
                  <a:schemeClr val="accent2"/>
                </a:solidFill>
              </a:rPr>
              <a:t>路由算法</a:t>
            </a:r>
            <a:r>
              <a:rPr lang="en-US" altLang="zh-CN" i="1" u="sng">
                <a:solidFill>
                  <a:schemeClr val="accent2"/>
                </a:solidFill>
              </a:rPr>
              <a:t>)</a:t>
            </a:r>
          </a:p>
          <a:p>
            <a:pPr lvl="1" eaLnBrk="1" hangingPunct="1">
              <a:lnSpc>
                <a:spcPct val="90000"/>
              </a:lnSpc>
              <a:spcBef>
                <a:spcPct val="40000"/>
              </a:spcBef>
            </a:pPr>
            <a:r>
              <a:rPr lang="zh-CN" altLang="en-US"/>
              <a:t>信息交换由特定协议来完成</a:t>
            </a:r>
            <a:r>
              <a:rPr lang="zh-CN" altLang="en-US" i="1" u="sng">
                <a:solidFill>
                  <a:schemeClr val="accent2"/>
                </a:solidFill>
              </a:rPr>
              <a:t>（路由协议）</a:t>
            </a:r>
          </a:p>
          <a:p>
            <a:pPr lvl="1" eaLnBrk="1" hangingPunct="1">
              <a:lnSpc>
                <a:spcPct val="90000"/>
              </a:lnSpc>
              <a:spcBef>
                <a:spcPct val="40000"/>
              </a:spcBef>
            </a:pPr>
            <a:r>
              <a:rPr lang="zh-CN" altLang="en-US"/>
              <a:t>了解了网络结构信息以后</a:t>
            </a:r>
            <a:r>
              <a:rPr lang="en-US" altLang="zh-CN"/>
              <a:t>,</a:t>
            </a:r>
            <a:r>
              <a:rPr lang="zh-CN" altLang="en-US"/>
              <a:t>路由一般采用最佳路径计算</a:t>
            </a:r>
            <a:r>
              <a:rPr lang="zh-CN" altLang="en-US" i="1" u="sng">
                <a:solidFill>
                  <a:schemeClr val="accent2"/>
                </a:solidFill>
              </a:rPr>
              <a:t>（最短路径算法）</a:t>
            </a:r>
          </a:p>
        </p:txBody>
      </p:sp>
      <p:sp>
        <p:nvSpPr>
          <p:cNvPr id="19459" name="Rectangle 4099"/>
          <p:cNvSpPr>
            <a:spLocks noGrp="1" noChangeArrowheads="1"/>
          </p:cNvSpPr>
          <p:nvPr>
            <p:ph type="title"/>
          </p:nvPr>
        </p:nvSpPr>
        <p:spPr bwMode="auto">
          <a:xfrm>
            <a:off x="2665414" y="338138"/>
            <a:ext cx="6992937"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b="1">
                <a:latin typeface="新宋体" panose="02010609030101010101" pitchFamily="49" charset="-122"/>
                <a:ea typeface="新宋体" panose="02010609030101010101" pitchFamily="49" charset="-122"/>
              </a:rPr>
              <a:t>IP </a:t>
            </a:r>
            <a:r>
              <a:rPr lang="zh-CN" altLang="en-US" sz="3600" b="1">
                <a:latin typeface="新宋体" panose="02010609030101010101" pitchFamily="49" charset="-122"/>
                <a:ea typeface="新宋体" panose="02010609030101010101" pitchFamily="49" charset="-122"/>
              </a:rPr>
              <a:t>路由器</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5584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95584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95584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95584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95584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42" grpId="0" build="p"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bwMode="auto">
          <a:xfrm>
            <a:off x="2951164" y="338138"/>
            <a:ext cx="6288087" cy="7223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b="1">
                <a:latin typeface="新宋体" panose="02010609030101010101" pitchFamily="49" charset="-122"/>
                <a:ea typeface="新宋体" panose="02010609030101010101" pitchFamily="49" charset="-122"/>
              </a:rPr>
              <a:t>4.3.2 </a:t>
            </a:r>
            <a:r>
              <a:rPr lang="zh-CN" altLang="en-US" sz="3600" b="1">
                <a:latin typeface="新宋体" panose="02010609030101010101" pitchFamily="49" charset="-122"/>
                <a:ea typeface="新宋体" panose="02010609030101010101" pitchFamily="49" charset="-122"/>
              </a:rPr>
              <a:t>路由策略</a:t>
            </a:r>
          </a:p>
        </p:txBody>
      </p:sp>
      <p:sp>
        <p:nvSpPr>
          <p:cNvPr id="21507" name="Text Box 3"/>
          <p:cNvSpPr txBox="1">
            <a:spLocks noChangeArrowheads="1"/>
          </p:cNvSpPr>
          <p:nvPr/>
        </p:nvSpPr>
        <p:spPr bwMode="auto">
          <a:xfrm>
            <a:off x="3784601" y="1530350"/>
            <a:ext cx="5561013" cy="3207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88950" indent="-488950">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Char char="l"/>
            </a:pPr>
            <a:r>
              <a:rPr lang="zh-CN" altLang="en-US" sz="4400">
                <a:solidFill>
                  <a:schemeClr val="tx1"/>
                </a:solidFill>
                <a:latin typeface="Arial" panose="020B0604020202020204" pitchFamily="34" charset="0"/>
              </a:rPr>
              <a:t>固定</a:t>
            </a:r>
          </a:p>
          <a:p>
            <a:pPr eaLnBrk="1" hangingPunct="1">
              <a:spcBef>
                <a:spcPct val="20000"/>
              </a:spcBef>
              <a:buClr>
                <a:schemeClr val="tx1"/>
              </a:buClr>
              <a:buSzPct val="75000"/>
              <a:buFont typeface="Wingdings" panose="05000000000000000000" pitchFamily="2" charset="2"/>
              <a:buChar char="l"/>
            </a:pPr>
            <a:r>
              <a:rPr lang="zh-CN" altLang="en-US" sz="4400">
                <a:solidFill>
                  <a:schemeClr val="tx1"/>
                </a:solidFill>
                <a:latin typeface="Arial" panose="020B0604020202020204" pitchFamily="34" charset="0"/>
              </a:rPr>
              <a:t>泛洪法</a:t>
            </a:r>
          </a:p>
          <a:p>
            <a:pPr eaLnBrk="1" hangingPunct="1">
              <a:spcBef>
                <a:spcPct val="20000"/>
              </a:spcBef>
              <a:buClr>
                <a:schemeClr val="tx1"/>
              </a:buClr>
              <a:buSzPct val="75000"/>
              <a:buFont typeface="Wingdings" panose="05000000000000000000" pitchFamily="2" charset="2"/>
              <a:buChar char="l"/>
            </a:pPr>
            <a:r>
              <a:rPr lang="zh-CN" altLang="en-US" sz="4400">
                <a:solidFill>
                  <a:schemeClr val="tx1"/>
                </a:solidFill>
                <a:latin typeface="Arial" panose="020B0604020202020204" pitchFamily="34" charset="0"/>
              </a:rPr>
              <a:t>随机</a:t>
            </a:r>
          </a:p>
          <a:p>
            <a:pPr eaLnBrk="1" hangingPunct="1">
              <a:spcBef>
                <a:spcPct val="20000"/>
              </a:spcBef>
              <a:buClr>
                <a:schemeClr val="tx1"/>
              </a:buClr>
              <a:buSzPct val="75000"/>
              <a:buFont typeface="Wingdings" panose="05000000000000000000" pitchFamily="2" charset="2"/>
              <a:buChar char="l"/>
            </a:pPr>
            <a:r>
              <a:rPr lang="zh-CN" altLang="en-US" sz="4400">
                <a:solidFill>
                  <a:schemeClr val="tx1"/>
                </a:solidFill>
                <a:latin typeface="Arial" panose="020B0604020202020204" pitchFamily="34" charset="0"/>
              </a:rPr>
              <a:t>自适应</a:t>
            </a:r>
          </a:p>
        </p:txBody>
      </p:sp>
    </p:spTree>
  </p:cSld>
  <p:clrMapOvr>
    <a:masterClrMapping/>
  </p:clrMapOvr>
  <p:transition spd="med">
    <p:random/>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bwMode="auto">
          <a:xfrm>
            <a:off x="3889375" y="363538"/>
            <a:ext cx="4706938" cy="747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固定路由</a:t>
            </a:r>
          </a:p>
        </p:txBody>
      </p:sp>
      <p:sp>
        <p:nvSpPr>
          <p:cNvPr id="1786883" name="Text Box 3"/>
          <p:cNvSpPr txBox="1">
            <a:spLocks noChangeArrowheads="1"/>
          </p:cNvSpPr>
          <p:nvPr/>
        </p:nvSpPr>
        <p:spPr bwMode="auto">
          <a:xfrm>
            <a:off x="3106739" y="1858964"/>
            <a:ext cx="6599237" cy="154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每个源</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目的对只有一个永久路由</a:t>
            </a:r>
          </a:p>
          <a:p>
            <a:pPr eaLnBrk="1" hangingPunct="1">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根据最小代价算法来决定路由</a:t>
            </a:r>
          </a:p>
          <a:p>
            <a:pPr eaLnBrk="1" hangingPunct="1">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路由相对固定</a:t>
            </a:r>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除非网络拓扑改变</a:t>
            </a:r>
            <a:endParaRPr lang="zh-CN" altLang="en-US"/>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86883">
                                            <p:txEl>
                                              <p:pRg st="0" end="0"/>
                                            </p:txEl>
                                          </p:spTgt>
                                        </p:tgtEl>
                                        <p:attrNameLst>
                                          <p:attrName>style.visibility</p:attrName>
                                        </p:attrNameLst>
                                      </p:cBhvr>
                                      <p:to>
                                        <p:strVal val="visible"/>
                                      </p:to>
                                    </p:set>
                                    <p:anim calcmode="lin" valueType="num">
                                      <p:cBhvr additive="base">
                                        <p:cTn id="7" dur="500" fill="hold"/>
                                        <p:tgtEl>
                                          <p:spTgt spid="178688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868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86883">
                                            <p:txEl>
                                              <p:pRg st="1" end="1"/>
                                            </p:txEl>
                                          </p:spTgt>
                                        </p:tgtEl>
                                        <p:attrNameLst>
                                          <p:attrName>style.visibility</p:attrName>
                                        </p:attrNameLst>
                                      </p:cBhvr>
                                      <p:to>
                                        <p:strVal val="visible"/>
                                      </p:to>
                                    </p:set>
                                    <p:anim calcmode="lin" valueType="num">
                                      <p:cBhvr additive="base">
                                        <p:cTn id="13" dur="500" fill="hold"/>
                                        <p:tgtEl>
                                          <p:spTgt spid="178688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868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86883">
                                            <p:txEl>
                                              <p:pRg st="2" end="2"/>
                                            </p:txEl>
                                          </p:spTgt>
                                        </p:tgtEl>
                                        <p:attrNameLst>
                                          <p:attrName>style.visibility</p:attrName>
                                        </p:attrNameLst>
                                      </p:cBhvr>
                                      <p:to>
                                        <p:strVal val="visible"/>
                                      </p:to>
                                    </p:set>
                                    <p:anim calcmode="lin" valueType="num">
                                      <p:cBhvr additive="base">
                                        <p:cTn id="19" dur="500" fill="hold"/>
                                        <p:tgtEl>
                                          <p:spTgt spid="178688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8688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6883" grpId="0" build="p"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026"/>
          <p:cNvSpPr>
            <a:spLocks noGrp="1" noChangeArrowheads="1"/>
          </p:cNvSpPr>
          <p:nvPr>
            <p:ph type="title"/>
          </p:nvPr>
        </p:nvSpPr>
        <p:spPr bwMode="auto">
          <a:xfrm>
            <a:off x="4162426" y="387350"/>
            <a:ext cx="4386263" cy="623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泛洪法</a:t>
            </a:r>
          </a:p>
        </p:txBody>
      </p:sp>
      <p:sp>
        <p:nvSpPr>
          <p:cNvPr id="1788931" name="Text Box 1027"/>
          <p:cNvSpPr txBox="1">
            <a:spLocks noChangeArrowheads="1"/>
          </p:cNvSpPr>
          <p:nvPr/>
        </p:nvSpPr>
        <p:spPr bwMode="auto">
          <a:xfrm>
            <a:off x="2489200" y="1436688"/>
            <a:ext cx="7486650"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不须知道网络的信息</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节点向自己的所有邻接节点发送分组</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进入的报文重传给除了该进入链接以外的每一个连接</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最终很多的副本会到达目的站</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每个报文有一个编号，副本被丢掉</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节点能记住所有已转发的分组以避免报文来回传送</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分组里包括了跳数</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报文的生存期</a:t>
            </a:r>
            <a:r>
              <a:rPr lang="en-US" altLang="zh-CN">
                <a:solidFill>
                  <a:schemeClr val="tx1"/>
                </a:solidFill>
                <a:latin typeface="Arial" panose="020B0604020202020204" pitchFamily="34" charset="0"/>
              </a:rPr>
              <a:t>)</a:t>
            </a:r>
            <a:endParaRPr lang="en-US" altLang="zh-CN"/>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88931">
                                            <p:txEl>
                                              <p:pRg st="0" end="0"/>
                                            </p:txEl>
                                          </p:spTgt>
                                        </p:tgtEl>
                                        <p:attrNameLst>
                                          <p:attrName>style.visibility</p:attrName>
                                        </p:attrNameLst>
                                      </p:cBhvr>
                                      <p:to>
                                        <p:strVal val="visible"/>
                                      </p:to>
                                    </p:set>
                                    <p:anim calcmode="lin" valueType="num">
                                      <p:cBhvr additive="base">
                                        <p:cTn id="7" dur="500" fill="hold"/>
                                        <p:tgtEl>
                                          <p:spTgt spid="178893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889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88931">
                                            <p:txEl>
                                              <p:pRg st="1" end="1"/>
                                            </p:txEl>
                                          </p:spTgt>
                                        </p:tgtEl>
                                        <p:attrNameLst>
                                          <p:attrName>style.visibility</p:attrName>
                                        </p:attrNameLst>
                                      </p:cBhvr>
                                      <p:to>
                                        <p:strVal val="visible"/>
                                      </p:to>
                                    </p:set>
                                    <p:anim calcmode="lin" valueType="num">
                                      <p:cBhvr additive="base">
                                        <p:cTn id="13" dur="500" fill="hold"/>
                                        <p:tgtEl>
                                          <p:spTgt spid="178893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889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88931">
                                            <p:txEl>
                                              <p:pRg st="2" end="2"/>
                                            </p:txEl>
                                          </p:spTgt>
                                        </p:tgtEl>
                                        <p:attrNameLst>
                                          <p:attrName>style.visibility</p:attrName>
                                        </p:attrNameLst>
                                      </p:cBhvr>
                                      <p:to>
                                        <p:strVal val="visible"/>
                                      </p:to>
                                    </p:set>
                                    <p:anim calcmode="lin" valueType="num">
                                      <p:cBhvr additive="base">
                                        <p:cTn id="19" dur="500" fill="hold"/>
                                        <p:tgtEl>
                                          <p:spTgt spid="178893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889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788931">
                                            <p:txEl>
                                              <p:pRg st="3" end="3"/>
                                            </p:txEl>
                                          </p:spTgt>
                                        </p:tgtEl>
                                        <p:attrNameLst>
                                          <p:attrName>style.visibility</p:attrName>
                                        </p:attrNameLst>
                                      </p:cBhvr>
                                      <p:to>
                                        <p:strVal val="visible"/>
                                      </p:to>
                                    </p:set>
                                    <p:anim calcmode="lin" valueType="num">
                                      <p:cBhvr additive="base">
                                        <p:cTn id="25" dur="500" fill="hold"/>
                                        <p:tgtEl>
                                          <p:spTgt spid="1788931">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7889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788931">
                                            <p:txEl>
                                              <p:pRg st="4" end="4"/>
                                            </p:txEl>
                                          </p:spTgt>
                                        </p:tgtEl>
                                        <p:attrNameLst>
                                          <p:attrName>style.visibility</p:attrName>
                                        </p:attrNameLst>
                                      </p:cBhvr>
                                      <p:to>
                                        <p:strVal val="visible"/>
                                      </p:to>
                                    </p:set>
                                    <p:anim calcmode="lin" valueType="num">
                                      <p:cBhvr additive="base">
                                        <p:cTn id="31" dur="500" fill="hold"/>
                                        <p:tgtEl>
                                          <p:spTgt spid="1788931">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78893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788931">
                                            <p:txEl>
                                              <p:pRg st="5" end="5"/>
                                            </p:txEl>
                                          </p:spTgt>
                                        </p:tgtEl>
                                        <p:attrNameLst>
                                          <p:attrName>style.visibility</p:attrName>
                                        </p:attrNameLst>
                                      </p:cBhvr>
                                      <p:to>
                                        <p:strVal val="visible"/>
                                      </p:to>
                                    </p:set>
                                    <p:anim calcmode="lin" valueType="num">
                                      <p:cBhvr additive="base">
                                        <p:cTn id="37" dur="500" fill="hold"/>
                                        <p:tgtEl>
                                          <p:spTgt spid="1788931">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78893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788931">
                                            <p:txEl>
                                              <p:pRg st="6" end="6"/>
                                            </p:txEl>
                                          </p:spTgt>
                                        </p:tgtEl>
                                        <p:attrNameLst>
                                          <p:attrName>style.visibility</p:attrName>
                                        </p:attrNameLst>
                                      </p:cBhvr>
                                      <p:to>
                                        <p:strVal val="visible"/>
                                      </p:to>
                                    </p:set>
                                    <p:anim calcmode="lin" valueType="num">
                                      <p:cBhvr additive="base">
                                        <p:cTn id="43" dur="500" fill="hold"/>
                                        <p:tgtEl>
                                          <p:spTgt spid="1788931">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788931">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8931" grpId="0" build="p"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3"/>
          <p:cNvPicPr>
            <a:picLocks noChangeAspect="1" noChangeArrowheads="1"/>
          </p:cNvPicPr>
          <p:nvPr/>
        </p:nvPicPr>
        <p:blipFill>
          <a:blip r:embed="rId2">
            <a:extLst>
              <a:ext uri="{28A0092B-C50C-407E-A947-70E740481C1C}">
                <a14:useLocalDpi xmlns:a14="http://schemas.microsoft.com/office/drawing/2010/main" val="0"/>
              </a:ext>
            </a:extLst>
          </a:blip>
          <a:srcRect b="8160"/>
          <a:stretch>
            <a:fillRect/>
          </a:stretch>
        </p:blipFill>
        <p:spPr bwMode="auto">
          <a:xfrm>
            <a:off x="5865814" y="0"/>
            <a:ext cx="4802187"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Text Box 4"/>
          <p:cNvSpPr txBox="1">
            <a:spLocks noChangeArrowheads="1"/>
          </p:cNvSpPr>
          <p:nvPr/>
        </p:nvSpPr>
        <p:spPr bwMode="auto">
          <a:xfrm>
            <a:off x="2265364" y="3756025"/>
            <a:ext cx="316388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kumimoji="1" lang="zh-CN" altLang="en-US" sz="4400">
                <a:solidFill>
                  <a:schemeClr val="tx2"/>
                </a:solidFill>
                <a:latin typeface="Tahoma" panose="020B0604030504040204" pitchFamily="34" charset="0"/>
              </a:rPr>
              <a:t>泛洪法例子</a:t>
            </a:r>
          </a:p>
        </p:txBody>
      </p:sp>
    </p:spTree>
  </p:cSld>
  <p:clrMapOvr>
    <a:masterClrMapping/>
  </p:clrMapOvr>
  <p:transition spd="med">
    <p:random/>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Grp="1" noChangeArrowheads="1"/>
          </p:cNvSpPr>
          <p:nvPr>
            <p:ph type="title"/>
          </p:nvPr>
        </p:nvSpPr>
        <p:spPr bwMode="auto">
          <a:xfrm>
            <a:off x="2211388" y="3683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泛洪法的性质</a:t>
            </a:r>
          </a:p>
        </p:txBody>
      </p:sp>
      <p:sp>
        <p:nvSpPr>
          <p:cNvPr id="1793027" name="Text Box 1027"/>
          <p:cNvSpPr txBox="1">
            <a:spLocks noChangeArrowheads="1"/>
          </p:cNvSpPr>
          <p:nvPr/>
        </p:nvSpPr>
        <p:spPr bwMode="auto">
          <a:xfrm>
            <a:off x="2927350" y="1320800"/>
            <a:ext cx="6838950" cy="3330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57238" indent="-2730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尝试所有的路由</a:t>
            </a:r>
          </a:p>
          <a:p>
            <a:pPr lvl="1" eaLnBrk="1" hangingPunct="1">
              <a:spcBef>
                <a:spcPct val="20000"/>
              </a:spcBef>
              <a:buClr>
                <a:schemeClr val="tx1"/>
              </a:buClr>
              <a:buSzPct val="75000"/>
              <a:buFontTx/>
              <a:buChar char="–"/>
            </a:pPr>
            <a:r>
              <a:rPr lang="zh-CN" altLang="en-US" sz="2400">
                <a:solidFill>
                  <a:schemeClr val="tx1"/>
                </a:solidFill>
                <a:latin typeface="Arial" panose="020B0604020202020204" pitchFamily="34" charset="0"/>
              </a:rPr>
              <a:t>很健壮</a:t>
            </a:r>
          </a:p>
          <a:p>
            <a:pPr eaLnBrk="1" hangingPunct="1">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至少一个报文以最短路径到达</a:t>
            </a:r>
          </a:p>
          <a:p>
            <a:pPr lvl="1" eaLnBrk="1" hangingPunct="1">
              <a:spcBef>
                <a:spcPct val="20000"/>
              </a:spcBef>
              <a:buClr>
                <a:schemeClr val="tx1"/>
              </a:buClr>
              <a:buSzPct val="75000"/>
              <a:buFontTx/>
              <a:buChar char="–"/>
            </a:pPr>
            <a:r>
              <a:rPr lang="zh-CN" altLang="en-US" sz="2400">
                <a:solidFill>
                  <a:schemeClr val="tx1"/>
                </a:solidFill>
                <a:latin typeface="Arial" panose="020B0604020202020204" pitchFamily="34" charset="0"/>
              </a:rPr>
              <a:t>可以用来建立虚电路</a:t>
            </a:r>
            <a:endParaRPr lang="en-US" altLang="zh-CN" sz="2400">
              <a:solidFill>
                <a:schemeClr val="tx1"/>
              </a:solidFill>
              <a:latin typeface="Arial" panose="020B0604020202020204" pitchFamily="34" charset="0"/>
            </a:endParaRPr>
          </a:p>
          <a:p>
            <a:pPr lvl="1" eaLnBrk="1" hangingPunct="1">
              <a:spcBef>
                <a:spcPct val="20000"/>
              </a:spcBef>
              <a:buClr>
                <a:schemeClr val="tx1"/>
              </a:buClr>
              <a:buSzPct val="75000"/>
              <a:buFontTx/>
              <a:buChar char="–"/>
            </a:pPr>
            <a:r>
              <a:rPr lang="zh-CN" altLang="en-US" sz="2400">
                <a:solidFill>
                  <a:schemeClr val="tx1"/>
                </a:solidFill>
                <a:latin typeface="Arial" panose="020B0604020202020204" pitchFamily="34" charset="0"/>
              </a:rPr>
              <a:t>作为路由算法的评价标准</a:t>
            </a:r>
          </a:p>
          <a:p>
            <a:pPr eaLnBrk="1" hangingPunct="1">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访问所有节点</a:t>
            </a:r>
          </a:p>
          <a:p>
            <a:pPr lvl="1" eaLnBrk="1" hangingPunct="1">
              <a:spcBef>
                <a:spcPct val="20000"/>
              </a:spcBef>
              <a:buClr>
                <a:schemeClr val="tx1"/>
              </a:buClr>
              <a:buSzPct val="75000"/>
              <a:buFontTx/>
              <a:buChar char="–"/>
            </a:pPr>
            <a:r>
              <a:rPr lang="zh-CN" altLang="en-US" sz="2400">
                <a:solidFill>
                  <a:schemeClr val="tx1"/>
                </a:solidFill>
                <a:latin typeface="Arial" panose="020B0604020202020204" pitchFamily="34" charset="0"/>
              </a:rPr>
              <a:t>对分发信息很有用 </a:t>
            </a:r>
            <a:r>
              <a:rPr lang="en-US" altLang="zh-CN" sz="2400">
                <a:solidFill>
                  <a:schemeClr val="tx1"/>
                </a:solidFill>
                <a:latin typeface="Arial" panose="020B0604020202020204" pitchFamily="34" charset="0"/>
              </a:rPr>
              <a:t>(e.g. routing</a:t>
            </a:r>
            <a:r>
              <a:rPr lang="zh-CN" altLang="en-US" sz="2400">
                <a:solidFill>
                  <a:schemeClr val="tx1"/>
                </a:solidFill>
                <a:latin typeface="Arial" panose="020B0604020202020204" pitchFamily="34" charset="0"/>
              </a:rPr>
              <a:t>信息</a:t>
            </a:r>
            <a:r>
              <a:rPr lang="en-US" altLang="zh-CN" sz="2400">
                <a:solidFill>
                  <a:schemeClr val="tx1"/>
                </a:solidFill>
                <a:latin typeface="Arial" panose="020B0604020202020204" pitchFamily="34" charset="0"/>
              </a:rPr>
              <a:t>)</a:t>
            </a:r>
            <a:endParaRPr lang="en-US" altLang="zh-CN"/>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93027">
                                            <p:txEl>
                                              <p:pRg st="0" end="0"/>
                                            </p:txEl>
                                          </p:spTgt>
                                        </p:tgtEl>
                                        <p:attrNameLst>
                                          <p:attrName>style.visibility</p:attrName>
                                        </p:attrNameLst>
                                      </p:cBhvr>
                                      <p:to>
                                        <p:strVal val="visible"/>
                                      </p:to>
                                    </p:set>
                                    <p:anim calcmode="lin" valueType="num">
                                      <p:cBhvr additive="base">
                                        <p:cTn id="7" dur="500" fill="hold"/>
                                        <p:tgtEl>
                                          <p:spTgt spid="179302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9302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93027">
                                            <p:txEl>
                                              <p:pRg st="1" end="1"/>
                                            </p:txEl>
                                          </p:spTgt>
                                        </p:tgtEl>
                                        <p:attrNameLst>
                                          <p:attrName>style.visibility</p:attrName>
                                        </p:attrNameLst>
                                      </p:cBhvr>
                                      <p:to>
                                        <p:strVal val="visible"/>
                                      </p:to>
                                    </p:set>
                                    <p:anim calcmode="lin" valueType="num">
                                      <p:cBhvr additive="base">
                                        <p:cTn id="11" dur="500" fill="hold"/>
                                        <p:tgtEl>
                                          <p:spTgt spid="1793027">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7930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793027">
                                            <p:txEl>
                                              <p:pRg st="2" end="2"/>
                                            </p:txEl>
                                          </p:spTgt>
                                        </p:tgtEl>
                                        <p:attrNameLst>
                                          <p:attrName>style.visibility</p:attrName>
                                        </p:attrNameLst>
                                      </p:cBhvr>
                                      <p:to>
                                        <p:strVal val="visible"/>
                                      </p:to>
                                    </p:set>
                                    <p:anim calcmode="lin" valueType="num">
                                      <p:cBhvr additive="base">
                                        <p:cTn id="17" dur="500" fill="hold"/>
                                        <p:tgtEl>
                                          <p:spTgt spid="1793027">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793027">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793027">
                                            <p:txEl>
                                              <p:pRg st="3" end="3"/>
                                            </p:txEl>
                                          </p:spTgt>
                                        </p:tgtEl>
                                        <p:attrNameLst>
                                          <p:attrName>style.visibility</p:attrName>
                                        </p:attrNameLst>
                                      </p:cBhvr>
                                      <p:to>
                                        <p:strVal val="visible"/>
                                      </p:to>
                                    </p:set>
                                    <p:anim calcmode="lin" valueType="num">
                                      <p:cBhvr additive="base">
                                        <p:cTn id="21" dur="500" fill="hold"/>
                                        <p:tgtEl>
                                          <p:spTgt spid="1793027">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793027">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793027">
                                            <p:txEl>
                                              <p:pRg st="4" end="4"/>
                                            </p:txEl>
                                          </p:spTgt>
                                        </p:tgtEl>
                                        <p:attrNameLst>
                                          <p:attrName>style.visibility</p:attrName>
                                        </p:attrNameLst>
                                      </p:cBhvr>
                                      <p:to>
                                        <p:strVal val="visible"/>
                                      </p:to>
                                    </p:set>
                                    <p:anim calcmode="lin" valueType="num">
                                      <p:cBhvr additive="base">
                                        <p:cTn id="25" dur="500" fill="hold"/>
                                        <p:tgtEl>
                                          <p:spTgt spid="1793027">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79302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793027">
                                            <p:txEl>
                                              <p:pRg st="5" end="5"/>
                                            </p:txEl>
                                          </p:spTgt>
                                        </p:tgtEl>
                                        <p:attrNameLst>
                                          <p:attrName>style.visibility</p:attrName>
                                        </p:attrNameLst>
                                      </p:cBhvr>
                                      <p:to>
                                        <p:strVal val="visible"/>
                                      </p:to>
                                    </p:set>
                                    <p:anim calcmode="lin" valueType="num">
                                      <p:cBhvr additive="base">
                                        <p:cTn id="31" dur="500" fill="hold"/>
                                        <p:tgtEl>
                                          <p:spTgt spid="1793027">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793027">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1793027">
                                            <p:txEl>
                                              <p:pRg st="6" end="6"/>
                                            </p:txEl>
                                          </p:spTgt>
                                        </p:tgtEl>
                                        <p:attrNameLst>
                                          <p:attrName>style.visibility</p:attrName>
                                        </p:attrNameLst>
                                      </p:cBhvr>
                                      <p:to>
                                        <p:strVal val="visible"/>
                                      </p:to>
                                    </p:set>
                                    <p:anim calcmode="lin" valueType="num">
                                      <p:cBhvr additive="base">
                                        <p:cTn id="35" dur="500" fill="hold"/>
                                        <p:tgtEl>
                                          <p:spTgt spid="1793027">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1793027">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3027" grpId="0" build="p"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26"/>
          <p:cNvSpPr>
            <a:spLocks noGrp="1" noChangeArrowheads="1"/>
          </p:cNvSpPr>
          <p:nvPr>
            <p:ph type="title"/>
          </p:nvPr>
        </p:nvSpPr>
        <p:spPr bwMode="auto">
          <a:xfrm>
            <a:off x="3838576" y="273051"/>
            <a:ext cx="4659313" cy="747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随机路由</a:t>
            </a:r>
          </a:p>
        </p:txBody>
      </p:sp>
      <p:sp>
        <p:nvSpPr>
          <p:cNvPr id="1794051" name="Text Box 1027"/>
          <p:cNvSpPr txBox="1">
            <a:spLocks noChangeArrowheads="1"/>
          </p:cNvSpPr>
          <p:nvPr/>
        </p:nvSpPr>
        <p:spPr bwMode="auto">
          <a:xfrm>
            <a:off x="2700339" y="1295400"/>
            <a:ext cx="7138987"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节点为到来的报文选择一条重传路径</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选择可以是随机的或均等的</a:t>
            </a:r>
          </a:p>
          <a:p>
            <a:pPr eaLnBrk="1" hangingPunct="1">
              <a:lnSpc>
                <a:spcPct val="90000"/>
              </a:lnSpc>
              <a:spcBef>
                <a:spcPct val="20000"/>
              </a:spcBef>
              <a:buClr>
                <a:schemeClr val="tx1"/>
              </a:buClr>
              <a:buSzPct val="75000"/>
              <a:buFont typeface="Wingdings" panose="05000000000000000000" pitchFamily="2" charset="2"/>
              <a:buChar char="l"/>
            </a:pP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对于多条出线</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可以基于概率计算来随机选择一条输出线</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不需要知道关于网络的信息</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所选中的路由通常既不是最低代价也不是最小跳段</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94051">
                                            <p:txEl>
                                              <p:pRg st="0" end="0"/>
                                            </p:txEl>
                                          </p:spTgt>
                                        </p:tgtEl>
                                        <p:attrNameLst>
                                          <p:attrName>style.visibility</p:attrName>
                                        </p:attrNameLst>
                                      </p:cBhvr>
                                      <p:to>
                                        <p:strVal val="visible"/>
                                      </p:to>
                                    </p:set>
                                    <p:anim calcmode="lin" valueType="num">
                                      <p:cBhvr additive="base">
                                        <p:cTn id="7" dur="500" fill="hold"/>
                                        <p:tgtEl>
                                          <p:spTgt spid="179405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940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94051">
                                            <p:txEl>
                                              <p:pRg st="1" end="1"/>
                                            </p:txEl>
                                          </p:spTgt>
                                        </p:tgtEl>
                                        <p:attrNameLst>
                                          <p:attrName>style.visibility</p:attrName>
                                        </p:attrNameLst>
                                      </p:cBhvr>
                                      <p:to>
                                        <p:strVal val="visible"/>
                                      </p:to>
                                    </p:set>
                                    <p:anim calcmode="lin" valueType="num">
                                      <p:cBhvr additive="base">
                                        <p:cTn id="13" dur="500" fill="hold"/>
                                        <p:tgtEl>
                                          <p:spTgt spid="179405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940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94051">
                                            <p:txEl>
                                              <p:pRg st="2" end="2"/>
                                            </p:txEl>
                                          </p:spTgt>
                                        </p:tgtEl>
                                        <p:attrNameLst>
                                          <p:attrName>style.visibility</p:attrName>
                                        </p:attrNameLst>
                                      </p:cBhvr>
                                      <p:to>
                                        <p:strVal val="visible"/>
                                      </p:to>
                                    </p:set>
                                    <p:anim calcmode="lin" valueType="num">
                                      <p:cBhvr additive="base">
                                        <p:cTn id="19" dur="500" fill="hold"/>
                                        <p:tgtEl>
                                          <p:spTgt spid="179405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9405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794051">
                                            <p:txEl>
                                              <p:pRg st="3" end="3"/>
                                            </p:txEl>
                                          </p:spTgt>
                                        </p:tgtEl>
                                        <p:attrNameLst>
                                          <p:attrName>style.visibility</p:attrName>
                                        </p:attrNameLst>
                                      </p:cBhvr>
                                      <p:to>
                                        <p:strVal val="visible"/>
                                      </p:to>
                                    </p:set>
                                    <p:anim calcmode="lin" valueType="num">
                                      <p:cBhvr additive="base">
                                        <p:cTn id="25" dur="500" fill="hold"/>
                                        <p:tgtEl>
                                          <p:spTgt spid="1794051">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79405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794051">
                                            <p:txEl>
                                              <p:pRg st="4" end="4"/>
                                            </p:txEl>
                                          </p:spTgt>
                                        </p:tgtEl>
                                        <p:attrNameLst>
                                          <p:attrName>style.visibility</p:attrName>
                                        </p:attrNameLst>
                                      </p:cBhvr>
                                      <p:to>
                                        <p:strVal val="visible"/>
                                      </p:to>
                                    </p:set>
                                    <p:anim calcmode="lin" valueType="num">
                                      <p:cBhvr additive="base">
                                        <p:cTn id="31" dur="500" fill="hold"/>
                                        <p:tgtEl>
                                          <p:spTgt spid="1794051">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79405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4051" grpId="0" build="p"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026"/>
          <p:cNvSpPr>
            <a:spLocks noGrp="1" noChangeArrowheads="1"/>
          </p:cNvSpPr>
          <p:nvPr>
            <p:ph type="title"/>
          </p:nvPr>
        </p:nvSpPr>
        <p:spPr bwMode="auto">
          <a:xfrm>
            <a:off x="3963989" y="412750"/>
            <a:ext cx="5102225" cy="623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自适应</a:t>
            </a:r>
            <a:r>
              <a:rPr lang="zh-CN" altLang="en-US" sz="3600" b="1" smtClean="0">
                <a:latin typeface="新宋体" panose="02010609030101010101" pitchFamily="49" charset="-122"/>
                <a:ea typeface="新宋体" panose="02010609030101010101" pitchFamily="49" charset="-122"/>
              </a:rPr>
              <a:t>路由</a:t>
            </a:r>
            <a:endParaRPr lang="zh-CN" altLang="en-US" sz="3600" b="1">
              <a:latin typeface="新宋体" panose="02010609030101010101" pitchFamily="49" charset="-122"/>
              <a:ea typeface="新宋体" panose="02010609030101010101" pitchFamily="49" charset="-122"/>
            </a:endParaRPr>
          </a:p>
        </p:txBody>
      </p:sp>
      <p:sp>
        <p:nvSpPr>
          <p:cNvPr id="27651" name="Text Box 1027"/>
          <p:cNvSpPr txBox="1">
            <a:spLocks noChangeArrowheads="1"/>
          </p:cNvSpPr>
          <p:nvPr/>
        </p:nvSpPr>
        <p:spPr bwMode="auto">
          <a:xfrm>
            <a:off x="2425701" y="1247776"/>
            <a:ext cx="7669213" cy="4136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57238" indent="-2730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Clr>
                <a:schemeClr val="tx1"/>
              </a:buClr>
              <a:buSzPct val="75000"/>
              <a:buFont typeface="Wingdings" panose="05000000000000000000" pitchFamily="2" charset="2"/>
              <a:buChar char="l"/>
            </a:pPr>
            <a:r>
              <a:rPr lang="zh-CN" altLang="en-US" smtClean="0">
                <a:solidFill>
                  <a:schemeClr val="tx1"/>
                </a:solidFill>
                <a:latin typeface="Arial" panose="020B0604020202020204" pitchFamily="34" charset="0"/>
              </a:rPr>
              <a:t>几乎</a:t>
            </a:r>
            <a:r>
              <a:rPr lang="zh-CN" altLang="en-US">
                <a:solidFill>
                  <a:schemeClr val="tx1"/>
                </a:solidFill>
                <a:latin typeface="Arial" panose="020B0604020202020204" pitchFamily="34" charset="0"/>
              </a:rPr>
              <a:t>所有的分组交换网络均使用该算法</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路由随着网络结构的改变而改变</a:t>
            </a:r>
          </a:p>
          <a:p>
            <a:pPr lvl="1" eaLnBrk="1" hangingPunct="1">
              <a:lnSpc>
                <a:spcPct val="90000"/>
              </a:lnSpc>
              <a:spcBef>
                <a:spcPct val="20000"/>
              </a:spcBef>
              <a:buClr>
                <a:schemeClr val="tx1"/>
              </a:buClr>
              <a:buSzPct val="75000"/>
              <a:buFontTx/>
              <a:buChar char="–"/>
            </a:pPr>
            <a:r>
              <a:rPr lang="zh-CN" altLang="en-US" sz="2400">
                <a:solidFill>
                  <a:schemeClr val="tx1"/>
                </a:solidFill>
                <a:latin typeface="Arial" panose="020B0604020202020204" pitchFamily="34" charset="0"/>
              </a:rPr>
              <a:t>失效</a:t>
            </a:r>
            <a:r>
              <a:rPr lang="en-US" altLang="zh-CN" sz="2400">
                <a:solidFill>
                  <a:schemeClr val="tx1"/>
                </a:solidFill>
                <a:latin typeface="Arial" panose="020B0604020202020204" pitchFamily="34" charset="0"/>
              </a:rPr>
              <a:t>(Failure)</a:t>
            </a:r>
          </a:p>
          <a:p>
            <a:pPr lvl="1" eaLnBrk="1" hangingPunct="1">
              <a:lnSpc>
                <a:spcPct val="90000"/>
              </a:lnSpc>
              <a:spcBef>
                <a:spcPct val="20000"/>
              </a:spcBef>
              <a:buClr>
                <a:schemeClr val="tx1"/>
              </a:buClr>
              <a:buSzPct val="75000"/>
              <a:buFontTx/>
              <a:buChar char="–"/>
            </a:pPr>
            <a:r>
              <a:rPr lang="zh-CN" altLang="en-US" sz="2400">
                <a:solidFill>
                  <a:schemeClr val="tx1"/>
                </a:solidFill>
                <a:latin typeface="Arial" panose="020B0604020202020204" pitchFamily="34" charset="0"/>
              </a:rPr>
              <a:t>阻塞</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需要了解网络结构信息</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路由的确定更为复杂</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通常需要在路由质量和开销之间进行折衷</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自适应过于敏捷会导致振动</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反应慢一点比较恰当</a:t>
            </a:r>
            <a:endParaRPr lang="zh-CN" altLang="en-US" sz="2400">
              <a:solidFill>
                <a:schemeClr val="tx1"/>
              </a:solidFill>
              <a:latin typeface="Arial" panose="020B0604020202020204" pitchFamily="34" charset="0"/>
            </a:endParaRPr>
          </a:p>
        </p:txBody>
      </p:sp>
    </p:spTree>
  </p:cSld>
  <p:clrMapOvr>
    <a:masterClrMapping/>
  </p:clrMapOvr>
  <p:transition spd="med">
    <p:random/>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26"/>
          <p:cNvSpPr>
            <a:spLocks noGrp="1" noChangeArrowheads="1"/>
          </p:cNvSpPr>
          <p:nvPr>
            <p:ph type="title"/>
          </p:nvPr>
        </p:nvSpPr>
        <p:spPr bwMode="auto">
          <a:xfrm>
            <a:off x="2165350" y="355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自适应路由的优点</a:t>
            </a:r>
          </a:p>
        </p:txBody>
      </p:sp>
      <p:sp>
        <p:nvSpPr>
          <p:cNvPr id="28675" name="Text Box 1027"/>
          <p:cNvSpPr txBox="1">
            <a:spLocks noChangeArrowheads="1"/>
          </p:cNvSpPr>
          <p:nvPr/>
        </p:nvSpPr>
        <p:spPr bwMode="auto">
          <a:xfrm>
            <a:off x="2808288" y="1428750"/>
            <a:ext cx="7110412" cy="117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Char char="l"/>
            </a:pPr>
            <a:r>
              <a:rPr lang="zh-CN" altLang="en-US" sz="3200">
                <a:solidFill>
                  <a:schemeClr val="tx1"/>
                </a:solidFill>
                <a:latin typeface="Arial" panose="020B0604020202020204" pitchFamily="34" charset="0"/>
              </a:rPr>
              <a:t>性能更好</a:t>
            </a:r>
          </a:p>
          <a:p>
            <a:pPr eaLnBrk="1" hangingPunct="1">
              <a:spcBef>
                <a:spcPct val="20000"/>
              </a:spcBef>
              <a:buClr>
                <a:schemeClr val="tx1"/>
              </a:buClr>
              <a:buSzPct val="75000"/>
              <a:buFont typeface="Wingdings" panose="05000000000000000000" pitchFamily="2" charset="2"/>
              <a:buChar char="l"/>
            </a:pPr>
            <a:r>
              <a:rPr lang="zh-CN" altLang="en-US" sz="3200">
                <a:solidFill>
                  <a:schemeClr val="tx1"/>
                </a:solidFill>
                <a:latin typeface="Arial" panose="020B0604020202020204" pitchFamily="34" charset="0"/>
              </a:rPr>
              <a:t>辅助拥塞控制</a:t>
            </a:r>
          </a:p>
        </p:txBody>
      </p:sp>
    </p:spTree>
  </p:cSld>
  <p:clrMapOvr>
    <a:masterClrMapping/>
  </p:clrMapOvr>
  <p:transition spd="med">
    <p:random/>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bwMode="auto">
          <a:xfrm>
            <a:off x="3403601" y="295276"/>
            <a:ext cx="4733925" cy="7223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自适应算法信息来源</a:t>
            </a:r>
          </a:p>
        </p:txBody>
      </p:sp>
      <p:sp>
        <p:nvSpPr>
          <p:cNvPr id="1797123" name="Text Box 1027"/>
          <p:cNvSpPr txBox="1">
            <a:spLocks noChangeArrowheads="1"/>
          </p:cNvSpPr>
          <p:nvPr/>
        </p:nvSpPr>
        <p:spPr bwMode="auto">
          <a:xfrm>
            <a:off x="2436814" y="1606551"/>
            <a:ext cx="7805737" cy="343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57238" indent="-273050">
              <a:defRPr sz="2800">
                <a:solidFill>
                  <a:srgbClr val="CACACA"/>
                </a:solidFill>
                <a:latin typeface="Times New Roman" panose="02020603050405020304" pitchFamily="18" charset="0"/>
                <a:ea typeface="宋体" panose="02010600030101010101" pitchFamily="2" charset="-122"/>
              </a:defRPr>
            </a:lvl2pPr>
            <a:lvl3pPr marL="1147763" indent="-200025">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Char char="l"/>
            </a:pPr>
            <a:r>
              <a:rPr lang="zh-CN" altLang="en-US" sz="3200">
                <a:solidFill>
                  <a:schemeClr val="tx1"/>
                </a:solidFill>
                <a:latin typeface="Arial" panose="020B0604020202020204" pitchFamily="34" charset="0"/>
              </a:rPr>
              <a:t>自适应的信息来源</a:t>
            </a:r>
          </a:p>
          <a:p>
            <a:pPr lvl="1" eaLnBrk="1" hangingPunct="1">
              <a:spcBef>
                <a:spcPct val="20000"/>
              </a:spcBef>
              <a:buClr>
                <a:schemeClr val="tx1"/>
              </a:buClr>
              <a:buSzPct val="75000"/>
              <a:buFontTx/>
              <a:buChar char="–"/>
            </a:pPr>
            <a:r>
              <a:rPr lang="zh-CN" altLang="en-US">
                <a:solidFill>
                  <a:schemeClr val="tx1"/>
                </a:solidFill>
                <a:latin typeface="Arial" panose="020B0604020202020204" pitchFamily="34" charset="0"/>
              </a:rPr>
              <a:t>本地节点</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孤立的</a:t>
            </a:r>
            <a:r>
              <a:rPr lang="en-US" altLang="zh-CN">
                <a:solidFill>
                  <a:schemeClr val="tx1"/>
                </a:solidFill>
                <a:latin typeface="Arial" panose="020B0604020202020204" pitchFamily="34" charset="0"/>
              </a:rPr>
              <a:t>)</a:t>
            </a:r>
          </a:p>
          <a:p>
            <a:pPr lvl="2" eaLnBrk="1" hangingPunct="1">
              <a:spcBef>
                <a:spcPct val="20000"/>
              </a:spcBef>
              <a:buClr>
                <a:schemeClr val="tx1"/>
              </a:buClr>
              <a:buSzPct val="75000"/>
              <a:buFont typeface="Wingdings" panose="05000000000000000000" pitchFamily="2" charset="2"/>
              <a:buChar char="l"/>
            </a:pPr>
            <a:r>
              <a:rPr lang="zh-CN" altLang="en-US" sz="2400">
                <a:solidFill>
                  <a:schemeClr val="tx1"/>
                </a:solidFill>
                <a:latin typeface="Arial" panose="020B0604020202020204" pitchFamily="34" charset="0"/>
              </a:rPr>
              <a:t>路由到最短队列里的输出线（热土豆法）</a:t>
            </a:r>
          </a:p>
          <a:p>
            <a:pPr lvl="2" eaLnBrk="1" hangingPunct="1">
              <a:spcBef>
                <a:spcPct val="20000"/>
              </a:spcBef>
              <a:buClr>
                <a:schemeClr val="tx1"/>
              </a:buClr>
              <a:buSzPct val="75000"/>
              <a:buFont typeface="Wingdings" panose="05000000000000000000" pitchFamily="2" charset="2"/>
              <a:buChar char="l"/>
            </a:pPr>
            <a:r>
              <a:rPr lang="zh-CN" altLang="en-US" sz="2400">
                <a:solidFill>
                  <a:schemeClr val="tx1"/>
                </a:solidFill>
                <a:latin typeface="Arial" panose="020B0604020202020204" pitchFamily="34" charset="0"/>
              </a:rPr>
              <a:t>每个目的节点容许一定的偏离</a:t>
            </a:r>
          </a:p>
          <a:p>
            <a:pPr lvl="2" eaLnBrk="1" hangingPunct="1">
              <a:spcBef>
                <a:spcPct val="20000"/>
              </a:spcBef>
              <a:buClr>
                <a:schemeClr val="tx1"/>
              </a:buClr>
              <a:buSzPct val="75000"/>
              <a:buFont typeface="Wingdings" panose="05000000000000000000" pitchFamily="2" charset="2"/>
              <a:buChar char="l"/>
            </a:pPr>
            <a:r>
              <a:rPr lang="zh-CN" altLang="en-US" sz="2400">
                <a:solidFill>
                  <a:schemeClr val="tx1"/>
                </a:solidFill>
                <a:latin typeface="Arial" panose="020B0604020202020204" pitchFamily="34" charset="0"/>
              </a:rPr>
              <a:t>很少使用</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没有充分利用容易获得的信息</a:t>
            </a:r>
          </a:p>
          <a:p>
            <a:pPr lvl="1" eaLnBrk="1" hangingPunct="1">
              <a:spcBef>
                <a:spcPct val="20000"/>
              </a:spcBef>
              <a:buClr>
                <a:schemeClr val="tx1"/>
              </a:buClr>
              <a:buSzPct val="75000"/>
              <a:buFontTx/>
              <a:buChar char="–"/>
            </a:pPr>
            <a:r>
              <a:rPr lang="zh-CN" altLang="en-US">
                <a:solidFill>
                  <a:schemeClr val="tx1"/>
                </a:solidFill>
                <a:latin typeface="Arial" panose="020B0604020202020204" pitchFamily="34" charset="0"/>
              </a:rPr>
              <a:t>邻接节点</a:t>
            </a:r>
          </a:p>
          <a:p>
            <a:pPr lvl="1" eaLnBrk="1" hangingPunct="1">
              <a:spcBef>
                <a:spcPct val="20000"/>
              </a:spcBef>
              <a:buClr>
                <a:schemeClr val="tx1"/>
              </a:buClr>
              <a:buSzPct val="75000"/>
              <a:buFontTx/>
              <a:buChar char="–"/>
            </a:pPr>
            <a:r>
              <a:rPr lang="zh-CN" altLang="en-US">
                <a:solidFill>
                  <a:schemeClr val="tx1"/>
                </a:solidFill>
                <a:latin typeface="Arial" panose="020B0604020202020204" pitchFamily="34" charset="0"/>
              </a:rPr>
              <a:t>所有的节点</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97123">
                                            <p:txEl>
                                              <p:pRg st="0" end="0"/>
                                            </p:txEl>
                                          </p:spTgt>
                                        </p:tgtEl>
                                        <p:attrNameLst>
                                          <p:attrName>style.visibility</p:attrName>
                                        </p:attrNameLst>
                                      </p:cBhvr>
                                      <p:to>
                                        <p:strVal val="visible"/>
                                      </p:to>
                                    </p:set>
                                    <p:anim calcmode="lin" valueType="num">
                                      <p:cBhvr additive="base">
                                        <p:cTn id="7" dur="500" fill="hold"/>
                                        <p:tgtEl>
                                          <p:spTgt spid="179712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9712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97123">
                                            <p:txEl>
                                              <p:pRg st="1" end="1"/>
                                            </p:txEl>
                                          </p:spTgt>
                                        </p:tgtEl>
                                        <p:attrNameLst>
                                          <p:attrName>style.visibility</p:attrName>
                                        </p:attrNameLst>
                                      </p:cBhvr>
                                      <p:to>
                                        <p:strVal val="visible"/>
                                      </p:to>
                                    </p:set>
                                    <p:anim calcmode="lin" valueType="num">
                                      <p:cBhvr additive="base">
                                        <p:cTn id="11" dur="500" fill="hold"/>
                                        <p:tgtEl>
                                          <p:spTgt spid="1797123">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79712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797123">
                                            <p:txEl>
                                              <p:pRg st="2" end="2"/>
                                            </p:txEl>
                                          </p:spTgt>
                                        </p:tgtEl>
                                        <p:attrNameLst>
                                          <p:attrName>style.visibility</p:attrName>
                                        </p:attrNameLst>
                                      </p:cBhvr>
                                      <p:to>
                                        <p:strVal val="visible"/>
                                      </p:to>
                                    </p:set>
                                    <p:anim calcmode="lin" valueType="num">
                                      <p:cBhvr additive="base">
                                        <p:cTn id="15" dur="500" fill="hold"/>
                                        <p:tgtEl>
                                          <p:spTgt spid="1797123">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79712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797123">
                                            <p:txEl>
                                              <p:pRg st="3" end="3"/>
                                            </p:txEl>
                                          </p:spTgt>
                                        </p:tgtEl>
                                        <p:attrNameLst>
                                          <p:attrName>style.visibility</p:attrName>
                                        </p:attrNameLst>
                                      </p:cBhvr>
                                      <p:to>
                                        <p:strVal val="visible"/>
                                      </p:to>
                                    </p:set>
                                    <p:anim calcmode="lin" valueType="num">
                                      <p:cBhvr additive="base">
                                        <p:cTn id="19" dur="500" fill="hold"/>
                                        <p:tgtEl>
                                          <p:spTgt spid="1797123">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97123">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797123">
                                            <p:txEl>
                                              <p:pRg st="4" end="4"/>
                                            </p:txEl>
                                          </p:spTgt>
                                        </p:tgtEl>
                                        <p:attrNameLst>
                                          <p:attrName>style.visibility</p:attrName>
                                        </p:attrNameLst>
                                      </p:cBhvr>
                                      <p:to>
                                        <p:strVal val="visible"/>
                                      </p:to>
                                    </p:set>
                                    <p:anim calcmode="lin" valueType="num">
                                      <p:cBhvr additive="base">
                                        <p:cTn id="23" dur="500" fill="hold"/>
                                        <p:tgtEl>
                                          <p:spTgt spid="1797123">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797123">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797123">
                                            <p:txEl>
                                              <p:pRg st="5" end="5"/>
                                            </p:txEl>
                                          </p:spTgt>
                                        </p:tgtEl>
                                        <p:attrNameLst>
                                          <p:attrName>style.visibility</p:attrName>
                                        </p:attrNameLst>
                                      </p:cBhvr>
                                      <p:to>
                                        <p:strVal val="visible"/>
                                      </p:to>
                                    </p:set>
                                    <p:anim calcmode="lin" valueType="num">
                                      <p:cBhvr additive="base">
                                        <p:cTn id="27" dur="500" fill="hold"/>
                                        <p:tgtEl>
                                          <p:spTgt spid="1797123">
                                            <p:txEl>
                                              <p:pRg st="5" end="5"/>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797123">
                                            <p:txEl>
                                              <p:pRg st="5" end="5"/>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797123">
                                            <p:txEl>
                                              <p:pRg st="6" end="6"/>
                                            </p:txEl>
                                          </p:spTgt>
                                        </p:tgtEl>
                                        <p:attrNameLst>
                                          <p:attrName>style.visibility</p:attrName>
                                        </p:attrNameLst>
                                      </p:cBhvr>
                                      <p:to>
                                        <p:strVal val="visible"/>
                                      </p:to>
                                    </p:set>
                                    <p:anim calcmode="lin" valueType="num">
                                      <p:cBhvr additive="base">
                                        <p:cTn id="31" dur="500" fill="hold"/>
                                        <p:tgtEl>
                                          <p:spTgt spid="1797123">
                                            <p:txEl>
                                              <p:pRg st="6" end="6"/>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79712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7123" grpId="0" build="p" autoUpdateAnimBg="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99170" name="Group 2"/>
          <p:cNvGrpSpPr>
            <a:grpSpLocks/>
          </p:cNvGrpSpPr>
          <p:nvPr/>
        </p:nvGrpSpPr>
        <p:grpSpPr bwMode="auto">
          <a:xfrm>
            <a:off x="2239963" y="3663950"/>
            <a:ext cx="1928812" cy="1555750"/>
            <a:chOff x="436" y="2417"/>
            <a:chExt cx="1215" cy="980"/>
          </a:xfrm>
        </p:grpSpPr>
        <p:sp>
          <p:nvSpPr>
            <p:cNvPr id="1799171" name="Text Box 3"/>
            <p:cNvSpPr txBox="1">
              <a:spLocks noChangeArrowheads="1"/>
            </p:cNvSpPr>
            <p:nvPr/>
          </p:nvSpPr>
          <p:spPr bwMode="auto">
            <a:xfrm>
              <a:off x="436" y="2417"/>
              <a:ext cx="1203" cy="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9600">
                  <a:solidFill>
                    <a:schemeClr val="hlink"/>
                  </a:solidFill>
                </a:rPr>
                <a:t>?</a:t>
              </a:r>
              <a:endParaRPr lang="en-US" altLang="zh-CN" sz="2400">
                <a:solidFill>
                  <a:schemeClr val="hlink"/>
                </a:solidFill>
              </a:endParaRPr>
            </a:p>
          </p:txBody>
        </p:sp>
        <p:sp>
          <p:nvSpPr>
            <p:cNvPr id="1799172" name="Text Box 4"/>
            <p:cNvSpPr txBox="1">
              <a:spLocks noChangeArrowheads="1"/>
            </p:cNvSpPr>
            <p:nvPr/>
          </p:nvSpPr>
          <p:spPr bwMode="auto">
            <a:xfrm>
              <a:off x="608" y="2588"/>
              <a:ext cx="1043" cy="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a:latin typeface="Comic Sans MS" panose="030F0702030302020204" pitchFamily="66" charset="0"/>
                </a:rPr>
                <a:t>virtual circuit</a:t>
              </a:r>
            </a:p>
            <a:p>
              <a:pPr algn="ctr"/>
              <a:r>
                <a:rPr lang="en-US" altLang="zh-CN">
                  <a:latin typeface="Comic Sans MS" panose="030F0702030302020204" pitchFamily="66" charset="0"/>
                </a:rPr>
                <a:t>or </a:t>
              </a:r>
            </a:p>
            <a:p>
              <a:pPr algn="ctr"/>
              <a:r>
                <a:rPr lang="en-US" altLang="zh-CN">
                  <a:latin typeface="Comic Sans MS" panose="030F0702030302020204" pitchFamily="66" charset="0"/>
                </a:rPr>
                <a:t>datagram?</a:t>
              </a:r>
              <a:endParaRPr lang="en-US" altLang="zh-CN"/>
            </a:p>
          </p:txBody>
        </p:sp>
      </p:grpSp>
      <p:sp>
        <p:nvSpPr>
          <p:cNvPr id="1799173" name="Text Box 5"/>
          <p:cNvSpPr txBox="1">
            <a:spLocks noChangeArrowheads="1"/>
          </p:cNvSpPr>
          <p:nvPr/>
        </p:nvSpPr>
        <p:spPr bwMode="auto">
          <a:xfrm>
            <a:off x="1844676" y="2738439"/>
            <a:ext cx="3457575"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400">
                <a:solidFill>
                  <a:srgbClr val="FF0000"/>
                </a:solidFill>
                <a:latin typeface="Comic Sans MS" panose="030F0702030302020204" pitchFamily="66" charset="0"/>
              </a:rPr>
              <a:t>根据 </a:t>
            </a:r>
            <a:r>
              <a:rPr lang="en-US" altLang="zh-CN" sz="2400">
                <a:latin typeface="Comic Sans MS" panose="030F0702030302020204" pitchFamily="66" charset="0"/>
              </a:rPr>
              <a:t>OSI/RM</a:t>
            </a:r>
            <a:r>
              <a:rPr lang="zh-CN" altLang="en-US" sz="2400">
                <a:latin typeface="Comic Sans MS" panose="030F0702030302020204" pitchFamily="66" charset="0"/>
              </a:rPr>
              <a:t>，网络层提供向上提供两种服务</a:t>
            </a:r>
            <a:endParaRPr lang="zh-CN" altLang="en-US" sz="2400"/>
          </a:p>
        </p:txBody>
      </p:sp>
      <p:sp>
        <p:nvSpPr>
          <p:cNvPr id="1799174" name="Rectangle 6"/>
          <p:cNvSpPr>
            <a:spLocks noGrp="1" noChangeArrowheads="1"/>
          </p:cNvSpPr>
          <p:nvPr>
            <p:ph type="title"/>
          </p:nvPr>
        </p:nvSpPr>
        <p:spPr bwMode="auto">
          <a:xfrm>
            <a:off x="3865563" y="487364"/>
            <a:ext cx="3992562" cy="623887"/>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fontScale="90000"/>
          </a:bodyPr>
          <a:lstStyle/>
          <a:p>
            <a:r>
              <a:rPr lang="zh-CN" altLang="en-US" sz="4000">
                <a:ea typeface="华文新魏" panose="02010800040101010101" pitchFamily="2" charset="-122"/>
              </a:rPr>
              <a:t>网络层服务</a:t>
            </a:r>
          </a:p>
        </p:txBody>
      </p:sp>
      <p:pic>
        <p:nvPicPr>
          <p:cNvPr id="1799175" name="Picture 7"/>
          <p:cNvPicPr>
            <a:picLocks noChangeAspect="1" noChangeArrowheads="1"/>
          </p:cNvPicPr>
          <p:nvPr/>
        </p:nvPicPr>
        <p:blipFill>
          <a:blip r:embed="rId3">
            <a:extLst>
              <a:ext uri="{28A0092B-C50C-407E-A947-70E740481C1C}">
                <a14:useLocalDpi xmlns:a14="http://schemas.microsoft.com/office/drawing/2010/main" val="0"/>
              </a:ext>
            </a:extLst>
          </a:blip>
          <a:srcRect b="6921"/>
          <a:stretch>
            <a:fillRect/>
          </a:stretch>
        </p:blipFill>
        <p:spPr bwMode="auto">
          <a:xfrm>
            <a:off x="5122863" y="1277939"/>
            <a:ext cx="5345112" cy="530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99176" name="Text Box 8"/>
          <p:cNvSpPr txBox="1">
            <a:spLocks noChangeArrowheads="1"/>
          </p:cNvSpPr>
          <p:nvPr/>
        </p:nvSpPr>
        <p:spPr bwMode="auto">
          <a:xfrm>
            <a:off x="2239963" y="5635626"/>
            <a:ext cx="22987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latin typeface="新宋体" panose="02010609030101010101" pitchFamily="49" charset="-122"/>
                <a:ea typeface="新宋体" panose="02010609030101010101" pitchFamily="49" charset="-122"/>
              </a:rPr>
              <a:t>Internet</a:t>
            </a:r>
            <a:r>
              <a:rPr lang="zh-CN" altLang="en-US" sz="2400">
                <a:latin typeface="新宋体" panose="02010609030101010101" pitchFamily="49" charset="-122"/>
                <a:ea typeface="新宋体" panose="02010609030101010101" pitchFamily="49" charset="-122"/>
              </a:rPr>
              <a:t>只提供数据报服务</a:t>
            </a:r>
            <a:r>
              <a:rPr lang="zh-CN" altLang="en-US"/>
              <a:t> </a:t>
            </a:r>
          </a:p>
        </p:txBody>
      </p:sp>
    </p:spTree>
    <p:extLst>
      <p:ext uri="{BB962C8B-B14F-4D97-AF65-F5344CB8AC3E}">
        <p14:creationId xmlns:p14="http://schemas.microsoft.com/office/powerpoint/2010/main" val="237243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99173">
                                            <p:txEl>
                                              <p:pRg st="0" end="0"/>
                                            </p:txEl>
                                          </p:spTgt>
                                        </p:tgtEl>
                                        <p:attrNameLst>
                                          <p:attrName>style.visibility</p:attrName>
                                        </p:attrNameLst>
                                      </p:cBhvr>
                                      <p:to>
                                        <p:strVal val="visible"/>
                                      </p:to>
                                    </p:set>
                                    <p:anim calcmode="lin" valueType="num">
                                      <p:cBhvr additive="base">
                                        <p:cTn id="7" dur="500" fill="hold"/>
                                        <p:tgtEl>
                                          <p:spTgt spid="179917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9917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799170"/>
                                        </p:tgtEl>
                                        <p:attrNameLst>
                                          <p:attrName>style.visibility</p:attrName>
                                        </p:attrNameLst>
                                      </p:cBhvr>
                                      <p:to>
                                        <p:strVal val="visible"/>
                                      </p:to>
                                    </p:set>
                                    <p:anim calcmode="lin" valueType="num">
                                      <p:cBhvr additive="base">
                                        <p:cTn id="13" dur="500" fill="hold"/>
                                        <p:tgtEl>
                                          <p:spTgt spid="1799170"/>
                                        </p:tgtEl>
                                        <p:attrNameLst>
                                          <p:attrName>ppt_x</p:attrName>
                                        </p:attrNameLst>
                                      </p:cBhvr>
                                      <p:tavLst>
                                        <p:tav tm="0">
                                          <p:val>
                                            <p:strVal val="1+#ppt_w/2"/>
                                          </p:val>
                                        </p:tav>
                                        <p:tav tm="100000">
                                          <p:val>
                                            <p:strVal val="#ppt_x"/>
                                          </p:val>
                                        </p:tav>
                                      </p:tavLst>
                                    </p:anim>
                                    <p:anim calcmode="lin" valueType="num">
                                      <p:cBhvr additive="base">
                                        <p:cTn id="14" dur="500" fill="hold"/>
                                        <p:tgtEl>
                                          <p:spTgt spid="179917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rbrak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799175"/>
                                        </p:tgtEl>
                                        <p:attrNameLst>
                                          <p:attrName>style.visibility</p:attrName>
                                        </p:attrNameLst>
                                      </p:cBhvr>
                                      <p:to>
                                        <p:strVal val="visible"/>
                                      </p:to>
                                    </p:set>
                                    <p:anim calcmode="lin" valueType="num">
                                      <p:cBhvr additive="base">
                                        <p:cTn id="19" dur="500" fill="hold"/>
                                        <p:tgtEl>
                                          <p:spTgt spid="1799175"/>
                                        </p:tgtEl>
                                        <p:attrNameLst>
                                          <p:attrName>ppt_x</p:attrName>
                                        </p:attrNameLst>
                                      </p:cBhvr>
                                      <p:tavLst>
                                        <p:tav tm="0">
                                          <p:val>
                                            <p:strVal val="1+#ppt_w/2"/>
                                          </p:val>
                                        </p:tav>
                                        <p:tav tm="100000">
                                          <p:val>
                                            <p:strVal val="#ppt_x"/>
                                          </p:val>
                                        </p:tav>
                                      </p:tavLst>
                                    </p:anim>
                                    <p:anim calcmode="lin" valueType="num">
                                      <p:cBhvr additive="base">
                                        <p:cTn id="20" dur="500" fill="hold"/>
                                        <p:tgtEl>
                                          <p:spTgt spid="179917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rbrake.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799176">
                                            <p:txEl>
                                              <p:pRg st="0" end="0"/>
                                            </p:txEl>
                                          </p:spTgt>
                                        </p:tgtEl>
                                        <p:attrNameLst>
                                          <p:attrName>style.visibility</p:attrName>
                                        </p:attrNameLst>
                                      </p:cBhvr>
                                      <p:to>
                                        <p:strVal val="visible"/>
                                      </p:to>
                                    </p:set>
                                    <p:anim calcmode="lin" valueType="num">
                                      <p:cBhvr additive="base">
                                        <p:cTn id="25" dur="500" fill="hold"/>
                                        <p:tgtEl>
                                          <p:spTgt spid="1799176">
                                            <p:txEl>
                                              <p:pRg st="0" end="0"/>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79917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9173" grpId="0" build="p" autoUpdateAnimBg="0"/>
      <p:bldP spid="1799176" grpId="0" build="p"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4770" name="Rectangle 2"/>
          <p:cNvSpPr>
            <a:spLocks noGrp="1" noChangeArrowheads="1"/>
          </p:cNvSpPr>
          <p:nvPr>
            <p:ph type="title"/>
          </p:nvPr>
        </p:nvSpPr>
        <p:spPr bwMode="auto">
          <a:xfrm>
            <a:off x="4187826" y="461963"/>
            <a:ext cx="4633913"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en-US" altLang="zh-CN" b="1">
                <a:latin typeface="Arial" panose="020B0604020202020204" pitchFamily="34" charset="0"/>
              </a:rPr>
              <a:t>IP </a:t>
            </a:r>
            <a:r>
              <a:rPr lang="zh-CN" altLang="en-US" b="1">
                <a:latin typeface="Arial" panose="020B0604020202020204" pitchFamily="34" charset="0"/>
              </a:rPr>
              <a:t>转发</a:t>
            </a:r>
            <a:endParaRPr lang="zh-CN" altLang="en-US"/>
          </a:p>
        </p:txBody>
      </p:sp>
      <p:pic>
        <p:nvPicPr>
          <p:cNvPr id="182477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3425" y="1347788"/>
            <a:ext cx="7697788" cy="484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93867740"/>
      </p:ext>
    </p:extLst>
  </p:cSld>
  <p:clrMapOvr>
    <a:masterClrMapping/>
  </p:clrMapOvr>
  <p:transition spd="med">
    <p:random/>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6818" name="Rectangle 2050"/>
          <p:cNvSpPr>
            <a:spLocks noGrp="1" noChangeArrowheads="1"/>
          </p:cNvSpPr>
          <p:nvPr>
            <p:ph type="title"/>
          </p:nvPr>
        </p:nvSpPr>
        <p:spPr bwMode="auto">
          <a:xfrm>
            <a:off x="4064000" y="436564"/>
            <a:ext cx="4064000" cy="623887"/>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en-US" altLang="zh-CN" sz="3600" b="1">
                <a:latin typeface="Arial" panose="020B0604020202020204" pitchFamily="34" charset="0"/>
              </a:rPr>
              <a:t>IP </a:t>
            </a:r>
            <a:r>
              <a:rPr lang="zh-CN" altLang="en-US" sz="3600" b="1">
                <a:latin typeface="Arial" panose="020B0604020202020204" pitchFamily="34" charset="0"/>
              </a:rPr>
              <a:t>转发</a:t>
            </a:r>
            <a:endParaRPr lang="zh-CN" altLang="en-US" sz="3600" b="1"/>
          </a:p>
        </p:txBody>
      </p:sp>
      <p:pic>
        <p:nvPicPr>
          <p:cNvPr id="1826819" name="Picture 20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3164" y="1881189"/>
            <a:ext cx="7185025" cy="151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26820" name="Text Box 2052"/>
          <p:cNvSpPr txBox="1">
            <a:spLocks noChangeArrowheads="1"/>
          </p:cNvSpPr>
          <p:nvPr/>
        </p:nvSpPr>
        <p:spPr bwMode="auto">
          <a:xfrm>
            <a:off x="1820864" y="3533776"/>
            <a:ext cx="84026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98425" indent="-98425">
              <a:defRPr kumimoji="1" sz="2400">
                <a:solidFill>
                  <a:schemeClr val="tx1"/>
                </a:solidFill>
                <a:latin typeface="Times New Roman" panose="02020603050405020304" pitchFamily="18" charset="0"/>
                <a:ea typeface="宋体" panose="02010600030101010101" pitchFamily="2" charset="-122"/>
              </a:defRPr>
            </a:lvl1pPr>
            <a:lvl2pPr marL="484188">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2800">
                <a:latin typeface="Arial" panose="020B0604020202020204" pitchFamily="34" charset="0"/>
              </a:rPr>
              <a:t>• </a:t>
            </a:r>
            <a:r>
              <a:rPr kumimoji="0" lang="zh-CN" altLang="en-US" sz="2800">
                <a:latin typeface="Arial" panose="020B0604020202020204" pitchFamily="34" charset="0"/>
              </a:rPr>
              <a:t>报文在到达目的主机前会转发到很多路由器</a:t>
            </a:r>
            <a:endParaRPr kumimoji="0" lang="zh-CN" altLang="en-US" sz="2800"/>
          </a:p>
        </p:txBody>
      </p:sp>
      <p:sp>
        <p:nvSpPr>
          <p:cNvPr id="1826821" name="Text Box 2053"/>
          <p:cNvSpPr txBox="1">
            <a:spLocks noChangeArrowheads="1"/>
          </p:cNvSpPr>
          <p:nvPr/>
        </p:nvSpPr>
        <p:spPr bwMode="auto">
          <a:xfrm>
            <a:off x="1968501" y="4573589"/>
            <a:ext cx="813117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lang="en-US" altLang="zh-CN">
                <a:latin typeface="Arial" panose="020B0604020202020204" pitchFamily="34" charset="0"/>
              </a:rPr>
              <a:t>IP </a:t>
            </a:r>
            <a:r>
              <a:rPr lang="zh-CN" altLang="en-US">
                <a:latin typeface="Arial" panose="020B0604020202020204" pitchFamily="34" charset="0"/>
              </a:rPr>
              <a:t>转发是通过逐级跳段的方式实现的</a:t>
            </a:r>
            <a:r>
              <a:rPr lang="en-US" altLang="zh-CN">
                <a:latin typeface="Arial" panose="020B0604020202020204" pitchFamily="34" charset="0"/>
              </a:rPr>
              <a:t>,</a:t>
            </a:r>
            <a:r>
              <a:rPr lang="zh-CN" altLang="en-US">
                <a:latin typeface="Arial" panose="020B0604020202020204" pitchFamily="34" charset="0"/>
              </a:rPr>
              <a:t>没有一个报文知到完整的路由 </a:t>
            </a:r>
            <a:r>
              <a:rPr lang="en-US" altLang="zh-CN">
                <a:latin typeface="Arial" panose="020B0604020202020204" pitchFamily="34" charset="0"/>
              </a:rPr>
              <a:t>. </a:t>
            </a:r>
            <a:r>
              <a:rPr lang="zh-CN" altLang="en-US">
                <a:latin typeface="Arial" panose="020B0604020202020204" pitchFamily="34" charset="0"/>
              </a:rPr>
              <a:t>转发的目的是把报文送到离目的节点尽可能近的节点</a:t>
            </a:r>
            <a:endParaRPr lang="zh-CN" altLang="en-US"/>
          </a:p>
        </p:txBody>
      </p:sp>
    </p:spTree>
    <p:extLst>
      <p:ext uri="{BB962C8B-B14F-4D97-AF65-F5344CB8AC3E}">
        <p14:creationId xmlns:p14="http://schemas.microsoft.com/office/powerpoint/2010/main" val="631378452"/>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26820">
                                            <p:txEl>
                                              <p:pRg st="0" end="0"/>
                                            </p:txEl>
                                          </p:spTgt>
                                        </p:tgtEl>
                                        <p:attrNameLst>
                                          <p:attrName>style.visibility</p:attrName>
                                        </p:attrNameLst>
                                      </p:cBhvr>
                                      <p:to>
                                        <p:strVal val="visible"/>
                                      </p:to>
                                    </p:set>
                                    <p:anim calcmode="lin" valueType="num">
                                      <p:cBhvr additive="base">
                                        <p:cTn id="7" dur="500" fill="hold"/>
                                        <p:tgtEl>
                                          <p:spTgt spid="182682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2682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826819"/>
                                        </p:tgtEl>
                                        <p:attrNameLst>
                                          <p:attrName>style.visibility</p:attrName>
                                        </p:attrNameLst>
                                      </p:cBhvr>
                                      <p:to>
                                        <p:strVal val="visible"/>
                                      </p:to>
                                    </p:set>
                                    <p:anim calcmode="lin" valueType="num">
                                      <p:cBhvr additive="base">
                                        <p:cTn id="13" dur="500" fill="hold"/>
                                        <p:tgtEl>
                                          <p:spTgt spid="1826819"/>
                                        </p:tgtEl>
                                        <p:attrNameLst>
                                          <p:attrName>ppt_x</p:attrName>
                                        </p:attrNameLst>
                                      </p:cBhvr>
                                      <p:tavLst>
                                        <p:tav tm="0">
                                          <p:val>
                                            <p:strVal val="1+#ppt_w/2"/>
                                          </p:val>
                                        </p:tav>
                                        <p:tav tm="100000">
                                          <p:val>
                                            <p:strVal val="#ppt_x"/>
                                          </p:val>
                                        </p:tav>
                                      </p:tavLst>
                                    </p:anim>
                                    <p:anim calcmode="lin" valueType="num">
                                      <p:cBhvr additive="base">
                                        <p:cTn id="14" dur="500" fill="hold"/>
                                        <p:tgtEl>
                                          <p:spTgt spid="182681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rbrak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26821">
                                            <p:txEl>
                                              <p:pRg st="0" end="0"/>
                                            </p:txEl>
                                          </p:spTgt>
                                        </p:tgtEl>
                                        <p:attrNameLst>
                                          <p:attrName>style.visibility</p:attrName>
                                        </p:attrNameLst>
                                      </p:cBhvr>
                                      <p:to>
                                        <p:strVal val="visible"/>
                                      </p:to>
                                    </p:set>
                                    <p:anim calcmode="lin" valueType="num">
                                      <p:cBhvr additive="base">
                                        <p:cTn id="19" dur="500" fill="hold"/>
                                        <p:tgtEl>
                                          <p:spTgt spid="1826821">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2682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6820" grpId="0" build="p" autoUpdateAnimBg="0"/>
      <p:bldP spid="1826821" grpId="0" build="p"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5363" name="Rectangle 3"/>
          <p:cNvSpPr>
            <a:spLocks noChangeArrowheads="1"/>
          </p:cNvSpPr>
          <p:nvPr/>
        </p:nvSpPr>
        <p:spPr bwMode="auto">
          <a:xfrm>
            <a:off x="4113213" y="1712913"/>
            <a:ext cx="3581400" cy="3657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5364" name="Line 4"/>
          <p:cNvSpPr>
            <a:spLocks noChangeShapeType="1"/>
          </p:cNvSpPr>
          <p:nvPr/>
        </p:nvSpPr>
        <p:spPr bwMode="auto">
          <a:xfrm>
            <a:off x="4265613" y="2855913"/>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5365" name="Line 5"/>
          <p:cNvSpPr>
            <a:spLocks noChangeShapeType="1"/>
          </p:cNvSpPr>
          <p:nvPr/>
        </p:nvSpPr>
        <p:spPr bwMode="auto">
          <a:xfrm>
            <a:off x="5408613" y="2855913"/>
            <a:ext cx="0" cy="3810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5366" name="Line 6"/>
          <p:cNvSpPr>
            <a:spLocks noChangeShapeType="1"/>
          </p:cNvSpPr>
          <p:nvPr/>
        </p:nvSpPr>
        <p:spPr bwMode="auto">
          <a:xfrm flipH="1">
            <a:off x="4265613" y="3236913"/>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5367" name="Line 7"/>
          <p:cNvSpPr>
            <a:spLocks noChangeShapeType="1"/>
          </p:cNvSpPr>
          <p:nvPr/>
        </p:nvSpPr>
        <p:spPr bwMode="auto">
          <a:xfrm>
            <a:off x="4265613" y="3770313"/>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5368" name="Line 8"/>
          <p:cNvSpPr>
            <a:spLocks noChangeShapeType="1"/>
          </p:cNvSpPr>
          <p:nvPr/>
        </p:nvSpPr>
        <p:spPr bwMode="auto">
          <a:xfrm>
            <a:off x="5408613" y="3770313"/>
            <a:ext cx="0" cy="3810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5369" name="Line 9"/>
          <p:cNvSpPr>
            <a:spLocks noChangeShapeType="1"/>
          </p:cNvSpPr>
          <p:nvPr/>
        </p:nvSpPr>
        <p:spPr bwMode="auto">
          <a:xfrm flipH="1">
            <a:off x="4265613" y="4151313"/>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5370" name="Line 10"/>
          <p:cNvSpPr>
            <a:spLocks noChangeShapeType="1"/>
          </p:cNvSpPr>
          <p:nvPr/>
        </p:nvSpPr>
        <p:spPr bwMode="auto">
          <a:xfrm>
            <a:off x="4265613" y="4684713"/>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5371" name="Line 11"/>
          <p:cNvSpPr>
            <a:spLocks noChangeShapeType="1"/>
          </p:cNvSpPr>
          <p:nvPr/>
        </p:nvSpPr>
        <p:spPr bwMode="auto">
          <a:xfrm>
            <a:off x="5408613" y="4684713"/>
            <a:ext cx="0" cy="3810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5372" name="Line 12"/>
          <p:cNvSpPr>
            <a:spLocks noChangeShapeType="1"/>
          </p:cNvSpPr>
          <p:nvPr/>
        </p:nvSpPr>
        <p:spPr bwMode="auto">
          <a:xfrm flipH="1">
            <a:off x="4265613" y="5065713"/>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5373" name="Line 13"/>
          <p:cNvSpPr>
            <a:spLocks noChangeShapeType="1"/>
          </p:cNvSpPr>
          <p:nvPr/>
        </p:nvSpPr>
        <p:spPr bwMode="auto">
          <a:xfrm>
            <a:off x="6323013" y="2855913"/>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5374" name="Line 14"/>
          <p:cNvSpPr>
            <a:spLocks noChangeShapeType="1"/>
          </p:cNvSpPr>
          <p:nvPr/>
        </p:nvSpPr>
        <p:spPr bwMode="auto">
          <a:xfrm>
            <a:off x="7466013" y="2855913"/>
            <a:ext cx="0" cy="3810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5375" name="Line 15"/>
          <p:cNvSpPr>
            <a:spLocks noChangeShapeType="1"/>
          </p:cNvSpPr>
          <p:nvPr/>
        </p:nvSpPr>
        <p:spPr bwMode="auto">
          <a:xfrm flipH="1">
            <a:off x="6323013" y="3236913"/>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5376" name="Line 16"/>
          <p:cNvSpPr>
            <a:spLocks noChangeShapeType="1"/>
          </p:cNvSpPr>
          <p:nvPr/>
        </p:nvSpPr>
        <p:spPr bwMode="auto">
          <a:xfrm>
            <a:off x="6323013" y="3770313"/>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5377" name="Line 17"/>
          <p:cNvSpPr>
            <a:spLocks noChangeShapeType="1"/>
          </p:cNvSpPr>
          <p:nvPr/>
        </p:nvSpPr>
        <p:spPr bwMode="auto">
          <a:xfrm>
            <a:off x="7466013" y="3770313"/>
            <a:ext cx="0" cy="3810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5378" name="Line 18"/>
          <p:cNvSpPr>
            <a:spLocks noChangeShapeType="1"/>
          </p:cNvSpPr>
          <p:nvPr/>
        </p:nvSpPr>
        <p:spPr bwMode="auto">
          <a:xfrm flipH="1">
            <a:off x="6323013" y="4151313"/>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5379" name="Line 19"/>
          <p:cNvSpPr>
            <a:spLocks noChangeShapeType="1"/>
          </p:cNvSpPr>
          <p:nvPr/>
        </p:nvSpPr>
        <p:spPr bwMode="auto">
          <a:xfrm>
            <a:off x="6323013" y="4684713"/>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5380" name="Line 20"/>
          <p:cNvSpPr>
            <a:spLocks noChangeShapeType="1"/>
          </p:cNvSpPr>
          <p:nvPr/>
        </p:nvSpPr>
        <p:spPr bwMode="auto">
          <a:xfrm>
            <a:off x="7466013" y="4684713"/>
            <a:ext cx="0" cy="3810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5381" name="Line 21"/>
          <p:cNvSpPr>
            <a:spLocks noChangeShapeType="1"/>
          </p:cNvSpPr>
          <p:nvPr/>
        </p:nvSpPr>
        <p:spPr bwMode="auto">
          <a:xfrm flipH="1">
            <a:off x="6323013" y="5065713"/>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5382" name="Text Box 22"/>
          <p:cNvSpPr txBox="1">
            <a:spLocks noChangeArrowheads="1"/>
          </p:cNvSpPr>
          <p:nvPr/>
        </p:nvSpPr>
        <p:spPr bwMode="auto">
          <a:xfrm>
            <a:off x="2497139" y="3651251"/>
            <a:ext cx="91416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400">
                <a:latin typeface="Tahoma" panose="020B0604030504040204" pitchFamily="34" charset="0"/>
              </a:rPr>
              <a:t>Input</a:t>
            </a:r>
          </a:p>
          <a:p>
            <a:pPr eaLnBrk="1" hangingPunct="1"/>
            <a:r>
              <a:rPr lang="en-US" altLang="zh-CN" sz="2400">
                <a:latin typeface="Tahoma" panose="020B0604030504040204" pitchFamily="34" charset="0"/>
              </a:rPr>
              <a:t>Links</a:t>
            </a:r>
          </a:p>
        </p:txBody>
      </p:sp>
      <p:sp>
        <p:nvSpPr>
          <p:cNvPr id="1295383" name="Text Box 23"/>
          <p:cNvSpPr txBox="1">
            <a:spLocks noChangeArrowheads="1"/>
          </p:cNvSpPr>
          <p:nvPr/>
        </p:nvSpPr>
        <p:spPr bwMode="auto">
          <a:xfrm>
            <a:off x="8288338" y="3422651"/>
            <a:ext cx="112082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400">
                <a:latin typeface="Tahoma" panose="020B0604030504040204" pitchFamily="34" charset="0"/>
              </a:rPr>
              <a:t>Output</a:t>
            </a:r>
          </a:p>
          <a:p>
            <a:pPr eaLnBrk="1" hangingPunct="1"/>
            <a:r>
              <a:rPr lang="en-US" altLang="zh-CN" sz="2400">
                <a:latin typeface="Tahoma" panose="020B0604030504040204" pitchFamily="34" charset="0"/>
              </a:rPr>
              <a:t>Links</a:t>
            </a:r>
          </a:p>
        </p:txBody>
      </p:sp>
      <p:sp>
        <p:nvSpPr>
          <p:cNvPr id="1295384" name="Rectangle 24"/>
          <p:cNvSpPr>
            <a:spLocks noChangeArrowheads="1"/>
          </p:cNvSpPr>
          <p:nvPr/>
        </p:nvSpPr>
        <p:spPr bwMode="auto">
          <a:xfrm>
            <a:off x="4341813" y="1865313"/>
            <a:ext cx="2971800" cy="762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2400">
                <a:solidFill>
                  <a:schemeClr val="bg1"/>
                </a:solidFill>
                <a:latin typeface="Tahoma" panose="020B0604030504040204" pitchFamily="34" charset="0"/>
              </a:rPr>
              <a:t>Forwarding Table</a:t>
            </a:r>
          </a:p>
        </p:txBody>
      </p:sp>
      <p:sp>
        <p:nvSpPr>
          <p:cNvPr id="1295385" name="Line 25"/>
          <p:cNvSpPr>
            <a:spLocks noChangeShapeType="1"/>
          </p:cNvSpPr>
          <p:nvPr/>
        </p:nvSpPr>
        <p:spPr bwMode="auto">
          <a:xfrm>
            <a:off x="4570413" y="1865313"/>
            <a:ext cx="0" cy="7620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5386" name="Line 26"/>
          <p:cNvSpPr>
            <a:spLocks noChangeShapeType="1"/>
          </p:cNvSpPr>
          <p:nvPr/>
        </p:nvSpPr>
        <p:spPr bwMode="auto">
          <a:xfrm>
            <a:off x="4341813" y="2017713"/>
            <a:ext cx="2971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5387" name="Rectangle 27"/>
          <p:cNvSpPr>
            <a:spLocks noChangeArrowheads="1"/>
          </p:cNvSpPr>
          <p:nvPr/>
        </p:nvSpPr>
        <p:spPr bwMode="auto">
          <a:xfrm>
            <a:off x="3427413" y="3008313"/>
            <a:ext cx="685800" cy="76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5388" name="Rectangle 28"/>
          <p:cNvSpPr>
            <a:spLocks noChangeArrowheads="1"/>
          </p:cNvSpPr>
          <p:nvPr/>
        </p:nvSpPr>
        <p:spPr bwMode="auto">
          <a:xfrm>
            <a:off x="3427413" y="4837113"/>
            <a:ext cx="685800" cy="76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5389" name="Rectangle 29"/>
          <p:cNvSpPr>
            <a:spLocks noChangeArrowheads="1"/>
          </p:cNvSpPr>
          <p:nvPr/>
        </p:nvSpPr>
        <p:spPr bwMode="auto">
          <a:xfrm>
            <a:off x="3427413" y="3922713"/>
            <a:ext cx="685800" cy="76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5390" name="Rectangle 30"/>
          <p:cNvSpPr>
            <a:spLocks noChangeArrowheads="1"/>
          </p:cNvSpPr>
          <p:nvPr/>
        </p:nvSpPr>
        <p:spPr bwMode="auto">
          <a:xfrm>
            <a:off x="7694613" y="3922713"/>
            <a:ext cx="685800" cy="76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5391" name="Rectangle 31"/>
          <p:cNvSpPr>
            <a:spLocks noChangeArrowheads="1"/>
          </p:cNvSpPr>
          <p:nvPr/>
        </p:nvSpPr>
        <p:spPr bwMode="auto">
          <a:xfrm>
            <a:off x="7694613" y="3008313"/>
            <a:ext cx="685800" cy="76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5392" name="Rectangle 32"/>
          <p:cNvSpPr>
            <a:spLocks noChangeArrowheads="1"/>
          </p:cNvSpPr>
          <p:nvPr/>
        </p:nvSpPr>
        <p:spPr bwMode="auto">
          <a:xfrm>
            <a:off x="7694613" y="4837113"/>
            <a:ext cx="685800" cy="76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5393" name="AutoShape 33"/>
          <p:cNvSpPr>
            <a:spLocks/>
          </p:cNvSpPr>
          <p:nvPr/>
        </p:nvSpPr>
        <p:spPr bwMode="auto">
          <a:xfrm>
            <a:off x="7923213" y="2779713"/>
            <a:ext cx="304800" cy="2438400"/>
          </a:xfrm>
          <a:prstGeom prst="rightBrace">
            <a:avLst>
              <a:gd name="adj1" fmla="val 66667"/>
              <a:gd name="adj2"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5394" name="AutoShape 34"/>
          <p:cNvSpPr>
            <a:spLocks/>
          </p:cNvSpPr>
          <p:nvPr/>
        </p:nvSpPr>
        <p:spPr bwMode="auto">
          <a:xfrm>
            <a:off x="3579813" y="2779713"/>
            <a:ext cx="304800" cy="2362200"/>
          </a:xfrm>
          <a:prstGeom prst="leftBrace">
            <a:avLst>
              <a:gd name="adj1" fmla="val 64583"/>
              <a:gd name="adj2"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5395" name="Text Box 35"/>
          <p:cNvSpPr txBox="1">
            <a:spLocks noChangeArrowheads="1"/>
          </p:cNvSpPr>
          <p:nvPr/>
        </p:nvSpPr>
        <p:spPr bwMode="auto">
          <a:xfrm>
            <a:off x="4554539" y="5327650"/>
            <a:ext cx="22939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400">
                <a:latin typeface="Tahoma" panose="020B0604030504040204" pitchFamily="34" charset="0"/>
              </a:rPr>
              <a:t>Network Router</a:t>
            </a:r>
          </a:p>
        </p:txBody>
      </p:sp>
      <p:pic>
        <p:nvPicPr>
          <p:cNvPr id="1295396" name="Picture 36" descr="c:\Program Files\Common Files\Microsoft Shared\Clipart\cagcat50\BD04914_.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0614" y="2551113"/>
            <a:ext cx="985837" cy="671512"/>
          </a:xfrm>
          <a:prstGeom prst="rect">
            <a:avLst/>
          </a:prstGeom>
          <a:noFill/>
          <a:extLst>
            <a:ext uri="{909E8E84-426E-40DD-AFC4-6F175D3DCCD1}">
              <a14:hiddenFill xmlns:a14="http://schemas.microsoft.com/office/drawing/2010/main">
                <a:solidFill>
                  <a:srgbClr val="FFFFFF"/>
                </a:solidFill>
              </a14:hiddenFill>
            </a:ext>
          </a:extLst>
        </p:spPr>
      </p:pic>
      <p:sp>
        <p:nvSpPr>
          <p:cNvPr id="1295397" name="Line 37"/>
          <p:cNvSpPr>
            <a:spLocks noChangeShapeType="1"/>
          </p:cNvSpPr>
          <p:nvPr/>
        </p:nvSpPr>
        <p:spPr bwMode="auto">
          <a:xfrm>
            <a:off x="2284413" y="3236913"/>
            <a:ext cx="13716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5398" name="Text Box 38"/>
          <p:cNvSpPr txBox="1">
            <a:spLocks noChangeArrowheads="1"/>
          </p:cNvSpPr>
          <p:nvPr/>
        </p:nvSpPr>
        <p:spPr bwMode="auto">
          <a:xfrm>
            <a:off x="2208213" y="2017713"/>
            <a:ext cx="812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400">
                <a:latin typeface="Tahoma" panose="020B0604030504040204" pitchFamily="34" charset="0"/>
              </a:rPr>
              <a:t>Addr</a:t>
            </a:r>
          </a:p>
        </p:txBody>
      </p:sp>
      <p:graphicFrame>
        <p:nvGraphicFramePr>
          <p:cNvPr id="1295399" name="Object 39"/>
          <p:cNvGraphicFramePr>
            <a:graphicFrameLocks noChangeAspect="1"/>
          </p:cNvGraphicFramePr>
          <p:nvPr>
            <p:extLst>
              <p:ext uri="{D42A27DB-BD31-4B8C-83A1-F6EECF244321}">
                <p14:modId xmlns:p14="http://schemas.microsoft.com/office/powerpoint/2010/main" val="2584138628"/>
              </p:ext>
            </p:extLst>
          </p:nvPr>
        </p:nvGraphicFramePr>
        <p:xfrm>
          <a:off x="2894014" y="1560513"/>
          <a:ext cx="1328737" cy="1828800"/>
        </p:xfrm>
        <a:graphic>
          <a:graphicData uri="http://schemas.openxmlformats.org/presentationml/2006/ole">
            <mc:AlternateContent xmlns:mc="http://schemas.openxmlformats.org/markup-compatibility/2006">
              <mc:Choice xmlns:v="urn:schemas-microsoft-com:vml" Requires="v">
                <p:oleObj spid="_x0000_s26705" name="Clip" r:id="rId4" imgW="2309760" imgH="3176280" progId="MS_ClipArt_Gallery.2">
                  <p:embed/>
                </p:oleObj>
              </mc:Choice>
              <mc:Fallback>
                <p:oleObj name="Clip" r:id="rId4" imgW="2309760" imgH="3176280" progId="MS_ClipArt_Gallery.2">
                  <p:embed/>
                  <p:pic>
                    <p:nvPicPr>
                      <p:cNvPr id="1295399" name="Object 3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4014" y="1560513"/>
                        <a:ext cx="1328737" cy="182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95400" name="Text Box 40"/>
          <p:cNvSpPr txBox="1">
            <a:spLocks noChangeArrowheads="1"/>
          </p:cNvSpPr>
          <p:nvPr/>
        </p:nvSpPr>
        <p:spPr bwMode="auto">
          <a:xfrm rot="21232227">
            <a:off x="2887664" y="1820863"/>
            <a:ext cx="10509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3600">
                <a:latin typeface="Tahoma" panose="020B0604030504040204" pitchFamily="34" charset="0"/>
              </a:rPr>
              <a:t>ess?</a:t>
            </a:r>
          </a:p>
        </p:txBody>
      </p:sp>
      <p:sp>
        <p:nvSpPr>
          <p:cNvPr id="1295402" name="Rectangle 42"/>
          <p:cNvSpPr>
            <a:spLocks noGrp="1" noChangeArrowheads="1"/>
          </p:cNvSpPr>
          <p:nvPr>
            <p:ph type="title"/>
          </p:nvPr>
        </p:nvSpPr>
        <p:spPr bwMode="auto">
          <a:xfrm>
            <a:off x="3290889" y="314325"/>
            <a:ext cx="4979987"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zh-CN" altLang="en-US"/>
              <a:t>包转发</a:t>
            </a:r>
          </a:p>
        </p:txBody>
      </p:sp>
    </p:spTree>
    <p:extLst>
      <p:ext uri="{BB962C8B-B14F-4D97-AF65-F5344CB8AC3E}">
        <p14:creationId xmlns:p14="http://schemas.microsoft.com/office/powerpoint/2010/main" val="4404666"/>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6388" name="Rectangle 4"/>
          <p:cNvSpPr>
            <a:spLocks noChangeArrowheads="1"/>
          </p:cNvSpPr>
          <p:nvPr/>
        </p:nvSpPr>
        <p:spPr bwMode="auto">
          <a:xfrm>
            <a:off x="1828800" y="3048000"/>
            <a:ext cx="4114800" cy="30480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400">
              <a:latin typeface="Tahoma" panose="020B0604030504040204" pitchFamily="34" charset="0"/>
            </a:endParaRPr>
          </a:p>
        </p:txBody>
      </p:sp>
      <p:sp>
        <p:nvSpPr>
          <p:cNvPr id="1296389" name="Line 5"/>
          <p:cNvSpPr>
            <a:spLocks noChangeShapeType="1"/>
          </p:cNvSpPr>
          <p:nvPr/>
        </p:nvSpPr>
        <p:spPr bwMode="auto">
          <a:xfrm>
            <a:off x="1828800" y="3657600"/>
            <a:ext cx="4114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390" name="Line 6"/>
          <p:cNvSpPr>
            <a:spLocks noChangeShapeType="1"/>
          </p:cNvSpPr>
          <p:nvPr/>
        </p:nvSpPr>
        <p:spPr bwMode="auto">
          <a:xfrm>
            <a:off x="1828800" y="4267200"/>
            <a:ext cx="4114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391" name="Line 7"/>
          <p:cNvSpPr>
            <a:spLocks noChangeShapeType="1"/>
          </p:cNvSpPr>
          <p:nvPr/>
        </p:nvSpPr>
        <p:spPr bwMode="auto">
          <a:xfrm>
            <a:off x="1828800" y="5486400"/>
            <a:ext cx="4114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392" name="Line 8"/>
          <p:cNvSpPr>
            <a:spLocks noChangeShapeType="1"/>
          </p:cNvSpPr>
          <p:nvPr/>
        </p:nvSpPr>
        <p:spPr bwMode="auto">
          <a:xfrm>
            <a:off x="1828800" y="4876800"/>
            <a:ext cx="4114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393" name="Line 9"/>
          <p:cNvSpPr>
            <a:spLocks noChangeShapeType="1"/>
          </p:cNvSpPr>
          <p:nvPr/>
        </p:nvSpPr>
        <p:spPr bwMode="auto">
          <a:xfrm>
            <a:off x="3657600" y="3048000"/>
            <a:ext cx="0" cy="30480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394" name="Text Box 10"/>
          <p:cNvSpPr txBox="1">
            <a:spLocks noChangeArrowheads="1"/>
          </p:cNvSpPr>
          <p:nvPr/>
        </p:nvSpPr>
        <p:spPr bwMode="auto">
          <a:xfrm>
            <a:off x="1905000" y="3124200"/>
            <a:ext cx="1695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400">
                <a:latin typeface="Tahoma" panose="020B0604030504040204" pitchFamily="34" charset="0"/>
              </a:rPr>
              <a:t>Destination</a:t>
            </a:r>
          </a:p>
        </p:txBody>
      </p:sp>
      <p:sp>
        <p:nvSpPr>
          <p:cNvPr id="1296395" name="Text Box 11"/>
          <p:cNvSpPr txBox="1">
            <a:spLocks noChangeArrowheads="1"/>
          </p:cNvSpPr>
          <p:nvPr/>
        </p:nvSpPr>
        <p:spPr bwMode="auto">
          <a:xfrm>
            <a:off x="3657600" y="3124200"/>
            <a:ext cx="2273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400">
                <a:latin typeface="Tahoma" panose="020B0604030504040204" pitchFamily="34" charset="0"/>
              </a:rPr>
              <a:t>Next hop (port)</a:t>
            </a:r>
          </a:p>
        </p:txBody>
      </p:sp>
      <p:sp>
        <p:nvSpPr>
          <p:cNvPr id="1296396" name="Text Box 12"/>
          <p:cNvSpPr txBox="1">
            <a:spLocks noChangeArrowheads="1"/>
          </p:cNvSpPr>
          <p:nvPr/>
        </p:nvSpPr>
        <p:spPr bwMode="auto">
          <a:xfrm>
            <a:off x="1981200" y="3733800"/>
            <a:ext cx="157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400">
                <a:latin typeface="Tahoma" panose="020B0604030504040204" pitchFamily="34" charset="0"/>
              </a:rPr>
              <a:t>Network X</a:t>
            </a:r>
          </a:p>
        </p:txBody>
      </p:sp>
      <p:sp>
        <p:nvSpPr>
          <p:cNvPr id="1296397" name="Text Box 13"/>
          <p:cNvSpPr txBox="1">
            <a:spLocks noChangeArrowheads="1"/>
          </p:cNvSpPr>
          <p:nvPr/>
        </p:nvSpPr>
        <p:spPr bwMode="auto">
          <a:xfrm>
            <a:off x="1981200" y="4343400"/>
            <a:ext cx="157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400">
                <a:latin typeface="Tahoma" panose="020B0604030504040204" pitchFamily="34" charset="0"/>
              </a:rPr>
              <a:t>Network Y</a:t>
            </a:r>
          </a:p>
        </p:txBody>
      </p:sp>
      <p:sp>
        <p:nvSpPr>
          <p:cNvPr id="1296398" name="Text Box 14"/>
          <p:cNvSpPr txBox="1">
            <a:spLocks noChangeArrowheads="1"/>
          </p:cNvSpPr>
          <p:nvPr/>
        </p:nvSpPr>
        <p:spPr bwMode="auto">
          <a:xfrm>
            <a:off x="1981200" y="4953000"/>
            <a:ext cx="1568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400">
                <a:latin typeface="Tahoma" panose="020B0604030504040204" pitchFamily="34" charset="0"/>
              </a:rPr>
              <a:t>Network Z</a:t>
            </a:r>
          </a:p>
        </p:txBody>
      </p:sp>
      <p:sp>
        <p:nvSpPr>
          <p:cNvPr id="1296399" name="Text Box 15"/>
          <p:cNvSpPr txBox="1">
            <a:spLocks noChangeArrowheads="1"/>
          </p:cNvSpPr>
          <p:nvPr/>
        </p:nvSpPr>
        <p:spPr bwMode="auto">
          <a:xfrm>
            <a:off x="1981200" y="5562600"/>
            <a:ext cx="182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zh-CN" sz="2400">
                <a:latin typeface="Tahoma" panose="020B0604030504040204" pitchFamily="34" charset="0"/>
              </a:rPr>
              <a:t>Network W</a:t>
            </a:r>
          </a:p>
        </p:txBody>
      </p:sp>
      <p:sp>
        <p:nvSpPr>
          <p:cNvPr id="1296400" name="Oval 16"/>
          <p:cNvSpPr>
            <a:spLocks noChangeArrowheads="1"/>
          </p:cNvSpPr>
          <p:nvPr/>
        </p:nvSpPr>
        <p:spPr bwMode="auto">
          <a:xfrm>
            <a:off x="9601200" y="4419600"/>
            <a:ext cx="457200" cy="457200"/>
          </a:xfrm>
          <a:prstGeom prst="ellipse">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000">
              <a:latin typeface="Tahoma" panose="020B0604030504040204" pitchFamily="34" charset="0"/>
            </a:endParaRPr>
          </a:p>
        </p:txBody>
      </p:sp>
      <p:sp>
        <p:nvSpPr>
          <p:cNvPr id="1296401" name="Oval 17"/>
          <p:cNvSpPr>
            <a:spLocks noChangeArrowheads="1"/>
          </p:cNvSpPr>
          <p:nvPr/>
        </p:nvSpPr>
        <p:spPr bwMode="auto">
          <a:xfrm>
            <a:off x="9067800" y="281940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2000">
                <a:latin typeface="Tahoma" panose="020B0604030504040204" pitchFamily="34" charset="0"/>
              </a:rPr>
              <a:t>E</a:t>
            </a:r>
          </a:p>
        </p:txBody>
      </p:sp>
      <p:sp>
        <p:nvSpPr>
          <p:cNvPr id="1296402" name="Oval 18"/>
          <p:cNvSpPr>
            <a:spLocks noChangeArrowheads="1"/>
          </p:cNvSpPr>
          <p:nvPr/>
        </p:nvSpPr>
        <p:spPr bwMode="auto">
          <a:xfrm>
            <a:off x="7543800" y="365760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2000">
                <a:latin typeface="Tahoma" panose="020B0604030504040204" pitchFamily="34" charset="0"/>
              </a:rPr>
              <a:t>C</a:t>
            </a:r>
          </a:p>
        </p:txBody>
      </p:sp>
      <p:sp>
        <p:nvSpPr>
          <p:cNvPr id="1296403" name="Oval 19"/>
          <p:cNvSpPr>
            <a:spLocks noChangeArrowheads="1"/>
          </p:cNvSpPr>
          <p:nvPr/>
        </p:nvSpPr>
        <p:spPr bwMode="auto">
          <a:xfrm>
            <a:off x="8229600" y="533400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2000">
                <a:latin typeface="Tahoma" panose="020B0604030504040204" pitchFamily="34" charset="0"/>
              </a:rPr>
              <a:t>A</a:t>
            </a:r>
          </a:p>
        </p:txBody>
      </p:sp>
      <p:sp>
        <p:nvSpPr>
          <p:cNvPr id="1296404" name="Line 20"/>
          <p:cNvSpPr>
            <a:spLocks noChangeShapeType="1"/>
          </p:cNvSpPr>
          <p:nvPr/>
        </p:nvSpPr>
        <p:spPr bwMode="auto">
          <a:xfrm flipV="1">
            <a:off x="8610600" y="4724400"/>
            <a:ext cx="1066800" cy="7620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405" name="Line 21"/>
          <p:cNvSpPr>
            <a:spLocks noChangeShapeType="1"/>
          </p:cNvSpPr>
          <p:nvPr/>
        </p:nvSpPr>
        <p:spPr bwMode="auto">
          <a:xfrm flipH="1" flipV="1">
            <a:off x="7924800" y="3962400"/>
            <a:ext cx="1752600" cy="609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406" name="Line 22"/>
          <p:cNvSpPr>
            <a:spLocks noChangeShapeType="1"/>
          </p:cNvSpPr>
          <p:nvPr/>
        </p:nvSpPr>
        <p:spPr bwMode="auto">
          <a:xfrm flipH="1" flipV="1">
            <a:off x="9372600" y="3200400"/>
            <a:ext cx="457200" cy="1219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407" name="Line 23"/>
          <p:cNvSpPr>
            <a:spLocks noChangeShapeType="1"/>
          </p:cNvSpPr>
          <p:nvPr/>
        </p:nvSpPr>
        <p:spPr bwMode="auto">
          <a:xfrm>
            <a:off x="7239000" y="6172200"/>
            <a:ext cx="2667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408" name="Line 24"/>
          <p:cNvSpPr>
            <a:spLocks noChangeShapeType="1"/>
          </p:cNvSpPr>
          <p:nvPr/>
        </p:nvSpPr>
        <p:spPr bwMode="auto">
          <a:xfrm>
            <a:off x="6172200" y="5181600"/>
            <a:ext cx="20574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409" name="Line 25"/>
          <p:cNvSpPr>
            <a:spLocks noChangeShapeType="1"/>
          </p:cNvSpPr>
          <p:nvPr/>
        </p:nvSpPr>
        <p:spPr bwMode="auto">
          <a:xfrm>
            <a:off x="8839200" y="2590800"/>
            <a:ext cx="16764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410" name="Oval 26"/>
          <p:cNvSpPr>
            <a:spLocks noChangeArrowheads="1"/>
          </p:cNvSpPr>
          <p:nvPr/>
        </p:nvSpPr>
        <p:spPr bwMode="auto">
          <a:xfrm>
            <a:off x="7162800" y="434340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2000">
                <a:latin typeface="Tahoma" panose="020B0604030504040204" pitchFamily="34" charset="0"/>
              </a:rPr>
              <a:t>B</a:t>
            </a:r>
          </a:p>
        </p:txBody>
      </p:sp>
      <p:sp>
        <p:nvSpPr>
          <p:cNvPr id="1296411" name="Oval 27"/>
          <p:cNvSpPr>
            <a:spLocks noChangeArrowheads="1"/>
          </p:cNvSpPr>
          <p:nvPr/>
        </p:nvSpPr>
        <p:spPr bwMode="auto">
          <a:xfrm>
            <a:off x="8001000" y="281940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2000">
                <a:latin typeface="Tahoma" panose="020B0604030504040204" pitchFamily="34" charset="0"/>
              </a:rPr>
              <a:t>F</a:t>
            </a:r>
          </a:p>
        </p:txBody>
      </p:sp>
      <p:sp>
        <p:nvSpPr>
          <p:cNvPr id="1296412" name="Line 28"/>
          <p:cNvSpPr>
            <a:spLocks noChangeShapeType="1"/>
          </p:cNvSpPr>
          <p:nvPr/>
        </p:nvSpPr>
        <p:spPr bwMode="auto">
          <a:xfrm flipH="1">
            <a:off x="7467600" y="4038600"/>
            <a:ext cx="152400" cy="3048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413" name="Line 29"/>
          <p:cNvSpPr>
            <a:spLocks noChangeShapeType="1"/>
          </p:cNvSpPr>
          <p:nvPr/>
        </p:nvSpPr>
        <p:spPr bwMode="auto">
          <a:xfrm flipV="1">
            <a:off x="7848600" y="3200400"/>
            <a:ext cx="22860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414" name="Line 30"/>
          <p:cNvSpPr>
            <a:spLocks noChangeShapeType="1"/>
          </p:cNvSpPr>
          <p:nvPr/>
        </p:nvSpPr>
        <p:spPr bwMode="auto">
          <a:xfrm>
            <a:off x="7391400" y="4800600"/>
            <a:ext cx="0" cy="3810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415" name="Line 31"/>
          <p:cNvSpPr>
            <a:spLocks noChangeShapeType="1"/>
          </p:cNvSpPr>
          <p:nvPr/>
        </p:nvSpPr>
        <p:spPr bwMode="auto">
          <a:xfrm flipV="1">
            <a:off x="9296400" y="25908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416" name="Line 32"/>
          <p:cNvSpPr>
            <a:spLocks noChangeShapeType="1"/>
          </p:cNvSpPr>
          <p:nvPr/>
        </p:nvSpPr>
        <p:spPr bwMode="auto">
          <a:xfrm flipH="1">
            <a:off x="6172200" y="3276600"/>
            <a:ext cx="16002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417" name="Oval 33"/>
          <p:cNvSpPr>
            <a:spLocks noChangeArrowheads="1"/>
          </p:cNvSpPr>
          <p:nvPr/>
        </p:nvSpPr>
        <p:spPr bwMode="auto">
          <a:xfrm>
            <a:off x="7086600" y="259080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2000">
                <a:latin typeface="Tahoma" panose="020B0604030504040204" pitchFamily="34" charset="0"/>
              </a:rPr>
              <a:t>D</a:t>
            </a:r>
          </a:p>
        </p:txBody>
      </p:sp>
      <p:sp>
        <p:nvSpPr>
          <p:cNvPr id="1296418" name="Line 34"/>
          <p:cNvSpPr>
            <a:spLocks noChangeShapeType="1"/>
          </p:cNvSpPr>
          <p:nvPr/>
        </p:nvSpPr>
        <p:spPr bwMode="auto">
          <a:xfrm flipH="1" flipV="1">
            <a:off x="7543800" y="2895600"/>
            <a:ext cx="457200" cy="76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419" name="Line 35"/>
          <p:cNvSpPr>
            <a:spLocks noChangeShapeType="1"/>
          </p:cNvSpPr>
          <p:nvPr/>
        </p:nvSpPr>
        <p:spPr bwMode="auto">
          <a:xfrm>
            <a:off x="7315200" y="30480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420" name="Line 36"/>
          <p:cNvSpPr>
            <a:spLocks noChangeShapeType="1"/>
          </p:cNvSpPr>
          <p:nvPr/>
        </p:nvSpPr>
        <p:spPr bwMode="auto">
          <a:xfrm flipV="1">
            <a:off x="8229600" y="2286000"/>
            <a:ext cx="76200" cy="5334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421" name="Line 37"/>
          <p:cNvSpPr>
            <a:spLocks noChangeShapeType="1"/>
          </p:cNvSpPr>
          <p:nvPr/>
        </p:nvSpPr>
        <p:spPr bwMode="auto">
          <a:xfrm>
            <a:off x="9982200" y="4724400"/>
            <a:ext cx="38100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422" name="Line 38"/>
          <p:cNvSpPr>
            <a:spLocks noChangeShapeType="1"/>
          </p:cNvSpPr>
          <p:nvPr/>
        </p:nvSpPr>
        <p:spPr bwMode="auto">
          <a:xfrm>
            <a:off x="8458200" y="5791200"/>
            <a:ext cx="0" cy="3810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423" name="Text Box 39"/>
          <p:cNvSpPr txBox="1">
            <a:spLocks noChangeArrowheads="1"/>
          </p:cNvSpPr>
          <p:nvPr/>
        </p:nvSpPr>
        <p:spPr bwMode="auto">
          <a:xfrm>
            <a:off x="9439276" y="2590801"/>
            <a:ext cx="1228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a:latin typeface="Tahoma" panose="020B0604030504040204" pitchFamily="34" charset="0"/>
              </a:rPr>
              <a:t>Network X</a:t>
            </a:r>
          </a:p>
        </p:txBody>
      </p:sp>
      <p:sp>
        <p:nvSpPr>
          <p:cNvPr id="1296424" name="Text Box 40"/>
          <p:cNvSpPr txBox="1">
            <a:spLocks noChangeArrowheads="1"/>
          </p:cNvSpPr>
          <p:nvPr/>
        </p:nvSpPr>
        <p:spPr bwMode="auto">
          <a:xfrm>
            <a:off x="6629400" y="3276601"/>
            <a:ext cx="12271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a:latin typeface="Tahoma" panose="020B0604030504040204" pitchFamily="34" charset="0"/>
              </a:rPr>
              <a:t>Network Y</a:t>
            </a:r>
          </a:p>
        </p:txBody>
      </p:sp>
      <p:sp>
        <p:nvSpPr>
          <p:cNvPr id="1296425" name="Text Box 41"/>
          <p:cNvSpPr txBox="1">
            <a:spLocks noChangeArrowheads="1"/>
          </p:cNvSpPr>
          <p:nvPr/>
        </p:nvSpPr>
        <p:spPr bwMode="auto">
          <a:xfrm>
            <a:off x="6172201" y="4800601"/>
            <a:ext cx="12239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a:latin typeface="Tahoma" panose="020B0604030504040204" pitchFamily="34" charset="0"/>
              </a:rPr>
              <a:t>Network Z</a:t>
            </a:r>
          </a:p>
        </p:txBody>
      </p:sp>
      <p:sp>
        <p:nvSpPr>
          <p:cNvPr id="1296426" name="Text Box 42"/>
          <p:cNvSpPr txBox="1">
            <a:spLocks noChangeArrowheads="1"/>
          </p:cNvSpPr>
          <p:nvPr/>
        </p:nvSpPr>
        <p:spPr bwMode="auto">
          <a:xfrm>
            <a:off x="8534400" y="5791201"/>
            <a:ext cx="1301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a:latin typeface="Tahoma" panose="020B0604030504040204" pitchFamily="34" charset="0"/>
              </a:rPr>
              <a:t>Network W</a:t>
            </a:r>
          </a:p>
        </p:txBody>
      </p:sp>
      <p:sp>
        <p:nvSpPr>
          <p:cNvPr id="1296427" name="Rectangle 43"/>
          <p:cNvSpPr>
            <a:spLocks noChangeArrowheads="1"/>
          </p:cNvSpPr>
          <p:nvPr/>
        </p:nvSpPr>
        <p:spPr bwMode="auto">
          <a:xfrm>
            <a:off x="8991600" y="2057400"/>
            <a:ext cx="4572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6428" name="Rectangle 44"/>
          <p:cNvSpPr>
            <a:spLocks noChangeArrowheads="1"/>
          </p:cNvSpPr>
          <p:nvPr/>
        </p:nvSpPr>
        <p:spPr bwMode="auto">
          <a:xfrm>
            <a:off x="9677400" y="2057400"/>
            <a:ext cx="4572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6429" name="Rectangle 45"/>
          <p:cNvSpPr>
            <a:spLocks noChangeArrowheads="1"/>
          </p:cNvSpPr>
          <p:nvPr/>
        </p:nvSpPr>
        <p:spPr bwMode="auto">
          <a:xfrm>
            <a:off x="6172200" y="3505200"/>
            <a:ext cx="4572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6430" name="Line 46"/>
          <p:cNvSpPr>
            <a:spLocks noChangeShapeType="1"/>
          </p:cNvSpPr>
          <p:nvPr/>
        </p:nvSpPr>
        <p:spPr bwMode="auto">
          <a:xfrm>
            <a:off x="6400800" y="32766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431" name="Line 47"/>
          <p:cNvSpPr>
            <a:spLocks noChangeShapeType="1"/>
          </p:cNvSpPr>
          <p:nvPr/>
        </p:nvSpPr>
        <p:spPr bwMode="auto">
          <a:xfrm>
            <a:off x="9220200" y="23622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432" name="Line 48"/>
          <p:cNvSpPr>
            <a:spLocks noChangeShapeType="1"/>
          </p:cNvSpPr>
          <p:nvPr/>
        </p:nvSpPr>
        <p:spPr bwMode="auto">
          <a:xfrm>
            <a:off x="9906000" y="23622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433" name="Rectangle 49"/>
          <p:cNvSpPr>
            <a:spLocks noChangeArrowheads="1"/>
          </p:cNvSpPr>
          <p:nvPr/>
        </p:nvSpPr>
        <p:spPr bwMode="auto">
          <a:xfrm>
            <a:off x="8839200" y="6400800"/>
            <a:ext cx="4572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6434" name="Rectangle 50"/>
          <p:cNvSpPr>
            <a:spLocks noChangeArrowheads="1"/>
          </p:cNvSpPr>
          <p:nvPr/>
        </p:nvSpPr>
        <p:spPr bwMode="auto">
          <a:xfrm>
            <a:off x="8077200" y="6400800"/>
            <a:ext cx="4572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6435" name="Rectangle 51"/>
          <p:cNvSpPr>
            <a:spLocks noChangeArrowheads="1"/>
          </p:cNvSpPr>
          <p:nvPr/>
        </p:nvSpPr>
        <p:spPr bwMode="auto">
          <a:xfrm>
            <a:off x="7315200" y="6400800"/>
            <a:ext cx="4572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6436" name="Line 52"/>
          <p:cNvSpPr>
            <a:spLocks noChangeShapeType="1"/>
          </p:cNvSpPr>
          <p:nvPr/>
        </p:nvSpPr>
        <p:spPr bwMode="auto">
          <a:xfrm>
            <a:off x="7543800" y="61722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437" name="Line 53"/>
          <p:cNvSpPr>
            <a:spLocks noChangeShapeType="1"/>
          </p:cNvSpPr>
          <p:nvPr/>
        </p:nvSpPr>
        <p:spPr bwMode="auto">
          <a:xfrm>
            <a:off x="8305800" y="61722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438" name="Line 54"/>
          <p:cNvSpPr>
            <a:spLocks noChangeShapeType="1"/>
          </p:cNvSpPr>
          <p:nvPr/>
        </p:nvSpPr>
        <p:spPr bwMode="auto">
          <a:xfrm>
            <a:off x="9067800" y="61722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439" name="Rectangle 55"/>
          <p:cNvSpPr>
            <a:spLocks noChangeArrowheads="1"/>
          </p:cNvSpPr>
          <p:nvPr/>
        </p:nvSpPr>
        <p:spPr bwMode="auto">
          <a:xfrm>
            <a:off x="7010400" y="5410200"/>
            <a:ext cx="4572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6440" name="Rectangle 56"/>
          <p:cNvSpPr>
            <a:spLocks noChangeArrowheads="1"/>
          </p:cNvSpPr>
          <p:nvPr/>
        </p:nvSpPr>
        <p:spPr bwMode="auto">
          <a:xfrm>
            <a:off x="6324600" y="5410200"/>
            <a:ext cx="4572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6441" name="Line 57"/>
          <p:cNvSpPr>
            <a:spLocks noChangeShapeType="1"/>
          </p:cNvSpPr>
          <p:nvPr/>
        </p:nvSpPr>
        <p:spPr bwMode="auto">
          <a:xfrm>
            <a:off x="6553200" y="51816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442" name="Line 58"/>
          <p:cNvSpPr>
            <a:spLocks noChangeShapeType="1"/>
          </p:cNvSpPr>
          <p:nvPr/>
        </p:nvSpPr>
        <p:spPr bwMode="auto">
          <a:xfrm>
            <a:off x="7239000" y="51816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6443" name="Text Box 59"/>
          <p:cNvSpPr txBox="1">
            <a:spLocks noChangeArrowheads="1"/>
          </p:cNvSpPr>
          <p:nvPr/>
        </p:nvSpPr>
        <p:spPr bwMode="auto">
          <a:xfrm>
            <a:off x="4495800" y="3733800"/>
            <a:ext cx="35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400">
                <a:solidFill>
                  <a:schemeClr val="hlink"/>
                </a:solidFill>
                <a:latin typeface="Tahoma" panose="020B0604030504040204" pitchFamily="34" charset="0"/>
              </a:rPr>
              <a:t>E</a:t>
            </a:r>
          </a:p>
        </p:txBody>
      </p:sp>
      <p:sp>
        <p:nvSpPr>
          <p:cNvPr id="1296444" name="Text Box 60"/>
          <p:cNvSpPr txBox="1">
            <a:spLocks noChangeArrowheads="1"/>
          </p:cNvSpPr>
          <p:nvPr/>
        </p:nvSpPr>
        <p:spPr bwMode="auto">
          <a:xfrm>
            <a:off x="4495801" y="4343400"/>
            <a:ext cx="366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400">
                <a:solidFill>
                  <a:schemeClr val="hlink"/>
                </a:solidFill>
                <a:latin typeface="Tahoma" panose="020B0604030504040204" pitchFamily="34" charset="0"/>
              </a:rPr>
              <a:t>C</a:t>
            </a:r>
          </a:p>
        </p:txBody>
      </p:sp>
      <p:sp>
        <p:nvSpPr>
          <p:cNvPr id="1296445" name="Text Box 61"/>
          <p:cNvSpPr txBox="1">
            <a:spLocks noChangeArrowheads="1"/>
          </p:cNvSpPr>
          <p:nvPr/>
        </p:nvSpPr>
        <p:spPr bwMode="auto">
          <a:xfrm>
            <a:off x="4495801" y="4953000"/>
            <a:ext cx="366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400">
                <a:solidFill>
                  <a:schemeClr val="hlink"/>
                </a:solidFill>
                <a:latin typeface="Tahoma" panose="020B0604030504040204" pitchFamily="34" charset="0"/>
              </a:rPr>
              <a:t>C</a:t>
            </a:r>
          </a:p>
        </p:txBody>
      </p:sp>
      <p:sp>
        <p:nvSpPr>
          <p:cNvPr id="1296446" name="Text Box 62"/>
          <p:cNvSpPr txBox="1">
            <a:spLocks noChangeArrowheads="1"/>
          </p:cNvSpPr>
          <p:nvPr/>
        </p:nvSpPr>
        <p:spPr bwMode="auto">
          <a:xfrm>
            <a:off x="4495801" y="5562600"/>
            <a:ext cx="366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400">
                <a:solidFill>
                  <a:schemeClr val="hlink"/>
                </a:solidFill>
                <a:latin typeface="Tahoma" panose="020B0604030504040204" pitchFamily="34" charset="0"/>
              </a:rPr>
              <a:t>A</a:t>
            </a:r>
          </a:p>
        </p:txBody>
      </p:sp>
      <p:sp>
        <p:nvSpPr>
          <p:cNvPr id="1296447" name="Text Box 63"/>
          <p:cNvSpPr txBox="1">
            <a:spLocks noChangeArrowheads="1"/>
          </p:cNvSpPr>
          <p:nvPr/>
        </p:nvSpPr>
        <p:spPr bwMode="auto">
          <a:xfrm>
            <a:off x="3051175" y="1246188"/>
            <a:ext cx="5892800" cy="145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90525" indent="-390525">
              <a:defRPr kumimoji="1" sz="2400">
                <a:solidFill>
                  <a:schemeClr val="tx1"/>
                </a:solidFill>
                <a:latin typeface="Times New Roman" panose="02020603050405020304" pitchFamily="18" charset="0"/>
                <a:ea typeface="宋体" panose="02010600030101010101" pitchFamily="2" charset="-122"/>
              </a:defRPr>
            </a:lvl1pPr>
            <a:lvl2pPr marL="581025">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buClr>
                <a:schemeClr val="folHlink"/>
              </a:buClr>
              <a:buFont typeface="Wingdings" panose="05000000000000000000" pitchFamily="2" charset="2"/>
              <a:buChar char="q"/>
            </a:pPr>
            <a:r>
              <a:rPr lang="zh-CN" altLang="en-US" sz="2800">
                <a:latin typeface="Tahoma" panose="020B0604030504040204" pitchFamily="34" charset="0"/>
              </a:rPr>
              <a:t>基于网络地址 </a:t>
            </a:r>
          </a:p>
          <a:p>
            <a:pPr>
              <a:spcBef>
                <a:spcPct val="20000"/>
              </a:spcBef>
              <a:buClr>
                <a:schemeClr val="folHlink"/>
              </a:buClr>
              <a:buFont typeface="Wingdings" panose="05000000000000000000" pitchFamily="2" charset="2"/>
              <a:buChar char="q"/>
            </a:pPr>
            <a:r>
              <a:rPr lang="zh-CN" altLang="en-US" sz="2800">
                <a:latin typeface="Tahoma" panose="020B0604030504040204" pitchFamily="34" charset="0"/>
              </a:rPr>
              <a:t>路由器找一个匹配的最大前缀来决定下一跳</a:t>
            </a:r>
          </a:p>
        </p:txBody>
      </p:sp>
      <p:sp>
        <p:nvSpPr>
          <p:cNvPr id="1296448" name="Rectangle 64"/>
          <p:cNvSpPr>
            <a:spLocks noGrp="1" noChangeArrowheads="1"/>
          </p:cNvSpPr>
          <p:nvPr>
            <p:ph type="title"/>
          </p:nvPr>
        </p:nvSpPr>
        <p:spPr bwMode="auto">
          <a:xfrm>
            <a:off x="3495675" y="0"/>
            <a:ext cx="6091238"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en-US" altLang="zh-CN"/>
              <a:t>IP </a:t>
            </a:r>
            <a:r>
              <a:rPr lang="zh-CN" altLang="en-US"/>
              <a:t>转发表</a:t>
            </a:r>
          </a:p>
        </p:txBody>
      </p:sp>
    </p:spTree>
    <p:extLst>
      <p:ext uri="{BB962C8B-B14F-4D97-AF65-F5344CB8AC3E}">
        <p14:creationId xmlns:p14="http://schemas.microsoft.com/office/powerpoint/2010/main" val="32238586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96447">
                                            <p:txEl>
                                              <p:pRg st="0" end="0"/>
                                            </p:txEl>
                                          </p:spTgt>
                                        </p:tgtEl>
                                        <p:attrNameLst>
                                          <p:attrName>style.visibility</p:attrName>
                                        </p:attrNameLst>
                                      </p:cBhvr>
                                      <p:to>
                                        <p:strVal val="visible"/>
                                      </p:to>
                                    </p:set>
                                    <p:anim calcmode="lin" valueType="num">
                                      <p:cBhvr additive="base">
                                        <p:cTn id="7" dur="500" fill="hold"/>
                                        <p:tgtEl>
                                          <p:spTgt spid="129644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29644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296447">
                                            <p:txEl>
                                              <p:pRg st="1" end="1"/>
                                            </p:txEl>
                                          </p:spTgt>
                                        </p:tgtEl>
                                        <p:attrNameLst>
                                          <p:attrName>style.visibility</p:attrName>
                                        </p:attrNameLst>
                                      </p:cBhvr>
                                      <p:to>
                                        <p:strVal val="visible"/>
                                      </p:to>
                                    </p:set>
                                    <p:anim calcmode="lin" valueType="num">
                                      <p:cBhvr additive="base">
                                        <p:cTn id="13" dur="500" fill="hold"/>
                                        <p:tgtEl>
                                          <p:spTgt spid="129644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29644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rbrak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296443"/>
                                        </p:tgtEl>
                                        <p:attrNameLst>
                                          <p:attrName>style.visibility</p:attrName>
                                        </p:attrNameLst>
                                      </p:cBhvr>
                                      <p:to>
                                        <p:strVal val="visible"/>
                                      </p:to>
                                    </p:set>
                                    <p:anim calcmode="lin" valueType="num">
                                      <p:cBhvr additive="base">
                                        <p:cTn id="19" dur="500" fill="hold"/>
                                        <p:tgtEl>
                                          <p:spTgt spid="1296443"/>
                                        </p:tgtEl>
                                        <p:attrNameLst>
                                          <p:attrName>ppt_x</p:attrName>
                                        </p:attrNameLst>
                                      </p:cBhvr>
                                      <p:tavLst>
                                        <p:tav tm="0">
                                          <p:val>
                                            <p:strVal val="0-#ppt_w/2"/>
                                          </p:val>
                                        </p:tav>
                                        <p:tav tm="100000">
                                          <p:val>
                                            <p:strVal val="#ppt_x"/>
                                          </p:val>
                                        </p:tav>
                                      </p:tavLst>
                                    </p:anim>
                                    <p:anim calcmode="lin" valueType="num">
                                      <p:cBhvr additive="base">
                                        <p:cTn id="20" dur="500" fill="hold"/>
                                        <p:tgtEl>
                                          <p:spTgt spid="129644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296444"/>
                                        </p:tgtEl>
                                        <p:attrNameLst>
                                          <p:attrName>style.visibility</p:attrName>
                                        </p:attrNameLst>
                                      </p:cBhvr>
                                      <p:to>
                                        <p:strVal val="visible"/>
                                      </p:to>
                                    </p:set>
                                    <p:anim calcmode="lin" valueType="num">
                                      <p:cBhvr additive="base">
                                        <p:cTn id="25" dur="500" fill="hold"/>
                                        <p:tgtEl>
                                          <p:spTgt spid="1296444"/>
                                        </p:tgtEl>
                                        <p:attrNameLst>
                                          <p:attrName>ppt_x</p:attrName>
                                        </p:attrNameLst>
                                      </p:cBhvr>
                                      <p:tavLst>
                                        <p:tav tm="0">
                                          <p:val>
                                            <p:strVal val="0-#ppt_w/2"/>
                                          </p:val>
                                        </p:tav>
                                        <p:tav tm="100000">
                                          <p:val>
                                            <p:strVal val="#ppt_x"/>
                                          </p:val>
                                        </p:tav>
                                      </p:tavLst>
                                    </p:anim>
                                    <p:anim calcmode="lin" valueType="num">
                                      <p:cBhvr additive="base">
                                        <p:cTn id="26" dur="500" fill="hold"/>
                                        <p:tgtEl>
                                          <p:spTgt spid="1296444"/>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296445"/>
                                        </p:tgtEl>
                                        <p:attrNameLst>
                                          <p:attrName>style.visibility</p:attrName>
                                        </p:attrNameLst>
                                      </p:cBhvr>
                                      <p:to>
                                        <p:strVal val="visible"/>
                                      </p:to>
                                    </p:set>
                                    <p:anim calcmode="lin" valueType="num">
                                      <p:cBhvr additive="base">
                                        <p:cTn id="31" dur="500" fill="hold"/>
                                        <p:tgtEl>
                                          <p:spTgt spid="1296445"/>
                                        </p:tgtEl>
                                        <p:attrNameLst>
                                          <p:attrName>ppt_x</p:attrName>
                                        </p:attrNameLst>
                                      </p:cBhvr>
                                      <p:tavLst>
                                        <p:tav tm="0">
                                          <p:val>
                                            <p:strVal val="0-#ppt_w/2"/>
                                          </p:val>
                                        </p:tav>
                                        <p:tav tm="100000">
                                          <p:val>
                                            <p:strVal val="#ppt_x"/>
                                          </p:val>
                                        </p:tav>
                                      </p:tavLst>
                                    </p:anim>
                                    <p:anim calcmode="lin" valueType="num">
                                      <p:cBhvr additive="base">
                                        <p:cTn id="32" dur="500" fill="hold"/>
                                        <p:tgtEl>
                                          <p:spTgt spid="129644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296446"/>
                                        </p:tgtEl>
                                        <p:attrNameLst>
                                          <p:attrName>style.visibility</p:attrName>
                                        </p:attrNameLst>
                                      </p:cBhvr>
                                      <p:to>
                                        <p:strVal val="visible"/>
                                      </p:to>
                                    </p:set>
                                    <p:anim calcmode="lin" valueType="num">
                                      <p:cBhvr additive="base">
                                        <p:cTn id="37" dur="500" fill="hold"/>
                                        <p:tgtEl>
                                          <p:spTgt spid="1296446"/>
                                        </p:tgtEl>
                                        <p:attrNameLst>
                                          <p:attrName>ppt_x</p:attrName>
                                        </p:attrNameLst>
                                      </p:cBhvr>
                                      <p:tavLst>
                                        <p:tav tm="0">
                                          <p:val>
                                            <p:strVal val="0-#ppt_w/2"/>
                                          </p:val>
                                        </p:tav>
                                        <p:tav tm="100000">
                                          <p:val>
                                            <p:strVal val="#ppt_x"/>
                                          </p:val>
                                        </p:tav>
                                      </p:tavLst>
                                    </p:anim>
                                    <p:anim calcmode="lin" valueType="num">
                                      <p:cBhvr additive="base">
                                        <p:cTn id="38" dur="500" fill="hold"/>
                                        <p:tgtEl>
                                          <p:spTgt spid="12964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6443" grpId="0" autoUpdateAnimBg="0"/>
      <p:bldP spid="1296444" grpId="0" autoUpdateAnimBg="0"/>
      <p:bldP spid="1296445" grpId="0" autoUpdateAnimBg="0"/>
      <p:bldP spid="1296446" grpId="0" autoUpdateAnimBg="0"/>
      <p:bldP spid="1296447" grpId="0" build="p" autoUpdateAnimBg="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5794" name="Rectangle 1026"/>
          <p:cNvSpPr>
            <a:spLocks noGrp="1" noChangeArrowheads="1"/>
          </p:cNvSpPr>
          <p:nvPr>
            <p:ph type="title"/>
          </p:nvPr>
        </p:nvSpPr>
        <p:spPr bwMode="auto">
          <a:xfrm>
            <a:off x="4064001" y="338138"/>
            <a:ext cx="4659313"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en-US" altLang="zh-CN" b="1">
                <a:latin typeface="Arial" panose="020B0604020202020204" pitchFamily="34" charset="0"/>
              </a:rPr>
              <a:t>IP </a:t>
            </a:r>
            <a:r>
              <a:rPr lang="zh-CN" altLang="en-US" b="1">
                <a:latin typeface="Arial" panose="020B0604020202020204" pitchFamily="34" charset="0"/>
              </a:rPr>
              <a:t>转发</a:t>
            </a:r>
          </a:p>
        </p:txBody>
      </p:sp>
      <p:sp>
        <p:nvSpPr>
          <p:cNvPr id="1825796" name="Text Box 1028"/>
          <p:cNvSpPr txBox="1">
            <a:spLocks noChangeArrowheads="1"/>
          </p:cNvSpPr>
          <p:nvPr/>
        </p:nvSpPr>
        <p:spPr bwMode="auto">
          <a:xfrm>
            <a:off x="1651000" y="3956051"/>
            <a:ext cx="9144000" cy="1034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lang="en-US" altLang="zh-CN">
                <a:latin typeface="Arial" panose="020B0604020202020204" pitchFamily="34" charset="0"/>
              </a:rPr>
              <a:t>• IP </a:t>
            </a:r>
            <a:r>
              <a:rPr lang="zh-CN" altLang="en-US">
                <a:latin typeface="Arial" panose="020B0604020202020204" pitchFamily="34" charset="0"/>
              </a:rPr>
              <a:t>转发由主机和路由器完成</a:t>
            </a:r>
            <a:r>
              <a:rPr lang="en-US" altLang="zh-CN">
                <a:latin typeface="Arial" panose="020B0604020202020204" pitchFamily="34" charset="0"/>
              </a:rPr>
              <a:t>.</a:t>
            </a:r>
          </a:p>
          <a:p>
            <a:pPr>
              <a:spcBef>
                <a:spcPct val="20000"/>
              </a:spcBef>
            </a:pPr>
            <a:r>
              <a:rPr lang="en-US" altLang="zh-CN">
                <a:latin typeface="Arial" panose="020B0604020202020204" pitchFamily="34" charset="0"/>
              </a:rPr>
              <a:t>• </a:t>
            </a:r>
            <a:r>
              <a:rPr lang="zh-CN" altLang="en-US">
                <a:latin typeface="Arial" panose="020B0604020202020204" pitchFamily="34" charset="0"/>
              </a:rPr>
              <a:t>然而</a:t>
            </a:r>
            <a:r>
              <a:rPr lang="en-US" altLang="zh-CN">
                <a:latin typeface="Arial" panose="020B0604020202020204" pitchFamily="34" charset="0"/>
              </a:rPr>
              <a:t>, </a:t>
            </a:r>
            <a:r>
              <a:rPr lang="zh-CN" altLang="en-US">
                <a:latin typeface="Arial" panose="020B0604020202020204" pitchFamily="34" charset="0"/>
              </a:rPr>
              <a:t>主机不会把任何报文从输入接口送到输出接口</a:t>
            </a:r>
            <a:r>
              <a:rPr lang="en-US" altLang="zh-CN">
                <a:latin typeface="Arial" panose="020B0604020202020204" pitchFamily="34" charset="0"/>
              </a:rPr>
              <a:t>.</a:t>
            </a:r>
          </a:p>
          <a:p>
            <a:pPr>
              <a:spcBef>
                <a:spcPct val="20000"/>
              </a:spcBef>
            </a:pPr>
            <a:r>
              <a:rPr lang="en-US" altLang="zh-CN">
                <a:latin typeface="Arial" panose="020B0604020202020204" pitchFamily="34" charset="0"/>
              </a:rPr>
              <a:t>• </a:t>
            </a:r>
            <a:r>
              <a:rPr lang="zh-CN" altLang="en-US">
                <a:latin typeface="Arial" panose="020B0604020202020204" pitchFamily="34" charset="0"/>
              </a:rPr>
              <a:t>路由器和主机都有一个路由表</a:t>
            </a:r>
            <a:r>
              <a:rPr lang="en-US" altLang="zh-CN">
                <a:latin typeface="Arial" panose="020B0604020202020204" pitchFamily="34" charset="0"/>
              </a:rPr>
              <a:t>. </a:t>
            </a:r>
            <a:r>
              <a:rPr lang="zh-CN" altLang="en-US">
                <a:latin typeface="Arial" panose="020B0604020202020204" pitchFamily="34" charset="0"/>
              </a:rPr>
              <a:t>路由表入口就像这样，每个数据包都可以来查找它</a:t>
            </a:r>
            <a:r>
              <a:rPr lang="en-US" altLang="zh-CN">
                <a:latin typeface="Arial" panose="020B0604020202020204" pitchFamily="34" charset="0"/>
              </a:rPr>
              <a:t>:</a:t>
            </a:r>
            <a:endParaRPr lang="en-US" altLang="zh-CN"/>
          </a:p>
        </p:txBody>
      </p:sp>
      <p:graphicFrame>
        <p:nvGraphicFramePr>
          <p:cNvPr id="1825835" name="Group 1067"/>
          <p:cNvGraphicFramePr>
            <a:graphicFrameLocks noGrp="1"/>
          </p:cNvGraphicFramePr>
          <p:nvPr>
            <p:extLst>
              <p:ext uri="{D42A27DB-BD31-4B8C-83A1-F6EECF244321}">
                <p14:modId xmlns:p14="http://schemas.microsoft.com/office/powerpoint/2010/main" val="2029080527"/>
              </p:ext>
            </p:extLst>
          </p:nvPr>
        </p:nvGraphicFramePr>
        <p:xfrm>
          <a:off x="1168400" y="1420814"/>
          <a:ext cx="10299700" cy="2290763"/>
        </p:xfrm>
        <a:graphic>
          <a:graphicData uri="http://schemas.openxmlformats.org/drawingml/2006/table">
            <a:tbl>
              <a:tblPr/>
              <a:tblGrid>
                <a:gridCol w="2564853">
                  <a:extLst>
                    <a:ext uri="{9D8B030D-6E8A-4147-A177-3AD203B41FA5}">
                      <a16:colId xmlns:a16="http://schemas.microsoft.com/office/drawing/2014/main" val="1830613404"/>
                    </a:ext>
                  </a:extLst>
                </a:gridCol>
                <a:gridCol w="2744797">
                  <a:extLst>
                    <a:ext uri="{9D8B030D-6E8A-4147-A177-3AD203B41FA5}">
                      <a16:colId xmlns:a16="http://schemas.microsoft.com/office/drawing/2014/main" val="861452201"/>
                    </a:ext>
                  </a:extLst>
                </a:gridCol>
                <a:gridCol w="2411768">
                  <a:extLst>
                    <a:ext uri="{9D8B030D-6E8A-4147-A177-3AD203B41FA5}">
                      <a16:colId xmlns:a16="http://schemas.microsoft.com/office/drawing/2014/main" val="4223919038"/>
                    </a:ext>
                  </a:extLst>
                </a:gridCol>
                <a:gridCol w="2578282">
                  <a:extLst>
                    <a:ext uri="{9D8B030D-6E8A-4147-A177-3AD203B41FA5}">
                      <a16:colId xmlns:a16="http://schemas.microsoft.com/office/drawing/2014/main" val="1563050085"/>
                    </a:ext>
                  </a:extLst>
                </a:gridCol>
              </a:tblGrid>
              <a:tr h="1041400">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2400" b="0" i="0" u="none" strike="noStrike" cap="none" normalizeH="0" baseline="0" smtClean="0">
                          <a:ln>
                            <a:noFill/>
                          </a:ln>
                          <a:solidFill>
                            <a:srgbClr val="FF00FF"/>
                          </a:solidFill>
                          <a:effectLst/>
                          <a:latin typeface="Arial" panose="020B0604020202020204" pitchFamily="34" charset="0"/>
                          <a:ea typeface="宋体" panose="02010600030101010101" pitchFamily="2" charset="-122"/>
                        </a:rPr>
                        <a:t>Destination IP</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2400" b="0" i="0" u="none" strike="noStrike" cap="none" normalizeH="0" baseline="0" smtClean="0">
                          <a:ln>
                            <a:noFill/>
                          </a:ln>
                          <a:solidFill>
                            <a:srgbClr val="FF00FF"/>
                          </a:solidFill>
                          <a:effectLst/>
                          <a:latin typeface="Arial" panose="020B0604020202020204" pitchFamily="34" charset="0"/>
                          <a:ea typeface="宋体" panose="02010600030101010101" pitchFamily="2" charset="-122"/>
                        </a:rPr>
                        <a:t>address</a:t>
                      </a:r>
                      <a:endParaRPr kumimoji="1" lang="en-US" altLang="zh-CN"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2400" b="0" i="0" u="none" strike="noStrike" cap="none" normalizeH="0" baseline="0" smtClean="0">
                          <a:ln>
                            <a:noFill/>
                          </a:ln>
                          <a:solidFill>
                            <a:srgbClr val="FF00FF"/>
                          </a:solidFill>
                          <a:effectLst/>
                          <a:latin typeface="Arial" panose="020B0604020202020204" pitchFamily="34" charset="0"/>
                          <a:ea typeface="宋体" panose="02010600030101010101" pitchFamily="2" charset="-122"/>
                        </a:rPr>
                        <a:t>address of</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2400" b="0" i="0" u="none" strike="noStrike" cap="none" normalizeH="0" baseline="0" smtClean="0">
                          <a:ln>
                            <a:noFill/>
                          </a:ln>
                          <a:solidFill>
                            <a:srgbClr val="FF00FF"/>
                          </a:solidFill>
                          <a:effectLst/>
                          <a:latin typeface="Arial" panose="020B0604020202020204" pitchFamily="34" charset="0"/>
                          <a:ea typeface="宋体" panose="02010600030101010101" pitchFamily="2" charset="-122"/>
                        </a:rPr>
                        <a:t>Next-hop-Router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2400" b="0" i="0" u="none" strike="noStrike" cap="none" normalizeH="0" baseline="0" smtClean="0">
                          <a:ln>
                            <a:noFill/>
                          </a:ln>
                          <a:solidFill>
                            <a:srgbClr val="FF00FF"/>
                          </a:solidFill>
                          <a:effectLst/>
                          <a:latin typeface="Arial" panose="020B0604020202020204" pitchFamily="34" charset="0"/>
                          <a:ea typeface="宋体" panose="02010600030101010101" pitchFamily="2" charset="-122"/>
                        </a:rPr>
                        <a:t>Flags</a:t>
                      </a:r>
                      <a:endParaRPr kumimoji="1" lang="en-US" altLang="zh-CN" sz="24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en-US" altLang="zh-CN"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2400" b="0" i="0" u="none" strike="noStrike" cap="none" normalizeH="0" baseline="0" smtClean="0">
                          <a:ln>
                            <a:noFill/>
                          </a:ln>
                          <a:solidFill>
                            <a:srgbClr val="FF00FF"/>
                          </a:solidFill>
                          <a:effectLst/>
                          <a:latin typeface="Arial" panose="020B0604020202020204" pitchFamily="34" charset="0"/>
                          <a:ea typeface="宋体" panose="02010600030101010101" pitchFamily="2" charset="-122"/>
                        </a:rPr>
                        <a:t>Specification of an interface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16850640"/>
                  </a:ext>
                </a:extLst>
              </a:tr>
              <a:tr h="1249363">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rPr>
                        <a:t>主机或网络地址</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rPr>
                        <a:t>路由器或直连网络地址</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zh-CN"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rPr>
                        <a:t>分组传送给的接口</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41355176"/>
                  </a:ext>
                </a:extLst>
              </a:tr>
            </a:tbl>
          </a:graphicData>
        </a:graphic>
      </p:graphicFrame>
    </p:spTree>
    <p:extLst>
      <p:ext uri="{BB962C8B-B14F-4D97-AF65-F5344CB8AC3E}">
        <p14:creationId xmlns:p14="http://schemas.microsoft.com/office/powerpoint/2010/main" val="186721164"/>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825835"/>
                                        </p:tgtEl>
                                        <p:attrNameLst>
                                          <p:attrName>style.visibility</p:attrName>
                                        </p:attrNameLst>
                                      </p:cBhvr>
                                      <p:to>
                                        <p:strVal val="visible"/>
                                      </p:to>
                                    </p:set>
                                    <p:anim calcmode="lin" valueType="num">
                                      <p:cBhvr additive="base">
                                        <p:cTn id="7" dur="500" fill="hold"/>
                                        <p:tgtEl>
                                          <p:spTgt spid="1825835"/>
                                        </p:tgtEl>
                                        <p:attrNameLst>
                                          <p:attrName>ppt_x</p:attrName>
                                        </p:attrNameLst>
                                      </p:cBhvr>
                                      <p:tavLst>
                                        <p:tav tm="0">
                                          <p:val>
                                            <p:strVal val="1+#ppt_w/2"/>
                                          </p:val>
                                        </p:tav>
                                        <p:tav tm="100000">
                                          <p:val>
                                            <p:strVal val="#ppt_x"/>
                                          </p:val>
                                        </p:tav>
                                      </p:tavLst>
                                    </p:anim>
                                    <p:anim calcmode="lin" valueType="num">
                                      <p:cBhvr additive="base">
                                        <p:cTn id="8" dur="500" fill="hold"/>
                                        <p:tgtEl>
                                          <p:spTgt spid="182583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7842" name="Rectangle 2"/>
          <p:cNvSpPr>
            <a:spLocks noGrp="1" noChangeArrowheads="1"/>
          </p:cNvSpPr>
          <p:nvPr>
            <p:ph type="title"/>
          </p:nvPr>
        </p:nvSpPr>
        <p:spPr bwMode="auto">
          <a:xfrm>
            <a:off x="3267076" y="361950"/>
            <a:ext cx="6462713"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zh-CN" altLang="en-US" b="1">
                <a:latin typeface="Arial" panose="020B0604020202020204" pitchFamily="34" charset="0"/>
              </a:rPr>
              <a:t>路由表查找</a:t>
            </a:r>
          </a:p>
        </p:txBody>
      </p:sp>
      <p:sp>
        <p:nvSpPr>
          <p:cNvPr id="1827844" name="Text Box 4"/>
          <p:cNvSpPr txBox="1">
            <a:spLocks noChangeArrowheads="1"/>
          </p:cNvSpPr>
          <p:nvPr/>
        </p:nvSpPr>
        <p:spPr bwMode="auto">
          <a:xfrm>
            <a:off x="1708150" y="1200150"/>
            <a:ext cx="9353549"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293688" indent="-293688">
              <a:defRPr kumimoji="1" sz="2400">
                <a:solidFill>
                  <a:schemeClr val="tx1"/>
                </a:solidFill>
                <a:latin typeface="Times New Roman" panose="02020603050405020304" pitchFamily="18" charset="0"/>
                <a:ea typeface="宋体" panose="02010600030101010101" pitchFamily="2" charset="-122"/>
              </a:defRPr>
            </a:lvl1pPr>
            <a:lvl2pPr marL="484188">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800">
                <a:latin typeface="Arial" panose="020B0604020202020204" pitchFamily="34" charset="0"/>
              </a:rPr>
              <a:t>• </a:t>
            </a:r>
            <a:r>
              <a:rPr kumimoji="0" lang="zh-CN" altLang="en-US" sz="2800">
                <a:latin typeface="Arial" panose="020B0604020202020204" pitchFamily="34" charset="0"/>
              </a:rPr>
              <a:t>对每一个</a:t>
            </a:r>
            <a:r>
              <a:rPr kumimoji="0" lang="en-US" altLang="zh-CN" sz="2800">
                <a:latin typeface="Arial" panose="020B0604020202020204" pitchFamily="34" charset="0"/>
              </a:rPr>
              <a:t>IP</a:t>
            </a:r>
            <a:r>
              <a:rPr kumimoji="0" lang="zh-CN" altLang="en-US" sz="2800">
                <a:latin typeface="Arial" panose="020B0604020202020204" pitchFamily="34" charset="0"/>
              </a:rPr>
              <a:t>报，总存在一个路由</a:t>
            </a:r>
            <a:r>
              <a:rPr kumimoji="0" lang="zh-CN" altLang="en-US" sz="2800" smtClean="0">
                <a:latin typeface="Arial" panose="020B0604020202020204" pitchFamily="34" charset="0"/>
              </a:rPr>
              <a:t>表</a:t>
            </a:r>
            <a:r>
              <a:rPr kumimoji="0" lang="en-US" altLang="zh-CN" sz="2800" b="1">
                <a:latin typeface="Courier" charset="0"/>
              </a:rPr>
              <a:t>netstat –rn</a:t>
            </a:r>
            <a:r>
              <a:rPr kumimoji="0" lang="en-US" altLang="zh-CN" sz="2800" smtClean="0">
                <a:latin typeface="Arial" panose="020B0604020202020204" pitchFamily="34" charset="0"/>
              </a:rPr>
              <a:t>.</a:t>
            </a:r>
            <a:endParaRPr kumimoji="0" lang="en-US" altLang="zh-CN" sz="2800">
              <a:latin typeface="Arial" panose="020B0604020202020204" pitchFamily="34" charset="0"/>
            </a:endParaRPr>
          </a:p>
          <a:p>
            <a:r>
              <a:rPr kumimoji="0" lang="en-US" altLang="zh-CN" sz="2800">
                <a:latin typeface="Arial" panose="020B0604020202020204" pitchFamily="34" charset="0"/>
              </a:rPr>
              <a:t>      1. </a:t>
            </a:r>
            <a:r>
              <a:rPr kumimoji="0" lang="zh-CN" altLang="en-US" sz="2800">
                <a:latin typeface="Arial" panose="020B0604020202020204" pitchFamily="34" charset="0"/>
              </a:rPr>
              <a:t>找出对应的主机地址</a:t>
            </a:r>
          </a:p>
          <a:p>
            <a:r>
              <a:rPr kumimoji="0" lang="zh-CN" altLang="en-US" sz="2800">
                <a:latin typeface="Arial" panose="020B0604020202020204" pitchFamily="34" charset="0"/>
              </a:rPr>
              <a:t>      </a:t>
            </a:r>
            <a:r>
              <a:rPr kumimoji="0" lang="en-US" altLang="zh-CN" sz="2800">
                <a:latin typeface="Arial" panose="020B0604020202020204" pitchFamily="34" charset="0"/>
              </a:rPr>
              <a:t>2. </a:t>
            </a:r>
            <a:r>
              <a:rPr kumimoji="0" lang="zh-CN" altLang="en-US" sz="2800">
                <a:latin typeface="Arial" panose="020B0604020202020204" pitchFamily="34" charset="0"/>
              </a:rPr>
              <a:t>找出对应的网络地址</a:t>
            </a:r>
          </a:p>
          <a:p>
            <a:r>
              <a:rPr kumimoji="0" lang="zh-CN" altLang="en-US" sz="2800">
                <a:latin typeface="Arial" panose="020B0604020202020204" pitchFamily="34" charset="0"/>
              </a:rPr>
              <a:t>      </a:t>
            </a:r>
            <a:r>
              <a:rPr kumimoji="0" lang="en-US" altLang="zh-CN" sz="2800">
                <a:latin typeface="Arial" panose="020B0604020202020204" pitchFamily="34" charset="0"/>
              </a:rPr>
              <a:t>3. </a:t>
            </a:r>
            <a:r>
              <a:rPr kumimoji="0" lang="zh-CN" altLang="en-US" sz="2800">
                <a:latin typeface="Arial" panose="020B0604020202020204" pitchFamily="34" charset="0"/>
              </a:rPr>
              <a:t>找到缺省</a:t>
            </a:r>
            <a:r>
              <a:rPr kumimoji="0" lang="zh-CN" altLang="en-US" sz="2800" smtClean="0">
                <a:latin typeface="Arial" panose="020B0604020202020204" pitchFamily="34" charset="0"/>
              </a:rPr>
              <a:t>入口</a:t>
            </a:r>
            <a:endParaRPr kumimoji="0" lang="zh-CN" altLang="en-US" sz="2800"/>
          </a:p>
        </p:txBody>
      </p:sp>
      <p:sp>
        <p:nvSpPr>
          <p:cNvPr id="1827845" name="Text Box 5"/>
          <p:cNvSpPr txBox="1">
            <a:spLocks noChangeArrowheads="1"/>
          </p:cNvSpPr>
          <p:nvPr/>
        </p:nvSpPr>
        <p:spPr bwMode="auto">
          <a:xfrm>
            <a:off x="124620" y="3299738"/>
            <a:ext cx="1448038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b="1" smtClean="0">
                <a:latin typeface="Courier" charset="0"/>
              </a:rPr>
              <a:t>Destination Gateway       </a:t>
            </a:r>
            <a:r>
              <a:rPr lang="en-US" altLang="zh-CN" sz="2400" b="1">
                <a:latin typeface="Courier" charset="0"/>
              </a:rPr>
              <a:t>Flags     Refcnt   </a:t>
            </a:r>
            <a:r>
              <a:rPr lang="en-US" altLang="zh-CN" sz="2400" b="1" smtClean="0">
                <a:latin typeface="Courier" charset="0"/>
              </a:rPr>
              <a:t>Use   </a:t>
            </a:r>
            <a:r>
              <a:rPr lang="en-US" altLang="zh-CN" sz="2400" b="1">
                <a:latin typeface="Courier" charset="0"/>
              </a:rPr>
              <a:t>Interface</a:t>
            </a:r>
          </a:p>
          <a:p>
            <a:r>
              <a:rPr lang="en-US" altLang="zh-CN" sz="2400" b="1" smtClean="0">
                <a:latin typeface="Courier" charset="0"/>
              </a:rPr>
              <a:t>128.143.0.0 </a:t>
            </a:r>
            <a:r>
              <a:rPr lang="en-US" altLang="zh-CN" sz="2400" b="1">
                <a:latin typeface="Courier" charset="0"/>
              </a:rPr>
              <a:t>128.143.137.16    U     </a:t>
            </a:r>
            <a:r>
              <a:rPr lang="en-US" altLang="zh-CN" sz="2400" b="1" smtClean="0">
                <a:latin typeface="Courier" charset="0"/>
              </a:rPr>
              <a:t>3        </a:t>
            </a:r>
            <a:r>
              <a:rPr lang="en-US" altLang="zh-CN" sz="2400" b="1">
                <a:latin typeface="Courier" charset="0"/>
              </a:rPr>
              <a:t>1697  </a:t>
            </a:r>
            <a:r>
              <a:rPr lang="en-US" altLang="zh-CN" sz="2400" b="1" smtClean="0">
                <a:latin typeface="Courier" charset="0"/>
              </a:rPr>
              <a:t>me0</a:t>
            </a:r>
            <a:endParaRPr lang="en-US" altLang="zh-CN" sz="2400" b="1">
              <a:latin typeface="Courier" charset="0"/>
            </a:endParaRPr>
          </a:p>
          <a:p>
            <a:r>
              <a:rPr lang="en-US" altLang="zh-CN" sz="2400" b="1">
                <a:latin typeface="Courier" charset="0"/>
              </a:rPr>
              <a:t>224.0.0.0  </a:t>
            </a:r>
            <a:r>
              <a:rPr lang="en-US" altLang="zh-CN" sz="2400" b="1" smtClean="0">
                <a:latin typeface="Courier" charset="0"/>
              </a:rPr>
              <a:t> </a:t>
            </a:r>
            <a:r>
              <a:rPr lang="en-US" altLang="zh-CN" sz="2400" b="1">
                <a:latin typeface="Courier" charset="0"/>
              </a:rPr>
              <a:t>128.143.137.16    U     </a:t>
            </a:r>
            <a:r>
              <a:rPr lang="en-US" altLang="zh-CN" sz="2400" b="1" smtClean="0">
                <a:latin typeface="Courier" charset="0"/>
              </a:rPr>
              <a:t>3        0     hme0</a:t>
            </a:r>
            <a:endParaRPr lang="en-US" altLang="zh-CN" sz="2400" b="1">
              <a:latin typeface="Courier" charset="0"/>
            </a:endParaRPr>
          </a:p>
          <a:p>
            <a:r>
              <a:rPr lang="en-US" altLang="zh-CN" sz="2400" b="1">
                <a:latin typeface="Courier" charset="0"/>
              </a:rPr>
              <a:t>default     </a:t>
            </a:r>
            <a:r>
              <a:rPr lang="en-US" altLang="zh-CN" sz="2400" b="1" smtClean="0">
                <a:latin typeface="Courier" charset="0"/>
              </a:rPr>
              <a:t>128.143.137.1     </a:t>
            </a:r>
            <a:r>
              <a:rPr lang="en-US" altLang="zh-CN" sz="2400" b="1">
                <a:latin typeface="Courier" charset="0"/>
              </a:rPr>
              <a:t>UG    </a:t>
            </a:r>
            <a:r>
              <a:rPr lang="en-US" altLang="zh-CN" sz="2400" b="1" smtClean="0">
                <a:latin typeface="Courier" charset="0"/>
              </a:rPr>
              <a:t>0        208   hme0</a:t>
            </a:r>
            <a:endParaRPr lang="en-US" altLang="zh-CN" sz="2400" b="1">
              <a:latin typeface="Courier" charset="0"/>
            </a:endParaRPr>
          </a:p>
          <a:p>
            <a:r>
              <a:rPr lang="en-US" altLang="zh-CN" sz="2400" b="1">
                <a:latin typeface="Courier" charset="0"/>
              </a:rPr>
              <a:t>127.0.0.1   </a:t>
            </a:r>
            <a:r>
              <a:rPr lang="en-US" altLang="zh-CN" sz="2400" b="1" smtClean="0">
                <a:latin typeface="Courier" charset="0"/>
              </a:rPr>
              <a:t>127.0.0.1         UH    0        11424 lo0</a:t>
            </a:r>
            <a:endParaRPr lang="en-US" altLang="zh-CN" sz="2400">
              <a:latin typeface="Courier" charset="0"/>
            </a:endParaRPr>
          </a:p>
        </p:txBody>
      </p:sp>
    </p:spTree>
    <p:extLst>
      <p:ext uri="{BB962C8B-B14F-4D97-AF65-F5344CB8AC3E}">
        <p14:creationId xmlns:p14="http://schemas.microsoft.com/office/powerpoint/2010/main" val="2615613174"/>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27845">
                                            <p:txEl>
                                              <p:pRg st="0" end="0"/>
                                            </p:txEl>
                                          </p:spTgt>
                                        </p:tgtEl>
                                        <p:attrNameLst>
                                          <p:attrName>style.visibility</p:attrName>
                                        </p:attrNameLst>
                                      </p:cBhvr>
                                      <p:to>
                                        <p:strVal val="visible"/>
                                      </p:to>
                                    </p:set>
                                    <p:anim calcmode="lin" valueType="num">
                                      <p:cBhvr additive="base">
                                        <p:cTn id="7" dur="500" fill="hold"/>
                                        <p:tgtEl>
                                          <p:spTgt spid="182784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2784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rbrak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27845">
                                            <p:txEl>
                                              <p:pRg st="1" end="1"/>
                                            </p:txEl>
                                          </p:spTgt>
                                        </p:tgtEl>
                                        <p:attrNameLst>
                                          <p:attrName>style.visibility</p:attrName>
                                        </p:attrNameLst>
                                      </p:cBhvr>
                                      <p:to>
                                        <p:strVal val="visible"/>
                                      </p:to>
                                    </p:set>
                                    <p:anim calcmode="lin" valueType="num">
                                      <p:cBhvr additive="base">
                                        <p:cTn id="13" dur="500" fill="hold"/>
                                        <p:tgtEl>
                                          <p:spTgt spid="182784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2784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rbrak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27845">
                                            <p:txEl>
                                              <p:pRg st="2" end="2"/>
                                            </p:txEl>
                                          </p:spTgt>
                                        </p:tgtEl>
                                        <p:attrNameLst>
                                          <p:attrName>style.visibility</p:attrName>
                                        </p:attrNameLst>
                                      </p:cBhvr>
                                      <p:to>
                                        <p:strVal val="visible"/>
                                      </p:to>
                                    </p:set>
                                    <p:anim calcmode="lin" valueType="num">
                                      <p:cBhvr additive="base">
                                        <p:cTn id="19" dur="500" fill="hold"/>
                                        <p:tgtEl>
                                          <p:spTgt spid="182784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27845">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rbrake.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27845">
                                            <p:txEl>
                                              <p:pRg st="3" end="3"/>
                                            </p:txEl>
                                          </p:spTgt>
                                        </p:tgtEl>
                                        <p:attrNameLst>
                                          <p:attrName>style.visibility</p:attrName>
                                        </p:attrNameLst>
                                      </p:cBhvr>
                                      <p:to>
                                        <p:strVal val="visible"/>
                                      </p:to>
                                    </p:set>
                                    <p:anim calcmode="lin" valueType="num">
                                      <p:cBhvr additive="base">
                                        <p:cTn id="25" dur="500" fill="hold"/>
                                        <p:tgtEl>
                                          <p:spTgt spid="182784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27845">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carbrake.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27845">
                                            <p:txEl>
                                              <p:pRg st="4" end="4"/>
                                            </p:txEl>
                                          </p:spTgt>
                                        </p:tgtEl>
                                        <p:attrNameLst>
                                          <p:attrName>style.visibility</p:attrName>
                                        </p:attrNameLst>
                                      </p:cBhvr>
                                      <p:to>
                                        <p:strVal val="visible"/>
                                      </p:to>
                                    </p:set>
                                    <p:anim calcmode="lin" valueType="num">
                                      <p:cBhvr additive="base">
                                        <p:cTn id="31" dur="500" fill="hold"/>
                                        <p:tgtEl>
                                          <p:spTgt spid="1827845">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27845">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7845" grpId="0" build="p" autoUpdateAnimBg="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8866" name="Rectangle 1026"/>
          <p:cNvSpPr>
            <a:spLocks noGrp="1" noChangeArrowheads="1"/>
          </p:cNvSpPr>
          <p:nvPr>
            <p:ph type="title"/>
          </p:nvPr>
        </p:nvSpPr>
        <p:spPr bwMode="auto">
          <a:xfrm>
            <a:off x="3494088" y="412750"/>
            <a:ext cx="5078412"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zh-CN" altLang="en-US" b="1">
                <a:latin typeface="Arial" panose="020B0604020202020204" pitchFamily="34" charset="0"/>
              </a:rPr>
              <a:t>路由表</a:t>
            </a:r>
          </a:p>
        </p:txBody>
      </p:sp>
      <p:sp>
        <p:nvSpPr>
          <p:cNvPr id="1828868" name="Text Box 1028"/>
          <p:cNvSpPr txBox="1">
            <a:spLocks noChangeArrowheads="1"/>
          </p:cNvSpPr>
          <p:nvPr/>
        </p:nvSpPr>
        <p:spPr bwMode="auto">
          <a:xfrm>
            <a:off x="2339975" y="1555750"/>
            <a:ext cx="7932738" cy="4955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3688" indent="-293688">
              <a:defRPr kumimoji="1" sz="2400">
                <a:solidFill>
                  <a:schemeClr val="tx1"/>
                </a:solidFill>
                <a:latin typeface="Times New Roman" panose="02020603050405020304" pitchFamily="18" charset="0"/>
                <a:ea typeface="宋体" panose="02010600030101010101" pitchFamily="2" charset="-122"/>
              </a:defRPr>
            </a:lvl1pPr>
            <a:lvl2pPr marL="484188">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800">
                <a:latin typeface="Arial" panose="020B0604020202020204" pitchFamily="34" charset="0"/>
              </a:rPr>
              <a:t>• </a:t>
            </a:r>
            <a:r>
              <a:rPr kumimoji="0" lang="en-US" altLang="zh-CN" sz="2800" b="1">
                <a:latin typeface="Arial" panose="020B0604020202020204" pitchFamily="34" charset="0"/>
              </a:rPr>
              <a:t>Flags:</a:t>
            </a:r>
          </a:p>
          <a:p>
            <a:r>
              <a:rPr kumimoji="0" lang="en-US" altLang="zh-CN">
                <a:latin typeface="Arial" panose="020B0604020202020204" pitchFamily="34" charset="0"/>
              </a:rPr>
              <a:t>    U </a:t>
            </a:r>
            <a:r>
              <a:rPr kumimoji="0" lang="zh-CN" altLang="en-US">
                <a:latin typeface="Arial" panose="020B0604020202020204" pitchFamily="34" charset="0"/>
              </a:rPr>
              <a:t>（路由启动）</a:t>
            </a:r>
          </a:p>
          <a:p>
            <a:r>
              <a:rPr kumimoji="0" lang="zh-CN" altLang="en-US">
                <a:latin typeface="Arial" panose="020B0604020202020204" pitchFamily="34" charset="0"/>
              </a:rPr>
              <a:t>    </a:t>
            </a:r>
            <a:r>
              <a:rPr kumimoji="0" lang="en-US" altLang="zh-CN">
                <a:latin typeface="Arial" panose="020B0604020202020204" pitchFamily="34" charset="0"/>
              </a:rPr>
              <a:t>G </a:t>
            </a:r>
            <a:r>
              <a:rPr kumimoji="0" lang="zh-CN" altLang="en-US">
                <a:latin typeface="Arial" panose="020B0604020202020204" pitchFamily="34" charset="0"/>
              </a:rPr>
              <a:t>路由到路由器 </a:t>
            </a:r>
            <a:r>
              <a:rPr kumimoji="0" lang="en-US" altLang="zh-CN">
                <a:latin typeface="Arial" panose="020B0604020202020204" pitchFamily="34" charset="0"/>
              </a:rPr>
              <a:t>(“Gateway”)</a:t>
            </a:r>
          </a:p>
          <a:p>
            <a:r>
              <a:rPr kumimoji="0" lang="en-US" altLang="zh-CN">
                <a:latin typeface="Arial" panose="020B0604020202020204" pitchFamily="34" charset="0"/>
              </a:rPr>
              <a:t>    H </a:t>
            </a:r>
            <a:r>
              <a:rPr kumimoji="0" lang="zh-CN" altLang="en-US">
                <a:latin typeface="Arial" panose="020B0604020202020204" pitchFamily="34" charset="0"/>
              </a:rPr>
              <a:t>路由到主机 </a:t>
            </a:r>
            <a:r>
              <a:rPr kumimoji="0" lang="en-US" altLang="zh-CN">
                <a:latin typeface="Arial" panose="020B0604020202020204" pitchFamily="34" charset="0"/>
              </a:rPr>
              <a:t>(</a:t>
            </a:r>
            <a:r>
              <a:rPr kumimoji="0" lang="zh-CN" altLang="en-US">
                <a:latin typeface="Arial" panose="020B0604020202020204" pitchFamily="34" charset="0"/>
              </a:rPr>
              <a:t>目的站是主机地址</a:t>
            </a:r>
            <a:r>
              <a:rPr kumimoji="0" lang="en-US" altLang="zh-CN">
                <a:latin typeface="Arial" panose="020B0604020202020204" pitchFamily="34" charset="0"/>
              </a:rPr>
              <a:t>)</a:t>
            </a:r>
          </a:p>
          <a:p>
            <a:r>
              <a:rPr kumimoji="0" lang="en-US" altLang="zh-CN">
                <a:latin typeface="Arial" panose="020B0604020202020204" pitchFamily="34" charset="0"/>
              </a:rPr>
              <a:t>    D </a:t>
            </a:r>
            <a:r>
              <a:rPr kumimoji="0" lang="zh-CN" altLang="en-US">
                <a:latin typeface="Arial" panose="020B0604020202020204" pitchFamily="34" charset="0"/>
              </a:rPr>
              <a:t>路由由 </a:t>
            </a:r>
            <a:r>
              <a:rPr kumimoji="0" lang="en-US" altLang="zh-CN">
                <a:latin typeface="Arial" panose="020B0604020202020204" pitchFamily="34" charset="0"/>
              </a:rPr>
              <a:t>ICMP </a:t>
            </a:r>
            <a:r>
              <a:rPr kumimoji="0" lang="zh-CN" altLang="en-US">
                <a:latin typeface="Arial" panose="020B0604020202020204" pitchFamily="34" charset="0"/>
              </a:rPr>
              <a:t>重定向创建</a:t>
            </a:r>
          </a:p>
          <a:p>
            <a:r>
              <a:rPr kumimoji="0" lang="zh-CN" altLang="en-US">
                <a:latin typeface="Arial" panose="020B0604020202020204" pitchFamily="34" charset="0"/>
              </a:rPr>
              <a:t>    </a:t>
            </a:r>
            <a:r>
              <a:rPr kumimoji="0" lang="en-US" altLang="zh-CN">
                <a:latin typeface="Arial" panose="020B0604020202020204" pitchFamily="34" charset="0"/>
              </a:rPr>
              <a:t>M </a:t>
            </a:r>
            <a:r>
              <a:rPr kumimoji="0" lang="zh-CN" altLang="en-US">
                <a:latin typeface="Arial" panose="020B0604020202020204" pitchFamily="34" charset="0"/>
              </a:rPr>
              <a:t>路由由 </a:t>
            </a:r>
            <a:r>
              <a:rPr kumimoji="0" lang="en-US" altLang="zh-CN">
                <a:latin typeface="Arial" panose="020B0604020202020204" pitchFamily="34" charset="0"/>
              </a:rPr>
              <a:t>ICMP </a:t>
            </a:r>
            <a:r>
              <a:rPr kumimoji="0" lang="zh-CN" altLang="en-US">
                <a:latin typeface="Arial" panose="020B0604020202020204" pitchFamily="34" charset="0"/>
              </a:rPr>
              <a:t>重定向修改</a:t>
            </a:r>
          </a:p>
          <a:p>
            <a:r>
              <a:rPr kumimoji="0" lang="en-US" altLang="zh-CN" sz="2800">
                <a:latin typeface="Arial" panose="020B0604020202020204" pitchFamily="34" charset="0"/>
              </a:rPr>
              <a:t>• </a:t>
            </a:r>
            <a:r>
              <a:rPr kumimoji="0" lang="en-US" altLang="zh-CN" sz="2800" b="1">
                <a:latin typeface="Arial" panose="020B0604020202020204" pitchFamily="34" charset="0"/>
              </a:rPr>
              <a:t>RefCnt:</a:t>
            </a:r>
          </a:p>
          <a:p>
            <a:r>
              <a:rPr kumimoji="0" lang="en-US" altLang="zh-CN" sz="2800">
                <a:latin typeface="Arial" panose="020B0604020202020204" pitchFamily="34" charset="0"/>
              </a:rPr>
              <a:t>  </a:t>
            </a:r>
            <a:r>
              <a:rPr kumimoji="0" lang="zh-CN" altLang="en-US" sz="2800">
                <a:latin typeface="Arial" panose="020B0604020202020204" pitchFamily="34" charset="0"/>
              </a:rPr>
              <a:t>统计活动的路由数</a:t>
            </a:r>
          </a:p>
          <a:p>
            <a:r>
              <a:rPr kumimoji="0" lang="en-US" altLang="zh-CN" sz="2800">
                <a:latin typeface="Arial" panose="020B0604020202020204" pitchFamily="34" charset="0"/>
              </a:rPr>
              <a:t>• </a:t>
            </a:r>
            <a:r>
              <a:rPr kumimoji="0" lang="en-US" altLang="zh-CN" sz="2800" b="1">
                <a:latin typeface="Arial" panose="020B0604020202020204" pitchFamily="34" charset="0"/>
              </a:rPr>
              <a:t>Use:</a:t>
            </a:r>
          </a:p>
          <a:p>
            <a:r>
              <a:rPr kumimoji="0" lang="en-US" altLang="zh-CN" sz="2800">
                <a:latin typeface="Arial" panose="020B0604020202020204" pitchFamily="34" charset="0"/>
              </a:rPr>
              <a:t>  </a:t>
            </a:r>
            <a:r>
              <a:rPr kumimoji="0" lang="zh-CN" altLang="en-US" sz="2800">
                <a:latin typeface="Arial" panose="020B0604020202020204" pitchFamily="34" charset="0"/>
              </a:rPr>
              <a:t>送到这个路由器的包编号</a:t>
            </a:r>
          </a:p>
          <a:p>
            <a:r>
              <a:rPr kumimoji="0" lang="en-US" altLang="zh-CN" sz="2800">
                <a:latin typeface="Arial" panose="020B0604020202020204" pitchFamily="34" charset="0"/>
              </a:rPr>
              <a:t>• </a:t>
            </a:r>
            <a:r>
              <a:rPr kumimoji="0" lang="en-US" altLang="zh-CN" sz="2800" b="1">
                <a:latin typeface="Arial" panose="020B0604020202020204" pitchFamily="34" charset="0"/>
              </a:rPr>
              <a:t>Interface:</a:t>
            </a:r>
          </a:p>
          <a:p>
            <a:r>
              <a:rPr kumimoji="0" lang="en-US" altLang="zh-CN" sz="2800">
                <a:latin typeface="Arial" panose="020B0604020202020204" pitchFamily="34" charset="0"/>
              </a:rPr>
              <a:t>  </a:t>
            </a:r>
            <a:r>
              <a:rPr kumimoji="0" lang="zh-CN" altLang="en-US" sz="2800">
                <a:latin typeface="Arial" panose="020B0604020202020204" pitchFamily="34" charset="0"/>
              </a:rPr>
              <a:t>流出接口</a:t>
            </a:r>
            <a:endParaRPr kumimoji="0" lang="zh-CN" altLang="en-US" sz="2800"/>
          </a:p>
        </p:txBody>
      </p:sp>
    </p:spTree>
    <p:extLst>
      <p:ext uri="{BB962C8B-B14F-4D97-AF65-F5344CB8AC3E}">
        <p14:creationId xmlns:p14="http://schemas.microsoft.com/office/powerpoint/2010/main" val="4040167573"/>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28868">
                                            <p:txEl>
                                              <p:pRg st="0" end="0"/>
                                            </p:txEl>
                                          </p:spTgt>
                                        </p:tgtEl>
                                        <p:attrNameLst>
                                          <p:attrName>style.visibility</p:attrName>
                                        </p:attrNameLst>
                                      </p:cBhvr>
                                      <p:to>
                                        <p:strVal val="visible"/>
                                      </p:to>
                                    </p:set>
                                    <p:anim calcmode="lin" valueType="num">
                                      <p:cBhvr additive="base">
                                        <p:cTn id="7" dur="500" fill="hold"/>
                                        <p:tgtEl>
                                          <p:spTgt spid="182886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2886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28868">
                                            <p:txEl>
                                              <p:pRg st="1" end="1"/>
                                            </p:txEl>
                                          </p:spTgt>
                                        </p:tgtEl>
                                        <p:attrNameLst>
                                          <p:attrName>style.visibility</p:attrName>
                                        </p:attrNameLst>
                                      </p:cBhvr>
                                      <p:to>
                                        <p:strVal val="visible"/>
                                      </p:to>
                                    </p:set>
                                    <p:anim calcmode="lin" valueType="num">
                                      <p:cBhvr additive="base">
                                        <p:cTn id="13" dur="500" fill="hold"/>
                                        <p:tgtEl>
                                          <p:spTgt spid="1828868">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28868">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rbrak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28868">
                                            <p:txEl>
                                              <p:pRg st="2" end="2"/>
                                            </p:txEl>
                                          </p:spTgt>
                                        </p:tgtEl>
                                        <p:attrNameLst>
                                          <p:attrName>style.visibility</p:attrName>
                                        </p:attrNameLst>
                                      </p:cBhvr>
                                      <p:to>
                                        <p:strVal val="visible"/>
                                      </p:to>
                                    </p:set>
                                    <p:anim calcmode="lin" valueType="num">
                                      <p:cBhvr additive="base">
                                        <p:cTn id="19" dur="500" fill="hold"/>
                                        <p:tgtEl>
                                          <p:spTgt spid="1828868">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28868">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rbrake.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28868">
                                            <p:txEl>
                                              <p:pRg st="3" end="3"/>
                                            </p:txEl>
                                          </p:spTgt>
                                        </p:tgtEl>
                                        <p:attrNameLst>
                                          <p:attrName>style.visibility</p:attrName>
                                        </p:attrNameLst>
                                      </p:cBhvr>
                                      <p:to>
                                        <p:strVal val="visible"/>
                                      </p:to>
                                    </p:set>
                                    <p:anim calcmode="lin" valueType="num">
                                      <p:cBhvr additive="base">
                                        <p:cTn id="25" dur="500" fill="hold"/>
                                        <p:tgtEl>
                                          <p:spTgt spid="1828868">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28868">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rbrake.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28868">
                                            <p:txEl>
                                              <p:pRg st="4" end="4"/>
                                            </p:txEl>
                                          </p:spTgt>
                                        </p:tgtEl>
                                        <p:attrNameLst>
                                          <p:attrName>style.visibility</p:attrName>
                                        </p:attrNameLst>
                                      </p:cBhvr>
                                      <p:to>
                                        <p:strVal val="visible"/>
                                      </p:to>
                                    </p:set>
                                    <p:anim calcmode="lin" valueType="num">
                                      <p:cBhvr additive="base">
                                        <p:cTn id="31" dur="500" fill="hold"/>
                                        <p:tgtEl>
                                          <p:spTgt spid="1828868">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28868">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carbrake.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28868">
                                            <p:txEl>
                                              <p:pRg st="5" end="5"/>
                                            </p:txEl>
                                          </p:spTgt>
                                        </p:tgtEl>
                                        <p:attrNameLst>
                                          <p:attrName>style.visibility</p:attrName>
                                        </p:attrNameLst>
                                      </p:cBhvr>
                                      <p:to>
                                        <p:strVal val="visible"/>
                                      </p:to>
                                    </p:set>
                                    <p:anim calcmode="lin" valueType="num">
                                      <p:cBhvr additive="base">
                                        <p:cTn id="37" dur="500" fill="hold"/>
                                        <p:tgtEl>
                                          <p:spTgt spid="1828868">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28868">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carbrake.wav"/>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828868">
                                            <p:txEl>
                                              <p:pRg st="6" end="6"/>
                                            </p:txEl>
                                          </p:spTgt>
                                        </p:tgtEl>
                                        <p:attrNameLst>
                                          <p:attrName>style.visibility</p:attrName>
                                        </p:attrNameLst>
                                      </p:cBhvr>
                                      <p:to>
                                        <p:strVal val="visible"/>
                                      </p:to>
                                    </p:set>
                                    <p:anim calcmode="lin" valueType="num">
                                      <p:cBhvr additive="base">
                                        <p:cTn id="43" dur="500" fill="hold"/>
                                        <p:tgtEl>
                                          <p:spTgt spid="1828868">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828868">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carbrake.wav"/>
                                        </p:tgtEl>
                                      </p:cMediaNode>
                                    </p:audio>
                                  </p:sub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828868">
                                            <p:txEl>
                                              <p:pRg st="7" end="7"/>
                                            </p:txEl>
                                          </p:spTgt>
                                        </p:tgtEl>
                                        <p:attrNameLst>
                                          <p:attrName>style.visibility</p:attrName>
                                        </p:attrNameLst>
                                      </p:cBhvr>
                                      <p:to>
                                        <p:strVal val="visible"/>
                                      </p:to>
                                    </p:set>
                                    <p:anim calcmode="lin" valueType="num">
                                      <p:cBhvr additive="base">
                                        <p:cTn id="49" dur="500" fill="hold"/>
                                        <p:tgtEl>
                                          <p:spTgt spid="1828868">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828868">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2" name="carbrake.wav"/>
                                        </p:tgtEl>
                                      </p:cMediaNode>
                                    </p:audio>
                                  </p:sub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828868">
                                            <p:txEl>
                                              <p:pRg st="8" end="8"/>
                                            </p:txEl>
                                          </p:spTgt>
                                        </p:tgtEl>
                                        <p:attrNameLst>
                                          <p:attrName>style.visibility</p:attrName>
                                        </p:attrNameLst>
                                      </p:cBhvr>
                                      <p:to>
                                        <p:strVal val="visible"/>
                                      </p:to>
                                    </p:set>
                                    <p:anim calcmode="lin" valueType="num">
                                      <p:cBhvr additive="base">
                                        <p:cTn id="55" dur="500" fill="hold"/>
                                        <p:tgtEl>
                                          <p:spTgt spid="1828868">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828868">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2" name="carbrake.wav"/>
                                        </p:tgtEl>
                                      </p:cMediaNode>
                                    </p:audio>
                                  </p:sub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1828868">
                                            <p:txEl>
                                              <p:pRg st="9" end="9"/>
                                            </p:txEl>
                                          </p:spTgt>
                                        </p:tgtEl>
                                        <p:attrNameLst>
                                          <p:attrName>style.visibility</p:attrName>
                                        </p:attrNameLst>
                                      </p:cBhvr>
                                      <p:to>
                                        <p:strVal val="visible"/>
                                      </p:to>
                                    </p:set>
                                    <p:anim calcmode="lin" valueType="num">
                                      <p:cBhvr additive="base">
                                        <p:cTn id="61" dur="500" fill="hold"/>
                                        <p:tgtEl>
                                          <p:spTgt spid="1828868">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1828868">
                                            <p:txEl>
                                              <p:pRg st="9" end="9"/>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9"/>
                                            </p:cond>
                                          </p:stCondLst>
                                          <p:endCondLst>
                                            <p:cond evt="onStopAudio" delay="0">
                                              <p:tgtEl>
                                                <p:sldTgt/>
                                              </p:tgtEl>
                                            </p:cond>
                                          </p:endCondLst>
                                        </p:cTn>
                                        <p:tgtEl>
                                          <p:sndTgt r:embed="rId2" name="carbrake.wav"/>
                                        </p:tgtEl>
                                      </p:cMediaNode>
                                    </p:audio>
                                  </p:sub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1828868">
                                            <p:txEl>
                                              <p:pRg st="10" end="10"/>
                                            </p:txEl>
                                          </p:spTgt>
                                        </p:tgtEl>
                                        <p:attrNameLst>
                                          <p:attrName>style.visibility</p:attrName>
                                        </p:attrNameLst>
                                      </p:cBhvr>
                                      <p:to>
                                        <p:strVal val="visible"/>
                                      </p:to>
                                    </p:set>
                                    <p:anim calcmode="lin" valueType="num">
                                      <p:cBhvr additive="base">
                                        <p:cTn id="67" dur="500" fill="hold"/>
                                        <p:tgtEl>
                                          <p:spTgt spid="1828868">
                                            <p:txEl>
                                              <p:pRg st="10" end="10"/>
                                            </p:tx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1828868">
                                            <p:txEl>
                                              <p:pRg st="10" end="1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5"/>
                                            </p:cond>
                                          </p:stCondLst>
                                          <p:endCondLst>
                                            <p:cond evt="onStopAudio" delay="0">
                                              <p:tgtEl>
                                                <p:sldTgt/>
                                              </p:tgtEl>
                                            </p:cond>
                                          </p:endCondLst>
                                        </p:cTn>
                                        <p:tgtEl>
                                          <p:sndTgt r:embed="rId2" name="carbrake.wav"/>
                                        </p:tgtEl>
                                      </p:cMediaNode>
                                    </p:audio>
                                  </p:sub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2" fill="hold" grpId="0" nodeType="clickEffect">
                                  <p:stCondLst>
                                    <p:cond delay="0"/>
                                  </p:stCondLst>
                                  <p:childTnLst>
                                    <p:set>
                                      <p:cBhvr>
                                        <p:cTn id="72" dur="1" fill="hold">
                                          <p:stCondLst>
                                            <p:cond delay="0"/>
                                          </p:stCondLst>
                                        </p:cTn>
                                        <p:tgtEl>
                                          <p:spTgt spid="1828868">
                                            <p:txEl>
                                              <p:pRg st="11" end="11"/>
                                            </p:txEl>
                                          </p:spTgt>
                                        </p:tgtEl>
                                        <p:attrNameLst>
                                          <p:attrName>style.visibility</p:attrName>
                                        </p:attrNameLst>
                                      </p:cBhvr>
                                      <p:to>
                                        <p:strVal val="visible"/>
                                      </p:to>
                                    </p:set>
                                    <p:anim calcmode="lin" valueType="num">
                                      <p:cBhvr additive="base">
                                        <p:cTn id="73" dur="500" fill="hold"/>
                                        <p:tgtEl>
                                          <p:spTgt spid="1828868">
                                            <p:txEl>
                                              <p:pRg st="11" end="11"/>
                                            </p:txEl>
                                          </p:spTgt>
                                        </p:tgtEl>
                                        <p:attrNameLst>
                                          <p:attrName>ppt_x</p:attrName>
                                        </p:attrNameLst>
                                      </p:cBhvr>
                                      <p:tavLst>
                                        <p:tav tm="0">
                                          <p:val>
                                            <p:strVal val="1+#ppt_w/2"/>
                                          </p:val>
                                        </p:tav>
                                        <p:tav tm="100000">
                                          <p:val>
                                            <p:strVal val="#ppt_x"/>
                                          </p:val>
                                        </p:tav>
                                      </p:tavLst>
                                    </p:anim>
                                    <p:anim calcmode="lin" valueType="num">
                                      <p:cBhvr additive="base">
                                        <p:cTn id="74" dur="500" fill="hold"/>
                                        <p:tgtEl>
                                          <p:spTgt spid="1828868">
                                            <p:txEl>
                                              <p:pRg st="11" end="1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1"/>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8868" grpId="0" build="p"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9890" name="Rectangle 2"/>
          <p:cNvSpPr>
            <a:spLocks noGrp="1" noChangeArrowheads="1"/>
          </p:cNvSpPr>
          <p:nvPr>
            <p:ph type="title"/>
          </p:nvPr>
        </p:nvSpPr>
        <p:spPr bwMode="auto">
          <a:xfrm>
            <a:off x="2895600" y="411163"/>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zh-CN" altLang="en-US" sz="3600" b="1">
                <a:latin typeface="Arial" panose="020B0604020202020204" pitchFamily="34" charset="0"/>
              </a:rPr>
              <a:t>主机的包转发函数</a:t>
            </a:r>
            <a:endParaRPr lang="zh-CN" altLang="en-US" sz="3600"/>
          </a:p>
        </p:txBody>
      </p:sp>
      <p:sp>
        <p:nvSpPr>
          <p:cNvPr id="1829892" name="Text Box 4"/>
          <p:cNvSpPr txBox="1">
            <a:spLocks noChangeArrowheads="1"/>
          </p:cNvSpPr>
          <p:nvPr/>
        </p:nvSpPr>
        <p:spPr bwMode="auto">
          <a:xfrm>
            <a:off x="2751139" y="1412876"/>
            <a:ext cx="6821487"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在主机上转发一个 </a:t>
            </a:r>
            <a:r>
              <a:rPr lang="en-US" altLang="zh-CN">
                <a:solidFill>
                  <a:srgbClr val="000000"/>
                </a:solidFill>
                <a:latin typeface="Arial" panose="020B0604020202020204" pitchFamily="34" charset="0"/>
              </a:rPr>
              <a:t>IP </a:t>
            </a:r>
            <a:r>
              <a:rPr lang="zh-CN" altLang="en-US">
                <a:solidFill>
                  <a:srgbClr val="000000"/>
                </a:solidFill>
                <a:latin typeface="Arial" panose="020B0604020202020204" pitchFamily="34" charset="0"/>
              </a:rPr>
              <a:t>报文</a:t>
            </a:r>
            <a:r>
              <a:rPr lang="en-US" altLang="zh-CN">
                <a:solidFill>
                  <a:srgbClr val="000000"/>
                </a:solidFill>
                <a:latin typeface="Arial" panose="020B0604020202020204" pitchFamily="34" charset="0"/>
              </a:rPr>
              <a:t>:</a:t>
            </a:r>
          </a:p>
          <a:p>
            <a:r>
              <a:rPr lang="en-US" altLang="zh-CN" sz="2400" b="1">
                <a:solidFill>
                  <a:srgbClr val="0000FF"/>
                </a:solidFill>
                <a:latin typeface="Courier" charset="0"/>
              </a:rPr>
              <a:t>DestNet = </a:t>
            </a:r>
            <a:r>
              <a:rPr lang="zh-CN" altLang="en-US" sz="2400" b="1">
                <a:solidFill>
                  <a:srgbClr val="0000FF"/>
                </a:solidFill>
                <a:latin typeface="Courier" charset="0"/>
              </a:rPr>
              <a:t>网络号在目的</a:t>
            </a:r>
            <a:r>
              <a:rPr lang="en-US" altLang="zh-CN" sz="2400" b="1">
                <a:solidFill>
                  <a:srgbClr val="0000FF"/>
                </a:solidFill>
                <a:latin typeface="Courier" charset="0"/>
              </a:rPr>
              <a:t>IP</a:t>
            </a:r>
            <a:r>
              <a:rPr lang="zh-CN" altLang="en-US" sz="2400" b="1">
                <a:solidFill>
                  <a:srgbClr val="0000FF"/>
                </a:solidFill>
                <a:latin typeface="Courier" charset="0"/>
              </a:rPr>
              <a:t>地址</a:t>
            </a:r>
          </a:p>
          <a:p>
            <a:r>
              <a:rPr lang="en-US" altLang="zh-CN" sz="2400" b="1">
                <a:solidFill>
                  <a:srgbClr val="0000FF"/>
                </a:solidFill>
                <a:latin typeface="Courier" charset="0"/>
              </a:rPr>
              <a:t>If (DestNet == </a:t>
            </a:r>
            <a:r>
              <a:rPr lang="zh-CN" altLang="en-US" sz="2400" b="1">
                <a:solidFill>
                  <a:srgbClr val="0000FF"/>
                </a:solidFill>
                <a:latin typeface="Courier" charset="0"/>
              </a:rPr>
              <a:t>本地 </a:t>
            </a:r>
            <a:r>
              <a:rPr lang="en-US" altLang="zh-CN" sz="2400" b="1">
                <a:solidFill>
                  <a:srgbClr val="0000FF"/>
                </a:solidFill>
                <a:latin typeface="Courier" charset="0"/>
              </a:rPr>
              <a:t>Network id)</a:t>
            </a:r>
          </a:p>
          <a:p>
            <a:r>
              <a:rPr lang="en-US" altLang="zh-CN" sz="2400">
                <a:solidFill>
                  <a:srgbClr val="FF00FF"/>
                </a:solidFill>
                <a:latin typeface="Arial" panose="020B0604020202020204" pitchFamily="34" charset="0"/>
              </a:rPr>
              <a:t>     </a:t>
            </a:r>
            <a:r>
              <a:rPr lang="zh-CN" altLang="en-US" sz="2400">
                <a:solidFill>
                  <a:srgbClr val="FF00FF"/>
                </a:solidFill>
                <a:latin typeface="Arial" panose="020B0604020202020204" pitchFamily="34" charset="0"/>
              </a:rPr>
              <a:t>直接把数据报传送到目的站</a:t>
            </a:r>
            <a:r>
              <a:rPr lang="en-US" altLang="zh-CN" sz="2400">
                <a:solidFill>
                  <a:srgbClr val="FF00FF"/>
                </a:solidFill>
                <a:latin typeface="Arial" panose="020B0604020202020204" pitchFamily="34" charset="0"/>
              </a:rPr>
              <a:t>;</a:t>
            </a:r>
          </a:p>
          <a:p>
            <a:r>
              <a:rPr lang="en-US" altLang="zh-CN" sz="2400" b="1">
                <a:solidFill>
                  <a:srgbClr val="0000FF"/>
                </a:solidFill>
                <a:latin typeface="Courier" charset="0"/>
              </a:rPr>
              <a:t>else</a:t>
            </a:r>
          </a:p>
          <a:p>
            <a:r>
              <a:rPr lang="en-US" altLang="zh-CN" sz="2400">
                <a:solidFill>
                  <a:srgbClr val="FF00FF"/>
                </a:solidFill>
                <a:latin typeface="Arial" panose="020B0604020202020204" pitchFamily="34" charset="0"/>
              </a:rPr>
              <a:t>    </a:t>
            </a:r>
            <a:r>
              <a:rPr lang="zh-CN" altLang="en-US" sz="2400">
                <a:solidFill>
                  <a:srgbClr val="FF00FF"/>
                </a:solidFill>
                <a:latin typeface="Arial" panose="020B0604020202020204" pitchFamily="34" charset="0"/>
              </a:rPr>
              <a:t>把数据报发送到默认路由器</a:t>
            </a:r>
            <a:r>
              <a:rPr lang="en-US" altLang="zh-CN" sz="2400">
                <a:solidFill>
                  <a:srgbClr val="FF00FF"/>
                </a:solidFill>
                <a:latin typeface="Arial" panose="020B0604020202020204" pitchFamily="34" charset="0"/>
              </a:rPr>
              <a:t>;</a:t>
            </a:r>
          </a:p>
          <a:p>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在主机</a:t>
            </a:r>
            <a:r>
              <a:rPr lang="zh-CN" altLang="en-US" smtClean="0">
                <a:solidFill>
                  <a:srgbClr val="000000"/>
                </a:solidFill>
                <a:latin typeface="Arial" panose="020B0604020202020204" pitchFamily="34" charset="0"/>
              </a:rPr>
              <a:t>上不转发</a:t>
            </a:r>
            <a:r>
              <a:rPr lang="zh-CN" altLang="en-US">
                <a:solidFill>
                  <a:srgbClr val="000000"/>
                </a:solidFill>
                <a:latin typeface="Arial" panose="020B0604020202020204" pitchFamily="34" charset="0"/>
              </a:rPr>
              <a:t>一个 </a:t>
            </a:r>
            <a:r>
              <a:rPr lang="en-US" altLang="zh-CN">
                <a:solidFill>
                  <a:srgbClr val="000000"/>
                </a:solidFill>
                <a:latin typeface="Arial" panose="020B0604020202020204" pitchFamily="34" charset="0"/>
              </a:rPr>
              <a:t>IP</a:t>
            </a:r>
            <a:r>
              <a:rPr lang="zh-CN" altLang="en-US">
                <a:solidFill>
                  <a:srgbClr val="000000"/>
                </a:solidFill>
                <a:latin typeface="Arial" panose="020B0604020202020204" pitchFamily="34" charset="0"/>
              </a:rPr>
              <a:t>报文</a:t>
            </a:r>
            <a:r>
              <a:rPr lang="en-US" altLang="zh-CN">
                <a:solidFill>
                  <a:srgbClr val="000000"/>
                </a:solidFill>
                <a:latin typeface="Arial" panose="020B0604020202020204" pitchFamily="34" charset="0"/>
              </a:rPr>
              <a:t>:</a:t>
            </a:r>
          </a:p>
          <a:p>
            <a:r>
              <a:rPr lang="zh-CN" altLang="en-US" sz="2400" b="1">
                <a:solidFill>
                  <a:srgbClr val="0000FF"/>
                </a:solidFill>
                <a:latin typeface="Courier" charset="0"/>
              </a:rPr>
              <a:t>在接口上受到数据报</a:t>
            </a:r>
          </a:p>
          <a:p>
            <a:r>
              <a:rPr lang="en-US" altLang="zh-CN" sz="2400" b="1">
                <a:solidFill>
                  <a:srgbClr val="0000FF"/>
                </a:solidFill>
                <a:latin typeface="Courier" charset="0"/>
              </a:rPr>
              <a:t>If (</a:t>
            </a:r>
            <a:r>
              <a:rPr lang="zh-CN" altLang="en-US" sz="2400" b="1">
                <a:solidFill>
                  <a:srgbClr val="0000FF"/>
                </a:solidFill>
                <a:latin typeface="Courier" charset="0"/>
              </a:rPr>
              <a:t>目的 </a:t>
            </a:r>
            <a:r>
              <a:rPr lang="en-US" altLang="zh-CN" sz="2400" b="1">
                <a:solidFill>
                  <a:srgbClr val="0000FF"/>
                </a:solidFill>
                <a:latin typeface="Courier" charset="0"/>
              </a:rPr>
              <a:t>IP </a:t>
            </a:r>
            <a:r>
              <a:rPr lang="zh-CN" altLang="en-US" sz="2400" b="1">
                <a:solidFill>
                  <a:srgbClr val="0000FF"/>
                </a:solidFill>
                <a:latin typeface="Courier" charset="0"/>
              </a:rPr>
              <a:t>地址 </a:t>
            </a:r>
            <a:r>
              <a:rPr lang="en-US" altLang="zh-CN" sz="2400" b="1">
                <a:solidFill>
                  <a:srgbClr val="0000FF"/>
                </a:solidFill>
                <a:latin typeface="Courier" charset="0"/>
              </a:rPr>
              <a:t>== (</a:t>
            </a:r>
            <a:r>
              <a:rPr lang="zh-CN" altLang="en-US" sz="2400" b="1">
                <a:solidFill>
                  <a:srgbClr val="0000FF"/>
                </a:solidFill>
                <a:latin typeface="Courier" charset="0"/>
              </a:rPr>
              <a:t>本地 </a:t>
            </a:r>
            <a:r>
              <a:rPr lang="en-US" altLang="zh-CN" sz="2400" b="1">
                <a:solidFill>
                  <a:srgbClr val="0000FF"/>
                </a:solidFill>
                <a:latin typeface="Courier" charset="0"/>
              </a:rPr>
              <a:t>IP </a:t>
            </a:r>
            <a:r>
              <a:rPr lang="zh-CN" altLang="en-US" sz="2400" b="1">
                <a:solidFill>
                  <a:srgbClr val="0000FF"/>
                </a:solidFill>
                <a:latin typeface="Courier" charset="0"/>
              </a:rPr>
              <a:t>地址 </a:t>
            </a:r>
            <a:r>
              <a:rPr lang="en-US" altLang="zh-CN" sz="2400" b="1">
                <a:solidFill>
                  <a:srgbClr val="0000FF"/>
                </a:solidFill>
                <a:latin typeface="Courier" charset="0"/>
              </a:rPr>
              <a:t>||</a:t>
            </a:r>
          </a:p>
          <a:p>
            <a:r>
              <a:rPr lang="zh-CN" altLang="en-US" sz="2400" b="1">
                <a:solidFill>
                  <a:srgbClr val="0000FF"/>
                </a:solidFill>
                <a:latin typeface="Courier" charset="0"/>
              </a:rPr>
              <a:t>广播地址</a:t>
            </a:r>
            <a:r>
              <a:rPr lang="en-US" altLang="zh-CN" sz="2400" b="1">
                <a:solidFill>
                  <a:srgbClr val="0000FF"/>
                </a:solidFill>
                <a:latin typeface="Courier" charset="0"/>
              </a:rPr>
              <a:t>))</a:t>
            </a:r>
          </a:p>
          <a:p>
            <a:r>
              <a:rPr lang="en-US" altLang="zh-CN" sz="2400">
                <a:solidFill>
                  <a:srgbClr val="FF00FF"/>
                </a:solidFill>
                <a:latin typeface="Arial" panose="020B0604020202020204" pitchFamily="34" charset="0"/>
              </a:rPr>
              <a:t>      </a:t>
            </a:r>
            <a:r>
              <a:rPr lang="zh-CN" altLang="en-US" sz="2400">
                <a:solidFill>
                  <a:srgbClr val="FF00FF"/>
                </a:solidFill>
                <a:latin typeface="Arial" panose="020B0604020202020204" pitchFamily="34" charset="0"/>
              </a:rPr>
              <a:t>把数据报传送到高层</a:t>
            </a:r>
            <a:r>
              <a:rPr lang="en-US" altLang="zh-CN" sz="2400">
                <a:solidFill>
                  <a:srgbClr val="FF00FF"/>
                </a:solidFill>
                <a:latin typeface="Arial" panose="020B0604020202020204" pitchFamily="34" charset="0"/>
              </a:rPr>
              <a:t>;</a:t>
            </a:r>
          </a:p>
          <a:p>
            <a:r>
              <a:rPr lang="en-US" altLang="zh-CN" sz="2400" b="1">
                <a:solidFill>
                  <a:srgbClr val="0000FF"/>
                </a:solidFill>
                <a:latin typeface="Courier" charset="0"/>
              </a:rPr>
              <a:t>else</a:t>
            </a:r>
          </a:p>
          <a:p>
            <a:r>
              <a:rPr lang="en-US" altLang="zh-CN" sz="2400">
                <a:solidFill>
                  <a:srgbClr val="FF00FF"/>
                </a:solidFill>
                <a:latin typeface="Arial" panose="020B0604020202020204" pitchFamily="34" charset="0"/>
              </a:rPr>
              <a:t>      </a:t>
            </a:r>
            <a:r>
              <a:rPr lang="zh-CN" altLang="en-US" sz="2400">
                <a:solidFill>
                  <a:srgbClr val="FF00FF"/>
                </a:solidFill>
                <a:latin typeface="Arial" panose="020B0604020202020204" pitchFamily="34" charset="0"/>
              </a:rPr>
              <a:t>丢掉数据报</a:t>
            </a:r>
            <a:endParaRPr lang="zh-CN" altLang="en-US" sz="2400"/>
          </a:p>
        </p:txBody>
      </p:sp>
    </p:spTree>
    <p:extLst>
      <p:ext uri="{BB962C8B-B14F-4D97-AF65-F5344CB8AC3E}">
        <p14:creationId xmlns:p14="http://schemas.microsoft.com/office/powerpoint/2010/main" val="3016680387"/>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29892">
                                            <p:txEl>
                                              <p:pRg st="0" end="0"/>
                                            </p:txEl>
                                          </p:spTgt>
                                        </p:tgtEl>
                                        <p:attrNameLst>
                                          <p:attrName>style.visibility</p:attrName>
                                        </p:attrNameLst>
                                      </p:cBhvr>
                                      <p:to>
                                        <p:strVal val="visible"/>
                                      </p:to>
                                    </p:set>
                                    <p:anim calcmode="lin" valueType="num">
                                      <p:cBhvr additive="base">
                                        <p:cTn id="7" dur="500" fill="hold"/>
                                        <p:tgtEl>
                                          <p:spTgt spid="182989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2989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29892">
                                            <p:txEl>
                                              <p:pRg st="1" end="1"/>
                                            </p:txEl>
                                          </p:spTgt>
                                        </p:tgtEl>
                                        <p:attrNameLst>
                                          <p:attrName>style.visibility</p:attrName>
                                        </p:attrNameLst>
                                      </p:cBhvr>
                                      <p:to>
                                        <p:strVal val="visible"/>
                                      </p:to>
                                    </p:set>
                                    <p:anim calcmode="lin" valueType="num">
                                      <p:cBhvr additive="base">
                                        <p:cTn id="13" dur="500" fill="hold"/>
                                        <p:tgtEl>
                                          <p:spTgt spid="1829892">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29892">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rbrak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29892">
                                            <p:txEl>
                                              <p:pRg st="2" end="2"/>
                                            </p:txEl>
                                          </p:spTgt>
                                        </p:tgtEl>
                                        <p:attrNameLst>
                                          <p:attrName>style.visibility</p:attrName>
                                        </p:attrNameLst>
                                      </p:cBhvr>
                                      <p:to>
                                        <p:strVal val="visible"/>
                                      </p:to>
                                    </p:set>
                                    <p:anim calcmode="lin" valueType="num">
                                      <p:cBhvr additive="base">
                                        <p:cTn id="19" dur="500" fill="hold"/>
                                        <p:tgtEl>
                                          <p:spTgt spid="1829892">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29892">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rbrake.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29892">
                                            <p:txEl>
                                              <p:pRg st="3" end="3"/>
                                            </p:txEl>
                                          </p:spTgt>
                                        </p:tgtEl>
                                        <p:attrNameLst>
                                          <p:attrName>style.visibility</p:attrName>
                                        </p:attrNameLst>
                                      </p:cBhvr>
                                      <p:to>
                                        <p:strVal val="visible"/>
                                      </p:to>
                                    </p:set>
                                    <p:anim calcmode="lin" valueType="num">
                                      <p:cBhvr additive="base">
                                        <p:cTn id="25" dur="500" fill="hold"/>
                                        <p:tgtEl>
                                          <p:spTgt spid="1829892">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29892">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rbrake.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29892">
                                            <p:txEl>
                                              <p:pRg st="4" end="4"/>
                                            </p:txEl>
                                          </p:spTgt>
                                        </p:tgtEl>
                                        <p:attrNameLst>
                                          <p:attrName>style.visibility</p:attrName>
                                        </p:attrNameLst>
                                      </p:cBhvr>
                                      <p:to>
                                        <p:strVal val="visible"/>
                                      </p:to>
                                    </p:set>
                                    <p:anim calcmode="lin" valueType="num">
                                      <p:cBhvr additive="base">
                                        <p:cTn id="31" dur="500" fill="hold"/>
                                        <p:tgtEl>
                                          <p:spTgt spid="1829892">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29892">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carbrake.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29892">
                                            <p:txEl>
                                              <p:pRg st="5" end="5"/>
                                            </p:txEl>
                                          </p:spTgt>
                                        </p:tgtEl>
                                        <p:attrNameLst>
                                          <p:attrName>style.visibility</p:attrName>
                                        </p:attrNameLst>
                                      </p:cBhvr>
                                      <p:to>
                                        <p:strVal val="visible"/>
                                      </p:to>
                                    </p:set>
                                    <p:anim calcmode="lin" valueType="num">
                                      <p:cBhvr additive="base">
                                        <p:cTn id="37" dur="500" fill="hold"/>
                                        <p:tgtEl>
                                          <p:spTgt spid="1829892">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29892">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carbrake.wav"/>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829892">
                                            <p:txEl>
                                              <p:pRg st="6" end="6"/>
                                            </p:txEl>
                                          </p:spTgt>
                                        </p:tgtEl>
                                        <p:attrNameLst>
                                          <p:attrName>style.visibility</p:attrName>
                                        </p:attrNameLst>
                                      </p:cBhvr>
                                      <p:to>
                                        <p:strVal val="visible"/>
                                      </p:to>
                                    </p:set>
                                    <p:anim calcmode="lin" valueType="num">
                                      <p:cBhvr additive="base">
                                        <p:cTn id="43" dur="500" fill="hold"/>
                                        <p:tgtEl>
                                          <p:spTgt spid="1829892">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829892">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carbrake.wav"/>
                                        </p:tgtEl>
                                      </p:cMediaNode>
                                    </p:audio>
                                  </p:sub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829892">
                                            <p:txEl>
                                              <p:pRg st="7" end="7"/>
                                            </p:txEl>
                                          </p:spTgt>
                                        </p:tgtEl>
                                        <p:attrNameLst>
                                          <p:attrName>style.visibility</p:attrName>
                                        </p:attrNameLst>
                                      </p:cBhvr>
                                      <p:to>
                                        <p:strVal val="visible"/>
                                      </p:to>
                                    </p:set>
                                    <p:anim calcmode="lin" valueType="num">
                                      <p:cBhvr additive="base">
                                        <p:cTn id="49" dur="500" fill="hold"/>
                                        <p:tgtEl>
                                          <p:spTgt spid="1829892">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829892">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2" name="carbrake.wav"/>
                                        </p:tgtEl>
                                      </p:cMediaNode>
                                    </p:audio>
                                  </p:sub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829892">
                                            <p:txEl>
                                              <p:pRg st="8" end="8"/>
                                            </p:txEl>
                                          </p:spTgt>
                                        </p:tgtEl>
                                        <p:attrNameLst>
                                          <p:attrName>style.visibility</p:attrName>
                                        </p:attrNameLst>
                                      </p:cBhvr>
                                      <p:to>
                                        <p:strVal val="visible"/>
                                      </p:to>
                                    </p:set>
                                    <p:anim calcmode="lin" valueType="num">
                                      <p:cBhvr additive="base">
                                        <p:cTn id="55" dur="500" fill="hold"/>
                                        <p:tgtEl>
                                          <p:spTgt spid="1829892">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829892">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2" name="carbrake.wav"/>
                                        </p:tgtEl>
                                      </p:cMediaNode>
                                    </p:audio>
                                  </p:sub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1829892">
                                            <p:txEl>
                                              <p:pRg st="9" end="9"/>
                                            </p:txEl>
                                          </p:spTgt>
                                        </p:tgtEl>
                                        <p:attrNameLst>
                                          <p:attrName>style.visibility</p:attrName>
                                        </p:attrNameLst>
                                      </p:cBhvr>
                                      <p:to>
                                        <p:strVal val="visible"/>
                                      </p:to>
                                    </p:set>
                                    <p:anim calcmode="lin" valueType="num">
                                      <p:cBhvr additive="base">
                                        <p:cTn id="61" dur="500" fill="hold"/>
                                        <p:tgtEl>
                                          <p:spTgt spid="1829892">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1829892">
                                            <p:txEl>
                                              <p:pRg st="9" end="9"/>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9"/>
                                            </p:cond>
                                          </p:stCondLst>
                                          <p:endCondLst>
                                            <p:cond evt="onStopAudio" delay="0">
                                              <p:tgtEl>
                                                <p:sldTgt/>
                                              </p:tgtEl>
                                            </p:cond>
                                          </p:endCondLst>
                                        </p:cTn>
                                        <p:tgtEl>
                                          <p:sndTgt r:embed="rId2" name="carbrake.wav"/>
                                        </p:tgtEl>
                                      </p:cMediaNode>
                                    </p:audio>
                                  </p:sub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1829892">
                                            <p:txEl>
                                              <p:pRg st="10" end="10"/>
                                            </p:txEl>
                                          </p:spTgt>
                                        </p:tgtEl>
                                        <p:attrNameLst>
                                          <p:attrName>style.visibility</p:attrName>
                                        </p:attrNameLst>
                                      </p:cBhvr>
                                      <p:to>
                                        <p:strVal val="visible"/>
                                      </p:to>
                                    </p:set>
                                    <p:anim calcmode="lin" valueType="num">
                                      <p:cBhvr additive="base">
                                        <p:cTn id="67" dur="500" fill="hold"/>
                                        <p:tgtEl>
                                          <p:spTgt spid="1829892">
                                            <p:txEl>
                                              <p:pRg st="10" end="10"/>
                                            </p:tx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1829892">
                                            <p:txEl>
                                              <p:pRg st="10" end="1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5"/>
                                            </p:cond>
                                          </p:stCondLst>
                                          <p:endCondLst>
                                            <p:cond evt="onStopAudio" delay="0">
                                              <p:tgtEl>
                                                <p:sldTgt/>
                                              </p:tgtEl>
                                            </p:cond>
                                          </p:endCondLst>
                                        </p:cTn>
                                        <p:tgtEl>
                                          <p:sndTgt r:embed="rId2" name="carbrake.wav"/>
                                        </p:tgtEl>
                                      </p:cMediaNode>
                                    </p:audio>
                                  </p:sub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2" fill="hold" grpId="0" nodeType="clickEffect">
                                  <p:stCondLst>
                                    <p:cond delay="0"/>
                                  </p:stCondLst>
                                  <p:childTnLst>
                                    <p:set>
                                      <p:cBhvr>
                                        <p:cTn id="72" dur="1" fill="hold">
                                          <p:stCondLst>
                                            <p:cond delay="0"/>
                                          </p:stCondLst>
                                        </p:cTn>
                                        <p:tgtEl>
                                          <p:spTgt spid="1829892">
                                            <p:txEl>
                                              <p:pRg st="11" end="11"/>
                                            </p:txEl>
                                          </p:spTgt>
                                        </p:tgtEl>
                                        <p:attrNameLst>
                                          <p:attrName>style.visibility</p:attrName>
                                        </p:attrNameLst>
                                      </p:cBhvr>
                                      <p:to>
                                        <p:strVal val="visible"/>
                                      </p:to>
                                    </p:set>
                                    <p:anim calcmode="lin" valueType="num">
                                      <p:cBhvr additive="base">
                                        <p:cTn id="73" dur="500" fill="hold"/>
                                        <p:tgtEl>
                                          <p:spTgt spid="1829892">
                                            <p:txEl>
                                              <p:pRg st="11" end="11"/>
                                            </p:txEl>
                                          </p:spTgt>
                                        </p:tgtEl>
                                        <p:attrNameLst>
                                          <p:attrName>ppt_x</p:attrName>
                                        </p:attrNameLst>
                                      </p:cBhvr>
                                      <p:tavLst>
                                        <p:tav tm="0">
                                          <p:val>
                                            <p:strVal val="1+#ppt_w/2"/>
                                          </p:val>
                                        </p:tav>
                                        <p:tav tm="100000">
                                          <p:val>
                                            <p:strVal val="#ppt_x"/>
                                          </p:val>
                                        </p:tav>
                                      </p:tavLst>
                                    </p:anim>
                                    <p:anim calcmode="lin" valueType="num">
                                      <p:cBhvr additive="base">
                                        <p:cTn id="74" dur="500" fill="hold"/>
                                        <p:tgtEl>
                                          <p:spTgt spid="1829892">
                                            <p:txEl>
                                              <p:pRg st="11" end="1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1"/>
                                            </p:cond>
                                          </p:stCondLst>
                                          <p:endCondLst>
                                            <p:cond evt="onStopAudio" delay="0">
                                              <p:tgtEl>
                                                <p:sldTgt/>
                                              </p:tgtEl>
                                            </p:cond>
                                          </p:endCondLst>
                                        </p:cTn>
                                        <p:tgtEl>
                                          <p:sndTgt r:embed="rId2" name="carbrake.wav"/>
                                        </p:tgtEl>
                                      </p:cMediaNode>
                                    </p:audio>
                                  </p:sub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2" fill="hold" grpId="0" nodeType="clickEffect">
                                  <p:stCondLst>
                                    <p:cond delay="0"/>
                                  </p:stCondLst>
                                  <p:childTnLst>
                                    <p:set>
                                      <p:cBhvr>
                                        <p:cTn id="78" dur="1" fill="hold">
                                          <p:stCondLst>
                                            <p:cond delay="0"/>
                                          </p:stCondLst>
                                        </p:cTn>
                                        <p:tgtEl>
                                          <p:spTgt spid="1829892">
                                            <p:txEl>
                                              <p:pRg st="12" end="12"/>
                                            </p:txEl>
                                          </p:spTgt>
                                        </p:tgtEl>
                                        <p:attrNameLst>
                                          <p:attrName>style.visibility</p:attrName>
                                        </p:attrNameLst>
                                      </p:cBhvr>
                                      <p:to>
                                        <p:strVal val="visible"/>
                                      </p:to>
                                    </p:set>
                                    <p:anim calcmode="lin" valueType="num">
                                      <p:cBhvr additive="base">
                                        <p:cTn id="79" dur="500" fill="hold"/>
                                        <p:tgtEl>
                                          <p:spTgt spid="1829892">
                                            <p:txEl>
                                              <p:pRg st="12" end="12"/>
                                            </p:txEl>
                                          </p:spTgt>
                                        </p:tgtEl>
                                        <p:attrNameLst>
                                          <p:attrName>ppt_x</p:attrName>
                                        </p:attrNameLst>
                                      </p:cBhvr>
                                      <p:tavLst>
                                        <p:tav tm="0">
                                          <p:val>
                                            <p:strVal val="1+#ppt_w/2"/>
                                          </p:val>
                                        </p:tav>
                                        <p:tav tm="100000">
                                          <p:val>
                                            <p:strVal val="#ppt_x"/>
                                          </p:val>
                                        </p:tav>
                                      </p:tavLst>
                                    </p:anim>
                                    <p:anim calcmode="lin" valueType="num">
                                      <p:cBhvr additive="base">
                                        <p:cTn id="80" dur="500" fill="hold"/>
                                        <p:tgtEl>
                                          <p:spTgt spid="1829892">
                                            <p:txEl>
                                              <p:pRg st="12" end="1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7"/>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9892" grpId="0" build="p" autoUpdateAnimBg="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3251" name="Rectangle 3"/>
          <p:cNvSpPr>
            <a:spLocks noGrp="1" noChangeArrowheads="1"/>
          </p:cNvSpPr>
          <p:nvPr>
            <p:ph type="body" idx="1"/>
          </p:nvPr>
        </p:nvSpPr>
        <p:spPr bwMode="auto">
          <a:xfrm>
            <a:off x="2182019" y="1697038"/>
            <a:ext cx="8421687" cy="4114800"/>
          </a:xfr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2500" lnSpcReduction="10000"/>
          </a:bodyPr>
          <a:lstStyle/>
          <a:p>
            <a:pPr>
              <a:lnSpc>
                <a:spcPct val="90000"/>
              </a:lnSpc>
              <a:buFont typeface="Wingdings" panose="05000000000000000000" pitchFamily="2" charset="2"/>
              <a:buNone/>
            </a:pPr>
            <a:r>
              <a:rPr lang="zh-CN" altLang="en-US" sz="2400">
                <a:latin typeface="Courier New" panose="02070309020205020404" pitchFamily="49" charset="0"/>
              </a:rPr>
              <a:t>查找报文的目的 </a:t>
            </a:r>
            <a:r>
              <a:rPr lang="en-US" altLang="zh-CN" sz="2400" i="1">
                <a:solidFill>
                  <a:schemeClr val="folHlink"/>
                </a:solidFill>
                <a:latin typeface="Courier New" panose="02070309020205020404" pitchFamily="49" charset="0"/>
              </a:rPr>
              <a:t>network_num</a:t>
            </a:r>
          </a:p>
          <a:p>
            <a:pPr>
              <a:lnSpc>
                <a:spcPct val="90000"/>
              </a:lnSpc>
              <a:buFont typeface="Wingdings" panose="05000000000000000000" pitchFamily="2" charset="2"/>
              <a:buNone/>
            </a:pPr>
            <a:r>
              <a:rPr lang="en-US" altLang="zh-CN" sz="2400" b="1">
                <a:latin typeface="Courier New" panose="02070309020205020404" pitchFamily="49" charset="0"/>
              </a:rPr>
              <a:t>if</a:t>
            </a:r>
            <a:r>
              <a:rPr lang="en-US" altLang="zh-CN" sz="2400">
                <a:latin typeface="Courier New" panose="02070309020205020404" pitchFamily="49" charset="0"/>
              </a:rPr>
              <a:t> (</a:t>
            </a:r>
            <a:r>
              <a:rPr lang="en-US" altLang="zh-CN" sz="2400" i="1">
                <a:solidFill>
                  <a:schemeClr val="folHlink"/>
                </a:solidFill>
                <a:latin typeface="Courier New" panose="02070309020205020404" pitchFamily="49" charset="0"/>
              </a:rPr>
              <a:t>network_num</a:t>
            </a:r>
            <a:r>
              <a:rPr lang="en-US" altLang="zh-CN" sz="2400">
                <a:latin typeface="Courier New" panose="02070309020205020404" pitchFamily="49" charset="0"/>
              </a:rPr>
              <a:t> = </a:t>
            </a:r>
            <a:r>
              <a:rPr lang="zh-CN" altLang="en-US" sz="2400">
                <a:latin typeface="Courier New" panose="02070309020205020404" pitchFamily="49" charset="0"/>
              </a:rPr>
              <a:t>接口之一</a:t>
            </a:r>
            <a:r>
              <a:rPr lang="en-US" altLang="zh-CN" sz="2400">
                <a:latin typeface="Courier New" panose="02070309020205020404" pitchFamily="49" charset="0"/>
              </a:rPr>
              <a:t>)</a:t>
            </a:r>
          </a:p>
          <a:p>
            <a:pPr>
              <a:lnSpc>
                <a:spcPct val="90000"/>
              </a:lnSpc>
              <a:buFont typeface="Wingdings" panose="05000000000000000000" pitchFamily="2" charset="2"/>
              <a:buNone/>
            </a:pPr>
            <a:r>
              <a:rPr lang="en-US" altLang="zh-CN" sz="2400" b="1">
                <a:latin typeface="Courier New" panose="02070309020205020404" pitchFamily="49" charset="0"/>
              </a:rPr>
              <a:t>then</a:t>
            </a:r>
          </a:p>
          <a:p>
            <a:pPr>
              <a:lnSpc>
                <a:spcPct val="90000"/>
              </a:lnSpc>
              <a:buFont typeface="Wingdings" panose="05000000000000000000" pitchFamily="2" charset="2"/>
              <a:buNone/>
            </a:pPr>
            <a:r>
              <a:rPr lang="en-US" altLang="zh-CN" sz="2400">
                <a:latin typeface="Courier New" panose="02070309020205020404" pitchFamily="49" charset="0"/>
              </a:rPr>
              <a:t>	</a:t>
            </a:r>
            <a:r>
              <a:rPr lang="zh-CN" altLang="en-US" sz="2400">
                <a:latin typeface="Courier New" panose="02070309020205020404" pitchFamily="49" charset="0"/>
              </a:rPr>
              <a:t>通过此接口传送到目的站</a:t>
            </a:r>
          </a:p>
          <a:p>
            <a:pPr>
              <a:lnSpc>
                <a:spcPct val="90000"/>
              </a:lnSpc>
              <a:buFont typeface="Wingdings" panose="05000000000000000000" pitchFamily="2" charset="2"/>
              <a:buNone/>
            </a:pPr>
            <a:r>
              <a:rPr lang="en-US" altLang="zh-CN" sz="2400" b="1">
                <a:latin typeface="Courier New" panose="02070309020205020404" pitchFamily="49" charset="0"/>
              </a:rPr>
              <a:t>else</a:t>
            </a:r>
          </a:p>
          <a:p>
            <a:pPr>
              <a:lnSpc>
                <a:spcPct val="90000"/>
              </a:lnSpc>
              <a:buFont typeface="Wingdings" panose="05000000000000000000" pitchFamily="2" charset="2"/>
              <a:buNone/>
            </a:pPr>
            <a:r>
              <a:rPr lang="en-US" altLang="zh-CN" sz="2400">
                <a:latin typeface="Courier New" panose="02070309020205020404" pitchFamily="49" charset="0"/>
              </a:rPr>
              <a:t>	</a:t>
            </a:r>
            <a:r>
              <a:rPr lang="en-US" altLang="zh-CN" sz="2400" b="1">
                <a:latin typeface="Courier New" panose="02070309020205020404" pitchFamily="49" charset="0"/>
              </a:rPr>
              <a:t>if</a:t>
            </a:r>
            <a:r>
              <a:rPr lang="en-US" altLang="zh-CN" sz="2400">
                <a:latin typeface="Courier New" panose="02070309020205020404" pitchFamily="49" charset="0"/>
              </a:rPr>
              <a:t> (</a:t>
            </a:r>
            <a:r>
              <a:rPr lang="en-US" altLang="zh-CN" sz="2400" i="1">
                <a:solidFill>
                  <a:schemeClr val="folHlink"/>
                </a:solidFill>
                <a:latin typeface="Courier New" panose="02070309020205020404" pitchFamily="49" charset="0"/>
              </a:rPr>
              <a:t>network_num</a:t>
            </a:r>
            <a:r>
              <a:rPr lang="en-US" altLang="zh-CN" sz="2400">
                <a:latin typeface="Courier New" panose="02070309020205020404" pitchFamily="49" charset="0"/>
              </a:rPr>
              <a:t> </a:t>
            </a:r>
            <a:r>
              <a:rPr lang="zh-CN" altLang="en-US" sz="2400">
                <a:latin typeface="Courier New" panose="02070309020205020404" pitchFamily="49" charset="0"/>
              </a:rPr>
              <a:t>在本地转发表</a:t>
            </a:r>
            <a:r>
              <a:rPr lang="en-US" altLang="zh-CN" sz="2400">
                <a:latin typeface="Courier New" panose="02070309020205020404" pitchFamily="49" charset="0"/>
              </a:rPr>
              <a:t>)</a:t>
            </a:r>
          </a:p>
          <a:p>
            <a:pPr>
              <a:lnSpc>
                <a:spcPct val="90000"/>
              </a:lnSpc>
              <a:buFont typeface="Wingdings" panose="05000000000000000000" pitchFamily="2" charset="2"/>
              <a:buNone/>
            </a:pPr>
            <a:r>
              <a:rPr lang="en-US" altLang="zh-CN" sz="2400">
                <a:latin typeface="Courier New" panose="02070309020205020404" pitchFamily="49" charset="0"/>
              </a:rPr>
              <a:t>	</a:t>
            </a:r>
            <a:r>
              <a:rPr lang="en-US" altLang="zh-CN" sz="2400" b="1">
                <a:latin typeface="Courier New" panose="02070309020205020404" pitchFamily="49" charset="0"/>
              </a:rPr>
              <a:t>then</a:t>
            </a:r>
          </a:p>
          <a:p>
            <a:pPr>
              <a:lnSpc>
                <a:spcPct val="90000"/>
              </a:lnSpc>
              <a:buFont typeface="Wingdings" panose="05000000000000000000" pitchFamily="2" charset="2"/>
              <a:buNone/>
            </a:pPr>
            <a:r>
              <a:rPr lang="en-US" altLang="zh-CN" sz="2400">
                <a:latin typeface="Courier New" panose="02070309020205020404" pitchFamily="49" charset="0"/>
              </a:rPr>
              <a:t>		</a:t>
            </a:r>
            <a:r>
              <a:rPr lang="zh-CN" altLang="en-US" sz="2400">
                <a:latin typeface="Courier New" panose="02070309020205020404" pitchFamily="49" charset="0"/>
              </a:rPr>
              <a:t>传送到下一条路由器</a:t>
            </a:r>
          </a:p>
          <a:p>
            <a:pPr>
              <a:lnSpc>
                <a:spcPct val="90000"/>
              </a:lnSpc>
              <a:buFont typeface="Wingdings" panose="05000000000000000000" pitchFamily="2" charset="2"/>
              <a:buNone/>
            </a:pPr>
            <a:r>
              <a:rPr lang="zh-CN" altLang="en-US" sz="2400">
                <a:latin typeface="Courier New" panose="02070309020205020404" pitchFamily="49" charset="0"/>
              </a:rPr>
              <a:t>	</a:t>
            </a:r>
            <a:r>
              <a:rPr lang="en-US" altLang="zh-CN" sz="2400" b="1">
                <a:latin typeface="Courier New" panose="02070309020205020404" pitchFamily="49" charset="0"/>
              </a:rPr>
              <a:t>else</a:t>
            </a:r>
          </a:p>
          <a:p>
            <a:pPr>
              <a:lnSpc>
                <a:spcPct val="90000"/>
              </a:lnSpc>
              <a:buFont typeface="Wingdings" panose="05000000000000000000" pitchFamily="2" charset="2"/>
              <a:buNone/>
            </a:pPr>
            <a:r>
              <a:rPr lang="en-US" altLang="zh-CN" sz="2400">
                <a:latin typeface="Courier New" panose="02070309020205020404" pitchFamily="49" charset="0"/>
              </a:rPr>
              <a:t>		</a:t>
            </a:r>
            <a:r>
              <a:rPr lang="zh-CN" altLang="en-US" sz="2400">
                <a:latin typeface="Courier New" panose="02070309020205020404" pitchFamily="49" charset="0"/>
              </a:rPr>
              <a:t>传送到默认路由器</a:t>
            </a:r>
          </a:p>
        </p:txBody>
      </p:sp>
      <p:sp>
        <p:nvSpPr>
          <p:cNvPr id="1333252" name="Rectangle 4"/>
          <p:cNvSpPr>
            <a:spLocks noGrp="1" noChangeArrowheads="1"/>
          </p:cNvSpPr>
          <p:nvPr>
            <p:ph type="title"/>
          </p:nvPr>
        </p:nvSpPr>
        <p:spPr bwMode="auto">
          <a:xfrm>
            <a:off x="2506663" y="420688"/>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zh-CN" altLang="en-US" sz="3600" b="1">
                <a:latin typeface="Arial" panose="020B0604020202020204" pitchFamily="34" charset="0"/>
              </a:rPr>
              <a:t>路由器的包转发函数</a:t>
            </a:r>
            <a:endParaRPr lang="zh-CN" altLang="en-US" sz="3600"/>
          </a:p>
        </p:txBody>
      </p:sp>
    </p:spTree>
    <p:extLst>
      <p:ext uri="{BB962C8B-B14F-4D97-AF65-F5344CB8AC3E}">
        <p14:creationId xmlns:p14="http://schemas.microsoft.com/office/powerpoint/2010/main" val="386571194"/>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1938" name="Rectangle 2"/>
          <p:cNvSpPr>
            <a:spLocks noGrp="1" noChangeArrowheads="1"/>
          </p:cNvSpPr>
          <p:nvPr>
            <p:ph type="title"/>
          </p:nvPr>
        </p:nvSpPr>
        <p:spPr bwMode="auto">
          <a:xfrm>
            <a:off x="2895600" y="511175"/>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zh-CN" altLang="en-US" sz="3600" b="1">
                <a:latin typeface="Arial" panose="020B0604020202020204" pitchFamily="34" charset="0"/>
              </a:rPr>
              <a:t>子网划分</a:t>
            </a:r>
            <a:r>
              <a:rPr lang="en-US" altLang="zh-CN" sz="3600" b="1">
                <a:latin typeface="Arial" panose="020B0604020202020204" pitchFamily="34" charset="0"/>
              </a:rPr>
              <a:t>: </a:t>
            </a:r>
            <a:r>
              <a:rPr lang="zh-CN" altLang="en-US" sz="3600" b="1">
                <a:latin typeface="Arial" panose="020B0604020202020204" pitchFamily="34" charset="0"/>
              </a:rPr>
              <a:t>主机处理</a:t>
            </a:r>
          </a:p>
        </p:txBody>
      </p:sp>
      <p:sp>
        <p:nvSpPr>
          <p:cNvPr id="1831940" name="Text Box 4"/>
          <p:cNvSpPr txBox="1">
            <a:spLocks noChangeArrowheads="1"/>
          </p:cNvSpPr>
          <p:nvPr/>
        </p:nvSpPr>
        <p:spPr bwMode="auto">
          <a:xfrm>
            <a:off x="2298700" y="1654175"/>
            <a:ext cx="8204200" cy="674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每个主机都得知道自己的 </a:t>
            </a:r>
            <a:r>
              <a:rPr lang="en-US" altLang="zh-CN">
                <a:solidFill>
                  <a:srgbClr val="000000"/>
                </a:solidFill>
                <a:latin typeface="Arial" panose="020B0604020202020204" pitchFamily="34" charset="0"/>
              </a:rPr>
              <a:t>IP</a:t>
            </a:r>
            <a:r>
              <a:rPr lang="zh-CN" altLang="en-US">
                <a:solidFill>
                  <a:srgbClr val="000000"/>
                </a:solidFill>
                <a:latin typeface="Arial" panose="020B0604020202020204" pitchFamily="34" charset="0"/>
              </a:rPr>
              <a:t>地址和子网掩码</a:t>
            </a:r>
            <a:r>
              <a:rPr lang="en-US" altLang="zh-CN">
                <a:solidFill>
                  <a:srgbClr val="000000"/>
                </a:solidFill>
                <a:latin typeface="Arial" panose="020B0604020202020204" pitchFamily="34" charset="0"/>
              </a:rPr>
              <a:t>.</a:t>
            </a:r>
          </a:p>
          <a:p>
            <a:pPr>
              <a:spcBef>
                <a:spcPct val="10000"/>
              </a:spcBef>
            </a:pPr>
            <a:r>
              <a:rPr lang="en-US" altLang="zh-CN">
                <a:solidFill>
                  <a:srgbClr val="000000"/>
                </a:solidFill>
                <a:latin typeface="Arial" panose="020B0604020202020204" pitchFamily="34" charset="0"/>
              </a:rPr>
              <a:t>•</a:t>
            </a:r>
            <a:r>
              <a:rPr lang="zh-CN" altLang="en-US">
                <a:solidFill>
                  <a:srgbClr val="000000"/>
                </a:solidFill>
                <a:latin typeface="Arial" panose="020B0604020202020204" pitchFamily="34" charset="0"/>
              </a:rPr>
              <a:t>对每一个数据包，主机作如下处理</a:t>
            </a:r>
          </a:p>
        </p:txBody>
      </p:sp>
      <p:sp>
        <p:nvSpPr>
          <p:cNvPr id="1831941" name="Text Box 5"/>
          <p:cNvSpPr txBox="1">
            <a:spLocks noChangeArrowheads="1"/>
          </p:cNvSpPr>
          <p:nvPr/>
        </p:nvSpPr>
        <p:spPr bwMode="auto">
          <a:xfrm>
            <a:off x="2298700" y="2911476"/>
            <a:ext cx="6858000" cy="2244725"/>
          </a:xfrm>
          <a:prstGeom prst="rect">
            <a:avLst/>
          </a:prstGeom>
          <a:noFill/>
          <a:ln w="9525">
            <a:solidFill>
              <a:srgbClr val="00F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10000"/>
              </a:spcBef>
            </a:pPr>
            <a:r>
              <a:rPr lang="en-US" altLang="zh-CN" sz="2600" b="1">
                <a:solidFill>
                  <a:srgbClr val="0000FF"/>
                </a:solidFill>
                <a:latin typeface="Courier" charset="0"/>
              </a:rPr>
              <a:t>if ((</a:t>
            </a:r>
            <a:r>
              <a:rPr lang="zh-CN" altLang="en-US" sz="2600" b="1">
                <a:solidFill>
                  <a:srgbClr val="0000FF"/>
                </a:solidFill>
                <a:latin typeface="Courier" charset="0"/>
              </a:rPr>
              <a:t>目的</a:t>
            </a:r>
            <a:r>
              <a:rPr lang="en-US" altLang="zh-CN" sz="2600" b="1">
                <a:solidFill>
                  <a:srgbClr val="0000FF"/>
                </a:solidFill>
                <a:latin typeface="Courier" charset="0"/>
              </a:rPr>
              <a:t>IP</a:t>
            </a:r>
            <a:r>
              <a:rPr lang="zh-CN" altLang="en-US" sz="2600" b="1">
                <a:solidFill>
                  <a:srgbClr val="0000FF"/>
                </a:solidFill>
                <a:latin typeface="Courier" charset="0"/>
              </a:rPr>
              <a:t>地址 </a:t>
            </a:r>
            <a:r>
              <a:rPr lang="en-US" altLang="zh-CN" sz="2600" b="1">
                <a:solidFill>
                  <a:srgbClr val="0000FF"/>
                </a:solidFill>
                <a:latin typeface="Courier" charset="0"/>
              </a:rPr>
              <a:t>&amp; Subnet Mask) ==</a:t>
            </a:r>
          </a:p>
          <a:p>
            <a:pPr>
              <a:spcBef>
                <a:spcPct val="10000"/>
              </a:spcBef>
            </a:pPr>
            <a:r>
              <a:rPr lang="en-US" altLang="zh-CN" sz="2600" b="1">
                <a:solidFill>
                  <a:srgbClr val="0000FF"/>
                </a:solidFill>
                <a:latin typeface="Courier" charset="0"/>
              </a:rPr>
              <a:t>(</a:t>
            </a:r>
            <a:r>
              <a:rPr lang="zh-CN" altLang="en-US" sz="2600" b="1">
                <a:solidFill>
                  <a:srgbClr val="0000FF"/>
                </a:solidFill>
                <a:latin typeface="Courier" charset="0"/>
              </a:rPr>
              <a:t>本地 </a:t>
            </a:r>
            <a:r>
              <a:rPr lang="en-US" altLang="zh-CN" sz="2600" b="1">
                <a:solidFill>
                  <a:srgbClr val="0000FF"/>
                </a:solidFill>
                <a:latin typeface="Courier" charset="0"/>
              </a:rPr>
              <a:t>IP address &amp; Subnet Mask))</a:t>
            </a:r>
          </a:p>
          <a:p>
            <a:pPr>
              <a:spcBef>
                <a:spcPct val="10000"/>
              </a:spcBef>
            </a:pPr>
            <a:r>
              <a:rPr lang="en-US" altLang="zh-CN" sz="2600">
                <a:solidFill>
                  <a:srgbClr val="0000FF"/>
                </a:solidFill>
                <a:latin typeface="Arial" panose="020B0604020202020204" pitchFamily="34" charset="0"/>
              </a:rPr>
              <a:t>    </a:t>
            </a:r>
            <a:r>
              <a:rPr lang="zh-CN" altLang="en-US" sz="2600">
                <a:solidFill>
                  <a:srgbClr val="0000FF"/>
                </a:solidFill>
                <a:latin typeface="Arial" panose="020B0604020202020204" pitchFamily="34" charset="0"/>
              </a:rPr>
              <a:t>直接传送数据报</a:t>
            </a:r>
            <a:r>
              <a:rPr lang="en-US" altLang="zh-CN" sz="2600">
                <a:solidFill>
                  <a:srgbClr val="0000FF"/>
                </a:solidFill>
                <a:latin typeface="Arial" panose="020B0604020202020204" pitchFamily="34" charset="0"/>
              </a:rPr>
              <a:t>;</a:t>
            </a:r>
          </a:p>
          <a:p>
            <a:pPr>
              <a:spcBef>
                <a:spcPct val="10000"/>
              </a:spcBef>
            </a:pPr>
            <a:r>
              <a:rPr lang="en-US" altLang="zh-CN" sz="2600" b="1">
                <a:solidFill>
                  <a:srgbClr val="0000FF"/>
                </a:solidFill>
                <a:latin typeface="Courier" charset="0"/>
              </a:rPr>
              <a:t>else</a:t>
            </a:r>
          </a:p>
          <a:p>
            <a:pPr>
              <a:spcBef>
                <a:spcPct val="10000"/>
              </a:spcBef>
            </a:pPr>
            <a:r>
              <a:rPr lang="en-US" altLang="zh-CN" sz="2600">
                <a:solidFill>
                  <a:srgbClr val="0000FF"/>
                </a:solidFill>
                <a:latin typeface="Arial" panose="020B0604020202020204" pitchFamily="34" charset="0"/>
              </a:rPr>
              <a:t>    </a:t>
            </a:r>
            <a:r>
              <a:rPr lang="zh-CN" altLang="en-US" sz="2600">
                <a:solidFill>
                  <a:srgbClr val="0000FF"/>
                </a:solidFill>
                <a:latin typeface="Arial" panose="020B0604020202020204" pitchFamily="34" charset="0"/>
              </a:rPr>
              <a:t>把数据报转发到默认路由器；</a:t>
            </a:r>
            <a:endParaRPr lang="zh-CN" altLang="en-US" sz="2600"/>
          </a:p>
        </p:txBody>
      </p:sp>
    </p:spTree>
    <p:extLst>
      <p:ext uri="{BB962C8B-B14F-4D97-AF65-F5344CB8AC3E}">
        <p14:creationId xmlns:p14="http://schemas.microsoft.com/office/powerpoint/2010/main" val="2147244365"/>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31940">
                                            <p:txEl>
                                              <p:pRg st="0" end="0"/>
                                            </p:txEl>
                                          </p:spTgt>
                                        </p:tgtEl>
                                        <p:attrNameLst>
                                          <p:attrName>style.visibility</p:attrName>
                                        </p:attrNameLst>
                                      </p:cBhvr>
                                      <p:to>
                                        <p:strVal val="visible"/>
                                      </p:to>
                                    </p:set>
                                    <p:anim calcmode="lin" valueType="num">
                                      <p:cBhvr additive="base">
                                        <p:cTn id="7" dur="500" fill="hold"/>
                                        <p:tgtEl>
                                          <p:spTgt spid="183194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3194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31940">
                                            <p:txEl>
                                              <p:pRg st="1" end="1"/>
                                            </p:txEl>
                                          </p:spTgt>
                                        </p:tgtEl>
                                        <p:attrNameLst>
                                          <p:attrName>style.visibility</p:attrName>
                                        </p:attrNameLst>
                                      </p:cBhvr>
                                      <p:to>
                                        <p:strVal val="visible"/>
                                      </p:to>
                                    </p:set>
                                    <p:anim calcmode="lin" valueType="num">
                                      <p:cBhvr additive="base">
                                        <p:cTn id="13" dur="500" fill="hold"/>
                                        <p:tgtEl>
                                          <p:spTgt spid="1831940">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31940">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rbrak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31941"/>
                                        </p:tgtEl>
                                        <p:attrNameLst>
                                          <p:attrName>style.visibility</p:attrName>
                                        </p:attrNameLst>
                                      </p:cBhvr>
                                      <p:to>
                                        <p:strVal val="visible"/>
                                      </p:to>
                                    </p:set>
                                    <p:anim calcmode="lin" valueType="num">
                                      <p:cBhvr additive="base">
                                        <p:cTn id="19" dur="500" fill="hold"/>
                                        <p:tgtEl>
                                          <p:spTgt spid="1831941"/>
                                        </p:tgtEl>
                                        <p:attrNameLst>
                                          <p:attrName>ppt_x</p:attrName>
                                        </p:attrNameLst>
                                      </p:cBhvr>
                                      <p:tavLst>
                                        <p:tav tm="0">
                                          <p:val>
                                            <p:strVal val="1+#ppt_w/2"/>
                                          </p:val>
                                        </p:tav>
                                        <p:tav tm="100000">
                                          <p:val>
                                            <p:strVal val="#ppt_x"/>
                                          </p:val>
                                        </p:tav>
                                      </p:tavLst>
                                    </p:anim>
                                    <p:anim calcmode="lin" valueType="num">
                                      <p:cBhvr additive="base">
                                        <p:cTn id="20" dur="500" fill="hold"/>
                                        <p:tgtEl>
                                          <p:spTgt spid="183194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1940" grpId="0" build="p" autoUpdateAnimBg="0"/>
      <p:bldP spid="1831941" grpId="0" animBg="1" autoUpdateAnimBg="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62" name="Rectangle 2"/>
          <p:cNvSpPr>
            <a:spLocks noGrp="1" noChangeArrowheads="1"/>
          </p:cNvSpPr>
          <p:nvPr>
            <p:ph type="title"/>
          </p:nvPr>
        </p:nvSpPr>
        <p:spPr bwMode="auto">
          <a:xfrm>
            <a:off x="2895600" y="536575"/>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zh-CN" altLang="en-US" sz="3600" b="1">
                <a:latin typeface="Arial" panose="020B0604020202020204" pitchFamily="34" charset="0"/>
              </a:rPr>
              <a:t>子网划分</a:t>
            </a:r>
            <a:r>
              <a:rPr lang="en-US" altLang="zh-CN" sz="3600" b="1">
                <a:latin typeface="Arial" panose="020B0604020202020204" pitchFamily="34" charset="0"/>
              </a:rPr>
              <a:t>: </a:t>
            </a:r>
            <a:r>
              <a:rPr lang="zh-CN" altLang="en-US" sz="3600" b="1">
                <a:latin typeface="Arial" panose="020B0604020202020204" pitchFamily="34" charset="0"/>
              </a:rPr>
              <a:t>路由器处理</a:t>
            </a:r>
          </a:p>
        </p:txBody>
      </p:sp>
      <p:sp>
        <p:nvSpPr>
          <p:cNvPr id="1832965" name="Text Box 5"/>
          <p:cNvSpPr txBox="1">
            <a:spLocks noChangeArrowheads="1"/>
          </p:cNvSpPr>
          <p:nvPr/>
        </p:nvSpPr>
        <p:spPr bwMode="auto">
          <a:xfrm>
            <a:off x="1668463" y="1300164"/>
            <a:ext cx="9359900" cy="24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90525" indent="-390525">
              <a:defRPr kumimoji="1" sz="2400">
                <a:solidFill>
                  <a:schemeClr val="tx1"/>
                </a:solidFill>
                <a:latin typeface="Times New Roman" panose="02020603050405020304" pitchFamily="18" charset="0"/>
                <a:ea typeface="宋体" panose="02010600030101010101" pitchFamily="2" charset="-122"/>
              </a:defRPr>
            </a:lvl1pPr>
            <a:lvl2pPr marL="581025">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800">
                <a:solidFill>
                  <a:srgbClr val="000000"/>
                </a:solidFill>
                <a:latin typeface="Arial" panose="020B0604020202020204" pitchFamily="34" charset="0"/>
              </a:rPr>
              <a:t>• </a:t>
            </a:r>
            <a:r>
              <a:rPr kumimoji="0" lang="zh-CN" altLang="en-US" sz="2800">
                <a:solidFill>
                  <a:srgbClr val="000000"/>
                </a:solidFill>
                <a:latin typeface="Arial" panose="020B0604020202020204" pitchFamily="34" charset="0"/>
              </a:rPr>
              <a:t>路由器由一张表</a:t>
            </a:r>
            <a:r>
              <a:rPr kumimoji="0" lang="en-US" altLang="zh-CN" sz="2800">
                <a:solidFill>
                  <a:srgbClr val="000000"/>
                </a:solidFill>
                <a:latin typeface="Arial" panose="020B0604020202020204" pitchFamily="34" charset="0"/>
              </a:rPr>
              <a:t>:</a:t>
            </a:r>
          </a:p>
          <a:p>
            <a:r>
              <a:rPr kumimoji="0" lang="en-US" altLang="zh-CN">
                <a:solidFill>
                  <a:srgbClr val="0000FF"/>
                </a:solidFill>
                <a:latin typeface="Arial" panose="020B0604020202020204" pitchFamily="34" charset="0"/>
              </a:rPr>
              <a:t>      &lt; SubnetNumber, SubnetMask, NextHop&gt;</a:t>
            </a:r>
          </a:p>
          <a:p>
            <a:r>
              <a:rPr kumimoji="0" lang="en-US" altLang="zh-CN">
                <a:solidFill>
                  <a:srgbClr val="000000"/>
                </a:solidFill>
                <a:latin typeface="Arial" panose="020B0604020202020204" pitchFamily="34" charset="0"/>
              </a:rPr>
              <a:t>      » SubnetNumber </a:t>
            </a:r>
            <a:r>
              <a:rPr kumimoji="0" lang="zh-CN" altLang="en-US">
                <a:solidFill>
                  <a:srgbClr val="000000"/>
                </a:solidFill>
                <a:latin typeface="Arial" panose="020B0604020202020204" pitchFamily="34" charset="0"/>
              </a:rPr>
              <a:t>是 </a:t>
            </a:r>
            <a:r>
              <a:rPr kumimoji="0" lang="en-US" altLang="zh-CN">
                <a:solidFill>
                  <a:srgbClr val="000000"/>
                </a:solidFill>
                <a:latin typeface="Arial" panose="020B0604020202020204" pitchFamily="34" charset="0"/>
              </a:rPr>
              <a:t>&lt;network id, subnet id&gt;</a:t>
            </a:r>
          </a:p>
          <a:p>
            <a:r>
              <a:rPr kumimoji="0" lang="en-US" altLang="zh-CN">
                <a:solidFill>
                  <a:srgbClr val="000000"/>
                </a:solidFill>
                <a:latin typeface="Arial" panose="020B0604020202020204" pitchFamily="34" charset="0"/>
              </a:rPr>
              <a:t>      » SubnetMask </a:t>
            </a:r>
            <a:r>
              <a:rPr kumimoji="0" lang="zh-CN" altLang="en-US">
                <a:solidFill>
                  <a:srgbClr val="000000"/>
                </a:solidFill>
                <a:latin typeface="Arial" panose="020B0604020202020204" pitchFamily="34" charset="0"/>
              </a:rPr>
              <a:t>是子网掩码</a:t>
            </a:r>
          </a:p>
          <a:p>
            <a:r>
              <a:rPr kumimoji="0" lang="zh-CN" altLang="en-US">
                <a:solidFill>
                  <a:srgbClr val="000000"/>
                </a:solidFill>
                <a:latin typeface="Arial" panose="020B0604020202020204" pitchFamily="34" charset="0"/>
              </a:rPr>
              <a:t>      </a:t>
            </a:r>
            <a:r>
              <a:rPr kumimoji="0" lang="en-US" altLang="zh-CN">
                <a:solidFill>
                  <a:srgbClr val="000000"/>
                </a:solidFill>
                <a:latin typeface="Arial" panose="020B0604020202020204" pitchFamily="34" charset="0"/>
              </a:rPr>
              <a:t>» NextHop </a:t>
            </a:r>
            <a:r>
              <a:rPr kumimoji="0" lang="zh-CN" altLang="en-US">
                <a:solidFill>
                  <a:srgbClr val="000000"/>
                </a:solidFill>
                <a:latin typeface="Arial" panose="020B0604020202020204" pitchFamily="34" charset="0"/>
              </a:rPr>
              <a:t>是路由器的 </a:t>
            </a:r>
            <a:r>
              <a:rPr kumimoji="0" lang="en-US" altLang="zh-CN">
                <a:solidFill>
                  <a:srgbClr val="000000"/>
                </a:solidFill>
                <a:latin typeface="Arial" panose="020B0604020202020204" pitchFamily="34" charset="0"/>
              </a:rPr>
              <a:t>IP</a:t>
            </a:r>
            <a:r>
              <a:rPr kumimoji="0" lang="zh-CN" altLang="en-US">
                <a:solidFill>
                  <a:srgbClr val="000000"/>
                </a:solidFill>
                <a:latin typeface="Arial" panose="020B0604020202020204" pitchFamily="34" charset="0"/>
              </a:rPr>
              <a:t>地址</a:t>
            </a:r>
          </a:p>
          <a:p>
            <a:r>
              <a:rPr kumimoji="0" lang="en-US" altLang="zh-CN" sz="2800">
                <a:solidFill>
                  <a:srgbClr val="000000"/>
                </a:solidFill>
                <a:latin typeface="Arial" panose="020B0604020202020204" pitchFamily="34" charset="0"/>
              </a:rPr>
              <a:t>• </a:t>
            </a:r>
            <a:r>
              <a:rPr kumimoji="0" lang="zh-CN" altLang="en-US" sz="2800">
                <a:solidFill>
                  <a:srgbClr val="000000"/>
                </a:solidFill>
                <a:latin typeface="Arial" panose="020B0604020202020204" pitchFamily="34" charset="0"/>
              </a:rPr>
              <a:t>路由器执行以下算法</a:t>
            </a:r>
            <a:r>
              <a:rPr kumimoji="0" lang="en-US" altLang="zh-CN" sz="2800">
                <a:solidFill>
                  <a:srgbClr val="000000"/>
                </a:solidFill>
                <a:latin typeface="Arial" panose="020B0604020202020204" pitchFamily="34" charset="0"/>
              </a:rPr>
              <a:t>:</a:t>
            </a:r>
            <a:endParaRPr kumimoji="0" lang="en-US" altLang="zh-CN" sz="2800">
              <a:solidFill>
                <a:srgbClr val="CACACA"/>
              </a:solidFill>
            </a:endParaRPr>
          </a:p>
        </p:txBody>
      </p:sp>
      <p:sp>
        <p:nvSpPr>
          <p:cNvPr id="1832966" name="Text Box 6"/>
          <p:cNvSpPr txBox="1">
            <a:spLocks noChangeArrowheads="1"/>
          </p:cNvSpPr>
          <p:nvPr/>
        </p:nvSpPr>
        <p:spPr bwMode="auto">
          <a:xfrm>
            <a:off x="1871663" y="3870326"/>
            <a:ext cx="8953500" cy="2751522"/>
          </a:xfrm>
          <a:prstGeom prst="rect">
            <a:avLst/>
          </a:prstGeom>
          <a:noFill/>
          <a:ln w="9525">
            <a:solidFill>
              <a:srgbClr val="FFF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90000"/>
              </a:lnSpc>
            </a:pPr>
            <a:r>
              <a:rPr lang="en-US" altLang="zh-CN" sz="2400" b="1">
                <a:solidFill>
                  <a:srgbClr val="0000FF"/>
                </a:solidFill>
                <a:latin typeface="Courier" charset="0"/>
              </a:rPr>
              <a:t>dest = </a:t>
            </a:r>
            <a:r>
              <a:rPr lang="zh-CN" altLang="en-US" sz="2400" b="1">
                <a:solidFill>
                  <a:srgbClr val="0000FF"/>
                </a:solidFill>
                <a:latin typeface="Courier" charset="0"/>
              </a:rPr>
              <a:t>目的 </a:t>
            </a:r>
            <a:r>
              <a:rPr lang="en-US" altLang="zh-CN" sz="2400" b="1">
                <a:solidFill>
                  <a:srgbClr val="0000FF"/>
                </a:solidFill>
                <a:latin typeface="Courier" charset="0"/>
              </a:rPr>
              <a:t>IP</a:t>
            </a:r>
            <a:r>
              <a:rPr lang="zh-CN" altLang="en-US" sz="2400" b="1">
                <a:solidFill>
                  <a:srgbClr val="0000FF"/>
                </a:solidFill>
                <a:latin typeface="Courier" charset="0"/>
              </a:rPr>
              <a:t>地址</a:t>
            </a:r>
            <a:r>
              <a:rPr lang="en-US" altLang="zh-CN" sz="2400" b="1">
                <a:solidFill>
                  <a:srgbClr val="0000FF"/>
                </a:solidFill>
                <a:latin typeface="Courier" charset="0"/>
              </a:rPr>
              <a:t>;</a:t>
            </a:r>
          </a:p>
          <a:p>
            <a:pPr>
              <a:lnSpc>
                <a:spcPct val="90000"/>
              </a:lnSpc>
            </a:pPr>
            <a:r>
              <a:rPr lang="zh-CN" altLang="en-US" sz="2400" b="1">
                <a:solidFill>
                  <a:srgbClr val="0000FF"/>
                </a:solidFill>
                <a:latin typeface="Courier" charset="0"/>
              </a:rPr>
              <a:t>对每一条目</a:t>
            </a:r>
          </a:p>
          <a:p>
            <a:pPr>
              <a:lnSpc>
                <a:spcPct val="90000"/>
              </a:lnSpc>
            </a:pPr>
            <a:r>
              <a:rPr lang="en-US" altLang="zh-CN" sz="2400" b="1">
                <a:solidFill>
                  <a:srgbClr val="0000FF"/>
                </a:solidFill>
                <a:latin typeface="Courier" charset="0"/>
              </a:rPr>
              <a:t>&lt;SubnetNumber, SubnetMask, NextHop&gt;</a:t>
            </a:r>
          </a:p>
          <a:p>
            <a:pPr>
              <a:lnSpc>
                <a:spcPct val="90000"/>
              </a:lnSpc>
            </a:pPr>
            <a:r>
              <a:rPr lang="en-US" altLang="zh-CN" sz="2400" b="1">
                <a:solidFill>
                  <a:srgbClr val="0000FF"/>
                </a:solidFill>
                <a:latin typeface="Courier" charset="0"/>
              </a:rPr>
              <a:t>sub = dest &amp; SubnetMask;</a:t>
            </a:r>
          </a:p>
          <a:p>
            <a:pPr>
              <a:lnSpc>
                <a:spcPct val="90000"/>
              </a:lnSpc>
            </a:pPr>
            <a:r>
              <a:rPr lang="en-US" altLang="zh-CN" sz="2400" b="1">
                <a:solidFill>
                  <a:srgbClr val="0000FF"/>
                </a:solidFill>
                <a:latin typeface="Courier" charset="0"/>
              </a:rPr>
              <a:t>if (sub == SubnetNumber)</a:t>
            </a:r>
          </a:p>
          <a:p>
            <a:pPr>
              <a:lnSpc>
                <a:spcPct val="90000"/>
              </a:lnSpc>
            </a:pPr>
            <a:r>
              <a:rPr lang="en-US" altLang="zh-CN" sz="2400">
                <a:solidFill>
                  <a:srgbClr val="FF00FF"/>
                </a:solidFill>
                <a:latin typeface="Arial" panose="020B0604020202020204" pitchFamily="34" charset="0"/>
              </a:rPr>
              <a:t>    </a:t>
            </a:r>
            <a:r>
              <a:rPr lang="zh-CN" altLang="en-US" sz="2400">
                <a:solidFill>
                  <a:srgbClr val="FF00FF"/>
                </a:solidFill>
                <a:latin typeface="Arial" panose="020B0604020202020204" pitchFamily="34" charset="0"/>
              </a:rPr>
              <a:t>直接传送数据报</a:t>
            </a:r>
            <a:r>
              <a:rPr lang="en-US" altLang="zh-CN" sz="2400">
                <a:solidFill>
                  <a:srgbClr val="FF00FF"/>
                </a:solidFill>
                <a:latin typeface="Arial" panose="020B0604020202020204" pitchFamily="34" charset="0"/>
              </a:rPr>
              <a:t>;</a:t>
            </a:r>
          </a:p>
          <a:p>
            <a:pPr>
              <a:lnSpc>
                <a:spcPct val="90000"/>
              </a:lnSpc>
            </a:pPr>
            <a:r>
              <a:rPr lang="en-US" altLang="zh-CN" sz="2400" b="1">
                <a:solidFill>
                  <a:srgbClr val="0000FF"/>
                </a:solidFill>
                <a:latin typeface="Courier" charset="0"/>
              </a:rPr>
              <a:t>else</a:t>
            </a:r>
          </a:p>
          <a:p>
            <a:pPr>
              <a:lnSpc>
                <a:spcPct val="90000"/>
              </a:lnSpc>
            </a:pPr>
            <a:r>
              <a:rPr lang="en-US" altLang="zh-CN" sz="2400">
                <a:solidFill>
                  <a:srgbClr val="FF00FF"/>
                </a:solidFill>
                <a:latin typeface="Arial" panose="020B0604020202020204" pitchFamily="34" charset="0"/>
              </a:rPr>
              <a:t>    </a:t>
            </a:r>
            <a:r>
              <a:rPr lang="zh-CN" altLang="en-US" sz="2400">
                <a:solidFill>
                  <a:srgbClr val="FF00FF"/>
                </a:solidFill>
                <a:latin typeface="Arial" panose="020B0604020202020204" pitchFamily="34" charset="0"/>
              </a:rPr>
              <a:t>把数据报转发到下一跳</a:t>
            </a:r>
            <a:r>
              <a:rPr lang="en-US" altLang="zh-CN" sz="2400">
                <a:solidFill>
                  <a:srgbClr val="FF00FF"/>
                </a:solidFill>
                <a:latin typeface="Arial" panose="020B0604020202020204" pitchFamily="34" charset="0"/>
              </a:rPr>
              <a:t>;</a:t>
            </a:r>
            <a:endParaRPr lang="en-US" altLang="zh-CN" sz="2400"/>
          </a:p>
        </p:txBody>
      </p:sp>
    </p:spTree>
    <p:extLst>
      <p:ext uri="{BB962C8B-B14F-4D97-AF65-F5344CB8AC3E}">
        <p14:creationId xmlns:p14="http://schemas.microsoft.com/office/powerpoint/2010/main" val="4144879714"/>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32966"/>
                                        </p:tgtEl>
                                        <p:attrNameLst>
                                          <p:attrName>style.visibility</p:attrName>
                                        </p:attrNameLst>
                                      </p:cBhvr>
                                      <p:to>
                                        <p:strVal val="visible"/>
                                      </p:to>
                                    </p:set>
                                    <p:anim calcmode="lin" valueType="num">
                                      <p:cBhvr additive="base">
                                        <p:cTn id="7" dur="500" fill="hold"/>
                                        <p:tgtEl>
                                          <p:spTgt spid="1832966"/>
                                        </p:tgtEl>
                                        <p:attrNameLst>
                                          <p:attrName>ppt_x</p:attrName>
                                        </p:attrNameLst>
                                      </p:cBhvr>
                                      <p:tavLst>
                                        <p:tav tm="0">
                                          <p:val>
                                            <p:strVal val="1+#ppt_w/2"/>
                                          </p:val>
                                        </p:tav>
                                        <p:tav tm="100000">
                                          <p:val>
                                            <p:strVal val="#ppt_x"/>
                                          </p:val>
                                        </p:tav>
                                      </p:tavLst>
                                    </p:anim>
                                    <p:anim calcmode="lin" valueType="num">
                                      <p:cBhvr additive="base">
                                        <p:cTn id="8" dur="500" fill="hold"/>
                                        <p:tgtEl>
                                          <p:spTgt spid="183296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66" grpId="0" animBg="1" autoUpdateAnimBg="0"/>
    </p:bldLst>
  </p:timing>
</p:sld>
</file>

<file path=ppt/slides/slide1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82416" name="Rectangle 16"/>
          <p:cNvSpPr>
            <a:spLocks noGrp="1" noChangeArrowheads="1"/>
          </p:cNvSpPr>
          <p:nvPr>
            <p:ph type="body" idx="1"/>
          </p:nvPr>
        </p:nvSpPr>
        <p:spPr bwMode="auto">
          <a:xfrm>
            <a:off x="368300" y="1682750"/>
            <a:ext cx="11607800" cy="3252788"/>
          </a:xfr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nSpc>
                <a:spcPct val="90000"/>
              </a:lnSpc>
              <a:spcBef>
                <a:spcPct val="40000"/>
              </a:spcBef>
            </a:pPr>
            <a:r>
              <a:rPr lang="zh-CN" altLang="en-US"/>
              <a:t>路由器的功能</a:t>
            </a:r>
          </a:p>
          <a:p>
            <a:pPr lvl="1">
              <a:lnSpc>
                <a:spcPct val="90000"/>
              </a:lnSpc>
              <a:spcBef>
                <a:spcPct val="40000"/>
              </a:spcBef>
            </a:pPr>
            <a:r>
              <a:rPr lang="zh-CN" altLang="en-US"/>
              <a:t>利用</a:t>
            </a:r>
            <a:r>
              <a:rPr lang="zh-CN" altLang="en-US">
                <a:latin typeface="Times New Roman" panose="02020603050405020304" pitchFamily="18" charset="0"/>
              </a:rPr>
              <a:t>“</a:t>
            </a:r>
            <a:r>
              <a:rPr lang="zh-CN" altLang="en-US"/>
              <a:t>最佳路径</a:t>
            </a:r>
            <a:r>
              <a:rPr lang="zh-CN" altLang="en-US">
                <a:latin typeface="Times New Roman" panose="02020603050405020304" pitchFamily="18" charset="0"/>
              </a:rPr>
              <a:t>”</a:t>
            </a:r>
            <a:r>
              <a:rPr lang="zh-CN" altLang="en-US"/>
              <a:t>将分组从一个网络转发到另一个</a:t>
            </a:r>
            <a:r>
              <a:rPr lang="zh-CN" altLang="en-US" smtClean="0"/>
              <a:t>网络</a:t>
            </a:r>
            <a:r>
              <a:rPr lang="zh-CN" altLang="en-US" smtClean="0">
                <a:solidFill>
                  <a:schemeClr val="folHlink"/>
                </a:solidFill>
              </a:rPr>
              <a:t> </a:t>
            </a:r>
            <a:r>
              <a:rPr lang="en-US" altLang="zh-CN">
                <a:solidFill>
                  <a:schemeClr val="folHlink"/>
                </a:solidFill>
              </a:rPr>
              <a:t>(IP Forwarding)</a:t>
            </a:r>
          </a:p>
          <a:p>
            <a:pPr lvl="1">
              <a:lnSpc>
                <a:spcPct val="90000"/>
              </a:lnSpc>
              <a:spcBef>
                <a:spcPct val="40000"/>
              </a:spcBef>
            </a:pPr>
            <a:r>
              <a:rPr lang="zh-CN" altLang="en-US"/>
              <a:t>与其它路由器进行信息交换（各网络的位置、可达性等）</a:t>
            </a:r>
            <a:r>
              <a:rPr lang="en-US" altLang="zh-CN" i="1" u="sng">
                <a:solidFill>
                  <a:schemeClr val="accent2"/>
                </a:solidFill>
              </a:rPr>
              <a:t>(</a:t>
            </a:r>
            <a:r>
              <a:rPr lang="zh-CN" altLang="en-US" i="1" u="sng">
                <a:solidFill>
                  <a:schemeClr val="accent2"/>
                </a:solidFill>
              </a:rPr>
              <a:t>路由算法</a:t>
            </a:r>
            <a:r>
              <a:rPr lang="en-US" altLang="zh-CN" i="1" u="sng">
                <a:solidFill>
                  <a:schemeClr val="accent2"/>
                </a:solidFill>
              </a:rPr>
              <a:t>)</a:t>
            </a:r>
          </a:p>
          <a:p>
            <a:pPr lvl="1">
              <a:lnSpc>
                <a:spcPct val="90000"/>
              </a:lnSpc>
              <a:spcBef>
                <a:spcPct val="40000"/>
              </a:spcBef>
            </a:pPr>
            <a:r>
              <a:rPr lang="zh-CN" altLang="en-US"/>
              <a:t>信息交换采用特定协议的来完成</a:t>
            </a:r>
            <a:r>
              <a:rPr lang="zh-CN" altLang="en-US" i="1" u="sng">
                <a:solidFill>
                  <a:schemeClr val="accent2"/>
                </a:solidFill>
              </a:rPr>
              <a:t>（路由协议）</a:t>
            </a:r>
          </a:p>
          <a:p>
            <a:pPr lvl="1">
              <a:lnSpc>
                <a:spcPct val="90000"/>
              </a:lnSpc>
              <a:spcBef>
                <a:spcPct val="40000"/>
              </a:spcBef>
            </a:pPr>
            <a:r>
              <a:rPr lang="zh-CN" altLang="en-US"/>
              <a:t>路由一般采用最佳路径计算</a:t>
            </a:r>
            <a:r>
              <a:rPr lang="zh-CN" altLang="en-US" i="1" u="sng">
                <a:solidFill>
                  <a:schemeClr val="accent2"/>
                </a:solidFill>
              </a:rPr>
              <a:t>（最短路径算法）</a:t>
            </a:r>
          </a:p>
        </p:txBody>
      </p:sp>
      <p:sp>
        <p:nvSpPr>
          <p:cNvPr id="1382441" name="Rectangle 41"/>
          <p:cNvSpPr>
            <a:spLocks noGrp="1" noChangeArrowheads="1"/>
          </p:cNvSpPr>
          <p:nvPr>
            <p:ph type="title"/>
          </p:nvPr>
        </p:nvSpPr>
        <p:spPr bwMode="auto">
          <a:xfrm>
            <a:off x="4211638" y="338138"/>
            <a:ext cx="36957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en-US" altLang="zh-CN"/>
              <a:t>IP </a:t>
            </a:r>
            <a:r>
              <a:rPr lang="zh-CN" altLang="en-US"/>
              <a:t>路由器</a:t>
            </a:r>
          </a:p>
        </p:txBody>
      </p:sp>
    </p:spTree>
    <p:extLst>
      <p:ext uri="{BB962C8B-B14F-4D97-AF65-F5344CB8AC3E}">
        <p14:creationId xmlns:p14="http://schemas.microsoft.com/office/powerpoint/2010/main" val="2624557146"/>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8241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38241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38241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38241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3824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16" grpId="0" build="p" autoUpdateAnimBg="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5426" name="Rectangle 2050"/>
          <p:cNvSpPr>
            <a:spLocks noGrp="1" noChangeArrowheads="1"/>
          </p:cNvSpPr>
          <p:nvPr>
            <p:ph type="title"/>
          </p:nvPr>
        </p:nvSpPr>
        <p:spPr bwMode="auto">
          <a:xfrm>
            <a:off x="2209800" y="330200"/>
            <a:ext cx="8928100" cy="7112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zh-CN" altLang="en-US" b="1">
                <a:latin typeface="Arial" panose="020B0604020202020204" pitchFamily="34" charset="0"/>
              </a:rPr>
              <a:t>路由算法的组成</a:t>
            </a:r>
          </a:p>
        </p:txBody>
      </p:sp>
      <p:sp>
        <p:nvSpPr>
          <p:cNvPr id="1895427" name="Text Box 2051"/>
          <p:cNvSpPr txBox="1">
            <a:spLocks noChangeArrowheads="1"/>
          </p:cNvSpPr>
          <p:nvPr/>
        </p:nvSpPr>
        <p:spPr bwMode="auto">
          <a:xfrm>
            <a:off x="1308100" y="1631951"/>
            <a:ext cx="9723439" cy="278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88950" indent="-488950">
              <a:defRPr kumimoji="1" sz="2400">
                <a:solidFill>
                  <a:schemeClr val="tx1"/>
                </a:solidFill>
                <a:latin typeface="Times New Roman" panose="02020603050405020304" pitchFamily="18" charset="0"/>
                <a:ea typeface="宋体" panose="02010600030101010101" pitchFamily="2" charset="-122"/>
              </a:defRPr>
            </a:lvl1pPr>
            <a:lvl2pPr marL="679450">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kumimoji="0" lang="en-US" altLang="zh-CN" sz="2800">
                <a:solidFill>
                  <a:srgbClr val="000000"/>
                </a:solidFill>
                <a:latin typeface="Arial" panose="020B0604020202020204" pitchFamily="34" charset="0"/>
              </a:rPr>
              <a:t>• </a:t>
            </a:r>
            <a:r>
              <a:rPr kumimoji="0" lang="zh-CN" altLang="en-US" sz="2800">
                <a:solidFill>
                  <a:srgbClr val="000000"/>
                </a:solidFill>
                <a:latin typeface="Arial" panose="020B0604020202020204" pitchFamily="34" charset="0"/>
              </a:rPr>
              <a:t>发送和接受网络可达性信息的程序</a:t>
            </a:r>
          </a:p>
          <a:p>
            <a:pPr>
              <a:spcBef>
                <a:spcPct val="20000"/>
              </a:spcBef>
            </a:pPr>
            <a:r>
              <a:rPr kumimoji="0" lang="en-US" altLang="zh-CN" sz="2800">
                <a:solidFill>
                  <a:srgbClr val="000000"/>
                </a:solidFill>
                <a:latin typeface="Arial" panose="020B0604020202020204" pitchFamily="34" charset="0"/>
              </a:rPr>
              <a:t>• </a:t>
            </a:r>
            <a:r>
              <a:rPr kumimoji="0" lang="zh-CN" altLang="en-US" sz="2800">
                <a:solidFill>
                  <a:srgbClr val="000000"/>
                </a:solidFill>
                <a:latin typeface="Arial" panose="020B0604020202020204" pitchFamily="34" charset="0"/>
              </a:rPr>
              <a:t>计算最优路由的程序</a:t>
            </a:r>
          </a:p>
          <a:p>
            <a:pPr>
              <a:spcBef>
                <a:spcPct val="20000"/>
              </a:spcBef>
            </a:pPr>
            <a:r>
              <a:rPr kumimoji="0" lang="zh-CN" altLang="en-US">
                <a:solidFill>
                  <a:srgbClr val="000000"/>
                </a:solidFill>
                <a:latin typeface="Arial" panose="020B0604020202020204" pitchFamily="34" charset="0"/>
              </a:rPr>
              <a:t>   </a:t>
            </a:r>
            <a:r>
              <a:rPr kumimoji="0" lang="en-US" altLang="zh-CN">
                <a:solidFill>
                  <a:srgbClr val="000000"/>
                </a:solidFill>
                <a:latin typeface="Arial" panose="020B0604020202020204" pitchFamily="34" charset="0"/>
              </a:rPr>
              <a:t>– </a:t>
            </a:r>
            <a:r>
              <a:rPr kumimoji="0" lang="zh-CN" altLang="en-US">
                <a:solidFill>
                  <a:srgbClr val="000000"/>
                </a:solidFill>
                <a:latin typeface="Arial" panose="020B0604020202020204" pitchFamily="34" charset="0"/>
              </a:rPr>
              <a:t>以最短路径算法计算路由</a:t>
            </a:r>
            <a:r>
              <a:rPr kumimoji="0" lang="en-US" altLang="zh-CN">
                <a:solidFill>
                  <a:srgbClr val="000000"/>
                </a:solidFill>
                <a:latin typeface="Arial" panose="020B0604020202020204" pitchFamily="34" charset="0"/>
              </a:rPr>
              <a:t>:</a:t>
            </a:r>
          </a:p>
          <a:p>
            <a:pPr>
              <a:spcBef>
                <a:spcPct val="20000"/>
              </a:spcBef>
            </a:pPr>
            <a:r>
              <a:rPr kumimoji="0" lang="en-US" altLang="zh-CN">
                <a:solidFill>
                  <a:srgbClr val="FF0000"/>
                </a:solidFill>
                <a:latin typeface="Arial" panose="020B0604020202020204" pitchFamily="34" charset="0"/>
              </a:rPr>
              <a:t>    • </a:t>
            </a:r>
            <a:r>
              <a:rPr kumimoji="0" lang="en-US" altLang="zh-CN" b="1">
                <a:solidFill>
                  <a:srgbClr val="FF0000"/>
                </a:solidFill>
                <a:latin typeface="Arial" panose="020B0604020202020204" pitchFamily="34" charset="0"/>
              </a:rPr>
              <a:t>Goal</a:t>
            </a:r>
            <a:r>
              <a:rPr kumimoji="0" lang="en-US" altLang="zh-CN">
                <a:solidFill>
                  <a:srgbClr val="FF0000"/>
                </a:solidFill>
                <a:latin typeface="Arial" panose="020B0604020202020204" pitchFamily="34" charset="0"/>
              </a:rPr>
              <a:t>: </a:t>
            </a:r>
            <a:r>
              <a:rPr kumimoji="0" lang="zh-CN" altLang="en-US">
                <a:solidFill>
                  <a:srgbClr val="FF0000"/>
                </a:solidFill>
                <a:latin typeface="Arial" panose="020B0604020202020204" pitchFamily="34" charset="0"/>
              </a:rPr>
              <a:t>网络的每个连接都被分配了一个费用值</a:t>
            </a:r>
            <a:r>
              <a:rPr kumimoji="0" lang="en-US" altLang="zh-CN">
                <a:solidFill>
                  <a:srgbClr val="000000"/>
                </a:solidFill>
                <a:latin typeface="Arial" panose="020B0604020202020204" pitchFamily="34" charset="0"/>
              </a:rPr>
              <a:t>. </a:t>
            </a:r>
            <a:r>
              <a:rPr kumimoji="0" lang="zh-CN" altLang="en-US">
                <a:solidFill>
                  <a:srgbClr val="000000"/>
                </a:solidFill>
                <a:latin typeface="Arial" panose="020B0604020202020204" pitchFamily="34" charset="0"/>
              </a:rPr>
              <a:t>以最小费用找出两个网络之间路径</a:t>
            </a:r>
            <a:r>
              <a:rPr kumimoji="0" lang="en-US" altLang="zh-CN">
                <a:solidFill>
                  <a:srgbClr val="000000"/>
                </a:solidFill>
                <a:latin typeface="Arial" panose="020B0604020202020204" pitchFamily="34" charset="0"/>
              </a:rPr>
              <a:t>.</a:t>
            </a:r>
          </a:p>
          <a:p>
            <a:pPr>
              <a:spcBef>
                <a:spcPct val="20000"/>
              </a:spcBef>
            </a:pPr>
            <a:r>
              <a:rPr kumimoji="0" lang="en-US" altLang="zh-CN" sz="2800">
                <a:solidFill>
                  <a:srgbClr val="000000"/>
                </a:solidFill>
                <a:latin typeface="Arial" panose="020B0604020202020204" pitchFamily="34" charset="0"/>
              </a:rPr>
              <a:t>•</a:t>
            </a:r>
            <a:r>
              <a:rPr kumimoji="0" lang="zh-CN" altLang="en-US" sz="2800">
                <a:solidFill>
                  <a:srgbClr val="000000"/>
                </a:solidFill>
                <a:latin typeface="Arial" panose="020B0604020202020204" pitchFamily="34" charset="0"/>
              </a:rPr>
              <a:t>程序能对网络拓扑的变化</a:t>
            </a:r>
            <a:r>
              <a:rPr kumimoji="0" lang="zh-CN" altLang="en-US" sz="2800" smtClean="0">
                <a:solidFill>
                  <a:srgbClr val="000000"/>
                </a:solidFill>
                <a:latin typeface="Arial" panose="020B0604020202020204" pitchFamily="34" charset="0"/>
              </a:rPr>
              <a:t>做出响应</a:t>
            </a:r>
            <a:endParaRPr kumimoji="0" lang="zh-CN" altLang="en-US" sz="2800">
              <a:solidFill>
                <a:srgbClr val="CACACA"/>
              </a:solidFill>
            </a:endParaRPr>
          </a:p>
        </p:txBody>
      </p:sp>
    </p:spTree>
    <p:extLst>
      <p:ext uri="{BB962C8B-B14F-4D97-AF65-F5344CB8AC3E}">
        <p14:creationId xmlns:p14="http://schemas.microsoft.com/office/powerpoint/2010/main" val="1251667547"/>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95427">
                                            <p:txEl>
                                              <p:pRg st="0" end="0"/>
                                            </p:txEl>
                                          </p:spTgt>
                                        </p:tgtEl>
                                        <p:attrNameLst>
                                          <p:attrName>style.visibility</p:attrName>
                                        </p:attrNameLst>
                                      </p:cBhvr>
                                      <p:to>
                                        <p:strVal val="visible"/>
                                      </p:to>
                                    </p:set>
                                    <p:anim calcmode="lin" valueType="num">
                                      <p:cBhvr additive="base">
                                        <p:cTn id="7" dur="500" fill="hold"/>
                                        <p:tgtEl>
                                          <p:spTgt spid="189542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9542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95427">
                                            <p:txEl>
                                              <p:pRg st="1" end="1"/>
                                            </p:txEl>
                                          </p:spTgt>
                                        </p:tgtEl>
                                        <p:attrNameLst>
                                          <p:attrName>style.visibility</p:attrName>
                                        </p:attrNameLst>
                                      </p:cBhvr>
                                      <p:to>
                                        <p:strVal val="visible"/>
                                      </p:to>
                                    </p:set>
                                    <p:anim calcmode="lin" valueType="num">
                                      <p:cBhvr additive="base">
                                        <p:cTn id="13" dur="500" fill="hold"/>
                                        <p:tgtEl>
                                          <p:spTgt spid="189542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9542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rbrak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95427">
                                            <p:txEl>
                                              <p:pRg st="2" end="2"/>
                                            </p:txEl>
                                          </p:spTgt>
                                        </p:tgtEl>
                                        <p:attrNameLst>
                                          <p:attrName>style.visibility</p:attrName>
                                        </p:attrNameLst>
                                      </p:cBhvr>
                                      <p:to>
                                        <p:strVal val="visible"/>
                                      </p:to>
                                    </p:set>
                                    <p:anim calcmode="lin" valueType="num">
                                      <p:cBhvr additive="base">
                                        <p:cTn id="19" dur="500" fill="hold"/>
                                        <p:tgtEl>
                                          <p:spTgt spid="189542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95427">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rbrake.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95427">
                                            <p:txEl>
                                              <p:pRg st="3" end="3"/>
                                            </p:txEl>
                                          </p:spTgt>
                                        </p:tgtEl>
                                        <p:attrNameLst>
                                          <p:attrName>style.visibility</p:attrName>
                                        </p:attrNameLst>
                                      </p:cBhvr>
                                      <p:to>
                                        <p:strVal val="visible"/>
                                      </p:to>
                                    </p:set>
                                    <p:anim calcmode="lin" valueType="num">
                                      <p:cBhvr additive="base">
                                        <p:cTn id="25" dur="500" fill="hold"/>
                                        <p:tgtEl>
                                          <p:spTgt spid="189542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95427">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rbrake.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95427">
                                            <p:txEl>
                                              <p:pRg st="4" end="4"/>
                                            </p:txEl>
                                          </p:spTgt>
                                        </p:tgtEl>
                                        <p:attrNameLst>
                                          <p:attrName>style.visibility</p:attrName>
                                        </p:attrNameLst>
                                      </p:cBhvr>
                                      <p:to>
                                        <p:strVal val="visible"/>
                                      </p:to>
                                    </p:set>
                                    <p:anim calcmode="lin" valueType="num">
                                      <p:cBhvr additive="base">
                                        <p:cTn id="31" dur="500" fill="hold"/>
                                        <p:tgtEl>
                                          <p:spTgt spid="1895427">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95427">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5427" grpId="0" build="p" autoUpdateAnimBg="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6450" name="Rectangle 2050"/>
          <p:cNvSpPr>
            <a:spLocks noGrp="1" noChangeArrowheads="1"/>
          </p:cNvSpPr>
          <p:nvPr>
            <p:ph type="title"/>
          </p:nvPr>
        </p:nvSpPr>
        <p:spPr bwMode="auto">
          <a:xfrm>
            <a:off x="2181226" y="203200"/>
            <a:ext cx="7772400" cy="635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fontScale="90000"/>
          </a:bodyPr>
          <a:lstStyle/>
          <a:p>
            <a:r>
              <a:rPr lang="zh-CN" altLang="en-US"/>
              <a:t>动态路由算法</a:t>
            </a:r>
            <a:endParaRPr lang="zh-CN" altLang="en-US" b="1">
              <a:latin typeface="Arial" panose="020B0604020202020204" pitchFamily="34" charset="0"/>
            </a:endParaRPr>
          </a:p>
        </p:txBody>
      </p:sp>
      <p:sp>
        <p:nvSpPr>
          <p:cNvPr id="1896451" name="Text Box 2051"/>
          <p:cNvSpPr txBox="1">
            <a:spLocks noChangeArrowheads="1"/>
          </p:cNvSpPr>
          <p:nvPr/>
        </p:nvSpPr>
        <p:spPr bwMode="auto">
          <a:xfrm>
            <a:off x="1847851" y="1685926"/>
            <a:ext cx="8105775" cy="3354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3688" indent="-293688">
              <a:defRPr kumimoji="1" sz="2400">
                <a:solidFill>
                  <a:schemeClr val="tx1"/>
                </a:solidFill>
                <a:latin typeface="Times New Roman" panose="02020603050405020304" pitchFamily="18" charset="0"/>
                <a:ea typeface="宋体" panose="02010600030101010101" pitchFamily="2" charset="-122"/>
              </a:defRPr>
            </a:lvl1pPr>
            <a:lvl2pPr marL="484188">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a:solidFill>
                  <a:srgbClr val="000000"/>
                </a:solidFill>
                <a:latin typeface="Arial" panose="020B0604020202020204" pitchFamily="34" charset="0"/>
              </a:rPr>
              <a:t>• </a:t>
            </a:r>
            <a:r>
              <a:rPr kumimoji="0" lang="zh-CN" altLang="en-US">
                <a:solidFill>
                  <a:srgbClr val="000000"/>
                </a:solidFill>
                <a:latin typeface="Arial" panose="020B0604020202020204" pitchFamily="34" charset="0"/>
              </a:rPr>
              <a:t>有两种基本的路优算法</a:t>
            </a:r>
            <a:r>
              <a:rPr kumimoji="0" lang="en-US" altLang="zh-CN">
                <a:solidFill>
                  <a:srgbClr val="000000"/>
                </a:solidFill>
                <a:latin typeface="Arial" panose="020B0604020202020204" pitchFamily="34" charset="0"/>
              </a:rPr>
              <a:t>.</a:t>
            </a:r>
          </a:p>
          <a:p>
            <a:r>
              <a:rPr kumimoji="0" lang="en-US" altLang="zh-CN" b="1">
                <a:solidFill>
                  <a:srgbClr val="FF0000"/>
                </a:solidFill>
                <a:latin typeface="Arial" panose="020B0604020202020204" pitchFamily="34" charset="0"/>
              </a:rPr>
              <a:t>1. </a:t>
            </a:r>
            <a:r>
              <a:rPr kumimoji="0" lang="zh-CN" altLang="en-US" b="1">
                <a:solidFill>
                  <a:srgbClr val="FF0000"/>
                </a:solidFill>
                <a:latin typeface="Arial" panose="020B0604020202020204" pitchFamily="34" charset="0"/>
              </a:rPr>
              <a:t>距离矢量路由 </a:t>
            </a:r>
            <a:r>
              <a:rPr kumimoji="0" lang="en-US" altLang="zh-CN" b="1">
                <a:solidFill>
                  <a:srgbClr val="FF0000"/>
                </a:solidFill>
                <a:latin typeface="Arial" panose="020B0604020202020204" pitchFamily="34" charset="0"/>
              </a:rPr>
              <a:t>(DV)</a:t>
            </a:r>
          </a:p>
          <a:p>
            <a:r>
              <a:rPr kumimoji="0" lang="en-US" altLang="zh-CN" sz="2000">
                <a:solidFill>
                  <a:srgbClr val="000000"/>
                </a:solidFill>
                <a:latin typeface="Arial" panose="020B0604020202020204" pitchFamily="34" charset="0"/>
              </a:rPr>
              <a:t>• </a:t>
            </a:r>
            <a:r>
              <a:rPr kumimoji="0" lang="zh-CN" altLang="en-US" sz="2000">
                <a:solidFill>
                  <a:srgbClr val="000000"/>
                </a:solidFill>
                <a:latin typeface="Arial" panose="020B0604020202020204" pitchFamily="34" charset="0"/>
              </a:rPr>
              <a:t>每个节点知道到与它直接相连的邻接点的距离</a:t>
            </a:r>
          </a:p>
          <a:p>
            <a:r>
              <a:rPr kumimoji="0" lang="en-US" altLang="zh-CN" sz="2000">
                <a:solidFill>
                  <a:srgbClr val="000000"/>
                </a:solidFill>
                <a:latin typeface="Arial" panose="020B0604020202020204" pitchFamily="34" charset="0"/>
              </a:rPr>
              <a:t>• </a:t>
            </a:r>
            <a:r>
              <a:rPr kumimoji="0" lang="zh-CN" altLang="en-US" sz="2000">
                <a:solidFill>
                  <a:srgbClr val="000000"/>
                </a:solidFill>
                <a:latin typeface="Arial" panose="020B0604020202020204" pitchFamily="34" charset="0"/>
              </a:rPr>
              <a:t>节点周期性的把更新路由表送给它的</a:t>
            </a:r>
            <a:r>
              <a:rPr kumimoji="0" lang="zh-CN" altLang="en-US" sz="2000">
                <a:solidFill>
                  <a:srgbClr val="FF0000"/>
                </a:solidFill>
                <a:latin typeface="Arial" panose="020B0604020202020204" pitchFamily="34" charset="0"/>
              </a:rPr>
              <a:t>邻接点</a:t>
            </a:r>
          </a:p>
          <a:p>
            <a:r>
              <a:rPr kumimoji="0" lang="en-US" altLang="zh-CN" sz="2000">
                <a:solidFill>
                  <a:srgbClr val="000000"/>
                </a:solidFill>
                <a:latin typeface="Arial" panose="020B0604020202020204" pitchFamily="34" charset="0"/>
              </a:rPr>
              <a:t>• </a:t>
            </a:r>
            <a:r>
              <a:rPr kumimoji="0" lang="zh-CN" altLang="en-US" sz="2000">
                <a:solidFill>
                  <a:srgbClr val="000000"/>
                </a:solidFill>
                <a:latin typeface="Arial" panose="020B0604020202020204" pitchFamily="34" charset="0"/>
              </a:rPr>
              <a:t>如果所有的节点更新它们的</a:t>
            </a:r>
            <a:r>
              <a:rPr kumimoji="0" lang="zh-CN" altLang="en-US" sz="2000" smtClean="0">
                <a:solidFill>
                  <a:srgbClr val="000000"/>
                </a:solidFill>
                <a:latin typeface="Arial" panose="020B0604020202020204" pitchFamily="34" charset="0"/>
              </a:rPr>
              <a:t>距离，路由</a:t>
            </a:r>
            <a:r>
              <a:rPr kumimoji="0" lang="zh-CN" altLang="en-US" sz="2000">
                <a:solidFill>
                  <a:srgbClr val="000000"/>
                </a:solidFill>
                <a:latin typeface="Arial" panose="020B0604020202020204" pitchFamily="34" charset="0"/>
              </a:rPr>
              <a:t>表最终</a:t>
            </a:r>
            <a:r>
              <a:rPr kumimoji="0" lang="zh-CN" altLang="en-US" sz="2000" smtClean="0">
                <a:solidFill>
                  <a:srgbClr val="000000"/>
                </a:solidFill>
                <a:latin typeface="Arial" panose="020B0604020202020204" pitchFamily="34" charset="0"/>
              </a:rPr>
              <a:t>会收敛</a:t>
            </a:r>
            <a:endParaRPr kumimoji="0" lang="zh-CN" altLang="en-US" sz="2000">
              <a:solidFill>
                <a:srgbClr val="000000"/>
              </a:solidFill>
              <a:latin typeface="Arial" panose="020B0604020202020204" pitchFamily="34" charset="0"/>
            </a:endParaRPr>
          </a:p>
          <a:p>
            <a:r>
              <a:rPr kumimoji="0" lang="en-US" altLang="zh-CN" sz="2000">
                <a:solidFill>
                  <a:srgbClr val="000000"/>
                </a:solidFill>
                <a:latin typeface="Arial" panose="020B0604020202020204" pitchFamily="34" charset="0"/>
              </a:rPr>
              <a:t>• </a:t>
            </a:r>
            <a:r>
              <a:rPr kumimoji="0" lang="zh-CN" altLang="en-US" sz="2000">
                <a:solidFill>
                  <a:srgbClr val="000000"/>
                </a:solidFill>
                <a:latin typeface="Arial" panose="020B0604020202020204" pitchFamily="34" charset="0"/>
              </a:rPr>
              <a:t>新</a:t>
            </a:r>
            <a:r>
              <a:rPr kumimoji="0" lang="zh-CN" altLang="en-US" sz="2000" smtClean="0">
                <a:solidFill>
                  <a:srgbClr val="000000"/>
                </a:solidFill>
                <a:latin typeface="Arial" panose="020B0604020202020204" pitchFamily="34" charset="0"/>
              </a:rPr>
              <a:t>节点上线后，立即通知</a:t>
            </a:r>
            <a:r>
              <a:rPr kumimoji="0" lang="zh-CN" altLang="en-US" sz="2000">
                <a:solidFill>
                  <a:srgbClr val="000000"/>
                </a:solidFill>
                <a:latin typeface="Arial" panose="020B0604020202020204" pitchFamily="34" charset="0"/>
              </a:rPr>
              <a:t>他们的邻居</a:t>
            </a:r>
          </a:p>
          <a:p>
            <a:r>
              <a:rPr kumimoji="0" lang="en-US" altLang="zh-CN" b="1">
                <a:solidFill>
                  <a:srgbClr val="FF0000"/>
                </a:solidFill>
                <a:latin typeface="Arial" panose="020B0604020202020204" pitchFamily="34" charset="0"/>
              </a:rPr>
              <a:t>2. </a:t>
            </a:r>
            <a:r>
              <a:rPr kumimoji="0" lang="zh-CN" altLang="en-US" b="1">
                <a:solidFill>
                  <a:srgbClr val="FF0000"/>
                </a:solidFill>
                <a:latin typeface="Arial" panose="020B0604020202020204" pitchFamily="34" charset="0"/>
              </a:rPr>
              <a:t>链路状态路由 </a:t>
            </a:r>
            <a:r>
              <a:rPr kumimoji="0" lang="en-US" altLang="zh-CN" b="1">
                <a:solidFill>
                  <a:srgbClr val="FF0000"/>
                </a:solidFill>
                <a:latin typeface="Arial" panose="020B0604020202020204" pitchFamily="34" charset="0"/>
              </a:rPr>
              <a:t>(LS)</a:t>
            </a:r>
          </a:p>
          <a:p>
            <a:r>
              <a:rPr kumimoji="0" lang="en-US" altLang="zh-CN" sz="2000" smtClean="0">
                <a:solidFill>
                  <a:srgbClr val="000000"/>
                </a:solidFill>
                <a:latin typeface="Arial" panose="020B0604020202020204" pitchFamily="34" charset="0"/>
              </a:rPr>
              <a:t>• </a:t>
            </a:r>
            <a:r>
              <a:rPr kumimoji="0" lang="zh-CN" altLang="en-US" sz="2000" smtClean="0">
                <a:solidFill>
                  <a:srgbClr val="000000"/>
                </a:solidFill>
                <a:latin typeface="Arial" panose="020B0604020202020204" pitchFamily="34" charset="0"/>
              </a:rPr>
              <a:t>每个</a:t>
            </a:r>
            <a:r>
              <a:rPr kumimoji="0" lang="zh-CN" altLang="en-US" sz="2000">
                <a:solidFill>
                  <a:srgbClr val="000000"/>
                </a:solidFill>
                <a:latin typeface="Arial" panose="020B0604020202020204" pitchFamily="34" charset="0"/>
              </a:rPr>
              <a:t>节点知道到与它直接相连的邻接点的距离</a:t>
            </a:r>
          </a:p>
          <a:p>
            <a:r>
              <a:rPr kumimoji="0" lang="en-US" altLang="zh-CN" sz="2000">
                <a:solidFill>
                  <a:srgbClr val="000000"/>
                </a:solidFill>
                <a:latin typeface="Arial" panose="020B0604020202020204" pitchFamily="34" charset="0"/>
              </a:rPr>
              <a:t>• </a:t>
            </a:r>
            <a:r>
              <a:rPr kumimoji="0" lang="zh-CN" altLang="en-US" sz="2000">
                <a:solidFill>
                  <a:srgbClr val="000000"/>
                </a:solidFill>
                <a:latin typeface="Arial" panose="020B0604020202020204" pitchFamily="34" charset="0"/>
              </a:rPr>
              <a:t>距离信息广播给网络中的</a:t>
            </a:r>
            <a:r>
              <a:rPr kumimoji="0" lang="zh-CN" altLang="en-US" sz="2000">
                <a:solidFill>
                  <a:srgbClr val="FF0000"/>
                </a:solidFill>
                <a:latin typeface="Arial" panose="020B0604020202020204" pitchFamily="34" charset="0"/>
              </a:rPr>
              <a:t>每一个节点</a:t>
            </a:r>
          </a:p>
          <a:p>
            <a:r>
              <a:rPr kumimoji="0" lang="en-US" altLang="zh-CN" sz="2000">
                <a:solidFill>
                  <a:srgbClr val="000000"/>
                </a:solidFill>
                <a:latin typeface="Arial" panose="020B0604020202020204" pitchFamily="34" charset="0"/>
              </a:rPr>
              <a:t>• </a:t>
            </a:r>
            <a:r>
              <a:rPr kumimoji="0" lang="zh-CN" altLang="en-US" sz="2000">
                <a:solidFill>
                  <a:srgbClr val="000000"/>
                </a:solidFill>
                <a:latin typeface="Arial" panose="020B0604020202020204" pitchFamily="34" charset="0"/>
              </a:rPr>
              <a:t>每个节点独立计算路由表</a:t>
            </a:r>
          </a:p>
        </p:txBody>
      </p:sp>
    </p:spTree>
    <p:extLst>
      <p:ext uri="{BB962C8B-B14F-4D97-AF65-F5344CB8AC3E}">
        <p14:creationId xmlns:p14="http://schemas.microsoft.com/office/powerpoint/2010/main" val="321856776"/>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96451">
                                            <p:txEl>
                                              <p:pRg st="0" end="0"/>
                                            </p:txEl>
                                          </p:spTgt>
                                        </p:tgtEl>
                                        <p:attrNameLst>
                                          <p:attrName>style.visibility</p:attrName>
                                        </p:attrNameLst>
                                      </p:cBhvr>
                                      <p:to>
                                        <p:strVal val="visible"/>
                                      </p:to>
                                    </p:set>
                                    <p:anim calcmode="lin" valueType="num">
                                      <p:cBhvr additive="base">
                                        <p:cTn id="7" dur="500" fill="hold"/>
                                        <p:tgtEl>
                                          <p:spTgt spid="189645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9645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96451">
                                            <p:txEl>
                                              <p:pRg st="1" end="1"/>
                                            </p:txEl>
                                          </p:spTgt>
                                        </p:tgtEl>
                                        <p:attrNameLst>
                                          <p:attrName>style.visibility</p:attrName>
                                        </p:attrNameLst>
                                      </p:cBhvr>
                                      <p:to>
                                        <p:strVal val="visible"/>
                                      </p:to>
                                    </p:set>
                                    <p:anim calcmode="lin" valueType="num">
                                      <p:cBhvr additive="base">
                                        <p:cTn id="13" dur="500" fill="hold"/>
                                        <p:tgtEl>
                                          <p:spTgt spid="189645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9645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rbrak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96451">
                                            <p:txEl>
                                              <p:pRg st="2" end="2"/>
                                            </p:txEl>
                                          </p:spTgt>
                                        </p:tgtEl>
                                        <p:attrNameLst>
                                          <p:attrName>style.visibility</p:attrName>
                                        </p:attrNameLst>
                                      </p:cBhvr>
                                      <p:to>
                                        <p:strVal val="visible"/>
                                      </p:to>
                                    </p:set>
                                    <p:anim calcmode="lin" valueType="num">
                                      <p:cBhvr additive="base">
                                        <p:cTn id="19" dur="500" fill="hold"/>
                                        <p:tgtEl>
                                          <p:spTgt spid="189645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9645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rbrake.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96451">
                                            <p:txEl>
                                              <p:pRg st="3" end="3"/>
                                            </p:txEl>
                                          </p:spTgt>
                                        </p:tgtEl>
                                        <p:attrNameLst>
                                          <p:attrName>style.visibility</p:attrName>
                                        </p:attrNameLst>
                                      </p:cBhvr>
                                      <p:to>
                                        <p:strVal val="visible"/>
                                      </p:to>
                                    </p:set>
                                    <p:anim calcmode="lin" valueType="num">
                                      <p:cBhvr additive="base">
                                        <p:cTn id="25" dur="500" fill="hold"/>
                                        <p:tgtEl>
                                          <p:spTgt spid="1896451">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9645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rbrake.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96451">
                                            <p:txEl>
                                              <p:pRg st="4" end="4"/>
                                            </p:txEl>
                                          </p:spTgt>
                                        </p:tgtEl>
                                        <p:attrNameLst>
                                          <p:attrName>style.visibility</p:attrName>
                                        </p:attrNameLst>
                                      </p:cBhvr>
                                      <p:to>
                                        <p:strVal val="visible"/>
                                      </p:to>
                                    </p:set>
                                    <p:anim calcmode="lin" valueType="num">
                                      <p:cBhvr additive="base">
                                        <p:cTn id="31" dur="500" fill="hold"/>
                                        <p:tgtEl>
                                          <p:spTgt spid="1896451">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96451">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carbrake.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96451">
                                            <p:txEl>
                                              <p:pRg st="5" end="5"/>
                                            </p:txEl>
                                          </p:spTgt>
                                        </p:tgtEl>
                                        <p:attrNameLst>
                                          <p:attrName>style.visibility</p:attrName>
                                        </p:attrNameLst>
                                      </p:cBhvr>
                                      <p:to>
                                        <p:strVal val="visible"/>
                                      </p:to>
                                    </p:set>
                                    <p:anim calcmode="lin" valueType="num">
                                      <p:cBhvr additive="base">
                                        <p:cTn id="37" dur="500" fill="hold"/>
                                        <p:tgtEl>
                                          <p:spTgt spid="1896451">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96451">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carbrake.wav"/>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896451">
                                            <p:txEl>
                                              <p:pRg st="6" end="6"/>
                                            </p:txEl>
                                          </p:spTgt>
                                        </p:tgtEl>
                                        <p:attrNameLst>
                                          <p:attrName>style.visibility</p:attrName>
                                        </p:attrNameLst>
                                      </p:cBhvr>
                                      <p:to>
                                        <p:strVal val="visible"/>
                                      </p:to>
                                    </p:set>
                                    <p:anim calcmode="lin" valueType="num">
                                      <p:cBhvr additive="base">
                                        <p:cTn id="43" dur="500" fill="hold"/>
                                        <p:tgtEl>
                                          <p:spTgt spid="1896451">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896451">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carbrake.wav"/>
                                        </p:tgtEl>
                                      </p:cMediaNode>
                                    </p:audio>
                                  </p:sub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896451">
                                            <p:txEl>
                                              <p:pRg st="7" end="7"/>
                                            </p:txEl>
                                          </p:spTgt>
                                        </p:tgtEl>
                                        <p:attrNameLst>
                                          <p:attrName>style.visibility</p:attrName>
                                        </p:attrNameLst>
                                      </p:cBhvr>
                                      <p:to>
                                        <p:strVal val="visible"/>
                                      </p:to>
                                    </p:set>
                                    <p:anim calcmode="lin" valueType="num">
                                      <p:cBhvr additive="base">
                                        <p:cTn id="49" dur="500" fill="hold"/>
                                        <p:tgtEl>
                                          <p:spTgt spid="1896451">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896451">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2" name="carbrake.wav"/>
                                        </p:tgtEl>
                                      </p:cMediaNode>
                                    </p:audio>
                                  </p:sub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896451">
                                            <p:txEl>
                                              <p:pRg st="8" end="8"/>
                                            </p:txEl>
                                          </p:spTgt>
                                        </p:tgtEl>
                                        <p:attrNameLst>
                                          <p:attrName>style.visibility</p:attrName>
                                        </p:attrNameLst>
                                      </p:cBhvr>
                                      <p:to>
                                        <p:strVal val="visible"/>
                                      </p:to>
                                    </p:set>
                                    <p:anim calcmode="lin" valueType="num">
                                      <p:cBhvr additive="base">
                                        <p:cTn id="55" dur="500" fill="hold"/>
                                        <p:tgtEl>
                                          <p:spTgt spid="1896451">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896451">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2" name="carbrake.wav"/>
                                        </p:tgtEl>
                                      </p:cMediaNode>
                                    </p:audio>
                                  </p:sub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1896451">
                                            <p:txEl>
                                              <p:pRg st="9" end="9"/>
                                            </p:txEl>
                                          </p:spTgt>
                                        </p:tgtEl>
                                        <p:attrNameLst>
                                          <p:attrName>style.visibility</p:attrName>
                                        </p:attrNameLst>
                                      </p:cBhvr>
                                      <p:to>
                                        <p:strVal val="visible"/>
                                      </p:to>
                                    </p:set>
                                    <p:anim calcmode="lin" valueType="num">
                                      <p:cBhvr additive="base">
                                        <p:cTn id="61" dur="500" fill="hold"/>
                                        <p:tgtEl>
                                          <p:spTgt spid="1896451">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1896451">
                                            <p:txEl>
                                              <p:pRg st="9" end="9"/>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9"/>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6451" grpId="0" build="p" autoUpdateAnimBg="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57539" name="Picture 1027" descr="C:\Documents and Settings\teaching\ip2002\scanned\perlman\dv-signpost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0538" y="1414464"/>
            <a:ext cx="6223000" cy="4244975"/>
          </a:xfrm>
          <a:prstGeom prst="rect">
            <a:avLst/>
          </a:prstGeom>
          <a:noFill/>
          <a:extLst>
            <a:ext uri="{909E8E84-426E-40DD-AFC4-6F175D3DCCD1}">
              <a14:hiddenFill xmlns:a14="http://schemas.microsoft.com/office/drawing/2010/main">
                <a:solidFill>
                  <a:srgbClr val="FFFFFF"/>
                </a:solidFill>
              </a14:hiddenFill>
            </a:ext>
          </a:extLst>
        </p:spPr>
      </p:pic>
      <p:sp>
        <p:nvSpPr>
          <p:cNvPr id="1857540" name="Text Box 1028"/>
          <p:cNvSpPr txBox="1">
            <a:spLocks noChangeArrowheads="1"/>
          </p:cNvSpPr>
          <p:nvPr/>
        </p:nvSpPr>
        <p:spPr bwMode="auto">
          <a:xfrm>
            <a:off x="1524000" y="5808663"/>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a:latin typeface="Arial" panose="020B0604020202020204" pitchFamily="34" charset="0"/>
              </a:rPr>
              <a:t>DV = Set (vector) of Signposts, one for each destination</a:t>
            </a:r>
          </a:p>
        </p:txBody>
      </p:sp>
      <p:sp>
        <p:nvSpPr>
          <p:cNvPr id="1857541" name="Rectangle 1029"/>
          <p:cNvSpPr>
            <a:spLocks noGrp="1" noChangeArrowheads="1"/>
          </p:cNvSpPr>
          <p:nvPr>
            <p:ph type="title"/>
          </p:nvPr>
        </p:nvSpPr>
        <p:spPr bwMode="auto">
          <a:xfrm>
            <a:off x="2209800" y="196852"/>
            <a:ext cx="7772400" cy="704848"/>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zh-CN" altLang="en-US" smtClean="0"/>
              <a:t>距离</a:t>
            </a:r>
            <a:r>
              <a:rPr lang="zh-CN" altLang="en-US"/>
              <a:t>矢量</a:t>
            </a:r>
          </a:p>
        </p:txBody>
      </p:sp>
      <p:sp>
        <p:nvSpPr>
          <p:cNvPr id="1857542" name="AutoShape 1030"/>
          <p:cNvSpPr>
            <a:spLocks noChangeArrowheads="1"/>
          </p:cNvSpPr>
          <p:nvPr/>
        </p:nvSpPr>
        <p:spPr bwMode="auto">
          <a:xfrm>
            <a:off x="8369301" y="1260476"/>
            <a:ext cx="1952625" cy="766763"/>
          </a:xfrm>
          <a:prstGeom prst="wedgeRoundRectCallout">
            <a:avLst>
              <a:gd name="adj1" fmla="val -115852"/>
              <a:gd name="adj2" fmla="val 37782"/>
              <a:gd name="adj3" fmla="val 16667"/>
            </a:avLst>
          </a:prstGeom>
          <a:solidFill>
            <a:schemeClr val="accent1"/>
          </a:solidFill>
          <a:ln w="9525">
            <a:solidFill>
              <a:srgbClr val="CACAC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3200" b="1">
                <a:solidFill>
                  <a:schemeClr val="tx2"/>
                </a:solidFill>
                <a:latin typeface="Tahoma" panose="020B0604030504040204" pitchFamily="34" charset="0"/>
              </a:rPr>
              <a:t>Vector</a:t>
            </a:r>
          </a:p>
        </p:txBody>
      </p:sp>
      <p:sp>
        <p:nvSpPr>
          <p:cNvPr id="1857543" name="AutoShape 1031"/>
          <p:cNvSpPr>
            <a:spLocks noChangeArrowheads="1"/>
          </p:cNvSpPr>
          <p:nvPr/>
        </p:nvSpPr>
        <p:spPr bwMode="auto">
          <a:xfrm>
            <a:off x="8172450" y="2544764"/>
            <a:ext cx="2000250" cy="841375"/>
          </a:xfrm>
          <a:prstGeom prst="wedgeRoundRectCallout">
            <a:avLst>
              <a:gd name="adj1" fmla="val -113412"/>
              <a:gd name="adj2" fmla="val -71134"/>
              <a:gd name="adj3" fmla="val 16667"/>
            </a:avLst>
          </a:prstGeom>
          <a:solidFill>
            <a:schemeClr val="accent1"/>
          </a:solidFill>
          <a:ln w="9525">
            <a:solidFill>
              <a:srgbClr val="CACAC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b="1">
                <a:solidFill>
                  <a:schemeClr val="tx2"/>
                </a:solidFill>
                <a:latin typeface="Tahoma" panose="020B0604030504040204" pitchFamily="34" charset="0"/>
              </a:rPr>
              <a:t>Distance</a:t>
            </a:r>
          </a:p>
        </p:txBody>
      </p:sp>
    </p:spTree>
    <p:extLst>
      <p:ext uri="{BB962C8B-B14F-4D97-AF65-F5344CB8AC3E}">
        <p14:creationId xmlns:p14="http://schemas.microsoft.com/office/powerpoint/2010/main" val="2609952598"/>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57540">
                                            <p:txEl>
                                              <p:pRg st="0" end="0"/>
                                            </p:txEl>
                                          </p:spTgt>
                                        </p:tgtEl>
                                        <p:attrNameLst>
                                          <p:attrName>style.visibility</p:attrName>
                                        </p:attrNameLst>
                                      </p:cBhvr>
                                      <p:to>
                                        <p:strVal val="visible"/>
                                      </p:to>
                                    </p:set>
                                    <p:anim calcmode="lin" valueType="num">
                                      <p:cBhvr additive="base">
                                        <p:cTn id="7" dur="500" fill="hold"/>
                                        <p:tgtEl>
                                          <p:spTgt spid="185754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5754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57542"/>
                                        </p:tgtEl>
                                        <p:attrNameLst>
                                          <p:attrName>style.visibility</p:attrName>
                                        </p:attrNameLst>
                                      </p:cBhvr>
                                      <p:to>
                                        <p:strVal val="visible"/>
                                      </p:to>
                                    </p:set>
                                    <p:anim calcmode="lin" valueType="num">
                                      <p:cBhvr additive="base">
                                        <p:cTn id="13" dur="500" fill="hold"/>
                                        <p:tgtEl>
                                          <p:spTgt spid="1857542"/>
                                        </p:tgtEl>
                                        <p:attrNameLst>
                                          <p:attrName>ppt_x</p:attrName>
                                        </p:attrNameLst>
                                      </p:cBhvr>
                                      <p:tavLst>
                                        <p:tav tm="0">
                                          <p:val>
                                            <p:strVal val="1+#ppt_w/2"/>
                                          </p:val>
                                        </p:tav>
                                        <p:tav tm="100000">
                                          <p:val>
                                            <p:strVal val="#ppt_x"/>
                                          </p:val>
                                        </p:tav>
                                      </p:tavLst>
                                    </p:anim>
                                    <p:anim calcmode="lin" valueType="num">
                                      <p:cBhvr additive="base">
                                        <p:cTn id="14" dur="500" fill="hold"/>
                                        <p:tgtEl>
                                          <p:spTgt spid="185754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rbrak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57543"/>
                                        </p:tgtEl>
                                        <p:attrNameLst>
                                          <p:attrName>style.visibility</p:attrName>
                                        </p:attrNameLst>
                                      </p:cBhvr>
                                      <p:to>
                                        <p:strVal val="visible"/>
                                      </p:to>
                                    </p:set>
                                    <p:anim calcmode="lin" valueType="num">
                                      <p:cBhvr additive="base">
                                        <p:cTn id="19" dur="500" fill="hold"/>
                                        <p:tgtEl>
                                          <p:spTgt spid="1857543"/>
                                        </p:tgtEl>
                                        <p:attrNameLst>
                                          <p:attrName>ppt_x</p:attrName>
                                        </p:attrNameLst>
                                      </p:cBhvr>
                                      <p:tavLst>
                                        <p:tav tm="0">
                                          <p:val>
                                            <p:strVal val="1+#ppt_w/2"/>
                                          </p:val>
                                        </p:tav>
                                        <p:tav tm="100000">
                                          <p:val>
                                            <p:strVal val="#ppt_x"/>
                                          </p:val>
                                        </p:tav>
                                      </p:tavLst>
                                    </p:anim>
                                    <p:anim calcmode="lin" valueType="num">
                                      <p:cBhvr additive="base">
                                        <p:cTn id="20" dur="500" fill="hold"/>
                                        <p:tgtEl>
                                          <p:spTgt spid="185754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7540" grpId="0" build="p" autoUpdateAnimBg="0"/>
      <p:bldP spid="1857542" grpId="0" animBg="1" autoUpdateAnimBg="0"/>
      <p:bldP spid="1857543" grpId="0" animBg="1" autoUpdateAnimBg="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3651" name="Rectangle 3"/>
          <p:cNvSpPr>
            <a:spLocks noGrp="1" noChangeArrowheads="1"/>
          </p:cNvSpPr>
          <p:nvPr>
            <p:ph type="body" idx="1"/>
          </p:nvPr>
        </p:nvSpPr>
        <p:spPr bwMode="auto">
          <a:xfrm>
            <a:off x="2209800" y="1854200"/>
            <a:ext cx="7772400" cy="4114800"/>
          </a:xfr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zh-CN" altLang="en-US"/>
              <a:t>早期 </a:t>
            </a:r>
            <a:r>
              <a:rPr lang="en-US" altLang="zh-CN"/>
              <a:t>Arpanet</a:t>
            </a:r>
            <a:r>
              <a:rPr lang="zh-CN" altLang="en-US"/>
              <a:t>所采用</a:t>
            </a:r>
          </a:p>
          <a:p>
            <a:r>
              <a:rPr lang="zh-CN" altLang="en-US"/>
              <a:t>分布式下一跳计算</a:t>
            </a:r>
          </a:p>
          <a:p>
            <a:pPr lvl="1"/>
            <a:r>
              <a:rPr lang="zh-CN" altLang="en-US"/>
              <a:t>自适应</a:t>
            </a:r>
          </a:p>
          <a:p>
            <a:r>
              <a:rPr lang="zh-CN" altLang="en-US"/>
              <a:t>信息交换单元</a:t>
            </a:r>
          </a:p>
          <a:p>
            <a:pPr lvl="1"/>
            <a:r>
              <a:rPr lang="zh-CN" altLang="en-US"/>
              <a:t>到每个目的的距离向量</a:t>
            </a:r>
          </a:p>
          <a:p>
            <a:r>
              <a:rPr lang="zh-CN" altLang="en-US">
                <a:solidFill>
                  <a:schemeClr val="folHlink"/>
                </a:solidFill>
              </a:rPr>
              <a:t>分布式</a:t>
            </a:r>
            <a:r>
              <a:rPr lang="en-US" altLang="zh-CN">
                <a:solidFill>
                  <a:schemeClr val="folHlink"/>
                </a:solidFill>
              </a:rPr>
              <a:t>Bellman-Ford</a:t>
            </a:r>
            <a:r>
              <a:rPr lang="en-US" altLang="zh-CN"/>
              <a:t> </a:t>
            </a:r>
            <a:r>
              <a:rPr lang="zh-CN" altLang="en-US"/>
              <a:t>算法</a:t>
            </a:r>
          </a:p>
        </p:txBody>
      </p:sp>
      <p:sp>
        <p:nvSpPr>
          <p:cNvPr id="1563652" name="Rectangle 4"/>
          <p:cNvSpPr>
            <a:spLocks noGrp="1" noChangeArrowheads="1"/>
          </p:cNvSpPr>
          <p:nvPr>
            <p:ph type="title"/>
          </p:nvPr>
        </p:nvSpPr>
        <p:spPr bwMode="auto">
          <a:xfrm>
            <a:off x="2209800" y="190500"/>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zh-CN" altLang="en-US"/>
              <a:t>距离向量算法</a:t>
            </a:r>
          </a:p>
        </p:txBody>
      </p:sp>
    </p:spTree>
    <p:extLst>
      <p:ext uri="{BB962C8B-B14F-4D97-AF65-F5344CB8AC3E}">
        <p14:creationId xmlns:p14="http://schemas.microsoft.com/office/powerpoint/2010/main" val="2150274450"/>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4675" name="Text Box 3"/>
          <p:cNvSpPr txBox="1">
            <a:spLocks noChangeArrowheads="1"/>
          </p:cNvSpPr>
          <p:nvPr/>
        </p:nvSpPr>
        <p:spPr bwMode="auto">
          <a:xfrm>
            <a:off x="1279526" y="1492250"/>
            <a:ext cx="1050607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a:latin typeface="Tahoma" panose="020B0604030504040204" pitchFamily="34" charset="0"/>
              </a:rPr>
              <a:t>开始条件</a:t>
            </a:r>
            <a:r>
              <a:rPr lang="en-US" altLang="zh-CN" sz="2400" b="1">
                <a:latin typeface="Tahoma" panose="020B0604030504040204" pitchFamily="34" charset="0"/>
              </a:rPr>
              <a:t>:</a:t>
            </a:r>
          </a:p>
          <a:p>
            <a:r>
              <a:rPr lang="en-US" altLang="zh-CN" sz="2400" b="1">
                <a:latin typeface="Tahoma" panose="020B0604030504040204" pitchFamily="34" charset="0"/>
              </a:rPr>
              <a:t>	</a:t>
            </a:r>
            <a:r>
              <a:rPr lang="zh-CN" altLang="en-US" sz="2400" b="1">
                <a:latin typeface="Tahoma" panose="020B0604030504040204" pitchFamily="34" charset="0"/>
              </a:rPr>
              <a:t>每个路由器始于一个零初值的距离向量，到所有直接相连的网络</a:t>
            </a:r>
          </a:p>
          <a:p>
            <a:r>
              <a:rPr lang="zh-CN" altLang="en-US" sz="2400" b="1">
                <a:latin typeface="Tahoma" panose="020B0604030504040204" pitchFamily="34" charset="0"/>
              </a:rPr>
              <a:t>发送步骤</a:t>
            </a:r>
            <a:r>
              <a:rPr lang="en-US" altLang="zh-CN" sz="2400" b="1">
                <a:latin typeface="Tahoma" panose="020B0604030504040204" pitchFamily="34" charset="0"/>
              </a:rPr>
              <a:t>:</a:t>
            </a:r>
          </a:p>
          <a:p>
            <a:r>
              <a:rPr lang="en-US" altLang="zh-CN" sz="2400" b="1">
                <a:latin typeface="Tahoma" panose="020B0604030504040204" pitchFamily="34" charset="0"/>
              </a:rPr>
              <a:t>	</a:t>
            </a:r>
            <a:r>
              <a:rPr lang="zh-CN" altLang="en-US" sz="2400" b="1">
                <a:latin typeface="Tahoma" panose="020B0604030504040204" pitchFamily="34" charset="0"/>
              </a:rPr>
              <a:t>每个路由器定期把它的目前的向量通知给所有邻接路由器</a:t>
            </a:r>
            <a:r>
              <a:rPr lang="en-US" altLang="zh-CN" sz="2400" b="1">
                <a:latin typeface="Tahoma" panose="020B0604030504040204" pitchFamily="34" charset="0"/>
              </a:rPr>
              <a:t>(30 sec.).</a:t>
            </a:r>
          </a:p>
          <a:p>
            <a:endParaRPr lang="en-US" altLang="zh-CN" sz="2400" b="1">
              <a:latin typeface="Tahoma" panose="020B0604030504040204" pitchFamily="34" charset="0"/>
            </a:endParaRPr>
          </a:p>
          <a:p>
            <a:r>
              <a:rPr lang="zh-CN" altLang="en-US" sz="2400" b="1">
                <a:latin typeface="Tahoma" panose="020B0604030504040204" pitchFamily="34" charset="0"/>
              </a:rPr>
              <a:t>接收步骤</a:t>
            </a:r>
            <a:r>
              <a:rPr lang="en-US" altLang="zh-CN" sz="2400" b="1">
                <a:latin typeface="Tahoma" panose="020B0604030504040204" pitchFamily="34" charset="0"/>
              </a:rPr>
              <a:t>:</a:t>
            </a:r>
          </a:p>
          <a:p>
            <a:r>
              <a:rPr lang="en-US" altLang="zh-CN" sz="2400" b="1">
                <a:latin typeface="Tahoma" panose="020B0604030504040204" pitchFamily="34" charset="0"/>
              </a:rPr>
              <a:t>	</a:t>
            </a:r>
            <a:r>
              <a:rPr lang="zh-CN" altLang="en-US" sz="2400" b="1">
                <a:latin typeface="Tahoma" panose="020B0604030504040204" pitchFamily="34" charset="0"/>
              </a:rPr>
              <a:t>一旦收到每个邻接点的</a:t>
            </a:r>
            <a:r>
              <a:rPr lang="zh-CN" altLang="en-US" sz="2400" b="1" smtClean="0">
                <a:latin typeface="Tahoma" panose="020B0604030504040204" pitchFamily="34" charset="0"/>
              </a:rPr>
              <a:t>向量，路由器</a:t>
            </a:r>
            <a:r>
              <a:rPr lang="zh-CN" altLang="en-US" sz="2400" b="1">
                <a:latin typeface="Tahoma" panose="020B0604030504040204" pitchFamily="34" charset="0"/>
              </a:rPr>
              <a:t>计算它自己到每个邻接点的距离</a:t>
            </a:r>
            <a:r>
              <a:rPr lang="en-US" altLang="zh-CN" sz="2400" b="1">
                <a:latin typeface="Tahoma" panose="020B0604030504040204" pitchFamily="34" charset="0"/>
              </a:rPr>
              <a:t>.</a:t>
            </a:r>
          </a:p>
          <a:p>
            <a:r>
              <a:rPr lang="en-US" altLang="zh-CN" sz="2400" b="1">
                <a:latin typeface="Tahoma" panose="020B0604030504040204" pitchFamily="34" charset="0"/>
              </a:rPr>
              <a:t>	</a:t>
            </a:r>
            <a:r>
              <a:rPr lang="zh-CN" altLang="en-US" sz="2400" b="1">
                <a:latin typeface="Tahoma" panose="020B0604030504040204" pitchFamily="34" charset="0"/>
              </a:rPr>
              <a:t>然后</a:t>
            </a:r>
            <a:r>
              <a:rPr lang="en-US" altLang="zh-CN" sz="2400" b="1">
                <a:latin typeface="Tahoma" panose="020B0604030504040204" pitchFamily="34" charset="0"/>
              </a:rPr>
              <a:t>, </a:t>
            </a:r>
            <a:r>
              <a:rPr lang="zh-CN" altLang="en-US" sz="2400" b="1">
                <a:latin typeface="Tahoma" panose="020B0604030504040204" pitchFamily="34" charset="0"/>
              </a:rPr>
              <a:t>对每个</a:t>
            </a:r>
            <a:r>
              <a:rPr lang="zh-CN" altLang="en-US" sz="2400" b="1" smtClean="0">
                <a:latin typeface="Tahoma" panose="020B0604030504040204" pitchFamily="34" charset="0"/>
              </a:rPr>
              <a:t>网络</a:t>
            </a:r>
            <a:r>
              <a:rPr lang="en-US" altLang="zh-CN" sz="2400" b="1">
                <a:latin typeface="Tahoma" panose="020B0604030504040204" pitchFamily="34" charset="0"/>
              </a:rPr>
              <a:t>X</a:t>
            </a:r>
            <a:r>
              <a:rPr lang="en-US" altLang="zh-CN" sz="2400" b="1" smtClean="0">
                <a:latin typeface="Tahoma" panose="020B0604030504040204" pitchFamily="34" charset="0"/>
              </a:rPr>
              <a:t>, </a:t>
            </a:r>
            <a:r>
              <a:rPr lang="zh-CN" altLang="en-US" sz="2400" b="1">
                <a:latin typeface="Tahoma" panose="020B0604030504040204" pitchFamily="34" charset="0"/>
              </a:rPr>
              <a:t>路由器找出最</a:t>
            </a:r>
            <a:r>
              <a:rPr lang="zh-CN" altLang="en-US" sz="2400" b="1" smtClean="0">
                <a:latin typeface="Tahoma" panose="020B0604030504040204" pitchFamily="34" charset="0"/>
              </a:rPr>
              <a:t>接近</a:t>
            </a:r>
            <a:r>
              <a:rPr lang="en-US" altLang="zh-CN" sz="2400" b="1">
                <a:latin typeface="Tahoma" panose="020B0604030504040204" pitchFamily="34" charset="0"/>
              </a:rPr>
              <a:t>X</a:t>
            </a:r>
            <a:r>
              <a:rPr lang="zh-CN" altLang="en-US" sz="2400" b="1" smtClean="0">
                <a:latin typeface="Tahoma" panose="020B0604030504040204" pitchFamily="34" charset="0"/>
              </a:rPr>
              <a:t>的</a:t>
            </a:r>
            <a:r>
              <a:rPr lang="zh-CN" altLang="en-US" sz="2400" b="1">
                <a:latin typeface="Tahoma" panose="020B0604030504040204" pitchFamily="34" charset="0"/>
              </a:rPr>
              <a:t>邻接点</a:t>
            </a:r>
            <a:r>
              <a:rPr lang="en-US" altLang="zh-CN" sz="2400" b="1">
                <a:latin typeface="Tahoma" panose="020B0604030504040204" pitchFamily="34" charset="0"/>
              </a:rPr>
              <a:t>.</a:t>
            </a:r>
          </a:p>
          <a:p>
            <a:r>
              <a:rPr lang="en-US" altLang="zh-CN" sz="2400" b="1">
                <a:latin typeface="Tahoma" panose="020B0604030504040204" pitchFamily="34" charset="0"/>
              </a:rPr>
              <a:t>	</a:t>
            </a:r>
            <a:r>
              <a:rPr lang="zh-CN" altLang="en-US" sz="2400" b="1">
                <a:latin typeface="Tahoma" panose="020B0604030504040204" pitchFamily="34" charset="0"/>
              </a:rPr>
              <a:t>路由器更新它到 </a:t>
            </a:r>
            <a:r>
              <a:rPr lang="en-US" altLang="zh-CN" sz="2400" b="1">
                <a:latin typeface="Tahoma" panose="020B0604030504040204" pitchFamily="34" charset="0"/>
              </a:rPr>
              <a:t>X</a:t>
            </a:r>
            <a:r>
              <a:rPr lang="zh-CN" altLang="en-US" sz="2400" b="1">
                <a:latin typeface="Tahoma" panose="020B0604030504040204" pitchFamily="34" charset="0"/>
              </a:rPr>
              <a:t>费用</a:t>
            </a:r>
            <a:r>
              <a:rPr lang="en-US" altLang="zh-CN" sz="2400" b="1">
                <a:latin typeface="Tahoma" panose="020B0604030504040204" pitchFamily="34" charset="0"/>
              </a:rPr>
              <a:t>. </a:t>
            </a:r>
            <a:r>
              <a:rPr lang="zh-CN" altLang="en-US" sz="2400" b="1">
                <a:latin typeface="Tahoma" panose="020B0604030504040204" pitchFamily="34" charset="0"/>
              </a:rPr>
              <a:t>在对所有网络做了如上之后</a:t>
            </a:r>
            <a:r>
              <a:rPr lang="en-US" altLang="zh-CN" sz="2400" b="1">
                <a:latin typeface="Tahoma" panose="020B0604030504040204" pitchFamily="34" charset="0"/>
              </a:rPr>
              <a:t>,</a:t>
            </a:r>
            <a:r>
              <a:rPr lang="zh-CN" altLang="en-US" sz="2400" b="1">
                <a:latin typeface="Tahoma" panose="020B0604030504040204" pitchFamily="34" charset="0"/>
              </a:rPr>
              <a:t>路由器就开始发送</a:t>
            </a:r>
            <a:r>
              <a:rPr lang="en-US" altLang="zh-CN" sz="2400" b="1">
                <a:latin typeface="Tahoma" panose="020B0604030504040204" pitchFamily="34" charset="0"/>
              </a:rPr>
              <a:t>.</a:t>
            </a:r>
          </a:p>
        </p:txBody>
      </p:sp>
      <p:sp>
        <p:nvSpPr>
          <p:cNvPr id="1564676" name="Rectangle 4"/>
          <p:cNvSpPr>
            <a:spLocks noChangeArrowheads="1"/>
          </p:cNvSpPr>
          <p:nvPr/>
        </p:nvSpPr>
        <p:spPr bwMode="auto">
          <a:xfrm>
            <a:off x="2743200" y="1676400"/>
            <a:ext cx="67818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4677" name="Rectangle 5"/>
          <p:cNvSpPr>
            <a:spLocks noGrp="1" noChangeArrowheads="1"/>
          </p:cNvSpPr>
          <p:nvPr>
            <p:ph type="title"/>
          </p:nvPr>
        </p:nvSpPr>
        <p:spPr bwMode="auto">
          <a:xfrm>
            <a:off x="2247900" y="169922"/>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zh-CN" altLang="en-US"/>
              <a:t>分布式 </a:t>
            </a:r>
            <a:r>
              <a:rPr lang="en-US" altLang="zh-CN"/>
              <a:t>Bellman-Ford</a:t>
            </a:r>
          </a:p>
        </p:txBody>
      </p:sp>
    </p:spTree>
    <p:extLst>
      <p:ext uri="{BB962C8B-B14F-4D97-AF65-F5344CB8AC3E}">
        <p14:creationId xmlns:p14="http://schemas.microsoft.com/office/powerpoint/2010/main" val="830508535"/>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1218" name="Rectangle 1026"/>
          <p:cNvSpPr>
            <a:spLocks noGrp="1" noChangeArrowheads="1"/>
          </p:cNvSpPr>
          <p:nvPr>
            <p:ph type="title"/>
          </p:nvPr>
        </p:nvSpPr>
        <p:spPr bwMode="auto">
          <a:xfrm>
            <a:off x="2349500" y="239713"/>
            <a:ext cx="7772400" cy="712787"/>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zh-CN" altLang="en-US"/>
              <a:t>路由刷新</a:t>
            </a:r>
          </a:p>
        </p:txBody>
      </p:sp>
      <p:sp>
        <p:nvSpPr>
          <p:cNvPr id="1801220" name="Text Box 1028"/>
          <p:cNvSpPr txBox="1">
            <a:spLocks noChangeArrowheads="1"/>
          </p:cNvSpPr>
          <p:nvPr/>
        </p:nvSpPr>
        <p:spPr bwMode="auto">
          <a:xfrm>
            <a:off x="787400" y="1382713"/>
            <a:ext cx="106172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smtClean="0">
                <a:latin typeface="宋体" panose="02010600030101010101" pitchFamily="2" charset="-122"/>
              </a:rPr>
              <a:t>刷新</a:t>
            </a:r>
            <a:r>
              <a:rPr lang="zh-CN" altLang="en-US" sz="2400">
                <a:latin typeface="宋体" panose="02010600030101010101" pitchFamily="2" charset="-122"/>
              </a:rPr>
              <a:t>时，逐项检查来自其相邻路由器的</a:t>
            </a:r>
            <a:r>
              <a:rPr lang="en-US" altLang="zh-CN" sz="2400">
                <a:latin typeface="宋体" panose="02010600030101010101" pitchFamily="2" charset="-122"/>
              </a:rPr>
              <a:t>V-D</a:t>
            </a:r>
            <a:r>
              <a:rPr lang="zh-CN" altLang="en-US" sz="2400">
                <a:latin typeface="宋体" panose="02010600030101010101" pitchFamily="2" charset="-122"/>
              </a:rPr>
              <a:t>报文，遇到下列情况之一时，修改本地选径表（假定</a:t>
            </a:r>
            <a:r>
              <a:rPr lang="en-US" altLang="zh-CN" sz="2400">
                <a:latin typeface="宋体" panose="02010600030101010101" pitchFamily="2" charset="-122"/>
              </a:rPr>
              <a:t>Gi</a:t>
            </a:r>
            <a:r>
              <a:rPr lang="zh-CN" altLang="en-US" sz="2400">
                <a:latin typeface="宋体" panose="02010600030101010101" pitchFamily="2" charset="-122"/>
              </a:rPr>
              <a:t>收到</a:t>
            </a:r>
            <a:r>
              <a:rPr lang="en-US" altLang="zh-CN" sz="2400">
                <a:latin typeface="宋体" panose="02010600030101010101" pitchFamily="2" charset="-122"/>
              </a:rPr>
              <a:t>Gj</a:t>
            </a:r>
            <a:r>
              <a:rPr lang="zh-CN" altLang="en-US" sz="2400">
                <a:latin typeface="宋体" panose="02010600030101010101" pitchFamily="2" charset="-122"/>
              </a:rPr>
              <a:t>的</a:t>
            </a:r>
            <a:r>
              <a:rPr lang="en-US" altLang="zh-CN" sz="2400">
                <a:latin typeface="宋体" panose="02010600030101010101" pitchFamily="2" charset="-122"/>
              </a:rPr>
              <a:t>V-D</a:t>
            </a:r>
            <a:r>
              <a:rPr lang="zh-CN" altLang="en-US" sz="2400">
                <a:latin typeface="宋体" panose="02010600030101010101" pitchFamily="2" charset="-122"/>
              </a:rPr>
              <a:t>报文）：</a:t>
            </a:r>
          </a:p>
          <a:p>
            <a:pPr>
              <a:spcBef>
                <a:spcPct val="50000"/>
              </a:spcBef>
            </a:pPr>
            <a:r>
              <a:rPr lang="zh-CN" altLang="en-US" sz="2400">
                <a:latin typeface="宋体" panose="02010600030101010101" pitchFamily="2" charset="-122"/>
              </a:rPr>
              <a:t>  （</a:t>
            </a:r>
            <a:r>
              <a:rPr lang="en-US" altLang="zh-CN" sz="2400">
                <a:latin typeface="宋体" panose="02010600030101010101" pitchFamily="2" charset="-122"/>
              </a:rPr>
              <a:t>A</a:t>
            </a:r>
            <a:r>
              <a:rPr lang="zh-CN" altLang="en-US" sz="2400" smtClean="0">
                <a:latin typeface="宋体" panose="02010600030101010101" pitchFamily="2" charset="-122"/>
              </a:rPr>
              <a:t>）</a:t>
            </a:r>
            <a:r>
              <a:rPr lang="zh-CN" altLang="en-US" sz="2400" smtClean="0">
                <a:solidFill>
                  <a:srgbClr val="FF0000"/>
                </a:solidFill>
                <a:latin typeface="宋体" panose="02010600030101010101" pitchFamily="2" charset="-122"/>
              </a:rPr>
              <a:t>新</a:t>
            </a:r>
            <a:r>
              <a:rPr lang="zh-CN" altLang="en-US" sz="2400">
                <a:solidFill>
                  <a:srgbClr val="FF0000"/>
                </a:solidFill>
                <a:latin typeface="宋体" panose="02010600030101010101" pitchFamily="2" charset="-122"/>
              </a:rPr>
              <a:t>结点进网</a:t>
            </a:r>
            <a:r>
              <a:rPr lang="zh-CN" altLang="en-US" sz="2400">
                <a:latin typeface="宋体" panose="02010600030101010101" pitchFamily="2" charset="-122"/>
              </a:rPr>
              <a:t>。</a:t>
            </a:r>
            <a:r>
              <a:rPr lang="en-US" altLang="zh-CN" sz="2400">
                <a:latin typeface="宋体" panose="02010600030101010101" pitchFamily="2" charset="-122"/>
              </a:rPr>
              <a:t>Gj</a:t>
            </a:r>
            <a:r>
              <a:rPr lang="zh-CN" altLang="en-US" sz="2400">
                <a:latin typeface="宋体" panose="02010600030101010101" pitchFamily="2" charset="-122"/>
              </a:rPr>
              <a:t>列出的某表目在</a:t>
            </a:r>
            <a:r>
              <a:rPr lang="en-US" altLang="zh-CN" sz="2400">
                <a:latin typeface="宋体" panose="02010600030101010101" pitchFamily="2" charset="-122"/>
              </a:rPr>
              <a:t>Gi</a:t>
            </a:r>
            <a:r>
              <a:rPr lang="zh-CN" altLang="en-US" sz="2400">
                <a:latin typeface="宋体" panose="02010600030101010101" pitchFamily="2" charset="-122"/>
              </a:rPr>
              <a:t>的选径表中没有，则在</a:t>
            </a:r>
            <a:r>
              <a:rPr lang="en-US" altLang="zh-CN" sz="2400">
                <a:latin typeface="宋体" panose="02010600030101010101" pitchFamily="2" charset="-122"/>
              </a:rPr>
              <a:t>Gi</a:t>
            </a:r>
            <a:r>
              <a:rPr lang="zh-CN" altLang="en-US" sz="2400">
                <a:latin typeface="宋体" panose="02010600030101010101" pitchFamily="2" charset="-122"/>
              </a:rPr>
              <a:t>选径表中添加相应的表目，其</a:t>
            </a:r>
            <a:r>
              <a:rPr lang="zh-CN" altLang="en-US" sz="2400"/>
              <a:t>“</a:t>
            </a:r>
            <a:r>
              <a:rPr lang="zh-CN" altLang="en-US" sz="2400">
                <a:latin typeface="宋体" panose="02010600030101010101" pitchFamily="2" charset="-122"/>
              </a:rPr>
              <a:t>信宿</a:t>
            </a:r>
            <a:r>
              <a:rPr lang="zh-CN" altLang="en-US" sz="2400"/>
              <a:t>”</a:t>
            </a:r>
            <a:r>
              <a:rPr lang="zh-CN" altLang="en-US" sz="2400">
                <a:latin typeface="宋体" panose="02010600030101010101" pitchFamily="2" charset="-122"/>
              </a:rPr>
              <a:t>是</a:t>
            </a:r>
            <a:r>
              <a:rPr lang="en-US" altLang="zh-CN" sz="2400">
                <a:latin typeface="宋体" panose="02010600030101010101" pitchFamily="2" charset="-122"/>
              </a:rPr>
              <a:t>Gj</a:t>
            </a:r>
            <a:r>
              <a:rPr lang="zh-CN" altLang="en-US" sz="2400">
                <a:latin typeface="宋体" panose="02010600030101010101" pitchFamily="2" charset="-122"/>
              </a:rPr>
              <a:t>表目中的信宿，</a:t>
            </a:r>
            <a:r>
              <a:rPr lang="zh-CN" altLang="en-US" sz="2400"/>
              <a:t>“</a:t>
            </a:r>
            <a:r>
              <a:rPr lang="zh-CN" altLang="en-US" sz="2400">
                <a:latin typeface="宋体" panose="02010600030101010101" pitchFamily="2" charset="-122"/>
              </a:rPr>
              <a:t>距离</a:t>
            </a:r>
            <a:r>
              <a:rPr lang="zh-CN" altLang="en-US" sz="2400"/>
              <a:t>”</a:t>
            </a:r>
            <a:r>
              <a:rPr lang="zh-CN" altLang="en-US" sz="2400">
                <a:latin typeface="宋体" panose="02010600030101010101" pitchFamily="2" charset="-122"/>
              </a:rPr>
              <a:t>为</a:t>
            </a:r>
            <a:r>
              <a:rPr lang="en-US" altLang="zh-CN" sz="2400">
                <a:latin typeface="宋体" panose="02010600030101010101" pitchFamily="2" charset="-122"/>
              </a:rPr>
              <a:t>Gj</a:t>
            </a:r>
            <a:r>
              <a:rPr lang="zh-CN" altLang="en-US" sz="2400">
                <a:latin typeface="宋体" panose="02010600030101010101" pitchFamily="2" charset="-122"/>
              </a:rPr>
              <a:t>表目中的距离值加</a:t>
            </a:r>
            <a:r>
              <a:rPr lang="en-US" altLang="zh-CN" sz="2400">
                <a:latin typeface="宋体" panose="02010600030101010101" pitchFamily="2" charset="-122"/>
              </a:rPr>
              <a:t>1</a:t>
            </a:r>
            <a:r>
              <a:rPr lang="zh-CN" altLang="en-US" sz="2400">
                <a:latin typeface="宋体" panose="02010600030101010101" pitchFamily="2" charset="-122"/>
              </a:rPr>
              <a:t>，其</a:t>
            </a:r>
            <a:r>
              <a:rPr lang="zh-CN" altLang="en-US" sz="2400"/>
              <a:t>“</a:t>
            </a:r>
            <a:r>
              <a:rPr lang="zh-CN" altLang="en-US" sz="2400">
                <a:latin typeface="宋体" panose="02010600030101010101" pitchFamily="2" charset="-122"/>
              </a:rPr>
              <a:t>路径</a:t>
            </a:r>
            <a:r>
              <a:rPr lang="zh-CN" altLang="en-US" sz="2400"/>
              <a:t>”</a:t>
            </a:r>
            <a:r>
              <a:rPr lang="zh-CN" altLang="en-US" sz="2400">
                <a:latin typeface="宋体" panose="02010600030101010101" pitchFamily="2" charset="-122"/>
              </a:rPr>
              <a:t>为</a:t>
            </a:r>
            <a:r>
              <a:rPr lang="en-US" altLang="zh-CN" sz="2400">
                <a:latin typeface="宋体" panose="02010600030101010101" pitchFamily="2" charset="-122"/>
              </a:rPr>
              <a:t>Gj</a:t>
            </a:r>
            <a:r>
              <a:rPr lang="zh-CN" altLang="en-US" sz="2400">
                <a:latin typeface="宋体" panose="02010600030101010101" pitchFamily="2" charset="-122"/>
              </a:rPr>
              <a:t>；</a:t>
            </a:r>
          </a:p>
          <a:p>
            <a:pPr>
              <a:spcBef>
                <a:spcPct val="50000"/>
              </a:spcBef>
            </a:pPr>
            <a:r>
              <a:rPr lang="zh-CN" altLang="en-US" sz="2400">
                <a:latin typeface="宋体" panose="02010600030101010101" pitchFamily="2" charset="-122"/>
              </a:rPr>
              <a:t>  （</a:t>
            </a:r>
            <a:r>
              <a:rPr lang="en-US" altLang="zh-CN" sz="2400">
                <a:latin typeface="宋体" panose="02010600030101010101" pitchFamily="2" charset="-122"/>
              </a:rPr>
              <a:t>B</a:t>
            </a:r>
            <a:r>
              <a:rPr lang="zh-CN" altLang="en-US" sz="2400" smtClean="0">
                <a:latin typeface="宋体" panose="02010600030101010101" pitchFamily="2" charset="-122"/>
              </a:rPr>
              <a:t>）</a:t>
            </a:r>
            <a:r>
              <a:rPr lang="zh-CN" altLang="en-US" sz="2400" smtClean="0">
                <a:solidFill>
                  <a:srgbClr val="FF0000"/>
                </a:solidFill>
                <a:latin typeface="宋体" panose="02010600030101010101" pitchFamily="2" charset="-122"/>
              </a:rPr>
              <a:t>路径</a:t>
            </a:r>
            <a:r>
              <a:rPr lang="zh-CN" altLang="en-US" sz="2400">
                <a:solidFill>
                  <a:srgbClr val="FF0000"/>
                </a:solidFill>
                <a:latin typeface="宋体" panose="02010600030101010101" pitchFamily="2" charset="-122"/>
              </a:rPr>
              <a:t>改变</a:t>
            </a:r>
            <a:r>
              <a:rPr lang="zh-CN" altLang="en-US" sz="2400">
                <a:latin typeface="宋体" panose="02010600030101010101" pitchFamily="2" charset="-122"/>
              </a:rPr>
              <a:t>。</a:t>
            </a:r>
            <a:r>
              <a:rPr lang="en-US" altLang="zh-CN" sz="2400">
                <a:latin typeface="宋体" panose="02010600030101010101" pitchFamily="2" charset="-122"/>
              </a:rPr>
              <a:t>Gj</a:t>
            </a:r>
            <a:r>
              <a:rPr lang="zh-CN" altLang="en-US" sz="2400">
                <a:latin typeface="宋体" panose="02010600030101010101" pitchFamily="2" charset="-122"/>
              </a:rPr>
              <a:t>去往某信宿的距离值比</a:t>
            </a:r>
            <a:r>
              <a:rPr lang="en-US" altLang="zh-CN" sz="2400">
                <a:latin typeface="宋体" panose="02010600030101010101" pitchFamily="2" charset="-122"/>
              </a:rPr>
              <a:t>Gi</a:t>
            </a:r>
            <a:r>
              <a:rPr lang="zh-CN" altLang="en-US" sz="2400">
                <a:latin typeface="宋体" panose="02010600030101010101" pitchFamily="2" charset="-122"/>
              </a:rPr>
              <a:t>去往该信宿的距离值减</a:t>
            </a:r>
            <a:r>
              <a:rPr lang="en-US" altLang="zh-CN" sz="2400">
                <a:latin typeface="宋体" panose="02010600030101010101" pitchFamily="2" charset="-122"/>
              </a:rPr>
              <a:t>1</a:t>
            </a:r>
            <a:r>
              <a:rPr lang="zh-CN" altLang="en-US" sz="2400">
                <a:latin typeface="宋体" panose="02010600030101010101" pitchFamily="2" charset="-122"/>
              </a:rPr>
              <a:t>还小，这表明</a:t>
            </a:r>
            <a:r>
              <a:rPr lang="en-US" altLang="zh-CN" sz="2400">
                <a:latin typeface="宋体" panose="02010600030101010101" pitchFamily="2" charset="-122"/>
              </a:rPr>
              <a:t>Gi</a:t>
            </a:r>
            <a:r>
              <a:rPr lang="zh-CN" altLang="en-US" sz="2400">
                <a:latin typeface="宋体" panose="02010600030101010101" pitchFamily="2" charset="-122"/>
              </a:rPr>
              <a:t>去往该信宿若经由</a:t>
            </a:r>
            <a:r>
              <a:rPr lang="en-US" altLang="zh-CN" sz="2400">
                <a:latin typeface="宋体" panose="02010600030101010101" pitchFamily="2" charset="-122"/>
              </a:rPr>
              <a:t>Gj</a:t>
            </a:r>
            <a:r>
              <a:rPr lang="zh-CN" altLang="en-US" sz="2400">
                <a:latin typeface="宋体" panose="02010600030101010101" pitchFamily="2" charset="-122"/>
              </a:rPr>
              <a:t>距离会更短，这时应修改</a:t>
            </a:r>
            <a:r>
              <a:rPr lang="en-US" altLang="zh-CN" sz="2400">
                <a:latin typeface="宋体" panose="02010600030101010101" pitchFamily="2" charset="-122"/>
              </a:rPr>
              <a:t>Gi</a:t>
            </a:r>
            <a:r>
              <a:rPr lang="zh-CN" altLang="en-US" sz="2400">
                <a:latin typeface="宋体" panose="02010600030101010101" pitchFamily="2" charset="-122"/>
              </a:rPr>
              <a:t>表目，其</a:t>
            </a:r>
            <a:r>
              <a:rPr lang="zh-CN" altLang="en-US" sz="2400"/>
              <a:t>“</a:t>
            </a:r>
            <a:r>
              <a:rPr lang="zh-CN" altLang="en-US" sz="2400">
                <a:latin typeface="宋体" panose="02010600030101010101" pitchFamily="2" charset="-122"/>
              </a:rPr>
              <a:t>信宿</a:t>
            </a:r>
            <a:r>
              <a:rPr lang="zh-CN" altLang="en-US" sz="2400"/>
              <a:t>”</a:t>
            </a:r>
            <a:r>
              <a:rPr lang="zh-CN" altLang="en-US" sz="2400">
                <a:latin typeface="宋体" panose="02010600030101010101" pitchFamily="2" charset="-122"/>
              </a:rPr>
              <a:t>不变，</a:t>
            </a:r>
            <a:r>
              <a:rPr lang="zh-CN" altLang="en-US" sz="2400"/>
              <a:t>“</a:t>
            </a:r>
            <a:r>
              <a:rPr lang="zh-CN" altLang="en-US" sz="2400">
                <a:latin typeface="宋体" panose="02010600030101010101" pitchFamily="2" charset="-122"/>
              </a:rPr>
              <a:t>距离值</a:t>
            </a:r>
            <a:r>
              <a:rPr lang="zh-CN" altLang="en-US" sz="2400"/>
              <a:t>”</a:t>
            </a:r>
            <a:r>
              <a:rPr lang="zh-CN" altLang="en-US" sz="2400">
                <a:latin typeface="宋体" panose="02010600030101010101" pitchFamily="2" charset="-122"/>
              </a:rPr>
              <a:t>为</a:t>
            </a:r>
            <a:r>
              <a:rPr lang="en-US" altLang="zh-CN" sz="2400">
                <a:latin typeface="宋体" panose="02010600030101010101" pitchFamily="2" charset="-122"/>
              </a:rPr>
              <a:t>Gj</a:t>
            </a:r>
            <a:r>
              <a:rPr lang="zh-CN" altLang="en-US" sz="2400">
                <a:latin typeface="宋体" panose="02010600030101010101" pitchFamily="2" charset="-122"/>
              </a:rPr>
              <a:t>表目中的距离值加</a:t>
            </a:r>
            <a:r>
              <a:rPr lang="en-US" altLang="zh-CN" sz="2400">
                <a:latin typeface="宋体" panose="02010600030101010101" pitchFamily="2" charset="-122"/>
              </a:rPr>
              <a:t>1</a:t>
            </a:r>
            <a:r>
              <a:rPr lang="zh-CN" altLang="en-US" sz="2400">
                <a:latin typeface="宋体" panose="02010600030101010101" pitchFamily="2" charset="-122"/>
              </a:rPr>
              <a:t>，路径为</a:t>
            </a:r>
            <a:r>
              <a:rPr lang="en-US" altLang="zh-CN" sz="2400">
                <a:latin typeface="宋体" panose="02010600030101010101" pitchFamily="2" charset="-122"/>
              </a:rPr>
              <a:t>Gj</a:t>
            </a:r>
            <a:r>
              <a:rPr lang="zh-CN" altLang="en-US" sz="2400">
                <a:latin typeface="宋体" panose="02010600030101010101" pitchFamily="2" charset="-122"/>
              </a:rPr>
              <a:t>；</a:t>
            </a:r>
          </a:p>
        </p:txBody>
      </p:sp>
    </p:spTree>
    <p:extLst>
      <p:ext uri="{BB962C8B-B14F-4D97-AF65-F5344CB8AC3E}">
        <p14:creationId xmlns:p14="http://schemas.microsoft.com/office/powerpoint/2010/main" val="1242247626"/>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01220">
                                            <p:txEl>
                                              <p:pRg st="0" end="0"/>
                                            </p:txEl>
                                          </p:spTgt>
                                        </p:tgtEl>
                                        <p:attrNameLst>
                                          <p:attrName>style.visibility</p:attrName>
                                        </p:attrNameLst>
                                      </p:cBhvr>
                                      <p:to>
                                        <p:strVal val="visible"/>
                                      </p:to>
                                    </p:set>
                                    <p:anim calcmode="lin" valueType="num">
                                      <p:cBhvr additive="base">
                                        <p:cTn id="7" dur="500" fill="hold"/>
                                        <p:tgtEl>
                                          <p:spTgt spid="180122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0122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01220">
                                            <p:txEl>
                                              <p:pRg st="1" end="1"/>
                                            </p:txEl>
                                          </p:spTgt>
                                        </p:tgtEl>
                                        <p:attrNameLst>
                                          <p:attrName>style.visibility</p:attrName>
                                        </p:attrNameLst>
                                      </p:cBhvr>
                                      <p:to>
                                        <p:strVal val="visible"/>
                                      </p:to>
                                    </p:set>
                                    <p:anim calcmode="lin" valueType="num">
                                      <p:cBhvr additive="base">
                                        <p:cTn id="13" dur="500" fill="hold"/>
                                        <p:tgtEl>
                                          <p:spTgt spid="1801220">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01220">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rbrak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01220">
                                            <p:txEl>
                                              <p:pRg st="2" end="2"/>
                                            </p:txEl>
                                          </p:spTgt>
                                        </p:tgtEl>
                                        <p:attrNameLst>
                                          <p:attrName>style.visibility</p:attrName>
                                        </p:attrNameLst>
                                      </p:cBhvr>
                                      <p:to>
                                        <p:strVal val="visible"/>
                                      </p:to>
                                    </p:set>
                                    <p:anim calcmode="lin" valueType="num">
                                      <p:cBhvr additive="base">
                                        <p:cTn id="19" dur="500" fill="hold"/>
                                        <p:tgtEl>
                                          <p:spTgt spid="1801220">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01220">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1220" grpId="0" build="p" autoUpdateAnimBg="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42" name="Rectangle 1026"/>
          <p:cNvSpPr>
            <a:spLocks noGrp="1" noChangeArrowheads="1"/>
          </p:cNvSpPr>
          <p:nvPr>
            <p:ph type="title"/>
          </p:nvPr>
        </p:nvSpPr>
        <p:spPr bwMode="auto">
          <a:xfrm>
            <a:off x="2209800" y="279400"/>
            <a:ext cx="7772400" cy="11938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zh-CN" altLang="en-US"/>
              <a:t>路由刷新（续）</a:t>
            </a:r>
          </a:p>
        </p:txBody>
      </p:sp>
      <p:sp>
        <p:nvSpPr>
          <p:cNvPr id="1802244" name="Text Box 1028"/>
          <p:cNvSpPr txBox="1">
            <a:spLocks noChangeArrowheads="1"/>
          </p:cNvSpPr>
          <p:nvPr/>
        </p:nvSpPr>
        <p:spPr bwMode="auto">
          <a:xfrm>
            <a:off x="1022350" y="1676401"/>
            <a:ext cx="10534650" cy="2529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30000"/>
              </a:spcBef>
            </a:pPr>
            <a:r>
              <a:rPr lang="en-US" altLang="zh-CN"/>
              <a:t>   </a:t>
            </a:r>
            <a:r>
              <a:rPr lang="zh-CN" altLang="en-US"/>
              <a:t>（</a:t>
            </a:r>
            <a:r>
              <a:rPr lang="en-US" altLang="zh-CN"/>
              <a:t>3</a:t>
            </a:r>
            <a:r>
              <a:rPr lang="zh-CN" altLang="en-US"/>
              <a:t>）</a:t>
            </a:r>
            <a:r>
              <a:rPr lang="zh-CN" altLang="en-US">
                <a:solidFill>
                  <a:srgbClr val="FF0000"/>
                </a:solidFill>
              </a:rPr>
              <a:t>经由</a:t>
            </a:r>
            <a:r>
              <a:rPr lang="en-US" altLang="zh-CN">
                <a:solidFill>
                  <a:srgbClr val="FF0000"/>
                </a:solidFill>
              </a:rPr>
              <a:t>Gi</a:t>
            </a:r>
            <a:r>
              <a:rPr lang="zh-CN" altLang="en-US">
                <a:solidFill>
                  <a:srgbClr val="FF0000"/>
                </a:solidFill>
              </a:rPr>
              <a:t>的路由变化。</a:t>
            </a:r>
            <a:r>
              <a:rPr lang="zh-CN" altLang="en-US" sz="2400"/>
              <a:t>若</a:t>
            </a:r>
            <a:r>
              <a:rPr lang="en-US" altLang="zh-CN" sz="2400"/>
              <a:t>Gi</a:t>
            </a:r>
            <a:r>
              <a:rPr lang="zh-CN" altLang="en-US" sz="2400"/>
              <a:t>去往某信宿的路径经由</a:t>
            </a:r>
            <a:r>
              <a:rPr lang="en-US" altLang="zh-CN" sz="2400"/>
              <a:t>Gj</a:t>
            </a:r>
            <a:r>
              <a:rPr lang="zh-CN" altLang="en-US" sz="2400"/>
              <a:t>，而</a:t>
            </a:r>
            <a:r>
              <a:rPr lang="en-US" altLang="zh-CN" sz="2400"/>
              <a:t>Gj</a:t>
            </a:r>
            <a:r>
              <a:rPr lang="zh-CN" altLang="en-US" sz="2400"/>
              <a:t>去往该信宿的路径发生了变化。有两种情况：</a:t>
            </a:r>
          </a:p>
          <a:p>
            <a:pPr>
              <a:spcBef>
                <a:spcPct val="30000"/>
              </a:spcBef>
            </a:pPr>
            <a:r>
              <a:rPr lang="zh-CN" altLang="en-US"/>
              <a:t>     （</a:t>
            </a:r>
            <a:r>
              <a:rPr lang="en-US" altLang="zh-CN"/>
              <a:t>A</a:t>
            </a:r>
            <a:r>
              <a:rPr lang="zh-CN" altLang="en-US"/>
              <a:t>）  </a:t>
            </a:r>
            <a:r>
              <a:rPr lang="zh-CN" altLang="en-US">
                <a:cs typeface="Times New Roman" panose="02020603050405020304" pitchFamily="18" charset="0"/>
              </a:rPr>
              <a:t> </a:t>
            </a:r>
            <a:r>
              <a:rPr lang="zh-CN" altLang="en-US">
                <a:solidFill>
                  <a:srgbClr val="FF0000"/>
                </a:solidFill>
              </a:rPr>
              <a:t>（由可达变成不可达。）</a:t>
            </a:r>
            <a:r>
              <a:rPr lang="en-US" altLang="zh-CN" sz="2400"/>
              <a:t>Gj</a:t>
            </a:r>
            <a:r>
              <a:rPr lang="zh-CN" altLang="en-US" sz="2400"/>
              <a:t>的</a:t>
            </a:r>
            <a:r>
              <a:rPr lang="en-US" altLang="zh-CN" sz="2400"/>
              <a:t>V-D</a:t>
            </a:r>
            <a:r>
              <a:rPr lang="zh-CN" altLang="en-US" sz="2400"/>
              <a:t>选径表不再包含去往信宿的路径，则</a:t>
            </a:r>
            <a:r>
              <a:rPr lang="en-US" altLang="zh-CN" sz="2400"/>
              <a:t>Gi</a:t>
            </a:r>
            <a:r>
              <a:rPr lang="zh-CN" altLang="en-US" sz="2400"/>
              <a:t>选径表中相应的表目必须删除；</a:t>
            </a:r>
          </a:p>
          <a:p>
            <a:pPr>
              <a:spcBef>
                <a:spcPct val="30000"/>
              </a:spcBef>
            </a:pPr>
            <a:r>
              <a:rPr lang="zh-CN" altLang="en-US"/>
              <a:t>     （</a:t>
            </a:r>
            <a:r>
              <a:rPr lang="en-US" altLang="zh-CN"/>
              <a:t>B</a:t>
            </a:r>
            <a:r>
              <a:rPr lang="zh-CN" altLang="en-US"/>
              <a:t>）  </a:t>
            </a:r>
            <a:r>
              <a:rPr lang="zh-CN" altLang="en-US">
                <a:cs typeface="Times New Roman" panose="02020603050405020304" pitchFamily="18" charset="0"/>
              </a:rPr>
              <a:t> </a:t>
            </a:r>
            <a:r>
              <a:rPr lang="zh-CN" altLang="en-US">
                <a:solidFill>
                  <a:srgbClr val="FF0000"/>
                </a:solidFill>
              </a:rPr>
              <a:t>（变优或变劣）</a:t>
            </a:r>
            <a:r>
              <a:rPr lang="en-US" altLang="zh-CN" sz="2400">
                <a:cs typeface="Times New Roman" panose="02020603050405020304" pitchFamily="18" charset="0"/>
              </a:rPr>
              <a:t>G</a:t>
            </a:r>
            <a:r>
              <a:rPr lang="en-US" altLang="zh-CN" sz="2400" baseline="-30000">
                <a:cs typeface="Times New Roman" panose="02020603050405020304" pitchFamily="18" charset="0"/>
              </a:rPr>
              <a:t>j</a:t>
            </a:r>
            <a:r>
              <a:rPr lang="zh-CN" altLang="en-US" sz="2400"/>
              <a:t>的</a:t>
            </a:r>
            <a:r>
              <a:rPr lang="en-US" altLang="zh-CN" sz="2400">
                <a:cs typeface="Times New Roman" panose="02020603050405020304" pitchFamily="18" charset="0"/>
              </a:rPr>
              <a:t>V-D</a:t>
            </a:r>
            <a:r>
              <a:rPr lang="zh-CN" altLang="en-US" sz="2400"/>
              <a:t>表中去往某信宿的路径的距离发生了变化，则</a:t>
            </a:r>
            <a:r>
              <a:rPr lang="en-US" altLang="zh-CN" sz="2400"/>
              <a:t>G</a:t>
            </a:r>
            <a:r>
              <a:rPr lang="en-US" altLang="zh-CN" sz="2400" baseline="-30000">
                <a:cs typeface="Times New Roman" panose="02020603050405020304" pitchFamily="18" charset="0"/>
              </a:rPr>
              <a:t>i</a:t>
            </a:r>
            <a:r>
              <a:rPr lang="zh-CN" altLang="en-US" sz="2400"/>
              <a:t>中相应的表目的“距离值”域必须修改，以</a:t>
            </a:r>
            <a:r>
              <a:rPr lang="en-US" altLang="zh-CN" sz="2400">
                <a:cs typeface="Times New Roman" panose="02020603050405020304" pitchFamily="18" charset="0"/>
              </a:rPr>
              <a:t>G</a:t>
            </a:r>
            <a:r>
              <a:rPr lang="en-US" altLang="zh-CN" sz="2400" baseline="-30000">
                <a:cs typeface="Times New Roman" panose="02020603050405020304" pitchFamily="18" charset="0"/>
              </a:rPr>
              <a:t>j</a:t>
            </a:r>
            <a:r>
              <a:rPr lang="zh-CN" altLang="en-US" sz="2400"/>
              <a:t>中的距离值加</a:t>
            </a:r>
            <a:r>
              <a:rPr lang="en-US" altLang="zh-CN" sz="2400">
                <a:cs typeface="Times New Roman" panose="02020603050405020304" pitchFamily="18" charset="0"/>
              </a:rPr>
              <a:t>1</a:t>
            </a:r>
            <a:r>
              <a:rPr lang="zh-CN" altLang="en-US" sz="2400"/>
              <a:t>来取代原距离值。</a:t>
            </a:r>
          </a:p>
        </p:txBody>
      </p:sp>
    </p:spTree>
    <p:extLst>
      <p:ext uri="{BB962C8B-B14F-4D97-AF65-F5344CB8AC3E}">
        <p14:creationId xmlns:p14="http://schemas.microsoft.com/office/powerpoint/2010/main" val="1068071940"/>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02244">
                                            <p:txEl>
                                              <p:pRg st="0" end="0"/>
                                            </p:txEl>
                                          </p:spTgt>
                                        </p:tgtEl>
                                        <p:attrNameLst>
                                          <p:attrName>style.visibility</p:attrName>
                                        </p:attrNameLst>
                                      </p:cBhvr>
                                      <p:to>
                                        <p:strVal val="visible"/>
                                      </p:to>
                                    </p:set>
                                    <p:anim calcmode="lin" valueType="num">
                                      <p:cBhvr additive="base">
                                        <p:cTn id="7" dur="500" fill="hold"/>
                                        <p:tgtEl>
                                          <p:spTgt spid="180224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0224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02244">
                                            <p:txEl>
                                              <p:pRg st="1" end="1"/>
                                            </p:txEl>
                                          </p:spTgt>
                                        </p:tgtEl>
                                        <p:attrNameLst>
                                          <p:attrName>style.visibility</p:attrName>
                                        </p:attrNameLst>
                                      </p:cBhvr>
                                      <p:to>
                                        <p:strVal val="visible"/>
                                      </p:to>
                                    </p:set>
                                    <p:anim calcmode="lin" valueType="num">
                                      <p:cBhvr additive="base">
                                        <p:cTn id="13" dur="500" fill="hold"/>
                                        <p:tgtEl>
                                          <p:spTgt spid="1802244">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02244">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rbrak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02244">
                                            <p:txEl>
                                              <p:pRg st="2" end="2"/>
                                            </p:txEl>
                                          </p:spTgt>
                                        </p:tgtEl>
                                        <p:attrNameLst>
                                          <p:attrName>style.visibility</p:attrName>
                                        </p:attrNameLst>
                                      </p:cBhvr>
                                      <p:to>
                                        <p:strVal val="visible"/>
                                      </p:to>
                                    </p:set>
                                    <p:anim calcmode="lin" valueType="num">
                                      <p:cBhvr additive="base">
                                        <p:cTn id="19" dur="500" fill="hold"/>
                                        <p:tgtEl>
                                          <p:spTgt spid="1802244">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02244">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44" grpId="0" build="p" autoUpdateAnimBg="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5699" name="Rectangle 3"/>
          <p:cNvSpPr>
            <a:spLocks noChangeArrowheads="1"/>
          </p:cNvSpPr>
          <p:nvPr/>
        </p:nvSpPr>
        <p:spPr bwMode="auto">
          <a:xfrm>
            <a:off x="3505200" y="2743200"/>
            <a:ext cx="2514600" cy="2209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5700" name="Line 4"/>
          <p:cNvSpPr>
            <a:spLocks noChangeShapeType="1"/>
          </p:cNvSpPr>
          <p:nvPr/>
        </p:nvSpPr>
        <p:spPr bwMode="auto">
          <a:xfrm flipH="1">
            <a:off x="2286000" y="2743200"/>
            <a:ext cx="121920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5701" name="Line 5"/>
          <p:cNvSpPr>
            <a:spLocks noChangeShapeType="1"/>
          </p:cNvSpPr>
          <p:nvPr/>
        </p:nvSpPr>
        <p:spPr bwMode="auto">
          <a:xfrm>
            <a:off x="2286000" y="3962400"/>
            <a:ext cx="1219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5702" name="Oval 6"/>
          <p:cNvSpPr>
            <a:spLocks noChangeArrowheads="1"/>
          </p:cNvSpPr>
          <p:nvPr/>
        </p:nvSpPr>
        <p:spPr bwMode="auto">
          <a:xfrm>
            <a:off x="1905000" y="3733800"/>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5703" name="Text Box 7"/>
          <p:cNvSpPr txBox="1">
            <a:spLocks noChangeArrowheads="1"/>
          </p:cNvSpPr>
          <p:nvPr/>
        </p:nvSpPr>
        <p:spPr bwMode="auto">
          <a:xfrm>
            <a:off x="1939925" y="3749676"/>
            <a:ext cx="3508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565704" name="Oval 8"/>
          <p:cNvSpPr>
            <a:spLocks noChangeArrowheads="1"/>
          </p:cNvSpPr>
          <p:nvPr/>
        </p:nvSpPr>
        <p:spPr bwMode="auto">
          <a:xfrm>
            <a:off x="3317875" y="24987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5705" name="Text Box 9"/>
          <p:cNvSpPr txBox="1">
            <a:spLocks noChangeArrowheads="1"/>
          </p:cNvSpPr>
          <p:nvPr/>
        </p:nvSpPr>
        <p:spPr bwMode="auto">
          <a:xfrm>
            <a:off x="3352801" y="2514601"/>
            <a:ext cx="328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565706" name="Oval 10"/>
          <p:cNvSpPr>
            <a:spLocks noChangeArrowheads="1"/>
          </p:cNvSpPr>
          <p:nvPr/>
        </p:nvSpPr>
        <p:spPr bwMode="auto">
          <a:xfrm>
            <a:off x="3317875" y="47847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5707" name="Text Box 11"/>
          <p:cNvSpPr txBox="1">
            <a:spLocks noChangeArrowheads="1"/>
          </p:cNvSpPr>
          <p:nvPr/>
        </p:nvSpPr>
        <p:spPr bwMode="auto">
          <a:xfrm>
            <a:off x="3352801" y="4800601"/>
            <a:ext cx="327025" cy="366713"/>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sp>
        <p:nvSpPr>
          <p:cNvPr id="1565708" name="Oval 12"/>
          <p:cNvSpPr>
            <a:spLocks noChangeArrowheads="1"/>
          </p:cNvSpPr>
          <p:nvPr/>
        </p:nvSpPr>
        <p:spPr bwMode="auto">
          <a:xfrm>
            <a:off x="5756275" y="24987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5709" name="Text Box 13"/>
          <p:cNvSpPr txBox="1">
            <a:spLocks noChangeArrowheads="1"/>
          </p:cNvSpPr>
          <p:nvPr/>
        </p:nvSpPr>
        <p:spPr bwMode="auto">
          <a:xfrm>
            <a:off x="5791200" y="2514601"/>
            <a:ext cx="325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565710" name="Oval 14"/>
          <p:cNvSpPr>
            <a:spLocks noChangeArrowheads="1"/>
          </p:cNvSpPr>
          <p:nvPr/>
        </p:nvSpPr>
        <p:spPr bwMode="auto">
          <a:xfrm>
            <a:off x="5832475" y="47085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5711" name="Text Box 15"/>
          <p:cNvSpPr txBox="1">
            <a:spLocks noChangeArrowheads="1"/>
          </p:cNvSpPr>
          <p:nvPr/>
        </p:nvSpPr>
        <p:spPr bwMode="auto">
          <a:xfrm>
            <a:off x="5867400" y="4724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565734" name="Text Box 38"/>
          <p:cNvSpPr txBox="1">
            <a:spLocks noChangeArrowheads="1"/>
          </p:cNvSpPr>
          <p:nvPr/>
        </p:nvSpPr>
        <p:spPr bwMode="auto">
          <a:xfrm>
            <a:off x="2438400" y="2971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7</a:t>
            </a:r>
          </a:p>
        </p:txBody>
      </p:sp>
      <p:sp>
        <p:nvSpPr>
          <p:cNvPr id="1565735" name="Text Box 39"/>
          <p:cNvSpPr txBox="1">
            <a:spLocks noChangeArrowheads="1"/>
          </p:cNvSpPr>
          <p:nvPr/>
        </p:nvSpPr>
        <p:spPr bwMode="auto">
          <a:xfrm>
            <a:off x="23622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5736" name="Text Box 40"/>
          <p:cNvSpPr txBox="1">
            <a:spLocks noChangeArrowheads="1"/>
          </p:cNvSpPr>
          <p:nvPr/>
        </p:nvSpPr>
        <p:spPr bwMode="auto">
          <a:xfrm>
            <a:off x="4648200" y="2286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5737" name="Text Box 41"/>
          <p:cNvSpPr txBox="1">
            <a:spLocks noChangeArrowheads="1"/>
          </p:cNvSpPr>
          <p:nvPr/>
        </p:nvSpPr>
        <p:spPr bwMode="auto">
          <a:xfrm>
            <a:off x="45720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5738" name="Text Box 42"/>
          <p:cNvSpPr txBox="1">
            <a:spLocks noChangeArrowheads="1"/>
          </p:cNvSpPr>
          <p:nvPr/>
        </p:nvSpPr>
        <p:spPr bwMode="auto">
          <a:xfrm>
            <a:off x="6096000" y="3733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5739" name="Text Box 43"/>
          <p:cNvSpPr txBox="1">
            <a:spLocks noChangeArrowheads="1"/>
          </p:cNvSpPr>
          <p:nvPr/>
        </p:nvSpPr>
        <p:spPr bwMode="auto">
          <a:xfrm>
            <a:off x="3581400" y="3733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8</a:t>
            </a:r>
          </a:p>
        </p:txBody>
      </p:sp>
      <p:grpSp>
        <p:nvGrpSpPr>
          <p:cNvPr id="1565771" name="Group 75"/>
          <p:cNvGrpSpPr>
            <a:grpSpLocks/>
          </p:cNvGrpSpPr>
          <p:nvPr/>
        </p:nvGrpSpPr>
        <p:grpSpPr bwMode="auto">
          <a:xfrm>
            <a:off x="6553200" y="2438401"/>
            <a:ext cx="3886200" cy="2805113"/>
            <a:chOff x="3168" y="1536"/>
            <a:chExt cx="2448" cy="1767"/>
          </a:xfrm>
        </p:grpSpPr>
        <p:sp>
          <p:nvSpPr>
            <p:cNvPr id="1565712" name="Line 16"/>
            <p:cNvSpPr>
              <a:spLocks noChangeShapeType="1"/>
            </p:cNvSpPr>
            <p:nvPr/>
          </p:nvSpPr>
          <p:spPr bwMode="auto">
            <a:xfrm>
              <a:off x="3168" y="2064"/>
              <a:ext cx="24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5713" name="Line 17"/>
            <p:cNvSpPr>
              <a:spLocks noChangeShapeType="1"/>
            </p:cNvSpPr>
            <p:nvPr/>
          </p:nvSpPr>
          <p:spPr bwMode="auto">
            <a:xfrm>
              <a:off x="3840" y="1680"/>
              <a:ext cx="0" cy="15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5714" name="Text Box 18"/>
            <p:cNvSpPr txBox="1">
              <a:spLocks noChangeArrowheads="1"/>
            </p:cNvSpPr>
            <p:nvPr/>
          </p:nvSpPr>
          <p:spPr bwMode="auto">
            <a:xfrm>
              <a:off x="3216" y="1680"/>
              <a:ext cx="629"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Info at</a:t>
              </a:r>
            </a:p>
            <a:p>
              <a:r>
                <a:rPr lang="en-US" altLang="zh-CN" b="1">
                  <a:latin typeface="Comic Sans MS" panose="030F0702030302020204" pitchFamily="66" charset="0"/>
                </a:rPr>
                <a:t>node</a:t>
              </a:r>
            </a:p>
          </p:txBody>
        </p:sp>
        <p:sp>
          <p:nvSpPr>
            <p:cNvPr id="1565715" name="Text Box 19"/>
            <p:cNvSpPr txBox="1">
              <a:spLocks noChangeArrowheads="1"/>
            </p:cNvSpPr>
            <p:nvPr/>
          </p:nvSpPr>
          <p:spPr bwMode="auto">
            <a:xfrm>
              <a:off x="3494" y="2138"/>
              <a:ext cx="22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565716" name="Text Box 20"/>
            <p:cNvSpPr txBox="1">
              <a:spLocks noChangeArrowheads="1"/>
            </p:cNvSpPr>
            <p:nvPr/>
          </p:nvSpPr>
          <p:spPr bwMode="auto">
            <a:xfrm>
              <a:off x="3504" y="2352"/>
              <a:ext cx="20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565717" name="Text Box 21"/>
            <p:cNvSpPr txBox="1">
              <a:spLocks noChangeArrowheads="1"/>
            </p:cNvSpPr>
            <p:nvPr/>
          </p:nvSpPr>
          <p:spPr bwMode="auto">
            <a:xfrm>
              <a:off x="3504" y="2592"/>
              <a:ext cx="20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565718" name="Text Box 22"/>
            <p:cNvSpPr txBox="1">
              <a:spLocks noChangeArrowheads="1"/>
            </p:cNvSpPr>
            <p:nvPr/>
          </p:nvSpPr>
          <p:spPr bwMode="auto">
            <a:xfrm>
              <a:off x="3504" y="2832"/>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565719" name="Text Box 23"/>
            <p:cNvSpPr txBox="1">
              <a:spLocks noChangeArrowheads="1"/>
            </p:cNvSpPr>
            <p:nvPr/>
          </p:nvSpPr>
          <p:spPr bwMode="auto">
            <a:xfrm>
              <a:off x="3984" y="1824"/>
              <a:ext cx="22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565720" name="Text Box 24"/>
            <p:cNvSpPr txBox="1">
              <a:spLocks noChangeArrowheads="1"/>
            </p:cNvSpPr>
            <p:nvPr/>
          </p:nvSpPr>
          <p:spPr bwMode="auto">
            <a:xfrm>
              <a:off x="4272" y="1824"/>
              <a:ext cx="20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565721" name="Text Box 25"/>
            <p:cNvSpPr txBox="1">
              <a:spLocks noChangeArrowheads="1"/>
            </p:cNvSpPr>
            <p:nvPr/>
          </p:nvSpPr>
          <p:spPr bwMode="auto">
            <a:xfrm>
              <a:off x="4656" y="1824"/>
              <a:ext cx="20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565722" name="Text Box 26"/>
            <p:cNvSpPr txBox="1">
              <a:spLocks noChangeArrowheads="1"/>
            </p:cNvSpPr>
            <p:nvPr/>
          </p:nvSpPr>
          <p:spPr bwMode="auto">
            <a:xfrm>
              <a:off x="3984" y="2128"/>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65723" name="Text Box 27"/>
            <p:cNvSpPr txBox="1">
              <a:spLocks noChangeArrowheads="1"/>
            </p:cNvSpPr>
            <p:nvPr/>
          </p:nvSpPr>
          <p:spPr bwMode="auto">
            <a:xfrm>
              <a:off x="4272" y="2128"/>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7</a:t>
              </a:r>
            </a:p>
          </p:txBody>
        </p:sp>
        <p:sp>
          <p:nvSpPr>
            <p:cNvPr id="1565724" name="Text Box 28"/>
            <p:cNvSpPr txBox="1">
              <a:spLocks noChangeArrowheads="1"/>
            </p:cNvSpPr>
            <p:nvPr/>
          </p:nvSpPr>
          <p:spPr bwMode="auto">
            <a:xfrm>
              <a:off x="4656" y="2128"/>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5725" name="Text Box 29"/>
            <p:cNvSpPr txBox="1">
              <a:spLocks noChangeArrowheads="1"/>
            </p:cNvSpPr>
            <p:nvPr/>
          </p:nvSpPr>
          <p:spPr bwMode="auto">
            <a:xfrm>
              <a:off x="3984" y="2400"/>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7</a:t>
              </a:r>
            </a:p>
          </p:txBody>
        </p:sp>
        <p:sp>
          <p:nvSpPr>
            <p:cNvPr id="1565726" name="Text Box 30"/>
            <p:cNvSpPr txBox="1">
              <a:spLocks noChangeArrowheads="1"/>
            </p:cNvSpPr>
            <p:nvPr/>
          </p:nvSpPr>
          <p:spPr bwMode="auto">
            <a:xfrm>
              <a:off x="4272" y="2400"/>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65727" name="Text Box 31"/>
            <p:cNvSpPr txBox="1">
              <a:spLocks noChangeArrowheads="1"/>
            </p:cNvSpPr>
            <p:nvPr/>
          </p:nvSpPr>
          <p:spPr bwMode="auto">
            <a:xfrm>
              <a:off x="4656" y="2400"/>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5728" name="Text Box 32"/>
            <p:cNvSpPr txBox="1">
              <a:spLocks noChangeArrowheads="1"/>
            </p:cNvSpPr>
            <p:nvPr/>
          </p:nvSpPr>
          <p:spPr bwMode="auto">
            <a:xfrm>
              <a:off x="3984" y="259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5729" name="Text Box 33"/>
            <p:cNvSpPr txBox="1">
              <a:spLocks noChangeArrowheads="1"/>
            </p:cNvSpPr>
            <p:nvPr/>
          </p:nvSpPr>
          <p:spPr bwMode="auto">
            <a:xfrm>
              <a:off x="4272" y="259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5730" name="Text Box 34"/>
            <p:cNvSpPr txBox="1">
              <a:spLocks noChangeArrowheads="1"/>
            </p:cNvSpPr>
            <p:nvPr/>
          </p:nvSpPr>
          <p:spPr bwMode="auto">
            <a:xfrm>
              <a:off x="4656" y="259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65731" name="Text Box 35"/>
            <p:cNvSpPr txBox="1">
              <a:spLocks noChangeArrowheads="1"/>
            </p:cNvSpPr>
            <p:nvPr/>
          </p:nvSpPr>
          <p:spPr bwMode="auto">
            <a:xfrm>
              <a:off x="3984" y="283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5732" name="Text Box 36"/>
            <p:cNvSpPr txBox="1">
              <a:spLocks noChangeArrowheads="1"/>
            </p:cNvSpPr>
            <p:nvPr/>
          </p:nvSpPr>
          <p:spPr bwMode="auto">
            <a:xfrm>
              <a:off x="4272" y="283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5733" name="Text Box 37"/>
            <p:cNvSpPr txBox="1">
              <a:spLocks noChangeArrowheads="1"/>
            </p:cNvSpPr>
            <p:nvPr/>
          </p:nvSpPr>
          <p:spPr bwMode="auto">
            <a:xfrm>
              <a:off x="4656" y="283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5740" name="Text Box 44"/>
            <p:cNvSpPr txBox="1">
              <a:spLocks noChangeArrowheads="1"/>
            </p:cNvSpPr>
            <p:nvPr/>
          </p:nvSpPr>
          <p:spPr bwMode="auto">
            <a:xfrm>
              <a:off x="3984" y="1536"/>
              <a:ext cx="129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Distance to node</a:t>
              </a:r>
            </a:p>
          </p:txBody>
        </p:sp>
        <p:sp>
          <p:nvSpPr>
            <p:cNvPr id="1565741" name="Text Box 45"/>
            <p:cNvSpPr txBox="1">
              <a:spLocks noChangeArrowheads="1"/>
            </p:cNvSpPr>
            <p:nvPr/>
          </p:nvSpPr>
          <p:spPr bwMode="auto">
            <a:xfrm>
              <a:off x="4944" y="1824"/>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565742" name="Text Box 46"/>
            <p:cNvSpPr txBox="1">
              <a:spLocks noChangeArrowheads="1"/>
            </p:cNvSpPr>
            <p:nvPr/>
          </p:nvSpPr>
          <p:spPr bwMode="auto">
            <a:xfrm>
              <a:off x="4944" y="2128"/>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5743" name="Text Box 47"/>
            <p:cNvSpPr txBox="1">
              <a:spLocks noChangeArrowheads="1"/>
            </p:cNvSpPr>
            <p:nvPr/>
          </p:nvSpPr>
          <p:spPr bwMode="auto">
            <a:xfrm>
              <a:off x="4944" y="2400"/>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5744" name="Text Box 48"/>
            <p:cNvSpPr txBox="1">
              <a:spLocks noChangeArrowheads="1"/>
            </p:cNvSpPr>
            <p:nvPr/>
          </p:nvSpPr>
          <p:spPr bwMode="auto">
            <a:xfrm>
              <a:off x="4944" y="259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5745" name="Text Box 49"/>
            <p:cNvSpPr txBox="1">
              <a:spLocks noChangeArrowheads="1"/>
            </p:cNvSpPr>
            <p:nvPr/>
          </p:nvSpPr>
          <p:spPr bwMode="auto">
            <a:xfrm>
              <a:off x="4944" y="283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65746" name="Text Box 50"/>
            <p:cNvSpPr txBox="1">
              <a:spLocks noChangeArrowheads="1"/>
            </p:cNvSpPr>
            <p:nvPr/>
          </p:nvSpPr>
          <p:spPr bwMode="auto">
            <a:xfrm>
              <a:off x="3504" y="3072"/>
              <a:ext cx="20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sp>
          <p:nvSpPr>
            <p:cNvPr id="1565747" name="Text Box 51"/>
            <p:cNvSpPr txBox="1">
              <a:spLocks noChangeArrowheads="1"/>
            </p:cNvSpPr>
            <p:nvPr/>
          </p:nvSpPr>
          <p:spPr bwMode="auto">
            <a:xfrm>
              <a:off x="3984" y="307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5748" name="Text Box 52"/>
            <p:cNvSpPr txBox="1">
              <a:spLocks noChangeArrowheads="1"/>
            </p:cNvSpPr>
            <p:nvPr/>
          </p:nvSpPr>
          <p:spPr bwMode="auto">
            <a:xfrm>
              <a:off x="4272" y="307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8</a:t>
              </a:r>
            </a:p>
          </p:txBody>
        </p:sp>
        <p:sp>
          <p:nvSpPr>
            <p:cNvPr id="1565749" name="Text Box 53"/>
            <p:cNvSpPr txBox="1">
              <a:spLocks noChangeArrowheads="1"/>
            </p:cNvSpPr>
            <p:nvPr/>
          </p:nvSpPr>
          <p:spPr bwMode="auto">
            <a:xfrm>
              <a:off x="4656" y="307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5750" name="Text Box 54"/>
            <p:cNvSpPr txBox="1">
              <a:spLocks noChangeArrowheads="1"/>
            </p:cNvSpPr>
            <p:nvPr/>
          </p:nvSpPr>
          <p:spPr bwMode="auto">
            <a:xfrm>
              <a:off x="4944" y="307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5751" name="Text Box 55"/>
            <p:cNvSpPr txBox="1">
              <a:spLocks noChangeArrowheads="1"/>
            </p:cNvSpPr>
            <p:nvPr/>
          </p:nvSpPr>
          <p:spPr bwMode="auto">
            <a:xfrm>
              <a:off x="5280" y="2128"/>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5752" name="Text Box 56"/>
            <p:cNvSpPr txBox="1">
              <a:spLocks noChangeArrowheads="1"/>
            </p:cNvSpPr>
            <p:nvPr/>
          </p:nvSpPr>
          <p:spPr bwMode="auto">
            <a:xfrm>
              <a:off x="5280" y="2400"/>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8</a:t>
              </a:r>
            </a:p>
          </p:txBody>
        </p:sp>
        <p:sp>
          <p:nvSpPr>
            <p:cNvPr id="1565753" name="Text Box 57"/>
            <p:cNvSpPr txBox="1">
              <a:spLocks noChangeArrowheads="1"/>
            </p:cNvSpPr>
            <p:nvPr/>
          </p:nvSpPr>
          <p:spPr bwMode="auto">
            <a:xfrm>
              <a:off x="5280" y="259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5754" name="Text Box 58"/>
            <p:cNvSpPr txBox="1">
              <a:spLocks noChangeArrowheads="1"/>
            </p:cNvSpPr>
            <p:nvPr/>
          </p:nvSpPr>
          <p:spPr bwMode="auto">
            <a:xfrm>
              <a:off x="5280" y="283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5755" name="Text Box 59"/>
            <p:cNvSpPr txBox="1">
              <a:spLocks noChangeArrowheads="1"/>
            </p:cNvSpPr>
            <p:nvPr/>
          </p:nvSpPr>
          <p:spPr bwMode="auto">
            <a:xfrm>
              <a:off x="5280" y="307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65756" name="Text Box 60"/>
            <p:cNvSpPr txBox="1">
              <a:spLocks noChangeArrowheads="1"/>
            </p:cNvSpPr>
            <p:nvPr/>
          </p:nvSpPr>
          <p:spPr bwMode="auto">
            <a:xfrm>
              <a:off x="5280" y="1824"/>
              <a:ext cx="20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grpSp>
      <p:grpSp>
        <p:nvGrpSpPr>
          <p:cNvPr id="1565757" name="Group 61"/>
          <p:cNvGrpSpPr>
            <a:grpSpLocks/>
          </p:cNvGrpSpPr>
          <p:nvPr/>
        </p:nvGrpSpPr>
        <p:grpSpPr bwMode="auto">
          <a:xfrm>
            <a:off x="2286000" y="2667000"/>
            <a:ext cx="3581400" cy="2209800"/>
            <a:chOff x="480" y="1680"/>
            <a:chExt cx="2256" cy="1392"/>
          </a:xfrm>
        </p:grpSpPr>
        <p:sp>
          <p:nvSpPr>
            <p:cNvPr id="1565758" name="Line 62"/>
            <p:cNvSpPr>
              <a:spLocks noChangeShapeType="1"/>
            </p:cNvSpPr>
            <p:nvPr/>
          </p:nvSpPr>
          <p:spPr bwMode="auto">
            <a:xfrm>
              <a:off x="1440" y="1680"/>
              <a:ext cx="144" cy="0"/>
            </a:xfrm>
            <a:prstGeom prst="line">
              <a:avLst/>
            </a:prstGeom>
            <a:noFill/>
            <a:ln w="9525">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5759" name="Line 63"/>
            <p:cNvSpPr>
              <a:spLocks noChangeShapeType="1"/>
            </p:cNvSpPr>
            <p:nvPr/>
          </p:nvSpPr>
          <p:spPr bwMode="auto">
            <a:xfrm>
              <a:off x="1440" y="3072"/>
              <a:ext cx="144" cy="0"/>
            </a:xfrm>
            <a:prstGeom prst="line">
              <a:avLst/>
            </a:prstGeom>
            <a:noFill/>
            <a:ln w="9525">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5760" name="Line 64"/>
            <p:cNvSpPr>
              <a:spLocks noChangeShapeType="1"/>
            </p:cNvSpPr>
            <p:nvPr/>
          </p:nvSpPr>
          <p:spPr bwMode="auto">
            <a:xfrm>
              <a:off x="2448" y="1680"/>
              <a:ext cx="144" cy="0"/>
            </a:xfrm>
            <a:prstGeom prst="line">
              <a:avLst/>
            </a:prstGeom>
            <a:noFill/>
            <a:ln w="9525">
              <a:solidFill>
                <a:srgbClr val="FF0066"/>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5761" name="Line 65"/>
            <p:cNvSpPr>
              <a:spLocks noChangeShapeType="1"/>
            </p:cNvSpPr>
            <p:nvPr/>
          </p:nvSpPr>
          <p:spPr bwMode="auto">
            <a:xfrm>
              <a:off x="2544" y="3072"/>
              <a:ext cx="144" cy="0"/>
            </a:xfrm>
            <a:prstGeom prst="line">
              <a:avLst/>
            </a:prstGeom>
            <a:noFill/>
            <a:ln w="9525">
              <a:solidFill>
                <a:srgbClr val="FF0066"/>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5762" name="Line 66"/>
            <p:cNvSpPr>
              <a:spLocks noChangeShapeType="1"/>
            </p:cNvSpPr>
            <p:nvPr/>
          </p:nvSpPr>
          <p:spPr bwMode="auto">
            <a:xfrm>
              <a:off x="1296" y="1920"/>
              <a:ext cx="0" cy="144"/>
            </a:xfrm>
            <a:prstGeom prst="line">
              <a:avLst/>
            </a:prstGeom>
            <a:noFill/>
            <a:ln w="9525">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5763" name="Line 67"/>
            <p:cNvSpPr>
              <a:spLocks noChangeShapeType="1"/>
            </p:cNvSpPr>
            <p:nvPr/>
          </p:nvSpPr>
          <p:spPr bwMode="auto">
            <a:xfrm>
              <a:off x="2736" y="1920"/>
              <a:ext cx="0" cy="144"/>
            </a:xfrm>
            <a:prstGeom prst="line">
              <a:avLst/>
            </a:prstGeom>
            <a:noFill/>
            <a:ln w="9525">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5764" name="Line 68"/>
            <p:cNvSpPr>
              <a:spLocks noChangeShapeType="1"/>
            </p:cNvSpPr>
            <p:nvPr/>
          </p:nvSpPr>
          <p:spPr bwMode="auto">
            <a:xfrm>
              <a:off x="2736" y="2784"/>
              <a:ext cx="0" cy="144"/>
            </a:xfrm>
            <a:prstGeom prst="line">
              <a:avLst/>
            </a:prstGeom>
            <a:noFill/>
            <a:ln w="9525">
              <a:solidFill>
                <a:srgbClr val="FF0066"/>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5765" name="Line 69"/>
            <p:cNvSpPr>
              <a:spLocks noChangeShapeType="1"/>
            </p:cNvSpPr>
            <p:nvPr/>
          </p:nvSpPr>
          <p:spPr bwMode="auto">
            <a:xfrm>
              <a:off x="1344" y="2784"/>
              <a:ext cx="0" cy="144"/>
            </a:xfrm>
            <a:prstGeom prst="line">
              <a:avLst/>
            </a:prstGeom>
            <a:noFill/>
            <a:ln w="9525">
              <a:solidFill>
                <a:srgbClr val="FF0066"/>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5766" name="Line 70"/>
            <p:cNvSpPr>
              <a:spLocks noChangeShapeType="1"/>
            </p:cNvSpPr>
            <p:nvPr/>
          </p:nvSpPr>
          <p:spPr bwMode="auto">
            <a:xfrm flipH="1" flipV="1">
              <a:off x="1056" y="2880"/>
              <a:ext cx="96" cy="96"/>
            </a:xfrm>
            <a:prstGeom prst="line">
              <a:avLst/>
            </a:prstGeom>
            <a:noFill/>
            <a:ln w="9525">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5767" name="Line 71"/>
            <p:cNvSpPr>
              <a:spLocks noChangeShapeType="1"/>
            </p:cNvSpPr>
            <p:nvPr/>
          </p:nvSpPr>
          <p:spPr bwMode="auto">
            <a:xfrm>
              <a:off x="576" y="2496"/>
              <a:ext cx="144" cy="96"/>
            </a:xfrm>
            <a:prstGeom prst="line">
              <a:avLst/>
            </a:prstGeom>
            <a:noFill/>
            <a:ln w="9525">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5768" name="Line 72"/>
            <p:cNvSpPr>
              <a:spLocks noChangeShapeType="1"/>
            </p:cNvSpPr>
            <p:nvPr/>
          </p:nvSpPr>
          <p:spPr bwMode="auto">
            <a:xfrm flipV="1">
              <a:off x="480" y="2256"/>
              <a:ext cx="96" cy="96"/>
            </a:xfrm>
            <a:prstGeom prst="line">
              <a:avLst/>
            </a:prstGeom>
            <a:noFill/>
            <a:ln w="9525">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5769" name="Line 73"/>
            <p:cNvSpPr>
              <a:spLocks noChangeShapeType="1"/>
            </p:cNvSpPr>
            <p:nvPr/>
          </p:nvSpPr>
          <p:spPr bwMode="auto">
            <a:xfrm flipH="1">
              <a:off x="1008" y="1776"/>
              <a:ext cx="96" cy="96"/>
            </a:xfrm>
            <a:prstGeom prst="line">
              <a:avLst/>
            </a:prstGeom>
            <a:noFill/>
            <a:ln w="9525">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65770" name="Rectangle 74"/>
          <p:cNvSpPr>
            <a:spLocks noGrp="1" noChangeArrowheads="1"/>
          </p:cNvSpPr>
          <p:nvPr>
            <p:ph type="title"/>
          </p:nvPr>
        </p:nvSpPr>
        <p:spPr bwMode="auto">
          <a:xfrm>
            <a:off x="2209800" y="266700"/>
            <a:ext cx="7772400" cy="647702"/>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fontScale="90000"/>
          </a:bodyPr>
          <a:lstStyle/>
          <a:p>
            <a:r>
              <a:rPr lang="zh-CN" altLang="en-US"/>
              <a:t>例 </a:t>
            </a:r>
            <a:r>
              <a:rPr lang="en-US" altLang="zh-CN">
                <a:latin typeface="Comic Sans MS" panose="030F0702030302020204" pitchFamily="66" charset="0"/>
              </a:rPr>
              <a:t>–</a:t>
            </a:r>
            <a:r>
              <a:rPr lang="en-US" altLang="zh-CN"/>
              <a:t> </a:t>
            </a:r>
            <a:r>
              <a:rPr lang="zh-CN" altLang="en-US"/>
              <a:t>初始距离</a:t>
            </a:r>
          </a:p>
        </p:txBody>
      </p:sp>
    </p:spTree>
    <p:extLst>
      <p:ext uri="{BB962C8B-B14F-4D97-AF65-F5344CB8AC3E}">
        <p14:creationId xmlns:p14="http://schemas.microsoft.com/office/powerpoint/2010/main" val="15873949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56575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2" fill="hold" nodeType="clickEffect">
                                  <p:stCondLst>
                                    <p:cond delay="0"/>
                                  </p:stCondLst>
                                  <p:childTnLst>
                                    <p:set>
                                      <p:cBhvr>
                                        <p:cTn id="10" dur="1" fill="hold">
                                          <p:stCondLst>
                                            <p:cond delay="0"/>
                                          </p:stCondLst>
                                        </p:cTn>
                                        <p:tgtEl>
                                          <p:spTgt spid="1565771"/>
                                        </p:tgtEl>
                                        <p:attrNameLst>
                                          <p:attrName>style.visibility</p:attrName>
                                        </p:attrNameLst>
                                      </p:cBhvr>
                                      <p:to>
                                        <p:strVal val="visible"/>
                                      </p:to>
                                    </p:set>
                                    <p:anim calcmode="lin" valueType="num">
                                      <p:cBhvr additive="base">
                                        <p:cTn id="11" dur="500" fill="hold"/>
                                        <p:tgtEl>
                                          <p:spTgt spid="1565771"/>
                                        </p:tgtEl>
                                        <p:attrNameLst>
                                          <p:attrName>ppt_x</p:attrName>
                                        </p:attrNameLst>
                                      </p:cBhvr>
                                      <p:tavLst>
                                        <p:tav tm="0">
                                          <p:val>
                                            <p:strVal val="1+#ppt_w/2"/>
                                          </p:val>
                                        </p:tav>
                                        <p:tav tm="100000">
                                          <p:val>
                                            <p:strVal val="#ppt_x"/>
                                          </p:val>
                                        </p:tav>
                                      </p:tavLst>
                                    </p:anim>
                                    <p:anim calcmode="lin" valueType="num">
                                      <p:cBhvr additive="base">
                                        <p:cTn id="12" dur="500" fill="hold"/>
                                        <p:tgtEl>
                                          <p:spTgt spid="156577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23" name="Rectangle 3"/>
          <p:cNvSpPr>
            <a:spLocks noChangeArrowheads="1"/>
          </p:cNvSpPr>
          <p:nvPr/>
        </p:nvSpPr>
        <p:spPr bwMode="auto">
          <a:xfrm>
            <a:off x="3505200" y="2743200"/>
            <a:ext cx="2514600" cy="2209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6724" name="Line 4"/>
          <p:cNvSpPr>
            <a:spLocks noChangeShapeType="1"/>
          </p:cNvSpPr>
          <p:nvPr/>
        </p:nvSpPr>
        <p:spPr bwMode="auto">
          <a:xfrm flipH="1">
            <a:off x="2286000" y="2743200"/>
            <a:ext cx="121920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6725" name="Line 5"/>
          <p:cNvSpPr>
            <a:spLocks noChangeShapeType="1"/>
          </p:cNvSpPr>
          <p:nvPr/>
        </p:nvSpPr>
        <p:spPr bwMode="auto">
          <a:xfrm>
            <a:off x="2286000" y="3962400"/>
            <a:ext cx="1219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6726" name="Oval 6"/>
          <p:cNvSpPr>
            <a:spLocks noChangeArrowheads="1"/>
          </p:cNvSpPr>
          <p:nvPr/>
        </p:nvSpPr>
        <p:spPr bwMode="auto">
          <a:xfrm>
            <a:off x="1905000" y="3733800"/>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6727" name="Text Box 7"/>
          <p:cNvSpPr txBox="1">
            <a:spLocks noChangeArrowheads="1"/>
          </p:cNvSpPr>
          <p:nvPr/>
        </p:nvSpPr>
        <p:spPr bwMode="auto">
          <a:xfrm>
            <a:off x="1939925" y="3749676"/>
            <a:ext cx="3508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566728" name="Oval 8"/>
          <p:cNvSpPr>
            <a:spLocks noChangeArrowheads="1"/>
          </p:cNvSpPr>
          <p:nvPr/>
        </p:nvSpPr>
        <p:spPr bwMode="auto">
          <a:xfrm>
            <a:off x="3317875" y="24987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6729" name="Text Box 9"/>
          <p:cNvSpPr txBox="1">
            <a:spLocks noChangeArrowheads="1"/>
          </p:cNvSpPr>
          <p:nvPr/>
        </p:nvSpPr>
        <p:spPr bwMode="auto">
          <a:xfrm>
            <a:off x="3352801" y="2514601"/>
            <a:ext cx="328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566730" name="Oval 10"/>
          <p:cNvSpPr>
            <a:spLocks noChangeArrowheads="1"/>
          </p:cNvSpPr>
          <p:nvPr/>
        </p:nvSpPr>
        <p:spPr bwMode="auto">
          <a:xfrm>
            <a:off x="3317875" y="4784725"/>
            <a:ext cx="381000" cy="381000"/>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6731" name="Text Box 11"/>
          <p:cNvSpPr txBox="1">
            <a:spLocks noChangeArrowheads="1"/>
          </p:cNvSpPr>
          <p:nvPr/>
        </p:nvSpPr>
        <p:spPr bwMode="auto">
          <a:xfrm>
            <a:off x="3352801" y="4800601"/>
            <a:ext cx="327025" cy="366713"/>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sp>
        <p:nvSpPr>
          <p:cNvPr id="1566732" name="Oval 12"/>
          <p:cNvSpPr>
            <a:spLocks noChangeArrowheads="1"/>
          </p:cNvSpPr>
          <p:nvPr/>
        </p:nvSpPr>
        <p:spPr bwMode="auto">
          <a:xfrm>
            <a:off x="5756275" y="24987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6733" name="Text Box 13"/>
          <p:cNvSpPr txBox="1">
            <a:spLocks noChangeArrowheads="1"/>
          </p:cNvSpPr>
          <p:nvPr/>
        </p:nvSpPr>
        <p:spPr bwMode="auto">
          <a:xfrm>
            <a:off x="5791200" y="2514601"/>
            <a:ext cx="325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566734" name="Oval 14"/>
          <p:cNvSpPr>
            <a:spLocks noChangeArrowheads="1"/>
          </p:cNvSpPr>
          <p:nvPr/>
        </p:nvSpPr>
        <p:spPr bwMode="auto">
          <a:xfrm>
            <a:off x="5832475" y="4708525"/>
            <a:ext cx="381000" cy="381000"/>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6735" name="Text Box 15"/>
          <p:cNvSpPr txBox="1">
            <a:spLocks noChangeArrowheads="1"/>
          </p:cNvSpPr>
          <p:nvPr/>
        </p:nvSpPr>
        <p:spPr bwMode="auto">
          <a:xfrm>
            <a:off x="5867400" y="4724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566758" name="Text Box 38"/>
          <p:cNvSpPr txBox="1">
            <a:spLocks noChangeArrowheads="1"/>
          </p:cNvSpPr>
          <p:nvPr/>
        </p:nvSpPr>
        <p:spPr bwMode="auto">
          <a:xfrm>
            <a:off x="2438400" y="2971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7</a:t>
            </a:r>
          </a:p>
        </p:txBody>
      </p:sp>
      <p:sp>
        <p:nvSpPr>
          <p:cNvPr id="1566759" name="Text Box 39"/>
          <p:cNvSpPr txBox="1">
            <a:spLocks noChangeArrowheads="1"/>
          </p:cNvSpPr>
          <p:nvPr/>
        </p:nvSpPr>
        <p:spPr bwMode="auto">
          <a:xfrm>
            <a:off x="23622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6760" name="Text Box 40"/>
          <p:cNvSpPr txBox="1">
            <a:spLocks noChangeArrowheads="1"/>
          </p:cNvSpPr>
          <p:nvPr/>
        </p:nvSpPr>
        <p:spPr bwMode="auto">
          <a:xfrm>
            <a:off x="4648200" y="2286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6761" name="Text Box 41"/>
          <p:cNvSpPr txBox="1">
            <a:spLocks noChangeArrowheads="1"/>
          </p:cNvSpPr>
          <p:nvPr/>
        </p:nvSpPr>
        <p:spPr bwMode="auto">
          <a:xfrm>
            <a:off x="45720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6762" name="Text Box 42"/>
          <p:cNvSpPr txBox="1">
            <a:spLocks noChangeArrowheads="1"/>
          </p:cNvSpPr>
          <p:nvPr/>
        </p:nvSpPr>
        <p:spPr bwMode="auto">
          <a:xfrm>
            <a:off x="6096000" y="3733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6763" name="Text Box 43"/>
          <p:cNvSpPr txBox="1">
            <a:spLocks noChangeArrowheads="1"/>
          </p:cNvSpPr>
          <p:nvPr/>
        </p:nvSpPr>
        <p:spPr bwMode="auto">
          <a:xfrm>
            <a:off x="3581400" y="3733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8</a:t>
            </a:r>
          </a:p>
        </p:txBody>
      </p:sp>
      <p:grpSp>
        <p:nvGrpSpPr>
          <p:cNvPr id="1566783" name="Group 63"/>
          <p:cNvGrpSpPr>
            <a:grpSpLocks/>
          </p:cNvGrpSpPr>
          <p:nvPr/>
        </p:nvGrpSpPr>
        <p:grpSpPr bwMode="auto">
          <a:xfrm>
            <a:off x="6553200" y="2438401"/>
            <a:ext cx="3886200" cy="2805113"/>
            <a:chOff x="3168" y="1536"/>
            <a:chExt cx="2448" cy="1767"/>
          </a:xfrm>
        </p:grpSpPr>
        <p:sp>
          <p:nvSpPr>
            <p:cNvPr id="1566736" name="Line 16"/>
            <p:cNvSpPr>
              <a:spLocks noChangeShapeType="1"/>
            </p:cNvSpPr>
            <p:nvPr/>
          </p:nvSpPr>
          <p:spPr bwMode="auto">
            <a:xfrm>
              <a:off x="3168" y="2064"/>
              <a:ext cx="24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6737" name="Line 17"/>
            <p:cNvSpPr>
              <a:spLocks noChangeShapeType="1"/>
            </p:cNvSpPr>
            <p:nvPr/>
          </p:nvSpPr>
          <p:spPr bwMode="auto">
            <a:xfrm>
              <a:off x="3840" y="1680"/>
              <a:ext cx="0" cy="15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6738" name="Text Box 18"/>
            <p:cNvSpPr txBox="1">
              <a:spLocks noChangeArrowheads="1"/>
            </p:cNvSpPr>
            <p:nvPr/>
          </p:nvSpPr>
          <p:spPr bwMode="auto">
            <a:xfrm>
              <a:off x="3216" y="1680"/>
              <a:ext cx="629"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Info at</a:t>
              </a:r>
            </a:p>
            <a:p>
              <a:r>
                <a:rPr lang="en-US" altLang="zh-CN" b="1">
                  <a:latin typeface="Comic Sans MS" panose="030F0702030302020204" pitchFamily="66" charset="0"/>
                </a:rPr>
                <a:t>node</a:t>
              </a:r>
            </a:p>
          </p:txBody>
        </p:sp>
        <p:sp>
          <p:nvSpPr>
            <p:cNvPr id="1566739" name="Text Box 19"/>
            <p:cNvSpPr txBox="1">
              <a:spLocks noChangeArrowheads="1"/>
            </p:cNvSpPr>
            <p:nvPr/>
          </p:nvSpPr>
          <p:spPr bwMode="auto">
            <a:xfrm>
              <a:off x="3494" y="2138"/>
              <a:ext cx="22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566740" name="Text Box 20"/>
            <p:cNvSpPr txBox="1">
              <a:spLocks noChangeArrowheads="1"/>
            </p:cNvSpPr>
            <p:nvPr/>
          </p:nvSpPr>
          <p:spPr bwMode="auto">
            <a:xfrm>
              <a:off x="3504" y="2352"/>
              <a:ext cx="20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566741" name="Text Box 21"/>
            <p:cNvSpPr txBox="1">
              <a:spLocks noChangeArrowheads="1"/>
            </p:cNvSpPr>
            <p:nvPr/>
          </p:nvSpPr>
          <p:spPr bwMode="auto">
            <a:xfrm>
              <a:off x="3504" y="2592"/>
              <a:ext cx="20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566742" name="Text Box 22"/>
            <p:cNvSpPr txBox="1">
              <a:spLocks noChangeArrowheads="1"/>
            </p:cNvSpPr>
            <p:nvPr/>
          </p:nvSpPr>
          <p:spPr bwMode="auto">
            <a:xfrm>
              <a:off x="3504" y="2832"/>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566743" name="Text Box 23"/>
            <p:cNvSpPr txBox="1">
              <a:spLocks noChangeArrowheads="1"/>
            </p:cNvSpPr>
            <p:nvPr/>
          </p:nvSpPr>
          <p:spPr bwMode="auto">
            <a:xfrm>
              <a:off x="3984" y="1824"/>
              <a:ext cx="22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566744" name="Text Box 24"/>
            <p:cNvSpPr txBox="1">
              <a:spLocks noChangeArrowheads="1"/>
            </p:cNvSpPr>
            <p:nvPr/>
          </p:nvSpPr>
          <p:spPr bwMode="auto">
            <a:xfrm>
              <a:off x="4272" y="1824"/>
              <a:ext cx="20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566745" name="Text Box 25"/>
            <p:cNvSpPr txBox="1">
              <a:spLocks noChangeArrowheads="1"/>
            </p:cNvSpPr>
            <p:nvPr/>
          </p:nvSpPr>
          <p:spPr bwMode="auto">
            <a:xfrm>
              <a:off x="4656" y="1824"/>
              <a:ext cx="20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566746" name="Text Box 26"/>
            <p:cNvSpPr txBox="1">
              <a:spLocks noChangeArrowheads="1"/>
            </p:cNvSpPr>
            <p:nvPr/>
          </p:nvSpPr>
          <p:spPr bwMode="auto">
            <a:xfrm>
              <a:off x="3984" y="2128"/>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66747" name="Text Box 27"/>
            <p:cNvSpPr txBox="1">
              <a:spLocks noChangeArrowheads="1"/>
            </p:cNvSpPr>
            <p:nvPr/>
          </p:nvSpPr>
          <p:spPr bwMode="auto">
            <a:xfrm>
              <a:off x="4272" y="2128"/>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7</a:t>
              </a:r>
            </a:p>
          </p:txBody>
        </p:sp>
        <p:sp>
          <p:nvSpPr>
            <p:cNvPr id="1566748" name="Text Box 28"/>
            <p:cNvSpPr txBox="1">
              <a:spLocks noChangeArrowheads="1"/>
            </p:cNvSpPr>
            <p:nvPr/>
          </p:nvSpPr>
          <p:spPr bwMode="auto">
            <a:xfrm>
              <a:off x="4656" y="2128"/>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6749" name="Text Box 29"/>
            <p:cNvSpPr txBox="1">
              <a:spLocks noChangeArrowheads="1"/>
            </p:cNvSpPr>
            <p:nvPr/>
          </p:nvSpPr>
          <p:spPr bwMode="auto">
            <a:xfrm>
              <a:off x="3984" y="2400"/>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7</a:t>
              </a:r>
            </a:p>
          </p:txBody>
        </p:sp>
        <p:sp>
          <p:nvSpPr>
            <p:cNvPr id="1566750" name="Text Box 30"/>
            <p:cNvSpPr txBox="1">
              <a:spLocks noChangeArrowheads="1"/>
            </p:cNvSpPr>
            <p:nvPr/>
          </p:nvSpPr>
          <p:spPr bwMode="auto">
            <a:xfrm>
              <a:off x="4272" y="2400"/>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66751" name="Text Box 31"/>
            <p:cNvSpPr txBox="1">
              <a:spLocks noChangeArrowheads="1"/>
            </p:cNvSpPr>
            <p:nvPr/>
          </p:nvSpPr>
          <p:spPr bwMode="auto">
            <a:xfrm>
              <a:off x="4656" y="2400"/>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6752" name="Text Box 32"/>
            <p:cNvSpPr txBox="1">
              <a:spLocks noChangeArrowheads="1"/>
            </p:cNvSpPr>
            <p:nvPr/>
          </p:nvSpPr>
          <p:spPr bwMode="auto">
            <a:xfrm>
              <a:off x="3984" y="259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6753" name="Text Box 33"/>
            <p:cNvSpPr txBox="1">
              <a:spLocks noChangeArrowheads="1"/>
            </p:cNvSpPr>
            <p:nvPr/>
          </p:nvSpPr>
          <p:spPr bwMode="auto">
            <a:xfrm>
              <a:off x="4272" y="259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6754" name="Text Box 34"/>
            <p:cNvSpPr txBox="1">
              <a:spLocks noChangeArrowheads="1"/>
            </p:cNvSpPr>
            <p:nvPr/>
          </p:nvSpPr>
          <p:spPr bwMode="auto">
            <a:xfrm>
              <a:off x="4656" y="259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66755" name="Text Box 35"/>
            <p:cNvSpPr txBox="1">
              <a:spLocks noChangeArrowheads="1"/>
            </p:cNvSpPr>
            <p:nvPr/>
          </p:nvSpPr>
          <p:spPr bwMode="auto">
            <a:xfrm>
              <a:off x="3984" y="283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6756" name="Text Box 36"/>
            <p:cNvSpPr txBox="1">
              <a:spLocks noChangeArrowheads="1"/>
            </p:cNvSpPr>
            <p:nvPr/>
          </p:nvSpPr>
          <p:spPr bwMode="auto">
            <a:xfrm>
              <a:off x="4272" y="283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6757" name="Text Box 37"/>
            <p:cNvSpPr txBox="1">
              <a:spLocks noChangeArrowheads="1"/>
            </p:cNvSpPr>
            <p:nvPr/>
          </p:nvSpPr>
          <p:spPr bwMode="auto">
            <a:xfrm>
              <a:off x="4656" y="283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chemeClr val="accent2"/>
                  </a:solidFill>
                  <a:latin typeface="Comic Sans MS" panose="030F0702030302020204" pitchFamily="66" charset="0"/>
                </a:rPr>
                <a:t>2</a:t>
              </a:r>
            </a:p>
          </p:txBody>
        </p:sp>
        <p:sp>
          <p:nvSpPr>
            <p:cNvPr id="1566764" name="Text Box 44"/>
            <p:cNvSpPr txBox="1">
              <a:spLocks noChangeArrowheads="1"/>
            </p:cNvSpPr>
            <p:nvPr/>
          </p:nvSpPr>
          <p:spPr bwMode="auto">
            <a:xfrm>
              <a:off x="3984" y="1536"/>
              <a:ext cx="129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Distance to node</a:t>
              </a:r>
            </a:p>
          </p:txBody>
        </p:sp>
        <p:sp>
          <p:nvSpPr>
            <p:cNvPr id="1566765" name="Text Box 45"/>
            <p:cNvSpPr txBox="1">
              <a:spLocks noChangeArrowheads="1"/>
            </p:cNvSpPr>
            <p:nvPr/>
          </p:nvSpPr>
          <p:spPr bwMode="auto">
            <a:xfrm>
              <a:off x="4944" y="1824"/>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566766" name="Text Box 46"/>
            <p:cNvSpPr txBox="1">
              <a:spLocks noChangeArrowheads="1"/>
            </p:cNvSpPr>
            <p:nvPr/>
          </p:nvSpPr>
          <p:spPr bwMode="auto">
            <a:xfrm>
              <a:off x="4944" y="2128"/>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6767" name="Text Box 47"/>
            <p:cNvSpPr txBox="1">
              <a:spLocks noChangeArrowheads="1"/>
            </p:cNvSpPr>
            <p:nvPr/>
          </p:nvSpPr>
          <p:spPr bwMode="auto">
            <a:xfrm>
              <a:off x="4944" y="2400"/>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6768" name="Text Box 48"/>
            <p:cNvSpPr txBox="1">
              <a:spLocks noChangeArrowheads="1"/>
            </p:cNvSpPr>
            <p:nvPr/>
          </p:nvSpPr>
          <p:spPr bwMode="auto">
            <a:xfrm>
              <a:off x="4944" y="259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6769" name="Text Box 49"/>
            <p:cNvSpPr txBox="1">
              <a:spLocks noChangeArrowheads="1"/>
            </p:cNvSpPr>
            <p:nvPr/>
          </p:nvSpPr>
          <p:spPr bwMode="auto">
            <a:xfrm>
              <a:off x="4944" y="283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66770" name="Text Box 50"/>
            <p:cNvSpPr txBox="1">
              <a:spLocks noChangeArrowheads="1"/>
            </p:cNvSpPr>
            <p:nvPr/>
          </p:nvSpPr>
          <p:spPr bwMode="auto">
            <a:xfrm>
              <a:off x="3504" y="3072"/>
              <a:ext cx="20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sp>
          <p:nvSpPr>
            <p:cNvPr id="1566771" name="Text Box 51"/>
            <p:cNvSpPr txBox="1">
              <a:spLocks noChangeArrowheads="1"/>
            </p:cNvSpPr>
            <p:nvPr/>
          </p:nvSpPr>
          <p:spPr bwMode="auto">
            <a:xfrm>
              <a:off x="3984" y="307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6772" name="Text Box 52"/>
            <p:cNvSpPr txBox="1">
              <a:spLocks noChangeArrowheads="1"/>
            </p:cNvSpPr>
            <p:nvPr/>
          </p:nvSpPr>
          <p:spPr bwMode="auto">
            <a:xfrm>
              <a:off x="4272" y="307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8</a:t>
              </a:r>
            </a:p>
          </p:txBody>
        </p:sp>
        <p:sp>
          <p:nvSpPr>
            <p:cNvPr id="1566773" name="Text Box 53"/>
            <p:cNvSpPr txBox="1">
              <a:spLocks noChangeArrowheads="1"/>
            </p:cNvSpPr>
            <p:nvPr/>
          </p:nvSpPr>
          <p:spPr bwMode="auto">
            <a:xfrm>
              <a:off x="4656" y="307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6774" name="Text Box 54"/>
            <p:cNvSpPr txBox="1">
              <a:spLocks noChangeArrowheads="1"/>
            </p:cNvSpPr>
            <p:nvPr/>
          </p:nvSpPr>
          <p:spPr bwMode="auto">
            <a:xfrm>
              <a:off x="4944" y="307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6775" name="Text Box 55"/>
            <p:cNvSpPr txBox="1">
              <a:spLocks noChangeArrowheads="1"/>
            </p:cNvSpPr>
            <p:nvPr/>
          </p:nvSpPr>
          <p:spPr bwMode="auto">
            <a:xfrm>
              <a:off x="5280" y="2128"/>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6776" name="Text Box 56"/>
            <p:cNvSpPr txBox="1">
              <a:spLocks noChangeArrowheads="1"/>
            </p:cNvSpPr>
            <p:nvPr/>
          </p:nvSpPr>
          <p:spPr bwMode="auto">
            <a:xfrm>
              <a:off x="5280" y="2400"/>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8</a:t>
              </a:r>
            </a:p>
          </p:txBody>
        </p:sp>
        <p:sp>
          <p:nvSpPr>
            <p:cNvPr id="1566777" name="Text Box 57"/>
            <p:cNvSpPr txBox="1">
              <a:spLocks noChangeArrowheads="1"/>
            </p:cNvSpPr>
            <p:nvPr/>
          </p:nvSpPr>
          <p:spPr bwMode="auto">
            <a:xfrm>
              <a:off x="5280" y="259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6778" name="Text Box 58"/>
            <p:cNvSpPr txBox="1">
              <a:spLocks noChangeArrowheads="1"/>
            </p:cNvSpPr>
            <p:nvPr/>
          </p:nvSpPr>
          <p:spPr bwMode="auto">
            <a:xfrm>
              <a:off x="5280" y="283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chemeClr val="accent2"/>
                  </a:solidFill>
                  <a:latin typeface="Comic Sans MS" panose="030F0702030302020204" pitchFamily="66" charset="0"/>
                </a:rPr>
                <a:t>2</a:t>
              </a:r>
            </a:p>
          </p:txBody>
        </p:sp>
        <p:sp>
          <p:nvSpPr>
            <p:cNvPr id="1566779" name="Text Box 59"/>
            <p:cNvSpPr txBox="1">
              <a:spLocks noChangeArrowheads="1"/>
            </p:cNvSpPr>
            <p:nvPr/>
          </p:nvSpPr>
          <p:spPr bwMode="auto">
            <a:xfrm>
              <a:off x="5280" y="307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66780" name="Text Box 60"/>
            <p:cNvSpPr txBox="1">
              <a:spLocks noChangeArrowheads="1"/>
            </p:cNvSpPr>
            <p:nvPr/>
          </p:nvSpPr>
          <p:spPr bwMode="auto">
            <a:xfrm>
              <a:off x="5280" y="1824"/>
              <a:ext cx="20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grpSp>
      <p:sp>
        <p:nvSpPr>
          <p:cNvPr id="1566781" name="Line 61"/>
          <p:cNvSpPr>
            <a:spLocks noChangeShapeType="1"/>
          </p:cNvSpPr>
          <p:nvPr/>
        </p:nvSpPr>
        <p:spPr bwMode="auto">
          <a:xfrm flipH="1" flipV="1">
            <a:off x="3810000" y="5105400"/>
            <a:ext cx="609600" cy="0"/>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6782" name="Rectangle 62"/>
          <p:cNvSpPr>
            <a:spLocks noGrp="1" noChangeArrowheads="1"/>
          </p:cNvSpPr>
          <p:nvPr>
            <p:ph type="title"/>
          </p:nvPr>
        </p:nvSpPr>
        <p:spPr bwMode="auto">
          <a:xfrm>
            <a:off x="2209800" y="255589"/>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en-US" altLang="zh-CN"/>
              <a:t>E </a:t>
            </a:r>
            <a:r>
              <a:rPr lang="zh-CN" altLang="en-US"/>
              <a:t>接收 </a:t>
            </a:r>
            <a:r>
              <a:rPr lang="en-US" altLang="zh-CN" smtClean="0"/>
              <a:t>D</a:t>
            </a:r>
            <a:r>
              <a:rPr lang="zh-CN" altLang="en-US" smtClean="0"/>
              <a:t>的路由表</a:t>
            </a:r>
            <a:endParaRPr lang="zh-CN" altLang="en-US"/>
          </a:p>
        </p:txBody>
      </p:sp>
    </p:spTree>
    <p:extLst>
      <p:ext uri="{BB962C8B-B14F-4D97-AF65-F5344CB8AC3E}">
        <p14:creationId xmlns:p14="http://schemas.microsoft.com/office/powerpoint/2010/main" val="22689548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566783"/>
                                        </p:tgtEl>
                                        <p:attrNameLst>
                                          <p:attrName>style.visibility</p:attrName>
                                        </p:attrNameLst>
                                      </p:cBhvr>
                                      <p:to>
                                        <p:strVal val="visible"/>
                                      </p:to>
                                    </p:set>
                                    <p:anim calcmode="lin" valueType="num">
                                      <p:cBhvr additive="base">
                                        <p:cTn id="7" dur="500" fill="hold"/>
                                        <p:tgtEl>
                                          <p:spTgt spid="1566783"/>
                                        </p:tgtEl>
                                        <p:attrNameLst>
                                          <p:attrName>ppt_x</p:attrName>
                                        </p:attrNameLst>
                                      </p:cBhvr>
                                      <p:tavLst>
                                        <p:tav tm="0">
                                          <p:val>
                                            <p:strVal val="1+#ppt_w/2"/>
                                          </p:val>
                                        </p:tav>
                                        <p:tav tm="100000">
                                          <p:val>
                                            <p:strVal val="#ppt_x"/>
                                          </p:val>
                                        </p:tav>
                                      </p:tavLst>
                                    </p:anim>
                                    <p:anim calcmode="lin" valueType="num">
                                      <p:cBhvr additive="base">
                                        <p:cTn id="8" dur="500" fill="hold"/>
                                        <p:tgtEl>
                                          <p:spTgt spid="156678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7747" name="Rectangle 3"/>
          <p:cNvSpPr>
            <a:spLocks noChangeArrowheads="1"/>
          </p:cNvSpPr>
          <p:nvPr/>
        </p:nvSpPr>
        <p:spPr bwMode="auto">
          <a:xfrm>
            <a:off x="3505200" y="2743200"/>
            <a:ext cx="2514600" cy="2209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7748" name="Line 4"/>
          <p:cNvSpPr>
            <a:spLocks noChangeShapeType="1"/>
          </p:cNvSpPr>
          <p:nvPr/>
        </p:nvSpPr>
        <p:spPr bwMode="auto">
          <a:xfrm flipH="1">
            <a:off x="2286000" y="2743200"/>
            <a:ext cx="121920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7749" name="Line 5"/>
          <p:cNvSpPr>
            <a:spLocks noChangeShapeType="1"/>
          </p:cNvSpPr>
          <p:nvPr/>
        </p:nvSpPr>
        <p:spPr bwMode="auto">
          <a:xfrm>
            <a:off x="2286000" y="3962400"/>
            <a:ext cx="1219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7750" name="Oval 6"/>
          <p:cNvSpPr>
            <a:spLocks noChangeArrowheads="1"/>
          </p:cNvSpPr>
          <p:nvPr/>
        </p:nvSpPr>
        <p:spPr bwMode="auto">
          <a:xfrm>
            <a:off x="1905000" y="3733800"/>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7751" name="Text Box 7"/>
          <p:cNvSpPr txBox="1">
            <a:spLocks noChangeArrowheads="1"/>
          </p:cNvSpPr>
          <p:nvPr/>
        </p:nvSpPr>
        <p:spPr bwMode="auto">
          <a:xfrm>
            <a:off x="1939925" y="3749676"/>
            <a:ext cx="3508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567752" name="Oval 8"/>
          <p:cNvSpPr>
            <a:spLocks noChangeArrowheads="1"/>
          </p:cNvSpPr>
          <p:nvPr/>
        </p:nvSpPr>
        <p:spPr bwMode="auto">
          <a:xfrm>
            <a:off x="3317875" y="24987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7753" name="Text Box 9"/>
          <p:cNvSpPr txBox="1">
            <a:spLocks noChangeArrowheads="1"/>
          </p:cNvSpPr>
          <p:nvPr/>
        </p:nvSpPr>
        <p:spPr bwMode="auto">
          <a:xfrm>
            <a:off x="3352801" y="2514601"/>
            <a:ext cx="328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567754" name="Oval 10"/>
          <p:cNvSpPr>
            <a:spLocks noChangeArrowheads="1"/>
          </p:cNvSpPr>
          <p:nvPr/>
        </p:nvSpPr>
        <p:spPr bwMode="auto">
          <a:xfrm>
            <a:off x="3317875" y="4784725"/>
            <a:ext cx="381000" cy="381000"/>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7755" name="Text Box 11"/>
          <p:cNvSpPr txBox="1">
            <a:spLocks noChangeArrowheads="1"/>
          </p:cNvSpPr>
          <p:nvPr/>
        </p:nvSpPr>
        <p:spPr bwMode="auto">
          <a:xfrm>
            <a:off x="3352801" y="4800601"/>
            <a:ext cx="327025" cy="366713"/>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sp>
        <p:nvSpPr>
          <p:cNvPr id="1567756" name="Oval 12"/>
          <p:cNvSpPr>
            <a:spLocks noChangeArrowheads="1"/>
          </p:cNvSpPr>
          <p:nvPr/>
        </p:nvSpPr>
        <p:spPr bwMode="auto">
          <a:xfrm>
            <a:off x="5756275" y="24987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7757" name="Text Box 13"/>
          <p:cNvSpPr txBox="1">
            <a:spLocks noChangeArrowheads="1"/>
          </p:cNvSpPr>
          <p:nvPr/>
        </p:nvSpPr>
        <p:spPr bwMode="auto">
          <a:xfrm>
            <a:off x="5791200" y="2514601"/>
            <a:ext cx="325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567758" name="Oval 14"/>
          <p:cNvSpPr>
            <a:spLocks noChangeArrowheads="1"/>
          </p:cNvSpPr>
          <p:nvPr/>
        </p:nvSpPr>
        <p:spPr bwMode="auto">
          <a:xfrm>
            <a:off x="5832475" y="47085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7759" name="Text Box 15"/>
          <p:cNvSpPr txBox="1">
            <a:spLocks noChangeArrowheads="1"/>
          </p:cNvSpPr>
          <p:nvPr/>
        </p:nvSpPr>
        <p:spPr bwMode="auto">
          <a:xfrm>
            <a:off x="5867400" y="4724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567760" name="Line 16"/>
          <p:cNvSpPr>
            <a:spLocks noChangeShapeType="1"/>
          </p:cNvSpPr>
          <p:nvPr/>
        </p:nvSpPr>
        <p:spPr bwMode="auto">
          <a:xfrm>
            <a:off x="6553200" y="3276600"/>
            <a:ext cx="388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7761" name="Line 17"/>
          <p:cNvSpPr>
            <a:spLocks noChangeShapeType="1"/>
          </p:cNvSpPr>
          <p:nvPr/>
        </p:nvSpPr>
        <p:spPr bwMode="auto">
          <a:xfrm>
            <a:off x="7620000" y="2667000"/>
            <a:ext cx="0" cy="2514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7762" name="Text Box 18"/>
          <p:cNvSpPr txBox="1">
            <a:spLocks noChangeArrowheads="1"/>
          </p:cNvSpPr>
          <p:nvPr/>
        </p:nvSpPr>
        <p:spPr bwMode="auto">
          <a:xfrm>
            <a:off x="6629400" y="2667000"/>
            <a:ext cx="9985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Info at</a:t>
            </a:r>
          </a:p>
          <a:p>
            <a:r>
              <a:rPr lang="en-US" altLang="zh-CN" b="1">
                <a:latin typeface="Comic Sans MS" panose="030F0702030302020204" pitchFamily="66" charset="0"/>
              </a:rPr>
              <a:t>node</a:t>
            </a:r>
          </a:p>
        </p:txBody>
      </p:sp>
      <p:sp>
        <p:nvSpPr>
          <p:cNvPr id="1567763" name="Text Box 19"/>
          <p:cNvSpPr txBox="1">
            <a:spLocks noChangeArrowheads="1"/>
          </p:cNvSpPr>
          <p:nvPr/>
        </p:nvSpPr>
        <p:spPr bwMode="auto">
          <a:xfrm>
            <a:off x="7070725" y="3394076"/>
            <a:ext cx="3508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567764" name="Text Box 20"/>
          <p:cNvSpPr txBox="1">
            <a:spLocks noChangeArrowheads="1"/>
          </p:cNvSpPr>
          <p:nvPr/>
        </p:nvSpPr>
        <p:spPr bwMode="auto">
          <a:xfrm>
            <a:off x="7086601" y="3733801"/>
            <a:ext cx="328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567765" name="Text Box 21"/>
          <p:cNvSpPr txBox="1">
            <a:spLocks noChangeArrowheads="1"/>
          </p:cNvSpPr>
          <p:nvPr/>
        </p:nvSpPr>
        <p:spPr bwMode="auto">
          <a:xfrm>
            <a:off x="7086600" y="4114801"/>
            <a:ext cx="325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567766" name="Text Box 22"/>
          <p:cNvSpPr txBox="1">
            <a:spLocks noChangeArrowheads="1"/>
          </p:cNvSpPr>
          <p:nvPr/>
        </p:nvSpPr>
        <p:spPr bwMode="auto">
          <a:xfrm>
            <a:off x="7086600" y="44958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567767" name="Text Box 23"/>
          <p:cNvSpPr txBox="1">
            <a:spLocks noChangeArrowheads="1"/>
          </p:cNvSpPr>
          <p:nvPr/>
        </p:nvSpPr>
        <p:spPr bwMode="auto">
          <a:xfrm>
            <a:off x="7848600" y="2895601"/>
            <a:ext cx="3508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567768" name="Text Box 24"/>
          <p:cNvSpPr txBox="1">
            <a:spLocks noChangeArrowheads="1"/>
          </p:cNvSpPr>
          <p:nvPr/>
        </p:nvSpPr>
        <p:spPr bwMode="auto">
          <a:xfrm>
            <a:off x="8305801" y="2895601"/>
            <a:ext cx="328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567769" name="Text Box 25"/>
          <p:cNvSpPr txBox="1">
            <a:spLocks noChangeArrowheads="1"/>
          </p:cNvSpPr>
          <p:nvPr/>
        </p:nvSpPr>
        <p:spPr bwMode="auto">
          <a:xfrm>
            <a:off x="8915400" y="2895601"/>
            <a:ext cx="325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567770" name="Text Box 26"/>
          <p:cNvSpPr txBox="1">
            <a:spLocks noChangeArrowheads="1"/>
          </p:cNvSpPr>
          <p:nvPr/>
        </p:nvSpPr>
        <p:spPr bwMode="auto">
          <a:xfrm>
            <a:off x="78486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67771" name="Text Box 27"/>
          <p:cNvSpPr txBox="1">
            <a:spLocks noChangeArrowheads="1"/>
          </p:cNvSpPr>
          <p:nvPr/>
        </p:nvSpPr>
        <p:spPr bwMode="auto">
          <a:xfrm>
            <a:off x="83058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7</a:t>
            </a:r>
          </a:p>
        </p:txBody>
      </p:sp>
      <p:sp>
        <p:nvSpPr>
          <p:cNvPr id="1567772" name="Text Box 28"/>
          <p:cNvSpPr txBox="1">
            <a:spLocks noChangeArrowheads="1"/>
          </p:cNvSpPr>
          <p:nvPr/>
        </p:nvSpPr>
        <p:spPr bwMode="auto">
          <a:xfrm>
            <a:off x="89154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7773" name="Text Box 29"/>
          <p:cNvSpPr txBox="1">
            <a:spLocks noChangeArrowheads="1"/>
          </p:cNvSpPr>
          <p:nvPr/>
        </p:nvSpPr>
        <p:spPr bwMode="auto">
          <a:xfrm>
            <a:off x="78486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7</a:t>
            </a:r>
          </a:p>
        </p:txBody>
      </p:sp>
      <p:sp>
        <p:nvSpPr>
          <p:cNvPr id="1567774" name="Text Box 30"/>
          <p:cNvSpPr txBox="1">
            <a:spLocks noChangeArrowheads="1"/>
          </p:cNvSpPr>
          <p:nvPr/>
        </p:nvSpPr>
        <p:spPr bwMode="auto">
          <a:xfrm>
            <a:off x="83058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67775" name="Text Box 31"/>
          <p:cNvSpPr txBox="1">
            <a:spLocks noChangeArrowheads="1"/>
          </p:cNvSpPr>
          <p:nvPr/>
        </p:nvSpPr>
        <p:spPr bwMode="auto">
          <a:xfrm>
            <a:off x="89154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7776" name="Text Box 32"/>
          <p:cNvSpPr txBox="1">
            <a:spLocks noChangeArrowheads="1"/>
          </p:cNvSpPr>
          <p:nvPr/>
        </p:nvSpPr>
        <p:spPr bwMode="auto">
          <a:xfrm>
            <a:off x="78486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7777" name="Text Box 33"/>
          <p:cNvSpPr txBox="1">
            <a:spLocks noChangeArrowheads="1"/>
          </p:cNvSpPr>
          <p:nvPr/>
        </p:nvSpPr>
        <p:spPr bwMode="auto">
          <a:xfrm>
            <a:off x="83058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7778" name="Text Box 34"/>
          <p:cNvSpPr txBox="1">
            <a:spLocks noChangeArrowheads="1"/>
          </p:cNvSpPr>
          <p:nvPr/>
        </p:nvSpPr>
        <p:spPr bwMode="auto">
          <a:xfrm>
            <a:off x="89154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67779" name="Text Box 35"/>
          <p:cNvSpPr txBox="1">
            <a:spLocks noChangeArrowheads="1"/>
          </p:cNvSpPr>
          <p:nvPr/>
        </p:nvSpPr>
        <p:spPr bwMode="auto">
          <a:xfrm>
            <a:off x="78486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7780" name="Text Box 36"/>
          <p:cNvSpPr txBox="1">
            <a:spLocks noChangeArrowheads="1"/>
          </p:cNvSpPr>
          <p:nvPr/>
        </p:nvSpPr>
        <p:spPr bwMode="auto">
          <a:xfrm>
            <a:off x="83058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7781" name="Text Box 37"/>
          <p:cNvSpPr txBox="1">
            <a:spLocks noChangeArrowheads="1"/>
          </p:cNvSpPr>
          <p:nvPr/>
        </p:nvSpPr>
        <p:spPr bwMode="auto">
          <a:xfrm>
            <a:off x="89154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chemeClr val="accent1"/>
                </a:solidFill>
                <a:latin typeface="Comic Sans MS" panose="030F0702030302020204" pitchFamily="66" charset="0"/>
              </a:rPr>
              <a:t>2</a:t>
            </a:r>
          </a:p>
        </p:txBody>
      </p:sp>
      <p:sp>
        <p:nvSpPr>
          <p:cNvPr id="1567782" name="Text Box 38"/>
          <p:cNvSpPr txBox="1">
            <a:spLocks noChangeArrowheads="1"/>
          </p:cNvSpPr>
          <p:nvPr/>
        </p:nvSpPr>
        <p:spPr bwMode="auto">
          <a:xfrm>
            <a:off x="2438400" y="2971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7</a:t>
            </a:r>
          </a:p>
        </p:txBody>
      </p:sp>
      <p:sp>
        <p:nvSpPr>
          <p:cNvPr id="1567783" name="Text Box 39"/>
          <p:cNvSpPr txBox="1">
            <a:spLocks noChangeArrowheads="1"/>
          </p:cNvSpPr>
          <p:nvPr/>
        </p:nvSpPr>
        <p:spPr bwMode="auto">
          <a:xfrm>
            <a:off x="23622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7784" name="Text Box 40"/>
          <p:cNvSpPr txBox="1">
            <a:spLocks noChangeArrowheads="1"/>
          </p:cNvSpPr>
          <p:nvPr/>
        </p:nvSpPr>
        <p:spPr bwMode="auto">
          <a:xfrm>
            <a:off x="4648200" y="2286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7785" name="Text Box 41"/>
          <p:cNvSpPr txBox="1">
            <a:spLocks noChangeArrowheads="1"/>
          </p:cNvSpPr>
          <p:nvPr/>
        </p:nvSpPr>
        <p:spPr bwMode="auto">
          <a:xfrm>
            <a:off x="45720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7786" name="Text Box 42"/>
          <p:cNvSpPr txBox="1">
            <a:spLocks noChangeArrowheads="1"/>
          </p:cNvSpPr>
          <p:nvPr/>
        </p:nvSpPr>
        <p:spPr bwMode="auto">
          <a:xfrm>
            <a:off x="6096000" y="3733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7787" name="Text Box 43"/>
          <p:cNvSpPr txBox="1">
            <a:spLocks noChangeArrowheads="1"/>
          </p:cNvSpPr>
          <p:nvPr/>
        </p:nvSpPr>
        <p:spPr bwMode="auto">
          <a:xfrm>
            <a:off x="3581400" y="3733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8</a:t>
            </a:r>
          </a:p>
        </p:txBody>
      </p:sp>
      <p:sp>
        <p:nvSpPr>
          <p:cNvPr id="1567788" name="Text Box 44"/>
          <p:cNvSpPr txBox="1">
            <a:spLocks noChangeArrowheads="1"/>
          </p:cNvSpPr>
          <p:nvPr/>
        </p:nvSpPr>
        <p:spPr bwMode="auto">
          <a:xfrm>
            <a:off x="7848600" y="2438401"/>
            <a:ext cx="20526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Distance to node</a:t>
            </a:r>
          </a:p>
        </p:txBody>
      </p:sp>
      <p:sp>
        <p:nvSpPr>
          <p:cNvPr id="1567789" name="Text Box 45"/>
          <p:cNvSpPr txBox="1">
            <a:spLocks noChangeArrowheads="1"/>
          </p:cNvSpPr>
          <p:nvPr/>
        </p:nvSpPr>
        <p:spPr bwMode="auto">
          <a:xfrm>
            <a:off x="9372600" y="28956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567790" name="Text Box 46"/>
          <p:cNvSpPr txBox="1">
            <a:spLocks noChangeArrowheads="1"/>
          </p:cNvSpPr>
          <p:nvPr/>
        </p:nvSpPr>
        <p:spPr bwMode="auto">
          <a:xfrm>
            <a:off x="93726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7791" name="Text Box 47"/>
          <p:cNvSpPr txBox="1">
            <a:spLocks noChangeArrowheads="1"/>
          </p:cNvSpPr>
          <p:nvPr/>
        </p:nvSpPr>
        <p:spPr bwMode="auto">
          <a:xfrm>
            <a:off x="93726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7792" name="Text Box 48"/>
          <p:cNvSpPr txBox="1">
            <a:spLocks noChangeArrowheads="1"/>
          </p:cNvSpPr>
          <p:nvPr/>
        </p:nvSpPr>
        <p:spPr bwMode="auto">
          <a:xfrm>
            <a:off x="93726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7793" name="Text Box 49"/>
          <p:cNvSpPr txBox="1">
            <a:spLocks noChangeArrowheads="1"/>
          </p:cNvSpPr>
          <p:nvPr/>
        </p:nvSpPr>
        <p:spPr bwMode="auto">
          <a:xfrm>
            <a:off x="93726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67794" name="Text Box 50"/>
          <p:cNvSpPr txBox="1">
            <a:spLocks noChangeArrowheads="1"/>
          </p:cNvSpPr>
          <p:nvPr/>
        </p:nvSpPr>
        <p:spPr bwMode="auto">
          <a:xfrm>
            <a:off x="7086601" y="4876801"/>
            <a:ext cx="3270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sp>
        <p:nvSpPr>
          <p:cNvPr id="1567795" name="Text Box 51"/>
          <p:cNvSpPr txBox="1">
            <a:spLocks noChangeArrowheads="1"/>
          </p:cNvSpPr>
          <p:nvPr/>
        </p:nvSpPr>
        <p:spPr bwMode="auto">
          <a:xfrm>
            <a:off x="78486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7796" name="Text Box 52"/>
          <p:cNvSpPr txBox="1">
            <a:spLocks noChangeArrowheads="1"/>
          </p:cNvSpPr>
          <p:nvPr/>
        </p:nvSpPr>
        <p:spPr bwMode="auto">
          <a:xfrm>
            <a:off x="83058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8</a:t>
            </a:r>
          </a:p>
        </p:txBody>
      </p:sp>
      <p:sp>
        <p:nvSpPr>
          <p:cNvPr id="1567797" name="Text Box 53"/>
          <p:cNvSpPr txBox="1">
            <a:spLocks noChangeArrowheads="1"/>
          </p:cNvSpPr>
          <p:nvPr/>
        </p:nvSpPr>
        <p:spPr bwMode="auto">
          <a:xfrm>
            <a:off x="89154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4</a:t>
            </a:r>
          </a:p>
        </p:txBody>
      </p:sp>
      <p:sp>
        <p:nvSpPr>
          <p:cNvPr id="1567798" name="Text Box 54"/>
          <p:cNvSpPr txBox="1">
            <a:spLocks noChangeArrowheads="1"/>
          </p:cNvSpPr>
          <p:nvPr/>
        </p:nvSpPr>
        <p:spPr bwMode="auto">
          <a:xfrm>
            <a:off x="93726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7799" name="Text Box 55"/>
          <p:cNvSpPr txBox="1">
            <a:spLocks noChangeArrowheads="1"/>
          </p:cNvSpPr>
          <p:nvPr/>
        </p:nvSpPr>
        <p:spPr bwMode="auto">
          <a:xfrm>
            <a:off x="99060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7800" name="Text Box 56"/>
          <p:cNvSpPr txBox="1">
            <a:spLocks noChangeArrowheads="1"/>
          </p:cNvSpPr>
          <p:nvPr/>
        </p:nvSpPr>
        <p:spPr bwMode="auto">
          <a:xfrm>
            <a:off x="99060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8</a:t>
            </a:r>
          </a:p>
        </p:txBody>
      </p:sp>
      <p:sp>
        <p:nvSpPr>
          <p:cNvPr id="1567801" name="Text Box 57"/>
          <p:cNvSpPr txBox="1">
            <a:spLocks noChangeArrowheads="1"/>
          </p:cNvSpPr>
          <p:nvPr/>
        </p:nvSpPr>
        <p:spPr bwMode="auto">
          <a:xfrm>
            <a:off x="99060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7802" name="Text Box 58"/>
          <p:cNvSpPr txBox="1">
            <a:spLocks noChangeArrowheads="1"/>
          </p:cNvSpPr>
          <p:nvPr/>
        </p:nvSpPr>
        <p:spPr bwMode="auto">
          <a:xfrm>
            <a:off x="99060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chemeClr val="accent1"/>
                </a:solidFill>
                <a:latin typeface="Comic Sans MS" panose="030F0702030302020204" pitchFamily="66" charset="0"/>
              </a:rPr>
              <a:t>2</a:t>
            </a:r>
          </a:p>
        </p:txBody>
      </p:sp>
      <p:sp>
        <p:nvSpPr>
          <p:cNvPr id="1567803" name="Text Box 59"/>
          <p:cNvSpPr txBox="1">
            <a:spLocks noChangeArrowheads="1"/>
          </p:cNvSpPr>
          <p:nvPr/>
        </p:nvSpPr>
        <p:spPr bwMode="auto">
          <a:xfrm>
            <a:off x="99060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67804" name="Text Box 60"/>
          <p:cNvSpPr txBox="1">
            <a:spLocks noChangeArrowheads="1"/>
          </p:cNvSpPr>
          <p:nvPr/>
        </p:nvSpPr>
        <p:spPr bwMode="auto">
          <a:xfrm>
            <a:off x="9906001" y="2895601"/>
            <a:ext cx="3270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sp>
        <p:nvSpPr>
          <p:cNvPr id="1567805" name="Rectangle 61"/>
          <p:cNvSpPr>
            <a:spLocks noGrp="1" noChangeArrowheads="1"/>
          </p:cNvSpPr>
          <p:nvPr>
            <p:ph type="title"/>
          </p:nvPr>
        </p:nvSpPr>
        <p:spPr bwMode="auto">
          <a:xfrm>
            <a:off x="2209800" y="190500"/>
            <a:ext cx="7772400" cy="647701"/>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fontScale="90000"/>
          </a:bodyPr>
          <a:lstStyle/>
          <a:p>
            <a:r>
              <a:rPr lang="en-US" altLang="zh-CN"/>
              <a:t>E </a:t>
            </a:r>
            <a:r>
              <a:rPr lang="zh-CN" altLang="en-US"/>
              <a:t>更新到</a:t>
            </a:r>
            <a:r>
              <a:rPr lang="en-US" altLang="zh-CN"/>
              <a:t>C</a:t>
            </a:r>
            <a:r>
              <a:rPr lang="zh-CN" altLang="en-US"/>
              <a:t>的路由</a:t>
            </a:r>
          </a:p>
        </p:txBody>
      </p:sp>
    </p:spTree>
    <p:extLst>
      <p:ext uri="{BB962C8B-B14F-4D97-AF65-F5344CB8AC3E}">
        <p14:creationId xmlns:p14="http://schemas.microsoft.com/office/powerpoint/2010/main" val="3013254138"/>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8771" name="Rectangle 3"/>
          <p:cNvSpPr>
            <a:spLocks noChangeArrowheads="1"/>
          </p:cNvSpPr>
          <p:nvPr/>
        </p:nvSpPr>
        <p:spPr bwMode="auto">
          <a:xfrm>
            <a:off x="3505200" y="2743200"/>
            <a:ext cx="2514600" cy="2209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8772" name="Line 4"/>
          <p:cNvSpPr>
            <a:spLocks noChangeShapeType="1"/>
          </p:cNvSpPr>
          <p:nvPr/>
        </p:nvSpPr>
        <p:spPr bwMode="auto">
          <a:xfrm flipH="1">
            <a:off x="2286000" y="2743200"/>
            <a:ext cx="121920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8773" name="Line 5"/>
          <p:cNvSpPr>
            <a:spLocks noChangeShapeType="1"/>
          </p:cNvSpPr>
          <p:nvPr/>
        </p:nvSpPr>
        <p:spPr bwMode="auto">
          <a:xfrm>
            <a:off x="2286000" y="3962400"/>
            <a:ext cx="1219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8774" name="Oval 6"/>
          <p:cNvSpPr>
            <a:spLocks noChangeArrowheads="1"/>
          </p:cNvSpPr>
          <p:nvPr/>
        </p:nvSpPr>
        <p:spPr bwMode="auto">
          <a:xfrm>
            <a:off x="1905000" y="3733800"/>
            <a:ext cx="381000" cy="381000"/>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8775" name="Text Box 7"/>
          <p:cNvSpPr txBox="1">
            <a:spLocks noChangeArrowheads="1"/>
          </p:cNvSpPr>
          <p:nvPr/>
        </p:nvSpPr>
        <p:spPr bwMode="auto">
          <a:xfrm>
            <a:off x="1939925" y="3749676"/>
            <a:ext cx="3508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568776" name="Oval 8"/>
          <p:cNvSpPr>
            <a:spLocks noChangeArrowheads="1"/>
          </p:cNvSpPr>
          <p:nvPr/>
        </p:nvSpPr>
        <p:spPr bwMode="auto">
          <a:xfrm>
            <a:off x="3317875" y="24987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8777" name="Text Box 9"/>
          <p:cNvSpPr txBox="1">
            <a:spLocks noChangeArrowheads="1"/>
          </p:cNvSpPr>
          <p:nvPr/>
        </p:nvSpPr>
        <p:spPr bwMode="auto">
          <a:xfrm>
            <a:off x="3352801" y="2514601"/>
            <a:ext cx="328613" cy="366713"/>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568778" name="Oval 10"/>
          <p:cNvSpPr>
            <a:spLocks noChangeArrowheads="1"/>
          </p:cNvSpPr>
          <p:nvPr/>
        </p:nvSpPr>
        <p:spPr bwMode="auto">
          <a:xfrm>
            <a:off x="3317875" y="47847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8779" name="Text Box 11"/>
          <p:cNvSpPr txBox="1">
            <a:spLocks noChangeArrowheads="1"/>
          </p:cNvSpPr>
          <p:nvPr/>
        </p:nvSpPr>
        <p:spPr bwMode="auto">
          <a:xfrm>
            <a:off x="3352801" y="4800601"/>
            <a:ext cx="327025" cy="366713"/>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sp>
        <p:nvSpPr>
          <p:cNvPr id="1568780" name="Oval 12"/>
          <p:cNvSpPr>
            <a:spLocks noChangeArrowheads="1"/>
          </p:cNvSpPr>
          <p:nvPr/>
        </p:nvSpPr>
        <p:spPr bwMode="auto">
          <a:xfrm>
            <a:off x="5756275" y="24987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8781" name="Text Box 13"/>
          <p:cNvSpPr txBox="1">
            <a:spLocks noChangeArrowheads="1"/>
          </p:cNvSpPr>
          <p:nvPr/>
        </p:nvSpPr>
        <p:spPr bwMode="auto">
          <a:xfrm>
            <a:off x="5791200" y="2514601"/>
            <a:ext cx="325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568782" name="Oval 14"/>
          <p:cNvSpPr>
            <a:spLocks noChangeArrowheads="1"/>
          </p:cNvSpPr>
          <p:nvPr/>
        </p:nvSpPr>
        <p:spPr bwMode="auto">
          <a:xfrm>
            <a:off x="5832475" y="47085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8783" name="Text Box 15"/>
          <p:cNvSpPr txBox="1">
            <a:spLocks noChangeArrowheads="1"/>
          </p:cNvSpPr>
          <p:nvPr/>
        </p:nvSpPr>
        <p:spPr bwMode="auto">
          <a:xfrm>
            <a:off x="5867400" y="4724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568784" name="Line 16"/>
          <p:cNvSpPr>
            <a:spLocks noChangeShapeType="1"/>
          </p:cNvSpPr>
          <p:nvPr/>
        </p:nvSpPr>
        <p:spPr bwMode="auto">
          <a:xfrm>
            <a:off x="6553200" y="3276600"/>
            <a:ext cx="388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8785" name="Line 17"/>
          <p:cNvSpPr>
            <a:spLocks noChangeShapeType="1"/>
          </p:cNvSpPr>
          <p:nvPr/>
        </p:nvSpPr>
        <p:spPr bwMode="auto">
          <a:xfrm>
            <a:off x="7620000" y="2667000"/>
            <a:ext cx="0" cy="2514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8786" name="Text Box 18"/>
          <p:cNvSpPr txBox="1">
            <a:spLocks noChangeArrowheads="1"/>
          </p:cNvSpPr>
          <p:nvPr/>
        </p:nvSpPr>
        <p:spPr bwMode="auto">
          <a:xfrm>
            <a:off x="6629400" y="2667000"/>
            <a:ext cx="9985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Info at</a:t>
            </a:r>
          </a:p>
          <a:p>
            <a:r>
              <a:rPr lang="en-US" altLang="zh-CN" b="1">
                <a:latin typeface="Comic Sans MS" panose="030F0702030302020204" pitchFamily="66" charset="0"/>
              </a:rPr>
              <a:t>node</a:t>
            </a:r>
          </a:p>
        </p:txBody>
      </p:sp>
      <p:sp>
        <p:nvSpPr>
          <p:cNvPr id="1568787" name="Text Box 19"/>
          <p:cNvSpPr txBox="1">
            <a:spLocks noChangeArrowheads="1"/>
          </p:cNvSpPr>
          <p:nvPr/>
        </p:nvSpPr>
        <p:spPr bwMode="auto">
          <a:xfrm>
            <a:off x="7070725" y="3394076"/>
            <a:ext cx="3508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568788" name="Text Box 20"/>
          <p:cNvSpPr txBox="1">
            <a:spLocks noChangeArrowheads="1"/>
          </p:cNvSpPr>
          <p:nvPr/>
        </p:nvSpPr>
        <p:spPr bwMode="auto">
          <a:xfrm>
            <a:off x="7086601" y="3733801"/>
            <a:ext cx="328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568789" name="Text Box 21"/>
          <p:cNvSpPr txBox="1">
            <a:spLocks noChangeArrowheads="1"/>
          </p:cNvSpPr>
          <p:nvPr/>
        </p:nvSpPr>
        <p:spPr bwMode="auto">
          <a:xfrm>
            <a:off x="7086600" y="4114801"/>
            <a:ext cx="325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568790" name="Text Box 22"/>
          <p:cNvSpPr txBox="1">
            <a:spLocks noChangeArrowheads="1"/>
          </p:cNvSpPr>
          <p:nvPr/>
        </p:nvSpPr>
        <p:spPr bwMode="auto">
          <a:xfrm>
            <a:off x="7086600" y="44958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568791" name="Text Box 23"/>
          <p:cNvSpPr txBox="1">
            <a:spLocks noChangeArrowheads="1"/>
          </p:cNvSpPr>
          <p:nvPr/>
        </p:nvSpPr>
        <p:spPr bwMode="auto">
          <a:xfrm>
            <a:off x="7848600" y="2895601"/>
            <a:ext cx="3508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568792" name="Text Box 24"/>
          <p:cNvSpPr txBox="1">
            <a:spLocks noChangeArrowheads="1"/>
          </p:cNvSpPr>
          <p:nvPr/>
        </p:nvSpPr>
        <p:spPr bwMode="auto">
          <a:xfrm>
            <a:off x="8305801" y="2895601"/>
            <a:ext cx="328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568793" name="Text Box 25"/>
          <p:cNvSpPr txBox="1">
            <a:spLocks noChangeArrowheads="1"/>
          </p:cNvSpPr>
          <p:nvPr/>
        </p:nvSpPr>
        <p:spPr bwMode="auto">
          <a:xfrm>
            <a:off x="8915400" y="2895601"/>
            <a:ext cx="325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568794" name="Text Box 26"/>
          <p:cNvSpPr txBox="1">
            <a:spLocks noChangeArrowheads="1"/>
          </p:cNvSpPr>
          <p:nvPr/>
        </p:nvSpPr>
        <p:spPr bwMode="auto">
          <a:xfrm>
            <a:off x="78486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68795" name="Text Box 27"/>
          <p:cNvSpPr txBox="1">
            <a:spLocks noChangeArrowheads="1"/>
          </p:cNvSpPr>
          <p:nvPr/>
        </p:nvSpPr>
        <p:spPr bwMode="auto">
          <a:xfrm>
            <a:off x="83058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7</a:t>
            </a:r>
          </a:p>
        </p:txBody>
      </p:sp>
      <p:sp>
        <p:nvSpPr>
          <p:cNvPr id="1568796" name="Text Box 28"/>
          <p:cNvSpPr txBox="1">
            <a:spLocks noChangeArrowheads="1"/>
          </p:cNvSpPr>
          <p:nvPr/>
        </p:nvSpPr>
        <p:spPr bwMode="auto">
          <a:xfrm>
            <a:off x="89154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8797" name="Text Box 29"/>
          <p:cNvSpPr txBox="1">
            <a:spLocks noChangeArrowheads="1"/>
          </p:cNvSpPr>
          <p:nvPr/>
        </p:nvSpPr>
        <p:spPr bwMode="auto">
          <a:xfrm>
            <a:off x="78486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chemeClr val="accent2"/>
                </a:solidFill>
                <a:latin typeface="Comic Sans MS" panose="030F0702030302020204" pitchFamily="66" charset="0"/>
              </a:rPr>
              <a:t>7</a:t>
            </a:r>
          </a:p>
        </p:txBody>
      </p:sp>
      <p:sp>
        <p:nvSpPr>
          <p:cNvPr id="1568798" name="Text Box 30"/>
          <p:cNvSpPr txBox="1">
            <a:spLocks noChangeArrowheads="1"/>
          </p:cNvSpPr>
          <p:nvPr/>
        </p:nvSpPr>
        <p:spPr bwMode="auto">
          <a:xfrm>
            <a:off x="83058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68799" name="Text Box 31"/>
          <p:cNvSpPr txBox="1">
            <a:spLocks noChangeArrowheads="1"/>
          </p:cNvSpPr>
          <p:nvPr/>
        </p:nvSpPr>
        <p:spPr bwMode="auto">
          <a:xfrm>
            <a:off x="89154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chemeClr val="accent2"/>
                </a:solidFill>
                <a:latin typeface="Comic Sans MS" panose="030F0702030302020204" pitchFamily="66" charset="0"/>
              </a:rPr>
              <a:t>1</a:t>
            </a:r>
          </a:p>
        </p:txBody>
      </p:sp>
      <p:sp>
        <p:nvSpPr>
          <p:cNvPr id="1568800" name="Text Box 32"/>
          <p:cNvSpPr txBox="1">
            <a:spLocks noChangeArrowheads="1"/>
          </p:cNvSpPr>
          <p:nvPr/>
        </p:nvSpPr>
        <p:spPr bwMode="auto">
          <a:xfrm>
            <a:off x="78486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8801" name="Text Box 33"/>
          <p:cNvSpPr txBox="1">
            <a:spLocks noChangeArrowheads="1"/>
          </p:cNvSpPr>
          <p:nvPr/>
        </p:nvSpPr>
        <p:spPr bwMode="auto">
          <a:xfrm>
            <a:off x="83058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8802" name="Text Box 34"/>
          <p:cNvSpPr txBox="1">
            <a:spLocks noChangeArrowheads="1"/>
          </p:cNvSpPr>
          <p:nvPr/>
        </p:nvSpPr>
        <p:spPr bwMode="auto">
          <a:xfrm>
            <a:off x="89154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68803" name="Text Box 35"/>
          <p:cNvSpPr txBox="1">
            <a:spLocks noChangeArrowheads="1"/>
          </p:cNvSpPr>
          <p:nvPr/>
        </p:nvSpPr>
        <p:spPr bwMode="auto">
          <a:xfrm>
            <a:off x="78486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8804" name="Text Box 36"/>
          <p:cNvSpPr txBox="1">
            <a:spLocks noChangeArrowheads="1"/>
          </p:cNvSpPr>
          <p:nvPr/>
        </p:nvSpPr>
        <p:spPr bwMode="auto">
          <a:xfrm>
            <a:off x="83058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8805" name="Text Box 37"/>
          <p:cNvSpPr txBox="1">
            <a:spLocks noChangeArrowheads="1"/>
          </p:cNvSpPr>
          <p:nvPr/>
        </p:nvSpPr>
        <p:spPr bwMode="auto">
          <a:xfrm>
            <a:off x="89154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8806" name="Text Box 38"/>
          <p:cNvSpPr txBox="1">
            <a:spLocks noChangeArrowheads="1"/>
          </p:cNvSpPr>
          <p:nvPr/>
        </p:nvSpPr>
        <p:spPr bwMode="auto">
          <a:xfrm>
            <a:off x="2438400" y="2971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7</a:t>
            </a:r>
          </a:p>
        </p:txBody>
      </p:sp>
      <p:sp>
        <p:nvSpPr>
          <p:cNvPr id="1568807" name="Text Box 39"/>
          <p:cNvSpPr txBox="1">
            <a:spLocks noChangeArrowheads="1"/>
          </p:cNvSpPr>
          <p:nvPr/>
        </p:nvSpPr>
        <p:spPr bwMode="auto">
          <a:xfrm>
            <a:off x="23622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8808" name="Text Box 40"/>
          <p:cNvSpPr txBox="1">
            <a:spLocks noChangeArrowheads="1"/>
          </p:cNvSpPr>
          <p:nvPr/>
        </p:nvSpPr>
        <p:spPr bwMode="auto">
          <a:xfrm>
            <a:off x="4648200" y="2286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8809" name="Text Box 41"/>
          <p:cNvSpPr txBox="1">
            <a:spLocks noChangeArrowheads="1"/>
          </p:cNvSpPr>
          <p:nvPr/>
        </p:nvSpPr>
        <p:spPr bwMode="auto">
          <a:xfrm>
            <a:off x="45720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8810" name="Text Box 42"/>
          <p:cNvSpPr txBox="1">
            <a:spLocks noChangeArrowheads="1"/>
          </p:cNvSpPr>
          <p:nvPr/>
        </p:nvSpPr>
        <p:spPr bwMode="auto">
          <a:xfrm>
            <a:off x="6096000" y="3733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8811" name="Text Box 43"/>
          <p:cNvSpPr txBox="1">
            <a:spLocks noChangeArrowheads="1"/>
          </p:cNvSpPr>
          <p:nvPr/>
        </p:nvSpPr>
        <p:spPr bwMode="auto">
          <a:xfrm>
            <a:off x="3581400" y="3733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8</a:t>
            </a:r>
          </a:p>
        </p:txBody>
      </p:sp>
      <p:sp>
        <p:nvSpPr>
          <p:cNvPr id="1568812" name="Text Box 44"/>
          <p:cNvSpPr txBox="1">
            <a:spLocks noChangeArrowheads="1"/>
          </p:cNvSpPr>
          <p:nvPr/>
        </p:nvSpPr>
        <p:spPr bwMode="auto">
          <a:xfrm>
            <a:off x="7848600" y="2438401"/>
            <a:ext cx="20526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Distance to node</a:t>
            </a:r>
          </a:p>
        </p:txBody>
      </p:sp>
      <p:sp>
        <p:nvSpPr>
          <p:cNvPr id="1568813" name="Text Box 45"/>
          <p:cNvSpPr txBox="1">
            <a:spLocks noChangeArrowheads="1"/>
          </p:cNvSpPr>
          <p:nvPr/>
        </p:nvSpPr>
        <p:spPr bwMode="auto">
          <a:xfrm>
            <a:off x="9372600" y="28956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568814" name="Text Box 46"/>
          <p:cNvSpPr txBox="1">
            <a:spLocks noChangeArrowheads="1"/>
          </p:cNvSpPr>
          <p:nvPr/>
        </p:nvSpPr>
        <p:spPr bwMode="auto">
          <a:xfrm>
            <a:off x="93726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8815" name="Text Box 47"/>
          <p:cNvSpPr txBox="1">
            <a:spLocks noChangeArrowheads="1"/>
          </p:cNvSpPr>
          <p:nvPr/>
        </p:nvSpPr>
        <p:spPr bwMode="auto">
          <a:xfrm>
            <a:off x="93726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8816" name="Text Box 48"/>
          <p:cNvSpPr txBox="1">
            <a:spLocks noChangeArrowheads="1"/>
          </p:cNvSpPr>
          <p:nvPr/>
        </p:nvSpPr>
        <p:spPr bwMode="auto">
          <a:xfrm>
            <a:off x="93726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8817" name="Text Box 49"/>
          <p:cNvSpPr txBox="1">
            <a:spLocks noChangeArrowheads="1"/>
          </p:cNvSpPr>
          <p:nvPr/>
        </p:nvSpPr>
        <p:spPr bwMode="auto">
          <a:xfrm>
            <a:off x="93726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68818" name="Text Box 50"/>
          <p:cNvSpPr txBox="1">
            <a:spLocks noChangeArrowheads="1"/>
          </p:cNvSpPr>
          <p:nvPr/>
        </p:nvSpPr>
        <p:spPr bwMode="auto">
          <a:xfrm>
            <a:off x="7086601" y="4876801"/>
            <a:ext cx="3270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sp>
        <p:nvSpPr>
          <p:cNvPr id="1568819" name="Text Box 51"/>
          <p:cNvSpPr txBox="1">
            <a:spLocks noChangeArrowheads="1"/>
          </p:cNvSpPr>
          <p:nvPr/>
        </p:nvSpPr>
        <p:spPr bwMode="auto">
          <a:xfrm>
            <a:off x="78486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8820" name="Text Box 52"/>
          <p:cNvSpPr txBox="1">
            <a:spLocks noChangeArrowheads="1"/>
          </p:cNvSpPr>
          <p:nvPr/>
        </p:nvSpPr>
        <p:spPr bwMode="auto">
          <a:xfrm>
            <a:off x="83058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8</a:t>
            </a:r>
          </a:p>
        </p:txBody>
      </p:sp>
      <p:sp>
        <p:nvSpPr>
          <p:cNvPr id="1568821" name="Text Box 53"/>
          <p:cNvSpPr txBox="1">
            <a:spLocks noChangeArrowheads="1"/>
          </p:cNvSpPr>
          <p:nvPr/>
        </p:nvSpPr>
        <p:spPr bwMode="auto">
          <a:xfrm>
            <a:off x="89154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4</a:t>
            </a:r>
          </a:p>
        </p:txBody>
      </p:sp>
      <p:sp>
        <p:nvSpPr>
          <p:cNvPr id="1568822" name="Text Box 54"/>
          <p:cNvSpPr txBox="1">
            <a:spLocks noChangeArrowheads="1"/>
          </p:cNvSpPr>
          <p:nvPr/>
        </p:nvSpPr>
        <p:spPr bwMode="auto">
          <a:xfrm>
            <a:off x="93726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8823" name="Text Box 55"/>
          <p:cNvSpPr txBox="1">
            <a:spLocks noChangeArrowheads="1"/>
          </p:cNvSpPr>
          <p:nvPr/>
        </p:nvSpPr>
        <p:spPr bwMode="auto">
          <a:xfrm>
            <a:off x="99060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8824" name="Text Box 56"/>
          <p:cNvSpPr txBox="1">
            <a:spLocks noChangeArrowheads="1"/>
          </p:cNvSpPr>
          <p:nvPr/>
        </p:nvSpPr>
        <p:spPr bwMode="auto">
          <a:xfrm>
            <a:off x="99060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chemeClr val="accent2"/>
                </a:solidFill>
                <a:latin typeface="Comic Sans MS" panose="030F0702030302020204" pitchFamily="66" charset="0"/>
              </a:rPr>
              <a:t>8</a:t>
            </a:r>
          </a:p>
        </p:txBody>
      </p:sp>
      <p:sp>
        <p:nvSpPr>
          <p:cNvPr id="1568825" name="Text Box 57"/>
          <p:cNvSpPr txBox="1">
            <a:spLocks noChangeArrowheads="1"/>
          </p:cNvSpPr>
          <p:nvPr/>
        </p:nvSpPr>
        <p:spPr bwMode="auto">
          <a:xfrm>
            <a:off x="99060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8826" name="Text Box 58"/>
          <p:cNvSpPr txBox="1">
            <a:spLocks noChangeArrowheads="1"/>
          </p:cNvSpPr>
          <p:nvPr/>
        </p:nvSpPr>
        <p:spPr bwMode="auto">
          <a:xfrm>
            <a:off x="99060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8827" name="Text Box 59"/>
          <p:cNvSpPr txBox="1">
            <a:spLocks noChangeArrowheads="1"/>
          </p:cNvSpPr>
          <p:nvPr/>
        </p:nvSpPr>
        <p:spPr bwMode="auto">
          <a:xfrm>
            <a:off x="99060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68828" name="Text Box 60"/>
          <p:cNvSpPr txBox="1">
            <a:spLocks noChangeArrowheads="1"/>
          </p:cNvSpPr>
          <p:nvPr/>
        </p:nvSpPr>
        <p:spPr bwMode="auto">
          <a:xfrm>
            <a:off x="9906001" y="2895601"/>
            <a:ext cx="3270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sp>
        <p:nvSpPr>
          <p:cNvPr id="1568829" name="Line 61"/>
          <p:cNvSpPr>
            <a:spLocks noChangeShapeType="1"/>
          </p:cNvSpPr>
          <p:nvPr/>
        </p:nvSpPr>
        <p:spPr bwMode="auto">
          <a:xfrm flipH="1">
            <a:off x="2362200" y="3276600"/>
            <a:ext cx="381000" cy="381000"/>
          </a:xfrm>
          <a:prstGeom prst="line">
            <a:avLst/>
          </a:prstGeom>
          <a:noFill/>
          <a:ln w="9525">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8830" name="Rectangle 62"/>
          <p:cNvSpPr>
            <a:spLocks noGrp="1" noChangeArrowheads="1"/>
          </p:cNvSpPr>
          <p:nvPr>
            <p:ph type="title"/>
          </p:nvPr>
        </p:nvSpPr>
        <p:spPr bwMode="auto">
          <a:xfrm>
            <a:off x="2209800" y="168274"/>
            <a:ext cx="7772400" cy="730251"/>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en-US" altLang="zh-CN"/>
              <a:t>A </a:t>
            </a:r>
            <a:r>
              <a:rPr lang="zh-CN" altLang="en-US"/>
              <a:t>接收 </a:t>
            </a:r>
            <a:r>
              <a:rPr lang="en-US" altLang="zh-CN"/>
              <a:t>B</a:t>
            </a:r>
            <a:r>
              <a:rPr lang="zh-CN" altLang="en-US"/>
              <a:t>的路由</a:t>
            </a:r>
          </a:p>
        </p:txBody>
      </p:sp>
    </p:spTree>
    <p:extLst>
      <p:ext uri="{BB962C8B-B14F-4D97-AF65-F5344CB8AC3E}">
        <p14:creationId xmlns:p14="http://schemas.microsoft.com/office/powerpoint/2010/main" val="891649618"/>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9795" name="Rectangle 3"/>
          <p:cNvSpPr>
            <a:spLocks noChangeArrowheads="1"/>
          </p:cNvSpPr>
          <p:nvPr/>
        </p:nvSpPr>
        <p:spPr bwMode="auto">
          <a:xfrm>
            <a:off x="3505200" y="2743200"/>
            <a:ext cx="2514600" cy="2209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9796" name="Line 4"/>
          <p:cNvSpPr>
            <a:spLocks noChangeShapeType="1"/>
          </p:cNvSpPr>
          <p:nvPr/>
        </p:nvSpPr>
        <p:spPr bwMode="auto">
          <a:xfrm flipH="1">
            <a:off x="2286000" y="2743200"/>
            <a:ext cx="121920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9797" name="Line 5"/>
          <p:cNvSpPr>
            <a:spLocks noChangeShapeType="1"/>
          </p:cNvSpPr>
          <p:nvPr/>
        </p:nvSpPr>
        <p:spPr bwMode="auto">
          <a:xfrm>
            <a:off x="2286000" y="3962400"/>
            <a:ext cx="1219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9798" name="Oval 6"/>
          <p:cNvSpPr>
            <a:spLocks noChangeArrowheads="1"/>
          </p:cNvSpPr>
          <p:nvPr/>
        </p:nvSpPr>
        <p:spPr bwMode="auto">
          <a:xfrm>
            <a:off x="1905000" y="3733800"/>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9799" name="Text Box 7"/>
          <p:cNvSpPr txBox="1">
            <a:spLocks noChangeArrowheads="1"/>
          </p:cNvSpPr>
          <p:nvPr/>
        </p:nvSpPr>
        <p:spPr bwMode="auto">
          <a:xfrm>
            <a:off x="1939925" y="3749676"/>
            <a:ext cx="350838" cy="366713"/>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569800" name="Oval 8"/>
          <p:cNvSpPr>
            <a:spLocks noChangeArrowheads="1"/>
          </p:cNvSpPr>
          <p:nvPr/>
        </p:nvSpPr>
        <p:spPr bwMode="auto">
          <a:xfrm>
            <a:off x="3317875" y="24987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9801" name="Text Box 9"/>
          <p:cNvSpPr txBox="1">
            <a:spLocks noChangeArrowheads="1"/>
          </p:cNvSpPr>
          <p:nvPr/>
        </p:nvSpPr>
        <p:spPr bwMode="auto">
          <a:xfrm>
            <a:off x="3352801" y="2514601"/>
            <a:ext cx="328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569802" name="Oval 10"/>
          <p:cNvSpPr>
            <a:spLocks noChangeArrowheads="1"/>
          </p:cNvSpPr>
          <p:nvPr/>
        </p:nvSpPr>
        <p:spPr bwMode="auto">
          <a:xfrm>
            <a:off x="3317875" y="47847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9803" name="Text Box 11"/>
          <p:cNvSpPr txBox="1">
            <a:spLocks noChangeArrowheads="1"/>
          </p:cNvSpPr>
          <p:nvPr/>
        </p:nvSpPr>
        <p:spPr bwMode="auto">
          <a:xfrm>
            <a:off x="3352801" y="4800601"/>
            <a:ext cx="327025" cy="366713"/>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sp>
        <p:nvSpPr>
          <p:cNvPr id="1569804" name="Oval 12"/>
          <p:cNvSpPr>
            <a:spLocks noChangeArrowheads="1"/>
          </p:cNvSpPr>
          <p:nvPr/>
        </p:nvSpPr>
        <p:spPr bwMode="auto">
          <a:xfrm>
            <a:off x="5756275" y="24987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9805" name="Text Box 13"/>
          <p:cNvSpPr txBox="1">
            <a:spLocks noChangeArrowheads="1"/>
          </p:cNvSpPr>
          <p:nvPr/>
        </p:nvSpPr>
        <p:spPr bwMode="auto">
          <a:xfrm>
            <a:off x="5791200" y="2514601"/>
            <a:ext cx="325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569806" name="Oval 14"/>
          <p:cNvSpPr>
            <a:spLocks noChangeArrowheads="1"/>
          </p:cNvSpPr>
          <p:nvPr/>
        </p:nvSpPr>
        <p:spPr bwMode="auto">
          <a:xfrm>
            <a:off x="5832475" y="47085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9807" name="Text Box 15"/>
          <p:cNvSpPr txBox="1">
            <a:spLocks noChangeArrowheads="1"/>
          </p:cNvSpPr>
          <p:nvPr/>
        </p:nvSpPr>
        <p:spPr bwMode="auto">
          <a:xfrm>
            <a:off x="5867400" y="4724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569808" name="Line 16"/>
          <p:cNvSpPr>
            <a:spLocks noChangeShapeType="1"/>
          </p:cNvSpPr>
          <p:nvPr/>
        </p:nvSpPr>
        <p:spPr bwMode="auto">
          <a:xfrm>
            <a:off x="6553200" y="3276600"/>
            <a:ext cx="388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9809" name="Line 17"/>
          <p:cNvSpPr>
            <a:spLocks noChangeShapeType="1"/>
          </p:cNvSpPr>
          <p:nvPr/>
        </p:nvSpPr>
        <p:spPr bwMode="auto">
          <a:xfrm>
            <a:off x="7620000" y="2667000"/>
            <a:ext cx="0" cy="2514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9810" name="Text Box 18"/>
          <p:cNvSpPr txBox="1">
            <a:spLocks noChangeArrowheads="1"/>
          </p:cNvSpPr>
          <p:nvPr/>
        </p:nvSpPr>
        <p:spPr bwMode="auto">
          <a:xfrm>
            <a:off x="6629400" y="2667000"/>
            <a:ext cx="9985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Info at</a:t>
            </a:r>
          </a:p>
          <a:p>
            <a:r>
              <a:rPr lang="en-US" altLang="zh-CN" b="1">
                <a:latin typeface="Comic Sans MS" panose="030F0702030302020204" pitchFamily="66" charset="0"/>
              </a:rPr>
              <a:t>node</a:t>
            </a:r>
          </a:p>
        </p:txBody>
      </p:sp>
      <p:sp>
        <p:nvSpPr>
          <p:cNvPr id="1569811" name="Text Box 19"/>
          <p:cNvSpPr txBox="1">
            <a:spLocks noChangeArrowheads="1"/>
          </p:cNvSpPr>
          <p:nvPr/>
        </p:nvSpPr>
        <p:spPr bwMode="auto">
          <a:xfrm>
            <a:off x="7070725" y="3394076"/>
            <a:ext cx="3508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569812" name="Text Box 20"/>
          <p:cNvSpPr txBox="1">
            <a:spLocks noChangeArrowheads="1"/>
          </p:cNvSpPr>
          <p:nvPr/>
        </p:nvSpPr>
        <p:spPr bwMode="auto">
          <a:xfrm>
            <a:off x="7086601" y="3733801"/>
            <a:ext cx="328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569813" name="Text Box 21"/>
          <p:cNvSpPr txBox="1">
            <a:spLocks noChangeArrowheads="1"/>
          </p:cNvSpPr>
          <p:nvPr/>
        </p:nvSpPr>
        <p:spPr bwMode="auto">
          <a:xfrm>
            <a:off x="7086600" y="4114801"/>
            <a:ext cx="325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569814" name="Text Box 22"/>
          <p:cNvSpPr txBox="1">
            <a:spLocks noChangeArrowheads="1"/>
          </p:cNvSpPr>
          <p:nvPr/>
        </p:nvSpPr>
        <p:spPr bwMode="auto">
          <a:xfrm>
            <a:off x="7086600" y="44958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569815" name="Text Box 23"/>
          <p:cNvSpPr txBox="1">
            <a:spLocks noChangeArrowheads="1"/>
          </p:cNvSpPr>
          <p:nvPr/>
        </p:nvSpPr>
        <p:spPr bwMode="auto">
          <a:xfrm>
            <a:off x="7848600" y="2895601"/>
            <a:ext cx="3508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569816" name="Text Box 24"/>
          <p:cNvSpPr txBox="1">
            <a:spLocks noChangeArrowheads="1"/>
          </p:cNvSpPr>
          <p:nvPr/>
        </p:nvSpPr>
        <p:spPr bwMode="auto">
          <a:xfrm>
            <a:off x="8305801" y="2895601"/>
            <a:ext cx="328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569817" name="Text Box 25"/>
          <p:cNvSpPr txBox="1">
            <a:spLocks noChangeArrowheads="1"/>
          </p:cNvSpPr>
          <p:nvPr/>
        </p:nvSpPr>
        <p:spPr bwMode="auto">
          <a:xfrm>
            <a:off x="8915400" y="2895601"/>
            <a:ext cx="325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569818" name="Text Box 26"/>
          <p:cNvSpPr txBox="1">
            <a:spLocks noChangeArrowheads="1"/>
          </p:cNvSpPr>
          <p:nvPr/>
        </p:nvSpPr>
        <p:spPr bwMode="auto">
          <a:xfrm>
            <a:off x="78486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69819" name="Text Box 27"/>
          <p:cNvSpPr txBox="1">
            <a:spLocks noChangeArrowheads="1"/>
          </p:cNvSpPr>
          <p:nvPr/>
        </p:nvSpPr>
        <p:spPr bwMode="auto">
          <a:xfrm>
            <a:off x="83058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7</a:t>
            </a:r>
          </a:p>
        </p:txBody>
      </p:sp>
      <p:sp>
        <p:nvSpPr>
          <p:cNvPr id="1569820" name="Text Box 28"/>
          <p:cNvSpPr txBox="1">
            <a:spLocks noChangeArrowheads="1"/>
          </p:cNvSpPr>
          <p:nvPr/>
        </p:nvSpPr>
        <p:spPr bwMode="auto">
          <a:xfrm>
            <a:off x="89154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8</a:t>
            </a:r>
            <a:endParaRPr lang="en-US" altLang="zh-CN" b="1">
              <a:latin typeface="Comic Sans MS" panose="030F0702030302020204" pitchFamily="66" charset="0"/>
            </a:endParaRPr>
          </a:p>
        </p:txBody>
      </p:sp>
      <p:sp>
        <p:nvSpPr>
          <p:cNvPr id="1569821" name="Text Box 29"/>
          <p:cNvSpPr txBox="1">
            <a:spLocks noChangeArrowheads="1"/>
          </p:cNvSpPr>
          <p:nvPr/>
        </p:nvSpPr>
        <p:spPr bwMode="auto">
          <a:xfrm>
            <a:off x="78486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7</a:t>
            </a:r>
          </a:p>
        </p:txBody>
      </p:sp>
      <p:sp>
        <p:nvSpPr>
          <p:cNvPr id="1569822" name="Text Box 30"/>
          <p:cNvSpPr txBox="1">
            <a:spLocks noChangeArrowheads="1"/>
          </p:cNvSpPr>
          <p:nvPr/>
        </p:nvSpPr>
        <p:spPr bwMode="auto">
          <a:xfrm>
            <a:off x="83058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69823" name="Text Box 31"/>
          <p:cNvSpPr txBox="1">
            <a:spLocks noChangeArrowheads="1"/>
          </p:cNvSpPr>
          <p:nvPr/>
        </p:nvSpPr>
        <p:spPr bwMode="auto">
          <a:xfrm>
            <a:off x="89154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9824" name="Text Box 32"/>
          <p:cNvSpPr txBox="1">
            <a:spLocks noChangeArrowheads="1"/>
          </p:cNvSpPr>
          <p:nvPr/>
        </p:nvSpPr>
        <p:spPr bwMode="auto">
          <a:xfrm>
            <a:off x="78486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9825" name="Text Box 33"/>
          <p:cNvSpPr txBox="1">
            <a:spLocks noChangeArrowheads="1"/>
          </p:cNvSpPr>
          <p:nvPr/>
        </p:nvSpPr>
        <p:spPr bwMode="auto">
          <a:xfrm>
            <a:off x="83058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9826" name="Text Box 34"/>
          <p:cNvSpPr txBox="1">
            <a:spLocks noChangeArrowheads="1"/>
          </p:cNvSpPr>
          <p:nvPr/>
        </p:nvSpPr>
        <p:spPr bwMode="auto">
          <a:xfrm>
            <a:off x="89154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69827" name="Text Box 35"/>
          <p:cNvSpPr txBox="1">
            <a:spLocks noChangeArrowheads="1"/>
          </p:cNvSpPr>
          <p:nvPr/>
        </p:nvSpPr>
        <p:spPr bwMode="auto">
          <a:xfrm>
            <a:off x="78486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9828" name="Text Box 36"/>
          <p:cNvSpPr txBox="1">
            <a:spLocks noChangeArrowheads="1"/>
          </p:cNvSpPr>
          <p:nvPr/>
        </p:nvSpPr>
        <p:spPr bwMode="auto">
          <a:xfrm>
            <a:off x="83058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9829" name="Text Box 37"/>
          <p:cNvSpPr txBox="1">
            <a:spLocks noChangeArrowheads="1"/>
          </p:cNvSpPr>
          <p:nvPr/>
        </p:nvSpPr>
        <p:spPr bwMode="auto">
          <a:xfrm>
            <a:off x="89154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9830" name="Text Box 38"/>
          <p:cNvSpPr txBox="1">
            <a:spLocks noChangeArrowheads="1"/>
          </p:cNvSpPr>
          <p:nvPr/>
        </p:nvSpPr>
        <p:spPr bwMode="auto">
          <a:xfrm>
            <a:off x="2438400" y="2971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7</a:t>
            </a:r>
          </a:p>
        </p:txBody>
      </p:sp>
      <p:sp>
        <p:nvSpPr>
          <p:cNvPr id="1569831" name="Text Box 39"/>
          <p:cNvSpPr txBox="1">
            <a:spLocks noChangeArrowheads="1"/>
          </p:cNvSpPr>
          <p:nvPr/>
        </p:nvSpPr>
        <p:spPr bwMode="auto">
          <a:xfrm>
            <a:off x="23622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9832" name="Text Box 40"/>
          <p:cNvSpPr txBox="1">
            <a:spLocks noChangeArrowheads="1"/>
          </p:cNvSpPr>
          <p:nvPr/>
        </p:nvSpPr>
        <p:spPr bwMode="auto">
          <a:xfrm>
            <a:off x="4648200" y="2286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9833" name="Text Box 41"/>
          <p:cNvSpPr txBox="1">
            <a:spLocks noChangeArrowheads="1"/>
          </p:cNvSpPr>
          <p:nvPr/>
        </p:nvSpPr>
        <p:spPr bwMode="auto">
          <a:xfrm>
            <a:off x="45720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9834" name="Text Box 42"/>
          <p:cNvSpPr txBox="1">
            <a:spLocks noChangeArrowheads="1"/>
          </p:cNvSpPr>
          <p:nvPr/>
        </p:nvSpPr>
        <p:spPr bwMode="auto">
          <a:xfrm>
            <a:off x="6096000" y="3733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9835" name="Text Box 43"/>
          <p:cNvSpPr txBox="1">
            <a:spLocks noChangeArrowheads="1"/>
          </p:cNvSpPr>
          <p:nvPr/>
        </p:nvSpPr>
        <p:spPr bwMode="auto">
          <a:xfrm>
            <a:off x="3581400" y="3733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8</a:t>
            </a:r>
          </a:p>
        </p:txBody>
      </p:sp>
      <p:sp>
        <p:nvSpPr>
          <p:cNvPr id="1569836" name="Text Box 44"/>
          <p:cNvSpPr txBox="1">
            <a:spLocks noChangeArrowheads="1"/>
          </p:cNvSpPr>
          <p:nvPr/>
        </p:nvSpPr>
        <p:spPr bwMode="auto">
          <a:xfrm>
            <a:off x="7848600" y="2438401"/>
            <a:ext cx="20526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Distance to node</a:t>
            </a:r>
          </a:p>
        </p:txBody>
      </p:sp>
      <p:sp>
        <p:nvSpPr>
          <p:cNvPr id="1569837" name="Text Box 45"/>
          <p:cNvSpPr txBox="1">
            <a:spLocks noChangeArrowheads="1"/>
          </p:cNvSpPr>
          <p:nvPr/>
        </p:nvSpPr>
        <p:spPr bwMode="auto">
          <a:xfrm>
            <a:off x="9372600" y="28956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569838" name="Text Box 46"/>
          <p:cNvSpPr txBox="1">
            <a:spLocks noChangeArrowheads="1"/>
          </p:cNvSpPr>
          <p:nvPr/>
        </p:nvSpPr>
        <p:spPr bwMode="auto">
          <a:xfrm>
            <a:off x="93726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9839" name="Text Box 47"/>
          <p:cNvSpPr txBox="1">
            <a:spLocks noChangeArrowheads="1"/>
          </p:cNvSpPr>
          <p:nvPr/>
        </p:nvSpPr>
        <p:spPr bwMode="auto">
          <a:xfrm>
            <a:off x="93726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9840" name="Text Box 48"/>
          <p:cNvSpPr txBox="1">
            <a:spLocks noChangeArrowheads="1"/>
          </p:cNvSpPr>
          <p:nvPr/>
        </p:nvSpPr>
        <p:spPr bwMode="auto">
          <a:xfrm>
            <a:off x="93726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9841" name="Text Box 49"/>
          <p:cNvSpPr txBox="1">
            <a:spLocks noChangeArrowheads="1"/>
          </p:cNvSpPr>
          <p:nvPr/>
        </p:nvSpPr>
        <p:spPr bwMode="auto">
          <a:xfrm>
            <a:off x="93726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69842" name="Text Box 50"/>
          <p:cNvSpPr txBox="1">
            <a:spLocks noChangeArrowheads="1"/>
          </p:cNvSpPr>
          <p:nvPr/>
        </p:nvSpPr>
        <p:spPr bwMode="auto">
          <a:xfrm>
            <a:off x="7086601" y="4876801"/>
            <a:ext cx="3270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sp>
        <p:nvSpPr>
          <p:cNvPr id="1569843" name="Text Box 51"/>
          <p:cNvSpPr txBox="1">
            <a:spLocks noChangeArrowheads="1"/>
          </p:cNvSpPr>
          <p:nvPr/>
        </p:nvSpPr>
        <p:spPr bwMode="auto">
          <a:xfrm>
            <a:off x="78486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9844" name="Text Box 52"/>
          <p:cNvSpPr txBox="1">
            <a:spLocks noChangeArrowheads="1"/>
          </p:cNvSpPr>
          <p:nvPr/>
        </p:nvSpPr>
        <p:spPr bwMode="auto">
          <a:xfrm>
            <a:off x="83058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8</a:t>
            </a:r>
          </a:p>
        </p:txBody>
      </p:sp>
      <p:sp>
        <p:nvSpPr>
          <p:cNvPr id="1569845" name="Text Box 53"/>
          <p:cNvSpPr txBox="1">
            <a:spLocks noChangeArrowheads="1"/>
          </p:cNvSpPr>
          <p:nvPr/>
        </p:nvSpPr>
        <p:spPr bwMode="auto">
          <a:xfrm>
            <a:off x="89154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4</a:t>
            </a:r>
          </a:p>
        </p:txBody>
      </p:sp>
      <p:sp>
        <p:nvSpPr>
          <p:cNvPr id="1569846" name="Text Box 54"/>
          <p:cNvSpPr txBox="1">
            <a:spLocks noChangeArrowheads="1"/>
          </p:cNvSpPr>
          <p:nvPr/>
        </p:nvSpPr>
        <p:spPr bwMode="auto">
          <a:xfrm>
            <a:off x="93726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9847" name="Text Box 55"/>
          <p:cNvSpPr txBox="1">
            <a:spLocks noChangeArrowheads="1"/>
          </p:cNvSpPr>
          <p:nvPr/>
        </p:nvSpPr>
        <p:spPr bwMode="auto">
          <a:xfrm>
            <a:off x="99060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69848" name="Text Box 56"/>
          <p:cNvSpPr txBox="1">
            <a:spLocks noChangeArrowheads="1"/>
          </p:cNvSpPr>
          <p:nvPr/>
        </p:nvSpPr>
        <p:spPr bwMode="auto">
          <a:xfrm>
            <a:off x="99060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8</a:t>
            </a:r>
          </a:p>
        </p:txBody>
      </p:sp>
      <p:sp>
        <p:nvSpPr>
          <p:cNvPr id="1569849" name="Text Box 57"/>
          <p:cNvSpPr txBox="1">
            <a:spLocks noChangeArrowheads="1"/>
          </p:cNvSpPr>
          <p:nvPr/>
        </p:nvSpPr>
        <p:spPr bwMode="auto">
          <a:xfrm>
            <a:off x="99060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69850" name="Text Box 58"/>
          <p:cNvSpPr txBox="1">
            <a:spLocks noChangeArrowheads="1"/>
          </p:cNvSpPr>
          <p:nvPr/>
        </p:nvSpPr>
        <p:spPr bwMode="auto">
          <a:xfrm>
            <a:off x="99060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69851" name="Text Box 59"/>
          <p:cNvSpPr txBox="1">
            <a:spLocks noChangeArrowheads="1"/>
          </p:cNvSpPr>
          <p:nvPr/>
        </p:nvSpPr>
        <p:spPr bwMode="auto">
          <a:xfrm>
            <a:off x="99060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69852" name="Text Box 60"/>
          <p:cNvSpPr txBox="1">
            <a:spLocks noChangeArrowheads="1"/>
          </p:cNvSpPr>
          <p:nvPr/>
        </p:nvSpPr>
        <p:spPr bwMode="auto">
          <a:xfrm>
            <a:off x="9906001" y="2895601"/>
            <a:ext cx="3270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sp>
        <p:nvSpPr>
          <p:cNvPr id="1569853" name="Rectangle 61"/>
          <p:cNvSpPr>
            <a:spLocks noGrp="1" noChangeArrowheads="1"/>
          </p:cNvSpPr>
          <p:nvPr>
            <p:ph type="title"/>
          </p:nvPr>
        </p:nvSpPr>
        <p:spPr bwMode="auto">
          <a:xfrm>
            <a:off x="2209800" y="203995"/>
            <a:ext cx="7772400" cy="710406"/>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en-US" altLang="zh-CN"/>
              <a:t>A </a:t>
            </a:r>
            <a:r>
              <a:rPr lang="zh-CN" altLang="en-US"/>
              <a:t>更新到 </a:t>
            </a:r>
            <a:r>
              <a:rPr lang="en-US" altLang="zh-CN"/>
              <a:t>C</a:t>
            </a:r>
            <a:r>
              <a:rPr lang="zh-CN" altLang="en-US"/>
              <a:t>的路由</a:t>
            </a:r>
          </a:p>
        </p:txBody>
      </p:sp>
    </p:spTree>
    <p:extLst>
      <p:ext uri="{BB962C8B-B14F-4D97-AF65-F5344CB8AC3E}">
        <p14:creationId xmlns:p14="http://schemas.microsoft.com/office/powerpoint/2010/main" val="900606007"/>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0819" name="Rectangle 3"/>
          <p:cNvSpPr>
            <a:spLocks noChangeArrowheads="1"/>
          </p:cNvSpPr>
          <p:nvPr/>
        </p:nvSpPr>
        <p:spPr bwMode="auto">
          <a:xfrm>
            <a:off x="3505200" y="2743200"/>
            <a:ext cx="2514600" cy="2209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0820" name="Line 4"/>
          <p:cNvSpPr>
            <a:spLocks noChangeShapeType="1"/>
          </p:cNvSpPr>
          <p:nvPr/>
        </p:nvSpPr>
        <p:spPr bwMode="auto">
          <a:xfrm flipH="1">
            <a:off x="2286000" y="2743200"/>
            <a:ext cx="121920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0821" name="Line 5"/>
          <p:cNvSpPr>
            <a:spLocks noChangeShapeType="1"/>
          </p:cNvSpPr>
          <p:nvPr/>
        </p:nvSpPr>
        <p:spPr bwMode="auto">
          <a:xfrm>
            <a:off x="2286000" y="3962400"/>
            <a:ext cx="1219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0822" name="Oval 6"/>
          <p:cNvSpPr>
            <a:spLocks noChangeArrowheads="1"/>
          </p:cNvSpPr>
          <p:nvPr/>
        </p:nvSpPr>
        <p:spPr bwMode="auto">
          <a:xfrm>
            <a:off x="1905000" y="3733800"/>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0823" name="Text Box 7"/>
          <p:cNvSpPr txBox="1">
            <a:spLocks noChangeArrowheads="1"/>
          </p:cNvSpPr>
          <p:nvPr/>
        </p:nvSpPr>
        <p:spPr bwMode="auto">
          <a:xfrm>
            <a:off x="1939925" y="3749676"/>
            <a:ext cx="350838" cy="366713"/>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570824" name="Oval 8"/>
          <p:cNvSpPr>
            <a:spLocks noChangeArrowheads="1"/>
          </p:cNvSpPr>
          <p:nvPr/>
        </p:nvSpPr>
        <p:spPr bwMode="auto">
          <a:xfrm>
            <a:off x="3317875" y="24987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0825" name="Text Box 9"/>
          <p:cNvSpPr txBox="1">
            <a:spLocks noChangeArrowheads="1"/>
          </p:cNvSpPr>
          <p:nvPr/>
        </p:nvSpPr>
        <p:spPr bwMode="auto">
          <a:xfrm>
            <a:off x="3352801" y="2514601"/>
            <a:ext cx="328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570826" name="Oval 10"/>
          <p:cNvSpPr>
            <a:spLocks noChangeArrowheads="1"/>
          </p:cNvSpPr>
          <p:nvPr/>
        </p:nvSpPr>
        <p:spPr bwMode="auto">
          <a:xfrm>
            <a:off x="3317875" y="4784725"/>
            <a:ext cx="381000" cy="381000"/>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0827" name="Text Box 11"/>
          <p:cNvSpPr txBox="1">
            <a:spLocks noChangeArrowheads="1"/>
          </p:cNvSpPr>
          <p:nvPr/>
        </p:nvSpPr>
        <p:spPr bwMode="auto">
          <a:xfrm>
            <a:off x="3352801" y="4800601"/>
            <a:ext cx="327025" cy="366713"/>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sp>
        <p:nvSpPr>
          <p:cNvPr id="1570828" name="Oval 12"/>
          <p:cNvSpPr>
            <a:spLocks noChangeArrowheads="1"/>
          </p:cNvSpPr>
          <p:nvPr/>
        </p:nvSpPr>
        <p:spPr bwMode="auto">
          <a:xfrm>
            <a:off x="5756275" y="24987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0829" name="Text Box 13"/>
          <p:cNvSpPr txBox="1">
            <a:spLocks noChangeArrowheads="1"/>
          </p:cNvSpPr>
          <p:nvPr/>
        </p:nvSpPr>
        <p:spPr bwMode="auto">
          <a:xfrm>
            <a:off x="5791200" y="2514601"/>
            <a:ext cx="325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570830" name="Oval 14"/>
          <p:cNvSpPr>
            <a:spLocks noChangeArrowheads="1"/>
          </p:cNvSpPr>
          <p:nvPr/>
        </p:nvSpPr>
        <p:spPr bwMode="auto">
          <a:xfrm>
            <a:off x="5832475" y="47085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0831" name="Text Box 15"/>
          <p:cNvSpPr txBox="1">
            <a:spLocks noChangeArrowheads="1"/>
          </p:cNvSpPr>
          <p:nvPr/>
        </p:nvSpPr>
        <p:spPr bwMode="auto">
          <a:xfrm>
            <a:off x="5867400" y="4724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570832" name="Line 16"/>
          <p:cNvSpPr>
            <a:spLocks noChangeShapeType="1"/>
          </p:cNvSpPr>
          <p:nvPr/>
        </p:nvSpPr>
        <p:spPr bwMode="auto">
          <a:xfrm>
            <a:off x="6553200" y="3276600"/>
            <a:ext cx="388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0833" name="Line 17"/>
          <p:cNvSpPr>
            <a:spLocks noChangeShapeType="1"/>
          </p:cNvSpPr>
          <p:nvPr/>
        </p:nvSpPr>
        <p:spPr bwMode="auto">
          <a:xfrm>
            <a:off x="7620000" y="2667000"/>
            <a:ext cx="0" cy="2514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0834" name="Text Box 18"/>
          <p:cNvSpPr txBox="1">
            <a:spLocks noChangeArrowheads="1"/>
          </p:cNvSpPr>
          <p:nvPr/>
        </p:nvSpPr>
        <p:spPr bwMode="auto">
          <a:xfrm>
            <a:off x="6629400" y="2667000"/>
            <a:ext cx="9985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Info at</a:t>
            </a:r>
          </a:p>
          <a:p>
            <a:r>
              <a:rPr lang="en-US" altLang="zh-CN" b="1">
                <a:latin typeface="Comic Sans MS" panose="030F0702030302020204" pitchFamily="66" charset="0"/>
              </a:rPr>
              <a:t>node</a:t>
            </a:r>
          </a:p>
        </p:txBody>
      </p:sp>
      <p:sp>
        <p:nvSpPr>
          <p:cNvPr id="1570835" name="Text Box 19"/>
          <p:cNvSpPr txBox="1">
            <a:spLocks noChangeArrowheads="1"/>
          </p:cNvSpPr>
          <p:nvPr/>
        </p:nvSpPr>
        <p:spPr bwMode="auto">
          <a:xfrm>
            <a:off x="7070725" y="3394076"/>
            <a:ext cx="3508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570836" name="Text Box 20"/>
          <p:cNvSpPr txBox="1">
            <a:spLocks noChangeArrowheads="1"/>
          </p:cNvSpPr>
          <p:nvPr/>
        </p:nvSpPr>
        <p:spPr bwMode="auto">
          <a:xfrm>
            <a:off x="7086601" y="3733801"/>
            <a:ext cx="328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570837" name="Text Box 21"/>
          <p:cNvSpPr txBox="1">
            <a:spLocks noChangeArrowheads="1"/>
          </p:cNvSpPr>
          <p:nvPr/>
        </p:nvSpPr>
        <p:spPr bwMode="auto">
          <a:xfrm>
            <a:off x="7086600" y="4114801"/>
            <a:ext cx="325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570838" name="Text Box 22"/>
          <p:cNvSpPr txBox="1">
            <a:spLocks noChangeArrowheads="1"/>
          </p:cNvSpPr>
          <p:nvPr/>
        </p:nvSpPr>
        <p:spPr bwMode="auto">
          <a:xfrm>
            <a:off x="7086600" y="44958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570839" name="Text Box 23"/>
          <p:cNvSpPr txBox="1">
            <a:spLocks noChangeArrowheads="1"/>
          </p:cNvSpPr>
          <p:nvPr/>
        </p:nvSpPr>
        <p:spPr bwMode="auto">
          <a:xfrm>
            <a:off x="7848600" y="2895601"/>
            <a:ext cx="3508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570840" name="Text Box 24"/>
          <p:cNvSpPr txBox="1">
            <a:spLocks noChangeArrowheads="1"/>
          </p:cNvSpPr>
          <p:nvPr/>
        </p:nvSpPr>
        <p:spPr bwMode="auto">
          <a:xfrm>
            <a:off x="8305801" y="2895601"/>
            <a:ext cx="328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570841" name="Text Box 25"/>
          <p:cNvSpPr txBox="1">
            <a:spLocks noChangeArrowheads="1"/>
          </p:cNvSpPr>
          <p:nvPr/>
        </p:nvSpPr>
        <p:spPr bwMode="auto">
          <a:xfrm>
            <a:off x="8915400" y="2895601"/>
            <a:ext cx="325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570842" name="Text Box 26"/>
          <p:cNvSpPr txBox="1">
            <a:spLocks noChangeArrowheads="1"/>
          </p:cNvSpPr>
          <p:nvPr/>
        </p:nvSpPr>
        <p:spPr bwMode="auto">
          <a:xfrm>
            <a:off x="78486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70843" name="Text Box 27"/>
          <p:cNvSpPr txBox="1">
            <a:spLocks noChangeArrowheads="1"/>
          </p:cNvSpPr>
          <p:nvPr/>
        </p:nvSpPr>
        <p:spPr bwMode="auto">
          <a:xfrm>
            <a:off x="83058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7</a:t>
            </a:r>
          </a:p>
        </p:txBody>
      </p:sp>
      <p:sp>
        <p:nvSpPr>
          <p:cNvPr id="1570844" name="Text Box 28"/>
          <p:cNvSpPr txBox="1">
            <a:spLocks noChangeArrowheads="1"/>
          </p:cNvSpPr>
          <p:nvPr/>
        </p:nvSpPr>
        <p:spPr bwMode="auto">
          <a:xfrm>
            <a:off x="89154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8</a:t>
            </a:r>
            <a:endParaRPr lang="en-US" altLang="zh-CN" b="1">
              <a:latin typeface="Comic Sans MS" panose="030F0702030302020204" pitchFamily="66" charset="0"/>
            </a:endParaRPr>
          </a:p>
        </p:txBody>
      </p:sp>
      <p:sp>
        <p:nvSpPr>
          <p:cNvPr id="1570845" name="Text Box 29"/>
          <p:cNvSpPr txBox="1">
            <a:spLocks noChangeArrowheads="1"/>
          </p:cNvSpPr>
          <p:nvPr/>
        </p:nvSpPr>
        <p:spPr bwMode="auto">
          <a:xfrm>
            <a:off x="78486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7</a:t>
            </a:r>
          </a:p>
        </p:txBody>
      </p:sp>
      <p:sp>
        <p:nvSpPr>
          <p:cNvPr id="1570846" name="Text Box 30"/>
          <p:cNvSpPr txBox="1">
            <a:spLocks noChangeArrowheads="1"/>
          </p:cNvSpPr>
          <p:nvPr/>
        </p:nvSpPr>
        <p:spPr bwMode="auto">
          <a:xfrm>
            <a:off x="83058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70847" name="Text Box 31"/>
          <p:cNvSpPr txBox="1">
            <a:spLocks noChangeArrowheads="1"/>
          </p:cNvSpPr>
          <p:nvPr/>
        </p:nvSpPr>
        <p:spPr bwMode="auto">
          <a:xfrm>
            <a:off x="89154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70848" name="Text Box 32"/>
          <p:cNvSpPr txBox="1">
            <a:spLocks noChangeArrowheads="1"/>
          </p:cNvSpPr>
          <p:nvPr/>
        </p:nvSpPr>
        <p:spPr bwMode="auto">
          <a:xfrm>
            <a:off x="78486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70849" name="Text Box 33"/>
          <p:cNvSpPr txBox="1">
            <a:spLocks noChangeArrowheads="1"/>
          </p:cNvSpPr>
          <p:nvPr/>
        </p:nvSpPr>
        <p:spPr bwMode="auto">
          <a:xfrm>
            <a:off x="83058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70850" name="Text Box 34"/>
          <p:cNvSpPr txBox="1">
            <a:spLocks noChangeArrowheads="1"/>
          </p:cNvSpPr>
          <p:nvPr/>
        </p:nvSpPr>
        <p:spPr bwMode="auto">
          <a:xfrm>
            <a:off x="89154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70851" name="Text Box 35"/>
          <p:cNvSpPr txBox="1">
            <a:spLocks noChangeArrowheads="1"/>
          </p:cNvSpPr>
          <p:nvPr/>
        </p:nvSpPr>
        <p:spPr bwMode="auto">
          <a:xfrm>
            <a:off x="78486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70852" name="Text Box 36"/>
          <p:cNvSpPr txBox="1">
            <a:spLocks noChangeArrowheads="1"/>
          </p:cNvSpPr>
          <p:nvPr/>
        </p:nvSpPr>
        <p:spPr bwMode="auto">
          <a:xfrm>
            <a:off x="83058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70853" name="Text Box 37"/>
          <p:cNvSpPr txBox="1">
            <a:spLocks noChangeArrowheads="1"/>
          </p:cNvSpPr>
          <p:nvPr/>
        </p:nvSpPr>
        <p:spPr bwMode="auto">
          <a:xfrm>
            <a:off x="89154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70854" name="Text Box 38"/>
          <p:cNvSpPr txBox="1">
            <a:spLocks noChangeArrowheads="1"/>
          </p:cNvSpPr>
          <p:nvPr/>
        </p:nvSpPr>
        <p:spPr bwMode="auto">
          <a:xfrm>
            <a:off x="2438400" y="2971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7</a:t>
            </a:r>
          </a:p>
        </p:txBody>
      </p:sp>
      <p:sp>
        <p:nvSpPr>
          <p:cNvPr id="1570855" name="Text Box 39"/>
          <p:cNvSpPr txBox="1">
            <a:spLocks noChangeArrowheads="1"/>
          </p:cNvSpPr>
          <p:nvPr/>
        </p:nvSpPr>
        <p:spPr bwMode="auto">
          <a:xfrm>
            <a:off x="23622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70856" name="Text Box 40"/>
          <p:cNvSpPr txBox="1">
            <a:spLocks noChangeArrowheads="1"/>
          </p:cNvSpPr>
          <p:nvPr/>
        </p:nvSpPr>
        <p:spPr bwMode="auto">
          <a:xfrm>
            <a:off x="4648200" y="2286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70857" name="Text Box 41"/>
          <p:cNvSpPr txBox="1">
            <a:spLocks noChangeArrowheads="1"/>
          </p:cNvSpPr>
          <p:nvPr/>
        </p:nvSpPr>
        <p:spPr bwMode="auto">
          <a:xfrm>
            <a:off x="45720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70858" name="Text Box 42"/>
          <p:cNvSpPr txBox="1">
            <a:spLocks noChangeArrowheads="1"/>
          </p:cNvSpPr>
          <p:nvPr/>
        </p:nvSpPr>
        <p:spPr bwMode="auto">
          <a:xfrm>
            <a:off x="6096000" y="3733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70859" name="Text Box 43"/>
          <p:cNvSpPr txBox="1">
            <a:spLocks noChangeArrowheads="1"/>
          </p:cNvSpPr>
          <p:nvPr/>
        </p:nvSpPr>
        <p:spPr bwMode="auto">
          <a:xfrm>
            <a:off x="3581400" y="3733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8</a:t>
            </a:r>
          </a:p>
        </p:txBody>
      </p:sp>
      <p:sp>
        <p:nvSpPr>
          <p:cNvPr id="1570860" name="Text Box 44"/>
          <p:cNvSpPr txBox="1">
            <a:spLocks noChangeArrowheads="1"/>
          </p:cNvSpPr>
          <p:nvPr/>
        </p:nvSpPr>
        <p:spPr bwMode="auto">
          <a:xfrm>
            <a:off x="7848600" y="2438401"/>
            <a:ext cx="20526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Distance to node</a:t>
            </a:r>
          </a:p>
        </p:txBody>
      </p:sp>
      <p:sp>
        <p:nvSpPr>
          <p:cNvPr id="1570861" name="Text Box 45"/>
          <p:cNvSpPr txBox="1">
            <a:spLocks noChangeArrowheads="1"/>
          </p:cNvSpPr>
          <p:nvPr/>
        </p:nvSpPr>
        <p:spPr bwMode="auto">
          <a:xfrm>
            <a:off x="9372600" y="28956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570862" name="Text Box 46"/>
          <p:cNvSpPr txBox="1">
            <a:spLocks noChangeArrowheads="1"/>
          </p:cNvSpPr>
          <p:nvPr/>
        </p:nvSpPr>
        <p:spPr bwMode="auto">
          <a:xfrm>
            <a:off x="93726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70863" name="Text Box 47"/>
          <p:cNvSpPr txBox="1">
            <a:spLocks noChangeArrowheads="1"/>
          </p:cNvSpPr>
          <p:nvPr/>
        </p:nvSpPr>
        <p:spPr bwMode="auto">
          <a:xfrm>
            <a:off x="93726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70864" name="Text Box 48"/>
          <p:cNvSpPr txBox="1">
            <a:spLocks noChangeArrowheads="1"/>
          </p:cNvSpPr>
          <p:nvPr/>
        </p:nvSpPr>
        <p:spPr bwMode="auto">
          <a:xfrm>
            <a:off x="93726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70865" name="Text Box 49"/>
          <p:cNvSpPr txBox="1">
            <a:spLocks noChangeArrowheads="1"/>
          </p:cNvSpPr>
          <p:nvPr/>
        </p:nvSpPr>
        <p:spPr bwMode="auto">
          <a:xfrm>
            <a:off x="93726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70866" name="Text Box 50"/>
          <p:cNvSpPr txBox="1">
            <a:spLocks noChangeArrowheads="1"/>
          </p:cNvSpPr>
          <p:nvPr/>
        </p:nvSpPr>
        <p:spPr bwMode="auto">
          <a:xfrm>
            <a:off x="7086601" y="4876801"/>
            <a:ext cx="3270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sp>
        <p:nvSpPr>
          <p:cNvPr id="1570867" name="Text Box 51"/>
          <p:cNvSpPr txBox="1">
            <a:spLocks noChangeArrowheads="1"/>
          </p:cNvSpPr>
          <p:nvPr/>
        </p:nvSpPr>
        <p:spPr bwMode="auto">
          <a:xfrm>
            <a:off x="78486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chemeClr val="accent2"/>
                </a:solidFill>
                <a:latin typeface="Comic Sans MS" panose="030F0702030302020204" pitchFamily="66" charset="0"/>
              </a:rPr>
              <a:t>1</a:t>
            </a:r>
          </a:p>
        </p:txBody>
      </p:sp>
      <p:sp>
        <p:nvSpPr>
          <p:cNvPr id="1570868" name="Text Box 52"/>
          <p:cNvSpPr txBox="1">
            <a:spLocks noChangeArrowheads="1"/>
          </p:cNvSpPr>
          <p:nvPr/>
        </p:nvSpPr>
        <p:spPr bwMode="auto">
          <a:xfrm>
            <a:off x="83058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chemeClr val="accent2"/>
                </a:solidFill>
                <a:latin typeface="Comic Sans MS" panose="030F0702030302020204" pitchFamily="66" charset="0"/>
              </a:rPr>
              <a:t>8</a:t>
            </a:r>
          </a:p>
        </p:txBody>
      </p:sp>
      <p:sp>
        <p:nvSpPr>
          <p:cNvPr id="1570869" name="Text Box 53"/>
          <p:cNvSpPr txBox="1">
            <a:spLocks noChangeArrowheads="1"/>
          </p:cNvSpPr>
          <p:nvPr/>
        </p:nvSpPr>
        <p:spPr bwMode="auto">
          <a:xfrm>
            <a:off x="89154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4</a:t>
            </a:r>
          </a:p>
        </p:txBody>
      </p:sp>
      <p:sp>
        <p:nvSpPr>
          <p:cNvPr id="1570870" name="Text Box 54"/>
          <p:cNvSpPr txBox="1">
            <a:spLocks noChangeArrowheads="1"/>
          </p:cNvSpPr>
          <p:nvPr/>
        </p:nvSpPr>
        <p:spPr bwMode="auto">
          <a:xfrm>
            <a:off x="93726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chemeClr val="accent2"/>
                </a:solidFill>
                <a:latin typeface="Comic Sans MS" panose="030F0702030302020204" pitchFamily="66" charset="0"/>
              </a:rPr>
              <a:t>2</a:t>
            </a:r>
          </a:p>
        </p:txBody>
      </p:sp>
      <p:sp>
        <p:nvSpPr>
          <p:cNvPr id="1570871" name="Text Box 55"/>
          <p:cNvSpPr txBox="1">
            <a:spLocks noChangeArrowheads="1"/>
          </p:cNvSpPr>
          <p:nvPr/>
        </p:nvSpPr>
        <p:spPr bwMode="auto">
          <a:xfrm>
            <a:off x="99060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70872" name="Text Box 56"/>
          <p:cNvSpPr txBox="1">
            <a:spLocks noChangeArrowheads="1"/>
          </p:cNvSpPr>
          <p:nvPr/>
        </p:nvSpPr>
        <p:spPr bwMode="auto">
          <a:xfrm>
            <a:off x="99060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8</a:t>
            </a:r>
          </a:p>
        </p:txBody>
      </p:sp>
      <p:sp>
        <p:nvSpPr>
          <p:cNvPr id="1570873" name="Text Box 57"/>
          <p:cNvSpPr txBox="1">
            <a:spLocks noChangeArrowheads="1"/>
          </p:cNvSpPr>
          <p:nvPr/>
        </p:nvSpPr>
        <p:spPr bwMode="auto">
          <a:xfrm>
            <a:off x="99060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70874" name="Text Box 58"/>
          <p:cNvSpPr txBox="1">
            <a:spLocks noChangeArrowheads="1"/>
          </p:cNvSpPr>
          <p:nvPr/>
        </p:nvSpPr>
        <p:spPr bwMode="auto">
          <a:xfrm>
            <a:off x="99060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70875" name="Text Box 59"/>
          <p:cNvSpPr txBox="1">
            <a:spLocks noChangeArrowheads="1"/>
          </p:cNvSpPr>
          <p:nvPr/>
        </p:nvSpPr>
        <p:spPr bwMode="auto">
          <a:xfrm>
            <a:off x="99060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70876" name="Text Box 60"/>
          <p:cNvSpPr txBox="1">
            <a:spLocks noChangeArrowheads="1"/>
          </p:cNvSpPr>
          <p:nvPr/>
        </p:nvSpPr>
        <p:spPr bwMode="auto">
          <a:xfrm>
            <a:off x="9906001" y="2895601"/>
            <a:ext cx="3270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sp>
        <p:nvSpPr>
          <p:cNvPr id="1570877" name="Line 61"/>
          <p:cNvSpPr>
            <a:spLocks noChangeShapeType="1"/>
          </p:cNvSpPr>
          <p:nvPr/>
        </p:nvSpPr>
        <p:spPr bwMode="auto">
          <a:xfrm flipH="1" flipV="1">
            <a:off x="2819400" y="4267200"/>
            <a:ext cx="457200" cy="381000"/>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0878" name="Rectangle 62"/>
          <p:cNvSpPr>
            <a:spLocks noGrp="1" noChangeArrowheads="1"/>
          </p:cNvSpPr>
          <p:nvPr>
            <p:ph type="title"/>
          </p:nvPr>
        </p:nvSpPr>
        <p:spPr bwMode="auto">
          <a:xfrm>
            <a:off x="2230438" y="190500"/>
            <a:ext cx="7772400" cy="708025"/>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en-US" altLang="zh-CN"/>
              <a:t>A </a:t>
            </a:r>
            <a:r>
              <a:rPr lang="zh-CN" altLang="en-US"/>
              <a:t>接收 </a:t>
            </a:r>
            <a:r>
              <a:rPr lang="en-US" altLang="zh-CN"/>
              <a:t>E</a:t>
            </a:r>
            <a:r>
              <a:rPr lang="zh-CN" altLang="en-US"/>
              <a:t>的路由</a:t>
            </a:r>
          </a:p>
        </p:txBody>
      </p:sp>
    </p:spTree>
    <p:extLst>
      <p:ext uri="{BB962C8B-B14F-4D97-AF65-F5344CB8AC3E}">
        <p14:creationId xmlns:p14="http://schemas.microsoft.com/office/powerpoint/2010/main" val="4182338862"/>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1843" name="Rectangle 3"/>
          <p:cNvSpPr>
            <a:spLocks noChangeArrowheads="1"/>
          </p:cNvSpPr>
          <p:nvPr/>
        </p:nvSpPr>
        <p:spPr bwMode="auto">
          <a:xfrm>
            <a:off x="3505200" y="2743200"/>
            <a:ext cx="2514600" cy="2209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1844" name="Line 4"/>
          <p:cNvSpPr>
            <a:spLocks noChangeShapeType="1"/>
          </p:cNvSpPr>
          <p:nvPr/>
        </p:nvSpPr>
        <p:spPr bwMode="auto">
          <a:xfrm flipH="1">
            <a:off x="2286000" y="2743200"/>
            <a:ext cx="121920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1845" name="Line 5"/>
          <p:cNvSpPr>
            <a:spLocks noChangeShapeType="1"/>
          </p:cNvSpPr>
          <p:nvPr/>
        </p:nvSpPr>
        <p:spPr bwMode="auto">
          <a:xfrm>
            <a:off x="2286000" y="3962400"/>
            <a:ext cx="1219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1846" name="Oval 6"/>
          <p:cNvSpPr>
            <a:spLocks noChangeArrowheads="1"/>
          </p:cNvSpPr>
          <p:nvPr/>
        </p:nvSpPr>
        <p:spPr bwMode="auto">
          <a:xfrm>
            <a:off x="1905000" y="3733800"/>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1847" name="Text Box 7"/>
          <p:cNvSpPr txBox="1">
            <a:spLocks noChangeArrowheads="1"/>
          </p:cNvSpPr>
          <p:nvPr/>
        </p:nvSpPr>
        <p:spPr bwMode="auto">
          <a:xfrm>
            <a:off x="1939925" y="3749676"/>
            <a:ext cx="350838" cy="366713"/>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571848" name="Oval 8"/>
          <p:cNvSpPr>
            <a:spLocks noChangeArrowheads="1"/>
          </p:cNvSpPr>
          <p:nvPr/>
        </p:nvSpPr>
        <p:spPr bwMode="auto">
          <a:xfrm>
            <a:off x="3317875" y="24987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1849" name="Text Box 9"/>
          <p:cNvSpPr txBox="1">
            <a:spLocks noChangeArrowheads="1"/>
          </p:cNvSpPr>
          <p:nvPr/>
        </p:nvSpPr>
        <p:spPr bwMode="auto">
          <a:xfrm>
            <a:off x="3352801" y="2514601"/>
            <a:ext cx="328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571850" name="Oval 10"/>
          <p:cNvSpPr>
            <a:spLocks noChangeArrowheads="1"/>
          </p:cNvSpPr>
          <p:nvPr/>
        </p:nvSpPr>
        <p:spPr bwMode="auto">
          <a:xfrm>
            <a:off x="3317875" y="47847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1851" name="Text Box 11"/>
          <p:cNvSpPr txBox="1">
            <a:spLocks noChangeArrowheads="1"/>
          </p:cNvSpPr>
          <p:nvPr/>
        </p:nvSpPr>
        <p:spPr bwMode="auto">
          <a:xfrm>
            <a:off x="3352801" y="4800601"/>
            <a:ext cx="327025" cy="366713"/>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sp>
        <p:nvSpPr>
          <p:cNvPr id="1571852" name="Oval 12"/>
          <p:cNvSpPr>
            <a:spLocks noChangeArrowheads="1"/>
          </p:cNvSpPr>
          <p:nvPr/>
        </p:nvSpPr>
        <p:spPr bwMode="auto">
          <a:xfrm>
            <a:off x="5756275" y="24987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1853" name="Text Box 13"/>
          <p:cNvSpPr txBox="1">
            <a:spLocks noChangeArrowheads="1"/>
          </p:cNvSpPr>
          <p:nvPr/>
        </p:nvSpPr>
        <p:spPr bwMode="auto">
          <a:xfrm>
            <a:off x="5791200" y="2514601"/>
            <a:ext cx="325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571854" name="Oval 14"/>
          <p:cNvSpPr>
            <a:spLocks noChangeArrowheads="1"/>
          </p:cNvSpPr>
          <p:nvPr/>
        </p:nvSpPr>
        <p:spPr bwMode="auto">
          <a:xfrm>
            <a:off x="5832475" y="47085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1855" name="Text Box 15"/>
          <p:cNvSpPr txBox="1">
            <a:spLocks noChangeArrowheads="1"/>
          </p:cNvSpPr>
          <p:nvPr/>
        </p:nvSpPr>
        <p:spPr bwMode="auto">
          <a:xfrm>
            <a:off x="5867400" y="4724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571856" name="Line 16"/>
          <p:cNvSpPr>
            <a:spLocks noChangeShapeType="1"/>
          </p:cNvSpPr>
          <p:nvPr/>
        </p:nvSpPr>
        <p:spPr bwMode="auto">
          <a:xfrm>
            <a:off x="6553200" y="3276600"/>
            <a:ext cx="388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1857" name="Line 17"/>
          <p:cNvSpPr>
            <a:spLocks noChangeShapeType="1"/>
          </p:cNvSpPr>
          <p:nvPr/>
        </p:nvSpPr>
        <p:spPr bwMode="auto">
          <a:xfrm>
            <a:off x="7620000" y="2667000"/>
            <a:ext cx="0" cy="2514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1858" name="Text Box 18"/>
          <p:cNvSpPr txBox="1">
            <a:spLocks noChangeArrowheads="1"/>
          </p:cNvSpPr>
          <p:nvPr/>
        </p:nvSpPr>
        <p:spPr bwMode="auto">
          <a:xfrm>
            <a:off x="6629400" y="2667000"/>
            <a:ext cx="9985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Info at</a:t>
            </a:r>
          </a:p>
          <a:p>
            <a:r>
              <a:rPr lang="en-US" altLang="zh-CN" b="1">
                <a:latin typeface="Comic Sans MS" panose="030F0702030302020204" pitchFamily="66" charset="0"/>
              </a:rPr>
              <a:t>node</a:t>
            </a:r>
          </a:p>
        </p:txBody>
      </p:sp>
      <p:sp>
        <p:nvSpPr>
          <p:cNvPr id="1571859" name="Text Box 19"/>
          <p:cNvSpPr txBox="1">
            <a:spLocks noChangeArrowheads="1"/>
          </p:cNvSpPr>
          <p:nvPr/>
        </p:nvSpPr>
        <p:spPr bwMode="auto">
          <a:xfrm>
            <a:off x="7070725" y="3394076"/>
            <a:ext cx="3508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571860" name="Text Box 20"/>
          <p:cNvSpPr txBox="1">
            <a:spLocks noChangeArrowheads="1"/>
          </p:cNvSpPr>
          <p:nvPr/>
        </p:nvSpPr>
        <p:spPr bwMode="auto">
          <a:xfrm>
            <a:off x="7086601" y="3733801"/>
            <a:ext cx="328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571861" name="Text Box 21"/>
          <p:cNvSpPr txBox="1">
            <a:spLocks noChangeArrowheads="1"/>
          </p:cNvSpPr>
          <p:nvPr/>
        </p:nvSpPr>
        <p:spPr bwMode="auto">
          <a:xfrm>
            <a:off x="7086600" y="4114801"/>
            <a:ext cx="325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571862" name="Text Box 22"/>
          <p:cNvSpPr txBox="1">
            <a:spLocks noChangeArrowheads="1"/>
          </p:cNvSpPr>
          <p:nvPr/>
        </p:nvSpPr>
        <p:spPr bwMode="auto">
          <a:xfrm>
            <a:off x="7086600" y="44958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571863" name="Text Box 23"/>
          <p:cNvSpPr txBox="1">
            <a:spLocks noChangeArrowheads="1"/>
          </p:cNvSpPr>
          <p:nvPr/>
        </p:nvSpPr>
        <p:spPr bwMode="auto">
          <a:xfrm>
            <a:off x="7848600" y="2895601"/>
            <a:ext cx="3508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571864" name="Text Box 24"/>
          <p:cNvSpPr txBox="1">
            <a:spLocks noChangeArrowheads="1"/>
          </p:cNvSpPr>
          <p:nvPr/>
        </p:nvSpPr>
        <p:spPr bwMode="auto">
          <a:xfrm>
            <a:off x="8305801" y="2895601"/>
            <a:ext cx="328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571865" name="Text Box 25"/>
          <p:cNvSpPr txBox="1">
            <a:spLocks noChangeArrowheads="1"/>
          </p:cNvSpPr>
          <p:nvPr/>
        </p:nvSpPr>
        <p:spPr bwMode="auto">
          <a:xfrm>
            <a:off x="8915400" y="2895601"/>
            <a:ext cx="325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571866" name="Text Box 26"/>
          <p:cNvSpPr txBox="1">
            <a:spLocks noChangeArrowheads="1"/>
          </p:cNvSpPr>
          <p:nvPr/>
        </p:nvSpPr>
        <p:spPr bwMode="auto">
          <a:xfrm>
            <a:off x="78486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71867" name="Text Box 27"/>
          <p:cNvSpPr txBox="1">
            <a:spLocks noChangeArrowheads="1"/>
          </p:cNvSpPr>
          <p:nvPr/>
        </p:nvSpPr>
        <p:spPr bwMode="auto">
          <a:xfrm>
            <a:off x="83058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7</a:t>
            </a:r>
          </a:p>
        </p:txBody>
      </p:sp>
      <p:sp>
        <p:nvSpPr>
          <p:cNvPr id="1571868" name="Text Box 28"/>
          <p:cNvSpPr txBox="1">
            <a:spLocks noChangeArrowheads="1"/>
          </p:cNvSpPr>
          <p:nvPr/>
        </p:nvSpPr>
        <p:spPr bwMode="auto">
          <a:xfrm>
            <a:off x="89154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5</a:t>
            </a:r>
            <a:endParaRPr lang="en-US" altLang="zh-CN" b="1">
              <a:latin typeface="Comic Sans MS" panose="030F0702030302020204" pitchFamily="66" charset="0"/>
            </a:endParaRPr>
          </a:p>
        </p:txBody>
      </p:sp>
      <p:sp>
        <p:nvSpPr>
          <p:cNvPr id="1571869" name="Text Box 29"/>
          <p:cNvSpPr txBox="1">
            <a:spLocks noChangeArrowheads="1"/>
          </p:cNvSpPr>
          <p:nvPr/>
        </p:nvSpPr>
        <p:spPr bwMode="auto">
          <a:xfrm>
            <a:off x="78486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7</a:t>
            </a:r>
          </a:p>
        </p:txBody>
      </p:sp>
      <p:sp>
        <p:nvSpPr>
          <p:cNvPr id="1571870" name="Text Box 30"/>
          <p:cNvSpPr txBox="1">
            <a:spLocks noChangeArrowheads="1"/>
          </p:cNvSpPr>
          <p:nvPr/>
        </p:nvSpPr>
        <p:spPr bwMode="auto">
          <a:xfrm>
            <a:off x="83058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71871" name="Text Box 31"/>
          <p:cNvSpPr txBox="1">
            <a:spLocks noChangeArrowheads="1"/>
          </p:cNvSpPr>
          <p:nvPr/>
        </p:nvSpPr>
        <p:spPr bwMode="auto">
          <a:xfrm>
            <a:off x="89154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71872" name="Text Box 32"/>
          <p:cNvSpPr txBox="1">
            <a:spLocks noChangeArrowheads="1"/>
          </p:cNvSpPr>
          <p:nvPr/>
        </p:nvSpPr>
        <p:spPr bwMode="auto">
          <a:xfrm>
            <a:off x="78486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71873" name="Text Box 33"/>
          <p:cNvSpPr txBox="1">
            <a:spLocks noChangeArrowheads="1"/>
          </p:cNvSpPr>
          <p:nvPr/>
        </p:nvSpPr>
        <p:spPr bwMode="auto">
          <a:xfrm>
            <a:off x="83058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71874" name="Text Box 34"/>
          <p:cNvSpPr txBox="1">
            <a:spLocks noChangeArrowheads="1"/>
          </p:cNvSpPr>
          <p:nvPr/>
        </p:nvSpPr>
        <p:spPr bwMode="auto">
          <a:xfrm>
            <a:off x="89154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71875" name="Text Box 35"/>
          <p:cNvSpPr txBox="1">
            <a:spLocks noChangeArrowheads="1"/>
          </p:cNvSpPr>
          <p:nvPr/>
        </p:nvSpPr>
        <p:spPr bwMode="auto">
          <a:xfrm>
            <a:off x="78486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71876" name="Text Box 36"/>
          <p:cNvSpPr txBox="1">
            <a:spLocks noChangeArrowheads="1"/>
          </p:cNvSpPr>
          <p:nvPr/>
        </p:nvSpPr>
        <p:spPr bwMode="auto">
          <a:xfrm>
            <a:off x="83058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71877" name="Text Box 37"/>
          <p:cNvSpPr txBox="1">
            <a:spLocks noChangeArrowheads="1"/>
          </p:cNvSpPr>
          <p:nvPr/>
        </p:nvSpPr>
        <p:spPr bwMode="auto">
          <a:xfrm>
            <a:off x="89154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71878" name="Text Box 38"/>
          <p:cNvSpPr txBox="1">
            <a:spLocks noChangeArrowheads="1"/>
          </p:cNvSpPr>
          <p:nvPr/>
        </p:nvSpPr>
        <p:spPr bwMode="auto">
          <a:xfrm>
            <a:off x="2438400" y="2971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7</a:t>
            </a:r>
          </a:p>
        </p:txBody>
      </p:sp>
      <p:sp>
        <p:nvSpPr>
          <p:cNvPr id="1571879" name="Text Box 39"/>
          <p:cNvSpPr txBox="1">
            <a:spLocks noChangeArrowheads="1"/>
          </p:cNvSpPr>
          <p:nvPr/>
        </p:nvSpPr>
        <p:spPr bwMode="auto">
          <a:xfrm>
            <a:off x="23622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71880" name="Text Box 40"/>
          <p:cNvSpPr txBox="1">
            <a:spLocks noChangeArrowheads="1"/>
          </p:cNvSpPr>
          <p:nvPr/>
        </p:nvSpPr>
        <p:spPr bwMode="auto">
          <a:xfrm>
            <a:off x="4648200" y="2286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71881" name="Text Box 41"/>
          <p:cNvSpPr txBox="1">
            <a:spLocks noChangeArrowheads="1"/>
          </p:cNvSpPr>
          <p:nvPr/>
        </p:nvSpPr>
        <p:spPr bwMode="auto">
          <a:xfrm>
            <a:off x="45720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71882" name="Text Box 42"/>
          <p:cNvSpPr txBox="1">
            <a:spLocks noChangeArrowheads="1"/>
          </p:cNvSpPr>
          <p:nvPr/>
        </p:nvSpPr>
        <p:spPr bwMode="auto">
          <a:xfrm>
            <a:off x="6096000" y="3733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71883" name="Text Box 43"/>
          <p:cNvSpPr txBox="1">
            <a:spLocks noChangeArrowheads="1"/>
          </p:cNvSpPr>
          <p:nvPr/>
        </p:nvSpPr>
        <p:spPr bwMode="auto">
          <a:xfrm>
            <a:off x="3581400" y="3733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8</a:t>
            </a:r>
          </a:p>
        </p:txBody>
      </p:sp>
      <p:sp>
        <p:nvSpPr>
          <p:cNvPr id="1571884" name="Text Box 44"/>
          <p:cNvSpPr txBox="1">
            <a:spLocks noChangeArrowheads="1"/>
          </p:cNvSpPr>
          <p:nvPr/>
        </p:nvSpPr>
        <p:spPr bwMode="auto">
          <a:xfrm>
            <a:off x="7848600" y="2438401"/>
            <a:ext cx="20526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Distance to node</a:t>
            </a:r>
          </a:p>
        </p:txBody>
      </p:sp>
      <p:sp>
        <p:nvSpPr>
          <p:cNvPr id="1571885" name="Text Box 45"/>
          <p:cNvSpPr txBox="1">
            <a:spLocks noChangeArrowheads="1"/>
          </p:cNvSpPr>
          <p:nvPr/>
        </p:nvSpPr>
        <p:spPr bwMode="auto">
          <a:xfrm>
            <a:off x="9372600" y="28956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571886" name="Text Box 46"/>
          <p:cNvSpPr txBox="1">
            <a:spLocks noChangeArrowheads="1"/>
          </p:cNvSpPr>
          <p:nvPr/>
        </p:nvSpPr>
        <p:spPr bwMode="auto">
          <a:xfrm>
            <a:off x="93726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3</a:t>
            </a:r>
            <a:endParaRPr lang="en-US" altLang="zh-CN" b="1">
              <a:latin typeface="Comic Sans MS" panose="030F0702030302020204" pitchFamily="66" charset="0"/>
            </a:endParaRPr>
          </a:p>
        </p:txBody>
      </p:sp>
      <p:sp>
        <p:nvSpPr>
          <p:cNvPr id="1571887" name="Text Box 47"/>
          <p:cNvSpPr txBox="1">
            <a:spLocks noChangeArrowheads="1"/>
          </p:cNvSpPr>
          <p:nvPr/>
        </p:nvSpPr>
        <p:spPr bwMode="auto">
          <a:xfrm>
            <a:off x="93726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71888" name="Text Box 48"/>
          <p:cNvSpPr txBox="1">
            <a:spLocks noChangeArrowheads="1"/>
          </p:cNvSpPr>
          <p:nvPr/>
        </p:nvSpPr>
        <p:spPr bwMode="auto">
          <a:xfrm>
            <a:off x="93726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71889" name="Text Box 49"/>
          <p:cNvSpPr txBox="1">
            <a:spLocks noChangeArrowheads="1"/>
          </p:cNvSpPr>
          <p:nvPr/>
        </p:nvSpPr>
        <p:spPr bwMode="auto">
          <a:xfrm>
            <a:off x="93726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71890" name="Text Box 50"/>
          <p:cNvSpPr txBox="1">
            <a:spLocks noChangeArrowheads="1"/>
          </p:cNvSpPr>
          <p:nvPr/>
        </p:nvSpPr>
        <p:spPr bwMode="auto">
          <a:xfrm>
            <a:off x="7086601" y="4876801"/>
            <a:ext cx="3270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sp>
        <p:nvSpPr>
          <p:cNvPr id="1571891" name="Text Box 51"/>
          <p:cNvSpPr txBox="1">
            <a:spLocks noChangeArrowheads="1"/>
          </p:cNvSpPr>
          <p:nvPr/>
        </p:nvSpPr>
        <p:spPr bwMode="auto">
          <a:xfrm>
            <a:off x="78486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71892" name="Text Box 52"/>
          <p:cNvSpPr txBox="1">
            <a:spLocks noChangeArrowheads="1"/>
          </p:cNvSpPr>
          <p:nvPr/>
        </p:nvSpPr>
        <p:spPr bwMode="auto">
          <a:xfrm>
            <a:off x="83058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8</a:t>
            </a:r>
          </a:p>
        </p:txBody>
      </p:sp>
      <p:sp>
        <p:nvSpPr>
          <p:cNvPr id="1571893" name="Text Box 53"/>
          <p:cNvSpPr txBox="1">
            <a:spLocks noChangeArrowheads="1"/>
          </p:cNvSpPr>
          <p:nvPr/>
        </p:nvSpPr>
        <p:spPr bwMode="auto">
          <a:xfrm>
            <a:off x="89154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4</a:t>
            </a:r>
          </a:p>
        </p:txBody>
      </p:sp>
      <p:sp>
        <p:nvSpPr>
          <p:cNvPr id="1571894" name="Text Box 54"/>
          <p:cNvSpPr txBox="1">
            <a:spLocks noChangeArrowheads="1"/>
          </p:cNvSpPr>
          <p:nvPr/>
        </p:nvSpPr>
        <p:spPr bwMode="auto">
          <a:xfrm>
            <a:off x="93726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71895" name="Text Box 55"/>
          <p:cNvSpPr txBox="1">
            <a:spLocks noChangeArrowheads="1"/>
          </p:cNvSpPr>
          <p:nvPr/>
        </p:nvSpPr>
        <p:spPr bwMode="auto">
          <a:xfrm>
            <a:off x="99060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71896" name="Text Box 56"/>
          <p:cNvSpPr txBox="1">
            <a:spLocks noChangeArrowheads="1"/>
          </p:cNvSpPr>
          <p:nvPr/>
        </p:nvSpPr>
        <p:spPr bwMode="auto">
          <a:xfrm>
            <a:off x="99060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8</a:t>
            </a:r>
          </a:p>
        </p:txBody>
      </p:sp>
      <p:sp>
        <p:nvSpPr>
          <p:cNvPr id="1571897" name="Text Box 57"/>
          <p:cNvSpPr txBox="1">
            <a:spLocks noChangeArrowheads="1"/>
          </p:cNvSpPr>
          <p:nvPr/>
        </p:nvSpPr>
        <p:spPr bwMode="auto">
          <a:xfrm>
            <a:off x="99060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t>
            </a:r>
          </a:p>
        </p:txBody>
      </p:sp>
      <p:sp>
        <p:nvSpPr>
          <p:cNvPr id="1571898" name="Text Box 58"/>
          <p:cNvSpPr txBox="1">
            <a:spLocks noChangeArrowheads="1"/>
          </p:cNvSpPr>
          <p:nvPr/>
        </p:nvSpPr>
        <p:spPr bwMode="auto">
          <a:xfrm>
            <a:off x="99060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71899" name="Text Box 59"/>
          <p:cNvSpPr txBox="1">
            <a:spLocks noChangeArrowheads="1"/>
          </p:cNvSpPr>
          <p:nvPr/>
        </p:nvSpPr>
        <p:spPr bwMode="auto">
          <a:xfrm>
            <a:off x="99060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0</a:t>
            </a:r>
          </a:p>
        </p:txBody>
      </p:sp>
      <p:sp>
        <p:nvSpPr>
          <p:cNvPr id="1571900" name="Text Box 60"/>
          <p:cNvSpPr txBox="1">
            <a:spLocks noChangeArrowheads="1"/>
          </p:cNvSpPr>
          <p:nvPr/>
        </p:nvSpPr>
        <p:spPr bwMode="auto">
          <a:xfrm>
            <a:off x="9906001" y="2895601"/>
            <a:ext cx="3270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sp>
        <p:nvSpPr>
          <p:cNvPr id="1571901" name="Rectangle 61"/>
          <p:cNvSpPr>
            <a:spLocks noGrp="1" noChangeArrowheads="1"/>
          </p:cNvSpPr>
          <p:nvPr>
            <p:ph type="title"/>
          </p:nvPr>
        </p:nvSpPr>
        <p:spPr bwMode="auto">
          <a:xfrm>
            <a:off x="2209800" y="168274"/>
            <a:ext cx="7772400" cy="746127"/>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en-US" altLang="zh-CN"/>
              <a:t>A </a:t>
            </a:r>
            <a:r>
              <a:rPr lang="zh-CN" altLang="en-US"/>
              <a:t>更新到 </a:t>
            </a:r>
            <a:r>
              <a:rPr lang="en-US" altLang="zh-CN"/>
              <a:t>C </a:t>
            </a:r>
            <a:r>
              <a:rPr lang="zh-CN" altLang="en-US"/>
              <a:t>和 </a:t>
            </a:r>
            <a:r>
              <a:rPr lang="en-US" altLang="zh-CN"/>
              <a:t>D</a:t>
            </a:r>
            <a:r>
              <a:rPr lang="zh-CN" altLang="en-US"/>
              <a:t>路由</a:t>
            </a:r>
          </a:p>
        </p:txBody>
      </p:sp>
    </p:spTree>
    <p:extLst>
      <p:ext uri="{BB962C8B-B14F-4D97-AF65-F5344CB8AC3E}">
        <p14:creationId xmlns:p14="http://schemas.microsoft.com/office/powerpoint/2010/main" val="535611819"/>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2867" name="Rectangle 3"/>
          <p:cNvSpPr>
            <a:spLocks noChangeArrowheads="1"/>
          </p:cNvSpPr>
          <p:nvPr/>
        </p:nvSpPr>
        <p:spPr bwMode="auto">
          <a:xfrm>
            <a:off x="3505200" y="2743200"/>
            <a:ext cx="2514600" cy="2209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2868" name="Line 4"/>
          <p:cNvSpPr>
            <a:spLocks noChangeShapeType="1"/>
          </p:cNvSpPr>
          <p:nvPr/>
        </p:nvSpPr>
        <p:spPr bwMode="auto">
          <a:xfrm flipH="1">
            <a:off x="2286000" y="2743200"/>
            <a:ext cx="121920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2869" name="Line 5"/>
          <p:cNvSpPr>
            <a:spLocks noChangeShapeType="1"/>
          </p:cNvSpPr>
          <p:nvPr/>
        </p:nvSpPr>
        <p:spPr bwMode="auto">
          <a:xfrm>
            <a:off x="2286000" y="3962400"/>
            <a:ext cx="1219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2870" name="Oval 6"/>
          <p:cNvSpPr>
            <a:spLocks noChangeArrowheads="1"/>
          </p:cNvSpPr>
          <p:nvPr/>
        </p:nvSpPr>
        <p:spPr bwMode="auto">
          <a:xfrm>
            <a:off x="1905000" y="3733800"/>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2871" name="Text Box 7"/>
          <p:cNvSpPr txBox="1">
            <a:spLocks noChangeArrowheads="1"/>
          </p:cNvSpPr>
          <p:nvPr/>
        </p:nvSpPr>
        <p:spPr bwMode="auto">
          <a:xfrm>
            <a:off x="1939925" y="3749676"/>
            <a:ext cx="3508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572872" name="Oval 8"/>
          <p:cNvSpPr>
            <a:spLocks noChangeArrowheads="1"/>
          </p:cNvSpPr>
          <p:nvPr/>
        </p:nvSpPr>
        <p:spPr bwMode="auto">
          <a:xfrm>
            <a:off x="3317875" y="24987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2873" name="Text Box 9"/>
          <p:cNvSpPr txBox="1">
            <a:spLocks noChangeArrowheads="1"/>
          </p:cNvSpPr>
          <p:nvPr/>
        </p:nvSpPr>
        <p:spPr bwMode="auto">
          <a:xfrm>
            <a:off x="3352801" y="2514601"/>
            <a:ext cx="328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572874" name="Oval 10"/>
          <p:cNvSpPr>
            <a:spLocks noChangeArrowheads="1"/>
          </p:cNvSpPr>
          <p:nvPr/>
        </p:nvSpPr>
        <p:spPr bwMode="auto">
          <a:xfrm>
            <a:off x="5756275" y="24987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2875" name="Text Box 11"/>
          <p:cNvSpPr txBox="1">
            <a:spLocks noChangeArrowheads="1"/>
          </p:cNvSpPr>
          <p:nvPr/>
        </p:nvSpPr>
        <p:spPr bwMode="auto">
          <a:xfrm>
            <a:off x="5791200" y="2514601"/>
            <a:ext cx="325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572876" name="Oval 12"/>
          <p:cNvSpPr>
            <a:spLocks noChangeArrowheads="1"/>
          </p:cNvSpPr>
          <p:nvPr/>
        </p:nvSpPr>
        <p:spPr bwMode="auto">
          <a:xfrm>
            <a:off x="5832475" y="47085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2877" name="Text Box 13"/>
          <p:cNvSpPr txBox="1">
            <a:spLocks noChangeArrowheads="1"/>
          </p:cNvSpPr>
          <p:nvPr/>
        </p:nvSpPr>
        <p:spPr bwMode="auto">
          <a:xfrm>
            <a:off x="5867400" y="4724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572878" name="Line 14"/>
          <p:cNvSpPr>
            <a:spLocks noChangeShapeType="1"/>
          </p:cNvSpPr>
          <p:nvPr/>
        </p:nvSpPr>
        <p:spPr bwMode="auto">
          <a:xfrm>
            <a:off x="6553200" y="3276600"/>
            <a:ext cx="388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2879" name="Line 15"/>
          <p:cNvSpPr>
            <a:spLocks noChangeShapeType="1"/>
          </p:cNvSpPr>
          <p:nvPr/>
        </p:nvSpPr>
        <p:spPr bwMode="auto">
          <a:xfrm>
            <a:off x="7620000" y="2667000"/>
            <a:ext cx="0" cy="2514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2880" name="Text Box 16"/>
          <p:cNvSpPr txBox="1">
            <a:spLocks noChangeArrowheads="1"/>
          </p:cNvSpPr>
          <p:nvPr/>
        </p:nvSpPr>
        <p:spPr bwMode="auto">
          <a:xfrm>
            <a:off x="6629400" y="2667000"/>
            <a:ext cx="9985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Info at</a:t>
            </a:r>
          </a:p>
          <a:p>
            <a:r>
              <a:rPr lang="en-US" altLang="zh-CN" b="1">
                <a:latin typeface="Comic Sans MS" panose="030F0702030302020204" pitchFamily="66" charset="0"/>
              </a:rPr>
              <a:t>node</a:t>
            </a:r>
          </a:p>
        </p:txBody>
      </p:sp>
      <p:sp>
        <p:nvSpPr>
          <p:cNvPr id="1572881" name="Text Box 17"/>
          <p:cNvSpPr txBox="1">
            <a:spLocks noChangeArrowheads="1"/>
          </p:cNvSpPr>
          <p:nvPr/>
        </p:nvSpPr>
        <p:spPr bwMode="auto">
          <a:xfrm>
            <a:off x="7070725" y="3394076"/>
            <a:ext cx="3508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572882" name="Text Box 18"/>
          <p:cNvSpPr txBox="1">
            <a:spLocks noChangeArrowheads="1"/>
          </p:cNvSpPr>
          <p:nvPr/>
        </p:nvSpPr>
        <p:spPr bwMode="auto">
          <a:xfrm>
            <a:off x="7086601" y="3733801"/>
            <a:ext cx="328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572883" name="Text Box 19"/>
          <p:cNvSpPr txBox="1">
            <a:spLocks noChangeArrowheads="1"/>
          </p:cNvSpPr>
          <p:nvPr/>
        </p:nvSpPr>
        <p:spPr bwMode="auto">
          <a:xfrm>
            <a:off x="7086600" y="4114801"/>
            <a:ext cx="325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572884" name="Text Box 20"/>
          <p:cNvSpPr txBox="1">
            <a:spLocks noChangeArrowheads="1"/>
          </p:cNvSpPr>
          <p:nvPr/>
        </p:nvSpPr>
        <p:spPr bwMode="auto">
          <a:xfrm>
            <a:off x="7086600" y="44958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572885" name="Text Box 21"/>
          <p:cNvSpPr txBox="1">
            <a:spLocks noChangeArrowheads="1"/>
          </p:cNvSpPr>
          <p:nvPr/>
        </p:nvSpPr>
        <p:spPr bwMode="auto">
          <a:xfrm>
            <a:off x="7848600" y="2895601"/>
            <a:ext cx="3508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572886" name="Text Box 22"/>
          <p:cNvSpPr txBox="1">
            <a:spLocks noChangeArrowheads="1"/>
          </p:cNvSpPr>
          <p:nvPr/>
        </p:nvSpPr>
        <p:spPr bwMode="auto">
          <a:xfrm>
            <a:off x="8305801" y="2895601"/>
            <a:ext cx="328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572887" name="Text Box 23"/>
          <p:cNvSpPr txBox="1">
            <a:spLocks noChangeArrowheads="1"/>
          </p:cNvSpPr>
          <p:nvPr/>
        </p:nvSpPr>
        <p:spPr bwMode="auto">
          <a:xfrm>
            <a:off x="8915400" y="2895601"/>
            <a:ext cx="325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572888" name="Text Box 24"/>
          <p:cNvSpPr txBox="1">
            <a:spLocks noChangeArrowheads="1"/>
          </p:cNvSpPr>
          <p:nvPr/>
        </p:nvSpPr>
        <p:spPr bwMode="auto">
          <a:xfrm>
            <a:off x="78486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0</a:t>
            </a:r>
          </a:p>
        </p:txBody>
      </p:sp>
      <p:sp>
        <p:nvSpPr>
          <p:cNvPr id="1572889" name="Text Box 25"/>
          <p:cNvSpPr txBox="1">
            <a:spLocks noChangeArrowheads="1"/>
          </p:cNvSpPr>
          <p:nvPr/>
        </p:nvSpPr>
        <p:spPr bwMode="auto">
          <a:xfrm>
            <a:off x="83058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6</a:t>
            </a:r>
          </a:p>
        </p:txBody>
      </p:sp>
      <p:sp>
        <p:nvSpPr>
          <p:cNvPr id="1572890" name="Text Box 26"/>
          <p:cNvSpPr txBox="1">
            <a:spLocks noChangeArrowheads="1"/>
          </p:cNvSpPr>
          <p:nvPr/>
        </p:nvSpPr>
        <p:spPr bwMode="auto">
          <a:xfrm>
            <a:off x="89154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5</a:t>
            </a:r>
          </a:p>
        </p:txBody>
      </p:sp>
      <p:sp>
        <p:nvSpPr>
          <p:cNvPr id="1572891" name="Text Box 27"/>
          <p:cNvSpPr txBox="1">
            <a:spLocks noChangeArrowheads="1"/>
          </p:cNvSpPr>
          <p:nvPr/>
        </p:nvSpPr>
        <p:spPr bwMode="auto">
          <a:xfrm>
            <a:off x="78486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6</a:t>
            </a:r>
          </a:p>
        </p:txBody>
      </p:sp>
      <p:sp>
        <p:nvSpPr>
          <p:cNvPr id="1572892" name="Text Box 28"/>
          <p:cNvSpPr txBox="1">
            <a:spLocks noChangeArrowheads="1"/>
          </p:cNvSpPr>
          <p:nvPr/>
        </p:nvSpPr>
        <p:spPr bwMode="auto">
          <a:xfrm>
            <a:off x="83058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0</a:t>
            </a:r>
          </a:p>
        </p:txBody>
      </p:sp>
      <p:sp>
        <p:nvSpPr>
          <p:cNvPr id="1572893" name="Text Box 29"/>
          <p:cNvSpPr txBox="1">
            <a:spLocks noChangeArrowheads="1"/>
          </p:cNvSpPr>
          <p:nvPr/>
        </p:nvSpPr>
        <p:spPr bwMode="auto">
          <a:xfrm>
            <a:off x="89154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1</a:t>
            </a:r>
          </a:p>
        </p:txBody>
      </p:sp>
      <p:sp>
        <p:nvSpPr>
          <p:cNvPr id="1572894" name="Text Box 30"/>
          <p:cNvSpPr txBox="1">
            <a:spLocks noChangeArrowheads="1"/>
          </p:cNvSpPr>
          <p:nvPr/>
        </p:nvSpPr>
        <p:spPr bwMode="auto">
          <a:xfrm>
            <a:off x="78486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5</a:t>
            </a:r>
          </a:p>
        </p:txBody>
      </p:sp>
      <p:sp>
        <p:nvSpPr>
          <p:cNvPr id="1572895" name="Text Box 31"/>
          <p:cNvSpPr txBox="1">
            <a:spLocks noChangeArrowheads="1"/>
          </p:cNvSpPr>
          <p:nvPr/>
        </p:nvSpPr>
        <p:spPr bwMode="auto">
          <a:xfrm>
            <a:off x="83058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1</a:t>
            </a:r>
          </a:p>
        </p:txBody>
      </p:sp>
      <p:sp>
        <p:nvSpPr>
          <p:cNvPr id="1572896" name="Text Box 32"/>
          <p:cNvSpPr txBox="1">
            <a:spLocks noChangeArrowheads="1"/>
          </p:cNvSpPr>
          <p:nvPr/>
        </p:nvSpPr>
        <p:spPr bwMode="auto">
          <a:xfrm>
            <a:off x="89154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0</a:t>
            </a:r>
          </a:p>
        </p:txBody>
      </p:sp>
      <p:sp>
        <p:nvSpPr>
          <p:cNvPr id="1572897" name="Text Box 33"/>
          <p:cNvSpPr txBox="1">
            <a:spLocks noChangeArrowheads="1"/>
          </p:cNvSpPr>
          <p:nvPr/>
        </p:nvSpPr>
        <p:spPr bwMode="auto">
          <a:xfrm>
            <a:off x="78486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3</a:t>
            </a:r>
          </a:p>
        </p:txBody>
      </p:sp>
      <p:sp>
        <p:nvSpPr>
          <p:cNvPr id="1572898" name="Text Box 34"/>
          <p:cNvSpPr txBox="1">
            <a:spLocks noChangeArrowheads="1"/>
          </p:cNvSpPr>
          <p:nvPr/>
        </p:nvSpPr>
        <p:spPr bwMode="auto">
          <a:xfrm>
            <a:off x="83058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3</a:t>
            </a:r>
          </a:p>
        </p:txBody>
      </p:sp>
      <p:sp>
        <p:nvSpPr>
          <p:cNvPr id="1572899" name="Text Box 35"/>
          <p:cNvSpPr txBox="1">
            <a:spLocks noChangeArrowheads="1"/>
          </p:cNvSpPr>
          <p:nvPr/>
        </p:nvSpPr>
        <p:spPr bwMode="auto">
          <a:xfrm>
            <a:off x="89154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2</a:t>
            </a:r>
          </a:p>
        </p:txBody>
      </p:sp>
      <p:sp>
        <p:nvSpPr>
          <p:cNvPr id="1572900" name="Text Box 36"/>
          <p:cNvSpPr txBox="1">
            <a:spLocks noChangeArrowheads="1"/>
          </p:cNvSpPr>
          <p:nvPr/>
        </p:nvSpPr>
        <p:spPr bwMode="auto">
          <a:xfrm>
            <a:off x="2438400" y="2971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7</a:t>
            </a:r>
          </a:p>
        </p:txBody>
      </p:sp>
      <p:sp>
        <p:nvSpPr>
          <p:cNvPr id="1572901" name="Text Box 37"/>
          <p:cNvSpPr txBox="1">
            <a:spLocks noChangeArrowheads="1"/>
          </p:cNvSpPr>
          <p:nvPr/>
        </p:nvSpPr>
        <p:spPr bwMode="auto">
          <a:xfrm>
            <a:off x="23622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72902" name="Text Box 38"/>
          <p:cNvSpPr txBox="1">
            <a:spLocks noChangeArrowheads="1"/>
          </p:cNvSpPr>
          <p:nvPr/>
        </p:nvSpPr>
        <p:spPr bwMode="auto">
          <a:xfrm>
            <a:off x="4648200" y="2286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572903" name="Text Box 39"/>
          <p:cNvSpPr txBox="1">
            <a:spLocks noChangeArrowheads="1"/>
          </p:cNvSpPr>
          <p:nvPr/>
        </p:nvSpPr>
        <p:spPr bwMode="auto">
          <a:xfrm>
            <a:off x="45720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72904" name="Text Box 40"/>
          <p:cNvSpPr txBox="1">
            <a:spLocks noChangeArrowheads="1"/>
          </p:cNvSpPr>
          <p:nvPr/>
        </p:nvSpPr>
        <p:spPr bwMode="auto">
          <a:xfrm>
            <a:off x="6096000" y="3733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572905" name="Text Box 41"/>
          <p:cNvSpPr txBox="1">
            <a:spLocks noChangeArrowheads="1"/>
          </p:cNvSpPr>
          <p:nvPr/>
        </p:nvSpPr>
        <p:spPr bwMode="auto">
          <a:xfrm>
            <a:off x="3581400" y="3733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8</a:t>
            </a:r>
          </a:p>
        </p:txBody>
      </p:sp>
      <p:sp>
        <p:nvSpPr>
          <p:cNvPr id="1572906" name="Text Box 42"/>
          <p:cNvSpPr txBox="1">
            <a:spLocks noChangeArrowheads="1"/>
          </p:cNvSpPr>
          <p:nvPr/>
        </p:nvSpPr>
        <p:spPr bwMode="auto">
          <a:xfrm>
            <a:off x="7848600" y="2438401"/>
            <a:ext cx="20526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Distance to node</a:t>
            </a:r>
          </a:p>
        </p:txBody>
      </p:sp>
      <p:sp>
        <p:nvSpPr>
          <p:cNvPr id="1572907" name="Text Box 43"/>
          <p:cNvSpPr txBox="1">
            <a:spLocks noChangeArrowheads="1"/>
          </p:cNvSpPr>
          <p:nvPr/>
        </p:nvSpPr>
        <p:spPr bwMode="auto">
          <a:xfrm>
            <a:off x="9372600" y="28956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572908" name="Text Box 44"/>
          <p:cNvSpPr txBox="1">
            <a:spLocks noChangeArrowheads="1"/>
          </p:cNvSpPr>
          <p:nvPr/>
        </p:nvSpPr>
        <p:spPr bwMode="auto">
          <a:xfrm>
            <a:off x="93726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3</a:t>
            </a:r>
          </a:p>
        </p:txBody>
      </p:sp>
      <p:sp>
        <p:nvSpPr>
          <p:cNvPr id="1572909" name="Text Box 45"/>
          <p:cNvSpPr txBox="1">
            <a:spLocks noChangeArrowheads="1"/>
          </p:cNvSpPr>
          <p:nvPr/>
        </p:nvSpPr>
        <p:spPr bwMode="auto">
          <a:xfrm>
            <a:off x="93726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3</a:t>
            </a:r>
          </a:p>
        </p:txBody>
      </p:sp>
      <p:sp>
        <p:nvSpPr>
          <p:cNvPr id="1572910" name="Text Box 46"/>
          <p:cNvSpPr txBox="1">
            <a:spLocks noChangeArrowheads="1"/>
          </p:cNvSpPr>
          <p:nvPr/>
        </p:nvSpPr>
        <p:spPr bwMode="auto">
          <a:xfrm>
            <a:off x="93726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2</a:t>
            </a:r>
          </a:p>
        </p:txBody>
      </p:sp>
      <p:sp>
        <p:nvSpPr>
          <p:cNvPr id="1572911" name="Text Box 47"/>
          <p:cNvSpPr txBox="1">
            <a:spLocks noChangeArrowheads="1"/>
          </p:cNvSpPr>
          <p:nvPr/>
        </p:nvSpPr>
        <p:spPr bwMode="auto">
          <a:xfrm>
            <a:off x="93726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0</a:t>
            </a:r>
          </a:p>
        </p:txBody>
      </p:sp>
      <p:sp>
        <p:nvSpPr>
          <p:cNvPr id="1572912" name="Text Box 48"/>
          <p:cNvSpPr txBox="1">
            <a:spLocks noChangeArrowheads="1"/>
          </p:cNvSpPr>
          <p:nvPr/>
        </p:nvSpPr>
        <p:spPr bwMode="auto">
          <a:xfrm>
            <a:off x="7086601" y="4876801"/>
            <a:ext cx="3270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sp>
        <p:nvSpPr>
          <p:cNvPr id="1572913" name="Text Box 49"/>
          <p:cNvSpPr txBox="1">
            <a:spLocks noChangeArrowheads="1"/>
          </p:cNvSpPr>
          <p:nvPr/>
        </p:nvSpPr>
        <p:spPr bwMode="auto">
          <a:xfrm>
            <a:off x="78486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1</a:t>
            </a:r>
          </a:p>
        </p:txBody>
      </p:sp>
      <p:sp>
        <p:nvSpPr>
          <p:cNvPr id="1572914" name="Text Box 50"/>
          <p:cNvSpPr txBox="1">
            <a:spLocks noChangeArrowheads="1"/>
          </p:cNvSpPr>
          <p:nvPr/>
        </p:nvSpPr>
        <p:spPr bwMode="auto">
          <a:xfrm>
            <a:off x="83058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5</a:t>
            </a:r>
          </a:p>
        </p:txBody>
      </p:sp>
      <p:sp>
        <p:nvSpPr>
          <p:cNvPr id="1572915" name="Text Box 51"/>
          <p:cNvSpPr txBox="1">
            <a:spLocks noChangeArrowheads="1"/>
          </p:cNvSpPr>
          <p:nvPr/>
        </p:nvSpPr>
        <p:spPr bwMode="auto">
          <a:xfrm>
            <a:off x="89154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4</a:t>
            </a:r>
          </a:p>
        </p:txBody>
      </p:sp>
      <p:sp>
        <p:nvSpPr>
          <p:cNvPr id="1572916" name="Text Box 52"/>
          <p:cNvSpPr txBox="1">
            <a:spLocks noChangeArrowheads="1"/>
          </p:cNvSpPr>
          <p:nvPr/>
        </p:nvSpPr>
        <p:spPr bwMode="auto">
          <a:xfrm>
            <a:off x="93726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2</a:t>
            </a:r>
          </a:p>
        </p:txBody>
      </p:sp>
      <p:sp>
        <p:nvSpPr>
          <p:cNvPr id="1572917" name="Text Box 53"/>
          <p:cNvSpPr txBox="1">
            <a:spLocks noChangeArrowheads="1"/>
          </p:cNvSpPr>
          <p:nvPr/>
        </p:nvSpPr>
        <p:spPr bwMode="auto">
          <a:xfrm>
            <a:off x="99060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1</a:t>
            </a:r>
          </a:p>
        </p:txBody>
      </p:sp>
      <p:sp>
        <p:nvSpPr>
          <p:cNvPr id="1572918" name="Text Box 54"/>
          <p:cNvSpPr txBox="1">
            <a:spLocks noChangeArrowheads="1"/>
          </p:cNvSpPr>
          <p:nvPr/>
        </p:nvSpPr>
        <p:spPr bwMode="auto">
          <a:xfrm>
            <a:off x="9906000" y="3810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5</a:t>
            </a:r>
          </a:p>
        </p:txBody>
      </p:sp>
      <p:sp>
        <p:nvSpPr>
          <p:cNvPr id="1572919" name="Text Box 55"/>
          <p:cNvSpPr txBox="1">
            <a:spLocks noChangeArrowheads="1"/>
          </p:cNvSpPr>
          <p:nvPr/>
        </p:nvSpPr>
        <p:spPr bwMode="auto">
          <a:xfrm>
            <a:off x="99060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4</a:t>
            </a:r>
          </a:p>
        </p:txBody>
      </p:sp>
      <p:sp>
        <p:nvSpPr>
          <p:cNvPr id="1572920" name="Text Box 56"/>
          <p:cNvSpPr txBox="1">
            <a:spLocks noChangeArrowheads="1"/>
          </p:cNvSpPr>
          <p:nvPr/>
        </p:nvSpPr>
        <p:spPr bwMode="auto">
          <a:xfrm>
            <a:off x="99060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2</a:t>
            </a:r>
          </a:p>
        </p:txBody>
      </p:sp>
      <p:sp>
        <p:nvSpPr>
          <p:cNvPr id="1572921" name="Text Box 57"/>
          <p:cNvSpPr txBox="1">
            <a:spLocks noChangeArrowheads="1"/>
          </p:cNvSpPr>
          <p:nvPr/>
        </p:nvSpPr>
        <p:spPr bwMode="auto">
          <a:xfrm>
            <a:off x="99060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0</a:t>
            </a:r>
          </a:p>
        </p:txBody>
      </p:sp>
      <p:sp>
        <p:nvSpPr>
          <p:cNvPr id="1572922" name="Text Box 58"/>
          <p:cNvSpPr txBox="1">
            <a:spLocks noChangeArrowheads="1"/>
          </p:cNvSpPr>
          <p:nvPr/>
        </p:nvSpPr>
        <p:spPr bwMode="auto">
          <a:xfrm>
            <a:off x="9906001" y="2895601"/>
            <a:ext cx="3270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sp>
        <p:nvSpPr>
          <p:cNvPr id="1572923" name="Oval 59"/>
          <p:cNvSpPr>
            <a:spLocks noChangeArrowheads="1"/>
          </p:cNvSpPr>
          <p:nvPr/>
        </p:nvSpPr>
        <p:spPr bwMode="auto">
          <a:xfrm>
            <a:off x="3317875" y="47847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2924" name="Text Box 60"/>
          <p:cNvSpPr txBox="1">
            <a:spLocks noChangeArrowheads="1"/>
          </p:cNvSpPr>
          <p:nvPr/>
        </p:nvSpPr>
        <p:spPr bwMode="auto">
          <a:xfrm>
            <a:off x="3352801" y="4800601"/>
            <a:ext cx="327025" cy="366713"/>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sp>
        <p:nvSpPr>
          <p:cNvPr id="1572925" name="Rectangle 61"/>
          <p:cNvSpPr>
            <a:spLocks noGrp="1" noChangeArrowheads="1"/>
          </p:cNvSpPr>
          <p:nvPr>
            <p:ph type="title"/>
          </p:nvPr>
        </p:nvSpPr>
        <p:spPr bwMode="auto">
          <a:xfrm>
            <a:off x="2209800" y="174625"/>
            <a:ext cx="3810000" cy="7239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zh-CN" altLang="en-US"/>
              <a:t>最后距离</a:t>
            </a:r>
          </a:p>
        </p:txBody>
      </p:sp>
    </p:spTree>
    <p:extLst>
      <p:ext uri="{BB962C8B-B14F-4D97-AF65-F5344CB8AC3E}">
        <p14:creationId xmlns:p14="http://schemas.microsoft.com/office/powerpoint/2010/main" val="4077170101"/>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5314" name="Rectangle 1026"/>
          <p:cNvSpPr>
            <a:spLocks noChangeArrowheads="1"/>
          </p:cNvSpPr>
          <p:nvPr/>
        </p:nvSpPr>
        <p:spPr bwMode="auto">
          <a:xfrm>
            <a:off x="3505200" y="2743200"/>
            <a:ext cx="2514600" cy="2209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5315" name="Line 1027"/>
          <p:cNvSpPr>
            <a:spLocks noChangeShapeType="1"/>
          </p:cNvSpPr>
          <p:nvPr/>
        </p:nvSpPr>
        <p:spPr bwMode="auto">
          <a:xfrm flipH="1">
            <a:off x="2286000" y="2743200"/>
            <a:ext cx="121920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5316" name="Line 1028"/>
          <p:cNvSpPr>
            <a:spLocks noChangeShapeType="1"/>
          </p:cNvSpPr>
          <p:nvPr/>
        </p:nvSpPr>
        <p:spPr bwMode="auto">
          <a:xfrm>
            <a:off x="2286000" y="3962400"/>
            <a:ext cx="1219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5317" name="Oval 1029"/>
          <p:cNvSpPr>
            <a:spLocks noChangeArrowheads="1"/>
          </p:cNvSpPr>
          <p:nvPr/>
        </p:nvSpPr>
        <p:spPr bwMode="auto">
          <a:xfrm>
            <a:off x="1905000" y="3733800"/>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5318" name="Text Box 1030"/>
          <p:cNvSpPr txBox="1">
            <a:spLocks noChangeArrowheads="1"/>
          </p:cNvSpPr>
          <p:nvPr/>
        </p:nvSpPr>
        <p:spPr bwMode="auto">
          <a:xfrm>
            <a:off x="1939925" y="3749676"/>
            <a:ext cx="3508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805319" name="Oval 1031"/>
          <p:cNvSpPr>
            <a:spLocks noChangeArrowheads="1"/>
          </p:cNvSpPr>
          <p:nvPr/>
        </p:nvSpPr>
        <p:spPr bwMode="auto">
          <a:xfrm>
            <a:off x="3317875" y="24987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5320" name="Text Box 1032"/>
          <p:cNvSpPr txBox="1">
            <a:spLocks noChangeArrowheads="1"/>
          </p:cNvSpPr>
          <p:nvPr/>
        </p:nvSpPr>
        <p:spPr bwMode="auto">
          <a:xfrm>
            <a:off x="3352801" y="2514601"/>
            <a:ext cx="328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805321" name="Oval 1033"/>
          <p:cNvSpPr>
            <a:spLocks noChangeArrowheads="1"/>
          </p:cNvSpPr>
          <p:nvPr/>
        </p:nvSpPr>
        <p:spPr bwMode="auto">
          <a:xfrm>
            <a:off x="5756275" y="24987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5322" name="Text Box 1034"/>
          <p:cNvSpPr txBox="1">
            <a:spLocks noChangeArrowheads="1"/>
          </p:cNvSpPr>
          <p:nvPr/>
        </p:nvSpPr>
        <p:spPr bwMode="auto">
          <a:xfrm>
            <a:off x="5791200" y="2514601"/>
            <a:ext cx="325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805323" name="Oval 1035"/>
          <p:cNvSpPr>
            <a:spLocks noChangeArrowheads="1"/>
          </p:cNvSpPr>
          <p:nvPr/>
        </p:nvSpPr>
        <p:spPr bwMode="auto">
          <a:xfrm>
            <a:off x="5832475" y="47085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5324" name="Text Box 1036"/>
          <p:cNvSpPr txBox="1">
            <a:spLocks noChangeArrowheads="1"/>
          </p:cNvSpPr>
          <p:nvPr/>
        </p:nvSpPr>
        <p:spPr bwMode="auto">
          <a:xfrm>
            <a:off x="5867400" y="4724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805325" name="Line 1037"/>
          <p:cNvSpPr>
            <a:spLocks noChangeShapeType="1"/>
          </p:cNvSpPr>
          <p:nvPr/>
        </p:nvSpPr>
        <p:spPr bwMode="auto">
          <a:xfrm>
            <a:off x="6553200" y="3276600"/>
            <a:ext cx="388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5326" name="Line 1038"/>
          <p:cNvSpPr>
            <a:spLocks noChangeShapeType="1"/>
          </p:cNvSpPr>
          <p:nvPr/>
        </p:nvSpPr>
        <p:spPr bwMode="auto">
          <a:xfrm>
            <a:off x="7620000" y="2667000"/>
            <a:ext cx="0" cy="2514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5327" name="Text Box 1039"/>
          <p:cNvSpPr txBox="1">
            <a:spLocks noChangeArrowheads="1"/>
          </p:cNvSpPr>
          <p:nvPr/>
        </p:nvSpPr>
        <p:spPr bwMode="auto">
          <a:xfrm>
            <a:off x="6629400" y="2667000"/>
            <a:ext cx="9985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Info at</a:t>
            </a:r>
          </a:p>
          <a:p>
            <a:r>
              <a:rPr lang="en-US" altLang="zh-CN" b="1">
                <a:latin typeface="Comic Sans MS" panose="030F0702030302020204" pitchFamily="66" charset="0"/>
              </a:rPr>
              <a:t>node</a:t>
            </a:r>
          </a:p>
        </p:txBody>
      </p:sp>
      <p:sp>
        <p:nvSpPr>
          <p:cNvPr id="1805328" name="Text Box 1040"/>
          <p:cNvSpPr txBox="1">
            <a:spLocks noChangeArrowheads="1"/>
          </p:cNvSpPr>
          <p:nvPr/>
        </p:nvSpPr>
        <p:spPr bwMode="auto">
          <a:xfrm>
            <a:off x="7070725" y="3394076"/>
            <a:ext cx="3508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805329" name="Text Box 1041"/>
          <p:cNvSpPr txBox="1">
            <a:spLocks noChangeArrowheads="1"/>
          </p:cNvSpPr>
          <p:nvPr/>
        </p:nvSpPr>
        <p:spPr bwMode="auto">
          <a:xfrm>
            <a:off x="7086601" y="3733801"/>
            <a:ext cx="328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805330" name="Text Box 1042"/>
          <p:cNvSpPr txBox="1">
            <a:spLocks noChangeArrowheads="1"/>
          </p:cNvSpPr>
          <p:nvPr/>
        </p:nvSpPr>
        <p:spPr bwMode="auto">
          <a:xfrm>
            <a:off x="7086600" y="4114801"/>
            <a:ext cx="325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805331" name="Text Box 1043"/>
          <p:cNvSpPr txBox="1">
            <a:spLocks noChangeArrowheads="1"/>
          </p:cNvSpPr>
          <p:nvPr/>
        </p:nvSpPr>
        <p:spPr bwMode="auto">
          <a:xfrm>
            <a:off x="7086600" y="44958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805332" name="Text Box 1044"/>
          <p:cNvSpPr txBox="1">
            <a:spLocks noChangeArrowheads="1"/>
          </p:cNvSpPr>
          <p:nvPr/>
        </p:nvSpPr>
        <p:spPr bwMode="auto">
          <a:xfrm>
            <a:off x="7848600" y="2895601"/>
            <a:ext cx="3508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A</a:t>
            </a:r>
          </a:p>
        </p:txBody>
      </p:sp>
      <p:sp>
        <p:nvSpPr>
          <p:cNvPr id="1805333" name="Text Box 1045"/>
          <p:cNvSpPr txBox="1">
            <a:spLocks noChangeArrowheads="1"/>
          </p:cNvSpPr>
          <p:nvPr/>
        </p:nvSpPr>
        <p:spPr bwMode="auto">
          <a:xfrm>
            <a:off x="8305801" y="2895601"/>
            <a:ext cx="328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B</a:t>
            </a:r>
          </a:p>
        </p:txBody>
      </p:sp>
      <p:sp>
        <p:nvSpPr>
          <p:cNvPr id="1805334" name="Text Box 1046"/>
          <p:cNvSpPr txBox="1">
            <a:spLocks noChangeArrowheads="1"/>
          </p:cNvSpPr>
          <p:nvPr/>
        </p:nvSpPr>
        <p:spPr bwMode="auto">
          <a:xfrm>
            <a:off x="8915400" y="2895601"/>
            <a:ext cx="325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C</a:t>
            </a:r>
          </a:p>
        </p:txBody>
      </p:sp>
      <p:sp>
        <p:nvSpPr>
          <p:cNvPr id="1805335" name="Text Box 1047"/>
          <p:cNvSpPr txBox="1">
            <a:spLocks noChangeArrowheads="1"/>
          </p:cNvSpPr>
          <p:nvPr/>
        </p:nvSpPr>
        <p:spPr bwMode="auto">
          <a:xfrm>
            <a:off x="78486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0</a:t>
            </a:r>
          </a:p>
        </p:txBody>
      </p:sp>
      <p:sp>
        <p:nvSpPr>
          <p:cNvPr id="1805336" name="Text Box 1048"/>
          <p:cNvSpPr txBox="1">
            <a:spLocks noChangeArrowheads="1"/>
          </p:cNvSpPr>
          <p:nvPr/>
        </p:nvSpPr>
        <p:spPr bwMode="auto">
          <a:xfrm>
            <a:off x="83058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7</a:t>
            </a:r>
          </a:p>
        </p:txBody>
      </p:sp>
      <p:sp>
        <p:nvSpPr>
          <p:cNvPr id="1805337" name="Text Box 1049"/>
          <p:cNvSpPr txBox="1">
            <a:spLocks noChangeArrowheads="1"/>
          </p:cNvSpPr>
          <p:nvPr/>
        </p:nvSpPr>
        <p:spPr bwMode="auto">
          <a:xfrm>
            <a:off x="89154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8</a:t>
            </a:r>
          </a:p>
        </p:txBody>
      </p:sp>
      <p:sp>
        <p:nvSpPr>
          <p:cNvPr id="1805338" name="Text Box 1050"/>
          <p:cNvSpPr txBox="1">
            <a:spLocks noChangeArrowheads="1"/>
          </p:cNvSpPr>
          <p:nvPr/>
        </p:nvSpPr>
        <p:spPr bwMode="auto">
          <a:xfrm>
            <a:off x="7848600" y="3733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7</a:t>
            </a:r>
          </a:p>
        </p:txBody>
      </p:sp>
      <p:sp>
        <p:nvSpPr>
          <p:cNvPr id="1805339" name="Text Box 1051"/>
          <p:cNvSpPr txBox="1">
            <a:spLocks noChangeArrowheads="1"/>
          </p:cNvSpPr>
          <p:nvPr/>
        </p:nvSpPr>
        <p:spPr bwMode="auto">
          <a:xfrm>
            <a:off x="8305800" y="3733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0</a:t>
            </a:r>
          </a:p>
        </p:txBody>
      </p:sp>
      <p:sp>
        <p:nvSpPr>
          <p:cNvPr id="1805340" name="Text Box 1052"/>
          <p:cNvSpPr txBox="1">
            <a:spLocks noChangeArrowheads="1"/>
          </p:cNvSpPr>
          <p:nvPr/>
        </p:nvSpPr>
        <p:spPr bwMode="auto">
          <a:xfrm>
            <a:off x="8915400" y="3733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1</a:t>
            </a:r>
          </a:p>
        </p:txBody>
      </p:sp>
      <p:sp>
        <p:nvSpPr>
          <p:cNvPr id="1805341" name="Text Box 1053"/>
          <p:cNvSpPr txBox="1">
            <a:spLocks noChangeArrowheads="1"/>
          </p:cNvSpPr>
          <p:nvPr/>
        </p:nvSpPr>
        <p:spPr bwMode="auto">
          <a:xfrm>
            <a:off x="78486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8</a:t>
            </a:r>
          </a:p>
        </p:txBody>
      </p:sp>
      <p:sp>
        <p:nvSpPr>
          <p:cNvPr id="1805342" name="Text Box 1054"/>
          <p:cNvSpPr txBox="1">
            <a:spLocks noChangeArrowheads="1"/>
          </p:cNvSpPr>
          <p:nvPr/>
        </p:nvSpPr>
        <p:spPr bwMode="auto">
          <a:xfrm>
            <a:off x="83058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1</a:t>
            </a:r>
          </a:p>
        </p:txBody>
      </p:sp>
      <p:sp>
        <p:nvSpPr>
          <p:cNvPr id="1805343" name="Text Box 1055"/>
          <p:cNvSpPr txBox="1">
            <a:spLocks noChangeArrowheads="1"/>
          </p:cNvSpPr>
          <p:nvPr/>
        </p:nvSpPr>
        <p:spPr bwMode="auto">
          <a:xfrm>
            <a:off x="89154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0</a:t>
            </a:r>
          </a:p>
        </p:txBody>
      </p:sp>
      <p:sp>
        <p:nvSpPr>
          <p:cNvPr id="1805344" name="Text Box 1056"/>
          <p:cNvSpPr txBox="1">
            <a:spLocks noChangeArrowheads="1"/>
          </p:cNvSpPr>
          <p:nvPr/>
        </p:nvSpPr>
        <p:spPr bwMode="auto">
          <a:xfrm>
            <a:off x="7848600" y="4495801"/>
            <a:ext cx="463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10</a:t>
            </a:r>
          </a:p>
        </p:txBody>
      </p:sp>
      <p:sp>
        <p:nvSpPr>
          <p:cNvPr id="1805345" name="Text Box 1057"/>
          <p:cNvSpPr txBox="1">
            <a:spLocks noChangeArrowheads="1"/>
          </p:cNvSpPr>
          <p:nvPr/>
        </p:nvSpPr>
        <p:spPr bwMode="auto">
          <a:xfrm>
            <a:off x="83058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3</a:t>
            </a:r>
          </a:p>
        </p:txBody>
      </p:sp>
      <p:sp>
        <p:nvSpPr>
          <p:cNvPr id="1805346" name="Text Box 1058"/>
          <p:cNvSpPr txBox="1">
            <a:spLocks noChangeArrowheads="1"/>
          </p:cNvSpPr>
          <p:nvPr/>
        </p:nvSpPr>
        <p:spPr bwMode="auto">
          <a:xfrm>
            <a:off x="89154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2</a:t>
            </a:r>
          </a:p>
        </p:txBody>
      </p:sp>
      <p:sp>
        <p:nvSpPr>
          <p:cNvPr id="1805347" name="Text Box 1059"/>
          <p:cNvSpPr txBox="1">
            <a:spLocks noChangeArrowheads="1"/>
          </p:cNvSpPr>
          <p:nvPr/>
        </p:nvSpPr>
        <p:spPr bwMode="auto">
          <a:xfrm>
            <a:off x="2438400" y="2971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7</a:t>
            </a:r>
          </a:p>
        </p:txBody>
      </p:sp>
      <p:sp>
        <p:nvSpPr>
          <p:cNvPr id="1805348" name="Text Box 1060"/>
          <p:cNvSpPr txBox="1">
            <a:spLocks noChangeArrowheads="1"/>
          </p:cNvSpPr>
          <p:nvPr/>
        </p:nvSpPr>
        <p:spPr bwMode="auto">
          <a:xfrm>
            <a:off x="23622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805349" name="Text Box 1061"/>
          <p:cNvSpPr txBox="1">
            <a:spLocks noChangeArrowheads="1"/>
          </p:cNvSpPr>
          <p:nvPr/>
        </p:nvSpPr>
        <p:spPr bwMode="auto">
          <a:xfrm>
            <a:off x="4648200" y="2286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1</a:t>
            </a:r>
          </a:p>
        </p:txBody>
      </p:sp>
      <p:sp>
        <p:nvSpPr>
          <p:cNvPr id="1805350" name="Text Box 1062"/>
          <p:cNvSpPr txBox="1">
            <a:spLocks noChangeArrowheads="1"/>
          </p:cNvSpPr>
          <p:nvPr/>
        </p:nvSpPr>
        <p:spPr bwMode="auto">
          <a:xfrm>
            <a:off x="45720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805351" name="Text Box 1063"/>
          <p:cNvSpPr txBox="1">
            <a:spLocks noChangeArrowheads="1"/>
          </p:cNvSpPr>
          <p:nvPr/>
        </p:nvSpPr>
        <p:spPr bwMode="auto">
          <a:xfrm>
            <a:off x="6096000" y="3733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2</a:t>
            </a:r>
          </a:p>
        </p:txBody>
      </p:sp>
      <p:sp>
        <p:nvSpPr>
          <p:cNvPr id="1805352" name="Text Box 1064"/>
          <p:cNvSpPr txBox="1">
            <a:spLocks noChangeArrowheads="1"/>
          </p:cNvSpPr>
          <p:nvPr/>
        </p:nvSpPr>
        <p:spPr bwMode="auto">
          <a:xfrm>
            <a:off x="3581400" y="3733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8</a:t>
            </a:r>
          </a:p>
        </p:txBody>
      </p:sp>
      <p:sp>
        <p:nvSpPr>
          <p:cNvPr id="1805353" name="Text Box 1065"/>
          <p:cNvSpPr txBox="1">
            <a:spLocks noChangeArrowheads="1"/>
          </p:cNvSpPr>
          <p:nvPr/>
        </p:nvSpPr>
        <p:spPr bwMode="auto">
          <a:xfrm>
            <a:off x="7848600" y="2438401"/>
            <a:ext cx="20526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Distance to node</a:t>
            </a:r>
          </a:p>
        </p:txBody>
      </p:sp>
      <p:sp>
        <p:nvSpPr>
          <p:cNvPr id="1805354" name="Text Box 1066"/>
          <p:cNvSpPr txBox="1">
            <a:spLocks noChangeArrowheads="1"/>
          </p:cNvSpPr>
          <p:nvPr/>
        </p:nvSpPr>
        <p:spPr bwMode="auto">
          <a:xfrm>
            <a:off x="9372600" y="28956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D</a:t>
            </a:r>
          </a:p>
        </p:txBody>
      </p:sp>
      <p:sp>
        <p:nvSpPr>
          <p:cNvPr id="1805355" name="Text Box 1067"/>
          <p:cNvSpPr txBox="1">
            <a:spLocks noChangeArrowheads="1"/>
          </p:cNvSpPr>
          <p:nvPr/>
        </p:nvSpPr>
        <p:spPr bwMode="auto">
          <a:xfrm>
            <a:off x="9372600" y="3378201"/>
            <a:ext cx="463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10</a:t>
            </a:r>
          </a:p>
        </p:txBody>
      </p:sp>
      <p:sp>
        <p:nvSpPr>
          <p:cNvPr id="1805356" name="Text Box 1068"/>
          <p:cNvSpPr txBox="1">
            <a:spLocks noChangeArrowheads="1"/>
          </p:cNvSpPr>
          <p:nvPr/>
        </p:nvSpPr>
        <p:spPr bwMode="auto">
          <a:xfrm>
            <a:off x="9372600" y="3733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3</a:t>
            </a:r>
          </a:p>
        </p:txBody>
      </p:sp>
      <p:sp>
        <p:nvSpPr>
          <p:cNvPr id="1805357" name="Text Box 1069"/>
          <p:cNvSpPr txBox="1">
            <a:spLocks noChangeArrowheads="1"/>
          </p:cNvSpPr>
          <p:nvPr/>
        </p:nvSpPr>
        <p:spPr bwMode="auto">
          <a:xfrm>
            <a:off x="93726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2</a:t>
            </a:r>
          </a:p>
        </p:txBody>
      </p:sp>
      <p:sp>
        <p:nvSpPr>
          <p:cNvPr id="1805358" name="Text Box 1070"/>
          <p:cNvSpPr txBox="1">
            <a:spLocks noChangeArrowheads="1"/>
          </p:cNvSpPr>
          <p:nvPr/>
        </p:nvSpPr>
        <p:spPr bwMode="auto">
          <a:xfrm>
            <a:off x="9372600" y="4495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0</a:t>
            </a:r>
          </a:p>
        </p:txBody>
      </p:sp>
      <p:sp>
        <p:nvSpPr>
          <p:cNvPr id="1805359" name="Text Box 1071"/>
          <p:cNvSpPr txBox="1">
            <a:spLocks noChangeArrowheads="1"/>
          </p:cNvSpPr>
          <p:nvPr/>
        </p:nvSpPr>
        <p:spPr bwMode="auto">
          <a:xfrm>
            <a:off x="7086601" y="4876801"/>
            <a:ext cx="3270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sp>
        <p:nvSpPr>
          <p:cNvPr id="1805360" name="Text Box 1072"/>
          <p:cNvSpPr txBox="1">
            <a:spLocks noChangeArrowheads="1"/>
          </p:cNvSpPr>
          <p:nvPr/>
        </p:nvSpPr>
        <p:spPr bwMode="auto">
          <a:xfrm>
            <a:off x="78486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1</a:t>
            </a:r>
          </a:p>
        </p:txBody>
      </p:sp>
      <p:sp>
        <p:nvSpPr>
          <p:cNvPr id="1805361" name="Text Box 1073"/>
          <p:cNvSpPr txBox="1">
            <a:spLocks noChangeArrowheads="1"/>
          </p:cNvSpPr>
          <p:nvPr/>
        </p:nvSpPr>
        <p:spPr bwMode="auto">
          <a:xfrm>
            <a:off x="83058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8</a:t>
            </a:r>
          </a:p>
        </p:txBody>
      </p:sp>
      <p:sp>
        <p:nvSpPr>
          <p:cNvPr id="1805362" name="Text Box 1074"/>
          <p:cNvSpPr txBox="1">
            <a:spLocks noChangeArrowheads="1"/>
          </p:cNvSpPr>
          <p:nvPr/>
        </p:nvSpPr>
        <p:spPr bwMode="auto">
          <a:xfrm>
            <a:off x="89154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9</a:t>
            </a:r>
          </a:p>
        </p:txBody>
      </p:sp>
      <p:sp>
        <p:nvSpPr>
          <p:cNvPr id="1805363" name="Text Box 1075"/>
          <p:cNvSpPr txBox="1">
            <a:spLocks noChangeArrowheads="1"/>
          </p:cNvSpPr>
          <p:nvPr/>
        </p:nvSpPr>
        <p:spPr bwMode="auto">
          <a:xfrm>
            <a:off x="9372600" y="4876801"/>
            <a:ext cx="463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11</a:t>
            </a:r>
          </a:p>
        </p:txBody>
      </p:sp>
      <p:sp>
        <p:nvSpPr>
          <p:cNvPr id="1805364" name="Text Box 1076"/>
          <p:cNvSpPr txBox="1">
            <a:spLocks noChangeArrowheads="1"/>
          </p:cNvSpPr>
          <p:nvPr/>
        </p:nvSpPr>
        <p:spPr bwMode="auto">
          <a:xfrm>
            <a:off x="9906000" y="33782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1</a:t>
            </a:r>
          </a:p>
        </p:txBody>
      </p:sp>
      <p:sp>
        <p:nvSpPr>
          <p:cNvPr id="1805365" name="Text Box 1077"/>
          <p:cNvSpPr txBox="1">
            <a:spLocks noChangeArrowheads="1"/>
          </p:cNvSpPr>
          <p:nvPr/>
        </p:nvSpPr>
        <p:spPr bwMode="auto">
          <a:xfrm>
            <a:off x="9906000" y="3733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8</a:t>
            </a:r>
          </a:p>
        </p:txBody>
      </p:sp>
      <p:sp>
        <p:nvSpPr>
          <p:cNvPr id="1805366" name="Text Box 1078"/>
          <p:cNvSpPr txBox="1">
            <a:spLocks noChangeArrowheads="1"/>
          </p:cNvSpPr>
          <p:nvPr/>
        </p:nvSpPr>
        <p:spPr bwMode="auto">
          <a:xfrm>
            <a:off x="9906000" y="4114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9</a:t>
            </a:r>
          </a:p>
        </p:txBody>
      </p:sp>
      <p:sp>
        <p:nvSpPr>
          <p:cNvPr id="1805367" name="Text Box 1079"/>
          <p:cNvSpPr txBox="1">
            <a:spLocks noChangeArrowheads="1"/>
          </p:cNvSpPr>
          <p:nvPr/>
        </p:nvSpPr>
        <p:spPr bwMode="auto">
          <a:xfrm>
            <a:off x="9906000" y="4495801"/>
            <a:ext cx="463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11</a:t>
            </a:r>
          </a:p>
        </p:txBody>
      </p:sp>
      <p:sp>
        <p:nvSpPr>
          <p:cNvPr id="1805368" name="Text Box 1080"/>
          <p:cNvSpPr txBox="1">
            <a:spLocks noChangeArrowheads="1"/>
          </p:cNvSpPr>
          <p:nvPr/>
        </p:nvSpPr>
        <p:spPr bwMode="auto">
          <a:xfrm>
            <a:off x="9906000" y="48768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66"/>
                </a:solidFill>
                <a:latin typeface="Comic Sans MS" panose="030F0702030302020204" pitchFamily="66" charset="0"/>
              </a:rPr>
              <a:t>0</a:t>
            </a:r>
          </a:p>
        </p:txBody>
      </p:sp>
      <p:sp>
        <p:nvSpPr>
          <p:cNvPr id="1805369" name="Text Box 1081"/>
          <p:cNvSpPr txBox="1">
            <a:spLocks noChangeArrowheads="1"/>
          </p:cNvSpPr>
          <p:nvPr/>
        </p:nvSpPr>
        <p:spPr bwMode="auto">
          <a:xfrm>
            <a:off x="9906001" y="2895601"/>
            <a:ext cx="3270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sp>
        <p:nvSpPr>
          <p:cNvPr id="1805370" name="Oval 1082"/>
          <p:cNvSpPr>
            <a:spLocks noChangeArrowheads="1"/>
          </p:cNvSpPr>
          <p:nvPr/>
        </p:nvSpPr>
        <p:spPr bwMode="auto">
          <a:xfrm>
            <a:off x="3317875" y="4784725"/>
            <a:ext cx="381000" cy="3810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5371" name="Text Box 1083"/>
          <p:cNvSpPr txBox="1">
            <a:spLocks noChangeArrowheads="1"/>
          </p:cNvSpPr>
          <p:nvPr/>
        </p:nvSpPr>
        <p:spPr bwMode="auto">
          <a:xfrm>
            <a:off x="3352801" y="4800601"/>
            <a:ext cx="327025" cy="366713"/>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Comic Sans MS" panose="030F0702030302020204" pitchFamily="66" charset="0"/>
              </a:rPr>
              <a:t>E</a:t>
            </a:r>
          </a:p>
        </p:txBody>
      </p:sp>
      <p:sp>
        <p:nvSpPr>
          <p:cNvPr id="1805372" name="Line 1084"/>
          <p:cNvSpPr>
            <a:spLocks noChangeShapeType="1"/>
          </p:cNvSpPr>
          <p:nvPr/>
        </p:nvSpPr>
        <p:spPr bwMode="auto">
          <a:xfrm>
            <a:off x="4191000" y="4724400"/>
            <a:ext cx="762000" cy="457200"/>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5373" name="Line 1085"/>
          <p:cNvSpPr>
            <a:spLocks noChangeShapeType="1"/>
          </p:cNvSpPr>
          <p:nvPr/>
        </p:nvSpPr>
        <p:spPr bwMode="auto">
          <a:xfrm flipV="1">
            <a:off x="4267200" y="4724400"/>
            <a:ext cx="685800" cy="533400"/>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5374" name="Rectangle 1086"/>
          <p:cNvSpPr>
            <a:spLocks noGrp="1" noChangeArrowheads="1"/>
          </p:cNvSpPr>
          <p:nvPr>
            <p:ph type="title"/>
          </p:nvPr>
        </p:nvSpPr>
        <p:spPr bwMode="auto">
          <a:xfrm>
            <a:off x="2230438" y="266701"/>
            <a:ext cx="5834062" cy="6477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fontScale="90000"/>
          </a:bodyPr>
          <a:lstStyle/>
          <a:p>
            <a:r>
              <a:rPr lang="zh-CN" altLang="en-US"/>
              <a:t>链路失败后的最终距离</a:t>
            </a:r>
          </a:p>
        </p:txBody>
      </p:sp>
    </p:spTree>
    <p:extLst>
      <p:ext uri="{BB962C8B-B14F-4D97-AF65-F5344CB8AC3E}">
        <p14:creationId xmlns:p14="http://schemas.microsoft.com/office/powerpoint/2010/main" val="617048084"/>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3266" name="Rectangle 1026"/>
          <p:cNvSpPr>
            <a:spLocks noGrp="1" noChangeArrowheads="1"/>
          </p:cNvSpPr>
          <p:nvPr>
            <p:ph type="title"/>
          </p:nvPr>
        </p:nvSpPr>
        <p:spPr bwMode="auto">
          <a:xfrm>
            <a:off x="2038350" y="296863"/>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en-US" altLang="zh-CN"/>
              <a:t>DV</a:t>
            </a:r>
            <a:r>
              <a:rPr lang="zh-CN" altLang="en-US"/>
              <a:t>典型例子</a:t>
            </a:r>
          </a:p>
        </p:txBody>
      </p:sp>
      <p:sp>
        <p:nvSpPr>
          <p:cNvPr id="1803268" name="Text Box 1028"/>
          <p:cNvSpPr txBox="1">
            <a:spLocks noChangeArrowheads="1"/>
          </p:cNvSpPr>
          <p:nvPr/>
        </p:nvSpPr>
        <p:spPr bwMode="auto">
          <a:xfrm>
            <a:off x="629027" y="1784351"/>
            <a:ext cx="49111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a:t>假定</a:t>
            </a:r>
            <a:r>
              <a:rPr lang="en-US" altLang="zh-CN"/>
              <a:t>i</a:t>
            </a:r>
            <a:r>
              <a:rPr lang="zh-CN" altLang="en-US"/>
              <a:t>和</a:t>
            </a:r>
            <a:r>
              <a:rPr lang="en-US" altLang="zh-CN"/>
              <a:t>j</a:t>
            </a:r>
            <a:r>
              <a:rPr lang="zh-CN" altLang="en-US"/>
              <a:t>为相邻</a:t>
            </a:r>
            <a:r>
              <a:rPr lang="zh-CN" altLang="en-US" smtClean="0"/>
              <a:t>路由器，它们之间的代价为</a:t>
            </a:r>
            <a:r>
              <a:rPr lang="en-US" altLang="zh-CN" smtClean="0"/>
              <a:t>1</a:t>
            </a:r>
            <a:r>
              <a:rPr lang="zh-CN" altLang="en-US" smtClean="0"/>
              <a:t> </a:t>
            </a:r>
            <a:endParaRPr lang="zh-CN" altLang="en-US"/>
          </a:p>
        </p:txBody>
      </p:sp>
      <p:grpSp>
        <p:nvGrpSpPr>
          <p:cNvPr id="1803329" name="Group 1089"/>
          <p:cNvGrpSpPr>
            <a:grpSpLocks/>
          </p:cNvGrpSpPr>
          <p:nvPr/>
        </p:nvGrpSpPr>
        <p:grpSpPr bwMode="auto">
          <a:xfrm>
            <a:off x="1936750" y="2625726"/>
            <a:ext cx="4406900" cy="3736975"/>
            <a:chOff x="260" y="1654"/>
            <a:chExt cx="2776" cy="2354"/>
          </a:xfrm>
        </p:grpSpPr>
        <p:grpSp>
          <p:nvGrpSpPr>
            <p:cNvPr id="1803289" name="Group 1049"/>
            <p:cNvGrpSpPr>
              <a:grpSpLocks/>
            </p:cNvGrpSpPr>
            <p:nvPr/>
          </p:nvGrpSpPr>
          <p:grpSpPr bwMode="auto">
            <a:xfrm>
              <a:off x="260" y="1654"/>
              <a:ext cx="2610" cy="2034"/>
              <a:chOff x="-3" y="-3"/>
              <a:chExt cx="1412" cy="1350"/>
            </a:xfrm>
          </p:grpSpPr>
          <p:grpSp>
            <p:nvGrpSpPr>
              <p:cNvPr id="1803287" name="Group 1047"/>
              <p:cNvGrpSpPr>
                <a:grpSpLocks/>
              </p:cNvGrpSpPr>
              <p:nvPr/>
            </p:nvGrpSpPr>
            <p:grpSpPr bwMode="auto">
              <a:xfrm>
                <a:off x="0" y="0"/>
                <a:ext cx="1406" cy="1344"/>
                <a:chOff x="0" y="0"/>
                <a:chExt cx="1406" cy="1344"/>
              </a:xfrm>
            </p:grpSpPr>
            <p:grpSp>
              <p:nvGrpSpPr>
                <p:cNvPr id="1803276" name="Group 1036"/>
                <p:cNvGrpSpPr>
                  <a:grpSpLocks/>
                </p:cNvGrpSpPr>
                <p:nvPr/>
              </p:nvGrpSpPr>
              <p:grpSpPr bwMode="auto">
                <a:xfrm>
                  <a:off x="0" y="0"/>
                  <a:ext cx="682" cy="384"/>
                  <a:chOff x="0" y="0"/>
                  <a:chExt cx="682" cy="384"/>
                </a:xfrm>
              </p:grpSpPr>
              <p:sp>
                <p:nvSpPr>
                  <p:cNvPr id="1803269" name="Rectangle 1029"/>
                  <p:cNvSpPr>
                    <a:spLocks noChangeArrowheads="1"/>
                  </p:cNvSpPr>
                  <p:nvPr/>
                </p:nvSpPr>
                <p:spPr bwMode="auto">
                  <a:xfrm>
                    <a:off x="43" y="0"/>
                    <a:ext cx="59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kumimoji="1" lang="zh-CN" altLang="en-US" sz="2000"/>
                      <a:t>信   宿</a:t>
                    </a:r>
                  </a:p>
                </p:txBody>
              </p:sp>
              <p:sp>
                <p:nvSpPr>
                  <p:cNvPr id="1803275" name="Rectangle 1035"/>
                  <p:cNvSpPr>
                    <a:spLocks noChangeArrowheads="1"/>
                  </p:cNvSpPr>
                  <p:nvPr/>
                </p:nvSpPr>
                <p:spPr bwMode="auto">
                  <a:xfrm>
                    <a:off x="0" y="0"/>
                    <a:ext cx="68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803278" name="Group 1038"/>
                <p:cNvGrpSpPr>
                  <a:grpSpLocks/>
                </p:cNvGrpSpPr>
                <p:nvPr/>
              </p:nvGrpSpPr>
              <p:grpSpPr bwMode="auto">
                <a:xfrm>
                  <a:off x="682" y="0"/>
                  <a:ext cx="362" cy="384"/>
                  <a:chOff x="682" y="0"/>
                  <a:chExt cx="362" cy="384"/>
                </a:xfrm>
              </p:grpSpPr>
              <p:sp>
                <p:nvSpPr>
                  <p:cNvPr id="1803270" name="Rectangle 1030"/>
                  <p:cNvSpPr>
                    <a:spLocks noChangeArrowheads="1"/>
                  </p:cNvSpPr>
                  <p:nvPr/>
                </p:nvSpPr>
                <p:spPr bwMode="auto">
                  <a:xfrm>
                    <a:off x="725" y="0"/>
                    <a:ext cx="27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kumimoji="1" lang="zh-CN" altLang="en-US" sz="2000"/>
                      <a:t>距离</a:t>
                    </a:r>
                  </a:p>
                </p:txBody>
              </p:sp>
              <p:sp>
                <p:nvSpPr>
                  <p:cNvPr id="1803277" name="Rectangle 1037"/>
                  <p:cNvSpPr>
                    <a:spLocks noChangeArrowheads="1"/>
                  </p:cNvSpPr>
                  <p:nvPr/>
                </p:nvSpPr>
                <p:spPr bwMode="auto">
                  <a:xfrm>
                    <a:off x="682" y="0"/>
                    <a:ext cx="36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803280" name="Group 1040"/>
                <p:cNvGrpSpPr>
                  <a:grpSpLocks/>
                </p:cNvGrpSpPr>
                <p:nvPr/>
              </p:nvGrpSpPr>
              <p:grpSpPr bwMode="auto">
                <a:xfrm>
                  <a:off x="1044" y="0"/>
                  <a:ext cx="362" cy="384"/>
                  <a:chOff x="1044" y="0"/>
                  <a:chExt cx="362" cy="384"/>
                </a:xfrm>
              </p:grpSpPr>
              <p:sp>
                <p:nvSpPr>
                  <p:cNvPr id="1803271" name="Rectangle 1031"/>
                  <p:cNvSpPr>
                    <a:spLocks noChangeArrowheads="1"/>
                  </p:cNvSpPr>
                  <p:nvPr/>
                </p:nvSpPr>
                <p:spPr bwMode="auto">
                  <a:xfrm>
                    <a:off x="1087" y="0"/>
                    <a:ext cx="27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kumimoji="1" lang="zh-CN" altLang="en-US" sz="2000"/>
                      <a:t>路径</a:t>
                    </a:r>
                  </a:p>
                  <a:p>
                    <a:pPr algn="ctr" eaLnBrk="1" hangingPunct="1"/>
                    <a:r>
                      <a:rPr kumimoji="1" lang="zh-CN" altLang="en-US" sz="2000"/>
                      <a:t>（跳）</a:t>
                    </a:r>
                  </a:p>
                </p:txBody>
              </p:sp>
              <p:sp>
                <p:nvSpPr>
                  <p:cNvPr id="1803279" name="Rectangle 1039"/>
                  <p:cNvSpPr>
                    <a:spLocks noChangeArrowheads="1"/>
                  </p:cNvSpPr>
                  <p:nvPr/>
                </p:nvSpPr>
                <p:spPr bwMode="auto">
                  <a:xfrm>
                    <a:off x="1044" y="0"/>
                    <a:ext cx="36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803282" name="Group 1042"/>
                <p:cNvGrpSpPr>
                  <a:grpSpLocks/>
                </p:cNvGrpSpPr>
                <p:nvPr/>
              </p:nvGrpSpPr>
              <p:grpSpPr bwMode="auto">
                <a:xfrm>
                  <a:off x="0" y="384"/>
                  <a:ext cx="682" cy="960"/>
                  <a:chOff x="0" y="384"/>
                  <a:chExt cx="682" cy="960"/>
                </a:xfrm>
              </p:grpSpPr>
              <p:sp>
                <p:nvSpPr>
                  <p:cNvPr id="1803272" name="Rectangle 1032"/>
                  <p:cNvSpPr>
                    <a:spLocks noChangeArrowheads="1"/>
                  </p:cNvSpPr>
                  <p:nvPr/>
                </p:nvSpPr>
                <p:spPr bwMode="auto">
                  <a:xfrm>
                    <a:off x="43" y="384"/>
                    <a:ext cx="596" cy="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kumimoji="1" lang="en-US" altLang="zh-CN" sz="2000" smtClean="0">
                        <a:cs typeface="Times New Roman" panose="02020603050405020304" pitchFamily="18" charset="0"/>
                      </a:rPr>
                      <a:t>10.0.0</a:t>
                    </a:r>
                    <a:r>
                      <a:rPr kumimoji="1" lang="en-US" altLang="zh-CN" sz="2000">
                        <a:cs typeface="Times New Roman" panose="02020603050405020304" pitchFamily="18" charset="0"/>
                      </a:rPr>
                      <a:t>.</a:t>
                    </a:r>
                    <a:r>
                      <a:rPr kumimoji="1" lang="en-US" altLang="zh-CN" sz="2000" smtClean="0">
                        <a:cs typeface="Times New Roman" panose="02020603050405020304" pitchFamily="18" charset="0"/>
                      </a:rPr>
                      <a:t>0</a:t>
                    </a:r>
                    <a:endParaRPr kumimoji="1" lang="en-US" altLang="zh-CN" sz="2000"/>
                  </a:p>
                  <a:p>
                    <a:r>
                      <a:rPr kumimoji="1" lang="en-US" altLang="zh-CN" sz="2000" smtClean="0">
                        <a:cs typeface="Times New Roman" panose="02020603050405020304" pitchFamily="18" charset="0"/>
                      </a:rPr>
                      <a:t>30.0.0</a:t>
                    </a:r>
                    <a:r>
                      <a:rPr kumimoji="1" lang="en-US" altLang="zh-CN" sz="2000">
                        <a:cs typeface="Times New Roman" panose="02020603050405020304" pitchFamily="18" charset="0"/>
                      </a:rPr>
                      <a:t>.</a:t>
                    </a:r>
                    <a:r>
                      <a:rPr kumimoji="1" lang="en-US" altLang="zh-CN" sz="2000" smtClean="0">
                        <a:cs typeface="Times New Roman" panose="02020603050405020304" pitchFamily="18" charset="0"/>
                      </a:rPr>
                      <a:t>0</a:t>
                    </a:r>
                    <a:endParaRPr kumimoji="1" lang="en-US" altLang="zh-CN" sz="2000"/>
                  </a:p>
                  <a:p>
                    <a:r>
                      <a:rPr kumimoji="1" lang="en-US" altLang="zh-CN" sz="2000" smtClean="0">
                        <a:cs typeface="Times New Roman" panose="02020603050405020304" pitchFamily="18" charset="0"/>
                      </a:rPr>
                      <a:t>40.0.0</a:t>
                    </a:r>
                    <a:r>
                      <a:rPr kumimoji="1" lang="en-US" altLang="zh-CN" sz="2000">
                        <a:cs typeface="Times New Roman" panose="02020603050405020304" pitchFamily="18" charset="0"/>
                      </a:rPr>
                      <a:t>.</a:t>
                    </a:r>
                    <a:r>
                      <a:rPr kumimoji="1" lang="en-US" altLang="zh-CN" sz="2000" smtClean="0">
                        <a:cs typeface="Times New Roman" panose="02020603050405020304" pitchFamily="18" charset="0"/>
                      </a:rPr>
                      <a:t>0</a:t>
                    </a:r>
                    <a:endParaRPr kumimoji="1" lang="en-US" altLang="zh-CN" sz="2000"/>
                  </a:p>
                  <a:p>
                    <a:r>
                      <a:rPr kumimoji="1" lang="en-US" altLang="zh-CN" sz="2000" smtClean="0">
                        <a:cs typeface="Times New Roman" panose="02020603050405020304" pitchFamily="18" charset="0"/>
                      </a:rPr>
                      <a:t>45.0.0</a:t>
                    </a:r>
                    <a:r>
                      <a:rPr kumimoji="1" lang="en-US" altLang="zh-CN" sz="2000">
                        <a:cs typeface="Times New Roman" panose="02020603050405020304" pitchFamily="18" charset="0"/>
                      </a:rPr>
                      <a:t>.</a:t>
                    </a:r>
                    <a:r>
                      <a:rPr kumimoji="1" lang="en-US" altLang="zh-CN" sz="2000" smtClean="0">
                        <a:cs typeface="Times New Roman" panose="02020603050405020304" pitchFamily="18" charset="0"/>
                      </a:rPr>
                      <a:t>0</a:t>
                    </a:r>
                    <a:endParaRPr kumimoji="1" lang="en-US" altLang="zh-CN" sz="2000"/>
                  </a:p>
                  <a:p>
                    <a:r>
                      <a:rPr kumimoji="1" lang="en-US" altLang="zh-CN" sz="2000" smtClean="0">
                        <a:solidFill>
                          <a:srgbClr val="FF0000"/>
                        </a:solidFill>
                        <a:cs typeface="Times New Roman" panose="02020603050405020304" pitchFamily="18" charset="0"/>
                      </a:rPr>
                      <a:t>180</a:t>
                    </a:r>
                    <a:r>
                      <a:rPr kumimoji="1" lang="en-US" altLang="zh-CN" sz="2000" smtClean="0">
                        <a:cs typeface="Times New Roman" panose="02020603050405020304" pitchFamily="18" charset="0"/>
                      </a:rPr>
                      <a:t>.</a:t>
                    </a:r>
                    <a:r>
                      <a:rPr kumimoji="1" lang="en-US" altLang="zh-CN" sz="2000" smtClean="0">
                        <a:solidFill>
                          <a:srgbClr val="FF0000"/>
                        </a:solidFill>
                        <a:cs typeface="Times New Roman" panose="02020603050405020304" pitchFamily="18" charset="0"/>
                      </a:rPr>
                      <a:t>0</a:t>
                    </a:r>
                    <a:r>
                      <a:rPr kumimoji="1" lang="en-US" altLang="zh-CN" sz="2000" smtClean="0">
                        <a:cs typeface="Times New Roman" panose="02020603050405020304" pitchFamily="18" charset="0"/>
                      </a:rPr>
                      <a:t>.</a:t>
                    </a:r>
                    <a:r>
                      <a:rPr kumimoji="1" lang="en-US" altLang="zh-CN" sz="2000" smtClean="0">
                        <a:solidFill>
                          <a:srgbClr val="FF0000"/>
                        </a:solidFill>
                        <a:cs typeface="Times New Roman" panose="02020603050405020304" pitchFamily="18" charset="0"/>
                      </a:rPr>
                      <a:t>0</a:t>
                    </a:r>
                    <a:r>
                      <a:rPr kumimoji="1" lang="en-US" altLang="zh-CN" sz="2000">
                        <a:cs typeface="Times New Roman" panose="02020603050405020304" pitchFamily="18" charset="0"/>
                      </a:rPr>
                      <a:t>.</a:t>
                    </a:r>
                    <a:r>
                      <a:rPr kumimoji="1" lang="en-US" altLang="zh-CN" sz="2000" smtClean="0">
                        <a:solidFill>
                          <a:srgbClr val="FF0000"/>
                        </a:solidFill>
                        <a:cs typeface="Times New Roman" panose="02020603050405020304" pitchFamily="18" charset="0"/>
                      </a:rPr>
                      <a:t>0</a:t>
                    </a:r>
                    <a:endParaRPr kumimoji="1" lang="en-US" altLang="zh-CN" sz="2000"/>
                  </a:p>
                  <a:p>
                    <a:r>
                      <a:rPr kumimoji="1" lang="en-US" altLang="zh-CN" sz="2000" smtClean="0">
                        <a:cs typeface="Times New Roman" panose="02020603050405020304" pitchFamily="18" charset="0"/>
                      </a:rPr>
                      <a:t>190.0.0</a:t>
                    </a:r>
                    <a:r>
                      <a:rPr kumimoji="1" lang="en-US" altLang="zh-CN" sz="2000">
                        <a:cs typeface="Times New Roman" panose="02020603050405020304" pitchFamily="18" charset="0"/>
                      </a:rPr>
                      <a:t>.</a:t>
                    </a:r>
                    <a:r>
                      <a:rPr kumimoji="1" lang="en-US" altLang="zh-CN" sz="2000" smtClean="0">
                        <a:cs typeface="Times New Roman" panose="02020603050405020304" pitchFamily="18" charset="0"/>
                      </a:rPr>
                      <a:t>0</a:t>
                    </a:r>
                    <a:endParaRPr kumimoji="1" lang="en-US" altLang="zh-CN" sz="2000"/>
                  </a:p>
                  <a:p>
                    <a:r>
                      <a:rPr kumimoji="1" lang="en-US" altLang="zh-CN" sz="2000" smtClean="0">
                        <a:solidFill>
                          <a:srgbClr val="0000FF"/>
                        </a:solidFill>
                        <a:cs typeface="Times New Roman" panose="02020603050405020304" pitchFamily="18" charset="0"/>
                      </a:rPr>
                      <a:t>199</a:t>
                    </a:r>
                    <a:r>
                      <a:rPr kumimoji="1" lang="en-US" altLang="zh-CN" sz="2000" smtClean="0">
                        <a:cs typeface="Times New Roman" panose="02020603050405020304" pitchFamily="18" charset="0"/>
                      </a:rPr>
                      <a:t>.</a:t>
                    </a:r>
                    <a:r>
                      <a:rPr kumimoji="1" lang="en-US" altLang="zh-CN" sz="2000" smtClean="0">
                        <a:solidFill>
                          <a:srgbClr val="0000FF"/>
                        </a:solidFill>
                        <a:cs typeface="Times New Roman" panose="02020603050405020304" pitchFamily="18" charset="0"/>
                      </a:rPr>
                      <a:t>0</a:t>
                    </a:r>
                    <a:r>
                      <a:rPr kumimoji="1" lang="en-US" altLang="zh-CN" sz="2000" smtClean="0">
                        <a:cs typeface="Times New Roman" panose="02020603050405020304" pitchFamily="18" charset="0"/>
                      </a:rPr>
                      <a:t>.</a:t>
                    </a:r>
                    <a:r>
                      <a:rPr kumimoji="1" lang="en-US" altLang="zh-CN" sz="2000" smtClean="0">
                        <a:solidFill>
                          <a:srgbClr val="0000FF"/>
                        </a:solidFill>
                        <a:cs typeface="Times New Roman" panose="02020603050405020304" pitchFamily="18" charset="0"/>
                      </a:rPr>
                      <a:t>0</a:t>
                    </a:r>
                    <a:r>
                      <a:rPr kumimoji="1" lang="en-US" altLang="zh-CN" sz="2000">
                        <a:cs typeface="Times New Roman" panose="02020603050405020304" pitchFamily="18" charset="0"/>
                      </a:rPr>
                      <a:t>.</a:t>
                    </a:r>
                    <a:r>
                      <a:rPr kumimoji="1" lang="en-US" altLang="zh-CN" sz="2000" smtClean="0">
                        <a:solidFill>
                          <a:srgbClr val="0000FF"/>
                        </a:solidFill>
                        <a:cs typeface="Times New Roman" panose="02020603050405020304" pitchFamily="18" charset="0"/>
                      </a:rPr>
                      <a:t>0</a:t>
                    </a:r>
                    <a:endParaRPr kumimoji="1" lang="en-US" altLang="zh-CN" sz="2000"/>
                  </a:p>
                  <a:p>
                    <a:endParaRPr kumimoji="1" lang="en-US" altLang="zh-CN" sz="2000"/>
                  </a:p>
                </p:txBody>
              </p:sp>
              <p:sp>
                <p:nvSpPr>
                  <p:cNvPr id="1803281" name="Rectangle 1041"/>
                  <p:cNvSpPr>
                    <a:spLocks noChangeArrowheads="1"/>
                  </p:cNvSpPr>
                  <p:nvPr/>
                </p:nvSpPr>
                <p:spPr bwMode="auto">
                  <a:xfrm>
                    <a:off x="0" y="384"/>
                    <a:ext cx="682" cy="9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803284" name="Group 1044"/>
                <p:cNvGrpSpPr>
                  <a:grpSpLocks/>
                </p:cNvGrpSpPr>
                <p:nvPr/>
              </p:nvGrpSpPr>
              <p:grpSpPr bwMode="auto">
                <a:xfrm>
                  <a:off x="682" y="384"/>
                  <a:ext cx="362" cy="960"/>
                  <a:chOff x="682" y="384"/>
                  <a:chExt cx="362" cy="960"/>
                </a:xfrm>
              </p:grpSpPr>
              <p:sp>
                <p:nvSpPr>
                  <p:cNvPr id="1803273" name="Rectangle 1033"/>
                  <p:cNvSpPr>
                    <a:spLocks noChangeArrowheads="1"/>
                  </p:cNvSpPr>
                  <p:nvPr/>
                </p:nvSpPr>
                <p:spPr bwMode="auto">
                  <a:xfrm>
                    <a:off x="725" y="384"/>
                    <a:ext cx="276" cy="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kumimoji="1" lang="en-US" altLang="zh-CN" sz="2000">
                        <a:cs typeface="Times New Roman" panose="02020603050405020304" pitchFamily="18" charset="0"/>
                      </a:rPr>
                      <a:t>0</a:t>
                    </a:r>
                    <a:endParaRPr kumimoji="1" lang="en-US" altLang="zh-CN" sz="2000"/>
                  </a:p>
                  <a:p>
                    <a:pPr algn="ctr"/>
                    <a:r>
                      <a:rPr kumimoji="1" lang="en-US" altLang="zh-CN" sz="2000">
                        <a:cs typeface="Times New Roman" panose="02020603050405020304" pitchFamily="18" charset="0"/>
                      </a:rPr>
                      <a:t>7</a:t>
                    </a:r>
                    <a:endParaRPr kumimoji="1" lang="en-US" altLang="zh-CN" sz="2000"/>
                  </a:p>
                  <a:p>
                    <a:pPr algn="ctr"/>
                    <a:r>
                      <a:rPr kumimoji="1" lang="en-US" altLang="zh-CN" sz="2000">
                        <a:cs typeface="Times New Roman" panose="02020603050405020304" pitchFamily="18" charset="0"/>
                      </a:rPr>
                      <a:t>3</a:t>
                    </a:r>
                    <a:endParaRPr kumimoji="1" lang="en-US" altLang="zh-CN" sz="2000"/>
                  </a:p>
                  <a:p>
                    <a:pPr algn="ctr"/>
                    <a:r>
                      <a:rPr kumimoji="1" lang="en-US" altLang="zh-CN" sz="2000">
                        <a:cs typeface="Times New Roman" panose="02020603050405020304" pitchFamily="18" charset="0"/>
                      </a:rPr>
                      <a:t>4</a:t>
                    </a:r>
                    <a:endParaRPr kumimoji="1" lang="en-US" altLang="zh-CN" sz="2000"/>
                  </a:p>
                  <a:p>
                    <a:pPr algn="ctr"/>
                    <a:r>
                      <a:rPr kumimoji="1" lang="en-US" altLang="zh-CN" sz="2000">
                        <a:cs typeface="Times New Roman" panose="02020603050405020304" pitchFamily="18" charset="0"/>
                      </a:rPr>
                      <a:t>7</a:t>
                    </a:r>
                    <a:endParaRPr kumimoji="1" lang="en-US" altLang="zh-CN" sz="2000"/>
                  </a:p>
                  <a:p>
                    <a:pPr algn="ctr"/>
                    <a:r>
                      <a:rPr kumimoji="1" lang="en-US" altLang="zh-CN" sz="2000">
                        <a:cs typeface="Times New Roman" panose="02020603050405020304" pitchFamily="18" charset="0"/>
                      </a:rPr>
                      <a:t>10</a:t>
                    </a:r>
                    <a:endParaRPr kumimoji="1" lang="en-US" altLang="zh-CN" sz="2000"/>
                  </a:p>
                  <a:p>
                    <a:pPr algn="ctr"/>
                    <a:r>
                      <a:rPr kumimoji="1" lang="en-US" altLang="zh-CN" sz="2000">
                        <a:cs typeface="Times New Roman" panose="02020603050405020304" pitchFamily="18" charset="0"/>
                      </a:rPr>
                      <a:t>6</a:t>
                    </a:r>
                    <a:endParaRPr kumimoji="1" lang="en-US" altLang="zh-CN" sz="2000"/>
                  </a:p>
                  <a:p>
                    <a:pPr algn="ctr"/>
                    <a:endParaRPr kumimoji="1" lang="en-US" altLang="zh-CN" sz="2000"/>
                  </a:p>
                </p:txBody>
              </p:sp>
              <p:sp>
                <p:nvSpPr>
                  <p:cNvPr id="1803283" name="Rectangle 1043"/>
                  <p:cNvSpPr>
                    <a:spLocks noChangeArrowheads="1"/>
                  </p:cNvSpPr>
                  <p:nvPr/>
                </p:nvSpPr>
                <p:spPr bwMode="auto">
                  <a:xfrm>
                    <a:off x="682" y="384"/>
                    <a:ext cx="362" cy="9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803286" name="Group 1046"/>
                <p:cNvGrpSpPr>
                  <a:grpSpLocks/>
                </p:cNvGrpSpPr>
                <p:nvPr/>
              </p:nvGrpSpPr>
              <p:grpSpPr bwMode="auto">
                <a:xfrm>
                  <a:off x="1044" y="384"/>
                  <a:ext cx="362" cy="960"/>
                  <a:chOff x="1044" y="384"/>
                  <a:chExt cx="362" cy="960"/>
                </a:xfrm>
              </p:grpSpPr>
              <p:sp>
                <p:nvSpPr>
                  <p:cNvPr id="1803274" name="Rectangle 1034"/>
                  <p:cNvSpPr>
                    <a:spLocks noChangeArrowheads="1"/>
                  </p:cNvSpPr>
                  <p:nvPr/>
                </p:nvSpPr>
                <p:spPr bwMode="auto">
                  <a:xfrm>
                    <a:off x="1087" y="384"/>
                    <a:ext cx="276" cy="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kumimoji="1" lang="zh-CN" altLang="en-US" sz="2000"/>
                      <a:t>直接</a:t>
                    </a:r>
                  </a:p>
                  <a:p>
                    <a:pPr algn="ctr"/>
                    <a:r>
                      <a:rPr kumimoji="1" lang="en-US" altLang="zh-CN" sz="2000">
                        <a:cs typeface="Times New Roman" panose="02020603050405020304" pitchFamily="18" charset="0"/>
                      </a:rPr>
                      <a:t>G</a:t>
                    </a:r>
                    <a:r>
                      <a:rPr kumimoji="1" lang="en-US" altLang="zh-CN" sz="2000" baseline="-30000">
                        <a:cs typeface="Times New Roman" panose="02020603050405020304" pitchFamily="18" charset="0"/>
                      </a:rPr>
                      <a:t>n</a:t>
                    </a:r>
                    <a:endParaRPr kumimoji="1" lang="en-US" altLang="zh-CN" sz="2000"/>
                  </a:p>
                  <a:p>
                    <a:pPr algn="ctr"/>
                    <a:r>
                      <a:rPr kumimoji="1" lang="en-US" altLang="zh-CN" sz="2000">
                        <a:cs typeface="Times New Roman" panose="02020603050405020304" pitchFamily="18" charset="0"/>
                      </a:rPr>
                      <a:t>G</a:t>
                    </a:r>
                    <a:r>
                      <a:rPr kumimoji="1" lang="en-US" altLang="zh-CN" sz="2000" baseline="-30000">
                        <a:cs typeface="Times New Roman" panose="02020603050405020304" pitchFamily="18" charset="0"/>
                      </a:rPr>
                      <a:t>j</a:t>
                    </a:r>
                    <a:endParaRPr kumimoji="1" lang="en-US" altLang="zh-CN" sz="2000"/>
                  </a:p>
                  <a:p>
                    <a:pPr algn="ctr"/>
                    <a:r>
                      <a:rPr kumimoji="1" lang="en-US" altLang="zh-CN" sz="2000">
                        <a:cs typeface="Times New Roman" panose="02020603050405020304" pitchFamily="18" charset="0"/>
                      </a:rPr>
                      <a:t>G</a:t>
                    </a:r>
                    <a:r>
                      <a:rPr kumimoji="1" lang="en-US" altLang="zh-CN" sz="2000" baseline="-30000">
                        <a:cs typeface="Times New Roman" panose="02020603050405020304" pitchFamily="18" charset="0"/>
                      </a:rPr>
                      <a:t>k</a:t>
                    </a:r>
                    <a:endParaRPr kumimoji="1" lang="en-US" altLang="zh-CN" sz="2000"/>
                  </a:p>
                  <a:p>
                    <a:pPr algn="ctr"/>
                    <a:r>
                      <a:rPr kumimoji="1" lang="en-US" altLang="zh-CN" sz="2000">
                        <a:cs typeface="Times New Roman" panose="02020603050405020304" pitchFamily="18" charset="0"/>
                      </a:rPr>
                      <a:t>G</a:t>
                    </a:r>
                    <a:r>
                      <a:rPr kumimoji="1" lang="en-US" altLang="zh-CN" sz="2000" baseline="-30000">
                        <a:cs typeface="Times New Roman" panose="02020603050405020304" pitchFamily="18" charset="0"/>
                      </a:rPr>
                      <a:t>j</a:t>
                    </a:r>
                    <a:endParaRPr kumimoji="1" lang="en-US" altLang="zh-CN" sz="2000"/>
                  </a:p>
                  <a:p>
                    <a:pPr algn="ctr"/>
                    <a:r>
                      <a:rPr kumimoji="1" lang="en-US" altLang="zh-CN" sz="2000">
                        <a:cs typeface="Times New Roman" panose="02020603050405020304" pitchFamily="18" charset="0"/>
                      </a:rPr>
                      <a:t>G</a:t>
                    </a:r>
                    <a:r>
                      <a:rPr kumimoji="1" lang="en-US" altLang="zh-CN" sz="2000" baseline="-30000">
                        <a:cs typeface="Times New Roman" panose="02020603050405020304" pitchFamily="18" charset="0"/>
                      </a:rPr>
                      <a:t>m</a:t>
                    </a:r>
                    <a:endParaRPr kumimoji="1" lang="en-US" altLang="zh-CN" sz="2000"/>
                  </a:p>
                  <a:p>
                    <a:pPr algn="ctr"/>
                    <a:r>
                      <a:rPr kumimoji="1" lang="en-US" altLang="zh-CN" sz="2000">
                        <a:cs typeface="Times New Roman" panose="02020603050405020304" pitchFamily="18" charset="0"/>
                      </a:rPr>
                      <a:t>G</a:t>
                    </a:r>
                    <a:r>
                      <a:rPr kumimoji="1" lang="en-US" altLang="zh-CN" sz="2000" baseline="-30000">
                        <a:cs typeface="Times New Roman" panose="02020603050405020304" pitchFamily="18" charset="0"/>
                      </a:rPr>
                      <a:t>j</a:t>
                    </a:r>
                    <a:endParaRPr kumimoji="1" lang="en-US" altLang="zh-CN" sz="2000"/>
                  </a:p>
                  <a:p>
                    <a:pPr algn="ctr"/>
                    <a:endParaRPr kumimoji="1" lang="en-US" altLang="zh-CN" sz="2000"/>
                  </a:p>
                </p:txBody>
              </p:sp>
              <p:sp>
                <p:nvSpPr>
                  <p:cNvPr id="1803285" name="Rectangle 1045"/>
                  <p:cNvSpPr>
                    <a:spLocks noChangeArrowheads="1"/>
                  </p:cNvSpPr>
                  <p:nvPr/>
                </p:nvSpPr>
                <p:spPr bwMode="auto">
                  <a:xfrm>
                    <a:off x="1044" y="384"/>
                    <a:ext cx="362" cy="9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sp>
            <p:nvSpPr>
              <p:cNvPr id="1803288" name="Rectangle 1048"/>
              <p:cNvSpPr>
                <a:spLocks noChangeArrowheads="1"/>
              </p:cNvSpPr>
              <p:nvPr/>
            </p:nvSpPr>
            <p:spPr bwMode="auto">
              <a:xfrm>
                <a:off x="-3" y="-3"/>
                <a:ext cx="1412" cy="1350"/>
              </a:xfrm>
              <a:prstGeom prst="rect">
                <a:avLst/>
              </a:prstGeom>
              <a:noFill/>
              <a:ln w="11112">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803290" name="Text Box 1050"/>
            <p:cNvSpPr txBox="1">
              <a:spLocks noChangeArrowheads="1"/>
            </p:cNvSpPr>
            <p:nvPr/>
          </p:nvSpPr>
          <p:spPr bwMode="auto">
            <a:xfrm>
              <a:off x="405" y="3775"/>
              <a:ext cx="263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路由器</a:t>
              </a:r>
              <a:r>
                <a:rPr lang="en-US" altLang="zh-CN"/>
                <a:t>Gi</a:t>
              </a:r>
              <a:r>
                <a:rPr lang="zh-CN" altLang="en-US"/>
                <a:t>原选径表 </a:t>
              </a:r>
            </a:p>
          </p:txBody>
        </p:sp>
      </p:grpSp>
      <p:grpSp>
        <p:nvGrpSpPr>
          <p:cNvPr id="1803330" name="Group 1090"/>
          <p:cNvGrpSpPr>
            <a:grpSpLocks/>
          </p:cNvGrpSpPr>
          <p:nvPr/>
        </p:nvGrpSpPr>
        <p:grpSpPr bwMode="auto">
          <a:xfrm>
            <a:off x="4935538" y="369888"/>
            <a:ext cx="5033962" cy="2368550"/>
            <a:chOff x="1993" y="202"/>
            <a:chExt cx="3171" cy="1492"/>
          </a:xfrm>
        </p:grpSpPr>
        <p:grpSp>
          <p:nvGrpSpPr>
            <p:cNvPr id="1803305" name="Group 1065"/>
            <p:cNvGrpSpPr>
              <a:grpSpLocks/>
            </p:cNvGrpSpPr>
            <p:nvPr/>
          </p:nvGrpSpPr>
          <p:grpSpPr bwMode="auto">
            <a:xfrm>
              <a:off x="3242" y="210"/>
              <a:ext cx="1922" cy="1484"/>
              <a:chOff x="-3" y="-3"/>
              <a:chExt cx="1050" cy="1158"/>
            </a:xfrm>
          </p:grpSpPr>
          <p:grpSp>
            <p:nvGrpSpPr>
              <p:cNvPr id="1803303" name="Group 1063"/>
              <p:cNvGrpSpPr>
                <a:grpSpLocks/>
              </p:cNvGrpSpPr>
              <p:nvPr/>
            </p:nvGrpSpPr>
            <p:grpSpPr bwMode="auto">
              <a:xfrm>
                <a:off x="0" y="0"/>
                <a:ext cx="1044" cy="1152"/>
                <a:chOff x="0" y="0"/>
                <a:chExt cx="1044" cy="1152"/>
              </a:xfrm>
            </p:grpSpPr>
            <p:grpSp>
              <p:nvGrpSpPr>
                <p:cNvPr id="1803296" name="Group 1056"/>
                <p:cNvGrpSpPr>
                  <a:grpSpLocks/>
                </p:cNvGrpSpPr>
                <p:nvPr/>
              </p:nvGrpSpPr>
              <p:grpSpPr bwMode="auto">
                <a:xfrm>
                  <a:off x="0" y="0"/>
                  <a:ext cx="682" cy="384"/>
                  <a:chOff x="0" y="0"/>
                  <a:chExt cx="682" cy="384"/>
                </a:xfrm>
              </p:grpSpPr>
              <p:sp>
                <p:nvSpPr>
                  <p:cNvPr id="1803291" name="Rectangle 1051"/>
                  <p:cNvSpPr>
                    <a:spLocks noChangeArrowheads="1"/>
                  </p:cNvSpPr>
                  <p:nvPr/>
                </p:nvSpPr>
                <p:spPr bwMode="auto">
                  <a:xfrm>
                    <a:off x="43" y="0"/>
                    <a:ext cx="59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kumimoji="1" lang="zh-CN" altLang="en-US" sz="2000"/>
                      <a:t>信宿</a:t>
                    </a:r>
                  </a:p>
                </p:txBody>
              </p:sp>
              <p:sp>
                <p:nvSpPr>
                  <p:cNvPr id="1803295" name="Rectangle 1055"/>
                  <p:cNvSpPr>
                    <a:spLocks noChangeArrowheads="1"/>
                  </p:cNvSpPr>
                  <p:nvPr/>
                </p:nvSpPr>
                <p:spPr bwMode="auto">
                  <a:xfrm>
                    <a:off x="0" y="0"/>
                    <a:ext cx="68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803298" name="Group 1058"/>
                <p:cNvGrpSpPr>
                  <a:grpSpLocks/>
                </p:cNvGrpSpPr>
                <p:nvPr/>
              </p:nvGrpSpPr>
              <p:grpSpPr bwMode="auto">
                <a:xfrm>
                  <a:off x="682" y="0"/>
                  <a:ext cx="362" cy="384"/>
                  <a:chOff x="682" y="0"/>
                  <a:chExt cx="362" cy="384"/>
                </a:xfrm>
              </p:grpSpPr>
              <p:sp>
                <p:nvSpPr>
                  <p:cNvPr id="1803292" name="Rectangle 1052"/>
                  <p:cNvSpPr>
                    <a:spLocks noChangeArrowheads="1"/>
                  </p:cNvSpPr>
                  <p:nvPr/>
                </p:nvSpPr>
                <p:spPr bwMode="auto">
                  <a:xfrm>
                    <a:off x="725" y="0"/>
                    <a:ext cx="27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kumimoji="1" lang="zh-CN" altLang="en-US" sz="2000"/>
                      <a:t>距离</a:t>
                    </a:r>
                  </a:p>
                  <a:p>
                    <a:pPr eaLnBrk="1" hangingPunct="1"/>
                    <a:r>
                      <a:rPr kumimoji="1" lang="zh-CN" altLang="en-US" sz="2000"/>
                      <a:t>（跳）</a:t>
                    </a:r>
                  </a:p>
                </p:txBody>
              </p:sp>
              <p:sp>
                <p:nvSpPr>
                  <p:cNvPr id="1803297" name="Rectangle 1057"/>
                  <p:cNvSpPr>
                    <a:spLocks noChangeArrowheads="1"/>
                  </p:cNvSpPr>
                  <p:nvPr/>
                </p:nvSpPr>
                <p:spPr bwMode="auto">
                  <a:xfrm>
                    <a:off x="682" y="0"/>
                    <a:ext cx="36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803300" name="Group 1060"/>
                <p:cNvGrpSpPr>
                  <a:grpSpLocks/>
                </p:cNvGrpSpPr>
                <p:nvPr/>
              </p:nvGrpSpPr>
              <p:grpSpPr bwMode="auto">
                <a:xfrm>
                  <a:off x="0" y="384"/>
                  <a:ext cx="682" cy="768"/>
                  <a:chOff x="0" y="384"/>
                  <a:chExt cx="682" cy="768"/>
                </a:xfrm>
              </p:grpSpPr>
              <p:sp>
                <p:nvSpPr>
                  <p:cNvPr id="1803293" name="Rectangle 1053"/>
                  <p:cNvSpPr>
                    <a:spLocks noChangeArrowheads="1"/>
                  </p:cNvSpPr>
                  <p:nvPr/>
                </p:nvSpPr>
                <p:spPr bwMode="auto">
                  <a:xfrm>
                    <a:off x="43" y="384"/>
                    <a:ext cx="596" cy="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kumimoji="1" lang="en-US" altLang="zh-CN" sz="2000" smtClean="0">
                        <a:cs typeface="Times New Roman" panose="02020603050405020304" pitchFamily="18" charset="0"/>
                      </a:rPr>
                      <a:t>10.0.0</a:t>
                    </a:r>
                    <a:r>
                      <a:rPr kumimoji="1" lang="en-US" altLang="zh-CN" sz="2000">
                        <a:cs typeface="Times New Roman" panose="02020603050405020304" pitchFamily="18" charset="0"/>
                      </a:rPr>
                      <a:t>.</a:t>
                    </a:r>
                    <a:r>
                      <a:rPr kumimoji="1" lang="en-US" altLang="zh-CN" sz="2000" smtClean="0">
                        <a:cs typeface="Times New Roman" panose="02020603050405020304" pitchFamily="18" charset="0"/>
                      </a:rPr>
                      <a:t>0</a:t>
                    </a:r>
                    <a:endParaRPr kumimoji="1" lang="en-US" altLang="zh-CN" sz="2000"/>
                  </a:p>
                  <a:p>
                    <a:r>
                      <a:rPr kumimoji="1" lang="en-US" altLang="zh-CN" sz="2000" smtClean="0">
                        <a:cs typeface="Times New Roman" panose="02020603050405020304" pitchFamily="18" charset="0"/>
                      </a:rPr>
                      <a:t>30.0.0</a:t>
                    </a:r>
                    <a:r>
                      <a:rPr kumimoji="1" lang="en-US" altLang="zh-CN" sz="2000">
                        <a:cs typeface="Times New Roman" panose="02020603050405020304" pitchFamily="18" charset="0"/>
                      </a:rPr>
                      <a:t>.</a:t>
                    </a:r>
                    <a:r>
                      <a:rPr kumimoji="1" lang="en-US" altLang="zh-CN" sz="2000" smtClean="0">
                        <a:cs typeface="Times New Roman" panose="02020603050405020304" pitchFamily="18" charset="0"/>
                      </a:rPr>
                      <a:t>0</a:t>
                    </a:r>
                    <a:endParaRPr kumimoji="1" lang="en-US" altLang="zh-CN" sz="2000"/>
                  </a:p>
                  <a:p>
                    <a:r>
                      <a:rPr kumimoji="1" lang="en-US" altLang="zh-CN" sz="2000" smtClean="0">
                        <a:cs typeface="Times New Roman" panose="02020603050405020304" pitchFamily="18" charset="0"/>
                      </a:rPr>
                      <a:t>40.0.0</a:t>
                    </a:r>
                    <a:r>
                      <a:rPr kumimoji="1" lang="en-US" altLang="zh-CN" sz="2000">
                        <a:cs typeface="Times New Roman" panose="02020603050405020304" pitchFamily="18" charset="0"/>
                      </a:rPr>
                      <a:t>.</a:t>
                    </a:r>
                    <a:r>
                      <a:rPr kumimoji="1" lang="en-US" altLang="zh-CN" sz="2000" smtClean="0">
                        <a:cs typeface="Times New Roman" panose="02020603050405020304" pitchFamily="18" charset="0"/>
                      </a:rPr>
                      <a:t>0</a:t>
                    </a:r>
                    <a:endParaRPr kumimoji="1" lang="en-US" altLang="zh-CN" sz="2000"/>
                  </a:p>
                  <a:p>
                    <a:r>
                      <a:rPr kumimoji="1" lang="en-US" altLang="zh-CN" sz="2000" smtClean="0">
                        <a:solidFill>
                          <a:schemeClr val="accent2"/>
                        </a:solidFill>
                        <a:cs typeface="Times New Roman" panose="02020603050405020304" pitchFamily="18" charset="0"/>
                      </a:rPr>
                      <a:t>41</a:t>
                    </a:r>
                    <a:r>
                      <a:rPr kumimoji="1" lang="en-US" altLang="zh-CN" sz="2000" smtClean="0">
                        <a:cs typeface="Times New Roman" panose="02020603050405020304" pitchFamily="18" charset="0"/>
                      </a:rPr>
                      <a:t>.</a:t>
                    </a:r>
                    <a:r>
                      <a:rPr kumimoji="1" lang="en-US" altLang="zh-CN" sz="2000" smtClean="0">
                        <a:solidFill>
                          <a:schemeClr val="accent2"/>
                        </a:solidFill>
                        <a:cs typeface="Times New Roman" panose="02020603050405020304" pitchFamily="18" charset="0"/>
                      </a:rPr>
                      <a:t>0</a:t>
                    </a:r>
                    <a:r>
                      <a:rPr kumimoji="1" lang="en-US" altLang="zh-CN" sz="2000" smtClean="0">
                        <a:cs typeface="Times New Roman" panose="02020603050405020304" pitchFamily="18" charset="0"/>
                      </a:rPr>
                      <a:t>.</a:t>
                    </a:r>
                    <a:r>
                      <a:rPr kumimoji="1" lang="en-US" altLang="zh-CN" sz="2000" smtClean="0">
                        <a:solidFill>
                          <a:schemeClr val="accent2"/>
                        </a:solidFill>
                        <a:cs typeface="Times New Roman" panose="02020603050405020304" pitchFamily="18" charset="0"/>
                      </a:rPr>
                      <a:t>0</a:t>
                    </a:r>
                    <a:r>
                      <a:rPr kumimoji="1" lang="en-US" altLang="zh-CN" sz="2000">
                        <a:cs typeface="Times New Roman" panose="02020603050405020304" pitchFamily="18" charset="0"/>
                      </a:rPr>
                      <a:t>.</a:t>
                    </a:r>
                    <a:r>
                      <a:rPr kumimoji="1" lang="en-US" altLang="zh-CN" sz="2000" smtClean="0">
                        <a:solidFill>
                          <a:schemeClr val="accent2"/>
                        </a:solidFill>
                        <a:cs typeface="Times New Roman" panose="02020603050405020304" pitchFamily="18" charset="0"/>
                      </a:rPr>
                      <a:t>0</a:t>
                    </a:r>
                    <a:endParaRPr kumimoji="1" lang="en-US" altLang="zh-CN" sz="2000">
                      <a:solidFill>
                        <a:schemeClr val="accent2"/>
                      </a:solidFill>
                    </a:endParaRPr>
                  </a:p>
                  <a:p>
                    <a:r>
                      <a:rPr kumimoji="1" lang="en-US" altLang="zh-CN" sz="2000" smtClean="0">
                        <a:cs typeface="Times New Roman" panose="02020603050405020304" pitchFamily="18" charset="0"/>
                      </a:rPr>
                      <a:t>180.0.0</a:t>
                    </a:r>
                    <a:r>
                      <a:rPr kumimoji="1" lang="en-US" altLang="zh-CN" sz="2000">
                        <a:cs typeface="Times New Roman" panose="02020603050405020304" pitchFamily="18" charset="0"/>
                      </a:rPr>
                      <a:t>.</a:t>
                    </a:r>
                    <a:r>
                      <a:rPr kumimoji="1" lang="en-US" altLang="zh-CN" sz="2000" smtClean="0">
                        <a:cs typeface="Times New Roman" panose="02020603050405020304" pitchFamily="18" charset="0"/>
                      </a:rPr>
                      <a:t>0</a:t>
                    </a:r>
                    <a:endParaRPr kumimoji="1" lang="en-US" altLang="zh-CN" sz="2000"/>
                  </a:p>
                  <a:p>
                    <a:endParaRPr kumimoji="1" lang="en-US" altLang="zh-CN" sz="2000"/>
                  </a:p>
                </p:txBody>
              </p:sp>
              <p:sp>
                <p:nvSpPr>
                  <p:cNvPr id="1803299" name="Rectangle 1059"/>
                  <p:cNvSpPr>
                    <a:spLocks noChangeArrowheads="1"/>
                  </p:cNvSpPr>
                  <p:nvPr/>
                </p:nvSpPr>
                <p:spPr bwMode="auto">
                  <a:xfrm>
                    <a:off x="0" y="384"/>
                    <a:ext cx="682" cy="76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803302" name="Group 1062"/>
                <p:cNvGrpSpPr>
                  <a:grpSpLocks/>
                </p:cNvGrpSpPr>
                <p:nvPr/>
              </p:nvGrpSpPr>
              <p:grpSpPr bwMode="auto">
                <a:xfrm>
                  <a:off x="682" y="384"/>
                  <a:ext cx="362" cy="768"/>
                  <a:chOff x="682" y="384"/>
                  <a:chExt cx="362" cy="768"/>
                </a:xfrm>
              </p:grpSpPr>
              <p:sp>
                <p:nvSpPr>
                  <p:cNvPr id="1803294" name="Rectangle 1054"/>
                  <p:cNvSpPr>
                    <a:spLocks noChangeArrowheads="1"/>
                  </p:cNvSpPr>
                  <p:nvPr/>
                </p:nvSpPr>
                <p:spPr bwMode="auto">
                  <a:xfrm>
                    <a:off x="725" y="384"/>
                    <a:ext cx="276" cy="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kumimoji="1" lang="en-US" altLang="zh-CN" sz="2000">
                        <a:cs typeface="Times New Roman" panose="02020603050405020304" pitchFamily="18" charset="0"/>
                      </a:rPr>
                      <a:t>4</a:t>
                    </a:r>
                    <a:endParaRPr kumimoji="1" lang="en-US" altLang="zh-CN" sz="2000"/>
                  </a:p>
                  <a:p>
                    <a:pPr algn="ctr"/>
                    <a:r>
                      <a:rPr kumimoji="1" lang="en-US" altLang="zh-CN" sz="2000">
                        <a:cs typeface="Times New Roman" panose="02020603050405020304" pitchFamily="18" charset="0"/>
                      </a:rPr>
                      <a:t>4</a:t>
                    </a:r>
                    <a:endParaRPr kumimoji="1" lang="en-US" altLang="zh-CN" sz="2000"/>
                  </a:p>
                  <a:p>
                    <a:pPr algn="ctr"/>
                    <a:r>
                      <a:rPr kumimoji="1" lang="en-US" altLang="zh-CN" sz="2000">
                        <a:cs typeface="Times New Roman" panose="02020603050405020304" pitchFamily="18" charset="0"/>
                      </a:rPr>
                      <a:t>3</a:t>
                    </a:r>
                    <a:endParaRPr kumimoji="1" lang="en-US" altLang="zh-CN" sz="2000"/>
                  </a:p>
                  <a:p>
                    <a:pPr algn="ctr"/>
                    <a:r>
                      <a:rPr kumimoji="1" lang="en-US" altLang="zh-CN" sz="2000">
                        <a:solidFill>
                          <a:schemeClr val="accent2"/>
                        </a:solidFill>
                        <a:cs typeface="Times New Roman" panose="02020603050405020304" pitchFamily="18" charset="0"/>
                      </a:rPr>
                      <a:t>2</a:t>
                    </a:r>
                  </a:p>
                  <a:p>
                    <a:pPr algn="ctr"/>
                    <a:r>
                      <a:rPr kumimoji="1" lang="en-US" altLang="zh-CN" sz="2000">
                        <a:cs typeface="Times New Roman" panose="02020603050405020304" pitchFamily="18" charset="0"/>
                      </a:rPr>
                      <a:t>5</a:t>
                    </a:r>
                    <a:endParaRPr kumimoji="1" lang="en-US" altLang="zh-CN" sz="2000"/>
                  </a:p>
                  <a:p>
                    <a:pPr algn="ctr"/>
                    <a:endParaRPr kumimoji="1" lang="en-US" altLang="zh-CN" sz="2000"/>
                  </a:p>
                </p:txBody>
              </p:sp>
              <p:sp>
                <p:nvSpPr>
                  <p:cNvPr id="1803301" name="Rectangle 1061"/>
                  <p:cNvSpPr>
                    <a:spLocks noChangeArrowheads="1"/>
                  </p:cNvSpPr>
                  <p:nvPr/>
                </p:nvSpPr>
                <p:spPr bwMode="auto">
                  <a:xfrm>
                    <a:off x="682" y="384"/>
                    <a:ext cx="362" cy="76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sp>
            <p:nvSpPr>
              <p:cNvPr id="1803304" name="Rectangle 1064"/>
              <p:cNvSpPr>
                <a:spLocks noChangeArrowheads="1"/>
              </p:cNvSpPr>
              <p:nvPr/>
            </p:nvSpPr>
            <p:spPr bwMode="auto">
              <a:xfrm>
                <a:off x="-3" y="-3"/>
                <a:ext cx="1050" cy="1158"/>
              </a:xfrm>
              <a:prstGeom prst="rect">
                <a:avLst/>
              </a:prstGeom>
              <a:noFill/>
              <a:ln w="11112">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803306" name="AutoShape 1066"/>
            <p:cNvSpPr>
              <a:spLocks noChangeArrowheads="1"/>
            </p:cNvSpPr>
            <p:nvPr/>
          </p:nvSpPr>
          <p:spPr bwMode="auto">
            <a:xfrm>
              <a:off x="1993" y="202"/>
              <a:ext cx="1089" cy="794"/>
            </a:xfrm>
            <a:prstGeom prst="wedgeRoundRectCallout">
              <a:avLst>
                <a:gd name="adj1" fmla="val 59181"/>
                <a:gd name="adj2" fmla="val 66120"/>
                <a:gd name="adj3" fmla="val 16667"/>
              </a:avLst>
            </a:prstGeom>
            <a:solidFill>
              <a:schemeClr val="accent1"/>
            </a:solidFill>
            <a:ln w="9525">
              <a:solidFill>
                <a:srgbClr val="CACAC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a:solidFill>
                    <a:schemeClr val="tx2"/>
                  </a:solidFill>
                </a:rPr>
                <a:t>路由器</a:t>
              </a:r>
              <a:r>
                <a:rPr lang="en-US" altLang="zh-CN" sz="2400">
                  <a:solidFill>
                    <a:schemeClr val="tx2"/>
                  </a:solidFill>
                </a:rPr>
                <a:t>Gj</a:t>
              </a:r>
              <a:r>
                <a:rPr lang="zh-CN" altLang="en-US" sz="2400">
                  <a:solidFill>
                    <a:schemeClr val="tx2"/>
                  </a:solidFill>
                </a:rPr>
                <a:t>发送来的</a:t>
              </a:r>
            </a:p>
            <a:p>
              <a:pPr algn="ctr"/>
              <a:r>
                <a:rPr lang="en-US" altLang="zh-CN" sz="2400">
                  <a:solidFill>
                    <a:schemeClr val="tx2"/>
                  </a:solidFill>
                </a:rPr>
                <a:t>V-D</a:t>
              </a:r>
              <a:r>
                <a:rPr lang="zh-CN" altLang="en-US" sz="2400">
                  <a:solidFill>
                    <a:schemeClr val="tx2"/>
                  </a:solidFill>
                </a:rPr>
                <a:t>报文</a:t>
              </a:r>
              <a:r>
                <a:rPr lang="zh-CN" altLang="en-US">
                  <a:solidFill>
                    <a:schemeClr val="tx2"/>
                  </a:solidFill>
                </a:rPr>
                <a:t> </a:t>
              </a:r>
            </a:p>
          </p:txBody>
        </p:sp>
      </p:grpSp>
      <p:grpSp>
        <p:nvGrpSpPr>
          <p:cNvPr id="1803331" name="Group 1091"/>
          <p:cNvGrpSpPr>
            <a:grpSpLocks/>
          </p:cNvGrpSpPr>
          <p:nvPr/>
        </p:nvGrpSpPr>
        <p:grpSpPr bwMode="auto">
          <a:xfrm>
            <a:off x="6357938" y="2909889"/>
            <a:ext cx="4233862" cy="3595687"/>
            <a:chOff x="3093" y="1782"/>
            <a:chExt cx="2667" cy="2265"/>
          </a:xfrm>
        </p:grpSpPr>
        <p:grpSp>
          <p:nvGrpSpPr>
            <p:cNvPr id="1803327" name="Group 1087"/>
            <p:cNvGrpSpPr>
              <a:grpSpLocks/>
            </p:cNvGrpSpPr>
            <p:nvPr/>
          </p:nvGrpSpPr>
          <p:grpSpPr bwMode="auto">
            <a:xfrm>
              <a:off x="3093" y="1782"/>
              <a:ext cx="2667" cy="1893"/>
              <a:chOff x="-3" y="-3"/>
              <a:chExt cx="1412" cy="1350"/>
            </a:xfrm>
          </p:grpSpPr>
          <p:grpSp>
            <p:nvGrpSpPr>
              <p:cNvPr id="1803325" name="Group 1085"/>
              <p:cNvGrpSpPr>
                <a:grpSpLocks/>
              </p:cNvGrpSpPr>
              <p:nvPr/>
            </p:nvGrpSpPr>
            <p:grpSpPr bwMode="auto">
              <a:xfrm>
                <a:off x="0" y="0"/>
                <a:ext cx="1406" cy="1344"/>
                <a:chOff x="0" y="0"/>
                <a:chExt cx="1406" cy="1344"/>
              </a:xfrm>
            </p:grpSpPr>
            <p:grpSp>
              <p:nvGrpSpPr>
                <p:cNvPr id="1803314" name="Group 1074"/>
                <p:cNvGrpSpPr>
                  <a:grpSpLocks/>
                </p:cNvGrpSpPr>
                <p:nvPr/>
              </p:nvGrpSpPr>
              <p:grpSpPr bwMode="auto">
                <a:xfrm>
                  <a:off x="0" y="0"/>
                  <a:ext cx="682" cy="384"/>
                  <a:chOff x="0" y="0"/>
                  <a:chExt cx="682" cy="384"/>
                </a:xfrm>
              </p:grpSpPr>
              <p:sp>
                <p:nvSpPr>
                  <p:cNvPr id="1803307" name="Rectangle 1067"/>
                  <p:cNvSpPr>
                    <a:spLocks noChangeArrowheads="1"/>
                  </p:cNvSpPr>
                  <p:nvPr/>
                </p:nvSpPr>
                <p:spPr bwMode="auto">
                  <a:xfrm>
                    <a:off x="43" y="0"/>
                    <a:ext cx="59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kumimoji="1" lang="zh-CN" altLang="en-US" sz="2000"/>
                      <a:t>信宿</a:t>
                    </a:r>
                  </a:p>
                </p:txBody>
              </p:sp>
              <p:sp>
                <p:nvSpPr>
                  <p:cNvPr id="1803313" name="Rectangle 1073"/>
                  <p:cNvSpPr>
                    <a:spLocks noChangeArrowheads="1"/>
                  </p:cNvSpPr>
                  <p:nvPr/>
                </p:nvSpPr>
                <p:spPr bwMode="auto">
                  <a:xfrm>
                    <a:off x="0" y="0"/>
                    <a:ext cx="68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803316" name="Group 1076"/>
                <p:cNvGrpSpPr>
                  <a:grpSpLocks/>
                </p:cNvGrpSpPr>
                <p:nvPr/>
              </p:nvGrpSpPr>
              <p:grpSpPr bwMode="auto">
                <a:xfrm>
                  <a:off x="682" y="0"/>
                  <a:ext cx="362" cy="384"/>
                  <a:chOff x="682" y="0"/>
                  <a:chExt cx="362" cy="384"/>
                </a:xfrm>
              </p:grpSpPr>
              <p:sp>
                <p:nvSpPr>
                  <p:cNvPr id="1803308" name="Rectangle 1068"/>
                  <p:cNvSpPr>
                    <a:spLocks noChangeArrowheads="1"/>
                  </p:cNvSpPr>
                  <p:nvPr/>
                </p:nvSpPr>
                <p:spPr bwMode="auto">
                  <a:xfrm>
                    <a:off x="725" y="0"/>
                    <a:ext cx="27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kumimoji="1" lang="zh-CN" altLang="en-US" sz="2000"/>
                      <a:t>距离</a:t>
                    </a:r>
                  </a:p>
                </p:txBody>
              </p:sp>
              <p:sp>
                <p:nvSpPr>
                  <p:cNvPr id="1803315" name="Rectangle 1075"/>
                  <p:cNvSpPr>
                    <a:spLocks noChangeArrowheads="1"/>
                  </p:cNvSpPr>
                  <p:nvPr/>
                </p:nvSpPr>
                <p:spPr bwMode="auto">
                  <a:xfrm>
                    <a:off x="682" y="0"/>
                    <a:ext cx="36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803318" name="Group 1078"/>
                <p:cNvGrpSpPr>
                  <a:grpSpLocks/>
                </p:cNvGrpSpPr>
                <p:nvPr/>
              </p:nvGrpSpPr>
              <p:grpSpPr bwMode="auto">
                <a:xfrm>
                  <a:off x="1044" y="0"/>
                  <a:ext cx="362" cy="384"/>
                  <a:chOff x="1044" y="0"/>
                  <a:chExt cx="362" cy="384"/>
                </a:xfrm>
              </p:grpSpPr>
              <p:sp>
                <p:nvSpPr>
                  <p:cNvPr id="1803309" name="Rectangle 1069"/>
                  <p:cNvSpPr>
                    <a:spLocks noChangeArrowheads="1"/>
                  </p:cNvSpPr>
                  <p:nvPr/>
                </p:nvSpPr>
                <p:spPr bwMode="auto">
                  <a:xfrm>
                    <a:off x="1087" y="0"/>
                    <a:ext cx="27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kumimoji="1" lang="zh-CN" altLang="en-US" sz="2000" smtClean="0"/>
                      <a:t>路径</a:t>
                    </a:r>
                    <a:endParaRPr kumimoji="1" lang="zh-CN" altLang="en-US" sz="2000"/>
                  </a:p>
                </p:txBody>
              </p:sp>
              <p:sp>
                <p:nvSpPr>
                  <p:cNvPr id="1803317" name="Rectangle 1077"/>
                  <p:cNvSpPr>
                    <a:spLocks noChangeArrowheads="1"/>
                  </p:cNvSpPr>
                  <p:nvPr/>
                </p:nvSpPr>
                <p:spPr bwMode="auto">
                  <a:xfrm>
                    <a:off x="1044" y="0"/>
                    <a:ext cx="36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803320" name="Group 1080"/>
                <p:cNvGrpSpPr>
                  <a:grpSpLocks/>
                </p:cNvGrpSpPr>
                <p:nvPr/>
              </p:nvGrpSpPr>
              <p:grpSpPr bwMode="auto">
                <a:xfrm>
                  <a:off x="0" y="384"/>
                  <a:ext cx="682" cy="960"/>
                  <a:chOff x="0" y="384"/>
                  <a:chExt cx="682" cy="960"/>
                </a:xfrm>
              </p:grpSpPr>
              <p:sp>
                <p:nvSpPr>
                  <p:cNvPr id="1803310" name="Rectangle 1070"/>
                  <p:cNvSpPr>
                    <a:spLocks noChangeArrowheads="1"/>
                  </p:cNvSpPr>
                  <p:nvPr/>
                </p:nvSpPr>
                <p:spPr bwMode="auto">
                  <a:xfrm>
                    <a:off x="43" y="384"/>
                    <a:ext cx="596" cy="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kumimoji="1" lang="en-US" altLang="zh-CN" sz="2000" smtClean="0">
                        <a:cs typeface="Times New Roman" panose="02020603050405020304" pitchFamily="18" charset="0"/>
                      </a:rPr>
                      <a:t>10.0.0</a:t>
                    </a:r>
                    <a:r>
                      <a:rPr kumimoji="1" lang="en-US" altLang="zh-CN" sz="2000">
                        <a:cs typeface="Times New Roman" panose="02020603050405020304" pitchFamily="18" charset="0"/>
                      </a:rPr>
                      <a:t>.</a:t>
                    </a:r>
                    <a:r>
                      <a:rPr kumimoji="1" lang="en-US" altLang="zh-CN" sz="2000" smtClean="0">
                        <a:cs typeface="Times New Roman" panose="02020603050405020304" pitchFamily="18" charset="0"/>
                      </a:rPr>
                      <a:t>0</a:t>
                    </a:r>
                    <a:endParaRPr kumimoji="1" lang="en-US" altLang="zh-CN" sz="2000"/>
                  </a:p>
                  <a:p>
                    <a:r>
                      <a:rPr kumimoji="1" lang="en-US" altLang="zh-CN" sz="2000" smtClean="0">
                        <a:solidFill>
                          <a:schemeClr val="accent2"/>
                        </a:solidFill>
                        <a:cs typeface="Times New Roman" panose="02020603050405020304" pitchFamily="18" charset="0"/>
                      </a:rPr>
                      <a:t>30</a:t>
                    </a:r>
                    <a:r>
                      <a:rPr kumimoji="1" lang="en-US" altLang="zh-CN" sz="2000" smtClean="0">
                        <a:cs typeface="Times New Roman" panose="02020603050405020304" pitchFamily="18" charset="0"/>
                      </a:rPr>
                      <a:t>.</a:t>
                    </a:r>
                    <a:r>
                      <a:rPr kumimoji="1" lang="en-US" altLang="zh-CN" sz="2000" smtClean="0">
                        <a:solidFill>
                          <a:schemeClr val="accent2"/>
                        </a:solidFill>
                        <a:cs typeface="Times New Roman" panose="02020603050405020304" pitchFamily="18" charset="0"/>
                      </a:rPr>
                      <a:t>0</a:t>
                    </a:r>
                    <a:r>
                      <a:rPr kumimoji="1" lang="en-US" altLang="zh-CN" sz="2000" smtClean="0">
                        <a:cs typeface="Times New Roman" panose="02020603050405020304" pitchFamily="18" charset="0"/>
                      </a:rPr>
                      <a:t>.</a:t>
                    </a:r>
                    <a:r>
                      <a:rPr kumimoji="1" lang="en-US" altLang="zh-CN" sz="2000" smtClean="0">
                        <a:solidFill>
                          <a:schemeClr val="accent2"/>
                        </a:solidFill>
                        <a:cs typeface="Times New Roman" panose="02020603050405020304" pitchFamily="18" charset="0"/>
                      </a:rPr>
                      <a:t>0</a:t>
                    </a:r>
                    <a:r>
                      <a:rPr kumimoji="1" lang="en-US" altLang="zh-CN" sz="2000">
                        <a:cs typeface="Times New Roman" panose="02020603050405020304" pitchFamily="18" charset="0"/>
                      </a:rPr>
                      <a:t>.</a:t>
                    </a:r>
                    <a:r>
                      <a:rPr kumimoji="1" lang="en-US" altLang="zh-CN" sz="2000" smtClean="0">
                        <a:solidFill>
                          <a:schemeClr val="accent2"/>
                        </a:solidFill>
                        <a:cs typeface="Times New Roman" panose="02020603050405020304" pitchFamily="18" charset="0"/>
                      </a:rPr>
                      <a:t>0</a:t>
                    </a:r>
                    <a:endParaRPr kumimoji="1" lang="en-US" altLang="zh-CN" sz="2000">
                      <a:solidFill>
                        <a:schemeClr val="accent2"/>
                      </a:solidFill>
                    </a:endParaRPr>
                  </a:p>
                  <a:p>
                    <a:r>
                      <a:rPr kumimoji="1" lang="en-US" altLang="zh-CN" sz="2000" smtClean="0">
                        <a:solidFill>
                          <a:schemeClr val="tx2"/>
                        </a:solidFill>
                        <a:cs typeface="Times New Roman" panose="02020603050405020304" pitchFamily="18" charset="0"/>
                      </a:rPr>
                      <a:t>40</a:t>
                    </a:r>
                    <a:r>
                      <a:rPr kumimoji="1" lang="en-US" altLang="zh-CN" sz="2000" smtClean="0">
                        <a:cs typeface="Times New Roman" panose="02020603050405020304" pitchFamily="18" charset="0"/>
                      </a:rPr>
                      <a:t>.</a:t>
                    </a:r>
                    <a:r>
                      <a:rPr kumimoji="1" lang="en-US" altLang="zh-CN" sz="2000" smtClean="0">
                        <a:solidFill>
                          <a:schemeClr val="tx2"/>
                        </a:solidFill>
                        <a:cs typeface="Times New Roman" panose="02020603050405020304" pitchFamily="18" charset="0"/>
                      </a:rPr>
                      <a:t>0</a:t>
                    </a:r>
                    <a:r>
                      <a:rPr kumimoji="1" lang="en-US" altLang="zh-CN" sz="2000" smtClean="0">
                        <a:cs typeface="Times New Roman" panose="02020603050405020304" pitchFamily="18" charset="0"/>
                      </a:rPr>
                      <a:t>.</a:t>
                    </a:r>
                    <a:r>
                      <a:rPr kumimoji="1" lang="en-US" altLang="zh-CN" sz="2000" smtClean="0">
                        <a:solidFill>
                          <a:schemeClr val="tx2"/>
                        </a:solidFill>
                        <a:cs typeface="Times New Roman" panose="02020603050405020304" pitchFamily="18" charset="0"/>
                      </a:rPr>
                      <a:t>0</a:t>
                    </a:r>
                    <a:r>
                      <a:rPr kumimoji="1" lang="en-US" altLang="zh-CN" sz="2000">
                        <a:cs typeface="Times New Roman" panose="02020603050405020304" pitchFamily="18" charset="0"/>
                      </a:rPr>
                      <a:t>.</a:t>
                    </a:r>
                    <a:r>
                      <a:rPr kumimoji="1" lang="en-US" altLang="zh-CN" sz="2000" smtClean="0">
                        <a:solidFill>
                          <a:schemeClr val="tx2"/>
                        </a:solidFill>
                        <a:cs typeface="Times New Roman" panose="02020603050405020304" pitchFamily="18" charset="0"/>
                      </a:rPr>
                      <a:t>0</a:t>
                    </a:r>
                    <a:endParaRPr kumimoji="1" lang="en-US" altLang="zh-CN" sz="2000">
                      <a:solidFill>
                        <a:schemeClr val="tx2"/>
                      </a:solidFill>
                    </a:endParaRPr>
                  </a:p>
                  <a:p>
                    <a:r>
                      <a:rPr kumimoji="1" lang="en-US" altLang="zh-CN" sz="2000" smtClean="0">
                        <a:cs typeface="Times New Roman" panose="02020603050405020304" pitchFamily="18" charset="0"/>
                      </a:rPr>
                      <a:t>41.0.0</a:t>
                    </a:r>
                    <a:r>
                      <a:rPr kumimoji="1" lang="en-US" altLang="zh-CN" sz="2000">
                        <a:cs typeface="Times New Roman" panose="02020603050405020304" pitchFamily="18" charset="0"/>
                      </a:rPr>
                      <a:t>.</a:t>
                    </a:r>
                    <a:r>
                      <a:rPr kumimoji="1" lang="en-US" altLang="zh-CN" sz="2000" smtClean="0">
                        <a:cs typeface="Times New Roman" panose="02020603050405020304" pitchFamily="18" charset="0"/>
                      </a:rPr>
                      <a:t>0</a:t>
                    </a:r>
                    <a:endParaRPr kumimoji="1" lang="en-US" altLang="zh-CN" sz="2000"/>
                  </a:p>
                  <a:p>
                    <a:r>
                      <a:rPr kumimoji="1" lang="en-US" altLang="zh-CN" sz="2000" smtClean="0">
                        <a:cs typeface="Times New Roman" panose="02020603050405020304" pitchFamily="18" charset="0"/>
                      </a:rPr>
                      <a:t>45.0.0</a:t>
                    </a:r>
                    <a:r>
                      <a:rPr kumimoji="1" lang="en-US" altLang="zh-CN" sz="2000">
                        <a:cs typeface="Times New Roman" panose="02020603050405020304" pitchFamily="18" charset="0"/>
                      </a:rPr>
                      <a:t>.</a:t>
                    </a:r>
                    <a:r>
                      <a:rPr kumimoji="1" lang="en-US" altLang="zh-CN" sz="2000" smtClean="0">
                        <a:cs typeface="Times New Roman" panose="02020603050405020304" pitchFamily="18" charset="0"/>
                      </a:rPr>
                      <a:t>0</a:t>
                    </a:r>
                    <a:endParaRPr kumimoji="1" lang="en-US" altLang="zh-CN" sz="2000"/>
                  </a:p>
                  <a:p>
                    <a:r>
                      <a:rPr kumimoji="1" lang="en-US" altLang="zh-CN" sz="2000" smtClean="0">
                        <a:solidFill>
                          <a:schemeClr val="accent2"/>
                        </a:solidFill>
                        <a:cs typeface="Times New Roman" panose="02020603050405020304" pitchFamily="18" charset="0"/>
                      </a:rPr>
                      <a:t>180</a:t>
                    </a:r>
                    <a:r>
                      <a:rPr kumimoji="1" lang="en-US" altLang="zh-CN" sz="2000" smtClean="0">
                        <a:cs typeface="Times New Roman" panose="02020603050405020304" pitchFamily="18" charset="0"/>
                      </a:rPr>
                      <a:t>.</a:t>
                    </a:r>
                    <a:r>
                      <a:rPr kumimoji="1" lang="en-US" altLang="zh-CN" sz="2000" smtClean="0">
                        <a:solidFill>
                          <a:schemeClr val="accent2"/>
                        </a:solidFill>
                        <a:cs typeface="Times New Roman" panose="02020603050405020304" pitchFamily="18" charset="0"/>
                      </a:rPr>
                      <a:t>0</a:t>
                    </a:r>
                    <a:r>
                      <a:rPr kumimoji="1" lang="en-US" altLang="zh-CN" sz="2000" smtClean="0">
                        <a:cs typeface="Times New Roman" panose="02020603050405020304" pitchFamily="18" charset="0"/>
                      </a:rPr>
                      <a:t>.</a:t>
                    </a:r>
                    <a:r>
                      <a:rPr kumimoji="1" lang="en-US" altLang="zh-CN" sz="2000" smtClean="0">
                        <a:solidFill>
                          <a:schemeClr val="accent2"/>
                        </a:solidFill>
                        <a:cs typeface="Times New Roman" panose="02020603050405020304" pitchFamily="18" charset="0"/>
                      </a:rPr>
                      <a:t>0</a:t>
                    </a:r>
                    <a:r>
                      <a:rPr kumimoji="1" lang="en-US" altLang="zh-CN" sz="2000">
                        <a:cs typeface="Times New Roman" panose="02020603050405020304" pitchFamily="18" charset="0"/>
                      </a:rPr>
                      <a:t>.</a:t>
                    </a:r>
                    <a:r>
                      <a:rPr kumimoji="1" lang="en-US" altLang="zh-CN" sz="2000" smtClean="0">
                        <a:solidFill>
                          <a:schemeClr val="accent2"/>
                        </a:solidFill>
                        <a:cs typeface="Times New Roman" panose="02020603050405020304" pitchFamily="18" charset="0"/>
                      </a:rPr>
                      <a:t>0</a:t>
                    </a:r>
                    <a:endParaRPr kumimoji="1" lang="en-US" altLang="zh-CN" sz="2000">
                      <a:solidFill>
                        <a:schemeClr val="accent2"/>
                      </a:solidFill>
                      <a:cs typeface="Times New Roman" panose="02020603050405020304" pitchFamily="18" charset="0"/>
                    </a:endParaRPr>
                  </a:p>
                  <a:p>
                    <a:r>
                      <a:rPr kumimoji="1" lang="en-US" altLang="zh-CN" sz="2000" smtClean="0">
                        <a:cs typeface="Times New Roman" panose="02020603050405020304" pitchFamily="18" charset="0"/>
                      </a:rPr>
                      <a:t>190.0.0</a:t>
                    </a:r>
                    <a:r>
                      <a:rPr kumimoji="1" lang="en-US" altLang="zh-CN" sz="2000">
                        <a:cs typeface="Times New Roman" panose="02020603050405020304" pitchFamily="18" charset="0"/>
                      </a:rPr>
                      <a:t>.</a:t>
                    </a:r>
                    <a:r>
                      <a:rPr kumimoji="1" lang="en-US" altLang="zh-CN" sz="2000" smtClean="0">
                        <a:cs typeface="Times New Roman" panose="02020603050405020304" pitchFamily="18" charset="0"/>
                      </a:rPr>
                      <a:t>0</a:t>
                    </a:r>
                    <a:endParaRPr kumimoji="1" lang="en-US" altLang="zh-CN" sz="2000"/>
                  </a:p>
                  <a:p>
                    <a:endParaRPr kumimoji="1" lang="en-US" altLang="zh-CN" sz="2000"/>
                  </a:p>
                </p:txBody>
              </p:sp>
              <p:sp>
                <p:nvSpPr>
                  <p:cNvPr id="1803319" name="Rectangle 1079"/>
                  <p:cNvSpPr>
                    <a:spLocks noChangeArrowheads="1"/>
                  </p:cNvSpPr>
                  <p:nvPr/>
                </p:nvSpPr>
                <p:spPr bwMode="auto">
                  <a:xfrm>
                    <a:off x="0" y="384"/>
                    <a:ext cx="682" cy="9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803322" name="Group 1082"/>
                <p:cNvGrpSpPr>
                  <a:grpSpLocks/>
                </p:cNvGrpSpPr>
                <p:nvPr/>
              </p:nvGrpSpPr>
              <p:grpSpPr bwMode="auto">
                <a:xfrm>
                  <a:off x="682" y="384"/>
                  <a:ext cx="362" cy="960"/>
                  <a:chOff x="682" y="384"/>
                  <a:chExt cx="362" cy="960"/>
                </a:xfrm>
              </p:grpSpPr>
              <p:sp>
                <p:nvSpPr>
                  <p:cNvPr id="1803311" name="Rectangle 1071"/>
                  <p:cNvSpPr>
                    <a:spLocks noChangeArrowheads="1"/>
                  </p:cNvSpPr>
                  <p:nvPr/>
                </p:nvSpPr>
                <p:spPr bwMode="auto">
                  <a:xfrm>
                    <a:off x="725" y="384"/>
                    <a:ext cx="276" cy="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kumimoji="1" lang="en-US" altLang="zh-CN" sz="2000">
                        <a:cs typeface="Times New Roman" panose="02020603050405020304" pitchFamily="18" charset="0"/>
                      </a:rPr>
                      <a:t>0</a:t>
                    </a:r>
                    <a:endParaRPr kumimoji="1" lang="en-US" altLang="zh-CN" sz="2000"/>
                  </a:p>
                  <a:p>
                    <a:pPr algn="ctr"/>
                    <a:r>
                      <a:rPr kumimoji="1" lang="en-US" altLang="zh-CN" sz="2000">
                        <a:solidFill>
                          <a:schemeClr val="accent2"/>
                        </a:solidFill>
                        <a:cs typeface="Times New Roman" panose="02020603050405020304" pitchFamily="18" charset="0"/>
                      </a:rPr>
                      <a:t>5</a:t>
                    </a:r>
                  </a:p>
                  <a:p>
                    <a:pPr algn="ctr"/>
                    <a:r>
                      <a:rPr kumimoji="1" lang="en-US" altLang="zh-CN" sz="2000">
                        <a:solidFill>
                          <a:schemeClr val="tx2"/>
                        </a:solidFill>
                        <a:cs typeface="Times New Roman" panose="02020603050405020304" pitchFamily="18" charset="0"/>
                      </a:rPr>
                      <a:t>4</a:t>
                    </a:r>
                  </a:p>
                  <a:p>
                    <a:pPr algn="ctr"/>
                    <a:r>
                      <a:rPr kumimoji="1" lang="en-US" altLang="zh-CN" sz="2000">
                        <a:cs typeface="Times New Roman" panose="02020603050405020304" pitchFamily="18" charset="0"/>
                      </a:rPr>
                      <a:t>3</a:t>
                    </a:r>
                    <a:endParaRPr kumimoji="1" lang="en-US" altLang="zh-CN" sz="2000"/>
                  </a:p>
                  <a:p>
                    <a:pPr algn="ctr"/>
                    <a:r>
                      <a:rPr kumimoji="1" lang="en-US" altLang="zh-CN" sz="2000">
                        <a:cs typeface="Times New Roman" panose="02020603050405020304" pitchFamily="18" charset="0"/>
                      </a:rPr>
                      <a:t>4</a:t>
                    </a:r>
                    <a:endParaRPr kumimoji="1" lang="en-US" altLang="zh-CN" sz="2000"/>
                  </a:p>
                  <a:p>
                    <a:pPr algn="ctr"/>
                    <a:r>
                      <a:rPr kumimoji="1" lang="en-US" altLang="zh-CN" sz="2000">
                        <a:solidFill>
                          <a:schemeClr val="accent2"/>
                        </a:solidFill>
                        <a:cs typeface="Times New Roman" panose="02020603050405020304" pitchFamily="18" charset="0"/>
                      </a:rPr>
                      <a:t>6</a:t>
                    </a:r>
                  </a:p>
                  <a:p>
                    <a:pPr algn="ctr"/>
                    <a:r>
                      <a:rPr kumimoji="1" lang="en-US" altLang="zh-CN" sz="2000">
                        <a:cs typeface="Times New Roman" panose="02020603050405020304" pitchFamily="18" charset="0"/>
                      </a:rPr>
                      <a:t>10</a:t>
                    </a:r>
                    <a:endParaRPr kumimoji="1" lang="en-US" altLang="zh-CN" sz="2000"/>
                  </a:p>
                  <a:p>
                    <a:pPr algn="ctr"/>
                    <a:endParaRPr kumimoji="1" lang="en-US" altLang="zh-CN" sz="2000"/>
                  </a:p>
                </p:txBody>
              </p:sp>
              <p:sp>
                <p:nvSpPr>
                  <p:cNvPr id="1803321" name="Rectangle 1081"/>
                  <p:cNvSpPr>
                    <a:spLocks noChangeArrowheads="1"/>
                  </p:cNvSpPr>
                  <p:nvPr/>
                </p:nvSpPr>
                <p:spPr bwMode="auto">
                  <a:xfrm>
                    <a:off x="682" y="384"/>
                    <a:ext cx="362" cy="9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803324" name="Group 1084"/>
                <p:cNvGrpSpPr>
                  <a:grpSpLocks/>
                </p:cNvGrpSpPr>
                <p:nvPr/>
              </p:nvGrpSpPr>
              <p:grpSpPr bwMode="auto">
                <a:xfrm>
                  <a:off x="1044" y="384"/>
                  <a:ext cx="362" cy="960"/>
                  <a:chOff x="1044" y="384"/>
                  <a:chExt cx="362" cy="960"/>
                </a:xfrm>
              </p:grpSpPr>
              <p:sp>
                <p:nvSpPr>
                  <p:cNvPr id="1803312" name="Rectangle 1072"/>
                  <p:cNvSpPr>
                    <a:spLocks noChangeArrowheads="1"/>
                  </p:cNvSpPr>
                  <p:nvPr/>
                </p:nvSpPr>
                <p:spPr bwMode="auto">
                  <a:xfrm>
                    <a:off x="1087" y="384"/>
                    <a:ext cx="276" cy="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kumimoji="1" lang="zh-CN" altLang="en-US" sz="2000"/>
                      <a:t>直接</a:t>
                    </a:r>
                  </a:p>
                  <a:p>
                    <a:pPr algn="ctr"/>
                    <a:r>
                      <a:rPr kumimoji="1" lang="en-US" altLang="zh-CN" sz="2000">
                        <a:solidFill>
                          <a:schemeClr val="accent2"/>
                        </a:solidFill>
                        <a:cs typeface="Times New Roman" panose="02020603050405020304" pitchFamily="18" charset="0"/>
                      </a:rPr>
                      <a:t>Gj</a:t>
                    </a:r>
                    <a:endParaRPr kumimoji="1" lang="en-US" altLang="zh-CN" sz="2000">
                      <a:solidFill>
                        <a:schemeClr val="accent2"/>
                      </a:solidFill>
                    </a:endParaRPr>
                  </a:p>
                  <a:p>
                    <a:pPr algn="ctr"/>
                    <a:r>
                      <a:rPr kumimoji="1" lang="en-US" altLang="zh-CN" sz="2000">
                        <a:solidFill>
                          <a:schemeClr val="tx2"/>
                        </a:solidFill>
                        <a:cs typeface="Times New Roman" panose="02020603050405020304" pitchFamily="18" charset="0"/>
                      </a:rPr>
                      <a:t>Gj</a:t>
                    </a:r>
                  </a:p>
                  <a:p>
                    <a:pPr algn="ctr"/>
                    <a:r>
                      <a:rPr kumimoji="1" lang="en-US" altLang="zh-CN" sz="2000">
                        <a:cs typeface="Times New Roman" panose="02020603050405020304" pitchFamily="18" charset="0"/>
                      </a:rPr>
                      <a:t>Gj</a:t>
                    </a:r>
                    <a:endParaRPr kumimoji="1" lang="en-US" altLang="zh-CN" sz="2000"/>
                  </a:p>
                  <a:p>
                    <a:pPr algn="ctr"/>
                    <a:r>
                      <a:rPr kumimoji="1" lang="en-US" altLang="zh-CN" sz="2000">
                        <a:cs typeface="Times New Roman" panose="02020603050405020304" pitchFamily="18" charset="0"/>
                      </a:rPr>
                      <a:t>Gk</a:t>
                    </a:r>
                    <a:endParaRPr kumimoji="1" lang="en-US" altLang="zh-CN" sz="2000"/>
                  </a:p>
                  <a:p>
                    <a:pPr algn="ctr"/>
                    <a:r>
                      <a:rPr kumimoji="1" lang="en-US" altLang="zh-CN" sz="2000">
                        <a:solidFill>
                          <a:schemeClr val="accent2"/>
                        </a:solidFill>
                        <a:cs typeface="Times New Roman" panose="02020603050405020304" pitchFamily="18" charset="0"/>
                      </a:rPr>
                      <a:t>Gj</a:t>
                    </a:r>
                  </a:p>
                  <a:p>
                    <a:pPr algn="ctr"/>
                    <a:r>
                      <a:rPr kumimoji="1" lang="en-US" altLang="zh-CN" sz="2000">
                        <a:cs typeface="Times New Roman" panose="02020603050405020304" pitchFamily="18" charset="0"/>
                      </a:rPr>
                      <a:t>Gm</a:t>
                    </a:r>
                    <a:endParaRPr kumimoji="1" lang="en-US" altLang="zh-CN" sz="2000"/>
                  </a:p>
                  <a:p>
                    <a:pPr algn="ctr"/>
                    <a:endParaRPr kumimoji="1" lang="en-US" altLang="zh-CN" sz="2000"/>
                  </a:p>
                </p:txBody>
              </p:sp>
              <p:sp>
                <p:nvSpPr>
                  <p:cNvPr id="1803323" name="Rectangle 1083"/>
                  <p:cNvSpPr>
                    <a:spLocks noChangeArrowheads="1"/>
                  </p:cNvSpPr>
                  <p:nvPr/>
                </p:nvSpPr>
                <p:spPr bwMode="auto">
                  <a:xfrm>
                    <a:off x="1044" y="384"/>
                    <a:ext cx="362" cy="9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sp>
            <p:nvSpPr>
              <p:cNvPr id="1803326" name="Rectangle 1086"/>
              <p:cNvSpPr>
                <a:spLocks noChangeArrowheads="1"/>
              </p:cNvSpPr>
              <p:nvPr/>
            </p:nvSpPr>
            <p:spPr bwMode="auto">
              <a:xfrm>
                <a:off x="-3" y="-3"/>
                <a:ext cx="1412" cy="1350"/>
              </a:xfrm>
              <a:prstGeom prst="rect">
                <a:avLst/>
              </a:prstGeom>
              <a:noFill/>
              <a:ln w="11112">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803328" name="Text Box 1088"/>
            <p:cNvSpPr txBox="1">
              <a:spLocks noChangeArrowheads="1"/>
            </p:cNvSpPr>
            <p:nvPr/>
          </p:nvSpPr>
          <p:spPr bwMode="auto">
            <a:xfrm>
              <a:off x="3254" y="3814"/>
              <a:ext cx="228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Gi</a:t>
              </a:r>
              <a:r>
                <a:rPr lang="zh-CN" altLang="en-US"/>
                <a:t>刷新后的选径表 </a:t>
              </a:r>
            </a:p>
          </p:txBody>
        </p:sp>
      </p:grpSp>
    </p:spTree>
    <p:extLst>
      <p:ext uri="{BB962C8B-B14F-4D97-AF65-F5344CB8AC3E}">
        <p14:creationId xmlns:p14="http://schemas.microsoft.com/office/powerpoint/2010/main" val="1272524093"/>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803329"/>
                                        </p:tgtEl>
                                        <p:attrNameLst>
                                          <p:attrName>style.visibility</p:attrName>
                                        </p:attrNameLst>
                                      </p:cBhvr>
                                      <p:to>
                                        <p:strVal val="visible"/>
                                      </p:to>
                                    </p:set>
                                    <p:anim calcmode="lin" valueType="num">
                                      <p:cBhvr additive="base">
                                        <p:cTn id="7" dur="500" fill="hold"/>
                                        <p:tgtEl>
                                          <p:spTgt spid="1803329"/>
                                        </p:tgtEl>
                                        <p:attrNameLst>
                                          <p:attrName>ppt_x</p:attrName>
                                        </p:attrNameLst>
                                      </p:cBhvr>
                                      <p:tavLst>
                                        <p:tav tm="0">
                                          <p:val>
                                            <p:strVal val="1+#ppt_w/2"/>
                                          </p:val>
                                        </p:tav>
                                        <p:tav tm="100000">
                                          <p:val>
                                            <p:strVal val="#ppt_x"/>
                                          </p:val>
                                        </p:tav>
                                      </p:tavLst>
                                    </p:anim>
                                    <p:anim calcmode="lin" valueType="num">
                                      <p:cBhvr additive="base">
                                        <p:cTn id="8" dur="500" fill="hold"/>
                                        <p:tgtEl>
                                          <p:spTgt spid="180332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803330"/>
                                        </p:tgtEl>
                                        <p:attrNameLst>
                                          <p:attrName>style.visibility</p:attrName>
                                        </p:attrNameLst>
                                      </p:cBhvr>
                                      <p:to>
                                        <p:strVal val="visible"/>
                                      </p:to>
                                    </p:set>
                                    <p:anim calcmode="lin" valueType="num">
                                      <p:cBhvr additive="base">
                                        <p:cTn id="13" dur="500" fill="hold"/>
                                        <p:tgtEl>
                                          <p:spTgt spid="1803330"/>
                                        </p:tgtEl>
                                        <p:attrNameLst>
                                          <p:attrName>ppt_x</p:attrName>
                                        </p:attrNameLst>
                                      </p:cBhvr>
                                      <p:tavLst>
                                        <p:tav tm="0">
                                          <p:val>
                                            <p:strVal val="1+#ppt_w/2"/>
                                          </p:val>
                                        </p:tav>
                                        <p:tav tm="100000">
                                          <p:val>
                                            <p:strVal val="#ppt_x"/>
                                          </p:val>
                                        </p:tav>
                                      </p:tavLst>
                                    </p:anim>
                                    <p:anim calcmode="lin" valueType="num">
                                      <p:cBhvr additive="base">
                                        <p:cTn id="14" dur="500" fill="hold"/>
                                        <p:tgtEl>
                                          <p:spTgt spid="180333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rbrak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803331"/>
                                        </p:tgtEl>
                                        <p:attrNameLst>
                                          <p:attrName>style.visibility</p:attrName>
                                        </p:attrNameLst>
                                      </p:cBhvr>
                                      <p:to>
                                        <p:strVal val="visible"/>
                                      </p:to>
                                    </p:set>
                                    <p:anim calcmode="lin" valueType="num">
                                      <p:cBhvr additive="base">
                                        <p:cTn id="19" dur="500" fill="hold"/>
                                        <p:tgtEl>
                                          <p:spTgt spid="1803331"/>
                                        </p:tgtEl>
                                        <p:attrNameLst>
                                          <p:attrName>ppt_x</p:attrName>
                                        </p:attrNameLst>
                                      </p:cBhvr>
                                      <p:tavLst>
                                        <p:tav tm="0">
                                          <p:val>
                                            <p:strVal val="1+#ppt_w/2"/>
                                          </p:val>
                                        </p:tav>
                                        <p:tav tm="100000">
                                          <p:val>
                                            <p:strVal val="#ppt_x"/>
                                          </p:val>
                                        </p:tav>
                                      </p:tavLst>
                                    </p:anim>
                                    <p:anim calcmode="lin" valueType="num">
                                      <p:cBhvr additive="base">
                                        <p:cTn id="20" dur="500" fill="hold"/>
                                        <p:tgtEl>
                                          <p:spTgt spid="180333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4290" name="Rectangle 2"/>
          <p:cNvSpPr>
            <a:spLocks noGrp="1" noChangeArrowheads="1"/>
          </p:cNvSpPr>
          <p:nvPr>
            <p:ph type="title"/>
          </p:nvPr>
        </p:nvSpPr>
        <p:spPr bwMode="auto">
          <a:xfrm>
            <a:off x="2234407" y="279400"/>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en-US" altLang="zh-CN"/>
              <a:t>DV</a:t>
            </a:r>
            <a:r>
              <a:rPr lang="zh-CN" altLang="en-US"/>
              <a:t>算法的特点</a:t>
            </a:r>
          </a:p>
        </p:txBody>
      </p:sp>
      <p:sp>
        <p:nvSpPr>
          <p:cNvPr id="1804292" name="Text Box 4"/>
          <p:cNvSpPr txBox="1">
            <a:spLocks noChangeArrowheads="1"/>
          </p:cNvSpPr>
          <p:nvPr/>
        </p:nvSpPr>
        <p:spPr bwMode="auto">
          <a:xfrm>
            <a:off x="1092200" y="1612900"/>
            <a:ext cx="10452100" cy="3653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30000"/>
              </a:spcBef>
            </a:pPr>
            <a:r>
              <a:rPr lang="en-US" altLang="zh-CN" sz="2600" smtClean="0">
                <a:latin typeface="宋体" panose="02010600030101010101" pitchFamily="2" charset="-122"/>
              </a:rPr>
              <a:t>V-D</a:t>
            </a:r>
            <a:r>
              <a:rPr lang="zh-CN" altLang="en-US" sz="2600">
                <a:latin typeface="宋体" panose="02010600030101010101" pitchFamily="2" charset="-122"/>
              </a:rPr>
              <a:t>算法的</a:t>
            </a:r>
            <a:r>
              <a:rPr lang="zh-CN" altLang="en-US" sz="2600">
                <a:solidFill>
                  <a:schemeClr val="hlink"/>
                </a:solidFill>
                <a:latin typeface="宋体" panose="02010600030101010101" pitchFamily="2" charset="-122"/>
              </a:rPr>
              <a:t>优点</a:t>
            </a:r>
            <a:r>
              <a:rPr lang="zh-CN" altLang="en-US" sz="2600">
                <a:latin typeface="宋体" panose="02010600030101010101" pitchFamily="2" charset="-122"/>
              </a:rPr>
              <a:t>是简单，易于实现。</a:t>
            </a:r>
          </a:p>
          <a:p>
            <a:pPr>
              <a:spcBef>
                <a:spcPct val="30000"/>
              </a:spcBef>
            </a:pPr>
            <a:r>
              <a:rPr lang="zh-CN" altLang="en-US" sz="2600" smtClean="0">
                <a:solidFill>
                  <a:schemeClr val="hlink"/>
                </a:solidFill>
                <a:latin typeface="宋体" panose="02010600030101010101" pitchFamily="2" charset="-122"/>
              </a:rPr>
              <a:t>缺点</a:t>
            </a:r>
            <a:r>
              <a:rPr lang="zh-CN" altLang="en-US" sz="2600">
                <a:latin typeface="宋体" panose="02010600030101010101" pitchFamily="2" charset="-122"/>
              </a:rPr>
              <a:t>是：</a:t>
            </a:r>
          </a:p>
          <a:p>
            <a:pPr>
              <a:spcBef>
                <a:spcPct val="30000"/>
              </a:spcBef>
            </a:pPr>
            <a:r>
              <a:rPr lang="zh-CN" altLang="en-US" sz="2600">
                <a:latin typeface="宋体" panose="02010600030101010101" pitchFamily="2" charset="-122"/>
              </a:rPr>
              <a:t>（</a:t>
            </a:r>
            <a:r>
              <a:rPr lang="en-US" altLang="zh-CN" sz="2600">
                <a:latin typeface="宋体" panose="02010600030101010101" pitchFamily="2" charset="-122"/>
              </a:rPr>
              <a:t>1</a:t>
            </a:r>
            <a:r>
              <a:rPr lang="zh-CN" altLang="en-US" sz="2600">
                <a:latin typeface="宋体" panose="02010600030101010101" pitchFamily="2" charset="-122"/>
              </a:rPr>
              <a:t>）不适合于路径变化剧烈或大型网间网环境，因为其路由器的路径变化象波动一样地从相邻路由器传播出去</a:t>
            </a:r>
            <a:r>
              <a:rPr lang="en-US" altLang="zh-CN" sz="2600">
                <a:latin typeface="宋体" panose="02010600030101010101" pitchFamily="2" charset="-122"/>
              </a:rPr>
              <a:t>----</a:t>
            </a:r>
            <a:r>
              <a:rPr lang="zh-CN" altLang="en-US" sz="2600">
                <a:latin typeface="宋体" panose="02010600030101010101" pitchFamily="2" charset="-122"/>
              </a:rPr>
              <a:t>收敛慢，可能出现路径不一致；另外，采用距离向量算法的路由协议，如</a:t>
            </a:r>
            <a:r>
              <a:rPr lang="en-US" altLang="zh-CN" sz="2600">
                <a:latin typeface="宋体" panose="02010600030101010101" pitchFamily="2" charset="-122"/>
              </a:rPr>
              <a:t>RIP</a:t>
            </a:r>
            <a:r>
              <a:rPr lang="zh-CN" altLang="en-US" sz="2600">
                <a:latin typeface="宋体" panose="02010600030101010101" pitchFamily="2" charset="-122"/>
              </a:rPr>
              <a:t>规定距离最大长度为</a:t>
            </a:r>
            <a:r>
              <a:rPr lang="en-US" altLang="zh-CN" sz="2600">
                <a:latin typeface="宋体" panose="02010600030101010101" pitchFamily="2" charset="-122"/>
              </a:rPr>
              <a:t>15</a:t>
            </a:r>
            <a:r>
              <a:rPr lang="en-US" altLang="zh-CN" sz="2600"/>
              <a:t>“</a:t>
            </a:r>
            <a:r>
              <a:rPr lang="zh-CN" altLang="en-US" sz="2600">
                <a:latin typeface="宋体" panose="02010600030101010101" pitchFamily="2" charset="-122"/>
              </a:rPr>
              <a:t>跳</a:t>
            </a:r>
            <a:r>
              <a:rPr lang="zh-CN" altLang="en-US" sz="2600"/>
              <a:t>”</a:t>
            </a:r>
            <a:r>
              <a:rPr lang="zh-CN" altLang="en-US" sz="2600">
                <a:latin typeface="宋体" panose="02010600030101010101" pitchFamily="2" charset="-122"/>
              </a:rPr>
              <a:t>，这对于一个大型网络来说是不够的。</a:t>
            </a:r>
          </a:p>
          <a:p>
            <a:pPr>
              <a:spcBef>
                <a:spcPct val="30000"/>
              </a:spcBef>
            </a:pPr>
            <a:r>
              <a:rPr lang="zh-CN" altLang="en-US" sz="2600">
                <a:latin typeface="宋体" panose="02010600030101010101" pitchFamily="2" charset="-122"/>
              </a:rPr>
              <a:t>（</a:t>
            </a:r>
            <a:r>
              <a:rPr lang="en-US" altLang="zh-CN" sz="2600">
                <a:latin typeface="宋体" panose="02010600030101010101" pitchFamily="2" charset="-122"/>
              </a:rPr>
              <a:t>2</a:t>
            </a:r>
            <a:r>
              <a:rPr lang="zh-CN" altLang="en-US" sz="2600">
                <a:latin typeface="宋体" panose="02010600030101010101" pitchFamily="2" charset="-122"/>
              </a:rPr>
              <a:t>）路由器之间交换完整的路由信息，需大量的信息交换</a:t>
            </a:r>
            <a:r>
              <a:rPr lang="en-US" altLang="zh-CN" sz="2600">
                <a:latin typeface="宋体" panose="02010600030101010101" pitchFamily="2" charset="-122"/>
              </a:rPr>
              <a:t>----</a:t>
            </a:r>
            <a:r>
              <a:rPr lang="zh-CN" altLang="en-US" sz="2600">
                <a:latin typeface="宋体" panose="02010600030101010101" pitchFamily="2" charset="-122"/>
              </a:rPr>
              <a:t>占用大量的网络带宽。</a:t>
            </a:r>
          </a:p>
        </p:txBody>
      </p:sp>
    </p:spTree>
    <p:extLst>
      <p:ext uri="{BB962C8B-B14F-4D97-AF65-F5344CB8AC3E}">
        <p14:creationId xmlns:p14="http://schemas.microsoft.com/office/powerpoint/2010/main" val="1753928097"/>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04292">
                                            <p:txEl>
                                              <p:pRg st="0" end="0"/>
                                            </p:txEl>
                                          </p:spTgt>
                                        </p:tgtEl>
                                        <p:attrNameLst>
                                          <p:attrName>style.visibility</p:attrName>
                                        </p:attrNameLst>
                                      </p:cBhvr>
                                      <p:to>
                                        <p:strVal val="visible"/>
                                      </p:to>
                                    </p:set>
                                    <p:anim calcmode="lin" valueType="num">
                                      <p:cBhvr additive="base">
                                        <p:cTn id="7" dur="500" fill="hold"/>
                                        <p:tgtEl>
                                          <p:spTgt spid="180429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0429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04292">
                                            <p:txEl>
                                              <p:pRg st="1" end="1"/>
                                            </p:txEl>
                                          </p:spTgt>
                                        </p:tgtEl>
                                        <p:attrNameLst>
                                          <p:attrName>style.visibility</p:attrName>
                                        </p:attrNameLst>
                                      </p:cBhvr>
                                      <p:to>
                                        <p:strVal val="visible"/>
                                      </p:to>
                                    </p:set>
                                    <p:anim calcmode="lin" valueType="num">
                                      <p:cBhvr additive="base">
                                        <p:cTn id="13" dur="500" fill="hold"/>
                                        <p:tgtEl>
                                          <p:spTgt spid="1804292">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04292">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rbrak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04292">
                                            <p:txEl>
                                              <p:pRg st="2" end="2"/>
                                            </p:txEl>
                                          </p:spTgt>
                                        </p:tgtEl>
                                        <p:attrNameLst>
                                          <p:attrName>style.visibility</p:attrName>
                                        </p:attrNameLst>
                                      </p:cBhvr>
                                      <p:to>
                                        <p:strVal val="visible"/>
                                      </p:to>
                                    </p:set>
                                    <p:anim calcmode="lin" valueType="num">
                                      <p:cBhvr additive="base">
                                        <p:cTn id="19" dur="500" fill="hold"/>
                                        <p:tgtEl>
                                          <p:spTgt spid="1804292">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04292">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rbrake.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04292">
                                            <p:txEl>
                                              <p:pRg st="3" end="3"/>
                                            </p:txEl>
                                          </p:spTgt>
                                        </p:tgtEl>
                                        <p:attrNameLst>
                                          <p:attrName>style.visibility</p:attrName>
                                        </p:attrNameLst>
                                      </p:cBhvr>
                                      <p:to>
                                        <p:strVal val="visible"/>
                                      </p:to>
                                    </p:set>
                                    <p:anim calcmode="lin" valueType="num">
                                      <p:cBhvr additive="base">
                                        <p:cTn id="25" dur="500" fill="hold"/>
                                        <p:tgtEl>
                                          <p:spTgt spid="1804292">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04292">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4292" grpId="0" build="p" autoUpdateAnimBg="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6578" name="Rectangle 2"/>
          <p:cNvSpPr>
            <a:spLocks noGrp="1" noChangeArrowheads="1"/>
          </p:cNvSpPr>
          <p:nvPr>
            <p:ph type="body" idx="1"/>
          </p:nvPr>
        </p:nvSpPr>
        <p:spPr bwMode="auto">
          <a:xfrm>
            <a:off x="2209800" y="1981200"/>
            <a:ext cx="7772400" cy="4114800"/>
          </a:xfrm>
          <a:solidFill>
            <a:srgbClr val="FFFFFF"/>
          </a:solidFill>
          <a:ln>
            <a:solidFill>
              <a:srgbClr val="99CC00"/>
            </a:solidFill>
            <a:miter lim="800000"/>
            <a:headEnd/>
            <a:tailEnd/>
          </a:ln>
        </p:spPr>
        <p:txBody>
          <a:bodyPr vert="horz" wrap="square" lIns="91440" tIns="45720" rIns="91440" bIns="45720" numCol="1" rtlCol="0" anchor="t" anchorCtr="0" compatLnSpc="1">
            <a:prstTxWarp prst="textNoShape">
              <a:avLst/>
            </a:prstTxWarp>
            <a:normAutofit/>
          </a:bodyPr>
          <a:lstStyle/>
          <a:p>
            <a:pPr>
              <a:buFont typeface="Wingdings" panose="05000000000000000000" pitchFamily="2" charset="2"/>
              <a:buNone/>
            </a:pPr>
            <a:r>
              <a:rPr lang="zh-CN" altLang="en-US"/>
              <a:t>简单例子</a:t>
            </a:r>
          </a:p>
          <a:p>
            <a:pPr lvl="1"/>
            <a:r>
              <a:rPr lang="en-US" altLang="zh-CN"/>
              <a:t>Costs in nodes are to reach Internet</a:t>
            </a:r>
          </a:p>
          <a:p>
            <a:pPr lvl="1"/>
            <a:endParaRPr lang="en-US" altLang="zh-CN"/>
          </a:p>
          <a:p>
            <a:pPr lvl="1"/>
            <a:endParaRPr lang="en-US" altLang="zh-CN"/>
          </a:p>
          <a:p>
            <a:pPr lvl="1"/>
            <a:endParaRPr lang="en-US" altLang="zh-CN"/>
          </a:p>
          <a:p>
            <a:pPr lvl="1"/>
            <a:endParaRPr lang="en-US" altLang="zh-CN"/>
          </a:p>
          <a:p>
            <a:pPr lvl="1"/>
            <a:endParaRPr lang="en-US" altLang="zh-CN"/>
          </a:p>
          <a:p>
            <a:pPr lvl="1"/>
            <a:endParaRPr lang="en-US" altLang="zh-CN"/>
          </a:p>
          <a:p>
            <a:r>
              <a:rPr lang="en-US" altLang="zh-CN"/>
              <a:t>B</a:t>
            </a:r>
            <a:r>
              <a:rPr lang="zh-CN" altLang="en-US"/>
              <a:t>到 </a:t>
            </a:r>
            <a:r>
              <a:rPr lang="en-US" altLang="zh-CN"/>
              <a:t>Internet </a:t>
            </a:r>
            <a:r>
              <a:rPr lang="zh-CN" altLang="en-US"/>
              <a:t>的连接失败</a:t>
            </a:r>
            <a:r>
              <a:rPr lang="en-US" altLang="zh-CN">
                <a:latin typeface="Trebuchet MS" panose="020B0603020202020204" pitchFamily="34" charset="0"/>
              </a:rPr>
              <a:t>…</a:t>
            </a:r>
            <a:endParaRPr lang="en-US" altLang="zh-CN"/>
          </a:p>
        </p:txBody>
      </p:sp>
      <p:sp>
        <p:nvSpPr>
          <p:cNvPr id="1816579" name="Line 3"/>
          <p:cNvSpPr>
            <a:spLocks noChangeShapeType="1"/>
          </p:cNvSpPr>
          <p:nvPr/>
        </p:nvSpPr>
        <p:spPr bwMode="auto">
          <a:xfrm>
            <a:off x="3657600" y="3810000"/>
            <a:ext cx="3657600" cy="0"/>
          </a:xfrm>
          <a:prstGeom prst="line">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816580" name="Oval 4"/>
          <p:cNvSpPr>
            <a:spLocks noChangeArrowheads="1"/>
          </p:cNvSpPr>
          <p:nvPr/>
        </p:nvSpPr>
        <p:spPr bwMode="auto">
          <a:xfrm>
            <a:off x="3352800" y="3550325"/>
            <a:ext cx="259766" cy="519351"/>
          </a:xfrm>
          <a:prstGeom prst="ellipse">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16581" name="Oval 5"/>
          <p:cNvSpPr>
            <a:spLocks noChangeArrowheads="1"/>
          </p:cNvSpPr>
          <p:nvPr/>
        </p:nvSpPr>
        <p:spPr bwMode="auto">
          <a:xfrm>
            <a:off x="5156200" y="3550325"/>
            <a:ext cx="259766" cy="519351"/>
          </a:xfrm>
          <a:prstGeom prst="ellipse">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solidFill>
                <a:srgbClr val="FF0000"/>
              </a:solidFill>
            </a:endParaRPr>
          </a:p>
        </p:txBody>
      </p:sp>
      <p:sp>
        <p:nvSpPr>
          <p:cNvPr id="1816582" name="AutoShape 6"/>
          <p:cNvSpPr>
            <a:spLocks noChangeArrowheads="1"/>
          </p:cNvSpPr>
          <p:nvPr/>
        </p:nvSpPr>
        <p:spPr bwMode="auto">
          <a:xfrm>
            <a:off x="6562507" y="3197425"/>
            <a:ext cx="2178489" cy="1296591"/>
          </a:xfrm>
          <a:prstGeom prst="irregularSeal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sz="2400">
                <a:latin typeface="Arial" panose="020B0604020202020204" pitchFamily="34" charset="0"/>
              </a:rPr>
              <a:t>Internet</a:t>
            </a:r>
          </a:p>
        </p:txBody>
      </p:sp>
      <p:sp>
        <p:nvSpPr>
          <p:cNvPr id="1816583" name="Text Box 7"/>
          <p:cNvSpPr txBox="1">
            <a:spLocks noChangeArrowheads="1"/>
          </p:cNvSpPr>
          <p:nvPr/>
        </p:nvSpPr>
        <p:spPr bwMode="auto">
          <a:xfrm>
            <a:off x="3162008" y="4100751"/>
            <a:ext cx="6413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rgbClr val="FF0000"/>
                </a:solidFill>
                <a:latin typeface="Arial" panose="020B0604020202020204" pitchFamily="34" charset="0"/>
              </a:rPr>
              <a:t>A/2</a:t>
            </a:r>
          </a:p>
        </p:txBody>
      </p:sp>
      <p:sp>
        <p:nvSpPr>
          <p:cNvPr id="1816584" name="Text Box 8"/>
          <p:cNvSpPr txBox="1">
            <a:spLocks noChangeArrowheads="1"/>
          </p:cNvSpPr>
          <p:nvPr/>
        </p:nvSpPr>
        <p:spPr bwMode="auto">
          <a:xfrm>
            <a:off x="5027212" y="4139308"/>
            <a:ext cx="6413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rgbClr val="FF0000"/>
                </a:solidFill>
                <a:latin typeface="Arial" panose="020B0604020202020204" pitchFamily="34" charset="0"/>
              </a:rPr>
              <a:t>B/1</a:t>
            </a:r>
          </a:p>
        </p:txBody>
      </p:sp>
      <p:sp>
        <p:nvSpPr>
          <p:cNvPr id="1816585" name="Rectangle 9"/>
          <p:cNvSpPr>
            <a:spLocks noGrp="1" noChangeArrowheads="1"/>
          </p:cNvSpPr>
          <p:nvPr>
            <p:ph type="title"/>
          </p:nvPr>
        </p:nvSpPr>
        <p:spPr bwMode="auto">
          <a:xfrm>
            <a:off x="2209800" y="609600"/>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zh-CN" altLang="en-US"/>
              <a:t>无限计数问题</a:t>
            </a:r>
          </a:p>
        </p:txBody>
      </p:sp>
    </p:spTree>
    <p:extLst>
      <p:ext uri="{BB962C8B-B14F-4D97-AF65-F5344CB8AC3E}">
        <p14:creationId xmlns:p14="http://schemas.microsoft.com/office/powerpoint/2010/main" val="1863053991"/>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7602" name="Line 2"/>
          <p:cNvSpPr>
            <a:spLocks noChangeShapeType="1"/>
          </p:cNvSpPr>
          <p:nvPr/>
        </p:nvSpPr>
        <p:spPr bwMode="auto">
          <a:xfrm>
            <a:off x="4017963" y="3149600"/>
            <a:ext cx="838200" cy="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817603" name="Text Box 3"/>
          <p:cNvSpPr txBox="1">
            <a:spLocks noChangeArrowheads="1"/>
          </p:cNvSpPr>
          <p:nvPr/>
        </p:nvSpPr>
        <p:spPr bwMode="auto">
          <a:xfrm>
            <a:off x="3941763" y="3149600"/>
            <a:ext cx="11176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Arial" panose="020B0604020202020204" pitchFamily="34" charset="0"/>
              </a:rPr>
              <a:t>update</a:t>
            </a:r>
          </a:p>
        </p:txBody>
      </p:sp>
      <p:sp>
        <p:nvSpPr>
          <p:cNvPr id="1817604" name="Line 4"/>
          <p:cNvSpPr>
            <a:spLocks noChangeShapeType="1"/>
          </p:cNvSpPr>
          <p:nvPr/>
        </p:nvSpPr>
        <p:spPr bwMode="auto">
          <a:xfrm>
            <a:off x="3484563" y="2997200"/>
            <a:ext cx="3657600" cy="0"/>
          </a:xfrm>
          <a:prstGeom prst="line">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817605" name="Oval 5"/>
          <p:cNvSpPr>
            <a:spLocks noChangeArrowheads="1"/>
          </p:cNvSpPr>
          <p:nvPr/>
        </p:nvSpPr>
        <p:spPr bwMode="auto">
          <a:xfrm>
            <a:off x="3179763" y="2737525"/>
            <a:ext cx="259766" cy="519351"/>
          </a:xfrm>
          <a:prstGeom prst="ellipse">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17606" name="Oval 6"/>
          <p:cNvSpPr>
            <a:spLocks noChangeArrowheads="1"/>
          </p:cNvSpPr>
          <p:nvPr/>
        </p:nvSpPr>
        <p:spPr bwMode="auto">
          <a:xfrm>
            <a:off x="4932363" y="2737525"/>
            <a:ext cx="259766" cy="519351"/>
          </a:xfrm>
          <a:prstGeom prst="ellipse">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17607" name="AutoShape 7"/>
          <p:cNvSpPr>
            <a:spLocks noChangeArrowheads="1"/>
          </p:cNvSpPr>
          <p:nvPr/>
        </p:nvSpPr>
        <p:spPr bwMode="auto">
          <a:xfrm>
            <a:off x="6554570" y="2313187"/>
            <a:ext cx="2178489" cy="1296591"/>
          </a:xfrm>
          <a:prstGeom prst="irregularSeal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sz="2400">
                <a:latin typeface="Arial" panose="020B0604020202020204" pitchFamily="34" charset="0"/>
              </a:rPr>
              <a:t>Internet</a:t>
            </a:r>
          </a:p>
        </p:txBody>
      </p:sp>
      <p:sp>
        <p:nvSpPr>
          <p:cNvPr id="1817608" name="Text Box 8"/>
          <p:cNvSpPr txBox="1">
            <a:spLocks noChangeArrowheads="1"/>
          </p:cNvSpPr>
          <p:nvPr/>
        </p:nvSpPr>
        <p:spPr bwMode="auto">
          <a:xfrm>
            <a:off x="2988971" y="3516551"/>
            <a:ext cx="6413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rgbClr val="FF0000"/>
                </a:solidFill>
                <a:latin typeface="Arial" panose="020B0604020202020204" pitchFamily="34" charset="0"/>
              </a:rPr>
              <a:t>A/2</a:t>
            </a:r>
          </a:p>
        </p:txBody>
      </p:sp>
      <p:sp>
        <p:nvSpPr>
          <p:cNvPr id="1817609" name="Text Box 9"/>
          <p:cNvSpPr txBox="1">
            <a:spLocks noChangeArrowheads="1"/>
          </p:cNvSpPr>
          <p:nvPr/>
        </p:nvSpPr>
        <p:spPr bwMode="auto">
          <a:xfrm>
            <a:off x="4805071" y="3503851"/>
            <a:ext cx="6413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rgbClr val="FF0000"/>
                </a:solidFill>
                <a:latin typeface="Arial" panose="020B0604020202020204" pitchFamily="34" charset="0"/>
              </a:rPr>
              <a:t>B/3</a:t>
            </a:r>
          </a:p>
        </p:txBody>
      </p:sp>
      <p:sp>
        <p:nvSpPr>
          <p:cNvPr id="1817610" name="Text Box 10"/>
          <p:cNvSpPr txBox="1">
            <a:spLocks noChangeArrowheads="1"/>
          </p:cNvSpPr>
          <p:nvPr/>
        </p:nvSpPr>
        <p:spPr bwMode="auto">
          <a:xfrm>
            <a:off x="5770563" y="2768600"/>
            <a:ext cx="79375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chemeClr val="folHlink"/>
                </a:solidFill>
                <a:latin typeface="Arial" panose="020B0604020202020204" pitchFamily="34" charset="0"/>
              </a:rPr>
              <a:t>XXX</a:t>
            </a:r>
          </a:p>
        </p:txBody>
      </p:sp>
      <p:sp>
        <p:nvSpPr>
          <p:cNvPr id="1817611" name="Rectangle 11"/>
          <p:cNvSpPr>
            <a:spLocks noGrp="1" noChangeArrowheads="1"/>
          </p:cNvSpPr>
          <p:nvPr>
            <p:ph type="title"/>
          </p:nvPr>
        </p:nvSpPr>
        <p:spPr bwMode="auto">
          <a:xfrm>
            <a:off x="2281238" y="200681"/>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zh-CN" altLang="en-US"/>
              <a:t>无限计数问题</a:t>
            </a:r>
          </a:p>
        </p:txBody>
      </p:sp>
      <p:sp>
        <p:nvSpPr>
          <p:cNvPr id="1817612" name="Text Box 12"/>
          <p:cNvSpPr txBox="1">
            <a:spLocks noChangeArrowheads="1"/>
          </p:cNvSpPr>
          <p:nvPr/>
        </p:nvSpPr>
        <p:spPr bwMode="auto">
          <a:xfrm>
            <a:off x="2290762" y="4052889"/>
            <a:ext cx="8504237" cy="1175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90525" indent="-390525">
              <a:defRPr kumimoji="1" sz="2400">
                <a:solidFill>
                  <a:schemeClr val="tx1"/>
                </a:solidFill>
                <a:latin typeface="Times New Roman" panose="02020603050405020304" pitchFamily="18" charset="0"/>
                <a:ea typeface="宋体" panose="02010600030101010101" pitchFamily="2" charset="-122"/>
              </a:defRPr>
            </a:lvl1pPr>
            <a:lvl2pPr marL="581025">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Clr>
                <a:schemeClr val="folHlink"/>
              </a:buClr>
              <a:buSzPct val="60000"/>
              <a:buFont typeface="Wingdings" panose="05000000000000000000" pitchFamily="2" charset="2"/>
              <a:buChar char="n"/>
            </a:pPr>
            <a:r>
              <a:rPr lang="en-US" altLang="zh-CN" sz="3200">
                <a:latin typeface="Tahoma" panose="020B0604030504040204" pitchFamily="34" charset="0"/>
              </a:rPr>
              <a:t>B </a:t>
            </a:r>
            <a:r>
              <a:rPr lang="zh-CN" altLang="en-US" sz="3200">
                <a:latin typeface="Tahoma" panose="020B0604030504040204" pitchFamily="34" charset="0"/>
              </a:rPr>
              <a:t>靠近一条经</a:t>
            </a:r>
            <a:r>
              <a:rPr lang="en-US" altLang="zh-CN" sz="3200">
                <a:latin typeface="Tahoma" panose="020B0604030504040204" pitchFamily="34" charset="0"/>
              </a:rPr>
              <a:t>A</a:t>
            </a:r>
            <a:r>
              <a:rPr lang="zh-CN" altLang="en-US" sz="3200">
                <a:latin typeface="Tahoma" panose="020B0604030504040204" pitchFamily="34" charset="0"/>
              </a:rPr>
              <a:t>代价为</a:t>
            </a:r>
            <a:r>
              <a:rPr lang="en-US" altLang="zh-CN" sz="3200">
                <a:latin typeface="Tahoma" panose="020B0604030504040204" pitchFamily="34" charset="0"/>
              </a:rPr>
              <a:t>2</a:t>
            </a:r>
            <a:r>
              <a:rPr lang="zh-CN" altLang="en-US" sz="3200">
                <a:latin typeface="Tahoma" panose="020B0604030504040204" pitchFamily="34" charset="0"/>
              </a:rPr>
              <a:t>的到</a:t>
            </a:r>
            <a:r>
              <a:rPr lang="en-US" altLang="zh-CN" sz="3200">
                <a:latin typeface="Tahoma" panose="020B0604030504040204" pitchFamily="34" charset="0"/>
              </a:rPr>
              <a:t>Internet</a:t>
            </a:r>
            <a:r>
              <a:rPr lang="zh-CN" altLang="en-US" sz="3200">
                <a:latin typeface="Tahoma" panose="020B0604030504040204" pitchFamily="34" charset="0"/>
              </a:rPr>
              <a:t>的路径</a:t>
            </a:r>
          </a:p>
          <a:p>
            <a:pPr eaLnBrk="1" hangingPunct="1">
              <a:spcBef>
                <a:spcPct val="20000"/>
              </a:spcBef>
              <a:buClr>
                <a:schemeClr val="folHlink"/>
              </a:buClr>
              <a:buSzPct val="60000"/>
              <a:buFont typeface="Wingdings" panose="05000000000000000000" pitchFamily="2" charset="2"/>
              <a:buChar char="n"/>
            </a:pPr>
            <a:r>
              <a:rPr lang="zh-CN" altLang="en-US" sz="3200">
                <a:latin typeface="Tahoma" panose="020B0604030504040204" pitchFamily="34" charset="0"/>
              </a:rPr>
              <a:t>因此 </a:t>
            </a:r>
            <a:r>
              <a:rPr lang="en-US" altLang="zh-CN" sz="3200">
                <a:latin typeface="Tahoma" panose="020B0604030504040204" pitchFamily="34" charset="0"/>
              </a:rPr>
              <a:t>B</a:t>
            </a:r>
            <a:r>
              <a:rPr lang="zh-CN" altLang="en-US" sz="3200">
                <a:latin typeface="Tahoma" panose="020B0604030504040204" pitchFamily="34" charset="0"/>
              </a:rPr>
              <a:t>转到这条更好的路径 </a:t>
            </a:r>
            <a:r>
              <a:rPr lang="en-US" altLang="zh-CN" sz="3200">
                <a:latin typeface="Tahoma" panose="020B0604030504040204" pitchFamily="34" charset="0"/>
              </a:rPr>
              <a:t>(but wrong!)</a:t>
            </a:r>
            <a:endParaRPr kumimoji="0" lang="en-US" altLang="zh-CN" sz="2800">
              <a:solidFill>
                <a:srgbClr val="CACACA"/>
              </a:solidFill>
            </a:endParaRPr>
          </a:p>
        </p:txBody>
      </p:sp>
    </p:spTree>
    <p:extLst>
      <p:ext uri="{BB962C8B-B14F-4D97-AF65-F5344CB8AC3E}">
        <p14:creationId xmlns:p14="http://schemas.microsoft.com/office/powerpoint/2010/main" val="1544220133"/>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8626" name="Line 1026"/>
          <p:cNvSpPr>
            <a:spLocks noChangeShapeType="1"/>
          </p:cNvSpPr>
          <p:nvPr/>
        </p:nvSpPr>
        <p:spPr bwMode="auto">
          <a:xfrm flipH="1">
            <a:off x="3975100" y="2819400"/>
            <a:ext cx="838200" cy="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818627" name="Text Box 1027"/>
          <p:cNvSpPr txBox="1">
            <a:spLocks noChangeArrowheads="1"/>
          </p:cNvSpPr>
          <p:nvPr/>
        </p:nvSpPr>
        <p:spPr bwMode="auto">
          <a:xfrm>
            <a:off x="3898900" y="2819400"/>
            <a:ext cx="11176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Arial" panose="020B0604020202020204" pitchFamily="34" charset="0"/>
              </a:rPr>
              <a:t>update</a:t>
            </a:r>
          </a:p>
        </p:txBody>
      </p:sp>
      <p:sp>
        <p:nvSpPr>
          <p:cNvPr id="1818628" name="Line 1028"/>
          <p:cNvSpPr>
            <a:spLocks noChangeShapeType="1"/>
          </p:cNvSpPr>
          <p:nvPr/>
        </p:nvSpPr>
        <p:spPr bwMode="auto">
          <a:xfrm>
            <a:off x="3441700" y="2667000"/>
            <a:ext cx="3657600" cy="0"/>
          </a:xfrm>
          <a:prstGeom prst="line">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818629" name="Oval 1029"/>
          <p:cNvSpPr>
            <a:spLocks noChangeArrowheads="1"/>
          </p:cNvSpPr>
          <p:nvPr/>
        </p:nvSpPr>
        <p:spPr bwMode="auto">
          <a:xfrm>
            <a:off x="3136900" y="2407325"/>
            <a:ext cx="259766" cy="519351"/>
          </a:xfrm>
          <a:prstGeom prst="ellipse">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18630" name="Oval 1030"/>
          <p:cNvSpPr>
            <a:spLocks noChangeArrowheads="1"/>
          </p:cNvSpPr>
          <p:nvPr/>
        </p:nvSpPr>
        <p:spPr bwMode="auto">
          <a:xfrm>
            <a:off x="4889500" y="2407325"/>
            <a:ext cx="259766" cy="519351"/>
          </a:xfrm>
          <a:prstGeom prst="ellipse">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solidFill>
                <a:srgbClr val="FF0000"/>
              </a:solidFill>
            </a:endParaRPr>
          </a:p>
        </p:txBody>
      </p:sp>
      <p:sp>
        <p:nvSpPr>
          <p:cNvPr id="1818631" name="AutoShape 1031"/>
          <p:cNvSpPr>
            <a:spLocks noChangeArrowheads="1"/>
          </p:cNvSpPr>
          <p:nvPr/>
        </p:nvSpPr>
        <p:spPr bwMode="auto">
          <a:xfrm>
            <a:off x="6511707" y="1982987"/>
            <a:ext cx="2178489" cy="1296591"/>
          </a:xfrm>
          <a:prstGeom prst="irregularSeal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sz="2400">
                <a:latin typeface="Arial" panose="020B0604020202020204" pitchFamily="34" charset="0"/>
              </a:rPr>
              <a:t>Internet</a:t>
            </a:r>
          </a:p>
        </p:txBody>
      </p:sp>
      <p:sp>
        <p:nvSpPr>
          <p:cNvPr id="1818632" name="Text Box 1032"/>
          <p:cNvSpPr txBox="1">
            <a:spLocks noChangeArrowheads="1"/>
          </p:cNvSpPr>
          <p:nvPr/>
        </p:nvSpPr>
        <p:spPr bwMode="auto">
          <a:xfrm>
            <a:off x="2946108" y="3122414"/>
            <a:ext cx="6413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rgbClr val="FF0000"/>
                </a:solidFill>
                <a:latin typeface="Arial" panose="020B0604020202020204" pitchFamily="34" charset="0"/>
              </a:rPr>
              <a:t>A/4</a:t>
            </a:r>
          </a:p>
        </p:txBody>
      </p:sp>
      <p:sp>
        <p:nvSpPr>
          <p:cNvPr id="1818633" name="Text Box 1033"/>
          <p:cNvSpPr txBox="1">
            <a:spLocks noChangeArrowheads="1"/>
          </p:cNvSpPr>
          <p:nvPr/>
        </p:nvSpPr>
        <p:spPr bwMode="auto">
          <a:xfrm>
            <a:off x="4813300" y="3148725"/>
            <a:ext cx="6413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rgbClr val="FF0000"/>
                </a:solidFill>
                <a:latin typeface="Arial" panose="020B0604020202020204" pitchFamily="34" charset="0"/>
              </a:rPr>
              <a:t>B/3</a:t>
            </a:r>
          </a:p>
        </p:txBody>
      </p:sp>
      <p:sp>
        <p:nvSpPr>
          <p:cNvPr id="1818634" name="Text Box 1034"/>
          <p:cNvSpPr txBox="1">
            <a:spLocks noChangeArrowheads="1"/>
          </p:cNvSpPr>
          <p:nvPr/>
        </p:nvSpPr>
        <p:spPr bwMode="auto">
          <a:xfrm>
            <a:off x="5727700" y="2438400"/>
            <a:ext cx="79375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chemeClr val="folHlink"/>
                </a:solidFill>
                <a:latin typeface="Arial" panose="020B0604020202020204" pitchFamily="34" charset="0"/>
              </a:rPr>
              <a:t>XXX</a:t>
            </a:r>
          </a:p>
        </p:txBody>
      </p:sp>
      <p:sp>
        <p:nvSpPr>
          <p:cNvPr id="1818635" name="Rectangle 1035"/>
          <p:cNvSpPr>
            <a:spLocks noGrp="1" noChangeArrowheads="1"/>
          </p:cNvSpPr>
          <p:nvPr>
            <p:ph type="title"/>
          </p:nvPr>
        </p:nvSpPr>
        <p:spPr bwMode="auto">
          <a:xfrm>
            <a:off x="2209800" y="229197"/>
            <a:ext cx="7772400" cy="734812"/>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zh-CN" altLang="en-US"/>
              <a:t>无限计数问题</a:t>
            </a:r>
          </a:p>
        </p:txBody>
      </p:sp>
      <p:sp>
        <p:nvSpPr>
          <p:cNvPr id="1818636" name="Text Box 1036"/>
          <p:cNvSpPr txBox="1">
            <a:spLocks noChangeArrowheads="1"/>
          </p:cNvSpPr>
          <p:nvPr/>
        </p:nvSpPr>
        <p:spPr bwMode="auto">
          <a:xfrm>
            <a:off x="2209800" y="4369991"/>
            <a:ext cx="75374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3688" indent="-293688">
              <a:defRPr kumimoji="1" sz="2400">
                <a:solidFill>
                  <a:schemeClr val="tx1"/>
                </a:solidFill>
                <a:latin typeface="Times New Roman" panose="02020603050405020304" pitchFamily="18" charset="0"/>
                <a:ea typeface="宋体" panose="02010600030101010101" pitchFamily="2" charset="-122"/>
              </a:defRPr>
            </a:lvl1pPr>
            <a:lvl2pPr marL="484188">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Clr>
                <a:schemeClr val="folHlink"/>
              </a:buClr>
              <a:buSzPct val="60000"/>
              <a:buFont typeface="Wingdings" panose="05000000000000000000" pitchFamily="2" charset="2"/>
              <a:buChar char="n"/>
            </a:pPr>
            <a:r>
              <a:rPr lang="en-US" altLang="zh-CN" sz="3200">
                <a:latin typeface="Tahoma" panose="020B0604030504040204" pitchFamily="34" charset="0"/>
              </a:rPr>
              <a:t>A </a:t>
            </a:r>
            <a:r>
              <a:rPr lang="zh-CN" altLang="en-US" sz="3200">
                <a:latin typeface="Tahoma" panose="020B0604030504040204" pitchFamily="34" charset="0"/>
              </a:rPr>
              <a:t>收到 </a:t>
            </a:r>
            <a:r>
              <a:rPr lang="en-US" altLang="zh-CN" sz="3200">
                <a:latin typeface="Tahoma" panose="020B0604030504040204" pitchFamily="34" charset="0"/>
              </a:rPr>
              <a:t>B </a:t>
            </a:r>
            <a:r>
              <a:rPr lang="zh-CN" altLang="en-US" sz="3200">
                <a:latin typeface="Tahoma" panose="020B0604030504040204" pitchFamily="34" charset="0"/>
              </a:rPr>
              <a:t>发出的消息增加了费用</a:t>
            </a:r>
            <a:endParaRPr kumimoji="0" lang="zh-CN" altLang="en-US" sz="2800">
              <a:solidFill>
                <a:srgbClr val="CACACA"/>
              </a:solidFill>
            </a:endParaRPr>
          </a:p>
        </p:txBody>
      </p:sp>
    </p:spTree>
    <p:extLst>
      <p:ext uri="{BB962C8B-B14F-4D97-AF65-F5344CB8AC3E}">
        <p14:creationId xmlns:p14="http://schemas.microsoft.com/office/powerpoint/2010/main" val="2748596591"/>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9650" name="Rectangle 2"/>
          <p:cNvSpPr>
            <a:spLocks noGrp="1" noChangeArrowheads="1"/>
          </p:cNvSpPr>
          <p:nvPr>
            <p:ph type="body" idx="1"/>
          </p:nvPr>
        </p:nvSpPr>
        <p:spPr bwMode="auto">
          <a:xfrm>
            <a:off x="2332038" y="2203450"/>
            <a:ext cx="7772400" cy="4114800"/>
          </a:xfr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zh-CN"/>
              <a:t>B </a:t>
            </a:r>
            <a:r>
              <a:rPr lang="zh-CN" altLang="en-US"/>
              <a:t>收到了 </a:t>
            </a:r>
            <a:r>
              <a:rPr lang="en-US" altLang="zh-CN"/>
              <a:t>A </a:t>
            </a:r>
            <a:r>
              <a:rPr lang="zh-CN" altLang="en-US"/>
              <a:t>的消息 </a:t>
            </a:r>
            <a:r>
              <a:rPr lang="en-US" altLang="zh-CN"/>
              <a:t>(surprise) </a:t>
            </a:r>
            <a:r>
              <a:rPr lang="zh-CN" altLang="en-US"/>
              <a:t>增加了它的费用</a:t>
            </a:r>
          </a:p>
          <a:p>
            <a:r>
              <a:rPr lang="zh-CN" altLang="en-US"/>
              <a:t>继续循环（</a:t>
            </a:r>
            <a:r>
              <a:rPr lang="en-US" altLang="zh-CN"/>
              <a:t>7 back and forth) </a:t>
            </a:r>
            <a:r>
              <a:rPr lang="zh-CN" altLang="en-US"/>
              <a:t>导致 无限计数</a:t>
            </a:r>
          </a:p>
          <a:p>
            <a:endParaRPr lang="zh-CN" altLang="en-US"/>
          </a:p>
          <a:p>
            <a:endParaRPr lang="zh-CN" altLang="en-US"/>
          </a:p>
          <a:p>
            <a:endParaRPr lang="zh-CN" altLang="en-US"/>
          </a:p>
          <a:p>
            <a:endParaRPr lang="zh-CN" altLang="en-US"/>
          </a:p>
          <a:p>
            <a:r>
              <a:rPr lang="en-US" altLang="zh-CN"/>
              <a:t>Packets caught in the crossfire</a:t>
            </a:r>
            <a:r>
              <a:rPr lang="zh-CN" altLang="en-US"/>
              <a:t>（串扰） </a:t>
            </a:r>
            <a:r>
              <a:rPr lang="en-US" altLang="zh-CN"/>
              <a:t>loop between A and B</a:t>
            </a:r>
          </a:p>
          <a:p>
            <a:pPr lvl="1"/>
            <a:endParaRPr lang="en-US" altLang="zh-CN"/>
          </a:p>
        </p:txBody>
      </p:sp>
      <p:sp>
        <p:nvSpPr>
          <p:cNvPr id="1819651" name="Line 3"/>
          <p:cNvSpPr>
            <a:spLocks noChangeShapeType="1"/>
          </p:cNvSpPr>
          <p:nvPr/>
        </p:nvSpPr>
        <p:spPr bwMode="auto">
          <a:xfrm>
            <a:off x="4137025" y="4635500"/>
            <a:ext cx="838200" cy="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819652" name="Text Box 4"/>
          <p:cNvSpPr txBox="1">
            <a:spLocks noChangeArrowheads="1"/>
          </p:cNvSpPr>
          <p:nvPr/>
        </p:nvSpPr>
        <p:spPr bwMode="auto">
          <a:xfrm>
            <a:off x="4060825" y="4635500"/>
            <a:ext cx="11176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Arial" panose="020B0604020202020204" pitchFamily="34" charset="0"/>
              </a:rPr>
              <a:t>update</a:t>
            </a:r>
          </a:p>
        </p:txBody>
      </p:sp>
      <p:sp>
        <p:nvSpPr>
          <p:cNvPr id="1819653" name="Line 5"/>
          <p:cNvSpPr>
            <a:spLocks noChangeShapeType="1"/>
          </p:cNvSpPr>
          <p:nvPr/>
        </p:nvSpPr>
        <p:spPr bwMode="auto">
          <a:xfrm>
            <a:off x="3603625" y="4483100"/>
            <a:ext cx="3657600" cy="0"/>
          </a:xfrm>
          <a:prstGeom prst="line">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819654" name="Oval 6"/>
          <p:cNvSpPr>
            <a:spLocks noChangeArrowheads="1"/>
          </p:cNvSpPr>
          <p:nvPr/>
        </p:nvSpPr>
        <p:spPr bwMode="auto">
          <a:xfrm>
            <a:off x="3298825" y="4223425"/>
            <a:ext cx="259766" cy="519351"/>
          </a:xfrm>
          <a:prstGeom prst="ellipse">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19655" name="Oval 7"/>
          <p:cNvSpPr>
            <a:spLocks noChangeArrowheads="1"/>
          </p:cNvSpPr>
          <p:nvPr/>
        </p:nvSpPr>
        <p:spPr bwMode="auto">
          <a:xfrm>
            <a:off x="5051425" y="4223425"/>
            <a:ext cx="259766" cy="519351"/>
          </a:xfrm>
          <a:prstGeom prst="ellipse">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19656" name="AutoShape 8"/>
          <p:cNvSpPr>
            <a:spLocks noChangeArrowheads="1"/>
          </p:cNvSpPr>
          <p:nvPr/>
        </p:nvSpPr>
        <p:spPr bwMode="auto">
          <a:xfrm>
            <a:off x="6673632" y="3799087"/>
            <a:ext cx="2178489" cy="1296591"/>
          </a:xfrm>
          <a:prstGeom prst="irregularSeal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sz="2400">
                <a:latin typeface="Arial" panose="020B0604020202020204" pitchFamily="34" charset="0"/>
              </a:rPr>
              <a:t>Internet</a:t>
            </a:r>
          </a:p>
        </p:txBody>
      </p:sp>
      <p:sp>
        <p:nvSpPr>
          <p:cNvPr id="1819657" name="Text Box 9"/>
          <p:cNvSpPr txBox="1">
            <a:spLocks noChangeArrowheads="1"/>
          </p:cNvSpPr>
          <p:nvPr/>
        </p:nvSpPr>
        <p:spPr bwMode="auto">
          <a:xfrm>
            <a:off x="3168358" y="4857750"/>
            <a:ext cx="6413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rgbClr val="FF0000"/>
                </a:solidFill>
                <a:latin typeface="Arial" panose="020B0604020202020204" pitchFamily="34" charset="0"/>
              </a:rPr>
              <a:t>A/4</a:t>
            </a:r>
          </a:p>
        </p:txBody>
      </p:sp>
      <p:sp>
        <p:nvSpPr>
          <p:cNvPr id="1819658" name="Text Box 10"/>
          <p:cNvSpPr txBox="1">
            <a:spLocks noChangeArrowheads="1"/>
          </p:cNvSpPr>
          <p:nvPr/>
        </p:nvSpPr>
        <p:spPr bwMode="auto">
          <a:xfrm>
            <a:off x="4953584" y="4971376"/>
            <a:ext cx="6413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rgbClr val="FF0000"/>
                </a:solidFill>
                <a:latin typeface="Arial" panose="020B0604020202020204" pitchFamily="34" charset="0"/>
              </a:rPr>
              <a:t>B/5</a:t>
            </a:r>
          </a:p>
        </p:txBody>
      </p:sp>
      <p:sp>
        <p:nvSpPr>
          <p:cNvPr id="1819659" name="Text Box 11"/>
          <p:cNvSpPr txBox="1">
            <a:spLocks noChangeArrowheads="1"/>
          </p:cNvSpPr>
          <p:nvPr/>
        </p:nvSpPr>
        <p:spPr bwMode="auto">
          <a:xfrm>
            <a:off x="5889625" y="4254500"/>
            <a:ext cx="79375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chemeClr val="folHlink"/>
                </a:solidFill>
                <a:latin typeface="Arial" panose="020B0604020202020204" pitchFamily="34" charset="0"/>
              </a:rPr>
              <a:t>XXX</a:t>
            </a:r>
          </a:p>
        </p:txBody>
      </p:sp>
      <p:sp>
        <p:nvSpPr>
          <p:cNvPr id="1819660" name="Rectangle 12"/>
          <p:cNvSpPr>
            <a:spLocks noGrp="1" noChangeArrowheads="1"/>
          </p:cNvSpPr>
          <p:nvPr>
            <p:ph type="title"/>
          </p:nvPr>
        </p:nvSpPr>
        <p:spPr bwMode="auto">
          <a:xfrm>
            <a:off x="2209800" y="261244"/>
            <a:ext cx="7772400" cy="818256"/>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zh-CN" altLang="en-US"/>
              <a:t>无限计数问题</a:t>
            </a:r>
          </a:p>
        </p:txBody>
      </p:sp>
    </p:spTree>
    <p:extLst>
      <p:ext uri="{BB962C8B-B14F-4D97-AF65-F5344CB8AC3E}">
        <p14:creationId xmlns:p14="http://schemas.microsoft.com/office/powerpoint/2010/main" val="2207455581"/>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13506" name="Rectangle 2"/>
          <p:cNvSpPr>
            <a:spLocks noGrp="1" noChangeArrowheads="1"/>
          </p:cNvSpPr>
          <p:nvPr>
            <p:ph type="title"/>
          </p:nvPr>
        </p:nvSpPr>
        <p:spPr bwMode="auto">
          <a:xfrm>
            <a:off x="2171700" y="177800"/>
            <a:ext cx="7772400" cy="749300"/>
          </a:xfr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zh-CN" altLang="en-US" smtClean="0"/>
              <a:t>避免无限</a:t>
            </a:r>
            <a:r>
              <a:rPr lang="zh-CN" altLang="en-US"/>
              <a:t>计数</a:t>
            </a:r>
          </a:p>
        </p:txBody>
      </p:sp>
      <p:sp>
        <p:nvSpPr>
          <p:cNvPr id="1813507" name="Rectangle 3"/>
          <p:cNvSpPr>
            <a:spLocks noGrp="1" noChangeArrowheads="1"/>
          </p:cNvSpPr>
          <p:nvPr>
            <p:ph type="body" idx="1"/>
          </p:nvPr>
        </p:nvSpPr>
        <p:spPr bwMode="auto">
          <a:xfrm>
            <a:off x="1193800" y="1433514"/>
            <a:ext cx="10007600" cy="4459287"/>
          </a:xfr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nSpc>
                <a:spcPct val="90000"/>
              </a:lnSpc>
            </a:pPr>
            <a:r>
              <a:rPr lang="zh-CN" altLang="en-US">
                <a:latin typeface="Times New Roman" panose="02020603050405020304" pitchFamily="18" charset="0"/>
              </a:rPr>
              <a:t>抑制</a:t>
            </a:r>
            <a:r>
              <a:rPr lang="zh-CN" altLang="en-US"/>
              <a:t> </a:t>
            </a:r>
          </a:p>
          <a:p>
            <a:pPr lvl="1">
              <a:lnSpc>
                <a:spcPct val="90000"/>
              </a:lnSpc>
            </a:pPr>
            <a:r>
              <a:rPr lang="zh-CN" altLang="en-US"/>
              <a:t>当不可达时，一段时间内不要接收任何可达的信息（</a:t>
            </a:r>
            <a:r>
              <a:rPr lang="en-US" altLang="zh-CN"/>
              <a:t>RIP set as 60s</a:t>
            </a:r>
            <a:r>
              <a:rPr lang="zh-CN" altLang="en-US"/>
              <a:t>）</a:t>
            </a:r>
            <a:r>
              <a:rPr lang="zh-CN" altLang="en-US">
                <a:latin typeface="新宋体" panose="02010609030101010101" pitchFamily="49" charset="-122"/>
                <a:ea typeface="新宋体" panose="02010609030101010101" pitchFamily="49" charset="-122"/>
              </a:rPr>
              <a:t>  </a:t>
            </a:r>
          </a:p>
          <a:p>
            <a:pPr>
              <a:lnSpc>
                <a:spcPct val="90000"/>
              </a:lnSpc>
            </a:pPr>
            <a:r>
              <a:rPr lang="zh-CN" altLang="en-US"/>
              <a:t>水平分割</a:t>
            </a:r>
          </a:p>
          <a:p>
            <a:pPr lvl="1">
              <a:lnSpc>
                <a:spcPct val="90000"/>
              </a:lnSpc>
            </a:pPr>
            <a:r>
              <a:rPr lang="en-US" altLang="zh-CN"/>
              <a:t>Don’t send to node A updates you derived from A’s reported distances</a:t>
            </a:r>
          </a:p>
          <a:p>
            <a:pPr>
              <a:lnSpc>
                <a:spcPct val="90000"/>
              </a:lnSpc>
            </a:pPr>
            <a:r>
              <a:rPr lang="zh-CN" altLang="en-US"/>
              <a:t>带毒性逆转的</a:t>
            </a:r>
            <a:r>
              <a:rPr lang="zh-CN" altLang="en-US" smtClean="0"/>
              <a:t>分割</a:t>
            </a:r>
            <a:endParaRPr lang="en-US" altLang="zh-CN"/>
          </a:p>
        </p:txBody>
      </p:sp>
    </p:spTree>
    <p:extLst>
      <p:ext uri="{BB962C8B-B14F-4D97-AF65-F5344CB8AC3E}">
        <p14:creationId xmlns:p14="http://schemas.microsoft.com/office/powerpoint/2010/main" val="23655588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13507">
                                            <p:txEl>
                                              <p:pRg st="0" end="0"/>
                                            </p:txEl>
                                          </p:spTgt>
                                        </p:tgtEl>
                                        <p:attrNameLst>
                                          <p:attrName>style.visibility</p:attrName>
                                        </p:attrNameLst>
                                      </p:cBhvr>
                                      <p:to>
                                        <p:strVal val="visible"/>
                                      </p:to>
                                    </p:set>
                                    <p:anim calcmode="lin" valueType="num">
                                      <p:cBhvr additive="base">
                                        <p:cTn id="7" dur="500" fill="hold"/>
                                        <p:tgtEl>
                                          <p:spTgt spid="181350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1350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par>
                                <p:cTn id="9" presetID="2" presetClass="entr" presetSubtype="2" fill="hold" grpId="0" nodeType="withEffect">
                                  <p:stCondLst>
                                    <p:cond delay="0"/>
                                  </p:stCondLst>
                                  <p:childTnLst>
                                    <p:set>
                                      <p:cBhvr>
                                        <p:cTn id="10" dur="1" fill="hold">
                                          <p:stCondLst>
                                            <p:cond delay="0"/>
                                          </p:stCondLst>
                                        </p:cTn>
                                        <p:tgtEl>
                                          <p:spTgt spid="1813507">
                                            <p:txEl>
                                              <p:pRg st="1" end="1"/>
                                            </p:txEl>
                                          </p:spTgt>
                                        </p:tgtEl>
                                        <p:attrNameLst>
                                          <p:attrName>style.visibility</p:attrName>
                                        </p:attrNameLst>
                                      </p:cBhvr>
                                      <p:to>
                                        <p:strVal val="visible"/>
                                      </p:to>
                                    </p:set>
                                    <p:anim calcmode="lin" valueType="num">
                                      <p:cBhvr additive="base">
                                        <p:cTn id="11" dur="500" fill="hold"/>
                                        <p:tgtEl>
                                          <p:spTgt spid="1813507">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81350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carbrak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813507">
                                            <p:txEl>
                                              <p:pRg st="2" end="2"/>
                                            </p:txEl>
                                          </p:spTgt>
                                        </p:tgtEl>
                                        <p:attrNameLst>
                                          <p:attrName>style.visibility</p:attrName>
                                        </p:attrNameLst>
                                      </p:cBhvr>
                                      <p:to>
                                        <p:strVal val="visible"/>
                                      </p:to>
                                    </p:set>
                                    <p:anim calcmode="lin" valueType="num">
                                      <p:cBhvr additive="base">
                                        <p:cTn id="17" dur="500" fill="hold"/>
                                        <p:tgtEl>
                                          <p:spTgt spid="1813507">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813507">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2" name="carbrake.wav"/>
                                        </p:tgtEl>
                                      </p:cMediaNode>
                                    </p:audio>
                                  </p:subTnLst>
                                </p:cTn>
                              </p:par>
                              <p:par>
                                <p:cTn id="19" presetID="2" presetClass="entr" presetSubtype="2" fill="hold" grpId="0" nodeType="withEffect">
                                  <p:stCondLst>
                                    <p:cond delay="0"/>
                                  </p:stCondLst>
                                  <p:childTnLst>
                                    <p:set>
                                      <p:cBhvr>
                                        <p:cTn id="20" dur="1" fill="hold">
                                          <p:stCondLst>
                                            <p:cond delay="0"/>
                                          </p:stCondLst>
                                        </p:cTn>
                                        <p:tgtEl>
                                          <p:spTgt spid="1813507">
                                            <p:txEl>
                                              <p:pRg st="3" end="3"/>
                                            </p:txEl>
                                          </p:spTgt>
                                        </p:tgtEl>
                                        <p:attrNameLst>
                                          <p:attrName>style.visibility</p:attrName>
                                        </p:attrNameLst>
                                      </p:cBhvr>
                                      <p:to>
                                        <p:strVal val="visible"/>
                                      </p:to>
                                    </p:set>
                                    <p:anim calcmode="lin" valueType="num">
                                      <p:cBhvr additive="base">
                                        <p:cTn id="21" dur="500" fill="hold"/>
                                        <p:tgtEl>
                                          <p:spTgt spid="1813507">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813507">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2" name="carbrake.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1813507">
                                            <p:txEl>
                                              <p:pRg st="4" end="4"/>
                                            </p:txEl>
                                          </p:spTgt>
                                        </p:tgtEl>
                                        <p:attrNameLst>
                                          <p:attrName>style.visibility</p:attrName>
                                        </p:attrNameLst>
                                      </p:cBhvr>
                                      <p:to>
                                        <p:strVal val="visible"/>
                                      </p:to>
                                    </p:set>
                                    <p:anim calcmode="lin" valueType="num">
                                      <p:cBhvr additive="base">
                                        <p:cTn id="27" dur="500" fill="hold"/>
                                        <p:tgtEl>
                                          <p:spTgt spid="1813507">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813507">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3507" grpId="0" build="p" autoUpdateAnimBg="0"/>
    </p:bldLst>
  </p:timing>
</p:sld>
</file>

<file path=ppt/slides/slide1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14530" name="AutoShape 2"/>
          <p:cNvSpPr>
            <a:spLocks noChangeArrowheads="1"/>
          </p:cNvSpPr>
          <p:nvPr/>
        </p:nvSpPr>
        <p:spPr bwMode="auto">
          <a:xfrm>
            <a:off x="4279900" y="4164013"/>
            <a:ext cx="685800" cy="457200"/>
          </a:xfrm>
          <a:prstGeom prst="irregularSeal1">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14531" name="Rectangle 3"/>
          <p:cNvSpPr>
            <a:spLocks noGrp="1" noChangeArrowheads="1"/>
          </p:cNvSpPr>
          <p:nvPr>
            <p:ph type="title"/>
          </p:nvPr>
        </p:nvSpPr>
        <p:spPr bwMode="auto">
          <a:xfrm>
            <a:off x="2222500" y="212526"/>
            <a:ext cx="7772400" cy="766963"/>
          </a:xfr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zh-CN" altLang="en-US"/>
              <a:t>水平分割</a:t>
            </a:r>
          </a:p>
        </p:txBody>
      </p:sp>
      <p:sp>
        <p:nvSpPr>
          <p:cNvPr id="1814533" name="Oval 5"/>
          <p:cNvSpPr>
            <a:spLocks noChangeArrowheads="1"/>
          </p:cNvSpPr>
          <p:nvPr/>
        </p:nvSpPr>
        <p:spPr bwMode="auto">
          <a:xfrm>
            <a:off x="5194300" y="2640013"/>
            <a:ext cx="914400" cy="914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2400">
                <a:latin typeface="Tahoma" panose="020B0604030504040204" pitchFamily="34" charset="0"/>
              </a:rPr>
              <a:t>B</a:t>
            </a:r>
          </a:p>
        </p:txBody>
      </p:sp>
      <p:sp>
        <p:nvSpPr>
          <p:cNvPr id="1814534" name="Oval 6"/>
          <p:cNvSpPr>
            <a:spLocks noChangeArrowheads="1"/>
          </p:cNvSpPr>
          <p:nvPr/>
        </p:nvSpPr>
        <p:spPr bwMode="auto">
          <a:xfrm>
            <a:off x="7251700" y="2640013"/>
            <a:ext cx="914400" cy="914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2400">
                <a:latin typeface="Tahoma" panose="020B0604030504040204" pitchFamily="34" charset="0"/>
              </a:rPr>
              <a:t>A</a:t>
            </a:r>
          </a:p>
        </p:txBody>
      </p:sp>
      <p:sp>
        <p:nvSpPr>
          <p:cNvPr id="1814535" name="Line 7"/>
          <p:cNvSpPr>
            <a:spLocks noChangeShapeType="1"/>
          </p:cNvSpPr>
          <p:nvPr/>
        </p:nvSpPr>
        <p:spPr bwMode="auto">
          <a:xfrm>
            <a:off x="4051300" y="3097213"/>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14536" name="Line 8"/>
          <p:cNvSpPr>
            <a:spLocks noChangeShapeType="1"/>
          </p:cNvSpPr>
          <p:nvPr/>
        </p:nvSpPr>
        <p:spPr bwMode="auto">
          <a:xfrm>
            <a:off x="6108700" y="3097213"/>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14537" name="Text Box 9"/>
          <p:cNvSpPr txBox="1">
            <a:spLocks noChangeArrowheads="1"/>
          </p:cNvSpPr>
          <p:nvPr/>
        </p:nvSpPr>
        <p:spPr bwMode="auto">
          <a:xfrm>
            <a:off x="4416425" y="2673350"/>
            <a:ext cx="35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400">
                <a:latin typeface="Tahoma" panose="020B0604030504040204" pitchFamily="34" charset="0"/>
              </a:rPr>
              <a:t>1</a:t>
            </a:r>
          </a:p>
        </p:txBody>
      </p:sp>
      <p:sp>
        <p:nvSpPr>
          <p:cNvPr id="1814538" name="Text Box 10"/>
          <p:cNvSpPr txBox="1">
            <a:spLocks noChangeArrowheads="1"/>
          </p:cNvSpPr>
          <p:nvPr/>
        </p:nvSpPr>
        <p:spPr bwMode="auto">
          <a:xfrm>
            <a:off x="6473825" y="2673350"/>
            <a:ext cx="35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400">
                <a:latin typeface="Tahoma" panose="020B0604030504040204" pitchFamily="34" charset="0"/>
              </a:rPr>
              <a:t>1</a:t>
            </a:r>
          </a:p>
        </p:txBody>
      </p:sp>
      <p:sp>
        <p:nvSpPr>
          <p:cNvPr id="1814539" name="Text Box 11"/>
          <p:cNvSpPr txBox="1">
            <a:spLocks noChangeArrowheads="1"/>
          </p:cNvSpPr>
          <p:nvPr/>
        </p:nvSpPr>
        <p:spPr bwMode="auto">
          <a:xfrm>
            <a:off x="7159625" y="3435350"/>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2400">
              <a:latin typeface="Tahoma" panose="020B0604030504040204" pitchFamily="34" charset="0"/>
            </a:endParaRPr>
          </a:p>
        </p:txBody>
      </p:sp>
      <p:sp>
        <p:nvSpPr>
          <p:cNvPr id="1814541" name="Oval 13"/>
          <p:cNvSpPr>
            <a:spLocks noChangeArrowheads="1"/>
          </p:cNvSpPr>
          <p:nvPr/>
        </p:nvSpPr>
        <p:spPr bwMode="auto">
          <a:xfrm>
            <a:off x="5194300" y="3935413"/>
            <a:ext cx="914400" cy="914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2400">
                <a:latin typeface="Tahoma" panose="020B0604030504040204" pitchFamily="34" charset="0"/>
              </a:rPr>
              <a:t>B</a:t>
            </a:r>
          </a:p>
        </p:txBody>
      </p:sp>
      <p:sp>
        <p:nvSpPr>
          <p:cNvPr id="1814542" name="Oval 14"/>
          <p:cNvSpPr>
            <a:spLocks noChangeArrowheads="1"/>
          </p:cNvSpPr>
          <p:nvPr/>
        </p:nvSpPr>
        <p:spPr bwMode="auto">
          <a:xfrm>
            <a:off x="7251700" y="3935413"/>
            <a:ext cx="914400" cy="914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2400">
                <a:latin typeface="Tahoma" panose="020B0604030504040204" pitchFamily="34" charset="0"/>
              </a:rPr>
              <a:t>A</a:t>
            </a:r>
          </a:p>
        </p:txBody>
      </p:sp>
      <p:sp>
        <p:nvSpPr>
          <p:cNvPr id="1814543" name="Line 15"/>
          <p:cNvSpPr>
            <a:spLocks noChangeShapeType="1"/>
          </p:cNvSpPr>
          <p:nvPr/>
        </p:nvSpPr>
        <p:spPr bwMode="auto">
          <a:xfrm>
            <a:off x="6108700" y="4392613"/>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14544" name="Text Box 16"/>
          <p:cNvSpPr txBox="1">
            <a:spLocks noChangeArrowheads="1"/>
          </p:cNvSpPr>
          <p:nvPr/>
        </p:nvSpPr>
        <p:spPr bwMode="auto">
          <a:xfrm>
            <a:off x="6473825" y="3968750"/>
            <a:ext cx="35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400">
                <a:latin typeface="Tahoma" panose="020B0604030504040204" pitchFamily="34" charset="0"/>
              </a:rPr>
              <a:t>1</a:t>
            </a:r>
          </a:p>
        </p:txBody>
      </p:sp>
      <p:sp>
        <p:nvSpPr>
          <p:cNvPr id="1814545" name="Text Box 17"/>
          <p:cNvSpPr txBox="1">
            <a:spLocks noChangeArrowheads="1"/>
          </p:cNvSpPr>
          <p:nvPr/>
        </p:nvSpPr>
        <p:spPr bwMode="auto">
          <a:xfrm>
            <a:off x="7159625" y="4730750"/>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2400">
              <a:latin typeface="Tahoma" panose="020B0604030504040204" pitchFamily="34" charset="0"/>
            </a:endParaRPr>
          </a:p>
        </p:txBody>
      </p:sp>
      <p:sp>
        <p:nvSpPr>
          <p:cNvPr id="1814546" name="AutoShape 18"/>
          <p:cNvSpPr>
            <a:spLocks noChangeArrowheads="1"/>
          </p:cNvSpPr>
          <p:nvPr/>
        </p:nvSpPr>
        <p:spPr bwMode="auto">
          <a:xfrm>
            <a:off x="8242300" y="1268413"/>
            <a:ext cx="1993900" cy="1371600"/>
          </a:xfrm>
          <a:prstGeom prst="wedgeRoundRectCallout">
            <a:avLst>
              <a:gd name="adj1" fmla="val -47319"/>
              <a:gd name="adj2" fmla="val 71412"/>
              <a:gd name="adj3" fmla="val 1666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lang="en-US" altLang="zh-CN">
                <a:solidFill>
                  <a:schemeClr val="folHlink"/>
                </a:solidFill>
                <a:latin typeface="Tahoma" panose="020B0604030504040204" pitchFamily="34" charset="0"/>
              </a:rPr>
              <a:t>I can reach</a:t>
            </a:r>
          </a:p>
          <a:p>
            <a:pPr algn="ctr" eaLnBrk="1" hangingPunct="1"/>
            <a:r>
              <a:rPr lang="en-US" altLang="zh-CN">
                <a:solidFill>
                  <a:schemeClr val="folHlink"/>
                </a:solidFill>
                <a:latin typeface="Tahoma" panose="020B0604030504040204" pitchFamily="34" charset="0"/>
              </a:rPr>
              <a:t>C at cost 2,</a:t>
            </a:r>
          </a:p>
          <a:p>
            <a:pPr algn="ctr" eaLnBrk="1" hangingPunct="1"/>
            <a:r>
              <a:rPr lang="en-US" altLang="zh-CN" b="1">
                <a:solidFill>
                  <a:schemeClr val="folHlink"/>
                </a:solidFill>
                <a:latin typeface="Tahoma" panose="020B0604030504040204" pitchFamily="34" charset="0"/>
              </a:rPr>
              <a:t>But I won’t tell B!</a:t>
            </a:r>
          </a:p>
        </p:txBody>
      </p:sp>
      <p:sp>
        <p:nvSpPr>
          <p:cNvPr id="1814548" name="Oval 20"/>
          <p:cNvSpPr>
            <a:spLocks noChangeArrowheads="1"/>
          </p:cNvSpPr>
          <p:nvPr/>
        </p:nvSpPr>
        <p:spPr bwMode="auto">
          <a:xfrm>
            <a:off x="5194300" y="5383213"/>
            <a:ext cx="914400" cy="914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2400">
                <a:latin typeface="Tahoma" panose="020B0604030504040204" pitchFamily="34" charset="0"/>
              </a:rPr>
              <a:t>B</a:t>
            </a:r>
          </a:p>
        </p:txBody>
      </p:sp>
      <p:sp>
        <p:nvSpPr>
          <p:cNvPr id="1814549" name="Oval 21"/>
          <p:cNvSpPr>
            <a:spLocks noChangeArrowheads="1"/>
          </p:cNvSpPr>
          <p:nvPr/>
        </p:nvSpPr>
        <p:spPr bwMode="auto">
          <a:xfrm>
            <a:off x="7251700" y="5383213"/>
            <a:ext cx="914400" cy="914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2400">
                <a:latin typeface="Tahoma" panose="020B0604030504040204" pitchFamily="34" charset="0"/>
              </a:rPr>
              <a:t>A</a:t>
            </a:r>
          </a:p>
        </p:txBody>
      </p:sp>
      <p:sp>
        <p:nvSpPr>
          <p:cNvPr id="1814550" name="Line 22"/>
          <p:cNvSpPr>
            <a:spLocks noChangeShapeType="1"/>
          </p:cNvSpPr>
          <p:nvPr/>
        </p:nvSpPr>
        <p:spPr bwMode="auto">
          <a:xfrm>
            <a:off x="6108700" y="5840413"/>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14551" name="Text Box 23"/>
          <p:cNvSpPr txBox="1">
            <a:spLocks noChangeArrowheads="1"/>
          </p:cNvSpPr>
          <p:nvPr/>
        </p:nvSpPr>
        <p:spPr bwMode="auto">
          <a:xfrm>
            <a:off x="6473825" y="5416550"/>
            <a:ext cx="35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400">
                <a:latin typeface="Tahoma" panose="020B0604030504040204" pitchFamily="34" charset="0"/>
              </a:rPr>
              <a:t>1</a:t>
            </a:r>
          </a:p>
        </p:txBody>
      </p:sp>
      <p:sp>
        <p:nvSpPr>
          <p:cNvPr id="1814552" name="Text Box 24"/>
          <p:cNvSpPr txBox="1">
            <a:spLocks noChangeArrowheads="1"/>
          </p:cNvSpPr>
          <p:nvPr/>
        </p:nvSpPr>
        <p:spPr bwMode="auto">
          <a:xfrm>
            <a:off x="6689725" y="612933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2400">
              <a:latin typeface="Tahoma" panose="020B0604030504040204" pitchFamily="34" charset="0"/>
            </a:endParaRPr>
          </a:p>
        </p:txBody>
      </p:sp>
      <p:sp>
        <p:nvSpPr>
          <p:cNvPr id="1814554" name="AutoShape 26"/>
          <p:cNvSpPr>
            <a:spLocks noChangeArrowheads="1"/>
          </p:cNvSpPr>
          <p:nvPr/>
        </p:nvSpPr>
        <p:spPr bwMode="auto">
          <a:xfrm>
            <a:off x="8166100" y="4468813"/>
            <a:ext cx="1524000" cy="1066800"/>
          </a:xfrm>
          <a:prstGeom prst="wedgeRoundRectCallout">
            <a:avLst>
              <a:gd name="adj1" fmla="val -47083"/>
              <a:gd name="adj2" fmla="val 77380"/>
              <a:gd name="adj3" fmla="val 1666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lang="en-US" altLang="zh-CN">
                <a:solidFill>
                  <a:schemeClr val="folHlink"/>
                </a:solidFill>
                <a:latin typeface="Tahoma" panose="020B0604030504040204" pitchFamily="34" charset="0"/>
              </a:rPr>
              <a:t>I can’t reach</a:t>
            </a:r>
          </a:p>
          <a:p>
            <a:pPr algn="ctr" eaLnBrk="1" hangingPunct="1"/>
            <a:r>
              <a:rPr lang="en-US" altLang="zh-CN">
                <a:solidFill>
                  <a:schemeClr val="folHlink"/>
                </a:solidFill>
                <a:latin typeface="Tahoma" panose="020B0604030504040204" pitchFamily="34" charset="0"/>
              </a:rPr>
              <a:t>C </a:t>
            </a:r>
          </a:p>
        </p:txBody>
      </p:sp>
      <p:sp>
        <p:nvSpPr>
          <p:cNvPr id="1814555" name="Line 27"/>
          <p:cNvSpPr>
            <a:spLocks noChangeShapeType="1"/>
          </p:cNvSpPr>
          <p:nvPr/>
        </p:nvSpPr>
        <p:spPr bwMode="auto">
          <a:xfrm>
            <a:off x="4051300" y="4392613"/>
            <a:ext cx="762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14556" name="Line 28"/>
          <p:cNvSpPr>
            <a:spLocks noChangeShapeType="1"/>
          </p:cNvSpPr>
          <p:nvPr/>
        </p:nvSpPr>
        <p:spPr bwMode="auto">
          <a:xfrm flipH="1">
            <a:off x="5118100" y="4392613"/>
            <a:ext cx="762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14557" name="AutoShape 29"/>
          <p:cNvSpPr>
            <a:spLocks noChangeArrowheads="1"/>
          </p:cNvSpPr>
          <p:nvPr/>
        </p:nvSpPr>
        <p:spPr bwMode="auto">
          <a:xfrm flipH="1">
            <a:off x="3975100" y="1954213"/>
            <a:ext cx="1447800" cy="685800"/>
          </a:xfrm>
          <a:prstGeom prst="wedgeRoundRectCallout">
            <a:avLst>
              <a:gd name="adj1" fmla="val -37722"/>
              <a:gd name="adj2" fmla="val 72912"/>
              <a:gd name="adj3" fmla="val 1666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lang="en-US" altLang="zh-CN">
                <a:solidFill>
                  <a:schemeClr val="folHlink"/>
                </a:solidFill>
                <a:latin typeface="Tahoma" panose="020B0604030504040204" pitchFamily="34" charset="0"/>
              </a:rPr>
              <a:t>I can reach C at cost 1</a:t>
            </a:r>
          </a:p>
        </p:txBody>
      </p:sp>
      <p:sp>
        <p:nvSpPr>
          <p:cNvPr id="1814558" name="AutoShape 30"/>
          <p:cNvSpPr>
            <a:spLocks noChangeArrowheads="1"/>
          </p:cNvSpPr>
          <p:nvPr/>
        </p:nvSpPr>
        <p:spPr bwMode="auto">
          <a:xfrm>
            <a:off x="2274670" y="2522737"/>
            <a:ext cx="2178489" cy="1296591"/>
          </a:xfrm>
          <a:prstGeom prst="irregularSeal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sz="2400">
                <a:latin typeface="Arial" panose="020B0604020202020204" pitchFamily="34" charset="0"/>
              </a:rPr>
              <a:t>Internet</a:t>
            </a:r>
          </a:p>
        </p:txBody>
      </p:sp>
      <p:sp>
        <p:nvSpPr>
          <p:cNvPr id="1814559" name="AutoShape 31"/>
          <p:cNvSpPr>
            <a:spLocks noChangeArrowheads="1"/>
          </p:cNvSpPr>
          <p:nvPr/>
        </p:nvSpPr>
        <p:spPr bwMode="auto">
          <a:xfrm>
            <a:off x="2296895" y="3848300"/>
            <a:ext cx="2178489" cy="1296591"/>
          </a:xfrm>
          <a:prstGeom prst="irregularSeal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sz="2400">
                <a:latin typeface="Arial" panose="020B0604020202020204" pitchFamily="34" charset="0"/>
              </a:rPr>
              <a:t>Internet</a:t>
            </a:r>
          </a:p>
        </p:txBody>
      </p:sp>
      <p:sp>
        <p:nvSpPr>
          <p:cNvPr id="1814560" name="AutoShape 32"/>
          <p:cNvSpPr>
            <a:spLocks noChangeArrowheads="1"/>
          </p:cNvSpPr>
          <p:nvPr/>
        </p:nvSpPr>
        <p:spPr bwMode="auto">
          <a:xfrm>
            <a:off x="2433420" y="5219900"/>
            <a:ext cx="2178489" cy="1296591"/>
          </a:xfrm>
          <a:prstGeom prst="irregularSeal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sz="2400">
                <a:latin typeface="Arial" panose="020B0604020202020204" pitchFamily="34" charset="0"/>
              </a:rPr>
              <a:t>Internet</a:t>
            </a:r>
          </a:p>
        </p:txBody>
      </p:sp>
      <p:sp>
        <p:nvSpPr>
          <p:cNvPr id="1814553" name="AutoShape 25"/>
          <p:cNvSpPr>
            <a:spLocks noChangeArrowheads="1"/>
          </p:cNvSpPr>
          <p:nvPr/>
        </p:nvSpPr>
        <p:spPr bwMode="auto">
          <a:xfrm flipH="1">
            <a:off x="3670300" y="3173413"/>
            <a:ext cx="1524000" cy="1066800"/>
          </a:xfrm>
          <a:prstGeom prst="wedgeRoundRectCallout">
            <a:avLst>
              <a:gd name="adj1" fmla="val -47083"/>
              <a:gd name="adj2" fmla="val 77380"/>
              <a:gd name="adj3" fmla="val 1666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lang="en-US" altLang="zh-CN">
                <a:solidFill>
                  <a:schemeClr val="folHlink"/>
                </a:solidFill>
                <a:latin typeface="Tahoma" panose="020B0604030504040204" pitchFamily="34" charset="0"/>
              </a:rPr>
              <a:t>I can’t reach</a:t>
            </a:r>
          </a:p>
          <a:p>
            <a:pPr algn="ctr" eaLnBrk="1" hangingPunct="1"/>
            <a:r>
              <a:rPr lang="en-US" altLang="zh-CN">
                <a:solidFill>
                  <a:schemeClr val="folHlink"/>
                </a:solidFill>
                <a:latin typeface="Tahoma" panose="020B0604030504040204" pitchFamily="34" charset="0"/>
              </a:rPr>
              <a:t>C </a:t>
            </a:r>
          </a:p>
        </p:txBody>
      </p:sp>
      <p:sp>
        <p:nvSpPr>
          <p:cNvPr id="2" name="矩形 1"/>
          <p:cNvSpPr/>
          <p:nvPr/>
        </p:nvSpPr>
        <p:spPr>
          <a:xfrm>
            <a:off x="777875" y="1201510"/>
            <a:ext cx="6096000" cy="646331"/>
          </a:xfrm>
          <a:prstGeom prst="rect">
            <a:avLst/>
          </a:prstGeom>
        </p:spPr>
        <p:txBody>
          <a:bodyPr>
            <a:spAutoFit/>
          </a:bodyPr>
          <a:lstStyle/>
          <a:p>
            <a:r>
              <a:rPr lang="zh-CN" altLang="en-US"/>
              <a:t>在路由信息传送过程中，路由器从某个接口接收到的更新信息不允许再从这个接口发回去</a:t>
            </a:r>
          </a:p>
        </p:txBody>
      </p:sp>
    </p:spTree>
    <p:extLst>
      <p:ext uri="{BB962C8B-B14F-4D97-AF65-F5344CB8AC3E}">
        <p14:creationId xmlns:p14="http://schemas.microsoft.com/office/powerpoint/2010/main" val="15393295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14557"/>
                                        </p:tgtEl>
                                        <p:attrNameLst>
                                          <p:attrName>style.visibility</p:attrName>
                                        </p:attrNameLst>
                                      </p:cBhvr>
                                      <p:to>
                                        <p:strVal val="visible"/>
                                      </p:to>
                                    </p:set>
                                    <p:anim calcmode="lin" valueType="num">
                                      <p:cBhvr additive="base">
                                        <p:cTn id="7" dur="500" fill="hold"/>
                                        <p:tgtEl>
                                          <p:spTgt spid="1814557"/>
                                        </p:tgtEl>
                                        <p:attrNameLst>
                                          <p:attrName>ppt_x</p:attrName>
                                        </p:attrNameLst>
                                      </p:cBhvr>
                                      <p:tavLst>
                                        <p:tav tm="0">
                                          <p:val>
                                            <p:strVal val="0-#ppt_w/2"/>
                                          </p:val>
                                        </p:tav>
                                        <p:tav tm="100000">
                                          <p:val>
                                            <p:strVal val="#ppt_x"/>
                                          </p:val>
                                        </p:tav>
                                      </p:tavLst>
                                    </p:anim>
                                    <p:anim calcmode="lin" valueType="num">
                                      <p:cBhvr additive="base">
                                        <p:cTn id="8" dur="500" fill="hold"/>
                                        <p:tgtEl>
                                          <p:spTgt spid="181455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14546"/>
                                        </p:tgtEl>
                                        <p:attrNameLst>
                                          <p:attrName>style.visibility</p:attrName>
                                        </p:attrNameLst>
                                      </p:cBhvr>
                                      <p:to>
                                        <p:strVal val="visible"/>
                                      </p:to>
                                    </p:set>
                                    <p:anim calcmode="lin" valueType="num">
                                      <p:cBhvr additive="base">
                                        <p:cTn id="13" dur="500" fill="hold"/>
                                        <p:tgtEl>
                                          <p:spTgt spid="1814546"/>
                                        </p:tgtEl>
                                        <p:attrNameLst>
                                          <p:attrName>ppt_x</p:attrName>
                                        </p:attrNameLst>
                                      </p:cBhvr>
                                      <p:tavLst>
                                        <p:tav tm="0">
                                          <p:val>
                                            <p:strVal val="0-#ppt_w/2"/>
                                          </p:val>
                                        </p:tav>
                                        <p:tav tm="100000">
                                          <p:val>
                                            <p:strVal val="#ppt_x"/>
                                          </p:val>
                                        </p:tav>
                                      </p:tavLst>
                                    </p:anim>
                                    <p:anim calcmode="lin" valueType="num">
                                      <p:cBhvr additive="base">
                                        <p:cTn id="14" dur="500" fill="hold"/>
                                        <p:tgtEl>
                                          <p:spTgt spid="181454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14553"/>
                                        </p:tgtEl>
                                        <p:attrNameLst>
                                          <p:attrName>style.visibility</p:attrName>
                                        </p:attrNameLst>
                                      </p:cBhvr>
                                      <p:to>
                                        <p:strVal val="visible"/>
                                      </p:to>
                                    </p:set>
                                    <p:anim calcmode="lin" valueType="num">
                                      <p:cBhvr additive="base">
                                        <p:cTn id="19" dur="500" fill="hold"/>
                                        <p:tgtEl>
                                          <p:spTgt spid="1814553"/>
                                        </p:tgtEl>
                                        <p:attrNameLst>
                                          <p:attrName>ppt_x</p:attrName>
                                        </p:attrNameLst>
                                      </p:cBhvr>
                                      <p:tavLst>
                                        <p:tav tm="0">
                                          <p:val>
                                            <p:strVal val="0-#ppt_w/2"/>
                                          </p:val>
                                        </p:tav>
                                        <p:tav tm="100000">
                                          <p:val>
                                            <p:strVal val="#ppt_x"/>
                                          </p:val>
                                        </p:tav>
                                      </p:tavLst>
                                    </p:anim>
                                    <p:anim calcmode="lin" valueType="num">
                                      <p:cBhvr additive="base">
                                        <p:cTn id="20" dur="500" fill="hold"/>
                                        <p:tgtEl>
                                          <p:spTgt spid="181455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14554"/>
                                        </p:tgtEl>
                                        <p:attrNameLst>
                                          <p:attrName>style.visibility</p:attrName>
                                        </p:attrNameLst>
                                      </p:cBhvr>
                                      <p:to>
                                        <p:strVal val="visible"/>
                                      </p:to>
                                    </p:set>
                                    <p:anim calcmode="lin" valueType="num">
                                      <p:cBhvr additive="base">
                                        <p:cTn id="25" dur="500" fill="hold"/>
                                        <p:tgtEl>
                                          <p:spTgt spid="1814554"/>
                                        </p:tgtEl>
                                        <p:attrNameLst>
                                          <p:attrName>ppt_x</p:attrName>
                                        </p:attrNameLst>
                                      </p:cBhvr>
                                      <p:tavLst>
                                        <p:tav tm="0">
                                          <p:val>
                                            <p:strVal val="0-#ppt_w/2"/>
                                          </p:val>
                                        </p:tav>
                                        <p:tav tm="100000">
                                          <p:val>
                                            <p:strVal val="#ppt_x"/>
                                          </p:val>
                                        </p:tav>
                                      </p:tavLst>
                                    </p:anim>
                                    <p:anim calcmode="lin" valueType="num">
                                      <p:cBhvr additive="base">
                                        <p:cTn id="26" dur="500" fill="hold"/>
                                        <p:tgtEl>
                                          <p:spTgt spid="18145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4546" grpId="0" animBg="1" autoUpdateAnimBg="0"/>
      <p:bldP spid="1814554" grpId="0" animBg="1" autoUpdateAnimBg="0"/>
      <p:bldP spid="1814557" grpId="0" animBg="1" autoUpdateAnimBg="0"/>
      <p:bldP spid="1814553" grpId="0" animBg="1" autoUpdateAnimBg="0"/>
    </p:bldLst>
  </p:timing>
</p:sld>
</file>

<file path=ppt/slides/slide1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15554" name="AutoShape 2"/>
          <p:cNvSpPr>
            <a:spLocks noChangeArrowheads="1"/>
          </p:cNvSpPr>
          <p:nvPr/>
        </p:nvSpPr>
        <p:spPr bwMode="auto">
          <a:xfrm>
            <a:off x="4305300" y="4238625"/>
            <a:ext cx="685800" cy="457200"/>
          </a:xfrm>
          <a:prstGeom prst="irregularSeal1">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15555" name="Rectangle 3"/>
          <p:cNvSpPr>
            <a:spLocks noGrp="1" noChangeArrowheads="1"/>
          </p:cNvSpPr>
          <p:nvPr>
            <p:ph type="title"/>
          </p:nvPr>
        </p:nvSpPr>
        <p:spPr bwMode="auto">
          <a:xfrm>
            <a:off x="2247900" y="102394"/>
            <a:ext cx="7772400" cy="750093"/>
          </a:xfr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zh-CN" altLang="en-US"/>
              <a:t>带毒性逆转的水平分割</a:t>
            </a:r>
          </a:p>
        </p:txBody>
      </p:sp>
      <p:sp>
        <p:nvSpPr>
          <p:cNvPr id="1815557" name="Oval 5"/>
          <p:cNvSpPr>
            <a:spLocks noChangeArrowheads="1"/>
          </p:cNvSpPr>
          <p:nvPr/>
        </p:nvSpPr>
        <p:spPr bwMode="auto">
          <a:xfrm>
            <a:off x="5219700" y="2714625"/>
            <a:ext cx="914400" cy="914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2400">
                <a:latin typeface="Tahoma" panose="020B0604030504040204" pitchFamily="34" charset="0"/>
              </a:rPr>
              <a:t>B</a:t>
            </a:r>
          </a:p>
        </p:txBody>
      </p:sp>
      <p:sp>
        <p:nvSpPr>
          <p:cNvPr id="1815558" name="Oval 6"/>
          <p:cNvSpPr>
            <a:spLocks noChangeArrowheads="1"/>
          </p:cNvSpPr>
          <p:nvPr/>
        </p:nvSpPr>
        <p:spPr bwMode="auto">
          <a:xfrm>
            <a:off x="7277100" y="2714625"/>
            <a:ext cx="914400" cy="914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2400">
                <a:latin typeface="Tahoma" panose="020B0604030504040204" pitchFamily="34" charset="0"/>
              </a:rPr>
              <a:t>A</a:t>
            </a:r>
          </a:p>
        </p:txBody>
      </p:sp>
      <p:sp>
        <p:nvSpPr>
          <p:cNvPr id="1815559" name="Line 7"/>
          <p:cNvSpPr>
            <a:spLocks noChangeShapeType="1"/>
          </p:cNvSpPr>
          <p:nvPr/>
        </p:nvSpPr>
        <p:spPr bwMode="auto">
          <a:xfrm>
            <a:off x="4076700" y="3171825"/>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15560" name="Line 8"/>
          <p:cNvSpPr>
            <a:spLocks noChangeShapeType="1"/>
          </p:cNvSpPr>
          <p:nvPr/>
        </p:nvSpPr>
        <p:spPr bwMode="auto">
          <a:xfrm>
            <a:off x="6134100" y="3171825"/>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15561" name="Text Box 9"/>
          <p:cNvSpPr txBox="1">
            <a:spLocks noChangeArrowheads="1"/>
          </p:cNvSpPr>
          <p:nvPr/>
        </p:nvSpPr>
        <p:spPr bwMode="auto">
          <a:xfrm>
            <a:off x="4441825" y="2747963"/>
            <a:ext cx="35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400">
                <a:latin typeface="Tahoma" panose="020B0604030504040204" pitchFamily="34" charset="0"/>
              </a:rPr>
              <a:t>1</a:t>
            </a:r>
          </a:p>
        </p:txBody>
      </p:sp>
      <p:sp>
        <p:nvSpPr>
          <p:cNvPr id="1815562" name="Text Box 10"/>
          <p:cNvSpPr txBox="1">
            <a:spLocks noChangeArrowheads="1"/>
          </p:cNvSpPr>
          <p:nvPr/>
        </p:nvSpPr>
        <p:spPr bwMode="auto">
          <a:xfrm>
            <a:off x="6499225" y="2747963"/>
            <a:ext cx="35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400">
                <a:latin typeface="Tahoma" panose="020B0604030504040204" pitchFamily="34" charset="0"/>
              </a:rPr>
              <a:t>1</a:t>
            </a:r>
          </a:p>
        </p:txBody>
      </p:sp>
      <p:sp>
        <p:nvSpPr>
          <p:cNvPr id="1815563" name="Text Box 11"/>
          <p:cNvSpPr txBox="1">
            <a:spLocks noChangeArrowheads="1"/>
          </p:cNvSpPr>
          <p:nvPr/>
        </p:nvSpPr>
        <p:spPr bwMode="auto">
          <a:xfrm>
            <a:off x="7185025" y="35099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2400">
              <a:latin typeface="Tahoma" panose="020B0604030504040204" pitchFamily="34" charset="0"/>
            </a:endParaRPr>
          </a:p>
        </p:txBody>
      </p:sp>
      <p:sp>
        <p:nvSpPr>
          <p:cNvPr id="1815565" name="Oval 13"/>
          <p:cNvSpPr>
            <a:spLocks noChangeArrowheads="1"/>
          </p:cNvSpPr>
          <p:nvPr/>
        </p:nvSpPr>
        <p:spPr bwMode="auto">
          <a:xfrm>
            <a:off x="5219700" y="4010025"/>
            <a:ext cx="914400" cy="914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2400">
                <a:latin typeface="Tahoma" panose="020B0604030504040204" pitchFamily="34" charset="0"/>
              </a:rPr>
              <a:t>B</a:t>
            </a:r>
          </a:p>
        </p:txBody>
      </p:sp>
      <p:sp>
        <p:nvSpPr>
          <p:cNvPr id="1815566" name="Oval 14"/>
          <p:cNvSpPr>
            <a:spLocks noChangeArrowheads="1"/>
          </p:cNvSpPr>
          <p:nvPr/>
        </p:nvSpPr>
        <p:spPr bwMode="auto">
          <a:xfrm>
            <a:off x="7277100" y="4010025"/>
            <a:ext cx="914400" cy="914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2400">
                <a:latin typeface="Tahoma" panose="020B0604030504040204" pitchFamily="34" charset="0"/>
              </a:rPr>
              <a:t>A</a:t>
            </a:r>
          </a:p>
        </p:txBody>
      </p:sp>
      <p:sp>
        <p:nvSpPr>
          <p:cNvPr id="1815567" name="Line 15"/>
          <p:cNvSpPr>
            <a:spLocks noChangeShapeType="1"/>
          </p:cNvSpPr>
          <p:nvPr/>
        </p:nvSpPr>
        <p:spPr bwMode="auto">
          <a:xfrm>
            <a:off x="6134100" y="4467225"/>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15568" name="Text Box 16"/>
          <p:cNvSpPr txBox="1">
            <a:spLocks noChangeArrowheads="1"/>
          </p:cNvSpPr>
          <p:nvPr/>
        </p:nvSpPr>
        <p:spPr bwMode="auto">
          <a:xfrm>
            <a:off x="6499225" y="4043363"/>
            <a:ext cx="35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400">
                <a:latin typeface="Tahoma" panose="020B0604030504040204" pitchFamily="34" charset="0"/>
              </a:rPr>
              <a:t>1</a:t>
            </a:r>
          </a:p>
        </p:txBody>
      </p:sp>
      <p:sp>
        <p:nvSpPr>
          <p:cNvPr id="1815569" name="Text Box 17"/>
          <p:cNvSpPr txBox="1">
            <a:spLocks noChangeArrowheads="1"/>
          </p:cNvSpPr>
          <p:nvPr/>
        </p:nvSpPr>
        <p:spPr bwMode="auto">
          <a:xfrm>
            <a:off x="7185025" y="48053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2400">
              <a:latin typeface="Tahoma" panose="020B0604030504040204" pitchFamily="34" charset="0"/>
            </a:endParaRPr>
          </a:p>
        </p:txBody>
      </p:sp>
      <p:sp>
        <p:nvSpPr>
          <p:cNvPr id="1815570" name="AutoShape 18"/>
          <p:cNvSpPr>
            <a:spLocks noChangeArrowheads="1"/>
          </p:cNvSpPr>
          <p:nvPr/>
        </p:nvSpPr>
        <p:spPr bwMode="auto">
          <a:xfrm>
            <a:off x="8267700" y="1190625"/>
            <a:ext cx="1600200" cy="1600200"/>
          </a:xfrm>
          <a:prstGeom prst="wedgeRoundRectCallout">
            <a:avLst>
              <a:gd name="adj1" fmla="val -78273"/>
              <a:gd name="adj2" fmla="val 55852"/>
              <a:gd name="adj3" fmla="val 1666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lang="en-US" altLang="zh-CN">
                <a:solidFill>
                  <a:schemeClr val="folHlink"/>
                </a:solidFill>
                <a:latin typeface="Tahoma" panose="020B0604030504040204" pitchFamily="34" charset="0"/>
              </a:rPr>
              <a:t>I can reach</a:t>
            </a:r>
          </a:p>
          <a:p>
            <a:pPr algn="ctr" eaLnBrk="1" hangingPunct="1"/>
            <a:r>
              <a:rPr lang="en-US" altLang="zh-CN">
                <a:solidFill>
                  <a:schemeClr val="folHlink"/>
                </a:solidFill>
                <a:latin typeface="Tahoma" panose="020B0604030504040204" pitchFamily="34" charset="0"/>
              </a:rPr>
              <a:t>C at cost 2,</a:t>
            </a:r>
          </a:p>
          <a:p>
            <a:pPr algn="ctr" eaLnBrk="1" hangingPunct="1"/>
            <a:r>
              <a:rPr lang="en-US" altLang="zh-CN" b="1">
                <a:solidFill>
                  <a:schemeClr val="folHlink"/>
                </a:solidFill>
                <a:latin typeface="Tahoma" panose="020B0604030504040204" pitchFamily="34" charset="0"/>
              </a:rPr>
              <a:t>But I’ll tell B that I can’t!</a:t>
            </a:r>
          </a:p>
        </p:txBody>
      </p:sp>
      <p:sp>
        <p:nvSpPr>
          <p:cNvPr id="1815572" name="Oval 20"/>
          <p:cNvSpPr>
            <a:spLocks noChangeArrowheads="1"/>
          </p:cNvSpPr>
          <p:nvPr/>
        </p:nvSpPr>
        <p:spPr bwMode="auto">
          <a:xfrm>
            <a:off x="5219700" y="5457825"/>
            <a:ext cx="914400" cy="914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2400">
                <a:latin typeface="Tahoma" panose="020B0604030504040204" pitchFamily="34" charset="0"/>
              </a:rPr>
              <a:t>B</a:t>
            </a:r>
          </a:p>
        </p:txBody>
      </p:sp>
      <p:sp>
        <p:nvSpPr>
          <p:cNvPr id="1815573" name="Oval 21"/>
          <p:cNvSpPr>
            <a:spLocks noChangeArrowheads="1"/>
          </p:cNvSpPr>
          <p:nvPr/>
        </p:nvSpPr>
        <p:spPr bwMode="auto">
          <a:xfrm>
            <a:off x="7277100" y="5457825"/>
            <a:ext cx="914400" cy="914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2400">
                <a:latin typeface="Tahoma" panose="020B0604030504040204" pitchFamily="34" charset="0"/>
              </a:rPr>
              <a:t>A</a:t>
            </a:r>
          </a:p>
        </p:txBody>
      </p:sp>
      <p:sp>
        <p:nvSpPr>
          <p:cNvPr id="1815574" name="Line 22"/>
          <p:cNvSpPr>
            <a:spLocks noChangeShapeType="1"/>
          </p:cNvSpPr>
          <p:nvPr/>
        </p:nvSpPr>
        <p:spPr bwMode="auto">
          <a:xfrm>
            <a:off x="6134100" y="5915025"/>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15575" name="Text Box 23"/>
          <p:cNvSpPr txBox="1">
            <a:spLocks noChangeArrowheads="1"/>
          </p:cNvSpPr>
          <p:nvPr/>
        </p:nvSpPr>
        <p:spPr bwMode="auto">
          <a:xfrm>
            <a:off x="6499225" y="5491163"/>
            <a:ext cx="35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400">
                <a:latin typeface="Tahoma" panose="020B0604030504040204" pitchFamily="34" charset="0"/>
              </a:rPr>
              <a:t>1</a:t>
            </a:r>
          </a:p>
        </p:txBody>
      </p:sp>
      <p:sp>
        <p:nvSpPr>
          <p:cNvPr id="1815576" name="Text Box 24"/>
          <p:cNvSpPr txBox="1">
            <a:spLocks noChangeArrowheads="1"/>
          </p:cNvSpPr>
          <p:nvPr/>
        </p:nvSpPr>
        <p:spPr bwMode="auto">
          <a:xfrm>
            <a:off x="6689725" y="612933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2400">
              <a:latin typeface="Tahoma" panose="020B0604030504040204" pitchFamily="34" charset="0"/>
            </a:endParaRPr>
          </a:p>
        </p:txBody>
      </p:sp>
      <p:sp>
        <p:nvSpPr>
          <p:cNvPr id="1815578" name="AutoShape 26"/>
          <p:cNvSpPr>
            <a:spLocks noChangeArrowheads="1"/>
          </p:cNvSpPr>
          <p:nvPr/>
        </p:nvSpPr>
        <p:spPr bwMode="auto">
          <a:xfrm>
            <a:off x="8191500" y="4543425"/>
            <a:ext cx="1524000" cy="1066800"/>
          </a:xfrm>
          <a:prstGeom prst="wedgeRoundRectCallout">
            <a:avLst>
              <a:gd name="adj1" fmla="val -79583"/>
              <a:gd name="adj2" fmla="val 65773"/>
              <a:gd name="adj3" fmla="val 1666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lang="en-US" altLang="zh-CN">
                <a:solidFill>
                  <a:schemeClr val="folHlink"/>
                </a:solidFill>
                <a:latin typeface="Tahoma" panose="020B0604030504040204" pitchFamily="34" charset="0"/>
              </a:rPr>
              <a:t>Now I </a:t>
            </a:r>
            <a:r>
              <a:rPr lang="en-US" altLang="zh-CN" i="1">
                <a:solidFill>
                  <a:schemeClr val="folHlink"/>
                </a:solidFill>
                <a:latin typeface="Tahoma" panose="020B0604030504040204" pitchFamily="34" charset="0"/>
              </a:rPr>
              <a:t>really</a:t>
            </a:r>
            <a:r>
              <a:rPr lang="en-US" altLang="zh-CN">
                <a:solidFill>
                  <a:schemeClr val="folHlink"/>
                </a:solidFill>
                <a:latin typeface="Tahoma" panose="020B0604030504040204" pitchFamily="34" charset="0"/>
              </a:rPr>
              <a:t> can’t reach</a:t>
            </a:r>
          </a:p>
          <a:p>
            <a:pPr algn="ctr" eaLnBrk="1" hangingPunct="1"/>
            <a:r>
              <a:rPr lang="en-US" altLang="zh-CN">
                <a:solidFill>
                  <a:schemeClr val="folHlink"/>
                </a:solidFill>
                <a:latin typeface="Tahoma" panose="020B0604030504040204" pitchFamily="34" charset="0"/>
              </a:rPr>
              <a:t>C </a:t>
            </a:r>
          </a:p>
        </p:txBody>
      </p:sp>
      <p:sp>
        <p:nvSpPr>
          <p:cNvPr id="1815579" name="Line 27"/>
          <p:cNvSpPr>
            <a:spLocks noChangeShapeType="1"/>
          </p:cNvSpPr>
          <p:nvPr/>
        </p:nvSpPr>
        <p:spPr bwMode="auto">
          <a:xfrm>
            <a:off x="4076700" y="4467225"/>
            <a:ext cx="762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15580" name="Line 28"/>
          <p:cNvSpPr>
            <a:spLocks noChangeShapeType="1"/>
          </p:cNvSpPr>
          <p:nvPr/>
        </p:nvSpPr>
        <p:spPr bwMode="auto">
          <a:xfrm flipH="1">
            <a:off x="5143500" y="4467225"/>
            <a:ext cx="762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15581" name="AutoShape 29"/>
          <p:cNvSpPr>
            <a:spLocks noChangeArrowheads="1"/>
          </p:cNvSpPr>
          <p:nvPr/>
        </p:nvSpPr>
        <p:spPr bwMode="auto">
          <a:xfrm flipH="1">
            <a:off x="4000500" y="2028825"/>
            <a:ext cx="1447800" cy="685800"/>
          </a:xfrm>
          <a:prstGeom prst="wedgeRoundRectCallout">
            <a:avLst>
              <a:gd name="adj1" fmla="val -3509"/>
              <a:gd name="adj2" fmla="val 54625"/>
              <a:gd name="adj3" fmla="val 1666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lang="en-US" altLang="zh-CN">
                <a:solidFill>
                  <a:schemeClr val="folHlink"/>
                </a:solidFill>
                <a:latin typeface="Tahoma" panose="020B0604030504040204" pitchFamily="34" charset="0"/>
              </a:rPr>
              <a:t>I can reach C at cost 1</a:t>
            </a:r>
          </a:p>
        </p:txBody>
      </p:sp>
      <p:sp>
        <p:nvSpPr>
          <p:cNvPr id="1815582" name="AutoShape 30"/>
          <p:cNvSpPr>
            <a:spLocks noChangeArrowheads="1"/>
          </p:cNvSpPr>
          <p:nvPr/>
        </p:nvSpPr>
        <p:spPr bwMode="auto">
          <a:xfrm>
            <a:off x="2344520" y="5204025"/>
            <a:ext cx="2178489" cy="1296591"/>
          </a:xfrm>
          <a:prstGeom prst="irregularSeal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sz="2400">
                <a:latin typeface="Arial" panose="020B0604020202020204" pitchFamily="34" charset="0"/>
              </a:rPr>
              <a:t>Internet</a:t>
            </a:r>
          </a:p>
        </p:txBody>
      </p:sp>
      <p:sp>
        <p:nvSpPr>
          <p:cNvPr id="1815583" name="AutoShape 31"/>
          <p:cNvSpPr>
            <a:spLocks noChangeArrowheads="1"/>
          </p:cNvSpPr>
          <p:nvPr/>
        </p:nvSpPr>
        <p:spPr bwMode="auto">
          <a:xfrm>
            <a:off x="2269907" y="3914975"/>
            <a:ext cx="2178489" cy="1296591"/>
          </a:xfrm>
          <a:prstGeom prst="irregularSeal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sz="2400">
                <a:latin typeface="Arial" panose="020B0604020202020204" pitchFamily="34" charset="0"/>
              </a:rPr>
              <a:t>Internet</a:t>
            </a:r>
          </a:p>
        </p:txBody>
      </p:sp>
      <p:sp>
        <p:nvSpPr>
          <p:cNvPr id="1815584" name="AutoShape 32"/>
          <p:cNvSpPr>
            <a:spLocks noChangeArrowheads="1"/>
          </p:cNvSpPr>
          <p:nvPr/>
        </p:nvSpPr>
        <p:spPr bwMode="auto">
          <a:xfrm>
            <a:off x="2072374" y="2605287"/>
            <a:ext cx="2602133" cy="1296591"/>
          </a:xfrm>
          <a:prstGeom prst="irregularSeal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sz="2400" smtClean="0">
                <a:latin typeface="Arial" panose="020B0604020202020204" pitchFamily="34" charset="0"/>
              </a:rPr>
              <a:t>Internet c</a:t>
            </a:r>
            <a:endParaRPr lang="en-US" altLang="zh-CN" sz="2400">
              <a:latin typeface="Arial" panose="020B0604020202020204" pitchFamily="34" charset="0"/>
            </a:endParaRPr>
          </a:p>
        </p:txBody>
      </p:sp>
      <p:sp>
        <p:nvSpPr>
          <p:cNvPr id="1815577" name="AutoShape 25"/>
          <p:cNvSpPr>
            <a:spLocks noChangeArrowheads="1"/>
          </p:cNvSpPr>
          <p:nvPr/>
        </p:nvSpPr>
        <p:spPr bwMode="auto">
          <a:xfrm flipH="1">
            <a:off x="3695700" y="3248025"/>
            <a:ext cx="1524000" cy="1066800"/>
          </a:xfrm>
          <a:prstGeom prst="wedgeRoundRectCallout">
            <a:avLst>
              <a:gd name="adj1" fmla="val -14583"/>
              <a:gd name="adj2" fmla="val 65620"/>
              <a:gd name="adj3" fmla="val 1666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lang="en-US" altLang="zh-CN">
                <a:solidFill>
                  <a:schemeClr val="folHlink"/>
                </a:solidFill>
                <a:latin typeface="Tahoma" panose="020B0604030504040204" pitchFamily="34" charset="0"/>
              </a:rPr>
              <a:t>I can’t reach</a:t>
            </a:r>
          </a:p>
          <a:p>
            <a:pPr algn="ctr" eaLnBrk="1" hangingPunct="1"/>
            <a:r>
              <a:rPr lang="en-US" altLang="zh-CN">
                <a:solidFill>
                  <a:schemeClr val="folHlink"/>
                </a:solidFill>
                <a:latin typeface="Tahoma" panose="020B0604030504040204" pitchFamily="34" charset="0"/>
              </a:rPr>
              <a:t>C </a:t>
            </a:r>
          </a:p>
        </p:txBody>
      </p:sp>
      <p:sp>
        <p:nvSpPr>
          <p:cNvPr id="2" name="矩形 1"/>
          <p:cNvSpPr/>
          <p:nvPr/>
        </p:nvSpPr>
        <p:spPr>
          <a:xfrm>
            <a:off x="385764" y="1189234"/>
            <a:ext cx="6096000" cy="923330"/>
          </a:xfrm>
          <a:prstGeom prst="rect">
            <a:avLst/>
          </a:prstGeom>
        </p:spPr>
        <p:txBody>
          <a:bodyPr>
            <a:spAutoFit/>
          </a:bodyPr>
          <a:lstStyle/>
          <a:p>
            <a:r>
              <a:rPr lang="zh-CN" altLang="en-US"/>
              <a:t>路由器从某个接口上接收到某个网段的路由信息之后，并不是不往回发送信息了</a:t>
            </a:r>
            <a:r>
              <a:rPr lang="zh-CN" altLang="en-US" smtClean="0"/>
              <a:t>，只不过</a:t>
            </a:r>
            <a:r>
              <a:rPr lang="zh-CN" altLang="en-US"/>
              <a:t>是将这个网段标志为不可达，再发送出去。</a:t>
            </a:r>
          </a:p>
        </p:txBody>
      </p:sp>
    </p:spTree>
    <p:extLst>
      <p:ext uri="{BB962C8B-B14F-4D97-AF65-F5344CB8AC3E}">
        <p14:creationId xmlns:p14="http://schemas.microsoft.com/office/powerpoint/2010/main" val="28461374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15581"/>
                                        </p:tgtEl>
                                        <p:attrNameLst>
                                          <p:attrName>style.visibility</p:attrName>
                                        </p:attrNameLst>
                                      </p:cBhvr>
                                      <p:to>
                                        <p:strVal val="visible"/>
                                      </p:to>
                                    </p:set>
                                    <p:anim calcmode="lin" valueType="num">
                                      <p:cBhvr additive="base">
                                        <p:cTn id="7" dur="500" fill="hold"/>
                                        <p:tgtEl>
                                          <p:spTgt spid="1815581"/>
                                        </p:tgtEl>
                                        <p:attrNameLst>
                                          <p:attrName>ppt_x</p:attrName>
                                        </p:attrNameLst>
                                      </p:cBhvr>
                                      <p:tavLst>
                                        <p:tav tm="0">
                                          <p:val>
                                            <p:strVal val="0-#ppt_w/2"/>
                                          </p:val>
                                        </p:tav>
                                        <p:tav tm="100000">
                                          <p:val>
                                            <p:strVal val="#ppt_x"/>
                                          </p:val>
                                        </p:tav>
                                      </p:tavLst>
                                    </p:anim>
                                    <p:anim calcmode="lin" valueType="num">
                                      <p:cBhvr additive="base">
                                        <p:cTn id="8" dur="500" fill="hold"/>
                                        <p:tgtEl>
                                          <p:spTgt spid="181558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15570"/>
                                        </p:tgtEl>
                                        <p:attrNameLst>
                                          <p:attrName>style.visibility</p:attrName>
                                        </p:attrNameLst>
                                      </p:cBhvr>
                                      <p:to>
                                        <p:strVal val="visible"/>
                                      </p:to>
                                    </p:set>
                                    <p:anim calcmode="lin" valueType="num">
                                      <p:cBhvr additive="base">
                                        <p:cTn id="13" dur="500" fill="hold"/>
                                        <p:tgtEl>
                                          <p:spTgt spid="1815570"/>
                                        </p:tgtEl>
                                        <p:attrNameLst>
                                          <p:attrName>ppt_x</p:attrName>
                                        </p:attrNameLst>
                                      </p:cBhvr>
                                      <p:tavLst>
                                        <p:tav tm="0">
                                          <p:val>
                                            <p:strVal val="0-#ppt_w/2"/>
                                          </p:val>
                                        </p:tav>
                                        <p:tav tm="100000">
                                          <p:val>
                                            <p:strVal val="#ppt_x"/>
                                          </p:val>
                                        </p:tav>
                                      </p:tavLst>
                                    </p:anim>
                                    <p:anim calcmode="lin" valueType="num">
                                      <p:cBhvr additive="base">
                                        <p:cTn id="14" dur="500" fill="hold"/>
                                        <p:tgtEl>
                                          <p:spTgt spid="181557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15577"/>
                                        </p:tgtEl>
                                        <p:attrNameLst>
                                          <p:attrName>style.visibility</p:attrName>
                                        </p:attrNameLst>
                                      </p:cBhvr>
                                      <p:to>
                                        <p:strVal val="visible"/>
                                      </p:to>
                                    </p:set>
                                    <p:anim calcmode="lin" valueType="num">
                                      <p:cBhvr additive="base">
                                        <p:cTn id="19" dur="500" fill="hold"/>
                                        <p:tgtEl>
                                          <p:spTgt spid="1815577"/>
                                        </p:tgtEl>
                                        <p:attrNameLst>
                                          <p:attrName>ppt_x</p:attrName>
                                        </p:attrNameLst>
                                      </p:cBhvr>
                                      <p:tavLst>
                                        <p:tav tm="0">
                                          <p:val>
                                            <p:strVal val="0-#ppt_w/2"/>
                                          </p:val>
                                        </p:tav>
                                        <p:tav tm="100000">
                                          <p:val>
                                            <p:strVal val="#ppt_x"/>
                                          </p:val>
                                        </p:tav>
                                      </p:tavLst>
                                    </p:anim>
                                    <p:anim calcmode="lin" valueType="num">
                                      <p:cBhvr additive="base">
                                        <p:cTn id="20" dur="500" fill="hold"/>
                                        <p:tgtEl>
                                          <p:spTgt spid="1815577"/>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15578"/>
                                        </p:tgtEl>
                                        <p:attrNameLst>
                                          <p:attrName>style.visibility</p:attrName>
                                        </p:attrNameLst>
                                      </p:cBhvr>
                                      <p:to>
                                        <p:strVal val="visible"/>
                                      </p:to>
                                    </p:set>
                                    <p:anim calcmode="lin" valueType="num">
                                      <p:cBhvr additive="base">
                                        <p:cTn id="25" dur="500" fill="hold"/>
                                        <p:tgtEl>
                                          <p:spTgt spid="1815578"/>
                                        </p:tgtEl>
                                        <p:attrNameLst>
                                          <p:attrName>ppt_x</p:attrName>
                                        </p:attrNameLst>
                                      </p:cBhvr>
                                      <p:tavLst>
                                        <p:tav tm="0">
                                          <p:val>
                                            <p:strVal val="0-#ppt_w/2"/>
                                          </p:val>
                                        </p:tav>
                                        <p:tav tm="100000">
                                          <p:val>
                                            <p:strVal val="#ppt_x"/>
                                          </p:val>
                                        </p:tav>
                                      </p:tavLst>
                                    </p:anim>
                                    <p:anim calcmode="lin" valueType="num">
                                      <p:cBhvr additive="base">
                                        <p:cTn id="26" dur="500" fill="hold"/>
                                        <p:tgtEl>
                                          <p:spTgt spid="18155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5570" grpId="0" animBg="1" autoUpdateAnimBg="0"/>
      <p:bldP spid="1815578" grpId="0" animBg="1" autoUpdateAnimBg="0"/>
      <p:bldP spid="1815581" grpId="0" animBg="1" autoUpdateAnimBg="0"/>
      <p:bldP spid="1815577" grpId="0" animBg="1" autoUpdateAnimBg="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0244" name="Text Box 4"/>
          <p:cNvSpPr txBox="1">
            <a:spLocks noChangeArrowheads="1"/>
          </p:cNvSpPr>
          <p:nvPr/>
        </p:nvSpPr>
        <p:spPr bwMode="auto">
          <a:xfrm>
            <a:off x="3179764" y="3311525"/>
            <a:ext cx="55848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4400" b="1">
                <a:solidFill>
                  <a:schemeClr val="tx2"/>
                </a:solidFill>
                <a:latin typeface="Arial" panose="020B0604020202020204" pitchFamily="34" charset="0"/>
              </a:rPr>
              <a:t>链路状态路由</a:t>
            </a:r>
          </a:p>
        </p:txBody>
      </p:sp>
    </p:spTree>
    <p:extLst>
      <p:ext uri="{BB962C8B-B14F-4D97-AF65-F5344CB8AC3E}">
        <p14:creationId xmlns:p14="http://schemas.microsoft.com/office/powerpoint/2010/main" val="3001426549"/>
      </p:ext>
    </p:extLst>
  </p:cSld>
  <p:clrMapOvr>
    <a:masterClrMapping/>
  </p:clrMapOvr>
  <p:transition spd="med">
    <p:random/>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1090" name="Rectangle 2"/>
          <p:cNvSpPr>
            <a:spLocks noGrp="1" noChangeArrowheads="1"/>
          </p:cNvSpPr>
          <p:nvPr>
            <p:ph type="title"/>
          </p:nvPr>
        </p:nvSpPr>
        <p:spPr bwMode="auto">
          <a:xfrm>
            <a:off x="2146300" y="241300"/>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zh-CN" altLang="en-US" b="1" smtClean="0">
                <a:latin typeface="Arial" panose="020B0604020202020204" pitchFamily="34" charset="0"/>
              </a:rPr>
              <a:t>距离向量与</a:t>
            </a:r>
            <a:r>
              <a:rPr lang="zh-CN" altLang="en-US" b="1">
                <a:latin typeface="Arial" panose="020B0604020202020204" pitchFamily="34" charset="0"/>
              </a:rPr>
              <a:t>链路状态路由</a:t>
            </a:r>
          </a:p>
        </p:txBody>
      </p:sp>
      <p:sp>
        <p:nvSpPr>
          <p:cNvPr id="1881092" name="Text Box 4"/>
          <p:cNvSpPr txBox="1">
            <a:spLocks noChangeArrowheads="1"/>
          </p:cNvSpPr>
          <p:nvPr/>
        </p:nvSpPr>
        <p:spPr bwMode="auto">
          <a:xfrm>
            <a:off x="0" y="1384300"/>
            <a:ext cx="120015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95263" indent="-195263">
              <a:defRPr kumimoji="1" sz="2400">
                <a:solidFill>
                  <a:schemeClr val="tx1"/>
                </a:solidFill>
                <a:latin typeface="Times New Roman" panose="02020603050405020304" pitchFamily="18" charset="0"/>
                <a:ea typeface="宋体" panose="02010600030101010101" pitchFamily="2" charset="-122"/>
              </a:defRPr>
            </a:lvl1pPr>
            <a:lvl2pPr marL="484188">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a:solidFill>
                  <a:srgbClr val="000000"/>
                </a:solidFill>
                <a:latin typeface="Arial" panose="020B0604020202020204" pitchFamily="34" charset="0"/>
              </a:rPr>
              <a:t>• </a:t>
            </a:r>
            <a:r>
              <a:rPr kumimoji="0" lang="zh-CN" altLang="en-US">
                <a:solidFill>
                  <a:srgbClr val="000000"/>
                </a:solidFill>
                <a:latin typeface="Arial" panose="020B0604020202020204" pitchFamily="34" charset="0"/>
              </a:rPr>
              <a:t>距离向量路由</a:t>
            </a:r>
            <a:r>
              <a:rPr kumimoji="0" lang="en-US" altLang="zh-CN">
                <a:solidFill>
                  <a:srgbClr val="000000"/>
                </a:solidFill>
                <a:latin typeface="Arial" panose="020B0604020202020204" pitchFamily="34" charset="0"/>
              </a:rPr>
              <a:t>, </a:t>
            </a:r>
            <a:r>
              <a:rPr kumimoji="0" lang="zh-CN" altLang="en-US">
                <a:solidFill>
                  <a:srgbClr val="000000"/>
                </a:solidFill>
                <a:latin typeface="Arial" panose="020B0604020202020204" pitchFamily="34" charset="0"/>
              </a:rPr>
              <a:t>每个节点只知道下一跳的信息</a:t>
            </a:r>
            <a:r>
              <a:rPr kumimoji="0" lang="en-US" altLang="zh-CN">
                <a:solidFill>
                  <a:srgbClr val="000000"/>
                </a:solidFill>
                <a:latin typeface="Arial" panose="020B0604020202020204" pitchFamily="34" charset="0"/>
              </a:rPr>
              <a:t>:</a:t>
            </a:r>
          </a:p>
          <a:p>
            <a:pPr>
              <a:buClr>
                <a:schemeClr val="tx2"/>
              </a:buClr>
              <a:buFont typeface="Wingdings" panose="05000000000000000000" pitchFamily="2" charset="2"/>
              <a:buChar char="ü"/>
            </a:pPr>
            <a:r>
              <a:rPr kumimoji="0" lang="en-US" altLang="zh-CN" sz="2200">
                <a:solidFill>
                  <a:srgbClr val="000000"/>
                </a:solidFill>
                <a:latin typeface="Arial" panose="020B0604020202020204" pitchFamily="34" charset="0"/>
              </a:rPr>
              <a:t> Node A: to reach F go to B</a:t>
            </a:r>
          </a:p>
          <a:p>
            <a:pPr>
              <a:buClr>
                <a:schemeClr val="tx2"/>
              </a:buClr>
              <a:buFont typeface="Wingdings" panose="05000000000000000000" pitchFamily="2" charset="2"/>
              <a:buChar char="ü"/>
            </a:pPr>
            <a:r>
              <a:rPr kumimoji="0" lang="en-US" altLang="zh-CN" sz="2200">
                <a:solidFill>
                  <a:srgbClr val="000000"/>
                </a:solidFill>
                <a:latin typeface="Arial" panose="020B0604020202020204" pitchFamily="34" charset="0"/>
              </a:rPr>
              <a:t> Node B: to reach F go to D</a:t>
            </a:r>
          </a:p>
          <a:p>
            <a:pPr>
              <a:buClr>
                <a:schemeClr val="tx2"/>
              </a:buClr>
              <a:buFont typeface="Wingdings" panose="05000000000000000000" pitchFamily="2" charset="2"/>
              <a:buChar char="ü"/>
            </a:pPr>
            <a:r>
              <a:rPr kumimoji="0" lang="en-US" altLang="zh-CN" sz="2200">
                <a:solidFill>
                  <a:srgbClr val="000000"/>
                </a:solidFill>
                <a:latin typeface="Arial" panose="020B0604020202020204" pitchFamily="34" charset="0"/>
              </a:rPr>
              <a:t> Node D: to reach F go to E</a:t>
            </a:r>
          </a:p>
          <a:p>
            <a:pPr>
              <a:buClr>
                <a:schemeClr val="tx2"/>
              </a:buClr>
              <a:buFont typeface="Wingdings" panose="05000000000000000000" pitchFamily="2" charset="2"/>
              <a:buChar char="ü"/>
            </a:pPr>
            <a:r>
              <a:rPr kumimoji="0" lang="en-US" altLang="zh-CN" sz="2200">
                <a:solidFill>
                  <a:srgbClr val="000000"/>
                </a:solidFill>
                <a:latin typeface="Arial" panose="020B0604020202020204" pitchFamily="34" charset="0"/>
              </a:rPr>
              <a:t> Node E: go directly to F</a:t>
            </a:r>
          </a:p>
          <a:p>
            <a:r>
              <a:rPr kumimoji="0" lang="en-US" altLang="zh-CN">
                <a:solidFill>
                  <a:srgbClr val="000000"/>
                </a:solidFill>
                <a:latin typeface="Arial" panose="020B0604020202020204" pitchFamily="34" charset="0"/>
              </a:rPr>
              <a:t>•</a:t>
            </a:r>
            <a:r>
              <a:rPr kumimoji="0" lang="zh-CN" altLang="en-US">
                <a:solidFill>
                  <a:srgbClr val="000000"/>
                </a:solidFill>
                <a:latin typeface="Arial" panose="020B0604020202020204" pitchFamily="34" charset="0"/>
              </a:rPr>
              <a:t>距离向量路由在方向不太对的情况下，使得路由的决定更</a:t>
            </a:r>
            <a:r>
              <a:rPr kumimoji="0" lang="zh-CN" altLang="en-US" smtClean="0">
                <a:solidFill>
                  <a:srgbClr val="000000"/>
                </a:solidFill>
                <a:latin typeface="Arial" panose="020B0604020202020204" pitchFamily="34" charset="0"/>
              </a:rPr>
              <a:t>困难 </a:t>
            </a:r>
            <a:r>
              <a:rPr kumimoji="0" lang="en-US" altLang="zh-CN">
                <a:solidFill>
                  <a:srgbClr val="000000"/>
                </a:solidFill>
                <a:latin typeface="Arial" panose="020B0604020202020204" pitchFamily="34" charset="0"/>
              </a:rPr>
              <a:t>(e.g., </a:t>
            </a:r>
            <a:r>
              <a:rPr kumimoji="0" lang="zh-CN" altLang="en-US">
                <a:solidFill>
                  <a:srgbClr val="000000"/>
                </a:solidFill>
                <a:latin typeface="Arial" panose="020B0604020202020204" pitchFamily="34" charset="0"/>
              </a:rPr>
              <a:t>因为有节点断掉</a:t>
            </a:r>
            <a:r>
              <a:rPr kumimoji="0" lang="en-US" altLang="zh-CN">
                <a:solidFill>
                  <a:srgbClr val="000000"/>
                </a:solidFill>
                <a:latin typeface="Arial" panose="020B0604020202020204" pitchFamily="34" charset="0"/>
              </a:rPr>
              <a:t>).</a:t>
            </a:r>
          </a:p>
          <a:p>
            <a:r>
              <a:rPr kumimoji="0" lang="en-US" altLang="zh-CN">
                <a:solidFill>
                  <a:srgbClr val="000000"/>
                </a:solidFill>
                <a:latin typeface="Arial" panose="020B0604020202020204" pitchFamily="34" charset="0"/>
              </a:rPr>
              <a:t>• </a:t>
            </a:r>
            <a:r>
              <a:rPr kumimoji="0" lang="zh-CN" altLang="en-US">
                <a:solidFill>
                  <a:srgbClr val="000000"/>
                </a:solidFill>
                <a:latin typeface="Arial" panose="020B0604020202020204" pitchFamily="34" charset="0"/>
              </a:rPr>
              <a:t>如果方向部分</a:t>
            </a:r>
            <a:r>
              <a:rPr kumimoji="0" lang="zh-CN" altLang="en-US" smtClean="0">
                <a:solidFill>
                  <a:srgbClr val="000000"/>
                </a:solidFill>
                <a:latin typeface="Arial" panose="020B0604020202020204" pitchFamily="34" charset="0"/>
              </a:rPr>
              <a:t>不对，在</a:t>
            </a:r>
            <a:r>
              <a:rPr kumimoji="0" lang="zh-CN" altLang="en-US">
                <a:solidFill>
                  <a:srgbClr val="000000"/>
                </a:solidFill>
                <a:latin typeface="Arial" panose="020B0604020202020204" pitchFamily="34" charset="0"/>
              </a:rPr>
              <a:t>路由算法重新 汇聚</a:t>
            </a:r>
            <a:r>
              <a:rPr kumimoji="0" lang="zh-CN" altLang="en-US" smtClean="0">
                <a:solidFill>
                  <a:srgbClr val="000000"/>
                </a:solidFill>
                <a:latin typeface="Arial" panose="020B0604020202020204" pitchFamily="34" charset="0"/>
              </a:rPr>
              <a:t>后路由</a:t>
            </a:r>
            <a:r>
              <a:rPr kumimoji="0" lang="zh-CN" altLang="en-US">
                <a:solidFill>
                  <a:srgbClr val="000000"/>
                </a:solidFill>
                <a:latin typeface="Arial" panose="020B0604020202020204" pitchFamily="34" charset="0"/>
              </a:rPr>
              <a:t>才可能正确</a:t>
            </a:r>
            <a:endParaRPr kumimoji="0" lang="zh-CN" altLang="en-US">
              <a:solidFill>
                <a:srgbClr val="CACACA"/>
              </a:solidFill>
            </a:endParaRPr>
          </a:p>
        </p:txBody>
      </p:sp>
      <p:pic>
        <p:nvPicPr>
          <p:cNvPr id="188109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7375" y="4394200"/>
            <a:ext cx="4464050" cy="246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514001"/>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81092">
                                            <p:txEl>
                                              <p:pRg st="0" end="0"/>
                                            </p:txEl>
                                          </p:spTgt>
                                        </p:tgtEl>
                                        <p:attrNameLst>
                                          <p:attrName>style.visibility</p:attrName>
                                        </p:attrNameLst>
                                      </p:cBhvr>
                                      <p:to>
                                        <p:strVal val="visible"/>
                                      </p:to>
                                    </p:set>
                                    <p:anim calcmode="lin" valueType="num">
                                      <p:cBhvr additive="base">
                                        <p:cTn id="7" dur="500" fill="hold"/>
                                        <p:tgtEl>
                                          <p:spTgt spid="188109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8109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81092">
                                            <p:txEl>
                                              <p:pRg st="1" end="1"/>
                                            </p:txEl>
                                          </p:spTgt>
                                        </p:tgtEl>
                                        <p:attrNameLst>
                                          <p:attrName>style.visibility</p:attrName>
                                        </p:attrNameLst>
                                      </p:cBhvr>
                                      <p:to>
                                        <p:strVal val="visible"/>
                                      </p:to>
                                    </p:set>
                                    <p:anim calcmode="lin" valueType="num">
                                      <p:cBhvr additive="base">
                                        <p:cTn id="13" dur="500" fill="hold"/>
                                        <p:tgtEl>
                                          <p:spTgt spid="1881092">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81092">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rbrak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81092">
                                            <p:txEl>
                                              <p:pRg st="2" end="2"/>
                                            </p:txEl>
                                          </p:spTgt>
                                        </p:tgtEl>
                                        <p:attrNameLst>
                                          <p:attrName>style.visibility</p:attrName>
                                        </p:attrNameLst>
                                      </p:cBhvr>
                                      <p:to>
                                        <p:strVal val="visible"/>
                                      </p:to>
                                    </p:set>
                                    <p:anim calcmode="lin" valueType="num">
                                      <p:cBhvr additive="base">
                                        <p:cTn id="19" dur="500" fill="hold"/>
                                        <p:tgtEl>
                                          <p:spTgt spid="1881092">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81092">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rbrake.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81092">
                                            <p:txEl>
                                              <p:pRg st="3" end="3"/>
                                            </p:txEl>
                                          </p:spTgt>
                                        </p:tgtEl>
                                        <p:attrNameLst>
                                          <p:attrName>style.visibility</p:attrName>
                                        </p:attrNameLst>
                                      </p:cBhvr>
                                      <p:to>
                                        <p:strVal val="visible"/>
                                      </p:to>
                                    </p:set>
                                    <p:anim calcmode="lin" valueType="num">
                                      <p:cBhvr additive="base">
                                        <p:cTn id="25" dur="500" fill="hold"/>
                                        <p:tgtEl>
                                          <p:spTgt spid="1881092">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81092">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rbrake.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81092">
                                            <p:txEl>
                                              <p:pRg st="4" end="4"/>
                                            </p:txEl>
                                          </p:spTgt>
                                        </p:tgtEl>
                                        <p:attrNameLst>
                                          <p:attrName>style.visibility</p:attrName>
                                        </p:attrNameLst>
                                      </p:cBhvr>
                                      <p:to>
                                        <p:strVal val="visible"/>
                                      </p:to>
                                    </p:set>
                                    <p:anim calcmode="lin" valueType="num">
                                      <p:cBhvr additive="base">
                                        <p:cTn id="31" dur="500" fill="hold"/>
                                        <p:tgtEl>
                                          <p:spTgt spid="1881092">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81092">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carbrake.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81092">
                                            <p:txEl>
                                              <p:pRg st="5" end="5"/>
                                            </p:txEl>
                                          </p:spTgt>
                                        </p:tgtEl>
                                        <p:attrNameLst>
                                          <p:attrName>style.visibility</p:attrName>
                                        </p:attrNameLst>
                                      </p:cBhvr>
                                      <p:to>
                                        <p:strVal val="visible"/>
                                      </p:to>
                                    </p:set>
                                    <p:anim calcmode="lin" valueType="num">
                                      <p:cBhvr additive="base">
                                        <p:cTn id="37" dur="500" fill="hold"/>
                                        <p:tgtEl>
                                          <p:spTgt spid="1881092">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81092">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carbrake.wav"/>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881092">
                                            <p:txEl>
                                              <p:pRg st="6" end="6"/>
                                            </p:txEl>
                                          </p:spTgt>
                                        </p:tgtEl>
                                        <p:attrNameLst>
                                          <p:attrName>style.visibility</p:attrName>
                                        </p:attrNameLst>
                                      </p:cBhvr>
                                      <p:to>
                                        <p:strVal val="visible"/>
                                      </p:to>
                                    </p:set>
                                    <p:anim calcmode="lin" valueType="num">
                                      <p:cBhvr additive="base">
                                        <p:cTn id="43" dur="500" fill="hold"/>
                                        <p:tgtEl>
                                          <p:spTgt spid="1881092">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881092">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carbrake.wav"/>
                                        </p:tgtEl>
                                      </p:cMediaNode>
                                    </p:audio>
                                  </p:sub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nodeType="clickEffect">
                                  <p:stCondLst>
                                    <p:cond delay="0"/>
                                  </p:stCondLst>
                                  <p:childTnLst>
                                    <p:set>
                                      <p:cBhvr>
                                        <p:cTn id="48" dur="1" fill="hold">
                                          <p:stCondLst>
                                            <p:cond delay="0"/>
                                          </p:stCondLst>
                                        </p:cTn>
                                        <p:tgtEl>
                                          <p:spTgt spid="1881093"/>
                                        </p:tgtEl>
                                        <p:attrNameLst>
                                          <p:attrName>style.visibility</p:attrName>
                                        </p:attrNameLst>
                                      </p:cBhvr>
                                      <p:to>
                                        <p:strVal val="visible"/>
                                      </p:to>
                                    </p:set>
                                    <p:anim calcmode="lin" valueType="num">
                                      <p:cBhvr additive="base">
                                        <p:cTn id="49" dur="500" fill="hold"/>
                                        <p:tgtEl>
                                          <p:spTgt spid="1881093"/>
                                        </p:tgtEl>
                                        <p:attrNameLst>
                                          <p:attrName>ppt_x</p:attrName>
                                        </p:attrNameLst>
                                      </p:cBhvr>
                                      <p:tavLst>
                                        <p:tav tm="0">
                                          <p:val>
                                            <p:strVal val="1+#ppt_w/2"/>
                                          </p:val>
                                        </p:tav>
                                        <p:tav tm="100000">
                                          <p:val>
                                            <p:strVal val="#ppt_x"/>
                                          </p:val>
                                        </p:tav>
                                      </p:tavLst>
                                    </p:anim>
                                    <p:anim calcmode="lin" valueType="num">
                                      <p:cBhvr additive="base">
                                        <p:cTn id="50" dur="500" fill="hold"/>
                                        <p:tgtEl>
                                          <p:spTgt spid="188109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1092" grpId="0" build="p" autoUpdateAnimBg="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2114" name="Rectangle 2"/>
          <p:cNvSpPr>
            <a:spLocks noGrp="1" noChangeArrowheads="1"/>
          </p:cNvSpPr>
          <p:nvPr>
            <p:ph type="title"/>
          </p:nvPr>
        </p:nvSpPr>
        <p:spPr bwMode="auto">
          <a:xfrm>
            <a:off x="2166550" y="337981"/>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zh-CN" altLang="en-US" b="1" smtClean="0">
                <a:latin typeface="Arial" panose="020B0604020202020204" pitchFamily="34" charset="0"/>
              </a:rPr>
              <a:t>距离向量与</a:t>
            </a:r>
            <a:r>
              <a:rPr lang="zh-CN" altLang="en-US" b="1">
                <a:latin typeface="Arial" panose="020B0604020202020204" pitchFamily="34" charset="0"/>
              </a:rPr>
              <a:t>链路状态路由</a:t>
            </a:r>
          </a:p>
        </p:txBody>
      </p:sp>
      <p:grpSp>
        <p:nvGrpSpPr>
          <p:cNvPr id="1882118" name="Group 6"/>
          <p:cNvGrpSpPr>
            <a:grpSpLocks/>
          </p:cNvGrpSpPr>
          <p:nvPr/>
        </p:nvGrpSpPr>
        <p:grpSpPr bwMode="auto">
          <a:xfrm>
            <a:off x="3446075" y="3498851"/>
            <a:ext cx="5213350" cy="2346325"/>
            <a:chOff x="2100" y="1860"/>
            <a:chExt cx="1649" cy="1042"/>
          </a:xfrm>
        </p:grpSpPr>
        <p:pic>
          <p:nvPicPr>
            <p:cNvPr id="18821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0" y="1860"/>
              <a:ext cx="1560" cy="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8211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7" y="2446"/>
              <a:ext cx="1302" cy="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882119" name="Text Box 7"/>
          <p:cNvSpPr txBox="1">
            <a:spLocks noChangeArrowheads="1"/>
          </p:cNvSpPr>
          <p:nvPr/>
        </p:nvSpPr>
        <p:spPr bwMode="auto">
          <a:xfrm>
            <a:off x="1482726" y="1350404"/>
            <a:ext cx="8304213" cy="1643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5263" indent="-195263">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30000"/>
              </a:spcBef>
            </a:pPr>
            <a:r>
              <a:rPr kumimoji="0" lang="en-US" altLang="zh-CN" sz="2800">
                <a:solidFill>
                  <a:srgbClr val="000000"/>
                </a:solidFill>
                <a:latin typeface="Arial" panose="020B0604020202020204" pitchFamily="34" charset="0"/>
              </a:rPr>
              <a:t>• </a:t>
            </a:r>
            <a:r>
              <a:rPr kumimoji="0" lang="zh-CN" altLang="en-US" sz="2800">
                <a:solidFill>
                  <a:srgbClr val="000000"/>
                </a:solidFill>
                <a:latin typeface="Arial" panose="020B0604020202020204" pitchFamily="34" charset="0"/>
              </a:rPr>
              <a:t>在链路状态路由</a:t>
            </a:r>
            <a:r>
              <a:rPr kumimoji="0" lang="en-US" altLang="zh-CN" sz="2800">
                <a:solidFill>
                  <a:srgbClr val="000000"/>
                </a:solidFill>
                <a:latin typeface="Arial" panose="020B0604020202020204" pitchFamily="34" charset="0"/>
              </a:rPr>
              <a:t>, </a:t>
            </a:r>
            <a:r>
              <a:rPr kumimoji="0" lang="zh-CN" altLang="en-US" sz="2800">
                <a:solidFill>
                  <a:srgbClr val="000000"/>
                </a:solidFill>
                <a:latin typeface="Arial" panose="020B0604020202020204" pitchFamily="34" charset="0"/>
              </a:rPr>
              <a:t>每个节点有拓扑的完全映射</a:t>
            </a:r>
          </a:p>
          <a:p>
            <a:pPr>
              <a:spcBef>
                <a:spcPct val="30000"/>
              </a:spcBef>
            </a:pPr>
            <a:r>
              <a:rPr kumimoji="0" lang="en-US" altLang="zh-CN" sz="2800">
                <a:solidFill>
                  <a:srgbClr val="000000"/>
                </a:solidFill>
                <a:latin typeface="Arial" panose="020B0604020202020204" pitchFamily="34" charset="0"/>
              </a:rPr>
              <a:t>• </a:t>
            </a:r>
            <a:r>
              <a:rPr kumimoji="0" lang="zh-CN" altLang="en-US" sz="2800">
                <a:solidFill>
                  <a:srgbClr val="000000"/>
                </a:solidFill>
                <a:latin typeface="Arial" panose="020B0604020202020204" pitchFamily="34" charset="0"/>
              </a:rPr>
              <a:t>如果节点失败</a:t>
            </a:r>
            <a:r>
              <a:rPr kumimoji="0" lang="en-US" altLang="zh-CN" sz="2800">
                <a:solidFill>
                  <a:srgbClr val="000000"/>
                </a:solidFill>
                <a:latin typeface="Arial" panose="020B0604020202020204" pitchFamily="34" charset="0"/>
              </a:rPr>
              <a:t>, </a:t>
            </a:r>
            <a:r>
              <a:rPr kumimoji="0" lang="zh-CN" altLang="en-US" sz="2800">
                <a:solidFill>
                  <a:srgbClr val="000000"/>
                </a:solidFill>
                <a:latin typeface="Arial" panose="020B0604020202020204" pitchFamily="34" charset="0"/>
              </a:rPr>
              <a:t>每个节点能计算新</a:t>
            </a:r>
            <a:r>
              <a:rPr kumimoji="0" lang="zh-CN" altLang="en-US" sz="2800" smtClean="0">
                <a:solidFill>
                  <a:srgbClr val="000000"/>
                </a:solidFill>
                <a:latin typeface="Arial" panose="020B0604020202020204" pitchFamily="34" charset="0"/>
              </a:rPr>
              <a:t>路由</a:t>
            </a:r>
            <a:endParaRPr kumimoji="0" lang="zh-CN" altLang="en-US" sz="2800">
              <a:solidFill>
                <a:srgbClr val="000000"/>
              </a:solidFill>
              <a:latin typeface="Arial" panose="020B0604020202020204" pitchFamily="34" charset="0"/>
            </a:endParaRPr>
          </a:p>
          <a:p>
            <a:pPr>
              <a:spcBef>
                <a:spcPct val="30000"/>
              </a:spcBef>
            </a:pPr>
            <a:r>
              <a:rPr kumimoji="0" lang="en-US" altLang="zh-CN" sz="2800">
                <a:solidFill>
                  <a:srgbClr val="FF0000"/>
                </a:solidFill>
                <a:latin typeface="Arial" panose="020B0604020202020204" pitchFamily="34" charset="0"/>
              </a:rPr>
              <a:t>• </a:t>
            </a:r>
            <a:r>
              <a:rPr kumimoji="0" lang="zh-CN" altLang="en-US" sz="2800">
                <a:solidFill>
                  <a:srgbClr val="FF0000"/>
                </a:solidFill>
                <a:latin typeface="Arial" panose="020B0604020202020204" pitchFamily="34" charset="0"/>
              </a:rPr>
              <a:t>难点</a:t>
            </a:r>
            <a:r>
              <a:rPr kumimoji="0" lang="en-US" altLang="zh-CN" sz="2800">
                <a:solidFill>
                  <a:srgbClr val="FF0000"/>
                </a:solidFill>
                <a:latin typeface="Arial" panose="020B0604020202020204" pitchFamily="34" charset="0"/>
              </a:rPr>
              <a:t>: </a:t>
            </a:r>
            <a:r>
              <a:rPr kumimoji="0" lang="zh-CN" altLang="en-US" sz="2800">
                <a:solidFill>
                  <a:srgbClr val="FF0000"/>
                </a:solidFill>
                <a:latin typeface="Arial" panose="020B0604020202020204" pitchFamily="34" charset="0"/>
              </a:rPr>
              <a:t>所有节点需要有网络的一致信息</a:t>
            </a:r>
            <a:endParaRPr kumimoji="0" lang="zh-CN" altLang="en-US" sz="2800">
              <a:solidFill>
                <a:srgbClr val="CACACA"/>
              </a:solidFill>
            </a:endParaRPr>
          </a:p>
        </p:txBody>
      </p:sp>
    </p:spTree>
    <p:extLst>
      <p:ext uri="{BB962C8B-B14F-4D97-AF65-F5344CB8AC3E}">
        <p14:creationId xmlns:p14="http://schemas.microsoft.com/office/powerpoint/2010/main" val="1509070088"/>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82119">
                                            <p:txEl>
                                              <p:pRg st="0" end="0"/>
                                            </p:txEl>
                                          </p:spTgt>
                                        </p:tgtEl>
                                        <p:attrNameLst>
                                          <p:attrName>style.visibility</p:attrName>
                                        </p:attrNameLst>
                                      </p:cBhvr>
                                      <p:to>
                                        <p:strVal val="visible"/>
                                      </p:to>
                                    </p:set>
                                    <p:anim calcmode="lin" valueType="num">
                                      <p:cBhvr additive="base">
                                        <p:cTn id="7" dur="500" fill="hold"/>
                                        <p:tgtEl>
                                          <p:spTgt spid="188211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8211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82119">
                                            <p:txEl>
                                              <p:pRg st="1" end="1"/>
                                            </p:txEl>
                                          </p:spTgt>
                                        </p:tgtEl>
                                        <p:attrNameLst>
                                          <p:attrName>style.visibility</p:attrName>
                                        </p:attrNameLst>
                                      </p:cBhvr>
                                      <p:to>
                                        <p:strVal val="visible"/>
                                      </p:to>
                                    </p:set>
                                    <p:anim calcmode="lin" valueType="num">
                                      <p:cBhvr additive="base">
                                        <p:cTn id="13" dur="500" fill="hold"/>
                                        <p:tgtEl>
                                          <p:spTgt spid="188211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8211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rbrak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82119">
                                            <p:txEl>
                                              <p:pRg st="2" end="2"/>
                                            </p:txEl>
                                          </p:spTgt>
                                        </p:tgtEl>
                                        <p:attrNameLst>
                                          <p:attrName>style.visibility</p:attrName>
                                        </p:attrNameLst>
                                      </p:cBhvr>
                                      <p:to>
                                        <p:strVal val="visible"/>
                                      </p:to>
                                    </p:set>
                                    <p:anim calcmode="lin" valueType="num">
                                      <p:cBhvr additive="base">
                                        <p:cTn id="19" dur="500" fill="hold"/>
                                        <p:tgtEl>
                                          <p:spTgt spid="188211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8211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2119" grpId="0" build="p" autoUpdateAnimBg="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5730" name="Rectangle 2"/>
          <p:cNvSpPr>
            <a:spLocks noGrp="1" noChangeArrowheads="1"/>
          </p:cNvSpPr>
          <p:nvPr>
            <p:ph type="title"/>
          </p:nvPr>
        </p:nvSpPr>
        <p:spPr bwMode="auto">
          <a:xfrm>
            <a:off x="2152650" y="317500"/>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zh-CN" altLang="en-US" b="1">
                <a:latin typeface="Arial" panose="020B0604020202020204" pitchFamily="34" charset="0"/>
              </a:rPr>
              <a:t>链路状态路由</a:t>
            </a:r>
            <a:r>
              <a:rPr lang="en-US" altLang="zh-CN" b="1">
                <a:latin typeface="Arial" panose="020B0604020202020204" pitchFamily="34" charset="0"/>
              </a:rPr>
              <a:t>: </a:t>
            </a:r>
            <a:r>
              <a:rPr lang="zh-CN" altLang="en-US" b="1">
                <a:latin typeface="Arial" panose="020B0604020202020204" pitchFamily="34" charset="0"/>
              </a:rPr>
              <a:t>性质</a:t>
            </a:r>
          </a:p>
        </p:txBody>
      </p:sp>
      <p:sp>
        <p:nvSpPr>
          <p:cNvPr id="1865732" name="Text Box 4"/>
          <p:cNvSpPr txBox="1">
            <a:spLocks noChangeArrowheads="1"/>
          </p:cNvSpPr>
          <p:nvPr/>
        </p:nvSpPr>
        <p:spPr bwMode="auto">
          <a:xfrm>
            <a:off x="2152650" y="2105026"/>
            <a:ext cx="7561262" cy="180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5263" indent="-195263">
              <a:defRPr kumimoji="1" sz="2400">
                <a:solidFill>
                  <a:schemeClr val="tx1"/>
                </a:solidFill>
                <a:latin typeface="Times New Roman" panose="02020603050405020304" pitchFamily="18" charset="0"/>
                <a:ea typeface="宋体" panose="02010600030101010101" pitchFamily="2" charset="-122"/>
              </a:defRPr>
            </a:lvl1pPr>
            <a:lvl2pPr marL="581025">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2800">
                <a:latin typeface="Arial" panose="020B0604020202020204" pitchFamily="34" charset="0"/>
              </a:rPr>
              <a:t>• </a:t>
            </a:r>
            <a:r>
              <a:rPr kumimoji="0" lang="zh-CN" altLang="en-US" sz="2800">
                <a:latin typeface="Arial" panose="020B0604020202020204" pitchFamily="34" charset="0"/>
              </a:rPr>
              <a:t>每个节点需要完全的拓扑信息</a:t>
            </a:r>
          </a:p>
          <a:p>
            <a:pPr>
              <a:spcBef>
                <a:spcPct val="50000"/>
              </a:spcBef>
            </a:pPr>
            <a:r>
              <a:rPr kumimoji="0" lang="en-US" altLang="zh-CN" sz="2800">
                <a:latin typeface="Arial" panose="020B0604020202020204" pitchFamily="34" charset="0"/>
              </a:rPr>
              <a:t>• </a:t>
            </a:r>
            <a:r>
              <a:rPr kumimoji="0" lang="zh-CN" altLang="en-US" sz="2800">
                <a:latin typeface="Arial" panose="020B0604020202020204" pitchFamily="34" charset="0"/>
              </a:rPr>
              <a:t>链路状态必须被发送给所有节点</a:t>
            </a:r>
          </a:p>
          <a:p>
            <a:pPr>
              <a:spcBef>
                <a:spcPct val="50000"/>
              </a:spcBef>
            </a:pPr>
            <a:r>
              <a:rPr kumimoji="0" lang="en-US" altLang="zh-CN" sz="2800">
                <a:latin typeface="Arial" panose="020B0604020202020204" pitchFamily="34" charset="0"/>
              </a:rPr>
              <a:t>• </a:t>
            </a:r>
            <a:r>
              <a:rPr kumimoji="0" lang="zh-CN" altLang="en-US" sz="2800">
                <a:latin typeface="Arial" panose="020B0604020202020204" pitchFamily="34" charset="0"/>
              </a:rPr>
              <a:t>保证了汇聚</a:t>
            </a:r>
            <a:endParaRPr kumimoji="0" lang="zh-CN" altLang="en-US" sz="2800"/>
          </a:p>
        </p:txBody>
      </p:sp>
    </p:spTree>
    <p:extLst>
      <p:ext uri="{BB962C8B-B14F-4D97-AF65-F5344CB8AC3E}">
        <p14:creationId xmlns:p14="http://schemas.microsoft.com/office/powerpoint/2010/main" val="974735709"/>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65732">
                                            <p:txEl>
                                              <p:pRg st="0" end="0"/>
                                            </p:txEl>
                                          </p:spTgt>
                                        </p:tgtEl>
                                        <p:attrNameLst>
                                          <p:attrName>style.visibility</p:attrName>
                                        </p:attrNameLst>
                                      </p:cBhvr>
                                      <p:to>
                                        <p:strVal val="visible"/>
                                      </p:to>
                                    </p:set>
                                    <p:anim calcmode="lin" valueType="num">
                                      <p:cBhvr additive="base">
                                        <p:cTn id="7" dur="500" fill="hold"/>
                                        <p:tgtEl>
                                          <p:spTgt spid="186573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6573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65732">
                                            <p:txEl>
                                              <p:pRg st="1" end="1"/>
                                            </p:txEl>
                                          </p:spTgt>
                                        </p:tgtEl>
                                        <p:attrNameLst>
                                          <p:attrName>style.visibility</p:attrName>
                                        </p:attrNameLst>
                                      </p:cBhvr>
                                      <p:to>
                                        <p:strVal val="visible"/>
                                      </p:to>
                                    </p:set>
                                    <p:anim calcmode="lin" valueType="num">
                                      <p:cBhvr additive="base">
                                        <p:cTn id="13" dur="500" fill="hold"/>
                                        <p:tgtEl>
                                          <p:spTgt spid="1865732">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65732">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rbrak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65732">
                                            <p:txEl>
                                              <p:pRg st="2" end="2"/>
                                            </p:txEl>
                                          </p:spTgt>
                                        </p:tgtEl>
                                        <p:attrNameLst>
                                          <p:attrName>style.visibility</p:attrName>
                                        </p:attrNameLst>
                                      </p:cBhvr>
                                      <p:to>
                                        <p:strVal val="visible"/>
                                      </p:to>
                                    </p:set>
                                    <p:anim calcmode="lin" valueType="num">
                                      <p:cBhvr additive="base">
                                        <p:cTn id="19" dur="500" fill="hold"/>
                                        <p:tgtEl>
                                          <p:spTgt spid="1865732">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65732">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5732" grpId="0" build="p" autoUpdateAnimBg="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6754" name="Rectangle 2"/>
          <p:cNvSpPr>
            <a:spLocks noGrp="1" noChangeArrowheads="1"/>
          </p:cNvSpPr>
          <p:nvPr>
            <p:ph type="title"/>
          </p:nvPr>
        </p:nvSpPr>
        <p:spPr bwMode="auto">
          <a:xfrm>
            <a:off x="2236788" y="203200"/>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zh-CN" altLang="en-US" b="1">
                <a:latin typeface="Arial" panose="020B0604020202020204" pitchFamily="34" charset="0"/>
              </a:rPr>
              <a:t>链路状态路由</a:t>
            </a:r>
            <a:r>
              <a:rPr lang="en-US" altLang="zh-CN" b="1">
                <a:latin typeface="Arial" panose="020B0604020202020204" pitchFamily="34" charset="0"/>
              </a:rPr>
              <a:t>: </a:t>
            </a:r>
            <a:r>
              <a:rPr lang="zh-CN" altLang="en-US" b="1">
                <a:latin typeface="Arial" panose="020B0604020202020204" pitchFamily="34" charset="0"/>
              </a:rPr>
              <a:t>基本原则</a:t>
            </a:r>
          </a:p>
        </p:txBody>
      </p:sp>
      <p:sp>
        <p:nvSpPr>
          <p:cNvPr id="1866757" name="Text Box 5"/>
          <p:cNvSpPr txBox="1">
            <a:spLocks noChangeArrowheads="1"/>
          </p:cNvSpPr>
          <p:nvPr/>
        </p:nvSpPr>
        <p:spPr bwMode="auto">
          <a:xfrm>
            <a:off x="382588" y="1635125"/>
            <a:ext cx="10729912" cy="379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293688" indent="-293688">
              <a:defRPr kumimoji="1" sz="2400">
                <a:solidFill>
                  <a:schemeClr val="tx1"/>
                </a:solidFill>
                <a:latin typeface="Times New Roman" panose="02020603050405020304" pitchFamily="18" charset="0"/>
                <a:ea typeface="宋体" panose="02010600030101010101" pitchFamily="2" charset="-122"/>
              </a:defRPr>
            </a:lvl1pPr>
            <a:lvl2pPr marL="484188">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514350" indent="-514350">
              <a:spcBef>
                <a:spcPct val="10000"/>
              </a:spcBef>
              <a:buAutoNum type="arabicPeriod"/>
            </a:pPr>
            <a:r>
              <a:rPr kumimoji="0" lang="zh-CN" altLang="en-US" sz="2800" smtClean="0">
                <a:solidFill>
                  <a:srgbClr val="000000"/>
                </a:solidFill>
                <a:latin typeface="Arial" panose="020B0604020202020204" pitchFamily="34" charset="0"/>
              </a:rPr>
              <a:t>每个</a:t>
            </a:r>
            <a:r>
              <a:rPr kumimoji="0" lang="zh-CN" altLang="en-US" sz="2800">
                <a:solidFill>
                  <a:srgbClr val="000000"/>
                </a:solidFill>
                <a:latin typeface="Arial" panose="020B0604020202020204" pitchFamily="34" charset="0"/>
              </a:rPr>
              <a:t>路由器建立和它的邻接点的关系 </a:t>
            </a:r>
            <a:r>
              <a:rPr kumimoji="0" lang="en-US" altLang="zh-CN" sz="2800" i="1">
                <a:solidFill>
                  <a:srgbClr val="3333CD"/>
                </a:solidFill>
                <a:latin typeface="Arial" panose="020B0604020202020204" pitchFamily="34" charset="0"/>
              </a:rPr>
              <a:t>(“</a:t>
            </a:r>
            <a:r>
              <a:rPr kumimoji="0" lang="zh-CN" altLang="en-US" sz="2800" i="1">
                <a:solidFill>
                  <a:srgbClr val="3333CD"/>
                </a:solidFill>
                <a:latin typeface="Arial" panose="020B0604020202020204" pitchFamily="34" charset="0"/>
              </a:rPr>
              <a:t>邻接”</a:t>
            </a:r>
            <a:r>
              <a:rPr kumimoji="0" lang="en-US" altLang="zh-CN" sz="2800" i="1">
                <a:solidFill>
                  <a:srgbClr val="3333CD"/>
                </a:solidFill>
                <a:latin typeface="Arial" panose="020B0604020202020204" pitchFamily="34" charset="0"/>
              </a:rPr>
              <a:t>) </a:t>
            </a:r>
            <a:endParaRPr kumimoji="0" lang="en-US" altLang="zh-CN" sz="2800" i="1" smtClean="0">
              <a:solidFill>
                <a:srgbClr val="3333CD"/>
              </a:solidFill>
              <a:latin typeface="Arial" panose="020B0604020202020204" pitchFamily="34" charset="0"/>
            </a:endParaRPr>
          </a:p>
          <a:p>
            <a:pPr marL="514350" indent="-514350">
              <a:spcBef>
                <a:spcPct val="10000"/>
              </a:spcBef>
              <a:buAutoNum type="arabicPeriod"/>
            </a:pPr>
            <a:r>
              <a:rPr kumimoji="0" lang="zh-CN" altLang="en-US" sz="2800" smtClean="0">
                <a:solidFill>
                  <a:srgbClr val="000000"/>
                </a:solidFill>
                <a:latin typeface="Arial" panose="020B0604020202020204" pitchFamily="34" charset="0"/>
              </a:rPr>
              <a:t>每个</a:t>
            </a:r>
            <a:r>
              <a:rPr kumimoji="0" lang="zh-CN" altLang="en-US" sz="2800">
                <a:solidFill>
                  <a:srgbClr val="000000"/>
                </a:solidFill>
                <a:latin typeface="Arial" panose="020B0604020202020204" pitchFamily="34" charset="0"/>
              </a:rPr>
              <a:t>路由器产生</a:t>
            </a:r>
            <a:r>
              <a:rPr kumimoji="0" lang="zh-CN" altLang="en-US" sz="2800" i="1">
                <a:solidFill>
                  <a:srgbClr val="3333CD"/>
                </a:solidFill>
                <a:latin typeface="Arial" panose="020B0604020202020204" pitchFamily="34" charset="0"/>
              </a:rPr>
              <a:t>链路状态通知 </a:t>
            </a:r>
            <a:r>
              <a:rPr kumimoji="0" lang="en-US" altLang="zh-CN" sz="2800" i="1">
                <a:solidFill>
                  <a:srgbClr val="3333CD"/>
                </a:solidFill>
                <a:latin typeface="Arial" panose="020B0604020202020204" pitchFamily="34" charset="0"/>
              </a:rPr>
              <a:t>(LSAs) </a:t>
            </a:r>
            <a:r>
              <a:rPr kumimoji="0" lang="zh-CN" altLang="en-US" sz="2800">
                <a:solidFill>
                  <a:srgbClr val="000000"/>
                </a:solidFill>
                <a:latin typeface="Arial" panose="020B0604020202020204" pitchFamily="34" charset="0"/>
              </a:rPr>
              <a:t>给每个路由器  </a:t>
            </a:r>
          </a:p>
          <a:p>
            <a:pPr>
              <a:spcBef>
                <a:spcPct val="10000"/>
              </a:spcBef>
            </a:pPr>
            <a:r>
              <a:rPr kumimoji="0" lang="zh-CN" altLang="en-US" sz="2800">
                <a:solidFill>
                  <a:srgbClr val="000000"/>
                </a:solidFill>
                <a:latin typeface="Arial" panose="020B0604020202020204" pitchFamily="34" charset="0"/>
              </a:rPr>
              <a:t>   </a:t>
            </a:r>
            <a:r>
              <a:rPr kumimoji="0" lang="en-US" altLang="zh-CN" sz="2800">
                <a:solidFill>
                  <a:srgbClr val="000000"/>
                </a:solidFill>
                <a:latin typeface="Arial" panose="020B0604020202020204" pitchFamily="34" charset="0"/>
              </a:rPr>
              <a:t>LSA = (link id, state of the link, cost, neighbors of the link)</a:t>
            </a:r>
          </a:p>
          <a:p>
            <a:pPr>
              <a:spcBef>
                <a:spcPct val="10000"/>
              </a:spcBef>
            </a:pPr>
            <a:r>
              <a:rPr kumimoji="0" lang="en-US" altLang="zh-CN" sz="2800">
                <a:solidFill>
                  <a:srgbClr val="000000"/>
                </a:solidFill>
                <a:latin typeface="Arial" panose="020B0604020202020204" pitchFamily="34" charset="0"/>
              </a:rPr>
              <a:t>3. </a:t>
            </a:r>
            <a:r>
              <a:rPr kumimoji="0" lang="zh-CN" altLang="en-US" sz="2800">
                <a:solidFill>
                  <a:srgbClr val="000000"/>
                </a:solidFill>
                <a:latin typeface="Arial" panose="020B0604020202020204" pitchFamily="34" charset="0"/>
              </a:rPr>
              <a:t>每个路由器维持了一个包括所有收到的</a:t>
            </a:r>
            <a:r>
              <a:rPr kumimoji="0" lang="en-US" altLang="zh-CN" sz="2800">
                <a:solidFill>
                  <a:srgbClr val="000000"/>
                </a:solidFill>
                <a:latin typeface="Arial" panose="020B0604020202020204" pitchFamily="34" charset="0"/>
              </a:rPr>
              <a:t>LSA</a:t>
            </a:r>
            <a:r>
              <a:rPr kumimoji="0" lang="zh-CN" altLang="en-US" sz="2800">
                <a:solidFill>
                  <a:srgbClr val="000000"/>
                </a:solidFill>
                <a:latin typeface="Arial" panose="020B0604020202020204" pitchFamily="34" charset="0"/>
              </a:rPr>
              <a:t>的数据库， 描述了带有权</a:t>
            </a:r>
            <a:r>
              <a:rPr kumimoji="0" lang="zh-CN" altLang="en-US" sz="2800" smtClean="0">
                <a:solidFill>
                  <a:srgbClr val="000000"/>
                </a:solidFill>
                <a:latin typeface="Arial" panose="020B0604020202020204" pitchFamily="34" charset="0"/>
              </a:rPr>
              <a:t>值边</a:t>
            </a:r>
            <a:r>
              <a:rPr kumimoji="0" lang="zh-CN" altLang="en-US" sz="2800">
                <a:solidFill>
                  <a:srgbClr val="000000"/>
                </a:solidFill>
                <a:latin typeface="Arial" panose="020B0604020202020204" pitchFamily="34" charset="0"/>
              </a:rPr>
              <a:t>的网络拓扑图</a:t>
            </a:r>
            <a:r>
              <a:rPr kumimoji="0" lang="en-US" altLang="zh-CN" sz="2800">
                <a:solidFill>
                  <a:srgbClr val="000000"/>
                </a:solidFill>
                <a:latin typeface="Arial" panose="020B0604020202020204" pitchFamily="34" charset="0"/>
              </a:rPr>
              <a:t>(</a:t>
            </a:r>
            <a:r>
              <a:rPr kumimoji="0" lang="zh-CN" altLang="en-US" sz="2800" i="1">
                <a:solidFill>
                  <a:srgbClr val="3333CD"/>
                </a:solidFill>
                <a:latin typeface="Arial" panose="020B0604020202020204" pitchFamily="34" charset="0"/>
              </a:rPr>
              <a:t>拓扑数据库 </a:t>
            </a:r>
            <a:r>
              <a:rPr kumimoji="0" lang="en-US" altLang="zh-CN" sz="2800">
                <a:solidFill>
                  <a:srgbClr val="000000"/>
                </a:solidFill>
                <a:latin typeface="Arial" panose="020B0604020202020204" pitchFamily="34" charset="0"/>
              </a:rPr>
              <a:t>or </a:t>
            </a:r>
            <a:r>
              <a:rPr kumimoji="0" lang="zh-CN" altLang="en-US" sz="2800" i="1">
                <a:solidFill>
                  <a:srgbClr val="3333CD"/>
                </a:solidFill>
                <a:latin typeface="Arial" panose="020B0604020202020204" pitchFamily="34" charset="0"/>
              </a:rPr>
              <a:t>链路状态数据库</a:t>
            </a:r>
            <a:r>
              <a:rPr kumimoji="0" lang="en-US" altLang="zh-CN" sz="2800" smtClean="0">
                <a:solidFill>
                  <a:srgbClr val="000000"/>
                </a:solidFill>
                <a:latin typeface="Arial" panose="020B0604020202020204" pitchFamily="34" charset="0"/>
              </a:rPr>
              <a:t>)</a:t>
            </a:r>
          </a:p>
          <a:p>
            <a:pPr>
              <a:spcBef>
                <a:spcPct val="10000"/>
              </a:spcBef>
            </a:pPr>
            <a:r>
              <a:rPr kumimoji="0" lang="en-US" altLang="zh-CN" sz="2800">
                <a:solidFill>
                  <a:srgbClr val="000000"/>
                </a:solidFill>
                <a:latin typeface="Arial" panose="020B0604020202020204" pitchFamily="34" charset="0"/>
              </a:rPr>
              <a:t>4. </a:t>
            </a:r>
            <a:r>
              <a:rPr kumimoji="0" lang="zh-CN" altLang="en-US" sz="2800">
                <a:solidFill>
                  <a:srgbClr val="000000"/>
                </a:solidFill>
                <a:latin typeface="Arial" panose="020B0604020202020204" pitchFamily="34" charset="0"/>
              </a:rPr>
              <a:t>每个路由器都使用它们的链路状态数据库，通过最短路径算法来产生到每个网络的最短路径</a:t>
            </a:r>
            <a:r>
              <a:rPr kumimoji="0" lang="en-US" altLang="zh-CN" sz="2800">
                <a:solidFill>
                  <a:srgbClr val="000000"/>
                </a:solidFill>
                <a:latin typeface="Arial" panose="020B0604020202020204" pitchFamily="34" charset="0"/>
              </a:rPr>
              <a:t>(Dijikstra’s algorithm) </a:t>
            </a:r>
          </a:p>
          <a:p>
            <a:pPr>
              <a:spcBef>
                <a:spcPct val="20000"/>
              </a:spcBef>
              <a:buClr>
                <a:schemeClr val="accent2"/>
              </a:buClr>
              <a:buSzPct val="75000"/>
              <a:buFont typeface="Monotype Sorts" pitchFamily="2" charset="2"/>
              <a:buNone/>
            </a:pPr>
            <a:r>
              <a:rPr kumimoji="0" lang="en-US" altLang="zh-CN" sz="2800">
                <a:solidFill>
                  <a:srgbClr val="000000"/>
                </a:solidFill>
                <a:latin typeface="Arial" panose="020B0604020202020204" pitchFamily="34" charset="0"/>
              </a:rPr>
              <a:t>5. </a:t>
            </a:r>
            <a:r>
              <a:rPr kumimoji="0" lang="zh-CN" altLang="en-US" sz="2800">
                <a:solidFill>
                  <a:srgbClr val="000000"/>
                </a:solidFill>
                <a:latin typeface="Arial" panose="020B0604020202020204" pitchFamily="34" charset="0"/>
              </a:rPr>
              <a:t>路由表 </a:t>
            </a:r>
            <a:r>
              <a:rPr kumimoji="0" lang="en-US" altLang="zh-CN" sz="2800">
                <a:solidFill>
                  <a:srgbClr val="000000"/>
                </a:solidFill>
                <a:latin typeface="Arial" panose="020B0604020202020204" pitchFamily="34" charset="0"/>
              </a:rPr>
              <a:t>= </a:t>
            </a:r>
            <a:r>
              <a:rPr kumimoji="0" lang="zh-CN" altLang="en-US" sz="2800">
                <a:solidFill>
                  <a:srgbClr val="000000"/>
                </a:solidFill>
                <a:latin typeface="Arial" panose="020B0604020202020204" pitchFamily="34" charset="0"/>
              </a:rPr>
              <a:t>这些路径的下一</a:t>
            </a:r>
            <a:r>
              <a:rPr kumimoji="0" lang="zh-CN" altLang="en-US" sz="2800" smtClean="0">
                <a:solidFill>
                  <a:srgbClr val="000000"/>
                </a:solidFill>
                <a:latin typeface="Arial" panose="020B0604020202020204" pitchFamily="34" charset="0"/>
              </a:rPr>
              <a:t>跳</a:t>
            </a:r>
            <a:endParaRPr kumimoji="0" lang="en-US" altLang="zh-CN" sz="2800">
              <a:solidFill>
                <a:srgbClr val="000000"/>
              </a:solidFill>
              <a:latin typeface="Arial" panose="020B0604020202020204" pitchFamily="34" charset="0"/>
            </a:endParaRPr>
          </a:p>
        </p:txBody>
      </p:sp>
    </p:spTree>
    <p:extLst>
      <p:ext uri="{BB962C8B-B14F-4D97-AF65-F5344CB8AC3E}">
        <p14:creationId xmlns:p14="http://schemas.microsoft.com/office/powerpoint/2010/main" val="2828500045"/>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66757">
                                            <p:txEl>
                                              <p:pRg st="0" end="0"/>
                                            </p:txEl>
                                          </p:spTgt>
                                        </p:tgtEl>
                                        <p:attrNameLst>
                                          <p:attrName>style.visibility</p:attrName>
                                        </p:attrNameLst>
                                      </p:cBhvr>
                                      <p:to>
                                        <p:strVal val="visible"/>
                                      </p:to>
                                    </p:set>
                                    <p:anim calcmode="lin" valueType="num">
                                      <p:cBhvr additive="base">
                                        <p:cTn id="7" dur="500" fill="hold"/>
                                        <p:tgtEl>
                                          <p:spTgt spid="186675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6675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66757">
                                            <p:txEl>
                                              <p:pRg st="1" end="1"/>
                                            </p:txEl>
                                          </p:spTgt>
                                        </p:tgtEl>
                                        <p:attrNameLst>
                                          <p:attrName>style.visibility</p:attrName>
                                        </p:attrNameLst>
                                      </p:cBhvr>
                                      <p:to>
                                        <p:strVal val="visible"/>
                                      </p:to>
                                    </p:set>
                                    <p:anim calcmode="lin" valueType="num">
                                      <p:cBhvr additive="base">
                                        <p:cTn id="13" dur="500" fill="hold"/>
                                        <p:tgtEl>
                                          <p:spTgt spid="186675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6675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rbrak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66757">
                                            <p:txEl>
                                              <p:pRg st="2" end="2"/>
                                            </p:txEl>
                                          </p:spTgt>
                                        </p:tgtEl>
                                        <p:attrNameLst>
                                          <p:attrName>style.visibility</p:attrName>
                                        </p:attrNameLst>
                                      </p:cBhvr>
                                      <p:to>
                                        <p:strVal val="visible"/>
                                      </p:to>
                                    </p:set>
                                    <p:anim calcmode="lin" valueType="num">
                                      <p:cBhvr additive="base">
                                        <p:cTn id="19" dur="500" fill="hold"/>
                                        <p:tgtEl>
                                          <p:spTgt spid="186675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66757">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rbrake.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66757">
                                            <p:txEl>
                                              <p:pRg st="3" end="3"/>
                                            </p:txEl>
                                          </p:spTgt>
                                        </p:tgtEl>
                                        <p:attrNameLst>
                                          <p:attrName>style.visibility</p:attrName>
                                        </p:attrNameLst>
                                      </p:cBhvr>
                                      <p:to>
                                        <p:strVal val="visible"/>
                                      </p:to>
                                    </p:set>
                                    <p:anim calcmode="lin" valueType="num">
                                      <p:cBhvr additive="base">
                                        <p:cTn id="25" dur="500" fill="hold"/>
                                        <p:tgtEl>
                                          <p:spTgt spid="186675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66757">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rbrake.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66757">
                                            <p:txEl>
                                              <p:pRg st="4" end="4"/>
                                            </p:txEl>
                                          </p:spTgt>
                                        </p:tgtEl>
                                        <p:attrNameLst>
                                          <p:attrName>style.visibility</p:attrName>
                                        </p:attrNameLst>
                                      </p:cBhvr>
                                      <p:to>
                                        <p:strVal val="visible"/>
                                      </p:to>
                                    </p:set>
                                    <p:anim calcmode="lin" valueType="num">
                                      <p:cBhvr additive="base">
                                        <p:cTn id="31" dur="500" fill="hold"/>
                                        <p:tgtEl>
                                          <p:spTgt spid="1866757">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66757">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carbrake.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66757">
                                            <p:txEl>
                                              <p:pRg st="5" end="5"/>
                                            </p:txEl>
                                          </p:spTgt>
                                        </p:tgtEl>
                                        <p:attrNameLst>
                                          <p:attrName>style.visibility</p:attrName>
                                        </p:attrNameLst>
                                      </p:cBhvr>
                                      <p:to>
                                        <p:strVal val="visible"/>
                                      </p:to>
                                    </p:set>
                                    <p:anim calcmode="lin" valueType="num">
                                      <p:cBhvr additive="base">
                                        <p:cTn id="37" dur="500" fill="hold"/>
                                        <p:tgtEl>
                                          <p:spTgt spid="1866757">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66757">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6757" grpId="0" build="p" autoUpdateAnimBg="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7778" name="Rectangle 2"/>
          <p:cNvSpPr>
            <a:spLocks noGrp="1" noChangeArrowheads="1"/>
          </p:cNvSpPr>
          <p:nvPr>
            <p:ph type="title"/>
          </p:nvPr>
        </p:nvSpPr>
        <p:spPr bwMode="auto">
          <a:xfrm>
            <a:off x="2201864" y="190500"/>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zh-CN" altLang="en-US" b="1">
                <a:latin typeface="Arial" panose="020B0604020202020204" pitchFamily="34" charset="0"/>
              </a:rPr>
              <a:t>链路状态路由协议的运作</a:t>
            </a:r>
          </a:p>
        </p:txBody>
      </p:sp>
      <p:pic>
        <p:nvPicPr>
          <p:cNvPr id="186778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5132" y="1882775"/>
            <a:ext cx="8805864" cy="3716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1572016"/>
      </p:ext>
    </p:extLst>
  </p:cSld>
  <p:clrMapOvr>
    <a:masterClrMapping/>
  </p:clrMapOvr>
  <p:transition spd="med">
    <p:random/>
  </p:transition>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2898" name="Rectangle 2"/>
          <p:cNvSpPr>
            <a:spLocks noGrp="1" noChangeArrowheads="1"/>
          </p:cNvSpPr>
          <p:nvPr>
            <p:ph type="title"/>
          </p:nvPr>
        </p:nvSpPr>
        <p:spPr bwMode="auto">
          <a:xfrm>
            <a:off x="2185988" y="266700"/>
            <a:ext cx="7772400" cy="7874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a:r>
              <a:rPr lang="en-US" altLang="zh-CN"/>
              <a:t>Dijkstra </a:t>
            </a:r>
            <a:r>
              <a:rPr lang="zh-CN" altLang="en-US"/>
              <a:t>算法</a:t>
            </a:r>
            <a:endParaRPr lang="zh-CN" altLang="en-US" sz="2800" b="1">
              <a:solidFill>
                <a:srgbClr val="063DE9"/>
              </a:solidFill>
              <a:latin typeface="Times New Roman" panose="02020603050405020304" pitchFamily="18" charset="0"/>
            </a:endParaRPr>
          </a:p>
        </p:txBody>
      </p:sp>
      <p:sp>
        <p:nvSpPr>
          <p:cNvPr id="1872899" name="Text Box 3"/>
          <p:cNvSpPr txBox="1">
            <a:spLocks noChangeArrowheads="1"/>
          </p:cNvSpPr>
          <p:nvPr/>
        </p:nvSpPr>
        <p:spPr bwMode="auto">
          <a:xfrm>
            <a:off x="1064419" y="1609726"/>
            <a:ext cx="10015537"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95263" indent="-195263">
              <a:defRPr kumimoji="1" sz="2400">
                <a:solidFill>
                  <a:schemeClr val="tx1"/>
                </a:solidFill>
                <a:latin typeface="Times New Roman" panose="02020603050405020304" pitchFamily="18" charset="0"/>
                <a:ea typeface="宋体" panose="02010600030101010101" pitchFamily="2" charset="-122"/>
              </a:defRPr>
            </a:lvl1pPr>
            <a:lvl2pPr marL="658813" indent="-201613">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kumimoji="0" lang="zh-CN" altLang="en-US" sz="2800">
                <a:latin typeface="Arial" panose="020B0604020202020204" pitchFamily="34" charset="0"/>
              </a:rPr>
              <a:t>所有的节点都知道网络拓扑</a:t>
            </a:r>
            <a:r>
              <a:rPr kumimoji="0" lang="en-US" altLang="zh-CN" sz="2800">
                <a:latin typeface="Arial" panose="020B0604020202020204" pitchFamily="34" charset="0"/>
              </a:rPr>
              <a:t>, </a:t>
            </a:r>
            <a:r>
              <a:rPr kumimoji="0" lang="zh-CN" altLang="en-US" sz="2800">
                <a:latin typeface="Arial" panose="020B0604020202020204" pitchFamily="34" charset="0"/>
              </a:rPr>
              <a:t>连接费用</a:t>
            </a:r>
            <a:endParaRPr kumimoji="0" lang="zh-CN" altLang="en-US" sz="2800" b="1">
              <a:solidFill>
                <a:schemeClr val="folHlink"/>
              </a:solidFill>
              <a:latin typeface="Arial" panose="020B0604020202020204" pitchFamily="34" charset="0"/>
            </a:endParaRPr>
          </a:p>
          <a:p>
            <a:pPr lvl="1" eaLnBrk="1" hangingPunct="1">
              <a:spcBef>
                <a:spcPct val="20000"/>
              </a:spcBef>
              <a:buFontTx/>
              <a:buChar char="–"/>
            </a:pPr>
            <a:r>
              <a:rPr kumimoji="0" lang="zh-CN" altLang="en-US" sz="2800">
                <a:latin typeface="Arial" panose="020B0604020202020204" pitchFamily="34" charset="0"/>
              </a:rPr>
              <a:t>通过链路状态广播完成 </a:t>
            </a:r>
          </a:p>
          <a:p>
            <a:pPr lvl="1" eaLnBrk="1" hangingPunct="1">
              <a:spcBef>
                <a:spcPct val="20000"/>
              </a:spcBef>
              <a:buFontTx/>
              <a:buChar char="–"/>
            </a:pPr>
            <a:r>
              <a:rPr kumimoji="0" lang="zh-CN" altLang="en-US" sz="2800">
                <a:latin typeface="Arial" panose="020B0604020202020204" pitchFamily="34" charset="0"/>
              </a:rPr>
              <a:t>所有节点都有相关信息</a:t>
            </a:r>
          </a:p>
          <a:p>
            <a:pPr eaLnBrk="1" hangingPunct="1">
              <a:spcBef>
                <a:spcPct val="20000"/>
              </a:spcBef>
              <a:buFontTx/>
              <a:buChar char="•"/>
            </a:pPr>
            <a:r>
              <a:rPr kumimoji="0" lang="zh-CN" altLang="en-US" sz="2800" b="1">
                <a:solidFill>
                  <a:schemeClr val="folHlink"/>
                </a:solidFill>
                <a:latin typeface="Arial" panose="020B0604020202020204" pitchFamily="34" charset="0"/>
              </a:rPr>
              <a:t>计算一个节点到所有其它节点的最小费用的路径</a:t>
            </a:r>
            <a:r>
              <a:rPr kumimoji="0" lang="zh-CN" altLang="en-US" sz="2800" b="1">
                <a:solidFill>
                  <a:srgbClr val="EAEAEA"/>
                </a:solidFill>
                <a:latin typeface="Arial" panose="020B0604020202020204" pitchFamily="34" charset="0"/>
              </a:rPr>
              <a:t> </a:t>
            </a:r>
            <a:endParaRPr kumimoji="0" lang="zh-CN" altLang="en-US" sz="2800">
              <a:latin typeface="Arial" panose="020B0604020202020204" pitchFamily="34" charset="0"/>
            </a:endParaRPr>
          </a:p>
          <a:p>
            <a:pPr lvl="1" eaLnBrk="1" hangingPunct="1">
              <a:spcBef>
                <a:spcPct val="20000"/>
              </a:spcBef>
              <a:buFontTx/>
              <a:buChar char="–"/>
            </a:pPr>
            <a:r>
              <a:rPr kumimoji="0" lang="zh-CN" altLang="en-US" sz="2800">
                <a:latin typeface="Arial" panose="020B0604020202020204" pitchFamily="34" charset="0"/>
              </a:rPr>
              <a:t>并为这个节点建立一个路由表</a:t>
            </a:r>
          </a:p>
          <a:p>
            <a:pPr lvl="1" eaLnBrk="1" hangingPunct="1">
              <a:spcBef>
                <a:spcPct val="20000"/>
              </a:spcBef>
              <a:buFontTx/>
              <a:buChar char="–"/>
            </a:pPr>
            <a:r>
              <a:rPr kumimoji="0" lang="zh-CN" altLang="en-US" sz="2800">
                <a:latin typeface="Arial" panose="020B0604020202020204" pitchFamily="34" charset="0"/>
              </a:rPr>
              <a:t>迭代</a:t>
            </a:r>
            <a:r>
              <a:rPr kumimoji="0" lang="en-US" altLang="zh-CN" sz="2800">
                <a:latin typeface="Arial" panose="020B0604020202020204" pitchFamily="34" charset="0"/>
              </a:rPr>
              <a:t>: </a:t>
            </a:r>
            <a:r>
              <a:rPr kumimoji="0" lang="zh-CN" altLang="en-US" sz="2800">
                <a:latin typeface="Arial" panose="020B0604020202020204" pitchFamily="34" charset="0"/>
              </a:rPr>
              <a:t>在</a:t>
            </a:r>
            <a:r>
              <a:rPr kumimoji="0" lang="en-US" altLang="zh-CN" sz="2800">
                <a:latin typeface="Arial" panose="020B0604020202020204" pitchFamily="34" charset="0"/>
              </a:rPr>
              <a:t>K</a:t>
            </a:r>
            <a:r>
              <a:rPr kumimoji="0" lang="zh-CN" altLang="en-US" sz="2800">
                <a:latin typeface="Arial" panose="020B0604020202020204" pitchFamily="34" charset="0"/>
              </a:rPr>
              <a:t>此迭代后</a:t>
            </a:r>
            <a:r>
              <a:rPr kumimoji="0" lang="en-US" altLang="zh-CN" sz="2800">
                <a:latin typeface="Arial" panose="020B0604020202020204" pitchFamily="34" charset="0"/>
              </a:rPr>
              <a:t>, </a:t>
            </a:r>
            <a:r>
              <a:rPr kumimoji="0" lang="zh-CN" altLang="en-US" sz="2800">
                <a:latin typeface="Arial" panose="020B0604020202020204" pitchFamily="34" charset="0"/>
              </a:rPr>
              <a:t>得到了到</a:t>
            </a:r>
            <a:r>
              <a:rPr kumimoji="0" lang="en-US" altLang="zh-CN" sz="2800">
                <a:latin typeface="Arial" panose="020B0604020202020204" pitchFamily="34" charset="0"/>
              </a:rPr>
              <a:t>K</a:t>
            </a:r>
            <a:r>
              <a:rPr kumimoji="0" lang="zh-CN" altLang="en-US" sz="2800">
                <a:latin typeface="Arial" panose="020B0604020202020204" pitchFamily="34" charset="0"/>
              </a:rPr>
              <a:t>个目的节点的最小费用路径</a:t>
            </a:r>
          </a:p>
        </p:txBody>
      </p:sp>
    </p:spTree>
    <p:extLst>
      <p:ext uri="{BB962C8B-B14F-4D97-AF65-F5344CB8AC3E}">
        <p14:creationId xmlns:p14="http://schemas.microsoft.com/office/powerpoint/2010/main" val="3821553457"/>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72899">
                                            <p:txEl>
                                              <p:pRg st="0" end="0"/>
                                            </p:txEl>
                                          </p:spTgt>
                                        </p:tgtEl>
                                        <p:attrNameLst>
                                          <p:attrName>style.visibility</p:attrName>
                                        </p:attrNameLst>
                                      </p:cBhvr>
                                      <p:to>
                                        <p:strVal val="visible"/>
                                      </p:to>
                                    </p:set>
                                    <p:anim calcmode="lin" valueType="num">
                                      <p:cBhvr additive="base">
                                        <p:cTn id="7" dur="500" fill="hold"/>
                                        <p:tgtEl>
                                          <p:spTgt spid="187289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7289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par>
                                <p:cTn id="9" presetID="2" presetClass="entr" presetSubtype="2" fill="hold" grpId="0" nodeType="withEffect">
                                  <p:stCondLst>
                                    <p:cond delay="0"/>
                                  </p:stCondLst>
                                  <p:childTnLst>
                                    <p:set>
                                      <p:cBhvr>
                                        <p:cTn id="10" dur="1" fill="hold">
                                          <p:stCondLst>
                                            <p:cond delay="0"/>
                                          </p:stCondLst>
                                        </p:cTn>
                                        <p:tgtEl>
                                          <p:spTgt spid="1872899">
                                            <p:txEl>
                                              <p:pRg st="1" end="1"/>
                                            </p:txEl>
                                          </p:spTgt>
                                        </p:tgtEl>
                                        <p:attrNameLst>
                                          <p:attrName>style.visibility</p:attrName>
                                        </p:attrNameLst>
                                      </p:cBhvr>
                                      <p:to>
                                        <p:strVal val="visible"/>
                                      </p:to>
                                    </p:set>
                                    <p:anim calcmode="lin" valueType="num">
                                      <p:cBhvr additive="base">
                                        <p:cTn id="11" dur="500" fill="hold"/>
                                        <p:tgtEl>
                                          <p:spTgt spid="1872899">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87289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carbrake.wav"/>
                                        </p:tgtEl>
                                      </p:cMediaNode>
                                    </p:audio>
                                  </p:subTnLst>
                                </p:cTn>
                              </p:par>
                              <p:par>
                                <p:cTn id="13" presetID="2" presetClass="entr" presetSubtype="2" fill="hold" grpId="0" nodeType="withEffect">
                                  <p:stCondLst>
                                    <p:cond delay="0"/>
                                  </p:stCondLst>
                                  <p:childTnLst>
                                    <p:set>
                                      <p:cBhvr>
                                        <p:cTn id="14" dur="1" fill="hold">
                                          <p:stCondLst>
                                            <p:cond delay="0"/>
                                          </p:stCondLst>
                                        </p:cTn>
                                        <p:tgtEl>
                                          <p:spTgt spid="1872899">
                                            <p:txEl>
                                              <p:pRg st="2" end="2"/>
                                            </p:txEl>
                                          </p:spTgt>
                                        </p:tgtEl>
                                        <p:attrNameLst>
                                          <p:attrName>style.visibility</p:attrName>
                                        </p:attrNameLst>
                                      </p:cBhvr>
                                      <p:to>
                                        <p:strVal val="visible"/>
                                      </p:to>
                                    </p:set>
                                    <p:anim calcmode="lin" valueType="num">
                                      <p:cBhvr additive="base">
                                        <p:cTn id="15" dur="500" fill="hold"/>
                                        <p:tgtEl>
                                          <p:spTgt spid="1872899">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87289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carbrake.wav"/>
                                        </p:tgtEl>
                                      </p:cMediaNode>
                                    </p:audio>
                                  </p:sub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1872899">
                                            <p:txEl>
                                              <p:pRg st="3" end="3"/>
                                            </p:txEl>
                                          </p:spTgt>
                                        </p:tgtEl>
                                        <p:attrNameLst>
                                          <p:attrName>style.visibility</p:attrName>
                                        </p:attrNameLst>
                                      </p:cBhvr>
                                      <p:to>
                                        <p:strVal val="visible"/>
                                      </p:to>
                                    </p:set>
                                    <p:anim calcmode="lin" valueType="num">
                                      <p:cBhvr additive="base">
                                        <p:cTn id="21" dur="500" fill="hold"/>
                                        <p:tgtEl>
                                          <p:spTgt spid="1872899">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872899">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2" name="carbrake.wav"/>
                                        </p:tgtEl>
                                      </p:cMediaNode>
                                    </p:audio>
                                  </p:subTnLst>
                                </p:cTn>
                              </p:par>
                              <p:par>
                                <p:cTn id="23" presetID="2" presetClass="entr" presetSubtype="2" fill="hold" grpId="0" nodeType="withEffect">
                                  <p:stCondLst>
                                    <p:cond delay="0"/>
                                  </p:stCondLst>
                                  <p:childTnLst>
                                    <p:set>
                                      <p:cBhvr>
                                        <p:cTn id="24" dur="1" fill="hold">
                                          <p:stCondLst>
                                            <p:cond delay="0"/>
                                          </p:stCondLst>
                                        </p:cTn>
                                        <p:tgtEl>
                                          <p:spTgt spid="1872899">
                                            <p:txEl>
                                              <p:pRg st="4" end="4"/>
                                            </p:txEl>
                                          </p:spTgt>
                                        </p:tgtEl>
                                        <p:attrNameLst>
                                          <p:attrName>style.visibility</p:attrName>
                                        </p:attrNameLst>
                                      </p:cBhvr>
                                      <p:to>
                                        <p:strVal val="visible"/>
                                      </p:to>
                                    </p:set>
                                    <p:anim calcmode="lin" valueType="num">
                                      <p:cBhvr additive="base">
                                        <p:cTn id="25" dur="500" fill="hold"/>
                                        <p:tgtEl>
                                          <p:spTgt spid="1872899">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72899">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rbrake.wav"/>
                                        </p:tgtEl>
                                      </p:cMediaNode>
                                    </p:audio>
                                  </p:subTnLst>
                                </p:cTn>
                              </p:par>
                              <p:par>
                                <p:cTn id="27" presetID="2" presetClass="entr" presetSubtype="2" fill="hold" grpId="0" nodeType="withEffect">
                                  <p:stCondLst>
                                    <p:cond delay="0"/>
                                  </p:stCondLst>
                                  <p:childTnLst>
                                    <p:set>
                                      <p:cBhvr>
                                        <p:cTn id="28" dur="1" fill="hold">
                                          <p:stCondLst>
                                            <p:cond delay="0"/>
                                          </p:stCondLst>
                                        </p:cTn>
                                        <p:tgtEl>
                                          <p:spTgt spid="1872899">
                                            <p:txEl>
                                              <p:pRg st="5" end="5"/>
                                            </p:txEl>
                                          </p:spTgt>
                                        </p:tgtEl>
                                        <p:attrNameLst>
                                          <p:attrName>style.visibility</p:attrName>
                                        </p:attrNameLst>
                                      </p:cBhvr>
                                      <p:to>
                                        <p:strVal val="visible"/>
                                      </p:to>
                                    </p:set>
                                    <p:anim calcmode="lin" valueType="num">
                                      <p:cBhvr additive="base">
                                        <p:cTn id="29" dur="500" fill="hold"/>
                                        <p:tgtEl>
                                          <p:spTgt spid="1872899">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872899">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2899" grpId="0" build="p" autoUpdateAnimBg="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22" name="Rectangle 2"/>
          <p:cNvSpPr>
            <a:spLocks noGrp="1" noChangeArrowheads="1"/>
          </p:cNvSpPr>
          <p:nvPr>
            <p:ph type="title"/>
          </p:nvPr>
        </p:nvSpPr>
        <p:spPr bwMode="auto">
          <a:xfrm>
            <a:off x="2159000" y="190500"/>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a:r>
              <a:rPr lang="en-US" altLang="zh-CN"/>
              <a:t>Dijkstra </a:t>
            </a:r>
            <a:r>
              <a:rPr lang="zh-CN" altLang="en-US"/>
              <a:t>算法</a:t>
            </a:r>
            <a:endParaRPr lang="zh-CN" altLang="en-US" sz="2800" b="1">
              <a:solidFill>
                <a:srgbClr val="063DE9"/>
              </a:solidFill>
              <a:latin typeface="Times New Roman" panose="02020603050405020304" pitchFamily="18" charset="0"/>
            </a:endParaRPr>
          </a:p>
        </p:txBody>
      </p:sp>
      <p:sp>
        <p:nvSpPr>
          <p:cNvPr id="1873923" name="Text Box 3"/>
          <p:cNvSpPr txBox="1">
            <a:spLocks noChangeArrowheads="1"/>
          </p:cNvSpPr>
          <p:nvPr/>
        </p:nvSpPr>
        <p:spPr bwMode="auto">
          <a:xfrm>
            <a:off x="635000" y="1778000"/>
            <a:ext cx="108966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95263" indent="-195263">
              <a:defRPr kumimoji="1" sz="2400">
                <a:solidFill>
                  <a:schemeClr val="tx1"/>
                </a:solidFill>
                <a:latin typeface="Times New Roman" panose="02020603050405020304" pitchFamily="18" charset="0"/>
                <a:ea typeface="宋体" panose="02010600030101010101" pitchFamily="2" charset="-122"/>
              </a:defRPr>
            </a:lvl1pPr>
            <a:lvl2pPr marL="658813" indent="-201613">
              <a:defRPr kumimoji="1" sz="2400">
                <a:solidFill>
                  <a:schemeClr val="tx1"/>
                </a:solidFill>
                <a:latin typeface="Times New Roman" panose="02020603050405020304" pitchFamily="18" charset="0"/>
                <a:ea typeface="宋体" panose="02010600030101010101" pitchFamily="2" charset="-122"/>
              </a:defRPr>
            </a:lvl2pPr>
            <a:lvl3pPr marL="1147763" indent="-233363">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buFontTx/>
              <a:buChar char="•"/>
            </a:pPr>
            <a:r>
              <a:rPr lang="zh-CN" altLang="en-US"/>
              <a:t>首先把起点到所有点的距离存下来找个最短的，然后松弛一次再找出最短的，所谓的松弛操作就是，遍历一遍看通过刚刚找到的距离最短的点作为中转站会不会更近，如果更近了就更新距离，这样把所有的点找遍之后就存下了起点到其他所有点的最短距离。</a:t>
            </a:r>
            <a:endParaRPr kumimoji="0" lang="zh-CN" altLang="en-US" sz="2800">
              <a:latin typeface="Arial" panose="020B0604020202020204" pitchFamily="34" charset="0"/>
            </a:endParaRPr>
          </a:p>
        </p:txBody>
      </p:sp>
    </p:spTree>
    <p:extLst>
      <p:ext uri="{BB962C8B-B14F-4D97-AF65-F5344CB8AC3E}">
        <p14:creationId xmlns:p14="http://schemas.microsoft.com/office/powerpoint/2010/main" val="3031206324"/>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73923">
                                            <p:txEl>
                                              <p:pRg st="0" end="0"/>
                                            </p:txEl>
                                          </p:spTgt>
                                        </p:tgtEl>
                                        <p:attrNameLst>
                                          <p:attrName>style.visibility</p:attrName>
                                        </p:attrNameLst>
                                      </p:cBhvr>
                                      <p:to>
                                        <p:strVal val="visible"/>
                                      </p:to>
                                    </p:set>
                                    <p:anim calcmode="lin" valueType="num">
                                      <p:cBhvr additive="base">
                                        <p:cTn id="7" dur="500" fill="hold"/>
                                        <p:tgtEl>
                                          <p:spTgt spid="187392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7392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23" grpId="0" build="p" autoUpdateAnimBg="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4946" name="Rectangle 2050"/>
          <p:cNvSpPr>
            <a:spLocks noGrp="1" noChangeArrowheads="1"/>
          </p:cNvSpPr>
          <p:nvPr>
            <p:ph type="title"/>
          </p:nvPr>
        </p:nvSpPr>
        <p:spPr bwMode="auto">
          <a:xfrm>
            <a:off x="2209800" y="203200"/>
            <a:ext cx="7772400" cy="7112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a:r>
              <a:rPr lang="en-US" altLang="zh-CN"/>
              <a:t>Dijkstra: </a:t>
            </a:r>
            <a:r>
              <a:rPr lang="zh-CN" altLang="en-US"/>
              <a:t>初始化</a:t>
            </a:r>
          </a:p>
        </p:txBody>
      </p:sp>
      <p:sp>
        <p:nvSpPr>
          <p:cNvPr id="1874947" name="Text Box 2051"/>
          <p:cNvSpPr txBox="1">
            <a:spLocks noChangeArrowheads="1"/>
          </p:cNvSpPr>
          <p:nvPr/>
        </p:nvSpPr>
        <p:spPr bwMode="auto">
          <a:xfrm>
            <a:off x="609600" y="1409700"/>
            <a:ext cx="11201400"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95263" indent="-195263">
              <a:defRPr kumimoji="1" sz="2400">
                <a:solidFill>
                  <a:schemeClr val="tx1"/>
                </a:solidFill>
                <a:latin typeface="Times New Roman" panose="02020603050405020304" pitchFamily="18" charset="0"/>
                <a:ea typeface="宋体" panose="02010600030101010101" pitchFamily="2" charset="-122"/>
              </a:defRPr>
            </a:lvl1pPr>
            <a:lvl2pPr marL="658813" indent="-201613">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20000"/>
              </a:spcBef>
              <a:buClr>
                <a:schemeClr val="folHlink"/>
              </a:buClr>
              <a:buSzPct val="75000"/>
              <a:buFont typeface="Monotype Sorts" pitchFamily="2" charset="2"/>
              <a:buChar char="q"/>
            </a:pPr>
            <a:r>
              <a:rPr lang="zh-CN" altLang="en-US"/>
              <a:t>指定一个点（源点）到其余各个顶点的最短路径，也叫做“单源最短路径”。例如求下图中的</a:t>
            </a:r>
            <a:r>
              <a:rPr lang="en-US" altLang="zh-CN"/>
              <a:t>1</a:t>
            </a:r>
            <a:r>
              <a:rPr lang="zh-CN" altLang="en-US"/>
              <a:t>号顶点到</a:t>
            </a:r>
            <a:r>
              <a:rPr lang="en-US" altLang="zh-CN"/>
              <a:t>2</a:t>
            </a:r>
            <a:r>
              <a:rPr lang="zh-CN" altLang="en-US"/>
              <a:t>、</a:t>
            </a:r>
            <a:r>
              <a:rPr lang="en-US" altLang="zh-CN"/>
              <a:t>3</a:t>
            </a:r>
            <a:r>
              <a:rPr lang="zh-CN" altLang="en-US"/>
              <a:t>、</a:t>
            </a:r>
            <a:r>
              <a:rPr lang="en-US" altLang="zh-CN"/>
              <a:t>4</a:t>
            </a:r>
            <a:r>
              <a:rPr lang="zh-CN" altLang="en-US"/>
              <a:t>、</a:t>
            </a:r>
            <a:r>
              <a:rPr lang="en-US" altLang="zh-CN"/>
              <a:t>5</a:t>
            </a:r>
            <a:r>
              <a:rPr lang="zh-CN" altLang="en-US"/>
              <a:t>、</a:t>
            </a:r>
            <a:r>
              <a:rPr lang="en-US" altLang="zh-CN"/>
              <a:t>6</a:t>
            </a:r>
            <a:r>
              <a:rPr lang="zh-CN" altLang="en-US"/>
              <a:t>号顶点的最短路径</a:t>
            </a:r>
            <a:endParaRPr kumimoji="0" lang="zh-CN" altLang="en-US" b="1">
              <a:latin typeface="Arial" panose="020B0604020202020204" pitchFamily="34" charset="0"/>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7024" y="2293809"/>
            <a:ext cx="6370876" cy="3425012"/>
          </a:xfrm>
          <a:prstGeom prst="rect">
            <a:avLst/>
          </a:prstGeom>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38924" y="2903441"/>
            <a:ext cx="2514951" cy="1381318"/>
          </a:xfrm>
          <a:prstGeom prst="rect">
            <a:avLst/>
          </a:prstGeom>
        </p:spPr>
      </p:pic>
    </p:spTree>
    <p:extLst>
      <p:ext uri="{BB962C8B-B14F-4D97-AF65-F5344CB8AC3E}">
        <p14:creationId xmlns:p14="http://schemas.microsoft.com/office/powerpoint/2010/main" val="4282032223"/>
      </p:ext>
    </p:extLst>
  </p:cSld>
  <p:clrMapOvr>
    <a:masterClrMapping/>
  </p:clrMapOvr>
  <p:transition spd="med">
    <p:random/>
  </p:transition>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5970" name="Rectangle 2"/>
          <p:cNvSpPr>
            <a:spLocks noGrp="1" noChangeArrowheads="1"/>
          </p:cNvSpPr>
          <p:nvPr>
            <p:ph type="title"/>
          </p:nvPr>
        </p:nvSpPr>
        <p:spPr bwMode="auto">
          <a:xfrm>
            <a:off x="2241550" y="279400"/>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a:r>
              <a:rPr lang="en-US" altLang="zh-CN"/>
              <a:t>Dijkstra: </a:t>
            </a:r>
            <a:r>
              <a:rPr lang="zh-CN" altLang="en-US"/>
              <a:t>迭代</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822" y="1679611"/>
            <a:ext cx="2514951" cy="1381318"/>
          </a:xfrm>
          <a:prstGeom prst="rect">
            <a:avLst/>
          </a:prstGeom>
        </p:spPr>
      </p:pic>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76516" y="1251106"/>
            <a:ext cx="3357739" cy="3001615"/>
          </a:xfrm>
          <a:prstGeom prst="rect">
            <a:avLst/>
          </a:prstGeom>
        </p:spPr>
      </p:pic>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46948" y="1751824"/>
            <a:ext cx="2534004" cy="1733792"/>
          </a:xfrm>
          <a:prstGeom prst="rect">
            <a:avLst/>
          </a:prstGeom>
        </p:spPr>
      </p:pic>
      <p:pic>
        <p:nvPicPr>
          <p:cNvPr id="5" name="图片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6623" y="4527823"/>
            <a:ext cx="3419952" cy="1886213"/>
          </a:xfrm>
          <a:prstGeom prst="rect">
            <a:avLst/>
          </a:prstGeom>
        </p:spPr>
      </p:pic>
      <p:pic>
        <p:nvPicPr>
          <p:cNvPr id="6" name="图片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33867" y="4592738"/>
            <a:ext cx="5011392" cy="1263377"/>
          </a:xfrm>
          <a:prstGeom prst="rect">
            <a:avLst/>
          </a:prstGeom>
        </p:spPr>
      </p:pic>
    </p:spTree>
    <p:extLst>
      <p:ext uri="{BB962C8B-B14F-4D97-AF65-F5344CB8AC3E}">
        <p14:creationId xmlns:p14="http://schemas.microsoft.com/office/powerpoint/2010/main" val="22926605"/>
      </p:ext>
    </p:extLst>
  </p:cSld>
  <p:clrMapOvr>
    <a:masterClrMapping/>
  </p:clrMapOvr>
  <p:transition spd="med">
    <p:random/>
  </p:transition>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6994" name="Rectangle 1026"/>
          <p:cNvSpPr>
            <a:spLocks noGrp="1" noChangeArrowheads="1"/>
          </p:cNvSpPr>
          <p:nvPr>
            <p:ph type="title"/>
          </p:nvPr>
        </p:nvSpPr>
        <p:spPr bwMode="auto">
          <a:xfrm>
            <a:off x="2171700" y="190500"/>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a:r>
              <a:rPr lang="en-US" altLang="zh-CN"/>
              <a:t>Dijsktra</a:t>
            </a:r>
            <a:r>
              <a:rPr lang="en-US" altLang="zh-CN">
                <a:latin typeface="Arial" panose="020B0604020202020204" pitchFamily="34" charset="0"/>
              </a:rPr>
              <a:t>’</a:t>
            </a:r>
            <a:r>
              <a:rPr lang="en-US" altLang="zh-CN"/>
              <a:t>s </a:t>
            </a:r>
            <a:r>
              <a:rPr lang="zh-CN" altLang="en-US"/>
              <a:t>算法</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9912" y="1333500"/>
            <a:ext cx="5895975" cy="4838700"/>
          </a:xfrm>
          <a:prstGeom prst="rect">
            <a:avLst/>
          </a:prstGeom>
        </p:spPr>
      </p:pic>
    </p:spTree>
    <p:extLst>
      <p:ext uri="{BB962C8B-B14F-4D97-AF65-F5344CB8AC3E}">
        <p14:creationId xmlns:p14="http://schemas.microsoft.com/office/powerpoint/2010/main" val="443975964"/>
      </p:ext>
    </p:extLst>
  </p:cSld>
  <p:clrMapOvr>
    <a:masterClrMapping/>
  </p:clrMapOvr>
  <p:transition spd="med">
    <p:random/>
  </p:transition>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5">
            <a:extLst>
              <a:ext uri="{FF2B5EF4-FFF2-40B4-BE49-F238E27FC236}">
                <a16:creationId xmlns:a16="http://schemas.microsoft.com/office/drawing/2014/main" id="{9BCABA7A-6ADA-463F-8454-3AD15534CC59}"/>
              </a:ext>
            </a:extLst>
          </p:cNvPr>
          <p:cNvGrpSpPr>
            <a:grpSpLocks/>
          </p:cNvGrpSpPr>
          <p:nvPr/>
        </p:nvGrpSpPr>
        <p:grpSpPr bwMode="auto">
          <a:xfrm>
            <a:off x="321468" y="1380171"/>
            <a:ext cx="4867900" cy="3048953"/>
            <a:chOff x="1775" y="922"/>
            <a:chExt cx="2771" cy="940"/>
          </a:xfrm>
        </p:grpSpPr>
        <p:grpSp>
          <p:nvGrpSpPr>
            <p:cNvPr id="6148" name="Group 6">
              <a:extLst>
                <a:ext uri="{FF2B5EF4-FFF2-40B4-BE49-F238E27FC236}">
                  <a16:creationId xmlns:a16="http://schemas.microsoft.com/office/drawing/2014/main" id="{FE361C23-D415-4A87-8DEB-208D9D2FCDA5}"/>
                </a:ext>
              </a:extLst>
            </p:cNvPr>
            <p:cNvGrpSpPr>
              <a:grpSpLocks/>
            </p:cNvGrpSpPr>
            <p:nvPr/>
          </p:nvGrpSpPr>
          <p:grpSpPr bwMode="auto">
            <a:xfrm>
              <a:off x="1775" y="922"/>
              <a:ext cx="2666" cy="940"/>
              <a:chOff x="1200" y="194"/>
              <a:chExt cx="3121" cy="1439"/>
            </a:xfrm>
          </p:grpSpPr>
          <p:sp>
            <p:nvSpPr>
              <p:cNvPr id="6150" name="Freeform 7">
                <a:extLst>
                  <a:ext uri="{FF2B5EF4-FFF2-40B4-BE49-F238E27FC236}">
                    <a16:creationId xmlns:a16="http://schemas.microsoft.com/office/drawing/2014/main" id="{986B089A-9EBD-4FFF-A4D2-09229D489B69}"/>
                  </a:ext>
                </a:extLst>
              </p:cNvPr>
              <p:cNvSpPr>
                <a:spLocks/>
              </p:cNvSpPr>
              <p:nvPr/>
            </p:nvSpPr>
            <p:spPr bwMode="auto">
              <a:xfrm>
                <a:off x="2519" y="486"/>
                <a:ext cx="1802" cy="1141"/>
              </a:xfrm>
              <a:custGeom>
                <a:avLst/>
                <a:gdLst>
                  <a:gd name="T0" fmla="*/ 22 w 1802"/>
                  <a:gd name="T1" fmla="*/ 88 h 1141"/>
                  <a:gd name="T2" fmla="*/ 0 w 1802"/>
                  <a:gd name="T3" fmla="*/ 119 h 1141"/>
                  <a:gd name="T4" fmla="*/ 25 w 1802"/>
                  <a:gd name="T5" fmla="*/ 176 h 1141"/>
                  <a:gd name="T6" fmla="*/ 45 w 1802"/>
                  <a:gd name="T7" fmla="*/ 384 h 1141"/>
                  <a:gd name="T8" fmla="*/ 45 w 1802"/>
                  <a:gd name="T9" fmla="*/ 537 h 1141"/>
                  <a:gd name="T10" fmla="*/ 40 w 1802"/>
                  <a:gd name="T11" fmla="*/ 734 h 1141"/>
                  <a:gd name="T12" fmla="*/ 22 w 1802"/>
                  <a:gd name="T13" fmla="*/ 975 h 1141"/>
                  <a:gd name="T14" fmla="*/ 0 w 1802"/>
                  <a:gd name="T15" fmla="*/ 1113 h 1141"/>
                  <a:gd name="T16" fmla="*/ 412 w 1802"/>
                  <a:gd name="T17" fmla="*/ 1133 h 1141"/>
                  <a:gd name="T18" fmla="*/ 616 w 1802"/>
                  <a:gd name="T19" fmla="*/ 1140 h 1141"/>
                  <a:gd name="T20" fmla="*/ 1063 w 1802"/>
                  <a:gd name="T21" fmla="*/ 1140 h 1141"/>
                  <a:gd name="T22" fmla="*/ 1403 w 1802"/>
                  <a:gd name="T23" fmla="*/ 1133 h 1141"/>
                  <a:gd name="T24" fmla="*/ 1680 w 1802"/>
                  <a:gd name="T25" fmla="*/ 1120 h 1141"/>
                  <a:gd name="T26" fmla="*/ 1801 w 1802"/>
                  <a:gd name="T27" fmla="*/ 1113 h 1141"/>
                  <a:gd name="T28" fmla="*/ 1758 w 1802"/>
                  <a:gd name="T29" fmla="*/ 941 h 1141"/>
                  <a:gd name="T30" fmla="*/ 1733 w 1802"/>
                  <a:gd name="T31" fmla="*/ 759 h 1141"/>
                  <a:gd name="T32" fmla="*/ 1718 w 1802"/>
                  <a:gd name="T33" fmla="*/ 530 h 1141"/>
                  <a:gd name="T34" fmla="*/ 1724 w 1802"/>
                  <a:gd name="T35" fmla="*/ 389 h 1141"/>
                  <a:gd name="T36" fmla="*/ 1751 w 1802"/>
                  <a:gd name="T37" fmla="*/ 276 h 1141"/>
                  <a:gd name="T38" fmla="*/ 1769 w 1802"/>
                  <a:gd name="T39" fmla="*/ 168 h 1141"/>
                  <a:gd name="T40" fmla="*/ 1769 w 1802"/>
                  <a:gd name="T41" fmla="*/ 131 h 1141"/>
                  <a:gd name="T42" fmla="*/ 1751 w 1802"/>
                  <a:gd name="T43" fmla="*/ 116 h 1141"/>
                  <a:gd name="T44" fmla="*/ 1421 w 1802"/>
                  <a:gd name="T45" fmla="*/ 46 h 1141"/>
                  <a:gd name="T46" fmla="*/ 1228 w 1802"/>
                  <a:gd name="T47" fmla="*/ 15 h 1141"/>
                  <a:gd name="T48" fmla="*/ 1126 w 1802"/>
                  <a:gd name="T49" fmla="*/ 3 h 1141"/>
                  <a:gd name="T50" fmla="*/ 1023 w 1802"/>
                  <a:gd name="T51" fmla="*/ 0 h 1141"/>
                  <a:gd name="T52" fmla="*/ 702 w 1802"/>
                  <a:gd name="T53" fmla="*/ 3 h 1141"/>
                  <a:gd name="T54" fmla="*/ 522 w 1802"/>
                  <a:gd name="T55" fmla="*/ 23 h 1141"/>
                  <a:gd name="T56" fmla="*/ 328 w 1802"/>
                  <a:gd name="T57" fmla="*/ 42 h 1141"/>
                  <a:gd name="T58" fmla="*/ 97 w 1802"/>
                  <a:gd name="T59" fmla="*/ 77 h 1141"/>
                  <a:gd name="T60" fmla="*/ 22 w 1802"/>
                  <a:gd name="T61" fmla="*/ 88 h 114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802" h="1141">
                    <a:moveTo>
                      <a:pt x="22" y="88"/>
                    </a:moveTo>
                    <a:lnTo>
                      <a:pt x="0" y="119"/>
                    </a:lnTo>
                    <a:lnTo>
                      <a:pt x="25" y="176"/>
                    </a:lnTo>
                    <a:lnTo>
                      <a:pt x="45" y="384"/>
                    </a:lnTo>
                    <a:lnTo>
                      <a:pt x="45" y="537"/>
                    </a:lnTo>
                    <a:lnTo>
                      <a:pt x="40" y="734"/>
                    </a:lnTo>
                    <a:lnTo>
                      <a:pt x="22" y="975"/>
                    </a:lnTo>
                    <a:lnTo>
                      <a:pt x="0" y="1113"/>
                    </a:lnTo>
                    <a:lnTo>
                      <a:pt x="412" y="1133"/>
                    </a:lnTo>
                    <a:lnTo>
                      <a:pt x="616" y="1140"/>
                    </a:lnTo>
                    <a:lnTo>
                      <a:pt x="1063" y="1140"/>
                    </a:lnTo>
                    <a:lnTo>
                      <a:pt x="1403" y="1133"/>
                    </a:lnTo>
                    <a:lnTo>
                      <a:pt x="1680" y="1120"/>
                    </a:lnTo>
                    <a:lnTo>
                      <a:pt x="1801" y="1113"/>
                    </a:lnTo>
                    <a:lnTo>
                      <a:pt x="1758" y="941"/>
                    </a:lnTo>
                    <a:lnTo>
                      <a:pt x="1733" y="759"/>
                    </a:lnTo>
                    <a:lnTo>
                      <a:pt x="1718" y="530"/>
                    </a:lnTo>
                    <a:lnTo>
                      <a:pt x="1724" y="389"/>
                    </a:lnTo>
                    <a:lnTo>
                      <a:pt x="1751" y="276"/>
                    </a:lnTo>
                    <a:lnTo>
                      <a:pt x="1769" y="168"/>
                    </a:lnTo>
                    <a:lnTo>
                      <a:pt x="1769" y="131"/>
                    </a:lnTo>
                    <a:lnTo>
                      <a:pt x="1751" y="116"/>
                    </a:lnTo>
                    <a:lnTo>
                      <a:pt x="1421" y="46"/>
                    </a:lnTo>
                    <a:lnTo>
                      <a:pt x="1228" y="15"/>
                    </a:lnTo>
                    <a:lnTo>
                      <a:pt x="1126" y="3"/>
                    </a:lnTo>
                    <a:lnTo>
                      <a:pt x="1023" y="0"/>
                    </a:lnTo>
                    <a:lnTo>
                      <a:pt x="702" y="3"/>
                    </a:lnTo>
                    <a:lnTo>
                      <a:pt x="522" y="23"/>
                    </a:lnTo>
                    <a:lnTo>
                      <a:pt x="328" y="42"/>
                    </a:lnTo>
                    <a:lnTo>
                      <a:pt x="97" y="77"/>
                    </a:lnTo>
                    <a:lnTo>
                      <a:pt x="22" y="88"/>
                    </a:lnTo>
                  </a:path>
                </a:pathLst>
              </a:custGeom>
              <a:solidFill>
                <a:srgbClr val="FFFFFF"/>
              </a:solidFill>
              <a:ln w="12700" cap="rnd" cmpd="sng">
                <a:solidFill>
                  <a:srgbClr val="FFFF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1" name="Freeform 8">
                <a:extLst>
                  <a:ext uri="{FF2B5EF4-FFF2-40B4-BE49-F238E27FC236}">
                    <a16:creationId xmlns:a16="http://schemas.microsoft.com/office/drawing/2014/main" id="{A09F87D8-A491-498E-BF94-AAAEE7538284}"/>
                  </a:ext>
                </a:extLst>
              </p:cNvPr>
              <p:cNvSpPr>
                <a:spLocks/>
              </p:cNvSpPr>
              <p:nvPr/>
            </p:nvSpPr>
            <p:spPr bwMode="auto">
              <a:xfrm>
                <a:off x="1216" y="598"/>
                <a:ext cx="1797" cy="1032"/>
              </a:xfrm>
              <a:custGeom>
                <a:avLst/>
                <a:gdLst>
                  <a:gd name="T0" fmla="*/ 1256 w 1797"/>
                  <a:gd name="T1" fmla="*/ 0 h 1032"/>
                  <a:gd name="T2" fmla="*/ 1308 w 1797"/>
                  <a:gd name="T3" fmla="*/ 4 h 1032"/>
                  <a:gd name="T4" fmla="*/ 1338 w 1797"/>
                  <a:gd name="T5" fmla="*/ 55 h 1032"/>
                  <a:gd name="T6" fmla="*/ 1349 w 1797"/>
                  <a:gd name="T7" fmla="*/ 195 h 1032"/>
                  <a:gd name="T8" fmla="*/ 1356 w 1797"/>
                  <a:gd name="T9" fmla="*/ 397 h 1032"/>
                  <a:gd name="T10" fmla="*/ 1344 w 1797"/>
                  <a:gd name="T11" fmla="*/ 581 h 1032"/>
                  <a:gd name="T12" fmla="*/ 1338 w 1797"/>
                  <a:gd name="T13" fmla="*/ 811 h 1032"/>
                  <a:gd name="T14" fmla="*/ 1315 w 1797"/>
                  <a:gd name="T15" fmla="*/ 943 h 1032"/>
                  <a:gd name="T16" fmla="*/ 1308 w 1797"/>
                  <a:gd name="T17" fmla="*/ 1008 h 1032"/>
                  <a:gd name="T18" fmla="*/ 1796 w 1797"/>
                  <a:gd name="T19" fmla="*/ 1031 h 1032"/>
                  <a:gd name="T20" fmla="*/ 647 w 1797"/>
                  <a:gd name="T21" fmla="*/ 1031 h 1032"/>
                  <a:gd name="T22" fmla="*/ 670 w 1797"/>
                  <a:gd name="T23" fmla="*/ 984 h 1032"/>
                  <a:gd name="T24" fmla="*/ 681 w 1797"/>
                  <a:gd name="T25" fmla="*/ 923 h 1032"/>
                  <a:gd name="T26" fmla="*/ 495 w 1797"/>
                  <a:gd name="T27" fmla="*/ 908 h 1032"/>
                  <a:gd name="T28" fmla="*/ 434 w 1797"/>
                  <a:gd name="T29" fmla="*/ 864 h 1032"/>
                  <a:gd name="T30" fmla="*/ 495 w 1797"/>
                  <a:gd name="T31" fmla="*/ 793 h 1032"/>
                  <a:gd name="T32" fmla="*/ 499 w 1797"/>
                  <a:gd name="T33" fmla="*/ 722 h 1032"/>
                  <a:gd name="T34" fmla="*/ 121 w 1797"/>
                  <a:gd name="T35" fmla="*/ 674 h 1032"/>
                  <a:gd name="T36" fmla="*/ 0 w 1797"/>
                  <a:gd name="T37" fmla="*/ 573 h 1032"/>
                  <a:gd name="T38" fmla="*/ 0 w 1797"/>
                  <a:gd name="T39" fmla="*/ 516 h 1032"/>
                  <a:gd name="T40" fmla="*/ 49 w 1797"/>
                  <a:gd name="T41" fmla="*/ 491 h 1032"/>
                  <a:gd name="T42" fmla="*/ 29 w 1797"/>
                  <a:gd name="T43" fmla="*/ 473 h 1032"/>
                  <a:gd name="T44" fmla="*/ 128 w 1797"/>
                  <a:gd name="T45" fmla="*/ 375 h 1032"/>
                  <a:gd name="T46" fmla="*/ 72 w 1797"/>
                  <a:gd name="T47" fmla="*/ 277 h 1032"/>
                  <a:gd name="T48" fmla="*/ 113 w 1797"/>
                  <a:gd name="T49" fmla="*/ 205 h 1032"/>
                  <a:gd name="T50" fmla="*/ 168 w 1797"/>
                  <a:gd name="T51" fmla="*/ 192 h 1032"/>
                  <a:gd name="T52" fmla="*/ 193 w 1797"/>
                  <a:gd name="T53" fmla="*/ 156 h 1032"/>
                  <a:gd name="T54" fmla="*/ 308 w 1797"/>
                  <a:gd name="T55" fmla="*/ 138 h 1032"/>
                  <a:gd name="T56" fmla="*/ 488 w 1797"/>
                  <a:gd name="T57" fmla="*/ 68 h 1032"/>
                  <a:gd name="T58" fmla="*/ 712 w 1797"/>
                  <a:gd name="T59" fmla="*/ 30 h 1032"/>
                  <a:gd name="T60" fmla="*/ 1256 w 1797"/>
                  <a:gd name="T61" fmla="*/ 0 h 103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797" h="1032">
                    <a:moveTo>
                      <a:pt x="1256" y="0"/>
                    </a:moveTo>
                    <a:lnTo>
                      <a:pt x="1308" y="4"/>
                    </a:lnTo>
                    <a:lnTo>
                      <a:pt x="1338" y="55"/>
                    </a:lnTo>
                    <a:lnTo>
                      <a:pt x="1349" y="195"/>
                    </a:lnTo>
                    <a:lnTo>
                      <a:pt x="1356" y="397"/>
                    </a:lnTo>
                    <a:lnTo>
                      <a:pt x="1344" y="581"/>
                    </a:lnTo>
                    <a:lnTo>
                      <a:pt x="1338" y="811"/>
                    </a:lnTo>
                    <a:lnTo>
                      <a:pt x="1315" y="943"/>
                    </a:lnTo>
                    <a:lnTo>
                      <a:pt x="1308" y="1008"/>
                    </a:lnTo>
                    <a:lnTo>
                      <a:pt x="1796" y="1031"/>
                    </a:lnTo>
                    <a:lnTo>
                      <a:pt x="647" y="1031"/>
                    </a:lnTo>
                    <a:lnTo>
                      <a:pt x="670" y="984"/>
                    </a:lnTo>
                    <a:lnTo>
                      <a:pt x="681" y="923"/>
                    </a:lnTo>
                    <a:lnTo>
                      <a:pt x="495" y="908"/>
                    </a:lnTo>
                    <a:lnTo>
                      <a:pt x="434" y="864"/>
                    </a:lnTo>
                    <a:lnTo>
                      <a:pt x="495" y="793"/>
                    </a:lnTo>
                    <a:lnTo>
                      <a:pt x="499" y="722"/>
                    </a:lnTo>
                    <a:lnTo>
                      <a:pt x="121" y="674"/>
                    </a:lnTo>
                    <a:lnTo>
                      <a:pt x="0" y="573"/>
                    </a:lnTo>
                    <a:lnTo>
                      <a:pt x="0" y="516"/>
                    </a:lnTo>
                    <a:lnTo>
                      <a:pt x="49" y="491"/>
                    </a:lnTo>
                    <a:lnTo>
                      <a:pt x="29" y="473"/>
                    </a:lnTo>
                    <a:lnTo>
                      <a:pt x="128" y="375"/>
                    </a:lnTo>
                    <a:lnTo>
                      <a:pt x="72" y="277"/>
                    </a:lnTo>
                    <a:lnTo>
                      <a:pt x="113" y="205"/>
                    </a:lnTo>
                    <a:lnTo>
                      <a:pt x="168" y="192"/>
                    </a:lnTo>
                    <a:lnTo>
                      <a:pt x="193" y="156"/>
                    </a:lnTo>
                    <a:lnTo>
                      <a:pt x="308" y="138"/>
                    </a:lnTo>
                    <a:lnTo>
                      <a:pt x="488" y="68"/>
                    </a:lnTo>
                    <a:lnTo>
                      <a:pt x="712" y="30"/>
                    </a:lnTo>
                    <a:lnTo>
                      <a:pt x="1256" y="0"/>
                    </a:lnTo>
                  </a:path>
                </a:pathLst>
              </a:custGeom>
              <a:solidFill>
                <a:srgbClr val="4C4C4C"/>
              </a:solidFill>
              <a:ln w="12700" cap="rnd" cmpd="sng">
                <a:solidFill>
                  <a:srgbClr val="4C4C4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2" name="Freeform 9">
                <a:extLst>
                  <a:ext uri="{FF2B5EF4-FFF2-40B4-BE49-F238E27FC236}">
                    <a16:creationId xmlns:a16="http://schemas.microsoft.com/office/drawing/2014/main" id="{75CC95C2-14C0-4D24-97F5-2F31FE399D48}"/>
                  </a:ext>
                </a:extLst>
              </p:cNvPr>
              <p:cNvSpPr>
                <a:spLocks/>
              </p:cNvSpPr>
              <p:nvPr/>
            </p:nvSpPr>
            <p:spPr bwMode="auto">
              <a:xfrm>
                <a:off x="1953" y="665"/>
                <a:ext cx="607" cy="364"/>
              </a:xfrm>
              <a:custGeom>
                <a:avLst/>
                <a:gdLst>
                  <a:gd name="T0" fmla="*/ 523 w 607"/>
                  <a:gd name="T1" fmla="*/ 0 h 364"/>
                  <a:gd name="T2" fmla="*/ 563 w 607"/>
                  <a:gd name="T3" fmla="*/ 32 h 364"/>
                  <a:gd name="T4" fmla="*/ 599 w 607"/>
                  <a:gd name="T5" fmla="*/ 87 h 364"/>
                  <a:gd name="T6" fmla="*/ 606 w 607"/>
                  <a:gd name="T7" fmla="*/ 243 h 364"/>
                  <a:gd name="T8" fmla="*/ 577 w 607"/>
                  <a:gd name="T9" fmla="*/ 281 h 364"/>
                  <a:gd name="T10" fmla="*/ 478 w 607"/>
                  <a:gd name="T11" fmla="*/ 363 h 364"/>
                  <a:gd name="T12" fmla="*/ 310 w 607"/>
                  <a:gd name="T13" fmla="*/ 320 h 364"/>
                  <a:gd name="T14" fmla="*/ 195 w 607"/>
                  <a:gd name="T15" fmla="*/ 271 h 364"/>
                  <a:gd name="T16" fmla="*/ 105 w 607"/>
                  <a:gd name="T17" fmla="*/ 197 h 364"/>
                  <a:gd name="T18" fmla="*/ 52 w 607"/>
                  <a:gd name="T19" fmla="*/ 146 h 364"/>
                  <a:gd name="T20" fmla="*/ 11 w 607"/>
                  <a:gd name="T21" fmla="*/ 77 h 364"/>
                  <a:gd name="T22" fmla="*/ 0 w 607"/>
                  <a:gd name="T23" fmla="*/ 37 h 364"/>
                  <a:gd name="T24" fmla="*/ 523 w 607"/>
                  <a:gd name="T25" fmla="*/ 0 h 36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07" h="364">
                    <a:moveTo>
                      <a:pt x="523" y="0"/>
                    </a:moveTo>
                    <a:lnTo>
                      <a:pt x="563" y="32"/>
                    </a:lnTo>
                    <a:lnTo>
                      <a:pt x="599" y="87"/>
                    </a:lnTo>
                    <a:lnTo>
                      <a:pt x="606" y="243"/>
                    </a:lnTo>
                    <a:lnTo>
                      <a:pt x="577" y="281"/>
                    </a:lnTo>
                    <a:lnTo>
                      <a:pt x="478" y="363"/>
                    </a:lnTo>
                    <a:lnTo>
                      <a:pt x="310" y="320"/>
                    </a:lnTo>
                    <a:lnTo>
                      <a:pt x="195" y="271"/>
                    </a:lnTo>
                    <a:lnTo>
                      <a:pt x="105" y="197"/>
                    </a:lnTo>
                    <a:lnTo>
                      <a:pt x="52" y="146"/>
                    </a:lnTo>
                    <a:lnTo>
                      <a:pt x="11" y="77"/>
                    </a:lnTo>
                    <a:lnTo>
                      <a:pt x="0" y="37"/>
                    </a:lnTo>
                    <a:lnTo>
                      <a:pt x="523" y="0"/>
                    </a:lnTo>
                  </a:path>
                </a:pathLst>
              </a:custGeom>
              <a:solidFill>
                <a:srgbClr val="FFFFFF"/>
              </a:solidFill>
              <a:ln w="12700" cap="rnd" cmpd="sng">
                <a:solidFill>
                  <a:srgbClr val="FFFF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3" name="Freeform 10">
                <a:extLst>
                  <a:ext uri="{FF2B5EF4-FFF2-40B4-BE49-F238E27FC236}">
                    <a16:creationId xmlns:a16="http://schemas.microsoft.com/office/drawing/2014/main" id="{E8478AE6-4C95-43B9-91C3-6C7BB2C2CEAE}"/>
                  </a:ext>
                </a:extLst>
              </p:cNvPr>
              <p:cNvSpPr>
                <a:spLocks/>
              </p:cNvSpPr>
              <p:nvPr/>
            </p:nvSpPr>
            <p:spPr bwMode="auto">
              <a:xfrm>
                <a:off x="2195" y="750"/>
                <a:ext cx="303" cy="284"/>
              </a:xfrm>
              <a:custGeom>
                <a:avLst/>
                <a:gdLst>
                  <a:gd name="T0" fmla="*/ 0 w 303"/>
                  <a:gd name="T1" fmla="*/ 16 h 284"/>
                  <a:gd name="T2" fmla="*/ 67 w 303"/>
                  <a:gd name="T3" fmla="*/ 0 h 284"/>
                  <a:gd name="T4" fmla="*/ 153 w 303"/>
                  <a:gd name="T5" fmla="*/ 5 h 284"/>
                  <a:gd name="T6" fmla="*/ 144 w 303"/>
                  <a:gd name="T7" fmla="*/ 81 h 284"/>
                  <a:gd name="T8" fmla="*/ 302 w 303"/>
                  <a:gd name="T9" fmla="*/ 233 h 284"/>
                  <a:gd name="T10" fmla="*/ 230 w 303"/>
                  <a:gd name="T11" fmla="*/ 283 h 284"/>
                  <a:gd name="T12" fmla="*/ 124 w 303"/>
                  <a:gd name="T13" fmla="*/ 238 h 284"/>
                  <a:gd name="T14" fmla="*/ 108 w 303"/>
                  <a:gd name="T15" fmla="*/ 80 h 284"/>
                  <a:gd name="T16" fmla="*/ 83 w 303"/>
                  <a:gd name="T17" fmla="*/ 80 h 284"/>
                  <a:gd name="T18" fmla="*/ 16 w 303"/>
                  <a:gd name="T19" fmla="*/ 30 h 284"/>
                  <a:gd name="T20" fmla="*/ 0 w 303"/>
                  <a:gd name="T21" fmla="*/ 16 h 2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03" h="284">
                    <a:moveTo>
                      <a:pt x="0" y="16"/>
                    </a:moveTo>
                    <a:lnTo>
                      <a:pt x="67" y="0"/>
                    </a:lnTo>
                    <a:lnTo>
                      <a:pt x="153" y="5"/>
                    </a:lnTo>
                    <a:lnTo>
                      <a:pt x="144" y="81"/>
                    </a:lnTo>
                    <a:lnTo>
                      <a:pt x="302" y="233"/>
                    </a:lnTo>
                    <a:lnTo>
                      <a:pt x="230" y="283"/>
                    </a:lnTo>
                    <a:lnTo>
                      <a:pt x="124" y="238"/>
                    </a:lnTo>
                    <a:lnTo>
                      <a:pt x="108" y="80"/>
                    </a:lnTo>
                    <a:lnTo>
                      <a:pt x="83" y="80"/>
                    </a:lnTo>
                    <a:lnTo>
                      <a:pt x="16" y="30"/>
                    </a:lnTo>
                    <a:lnTo>
                      <a:pt x="0" y="16"/>
                    </a:lnTo>
                  </a:path>
                </a:pathLst>
              </a:custGeom>
              <a:solidFill>
                <a:srgbClr val="FFFF00"/>
              </a:solidFill>
              <a:ln w="12700" cap="rnd" cmpd="sng">
                <a:solidFill>
                  <a:srgbClr val="FFFF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4" name="Freeform 11">
                <a:extLst>
                  <a:ext uri="{FF2B5EF4-FFF2-40B4-BE49-F238E27FC236}">
                    <a16:creationId xmlns:a16="http://schemas.microsoft.com/office/drawing/2014/main" id="{7E09EDCD-56B3-4299-802C-00BEE54FAE8A}"/>
                  </a:ext>
                </a:extLst>
              </p:cNvPr>
              <p:cNvSpPr>
                <a:spLocks/>
              </p:cNvSpPr>
              <p:nvPr/>
            </p:nvSpPr>
            <p:spPr bwMode="auto">
              <a:xfrm>
                <a:off x="1833" y="962"/>
                <a:ext cx="700" cy="344"/>
              </a:xfrm>
              <a:custGeom>
                <a:avLst/>
                <a:gdLst>
                  <a:gd name="T0" fmla="*/ 213 w 700"/>
                  <a:gd name="T1" fmla="*/ 0 h 344"/>
                  <a:gd name="T2" fmla="*/ 247 w 700"/>
                  <a:gd name="T3" fmla="*/ 0 h 344"/>
                  <a:gd name="T4" fmla="*/ 304 w 700"/>
                  <a:gd name="T5" fmla="*/ 26 h 344"/>
                  <a:gd name="T6" fmla="*/ 315 w 700"/>
                  <a:gd name="T7" fmla="*/ 68 h 344"/>
                  <a:gd name="T8" fmla="*/ 286 w 700"/>
                  <a:gd name="T9" fmla="*/ 113 h 344"/>
                  <a:gd name="T10" fmla="*/ 286 w 700"/>
                  <a:gd name="T11" fmla="*/ 130 h 344"/>
                  <a:gd name="T12" fmla="*/ 315 w 700"/>
                  <a:gd name="T13" fmla="*/ 139 h 344"/>
                  <a:gd name="T14" fmla="*/ 636 w 700"/>
                  <a:gd name="T15" fmla="*/ 130 h 344"/>
                  <a:gd name="T16" fmla="*/ 699 w 700"/>
                  <a:gd name="T17" fmla="*/ 144 h 344"/>
                  <a:gd name="T18" fmla="*/ 699 w 700"/>
                  <a:gd name="T19" fmla="*/ 180 h 344"/>
                  <a:gd name="T20" fmla="*/ 670 w 700"/>
                  <a:gd name="T21" fmla="*/ 193 h 344"/>
                  <a:gd name="T22" fmla="*/ 490 w 700"/>
                  <a:gd name="T23" fmla="*/ 196 h 344"/>
                  <a:gd name="T24" fmla="*/ 382 w 700"/>
                  <a:gd name="T25" fmla="*/ 211 h 344"/>
                  <a:gd name="T26" fmla="*/ 359 w 700"/>
                  <a:gd name="T27" fmla="*/ 300 h 344"/>
                  <a:gd name="T28" fmla="*/ 312 w 700"/>
                  <a:gd name="T29" fmla="*/ 318 h 344"/>
                  <a:gd name="T30" fmla="*/ 301 w 700"/>
                  <a:gd name="T31" fmla="*/ 334 h 344"/>
                  <a:gd name="T32" fmla="*/ 256 w 700"/>
                  <a:gd name="T33" fmla="*/ 343 h 344"/>
                  <a:gd name="T34" fmla="*/ 139 w 700"/>
                  <a:gd name="T35" fmla="*/ 343 h 344"/>
                  <a:gd name="T36" fmla="*/ 20 w 700"/>
                  <a:gd name="T37" fmla="*/ 327 h 344"/>
                  <a:gd name="T38" fmla="*/ 0 w 700"/>
                  <a:gd name="T39" fmla="*/ 276 h 344"/>
                  <a:gd name="T40" fmla="*/ 16 w 700"/>
                  <a:gd name="T41" fmla="*/ 213 h 344"/>
                  <a:gd name="T42" fmla="*/ 68 w 700"/>
                  <a:gd name="T43" fmla="*/ 153 h 344"/>
                  <a:gd name="T44" fmla="*/ 121 w 700"/>
                  <a:gd name="T45" fmla="*/ 114 h 344"/>
                  <a:gd name="T46" fmla="*/ 198 w 700"/>
                  <a:gd name="T47" fmla="*/ 79 h 344"/>
                  <a:gd name="T48" fmla="*/ 213 w 700"/>
                  <a:gd name="T49" fmla="*/ 0 h 34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00" h="344">
                    <a:moveTo>
                      <a:pt x="213" y="0"/>
                    </a:moveTo>
                    <a:lnTo>
                      <a:pt x="247" y="0"/>
                    </a:lnTo>
                    <a:lnTo>
                      <a:pt x="304" y="26"/>
                    </a:lnTo>
                    <a:lnTo>
                      <a:pt x="315" y="68"/>
                    </a:lnTo>
                    <a:lnTo>
                      <a:pt x="286" y="113"/>
                    </a:lnTo>
                    <a:lnTo>
                      <a:pt x="286" y="130"/>
                    </a:lnTo>
                    <a:lnTo>
                      <a:pt x="315" y="139"/>
                    </a:lnTo>
                    <a:lnTo>
                      <a:pt x="636" y="130"/>
                    </a:lnTo>
                    <a:lnTo>
                      <a:pt x="699" y="144"/>
                    </a:lnTo>
                    <a:lnTo>
                      <a:pt x="699" y="180"/>
                    </a:lnTo>
                    <a:lnTo>
                      <a:pt x="670" y="193"/>
                    </a:lnTo>
                    <a:lnTo>
                      <a:pt x="490" y="196"/>
                    </a:lnTo>
                    <a:lnTo>
                      <a:pt x="382" y="211"/>
                    </a:lnTo>
                    <a:lnTo>
                      <a:pt x="359" y="300"/>
                    </a:lnTo>
                    <a:lnTo>
                      <a:pt x="312" y="318"/>
                    </a:lnTo>
                    <a:lnTo>
                      <a:pt x="301" y="334"/>
                    </a:lnTo>
                    <a:lnTo>
                      <a:pt x="256" y="343"/>
                    </a:lnTo>
                    <a:lnTo>
                      <a:pt x="139" y="343"/>
                    </a:lnTo>
                    <a:lnTo>
                      <a:pt x="20" y="327"/>
                    </a:lnTo>
                    <a:lnTo>
                      <a:pt x="0" y="276"/>
                    </a:lnTo>
                    <a:lnTo>
                      <a:pt x="16" y="213"/>
                    </a:lnTo>
                    <a:lnTo>
                      <a:pt x="68" y="153"/>
                    </a:lnTo>
                    <a:lnTo>
                      <a:pt x="121" y="114"/>
                    </a:lnTo>
                    <a:lnTo>
                      <a:pt x="198" y="79"/>
                    </a:lnTo>
                    <a:lnTo>
                      <a:pt x="213" y="0"/>
                    </a:lnTo>
                  </a:path>
                </a:pathLst>
              </a:custGeom>
              <a:solidFill>
                <a:srgbClr val="FFC17F"/>
              </a:solidFill>
              <a:ln w="12700" cap="rnd" cmpd="sng">
                <a:solidFill>
                  <a:srgbClr val="FFC1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5" name="Freeform 12">
                <a:extLst>
                  <a:ext uri="{FF2B5EF4-FFF2-40B4-BE49-F238E27FC236}">
                    <a16:creationId xmlns:a16="http://schemas.microsoft.com/office/drawing/2014/main" id="{5F0E7AF4-7553-43BE-861A-464F0603DB91}"/>
                  </a:ext>
                </a:extLst>
              </p:cNvPr>
              <p:cNvSpPr>
                <a:spLocks/>
              </p:cNvSpPr>
              <p:nvPr/>
            </p:nvSpPr>
            <p:spPr bwMode="auto">
              <a:xfrm>
                <a:off x="3053" y="446"/>
                <a:ext cx="520" cy="151"/>
              </a:xfrm>
              <a:custGeom>
                <a:avLst/>
                <a:gdLst>
                  <a:gd name="T0" fmla="*/ 16 w 520"/>
                  <a:gd name="T1" fmla="*/ 57 h 151"/>
                  <a:gd name="T2" fmla="*/ 101 w 520"/>
                  <a:gd name="T3" fmla="*/ 47 h 151"/>
                  <a:gd name="T4" fmla="*/ 193 w 520"/>
                  <a:gd name="T5" fmla="*/ 43 h 151"/>
                  <a:gd name="T6" fmla="*/ 187 w 520"/>
                  <a:gd name="T7" fmla="*/ 66 h 151"/>
                  <a:gd name="T8" fmla="*/ 171 w 520"/>
                  <a:gd name="T9" fmla="*/ 113 h 151"/>
                  <a:gd name="T10" fmla="*/ 200 w 520"/>
                  <a:gd name="T11" fmla="*/ 141 h 151"/>
                  <a:gd name="T12" fmla="*/ 252 w 520"/>
                  <a:gd name="T13" fmla="*/ 150 h 151"/>
                  <a:gd name="T14" fmla="*/ 317 w 520"/>
                  <a:gd name="T15" fmla="*/ 133 h 151"/>
                  <a:gd name="T16" fmla="*/ 342 w 520"/>
                  <a:gd name="T17" fmla="*/ 120 h 151"/>
                  <a:gd name="T18" fmla="*/ 405 w 520"/>
                  <a:gd name="T19" fmla="*/ 124 h 151"/>
                  <a:gd name="T20" fmla="*/ 434 w 520"/>
                  <a:gd name="T21" fmla="*/ 115 h 151"/>
                  <a:gd name="T22" fmla="*/ 452 w 520"/>
                  <a:gd name="T23" fmla="*/ 93 h 151"/>
                  <a:gd name="T24" fmla="*/ 463 w 520"/>
                  <a:gd name="T25" fmla="*/ 86 h 151"/>
                  <a:gd name="T26" fmla="*/ 519 w 520"/>
                  <a:gd name="T27" fmla="*/ 61 h 151"/>
                  <a:gd name="T28" fmla="*/ 478 w 520"/>
                  <a:gd name="T29" fmla="*/ 12 h 151"/>
                  <a:gd name="T30" fmla="*/ 335 w 520"/>
                  <a:gd name="T31" fmla="*/ 0 h 151"/>
                  <a:gd name="T32" fmla="*/ 269 w 520"/>
                  <a:gd name="T33" fmla="*/ 7 h 151"/>
                  <a:gd name="T34" fmla="*/ 245 w 520"/>
                  <a:gd name="T35" fmla="*/ 0 h 151"/>
                  <a:gd name="T36" fmla="*/ 175 w 520"/>
                  <a:gd name="T37" fmla="*/ 7 h 151"/>
                  <a:gd name="T38" fmla="*/ 139 w 520"/>
                  <a:gd name="T39" fmla="*/ 26 h 151"/>
                  <a:gd name="T40" fmla="*/ 88 w 520"/>
                  <a:gd name="T41" fmla="*/ 7 h 151"/>
                  <a:gd name="T42" fmla="*/ 25 w 520"/>
                  <a:gd name="T43" fmla="*/ 6 h 151"/>
                  <a:gd name="T44" fmla="*/ 0 w 520"/>
                  <a:gd name="T45" fmla="*/ 13 h 151"/>
                  <a:gd name="T46" fmla="*/ 16 w 520"/>
                  <a:gd name="T47" fmla="*/ 57 h 15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20" h="151">
                    <a:moveTo>
                      <a:pt x="16" y="57"/>
                    </a:moveTo>
                    <a:lnTo>
                      <a:pt x="101" y="47"/>
                    </a:lnTo>
                    <a:lnTo>
                      <a:pt x="193" y="43"/>
                    </a:lnTo>
                    <a:lnTo>
                      <a:pt x="187" y="66"/>
                    </a:lnTo>
                    <a:lnTo>
                      <a:pt x="171" y="113"/>
                    </a:lnTo>
                    <a:lnTo>
                      <a:pt x="200" y="141"/>
                    </a:lnTo>
                    <a:lnTo>
                      <a:pt x="252" y="150"/>
                    </a:lnTo>
                    <a:lnTo>
                      <a:pt x="317" y="133"/>
                    </a:lnTo>
                    <a:lnTo>
                      <a:pt x="342" y="120"/>
                    </a:lnTo>
                    <a:lnTo>
                      <a:pt x="405" y="124"/>
                    </a:lnTo>
                    <a:lnTo>
                      <a:pt x="434" y="115"/>
                    </a:lnTo>
                    <a:lnTo>
                      <a:pt x="452" y="93"/>
                    </a:lnTo>
                    <a:lnTo>
                      <a:pt x="463" y="86"/>
                    </a:lnTo>
                    <a:lnTo>
                      <a:pt x="519" y="61"/>
                    </a:lnTo>
                    <a:lnTo>
                      <a:pt x="478" y="12"/>
                    </a:lnTo>
                    <a:lnTo>
                      <a:pt x="335" y="0"/>
                    </a:lnTo>
                    <a:lnTo>
                      <a:pt x="269" y="7"/>
                    </a:lnTo>
                    <a:lnTo>
                      <a:pt x="245" y="0"/>
                    </a:lnTo>
                    <a:lnTo>
                      <a:pt x="175" y="7"/>
                    </a:lnTo>
                    <a:lnTo>
                      <a:pt x="139" y="26"/>
                    </a:lnTo>
                    <a:lnTo>
                      <a:pt x="88" y="7"/>
                    </a:lnTo>
                    <a:lnTo>
                      <a:pt x="25" y="6"/>
                    </a:lnTo>
                    <a:lnTo>
                      <a:pt x="0" y="13"/>
                    </a:lnTo>
                    <a:lnTo>
                      <a:pt x="16" y="57"/>
                    </a:lnTo>
                  </a:path>
                </a:pathLst>
              </a:custGeom>
              <a:solidFill>
                <a:srgbClr val="FFC17F"/>
              </a:solidFill>
              <a:ln w="12700" cap="rnd" cmpd="sng">
                <a:solidFill>
                  <a:srgbClr val="FFC1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6" name="Freeform 13">
                <a:extLst>
                  <a:ext uri="{FF2B5EF4-FFF2-40B4-BE49-F238E27FC236}">
                    <a16:creationId xmlns:a16="http://schemas.microsoft.com/office/drawing/2014/main" id="{CBB94930-38CD-481A-9A9A-08F8B30A7AF2}"/>
                  </a:ext>
                </a:extLst>
              </p:cNvPr>
              <p:cNvSpPr>
                <a:spLocks/>
              </p:cNvSpPr>
              <p:nvPr/>
            </p:nvSpPr>
            <p:spPr bwMode="auto">
              <a:xfrm>
                <a:off x="1699" y="249"/>
                <a:ext cx="856" cy="508"/>
              </a:xfrm>
              <a:custGeom>
                <a:avLst/>
                <a:gdLst>
                  <a:gd name="T0" fmla="*/ 7 w 856"/>
                  <a:gd name="T1" fmla="*/ 183 h 508"/>
                  <a:gd name="T2" fmla="*/ 49 w 856"/>
                  <a:gd name="T3" fmla="*/ 167 h 508"/>
                  <a:gd name="T4" fmla="*/ 95 w 856"/>
                  <a:gd name="T5" fmla="*/ 52 h 508"/>
                  <a:gd name="T6" fmla="*/ 128 w 856"/>
                  <a:gd name="T7" fmla="*/ 32 h 508"/>
                  <a:gd name="T8" fmla="*/ 583 w 856"/>
                  <a:gd name="T9" fmla="*/ 0 h 508"/>
                  <a:gd name="T10" fmla="*/ 722 w 856"/>
                  <a:gd name="T11" fmla="*/ 127 h 508"/>
                  <a:gd name="T12" fmla="*/ 733 w 856"/>
                  <a:gd name="T13" fmla="*/ 159 h 508"/>
                  <a:gd name="T14" fmla="*/ 810 w 856"/>
                  <a:gd name="T15" fmla="*/ 162 h 508"/>
                  <a:gd name="T16" fmla="*/ 850 w 856"/>
                  <a:gd name="T17" fmla="*/ 187 h 508"/>
                  <a:gd name="T18" fmla="*/ 855 w 856"/>
                  <a:gd name="T19" fmla="*/ 223 h 508"/>
                  <a:gd name="T20" fmla="*/ 774 w 856"/>
                  <a:gd name="T21" fmla="*/ 264 h 508"/>
                  <a:gd name="T22" fmla="*/ 778 w 856"/>
                  <a:gd name="T23" fmla="*/ 384 h 508"/>
                  <a:gd name="T24" fmla="*/ 736 w 856"/>
                  <a:gd name="T25" fmla="*/ 446 h 508"/>
                  <a:gd name="T26" fmla="*/ 626 w 856"/>
                  <a:gd name="T27" fmla="*/ 480 h 508"/>
                  <a:gd name="T28" fmla="*/ 592 w 856"/>
                  <a:gd name="T29" fmla="*/ 499 h 508"/>
                  <a:gd name="T30" fmla="*/ 520 w 856"/>
                  <a:gd name="T31" fmla="*/ 507 h 508"/>
                  <a:gd name="T32" fmla="*/ 499 w 856"/>
                  <a:gd name="T33" fmla="*/ 499 h 508"/>
                  <a:gd name="T34" fmla="*/ 473 w 856"/>
                  <a:gd name="T35" fmla="*/ 507 h 508"/>
                  <a:gd name="T36" fmla="*/ 412 w 856"/>
                  <a:gd name="T37" fmla="*/ 493 h 508"/>
                  <a:gd name="T38" fmla="*/ 376 w 856"/>
                  <a:gd name="T39" fmla="*/ 480 h 508"/>
                  <a:gd name="T40" fmla="*/ 320 w 856"/>
                  <a:gd name="T41" fmla="*/ 474 h 508"/>
                  <a:gd name="T42" fmla="*/ 243 w 856"/>
                  <a:gd name="T43" fmla="*/ 447 h 508"/>
                  <a:gd name="T44" fmla="*/ 207 w 856"/>
                  <a:gd name="T45" fmla="*/ 426 h 508"/>
                  <a:gd name="T46" fmla="*/ 175 w 856"/>
                  <a:gd name="T47" fmla="*/ 370 h 508"/>
                  <a:gd name="T48" fmla="*/ 144 w 856"/>
                  <a:gd name="T49" fmla="*/ 266 h 508"/>
                  <a:gd name="T50" fmla="*/ 86 w 856"/>
                  <a:gd name="T51" fmla="*/ 276 h 508"/>
                  <a:gd name="T52" fmla="*/ 43 w 856"/>
                  <a:gd name="T53" fmla="*/ 264 h 508"/>
                  <a:gd name="T54" fmla="*/ 0 w 856"/>
                  <a:gd name="T55" fmla="*/ 210 h 508"/>
                  <a:gd name="T56" fmla="*/ 7 w 856"/>
                  <a:gd name="T57" fmla="*/ 183 h 50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56" h="508">
                    <a:moveTo>
                      <a:pt x="7" y="183"/>
                    </a:moveTo>
                    <a:lnTo>
                      <a:pt x="49" y="167"/>
                    </a:lnTo>
                    <a:lnTo>
                      <a:pt x="95" y="52"/>
                    </a:lnTo>
                    <a:lnTo>
                      <a:pt x="128" y="32"/>
                    </a:lnTo>
                    <a:lnTo>
                      <a:pt x="583" y="0"/>
                    </a:lnTo>
                    <a:lnTo>
                      <a:pt x="722" y="127"/>
                    </a:lnTo>
                    <a:lnTo>
                      <a:pt x="733" y="159"/>
                    </a:lnTo>
                    <a:lnTo>
                      <a:pt x="810" y="162"/>
                    </a:lnTo>
                    <a:lnTo>
                      <a:pt x="850" y="187"/>
                    </a:lnTo>
                    <a:lnTo>
                      <a:pt x="855" y="223"/>
                    </a:lnTo>
                    <a:lnTo>
                      <a:pt x="774" y="264"/>
                    </a:lnTo>
                    <a:lnTo>
                      <a:pt x="778" y="384"/>
                    </a:lnTo>
                    <a:lnTo>
                      <a:pt x="736" y="446"/>
                    </a:lnTo>
                    <a:lnTo>
                      <a:pt x="626" y="480"/>
                    </a:lnTo>
                    <a:lnTo>
                      <a:pt x="592" y="499"/>
                    </a:lnTo>
                    <a:lnTo>
                      <a:pt x="520" y="507"/>
                    </a:lnTo>
                    <a:lnTo>
                      <a:pt x="499" y="499"/>
                    </a:lnTo>
                    <a:lnTo>
                      <a:pt x="473" y="507"/>
                    </a:lnTo>
                    <a:lnTo>
                      <a:pt x="412" y="493"/>
                    </a:lnTo>
                    <a:lnTo>
                      <a:pt x="376" y="480"/>
                    </a:lnTo>
                    <a:lnTo>
                      <a:pt x="320" y="474"/>
                    </a:lnTo>
                    <a:lnTo>
                      <a:pt x="243" y="447"/>
                    </a:lnTo>
                    <a:lnTo>
                      <a:pt x="207" y="426"/>
                    </a:lnTo>
                    <a:lnTo>
                      <a:pt x="175" y="370"/>
                    </a:lnTo>
                    <a:lnTo>
                      <a:pt x="144" y="266"/>
                    </a:lnTo>
                    <a:lnTo>
                      <a:pt x="86" y="276"/>
                    </a:lnTo>
                    <a:lnTo>
                      <a:pt x="43" y="264"/>
                    </a:lnTo>
                    <a:lnTo>
                      <a:pt x="0" y="210"/>
                    </a:lnTo>
                    <a:lnTo>
                      <a:pt x="7" y="183"/>
                    </a:lnTo>
                  </a:path>
                </a:pathLst>
              </a:custGeom>
              <a:solidFill>
                <a:srgbClr val="FFC17F"/>
              </a:solidFill>
              <a:ln w="12700" cap="rnd" cmpd="sng">
                <a:solidFill>
                  <a:srgbClr val="FFC1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7" name="Freeform 14">
                <a:extLst>
                  <a:ext uri="{FF2B5EF4-FFF2-40B4-BE49-F238E27FC236}">
                    <a16:creationId xmlns:a16="http://schemas.microsoft.com/office/drawing/2014/main" id="{BDD605B8-D8C1-4115-B9AD-4CE7A229B205}"/>
                  </a:ext>
                </a:extLst>
              </p:cNvPr>
              <p:cNvSpPr>
                <a:spLocks/>
              </p:cNvSpPr>
              <p:nvPr/>
            </p:nvSpPr>
            <p:spPr bwMode="auto">
              <a:xfrm>
                <a:off x="2281" y="255"/>
                <a:ext cx="156" cy="122"/>
              </a:xfrm>
              <a:custGeom>
                <a:avLst/>
                <a:gdLst>
                  <a:gd name="T0" fmla="*/ 7 w 156"/>
                  <a:gd name="T1" fmla="*/ 0 h 122"/>
                  <a:gd name="T2" fmla="*/ 0 w 156"/>
                  <a:gd name="T3" fmla="*/ 43 h 122"/>
                  <a:gd name="T4" fmla="*/ 16 w 156"/>
                  <a:gd name="T5" fmla="*/ 78 h 122"/>
                  <a:gd name="T6" fmla="*/ 155 w 156"/>
                  <a:gd name="T7" fmla="*/ 121 h 122"/>
                  <a:gd name="T8" fmla="*/ 133 w 156"/>
                  <a:gd name="T9" fmla="*/ 49 h 122"/>
                  <a:gd name="T10" fmla="*/ 96 w 156"/>
                  <a:gd name="T11" fmla="*/ 20 h 122"/>
                  <a:gd name="T12" fmla="*/ 7 w 156"/>
                  <a:gd name="T13" fmla="*/ 0 h 1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6" h="122">
                    <a:moveTo>
                      <a:pt x="7" y="0"/>
                    </a:moveTo>
                    <a:lnTo>
                      <a:pt x="0" y="43"/>
                    </a:lnTo>
                    <a:lnTo>
                      <a:pt x="16" y="78"/>
                    </a:lnTo>
                    <a:lnTo>
                      <a:pt x="155" y="121"/>
                    </a:lnTo>
                    <a:lnTo>
                      <a:pt x="133" y="49"/>
                    </a:lnTo>
                    <a:lnTo>
                      <a:pt x="96" y="20"/>
                    </a:lnTo>
                    <a:lnTo>
                      <a:pt x="7" y="0"/>
                    </a:lnTo>
                  </a:path>
                </a:pathLst>
              </a:custGeom>
              <a:solidFill>
                <a:srgbClr val="601E00"/>
              </a:solidFill>
              <a:ln w="12700" cap="rnd" cmpd="sng">
                <a:solidFill>
                  <a:srgbClr val="601E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8" name="Freeform 15">
                <a:extLst>
                  <a:ext uri="{FF2B5EF4-FFF2-40B4-BE49-F238E27FC236}">
                    <a16:creationId xmlns:a16="http://schemas.microsoft.com/office/drawing/2014/main" id="{30D56391-714A-4D69-B7E1-B3C1F74923EE}"/>
                  </a:ext>
                </a:extLst>
              </p:cNvPr>
              <p:cNvSpPr>
                <a:spLocks/>
              </p:cNvSpPr>
              <p:nvPr/>
            </p:nvSpPr>
            <p:spPr bwMode="auto">
              <a:xfrm>
                <a:off x="1830" y="199"/>
                <a:ext cx="454" cy="80"/>
              </a:xfrm>
              <a:custGeom>
                <a:avLst/>
                <a:gdLst>
                  <a:gd name="T0" fmla="*/ 0 w 454"/>
                  <a:gd name="T1" fmla="*/ 79 h 80"/>
                  <a:gd name="T2" fmla="*/ 70 w 454"/>
                  <a:gd name="T3" fmla="*/ 13 h 80"/>
                  <a:gd name="T4" fmla="*/ 146 w 454"/>
                  <a:gd name="T5" fmla="*/ 0 h 80"/>
                  <a:gd name="T6" fmla="*/ 325 w 454"/>
                  <a:gd name="T7" fmla="*/ 0 h 80"/>
                  <a:gd name="T8" fmla="*/ 408 w 454"/>
                  <a:gd name="T9" fmla="*/ 10 h 80"/>
                  <a:gd name="T10" fmla="*/ 453 w 454"/>
                  <a:gd name="T11" fmla="*/ 35 h 80"/>
                  <a:gd name="T12" fmla="*/ 101 w 454"/>
                  <a:gd name="T13" fmla="*/ 79 h 80"/>
                  <a:gd name="T14" fmla="*/ 0 w 454"/>
                  <a:gd name="T15" fmla="*/ 79 h 8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54" h="80">
                    <a:moveTo>
                      <a:pt x="0" y="79"/>
                    </a:moveTo>
                    <a:lnTo>
                      <a:pt x="70" y="13"/>
                    </a:lnTo>
                    <a:lnTo>
                      <a:pt x="146" y="0"/>
                    </a:lnTo>
                    <a:lnTo>
                      <a:pt x="325" y="0"/>
                    </a:lnTo>
                    <a:lnTo>
                      <a:pt x="408" y="10"/>
                    </a:lnTo>
                    <a:lnTo>
                      <a:pt x="453" y="35"/>
                    </a:lnTo>
                    <a:lnTo>
                      <a:pt x="101" y="79"/>
                    </a:lnTo>
                    <a:lnTo>
                      <a:pt x="0" y="79"/>
                    </a:lnTo>
                  </a:path>
                </a:pathLst>
              </a:custGeom>
              <a:solidFill>
                <a:srgbClr val="601E00"/>
              </a:solidFill>
              <a:ln w="12700" cap="rnd" cmpd="sng">
                <a:solidFill>
                  <a:srgbClr val="601E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9" name="Freeform 16">
                <a:extLst>
                  <a:ext uri="{FF2B5EF4-FFF2-40B4-BE49-F238E27FC236}">
                    <a16:creationId xmlns:a16="http://schemas.microsoft.com/office/drawing/2014/main" id="{07E11F9E-B372-4246-8141-BA32EF5AB513}"/>
                  </a:ext>
                </a:extLst>
              </p:cNvPr>
              <p:cNvSpPr>
                <a:spLocks/>
              </p:cNvSpPr>
              <p:nvPr/>
            </p:nvSpPr>
            <p:spPr bwMode="auto">
              <a:xfrm>
                <a:off x="2031" y="566"/>
                <a:ext cx="253" cy="57"/>
              </a:xfrm>
              <a:custGeom>
                <a:avLst/>
                <a:gdLst>
                  <a:gd name="T0" fmla="*/ 0 w 253"/>
                  <a:gd name="T1" fmla="*/ 2 h 57"/>
                  <a:gd name="T2" fmla="*/ 23 w 253"/>
                  <a:gd name="T3" fmla="*/ 22 h 57"/>
                  <a:gd name="T4" fmla="*/ 49 w 253"/>
                  <a:gd name="T5" fmla="*/ 49 h 57"/>
                  <a:gd name="T6" fmla="*/ 85 w 253"/>
                  <a:gd name="T7" fmla="*/ 56 h 57"/>
                  <a:gd name="T8" fmla="*/ 173 w 253"/>
                  <a:gd name="T9" fmla="*/ 56 h 57"/>
                  <a:gd name="T10" fmla="*/ 189 w 253"/>
                  <a:gd name="T11" fmla="*/ 49 h 57"/>
                  <a:gd name="T12" fmla="*/ 252 w 253"/>
                  <a:gd name="T13" fmla="*/ 0 h 57"/>
                  <a:gd name="T14" fmla="*/ 119 w 253"/>
                  <a:gd name="T15" fmla="*/ 17 h 57"/>
                  <a:gd name="T16" fmla="*/ 58 w 253"/>
                  <a:gd name="T17" fmla="*/ 17 h 57"/>
                  <a:gd name="T18" fmla="*/ 23 w 253"/>
                  <a:gd name="T19" fmla="*/ 8 h 57"/>
                  <a:gd name="T20" fmla="*/ 0 w 253"/>
                  <a:gd name="T21" fmla="*/ 2 h 5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53" h="57">
                    <a:moveTo>
                      <a:pt x="0" y="2"/>
                    </a:moveTo>
                    <a:lnTo>
                      <a:pt x="23" y="22"/>
                    </a:lnTo>
                    <a:lnTo>
                      <a:pt x="49" y="49"/>
                    </a:lnTo>
                    <a:lnTo>
                      <a:pt x="85" y="56"/>
                    </a:lnTo>
                    <a:lnTo>
                      <a:pt x="173" y="56"/>
                    </a:lnTo>
                    <a:lnTo>
                      <a:pt x="189" y="49"/>
                    </a:lnTo>
                    <a:lnTo>
                      <a:pt x="252" y="0"/>
                    </a:lnTo>
                    <a:lnTo>
                      <a:pt x="119" y="17"/>
                    </a:lnTo>
                    <a:lnTo>
                      <a:pt x="58" y="17"/>
                    </a:lnTo>
                    <a:lnTo>
                      <a:pt x="23" y="8"/>
                    </a:lnTo>
                    <a:lnTo>
                      <a:pt x="0" y="2"/>
                    </a:lnTo>
                  </a:path>
                </a:pathLst>
              </a:custGeom>
              <a:solidFill>
                <a:srgbClr val="FFFFFF"/>
              </a:solidFill>
              <a:ln w="12700" cap="rnd" cmpd="sng">
                <a:solidFill>
                  <a:srgbClr val="FFFF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0" name="Freeform 17">
                <a:extLst>
                  <a:ext uri="{FF2B5EF4-FFF2-40B4-BE49-F238E27FC236}">
                    <a16:creationId xmlns:a16="http://schemas.microsoft.com/office/drawing/2014/main" id="{1074B4AE-D4A2-4921-90FC-6E580FA94945}"/>
                  </a:ext>
                </a:extLst>
              </p:cNvPr>
              <p:cNvSpPr>
                <a:spLocks/>
              </p:cNvSpPr>
              <p:nvPr/>
            </p:nvSpPr>
            <p:spPr bwMode="auto">
              <a:xfrm>
                <a:off x="1698" y="194"/>
                <a:ext cx="744" cy="276"/>
              </a:xfrm>
              <a:custGeom>
                <a:avLst/>
                <a:gdLst>
                  <a:gd name="T0" fmla="*/ 131 w 744"/>
                  <a:gd name="T1" fmla="*/ 92 h 276"/>
                  <a:gd name="T2" fmla="*/ 252 w 744"/>
                  <a:gd name="T3" fmla="*/ 95 h 276"/>
                  <a:gd name="T4" fmla="*/ 392 w 744"/>
                  <a:gd name="T5" fmla="*/ 89 h 276"/>
                  <a:gd name="T6" fmla="*/ 498 w 744"/>
                  <a:gd name="T7" fmla="*/ 78 h 276"/>
                  <a:gd name="T8" fmla="*/ 572 w 744"/>
                  <a:gd name="T9" fmla="*/ 63 h 276"/>
                  <a:gd name="T10" fmla="*/ 565 w 744"/>
                  <a:gd name="T11" fmla="*/ 98 h 276"/>
                  <a:gd name="T12" fmla="*/ 576 w 744"/>
                  <a:gd name="T13" fmla="*/ 128 h 276"/>
                  <a:gd name="T14" fmla="*/ 608 w 744"/>
                  <a:gd name="T15" fmla="*/ 148 h 276"/>
                  <a:gd name="T16" fmla="*/ 662 w 744"/>
                  <a:gd name="T17" fmla="*/ 162 h 276"/>
                  <a:gd name="T18" fmla="*/ 702 w 744"/>
                  <a:gd name="T19" fmla="*/ 188 h 276"/>
                  <a:gd name="T20" fmla="*/ 716 w 744"/>
                  <a:gd name="T21" fmla="*/ 232 h 276"/>
                  <a:gd name="T22" fmla="*/ 743 w 744"/>
                  <a:gd name="T23" fmla="*/ 232 h 276"/>
                  <a:gd name="T24" fmla="*/ 736 w 744"/>
                  <a:gd name="T25" fmla="*/ 208 h 276"/>
                  <a:gd name="T26" fmla="*/ 729 w 744"/>
                  <a:gd name="T27" fmla="*/ 162 h 276"/>
                  <a:gd name="T28" fmla="*/ 707 w 744"/>
                  <a:gd name="T29" fmla="*/ 112 h 276"/>
                  <a:gd name="T30" fmla="*/ 716 w 744"/>
                  <a:gd name="T31" fmla="*/ 167 h 276"/>
                  <a:gd name="T32" fmla="*/ 644 w 744"/>
                  <a:gd name="T33" fmla="*/ 147 h 276"/>
                  <a:gd name="T34" fmla="*/ 599 w 744"/>
                  <a:gd name="T35" fmla="*/ 127 h 276"/>
                  <a:gd name="T36" fmla="*/ 585 w 744"/>
                  <a:gd name="T37" fmla="*/ 107 h 276"/>
                  <a:gd name="T38" fmla="*/ 579 w 744"/>
                  <a:gd name="T39" fmla="*/ 88 h 276"/>
                  <a:gd name="T40" fmla="*/ 624 w 744"/>
                  <a:gd name="T41" fmla="*/ 112 h 276"/>
                  <a:gd name="T42" fmla="*/ 579 w 744"/>
                  <a:gd name="T43" fmla="*/ 68 h 276"/>
                  <a:gd name="T44" fmla="*/ 613 w 744"/>
                  <a:gd name="T45" fmla="*/ 72 h 276"/>
                  <a:gd name="T46" fmla="*/ 673 w 744"/>
                  <a:gd name="T47" fmla="*/ 84 h 276"/>
                  <a:gd name="T48" fmla="*/ 702 w 744"/>
                  <a:gd name="T49" fmla="*/ 102 h 276"/>
                  <a:gd name="T50" fmla="*/ 673 w 744"/>
                  <a:gd name="T51" fmla="*/ 75 h 276"/>
                  <a:gd name="T52" fmla="*/ 594 w 744"/>
                  <a:gd name="T53" fmla="*/ 41 h 276"/>
                  <a:gd name="T54" fmla="*/ 549 w 744"/>
                  <a:gd name="T55" fmla="*/ 13 h 276"/>
                  <a:gd name="T56" fmla="*/ 446 w 744"/>
                  <a:gd name="T57" fmla="*/ 0 h 276"/>
                  <a:gd name="T58" fmla="*/ 335 w 744"/>
                  <a:gd name="T59" fmla="*/ 3 h 276"/>
                  <a:gd name="T60" fmla="*/ 419 w 744"/>
                  <a:gd name="T61" fmla="*/ 4 h 276"/>
                  <a:gd name="T62" fmla="*/ 507 w 744"/>
                  <a:gd name="T63" fmla="*/ 13 h 276"/>
                  <a:gd name="T64" fmla="*/ 552 w 744"/>
                  <a:gd name="T65" fmla="*/ 27 h 276"/>
                  <a:gd name="T66" fmla="*/ 461 w 744"/>
                  <a:gd name="T67" fmla="*/ 23 h 276"/>
                  <a:gd name="T68" fmla="*/ 353 w 744"/>
                  <a:gd name="T69" fmla="*/ 33 h 276"/>
                  <a:gd name="T70" fmla="*/ 255 w 744"/>
                  <a:gd name="T71" fmla="*/ 53 h 276"/>
                  <a:gd name="T72" fmla="*/ 270 w 744"/>
                  <a:gd name="T73" fmla="*/ 33 h 276"/>
                  <a:gd name="T74" fmla="*/ 219 w 744"/>
                  <a:gd name="T75" fmla="*/ 43 h 276"/>
                  <a:gd name="T76" fmla="*/ 178 w 744"/>
                  <a:gd name="T77" fmla="*/ 65 h 276"/>
                  <a:gd name="T78" fmla="*/ 184 w 744"/>
                  <a:gd name="T79" fmla="*/ 43 h 276"/>
                  <a:gd name="T80" fmla="*/ 203 w 744"/>
                  <a:gd name="T81" fmla="*/ 18 h 276"/>
                  <a:gd name="T82" fmla="*/ 270 w 744"/>
                  <a:gd name="T83" fmla="*/ 3 h 276"/>
                  <a:gd name="T84" fmla="*/ 184 w 744"/>
                  <a:gd name="T85" fmla="*/ 18 h 276"/>
                  <a:gd name="T86" fmla="*/ 131 w 744"/>
                  <a:gd name="T87" fmla="*/ 52 h 276"/>
                  <a:gd name="T88" fmla="*/ 104 w 744"/>
                  <a:gd name="T89" fmla="*/ 89 h 276"/>
                  <a:gd name="T90" fmla="*/ 22 w 744"/>
                  <a:gd name="T91" fmla="*/ 124 h 276"/>
                  <a:gd name="T92" fmla="*/ 0 w 744"/>
                  <a:gd name="T93" fmla="*/ 155 h 276"/>
                  <a:gd name="T94" fmla="*/ 2 w 744"/>
                  <a:gd name="T95" fmla="*/ 198 h 276"/>
                  <a:gd name="T96" fmla="*/ 32 w 744"/>
                  <a:gd name="T97" fmla="*/ 226 h 276"/>
                  <a:gd name="T98" fmla="*/ 77 w 744"/>
                  <a:gd name="T99" fmla="*/ 237 h 276"/>
                  <a:gd name="T100" fmla="*/ 117 w 744"/>
                  <a:gd name="T101" fmla="*/ 275 h 276"/>
                  <a:gd name="T102" fmla="*/ 117 w 744"/>
                  <a:gd name="T103" fmla="*/ 256 h 276"/>
                  <a:gd name="T104" fmla="*/ 108 w 744"/>
                  <a:gd name="T105" fmla="*/ 209 h 276"/>
                  <a:gd name="T106" fmla="*/ 101 w 744"/>
                  <a:gd name="T107" fmla="*/ 112 h 276"/>
                  <a:gd name="T108" fmla="*/ 117 w 744"/>
                  <a:gd name="T109" fmla="*/ 94 h 276"/>
                  <a:gd name="T110" fmla="*/ 131 w 744"/>
                  <a:gd name="T111" fmla="*/ 92 h 27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44" h="276">
                    <a:moveTo>
                      <a:pt x="131" y="92"/>
                    </a:moveTo>
                    <a:lnTo>
                      <a:pt x="252" y="95"/>
                    </a:lnTo>
                    <a:lnTo>
                      <a:pt x="392" y="89"/>
                    </a:lnTo>
                    <a:lnTo>
                      <a:pt x="498" y="78"/>
                    </a:lnTo>
                    <a:lnTo>
                      <a:pt x="572" y="63"/>
                    </a:lnTo>
                    <a:lnTo>
                      <a:pt x="565" y="98"/>
                    </a:lnTo>
                    <a:lnTo>
                      <a:pt x="576" y="128"/>
                    </a:lnTo>
                    <a:lnTo>
                      <a:pt x="608" y="148"/>
                    </a:lnTo>
                    <a:lnTo>
                      <a:pt x="662" y="162"/>
                    </a:lnTo>
                    <a:lnTo>
                      <a:pt x="702" y="188"/>
                    </a:lnTo>
                    <a:lnTo>
                      <a:pt x="716" y="232"/>
                    </a:lnTo>
                    <a:lnTo>
                      <a:pt x="743" y="232"/>
                    </a:lnTo>
                    <a:lnTo>
                      <a:pt x="736" y="208"/>
                    </a:lnTo>
                    <a:lnTo>
                      <a:pt x="729" y="162"/>
                    </a:lnTo>
                    <a:lnTo>
                      <a:pt x="707" y="112"/>
                    </a:lnTo>
                    <a:lnTo>
                      <a:pt x="716" y="167"/>
                    </a:lnTo>
                    <a:lnTo>
                      <a:pt x="644" y="147"/>
                    </a:lnTo>
                    <a:lnTo>
                      <a:pt x="599" y="127"/>
                    </a:lnTo>
                    <a:lnTo>
                      <a:pt x="585" y="107"/>
                    </a:lnTo>
                    <a:lnTo>
                      <a:pt x="579" y="88"/>
                    </a:lnTo>
                    <a:lnTo>
                      <a:pt x="624" y="112"/>
                    </a:lnTo>
                    <a:lnTo>
                      <a:pt x="579" y="68"/>
                    </a:lnTo>
                    <a:lnTo>
                      <a:pt x="613" y="72"/>
                    </a:lnTo>
                    <a:lnTo>
                      <a:pt x="673" y="84"/>
                    </a:lnTo>
                    <a:lnTo>
                      <a:pt x="702" y="102"/>
                    </a:lnTo>
                    <a:lnTo>
                      <a:pt x="673" y="75"/>
                    </a:lnTo>
                    <a:lnTo>
                      <a:pt x="594" y="41"/>
                    </a:lnTo>
                    <a:lnTo>
                      <a:pt x="549" y="13"/>
                    </a:lnTo>
                    <a:lnTo>
                      <a:pt x="446" y="0"/>
                    </a:lnTo>
                    <a:lnTo>
                      <a:pt x="335" y="3"/>
                    </a:lnTo>
                    <a:lnTo>
                      <a:pt x="419" y="4"/>
                    </a:lnTo>
                    <a:lnTo>
                      <a:pt x="507" y="13"/>
                    </a:lnTo>
                    <a:lnTo>
                      <a:pt x="552" y="27"/>
                    </a:lnTo>
                    <a:lnTo>
                      <a:pt x="461" y="23"/>
                    </a:lnTo>
                    <a:lnTo>
                      <a:pt x="353" y="33"/>
                    </a:lnTo>
                    <a:lnTo>
                      <a:pt x="255" y="53"/>
                    </a:lnTo>
                    <a:lnTo>
                      <a:pt x="270" y="33"/>
                    </a:lnTo>
                    <a:lnTo>
                      <a:pt x="219" y="43"/>
                    </a:lnTo>
                    <a:lnTo>
                      <a:pt x="178" y="65"/>
                    </a:lnTo>
                    <a:lnTo>
                      <a:pt x="184" y="43"/>
                    </a:lnTo>
                    <a:lnTo>
                      <a:pt x="203" y="18"/>
                    </a:lnTo>
                    <a:lnTo>
                      <a:pt x="270" y="3"/>
                    </a:lnTo>
                    <a:lnTo>
                      <a:pt x="184" y="18"/>
                    </a:lnTo>
                    <a:lnTo>
                      <a:pt x="131" y="52"/>
                    </a:lnTo>
                    <a:lnTo>
                      <a:pt x="104" y="89"/>
                    </a:lnTo>
                    <a:lnTo>
                      <a:pt x="22" y="124"/>
                    </a:lnTo>
                    <a:lnTo>
                      <a:pt x="0" y="155"/>
                    </a:lnTo>
                    <a:lnTo>
                      <a:pt x="2" y="198"/>
                    </a:lnTo>
                    <a:lnTo>
                      <a:pt x="32" y="226"/>
                    </a:lnTo>
                    <a:lnTo>
                      <a:pt x="77" y="237"/>
                    </a:lnTo>
                    <a:lnTo>
                      <a:pt x="117" y="275"/>
                    </a:lnTo>
                    <a:lnTo>
                      <a:pt x="117" y="256"/>
                    </a:lnTo>
                    <a:lnTo>
                      <a:pt x="108" y="209"/>
                    </a:lnTo>
                    <a:lnTo>
                      <a:pt x="101" y="112"/>
                    </a:lnTo>
                    <a:lnTo>
                      <a:pt x="117" y="94"/>
                    </a:lnTo>
                    <a:lnTo>
                      <a:pt x="131" y="9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1" name="Freeform 18">
                <a:extLst>
                  <a:ext uri="{FF2B5EF4-FFF2-40B4-BE49-F238E27FC236}">
                    <a16:creationId xmlns:a16="http://schemas.microsoft.com/office/drawing/2014/main" id="{C4A7D73E-6048-4C22-981D-D944FF740040}"/>
                  </a:ext>
                </a:extLst>
              </p:cNvPr>
              <p:cNvSpPr>
                <a:spLocks/>
              </p:cNvSpPr>
              <p:nvPr/>
            </p:nvSpPr>
            <p:spPr bwMode="auto">
              <a:xfrm>
                <a:off x="1920" y="335"/>
                <a:ext cx="125" cy="42"/>
              </a:xfrm>
              <a:custGeom>
                <a:avLst/>
                <a:gdLst>
                  <a:gd name="T0" fmla="*/ 15 w 125"/>
                  <a:gd name="T1" fmla="*/ 41 h 42"/>
                  <a:gd name="T2" fmla="*/ 73 w 125"/>
                  <a:gd name="T3" fmla="*/ 32 h 42"/>
                  <a:gd name="T4" fmla="*/ 119 w 125"/>
                  <a:gd name="T5" fmla="*/ 21 h 42"/>
                  <a:gd name="T6" fmla="*/ 124 w 125"/>
                  <a:gd name="T7" fmla="*/ 6 h 42"/>
                  <a:gd name="T8" fmla="*/ 106 w 125"/>
                  <a:gd name="T9" fmla="*/ 0 h 42"/>
                  <a:gd name="T10" fmla="*/ 84 w 125"/>
                  <a:gd name="T11" fmla="*/ 3 h 42"/>
                  <a:gd name="T12" fmla="*/ 55 w 125"/>
                  <a:gd name="T13" fmla="*/ 21 h 42"/>
                  <a:gd name="T14" fmla="*/ 4 w 125"/>
                  <a:gd name="T15" fmla="*/ 32 h 42"/>
                  <a:gd name="T16" fmla="*/ 0 w 125"/>
                  <a:gd name="T17" fmla="*/ 41 h 42"/>
                  <a:gd name="T18" fmla="*/ 15 w 125"/>
                  <a:gd name="T19" fmla="*/ 41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5" h="42">
                    <a:moveTo>
                      <a:pt x="15" y="41"/>
                    </a:moveTo>
                    <a:lnTo>
                      <a:pt x="73" y="32"/>
                    </a:lnTo>
                    <a:lnTo>
                      <a:pt x="119" y="21"/>
                    </a:lnTo>
                    <a:lnTo>
                      <a:pt x="124" y="6"/>
                    </a:lnTo>
                    <a:lnTo>
                      <a:pt x="106" y="0"/>
                    </a:lnTo>
                    <a:lnTo>
                      <a:pt x="84" y="3"/>
                    </a:lnTo>
                    <a:lnTo>
                      <a:pt x="55" y="21"/>
                    </a:lnTo>
                    <a:lnTo>
                      <a:pt x="4" y="32"/>
                    </a:lnTo>
                    <a:lnTo>
                      <a:pt x="0" y="41"/>
                    </a:lnTo>
                    <a:lnTo>
                      <a:pt x="15" y="41"/>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2" name="Freeform 19">
                <a:extLst>
                  <a:ext uri="{FF2B5EF4-FFF2-40B4-BE49-F238E27FC236}">
                    <a16:creationId xmlns:a16="http://schemas.microsoft.com/office/drawing/2014/main" id="{67D528E6-F245-4E6C-A221-1A4610A50F4B}"/>
                  </a:ext>
                </a:extLst>
              </p:cNvPr>
              <p:cNvSpPr>
                <a:spLocks/>
              </p:cNvSpPr>
              <p:nvPr/>
            </p:nvSpPr>
            <p:spPr bwMode="auto">
              <a:xfrm>
                <a:off x="2085" y="326"/>
                <a:ext cx="119" cy="39"/>
              </a:xfrm>
              <a:custGeom>
                <a:avLst/>
                <a:gdLst>
                  <a:gd name="T0" fmla="*/ 20 w 119"/>
                  <a:gd name="T1" fmla="*/ 0 h 39"/>
                  <a:gd name="T2" fmla="*/ 0 w 119"/>
                  <a:gd name="T3" fmla="*/ 3 h 39"/>
                  <a:gd name="T4" fmla="*/ 0 w 119"/>
                  <a:gd name="T5" fmla="*/ 16 h 39"/>
                  <a:gd name="T6" fmla="*/ 30 w 119"/>
                  <a:gd name="T7" fmla="*/ 24 h 39"/>
                  <a:gd name="T8" fmla="*/ 77 w 119"/>
                  <a:gd name="T9" fmla="*/ 30 h 39"/>
                  <a:gd name="T10" fmla="*/ 107 w 119"/>
                  <a:gd name="T11" fmla="*/ 38 h 39"/>
                  <a:gd name="T12" fmla="*/ 118 w 119"/>
                  <a:gd name="T13" fmla="*/ 32 h 39"/>
                  <a:gd name="T14" fmla="*/ 113 w 119"/>
                  <a:gd name="T15" fmla="*/ 26 h 39"/>
                  <a:gd name="T16" fmla="*/ 89 w 119"/>
                  <a:gd name="T17" fmla="*/ 12 h 39"/>
                  <a:gd name="T18" fmla="*/ 52 w 119"/>
                  <a:gd name="T19" fmla="*/ 9 h 39"/>
                  <a:gd name="T20" fmla="*/ 36 w 119"/>
                  <a:gd name="T21" fmla="*/ 4 h 39"/>
                  <a:gd name="T22" fmla="*/ 20 w 119"/>
                  <a:gd name="T23" fmla="*/ 0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19" h="39">
                    <a:moveTo>
                      <a:pt x="20" y="0"/>
                    </a:moveTo>
                    <a:lnTo>
                      <a:pt x="0" y="3"/>
                    </a:lnTo>
                    <a:lnTo>
                      <a:pt x="0" y="16"/>
                    </a:lnTo>
                    <a:lnTo>
                      <a:pt x="30" y="24"/>
                    </a:lnTo>
                    <a:lnTo>
                      <a:pt x="77" y="30"/>
                    </a:lnTo>
                    <a:lnTo>
                      <a:pt x="107" y="38"/>
                    </a:lnTo>
                    <a:lnTo>
                      <a:pt x="118" y="32"/>
                    </a:lnTo>
                    <a:lnTo>
                      <a:pt x="113" y="26"/>
                    </a:lnTo>
                    <a:lnTo>
                      <a:pt x="89" y="12"/>
                    </a:lnTo>
                    <a:lnTo>
                      <a:pt x="52" y="9"/>
                    </a:lnTo>
                    <a:lnTo>
                      <a:pt x="36" y="4"/>
                    </a:lnTo>
                    <a:lnTo>
                      <a:pt x="20"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3" name="Freeform 20">
                <a:extLst>
                  <a:ext uri="{FF2B5EF4-FFF2-40B4-BE49-F238E27FC236}">
                    <a16:creationId xmlns:a16="http://schemas.microsoft.com/office/drawing/2014/main" id="{92C7677B-EF2D-41B5-998A-73A7373858C6}"/>
                  </a:ext>
                </a:extLst>
              </p:cNvPr>
              <p:cNvSpPr>
                <a:spLocks/>
              </p:cNvSpPr>
              <p:nvPr/>
            </p:nvSpPr>
            <p:spPr bwMode="auto">
              <a:xfrm>
                <a:off x="2005" y="385"/>
                <a:ext cx="28" cy="16"/>
              </a:xfrm>
              <a:custGeom>
                <a:avLst/>
                <a:gdLst>
                  <a:gd name="T0" fmla="*/ 27 w 28"/>
                  <a:gd name="T1" fmla="*/ 4 h 16"/>
                  <a:gd name="T2" fmla="*/ 13 w 28"/>
                  <a:gd name="T3" fmla="*/ 0 h 16"/>
                  <a:gd name="T4" fmla="*/ 0 w 28"/>
                  <a:gd name="T5" fmla="*/ 8 h 16"/>
                  <a:gd name="T6" fmla="*/ 11 w 28"/>
                  <a:gd name="T7" fmla="*/ 15 h 16"/>
                  <a:gd name="T8" fmla="*/ 25 w 28"/>
                  <a:gd name="T9" fmla="*/ 15 h 16"/>
                  <a:gd name="T10" fmla="*/ 27 w 28"/>
                  <a:gd name="T11" fmla="*/ 4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 h="16">
                    <a:moveTo>
                      <a:pt x="27" y="4"/>
                    </a:moveTo>
                    <a:lnTo>
                      <a:pt x="13" y="0"/>
                    </a:lnTo>
                    <a:lnTo>
                      <a:pt x="0" y="8"/>
                    </a:lnTo>
                    <a:lnTo>
                      <a:pt x="11" y="15"/>
                    </a:lnTo>
                    <a:lnTo>
                      <a:pt x="25" y="15"/>
                    </a:lnTo>
                    <a:lnTo>
                      <a:pt x="27" y="4"/>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4" name="Freeform 21">
                <a:extLst>
                  <a:ext uri="{FF2B5EF4-FFF2-40B4-BE49-F238E27FC236}">
                    <a16:creationId xmlns:a16="http://schemas.microsoft.com/office/drawing/2014/main" id="{3992FFD7-E67A-4451-9796-4BB4B6F98D23}"/>
                  </a:ext>
                </a:extLst>
              </p:cNvPr>
              <p:cNvSpPr>
                <a:spLocks/>
              </p:cNvSpPr>
              <p:nvPr/>
            </p:nvSpPr>
            <p:spPr bwMode="auto">
              <a:xfrm>
                <a:off x="2107" y="380"/>
                <a:ext cx="26" cy="13"/>
              </a:xfrm>
              <a:custGeom>
                <a:avLst/>
                <a:gdLst>
                  <a:gd name="T0" fmla="*/ 13 w 26"/>
                  <a:gd name="T1" fmla="*/ 0 h 13"/>
                  <a:gd name="T2" fmla="*/ 0 w 26"/>
                  <a:gd name="T3" fmla="*/ 7 h 13"/>
                  <a:gd name="T4" fmla="*/ 9 w 26"/>
                  <a:gd name="T5" fmla="*/ 12 h 13"/>
                  <a:gd name="T6" fmla="*/ 25 w 26"/>
                  <a:gd name="T7" fmla="*/ 12 h 13"/>
                  <a:gd name="T8" fmla="*/ 25 w 26"/>
                  <a:gd name="T9" fmla="*/ 2 h 13"/>
                  <a:gd name="T10" fmla="*/ 13 w 26"/>
                  <a:gd name="T11" fmla="*/ 0 h 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3">
                    <a:moveTo>
                      <a:pt x="13" y="0"/>
                    </a:moveTo>
                    <a:lnTo>
                      <a:pt x="0" y="7"/>
                    </a:lnTo>
                    <a:lnTo>
                      <a:pt x="9" y="12"/>
                    </a:lnTo>
                    <a:lnTo>
                      <a:pt x="25" y="12"/>
                    </a:lnTo>
                    <a:lnTo>
                      <a:pt x="25" y="2"/>
                    </a:lnTo>
                    <a:lnTo>
                      <a:pt x="13"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5" name="Freeform 22">
                <a:extLst>
                  <a:ext uri="{FF2B5EF4-FFF2-40B4-BE49-F238E27FC236}">
                    <a16:creationId xmlns:a16="http://schemas.microsoft.com/office/drawing/2014/main" id="{236EB1B2-491E-4EFA-9B3F-3EDCB0E4B0B3}"/>
                  </a:ext>
                </a:extLst>
              </p:cNvPr>
              <p:cNvSpPr>
                <a:spLocks/>
              </p:cNvSpPr>
              <p:nvPr/>
            </p:nvSpPr>
            <p:spPr bwMode="auto">
              <a:xfrm>
                <a:off x="2032" y="410"/>
                <a:ext cx="166" cy="147"/>
              </a:xfrm>
              <a:custGeom>
                <a:avLst/>
                <a:gdLst>
                  <a:gd name="T0" fmla="*/ 22 w 166"/>
                  <a:gd name="T1" fmla="*/ 3 h 147"/>
                  <a:gd name="T2" fmla="*/ 5 w 166"/>
                  <a:gd name="T3" fmla="*/ 49 h 147"/>
                  <a:gd name="T4" fmla="*/ 0 w 166"/>
                  <a:gd name="T5" fmla="*/ 92 h 147"/>
                  <a:gd name="T6" fmla="*/ 18 w 166"/>
                  <a:gd name="T7" fmla="*/ 120 h 147"/>
                  <a:gd name="T8" fmla="*/ 48 w 166"/>
                  <a:gd name="T9" fmla="*/ 140 h 147"/>
                  <a:gd name="T10" fmla="*/ 95 w 166"/>
                  <a:gd name="T11" fmla="*/ 146 h 147"/>
                  <a:gd name="T12" fmla="*/ 145 w 166"/>
                  <a:gd name="T13" fmla="*/ 136 h 147"/>
                  <a:gd name="T14" fmla="*/ 163 w 166"/>
                  <a:gd name="T15" fmla="*/ 113 h 147"/>
                  <a:gd name="T16" fmla="*/ 165 w 166"/>
                  <a:gd name="T17" fmla="*/ 84 h 147"/>
                  <a:gd name="T18" fmla="*/ 151 w 166"/>
                  <a:gd name="T19" fmla="*/ 55 h 147"/>
                  <a:gd name="T20" fmla="*/ 83 w 166"/>
                  <a:gd name="T21" fmla="*/ 0 h 147"/>
                  <a:gd name="T22" fmla="*/ 140 w 166"/>
                  <a:gd name="T23" fmla="*/ 53 h 147"/>
                  <a:gd name="T24" fmla="*/ 152 w 166"/>
                  <a:gd name="T25" fmla="*/ 92 h 147"/>
                  <a:gd name="T26" fmla="*/ 151 w 166"/>
                  <a:gd name="T27" fmla="*/ 113 h 147"/>
                  <a:gd name="T28" fmla="*/ 133 w 166"/>
                  <a:gd name="T29" fmla="*/ 132 h 147"/>
                  <a:gd name="T30" fmla="*/ 95 w 166"/>
                  <a:gd name="T31" fmla="*/ 136 h 147"/>
                  <a:gd name="T32" fmla="*/ 52 w 166"/>
                  <a:gd name="T33" fmla="*/ 132 h 147"/>
                  <a:gd name="T34" fmla="*/ 25 w 166"/>
                  <a:gd name="T35" fmla="*/ 113 h 147"/>
                  <a:gd name="T36" fmla="*/ 11 w 166"/>
                  <a:gd name="T37" fmla="*/ 93 h 147"/>
                  <a:gd name="T38" fmla="*/ 11 w 166"/>
                  <a:gd name="T39" fmla="*/ 55 h 147"/>
                  <a:gd name="T40" fmla="*/ 18 w 166"/>
                  <a:gd name="T41" fmla="*/ 26 h 147"/>
                  <a:gd name="T42" fmla="*/ 22 w 166"/>
                  <a:gd name="T43" fmla="*/ 3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6" h="147">
                    <a:moveTo>
                      <a:pt x="22" y="3"/>
                    </a:moveTo>
                    <a:lnTo>
                      <a:pt x="5" y="49"/>
                    </a:lnTo>
                    <a:lnTo>
                      <a:pt x="0" y="92"/>
                    </a:lnTo>
                    <a:lnTo>
                      <a:pt x="18" y="120"/>
                    </a:lnTo>
                    <a:lnTo>
                      <a:pt x="48" y="140"/>
                    </a:lnTo>
                    <a:lnTo>
                      <a:pt x="95" y="146"/>
                    </a:lnTo>
                    <a:lnTo>
                      <a:pt x="145" y="136"/>
                    </a:lnTo>
                    <a:lnTo>
                      <a:pt x="163" y="113"/>
                    </a:lnTo>
                    <a:lnTo>
                      <a:pt x="165" y="84"/>
                    </a:lnTo>
                    <a:lnTo>
                      <a:pt x="151" y="55"/>
                    </a:lnTo>
                    <a:lnTo>
                      <a:pt x="83" y="0"/>
                    </a:lnTo>
                    <a:lnTo>
                      <a:pt x="140" y="53"/>
                    </a:lnTo>
                    <a:lnTo>
                      <a:pt x="152" y="92"/>
                    </a:lnTo>
                    <a:lnTo>
                      <a:pt x="151" y="113"/>
                    </a:lnTo>
                    <a:lnTo>
                      <a:pt x="133" y="132"/>
                    </a:lnTo>
                    <a:lnTo>
                      <a:pt x="95" y="136"/>
                    </a:lnTo>
                    <a:lnTo>
                      <a:pt x="52" y="132"/>
                    </a:lnTo>
                    <a:lnTo>
                      <a:pt x="25" y="113"/>
                    </a:lnTo>
                    <a:lnTo>
                      <a:pt x="11" y="93"/>
                    </a:lnTo>
                    <a:lnTo>
                      <a:pt x="11" y="55"/>
                    </a:lnTo>
                    <a:lnTo>
                      <a:pt x="18" y="26"/>
                    </a:lnTo>
                    <a:lnTo>
                      <a:pt x="22" y="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6" name="Freeform 23">
                <a:extLst>
                  <a:ext uri="{FF2B5EF4-FFF2-40B4-BE49-F238E27FC236}">
                    <a16:creationId xmlns:a16="http://schemas.microsoft.com/office/drawing/2014/main" id="{D20F48EC-CBD4-491E-9577-639A8FCDEF8A}"/>
                  </a:ext>
                </a:extLst>
              </p:cNvPr>
              <p:cNvSpPr>
                <a:spLocks/>
              </p:cNvSpPr>
              <p:nvPr/>
            </p:nvSpPr>
            <p:spPr bwMode="auto">
              <a:xfrm>
                <a:off x="1981" y="543"/>
                <a:ext cx="331" cy="44"/>
              </a:xfrm>
              <a:custGeom>
                <a:avLst/>
                <a:gdLst>
                  <a:gd name="T0" fmla="*/ 0 w 331"/>
                  <a:gd name="T1" fmla="*/ 11 h 44"/>
                  <a:gd name="T2" fmla="*/ 23 w 331"/>
                  <a:gd name="T3" fmla="*/ 0 h 44"/>
                  <a:gd name="T4" fmla="*/ 41 w 331"/>
                  <a:gd name="T5" fmla="*/ 5 h 44"/>
                  <a:gd name="T6" fmla="*/ 27 w 331"/>
                  <a:gd name="T7" fmla="*/ 17 h 44"/>
                  <a:gd name="T8" fmla="*/ 69 w 331"/>
                  <a:gd name="T9" fmla="*/ 27 h 44"/>
                  <a:gd name="T10" fmla="*/ 108 w 331"/>
                  <a:gd name="T11" fmla="*/ 40 h 44"/>
                  <a:gd name="T12" fmla="*/ 151 w 331"/>
                  <a:gd name="T13" fmla="*/ 40 h 44"/>
                  <a:gd name="T14" fmla="*/ 206 w 331"/>
                  <a:gd name="T15" fmla="*/ 31 h 44"/>
                  <a:gd name="T16" fmla="*/ 303 w 331"/>
                  <a:gd name="T17" fmla="*/ 17 h 44"/>
                  <a:gd name="T18" fmla="*/ 303 w 331"/>
                  <a:gd name="T19" fmla="*/ 5 h 44"/>
                  <a:gd name="T20" fmla="*/ 330 w 331"/>
                  <a:gd name="T21" fmla="*/ 7 h 44"/>
                  <a:gd name="T22" fmla="*/ 330 w 331"/>
                  <a:gd name="T23" fmla="*/ 25 h 44"/>
                  <a:gd name="T24" fmla="*/ 310 w 331"/>
                  <a:gd name="T25" fmla="*/ 27 h 44"/>
                  <a:gd name="T26" fmla="*/ 296 w 331"/>
                  <a:gd name="T27" fmla="*/ 23 h 44"/>
                  <a:gd name="T28" fmla="*/ 162 w 331"/>
                  <a:gd name="T29" fmla="*/ 43 h 44"/>
                  <a:gd name="T30" fmla="*/ 105 w 331"/>
                  <a:gd name="T31" fmla="*/ 43 h 44"/>
                  <a:gd name="T32" fmla="*/ 41 w 331"/>
                  <a:gd name="T33" fmla="*/ 25 h 44"/>
                  <a:gd name="T34" fmla="*/ 27 w 331"/>
                  <a:gd name="T35" fmla="*/ 23 h 44"/>
                  <a:gd name="T36" fmla="*/ 13 w 331"/>
                  <a:gd name="T37" fmla="*/ 27 h 44"/>
                  <a:gd name="T38" fmla="*/ 0 w 331"/>
                  <a:gd name="T39" fmla="*/ 23 h 44"/>
                  <a:gd name="T40" fmla="*/ 0 w 331"/>
                  <a:gd name="T41" fmla="*/ 11 h 4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31" h="44">
                    <a:moveTo>
                      <a:pt x="0" y="11"/>
                    </a:moveTo>
                    <a:lnTo>
                      <a:pt x="23" y="0"/>
                    </a:lnTo>
                    <a:lnTo>
                      <a:pt x="41" y="5"/>
                    </a:lnTo>
                    <a:lnTo>
                      <a:pt x="27" y="17"/>
                    </a:lnTo>
                    <a:lnTo>
                      <a:pt x="69" y="27"/>
                    </a:lnTo>
                    <a:lnTo>
                      <a:pt x="108" y="40"/>
                    </a:lnTo>
                    <a:lnTo>
                      <a:pt x="151" y="40"/>
                    </a:lnTo>
                    <a:lnTo>
                      <a:pt x="206" y="31"/>
                    </a:lnTo>
                    <a:lnTo>
                      <a:pt x="303" y="17"/>
                    </a:lnTo>
                    <a:lnTo>
                      <a:pt x="303" y="5"/>
                    </a:lnTo>
                    <a:lnTo>
                      <a:pt x="330" y="7"/>
                    </a:lnTo>
                    <a:lnTo>
                      <a:pt x="330" y="25"/>
                    </a:lnTo>
                    <a:lnTo>
                      <a:pt x="310" y="27"/>
                    </a:lnTo>
                    <a:lnTo>
                      <a:pt x="296" y="23"/>
                    </a:lnTo>
                    <a:lnTo>
                      <a:pt x="162" y="43"/>
                    </a:lnTo>
                    <a:lnTo>
                      <a:pt x="105" y="43"/>
                    </a:lnTo>
                    <a:lnTo>
                      <a:pt x="41" y="25"/>
                    </a:lnTo>
                    <a:lnTo>
                      <a:pt x="27" y="23"/>
                    </a:lnTo>
                    <a:lnTo>
                      <a:pt x="13" y="27"/>
                    </a:lnTo>
                    <a:lnTo>
                      <a:pt x="0" y="23"/>
                    </a:lnTo>
                    <a:lnTo>
                      <a:pt x="0" y="11"/>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7" name="Freeform 24">
                <a:extLst>
                  <a:ext uri="{FF2B5EF4-FFF2-40B4-BE49-F238E27FC236}">
                    <a16:creationId xmlns:a16="http://schemas.microsoft.com/office/drawing/2014/main" id="{17C34641-7201-442C-B88C-244F15B2663F}"/>
                  </a:ext>
                </a:extLst>
              </p:cNvPr>
              <p:cNvSpPr>
                <a:spLocks/>
              </p:cNvSpPr>
              <p:nvPr/>
            </p:nvSpPr>
            <p:spPr bwMode="auto">
              <a:xfrm>
                <a:off x="2031" y="566"/>
                <a:ext cx="253" cy="60"/>
              </a:xfrm>
              <a:custGeom>
                <a:avLst/>
                <a:gdLst>
                  <a:gd name="T0" fmla="*/ 0 w 253"/>
                  <a:gd name="T1" fmla="*/ 8 h 60"/>
                  <a:gd name="T2" fmla="*/ 16 w 253"/>
                  <a:gd name="T3" fmla="*/ 22 h 60"/>
                  <a:gd name="T4" fmla="*/ 34 w 253"/>
                  <a:gd name="T5" fmla="*/ 49 h 60"/>
                  <a:gd name="T6" fmla="*/ 70 w 253"/>
                  <a:gd name="T7" fmla="*/ 59 h 60"/>
                  <a:gd name="T8" fmla="*/ 157 w 253"/>
                  <a:gd name="T9" fmla="*/ 59 h 60"/>
                  <a:gd name="T10" fmla="*/ 180 w 253"/>
                  <a:gd name="T11" fmla="*/ 53 h 60"/>
                  <a:gd name="T12" fmla="*/ 252 w 253"/>
                  <a:gd name="T13" fmla="*/ 0 h 60"/>
                  <a:gd name="T14" fmla="*/ 232 w 253"/>
                  <a:gd name="T15" fmla="*/ 2 h 60"/>
                  <a:gd name="T16" fmla="*/ 167 w 253"/>
                  <a:gd name="T17" fmla="*/ 49 h 60"/>
                  <a:gd name="T18" fmla="*/ 148 w 253"/>
                  <a:gd name="T19" fmla="*/ 51 h 60"/>
                  <a:gd name="T20" fmla="*/ 81 w 253"/>
                  <a:gd name="T21" fmla="*/ 53 h 60"/>
                  <a:gd name="T22" fmla="*/ 49 w 253"/>
                  <a:gd name="T23" fmla="*/ 47 h 60"/>
                  <a:gd name="T24" fmla="*/ 36 w 253"/>
                  <a:gd name="T25" fmla="*/ 39 h 60"/>
                  <a:gd name="T26" fmla="*/ 23 w 253"/>
                  <a:gd name="T27" fmla="*/ 20 h 60"/>
                  <a:gd name="T28" fmla="*/ 0 w 253"/>
                  <a:gd name="T29" fmla="*/ 8 h 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53" h="60">
                    <a:moveTo>
                      <a:pt x="0" y="8"/>
                    </a:moveTo>
                    <a:lnTo>
                      <a:pt x="16" y="22"/>
                    </a:lnTo>
                    <a:lnTo>
                      <a:pt x="34" y="49"/>
                    </a:lnTo>
                    <a:lnTo>
                      <a:pt x="70" y="59"/>
                    </a:lnTo>
                    <a:lnTo>
                      <a:pt x="157" y="59"/>
                    </a:lnTo>
                    <a:lnTo>
                      <a:pt x="180" y="53"/>
                    </a:lnTo>
                    <a:lnTo>
                      <a:pt x="252" y="0"/>
                    </a:lnTo>
                    <a:lnTo>
                      <a:pt x="232" y="2"/>
                    </a:lnTo>
                    <a:lnTo>
                      <a:pt x="167" y="49"/>
                    </a:lnTo>
                    <a:lnTo>
                      <a:pt x="148" y="51"/>
                    </a:lnTo>
                    <a:lnTo>
                      <a:pt x="81" y="53"/>
                    </a:lnTo>
                    <a:lnTo>
                      <a:pt x="49" y="47"/>
                    </a:lnTo>
                    <a:lnTo>
                      <a:pt x="36" y="39"/>
                    </a:lnTo>
                    <a:lnTo>
                      <a:pt x="23" y="20"/>
                    </a:lnTo>
                    <a:lnTo>
                      <a:pt x="0" y="8"/>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8" name="Freeform 25">
                <a:extLst>
                  <a:ext uri="{FF2B5EF4-FFF2-40B4-BE49-F238E27FC236}">
                    <a16:creationId xmlns:a16="http://schemas.microsoft.com/office/drawing/2014/main" id="{2F761CCD-1355-4AB3-A569-01EC91E0D035}"/>
                  </a:ext>
                </a:extLst>
              </p:cNvPr>
              <p:cNvSpPr>
                <a:spLocks/>
              </p:cNvSpPr>
              <p:nvPr/>
            </p:nvSpPr>
            <p:spPr bwMode="auto">
              <a:xfrm>
                <a:off x="1679" y="401"/>
                <a:ext cx="879" cy="366"/>
              </a:xfrm>
              <a:custGeom>
                <a:avLst/>
                <a:gdLst>
                  <a:gd name="T0" fmla="*/ 150 w 879"/>
                  <a:gd name="T1" fmla="*/ 84 h 366"/>
                  <a:gd name="T2" fmla="*/ 169 w 879"/>
                  <a:gd name="T3" fmla="*/ 130 h 366"/>
                  <a:gd name="T4" fmla="*/ 197 w 879"/>
                  <a:gd name="T5" fmla="*/ 218 h 366"/>
                  <a:gd name="T6" fmla="*/ 224 w 879"/>
                  <a:gd name="T7" fmla="*/ 269 h 366"/>
                  <a:gd name="T8" fmla="*/ 261 w 879"/>
                  <a:gd name="T9" fmla="*/ 289 h 366"/>
                  <a:gd name="T10" fmla="*/ 346 w 879"/>
                  <a:gd name="T11" fmla="*/ 314 h 366"/>
                  <a:gd name="T12" fmla="*/ 406 w 879"/>
                  <a:gd name="T13" fmla="*/ 324 h 366"/>
                  <a:gd name="T14" fmla="*/ 438 w 879"/>
                  <a:gd name="T15" fmla="*/ 341 h 366"/>
                  <a:gd name="T16" fmla="*/ 487 w 879"/>
                  <a:gd name="T17" fmla="*/ 347 h 366"/>
                  <a:gd name="T18" fmla="*/ 508 w 879"/>
                  <a:gd name="T19" fmla="*/ 330 h 366"/>
                  <a:gd name="T20" fmla="*/ 546 w 879"/>
                  <a:gd name="T21" fmla="*/ 341 h 366"/>
                  <a:gd name="T22" fmla="*/ 604 w 879"/>
                  <a:gd name="T23" fmla="*/ 338 h 366"/>
                  <a:gd name="T24" fmla="*/ 624 w 879"/>
                  <a:gd name="T25" fmla="*/ 324 h 366"/>
                  <a:gd name="T26" fmla="*/ 669 w 879"/>
                  <a:gd name="T27" fmla="*/ 307 h 366"/>
                  <a:gd name="T28" fmla="*/ 736 w 879"/>
                  <a:gd name="T29" fmla="*/ 285 h 366"/>
                  <a:gd name="T30" fmla="*/ 770 w 879"/>
                  <a:gd name="T31" fmla="*/ 257 h 366"/>
                  <a:gd name="T32" fmla="*/ 782 w 879"/>
                  <a:gd name="T33" fmla="*/ 222 h 366"/>
                  <a:gd name="T34" fmla="*/ 775 w 879"/>
                  <a:gd name="T35" fmla="*/ 54 h 366"/>
                  <a:gd name="T36" fmla="*/ 800 w 879"/>
                  <a:gd name="T37" fmla="*/ 80 h 366"/>
                  <a:gd name="T38" fmla="*/ 865 w 879"/>
                  <a:gd name="T39" fmla="*/ 68 h 366"/>
                  <a:gd name="T40" fmla="*/ 826 w 879"/>
                  <a:gd name="T41" fmla="*/ 11 h 366"/>
                  <a:gd name="T42" fmla="*/ 755 w 879"/>
                  <a:gd name="T43" fmla="*/ 4 h 366"/>
                  <a:gd name="T44" fmla="*/ 833 w 879"/>
                  <a:gd name="T45" fmla="*/ 0 h 366"/>
                  <a:gd name="T46" fmla="*/ 878 w 879"/>
                  <a:gd name="T47" fmla="*/ 34 h 366"/>
                  <a:gd name="T48" fmla="*/ 876 w 879"/>
                  <a:gd name="T49" fmla="*/ 74 h 366"/>
                  <a:gd name="T50" fmla="*/ 800 w 879"/>
                  <a:gd name="T51" fmla="*/ 113 h 366"/>
                  <a:gd name="T52" fmla="*/ 793 w 879"/>
                  <a:gd name="T53" fmla="*/ 252 h 366"/>
                  <a:gd name="T54" fmla="*/ 748 w 879"/>
                  <a:gd name="T55" fmla="*/ 306 h 366"/>
                  <a:gd name="T56" fmla="*/ 613 w 879"/>
                  <a:gd name="T57" fmla="*/ 347 h 366"/>
                  <a:gd name="T58" fmla="*/ 508 w 879"/>
                  <a:gd name="T59" fmla="*/ 365 h 366"/>
                  <a:gd name="T60" fmla="*/ 425 w 879"/>
                  <a:gd name="T61" fmla="*/ 341 h 366"/>
                  <a:gd name="T62" fmla="*/ 344 w 879"/>
                  <a:gd name="T63" fmla="*/ 334 h 366"/>
                  <a:gd name="T64" fmla="*/ 265 w 879"/>
                  <a:gd name="T65" fmla="*/ 307 h 366"/>
                  <a:gd name="T66" fmla="*/ 224 w 879"/>
                  <a:gd name="T67" fmla="*/ 279 h 366"/>
                  <a:gd name="T68" fmla="*/ 182 w 879"/>
                  <a:gd name="T69" fmla="*/ 222 h 366"/>
                  <a:gd name="T70" fmla="*/ 150 w 879"/>
                  <a:gd name="T71" fmla="*/ 116 h 366"/>
                  <a:gd name="T72" fmla="*/ 101 w 879"/>
                  <a:gd name="T73" fmla="*/ 129 h 366"/>
                  <a:gd name="T74" fmla="*/ 47 w 879"/>
                  <a:gd name="T75" fmla="*/ 110 h 366"/>
                  <a:gd name="T76" fmla="*/ 0 w 879"/>
                  <a:gd name="T77" fmla="*/ 58 h 366"/>
                  <a:gd name="T78" fmla="*/ 13 w 879"/>
                  <a:gd name="T79" fmla="*/ 27 h 366"/>
                  <a:gd name="T80" fmla="*/ 47 w 879"/>
                  <a:gd name="T81" fmla="*/ 14 h 366"/>
                  <a:gd name="T82" fmla="*/ 52 w 879"/>
                  <a:gd name="T83" fmla="*/ 20 h 366"/>
                  <a:gd name="T84" fmla="*/ 22 w 879"/>
                  <a:gd name="T85" fmla="*/ 31 h 366"/>
                  <a:gd name="T86" fmla="*/ 13 w 879"/>
                  <a:gd name="T87" fmla="*/ 54 h 366"/>
                  <a:gd name="T88" fmla="*/ 61 w 879"/>
                  <a:gd name="T89" fmla="*/ 108 h 366"/>
                  <a:gd name="T90" fmla="*/ 144 w 879"/>
                  <a:gd name="T91" fmla="*/ 108 h 366"/>
                  <a:gd name="T92" fmla="*/ 130 w 879"/>
                  <a:gd name="T93" fmla="*/ 54 h 366"/>
                  <a:gd name="T94" fmla="*/ 150 w 879"/>
                  <a:gd name="T95" fmla="*/ 84 h 36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879" h="366">
                    <a:moveTo>
                      <a:pt x="150" y="84"/>
                    </a:moveTo>
                    <a:lnTo>
                      <a:pt x="169" y="130"/>
                    </a:lnTo>
                    <a:lnTo>
                      <a:pt x="197" y="218"/>
                    </a:lnTo>
                    <a:lnTo>
                      <a:pt x="224" y="269"/>
                    </a:lnTo>
                    <a:lnTo>
                      <a:pt x="261" y="289"/>
                    </a:lnTo>
                    <a:lnTo>
                      <a:pt x="346" y="314"/>
                    </a:lnTo>
                    <a:lnTo>
                      <a:pt x="406" y="324"/>
                    </a:lnTo>
                    <a:lnTo>
                      <a:pt x="438" y="341"/>
                    </a:lnTo>
                    <a:lnTo>
                      <a:pt x="487" y="347"/>
                    </a:lnTo>
                    <a:lnTo>
                      <a:pt x="508" y="330"/>
                    </a:lnTo>
                    <a:lnTo>
                      <a:pt x="546" y="341"/>
                    </a:lnTo>
                    <a:lnTo>
                      <a:pt x="604" y="338"/>
                    </a:lnTo>
                    <a:lnTo>
                      <a:pt x="624" y="324"/>
                    </a:lnTo>
                    <a:lnTo>
                      <a:pt x="669" y="307"/>
                    </a:lnTo>
                    <a:lnTo>
                      <a:pt x="736" y="285"/>
                    </a:lnTo>
                    <a:lnTo>
                      <a:pt x="770" y="257"/>
                    </a:lnTo>
                    <a:lnTo>
                      <a:pt x="782" y="222"/>
                    </a:lnTo>
                    <a:lnTo>
                      <a:pt x="775" y="54"/>
                    </a:lnTo>
                    <a:lnTo>
                      <a:pt x="800" y="80"/>
                    </a:lnTo>
                    <a:lnTo>
                      <a:pt x="865" y="68"/>
                    </a:lnTo>
                    <a:lnTo>
                      <a:pt x="826" y="11"/>
                    </a:lnTo>
                    <a:lnTo>
                      <a:pt x="755" y="4"/>
                    </a:lnTo>
                    <a:lnTo>
                      <a:pt x="833" y="0"/>
                    </a:lnTo>
                    <a:lnTo>
                      <a:pt x="878" y="34"/>
                    </a:lnTo>
                    <a:lnTo>
                      <a:pt x="876" y="74"/>
                    </a:lnTo>
                    <a:lnTo>
                      <a:pt x="800" y="113"/>
                    </a:lnTo>
                    <a:lnTo>
                      <a:pt x="793" y="252"/>
                    </a:lnTo>
                    <a:lnTo>
                      <a:pt x="748" y="306"/>
                    </a:lnTo>
                    <a:lnTo>
                      <a:pt x="613" y="347"/>
                    </a:lnTo>
                    <a:lnTo>
                      <a:pt x="508" y="365"/>
                    </a:lnTo>
                    <a:lnTo>
                      <a:pt x="425" y="341"/>
                    </a:lnTo>
                    <a:lnTo>
                      <a:pt x="344" y="334"/>
                    </a:lnTo>
                    <a:lnTo>
                      <a:pt x="265" y="307"/>
                    </a:lnTo>
                    <a:lnTo>
                      <a:pt x="224" y="279"/>
                    </a:lnTo>
                    <a:lnTo>
                      <a:pt x="182" y="222"/>
                    </a:lnTo>
                    <a:lnTo>
                      <a:pt x="150" y="116"/>
                    </a:lnTo>
                    <a:lnTo>
                      <a:pt x="101" y="129"/>
                    </a:lnTo>
                    <a:lnTo>
                      <a:pt x="47" y="110"/>
                    </a:lnTo>
                    <a:lnTo>
                      <a:pt x="0" y="58"/>
                    </a:lnTo>
                    <a:lnTo>
                      <a:pt x="13" y="27"/>
                    </a:lnTo>
                    <a:lnTo>
                      <a:pt x="47" y="14"/>
                    </a:lnTo>
                    <a:lnTo>
                      <a:pt x="52" y="20"/>
                    </a:lnTo>
                    <a:lnTo>
                      <a:pt x="22" y="31"/>
                    </a:lnTo>
                    <a:lnTo>
                      <a:pt x="13" y="54"/>
                    </a:lnTo>
                    <a:lnTo>
                      <a:pt x="61" y="108"/>
                    </a:lnTo>
                    <a:lnTo>
                      <a:pt x="144" y="108"/>
                    </a:lnTo>
                    <a:lnTo>
                      <a:pt x="130" y="54"/>
                    </a:lnTo>
                    <a:lnTo>
                      <a:pt x="150" y="84"/>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9" name="Freeform 26">
                <a:extLst>
                  <a:ext uri="{FF2B5EF4-FFF2-40B4-BE49-F238E27FC236}">
                    <a16:creationId xmlns:a16="http://schemas.microsoft.com/office/drawing/2014/main" id="{38B2A2EB-750E-46FD-A1D8-6DE376148C84}"/>
                  </a:ext>
                </a:extLst>
              </p:cNvPr>
              <p:cNvSpPr>
                <a:spLocks/>
              </p:cNvSpPr>
              <p:nvPr/>
            </p:nvSpPr>
            <p:spPr bwMode="auto">
              <a:xfrm>
                <a:off x="2066" y="651"/>
                <a:ext cx="147" cy="18"/>
              </a:xfrm>
              <a:custGeom>
                <a:avLst/>
                <a:gdLst>
                  <a:gd name="T0" fmla="*/ 9 w 147"/>
                  <a:gd name="T1" fmla="*/ 0 h 18"/>
                  <a:gd name="T2" fmla="*/ 29 w 147"/>
                  <a:gd name="T3" fmla="*/ 7 h 18"/>
                  <a:gd name="T4" fmla="*/ 67 w 147"/>
                  <a:gd name="T5" fmla="*/ 10 h 18"/>
                  <a:gd name="T6" fmla="*/ 99 w 147"/>
                  <a:gd name="T7" fmla="*/ 10 h 18"/>
                  <a:gd name="T8" fmla="*/ 139 w 147"/>
                  <a:gd name="T9" fmla="*/ 7 h 18"/>
                  <a:gd name="T10" fmla="*/ 146 w 147"/>
                  <a:gd name="T11" fmla="*/ 14 h 18"/>
                  <a:gd name="T12" fmla="*/ 119 w 147"/>
                  <a:gd name="T13" fmla="*/ 17 h 18"/>
                  <a:gd name="T14" fmla="*/ 67 w 147"/>
                  <a:gd name="T15" fmla="*/ 17 h 18"/>
                  <a:gd name="T16" fmla="*/ 29 w 147"/>
                  <a:gd name="T17" fmla="*/ 14 h 18"/>
                  <a:gd name="T18" fmla="*/ 0 w 147"/>
                  <a:gd name="T19" fmla="*/ 3 h 18"/>
                  <a:gd name="T20" fmla="*/ 9 w 147"/>
                  <a:gd name="T21" fmla="*/ 0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7" h="18">
                    <a:moveTo>
                      <a:pt x="9" y="0"/>
                    </a:moveTo>
                    <a:lnTo>
                      <a:pt x="29" y="7"/>
                    </a:lnTo>
                    <a:lnTo>
                      <a:pt x="67" y="10"/>
                    </a:lnTo>
                    <a:lnTo>
                      <a:pt x="99" y="10"/>
                    </a:lnTo>
                    <a:lnTo>
                      <a:pt x="139" y="7"/>
                    </a:lnTo>
                    <a:lnTo>
                      <a:pt x="146" y="14"/>
                    </a:lnTo>
                    <a:lnTo>
                      <a:pt x="119" y="17"/>
                    </a:lnTo>
                    <a:lnTo>
                      <a:pt x="67" y="17"/>
                    </a:lnTo>
                    <a:lnTo>
                      <a:pt x="29" y="14"/>
                    </a:lnTo>
                    <a:lnTo>
                      <a:pt x="0" y="3"/>
                    </a:lnTo>
                    <a:lnTo>
                      <a:pt x="9"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0" name="Freeform 27">
                <a:extLst>
                  <a:ext uri="{FF2B5EF4-FFF2-40B4-BE49-F238E27FC236}">
                    <a16:creationId xmlns:a16="http://schemas.microsoft.com/office/drawing/2014/main" id="{49D4BCF4-98EE-4F46-8FC3-4F1786408C2B}"/>
                  </a:ext>
                </a:extLst>
              </p:cNvPr>
              <p:cNvSpPr>
                <a:spLocks/>
              </p:cNvSpPr>
              <p:nvPr/>
            </p:nvSpPr>
            <p:spPr bwMode="auto">
              <a:xfrm>
                <a:off x="1690" y="447"/>
                <a:ext cx="126" cy="26"/>
              </a:xfrm>
              <a:custGeom>
                <a:avLst/>
                <a:gdLst>
                  <a:gd name="T0" fmla="*/ 123 w 126"/>
                  <a:gd name="T1" fmla="*/ 15 h 26"/>
                  <a:gd name="T2" fmla="*/ 84 w 126"/>
                  <a:gd name="T3" fmla="*/ 3 h 26"/>
                  <a:gd name="T4" fmla="*/ 39 w 126"/>
                  <a:gd name="T5" fmla="*/ 0 h 26"/>
                  <a:gd name="T6" fmla="*/ 2 w 126"/>
                  <a:gd name="T7" fmla="*/ 0 h 26"/>
                  <a:gd name="T8" fmla="*/ 0 w 126"/>
                  <a:gd name="T9" fmla="*/ 8 h 26"/>
                  <a:gd name="T10" fmla="*/ 46 w 126"/>
                  <a:gd name="T11" fmla="*/ 8 h 26"/>
                  <a:gd name="T12" fmla="*/ 89 w 126"/>
                  <a:gd name="T13" fmla="*/ 13 h 26"/>
                  <a:gd name="T14" fmla="*/ 125 w 126"/>
                  <a:gd name="T15" fmla="*/ 25 h 26"/>
                  <a:gd name="T16" fmla="*/ 123 w 126"/>
                  <a:gd name="T17" fmla="*/ 15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6" h="26">
                    <a:moveTo>
                      <a:pt x="123" y="15"/>
                    </a:moveTo>
                    <a:lnTo>
                      <a:pt x="84" y="3"/>
                    </a:lnTo>
                    <a:lnTo>
                      <a:pt x="39" y="0"/>
                    </a:lnTo>
                    <a:lnTo>
                      <a:pt x="2" y="0"/>
                    </a:lnTo>
                    <a:lnTo>
                      <a:pt x="0" y="8"/>
                    </a:lnTo>
                    <a:lnTo>
                      <a:pt x="46" y="8"/>
                    </a:lnTo>
                    <a:lnTo>
                      <a:pt x="89" y="13"/>
                    </a:lnTo>
                    <a:lnTo>
                      <a:pt x="125" y="25"/>
                    </a:lnTo>
                    <a:lnTo>
                      <a:pt x="123" y="15"/>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1" name="Freeform 28">
                <a:extLst>
                  <a:ext uri="{FF2B5EF4-FFF2-40B4-BE49-F238E27FC236}">
                    <a16:creationId xmlns:a16="http://schemas.microsoft.com/office/drawing/2014/main" id="{A68AE61C-5C57-4DBD-ABBC-B2A07FB970FD}"/>
                  </a:ext>
                </a:extLst>
              </p:cNvPr>
              <p:cNvSpPr>
                <a:spLocks/>
              </p:cNvSpPr>
              <p:nvPr/>
            </p:nvSpPr>
            <p:spPr bwMode="auto">
              <a:xfrm>
                <a:off x="2454" y="416"/>
                <a:ext cx="66" cy="44"/>
              </a:xfrm>
              <a:custGeom>
                <a:avLst/>
                <a:gdLst>
                  <a:gd name="T0" fmla="*/ 0 w 66"/>
                  <a:gd name="T1" fmla="*/ 33 h 44"/>
                  <a:gd name="T2" fmla="*/ 22 w 66"/>
                  <a:gd name="T3" fmla="*/ 17 h 44"/>
                  <a:gd name="T4" fmla="*/ 61 w 66"/>
                  <a:gd name="T5" fmla="*/ 0 h 44"/>
                  <a:gd name="T6" fmla="*/ 65 w 66"/>
                  <a:gd name="T7" fmla="*/ 8 h 44"/>
                  <a:gd name="T8" fmla="*/ 33 w 66"/>
                  <a:gd name="T9" fmla="*/ 20 h 44"/>
                  <a:gd name="T10" fmla="*/ 0 w 66"/>
                  <a:gd name="T11" fmla="*/ 43 h 44"/>
                  <a:gd name="T12" fmla="*/ 0 w 66"/>
                  <a:gd name="T13" fmla="*/ 33 h 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4">
                    <a:moveTo>
                      <a:pt x="0" y="33"/>
                    </a:moveTo>
                    <a:lnTo>
                      <a:pt x="22" y="17"/>
                    </a:lnTo>
                    <a:lnTo>
                      <a:pt x="61" y="0"/>
                    </a:lnTo>
                    <a:lnTo>
                      <a:pt x="65" y="8"/>
                    </a:lnTo>
                    <a:lnTo>
                      <a:pt x="33" y="20"/>
                    </a:lnTo>
                    <a:lnTo>
                      <a:pt x="0" y="43"/>
                    </a:lnTo>
                    <a:lnTo>
                      <a:pt x="0" y="3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2" name="Freeform 29">
                <a:extLst>
                  <a:ext uri="{FF2B5EF4-FFF2-40B4-BE49-F238E27FC236}">
                    <a16:creationId xmlns:a16="http://schemas.microsoft.com/office/drawing/2014/main" id="{4A9C4BCF-3795-458F-BF55-464A139388C2}"/>
                  </a:ext>
                </a:extLst>
              </p:cNvPr>
              <p:cNvSpPr>
                <a:spLocks/>
              </p:cNvSpPr>
              <p:nvPr/>
            </p:nvSpPr>
            <p:spPr bwMode="auto">
              <a:xfrm>
                <a:off x="1221" y="633"/>
                <a:ext cx="660" cy="477"/>
              </a:xfrm>
              <a:custGeom>
                <a:avLst/>
                <a:gdLst>
                  <a:gd name="T0" fmla="*/ 645 w 660"/>
                  <a:gd name="T1" fmla="*/ 0 h 477"/>
                  <a:gd name="T2" fmla="*/ 468 w 660"/>
                  <a:gd name="T3" fmla="*/ 32 h 477"/>
                  <a:gd name="T4" fmla="*/ 274 w 660"/>
                  <a:gd name="T5" fmla="*/ 101 h 477"/>
                  <a:gd name="T6" fmla="*/ 158 w 660"/>
                  <a:gd name="T7" fmla="*/ 119 h 477"/>
                  <a:gd name="T8" fmla="*/ 139 w 660"/>
                  <a:gd name="T9" fmla="*/ 158 h 477"/>
                  <a:gd name="T10" fmla="*/ 97 w 660"/>
                  <a:gd name="T11" fmla="*/ 166 h 477"/>
                  <a:gd name="T12" fmla="*/ 47 w 660"/>
                  <a:gd name="T13" fmla="*/ 239 h 477"/>
                  <a:gd name="T14" fmla="*/ 81 w 660"/>
                  <a:gd name="T15" fmla="*/ 303 h 477"/>
                  <a:gd name="T16" fmla="*/ 50 w 660"/>
                  <a:gd name="T17" fmla="*/ 342 h 477"/>
                  <a:gd name="T18" fmla="*/ 74 w 660"/>
                  <a:gd name="T19" fmla="*/ 366 h 477"/>
                  <a:gd name="T20" fmla="*/ 0 w 660"/>
                  <a:gd name="T21" fmla="*/ 443 h 477"/>
                  <a:gd name="T22" fmla="*/ 18 w 660"/>
                  <a:gd name="T23" fmla="*/ 457 h 477"/>
                  <a:gd name="T24" fmla="*/ 43 w 660"/>
                  <a:gd name="T25" fmla="*/ 450 h 477"/>
                  <a:gd name="T26" fmla="*/ 31 w 660"/>
                  <a:gd name="T27" fmla="*/ 438 h 477"/>
                  <a:gd name="T28" fmla="*/ 104 w 660"/>
                  <a:gd name="T29" fmla="*/ 358 h 477"/>
                  <a:gd name="T30" fmla="*/ 277 w 660"/>
                  <a:gd name="T31" fmla="*/ 362 h 477"/>
                  <a:gd name="T32" fmla="*/ 463 w 660"/>
                  <a:gd name="T33" fmla="*/ 453 h 477"/>
                  <a:gd name="T34" fmla="*/ 202 w 660"/>
                  <a:gd name="T35" fmla="*/ 445 h 477"/>
                  <a:gd name="T36" fmla="*/ 279 w 660"/>
                  <a:gd name="T37" fmla="*/ 450 h 477"/>
                  <a:gd name="T38" fmla="*/ 355 w 660"/>
                  <a:gd name="T39" fmla="*/ 476 h 477"/>
                  <a:gd name="T40" fmla="*/ 547 w 660"/>
                  <a:gd name="T41" fmla="*/ 466 h 477"/>
                  <a:gd name="T42" fmla="*/ 659 w 660"/>
                  <a:gd name="T43" fmla="*/ 466 h 477"/>
                  <a:gd name="T44" fmla="*/ 544 w 660"/>
                  <a:gd name="T45" fmla="*/ 457 h 477"/>
                  <a:gd name="T46" fmla="*/ 544 w 660"/>
                  <a:gd name="T47" fmla="*/ 406 h 477"/>
                  <a:gd name="T48" fmla="*/ 412 w 660"/>
                  <a:gd name="T49" fmla="*/ 261 h 477"/>
                  <a:gd name="T50" fmla="*/ 297 w 660"/>
                  <a:gd name="T51" fmla="*/ 209 h 477"/>
                  <a:gd name="T52" fmla="*/ 407 w 660"/>
                  <a:gd name="T53" fmla="*/ 270 h 477"/>
                  <a:gd name="T54" fmla="*/ 477 w 660"/>
                  <a:gd name="T55" fmla="*/ 371 h 477"/>
                  <a:gd name="T56" fmla="*/ 477 w 660"/>
                  <a:gd name="T57" fmla="*/ 443 h 477"/>
                  <a:gd name="T58" fmla="*/ 277 w 660"/>
                  <a:gd name="T59" fmla="*/ 350 h 477"/>
                  <a:gd name="T60" fmla="*/ 191 w 660"/>
                  <a:gd name="T61" fmla="*/ 335 h 477"/>
                  <a:gd name="T62" fmla="*/ 94 w 660"/>
                  <a:gd name="T63" fmla="*/ 298 h 477"/>
                  <a:gd name="T64" fmla="*/ 67 w 660"/>
                  <a:gd name="T65" fmla="*/ 247 h 477"/>
                  <a:gd name="T66" fmla="*/ 97 w 660"/>
                  <a:gd name="T67" fmla="*/ 218 h 477"/>
                  <a:gd name="T68" fmla="*/ 97 w 660"/>
                  <a:gd name="T69" fmla="*/ 178 h 477"/>
                  <a:gd name="T70" fmla="*/ 144 w 660"/>
                  <a:gd name="T71" fmla="*/ 164 h 477"/>
                  <a:gd name="T72" fmla="*/ 202 w 660"/>
                  <a:gd name="T73" fmla="*/ 178 h 477"/>
                  <a:gd name="T74" fmla="*/ 171 w 660"/>
                  <a:gd name="T75" fmla="*/ 145 h 477"/>
                  <a:gd name="T76" fmla="*/ 191 w 660"/>
                  <a:gd name="T77" fmla="*/ 118 h 477"/>
                  <a:gd name="T78" fmla="*/ 279 w 660"/>
                  <a:gd name="T79" fmla="*/ 106 h 477"/>
                  <a:gd name="T80" fmla="*/ 479 w 660"/>
                  <a:gd name="T81" fmla="*/ 32 h 477"/>
                  <a:gd name="T82" fmla="*/ 645 w 660"/>
                  <a:gd name="T83" fmla="*/ 0 h 47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60" h="477">
                    <a:moveTo>
                      <a:pt x="645" y="0"/>
                    </a:moveTo>
                    <a:lnTo>
                      <a:pt x="468" y="32"/>
                    </a:lnTo>
                    <a:lnTo>
                      <a:pt x="274" y="101"/>
                    </a:lnTo>
                    <a:lnTo>
                      <a:pt x="158" y="119"/>
                    </a:lnTo>
                    <a:lnTo>
                      <a:pt x="139" y="158"/>
                    </a:lnTo>
                    <a:lnTo>
                      <a:pt x="97" y="166"/>
                    </a:lnTo>
                    <a:lnTo>
                      <a:pt x="47" y="239"/>
                    </a:lnTo>
                    <a:lnTo>
                      <a:pt x="81" y="303"/>
                    </a:lnTo>
                    <a:lnTo>
                      <a:pt x="50" y="342"/>
                    </a:lnTo>
                    <a:lnTo>
                      <a:pt x="74" y="366"/>
                    </a:lnTo>
                    <a:lnTo>
                      <a:pt x="0" y="443"/>
                    </a:lnTo>
                    <a:lnTo>
                      <a:pt x="18" y="457"/>
                    </a:lnTo>
                    <a:lnTo>
                      <a:pt x="43" y="450"/>
                    </a:lnTo>
                    <a:lnTo>
                      <a:pt x="31" y="438"/>
                    </a:lnTo>
                    <a:lnTo>
                      <a:pt x="104" y="358"/>
                    </a:lnTo>
                    <a:lnTo>
                      <a:pt x="277" y="362"/>
                    </a:lnTo>
                    <a:lnTo>
                      <a:pt x="463" y="453"/>
                    </a:lnTo>
                    <a:lnTo>
                      <a:pt x="202" y="445"/>
                    </a:lnTo>
                    <a:lnTo>
                      <a:pt x="279" y="450"/>
                    </a:lnTo>
                    <a:lnTo>
                      <a:pt x="355" y="476"/>
                    </a:lnTo>
                    <a:lnTo>
                      <a:pt x="547" y="466"/>
                    </a:lnTo>
                    <a:lnTo>
                      <a:pt x="659" y="466"/>
                    </a:lnTo>
                    <a:lnTo>
                      <a:pt x="544" y="457"/>
                    </a:lnTo>
                    <a:lnTo>
                      <a:pt x="544" y="406"/>
                    </a:lnTo>
                    <a:lnTo>
                      <a:pt x="412" y="261"/>
                    </a:lnTo>
                    <a:lnTo>
                      <a:pt x="297" y="209"/>
                    </a:lnTo>
                    <a:lnTo>
                      <a:pt x="407" y="270"/>
                    </a:lnTo>
                    <a:lnTo>
                      <a:pt x="477" y="371"/>
                    </a:lnTo>
                    <a:lnTo>
                      <a:pt x="477" y="443"/>
                    </a:lnTo>
                    <a:lnTo>
                      <a:pt x="277" y="350"/>
                    </a:lnTo>
                    <a:lnTo>
                      <a:pt x="191" y="335"/>
                    </a:lnTo>
                    <a:lnTo>
                      <a:pt x="94" y="298"/>
                    </a:lnTo>
                    <a:lnTo>
                      <a:pt x="67" y="247"/>
                    </a:lnTo>
                    <a:lnTo>
                      <a:pt x="97" y="218"/>
                    </a:lnTo>
                    <a:lnTo>
                      <a:pt x="97" y="178"/>
                    </a:lnTo>
                    <a:lnTo>
                      <a:pt x="144" y="164"/>
                    </a:lnTo>
                    <a:lnTo>
                      <a:pt x="202" y="178"/>
                    </a:lnTo>
                    <a:lnTo>
                      <a:pt x="171" y="145"/>
                    </a:lnTo>
                    <a:lnTo>
                      <a:pt x="191" y="118"/>
                    </a:lnTo>
                    <a:lnTo>
                      <a:pt x="279" y="106"/>
                    </a:lnTo>
                    <a:lnTo>
                      <a:pt x="479" y="32"/>
                    </a:lnTo>
                    <a:lnTo>
                      <a:pt x="645"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3" name="Freeform 30">
                <a:extLst>
                  <a:ext uri="{FF2B5EF4-FFF2-40B4-BE49-F238E27FC236}">
                    <a16:creationId xmlns:a16="http://schemas.microsoft.com/office/drawing/2014/main" id="{BBDF7F1C-F7C5-486B-A342-0C64BFB6799D}"/>
                  </a:ext>
                </a:extLst>
              </p:cNvPr>
              <p:cNvSpPr>
                <a:spLocks/>
              </p:cNvSpPr>
              <p:nvPr/>
            </p:nvSpPr>
            <p:spPr bwMode="auto">
              <a:xfrm>
                <a:off x="1200" y="1071"/>
                <a:ext cx="696" cy="259"/>
              </a:xfrm>
              <a:custGeom>
                <a:avLst/>
                <a:gdLst>
                  <a:gd name="T0" fmla="*/ 115 w 696"/>
                  <a:gd name="T1" fmla="*/ 0 h 259"/>
                  <a:gd name="T2" fmla="*/ 22 w 696"/>
                  <a:gd name="T3" fmla="*/ 43 h 259"/>
                  <a:gd name="T4" fmla="*/ 22 w 696"/>
                  <a:gd name="T5" fmla="*/ 99 h 259"/>
                  <a:gd name="T6" fmla="*/ 140 w 696"/>
                  <a:gd name="T7" fmla="*/ 192 h 259"/>
                  <a:gd name="T8" fmla="*/ 393 w 696"/>
                  <a:gd name="T9" fmla="*/ 175 h 259"/>
                  <a:gd name="T10" fmla="*/ 506 w 696"/>
                  <a:gd name="T11" fmla="*/ 223 h 259"/>
                  <a:gd name="T12" fmla="*/ 598 w 696"/>
                  <a:gd name="T13" fmla="*/ 220 h 259"/>
                  <a:gd name="T14" fmla="*/ 609 w 696"/>
                  <a:gd name="T15" fmla="*/ 127 h 259"/>
                  <a:gd name="T16" fmla="*/ 695 w 696"/>
                  <a:gd name="T17" fmla="*/ 35 h 259"/>
                  <a:gd name="T18" fmla="*/ 643 w 696"/>
                  <a:gd name="T19" fmla="*/ 114 h 259"/>
                  <a:gd name="T20" fmla="*/ 643 w 696"/>
                  <a:gd name="T21" fmla="*/ 192 h 259"/>
                  <a:gd name="T22" fmla="*/ 672 w 696"/>
                  <a:gd name="T23" fmla="*/ 258 h 259"/>
                  <a:gd name="T24" fmla="*/ 499 w 696"/>
                  <a:gd name="T25" fmla="*/ 251 h 259"/>
                  <a:gd name="T26" fmla="*/ 337 w 696"/>
                  <a:gd name="T27" fmla="*/ 233 h 259"/>
                  <a:gd name="T28" fmla="*/ 158 w 696"/>
                  <a:gd name="T29" fmla="*/ 233 h 259"/>
                  <a:gd name="T30" fmla="*/ 79 w 696"/>
                  <a:gd name="T31" fmla="*/ 183 h 259"/>
                  <a:gd name="T32" fmla="*/ 0 w 696"/>
                  <a:gd name="T33" fmla="*/ 94 h 259"/>
                  <a:gd name="T34" fmla="*/ 4 w 696"/>
                  <a:gd name="T35" fmla="*/ 28 h 259"/>
                  <a:gd name="T36" fmla="*/ 115 w 696"/>
                  <a:gd name="T37" fmla="*/ 0 h 2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96" h="259">
                    <a:moveTo>
                      <a:pt x="115" y="0"/>
                    </a:moveTo>
                    <a:lnTo>
                      <a:pt x="22" y="43"/>
                    </a:lnTo>
                    <a:lnTo>
                      <a:pt x="22" y="99"/>
                    </a:lnTo>
                    <a:lnTo>
                      <a:pt x="140" y="192"/>
                    </a:lnTo>
                    <a:lnTo>
                      <a:pt x="393" y="175"/>
                    </a:lnTo>
                    <a:lnTo>
                      <a:pt x="506" y="223"/>
                    </a:lnTo>
                    <a:lnTo>
                      <a:pt x="598" y="220"/>
                    </a:lnTo>
                    <a:lnTo>
                      <a:pt x="609" y="127"/>
                    </a:lnTo>
                    <a:lnTo>
                      <a:pt x="695" y="35"/>
                    </a:lnTo>
                    <a:lnTo>
                      <a:pt x="643" y="114"/>
                    </a:lnTo>
                    <a:lnTo>
                      <a:pt x="643" y="192"/>
                    </a:lnTo>
                    <a:lnTo>
                      <a:pt x="672" y="258"/>
                    </a:lnTo>
                    <a:lnTo>
                      <a:pt x="499" y="251"/>
                    </a:lnTo>
                    <a:lnTo>
                      <a:pt x="337" y="233"/>
                    </a:lnTo>
                    <a:lnTo>
                      <a:pt x="158" y="233"/>
                    </a:lnTo>
                    <a:lnTo>
                      <a:pt x="79" y="183"/>
                    </a:lnTo>
                    <a:lnTo>
                      <a:pt x="0" y="94"/>
                    </a:lnTo>
                    <a:lnTo>
                      <a:pt x="4" y="28"/>
                    </a:lnTo>
                    <a:lnTo>
                      <a:pt x="115"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4" name="Freeform 31">
                <a:extLst>
                  <a:ext uri="{FF2B5EF4-FFF2-40B4-BE49-F238E27FC236}">
                    <a16:creationId xmlns:a16="http://schemas.microsoft.com/office/drawing/2014/main" id="{BE26EBEF-C3AB-4E0B-B3FF-FCB493CA72C6}"/>
                  </a:ext>
                </a:extLst>
              </p:cNvPr>
              <p:cNvSpPr>
                <a:spLocks/>
              </p:cNvSpPr>
              <p:nvPr/>
            </p:nvSpPr>
            <p:spPr bwMode="auto">
              <a:xfrm>
                <a:off x="2414" y="905"/>
                <a:ext cx="131" cy="132"/>
              </a:xfrm>
              <a:custGeom>
                <a:avLst/>
                <a:gdLst>
                  <a:gd name="T0" fmla="*/ 0 w 131"/>
                  <a:gd name="T1" fmla="*/ 122 h 132"/>
                  <a:gd name="T2" fmla="*/ 58 w 131"/>
                  <a:gd name="T3" fmla="*/ 75 h 132"/>
                  <a:gd name="T4" fmla="*/ 121 w 131"/>
                  <a:gd name="T5" fmla="*/ 0 h 132"/>
                  <a:gd name="T6" fmla="*/ 130 w 131"/>
                  <a:gd name="T7" fmla="*/ 23 h 132"/>
                  <a:gd name="T8" fmla="*/ 72 w 131"/>
                  <a:gd name="T9" fmla="*/ 85 h 132"/>
                  <a:gd name="T10" fmla="*/ 20 w 131"/>
                  <a:gd name="T11" fmla="*/ 131 h 132"/>
                  <a:gd name="T12" fmla="*/ 0 w 131"/>
                  <a:gd name="T13" fmla="*/ 122 h 1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1" h="132">
                    <a:moveTo>
                      <a:pt x="0" y="122"/>
                    </a:moveTo>
                    <a:lnTo>
                      <a:pt x="58" y="75"/>
                    </a:lnTo>
                    <a:lnTo>
                      <a:pt x="121" y="0"/>
                    </a:lnTo>
                    <a:lnTo>
                      <a:pt x="130" y="23"/>
                    </a:lnTo>
                    <a:lnTo>
                      <a:pt x="72" y="85"/>
                    </a:lnTo>
                    <a:lnTo>
                      <a:pt x="20" y="131"/>
                    </a:lnTo>
                    <a:lnTo>
                      <a:pt x="0" y="12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5" name="Freeform 32">
                <a:extLst>
                  <a:ext uri="{FF2B5EF4-FFF2-40B4-BE49-F238E27FC236}">
                    <a16:creationId xmlns:a16="http://schemas.microsoft.com/office/drawing/2014/main" id="{D27D9CF6-AFD1-4606-8799-81CAA1E499B4}"/>
                  </a:ext>
                </a:extLst>
              </p:cNvPr>
              <p:cNvSpPr>
                <a:spLocks/>
              </p:cNvSpPr>
              <p:nvPr/>
            </p:nvSpPr>
            <p:spPr bwMode="auto">
              <a:xfrm>
                <a:off x="1959" y="741"/>
                <a:ext cx="534" cy="348"/>
              </a:xfrm>
              <a:custGeom>
                <a:avLst/>
                <a:gdLst>
                  <a:gd name="T0" fmla="*/ 533 w 534"/>
                  <a:gd name="T1" fmla="*/ 347 h 348"/>
                  <a:gd name="T2" fmla="*/ 477 w 534"/>
                  <a:gd name="T3" fmla="*/ 279 h 348"/>
                  <a:gd name="T4" fmla="*/ 261 w 534"/>
                  <a:gd name="T5" fmla="*/ 215 h 348"/>
                  <a:gd name="T6" fmla="*/ 142 w 534"/>
                  <a:gd name="T7" fmla="*/ 150 h 348"/>
                  <a:gd name="T8" fmla="*/ 38 w 534"/>
                  <a:gd name="T9" fmla="*/ 61 h 348"/>
                  <a:gd name="T10" fmla="*/ 0 w 534"/>
                  <a:gd name="T11" fmla="*/ 0 h 348"/>
                  <a:gd name="T12" fmla="*/ 47 w 534"/>
                  <a:gd name="T13" fmla="*/ 93 h 348"/>
                  <a:gd name="T14" fmla="*/ 180 w 534"/>
                  <a:gd name="T15" fmla="*/ 199 h 348"/>
                  <a:gd name="T16" fmla="*/ 353 w 534"/>
                  <a:gd name="T17" fmla="*/ 272 h 348"/>
                  <a:gd name="T18" fmla="*/ 470 w 534"/>
                  <a:gd name="T19" fmla="*/ 312 h 348"/>
                  <a:gd name="T20" fmla="*/ 499 w 534"/>
                  <a:gd name="T21" fmla="*/ 342 h 348"/>
                  <a:gd name="T22" fmla="*/ 533 w 534"/>
                  <a:gd name="T23" fmla="*/ 347 h 3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34" h="348">
                    <a:moveTo>
                      <a:pt x="533" y="347"/>
                    </a:moveTo>
                    <a:lnTo>
                      <a:pt x="477" y="279"/>
                    </a:lnTo>
                    <a:lnTo>
                      <a:pt x="261" y="215"/>
                    </a:lnTo>
                    <a:lnTo>
                      <a:pt x="142" y="150"/>
                    </a:lnTo>
                    <a:lnTo>
                      <a:pt x="38" y="61"/>
                    </a:lnTo>
                    <a:lnTo>
                      <a:pt x="0" y="0"/>
                    </a:lnTo>
                    <a:lnTo>
                      <a:pt x="47" y="93"/>
                    </a:lnTo>
                    <a:lnTo>
                      <a:pt x="180" y="199"/>
                    </a:lnTo>
                    <a:lnTo>
                      <a:pt x="353" y="272"/>
                    </a:lnTo>
                    <a:lnTo>
                      <a:pt x="470" y="312"/>
                    </a:lnTo>
                    <a:lnTo>
                      <a:pt x="499" y="342"/>
                    </a:lnTo>
                    <a:lnTo>
                      <a:pt x="533" y="347"/>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6" name="Freeform 33">
                <a:extLst>
                  <a:ext uri="{FF2B5EF4-FFF2-40B4-BE49-F238E27FC236}">
                    <a16:creationId xmlns:a16="http://schemas.microsoft.com/office/drawing/2014/main" id="{34CF641A-9795-46FD-995B-FA966884A1F8}"/>
                  </a:ext>
                </a:extLst>
              </p:cNvPr>
              <p:cNvSpPr>
                <a:spLocks/>
              </p:cNvSpPr>
              <p:nvPr/>
            </p:nvSpPr>
            <p:spPr bwMode="auto">
              <a:xfrm>
                <a:off x="1888" y="961"/>
                <a:ext cx="169" cy="156"/>
              </a:xfrm>
              <a:custGeom>
                <a:avLst/>
                <a:gdLst>
                  <a:gd name="T0" fmla="*/ 7 w 169"/>
                  <a:gd name="T1" fmla="*/ 140 h 156"/>
                  <a:gd name="T2" fmla="*/ 43 w 169"/>
                  <a:gd name="T3" fmla="*/ 103 h 156"/>
                  <a:gd name="T4" fmla="*/ 121 w 169"/>
                  <a:gd name="T5" fmla="*/ 78 h 156"/>
                  <a:gd name="T6" fmla="*/ 150 w 169"/>
                  <a:gd name="T7" fmla="*/ 0 h 156"/>
                  <a:gd name="T8" fmla="*/ 168 w 169"/>
                  <a:gd name="T9" fmla="*/ 26 h 156"/>
                  <a:gd name="T10" fmla="*/ 159 w 169"/>
                  <a:gd name="T11" fmla="*/ 66 h 156"/>
                  <a:gd name="T12" fmla="*/ 126 w 169"/>
                  <a:gd name="T13" fmla="*/ 103 h 156"/>
                  <a:gd name="T14" fmla="*/ 58 w 169"/>
                  <a:gd name="T15" fmla="*/ 117 h 156"/>
                  <a:gd name="T16" fmla="*/ 0 w 169"/>
                  <a:gd name="T17" fmla="*/ 155 h 156"/>
                  <a:gd name="T18" fmla="*/ 7 w 169"/>
                  <a:gd name="T19" fmla="*/ 140 h 1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9" h="156">
                    <a:moveTo>
                      <a:pt x="7" y="140"/>
                    </a:moveTo>
                    <a:lnTo>
                      <a:pt x="43" y="103"/>
                    </a:lnTo>
                    <a:lnTo>
                      <a:pt x="121" y="78"/>
                    </a:lnTo>
                    <a:lnTo>
                      <a:pt x="150" y="0"/>
                    </a:lnTo>
                    <a:lnTo>
                      <a:pt x="168" y="26"/>
                    </a:lnTo>
                    <a:lnTo>
                      <a:pt x="159" y="66"/>
                    </a:lnTo>
                    <a:lnTo>
                      <a:pt x="126" y="103"/>
                    </a:lnTo>
                    <a:lnTo>
                      <a:pt x="58" y="117"/>
                    </a:lnTo>
                    <a:lnTo>
                      <a:pt x="0" y="155"/>
                    </a:lnTo>
                    <a:lnTo>
                      <a:pt x="7" y="14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7" name="Freeform 34">
                <a:extLst>
                  <a:ext uri="{FF2B5EF4-FFF2-40B4-BE49-F238E27FC236}">
                    <a16:creationId xmlns:a16="http://schemas.microsoft.com/office/drawing/2014/main" id="{48A35017-B584-4037-9D98-DE075BA166C5}"/>
                  </a:ext>
                </a:extLst>
              </p:cNvPr>
              <p:cNvSpPr>
                <a:spLocks/>
              </p:cNvSpPr>
              <p:nvPr/>
            </p:nvSpPr>
            <p:spPr bwMode="auto">
              <a:xfrm>
                <a:off x="1838" y="961"/>
                <a:ext cx="703" cy="348"/>
              </a:xfrm>
              <a:custGeom>
                <a:avLst/>
                <a:gdLst>
                  <a:gd name="T0" fmla="*/ 234 w 703"/>
                  <a:gd name="T1" fmla="*/ 0 h 348"/>
                  <a:gd name="T2" fmla="*/ 301 w 703"/>
                  <a:gd name="T3" fmla="*/ 23 h 348"/>
                  <a:gd name="T4" fmla="*/ 311 w 703"/>
                  <a:gd name="T5" fmla="*/ 58 h 348"/>
                  <a:gd name="T6" fmla="*/ 304 w 703"/>
                  <a:gd name="T7" fmla="*/ 82 h 348"/>
                  <a:gd name="T8" fmla="*/ 277 w 703"/>
                  <a:gd name="T9" fmla="*/ 108 h 348"/>
                  <a:gd name="T10" fmla="*/ 277 w 703"/>
                  <a:gd name="T11" fmla="*/ 127 h 348"/>
                  <a:gd name="T12" fmla="*/ 311 w 703"/>
                  <a:gd name="T13" fmla="*/ 133 h 348"/>
                  <a:gd name="T14" fmla="*/ 396 w 703"/>
                  <a:gd name="T15" fmla="*/ 133 h 348"/>
                  <a:gd name="T16" fmla="*/ 596 w 703"/>
                  <a:gd name="T17" fmla="*/ 124 h 348"/>
                  <a:gd name="T18" fmla="*/ 625 w 703"/>
                  <a:gd name="T19" fmla="*/ 122 h 348"/>
                  <a:gd name="T20" fmla="*/ 680 w 703"/>
                  <a:gd name="T21" fmla="*/ 131 h 348"/>
                  <a:gd name="T22" fmla="*/ 702 w 703"/>
                  <a:gd name="T23" fmla="*/ 153 h 348"/>
                  <a:gd name="T24" fmla="*/ 702 w 703"/>
                  <a:gd name="T25" fmla="*/ 185 h 348"/>
                  <a:gd name="T26" fmla="*/ 659 w 703"/>
                  <a:gd name="T27" fmla="*/ 199 h 348"/>
                  <a:gd name="T28" fmla="*/ 500 w 703"/>
                  <a:gd name="T29" fmla="*/ 199 h 348"/>
                  <a:gd name="T30" fmla="*/ 396 w 703"/>
                  <a:gd name="T31" fmla="*/ 209 h 348"/>
                  <a:gd name="T32" fmla="*/ 410 w 703"/>
                  <a:gd name="T33" fmla="*/ 232 h 348"/>
                  <a:gd name="T34" fmla="*/ 396 w 703"/>
                  <a:gd name="T35" fmla="*/ 258 h 348"/>
                  <a:gd name="T36" fmla="*/ 382 w 703"/>
                  <a:gd name="T37" fmla="*/ 267 h 348"/>
                  <a:gd name="T38" fmla="*/ 382 w 703"/>
                  <a:gd name="T39" fmla="*/ 297 h 348"/>
                  <a:gd name="T40" fmla="*/ 335 w 703"/>
                  <a:gd name="T41" fmla="*/ 312 h 348"/>
                  <a:gd name="T42" fmla="*/ 324 w 703"/>
                  <a:gd name="T43" fmla="*/ 330 h 348"/>
                  <a:gd name="T44" fmla="*/ 247 w 703"/>
                  <a:gd name="T45" fmla="*/ 344 h 348"/>
                  <a:gd name="T46" fmla="*/ 115 w 703"/>
                  <a:gd name="T47" fmla="*/ 347 h 348"/>
                  <a:gd name="T48" fmla="*/ 0 w 703"/>
                  <a:gd name="T49" fmla="*/ 324 h 348"/>
                  <a:gd name="T50" fmla="*/ 133 w 703"/>
                  <a:gd name="T51" fmla="*/ 335 h 348"/>
                  <a:gd name="T52" fmla="*/ 243 w 703"/>
                  <a:gd name="T53" fmla="*/ 335 h 348"/>
                  <a:gd name="T54" fmla="*/ 284 w 703"/>
                  <a:gd name="T55" fmla="*/ 324 h 348"/>
                  <a:gd name="T56" fmla="*/ 293 w 703"/>
                  <a:gd name="T57" fmla="*/ 302 h 348"/>
                  <a:gd name="T58" fmla="*/ 328 w 703"/>
                  <a:gd name="T59" fmla="*/ 293 h 348"/>
                  <a:gd name="T60" fmla="*/ 331 w 703"/>
                  <a:gd name="T61" fmla="*/ 258 h 348"/>
                  <a:gd name="T62" fmla="*/ 346 w 703"/>
                  <a:gd name="T63" fmla="*/ 234 h 348"/>
                  <a:gd name="T64" fmla="*/ 338 w 703"/>
                  <a:gd name="T65" fmla="*/ 209 h 348"/>
                  <a:gd name="T66" fmla="*/ 475 w 703"/>
                  <a:gd name="T67" fmla="*/ 192 h 348"/>
                  <a:gd name="T68" fmla="*/ 648 w 703"/>
                  <a:gd name="T69" fmla="*/ 190 h 348"/>
                  <a:gd name="T70" fmla="*/ 673 w 703"/>
                  <a:gd name="T71" fmla="*/ 176 h 348"/>
                  <a:gd name="T72" fmla="*/ 670 w 703"/>
                  <a:gd name="T73" fmla="*/ 142 h 348"/>
                  <a:gd name="T74" fmla="*/ 634 w 703"/>
                  <a:gd name="T75" fmla="*/ 135 h 348"/>
                  <a:gd name="T76" fmla="*/ 576 w 703"/>
                  <a:gd name="T77" fmla="*/ 133 h 348"/>
                  <a:gd name="T78" fmla="*/ 396 w 703"/>
                  <a:gd name="T79" fmla="*/ 140 h 348"/>
                  <a:gd name="T80" fmla="*/ 301 w 703"/>
                  <a:gd name="T81" fmla="*/ 140 h 348"/>
                  <a:gd name="T82" fmla="*/ 248 w 703"/>
                  <a:gd name="T83" fmla="*/ 131 h 348"/>
                  <a:gd name="T84" fmla="*/ 274 w 703"/>
                  <a:gd name="T85" fmla="*/ 103 h 348"/>
                  <a:gd name="T86" fmla="*/ 293 w 703"/>
                  <a:gd name="T87" fmla="*/ 58 h 348"/>
                  <a:gd name="T88" fmla="*/ 284 w 703"/>
                  <a:gd name="T89" fmla="*/ 26 h 348"/>
                  <a:gd name="T90" fmla="*/ 234 w 703"/>
                  <a:gd name="T91" fmla="*/ 0 h 34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703" h="348">
                    <a:moveTo>
                      <a:pt x="234" y="0"/>
                    </a:moveTo>
                    <a:lnTo>
                      <a:pt x="301" y="23"/>
                    </a:lnTo>
                    <a:lnTo>
                      <a:pt x="311" y="58"/>
                    </a:lnTo>
                    <a:lnTo>
                      <a:pt x="304" y="82"/>
                    </a:lnTo>
                    <a:lnTo>
                      <a:pt x="277" y="108"/>
                    </a:lnTo>
                    <a:lnTo>
                      <a:pt x="277" y="127"/>
                    </a:lnTo>
                    <a:lnTo>
                      <a:pt x="311" y="133"/>
                    </a:lnTo>
                    <a:lnTo>
                      <a:pt x="396" y="133"/>
                    </a:lnTo>
                    <a:lnTo>
                      <a:pt x="596" y="124"/>
                    </a:lnTo>
                    <a:lnTo>
                      <a:pt x="625" y="122"/>
                    </a:lnTo>
                    <a:lnTo>
                      <a:pt x="680" y="131"/>
                    </a:lnTo>
                    <a:lnTo>
                      <a:pt x="702" y="153"/>
                    </a:lnTo>
                    <a:lnTo>
                      <a:pt x="702" y="185"/>
                    </a:lnTo>
                    <a:lnTo>
                      <a:pt x="659" y="199"/>
                    </a:lnTo>
                    <a:lnTo>
                      <a:pt x="500" y="199"/>
                    </a:lnTo>
                    <a:lnTo>
                      <a:pt x="396" y="209"/>
                    </a:lnTo>
                    <a:lnTo>
                      <a:pt x="410" y="232"/>
                    </a:lnTo>
                    <a:lnTo>
                      <a:pt x="396" y="258"/>
                    </a:lnTo>
                    <a:lnTo>
                      <a:pt x="382" y="267"/>
                    </a:lnTo>
                    <a:lnTo>
                      <a:pt x="382" y="297"/>
                    </a:lnTo>
                    <a:lnTo>
                      <a:pt x="335" y="312"/>
                    </a:lnTo>
                    <a:lnTo>
                      <a:pt x="324" y="330"/>
                    </a:lnTo>
                    <a:lnTo>
                      <a:pt x="247" y="344"/>
                    </a:lnTo>
                    <a:lnTo>
                      <a:pt x="115" y="347"/>
                    </a:lnTo>
                    <a:lnTo>
                      <a:pt x="0" y="324"/>
                    </a:lnTo>
                    <a:lnTo>
                      <a:pt x="133" y="335"/>
                    </a:lnTo>
                    <a:lnTo>
                      <a:pt x="243" y="335"/>
                    </a:lnTo>
                    <a:lnTo>
                      <a:pt x="284" y="324"/>
                    </a:lnTo>
                    <a:lnTo>
                      <a:pt x="293" y="302"/>
                    </a:lnTo>
                    <a:lnTo>
                      <a:pt x="328" y="293"/>
                    </a:lnTo>
                    <a:lnTo>
                      <a:pt x="331" y="258"/>
                    </a:lnTo>
                    <a:lnTo>
                      <a:pt x="346" y="234"/>
                    </a:lnTo>
                    <a:lnTo>
                      <a:pt x="338" y="209"/>
                    </a:lnTo>
                    <a:lnTo>
                      <a:pt x="475" y="192"/>
                    </a:lnTo>
                    <a:lnTo>
                      <a:pt x="648" y="190"/>
                    </a:lnTo>
                    <a:lnTo>
                      <a:pt x="673" y="176"/>
                    </a:lnTo>
                    <a:lnTo>
                      <a:pt x="670" y="142"/>
                    </a:lnTo>
                    <a:lnTo>
                      <a:pt x="634" y="135"/>
                    </a:lnTo>
                    <a:lnTo>
                      <a:pt x="576" y="133"/>
                    </a:lnTo>
                    <a:lnTo>
                      <a:pt x="396" y="140"/>
                    </a:lnTo>
                    <a:lnTo>
                      <a:pt x="301" y="140"/>
                    </a:lnTo>
                    <a:lnTo>
                      <a:pt x="248" y="131"/>
                    </a:lnTo>
                    <a:lnTo>
                      <a:pt x="274" y="103"/>
                    </a:lnTo>
                    <a:lnTo>
                      <a:pt x="293" y="58"/>
                    </a:lnTo>
                    <a:lnTo>
                      <a:pt x="284" y="26"/>
                    </a:lnTo>
                    <a:lnTo>
                      <a:pt x="234"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8" name="Freeform 35">
                <a:extLst>
                  <a:ext uri="{FF2B5EF4-FFF2-40B4-BE49-F238E27FC236}">
                    <a16:creationId xmlns:a16="http://schemas.microsoft.com/office/drawing/2014/main" id="{F1E0964D-C881-450B-B622-99D13C5D05DF}"/>
                  </a:ext>
                </a:extLst>
              </p:cNvPr>
              <p:cNvSpPr>
                <a:spLocks/>
              </p:cNvSpPr>
              <p:nvPr/>
            </p:nvSpPr>
            <p:spPr bwMode="auto">
              <a:xfrm>
                <a:off x="1849" y="713"/>
                <a:ext cx="97" cy="106"/>
              </a:xfrm>
              <a:custGeom>
                <a:avLst/>
                <a:gdLst>
                  <a:gd name="T0" fmla="*/ 4 w 97"/>
                  <a:gd name="T1" fmla="*/ 0 h 106"/>
                  <a:gd name="T2" fmla="*/ 0 w 97"/>
                  <a:gd name="T3" fmla="*/ 58 h 106"/>
                  <a:gd name="T4" fmla="*/ 14 w 97"/>
                  <a:gd name="T5" fmla="*/ 92 h 106"/>
                  <a:gd name="T6" fmla="*/ 39 w 97"/>
                  <a:gd name="T7" fmla="*/ 89 h 106"/>
                  <a:gd name="T8" fmla="*/ 41 w 97"/>
                  <a:gd name="T9" fmla="*/ 105 h 106"/>
                  <a:gd name="T10" fmla="*/ 96 w 97"/>
                  <a:gd name="T11" fmla="*/ 83 h 106"/>
                  <a:gd name="T12" fmla="*/ 46 w 97"/>
                  <a:gd name="T13" fmla="*/ 83 h 106"/>
                  <a:gd name="T14" fmla="*/ 18 w 97"/>
                  <a:gd name="T15" fmla="*/ 84 h 106"/>
                  <a:gd name="T16" fmla="*/ 9 w 97"/>
                  <a:gd name="T17" fmla="*/ 63 h 106"/>
                  <a:gd name="T18" fmla="*/ 9 w 97"/>
                  <a:gd name="T19" fmla="*/ 35 h 106"/>
                  <a:gd name="T20" fmla="*/ 4 w 97"/>
                  <a:gd name="T21" fmla="*/ 0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7" h="106">
                    <a:moveTo>
                      <a:pt x="4" y="0"/>
                    </a:moveTo>
                    <a:lnTo>
                      <a:pt x="0" y="58"/>
                    </a:lnTo>
                    <a:lnTo>
                      <a:pt x="14" y="92"/>
                    </a:lnTo>
                    <a:lnTo>
                      <a:pt x="39" y="89"/>
                    </a:lnTo>
                    <a:lnTo>
                      <a:pt x="41" y="105"/>
                    </a:lnTo>
                    <a:lnTo>
                      <a:pt x="96" y="83"/>
                    </a:lnTo>
                    <a:lnTo>
                      <a:pt x="46" y="83"/>
                    </a:lnTo>
                    <a:lnTo>
                      <a:pt x="18" y="84"/>
                    </a:lnTo>
                    <a:lnTo>
                      <a:pt x="9" y="63"/>
                    </a:lnTo>
                    <a:lnTo>
                      <a:pt x="9" y="35"/>
                    </a:lnTo>
                    <a:lnTo>
                      <a:pt x="4"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9" name="Freeform 36">
                <a:extLst>
                  <a:ext uri="{FF2B5EF4-FFF2-40B4-BE49-F238E27FC236}">
                    <a16:creationId xmlns:a16="http://schemas.microsoft.com/office/drawing/2014/main" id="{DE0A3066-B4FB-4051-B445-66203D37D0AD}"/>
                  </a:ext>
                </a:extLst>
              </p:cNvPr>
              <p:cNvSpPr>
                <a:spLocks/>
              </p:cNvSpPr>
              <p:nvPr/>
            </p:nvSpPr>
            <p:spPr bwMode="auto">
              <a:xfrm>
                <a:off x="1924" y="854"/>
                <a:ext cx="540" cy="230"/>
              </a:xfrm>
              <a:custGeom>
                <a:avLst/>
                <a:gdLst>
                  <a:gd name="T0" fmla="*/ 11 w 540"/>
                  <a:gd name="T1" fmla="*/ 0 h 230"/>
                  <a:gd name="T2" fmla="*/ 0 w 540"/>
                  <a:gd name="T3" fmla="*/ 8 h 230"/>
                  <a:gd name="T4" fmla="*/ 63 w 540"/>
                  <a:gd name="T5" fmla="*/ 61 h 230"/>
                  <a:gd name="T6" fmla="*/ 148 w 540"/>
                  <a:gd name="T7" fmla="*/ 101 h 230"/>
                  <a:gd name="T8" fmla="*/ 252 w 540"/>
                  <a:gd name="T9" fmla="*/ 152 h 230"/>
                  <a:gd name="T10" fmla="*/ 442 w 540"/>
                  <a:gd name="T11" fmla="*/ 197 h 230"/>
                  <a:gd name="T12" fmla="*/ 505 w 540"/>
                  <a:gd name="T13" fmla="*/ 211 h 230"/>
                  <a:gd name="T14" fmla="*/ 539 w 540"/>
                  <a:gd name="T15" fmla="*/ 229 h 230"/>
                  <a:gd name="T16" fmla="*/ 512 w 540"/>
                  <a:gd name="T17" fmla="*/ 206 h 230"/>
                  <a:gd name="T18" fmla="*/ 310 w 540"/>
                  <a:gd name="T19" fmla="*/ 157 h 230"/>
                  <a:gd name="T20" fmla="*/ 209 w 540"/>
                  <a:gd name="T21" fmla="*/ 117 h 230"/>
                  <a:gd name="T22" fmla="*/ 90 w 540"/>
                  <a:gd name="T23" fmla="*/ 54 h 230"/>
                  <a:gd name="T24" fmla="*/ 27 w 540"/>
                  <a:gd name="T25" fmla="*/ 8 h 230"/>
                  <a:gd name="T26" fmla="*/ 11 w 540"/>
                  <a:gd name="T27" fmla="*/ 0 h 2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40" h="230">
                    <a:moveTo>
                      <a:pt x="11" y="0"/>
                    </a:moveTo>
                    <a:lnTo>
                      <a:pt x="0" y="8"/>
                    </a:lnTo>
                    <a:lnTo>
                      <a:pt x="63" y="61"/>
                    </a:lnTo>
                    <a:lnTo>
                      <a:pt x="148" y="101"/>
                    </a:lnTo>
                    <a:lnTo>
                      <a:pt x="252" y="152"/>
                    </a:lnTo>
                    <a:lnTo>
                      <a:pt x="442" y="197"/>
                    </a:lnTo>
                    <a:lnTo>
                      <a:pt x="505" y="211"/>
                    </a:lnTo>
                    <a:lnTo>
                      <a:pt x="539" y="229"/>
                    </a:lnTo>
                    <a:lnTo>
                      <a:pt x="512" y="206"/>
                    </a:lnTo>
                    <a:lnTo>
                      <a:pt x="310" y="157"/>
                    </a:lnTo>
                    <a:lnTo>
                      <a:pt x="209" y="117"/>
                    </a:lnTo>
                    <a:lnTo>
                      <a:pt x="90" y="54"/>
                    </a:lnTo>
                    <a:lnTo>
                      <a:pt x="27" y="8"/>
                    </a:lnTo>
                    <a:lnTo>
                      <a:pt x="11"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0" name="Freeform 37">
                <a:extLst>
                  <a:ext uri="{FF2B5EF4-FFF2-40B4-BE49-F238E27FC236}">
                    <a16:creationId xmlns:a16="http://schemas.microsoft.com/office/drawing/2014/main" id="{BCCF812A-4203-4FD7-A8F6-8E793EEB317C}"/>
                  </a:ext>
                </a:extLst>
              </p:cNvPr>
              <p:cNvSpPr>
                <a:spLocks/>
              </p:cNvSpPr>
              <p:nvPr/>
            </p:nvSpPr>
            <p:spPr bwMode="auto">
              <a:xfrm>
                <a:off x="2111" y="741"/>
                <a:ext cx="369" cy="108"/>
              </a:xfrm>
              <a:custGeom>
                <a:avLst/>
                <a:gdLst>
                  <a:gd name="T0" fmla="*/ 0 w 369"/>
                  <a:gd name="T1" fmla="*/ 107 h 108"/>
                  <a:gd name="T2" fmla="*/ 54 w 369"/>
                  <a:gd name="T3" fmla="*/ 13 h 108"/>
                  <a:gd name="T4" fmla="*/ 188 w 369"/>
                  <a:gd name="T5" fmla="*/ 0 h 108"/>
                  <a:gd name="T6" fmla="*/ 303 w 369"/>
                  <a:gd name="T7" fmla="*/ 23 h 108"/>
                  <a:gd name="T8" fmla="*/ 368 w 369"/>
                  <a:gd name="T9" fmla="*/ 68 h 108"/>
                  <a:gd name="T10" fmla="*/ 260 w 369"/>
                  <a:gd name="T11" fmla="*/ 23 h 108"/>
                  <a:gd name="T12" fmla="*/ 220 w 369"/>
                  <a:gd name="T13" fmla="*/ 87 h 108"/>
                  <a:gd name="T14" fmla="*/ 220 w 369"/>
                  <a:gd name="T15" fmla="*/ 13 h 108"/>
                  <a:gd name="T16" fmla="*/ 162 w 369"/>
                  <a:gd name="T17" fmla="*/ 11 h 108"/>
                  <a:gd name="T18" fmla="*/ 90 w 369"/>
                  <a:gd name="T19" fmla="*/ 20 h 108"/>
                  <a:gd name="T20" fmla="*/ 157 w 369"/>
                  <a:gd name="T21" fmla="*/ 87 h 108"/>
                  <a:gd name="T22" fmla="*/ 61 w 369"/>
                  <a:gd name="T23" fmla="*/ 33 h 108"/>
                  <a:gd name="T24" fmla="*/ 0 w 369"/>
                  <a:gd name="T25" fmla="*/ 107 h 1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69" h="108">
                    <a:moveTo>
                      <a:pt x="0" y="107"/>
                    </a:moveTo>
                    <a:lnTo>
                      <a:pt x="54" y="13"/>
                    </a:lnTo>
                    <a:lnTo>
                      <a:pt x="188" y="0"/>
                    </a:lnTo>
                    <a:lnTo>
                      <a:pt x="303" y="23"/>
                    </a:lnTo>
                    <a:lnTo>
                      <a:pt x="368" y="68"/>
                    </a:lnTo>
                    <a:lnTo>
                      <a:pt x="260" y="23"/>
                    </a:lnTo>
                    <a:lnTo>
                      <a:pt x="220" y="87"/>
                    </a:lnTo>
                    <a:lnTo>
                      <a:pt x="220" y="13"/>
                    </a:lnTo>
                    <a:lnTo>
                      <a:pt x="162" y="11"/>
                    </a:lnTo>
                    <a:lnTo>
                      <a:pt x="90" y="20"/>
                    </a:lnTo>
                    <a:lnTo>
                      <a:pt x="157" y="87"/>
                    </a:lnTo>
                    <a:lnTo>
                      <a:pt x="61" y="33"/>
                    </a:lnTo>
                    <a:lnTo>
                      <a:pt x="0" y="107"/>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1" name="Freeform 38">
                <a:extLst>
                  <a:ext uri="{FF2B5EF4-FFF2-40B4-BE49-F238E27FC236}">
                    <a16:creationId xmlns:a16="http://schemas.microsoft.com/office/drawing/2014/main" id="{D214FFEC-0F26-4053-8987-65C3B32C867B}"/>
                  </a:ext>
                </a:extLst>
              </p:cNvPr>
              <p:cNvSpPr>
                <a:spLocks/>
              </p:cNvSpPr>
              <p:nvPr/>
            </p:nvSpPr>
            <p:spPr bwMode="auto">
              <a:xfrm>
                <a:off x="2292" y="828"/>
                <a:ext cx="196" cy="172"/>
              </a:xfrm>
              <a:custGeom>
                <a:avLst/>
                <a:gdLst>
                  <a:gd name="T0" fmla="*/ 40 w 196"/>
                  <a:gd name="T1" fmla="*/ 0 h 172"/>
                  <a:gd name="T2" fmla="*/ 0 w 196"/>
                  <a:gd name="T3" fmla="*/ 0 h 172"/>
                  <a:gd name="T4" fmla="*/ 0 w 196"/>
                  <a:gd name="T5" fmla="*/ 153 h 172"/>
                  <a:gd name="T6" fmla="*/ 47 w 196"/>
                  <a:gd name="T7" fmla="*/ 171 h 172"/>
                  <a:gd name="T8" fmla="*/ 43 w 196"/>
                  <a:gd name="T9" fmla="*/ 138 h 172"/>
                  <a:gd name="T10" fmla="*/ 16 w 196"/>
                  <a:gd name="T11" fmla="*/ 84 h 172"/>
                  <a:gd name="T12" fmla="*/ 40 w 196"/>
                  <a:gd name="T13" fmla="*/ 11 h 172"/>
                  <a:gd name="T14" fmla="*/ 188 w 196"/>
                  <a:gd name="T15" fmla="*/ 155 h 172"/>
                  <a:gd name="T16" fmla="*/ 195 w 196"/>
                  <a:gd name="T17" fmla="*/ 140 h 172"/>
                  <a:gd name="T18" fmla="*/ 51 w 196"/>
                  <a:gd name="T19" fmla="*/ 4 h 172"/>
                  <a:gd name="T20" fmla="*/ 40 w 196"/>
                  <a:gd name="T21" fmla="*/ 0 h 17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6" h="172">
                    <a:moveTo>
                      <a:pt x="40" y="0"/>
                    </a:moveTo>
                    <a:lnTo>
                      <a:pt x="0" y="0"/>
                    </a:lnTo>
                    <a:lnTo>
                      <a:pt x="0" y="153"/>
                    </a:lnTo>
                    <a:lnTo>
                      <a:pt x="47" y="171"/>
                    </a:lnTo>
                    <a:lnTo>
                      <a:pt x="43" y="138"/>
                    </a:lnTo>
                    <a:lnTo>
                      <a:pt x="16" y="84"/>
                    </a:lnTo>
                    <a:lnTo>
                      <a:pt x="40" y="11"/>
                    </a:lnTo>
                    <a:lnTo>
                      <a:pt x="188" y="155"/>
                    </a:lnTo>
                    <a:lnTo>
                      <a:pt x="195" y="140"/>
                    </a:lnTo>
                    <a:lnTo>
                      <a:pt x="51" y="4"/>
                    </a:lnTo>
                    <a:lnTo>
                      <a:pt x="40"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2" name="Freeform 39">
                <a:extLst>
                  <a:ext uri="{FF2B5EF4-FFF2-40B4-BE49-F238E27FC236}">
                    <a16:creationId xmlns:a16="http://schemas.microsoft.com/office/drawing/2014/main" id="{76785EA8-9A23-4A6B-8D25-B1A0306B2ED0}"/>
                  </a:ext>
                </a:extLst>
              </p:cNvPr>
              <p:cNvSpPr>
                <a:spLocks/>
              </p:cNvSpPr>
              <p:nvPr/>
            </p:nvSpPr>
            <p:spPr bwMode="auto">
              <a:xfrm>
                <a:off x="2492" y="1152"/>
                <a:ext cx="53" cy="107"/>
              </a:xfrm>
              <a:custGeom>
                <a:avLst/>
                <a:gdLst>
                  <a:gd name="T0" fmla="*/ 18 w 53"/>
                  <a:gd name="T1" fmla="*/ 0 h 107"/>
                  <a:gd name="T2" fmla="*/ 52 w 53"/>
                  <a:gd name="T3" fmla="*/ 64 h 107"/>
                  <a:gd name="T4" fmla="*/ 52 w 53"/>
                  <a:gd name="T5" fmla="*/ 106 h 107"/>
                  <a:gd name="T6" fmla="*/ 0 w 53"/>
                  <a:gd name="T7" fmla="*/ 6 h 107"/>
                  <a:gd name="T8" fmla="*/ 18 w 53"/>
                  <a:gd name="T9" fmla="*/ 0 h 1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07">
                    <a:moveTo>
                      <a:pt x="18" y="0"/>
                    </a:moveTo>
                    <a:lnTo>
                      <a:pt x="52" y="64"/>
                    </a:lnTo>
                    <a:lnTo>
                      <a:pt x="52" y="106"/>
                    </a:lnTo>
                    <a:lnTo>
                      <a:pt x="0" y="6"/>
                    </a:lnTo>
                    <a:lnTo>
                      <a:pt x="18"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3" name="Freeform 40">
                <a:extLst>
                  <a:ext uri="{FF2B5EF4-FFF2-40B4-BE49-F238E27FC236}">
                    <a16:creationId xmlns:a16="http://schemas.microsoft.com/office/drawing/2014/main" id="{59347B66-A8CE-4CC6-96B1-ABA7EB307BCE}"/>
                  </a:ext>
                </a:extLst>
              </p:cNvPr>
              <p:cNvSpPr>
                <a:spLocks/>
              </p:cNvSpPr>
              <p:nvPr/>
            </p:nvSpPr>
            <p:spPr bwMode="auto">
              <a:xfrm>
                <a:off x="1625" y="1307"/>
                <a:ext cx="848" cy="290"/>
              </a:xfrm>
              <a:custGeom>
                <a:avLst/>
                <a:gdLst>
                  <a:gd name="T0" fmla="*/ 74 w 848"/>
                  <a:gd name="T1" fmla="*/ 12 h 290"/>
                  <a:gd name="T2" fmla="*/ 65 w 848"/>
                  <a:gd name="T3" fmla="*/ 82 h 290"/>
                  <a:gd name="T4" fmla="*/ 0 w 848"/>
                  <a:gd name="T5" fmla="*/ 157 h 290"/>
                  <a:gd name="T6" fmla="*/ 74 w 848"/>
                  <a:gd name="T7" fmla="*/ 198 h 290"/>
                  <a:gd name="T8" fmla="*/ 254 w 848"/>
                  <a:gd name="T9" fmla="*/ 219 h 290"/>
                  <a:gd name="T10" fmla="*/ 249 w 848"/>
                  <a:gd name="T11" fmla="*/ 289 h 290"/>
                  <a:gd name="T12" fmla="*/ 278 w 848"/>
                  <a:gd name="T13" fmla="*/ 248 h 290"/>
                  <a:gd name="T14" fmla="*/ 283 w 848"/>
                  <a:gd name="T15" fmla="*/ 216 h 290"/>
                  <a:gd name="T16" fmla="*/ 732 w 848"/>
                  <a:gd name="T17" fmla="*/ 164 h 290"/>
                  <a:gd name="T18" fmla="*/ 847 w 848"/>
                  <a:gd name="T19" fmla="*/ 108 h 290"/>
                  <a:gd name="T20" fmla="*/ 710 w 848"/>
                  <a:gd name="T21" fmla="*/ 161 h 290"/>
                  <a:gd name="T22" fmla="*/ 371 w 848"/>
                  <a:gd name="T23" fmla="*/ 189 h 290"/>
                  <a:gd name="T24" fmla="*/ 97 w 848"/>
                  <a:gd name="T25" fmla="*/ 189 h 290"/>
                  <a:gd name="T26" fmla="*/ 25 w 848"/>
                  <a:gd name="T27" fmla="*/ 155 h 290"/>
                  <a:gd name="T28" fmla="*/ 81 w 848"/>
                  <a:gd name="T29" fmla="*/ 82 h 290"/>
                  <a:gd name="T30" fmla="*/ 92 w 848"/>
                  <a:gd name="T31" fmla="*/ 0 h 290"/>
                  <a:gd name="T32" fmla="*/ 74 w 848"/>
                  <a:gd name="T33" fmla="*/ 12 h 29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48" h="290">
                    <a:moveTo>
                      <a:pt x="74" y="12"/>
                    </a:moveTo>
                    <a:lnTo>
                      <a:pt x="65" y="82"/>
                    </a:lnTo>
                    <a:lnTo>
                      <a:pt x="0" y="157"/>
                    </a:lnTo>
                    <a:lnTo>
                      <a:pt x="74" y="198"/>
                    </a:lnTo>
                    <a:lnTo>
                      <a:pt x="254" y="219"/>
                    </a:lnTo>
                    <a:lnTo>
                      <a:pt x="249" y="289"/>
                    </a:lnTo>
                    <a:lnTo>
                      <a:pt x="278" y="248"/>
                    </a:lnTo>
                    <a:lnTo>
                      <a:pt x="283" y="216"/>
                    </a:lnTo>
                    <a:lnTo>
                      <a:pt x="732" y="164"/>
                    </a:lnTo>
                    <a:lnTo>
                      <a:pt x="847" y="108"/>
                    </a:lnTo>
                    <a:lnTo>
                      <a:pt x="710" y="161"/>
                    </a:lnTo>
                    <a:lnTo>
                      <a:pt x="371" y="189"/>
                    </a:lnTo>
                    <a:lnTo>
                      <a:pt x="97" y="189"/>
                    </a:lnTo>
                    <a:lnTo>
                      <a:pt x="25" y="155"/>
                    </a:lnTo>
                    <a:lnTo>
                      <a:pt x="81" y="82"/>
                    </a:lnTo>
                    <a:lnTo>
                      <a:pt x="92" y="0"/>
                    </a:lnTo>
                    <a:lnTo>
                      <a:pt x="74" y="1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4" name="Freeform 41">
                <a:extLst>
                  <a:ext uri="{FF2B5EF4-FFF2-40B4-BE49-F238E27FC236}">
                    <a16:creationId xmlns:a16="http://schemas.microsoft.com/office/drawing/2014/main" id="{3CC9099D-AC33-4256-A422-0B28D735B1B1}"/>
                  </a:ext>
                </a:extLst>
              </p:cNvPr>
              <p:cNvSpPr>
                <a:spLocks/>
              </p:cNvSpPr>
              <p:nvPr/>
            </p:nvSpPr>
            <p:spPr bwMode="auto">
              <a:xfrm>
                <a:off x="2508" y="441"/>
                <a:ext cx="900" cy="198"/>
              </a:xfrm>
              <a:custGeom>
                <a:avLst/>
                <a:gdLst>
                  <a:gd name="T0" fmla="*/ 731 w 900"/>
                  <a:gd name="T1" fmla="*/ 47 h 198"/>
                  <a:gd name="T2" fmla="*/ 584 w 900"/>
                  <a:gd name="T3" fmla="*/ 53 h 198"/>
                  <a:gd name="T4" fmla="*/ 344 w 900"/>
                  <a:gd name="T5" fmla="*/ 82 h 198"/>
                  <a:gd name="T6" fmla="*/ 159 w 900"/>
                  <a:gd name="T7" fmla="*/ 109 h 198"/>
                  <a:gd name="T8" fmla="*/ 72 w 900"/>
                  <a:gd name="T9" fmla="*/ 121 h 198"/>
                  <a:gd name="T10" fmla="*/ 20 w 900"/>
                  <a:gd name="T11" fmla="*/ 126 h 198"/>
                  <a:gd name="T12" fmla="*/ 0 w 900"/>
                  <a:gd name="T13" fmla="*/ 149 h 198"/>
                  <a:gd name="T14" fmla="*/ 4 w 900"/>
                  <a:gd name="T15" fmla="*/ 179 h 198"/>
                  <a:gd name="T16" fmla="*/ 34 w 900"/>
                  <a:gd name="T17" fmla="*/ 197 h 198"/>
                  <a:gd name="T18" fmla="*/ 11 w 900"/>
                  <a:gd name="T19" fmla="*/ 174 h 198"/>
                  <a:gd name="T20" fmla="*/ 20 w 900"/>
                  <a:gd name="T21" fmla="*/ 144 h 198"/>
                  <a:gd name="T22" fmla="*/ 67 w 900"/>
                  <a:gd name="T23" fmla="*/ 129 h 198"/>
                  <a:gd name="T24" fmla="*/ 108 w 900"/>
                  <a:gd name="T25" fmla="*/ 140 h 198"/>
                  <a:gd name="T26" fmla="*/ 128 w 900"/>
                  <a:gd name="T27" fmla="*/ 165 h 198"/>
                  <a:gd name="T28" fmla="*/ 108 w 900"/>
                  <a:gd name="T29" fmla="*/ 185 h 198"/>
                  <a:gd name="T30" fmla="*/ 72 w 900"/>
                  <a:gd name="T31" fmla="*/ 182 h 198"/>
                  <a:gd name="T32" fmla="*/ 49 w 900"/>
                  <a:gd name="T33" fmla="*/ 168 h 198"/>
                  <a:gd name="T34" fmla="*/ 56 w 900"/>
                  <a:gd name="T35" fmla="*/ 190 h 198"/>
                  <a:gd name="T36" fmla="*/ 90 w 900"/>
                  <a:gd name="T37" fmla="*/ 197 h 198"/>
                  <a:gd name="T38" fmla="*/ 148 w 900"/>
                  <a:gd name="T39" fmla="*/ 197 h 198"/>
                  <a:gd name="T40" fmla="*/ 209 w 900"/>
                  <a:gd name="T41" fmla="*/ 194 h 198"/>
                  <a:gd name="T42" fmla="*/ 313 w 900"/>
                  <a:gd name="T43" fmla="*/ 162 h 198"/>
                  <a:gd name="T44" fmla="*/ 447 w 900"/>
                  <a:gd name="T45" fmla="*/ 129 h 198"/>
                  <a:gd name="T46" fmla="*/ 569 w 900"/>
                  <a:gd name="T47" fmla="*/ 105 h 198"/>
                  <a:gd name="T48" fmla="*/ 710 w 900"/>
                  <a:gd name="T49" fmla="*/ 87 h 198"/>
                  <a:gd name="T50" fmla="*/ 699 w 900"/>
                  <a:gd name="T51" fmla="*/ 118 h 198"/>
                  <a:gd name="T52" fmla="*/ 735 w 900"/>
                  <a:gd name="T53" fmla="*/ 147 h 198"/>
                  <a:gd name="T54" fmla="*/ 798 w 900"/>
                  <a:gd name="T55" fmla="*/ 157 h 198"/>
                  <a:gd name="T56" fmla="*/ 872 w 900"/>
                  <a:gd name="T57" fmla="*/ 135 h 198"/>
                  <a:gd name="T58" fmla="*/ 899 w 900"/>
                  <a:gd name="T59" fmla="*/ 80 h 198"/>
                  <a:gd name="T60" fmla="*/ 881 w 900"/>
                  <a:gd name="T61" fmla="*/ 37 h 198"/>
                  <a:gd name="T62" fmla="*/ 791 w 900"/>
                  <a:gd name="T63" fmla="*/ 0 h 198"/>
                  <a:gd name="T64" fmla="*/ 721 w 900"/>
                  <a:gd name="T65" fmla="*/ 5 h 198"/>
                  <a:gd name="T66" fmla="*/ 670 w 900"/>
                  <a:gd name="T67" fmla="*/ 31 h 198"/>
                  <a:gd name="T68" fmla="*/ 731 w 900"/>
                  <a:gd name="T69" fmla="*/ 12 h 198"/>
                  <a:gd name="T70" fmla="*/ 784 w 900"/>
                  <a:gd name="T71" fmla="*/ 7 h 198"/>
                  <a:gd name="T72" fmla="*/ 868 w 900"/>
                  <a:gd name="T73" fmla="*/ 45 h 198"/>
                  <a:gd name="T74" fmla="*/ 885 w 900"/>
                  <a:gd name="T75" fmla="*/ 77 h 198"/>
                  <a:gd name="T76" fmla="*/ 850 w 900"/>
                  <a:gd name="T77" fmla="*/ 133 h 198"/>
                  <a:gd name="T78" fmla="*/ 787 w 900"/>
                  <a:gd name="T79" fmla="*/ 149 h 198"/>
                  <a:gd name="T80" fmla="*/ 739 w 900"/>
                  <a:gd name="T81" fmla="*/ 140 h 198"/>
                  <a:gd name="T82" fmla="*/ 713 w 900"/>
                  <a:gd name="T83" fmla="*/ 116 h 198"/>
                  <a:gd name="T84" fmla="*/ 728 w 900"/>
                  <a:gd name="T85" fmla="*/ 60 h 198"/>
                  <a:gd name="T86" fmla="*/ 704 w 900"/>
                  <a:gd name="T87" fmla="*/ 82 h 198"/>
                  <a:gd name="T88" fmla="*/ 504 w 900"/>
                  <a:gd name="T89" fmla="*/ 107 h 198"/>
                  <a:gd name="T90" fmla="*/ 294 w 900"/>
                  <a:gd name="T91" fmla="*/ 157 h 198"/>
                  <a:gd name="T92" fmla="*/ 180 w 900"/>
                  <a:gd name="T93" fmla="*/ 189 h 198"/>
                  <a:gd name="T94" fmla="*/ 123 w 900"/>
                  <a:gd name="T95" fmla="*/ 189 h 198"/>
                  <a:gd name="T96" fmla="*/ 144 w 900"/>
                  <a:gd name="T97" fmla="*/ 167 h 198"/>
                  <a:gd name="T98" fmla="*/ 137 w 900"/>
                  <a:gd name="T99" fmla="*/ 137 h 198"/>
                  <a:gd name="T100" fmla="*/ 101 w 900"/>
                  <a:gd name="T101" fmla="*/ 125 h 198"/>
                  <a:gd name="T102" fmla="*/ 393 w 900"/>
                  <a:gd name="T103" fmla="*/ 82 h 198"/>
                  <a:gd name="T104" fmla="*/ 613 w 900"/>
                  <a:gd name="T105" fmla="*/ 55 h 198"/>
                  <a:gd name="T106" fmla="*/ 731 w 900"/>
                  <a:gd name="T107" fmla="*/ 47 h 19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00" h="198">
                    <a:moveTo>
                      <a:pt x="731" y="47"/>
                    </a:moveTo>
                    <a:lnTo>
                      <a:pt x="584" y="53"/>
                    </a:lnTo>
                    <a:lnTo>
                      <a:pt x="344" y="82"/>
                    </a:lnTo>
                    <a:lnTo>
                      <a:pt x="159" y="109"/>
                    </a:lnTo>
                    <a:lnTo>
                      <a:pt x="72" y="121"/>
                    </a:lnTo>
                    <a:lnTo>
                      <a:pt x="20" y="126"/>
                    </a:lnTo>
                    <a:lnTo>
                      <a:pt x="0" y="149"/>
                    </a:lnTo>
                    <a:lnTo>
                      <a:pt x="4" y="179"/>
                    </a:lnTo>
                    <a:lnTo>
                      <a:pt x="34" y="197"/>
                    </a:lnTo>
                    <a:lnTo>
                      <a:pt x="11" y="174"/>
                    </a:lnTo>
                    <a:lnTo>
                      <a:pt x="20" y="144"/>
                    </a:lnTo>
                    <a:lnTo>
                      <a:pt x="67" y="129"/>
                    </a:lnTo>
                    <a:lnTo>
                      <a:pt x="108" y="140"/>
                    </a:lnTo>
                    <a:lnTo>
                      <a:pt x="128" y="165"/>
                    </a:lnTo>
                    <a:lnTo>
                      <a:pt x="108" y="185"/>
                    </a:lnTo>
                    <a:lnTo>
                      <a:pt x="72" y="182"/>
                    </a:lnTo>
                    <a:lnTo>
                      <a:pt x="49" y="168"/>
                    </a:lnTo>
                    <a:lnTo>
                      <a:pt x="56" y="190"/>
                    </a:lnTo>
                    <a:lnTo>
                      <a:pt x="90" y="197"/>
                    </a:lnTo>
                    <a:lnTo>
                      <a:pt x="148" y="197"/>
                    </a:lnTo>
                    <a:lnTo>
                      <a:pt x="209" y="194"/>
                    </a:lnTo>
                    <a:lnTo>
                      <a:pt x="313" y="162"/>
                    </a:lnTo>
                    <a:lnTo>
                      <a:pt x="447" y="129"/>
                    </a:lnTo>
                    <a:lnTo>
                      <a:pt x="569" y="105"/>
                    </a:lnTo>
                    <a:lnTo>
                      <a:pt x="710" y="87"/>
                    </a:lnTo>
                    <a:lnTo>
                      <a:pt x="699" y="118"/>
                    </a:lnTo>
                    <a:lnTo>
                      <a:pt x="735" y="147"/>
                    </a:lnTo>
                    <a:lnTo>
                      <a:pt x="798" y="157"/>
                    </a:lnTo>
                    <a:lnTo>
                      <a:pt x="872" y="135"/>
                    </a:lnTo>
                    <a:lnTo>
                      <a:pt x="899" y="80"/>
                    </a:lnTo>
                    <a:lnTo>
                      <a:pt x="881" y="37"/>
                    </a:lnTo>
                    <a:lnTo>
                      <a:pt x="791" y="0"/>
                    </a:lnTo>
                    <a:lnTo>
                      <a:pt x="721" y="5"/>
                    </a:lnTo>
                    <a:lnTo>
                      <a:pt x="670" y="31"/>
                    </a:lnTo>
                    <a:lnTo>
                      <a:pt x="731" y="12"/>
                    </a:lnTo>
                    <a:lnTo>
                      <a:pt x="784" y="7"/>
                    </a:lnTo>
                    <a:lnTo>
                      <a:pt x="868" y="45"/>
                    </a:lnTo>
                    <a:lnTo>
                      <a:pt x="885" y="77"/>
                    </a:lnTo>
                    <a:lnTo>
                      <a:pt x="850" y="133"/>
                    </a:lnTo>
                    <a:lnTo>
                      <a:pt x="787" y="149"/>
                    </a:lnTo>
                    <a:lnTo>
                      <a:pt x="739" y="140"/>
                    </a:lnTo>
                    <a:lnTo>
                      <a:pt x="713" y="116"/>
                    </a:lnTo>
                    <a:lnTo>
                      <a:pt x="728" y="60"/>
                    </a:lnTo>
                    <a:lnTo>
                      <a:pt x="704" y="82"/>
                    </a:lnTo>
                    <a:lnTo>
                      <a:pt x="504" y="107"/>
                    </a:lnTo>
                    <a:lnTo>
                      <a:pt x="294" y="157"/>
                    </a:lnTo>
                    <a:lnTo>
                      <a:pt x="180" y="189"/>
                    </a:lnTo>
                    <a:lnTo>
                      <a:pt x="123" y="189"/>
                    </a:lnTo>
                    <a:lnTo>
                      <a:pt x="144" y="167"/>
                    </a:lnTo>
                    <a:lnTo>
                      <a:pt x="137" y="137"/>
                    </a:lnTo>
                    <a:lnTo>
                      <a:pt x="101" y="125"/>
                    </a:lnTo>
                    <a:lnTo>
                      <a:pt x="393" y="82"/>
                    </a:lnTo>
                    <a:lnTo>
                      <a:pt x="613" y="55"/>
                    </a:lnTo>
                    <a:lnTo>
                      <a:pt x="731" y="47"/>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5" name="Freeform 42">
                <a:extLst>
                  <a:ext uri="{FF2B5EF4-FFF2-40B4-BE49-F238E27FC236}">
                    <a16:creationId xmlns:a16="http://schemas.microsoft.com/office/drawing/2014/main" id="{C713991E-D33A-4043-B562-7CB091A3233B}"/>
                  </a:ext>
                </a:extLst>
              </p:cNvPr>
              <p:cNvSpPr>
                <a:spLocks/>
              </p:cNvSpPr>
              <p:nvPr/>
            </p:nvSpPr>
            <p:spPr bwMode="auto">
              <a:xfrm>
                <a:off x="3323" y="441"/>
                <a:ext cx="253" cy="95"/>
              </a:xfrm>
              <a:custGeom>
                <a:avLst/>
                <a:gdLst>
                  <a:gd name="T0" fmla="*/ 0 w 253"/>
                  <a:gd name="T1" fmla="*/ 8 h 95"/>
                  <a:gd name="T2" fmla="*/ 63 w 253"/>
                  <a:gd name="T3" fmla="*/ 0 h 95"/>
                  <a:gd name="T4" fmla="*/ 137 w 253"/>
                  <a:gd name="T5" fmla="*/ 7 h 95"/>
                  <a:gd name="T6" fmla="*/ 209 w 253"/>
                  <a:gd name="T7" fmla="*/ 8 h 95"/>
                  <a:gd name="T8" fmla="*/ 252 w 253"/>
                  <a:gd name="T9" fmla="*/ 65 h 95"/>
                  <a:gd name="T10" fmla="*/ 178 w 253"/>
                  <a:gd name="T11" fmla="*/ 94 h 95"/>
                  <a:gd name="T12" fmla="*/ 238 w 253"/>
                  <a:gd name="T13" fmla="*/ 62 h 95"/>
                  <a:gd name="T14" fmla="*/ 194 w 253"/>
                  <a:gd name="T15" fmla="*/ 18 h 95"/>
                  <a:gd name="T16" fmla="*/ 151 w 253"/>
                  <a:gd name="T17" fmla="*/ 18 h 95"/>
                  <a:gd name="T18" fmla="*/ 173 w 253"/>
                  <a:gd name="T19" fmla="*/ 51 h 95"/>
                  <a:gd name="T20" fmla="*/ 99 w 253"/>
                  <a:gd name="T21" fmla="*/ 8 h 95"/>
                  <a:gd name="T22" fmla="*/ 0 w 253"/>
                  <a:gd name="T23" fmla="*/ 8 h 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53" h="95">
                    <a:moveTo>
                      <a:pt x="0" y="8"/>
                    </a:moveTo>
                    <a:lnTo>
                      <a:pt x="63" y="0"/>
                    </a:lnTo>
                    <a:lnTo>
                      <a:pt x="137" y="7"/>
                    </a:lnTo>
                    <a:lnTo>
                      <a:pt x="209" y="8"/>
                    </a:lnTo>
                    <a:lnTo>
                      <a:pt x="252" y="65"/>
                    </a:lnTo>
                    <a:lnTo>
                      <a:pt x="178" y="94"/>
                    </a:lnTo>
                    <a:lnTo>
                      <a:pt x="238" y="62"/>
                    </a:lnTo>
                    <a:lnTo>
                      <a:pt x="194" y="18"/>
                    </a:lnTo>
                    <a:lnTo>
                      <a:pt x="151" y="18"/>
                    </a:lnTo>
                    <a:lnTo>
                      <a:pt x="173" y="51"/>
                    </a:lnTo>
                    <a:lnTo>
                      <a:pt x="99" y="8"/>
                    </a:lnTo>
                    <a:lnTo>
                      <a:pt x="0" y="8"/>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6" name="Freeform 43">
                <a:extLst>
                  <a:ext uri="{FF2B5EF4-FFF2-40B4-BE49-F238E27FC236}">
                    <a16:creationId xmlns:a16="http://schemas.microsoft.com/office/drawing/2014/main" id="{DEBFD0C9-465F-4ED4-87EB-97DF60E0A8F9}"/>
                  </a:ext>
                </a:extLst>
              </p:cNvPr>
              <p:cNvSpPr>
                <a:spLocks/>
              </p:cNvSpPr>
              <p:nvPr/>
            </p:nvSpPr>
            <p:spPr bwMode="auto">
              <a:xfrm>
                <a:off x="3380" y="506"/>
                <a:ext cx="116" cy="69"/>
              </a:xfrm>
              <a:custGeom>
                <a:avLst/>
                <a:gdLst>
                  <a:gd name="T0" fmla="*/ 115 w 116"/>
                  <a:gd name="T1" fmla="*/ 0 h 69"/>
                  <a:gd name="T2" fmla="*/ 79 w 116"/>
                  <a:gd name="T3" fmla="*/ 57 h 69"/>
                  <a:gd name="T4" fmla="*/ 5 w 116"/>
                  <a:gd name="T5" fmla="*/ 53 h 69"/>
                  <a:gd name="T6" fmla="*/ 0 w 116"/>
                  <a:gd name="T7" fmla="*/ 61 h 69"/>
                  <a:gd name="T8" fmla="*/ 65 w 116"/>
                  <a:gd name="T9" fmla="*/ 68 h 69"/>
                  <a:gd name="T10" fmla="*/ 115 w 116"/>
                  <a:gd name="T11" fmla="*/ 51 h 69"/>
                  <a:gd name="T12" fmla="*/ 115 w 116"/>
                  <a:gd name="T13" fmla="*/ 0 h 6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6" h="69">
                    <a:moveTo>
                      <a:pt x="115" y="0"/>
                    </a:moveTo>
                    <a:lnTo>
                      <a:pt x="79" y="57"/>
                    </a:lnTo>
                    <a:lnTo>
                      <a:pt x="5" y="53"/>
                    </a:lnTo>
                    <a:lnTo>
                      <a:pt x="0" y="61"/>
                    </a:lnTo>
                    <a:lnTo>
                      <a:pt x="65" y="68"/>
                    </a:lnTo>
                    <a:lnTo>
                      <a:pt x="115" y="51"/>
                    </a:lnTo>
                    <a:lnTo>
                      <a:pt x="115"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7" name="Freeform 44">
                <a:extLst>
                  <a:ext uri="{FF2B5EF4-FFF2-40B4-BE49-F238E27FC236}">
                    <a16:creationId xmlns:a16="http://schemas.microsoft.com/office/drawing/2014/main" id="{67EE75D9-30F3-4838-A08F-C3FDFA087183}"/>
                  </a:ext>
                </a:extLst>
              </p:cNvPr>
              <p:cNvSpPr>
                <a:spLocks/>
              </p:cNvSpPr>
              <p:nvPr/>
            </p:nvSpPr>
            <p:spPr bwMode="auto">
              <a:xfrm>
                <a:off x="3041" y="446"/>
                <a:ext cx="158" cy="54"/>
              </a:xfrm>
              <a:custGeom>
                <a:avLst/>
                <a:gdLst>
                  <a:gd name="T0" fmla="*/ 13 w 158"/>
                  <a:gd name="T1" fmla="*/ 53 h 54"/>
                  <a:gd name="T2" fmla="*/ 0 w 158"/>
                  <a:gd name="T3" fmla="*/ 7 h 54"/>
                  <a:gd name="T4" fmla="*/ 42 w 158"/>
                  <a:gd name="T5" fmla="*/ 0 h 54"/>
                  <a:gd name="T6" fmla="*/ 112 w 158"/>
                  <a:gd name="T7" fmla="*/ 2 h 54"/>
                  <a:gd name="T8" fmla="*/ 150 w 158"/>
                  <a:gd name="T9" fmla="*/ 25 h 54"/>
                  <a:gd name="T10" fmla="*/ 157 w 158"/>
                  <a:gd name="T11" fmla="*/ 46 h 54"/>
                  <a:gd name="T12" fmla="*/ 128 w 158"/>
                  <a:gd name="T13" fmla="*/ 46 h 54"/>
                  <a:gd name="T14" fmla="*/ 115 w 158"/>
                  <a:gd name="T15" fmla="*/ 20 h 54"/>
                  <a:gd name="T16" fmla="*/ 79 w 158"/>
                  <a:gd name="T17" fmla="*/ 8 h 54"/>
                  <a:gd name="T18" fmla="*/ 32 w 158"/>
                  <a:gd name="T19" fmla="*/ 7 h 54"/>
                  <a:gd name="T20" fmla="*/ 7 w 158"/>
                  <a:gd name="T21" fmla="*/ 10 h 54"/>
                  <a:gd name="T22" fmla="*/ 25 w 158"/>
                  <a:gd name="T23" fmla="*/ 53 h 54"/>
                  <a:gd name="T24" fmla="*/ 13 w 158"/>
                  <a:gd name="T25" fmla="*/ 53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8" h="54">
                    <a:moveTo>
                      <a:pt x="13" y="53"/>
                    </a:moveTo>
                    <a:lnTo>
                      <a:pt x="0" y="7"/>
                    </a:lnTo>
                    <a:lnTo>
                      <a:pt x="42" y="0"/>
                    </a:lnTo>
                    <a:lnTo>
                      <a:pt x="112" y="2"/>
                    </a:lnTo>
                    <a:lnTo>
                      <a:pt x="150" y="25"/>
                    </a:lnTo>
                    <a:lnTo>
                      <a:pt x="157" y="46"/>
                    </a:lnTo>
                    <a:lnTo>
                      <a:pt x="128" y="46"/>
                    </a:lnTo>
                    <a:lnTo>
                      <a:pt x="115" y="20"/>
                    </a:lnTo>
                    <a:lnTo>
                      <a:pt x="79" y="8"/>
                    </a:lnTo>
                    <a:lnTo>
                      <a:pt x="32" y="7"/>
                    </a:lnTo>
                    <a:lnTo>
                      <a:pt x="7" y="10"/>
                    </a:lnTo>
                    <a:lnTo>
                      <a:pt x="25" y="53"/>
                    </a:lnTo>
                    <a:lnTo>
                      <a:pt x="13" y="5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8" name="Freeform 45">
                <a:extLst>
                  <a:ext uri="{FF2B5EF4-FFF2-40B4-BE49-F238E27FC236}">
                    <a16:creationId xmlns:a16="http://schemas.microsoft.com/office/drawing/2014/main" id="{7702F009-03F9-4556-828F-15FECA8935A3}"/>
                  </a:ext>
                </a:extLst>
              </p:cNvPr>
              <p:cNvSpPr>
                <a:spLocks/>
              </p:cNvSpPr>
              <p:nvPr/>
            </p:nvSpPr>
            <p:spPr bwMode="auto">
              <a:xfrm>
                <a:off x="3531" y="486"/>
                <a:ext cx="761" cy="291"/>
              </a:xfrm>
              <a:custGeom>
                <a:avLst/>
                <a:gdLst>
                  <a:gd name="T0" fmla="*/ 29 w 761"/>
                  <a:gd name="T1" fmla="*/ 0 h 291"/>
                  <a:gd name="T2" fmla="*/ 169 w 761"/>
                  <a:gd name="T3" fmla="*/ 6 h 291"/>
                  <a:gd name="T4" fmla="*/ 324 w 761"/>
                  <a:gd name="T5" fmla="*/ 28 h 291"/>
                  <a:gd name="T6" fmla="*/ 582 w 761"/>
                  <a:gd name="T7" fmla="*/ 80 h 291"/>
                  <a:gd name="T8" fmla="*/ 753 w 761"/>
                  <a:gd name="T9" fmla="*/ 120 h 291"/>
                  <a:gd name="T10" fmla="*/ 760 w 761"/>
                  <a:gd name="T11" fmla="*/ 140 h 291"/>
                  <a:gd name="T12" fmla="*/ 747 w 761"/>
                  <a:gd name="T13" fmla="*/ 209 h 291"/>
                  <a:gd name="T14" fmla="*/ 724 w 761"/>
                  <a:gd name="T15" fmla="*/ 290 h 291"/>
                  <a:gd name="T16" fmla="*/ 747 w 761"/>
                  <a:gd name="T17" fmla="*/ 145 h 291"/>
                  <a:gd name="T18" fmla="*/ 735 w 761"/>
                  <a:gd name="T19" fmla="*/ 123 h 291"/>
                  <a:gd name="T20" fmla="*/ 692 w 761"/>
                  <a:gd name="T21" fmla="*/ 112 h 291"/>
                  <a:gd name="T22" fmla="*/ 654 w 761"/>
                  <a:gd name="T23" fmla="*/ 125 h 291"/>
                  <a:gd name="T24" fmla="*/ 638 w 761"/>
                  <a:gd name="T25" fmla="*/ 150 h 291"/>
                  <a:gd name="T26" fmla="*/ 648 w 761"/>
                  <a:gd name="T27" fmla="*/ 170 h 291"/>
                  <a:gd name="T28" fmla="*/ 670 w 761"/>
                  <a:gd name="T29" fmla="*/ 170 h 291"/>
                  <a:gd name="T30" fmla="*/ 708 w 761"/>
                  <a:gd name="T31" fmla="*/ 161 h 291"/>
                  <a:gd name="T32" fmla="*/ 713 w 761"/>
                  <a:gd name="T33" fmla="*/ 142 h 291"/>
                  <a:gd name="T34" fmla="*/ 719 w 761"/>
                  <a:gd name="T35" fmla="*/ 161 h 291"/>
                  <a:gd name="T36" fmla="*/ 677 w 761"/>
                  <a:gd name="T37" fmla="*/ 182 h 291"/>
                  <a:gd name="T38" fmla="*/ 625 w 761"/>
                  <a:gd name="T39" fmla="*/ 182 h 291"/>
                  <a:gd name="T40" fmla="*/ 580 w 761"/>
                  <a:gd name="T41" fmla="*/ 170 h 291"/>
                  <a:gd name="T42" fmla="*/ 317 w 761"/>
                  <a:gd name="T43" fmla="*/ 99 h 291"/>
                  <a:gd name="T44" fmla="*/ 137 w 761"/>
                  <a:gd name="T45" fmla="*/ 55 h 291"/>
                  <a:gd name="T46" fmla="*/ 32 w 761"/>
                  <a:gd name="T47" fmla="*/ 37 h 291"/>
                  <a:gd name="T48" fmla="*/ 0 w 761"/>
                  <a:gd name="T49" fmla="*/ 35 h 291"/>
                  <a:gd name="T50" fmla="*/ 22 w 761"/>
                  <a:gd name="T51" fmla="*/ 27 h 291"/>
                  <a:gd name="T52" fmla="*/ 117 w 761"/>
                  <a:gd name="T53" fmla="*/ 39 h 291"/>
                  <a:gd name="T54" fmla="*/ 281 w 761"/>
                  <a:gd name="T55" fmla="*/ 77 h 291"/>
                  <a:gd name="T56" fmla="*/ 463 w 761"/>
                  <a:gd name="T57" fmla="*/ 125 h 291"/>
                  <a:gd name="T58" fmla="*/ 630 w 761"/>
                  <a:gd name="T59" fmla="*/ 172 h 291"/>
                  <a:gd name="T60" fmla="*/ 618 w 761"/>
                  <a:gd name="T61" fmla="*/ 150 h 291"/>
                  <a:gd name="T62" fmla="*/ 627 w 761"/>
                  <a:gd name="T63" fmla="*/ 125 h 291"/>
                  <a:gd name="T64" fmla="*/ 670 w 761"/>
                  <a:gd name="T65" fmla="*/ 108 h 291"/>
                  <a:gd name="T66" fmla="*/ 475 w 761"/>
                  <a:gd name="T67" fmla="*/ 64 h 291"/>
                  <a:gd name="T68" fmla="*/ 288 w 761"/>
                  <a:gd name="T69" fmla="*/ 28 h 291"/>
                  <a:gd name="T70" fmla="*/ 166 w 761"/>
                  <a:gd name="T71" fmla="*/ 10 h 291"/>
                  <a:gd name="T72" fmla="*/ 25 w 761"/>
                  <a:gd name="T73" fmla="*/ 2 h 291"/>
                  <a:gd name="T74" fmla="*/ 29 w 761"/>
                  <a:gd name="T75" fmla="*/ 0 h 2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761" h="291">
                    <a:moveTo>
                      <a:pt x="29" y="0"/>
                    </a:moveTo>
                    <a:lnTo>
                      <a:pt x="169" y="6"/>
                    </a:lnTo>
                    <a:lnTo>
                      <a:pt x="324" y="28"/>
                    </a:lnTo>
                    <a:lnTo>
                      <a:pt x="582" y="80"/>
                    </a:lnTo>
                    <a:lnTo>
                      <a:pt x="753" y="120"/>
                    </a:lnTo>
                    <a:lnTo>
                      <a:pt x="760" y="140"/>
                    </a:lnTo>
                    <a:lnTo>
                      <a:pt x="747" y="209"/>
                    </a:lnTo>
                    <a:lnTo>
                      <a:pt x="724" y="290"/>
                    </a:lnTo>
                    <a:lnTo>
                      <a:pt x="747" y="145"/>
                    </a:lnTo>
                    <a:lnTo>
                      <a:pt x="735" y="123"/>
                    </a:lnTo>
                    <a:lnTo>
                      <a:pt x="692" y="112"/>
                    </a:lnTo>
                    <a:lnTo>
                      <a:pt x="654" y="125"/>
                    </a:lnTo>
                    <a:lnTo>
                      <a:pt x="638" y="150"/>
                    </a:lnTo>
                    <a:lnTo>
                      <a:pt x="648" y="170"/>
                    </a:lnTo>
                    <a:lnTo>
                      <a:pt x="670" y="170"/>
                    </a:lnTo>
                    <a:lnTo>
                      <a:pt x="708" y="161"/>
                    </a:lnTo>
                    <a:lnTo>
                      <a:pt x="713" y="142"/>
                    </a:lnTo>
                    <a:lnTo>
                      <a:pt x="719" y="161"/>
                    </a:lnTo>
                    <a:lnTo>
                      <a:pt x="677" y="182"/>
                    </a:lnTo>
                    <a:lnTo>
                      <a:pt x="625" y="182"/>
                    </a:lnTo>
                    <a:lnTo>
                      <a:pt x="580" y="170"/>
                    </a:lnTo>
                    <a:lnTo>
                      <a:pt x="317" y="99"/>
                    </a:lnTo>
                    <a:lnTo>
                      <a:pt x="137" y="55"/>
                    </a:lnTo>
                    <a:lnTo>
                      <a:pt x="32" y="37"/>
                    </a:lnTo>
                    <a:lnTo>
                      <a:pt x="0" y="35"/>
                    </a:lnTo>
                    <a:lnTo>
                      <a:pt x="22" y="27"/>
                    </a:lnTo>
                    <a:lnTo>
                      <a:pt x="117" y="39"/>
                    </a:lnTo>
                    <a:lnTo>
                      <a:pt x="281" y="77"/>
                    </a:lnTo>
                    <a:lnTo>
                      <a:pt x="463" y="125"/>
                    </a:lnTo>
                    <a:lnTo>
                      <a:pt x="630" y="172"/>
                    </a:lnTo>
                    <a:lnTo>
                      <a:pt x="618" y="150"/>
                    </a:lnTo>
                    <a:lnTo>
                      <a:pt x="627" y="125"/>
                    </a:lnTo>
                    <a:lnTo>
                      <a:pt x="670" y="108"/>
                    </a:lnTo>
                    <a:lnTo>
                      <a:pt x="475" y="64"/>
                    </a:lnTo>
                    <a:lnTo>
                      <a:pt x="288" y="28"/>
                    </a:lnTo>
                    <a:lnTo>
                      <a:pt x="166" y="10"/>
                    </a:lnTo>
                    <a:lnTo>
                      <a:pt x="25" y="2"/>
                    </a:lnTo>
                    <a:lnTo>
                      <a:pt x="29"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9" name="Freeform 46">
                <a:extLst>
                  <a:ext uri="{FF2B5EF4-FFF2-40B4-BE49-F238E27FC236}">
                    <a16:creationId xmlns:a16="http://schemas.microsoft.com/office/drawing/2014/main" id="{7DFCA084-77CB-4793-8D51-E558AF36A4F9}"/>
                  </a:ext>
                </a:extLst>
              </p:cNvPr>
              <p:cNvSpPr>
                <a:spLocks/>
              </p:cNvSpPr>
              <p:nvPr/>
            </p:nvSpPr>
            <p:spPr bwMode="auto">
              <a:xfrm>
                <a:off x="2508" y="603"/>
                <a:ext cx="1807" cy="1030"/>
              </a:xfrm>
              <a:custGeom>
                <a:avLst/>
                <a:gdLst>
                  <a:gd name="T0" fmla="*/ 11 w 1807"/>
                  <a:gd name="T1" fmla="*/ 3 h 1030"/>
                  <a:gd name="T2" fmla="*/ 43 w 1807"/>
                  <a:gd name="T3" fmla="*/ 45 h 1030"/>
                  <a:gd name="T4" fmla="*/ 56 w 1807"/>
                  <a:gd name="T5" fmla="*/ 149 h 1030"/>
                  <a:gd name="T6" fmla="*/ 61 w 1807"/>
                  <a:gd name="T7" fmla="*/ 307 h 1030"/>
                  <a:gd name="T8" fmla="*/ 56 w 1807"/>
                  <a:gd name="T9" fmla="*/ 520 h 1030"/>
                  <a:gd name="T10" fmla="*/ 50 w 1807"/>
                  <a:gd name="T11" fmla="*/ 688 h 1030"/>
                  <a:gd name="T12" fmla="*/ 36 w 1807"/>
                  <a:gd name="T13" fmla="*/ 887 h 1030"/>
                  <a:gd name="T14" fmla="*/ 20 w 1807"/>
                  <a:gd name="T15" fmla="*/ 995 h 1030"/>
                  <a:gd name="T16" fmla="*/ 433 w 1807"/>
                  <a:gd name="T17" fmla="*/ 1012 h 1030"/>
                  <a:gd name="T18" fmla="*/ 685 w 1807"/>
                  <a:gd name="T19" fmla="*/ 1015 h 1030"/>
                  <a:gd name="T20" fmla="*/ 1179 w 1807"/>
                  <a:gd name="T21" fmla="*/ 1012 h 1030"/>
                  <a:gd name="T22" fmla="*/ 1431 w 1807"/>
                  <a:gd name="T23" fmla="*/ 1007 h 1030"/>
                  <a:gd name="T24" fmla="*/ 1806 w 1807"/>
                  <a:gd name="T25" fmla="*/ 992 h 1030"/>
                  <a:gd name="T26" fmla="*/ 1467 w 1807"/>
                  <a:gd name="T27" fmla="*/ 1022 h 1030"/>
                  <a:gd name="T28" fmla="*/ 1161 w 1807"/>
                  <a:gd name="T29" fmla="*/ 1026 h 1030"/>
                  <a:gd name="T30" fmla="*/ 744 w 1807"/>
                  <a:gd name="T31" fmla="*/ 1029 h 1030"/>
                  <a:gd name="T32" fmla="*/ 362 w 1807"/>
                  <a:gd name="T33" fmla="*/ 1018 h 1030"/>
                  <a:gd name="T34" fmla="*/ 0 w 1807"/>
                  <a:gd name="T35" fmla="*/ 1003 h 1030"/>
                  <a:gd name="T36" fmla="*/ 20 w 1807"/>
                  <a:gd name="T37" fmla="*/ 850 h 1030"/>
                  <a:gd name="T38" fmla="*/ 32 w 1807"/>
                  <a:gd name="T39" fmla="*/ 614 h 1030"/>
                  <a:gd name="T40" fmla="*/ 36 w 1807"/>
                  <a:gd name="T41" fmla="*/ 397 h 1030"/>
                  <a:gd name="T42" fmla="*/ 36 w 1807"/>
                  <a:gd name="T43" fmla="*/ 202 h 1030"/>
                  <a:gd name="T44" fmla="*/ 20 w 1807"/>
                  <a:gd name="T45" fmla="*/ 63 h 1030"/>
                  <a:gd name="T46" fmla="*/ 0 w 1807"/>
                  <a:gd name="T47" fmla="*/ 0 h 1030"/>
                  <a:gd name="T48" fmla="*/ 11 w 1807"/>
                  <a:gd name="T49" fmla="*/ 3 h 103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807" h="1030">
                    <a:moveTo>
                      <a:pt x="11" y="3"/>
                    </a:moveTo>
                    <a:lnTo>
                      <a:pt x="43" y="45"/>
                    </a:lnTo>
                    <a:lnTo>
                      <a:pt x="56" y="149"/>
                    </a:lnTo>
                    <a:lnTo>
                      <a:pt x="61" y="307"/>
                    </a:lnTo>
                    <a:lnTo>
                      <a:pt x="56" y="520"/>
                    </a:lnTo>
                    <a:lnTo>
                      <a:pt x="50" y="688"/>
                    </a:lnTo>
                    <a:lnTo>
                      <a:pt x="36" y="887"/>
                    </a:lnTo>
                    <a:lnTo>
                      <a:pt x="20" y="995"/>
                    </a:lnTo>
                    <a:lnTo>
                      <a:pt x="433" y="1012"/>
                    </a:lnTo>
                    <a:lnTo>
                      <a:pt x="685" y="1015"/>
                    </a:lnTo>
                    <a:lnTo>
                      <a:pt x="1179" y="1012"/>
                    </a:lnTo>
                    <a:lnTo>
                      <a:pt x="1431" y="1007"/>
                    </a:lnTo>
                    <a:lnTo>
                      <a:pt x="1806" y="992"/>
                    </a:lnTo>
                    <a:lnTo>
                      <a:pt x="1467" y="1022"/>
                    </a:lnTo>
                    <a:lnTo>
                      <a:pt x="1161" y="1026"/>
                    </a:lnTo>
                    <a:lnTo>
                      <a:pt x="744" y="1029"/>
                    </a:lnTo>
                    <a:lnTo>
                      <a:pt x="362" y="1018"/>
                    </a:lnTo>
                    <a:lnTo>
                      <a:pt x="0" y="1003"/>
                    </a:lnTo>
                    <a:lnTo>
                      <a:pt x="20" y="850"/>
                    </a:lnTo>
                    <a:lnTo>
                      <a:pt x="32" y="614"/>
                    </a:lnTo>
                    <a:lnTo>
                      <a:pt x="36" y="397"/>
                    </a:lnTo>
                    <a:lnTo>
                      <a:pt x="36" y="202"/>
                    </a:lnTo>
                    <a:lnTo>
                      <a:pt x="20" y="63"/>
                    </a:lnTo>
                    <a:lnTo>
                      <a:pt x="0" y="0"/>
                    </a:lnTo>
                    <a:lnTo>
                      <a:pt x="11" y="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90" name="Freeform 47">
                <a:extLst>
                  <a:ext uri="{FF2B5EF4-FFF2-40B4-BE49-F238E27FC236}">
                    <a16:creationId xmlns:a16="http://schemas.microsoft.com/office/drawing/2014/main" id="{DA37C9E2-07F2-49C8-93D0-34F9A18CE7F5}"/>
                  </a:ext>
                </a:extLst>
              </p:cNvPr>
              <p:cNvSpPr>
                <a:spLocks/>
              </p:cNvSpPr>
              <p:nvPr/>
            </p:nvSpPr>
            <p:spPr bwMode="auto">
              <a:xfrm>
                <a:off x="4226" y="768"/>
                <a:ext cx="89" cy="831"/>
              </a:xfrm>
              <a:custGeom>
                <a:avLst/>
                <a:gdLst>
                  <a:gd name="T0" fmla="*/ 26 w 89"/>
                  <a:gd name="T1" fmla="*/ 41 h 831"/>
                  <a:gd name="T2" fmla="*/ 18 w 89"/>
                  <a:gd name="T3" fmla="*/ 158 h 831"/>
                  <a:gd name="T4" fmla="*/ 26 w 89"/>
                  <a:gd name="T5" fmla="*/ 393 h 831"/>
                  <a:gd name="T6" fmla="*/ 51 w 89"/>
                  <a:gd name="T7" fmla="*/ 655 h 831"/>
                  <a:gd name="T8" fmla="*/ 88 w 89"/>
                  <a:gd name="T9" fmla="*/ 830 h 831"/>
                  <a:gd name="T10" fmla="*/ 51 w 89"/>
                  <a:gd name="T11" fmla="*/ 715 h 831"/>
                  <a:gd name="T12" fmla="*/ 18 w 89"/>
                  <a:gd name="T13" fmla="*/ 550 h 831"/>
                  <a:gd name="T14" fmla="*/ 13 w 89"/>
                  <a:gd name="T15" fmla="*/ 348 h 831"/>
                  <a:gd name="T16" fmla="*/ 0 w 89"/>
                  <a:gd name="T17" fmla="*/ 142 h 831"/>
                  <a:gd name="T18" fmla="*/ 26 w 89"/>
                  <a:gd name="T19" fmla="*/ 0 h 831"/>
                  <a:gd name="T20" fmla="*/ 26 w 89"/>
                  <a:gd name="T21" fmla="*/ 41 h 8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9" h="831">
                    <a:moveTo>
                      <a:pt x="26" y="41"/>
                    </a:moveTo>
                    <a:lnTo>
                      <a:pt x="18" y="158"/>
                    </a:lnTo>
                    <a:lnTo>
                      <a:pt x="26" y="393"/>
                    </a:lnTo>
                    <a:lnTo>
                      <a:pt x="51" y="655"/>
                    </a:lnTo>
                    <a:lnTo>
                      <a:pt x="88" y="830"/>
                    </a:lnTo>
                    <a:lnTo>
                      <a:pt x="51" y="715"/>
                    </a:lnTo>
                    <a:lnTo>
                      <a:pt x="18" y="550"/>
                    </a:lnTo>
                    <a:lnTo>
                      <a:pt x="13" y="348"/>
                    </a:lnTo>
                    <a:lnTo>
                      <a:pt x="0" y="142"/>
                    </a:lnTo>
                    <a:lnTo>
                      <a:pt x="26" y="0"/>
                    </a:lnTo>
                    <a:lnTo>
                      <a:pt x="26" y="41"/>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grpSp>
        <p:sp>
          <p:nvSpPr>
            <p:cNvPr id="6149" name="Text Box 48">
              <a:extLst>
                <a:ext uri="{FF2B5EF4-FFF2-40B4-BE49-F238E27FC236}">
                  <a16:creationId xmlns:a16="http://schemas.microsoft.com/office/drawing/2014/main" id="{66BFDCFB-A401-4334-8C83-57094211F99B}"/>
                </a:ext>
              </a:extLst>
            </p:cNvPr>
            <p:cNvSpPr txBox="1">
              <a:spLocks noChangeArrowheads="1"/>
            </p:cNvSpPr>
            <p:nvPr/>
          </p:nvSpPr>
          <p:spPr bwMode="auto">
            <a:xfrm>
              <a:off x="2893" y="1336"/>
              <a:ext cx="165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4400">
                  <a:solidFill>
                    <a:srgbClr val="DC0081"/>
                  </a:solidFill>
                </a:rPr>
                <a:t>Overview</a:t>
              </a:r>
            </a:p>
          </p:txBody>
        </p:sp>
      </p:grpSp>
      <p:sp>
        <p:nvSpPr>
          <p:cNvPr id="6147" name="Text Box 49">
            <a:extLst>
              <a:ext uri="{FF2B5EF4-FFF2-40B4-BE49-F238E27FC236}">
                <a16:creationId xmlns:a16="http://schemas.microsoft.com/office/drawing/2014/main" id="{6678666F-732E-40B7-B619-83051C39A9B1}"/>
              </a:ext>
            </a:extLst>
          </p:cNvPr>
          <p:cNvSpPr txBox="1">
            <a:spLocks noChangeArrowheads="1"/>
          </p:cNvSpPr>
          <p:nvPr/>
        </p:nvSpPr>
        <p:spPr bwMode="auto">
          <a:xfrm>
            <a:off x="5495614" y="2113051"/>
            <a:ext cx="6120873" cy="30285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lnSpc>
                <a:spcPct val="90000"/>
              </a:lnSpc>
              <a:spcBef>
                <a:spcPct val="20000"/>
              </a:spcBef>
              <a:buFontTx/>
              <a:buChar char="•"/>
            </a:pPr>
            <a:r>
              <a:rPr lang="zh-CN" altLang="en-US" sz="3600" b="1">
                <a:solidFill>
                  <a:schemeClr val="tx1"/>
                </a:solidFill>
                <a:latin typeface="Arial" panose="020B0604020202020204" pitchFamily="34" charset="0"/>
              </a:rPr>
              <a:t>网络互连的概念</a:t>
            </a:r>
          </a:p>
          <a:p>
            <a:pPr algn="l">
              <a:lnSpc>
                <a:spcPct val="90000"/>
              </a:lnSpc>
              <a:spcBef>
                <a:spcPct val="20000"/>
              </a:spcBef>
              <a:buFontTx/>
              <a:buChar char="•"/>
            </a:pPr>
            <a:r>
              <a:rPr lang="zh-CN" altLang="en-US" sz="3600" b="1">
                <a:solidFill>
                  <a:schemeClr val="tx1"/>
                </a:solidFill>
                <a:latin typeface="Arial" panose="020B0604020202020204" pitchFamily="34" charset="0"/>
              </a:rPr>
              <a:t>中继器</a:t>
            </a:r>
            <a:r>
              <a:rPr lang="en-US" altLang="zh-CN" sz="3600" b="1">
                <a:solidFill>
                  <a:schemeClr val="tx1"/>
                </a:solidFill>
                <a:latin typeface="Arial" panose="020B0604020202020204" pitchFamily="34" charset="0"/>
              </a:rPr>
              <a:t>/</a:t>
            </a:r>
            <a:r>
              <a:rPr lang="zh-CN" altLang="en-US" sz="3600" b="1">
                <a:solidFill>
                  <a:schemeClr val="tx1"/>
                </a:solidFill>
                <a:latin typeface="Arial" panose="020B0604020202020204" pitchFamily="34" charset="0"/>
              </a:rPr>
              <a:t>集线器</a:t>
            </a:r>
          </a:p>
          <a:p>
            <a:pPr algn="l">
              <a:lnSpc>
                <a:spcPct val="90000"/>
              </a:lnSpc>
              <a:spcBef>
                <a:spcPct val="20000"/>
              </a:spcBef>
              <a:buFontTx/>
              <a:buChar char="•"/>
            </a:pPr>
            <a:r>
              <a:rPr lang="zh-CN" altLang="en-US" sz="3600" b="1">
                <a:solidFill>
                  <a:schemeClr val="tx1"/>
                </a:solidFill>
                <a:latin typeface="Arial" panose="020B0604020202020204" pitchFamily="34" charset="0"/>
              </a:rPr>
              <a:t>网桥</a:t>
            </a:r>
            <a:r>
              <a:rPr lang="en-US" altLang="zh-CN" sz="3600" b="1">
                <a:solidFill>
                  <a:schemeClr val="tx1"/>
                </a:solidFill>
                <a:latin typeface="Arial" panose="020B0604020202020204" pitchFamily="34" charset="0"/>
              </a:rPr>
              <a:t>/</a:t>
            </a:r>
            <a:r>
              <a:rPr lang="zh-CN" altLang="en-US" sz="3600" b="1">
                <a:solidFill>
                  <a:schemeClr val="tx1"/>
                </a:solidFill>
                <a:latin typeface="Arial" panose="020B0604020202020204" pitchFamily="34" charset="0"/>
              </a:rPr>
              <a:t>交换器</a:t>
            </a:r>
          </a:p>
          <a:p>
            <a:pPr algn="l">
              <a:lnSpc>
                <a:spcPct val="90000"/>
              </a:lnSpc>
              <a:spcBef>
                <a:spcPct val="20000"/>
              </a:spcBef>
              <a:buFontTx/>
              <a:buChar char="•"/>
            </a:pPr>
            <a:r>
              <a:rPr lang="zh-CN" altLang="en-US" sz="3600" b="1">
                <a:solidFill>
                  <a:schemeClr val="tx1"/>
                </a:solidFill>
                <a:latin typeface="Arial" panose="020B0604020202020204" pitchFamily="34" charset="0"/>
              </a:rPr>
              <a:t>路由器</a:t>
            </a:r>
          </a:p>
          <a:p>
            <a:pPr algn="l">
              <a:lnSpc>
                <a:spcPct val="90000"/>
              </a:lnSpc>
              <a:spcBef>
                <a:spcPct val="20000"/>
              </a:spcBef>
              <a:buFontTx/>
              <a:buChar char="•"/>
            </a:pPr>
            <a:r>
              <a:rPr lang="zh-CN" altLang="en-US" sz="3600" b="1">
                <a:solidFill>
                  <a:schemeClr val="tx1"/>
                </a:solidFill>
                <a:latin typeface="Arial" panose="020B0604020202020204" pitchFamily="34" charset="0"/>
              </a:rPr>
              <a:t>网关</a:t>
            </a:r>
          </a:p>
        </p:txBody>
      </p:sp>
      <p:sp>
        <p:nvSpPr>
          <p:cNvPr id="2" name="标题 1">
            <a:extLst>
              <a:ext uri="{FF2B5EF4-FFF2-40B4-BE49-F238E27FC236}">
                <a16:creationId xmlns:a16="http://schemas.microsoft.com/office/drawing/2014/main" id="{7274BEA4-1D23-4A79-A27F-2831E2CD96A5}"/>
              </a:ext>
            </a:extLst>
          </p:cNvPr>
          <p:cNvSpPr>
            <a:spLocks noGrp="1"/>
          </p:cNvSpPr>
          <p:nvPr>
            <p:ph type="ctrTitle"/>
          </p:nvPr>
        </p:nvSpPr>
        <p:spPr>
          <a:xfrm>
            <a:off x="1496821" y="219005"/>
            <a:ext cx="9144000" cy="775803"/>
          </a:xfrm>
        </p:spPr>
        <p:txBody>
          <a:bodyPr>
            <a:normAutofit fontScale="90000"/>
          </a:bodyPr>
          <a:lstStyle/>
          <a:p>
            <a:r>
              <a:rPr lang="en-US" altLang="zh-CN"/>
              <a:t>5.5 </a:t>
            </a:r>
            <a:r>
              <a:rPr lang="zh-CN" altLang="en-US"/>
              <a:t>网际互联</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a:extLst>
              <a:ext uri="{FF2B5EF4-FFF2-40B4-BE49-F238E27FC236}">
                <a16:creationId xmlns:a16="http://schemas.microsoft.com/office/drawing/2014/main" id="{BEB870BE-D920-40F5-BE2D-597E65B51410}"/>
              </a:ext>
            </a:extLst>
          </p:cNvPr>
          <p:cNvSpPr>
            <a:spLocks noGrp="1" noChangeArrowheads="1"/>
          </p:cNvSpPr>
          <p:nvPr>
            <p:ph type="body" idx="1"/>
          </p:nvPr>
        </p:nvSpPr>
        <p:spPr bwMode="auto">
          <a:xfrm>
            <a:off x="942994" y="1386525"/>
            <a:ext cx="3943332" cy="2450032"/>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p>
            <a:pPr marL="285738" indent="-285738"/>
            <a:r>
              <a:rPr lang="en-US" altLang="zh-CN" sz="2000"/>
              <a:t>Before Internet</a:t>
            </a:r>
          </a:p>
          <a:p>
            <a:pPr lvl="1"/>
            <a:r>
              <a:rPr lang="zh-CN" altLang="en-US" sz="1800"/>
              <a:t>存在不同的网络 </a:t>
            </a:r>
            <a:r>
              <a:rPr lang="en-US" altLang="zh-CN" sz="1600"/>
              <a:t>(e.g., ARPANET, ARPA packet radio)</a:t>
            </a:r>
          </a:p>
          <a:p>
            <a:pPr lvl="1"/>
            <a:r>
              <a:rPr lang="zh-CN" altLang="en-US" sz="1800"/>
              <a:t>只有具有相同物理</a:t>
            </a:r>
            <a:r>
              <a:rPr lang="en-US" altLang="zh-CN" sz="1800"/>
              <a:t>/</a:t>
            </a:r>
            <a:r>
              <a:rPr lang="zh-CN" altLang="en-US" sz="1800"/>
              <a:t>链路层网络节点才能相互通信</a:t>
            </a:r>
          </a:p>
          <a:p>
            <a:pPr lvl="1"/>
            <a:r>
              <a:rPr lang="zh-CN" altLang="en-US" sz="1800"/>
              <a:t>用于连接小范围的计算机 </a:t>
            </a:r>
            <a:endParaRPr lang="en-US" altLang="zh-CN" sz="1800"/>
          </a:p>
          <a:p>
            <a:pPr lvl="1"/>
            <a:r>
              <a:rPr lang="zh-CN" altLang="en-US" sz="1800"/>
              <a:t>怎样互连现有的网络</a:t>
            </a:r>
            <a:r>
              <a:rPr lang="en-US" altLang="zh-CN" sz="1800"/>
              <a:t>?</a:t>
            </a:r>
          </a:p>
          <a:p>
            <a:pPr lvl="1"/>
            <a:r>
              <a:rPr lang="en-US" altLang="zh-CN" sz="1800"/>
              <a:t>… </a:t>
            </a:r>
            <a:r>
              <a:rPr lang="zh-CN" altLang="en-US" sz="1800"/>
              <a:t>但</a:t>
            </a:r>
            <a:r>
              <a:rPr lang="en-US" altLang="zh-CN" sz="1800"/>
              <a:t>, </a:t>
            </a:r>
            <a:r>
              <a:rPr lang="zh-CN" altLang="en-US" sz="1800"/>
              <a:t>现存网络之间差异太</a:t>
            </a:r>
            <a:r>
              <a:rPr lang="zh-CN" altLang="en-US" sz="1800" smtClean="0"/>
              <a:t>大</a:t>
            </a:r>
            <a:endParaRPr lang="zh-CN" altLang="en-US" sz="1800"/>
          </a:p>
        </p:txBody>
      </p:sp>
      <p:grpSp>
        <p:nvGrpSpPr>
          <p:cNvPr id="7171" name="Group 4">
            <a:extLst>
              <a:ext uri="{FF2B5EF4-FFF2-40B4-BE49-F238E27FC236}">
                <a16:creationId xmlns:a16="http://schemas.microsoft.com/office/drawing/2014/main" id="{50322063-8FAC-43D3-ACAB-B0D0E1EFE2FA}"/>
              </a:ext>
            </a:extLst>
          </p:cNvPr>
          <p:cNvGrpSpPr>
            <a:grpSpLocks/>
          </p:cNvGrpSpPr>
          <p:nvPr/>
        </p:nvGrpSpPr>
        <p:grpSpPr bwMode="auto">
          <a:xfrm>
            <a:off x="2667001" y="3962400"/>
            <a:ext cx="1916113" cy="1366838"/>
            <a:chOff x="832" y="1344"/>
            <a:chExt cx="1136" cy="1024"/>
          </a:xfrm>
        </p:grpSpPr>
        <p:sp>
          <p:nvSpPr>
            <p:cNvPr id="7316" name="Oval 5">
              <a:extLst>
                <a:ext uri="{FF2B5EF4-FFF2-40B4-BE49-F238E27FC236}">
                  <a16:creationId xmlns:a16="http://schemas.microsoft.com/office/drawing/2014/main" id="{2AFDCA3F-1A1D-46DC-88B0-7476BB75D498}"/>
                </a:ext>
              </a:extLst>
            </p:cNvPr>
            <p:cNvSpPr>
              <a:spLocks noChangeArrowheads="1"/>
            </p:cNvSpPr>
            <p:nvPr/>
          </p:nvSpPr>
          <p:spPr bwMode="auto">
            <a:xfrm>
              <a:off x="1220" y="1344"/>
              <a:ext cx="495" cy="424"/>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17" name="Oval 6">
              <a:extLst>
                <a:ext uri="{FF2B5EF4-FFF2-40B4-BE49-F238E27FC236}">
                  <a16:creationId xmlns:a16="http://schemas.microsoft.com/office/drawing/2014/main" id="{FD1A5B28-DC28-40C3-90E9-47ABA2C23D31}"/>
                </a:ext>
              </a:extLst>
            </p:cNvPr>
            <p:cNvSpPr>
              <a:spLocks noChangeArrowheads="1"/>
            </p:cNvSpPr>
            <p:nvPr/>
          </p:nvSpPr>
          <p:spPr bwMode="auto">
            <a:xfrm>
              <a:off x="948" y="1455"/>
              <a:ext cx="379" cy="424"/>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18" name="Oval 7">
              <a:extLst>
                <a:ext uri="{FF2B5EF4-FFF2-40B4-BE49-F238E27FC236}">
                  <a16:creationId xmlns:a16="http://schemas.microsoft.com/office/drawing/2014/main" id="{0F9FFED4-CF59-4ADA-957F-A4AA62F8FB88}"/>
                </a:ext>
              </a:extLst>
            </p:cNvPr>
            <p:cNvSpPr>
              <a:spLocks noChangeArrowheads="1"/>
            </p:cNvSpPr>
            <p:nvPr/>
          </p:nvSpPr>
          <p:spPr bwMode="auto">
            <a:xfrm>
              <a:off x="832" y="1710"/>
              <a:ext cx="256" cy="306"/>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19" name="Oval 8">
              <a:extLst>
                <a:ext uri="{FF2B5EF4-FFF2-40B4-BE49-F238E27FC236}">
                  <a16:creationId xmlns:a16="http://schemas.microsoft.com/office/drawing/2014/main" id="{34BC8ADF-4D51-41AE-8209-F5AFD6449C23}"/>
                </a:ext>
              </a:extLst>
            </p:cNvPr>
            <p:cNvSpPr>
              <a:spLocks noChangeArrowheads="1"/>
            </p:cNvSpPr>
            <p:nvPr/>
          </p:nvSpPr>
          <p:spPr bwMode="auto">
            <a:xfrm>
              <a:off x="909" y="1862"/>
              <a:ext cx="435" cy="442"/>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20" name="Oval 9">
              <a:extLst>
                <a:ext uri="{FF2B5EF4-FFF2-40B4-BE49-F238E27FC236}">
                  <a16:creationId xmlns:a16="http://schemas.microsoft.com/office/drawing/2014/main" id="{6579D7A2-9E94-4B1F-B68F-D0CFB15142EF}"/>
                </a:ext>
              </a:extLst>
            </p:cNvPr>
            <p:cNvSpPr>
              <a:spLocks noChangeArrowheads="1"/>
            </p:cNvSpPr>
            <p:nvPr/>
          </p:nvSpPr>
          <p:spPr bwMode="auto">
            <a:xfrm>
              <a:off x="1086" y="1924"/>
              <a:ext cx="671" cy="444"/>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21" name="Oval 10">
              <a:extLst>
                <a:ext uri="{FF2B5EF4-FFF2-40B4-BE49-F238E27FC236}">
                  <a16:creationId xmlns:a16="http://schemas.microsoft.com/office/drawing/2014/main" id="{7CDAEE79-FC37-4967-A460-CC14A12835FD}"/>
                </a:ext>
              </a:extLst>
            </p:cNvPr>
            <p:cNvSpPr>
              <a:spLocks noChangeArrowheads="1"/>
            </p:cNvSpPr>
            <p:nvPr/>
          </p:nvSpPr>
          <p:spPr bwMode="auto">
            <a:xfrm>
              <a:off x="1605" y="1488"/>
              <a:ext cx="311" cy="312"/>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22" name="Oval 11">
              <a:extLst>
                <a:ext uri="{FF2B5EF4-FFF2-40B4-BE49-F238E27FC236}">
                  <a16:creationId xmlns:a16="http://schemas.microsoft.com/office/drawing/2014/main" id="{71A73EC2-04E0-446A-B6E6-2721B4EF9E95}"/>
                </a:ext>
              </a:extLst>
            </p:cNvPr>
            <p:cNvSpPr>
              <a:spLocks noChangeArrowheads="1"/>
            </p:cNvSpPr>
            <p:nvPr/>
          </p:nvSpPr>
          <p:spPr bwMode="auto">
            <a:xfrm>
              <a:off x="1602" y="1681"/>
              <a:ext cx="366" cy="333"/>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23" name="Oval 12">
              <a:extLst>
                <a:ext uri="{FF2B5EF4-FFF2-40B4-BE49-F238E27FC236}">
                  <a16:creationId xmlns:a16="http://schemas.microsoft.com/office/drawing/2014/main" id="{7A73AF2C-CFC4-43DB-9557-761D51E9D958}"/>
                </a:ext>
              </a:extLst>
            </p:cNvPr>
            <p:cNvSpPr>
              <a:spLocks noChangeArrowheads="1"/>
            </p:cNvSpPr>
            <p:nvPr/>
          </p:nvSpPr>
          <p:spPr bwMode="auto">
            <a:xfrm>
              <a:off x="1569" y="1751"/>
              <a:ext cx="364" cy="547"/>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24" name="Oval 13">
              <a:extLst>
                <a:ext uri="{FF2B5EF4-FFF2-40B4-BE49-F238E27FC236}">
                  <a16:creationId xmlns:a16="http://schemas.microsoft.com/office/drawing/2014/main" id="{1D0AE97F-21CB-4CE8-9FC2-C055FD420E8A}"/>
                </a:ext>
              </a:extLst>
            </p:cNvPr>
            <p:cNvSpPr>
              <a:spLocks noChangeArrowheads="1"/>
            </p:cNvSpPr>
            <p:nvPr/>
          </p:nvSpPr>
          <p:spPr bwMode="auto">
            <a:xfrm>
              <a:off x="912" y="1434"/>
              <a:ext cx="1008" cy="918"/>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7172" name="Rectangle 14">
            <a:extLst>
              <a:ext uri="{FF2B5EF4-FFF2-40B4-BE49-F238E27FC236}">
                <a16:creationId xmlns:a16="http://schemas.microsoft.com/office/drawing/2014/main" id="{EC00F0F2-889D-470D-9A33-0A76F254B927}"/>
              </a:ext>
            </a:extLst>
          </p:cNvPr>
          <p:cNvSpPr>
            <a:spLocks noChangeArrowheads="1"/>
          </p:cNvSpPr>
          <p:nvPr/>
        </p:nvSpPr>
        <p:spPr bwMode="auto">
          <a:xfrm>
            <a:off x="3243263" y="4303714"/>
            <a:ext cx="161926" cy="128587"/>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3" name="Rectangle 15">
            <a:extLst>
              <a:ext uri="{FF2B5EF4-FFF2-40B4-BE49-F238E27FC236}">
                <a16:creationId xmlns:a16="http://schemas.microsoft.com/office/drawing/2014/main" id="{AB428679-49D7-4DCF-8BBD-0DB889A28B4F}"/>
              </a:ext>
            </a:extLst>
          </p:cNvPr>
          <p:cNvSpPr>
            <a:spLocks noChangeArrowheads="1"/>
          </p:cNvSpPr>
          <p:nvPr/>
        </p:nvSpPr>
        <p:spPr bwMode="auto">
          <a:xfrm>
            <a:off x="2641601" y="4659313"/>
            <a:ext cx="161926" cy="128587"/>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4" name="Rectangle 16">
            <a:extLst>
              <a:ext uri="{FF2B5EF4-FFF2-40B4-BE49-F238E27FC236}">
                <a16:creationId xmlns:a16="http://schemas.microsoft.com/office/drawing/2014/main" id="{BD10C240-373F-4EC4-A855-4A2F0479E63C}"/>
              </a:ext>
            </a:extLst>
          </p:cNvPr>
          <p:cNvSpPr>
            <a:spLocks noChangeArrowheads="1"/>
          </p:cNvSpPr>
          <p:nvPr/>
        </p:nvSpPr>
        <p:spPr bwMode="auto">
          <a:xfrm>
            <a:off x="3208339" y="5172075"/>
            <a:ext cx="160337"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5" name="Rectangle 17">
            <a:extLst>
              <a:ext uri="{FF2B5EF4-FFF2-40B4-BE49-F238E27FC236}">
                <a16:creationId xmlns:a16="http://schemas.microsoft.com/office/drawing/2014/main" id="{DF582BC9-DCCC-4415-9103-C72A98F924AA}"/>
              </a:ext>
            </a:extLst>
          </p:cNvPr>
          <p:cNvSpPr>
            <a:spLocks noChangeArrowheads="1"/>
          </p:cNvSpPr>
          <p:nvPr/>
        </p:nvSpPr>
        <p:spPr bwMode="auto">
          <a:xfrm>
            <a:off x="4016375" y="517207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6" name="Rectangle 18">
            <a:extLst>
              <a:ext uri="{FF2B5EF4-FFF2-40B4-BE49-F238E27FC236}">
                <a16:creationId xmlns:a16="http://schemas.microsoft.com/office/drawing/2014/main" id="{2540428B-A60A-439B-B2FB-1084A15881A6}"/>
              </a:ext>
            </a:extLst>
          </p:cNvPr>
          <p:cNvSpPr>
            <a:spLocks noChangeArrowheads="1"/>
          </p:cNvSpPr>
          <p:nvPr/>
        </p:nvSpPr>
        <p:spPr bwMode="auto">
          <a:xfrm>
            <a:off x="4340225" y="446722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7" name="Rectangle 19">
            <a:extLst>
              <a:ext uri="{FF2B5EF4-FFF2-40B4-BE49-F238E27FC236}">
                <a16:creationId xmlns:a16="http://schemas.microsoft.com/office/drawing/2014/main" id="{9185B169-7154-472C-ADDA-DD5490511B52}"/>
              </a:ext>
            </a:extLst>
          </p:cNvPr>
          <p:cNvSpPr>
            <a:spLocks noChangeArrowheads="1"/>
          </p:cNvSpPr>
          <p:nvPr/>
        </p:nvSpPr>
        <p:spPr bwMode="auto">
          <a:xfrm>
            <a:off x="3854450" y="4403726"/>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cxnSp>
        <p:nvCxnSpPr>
          <p:cNvPr id="7178" name="AutoShape 20">
            <a:extLst>
              <a:ext uri="{FF2B5EF4-FFF2-40B4-BE49-F238E27FC236}">
                <a16:creationId xmlns:a16="http://schemas.microsoft.com/office/drawing/2014/main" id="{AE01409F-7337-4C53-B5F9-AC7306D81C64}"/>
              </a:ext>
            </a:extLst>
          </p:cNvPr>
          <p:cNvCxnSpPr>
            <a:cxnSpLocks noChangeShapeType="1"/>
            <a:stCxn id="7173" idx="3"/>
            <a:endCxn id="7172" idx="1"/>
          </p:cNvCxnSpPr>
          <p:nvPr/>
        </p:nvCxnSpPr>
        <p:spPr bwMode="auto">
          <a:xfrm flipV="1">
            <a:off x="2803525" y="4368801"/>
            <a:ext cx="439738" cy="35560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79" name="AutoShape 21">
            <a:extLst>
              <a:ext uri="{FF2B5EF4-FFF2-40B4-BE49-F238E27FC236}">
                <a16:creationId xmlns:a16="http://schemas.microsoft.com/office/drawing/2014/main" id="{81B3F5C6-8174-4D48-B3DA-88B4C4974387}"/>
              </a:ext>
            </a:extLst>
          </p:cNvPr>
          <p:cNvCxnSpPr>
            <a:cxnSpLocks noChangeShapeType="1"/>
            <a:stCxn id="7172" idx="3"/>
            <a:endCxn id="7177" idx="1"/>
          </p:cNvCxnSpPr>
          <p:nvPr/>
        </p:nvCxnSpPr>
        <p:spPr bwMode="auto">
          <a:xfrm>
            <a:off x="3405189" y="4368801"/>
            <a:ext cx="449262" cy="98425"/>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0" name="AutoShape 22">
            <a:extLst>
              <a:ext uri="{FF2B5EF4-FFF2-40B4-BE49-F238E27FC236}">
                <a16:creationId xmlns:a16="http://schemas.microsoft.com/office/drawing/2014/main" id="{A0316F62-98D0-49E1-BE49-55F8757B79EC}"/>
              </a:ext>
            </a:extLst>
          </p:cNvPr>
          <p:cNvCxnSpPr>
            <a:cxnSpLocks noChangeShapeType="1"/>
            <a:stCxn id="7177" idx="3"/>
            <a:endCxn id="7176" idx="1"/>
          </p:cNvCxnSpPr>
          <p:nvPr/>
        </p:nvCxnSpPr>
        <p:spPr bwMode="auto">
          <a:xfrm>
            <a:off x="4016375" y="4467226"/>
            <a:ext cx="323850" cy="65088"/>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1" name="AutoShape 23">
            <a:extLst>
              <a:ext uri="{FF2B5EF4-FFF2-40B4-BE49-F238E27FC236}">
                <a16:creationId xmlns:a16="http://schemas.microsoft.com/office/drawing/2014/main" id="{6EBD11B3-2CF3-4552-9039-E56458B90416}"/>
              </a:ext>
            </a:extLst>
          </p:cNvPr>
          <p:cNvCxnSpPr>
            <a:cxnSpLocks noChangeShapeType="1"/>
            <a:stCxn id="7174" idx="0"/>
            <a:endCxn id="7177" idx="2"/>
          </p:cNvCxnSpPr>
          <p:nvPr/>
        </p:nvCxnSpPr>
        <p:spPr bwMode="auto">
          <a:xfrm flipV="1">
            <a:off x="3287713" y="4532314"/>
            <a:ext cx="647700" cy="63976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2" name="AutoShape 24">
            <a:extLst>
              <a:ext uri="{FF2B5EF4-FFF2-40B4-BE49-F238E27FC236}">
                <a16:creationId xmlns:a16="http://schemas.microsoft.com/office/drawing/2014/main" id="{8E152F3C-F92E-48FA-92A4-0595916953FC}"/>
              </a:ext>
            </a:extLst>
          </p:cNvPr>
          <p:cNvCxnSpPr>
            <a:cxnSpLocks noChangeShapeType="1"/>
            <a:stCxn id="7175" idx="0"/>
            <a:endCxn id="7176" idx="2"/>
          </p:cNvCxnSpPr>
          <p:nvPr/>
        </p:nvCxnSpPr>
        <p:spPr bwMode="auto">
          <a:xfrm flipV="1">
            <a:off x="4097338" y="4595813"/>
            <a:ext cx="323850" cy="57626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3" name="AutoShape 25">
            <a:extLst>
              <a:ext uri="{FF2B5EF4-FFF2-40B4-BE49-F238E27FC236}">
                <a16:creationId xmlns:a16="http://schemas.microsoft.com/office/drawing/2014/main" id="{577F0958-4D4C-4C27-8C8D-1EB3BDB3A6A7}"/>
              </a:ext>
            </a:extLst>
          </p:cNvPr>
          <p:cNvCxnSpPr>
            <a:cxnSpLocks noChangeShapeType="1"/>
            <a:stCxn id="7174" idx="3"/>
            <a:endCxn id="7175" idx="1"/>
          </p:cNvCxnSpPr>
          <p:nvPr/>
        </p:nvCxnSpPr>
        <p:spPr bwMode="auto">
          <a:xfrm>
            <a:off x="3368675" y="5237164"/>
            <a:ext cx="647700" cy="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4" name="AutoShape 26">
            <a:extLst>
              <a:ext uri="{FF2B5EF4-FFF2-40B4-BE49-F238E27FC236}">
                <a16:creationId xmlns:a16="http://schemas.microsoft.com/office/drawing/2014/main" id="{ECA9C788-38BF-47C1-9FB5-0438A15067FB}"/>
              </a:ext>
            </a:extLst>
          </p:cNvPr>
          <p:cNvCxnSpPr>
            <a:cxnSpLocks noChangeShapeType="1"/>
          </p:cNvCxnSpPr>
          <p:nvPr/>
        </p:nvCxnSpPr>
        <p:spPr bwMode="auto">
          <a:xfrm>
            <a:off x="2774951" y="4702175"/>
            <a:ext cx="404813" cy="512764"/>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185" name="Group 27">
            <a:extLst>
              <a:ext uri="{FF2B5EF4-FFF2-40B4-BE49-F238E27FC236}">
                <a16:creationId xmlns:a16="http://schemas.microsoft.com/office/drawing/2014/main" id="{2355F7FF-49BB-4B22-B7FF-31AFA2E489E7}"/>
              </a:ext>
            </a:extLst>
          </p:cNvPr>
          <p:cNvGrpSpPr>
            <a:grpSpLocks/>
          </p:cNvGrpSpPr>
          <p:nvPr/>
        </p:nvGrpSpPr>
        <p:grpSpPr bwMode="auto">
          <a:xfrm>
            <a:off x="1912938" y="4475164"/>
            <a:ext cx="460375" cy="365125"/>
            <a:chOff x="1014" y="912"/>
            <a:chExt cx="574" cy="596"/>
          </a:xfrm>
        </p:grpSpPr>
        <p:sp>
          <p:nvSpPr>
            <p:cNvPr id="7304" name="Freeform 28">
              <a:extLst>
                <a:ext uri="{FF2B5EF4-FFF2-40B4-BE49-F238E27FC236}">
                  <a16:creationId xmlns:a16="http://schemas.microsoft.com/office/drawing/2014/main" id="{4EDAF16D-4E6D-4045-98A7-488C563C0655}"/>
                </a:ext>
              </a:extLst>
            </p:cNvPr>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zh-CN" altLang="en-US" sz="2160"/>
            </a:p>
          </p:txBody>
        </p:sp>
        <p:sp>
          <p:nvSpPr>
            <p:cNvPr id="7305" name="Line 29">
              <a:extLst>
                <a:ext uri="{FF2B5EF4-FFF2-40B4-BE49-F238E27FC236}">
                  <a16:creationId xmlns:a16="http://schemas.microsoft.com/office/drawing/2014/main" id="{E4CD80FD-192A-4531-8943-F292EE7ABE4E}"/>
                </a:ext>
              </a:extLst>
            </p:cNvPr>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06" name="Line 30">
              <a:extLst>
                <a:ext uri="{FF2B5EF4-FFF2-40B4-BE49-F238E27FC236}">
                  <a16:creationId xmlns:a16="http://schemas.microsoft.com/office/drawing/2014/main" id="{587756E1-55AF-43F4-A9AD-64AF9E60C12A}"/>
                </a:ext>
              </a:extLst>
            </p:cNvPr>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07" name="Freeform 31">
              <a:extLst>
                <a:ext uri="{FF2B5EF4-FFF2-40B4-BE49-F238E27FC236}">
                  <a16:creationId xmlns:a16="http://schemas.microsoft.com/office/drawing/2014/main" id="{629EBDE5-7227-4158-987B-460780942AB9}"/>
                </a:ext>
              </a:extLst>
            </p:cNvPr>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zh-CN" altLang="en-US" sz="2160"/>
            </a:p>
          </p:txBody>
        </p:sp>
        <p:sp>
          <p:nvSpPr>
            <p:cNvPr id="7308" name="Line 32">
              <a:extLst>
                <a:ext uri="{FF2B5EF4-FFF2-40B4-BE49-F238E27FC236}">
                  <a16:creationId xmlns:a16="http://schemas.microsoft.com/office/drawing/2014/main" id="{5B1C8534-BE58-4131-A939-FA3C1C82548E}"/>
                </a:ext>
              </a:extLst>
            </p:cNvPr>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09" name="Line 33">
              <a:extLst>
                <a:ext uri="{FF2B5EF4-FFF2-40B4-BE49-F238E27FC236}">
                  <a16:creationId xmlns:a16="http://schemas.microsoft.com/office/drawing/2014/main" id="{73479DCE-1E3C-4075-A6DF-3A46EF463ECC}"/>
                </a:ext>
              </a:extLst>
            </p:cNvPr>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10" name="Line 34">
              <a:extLst>
                <a:ext uri="{FF2B5EF4-FFF2-40B4-BE49-F238E27FC236}">
                  <a16:creationId xmlns:a16="http://schemas.microsoft.com/office/drawing/2014/main" id="{46EB0B55-B4EE-4663-B3BD-5EBF575F1B74}"/>
                </a:ext>
              </a:extLst>
            </p:cNvPr>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11" name="Rectangle 35">
              <a:extLst>
                <a:ext uri="{FF2B5EF4-FFF2-40B4-BE49-F238E27FC236}">
                  <a16:creationId xmlns:a16="http://schemas.microsoft.com/office/drawing/2014/main" id="{AE1F28E7-20A5-4D12-9C74-B4D86E3FFB52}"/>
                </a:ext>
              </a:extLst>
            </p:cNvPr>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12" name="Freeform 36">
              <a:extLst>
                <a:ext uri="{FF2B5EF4-FFF2-40B4-BE49-F238E27FC236}">
                  <a16:creationId xmlns:a16="http://schemas.microsoft.com/office/drawing/2014/main" id="{51428D20-7DB1-4173-9BCA-5EAE0FBE8E45}"/>
                </a:ext>
              </a:extLst>
            </p:cNvPr>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zh-CN" altLang="en-US" sz="2160"/>
            </a:p>
          </p:txBody>
        </p:sp>
        <p:sp>
          <p:nvSpPr>
            <p:cNvPr id="7313" name="Line 37">
              <a:extLst>
                <a:ext uri="{FF2B5EF4-FFF2-40B4-BE49-F238E27FC236}">
                  <a16:creationId xmlns:a16="http://schemas.microsoft.com/office/drawing/2014/main" id="{08F99BCC-A115-469E-A9BD-6028E7077B52}"/>
                </a:ext>
              </a:extLst>
            </p:cNvPr>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14" name="Line 38">
              <a:extLst>
                <a:ext uri="{FF2B5EF4-FFF2-40B4-BE49-F238E27FC236}">
                  <a16:creationId xmlns:a16="http://schemas.microsoft.com/office/drawing/2014/main" id="{CF8E76D6-7A55-4996-9FFB-D321E3253970}"/>
                </a:ext>
              </a:extLst>
            </p:cNvPr>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15" name="Line 39">
              <a:extLst>
                <a:ext uri="{FF2B5EF4-FFF2-40B4-BE49-F238E27FC236}">
                  <a16:creationId xmlns:a16="http://schemas.microsoft.com/office/drawing/2014/main" id="{0F2220A7-901D-43A1-A770-A15E8463D1AC}"/>
                </a:ext>
              </a:extLst>
            </p:cNvPr>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grpSp>
      <p:grpSp>
        <p:nvGrpSpPr>
          <p:cNvPr id="7186" name="Group 40">
            <a:extLst>
              <a:ext uri="{FF2B5EF4-FFF2-40B4-BE49-F238E27FC236}">
                <a16:creationId xmlns:a16="http://schemas.microsoft.com/office/drawing/2014/main" id="{9FC44817-6230-4B69-B42E-62EFC2217619}"/>
              </a:ext>
            </a:extLst>
          </p:cNvPr>
          <p:cNvGrpSpPr>
            <a:grpSpLocks/>
          </p:cNvGrpSpPr>
          <p:nvPr/>
        </p:nvGrpSpPr>
        <p:grpSpPr bwMode="auto">
          <a:xfrm>
            <a:off x="4657726" y="4246564"/>
            <a:ext cx="460375" cy="366712"/>
            <a:chOff x="1014" y="912"/>
            <a:chExt cx="574" cy="596"/>
          </a:xfrm>
        </p:grpSpPr>
        <p:sp>
          <p:nvSpPr>
            <p:cNvPr id="7292" name="Freeform 41">
              <a:extLst>
                <a:ext uri="{FF2B5EF4-FFF2-40B4-BE49-F238E27FC236}">
                  <a16:creationId xmlns:a16="http://schemas.microsoft.com/office/drawing/2014/main" id="{ABDB2B64-1FDA-40D2-8EB4-0F983797E23E}"/>
                </a:ext>
              </a:extLst>
            </p:cNvPr>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zh-CN" altLang="en-US" sz="2160"/>
            </a:p>
          </p:txBody>
        </p:sp>
        <p:sp>
          <p:nvSpPr>
            <p:cNvPr id="7293" name="Line 42">
              <a:extLst>
                <a:ext uri="{FF2B5EF4-FFF2-40B4-BE49-F238E27FC236}">
                  <a16:creationId xmlns:a16="http://schemas.microsoft.com/office/drawing/2014/main" id="{03313D2D-2DA6-4A3D-958E-70E01D9AB1EB}"/>
                </a:ext>
              </a:extLst>
            </p:cNvPr>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94" name="Line 43">
              <a:extLst>
                <a:ext uri="{FF2B5EF4-FFF2-40B4-BE49-F238E27FC236}">
                  <a16:creationId xmlns:a16="http://schemas.microsoft.com/office/drawing/2014/main" id="{F6B577B8-6FC4-4C9D-95A4-31CFFF507EB0}"/>
                </a:ext>
              </a:extLst>
            </p:cNvPr>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95" name="Freeform 44">
              <a:extLst>
                <a:ext uri="{FF2B5EF4-FFF2-40B4-BE49-F238E27FC236}">
                  <a16:creationId xmlns:a16="http://schemas.microsoft.com/office/drawing/2014/main" id="{FCE9E914-E8D8-481E-8CBC-2D1213B73BE3}"/>
                </a:ext>
              </a:extLst>
            </p:cNvPr>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zh-CN" altLang="en-US" sz="2160"/>
            </a:p>
          </p:txBody>
        </p:sp>
        <p:sp>
          <p:nvSpPr>
            <p:cNvPr id="7296" name="Line 45">
              <a:extLst>
                <a:ext uri="{FF2B5EF4-FFF2-40B4-BE49-F238E27FC236}">
                  <a16:creationId xmlns:a16="http://schemas.microsoft.com/office/drawing/2014/main" id="{105A4175-2485-4035-B379-3D29FFCB1848}"/>
                </a:ext>
              </a:extLst>
            </p:cNvPr>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97" name="Line 46">
              <a:extLst>
                <a:ext uri="{FF2B5EF4-FFF2-40B4-BE49-F238E27FC236}">
                  <a16:creationId xmlns:a16="http://schemas.microsoft.com/office/drawing/2014/main" id="{77D2F448-F1E9-45F3-B1E1-A2285E557D01}"/>
                </a:ext>
              </a:extLst>
            </p:cNvPr>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98" name="Line 47">
              <a:extLst>
                <a:ext uri="{FF2B5EF4-FFF2-40B4-BE49-F238E27FC236}">
                  <a16:creationId xmlns:a16="http://schemas.microsoft.com/office/drawing/2014/main" id="{E91C8913-5430-45E1-B61E-EAE700CFC366}"/>
                </a:ext>
              </a:extLst>
            </p:cNvPr>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99" name="Rectangle 48">
              <a:extLst>
                <a:ext uri="{FF2B5EF4-FFF2-40B4-BE49-F238E27FC236}">
                  <a16:creationId xmlns:a16="http://schemas.microsoft.com/office/drawing/2014/main" id="{888CCC85-9696-4F00-8378-2293C5FD2019}"/>
                </a:ext>
              </a:extLst>
            </p:cNvPr>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00" name="Freeform 49">
              <a:extLst>
                <a:ext uri="{FF2B5EF4-FFF2-40B4-BE49-F238E27FC236}">
                  <a16:creationId xmlns:a16="http://schemas.microsoft.com/office/drawing/2014/main" id="{9740A4A7-9C20-4D67-8125-27366EC2886D}"/>
                </a:ext>
              </a:extLst>
            </p:cNvPr>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zh-CN" altLang="en-US" sz="2160"/>
            </a:p>
          </p:txBody>
        </p:sp>
        <p:sp>
          <p:nvSpPr>
            <p:cNvPr id="7301" name="Line 50">
              <a:extLst>
                <a:ext uri="{FF2B5EF4-FFF2-40B4-BE49-F238E27FC236}">
                  <a16:creationId xmlns:a16="http://schemas.microsoft.com/office/drawing/2014/main" id="{31554860-C662-4A6F-A41C-9CD82981808F}"/>
                </a:ext>
              </a:extLst>
            </p:cNvPr>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02" name="Line 51">
              <a:extLst>
                <a:ext uri="{FF2B5EF4-FFF2-40B4-BE49-F238E27FC236}">
                  <a16:creationId xmlns:a16="http://schemas.microsoft.com/office/drawing/2014/main" id="{B4E6DDA8-BE7E-445D-A61D-42D819F371A3}"/>
                </a:ext>
              </a:extLst>
            </p:cNvPr>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03" name="Line 52">
              <a:extLst>
                <a:ext uri="{FF2B5EF4-FFF2-40B4-BE49-F238E27FC236}">
                  <a16:creationId xmlns:a16="http://schemas.microsoft.com/office/drawing/2014/main" id="{CA187541-3596-4AED-846F-EDA7F3CE3CCC}"/>
                </a:ext>
              </a:extLst>
            </p:cNvPr>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grpSp>
      <p:cxnSp>
        <p:nvCxnSpPr>
          <p:cNvPr id="7187" name="AutoShape 53">
            <a:extLst>
              <a:ext uri="{FF2B5EF4-FFF2-40B4-BE49-F238E27FC236}">
                <a16:creationId xmlns:a16="http://schemas.microsoft.com/office/drawing/2014/main" id="{806D8B7B-4278-46B4-871D-A7903BCF5E2A}"/>
              </a:ext>
            </a:extLst>
          </p:cNvPr>
          <p:cNvCxnSpPr>
            <a:cxnSpLocks noChangeShapeType="1"/>
            <a:stCxn id="7304" idx="4"/>
            <a:endCxn id="7173" idx="1"/>
          </p:cNvCxnSpPr>
          <p:nvPr/>
        </p:nvCxnSpPr>
        <p:spPr bwMode="auto">
          <a:xfrm>
            <a:off x="2381250" y="4714875"/>
            <a:ext cx="260350" cy="9526"/>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8" name="AutoShape 54">
            <a:extLst>
              <a:ext uri="{FF2B5EF4-FFF2-40B4-BE49-F238E27FC236}">
                <a16:creationId xmlns:a16="http://schemas.microsoft.com/office/drawing/2014/main" id="{2043DA2E-B184-4DED-8138-3D6A5A5412C4}"/>
              </a:ext>
            </a:extLst>
          </p:cNvPr>
          <p:cNvCxnSpPr>
            <a:cxnSpLocks noChangeShapeType="1"/>
            <a:stCxn id="7176" idx="3"/>
            <a:endCxn id="7300" idx="22"/>
          </p:cNvCxnSpPr>
          <p:nvPr/>
        </p:nvCxnSpPr>
        <p:spPr bwMode="auto">
          <a:xfrm flipV="1">
            <a:off x="4502151" y="4498975"/>
            <a:ext cx="168275" cy="33338"/>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189" name="Group 55">
            <a:extLst>
              <a:ext uri="{FF2B5EF4-FFF2-40B4-BE49-F238E27FC236}">
                <a16:creationId xmlns:a16="http://schemas.microsoft.com/office/drawing/2014/main" id="{0DDFDA92-2AE1-44C3-A4B3-9657425B0507}"/>
              </a:ext>
            </a:extLst>
          </p:cNvPr>
          <p:cNvGrpSpPr>
            <a:grpSpLocks/>
          </p:cNvGrpSpPr>
          <p:nvPr/>
        </p:nvGrpSpPr>
        <p:grpSpPr bwMode="auto">
          <a:xfrm>
            <a:off x="7620001" y="4419600"/>
            <a:ext cx="1916113" cy="1366838"/>
            <a:chOff x="832" y="1344"/>
            <a:chExt cx="1136" cy="1024"/>
          </a:xfrm>
        </p:grpSpPr>
        <p:sp>
          <p:nvSpPr>
            <p:cNvPr id="7283" name="Oval 56">
              <a:extLst>
                <a:ext uri="{FF2B5EF4-FFF2-40B4-BE49-F238E27FC236}">
                  <a16:creationId xmlns:a16="http://schemas.microsoft.com/office/drawing/2014/main" id="{7B6BA9EB-BB27-44F3-AF2F-2578FFD77C7B}"/>
                </a:ext>
              </a:extLst>
            </p:cNvPr>
            <p:cNvSpPr>
              <a:spLocks noChangeArrowheads="1"/>
            </p:cNvSpPr>
            <p:nvPr/>
          </p:nvSpPr>
          <p:spPr bwMode="auto">
            <a:xfrm>
              <a:off x="1220" y="1344"/>
              <a:ext cx="495" cy="424"/>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84" name="Oval 57">
              <a:extLst>
                <a:ext uri="{FF2B5EF4-FFF2-40B4-BE49-F238E27FC236}">
                  <a16:creationId xmlns:a16="http://schemas.microsoft.com/office/drawing/2014/main" id="{4015E260-14A5-4169-8927-3AA2DCFB137D}"/>
                </a:ext>
              </a:extLst>
            </p:cNvPr>
            <p:cNvSpPr>
              <a:spLocks noChangeArrowheads="1"/>
            </p:cNvSpPr>
            <p:nvPr/>
          </p:nvSpPr>
          <p:spPr bwMode="auto">
            <a:xfrm>
              <a:off x="948" y="1455"/>
              <a:ext cx="379" cy="424"/>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85" name="Oval 58">
              <a:extLst>
                <a:ext uri="{FF2B5EF4-FFF2-40B4-BE49-F238E27FC236}">
                  <a16:creationId xmlns:a16="http://schemas.microsoft.com/office/drawing/2014/main" id="{F25DAA98-7708-4C1A-AF2D-07CFE21CE853}"/>
                </a:ext>
              </a:extLst>
            </p:cNvPr>
            <p:cNvSpPr>
              <a:spLocks noChangeArrowheads="1"/>
            </p:cNvSpPr>
            <p:nvPr/>
          </p:nvSpPr>
          <p:spPr bwMode="auto">
            <a:xfrm>
              <a:off x="832" y="1710"/>
              <a:ext cx="256" cy="306"/>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86" name="Oval 59">
              <a:extLst>
                <a:ext uri="{FF2B5EF4-FFF2-40B4-BE49-F238E27FC236}">
                  <a16:creationId xmlns:a16="http://schemas.microsoft.com/office/drawing/2014/main" id="{56785742-EE78-4FAF-A695-0E9787DF14A9}"/>
                </a:ext>
              </a:extLst>
            </p:cNvPr>
            <p:cNvSpPr>
              <a:spLocks noChangeArrowheads="1"/>
            </p:cNvSpPr>
            <p:nvPr/>
          </p:nvSpPr>
          <p:spPr bwMode="auto">
            <a:xfrm>
              <a:off x="909" y="1862"/>
              <a:ext cx="435" cy="442"/>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87" name="Oval 60">
              <a:extLst>
                <a:ext uri="{FF2B5EF4-FFF2-40B4-BE49-F238E27FC236}">
                  <a16:creationId xmlns:a16="http://schemas.microsoft.com/office/drawing/2014/main" id="{03AA3DB8-75EA-41AD-81A6-0B58C4F62009}"/>
                </a:ext>
              </a:extLst>
            </p:cNvPr>
            <p:cNvSpPr>
              <a:spLocks noChangeArrowheads="1"/>
            </p:cNvSpPr>
            <p:nvPr/>
          </p:nvSpPr>
          <p:spPr bwMode="auto">
            <a:xfrm>
              <a:off x="1086" y="1924"/>
              <a:ext cx="671" cy="444"/>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88" name="Oval 61">
              <a:extLst>
                <a:ext uri="{FF2B5EF4-FFF2-40B4-BE49-F238E27FC236}">
                  <a16:creationId xmlns:a16="http://schemas.microsoft.com/office/drawing/2014/main" id="{B4EE5187-19E6-453D-99A4-3C0F63EA8507}"/>
                </a:ext>
              </a:extLst>
            </p:cNvPr>
            <p:cNvSpPr>
              <a:spLocks noChangeArrowheads="1"/>
            </p:cNvSpPr>
            <p:nvPr/>
          </p:nvSpPr>
          <p:spPr bwMode="auto">
            <a:xfrm>
              <a:off x="1605" y="1488"/>
              <a:ext cx="311" cy="312"/>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89" name="Oval 62">
              <a:extLst>
                <a:ext uri="{FF2B5EF4-FFF2-40B4-BE49-F238E27FC236}">
                  <a16:creationId xmlns:a16="http://schemas.microsoft.com/office/drawing/2014/main" id="{17FE507E-9C2B-4F47-8574-A6841EBD5ADE}"/>
                </a:ext>
              </a:extLst>
            </p:cNvPr>
            <p:cNvSpPr>
              <a:spLocks noChangeArrowheads="1"/>
            </p:cNvSpPr>
            <p:nvPr/>
          </p:nvSpPr>
          <p:spPr bwMode="auto">
            <a:xfrm>
              <a:off x="1602" y="1681"/>
              <a:ext cx="366" cy="333"/>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90" name="Oval 63">
              <a:extLst>
                <a:ext uri="{FF2B5EF4-FFF2-40B4-BE49-F238E27FC236}">
                  <a16:creationId xmlns:a16="http://schemas.microsoft.com/office/drawing/2014/main" id="{3BFCCB1C-0362-4F7D-B19D-75338865FDC8}"/>
                </a:ext>
              </a:extLst>
            </p:cNvPr>
            <p:cNvSpPr>
              <a:spLocks noChangeArrowheads="1"/>
            </p:cNvSpPr>
            <p:nvPr/>
          </p:nvSpPr>
          <p:spPr bwMode="auto">
            <a:xfrm>
              <a:off x="1569" y="1751"/>
              <a:ext cx="364" cy="547"/>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91" name="Oval 64">
              <a:extLst>
                <a:ext uri="{FF2B5EF4-FFF2-40B4-BE49-F238E27FC236}">
                  <a16:creationId xmlns:a16="http://schemas.microsoft.com/office/drawing/2014/main" id="{3051B803-0EDB-416D-8489-A704889A8356}"/>
                </a:ext>
              </a:extLst>
            </p:cNvPr>
            <p:cNvSpPr>
              <a:spLocks noChangeArrowheads="1"/>
            </p:cNvSpPr>
            <p:nvPr/>
          </p:nvSpPr>
          <p:spPr bwMode="auto">
            <a:xfrm>
              <a:off x="912" y="1434"/>
              <a:ext cx="1008" cy="918"/>
            </a:xfrm>
            <a:prstGeom prst="ellipse">
              <a:avLst/>
            </a:prstGeom>
            <a:solidFill>
              <a:srgbClr val="CCFFFF"/>
            </a:solidFill>
            <a:ln>
              <a:noFill/>
            </a:ln>
            <a:extLst>
              <a:ext uri="{91240B29-F687-4F45-9708-019B960494DF}">
                <a14:hiddenLine xmlns:a14="http://schemas.microsoft.com/office/drawing/2010/main" w="9525">
                  <a:solidFill>
                    <a:srgbClr val="DDDDDD"/>
                  </a:solidFill>
                  <a:round/>
                  <a:headEnd/>
                  <a:tailEnd/>
                </a14:hiddenLine>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7190" name="Rectangle 65">
            <a:extLst>
              <a:ext uri="{FF2B5EF4-FFF2-40B4-BE49-F238E27FC236}">
                <a16:creationId xmlns:a16="http://schemas.microsoft.com/office/drawing/2014/main" id="{1170AA18-3794-4C14-BCB1-A7D4A3C8209F}"/>
              </a:ext>
            </a:extLst>
          </p:cNvPr>
          <p:cNvSpPr>
            <a:spLocks noChangeArrowheads="1"/>
          </p:cNvSpPr>
          <p:nvPr/>
        </p:nvSpPr>
        <p:spPr bwMode="auto">
          <a:xfrm>
            <a:off x="8129588" y="4670426"/>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91" name="Rectangle 66">
            <a:extLst>
              <a:ext uri="{FF2B5EF4-FFF2-40B4-BE49-F238E27FC236}">
                <a16:creationId xmlns:a16="http://schemas.microsoft.com/office/drawing/2014/main" id="{353CDC6A-507D-4E75-AFF2-413DD9438869}"/>
              </a:ext>
            </a:extLst>
          </p:cNvPr>
          <p:cNvSpPr>
            <a:spLocks noChangeArrowheads="1"/>
          </p:cNvSpPr>
          <p:nvPr/>
        </p:nvSpPr>
        <p:spPr bwMode="auto">
          <a:xfrm>
            <a:off x="7593013" y="5059363"/>
            <a:ext cx="161926" cy="128587"/>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92" name="Rectangle 67">
            <a:extLst>
              <a:ext uri="{FF2B5EF4-FFF2-40B4-BE49-F238E27FC236}">
                <a16:creationId xmlns:a16="http://schemas.microsoft.com/office/drawing/2014/main" id="{FCBBE23C-2A00-4734-A3B6-8C46FC5B4F96}"/>
              </a:ext>
            </a:extLst>
          </p:cNvPr>
          <p:cNvSpPr>
            <a:spLocks noChangeArrowheads="1"/>
          </p:cNvSpPr>
          <p:nvPr/>
        </p:nvSpPr>
        <p:spPr bwMode="auto">
          <a:xfrm>
            <a:off x="8502650" y="557212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93" name="Rectangle 68">
            <a:extLst>
              <a:ext uri="{FF2B5EF4-FFF2-40B4-BE49-F238E27FC236}">
                <a16:creationId xmlns:a16="http://schemas.microsoft.com/office/drawing/2014/main" id="{B6F07053-DD78-4087-97AB-BAD6D7F512E9}"/>
              </a:ext>
            </a:extLst>
          </p:cNvPr>
          <p:cNvSpPr>
            <a:spLocks noChangeArrowheads="1"/>
          </p:cNvSpPr>
          <p:nvPr/>
        </p:nvSpPr>
        <p:spPr bwMode="auto">
          <a:xfrm>
            <a:off x="8969375" y="557212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94" name="Rectangle 69">
            <a:extLst>
              <a:ext uri="{FF2B5EF4-FFF2-40B4-BE49-F238E27FC236}">
                <a16:creationId xmlns:a16="http://schemas.microsoft.com/office/drawing/2014/main" id="{8DC2E83D-00F0-485D-9B80-BEBC49AFAD85}"/>
              </a:ext>
            </a:extLst>
          </p:cNvPr>
          <p:cNvSpPr>
            <a:spLocks noChangeArrowheads="1"/>
          </p:cNvSpPr>
          <p:nvPr/>
        </p:nvSpPr>
        <p:spPr bwMode="auto">
          <a:xfrm>
            <a:off x="9293225" y="486727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95" name="Rectangle 70">
            <a:extLst>
              <a:ext uri="{FF2B5EF4-FFF2-40B4-BE49-F238E27FC236}">
                <a16:creationId xmlns:a16="http://schemas.microsoft.com/office/drawing/2014/main" id="{0760D5A8-9344-4E87-B483-474F36C7DD43}"/>
              </a:ext>
            </a:extLst>
          </p:cNvPr>
          <p:cNvSpPr>
            <a:spLocks noChangeArrowheads="1"/>
          </p:cNvSpPr>
          <p:nvPr/>
        </p:nvSpPr>
        <p:spPr bwMode="auto">
          <a:xfrm>
            <a:off x="8704263" y="4613276"/>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cxnSp>
        <p:nvCxnSpPr>
          <p:cNvPr id="7196" name="AutoShape 71">
            <a:extLst>
              <a:ext uri="{FF2B5EF4-FFF2-40B4-BE49-F238E27FC236}">
                <a16:creationId xmlns:a16="http://schemas.microsoft.com/office/drawing/2014/main" id="{0F7833AE-BA3C-4071-8C9A-4158970D6BB9}"/>
              </a:ext>
            </a:extLst>
          </p:cNvPr>
          <p:cNvCxnSpPr>
            <a:cxnSpLocks noChangeShapeType="1"/>
            <a:stCxn id="7191" idx="3"/>
            <a:endCxn id="7190" idx="1"/>
          </p:cNvCxnSpPr>
          <p:nvPr/>
        </p:nvCxnSpPr>
        <p:spPr bwMode="auto">
          <a:xfrm flipV="1">
            <a:off x="7754939" y="4735513"/>
            <a:ext cx="374650" cy="388937"/>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7" name="AutoShape 72">
            <a:extLst>
              <a:ext uri="{FF2B5EF4-FFF2-40B4-BE49-F238E27FC236}">
                <a16:creationId xmlns:a16="http://schemas.microsoft.com/office/drawing/2014/main" id="{519B5EC2-81A6-419C-9B82-21C288EBF26A}"/>
              </a:ext>
            </a:extLst>
          </p:cNvPr>
          <p:cNvCxnSpPr>
            <a:cxnSpLocks noChangeShapeType="1"/>
            <a:stCxn id="7190" idx="3"/>
            <a:endCxn id="7195" idx="1"/>
          </p:cNvCxnSpPr>
          <p:nvPr/>
        </p:nvCxnSpPr>
        <p:spPr bwMode="auto">
          <a:xfrm flipV="1">
            <a:off x="8291513" y="4678364"/>
            <a:ext cx="412750" cy="5715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8" name="AutoShape 73">
            <a:extLst>
              <a:ext uri="{FF2B5EF4-FFF2-40B4-BE49-F238E27FC236}">
                <a16:creationId xmlns:a16="http://schemas.microsoft.com/office/drawing/2014/main" id="{B7A322FD-24F0-49C5-A2BB-C7086F26F6A1}"/>
              </a:ext>
            </a:extLst>
          </p:cNvPr>
          <p:cNvCxnSpPr>
            <a:cxnSpLocks noChangeShapeType="1"/>
            <a:stCxn id="7195" idx="3"/>
            <a:endCxn id="7194" idx="1"/>
          </p:cNvCxnSpPr>
          <p:nvPr/>
        </p:nvCxnSpPr>
        <p:spPr bwMode="auto">
          <a:xfrm>
            <a:off x="8866189" y="4678364"/>
            <a:ext cx="427037" cy="25400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9" name="AutoShape 74">
            <a:extLst>
              <a:ext uri="{FF2B5EF4-FFF2-40B4-BE49-F238E27FC236}">
                <a16:creationId xmlns:a16="http://schemas.microsoft.com/office/drawing/2014/main" id="{5823B107-86E7-4863-9003-4F417E284DFF}"/>
              </a:ext>
            </a:extLst>
          </p:cNvPr>
          <p:cNvCxnSpPr>
            <a:cxnSpLocks noChangeShapeType="1"/>
            <a:stCxn id="7192" idx="0"/>
            <a:endCxn id="7195" idx="2"/>
          </p:cNvCxnSpPr>
          <p:nvPr/>
        </p:nvCxnSpPr>
        <p:spPr bwMode="auto">
          <a:xfrm flipV="1">
            <a:off x="8583613" y="4741864"/>
            <a:ext cx="201612" cy="83026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0" name="AutoShape 75">
            <a:extLst>
              <a:ext uri="{FF2B5EF4-FFF2-40B4-BE49-F238E27FC236}">
                <a16:creationId xmlns:a16="http://schemas.microsoft.com/office/drawing/2014/main" id="{54103E46-BB76-4817-A14D-7C2EEE9D82DB}"/>
              </a:ext>
            </a:extLst>
          </p:cNvPr>
          <p:cNvCxnSpPr>
            <a:cxnSpLocks noChangeShapeType="1"/>
            <a:stCxn id="7193" idx="0"/>
            <a:endCxn id="7194" idx="2"/>
          </p:cNvCxnSpPr>
          <p:nvPr/>
        </p:nvCxnSpPr>
        <p:spPr bwMode="auto">
          <a:xfrm flipV="1">
            <a:off x="9050338" y="4995863"/>
            <a:ext cx="323850" cy="57626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1" name="AutoShape 76">
            <a:extLst>
              <a:ext uri="{FF2B5EF4-FFF2-40B4-BE49-F238E27FC236}">
                <a16:creationId xmlns:a16="http://schemas.microsoft.com/office/drawing/2014/main" id="{A92CF492-5E5F-4B10-ADB2-5978F42382F9}"/>
              </a:ext>
            </a:extLst>
          </p:cNvPr>
          <p:cNvCxnSpPr>
            <a:cxnSpLocks noChangeShapeType="1"/>
            <a:stCxn id="7192" idx="3"/>
            <a:endCxn id="7193" idx="1"/>
          </p:cNvCxnSpPr>
          <p:nvPr/>
        </p:nvCxnSpPr>
        <p:spPr bwMode="auto">
          <a:xfrm>
            <a:off x="8664575" y="5637214"/>
            <a:ext cx="304800" cy="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202" name="Group 77">
            <a:extLst>
              <a:ext uri="{FF2B5EF4-FFF2-40B4-BE49-F238E27FC236}">
                <a16:creationId xmlns:a16="http://schemas.microsoft.com/office/drawing/2014/main" id="{E758CA9C-C308-4250-90CF-2B900BFB30DB}"/>
              </a:ext>
            </a:extLst>
          </p:cNvPr>
          <p:cNvGrpSpPr>
            <a:grpSpLocks/>
          </p:cNvGrpSpPr>
          <p:nvPr/>
        </p:nvGrpSpPr>
        <p:grpSpPr bwMode="auto">
          <a:xfrm>
            <a:off x="8062914" y="5786439"/>
            <a:ext cx="460375" cy="365125"/>
            <a:chOff x="1014" y="912"/>
            <a:chExt cx="574" cy="596"/>
          </a:xfrm>
        </p:grpSpPr>
        <p:sp>
          <p:nvSpPr>
            <p:cNvPr id="7271" name="Freeform 78">
              <a:extLst>
                <a:ext uri="{FF2B5EF4-FFF2-40B4-BE49-F238E27FC236}">
                  <a16:creationId xmlns:a16="http://schemas.microsoft.com/office/drawing/2014/main" id="{E1263FC6-D4A4-46B9-BC83-7F6D3D3F6AD0}"/>
                </a:ext>
              </a:extLst>
            </p:cNvPr>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zh-CN" altLang="en-US" sz="2160"/>
            </a:p>
          </p:txBody>
        </p:sp>
        <p:sp>
          <p:nvSpPr>
            <p:cNvPr id="7272" name="Line 79">
              <a:extLst>
                <a:ext uri="{FF2B5EF4-FFF2-40B4-BE49-F238E27FC236}">
                  <a16:creationId xmlns:a16="http://schemas.microsoft.com/office/drawing/2014/main" id="{7E482730-17C4-40AA-8C65-D9F0A4DD98B0}"/>
                </a:ext>
              </a:extLst>
            </p:cNvPr>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73" name="Line 80">
              <a:extLst>
                <a:ext uri="{FF2B5EF4-FFF2-40B4-BE49-F238E27FC236}">
                  <a16:creationId xmlns:a16="http://schemas.microsoft.com/office/drawing/2014/main" id="{4AC46A2D-C5D6-4CAC-BA9A-135C264F3319}"/>
                </a:ext>
              </a:extLst>
            </p:cNvPr>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74" name="Freeform 81">
              <a:extLst>
                <a:ext uri="{FF2B5EF4-FFF2-40B4-BE49-F238E27FC236}">
                  <a16:creationId xmlns:a16="http://schemas.microsoft.com/office/drawing/2014/main" id="{05205842-622E-4020-868A-3A6C734108D2}"/>
                </a:ext>
              </a:extLst>
            </p:cNvPr>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zh-CN" altLang="en-US" sz="2160"/>
            </a:p>
          </p:txBody>
        </p:sp>
        <p:sp>
          <p:nvSpPr>
            <p:cNvPr id="7275" name="Line 82">
              <a:extLst>
                <a:ext uri="{FF2B5EF4-FFF2-40B4-BE49-F238E27FC236}">
                  <a16:creationId xmlns:a16="http://schemas.microsoft.com/office/drawing/2014/main" id="{2CE48A86-C9AB-4979-9DCC-9D381811953C}"/>
                </a:ext>
              </a:extLst>
            </p:cNvPr>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76" name="Line 83">
              <a:extLst>
                <a:ext uri="{FF2B5EF4-FFF2-40B4-BE49-F238E27FC236}">
                  <a16:creationId xmlns:a16="http://schemas.microsoft.com/office/drawing/2014/main" id="{427055B5-DBEE-477A-809C-E58E223BBD8C}"/>
                </a:ext>
              </a:extLst>
            </p:cNvPr>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77" name="Line 84">
              <a:extLst>
                <a:ext uri="{FF2B5EF4-FFF2-40B4-BE49-F238E27FC236}">
                  <a16:creationId xmlns:a16="http://schemas.microsoft.com/office/drawing/2014/main" id="{690E1B63-BE37-494C-A8F2-36CEBCBF564A}"/>
                </a:ext>
              </a:extLst>
            </p:cNvPr>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78" name="Rectangle 85">
              <a:extLst>
                <a:ext uri="{FF2B5EF4-FFF2-40B4-BE49-F238E27FC236}">
                  <a16:creationId xmlns:a16="http://schemas.microsoft.com/office/drawing/2014/main" id="{D96183CC-C4CE-424F-BB07-7E09654AF158}"/>
                </a:ext>
              </a:extLst>
            </p:cNvPr>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79" name="Freeform 86">
              <a:extLst>
                <a:ext uri="{FF2B5EF4-FFF2-40B4-BE49-F238E27FC236}">
                  <a16:creationId xmlns:a16="http://schemas.microsoft.com/office/drawing/2014/main" id="{D0841DF6-741F-4FBA-9834-C0A260293A85}"/>
                </a:ext>
              </a:extLst>
            </p:cNvPr>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zh-CN" altLang="en-US" sz="2160"/>
            </a:p>
          </p:txBody>
        </p:sp>
        <p:sp>
          <p:nvSpPr>
            <p:cNvPr id="7280" name="Line 87">
              <a:extLst>
                <a:ext uri="{FF2B5EF4-FFF2-40B4-BE49-F238E27FC236}">
                  <a16:creationId xmlns:a16="http://schemas.microsoft.com/office/drawing/2014/main" id="{5BDBBAF7-01BF-4230-9021-335188EC36FD}"/>
                </a:ext>
              </a:extLst>
            </p:cNvPr>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81" name="Line 88">
              <a:extLst>
                <a:ext uri="{FF2B5EF4-FFF2-40B4-BE49-F238E27FC236}">
                  <a16:creationId xmlns:a16="http://schemas.microsoft.com/office/drawing/2014/main" id="{B48EF265-CC55-4A9F-922E-C203BDD6AC33}"/>
                </a:ext>
              </a:extLst>
            </p:cNvPr>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82" name="Line 89">
              <a:extLst>
                <a:ext uri="{FF2B5EF4-FFF2-40B4-BE49-F238E27FC236}">
                  <a16:creationId xmlns:a16="http://schemas.microsoft.com/office/drawing/2014/main" id="{D556FD34-BC57-492E-9C2B-E44734F8B673}"/>
                </a:ext>
              </a:extLst>
            </p:cNvPr>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grpSp>
      <p:grpSp>
        <p:nvGrpSpPr>
          <p:cNvPr id="7203" name="Group 90">
            <a:extLst>
              <a:ext uri="{FF2B5EF4-FFF2-40B4-BE49-F238E27FC236}">
                <a16:creationId xmlns:a16="http://schemas.microsoft.com/office/drawing/2014/main" id="{B6588F94-E9C3-4138-BC42-7F9881803E33}"/>
              </a:ext>
            </a:extLst>
          </p:cNvPr>
          <p:cNvGrpSpPr>
            <a:grpSpLocks/>
          </p:cNvGrpSpPr>
          <p:nvPr/>
        </p:nvGrpSpPr>
        <p:grpSpPr bwMode="auto">
          <a:xfrm>
            <a:off x="9610726" y="4646614"/>
            <a:ext cx="460375" cy="365125"/>
            <a:chOff x="1014" y="912"/>
            <a:chExt cx="574" cy="596"/>
          </a:xfrm>
        </p:grpSpPr>
        <p:sp>
          <p:nvSpPr>
            <p:cNvPr id="7259" name="Freeform 91">
              <a:extLst>
                <a:ext uri="{FF2B5EF4-FFF2-40B4-BE49-F238E27FC236}">
                  <a16:creationId xmlns:a16="http://schemas.microsoft.com/office/drawing/2014/main" id="{3A69D865-AE31-46B7-A1DD-5F38C120B1F0}"/>
                </a:ext>
              </a:extLst>
            </p:cNvPr>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zh-CN" altLang="en-US" sz="2160"/>
            </a:p>
          </p:txBody>
        </p:sp>
        <p:sp>
          <p:nvSpPr>
            <p:cNvPr id="7260" name="Line 92">
              <a:extLst>
                <a:ext uri="{FF2B5EF4-FFF2-40B4-BE49-F238E27FC236}">
                  <a16:creationId xmlns:a16="http://schemas.microsoft.com/office/drawing/2014/main" id="{95713906-5523-4EE6-AE1E-825D25AF2151}"/>
                </a:ext>
              </a:extLst>
            </p:cNvPr>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61" name="Line 93">
              <a:extLst>
                <a:ext uri="{FF2B5EF4-FFF2-40B4-BE49-F238E27FC236}">
                  <a16:creationId xmlns:a16="http://schemas.microsoft.com/office/drawing/2014/main" id="{44ACFB93-A230-4CCC-BE23-30AE6B396E17}"/>
                </a:ext>
              </a:extLst>
            </p:cNvPr>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62" name="Freeform 94">
              <a:extLst>
                <a:ext uri="{FF2B5EF4-FFF2-40B4-BE49-F238E27FC236}">
                  <a16:creationId xmlns:a16="http://schemas.microsoft.com/office/drawing/2014/main" id="{94BFAD29-6512-4F32-AB9A-A8A57C577384}"/>
                </a:ext>
              </a:extLst>
            </p:cNvPr>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zh-CN" altLang="en-US" sz="2160"/>
            </a:p>
          </p:txBody>
        </p:sp>
        <p:sp>
          <p:nvSpPr>
            <p:cNvPr id="7263" name="Line 95">
              <a:extLst>
                <a:ext uri="{FF2B5EF4-FFF2-40B4-BE49-F238E27FC236}">
                  <a16:creationId xmlns:a16="http://schemas.microsoft.com/office/drawing/2014/main" id="{737BBB0A-8120-4F94-AEF9-F8306FB20436}"/>
                </a:ext>
              </a:extLst>
            </p:cNvPr>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64" name="Line 96">
              <a:extLst>
                <a:ext uri="{FF2B5EF4-FFF2-40B4-BE49-F238E27FC236}">
                  <a16:creationId xmlns:a16="http://schemas.microsoft.com/office/drawing/2014/main" id="{334A6013-5886-4A7E-8F80-AD5D19CFEB93}"/>
                </a:ext>
              </a:extLst>
            </p:cNvPr>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65" name="Line 97">
              <a:extLst>
                <a:ext uri="{FF2B5EF4-FFF2-40B4-BE49-F238E27FC236}">
                  <a16:creationId xmlns:a16="http://schemas.microsoft.com/office/drawing/2014/main" id="{CB7E9747-C228-4091-9F60-34710C23DEDD}"/>
                </a:ext>
              </a:extLst>
            </p:cNvPr>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66" name="Rectangle 98">
              <a:extLst>
                <a:ext uri="{FF2B5EF4-FFF2-40B4-BE49-F238E27FC236}">
                  <a16:creationId xmlns:a16="http://schemas.microsoft.com/office/drawing/2014/main" id="{562921CD-2446-4899-9F88-7B41363573EB}"/>
                </a:ext>
              </a:extLst>
            </p:cNvPr>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67" name="Freeform 99">
              <a:extLst>
                <a:ext uri="{FF2B5EF4-FFF2-40B4-BE49-F238E27FC236}">
                  <a16:creationId xmlns:a16="http://schemas.microsoft.com/office/drawing/2014/main" id="{7F6B3BC7-2F5C-4425-8B6E-2054548EC585}"/>
                </a:ext>
              </a:extLst>
            </p:cNvPr>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zh-CN" altLang="en-US" sz="2160"/>
            </a:p>
          </p:txBody>
        </p:sp>
        <p:sp>
          <p:nvSpPr>
            <p:cNvPr id="7268" name="Line 100">
              <a:extLst>
                <a:ext uri="{FF2B5EF4-FFF2-40B4-BE49-F238E27FC236}">
                  <a16:creationId xmlns:a16="http://schemas.microsoft.com/office/drawing/2014/main" id="{F69C1895-BE9E-4D48-8ABC-4A2EECB5888F}"/>
                </a:ext>
              </a:extLst>
            </p:cNvPr>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69" name="Line 101">
              <a:extLst>
                <a:ext uri="{FF2B5EF4-FFF2-40B4-BE49-F238E27FC236}">
                  <a16:creationId xmlns:a16="http://schemas.microsoft.com/office/drawing/2014/main" id="{6AD90C53-9205-407A-ADAF-854F36F26B53}"/>
                </a:ext>
              </a:extLst>
            </p:cNvPr>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70" name="Line 102">
              <a:extLst>
                <a:ext uri="{FF2B5EF4-FFF2-40B4-BE49-F238E27FC236}">
                  <a16:creationId xmlns:a16="http://schemas.microsoft.com/office/drawing/2014/main" id="{F83A12AB-1813-4228-B026-9FABCE7D72C8}"/>
                </a:ext>
              </a:extLst>
            </p:cNvPr>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grpSp>
      <p:cxnSp>
        <p:nvCxnSpPr>
          <p:cNvPr id="7204" name="AutoShape 103">
            <a:extLst>
              <a:ext uri="{FF2B5EF4-FFF2-40B4-BE49-F238E27FC236}">
                <a16:creationId xmlns:a16="http://schemas.microsoft.com/office/drawing/2014/main" id="{3E537951-06AE-4087-8953-CC3E2089A79B}"/>
              </a:ext>
            </a:extLst>
          </p:cNvPr>
          <p:cNvCxnSpPr>
            <a:cxnSpLocks noChangeShapeType="1"/>
            <a:stCxn id="7279" idx="14"/>
            <a:endCxn id="7192" idx="2"/>
          </p:cNvCxnSpPr>
          <p:nvPr/>
        </p:nvCxnSpPr>
        <p:spPr bwMode="auto">
          <a:xfrm flipV="1">
            <a:off x="8432801" y="5700714"/>
            <a:ext cx="150814" cy="11271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5" name="AutoShape 104">
            <a:extLst>
              <a:ext uri="{FF2B5EF4-FFF2-40B4-BE49-F238E27FC236}">
                <a16:creationId xmlns:a16="http://schemas.microsoft.com/office/drawing/2014/main" id="{3B18C048-08DF-439A-9AF3-537FE5B3971C}"/>
              </a:ext>
            </a:extLst>
          </p:cNvPr>
          <p:cNvCxnSpPr>
            <a:cxnSpLocks noChangeShapeType="1"/>
            <a:stCxn id="7194" idx="3"/>
            <a:endCxn id="7267" idx="22"/>
          </p:cNvCxnSpPr>
          <p:nvPr/>
        </p:nvCxnSpPr>
        <p:spPr bwMode="auto">
          <a:xfrm flipV="1">
            <a:off x="9455151" y="4897439"/>
            <a:ext cx="168275" cy="34925"/>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6" name="AutoShape 105">
            <a:extLst>
              <a:ext uri="{FF2B5EF4-FFF2-40B4-BE49-F238E27FC236}">
                <a16:creationId xmlns:a16="http://schemas.microsoft.com/office/drawing/2014/main" id="{FD50064C-6B23-4BAD-AFF5-86D8F9610C2B}"/>
              </a:ext>
            </a:extLst>
          </p:cNvPr>
          <p:cNvCxnSpPr>
            <a:cxnSpLocks noChangeShapeType="1"/>
            <a:stCxn id="7191" idx="3"/>
            <a:endCxn id="7192" idx="1"/>
          </p:cNvCxnSpPr>
          <p:nvPr/>
        </p:nvCxnSpPr>
        <p:spPr bwMode="auto">
          <a:xfrm>
            <a:off x="7754939" y="5124450"/>
            <a:ext cx="747712" cy="512764"/>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207" name="Group 106">
            <a:extLst>
              <a:ext uri="{FF2B5EF4-FFF2-40B4-BE49-F238E27FC236}">
                <a16:creationId xmlns:a16="http://schemas.microsoft.com/office/drawing/2014/main" id="{4BDCD7CE-23E2-41CB-A67A-011BA202E712}"/>
              </a:ext>
            </a:extLst>
          </p:cNvPr>
          <p:cNvGrpSpPr>
            <a:grpSpLocks/>
          </p:cNvGrpSpPr>
          <p:nvPr/>
        </p:nvGrpSpPr>
        <p:grpSpPr bwMode="auto">
          <a:xfrm>
            <a:off x="5410201" y="4495800"/>
            <a:ext cx="1916113" cy="1366838"/>
            <a:chOff x="832" y="1344"/>
            <a:chExt cx="1136" cy="1024"/>
          </a:xfrm>
        </p:grpSpPr>
        <p:sp>
          <p:nvSpPr>
            <p:cNvPr id="7250" name="Oval 107">
              <a:extLst>
                <a:ext uri="{FF2B5EF4-FFF2-40B4-BE49-F238E27FC236}">
                  <a16:creationId xmlns:a16="http://schemas.microsoft.com/office/drawing/2014/main" id="{F08E3510-F5C1-4896-A0FE-898EFBEAEBA1}"/>
                </a:ext>
              </a:extLst>
            </p:cNvPr>
            <p:cNvSpPr>
              <a:spLocks noChangeArrowheads="1"/>
            </p:cNvSpPr>
            <p:nvPr/>
          </p:nvSpPr>
          <p:spPr bwMode="auto">
            <a:xfrm>
              <a:off x="1220" y="1344"/>
              <a:ext cx="495" cy="424"/>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1" name="Oval 108">
              <a:extLst>
                <a:ext uri="{FF2B5EF4-FFF2-40B4-BE49-F238E27FC236}">
                  <a16:creationId xmlns:a16="http://schemas.microsoft.com/office/drawing/2014/main" id="{6978F23B-4E57-4BCB-9879-470699A60747}"/>
                </a:ext>
              </a:extLst>
            </p:cNvPr>
            <p:cNvSpPr>
              <a:spLocks noChangeArrowheads="1"/>
            </p:cNvSpPr>
            <p:nvPr/>
          </p:nvSpPr>
          <p:spPr bwMode="auto">
            <a:xfrm>
              <a:off x="948" y="1455"/>
              <a:ext cx="379" cy="424"/>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2" name="Oval 109">
              <a:extLst>
                <a:ext uri="{FF2B5EF4-FFF2-40B4-BE49-F238E27FC236}">
                  <a16:creationId xmlns:a16="http://schemas.microsoft.com/office/drawing/2014/main" id="{33D08C9C-7A9B-4DA4-BDD9-99DB891FEA01}"/>
                </a:ext>
              </a:extLst>
            </p:cNvPr>
            <p:cNvSpPr>
              <a:spLocks noChangeArrowheads="1"/>
            </p:cNvSpPr>
            <p:nvPr/>
          </p:nvSpPr>
          <p:spPr bwMode="auto">
            <a:xfrm>
              <a:off x="832" y="1710"/>
              <a:ext cx="256" cy="306"/>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3" name="Oval 110">
              <a:extLst>
                <a:ext uri="{FF2B5EF4-FFF2-40B4-BE49-F238E27FC236}">
                  <a16:creationId xmlns:a16="http://schemas.microsoft.com/office/drawing/2014/main" id="{479F683F-095A-4FCE-A7B3-61CC237AAE50}"/>
                </a:ext>
              </a:extLst>
            </p:cNvPr>
            <p:cNvSpPr>
              <a:spLocks noChangeArrowheads="1"/>
            </p:cNvSpPr>
            <p:nvPr/>
          </p:nvSpPr>
          <p:spPr bwMode="auto">
            <a:xfrm>
              <a:off x="909" y="1862"/>
              <a:ext cx="435" cy="442"/>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4" name="Oval 111">
              <a:extLst>
                <a:ext uri="{FF2B5EF4-FFF2-40B4-BE49-F238E27FC236}">
                  <a16:creationId xmlns:a16="http://schemas.microsoft.com/office/drawing/2014/main" id="{6AC116AD-2CCD-488E-B9B5-33084525EFC3}"/>
                </a:ext>
              </a:extLst>
            </p:cNvPr>
            <p:cNvSpPr>
              <a:spLocks noChangeArrowheads="1"/>
            </p:cNvSpPr>
            <p:nvPr/>
          </p:nvSpPr>
          <p:spPr bwMode="auto">
            <a:xfrm>
              <a:off x="1086" y="1924"/>
              <a:ext cx="671" cy="444"/>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5" name="Oval 112">
              <a:extLst>
                <a:ext uri="{FF2B5EF4-FFF2-40B4-BE49-F238E27FC236}">
                  <a16:creationId xmlns:a16="http://schemas.microsoft.com/office/drawing/2014/main" id="{ED8DF387-D91D-4DF5-98F1-9417DCF38FA0}"/>
                </a:ext>
              </a:extLst>
            </p:cNvPr>
            <p:cNvSpPr>
              <a:spLocks noChangeArrowheads="1"/>
            </p:cNvSpPr>
            <p:nvPr/>
          </p:nvSpPr>
          <p:spPr bwMode="auto">
            <a:xfrm>
              <a:off x="1605" y="1488"/>
              <a:ext cx="311" cy="312"/>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6" name="Oval 113">
              <a:extLst>
                <a:ext uri="{FF2B5EF4-FFF2-40B4-BE49-F238E27FC236}">
                  <a16:creationId xmlns:a16="http://schemas.microsoft.com/office/drawing/2014/main" id="{C6F13007-251A-4FED-8B9A-40A925E1DFC0}"/>
                </a:ext>
              </a:extLst>
            </p:cNvPr>
            <p:cNvSpPr>
              <a:spLocks noChangeArrowheads="1"/>
            </p:cNvSpPr>
            <p:nvPr/>
          </p:nvSpPr>
          <p:spPr bwMode="auto">
            <a:xfrm>
              <a:off x="1602" y="1681"/>
              <a:ext cx="366" cy="333"/>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7" name="Oval 114">
              <a:extLst>
                <a:ext uri="{FF2B5EF4-FFF2-40B4-BE49-F238E27FC236}">
                  <a16:creationId xmlns:a16="http://schemas.microsoft.com/office/drawing/2014/main" id="{A20F3C34-8656-4CD3-834A-0D6E0F9634F5}"/>
                </a:ext>
              </a:extLst>
            </p:cNvPr>
            <p:cNvSpPr>
              <a:spLocks noChangeArrowheads="1"/>
            </p:cNvSpPr>
            <p:nvPr/>
          </p:nvSpPr>
          <p:spPr bwMode="auto">
            <a:xfrm>
              <a:off x="1569" y="1751"/>
              <a:ext cx="364" cy="547"/>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8" name="Oval 115">
              <a:extLst>
                <a:ext uri="{FF2B5EF4-FFF2-40B4-BE49-F238E27FC236}">
                  <a16:creationId xmlns:a16="http://schemas.microsoft.com/office/drawing/2014/main" id="{4370E851-39CC-4CF1-9C9B-97074580972D}"/>
                </a:ext>
              </a:extLst>
            </p:cNvPr>
            <p:cNvSpPr>
              <a:spLocks noChangeArrowheads="1"/>
            </p:cNvSpPr>
            <p:nvPr/>
          </p:nvSpPr>
          <p:spPr bwMode="auto">
            <a:xfrm>
              <a:off x="912" y="1434"/>
              <a:ext cx="1008" cy="918"/>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7208" name="Rectangle 116">
            <a:extLst>
              <a:ext uri="{FF2B5EF4-FFF2-40B4-BE49-F238E27FC236}">
                <a16:creationId xmlns:a16="http://schemas.microsoft.com/office/drawing/2014/main" id="{E52B4325-C5E8-4E40-ACCA-AF5A8E588B63}"/>
              </a:ext>
            </a:extLst>
          </p:cNvPr>
          <p:cNvSpPr>
            <a:spLocks noChangeArrowheads="1"/>
          </p:cNvSpPr>
          <p:nvPr/>
        </p:nvSpPr>
        <p:spPr bwMode="auto">
          <a:xfrm>
            <a:off x="5986463" y="4779964"/>
            <a:ext cx="161926" cy="128587"/>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09" name="Rectangle 117">
            <a:extLst>
              <a:ext uri="{FF2B5EF4-FFF2-40B4-BE49-F238E27FC236}">
                <a16:creationId xmlns:a16="http://schemas.microsoft.com/office/drawing/2014/main" id="{074042E8-AFE0-49A5-B2F5-E8D7AFE67C87}"/>
              </a:ext>
            </a:extLst>
          </p:cNvPr>
          <p:cNvSpPr>
            <a:spLocks noChangeArrowheads="1"/>
          </p:cNvSpPr>
          <p:nvPr/>
        </p:nvSpPr>
        <p:spPr bwMode="auto">
          <a:xfrm>
            <a:off x="5383213" y="5135563"/>
            <a:ext cx="161926" cy="128587"/>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10" name="Rectangle 118">
            <a:extLst>
              <a:ext uri="{FF2B5EF4-FFF2-40B4-BE49-F238E27FC236}">
                <a16:creationId xmlns:a16="http://schemas.microsoft.com/office/drawing/2014/main" id="{B2F01DBB-2957-4261-825F-090326E38136}"/>
              </a:ext>
            </a:extLst>
          </p:cNvPr>
          <p:cNvSpPr>
            <a:spLocks noChangeArrowheads="1"/>
          </p:cNvSpPr>
          <p:nvPr/>
        </p:nvSpPr>
        <p:spPr bwMode="auto">
          <a:xfrm>
            <a:off x="5949950" y="564832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11" name="Rectangle 119">
            <a:extLst>
              <a:ext uri="{FF2B5EF4-FFF2-40B4-BE49-F238E27FC236}">
                <a16:creationId xmlns:a16="http://schemas.microsoft.com/office/drawing/2014/main" id="{7275449B-BB36-4E5D-BE11-9477A936CB29}"/>
              </a:ext>
            </a:extLst>
          </p:cNvPr>
          <p:cNvSpPr>
            <a:spLocks noChangeArrowheads="1"/>
          </p:cNvSpPr>
          <p:nvPr/>
        </p:nvSpPr>
        <p:spPr bwMode="auto">
          <a:xfrm>
            <a:off x="6759575" y="564832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12" name="Rectangle 120">
            <a:extLst>
              <a:ext uri="{FF2B5EF4-FFF2-40B4-BE49-F238E27FC236}">
                <a16:creationId xmlns:a16="http://schemas.microsoft.com/office/drawing/2014/main" id="{C97900A0-7B56-487C-80C7-CF17E02131A3}"/>
              </a:ext>
            </a:extLst>
          </p:cNvPr>
          <p:cNvSpPr>
            <a:spLocks noChangeArrowheads="1"/>
          </p:cNvSpPr>
          <p:nvPr/>
        </p:nvSpPr>
        <p:spPr bwMode="auto">
          <a:xfrm>
            <a:off x="7083425" y="494347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13" name="Rectangle 121">
            <a:extLst>
              <a:ext uri="{FF2B5EF4-FFF2-40B4-BE49-F238E27FC236}">
                <a16:creationId xmlns:a16="http://schemas.microsoft.com/office/drawing/2014/main" id="{4BBCA0A9-9511-49C1-9B5E-CB02EF5208FF}"/>
              </a:ext>
            </a:extLst>
          </p:cNvPr>
          <p:cNvSpPr>
            <a:spLocks noChangeArrowheads="1"/>
          </p:cNvSpPr>
          <p:nvPr/>
        </p:nvSpPr>
        <p:spPr bwMode="auto">
          <a:xfrm>
            <a:off x="6627813" y="4708526"/>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cxnSp>
        <p:nvCxnSpPr>
          <p:cNvPr id="7214" name="AutoShape 122">
            <a:extLst>
              <a:ext uri="{FF2B5EF4-FFF2-40B4-BE49-F238E27FC236}">
                <a16:creationId xmlns:a16="http://schemas.microsoft.com/office/drawing/2014/main" id="{0EC0B384-2746-443F-B146-1E71FE38D4D0}"/>
              </a:ext>
            </a:extLst>
          </p:cNvPr>
          <p:cNvCxnSpPr>
            <a:cxnSpLocks noChangeShapeType="1"/>
            <a:stCxn id="7209" idx="3"/>
            <a:endCxn id="7208" idx="1"/>
          </p:cNvCxnSpPr>
          <p:nvPr/>
        </p:nvCxnSpPr>
        <p:spPr bwMode="auto">
          <a:xfrm flipV="1">
            <a:off x="5545140" y="4845051"/>
            <a:ext cx="441325" cy="35560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15" name="AutoShape 123">
            <a:extLst>
              <a:ext uri="{FF2B5EF4-FFF2-40B4-BE49-F238E27FC236}">
                <a16:creationId xmlns:a16="http://schemas.microsoft.com/office/drawing/2014/main" id="{6C26A17C-DBD1-480E-97CD-ADFDE6A9BBB6}"/>
              </a:ext>
            </a:extLst>
          </p:cNvPr>
          <p:cNvCxnSpPr>
            <a:cxnSpLocks noChangeShapeType="1"/>
            <a:stCxn id="7208" idx="3"/>
            <a:endCxn id="7213" idx="1"/>
          </p:cNvCxnSpPr>
          <p:nvPr/>
        </p:nvCxnSpPr>
        <p:spPr bwMode="auto">
          <a:xfrm flipV="1">
            <a:off x="6148389" y="4773614"/>
            <a:ext cx="479425" cy="71437"/>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16" name="AutoShape 124">
            <a:extLst>
              <a:ext uri="{FF2B5EF4-FFF2-40B4-BE49-F238E27FC236}">
                <a16:creationId xmlns:a16="http://schemas.microsoft.com/office/drawing/2014/main" id="{47EC8316-4FB0-4E86-8784-9A938B72DF71}"/>
              </a:ext>
            </a:extLst>
          </p:cNvPr>
          <p:cNvCxnSpPr>
            <a:cxnSpLocks noChangeShapeType="1"/>
            <a:stCxn id="7213" idx="3"/>
            <a:endCxn id="7212" idx="1"/>
          </p:cNvCxnSpPr>
          <p:nvPr/>
        </p:nvCxnSpPr>
        <p:spPr bwMode="auto">
          <a:xfrm>
            <a:off x="6789740" y="4773613"/>
            <a:ext cx="293687" cy="23495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17" name="AutoShape 125">
            <a:extLst>
              <a:ext uri="{FF2B5EF4-FFF2-40B4-BE49-F238E27FC236}">
                <a16:creationId xmlns:a16="http://schemas.microsoft.com/office/drawing/2014/main" id="{7323E6D7-5E29-407E-924E-26A99E2AB69A}"/>
              </a:ext>
            </a:extLst>
          </p:cNvPr>
          <p:cNvCxnSpPr>
            <a:cxnSpLocks noChangeShapeType="1"/>
            <a:stCxn id="7210" idx="0"/>
            <a:endCxn id="7213" idx="2"/>
          </p:cNvCxnSpPr>
          <p:nvPr/>
        </p:nvCxnSpPr>
        <p:spPr bwMode="auto">
          <a:xfrm flipV="1">
            <a:off x="6030914" y="4837114"/>
            <a:ext cx="677862" cy="81121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18" name="AutoShape 126">
            <a:extLst>
              <a:ext uri="{FF2B5EF4-FFF2-40B4-BE49-F238E27FC236}">
                <a16:creationId xmlns:a16="http://schemas.microsoft.com/office/drawing/2014/main" id="{3FBB9CD0-8C94-4C71-A025-31B4E654C57C}"/>
              </a:ext>
            </a:extLst>
          </p:cNvPr>
          <p:cNvCxnSpPr>
            <a:cxnSpLocks noChangeShapeType="1"/>
            <a:stCxn id="7211" idx="0"/>
            <a:endCxn id="7212" idx="2"/>
          </p:cNvCxnSpPr>
          <p:nvPr/>
        </p:nvCxnSpPr>
        <p:spPr bwMode="auto">
          <a:xfrm flipV="1">
            <a:off x="6840538" y="5072063"/>
            <a:ext cx="323850" cy="57626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19" name="AutoShape 127">
            <a:extLst>
              <a:ext uri="{FF2B5EF4-FFF2-40B4-BE49-F238E27FC236}">
                <a16:creationId xmlns:a16="http://schemas.microsoft.com/office/drawing/2014/main" id="{0A3E42D7-38C6-4BD3-BFFE-EDBC8B3C4FA5}"/>
              </a:ext>
            </a:extLst>
          </p:cNvPr>
          <p:cNvCxnSpPr>
            <a:cxnSpLocks noChangeShapeType="1"/>
            <a:stCxn id="7210" idx="3"/>
            <a:endCxn id="7211" idx="1"/>
          </p:cNvCxnSpPr>
          <p:nvPr/>
        </p:nvCxnSpPr>
        <p:spPr bwMode="auto">
          <a:xfrm>
            <a:off x="6111875" y="5713414"/>
            <a:ext cx="647700" cy="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20" name="AutoShape 128">
            <a:extLst>
              <a:ext uri="{FF2B5EF4-FFF2-40B4-BE49-F238E27FC236}">
                <a16:creationId xmlns:a16="http://schemas.microsoft.com/office/drawing/2014/main" id="{11C075AA-CCAF-4D4F-B4C3-406E433BBB7F}"/>
              </a:ext>
            </a:extLst>
          </p:cNvPr>
          <p:cNvCxnSpPr>
            <a:cxnSpLocks noChangeShapeType="1"/>
          </p:cNvCxnSpPr>
          <p:nvPr/>
        </p:nvCxnSpPr>
        <p:spPr bwMode="auto">
          <a:xfrm>
            <a:off x="5518151" y="5178425"/>
            <a:ext cx="404813" cy="512764"/>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221" name="Group 129">
            <a:extLst>
              <a:ext uri="{FF2B5EF4-FFF2-40B4-BE49-F238E27FC236}">
                <a16:creationId xmlns:a16="http://schemas.microsoft.com/office/drawing/2014/main" id="{A95FC294-898F-4A14-A205-CF63D8A28E09}"/>
              </a:ext>
            </a:extLst>
          </p:cNvPr>
          <p:cNvGrpSpPr>
            <a:grpSpLocks/>
          </p:cNvGrpSpPr>
          <p:nvPr/>
        </p:nvGrpSpPr>
        <p:grpSpPr bwMode="auto">
          <a:xfrm>
            <a:off x="4656138" y="4951414"/>
            <a:ext cx="460375" cy="365125"/>
            <a:chOff x="1014" y="912"/>
            <a:chExt cx="574" cy="596"/>
          </a:xfrm>
        </p:grpSpPr>
        <p:sp>
          <p:nvSpPr>
            <p:cNvPr id="7238" name="Freeform 130">
              <a:extLst>
                <a:ext uri="{FF2B5EF4-FFF2-40B4-BE49-F238E27FC236}">
                  <a16:creationId xmlns:a16="http://schemas.microsoft.com/office/drawing/2014/main" id="{6BE84416-F1FF-4A6A-8EC3-B97A19E72708}"/>
                </a:ext>
              </a:extLst>
            </p:cNvPr>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zh-CN" altLang="en-US" sz="2160"/>
            </a:p>
          </p:txBody>
        </p:sp>
        <p:sp>
          <p:nvSpPr>
            <p:cNvPr id="7239" name="Line 131">
              <a:extLst>
                <a:ext uri="{FF2B5EF4-FFF2-40B4-BE49-F238E27FC236}">
                  <a16:creationId xmlns:a16="http://schemas.microsoft.com/office/drawing/2014/main" id="{FD8E449D-0843-4D80-84A4-DC030A820700}"/>
                </a:ext>
              </a:extLst>
            </p:cNvPr>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0" name="Line 132">
              <a:extLst>
                <a:ext uri="{FF2B5EF4-FFF2-40B4-BE49-F238E27FC236}">
                  <a16:creationId xmlns:a16="http://schemas.microsoft.com/office/drawing/2014/main" id="{5F8A0591-1F61-42AD-8A02-6889D2B52ABB}"/>
                </a:ext>
              </a:extLst>
            </p:cNvPr>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1" name="Freeform 133">
              <a:extLst>
                <a:ext uri="{FF2B5EF4-FFF2-40B4-BE49-F238E27FC236}">
                  <a16:creationId xmlns:a16="http://schemas.microsoft.com/office/drawing/2014/main" id="{73BCCA11-3E25-482A-AE76-D61797515BEE}"/>
                </a:ext>
              </a:extLst>
            </p:cNvPr>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zh-CN" altLang="en-US" sz="2160"/>
            </a:p>
          </p:txBody>
        </p:sp>
        <p:sp>
          <p:nvSpPr>
            <p:cNvPr id="7242" name="Line 134">
              <a:extLst>
                <a:ext uri="{FF2B5EF4-FFF2-40B4-BE49-F238E27FC236}">
                  <a16:creationId xmlns:a16="http://schemas.microsoft.com/office/drawing/2014/main" id="{A8DBCBCC-83B9-4DB6-887C-C7347689EBED}"/>
                </a:ext>
              </a:extLst>
            </p:cNvPr>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3" name="Line 135">
              <a:extLst>
                <a:ext uri="{FF2B5EF4-FFF2-40B4-BE49-F238E27FC236}">
                  <a16:creationId xmlns:a16="http://schemas.microsoft.com/office/drawing/2014/main" id="{57506D00-BBC8-4354-8CFB-93B59C6CD686}"/>
                </a:ext>
              </a:extLst>
            </p:cNvPr>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4" name="Line 136">
              <a:extLst>
                <a:ext uri="{FF2B5EF4-FFF2-40B4-BE49-F238E27FC236}">
                  <a16:creationId xmlns:a16="http://schemas.microsoft.com/office/drawing/2014/main" id="{64C2E91E-6210-45FE-A653-9CFB8463CC7F}"/>
                </a:ext>
              </a:extLst>
            </p:cNvPr>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5" name="Rectangle 137">
              <a:extLst>
                <a:ext uri="{FF2B5EF4-FFF2-40B4-BE49-F238E27FC236}">
                  <a16:creationId xmlns:a16="http://schemas.microsoft.com/office/drawing/2014/main" id="{04BC14EF-3235-4809-8FF5-8AAA3B63B5E6}"/>
                </a:ext>
              </a:extLst>
            </p:cNvPr>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46" name="Freeform 138">
              <a:extLst>
                <a:ext uri="{FF2B5EF4-FFF2-40B4-BE49-F238E27FC236}">
                  <a16:creationId xmlns:a16="http://schemas.microsoft.com/office/drawing/2014/main" id="{51FA1B0E-5FC1-4C08-90C7-1C916070E135}"/>
                </a:ext>
              </a:extLst>
            </p:cNvPr>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zh-CN" altLang="en-US" sz="2160"/>
            </a:p>
          </p:txBody>
        </p:sp>
        <p:sp>
          <p:nvSpPr>
            <p:cNvPr id="7247" name="Line 139">
              <a:extLst>
                <a:ext uri="{FF2B5EF4-FFF2-40B4-BE49-F238E27FC236}">
                  <a16:creationId xmlns:a16="http://schemas.microsoft.com/office/drawing/2014/main" id="{50D4C78A-F596-4834-B84D-903144C6A304}"/>
                </a:ext>
              </a:extLst>
            </p:cNvPr>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8" name="Line 140">
              <a:extLst>
                <a:ext uri="{FF2B5EF4-FFF2-40B4-BE49-F238E27FC236}">
                  <a16:creationId xmlns:a16="http://schemas.microsoft.com/office/drawing/2014/main" id="{0C9638DF-D894-4559-B18B-8461F390A479}"/>
                </a:ext>
              </a:extLst>
            </p:cNvPr>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9" name="Line 141">
              <a:extLst>
                <a:ext uri="{FF2B5EF4-FFF2-40B4-BE49-F238E27FC236}">
                  <a16:creationId xmlns:a16="http://schemas.microsoft.com/office/drawing/2014/main" id="{53A20465-7F99-4FA3-9EBC-DDA7048A3C7F}"/>
                </a:ext>
              </a:extLst>
            </p:cNvPr>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grpSp>
      <p:grpSp>
        <p:nvGrpSpPr>
          <p:cNvPr id="7222" name="Group 142">
            <a:extLst>
              <a:ext uri="{FF2B5EF4-FFF2-40B4-BE49-F238E27FC236}">
                <a16:creationId xmlns:a16="http://schemas.microsoft.com/office/drawing/2014/main" id="{B02C47FE-4000-4622-85C4-15B8F239E64C}"/>
              </a:ext>
            </a:extLst>
          </p:cNvPr>
          <p:cNvGrpSpPr>
            <a:grpSpLocks/>
          </p:cNvGrpSpPr>
          <p:nvPr/>
        </p:nvGrpSpPr>
        <p:grpSpPr bwMode="auto">
          <a:xfrm>
            <a:off x="5526089" y="5862639"/>
            <a:ext cx="460375" cy="365125"/>
            <a:chOff x="1014" y="912"/>
            <a:chExt cx="574" cy="596"/>
          </a:xfrm>
        </p:grpSpPr>
        <p:sp>
          <p:nvSpPr>
            <p:cNvPr id="7226" name="Freeform 143">
              <a:extLst>
                <a:ext uri="{FF2B5EF4-FFF2-40B4-BE49-F238E27FC236}">
                  <a16:creationId xmlns:a16="http://schemas.microsoft.com/office/drawing/2014/main" id="{2003ECCF-BD69-4D37-8615-26730960FC7C}"/>
                </a:ext>
              </a:extLst>
            </p:cNvPr>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zh-CN" altLang="en-US" sz="2160"/>
            </a:p>
          </p:txBody>
        </p:sp>
        <p:sp>
          <p:nvSpPr>
            <p:cNvPr id="7227" name="Line 144">
              <a:extLst>
                <a:ext uri="{FF2B5EF4-FFF2-40B4-BE49-F238E27FC236}">
                  <a16:creationId xmlns:a16="http://schemas.microsoft.com/office/drawing/2014/main" id="{388FA8F7-0FCE-4721-BA76-FC681446C09C}"/>
                </a:ext>
              </a:extLst>
            </p:cNvPr>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28" name="Line 145">
              <a:extLst>
                <a:ext uri="{FF2B5EF4-FFF2-40B4-BE49-F238E27FC236}">
                  <a16:creationId xmlns:a16="http://schemas.microsoft.com/office/drawing/2014/main" id="{32EB46AB-F670-4EC7-946A-B33D161310E7}"/>
                </a:ext>
              </a:extLst>
            </p:cNvPr>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29" name="Freeform 146">
              <a:extLst>
                <a:ext uri="{FF2B5EF4-FFF2-40B4-BE49-F238E27FC236}">
                  <a16:creationId xmlns:a16="http://schemas.microsoft.com/office/drawing/2014/main" id="{973FAE77-4493-47D0-AD57-5841EB386398}"/>
                </a:ext>
              </a:extLst>
            </p:cNvPr>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zh-CN" altLang="en-US" sz="2160"/>
            </a:p>
          </p:txBody>
        </p:sp>
        <p:sp>
          <p:nvSpPr>
            <p:cNvPr id="7230" name="Line 147">
              <a:extLst>
                <a:ext uri="{FF2B5EF4-FFF2-40B4-BE49-F238E27FC236}">
                  <a16:creationId xmlns:a16="http://schemas.microsoft.com/office/drawing/2014/main" id="{EE4286F9-8444-4B51-A14C-B78FF80E226A}"/>
                </a:ext>
              </a:extLst>
            </p:cNvPr>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31" name="Line 148">
              <a:extLst>
                <a:ext uri="{FF2B5EF4-FFF2-40B4-BE49-F238E27FC236}">
                  <a16:creationId xmlns:a16="http://schemas.microsoft.com/office/drawing/2014/main" id="{1B7ABACE-7681-4A3D-BE95-70E1149D9E4C}"/>
                </a:ext>
              </a:extLst>
            </p:cNvPr>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32" name="Line 149">
              <a:extLst>
                <a:ext uri="{FF2B5EF4-FFF2-40B4-BE49-F238E27FC236}">
                  <a16:creationId xmlns:a16="http://schemas.microsoft.com/office/drawing/2014/main" id="{9A6E8731-C862-49EB-A7E6-9724F8D92B3D}"/>
                </a:ext>
              </a:extLst>
            </p:cNvPr>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33" name="Rectangle 150">
              <a:extLst>
                <a:ext uri="{FF2B5EF4-FFF2-40B4-BE49-F238E27FC236}">
                  <a16:creationId xmlns:a16="http://schemas.microsoft.com/office/drawing/2014/main" id="{368DABE0-EA88-4B21-9372-7B592BA4A97A}"/>
                </a:ext>
              </a:extLst>
            </p:cNvPr>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34" name="Freeform 151">
              <a:extLst>
                <a:ext uri="{FF2B5EF4-FFF2-40B4-BE49-F238E27FC236}">
                  <a16:creationId xmlns:a16="http://schemas.microsoft.com/office/drawing/2014/main" id="{18FDD82F-DC5E-4AB7-9B71-D23214BD3BEA}"/>
                </a:ext>
              </a:extLst>
            </p:cNvPr>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zh-CN" altLang="en-US" sz="2160"/>
            </a:p>
          </p:txBody>
        </p:sp>
        <p:sp>
          <p:nvSpPr>
            <p:cNvPr id="7235" name="Line 152">
              <a:extLst>
                <a:ext uri="{FF2B5EF4-FFF2-40B4-BE49-F238E27FC236}">
                  <a16:creationId xmlns:a16="http://schemas.microsoft.com/office/drawing/2014/main" id="{9A84B28D-2E5F-4042-9876-675B940AD92F}"/>
                </a:ext>
              </a:extLst>
            </p:cNvPr>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36" name="Line 153">
              <a:extLst>
                <a:ext uri="{FF2B5EF4-FFF2-40B4-BE49-F238E27FC236}">
                  <a16:creationId xmlns:a16="http://schemas.microsoft.com/office/drawing/2014/main" id="{54B874E5-C1A9-4FDE-8695-B23725B007A4}"/>
                </a:ext>
              </a:extLst>
            </p:cNvPr>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37" name="Line 154">
              <a:extLst>
                <a:ext uri="{FF2B5EF4-FFF2-40B4-BE49-F238E27FC236}">
                  <a16:creationId xmlns:a16="http://schemas.microsoft.com/office/drawing/2014/main" id="{8A9DD932-9755-48DD-B4A6-A54673C14C19}"/>
                </a:ext>
              </a:extLst>
            </p:cNvPr>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grpSp>
      <p:cxnSp>
        <p:nvCxnSpPr>
          <p:cNvPr id="7223" name="AutoShape 155">
            <a:extLst>
              <a:ext uri="{FF2B5EF4-FFF2-40B4-BE49-F238E27FC236}">
                <a16:creationId xmlns:a16="http://schemas.microsoft.com/office/drawing/2014/main" id="{9C238F08-FCDE-4900-AC83-302FFC8C8F67}"/>
              </a:ext>
            </a:extLst>
          </p:cNvPr>
          <p:cNvCxnSpPr>
            <a:cxnSpLocks noChangeShapeType="1"/>
            <a:stCxn id="7234" idx="14"/>
            <a:endCxn id="7210" idx="2"/>
          </p:cNvCxnSpPr>
          <p:nvPr/>
        </p:nvCxnSpPr>
        <p:spPr bwMode="auto">
          <a:xfrm flipV="1">
            <a:off x="5895975" y="5776914"/>
            <a:ext cx="134938" cy="11271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24" name="AutoShape 156">
            <a:extLst>
              <a:ext uri="{FF2B5EF4-FFF2-40B4-BE49-F238E27FC236}">
                <a16:creationId xmlns:a16="http://schemas.microsoft.com/office/drawing/2014/main" id="{05634327-BD46-44B4-8B15-9EB492189A31}"/>
              </a:ext>
            </a:extLst>
          </p:cNvPr>
          <p:cNvCxnSpPr>
            <a:cxnSpLocks noChangeShapeType="1"/>
            <a:stCxn id="7238" idx="4"/>
            <a:endCxn id="7209" idx="1"/>
          </p:cNvCxnSpPr>
          <p:nvPr/>
        </p:nvCxnSpPr>
        <p:spPr bwMode="auto">
          <a:xfrm>
            <a:off x="5124450" y="5191125"/>
            <a:ext cx="258763" cy="9526"/>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25" name="Rectangle 157">
            <a:extLst>
              <a:ext uri="{FF2B5EF4-FFF2-40B4-BE49-F238E27FC236}">
                <a16:creationId xmlns:a16="http://schemas.microsoft.com/office/drawing/2014/main" id="{8E5592B6-6993-4D17-9A6E-6F723E2E384D}"/>
              </a:ext>
            </a:extLst>
          </p:cNvPr>
          <p:cNvSpPr>
            <a:spLocks noGrp="1" noChangeArrowheads="1"/>
          </p:cNvSpPr>
          <p:nvPr>
            <p:ph type="title"/>
          </p:nvPr>
        </p:nvSpPr>
        <p:spPr bwMode="auto">
          <a:xfrm>
            <a:off x="2209800" y="4000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问题的提出</a:t>
            </a:r>
          </a:p>
        </p:txBody>
      </p:sp>
      <p:sp>
        <p:nvSpPr>
          <p:cNvPr id="157" name="Rectangle 3">
            <a:extLst>
              <a:ext uri="{FF2B5EF4-FFF2-40B4-BE49-F238E27FC236}">
                <a16:creationId xmlns:a16="http://schemas.microsoft.com/office/drawing/2014/main" id="{BEB870BE-D920-40F5-BE2D-597E65B51410}"/>
              </a:ext>
            </a:extLst>
          </p:cNvPr>
          <p:cNvSpPr txBox="1">
            <a:spLocks noChangeArrowheads="1"/>
          </p:cNvSpPr>
          <p:nvPr/>
        </p:nvSpPr>
        <p:spPr bwMode="auto">
          <a:xfrm>
            <a:off x="5598556" y="1359124"/>
            <a:ext cx="3943332" cy="1526951"/>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38" indent="-285738"/>
            <a:r>
              <a:rPr lang="en-US" altLang="zh-CN" sz="2000" smtClean="0"/>
              <a:t>Before Internet</a:t>
            </a:r>
          </a:p>
          <a:p>
            <a:pPr lvl="1"/>
            <a:r>
              <a:rPr lang="zh-CN" altLang="en-US" sz="1800" smtClean="0"/>
              <a:t>不同的服务 </a:t>
            </a:r>
          </a:p>
          <a:p>
            <a:pPr lvl="1"/>
            <a:r>
              <a:rPr lang="en-US" altLang="zh-CN" sz="1800" smtClean="0"/>
              <a:t>e.g., </a:t>
            </a:r>
            <a:r>
              <a:rPr lang="zh-CN" altLang="en-US" sz="1800" smtClean="0"/>
              <a:t>可靠性，时延</a:t>
            </a:r>
          </a:p>
          <a:p>
            <a:pPr lvl="1"/>
            <a:r>
              <a:rPr lang="zh-CN" altLang="en-US" sz="1800" smtClean="0"/>
              <a:t>不同的接口 </a:t>
            </a:r>
          </a:p>
          <a:p>
            <a:pPr lvl="1"/>
            <a:r>
              <a:rPr lang="en-US" altLang="zh-CN" sz="1800" smtClean="0"/>
              <a:t>e.g., </a:t>
            </a:r>
            <a:r>
              <a:rPr lang="zh-CN" altLang="en-US" sz="1800" smtClean="0"/>
              <a:t>所能传输的报文长度、地址格式等 </a:t>
            </a:r>
          </a:p>
          <a:p>
            <a:pPr lvl="1"/>
            <a:r>
              <a:rPr lang="zh-CN" altLang="en-US" sz="1800" smtClean="0"/>
              <a:t>不同的协议</a:t>
            </a:r>
          </a:p>
          <a:p>
            <a:pPr lvl="1"/>
            <a:r>
              <a:rPr lang="en-US" altLang="zh-CN" sz="1800" smtClean="0"/>
              <a:t>e.g., </a:t>
            </a:r>
            <a:r>
              <a:rPr lang="zh-CN" altLang="en-US" sz="1800" smtClean="0"/>
              <a:t>路由协议等 </a:t>
            </a:r>
            <a:endParaRPr lang="zh-CN" altLang="en-US" sz="1800"/>
          </a:p>
        </p:txBody>
      </p:sp>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30915" name="Rectangle 1027">
            <a:extLst>
              <a:ext uri="{FF2B5EF4-FFF2-40B4-BE49-F238E27FC236}">
                <a16:creationId xmlns:a16="http://schemas.microsoft.com/office/drawing/2014/main" id="{83539AFD-551F-4713-B05D-C95281AA3899}"/>
              </a:ext>
            </a:extLst>
          </p:cNvPr>
          <p:cNvSpPr>
            <a:spLocks noGrp="1" noChangeArrowheads="1"/>
          </p:cNvSpPr>
          <p:nvPr>
            <p:ph type="body" idx="1"/>
          </p:nvPr>
        </p:nvSpPr>
        <p:spPr bwMode="auto">
          <a:xfrm>
            <a:off x="2352676" y="1431925"/>
            <a:ext cx="7772400" cy="3043238"/>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pPr>
            <a:r>
              <a:rPr lang="zh-CN" altLang="en-US"/>
              <a:t>重新制定一个全球范围的分组交换网络标准 </a:t>
            </a:r>
          </a:p>
          <a:p>
            <a:pPr lvl="1" eaLnBrk="1" hangingPunct="1">
              <a:lnSpc>
                <a:spcPct val="90000"/>
              </a:lnSpc>
            </a:pPr>
            <a:r>
              <a:rPr lang="zh-CN" altLang="en-US"/>
              <a:t>经济上不可行</a:t>
            </a:r>
          </a:p>
          <a:p>
            <a:pPr lvl="1" eaLnBrk="1" hangingPunct="1">
              <a:lnSpc>
                <a:spcPct val="90000"/>
              </a:lnSpc>
            </a:pPr>
            <a:r>
              <a:rPr lang="zh-CN" altLang="en-US"/>
              <a:t>推广上不可行</a:t>
            </a:r>
          </a:p>
          <a:p>
            <a:pPr eaLnBrk="1" hangingPunct="1">
              <a:lnSpc>
                <a:spcPct val="90000"/>
              </a:lnSpc>
            </a:pPr>
            <a:r>
              <a:rPr lang="zh-CN" altLang="en-US"/>
              <a:t>让所有的主机都实现与之相连网络协议 </a:t>
            </a:r>
          </a:p>
          <a:p>
            <a:pPr lvl="1" eaLnBrk="1" hangingPunct="1">
              <a:lnSpc>
                <a:spcPct val="90000"/>
              </a:lnSpc>
            </a:pPr>
            <a:r>
              <a:rPr lang="zh-CN" altLang="en-US"/>
              <a:t>复杂性太大</a:t>
            </a:r>
          </a:p>
        </p:txBody>
      </p:sp>
      <p:sp>
        <p:nvSpPr>
          <p:cNvPr id="9219" name="Rectangle 1028">
            <a:extLst>
              <a:ext uri="{FF2B5EF4-FFF2-40B4-BE49-F238E27FC236}">
                <a16:creationId xmlns:a16="http://schemas.microsoft.com/office/drawing/2014/main" id="{41E7118A-DC53-4190-B2C8-CDDFA72B956A}"/>
              </a:ext>
            </a:extLst>
          </p:cNvPr>
          <p:cNvSpPr>
            <a:spLocks noGrp="1" noChangeArrowheads="1"/>
          </p:cNvSpPr>
          <p:nvPr>
            <p:ph type="title"/>
          </p:nvPr>
        </p:nvSpPr>
        <p:spPr bwMode="auto">
          <a:xfrm>
            <a:off x="2209800" y="4000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可能的解决办法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309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309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3091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83091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8309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0915" grpId="0" build="p" bldLvl="2" autoUpdateAnimBg="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C3D11AB1-C2BE-4845-A389-72D73DE4B2BB}"/>
              </a:ext>
            </a:extLst>
          </p:cNvPr>
          <p:cNvSpPr>
            <a:spLocks noGrp="1" noChangeArrowheads="1"/>
          </p:cNvSpPr>
          <p:nvPr>
            <p:ph type="title"/>
          </p:nvPr>
        </p:nvSpPr>
        <p:spPr bwMode="auto">
          <a:xfrm>
            <a:off x="2209800" y="3810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互连设备</a:t>
            </a:r>
          </a:p>
        </p:txBody>
      </p:sp>
      <p:sp>
        <p:nvSpPr>
          <p:cNvPr id="1693699" name="Text Box 3">
            <a:extLst>
              <a:ext uri="{FF2B5EF4-FFF2-40B4-BE49-F238E27FC236}">
                <a16:creationId xmlns:a16="http://schemas.microsoft.com/office/drawing/2014/main" id="{459AB263-F431-48D8-989A-BB05697DF704}"/>
              </a:ext>
            </a:extLst>
          </p:cNvPr>
          <p:cNvSpPr txBox="1">
            <a:spLocks noChangeArrowheads="1"/>
          </p:cNvSpPr>
          <p:nvPr/>
        </p:nvSpPr>
        <p:spPr bwMode="auto">
          <a:xfrm>
            <a:off x="3152775" y="2152652"/>
            <a:ext cx="6916738" cy="2653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20000"/>
              </a:spcBef>
            </a:pPr>
            <a:r>
              <a:rPr lang="zh-CN" altLang="en-US" sz="3200" b="1">
                <a:solidFill>
                  <a:schemeClr val="tx1"/>
                </a:solidFill>
                <a:latin typeface="宋体" panose="02010600030101010101" pitchFamily="2" charset="-122"/>
              </a:rPr>
              <a:t>有许多种不同的网络互连设备：</a:t>
            </a:r>
          </a:p>
          <a:p>
            <a:pPr algn="l">
              <a:spcBef>
                <a:spcPct val="20000"/>
              </a:spcBef>
              <a:buClr>
                <a:schemeClr val="folHlink"/>
              </a:buClr>
              <a:buFont typeface="Wingdings" panose="05000000000000000000" pitchFamily="2" charset="2"/>
              <a:buChar char="q"/>
            </a:pPr>
            <a:r>
              <a:rPr lang="zh-CN" altLang="en-US" sz="2800" b="1">
                <a:solidFill>
                  <a:schemeClr val="tx1"/>
                </a:solidFill>
                <a:latin typeface="宋体" panose="02010600030101010101" pitchFamily="2" charset="-122"/>
              </a:rPr>
              <a:t>中继器（</a:t>
            </a:r>
            <a:r>
              <a:rPr lang="en-US" altLang="zh-CN" sz="2800" b="1">
                <a:solidFill>
                  <a:schemeClr val="tx1"/>
                </a:solidFill>
                <a:latin typeface="宋体" panose="02010600030101010101" pitchFamily="2" charset="-122"/>
              </a:rPr>
              <a:t>Repeater</a:t>
            </a:r>
            <a:r>
              <a:rPr lang="zh-CN" altLang="en-US" sz="2800" b="1">
                <a:solidFill>
                  <a:schemeClr val="tx1"/>
                </a:solidFill>
                <a:latin typeface="宋体" panose="02010600030101010101" pitchFamily="2" charset="-122"/>
              </a:rPr>
              <a:t>）</a:t>
            </a:r>
            <a:r>
              <a:rPr lang="en-US" altLang="zh-CN" sz="2800" b="1">
                <a:solidFill>
                  <a:schemeClr val="tx1"/>
                </a:solidFill>
                <a:latin typeface="宋体" panose="02010600030101010101" pitchFamily="2" charset="-122"/>
              </a:rPr>
              <a:t>/</a:t>
            </a:r>
            <a:r>
              <a:rPr lang="zh-CN" altLang="en-US" sz="2800" b="1">
                <a:solidFill>
                  <a:schemeClr val="tx1"/>
                </a:solidFill>
                <a:latin typeface="宋体" panose="02010600030101010101" pitchFamily="2" charset="-122"/>
              </a:rPr>
              <a:t>集线器（</a:t>
            </a:r>
            <a:r>
              <a:rPr lang="en-US" altLang="zh-CN" sz="2800" b="1">
                <a:solidFill>
                  <a:schemeClr val="tx1"/>
                </a:solidFill>
                <a:latin typeface="宋体" panose="02010600030101010101" pitchFamily="2" charset="-122"/>
              </a:rPr>
              <a:t>Hub</a:t>
            </a:r>
            <a:r>
              <a:rPr lang="zh-CN" altLang="en-US" sz="2800" b="1">
                <a:solidFill>
                  <a:schemeClr val="tx1"/>
                </a:solidFill>
                <a:latin typeface="宋体" panose="02010600030101010101" pitchFamily="2" charset="-122"/>
              </a:rPr>
              <a:t>）</a:t>
            </a:r>
          </a:p>
          <a:p>
            <a:pPr algn="l">
              <a:spcBef>
                <a:spcPct val="20000"/>
              </a:spcBef>
              <a:buClr>
                <a:schemeClr val="folHlink"/>
              </a:buClr>
              <a:buFont typeface="Wingdings" panose="05000000000000000000" pitchFamily="2" charset="2"/>
              <a:buChar char="q"/>
            </a:pPr>
            <a:r>
              <a:rPr lang="zh-CN" altLang="en-US" sz="2800" b="1">
                <a:solidFill>
                  <a:schemeClr val="tx1"/>
                </a:solidFill>
                <a:latin typeface="宋体" panose="02010600030101010101" pitchFamily="2" charset="-122"/>
              </a:rPr>
              <a:t>网桥（</a:t>
            </a:r>
            <a:r>
              <a:rPr lang="en-US" altLang="zh-CN" sz="2800" b="1">
                <a:solidFill>
                  <a:schemeClr val="tx1"/>
                </a:solidFill>
                <a:latin typeface="宋体" panose="02010600030101010101" pitchFamily="2" charset="-122"/>
              </a:rPr>
              <a:t>Bridge</a:t>
            </a:r>
            <a:r>
              <a:rPr lang="zh-CN" altLang="en-US" sz="2800" b="1">
                <a:solidFill>
                  <a:schemeClr val="tx1"/>
                </a:solidFill>
                <a:latin typeface="宋体" panose="02010600030101010101" pitchFamily="2" charset="-122"/>
              </a:rPr>
              <a:t>）</a:t>
            </a:r>
            <a:r>
              <a:rPr lang="en-US" altLang="zh-CN" sz="2800" b="1">
                <a:solidFill>
                  <a:schemeClr val="tx1"/>
                </a:solidFill>
                <a:latin typeface="宋体" panose="02010600030101010101" pitchFamily="2" charset="-122"/>
              </a:rPr>
              <a:t>/</a:t>
            </a:r>
            <a:r>
              <a:rPr lang="zh-CN" altLang="en-US" sz="2800" b="1">
                <a:solidFill>
                  <a:schemeClr val="tx1"/>
                </a:solidFill>
                <a:latin typeface="宋体" panose="02010600030101010101" pitchFamily="2" charset="-122"/>
              </a:rPr>
              <a:t>交换机（</a:t>
            </a:r>
            <a:r>
              <a:rPr lang="en-US" altLang="zh-CN" sz="2800" b="1">
                <a:solidFill>
                  <a:schemeClr val="tx1"/>
                </a:solidFill>
                <a:latin typeface="宋体" panose="02010600030101010101" pitchFamily="2" charset="-122"/>
              </a:rPr>
              <a:t>Switch</a:t>
            </a:r>
            <a:r>
              <a:rPr lang="zh-CN" altLang="en-US" sz="2800" b="1">
                <a:solidFill>
                  <a:schemeClr val="tx1"/>
                </a:solidFill>
                <a:latin typeface="宋体" panose="02010600030101010101" pitchFamily="2" charset="-122"/>
              </a:rPr>
              <a:t>）</a:t>
            </a:r>
          </a:p>
          <a:p>
            <a:pPr algn="l">
              <a:spcBef>
                <a:spcPct val="20000"/>
              </a:spcBef>
              <a:buClr>
                <a:schemeClr val="folHlink"/>
              </a:buClr>
              <a:buFont typeface="Wingdings" panose="05000000000000000000" pitchFamily="2" charset="2"/>
              <a:buChar char="q"/>
            </a:pPr>
            <a:r>
              <a:rPr lang="zh-CN" altLang="en-US" sz="2800" b="1">
                <a:solidFill>
                  <a:schemeClr val="tx1"/>
                </a:solidFill>
                <a:latin typeface="宋体" panose="02010600030101010101" pitchFamily="2" charset="-122"/>
              </a:rPr>
              <a:t>路由器（</a:t>
            </a:r>
            <a:r>
              <a:rPr lang="en-US" altLang="zh-CN" sz="2800" b="1">
                <a:solidFill>
                  <a:schemeClr val="tx1"/>
                </a:solidFill>
                <a:latin typeface="宋体" panose="02010600030101010101" pitchFamily="2" charset="-122"/>
              </a:rPr>
              <a:t>Router</a:t>
            </a:r>
            <a:r>
              <a:rPr lang="zh-CN" altLang="en-US" sz="2800" b="1">
                <a:solidFill>
                  <a:schemeClr val="tx1"/>
                </a:solidFill>
                <a:latin typeface="宋体" panose="02010600030101010101" pitchFamily="2" charset="-122"/>
              </a:rPr>
              <a:t>）</a:t>
            </a:r>
          </a:p>
          <a:p>
            <a:pPr algn="l">
              <a:spcBef>
                <a:spcPct val="20000"/>
              </a:spcBef>
              <a:buClr>
                <a:schemeClr val="folHlink"/>
              </a:buClr>
              <a:buFont typeface="Wingdings" panose="05000000000000000000" pitchFamily="2" charset="2"/>
              <a:buChar char="q"/>
            </a:pPr>
            <a:r>
              <a:rPr lang="zh-CN" altLang="en-US" sz="2800" b="1">
                <a:solidFill>
                  <a:schemeClr val="tx1"/>
                </a:solidFill>
                <a:latin typeface="宋体" panose="02010600030101010101" pitchFamily="2" charset="-122"/>
              </a:rPr>
              <a:t>网关（</a:t>
            </a:r>
            <a:r>
              <a:rPr lang="en-US" altLang="zh-CN" sz="2800" b="1">
                <a:solidFill>
                  <a:schemeClr val="tx1"/>
                </a:solidFill>
                <a:latin typeface="宋体" panose="02010600030101010101" pitchFamily="2" charset="-122"/>
              </a:rPr>
              <a:t>Gateway</a:t>
            </a:r>
            <a:r>
              <a:rPr lang="zh-CN" altLang="en-US" sz="2800" b="1">
                <a:solidFill>
                  <a:schemeClr val="tx1"/>
                </a:solidFill>
                <a:latin typeface="宋体" panose="02010600030101010101" pitchFamily="2" charset="-122"/>
              </a:rPr>
              <a:t>）</a:t>
            </a:r>
          </a:p>
        </p:txBody>
      </p:sp>
      <p:pic>
        <p:nvPicPr>
          <p:cNvPr id="1693700" name="Picture 4">
            <a:extLst>
              <a:ext uri="{FF2B5EF4-FFF2-40B4-BE49-F238E27FC236}">
                <a16:creationId xmlns:a16="http://schemas.microsoft.com/office/drawing/2014/main" id="{6509F633-4A70-4C39-BD42-B55815E0E2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4565" y="1317625"/>
            <a:ext cx="8027987"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93704" name="Text Box 8">
            <a:extLst>
              <a:ext uri="{FF2B5EF4-FFF2-40B4-BE49-F238E27FC236}">
                <a16:creationId xmlns:a16="http://schemas.microsoft.com/office/drawing/2014/main" id="{37C4BD4B-D55D-4096-B8AE-D2156378019C}"/>
              </a:ext>
            </a:extLst>
          </p:cNvPr>
          <p:cNvSpPr txBox="1">
            <a:spLocks noChangeArrowheads="1"/>
          </p:cNvSpPr>
          <p:nvPr/>
        </p:nvSpPr>
        <p:spPr bwMode="auto">
          <a:xfrm>
            <a:off x="2052639" y="5321301"/>
            <a:ext cx="825182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sz="2400" b="1">
                <a:solidFill>
                  <a:srgbClr val="000000"/>
                </a:solidFill>
              </a:rPr>
              <a:t>这四种设备分别使用</a:t>
            </a:r>
            <a:r>
              <a:rPr kumimoji="1" lang="en-US" altLang="zh-CN" sz="2400" b="1">
                <a:solidFill>
                  <a:srgbClr val="000000"/>
                </a:solidFill>
              </a:rPr>
              <a:t>OSI</a:t>
            </a:r>
            <a:r>
              <a:rPr kumimoji="1" lang="zh-CN" altLang="en-US" sz="2400" b="1">
                <a:solidFill>
                  <a:srgbClr val="000000"/>
                </a:solidFill>
              </a:rPr>
              <a:t>模型的不同层的协议。</a:t>
            </a:r>
            <a:r>
              <a:rPr kumimoji="1" lang="zh-CN" altLang="en-US" sz="3200" b="1">
                <a:solidFill>
                  <a:srgbClr val="000000"/>
                </a:solidFill>
              </a:rPr>
              <a:t> </a:t>
            </a:r>
            <a:endParaRPr kumimoji="1" lang="zh-CN" altLang="en-US" sz="320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93699"/>
                                        </p:tgtEl>
                                        <p:attrNameLst>
                                          <p:attrName>style.visibility</p:attrName>
                                        </p:attrNameLst>
                                      </p:cBhvr>
                                      <p:to>
                                        <p:strVal val="visible"/>
                                      </p:to>
                                    </p:set>
                                    <p:anim calcmode="lin" valueType="num">
                                      <p:cBhvr additive="base">
                                        <p:cTn id="7" dur="500" fill="hold"/>
                                        <p:tgtEl>
                                          <p:spTgt spid="1693699"/>
                                        </p:tgtEl>
                                        <p:attrNameLst>
                                          <p:attrName>ppt_x</p:attrName>
                                        </p:attrNameLst>
                                      </p:cBhvr>
                                      <p:tavLst>
                                        <p:tav tm="0">
                                          <p:val>
                                            <p:strVal val="0-#ppt_w/2"/>
                                          </p:val>
                                        </p:tav>
                                        <p:tav tm="100000">
                                          <p:val>
                                            <p:strVal val="#ppt_x"/>
                                          </p:val>
                                        </p:tav>
                                      </p:tavLst>
                                    </p:anim>
                                    <p:anim calcmode="lin" valueType="num">
                                      <p:cBhvr additive="base">
                                        <p:cTn id="8" dur="500" fill="hold"/>
                                        <p:tgtEl>
                                          <p:spTgt spid="169369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93704">
                                            <p:txEl>
                                              <p:pRg st="0" end="0"/>
                                            </p:txEl>
                                          </p:spTgt>
                                        </p:tgtEl>
                                        <p:attrNameLst>
                                          <p:attrName>style.visibility</p:attrName>
                                        </p:attrNameLst>
                                      </p:cBhvr>
                                      <p:to>
                                        <p:strVal val="visible"/>
                                      </p:to>
                                    </p:set>
                                    <p:anim calcmode="lin" valueType="num">
                                      <p:cBhvr additive="base">
                                        <p:cTn id="13" dur="500" fill="hold"/>
                                        <p:tgtEl>
                                          <p:spTgt spid="1693704">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693704">
                                            <p:txEl>
                                              <p:pRg st="0" end="0"/>
                                            </p:txEl>
                                          </p:spTgt>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693704">
                                            <p:txEl>
                                              <p:pRg st="0" end="0"/>
                                            </p:txEl>
                                          </p:spTgt>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693700"/>
                                        </p:tgtEl>
                                        <p:attrNameLst>
                                          <p:attrName>style.visibility</p:attrName>
                                        </p:attrNameLst>
                                      </p:cBhvr>
                                      <p:to>
                                        <p:strVal val="visible"/>
                                      </p:to>
                                    </p:set>
                                    <p:anim calcmode="lin" valueType="num">
                                      <p:cBhvr additive="base">
                                        <p:cTn id="19" dur="500" fill="hold"/>
                                        <p:tgtEl>
                                          <p:spTgt spid="1693700"/>
                                        </p:tgtEl>
                                        <p:attrNameLst>
                                          <p:attrName>ppt_x</p:attrName>
                                        </p:attrNameLst>
                                      </p:cBhvr>
                                      <p:tavLst>
                                        <p:tav tm="0">
                                          <p:val>
                                            <p:strVal val="1+#ppt_w/2"/>
                                          </p:val>
                                        </p:tav>
                                        <p:tav tm="100000">
                                          <p:val>
                                            <p:strVal val="#ppt_x"/>
                                          </p:val>
                                        </p:tav>
                                      </p:tavLst>
                                    </p:anim>
                                    <p:anim calcmode="lin" valueType="num">
                                      <p:cBhvr additive="base">
                                        <p:cTn id="20" dur="500" fill="hold"/>
                                        <p:tgtEl>
                                          <p:spTgt spid="16937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3699" grpId="0" autoUpdateAnimBg="0"/>
      <p:bldP spid="1693704" grpId="0" build="p" autoUpdateAnimBg="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FB8CACC5-21F6-47FA-9FDD-9E548DEF3980}"/>
              </a:ext>
            </a:extLst>
          </p:cNvPr>
          <p:cNvSpPr>
            <a:spLocks noGrp="1" noChangeArrowheads="1"/>
          </p:cNvSpPr>
          <p:nvPr>
            <p:ph type="title"/>
          </p:nvPr>
        </p:nvSpPr>
        <p:spPr bwMode="auto">
          <a:xfrm>
            <a:off x="2209800" y="4000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互连设备</a:t>
            </a:r>
          </a:p>
        </p:txBody>
      </p:sp>
      <p:sp>
        <p:nvSpPr>
          <p:cNvPr id="1695747" name="Text Box 3">
            <a:extLst>
              <a:ext uri="{FF2B5EF4-FFF2-40B4-BE49-F238E27FC236}">
                <a16:creationId xmlns:a16="http://schemas.microsoft.com/office/drawing/2014/main" id="{ABAC997D-121A-417C-9273-7DA04783E1C6}"/>
              </a:ext>
            </a:extLst>
          </p:cNvPr>
          <p:cNvSpPr txBox="1">
            <a:spLocks noChangeArrowheads="1"/>
          </p:cNvSpPr>
          <p:nvPr/>
        </p:nvSpPr>
        <p:spPr bwMode="auto">
          <a:xfrm>
            <a:off x="2046288" y="1249363"/>
            <a:ext cx="8253412" cy="4542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5263" indent="-195263" algn="ctr">
              <a:defRPr sz="1200">
                <a:solidFill>
                  <a:srgbClr val="CACACA"/>
                </a:solidFill>
                <a:latin typeface="Times New Roman" panose="02020603050405020304" pitchFamily="18" charset="0"/>
                <a:ea typeface="宋体" panose="02010600030101010101" pitchFamily="2" charset="-122"/>
              </a:defRPr>
            </a:lvl1pPr>
            <a:lvl2pPr marL="658813" indent="-201613"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lnSpc>
                <a:spcPct val="90000"/>
              </a:lnSpc>
              <a:spcBef>
                <a:spcPct val="20000"/>
              </a:spcBef>
              <a:buClr>
                <a:schemeClr val="folHlink"/>
              </a:buClr>
              <a:buSzPct val="75000"/>
              <a:buFont typeface="Wingdings" panose="05000000000000000000" pitchFamily="2" charset="2"/>
              <a:buChar char="Ø"/>
            </a:pPr>
            <a:r>
              <a:rPr lang="zh-CN" altLang="en-US" sz="2400" b="1">
                <a:solidFill>
                  <a:schemeClr val="folHlink"/>
                </a:solidFill>
                <a:latin typeface="Arial" panose="020B0604020202020204" pitchFamily="34" charset="0"/>
              </a:rPr>
              <a:t>中继器（</a:t>
            </a:r>
            <a:r>
              <a:rPr lang="en-US" altLang="zh-CN" sz="2400" b="1">
                <a:solidFill>
                  <a:schemeClr val="folHlink"/>
                </a:solidFill>
                <a:latin typeface="Arial" panose="020B0604020202020204" pitchFamily="34" charset="0"/>
              </a:rPr>
              <a:t>Repeater</a:t>
            </a:r>
            <a:r>
              <a:rPr lang="zh-CN" altLang="en-US" sz="2400" b="1">
                <a:solidFill>
                  <a:schemeClr val="folHlink"/>
                </a:solidFill>
                <a:latin typeface="Arial" panose="020B0604020202020204" pitchFamily="34" charset="0"/>
              </a:rPr>
              <a:t>）</a:t>
            </a:r>
            <a:r>
              <a:rPr lang="en-US" altLang="zh-CN" sz="2400" b="1">
                <a:solidFill>
                  <a:schemeClr val="folHlink"/>
                </a:solidFill>
                <a:latin typeface="Arial" panose="020B0604020202020204" pitchFamily="34" charset="0"/>
              </a:rPr>
              <a:t>:</a:t>
            </a:r>
            <a:r>
              <a:rPr lang="en-US" altLang="zh-CN" sz="2400">
                <a:latin typeface="Arial" panose="020B0604020202020204" pitchFamily="34" charset="0"/>
              </a:rPr>
              <a:t> </a:t>
            </a:r>
            <a:r>
              <a:rPr lang="zh-CN" altLang="en-US" sz="2000">
                <a:solidFill>
                  <a:schemeClr val="tx1"/>
                </a:solidFill>
                <a:latin typeface="Arial" panose="020B0604020202020204" pitchFamily="34" charset="0"/>
              </a:rPr>
              <a:t>存储转发数据和冲突信号的物理层设备</a:t>
            </a:r>
            <a:r>
              <a:rPr lang="en-US" altLang="zh-CN" sz="2000">
                <a:solidFill>
                  <a:schemeClr val="tx1"/>
                </a:solidFill>
                <a:latin typeface="Arial" panose="020B0604020202020204" pitchFamily="34" charset="0"/>
              </a:rPr>
              <a:t>---- </a:t>
            </a:r>
            <a:r>
              <a:rPr lang="zh-CN" altLang="en-US" sz="2000">
                <a:solidFill>
                  <a:schemeClr val="tx1"/>
                </a:solidFill>
                <a:latin typeface="Arial" panose="020B0604020202020204" pitchFamily="34" charset="0"/>
              </a:rPr>
              <a:t>一个数字信号放大器。</a:t>
            </a:r>
            <a:r>
              <a:rPr lang="en-US" altLang="zh-CN" sz="2000">
                <a:solidFill>
                  <a:schemeClr val="tx1"/>
                </a:solidFill>
                <a:latin typeface="Arial" panose="020B0604020202020204" pitchFamily="34" charset="0"/>
              </a:rPr>
              <a:t>(</a:t>
            </a:r>
            <a:r>
              <a:rPr lang="zh-CN" altLang="en-US" sz="2000">
                <a:solidFill>
                  <a:schemeClr val="tx1"/>
                </a:solidFill>
                <a:latin typeface="Arial" panose="020B0604020202020204" pitchFamily="34" charset="0"/>
              </a:rPr>
              <a:t>同一个冲突域</a:t>
            </a:r>
            <a:r>
              <a:rPr lang="en-US" altLang="zh-CN" sz="2000">
                <a:solidFill>
                  <a:schemeClr val="tx1"/>
                </a:solidFill>
                <a:latin typeface="Arial" panose="020B0604020202020204" pitchFamily="34" charset="0"/>
              </a:rPr>
              <a:t>)</a:t>
            </a:r>
            <a:endParaRPr lang="en-US" altLang="zh-CN" sz="2000">
              <a:latin typeface="Arial" panose="020B0604020202020204" pitchFamily="34" charset="0"/>
            </a:endParaRPr>
          </a:p>
          <a:p>
            <a:pPr algn="l">
              <a:lnSpc>
                <a:spcPct val="90000"/>
              </a:lnSpc>
              <a:spcBef>
                <a:spcPct val="20000"/>
              </a:spcBef>
              <a:buClr>
                <a:schemeClr val="folHlink"/>
              </a:buClr>
              <a:buSzPct val="75000"/>
              <a:buFont typeface="Wingdings" panose="05000000000000000000" pitchFamily="2" charset="2"/>
              <a:buChar char="Ø"/>
            </a:pPr>
            <a:r>
              <a:rPr lang="zh-CN" altLang="en-US" sz="2400" b="1">
                <a:solidFill>
                  <a:schemeClr val="folHlink"/>
                </a:solidFill>
                <a:latin typeface="Arial" panose="020B0604020202020204" pitchFamily="34" charset="0"/>
              </a:rPr>
              <a:t>集线器（</a:t>
            </a:r>
            <a:r>
              <a:rPr lang="en-US" altLang="zh-CN" sz="2400" b="1" u="sng">
                <a:solidFill>
                  <a:schemeClr val="folHlink"/>
                </a:solidFill>
                <a:latin typeface="Arial" panose="020B0604020202020204" pitchFamily="34" charset="0"/>
              </a:rPr>
              <a:t>Hub</a:t>
            </a:r>
            <a:r>
              <a:rPr lang="zh-CN" altLang="en-US" sz="2400" b="1" u="sng">
                <a:solidFill>
                  <a:schemeClr val="folHlink"/>
                </a:solidFill>
                <a:latin typeface="Arial" panose="020B0604020202020204" pitchFamily="34" charset="0"/>
              </a:rPr>
              <a:t>）</a:t>
            </a:r>
            <a:r>
              <a:rPr lang="en-US" altLang="zh-CN" sz="2400" b="1" u="sng">
                <a:solidFill>
                  <a:schemeClr val="folHlink"/>
                </a:solidFill>
                <a:latin typeface="Arial" panose="020B0604020202020204" pitchFamily="34" charset="0"/>
              </a:rPr>
              <a:t>:</a:t>
            </a:r>
            <a:r>
              <a:rPr lang="en-US" altLang="zh-CN" sz="2400">
                <a:latin typeface="Arial" panose="020B0604020202020204" pitchFamily="34" charset="0"/>
              </a:rPr>
              <a:t> </a:t>
            </a:r>
            <a:r>
              <a:rPr lang="zh-CN" altLang="en-US" sz="2400">
                <a:solidFill>
                  <a:schemeClr val="tx1"/>
                </a:solidFill>
                <a:latin typeface="Arial" panose="020B0604020202020204" pitchFamily="34" charset="0"/>
              </a:rPr>
              <a:t>多端口中继器 </a:t>
            </a:r>
            <a:r>
              <a:rPr lang="en-US" altLang="zh-CN" sz="2400">
                <a:solidFill>
                  <a:schemeClr val="tx1"/>
                </a:solidFill>
                <a:latin typeface="Arial" panose="020B0604020202020204" pitchFamily="34" charset="0"/>
              </a:rPr>
              <a:t>+ </a:t>
            </a:r>
            <a:r>
              <a:rPr lang="zh-CN" altLang="en-US" sz="2400">
                <a:solidFill>
                  <a:schemeClr val="tx1"/>
                </a:solidFill>
                <a:latin typeface="Arial" panose="020B0604020202020204" pitchFamily="34" charset="0"/>
              </a:rPr>
              <a:t>故障检测</a:t>
            </a:r>
          </a:p>
          <a:p>
            <a:pPr lvl="1"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 集线器中并没有“转发表”，它们简单地在物理层广播信号</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没有过滤功能</a:t>
            </a:r>
            <a:r>
              <a:rPr lang="en-US" altLang="zh-CN" sz="2400">
                <a:solidFill>
                  <a:schemeClr val="tx1"/>
                </a:solidFill>
                <a:latin typeface="Arial" panose="020B0604020202020204" pitchFamily="34" charset="0"/>
              </a:rPr>
              <a:t>.</a:t>
            </a:r>
            <a:endParaRPr lang="en-US" altLang="zh-CN" sz="2400" b="1" u="sng">
              <a:solidFill>
                <a:schemeClr val="folHlink"/>
              </a:solidFill>
              <a:latin typeface="Arial" panose="020B0604020202020204" pitchFamily="34" charset="0"/>
            </a:endParaRPr>
          </a:p>
          <a:p>
            <a:pPr algn="l">
              <a:lnSpc>
                <a:spcPct val="90000"/>
              </a:lnSpc>
              <a:spcBef>
                <a:spcPct val="20000"/>
              </a:spcBef>
              <a:buClr>
                <a:schemeClr val="folHlink"/>
              </a:buClr>
              <a:buSzPct val="75000"/>
              <a:buFont typeface="Wingdings" panose="05000000000000000000" pitchFamily="2" charset="2"/>
              <a:buChar char="Ø"/>
            </a:pPr>
            <a:r>
              <a:rPr lang="zh-CN" altLang="en-US" sz="2400" b="1" u="sng">
                <a:solidFill>
                  <a:schemeClr val="folHlink"/>
                </a:solidFill>
                <a:latin typeface="Arial" panose="020B0604020202020204" pitchFamily="34" charset="0"/>
              </a:rPr>
              <a:t>网桥（</a:t>
            </a:r>
            <a:r>
              <a:rPr lang="en-US" altLang="zh-CN" sz="2400" b="1" u="sng">
                <a:solidFill>
                  <a:schemeClr val="folHlink"/>
                </a:solidFill>
                <a:latin typeface="Arial" panose="020B0604020202020204" pitchFamily="34" charset="0"/>
              </a:rPr>
              <a:t>Bridge):</a:t>
            </a:r>
            <a:r>
              <a:rPr lang="en-US" altLang="zh-CN" sz="2400">
                <a:latin typeface="Arial" panose="020B0604020202020204" pitchFamily="34" charset="0"/>
              </a:rPr>
              <a:t> </a:t>
            </a:r>
            <a:r>
              <a:rPr lang="zh-CN" altLang="en-US" sz="2400">
                <a:solidFill>
                  <a:schemeClr val="tx1"/>
                </a:solidFill>
                <a:latin typeface="Arial" panose="020B0604020202020204" pitchFamily="34" charset="0"/>
              </a:rPr>
              <a:t>连接两个或多个冲突域的数据链路层设备</a:t>
            </a:r>
          </a:p>
          <a:p>
            <a:pPr lvl="1"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一个网桥把分组过滤出来，并把它们从一个冲突域传送到另一个冲突域。</a:t>
            </a:r>
          </a:p>
          <a:p>
            <a:pPr lvl="1"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网桥侦听所有经过的分组，从中了解每个接口所连接的主机的位置，并建立一个链路层的转发表</a:t>
            </a:r>
          </a:p>
          <a:p>
            <a:pPr lvl="1"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a:t>
            </a:r>
            <a:r>
              <a:rPr lang="en-US" altLang="zh-CN" sz="2400">
                <a:solidFill>
                  <a:schemeClr val="tx1"/>
                </a:solidFill>
                <a:latin typeface="Arial" panose="020B0604020202020204" pitchFamily="34" charset="0"/>
              </a:rPr>
              <a:t>MAC</a:t>
            </a:r>
            <a:r>
              <a:rPr lang="zh-CN" altLang="en-US" sz="2400">
                <a:solidFill>
                  <a:schemeClr val="tx1"/>
                </a:solidFill>
                <a:latin typeface="Arial" panose="020B0604020202020204" pitchFamily="34" charset="0"/>
              </a:rPr>
              <a:t>通过广播穿透“扩展</a:t>
            </a:r>
            <a:r>
              <a:rPr lang="en-US" altLang="zh-CN" sz="2400">
                <a:solidFill>
                  <a:schemeClr val="tx1"/>
                </a:solidFill>
                <a:latin typeface="Arial" panose="020B0604020202020204" pitchFamily="34" charset="0"/>
              </a:rPr>
              <a:t>LAN” </a:t>
            </a:r>
            <a:r>
              <a:rPr lang="zh-CN" altLang="en-US" sz="2400">
                <a:solidFill>
                  <a:schemeClr val="tx1"/>
                </a:solidFill>
                <a:latin typeface="Arial" panose="020B0604020202020204" pitchFamily="34" charset="0"/>
              </a:rPr>
              <a:t>。</a:t>
            </a:r>
          </a:p>
          <a:p>
            <a:pPr lvl="1"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网桥具有链路层的有限的筛选智能和转发能力。</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95747">
                                            <p:txEl>
                                              <p:pRg st="0" end="0"/>
                                            </p:txEl>
                                          </p:spTgt>
                                        </p:tgtEl>
                                        <p:attrNameLst>
                                          <p:attrName>style.visibility</p:attrName>
                                        </p:attrNameLst>
                                      </p:cBhvr>
                                      <p:to>
                                        <p:strVal val="visible"/>
                                      </p:to>
                                    </p:set>
                                    <p:anim calcmode="lin" valueType="num">
                                      <p:cBhvr additive="base">
                                        <p:cTn id="7" dur="500" fill="hold"/>
                                        <p:tgtEl>
                                          <p:spTgt spid="169574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6957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95747">
                                            <p:txEl>
                                              <p:pRg st="1" end="1"/>
                                            </p:txEl>
                                          </p:spTgt>
                                        </p:tgtEl>
                                        <p:attrNameLst>
                                          <p:attrName>style.visibility</p:attrName>
                                        </p:attrNameLst>
                                      </p:cBhvr>
                                      <p:to>
                                        <p:strVal val="visible"/>
                                      </p:to>
                                    </p:set>
                                    <p:anim calcmode="lin" valueType="num">
                                      <p:cBhvr additive="base">
                                        <p:cTn id="13" dur="500" fill="hold"/>
                                        <p:tgtEl>
                                          <p:spTgt spid="169574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695747">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1695747">
                                            <p:txEl>
                                              <p:pRg st="2" end="2"/>
                                            </p:txEl>
                                          </p:spTgt>
                                        </p:tgtEl>
                                        <p:attrNameLst>
                                          <p:attrName>style.visibility</p:attrName>
                                        </p:attrNameLst>
                                      </p:cBhvr>
                                      <p:to>
                                        <p:strVal val="visible"/>
                                      </p:to>
                                    </p:set>
                                    <p:anim calcmode="lin" valueType="num">
                                      <p:cBhvr additive="base">
                                        <p:cTn id="17" dur="500" fill="hold"/>
                                        <p:tgtEl>
                                          <p:spTgt spid="1695747">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6957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1695747">
                                            <p:txEl>
                                              <p:pRg st="3" end="3"/>
                                            </p:txEl>
                                          </p:spTgt>
                                        </p:tgtEl>
                                        <p:attrNameLst>
                                          <p:attrName>style.visibility</p:attrName>
                                        </p:attrNameLst>
                                      </p:cBhvr>
                                      <p:to>
                                        <p:strVal val="visible"/>
                                      </p:to>
                                    </p:set>
                                    <p:anim calcmode="lin" valueType="num">
                                      <p:cBhvr additive="base">
                                        <p:cTn id="23" dur="500" fill="hold"/>
                                        <p:tgtEl>
                                          <p:spTgt spid="1695747">
                                            <p:txEl>
                                              <p:pRg st="3" end="3"/>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695747">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695747">
                                            <p:txEl>
                                              <p:pRg st="4" end="4"/>
                                            </p:txEl>
                                          </p:spTgt>
                                        </p:tgtEl>
                                        <p:attrNameLst>
                                          <p:attrName>style.visibility</p:attrName>
                                        </p:attrNameLst>
                                      </p:cBhvr>
                                      <p:to>
                                        <p:strVal val="visible"/>
                                      </p:to>
                                    </p:set>
                                    <p:anim calcmode="lin" valueType="num">
                                      <p:cBhvr additive="base">
                                        <p:cTn id="27" dur="500" fill="hold"/>
                                        <p:tgtEl>
                                          <p:spTgt spid="1695747">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695747">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695747">
                                            <p:txEl>
                                              <p:pRg st="5" end="5"/>
                                            </p:txEl>
                                          </p:spTgt>
                                        </p:tgtEl>
                                        <p:attrNameLst>
                                          <p:attrName>style.visibility</p:attrName>
                                        </p:attrNameLst>
                                      </p:cBhvr>
                                      <p:to>
                                        <p:strVal val="visible"/>
                                      </p:to>
                                    </p:set>
                                    <p:anim calcmode="lin" valueType="num">
                                      <p:cBhvr additive="base">
                                        <p:cTn id="31" dur="500" fill="hold"/>
                                        <p:tgtEl>
                                          <p:spTgt spid="1695747">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695747">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1695747">
                                            <p:txEl>
                                              <p:pRg st="6" end="6"/>
                                            </p:txEl>
                                          </p:spTgt>
                                        </p:tgtEl>
                                        <p:attrNameLst>
                                          <p:attrName>style.visibility</p:attrName>
                                        </p:attrNameLst>
                                      </p:cBhvr>
                                      <p:to>
                                        <p:strVal val="visible"/>
                                      </p:to>
                                    </p:set>
                                    <p:anim calcmode="lin" valueType="num">
                                      <p:cBhvr additive="base">
                                        <p:cTn id="35" dur="500" fill="hold"/>
                                        <p:tgtEl>
                                          <p:spTgt spid="1695747">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1695747">
                                            <p:txEl>
                                              <p:pRg st="6" end="6"/>
                                            </p:tx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1695747">
                                            <p:txEl>
                                              <p:pRg st="7" end="7"/>
                                            </p:txEl>
                                          </p:spTgt>
                                        </p:tgtEl>
                                        <p:attrNameLst>
                                          <p:attrName>style.visibility</p:attrName>
                                        </p:attrNameLst>
                                      </p:cBhvr>
                                      <p:to>
                                        <p:strVal val="visible"/>
                                      </p:to>
                                    </p:set>
                                    <p:anim calcmode="lin" valueType="num">
                                      <p:cBhvr additive="base">
                                        <p:cTn id="39" dur="500" fill="hold"/>
                                        <p:tgtEl>
                                          <p:spTgt spid="1695747">
                                            <p:txEl>
                                              <p:pRg st="7" end="7"/>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1695747">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5747" grpId="0" build="p" autoUpdateAnimBg="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C52D8995-AC2D-464F-A373-8216D2137D79}"/>
              </a:ext>
            </a:extLst>
          </p:cNvPr>
          <p:cNvSpPr>
            <a:spLocks noGrp="1" noChangeArrowheads="1"/>
          </p:cNvSpPr>
          <p:nvPr>
            <p:ph type="title"/>
          </p:nvPr>
        </p:nvSpPr>
        <p:spPr bwMode="auto">
          <a:xfrm>
            <a:off x="2324100" y="304801"/>
            <a:ext cx="7772400" cy="69691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互连设备</a:t>
            </a:r>
          </a:p>
        </p:txBody>
      </p:sp>
      <p:sp>
        <p:nvSpPr>
          <p:cNvPr id="1696771" name="Text Box 3">
            <a:extLst>
              <a:ext uri="{FF2B5EF4-FFF2-40B4-BE49-F238E27FC236}">
                <a16:creationId xmlns:a16="http://schemas.microsoft.com/office/drawing/2014/main" id="{79658BD0-F32D-478B-9484-AA0A6276634C}"/>
              </a:ext>
            </a:extLst>
          </p:cNvPr>
          <p:cNvSpPr txBox="1">
            <a:spLocks noChangeArrowheads="1"/>
          </p:cNvSpPr>
          <p:nvPr/>
        </p:nvSpPr>
        <p:spPr bwMode="auto">
          <a:xfrm>
            <a:off x="2459039" y="1346201"/>
            <a:ext cx="7616825" cy="3490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5263" indent="-195263" algn="ctr">
              <a:defRPr sz="1200">
                <a:solidFill>
                  <a:srgbClr val="CACACA"/>
                </a:solidFill>
                <a:latin typeface="Times New Roman" panose="02020603050405020304" pitchFamily="18" charset="0"/>
                <a:ea typeface="宋体" panose="02010600030101010101" pitchFamily="2" charset="-122"/>
              </a:defRPr>
            </a:lvl1pPr>
            <a:lvl2pPr marL="757238" indent="-2730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20000"/>
              </a:spcBef>
              <a:buClr>
                <a:schemeClr val="folHlink"/>
              </a:buClr>
              <a:buSzPct val="75000"/>
              <a:buFont typeface="Monotype Sorts" pitchFamily="2" charset="2"/>
              <a:buChar char="q"/>
            </a:pPr>
            <a:r>
              <a:rPr lang="zh-CN" altLang="en-US" sz="2400" b="1" u="sng">
                <a:solidFill>
                  <a:schemeClr val="folHlink"/>
                </a:solidFill>
                <a:latin typeface="Arial" panose="020B0604020202020204" pitchFamily="34" charset="0"/>
              </a:rPr>
              <a:t>路由器</a:t>
            </a:r>
            <a:r>
              <a:rPr lang="en-US" altLang="zh-CN" sz="2400" b="1" u="sng">
                <a:solidFill>
                  <a:schemeClr val="folHlink"/>
                </a:solidFill>
                <a:latin typeface="Arial" panose="020B0604020202020204" pitchFamily="34" charset="0"/>
              </a:rPr>
              <a:t>(router):</a:t>
            </a:r>
            <a:r>
              <a:rPr lang="en-US" altLang="zh-CN" sz="2400">
                <a:latin typeface="Arial" panose="020B0604020202020204" pitchFamily="34" charset="0"/>
              </a:rPr>
              <a:t> </a:t>
            </a:r>
            <a:r>
              <a:rPr lang="zh-CN" altLang="en-US" sz="2400">
                <a:solidFill>
                  <a:schemeClr val="tx1"/>
                </a:solidFill>
                <a:latin typeface="Arial" panose="020B0604020202020204" pitchFamily="34" charset="0"/>
              </a:rPr>
              <a:t>网络层设备</a:t>
            </a:r>
            <a:r>
              <a:rPr lang="en-US" altLang="zh-CN" sz="2000">
                <a:solidFill>
                  <a:schemeClr val="tx1"/>
                </a:solidFill>
                <a:latin typeface="Arial" panose="020B0604020202020204" pitchFamily="34" charset="0"/>
              </a:rPr>
              <a:t>(IP, IPX, AppleTalk</a:t>
            </a:r>
            <a:r>
              <a:rPr lang="zh-CN" altLang="en-US" sz="2000">
                <a:solidFill>
                  <a:schemeClr val="tx1"/>
                </a:solidFill>
                <a:latin typeface="Arial" panose="020B0604020202020204" pitchFamily="34" charset="0"/>
              </a:rPr>
              <a:t>协议</a:t>
            </a:r>
            <a:r>
              <a:rPr lang="en-US" altLang="zh-CN" sz="20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。连接多个广播域。</a:t>
            </a:r>
          </a:p>
          <a:p>
            <a:pPr lvl="1" algn="l">
              <a:spcBef>
                <a:spcPct val="20000"/>
              </a:spcBef>
              <a:buClr>
                <a:schemeClr val="folHlink"/>
              </a:buClr>
              <a:buSzPct val="75000"/>
              <a:buFont typeface="Monotype Sorts" pitchFamily="2" charset="2"/>
              <a:buChar char="q"/>
            </a:pPr>
            <a:r>
              <a:rPr lang="zh-CN" altLang="en-US" sz="2400">
                <a:solidFill>
                  <a:schemeClr val="tx1"/>
                </a:solidFill>
                <a:latin typeface="Arial" panose="020B0604020202020204" pitchFamily="34" charset="0"/>
              </a:rPr>
              <a:t>不传播</a:t>
            </a:r>
            <a:r>
              <a:rPr lang="en-US" altLang="zh-CN" sz="2400">
                <a:solidFill>
                  <a:schemeClr val="tx1"/>
                </a:solidFill>
                <a:latin typeface="Arial" panose="020B0604020202020204" pitchFamily="34" charset="0"/>
              </a:rPr>
              <a:t>MAC</a:t>
            </a:r>
            <a:r>
              <a:rPr lang="zh-CN" altLang="en-US" sz="2400">
                <a:solidFill>
                  <a:schemeClr val="tx1"/>
                </a:solidFill>
                <a:latin typeface="Arial" panose="020B0604020202020204" pitchFamily="34" charset="0"/>
              </a:rPr>
              <a:t>广播</a:t>
            </a:r>
          </a:p>
          <a:p>
            <a:pPr algn="l">
              <a:spcBef>
                <a:spcPct val="20000"/>
              </a:spcBef>
              <a:buClr>
                <a:schemeClr val="folHlink"/>
              </a:buClr>
              <a:buSzPct val="75000"/>
              <a:buFont typeface="Monotype Sorts" pitchFamily="2" charset="2"/>
              <a:buChar char="q"/>
            </a:pPr>
            <a:endParaRPr lang="zh-CN" altLang="en-US" sz="2400">
              <a:solidFill>
                <a:schemeClr val="tx1"/>
              </a:solidFill>
              <a:latin typeface="Arial" panose="020B0604020202020204" pitchFamily="34" charset="0"/>
            </a:endParaRPr>
          </a:p>
          <a:p>
            <a:pPr algn="l">
              <a:spcBef>
                <a:spcPct val="20000"/>
              </a:spcBef>
              <a:buClr>
                <a:schemeClr val="folHlink"/>
              </a:buClr>
              <a:buSzPct val="75000"/>
              <a:buFont typeface="Monotype Sorts" pitchFamily="2" charset="2"/>
              <a:buChar char="q"/>
            </a:pPr>
            <a:r>
              <a:rPr lang="zh-CN" altLang="en-US" sz="2400" b="1" u="sng">
                <a:solidFill>
                  <a:schemeClr val="folHlink"/>
                </a:solidFill>
                <a:latin typeface="Arial" panose="020B0604020202020204" pitchFamily="34" charset="0"/>
              </a:rPr>
              <a:t>交换机</a:t>
            </a:r>
            <a:r>
              <a:rPr lang="en-US" altLang="zh-CN" sz="2400" b="1" u="sng">
                <a:solidFill>
                  <a:schemeClr val="folHlink"/>
                </a:solidFill>
                <a:latin typeface="Arial" panose="020B0604020202020204" pitchFamily="34" charset="0"/>
              </a:rPr>
              <a:t>(switch):</a:t>
            </a:r>
          </a:p>
          <a:p>
            <a:pPr lvl="1" algn="l">
              <a:spcBef>
                <a:spcPct val="20000"/>
              </a:spcBef>
              <a:buClr>
                <a:schemeClr val="folHlink"/>
              </a:buClr>
              <a:buSzPct val="75000"/>
              <a:buFont typeface="Monotype Sorts" pitchFamily="2" charset="2"/>
              <a:buChar char="q"/>
            </a:pPr>
            <a:r>
              <a:rPr lang="zh-CN" altLang="en-US" sz="2400">
                <a:solidFill>
                  <a:schemeClr val="tx1"/>
                </a:solidFill>
                <a:latin typeface="Arial" panose="020B0604020202020204" pitchFamily="34" charset="0"/>
              </a:rPr>
              <a:t>通过交换网格实现帧转发的并行操作。</a:t>
            </a:r>
          </a:p>
          <a:p>
            <a:pPr lvl="1" algn="l">
              <a:spcBef>
                <a:spcPct val="20000"/>
              </a:spcBef>
              <a:buClr>
                <a:schemeClr val="folHlink"/>
              </a:buClr>
              <a:buSzPct val="75000"/>
              <a:buFont typeface="Monotype Sorts" pitchFamily="2" charset="2"/>
              <a:buChar char="q"/>
            </a:pPr>
            <a:r>
              <a:rPr lang="zh-CN" altLang="en-US" sz="2400" i="1" u="sng">
                <a:solidFill>
                  <a:schemeClr val="hlink"/>
                </a:solidFill>
                <a:latin typeface="Arial" panose="020B0604020202020204" pitchFamily="34" charset="0"/>
              </a:rPr>
              <a:t>二层交换机</a:t>
            </a:r>
            <a:r>
              <a:rPr lang="zh-CN" altLang="en-US" sz="2400" i="1">
                <a:solidFill>
                  <a:schemeClr val="hlink"/>
                </a:solidFill>
                <a:latin typeface="Arial" panose="020B0604020202020204" pitchFamily="34" charset="0"/>
              </a:rPr>
              <a:t> ：</a:t>
            </a:r>
            <a:r>
              <a:rPr lang="zh-CN" altLang="en-US" sz="2400">
                <a:solidFill>
                  <a:schemeClr val="tx1"/>
                </a:solidFill>
                <a:latin typeface="Arial" panose="020B0604020202020204" pitchFamily="34" charset="0"/>
              </a:rPr>
              <a:t>  一个多端口网桥</a:t>
            </a:r>
            <a:r>
              <a:rPr lang="zh-CN" altLang="en-US" sz="2400">
                <a:latin typeface="Arial" panose="020B0604020202020204" pitchFamily="34" charset="0"/>
              </a:rPr>
              <a:t> </a:t>
            </a:r>
          </a:p>
          <a:p>
            <a:pPr lvl="1" algn="l">
              <a:spcBef>
                <a:spcPct val="20000"/>
              </a:spcBef>
              <a:buClr>
                <a:schemeClr val="folHlink"/>
              </a:buClr>
              <a:buSzPct val="75000"/>
              <a:buFont typeface="Monotype Sorts" pitchFamily="2" charset="2"/>
              <a:buChar char="q"/>
            </a:pPr>
            <a:r>
              <a:rPr lang="zh-CN" altLang="en-US" sz="2400" i="1" u="sng">
                <a:solidFill>
                  <a:schemeClr val="hlink"/>
                </a:solidFill>
                <a:latin typeface="Arial" panose="020B0604020202020204" pitchFamily="34" charset="0"/>
              </a:rPr>
              <a:t>三层交换机</a:t>
            </a:r>
            <a:r>
              <a:rPr lang="en-US" altLang="zh-CN" sz="2400" i="1" u="sng">
                <a:solidFill>
                  <a:schemeClr val="hlink"/>
                </a:solidFill>
                <a:latin typeface="Arial" panose="020B0604020202020204" pitchFamily="34" charset="0"/>
              </a:rPr>
              <a:t>:</a:t>
            </a:r>
            <a:r>
              <a:rPr lang="en-US" altLang="zh-CN" sz="2400">
                <a:latin typeface="Arial" panose="020B0604020202020204" pitchFamily="34" charset="0"/>
              </a:rPr>
              <a:t> </a:t>
            </a:r>
            <a:r>
              <a:rPr lang="zh-CN" altLang="en-US" sz="2400">
                <a:solidFill>
                  <a:schemeClr val="tx1"/>
                </a:solidFill>
                <a:latin typeface="Arial" panose="020B0604020202020204" pitchFamily="34" charset="0"/>
              </a:rPr>
              <a:t>交换路由器</a:t>
            </a:r>
            <a:endParaRPr lang="zh-CN" altLang="en-US" sz="2000">
              <a:solidFill>
                <a:schemeClr val="tx1"/>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96771">
                                            <p:txEl>
                                              <p:pRg st="0" end="0"/>
                                            </p:txEl>
                                          </p:spTgt>
                                        </p:tgtEl>
                                        <p:attrNameLst>
                                          <p:attrName>style.visibility</p:attrName>
                                        </p:attrNameLst>
                                      </p:cBhvr>
                                      <p:to>
                                        <p:strVal val="visible"/>
                                      </p:to>
                                    </p:set>
                                    <p:anim calcmode="lin" valueType="num">
                                      <p:cBhvr additive="base">
                                        <p:cTn id="7" dur="500" fill="hold"/>
                                        <p:tgtEl>
                                          <p:spTgt spid="169677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69677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696771">
                                            <p:txEl>
                                              <p:pRg st="1" end="1"/>
                                            </p:txEl>
                                          </p:spTgt>
                                        </p:tgtEl>
                                        <p:attrNameLst>
                                          <p:attrName>style.visibility</p:attrName>
                                        </p:attrNameLst>
                                      </p:cBhvr>
                                      <p:to>
                                        <p:strVal val="visible"/>
                                      </p:to>
                                    </p:set>
                                    <p:anim calcmode="lin" valueType="num">
                                      <p:cBhvr additive="base">
                                        <p:cTn id="11" dur="500" fill="hold"/>
                                        <p:tgtEl>
                                          <p:spTgt spid="169677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6967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696771">
                                            <p:txEl>
                                              <p:pRg st="3" end="3"/>
                                            </p:txEl>
                                          </p:spTgt>
                                        </p:tgtEl>
                                        <p:attrNameLst>
                                          <p:attrName>style.visibility</p:attrName>
                                        </p:attrNameLst>
                                      </p:cBhvr>
                                      <p:to>
                                        <p:strVal val="visible"/>
                                      </p:to>
                                    </p:set>
                                    <p:anim calcmode="lin" valueType="num">
                                      <p:cBhvr additive="base">
                                        <p:cTn id="17" dur="500" fill="hold"/>
                                        <p:tgtEl>
                                          <p:spTgt spid="1696771">
                                            <p:txEl>
                                              <p:pRg st="3" end="3"/>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696771">
                                            <p:txEl>
                                              <p:pRg st="3" end="3"/>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696771">
                                            <p:txEl>
                                              <p:pRg st="4" end="4"/>
                                            </p:txEl>
                                          </p:spTgt>
                                        </p:tgtEl>
                                        <p:attrNameLst>
                                          <p:attrName>style.visibility</p:attrName>
                                        </p:attrNameLst>
                                      </p:cBhvr>
                                      <p:to>
                                        <p:strVal val="visible"/>
                                      </p:to>
                                    </p:set>
                                    <p:anim calcmode="lin" valueType="num">
                                      <p:cBhvr additive="base">
                                        <p:cTn id="21" dur="500" fill="hold"/>
                                        <p:tgtEl>
                                          <p:spTgt spid="1696771">
                                            <p:txEl>
                                              <p:pRg st="4" end="4"/>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696771">
                                            <p:txEl>
                                              <p:pRg st="4" end="4"/>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696771">
                                            <p:txEl>
                                              <p:pRg st="5" end="5"/>
                                            </p:txEl>
                                          </p:spTgt>
                                        </p:tgtEl>
                                        <p:attrNameLst>
                                          <p:attrName>style.visibility</p:attrName>
                                        </p:attrNameLst>
                                      </p:cBhvr>
                                      <p:to>
                                        <p:strVal val="visible"/>
                                      </p:to>
                                    </p:set>
                                    <p:anim calcmode="lin" valueType="num">
                                      <p:cBhvr additive="base">
                                        <p:cTn id="25" dur="500" fill="hold"/>
                                        <p:tgtEl>
                                          <p:spTgt spid="1696771">
                                            <p:txEl>
                                              <p:pRg st="5" end="5"/>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696771">
                                            <p:txEl>
                                              <p:pRg st="5" end="5"/>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696771">
                                            <p:txEl>
                                              <p:pRg st="6" end="6"/>
                                            </p:txEl>
                                          </p:spTgt>
                                        </p:tgtEl>
                                        <p:attrNameLst>
                                          <p:attrName>style.visibility</p:attrName>
                                        </p:attrNameLst>
                                      </p:cBhvr>
                                      <p:to>
                                        <p:strVal val="visible"/>
                                      </p:to>
                                    </p:set>
                                    <p:anim calcmode="lin" valueType="num">
                                      <p:cBhvr additive="base">
                                        <p:cTn id="29" dur="500" fill="hold"/>
                                        <p:tgtEl>
                                          <p:spTgt spid="1696771">
                                            <p:txEl>
                                              <p:pRg st="6" end="6"/>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696771">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6771" grpId="0" build="p" autoUpdateAnimBg="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DE13B23-B4BB-47D9-B764-CD56BE8EB335}"/>
              </a:ext>
            </a:extLst>
          </p:cNvPr>
          <p:cNvSpPr>
            <a:spLocks noGrp="1" noChangeArrowheads="1"/>
          </p:cNvSpPr>
          <p:nvPr>
            <p:ph type="title"/>
          </p:nvPr>
        </p:nvSpPr>
        <p:spPr bwMode="auto">
          <a:xfrm>
            <a:off x="2190750" y="285751"/>
            <a:ext cx="7772400" cy="65881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互连设备</a:t>
            </a:r>
          </a:p>
        </p:txBody>
      </p:sp>
      <p:grpSp>
        <p:nvGrpSpPr>
          <p:cNvPr id="1697795" name="Group 3">
            <a:extLst>
              <a:ext uri="{FF2B5EF4-FFF2-40B4-BE49-F238E27FC236}">
                <a16:creationId xmlns:a16="http://schemas.microsoft.com/office/drawing/2014/main" id="{61C561E1-1543-4AAB-9015-BDCCB81C7EB8}"/>
              </a:ext>
            </a:extLst>
          </p:cNvPr>
          <p:cNvGrpSpPr>
            <a:grpSpLocks/>
          </p:cNvGrpSpPr>
          <p:nvPr/>
        </p:nvGrpSpPr>
        <p:grpSpPr bwMode="auto">
          <a:xfrm>
            <a:off x="2322514" y="1201739"/>
            <a:ext cx="7888288" cy="2111375"/>
            <a:chOff x="512" y="979"/>
            <a:chExt cx="4969" cy="1330"/>
          </a:xfrm>
        </p:grpSpPr>
        <p:sp>
          <p:nvSpPr>
            <p:cNvPr id="14363" name="AutoShape 4">
              <a:extLst>
                <a:ext uri="{FF2B5EF4-FFF2-40B4-BE49-F238E27FC236}">
                  <a16:creationId xmlns:a16="http://schemas.microsoft.com/office/drawing/2014/main" id="{31B4CCB3-ED26-43CF-8CF0-E6A486EECBAB}"/>
                </a:ext>
              </a:extLst>
            </p:cNvPr>
            <p:cNvSpPr>
              <a:spLocks noChangeArrowheads="1"/>
            </p:cNvSpPr>
            <p:nvPr/>
          </p:nvSpPr>
          <p:spPr bwMode="auto">
            <a:xfrm>
              <a:off x="1490" y="1165"/>
              <a:ext cx="2440" cy="1144"/>
            </a:xfrm>
            <a:prstGeom prst="roundRect">
              <a:avLst>
                <a:gd name="adj" fmla="val 12495"/>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64" name="Oval 5">
              <a:extLst>
                <a:ext uri="{FF2B5EF4-FFF2-40B4-BE49-F238E27FC236}">
                  <a16:creationId xmlns:a16="http://schemas.microsoft.com/office/drawing/2014/main" id="{DB4ACCB0-DF0F-455D-883D-12F84471983A}"/>
                </a:ext>
              </a:extLst>
            </p:cNvPr>
            <p:cNvSpPr>
              <a:spLocks noChangeArrowheads="1"/>
            </p:cNvSpPr>
            <p:nvPr/>
          </p:nvSpPr>
          <p:spPr bwMode="auto">
            <a:xfrm>
              <a:off x="1538" y="1357"/>
              <a:ext cx="1000" cy="904"/>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365" name="Group 6">
              <a:extLst>
                <a:ext uri="{FF2B5EF4-FFF2-40B4-BE49-F238E27FC236}">
                  <a16:creationId xmlns:a16="http://schemas.microsoft.com/office/drawing/2014/main" id="{24B6A9B5-825F-4238-93DF-8BD544FC4A1A}"/>
                </a:ext>
              </a:extLst>
            </p:cNvPr>
            <p:cNvGrpSpPr>
              <a:grpSpLocks/>
            </p:cNvGrpSpPr>
            <p:nvPr/>
          </p:nvGrpSpPr>
          <p:grpSpPr bwMode="auto">
            <a:xfrm>
              <a:off x="1730" y="1453"/>
              <a:ext cx="376" cy="424"/>
              <a:chOff x="1636" y="1204"/>
              <a:chExt cx="376" cy="424"/>
            </a:xfrm>
          </p:grpSpPr>
          <p:sp>
            <p:nvSpPr>
              <p:cNvPr id="14404" name="Rectangle 7">
                <a:extLst>
                  <a:ext uri="{FF2B5EF4-FFF2-40B4-BE49-F238E27FC236}">
                    <a16:creationId xmlns:a16="http://schemas.microsoft.com/office/drawing/2014/main" id="{454F9486-3324-4D5C-BF1D-8699D288AF38}"/>
                  </a:ext>
                </a:extLst>
              </p:cNvPr>
              <p:cNvSpPr>
                <a:spLocks noChangeArrowheads="1"/>
              </p:cNvSpPr>
              <p:nvPr/>
            </p:nvSpPr>
            <p:spPr bwMode="auto">
              <a:xfrm>
                <a:off x="1732" y="1444"/>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en-US" altLang="zh-CN" sz="2800">
                    <a:solidFill>
                      <a:schemeClr val="tx1"/>
                    </a:solidFill>
                  </a:rPr>
                  <a:t>H</a:t>
                </a:r>
              </a:p>
            </p:txBody>
          </p:sp>
          <p:sp>
            <p:nvSpPr>
              <p:cNvPr id="14405" name="Oval 8">
                <a:extLst>
                  <a:ext uri="{FF2B5EF4-FFF2-40B4-BE49-F238E27FC236}">
                    <a16:creationId xmlns:a16="http://schemas.microsoft.com/office/drawing/2014/main" id="{7899AE3B-4EC3-41ED-BFBC-DFCFF88D226D}"/>
                  </a:ext>
                </a:extLst>
              </p:cNvPr>
              <p:cNvSpPr>
                <a:spLocks noChangeArrowheads="1"/>
              </p:cNvSpPr>
              <p:nvPr/>
            </p:nvSpPr>
            <p:spPr bwMode="auto">
              <a:xfrm>
                <a:off x="1636" y="1204"/>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6" name="Oval 9">
                <a:extLst>
                  <a:ext uri="{FF2B5EF4-FFF2-40B4-BE49-F238E27FC236}">
                    <a16:creationId xmlns:a16="http://schemas.microsoft.com/office/drawing/2014/main" id="{7C5F1207-D4FA-41DD-A053-76B69DDE79F1}"/>
                  </a:ext>
                </a:extLst>
              </p:cNvPr>
              <p:cNvSpPr>
                <a:spLocks noChangeArrowheads="1"/>
              </p:cNvSpPr>
              <p:nvPr/>
            </p:nvSpPr>
            <p:spPr bwMode="auto">
              <a:xfrm>
                <a:off x="1780" y="1204"/>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7" name="Oval 10">
                <a:extLst>
                  <a:ext uri="{FF2B5EF4-FFF2-40B4-BE49-F238E27FC236}">
                    <a16:creationId xmlns:a16="http://schemas.microsoft.com/office/drawing/2014/main" id="{0C0992CC-DFBF-4ADA-9A9C-99CF1AC6A702}"/>
                  </a:ext>
                </a:extLst>
              </p:cNvPr>
              <p:cNvSpPr>
                <a:spLocks noChangeArrowheads="1"/>
              </p:cNvSpPr>
              <p:nvPr/>
            </p:nvSpPr>
            <p:spPr bwMode="auto">
              <a:xfrm>
                <a:off x="1924" y="1204"/>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8" name="Line 11">
                <a:extLst>
                  <a:ext uri="{FF2B5EF4-FFF2-40B4-BE49-F238E27FC236}">
                    <a16:creationId xmlns:a16="http://schemas.microsoft.com/office/drawing/2014/main" id="{34F096E1-1390-4D8D-9E9D-F6F2BDCC5347}"/>
                  </a:ext>
                </a:extLst>
              </p:cNvPr>
              <p:cNvSpPr>
                <a:spLocks noChangeShapeType="1"/>
              </p:cNvSpPr>
              <p:nvPr/>
            </p:nvSpPr>
            <p:spPr bwMode="auto">
              <a:xfrm>
                <a:off x="1684" y="1300"/>
                <a:ext cx="136"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409" name="Line 12">
                <a:extLst>
                  <a:ext uri="{FF2B5EF4-FFF2-40B4-BE49-F238E27FC236}">
                    <a16:creationId xmlns:a16="http://schemas.microsoft.com/office/drawing/2014/main" id="{A1AEA10B-93C4-4009-9521-4B63C31883A6}"/>
                  </a:ext>
                </a:extLst>
              </p:cNvPr>
              <p:cNvSpPr>
                <a:spLocks noChangeShapeType="1"/>
              </p:cNvSpPr>
              <p:nvPr/>
            </p:nvSpPr>
            <p:spPr bwMode="auto">
              <a:xfrm>
                <a:off x="1824" y="1300"/>
                <a:ext cx="0"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410" name="Line 13">
                <a:extLst>
                  <a:ext uri="{FF2B5EF4-FFF2-40B4-BE49-F238E27FC236}">
                    <a16:creationId xmlns:a16="http://schemas.microsoft.com/office/drawing/2014/main" id="{B4584215-0FC3-48E7-9375-550A714FCEB4}"/>
                  </a:ext>
                </a:extLst>
              </p:cNvPr>
              <p:cNvSpPr>
                <a:spLocks noChangeShapeType="1"/>
              </p:cNvSpPr>
              <p:nvPr/>
            </p:nvSpPr>
            <p:spPr bwMode="auto">
              <a:xfrm flipH="1">
                <a:off x="1820" y="1300"/>
                <a:ext cx="152"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grpSp>
        <p:sp>
          <p:nvSpPr>
            <p:cNvPr id="14366" name="Rectangle 14">
              <a:extLst>
                <a:ext uri="{FF2B5EF4-FFF2-40B4-BE49-F238E27FC236}">
                  <a16:creationId xmlns:a16="http://schemas.microsoft.com/office/drawing/2014/main" id="{8E951791-4614-4DF4-804E-0B1DF54FEFAE}"/>
                </a:ext>
              </a:extLst>
            </p:cNvPr>
            <p:cNvSpPr>
              <a:spLocks noChangeArrowheads="1"/>
            </p:cNvSpPr>
            <p:nvPr/>
          </p:nvSpPr>
          <p:spPr bwMode="auto">
            <a:xfrm>
              <a:off x="2114" y="1693"/>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en-US" altLang="zh-CN" sz="2800">
                  <a:solidFill>
                    <a:schemeClr val="tx1"/>
                  </a:solidFill>
                </a:rPr>
                <a:t>H</a:t>
              </a:r>
            </a:p>
          </p:txBody>
        </p:sp>
        <p:sp>
          <p:nvSpPr>
            <p:cNvPr id="14367" name="Oval 15">
              <a:extLst>
                <a:ext uri="{FF2B5EF4-FFF2-40B4-BE49-F238E27FC236}">
                  <a16:creationId xmlns:a16="http://schemas.microsoft.com/office/drawing/2014/main" id="{49F30AE5-D8C4-4283-9F61-A31FF25CA499}"/>
                </a:ext>
              </a:extLst>
            </p:cNvPr>
            <p:cNvSpPr>
              <a:spLocks noChangeArrowheads="1"/>
            </p:cNvSpPr>
            <p:nvPr/>
          </p:nvSpPr>
          <p:spPr bwMode="auto">
            <a:xfrm>
              <a:off x="2018" y="2029"/>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68" name="Oval 16">
              <a:extLst>
                <a:ext uri="{FF2B5EF4-FFF2-40B4-BE49-F238E27FC236}">
                  <a16:creationId xmlns:a16="http://schemas.microsoft.com/office/drawing/2014/main" id="{F632D0DF-BBB0-4083-A2B8-AF14667E7ECC}"/>
                </a:ext>
              </a:extLst>
            </p:cNvPr>
            <p:cNvSpPr>
              <a:spLocks noChangeArrowheads="1"/>
            </p:cNvSpPr>
            <p:nvPr/>
          </p:nvSpPr>
          <p:spPr bwMode="auto">
            <a:xfrm>
              <a:off x="2162" y="2029"/>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69" name="Oval 17">
              <a:extLst>
                <a:ext uri="{FF2B5EF4-FFF2-40B4-BE49-F238E27FC236}">
                  <a16:creationId xmlns:a16="http://schemas.microsoft.com/office/drawing/2014/main" id="{8626D9AA-8263-4C5A-A4AF-882216F63433}"/>
                </a:ext>
              </a:extLst>
            </p:cNvPr>
            <p:cNvSpPr>
              <a:spLocks noChangeArrowheads="1"/>
            </p:cNvSpPr>
            <p:nvPr/>
          </p:nvSpPr>
          <p:spPr bwMode="auto">
            <a:xfrm>
              <a:off x="2306" y="2029"/>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0" name="Line 18">
              <a:extLst>
                <a:ext uri="{FF2B5EF4-FFF2-40B4-BE49-F238E27FC236}">
                  <a16:creationId xmlns:a16="http://schemas.microsoft.com/office/drawing/2014/main" id="{4BCD7798-DD85-444E-9E4E-44A959836446}"/>
                </a:ext>
              </a:extLst>
            </p:cNvPr>
            <p:cNvSpPr>
              <a:spLocks noChangeShapeType="1"/>
            </p:cNvSpPr>
            <p:nvPr/>
          </p:nvSpPr>
          <p:spPr bwMode="auto">
            <a:xfrm flipV="1">
              <a:off x="2066" y="1877"/>
              <a:ext cx="136" cy="1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71" name="Line 19">
              <a:extLst>
                <a:ext uri="{FF2B5EF4-FFF2-40B4-BE49-F238E27FC236}">
                  <a16:creationId xmlns:a16="http://schemas.microsoft.com/office/drawing/2014/main" id="{1560B1F0-F646-4020-9E4B-3E401A833FF2}"/>
                </a:ext>
              </a:extLst>
            </p:cNvPr>
            <p:cNvSpPr>
              <a:spLocks noChangeShapeType="1"/>
            </p:cNvSpPr>
            <p:nvPr/>
          </p:nvSpPr>
          <p:spPr bwMode="auto">
            <a:xfrm flipV="1">
              <a:off x="2206" y="1877"/>
              <a:ext cx="0" cy="1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72" name="Line 20">
              <a:extLst>
                <a:ext uri="{FF2B5EF4-FFF2-40B4-BE49-F238E27FC236}">
                  <a16:creationId xmlns:a16="http://schemas.microsoft.com/office/drawing/2014/main" id="{0707FB90-6226-4601-8FDB-4FD2ED645728}"/>
                </a:ext>
              </a:extLst>
            </p:cNvPr>
            <p:cNvSpPr>
              <a:spLocks noChangeShapeType="1"/>
            </p:cNvSpPr>
            <p:nvPr/>
          </p:nvSpPr>
          <p:spPr bwMode="auto">
            <a:xfrm flipH="1" flipV="1">
              <a:off x="2202" y="1877"/>
              <a:ext cx="152" cy="1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73" name="Line 21">
              <a:extLst>
                <a:ext uri="{FF2B5EF4-FFF2-40B4-BE49-F238E27FC236}">
                  <a16:creationId xmlns:a16="http://schemas.microsoft.com/office/drawing/2014/main" id="{E14EEB35-4394-4EAF-828B-84899D267C87}"/>
                </a:ext>
              </a:extLst>
            </p:cNvPr>
            <p:cNvSpPr>
              <a:spLocks noChangeShapeType="1"/>
            </p:cNvSpPr>
            <p:nvPr/>
          </p:nvSpPr>
          <p:spPr bwMode="auto">
            <a:xfrm>
              <a:off x="2018" y="1785"/>
              <a:ext cx="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74" name="Rectangle 22">
              <a:extLst>
                <a:ext uri="{FF2B5EF4-FFF2-40B4-BE49-F238E27FC236}">
                  <a16:creationId xmlns:a16="http://schemas.microsoft.com/office/drawing/2014/main" id="{E4F73EB0-FB02-4C56-B4B1-C2EFAD404970}"/>
                </a:ext>
              </a:extLst>
            </p:cNvPr>
            <p:cNvSpPr>
              <a:spLocks noChangeArrowheads="1"/>
            </p:cNvSpPr>
            <p:nvPr/>
          </p:nvSpPr>
          <p:spPr bwMode="auto">
            <a:xfrm>
              <a:off x="2594" y="1645"/>
              <a:ext cx="232" cy="23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en-US" altLang="zh-CN" sz="2800">
                  <a:solidFill>
                    <a:schemeClr val="tx1"/>
                  </a:solidFill>
                </a:rPr>
                <a:t>B</a:t>
              </a:r>
            </a:p>
          </p:txBody>
        </p:sp>
        <p:sp>
          <p:nvSpPr>
            <p:cNvPr id="14375" name="Oval 23">
              <a:extLst>
                <a:ext uri="{FF2B5EF4-FFF2-40B4-BE49-F238E27FC236}">
                  <a16:creationId xmlns:a16="http://schemas.microsoft.com/office/drawing/2014/main" id="{7BA6056F-5062-4DBB-967D-3194464A002C}"/>
                </a:ext>
              </a:extLst>
            </p:cNvPr>
            <p:cNvSpPr>
              <a:spLocks noChangeArrowheads="1"/>
            </p:cNvSpPr>
            <p:nvPr/>
          </p:nvSpPr>
          <p:spPr bwMode="auto">
            <a:xfrm>
              <a:off x="2882" y="1357"/>
              <a:ext cx="1000" cy="904"/>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376" name="Group 24">
              <a:extLst>
                <a:ext uri="{FF2B5EF4-FFF2-40B4-BE49-F238E27FC236}">
                  <a16:creationId xmlns:a16="http://schemas.microsoft.com/office/drawing/2014/main" id="{76EFA693-B2E9-41B9-96DD-FD66DA68463C}"/>
                </a:ext>
              </a:extLst>
            </p:cNvPr>
            <p:cNvGrpSpPr>
              <a:grpSpLocks/>
            </p:cNvGrpSpPr>
            <p:nvPr/>
          </p:nvGrpSpPr>
          <p:grpSpPr bwMode="auto">
            <a:xfrm>
              <a:off x="3074" y="1453"/>
              <a:ext cx="376" cy="424"/>
              <a:chOff x="2980" y="1204"/>
              <a:chExt cx="376" cy="424"/>
            </a:xfrm>
          </p:grpSpPr>
          <p:sp>
            <p:nvSpPr>
              <p:cNvPr id="14397" name="Rectangle 25">
                <a:extLst>
                  <a:ext uri="{FF2B5EF4-FFF2-40B4-BE49-F238E27FC236}">
                    <a16:creationId xmlns:a16="http://schemas.microsoft.com/office/drawing/2014/main" id="{9E2F5687-2394-4377-9F0E-C7B70E63968C}"/>
                  </a:ext>
                </a:extLst>
              </p:cNvPr>
              <p:cNvSpPr>
                <a:spLocks noChangeArrowheads="1"/>
              </p:cNvSpPr>
              <p:nvPr/>
            </p:nvSpPr>
            <p:spPr bwMode="auto">
              <a:xfrm>
                <a:off x="3076" y="1444"/>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en-US" altLang="zh-CN" sz="2800">
                    <a:solidFill>
                      <a:schemeClr val="tx1"/>
                    </a:solidFill>
                  </a:rPr>
                  <a:t>H</a:t>
                </a:r>
              </a:p>
            </p:txBody>
          </p:sp>
          <p:sp>
            <p:nvSpPr>
              <p:cNvPr id="14398" name="Oval 26">
                <a:extLst>
                  <a:ext uri="{FF2B5EF4-FFF2-40B4-BE49-F238E27FC236}">
                    <a16:creationId xmlns:a16="http://schemas.microsoft.com/office/drawing/2014/main" id="{2A4294FD-7853-4750-8985-17A5DEDF5819}"/>
                  </a:ext>
                </a:extLst>
              </p:cNvPr>
              <p:cNvSpPr>
                <a:spLocks noChangeArrowheads="1"/>
              </p:cNvSpPr>
              <p:nvPr/>
            </p:nvSpPr>
            <p:spPr bwMode="auto">
              <a:xfrm>
                <a:off x="2980" y="1204"/>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99" name="Oval 27">
                <a:extLst>
                  <a:ext uri="{FF2B5EF4-FFF2-40B4-BE49-F238E27FC236}">
                    <a16:creationId xmlns:a16="http://schemas.microsoft.com/office/drawing/2014/main" id="{3236F5E3-A7A7-471B-8CFB-354C2CFF1EAC}"/>
                  </a:ext>
                </a:extLst>
              </p:cNvPr>
              <p:cNvSpPr>
                <a:spLocks noChangeArrowheads="1"/>
              </p:cNvSpPr>
              <p:nvPr/>
            </p:nvSpPr>
            <p:spPr bwMode="auto">
              <a:xfrm>
                <a:off x="3124" y="1204"/>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0" name="Oval 28">
                <a:extLst>
                  <a:ext uri="{FF2B5EF4-FFF2-40B4-BE49-F238E27FC236}">
                    <a16:creationId xmlns:a16="http://schemas.microsoft.com/office/drawing/2014/main" id="{1C2A9124-37C6-4440-AD40-07B71FCC615C}"/>
                  </a:ext>
                </a:extLst>
              </p:cNvPr>
              <p:cNvSpPr>
                <a:spLocks noChangeArrowheads="1"/>
              </p:cNvSpPr>
              <p:nvPr/>
            </p:nvSpPr>
            <p:spPr bwMode="auto">
              <a:xfrm>
                <a:off x="3268" y="1204"/>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1" name="Line 29">
                <a:extLst>
                  <a:ext uri="{FF2B5EF4-FFF2-40B4-BE49-F238E27FC236}">
                    <a16:creationId xmlns:a16="http://schemas.microsoft.com/office/drawing/2014/main" id="{69E5BA63-7CC7-4569-AC63-7577781F8F72}"/>
                  </a:ext>
                </a:extLst>
              </p:cNvPr>
              <p:cNvSpPr>
                <a:spLocks noChangeShapeType="1"/>
              </p:cNvSpPr>
              <p:nvPr/>
            </p:nvSpPr>
            <p:spPr bwMode="auto">
              <a:xfrm>
                <a:off x="3028" y="1300"/>
                <a:ext cx="136"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402" name="Line 30">
                <a:extLst>
                  <a:ext uri="{FF2B5EF4-FFF2-40B4-BE49-F238E27FC236}">
                    <a16:creationId xmlns:a16="http://schemas.microsoft.com/office/drawing/2014/main" id="{D6CDD923-9B31-44AC-A006-E270AC797C6F}"/>
                  </a:ext>
                </a:extLst>
              </p:cNvPr>
              <p:cNvSpPr>
                <a:spLocks noChangeShapeType="1"/>
              </p:cNvSpPr>
              <p:nvPr/>
            </p:nvSpPr>
            <p:spPr bwMode="auto">
              <a:xfrm>
                <a:off x="3168" y="1300"/>
                <a:ext cx="0"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403" name="Line 31">
                <a:extLst>
                  <a:ext uri="{FF2B5EF4-FFF2-40B4-BE49-F238E27FC236}">
                    <a16:creationId xmlns:a16="http://schemas.microsoft.com/office/drawing/2014/main" id="{DEF34BDF-A68E-4354-9D2D-207B08C72A8A}"/>
                  </a:ext>
                </a:extLst>
              </p:cNvPr>
              <p:cNvSpPr>
                <a:spLocks noChangeShapeType="1"/>
              </p:cNvSpPr>
              <p:nvPr/>
            </p:nvSpPr>
            <p:spPr bwMode="auto">
              <a:xfrm flipH="1">
                <a:off x="3164" y="1300"/>
                <a:ext cx="152"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grpSp>
        <p:sp>
          <p:nvSpPr>
            <p:cNvPr id="14377" name="Rectangle 32">
              <a:extLst>
                <a:ext uri="{FF2B5EF4-FFF2-40B4-BE49-F238E27FC236}">
                  <a16:creationId xmlns:a16="http://schemas.microsoft.com/office/drawing/2014/main" id="{C0D5C105-BBAC-4CEE-84EB-D5FED8162678}"/>
                </a:ext>
              </a:extLst>
            </p:cNvPr>
            <p:cNvSpPr>
              <a:spLocks noChangeArrowheads="1"/>
            </p:cNvSpPr>
            <p:nvPr/>
          </p:nvSpPr>
          <p:spPr bwMode="auto">
            <a:xfrm>
              <a:off x="3458" y="1693"/>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en-US" altLang="zh-CN" sz="2800">
                  <a:solidFill>
                    <a:schemeClr val="tx1"/>
                  </a:solidFill>
                </a:rPr>
                <a:t>H</a:t>
              </a:r>
            </a:p>
          </p:txBody>
        </p:sp>
        <p:sp>
          <p:nvSpPr>
            <p:cNvPr id="14378" name="Oval 33">
              <a:extLst>
                <a:ext uri="{FF2B5EF4-FFF2-40B4-BE49-F238E27FC236}">
                  <a16:creationId xmlns:a16="http://schemas.microsoft.com/office/drawing/2014/main" id="{FF4FB6C6-2B1E-4DEE-81B3-F43E03687751}"/>
                </a:ext>
              </a:extLst>
            </p:cNvPr>
            <p:cNvSpPr>
              <a:spLocks noChangeArrowheads="1"/>
            </p:cNvSpPr>
            <p:nvPr/>
          </p:nvSpPr>
          <p:spPr bwMode="auto">
            <a:xfrm>
              <a:off x="3362" y="2029"/>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9" name="Oval 34">
              <a:extLst>
                <a:ext uri="{FF2B5EF4-FFF2-40B4-BE49-F238E27FC236}">
                  <a16:creationId xmlns:a16="http://schemas.microsoft.com/office/drawing/2014/main" id="{022910EC-6580-4A34-B4F1-022E3CF65068}"/>
                </a:ext>
              </a:extLst>
            </p:cNvPr>
            <p:cNvSpPr>
              <a:spLocks noChangeArrowheads="1"/>
            </p:cNvSpPr>
            <p:nvPr/>
          </p:nvSpPr>
          <p:spPr bwMode="auto">
            <a:xfrm>
              <a:off x="3506" y="2029"/>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0" name="Oval 35">
              <a:extLst>
                <a:ext uri="{FF2B5EF4-FFF2-40B4-BE49-F238E27FC236}">
                  <a16:creationId xmlns:a16="http://schemas.microsoft.com/office/drawing/2014/main" id="{98BFD0FF-76F3-4FD2-9F72-19DE72CCB97F}"/>
                </a:ext>
              </a:extLst>
            </p:cNvPr>
            <p:cNvSpPr>
              <a:spLocks noChangeArrowheads="1"/>
            </p:cNvSpPr>
            <p:nvPr/>
          </p:nvSpPr>
          <p:spPr bwMode="auto">
            <a:xfrm>
              <a:off x="3650" y="2029"/>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1" name="Line 36">
              <a:extLst>
                <a:ext uri="{FF2B5EF4-FFF2-40B4-BE49-F238E27FC236}">
                  <a16:creationId xmlns:a16="http://schemas.microsoft.com/office/drawing/2014/main" id="{6CB68DC6-683D-40B5-9E66-63D57DD1EEF6}"/>
                </a:ext>
              </a:extLst>
            </p:cNvPr>
            <p:cNvSpPr>
              <a:spLocks noChangeShapeType="1"/>
            </p:cNvSpPr>
            <p:nvPr/>
          </p:nvSpPr>
          <p:spPr bwMode="auto">
            <a:xfrm flipV="1">
              <a:off x="3410" y="1877"/>
              <a:ext cx="136" cy="1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82" name="Line 37">
              <a:extLst>
                <a:ext uri="{FF2B5EF4-FFF2-40B4-BE49-F238E27FC236}">
                  <a16:creationId xmlns:a16="http://schemas.microsoft.com/office/drawing/2014/main" id="{08283941-439A-42CC-9B84-DD49AE84E2F9}"/>
                </a:ext>
              </a:extLst>
            </p:cNvPr>
            <p:cNvSpPr>
              <a:spLocks noChangeShapeType="1"/>
            </p:cNvSpPr>
            <p:nvPr/>
          </p:nvSpPr>
          <p:spPr bwMode="auto">
            <a:xfrm flipV="1">
              <a:off x="3550" y="1877"/>
              <a:ext cx="0" cy="1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83" name="Line 38">
              <a:extLst>
                <a:ext uri="{FF2B5EF4-FFF2-40B4-BE49-F238E27FC236}">
                  <a16:creationId xmlns:a16="http://schemas.microsoft.com/office/drawing/2014/main" id="{3756A8D7-04DA-4A5B-8A69-C364316458BF}"/>
                </a:ext>
              </a:extLst>
            </p:cNvPr>
            <p:cNvSpPr>
              <a:spLocks noChangeShapeType="1"/>
            </p:cNvSpPr>
            <p:nvPr/>
          </p:nvSpPr>
          <p:spPr bwMode="auto">
            <a:xfrm flipH="1" flipV="1">
              <a:off x="3546" y="1877"/>
              <a:ext cx="152" cy="1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84" name="Line 39">
              <a:extLst>
                <a:ext uri="{FF2B5EF4-FFF2-40B4-BE49-F238E27FC236}">
                  <a16:creationId xmlns:a16="http://schemas.microsoft.com/office/drawing/2014/main" id="{72F82C58-9989-4FEA-910C-A8E2DC0F88F9}"/>
                </a:ext>
              </a:extLst>
            </p:cNvPr>
            <p:cNvSpPr>
              <a:spLocks noChangeShapeType="1"/>
            </p:cNvSpPr>
            <p:nvPr/>
          </p:nvSpPr>
          <p:spPr bwMode="auto">
            <a:xfrm>
              <a:off x="3362" y="1785"/>
              <a:ext cx="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85" name="Line 40">
              <a:extLst>
                <a:ext uri="{FF2B5EF4-FFF2-40B4-BE49-F238E27FC236}">
                  <a16:creationId xmlns:a16="http://schemas.microsoft.com/office/drawing/2014/main" id="{648947B0-1FAF-4FE6-A9D7-9B7F9B1F25E8}"/>
                </a:ext>
              </a:extLst>
            </p:cNvPr>
            <p:cNvSpPr>
              <a:spLocks noChangeShapeType="1"/>
            </p:cNvSpPr>
            <p:nvPr/>
          </p:nvSpPr>
          <p:spPr bwMode="auto">
            <a:xfrm>
              <a:off x="2546" y="1785"/>
              <a:ext cx="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86" name="Line 41">
              <a:extLst>
                <a:ext uri="{FF2B5EF4-FFF2-40B4-BE49-F238E27FC236}">
                  <a16:creationId xmlns:a16="http://schemas.microsoft.com/office/drawing/2014/main" id="{86BB44FB-4074-4C5F-83E6-102D3A9AC9FB}"/>
                </a:ext>
              </a:extLst>
            </p:cNvPr>
            <p:cNvSpPr>
              <a:spLocks noChangeShapeType="1"/>
            </p:cNvSpPr>
            <p:nvPr/>
          </p:nvSpPr>
          <p:spPr bwMode="auto">
            <a:xfrm>
              <a:off x="2834" y="1785"/>
              <a:ext cx="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87" name="Rectangle 42">
              <a:extLst>
                <a:ext uri="{FF2B5EF4-FFF2-40B4-BE49-F238E27FC236}">
                  <a16:creationId xmlns:a16="http://schemas.microsoft.com/office/drawing/2014/main" id="{1CA798BC-83C2-4536-A54B-B5C896958285}"/>
                </a:ext>
              </a:extLst>
            </p:cNvPr>
            <p:cNvSpPr>
              <a:spLocks noChangeArrowheads="1"/>
            </p:cNvSpPr>
            <p:nvPr/>
          </p:nvSpPr>
          <p:spPr bwMode="auto">
            <a:xfrm>
              <a:off x="4082" y="1885"/>
              <a:ext cx="808"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000" b="1">
                  <a:solidFill>
                    <a:schemeClr val="tx1"/>
                  </a:solidFill>
                </a:rPr>
                <a:t>路由器</a:t>
              </a:r>
            </a:p>
          </p:txBody>
        </p:sp>
        <p:grpSp>
          <p:nvGrpSpPr>
            <p:cNvPr id="14388" name="Group 43">
              <a:extLst>
                <a:ext uri="{FF2B5EF4-FFF2-40B4-BE49-F238E27FC236}">
                  <a16:creationId xmlns:a16="http://schemas.microsoft.com/office/drawing/2014/main" id="{A265169E-8004-48E6-9238-32AE025A9B19}"/>
                </a:ext>
              </a:extLst>
            </p:cNvPr>
            <p:cNvGrpSpPr>
              <a:grpSpLocks/>
            </p:cNvGrpSpPr>
            <p:nvPr/>
          </p:nvGrpSpPr>
          <p:grpSpPr bwMode="auto">
            <a:xfrm>
              <a:off x="4866" y="1905"/>
              <a:ext cx="344" cy="96"/>
              <a:chOff x="4772" y="1656"/>
              <a:chExt cx="344" cy="96"/>
            </a:xfrm>
          </p:grpSpPr>
          <p:sp>
            <p:nvSpPr>
              <p:cNvPr id="14394" name="Line 44">
                <a:extLst>
                  <a:ext uri="{FF2B5EF4-FFF2-40B4-BE49-F238E27FC236}">
                    <a16:creationId xmlns:a16="http://schemas.microsoft.com/office/drawing/2014/main" id="{298B7EA1-077B-4404-B19B-8C2A5932D5A9}"/>
                  </a:ext>
                </a:extLst>
              </p:cNvPr>
              <p:cNvSpPr>
                <a:spLocks noChangeShapeType="1"/>
              </p:cNvSpPr>
              <p:nvPr/>
            </p:nvSpPr>
            <p:spPr bwMode="auto">
              <a:xfrm flipH="1">
                <a:off x="4868" y="1656"/>
                <a:ext cx="248"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95" name="Line 45">
                <a:extLst>
                  <a:ext uri="{FF2B5EF4-FFF2-40B4-BE49-F238E27FC236}">
                    <a16:creationId xmlns:a16="http://schemas.microsoft.com/office/drawing/2014/main" id="{F5412D6C-0B68-4D40-9615-B43CEE6F97FD}"/>
                  </a:ext>
                </a:extLst>
              </p:cNvPr>
              <p:cNvSpPr>
                <a:spLocks noChangeShapeType="1"/>
              </p:cNvSpPr>
              <p:nvPr/>
            </p:nvSpPr>
            <p:spPr bwMode="auto">
              <a:xfrm>
                <a:off x="4876" y="1660"/>
                <a:ext cx="88" cy="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96" name="Line 46">
                <a:extLst>
                  <a:ext uri="{FF2B5EF4-FFF2-40B4-BE49-F238E27FC236}">
                    <a16:creationId xmlns:a16="http://schemas.microsoft.com/office/drawing/2014/main" id="{ED2BE9E3-93F8-44BE-91AA-E66FD47B7205}"/>
                  </a:ext>
                </a:extLst>
              </p:cNvPr>
              <p:cNvSpPr>
                <a:spLocks noChangeShapeType="1"/>
              </p:cNvSpPr>
              <p:nvPr/>
            </p:nvSpPr>
            <p:spPr bwMode="auto">
              <a:xfrm flipH="1">
                <a:off x="4772" y="1752"/>
                <a:ext cx="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grpSp>
        <p:sp>
          <p:nvSpPr>
            <p:cNvPr id="14389" name="Line 47">
              <a:extLst>
                <a:ext uri="{FF2B5EF4-FFF2-40B4-BE49-F238E27FC236}">
                  <a16:creationId xmlns:a16="http://schemas.microsoft.com/office/drawing/2014/main" id="{EF633A49-D43B-461A-AA65-84C5D4CE06E4}"/>
                </a:ext>
              </a:extLst>
            </p:cNvPr>
            <p:cNvSpPr>
              <a:spLocks noChangeShapeType="1"/>
            </p:cNvSpPr>
            <p:nvPr/>
          </p:nvSpPr>
          <p:spPr bwMode="auto">
            <a:xfrm>
              <a:off x="3938" y="2025"/>
              <a:ext cx="1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90" name="Rectangle 48">
              <a:extLst>
                <a:ext uri="{FF2B5EF4-FFF2-40B4-BE49-F238E27FC236}">
                  <a16:creationId xmlns:a16="http://schemas.microsoft.com/office/drawing/2014/main" id="{11366E4C-29DA-4821-AF51-11291C357582}"/>
                </a:ext>
              </a:extLst>
            </p:cNvPr>
            <p:cNvSpPr>
              <a:spLocks noChangeArrowheads="1"/>
            </p:cNvSpPr>
            <p:nvPr/>
          </p:nvSpPr>
          <p:spPr bwMode="auto">
            <a:xfrm>
              <a:off x="3991" y="979"/>
              <a:ext cx="1490" cy="5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r>
                <a:rPr lang="en-US" altLang="zh-CN" sz="2800">
                  <a:solidFill>
                    <a:schemeClr val="tx1"/>
                  </a:solidFill>
                </a:rPr>
                <a:t>Extended LAN</a:t>
              </a:r>
            </a:p>
            <a:p>
              <a:pPr algn="l"/>
              <a:r>
                <a:rPr lang="en-US" altLang="zh-CN" sz="2800">
                  <a:solidFill>
                    <a:schemeClr val="tx1"/>
                  </a:solidFill>
                </a:rPr>
                <a:t>=</a:t>
              </a:r>
              <a:r>
                <a:rPr lang="zh-CN" altLang="en-US" sz="2800" b="1">
                  <a:solidFill>
                    <a:schemeClr val="folHlink"/>
                  </a:solidFill>
                </a:rPr>
                <a:t>扩展域</a:t>
              </a:r>
              <a:endParaRPr lang="zh-CN" altLang="en-US" sz="2800">
                <a:solidFill>
                  <a:schemeClr val="folHlink"/>
                </a:solidFill>
              </a:endParaRPr>
            </a:p>
          </p:txBody>
        </p:sp>
        <p:sp>
          <p:nvSpPr>
            <p:cNvPr id="14391" name="Rectangle 49">
              <a:extLst>
                <a:ext uri="{FF2B5EF4-FFF2-40B4-BE49-F238E27FC236}">
                  <a16:creationId xmlns:a16="http://schemas.microsoft.com/office/drawing/2014/main" id="{96B311C5-21EE-4410-948E-9B6A0DEE72C4}"/>
                </a:ext>
              </a:extLst>
            </p:cNvPr>
            <p:cNvSpPr>
              <a:spLocks noChangeArrowheads="1"/>
            </p:cNvSpPr>
            <p:nvPr/>
          </p:nvSpPr>
          <p:spPr bwMode="auto">
            <a:xfrm>
              <a:off x="512" y="1459"/>
              <a:ext cx="797" cy="5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en-US" altLang="zh-CN" sz="2800">
                  <a:solidFill>
                    <a:schemeClr val="tx1"/>
                  </a:solidFill>
                </a:rPr>
                <a:t>LAN=</a:t>
              </a:r>
            </a:p>
            <a:p>
              <a:r>
                <a:rPr lang="zh-CN" altLang="en-US" sz="2800" b="1">
                  <a:solidFill>
                    <a:schemeClr val="folHlink"/>
                  </a:solidFill>
                </a:rPr>
                <a:t>冲突域</a:t>
              </a:r>
              <a:endParaRPr lang="zh-CN" altLang="en-US" sz="2800">
                <a:solidFill>
                  <a:schemeClr val="folHlink"/>
                </a:solidFill>
              </a:endParaRPr>
            </a:p>
          </p:txBody>
        </p:sp>
        <p:sp>
          <p:nvSpPr>
            <p:cNvPr id="14392" name="Line 50">
              <a:extLst>
                <a:ext uri="{FF2B5EF4-FFF2-40B4-BE49-F238E27FC236}">
                  <a16:creationId xmlns:a16="http://schemas.microsoft.com/office/drawing/2014/main" id="{46D02B46-23B0-4B5C-A765-9BB63828C49F}"/>
                </a:ext>
              </a:extLst>
            </p:cNvPr>
            <p:cNvSpPr>
              <a:spLocks noChangeShapeType="1"/>
            </p:cNvSpPr>
            <p:nvPr/>
          </p:nvSpPr>
          <p:spPr bwMode="auto">
            <a:xfrm flipV="1">
              <a:off x="1298" y="1877"/>
              <a:ext cx="328" cy="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93" name="Line 51">
              <a:extLst>
                <a:ext uri="{FF2B5EF4-FFF2-40B4-BE49-F238E27FC236}">
                  <a16:creationId xmlns:a16="http://schemas.microsoft.com/office/drawing/2014/main" id="{22C2AC3C-D418-43EC-820E-95BF82435CB5}"/>
                </a:ext>
              </a:extLst>
            </p:cNvPr>
            <p:cNvSpPr>
              <a:spLocks noChangeShapeType="1"/>
            </p:cNvSpPr>
            <p:nvPr/>
          </p:nvSpPr>
          <p:spPr bwMode="auto">
            <a:xfrm flipV="1">
              <a:off x="3746" y="1157"/>
              <a:ext cx="280" cy="20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grpSp>
      <p:grpSp>
        <p:nvGrpSpPr>
          <p:cNvPr id="1697844" name="Group 52">
            <a:extLst>
              <a:ext uri="{FF2B5EF4-FFF2-40B4-BE49-F238E27FC236}">
                <a16:creationId xmlns:a16="http://schemas.microsoft.com/office/drawing/2014/main" id="{3914180D-2190-47F9-93B5-F34EA77EB5B9}"/>
              </a:ext>
            </a:extLst>
          </p:cNvPr>
          <p:cNvGrpSpPr>
            <a:grpSpLocks/>
          </p:cNvGrpSpPr>
          <p:nvPr/>
        </p:nvGrpSpPr>
        <p:grpSpPr bwMode="auto">
          <a:xfrm>
            <a:off x="2098676" y="3754438"/>
            <a:ext cx="7912100" cy="2349500"/>
            <a:chOff x="292" y="2404"/>
            <a:chExt cx="4984" cy="1480"/>
          </a:xfrm>
        </p:grpSpPr>
        <p:sp>
          <p:nvSpPr>
            <p:cNvPr id="14343" name="Line 53">
              <a:extLst>
                <a:ext uri="{FF2B5EF4-FFF2-40B4-BE49-F238E27FC236}">
                  <a16:creationId xmlns:a16="http://schemas.microsoft.com/office/drawing/2014/main" id="{A76287A0-3D1E-4AB6-A397-0FA65F21BEB9}"/>
                </a:ext>
              </a:extLst>
            </p:cNvPr>
            <p:cNvSpPr>
              <a:spLocks noChangeShapeType="1"/>
            </p:cNvSpPr>
            <p:nvPr/>
          </p:nvSpPr>
          <p:spPr bwMode="auto">
            <a:xfrm>
              <a:off x="1588" y="2592"/>
              <a:ext cx="2392" cy="0"/>
            </a:xfrm>
            <a:prstGeom prst="line">
              <a:avLst/>
            </a:prstGeom>
            <a:noFill/>
            <a:ln w="12700" cap="rnd">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44" name="Line 54">
              <a:extLst>
                <a:ext uri="{FF2B5EF4-FFF2-40B4-BE49-F238E27FC236}">
                  <a16:creationId xmlns:a16="http://schemas.microsoft.com/office/drawing/2014/main" id="{60992032-6643-43B5-A520-B100236EF458}"/>
                </a:ext>
              </a:extLst>
            </p:cNvPr>
            <p:cNvSpPr>
              <a:spLocks noChangeShapeType="1"/>
            </p:cNvSpPr>
            <p:nvPr/>
          </p:nvSpPr>
          <p:spPr bwMode="auto">
            <a:xfrm>
              <a:off x="1588" y="3168"/>
              <a:ext cx="2392" cy="0"/>
            </a:xfrm>
            <a:prstGeom prst="line">
              <a:avLst/>
            </a:prstGeom>
            <a:noFill/>
            <a:ln w="12700" cap="rnd">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45" name="Line 55">
              <a:extLst>
                <a:ext uri="{FF2B5EF4-FFF2-40B4-BE49-F238E27FC236}">
                  <a16:creationId xmlns:a16="http://schemas.microsoft.com/office/drawing/2014/main" id="{D820BC18-2E4E-4EF0-ACD2-1D04C36DC819}"/>
                </a:ext>
              </a:extLst>
            </p:cNvPr>
            <p:cNvSpPr>
              <a:spLocks noChangeShapeType="1"/>
            </p:cNvSpPr>
            <p:nvPr/>
          </p:nvSpPr>
          <p:spPr bwMode="auto">
            <a:xfrm>
              <a:off x="1588" y="2880"/>
              <a:ext cx="2392" cy="0"/>
            </a:xfrm>
            <a:prstGeom prst="line">
              <a:avLst/>
            </a:prstGeom>
            <a:noFill/>
            <a:ln w="12700" cap="rnd">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46" name="Line 56">
              <a:extLst>
                <a:ext uri="{FF2B5EF4-FFF2-40B4-BE49-F238E27FC236}">
                  <a16:creationId xmlns:a16="http://schemas.microsoft.com/office/drawing/2014/main" id="{F1E1AD88-9323-49FA-B3D6-114096AB5AFF}"/>
                </a:ext>
              </a:extLst>
            </p:cNvPr>
            <p:cNvSpPr>
              <a:spLocks noChangeShapeType="1"/>
            </p:cNvSpPr>
            <p:nvPr/>
          </p:nvSpPr>
          <p:spPr bwMode="auto">
            <a:xfrm>
              <a:off x="1588" y="3456"/>
              <a:ext cx="2392" cy="0"/>
            </a:xfrm>
            <a:prstGeom prst="line">
              <a:avLst/>
            </a:prstGeom>
            <a:noFill/>
            <a:ln w="127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47" name="Line 57">
              <a:extLst>
                <a:ext uri="{FF2B5EF4-FFF2-40B4-BE49-F238E27FC236}">
                  <a16:creationId xmlns:a16="http://schemas.microsoft.com/office/drawing/2014/main" id="{ABB3C4F4-965F-49EB-85AD-87DD5E458EBB}"/>
                </a:ext>
              </a:extLst>
            </p:cNvPr>
            <p:cNvSpPr>
              <a:spLocks noChangeShapeType="1"/>
            </p:cNvSpPr>
            <p:nvPr/>
          </p:nvSpPr>
          <p:spPr bwMode="auto">
            <a:xfrm>
              <a:off x="1588" y="3744"/>
              <a:ext cx="2392" cy="0"/>
            </a:xfrm>
            <a:prstGeom prst="line">
              <a:avLst/>
            </a:prstGeom>
            <a:noFill/>
            <a:ln w="127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48" name="Rectangle 58">
              <a:extLst>
                <a:ext uri="{FF2B5EF4-FFF2-40B4-BE49-F238E27FC236}">
                  <a16:creationId xmlns:a16="http://schemas.microsoft.com/office/drawing/2014/main" id="{E403607F-84A0-4D2B-9AE7-23A0A4E828B3}"/>
                </a:ext>
              </a:extLst>
            </p:cNvPr>
            <p:cNvSpPr>
              <a:spLocks noChangeArrowheads="1"/>
            </p:cNvSpPr>
            <p:nvPr/>
          </p:nvSpPr>
          <p:spPr bwMode="auto">
            <a:xfrm>
              <a:off x="292" y="3028"/>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网络层</a:t>
              </a:r>
            </a:p>
          </p:txBody>
        </p:sp>
        <p:sp>
          <p:nvSpPr>
            <p:cNvPr id="14349" name="Rectangle 59">
              <a:extLst>
                <a:ext uri="{FF2B5EF4-FFF2-40B4-BE49-F238E27FC236}">
                  <a16:creationId xmlns:a16="http://schemas.microsoft.com/office/drawing/2014/main" id="{9F9B2EB2-1D7C-4A3B-840E-3D80EF86F208}"/>
                </a:ext>
              </a:extLst>
            </p:cNvPr>
            <p:cNvSpPr>
              <a:spLocks noChangeArrowheads="1"/>
            </p:cNvSpPr>
            <p:nvPr/>
          </p:nvSpPr>
          <p:spPr bwMode="auto">
            <a:xfrm>
              <a:off x="292" y="3316"/>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数据链路层</a:t>
              </a:r>
            </a:p>
          </p:txBody>
        </p:sp>
        <p:sp>
          <p:nvSpPr>
            <p:cNvPr id="14350" name="Rectangle 60">
              <a:extLst>
                <a:ext uri="{FF2B5EF4-FFF2-40B4-BE49-F238E27FC236}">
                  <a16:creationId xmlns:a16="http://schemas.microsoft.com/office/drawing/2014/main" id="{3E015318-4C86-496C-85F0-597EC0191CC6}"/>
                </a:ext>
              </a:extLst>
            </p:cNvPr>
            <p:cNvSpPr>
              <a:spLocks noChangeArrowheads="1"/>
            </p:cNvSpPr>
            <p:nvPr/>
          </p:nvSpPr>
          <p:spPr bwMode="auto">
            <a:xfrm>
              <a:off x="292" y="3604"/>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物理层</a:t>
              </a:r>
            </a:p>
          </p:txBody>
        </p:sp>
        <p:sp>
          <p:nvSpPr>
            <p:cNvPr id="14351" name="Rectangle 61">
              <a:extLst>
                <a:ext uri="{FF2B5EF4-FFF2-40B4-BE49-F238E27FC236}">
                  <a16:creationId xmlns:a16="http://schemas.microsoft.com/office/drawing/2014/main" id="{22C525A2-4BB9-4A07-8452-08779D1EFD3B}"/>
                </a:ext>
              </a:extLst>
            </p:cNvPr>
            <p:cNvSpPr>
              <a:spLocks noChangeArrowheads="1"/>
            </p:cNvSpPr>
            <p:nvPr/>
          </p:nvSpPr>
          <p:spPr bwMode="auto">
            <a:xfrm>
              <a:off x="292" y="2740"/>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传输层</a:t>
              </a:r>
            </a:p>
          </p:txBody>
        </p:sp>
        <p:grpSp>
          <p:nvGrpSpPr>
            <p:cNvPr id="14352" name="Group 62">
              <a:extLst>
                <a:ext uri="{FF2B5EF4-FFF2-40B4-BE49-F238E27FC236}">
                  <a16:creationId xmlns:a16="http://schemas.microsoft.com/office/drawing/2014/main" id="{6321D928-E3EA-4B6E-A008-3A07038E5ADC}"/>
                </a:ext>
              </a:extLst>
            </p:cNvPr>
            <p:cNvGrpSpPr>
              <a:grpSpLocks/>
            </p:cNvGrpSpPr>
            <p:nvPr/>
          </p:nvGrpSpPr>
          <p:grpSpPr bwMode="auto">
            <a:xfrm>
              <a:off x="2016" y="2448"/>
              <a:ext cx="1432" cy="1432"/>
              <a:chOff x="2020" y="2452"/>
              <a:chExt cx="1432" cy="1432"/>
            </a:xfrm>
          </p:grpSpPr>
          <p:sp>
            <p:nvSpPr>
              <p:cNvPr id="14359" name="Rectangle 63">
                <a:extLst>
                  <a:ext uri="{FF2B5EF4-FFF2-40B4-BE49-F238E27FC236}">
                    <a16:creationId xmlns:a16="http://schemas.microsoft.com/office/drawing/2014/main" id="{BFF81AC6-768E-4EF4-A40A-4944D2F07D2D}"/>
                  </a:ext>
                </a:extLst>
              </p:cNvPr>
              <p:cNvSpPr>
                <a:spLocks noChangeArrowheads="1"/>
              </p:cNvSpPr>
              <p:nvPr/>
            </p:nvSpPr>
            <p:spPr bwMode="auto">
              <a:xfrm>
                <a:off x="2020" y="3076"/>
                <a:ext cx="14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000" b="1">
                    <a:solidFill>
                      <a:schemeClr val="folHlink"/>
                    </a:solidFill>
                  </a:rPr>
                  <a:t>路由器</a:t>
                </a:r>
              </a:p>
            </p:txBody>
          </p:sp>
          <p:sp>
            <p:nvSpPr>
              <p:cNvPr id="14360" name="Rectangle 64">
                <a:extLst>
                  <a:ext uri="{FF2B5EF4-FFF2-40B4-BE49-F238E27FC236}">
                    <a16:creationId xmlns:a16="http://schemas.microsoft.com/office/drawing/2014/main" id="{DBC2D10A-CFCC-4569-8DDE-E57979031BBA}"/>
                  </a:ext>
                </a:extLst>
              </p:cNvPr>
              <p:cNvSpPr>
                <a:spLocks noChangeArrowheads="1"/>
              </p:cNvSpPr>
              <p:nvPr/>
            </p:nvSpPr>
            <p:spPr bwMode="auto">
              <a:xfrm>
                <a:off x="2020" y="3364"/>
                <a:ext cx="14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000" b="1">
                    <a:solidFill>
                      <a:schemeClr val="folHlink"/>
                    </a:solidFill>
                  </a:rPr>
                  <a:t>网桥</a:t>
                </a:r>
                <a:r>
                  <a:rPr lang="en-US" altLang="zh-CN" sz="2000" b="1">
                    <a:solidFill>
                      <a:schemeClr val="folHlink"/>
                    </a:solidFill>
                  </a:rPr>
                  <a:t>/</a:t>
                </a:r>
                <a:r>
                  <a:rPr lang="zh-CN" altLang="en-US" sz="2000" b="1">
                    <a:solidFill>
                      <a:schemeClr val="folHlink"/>
                    </a:solidFill>
                  </a:rPr>
                  <a:t>交换机</a:t>
                </a:r>
              </a:p>
            </p:txBody>
          </p:sp>
          <p:sp>
            <p:nvSpPr>
              <p:cNvPr id="14361" name="Rectangle 65">
                <a:extLst>
                  <a:ext uri="{FF2B5EF4-FFF2-40B4-BE49-F238E27FC236}">
                    <a16:creationId xmlns:a16="http://schemas.microsoft.com/office/drawing/2014/main" id="{E65F362D-1A7A-421C-989E-F1E94090BF3C}"/>
                  </a:ext>
                </a:extLst>
              </p:cNvPr>
              <p:cNvSpPr>
                <a:spLocks noChangeArrowheads="1"/>
              </p:cNvSpPr>
              <p:nvPr/>
            </p:nvSpPr>
            <p:spPr bwMode="auto">
              <a:xfrm>
                <a:off x="2020" y="3652"/>
                <a:ext cx="14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000" b="1">
                    <a:solidFill>
                      <a:schemeClr val="folHlink"/>
                    </a:solidFill>
                  </a:rPr>
                  <a:t>中继器</a:t>
                </a:r>
                <a:r>
                  <a:rPr lang="en-US" altLang="zh-CN" sz="2000" b="1">
                    <a:solidFill>
                      <a:schemeClr val="folHlink"/>
                    </a:solidFill>
                  </a:rPr>
                  <a:t>/</a:t>
                </a:r>
                <a:r>
                  <a:rPr lang="zh-CN" altLang="en-US" sz="2000" b="1">
                    <a:solidFill>
                      <a:schemeClr val="folHlink"/>
                    </a:solidFill>
                  </a:rPr>
                  <a:t>集线器</a:t>
                </a:r>
              </a:p>
            </p:txBody>
          </p:sp>
          <p:sp>
            <p:nvSpPr>
              <p:cNvPr id="14362" name="Rectangle 66">
                <a:extLst>
                  <a:ext uri="{FF2B5EF4-FFF2-40B4-BE49-F238E27FC236}">
                    <a16:creationId xmlns:a16="http://schemas.microsoft.com/office/drawing/2014/main" id="{EF6A9625-3E0F-4D2F-9638-5EDF3191C318}"/>
                  </a:ext>
                </a:extLst>
              </p:cNvPr>
              <p:cNvSpPr>
                <a:spLocks noChangeArrowheads="1"/>
              </p:cNvSpPr>
              <p:nvPr/>
            </p:nvSpPr>
            <p:spPr bwMode="auto">
              <a:xfrm>
                <a:off x="2020" y="2452"/>
                <a:ext cx="1432" cy="56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000" b="1">
                    <a:solidFill>
                      <a:schemeClr val="folHlink"/>
                    </a:solidFill>
                  </a:rPr>
                  <a:t>网关</a:t>
                </a:r>
              </a:p>
            </p:txBody>
          </p:sp>
        </p:grpSp>
        <p:sp>
          <p:nvSpPr>
            <p:cNvPr id="14353" name="Rectangle 67">
              <a:extLst>
                <a:ext uri="{FF2B5EF4-FFF2-40B4-BE49-F238E27FC236}">
                  <a16:creationId xmlns:a16="http://schemas.microsoft.com/office/drawing/2014/main" id="{F2D2ED4D-213D-4865-BC80-3007534AF798}"/>
                </a:ext>
              </a:extLst>
            </p:cNvPr>
            <p:cNvSpPr>
              <a:spLocks noChangeArrowheads="1"/>
            </p:cNvSpPr>
            <p:nvPr/>
          </p:nvSpPr>
          <p:spPr bwMode="auto">
            <a:xfrm>
              <a:off x="292" y="2404"/>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应用层</a:t>
              </a:r>
            </a:p>
          </p:txBody>
        </p:sp>
        <p:sp>
          <p:nvSpPr>
            <p:cNvPr id="14354" name="Rectangle 68">
              <a:extLst>
                <a:ext uri="{FF2B5EF4-FFF2-40B4-BE49-F238E27FC236}">
                  <a16:creationId xmlns:a16="http://schemas.microsoft.com/office/drawing/2014/main" id="{CEAF9139-56E6-4175-8D8E-516DD9CC044F}"/>
                </a:ext>
              </a:extLst>
            </p:cNvPr>
            <p:cNvSpPr>
              <a:spLocks noChangeArrowheads="1"/>
            </p:cNvSpPr>
            <p:nvPr/>
          </p:nvSpPr>
          <p:spPr bwMode="auto">
            <a:xfrm>
              <a:off x="3988" y="3028"/>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网络层</a:t>
              </a:r>
            </a:p>
          </p:txBody>
        </p:sp>
        <p:sp>
          <p:nvSpPr>
            <p:cNvPr id="14355" name="Rectangle 69">
              <a:extLst>
                <a:ext uri="{FF2B5EF4-FFF2-40B4-BE49-F238E27FC236}">
                  <a16:creationId xmlns:a16="http://schemas.microsoft.com/office/drawing/2014/main" id="{2A1DDC74-9357-44D0-B31B-233DDD3D7CE8}"/>
                </a:ext>
              </a:extLst>
            </p:cNvPr>
            <p:cNvSpPr>
              <a:spLocks noChangeArrowheads="1"/>
            </p:cNvSpPr>
            <p:nvPr/>
          </p:nvSpPr>
          <p:spPr bwMode="auto">
            <a:xfrm>
              <a:off x="3988" y="3316"/>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数据链路层</a:t>
              </a:r>
            </a:p>
          </p:txBody>
        </p:sp>
        <p:sp>
          <p:nvSpPr>
            <p:cNvPr id="14356" name="Rectangle 70">
              <a:extLst>
                <a:ext uri="{FF2B5EF4-FFF2-40B4-BE49-F238E27FC236}">
                  <a16:creationId xmlns:a16="http://schemas.microsoft.com/office/drawing/2014/main" id="{F8E0D9D6-63DE-4110-B1D7-5FED8A011522}"/>
                </a:ext>
              </a:extLst>
            </p:cNvPr>
            <p:cNvSpPr>
              <a:spLocks noChangeArrowheads="1"/>
            </p:cNvSpPr>
            <p:nvPr/>
          </p:nvSpPr>
          <p:spPr bwMode="auto">
            <a:xfrm>
              <a:off x="3988" y="3604"/>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物理层</a:t>
              </a:r>
            </a:p>
          </p:txBody>
        </p:sp>
        <p:sp>
          <p:nvSpPr>
            <p:cNvPr id="14357" name="Rectangle 71">
              <a:extLst>
                <a:ext uri="{FF2B5EF4-FFF2-40B4-BE49-F238E27FC236}">
                  <a16:creationId xmlns:a16="http://schemas.microsoft.com/office/drawing/2014/main" id="{3A6675DE-B516-444F-ACEF-590CC41915DC}"/>
                </a:ext>
              </a:extLst>
            </p:cNvPr>
            <p:cNvSpPr>
              <a:spLocks noChangeArrowheads="1"/>
            </p:cNvSpPr>
            <p:nvPr/>
          </p:nvSpPr>
          <p:spPr bwMode="auto">
            <a:xfrm>
              <a:off x="3988" y="2740"/>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传输层</a:t>
              </a:r>
            </a:p>
          </p:txBody>
        </p:sp>
        <p:sp>
          <p:nvSpPr>
            <p:cNvPr id="14358" name="Rectangle 72">
              <a:extLst>
                <a:ext uri="{FF2B5EF4-FFF2-40B4-BE49-F238E27FC236}">
                  <a16:creationId xmlns:a16="http://schemas.microsoft.com/office/drawing/2014/main" id="{5C1453C5-D9C4-4623-AF8D-CF563DAA9120}"/>
                </a:ext>
              </a:extLst>
            </p:cNvPr>
            <p:cNvSpPr>
              <a:spLocks noChangeArrowheads="1"/>
            </p:cNvSpPr>
            <p:nvPr/>
          </p:nvSpPr>
          <p:spPr bwMode="auto">
            <a:xfrm>
              <a:off x="3988" y="2404"/>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应用层</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697844"/>
                                        </p:tgtEl>
                                        <p:attrNameLst>
                                          <p:attrName>style.visibility</p:attrName>
                                        </p:attrNameLst>
                                      </p:cBhvr>
                                      <p:to>
                                        <p:strVal val="visible"/>
                                      </p:to>
                                    </p:set>
                                    <p:anim calcmode="lin" valueType="num">
                                      <p:cBhvr additive="base">
                                        <p:cTn id="7" dur="500" fill="hold"/>
                                        <p:tgtEl>
                                          <p:spTgt spid="1697844"/>
                                        </p:tgtEl>
                                        <p:attrNameLst>
                                          <p:attrName>ppt_x</p:attrName>
                                        </p:attrNameLst>
                                      </p:cBhvr>
                                      <p:tavLst>
                                        <p:tav tm="0">
                                          <p:val>
                                            <p:strVal val="1+#ppt_w/2"/>
                                          </p:val>
                                        </p:tav>
                                        <p:tav tm="100000">
                                          <p:val>
                                            <p:strVal val="#ppt_x"/>
                                          </p:val>
                                        </p:tav>
                                      </p:tavLst>
                                    </p:anim>
                                    <p:anim calcmode="lin" valueType="num">
                                      <p:cBhvr additive="base">
                                        <p:cTn id="8" dur="500" fill="hold"/>
                                        <p:tgtEl>
                                          <p:spTgt spid="169784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697795"/>
                                        </p:tgtEl>
                                        <p:attrNameLst>
                                          <p:attrName>style.visibility</p:attrName>
                                        </p:attrNameLst>
                                      </p:cBhvr>
                                      <p:to>
                                        <p:strVal val="visible"/>
                                      </p:to>
                                    </p:set>
                                    <p:anim calcmode="lin" valueType="num">
                                      <p:cBhvr additive="base">
                                        <p:cTn id="13" dur="500" fill="hold"/>
                                        <p:tgtEl>
                                          <p:spTgt spid="1697795"/>
                                        </p:tgtEl>
                                        <p:attrNameLst>
                                          <p:attrName>ppt_x</p:attrName>
                                        </p:attrNameLst>
                                      </p:cBhvr>
                                      <p:tavLst>
                                        <p:tav tm="0">
                                          <p:val>
                                            <p:strVal val="1+#ppt_w/2"/>
                                          </p:val>
                                        </p:tav>
                                        <p:tav tm="100000">
                                          <p:val>
                                            <p:strVal val="#ppt_x"/>
                                          </p:val>
                                        </p:tav>
                                      </p:tavLst>
                                    </p:anim>
                                    <p:anim calcmode="lin" valueType="num">
                                      <p:cBhvr additive="base">
                                        <p:cTn id="14" dur="500" fill="hold"/>
                                        <p:tgtEl>
                                          <p:spTgt spid="16977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FF2D5A22-E71E-451F-92A5-6494AC9B6B9D}"/>
              </a:ext>
            </a:extLst>
          </p:cNvPr>
          <p:cNvSpPr>
            <a:spLocks noGrp="1" noChangeArrowheads="1"/>
          </p:cNvSpPr>
          <p:nvPr>
            <p:ph type="title"/>
          </p:nvPr>
        </p:nvSpPr>
        <p:spPr bwMode="auto">
          <a:xfrm>
            <a:off x="2209800" y="400051"/>
            <a:ext cx="7772400" cy="13525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中继器</a:t>
            </a:r>
          </a:p>
        </p:txBody>
      </p:sp>
      <p:sp>
        <p:nvSpPr>
          <p:cNvPr id="1745923" name="Text Box 3">
            <a:extLst>
              <a:ext uri="{FF2B5EF4-FFF2-40B4-BE49-F238E27FC236}">
                <a16:creationId xmlns:a16="http://schemas.microsoft.com/office/drawing/2014/main" id="{51C49770-B7F7-4221-92EE-3CB9C7D366E7}"/>
              </a:ext>
            </a:extLst>
          </p:cNvPr>
          <p:cNvSpPr txBox="1">
            <a:spLocks noChangeArrowheads="1"/>
          </p:cNvSpPr>
          <p:nvPr/>
        </p:nvSpPr>
        <p:spPr bwMode="auto">
          <a:xfrm>
            <a:off x="3159125" y="1560513"/>
            <a:ext cx="6810376" cy="1557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用来连接多个局域网段</a:t>
            </a:r>
          </a:p>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只能用于扩展基带电缆的距离。</a:t>
            </a:r>
          </a:p>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放大所有的信号，其中也包括冲突干扰。</a:t>
            </a:r>
          </a:p>
        </p:txBody>
      </p:sp>
      <p:pic>
        <p:nvPicPr>
          <p:cNvPr id="1745924" name="Picture 4">
            <a:extLst>
              <a:ext uri="{FF2B5EF4-FFF2-40B4-BE49-F238E27FC236}">
                <a16:creationId xmlns:a16="http://schemas.microsoft.com/office/drawing/2014/main" id="{B0527A12-954E-4959-808D-D1D0BBD5C2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4539" y="3400426"/>
            <a:ext cx="8283575" cy="316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745924"/>
                                        </p:tgtEl>
                                        <p:attrNameLst>
                                          <p:attrName>style.visibility</p:attrName>
                                        </p:attrNameLst>
                                      </p:cBhvr>
                                      <p:to>
                                        <p:strVal val="visible"/>
                                      </p:to>
                                    </p:set>
                                    <p:anim calcmode="lin" valueType="num">
                                      <p:cBhvr additive="base">
                                        <p:cTn id="7" dur="500" fill="hold"/>
                                        <p:tgtEl>
                                          <p:spTgt spid="1745924"/>
                                        </p:tgtEl>
                                        <p:attrNameLst>
                                          <p:attrName>ppt_x</p:attrName>
                                        </p:attrNameLst>
                                      </p:cBhvr>
                                      <p:tavLst>
                                        <p:tav tm="0">
                                          <p:val>
                                            <p:strVal val="1+#ppt_w/2"/>
                                          </p:val>
                                        </p:tav>
                                        <p:tav tm="100000">
                                          <p:val>
                                            <p:strVal val="#ppt_x"/>
                                          </p:val>
                                        </p:tav>
                                      </p:tavLst>
                                    </p:anim>
                                    <p:anim calcmode="lin" valueType="num">
                                      <p:cBhvr additive="base">
                                        <p:cTn id="8" dur="500" fill="hold"/>
                                        <p:tgtEl>
                                          <p:spTgt spid="174592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45923">
                                            <p:txEl>
                                              <p:pRg st="0" end="0"/>
                                            </p:txEl>
                                          </p:spTgt>
                                        </p:tgtEl>
                                        <p:attrNameLst>
                                          <p:attrName>style.visibility</p:attrName>
                                        </p:attrNameLst>
                                      </p:cBhvr>
                                      <p:to>
                                        <p:strVal val="visible"/>
                                      </p:to>
                                    </p:set>
                                    <p:anim calcmode="lin" valueType="num">
                                      <p:cBhvr additive="base">
                                        <p:cTn id="13" dur="500" fill="hold"/>
                                        <p:tgtEl>
                                          <p:spTgt spid="174592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459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745923">
                                            <p:txEl>
                                              <p:pRg st="1" end="1"/>
                                            </p:txEl>
                                          </p:spTgt>
                                        </p:tgtEl>
                                        <p:attrNameLst>
                                          <p:attrName>style.visibility</p:attrName>
                                        </p:attrNameLst>
                                      </p:cBhvr>
                                      <p:to>
                                        <p:strVal val="visible"/>
                                      </p:to>
                                    </p:set>
                                    <p:anim calcmode="lin" valueType="num">
                                      <p:cBhvr additive="base">
                                        <p:cTn id="19" dur="500" fill="hold"/>
                                        <p:tgtEl>
                                          <p:spTgt spid="1745923">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459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745923">
                                            <p:txEl>
                                              <p:pRg st="2" end="2"/>
                                            </p:txEl>
                                          </p:spTgt>
                                        </p:tgtEl>
                                        <p:attrNameLst>
                                          <p:attrName>style.visibility</p:attrName>
                                        </p:attrNameLst>
                                      </p:cBhvr>
                                      <p:to>
                                        <p:strVal val="visible"/>
                                      </p:to>
                                    </p:set>
                                    <p:anim calcmode="lin" valueType="num">
                                      <p:cBhvr additive="base">
                                        <p:cTn id="25" dur="500" fill="hold"/>
                                        <p:tgtEl>
                                          <p:spTgt spid="1745923">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4592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5923" grpId="0" build="p" autoUpdateAnimBg="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3861AE7A-D101-4447-8504-D99D31326B9A}"/>
              </a:ext>
            </a:extLst>
          </p:cNvPr>
          <p:cNvSpPr>
            <a:spLocks noGrp="1" noChangeArrowheads="1"/>
          </p:cNvSpPr>
          <p:nvPr>
            <p:ph type="title"/>
          </p:nvPr>
        </p:nvSpPr>
        <p:spPr bwMode="auto">
          <a:xfrm>
            <a:off x="2209800" y="323851"/>
            <a:ext cx="7772400" cy="14287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中继器的功能</a:t>
            </a:r>
            <a:r>
              <a:rPr lang="zh-CN" altLang="en-US" sz="2800">
                <a:solidFill>
                  <a:srgbClr val="063DE9"/>
                </a:solidFill>
                <a:latin typeface="Times New Roman" panose="02020603050405020304" pitchFamily="18" charset="0"/>
              </a:rPr>
              <a:t> </a:t>
            </a:r>
          </a:p>
        </p:txBody>
      </p:sp>
      <p:pic>
        <p:nvPicPr>
          <p:cNvPr id="16387" name="Picture 3">
            <a:extLst>
              <a:ext uri="{FF2B5EF4-FFF2-40B4-BE49-F238E27FC236}">
                <a16:creationId xmlns:a16="http://schemas.microsoft.com/office/drawing/2014/main" id="{F0B498D7-21A1-4E51-B729-EB9AFF9732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8213" y="2528889"/>
            <a:ext cx="8108950" cy="390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6948" name="Text Box 4">
            <a:extLst>
              <a:ext uri="{FF2B5EF4-FFF2-40B4-BE49-F238E27FC236}">
                <a16:creationId xmlns:a16="http://schemas.microsoft.com/office/drawing/2014/main" id="{86E5EF3B-F7C9-4BD6-8601-8F1B951614A8}"/>
              </a:ext>
            </a:extLst>
          </p:cNvPr>
          <p:cNvSpPr txBox="1">
            <a:spLocks noChangeArrowheads="1"/>
          </p:cNvSpPr>
          <p:nvPr/>
        </p:nvSpPr>
        <p:spPr bwMode="auto">
          <a:xfrm>
            <a:off x="3425825" y="1444625"/>
            <a:ext cx="69294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50000"/>
              </a:spcBef>
            </a:pPr>
            <a:r>
              <a:rPr kumimoji="1" lang="zh-CN" altLang="en-US" sz="2800">
                <a:solidFill>
                  <a:schemeClr val="tx1"/>
                </a:solidFill>
              </a:rPr>
              <a:t>比特信号的放大、整形、再同步</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46948">
                                            <p:txEl>
                                              <p:pRg st="0" end="0"/>
                                            </p:txEl>
                                          </p:spTgt>
                                        </p:tgtEl>
                                        <p:attrNameLst>
                                          <p:attrName>style.visibility</p:attrName>
                                        </p:attrNameLst>
                                      </p:cBhvr>
                                      <p:to>
                                        <p:strVal val="visible"/>
                                      </p:to>
                                    </p:set>
                                    <p:anim calcmode="lin" valueType="num">
                                      <p:cBhvr additive="base">
                                        <p:cTn id="7" dur="500" fill="hold"/>
                                        <p:tgtEl>
                                          <p:spTgt spid="174694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4694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6948" grpId="0" build="p" autoUpdateAnimBg="0"/>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DEF735D2-C515-44CD-94F6-48D9099903AF}"/>
              </a:ext>
            </a:extLst>
          </p:cNvPr>
          <p:cNvSpPr>
            <a:spLocks noGrp="1" noChangeArrowheads="1"/>
          </p:cNvSpPr>
          <p:nvPr>
            <p:ph type="title"/>
          </p:nvPr>
        </p:nvSpPr>
        <p:spPr bwMode="auto">
          <a:xfrm>
            <a:off x="2263775" y="5207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集线器（</a:t>
            </a:r>
            <a:r>
              <a:rPr lang="en-US" altLang="zh-CN" sz="3600">
                <a:solidFill>
                  <a:schemeClr val="hlink"/>
                </a:solidFill>
                <a:ea typeface="新宋体" panose="02010609030101010101" pitchFamily="49" charset="-122"/>
              </a:rPr>
              <a:t>HUB</a:t>
            </a:r>
            <a:r>
              <a:rPr lang="zh-CN" altLang="en-US" sz="3600">
                <a:solidFill>
                  <a:schemeClr val="hlink"/>
                </a:solidFill>
                <a:ea typeface="新宋体" panose="02010609030101010101" pitchFamily="49" charset="-122"/>
              </a:rPr>
              <a:t>）</a:t>
            </a:r>
            <a:r>
              <a:rPr lang="zh-CN" altLang="en-US" sz="2800">
                <a:solidFill>
                  <a:srgbClr val="063DE9"/>
                </a:solidFill>
                <a:latin typeface="Times New Roman" panose="02020603050405020304" pitchFamily="18" charset="0"/>
              </a:rPr>
              <a:t> </a:t>
            </a:r>
          </a:p>
        </p:txBody>
      </p:sp>
      <p:sp>
        <p:nvSpPr>
          <p:cNvPr id="17411" name="Text Box 5">
            <a:extLst>
              <a:ext uri="{FF2B5EF4-FFF2-40B4-BE49-F238E27FC236}">
                <a16:creationId xmlns:a16="http://schemas.microsoft.com/office/drawing/2014/main" id="{D31FC609-7ED7-4A60-B8F4-C29A421A6021}"/>
              </a:ext>
            </a:extLst>
          </p:cNvPr>
          <p:cNvSpPr txBox="1">
            <a:spLocks noChangeArrowheads="1"/>
          </p:cNvSpPr>
          <p:nvPr/>
        </p:nvSpPr>
        <p:spPr bwMode="auto">
          <a:xfrm>
            <a:off x="3433763" y="1604963"/>
            <a:ext cx="4775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2400">
                <a:solidFill>
                  <a:schemeClr val="tx1"/>
                </a:solidFill>
              </a:rPr>
              <a:t>集线器又叫多口中继器</a:t>
            </a:r>
            <a:r>
              <a:rPr lang="zh-CN" altLang="en-US" sz="2400"/>
              <a:t> </a:t>
            </a:r>
          </a:p>
        </p:txBody>
      </p:sp>
      <p:sp>
        <p:nvSpPr>
          <p:cNvPr id="17412" name="Rectangle 7">
            <a:extLst>
              <a:ext uri="{FF2B5EF4-FFF2-40B4-BE49-F238E27FC236}">
                <a16:creationId xmlns:a16="http://schemas.microsoft.com/office/drawing/2014/main" id="{36F6170E-8EED-472C-B52F-A967DD54F9B9}"/>
              </a:ext>
            </a:extLst>
          </p:cNvPr>
          <p:cNvSpPr>
            <a:spLocks noChangeArrowheads="1"/>
          </p:cNvSpPr>
          <p:nvPr/>
        </p:nvSpPr>
        <p:spPr bwMode="auto">
          <a:xfrm>
            <a:off x="3810000" y="2443165"/>
            <a:ext cx="91440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pic>
        <p:nvPicPr>
          <p:cNvPr id="1816582" name="Picture 6" descr="http://www.zhuoda.org/xiaojf/jichu/img/30.gif">
            <a:extLst>
              <a:ext uri="{FF2B5EF4-FFF2-40B4-BE49-F238E27FC236}">
                <a16:creationId xmlns:a16="http://schemas.microsoft.com/office/drawing/2014/main" id="{BA749209-658B-477E-90CB-DD50B4A89FEB}"/>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3890963" y="2159001"/>
            <a:ext cx="4572000" cy="1971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4" name="Rectangle 9">
            <a:extLst>
              <a:ext uri="{FF2B5EF4-FFF2-40B4-BE49-F238E27FC236}">
                <a16:creationId xmlns:a16="http://schemas.microsoft.com/office/drawing/2014/main" id="{0046F6F2-B512-4062-BFC1-34042193F6F3}"/>
              </a:ext>
            </a:extLst>
          </p:cNvPr>
          <p:cNvSpPr>
            <a:spLocks noChangeArrowheads="1"/>
          </p:cNvSpPr>
          <p:nvPr/>
        </p:nvSpPr>
        <p:spPr bwMode="auto">
          <a:xfrm>
            <a:off x="3810000" y="2233615"/>
            <a:ext cx="91440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pic>
        <p:nvPicPr>
          <p:cNvPr id="1816584" name="Picture 8" descr="http://www.zhuoda.org/xiaojf/jichu/img/31.gif">
            <a:extLst>
              <a:ext uri="{FF2B5EF4-FFF2-40B4-BE49-F238E27FC236}">
                <a16:creationId xmlns:a16="http://schemas.microsoft.com/office/drawing/2014/main" id="{C7A19896-D3B4-448A-8B07-1438EAFC160D}"/>
              </a:ext>
            </a:extLst>
          </p:cNvPr>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3708401" y="4062413"/>
            <a:ext cx="4837114" cy="2390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816582"/>
                                        </p:tgtEl>
                                        <p:attrNameLst>
                                          <p:attrName>style.visibility</p:attrName>
                                        </p:attrNameLst>
                                      </p:cBhvr>
                                      <p:to>
                                        <p:strVal val="visible"/>
                                      </p:to>
                                    </p:set>
                                    <p:anim calcmode="lin" valueType="num">
                                      <p:cBhvr additive="base">
                                        <p:cTn id="7" dur="500" fill="hold"/>
                                        <p:tgtEl>
                                          <p:spTgt spid="1816582"/>
                                        </p:tgtEl>
                                        <p:attrNameLst>
                                          <p:attrName>ppt_x</p:attrName>
                                        </p:attrNameLst>
                                      </p:cBhvr>
                                      <p:tavLst>
                                        <p:tav tm="0">
                                          <p:val>
                                            <p:strVal val="1+#ppt_w/2"/>
                                          </p:val>
                                        </p:tav>
                                        <p:tav tm="100000">
                                          <p:val>
                                            <p:strVal val="#ppt_x"/>
                                          </p:val>
                                        </p:tav>
                                      </p:tavLst>
                                    </p:anim>
                                    <p:anim calcmode="lin" valueType="num">
                                      <p:cBhvr additive="base">
                                        <p:cTn id="8" dur="500" fill="hold"/>
                                        <p:tgtEl>
                                          <p:spTgt spid="181658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816584"/>
                                        </p:tgtEl>
                                        <p:attrNameLst>
                                          <p:attrName>style.visibility</p:attrName>
                                        </p:attrNameLst>
                                      </p:cBhvr>
                                      <p:to>
                                        <p:strVal val="visible"/>
                                      </p:to>
                                    </p:set>
                                    <p:anim calcmode="lin" valueType="num">
                                      <p:cBhvr additive="base">
                                        <p:cTn id="13" dur="500" fill="hold"/>
                                        <p:tgtEl>
                                          <p:spTgt spid="1816584"/>
                                        </p:tgtEl>
                                        <p:attrNameLst>
                                          <p:attrName>ppt_x</p:attrName>
                                        </p:attrNameLst>
                                      </p:cBhvr>
                                      <p:tavLst>
                                        <p:tav tm="0">
                                          <p:val>
                                            <p:strVal val="1+#ppt_w/2"/>
                                          </p:val>
                                        </p:tav>
                                        <p:tav tm="100000">
                                          <p:val>
                                            <p:strVal val="#ppt_x"/>
                                          </p:val>
                                        </p:tav>
                                      </p:tavLst>
                                    </p:anim>
                                    <p:anim calcmode="lin" valueType="num">
                                      <p:cBhvr additive="base">
                                        <p:cTn id="14" dur="500" fill="hold"/>
                                        <p:tgtEl>
                                          <p:spTgt spid="18165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0868" name="Picture 4">
            <a:extLst>
              <a:ext uri="{FF2B5EF4-FFF2-40B4-BE49-F238E27FC236}">
                <a16:creationId xmlns:a16="http://schemas.microsoft.com/office/drawing/2014/main" id="{F2453897-3E04-4C93-AA11-3C89566600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2315" y="2427288"/>
            <a:ext cx="6035675" cy="1339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459" name="Rectangle 2">
            <a:extLst>
              <a:ext uri="{FF2B5EF4-FFF2-40B4-BE49-F238E27FC236}">
                <a16:creationId xmlns:a16="http://schemas.microsoft.com/office/drawing/2014/main" id="{3FAF90F9-3071-443D-8244-4D9B87B4715E}"/>
              </a:ext>
            </a:extLst>
          </p:cNvPr>
          <p:cNvSpPr>
            <a:spLocks noGrp="1" noChangeArrowheads="1"/>
          </p:cNvSpPr>
          <p:nvPr>
            <p:ph type="title"/>
          </p:nvPr>
        </p:nvSpPr>
        <p:spPr bwMode="auto">
          <a:xfrm>
            <a:off x="2228850" y="3429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网桥</a:t>
            </a:r>
          </a:p>
        </p:txBody>
      </p:sp>
      <p:sp>
        <p:nvSpPr>
          <p:cNvPr id="19460" name="Text Box 3">
            <a:extLst>
              <a:ext uri="{FF2B5EF4-FFF2-40B4-BE49-F238E27FC236}">
                <a16:creationId xmlns:a16="http://schemas.microsoft.com/office/drawing/2014/main" id="{A7BC79DC-7682-4371-8B7C-26B459C5FF1E}"/>
              </a:ext>
            </a:extLst>
          </p:cNvPr>
          <p:cNvSpPr txBox="1">
            <a:spLocks noChangeArrowheads="1"/>
          </p:cNvSpPr>
          <p:nvPr/>
        </p:nvSpPr>
        <p:spPr bwMode="auto">
          <a:xfrm>
            <a:off x="2813051" y="1398588"/>
            <a:ext cx="7142164" cy="1040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连接多个局域网</a:t>
            </a:r>
            <a:r>
              <a:rPr lang="en-US" altLang="zh-CN" sz="2800">
                <a:solidFill>
                  <a:schemeClr val="tx1"/>
                </a:solidFill>
                <a:latin typeface="Arial" panose="020B0604020202020204" pitchFamily="34" charset="0"/>
              </a:rPr>
              <a:t>,</a:t>
            </a:r>
            <a:r>
              <a:rPr lang="zh-CN" altLang="en-US" sz="2800">
                <a:solidFill>
                  <a:schemeClr val="tx1"/>
                </a:solidFill>
                <a:latin typeface="Arial" panose="020B0604020202020204" pitchFamily="34" charset="0"/>
              </a:rPr>
              <a:t>这些</a:t>
            </a:r>
            <a:r>
              <a:rPr lang="en-US" altLang="zh-CN" sz="2800">
                <a:solidFill>
                  <a:schemeClr val="tx1"/>
                </a:solidFill>
                <a:latin typeface="Arial" panose="020B0604020202020204" pitchFamily="34" charset="0"/>
              </a:rPr>
              <a:t>LAN</a:t>
            </a:r>
            <a:r>
              <a:rPr lang="zh-CN" altLang="en-US" sz="2800">
                <a:solidFill>
                  <a:schemeClr val="tx1"/>
                </a:solidFill>
                <a:latin typeface="Arial" panose="020B0604020202020204" pitchFamily="34" charset="0"/>
              </a:rPr>
              <a:t>可能不相同。</a:t>
            </a:r>
          </a:p>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网桥工作在数据链路层</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帧的接收</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过滤</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转发</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a:t>
            </a:r>
            <a:endParaRPr lang="zh-CN" altLang="en-US" sz="2400">
              <a:solidFill>
                <a:schemeClr val="tx1"/>
              </a:solidFill>
            </a:endParaRPr>
          </a:p>
        </p:txBody>
      </p:sp>
      <p:pic>
        <p:nvPicPr>
          <p:cNvPr id="1700869" name="Picture 5">
            <a:extLst>
              <a:ext uri="{FF2B5EF4-FFF2-40B4-BE49-F238E27FC236}">
                <a16:creationId xmlns:a16="http://schemas.microsoft.com/office/drawing/2014/main" id="{EC26DBE0-A3CA-4E61-B30C-03E313298B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7213" y="3994151"/>
            <a:ext cx="6303962" cy="180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700868"/>
                                        </p:tgtEl>
                                        <p:attrNameLst>
                                          <p:attrName>style.visibility</p:attrName>
                                        </p:attrNameLst>
                                      </p:cBhvr>
                                      <p:to>
                                        <p:strVal val="visible"/>
                                      </p:to>
                                    </p:set>
                                    <p:anim calcmode="lin" valueType="num">
                                      <p:cBhvr additive="base">
                                        <p:cTn id="7" dur="500" fill="hold"/>
                                        <p:tgtEl>
                                          <p:spTgt spid="1700868"/>
                                        </p:tgtEl>
                                        <p:attrNameLst>
                                          <p:attrName>ppt_x</p:attrName>
                                        </p:attrNameLst>
                                      </p:cBhvr>
                                      <p:tavLst>
                                        <p:tav tm="0">
                                          <p:val>
                                            <p:strVal val="1+#ppt_w/2"/>
                                          </p:val>
                                        </p:tav>
                                        <p:tav tm="100000">
                                          <p:val>
                                            <p:strVal val="#ppt_x"/>
                                          </p:val>
                                        </p:tav>
                                      </p:tavLst>
                                    </p:anim>
                                    <p:anim calcmode="lin" valueType="num">
                                      <p:cBhvr additive="base">
                                        <p:cTn id="8" dur="500" fill="hold"/>
                                        <p:tgtEl>
                                          <p:spTgt spid="170086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700869"/>
                                        </p:tgtEl>
                                        <p:attrNameLst>
                                          <p:attrName>style.visibility</p:attrName>
                                        </p:attrNameLst>
                                      </p:cBhvr>
                                      <p:to>
                                        <p:strVal val="visible"/>
                                      </p:to>
                                    </p:set>
                                    <p:anim calcmode="lin" valueType="num">
                                      <p:cBhvr additive="base">
                                        <p:cTn id="13" dur="500" fill="hold"/>
                                        <p:tgtEl>
                                          <p:spTgt spid="1700869"/>
                                        </p:tgtEl>
                                        <p:attrNameLst>
                                          <p:attrName>ppt_x</p:attrName>
                                        </p:attrNameLst>
                                      </p:cBhvr>
                                      <p:tavLst>
                                        <p:tav tm="0">
                                          <p:val>
                                            <p:strVal val="1+#ppt_w/2"/>
                                          </p:val>
                                        </p:tav>
                                        <p:tav tm="100000">
                                          <p:val>
                                            <p:strVal val="#ppt_x"/>
                                          </p:val>
                                        </p:tav>
                                      </p:tavLst>
                                    </p:anim>
                                    <p:anim calcmode="lin" valueType="num">
                                      <p:cBhvr additive="base">
                                        <p:cTn id="14" dur="500" fill="hold"/>
                                        <p:tgtEl>
                                          <p:spTgt spid="17008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84F00665-CE2B-4327-8753-1FD998F4A689}"/>
              </a:ext>
            </a:extLst>
          </p:cNvPr>
          <p:cNvSpPr>
            <a:spLocks noGrp="1" noChangeArrowheads="1"/>
          </p:cNvSpPr>
          <p:nvPr>
            <p:ph type="title"/>
          </p:nvPr>
        </p:nvSpPr>
        <p:spPr bwMode="auto">
          <a:xfrm>
            <a:off x="2209800" y="342900"/>
            <a:ext cx="7772400" cy="67818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smtClean="0">
                <a:solidFill>
                  <a:schemeClr val="hlink"/>
                </a:solidFill>
                <a:ea typeface="新宋体" panose="02010609030101010101" pitchFamily="49" charset="-122"/>
              </a:rPr>
              <a:t>网桥</a:t>
            </a:r>
            <a:endParaRPr lang="zh-CN" altLang="en-US" sz="3600">
              <a:solidFill>
                <a:schemeClr val="hlink"/>
              </a:solidFill>
              <a:ea typeface="新宋体" panose="02010609030101010101" pitchFamily="49" charset="-122"/>
            </a:endParaRPr>
          </a:p>
        </p:txBody>
      </p:sp>
      <p:sp>
        <p:nvSpPr>
          <p:cNvPr id="1747972" name="Text Box 4">
            <a:extLst>
              <a:ext uri="{FF2B5EF4-FFF2-40B4-BE49-F238E27FC236}">
                <a16:creationId xmlns:a16="http://schemas.microsoft.com/office/drawing/2014/main" id="{BF195F72-A174-4361-8E19-6F25A640257D}"/>
              </a:ext>
            </a:extLst>
          </p:cNvPr>
          <p:cNvSpPr txBox="1">
            <a:spLocks noChangeArrowheads="1"/>
          </p:cNvSpPr>
          <p:nvPr/>
        </p:nvSpPr>
        <p:spPr bwMode="auto">
          <a:xfrm>
            <a:off x="790575" y="1398589"/>
            <a:ext cx="11172825" cy="3120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98425" indent="-98425" algn="ctr">
              <a:defRPr sz="1200">
                <a:solidFill>
                  <a:srgbClr val="CACACA"/>
                </a:solidFill>
                <a:latin typeface="Times New Roman" panose="02020603050405020304" pitchFamily="18" charset="0"/>
                <a:ea typeface="宋体" panose="02010600030101010101" pitchFamily="2" charset="-122"/>
              </a:defRPr>
            </a:lvl1pPr>
            <a:lvl2pPr marL="561975" indent="-104775" algn="ctr">
              <a:defRPr sz="1200">
                <a:solidFill>
                  <a:srgbClr val="CACACA"/>
                </a:solidFill>
                <a:latin typeface="Times New Roman" panose="02020603050405020304" pitchFamily="18" charset="0"/>
                <a:ea typeface="宋体" panose="02010600030101010101" pitchFamily="2" charset="-122"/>
              </a:defRPr>
            </a:lvl2pPr>
            <a:lvl3pPr marL="1054100" indent="-284163"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lvl="1" algn="l">
              <a:lnSpc>
                <a:spcPct val="90000"/>
              </a:lnSpc>
              <a:spcBef>
                <a:spcPct val="20000"/>
              </a:spcBef>
              <a:buClr>
                <a:schemeClr val="folHlink"/>
              </a:buClr>
              <a:buSzPct val="75000"/>
              <a:buFont typeface="Wingdings" panose="05000000000000000000" pitchFamily="2" charset="2"/>
              <a:buChar char="Ø"/>
            </a:pPr>
            <a:r>
              <a:rPr lang="en-US" altLang="zh-CN" sz="2400">
                <a:solidFill>
                  <a:schemeClr val="tx1"/>
                </a:solidFill>
                <a:latin typeface="Arial" panose="020B0604020202020204" pitchFamily="34" charset="0"/>
              </a:rPr>
              <a:t> </a:t>
            </a:r>
            <a:r>
              <a:rPr lang="zh-CN" altLang="en-US" sz="2400">
                <a:solidFill>
                  <a:schemeClr val="tx1"/>
                </a:solidFill>
                <a:latin typeface="Arial" panose="020B0604020202020204" pitchFamily="34" charset="0"/>
              </a:rPr>
              <a:t>网桥中拥有“第</a:t>
            </a:r>
            <a:r>
              <a:rPr lang="en-US" altLang="zh-CN" sz="2400">
                <a:solidFill>
                  <a:schemeClr val="tx1"/>
                </a:solidFill>
                <a:latin typeface="Arial" panose="020B0604020202020204" pitchFamily="34" charset="0"/>
              </a:rPr>
              <a:t>2</a:t>
            </a:r>
            <a:r>
              <a:rPr lang="zh-CN" altLang="en-US" sz="2400">
                <a:solidFill>
                  <a:schemeClr val="tx1"/>
                </a:solidFill>
                <a:latin typeface="Arial" panose="020B0604020202020204" pitchFamily="34" charset="0"/>
              </a:rPr>
              <a:t>层路由表”，该表是采用动态学习算法在本地建立起来的。 </a:t>
            </a:r>
          </a:p>
          <a:p>
            <a:pPr lvl="2"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通过限制广播和冲突</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可以使用网桥来连接多个冲突域</a:t>
            </a:r>
            <a:r>
              <a:rPr lang="en-US" altLang="zh-CN" sz="2000">
                <a:solidFill>
                  <a:schemeClr val="tx1"/>
                </a:solidFill>
                <a:latin typeface="Arial" panose="020B0604020202020204" pitchFamily="34" charset="0"/>
              </a:rPr>
              <a:t>(</a:t>
            </a:r>
            <a:r>
              <a:rPr lang="zh-CN" altLang="en-US" sz="2000">
                <a:solidFill>
                  <a:schemeClr val="tx1"/>
                </a:solidFill>
                <a:latin typeface="Arial" panose="020B0604020202020204" pitchFamily="34" charset="0"/>
              </a:rPr>
              <a:t>可减少广播风暴，但不能完全避免  → 路由器</a:t>
            </a:r>
            <a:r>
              <a:rPr lang="en-US" altLang="zh-CN" sz="20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a:t>
            </a:r>
          </a:p>
          <a:p>
            <a:pPr lvl="2"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学习算法是纯粹本地的，随机的</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且不依赖于寻址结构 。 </a:t>
            </a:r>
          </a:p>
          <a:p>
            <a:pPr lvl="2"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因此，网桥可能没有到达某些目的地的路由条目。</a:t>
            </a:r>
          </a:p>
          <a:p>
            <a:pPr lvl="2"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在这种情况下，网桥往往采用</a:t>
            </a:r>
            <a:r>
              <a:rPr lang="en-US" altLang="zh-CN" sz="2400">
                <a:solidFill>
                  <a:schemeClr val="hlink"/>
                </a:solidFill>
                <a:latin typeface="Arial" panose="020B0604020202020204" pitchFamily="34" charset="0"/>
              </a:rPr>
              <a:t>flooding</a:t>
            </a:r>
            <a:r>
              <a:rPr lang="zh-CN" altLang="en-US" sz="2400">
                <a:solidFill>
                  <a:schemeClr val="tx1"/>
                </a:solidFill>
                <a:latin typeface="Arial" panose="020B0604020202020204" pitchFamily="34" charset="0"/>
              </a:rPr>
              <a:t>广播－这将导致在线路中传输多个分组的副本。</a:t>
            </a:r>
          </a:p>
          <a:p>
            <a:pPr lvl="2" algn="l">
              <a:lnSpc>
                <a:spcPct val="90000"/>
              </a:lnSpc>
              <a:spcBef>
                <a:spcPct val="20000"/>
              </a:spcBef>
              <a:buClr>
                <a:schemeClr val="folHlink"/>
              </a:buClr>
              <a:buSzPct val="75000"/>
              <a:buFont typeface="Wingdings" panose="05000000000000000000" pitchFamily="2" charset="2"/>
              <a:buChar char="ü"/>
            </a:pPr>
            <a:r>
              <a:rPr lang="zh-CN" altLang="en-US" sz="2400" smtClean="0">
                <a:solidFill>
                  <a:schemeClr val="tx1"/>
                </a:solidFill>
                <a:latin typeface="Arial" panose="020B0604020202020204" pitchFamily="34" charset="0"/>
              </a:rPr>
              <a:t>网桥</a:t>
            </a:r>
            <a:r>
              <a:rPr lang="zh-CN" altLang="en-US" sz="2400">
                <a:solidFill>
                  <a:schemeClr val="tx1"/>
                </a:solidFill>
                <a:latin typeface="Arial" panose="020B0604020202020204" pitchFamily="34" charset="0"/>
              </a:rPr>
              <a:t>通过全局配合来建立一个</a:t>
            </a:r>
            <a:r>
              <a:rPr lang="zh-CN" altLang="en-US" sz="2400">
                <a:solidFill>
                  <a:schemeClr val="folHlink"/>
                </a:solidFill>
                <a:latin typeface="Arial" panose="020B0604020202020204" pitchFamily="34" charset="0"/>
              </a:rPr>
              <a:t>生成树</a:t>
            </a:r>
            <a:r>
              <a:rPr lang="zh-CN" altLang="en-US" sz="2400">
                <a:solidFill>
                  <a:schemeClr val="tx1"/>
                </a:solidFill>
                <a:latin typeface="Arial" panose="020B0604020202020204" pitchFamily="34" charset="0"/>
              </a:rPr>
              <a:t>，以便使 </a:t>
            </a:r>
            <a:r>
              <a:rPr lang="en-US" altLang="zh-CN" sz="2400">
                <a:solidFill>
                  <a:schemeClr val="hlink"/>
                </a:solidFill>
                <a:latin typeface="Arial" panose="020B0604020202020204" pitchFamily="34" charset="0"/>
              </a:rPr>
              <a:t>flooding</a:t>
            </a:r>
            <a:r>
              <a:rPr lang="zh-CN" altLang="en-US" sz="2400">
                <a:solidFill>
                  <a:schemeClr val="tx1"/>
                </a:solidFill>
                <a:latin typeface="Arial" panose="020B0604020202020204" pitchFamily="34" charset="0"/>
              </a:rPr>
              <a:t>不会失控。</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47972">
                                            <p:txEl>
                                              <p:pRg st="0" end="0"/>
                                            </p:txEl>
                                          </p:spTgt>
                                        </p:tgtEl>
                                        <p:attrNameLst>
                                          <p:attrName>style.visibility</p:attrName>
                                        </p:attrNameLst>
                                      </p:cBhvr>
                                      <p:to>
                                        <p:strVal val="visible"/>
                                      </p:to>
                                    </p:set>
                                    <p:anim calcmode="lin" valueType="num">
                                      <p:cBhvr additive="base">
                                        <p:cTn id="7" dur="500" fill="hold"/>
                                        <p:tgtEl>
                                          <p:spTgt spid="174797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47972">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47972">
                                            <p:txEl>
                                              <p:pRg st="1" end="1"/>
                                            </p:txEl>
                                          </p:spTgt>
                                        </p:tgtEl>
                                        <p:attrNameLst>
                                          <p:attrName>style.visibility</p:attrName>
                                        </p:attrNameLst>
                                      </p:cBhvr>
                                      <p:to>
                                        <p:strVal val="visible"/>
                                      </p:to>
                                    </p:set>
                                    <p:anim calcmode="lin" valueType="num">
                                      <p:cBhvr additive="base">
                                        <p:cTn id="11" dur="500" fill="hold"/>
                                        <p:tgtEl>
                                          <p:spTgt spid="1747972">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747972">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747972">
                                            <p:txEl>
                                              <p:pRg st="2" end="2"/>
                                            </p:txEl>
                                          </p:spTgt>
                                        </p:tgtEl>
                                        <p:attrNameLst>
                                          <p:attrName>style.visibility</p:attrName>
                                        </p:attrNameLst>
                                      </p:cBhvr>
                                      <p:to>
                                        <p:strVal val="visible"/>
                                      </p:to>
                                    </p:set>
                                    <p:anim calcmode="lin" valueType="num">
                                      <p:cBhvr additive="base">
                                        <p:cTn id="15" dur="500" fill="hold"/>
                                        <p:tgtEl>
                                          <p:spTgt spid="1747972">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747972">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747972">
                                            <p:txEl>
                                              <p:pRg st="3" end="3"/>
                                            </p:txEl>
                                          </p:spTgt>
                                        </p:tgtEl>
                                        <p:attrNameLst>
                                          <p:attrName>style.visibility</p:attrName>
                                        </p:attrNameLst>
                                      </p:cBhvr>
                                      <p:to>
                                        <p:strVal val="visible"/>
                                      </p:to>
                                    </p:set>
                                    <p:anim calcmode="lin" valueType="num">
                                      <p:cBhvr additive="base">
                                        <p:cTn id="19" dur="500" fill="hold"/>
                                        <p:tgtEl>
                                          <p:spTgt spid="1747972">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47972">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747972">
                                            <p:txEl>
                                              <p:pRg st="4" end="4"/>
                                            </p:txEl>
                                          </p:spTgt>
                                        </p:tgtEl>
                                        <p:attrNameLst>
                                          <p:attrName>style.visibility</p:attrName>
                                        </p:attrNameLst>
                                      </p:cBhvr>
                                      <p:to>
                                        <p:strVal val="visible"/>
                                      </p:to>
                                    </p:set>
                                    <p:anim calcmode="lin" valueType="num">
                                      <p:cBhvr additive="base">
                                        <p:cTn id="23" dur="500" fill="hold"/>
                                        <p:tgtEl>
                                          <p:spTgt spid="1747972">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747972">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747972">
                                            <p:txEl>
                                              <p:pRg st="5" end="5"/>
                                            </p:txEl>
                                          </p:spTgt>
                                        </p:tgtEl>
                                        <p:attrNameLst>
                                          <p:attrName>style.visibility</p:attrName>
                                        </p:attrNameLst>
                                      </p:cBhvr>
                                      <p:to>
                                        <p:strVal val="visible"/>
                                      </p:to>
                                    </p:set>
                                    <p:anim calcmode="lin" valueType="num">
                                      <p:cBhvr additive="base">
                                        <p:cTn id="27" dur="500" fill="hold"/>
                                        <p:tgtEl>
                                          <p:spTgt spid="1747972">
                                            <p:txEl>
                                              <p:pRg st="5" end="5"/>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747972">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7972" grpId="0" build="p" autoUpdateAnimBg="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FF904A5A-4484-4B4C-82AD-D492705BE9E6}"/>
              </a:ext>
            </a:extLst>
          </p:cNvPr>
          <p:cNvSpPr>
            <a:spLocks noGrp="1" noChangeArrowheads="1"/>
          </p:cNvSpPr>
          <p:nvPr>
            <p:ph type="title"/>
          </p:nvPr>
        </p:nvSpPr>
        <p:spPr bwMode="auto">
          <a:xfrm>
            <a:off x="2209800" y="304800"/>
            <a:ext cx="7772400" cy="1447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网桥的功能</a:t>
            </a:r>
          </a:p>
        </p:txBody>
      </p:sp>
      <p:sp>
        <p:nvSpPr>
          <p:cNvPr id="1748995" name="Text Box 3">
            <a:extLst>
              <a:ext uri="{FF2B5EF4-FFF2-40B4-BE49-F238E27FC236}">
                <a16:creationId xmlns:a16="http://schemas.microsoft.com/office/drawing/2014/main" id="{4C6BCC00-DCF5-415F-A7B3-C338633868B7}"/>
              </a:ext>
            </a:extLst>
          </p:cNvPr>
          <p:cNvSpPr txBox="1">
            <a:spLocks noChangeArrowheads="1"/>
          </p:cNvSpPr>
          <p:nvPr/>
        </p:nvSpPr>
        <p:spPr bwMode="auto">
          <a:xfrm>
            <a:off x="1152524" y="1308100"/>
            <a:ext cx="10896601" cy="3120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163513" algn="ctr">
              <a:defRPr sz="1200">
                <a:solidFill>
                  <a:srgbClr val="CACACA"/>
                </a:solidFill>
                <a:latin typeface="Times New Roman" panose="02020603050405020304" pitchFamily="18" charset="0"/>
                <a:ea typeface="宋体" panose="02010600030101010101" pitchFamily="2" charset="-122"/>
              </a:defRPr>
            </a:lvl1pPr>
            <a:lvl2pPr marL="1209675" indent="-457200" algn="ctr">
              <a:defRPr sz="1200">
                <a:solidFill>
                  <a:srgbClr val="CACACA"/>
                </a:solidFill>
                <a:latin typeface="Times New Roman" panose="02020603050405020304" pitchFamily="18" charset="0"/>
                <a:ea typeface="宋体" panose="02010600030101010101" pitchFamily="2" charset="-122"/>
              </a:defRPr>
            </a:lvl2pPr>
            <a:lvl3pPr marL="1857375" indent="-457200" algn="ctr">
              <a:defRPr sz="1200">
                <a:solidFill>
                  <a:srgbClr val="CACACA"/>
                </a:solidFill>
                <a:latin typeface="Times New Roman" panose="02020603050405020304" pitchFamily="18" charset="0"/>
                <a:ea typeface="宋体" panose="02010600030101010101" pitchFamily="2" charset="-122"/>
              </a:defRPr>
            </a:lvl3pPr>
            <a:lvl4pPr marL="2505075" indent="-457200" algn="ctr">
              <a:defRPr sz="1200">
                <a:solidFill>
                  <a:srgbClr val="CACACA"/>
                </a:solidFill>
                <a:latin typeface="Times New Roman" panose="02020603050405020304" pitchFamily="18" charset="0"/>
                <a:ea typeface="宋体" panose="02010600030101010101" pitchFamily="2" charset="-122"/>
              </a:defRPr>
            </a:lvl4pPr>
            <a:lvl5pPr marL="3152775" indent="-457200" algn="ctr">
              <a:defRPr sz="1200">
                <a:solidFill>
                  <a:srgbClr val="CACACA"/>
                </a:solidFill>
                <a:latin typeface="Times New Roman" panose="02020603050405020304" pitchFamily="18" charset="0"/>
                <a:ea typeface="宋体" panose="02010600030101010101" pitchFamily="2" charset="-122"/>
              </a:defRPr>
            </a:lvl5pPr>
            <a:lvl6pPr marL="3609975"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4067175"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4524375"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4981575"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帧的转发和过滤</a:t>
            </a:r>
          </a:p>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扩展网络的规模</a:t>
            </a:r>
            <a:r>
              <a:rPr kumimoji="1" lang="en-US" altLang="zh-CN" sz="2400">
                <a:solidFill>
                  <a:srgbClr val="000000"/>
                </a:solidFill>
                <a:latin typeface="宋体" panose="02010600030101010101" pitchFamily="2" charset="-122"/>
              </a:rPr>
              <a:t>(</a:t>
            </a:r>
            <a:r>
              <a:rPr kumimoji="1" lang="zh-CN" altLang="en-US" sz="2400">
                <a:solidFill>
                  <a:srgbClr val="000000"/>
                </a:solidFill>
                <a:latin typeface="宋体" panose="02010600030101010101" pitchFamily="2" charset="-122"/>
              </a:rPr>
              <a:t>距离</a:t>
            </a:r>
            <a:r>
              <a:rPr kumimoji="1" lang="en-US" altLang="zh-CN" sz="2400">
                <a:solidFill>
                  <a:srgbClr val="000000"/>
                </a:solidFill>
                <a:latin typeface="宋体" panose="02010600030101010101" pitchFamily="2" charset="-122"/>
              </a:rPr>
              <a:t>/</a:t>
            </a:r>
            <a:r>
              <a:rPr kumimoji="1" lang="zh-CN" altLang="en-US" sz="2400">
                <a:solidFill>
                  <a:srgbClr val="000000"/>
                </a:solidFill>
                <a:latin typeface="宋体" panose="02010600030101010101" pitchFamily="2" charset="-122"/>
              </a:rPr>
              <a:t>工作站总数</a:t>
            </a:r>
            <a:r>
              <a:rPr kumimoji="1" lang="en-US" altLang="zh-CN" sz="2400">
                <a:solidFill>
                  <a:srgbClr val="000000"/>
                </a:solidFill>
                <a:latin typeface="宋体" panose="02010600030101010101" pitchFamily="2" charset="-122"/>
              </a:rPr>
              <a:t>/</a:t>
            </a:r>
            <a:r>
              <a:rPr kumimoji="1" lang="zh-CN" altLang="en-US" sz="2400">
                <a:solidFill>
                  <a:srgbClr val="000000"/>
                </a:solidFill>
                <a:latin typeface="宋体" panose="02010600030101010101" pitchFamily="2" charset="-122"/>
              </a:rPr>
              <a:t>网段数</a:t>
            </a:r>
            <a:r>
              <a:rPr kumimoji="1" lang="en-US" altLang="zh-CN" sz="2400">
                <a:solidFill>
                  <a:srgbClr val="000000"/>
                </a:solidFill>
                <a:latin typeface="宋体" panose="02010600030101010101" pitchFamily="2" charset="-122"/>
              </a:rPr>
              <a:t>)</a:t>
            </a:r>
            <a:r>
              <a:rPr kumimoji="1" lang="zh-CN" altLang="en-US" sz="2400">
                <a:solidFill>
                  <a:srgbClr val="000000"/>
                </a:solidFill>
                <a:latin typeface="宋体" panose="02010600030101010101" pitchFamily="2" charset="-122"/>
              </a:rPr>
              <a:t>。</a:t>
            </a:r>
          </a:p>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通过网桥能提高网络总的吞吐率 </a:t>
            </a:r>
          </a:p>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存储转发功能可使其适应于连接采用不同</a:t>
            </a:r>
            <a:r>
              <a:rPr kumimoji="1" lang="en-US" altLang="zh-CN" sz="2400">
                <a:solidFill>
                  <a:srgbClr val="000000"/>
                </a:solidFill>
                <a:latin typeface="宋体" panose="02010600030101010101" pitchFamily="2" charset="-122"/>
              </a:rPr>
              <a:t>MAC</a:t>
            </a:r>
            <a:r>
              <a:rPr kumimoji="1" lang="zh-CN" altLang="en-US" sz="2400">
                <a:solidFill>
                  <a:srgbClr val="000000"/>
                </a:solidFill>
                <a:latin typeface="宋体" panose="02010600030101010101" pitchFamily="2" charset="-122"/>
              </a:rPr>
              <a:t>协议的两个</a:t>
            </a:r>
            <a:r>
              <a:rPr kumimoji="1" lang="en-US" altLang="zh-CN" sz="2400">
                <a:solidFill>
                  <a:srgbClr val="000000"/>
                </a:solidFill>
                <a:latin typeface="宋体" panose="02010600030101010101" pitchFamily="2" charset="-122"/>
              </a:rPr>
              <a:t>LAN----</a:t>
            </a:r>
            <a:r>
              <a:rPr kumimoji="1" lang="zh-CN" altLang="en-US" sz="2400">
                <a:solidFill>
                  <a:srgbClr val="000000"/>
                </a:solidFill>
                <a:latin typeface="宋体" panose="02010600030101010101" pitchFamily="2" charset="-122"/>
              </a:rPr>
              <a:t>异构网互连。</a:t>
            </a:r>
          </a:p>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网桥将一个较大的</a:t>
            </a:r>
            <a:r>
              <a:rPr kumimoji="1" lang="en-US" altLang="zh-CN" sz="2400">
                <a:solidFill>
                  <a:srgbClr val="000000"/>
                </a:solidFill>
                <a:latin typeface="宋体" panose="02010600030101010101" pitchFamily="2" charset="-122"/>
              </a:rPr>
              <a:t>LAN</a:t>
            </a:r>
            <a:r>
              <a:rPr kumimoji="1" lang="zh-CN" altLang="en-US" sz="2400">
                <a:solidFill>
                  <a:srgbClr val="000000"/>
                </a:solidFill>
                <a:latin typeface="宋体" panose="02010600030101010101" pitchFamily="2" charset="-122"/>
              </a:rPr>
              <a:t>分成段，有利于改善可靠性、可用性和安全性。</a:t>
            </a:r>
          </a:p>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源地址跟踪</a:t>
            </a:r>
          </a:p>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管理功能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48995">
                                            <p:txEl>
                                              <p:pRg st="0" end="0"/>
                                            </p:txEl>
                                          </p:spTgt>
                                        </p:tgtEl>
                                        <p:attrNameLst>
                                          <p:attrName>style.visibility</p:attrName>
                                        </p:attrNameLst>
                                      </p:cBhvr>
                                      <p:to>
                                        <p:strVal val="visible"/>
                                      </p:to>
                                    </p:set>
                                    <p:anim calcmode="lin" valueType="num">
                                      <p:cBhvr additive="base">
                                        <p:cTn id="7" dur="500" fill="hold"/>
                                        <p:tgtEl>
                                          <p:spTgt spid="174899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489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48995">
                                            <p:txEl>
                                              <p:pRg st="1" end="1"/>
                                            </p:txEl>
                                          </p:spTgt>
                                        </p:tgtEl>
                                        <p:attrNameLst>
                                          <p:attrName>style.visibility</p:attrName>
                                        </p:attrNameLst>
                                      </p:cBhvr>
                                      <p:to>
                                        <p:strVal val="visible"/>
                                      </p:to>
                                    </p:set>
                                    <p:anim calcmode="lin" valueType="num">
                                      <p:cBhvr additive="base">
                                        <p:cTn id="13" dur="500" fill="hold"/>
                                        <p:tgtEl>
                                          <p:spTgt spid="174899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489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48995">
                                            <p:txEl>
                                              <p:pRg st="2" end="2"/>
                                            </p:txEl>
                                          </p:spTgt>
                                        </p:tgtEl>
                                        <p:attrNameLst>
                                          <p:attrName>style.visibility</p:attrName>
                                        </p:attrNameLst>
                                      </p:cBhvr>
                                      <p:to>
                                        <p:strVal val="visible"/>
                                      </p:to>
                                    </p:set>
                                    <p:anim calcmode="lin" valueType="num">
                                      <p:cBhvr additive="base">
                                        <p:cTn id="19" dur="500" fill="hold"/>
                                        <p:tgtEl>
                                          <p:spTgt spid="174899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4899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748995">
                                            <p:txEl>
                                              <p:pRg st="3" end="3"/>
                                            </p:txEl>
                                          </p:spTgt>
                                        </p:tgtEl>
                                        <p:attrNameLst>
                                          <p:attrName>style.visibility</p:attrName>
                                        </p:attrNameLst>
                                      </p:cBhvr>
                                      <p:to>
                                        <p:strVal val="visible"/>
                                      </p:to>
                                    </p:set>
                                    <p:anim calcmode="lin" valueType="num">
                                      <p:cBhvr additive="base">
                                        <p:cTn id="25" dur="500" fill="hold"/>
                                        <p:tgtEl>
                                          <p:spTgt spid="174899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74899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748995">
                                            <p:txEl>
                                              <p:pRg st="4" end="4"/>
                                            </p:txEl>
                                          </p:spTgt>
                                        </p:tgtEl>
                                        <p:attrNameLst>
                                          <p:attrName>style.visibility</p:attrName>
                                        </p:attrNameLst>
                                      </p:cBhvr>
                                      <p:to>
                                        <p:strVal val="visible"/>
                                      </p:to>
                                    </p:set>
                                    <p:anim calcmode="lin" valueType="num">
                                      <p:cBhvr additive="base">
                                        <p:cTn id="31" dur="500" fill="hold"/>
                                        <p:tgtEl>
                                          <p:spTgt spid="1748995">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74899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748995">
                                            <p:txEl>
                                              <p:pRg st="5" end="5"/>
                                            </p:txEl>
                                          </p:spTgt>
                                        </p:tgtEl>
                                        <p:attrNameLst>
                                          <p:attrName>style.visibility</p:attrName>
                                        </p:attrNameLst>
                                      </p:cBhvr>
                                      <p:to>
                                        <p:strVal val="visible"/>
                                      </p:to>
                                    </p:set>
                                    <p:anim calcmode="lin" valueType="num">
                                      <p:cBhvr additive="base">
                                        <p:cTn id="37" dur="500" fill="hold"/>
                                        <p:tgtEl>
                                          <p:spTgt spid="1748995">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74899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748995">
                                            <p:txEl>
                                              <p:pRg st="6" end="6"/>
                                            </p:txEl>
                                          </p:spTgt>
                                        </p:tgtEl>
                                        <p:attrNameLst>
                                          <p:attrName>style.visibility</p:attrName>
                                        </p:attrNameLst>
                                      </p:cBhvr>
                                      <p:to>
                                        <p:strVal val="visible"/>
                                      </p:to>
                                    </p:set>
                                    <p:anim calcmode="lin" valueType="num">
                                      <p:cBhvr additive="base">
                                        <p:cTn id="43" dur="500" fill="hold"/>
                                        <p:tgtEl>
                                          <p:spTgt spid="1748995">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748995">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8995" grpId="0" build="p" autoUpdateAnimBg="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4E52B09D-3BF5-471A-BEE0-2C4414EA986E}"/>
              </a:ext>
            </a:extLst>
          </p:cNvPr>
          <p:cNvSpPr>
            <a:spLocks noGrp="1" noChangeArrowheads="1"/>
          </p:cNvSpPr>
          <p:nvPr>
            <p:ph type="title"/>
          </p:nvPr>
        </p:nvSpPr>
        <p:spPr bwMode="auto">
          <a:xfrm>
            <a:off x="2228850" y="4191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网桥的功能</a:t>
            </a:r>
            <a:r>
              <a:rPr lang="en-US" altLang="zh-CN" sz="3600">
                <a:solidFill>
                  <a:schemeClr val="hlink"/>
                </a:solidFill>
                <a:ea typeface="新宋体" panose="02010609030101010101" pitchFamily="49" charset="-122"/>
              </a:rPr>
              <a:t>--</a:t>
            </a:r>
            <a:r>
              <a:rPr lang="zh-CN" altLang="en-US" sz="3600">
                <a:solidFill>
                  <a:schemeClr val="hlink"/>
                </a:solidFill>
                <a:ea typeface="新宋体" panose="02010609030101010101" pitchFamily="49" charset="-122"/>
              </a:rPr>
              <a:t>提高吞吐率</a:t>
            </a:r>
          </a:p>
        </p:txBody>
      </p:sp>
      <p:pic>
        <p:nvPicPr>
          <p:cNvPr id="22531" name="Picture 3">
            <a:extLst>
              <a:ext uri="{FF2B5EF4-FFF2-40B4-BE49-F238E27FC236}">
                <a16:creationId xmlns:a16="http://schemas.microsoft.com/office/drawing/2014/main" id="{E443E5DE-CE66-4557-9FED-A9A4BDE570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2789" y="1758951"/>
            <a:ext cx="8258176" cy="481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50020" name="Text Box 4">
            <a:extLst>
              <a:ext uri="{FF2B5EF4-FFF2-40B4-BE49-F238E27FC236}">
                <a16:creationId xmlns:a16="http://schemas.microsoft.com/office/drawing/2014/main" id="{7851E4AE-B70A-4B29-8DCC-49EE53625795}"/>
              </a:ext>
            </a:extLst>
          </p:cNvPr>
          <p:cNvSpPr txBox="1">
            <a:spLocks noChangeArrowheads="1"/>
          </p:cNvSpPr>
          <p:nvPr/>
        </p:nvSpPr>
        <p:spPr bwMode="auto">
          <a:xfrm>
            <a:off x="4564063" y="3089276"/>
            <a:ext cx="111283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pPr>
            <a:r>
              <a:rPr lang="en-US" altLang="zh-CN" sz="2800">
                <a:solidFill>
                  <a:schemeClr val="hlink"/>
                </a:solidFill>
              </a:rPr>
              <a:t>10 M</a:t>
            </a:r>
          </a:p>
        </p:txBody>
      </p:sp>
      <p:sp>
        <p:nvSpPr>
          <p:cNvPr id="1750021" name="Text Box 5">
            <a:extLst>
              <a:ext uri="{FF2B5EF4-FFF2-40B4-BE49-F238E27FC236}">
                <a16:creationId xmlns:a16="http://schemas.microsoft.com/office/drawing/2014/main" id="{114EBE47-8DD4-4989-9396-6C68DCD8E43E}"/>
              </a:ext>
            </a:extLst>
          </p:cNvPr>
          <p:cNvSpPr txBox="1">
            <a:spLocks noChangeArrowheads="1"/>
          </p:cNvSpPr>
          <p:nvPr/>
        </p:nvSpPr>
        <p:spPr bwMode="auto">
          <a:xfrm>
            <a:off x="4641850" y="4230690"/>
            <a:ext cx="11128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pPr>
            <a:r>
              <a:rPr lang="en-US" altLang="zh-CN" sz="2800">
                <a:solidFill>
                  <a:schemeClr val="hlink"/>
                </a:solidFill>
              </a:rPr>
              <a:t>10 M</a:t>
            </a:r>
          </a:p>
        </p:txBody>
      </p:sp>
      <p:sp>
        <p:nvSpPr>
          <p:cNvPr id="22534" name="AutoShape 6">
            <a:extLst>
              <a:ext uri="{FF2B5EF4-FFF2-40B4-BE49-F238E27FC236}">
                <a16:creationId xmlns:a16="http://schemas.microsoft.com/office/drawing/2014/main" id="{73BCE12A-7571-4452-BB18-98117C77940B}"/>
              </a:ext>
            </a:extLst>
          </p:cNvPr>
          <p:cNvSpPr>
            <a:spLocks/>
          </p:cNvSpPr>
          <p:nvPr/>
        </p:nvSpPr>
        <p:spPr bwMode="auto">
          <a:xfrm>
            <a:off x="2349501" y="2916240"/>
            <a:ext cx="88900" cy="1976437"/>
          </a:xfrm>
          <a:prstGeom prst="leftBrace">
            <a:avLst>
              <a:gd name="adj1" fmla="val 185268"/>
              <a:gd name="adj2" fmla="val 50000"/>
            </a:avLst>
          </a:prstGeom>
          <a:noFill/>
          <a:ln w="15875">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50023" name="Text Box 7">
            <a:extLst>
              <a:ext uri="{FF2B5EF4-FFF2-40B4-BE49-F238E27FC236}">
                <a16:creationId xmlns:a16="http://schemas.microsoft.com/office/drawing/2014/main" id="{D80A2C32-394E-49CE-9F9F-CFE01F42567C}"/>
              </a:ext>
            </a:extLst>
          </p:cNvPr>
          <p:cNvSpPr txBox="1">
            <a:spLocks noChangeArrowheads="1"/>
          </p:cNvSpPr>
          <p:nvPr/>
        </p:nvSpPr>
        <p:spPr bwMode="auto">
          <a:xfrm>
            <a:off x="1905001" y="3835401"/>
            <a:ext cx="11128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pPr>
            <a:r>
              <a:rPr lang="en-US" altLang="zh-CN" sz="2800">
                <a:solidFill>
                  <a:schemeClr val="hlink"/>
                </a:solidFill>
              </a:rPr>
              <a:t>20 M</a:t>
            </a:r>
          </a:p>
        </p:txBody>
      </p:sp>
      <mc:AlternateContent xmlns:mc="http://schemas.openxmlformats.org/markup-compatibility/2006" xmlns:p14="http://schemas.microsoft.com/office/powerpoint/2010/main">
        <mc:Choice Requires="p14">
          <p:contentPart p14:bwMode="auto" r:id="rId3">
            <p14:nvContentPartPr>
              <p14:cNvPr id="1750024" name="Ink 8">
                <a:extLst>
                  <a:ext uri="{FF2B5EF4-FFF2-40B4-BE49-F238E27FC236}">
                    <a16:creationId xmlns:a16="http://schemas.microsoft.com/office/drawing/2014/main" id="{88129670-8076-4B30-A1BA-C7EE1960F772}"/>
                  </a:ext>
                </a:extLst>
              </p14:cNvPr>
              <p14:cNvContentPartPr>
                <a14:cpLocks xmlns:a14="http://schemas.microsoft.com/office/drawing/2010/main" noRot="1" noChangeAspect="1" noEditPoints="1" noChangeArrowheads="1" noChangeShapeType="1"/>
              </p14:cNvContentPartPr>
              <p14:nvPr/>
            </p14:nvContentPartPr>
            <p14:xfrm>
              <a:off x="2906713" y="2251076"/>
              <a:ext cx="34925" cy="1588"/>
            </p14:xfrm>
          </p:contentPart>
        </mc:Choice>
        <mc:Fallback xmlns="">
          <p:pic>
            <p:nvPicPr>
              <p:cNvPr id="1750024" name="Ink 8">
                <a:extLst>
                  <a:ext uri="{FF2B5EF4-FFF2-40B4-BE49-F238E27FC236}">
                    <a16:creationId xmlns:a16="http://schemas.microsoft.com/office/drawing/2014/main" id="{88129670-8076-4B30-A1BA-C7EE1960F772}"/>
                  </a:ext>
                </a:extLst>
              </p:cNvPr>
              <p:cNvPicPr>
                <a:picLocks noRot="1" noChangeAspect="1" noEditPoints="1" noChangeArrowheads="1" noChangeShapeType="1"/>
              </p:cNvPicPr>
              <p:nvPr/>
            </p:nvPicPr>
            <p:blipFill>
              <a:blip r:embed="rId4"/>
              <a:stretch>
                <a:fillRect/>
              </a:stretch>
            </p:blipFill>
            <p:spPr>
              <a:xfrm>
                <a:off x="2888887" y="2173264"/>
                <a:ext cx="69850" cy="154036"/>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50020">
                                            <p:txEl>
                                              <p:pRg st="0" end="0"/>
                                            </p:txEl>
                                          </p:spTgt>
                                        </p:tgtEl>
                                        <p:attrNameLst>
                                          <p:attrName>style.visibility</p:attrName>
                                        </p:attrNameLst>
                                      </p:cBhvr>
                                      <p:to>
                                        <p:strVal val="visible"/>
                                      </p:to>
                                    </p:set>
                                    <p:anim calcmode="lin" valueType="num">
                                      <p:cBhvr additive="base">
                                        <p:cTn id="7" dur="500" fill="hold"/>
                                        <p:tgtEl>
                                          <p:spTgt spid="175002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500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50021">
                                            <p:txEl>
                                              <p:pRg st="0" end="0"/>
                                            </p:txEl>
                                          </p:spTgt>
                                        </p:tgtEl>
                                        <p:attrNameLst>
                                          <p:attrName>style.visibility</p:attrName>
                                        </p:attrNameLst>
                                      </p:cBhvr>
                                      <p:to>
                                        <p:strVal val="visible"/>
                                      </p:to>
                                    </p:set>
                                    <p:anim calcmode="lin" valueType="num">
                                      <p:cBhvr additive="base">
                                        <p:cTn id="13" dur="500" fill="hold"/>
                                        <p:tgtEl>
                                          <p:spTgt spid="1750021">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5002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50023">
                                            <p:txEl>
                                              <p:pRg st="0" end="0"/>
                                            </p:txEl>
                                          </p:spTgt>
                                        </p:tgtEl>
                                        <p:attrNameLst>
                                          <p:attrName>style.visibility</p:attrName>
                                        </p:attrNameLst>
                                      </p:cBhvr>
                                      <p:to>
                                        <p:strVal val="visible"/>
                                      </p:to>
                                    </p:set>
                                    <p:anim calcmode="lin" valueType="num">
                                      <p:cBhvr additive="base">
                                        <p:cTn id="19" dur="500" fill="hold"/>
                                        <p:tgtEl>
                                          <p:spTgt spid="1750023">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5002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0020" grpId="0" build="p" autoUpdateAnimBg="0"/>
      <p:bldP spid="1750021" grpId="0" build="p" autoUpdateAnimBg="0"/>
      <p:bldP spid="1750023" grpId="0" build="p" autoUpdateAnimBg="0"/>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E436D57E-A67D-4B33-A7CE-62C1A86E9A37}"/>
              </a:ext>
            </a:extLst>
          </p:cNvPr>
          <p:cNvSpPr>
            <a:spLocks noGrp="1" noChangeArrowheads="1"/>
          </p:cNvSpPr>
          <p:nvPr>
            <p:ph type="title"/>
          </p:nvPr>
        </p:nvSpPr>
        <p:spPr bwMode="auto">
          <a:xfrm>
            <a:off x="2317750" y="306388"/>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marL="838166" indent="-838166" algn="ctr"/>
            <a:r>
              <a:rPr lang="zh-CN" altLang="en-US" sz="3600">
                <a:solidFill>
                  <a:schemeClr val="hlink"/>
                </a:solidFill>
                <a:ea typeface="新宋体" panose="02010609030101010101" pitchFamily="49" charset="-122"/>
              </a:rPr>
              <a:t>帧的转发</a:t>
            </a:r>
          </a:p>
        </p:txBody>
      </p:sp>
      <p:sp>
        <p:nvSpPr>
          <p:cNvPr id="23555" name="Text Box 4">
            <a:extLst>
              <a:ext uri="{FF2B5EF4-FFF2-40B4-BE49-F238E27FC236}">
                <a16:creationId xmlns:a16="http://schemas.microsoft.com/office/drawing/2014/main" id="{0E76F137-BCAF-4E33-A2F2-7A140FEF68B3}"/>
              </a:ext>
            </a:extLst>
          </p:cNvPr>
          <p:cNvSpPr txBox="1">
            <a:spLocks noChangeArrowheads="1"/>
          </p:cNvSpPr>
          <p:nvPr/>
        </p:nvSpPr>
        <p:spPr bwMode="auto">
          <a:xfrm>
            <a:off x="2503488" y="1271589"/>
            <a:ext cx="7180262" cy="390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5263" indent="-195263"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20000"/>
              </a:spcBef>
            </a:pPr>
            <a:r>
              <a:rPr lang="en-US" altLang="zh-CN" sz="2800">
                <a:solidFill>
                  <a:srgbClr val="000000"/>
                </a:solidFill>
                <a:latin typeface="Arial" panose="020B0604020202020204" pitchFamily="34" charset="0"/>
              </a:rPr>
              <a:t>• </a:t>
            </a:r>
            <a:r>
              <a:rPr lang="zh-CN" altLang="en-US" sz="2800">
                <a:solidFill>
                  <a:srgbClr val="000000"/>
                </a:solidFill>
                <a:latin typeface="Arial" panose="020B0604020202020204" pitchFamily="34" charset="0"/>
              </a:rPr>
              <a:t>每个网桥中都有一张转发表，其中的每项条目的内容为： </a:t>
            </a:r>
            <a:r>
              <a:rPr lang="en-US" altLang="zh-CN" sz="2800" b="1">
                <a:solidFill>
                  <a:srgbClr val="FF0000"/>
                </a:solidFill>
                <a:latin typeface="Arial" panose="020B0604020202020204" pitchFamily="34" charset="0"/>
              </a:rPr>
              <a:t>&lt; MAC </a:t>
            </a:r>
            <a:r>
              <a:rPr lang="zh-CN" altLang="en-US" sz="2800" b="1">
                <a:solidFill>
                  <a:srgbClr val="FF0000"/>
                </a:solidFill>
                <a:latin typeface="Arial" panose="020B0604020202020204" pitchFamily="34" charset="0"/>
              </a:rPr>
              <a:t>地址</a:t>
            </a:r>
            <a:r>
              <a:rPr lang="en-US" altLang="zh-CN" sz="2800" b="1">
                <a:solidFill>
                  <a:srgbClr val="FF0000"/>
                </a:solidFill>
                <a:latin typeface="Arial" panose="020B0604020202020204" pitchFamily="34" charset="0"/>
              </a:rPr>
              <a:t>, </a:t>
            </a:r>
            <a:r>
              <a:rPr lang="zh-CN" altLang="en-US" sz="2800" b="1">
                <a:solidFill>
                  <a:srgbClr val="FF0000"/>
                </a:solidFill>
                <a:latin typeface="Arial" panose="020B0604020202020204" pitchFamily="34" charset="0"/>
              </a:rPr>
              <a:t>端口</a:t>
            </a:r>
            <a:r>
              <a:rPr lang="en-US" altLang="zh-CN" sz="2800" b="1">
                <a:solidFill>
                  <a:srgbClr val="FF0000"/>
                </a:solidFill>
                <a:latin typeface="Arial" panose="020B0604020202020204" pitchFamily="34" charset="0"/>
              </a:rPr>
              <a:t>, </a:t>
            </a:r>
            <a:r>
              <a:rPr lang="zh-CN" altLang="en-US" sz="2800" b="1">
                <a:solidFill>
                  <a:srgbClr val="FF0000"/>
                </a:solidFill>
                <a:latin typeface="Arial" panose="020B0604020202020204" pitchFamily="34" charset="0"/>
              </a:rPr>
              <a:t>时间</a:t>
            </a:r>
            <a:r>
              <a:rPr lang="en-US" altLang="zh-CN" sz="2800" b="1">
                <a:solidFill>
                  <a:srgbClr val="FF0000"/>
                </a:solidFill>
                <a:latin typeface="Arial" panose="020B0604020202020204" pitchFamily="34" charset="0"/>
              </a:rPr>
              <a:t>&gt;</a:t>
            </a:r>
          </a:p>
          <a:p>
            <a:pPr algn="l">
              <a:spcBef>
                <a:spcPct val="20000"/>
              </a:spcBef>
            </a:pPr>
            <a:r>
              <a:rPr lang="en-US" altLang="zh-CN" sz="2400" b="1">
                <a:solidFill>
                  <a:srgbClr val="FF0000"/>
                </a:solidFill>
                <a:latin typeface="Arial" panose="020B0604020202020204" pitchFamily="34" charset="0"/>
              </a:rPr>
              <a:t>        MAC address:   </a:t>
            </a:r>
            <a:r>
              <a:rPr lang="zh-CN" altLang="en-US" sz="2400">
                <a:solidFill>
                  <a:srgbClr val="000000"/>
                </a:solidFill>
                <a:latin typeface="Arial" panose="020B0604020202020204" pitchFamily="34" charset="0"/>
              </a:rPr>
              <a:t>主机名或组地址</a:t>
            </a:r>
          </a:p>
          <a:p>
            <a:pPr algn="l">
              <a:spcBef>
                <a:spcPct val="20000"/>
              </a:spcBef>
            </a:pPr>
            <a:r>
              <a:rPr lang="zh-CN" altLang="en-US" sz="2400" b="1">
                <a:solidFill>
                  <a:srgbClr val="FF0000"/>
                </a:solidFill>
                <a:latin typeface="Arial" panose="020B0604020202020204" pitchFamily="34" charset="0"/>
              </a:rPr>
              <a:t>        </a:t>
            </a:r>
            <a:r>
              <a:rPr lang="en-US" altLang="zh-CN" sz="2400" b="1">
                <a:solidFill>
                  <a:srgbClr val="FF0000"/>
                </a:solidFill>
                <a:latin typeface="Arial" panose="020B0604020202020204" pitchFamily="34" charset="0"/>
              </a:rPr>
              <a:t>port:                   </a:t>
            </a:r>
            <a:r>
              <a:rPr lang="zh-CN" altLang="en-US" sz="2400">
                <a:solidFill>
                  <a:srgbClr val="000000"/>
                </a:solidFill>
                <a:latin typeface="Arial" panose="020B0604020202020204" pitchFamily="34" charset="0"/>
              </a:rPr>
              <a:t>网桥的端口号</a:t>
            </a:r>
          </a:p>
          <a:p>
            <a:pPr algn="l">
              <a:spcBef>
                <a:spcPct val="20000"/>
              </a:spcBef>
            </a:pPr>
            <a:r>
              <a:rPr lang="zh-CN" altLang="en-US" sz="2400" b="1">
                <a:solidFill>
                  <a:srgbClr val="FF0000"/>
                </a:solidFill>
                <a:latin typeface="Arial" panose="020B0604020202020204" pitchFamily="34" charset="0"/>
              </a:rPr>
              <a:t>        </a:t>
            </a:r>
            <a:r>
              <a:rPr lang="en-US" altLang="zh-CN" sz="2400" b="1">
                <a:solidFill>
                  <a:srgbClr val="FF0000"/>
                </a:solidFill>
                <a:latin typeface="Arial" panose="020B0604020202020204" pitchFamily="34" charset="0"/>
              </a:rPr>
              <a:t>age:                   </a:t>
            </a:r>
            <a:r>
              <a:rPr lang="zh-CN" altLang="en-US" sz="2400">
                <a:solidFill>
                  <a:schemeClr val="tx1"/>
                </a:solidFill>
                <a:latin typeface="Arial" panose="020B0604020202020204" pitchFamily="34" charset="0"/>
              </a:rPr>
              <a:t>每项条目的寿命</a:t>
            </a:r>
          </a:p>
          <a:p>
            <a:pPr algn="l">
              <a:spcBef>
                <a:spcPct val="20000"/>
              </a:spcBef>
              <a:buFontTx/>
              <a:buChar char="•"/>
            </a:pPr>
            <a:r>
              <a:rPr lang="zh-CN" altLang="en-US" sz="2400">
                <a:solidFill>
                  <a:schemeClr val="tx1"/>
                </a:solidFill>
                <a:cs typeface="Times New Roman" panose="02020603050405020304" pitchFamily="18" charset="0"/>
              </a:rPr>
              <a:t>  </a:t>
            </a:r>
            <a:r>
              <a:rPr lang="zh-CN" altLang="en-US" sz="2400">
                <a:solidFill>
                  <a:schemeClr val="tx1"/>
                </a:solidFill>
              </a:rPr>
              <a:t>帧转发</a:t>
            </a:r>
            <a:r>
              <a:rPr lang="en-US" altLang="zh-CN" sz="2400">
                <a:solidFill>
                  <a:schemeClr val="tx1"/>
                </a:solidFill>
              </a:rPr>
              <a:t>:</a:t>
            </a:r>
          </a:p>
          <a:p>
            <a:pPr algn="l">
              <a:spcBef>
                <a:spcPct val="20000"/>
              </a:spcBef>
            </a:pPr>
            <a:r>
              <a:rPr lang="en-US" altLang="zh-CN" sz="2400">
                <a:solidFill>
                  <a:schemeClr val="tx1"/>
                </a:solidFill>
                <a:cs typeface="Times New Roman" panose="02020603050405020304" pitchFamily="18" charset="0"/>
              </a:rPr>
              <a:t>  1</a:t>
            </a:r>
            <a:r>
              <a:rPr lang="zh-CN" altLang="en-US" sz="2400">
                <a:solidFill>
                  <a:schemeClr val="tx1"/>
                </a:solidFill>
              </a:rPr>
              <a:t>、如果源</a:t>
            </a:r>
            <a:r>
              <a:rPr lang="en-US" altLang="zh-CN" sz="2400">
                <a:solidFill>
                  <a:schemeClr val="tx1"/>
                </a:solidFill>
                <a:cs typeface="Times New Roman" panose="02020603050405020304" pitchFamily="18" charset="0"/>
              </a:rPr>
              <a:t>LAN</a:t>
            </a:r>
            <a:r>
              <a:rPr lang="zh-CN" altLang="en-US" sz="2400">
                <a:solidFill>
                  <a:schemeClr val="tx1"/>
                </a:solidFill>
              </a:rPr>
              <a:t>和目的</a:t>
            </a:r>
            <a:r>
              <a:rPr lang="en-US" altLang="zh-CN" sz="2400">
                <a:solidFill>
                  <a:schemeClr val="tx1"/>
                </a:solidFill>
                <a:cs typeface="Times New Roman" panose="02020603050405020304" pitchFamily="18" charset="0"/>
              </a:rPr>
              <a:t>LAN</a:t>
            </a:r>
            <a:r>
              <a:rPr lang="zh-CN" altLang="en-US" sz="2400">
                <a:solidFill>
                  <a:schemeClr val="tx1"/>
                </a:solidFill>
              </a:rPr>
              <a:t>相同，则</a:t>
            </a:r>
            <a:r>
              <a:rPr lang="zh-CN" altLang="en-US" sz="2400">
                <a:solidFill>
                  <a:srgbClr val="0066FF"/>
                </a:solidFill>
              </a:rPr>
              <a:t>丢弃</a:t>
            </a:r>
            <a:r>
              <a:rPr lang="zh-CN" altLang="en-US" sz="2400">
                <a:solidFill>
                  <a:schemeClr val="tx1"/>
                </a:solidFill>
              </a:rPr>
              <a:t>该帧。</a:t>
            </a:r>
            <a:r>
              <a:rPr lang="zh-CN" altLang="en-US" sz="2400">
                <a:solidFill>
                  <a:schemeClr val="tx1"/>
                </a:solidFill>
                <a:cs typeface="Times New Roman" panose="02020603050405020304" pitchFamily="18" charset="0"/>
              </a:rPr>
              <a:t/>
            </a:r>
            <a:br>
              <a:rPr lang="zh-CN" altLang="en-US" sz="2400">
                <a:solidFill>
                  <a:schemeClr val="tx1"/>
                </a:solidFill>
                <a:cs typeface="Times New Roman" panose="02020603050405020304" pitchFamily="18" charset="0"/>
              </a:rPr>
            </a:br>
            <a:r>
              <a:rPr lang="en-US" altLang="zh-CN" sz="2400">
                <a:solidFill>
                  <a:schemeClr val="tx1"/>
                </a:solidFill>
                <a:cs typeface="Times New Roman" panose="02020603050405020304" pitchFamily="18" charset="0"/>
              </a:rPr>
              <a:t>2</a:t>
            </a:r>
            <a:r>
              <a:rPr lang="zh-CN" altLang="en-US" sz="2400">
                <a:solidFill>
                  <a:schemeClr val="tx1"/>
                </a:solidFill>
              </a:rPr>
              <a:t>、如果源</a:t>
            </a:r>
            <a:r>
              <a:rPr lang="en-US" altLang="zh-CN" sz="2400">
                <a:solidFill>
                  <a:schemeClr val="tx1"/>
                </a:solidFill>
                <a:cs typeface="Times New Roman" panose="02020603050405020304" pitchFamily="18" charset="0"/>
              </a:rPr>
              <a:t>LAN</a:t>
            </a:r>
            <a:r>
              <a:rPr lang="zh-CN" altLang="en-US" sz="2400">
                <a:solidFill>
                  <a:schemeClr val="tx1"/>
                </a:solidFill>
              </a:rPr>
              <a:t>和目的</a:t>
            </a:r>
            <a:r>
              <a:rPr lang="en-US" altLang="zh-CN" sz="2400">
                <a:solidFill>
                  <a:schemeClr val="tx1"/>
                </a:solidFill>
                <a:cs typeface="Times New Roman" panose="02020603050405020304" pitchFamily="18" charset="0"/>
              </a:rPr>
              <a:t>LAN</a:t>
            </a:r>
            <a:r>
              <a:rPr lang="zh-CN" altLang="en-US" sz="2400">
                <a:solidFill>
                  <a:schemeClr val="tx1"/>
                </a:solidFill>
              </a:rPr>
              <a:t>不同，则</a:t>
            </a:r>
            <a:r>
              <a:rPr lang="zh-CN" altLang="en-US" sz="2400">
                <a:solidFill>
                  <a:srgbClr val="0066FF"/>
                </a:solidFill>
              </a:rPr>
              <a:t>转发</a:t>
            </a:r>
            <a:r>
              <a:rPr lang="zh-CN" altLang="en-US" sz="2400">
                <a:solidFill>
                  <a:schemeClr val="tx1"/>
                </a:solidFill>
              </a:rPr>
              <a:t>该帧。</a:t>
            </a:r>
            <a:r>
              <a:rPr lang="zh-CN" altLang="en-US" sz="2400">
                <a:solidFill>
                  <a:schemeClr val="tx1"/>
                </a:solidFill>
                <a:cs typeface="Times New Roman" panose="02020603050405020304" pitchFamily="18" charset="0"/>
              </a:rPr>
              <a:t/>
            </a:r>
            <a:br>
              <a:rPr lang="zh-CN" altLang="en-US" sz="2400">
                <a:solidFill>
                  <a:schemeClr val="tx1"/>
                </a:solidFill>
                <a:cs typeface="Times New Roman" panose="02020603050405020304" pitchFamily="18" charset="0"/>
              </a:rPr>
            </a:br>
            <a:r>
              <a:rPr lang="en-US" altLang="zh-CN" sz="2400">
                <a:solidFill>
                  <a:schemeClr val="tx1"/>
                </a:solidFill>
                <a:cs typeface="Times New Roman" panose="02020603050405020304" pitchFamily="18" charset="0"/>
              </a:rPr>
              <a:t>3</a:t>
            </a:r>
            <a:r>
              <a:rPr lang="zh-CN" altLang="en-US" sz="2400">
                <a:solidFill>
                  <a:schemeClr val="tx1"/>
                </a:solidFill>
              </a:rPr>
              <a:t>、如果目的</a:t>
            </a:r>
            <a:r>
              <a:rPr lang="en-US" altLang="zh-CN" sz="2400">
                <a:solidFill>
                  <a:schemeClr val="tx1"/>
                </a:solidFill>
                <a:cs typeface="Times New Roman" panose="02020603050405020304" pitchFamily="18" charset="0"/>
              </a:rPr>
              <a:t>LAN</a:t>
            </a:r>
            <a:r>
              <a:rPr lang="zh-CN" altLang="en-US" sz="2400">
                <a:solidFill>
                  <a:schemeClr val="tx1"/>
                </a:solidFill>
              </a:rPr>
              <a:t>未知，则进行</a:t>
            </a:r>
            <a:r>
              <a:rPr lang="zh-CN" altLang="en-US" sz="2400">
                <a:solidFill>
                  <a:srgbClr val="0066FF"/>
                </a:solidFill>
              </a:rPr>
              <a:t>扩散</a:t>
            </a:r>
            <a:r>
              <a:rPr lang="zh-CN" altLang="en-US" sz="2400">
                <a:solidFill>
                  <a:schemeClr val="tx1"/>
                </a:solidFill>
              </a:rPr>
              <a:t>。</a:t>
            </a:r>
            <a:r>
              <a:rPr lang="zh-CN" altLang="en-US" sz="2400">
                <a:solidFill>
                  <a:schemeClr val="tx1"/>
                </a:solidFill>
                <a:latin typeface="Arial" panose="020B0604020202020204" pitchFamily="34" charset="0"/>
              </a:rPr>
              <a:t> </a:t>
            </a:r>
            <a:endParaRPr lang="zh-CN" altLang="en-US" sz="28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3887FE71-F991-4B63-971F-AC385F7A3265}"/>
              </a:ext>
            </a:extLst>
          </p:cNvPr>
          <p:cNvSpPr>
            <a:spLocks noGrp="1" noChangeArrowheads="1"/>
          </p:cNvSpPr>
          <p:nvPr>
            <p:ph type="title"/>
          </p:nvPr>
        </p:nvSpPr>
        <p:spPr bwMode="auto">
          <a:xfrm>
            <a:off x="2281238" y="322264"/>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marL="838166" indent="-838166" algn="ctr"/>
            <a:r>
              <a:rPr lang="zh-CN" altLang="en-US" sz="3600">
                <a:solidFill>
                  <a:schemeClr val="hlink"/>
                </a:solidFill>
                <a:ea typeface="新宋体" panose="02010609030101010101" pitchFamily="49" charset="-122"/>
              </a:rPr>
              <a:t>帧的转发</a:t>
            </a:r>
          </a:p>
        </p:txBody>
      </p:sp>
      <p:sp>
        <p:nvSpPr>
          <p:cNvPr id="24579" name="Text Box 4">
            <a:extLst>
              <a:ext uri="{FF2B5EF4-FFF2-40B4-BE49-F238E27FC236}">
                <a16:creationId xmlns:a16="http://schemas.microsoft.com/office/drawing/2014/main" id="{1CCA3371-EC49-492D-AEDE-23237C71E79F}"/>
              </a:ext>
            </a:extLst>
          </p:cNvPr>
          <p:cNvSpPr txBox="1">
            <a:spLocks noChangeArrowheads="1"/>
          </p:cNvSpPr>
          <p:nvPr/>
        </p:nvSpPr>
        <p:spPr bwMode="auto">
          <a:xfrm>
            <a:off x="2952750" y="1317625"/>
            <a:ext cx="68468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假设一个</a:t>
            </a:r>
            <a:r>
              <a:rPr lang="en-US" altLang="zh-CN" sz="2800">
                <a:solidFill>
                  <a:schemeClr val="tx1"/>
                </a:solidFill>
                <a:latin typeface="Arial" panose="020B0604020202020204" pitchFamily="34" charset="0"/>
              </a:rPr>
              <a:t>MAC</a:t>
            </a:r>
            <a:r>
              <a:rPr lang="zh-CN" altLang="en-US" sz="2800">
                <a:solidFill>
                  <a:schemeClr val="tx1"/>
                </a:solidFill>
                <a:latin typeface="Arial" panose="020B0604020202020204" pitchFamily="34" charset="0"/>
              </a:rPr>
              <a:t>帧在</a:t>
            </a:r>
            <a:r>
              <a:rPr lang="en-US" altLang="zh-CN" sz="2800">
                <a:solidFill>
                  <a:schemeClr val="tx1"/>
                </a:solidFill>
                <a:latin typeface="Arial" panose="020B0604020202020204" pitchFamily="34" charset="0"/>
              </a:rPr>
              <a:t>port x</a:t>
            </a:r>
            <a:r>
              <a:rPr lang="zh-CN" altLang="en-US" sz="2800">
                <a:solidFill>
                  <a:schemeClr val="tx1"/>
                </a:solidFill>
                <a:latin typeface="Arial" panose="020B0604020202020204" pitchFamily="34" charset="0"/>
              </a:rPr>
              <a:t>上被接收。</a:t>
            </a:r>
          </a:p>
        </p:txBody>
      </p:sp>
      <p:pic>
        <p:nvPicPr>
          <p:cNvPr id="1793030" name="Picture 6">
            <a:extLst>
              <a:ext uri="{FF2B5EF4-FFF2-40B4-BE49-F238E27FC236}">
                <a16:creationId xmlns:a16="http://schemas.microsoft.com/office/drawing/2014/main" id="{BF9F000B-92C2-444D-9962-13201EEE9A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8388" y="1881189"/>
            <a:ext cx="8048626" cy="398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793030"/>
                                        </p:tgtEl>
                                        <p:attrNameLst>
                                          <p:attrName>style.visibility</p:attrName>
                                        </p:attrNameLst>
                                      </p:cBhvr>
                                      <p:to>
                                        <p:strVal val="visible"/>
                                      </p:to>
                                    </p:set>
                                    <p:anim calcmode="lin" valueType="num">
                                      <p:cBhvr additive="base">
                                        <p:cTn id="7" dur="500" fill="hold"/>
                                        <p:tgtEl>
                                          <p:spTgt spid="1793030"/>
                                        </p:tgtEl>
                                        <p:attrNameLst>
                                          <p:attrName>ppt_x</p:attrName>
                                        </p:attrNameLst>
                                      </p:cBhvr>
                                      <p:tavLst>
                                        <p:tav tm="0">
                                          <p:val>
                                            <p:strVal val="1+#ppt_w/2"/>
                                          </p:val>
                                        </p:tav>
                                        <p:tav tm="100000">
                                          <p:val>
                                            <p:strVal val="#ppt_x"/>
                                          </p:val>
                                        </p:tav>
                                      </p:tavLst>
                                    </p:anim>
                                    <p:anim calcmode="lin" valueType="num">
                                      <p:cBhvr additive="base">
                                        <p:cTn id="8" dur="500" fill="hold"/>
                                        <p:tgtEl>
                                          <p:spTgt spid="17930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742911A9-6037-432B-90E2-B7AF1AA6EC0A}"/>
              </a:ext>
            </a:extLst>
          </p:cNvPr>
          <p:cNvSpPr>
            <a:spLocks noGrp="1" noChangeArrowheads="1"/>
          </p:cNvSpPr>
          <p:nvPr>
            <p:ph type="title"/>
          </p:nvPr>
        </p:nvSpPr>
        <p:spPr bwMode="auto">
          <a:xfrm>
            <a:off x="2263775" y="322264"/>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marL="838166" indent="-838166" algn="ctr"/>
            <a:r>
              <a:rPr lang="zh-CN" altLang="en-US" sz="3600">
                <a:solidFill>
                  <a:schemeClr val="hlink"/>
                </a:solidFill>
                <a:ea typeface="新宋体" panose="02010609030101010101" pitchFamily="49" charset="-122"/>
              </a:rPr>
              <a:t>地址的学习 </a:t>
            </a:r>
            <a:r>
              <a:rPr lang="en-US" altLang="zh-CN" sz="3600">
                <a:solidFill>
                  <a:schemeClr val="hlink"/>
                </a:solidFill>
                <a:ea typeface="新宋体" panose="02010609030101010101" pitchFamily="49" charset="-122"/>
              </a:rPr>
              <a:t>(</a:t>
            </a:r>
            <a:r>
              <a:rPr lang="zh-CN" altLang="en-US" sz="3600">
                <a:solidFill>
                  <a:schemeClr val="hlink"/>
                </a:solidFill>
                <a:ea typeface="新宋体" panose="02010609030101010101" pitchFamily="49" charset="-122"/>
              </a:rPr>
              <a:t>学习网桥</a:t>
            </a:r>
            <a:r>
              <a:rPr lang="en-US" altLang="zh-CN" sz="3600">
                <a:solidFill>
                  <a:schemeClr val="hlink"/>
                </a:solidFill>
                <a:ea typeface="新宋体" panose="02010609030101010101" pitchFamily="49" charset="-122"/>
              </a:rPr>
              <a:t>)</a:t>
            </a:r>
          </a:p>
        </p:txBody>
      </p:sp>
      <p:sp>
        <p:nvSpPr>
          <p:cNvPr id="25603" name="Text Box 4">
            <a:extLst>
              <a:ext uri="{FF2B5EF4-FFF2-40B4-BE49-F238E27FC236}">
                <a16:creationId xmlns:a16="http://schemas.microsoft.com/office/drawing/2014/main" id="{395E4204-338C-4BF4-B1A5-426427A5CCA7}"/>
              </a:ext>
            </a:extLst>
          </p:cNvPr>
          <p:cNvSpPr txBox="1">
            <a:spLocks noChangeArrowheads="1"/>
          </p:cNvSpPr>
          <p:nvPr/>
        </p:nvSpPr>
        <p:spPr bwMode="auto">
          <a:xfrm>
            <a:off x="2090739" y="1316039"/>
            <a:ext cx="818038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5263" indent="-195263"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10000"/>
              </a:spcBef>
            </a:pPr>
            <a:r>
              <a:rPr lang="zh-CN" altLang="en-US" sz="2800">
                <a:solidFill>
                  <a:srgbClr val="000000"/>
                </a:solidFill>
              </a:rPr>
              <a:t>透明网桥采用的算法是逆向学习法</a:t>
            </a:r>
            <a:r>
              <a:rPr lang="en-US" altLang="zh-CN" sz="2800">
                <a:solidFill>
                  <a:srgbClr val="000000"/>
                </a:solidFill>
                <a:cs typeface="Times New Roman" panose="02020603050405020304" pitchFamily="18" charset="0"/>
              </a:rPr>
              <a:t>(backward learning)</a:t>
            </a:r>
            <a:r>
              <a:rPr lang="zh-CN" altLang="en-US" sz="2800">
                <a:solidFill>
                  <a:srgbClr val="000000"/>
                </a:solidFill>
              </a:rPr>
              <a:t>。网桥按混杂的方式工作，故它能看见所连接的任一</a:t>
            </a:r>
            <a:r>
              <a:rPr lang="en-US" altLang="zh-CN" sz="2800">
                <a:solidFill>
                  <a:srgbClr val="000000"/>
                </a:solidFill>
                <a:cs typeface="Times New Roman" panose="02020603050405020304" pitchFamily="18" charset="0"/>
              </a:rPr>
              <a:t>LAN</a:t>
            </a:r>
            <a:r>
              <a:rPr lang="zh-CN" altLang="en-US" sz="2800">
                <a:solidFill>
                  <a:srgbClr val="000000"/>
                </a:solidFill>
              </a:rPr>
              <a:t>上传送的帧。查看源地址即可知道在哪个</a:t>
            </a:r>
            <a:r>
              <a:rPr lang="en-US" altLang="zh-CN" sz="2800">
                <a:solidFill>
                  <a:srgbClr val="000000"/>
                </a:solidFill>
                <a:cs typeface="Times New Roman" panose="02020603050405020304" pitchFamily="18" charset="0"/>
              </a:rPr>
              <a:t>LAN</a:t>
            </a:r>
            <a:r>
              <a:rPr lang="zh-CN" altLang="en-US" sz="2800">
                <a:solidFill>
                  <a:srgbClr val="000000"/>
                </a:solidFill>
              </a:rPr>
              <a:t>上可访问哪台机器，于是在转发表中添上一项。</a:t>
            </a:r>
            <a:r>
              <a:rPr lang="zh-CN" altLang="en-US" sz="2800">
                <a:solidFill>
                  <a:srgbClr val="000000"/>
                </a:solidFill>
                <a:latin typeface="Arial" panose="020B0604020202020204" pitchFamily="34" charset="0"/>
              </a:rPr>
              <a:t> </a:t>
            </a:r>
          </a:p>
        </p:txBody>
      </p:sp>
      <p:pic>
        <p:nvPicPr>
          <p:cNvPr id="1794053" name="Picture 5">
            <a:extLst>
              <a:ext uri="{FF2B5EF4-FFF2-40B4-BE49-F238E27FC236}">
                <a16:creationId xmlns:a16="http://schemas.microsoft.com/office/drawing/2014/main" id="{944CE6AF-E034-45B9-A1E1-5B86B9D44F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4089" y="3579814"/>
            <a:ext cx="8056562" cy="2200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794053"/>
                                        </p:tgtEl>
                                        <p:attrNameLst>
                                          <p:attrName>style.visibility</p:attrName>
                                        </p:attrNameLst>
                                      </p:cBhvr>
                                      <p:to>
                                        <p:strVal val="visible"/>
                                      </p:to>
                                    </p:set>
                                    <p:anim calcmode="lin" valueType="num">
                                      <p:cBhvr additive="base">
                                        <p:cTn id="7" dur="500" fill="hold"/>
                                        <p:tgtEl>
                                          <p:spTgt spid="1794053"/>
                                        </p:tgtEl>
                                        <p:attrNameLst>
                                          <p:attrName>ppt_x</p:attrName>
                                        </p:attrNameLst>
                                      </p:cBhvr>
                                      <p:tavLst>
                                        <p:tav tm="0">
                                          <p:val>
                                            <p:strVal val="1+#ppt_w/2"/>
                                          </p:val>
                                        </p:tav>
                                        <p:tav tm="100000">
                                          <p:val>
                                            <p:strVal val="#ppt_x"/>
                                          </p:val>
                                        </p:tav>
                                      </p:tavLst>
                                    </p:anim>
                                    <p:anim calcmode="lin" valueType="num">
                                      <p:cBhvr additive="base">
                                        <p:cTn id="8" dur="500" fill="hold"/>
                                        <p:tgtEl>
                                          <p:spTgt spid="1794053"/>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79405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59F45746-B699-4E24-860B-8BC0FC6FDA0E}"/>
              </a:ext>
            </a:extLst>
          </p:cNvPr>
          <p:cNvSpPr>
            <a:spLocks noGrp="1" noChangeArrowheads="1"/>
          </p:cNvSpPr>
          <p:nvPr>
            <p:ph type="title"/>
          </p:nvPr>
        </p:nvSpPr>
        <p:spPr bwMode="auto">
          <a:xfrm>
            <a:off x="2209800" y="4191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透明网桥总结</a:t>
            </a:r>
          </a:p>
        </p:txBody>
      </p:sp>
      <p:sp>
        <p:nvSpPr>
          <p:cNvPr id="1758211" name="Text Box 3">
            <a:extLst>
              <a:ext uri="{FF2B5EF4-FFF2-40B4-BE49-F238E27FC236}">
                <a16:creationId xmlns:a16="http://schemas.microsoft.com/office/drawing/2014/main" id="{BF6D7BAE-B6B0-4A1D-8E26-D8BFF1FC1AFB}"/>
              </a:ext>
            </a:extLst>
          </p:cNvPr>
          <p:cNvSpPr txBox="1">
            <a:spLocks noChangeArrowheads="1"/>
          </p:cNvSpPr>
          <p:nvPr/>
        </p:nvSpPr>
        <p:spPr bwMode="auto">
          <a:xfrm>
            <a:off x="2311400" y="3370262"/>
            <a:ext cx="7426325" cy="1766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20000"/>
              </a:spcBef>
            </a:pPr>
            <a:r>
              <a:rPr kumimoji="1" lang="zh-CN" altLang="en-US" sz="3200">
                <a:solidFill>
                  <a:schemeClr val="hlink"/>
                </a:solidFill>
                <a:latin typeface="宋体" panose="02010600030101010101" pitchFamily="2" charset="-122"/>
              </a:rPr>
              <a:t>透明网桥的优缺点： </a:t>
            </a:r>
          </a:p>
          <a:p>
            <a:pPr algn="l" eaLnBrk="1" hangingPunct="1">
              <a:spcBef>
                <a:spcPct val="20000"/>
              </a:spcBef>
            </a:pPr>
            <a:r>
              <a:rPr kumimoji="1" lang="zh-CN" altLang="en-US" sz="3200">
                <a:solidFill>
                  <a:schemeClr val="hlink"/>
                </a:solidFill>
                <a:latin typeface="宋体" panose="02010600030101010101" pitchFamily="2" charset="-122"/>
              </a:rPr>
              <a:t>优点：</a:t>
            </a:r>
            <a:r>
              <a:rPr kumimoji="1" lang="zh-CN" altLang="en-US" sz="3200">
                <a:solidFill>
                  <a:schemeClr val="tx1"/>
                </a:solidFill>
                <a:latin typeface="宋体" panose="02010600030101010101" pitchFamily="2" charset="-122"/>
              </a:rPr>
              <a:t>容易配置、安装，无需管理</a:t>
            </a:r>
            <a:r>
              <a:rPr kumimoji="1" lang="zh-CN" altLang="en-US" sz="3200">
                <a:solidFill>
                  <a:schemeClr val="hlink"/>
                </a:solidFill>
                <a:latin typeface="宋体" panose="02010600030101010101" pitchFamily="2" charset="-122"/>
              </a:rPr>
              <a:t> </a:t>
            </a:r>
          </a:p>
          <a:p>
            <a:pPr algn="l" eaLnBrk="1" hangingPunct="1">
              <a:spcBef>
                <a:spcPct val="20000"/>
              </a:spcBef>
            </a:pPr>
            <a:r>
              <a:rPr kumimoji="1" lang="zh-CN" altLang="en-US" sz="3200">
                <a:solidFill>
                  <a:schemeClr val="hlink"/>
                </a:solidFill>
                <a:latin typeface="宋体" panose="02010600030101010101" pitchFamily="2" charset="-122"/>
              </a:rPr>
              <a:t>缺点：</a:t>
            </a:r>
            <a:r>
              <a:rPr kumimoji="1" lang="zh-CN" altLang="en-US" sz="3200">
                <a:solidFill>
                  <a:schemeClr val="tx1"/>
                </a:solidFill>
                <a:latin typeface="宋体" panose="02010600030101010101" pitchFamily="2" charset="-122"/>
              </a:rPr>
              <a:t>不能保证最佳路由</a:t>
            </a:r>
          </a:p>
        </p:txBody>
      </p:sp>
      <p:sp>
        <p:nvSpPr>
          <p:cNvPr id="26628" name="Text Box 4">
            <a:extLst>
              <a:ext uri="{FF2B5EF4-FFF2-40B4-BE49-F238E27FC236}">
                <a16:creationId xmlns:a16="http://schemas.microsoft.com/office/drawing/2014/main" id="{AFC51A42-4C28-4E44-BC40-C18C1F9E0D41}"/>
              </a:ext>
            </a:extLst>
          </p:cNvPr>
          <p:cNvSpPr txBox="1">
            <a:spLocks noChangeArrowheads="1"/>
          </p:cNvSpPr>
          <p:nvPr/>
        </p:nvSpPr>
        <p:spPr bwMode="auto">
          <a:xfrm>
            <a:off x="2039940" y="1655764"/>
            <a:ext cx="780573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10000"/>
              </a:spcBef>
            </a:pPr>
            <a:r>
              <a:rPr kumimoji="1" lang="zh-CN" altLang="en-US" sz="3200">
                <a:solidFill>
                  <a:srgbClr val="0000FF"/>
                </a:solidFill>
                <a:latin typeface="宋体" panose="02010600030101010101" pitchFamily="2" charset="-122"/>
              </a:rPr>
              <a:t>透明网桥工作原理归纳为：</a:t>
            </a:r>
            <a:r>
              <a:rPr kumimoji="1" lang="zh-CN" altLang="en-US" sz="3200">
                <a:solidFill>
                  <a:schemeClr val="tx1"/>
                </a:solidFill>
                <a:latin typeface="宋体" panose="02010600030101010101" pitchFamily="2" charset="-122"/>
              </a:rPr>
              <a:t>学习源地址，丢弃本网端帧，转发异网端帧，广播未知帧。</a:t>
            </a:r>
            <a:r>
              <a:rPr kumimoji="1" lang="zh-CN" altLang="en-US" sz="3200" u="sng">
                <a:solidFill>
                  <a:schemeClr val="tx1"/>
                </a:solidFill>
                <a:latin typeface="宋体" panose="02010600030101010101" pitchFamily="2" charset="-122"/>
              </a:rPr>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58211">
                                            <p:txEl>
                                              <p:pRg st="0" end="0"/>
                                            </p:txEl>
                                          </p:spTgt>
                                        </p:tgtEl>
                                        <p:attrNameLst>
                                          <p:attrName>style.visibility</p:attrName>
                                        </p:attrNameLst>
                                      </p:cBhvr>
                                      <p:to>
                                        <p:strVal val="visible"/>
                                      </p:to>
                                    </p:set>
                                    <p:anim calcmode="lin" valueType="num">
                                      <p:cBhvr additive="base">
                                        <p:cTn id="7" dur="500" fill="hold"/>
                                        <p:tgtEl>
                                          <p:spTgt spid="175821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582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58211">
                                            <p:txEl>
                                              <p:pRg st="1" end="1"/>
                                            </p:txEl>
                                          </p:spTgt>
                                        </p:tgtEl>
                                        <p:attrNameLst>
                                          <p:attrName>style.visibility</p:attrName>
                                        </p:attrNameLst>
                                      </p:cBhvr>
                                      <p:to>
                                        <p:strVal val="visible"/>
                                      </p:to>
                                    </p:set>
                                    <p:anim calcmode="lin" valueType="num">
                                      <p:cBhvr additive="base">
                                        <p:cTn id="13" dur="500" fill="hold"/>
                                        <p:tgtEl>
                                          <p:spTgt spid="175821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582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58211">
                                            <p:txEl>
                                              <p:pRg st="2" end="2"/>
                                            </p:txEl>
                                          </p:spTgt>
                                        </p:tgtEl>
                                        <p:attrNameLst>
                                          <p:attrName>style.visibility</p:attrName>
                                        </p:attrNameLst>
                                      </p:cBhvr>
                                      <p:to>
                                        <p:strVal val="visible"/>
                                      </p:to>
                                    </p:set>
                                    <p:anim calcmode="lin" valueType="num">
                                      <p:cBhvr additive="base">
                                        <p:cTn id="19" dur="500" fill="hold"/>
                                        <p:tgtEl>
                                          <p:spTgt spid="175821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5821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8211" grpId="0" build="p" autoUpdateAnimBg="0"/>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AD1551AA-9348-4BC2-BB62-8D0F7408C506}"/>
              </a:ext>
            </a:extLst>
          </p:cNvPr>
          <p:cNvSpPr>
            <a:spLocks noGrp="1" noChangeArrowheads="1"/>
          </p:cNvSpPr>
          <p:nvPr>
            <p:ph type="title"/>
          </p:nvPr>
        </p:nvSpPr>
        <p:spPr bwMode="auto">
          <a:xfrm>
            <a:off x="2266950" y="212725"/>
            <a:ext cx="7772400" cy="7556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源路由网桥</a:t>
            </a:r>
          </a:p>
        </p:txBody>
      </p:sp>
      <p:sp>
        <p:nvSpPr>
          <p:cNvPr id="1759235" name="Text Box 3">
            <a:extLst>
              <a:ext uri="{FF2B5EF4-FFF2-40B4-BE49-F238E27FC236}">
                <a16:creationId xmlns:a16="http://schemas.microsoft.com/office/drawing/2014/main" id="{71AD4FFF-5BFD-4C85-8188-A7F572DDECB8}"/>
              </a:ext>
            </a:extLst>
          </p:cNvPr>
          <p:cNvSpPr txBox="1">
            <a:spLocks noChangeArrowheads="1"/>
          </p:cNvSpPr>
          <p:nvPr/>
        </p:nvSpPr>
        <p:spPr bwMode="auto">
          <a:xfrm>
            <a:off x="1965326" y="1149351"/>
            <a:ext cx="8251825" cy="5176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20000"/>
              </a:spcBef>
            </a:pPr>
            <a:r>
              <a:rPr kumimoji="1" lang="zh-CN" altLang="en-US" sz="2800">
                <a:solidFill>
                  <a:schemeClr val="hlink"/>
                </a:solidFill>
                <a:latin typeface="宋体" panose="02010600030101010101" pitchFamily="2" charset="-122"/>
              </a:rPr>
              <a:t>特点：</a:t>
            </a:r>
            <a:r>
              <a:rPr kumimoji="1" lang="zh-CN" altLang="en-US" sz="2800">
                <a:solidFill>
                  <a:schemeClr val="tx1"/>
                </a:solidFill>
                <a:latin typeface="隶书" panose="02010509060101010101" pitchFamily="49" charset="-122"/>
                <a:ea typeface="隶书" panose="02010509060101010101" pitchFamily="49" charset="-122"/>
              </a:rPr>
              <a:t>由源站负责路由选择，路由信息放在发送的帧的首部（即把要经过的路径放在帧中，帧按该路径传送） </a:t>
            </a:r>
          </a:p>
          <a:p>
            <a:pPr algn="l" eaLnBrk="1" hangingPunct="1">
              <a:spcBef>
                <a:spcPct val="20000"/>
              </a:spcBef>
            </a:pPr>
            <a:r>
              <a:rPr kumimoji="1" lang="zh-CN" altLang="en-US" sz="2800">
                <a:solidFill>
                  <a:schemeClr val="hlink"/>
                </a:solidFill>
                <a:latin typeface="宋体" panose="02010600030101010101" pitchFamily="2" charset="-122"/>
              </a:rPr>
              <a:t>选路方法：</a:t>
            </a:r>
            <a:r>
              <a:rPr kumimoji="1" lang="zh-CN" altLang="en-US" sz="2800">
                <a:solidFill>
                  <a:schemeClr val="tx1"/>
                </a:solidFill>
                <a:latin typeface="隶书" panose="02010509060101010101" pitchFamily="49" charset="-122"/>
                <a:ea typeface="隶书" panose="02010509060101010101" pitchFamily="49" charset="-122"/>
              </a:rPr>
              <a:t>源站向目的站发送探测帧，该帧在扩展的</a:t>
            </a:r>
            <a:r>
              <a:rPr kumimoji="1" lang="en-US" altLang="zh-CN" sz="2800">
                <a:solidFill>
                  <a:schemeClr val="tx1"/>
                </a:solidFill>
                <a:latin typeface="隶书" panose="02010509060101010101" pitchFamily="49" charset="-122"/>
                <a:ea typeface="隶书" panose="02010509060101010101" pitchFamily="49" charset="-122"/>
              </a:rPr>
              <a:t>LAN</a:t>
            </a:r>
            <a:r>
              <a:rPr kumimoji="1" lang="zh-CN" altLang="en-US" sz="2800">
                <a:solidFill>
                  <a:schemeClr val="tx1"/>
                </a:solidFill>
                <a:latin typeface="隶书" panose="02010509060101010101" pitchFamily="49" charset="-122"/>
                <a:ea typeface="隶书" panose="02010509060101010101" pitchFamily="49" charset="-122"/>
              </a:rPr>
              <a:t>中沿所有可能路由传送；每个探测帧都记录下它所经过的路由；这些探测帧在到达目的站后，再沿各自的路由返回源站；由源站选择其中的最佳路由，作为发送帧中的路由信息。 </a:t>
            </a:r>
          </a:p>
          <a:p>
            <a:pPr algn="l" eaLnBrk="1" hangingPunct="1">
              <a:spcBef>
                <a:spcPct val="20000"/>
              </a:spcBef>
            </a:pPr>
            <a:r>
              <a:rPr kumimoji="1" lang="zh-CN" altLang="en-US" sz="2800">
                <a:solidFill>
                  <a:schemeClr val="hlink"/>
                </a:solidFill>
                <a:latin typeface="宋体" panose="02010600030101010101" pitchFamily="2" charset="-122"/>
              </a:rPr>
              <a:t>源路由网桥的优缺点：</a:t>
            </a:r>
            <a:r>
              <a:rPr kumimoji="1" lang="zh-CN" altLang="en-US" sz="2800">
                <a:solidFill>
                  <a:schemeClr val="tx1"/>
                </a:solidFill>
                <a:latin typeface="宋体" panose="02010600030101010101" pitchFamily="2" charset="-122"/>
              </a:rPr>
              <a:t> </a:t>
            </a:r>
          </a:p>
          <a:p>
            <a:pPr algn="l" eaLnBrk="1" hangingPunct="1">
              <a:spcBef>
                <a:spcPct val="20000"/>
              </a:spcBef>
            </a:pPr>
            <a:r>
              <a:rPr kumimoji="1" lang="zh-CN" altLang="en-US" sz="2800">
                <a:solidFill>
                  <a:schemeClr val="hlink"/>
                </a:solidFill>
                <a:latin typeface="宋体" panose="02010600030101010101" pitchFamily="2" charset="-122"/>
              </a:rPr>
              <a:t>优点</a:t>
            </a:r>
            <a:r>
              <a:rPr kumimoji="1" lang="zh-CN" altLang="en-US" sz="2800">
                <a:solidFill>
                  <a:schemeClr val="tx1"/>
                </a:solidFill>
                <a:latin typeface="宋体" panose="02010600030101010101" pitchFamily="2" charset="-122"/>
              </a:rPr>
              <a:t>：</a:t>
            </a:r>
            <a:r>
              <a:rPr kumimoji="1" lang="zh-CN" altLang="en-US" sz="2800">
                <a:solidFill>
                  <a:schemeClr val="tx1"/>
                </a:solidFill>
                <a:latin typeface="隶书" panose="02010509060101010101" pitchFamily="49" charset="-122"/>
                <a:ea typeface="隶书" panose="02010509060101010101" pitchFamily="49" charset="-122"/>
              </a:rPr>
              <a:t>网桥功能可以很简单；可以用最佳路由传送。</a:t>
            </a:r>
            <a:r>
              <a:rPr kumimoji="1" lang="zh-CN" altLang="en-US" sz="2800">
                <a:solidFill>
                  <a:schemeClr val="tx1"/>
                </a:solidFill>
                <a:latin typeface="宋体" panose="02010600030101010101" pitchFamily="2" charset="-122"/>
              </a:rPr>
              <a:t> </a:t>
            </a:r>
          </a:p>
          <a:p>
            <a:pPr algn="l" eaLnBrk="1" hangingPunct="1">
              <a:spcBef>
                <a:spcPct val="20000"/>
              </a:spcBef>
            </a:pPr>
            <a:r>
              <a:rPr kumimoji="1" lang="zh-CN" altLang="en-US" sz="2800">
                <a:solidFill>
                  <a:schemeClr val="hlink"/>
                </a:solidFill>
                <a:latin typeface="宋体" panose="02010600030101010101" pitchFamily="2" charset="-122"/>
              </a:rPr>
              <a:t>缺点</a:t>
            </a:r>
            <a:r>
              <a:rPr kumimoji="1" lang="zh-CN" altLang="en-US" sz="2800">
                <a:solidFill>
                  <a:schemeClr val="tx1"/>
                </a:solidFill>
                <a:latin typeface="宋体" panose="02010600030101010101" pitchFamily="2" charset="-122"/>
              </a:rPr>
              <a:t>：</a:t>
            </a:r>
            <a:r>
              <a:rPr kumimoji="1" lang="zh-CN" altLang="en-US" sz="2800">
                <a:solidFill>
                  <a:schemeClr val="tx1"/>
                </a:solidFill>
                <a:latin typeface="隶书" panose="02010509060101010101" pitchFamily="49" charset="-122"/>
                <a:ea typeface="隶书" panose="02010509060101010101" pitchFamily="49" charset="-122"/>
              </a:rPr>
              <a:t>源站计算路由费时；主机负担重。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59235">
                                            <p:txEl>
                                              <p:pRg st="0" end="0"/>
                                            </p:txEl>
                                          </p:spTgt>
                                        </p:tgtEl>
                                        <p:attrNameLst>
                                          <p:attrName>style.visibility</p:attrName>
                                        </p:attrNameLst>
                                      </p:cBhvr>
                                      <p:to>
                                        <p:strVal val="visible"/>
                                      </p:to>
                                    </p:set>
                                    <p:anim calcmode="lin" valueType="num">
                                      <p:cBhvr additive="base">
                                        <p:cTn id="7" dur="500" fill="hold"/>
                                        <p:tgtEl>
                                          <p:spTgt spid="175923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592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59235">
                                            <p:txEl>
                                              <p:pRg st="1" end="1"/>
                                            </p:txEl>
                                          </p:spTgt>
                                        </p:tgtEl>
                                        <p:attrNameLst>
                                          <p:attrName>style.visibility</p:attrName>
                                        </p:attrNameLst>
                                      </p:cBhvr>
                                      <p:to>
                                        <p:strVal val="visible"/>
                                      </p:to>
                                    </p:set>
                                    <p:anim calcmode="lin" valueType="num">
                                      <p:cBhvr additive="base">
                                        <p:cTn id="13" dur="500" fill="hold"/>
                                        <p:tgtEl>
                                          <p:spTgt spid="175923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592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59235">
                                            <p:txEl>
                                              <p:pRg st="2" end="2"/>
                                            </p:txEl>
                                          </p:spTgt>
                                        </p:tgtEl>
                                        <p:attrNameLst>
                                          <p:attrName>style.visibility</p:attrName>
                                        </p:attrNameLst>
                                      </p:cBhvr>
                                      <p:to>
                                        <p:strVal val="visible"/>
                                      </p:to>
                                    </p:set>
                                    <p:anim calcmode="lin" valueType="num">
                                      <p:cBhvr additive="base">
                                        <p:cTn id="19" dur="500" fill="hold"/>
                                        <p:tgtEl>
                                          <p:spTgt spid="175923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5923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759235">
                                            <p:txEl>
                                              <p:pRg st="3" end="3"/>
                                            </p:txEl>
                                          </p:spTgt>
                                        </p:tgtEl>
                                        <p:attrNameLst>
                                          <p:attrName>style.visibility</p:attrName>
                                        </p:attrNameLst>
                                      </p:cBhvr>
                                      <p:to>
                                        <p:strVal val="visible"/>
                                      </p:to>
                                    </p:set>
                                    <p:anim calcmode="lin" valueType="num">
                                      <p:cBhvr additive="base">
                                        <p:cTn id="25" dur="500" fill="hold"/>
                                        <p:tgtEl>
                                          <p:spTgt spid="175923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7592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759235">
                                            <p:txEl>
                                              <p:pRg st="4" end="4"/>
                                            </p:txEl>
                                          </p:spTgt>
                                        </p:tgtEl>
                                        <p:attrNameLst>
                                          <p:attrName>style.visibility</p:attrName>
                                        </p:attrNameLst>
                                      </p:cBhvr>
                                      <p:to>
                                        <p:strVal val="visible"/>
                                      </p:to>
                                    </p:set>
                                    <p:anim calcmode="lin" valueType="num">
                                      <p:cBhvr additive="base">
                                        <p:cTn id="31" dur="500" fill="hold"/>
                                        <p:tgtEl>
                                          <p:spTgt spid="1759235">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75923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9235" grpId="0" build="p" autoUpdateAnimBg="0"/>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6028280-581A-4A48-8949-1C2A106FD138}"/>
              </a:ext>
            </a:extLst>
          </p:cNvPr>
          <p:cNvSpPr>
            <a:spLocks noGrp="1" noChangeArrowheads="1"/>
          </p:cNvSpPr>
          <p:nvPr>
            <p:ph type="title"/>
          </p:nvPr>
        </p:nvSpPr>
        <p:spPr bwMode="auto">
          <a:xfrm>
            <a:off x="2228850" y="4572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两种网桥的比较</a:t>
            </a:r>
          </a:p>
        </p:txBody>
      </p:sp>
      <p:sp>
        <p:nvSpPr>
          <p:cNvPr id="28675" name="Text Box 3">
            <a:extLst>
              <a:ext uri="{FF2B5EF4-FFF2-40B4-BE49-F238E27FC236}">
                <a16:creationId xmlns:a16="http://schemas.microsoft.com/office/drawing/2014/main" id="{10F18686-3AA1-46E5-A859-11C9DAD32C7E}"/>
              </a:ext>
            </a:extLst>
          </p:cNvPr>
          <p:cNvSpPr txBox="1">
            <a:spLocks noChangeArrowheads="1"/>
          </p:cNvSpPr>
          <p:nvPr/>
        </p:nvSpPr>
        <p:spPr bwMode="auto">
          <a:xfrm>
            <a:off x="2082800" y="1674814"/>
            <a:ext cx="82296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50000"/>
              </a:spcBef>
            </a:pPr>
            <a:endParaRPr kumimoji="1" lang="en-US" altLang="zh-CN" sz="2800">
              <a:solidFill>
                <a:srgbClr val="000000"/>
              </a:solidFill>
              <a:latin typeface="华文中宋" panose="02010600040101010101" pitchFamily="2" charset="-122"/>
              <a:ea typeface="华文中宋" panose="02010600040101010101" pitchFamily="2" charset="-122"/>
            </a:endParaRPr>
          </a:p>
          <a:p>
            <a:pPr algn="l" eaLnBrk="1" hangingPunct="1">
              <a:spcBef>
                <a:spcPct val="50000"/>
              </a:spcBef>
            </a:pPr>
            <a:endParaRPr kumimoji="1" lang="en-US" altLang="zh-CN" sz="2800">
              <a:solidFill>
                <a:srgbClr val="000000"/>
              </a:solidFill>
              <a:latin typeface="华文中宋" panose="02010600040101010101" pitchFamily="2" charset="-122"/>
              <a:ea typeface="华文中宋" panose="02010600040101010101" pitchFamily="2" charset="-122"/>
            </a:endParaRPr>
          </a:p>
          <a:p>
            <a:pPr algn="l" eaLnBrk="1" hangingPunct="1">
              <a:spcBef>
                <a:spcPct val="50000"/>
              </a:spcBef>
            </a:pPr>
            <a:endParaRPr kumimoji="1" lang="en-US" altLang="zh-CN" sz="2800">
              <a:solidFill>
                <a:srgbClr val="000000"/>
              </a:solidFill>
              <a:latin typeface="华文中宋" panose="02010600040101010101" pitchFamily="2" charset="-122"/>
              <a:ea typeface="华文中宋" panose="02010600040101010101" pitchFamily="2" charset="-122"/>
            </a:endParaRPr>
          </a:p>
          <a:p>
            <a:pPr algn="l" eaLnBrk="1" hangingPunct="1">
              <a:spcBef>
                <a:spcPct val="50000"/>
              </a:spcBef>
            </a:pPr>
            <a:endParaRPr kumimoji="1" lang="en-US" altLang="zh-CN" sz="2800">
              <a:solidFill>
                <a:srgbClr val="FD0128"/>
              </a:solidFill>
              <a:latin typeface="宋体" panose="02010600030101010101" pitchFamily="2" charset="-122"/>
            </a:endParaRPr>
          </a:p>
          <a:p>
            <a:pPr algn="l" eaLnBrk="1" hangingPunct="1">
              <a:spcBef>
                <a:spcPct val="50000"/>
              </a:spcBef>
            </a:pPr>
            <a:endParaRPr kumimoji="1" lang="en-US" altLang="zh-CN" sz="2800">
              <a:solidFill>
                <a:srgbClr val="000000"/>
              </a:solidFill>
              <a:latin typeface="华文中宋" panose="02010600040101010101" pitchFamily="2" charset="-122"/>
              <a:ea typeface="华文中宋" panose="02010600040101010101" pitchFamily="2" charset="-122"/>
            </a:endParaRPr>
          </a:p>
          <a:p>
            <a:pPr algn="l" eaLnBrk="1" hangingPunct="1">
              <a:spcBef>
                <a:spcPct val="50000"/>
              </a:spcBef>
            </a:pPr>
            <a:endParaRPr kumimoji="1" lang="en-US" altLang="zh-CN" sz="2800">
              <a:solidFill>
                <a:srgbClr val="FD0128"/>
              </a:solidFill>
              <a:latin typeface="宋体" panose="02010600030101010101" pitchFamily="2" charset="-122"/>
            </a:endParaRPr>
          </a:p>
          <a:p>
            <a:pPr algn="l" eaLnBrk="1" hangingPunct="1">
              <a:spcBef>
                <a:spcPct val="50000"/>
              </a:spcBef>
            </a:pPr>
            <a:endParaRPr kumimoji="1" lang="en-US" altLang="zh-CN" sz="2800">
              <a:solidFill>
                <a:schemeClr val="tx1"/>
              </a:solidFill>
            </a:endParaRPr>
          </a:p>
        </p:txBody>
      </p:sp>
      <p:graphicFrame>
        <p:nvGraphicFramePr>
          <p:cNvPr id="1762308" name="Group 4">
            <a:extLst>
              <a:ext uri="{FF2B5EF4-FFF2-40B4-BE49-F238E27FC236}">
                <a16:creationId xmlns:a16="http://schemas.microsoft.com/office/drawing/2014/main" id="{D713DC5D-EE71-4A03-8241-3C1F19727C2F}"/>
              </a:ext>
            </a:extLst>
          </p:cNvPr>
          <p:cNvGraphicFramePr>
            <a:graphicFrameLocks noGrp="1"/>
          </p:cNvGraphicFramePr>
          <p:nvPr/>
        </p:nvGraphicFramePr>
        <p:xfrm>
          <a:off x="2033589" y="1584326"/>
          <a:ext cx="8221663" cy="4930777"/>
        </p:xfrm>
        <a:graphic>
          <a:graphicData uri="http://schemas.openxmlformats.org/drawingml/2006/table">
            <a:tbl>
              <a:tblPr/>
              <a:tblGrid>
                <a:gridCol w="3468688">
                  <a:extLst>
                    <a:ext uri="{9D8B030D-6E8A-4147-A177-3AD203B41FA5}">
                      <a16:colId xmlns:a16="http://schemas.microsoft.com/office/drawing/2014/main" val="784634262"/>
                    </a:ext>
                  </a:extLst>
                </a:gridCol>
                <a:gridCol w="2011363">
                  <a:extLst>
                    <a:ext uri="{9D8B030D-6E8A-4147-A177-3AD203B41FA5}">
                      <a16:colId xmlns:a16="http://schemas.microsoft.com/office/drawing/2014/main" val="2205823964"/>
                    </a:ext>
                  </a:extLst>
                </a:gridCol>
                <a:gridCol w="2741612">
                  <a:extLst>
                    <a:ext uri="{9D8B030D-6E8A-4147-A177-3AD203B41FA5}">
                      <a16:colId xmlns:a16="http://schemas.microsoft.com/office/drawing/2014/main" val="888391250"/>
                    </a:ext>
                  </a:extLst>
                </a:gridCol>
              </a:tblGrid>
              <a:tr h="66834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zh-CN" sz="2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透明网桥</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源选径网桥</a:t>
                      </a: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669885124"/>
                  </a:ext>
                </a:extLst>
              </a:tr>
              <a:tr h="51816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服务类型</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无连接</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面向连接</a:t>
                      </a: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25384297"/>
                  </a:ext>
                </a:extLst>
              </a:tr>
              <a:tr h="641358">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对源站的透明性</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完全透明</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不透明</a:t>
                      </a:r>
                      <a:endParaRPr kumimoji="1" lang="zh-CN" altLang="en-US" sz="2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27332403"/>
                  </a:ext>
                </a:extLst>
              </a:tr>
              <a:tr h="103023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配置、管理</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自动配置，容易管理</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人工方法</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en-US" altLang="zh-CN" sz="2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980143993"/>
                  </a:ext>
                </a:extLst>
              </a:tr>
              <a:tr h="51816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选择的路由</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次佳</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最佳</a:t>
                      </a: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553611898"/>
                  </a:ext>
                </a:extLst>
              </a:tr>
              <a:tr h="51816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目的地确定方法</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逆向学习</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探测帧</a:t>
                      </a: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930778940"/>
                  </a:ext>
                </a:extLst>
              </a:tr>
              <a:tr h="51816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故障处理及拓扑变化</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网桥负责</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主机负责</a:t>
                      </a: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959202139"/>
                  </a:ext>
                </a:extLst>
              </a:tr>
              <a:tr h="51816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复杂性和开销</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网桥负担</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主机负担</a:t>
                      </a: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86471866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33ADF46E-E112-40D7-B6C5-16BC903422A1}"/>
              </a:ext>
            </a:extLst>
          </p:cNvPr>
          <p:cNvSpPr>
            <a:spLocks noGrp="1" noChangeArrowheads="1"/>
          </p:cNvSpPr>
          <p:nvPr>
            <p:ph type="title"/>
          </p:nvPr>
        </p:nvSpPr>
        <p:spPr bwMode="auto">
          <a:xfrm>
            <a:off x="2171700" y="180975"/>
            <a:ext cx="7772400" cy="6921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路由器</a:t>
            </a:r>
          </a:p>
        </p:txBody>
      </p:sp>
      <p:sp>
        <p:nvSpPr>
          <p:cNvPr id="29699" name="Text Box 3">
            <a:extLst>
              <a:ext uri="{FF2B5EF4-FFF2-40B4-BE49-F238E27FC236}">
                <a16:creationId xmlns:a16="http://schemas.microsoft.com/office/drawing/2014/main" id="{33F25BE8-810F-4500-B31E-78FC6B1952F1}"/>
              </a:ext>
            </a:extLst>
          </p:cNvPr>
          <p:cNvSpPr txBox="1">
            <a:spLocks noChangeArrowheads="1"/>
          </p:cNvSpPr>
          <p:nvPr/>
        </p:nvSpPr>
        <p:spPr bwMode="auto">
          <a:xfrm>
            <a:off x="3965576" y="1260476"/>
            <a:ext cx="4386263" cy="1040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路由器工作在网络层。</a:t>
            </a:r>
          </a:p>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连接多个不同的子网。</a:t>
            </a:r>
            <a:endParaRPr lang="zh-CN" altLang="en-US" sz="2800">
              <a:solidFill>
                <a:schemeClr val="tx1"/>
              </a:solidFill>
            </a:endParaRPr>
          </a:p>
        </p:txBody>
      </p:sp>
      <p:pic>
        <p:nvPicPr>
          <p:cNvPr id="1904644" name="Picture 4">
            <a:extLst>
              <a:ext uri="{FF2B5EF4-FFF2-40B4-BE49-F238E27FC236}">
                <a16:creationId xmlns:a16="http://schemas.microsoft.com/office/drawing/2014/main" id="{11DA5C2E-0F04-40E0-903C-8EA1378397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4914" y="2282826"/>
            <a:ext cx="6919912" cy="171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04645" name="Picture 5">
            <a:extLst>
              <a:ext uri="{FF2B5EF4-FFF2-40B4-BE49-F238E27FC236}">
                <a16:creationId xmlns:a16="http://schemas.microsoft.com/office/drawing/2014/main" id="{F67A6791-FC18-4973-BC80-E19143664F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8389" y="3932239"/>
            <a:ext cx="7013575" cy="2246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mc:Choice Requires="p14">
          <p:contentPart p14:bwMode="auto" r:id="rId4">
            <p14:nvContentPartPr>
              <p14:cNvPr id="1904646" name="Ink 6">
                <a:extLst>
                  <a:ext uri="{FF2B5EF4-FFF2-40B4-BE49-F238E27FC236}">
                    <a16:creationId xmlns:a16="http://schemas.microsoft.com/office/drawing/2014/main" id="{EBD4CC55-2036-4DFC-ABD7-80C8A0BA00B5}"/>
                  </a:ext>
                </a:extLst>
              </p14:cNvPr>
              <p14:cNvContentPartPr>
                <a14:cpLocks xmlns:a14="http://schemas.microsoft.com/office/drawing/2010/main" noRot="1" noChangeAspect="1" noEditPoints="1" noChangeArrowheads="1" noChangeShapeType="1"/>
              </p14:cNvContentPartPr>
              <p14:nvPr/>
            </p14:nvContentPartPr>
            <p14:xfrm>
              <a:off x="2738439" y="3776664"/>
              <a:ext cx="53975" cy="188912"/>
            </p14:xfrm>
          </p:contentPart>
        </mc:Choice>
        <mc:Fallback xmlns="">
          <p:pic>
            <p:nvPicPr>
              <p:cNvPr id="1904646" name="Ink 6">
                <a:extLst>
                  <a:ext uri="{FF2B5EF4-FFF2-40B4-BE49-F238E27FC236}">
                    <a16:creationId xmlns:a16="http://schemas.microsoft.com/office/drawing/2014/main" id="{EBD4CC55-2036-4DFC-ABD7-80C8A0BA00B5}"/>
                  </a:ext>
                </a:extLst>
              </p:cNvPr>
              <p:cNvPicPr>
                <a:picLocks noRot="1" noChangeAspect="1" noEditPoints="1" noChangeArrowheads="1" noChangeShapeType="1"/>
              </p:cNvPicPr>
              <p:nvPr/>
            </p:nvPicPr>
            <p:blipFill>
              <a:blip r:embed="rId5"/>
              <a:stretch>
                <a:fillRect/>
              </a:stretch>
            </p:blipFill>
            <p:spPr>
              <a:xfrm>
                <a:off x="2720807" y="3759394"/>
                <a:ext cx="88519" cy="222747"/>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904644"/>
                                        </p:tgtEl>
                                        <p:attrNameLst>
                                          <p:attrName>style.visibility</p:attrName>
                                        </p:attrNameLst>
                                      </p:cBhvr>
                                      <p:to>
                                        <p:strVal val="visible"/>
                                      </p:to>
                                    </p:set>
                                    <p:anim calcmode="lin" valueType="num">
                                      <p:cBhvr additive="base">
                                        <p:cTn id="7" dur="500" fill="hold"/>
                                        <p:tgtEl>
                                          <p:spTgt spid="1904644"/>
                                        </p:tgtEl>
                                        <p:attrNameLst>
                                          <p:attrName>ppt_x</p:attrName>
                                        </p:attrNameLst>
                                      </p:cBhvr>
                                      <p:tavLst>
                                        <p:tav tm="0">
                                          <p:val>
                                            <p:strVal val="1+#ppt_w/2"/>
                                          </p:val>
                                        </p:tav>
                                        <p:tav tm="100000">
                                          <p:val>
                                            <p:strVal val="#ppt_x"/>
                                          </p:val>
                                        </p:tav>
                                      </p:tavLst>
                                    </p:anim>
                                    <p:anim calcmode="lin" valueType="num">
                                      <p:cBhvr additive="base">
                                        <p:cTn id="8" dur="500" fill="hold"/>
                                        <p:tgtEl>
                                          <p:spTgt spid="190464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904645"/>
                                        </p:tgtEl>
                                        <p:attrNameLst>
                                          <p:attrName>style.visibility</p:attrName>
                                        </p:attrNameLst>
                                      </p:cBhvr>
                                      <p:to>
                                        <p:strVal val="visible"/>
                                      </p:to>
                                    </p:set>
                                    <p:anim calcmode="lin" valueType="num">
                                      <p:cBhvr additive="base">
                                        <p:cTn id="13" dur="500" fill="hold"/>
                                        <p:tgtEl>
                                          <p:spTgt spid="1904645"/>
                                        </p:tgtEl>
                                        <p:attrNameLst>
                                          <p:attrName>ppt_x</p:attrName>
                                        </p:attrNameLst>
                                      </p:cBhvr>
                                      <p:tavLst>
                                        <p:tav tm="0">
                                          <p:val>
                                            <p:strVal val="1+#ppt_w/2"/>
                                          </p:val>
                                        </p:tav>
                                        <p:tav tm="100000">
                                          <p:val>
                                            <p:strVal val="#ppt_x"/>
                                          </p:val>
                                        </p:tav>
                                      </p:tavLst>
                                    </p:anim>
                                    <p:anim calcmode="lin" valueType="num">
                                      <p:cBhvr additive="base">
                                        <p:cTn id="14" dur="500" fill="hold"/>
                                        <p:tgtEl>
                                          <p:spTgt spid="19046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BBAE30FA-8FDB-47B5-A125-7575F9097BA0}"/>
              </a:ext>
            </a:extLst>
          </p:cNvPr>
          <p:cNvSpPr>
            <a:spLocks noGrp="1" noChangeArrowheads="1"/>
          </p:cNvSpPr>
          <p:nvPr>
            <p:ph type="title"/>
          </p:nvPr>
        </p:nvSpPr>
        <p:spPr bwMode="auto">
          <a:xfrm>
            <a:off x="2228850" y="4762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路由器的作用</a:t>
            </a:r>
          </a:p>
        </p:txBody>
      </p:sp>
      <p:sp>
        <p:nvSpPr>
          <p:cNvPr id="30723" name="Text Box 3">
            <a:extLst>
              <a:ext uri="{FF2B5EF4-FFF2-40B4-BE49-F238E27FC236}">
                <a16:creationId xmlns:a16="http://schemas.microsoft.com/office/drawing/2014/main" id="{CE1D8BAF-3511-43BB-874D-37C2053702EF}"/>
              </a:ext>
            </a:extLst>
          </p:cNvPr>
          <p:cNvSpPr txBox="1">
            <a:spLocks noChangeArrowheads="1"/>
          </p:cNvSpPr>
          <p:nvPr/>
        </p:nvSpPr>
        <p:spPr bwMode="auto">
          <a:xfrm>
            <a:off x="2514601" y="4362452"/>
            <a:ext cx="733425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pPr>
            <a:endParaRPr lang="zh-CN" altLang="zh-CN"/>
          </a:p>
        </p:txBody>
      </p:sp>
      <p:sp>
        <p:nvSpPr>
          <p:cNvPr id="30724" name="Text Box 4">
            <a:extLst>
              <a:ext uri="{FF2B5EF4-FFF2-40B4-BE49-F238E27FC236}">
                <a16:creationId xmlns:a16="http://schemas.microsoft.com/office/drawing/2014/main" id="{EED0C6B0-DEBB-4A89-A255-DCBE6038549B}"/>
              </a:ext>
            </a:extLst>
          </p:cNvPr>
          <p:cNvSpPr txBox="1">
            <a:spLocks noChangeArrowheads="1"/>
          </p:cNvSpPr>
          <p:nvPr/>
        </p:nvSpPr>
        <p:spPr bwMode="auto">
          <a:xfrm>
            <a:off x="2492375" y="1398589"/>
            <a:ext cx="7296150" cy="2763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30000"/>
              </a:spcBef>
              <a:buClr>
                <a:schemeClr val="folHlink"/>
              </a:buClr>
              <a:buFont typeface="Wingdings" panose="05000000000000000000" pitchFamily="2" charset="2"/>
              <a:buChar char="ü"/>
            </a:pPr>
            <a:r>
              <a:rPr lang="zh-CN" altLang="en-US" sz="2800">
                <a:solidFill>
                  <a:schemeClr val="tx1"/>
                </a:solidFill>
              </a:rPr>
              <a:t>将网络划分成独立的网段，阻隔广播</a:t>
            </a:r>
            <a:r>
              <a:rPr lang="zh-CN" altLang="en-US" sz="2800" smtClean="0">
                <a:solidFill>
                  <a:schemeClr val="tx1"/>
                </a:solidFill>
              </a:rPr>
              <a:t>风暴</a:t>
            </a:r>
            <a:endParaRPr lang="zh-CN" altLang="en-US" sz="2800">
              <a:solidFill>
                <a:schemeClr val="tx1"/>
              </a:solidFill>
            </a:endParaRPr>
          </a:p>
          <a:p>
            <a:pPr algn="l">
              <a:spcBef>
                <a:spcPct val="30000"/>
              </a:spcBef>
              <a:buClr>
                <a:schemeClr val="folHlink"/>
              </a:buClr>
              <a:buFont typeface="Wingdings" panose="05000000000000000000" pitchFamily="2" charset="2"/>
              <a:buChar char="ü"/>
            </a:pPr>
            <a:r>
              <a:rPr lang="zh-CN" altLang="en-US" sz="2800" smtClean="0">
                <a:solidFill>
                  <a:schemeClr val="tx1"/>
                </a:solidFill>
              </a:rPr>
              <a:t>路由选择</a:t>
            </a:r>
            <a:endParaRPr lang="zh-CN" altLang="en-US" sz="2800">
              <a:solidFill>
                <a:schemeClr val="tx1"/>
              </a:solidFill>
            </a:endParaRPr>
          </a:p>
          <a:p>
            <a:pPr algn="l">
              <a:spcBef>
                <a:spcPct val="30000"/>
              </a:spcBef>
              <a:buClr>
                <a:schemeClr val="folHlink"/>
              </a:buClr>
              <a:buFont typeface="Wingdings" panose="05000000000000000000" pitchFamily="2" charset="2"/>
              <a:buChar char="ü"/>
            </a:pPr>
            <a:r>
              <a:rPr lang="zh-CN" altLang="en-US" sz="2800">
                <a:solidFill>
                  <a:schemeClr val="tx1"/>
                </a:solidFill>
              </a:rPr>
              <a:t>数据报的差错控制和网络</a:t>
            </a:r>
            <a:r>
              <a:rPr lang="zh-CN" altLang="en-US" sz="2800" smtClean="0">
                <a:solidFill>
                  <a:schemeClr val="tx1"/>
                </a:solidFill>
              </a:rPr>
              <a:t>流量控制</a:t>
            </a:r>
            <a:endParaRPr lang="zh-CN" altLang="en-US" sz="2800">
              <a:solidFill>
                <a:schemeClr val="tx1"/>
              </a:solidFill>
            </a:endParaRPr>
          </a:p>
          <a:p>
            <a:pPr algn="l">
              <a:spcBef>
                <a:spcPct val="30000"/>
              </a:spcBef>
              <a:buClr>
                <a:schemeClr val="folHlink"/>
              </a:buClr>
              <a:buFont typeface="Wingdings" panose="05000000000000000000" pitchFamily="2" charset="2"/>
              <a:buChar char="ü"/>
            </a:pPr>
            <a:r>
              <a:rPr lang="zh-CN" altLang="en-US" sz="2800">
                <a:solidFill>
                  <a:schemeClr val="tx1"/>
                </a:solidFill>
              </a:rPr>
              <a:t>数据包的过滤和记帐</a:t>
            </a:r>
            <a:r>
              <a:rPr lang="zh-CN" altLang="en-US" sz="2800" smtClean="0">
                <a:solidFill>
                  <a:schemeClr val="tx1"/>
                </a:solidFill>
              </a:rPr>
              <a:t>功能</a:t>
            </a:r>
            <a:endParaRPr lang="zh-CN" altLang="en-US" sz="2800">
              <a:solidFill>
                <a:schemeClr val="tx1"/>
              </a:solidFill>
            </a:endParaRPr>
          </a:p>
          <a:p>
            <a:pPr algn="l">
              <a:spcBef>
                <a:spcPct val="30000"/>
              </a:spcBef>
              <a:buClr>
                <a:schemeClr val="folHlink"/>
              </a:buClr>
              <a:buFont typeface="Wingdings" panose="05000000000000000000" pitchFamily="2" charset="2"/>
              <a:buChar char="ü"/>
            </a:pPr>
            <a:r>
              <a:rPr lang="zh-CN" altLang="en-US" sz="2800">
                <a:solidFill>
                  <a:schemeClr val="tx1"/>
                </a:solidFill>
              </a:rPr>
              <a:t>网络安全隔离（防火墙</a:t>
            </a:r>
            <a:r>
              <a:rPr lang="zh-CN" altLang="en-US" sz="2800" smtClean="0">
                <a:solidFill>
                  <a:schemeClr val="tx1"/>
                </a:solidFill>
              </a:rPr>
              <a:t>）</a:t>
            </a:r>
            <a:endParaRPr lang="zh-CN" altLang="en-US" sz="280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89C7FE87-44A9-401A-9718-97E00C44F81F}"/>
              </a:ext>
            </a:extLst>
          </p:cNvPr>
          <p:cNvSpPr>
            <a:spLocks noGrp="1" noChangeArrowheads="1"/>
          </p:cNvSpPr>
          <p:nvPr>
            <p:ph type="title"/>
          </p:nvPr>
        </p:nvSpPr>
        <p:spPr bwMode="auto">
          <a:xfrm>
            <a:off x="2230438" y="4064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共享与交换</a:t>
            </a:r>
          </a:p>
        </p:txBody>
      </p:sp>
      <p:sp>
        <p:nvSpPr>
          <p:cNvPr id="32771" name="Rectangle 3">
            <a:extLst>
              <a:ext uri="{FF2B5EF4-FFF2-40B4-BE49-F238E27FC236}">
                <a16:creationId xmlns:a16="http://schemas.microsoft.com/office/drawing/2014/main" id="{5FF62D83-FBB5-4A4C-AF26-09F7A2232031}"/>
              </a:ext>
            </a:extLst>
          </p:cNvPr>
          <p:cNvSpPr>
            <a:spLocks noChangeArrowheads="1"/>
          </p:cNvSpPr>
          <p:nvPr/>
        </p:nvSpPr>
        <p:spPr bwMode="auto">
          <a:xfrm>
            <a:off x="3048000" y="2238376"/>
            <a:ext cx="91440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32772" name="Group 4">
            <a:extLst>
              <a:ext uri="{FF2B5EF4-FFF2-40B4-BE49-F238E27FC236}">
                <a16:creationId xmlns:a16="http://schemas.microsoft.com/office/drawing/2014/main" id="{802F115D-5B3E-432C-AA58-817B4EFB948A}"/>
              </a:ext>
            </a:extLst>
          </p:cNvPr>
          <p:cNvGrpSpPr>
            <a:grpSpLocks/>
          </p:cNvGrpSpPr>
          <p:nvPr/>
        </p:nvGrpSpPr>
        <p:grpSpPr bwMode="auto">
          <a:xfrm>
            <a:off x="1909763" y="2352676"/>
            <a:ext cx="4105276" cy="2908300"/>
            <a:chOff x="-713" y="1366"/>
            <a:chExt cx="3303" cy="2204"/>
          </a:xfrm>
        </p:grpSpPr>
        <p:sp>
          <p:nvSpPr>
            <p:cNvPr id="32782" name="Line 5">
              <a:extLst>
                <a:ext uri="{FF2B5EF4-FFF2-40B4-BE49-F238E27FC236}">
                  <a16:creationId xmlns:a16="http://schemas.microsoft.com/office/drawing/2014/main" id="{96D9D9CB-2C83-442B-A49D-2FF5F06092D4}"/>
                </a:ext>
              </a:extLst>
            </p:cNvPr>
            <p:cNvSpPr>
              <a:spLocks noChangeShapeType="1"/>
            </p:cNvSpPr>
            <p:nvPr/>
          </p:nvSpPr>
          <p:spPr bwMode="auto">
            <a:xfrm flipV="1">
              <a:off x="2035" y="1852"/>
              <a:ext cx="0" cy="651"/>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sz="2160"/>
            </a:p>
          </p:txBody>
        </p:sp>
        <p:sp>
          <p:nvSpPr>
            <p:cNvPr id="32783" name="Line 6">
              <a:extLst>
                <a:ext uri="{FF2B5EF4-FFF2-40B4-BE49-F238E27FC236}">
                  <a16:creationId xmlns:a16="http://schemas.microsoft.com/office/drawing/2014/main" id="{9DCA40EF-A3B3-45BD-B736-9A6A0F37AFB7}"/>
                </a:ext>
              </a:extLst>
            </p:cNvPr>
            <p:cNvSpPr>
              <a:spLocks noChangeShapeType="1"/>
            </p:cNvSpPr>
            <p:nvPr/>
          </p:nvSpPr>
          <p:spPr bwMode="auto">
            <a:xfrm flipV="1">
              <a:off x="1832" y="2482"/>
              <a:ext cx="0" cy="628"/>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sz="2160"/>
            </a:p>
          </p:txBody>
        </p:sp>
        <p:sp>
          <p:nvSpPr>
            <p:cNvPr id="32784" name="Line 7">
              <a:extLst>
                <a:ext uri="{FF2B5EF4-FFF2-40B4-BE49-F238E27FC236}">
                  <a16:creationId xmlns:a16="http://schemas.microsoft.com/office/drawing/2014/main" id="{346762D7-5281-4B72-9334-51F72FA42ABF}"/>
                </a:ext>
              </a:extLst>
            </p:cNvPr>
            <p:cNvSpPr>
              <a:spLocks noChangeShapeType="1"/>
            </p:cNvSpPr>
            <p:nvPr/>
          </p:nvSpPr>
          <p:spPr bwMode="auto">
            <a:xfrm flipV="1">
              <a:off x="-299" y="1851"/>
              <a:ext cx="0" cy="627"/>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sz="2160"/>
            </a:p>
          </p:txBody>
        </p:sp>
        <p:sp>
          <p:nvSpPr>
            <p:cNvPr id="32785" name="Line 8">
              <a:extLst>
                <a:ext uri="{FF2B5EF4-FFF2-40B4-BE49-F238E27FC236}">
                  <a16:creationId xmlns:a16="http://schemas.microsoft.com/office/drawing/2014/main" id="{DAB1F9B3-893E-4D82-90BA-EED0C4956493}"/>
                </a:ext>
              </a:extLst>
            </p:cNvPr>
            <p:cNvSpPr>
              <a:spLocks noChangeShapeType="1"/>
            </p:cNvSpPr>
            <p:nvPr/>
          </p:nvSpPr>
          <p:spPr bwMode="auto">
            <a:xfrm flipV="1">
              <a:off x="310" y="2482"/>
              <a:ext cx="0" cy="628"/>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sz="2160"/>
            </a:p>
          </p:txBody>
        </p:sp>
        <p:pic>
          <p:nvPicPr>
            <p:cNvPr id="32786" name="Picture 9">
              <a:extLst>
                <a:ext uri="{FF2B5EF4-FFF2-40B4-BE49-F238E27FC236}">
                  <a16:creationId xmlns:a16="http://schemas.microsoft.com/office/drawing/2014/main" id="{10285953-EF1D-4E89-B506-4D6C5D7C2AA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 y="1366"/>
              <a:ext cx="989" cy="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2787" name="Picture 10">
              <a:extLst>
                <a:ext uri="{FF2B5EF4-FFF2-40B4-BE49-F238E27FC236}">
                  <a16:creationId xmlns:a16="http://schemas.microsoft.com/office/drawing/2014/main" id="{D7919546-8CCD-4937-8B4F-DA688926D7CC}"/>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9" y="1366"/>
              <a:ext cx="991" cy="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2788" name="Picture 11">
              <a:extLst>
                <a:ext uri="{FF2B5EF4-FFF2-40B4-BE49-F238E27FC236}">
                  <a16:creationId xmlns:a16="http://schemas.microsoft.com/office/drawing/2014/main" id="{46AEEFF1-21B8-46A2-AD2E-9F2D9EDBFDF4}"/>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1" y="2920"/>
              <a:ext cx="989" cy="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2789" name="Picture 12">
              <a:extLst>
                <a:ext uri="{FF2B5EF4-FFF2-40B4-BE49-F238E27FC236}">
                  <a16:creationId xmlns:a16="http://schemas.microsoft.com/office/drawing/2014/main" id="{87BC4F66-44DA-4624-A9F8-617F8C0FC59F}"/>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0" y="2920"/>
              <a:ext cx="989" cy="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32790" name="Line 13">
              <a:extLst>
                <a:ext uri="{FF2B5EF4-FFF2-40B4-BE49-F238E27FC236}">
                  <a16:creationId xmlns:a16="http://schemas.microsoft.com/office/drawing/2014/main" id="{FD86B58A-BC67-4FD7-9475-4766AEB85313}"/>
                </a:ext>
              </a:extLst>
            </p:cNvPr>
            <p:cNvSpPr>
              <a:spLocks noChangeShapeType="1"/>
            </p:cNvSpPr>
            <p:nvPr/>
          </p:nvSpPr>
          <p:spPr bwMode="auto">
            <a:xfrm>
              <a:off x="-446" y="2463"/>
              <a:ext cx="2583" cy="0"/>
            </a:xfrm>
            <a:prstGeom prst="line">
              <a:avLst/>
            </a:prstGeom>
            <a:noFill/>
            <a:ln w="762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sz="2160"/>
            </a:p>
          </p:txBody>
        </p:sp>
        <p:graphicFrame>
          <p:nvGraphicFramePr>
            <p:cNvPr id="32791" name="Object 14">
              <a:hlinkClick r:id="" action="ppaction://ole?verb=0"/>
              <a:extLst>
                <a:ext uri="{FF2B5EF4-FFF2-40B4-BE49-F238E27FC236}">
                  <a16:creationId xmlns:a16="http://schemas.microsoft.com/office/drawing/2014/main" id="{772F1DB8-A899-4F61-8279-F0BF514F9B1E}"/>
                </a:ext>
              </a:extLst>
            </p:cNvPr>
            <p:cNvGraphicFramePr>
              <a:graphicFrameLocks/>
            </p:cNvGraphicFramePr>
            <p:nvPr/>
          </p:nvGraphicFramePr>
          <p:xfrm>
            <a:off x="-125" y="2183"/>
            <a:ext cx="1843" cy="455"/>
          </p:xfrm>
          <a:graphic>
            <a:graphicData uri="http://schemas.openxmlformats.org/presentationml/2006/ole">
              <mc:AlternateContent xmlns:mc="http://schemas.openxmlformats.org/markup-compatibility/2006">
                <mc:Choice xmlns:v="urn:schemas-microsoft-com:vml" Requires="v">
                  <p:oleObj spid="_x0000_s23726" name="Clip" r:id="rId7" imgW="1381901" imgH="469086" progId="MS_ClipArt_Gallery.2">
                    <p:embed/>
                  </p:oleObj>
                </mc:Choice>
                <mc:Fallback>
                  <p:oleObj name="Clip" r:id="rId7" imgW="1381901" imgH="469086" progId="MS_ClipArt_Gallery.2">
                    <p:embed/>
                    <p:pic>
                      <p:nvPicPr>
                        <p:cNvPr id="32791" name="Object 14">
                          <a:hlinkClick r:id="" action="ppaction://ole?verb=0"/>
                          <a:extLst>
                            <a:ext uri="{FF2B5EF4-FFF2-40B4-BE49-F238E27FC236}">
                              <a16:creationId xmlns:a16="http://schemas.microsoft.com/office/drawing/2014/main" id="{772F1DB8-A899-4F61-8279-F0BF514F9B1E}"/>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 y="2183"/>
                          <a:ext cx="1843" cy="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oleObj>
                </mc:Fallback>
              </mc:AlternateContent>
            </a:graphicData>
          </a:graphic>
        </p:graphicFrame>
      </p:grpSp>
      <p:sp>
        <p:nvSpPr>
          <p:cNvPr id="32773" name="Text Box 15">
            <a:extLst>
              <a:ext uri="{FF2B5EF4-FFF2-40B4-BE49-F238E27FC236}">
                <a16:creationId xmlns:a16="http://schemas.microsoft.com/office/drawing/2014/main" id="{8F6D0636-EFD9-4F66-AF68-AB024EDBC79E}"/>
              </a:ext>
            </a:extLst>
          </p:cNvPr>
          <p:cNvSpPr txBox="1">
            <a:spLocks noChangeArrowheads="1"/>
          </p:cNvSpPr>
          <p:nvPr/>
        </p:nvSpPr>
        <p:spPr bwMode="auto">
          <a:xfrm>
            <a:off x="2560639" y="5689601"/>
            <a:ext cx="296703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2800">
                <a:solidFill>
                  <a:schemeClr val="hlink"/>
                </a:solidFill>
              </a:rPr>
              <a:t>（</a:t>
            </a:r>
            <a:r>
              <a:rPr lang="en-US" altLang="zh-CN" sz="2800">
                <a:solidFill>
                  <a:schemeClr val="hlink"/>
                </a:solidFill>
              </a:rPr>
              <a:t>A</a:t>
            </a:r>
            <a:r>
              <a:rPr lang="zh-CN" altLang="en-US" sz="2800">
                <a:solidFill>
                  <a:schemeClr val="hlink"/>
                </a:solidFill>
              </a:rPr>
              <a:t>） 共享</a:t>
            </a:r>
          </a:p>
        </p:txBody>
      </p:sp>
      <p:grpSp>
        <p:nvGrpSpPr>
          <p:cNvPr id="1915920" name="Group 16">
            <a:extLst>
              <a:ext uri="{FF2B5EF4-FFF2-40B4-BE49-F238E27FC236}">
                <a16:creationId xmlns:a16="http://schemas.microsoft.com/office/drawing/2014/main" id="{4D9403DB-F673-4A44-9EE1-F9B3EF3F9ACF}"/>
              </a:ext>
            </a:extLst>
          </p:cNvPr>
          <p:cNvGrpSpPr>
            <a:grpSpLocks/>
          </p:cNvGrpSpPr>
          <p:nvPr/>
        </p:nvGrpSpPr>
        <p:grpSpPr bwMode="auto">
          <a:xfrm>
            <a:off x="6283325" y="2068514"/>
            <a:ext cx="3968750" cy="3870325"/>
            <a:chOff x="2998" y="1303"/>
            <a:chExt cx="2500" cy="2438"/>
          </a:xfrm>
        </p:grpSpPr>
        <p:pic>
          <p:nvPicPr>
            <p:cNvPr id="32780" name="Picture 17">
              <a:extLst>
                <a:ext uri="{FF2B5EF4-FFF2-40B4-BE49-F238E27FC236}">
                  <a16:creationId xmlns:a16="http://schemas.microsoft.com/office/drawing/2014/main" id="{79278834-3A04-4240-8524-6318A630BA4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98" y="1303"/>
              <a:ext cx="2500" cy="1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781" name="Text Box 18">
              <a:extLst>
                <a:ext uri="{FF2B5EF4-FFF2-40B4-BE49-F238E27FC236}">
                  <a16:creationId xmlns:a16="http://schemas.microsoft.com/office/drawing/2014/main" id="{83CB3105-A7D0-427A-9294-3BC5FDBAFF01}"/>
                </a:ext>
              </a:extLst>
            </p:cNvPr>
            <p:cNvSpPr txBox="1">
              <a:spLocks noChangeArrowheads="1"/>
            </p:cNvSpPr>
            <p:nvPr/>
          </p:nvSpPr>
          <p:spPr bwMode="auto">
            <a:xfrm>
              <a:off x="3245" y="3411"/>
              <a:ext cx="1869"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2800">
                  <a:solidFill>
                    <a:schemeClr val="hlink"/>
                  </a:solidFill>
                </a:rPr>
                <a:t>（</a:t>
              </a:r>
              <a:r>
                <a:rPr lang="en-US" altLang="zh-CN" sz="2800">
                  <a:solidFill>
                    <a:schemeClr val="hlink"/>
                  </a:solidFill>
                </a:rPr>
                <a:t>B</a:t>
              </a:r>
              <a:r>
                <a:rPr lang="zh-CN" altLang="en-US" sz="2800">
                  <a:solidFill>
                    <a:schemeClr val="hlink"/>
                  </a:solidFill>
                </a:rPr>
                <a:t>） 交换</a:t>
              </a:r>
            </a:p>
          </p:txBody>
        </p:sp>
      </p:grpSp>
      <mc:AlternateContent xmlns:mc="http://schemas.openxmlformats.org/markup-compatibility/2006" xmlns:p14="http://schemas.microsoft.com/office/powerpoint/2010/main">
        <mc:Choice Requires="p14">
          <p:contentPart p14:bwMode="auto" r:id="rId10">
            <p14:nvContentPartPr>
              <p14:cNvPr id="1915923" name="Ink 19">
                <a:extLst>
                  <a:ext uri="{FF2B5EF4-FFF2-40B4-BE49-F238E27FC236}">
                    <a16:creationId xmlns:a16="http://schemas.microsoft.com/office/drawing/2014/main" id="{5E06F13C-6669-4121-A7C8-832A9F6D60A8}"/>
                  </a:ext>
                </a:extLst>
              </p14:cNvPr>
              <p14:cNvContentPartPr>
                <a14:cpLocks xmlns:a14="http://schemas.microsoft.com/office/drawing/2010/main" noRot="1" noChangeAspect="1" noEditPoints="1" noChangeArrowheads="1" noChangeShapeType="1"/>
              </p14:cNvContentPartPr>
              <p14:nvPr/>
            </p14:nvContentPartPr>
            <p14:xfrm>
              <a:off x="2354264" y="2527301"/>
              <a:ext cx="179387" cy="1330325"/>
            </p14:xfrm>
          </p:contentPart>
        </mc:Choice>
        <mc:Fallback xmlns="">
          <p:pic>
            <p:nvPicPr>
              <p:cNvPr id="1915923" name="Ink 19">
                <a:extLst>
                  <a:ext uri="{FF2B5EF4-FFF2-40B4-BE49-F238E27FC236}">
                    <a16:creationId xmlns:a16="http://schemas.microsoft.com/office/drawing/2014/main" id="{5E06F13C-6669-4121-A7C8-832A9F6D60A8}"/>
                  </a:ext>
                </a:extLst>
              </p:cNvPr>
              <p:cNvPicPr>
                <a:picLocks noRot="1" noChangeAspect="1" noEditPoints="1" noChangeArrowheads="1" noChangeShapeType="1"/>
              </p:cNvPicPr>
              <p:nvPr/>
            </p:nvPicPr>
            <p:blipFill>
              <a:blip r:embed="rId11"/>
              <a:stretch>
                <a:fillRect/>
              </a:stretch>
            </p:blipFill>
            <p:spPr>
              <a:xfrm>
                <a:off x="2336961" y="2509707"/>
                <a:ext cx="213287" cy="1364795"/>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915926" name="Ink 22">
                <a:extLst>
                  <a:ext uri="{FF2B5EF4-FFF2-40B4-BE49-F238E27FC236}">
                    <a16:creationId xmlns:a16="http://schemas.microsoft.com/office/drawing/2014/main" id="{1FD9D8BC-B000-4564-AC35-1EE77E889A4C}"/>
                  </a:ext>
                </a:extLst>
              </p14:cNvPr>
              <p14:cNvContentPartPr>
                <a14:cpLocks xmlns:a14="http://schemas.microsoft.com/office/drawing/2010/main" noRot="1" noChangeAspect="1" noEditPoints="1" noChangeArrowheads="1" noChangeShapeType="1"/>
              </p14:cNvContentPartPr>
              <p14:nvPr/>
            </p14:nvContentPartPr>
            <p14:xfrm>
              <a:off x="5238750" y="2554288"/>
              <a:ext cx="169864" cy="133350"/>
            </p14:xfrm>
          </p:contentPart>
        </mc:Choice>
        <mc:Fallback xmlns="">
          <p:pic>
            <p:nvPicPr>
              <p:cNvPr id="1915926" name="Ink 22">
                <a:extLst>
                  <a:ext uri="{FF2B5EF4-FFF2-40B4-BE49-F238E27FC236}">
                    <a16:creationId xmlns:a16="http://schemas.microsoft.com/office/drawing/2014/main" id="{1FD9D8BC-B000-4564-AC35-1EE77E889A4C}"/>
                  </a:ext>
                </a:extLst>
              </p:cNvPr>
              <p:cNvPicPr>
                <a:picLocks noRot="1" noChangeAspect="1" noEditPoints="1" noChangeArrowheads="1" noChangeShapeType="1"/>
              </p:cNvPicPr>
              <p:nvPr/>
            </p:nvPicPr>
            <p:blipFill>
              <a:blip r:embed="rId15"/>
              <a:stretch>
                <a:fillRect/>
              </a:stretch>
            </p:blipFill>
            <p:spPr>
              <a:xfrm>
                <a:off x="5221153" y="2536864"/>
                <a:ext cx="204340" cy="167488"/>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915920"/>
                                        </p:tgtEl>
                                        <p:attrNameLst>
                                          <p:attrName>style.visibility</p:attrName>
                                        </p:attrNameLst>
                                      </p:cBhvr>
                                      <p:to>
                                        <p:strVal val="visible"/>
                                      </p:to>
                                    </p:set>
                                    <p:anim calcmode="lin" valueType="num">
                                      <p:cBhvr additive="base">
                                        <p:cTn id="7" dur="500" fill="hold"/>
                                        <p:tgtEl>
                                          <p:spTgt spid="1915920"/>
                                        </p:tgtEl>
                                        <p:attrNameLst>
                                          <p:attrName>ppt_x</p:attrName>
                                        </p:attrNameLst>
                                      </p:cBhvr>
                                      <p:tavLst>
                                        <p:tav tm="0">
                                          <p:val>
                                            <p:strVal val="1+#ppt_w/2"/>
                                          </p:val>
                                        </p:tav>
                                        <p:tav tm="100000">
                                          <p:val>
                                            <p:strVal val="#ppt_x"/>
                                          </p:val>
                                        </p:tav>
                                      </p:tavLst>
                                    </p:anim>
                                    <p:anim calcmode="lin" valueType="num">
                                      <p:cBhvr additive="base">
                                        <p:cTn id="8" dur="500" fill="hold"/>
                                        <p:tgtEl>
                                          <p:spTgt spid="19159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3CF089AA-C90C-4A9A-80AE-587AAD183E81}"/>
              </a:ext>
            </a:extLst>
          </p:cNvPr>
          <p:cNvSpPr>
            <a:spLocks noGrp="1" noChangeArrowheads="1"/>
          </p:cNvSpPr>
          <p:nvPr>
            <p:ph type="title"/>
          </p:nvPr>
        </p:nvSpPr>
        <p:spPr bwMode="auto">
          <a:xfrm>
            <a:off x="2209800" y="4381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交换机的特点</a:t>
            </a:r>
          </a:p>
        </p:txBody>
      </p:sp>
      <p:sp>
        <p:nvSpPr>
          <p:cNvPr id="1917955" name="Text Box 3">
            <a:extLst>
              <a:ext uri="{FF2B5EF4-FFF2-40B4-BE49-F238E27FC236}">
                <a16:creationId xmlns:a16="http://schemas.microsoft.com/office/drawing/2014/main" id="{75DF500D-D143-41F5-B964-F7A6BD9ADBBB}"/>
              </a:ext>
            </a:extLst>
          </p:cNvPr>
          <p:cNvSpPr txBox="1">
            <a:spLocks noChangeArrowheads="1"/>
          </p:cNvSpPr>
          <p:nvPr/>
        </p:nvSpPr>
        <p:spPr bwMode="auto">
          <a:xfrm>
            <a:off x="2981325" y="1762125"/>
            <a:ext cx="7277100"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buClr>
                <a:schemeClr val="tx2"/>
              </a:buClr>
              <a:buFont typeface="Wingdings" panose="05000000000000000000" pitchFamily="2" charset="2"/>
              <a:buChar char="Ø"/>
            </a:pPr>
            <a:r>
              <a:rPr lang="zh-CN" altLang="en-US" sz="2800">
                <a:solidFill>
                  <a:schemeClr val="tx1"/>
                </a:solidFill>
              </a:rPr>
              <a:t>高带宽的传输</a:t>
            </a:r>
            <a:r>
              <a:rPr lang="zh-CN" altLang="en-US" sz="2800" smtClean="0">
                <a:solidFill>
                  <a:schemeClr val="tx1"/>
                </a:solidFill>
              </a:rPr>
              <a:t>通路</a:t>
            </a:r>
            <a:r>
              <a:rPr lang="zh-CN" altLang="en-US" sz="2800">
                <a:solidFill>
                  <a:schemeClr val="tx1"/>
                </a:solidFill>
              </a:rPr>
              <a:t>：</a:t>
            </a:r>
            <a:r>
              <a:rPr lang="zh-CN" altLang="en-US" sz="2800" smtClean="0">
                <a:solidFill>
                  <a:schemeClr val="tx1"/>
                </a:solidFill>
              </a:rPr>
              <a:t>各</a:t>
            </a:r>
            <a:r>
              <a:rPr lang="zh-CN" altLang="en-US" sz="2800">
                <a:solidFill>
                  <a:schemeClr val="tx1"/>
                </a:solidFill>
              </a:rPr>
              <a:t>端口独享</a:t>
            </a:r>
            <a:r>
              <a:rPr lang="zh-CN" altLang="en-US" sz="2800" smtClean="0">
                <a:solidFill>
                  <a:schemeClr val="tx1"/>
                </a:solidFill>
              </a:rPr>
              <a:t>带宽</a:t>
            </a:r>
            <a:endParaRPr lang="zh-CN" altLang="en-US" sz="2800">
              <a:solidFill>
                <a:schemeClr val="tx1"/>
              </a:solidFill>
            </a:endParaRPr>
          </a:p>
          <a:p>
            <a:pPr algn="l">
              <a:spcBef>
                <a:spcPct val="50000"/>
              </a:spcBef>
              <a:buClr>
                <a:schemeClr val="tx2"/>
              </a:buClr>
              <a:buFont typeface="Wingdings" panose="05000000000000000000" pitchFamily="2" charset="2"/>
              <a:buChar char="Ø"/>
            </a:pPr>
            <a:r>
              <a:rPr lang="zh-CN" altLang="en-US" sz="2800">
                <a:solidFill>
                  <a:schemeClr val="tx1"/>
                </a:solidFill>
              </a:rPr>
              <a:t>大吞吐量的传输</a:t>
            </a:r>
          </a:p>
          <a:p>
            <a:pPr algn="l">
              <a:spcBef>
                <a:spcPct val="50000"/>
              </a:spcBef>
              <a:buClr>
                <a:schemeClr val="tx2"/>
              </a:buClr>
              <a:buFont typeface="Wingdings" panose="05000000000000000000" pitchFamily="2" charset="2"/>
              <a:buChar char="Ø"/>
            </a:pPr>
            <a:r>
              <a:rPr lang="zh-CN" altLang="en-US" sz="2800">
                <a:solidFill>
                  <a:schemeClr val="tx1"/>
                </a:solidFill>
              </a:rPr>
              <a:t>低延时</a:t>
            </a:r>
          </a:p>
          <a:p>
            <a:pPr algn="l">
              <a:spcBef>
                <a:spcPct val="50000"/>
              </a:spcBef>
              <a:buClr>
                <a:schemeClr val="tx2"/>
              </a:buClr>
              <a:buFont typeface="Wingdings" panose="05000000000000000000" pitchFamily="2" charset="2"/>
              <a:buChar char="Ø"/>
            </a:pPr>
            <a:r>
              <a:rPr lang="zh-CN" altLang="en-US" sz="2800">
                <a:solidFill>
                  <a:schemeClr val="tx1"/>
                </a:solidFill>
              </a:rPr>
              <a:t>低廉的端口</a:t>
            </a:r>
            <a:r>
              <a:rPr lang="zh-CN" altLang="en-US" sz="2800" smtClean="0">
                <a:solidFill>
                  <a:schemeClr val="tx1"/>
                </a:solidFill>
              </a:rPr>
              <a:t>价格</a:t>
            </a:r>
            <a:endParaRPr lang="zh-CN" altLang="en-US" sz="280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17955">
                                            <p:txEl>
                                              <p:pRg st="0" end="0"/>
                                            </p:txEl>
                                          </p:spTgt>
                                        </p:tgtEl>
                                        <p:attrNameLst>
                                          <p:attrName>style.visibility</p:attrName>
                                        </p:attrNameLst>
                                      </p:cBhvr>
                                      <p:to>
                                        <p:strVal val="visible"/>
                                      </p:to>
                                    </p:set>
                                    <p:anim calcmode="lin" valueType="num">
                                      <p:cBhvr additive="base">
                                        <p:cTn id="7" dur="500" fill="hold"/>
                                        <p:tgtEl>
                                          <p:spTgt spid="19179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179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17955">
                                            <p:txEl>
                                              <p:pRg st="1" end="1"/>
                                            </p:txEl>
                                          </p:spTgt>
                                        </p:tgtEl>
                                        <p:attrNameLst>
                                          <p:attrName>style.visibility</p:attrName>
                                        </p:attrNameLst>
                                      </p:cBhvr>
                                      <p:to>
                                        <p:strVal val="visible"/>
                                      </p:to>
                                    </p:set>
                                    <p:anim calcmode="lin" valueType="num">
                                      <p:cBhvr additive="base">
                                        <p:cTn id="13" dur="500" fill="hold"/>
                                        <p:tgtEl>
                                          <p:spTgt spid="191795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179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17955">
                                            <p:txEl>
                                              <p:pRg st="2" end="2"/>
                                            </p:txEl>
                                          </p:spTgt>
                                        </p:tgtEl>
                                        <p:attrNameLst>
                                          <p:attrName>style.visibility</p:attrName>
                                        </p:attrNameLst>
                                      </p:cBhvr>
                                      <p:to>
                                        <p:strVal val="visible"/>
                                      </p:to>
                                    </p:set>
                                    <p:anim calcmode="lin" valueType="num">
                                      <p:cBhvr additive="base">
                                        <p:cTn id="19" dur="500" fill="hold"/>
                                        <p:tgtEl>
                                          <p:spTgt spid="191795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179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917955">
                                            <p:txEl>
                                              <p:pRg st="3" end="3"/>
                                            </p:txEl>
                                          </p:spTgt>
                                        </p:tgtEl>
                                        <p:attrNameLst>
                                          <p:attrName>style.visibility</p:attrName>
                                        </p:attrNameLst>
                                      </p:cBhvr>
                                      <p:to>
                                        <p:strVal val="visible"/>
                                      </p:to>
                                    </p:set>
                                    <p:anim calcmode="lin" valueType="num">
                                      <p:cBhvr additive="base">
                                        <p:cTn id="25" dur="500" fill="hold"/>
                                        <p:tgtEl>
                                          <p:spTgt spid="191795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91795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7955" grpId="0" build="p" autoUpdateAnimBg="0"/>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34C5B824-F2BF-4484-B45C-E228A2AC4DF2}"/>
              </a:ext>
            </a:extLst>
          </p:cNvPr>
          <p:cNvSpPr>
            <a:spLocks noGrp="1" noChangeArrowheads="1"/>
          </p:cNvSpPr>
          <p:nvPr>
            <p:ph type="title"/>
          </p:nvPr>
        </p:nvSpPr>
        <p:spPr bwMode="auto">
          <a:xfrm>
            <a:off x="2209800" y="4381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交换机</a:t>
            </a:r>
            <a:r>
              <a:rPr lang="zh-CN" altLang="en-US" sz="2800">
                <a:solidFill>
                  <a:srgbClr val="0000FF"/>
                </a:solidFill>
                <a:latin typeface="Times New Roman" panose="02020603050405020304" pitchFamily="18" charset="0"/>
              </a:rPr>
              <a:t> </a:t>
            </a:r>
          </a:p>
        </p:txBody>
      </p:sp>
      <p:pic>
        <p:nvPicPr>
          <p:cNvPr id="34819" name="Picture 3">
            <a:extLst>
              <a:ext uri="{FF2B5EF4-FFF2-40B4-BE49-F238E27FC236}">
                <a16:creationId xmlns:a16="http://schemas.microsoft.com/office/drawing/2014/main" id="{E257E355-1436-4251-B33B-3C530C920C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4851" y="1377950"/>
            <a:ext cx="8094664" cy="5164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015875B9-A2E1-4E8F-883A-2BD5EE7E7B57}"/>
              </a:ext>
            </a:extLst>
          </p:cNvPr>
          <p:cNvSpPr>
            <a:spLocks noGrp="1" noChangeArrowheads="1"/>
          </p:cNvSpPr>
          <p:nvPr>
            <p:ph type="title"/>
          </p:nvPr>
        </p:nvSpPr>
        <p:spPr bwMode="auto">
          <a:xfrm>
            <a:off x="2209800" y="4191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两种交换技术</a:t>
            </a:r>
          </a:p>
        </p:txBody>
      </p:sp>
      <p:sp>
        <p:nvSpPr>
          <p:cNvPr id="35843" name="Text Box 3">
            <a:extLst>
              <a:ext uri="{FF2B5EF4-FFF2-40B4-BE49-F238E27FC236}">
                <a16:creationId xmlns:a16="http://schemas.microsoft.com/office/drawing/2014/main" id="{B9911AC8-58C0-46AA-A6B0-0B75AD134D2C}"/>
              </a:ext>
            </a:extLst>
          </p:cNvPr>
          <p:cNvSpPr txBox="1">
            <a:spLocks noChangeArrowheads="1"/>
          </p:cNvSpPr>
          <p:nvPr/>
        </p:nvSpPr>
        <p:spPr bwMode="auto">
          <a:xfrm>
            <a:off x="1943101" y="1411287"/>
            <a:ext cx="8401050" cy="4542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ctr">
              <a:defRPr sz="1200">
                <a:solidFill>
                  <a:srgbClr val="CACACA"/>
                </a:solidFill>
                <a:latin typeface="Times New Roman" panose="02020603050405020304" pitchFamily="18" charset="0"/>
                <a:ea typeface="宋体" panose="02010600030101010101" pitchFamily="2" charset="-122"/>
              </a:defRPr>
            </a:lvl1pPr>
            <a:lvl2pPr marL="914400" indent="-457200" algn="ctr">
              <a:defRPr sz="1200">
                <a:solidFill>
                  <a:srgbClr val="CACACA"/>
                </a:solidFill>
                <a:latin typeface="Times New Roman" panose="02020603050405020304" pitchFamily="18" charset="0"/>
                <a:ea typeface="宋体" panose="02010600030101010101" pitchFamily="2" charset="-122"/>
              </a:defRPr>
            </a:lvl2pPr>
            <a:lvl3pPr marL="1371600" indent="-457200" algn="ctr">
              <a:defRPr sz="1200">
                <a:solidFill>
                  <a:srgbClr val="CACACA"/>
                </a:solidFill>
                <a:latin typeface="Times New Roman" panose="02020603050405020304" pitchFamily="18" charset="0"/>
                <a:ea typeface="宋体" panose="02010600030101010101" pitchFamily="2" charset="-122"/>
              </a:defRPr>
            </a:lvl3pPr>
            <a:lvl4pPr marL="1828800" indent="-457200" algn="ctr">
              <a:defRPr sz="1200">
                <a:solidFill>
                  <a:srgbClr val="CACACA"/>
                </a:solidFill>
                <a:latin typeface="Times New Roman" panose="02020603050405020304" pitchFamily="18" charset="0"/>
                <a:ea typeface="宋体" panose="02010600030101010101" pitchFamily="2" charset="-122"/>
              </a:defRPr>
            </a:lvl4pPr>
            <a:lvl5pPr marL="2286000" indent="-457200" algn="ctr">
              <a:defRPr sz="1200">
                <a:solidFill>
                  <a:srgbClr val="CACACA"/>
                </a:solidFill>
                <a:latin typeface="Times New Roman" panose="02020603050405020304" pitchFamily="18" charset="0"/>
                <a:ea typeface="宋体" panose="02010600030101010101" pitchFamily="2" charset="-122"/>
              </a:defRPr>
            </a:lvl5pPr>
            <a:lvl6pPr marL="2743200"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3200400"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657600"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4114800"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10000"/>
              </a:spcBef>
            </a:pPr>
            <a:r>
              <a:rPr lang="en-US" altLang="zh-CN" sz="2400">
                <a:solidFill>
                  <a:schemeClr val="hlink"/>
                </a:solidFill>
              </a:rPr>
              <a:t>1.</a:t>
            </a:r>
            <a:r>
              <a:rPr lang="zh-CN" altLang="en-US" sz="2400">
                <a:solidFill>
                  <a:schemeClr val="hlink"/>
                </a:solidFill>
              </a:rPr>
              <a:t>端口交换</a:t>
            </a:r>
          </a:p>
          <a:p>
            <a:pPr algn="l">
              <a:spcBef>
                <a:spcPct val="10000"/>
              </a:spcBef>
            </a:pPr>
            <a:r>
              <a:rPr lang="zh-CN" altLang="en-US" sz="2800"/>
              <a:t>     </a:t>
            </a:r>
            <a:r>
              <a:rPr lang="zh-CN" altLang="en-US" sz="2000" smtClean="0">
                <a:solidFill>
                  <a:schemeClr val="tx1"/>
                </a:solidFill>
              </a:rPr>
              <a:t>端口</a:t>
            </a:r>
            <a:r>
              <a:rPr lang="zh-CN" altLang="en-US" sz="2000">
                <a:solidFill>
                  <a:schemeClr val="tx1"/>
                </a:solidFill>
              </a:rPr>
              <a:t>交换技术最早出现在插槽式的集线器中，这类集线器的背板通常划分有多条以太网段，不用网桥或路由器连接，网络之间是互不相通的。以太主模块插入后通常被分配到某个背板的网段上，端口交换用于将以太模块的端口在背板多个网段之间进行分配、平衡</a:t>
            </a:r>
          </a:p>
          <a:p>
            <a:pPr algn="l">
              <a:spcBef>
                <a:spcPct val="10000"/>
              </a:spcBef>
            </a:pPr>
            <a:r>
              <a:rPr lang="en-US" altLang="zh-CN" sz="2400">
                <a:solidFill>
                  <a:schemeClr val="hlink"/>
                </a:solidFill>
              </a:rPr>
              <a:t>2.</a:t>
            </a:r>
            <a:r>
              <a:rPr lang="zh-CN" altLang="en-US" sz="2400">
                <a:solidFill>
                  <a:schemeClr val="hlink"/>
                </a:solidFill>
              </a:rPr>
              <a:t>帧交换</a:t>
            </a:r>
          </a:p>
          <a:p>
            <a:pPr algn="l">
              <a:spcBef>
                <a:spcPct val="10000"/>
              </a:spcBef>
            </a:pPr>
            <a:r>
              <a:rPr lang="zh-CN" altLang="en-US" sz="2000">
                <a:solidFill>
                  <a:schemeClr val="tx1"/>
                </a:solidFill>
              </a:rPr>
              <a:t>     </a:t>
            </a:r>
            <a:r>
              <a:rPr lang="zh-CN" altLang="en-US" sz="2000" smtClean="0">
                <a:solidFill>
                  <a:schemeClr val="tx1"/>
                </a:solidFill>
              </a:rPr>
              <a:t> 帧</a:t>
            </a:r>
            <a:r>
              <a:rPr lang="zh-CN" altLang="en-US" sz="2000">
                <a:solidFill>
                  <a:schemeClr val="tx1"/>
                </a:solidFill>
              </a:rPr>
              <a:t>交换是目前最为广泛的局域网技术技术：</a:t>
            </a:r>
          </a:p>
          <a:p>
            <a:pPr algn="l">
              <a:spcBef>
                <a:spcPct val="10000"/>
              </a:spcBef>
            </a:pPr>
            <a:r>
              <a:rPr lang="zh-CN" altLang="en-US" sz="2000">
                <a:solidFill>
                  <a:schemeClr val="tx1"/>
                </a:solidFill>
              </a:rPr>
              <a:t>     </a:t>
            </a:r>
            <a:r>
              <a:rPr lang="zh-CN" altLang="en-US" sz="2000">
                <a:solidFill>
                  <a:schemeClr val="tx2"/>
                </a:solidFill>
              </a:rPr>
              <a:t>直通交换</a:t>
            </a:r>
            <a:r>
              <a:rPr lang="zh-CN" altLang="en-US" sz="2000">
                <a:solidFill>
                  <a:schemeClr val="tx1"/>
                </a:solidFill>
              </a:rPr>
              <a:t>（</a:t>
            </a:r>
            <a:r>
              <a:rPr lang="en-US" altLang="zh-CN" sz="2000">
                <a:solidFill>
                  <a:schemeClr val="tx2"/>
                </a:solidFill>
              </a:rPr>
              <a:t>cut through</a:t>
            </a:r>
            <a:r>
              <a:rPr lang="en-US" altLang="zh-CN" sz="2000">
                <a:solidFill>
                  <a:schemeClr val="tx1"/>
                </a:solidFill>
              </a:rPr>
              <a:t>)</a:t>
            </a:r>
            <a:r>
              <a:rPr lang="zh-CN" altLang="en-US" sz="2000">
                <a:solidFill>
                  <a:schemeClr val="tx1"/>
                </a:solidFill>
              </a:rPr>
              <a:t>：交换机只读出网络帧的前</a:t>
            </a:r>
            <a:r>
              <a:rPr lang="en-US" altLang="zh-CN" sz="2000">
                <a:solidFill>
                  <a:schemeClr val="tx1"/>
                </a:solidFill>
              </a:rPr>
              <a:t>14</a:t>
            </a:r>
            <a:r>
              <a:rPr lang="zh-CN" altLang="en-US" sz="2000">
                <a:solidFill>
                  <a:schemeClr val="tx1"/>
                </a:solidFill>
              </a:rPr>
              <a:t>个字节（帧头），便将网络帧转送到相应的端口上。（</a:t>
            </a:r>
            <a:r>
              <a:rPr lang="zh-CN" altLang="en-US" sz="2000">
                <a:solidFill>
                  <a:schemeClr val="tx2"/>
                </a:solidFill>
              </a:rPr>
              <a:t>提供线速处理能力， 碎帧多</a:t>
            </a:r>
            <a:r>
              <a:rPr lang="zh-CN" altLang="en-US" sz="2000">
                <a:solidFill>
                  <a:schemeClr val="tx1"/>
                </a:solidFill>
              </a:rPr>
              <a:t>）</a:t>
            </a:r>
          </a:p>
          <a:p>
            <a:pPr algn="l">
              <a:spcBef>
                <a:spcPct val="10000"/>
              </a:spcBef>
            </a:pPr>
            <a:r>
              <a:rPr lang="zh-CN" altLang="en-US" sz="2000">
                <a:solidFill>
                  <a:schemeClr val="tx1"/>
                </a:solidFill>
              </a:rPr>
              <a:t>     </a:t>
            </a:r>
            <a:r>
              <a:rPr lang="zh-CN" altLang="en-US" sz="2000">
                <a:solidFill>
                  <a:schemeClr val="tx2"/>
                </a:solidFill>
              </a:rPr>
              <a:t>存贮转发</a:t>
            </a:r>
            <a:r>
              <a:rPr lang="zh-CN" altLang="en-US" sz="2000">
                <a:solidFill>
                  <a:schemeClr val="tx1"/>
                </a:solidFill>
              </a:rPr>
              <a:t>：接收完整帧，检错和控制，最后转发；（</a:t>
            </a:r>
            <a:r>
              <a:rPr lang="zh-CN" altLang="en-US" sz="2000">
                <a:solidFill>
                  <a:schemeClr val="tx2"/>
                </a:solidFill>
              </a:rPr>
              <a:t>延时大，碎帧少</a:t>
            </a:r>
            <a:r>
              <a:rPr lang="zh-CN" altLang="en-US" sz="2000">
                <a:solidFill>
                  <a:schemeClr val="tx1"/>
                </a:solidFill>
              </a:rPr>
              <a:t>）</a:t>
            </a:r>
          </a:p>
          <a:p>
            <a:pPr algn="l">
              <a:spcBef>
                <a:spcPct val="10000"/>
              </a:spcBef>
            </a:pPr>
            <a:r>
              <a:rPr lang="zh-CN" altLang="en-US" sz="2000">
                <a:solidFill>
                  <a:schemeClr val="tx1"/>
                </a:solidFill>
              </a:rPr>
              <a:t>      </a:t>
            </a:r>
            <a:r>
              <a:rPr lang="zh-CN" altLang="en-US" sz="2000">
                <a:solidFill>
                  <a:schemeClr val="tx2"/>
                </a:solidFill>
              </a:rPr>
              <a:t>碎片隔离</a:t>
            </a:r>
            <a:r>
              <a:rPr lang="zh-CN" altLang="en-US" sz="2000">
                <a:solidFill>
                  <a:schemeClr val="tx1"/>
                </a:solidFill>
              </a:rPr>
              <a:t>（</a:t>
            </a:r>
            <a:r>
              <a:rPr lang="en-US" altLang="zh-CN" sz="2000">
                <a:solidFill>
                  <a:schemeClr val="tx2"/>
                </a:solidFill>
              </a:rPr>
              <a:t>Fragment Free</a:t>
            </a:r>
            <a:r>
              <a:rPr lang="zh-CN" altLang="en-US" sz="2000">
                <a:solidFill>
                  <a:schemeClr val="tx1"/>
                </a:solidFill>
              </a:rPr>
              <a:t>）：它检查数据包的长度是否够</a:t>
            </a:r>
            <a:r>
              <a:rPr lang="en-US" altLang="zh-CN" sz="2000">
                <a:solidFill>
                  <a:schemeClr val="tx1"/>
                </a:solidFill>
              </a:rPr>
              <a:t>64</a:t>
            </a:r>
            <a:r>
              <a:rPr lang="zh-CN" altLang="en-US" sz="2000">
                <a:solidFill>
                  <a:schemeClr val="tx1"/>
                </a:solidFill>
              </a:rPr>
              <a:t>个字节，如果小于</a:t>
            </a:r>
            <a:r>
              <a:rPr lang="en-US" altLang="zh-CN" sz="2000">
                <a:solidFill>
                  <a:schemeClr val="tx1"/>
                </a:solidFill>
              </a:rPr>
              <a:t>64</a:t>
            </a:r>
            <a:r>
              <a:rPr lang="zh-CN" altLang="en-US" sz="2000">
                <a:solidFill>
                  <a:schemeClr val="tx1"/>
                </a:solidFill>
              </a:rPr>
              <a:t>字节，说明是假包，则丢弃该包；如果大于</a:t>
            </a:r>
            <a:r>
              <a:rPr lang="en-US" altLang="zh-CN" sz="2000">
                <a:solidFill>
                  <a:schemeClr val="tx1"/>
                </a:solidFill>
              </a:rPr>
              <a:t>64</a:t>
            </a:r>
            <a:r>
              <a:rPr lang="zh-CN" altLang="en-US" sz="2000">
                <a:solidFill>
                  <a:schemeClr val="tx1"/>
                </a:solidFill>
              </a:rPr>
              <a:t>字节，则发送该包；（</a:t>
            </a:r>
            <a:r>
              <a:rPr lang="zh-CN" altLang="en-US" sz="2000">
                <a:solidFill>
                  <a:schemeClr val="tx2"/>
                </a:solidFill>
              </a:rPr>
              <a:t>这是介于前两者之间的一种解决方案</a:t>
            </a:r>
            <a:r>
              <a:rPr lang="zh-CN" altLang="en-US" sz="2000">
                <a:solidFill>
                  <a:schemeClr val="tx1"/>
                </a:solidFill>
              </a:rPr>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763B0CE-B548-42D6-88C2-7A132D85C0CB}"/>
              </a:ext>
            </a:extLst>
          </p:cNvPr>
          <p:cNvSpPr>
            <a:spLocks noGrp="1" noChangeArrowheads="1"/>
          </p:cNvSpPr>
          <p:nvPr>
            <p:ph type="title"/>
          </p:nvPr>
        </p:nvSpPr>
        <p:spPr bwMode="auto">
          <a:xfrm>
            <a:off x="2230438" y="427038"/>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新宋体" panose="02010609030101010101" pitchFamily="49" charset="-122"/>
              </a:rPr>
              <a:t>LAN SWITCH</a:t>
            </a:r>
          </a:p>
        </p:txBody>
      </p:sp>
      <p:sp>
        <p:nvSpPr>
          <p:cNvPr id="36867" name="Rectangle 3">
            <a:extLst>
              <a:ext uri="{FF2B5EF4-FFF2-40B4-BE49-F238E27FC236}">
                <a16:creationId xmlns:a16="http://schemas.microsoft.com/office/drawing/2014/main" id="{F0F93C94-981B-4740-9FDA-AC1B01FB1875}"/>
              </a:ext>
            </a:extLst>
          </p:cNvPr>
          <p:cNvSpPr>
            <a:spLocks noChangeArrowheads="1"/>
          </p:cNvSpPr>
          <p:nvPr/>
        </p:nvSpPr>
        <p:spPr bwMode="auto">
          <a:xfrm>
            <a:off x="2895600" y="2238376"/>
            <a:ext cx="91440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pic>
        <p:nvPicPr>
          <p:cNvPr id="36868" name="Picture 4" descr="未命名">
            <a:extLst>
              <a:ext uri="{FF2B5EF4-FFF2-40B4-BE49-F238E27FC236}">
                <a16:creationId xmlns:a16="http://schemas.microsoft.com/office/drawing/2014/main" id="{7348B312-07EC-47F8-994C-969BFC3772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7039" y="1247776"/>
            <a:ext cx="6418262"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9" name="Text Box 5">
            <a:extLst>
              <a:ext uri="{FF2B5EF4-FFF2-40B4-BE49-F238E27FC236}">
                <a16:creationId xmlns:a16="http://schemas.microsoft.com/office/drawing/2014/main" id="{9976BE3B-47C0-42AA-903A-882AC0EB1B39}"/>
              </a:ext>
            </a:extLst>
          </p:cNvPr>
          <p:cNvSpPr txBox="1">
            <a:spLocks noChangeArrowheads="1"/>
          </p:cNvSpPr>
          <p:nvPr/>
        </p:nvSpPr>
        <p:spPr bwMode="auto">
          <a:xfrm>
            <a:off x="2359025" y="3775075"/>
            <a:ext cx="7823200" cy="2788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10000"/>
              </a:spcBef>
              <a:buClr>
                <a:schemeClr val="hlink"/>
              </a:buClr>
              <a:buFont typeface="Wingdings" panose="05000000000000000000" pitchFamily="2" charset="2"/>
              <a:buChar char="ü"/>
            </a:pPr>
            <a:r>
              <a:rPr lang="zh-CN" altLang="en-US" sz="2400">
                <a:solidFill>
                  <a:schemeClr val="tx1"/>
                </a:solidFill>
              </a:rPr>
              <a:t>工作在数据链路层，按</a:t>
            </a:r>
            <a:r>
              <a:rPr lang="en-US" altLang="zh-CN" sz="2400">
                <a:solidFill>
                  <a:schemeClr val="tx1"/>
                </a:solidFill>
              </a:rPr>
              <a:t>MAC</a:t>
            </a:r>
            <a:r>
              <a:rPr lang="zh-CN" altLang="en-US" sz="2400">
                <a:solidFill>
                  <a:schemeClr val="tx1"/>
                </a:solidFill>
              </a:rPr>
              <a:t>地址决定路径；</a:t>
            </a:r>
          </a:p>
          <a:p>
            <a:pPr algn="l">
              <a:spcBef>
                <a:spcPct val="10000"/>
              </a:spcBef>
              <a:buClr>
                <a:schemeClr val="hlink"/>
              </a:buClr>
              <a:buFont typeface="Wingdings" panose="05000000000000000000" pitchFamily="2" charset="2"/>
              <a:buChar char="ü"/>
            </a:pPr>
            <a:r>
              <a:rPr lang="zh-CN" altLang="en-US" sz="2400">
                <a:solidFill>
                  <a:schemeClr val="tx1"/>
                </a:solidFill>
              </a:rPr>
              <a:t>在</a:t>
            </a:r>
            <a:r>
              <a:rPr lang="en-US" altLang="zh-CN" sz="2400">
                <a:solidFill>
                  <a:schemeClr val="tx1"/>
                </a:solidFill>
              </a:rPr>
              <a:t>switch</a:t>
            </a:r>
            <a:r>
              <a:rPr lang="zh-CN" altLang="en-US" sz="2400">
                <a:solidFill>
                  <a:schemeClr val="tx1"/>
                </a:solidFill>
              </a:rPr>
              <a:t>内有一个转发表，其中存放着到达各个目的地的路径（出线接口），一个数据帧到达后查表转发；</a:t>
            </a:r>
          </a:p>
          <a:p>
            <a:pPr algn="l">
              <a:spcBef>
                <a:spcPct val="10000"/>
              </a:spcBef>
              <a:buClr>
                <a:schemeClr val="hlink"/>
              </a:buClr>
              <a:buFont typeface="Wingdings" panose="05000000000000000000" pitchFamily="2" charset="2"/>
              <a:buChar char="ü"/>
            </a:pPr>
            <a:r>
              <a:rPr lang="zh-CN" altLang="en-US" sz="2400">
                <a:solidFill>
                  <a:schemeClr val="tx1"/>
                </a:solidFill>
              </a:rPr>
              <a:t>如果转发表中没有该表目，则以</a:t>
            </a:r>
            <a:r>
              <a:rPr lang="en-US" altLang="zh-CN" sz="2400">
                <a:solidFill>
                  <a:schemeClr val="tx1"/>
                </a:solidFill>
              </a:rPr>
              <a:t>flooding</a:t>
            </a:r>
            <a:r>
              <a:rPr lang="zh-CN" altLang="en-US" sz="2400">
                <a:solidFill>
                  <a:schemeClr val="tx1"/>
                </a:solidFill>
              </a:rPr>
              <a:t>广播方式（除入线以外）转发；</a:t>
            </a:r>
          </a:p>
          <a:p>
            <a:pPr algn="l">
              <a:spcBef>
                <a:spcPct val="10000"/>
              </a:spcBef>
              <a:buClr>
                <a:schemeClr val="hlink"/>
              </a:buClr>
              <a:buFont typeface="Wingdings" panose="05000000000000000000" pitchFamily="2" charset="2"/>
              <a:buChar char="ü"/>
            </a:pPr>
            <a:r>
              <a:rPr lang="zh-CN" altLang="en-US" sz="2400">
                <a:solidFill>
                  <a:schemeClr val="tx1"/>
                </a:solidFill>
              </a:rPr>
              <a:t>如果目的地与源主机位于同一个端口，则交换机滤去报文，不予转发。</a:t>
            </a:r>
          </a:p>
        </p:txBody>
      </p:sp>
      <mc:AlternateContent xmlns:mc="http://schemas.openxmlformats.org/markup-compatibility/2006" xmlns:p14="http://schemas.microsoft.com/office/powerpoint/2010/main">
        <mc:Choice Requires="p14">
          <p:contentPart p14:bwMode="auto" r:id="rId3">
            <p14:nvContentPartPr>
              <p14:cNvPr id="1922054" name="Ink 6">
                <a:extLst>
                  <a:ext uri="{FF2B5EF4-FFF2-40B4-BE49-F238E27FC236}">
                    <a16:creationId xmlns:a16="http://schemas.microsoft.com/office/drawing/2014/main" id="{24678E95-1E99-4942-BAEC-7D672C30EB1F}"/>
                  </a:ext>
                </a:extLst>
              </p14:cNvPr>
              <p14:cNvContentPartPr>
                <a14:cpLocks xmlns:a14="http://schemas.microsoft.com/office/drawing/2010/main" noRot="1" noChangeAspect="1" noEditPoints="1" noChangeArrowheads="1" noChangeShapeType="1"/>
              </p14:cNvContentPartPr>
              <p14:nvPr/>
            </p14:nvContentPartPr>
            <p14:xfrm>
              <a:off x="4640264" y="2347914"/>
              <a:ext cx="36512" cy="36512"/>
            </p14:xfrm>
          </p:contentPart>
        </mc:Choice>
        <mc:Fallback xmlns="">
          <p:pic>
            <p:nvPicPr>
              <p:cNvPr id="1922054" name="Ink 6">
                <a:extLst>
                  <a:ext uri="{FF2B5EF4-FFF2-40B4-BE49-F238E27FC236}">
                    <a16:creationId xmlns:a16="http://schemas.microsoft.com/office/drawing/2014/main" id="{24678E95-1E99-4942-BAEC-7D672C30EB1F}"/>
                  </a:ext>
                </a:extLst>
              </p:cNvPr>
              <p:cNvPicPr>
                <a:picLocks noRot="1" noChangeAspect="1" noEditPoints="1" noChangeArrowheads="1" noChangeShapeType="1"/>
              </p:cNvPicPr>
              <p:nvPr/>
            </p:nvPicPr>
            <p:blipFill>
              <a:blip r:embed="rId4"/>
              <a:stretch>
                <a:fillRect/>
              </a:stretch>
            </p:blipFill>
            <p:spPr>
              <a:xfrm>
                <a:off x="4622550" y="2330544"/>
                <a:ext cx="71216" cy="70543"/>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F1879537-20AA-41F6-81B8-072811F40C31}"/>
              </a:ext>
            </a:extLst>
          </p:cNvPr>
          <p:cNvSpPr>
            <a:spLocks noGrp="1" noChangeArrowheads="1"/>
          </p:cNvSpPr>
          <p:nvPr>
            <p:ph type="title"/>
          </p:nvPr>
        </p:nvSpPr>
        <p:spPr bwMode="auto">
          <a:xfrm>
            <a:off x="2247900" y="4064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交换机与路由器比较</a:t>
            </a:r>
          </a:p>
        </p:txBody>
      </p:sp>
      <p:sp>
        <p:nvSpPr>
          <p:cNvPr id="37891" name="Text Box 3">
            <a:extLst>
              <a:ext uri="{FF2B5EF4-FFF2-40B4-BE49-F238E27FC236}">
                <a16:creationId xmlns:a16="http://schemas.microsoft.com/office/drawing/2014/main" id="{BFEA7368-6C75-410F-BE8E-492530ECE286}"/>
              </a:ext>
            </a:extLst>
          </p:cNvPr>
          <p:cNvSpPr txBox="1">
            <a:spLocks noChangeArrowheads="1"/>
          </p:cNvSpPr>
          <p:nvPr/>
        </p:nvSpPr>
        <p:spPr bwMode="auto">
          <a:xfrm>
            <a:off x="1076325" y="1692275"/>
            <a:ext cx="877411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buClr>
                <a:schemeClr val="hlink"/>
              </a:buClr>
              <a:buFont typeface="Wingdings" panose="05000000000000000000" pitchFamily="2" charset="2"/>
              <a:buChar char="Ø"/>
            </a:pPr>
            <a:r>
              <a:rPr lang="zh-CN" altLang="en-US" sz="2800">
                <a:solidFill>
                  <a:schemeClr val="tx1"/>
                </a:solidFill>
              </a:rPr>
              <a:t>交换机机工作于数据链路层，路由器工作于网络层</a:t>
            </a:r>
          </a:p>
          <a:p>
            <a:pPr algn="l">
              <a:spcBef>
                <a:spcPct val="50000"/>
              </a:spcBef>
              <a:buClr>
                <a:schemeClr val="hlink"/>
              </a:buClr>
              <a:buFont typeface="Wingdings" panose="05000000000000000000" pitchFamily="2" charset="2"/>
              <a:buChar char="Ø"/>
            </a:pPr>
            <a:r>
              <a:rPr lang="zh-CN" altLang="en-US" sz="2800">
                <a:solidFill>
                  <a:schemeClr val="tx1"/>
                </a:solidFill>
              </a:rPr>
              <a:t>交换机连接的网络对于</a:t>
            </a:r>
            <a:r>
              <a:rPr lang="en-US" altLang="zh-CN" sz="2800">
                <a:solidFill>
                  <a:schemeClr val="tx1"/>
                </a:solidFill>
              </a:rPr>
              <a:t>IP</a:t>
            </a:r>
            <a:r>
              <a:rPr lang="zh-CN" altLang="en-US" sz="2800">
                <a:solidFill>
                  <a:schemeClr val="tx1"/>
                </a:solidFill>
              </a:rPr>
              <a:t>地址来说都属于同一个网，虽然它们的带宽加宽了，但仍属于同一个广播网；而路由器能隔离广播域</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48D90364-1904-4B11-8D7F-19DF55BB3A88}"/>
              </a:ext>
            </a:extLst>
          </p:cNvPr>
          <p:cNvSpPr>
            <a:spLocks noGrp="1" noChangeArrowheads="1"/>
          </p:cNvSpPr>
          <p:nvPr>
            <p:ph type="title"/>
          </p:nvPr>
        </p:nvSpPr>
        <p:spPr bwMode="auto">
          <a:xfrm>
            <a:off x="2209800" y="4762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路由交换机</a:t>
            </a:r>
          </a:p>
        </p:txBody>
      </p:sp>
      <p:sp>
        <p:nvSpPr>
          <p:cNvPr id="1925123" name="Text Box 3">
            <a:extLst>
              <a:ext uri="{FF2B5EF4-FFF2-40B4-BE49-F238E27FC236}">
                <a16:creationId xmlns:a16="http://schemas.microsoft.com/office/drawing/2014/main" id="{4EC86A76-2CA1-4761-8C4F-FEEEFE4A3046}"/>
              </a:ext>
            </a:extLst>
          </p:cNvPr>
          <p:cNvSpPr txBox="1">
            <a:spLocks noChangeArrowheads="1"/>
          </p:cNvSpPr>
          <p:nvPr/>
        </p:nvSpPr>
        <p:spPr bwMode="auto">
          <a:xfrm>
            <a:off x="2559050" y="1711325"/>
            <a:ext cx="7304088" cy="2357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88950" indent="-488950"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20000"/>
              </a:spcBef>
              <a:buFont typeface="Wingdings" panose="05000000000000000000" pitchFamily="2" charset="2"/>
              <a:buChar char="Ø"/>
            </a:pPr>
            <a:r>
              <a:rPr kumimoji="1" lang="zh-CN" altLang="en-US" sz="3200" b="1">
                <a:solidFill>
                  <a:srgbClr val="000000"/>
                </a:solidFill>
              </a:rPr>
              <a:t>一个路由器和交换机的结合体</a:t>
            </a:r>
            <a:endParaRPr kumimoji="1" lang="zh-CN" altLang="en-US" sz="3200">
              <a:solidFill>
                <a:srgbClr val="000000"/>
              </a:solidFill>
            </a:endParaRPr>
          </a:p>
          <a:p>
            <a:pPr algn="l" eaLnBrk="1" hangingPunct="1">
              <a:spcBef>
                <a:spcPct val="20000"/>
              </a:spcBef>
              <a:buFont typeface="Wingdings" panose="05000000000000000000" pitchFamily="2" charset="2"/>
              <a:buChar char="Ø"/>
            </a:pPr>
            <a:r>
              <a:rPr kumimoji="1" lang="zh-CN" altLang="en-US" sz="3200" b="1">
                <a:solidFill>
                  <a:srgbClr val="000000"/>
                </a:solidFill>
              </a:rPr>
              <a:t>采用网络层的目的地址寻找输出链路</a:t>
            </a:r>
          </a:p>
          <a:p>
            <a:pPr algn="l" eaLnBrk="1" hangingPunct="1">
              <a:spcBef>
                <a:spcPct val="20000"/>
              </a:spcBef>
              <a:buFont typeface="Wingdings" panose="05000000000000000000" pitchFamily="2" charset="2"/>
              <a:buChar char="Ø"/>
            </a:pPr>
            <a:r>
              <a:rPr kumimoji="1" lang="zh-CN" altLang="en-US" sz="3200" b="1">
                <a:solidFill>
                  <a:srgbClr val="000000"/>
                </a:solidFill>
              </a:rPr>
              <a:t>找到路由以后在链路层进行数据交换</a:t>
            </a:r>
            <a:endParaRPr kumimoji="1" lang="zh-CN" altLang="en-US" sz="3200">
              <a:solidFill>
                <a:srgbClr val="000000"/>
              </a:solidFill>
            </a:endParaRPr>
          </a:p>
          <a:p>
            <a:pPr algn="l" eaLnBrk="1" hangingPunct="1">
              <a:spcBef>
                <a:spcPct val="20000"/>
              </a:spcBef>
              <a:buFont typeface="Wingdings" panose="05000000000000000000" pitchFamily="2" charset="2"/>
              <a:buChar char="Ø"/>
            </a:pPr>
            <a:r>
              <a:rPr kumimoji="1" lang="zh-CN" altLang="en-US" sz="3200" b="1">
                <a:solidFill>
                  <a:srgbClr val="000000"/>
                </a:solidFill>
              </a:rPr>
              <a:t>更快捷 </a:t>
            </a:r>
            <a:endParaRPr kumimoji="1" lang="zh-CN" altLang="en-US" sz="32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25123">
                                            <p:txEl>
                                              <p:pRg st="0" end="0"/>
                                            </p:txEl>
                                          </p:spTgt>
                                        </p:tgtEl>
                                        <p:attrNameLst>
                                          <p:attrName>style.visibility</p:attrName>
                                        </p:attrNameLst>
                                      </p:cBhvr>
                                      <p:to>
                                        <p:strVal val="visible"/>
                                      </p:to>
                                    </p:set>
                                    <p:anim calcmode="lin" valueType="num">
                                      <p:cBhvr additive="base">
                                        <p:cTn id="7" dur="500" fill="hold"/>
                                        <p:tgtEl>
                                          <p:spTgt spid="19251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251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25123">
                                            <p:txEl>
                                              <p:pRg st="1" end="1"/>
                                            </p:txEl>
                                          </p:spTgt>
                                        </p:tgtEl>
                                        <p:attrNameLst>
                                          <p:attrName>style.visibility</p:attrName>
                                        </p:attrNameLst>
                                      </p:cBhvr>
                                      <p:to>
                                        <p:strVal val="visible"/>
                                      </p:to>
                                    </p:set>
                                    <p:anim calcmode="lin" valueType="num">
                                      <p:cBhvr additive="base">
                                        <p:cTn id="13" dur="500" fill="hold"/>
                                        <p:tgtEl>
                                          <p:spTgt spid="19251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251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25123">
                                            <p:txEl>
                                              <p:pRg st="2" end="2"/>
                                            </p:txEl>
                                          </p:spTgt>
                                        </p:tgtEl>
                                        <p:attrNameLst>
                                          <p:attrName>style.visibility</p:attrName>
                                        </p:attrNameLst>
                                      </p:cBhvr>
                                      <p:to>
                                        <p:strVal val="visible"/>
                                      </p:to>
                                    </p:set>
                                    <p:anim calcmode="lin" valueType="num">
                                      <p:cBhvr additive="base">
                                        <p:cTn id="19" dur="500" fill="hold"/>
                                        <p:tgtEl>
                                          <p:spTgt spid="192512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251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925123">
                                            <p:txEl>
                                              <p:pRg st="3" end="3"/>
                                            </p:txEl>
                                          </p:spTgt>
                                        </p:tgtEl>
                                        <p:attrNameLst>
                                          <p:attrName>style.visibility</p:attrName>
                                        </p:attrNameLst>
                                      </p:cBhvr>
                                      <p:to>
                                        <p:strVal val="visible"/>
                                      </p:to>
                                    </p:set>
                                    <p:anim calcmode="lin" valueType="num">
                                      <p:cBhvr additive="base">
                                        <p:cTn id="25" dur="500" fill="hold"/>
                                        <p:tgtEl>
                                          <p:spTgt spid="192512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92512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23" grpId="0" build="p" autoUpdateAnimBg="0"/>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ED696FBC-FD37-41E6-91F6-4EBDD29D451A}"/>
              </a:ext>
            </a:extLst>
          </p:cNvPr>
          <p:cNvSpPr>
            <a:spLocks noGrp="1" noChangeArrowheads="1"/>
          </p:cNvSpPr>
          <p:nvPr>
            <p:ph type="title"/>
          </p:nvPr>
        </p:nvSpPr>
        <p:spPr bwMode="auto">
          <a:xfrm>
            <a:off x="2228850" y="4572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路由器连接的企业网</a:t>
            </a:r>
          </a:p>
        </p:txBody>
      </p:sp>
      <p:pic>
        <p:nvPicPr>
          <p:cNvPr id="39939" name="Picture 3">
            <a:extLst>
              <a:ext uri="{FF2B5EF4-FFF2-40B4-BE49-F238E27FC236}">
                <a16:creationId xmlns:a16="http://schemas.microsoft.com/office/drawing/2014/main" id="{E85C9091-ECFE-47BF-B8AA-42961EA0EC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0601" y="1363664"/>
            <a:ext cx="7769225" cy="4562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1A1D3AF-6A78-4652-A96C-92E5A0FE60D9}"/>
              </a:ext>
            </a:extLst>
          </p:cNvPr>
          <p:cNvSpPr>
            <a:spLocks noGrp="1" noChangeArrowheads="1"/>
          </p:cNvSpPr>
          <p:nvPr>
            <p:ph type="title"/>
          </p:nvPr>
        </p:nvSpPr>
        <p:spPr bwMode="auto">
          <a:xfrm>
            <a:off x="2209800" y="4572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交换机连接的企业网</a:t>
            </a:r>
          </a:p>
        </p:txBody>
      </p:sp>
      <p:pic>
        <p:nvPicPr>
          <p:cNvPr id="40963" name="Picture 3">
            <a:extLst>
              <a:ext uri="{FF2B5EF4-FFF2-40B4-BE49-F238E27FC236}">
                <a16:creationId xmlns:a16="http://schemas.microsoft.com/office/drawing/2014/main" id="{86A3F4F2-4817-4F4E-9DC4-C6DA130B72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875" y="1287464"/>
            <a:ext cx="7913688" cy="4827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B14D827C-5B0B-414C-8670-04DE75F744AE}"/>
              </a:ext>
            </a:extLst>
          </p:cNvPr>
          <p:cNvSpPr>
            <a:spLocks noGrp="1" noChangeArrowheads="1"/>
          </p:cNvSpPr>
          <p:nvPr>
            <p:ph type="title"/>
          </p:nvPr>
        </p:nvSpPr>
        <p:spPr bwMode="auto">
          <a:xfrm>
            <a:off x="2228850" y="4572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交换机连接的企业网</a:t>
            </a:r>
          </a:p>
        </p:txBody>
      </p:sp>
      <p:pic>
        <p:nvPicPr>
          <p:cNvPr id="41987" name="Picture 3">
            <a:extLst>
              <a:ext uri="{FF2B5EF4-FFF2-40B4-BE49-F238E27FC236}">
                <a16:creationId xmlns:a16="http://schemas.microsoft.com/office/drawing/2014/main" id="{828F007F-B232-4E5D-9BB0-968E9B8114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3339" y="1246189"/>
            <a:ext cx="7342187" cy="4837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A81904F7-7864-4153-BEC8-946ECB189936}"/>
              </a:ext>
            </a:extLst>
          </p:cNvPr>
          <p:cNvSpPr>
            <a:spLocks noGrp="1" noChangeArrowheads="1"/>
          </p:cNvSpPr>
          <p:nvPr>
            <p:ph type="title"/>
          </p:nvPr>
        </p:nvSpPr>
        <p:spPr bwMode="auto">
          <a:xfrm>
            <a:off x="2247900" y="4572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新宋体" panose="02010609030101010101" pitchFamily="49" charset="-122"/>
              </a:rPr>
              <a:t>Gateways</a:t>
            </a:r>
            <a:r>
              <a:rPr lang="zh-CN" altLang="en-US" sz="3600">
                <a:solidFill>
                  <a:schemeClr val="hlink"/>
                </a:solidFill>
                <a:ea typeface="新宋体" panose="02010609030101010101" pitchFamily="49" charset="-122"/>
              </a:rPr>
              <a:t>网关</a:t>
            </a:r>
          </a:p>
        </p:txBody>
      </p:sp>
      <p:sp>
        <p:nvSpPr>
          <p:cNvPr id="1929219" name="Text Box 3">
            <a:extLst>
              <a:ext uri="{FF2B5EF4-FFF2-40B4-BE49-F238E27FC236}">
                <a16:creationId xmlns:a16="http://schemas.microsoft.com/office/drawing/2014/main" id="{0EAE3F55-729F-4E33-97F0-3A0728085B4E}"/>
              </a:ext>
            </a:extLst>
          </p:cNvPr>
          <p:cNvSpPr txBox="1">
            <a:spLocks noChangeArrowheads="1"/>
          </p:cNvSpPr>
          <p:nvPr/>
        </p:nvSpPr>
        <p:spPr bwMode="auto">
          <a:xfrm>
            <a:off x="2141538" y="3268664"/>
            <a:ext cx="8229600" cy="2332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3688" indent="-293688"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1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网关”这个术语在不同的设备环境中有着不同的含义。</a:t>
            </a:r>
          </a:p>
          <a:p>
            <a:pPr algn="l">
              <a:spcBef>
                <a:spcPct val="1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对于较早的网络资料来说，“网关”是一个总称。</a:t>
            </a:r>
          </a:p>
          <a:p>
            <a:pPr algn="l">
              <a:spcBef>
                <a:spcPct val="1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网关”常用于连接不同协议的网络，进行不同协议之间的转换。（“协议转换器”）。</a:t>
            </a:r>
          </a:p>
        </p:txBody>
      </p:sp>
      <p:pic>
        <p:nvPicPr>
          <p:cNvPr id="43012" name="Picture 4">
            <a:extLst>
              <a:ext uri="{FF2B5EF4-FFF2-40B4-BE49-F238E27FC236}">
                <a16:creationId xmlns:a16="http://schemas.microsoft.com/office/drawing/2014/main" id="{97B2EB8C-94EC-4DD8-9176-811FD9D2D6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5313" y="1355726"/>
            <a:ext cx="6477000" cy="169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29219">
                                            <p:txEl>
                                              <p:pRg st="0" end="0"/>
                                            </p:txEl>
                                          </p:spTgt>
                                        </p:tgtEl>
                                        <p:attrNameLst>
                                          <p:attrName>style.visibility</p:attrName>
                                        </p:attrNameLst>
                                      </p:cBhvr>
                                      <p:to>
                                        <p:strVal val="visible"/>
                                      </p:to>
                                    </p:set>
                                    <p:anim calcmode="lin" valueType="num">
                                      <p:cBhvr additive="base">
                                        <p:cTn id="7" dur="500" fill="hold"/>
                                        <p:tgtEl>
                                          <p:spTgt spid="192921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292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29219">
                                            <p:txEl>
                                              <p:pRg st="1" end="1"/>
                                            </p:txEl>
                                          </p:spTgt>
                                        </p:tgtEl>
                                        <p:attrNameLst>
                                          <p:attrName>style.visibility</p:attrName>
                                        </p:attrNameLst>
                                      </p:cBhvr>
                                      <p:to>
                                        <p:strVal val="visible"/>
                                      </p:to>
                                    </p:set>
                                    <p:anim calcmode="lin" valueType="num">
                                      <p:cBhvr additive="base">
                                        <p:cTn id="13" dur="500" fill="hold"/>
                                        <p:tgtEl>
                                          <p:spTgt spid="192921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9292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29219">
                                            <p:txEl>
                                              <p:pRg st="2" end="2"/>
                                            </p:txEl>
                                          </p:spTgt>
                                        </p:tgtEl>
                                        <p:attrNameLst>
                                          <p:attrName>style.visibility</p:attrName>
                                        </p:attrNameLst>
                                      </p:cBhvr>
                                      <p:to>
                                        <p:strVal val="visible"/>
                                      </p:to>
                                    </p:set>
                                    <p:anim calcmode="lin" valueType="num">
                                      <p:cBhvr additive="base">
                                        <p:cTn id="19" dur="500" fill="hold"/>
                                        <p:tgtEl>
                                          <p:spTgt spid="192921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92921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9219" grpId="0" build="p" autoUpdateAnimBg="0"/>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0F14B16E-0574-4BB3-A4FD-DA17E96FC73C}"/>
              </a:ext>
            </a:extLst>
          </p:cNvPr>
          <p:cNvSpPr>
            <a:spLocks noGrp="1" noChangeArrowheads="1"/>
          </p:cNvSpPr>
          <p:nvPr>
            <p:ph type="title"/>
          </p:nvPr>
        </p:nvSpPr>
        <p:spPr bwMode="auto">
          <a:xfrm>
            <a:off x="2228850" y="4953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网关与</a:t>
            </a:r>
            <a:r>
              <a:rPr lang="en-US" altLang="zh-CN" sz="3600">
                <a:solidFill>
                  <a:schemeClr val="hlink"/>
                </a:solidFill>
                <a:ea typeface="新宋体" panose="02010609030101010101" pitchFamily="49" charset="-122"/>
              </a:rPr>
              <a:t>OSI</a:t>
            </a:r>
            <a:r>
              <a:rPr lang="zh-CN" altLang="en-US" sz="3600">
                <a:solidFill>
                  <a:schemeClr val="hlink"/>
                </a:solidFill>
                <a:ea typeface="新宋体" panose="02010609030101010101" pitchFamily="49" charset="-122"/>
              </a:rPr>
              <a:t>模型</a:t>
            </a:r>
          </a:p>
        </p:txBody>
      </p:sp>
      <p:sp>
        <p:nvSpPr>
          <p:cNvPr id="44035" name="Text Box 3">
            <a:extLst>
              <a:ext uri="{FF2B5EF4-FFF2-40B4-BE49-F238E27FC236}">
                <a16:creationId xmlns:a16="http://schemas.microsoft.com/office/drawing/2014/main" id="{E5A29C0B-AC27-4619-AB5C-8107EEBC5FE3}"/>
              </a:ext>
            </a:extLst>
          </p:cNvPr>
          <p:cNvSpPr txBox="1">
            <a:spLocks noChangeArrowheads="1"/>
          </p:cNvSpPr>
          <p:nvPr/>
        </p:nvSpPr>
        <p:spPr bwMode="auto">
          <a:xfrm>
            <a:off x="2511425" y="1236664"/>
            <a:ext cx="748823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sz="3600">
                <a:solidFill>
                  <a:srgbClr val="000000"/>
                </a:solidFill>
              </a:rPr>
              <a:t>网关是一个协议转换器。</a:t>
            </a:r>
            <a:r>
              <a:rPr kumimoji="1" lang="zh-CN" altLang="en-US" sz="2800">
                <a:solidFill>
                  <a:srgbClr val="000000"/>
                </a:solidFill>
              </a:rPr>
              <a:t> </a:t>
            </a:r>
          </a:p>
        </p:txBody>
      </p:sp>
      <p:pic>
        <p:nvPicPr>
          <p:cNvPr id="1930244" name="Picture 4">
            <a:extLst>
              <a:ext uri="{FF2B5EF4-FFF2-40B4-BE49-F238E27FC236}">
                <a16:creationId xmlns:a16="http://schemas.microsoft.com/office/drawing/2014/main" id="{B19CA2DE-5ED0-4786-9203-812E98D580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1764" y="2054226"/>
            <a:ext cx="7394575" cy="465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30244"/>
                                        </p:tgtEl>
                                        <p:attrNameLst>
                                          <p:attrName>style.visibility</p:attrName>
                                        </p:attrNameLst>
                                      </p:cBhvr>
                                      <p:to>
                                        <p:strVal val="visible"/>
                                      </p:to>
                                    </p:set>
                                    <p:anim calcmode="lin" valueType="num">
                                      <p:cBhvr additive="base">
                                        <p:cTn id="7" dur="500" fill="hold"/>
                                        <p:tgtEl>
                                          <p:spTgt spid="1930244"/>
                                        </p:tgtEl>
                                        <p:attrNameLst>
                                          <p:attrName>ppt_x</p:attrName>
                                        </p:attrNameLst>
                                      </p:cBhvr>
                                      <p:tavLst>
                                        <p:tav tm="0">
                                          <p:val>
                                            <p:strVal val="0-#ppt_w/2"/>
                                          </p:val>
                                        </p:tav>
                                        <p:tav tm="100000">
                                          <p:val>
                                            <p:strVal val="#ppt_x"/>
                                          </p:val>
                                        </p:tav>
                                      </p:tavLst>
                                    </p:anim>
                                    <p:anim calcmode="lin" valueType="num">
                                      <p:cBhvr additive="base">
                                        <p:cTn id="8" dur="500" fill="hold"/>
                                        <p:tgtEl>
                                          <p:spTgt spid="19302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026">
            <a:extLst>
              <a:ext uri="{FF2B5EF4-FFF2-40B4-BE49-F238E27FC236}">
                <a16:creationId xmlns:a16="http://schemas.microsoft.com/office/drawing/2014/main" id="{4D0BA01B-EC87-4F47-AAC6-F4514C746D04}"/>
              </a:ext>
            </a:extLst>
          </p:cNvPr>
          <p:cNvSpPr>
            <a:spLocks noGrp="1" noChangeArrowheads="1"/>
          </p:cNvSpPr>
          <p:nvPr>
            <p:ph type="title"/>
          </p:nvPr>
        </p:nvSpPr>
        <p:spPr bwMode="auto">
          <a:xfrm>
            <a:off x="2228850" y="4381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网关实例</a:t>
            </a:r>
          </a:p>
        </p:txBody>
      </p:sp>
      <p:pic>
        <p:nvPicPr>
          <p:cNvPr id="1931267" name="Picture 1027">
            <a:extLst>
              <a:ext uri="{FF2B5EF4-FFF2-40B4-BE49-F238E27FC236}">
                <a16:creationId xmlns:a16="http://schemas.microsoft.com/office/drawing/2014/main" id="{5D38A036-D009-4F2A-AAE8-AC4D1B7394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6913" y="1631951"/>
            <a:ext cx="2824162" cy="307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31268" name="Picture 1028">
            <a:extLst>
              <a:ext uri="{FF2B5EF4-FFF2-40B4-BE49-F238E27FC236}">
                <a16:creationId xmlns:a16="http://schemas.microsoft.com/office/drawing/2014/main" id="{F1345DEF-C4F2-4517-AC1E-6DA330665D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9213" y="1587501"/>
            <a:ext cx="2633662" cy="323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31269" name="Picture 1029">
            <a:extLst>
              <a:ext uri="{FF2B5EF4-FFF2-40B4-BE49-F238E27FC236}">
                <a16:creationId xmlns:a16="http://schemas.microsoft.com/office/drawing/2014/main" id="{F67FFE50-E940-4947-B7C5-0B77CEA8C1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3439" y="1862139"/>
            <a:ext cx="3190876" cy="2163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31270" name="Text Box 1030">
            <a:extLst>
              <a:ext uri="{FF2B5EF4-FFF2-40B4-BE49-F238E27FC236}">
                <a16:creationId xmlns:a16="http://schemas.microsoft.com/office/drawing/2014/main" id="{692F7FC2-B1FF-41DD-A4E9-29FBD0FC546A}"/>
              </a:ext>
            </a:extLst>
          </p:cNvPr>
          <p:cNvSpPr txBox="1">
            <a:spLocks noChangeArrowheads="1"/>
          </p:cNvSpPr>
          <p:nvPr/>
        </p:nvSpPr>
        <p:spPr bwMode="auto">
          <a:xfrm>
            <a:off x="2994026" y="4791076"/>
            <a:ext cx="683577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50000"/>
              </a:spcBef>
            </a:pPr>
            <a:r>
              <a:rPr kumimoji="1" lang="zh-CN" altLang="en-US" sz="3600">
                <a:solidFill>
                  <a:srgbClr val="000000"/>
                </a:solidFill>
              </a:rPr>
              <a:t>一个连接</a:t>
            </a:r>
            <a:r>
              <a:rPr kumimoji="1" lang="en-US" altLang="zh-CN" sz="3600">
                <a:solidFill>
                  <a:srgbClr val="000000"/>
                </a:solidFill>
              </a:rPr>
              <a:t>SNA</a:t>
            </a:r>
            <a:r>
              <a:rPr kumimoji="1" lang="zh-CN" altLang="en-US" sz="3600">
                <a:solidFill>
                  <a:srgbClr val="000000"/>
                </a:solidFill>
              </a:rPr>
              <a:t>网络（</a:t>
            </a:r>
            <a:r>
              <a:rPr kumimoji="1" lang="en-US" altLang="zh-CN" sz="3600">
                <a:solidFill>
                  <a:srgbClr val="000000"/>
                </a:solidFill>
              </a:rPr>
              <a:t>IBM</a:t>
            </a:r>
            <a:r>
              <a:rPr kumimoji="1" lang="zh-CN" altLang="en-US" sz="3600">
                <a:solidFill>
                  <a:srgbClr val="000000"/>
                </a:solidFill>
              </a:rPr>
              <a:t>）和</a:t>
            </a:r>
            <a:r>
              <a:rPr kumimoji="1" lang="en-US" altLang="zh-CN" sz="3600">
                <a:solidFill>
                  <a:srgbClr val="000000"/>
                </a:solidFill>
              </a:rPr>
              <a:t>NetWare</a:t>
            </a:r>
            <a:r>
              <a:rPr kumimoji="1" lang="zh-CN" altLang="en-US" sz="3600">
                <a:solidFill>
                  <a:srgbClr val="000000"/>
                </a:solidFill>
              </a:rPr>
              <a:t>网络（</a:t>
            </a:r>
            <a:r>
              <a:rPr kumimoji="1" lang="en-US" altLang="zh-CN" sz="3600">
                <a:solidFill>
                  <a:srgbClr val="000000"/>
                </a:solidFill>
              </a:rPr>
              <a:t>Novell</a:t>
            </a:r>
            <a:r>
              <a:rPr kumimoji="1" lang="zh-CN" altLang="en-US" sz="3600">
                <a:solidFill>
                  <a:srgbClr val="000000"/>
                </a:solidFill>
              </a:rPr>
              <a:t>）的网关。 </a:t>
            </a:r>
            <a:endParaRPr kumimoji="1" lang="zh-CN" altLang="en-US" sz="360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31270">
                                            <p:txEl>
                                              <p:pRg st="0" end="0"/>
                                            </p:txEl>
                                          </p:spTgt>
                                        </p:tgtEl>
                                        <p:attrNameLst>
                                          <p:attrName>style.visibility</p:attrName>
                                        </p:attrNameLst>
                                      </p:cBhvr>
                                      <p:to>
                                        <p:strVal val="visible"/>
                                      </p:to>
                                    </p:set>
                                    <p:anim calcmode="lin" valueType="num">
                                      <p:cBhvr additive="base">
                                        <p:cTn id="7" dur="500" fill="hold"/>
                                        <p:tgtEl>
                                          <p:spTgt spid="193127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3127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931267"/>
                                        </p:tgtEl>
                                        <p:attrNameLst>
                                          <p:attrName>style.visibility</p:attrName>
                                        </p:attrNameLst>
                                      </p:cBhvr>
                                      <p:to>
                                        <p:strVal val="visible"/>
                                      </p:to>
                                    </p:set>
                                    <p:anim calcmode="lin" valueType="num">
                                      <p:cBhvr additive="base">
                                        <p:cTn id="13" dur="500" fill="hold"/>
                                        <p:tgtEl>
                                          <p:spTgt spid="1931267"/>
                                        </p:tgtEl>
                                        <p:attrNameLst>
                                          <p:attrName>ppt_x</p:attrName>
                                        </p:attrNameLst>
                                      </p:cBhvr>
                                      <p:tavLst>
                                        <p:tav tm="0">
                                          <p:val>
                                            <p:strVal val="0-#ppt_w/2"/>
                                          </p:val>
                                        </p:tav>
                                        <p:tav tm="100000">
                                          <p:val>
                                            <p:strVal val="#ppt_x"/>
                                          </p:val>
                                        </p:tav>
                                      </p:tavLst>
                                    </p:anim>
                                    <p:anim calcmode="lin" valueType="num">
                                      <p:cBhvr additive="base">
                                        <p:cTn id="14" dur="500" fill="hold"/>
                                        <p:tgtEl>
                                          <p:spTgt spid="193126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931268"/>
                                        </p:tgtEl>
                                        <p:attrNameLst>
                                          <p:attrName>style.visibility</p:attrName>
                                        </p:attrNameLst>
                                      </p:cBhvr>
                                      <p:to>
                                        <p:strVal val="visible"/>
                                      </p:to>
                                    </p:set>
                                    <p:anim calcmode="lin" valueType="num">
                                      <p:cBhvr additive="base">
                                        <p:cTn id="19" dur="500" fill="hold"/>
                                        <p:tgtEl>
                                          <p:spTgt spid="1931268"/>
                                        </p:tgtEl>
                                        <p:attrNameLst>
                                          <p:attrName>ppt_x</p:attrName>
                                        </p:attrNameLst>
                                      </p:cBhvr>
                                      <p:tavLst>
                                        <p:tav tm="0">
                                          <p:val>
                                            <p:strVal val="0-#ppt_w/2"/>
                                          </p:val>
                                        </p:tav>
                                        <p:tav tm="100000">
                                          <p:val>
                                            <p:strVal val="#ppt_x"/>
                                          </p:val>
                                        </p:tav>
                                      </p:tavLst>
                                    </p:anim>
                                    <p:anim calcmode="lin" valueType="num">
                                      <p:cBhvr additive="base">
                                        <p:cTn id="20" dur="500" fill="hold"/>
                                        <p:tgtEl>
                                          <p:spTgt spid="193126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1931269"/>
                                        </p:tgtEl>
                                        <p:attrNameLst>
                                          <p:attrName>style.visibility</p:attrName>
                                        </p:attrNameLst>
                                      </p:cBhvr>
                                      <p:to>
                                        <p:strVal val="visible"/>
                                      </p:to>
                                    </p:set>
                                    <p:anim calcmode="lin" valueType="num">
                                      <p:cBhvr additive="base">
                                        <p:cTn id="25" dur="500" fill="hold"/>
                                        <p:tgtEl>
                                          <p:spTgt spid="1931269"/>
                                        </p:tgtEl>
                                        <p:attrNameLst>
                                          <p:attrName>ppt_x</p:attrName>
                                        </p:attrNameLst>
                                      </p:cBhvr>
                                      <p:tavLst>
                                        <p:tav tm="0">
                                          <p:val>
                                            <p:strVal val="1+#ppt_w/2"/>
                                          </p:val>
                                        </p:tav>
                                        <p:tav tm="100000">
                                          <p:val>
                                            <p:strVal val="#ppt_x"/>
                                          </p:val>
                                        </p:tav>
                                      </p:tavLst>
                                    </p:anim>
                                    <p:anim calcmode="lin" valueType="num">
                                      <p:cBhvr additive="base">
                                        <p:cTn id="26" dur="500" fill="hold"/>
                                        <p:tgtEl>
                                          <p:spTgt spid="19312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1270" grpId="0" build="p" autoUpdateAnimBg="0"/>
    </p:bldLst>
  </p:timing>
</p:sld>
</file>

<file path=ppt/theme/theme1.xml><?xml version="1.0" encoding="utf-8"?>
<a:theme xmlns:a="http://schemas.openxmlformats.org/drawingml/2006/main" name="Blends">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8501</TotalTime>
  <Words>11730</Words>
  <Application>Microsoft Office PowerPoint</Application>
  <PresentationFormat>宽屏</PresentationFormat>
  <Paragraphs>2259</Paragraphs>
  <Slides>190</Slides>
  <Notes>15</Notes>
  <HiddenSlides>0</HiddenSlides>
  <MMClips>0</MMClips>
  <ScaleCrop>false</ScaleCrop>
  <HeadingPairs>
    <vt:vector size="8" baseType="variant">
      <vt:variant>
        <vt:lpstr>已用的字体</vt:lpstr>
      </vt:variant>
      <vt:variant>
        <vt:i4>23</vt:i4>
      </vt:variant>
      <vt:variant>
        <vt:lpstr>主题</vt:lpstr>
      </vt:variant>
      <vt:variant>
        <vt:i4>1</vt:i4>
      </vt:variant>
      <vt:variant>
        <vt:lpstr>嵌入 OLE 服务器</vt:lpstr>
      </vt:variant>
      <vt:variant>
        <vt:i4>2</vt:i4>
      </vt:variant>
      <vt:variant>
        <vt:lpstr>幻灯片标题</vt:lpstr>
      </vt:variant>
      <vt:variant>
        <vt:i4>190</vt:i4>
      </vt:variant>
    </vt:vector>
  </HeadingPairs>
  <TitlesOfParts>
    <vt:vector size="216" baseType="lpstr">
      <vt:lpstr>Courier</vt:lpstr>
      <vt:lpstr>Monotype Sorts</vt:lpstr>
      <vt:lpstr>等线</vt:lpstr>
      <vt:lpstr>等线 Light</vt:lpstr>
      <vt:lpstr>华文楷体</vt:lpstr>
      <vt:lpstr>华文新魏</vt:lpstr>
      <vt:lpstr>华文行楷</vt:lpstr>
      <vt:lpstr>华文中宋</vt:lpstr>
      <vt:lpstr>楷体_GB2312</vt:lpstr>
      <vt:lpstr>隶书</vt:lpstr>
      <vt:lpstr>宋体</vt:lpstr>
      <vt:lpstr>新宋体</vt:lpstr>
      <vt:lpstr>Arial</vt:lpstr>
      <vt:lpstr>Calibri</vt:lpstr>
      <vt:lpstr>Calibri Light</vt:lpstr>
      <vt:lpstr>Comic Sans MS</vt:lpstr>
      <vt:lpstr>Courier New</vt:lpstr>
      <vt:lpstr>Symbol</vt:lpstr>
      <vt:lpstr>Tahoma</vt:lpstr>
      <vt:lpstr>Times New Roman</vt:lpstr>
      <vt:lpstr>Trebuchet MS</vt:lpstr>
      <vt:lpstr>Verdana</vt:lpstr>
      <vt:lpstr>Wingdings</vt:lpstr>
      <vt:lpstr>Blends</vt:lpstr>
      <vt:lpstr>VISIO</vt:lpstr>
      <vt:lpstr>Clip</vt:lpstr>
      <vt:lpstr>PowerPoint 演示文稿</vt:lpstr>
      <vt:lpstr>5.1 网络层服务</vt:lpstr>
      <vt:lpstr>5.1.1 网络层概述</vt:lpstr>
      <vt:lpstr>网络层模型</vt:lpstr>
      <vt:lpstr> Internet协议栈</vt:lpstr>
      <vt:lpstr>网络层的功能</vt:lpstr>
      <vt:lpstr>在IP之前</vt:lpstr>
      <vt:lpstr>IP之后</vt:lpstr>
      <vt:lpstr>网络层解决的问题</vt:lpstr>
      <vt:lpstr>5.1.2 网络层服务——Internet只提供数据报服务</vt:lpstr>
      <vt:lpstr>Best Effort</vt:lpstr>
      <vt:lpstr>路由表</vt:lpstr>
      <vt:lpstr>5.1.3 Internet的网络层</vt:lpstr>
      <vt:lpstr>PowerPoint 演示文稿</vt:lpstr>
      <vt:lpstr>网络地址</vt:lpstr>
      <vt:lpstr>网络地址类别</vt:lpstr>
      <vt:lpstr>网络地址转换</vt:lpstr>
      <vt:lpstr>TCP/IP 地址系统</vt:lpstr>
      <vt:lpstr>IP 地址的引入</vt:lpstr>
      <vt:lpstr>通过IP地址屏蔽物理网络之间的差异</vt:lpstr>
      <vt:lpstr>网间网层次结构</vt:lpstr>
      <vt:lpstr>IP 地址的类型</vt:lpstr>
      <vt:lpstr>其他 IP 地址</vt:lpstr>
      <vt:lpstr>IP地址范围 </vt:lpstr>
      <vt:lpstr>IP 地址表示法</vt:lpstr>
      <vt:lpstr>特殊的 IP 地址</vt:lpstr>
      <vt:lpstr>直接广播地址</vt:lpstr>
      <vt:lpstr>有限广播地址</vt:lpstr>
      <vt:lpstr>0 地址(本网络+本主机）</vt:lpstr>
      <vt:lpstr>0 地址(本网络）</vt:lpstr>
      <vt:lpstr>0 地址(本主机）</vt:lpstr>
      <vt:lpstr>回送地址</vt:lpstr>
      <vt:lpstr>路由器和多穴主机的 IP 地址</vt:lpstr>
      <vt:lpstr>分类IP 地址存在的问题</vt:lpstr>
      <vt:lpstr>分类IP 地址存在的问题</vt:lpstr>
      <vt:lpstr>子网（Subnet）划分</vt:lpstr>
      <vt:lpstr>子网划分的基本思路</vt:lpstr>
      <vt:lpstr>子网划分</vt:lpstr>
      <vt:lpstr>不划分子网</vt:lpstr>
      <vt:lpstr>划分子网后</vt:lpstr>
      <vt:lpstr>上例网络中的地址</vt:lpstr>
      <vt:lpstr>子网掩码</vt:lpstr>
      <vt:lpstr>CIDR（超网）</vt:lpstr>
      <vt:lpstr>超网的作用</vt:lpstr>
      <vt:lpstr>NAT</vt:lpstr>
      <vt:lpstr>背景</vt:lpstr>
      <vt:lpstr>Scenario(情景)</vt:lpstr>
      <vt:lpstr>NAT 例子</vt:lpstr>
      <vt:lpstr>TCP NAT 例子</vt:lpstr>
      <vt:lpstr>NAT实现负载平衡</vt:lpstr>
      <vt:lpstr>TCP/IP 的地址解析</vt:lpstr>
      <vt:lpstr>传输过程中的网络地址</vt:lpstr>
      <vt:lpstr>ARP</vt:lpstr>
      <vt:lpstr>本地 ARP 总结</vt:lpstr>
      <vt:lpstr>ARP 补充说明</vt:lpstr>
      <vt:lpstr>ARP 优化</vt:lpstr>
      <vt:lpstr>DHCP</vt:lpstr>
      <vt:lpstr>DHCP</vt:lpstr>
      <vt:lpstr>  DHCP说明</vt:lpstr>
      <vt:lpstr>DNS</vt:lpstr>
      <vt:lpstr>域名与地址:共存?</vt:lpstr>
      <vt:lpstr>不是一对一的映射</vt:lpstr>
      <vt:lpstr>域名结构</vt:lpstr>
      <vt:lpstr>顶级域名 (TLDs)</vt:lpstr>
      <vt:lpstr>怎样得到一个IP地址</vt:lpstr>
      <vt:lpstr>域名服务器的结构</vt:lpstr>
      <vt:lpstr>DNS 的递归查询</vt:lpstr>
      <vt:lpstr>DNS: 迭代查询</vt:lpstr>
      <vt:lpstr>DNS: 缓存与更新纪录20211108</vt:lpstr>
      <vt:lpstr>DNS优先级（高到低）</vt:lpstr>
      <vt:lpstr>DNS 纪录</vt:lpstr>
      <vt:lpstr>联网操作DNS解析</vt:lpstr>
      <vt:lpstr>IPv6</vt:lpstr>
      <vt:lpstr>IPv4 数据报</vt:lpstr>
      <vt:lpstr>IPv6 数据报</vt:lpstr>
      <vt:lpstr>地址空间</vt:lpstr>
      <vt:lpstr>IPv6地址</vt:lpstr>
      <vt:lpstr>地址类型</vt:lpstr>
      <vt:lpstr>特殊地址</vt:lpstr>
      <vt:lpstr>IPv6 的目标</vt:lpstr>
      <vt:lpstr>IPv4 到 IPv6变迁</vt:lpstr>
      <vt:lpstr>双堆方案</vt:lpstr>
      <vt:lpstr>隧道</vt:lpstr>
      <vt:lpstr>Summary</vt:lpstr>
      <vt:lpstr>PowerPoint 演示文稿</vt:lpstr>
      <vt:lpstr>路由</vt:lpstr>
      <vt:lpstr>路由</vt:lpstr>
      <vt:lpstr>转发与路由</vt:lpstr>
      <vt:lpstr>4.3.1 报文转发</vt:lpstr>
      <vt:lpstr>IP 转发</vt:lpstr>
      <vt:lpstr>分组转发</vt:lpstr>
      <vt:lpstr>IP 转发表</vt:lpstr>
      <vt:lpstr>IP 转发表样式</vt:lpstr>
      <vt:lpstr>路由表查找</vt:lpstr>
      <vt:lpstr>主机的分组转发</vt:lpstr>
      <vt:lpstr>路由器的分组转发</vt:lpstr>
      <vt:lpstr>IP 路由器</vt:lpstr>
      <vt:lpstr>4.3.2 路由策略</vt:lpstr>
      <vt:lpstr>固定路由</vt:lpstr>
      <vt:lpstr>泛洪法</vt:lpstr>
      <vt:lpstr>PowerPoint 演示文稿</vt:lpstr>
      <vt:lpstr>泛洪法的性质</vt:lpstr>
      <vt:lpstr>随机路由</vt:lpstr>
      <vt:lpstr>自适应路由</vt:lpstr>
      <vt:lpstr>自适应路由的优点</vt:lpstr>
      <vt:lpstr>自适应算法信息来源</vt:lpstr>
      <vt:lpstr>网络层服务</vt:lpstr>
      <vt:lpstr>IP 转发</vt:lpstr>
      <vt:lpstr>IP 转发</vt:lpstr>
      <vt:lpstr>包转发</vt:lpstr>
      <vt:lpstr>IP 转发表</vt:lpstr>
      <vt:lpstr>IP 转发</vt:lpstr>
      <vt:lpstr>路由表查找</vt:lpstr>
      <vt:lpstr>路由表</vt:lpstr>
      <vt:lpstr>主机的包转发函数</vt:lpstr>
      <vt:lpstr>路由器的包转发函数</vt:lpstr>
      <vt:lpstr>子网划分: 主机处理</vt:lpstr>
      <vt:lpstr>子网划分: 路由器处理</vt:lpstr>
      <vt:lpstr>IP 路由器</vt:lpstr>
      <vt:lpstr>路由算法的组成</vt:lpstr>
      <vt:lpstr>动态路由算法</vt:lpstr>
      <vt:lpstr>距离矢量</vt:lpstr>
      <vt:lpstr>距离向量算法</vt:lpstr>
      <vt:lpstr>分布式 Bellman-Ford</vt:lpstr>
      <vt:lpstr>路由刷新</vt:lpstr>
      <vt:lpstr>路由刷新（续）</vt:lpstr>
      <vt:lpstr>例 – 初始距离</vt:lpstr>
      <vt:lpstr>E 接收 D的路由表</vt:lpstr>
      <vt:lpstr>E 更新到C的路由</vt:lpstr>
      <vt:lpstr>A 接收 B的路由</vt:lpstr>
      <vt:lpstr>A 更新到 C的路由</vt:lpstr>
      <vt:lpstr>A 接收 E的路由</vt:lpstr>
      <vt:lpstr>A 更新到 C 和 D路由</vt:lpstr>
      <vt:lpstr>最后距离</vt:lpstr>
      <vt:lpstr>链路失败后的最终距离</vt:lpstr>
      <vt:lpstr>DV典型例子</vt:lpstr>
      <vt:lpstr>DV算法的特点</vt:lpstr>
      <vt:lpstr>无限计数问题</vt:lpstr>
      <vt:lpstr>无限计数问题</vt:lpstr>
      <vt:lpstr>无限计数问题</vt:lpstr>
      <vt:lpstr>无限计数问题</vt:lpstr>
      <vt:lpstr>避免无限计数</vt:lpstr>
      <vt:lpstr>水平分割</vt:lpstr>
      <vt:lpstr>带毒性逆转的水平分割</vt:lpstr>
      <vt:lpstr>PowerPoint 演示文稿</vt:lpstr>
      <vt:lpstr>距离向量与链路状态路由</vt:lpstr>
      <vt:lpstr>距离向量与链路状态路由</vt:lpstr>
      <vt:lpstr>链路状态路由: 性质</vt:lpstr>
      <vt:lpstr>链路状态路由: 基本原则</vt:lpstr>
      <vt:lpstr>链路状态路由协议的运作</vt:lpstr>
      <vt:lpstr>Dijkstra 算法</vt:lpstr>
      <vt:lpstr>Dijkstra 算法</vt:lpstr>
      <vt:lpstr>Dijkstra: 初始化</vt:lpstr>
      <vt:lpstr>Dijkstra: 迭代</vt:lpstr>
      <vt:lpstr>Dijsktra’s 算法</vt:lpstr>
      <vt:lpstr>5.5 网际互联</vt:lpstr>
      <vt:lpstr>问题的提出</vt:lpstr>
      <vt:lpstr>可能的解决办法</vt:lpstr>
      <vt:lpstr>互连设备</vt:lpstr>
      <vt:lpstr>互连设备</vt:lpstr>
      <vt:lpstr>互连设备</vt:lpstr>
      <vt:lpstr>互连设备</vt:lpstr>
      <vt:lpstr>中继器</vt:lpstr>
      <vt:lpstr>中继器的功能 </vt:lpstr>
      <vt:lpstr>集线器（HUB） </vt:lpstr>
      <vt:lpstr>网桥</vt:lpstr>
      <vt:lpstr>网桥</vt:lpstr>
      <vt:lpstr>网桥的功能</vt:lpstr>
      <vt:lpstr>网桥的功能--提高吞吐率</vt:lpstr>
      <vt:lpstr>帧的转发</vt:lpstr>
      <vt:lpstr>帧的转发</vt:lpstr>
      <vt:lpstr>地址的学习 (学习网桥)</vt:lpstr>
      <vt:lpstr>透明网桥总结</vt:lpstr>
      <vt:lpstr>源路由网桥</vt:lpstr>
      <vt:lpstr>两种网桥的比较</vt:lpstr>
      <vt:lpstr>路由器</vt:lpstr>
      <vt:lpstr>路由器的作用</vt:lpstr>
      <vt:lpstr>共享与交换</vt:lpstr>
      <vt:lpstr>交换机的特点</vt:lpstr>
      <vt:lpstr>交换机 </vt:lpstr>
      <vt:lpstr>两种交换技术</vt:lpstr>
      <vt:lpstr>LAN SWITCH</vt:lpstr>
      <vt:lpstr>交换机与路由器比较</vt:lpstr>
      <vt:lpstr>路由交换机</vt:lpstr>
      <vt:lpstr>路由器连接的企业网</vt:lpstr>
      <vt:lpstr>交换机连接的企业网</vt:lpstr>
      <vt:lpstr>交换机连接的企业网</vt:lpstr>
      <vt:lpstr>Gateways网关</vt:lpstr>
      <vt:lpstr>网关与OSI模型</vt:lpstr>
      <vt:lpstr>网关实例</vt:lpstr>
    </vt:vector>
  </TitlesOfParts>
  <Company>西南交通大学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谭献海</dc:creator>
  <cp:lastModifiedBy>陈剑波</cp:lastModifiedBy>
  <cp:revision>859</cp:revision>
  <dcterms:created xsi:type="dcterms:W3CDTF">2000-11-07T02:44:39Z</dcterms:created>
  <dcterms:modified xsi:type="dcterms:W3CDTF">2021-12-06T02:44:22Z</dcterms:modified>
</cp:coreProperties>
</file>