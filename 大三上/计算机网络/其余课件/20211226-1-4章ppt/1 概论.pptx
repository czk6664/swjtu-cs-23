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47"/>
  </p:notesMasterIdLst>
  <p:sldIdLst>
    <p:sldId id="890" r:id="rId2"/>
    <p:sldId id="832" r:id="rId3"/>
    <p:sldId id="833" r:id="rId4"/>
    <p:sldId id="834" r:id="rId5"/>
    <p:sldId id="835" r:id="rId6"/>
    <p:sldId id="836" r:id="rId7"/>
    <p:sldId id="837" r:id="rId8"/>
    <p:sldId id="838" r:id="rId9"/>
    <p:sldId id="839" r:id="rId10"/>
    <p:sldId id="840" r:id="rId11"/>
    <p:sldId id="841" r:id="rId12"/>
    <p:sldId id="842" r:id="rId13"/>
    <p:sldId id="843" r:id="rId14"/>
    <p:sldId id="844" r:id="rId15"/>
    <p:sldId id="845" r:id="rId16"/>
    <p:sldId id="847" r:id="rId17"/>
    <p:sldId id="848" r:id="rId18"/>
    <p:sldId id="850" r:id="rId19"/>
    <p:sldId id="851" r:id="rId20"/>
    <p:sldId id="852" r:id="rId21"/>
    <p:sldId id="853" r:id="rId22"/>
    <p:sldId id="854" r:id="rId23"/>
    <p:sldId id="855" r:id="rId24"/>
    <p:sldId id="856" r:id="rId25"/>
    <p:sldId id="857" r:id="rId26"/>
    <p:sldId id="858" r:id="rId27"/>
    <p:sldId id="859" r:id="rId28"/>
    <p:sldId id="860" r:id="rId29"/>
    <p:sldId id="861" r:id="rId30"/>
    <p:sldId id="863" r:id="rId31"/>
    <p:sldId id="867" r:id="rId32"/>
    <p:sldId id="868" r:id="rId33"/>
    <p:sldId id="869" r:id="rId34"/>
    <p:sldId id="870" r:id="rId35"/>
    <p:sldId id="871" r:id="rId36"/>
    <p:sldId id="872" r:id="rId37"/>
    <p:sldId id="873" r:id="rId38"/>
    <p:sldId id="874" r:id="rId39"/>
    <p:sldId id="875" r:id="rId40"/>
    <p:sldId id="876" r:id="rId41"/>
    <p:sldId id="877" r:id="rId42"/>
    <p:sldId id="878" r:id="rId43"/>
    <p:sldId id="879" r:id="rId44"/>
    <p:sldId id="880" r:id="rId45"/>
    <p:sldId id="881"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99"/>
    <a:srgbClr val="3333FF"/>
    <a:srgbClr val="000099"/>
    <a:srgbClr val="DDDDDD"/>
    <a:srgbClr val="808080"/>
    <a:srgbClr val="B2B2B2"/>
    <a:srgbClr val="7884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20" autoAdjust="0"/>
    <p:restoredTop sz="81811" autoAdjust="0"/>
  </p:normalViewPr>
  <p:slideViewPr>
    <p:cSldViewPr snapToGrid="0">
      <p:cViewPr varScale="1">
        <p:scale>
          <a:sx n="60" d="100"/>
          <a:sy n="60" d="100"/>
        </p:scale>
        <p:origin x="1092" y="78"/>
      </p:cViewPr>
      <p:guideLst>
        <p:guide orient="horz" pos="2160"/>
        <p:guide pos="3833"/>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8.wmf"/><Relationship Id="rId1" Type="http://schemas.openxmlformats.org/officeDocument/2006/relationships/image" Target="../media/image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lstStyle>
            <a:lvl1pPr algn="l" eaLnBrk="0" hangingPunct="0">
              <a:buFontTx/>
              <a:buNone/>
              <a:defRPr sz="1200" b="0">
                <a:latin typeface="Times New Roman" pitchFamily="18" charset="0"/>
              </a:defRPr>
            </a:lvl1pPr>
          </a:lstStyle>
          <a:p>
            <a:pPr>
              <a:defRPr/>
            </a:pPr>
            <a:endParaRPr lang="zh-CN" altLang="zh-CN"/>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lstStyle>
            <a:lvl1pPr algn="r" eaLnBrk="0" hangingPunct="0">
              <a:buFontTx/>
              <a:buNone/>
              <a:defRPr sz="1200" b="0">
                <a:latin typeface="Times New Roman" pitchFamily="18" charset="0"/>
              </a:defRPr>
            </a:lvl1pPr>
          </a:lstStyle>
          <a:p>
            <a:pPr>
              <a:defRPr/>
            </a:pPr>
            <a:endParaRPr lang="zh-CN" altLang="zh-CN"/>
          </a:p>
        </p:txBody>
      </p:sp>
      <p:sp>
        <p:nvSpPr>
          <p:cNvPr id="3076" name="Rectangle 4"/>
          <p:cNvSpPr>
            <a:spLocks noGrp="1" noRot="1" noChangeAspect="1" noChangeArrowheads="1" noTextEdit="1"/>
          </p:cNvSpPr>
          <p:nvPr>
            <p:ph type="sldImg" idx="4294967295"/>
          </p:nvPr>
        </p:nvSpPr>
        <p:spPr bwMode="auto">
          <a:xfrm>
            <a:off x="381000" y="685800"/>
            <a:ext cx="6096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p:cNvSpPr>
            <a:spLocks noGrp="1" noChangeArrowheads="1" noTextEdit="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p>
            <a:pPr lvl="0"/>
            <a:r>
              <a:rPr lang="zh-CN" noProof="0"/>
              <a:t>            </a:t>
            </a:r>
          </a:p>
          <a:p>
            <a:pPr lvl="1"/>
            <a:r>
              <a:rPr lang="zh-CN" noProof="0"/>
              <a:t>   </a:t>
            </a:r>
          </a:p>
          <a:p>
            <a:pPr lvl="2"/>
            <a:r>
              <a:rPr lang="zh-CN" noProof="0"/>
              <a:t>   </a:t>
            </a:r>
          </a:p>
          <a:p>
            <a:pPr lvl="3"/>
            <a:r>
              <a:rPr lang="zh-CN" noProof="0"/>
              <a:t>   </a:t>
            </a:r>
          </a:p>
          <a:p>
            <a:pPr lvl="4"/>
            <a:r>
              <a:rPr lang="zh-CN" noProof="0"/>
              <a:t>   </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lgn="l" eaLnBrk="0" hangingPunct="0">
              <a:buFontTx/>
              <a:buNone/>
              <a:defRPr sz="1200" b="0">
                <a:latin typeface="Times New Roman" pitchFamily="18" charset="0"/>
              </a:defRPr>
            </a:lvl1pPr>
          </a:lstStyle>
          <a:p>
            <a:pPr>
              <a:defRPr/>
            </a:pPr>
            <a:endParaRPr lang="zh-CN" altLang="zh-CN"/>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lgn="r" eaLnBrk="0" hangingPunct="0">
              <a:buFontTx/>
              <a:buNone/>
              <a:defRPr sz="1200" b="0">
                <a:latin typeface="Times New Roman" pitchFamily="18" charset="0"/>
              </a:defRPr>
            </a:lvl1pPr>
          </a:lstStyle>
          <a:p>
            <a:pPr>
              <a:defRPr/>
            </a:pPr>
            <a:fld id="{FAC4ACA6-EDDD-4C29-9C94-57ABE7F81890}"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43.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FAC4ACA6-EDDD-4C29-9C94-57ABE7F81890}" type="slidenum">
              <a:rPr lang="zh-CN" altLang="zh-CN" smtClean="0"/>
              <a:pPr>
                <a:defRPr/>
              </a:pPr>
              <a:t>3</a:t>
            </a:fld>
            <a:endParaRPr lang="zh-CN" altLang="zh-CN"/>
          </a:p>
        </p:txBody>
      </p:sp>
    </p:spTree>
    <p:extLst>
      <p:ext uri="{BB962C8B-B14F-4D97-AF65-F5344CB8AC3E}">
        <p14:creationId xmlns:p14="http://schemas.microsoft.com/office/powerpoint/2010/main" val="136827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idx="4294967295"/>
          </p:nvPr>
        </p:nvSpPr>
        <p:spPr>
          <a:xfrm>
            <a:off x="381000" y="685800"/>
            <a:ext cx="6096000" cy="3429000"/>
          </a:xfrm>
          <a:ln/>
        </p:spPr>
      </p:sp>
      <p:sp>
        <p:nvSpPr>
          <p:cNvPr id="27651" name="Rectangle 3"/>
          <p:cNvSpPr>
            <a:spLocks noGrp="1" noChangeArrowheads="1"/>
          </p:cNvSpPr>
          <p:nvPr>
            <p:ph type="body" idx="4294967295"/>
          </p:nvPr>
        </p:nvSpPr>
        <p:spPr>
          <a:ln/>
        </p:spPr>
        <p:txBody>
          <a:bodyPr>
            <a:prstTxWarp prst="textNoShape">
              <a:avLst/>
            </a:prstTxWarp>
          </a:bodyPr>
          <a:lstStyle/>
          <a:p>
            <a:pPr eaLnBrk="1" hangingPunct="1"/>
            <a:r>
              <a:rPr lang="zh-CN" altLang="zh-CN"/>
              <a:t>1。计算机网络区别于多终端系统和多机系统，各处理机都具有各自的操作系统，能够独立运行，不受其他计算机的控制。</a:t>
            </a:r>
          </a:p>
          <a:p>
            <a:pPr eaLnBrk="1" hangingPunct="1"/>
            <a:r>
              <a:rPr lang="zh-CN" altLang="zh-CN"/>
              <a:t>2。计算机之间的连接是利用物理通信技术硬件实现的，连接介质是多样的：有线介质（双绞线、电缆、光纤等）和无线介质（微波、卫星等）。</a:t>
            </a:r>
          </a:p>
          <a:p>
            <a:pPr eaLnBrk="1" hangingPunct="1"/>
            <a:r>
              <a:rPr lang="zh-CN" altLang="zh-CN"/>
              <a:t>3。信息交换具有双重性质：物理信息交换（体现在连接介质上的比特流的传输）和逻辑信息交换（不同计算机之间高层软件系统之间的信息交换）。计算机网络系统采用层次化结构将高层的逻辑信息交换逐步映射到物理介质上的物理信息交换上。</a:t>
            </a:r>
          </a:p>
          <a:p>
            <a:pPr eaLnBrk="1" hangingPunct="1"/>
            <a:r>
              <a:rPr lang="zh-CN" altLang="zh-CN"/>
              <a:t>4。不管网络采用什么技术，在概念上都可以化分为两个要素：主机和通信子网。</a:t>
            </a:r>
          </a:p>
          <a:p>
            <a:pPr eaLnBrk="1" hangingPunct="1"/>
            <a:r>
              <a:rPr lang="zh-CN" altLang="zh-CN"/>
              <a:t>	a.主机：就是网络中独立运行的计算机，运行那些需要网络通信的应用程序；</a:t>
            </a:r>
          </a:p>
          <a:p>
            <a:pPr eaLnBrk="1" hangingPunct="1"/>
            <a:r>
              <a:rPr lang="zh-CN" altLang="zh-CN"/>
              <a:t>	b.通信子网：是将主机连接起来的实体；它能够在主机之间传送分组，提供通信服务。</a:t>
            </a:r>
          </a:p>
          <a:p>
            <a:pPr eaLnBrk="1" hangingPunct="1"/>
            <a:r>
              <a:rPr lang="zh-CN" altLang="zh-CN"/>
              <a:t>	c.在通信子网中（特别是广域网），还存在着转发接点（一种专用计算机），负责主机之间的数据转发。定义转发节点的术语包括：中间系统（IS）、分组交换结点（PSN）等，在最早的网络ARPANET中称为接口报文处理机（IMP），在TCP/IP网Internet中，转发部件相当于IP网关（路由器）。</a:t>
            </a:r>
          </a:p>
          <a:p>
            <a:pPr eaLnBrk="1" hangingPunct="1"/>
            <a:r>
              <a:rPr lang="zh-CN" altLang="zh-CN"/>
              <a:t>5。这种划分将网络的通信部分和应用部分分离，可以简化网络的分析和设计。</a:t>
            </a: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idx="4294967295"/>
          </p:nvPr>
        </p:nvSpPr>
        <p:spPr>
          <a:xfrm>
            <a:off x="381000" y="685800"/>
            <a:ext cx="6096000" cy="3429000"/>
          </a:xfrm>
          <a:ln/>
          <a:extLst>
            <a:ext uri="{91240B29-F687-4F45-9708-019B960494DF}">
              <a14:hiddenLine xmlns:a14="http://schemas.microsoft.com/office/drawing/2010/main" w="1">
                <a:solidFill>
                  <a:srgbClr val="000000"/>
                </a:solidFill>
                <a:miter lim="800000"/>
                <a:headEnd/>
                <a:tailEnd/>
              </a14:hiddenLine>
            </a:ext>
          </a:extLst>
        </p:spPr>
      </p:sp>
      <p:sp>
        <p:nvSpPr>
          <p:cNvPr id="54275" name="Rectangle 3"/>
          <p:cNvSpPr>
            <a:spLocks noGrp="1" noChangeArrowheads="1" noTextEdit="1"/>
          </p:cNvSpPr>
          <p:nvPr>
            <p:ph type="body" idx="4294967295"/>
          </p:nvPr>
        </p:nvSpPr>
        <p:spPr>
          <a:ln/>
          <a:extLst>
            <a:ext uri="{91240B29-F687-4F45-9708-019B960494DF}">
              <a14:hiddenLine xmlns:a14="http://schemas.microsoft.com/office/drawing/2010/main" w="1">
                <a:solidFill>
                  <a:srgbClr val="000000"/>
                </a:solidFill>
                <a:miter lim="800000"/>
                <a:headEnd/>
                <a:tailEnd/>
              </a14:hiddenLine>
            </a:ext>
          </a:extLst>
        </p:spPr>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5"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graphicFrame>
        <p:nvGraphicFramePr>
          <p:cNvPr id="7" name="Object 4">
            <a:extLst>
              <a:ext uri="{FF2B5EF4-FFF2-40B4-BE49-F238E27FC236}">
                <a16:creationId xmlns:a16="http://schemas.microsoft.com/office/drawing/2014/main" id="{D830B0CF-B73E-4180-9F5C-9B5AA2DAE006}"/>
              </a:ext>
            </a:extLst>
          </p:cNvPr>
          <p:cNvGraphicFramePr>
            <a:graphicFrameLocks noChangeAspect="1"/>
          </p:cNvGraphicFramePr>
          <p:nvPr userDrawn="1"/>
        </p:nvGraphicFramePr>
        <p:xfrm>
          <a:off x="0" y="0"/>
          <a:ext cx="12192000" cy="3429000"/>
        </p:xfrm>
        <a:graphic>
          <a:graphicData uri="http://schemas.openxmlformats.org/presentationml/2006/ole">
            <mc:AlternateContent xmlns:mc="http://schemas.openxmlformats.org/markup-compatibility/2006">
              <mc:Choice xmlns:v="urn:schemas-microsoft-com:vml" Requires="v">
                <p:oleObj spid="_x0000_s71780" r:id="rId3" imgW="7733333" imgH="2704762" progId="Paint.Picture">
                  <p:embed/>
                </p:oleObj>
              </mc:Choice>
              <mc:Fallback>
                <p:oleObj r:id="rId3" imgW="7733333" imgH="2704762" progId="Paint.Picture">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8" name="图片 7">
            <a:extLst>
              <a:ext uri="{FF2B5EF4-FFF2-40B4-BE49-F238E27FC236}">
                <a16:creationId xmlns:a16="http://schemas.microsoft.com/office/drawing/2014/main" id="{05E347DB-0E98-429D-916C-E6F4C8E8463E}"/>
              </a:ext>
            </a:extLst>
          </p:cNvPr>
          <p:cNvPicPr>
            <a:picLocks noChangeAspect="1"/>
          </p:cNvPicPr>
          <p:nvPr userDrawn="1"/>
        </p:nvPicPr>
        <p:blipFill>
          <a:blip r:embed="rId5"/>
          <a:stretch>
            <a:fillRect/>
          </a:stretch>
        </p:blipFill>
        <p:spPr>
          <a:xfrm>
            <a:off x="8636000" y="3214687"/>
            <a:ext cx="3556000" cy="257608"/>
          </a:xfrm>
          <a:prstGeom prst="rect">
            <a:avLst/>
          </a:prstGeom>
        </p:spPr>
      </p:pic>
    </p:spTree>
    <p:extLst>
      <p:ext uri="{BB962C8B-B14F-4D97-AF65-F5344CB8AC3E}">
        <p14:creationId xmlns:p14="http://schemas.microsoft.com/office/powerpoint/2010/main" val="2066230467"/>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pic>
        <p:nvPicPr>
          <p:cNvPr id="7" name="图片 6">
            <a:extLst>
              <a:ext uri="{FF2B5EF4-FFF2-40B4-BE49-F238E27FC236}">
                <a16:creationId xmlns:a16="http://schemas.microsoft.com/office/drawing/2014/main" id="{498500E0-C904-49C8-930A-05FD7D05CC5F}"/>
              </a:ext>
            </a:extLst>
          </p:cNvPr>
          <p:cNvPicPr>
            <a:picLocks noChangeAspect="1"/>
          </p:cNvPicPr>
          <p:nvPr userDrawn="1"/>
        </p:nvPicPr>
        <p:blipFill>
          <a:blip r:embed="rId2"/>
          <a:stretch>
            <a:fillRect/>
          </a:stretch>
        </p:blipFill>
        <p:spPr>
          <a:xfrm>
            <a:off x="8636000" y="1099921"/>
            <a:ext cx="3556000" cy="257608"/>
          </a:xfrm>
          <a:prstGeom prst="rect">
            <a:avLst/>
          </a:prstGeom>
        </p:spPr>
      </p:pic>
    </p:spTree>
    <p:extLst>
      <p:ext uri="{BB962C8B-B14F-4D97-AF65-F5344CB8AC3E}">
        <p14:creationId xmlns:p14="http://schemas.microsoft.com/office/powerpoint/2010/main" val="502374132"/>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9/28/2020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13888874"/>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11184193"/>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9/28/2020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pic>
        <p:nvPicPr>
          <p:cNvPr id="10" name="图片 9">
            <a:extLst>
              <a:ext uri="{FF2B5EF4-FFF2-40B4-BE49-F238E27FC236}">
                <a16:creationId xmlns:a16="http://schemas.microsoft.com/office/drawing/2014/main" id="{A4CD15A1-1E11-456F-9841-6B63F1D7AC0B}"/>
              </a:ext>
            </a:extLst>
          </p:cNvPr>
          <p:cNvPicPr>
            <a:picLocks noChangeAspect="1"/>
          </p:cNvPicPr>
          <p:nvPr userDrawn="1"/>
        </p:nvPicPr>
        <p:blipFill>
          <a:blip r:embed="rId2"/>
          <a:stretch>
            <a:fillRect/>
          </a:stretch>
        </p:blipFill>
        <p:spPr>
          <a:xfrm>
            <a:off x="8636000" y="1125104"/>
            <a:ext cx="3556000" cy="257608"/>
          </a:xfrm>
          <a:prstGeom prst="rect">
            <a:avLst/>
          </a:prstGeom>
        </p:spPr>
      </p:pic>
    </p:spTree>
    <p:extLst>
      <p:ext uri="{BB962C8B-B14F-4D97-AF65-F5344CB8AC3E}">
        <p14:creationId xmlns:p14="http://schemas.microsoft.com/office/powerpoint/2010/main" val="2848529470"/>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9/28/2020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pic>
        <p:nvPicPr>
          <p:cNvPr id="6" name="图片 5">
            <a:extLst>
              <a:ext uri="{FF2B5EF4-FFF2-40B4-BE49-F238E27FC236}">
                <a16:creationId xmlns:a16="http://schemas.microsoft.com/office/drawing/2014/main" id="{054276BE-D21C-4A0D-BFB4-8188F51BE5BF}"/>
              </a:ext>
            </a:extLst>
          </p:cNvPr>
          <p:cNvPicPr>
            <a:picLocks noChangeAspect="1"/>
          </p:cNvPicPr>
          <p:nvPr userDrawn="1"/>
        </p:nvPicPr>
        <p:blipFill>
          <a:blip r:embed="rId2"/>
          <a:stretch>
            <a:fillRect/>
          </a:stretch>
        </p:blipFill>
        <p:spPr>
          <a:xfrm>
            <a:off x="8636000" y="1089478"/>
            <a:ext cx="3556000" cy="257608"/>
          </a:xfrm>
          <a:prstGeom prst="rect">
            <a:avLst/>
          </a:prstGeom>
        </p:spPr>
      </p:pic>
    </p:spTree>
    <p:extLst>
      <p:ext uri="{BB962C8B-B14F-4D97-AF65-F5344CB8AC3E}">
        <p14:creationId xmlns:p14="http://schemas.microsoft.com/office/powerpoint/2010/main" val="1689946457"/>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9/28/2020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0805729"/>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9/28/2020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7583484"/>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9/28/2020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97734097"/>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64542512"/>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79234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9/28/2020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graphicFrame>
        <p:nvGraphicFramePr>
          <p:cNvPr id="7" name="Object 5">
            <a:extLst>
              <a:ext uri="{FF2B5EF4-FFF2-40B4-BE49-F238E27FC236}">
                <a16:creationId xmlns:a16="http://schemas.microsoft.com/office/drawing/2014/main" id="{9CF115F4-A77F-41EA-A760-9B3FC1FA6466}"/>
              </a:ext>
            </a:extLst>
          </p:cNvPr>
          <p:cNvGraphicFramePr>
            <a:graphicFrameLocks/>
          </p:cNvGraphicFramePr>
          <p:nvPr userDrawn="1"/>
        </p:nvGraphicFramePr>
        <p:xfrm>
          <a:off x="0" y="1049338"/>
          <a:ext cx="12192000" cy="239712"/>
        </p:xfrm>
        <a:graphic>
          <a:graphicData uri="http://schemas.openxmlformats.org/presentationml/2006/ole">
            <mc:AlternateContent xmlns:mc="http://schemas.openxmlformats.org/markup-compatibility/2006">
              <mc:Choice xmlns:v="urn:schemas-microsoft-com:vml" Requires="v">
                <p:oleObj spid="_x0000_s70756" r:id="rId14" imgW="7733333" imgH="200159" progId="Paint.Picture">
                  <p:embed/>
                </p:oleObj>
              </mc:Choice>
              <mc:Fallback>
                <p:oleObj r:id="rId14" imgW="7733333" imgH="200159" progId="Paint.Picture">
                  <p:embed/>
                  <p:pic>
                    <p:nvPicPr>
                      <p:cNvPr id="1029"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1049338"/>
                        <a:ext cx="121920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8" name="图片 7">
            <a:extLst>
              <a:ext uri="{FF2B5EF4-FFF2-40B4-BE49-F238E27FC236}">
                <a16:creationId xmlns:a16="http://schemas.microsoft.com/office/drawing/2014/main" id="{8AB365F0-46B2-44FF-ADDB-8ED7E111FEB5}"/>
              </a:ext>
            </a:extLst>
          </p:cNvPr>
          <p:cNvPicPr>
            <a:picLocks noChangeAspect="1"/>
          </p:cNvPicPr>
          <p:nvPr userDrawn="1"/>
        </p:nvPicPr>
        <p:blipFill>
          <a:blip r:embed="rId16"/>
          <a:stretch>
            <a:fillRect/>
          </a:stretch>
        </p:blipFill>
        <p:spPr>
          <a:xfrm>
            <a:off x="8636000" y="1099921"/>
            <a:ext cx="3556000" cy="257608"/>
          </a:xfrm>
          <a:prstGeom prst="rect">
            <a:avLst/>
          </a:prstGeom>
        </p:spPr>
      </p:pic>
    </p:spTree>
    <p:extLst>
      <p:ext uri="{BB962C8B-B14F-4D97-AF65-F5344CB8AC3E}">
        <p14:creationId xmlns:p14="http://schemas.microsoft.com/office/powerpoint/2010/main" val="318978208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ransition>
    <p:wipe dir="r"/>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oleObject" Target="../embeddings/oleObject11.bin"/><Relationship Id="rId18" Type="http://schemas.openxmlformats.org/officeDocument/2006/relationships/oleObject" Target="../embeddings/oleObject14.bin"/><Relationship Id="rId3" Type="http://schemas.openxmlformats.org/officeDocument/2006/relationships/oleObject" Target="../embeddings/oleObject3.bin"/><Relationship Id="rId21" Type="http://schemas.openxmlformats.org/officeDocument/2006/relationships/oleObject" Target="../embeddings/oleObject16.bin"/><Relationship Id="rId7" Type="http://schemas.openxmlformats.org/officeDocument/2006/relationships/oleObject" Target="../embeddings/oleObject5.bin"/><Relationship Id="rId12" Type="http://schemas.openxmlformats.org/officeDocument/2006/relationships/oleObject" Target="../embeddings/oleObject10.bin"/><Relationship Id="rId17" Type="http://schemas.openxmlformats.org/officeDocument/2006/relationships/image" Target="../media/image7.wmf"/><Relationship Id="rId25" Type="http://schemas.openxmlformats.org/officeDocument/2006/relationships/oleObject" Target="../embeddings/oleObject20.bin"/><Relationship Id="rId2" Type="http://schemas.openxmlformats.org/officeDocument/2006/relationships/slideLayout" Target="../slideLayouts/slideLayout4.xml"/><Relationship Id="rId16" Type="http://schemas.openxmlformats.org/officeDocument/2006/relationships/oleObject" Target="../embeddings/oleObject13.bin"/><Relationship Id="rId20" Type="http://schemas.openxmlformats.org/officeDocument/2006/relationships/oleObject" Target="../embeddings/oleObject15.bin"/><Relationship Id="rId1" Type="http://schemas.openxmlformats.org/officeDocument/2006/relationships/vmlDrawing" Target="../drawings/vmlDrawing3.vml"/><Relationship Id="rId6" Type="http://schemas.openxmlformats.org/officeDocument/2006/relationships/image" Target="../media/image5.wmf"/><Relationship Id="rId11" Type="http://schemas.openxmlformats.org/officeDocument/2006/relationships/oleObject" Target="../embeddings/oleObject9.bin"/><Relationship Id="rId24" Type="http://schemas.openxmlformats.org/officeDocument/2006/relationships/oleObject" Target="../embeddings/oleObject19.bin"/><Relationship Id="rId5" Type="http://schemas.openxmlformats.org/officeDocument/2006/relationships/oleObject" Target="../embeddings/oleObject4.bin"/><Relationship Id="rId15" Type="http://schemas.openxmlformats.org/officeDocument/2006/relationships/oleObject" Target="../embeddings/oleObject12.bin"/><Relationship Id="rId23" Type="http://schemas.openxmlformats.org/officeDocument/2006/relationships/oleObject" Target="../embeddings/oleObject18.bin"/><Relationship Id="rId10" Type="http://schemas.openxmlformats.org/officeDocument/2006/relationships/oleObject" Target="../embeddings/oleObject8.bin"/><Relationship Id="rId19" Type="http://schemas.openxmlformats.org/officeDocument/2006/relationships/image" Target="../media/image8.wmf"/><Relationship Id="rId4" Type="http://schemas.openxmlformats.org/officeDocument/2006/relationships/image" Target="../media/image4.wmf"/><Relationship Id="rId9" Type="http://schemas.openxmlformats.org/officeDocument/2006/relationships/oleObject" Target="../embeddings/oleObject7.bin"/><Relationship Id="rId14" Type="http://schemas.openxmlformats.org/officeDocument/2006/relationships/image" Target="../media/image6.wmf"/><Relationship Id="rId22" Type="http://schemas.openxmlformats.org/officeDocument/2006/relationships/oleObject" Target="../embeddings/oleObject17.bin"/></Relationships>
</file>

<file path=ppt/slides/_rels/slide5.xml.rels><?xml version="1.0" encoding="UTF-8" standalone="yes"?>
<Relationships xmlns="http://schemas.openxmlformats.org/package/2006/relationships"><Relationship Id="rId3" Type="http://schemas.openxmlformats.org/officeDocument/2006/relationships/image" Target="../../../../../360&#20113;&#30424;/12-13-1&#25945;&#23398;/&#35745;&#31639;&#26426;&#32593;&#32476;/&#31532;1&#31456;%20&#27010;&#35770;&#21450;&#32593;&#32476;&#20307;&#31995;&#32467;&#26500;/http:/www.ln.cninfo.net/pc/xueyuan/wangluo/ge2.gif"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image" Target="../media/image21.wmf"/><Relationship Id="rId18" Type="http://schemas.openxmlformats.org/officeDocument/2006/relationships/image" Target="../media/image26.wmf"/><Relationship Id="rId26" Type="http://schemas.openxmlformats.org/officeDocument/2006/relationships/image" Target="../media/image34.wmf"/><Relationship Id="rId3" Type="http://schemas.openxmlformats.org/officeDocument/2006/relationships/image" Target="../media/image11.wmf"/><Relationship Id="rId21" Type="http://schemas.openxmlformats.org/officeDocument/2006/relationships/image" Target="../media/image29.wmf"/><Relationship Id="rId7" Type="http://schemas.openxmlformats.org/officeDocument/2006/relationships/image" Target="../media/image15.wmf"/><Relationship Id="rId12" Type="http://schemas.openxmlformats.org/officeDocument/2006/relationships/image" Target="../media/image20.wmf"/><Relationship Id="rId17" Type="http://schemas.openxmlformats.org/officeDocument/2006/relationships/image" Target="../media/image25.wmf"/><Relationship Id="rId25" Type="http://schemas.openxmlformats.org/officeDocument/2006/relationships/image" Target="../media/image33.wmf"/><Relationship Id="rId2" Type="http://schemas.openxmlformats.org/officeDocument/2006/relationships/image" Target="../media/image10.wmf"/><Relationship Id="rId16" Type="http://schemas.openxmlformats.org/officeDocument/2006/relationships/image" Target="../media/image24.wmf"/><Relationship Id="rId20" Type="http://schemas.openxmlformats.org/officeDocument/2006/relationships/image" Target="../media/image28.wmf"/><Relationship Id="rId29" Type="http://schemas.openxmlformats.org/officeDocument/2006/relationships/image" Target="../media/image37.wmf"/><Relationship Id="rId1" Type="http://schemas.openxmlformats.org/officeDocument/2006/relationships/slideLayout" Target="../slideLayouts/slideLayout6.xml"/><Relationship Id="rId6" Type="http://schemas.openxmlformats.org/officeDocument/2006/relationships/image" Target="../media/image14.wmf"/><Relationship Id="rId11" Type="http://schemas.openxmlformats.org/officeDocument/2006/relationships/image" Target="../media/image19.wmf"/><Relationship Id="rId24" Type="http://schemas.openxmlformats.org/officeDocument/2006/relationships/image" Target="../media/image32.wmf"/><Relationship Id="rId5" Type="http://schemas.openxmlformats.org/officeDocument/2006/relationships/image" Target="../media/image13.wmf"/><Relationship Id="rId15" Type="http://schemas.openxmlformats.org/officeDocument/2006/relationships/image" Target="../media/image23.wmf"/><Relationship Id="rId23" Type="http://schemas.openxmlformats.org/officeDocument/2006/relationships/image" Target="../media/image31.wmf"/><Relationship Id="rId28" Type="http://schemas.openxmlformats.org/officeDocument/2006/relationships/image" Target="../media/image36.wmf"/><Relationship Id="rId10" Type="http://schemas.openxmlformats.org/officeDocument/2006/relationships/image" Target="../media/image18.wmf"/><Relationship Id="rId19" Type="http://schemas.openxmlformats.org/officeDocument/2006/relationships/image" Target="../media/image27.wmf"/><Relationship Id="rId31" Type="http://schemas.openxmlformats.org/officeDocument/2006/relationships/image" Target="../media/image39.wmf"/><Relationship Id="rId4" Type="http://schemas.openxmlformats.org/officeDocument/2006/relationships/image" Target="../media/image12.wmf"/><Relationship Id="rId9" Type="http://schemas.openxmlformats.org/officeDocument/2006/relationships/image" Target="../media/image17.wmf"/><Relationship Id="rId14" Type="http://schemas.openxmlformats.org/officeDocument/2006/relationships/image" Target="../media/image22.wmf"/><Relationship Id="rId22" Type="http://schemas.openxmlformats.org/officeDocument/2006/relationships/image" Target="../media/image30.wmf"/><Relationship Id="rId27" Type="http://schemas.openxmlformats.org/officeDocument/2006/relationships/image" Target="../media/image35.wmf"/><Relationship Id="rId30" Type="http://schemas.openxmlformats.org/officeDocument/2006/relationships/image" Target="../media/image38.wmf"/></Relationships>
</file>

<file path=ppt/slides/_rels/slide7.xml.rels><?xml version="1.0" encoding="UTF-8" standalone="yes"?>
<Relationships xmlns="http://schemas.openxmlformats.org/package/2006/relationships"><Relationship Id="rId3" Type="http://schemas.openxmlformats.org/officeDocument/2006/relationships/image" Target="E:/&#35745;&#31639;&#26426;&#32593;&#32476;&#35762;&#20041;/jsjwl/&#23433;&#20840;&#32593;&#20851;&#24212;&#29992;&#26041;&#26696;.files/safe2.gif" TargetMode="External"/><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360&#20113;&#30424;/12-13-1&#25945;&#23398;/&#35745;&#31639;&#26426;&#32593;&#32476;/&#31532;1&#31456;%20&#27010;&#35770;&#21450;&#32593;&#32476;&#20307;&#31995;&#32467;&#26500;/http:/www2000.qz.fj.cn/qztelecom/serve/img/top1.gif" TargetMode="External"/><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43.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360&#20113;&#30424;/12-13-1&#25945;&#23398;/&#35745;&#31639;&#26426;&#32593;&#32476;/&#31532;1&#31456;%20&#27010;&#35770;&#21450;&#32593;&#32476;&#20307;&#31995;&#32467;&#26500;/http:/www.zhuoda.org/xiaojf/jichu/img/30.gif" TargetMode="External"/><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360&#20113;&#30424;/12-13-1&#25945;&#23398;/&#35745;&#31639;&#26426;&#32593;&#32476;/&#31532;1&#31456;%20&#27010;&#35770;&#21450;&#32593;&#32476;&#20307;&#31995;&#32467;&#26500;/http:/www.zhuoda.org/xiaojf/jichu/img/31.gif" TargetMode="External"/><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360&#20113;&#30424;/12-13-1&#25945;&#23398;/&#35745;&#31639;&#26426;&#32593;&#32476;/&#31532;1&#31456;%20&#27010;&#35770;&#21450;&#32593;&#32476;&#20307;&#31995;&#32467;&#26500;/http:/www.dlc.sjtu.edu.cn/webcourses/network/chap1/images/packnet.gif" TargetMode="External"/><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oleObject" Target="../embeddings/oleObject30.bin"/><Relationship Id="rId18" Type="http://schemas.openxmlformats.org/officeDocument/2006/relationships/oleObject" Target="../embeddings/oleObject33.bin"/><Relationship Id="rId3" Type="http://schemas.openxmlformats.org/officeDocument/2006/relationships/oleObject" Target="../embeddings/oleObject22.bin"/><Relationship Id="rId21" Type="http://schemas.openxmlformats.org/officeDocument/2006/relationships/oleObject" Target="../embeddings/oleObject35.bin"/><Relationship Id="rId7" Type="http://schemas.openxmlformats.org/officeDocument/2006/relationships/oleObject" Target="../embeddings/oleObject24.bin"/><Relationship Id="rId12" Type="http://schemas.openxmlformats.org/officeDocument/2006/relationships/oleObject" Target="../embeddings/oleObject29.bin"/><Relationship Id="rId17" Type="http://schemas.openxmlformats.org/officeDocument/2006/relationships/image" Target="../media/image7.wmf"/><Relationship Id="rId2" Type="http://schemas.openxmlformats.org/officeDocument/2006/relationships/slideLayout" Target="../slideLayouts/slideLayout4.xml"/><Relationship Id="rId16" Type="http://schemas.openxmlformats.org/officeDocument/2006/relationships/oleObject" Target="../embeddings/oleObject32.bin"/><Relationship Id="rId20" Type="http://schemas.openxmlformats.org/officeDocument/2006/relationships/oleObject" Target="../embeddings/oleObject34.bin"/><Relationship Id="rId1" Type="http://schemas.openxmlformats.org/officeDocument/2006/relationships/vmlDrawing" Target="../drawings/vmlDrawing5.vml"/><Relationship Id="rId6" Type="http://schemas.openxmlformats.org/officeDocument/2006/relationships/image" Target="../media/image5.wmf"/><Relationship Id="rId11" Type="http://schemas.openxmlformats.org/officeDocument/2006/relationships/oleObject" Target="../embeddings/oleObject28.bin"/><Relationship Id="rId5" Type="http://schemas.openxmlformats.org/officeDocument/2006/relationships/oleObject" Target="../embeddings/oleObject23.bin"/><Relationship Id="rId15" Type="http://schemas.openxmlformats.org/officeDocument/2006/relationships/oleObject" Target="../embeddings/oleObject31.bin"/><Relationship Id="rId10" Type="http://schemas.openxmlformats.org/officeDocument/2006/relationships/oleObject" Target="../embeddings/oleObject27.bin"/><Relationship Id="rId19" Type="http://schemas.openxmlformats.org/officeDocument/2006/relationships/image" Target="../media/image8.wmf"/><Relationship Id="rId4" Type="http://schemas.openxmlformats.org/officeDocument/2006/relationships/image" Target="../media/image4.wmf"/><Relationship Id="rId9" Type="http://schemas.openxmlformats.org/officeDocument/2006/relationships/oleObject" Target="../embeddings/oleObject26.bin"/><Relationship Id="rId14" Type="http://schemas.openxmlformats.org/officeDocument/2006/relationships/image" Target="../media/image6.wmf"/><Relationship Id="rId22" Type="http://schemas.openxmlformats.org/officeDocument/2006/relationships/oleObject" Target="../embeddings/oleObject36.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oleObject" Target="../embeddings/oleObject45.bin"/><Relationship Id="rId18" Type="http://schemas.openxmlformats.org/officeDocument/2006/relationships/oleObject" Target="../embeddings/oleObject48.bin"/><Relationship Id="rId3" Type="http://schemas.openxmlformats.org/officeDocument/2006/relationships/oleObject" Target="../embeddings/oleObject37.bin"/><Relationship Id="rId21" Type="http://schemas.openxmlformats.org/officeDocument/2006/relationships/oleObject" Target="../embeddings/oleObject50.bin"/><Relationship Id="rId7" Type="http://schemas.openxmlformats.org/officeDocument/2006/relationships/oleObject" Target="../embeddings/oleObject39.bin"/><Relationship Id="rId12" Type="http://schemas.openxmlformats.org/officeDocument/2006/relationships/oleObject" Target="../embeddings/oleObject44.bin"/><Relationship Id="rId17" Type="http://schemas.openxmlformats.org/officeDocument/2006/relationships/image" Target="../media/image7.wmf"/><Relationship Id="rId2" Type="http://schemas.openxmlformats.org/officeDocument/2006/relationships/slideLayout" Target="../slideLayouts/slideLayout4.xml"/><Relationship Id="rId16" Type="http://schemas.openxmlformats.org/officeDocument/2006/relationships/oleObject" Target="../embeddings/oleObject47.bin"/><Relationship Id="rId20" Type="http://schemas.openxmlformats.org/officeDocument/2006/relationships/oleObject" Target="../embeddings/oleObject49.bin"/><Relationship Id="rId1" Type="http://schemas.openxmlformats.org/officeDocument/2006/relationships/vmlDrawing" Target="../drawings/vmlDrawing6.vml"/><Relationship Id="rId6" Type="http://schemas.openxmlformats.org/officeDocument/2006/relationships/image" Target="../media/image5.wmf"/><Relationship Id="rId11" Type="http://schemas.openxmlformats.org/officeDocument/2006/relationships/oleObject" Target="../embeddings/oleObject43.bin"/><Relationship Id="rId5" Type="http://schemas.openxmlformats.org/officeDocument/2006/relationships/oleObject" Target="../embeddings/oleObject38.bin"/><Relationship Id="rId15" Type="http://schemas.openxmlformats.org/officeDocument/2006/relationships/oleObject" Target="../embeddings/oleObject46.bin"/><Relationship Id="rId10" Type="http://schemas.openxmlformats.org/officeDocument/2006/relationships/oleObject" Target="../embeddings/oleObject42.bin"/><Relationship Id="rId19" Type="http://schemas.openxmlformats.org/officeDocument/2006/relationships/image" Target="../media/image8.wmf"/><Relationship Id="rId4" Type="http://schemas.openxmlformats.org/officeDocument/2006/relationships/image" Target="../media/image4.wmf"/><Relationship Id="rId9" Type="http://schemas.openxmlformats.org/officeDocument/2006/relationships/oleObject" Target="../embeddings/oleObject41.bin"/><Relationship Id="rId14" Type="http://schemas.openxmlformats.org/officeDocument/2006/relationships/image" Target="../media/image6.wmf"/><Relationship Id="rId22" Type="http://schemas.openxmlformats.org/officeDocument/2006/relationships/oleObject" Target="../embeddings/oleObject51.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oleObject" Target="../embeddings/oleObject60.bin"/><Relationship Id="rId18" Type="http://schemas.openxmlformats.org/officeDocument/2006/relationships/oleObject" Target="../embeddings/oleObject63.bin"/><Relationship Id="rId3" Type="http://schemas.openxmlformats.org/officeDocument/2006/relationships/oleObject" Target="../embeddings/oleObject52.bin"/><Relationship Id="rId21" Type="http://schemas.openxmlformats.org/officeDocument/2006/relationships/oleObject" Target="../embeddings/oleObject65.bin"/><Relationship Id="rId7" Type="http://schemas.openxmlformats.org/officeDocument/2006/relationships/oleObject" Target="../embeddings/oleObject54.bin"/><Relationship Id="rId12" Type="http://schemas.openxmlformats.org/officeDocument/2006/relationships/oleObject" Target="../embeddings/oleObject59.bin"/><Relationship Id="rId17" Type="http://schemas.openxmlformats.org/officeDocument/2006/relationships/image" Target="../media/image7.wmf"/><Relationship Id="rId2" Type="http://schemas.openxmlformats.org/officeDocument/2006/relationships/slideLayout" Target="../slideLayouts/slideLayout4.xml"/><Relationship Id="rId16" Type="http://schemas.openxmlformats.org/officeDocument/2006/relationships/oleObject" Target="../embeddings/oleObject62.bin"/><Relationship Id="rId20" Type="http://schemas.openxmlformats.org/officeDocument/2006/relationships/oleObject" Target="../embeddings/oleObject64.bin"/><Relationship Id="rId1" Type="http://schemas.openxmlformats.org/officeDocument/2006/relationships/vmlDrawing" Target="../drawings/vmlDrawing7.vml"/><Relationship Id="rId6" Type="http://schemas.openxmlformats.org/officeDocument/2006/relationships/image" Target="../media/image5.wmf"/><Relationship Id="rId11" Type="http://schemas.openxmlformats.org/officeDocument/2006/relationships/oleObject" Target="../embeddings/oleObject58.bin"/><Relationship Id="rId5" Type="http://schemas.openxmlformats.org/officeDocument/2006/relationships/oleObject" Target="../embeddings/oleObject53.bin"/><Relationship Id="rId15" Type="http://schemas.openxmlformats.org/officeDocument/2006/relationships/oleObject" Target="../embeddings/oleObject61.bin"/><Relationship Id="rId10" Type="http://schemas.openxmlformats.org/officeDocument/2006/relationships/oleObject" Target="../embeddings/oleObject57.bin"/><Relationship Id="rId19" Type="http://schemas.openxmlformats.org/officeDocument/2006/relationships/image" Target="../media/image8.wmf"/><Relationship Id="rId4" Type="http://schemas.openxmlformats.org/officeDocument/2006/relationships/image" Target="../media/image4.wmf"/><Relationship Id="rId9" Type="http://schemas.openxmlformats.org/officeDocument/2006/relationships/oleObject" Target="../embeddings/oleObject56.bin"/><Relationship Id="rId14" Type="http://schemas.openxmlformats.org/officeDocument/2006/relationships/image" Target="../media/image6.wmf"/><Relationship Id="rId22" Type="http://schemas.openxmlformats.org/officeDocument/2006/relationships/oleObject" Target="../embeddings/oleObject66.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5.wmf"/><Relationship Id="rId5" Type="http://schemas.openxmlformats.org/officeDocument/2006/relationships/oleObject" Target="../embeddings/oleObject68.bin"/><Relationship Id="rId4" Type="http://schemas.openxmlformats.org/officeDocument/2006/relationships/image" Target="../media/image4.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E:/&#35745;&#31639;&#26426;&#32593;&#32476;&#35762;&#20041;/&#32593;&#32476;&#25509;&#20837;&#36164;&#26009;/txh/&#30005;&#20449;&#31185;&#23398;980404.files/9804t10.gif" TargetMode="External"/><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E:/&#35745;&#31639;&#26426;&#32593;&#32476;&#35762;&#20041;/&#32593;&#32476;&#25509;&#20837;&#36164;&#26009;/txh/&#30005;&#20449;&#31185;&#23398;980404.files/9804t11.gif" TargetMode="External"/><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1.bin"/><Relationship Id="rId7" Type="http://schemas.openxmlformats.org/officeDocument/2006/relationships/oleObject" Target="../embeddings/oleObject74.bin"/><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73.bin"/><Relationship Id="rId5" Type="http://schemas.openxmlformats.org/officeDocument/2006/relationships/oleObject" Target="../embeddings/oleObject72.bin"/><Relationship Id="rId4" Type="http://schemas.openxmlformats.org/officeDocument/2006/relationships/image" Target="../media/image4.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78.bin"/><Relationship Id="rId13" Type="http://schemas.openxmlformats.org/officeDocument/2006/relationships/oleObject" Target="../embeddings/oleObject83.bin"/><Relationship Id="rId3" Type="http://schemas.openxmlformats.org/officeDocument/2006/relationships/oleObject" Target="../embeddings/oleObject75.bin"/><Relationship Id="rId7" Type="http://schemas.openxmlformats.org/officeDocument/2006/relationships/oleObject" Target="../embeddings/oleObject77.bin"/><Relationship Id="rId12" Type="http://schemas.openxmlformats.org/officeDocument/2006/relationships/oleObject" Target="../embeddings/oleObject82.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8.wmf"/><Relationship Id="rId11" Type="http://schemas.openxmlformats.org/officeDocument/2006/relationships/oleObject" Target="../embeddings/oleObject81.bin"/><Relationship Id="rId5" Type="http://schemas.openxmlformats.org/officeDocument/2006/relationships/oleObject" Target="../embeddings/oleObject76.bin"/><Relationship Id="rId10" Type="http://schemas.openxmlformats.org/officeDocument/2006/relationships/oleObject" Target="../embeddings/oleObject80.bin"/><Relationship Id="rId4" Type="http://schemas.openxmlformats.org/officeDocument/2006/relationships/image" Target="../media/image7.wmf"/><Relationship Id="rId9" Type="http://schemas.openxmlformats.org/officeDocument/2006/relationships/oleObject" Target="../embeddings/oleObject79.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87.bin"/><Relationship Id="rId3" Type="http://schemas.openxmlformats.org/officeDocument/2006/relationships/oleObject" Target="../embeddings/oleObject84.bin"/><Relationship Id="rId7" Type="http://schemas.openxmlformats.org/officeDocument/2006/relationships/oleObject" Target="../embeddings/oleObject86.bin"/><Relationship Id="rId12" Type="http://schemas.openxmlformats.org/officeDocument/2006/relationships/oleObject" Target="../embeddings/oleObject90.bin"/><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image" Target="../media/image8.wmf"/><Relationship Id="rId11" Type="http://schemas.openxmlformats.org/officeDocument/2006/relationships/image" Target="../media/image4.wmf"/><Relationship Id="rId5" Type="http://schemas.openxmlformats.org/officeDocument/2006/relationships/oleObject" Target="../embeddings/oleObject85.bin"/><Relationship Id="rId10" Type="http://schemas.openxmlformats.org/officeDocument/2006/relationships/oleObject" Target="../embeddings/oleObject89.bin"/><Relationship Id="rId4" Type="http://schemas.openxmlformats.org/officeDocument/2006/relationships/image" Target="../media/image7.wmf"/><Relationship Id="rId9" Type="http://schemas.openxmlformats.org/officeDocument/2006/relationships/oleObject" Target="../embeddings/oleObject88.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61.wmf"/><Relationship Id="rId4" Type="http://schemas.openxmlformats.org/officeDocument/2006/relationships/oleObject" Target="../embeddings/oleObject91.bin"/></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2608263" y="3614739"/>
            <a:ext cx="7010400" cy="833437"/>
          </a:xfrm>
          <a:prstGeom prst="rect">
            <a:avLst/>
          </a:prstGeom>
          <a:noFill/>
          <a:ln w="9525" cmpd="sng">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zh-CN" altLang="en-US" sz="4800">
                <a:solidFill>
                  <a:schemeClr val="accent2"/>
                </a:solidFill>
                <a:effectLst>
                  <a:outerShdw blurRad="38100" dist="38100" dir="2700000" algn="tl">
                    <a:srgbClr val="C0C0C0"/>
                  </a:outerShdw>
                </a:effectLst>
                <a:latin typeface="Arial" panose="020B0604020202020204" pitchFamily="34" charset="0"/>
                <a:ea typeface="华文新魏" panose="02010800040101010101" pitchFamily="2" charset="-122"/>
              </a:rPr>
              <a:t>第</a:t>
            </a:r>
            <a:r>
              <a:rPr lang="en-US" altLang="zh-CN" sz="4800">
                <a:solidFill>
                  <a:schemeClr val="accent2"/>
                </a:solidFill>
                <a:effectLst>
                  <a:outerShdw blurRad="38100" dist="38100" dir="2700000" algn="tl">
                    <a:srgbClr val="C0C0C0"/>
                  </a:outerShdw>
                </a:effectLst>
                <a:latin typeface="Arial" panose="020B0604020202020204" pitchFamily="34" charset="0"/>
                <a:ea typeface="华文新魏" panose="02010800040101010101" pitchFamily="2" charset="-122"/>
              </a:rPr>
              <a:t>1</a:t>
            </a:r>
            <a:r>
              <a:rPr lang="zh-CN" altLang="en-US" sz="4800">
                <a:solidFill>
                  <a:schemeClr val="accent2"/>
                </a:solidFill>
                <a:effectLst>
                  <a:outerShdw blurRad="38100" dist="38100" dir="2700000" algn="tl">
                    <a:srgbClr val="C0C0C0"/>
                  </a:outerShdw>
                </a:effectLst>
                <a:latin typeface="Arial" panose="020B0604020202020204" pitchFamily="34" charset="0"/>
                <a:ea typeface="华文新魏" panose="02010800040101010101" pitchFamily="2" charset="-122"/>
              </a:rPr>
              <a:t>章 概论</a:t>
            </a:r>
          </a:p>
        </p:txBody>
      </p:sp>
      <p:sp>
        <p:nvSpPr>
          <p:cNvPr id="2" name="Text Box 3"/>
          <p:cNvSpPr txBox="1">
            <a:spLocks noChangeArrowheads="1"/>
          </p:cNvSpPr>
          <p:nvPr/>
        </p:nvSpPr>
        <p:spPr bwMode="auto">
          <a:xfrm>
            <a:off x="3063876" y="4733926"/>
            <a:ext cx="6099175" cy="16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90000"/>
              </a:lnSpc>
              <a:spcBef>
                <a:spcPct val="40000"/>
              </a:spcBef>
            </a:pPr>
            <a:r>
              <a:rPr lang="zh-CN" altLang="en-US" sz="2900">
                <a:solidFill>
                  <a:schemeClr val="accent1"/>
                </a:solidFill>
                <a:ea typeface="华文楷体" panose="02010600040101010101" pitchFamily="2" charset="-122"/>
              </a:rPr>
              <a:t>主讲：陈剑波</a:t>
            </a:r>
          </a:p>
          <a:p>
            <a:pPr eaLnBrk="0" hangingPunct="0">
              <a:lnSpc>
                <a:spcPct val="90000"/>
              </a:lnSpc>
              <a:spcBef>
                <a:spcPct val="40000"/>
              </a:spcBef>
            </a:pPr>
            <a:r>
              <a:rPr lang="zh-CN" altLang="en-US" sz="2900">
                <a:solidFill>
                  <a:schemeClr val="accent1"/>
                </a:solidFill>
                <a:ea typeface="华文楷体" panose="02010600040101010101" pitchFamily="2" charset="-122"/>
              </a:rPr>
              <a:t>电话：13709088388</a:t>
            </a:r>
          </a:p>
          <a:p>
            <a:pPr eaLnBrk="0" hangingPunct="0">
              <a:lnSpc>
                <a:spcPct val="90000"/>
              </a:lnSpc>
              <a:spcBef>
                <a:spcPct val="40000"/>
              </a:spcBef>
            </a:pPr>
            <a:r>
              <a:rPr lang="zh-CN" altLang="en-US" sz="2900">
                <a:solidFill>
                  <a:schemeClr val="accent1"/>
                </a:solidFill>
                <a:ea typeface="华文楷体" panose="02010600040101010101" pitchFamily="2" charset="-122"/>
              </a:rPr>
              <a:t>邮件：293440@qq.com</a:t>
            </a:r>
          </a:p>
        </p:txBody>
      </p:sp>
    </p:spTree>
  </p:cSld>
  <p:clrMapOvr>
    <a:masterClrMapping/>
  </p:clrMapOvr>
  <mc:AlternateContent xmlns:mc="http://schemas.openxmlformats.org/markup-compatibility/2006" xmlns:p14="http://schemas.microsoft.com/office/powerpoint/2010/main">
    <mc:Choice Requires="p14">
      <p:transition spd="slow" p14:dur="999" advTm="4261"/>
    </mc:Choice>
    <mc:Fallback xmlns="">
      <p:transition spd="slow" advTm="426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4395788" y="1797844"/>
            <a:ext cx="4297362" cy="3262313"/>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49313" indent="-476250">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gn="just">
              <a:spcBef>
                <a:spcPct val="1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定义</a:t>
            </a:r>
          </a:p>
          <a:p>
            <a:pPr algn="just">
              <a:spcBef>
                <a:spcPct val="1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组成</a:t>
            </a:r>
          </a:p>
          <a:p>
            <a:pPr algn="just">
              <a:spcBef>
                <a:spcPct val="1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功能</a:t>
            </a:r>
          </a:p>
          <a:p>
            <a:pPr algn="just">
              <a:spcBef>
                <a:spcPct val="1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分类</a:t>
            </a:r>
          </a:p>
          <a:p>
            <a:pPr algn="just">
              <a:spcBef>
                <a:spcPct val="1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结构</a:t>
            </a:r>
          </a:p>
          <a:p>
            <a:pPr algn="just">
              <a:spcBef>
                <a:spcPct val="1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发展</a:t>
            </a:r>
          </a:p>
        </p:txBody>
      </p:sp>
      <p:sp>
        <p:nvSpPr>
          <p:cNvPr id="2" name="Rectangle 4"/>
          <p:cNvSpPr>
            <a:spLocks noChangeArrowheads="1"/>
          </p:cNvSpPr>
          <p:nvPr/>
        </p:nvSpPr>
        <p:spPr bwMode="auto">
          <a:xfrm>
            <a:off x="2952751" y="277814"/>
            <a:ext cx="6334125" cy="579437"/>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10000"/>
              </a:spcBef>
            </a:pPr>
            <a:r>
              <a:rPr lang="zh-CN" altLang="zh-CN" sz="3200">
                <a:solidFill>
                  <a:srgbClr val="000099"/>
                </a:solidFill>
                <a:ea typeface="华文楷体" panose="02010600040101010101" pitchFamily="2" charset="-122"/>
              </a:rPr>
              <a:t>主要内容</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blinds(horizontal)">
                                      <p:cBhvr>
                                        <p:cTn id="12" dur="500"/>
                                        <p:tgtEl>
                                          <p:spTgt spid="61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7" dur="500"/>
                                        <p:tgtEl>
                                          <p:spTgt spid="61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blinds(horizontal)">
                                      <p:cBhvr>
                                        <p:cTn id="22" dur="500"/>
                                        <p:tgtEl>
                                          <p:spTgt spid="61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7" dur="500"/>
                                        <p:tgtEl>
                                          <p:spTgt spid="614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blinds(horizontal)">
                                      <p:cBhvr>
                                        <p:cTn id="32" dur="500"/>
                                        <p:tgtEl>
                                          <p:spTgt spid="6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idx="4294967295"/>
          </p:nvPr>
        </p:nvSpPr>
        <p:spPr>
          <a:xfrm>
            <a:off x="0" y="246063"/>
            <a:ext cx="5962650" cy="617537"/>
          </a:xfrm>
        </p:spPr>
        <p:txBody>
          <a:bodyPr>
            <a:normAutofit fontScale="90000"/>
          </a:bodyPr>
          <a:lstStyle/>
          <a:p>
            <a:pPr eaLnBrk="1" hangingPunct="1"/>
            <a:r>
              <a:rPr lang="zh-CN" altLang="zh-CN" sz="4400" b="1">
                <a:ea typeface="华文楷体" panose="02010600040101010101" pitchFamily="2" charset="-122"/>
              </a:rPr>
              <a:t>1.1 计算机网络的定义</a:t>
            </a:r>
            <a:endParaRPr lang="zh-CN" altLang="zh-CN" sz="2800" b="1">
              <a:solidFill>
                <a:srgbClr val="CC3300"/>
              </a:solidFill>
              <a:latin typeface="华文新魏" panose="02010800040101010101" pitchFamily="2" charset="-122"/>
              <a:ea typeface="华文新魏" panose="02010800040101010101" pitchFamily="2" charset="-122"/>
            </a:endParaRPr>
          </a:p>
        </p:txBody>
      </p:sp>
      <p:sp>
        <p:nvSpPr>
          <p:cNvPr id="7171" name="Text Box 3"/>
          <p:cNvSpPr txBox="1">
            <a:spLocks noChangeArrowheads="1"/>
          </p:cNvSpPr>
          <p:nvPr/>
        </p:nvSpPr>
        <p:spPr bwMode="auto">
          <a:xfrm>
            <a:off x="109426" y="1493913"/>
            <a:ext cx="11706447" cy="2554545"/>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4000" u="sng">
                <a:solidFill>
                  <a:schemeClr val="accent2"/>
                </a:solidFill>
                <a:effectLst>
                  <a:outerShdw blurRad="38100" dist="38100" dir="2700000" algn="tl">
                    <a:srgbClr val="000000"/>
                  </a:outerShdw>
                </a:effectLst>
                <a:ea typeface="华文楷体" panose="02010600040101010101" pitchFamily="2" charset="-122"/>
              </a:rPr>
              <a:t>计算机网络</a:t>
            </a:r>
            <a:r>
              <a:rPr lang="zh-CN" altLang="en-US" sz="4000">
                <a:solidFill>
                  <a:schemeClr val="accent1"/>
                </a:solidFill>
                <a:ea typeface="华文楷体" panose="02010600040101010101" pitchFamily="2" charset="-122"/>
              </a:rPr>
              <a:t>是利用通信线路（连网设备）将地理上分散的、具有独立功能的许多计算机系统连接起来，按照某种协议进行数据通信，以实现资源共享的信息系统。</a:t>
            </a:r>
          </a:p>
        </p:txBody>
      </p:sp>
      <p:sp>
        <p:nvSpPr>
          <p:cNvPr id="2" name="Rectangle 4"/>
          <p:cNvSpPr>
            <a:spLocks noChangeArrowheads="1"/>
          </p:cNvSpPr>
          <p:nvPr/>
        </p:nvSpPr>
        <p:spPr bwMode="auto">
          <a:xfrm>
            <a:off x="3530600" y="3271838"/>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endParaRPr lang="zh-CN" altLang="en-US">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49" name="Rectangle 258"/>
          <p:cNvSpPr>
            <a:spLocks noGrp="1" noChangeArrowheads="1"/>
          </p:cNvSpPr>
          <p:nvPr>
            <p:ph type="title"/>
          </p:nvPr>
        </p:nvSpPr>
        <p:spPr>
          <a:xfrm>
            <a:off x="2209800" y="180975"/>
            <a:ext cx="7772400" cy="692150"/>
          </a:xfrm>
        </p:spPr>
        <p:txBody>
          <a:bodyPr>
            <a:normAutofit fontScale="90000"/>
          </a:bodyPr>
          <a:lstStyle/>
          <a:p>
            <a:pPr algn="ctr" eaLnBrk="1" hangingPunct="1"/>
            <a:r>
              <a:rPr lang="zh-CN" altLang="zh-CN" sz="4400">
                <a:ea typeface="华文楷体" panose="02010600040101010101" pitchFamily="2" charset="-122"/>
              </a:rPr>
              <a:t>什么是计算机网络</a:t>
            </a:r>
          </a:p>
        </p:txBody>
      </p:sp>
      <p:sp>
        <p:nvSpPr>
          <p:cNvPr id="8194" name="Rectangle 2"/>
          <p:cNvSpPr>
            <a:spLocks noGrp="1" noChangeArrowheads="1"/>
          </p:cNvSpPr>
          <p:nvPr>
            <p:ph sz="half" idx="1"/>
          </p:nvPr>
        </p:nvSpPr>
        <p:spPr>
          <a:xfrm>
            <a:off x="706619" y="1614283"/>
            <a:ext cx="4974765" cy="4229100"/>
          </a:xfrm>
          <a:solidFill>
            <a:srgbClr val="DDDDDD"/>
          </a:solidFill>
          <a:ln>
            <a:solidFill>
              <a:srgbClr val="CCFFFF"/>
            </a:solidFill>
            <a:miter lim="800000"/>
            <a:headEnd/>
            <a:tailEnd/>
          </a:ln>
          <a:effectLst>
            <a:outerShdw dist="107763" dir="2700000" algn="ctr" rotWithShape="0">
              <a:schemeClr val="bg2"/>
            </a:outerShdw>
          </a:effectLst>
        </p:spPr>
        <p:txBody>
          <a:bodyPr/>
          <a:lstStyle/>
          <a:p>
            <a:pPr eaLnBrk="1" hangingPunct="1"/>
            <a:r>
              <a:rPr lang="zh-CN" altLang="zh-CN" sz="2000" b="1">
                <a:solidFill>
                  <a:schemeClr val="accent1"/>
                </a:solidFill>
                <a:ea typeface="华文楷体" panose="02010600040101010101" pitchFamily="2" charset="-122"/>
              </a:rPr>
              <a:t>连接数以万计的设备： </a:t>
            </a:r>
          </a:p>
          <a:p>
            <a:pPr lvl="1" eaLnBrk="1" hangingPunct="1"/>
            <a:r>
              <a:rPr lang="zh-CN" altLang="zh-CN" sz="2200" b="1">
                <a:solidFill>
                  <a:schemeClr val="accent1"/>
                </a:solidFill>
                <a:ea typeface="华文楷体" panose="02010600040101010101" pitchFamily="2" charset="-122"/>
              </a:rPr>
              <a:t>host，end-system</a:t>
            </a:r>
          </a:p>
          <a:p>
            <a:pPr lvl="1" eaLnBrk="1" hangingPunct="1"/>
            <a:r>
              <a:rPr lang="en-US" altLang="zh-CN" sz="2200" b="1">
                <a:solidFill>
                  <a:schemeClr val="accent1"/>
                </a:solidFill>
                <a:ea typeface="华文楷体" panose="02010600040101010101" pitchFamily="2" charset="-122"/>
              </a:rPr>
              <a:t>PC</a:t>
            </a:r>
            <a:r>
              <a:rPr lang="zh-CN" altLang="en-US" sz="2200" b="1">
                <a:solidFill>
                  <a:schemeClr val="accent1"/>
                </a:solidFill>
                <a:ea typeface="华文楷体" panose="02010600040101010101" pitchFamily="2" charset="-122"/>
              </a:rPr>
              <a:t>，</a:t>
            </a:r>
            <a:r>
              <a:rPr lang="zh-CN" altLang="zh-CN" sz="2200" b="1">
                <a:solidFill>
                  <a:schemeClr val="accent1"/>
                </a:solidFill>
                <a:ea typeface="华文楷体" panose="02010600040101010101" pitchFamily="2" charset="-122"/>
              </a:rPr>
              <a:t>workstation，server</a:t>
            </a:r>
          </a:p>
          <a:p>
            <a:pPr lvl="1" eaLnBrk="1" hangingPunct="1"/>
            <a:r>
              <a:rPr lang="zh-CN" altLang="zh-CN" sz="2200" b="1">
                <a:solidFill>
                  <a:schemeClr val="accent1"/>
                </a:solidFill>
                <a:ea typeface="华文楷体" panose="02010600040101010101" pitchFamily="2" charset="-122"/>
              </a:rPr>
              <a:t>PDA</a:t>
            </a:r>
            <a:r>
              <a:rPr lang="zh-CN" altLang="en-US" sz="2200" b="1">
                <a:solidFill>
                  <a:schemeClr val="accent1"/>
                </a:solidFill>
                <a:ea typeface="华文楷体" panose="02010600040101010101" pitchFamily="2" charset="-122"/>
              </a:rPr>
              <a:t>，</a:t>
            </a:r>
            <a:r>
              <a:rPr lang="zh-CN" altLang="zh-CN" sz="2200" b="1">
                <a:solidFill>
                  <a:schemeClr val="accent1"/>
                </a:solidFill>
                <a:ea typeface="华文楷体" panose="02010600040101010101" pitchFamily="2" charset="-122"/>
              </a:rPr>
              <a:t>phone</a:t>
            </a:r>
            <a:endParaRPr lang="zh-CN" altLang="zh-CN" sz="1800" b="1">
              <a:solidFill>
                <a:schemeClr val="accent1"/>
              </a:solidFill>
              <a:ea typeface="华文楷体" panose="02010600040101010101" pitchFamily="2" charset="-122"/>
            </a:endParaRPr>
          </a:p>
          <a:p>
            <a:pPr eaLnBrk="1" hangingPunct="1">
              <a:buClr>
                <a:schemeClr val="folHlink"/>
              </a:buClr>
            </a:pPr>
            <a:r>
              <a:rPr lang="zh-CN" altLang="zh-CN" sz="2000" b="1">
                <a:solidFill>
                  <a:schemeClr val="accent1"/>
                </a:solidFill>
                <a:ea typeface="华文楷体" panose="02010600040101010101" pitchFamily="2" charset="-122"/>
              </a:rPr>
              <a:t>运行 网络应用</a:t>
            </a:r>
          </a:p>
          <a:p>
            <a:pPr eaLnBrk="1" hangingPunct="1"/>
            <a:r>
              <a:rPr lang="zh-CN" altLang="zh-CN" sz="2000" b="1">
                <a:solidFill>
                  <a:schemeClr val="accent1"/>
                </a:solidFill>
                <a:ea typeface="华文楷体" panose="02010600040101010101" pitchFamily="2" charset="-122"/>
              </a:rPr>
              <a:t>通信线路</a:t>
            </a:r>
          </a:p>
          <a:p>
            <a:pPr lvl="1" eaLnBrk="1" hangingPunct="1"/>
            <a:r>
              <a:rPr lang="zh-CN" altLang="zh-CN" sz="2200" b="1">
                <a:solidFill>
                  <a:schemeClr val="accent1"/>
                </a:solidFill>
                <a:ea typeface="华文楷体" panose="02010600040101010101" pitchFamily="2" charset="-122"/>
              </a:rPr>
              <a:t>fiber， copper， radio， satellite</a:t>
            </a:r>
          </a:p>
          <a:p>
            <a:pPr eaLnBrk="1" hangingPunct="1"/>
            <a:r>
              <a:rPr lang="zh-CN" altLang="zh-CN" sz="2000" b="1">
                <a:solidFill>
                  <a:schemeClr val="accent1"/>
                </a:solidFill>
                <a:ea typeface="华文楷体" panose="02010600040101010101" pitchFamily="2" charset="-122"/>
              </a:rPr>
              <a:t>routers： 通过网络转发数据报文 </a:t>
            </a:r>
          </a:p>
        </p:txBody>
      </p:sp>
      <p:grpSp>
        <p:nvGrpSpPr>
          <p:cNvPr id="2" name="Group 3"/>
          <p:cNvGrpSpPr>
            <a:grpSpLocks/>
          </p:cNvGrpSpPr>
          <p:nvPr/>
        </p:nvGrpSpPr>
        <p:grpSpPr bwMode="auto">
          <a:xfrm>
            <a:off x="6096000" y="1446213"/>
            <a:ext cx="5217042" cy="4965700"/>
            <a:chOff x="0" y="0"/>
            <a:chExt cx="2641" cy="3720"/>
          </a:xfrm>
        </p:grpSpPr>
        <p:sp>
          <p:nvSpPr>
            <p:cNvPr id="8195" name="未知"/>
            <p:cNvSpPr>
              <a:spLocks noChangeArrowheads="1"/>
            </p:cNvSpPr>
            <p:nvPr/>
          </p:nvSpPr>
          <p:spPr bwMode="auto">
            <a:xfrm>
              <a:off x="1349" y="1052"/>
              <a:ext cx="1292" cy="1255"/>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sp>
          <p:nvSpPr>
            <p:cNvPr id="8196" name="未知"/>
            <p:cNvSpPr>
              <a:spLocks noChangeArrowheads="1"/>
            </p:cNvSpPr>
            <p:nvPr/>
          </p:nvSpPr>
          <p:spPr bwMode="auto">
            <a:xfrm>
              <a:off x="0" y="945"/>
              <a:ext cx="1340" cy="1191"/>
            </a:xfrm>
            <a:custGeom>
              <a:avLst/>
              <a:gdLst>
                <a:gd name="T0" fmla="*/ 550 w 1340"/>
                <a:gd name="T1" fmla="*/ 42 h 1191"/>
                <a:gd name="T2" fmla="*/ 82 w 1340"/>
                <a:gd name="T3" fmla="*/ 60 h 1191"/>
                <a:gd name="T4" fmla="*/ 58 w 1340"/>
                <a:gd name="T5" fmla="*/ 402 h 1191"/>
                <a:gd name="T6" fmla="*/ 28 w 1340"/>
                <a:gd name="T7" fmla="*/ 720 h 1191"/>
                <a:gd name="T8" fmla="*/ 112 w 1340"/>
                <a:gd name="T9" fmla="*/ 870 h 1191"/>
                <a:gd name="T10" fmla="*/ 538 w 1340"/>
                <a:gd name="T11" fmla="*/ 876 h 1191"/>
                <a:gd name="T12" fmla="*/ 640 w 1340"/>
                <a:gd name="T13" fmla="*/ 1128 h 1191"/>
                <a:gd name="T14" fmla="*/ 1234 w 1340"/>
                <a:gd name="T15" fmla="*/ 1098 h 1191"/>
                <a:gd name="T16" fmla="*/ 1276 w 1340"/>
                <a:gd name="T17" fmla="*/ 570 h 1191"/>
                <a:gd name="T18" fmla="*/ 1204 w 1340"/>
                <a:gd name="T19" fmla="*/ 342 h 1191"/>
                <a:gd name="T20" fmla="*/ 760 w 1340"/>
                <a:gd name="T21" fmla="*/ 288 h 1191"/>
                <a:gd name="T22" fmla="*/ 550 w 1340"/>
                <a:gd name="T23" fmla="*/ 42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sp>
          <p:nvSpPr>
            <p:cNvPr id="8197" name="未知"/>
            <p:cNvSpPr>
              <a:spLocks noChangeArrowheads="1"/>
            </p:cNvSpPr>
            <p:nvPr/>
          </p:nvSpPr>
          <p:spPr bwMode="auto">
            <a:xfrm>
              <a:off x="265" y="2033"/>
              <a:ext cx="2135" cy="1662"/>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8198" name="Group 7"/>
            <p:cNvGrpSpPr>
              <a:grpSpLocks/>
            </p:cNvGrpSpPr>
            <p:nvPr/>
          </p:nvGrpSpPr>
          <p:grpSpPr bwMode="auto">
            <a:xfrm>
              <a:off x="84" y="1047"/>
              <a:ext cx="527" cy="239"/>
              <a:chOff x="0" y="0"/>
              <a:chExt cx="527" cy="248"/>
            </a:xfrm>
          </p:grpSpPr>
          <p:graphicFrame>
            <p:nvGraphicFramePr>
              <p:cNvPr id="8199" name="Object 8"/>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78878" r:id="rId3" imgW="1305626" imgH="1082835" progId="MS_ClipArt_Gallery.2">
                      <p:embed/>
                    </p:oleObj>
                  </mc:Choice>
                  <mc:Fallback>
                    <p:oleObj r:id="rId3" imgW="1305626" imgH="1082835" progId="MS_ClipArt_Gallery.2">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00" name="Object 9"/>
              <p:cNvGraphicFramePr>
                <a:graphicFrameLocks noChangeAspect="1"/>
              </p:cNvGraphicFramePr>
              <p:nvPr/>
            </p:nvGraphicFramePr>
            <p:xfrm>
              <a:off x="326" y="92"/>
              <a:ext cx="201" cy="144"/>
            </p:xfrm>
            <a:graphic>
              <a:graphicData uri="http://schemas.openxmlformats.org/presentationml/2006/ole">
                <mc:AlternateContent xmlns:mc="http://schemas.openxmlformats.org/markup-compatibility/2006">
                  <mc:Choice xmlns:v="urn:schemas-microsoft-com:vml" Requires="v">
                    <p:oleObj spid="_x0000_s78879" r:id="rId5" imgW="682023" imgH="480718" progId="MS_ClipArt_Gallery.2">
                      <p:embed/>
                    </p:oleObj>
                  </mc:Choice>
                  <mc:Fallback>
                    <p:oleObj r:id="rId5" imgW="682023" imgH="480718" progId="MS_ClipArt_Gallery.2">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 y="92"/>
                            <a:ext cx="2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01" name="Line 10"/>
              <p:cNvSpPr>
                <a:spLocks noChangeShapeType="1"/>
              </p:cNvSpPr>
              <p:nvPr/>
            </p:nvSpPr>
            <p:spPr bwMode="auto">
              <a:xfrm flipV="1">
                <a:off x="292" y="188"/>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202" name="Group 11"/>
            <p:cNvGrpSpPr>
              <a:grpSpLocks/>
            </p:cNvGrpSpPr>
            <p:nvPr/>
          </p:nvGrpSpPr>
          <p:grpSpPr bwMode="auto">
            <a:xfrm>
              <a:off x="84" y="1493"/>
              <a:ext cx="527" cy="239"/>
              <a:chOff x="0" y="0"/>
              <a:chExt cx="527" cy="248"/>
            </a:xfrm>
          </p:grpSpPr>
          <p:graphicFrame>
            <p:nvGraphicFramePr>
              <p:cNvPr id="8203" name="Object 12"/>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78880" r:id="rId7" imgW="1305626" imgH="1082835" progId="MS_ClipArt_Gallery.2">
                      <p:embed/>
                    </p:oleObj>
                  </mc:Choice>
                  <mc:Fallback>
                    <p:oleObj r:id="rId7" imgW="1305626" imgH="1082835" progId="MS_ClipArt_Gallery.2">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04" name="Object 13"/>
              <p:cNvGraphicFramePr>
                <a:graphicFrameLocks noChangeAspect="1"/>
              </p:cNvGraphicFramePr>
              <p:nvPr/>
            </p:nvGraphicFramePr>
            <p:xfrm>
              <a:off x="326" y="92"/>
              <a:ext cx="201" cy="144"/>
            </p:xfrm>
            <a:graphic>
              <a:graphicData uri="http://schemas.openxmlformats.org/presentationml/2006/ole">
                <mc:AlternateContent xmlns:mc="http://schemas.openxmlformats.org/markup-compatibility/2006">
                  <mc:Choice xmlns:v="urn:schemas-microsoft-com:vml" Requires="v">
                    <p:oleObj spid="_x0000_s78881" r:id="rId8" imgW="682023" imgH="480718" progId="MS_ClipArt_Gallery.2">
                      <p:embed/>
                    </p:oleObj>
                  </mc:Choice>
                  <mc:Fallback>
                    <p:oleObj r:id="rId8" imgW="682023" imgH="480718" progId="MS_ClipArt_Gallery.2">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 y="92"/>
                            <a:ext cx="2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05" name="Line 14"/>
              <p:cNvSpPr>
                <a:spLocks noChangeShapeType="1"/>
              </p:cNvSpPr>
              <p:nvPr/>
            </p:nvSpPr>
            <p:spPr bwMode="auto">
              <a:xfrm flipV="1">
                <a:off x="292" y="188"/>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206" name="Group 15"/>
            <p:cNvGrpSpPr>
              <a:grpSpLocks/>
            </p:cNvGrpSpPr>
            <p:nvPr/>
          </p:nvGrpSpPr>
          <p:grpSpPr bwMode="auto">
            <a:xfrm>
              <a:off x="354" y="1333"/>
              <a:ext cx="51" cy="161"/>
              <a:chOff x="0" y="0"/>
              <a:chExt cx="51" cy="167"/>
            </a:xfrm>
          </p:grpSpPr>
          <p:sp>
            <p:nvSpPr>
              <p:cNvPr id="8207" name="Oval 16"/>
              <p:cNvSpPr>
                <a:spLocks noChangeArrowheads="1"/>
              </p:cNvSpPr>
              <p:nvPr/>
            </p:nvSpPr>
            <p:spPr bwMode="auto">
              <a:xfrm>
                <a:off x="0" y="0"/>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08" name="Oval 17"/>
              <p:cNvSpPr>
                <a:spLocks noChangeArrowheads="1"/>
              </p:cNvSpPr>
              <p:nvPr/>
            </p:nvSpPr>
            <p:spPr bwMode="auto">
              <a:xfrm>
                <a:off x="2" y="60"/>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09" name="Oval 18"/>
              <p:cNvSpPr>
                <a:spLocks noChangeArrowheads="1"/>
              </p:cNvSpPr>
              <p:nvPr/>
            </p:nvSpPr>
            <p:spPr bwMode="auto">
              <a:xfrm>
                <a:off x="4" y="120"/>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8210" name="Group 19"/>
            <p:cNvGrpSpPr>
              <a:grpSpLocks/>
            </p:cNvGrpSpPr>
            <p:nvPr/>
          </p:nvGrpSpPr>
          <p:grpSpPr bwMode="auto">
            <a:xfrm>
              <a:off x="692" y="1710"/>
              <a:ext cx="150" cy="296"/>
              <a:chOff x="0" y="0"/>
              <a:chExt cx="150" cy="307"/>
            </a:xfrm>
          </p:grpSpPr>
          <p:sp>
            <p:nvSpPr>
              <p:cNvPr id="8211" name="AutoShape 20"/>
              <p:cNvSpPr>
                <a:spLocks noChangeArrowheads="1"/>
              </p:cNvSpPr>
              <p:nvPr/>
            </p:nvSpPr>
            <p:spPr bwMode="auto">
              <a:xfrm>
                <a:off x="0" y="236"/>
                <a:ext cx="150" cy="71"/>
              </a:xfrm>
              <a:prstGeom prst="parallelogram">
                <a:avLst>
                  <a:gd name="adj" fmla="val 8138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12" name="Rectangle 21"/>
              <p:cNvSpPr>
                <a:spLocks noChangeArrowheads="1"/>
              </p:cNvSpPr>
              <p:nvPr/>
            </p:nvSpPr>
            <p:spPr bwMode="auto">
              <a:xfrm>
                <a:off x="76" y="2"/>
                <a:ext cx="6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13" name="Rectangle 22"/>
              <p:cNvSpPr>
                <a:spLocks noChangeArrowheads="1"/>
              </p:cNvSpPr>
              <p:nvPr/>
            </p:nvSpPr>
            <p:spPr bwMode="auto">
              <a:xfrm>
                <a:off x="1" y="69"/>
                <a:ext cx="95" cy="2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14" name="AutoShape 23"/>
              <p:cNvSpPr>
                <a:spLocks noChangeArrowheads="1"/>
              </p:cNvSpPr>
              <p:nvPr/>
            </p:nvSpPr>
            <p:spPr bwMode="auto">
              <a:xfrm>
                <a:off x="0" y="0"/>
                <a:ext cx="150" cy="71"/>
              </a:xfrm>
              <a:prstGeom prst="parallelogram">
                <a:avLst>
                  <a:gd name="adj" fmla="val 8138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15" name="Line 24"/>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16" name="Line 25"/>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17" name="Rectangle 26"/>
              <p:cNvSpPr>
                <a:spLocks noChangeArrowheads="1"/>
              </p:cNvSpPr>
              <p:nvPr/>
            </p:nvSpPr>
            <p:spPr bwMode="auto">
              <a:xfrm>
                <a:off x="13" y="100"/>
                <a:ext cx="63"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18" name="Rectangle 27"/>
              <p:cNvSpPr>
                <a:spLocks noChangeArrowheads="1"/>
              </p:cNvSpPr>
              <p:nvPr/>
            </p:nvSpPr>
            <p:spPr bwMode="auto">
              <a:xfrm>
                <a:off x="22" y="141"/>
                <a:ext cx="48"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8219" name="Group 28"/>
            <p:cNvGrpSpPr>
              <a:grpSpLocks/>
            </p:cNvGrpSpPr>
            <p:nvPr/>
          </p:nvGrpSpPr>
          <p:grpSpPr bwMode="auto">
            <a:xfrm rot="-5400000">
              <a:off x="904" y="1761"/>
              <a:ext cx="61" cy="167"/>
              <a:chOff x="0" y="0"/>
              <a:chExt cx="51" cy="167"/>
            </a:xfrm>
          </p:grpSpPr>
          <p:sp>
            <p:nvSpPr>
              <p:cNvPr id="8220" name="Oval 29"/>
              <p:cNvSpPr>
                <a:spLocks noChangeArrowheads="1"/>
              </p:cNvSpPr>
              <p:nvPr/>
            </p:nvSpPr>
            <p:spPr bwMode="auto">
              <a:xfrm>
                <a:off x="0" y="0"/>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21" name="Oval 30"/>
              <p:cNvSpPr>
                <a:spLocks noChangeArrowheads="1"/>
              </p:cNvSpPr>
              <p:nvPr/>
            </p:nvSpPr>
            <p:spPr bwMode="auto">
              <a:xfrm>
                <a:off x="2" y="60"/>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22" name="Oval 31"/>
              <p:cNvSpPr>
                <a:spLocks noChangeArrowheads="1"/>
              </p:cNvSpPr>
              <p:nvPr/>
            </p:nvSpPr>
            <p:spPr bwMode="auto">
              <a:xfrm>
                <a:off x="4" y="120"/>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8223" name="Line 32"/>
            <p:cNvSpPr>
              <a:spLocks noChangeShapeType="1"/>
            </p:cNvSpPr>
            <p:nvPr/>
          </p:nvSpPr>
          <p:spPr bwMode="auto">
            <a:xfrm>
              <a:off x="790" y="1641"/>
              <a:ext cx="356"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24" name="Line 33"/>
            <p:cNvSpPr>
              <a:spLocks noChangeShapeType="1"/>
            </p:cNvSpPr>
            <p:nvPr/>
          </p:nvSpPr>
          <p:spPr bwMode="auto">
            <a:xfrm>
              <a:off x="792" y="1639"/>
              <a:ext cx="1" cy="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25" name="Line 34"/>
            <p:cNvSpPr>
              <a:spLocks noChangeShapeType="1"/>
            </p:cNvSpPr>
            <p:nvPr/>
          </p:nvSpPr>
          <p:spPr bwMode="auto">
            <a:xfrm>
              <a:off x="1148" y="1637"/>
              <a:ext cx="1" cy="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26" name="Line 35"/>
            <p:cNvSpPr>
              <a:spLocks noChangeShapeType="1"/>
            </p:cNvSpPr>
            <p:nvPr/>
          </p:nvSpPr>
          <p:spPr bwMode="auto">
            <a:xfrm>
              <a:off x="574" y="1237"/>
              <a:ext cx="208" cy="1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27" name="Line 36"/>
            <p:cNvSpPr>
              <a:spLocks noChangeShapeType="1"/>
            </p:cNvSpPr>
            <p:nvPr/>
          </p:nvSpPr>
          <p:spPr bwMode="auto">
            <a:xfrm flipV="1">
              <a:off x="584" y="1451"/>
              <a:ext cx="198" cy="24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28" name="Line 37"/>
            <p:cNvSpPr>
              <a:spLocks noChangeShapeType="1"/>
            </p:cNvSpPr>
            <p:nvPr/>
          </p:nvSpPr>
          <p:spPr bwMode="auto">
            <a:xfrm flipV="1">
              <a:off x="962" y="1515"/>
              <a:ext cx="1" cy="1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8229" name="Group 38"/>
            <p:cNvGrpSpPr>
              <a:grpSpLocks/>
            </p:cNvGrpSpPr>
            <p:nvPr/>
          </p:nvGrpSpPr>
          <p:grpSpPr bwMode="auto">
            <a:xfrm>
              <a:off x="1048" y="1694"/>
              <a:ext cx="150" cy="296"/>
              <a:chOff x="0" y="0"/>
              <a:chExt cx="150" cy="307"/>
            </a:xfrm>
          </p:grpSpPr>
          <p:sp>
            <p:nvSpPr>
              <p:cNvPr id="8230" name="AutoShape 39"/>
              <p:cNvSpPr>
                <a:spLocks noChangeArrowheads="1"/>
              </p:cNvSpPr>
              <p:nvPr/>
            </p:nvSpPr>
            <p:spPr bwMode="auto">
              <a:xfrm>
                <a:off x="0" y="236"/>
                <a:ext cx="150" cy="71"/>
              </a:xfrm>
              <a:prstGeom prst="parallelogram">
                <a:avLst>
                  <a:gd name="adj" fmla="val 8138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31" name="Rectangle 40"/>
              <p:cNvSpPr>
                <a:spLocks noChangeArrowheads="1"/>
              </p:cNvSpPr>
              <p:nvPr/>
            </p:nvSpPr>
            <p:spPr bwMode="auto">
              <a:xfrm>
                <a:off x="76" y="2"/>
                <a:ext cx="6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32" name="Rectangle 41"/>
              <p:cNvSpPr>
                <a:spLocks noChangeArrowheads="1"/>
              </p:cNvSpPr>
              <p:nvPr/>
            </p:nvSpPr>
            <p:spPr bwMode="auto">
              <a:xfrm>
                <a:off x="1" y="69"/>
                <a:ext cx="95" cy="2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33" name="AutoShape 42"/>
              <p:cNvSpPr>
                <a:spLocks noChangeArrowheads="1"/>
              </p:cNvSpPr>
              <p:nvPr/>
            </p:nvSpPr>
            <p:spPr bwMode="auto">
              <a:xfrm>
                <a:off x="0" y="0"/>
                <a:ext cx="150" cy="71"/>
              </a:xfrm>
              <a:prstGeom prst="parallelogram">
                <a:avLst>
                  <a:gd name="adj" fmla="val 8138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34" name="Line 43"/>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35" name="Line 44"/>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36" name="Rectangle 45"/>
              <p:cNvSpPr>
                <a:spLocks noChangeArrowheads="1"/>
              </p:cNvSpPr>
              <p:nvPr/>
            </p:nvSpPr>
            <p:spPr bwMode="auto">
              <a:xfrm>
                <a:off x="13" y="100"/>
                <a:ext cx="63"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37" name="Rectangle 46"/>
              <p:cNvSpPr>
                <a:spLocks noChangeArrowheads="1"/>
              </p:cNvSpPr>
              <p:nvPr/>
            </p:nvSpPr>
            <p:spPr bwMode="auto">
              <a:xfrm>
                <a:off x="22" y="141"/>
                <a:ext cx="48"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8238" name="Group 47"/>
            <p:cNvGrpSpPr>
              <a:grpSpLocks/>
            </p:cNvGrpSpPr>
            <p:nvPr/>
          </p:nvGrpSpPr>
          <p:grpSpPr bwMode="auto">
            <a:xfrm>
              <a:off x="360" y="2157"/>
              <a:ext cx="344" cy="694"/>
              <a:chOff x="0" y="0"/>
              <a:chExt cx="344" cy="694"/>
            </a:xfrm>
          </p:grpSpPr>
          <p:graphicFrame>
            <p:nvGraphicFramePr>
              <p:cNvPr id="8239" name="Object 48"/>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78882" r:id="rId9" imgW="1305626" imgH="1082835" progId="MS_ClipArt_Gallery.2">
                      <p:embed/>
                    </p:oleObj>
                  </mc:Choice>
                  <mc:Fallback>
                    <p:oleObj r:id="rId9" imgW="1305626" imgH="1082835" progId="MS_ClipArt_Gallery.2">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40" name="Line 49"/>
              <p:cNvSpPr>
                <a:spLocks noChangeShapeType="1"/>
              </p:cNvSpPr>
              <p:nvPr/>
            </p:nvSpPr>
            <p:spPr bwMode="auto">
              <a:xfrm flipV="1">
                <a:off x="292" y="185"/>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8241" name="Object 50"/>
              <p:cNvGraphicFramePr>
                <a:graphicFrameLocks noChangeAspect="1"/>
              </p:cNvGraphicFramePr>
              <p:nvPr/>
            </p:nvGraphicFramePr>
            <p:xfrm>
              <a:off x="0" y="446"/>
              <a:ext cx="299" cy="248"/>
            </p:xfrm>
            <a:graphic>
              <a:graphicData uri="http://schemas.openxmlformats.org/presentationml/2006/ole">
                <mc:AlternateContent xmlns:mc="http://schemas.openxmlformats.org/markup-compatibility/2006">
                  <mc:Choice xmlns:v="urn:schemas-microsoft-com:vml" Requires="v">
                    <p:oleObj spid="_x0000_s78883" r:id="rId10" imgW="1305626" imgH="1082835" progId="MS_ClipArt_Gallery.2">
                      <p:embed/>
                    </p:oleObj>
                  </mc:Choice>
                  <mc:Fallback>
                    <p:oleObj r:id="rId10" imgW="1305626" imgH="1082835" progId="MS_ClipArt_Gallery.2">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46"/>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42" name="Line 51"/>
              <p:cNvSpPr>
                <a:spLocks noChangeShapeType="1"/>
              </p:cNvSpPr>
              <p:nvPr/>
            </p:nvSpPr>
            <p:spPr bwMode="auto">
              <a:xfrm flipV="1">
                <a:off x="292" y="634"/>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8243" name="Group 52"/>
              <p:cNvGrpSpPr>
                <a:grpSpLocks/>
              </p:cNvGrpSpPr>
              <p:nvPr/>
            </p:nvGrpSpPr>
            <p:grpSpPr bwMode="auto">
              <a:xfrm>
                <a:off x="90" y="256"/>
                <a:ext cx="51" cy="167"/>
                <a:chOff x="0" y="0"/>
                <a:chExt cx="51" cy="167"/>
              </a:xfrm>
            </p:grpSpPr>
            <p:sp>
              <p:nvSpPr>
                <p:cNvPr id="8244" name="Oval 53"/>
                <p:cNvSpPr>
                  <a:spLocks noChangeArrowheads="1"/>
                </p:cNvSpPr>
                <p:nvPr/>
              </p:nvSpPr>
              <p:spPr bwMode="auto">
                <a:xfrm>
                  <a:off x="0" y="0"/>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45" name="Oval 54"/>
                <p:cNvSpPr>
                  <a:spLocks noChangeArrowheads="1"/>
                </p:cNvSpPr>
                <p:nvPr/>
              </p:nvSpPr>
              <p:spPr bwMode="auto">
                <a:xfrm>
                  <a:off x="2" y="60"/>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46" name="Oval 55"/>
                <p:cNvSpPr>
                  <a:spLocks noChangeArrowheads="1"/>
                </p:cNvSpPr>
                <p:nvPr/>
              </p:nvSpPr>
              <p:spPr bwMode="auto">
                <a:xfrm>
                  <a:off x="4" y="120"/>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8247" name="Line 56"/>
              <p:cNvSpPr>
                <a:spLocks noChangeShapeType="1"/>
              </p:cNvSpPr>
              <p:nvPr/>
            </p:nvSpPr>
            <p:spPr bwMode="auto">
              <a:xfrm>
                <a:off x="340" y="183"/>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aphicFrame>
          <p:nvGraphicFramePr>
            <p:cNvPr id="8248" name="Object 57"/>
            <p:cNvGraphicFramePr>
              <a:graphicFrameLocks noChangeAspect="1"/>
            </p:cNvGraphicFramePr>
            <p:nvPr/>
          </p:nvGraphicFramePr>
          <p:xfrm>
            <a:off x="984" y="2914"/>
            <a:ext cx="299" cy="248"/>
          </p:xfrm>
          <a:graphic>
            <a:graphicData uri="http://schemas.openxmlformats.org/presentationml/2006/ole">
              <mc:AlternateContent xmlns:mc="http://schemas.openxmlformats.org/markup-compatibility/2006">
                <mc:Choice xmlns:v="urn:schemas-microsoft-com:vml" Requires="v">
                  <p:oleObj spid="_x0000_s78884" r:id="rId11" imgW="1305626" imgH="1082835" progId="MS_ClipArt_Gallery.2">
                    <p:embed/>
                  </p:oleObj>
                </mc:Choice>
                <mc:Fallback>
                  <p:oleObj r:id="rId11" imgW="1305626" imgH="1082835" progId="MS_ClipArt_Gallery.2">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 y="2914"/>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49" name="Object 58"/>
            <p:cNvGraphicFramePr>
              <a:graphicFrameLocks noChangeAspect="1"/>
            </p:cNvGraphicFramePr>
            <p:nvPr/>
          </p:nvGraphicFramePr>
          <p:xfrm>
            <a:off x="542" y="2905"/>
            <a:ext cx="299" cy="248"/>
          </p:xfrm>
          <a:graphic>
            <a:graphicData uri="http://schemas.openxmlformats.org/presentationml/2006/ole">
              <mc:AlternateContent xmlns:mc="http://schemas.openxmlformats.org/markup-compatibility/2006">
                <mc:Choice xmlns:v="urn:schemas-microsoft-com:vml" Requires="v">
                  <p:oleObj spid="_x0000_s78885" r:id="rId12" imgW="1305626" imgH="1082835" progId="MS_ClipArt_Gallery.2">
                    <p:embed/>
                  </p:oleObj>
                </mc:Choice>
                <mc:Fallback>
                  <p:oleObj r:id="rId12" imgW="1305626" imgH="1082835" progId="MS_ClipArt_Gallery.2">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 y="2905"/>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50" name="Oval 59"/>
            <p:cNvSpPr>
              <a:spLocks noChangeArrowheads="1"/>
            </p:cNvSpPr>
            <p:nvPr/>
          </p:nvSpPr>
          <p:spPr bwMode="auto">
            <a:xfrm rot="-5400000">
              <a:off x="830" y="2973"/>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51" name="Oval 60"/>
            <p:cNvSpPr>
              <a:spLocks noChangeArrowheads="1"/>
            </p:cNvSpPr>
            <p:nvPr/>
          </p:nvSpPr>
          <p:spPr bwMode="auto">
            <a:xfrm rot="-5400000">
              <a:off x="891" y="2972"/>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52" name="Oval 61"/>
            <p:cNvSpPr>
              <a:spLocks noChangeArrowheads="1"/>
            </p:cNvSpPr>
            <p:nvPr/>
          </p:nvSpPr>
          <p:spPr bwMode="auto">
            <a:xfrm rot="-5400000">
              <a:off x="946" y="2975"/>
              <a:ext cx="47" cy="4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53" name="Line 62"/>
            <p:cNvSpPr>
              <a:spLocks noChangeShapeType="1"/>
            </p:cNvSpPr>
            <p:nvPr/>
          </p:nvSpPr>
          <p:spPr bwMode="auto">
            <a:xfrm rot="-5400000">
              <a:off x="1133" y="2884"/>
              <a:ext cx="4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54" name="Line 63"/>
            <p:cNvSpPr>
              <a:spLocks noChangeShapeType="1"/>
            </p:cNvSpPr>
            <p:nvPr/>
          </p:nvSpPr>
          <p:spPr bwMode="auto">
            <a:xfrm rot="5400000" flipH="1">
              <a:off x="683" y="2878"/>
              <a:ext cx="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55" name="Line 64"/>
            <p:cNvSpPr>
              <a:spLocks noChangeShapeType="1"/>
            </p:cNvSpPr>
            <p:nvPr/>
          </p:nvSpPr>
          <p:spPr bwMode="auto">
            <a:xfrm rot="16200000" flipV="1">
              <a:off x="944" y="2645"/>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56" name="Line 65"/>
            <p:cNvSpPr>
              <a:spLocks noChangeShapeType="1"/>
            </p:cNvSpPr>
            <p:nvPr/>
          </p:nvSpPr>
          <p:spPr bwMode="auto">
            <a:xfrm flipV="1">
              <a:off x="704" y="2589"/>
              <a:ext cx="68"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57" name="Line 66"/>
            <p:cNvSpPr>
              <a:spLocks noChangeShapeType="1"/>
            </p:cNvSpPr>
            <p:nvPr/>
          </p:nvSpPr>
          <p:spPr bwMode="auto">
            <a:xfrm>
              <a:off x="1136" y="2623"/>
              <a:ext cx="218" cy="2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58" name="Line 67"/>
            <p:cNvSpPr>
              <a:spLocks noChangeShapeType="1"/>
            </p:cNvSpPr>
            <p:nvPr/>
          </p:nvSpPr>
          <p:spPr bwMode="auto">
            <a:xfrm flipH="1">
              <a:off x="1708" y="2621"/>
              <a:ext cx="200" cy="29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8259" name="Object 68"/>
            <p:cNvGraphicFramePr>
              <a:graphicFrameLocks noChangeAspect="1"/>
            </p:cNvGraphicFramePr>
            <p:nvPr/>
          </p:nvGraphicFramePr>
          <p:xfrm>
            <a:off x="1835" y="2286"/>
            <a:ext cx="146" cy="180"/>
          </p:xfrm>
          <a:graphic>
            <a:graphicData uri="http://schemas.openxmlformats.org/presentationml/2006/ole">
              <mc:AlternateContent xmlns:mc="http://schemas.openxmlformats.org/markup-compatibility/2006">
                <mc:Choice xmlns:v="urn:schemas-microsoft-com:vml" Requires="v">
                  <p:oleObj spid="_x0000_s78886" r:id="rId13" imgW="981674" imgH="1206892" progId="MS_ClipArt_Gallery.2">
                    <p:embed/>
                  </p:oleObj>
                </mc:Choice>
                <mc:Fallback>
                  <p:oleObj r:id="rId13" imgW="981674" imgH="1206892" progId="MS_ClipArt_Gallery.2">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5" y="2286"/>
                          <a:ext cx="14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60" name="Object 69"/>
            <p:cNvGraphicFramePr>
              <a:graphicFrameLocks noChangeAspect="1"/>
            </p:cNvGraphicFramePr>
            <p:nvPr/>
          </p:nvGraphicFramePr>
          <p:xfrm>
            <a:off x="875" y="2346"/>
            <a:ext cx="146" cy="180"/>
          </p:xfrm>
          <a:graphic>
            <a:graphicData uri="http://schemas.openxmlformats.org/presentationml/2006/ole">
              <mc:AlternateContent xmlns:mc="http://schemas.openxmlformats.org/markup-compatibility/2006">
                <mc:Choice xmlns:v="urn:schemas-microsoft-com:vml" Requires="v">
                  <p:oleObj spid="_x0000_s78887" r:id="rId15" imgW="981674" imgH="1206892" progId="MS_ClipArt_Gallery.2">
                    <p:embed/>
                  </p:oleObj>
                </mc:Choice>
                <mc:Fallback>
                  <p:oleObj r:id="rId15" imgW="981674" imgH="1206892" progId="MS_ClipArt_Gallery.2">
                    <p:embed/>
                    <p:pic>
                      <p:nvPicPr>
                        <p:cNvPr id="0" name="Object 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75" y="2346"/>
                          <a:ext cx="14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61" name="未知"/>
            <p:cNvSpPr>
              <a:spLocks noChangeArrowheads="1"/>
            </p:cNvSpPr>
            <p:nvPr/>
          </p:nvSpPr>
          <p:spPr bwMode="auto">
            <a:xfrm>
              <a:off x="934" y="2178"/>
              <a:ext cx="972" cy="228"/>
            </a:xfrm>
            <a:custGeom>
              <a:avLst/>
              <a:gdLst>
                <a:gd name="T0" fmla="*/ 0 w 972"/>
                <a:gd name="T1" fmla="*/ 228 h 228"/>
                <a:gd name="T2" fmla="*/ 432 w 972"/>
                <a:gd name="T3" fmla="*/ 9 h 228"/>
                <a:gd name="T4" fmla="*/ 972 w 972"/>
                <a:gd name="T5" fmla="*/ 171 h 228"/>
              </a:gdLst>
              <a:ahLst/>
              <a:cxnLst>
                <a:cxn ang="0">
                  <a:pos x="T0" y="T1"/>
                </a:cxn>
                <a:cxn ang="0">
                  <a:pos x="T2" y="T3"/>
                </a:cxn>
                <a:cxn ang="0">
                  <a:pos x="T4" y="T5"/>
                </a:cxn>
              </a:cxnLst>
              <a:rect l="0" t="0" r="r" b="b"/>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pSp>
          <p:nvGrpSpPr>
            <p:cNvPr id="8262" name="Group 71"/>
            <p:cNvGrpSpPr>
              <a:grpSpLocks noChangeAspect="1"/>
            </p:cNvGrpSpPr>
            <p:nvPr/>
          </p:nvGrpSpPr>
          <p:grpSpPr bwMode="auto">
            <a:xfrm>
              <a:off x="1125" y="3243"/>
              <a:ext cx="292" cy="320"/>
              <a:chOff x="0" y="0"/>
              <a:chExt cx="292" cy="320"/>
            </a:xfrm>
          </p:grpSpPr>
          <p:graphicFrame>
            <p:nvGraphicFramePr>
              <p:cNvPr id="8263" name="Object 72"/>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8888" r:id="rId16" imgW="825309" imgH="838856" progId="MS_ClipArt_Gallery.2">
                      <p:embed/>
                    </p:oleObj>
                  </mc:Choice>
                  <mc:Fallback>
                    <p:oleObj r:id="rId16" imgW="825309" imgH="838856" progId="MS_ClipArt_Gallery.2">
                      <p:embed/>
                      <p:pic>
                        <p:nvPicPr>
                          <p:cNvPr id="0" name="Object 7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64" name="Object 73"/>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8889" r:id="rId18" imgW="1266724" imgH="1197956" progId="MS_ClipArt_Gallery.2">
                      <p:embed/>
                    </p:oleObj>
                  </mc:Choice>
                  <mc:Fallback>
                    <p:oleObj r:id="rId18" imgW="1266724" imgH="1197956" progId="MS_ClipArt_Gallery.2">
                      <p:embed/>
                      <p:pic>
                        <p:nvPicPr>
                          <p:cNvPr id="0" name="Object 7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8265" name="Group 74"/>
            <p:cNvGrpSpPr>
              <a:grpSpLocks noChangeAspect="1"/>
            </p:cNvGrpSpPr>
            <p:nvPr/>
          </p:nvGrpSpPr>
          <p:grpSpPr bwMode="auto">
            <a:xfrm>
              <a:off x="1683" y="3267"/>
              <a:ext cx="292" cy="320"/>
              <a:chOff x="0" y="0"/>
              <a:chExt cx="292" cy="320"/>
            </a:xfrm>
          </p:grpSpPr>
          <p:graphicFrame>
            <p:nvGraphicFramePr>
              <p:cNvPr id="8266" name="Object 75"/>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8890" r:id="rId20" imgW="825309" imgH="838856" progId="MS_ClipArt_Gallery.2">
                      <p:embed/>
                    </p:oleObj>
                  </mc:Choice>
                  <mc:Fallback>
                    <p:oleObj r:id="rId20" imgW="825309" imgH="838856" progId="MS_ClipArt_Gallery.2">
                      <p:embed/>
                      <p:pic>
                        <p:nvPicPr>
                          <p:cNvPr id="0" name="Object 7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67" name="Object 76"/>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8891" r:id="rId21" imgW="1266724" imgH="1197956" progId="MS_ClipArt_Gallery.2">
                      <p:embed/>
                    </p:oleObj>
                  </mc:Choice>
                  <mc:Fallback>
                    <p:oleObj r:id="rId21" imgW="1266724" imgH="1197956" progId="MS_ClipArt_Gallery.2">
                      <p:embed/>
                      <p:pic>
                        <p:nvPicPr>
                          <p:cNvPr id="0" name="Object 7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8268" name="Group 77"/>
            <p:cNvGrpSpPr>
              <a:grpSpLocks/>
            </p:cNvGrpSpPr>
            <p:nvPr/>
          </p:nvGrpSpPr>
          <p:grpSpPr bwMode="auto">
            <a:xfrm>
              <a:off x="1386" y="3054"/>
              <a:ext cx="272" cy="282"/>
              <a:chOff x="0" y="0"/>
              <a:chExt cx="272" cy="282"/>
            </a:xfrm>
          </p:grpSpPr>
          <p:graphicFrame>
            <p:nvGraphicFramePr>
              <p:cNvPr id="8269" name="Object 78"/>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8892" r:id="rId22" imgW="825309" imgH="838856" progId="MS_ClipArt_Gallery.2">
                      <p:embed/>
                    </p:oleObj>
                  </mc:Choice>
                  <mc:Fallback>
                    <p:oleObj r:id="rId22" imgW="825309" imgH="838856" progId="MS_ClipArt_Gallery.2">
                      <p:embed/>
                      <p:pic>
                        <p:nvPicPr>
                          <p:cNvPr id="0" name="Object 7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70" name="Rectangle 79"/>
              <p:cNvSpPr>
                <a:spLocks noChangeArrowheads="1"/>
              </p:cNvSpPr>
              <p:nvPr/>
            </p:nvSpPr>
            <p:spPr bwMode="auto">
              <a:xfrm>
                <a:off x="79" y="99"/>
                <a:ext cx="192" cy="18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grpSp>
        <p:sp>
          <p:nvSpPr>
            <p:cNvPr id="8271" name="Line 80"/>
            <p:cNvSpPr>
              <a:spLocks noChangeShapeType="1"/>
            </p:cNvSpPr>
            <p:nvPr/>
          </p:nvSpPr>
          <p:spPr bwMode="auto">
            <a:xfrm>
              <a:off x="1606" y="2982"/>
              <a:ext cx="0" cy="1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8272" name="Group 81"/>
            <p:cNvGrpSpPr>
              <a:grpSpLocks/>
            </p:cNvGrpSpPr>
            <p:nvPr/>
          </p:nvGrpSpPr>
          <p:grpSpPr bwMode="auto">
            <a:xfrm>
              <a:off x="2123" y="2550"/>
              <a:ext cx="150" cy="307"/>
              <a:chOff x="0" y="0"/>
              <a:chExt cx="150" cy="307"/>
            </a:xfrm>
          </p:grpSpPr>
          <p:sp>
            <p:nvSpPr>
              <p:cNvPr id="8273" name="AutoShape 82"/>
              <p:cNvSpPr>
                <a:spLocks noChangeArrowheads="1"/>
              </p:cNvSpPr>
              <p:nvPr/>
            </p:nvSpPr>
            <p:spPr bwMode="auto">
              <a:xfrm>
                <a:off x="0" y="236"/>
                <a:ext cx="150" cy="71"/>
              </a:xfrm>
              <a:prstGeom prst="parallelogram">
                <a:avLst>
                  <a:gd name="adj" fmla="val 8138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74" name="Rectangle 83"/>
              <p:cNvSpPr>
                <a:spLocks noChangeArrowheads="1"/>
              </p:cNvSpPr>
              <p:nvPr/>
            </p:nvSpPr>
            <p:spPr bwMode="auto">
              <a:xfrm>
                <a:off x="76" y="2"/>
                <a:ext cx="6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75" name="Rectangle 84"/>
              <p:cNvSpPr>
                <a:spLocks noChangeArrowheads="1"/>
              </p:cNvSpPr>
              <p:nvPr/>
            </p:nvSpPr>
            <p:spPr bwMode="auto">
              <a:xfrm>
                <a:off x="1" y="69"/>
                <a:ext cx="95" cy="2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76" name="AutoShape 85"/>
              <p:cNvSpPr>
                <a:spLocks noChangeArrowheads="1"/>
              </p:cNvSpPr>
              <p:nvPr/>
            </p:nvSpPr>
            <p:spPr bwMode="auto">
              <a:xfrm>
                <a:off x="0" y="0"/>
                <a:ext cx="150" cy="71"/>
              </a:xfrm>
              <a:prstGeom prst="parallelogram">
                <a:avLst>
                  <a:gd name="adj" fmla="val 8138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77" name="Line 86"/>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78" name="Line 87"/>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79" name="Rectangle 88"/>
              <p:cNvSpPr>
                <a:spLocks noChangeArrowheads="1"/>
              </p:cNvSpPr>
              <p:nvPr/>
            </p:nvSpPr>
            <p:spPr bwMode="auto">
              <a:xfrm>
                <a:off x="13" y="100"/>
                <a:ext cx="63"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80" name="Rectangle 89"/>
              <p:cNvSpPr>
                <a:spLocks noChangeArrowheads="1"/>
              </p:cNvSpPr>
              <p:nvPr/>
            </p:nvSpPr>
            <p:spPr bwMode="auto">
              <a:xfrm>
                <a:off x="22" y="141"/>
                <a:ext cx="48"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8281" name="Group 90"/>
            <p:cNvGrpSpPr>
              <a:grpSpLocks/>
            </p:cNvGrpSpPr>
            <p:nvPr/>
          </p:nvGrpSpPr>
          <p:grpSpPr bwMode="auto">
            <a:xfrm>
              <a:off x="2114" y="2883"/>
              <a:ext cx="150" cy="307"/>
              <a:chOff x="0" y="0"/>
              <a:chExt cx="150" cy="307"/>
            </a:xfrm>
          </p:grpSpPr>
          <p:sp>
            <p:nvSpPr>
              <p:cNvPr id="8282" name="AutoShape 91"/>
              <p:cNvSpPr>
                <a:spLocks noChangeArrowheads="1"/>
              </p:cNvSpPr>
              <p:nvPr/>
            </p:nvSpPr>
            <p:spPr bwMode="auto">
              <a:xfrm>
                <a:off x="0" y="236"/>
                <a:ext cx="150" cy="71"/>
              </a:xfrm>
              <a:prstGeom prst="parallelogram">
                <a:avLst>
                  <a:gd name="adj" fmla="val 8138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83" name="Rectangle 92"/>
              <p:cNvSpPr>
                <a:spLocks noChangeArrowheads="1"/>
              </p:cNvSpPr>
              <p:nvPr/>
            </p:nvSpPr>
            <p:spPr bwMode="auto">
              <a:xfrm>
                <a:off x="76" y="2"/>
                <a:ext cx="6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284" name="Rectangle 93"/>
              <p:cNvSpPr>
                <a:spLocks noChangeArrowheads="1"/>
              </p:cNvSpPr>
              <p:nvPr/>
            </p:nvSpPr>
            <p:spPr bwMode="auto">
              <a:xfrm>
                <a:off x="1" y="69"/>
                <a:ext cx="95" cy="2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85" name="AutoShape 94"/>
              <p:cNvSpPr>
                <a:spLocks noChangeArrowheads="1"/>
              </p:cNvSpPr>
              <p:nvPr/>
            </p:nvSpPr>
            <p:spPr bwMode="auto">
              <a:xfrm>
                <a:off x="0" y="0"/>
                <a:ext cx="150" cy="71"/>
              </a:xfrm>
              <a:prstGeom prst="parallelogram">
                <a:avLst>
                  <a:gd name="adj" fmla="val 8138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86" name="Line 95"/>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87" name="Line 96"/>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88" name="Rectangle 97"/>
              <p:cNvSpPr>
                <a:spLocks noChangeArrowheads="1"/>
              </p:cNvSpPr>
              <p:nvPr/>
            </p:nvSpPr>
            <p:spPr bwMode="auto">
              <a:xfrm>
                <a:off x="13" y="100"/>
                <a:ext cx="63"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289" name="Rectangle 98"/>
              <p:cNvSpPr>
                <a:spLocks noChangeArrowheads="1"/>
              </p:cNvSpPr>
              <p:nvPr/>
            </p:nvSpPr>
            <p:spPr bwMode="auto">
              <a:xfrm>
                <a:off x="22" y="141"/>
                <a:ext cx="48"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8290" name="Line 99"/>
            <p:cNvSpPr>
              <a:spLocks noChangeShapeType="1"/>
            </p:cNvSpPr>
            <p:nvPr/>
          </p:nvSpPr>
          <p:spPr bwMode="auto">
            <a:xfrm rot="5400000" flipH="1">
              <a:off x="1836" y="2830"/>
              <a:ext cx="45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91" name="Line 100"/>
            <p:cNvSpPr>
              <a:spLocks noChangeShapeType="1"/>
            </p:cNvSpPr>
            <p:nvPr/>
          </p:nvSpPr>
          <p:spPr bwMode="auto">
            <a:xfrm rot="-5400000">
              <a:off x="2100" y="3020"/>
              <a:ext cx="0" cy="7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92" name="Line 101"/>
            <p:cNvSpPr>
              <a:spLocks noChangeShapeType="1"/>
            </p:cNvSpPr>
            <p:nvPr/>
          </p:nvSpPr>
          <p:spPr bwMode="auto">
            <a:xfrm rot="-5400000">
              <a:off x="2093" y="2669"/>
              <a:ext cx="0" cy="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93" name="Line 102"/>
            <p:cNvSpPr>
              <a:spLocks noChangeShapeType="1"/>
            </p:cNvSpPr>
            <p:nvPr/>
          </p:nvSpPr>
          <p:spPr bwMode="auto">
            <a:xfrm flipV="1">
              <a:off x="1144" y="1275"/>
              <a:ext cx="330" cy="1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94" name="Line 103"/>
            <p:cNvSpPr>
              <a:spLocks noChangeShapeType="1"/>
            </p:cNvSpPr>
            <p:nvPr/>
          </p:nvSpPr>
          <p:spPr bwMode="auto">
            <a:xfrm>
              <a:off x="1816" y="1263"/>
              <a:ext cx="348" cy="1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95" name="Line 104"/>
            <p:cNvSpPr>
              <a:spLocks noChangeShapeType="1"/>
            </p:cNvSpPr>
            <p:nvPr/>
          </p:nvSpPr>
          <p:spPr bwMode="auto">
            <a:xfrm flipH="1">
              <a:off x="2188" y="1515"/>
              <a:ext cx="174" cy="5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96" name="Line 105"/>
            <p:cNvSpPr>
              <a:spLocks noChangeShapeType="1"/>
            </p:cNvSpPr>
            <p:nvPr/>
          </p:nvSpPr>
          <p:spPr bwMode="auto">
            <a:xfrm>
              <a:off x="1636" y="1347"/>
              <a:ext cx="0" cy="3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97" name="Line 106"/>
            <p:cNvSpPr>
              <a:spLocks noChangeShapeType="1"/>
            </p:cNvSpPr>
            <p:nvPr/>
          </p:nvSpPr>
          <p:spPr bwMode="auto">
            <a:xfrm>
              <a:off x="1654" y="1833"/>
              <a:ext cx="384" cy="2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98" name="Line 107"/>
            <p:cNvSpPr>
              <a:spLocks noChangeShapeType="1"/>
            </p:cNvSpPr>
            <p:nvPr/>
          </p:nvSpPr>
          <p:spPr bwMode="auto">
            <a:xfrm flipH="1">
              <a:off x="1984" y="2181"/>
              <a:ext cx="192" cy="27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299" name="Line 108"/>
            <p:cNvSpPr>
              <a:spLocks noChangeShapeType="1"/>
            </p:cNvSpPr>
            <p:nvPr/>
          </p:nvSpPr>
          <p:spPr bwMode="auto">
            <a:xfrm flipH="1">
              <a:off x="1822" y="1491"/>
              <a:ext cx="402"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00" name="Line 109"/>
            <p:cNvSpPr>
              <a:spLocks noChangeShapeType="1"/>
            </p:cNvSpPr>
            <p:nvPr/>
          </p:nvSpPr>
          <p:spPr bwMode="auto">
            <a:xfrm flipH="1">
              <a:off x="1828" y="1071"/>
              <a:ext cx="252"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01" name="Line 110"/>
            <p:cNvSpPr>
              <a:spLocks noChangeShapeType="1"/>
            </p:cNvSpPr>
            <p:nvPr/>
          </p:nvSpPr>
          <p:spPr bwMode="auto">
            <a:xfrm flipH="1">
              <a:off x="2344" y="1203"/>
              <a:ext cx="144" cy="1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02" name="Text Box 111"/>
            <p:cNvSpPr txBox="1">
              <a:spLocks noChangeArrowheads="1"/>
            </p:cNvSpPr>
            <p:nvPr/>
          </p:nvSpPr>
          <p:spPr bwMode="auto">
            <a:xfrm>
              <a:off x="360" y="938"/>
              <a:ext cx="76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000" b="0">
                  <a:solidFill>
                    <a:schemeClr val="accent1"/>
                  </a:solidFill>
                  <a:ea typeface="华文楷体" panose="02010600040101010101" pitchFamily="2" charset="-122"/>
                </a:rPr>
                <a:t>local ISP</a:t>
              </a:r>
              <a:endParaRPr lang="zh-CN" altLang="zh-CN" sz="2400" b="0">
                <a:solidFill>
                  <a:schemeClr val="accent1"/>
                </a:solidFill>
                <a:ea typeface="华文楷体" panose="02010600040101010101" pitchFamily="2" charset="-122"/>
              </a:endParaRPr>
            </a:p>
          </p:txBody>
        </p:sp>
        <p:sp>
          <p:nvSpPr>
            <p:cNvPr id="8303" name="Text Box 112"/>
            <p:cNvSpPr txBox="1">
              <a:spLocks noChangeArrowheads="1"/>
            </p:cNvSpPr>
            <p:nvPr/>
          </p:nvSpPr>
          <p:spPr bwMode="auto">
            <a:xfrm>
              <a:off x="312" y="3194"/>
              <a:ext cx="780" cy="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000" b="0">
                  <a:solidFill>
                    <a:schemeClr val="accent1"/>
                  </a:solidFill>
                  <a:ea typeface="华文楷体" panose="02010600040101010101" pitchFamily="2" charset="-122"/>
                </a:rPr>
                <a:t>company</a:t>
              </a:r>
            </a:p>
            <a:p>
              <a:pPr eaLnBrk="0" hangingPunct="0"/>
              <a:r>
                <a:rPr lang="zh-CN" altLang="zh-CN" sz="2000" b="0">
                  <a:solidFill>
                    <a:schemeClr val="accent1"/>
                  </a:solidFill>
                  <a:ea typeface="华文楷体" panose="02010600040101010101" pitchFamily="2" charset="-122"/>
                </a:rPr>
                <a:t>network</a:t>
              </a:r>
              <a:endParaRPr lang="zh-CN" altLang="zh-CN" sz="2400" b="0">
                <a:solidFill>
                  <a:schemeClr val="accent1"/>
                </a:solidFill>
                <a:ea typeface="华文楷体" panose="02010600040101010101" pitchFamily="2" charset="-122"/>
              </a:endParaRPr>
            </a:p>
          </p:txBody>
        </p:sp>
        <p:sp>
          <p:nvSpPr>
            <p:cNvPr id="8304" name="Text Box 113"/>
            <p:cNvSpPr txBox="1">
              <a:spLocks noChangeArrowheads="1"/>
            </p:cNvSpPr>
            <p:nvPr/>
          </p:nvSpPr>
          <p:spPr bwMode="auto">
            <a:xfrm>
              <a:off x="1458" y="1802"/>
              <a:ext cx="997"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000" b="0">
                  <a:solidFill>
                    <a:schemeClr val="accent1"/>
                  </a:solidFill>
                  <a:ea typeface="华文楷体" panose="02010600040101010101" pitchFamily="2" charset="-122"/>
                </a:rPr>
                <a:t>regional ISP</a:t>
              </a:r>
            </a:p>
          </p:txBody>
        </p:sp>
        <p:grpSp>
          <p:nvGrpSpPr>
            <p:cNvPr id="8305" name="Group 114"/>
            <p:cNvGrpSpPr>
              <a:grpSpLocks/>
            </p:cNvGrpSpPr>
            <p:nvPr/>
          </p:nvGrpSpPr>
          <p:grpSpPr bwMode="auto">
            <a:xfrm>
              <a:off x="670" y="0"/>
              <a:ext cx="360" cy="175"/>
              <a:chOff x="0" y="0"/>
              <a:chExt cx="360" cy="175"/>
            </a:xfrm>
          </p:grpSpPr>
          <p:sp>
            <p:nvSpPr>
              <p:cNvPr id="8306" name="Oval 115"/>
              <p:cNvSpPr>
                <a:spLocks noChangeArrowheads="1"/>
              </p:cNvSpPr>
              <p:nvPr/>
            </p:nvSpPr>
            <p:spPr bwMode="auto">
              <a:xfrm>
                <a:off x="3" y="78"/>
                <a:ext cx="357" cy="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307" name="Line 116"/>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08" name="Line 117"/>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09" name="Rectangle 118"/>
              <p:cNvSpPr>
                <a:spLocks noChangeArrowheads="1"/>
              </p:cNvSpPr>
              <p:nvPr/>
            </p:nvSpPr>
            <p:spPr bwMode="auto">
              <a:xfrm>
                <a:off x="3" y="70"/>
                <a:ext cx="3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solidFill>
                    <a:schemeClr val="accent1"/>
                  </a:solidFill>
                  <a:ea typeface="华文楷体" panose="02010600040101010101" pitchFamily="2" charset="-122"/>
                </a:endParaRPr>
              </a:p>
            </p:txBody>
          </p:sp>
          <p:sp>
            <p:nvSpPr>
              <p:cNvPr id="8310" name="Oval 119"/>
              <p:cNvSpPr>
                <a:spLocks noChangeArrowheads="1"/>
              </p:cNvSpPr>
              <p:nvPr/>
            </p:nvSpPr>
            <p:spPr bwMode="auto">
              <a:xfrm>
                <a:off x="0" y="0"/>
                <a:ext cx="357" cy="1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grpSp>
            <p:nvGrpSpPr>
              <p:cNvPr id="8311" name="Group 120"/>
              <p:cNvGrpSpPr>
                <a:grpSpLocks/>
              </p:cNvGrpSpPr>
              <p:nvPr/>
            </p:nvGrpSpPr>
            <p:grpSpPr bwMode="auto">
              <a:xfrm>
                <a:off x="86" y="25"/>
                <a:ext cx="177" cy="66"/>
                <a:chOff x="0" y="0"/>
                <a:chExt cx="140" cy="98"/>
              </a:xfrm>
            </p:grpSpPr>
            <p:sp>
              <p:nvSpPr>
                <p:cNvPr id="8312" name="Line 121"/>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13" name="Line 122"/>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14" name="Line 123"/>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315" name="Group 124"/>
              <p:cNvGrpSpPr>
                <a:grpSpLocks/>
              </p:cNvGrpSpPr>
              <p:nvPr/>
            </p:nvGrpSpPr>
            <p:grpSpPr bwMode="auto">
              <a:xfrm flipV="1">
                <a:off x="86" y="24"/>
                <a:ext cx="177" cy="66"/>
                <a:chOff x="0" y="0"/>
                <a:chExt cx="140" cy="98"/>
              </a:xfrm>
            </p:grpSpPr>
            <p:sp>
              <p:nvSpPr>
                <p:cNvPr id="8316" name="Line 125"/>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17" name="Line 126"/>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18" name="Line 127"/>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8319" name="Group 128"/>
            <p:cNvGrpSpPr>
              <a:grpSpLocks/>
            </p:cNvGrpSpPr>
            <p:nvPr/>
          </p:nvGrpSpPr>
          <p:grpSpPr bwMode="auto">
            <a:xfrm>
              <a:off x="677" y="432"/>
              <a:ext cx="150" cy="307"/>
              <a:chOff x="0" y="0"/>
              <a:chExt cx="150" cy="307"/>
            </a:xfrm>
          </p:grpSpPr>
          <p:sp>
            <p:nvSpPr>
              <p:cNvPr id="8320" name="AutoShape 129"/>
              <p:cNvSpPr>
                <a:spLocks noChangeArrowheads="1"/>
              </p:cNvSpPr>
              <p:nvPr/>
            </p:nvSpPr>
            <p:spPr bwMode="auto">
              <a:xfrm>
                <a:off x="0" y="236"/>
                <a:ext cx="150" cy="71"/>
              </a:xfrm>
              <a:prstGeom prst="parallelogram">
                <a:avLst>
                  <a:gd name="adj" fmla="val 8138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321" name="Rectangle 130"/>
              <p:cNvSpPr>
                <a:spLocks noChangeArrowheads="1"/>
              </p:cNvSpPr>
              <p:nvPr/>
            </p:nvSpPr>
            <p:spPr bwMode="auto">
              <a:xfrm>
                <a:off x="76" y="2"/>
                <a:ext cx="6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8322" name="Rectangle 131"/>
              <p:cNvSpPr>
                <a:spLocks noChangeArrowheads="1"/>
              </p:cNvSpPr>
              <p:nvPr/>
            </p:nvSpPr>
            <p:spPr bwMode="auto">
              <a:xfrm>
                <a:off x="1" y="69"/>
                <a:ext cx="95" cy="2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323" name="AutoShape 132"/>
              <p:cNvSpPr>
                <a:spLocks noChangeArrowheads="1"/>
              </p:cNvSpPr>
              <p:nvPr/>
            </p:nvSpPr>
            <p:spPr bwMode="auto">
              <a:xfrm>
                <a:off x="0" y="0"/>
                <a:ext cx="150" cy="71"/>
              </a:xfrm>
              <a:prstGeom prst="parallelogram">
                <a:avLst>
                  <a:gd name="adj" fmla="val 8138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324" name="Line 133"/>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25" name="Line 134"/>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26" name="Rectangle 135"/>
              <p:cNvSpPr>
                <a:spLocks noChangeArrowheads="1"/>
              </p:cNvSpPr>
              <p:nvPr/>
            </p:nvSpPr>
            <p:spPr bwMode="auto">
              <a:xfrm>
                <a:off x="13" y="100"/>
                <a:ext cx="63"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327" name="Rectangle 136"/>
              <p:cNvSpPr>
                <a:spLocks noChangeArrowheads="1"/>
              </p:cNvSpPr>
              <p:nvPr/>
            </p:nvSpPr>
            <p:spPr bwMode="auto">
              <a:xfrm>
                <a:off x="22" y="141"/>
                <a:ext cx="48"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aphicFrame>
          <p:nvGraphicFramePr>
            <p:cNvPr id="8328" name="Object 137"/>
            <p:cNvGraphicFramePr>
              <a:graphicFrameLocks noChangeAspect="1"/>
            </p:cNvGraphicFramePr>
            <p:nvPr/>
          </p:nvGraphicFramePr>
          <p:xfrm>
            <a:off x="1578" y="41"/>
            <a:ext cx="299" cy="239"/>
          </p:xfrm>
          <a:graphic>
            <a:graphicData uri="http://schemas.openxmlformats.org/presentationml/2006/ole">
              <mc:AlternateContent xmlns:mc="http://schemas.openxmlformats.org/markup-compatibility/2006">
                <mc:Choice xmlns:v="urn:schemas-microsoft-com:vml" Requires="v">
                  <p:oleObj spid="_x0000_s78893" r:id="rId23" imgW="1305626" imgH="1082835" progId="MS_ClipArt_Gallery.2">
                    <p:embed/>
                  </p:oleObj>
                </mc:Choice>
                <mc:Fallback>
                  <p:oleObj r:id="rId23" imgW="1305626" imgH="1082835" progId="MS_ClipArt_Gallery.2">
                    <p:embed/>
                    <p:pic>
                      <p:nvPicPr>
                        <p:cNvPr id="0" name="Object 1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8" y="41"/>
                          <a:ext cx="29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8329" name="Group 138"/>
            <p:cNvGrpSpPr>
              <a:grpSpLocks noChangeAspect="1"/>
            </p:cNvGrpSpPr>
            <p:nvPr/>
          </p:nvGrpSpPr>
          <p:grpSpPr bwMode="auto">
            <a:xfrm>
              <a:off x="1533" y="495"/>
              <a:ext cx="292" cy="320"/>
              <a:chOff x="0" y="0"/>
              <a:chExt cx="292" cy="320"/>
            </a:xfrm>
          </p:grpSpPr>
          <p:graphicFrame>
            <p:nvGraphicFramePr>
              <p:cNvPr id="8330" name="Object 139"/>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8894" r:id="rId24" imgW="825309" imgH="838856" progId="MS_ClipArt_Gallery.2">
                      <p:embed/>
                    </p:oleObj>
                  </mc:Choice>
                  <mc:Fallback>
                    <p:oleObj r:id="rId24" imgW="825309" imgH="838856" progId="MS_ClipArt_Gallery.2">
                      <p:embed/>
                      <p:pic>
                        <p:nvPicPr>
                          <p:cNvPr id="0" name="Object 13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31" name="Object 140"/>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8895" r:id="rId25" imgW="1266724" imgH="1197956" progId="MS_ClipArt_Gallery.2">
                      <p:embed/>
                    </p:oleObj>
                  </mc:Choice>
                  <mc:Fallback>
                    <p:oleObj r:id="rId25" imgW="1266724" imgH="1197956" progId="MS_ClipArt_Gallery.2">
                      <p:embed/>
                      <p:pic>
                        <p:nvPicPr>
                          <p:cNvPr id="0" name="Object 14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8332" name="Group 141"/>
            <p:cNvGrpSpPr>
              <a:grpSpLocks/>
            </p:cNvGrpSpPr>
            <p:nvPr/>
          </p:nvGrpSpPr>
          <p:grpSpPr bwMode="auto">
            <a:xfrm>
              <a:off x="772" y="1347"/>
              <a:ext cx="360" cy="175"/>
              <a:chOff x="0" y="0"/>
              <a:chExt cx="360" cy="175"/>
            </a:xfrm>
          </p:grpSpPr>
          <p:sp>
            <p:nvSpPr>
              <p:cNvPr id="8333" name="Oval 142"/>
              <p:cNvSpPr>
                <a:spLocks noChangeArrowheads="1"/>
              </p:cNvSpPr>
              <p:nvPr/>
            </p:nvSpPr>
            <p:spPr bwMode="auto">
              <a:xfrm>
                <a:off x="3" y="78"/>
                <a:ext cx="357" cy="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334" name="Line 143"/>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35" name="Line 144"/>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36" name="Rectangle 145"/>
              <p:cNvSpPr>
                <a:spLocks noChangeArrowheads="1"/>
              </p:cNvSpPr>
              <p:nvPr/>
            </p:nvSpPr>
            <p:spPr bwMode="auto">
              <a:xfrm>
                <a:off x="3" y="70"/>
                <a:ext cx="3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solidFill>
                    <a:schemeClr val="accent1"/>
                  </a:solidFill>
                  <a:ea typeface="华文楷体" panose="02010600040101010101" pitchFamily="2" charset="-122"/>
                </a:endParaRPr>
              </a:p>
            </p:txBody>
          </p:sp>
          <p:sp>
            <p:nvSpPr>
              <p:cNvPr id="8337" name="Oval 146"/>
              <p:cNvSpPr>
                <a:spLocks noChangeArrowheads="1"/>
              </p:cNvSpPr>
              <p:nvPr/>
            </p:nvSpPr>
            <p:spPr bwMode="auto">
              <a:xfrm>
                <a:off x="0" y="0"/>
                <a:ext cx="357" cy="1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grpSp>
            <p:nvGrpSpPr>
              <p:cNvPr id="8338" name="Group 147"/>
              <p:cNvGrpSpPr>
                <a:grpSpLocks/>
              </p:cNvGrpSpPr>
              <p:nvPr/>
            </p:nvGrpSpPr>
            <p:grpSpPr bwMode="auto">
              <a:xfrm>
                <a:off x="86" y="25"/>
                <a:ext cx="177" cy="66"/>
                <a:chOff x="0" y="0"/>
                <a:chExt cx="140" cy="98"/>
              </a:xfrm>
            </p:grpSpPr>
            <p:sp>
              <p:nvSpPr>
                <p:cNvPr id="8339" name="Line 148"/>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40" name="Line 149"/>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41" name="Line 150"/>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342" name="Group 151"/>
              <p:cNvGrpSpPr>
                <a:grpSpLocks/>
              </p:cNvGrpSpPr>
              <p:nvPr/>
            </p:nvGrpSpPr>
            <p:grpSpPr bwMode="auto">
              <a:xfrm flipV="1">
                <a:off x="86" y="24"/>
                <a:ext cx="177" cy="66"/>
                <a:chOff x="0" y="0"/>
                <a:chExt cx="140" cy="98"/>
              </a:xfrm>
            </p:grpSpPr>
            <p:sp>
              <p:nvSpPr>
                <p:cNvPr id="8343" name="Line 152"/>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44" name="Line 153"/>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45" name="Line 154"/>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8346" name="Group 155"/>
            <p:cNvGrpSpPr>
              <a:grpSpLocks/>
            </p:cNvGrpSpPr>
            <p:nvPr/>
          </p:nvGrpSpPr>
          <p:grpSpPr bwMode="auto">
            <a:xfrm>
              <a:off x="1456" y="1176"/>
              <a:ext cx="360" cy="175"/>
              <a:chOff x="0" y="0"/>
              <a:chExt cx="360" cy="175"/>
            </a:xfrm>
          </p:grpSpPr>
          <p:sp>
            <p:nvSpPr>
              <p:cNvPr id="8347" name="Oval 156"/>
              <p:cNvSpPr>
                <a:spLocks noChangeArrowheads="1"/>
              </p:cNvSpPr>
              <p:nvPr/>
            </p:nvSpPr>
            <p:spPr bwMode="auto">
              <a:xfrm>
                <a:off x="3" y="78"/>
                <a:ext cx="357" cy="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348" name="Line 157"/>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49" name="Line 158"/>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50" name="Rectangle 159"/>
              <p:cNvSpPr>
                <a:spLocks noChangeArrowheads="1"/>
              </p:cNvSpPr>
              <p:nvPr/>
            </p:nvSpPr>
            <p:spPr bwMode="auto">
              <a:xfrm>
                <a:off x="3" y="70"/>
                <a:ext cx="3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solidFill>
                    <a:schemeClr val="accent1"/>
                  </a:solidFill>
                  <a:ea typeface="华文楷体" panose="02010600040101010101" pitchFamily="2" charset="-122"/>
                </a:endParaRPr>
              </a:p>
            </p:txBody>
          </p:sp>
          <p:sp>
            <p:nvSpPr>
              <p:cNvPr id="8351" name="Oval 160"/>
              <p:cNvSpPr>
                <a:spLocks noChangeArrowheads="1"/>
              </p:cNvSpPr>
              <p:nvPr/>
            </p:nvSpPr>
            <p:spPr bwMode="auto">
              <a:xfrm>
                <a:off x="0" y="0"/>
                <a:ext cx="357" cy="1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grpSp>
            <p:nvGrpSpPr>
              <p:cNvPr id="8352" name="Group 161"/>
              <p:cNvGrpSpPr>
                <a:grpSpLocks/>
              </p:cNvGrpSpPr>
              <p:nvPr/>
            </p:nvGrpSpPr>
            <p:grpSpPr bwMode="auto">
              <a:xfrm>
                <a:off x="86" y="25"/>
                <a:ext cx="177" cy="66"/>
                <a:chOff x="0" y="0"/>
                <a:chExt cx="140" cy="98"/>
              </a:xfrm>
            </p:grpSpPr>
            <p:sp>
              <p:nvSpPr>
                <p:cNvPr id="8353" name="Line 162"/>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54" name="Line 163"/>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55" name="Line 164"/>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356" name="Group 165"/>
              <p:cNvGrpSpPr>
                <a:grpSpLocks/>
              </p:cNvGrpSpPr>
              <p:nvPr/>
            </p:nvGrpSpPr>
            <p:grpSpPr bwMode="auto">
              <a:xfrm flipV="1">
                <a:off x="86" y="24"/>
                <a:ext cx="177" cy="66"/>
                <a:chOff x="0" y="0"/>
                <a:chExt cx="140" cy="98"/>
              </a:xfrm>
            </p:grpSpPr>
            <p:sp>
              <p:nvSpPr>
                <p:cNvPr id="8357" name="Line 166"/>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58" name="Line 167"/>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59" name="Line 168"/>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8360" name="Group 169"/>
            <p:cNvGrpSpPr>
              <a:grpSpLocks/>
            </p:cNvGrpSpPr>
            <p:nvPr/>
          </p:nvGrpSpPr>
          <p:grpSpPr bwMode="auto">
            <a:xfrm>
              <a:off x="1468" y="1668"/>
              <a:ext cx="360" cy="175"/>
              <a:chOff x="0" y="0"/>
              <a:chExt cx="360" cy="175"/>
            </a:xfrm>
          </p:grpSpPr>
          <p:sp>
            <p:nvSpPr>
              <p:cNvPr id="8361" name="Oval 170"/>
              <p:cNvSpPr>
                <a:spLocks noChangeArrowheads="1"/>
              </p:cNvSpPr>
              <p:nvPr/>
            </p:nvSpPr>
            <p:spPr bwMode="auto">
              <a:xfrm>
                <a:off x="3" y="78"/>
                <a:ext cx="357" cy="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362" name="Line 171"/>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63" name="Line 172"/>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64" name="Rectangle 173"/>
              <p:cNvSpPr>
                <a:spLocks noChangeArrowheads="1"/>
              </p:cNvSpPr>
              <p:nvPr/>
            </p:nvSpPr>
            <p:spPr bwMode="auto">
              <a:xfrm>
                <a:off x="3" y="70"/>
                <a:ext cx="3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solidFill>
                    <a:schemeClr val="accent1"/>
                  </a:solidFill>
                  <a:ea typeface="华文楷体" panose="02010600040101010101" pitchFamily="2" charset="-122"/>
                </a:endParaRPr>
              </a:p>
            </p:txBody>
          </p:sp>
          <p:sp>
            <p:nvSpPr>
              <p:cNvPr id="8365" name="Oval 174"/>
              <p:cNvSpPr>
                <a:spLocks noChangeArrowheads="1"/>
              </p:cNvSpPr>
              <p:nvPr/>
            </p:nvSpPr>
            <p:spPr bwMode="auto">
              <a:xfrm>
                <a:off x="0" y="0"/>
                <a:ext cx="357" cy="1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grpSp>
            <p:nvGrpSpPr>
              <p:cNvPr id="8366" name="Group 175"/>
              <p:cNvGrpSpPr>
                <a:grpSpLocks/>
              </p:cNvGrpSpPr>
              <p:nvPr/>
            </p:nvGrpSpPr>
            <p:grpSpPr bwMode="auto">
              <a:xfrm>
                <a:off x="86" y="25"/>
                <a:ext cx="177" cy="66"/>
                <a:chOff x="0" y="0"/>
                <a:chExt cx="140" cy="98"/>
              </a:xfrm>
            </p:grpSpPr>
            <p:sp>
              <p:nvSpPr>
                <p:cNvPr id="8367" name="Line 176"/>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68" name="Line 177"/>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69" name="Line 178"/>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370" name="Group 179"/>
              <p:cNvGrpSpPr>
                <a:grpSpLocks/>
              </p:cNvGrpSpPr>
              <p:nvPr/>
            </p:nvGrpSpPr>
            <p:grpSpPr bwMode="auto">
              <a:xfrm flipV="1">
                <a:off x="86" y="24"/>
                <a:ext cx="177" cy="66"/>
                <a:chOff x="0" y="0"/>
                <a:chExt cx="140" cy="98"/>
              </a:xfrm>
            </p:grpSpPr>
            <p:sp>
              <p:nvSpPr>
                <p:cNvPr id="8371" name="Line 180"/>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72" name="Line 181"/>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73" name="Line 182"/>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8374" name="Group 183"/>
            <p:cNvGrpSpPr>
              <a:grpSpLocks/>
            </p:cNvGrpSpPr>
            <p:nvPr/>
          </p:nvGrpSpPr>
          <p:grpSpPr bwMode="auto">
            <a:xfrm>
              <a:off x="2164" y="1332"/>
              <a:ext cx="360" cy="175"/>
              <a:chOff x="0" y="0"/>
              <a:chExt cx="360" cy="175"/>
            </a:xfrm>
          </p:grpSpPr>
          <p:sp>
            <p:nvSpPr>
              <p:cNvPr id="8375" name="Oval 184"/>
              <p:cNvSpPr>
                <a:spLocks noChangeArrowheads="1"/>
              </p:cNvSpPr>
              <p:nvPr/>
            </p:nvSpPr>
            <p:spPr bwMode="auto">
              <a:xfrm>
                <a:off x="3" y="78"/>
                <a:ext cx="357" cy="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376" name="Line 185"/>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77" name="Line 186"/>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78" name="Rectangle 187"/>
              <p:cNvSpPr>
                <a:spLocks noChangeArrowheads="1"/>
              </p:cNvSpPr>
              <p:nvPr/>
            </p:nvSpPr>
            <p:spPr bwMode="auto">
              <a:xfrm>
                <a:off x="3" y="70"/>
                <a:ext cx="3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solidFill>
                    <a:schemeClr val="accent1"/>
                  </a:solidFill>
                  <a:ea typeface="华文楷体" panose="02010600040101010101" pitchFamily="2" charset="-122"/>
                </a:endParaRPr>
              </a:p>
            </p:txBody>
          </p:sp>
          <p:sp>
            <p:nvSpPr>
              <p:cNvPr id="8379" name="Oval 188"/>
              <p:cNvSpPr>
                <a:spLocks noChangeArrowheads="1"/>
              </p:cNvSpPr>
              <p:nvPr/>
            </p:nvSpPr>
            <p:spPr bwMode="auto">
              <a:xfrm>
                <a:off x="0" y="0"/>
                <a:ext cx="357" cy="1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grpSp>
            <p:nvGrpSpPr>
              <p:cNvPr id="8380" name="Group 189"/>
              <p:cNvGrpSpPr>
                <a:grpSpLocks/>
              </p:cNvGrpSpPr>
              <p:nvPr/>
            </p:nvGrpSpPr>
            <p:grpSpPr bwMode="auto">
              <a:xfrm>
                <a:off x="86" y="25"/>
                <a:ext cx="177" cy="66"/>
                <a:chOff x="0" y="0"/>
                <a:chExt cx="140" cy="98"/>
              </a:xfrm>
            </p:grpSpPr>
            <p:sp>
              <p:nvSpPr>
                <p:cNvPr id="8381" name="Line 190"/>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82" name="Line 191"/>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83" name="Line 192"/>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384" name="Group 193"/>
              <p:cNvGrpSpPr>
                <a:grpSpLocks/>
              </p:cNvGrpSpPr>
              <p:nvPr/>
            </p:nvGrpSpPr>
            <p:grpSpPr bwMode="auto">
              <a:xfrm flipV="1">
                <a:off x="86" y="24"/>
                <a:ext cx="177" cy="66"/>
                <a:chOff x="0" y="0"/>
                <a:chExt cx="140" cy="98"/>
              </a:xfrm>
            </p:grpSpPr>
            <p:sp>
              <p:nvSpPr>
                <p:cNvPr id="8385" name="Line 194"/>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86" name="Line 195"/>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87" name="Line 196"/>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8388" name="Group 197"/>
            <p:cNvGrpSpPr>
              <a:grpSpLocks/>
            </p:cNvGrpSpPr>
            <p:nvPr/>
          </p:nvGrpSpPr>
          <p:grpSpPr bwMode="auto">
            <a:xfrm>
              <a:off x="2026" y="2004"/>
              <a:ext cx="360" cy="175"/>
              <a:chOff x="0" y="0"/>
              <a:chExt cx="360" cy="175"/>
            </a:xfrm>
          </p:grpSpPr>
          <p:sp>
            <p:nvSpPr>
              <p:cNvPr id="8389" name="Oval 198"/>
              <p:cNvSpPr>
                <a:spLocks noChangeArrowheads="1"/>
              </p:cNvSpPr>
              <p:nvPr/>
            </p:nvSpPr>
            <p:spPr bwMode="auto">
              <a:xfrm>
                <a:off x="3" y="78"/>
                <a:ext cx="357" cy="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390" name="Line 199"/>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91" name="Line 200"/>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92" name="Rectangle 201"/>
              <p:cNvSpPr>
                <a:spLocks noChangeArrowheads="1"/>
              </p:cNvSpPr>
              <p:nvPr/>
            </p:nvSpPr>
            <p:spPr bwMode="auto">
              <a:xfrm>
                <a:off x="3" y="70"/>
                <a:ext cx="3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solidFill>
                    <a:schemeClr val="accent1"/>
                  </a:solidFill>
                  <a:ea typeface="华文楷体" panose="02010600040101010101" pitchFamily="2" charset="-122"/>
                </a:endParaRPr>
              </a:p>
            </p:txBody>
          </p:sp>
          <p:sp>
            <p:nvSpPr>
              <p:cNvPr id="8393" name="Oval 202"/>
              <p:cNvSpPr>
                <a:spLocks noChangeArrowheads="1"/>
              </p:cNvSpPr>
              <p:nvPr/>
            </p:nvSpPr>
            <p:spPr bwMode="auto">
              <a:xfrm>
                <a:off x="0" y="0"/>
                <a:ext cx="357" cy="1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grpSp>
            <p:nvGrpSpPr>
              <p:cNvPr id="8394" name="Group 203"/>
              <p:cNvGrpSpPr>
                <a:grpSpLocks/>
              </p:cNvGrpSpPr>
              <p:nvPr/>
            </p:nvGrpSpPr>
            <p:grpSpPr bwMode="auto">
              <a:xfrm>
                <a:off x="86" y="25"/>
                <a:ext cx="177" cy="66"/>
                <a:chOff x="0" y="0"/>
                <a:chExt cx="140" cy="98"/>
              </a:xfrm>
            </p:grpSpPr>
            <p:sp>
              <p:nvSpPr>
                <p:cNvPr id="8395" name="Line 204"/>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96" name="Line 205"/>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397" name="Line 206"/>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398" name="Group 207"/>
              <p:cNvGrpSpPr>
                <a:grpSpLocks/>
              </p:cNvGrpSpPr>
              <p:nvPr/>
            </p:nvGrpSpPr>
            <p:grpSpPr bwMode="auto">
              <a:xfrm flipV="1">
                <a:off x="86" y="24"/>
                <a:ext cx="177" cy="66"/>
                <a:chOff x="0" y="0"/>
                <a:chExt cx="140" cy="98"/>
              </a:xfrm>
            </p:grpSpPr>
            <p:sp>
              <p:nvSpPr>
                <p:cNvPr id="8399" name="Line 208"/>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00" name="Line 209"/>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01" name="Line 210"/>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8402" name="Group 211"/>
            <p:cNvGrpSpPr>
              <a:grpSpLocks/>
            </p:cNvGrpSpPr>
            <p:nvPr/>
          </p:nvGrpSpPr>
          <p:grpSpPr bwMode="auto">
            <a:xfrm>
              <a:off x="1786" y="2442"/>
              <a:ext cx="360" cy="175"/>
              <a:chOff x="0" y="0"/>
              <a:chExt cx="360" cy="175"/>
            </a:xfrm>
          </p:grpSpPr>
          <p:sp>
            <p:nvSpPr>
              <p:cNvPr id="8403" name="Oval 212"/>
              <p:cNvSpPr>
                <a:spLocks noChangeArrowheads="1"/>
              </p:cNvSpPr>
              <p:nvPr/>
            </p:nvSpPr>
            <p:spPr bwMode="auto">
              <a:xfrm>
                <a:off x="3" y="78"/>
                <a:ext cx="357" cy="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404" name="Line 213"/>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05" name="Line 214"/>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06" name="Rectangle 215"/>
              <p:cNvSpPr>
                <a:spLocks noChangeArrowheads="1"/>
              </p:cNvSpPr>
              <p:nvPr/>
            </p:nvSpPr>
            <p:spPr bwMode="auto">
              <a:xfrm>
                <a:off x="3" y="70"/>
                <a:ext cx="3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solidFill>
                    <a:schemeClr val="accent1"/>
                  </a:solidFill>
                  <a:ea typeface="华文楷体" panose="02010600040101010101" pitchFamily="2" charset="-122"/>
                </a:endParaRPr>
              </a:p>
            </p:txBody>
          </p:sp>
          <p:sp>
            <p:nvSpPr>
              <p:cNvPr id="8407" name="Oval 216"/>
              <p:cNvSpPr>
                <a:spLocks noChangeArrowheads="1"/>
              </p:cNvSpPr>
              <p:nvPr/>
            </p:nvSpPr>
            <p:spPr bwMode="auto">
              <a:xfrm>
                <a:off x="0" y="0"/>
                <a:ext cx="357" cy="1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grpSp>
            <p:nvGrpSpPr>
              <p:cNvPr id="8408" name="Group 217"/>
              <p:cNvGrpSpPr>
                <a:grpSpLocks/>
              </p:cNvGrpSpPr>
              <p:nvPr/>
            </p:nvGrpSpPr>
            <p:grpSpPr bwMode="auto">
              <a:xfrm>
                <a:off x="86" y="25"/>
                <a:ext cx="177" cy="66"/>
                <a:chOff x="0" y="0"/>
                <a:chExt cx="140" cy="98"/>
              </a:xfrm>
            </p:grpSpPr>
            <p:sp>
              <p:nvSpPr>
                <p:cNvPr id="8409" name="Line 218"/>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10" name="Line 219"/>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11" name="Line 220"/>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412" name="Group 221"/>
              <p:cNvGrpSpPr>
                <a:grpSpLocks/>
              </p:cNvGrpSpPr>
              <p:nvPr/>
            </p:nvGrpSpPr>
            <p:grpSpPr bwMode="auto">
              <a:xfrm flipV="1">
                <a:off x="86" y="24"/>
                <a:ext cx="177" cy="66"/>
                <a:chOff x="0" y="0"/>
                <a:chExt cx="140" cy="98"/>
              </a:xfrm>
            </p:grpSpPr>
            <p:sp>
              <p:nvSpPr>
                <p:cNvPr id="8413" name="Line 222"/>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14" name="Line 223"/>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15" name="Line 224"/>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8416" name="Group 225"/>
            <p:cNvGrpSpPr>
              <a:grpSpLocks/>
            </p:cNvGrpSpPr>
            <p:nvPr/>
          </p:nvGrpSpPr>
          <p:grpSpPr bwMode="auto">
            <a:xfrm>
              <a:off x="1348" y="2808"/>
              <a:ext cx="360" cy="175"/>
              <a:chOff x="0" y="0"/>
              <a:chExt cx="360" cy="175"/>
            </a:xfrm>
          </p:grpSpPr>
          <p:sp>
            <p:nvSpPr>
              <p:cNvPr id="8417" name="Oval 226"/>
              <p:cNvSpPr>
                <a:spLocks noChangeArrowheads="1"/>
              </p:cNvSpPr>
              <p:nvPr/>
            </p:nvSpPr>
            <p:spPr bwMode="auto">
              <a:xfrm>
                <a:off x="3" y="78"/>
                <a:ext cx="357" cy="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418" name="Line 227"/>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19" name="Line 228"/>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20" name="Rectangle 229"/>
              <p:cNvSpPr>
                <a:spLocks noChangeArrowheads="1"/>
              </p:cNvSpPr>
              <p:nvPr/>
            </p:nvSpPr>
            <p:spPr bwMode="auto">
              <a:xfrm>
                <a:off x="3" y="70"/>
                <a:ext cx="3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solidFill>
                    <a:schemeClr val="accent1"/>
                  </a:solidFill>
                  <a:ea typeface="华文楷体" panose="02010600040101010101" pitchFamily="2" charset="-122"/>
                </a:endParaRPr>
              </a:p>
            </p:txBody>
          </p:sp>
          <p:sp>
            <p:nvSpPr>
              <p:cNvPr id="8421" name="Oval 230"/>
              <p:cNvSpPr>
                <a:spLocks noChangeArrowheads="1"/>
              </p:cNvSpPr>
              <p:nvPr/>
            </p:nvSpPr>
            <p:spPr bwMode="auto">
              <a:xfrm>
                <a:off x="0" y="0"/>
                <a:ext cx="357" cy="1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grpSp>
            <p:nvGrpSpPr>
              <p:cNvPr id="8422" name="Group 231"/>
              <p:cNvGrpSpPr>
                <a:grpSpLocks/>
              </p:cNvGrpSpPr>
              <p:nvPr/>
            </p:nvGrpSpPr>
            <p:grpSpPr bwMode="auto">
              <a:xfrm>
                <a:off x="86" y="25"/>
                <a:ext cx="177" cy="66"/>
                <a:chOff x="0" y="0"/>
                <a:chExt cx="140" cy="98"/>
              </a:xfrm>
            </p:grpSpPr>
            <p:sp>
              <p:nvSpPr>
                <p:cNvPr id="8423" name="Line 232"/>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24" name="Line 233"/>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25" name="Line 234"/>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426" name="Group 235"/>
              <p:cNvGrpSpPr>
                <a:grpSpLocks/>
              </p:cNvGrpSpPr>
              <p:nvPr/>
            </p:nvGrpSpPr>
            <p:grpSpPr bwMode="auto">
              <a:xfrm flipV="1">
                <a:off x="86" y="24"/>
                <a:ext cx="177" cy="66"/>
                <a:chOff x="0" y="0"/>
                <a:chExt cx="140" cy="98"/>
              </a:xfrm>
            </p:grpSpPr>
            <p:sp>
              <p:nvSpPr>
                <p:cNvPr id="8427" name="Line 236"/>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28" name="Line 237"/>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29" name="Line 238"/>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8430" name="Group 239"/>
            <p:cNvGrpSpPr>
              <a:grpSpLocks/>
            </p:cNvGrpSpPr>
            <p:nvPr/>
          </p:nvGrpSpPr>
          <p:grpSpPr bwMode="auto">
            <a:xfrm>
              <a:off x="772" y="2526"/>
              <a:ext cx="360" cy="175"/>
              <a:chOff x="0" y="0"/>
              <a:chExt cx="360" cy="175"/>
            </a:xfrm>
          </p:grpSpPr>
          <p:sp>
            <p:nvSpPr>
              <p:cNvPr id="8431" name="Oval 240"/>
              <p:cNvSpPr>
                <a:spLocks noChangeArrowheads="1"/>
              </p:cNvSpPr>
              <p:nvPr/>
            </p:nvSpPr>
            <p:spPr bwMode="auto">
              <a:xfrm>
                <a:off x="3" y="78"/>
                <a:ext cx="357" cy="9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8432" name="Line 241"/>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33" name="Line 242"/>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34" name="Rectangle 243"/>
              <p:cNvSpPr>
                <a:spLocks noChangeArrowheads="1"/>
              </p:cNvSpPr>
              <p:nvPr/>
            </p:nvSpPr>
            <p:spPr bwMode="auto">
              <a:xfrm>
                <a:off x="3" y="70"/>
                <a:ext cx="3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solidFill>
                    <a:schemeClr val="accent1"/>
                  </a:solidFill>
                  <a:ea typeface="华文楷体" panose="02010600040101010101" pitchFamily="2" charset="-122"/>
                </a:endParaRPr>
              </a:p>
            </p:txBody>
          </p:sp>
          <p:sp>
            <p:nvSpPr>
              <p:cNvPr id="8435" name="Oval 244"/>
              <p:cNvSpPr>
                <a:spLocks noChangeArrowheads="1"/>
              </p:cNvSpPr>
              <p:nvPr/>
            </p:nvSpPr>
            <p:spPr bwMode="auto">
              <a:xfrm>
                <a:off x="0" y="0"/>
                <a:ext cx="357" cy="1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grpSp>
            <p:nvGrpSpPr>
              <p:cNvPr id="8436" name="Group 245"/>
              <p:cNvGrpSpPr>
                <a:grpSpLocks/>
              </p:cNvGrpSpPr>
              <p:nvPr/>
            </p:nvGrpSpPr>
            <p:grpSpPr bwMode="auto">
              <a:xfrm>
                <a:off x="86" y="25"/>
                <a:ext cx="177" cy="66"/>
                <a:chOff x="0" y="0"/>
                <a:chExt cx="140" cy="98"/>
              </a:xfrm>
            </p:grpSpPr>
            <p:sp>
              <p:nvSpPr>
                <p:cNvPr id="8437" name="Line 246"/>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38" name="Line 247"/>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39" name="Line 248"/>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8440" name="Group 249"/>
              <p:cNvGrpSpPr>
                <a:grpSpLocks/>
              </p:cNvGrpSpPr>
              <p:nvPr/>
            </p:nvGrpSpPr>
            <p:grpSpPr bwMode="auto">
              <a:xfrm flipV="1">
                <a:off x="86" y="24"/>
                <a:ext cx="177" cy="66"/>
                <a:chOff x="0" y="0"/>
                <a:chExt cx="140" cy="98"/>
              </a:xfrm>
            </p:grpSpPr>
            <p:sp>
              <p:nvSpPr>
                <p:cNvPr id="8441" name="Line 250"/>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42" name="Line 251"/>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8443" name="Line 252"/>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sp>
          <p:nvSpPr>
            <p:cNvPr id="8444" name="Text Box 253"/>
            <p:cNvSpPr txBox="1">
              <a:spLocks noChangeArrowheads="1"/>
            </p:cNvSpPr>
            <p:nvPr/>
          </p:nvSpPr>
          <p:spPr bwMode="auto">
            <a:xfrm>
              <a:off x="636" y="128"/>
              <a:ext cx="56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000" b="0">
                  <a:solidFill>
                    <a:schemeClr val="accent1"/>
                  </a:solidFill>
                  <a:ea typeface="华文楷体" panose="02010600040101010101" pitchFamily="2" charset="-122"/>
                </a:rPr>
                <a:t>router</a:t>
              </a:r>
            </a:p>
          </p:txBody>
        </p:sp>
        <p:sp>
          <p:nvSpPr>
            <p:cNvPr id="8445" name="Text Box 254"/>
            <p:cNvSpPr txBox="1">
              <a:spLocks noChangeArrowheads="1"/>
            </p:cNvSpPr>
            <p:nvPr/>
          </p:nvSpPr>
          <p:spPr bwMode="auto">
            <a:xfrm>
              <a:off x="1506" y="224"/>
              <a:ext cx="97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000" b="0">
                  <a:solidFill>
                    <a:schemeClr val="accent1"/>
                  </a:solidFill>
                  <a:ea typeface="华文楷体" panose="02010600040101010101" pitchFamily="2" charset="-122"/>
                </a:rPr>
                <a:t>workstation</a:t>
              </a:r>
            </a:p>
          </p:txBody>
        </p:sp>
        <p:sp>
          <p:nvSpPr>
            <p:cNvPr id="8446" name="Text Box 255"/>
            <p:cNvSpPr txBox="1">
              <a:spLocks noChangeArrowheads="1"/>
            </p:cNvSpPr>
            <p:nvPr/>
          </p:nvSpPr>
          <p:spPr bwMode="auto">
            <a:xfrm>
              <a:off x="792" y="511"/>
              <a:ext cx="55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000" b="0">
                  <a:solidFill>
                    <a:schemeClr val="accent1"/>
                  </a:solidFill>
                  <a:ea typeface="华文楷体" panose="02010600040101010101" pitchFamily="2" charset="-122"/>
                </a:rPr>
                <a:t>server</a:t>
              </a:r>
            </a:p>
          </p:txBody>
        </p:sp>
        <p:sp>
          <p:nvSpPr>
            <p:cNvPr id="8447" name="Text Box 256"/>
            <p:cNvSpPr txBox="1">
              <a:spLocks noChangeArrowheads="1"/>
            </p:cNvSpPr>
            <p:nvPr/>
          </p:nvSpPr>
          <p:spPr bwMode="auto">
            <a:xfrm>
              <a:off x="1782" y="651"/>
              <a:ext cx="62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000" b="0">
                  <a:solidFill>
                    <a:schemeClr val="accent1"/>
                  </a:solidFill>
                  <a:ea typeface="华文楷体" panose="02010600040101010101" pitchFamily="2" charset="-122"/>
                </a:rPr>
                <a:t>mobile</a:t>
              </a:r>
            </a:p>
          </p:txBody>
        </p:sp>
      </p:grpSp>
      <p:sp>
        <p:nvSpPr>
          <p:cNvPr id="8448" name="Line 257"/>
          <p:cNvSpPr>
            <a:spLocks noChangeShapeType="1"/>
          </p:cNvSpPr>
          <p:nvPr/>
        </p:nvSpPr>
        <p:spPr bwMode="auto">
          <a:xfrm flipV="1">
            <a:off x="7793039" y="5030789"/>
            <a:ext cx="1587" cy="249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194">
                                            <p:txEl>
                                              <p:pRg st="1" end="1"/>
                                            </p:txEl>
                                          </p:spTgt>
                                        </p:tgtEl>
                                        <p:attrNameLst>
                                          <p:attrName>style.visibility</p:attrName>
                                        </p:attrNameLst>
                                      </p:cBhvr>
                                      <p:to>
                                        <p:strVal val="visible"/>
                                      </p:to>
                                    </p:set>
                                    <p:anim calcmode="lin" valueType="num">
                                      <p:cBhvr additive="base">
                                        <p:cTn id="11" dur="500" fill="hold"/>
                                        <p:tgtEl>
                                          <p:spTgt spid="8194">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8194">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194">
                                            <p:txEl>
                                              <p:pRg st="2" end="2"/>
                                            </p:txEl>
                                          </p:spTgt>
                                        </p:tgtEl>
                                        <p:attrNameLst>
                                          <p:attrName>style.visibility</p:attrName>
                                        </p:attrNameLst>
                                      </p:cBhvr>
                                      <p:to>
                                        <p:strVal val="visible"/>
                                      </p:to>
                                    </p:set>
                                    <p:anim calcmode="lin" valueType="num">
                                      <p:cBhvr additive="base">
                                        <p:cTn id="15" dur="500" fill="hold"/>
                                        <p:tgtEl>
                                          <p:spTgt spid="8194">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8194">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8194">
                                            <p:txEl>
                                              <p:pRg st="3" end="3"/>
                                            </p:txEl>
                                          </p:spTgt>
                                        </p:tgtEl>
                                        <p:attrNameLst>
                                          <p:attrName>style.visibility</p:attrName>
                                        </p:attrNameLst>
                                      </p:cBhvr>
                                      <p:to>
                                        <p:strVal val="visible"/>
                                      </p:to>
                                    </p:set>
                                    <p:anim calcmode="lin" valueType="num">
                                      <p:cBhvr additive="base">
                                        <p:cTn id="19" dur="500" fill="hold"/>
                                        <p:tgtEl>
                                          <p:spTgt spid="8194">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19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194">
                                            <p:txEl>
                                              <p:pRg st="4" end="4"/>
                                            </p:txEl>
                                          </p:spTgt>
                                        </p:tgtEl>
                                        <p:attrNameLst>
                                          <p:attrName>style.visibility</p:attrName>
                                        </p:attrNameLst>
                                      </p:cBhvr>
                                      <p:to>
                                        <p:strVal val="visible"/>
                                      </p:to>
                                    </p:set>
                                    <p:anim calcmode="lin" valueType="num">
                                      <p:cBhvr additive="base">
                                        <p:cTn id="25" dur="500" fill="hold"/>
                                        <p:tgtEl>
                                          <p:spTgt spid="8194">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19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194">
                                            <p:txEl>
                                              <p:pRg st="5" end="5"/>
                                            </p:txEl>
                                          </p:spTgt>
                                        </p:tgtEl>
                                        <p:attrNameLst>
                                          <p:attrName>style.visibility</p:attrName>
                                        </p:attrNameLst>
                                      </p:cBhvr>
                                      <p:to>
                                        <p:strVal val="visible"/>
                                      </p:to>
                                    </p:set>
                                    <p:anim calcmode="lin" valueType="num">
                                      <p:cBhvr additive="base">
                                        <p:cTn id="31" dur="500" fill="hold"/>
                                        <p:tgtEl>
                                          <p:spTgt spid="8194">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194">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8194">
                                            <p:txEl>
                                              <p:pRg st="6" end="6"/>
                                            </p:txEl>
                                          </p:spTgt>
                                        </p:tgtEl>
                                        <p:attrNameLst>
                                          <p:attrName>style.visibility</p:attrName>
                                        </p:attrNameLst>
                                      </p:cBhvr>
                                      <p:to>
                                        <p:strVal val="visible"/>
                                      </p:to>
                                    </p:set>
                                    <p:anim calcmode="lin" valueType="num">
                                      <p:cBhvr additive="base">
                                        <p:cTn id="35" dur="500" fill="hold"/>
                                        <p:tgtEl>
                                          <p:spTgt spid="8194">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819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8194">
                                            <p:txEl>
                                              <p:pRg st="7" end="7"/>
                                            </p:txEl>
                                          </p:spTgt>
                                        </p:tgtEl>
                                        <p:attrNameLst>
                                          <p:attrName>style.visibility</p:attrName>
                                        </p:attrNameLst>
                                      </p:cBhvr>
                                      <p:to>
                                        <p:strVal val="visible"/>
                                      </p:to>
                                    </p:set>
                                    <p:anim calcmode="lin" valueType="num">
                                      <p:cBhvr additive="base">
                                        <p:cTn id="41" dur="500" fill="hold"/>
                                        <p:tgtEl>
                                          <p:spTgt spid="8194">
                                            <p:txEl>
                                              <p:pRg st="7" end="7"/>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8194">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ge2.gif (12028 字节)"/>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763712" y="1432962"/>
            <a:ext cx="8680450" cy="515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Grp="1" noChangeArrowheads="1"/>
          </p:cNvSpPr>
          <p:nvPr>
            <p:ph type="title"/>
          </p:nvPr>
        </p:nvSpPr>
        <p:spPr>
          <a:xfrm>
            <a:off x="3149601" y="198438"/>
            <a:ext cx="5908675" cy="766762"/>
          </a:xfrm>
        </p:spPr>
        <p:txBody>
          <a:bodyPr/>
          <a:lstStyle/>
          <a:p>
            <a:pPr algn="ctr" eaLnBrk="1" hangingPunct="1"/>
            <a:r>
              <a:rPr lang="zh-CN" altLang="zh-CN" sz="4400">
                <a:ea typeface="华文楷体" panose="02010600040101010101" pitchFamily="2" charset="-122"/>
              </a:rPr>
              <a:t>网络实例（LAN）</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1+#ppt_w/2"/>
                                          </p:val>
                                        </p:tav>
                                        <p:tav tm="100000">
                                          <p:val>
                                            <p:strVal val="#ppt_x"/>
                                          </p:val>
                                        </p:tav>
                                      </p:tavLst>
                                    </p:anim>
                                    <p:anim calcmode="lin" valueType="num">
                                      <p:cBhvr additive="base">
                                        <p:cTn id="8" dur="500" fill="hold"/>
                                        <p:tgtEl>
                                          <p:spTgt spid="92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a:xfrm>
            <a:off x="3621089" y="130175"/>
            <a:ext cx="4935537" cy="819150"/>
          </a:xfrm>
        </p:spPr>
        <p:txBody>
          <a:bodyPr/>
          <a:lstStyle/>
          <a:p>
            <a:pPr algn="ctr" eaLnBrk="1" hangingPunct="1">
              <a:lnSpc>
                <a:spcPct val="88000"/>
              </a:lnSpc>
            </a:pPr>
            <a:r>
              <a:rPr lang="zh-CN" altLang="zh-CN" sz="4400">
                <a:ea typeface="华文楷体" panose="02010600040101010101" pitchFamily="2" charset="-122"/>
              </a:rPr>
              <a:t>Campus （校园网）</a:t>
            </a:r>
            <a:endParaRPr lang="zh-CN" altLang="zh-CN" sz="2800" b="0">
              <a:solidFill>
                <a:srgbClr val="CC3300"/>
              </a:solidFill>
              <a:latin typeface="华文新魏" panose="02010800040101010101" pitchFamily="2" charset="-122"/>
              <a:ea typeface="华文新魏" panose="02010800040101010101" pitchFamily="2" charset="-122"/>
            </a:endParaRPr>
          </a:p>
        </p:txBody>
      </p:sp>
      <p:sp>
        <p:nvSpPr>
          <p:cNvPr id="10242" name="Line 3"/>
          <p:cNvSpPr>
            <a:spLocks noChangeShapeType="1"/>
          </p:cNvSpPr>
          <p:nvPr/>
        </p:nvSpPr>
        <p:spPr bwMode="auto">
          <a:xfrm flipH="1" flipV="1">
            <a:off x="5095875" y="2716214"/>
            <a:ext cx="541338" cy="414337"/>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43" name="未知"/>
          <p:cNvSpPr>
            <a:spLocks noChangeArrowheads="1"/>
          </p:cNvSpPr>
          <p:nvPr/>
        </p:nvSpPr>
        <p:spPr bwMode="auto">
          <a:xfrm>
            <a:off x="4097338" y="1981201"/>
            <a:ext cx="1300162" cy="804863"/>
          </a:xfrm>
          <a:custGeom>
            <a:avLst/>
            <a:gdLst>
              <a:gd name="T0" fmla="*/ 727 w 728"/>
              <a:gd name="T1" fmla="*/ 0 h 451"/>
              <a:gd name="T2" fmla="*/ 347 w 728"/>
              <a:gd name="T3" fmla="*/ 0 h 451"/>
              <a:gd name="T4" fmla="*/ 0 w 728"/>
              <a:gd name="T5" fmla="*/ 450 h 451"/>
            </a:gdLst>
            <a:ahLst/>
            <a:cxnLst>
              <a:cxn ang="0">
                <a:pos x="T0" y="T1"/>
              </a:cxn>
              <a:cxn ang="0">
                <a:pos x="T2" y="T3"/>
              </a:cxn>
              <a:cxn ang="0">
                <a:pos x="T4" y="T5"/>
              </a:cxn>
            </a:cxnLst>
            <a:rect l="0" t="0" r="r" b="b"/>
            <a:pathLst>
              <a:path w="728" h="451">
                <a:moveTo>
                  <a:pt x="727" y="0"/>
                </a:moveTo>
                <a:lnTo>
                  <a:pt x="347" y="0"/>
                </a:lnTo>
                <a:lnTo>
                  <a:pt x="0" y="450"/>
                </a:lnTo>
              </a:path>
            </a:pathLst>
          </a:custGeom>
          <a:noFill/>
          <a:ln w="25400" cap="rnd">
            <a:solidFill>
              <a:srgbClr val="00C700"/>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44" name="未知"/>
          <p:cNvSpPr>
            <a:spLocks noChangeArrowheads="1"/>
          </p:cNvSpPr>
          <p:nvPr/>
        </p:nvSpPr>
        <p:spPr bwMode="auto">
          <a:xfrm>
            <a:off x="3652838" y="1981200"/>
            <a:ext cx="1181100" cy="717550"/>
          </a:xfrm>
          <a:custGeom>
            <a:avLst/>
            <a:gdLst>
              <a:gd name="T0" fmla="*/ 0 w 662"/>
              <a:gd name="T1" fmla="*/ 0 h 402"/>
              <a:gd name="T2" fmla="*/ 356 w 662"/>
              <a:gd name="T3" fmla="*/ 0 h 402"/>
              <a:gd name="T4" fmla="*/ 661 w 662"/>
              <a:gd name="T5" fmla="*/ 401 h 402"/>
            </a:gdLst>
            <a:ahLst/>
            <a:cxnLst>
              <a:cxn ang="0">
                <a:pos x="T0" y="T1"/>
              </a:cxn>
              <a:cxn ang="0">
                <a:pos x="T2" y="T3"/>
              </a:cxn>
              <a:cxn ang="0">
                <a:pos x="T4" y="T5"/>
              </a:cxn>
            </a:cxnLst>
            <a:rect l="0" t="0" r="r" b="b"/>
            <a:pathLst>
              <a:path w="662" h="402">
                <a:moveTo>
                  <a:pt x="0" y="0"/>
                </a:moveTo>
                <a:lnTo>
                  <a:pt x="356" y="0"/>
                </a:lnTo>
                <a:lnTo>
                  <a:pt x="661" y="401"/>
                </a:lnTo>
              </a:path>
            </a:pathLst>
          </a:custGeom>
          <a:noFill/>
          <a:ln w="25400" cap="rnd">
            <a:solidFill>
              <a:srgbClr val="00C700"/>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45" name="未知"/>
          <p:cNvSpPr>
            <a:spLocks noChangeArrowheads="1"/>
          </p:cNvSpPr>
          <p:nvPr/>
        </p:nvSpPr>
        <p:spPr bwMode="auto">
          <a:xfrm>
            <a:off x="4111626" y="2360613"/>
            <a:ext cx="1203325" cy="474662"/>
          </a:xfrm>
          <a:custGeom>
            <a:avLst/>
            <a:gdLst>
              <a:gd name="T0" fmla="*/ 673 w 674"/>
              <a:gd name="T1" fmla="*/ 0 h 266"/>
              <a:gd name="T2" fmla="*/ 339 w 674"/>
              <a:gd name="T3" fmla="*/ 0 h 266"/>
              <a:gd name="T4" fmla="*/ 0 w 674"/>
              <a:gd name="T5" fmla="*/ 265 h 266"/>
            </a:gdLst>
            <a:ahLst/>
            <a:cxnLst>
              <a:cxn ang="0">
                <a:pos x="T0" y="T1"/>
              </a:cxn>
              <a:cxn ang="0">
                <a:pos x="T2" y="T3"/>
              </a:cxn>
              <a:cxn ang="0">
                <a:pos x="T4" y="T5"/>
              </a:cxn>
            </a:cxnLst>
            <a:rect l="0" t="0" r="r" b="b"/>
            <a:pathLst>
              <a:path w="674" h="266">
                <a:moveTo>
                  <a:pt x="673" y="0"/>
                </a:moveTo>
                <a:lnTo>
                  <a:pt x="339" y="0"/>
                </a:lnTo>
                <a:lnTo>
                  <a:pt x="0" y="265"/>
                </a:lnTo>
              </a:path>
            </a:pathLst>
          </a:custGeom>
          <a:noFill/>
          <a:ln w="25400" cap="rnd">
            <a:solidFill>
              <a:srgbClr val="00C700"/>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46" name="未知"/>
          <p:cNvSpPr>
            <a:spLocks noChangeArrowheads="1"/>
          </p:cNvSpPr>
          <p:nvPr/>
        </p:nvSpPr>
        <p:spPr bwMode="auto">
          <a:xfrm>
            <a:off x="3754438" y="2360614"/>
            <a:ext cx="963612" cy="338137"/>
          </a:xfrm>
          <a:custGeom>
            <a:avLst/>
            <a:gdLst>
              <a:gd name="T0" fmla="*/ 0 w 540"/>
              <a:gd name="T1" fmla="*/ 0 h 189"/>
              <a:gd name="T2" fmla="*/ 302 w 540"/>
              <a:gd name="T3" fmla="*/ 0 h 189"/>
              <a:gd name="T4" fmla="*/ 539 w 540"/>
              <a:gd name="T5" fmla="*/ 188 h 189"/>
            </a:gdLst>
            <a:ahLst/>
            <a:cxnLst>
              <a:cxn ang="0">
                <a:pos x="T0" y="T1"/>
              </a:cxn>
              <a:cxn ang="0">
                <a:pos x="T2" y="T3"/>
              </a:cxn>
              <a:cxn ang="0">
                <a:pos x="T4" y="T5"/>
              </a:cxn>
            </a:cxnLst>
            <a:rect l="0" t="0" r="r" b="b"/>
            <a:pathLst>
              <a:path w="540" h="189">
                <a:moveTo>
                  <a:pt x="0" y="0"/>
                </a:moveTo>
                <a:lnTo>
                  <a:pt x="302" y="0"/>
                </a:lnTo>
                <a:lnTo>
                  <a:pt x="539" y="188"/>
                </a:lnTo>
              </a:path>
            </a:pathLst>
          </a:custGeom>
          <a:noFill/>
          <a:ln w="25400" cap="rnd">
            <a:solidFill>
              <a:srgbClr val="00C700"/>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47" name="未知"/>
          <p:cNvSpPr>
            <a:spLocks noChangeArrowheads="1"/>
          </p:cNvSpPr>
          <p:nvPr/>
        </p:nvSpPr>
        <p:spPr bwMode="auto">
          <a:xfrm>
            <a:off x="4892675" y="1878013"/>
            <a:ext cx="622300" cy="982662"/>
          </a:xfrm>
          <a:custGeom>
            <a:avLst/>
            <a:gdLst>
              <a:gd name="T0" fmla="*/ 257 w 348"/>
              <a:gd name="T1" fmla="*/ 0 h 550"/>
              <a:gd name="T2" fmla="*/ 0 w 348"/>
              <a:gd name="T3" fmla="*/ 0 h 550"/>
              <a:gd name="T4" fmla="*/ 0 w 348"/>
              <a:gd name="T5" fmla="*/ 548 h 550"/>
              <a:gd name="T6" fmla="*/ 49 w 348"/>
              <a:gd name="T7" fmla="*/ 549 h 550"/>
              <a:gd name="T8" fmla="*/ 49 w 348"/>
              <a:gd name="T9" fmla="*/ 352 h 550"/>
              <a:gd name="T10" fmla="*/ 347 w 348"/>
              <a:gd name="T11" fmla="*/ 352 h 550"/>
            </a:gdLst>
            <a:ahLst/>
            <a:cxnLst>
              <a:cxn ang="0">
                <a:pos x="T0" y="T1"/>
              </a:cxn>
              <a:cxn ang="0">
                <a:pos x="T2" y="T3"/>
              </a:cxn>
              <a:cxn ang="0">
                <a:pos x="T4" y="T5"/>
              </a:cxn>
              <a:cxn ang="0">
                <a:pos x="T6" y="T7"/>
              </a:cxn>
              <a:cxn ang="0">
                <a:pos x="T8" y="T9"/>
              </a:cxn>
              <a:cxn ang="0">
                <a:pos x="T10" y="T11"/>
              </a:cxn>
            </a:cxnLst>
            <a:rect l="0" t="0" r="r" b="b"/>
            <a:pathLst>
              <a:path w="348" h="550">
                <a:moveTo>
                  <a:pt x="257" y="0"/>
                </a:moveTo>
                <a:lnTo>
                  <a:pt x="0" y="0"/>
                </a:lnTo>
                <a:lnTo>
                  <a:pt x="0" y="548"/>
                </a:lnTo>
                <a:lnTo>
                  <a:pt x="49" y="549"/>
                </a:lnTo>
                <a:lnTo>
                  <a:pt x="49" y="352"/>
                </a:lnTo>
                <a:lnTo>
                  <a:pt x="347" y="352"/>
                </a:lnTo>
              </a:path>
            </a:pathLst>
          </a:custGeom>
          <a:noFill/>
          <a:ln w="25400" cap="rnd">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48" name="未知"/>
          <p:cNvSpPr>
            <a:spLocks noChangeArrowheads="1"/>
          </p:cNvSpPr>
          <p:nvPr/>
        </p:nvSpPr>
        <p:spPr bwMode="auto">
          <a:xfrm>
            <a:off x="3540126" y="1868489"/>
            <a:ext cx="620713" cy="981075"/>
          </a:xfrm>
          <a:custGeom>
            <a:avLst/>
            <a:gdLst>
              <a:gd name="T0" fmla="*/ 90 w 348"/>
              <a:gd name="T1" fmla="*/ 0 h 550"/>
              <a:gd name="T2" fmla="*/ 347 w 348"/>
              <a:gd name="T3" fmla="*/ 0 h 550"/>
              <a:gd name="T4" fmla="*/ 347 w 348"/>
              <a:gd name="T5" fmla="*/ 548 h 550"/>
              <a:gd name="T6" fmla="*/ 299 w 348"/>
              <a:gd name="T7" fmla="*/ 549 h 550"/>
              <a:gd name="T8" fmla="*/ 298 w 348"/>
              <a:gd name="T9" fmla="*/ 352 h 550"/>
              <a:gd name="T10" fmla="*/ 0 w 348"/>
              <a:gd name="T11" fmla="*/ 352 h 550"/>
            </a:gdLst>
            <a:ahLst/>
            <a:cxnLst>
              <a:cxn ang="0">
                <a:pos x="T0" y="T1"/>
              </a:cxn>
              <a:cxn ang="0">
                <a:pos x="T2" y="T3"/>
              </a:cxn>
              <a:cxn ang="0">
                <a:pos x="T4" y="T5"/>
              </a:cxn>
              <a:cxn ang="0">
                <a:pos x="T6" y="T7"/>
              </a:cxn>
              <a:cxn ang="0">
                <a:pos x="T8" y="T9"/>
              </a:cxn>
              <a:cxn ang="0">
                <a:pos x="T10" y="T11"/>
              </a:cxn>
            </a:cxnLst>
            <a:rect l="0" t="0" r="r" b="b"/>
            <a:pathLst>
              <a:path w="348" h="550">
                <a:moveTo>
                  <a:pt x="90" y="0"/>
                </a:moveTo>
                <a:lnTo>
                  <a:pt x="347" y="0"/>
                </a:lnTo>
                <a:lnTo>
                  <a:pt x="347" y="548"/>
                </a:lnTo>
                <a:lnTo>
                  <a:pt x="299" y="549"/>
                </a:lnTo>
                <a:lnTo>
                  <a:pt x="298" y="352"/>
                </a:lnTo>
                <a:lnTo>
                  <a:pt x="0" y="352"/>
                </a:lnTo>
              </a:path>
            </a:pathLst>
          </a:custGeom>
          <a:noFill/>
          <a:ln w="25400" cap="rnd">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49" name="Line 10"/>
          <p:cNvSpPr>
            <a:spLocks noChangeShapeType="1"/>
          </p:cNvSpPr>
          <p:nvPr/>
        </p:nvSpPr>
        <p:spPr bwMode="auto">
          <a:xfrm>
            <a:off x="4102100" y="2986089"/>
            <a:ext cx="0" cy="295275"/>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50" name="Line 11"/>
          <p:cNvSpPr>
            <a:spLocks noChangeShapeType="1"/>
          </p:cNvSpPr>
          <p:nvPr/>
        </p:nvSpPr>
        <p:spPr bwMode="auto">
          <a:xfrm>
            <a:off x="4914900" y="2995613"/>
            <a:ext cx="0" cy="207962"/>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51" name="Line 12"/>
          <p:cNvSpPr>
            <a:spLocks noChangeShapeType="1"/>
          </p:cNvSpPr>
          <p:nvPr/>
        </p:nvSpPr>
        <p:spPr bwMode="auto">
          <a:xfrm flipH="1">
            <a:off x="4310064" y="2778125"/>
            <a:ext cx="496887" cy="0"/>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52" name="Rectangle 13"/>
          <p:cNvSpPr>
            <a:spLocks noChangeArrowheads="1"/>
          </p:cNvSpPr>
          <p:nvPr/>
        </p:nvSpPr>
        <p:spPr bwMode="auto">
          <a:xfrm>
            <a:off x="2659063" y="1552576"/>
            <a:ext cx="3382962" cy="2187575"/>
          </a:xfrm>
          <a:prstGeom prst="rect">
            <a:avLst/>
          </a:prstGeom>
          <a:noFill/>
          <a:ln w="25400">
            <a:solidFill>
              <a:schemeClr val="bg2"/>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0253" name="Rectangle 14"/>
          <p:cNvSpPr>
            <a:spLocks noChangeArrowheads="1"/>
          </p:cNvSpPr>
          <p:nvPr/>
        </p:nvSpPr>
        <p:spPr bwMode="auto">
          <a:xfrm>
            <a:off x="2187575" y="4008439"/>
            <a:ext cx="2643188" cy="2541587"/>
          </a:xfrm>
          <a:prstGeom prst="rect">
            <a:avLst/>
          </a:prstGeom>
          <a:noFill/>
          <a:ln w="25400">
            <a:solidFill>
              <a:schemeClr val="bg2"/>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0254" name="Rectangle 15"/>
          <p:cNvSpPr>
            <a:spLocks noChangeArrowheads="1"/>
          </p:cNvSpPr>
          <p:nvPr/>
        </p:nvSpPr>
        <p:spPr bwMode="auto">
          <a:xfrm>
            <a:off x="6859588" y="1552575"/>
            <a:ext cx="3384550" cy="2198688"/>
          </a:xfrm>
          <a:prstGeom prst="rect">
            <a:avLst/>
          </a:prstGeom>
          <a:noFill/>
          <a:ln w="25400">
            <a:solidFill>
              <a:schemeClr val="bg2"/>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0255" name="Line 16"/>
          <p:cNvSpPr>
            <a:spLocks noChangeShapeType="1"/>
          </p:cNvSpPr>
          <p:nvPr/>
        </p:nvSpPr>
        <p:spPr bwMode="auto">
          <a:xfrm flipH="1" flipV="1">
            <a:off x="2652713" y="4286250"/>
            <a:ext cx="919162" cy="300038"/>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56" name="Line 17"/>
          <p:cNvSpPr>
            <a:spLocks noChangeShapeType="1"/>
          </p:cNvSpPr>
          <p:nvPr/>
        </p:nvSpPr>
        <p:spPr bwMode="auto">
          <a:xfrm flipH="1">
            <a:off x="2674939" y="4567239"/>
            <a:ext cx="884237" cy="314325"/>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57" name="Line 18"/>
          <p:cNvSpPr>
            <a:spLocks noChangeShapeType="1"/>
          </p:cNvSpPr>
          <p:nvPr/>
        </p:nvSpPr>
        <p:spPr bwMode="auto">
          <a:xfrm flipH="1" flipV="1">
            <a:off x="2638425" y="5392739"/>
            <a:ext cx="871538" cy="307975"/>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58" name="Line 19"/>
          <p:cNvSpPr>
            <a:spLocks noChangeShapeType="1"/>
          </p:cNvSpPr>
          <p:nvPr/>
        </p:nvSpPr>
        <p:spPr bwMode="auto">
          <a:xfrm flipH="1">
            <a:off x="2687639" y="5697539"/>
            <a:ext cx="896937" cy="338137"/>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59" name="Line 20"/>
          <p:cNvSpPr>
            <a:spLocks noChangeShapeType="1"/>
          </p:cNvSpPr>
          <p:nvPr/>
        </p:nvSpPr>
        <p:spPr bwMode="auto">
          <a:xfrm>
            <a:off x="4918075" y="3352801"/>
            <a:ext cx="554038" cy="1089025"/>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60" name="Line 21"/>
          <p:cNvSpPr>
            <a:spLocks noChangeShapeType="1"/>
          </p:cNvSpPr>
          <p:nvPr/>
        </p:nvSpPr>
        <p:spPr bwMode="auto">
          <a:xfrm flipH="1">
            <a:off x="7272338" y="3376614"/>
            <a:ext cx="787400" cy="1101725"/>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61" name="Line 22"/>
          <p:cNvSpPr>
            <a:spLocks noChangeShapeType="1"/>
          </p:cNvSpPr>
          <p:nvPr/>
        </p:nvSpPr>
        <p:spPr bwMode="auto">
          <a:xfrm flipH="1">
            <a:off x="7331075" y="3402013"/>
            <a:ext cx="1525588" cy="1955800"/>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62" name="Line 23"/>
          <p:cNvSpPr>
            <a:spLocks noChangeShapeType="1"/>
          </p:cNvSpPr>
          <p:nvPr/>
        </p:nvSpPr>
        <p:spPr bwMode="auto">
          <a:xfrm flipH="1">
            <a:off x="3554413" y="4611688"/>
            <a:ext cx="747712" cy="0"/>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63" name="Line 24"/>
          <p:cNvSpPr>
            <a:spLocks noChangeShapeType="1"/>
          </p:cNvSpPr>
          <p:nvPr/>
        </p:nvSpPr>
        <p:spPr bwMode="auto">
          <a:xfrm flipH="1">
            <a:off x="3498851" y="5551488"/>
            <a:ext cx="962025" cy="36512"/>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64" name="Line 25"/>
          <p:cNvSpPr>
            <a:spLocks noChangeShapeType="1"/>
          </p:cNvSpPr>
          <p:nvPr/>
        </p:nvSpPr>
        <p:spPr bwMode="auto">
          <a:xfrm flipH="1">
            <a:off x="3509964" y="4710114"/>
            <a:ext cx="871537" cy="955675"/>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65" name="Line 26"/>
          <p:cNvSpPr>
            <a:spLocks noChangeShapeType="1"/>
          </p:cNvSpPr>
          <p:nvPr/>
        </p:nvSpPr>
        <p:spPr bwMode="auto">
          <a:xfrm>
            <a:off x="3551238" y="4614863"/>
            <a:ext cx="849312" cy="849312"/>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66" name="Line 27"/>
          <p:cNvSpPr>
            <a:spLocks noChangeShapeType="1"/>
          </p:cNvSpPr>
          <p:nvPr/>
        </p:nvSpPr>
        <p:spPr bwMode="auto">
          <a:xfrm flipH="1">
            <a:off x="4273551" y="4732338"/>
            <a:ext cx="1171575" cy="0"/>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67" name="Line 28"/>
          <p:cNvSpPr>
            <a:spLocks noChangeShapeType="1"/>
          </p:cNvSpPr>
          <p:nvPr/>
        </p:nvSpPr>
        <p:spPr bwMode="auto">
          <a:xfrm flipH="1">
            <a:off x="4259263" y="5507038"/>
            <a:ext cx="1185862" cy="0"/>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68" name="Line 29"/>
          <p:cNvSpPr>
            <a:spLocks noChangeShapeType="1"/>
          </p:cNvSpPr>
          <p:nvPr/>
        </p:nvSpPr>
        <p:spPr bwMode="auto">
          <a:xfrm>
            <a:off x="4110039" y="3317876"/>
            <a:ext cx="1374775" cy="2111375"/>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10269" name="Group 30"/>
          <p:cNvGrpSpPr>
            <a:grpSpLocks/>
          </p:cNvGrpSpPr>
          <p:nvPr/>
        </p:nvGrpSpPr>
        <p:grpSpPr bwMode="auto">
          <a:xfrm>
            <a:off x="4048125" y="4556126"/>
            <a:ext cx="776288" cy="1243013"/>
            <a:chOff x="0" y="0"/>
            <a:chExt cx="434" cy="696"/>
          </a:xfrm>
        </p:grpSpPr>
        <p:pic>
          <p:nvPicPr>
            <p:cNvPr id="10270" name="Picture 3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26"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1" name="Picture 3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 y="421"/>
              <a:ext cx="426"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72" name="Group 33"/>
          <p:cNvGrpSpPr>
            <a:grpSpLocks/>
          </p:cNvGrpSpPr>
          <p:nvPr/>
        </p:nvGrpSpPr>
        <p:grpSpPr bwMode="auto">
          <a:xfrm>
            <a:off x="3159126" y="4424364"/>
            <a:ext cx="836613" cy="1508125"/>
            <a:chOff x="0" y="0"/>
            <a:chExt cx="468" cy="845"/>
          </a:xfrm>
        </p:grpSpPr>
        <p:pic>
          <p:nvPicPr>
            <p:cNvPr id="10273" name="Picture 3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46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4" name="Picture 3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13"/>
              <a:ext cx="46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75" name="Line 36"/>
          <p:cNvSpPr>
            <a:spLocks noChangeShapeType="1"/>
          </p:cNvSpPr>
          <p:nvPr/>
        </p:nvSpPr>
        <p:spPr bwMode="auto">
          <a:xfrm flipH="1" flipV="1">
            <a:off x="7258051" y="2922588"/>
            <a:ext cx="752475" cy="31750"/>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76" name="未知"/>
          <p:cNvSpPr>
            <a:spLocks noChangeArrowheads="1"/>
          </p:cNvSpPr>
          <p:nvPr/>
        </p:nvSpPr>
        <p:spPr bwMode="auto">
          <a:xfrm>
            <a:off x="8010526" y="1981201"/>
            <a:ext cx="1300163" cy="804863"/>
          </a:xfrm>
          <a:custGeom>
            <a:avLst/>
            <a:gdLst>
              <a:gd name="T0" fmla="*/ 727 w 728"/>
              <a:gd name="T1" fmla="*/ 0 h 451"/>
              <a:gd name="T2" fmla="*/ 347 w 728"/>
              <a:gd name="T3" fmla="*/ 0 h 451"/>
              <a:gd name="T4" fmla="*/ 0 w 728"/>
              <a:gd name="T5" fmla="*/ 450 h 451"/>
            </a:gdLst>
            <a:ahLst/>
            <a:cxnLst>
              <a:cxn ang="0">
                <a:pos x="T0" y="T1"/>
              </a:cxn>
              <a:cxn ang="0">
                <a:pos x="T2" y="T3"/>
              </a:cxn>
              <a:cxn ang="0">
                <a:pos x="T4" y="T5"/>
              </a:cxn>
            </a:cxnLst>
            <a:rect l="0" t="0" r="r" b="b"/>
            <a:pathLst>
              <a:path w="728" h="451">
                <a:moveTo>
                  <a:pt x="727" y="0"/>
                </a:moveTo>
                <a:lnTo>
                  <a:pt x="347" y="0"/>
                </a:lnTo>
                <a:lnTo>
                  <a:pt x="0" y="450"/>
                </a:lnTo>
              </a:path>
            </a:pathLst>
          </a:custGeom>
          <a:noFill/>
          <a:ln w="25400" cap="rnd">
            <a:solidFill>
              <a:srgbClr val="00C700"/>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77" name="未知"/>
          <p:cNvSpPr>
            <a:spLocks noChangeArrowheads="1"/>
          </p:cNvSpPr>
          <p:nvPr/>
        </p:nvSpPr>
        <p:spPr bwMode="auto">
          <a:xfrm>
            <a:off x="7566025" y="1981200"/>
            <a:ext cx="1182688" cy="717550"/>
          </a:xfrm>
          <a:custGeom>
            <a:avLst/>
            <a:gdLst>
              <a:gd name="T0" fmla="*/ 0 w 662"/>
              <a:gd name="T1" fmla="*/ 0 h 402"/>
              <a:gd name="T2" fmla="*/ 356 w 662"/>
              <a:gd name="T3" fmla="*/ 0 h 402"/>
              <a:gd name="T4" fmla="*/ 661 w 662"/>
              <a:gd name="T5" fmla="*/ 401 h 402"/>
            </a:gdLst>
            <a:ahLst/>
            <a:cxnLst>
              <a:cxn ang="0">
                <a:pos x="T0" y="T1"/>
              </a:cxn>
              <a:cxn ang="0">
                <a:pos x="T2" y="T3"/>
              </a:cxn>
              <a:cxn ang="0">
                <a:pos x="T4" y="T5"/>
              </a:cxn>
            </a:cxnLst>
            <a:rect l="0" t="0" r="r" b="b"/>
            <a:pathLst>
              <a:path w="662" h="402">
                <a:moveTo>
                  <a:pt x="0" y="0"/>
                </a:moveTo>
                <a:lnTo>
                  <a:pt x="356" y="0"/>
                </a:lnTo>
                <a:lnTo>
                  <a:pt x="661" y="401"/>
                </a:lnTo>
              </a:path>
            </a:pathLst>
          </a:custGeom>
          <a:noFill/>
          <a:ln w="25400" cap="rnd">
            <a:solidFill>
              <a:srgbClr val="00C700"/>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78" name="未知"/>
          <p:cNvSpPr>
            <a:spLocks noChangeArrowheads="1"/>
          </p:cNvSpPr>
          <p:nvPr/>
        </p:nvSpPr>
        <p:spPr bwMode="auto">
          <a:xfrm>
            <a:off x="8024814" y="2360613"/>
            <a:ext cx="1203325" cy="474662"/>
          </a:xfrm>
          <a:custGeom>
            <a:avLst/>
            <a:gdLst>
              <a:gd name="T0" fmla="*/ 673 w 674"/>
              <a:gd name="T1" fmla="*/ 0 h 266"/>
              <a:gd name="T2" fmla="*/ 339 w 674"/>
              <a:gd name="T3" fmla="*/ 0 h 266"/>
              <a:gd name="T4" fmla="*/ 0 w 674"/>
              <a:gd name="T5" fmla="*/ 265 h 266"/>
            </a:gdLst>
            <a:ahLst/>
            <a:cxnLst>
              <a:cxn ang="0">
                <a:pos x="T0" y="T1"/>
              </a:cxn>
              <a:cxn ang="0">
                <a:pos x="T2" y="T3"/>
              </a:cxn>
              <a:cxn ang="0">
                <a:pos x="T4" y="T5"/>
              </a:cxn>
            </a:cxnLst>
            <a:rect l="0" t="0" r="r" b="b"/>
            <a:pathLst>
              <a:path w="674" h="266">
                <a:moveTo>
                  <a:pt x="673" y="0"/>
                </a:moveTo>
                <a:lnTo>
                  <a:pt x="339" y="0"/>
                </a:lnTo>
                <a:lnTo>
                  <a:pt x="0" y="265"/>
                </a:lnTo>
              </a:path>
            </a:pathLst>
          </a:custGeom>
          <a:noFill/>
          <a:ln w="25400" cap="rnd">
            <a:solidFill>
              <a:srgbClr val="00C700"/>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79" name="未知"/>
          <p:cNvSpPr>
            <a:spLocks noChangeArrowheads="1"/>
          </p:cNvSpPr>
          <p:nvPr/>
        </p:nvSpPr>
        <p:spPr bwMode="auto">
          <a:xfrm>
            <a:off x="7667626" y="2360613"/>
            <a:ext cx="1084263" cy="442912"/>
          </a:xfrm>
          <a:custGeom>
            <a:avLst/>
            <a:gdLst>
              <a:gd name="T0" fmla="*/ 0 w 607"/>
              <a:gd name="T1" fmla="*/ 0 h 248"/>
              <a:gd name="T2" fmla="*/ 302 w 607"/>
              <a:gd name="T3" fmla="*/ 0 h 248"/>
              <a:gd name="T4" fmla="*/ 606 w 607"/>
              <a:gd name="T5" fmla="*/ 247 h 248"/>
            </a:gdLst>
            <a:ahLst/>
            <a:cxnLst>
              <a:cxn ang="0">
                <a:pos x="T0" y="T1"/>
              </a:cxn>
              <a:cxn ang="0">
                <a:pos x="T2" y="T3"/>
              </a:cxn>
              <a:cxn ang="0">
                <a:pos x="T4" y="T5"/>
              </a:cxn>
            </a:cxnLst>
            <a:rect l="0" t="0" r="r" b="b"/>
            <a:pathLst>
              <a:path w="607" h="248">
                <a:moveTo>
                  <a:pt x="0" y="0"/>
                </a:moveTo>
                <a:lnTo>
                  <a:pt x="302" y="0"/>
                </a:lnTo>
                <a:lnTo>
                  <a:pt x="606" y="247"/>
                </a:lnTo>
              </a:path>
            </a:pathLst>
          </a:custGeom>
          <a:noFill/>
          <a:ln w="25400" cap="rnd">
            <a:solidFill>
              <a:srgbClr val="00C700"/>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80" name="未知"/>
          <p:cNvSpPr>
            <a:spLocks noChangeArrowheads="1"/>
          </p:cNvSpPr>
          <p:nvPr/>
        </p:nvSpPr>
        <p:spPr bwMode="auto">
          <a:xfrm>
            <a:off x="8807451" y="1878013"/>
            <a:ext cx="620713" cy="982662"/>
          </a:xfrm>
          <a:custGeom>
            <a:avLst/>
            <a:gdLst>
              <a:gd name="T0" fmla="*/ 257 w 348"/>
              <a:gd name="T1" fmla="*/ 0 h 550"/>
              <a:gd name="T2" fmla="*/ 0 w 348"/>
              <a:gd name="T3" fmla="*/ 0 h 550"/>
              <a:gd name="T4" fmla="*/ 0 w 348"/>
              <a:gd name="T5" fmla="*/ 548 h 550"/>
              <a:gd name="T6" fmla="*/ 49 w 348"/>
              <a:gd name="T7" fmla="*/ 549 h 550"/>
              <a:gd name="T8" fmla="*/ 49 w 348"/>
              <a:gd name="T9" fmla="*/ 352 h 550"/>
              <a:gd name="T10" fmla="*/ 347 w 348"/>
              <a:gd name="T11" fmla="*/ 352 h 550"/>
            </a:gdLst>
            <a:ahLst/>
            <a:cxnLst>
              <a:cxn ang="0">
                <a:pos x="T0" y="T1"/>
              </a:cxn>
              <a:cxn ang="0">
                <a:pos x="T2" y="T3"/>
              </a:cxn>
              <a:cxn ang="0">
                <a:pos x="T4" y="T5"/>
              </a:cxn>
              <a:cxn ang="0">
                <a:pos x="T6" y="T7"/>
              </a:cxn>
              <a:cxn ang="0">
                <a:pos x="T8" y="T9"/>
              </a:cxn>
              <a:cxn ang="0">
                <a:pos x="T10" y="T11"/>
              </a:cxn>
            </a:cxnLst>
            <a:rect l="0" t="0" r="r" b="b"/>
            <a:pathLst>
              <a:path w="348" h="550">
                <a:moveTo>
                  <a:pt x="257" y="0"/>
                </a:moveTo>
                <a:lnTo>
                  <a:pt x="0" y="0"/>
                </a:lnTo>
                <a:lnTo>
                  <a:pt x="0" y="548"/>
                </a:lnTo>
                <a:lnTo>
                  <a:pt x="49" y="549"/>
                </a:lnTo>
                <a:lnTo>
                  <a:pt x="49" y="352"/>
                </a:lnTo>
                <a:lnTo>
                  <a:pt x="347" y="352"/>
                </a:lnTo>
              </a:path>
            </a:pathLst>
          </a:custGeom>
          <a:noFill/>
          <a:ln w="25400" cap="rnd">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81" name="未知"/>
          <p:cNvSpPr>
            <a:spLocks noChangeArrowheads="1"/>
          </p:cNvSpPr>
          <p:nvPr/>
        </p:nvSpPr>
        <p:spPr bwMode="auto">
          <a:xfrm>
            <a:off x="7443788" y="1878013"/>
            <a:ext cx="620712" cy="982662"/>
          </a:xfrm>
          <a:custGeom>
            <a:avLst/>
            <a:gdLst>
              <a:gd name="T0" fmla="*/ 90 w 348"/>
              <a:gd name="T1" fmla="*/ 0 h 550"/>
              <a:gd name="T2" fmla="*/ 347 w 348"/>
              <a:gd name="T3" fmla="*/ 0 h 550"/>
              <a:gd name="T4" fmla="*/ 347 w 348"/>
              <a:gd name="T5" fmla="*/ 548 h 550"/>
              <a:gd name="T6" fmla="*/ 299 w 348"/>
              <a:gd name="T7" fmla="*/ 549 h 550"/>
              <a:gd name="T8" fmla="*/ 298 w 348"/>
              <a:gd name="T9" fmla="*/ 352 h 550"/>
              <a:gd name="T10" fmla="*/ 0 w 348"/>
              <a:gd name="T11" fmla="*/ 352 h 550"/>
            </a:gdLst>
            <a:ahLst/>
            <a:cxnLst>
              <a:cxn ang="0">
                <a:pos x="T0" y="T1"/>
              </a:cxn>
              <a:cxn ang="0">
                <a:pos x="T2" y="T3"/>
              </a:cxn>
              <a:cxn ang="0">
                <a:pos x="T4" y="T5"/>
              </a:cxn>
              <a:cxn ang="0">
                <a:pos x="T6" y="T7"/>
              </a:cxn>
              <a:cxn ang="0">
                <a:pos x="T8" y="T9"/>
              </a:cxn>
              <a:cxn ang="0">
                <a:pos x="T10" y="T11"/>
              </a:cxn>
            </a:cxnLst>
            <a:rect l="0" t="0" r="r" b="b"/>
            <a:pathLst>
              <a:path w="348" h="550">
                <a:moveTo>
                  <a:pt x="90" y="0"/>
                </a:moveTo>
                <a:lnTo>
                  <a:pt x="347" y="0"/>
                </a:lnTo>
                <a:lnTo>
                  <a:pt x="347" y="548"/>
                </a:lnTo>
                <a:lnTo>
                  <a:pt x="299" y="549"/>
                </a:lnTo>
                <a:lnTo>
                  <a:pt x="298" y="352"/>
                </a:lnTo>
                <a:lnTo>
                  <a:pt x="0" y="352"/>
                </a:lnTo>
              </a:path>
            </a:pathLst>
          </a:custGeom>
          <a:noFill/>
          <a:ln w="25400" cap="rnd">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10282" name="Line 43"/>
          <p:cNvSpPr>
            <a:spLocks noChangeShapeType="1"/>
          </p:cNvSpPr>
          <p:nvPr/>
        </p:nvSpPr>
        <p:spPr bwMode="auto">
          <a:xfrm>
            <a:off x="8016875" y="2986089"/>
            <a:ext cx="0" cy="295275"/>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83" name="Line 44"/>
          <p:cNvSpPr>
            <a:spLocks noChangeShapeType="1"/>
          </p:cNvSpPr>
          <p:nvPr/>
        </p:nvSpPr>
        <p:spPr bwMode="auto">
          <a:xfrm>
            <a:off x="8828088" y="2995613"/>
            <a:ext cx="0" cy="207962"/>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84" name="Line 45"/>
          <p:cNvSpPr>
            <a:spLocks noChangeShapeType="1"/>
          </p:cNvSpPr>
          <p:nvPr/>
        </p:nvSpPr>
        <p:spPr bwMode="auto">
          <a:xfrm flipH="1">
            <a:off x="8223251" y="2778125"/>
            <a:ext cx="498475" cy="0"/>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85" name="Rectangle 46"/>
          <p:cNvSpPr>
            <a:spLocks noChangeArrowheads="1"/>
          </p:cNvSpPr>
          <p:nvPr/>
        </p:nvSpPr>
        <p:spPr bwMode="auto">
          <a:xfrm>
            <a:off x="5102225" y="4008438"/>
            <a:ext cx="2757488" cy="1827212"/>
          </a:xfrm>
          <a:prstGeom prst="rect">
            <a:avLst/>
          </a:prstGeom>
          <a:noFill/>
          <a:ln w="25400">
            <a:solidFill>
              <a:schemeClr val="bg2"/>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10286" name="Line 47"/>
          <p:cNvSpPr>
            <a:spLocks noChangeShapeType="1"/>
          </p:cNvSpPr>
          <p:nvPr/>
        </p:nvSpPr>
        <p:spPr bwMode="auto">
          <a:xfrm>
            <a:off x="7280275" y="4552951"/>
            <a:ext cx="0" cy="842963"/>
          </a:xfrm>
          <a:prstGeom prst="line">
            <a:avLst/>
          </a:prstGeom>
          <a:noFill/>
          <a:ln w="762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87" name="Line 48"/>
          <p:cNvSpPr>
            <a:spLocks noChangeShapeType="1"/>
          </p:cNvSpPr>
          <p:nvPr/>
        </p:nvSpPr>
        <p:spPr bwMode="auto">
          <a:xfrm>
            <a:off x="5534026" y="4572000"/>
            <a:ext cx="4763" cy="795338"/>
          </a:xfrm>
          <a:prstGeom prst="line">
            <a:avLst/>
          </a:prstGeom>
          <a:noFill/>
          <a:ln w="762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88" name="Line 49"/>
          <p:cNvSpPr>
            <a:spLocks noChangeShapeType="1"/>
          </p:cNvSpPr>
          <p:nvPr/>
        </p:nvSpPr>
        <p:spPr bwMode="auto">
          <a:xfrm>
            <a:off x="5780088" y="5359400"/>
            <a:ext cx="1471612" cy="0"/>
          </a:xfrm>
          <a:prstGeom prst="line">
            <a:avLst/>
          </a:prstGeom>
          <a:noFill/>
          <a:ln w="762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0289" name="Line 50"/>
          <p:cNvSpPr>
            <a:spLocks noChangeShapeType="1"/>
          </p:cNvSpPr>
          <p:nvPr/>
        </p:nvSpPr>
        <p:spPr bwMode="auto">
          <a:xfrm flipV="1">
            <a:off x="5768976" y="4411663"/>
            <a:ext cx="1196975" cy="87312"/>
          </a:xfrm>
          <a:prstGeom prst="line">
            <a:avLst/>
          </a:prstGeom>
          <a:noFill/>
          <a:ln w="762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pic>
        <p:nvPicPr>
          <p:cNvPr id="10290" name="Picture 5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0239" y="4106864"/>
            <a:ext cx="82232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1" name="Picture 5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29225" y="4106864"/>
            <a:ext cx="820738"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2" name="Picture 5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29225" y="5014914"/>
            <a:ext cx="820738"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3" name="Picture 5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80239" y="5014914"/>
            <a:ext cx="82232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4" name="Rectangle 55"/>
          <p:cNvSpPr>
            <a:spLocks noChangeArrowheads="1"/>
          </p:cNvSpPr>
          <p:nvPr/>
        </p:nvSpPr>
        <p:spPr bwMode="auto">
          <a:xfrm>
            <a:off x="6010773" y="4665664"/>
            <a:ext cx="848318" cy="439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763" tIns="49988" rIns="101763" bIns="49988">
            <a:spAutoFit/>
          </a:bodyPr>
          <a:lstStyle>
            <a:lvl1pPr defTabSz="1028700">
              <a:defRPr sz="2800" b="1">
                <a:solidFill>
                  <a:schemeClr val="tx1"/>
                </a:solidFill>
                <a:latin typeface="Times New Roman" panose="02020603050405020304" pitchFamily="18" charset="0"/>
                <a:ea typeface="宋体" panose="02010600030101010101" pitchFamily="2" charset="-122"/>
              </a:defRPr>
            </a:lvl1pPr>
            <a:lvl2pPr defTabSz="1028700">
              <a:defRPr sz="2800" b="1">
                <a:solidFill>
                  <a:schemeClr val="tx1"/>
                </a:solidFill>
                <a:latin typeface="Times New Roman" panose="02020603050405020304" pitchFamily="18" charset="0"/>
                <a:ea typeface="宋体" panose="02010600030101010101" pitchFamily="2" charset="-122"/>
              </a:defRPr>
            </a:lvl2pPr>
            <a:lvl3pPr defTabSz="1028700">
              <a:defRPr sz="2800" b="1">
                <a:solidFill>
                  <a:schemeClr val="tx1"/>
                </a:solidFill>
                <a:latin typeface="Times New Roman" panose="02020603050405020304" pitchFamily="18" charset="0"/>
                <a:ea typeface="宋体" panose="02010600030101010101" pitchFamily="2" charset="-122"/>
              </a:defRPr>
            </a:lvl3pPr>
            <a:lvl4pPr defTabSz="1028700">
              <a:defRPr sz="2800" b="1">
                <a:solidFill>
                  <a:schemeClr val="tx1"/>
                </a:solidFill>
                <a:latin typeface="Times New Roman" panose="02020603050405020304" pitchFamily="18" charset="0"/>
                <a:ea typeface="宋体" panose="02010600030101010101" pitchFamily="2" charset="-122"/>
              </a:defRPr>
            </a:lvl4pPr>
            <a:lvl5pPr defTabSz="1028700">
              <a:defRPr sz="2800" b="1">
                <a:solidFill>
                  <a:schemeClr val="tx1"/>
                </a:solidFill>
                <a:latin typeface="Times New Roman" panose="02020603050405020304" pitchFamily="18" charset="0"/>
                <a:ea typeface="宋体" panose="02010600030101010101" pitchFamily="2" charset="-122"/>
              </a:defRPr>
            </a:lvl5pPr>
            <a:lvl6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zh-CN" sz="2200">
                <a:solidFill>
                  <a:schemeClr val="bg2"/>
                </a:solidFill>
                <a:latin typeface="Arial" panose="020B0604020202020204" pitchFamily="34" charset="0"/>
              </a:rPr>
              <a:t>Core</a:t>
            </a:r>
          </a:p>
        </p:txBody>
      </p:sp>
      <p:sp>
        <p:nvSpPr>
          <p:cNvPr id="10295" name="Rectangle 56"/>
          <p:cNvSpPr>
            <a:spLocks noChangeArrowheads="1"/>
          </p:cNvSpPr>
          <p:nvPr/>
        </p:nvSpPr>
        <p:spPr bwMode="auto">
          <a:xfrm>
            <a:off x="8936773" y="3362326"/>
            <a:ext cx="1367691" cy="439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763" tIns="49988" rIns="101763" bIns="49988">
            <a:spAutoFit/>
          </a:bodyPr>
          <a:lstStyle>
            <a:lvl1pPr defTabSz="1028700">
              <a:defRPr sz="2800" b="1">
                <a:solidFill>
                  <a:schemeClr val="tx1"/>
                </a:solidFill>
                <a:latin typeface="Times New Roman" panose="02020603050405020304" pitchFamily="18" charset="0"/>
                <a:ea typeface="宋体" panose="02010600030101010101" pitchFamily="2" charset="-122"/>
              </a:defRPr>
            </a:lvl1pPr>
            <a:lvl2pPr defTabSz="1028700">
              <a:defRPr sz="2800" b="1">
                <a:solidFill>
                  <a:schemeClr val="tx1"/>
                </a:solidFill>
                <a:latin typeface="Times New Roman" panose="02020603050405020304" pitchFamily="18" charset="0"/>
                <a:ea typeface="宋体" panose="02010600030101010101" pitchFamily="2" charset="-122"/>
              </a:defRPr>
            </a:lvl2pPr>
            <a:lvl3pPr defTabSz="1028700">
              <a:defRPr sz="2800" b="1">
                <a:solidFill>
                  <a:schemeClr val="tx1"/>
                </a:solidFill>
                <a:latin typeface="Times New Roman" panose="02020603050405020304" pitchFamily="18" charset="0"/>
                <a:ea typeface="宋体" panose="02010600030101010101" pitchFamily="2" charset="-122"/>
              </a:defRPr>
            </a:lvl3pPr>
            <a:lvl4pPr defTabSz="1028700">
              <a:defRPr sz="2800" b="1">
                <a:solidFill>
                  <a:schemeClr val="tx1"/>
                </a:solidFill>
                <a:latin typeface="Times New Roman" panose="02020603050405020304" pitchFamily="18" charset="0"/>
                <a:ea typeface="宋体" panose="02010600030101010101" pitchFamily="2" charset="-122"/>
              </a:defRPr>
            </a:lvl4pPr>
            <a:lvl5pPr defTabSz="1028700">
              <a:defRPr sz="2800" b="1">
                <a:solidFill>
                  <a:schemeClr val="tx1"/>
                </a:solidFill>
                <a:latin typeface="Times New Roman" panose="02020603050405020304" pitchFamily="18" charset="0"/>
                <a:ea typeface="宋体" panose="02010600030101010101" pitchFamily="2" charset="-122"/>
              </a:defRPr>
            </a:lvl5pPr>
            <a:lvl6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gn="r" eaLnBrk="0" hangingPunct="0"/>
            <a:r>
              <a:rPr lang="zh-CN" altLang="zh-CN" sz="2200">
                <a:solidFill>
                  <a:schemeClr val="bg2"/>
                </a:solidFill>
                <a:latin typeface="Arial" panose="020B0604020202020204" pitchFamily="34" charset="0"/>
              </a:rPr>
              <a:t>Block 22</a:t>
            </a:r>
          </a:p>
        </p:txBody>
      </p:sp>
      <p:sp>
        <p:nvSpPr>
          <p:cNvPr id="10296" name="Rectangle 57"/>
          <p:cNvSpPr>
            <a:spLocks noChangeArrowheads="1"/>
          </p:cNvSpPr>
          <p:nvPr/>
        </p:nvSpPr>
        <p:spPr bwMode="auto">
          <a:xfrm>
            <a:off x="2749550" y="6167439"/>
            <a:ext cx="2139950" cy="439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763" tIns="49988" rIns="101763" bIns="49988">
            <a:spAutoFit/>
          </a:bodyPr>
          <a:lstStyle>
            <a:lvl1pPr defTabSz="1028700">
              <a:defRPr sz="2800" b="1">
                <a:solidFill>
                  <a:schemeClr val="tx1"/>
                </a:solidFill>
                <a:latin typeface="Times New Roman" panose="02020603050405020304" pitchFamily="18" charset="0"/>
                <a:ea typeface="宋体" panose="02010600030101010101" pitchFamily="2" charset="-122"/>
              </a:defRPr>
            </a:lvl1pPr>
            <a:lvl2pPr defTabSz="1028700">
              <a:defRPr sz="2800" b="1">
                <a:solidFill>
                  <a:schemeClr val="tx1"/>
                </a:solidFill>
                <a:latin typeface="Times New Roman" panose="02020603050405020304" pitchFamily="18" charset="0"/>
                <a:ea typeface="宋体" panose="02010600030101010101" pitchFamily="2" charset="-122"/>
              </a:defRPr>
            </a:lvl2pPr>
            <a:lvl3pPr defTabSz="1028700">
              <a:defRPr sz="2800" b="1">
                <a:solidFill>
                  <a:schemeClr val="tx1"/>
                </a:solidFill>
                <a:latin typeface="Times New Roman" panose="02020603050405020304" pitchFamily="18" charset="0"/>
                <a:ea typeface="宋体" panose="02010600030101010101" pitchFamily="2" charset="-122"/>
              </a:defRPr>
            </a:lvl3pPr>
            <a:lvl4pPr defTabSz="1028700">
              <a:defRPr sz="2800" b="1">
                <a:solidFill>
                  <a:schemeClr val="tx1"/>
                </a:solidFill>
                <a:latin typeface="Times New Roman" panose="02020603050405020304" pitchFamily="18" charset="0"/>
                <a:ea typeface="宋体" panose="02010600030101010101" pitchFamily="2" charset="-122"/>
              </a:defRPr>
            </a:lvl4pPr>
            <a:lvl5pPr defTabSz="1028700">
              <a:defRPr sz="2800" b="1">
                <a:solidFill>
                  <a:schemeClr val="tx1"/>
                </a:solidFill>
                <a:latin typeface="Times New Roman" panose="02020603050405020304" pitchFamily="18" charset="0"/>
                <a:ea typeface="宋体" panose="02010600030101010101" pitchFamily="2" charset="-122"/>
              </a:defRPr>
            </a:lvl5pPr>
            <a:lvl6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gn="r" eaLnBrk="0" hangingPunct="0"/>
            <a:r>
              <a:rPr lang="zh-CN" altLang="zh-CN" sz="2200">
                <a:solidFill>
                  <a:schemeClr val="bg2"/>
                </a:solidFill>
                <a:latin typeface="Arial" panose="020B0604020202020204" pitchFamily="34" charset="0"/>
              </a:rPr>
              <a:t>Server Block</a:t>
            </a:r>
          </a:p>
        </p:txBody>
      </p:sp>
      <p:sp>
        <p:nvSpPr>
          <p:cNvPr id="10297" name="Rectangle 58"/>
          <p:cNvSpPr>
            <a:spLocks noChangeArrowheads="1"/>
          </p:cNvSpPr>
          <p:nvPr/>
        </p:nvSpPr>
        <p:spPr bwMode="auto">
          <a:xfrm>
            <a:off x="2603501" y="3362326"/>
            <a:ext cx="1210597" cy="439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763" tIns="49988" rIns="101763" bIns="49988">
            <a:spAutoFit/>
          </a:bodyPr>
          <a:lstStyle>
            <a:lvl1pPr defTabSz="1028700">
              <a:defRPr sz="2800" b="1">
                <a:solidFill>
                  <a:schemeClr val="tx1"/>
                </a:solidFill>
                <a:latin typeface="Times New Roman" panose="02020603050405020304" pitchFamily="18" charset="0"/>
                <a:ea typeface="宋体" panose="02010600030101010101" pitchFamily="2" charset="-122"/>
              </a:defRPr>
            </a:lvl1pPr>
            <a:lvl2pPr defTabSz="1028700">
              <a:defRPr sz="2800" b="1">
                <a:solidFill>
                  <a:schemeClr val="tx1"/>
                </a:solidFill>
                <a:latin typeface="Times New Roman" panose="02020603050405020304" pitchFamily="18" charset="0"/>
                <a:ea typeface="宋体" panose="02010600030101010101" pitchFamily="2" charset="-122"/>
              </a:defRPr>
            </a:lvl2pPr>
            <a:lvl3pPr defTabSz="1028700">
              <a:defRPr sz="2800" b="1">
                <a:solidFill>
                  <a:schemeClr val="tx1"/>
                </a:solidFill>
                <a:latin typeface="Times New Roman" panose="02020603050405020304" pitchFamily="18" charset="0"/>
                <a:ea typeface="宋体" panose="02010600030101010101" pitchFamily="2" charset="-122"/>
              </a:defRPr>
            </a:lvl3pPr>
            <a:lvl4pPr defTabSz="1028700">
              <a:defRPr sz="2800" b="1">
                <a:solidFill>
                  <a:schemeClr val="tx1"/>
                </a:solidFill>
                <a:latin typeface="Times New Roman" panose="02020603050405020304" pitchFamily="18" charset="0"/>
                <a:ea typeface="宋体" panose="02010600030101010101" pitchFamily="2" charset="-122"/>
              </a:defRPr>
            </a:lvl4pPr>
            <a:lvl5pPr defTabSz="1028700">
              <a:defRPr sz="2800" b="1">
                <a:solidFill>
                  <a:schemeClr val="tx1"/>
                </a:solidFill>
                <a:latin typeface="Times New Roman" panose="02020603050405020304" pitchFamily="18" charset="0"/>
                <a:ea typeface="宋体" panose="02010600030101010101" pitchFamily="2" charset="-122"/>
              </a:defRPr>
            </a:lvl5pPr>
            <a:lvl6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defTabSz="1028700"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eaLnBrk="0" hangingPunct="0"/>
            <a:r>
              <a:rPr lang="zh-CN" altLang="zh-CN" sz="2200">
                <a:solidFill>
                  <a:schemeClr val="bg2"/>
                </a:solidFill>
                <a:latin typeface="Arial" panose="020B0604020202020204" pitchFamily="34" charset="0"/>
              </a:rPr>
              <a:t>Block 1</a:t>
            </a:r>
          </a:p>
        </p:txBody>
      </p:sp>
      <p:pic>
        <p:nvPicPr>
          <p:cNvPr id="10298" name="Picture 59"/>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086101" y="1757363"/>
            <a:ext cx="7731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9" name="Picture 6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86188" y="3216275"/>
            <a:ext cx="6397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0" name="Picture 6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29439" y="2781300"/>
            <a:ext cx="6445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1" name="Picture 6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27651" y="2894014"/>
            <a:ext cx="6445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2" name="Picture 6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14576" y="4094164"/>
            <a:ext cx="6445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3" name="Picture 64"/>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14576" y="5821364"/>
            <a:ext cx="6445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4" name="Picture 65"/>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14576" y="5195889"/>
            <a:ext cx="6445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5" name="Picture 6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14576" y="4665664"/>
            <a:ext cx="6445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6" name="Picture 67"/>
          <p:cNvPicPr>
            <a:picLocks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086101" y="2260600"/>
            <a:ext cx="7731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7" name="Picture 68"/>
          <p:cNvPicPr>
            <a:picLocks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5095876" y="2254250"/>
            <a:ext cx="7731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8" name="Picture 69"/>
          <p:cNvPicPr>
            <a:picLocks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5095876" y="1771650"/>
            <a:ext cx="7731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9" name="Picture 70"/>
          <p:cNvPicPr>
            <a:picLocks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067551" y="1749425"/>
            <a:ext cx="7731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0" name="Picture 71"/>
          <p:cNvPicPr>
            <a:picLocks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7067551" y="2254250"/>
            <a:ext cx="7731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1" name="Picture 72"/>
          <p:cNvPicPr>
            <a:picLocks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9077326" y="2246313"/>
            <a:ext cx="7731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2" name="Picture 73"/>
          <p:cNvPicPr>
            <a:picLocks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9077326" y="1763713"/>
            <a:ext cx="7731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3" name="Picture 74"/>
          <p:cNvPicPr>
            <a:picLocks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8534401" y="2689225"/>
            <a:ext cx="7731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4" name="Picture 75"/>
          <p:cNvPicPr>
            <a:picLocks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7705726" y="2689225"/>
            <a:ext cx="7731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5" name="Picture 76"/>
          <p:cNvPicPr>
            <a:picLocks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4519613" y="2689225"/>
            <a:ext cx="77311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6" name="Picture 77"/>
          <p:cNvPicPr>
            <a:picLocks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3643313" y="2689225"/>
            <a:ext cx="77311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7" name="Picture 78"/>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598988" y="3216275"/>
            <a:ext cx="6397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8" name="Picture 79"/>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720013" y="3216275"/>
            <a:ext cx="6397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9" name="Picture 80"/>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558214" y="3216275"/>
            <a:ext cx="638175"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ChangeArrowheads="1"/>
          </p:cNvSpPr>
          <p:nvPr/>
        </p:nvSpPr>
        <p:spPr bwMode="auto">
          <a:xfrm>
            <a:off x="3762375" y="177641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endParaRPr lang="zh-CN" altLang="en-US">
              <a:latin typeface="Times New Roman" panose="02020603050405020304" pitchFamily="18" charset="0"/>
            </a:endParaRPr>
          </a:p>
        </p:txBody>
      </p:sp>
      <p:sp>
        <p:nvSpPr>
          <p:cNvPr id="11266" name="Rectangle 3"/>
          <p:cNvSpPr>
            <a:spLocks noChangeArrowheads="1"/>
          </p:cNvSpPr>
          <p:nvPr/>
        </p:nvSpPr>
        <p:spPr bwMode="auto">
          <a:xfrm>
            <a:off x="3529013" y="966788"/>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endParaRPr lang="zh-CN" altLang="en-US">
              <a:latin typeface="Times New Roman" panose="02020603050405020304" pitchFamily="18" charset="0"/>
            </a:endParaRPr>
          </a:p>
        </p:txBody>
      </p:sp>
      <p:pic>
        <p:nvPicPr>
          <p:cNvPr id="11267" name="Picture 4" descr="safe2.gif (18366 bytes)"/>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354264" y="1338263"/>
            <a:ext cx="7481887" cy="536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5"/>
          <p:cNvSpPr>
            <a:spLocks noGrp="1" noChangeArrowheads="1"/>
          </p:cNvSpPr>
          <p:nvPr>
            <p:ph type="title"/>
          </p:nvPr>
        </p:nvSpPr>
        <p:spPr>
          <a:xfrm>
            <a:off x="1949450" y="173039"/>
            <a:ext cx="7988300" cy="782637"/>
          </a:xfrm>
        </p:spPr>
        <p:txBody>
          <a:bodyPr/>
          <a:lstStyle/>
          <a:p>
            <a:pPr algn="ctr" eaLnBrk="1" hangingPunct="1"/>
            <a:r>
              <a:rPr lang="zh-CN" altLang="zh-CN" sz="4400">
                <a:ea typeface="华文楷体" panose="02010600040101010101" pitchFamily="2" charset="-122"/>
              </a:rPr>
              <a:t>网络实例（WAN）</a:t>
            </a:r>
            <a:endParaRPr lang="zh-CN" altLang="zh-CN" sz="4400" b="0">
              <a:solidFill>
                <a:srgbClr val="CC3300"/>
              </a:solidFill>
              <a:latin typeface="华文新魏" panose="02010800040101010101" pitchFamily="2" charset="-122"/>
              <a:ea typeface="华文新魏" panose="02010800040101010101" pitchFamily="2" charset="-122"/>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ChangeArrowheads="1"/>
          </p:cNvSpPr>
          <p:nvPr>
            <p:ph type="title"/>
          </p:nvPr>
        </p:nvSpPr>
        <p:spPr>
          <a:xfrm>
            <a:off x="3233739" y="296864"/>
            <a:ext cx="5724525" cy="466725"/>
          </a:xfrm>
        </p:spPr>
        <p:txBody>
          <a:bodyPr>
            <a:normAutofit fontScale="90000"/>
          </a:bodyPr>
          <a:lstStyle/>
          <a:p>
            <a:pPr algn="ctr" eaLnBrk="1" hangingPunct="1"/>
            <a:r>
              <a:rPr lang="zh-CN" altLang="zh-CN" sz="4400">
                <a:ea typeface="华文楷体" panose="02010600040101010101" pitchFamily="2" charset="-122"/>
              </a:rPr>
              <a:t>DDN数字网</a:t>
            </a:r>
            <a:endParaRPr lang="zh-CN" altLang="zh-CN" sz="4400" b="0">
              <a:solidFill>
                <a:srgbClr val="CC3300"/>
              </a:solidFill>
              <a:latin typeface="华文新魏" panose="02010800040101010101" pitchFamily="2" charset="-122"/>
              <a:ea typeface="华文新魏" panose="02010800040101010101" pitchFamily="2" charset="-122"/>
            </a:endParaRPr>
          </a:p>
        </p:txBody>
      </p:sp>
      <p:sp>
        <p:nvSpPr>
          <p:cNvPr id="12290" name="Rectangle 3"/>
          <p:cNvSpPr>
            <a:spLocks noChangeArrowheads="1"/>
          </p:cNvSpPr>
          <p:nvPr/>
        </p:nvSpPr>
        <p:spPr bwMode="auto">
          <a:xfrm>
            <a:off x="3833813" y="1824038"/>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endParaRPr lang="zh-CN" altLang="en-US">
              <a:latin typeface="Times New Roman" panose="02020603050405020304" pitchFamily="18" charset="0"/>
            </a:endParaRPr>
          </a:p>
        </p:txBody>
      </p:sp>
      <p:pic>
        <p:nvPicPr>
          <p:cNvPr id="12291" name="Picture 4" descr="../../../../../360云盘/12-13-1教学/计算机网络/第1章 概论及网络体系结构/http:/www2000.qz.fj.cn/qztelecom/serve/img/top1.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089151" y="1431925"/>
            <a:ext cx="8029575" cy="477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a:xfrm>
            <a:off x="3594101" y="282575"/>
            <a:ext cx="4989513" cy="533400"/>
          </a:xfrm>
        </p:spPr>
        <p:txBody>
          <a:bodyPr>
            <a:normAutofit fontScale="90000"/>
          </a:bodyPr>
          <a:lstStyle/>
          <a:p>
            <a:pPr algn="ctr" eaLnBrk="1" hangingPunct="1"/>
            <a:r>
              <a:rPr lang="zh-CN" altLang="zh-CN" sz="4400">
                <a:ea typeface="华文楷体" panose="02010600040101010101" pitchFamily="2" charset="-122"/>
              </a:rPr>
              <a:t>主机系统</a:t>
            </a:r>
            <a:endParaRPr lang="zh-CN" altLang="zh-CN" sz="3200" b="0">
              <a:solidFill>
                <a:srgbClr val="CC3300"/>
              </a:solidFill>
              <a:latin typeface="华文新魏" panose="02010800040101010101" pitchFamily="2" charset="-122"/>
              <a:ea typeface="华文新魏" panose="02010800040101010101" pitchFamily="2" charset="-122"/>
            </a:endParaRPr>
          </a:p>
        </p:txBody>
      </p:sp>
      <p:sp>
        <p:nvSpPr>
          <p:cNvPr id="13314" name="Text Box 3"/>
          <p:cNvSpPr txBox="1">
            <a:spLocks noChangeArrowheads="1"/>
          </p:cNvSpPr>
          <p:nvPr/>
        </p:nvSpPr>
        <p:spPr bwMode="auto">
          <a:xfrm>
            <a:off x="1091621" y="1481294"/>
            <a:ext cx="10502895" cy="1077218"/>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zh-CN" sz="3200" u="sng">
                <a:solidFill>
                  <a:srgbClr val="000099"/>
                </a:solidFill>
                <a:ea typeface="华文楷体" panose="02010600040101010101" pitchFamily="2" charset="-122"/>
              </a:rPr>
              <a:t>面向终端的计算机系统</a:t>
            </a:r>
            <a:r>
              <a:rPr lang="zh-CN" altLang="zh-CN" sz="3200">
                <a:solidFill>
                  <a:schemeClr val="accent1"/>
                </a:solidFill>
                <a:ea typeface="华文楷体" panose="02010600040101010101" pitchFamily="2" charset="-122"/>
              </a:rPr>
              <a:t>（大/中/小型机，多个终端接入到单个主机）</a:t>
            </a:r>
            <a:r>
              <a:rPr lang="zh-CN" altLang="zh-CN" sz="3200">
                <a:solidFill>
                  <a:schemeClr val="accent2"/>
                </a:solidFill>
                <a:ea typeface="华文楷体" panose="02010600040101010101" pitchFamily="2" charset="-122"/>
              </a:rPr>
              <a:t>不属于计算机网络</a:t>
            </a:r>
            <a:r>
              <a:rPr lang="zh-CN" altLang="zh-CN" sz="3200">
                <a:solidFill>
                  <a:schemeClr val="accent1"/>
                </a:solidFill>
                <a:ea typeface="华文楷体" panose="02010600040101010101" pitchFamily="2" charset="-122"/>
              </a:rPr>
              <a:t>（各终端不独立）</a:t>
            </a:r>
          </a:p>
        </p:txBody>
      </p:sp>
      <p:grpSp>
        <p:nvGrpSpPr>
          <p:cNvPr id="13316" name="Group 4"/>
          <p:cNvGrpSpPr>
            <a:grpSpLocks/>
          </p:cNvGrpSpPr>
          <p:nvPr/>
        </p:nvGrpSpPr>
        <p:grpSpPr bwMode="auto">
          <a:xfrm>
            <a:off x="3849689" y="2978151"/>
            <a:ext cx="4492625" cy="2747963"/>
            <a:chOff x="0" y="0"/>
            <a:chExt cx="2830" cy="1995"/>
          </a:xfrm>
        </p:grpSpPr>
        <p:grpSp>
          <p:nvGrpSpPr>
            <p:cNvPr id="2" name="Group 5"/>
            <p:cNvGrpSpPr>
              <a:grpSpLocks/>
            </p:cNvGrpSpPr>
            <p:nvPr/>
          </p:nvGrpSpPr>
          <p:grpSpPr bwMode="auto">
            <a:xfrm>
              <a:off x="0" y="0"/>
              <a:ext cx="2830" cy="1995"/>
              <a:chOff x="0" y="0"/>
              <a:chExt cx="3364" cy="2030"/>
            </a:xfrm>
          </p:grpSpPr>
          <p:sp>
            <p:nvSpPr>
              <p:cNvPr id="13317" name="Line 6"/>
              <p:cNvSpPr>
                <a:spLocks noChangeShapeType="1"/>
              </p:cNvSpPr>
              <p:nvPr/>
            </p:nvSpPr>
            <p:spPr bwMode="auto">
              <a:xfrm>
                <a:off x="1700" y="1150"/>
                <a:ext cx="0" cy="564"/>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3318" name="Line 7"/>
              <p:cNvSpPr>
                <a:spLocks noChangeShapeType="1"/>
              </p:cNvSpPr>
              <p:nvPr/>
            </p:nvSpPr>
            <p:spPr bwMode="auto">
              <a:xfrm>
                <a:off x="1688" y="327"/>
                <a:ext cx="0" cy="682"/>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3319" name="Line 8"/>
              <p:cNvSpPr>
                <a:spLocks noChangeShapeType="1"/>
              </p:cNvSpPr>
              <p:nvPr/>
            </p:nvSpPr>
            <p:spPr bwMode="auto">
              <a:xfrm flipH="1">
                <a:off x="1947" y="480"/>
                <a:ext cx="764" cy="576"/>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3320" name="Line 9"/>
              <p:cNvSpPr>
                <a:spLocks noChangeShapeType="1"/>
              </p:cNvSpPr>
              <p:nvPr/>
            </p:nvSpPr>
            <p:spPr bwMode="auto">
              <a:xfrm flipH="1" flipV="1">
                <a:off x="1888" y="1197"/>
                <a:ext cx="976" cy="552"/>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3321" name="Line 10"/>
              <p:cNvSpPr>
                <a:spLocks noChangeShapeType="1"/>
              </p:cNvSpPr>
              <p:nvPr/>
            </p:nvSpPr>
            <p:spPr bwMode="auto">
              <a:xfrm flipH="1" flipV="1">
                <a:off x="1994" y="1126"/>
                <a:ext cx="1058" cy="1"/>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3322" name="Line 11"/>
              <p:cNvSpPr>
                <a:spLocks noChangeShapeType="1"/>
              </p:cNvSpPr>
              <p:nvPr/>
            </p:nvSpPr>
            <p:spPr bwMode="auto">
              <a:xfrm>
                <a:off x="630" y="504"/>
                <a:ext cx="764" cy="576"/>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3323" name="Line 12"/>
              <p:cNvSpPr>
                <a:spLocks noChangeShapeType="1"/>
              </p:cNvSpPr>
              <p:nvPr/>
            </p:nvSpPr>
            <p:spPr bwMode="auto">
              <a:xfrm flipV="1">
                <a:off x="418" y="1209"/>
                <a:ext cx="976" cy="552"/>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13324" name="Line 13"/>
              <p:cNvSpPr>
                <a:spLocks noChangeShapeType="1"/>
              </p:cNvSpPr>
              <p:nvPr/>
            </p:nvSpPr>
            <p:spPr bwMode="auto">
              <a:xfrm flipH="1" flipV="1">
                <a:off x="255" y="1126"/>
                <a:ext cx="1058" cy="1"/>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pic>
            <p:nvPicPr>
              <p:cNvPr id="13325" name="Picture 14" descr="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 y="0"/>
                <a:ext cx="392"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6" name="Picture 15" descr="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4" y="236"/>
                <a:ext cx="39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7" name="Picture 16" descr="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9" y="1622"/>
                <a:ext cx="39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8" name="Picture 17" descr="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4" y="918"/>
                <a:ext cx="39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9" name="Picture 18" descr="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 y="236"/>
                <a:ext cx="39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0" name="Picture 19" descr="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 y="1622"/>
                <a:ext cx="39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1" name="Picture 20" descr="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8"/>
                <a:ext cx="39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2" name="Picture 21" descr="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 y="1658"/>
                <a:ext cx="392"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333" name="mainfrm"/>
            <p:cNvSpPr>
              <a:spLocks noEditPoints="1" noChangeArrowheads="1"/>
            </p:cNvSpPr>
            <p:nvPr/>
          </p:nvSpPr>
          <p:spPr bwMode="auto">
            <a:xfrm>
              <a:off x="1127" y="738"/>
              <a:ext cx="606" cy="649"/>
            </a:xfrm>
            <a:custGeom>
              <a:avLst/>
              <a:gdLst>
                <a:gd name="T0" fmla="*/ 0 w 21600"/>
                <a:gd name="T1" fmla="*/ 0 h 21600"/>
                <a:gd name="T2" fmla="*/ 1163 w 21600"/>
                <a:gd name="T3" fmla="*/ 21600 h 21600"/>
                <a:gd name="T4" fmla="*/ 21600 w 21600"/>
                <a:gd name="T5" fmla="*/ 19729 h 21600"/>
                <a:gd name="T6" fmla="*/ 16449 w 21600"/>
                <a:gd name="T7" fmla="*/ 19729 h 21600"/>
                <a:gd name="T8" fmla="*/ 2160 w 21600"/>
                <a:gd name="T9" fmla="*/ 2381 h 21600"/>
                <a:gd name="T10" fmla="*/ 1495 w 21600"/>
                <a:gd name="T11" fmla="*/ 3402 h 21600"/>
                <a:gd name="T12" fmla="*/ 1495 w 21600"/>
                <a:gd name="T13" fmla="*/ 3402 h 21600"/>
                <a:gd name="T14" fmla="*/ 5982 w 21600"/>
                <a:gd name="T15" fmla="*/ 4422 h 21600"/>
                <a:gd name="T16" fmla="*/ 4985 w 21600"/>
                <a:gd name="T17" fmla="*/ 5443 h 21600"/>
                <a:gd name="T18" fmla="*/ 2160 w 21600"/>
                <a:gd name="T19" fmla="*/ 6463 h 21600"/>
                <a:gd name="T20" fmla="*/ 1495 w 21600"/>
                <a:gd name="T21" fmla="*/ 7483 h 21600"/>
                <a:gd name="T22" fmla="*/ 1495 w 21600"/>
                <a:gd name="T23" fmla="*/ 7483 h 21600"/>
                <a:gd name="T24" fmla="*/ 5982 w 21600"/>
                <a:gd name="T25" fmla="*/ 8504 h 21600"/>
                <a:gd name="T26" fmla="*/ 4985 w 21600"/>
                <a:gd name="T27" fmla="*/ 9524 h 21600"/>
                <a:gd name="T28" fmla="*/ 2160 w 21600"/>
                <a:gd name="T29" fmla="*/ 10545 h 21600"/>
                <a:gd name="T30" fmla="*/ 1495 w 21600"/>
                <a:gd name="T31" fmla="*/ 11565 h 21600"/>
                <a:gd name="T32" fmla="*/ 1495 w 21600"/>
                <a:gd name="T33" fmla="*/ 11565 h 21600"/>
                <a:gd name="T34" fmla="*/ 5982 w 21600"/>
                <a:gd name="T35" fmla="*/ 12586 h 21600"/>
                <a:gd name="T36" fmla="*/ 4985 w 21600"/>
                <a:gd name="T37" fmla="*/ 13606 h 21600"/>
                <a:gd name="T38" fmla="*/ 2160 w 21600"/>
                <a:gd name="T39" fmla="*/ 14627 h 21600"/>
                <a:gd name="T40" fmla="*/ 1495 w 21600"/>
                <a:gd name="T41" fmla="*/ 15647 h 21600"/>
                <a:gd name="T42" fmla="*/ 1495 w 21600"/>
                <a:gd name="T43" fmla="*/ 15647 h 21600"/>
                <a:gd name="T44" fmla="*/ 5982 w 21600"/>
                <a:gd name="T45" fmla="*/ 16668 h 21600"/>
                <a:gd name="T46" fmla="*/ 4985 w 21600"/>
                <a:gd name="T47" fmla="*/ 17688 h 21600"/>
                <a:gd name="T48" fmla="*/ 1994 w 21600"/>
                <a:gd name="T49" fmla="*/ 20069 h 21600"/>
                <a:gd name="T50" fmla="*/ 2658 w 21600"/>
                <a:gd name="T51" fmla="*/ 19729 h 21600"/>
                <a:gd name="T52" fmla="*/ 2658 w 21600"/>
                <a:gd name="T53" fmla="*/ 19729 h 21600"/>
                <a:gd name="T54" fmla="*/ 3489 w 21600"/>
                <a:gd name="T55" fmla="*/ 21600 h 21600"/>
                <a:gd name="T56" fmla="*/ 4320 w 21600"/>
                <a:gd name="T57" fmla="*/ 21260 h 21600"/>
                <a:gd name="T58" fmla="*/ 5151 w 21600"/>
                <a:gd name="T59" fmla="*/ 20069 h 21600"/>
                <a:gd name="T60" fmla="*/ 5982 w 21600"/>
                <a:gd name="T61" fmla="*/ 19729 h 21600"/>
                <a:gd name="T62" fmla="*/ 5982 w 21600"/>
                <a:gd name="T63" fmla="*/ 19729 h 21600"/>
                <a:gd name="T64" fmla="*/ 6812 w 21600"/>
                <a:gd name="T65" fmla="*/ 21600 h 21600"/>
                <a:gd name="T66" fmla="*/ 7643 w 21600"/>
                <a:gd name="T67" fmla="*/ 21260 h 21600"/>
                <a:gd name="T68" fmla="*/ 8474 w 21600"/>
                <a:gd name="T69" fmla="*/ 20069 h 21600"/>
                <a:gd name="T70" fmla="*/ 9305 w 21600"/>
                <a:gd name="T71" fmla="*/ 19729 h 21600"/>
                <a:gd name="T72" fmla="*/ 9305 w 21600"/>
                <a:gd name="T73" fmla="*/ 19729 h 21600"/>
                <a:gd name="T74" fmla="*/ 10135 w 21600"/>
                <a:gd name="T75" fmla="*/ 21600 h 21600"/>
                <a:gd name="T76" fmla="*/ 10966 w 21600"/>
                <a:gd name="T77" fmla="*/ 21260 h 21600"/>
                <a:gd name="T78" fmla="*/ 11797 w 21600"/>
                <a:gd name="T79" fmla="*/ 20069 h 21600"/>
                <a:gd name="T80" fmla="*/ 12462 w 21600"/>
                <a:gd name="T81" fmla="*/ 19729 h 21600"/>
                <a:gd name="T82" fmla="*/ 12462 w 21600"/>
                <a:gd name="T83" fmla="*/ 19729 h 21600"/>
                <a:gd name="T84" fmla="*/ 13292 w 21600"/>
                <a:gd name="T85" fmla="*/ 21600 h 21600"/>
                <a:gd name="T86" fmla="*/ 14123 w 21600"/>
                <a:gd name="T87" fmla="*/ 21260 h 21600"/>
                <a:gd name="T88" fmla="*/ 14954 w 21600"/>
                <a:gd name="T89" fmla="*/ 20069 h 21600"/>
                <a:gd name="T90" fmla="*/ 15785 w 21600"/>
                <a:gd name="T91" fmla="*/ 19729 h 21600"/>
                <a:gd name="T92" fmla="*/ 15785 w 21600"/>
                <a:gd name="T93" fmla="*/ 19729 h 21600"/>
                <a:gd name="T94" fmla="*/ 16615 w 21600"/>
                <a:gd name="T95" fmla="*/ 21600 h 21600"/>
                <a:gd name="T96" fmla="*/ 17446 w 21600"/>
                <a:gd name="T97" fmla="*/ 21260 h 21600"/>
                <a:gd name="T98" fmla="*/ 18277 w 21600"/>
                <a:gd name="T99" fmla="*/ 20069 h 21600"/>
                <a:gd name="T100" fmla="*/ 19108 w 21600"/>
                <a:gd name="T101" fmla="*/ 19729 h 21600"/>
                <a:gd name="T102" fmla="*/ 19108 w 21600"/>
                <a:gd name="T103" fmla="*/ 19729 h 21600"/>
                <a:gd name="T104" fmla="*/ 19938 w 21600"/>
                <a:gd name="T105" fmla="*/ 21600 h 21600"/>
                <a:gd name="T106" fmla="*/ 5982 w 21600"/>
                <a:gd name="T107" fmla="*/ 18539 h 21600"/>
                <a:gd name="T108" fmla="*/ 7975 w 21600"/>
                <a:gd name="T109" fmla="*/ 1531 h 21600"/>
                <a:gd name="T110" fmla="*/ 7145 w 21600"/>
                <a:gd name="T111" fmla="*/ 9865 h 21600"/>
                <a:gd name="T112" fmla="*/ 7145 w 21600"/>
                <a:gd name="T113" fmla="*/ 9865 h 21600"/>
                <a:gd name="T114" fmla="*/ 8972 w 21600"/>
                <a:gd name="T115" fmla="*/ 5443 h 21600"/>
                <a:gd name="T116" fmla="*/ 20271 w 21600"/>
                <a:gd name="T117" fmla="*/ 5443 h 21600"/>
                <a:gd name="T118" fmla="*/ 20437 w 21600"/>
                <a:gd name="T119" fmla="*/ 646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600" h="2160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C0C0C0"/>
            </a:solidFill>
            <a:ln w="9525">
              <a:solidFill>
                <a:srgbClr val="000000"/>
              </a:solidFill>
              <a:miter lim="800000"/>
              <a:headEnd/>
              <a:tailEnd/>
            </a:ln>
          </p:spPr>
          <p:txBody>
            <a:bodyPr/>
            <a:lstStyle/>
            <a:p>
              <a:endParaRPr lang="zh-CN" altLang="en-US">
                <a:latin typeface="Times New Roman" panose="02020603050405020304" pitchFamily="18" charset="0"/>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3316"/>
                                        </p:tgtEl>
                                        <p:attrNameLst>
                                          <p:attrName>style.visibility</p:attrName>
                                        </p:attrNameLst>
                                      </p:cBhvr>
                                      <p:to>
                                        <p:strVal val="visible"/>
                                      </p:to>
                                    </p:set>
                                    <p:anim calcmode="lin" valueType="num">
                                      <p:cBhvr additive="base">
                                        <p:cTn id="7" dur="500" fill="hold"/>
                                        <p:tgtEl>
                                          <p:spTgt spid="13316"/>
                                        </p:tgtEl>
                                        <p:attrNameLst>
                                          <p:attrName>ppt_x</p:attrName>
                                        </p:attrNameLst>
                                      </p:cBhvr>
                                      <p:tavLst>
                                        <p:tav tm="0">
                                          <p:val>
                                            <p:strVal val="1+#ppt_w/2"/>
                                          </p:val>
                                        </p:tav>
                                        <p:tav tm="100000">
                                          <p:val>
                                            <p:strVal val="#ppt_x"/>
                                          </p:val>
                                        </p:tav>
                                      </p:tavLst>
                                    </p:anim>
                                    <p:anim calcmode="lin" valueType="num">
                                      <p:cBhvr additive="base">
                                        <p:cTn id="8" dur="500" fill="hold"/>
                                        <p:tgtEl>
                                          <p:spTgt spid="133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a:xfrm>
            <a:off x="2290764" y="201614"/>
            <a:ext cx="7608887" cy="598487"/>
          </a:xfrm>
        </p:spPr>
        <p:txBody>
          <a:bodyPr>
            <a:normAutofit fontScale="90000"/>
          </a:bodyPr>
          <a:lstStyle/>
          <a:p>
            <a:pPr algn="ctr" eaLnBrk="1" hangingPunct="1"/>
            <a:r>
              <a:rPr lang="zh-CN" altLang="zh-CN" sz="4400">
                <a:ea typeface="华文楷体" panose="02010600040101010101" pitchFamily="2" charset="-122"/>
              </a:rPr>
              <a:t>计算机网络和分布式系统 </a:t>
            </a:r>
          </a:p>
        </p:txBody>
      </p:sp>
      <p:sp>
        <p:nvSpPr>
          <p:cNvPr id="14339" name="Text Box 3"/>
          <p:cNvSpPr txBox="1">
            <a:spLocks noChangeArrowheads="1"/>
          </p:cNvSpPr>
          <p:nvPr/>
        </p:nvSpPr>
        <p:spPr bwMode="auto">
          <a:xfrm>
            <a:off x="2516189" y="1433513"/>
            <a:ext cx="7158037" cy="1606594"/>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Font typeface="Wingdings" panose="05000000000000000000" pitchFamily="2" charset="2"/>
              <a:buChar char="Ø"/>
            </a:pPr>
            <a:r>
              <a:rPr lang="zh-CN" altLang="zh-CN" sz="3200">
                <a:solidFill>
                  <a:schemeClr val="accent1"/>
                </a:solidFill>
                <a:ea typeface="华文楷体" panose="02010600040101010101" pitchFamily="2" charset="-122"/>
              </a:rPr>
              <a:t>  </a:t>
            </a:r>
            <a:r>
              <a:rPr lang="zh-CN" altLang="en-US" sz="3200">
                <a:solidFill>
                  <a:srgbClr val="000099"/>
                </a:solidFill>
                <a:effectLst>
                  <a:outerShdw blurRad="38100" dist="38100" dir="2700000" algn="tl">
                    <a:srgbClr val="000000"/>
                  </a:outerShdw>
                </a:effectLst>
                <a:ea typeface="华文楷体" panose="02010600040101010101" pitchFamily="2" charset="-122"/>
              </a:rPr>
              <a:t>计算机网络</a:t>
            </a:r>
            <a:r>
              <a:rPr lang="zh-CN" altLang="en-US" sz="3200">
                <a:solidFill>
                  <a:schemeClr val="accent1"/>
                </a:solidFill>
                <a:ea typeface="华文楷体" panose="02010600040101010101" pitchFamily="2" charset="-122"/>
              </a:rPr>
              <a:t> </a:t>
            </a:r>
          </a:p>
          <a:p>
            <a:pPr>
              <a:spcBef>
                <a:spcPct val="20000"/>
              </a:spcBef>
            </a:pPr>
            <a:r>
              <a:rPr lang="zh-CN" altLang="en-US" sz="3200">
                <a:solidFill>
                  <a:schemeClr val="accent1"/>
                </a:solidFill>
                <a:ea typeface="华文楷体" panose="02010600040101010101" pitchFamily="2" charset="-122"/>
              </a:rPr>
              <a:t>      </a:t>
            </a:r>
            <a:r>
              <a:rPr lang="zh-CN" altLang="en-US" sz="2400">
                <a:solidFill>
                  <a:schemeClr val="accent1"/>
                </a:solidFill>
                <a:ea typeface="华文楷体" panose="02010600040101010101" pitchFamily="2" charset="-122"/>
              </a:rPr>
              <a:t>自主计算机（</a:t>
            </a:r>
            <a:r>
              <a:rPr lang="zh-CN" altLang="zh-CN" sz="2400">
                <a:solidFill>
                  <a:schemeClr val="accent1"/>
                </a:solidFill>
                <a:ea typeface="华文楷体" panose="02010600040101010101" pitchFamily="2" charset="-122"/>
              </a:rPr>
              <a:t>autonomous computers</a:t>
            </a:r>
            <a:r>
              <a:rPr lang="zh-CN" altLang="en-US" sz="2400">
                <a:solidFill>
                  <a:schemeClr val="accent1"/>
                </a:solidFill>
                <a:ea typeface="华文楷体" panose="02010600040101010101" pitchFamily="2" charset="-122"/>
              </a:rPr>
              <a:t>）的互连（</a:t>
            </a:r>
            <a:r>
              <a:rPr lang="zh-CN" altLang="zh-CN" sz="2400">
                <a:solidFill>
                  <a:schemeClr val="accent1"/>
                </a:solidFill>
                <a:ea typeface="华文楷体" panose="02010600040101010101" pitchFamily="2" charset="-122"/>
              </a:rPr>
              <a:t>interconnected</a:t>
            </a:r>
            <a:r>
              <a:rPr lang="zh-CN" altLang="en-US" sz="2400">
                <a:solidFill>
                  <a:schemeClr val="accent1"/>
                </a:solidFill>
                <a:ea typeface="华文楷体" panose="02010600040101010101" pitchFamily="2" charset="-122"/>
              </a:rPr>
              <a:t>）集合。</a:t>
            </a:r>
            <a:r>
              <a:rPr lang="zh-CN" altLang="en-US">
                <a:solidFill>
                  <a:schemeClr val="accent1"/>
                </a:solidFill>
                <a:ea typeface="华文楷体" panose="02010600040101010101" pitchFamily="2" charset="-122"/>
              </a:rPr>
              <a:t> </a:t>
            </a:r>
          </a:p>
        </p:txBody>
      </p:sp>
      <p:sp>
        <p:nvSpPr>
          <p:cNvPr id="14340" name="Text Box 4"/>
          <p:cNvSpPr txBox="1">
            <a:spLocks noChangeArrowheads="1"/>
          </p:cNvSpPr>
          <p:nvPr/>
        </p:nvSpPr>
        <p:spPr bwMode="auto">
          <a:xfrm>
            <a:off x="2519364" y="3595688"/>
            <a:ext cx="7196137" cy="1175706"/>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Font typeface="Wingdings" panose="05000000000000000000" pitchFamily="2" charset="2"/>
              <a:buChar char="Ø"/>
            </a:pPr>
            <a:r>
              <a:rPr lang="zh-CN" altLang="zh-CN" sz="3200">
                <a:solidFill>
                  <a:schemeClr val="accent1"/>
                </a:solidFill>
                <a:ea typeface="华文楷体" panose="02010600040101010101" pitchFamily="2" charset="-122"/>
              </a:rPr>
              <a:t>  </a:t>
            </a:r>
            <a:r>
              <a:rPr lang="zh-CN" altLang="zh-CN" sz="3200">
                <a:solidFill>
                  <a:srgbClr val="000099"/>
                </a:solidFill>
                <a:ea typeface="华文楷体" panose="02010600040101010101" pitchFamily="2" charset="-122"/>
              </a:rPr>
              <a:t>分布式系统</a:t>
            </a:r>
            <a:r>
              <a:rPr lang="zh-CN" altLang="zh-CN" sz="3200">
                <a:solidFill>
                  <a:schemeClr val="accent1"/>
                </a:solidFill>
                <a:ea typeface="华文楷体" panose="02010600040101010101" pitchFamily="2" charset="-122"/>
              </a:rPr>
              <a:t> </a:t>
            </a:r>
          </a:p>
          <a:p>
            <a:pPr>
              <a:spcBef>
                <a:spcPct val="20000"/>
              </a:spcBef>
            </a:pPr>
            <a:r>
              <a:rPr lang="zh-CN" altLang="zh-CN" sz="3200">
                <a:solidFill>
                  <a:schemeClr val="accent1"/>
                </a:solidFill>
                <a:ea typeface="华文楷体" panose="02010600040101010101" pitchFamily="2" charset="-122"/>
              </a:rPr>
              <a:t>        </a:t>
            </a:r>
            <a:r>
              <a:rPr lang="zh-CN" altLang="zh-CN" sz="2400">
                <a:solidFill>
                  <a:schemeClr val="accent1"/>
                </a:solidFill>
                <a:ea typeface="华文楷体" panose="02010600040101010101" pitchFamily="2" charset="-122"/>
              </a:rPr>
              <a:t>建立在网络之上的软件系统。</a:t>
            </a:r>
            <a:r>
              <a:rPr lang="zh-CN" altLang="zh-CN" sz="3200">
                <a:solidFill>
                  <a:schemeClr val="accent1"/>
                </a:solidFill>
                <a:ea typeface="华文楷体" panose="02010600040101010101" pitchFamily="2" charset="-122"/>
              </a:rPr>
              <a:t> </a:t>
            </a:r>
            <a:endParaRPr lang="zh-CN" altLang="zh-CN">
              <a:solidFill>
                <a:schemeClr val="accent1"/>
              </a:solidFill>
              <a:ea typeface="华文楷体" panose="02010600040101010101" pitchFamily="2" charset="-122"/>
            </a:endParaRPr>
          </a:p>
        </p:txBody>
      </p:sp>
      <p:sp>
        <p:nvSpPr>
          <p:cNvPr id="14341" name="Text Box 5"/>
          <p:cNvSpPr txBox="1">
            <a:spLocks noChangeArrowheads="1"/>
          </p:cNvSpPr>
          <p:nvPr/>
        </p:nvSpPr>
        <p:spPr bwMode="auto">
          <a:xfrm>
            <a:off x="3405189" y="5222876"/>
            <a:ext cx="5399087" cy="588963"/>
          </a:xfrm>
          <a:prstGeom prst="rect">
            <a:avLst/>
          </a:prstGeom>
          <a:solidFill>
            <a:srgbClr val="DDDDDD"/>
          </a:solidFill>
          <a:ln w="9525">
            <a:solidFill>
              <a:srgbClr val="DDDDDD"/>
            </a:solidFill>
            <a:miter lim="800000"/>
            <a:headEnd/>
            <a:tailEnd/>
          </a:ln>
        </p:spPr>
        <p:txBody>
          <a:bodyPr>
            <a:spAutoFit/>
          </a:bodyPr>
          <a:lstStyle/>
          <a:p>
            <a:pPr>
              <a:spcBef>
                <a:spcPct val="20000"/>
              </a:spcBef>
              <a:buClr>
                <a:schemeClr val="folHlink"/>
              </a:buClr>
              <a:buFont typeface="Wingdings" panose="05000000000000000000" pitchFamily="2" charset="2"/>
              <a:buChar char="v"/>
            </a:pPr>
            <a:r>
              <a:rPr lang="zh-CN" altLang="zh-CN" sz="3200">
                <a:solidFill>
                  <a:schemeClr val="accent1"/>
                </a:solidFill>
                <a:ea typeface="华文楷体" panose="02010600040101010101" pitchFamily="2" charset="-122"/>
              </a:rPr>
              <a:t>  </a:t>
            </a:r>
            <a:r>
              <a:rPr lang="zh-CN" altLang="zh-CN" sz="3200">
                <a:solidFill>
                  <a:srgbClr val="000099"/>
                </a:solidFill>
                <a:ea typeface="华文楷体" panose="02010600040101010101" pitchFamily="2" charset="-122"/>
              </a:rPr>
              <a:t>共同点：</a:t>
            </a:r>
            <a:r>
              <a:rPr lang="zh-CN" altLang="zh-CN">
                <a:solidFill>
                  <a:schemeClr val="accent1"/>
                </a:solidFill>
                <a:ea typeface="华文楷体" panose="02010600040101010101" pitchFamily="2" charset="-122"/>
              </a:rPr>
              <a:t>资源共享</a:t>
            </a:r>
            <a:r>
              <a:rPr lang="zh-CN" altLang="zh-CN" sz="3200">
                <a:solidFill>
                  <a:schemeClr val="accent1"/>
                </a:solidFill>
                <a:ea typeface="华文楷体" panose="02010600040101010101" pitchFamily="2" charset="-122"/>
              </a:rPr>
              <a:t> </a:t>
            </a:r>
            <a:endParaRPr lang="zh-CN" altLang="zh-CN">
              <a:solidFill>
                <a:schemeClr val="accent1"/>
              </a:solidFill>
              <a:ea typeface="华文楷体" panose="02010600040101010101" pitchFamily="2" charset="-122"/>
            </a:endParaRPr>
          </a:p>
        </p:txBody>
      </p:sp>
      <p:sp>
        <p:nvSpPr>
          <p:cNvPr id="14342" name="Text Box 6"/>
          <p:cNvSpPr txBox="1">
            <a:spLocks noChangeArrowheads="1"/>
          </p:cNvSpPr>
          <p:nvPr/>
        </p:nvSpPr>
        <p:spPr bwMode="auto">
          <a:xfrm>
            <a:off x="3403601" y="5810251"/>
            <a:ext cx="5383213" cy="588963"/>
          </a:xfrm>
          <a:prstGeom prst="rect">
            <a:avLst/>
          </a:prstGeom>
          <a:solidFill>
            <a:srgbClr val="DDDDDD"/>
          </a:solidFill>
          <a:ln w="9525">
            <a:solidFill>
              <a:srgbClr val="DDDDDD"/>
            </a:solidFill>
            <a:miter lim="800000"/>
            <a:headEnd/>
            <a:tailEnd/>
          </a:ln>
        </p:spPr>
        <p:txBody>
          <a:bodyPr>
            <a:spAutoFit/>
          </a:bodyPr>
          <a:lstStyle/>
          <a:p>
            <a:pPr>
              <a:spcBef>
                <a:spcPct val="20000"/>
              </a:spcBef>
              <a:buClr>
                <a:schemeClr val="folHlink"/>
              </a:buClr>
              <a:buFont typeface="Wingdings" panose="05000000000000000000" pitchFamily="2" charset="2"/>
              <a:buChar char="v"/>
            </a:pPr>
            <a:r>
              <a:rPr lang="zh-CN" altLang="zh-CN" sz="3200">
                <a:solidFill>
                  <a:schemeClr val="accent1"/>
                </a:solidFill>
                <a:ea typeface="华文楷体" panose="02010600040101010101" pitchFamily="2" charset="-122"/>
              </a:rPr>
              <a:t>  </a:t>
            </a:r>
            <a:r>
              <a:rPr lang="zh-CN" altLang="zh-CN" sz="3200">
                <a:solidFill>
                  <a:srgbClr val="000099"/>
                </a:solidFill>
                <a:ea typeface="华文楷体" panose="02010600040101010101" pitchFamily="2" charset="-122"/>
              </a:rPr>
              <a:t>区别：</a:t>
            </a:r>
            <a:r>
              <a:rPr lang="zh-CN" altLang="zh-CN" sz="2400">
                <a:solidFill>
                  <a:schemeClr val="accent1"/>
                </a:solidFill>
                <a:ea typeface="华文楷体" panose="02010600040101010101" pitchFamily="2" charset="-122"/>
              </a:rPr>
              <a:t>由分布式系统定义可得出</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4339">
                                            <p:txEl>
                                              <p:pRg st="1" end="1"/>
                                            </p:txEl>
                                          </p:spTgt>
                                        </p:tgtEl>
                                        <p:attrNameLst>
                                          <p:attrName>style.visibility</p:attrName>
                                        </p:attrNameLst>
                                      </p:cBhvr>
                                      <p:to>
                                        <p:strVal val="visible"/>
                                      </p:to>
                                    </p:set>
                                    <p:anim calcmode="lin" valueType="num">
                                      <p:cBhvr additive="base">
                                        <p:cTn id="13" dur="500" fill="hold"/>
                                        <p:tgtEl>
                                          <p:spTgt spid="1433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43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340">
                                            <p:txEl>
                                              <p:pRg st="0" end="0"/>
                                            </p:txEl>
                                          </p:spTgt>
                                        </p:tgtEl>
                                        <p:attrNameLst>
                                          <p:attrName>style.visibility</p:attrName>
                                        </p:attrNameLst>
                                      </p:cBhvr>
                                      <p:to>
                                        <p:strVal val="visible"/>
                                      </p:to>
                                    </p:set>
                                    <p:anim calcmode="lin" valueType="num">
                                      <p:cBhvr additive="base">
                                        <p:cTn id="19" dur="500" fill="hold"/>
                                        <p:tgtEl>
                                          <p:spTgt spid="14340">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3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340">
                                            <p:txEl>
                                              <p:pRg st="1" end="1"/>
                                            </p:txEl>
                                          </p:spTgt>
                                        </p:tgtEl>
                                        <p:attrNameLst>
                                          <p:attrName>style.visibility</p:attrName>
                                        </p:attrNameLst>
                                      </p:cBhvr>
                                      <p:to>
                                        <p:strVal val="visible"/>
                                      </p:to>
                                    </p:set>
                                    <p:anim calcmode="lin" valueType="num">
                                      <p:cBhvr additive="base">
                                        <p:cTn id="25" dur="500" fill="hold"/>
                                        <p:tgtEl>
                                          <p:spTgt spid="14340">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34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4341">
                                            <p:txEl>
                                              <p:pRg st="0" end="0"/>
                                            </p:txEl>
                                          </p:spTgt>
                                        </p:tgtEl>
                                        <p:attrNameLst>
                                          <p:attrName>style.visibility</p:attrName>
                                        </p:attrNameLst>
                                      </p:cBhvr>
                                      <p:to>
                                        <p:strVal val="visible"/>
                                      </p:to>
                                    </p:set>
                                    <p:anim calcmode="lin" valueType="num">
                                      <p:cBhvr additive="base">
                                        <p:cTn id="31" dur="500" fill="hold"/>
                                        <p:tgtEl>
                                          <p:spTgt spid="14341">
                                            <p:txEl>
                                              <p:pRg st="0" end="0"/>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43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342">
                                            <p:txEl>
                                              <p:pRg st="0" end="0"/>
                                            </p:txEl>
                                          </p:spTgt>
                                        </p:tgtEl>
                                        <p:attrNameLst>
                                          <p:attrName>style.visibility</p:attrName>
                                        </p:attrNameLst>
                                      </p:cBhvr>
                                      <p:to>
                                        <p:strVal val="visible"/>
                                      </p:to>
                                    </p:set>
                                    <p:anim calcmode="lin" valueType="num">
                                      <p:cBhvr additive="base">
                                        <p:cTn id="37" dur="500" fill="hold"/>
                                        <p:tgtEl>
                                          <p:spTgt spid="14342">
                                            <p:txEl>
                                              <p:pRg st="0" end="0"/>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34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14340" grpId="0" build="p"/>
      <p:bldP spid="14341" grpId="0" build="p"/>
      <p:bldP spid="1434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idx="4294967295"/>
          </p:nvPr>
        </p:nvSpPr>
        <p:spPr>
          <a:xfrm>
            <a:off x="226895" y="257178"/>
            <a:ext cx="7467600" cy="544512"/>
          </a:xfrm>
        </p:spPr>
        <p:txBody>
          <a:bodyPr>
            <a:normAutofit fontScale="90000"/>
          </a:bodyPr>
          <a:lstStyle/>
          <a:p>
            <a:pPr eaLnBrk="1" hangingPunct="1"/>
            <a:r>
              <a:rPr lang="zh-CN" altLang="zh-CN" sz="4400" b="1">
                <a:ea typeface="华文楷体" panose="02010600040101010101" pitchFamily="2" charset="-122"/>
              </a:rPr>
              <a:t>1.2 局域网的组成部分</a:t>
            </a:r>
          </a:p>
        </p:txBody>
      </p:sp>
      <p:sp>
        <p:nvSpPr>
          <p:cNvPr id="15363" name="Text Box 4"/>
          <p:cNvSpPr txBox="1">
            <a:spLocks noChangeArrowheads="1"/>
          </p:cNvSpPr>
          <p:nvPr/>
        </p:nvSpPr>
        <p:spPr bwMode="auto">
          <a:xfrm>
            <a:off x="3328988" y="2536826"/>
            <a:ext cx="104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zh-CN" sz="1800" b="1">
                <a:latin typeface="Times New Roman" panose="02020603050405020304" pitchFamily="18" charset="0"/>
              </a:rPr>
              <a:t>（a）</a:t>
            </a:r>
          </a:p>
        </p:txBody>
      </p:sp>
      <p:grpSp>
        <p:nvGrpSpPr>
          <p:cNvPr id="15364" name="Group 5"/>
          <p:cNvGrpSpPr>
            <a:grpSpLocks/>
          </p:cNvGrpSpPr>
          <p:nvPr/>
        </p:nvGrpSpPr>
        <p:grpSpPr bwMode="auto">
          <a:xfrm>
            <a:off x="2528889" y="3687763"/>
            <a:ext cx="7521575" cy="2717800"/>
            <a:chOff x="0" y="0"/>
            <a:chExt cx="4738" cy="1712"/>
          </a:xfrm>
        </p:grpSpPr>
        <p:sp>
          <p:nvSpPr>
            <p:cNvPr id="15365" name="AutoShape 6"/>
            <p:cNvSpPr>
              <a:spLocks noChangeArrowheads="1"/>
            </p:cNvSpPr>
            <p:nvPr/>
          </p:nvSpPr>
          <p:spPr bwMode="auto">
            <a:xfrm flipH="1">
              <a:off x="3750" y="564"/>
              <a:ext cx="988" cy="461"/>
            </a:xfrm>
            <a:prstGeom prst="cube">
              <a:avLst>
                <a:gd name="adj" fmla="val 56630"/>
              </a:avLst>
            </a:prstGeom>
            <a:solidFill>
              <a:srgbClr val="EAEAEA"/>
            </a:solidFill>
            <a:ln w="12700">
              <a:solidFill>
                <a:schemeClr val="tx1"/>
              </a:solidFill>
              <a:miter lim="800000"/>
              <a:headEnd/>
              <a:tailEnd/>
            </a:ln>
          </p:spPr>
          <p:txBody>
            <a:bodyPr wrap="none" anchor="ctr"/>
            <a:lstStyle/>
            <a:p>
              <a:pPr algn="ctr" eaLnBrk="0" hangingPunct="0"/>
              <a:endParaRPr lang="zh-CN" altLang="en-US" b="1">
                <a:latin typeface="Times New Roman" panose="02020603050405020304" pitchFamily="18" charset="0"/>
              </a:endParaRPr>
            </a:p>
          </p:txBody>
        </p:sp>
        <p:sp>
          <p:nvSpPr>
            <p:cNvPr id="15366" name="未知"/>
            <p:cNvSpPr>
              <a:spLocks noChangeArrowheads="1"/>
            </p:cNvSpPr>
            <p:nvPr/>
          </p:nvSpPr>
          <p:spPr bwMode="auto">
            <a:xfrm>
              <a:off x="3981" y="702"/>
              <a:ext cx="17" cy="33"/>
            </a:xfrm>
            <a:custGeom>
              <a:avLst/>
              <a:gdLst>
                <a:gd name="T0" fmla="*/ 0 w 34"/>
                <a:gd name="T1" fmla="*/ 0 h 71"/>
                <a:gd name="T2" fmla="*/ 0 w 34"/>
                <a:gd name="T3" fmla="*/ 0 h 71"/>
                <a:gd name="T4" fmla="*/ 4 w 34"/>
                <a:gd name="T5" fmla="*/ 20 h 71"/>
                <a:gd name="T6" fmla="*/ 9 w 34"/>
                <a:gd name="T7" fmla="*/ 39 h 71"/>
                <a:gd name="T8" fmla="*/ 16 w 34"/>
                <a:gd name="T9" fmla="*/ 54 h 71"/>
                <a:gd name="T10" fmla="*/ 24 w 34"/>
                <a:gd name="T11" fmla="*/ 71 h 71"/>
                <a:gd name="T12" fmla="*/ 34 w 34"/>
                <a:gd name="T13" fmla="*/ 64 h 71"/>
                <a:gd name="T14" fmla="*/ 26 w 34"/>
                <a:gd name="T15" fmla="*/ 50 h 71"/>
                <a:gd name="T16" fmla="*/ 19 w 34"/>
                <a:gd name="T17" fmla="*/ 35 h 71"/>
                <a:gd name="T18" fmla="*/ 14 w 34"/>
                <a:gd name="T19" fmla="*/ 20 h 71"/>
                <a:gd name="T20" fmla="*/ 14 w 34"/>
                <a:gd name="T21" fmla="*/ 0 h 71"/>
                <a:gd name="T22" fmla="*/ 0 w 34"/>
                <a:gd name="T23"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71">
                  <a:moveTo>
                    <a:pt x="0" y="0"/>
                  </a:moveTo>
                  <a:lnTo>
                    <a:pt x="0" y="0"/>
                  </a:lnTo>
                  <a:lnTo>
                    <a:pt x="4" y="20"/>
                  </a:lnTo>
                  <a:lnTo>
                    <a:pt x="9" y="39"/>
                  </a:lnTo>
                  <a:lnTo>
                    <a:pt x="16" y="54"/>
                  </a:lnTo>
                  <a:lnTo>
                    <a:pt x="24" y="71"/>
                  </a:lnTo>
                  <a:lnTo>
                    <a:pt x="34" y="64"/>
                  </a:lnTo>
                  <a:lnTo>
                    <a:pt x="26" y="50"/>
                  </a:lnTo>
                  <a:lnTo>
                    <a:pt x="19" y="35"/>
                  </a:lnTo>
                  <a:lnTo>
                    <a:pt x="14" y="20"/>
                  </a:lnTo>
                  <a:lnTo>
                    <a:pt x="1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67" name="未知"/>
            <p:cNvSpPr>
              <a:spLocks noChangeArrowheads="1"/>
            </p:cNvSpPr>
            <p:nvPr/>
          </p:nvSpPr>
          <p:spPr bwMode="auto">
            <a:xfrm>
              <a:off x="3981" y="216"/>
              <a:ext cx="7" cy="486"/>
            </a:xfrm>
            <a:custGeom>
              <a:avLst/>
              <a:gdLst>
                <a:gd name="T0" fmla="*/ 0 w 14"/>
                <a:gd name="T1" fmla="*/ 0 h 1018"/>
                <a:gd name="T2" fmla="*/ 0 w 14"/>
                <a:gd name="T3" fmla="*/ 0 h 1018"/>
                <a:gd name="T4" fmla="*/ 0 w 14"/>
                <a:gd name="T5" fmla="*/ 166 h 1018"/>
                <a:gd name="T6" fmla="*/ 0 w 14"/>
                <a:gd name="T7" fmla="*/ 507 h 1018"/>
                <a:gd name="T8" fmla="*/ 0 w 14"/>
                <a:gd name="T9" fmla="*/ 850 h 1018"/>
                <a:gd name="T10" fmla="*/ 0 w 14"/>
                <a:gd name="T11" fmla="*/ 1018 h 1018"/>
                <a:gd name="T12" fmla="*/ 14 w 14"/>
                <a:gd name="T13" fmla="*/ 1018 h 1018"/>
                <a:gd name="T14" fmla="*/ 14 w 14"/>
                <a:gd name="T15" fmla="*/ 850 h 1018"/>
                <a:gd name="T16" fmla="*/ 14 w 14"/>
                <a:gd name="T17" fmla="*/ 507 h 1018"/>
                <a:gd name="T18" fmla="*/ 14 w 14"/>
                <a:gd name="T19" fmla="*/ 166 h 1018"/>
                <a:gd name="T20" fmla="*/ 14 w 14"/>
                <a:gd name="T21" fmla="*/ 0 h 1018"/>
                <a:gd name="T22" fmla="*/ 0 w 14"/>
                <a:gd name="T23" fmla="*/ 0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018">
                  <a:moveTo>
                    <a:pt x="0" y="0"/>
                  </a:moveTo>
                  <a:lnTo>
                    <a:pt x="0" y="0"/>
                  </a:lnTo>
                  <a:lnTo>
                    <a:pt x="0" y="166"/>
                  </a:lnTo>
                  <a:lnTo>
                    <a:pt x="0" y="507"/>
                  </a:lnTo>
                  <a:lnTo>
                    <a:pt x="0" y="850"/>
                  </a:lnTo>
                  <a:lnTo>
                    <a:pt x="0" y="1018"/>
                  </a:lnTo>
                  <a:lnTo>
                    <a:pt x="14" y="1018"/>
                  </a:lnTo>
                  <a:lnTo>
                    <a:pt x="14" y="850"/>
                  </a:lnTo>
                  <a:lnTo>
                    <a:pt x="14" y="507"/>
                  </a:lnTo>
                  <a:lnTo>
                    <a:pt x="14" y="166"/>
                  </a:lnTo>
                  <a:lnTo>
                    <a:pt x="1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68" name="未知"/>
            <p:cNvSpPr>
              <a:spLocks noChangeArrowheads="1"/>
            </p:cNvSpPr>
            <p:nvPr/>
          </p:nvSpPr>
          <p:spPr bwMode="auto">
            <a:xfrm>
              <a:off x="3981" y="185"/>
              <a:ext cx="17" cy="31"/>
            </a:xfrm>
            <a:custGeom>
              <a:avLst/>
              <a:gdLst>
                <a:gd name="T0" fmla="*/ 34 w 34"/>
                <a:gd name="T1" fmla="*/ 0 h 64"/>
                <a:gd name="T2" fmla="*/ 17 w 34"/>
                <a:gd name="T3" fmla="*/ 9 h 64"/>
                <a:gd name="T4" fmla="*/ 7 w 34"/>
                <a:gd name="T5" fmla="*/ 26 h 64"/>
                <a:gd name="T6" fmla="*/ 4 w 34"/>
                <a:gd name="T7" fmla="*/ 44 h 64"/>
                <a:gd name="T8" fmla="*/ 0 w 34"/>
                <a:gd name="T9" fmla="*/ 64 h 64"/>
                <a:gd name="T10" fmla="*/ 14 w 34"/>
                <a:gd name="T11" fmla="*/ 64 h 64"/>
                <a:gd name="T12" fmla="*/ 14 w 34"/>
                <a:gd name="T13" fmla="*/ 44 h 64"/>
                <a:gd name="T14" fmla="*/ 17 w 34"/>
                <a:gd name="T15" fmla="*/ 29 h 64"/>
                <a:gd name="T16" fmla="*/ 24 w 34"/>
                <a:gd name="T17" fmla="*/ 16 h 64"/>
                <a:gd name="T18" fmla="*/ 34 w 34"/>
                <a:gd name="T19" fmla="*/ 10 h 64"/>
                <a:gd name="T20" fmla="*/ 34 w 34"/>
                <a:gd name="T21"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64">
                  <a:moveTo>
                    <a:pt x="34" y="0"/>
                  </a:moveTo>
                  <a:lnTo>
                    <a:pt x="17" y="9"/>
                  </a:lnTo>
                  <a:lnTo>
                    <a:pt x="7" y="26"/>
                  </a:lnTo>
                  <a:lnTo>
                    <a:pt x="4" y="44"/>
                  </a:lnTo>
                  <a:lnTo>
                    <a:pt x="0" y="64"/>
                  </a:lnTo>
                  <a:lnTo>
                    <a:pt x="14" y="64"/>
                  </a:lnTo>
                  <a:lnTo>
                    <a:pt x="14" y="44"/>
                  </a:lnTo>
                  <a:lnTo>
                    <a:pt x="17" y="29"/>
                  </a:lnTo>
                  <a:lnTo>
                    <a:pt x="24" y="16"/>
                  </a:lnTo>
                  <a:lnTo>
                    <a:pt x="34" y="10"/>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69" name="未知"/>
            <p:cNvSpPr>
              <a:spLocks noChangeArrowheads="1"/>
            </p:cNvSpPr>
            <p:nvPr/>
          </p:nvSpPr>
          <p:spPr bwMode="auto">
            <a:xfrm>
              <a:off x="4030" y="236"/>
              <a:ext cx="19" cy="19"/>
            </a:xfrm>
            <a:custGeom>
              <a:avLst/>
              <a:gdLst>
                <a:gd name="T0" fmla="*/ 13 w 39"/>
                <a:gd name="T1" fmla="*/ 41 h 41"/>
                <a:gd name="T2" fmla="*/ 13 w 39"/>
                <a:gd name="T3" fmla="*/ 41 h 41"/>
                <a:gd name="T4" fmla="*/ 13 w 39"/>
                <a:gd name="T5" fmla="*/ 29 h 41"/>
                <a:gd name="T6" fmla="*/ 18 w 39"/>
                <a:gd name="T7" fmla="*/ 19 h 41"/>
                <a:gd name="T8" fmla="*/ 27 w 39"/>
                <a:gd name="T9" fmla="*/ 14 h 41"/>
                <a:gd name="T10" fmla="*/ 39 w 39"/>
                <a:gd name="T11" fmla="*/ 14 h 41"/>
                <a:gd name="T12" fmla="*/ 39 w 39"/>
                <a:gd name="T13" fmla="*/ 0 h 41"/>
                <a:gd name="T14" fmla="*/ 23 w 39"/>
                <a:gd name="T15" fmla="*/ 4 h 41"/>
                <a:gd name="T16" fmla="*/ 12 w 39"/>
                <a:gd name="T17" fmla="*/ 12 h 41"/>
                <a:gd name="T18" fmla="*/ 3 w 39"/>
                <a:gd name="T19" fmla="*/ 25 h 41"/>
                <a:gd name="T20" fmla="*/ 0 w 39"/>
                <a:gd name="T21" fmla="*/ 41 h 41"/>
                <a:gd name="T22" fmla="*/ 13 w 39"/>
                <a:gd name="T23"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41">
                  <a:moveTo>
                    <a:pt x="13" y="41"/>
                  </a:moveTo>
                  <a:lnTo>
                    <a:pt x="13" y="41"/>
                  </a:lnTo>
                  <a:lnTo>
                    <a:pt x="13" y="29"/>
                  </a:lnTo>
                  <a:lnTo>
                    <a:pt x="18" y="19"/>
                  </a:lnTo>
                  <a:lnTo>
                    <a:pt x="27" y="14"/>
                  </a:lnTo>
                  <a:lnTo>
                    <a:pt x="39" y="14"/>
                  </a:lnTo>
                  <a:lnTo>
                    <a:pt x="39" y="0"/>
                  </a:lnTo>
                  <a:lnTo>
                    <a:pt x="23" y="4"/>
                  </a:lnTo>
                  <a:lnTo>
                    <a:pt x="12" y="12"/>
                  </a:lnTo>
                  <a:lnTo>
                    <a:pt x="3" y="25"/>
                  </a:lnTo>
                  <a:lnTo>
                    <a:pt x="0" y="41"/>
                  </a:lnTo>
                  <a:lnTo>
                    <a:pt x="13"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70" name="未知"/>
            <p:cNvSpPr>
              <a:spLocks noChangeArrowheads="1"/>
            </p:cNvSpPr>
            <p:nvPr/>
          </p:nvSpPr>
          <p:spPr bwMode="auto">
            <a:xfrm>
              <a:off x="4030" y="255"/>
              <a:ext cx="7" cy="414"/>
            </a:xfrm>
            <a:custGeom>
              <a:avLst/>
              <a:gdLst>
                <a:gd name="T0" fmla="*/ 13 w 13"/>
                <a:gd name="T1" fmla="*/ 864 h 864"/>
                <a:gd name="T2" fmla="*/ 13 w 13"/>
                <a:gd name="T3" fmla="*/ 864 h 864"/>
                <a:gd name="T4" fmla="*/ 13 w 13"/>
                <a:gd name="T5" fmla="*/ 720 h 864"/>
                <a:gd name="T6" fmla="*/ 13 w 13"/>
                <a:gd name="T7" fmla="*/ 429 h 864"/>
                <a:gd name="T8" fmla="*/ 13 w 13"/>
                <a:gd name="T9" fmla="*/ 141 h 864"/>
                <a:gd name="T10" fmla="*/ 13 w 13"/>
                <a:gd name="T11" fmla="*/ 0 h 864"/>
                <a:gd name="T12" fmla="*/ 0 w 13"/>
                <a:gd name="T13" fmla="*/ 0 h 864"/>
                <a:gd name="T14" fmla="*/ 0 w 13"/>
                <a:gd name="T15" fmla="*/ 141 h 864"/>
                <a:gd name="T16" fmla="*/ 0 w 13"/>
                <a:gd name="T17" fmla="*/ 429 h 864"/>
                <a:gd name="T18" fmla="*/ 0 w 13"/>
                <a:gd name="T19" fmla="*/ 720 h 864"/>
                <a:gd name="T20" fmla="*/ 0 w 13"/>
                <a:gd name="T21" fmla="*/ 864 h 864"/>
                <a:gd name="T22" fmla="*/ 13 w 13"/>
                <a:gd name="T23" fmla="*/ 864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864">
                  <a:moveTo>
                    <a:pt x="13" y="864"/>
                  </a:moveTo>
                  <a:lnTo>
                    <a:pt x="13" y="864"/>
                  </a:lnTo>
                  <a:lnTo>
                    <a:pt x="13" y="720"/>
                  </a:lnTo>
                  <a:lnTo>
                    <a:pt x="13" y="429"/>
                  </a:lnTo>
                  <a:lnTo>
                    <a:pt x="13" y="141"/>
                  </a:lnTo>
                  <a:lnTo>
                    <a:pt x="13" y="0"/>
                  </a:lnTo>
                  <a:lnTo>
                    <a:pt x="0" y="0"/>
                  </a:lnTo>
                  <a:lnTo>
                    <a:pt x="0" y="141"/>
                  </a:lnTo>
                  <a:lnTo>
                    <a:pt x="0" y="429"/>
                  </a:lnTo>
                  <a:lnTo>
                    <a:pt x="0" y="720"/>
                  </a:lnTo>
                  <a:lnTo>
                    <a:pt x="0" y="864"/>
                  </a:lnTo>
                  <a:lnTo>
                    <a:pt x="13" y="8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71" name="未知"/>
            <p:cNvSpPr>
              <a:spLocks noChangeArrowheads="1"/>
            </p:cNvSpPr>
            <p:nvPr/>
          </p:nvSpPr>
          <p:spPr bwMode="auto">
            <a:xfrm>
              <a:off x="4030" y="669"/>
              <a:ext cx="17" cy="19"/>
            </a:xfrm>
            <a:custGeom>
              <a:avLst/>
              <a:gdLst>
                <a:gd name="T0" fmla="*/ 33 w 33"/>
                <a:gd name="T1" fmla="*/ 27 h 41"/>
                <a:gd name="T2" fmla="*/ 33 w 33"/>
                <a:gd name="T3" fmla="*/ 27 h 41"/>
                <a:gd name="T4" fmla="*/ 25 w 33"/>
                <a:gd name="T5" fmla="*/ 27 h 41"/>
                <a:gd name="T6" fmla="*/ 18 w 33"/>
                <a:gd name="T7" fmla="*/ 26 h 41"/>
                <a:gd name="T8" fmla="*/ 13 w 33"/>
                <a:gd name="T9" fmla="*/ 17 h 41"/>
                <a:gd name="T10" fmla="*/ 13 w 33"/>
                <a:gd name="T11" fmla="*/ 0 h 41"/>
                <a:gd name="T12" fmla="*/ 0 w 33"/>
                <a:gd name="T13" fmla="*/ 0 h 41"/>
                <a:gd name="T14" fmla="*/ 3 w 33"/>
                <a:gd name="T15" fmla="*/ 21 h 41"/>
                <a:gd name="T16" fmla="*/ 12 w 33"/>
                <a:gd name="T17" fmla="*/ 32 h 41"/>
                <a:gd name="T18" fmla="*/ 22 w 33"/>
                <a:gd name="T19" fmla="*/ 37 h 41"/>
                <a:gd name="T20" fmla="*/ 33 w 33"/>
                <a:gd name="T21" fmla="*/ 41 h 41"/>
                <a:gd name="T22" fmla="*/ 33 w 33"/>
                <a:gd name="T23"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41">
                  <a:moveTo>
                    <a:pt x="33" y="27"/>
                  </a:moveTo>
                  <a:lnTo>
                    <a:pt x="33" y="27"/>
                  </a:lnTo>
                  <a:lnTo>
                    <a:pt x="25" y="27"/>
                  </a:lnTo>
                  <a:lnTo>
                    <a:pt x="18" y="26"/>
                  </a:lnTo>
                  <a:lnTo>
                    <a:pt x="13" y="17"/>
                  </a:lnTo>
                  <a:lnTo>
                    <a:pt x="13" y="0"/>
                  </a:lnTo>
                  <a:lnTo>
                    <a:pt x="0" y="0"/>
                  </a:lnTo>
                  <a:lnTo>
                    <a:pt x="3" y="21"/>
                  </a:lnTo>
                  <a:lnTo>
                    <a:pt x="12" y="32"/>
                  </a:lnTo>
                  <a:lnTo>
                    <a:pt x="22" y="37"/>
                  </a:lnTo>
                  <a:lnTo>
                    <a:pt x="33" y="41"/>
                  </a:lnTo>
                  <a:lnTo>
                    <a:pt x="33"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72" name="未知"/>
            <p:cNvSpPr>
              <a:spLocks noChangeArrowheads="1"/>
            </p:cNvSpPr>
            <p:nvPr/>
          </p:nvSpPr>
          <p:spPr bwMode="auto">
            <a:xfrm>
              <a:off x="4047" y="668"/>
              <a:ext cx="477" cy="20"/>
            </a:xfrm>
            <a:custGeom>
              <a:avLst/>
              <a:gdLst>
                <a:gd name="T0" fmla="*/ 955 w 955"/>
                <a:gd name="T1" fmla="*/ 0 h 42"/>
                <a:gd name="T2" fmla="*/ 955 w 955"/>
                <a:gd name="T3" fmla="*/ 0 h 42"/>
                <a:gd name="T4" fmla="*/ 940 w 955"/>
                <a:gd name="T5" fmla="*/ 1 h 42"/>
                <a:gd name="T6" fmla="*/ 906 w 955"/>
                <a:gd name="T7" fmla="*/ 3 h 42"/>
                <a:gd name="T8" fmla="*/ 857 w 955"/>
                <a:gd name="T9" fmla="*/ 3 h 42"/>
                <a:gd name="T10" fmla="*/ 797 w 955"/>
                <a:gd name="T11" fmla="*/ 7 h 42"/>
                <a:gd name="T12" fmla="*/ 725 w 955"/>
                <a:gd name="T13" fmla="*/ 10 h 42"/>
                <a:gd name="T14" fmla="*/ 644 w 955"/>
                <a:gd name="T15" fmla="*/ 12 h 42"/>
                <a:gd name="T16" fmla="*/ 560 w 955"/>
                <a:gd name="T17" fmla="*/ 15 h 42"/>
                <a:gd name="T18" fmla="*/ 473 w 955"/>
                <a:gd name="T19" fmla="*/ 17 h 42"/>
                <a:gd name="T20" fmla="*/ 385 w 955"/>
                <a:gd name="T21" fmla="*/ 20 h 42"/>
                <a:gd name="T22" fmla="*/ 301 w 955"/>
                <a:gd name="T23" fmla="*/ 20 h 42"/>
                <a:gd name="T24" fmla="*/ 222 w 955"/>
                <a:gd name="T25" fmla="*/ 23 h 42"/>
                <a:gd name="T26" fmla="*/ 152 w 955"/>
                <a:gd name="T27" fmla="*/ 27 h 42"/>
                <a:gd name="T28" fmla="*/ 91 w 955"/>
                <a:gd name="T29" fmla="*/ 27 h 42"/>
                <a:gd name="T30" fmla="*/ 44 w 955"/>
                <a:gd name="T31" fmla="*/ 27 h 42"/>
                <a:gd name="T32" fmla="*/ 14 w 955"/>
                <a:gd name="T33" fmla="*/ 28 h 42"/>
                <a:gd name="T34" fmla="*/ 0 w 955"/>
                <a:gd name="T35" fmla="*/ 28 h 42"/>
                <a:gd name="T36" fmla="*/ 0 w 955"/>
                <a:gd name="T37" fmla="*/ 42 h 42"/>
                <a:gd name="T38" fmla="*/ 14 w 955"/>
                <a:gd name="T39" fmla="*/ 42 h 42"/>
                <a:gd name="T40" fmla="*/ 44 w 955"/>
                <a:gd name="T41" fmla="*/ 40 h 42"/>
                <a:gd name="T42" fmla="*/ 91 w 955"/>
                <a:gd name="T43" fmla="*/ 40 h 42"/>
                <a:gd name="T44" fmla="*/ 152 w 955"/>
                <a:gd name="T45" fmla="*/ 37 h 42"/>
                <a:gd name="T46" fmla="*/ 222 w 955"/>
                <a:gd name="T47" fmla="*/ 33 h 42"/>
                <a:gd name="T48" fmla="*/ 301 w 955"/>
                <a:gd name="T49" fmla="*/ 33 h 42"/>
                <a:gd name="T50" fmla="*/ 385 w 955"/>
                <a:gd name="T51" fmla="*/ 30 h 42"/>
                <a:gd name="T52" fmla="*/ 473 w 955"/>
                <a:gd name="T53" fmla="*/ 27 h 42"/>
                <a:gd name="T54" fmla="*/ 560 w 955"/>
                <a:gd name="T55" fmla="*/ 25 h 42"/>
                <a:gd name="T56" fmla="*/ 644 w 955"/>
                <a:gd name="T57" fmla="*/ 22 h 42"/>
                <a:gd name="T58" fmla="*/ 725 w 955"/>
                <a:gd name="T59" fmla="*/ 20 h 42"/>
                <a:gd name="T60" fmla="*/ 797 w 955"/>
                <a:gd name="T61" fmla="*/ 17 h 42"/>
                <a:gd name="T62" fmla="*/ 857 w 955"/>
                <a:gd name="T63" fmla="*/ 17 h 42"/>
                <a:gd name="T64" fmla="*/ 906 w 955"/>
                <a:gd name="T65" fmla="*/ 13 h 42"/>
                <a:gd name="T66" fmla="*/ 940 w 955"/>
                <a:gd name="T67" fmla="*/ 12 h 42"/>
                <a:gd name="T68" fmla="*/ 955 w 955"/>
                <a:gd name="T69" fmla="*/ 10 h 42"/>
                <a:gd name="T70" fmla="*/ 955 w 955"/>
                <a:gd name="T7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55" h="42">
                  <a:moveTo>
                    <a:pt x="955" y="0"/>
                  </a:moveTo>
                  <a:lnTo>
                    <a:pt x="955" y="0"/>
                  </a:lnTo>
                  <a:lnTo>
                    <a:pt x="940" y="1"/>
                  </a:lnTo>
                  <a:lnTo>
                    <a:pt x="906" y="3"/>
                  </a:lnTo>
                  <a:lnTo>
                    <a:pt x="857" y="3"/>
                  </a:lnTo>
                  <a:lnTo>
                    <a:pt x="797" y="7"/>
                  </a:lnTo>
                  <a:lnTo>
                    <a:pt x="725" y="10"/>
                  </a:lnTo>
                  <a:lnTo>
                    <a:pt x="644" y="12"/>
                  </a:lnTo>
                  <a:lnTo>
                    <a:pt x="560" y="15"/>
                  </a:lnTo>
                  <a:lnTo>
                    <a:pt x="473" y="17"/>
                  </a:lnTo>
                  <a:lnTo>
                    <a:pt x="385" y="20"/>
                  </a:lnTo>
                  <a:lnTo>
                    <a:pt x="301" y="20"/>
                  </a:lnTo>
                  <a:lnTo>
                    <a:pt x="222" y="23"/>
                  </a:lnTo>
                  <a:lnTo>
                    <a:pt x="152" y="27"/>
                  </a:lnTo>
                  <a:lnTo>
                    <a:pt x="91" y="27"/>
                  </a:lnTo>
                  <a:lnTo>
                    <a:pt x="44" y="27"/>
                  </a:lnTo>
                  <a:lnTo>
                    <a:pt x="14" y="28"/>
                  </a:lnTo>
                  <a:lnTo>
                    <a:pt x="0" y="28"/>
                  </a:lnTo>
                  <a:lnTo>
                    <a:pt x="0" y="42"/>
                  </a:lnTo>
                  <a:lnTo>
                    <a:pt x="14" y="42"/>
                  </a:lnTo>
                  <a:lnTo>
                    <a:pt x="44" y="40"/>
                  </a:lnTo>
                  <a:lnTo>
                    <a:pt x="91" y="40"/>
                  </a:lnTo>
                  <a:lnTo>
                    <a:pt x="152" y="37"/>
                  </a:lnTo>
                  <a:lnTo>
                    <a:pt x="222" y="33"/>
                  </a:lnTo>
                  <a:lnTo>
                    <a:pt x="301" y="33"/>
                  </a:lnTo>
                  <a:lnTo>
                    <a:pt x="385" y="30"/>
                  </a:lnTo>
                  <a:lnTo>
                    <a:pt x="473" y="27"/>
                  </a:lnTo>
                  <a:lnTo>
                    <a:pt x="560" y="25"/>
                  </a:lnTo>
                  <a:lnTo>
                    <a:pt x="644" y="22"/>
                  </a:lnTo>
                  <a:lnTo>
                    <a:pt x="725" y="20"/>
                  </a:lnTo>
                  <a:lnTo>
                    <a:pt x="797" y="17"/>
                  </a:lnTo>
                  <a:lnTo>
                    <a:pt x="857" y="17"/>
                  </a:lnTo>
                  <a:lnTo>
                    <a:pt x="906" y="13"/>
                  </a:lnTo>
                  <a:lnTo>
                    <a:pt x="940" y="12"/>
                  </a:lnTo>
                  <a:lnTo>
                    <a:pt x="955" y="10"/>
                  </a:lnTo>
                  <a:lnTo>
                    <a:pt x="9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73" name="未知"/>
            <p:cNvSpPr>
              <a:spLocks noChangeArrowheads="1"/>
            </p:cNvSpPr>
            <p:nvPr/>
          </p:nvSpPr>
          <p:spPr bwMode="auto">
            <a:xfrm>
              <a:off x="4524" y="649"/>
              <a:ext cx="24" cy="23"/>
            </a:xfrm>
            <a:custGeom>
              <a:avLst/>
              <a:gdLst>
                <a:gd name="T0" fmla="*/ 34 w 47"/>
                <a:gd name="T1" fmla="*/ 0 h 51"/>
                <a:gd name="T2" fmla="*/ 34 w 47"/>
                <a:gd name="T3" fmla="*/ 0 h 51"/>
                <a:gd name="T4" fmla="*/ 34 w 47"/>
                <a:gd name="T5" fmla="*/ 17 h 51"/>
                <a:gd name="T6" fmla="*/ 27 w 47"/>
                <a:gd name="T7" fmla="*/ 29 h 51"/>
                <a:gd name="T8" fmla="*/ 17 w 47"/>
                <a:gd name="T9" fmla="*/ 36 h 51"/>
                <a:gd name="T10" fmla="*/ 0 w 47"/>
                <a:gd name="T11" fmla="*/ 41 h 51"/>
                <a:gd name="T12" fmla="*/ 0 w 47"/>
                <a:gd name="T13" fmla="*/ 51 h 51"/>
                <a:gd name="T14" fmla="*/ 20 w 47"/>
                <a:gd name="T15" fmla="*/ 46 h 51"/>
                <a:gd name="T16" fmla="*/ 34 w 47"/>
                <a:gd name="T17" fmla="*/ 36 h 51"/>
                <a:gd name="T18" fmla="*/ 44 w 47"/>
                <a:gd name="T19" fmla="*/ 21 h 51"/>
                <a:gd name="T20" fmla="*/ 47 w 47"/>
                <a:gd name="T21" fmla="*/ 0 h 51"/>
                <a:gd name="T22" fmla="*/ 34 w 47"/>
                <a:gd name="T23"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51">
                  <a:moveTo>
                    <a:pt x="34" y="0"/>
                  </a:moveTo>
                  <a:lnTo>
                    <a:pt x="34" y="0"/>
                  </a:lnTo>
                  <a:lnTo>
                    <a:pt x="34" y="17"/>
                  </a:lnTo>
                  <a:lnTo>
                    <a:pt x="27" y="29"/>
                  </a:lnTo>
                  <a:lnTo>
                    <a:pt x="17" y="36"/>
                  </a:lnTo>
                  <a:lnTo>
                    <a:pt x="0" y="41"/>
                  </a:lnTo>
                  <a:lnTo>
                    <a:pt x="0" y="51"/>
                  </a:lnTo>
                  <a:lnTo>
                    <a:pt x="20" y="46"/>
                  </a:lnTo>
                  <a:lnTo>
                    <a:pt x="34" y="36"/>
                  </a:lnTo>
                  <a:lnTo>
                    <a:pt x="44" y="21"/>
                  </a:lnTo>
                  <a:lnTo>
                    <a:pt x="47" y="0"/>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74" name="未知"/>
            <p:cNvSpPr>
              <a:spLocks noChangeArrowheads="1"/>
            </p:cNvSpPr>
            <p:nvPr/>
          </p:nvSpPr>
          <p:spPr bwMode="auto">
            <a:xfrm>
              <a:off x="4541" y="249"/>
              <a:ext cx="7" cy="400"/>
            </a:xfrm>
            <a:custGeom>
              <a:avLst/>
              <a:gdLst>
                <a:gd name="T0" fmla="*/ 0 w 13"/>
                <a:gd name="T1" fmla="*/ 0 h 836"/>
                <a:gd name="T2" fmla="*/ 0 w 13"/>
                <a:gd name="T3" fmla="*/ 0 h 836"/>
                <a:gd name="T4" fmla="*/ 0 w 13"/>
                <a:gd name="T5" fmla="*/ 133 h 836"/>
                <a:gd name="T6" fmla="*/ 0 w 13"/>
                <a:gd name="T7" fmla="*/ 413 h 836"/>
                <a:gd name="T8" fmla="*/ 0 w 13"/>
                <a:gd name="T9" fmla="*/ 695 h 836"/>
                <a:gd name="T10" fmla="*/ 0 w 13"/>
                <a:gd name="T11" fmla="*/ 836 h 836"/>
                <a:gd name="T12" fmla="*/ 13 w 13"/>
                <a:gd name="T13" fmla="*/ 836 h 836"/>
                <a:gd name="T14" fmla="*/ 13 w 13"/>
                <a:gd name="T15" fmla="*/ 695 h 836"/>
                <a:gd name="T16" fmla="*/ 13 w 13"/>
                <a:gd name="T17" fmla="*/ 413 h 836"/>
                <a:gd name="T18" fmla="*/ 13 w 13"/>
                <a:gd name="T19" fmla="*/ 133 h 836"/>
                <a:gd name="T20" fmla="*/ 13 w 13"/>
                <a:gd name="T21" fmla="*/ 0 h 836"/>
                <a:gd name="T22" fmla="*/ 0 w 13"/>
                <a:gd name="T23" fmla="*/ 0 h 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836">
                  <a:moveTo>
                    <a:pt x="0" y="0"/>
                  </a:moveTo>
                  <a:lnTo>
                    <a:pt x="0" y="0"/>
                  </a:lnTo>
                  <a:lnTo>
                    <a:pt x="0" y="133"/>
                  </a:lnTo>
                  <a:lnTo>
                    <a:pt x="0" y="413"/>
                  </a:lnTo>
                  <a:lnTo>
                    <a:pt x="0" y="695"/>
                  </a:lnTo>
                  <a:lnTo>
                    <a:pt x="0" y="836"/>
                  </a:lnTo>
                  <a:lnTo>
                    <a:pt x="13" y="836"/>
                  </a:lnTo>
                  <a:lnTo>
                    <a:pt x="13" y="695"/>
                  </a:lnTo>
                  <a:lnTo>
                    <a:pt x="13" y="413"/>
                  </a:lnTo>
                  <a:lnTo>
                    <a:pt x="13" y="133"/>
                  </a:lnTo>
                  <a:lnTo>
                    <a:pt x="1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75" name="未知"/>
            <p:cNvSpPr>
              <a:spLocks noChangeArrowheads="1"/>
            </p:cNvSpPr>
            <p:nvPr/>
          </p:nvSpPr>
          <p:spPr bwMode="auto">
            <a:xfrm>
              <a:off x="4522" y="230"/>
              <a:ext cx="26" cy="19"/>
            </a:xfrm>
            <a:custGeom>
              <a:avLst/>
              <a:gdLst>
                <a:gd name="T0" fmla="*/ 0 w 50"/>
                <a:gd name="T1" fmla="*/ 11 h 39"/>
                <a:gd name="T2" fmla="*/ 0 w 50"/>
                <a:gd name="T3" fmla="*/ 11 h 39"/>
                <a:gd name="T4" fmla="*/ 21 w 50"/>
                <a:gd name="T5" fmla="*/ 11 h 39"/>
                <a:gd name="T6" fmla="*/ 32 w 50"/>
                <a:gd name="T7" fmla="*/ 17 h 39"/>
                <a:gd name="T8" fmla="*/ 37 w 50"/>
                <a:gd name="T9" fmla="*/ 27 h 39"/>
                <a:gd name="T10" fmla="*/ 37 w 50"/>
                <a:gd name="T11" fmla="*/ 39 h 39"/>
                <a:gd name="T12" fmla="*/ 50 w 50"/>
                <a:gd name="T13" fmla="*/ 39 h 39"/>
                <a:gd name="T14" fmla="*/ 47 w 50"/>
                <a:gd name="T15" fmla="*/ 24 h 39"/>
                <a:gd name="T16" fmla="*/ 38 w 50"/>
                <a:gd name="T17" fmla="*/ 11 h 39"/>
                <a:gd name="T18" fmla="*/ 21 w 50"/>
                <a:gd name="T19" fmla="*/ 0 h 39"/>
                <a:gd name="T20" fmla="*/ 0 w 50"/>
                <a:gd name="T21" fmla="*/ 0 h 39"/>
                <a:gd name="T22" fmla="*/ 0 w 50"/>
                <a:gd name="T23" fmla="*/ 1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 h="39">
                  <a:moveTo>
                    <a:pt x="0" y="11"/>
                  </a:moveTo>
                  <a:lnTo>
                    <a:pt x="0" y="11"/>
                  </a:lnTo>
                  <a:lnTo>
                    <a:pt x="21" y="11"/>
                  </a:lnTo>
                  <a:lnTo>
                    <a:pt x="32" y="17"/>
                  </a:lnTo>
                  <a:lnTo>
                    <a:pt x="37" y="27"/>
                  </a:lnTo>
                  <a:lnTo>
                    <a:pt x="37" y="39"/>
                  </a:lnTo>
                  <a:lnTo>
                    <a:pt x="50" y="39"/>
                  </a:lnTo>
                  <a:lnTo>
                    <a:pt x="47" y="24"/>
                  </a:lnTo>
                  <a:lnTo>
                    <a:pt x="38" y="11"/>
                  </a:lnTo>
                  <a:lnTo>
                    <a:pt x="21" y="0"/>
                  </a:lnTo>
                  <a:lnTo>
                    <a:pt x="0" y="0"/>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76" name="未知"/>
            <p:cNvSpPr>
              <a:spLocks noChangeArrowheads="1"/>
            </p:cNvSpPr>
            <p:nvPr/>
          </p:nvSpPr>
          <p:spPr bwMode="auto">
            <a:xfrm>
              <a:off x="4049" y="229"/>
              <a:ext cx="473" cy="14"/>
            </a:xfrm>
            <a:custGeom>
              <a:avLst/>
              <a:gdLst>
                <a:gd name="T0" fmla="*/ 0 w 946"/>
                <a:gd name="T1" fmla="*/ 27 h 27"/>
                <a:gd name="T2" fmla="*/ 0 w 946"/>
                <a:gd name="T3" fmla="*/ 27 h 27"/>
                <a:gd name="T4" fmla="*/ 10 w 946"/>
                <a:gd name="T5" fmla="*/ 27 h 27"/>
                <a:gd name="T6" fmla="*/ 38 w 946"/>
                <a:gd name="T7" fmla="*/ 27 h 27"/>
                <a:gd name="T8" fmla="*/ 84 w 946"/>
                <a:gd name="T9" fmla="*/ 25 h 27"/>
                <a:gd name="T10" fmla="*/ 142 w 946"/>
                <a:gd name="T11" fmla="*/ 25 h 27"/>
                <a:gd name="T12" fmla="*/ 211 w 946"/>
                <a:gd name="T13" fmla="*/ 25 h 27"/>
                <a:gd name="T14" fmla="*/ 289 w 946"/>
                <a:gd name="T15" fmla="*/ 23 h 27"/>
                <a:gd name="T16" fmla="*/ 373 w 946"/>
                <a:gd name="T17" fmla="*/ 22 h 27"/>
                <a:gd name="T18" fmla="*/ 458 w 946"/>
                <a:gd name="T19" fmla="*/ 22 h 27"/>
                <a:gd name="T20" fmla="*/ 546 w 946"/>
                <a:gd name="T21" fmla="*/ 20 h 27"/>
                <a:gd name="T22" fmla="*/ 630 w 946"/>
                <a:gd name="T23" fmla="*/ 18 h 27"/>
                <a:gd name="T24" fmla="*/ 710 w 946"/>
                <a:gd name="T25" fmla="*/ 18 h 27"/>
                <a:gd name="T26" fmla="*/ 783 w 946"/>
                <a:gd name="T27" fmla="*/ 17 h 27"/>
                <a:gd name="T28" fmla="*/ 845 w 946"/>
                <a:gd name="T29" fmla="*/ 15 h 27"/>
                <a:gd name="T30" fmla="*/ 894 w 946"/>
                <a:gd name="T31" fmla="*/ 15 h 27"/>
                <a:gd name="T32" fmla="*/ 929 w 946"/>
                <a:gd name="T33" fmla="*/ 13 h 27"/>
                <a:gd name="T34" fmla="*/ 946 w 946"/>
                <a:gd name="T35" fmla="*/ 12 h 27"/>
                <a:gd name="T36" fmla="*/ 946 w 946"/>
                <a:gd name="T37" fmla="*/ 1 h 27"/>
                <a:gd name="T38" fmla="*/ 929 w 946"/>
                <a:gd name="T39" fmla="*/ 0 h 27"/>
                <a:gd name="T40" fmla="*/ 894 w 946"/>
                <a:gd name="T41" fmla="*/ 1 h 27"/>
                <a:gd name="T42" fmla="*/ 845 w 946"/>
                <a:gd name="T43" fmla="*/ 1 h 27"/>
                <a:gd name="T44" fmla="*/ 783 w 946"/>
                <a:gd name="T45" fmla="*/ 3 h 27"/>
                <a:gd name="T46" fmla="*/ 710 w 946"/>
                <a:gd name="T47" fmla="*/ 5 h 27"/>
                <a:gd name="T48" fmla="*/ 630 w 946"/>
                <a:gd name="T49" fmla="*/ 5 h 27"/>
                <a:gd name="T50" fmla="*/ 546 w 946"/>
                <a:gd name="T51" fmla="*/ 6 h 27"/>
                <a:gd name="T52" fmla="*/ 458 w 946"/>
                <a:gd name="T53" fmla="*/ 8 h 27"/>
                <a:gd name="T54" fmla="*/ 373 w 946"/>
                <a:gd name="T55" fmla="*/ 8 h 27"/>
                <a:gd name="T56" fmla="*/ 289 w 946"/>
                <a:gd name="T57" fmla="*/ 10 h 27"/>
                <a:gd name="T58" fmla="*/ 211 w 946"/>
                <a:gd name="T59" fmla="*/ 12 h 27"/>
                <a:gd name="T60" fmla="*/ 142 w 946"/>
                <a:gd name="T61" fmla="*/ 12 h 27"/>
                <a:gd name="T62" fmla="*/ 84 w 946"/>
                <a:gd name="T63" fmla="*/ 12 h 27"/>
                <a:gd name="T64" fmla="*/ 38 w 946"/>
                <a:gd name="T65" fmla="*/ 13 h 27"/>
                <a:gd name="T66" fmla="*/ 10 w 946"/>
                <a:gd name="T67" fmla="*/ 13 h 27"/>
                <a:gd name="T68" fmla="*/ 0 w 946"/>
                <a:gd name="T69" fmla="*/ 13 h 27"/>
                <a:gd name="T70" fmla="*/ 0 w 946"/>
                <a:gd name="T7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46" h="27">
                  <a:moveTo>
                    <a:pt x="0" y="27"/>
                  </a:moveTo>
                  <a:lnTo>
                    <a:pt x="0" y="27"/>
                  </a:lnTo>
                  <a:lnTo>
                    <a:pt x="10" y="27"/>
                  </a:lnTo>
                  <a:lnTo>
                    <a:pt x="38" y="27"/>
                  </a:lnTo>
                  <a:lnTo>
                    <a:pt x="84" y="25"/>
                  </a:lnTo>
                  <a:lnTo>
                    <a:pt x="142" y="25"/>
                  </a:lnTo>
                  <a:lnTo>
                    <a:pt x="211" y="25"/>
                  </a:lnTo>
                  <a:lnTo>
                    <a:pt x="289" y="23"/>
                  </a:lnTo>
                  <a:lnTo>
                    <a:pt x="373" y="22"/>
                  </a:lnTo>
                  <a:lnTo>
                    <a:pt x="458" y="22"/>
                  </a:lnTo>
                  <a:lnTo>
                    <a:pt x="546" y="20"/>
                  </a:lnTo>
                  <a:lnTo>
                    <a:pt x="630" y="18"/>
                  </a:lnTo>
                  <a:lnTo>
                    <a:pt x="710" y="18"/>
                  </a:lnTo>
                  <a:lnTo>
                    <a:pt x="783" y="17"/>
                  </a:lnTo>
                  <a:lnTo>
                    <a:pt x="845" y="15"/>
                  </a:lnTo>
                  <a:lnTo>
                    <a:pt x="894" y="15"/>
                  </a:lnTo>
                  <a:lnTo>
                    <a:pt x="929" y="13"/>
                  </a:lnTo>
                  <a:lnTo>
                    <a:pt x="946" y="12"/>
                  </a:lnTo>
                  <a:lnTo>
                    <a:pt x="946" y="1"/>
                  </a:lnTo>
                  <a:lnTo>
                    <a:pt x="929" y="0"/>
                  </a:lnTo>
                  <a:lnTo>
                    <a:pt x="894" y="1"/>
                  </a:lnTo>
                  <a:lnTo>
                    <a:pt x="845" y="1"/>
                  </a:lnTo>
                  <a:lnTo>
                    <a:pt x="783" y="3"/>
                  </a:lnTo>
                  <a:lnTo>
                    <a:pt x="710" y="5"/>
                  </a:lnTo>
                  <a:lnTo>
                    <a:pt x="630" y="5"/>
                  </a:lnTo>
                  <a:lnTo>
                    <a:pt x="546" y="6"/>
                  </a:lnTo>
                  <a:lnTo>
                    <a:pt x="458" y="8"/>
                  </a:lnTo>
                  <a:lnTo>
                    <a:pt x="373" y="8"/>
                  </a:lnTo>
                  <a:lnTo>
                    <a:pt x="289" y="10"/>
                  </a:lnTo>
                  <a:lnTo>
                    <a:pt x="211" y="12"/>
                  </a:lnTo>
                  <a:lnTo>
                    <a:pt x="142" y="12"/>
                  </a:lnTo>
                  <a:lnTo>
                    <a:pt x="84" y="12"/>
                  </a:lnTo>
                  <a:lnTo>
                    <a:pt x="38" y="13"/>
                  </a:lnTo>
                  <a:lnTo>
                    <a:pt x="10" y="13"/>
                  </a:lnTo>
                  <a:lnTo>
                    <a:pt x="0" y="13"/>
                  </a:ln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77" name="未知"/>
            <p:cNvSpPr>
              <a:spLocks noChangeArrowheads="1"/>
            </p:cNvSpPr>
            <p:nvPr/>
          </p:nvSpPr>
          <p:spPr bwMode="auto">
            <a:xfrm>
              <a:off x="3856" y="181"/>
              <a:ext cx="752" cy="561"/>
            </a:xfrm>
            <a:custGeom>
              <a:avLst/>
              <a:gdLst>
                <a:gd name="T0" fmla="*/ 328 w 1504"/>
                <a:gd name="T1" fmla="*/ 1174 h 1174"/>
                <a:gd name="T2" fmla="*/ 381 w 1504"/>
                <a:gd name="T3" fmla="*/ 1174 h 1174"/>
                <a:gd name="T4" fmla="*/ 464 w 1504"/>
                <a:gd name="T5" fmla="*/ 1174 h 1174"/>
                <a:gd name="T6" fmla="*/ 571 w 1504"/>
                <a:gd name="T7" fmla="*/ 1172 h 1174"/>
                <a:gd name="T8" fmla="*/ 694 w 1504"/>
                <a:gd name="T9" fmla="*/ 1171 h 1174"/>
                <a:gd name="T10" fmla="*/ 828 w 1504"/>
                <a:gd name="T11" fmla="*/ 1169 h 1174"/>
                <a:gd name="T12" fmla="*/ 966 w 1504"/>
                <a:gd name="T13" fmla="*/ 1166 h 1174"/>
                <a:gd name="T14" fmla="*/ 1101 w 1504"/>
                <a:gd name="T15" fmla="*/ 1162 h 1174"/>
                <a:gd name="T16" fmla="*/ 1227 w 1504"/>
                <a:gd name="T17" fmla="*/ 1157 h 1174"/>
                <a:gd name="T18" fmla="*/ 1338 w 1504"/>
                <a:gd name="T19" fmla="*/ 1150 h 1174"/>
                <a:gd name="T20" fmla="*/ 1427 w 1504"/>
                <a:gd name="T21" fmla="*/ 1144 h 1174"/>
                <a:gd name="T22" fmla="*/ 1480 w 1504"/>
                <a:gd name="T23" fmla="*/ 1119 h 1174"/>
                <a:gd name="T24" fmla="*/ 1501 w 1504"/>
                <a:gd name="T25" fmla="*/ 1078 h 1174"/>
                <a:gd name="T26" fmla="*/ 1504 w 1504"/>
                <a:gd name="T27" fmla="*/ 902 h 1174"/>
                <a:gd name="T28" fmla="*/ 1504 w 1504"/>
                <a:gd name="T29" fmla="*/ 59 h 1174"/>
                <a:gd name="T30" fmla="*/ 1496 w 1504"/>
                <a:gd name="T31" fmla="*/ 32 h 1174"/>
                <a:gd name="T32" fmla="*/ 1472 w 1504"/>
                <a:gd name="T33" fmla="*/ 7 h 1174"/>
                <a:gd name="T34" fmla="*/ 1440 w 1504"/>
                <a:gd name="T35" fmla="*/ 0 h 1174"/>
                <a:gd name="T36" fmla="*/ 1390 w 1504"/>
                <a:gd name="T37" fmla="*/ 0 h 1174"/>
                <a:gd name="T38" fmla="*/ 1297 w 1504"/>
                <a:gd name="T39" fmla="*/ 0 h 1174"/>
                <a:gd name="T40" fmla="*/ 1175 w 1504"/>
                <a:gd name="T41" fmla="*/ 2 h 1174"/>
                <a:gd name="T42" fmla="*/ 1032 w 1504"/>
                <a:gd name="T43" fmla="*/ 2 h 1174"/>
                <a:gd name="T44" fmla="*/ 879 w 1504"/>
                <a:gd name="T45" fmla="*/ 2 h 1174"/>
                <a:gd name="T46" fmla="*/ 726 w 1504"/>
                <a:gd name="T47" fmla="*/ 3 h 1174"/>
                <a:gd name="T48" fmla="*/ 581 w 1504"/>
                <a:gd name="T49" fmla="*/ 3 h 1174"/>
                <a:gd name="T50" fmla="*/ 455 w 1504"/>
                <a:gd name="T51" fmla="*/ 5 h 1174"/>
                <a:gd name="T52" fmla="*/ 361 w 1504"/>
                <a:gd name="T53" fmla="*/ 5 h 1174"/>
                <a:gd name="T54" fmla="*/ 306 w 1504"/>
                <a:gd name="T55" fmla="*/ 5 h 1174"/>
                <a:gd name="T56" fmla="*/ 255 w 1504"/>
                <a:gd name="T57" fmla="*/ 7 h 1174"/>
                <a:gd name="T58" fmla="*/ 200 w 1504"/>
                <a:gd name="T59" fmla="*/ 22 h 1174"/>
                <a:gd name="T60" fmla="*/ 171 w 1504"/>
                <a:gd name="T61" fmla="*/ 55 h 1174"/>
                <a:gd name="T62" fmla="*/ 138 w 1504"/>
                <a:gd name="T63" fmla="*/ 62 h 1174"/>
                <a:gd name="T64" fmla="*/ 74 w 1504"/>
                <a:gd name="T65" fmla="*/ 74 h 1174"/>
                <a:gd name="T66" fmla="*/ 29 w 1504"/>
                <a:gd name="T67" fmla="*/ 84 h 1174"/>
                <a:gd name="T68" fmla="*/ 0 w 1504"/>
                <a:gd name="T69" fmla="*/ 123 h 1174"/>
                <a:gd name="T70" fmla="*/ 0 w 1504"/>
                <a:gd name="T71" fmla="*/ 806 h 1174"/>
                <a:gd name="T72" fmla="*/ 7 w 1504"/>
                <a:gd name="T73" fmla="*/ 969 h 1174"/>
                <a:gd name="T74" fmla="*/ 44 w 1504"/>
                <a:gd name="T75" fmla="*/ 996 h 1174"/>
                <a:gd name="T76" fmla="*/ 108 w 1504"/>
                <a:gd name="T77" fmla="*/ 1036 h 1174"/>
                <a:gd name="T78" fmla="*/ 161 w 1504"/>
                <a:gd name="T79" fmla="*/ 1070 h 1174"/>
                <a:gd name="T80" fmla="*/ 168 w 1504"/>
                <a:gd name="T81" fmla="*/ 1103 h 1174"/>
                <a:gd name="T82" fmla="*/ 215 w 1504"/>
                <a:gd name="T83" fmla="*/ 1150 h 1174"/>
                <a:gd name="T84" fmla="*/ 271 w 1504"/>
                <a:gd name="T85" fmla="*/ 1164 h 1174"/>
                <a:gd name="T86" fmla="*/ 308 w 1504"/>
                <a:gd name="T87" fmla="*/ 1174 h 1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04" h="1174">
                  <a:moveTo>
                    <a:pt x="311" y="1174"/>
                  </a:moveTo>
                  <a:lnTo>
                    <a:pt x="318" y="1174"/>
                  </a:lnTo>
                  <a:lnTo>
                    <a:pt x="328" y="1174"/>
                  </a:lnTo>
                  <a:lnTo>
                    <a:pt x="341" y="1174"/>
                  </a:lnTo>
                  <a:lnTo>
                    <a:pt x="360" y="1174"/>
                  </a:lnTo>
                  <a:lnTo>
                    <a:pt x="381" y="1174"/>
                  </a:lnTo>
                  <a:lnTo>
                    <a:pt x="405" y="1174"/>
                  </a:lnTo>
                  <a:lnTo>
                    <a:pt x="434" y="1174"/>
                  </a:lnTo>
                  <a:lnTo>
                    <a:pt x="464" y="1174"/>
                  </a:lnTo>
                  <a:lnTo>
                    <a:pt x="497" y="1172"/>
                  </a:lnTo>
                  <a:lnTo>
                    <a:pt x="533" y="1172"/>
                  </a:lnTo>
                  <a:lnTo>
                    <a:pt x="571" y="1172"/>
                  </a:lnTo>
                  <a:lnTo>
                    <a:pt x="610" y="1172"/>
                  </a:lnTo>
                  <a:lnTo>
                    <a:pt x="652" y="1171"/>
                  </a:lnTo>
                  <a:lnTo>
                    <a:pt x="694" y="1171"/>
                  </a:lnTo>
                  <a:lnTo>
                    <a:pt x="738" y="1171"/>
                  </a:lnTo>
                  <a:lnTo>
                    <a:pt x="783" y="1169"/>
                  </a:lnTo>
                  <a:lnTo>
                    <a:pt x="828" y="1169"/>
                  </a:lnTo>
                  <a:lnTo>
                    <a:pt x="874" y="1167"/>
                  </a:lnTo>
                  <a:lnTo>
                    <a:pt x="921" y="1167"/>
                  </a:lnTo>
                  <a:lnTo>
                    <a:pt x="966" y="1166"/>
                  </a:lnTo>
                  <a:lnTo>
                    <a:pt x="1012" y="1164"/>
                  </a:lnTo>
                  <a:lnTo>
                    <a:pt x="1057" y="1164"/>
                  </a:lnTo>
                  <a:lnTo>
                    <a:pt x="1101" y="1162"/>
                  </a:lnTo>
                  <a:lnTo>
                    <a:pt x="1144" y="1161"/>
                  </a:lnTo>
                  <a:lnTo>
                    <a:pt x="1186" y="1159"/>
                  </a:lnTo>
                  <a:lnTo>
                    <a:pt x="1227" y="1157"/>
                  </a:lnTo>
                  <a:lnTo>
                    <a:pt x="1267" y="1156"/>
                  </a:lnTo>
                  <a:lnTo>
                    <a:pt x="1304" y="1154"/>
                  </a:lnTo>
                  <a:lnTo>
                    <a:pt x="1338" y="1150"/>
                  </a:lnTo>
                  <a:lnTo>
                    <a:pt x="1370" y="1149"/>
                  </a:lnTo>
                  <a:lnTo>
                    <a:pt x="1400" y="1147"/>
                  </a:lnTo>
                  <a:lnTo>
                    <a:pt x="1427" y="1144"/>
                  </a:lnTo>
                  <a:lnTo>
                    <a:pt x="1449" y="1139"/>
                  </a:lnTo>
                  <a:lnTo>
                    <a:pt x="1467" y="1130"/>
                  </a:lnTo>
                  <a:lnTo>
                    <a:pt x="1480" y="1119"/>
                  </a:lnTo>
                  <a:lnTo>
                    <a:pt x="1491" y="1103"/>
                  </a:lnTo>
                  <a:lnTo>
                    <a:pt x="1497" y="1090"/>
                  </a:lnTo>
                  <a:lnTo>
                    <a:pt x="1501" y="1078"/>
                  </a:lnTo>
                  <a:lnTo>
                    <a:pt x="1504" y="1067"/>
                  </a:lnTo>
                  <a:lnTo>
                    <a:pt x="1504" y="1060"/>
                  </a:lnTo>
                  <a:lnTo>
                    <a:pt x="1504" y="902"/>
                  </a:lnTo>
                  <a:lnTo>
                    <a:pt x="1504" y="563"/>
                  </a:lnTo>
                  <a:lnTo>
                    <a:pt x="1504" y="223"/>
                  </a:lnTo>
                  <a:lnTo>
                    <a:pt x="1504" y="59"/>
                  </a:lnTo>
                  <a:lnTo>
                    <a:pt x="1502" y="50"/>
                  </a:lnTo>
                  <a:lnTo>
                    <a:pt x="1501" y="40"/>
                  </a:lnTo>
                  <a:lnTo>
                    <a:pt x="1496" y="32"/>
                  </a:lnTo>
                  <a:lnTo>
                    <a:pt x="1489" y="22"/>
                  </a:lnTo>
                  <a:lnTo>
                    <a:pt x="1480" y="13"/>
                  </a:lnTo>
                  <a:lnTo>
                    <a:pt x="1472" y="7"/>
                  </a:lnTo>
                  <a:lnTo>
                    <a:pt x="1460" y="2"/>
                  </a:lnTo>
                  <a:lnTo>
                    <a:pt x="1447" y="0"/>
                  </a:lnTo>
                  <a:lnTo>
                    <a:pt x="1440" y="0"/>
                  </a:lnTo>
                  <a:lnTo>
                    <a:pt x="1428" y="0"/>
                  </a:lnTo>
                  <a:lnTo>
                    <a:pt x="1412" y="0"/>
                  </a:lnTo>
                  <a:lnTo>
                    <a:pt x="1390" y="0"/>
                  </a:lnTo>
                  <a:lnTo>
                    <a:pt x="1363" y="0"/>
                  </a:lnTo>
                  <a:lnTo>
                    <a:pt x="1333" y="0"/>
                  </a:lnTo>
                  <a:lnTo>
                    <a:pt x="1297" y="0"/>
                  </a:lnTo>
                  <a:lnTo>
                    <a:pt x="1260" y="0"/>
                  </a:lnTo>
                  <a:lnTo>
                    <a:pt x="1218" y="2"/>
                  </a:lnTo>
                  <a:lnTo>
                    <a:pt x="1175" y="2"/>
                  </a:lnTo>
                  <a:lnTo>
                    <a:pt x="1129" y="2"/>
                  </a:lnTo>
                  <a:lnTo>
                    <a:pt x="1082" y="2"/>
                  </a:lnTo>
                  <a:lnTo>
                    <a:pt x="1032" y="2"/>
                  </a:lnTo>
                  <a:lnTo>
                    <a:pt x="981" y="2"/>
                  </a:lnTo>
                  <a:lnTo>
                    <a:pt x="931" y="2"/>
                  </a:lnTo>
                  <a:lnTo>
                    <a:pt x="879" y="2"/>
                  </a:lnTo>
                  <a:lnTo>
                    <a:pt x="827" y="3"/>
                  </a:lnTo>
                  <a:lnTo>
                    <a:pt x="776" y="3"/>
                  </a:lnTo>
                  <a:lnTo>
                    <a:pt x="726" y="3"/>
                  </a:lnTo>
                  <a:lnTo>
                    <a:pt x="676" y="3"/>
                  </a:lnTo>
                  <a:lnTo>
                    <a:pt x="627" y="3"/>
                  </a:lnTo>
                  <a:lnTo>
                    <a:pt x="581" y="3"/>
                  </a:lnTo>
                  <a:lnTo>
                    <a:pt x="536" y="3"/>
                  </a:lnTo>
                  <a:lnTo>
                    <a:pt x="494" y="5"/>
                  </a:lnTo>
                  <a:lnTo>
                    <a:pt x="455" y="5"/>
                  </a:lnTo>
                  <a:lnTo>
                    <a:pt x="420" y="5"/>
                  </a:lnTo>
                  <a:lnTo>
                    <a:pt x="388" y="5"/>
                  </a:lnTo>
                  <a:lnTo>
                    <a:pt x="361" y="5"/>
                  </a:lnTo>
                  <a:lnTo>
                    <a:pt x="338" y="5"/>
                  </a:lnTo>
                  <a:lnTo>
                    <a:pt x="319" y="5"/>
                  </a:lnTo>
                  <a:lnTo>
                    <a:pt x="306" y="5"/>
                  </a:lnTo>
                  <a:lnTo>
                    <a:pt x="297" y="5"/>
                  </a:lnTo>
                  <a:lnTo>
                    <a:pt x="277" y="5"/>
                  </a:lnTo>
                  <a:lnTo>
                    <a:pt x="255" y="7"/>
                  </a:lnTo>
                  <a:lnTo>
                    <a:pt x="237" y="10"/>
                  </a:lnTo>
                  <a:lnTo>
                    <a:pt x="217" y="15"/>
                  </a:lnTo>
                  <a:lnTo>
                    <a:pt x="200" y="22"/>
                  </a:lnTo>
                  <a:lnTo>
                    <a:pt x="187" y="32"/>
                  </a:lnTo>
                  <a:lnTo>
                    <a:pt x="176" y="42"/>
                  </a:lnTo>
                  <a:lnTo>
                    <a:pt x="171" y="55"/>
                  </a:lnTo>
                  <a:lnTo>
                    <a:pt x="166" y="57"/>
                  </a:lnTo>
                  <a:lnTo>
                    <a:pt x="155" y="59"/>
                  </a:lnTo>
                  <a:lnTo>
                    <a:pt x="138" y="62"/>
                  </a:lnTo>
                  <a:lnTo>
                    <a:pt x="116" y="66"/>
                  </a:lnTo>
                  <a:lnTo>
                    <a:pt x="94" y="71"/>
                  </a:lnTo>
                  <a:lnTo>
                    <a:pt x="74" y="74"/>
                  </a:lnTo>
                  <a:lnTo>
                    <a:pt x="57" y="77"/>
                  </a:lnTo>
                  <a:lnTo>
                    <a:pt x="45" y="81"/>
                  </a:lnTo>
                  <a:lnTo>
                    <a:pt x="29" y="84"/>
                  </a:lnTo>
                  <a:lnTo>
                    <a:pt x="13" y="91"/>
                  </a:lnTo>
                  <a:lnTo>
                    <a:pt x="3" y="102"/>
                  </a:lnTo>
                  <a:lnTo>
                    <a:pt x="0" y="123"/>
                  </a:lnTo>
                  <a:lnTo>
                    <a:pt x="0" y="260"/>
                  </a:lnTo>
                  <a:lnTo>
                    <a:pt x="0" y="534"/>
                  </a:lnTo>
                  <a:lnTo>
                    <a:pt x="0" y="806"/>
                  </a:lnTo>
                  <a:lnTo>
                    <a:pt x="0" y="939"/>
                  </a:lnTo>
                  <a:lnTo>
                    <a:pt x="2" y="956"/>
                  </a:lnTo>
                  <a:lnTo>
                    <a:pt x="7" y="969"/>
                  </a:lnTo>
                  <a:lnTo>
                    <a:pt x="17" y="979"/>
                  </a:lnTo>
                  <a:lnTo>
                    <a:pt x="30" y="989"/>
                  </a:lnTo>
                  <a:lnTo>
                    <a:pt x="44" y="996"/>
                  </a:lnTo>
                  <a:lnTo>
                    <a:pt x="62" y="1008"/>
                  </a:lnTo>
                  <a:lnTo>
                    <a:pt x="84" y="1021"/>
                  </a:lnTo>
                  <a:lnTo>
                    <a:pt x="108" y="1036"/>
                  </a:lnTo>
                  <a:lnTo>
                    <a:pt x="129" y="1050"/>
                  </a:lnTo>
                  <a:lnTo>
                    <a:pt x="148" y="1061"/>
                  </a:lnTo>
                  <a:lnTo>
                    <a:pt x="161" y="1070"/>
                  </a:lnTo>
                  <a:lnTo>
                    <a:pt x="166" y="1073"/>
                  </a:lnTo>
                  <a:lnTo>
                    <a:pt x="166" y="1083"/>
                  </a:lnTo>
                  <a:lnTo>
                    <a:pt x="168" y="1103"/>
                  </a:lnTo>
                  <a:lnTo>
                    <a:pt x="176" y="1129"/>
                  </a:lnTo>
                  <a:lnTo>
                    <a:pt x="198" y="1145"/>
                  </a:lnTo>
                  <a:lnTo>
                    <a:pt x="215" y="1150"/>
                  </a:lnTo>
                  <a:lnTo>
                    <a:pt x="234" y="1156"/>
                  </a:lnTo>
                  <a:lnTo>
                    <a:pt x="252" y="1159"/>
                  </a:lnTo>
                  <a:lnTo>
                    <a:pt x="271" y="1164"/>
                  </a:lnTo>
                  <a:lnTo>
                    <a:pt x="286" y="1167"/>
                  </a:lnTo>
                  <a:lnTo>
                    <a:pt x="299" y="1171"/>
                  </a:lnTo>
                  <a:lnTo>
                    <a:pt x="308" y="1174"/>
                  </a:lnTo>
                  <a:lnTo>
                    <a:pt x="311" y="1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78" name="未知"/>
            <p:cNvSpPr>
              <a:spLocks noChangeArrowheads="1"/>
            </p:cNvSpPr>
            <p:nvPr/>
          </p:nvSpPr>
          <p:spPr bwMode="auto">
            <a:xfrm>
              <a:off x="4011" y="724"/>
              <a:ext cx="558" cy="22"/>
            </a:xfrm>
            <a:custGeom>
              <a:avLst/>
              <a:gdLst>
                <a:gd name="T0" fmla="*/ 1116 w 1116"/>
                <a:gd name="T1" fmla="*/ 0 h 47"/>
                <a:gd name="T2" fmla="*/ 1059 w 1116"/>
                <a:gd name="T3" fmla="*/ 5 h 47"/>
                <a:gd name="T4" fmla="*/ 993 w 1116"/>
                <a:gd name="T5" fmla="*/ 10 h 47"/>
                <a:gd name="T6" fmla="*/ 916 w 1116"/>
                <a:gd name="T7" fmla="*/ 14 h 47"/>
                <a:gd name="T8" fmla="*/ 833 w 1116"/>
                <a:gd name="T9" fmla="*/ 17 h 47"/>
                <a:gd name="T10" fmla="*/ 746 w 1116"/>
                <a:gd name="T11" fmla="*/ 21 h 47"/>
                <a:gd name="T12" fmla="*/ 655 w 1116"/>
                <a:gd name="T13" fmla="*/ 22 h 47"/>
                <a:gd name="T14" fmla="*/ 563 w 1116"/>
                <a:gd name="T15" fmla="*/ 24 h 47"/>
                <a:gd name="T16" fmla="*/ 472 w 1116"/>
                <a:gd name="T17" fmla="*/ 26 h 47"/>
                <a:gd name="T18" fmla="*/ 383 w 1116"/>
                <a:gd name="T19" fmla="*/ 27 h 47"/>
                <a:gd name="T20" fmla="*/ 299 w 1116"/>
                <a:gd name="T21" fmla="*/ 29 h 47"/>
                <a:gd name="T22" fmla="*/ 222 w 1116"/>
                <a:gd name="T23" fmla="*/ 29 h 47"/>
                <a:gd name="T24" fmla="*/ 153 w 1116"/>
                <a:gd name="T25" fmla="*/ 31 h 47"/>
                <a:gd name="T26" fmla="*/ 94 w 1116"/>
                <a:gd name="T27" fmla="*/ 31 h 47"/>
                <a:gd name="T28" fmla="*/ 49 w 1116"/>
                <a:gd name="T29" fmla="*/ 31 h 47"/>
                <a:gd name="T30" fmla="*/ 17 w 1116"/>
                <a:gd name="T31" fmla="*/ 31 h 47"/>
                <a:gd name="T32" fmla="*/ 0 w 1116"/>
                <a:gd name="T33" fmla="*/ 31 h 47"/>
                <a:gd name="T34" fmla="*/ 7 w 1116"/>
                <a:gd name="T35" fmla="*/ 47 h 47"/>
                <a:gd name="T36" fmla="*/ 30 w 1116"/>
                <a:gd name="T37" fmla="*/ 47 h 47"/>
                <a:gd name="T38" fmla="*/ 70 w 1116"/>
                <a:gd name="T39" fmla="*/ 47 h 47"/>
                <a:gd name="T40" fmla="*/ 123 w 1116"/>
                <a:gd name="T41" fmla="*/ 47 h 47"/>
                <a:gd name="T42" fmla="*/ 186 w 1116"/>
                <a:gd name="T43" fmla="*/ 46 h 47"/>
                <a:gd name="T44" fmla="*/ 260 w 1116"/>
                <a:gd name="T45" fmla="*/ 46 h 47"/>
                <a:gd name="T46" fmla="*/ 341 w 1116"/>
                <a:gd name="T47" fmla="*/ 44 h 47"/>
                <a:gd name="T48" fmla="*/ 427 w 1116"/>
                <a:gd name="T49" fmla="*/ 44 h 47"/>
                <a:gd name="T50" fmla="*/ 517 w 1116"/>
                <a:gd name="T51" fmla="*/ 42 h 47"/>
                <a:gd name="T52" fmla="*/ 610 w 1116"/>
                <a:gd name="T53" fmla="*/ 41 h 47"/>
                <a:gd name="T54" fmla="*/ 701 w 1116"/>
                <a:gd name="T55" fmla="*/ 37 h 47"/>
                <a:gd name="T56" fmla="*/ 790 w 1116"/>
                <a:gd name="T57" fmla="*/ 36 h 47"/>
                <a:gd name="T58" fmla="*/ 875 w 1116"/>
                <a:gd name="T59" fmla="*/ 32 h 47"/>
                <a:gd name="T60" fmla="*/ 956 w 1116"/>
                <a:gd name="T61" fmla="*/ 29 h 47"/>
                <a:gd name="T62" fmla="*/ 1027 w 1116"/>
                <a:gd name="T63" fmla="*/ 24 h 47"/>
                <a:gd name="T64" fmla="*/ 1089 w 1116"/>
                <a:gd name="T65" fmla="*/ 21 h 47"/>
                <a:gd name="T66" fmla="*/ 1116 w 1116"/>
                <a:gd name="T67"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16" h="47">
                  <a:moveTo>
                    <a:pt x="1116" y="0"/>
                  </a:moveTo>
                  <a:lnTo>
                    <a:pt x="1116" y="0"/>
                  </a:lnTo>
                  <a:lnTo>
                    <a:pt x="1089" y="4"/>
                  </a:lnTo>
                  <a:lnTo>
                    <a:pt x="1059" y="5"/>
                  </a:lnTo>
                  <a:lnTo>
                    <a:pt x="1027" y="7"/>
                  </a:lnTo>
                  <a:lnTo>
                    <a:pt x="993" y="10"/>
                  </a:lnTo>
                  <a:lnTo>
                    <a:pt x="956" y="12"/>
                  </a:lnTo>
                  <a:lnTo>
                    <a:pt x="916" y="14"/>
                  </a:lnTo>
                  <a:lnTo>
                    <a:pt x="875" y="15"/>
                  </a:lnTo>
                  <a:lnTo>
                    <a:pt x="833" y="17"/>
                  </a:lnTo>
                  <a:lnTo>
                    <a:pt x="790" y="19"/>
                  </a:lnTo>
                  <a:lnTo>
                    <a:pt x="746" y="21"/>
                  </a:lnTo>
                  <a:lnTo>
                    <a:pt x="701" y="21"/>
                  </a:lnTo>
                  <a:lnTo>
                    <a:pt x="655" y="22"/>
                  </a:lnTo>
                  <a:lnTo>
                    <a:pt x="610" y="24"/>
                  </a:lnTo>
                  <a:lnTo>
                    <a:pt x="563" y="24"/>
                  </a:lnTo>
                  <a:lnTo>
                    <a:pt x="517" y="26"/>
                  </a:lnTo>
                  <a:lnTo>
                    <a:pt x="472" y="26"/>
                  </a:lnTo>
                  <a:lnTo>
                    <a:pt x="427" y="27"/>
                  </a:lnTo>
                  <a:lnTo>
                    <a:pt x="383" y="27"/>
                  </a:lnTo>
                  <a:lnTo>
                    <a:pt x="341" y="27"/>
                  </a:lnTo>
                  <a:lnTo>
                    <a:pt x="299" y="29"/>
                  </a:lnTo>
                  <a:lnTo>
                    <a:pt x="260" y="29"/>
                  </a:lnTo>
                  <a:lnTo>
                    <a:pt x="222" y="29"/>
                  </a:lnTo>
                  <a:lnTo>
                    <a:pt x="186" y="29"/>
                  </a:lnTo>
                  <a:lnTo>
                    <a:pt x="153" y="31"/>
                  </a:lnTo>
                  <a:lnTo>
                    <a:pt x="123" y="31"/>
                  </a:lnTo>
                  <a:lnTo>
                    <a:pt x="94" y="31"/>
                  </a:lnTo>
                  <a:lnTo>
                    <a:pt x="70" y="31"/>
                  </a:lnTo>
                  <a:lnTo>
                    <a:pt x="49" y="31"/>
                  </a:lnTo>
                  <a:lnTo>
                    <a:pt x="30" y="31"/>
                  </a:lnTo>
                  <a:lnTo>
                    <a:pt x="17" y="31"/>
                  </a:lnTo>
                  <a:lnTo>
                    <a:pt x="7" y="31"/>
                  </a:lnTo>
                  <a:lnTo>
                    <a:pt x="0" y="31"/>
                  </a:lnTo>
                  <a:lnTo>
                    <a:pt x="0" y="47"/>
                  </a:lnTo>
                  <a:lnTo>
                    <a:pt x="7" y="47"/>
                  </a:lnTo>
                  <a:lnTo>
                    <a:pt x="17" y="47"/>
                  </a:lnTo>
                  <a:lnTo>
                    <a:pt x="30" y="47"/>
                  </a:lnTo>
                  <a:lnTo>
                    <a:pt x="49" y="47"/>
                  </a:lnTo>
                  <a:lnTo>
                    <a:pt x="70" y="47"/>
                  </a:lnTo>
                  <a:lnTo>
                    <a:pt x="94" y="47"/>
                  </a:lnTo>
                  <a:lnTo>
                    <a:pt x="123" y="47"/>
                  </a:lnTo>
                  <a:lnTo>
                    <a:pt x="153" y="47"/>
                  </a:lnTo>
                  <a:lnTo>
                    <a:pt x="186" y="46"/>
                  </a:lnTo>
                  <a:lnTo>
                    <a:pt x="222" y="46"/>
                  </a:lnTo>
                  <a:lnTo>
                    <a:pt x="260" y="46"/>
                  </a:lnTo>
                  <a:lnTo>
                    <a:pt x="299" y="46"/>
                  </a:lnTo>
                  <a:lnTo>
                    <a:pt x="341" y="44"/>
                  </a:lnTo>
                  <a:lnTo>
                    <a:pt x="383" y="44"/>
                  </a:lnTo>
                  <a:lnTo>
                    <a:pt x="427" y="44"/>
                  </a:lnTo>
                  <a:lnTo>
                    <a:pt x="472" y="42"/>
                  </a:lnTo>
                  <a:lnTo>
                    <a:pt x="517" y="42"/>
                  </a:lnTo>
                  <a:lnTo>
                    <a:pt x="563" y="41"/>
                  </a:lnTo>
                  <a:lnTo>
                    <a:pt x="610" y="41"/>
                  </a:lnTo>
                  <a:lnTo>
                    <a:pt x="655" y="39"/>
                  </a:lnTo>
                  <a:lnTo>
                    <a:pt x="701" y="37"/>
                  </a:lnTo>
                  <a:lnTo>
                    <a:pt x="746" y="37"/>
                  </a:lnTo>
                  <a:lnTo>
                    <a:pt x="790" y="36"/>
                  </a:lnTo>
                  <a:lnTo>
                    <a:pt x="833" y="34"/>
                  </a:lnTo>
                  <a:lnTo>
                    <a:pt x="875" y="32"/>
                  </a:lnTo>
                  <a:lnTo>
                    <a:pt x="916" y="31"/>
                  </a:lnTo>
                  <a:lnTo>
                    <a:pt x="956" y="29"/>
                  </a:lnTo>
                  <a:lnTo>
                    <a:pt x="993" y="27"/>
                  </a:lnTo>
                  <a:lnTo>
                    <a:pt x="1027" y="24"/>
                  </a:lnTo>
                  <a:lnTo>
                    <a:pt x="1059" y="22"/>
                  </a:lnTo>
                  <a:lnTo>
                    <a:pt x="1089" y="21"/>
                  </a:lnTo>
                  <a:lnTo>
                    <a:pt x="1116" y="17"/>
                  </a:lnTo>
                  <a:lnTo>
                    <a:pt x="1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79" name="未知"/>
            <p:cNvSpPr>
              <a:spLocks noChangeArrowheads="1"/>
            </p:cNvSpPr>
            <p:nvPr/>
          </p:nvSpPr>
          <p:spPr bwMode="auto">
            <a:xfrm>
              <a:off x="4569" y="688"/>
              <a:ext cx="43" cy="44"/>
            </a:xfrm>
            <a:custGeom>
              <a:avLst/>
              <a:gdLst>
                <a:gd name="T0" fmla="*/ 69 w 85"/>
                <a:gd name="T1" fmla="*/ 0 h 92"/>
                <a:gd name="T2" fmla="*/ 69 w 85"/>
                <a:gd name="T3" fmla="*/ 0 h 92"/>
                <a:gd name="T4" fmla="*/ 69 w 85"/>
                <a:gd name="T5" fmla="*/ 7 h 92"/>
                <a:gd name="T6" fmla="*/ 65 w 85"/>
                <a:gd name="T7" fmla="*/ 17 h 92"/>
                <a:gd name="T8" fmla="*/ 62 w 85"/>
                <a:gd name="T9" fmla="*/ 27 h 92"/>
                <a:gd name="T10" fmla="*/ 57 w 85"/>
                <a:gd name="T11" fmla="*/ 40 h 92"/>
                <a:gd name="T12" fmla="*/ 47 w 85"/>
                <a:gd name="T13" fmla="*/ 54 h 92"/>
                <a:gd name="T14" fmla="*/ 37 w 85"/>
                <a:gd name="T15" fmla="*/ 64 h 92"/>
                <a:gd name="T16" fmla="*/ 20 w 85"/>
                <a:gd name="T17" fmla="*/ 70 h 92"/>
                <a:gd name="T18" fmla="*/ 0 w 85"/>
                <a:gd name="T19" fmla="*/ 75 h 92"/>
                <a:gd name="T20" fmla="*/ 0 w 85"/>
                <a:gd name="T21" fmla="*/ 92 h 92"/>
                <a:gd name="T22" fmla="*/ 23 w 85"/>
                <a:gd name="T23" fmla="*/ 87 h 92"/>
                <a:gd name="T24" fmla="*/ 43 w 85"/>
                <a:gd name="T25" fmla="*/ 77 h 92"/>
                <a:gd name="T26" fmla="*/ 60 w 85"/>
                <a:gd name="T27" fmla="*/ 64 h 92"/>
                <a:gd name="T28" fmla="*/ 70 w 85"/>
                <a:gd name="T29" fmla="*/ 47 h 92"/>
                <a:gd name="T30" fmla="*/ 79 w 85"/>
                <a:gd name="T31" fmla="*/ 33 h 92"/>
                <a:gd name="T32" fmla="*/ 82 w 85"/>
                <a:gd name="T33" fmla="*/ 20 h 92"/>
                <a:gd name="T34" fmla="*/ 85 w 85"/>
                <a:gd name="T35" fmla="*/ 7 h 92"/>
                <a:gd name="T36" fmla="*/ 85 w 85"/>
                <a:gd name="T37" fmla="*/ 0 h 92"/>
                <a:gd name="T38" fmla="*/ 69 w 85"/>
                <a:gd name="T39"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92">
                  <a:moveTo>
                    <a:pt x="69" y="0"/>
                  </a:moveTo>
                  <a:lnTo>
                    <a:pt x="69" y="0"/>
                  </a:lnTo>
                  <a:lnTo>
                    <a:pt x="69" y="7"/>
                  </a:lnTo>
                  <a:lnTo>
                    <a:pt x="65" y="17"/>
                  </a:lnTo>
                  <a:lnTo>
                    <a:pt x="62" y="27"/>
                  </a:lnTo>
                  <a:lnTo>
                    <a:pt x="57" y="40"/>
                  </a:lnTo>
                  <a:lnTo>
                    <a:pt x="47" y="54"/>
                  </a:lnTo>
                  <a:lnTo>
                    <a:pt x="37" y="64"/>
                  </a:lnTo>
                  <a:lnTo>
                    <a:pt x="20" y="70"/>
                  </a:lnTo>
                  <a:lnTo>
                    <a:pt x="0" y="75"/>
                  </a:lnTo>
                  <a:lnTo>
                    <a:pt x="0" y="92"/>
                  </a:lnTo>
                  <a:lnTo>
                    <a:pt x="23" y="87"/>
                  </a:lnTo>
                  <a:lnTo>
                    <a:pt x="43" y="77"/>
                  </a:lnTo>
                  <a:lnTo>
                    <a:pt x="60" y="64"/>
                  </a:lnTo>
                  <a:lnTo>
                    <a:pt x="70" y="47"/>
                  </a:lnTo>
                  <a:lnTo>
                    <a:pt x="79" y="33"/>
                  </a:lnTo>
                  <a:lnTo>
                    <a:pt x="82" y="20"/>
                  </a:lnTo>
                  <a:lnTo>
                    <a:pt x="85" y="7"/>
                  </a:lnTo>
                  <a:lnTo>
                    <a:pt x="85" y="0"/>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80" name="未知"/>
            <p:cNvSpPr>
              <a:spLocks noChangeArrowheads="1"/>
            </p:cNvSpPr>
            <p:nvPr/>
          </p:nvSpPr>
          <p:spPr bwMode="auto">
            <a:xfrm>
              <a:off x="4604" y="209"/>
              <a:ext cx="8" cy="479"/>
            </a:xfrm>
            <a:custGeom>
              <a:avLst/>
              <a:gdLst>
                <a:gd name="T0" fmla="*/ 0 w 16"/>
                <a:gd name="T1" fmla="*/ 0 h 1001"/>
                <a:gd name="T2" fmla="*/ 0 w 16"/>
                <a:gd name="T3" fmla="*/ 0 h 1001"/>
                <a:gd name="T4" fmla="*/ 0 w 16"/>
                <a:gd name="T5" fmla="*/ 164 h 1001"/>
                <a:gd name="T6" fmla="*/ 0 w 16"/>
                <a:gd name="T7" fmla="*/ 504 h 1001"/>
                <a:gd name="T8" fmla="*/ 0 w 16"/>
                <a:gd name="T9" fmla="*/ 843 h 1001"/>
                <a:gd name="T10" fmla="*/ 0 w 16"/>
                <a:gd name="T11" fmla="*/ 1001 h 1001"/>
                <a:gd name="T12" fmla="*/ 16 w 16"/>
                <a:gd name="T13" fmla="*/ 1001 h 1001"/>
                <a:gd name="T14" fmla="*/ 16 w 16"/>
                <a:gd name="T15" fmla="*/ 843 h 1001"/>
                <a:gd name="T16" fmla="*/ 16 w 16"/>
                <a:gd name="T17" fmla="*/ 504 h 1001"/>
                <a:gd name="T18" fmla="*/ 16 w 16"/>
                <a:gd name="T19" fmla="*/ 164 h 1001"/>
                <a:gd name="T20" fmla="*/ 16 w 16"/>
                <a:gd name="T21" fmla="*/ 0 h 1001"/>
                <a:gd name="T22" fmla="*/ 0 w 16"/>
                <a:gd name="T23" fmla="*/ 0 h 1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1001">
                  <a:moveTo>
                    <a:pt x="0" y="0"/>
                  </a:moveTo>
                  <a:lnTo>
                    <a:pt x="0" y="0"/>
                  </a:lnTo>
                  <a:lnTo>
                    <a:pt x="0" y="164"/>
                  </a:lnTo>
                  <a:lnTo>
                    <a:pt x="0" y="504"/>
                  </a:lnTo>
                  <a:lnTo>
                    <a:pt x="0" y="843"/>
                  </a:lnTo>
                  <a:lnTo>
                    <a:pt x="0" y="1001"/>
                  </a:lnTo>
                  <a:lnTo>
                    <a:pt x="16" y="1001"/>
                  </a:lnTo>
                  <a:lnTo>
                    <a:pt x="16" y="843"/>
                  </a:lnTo>
                  <a:lnTo>
                    <a:pt x="16" y="504"/>
                  </a:lnTo>
                  <a:lnTo>
                    <a:pt x="16" y="164"/>
                  </a:lnTo>
                  <a:lnTo>
                    <a:pt x="1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81" name="未知"/>
            <p:cNvSpPr>
              <a:spLocks noChangeArrowheads="1"/>
            </p:cNvSpPr>
            <p:nvPr/>
          </p:nvSpPr>
          <p:spPr bwMode="auto">
            <a:xfrm>
              <a:off x="4579" y="178"/>
              <a:ext cx="33" cy="31"/>
            </a:xfrm>
            <a:custGeom>
              <a:avLst/>
              <a:gdLst>
                <a:gd name="T0" fmla="*/ 0 w 65"/>
                <a:gd name="T1" fmla="*/ 16 h 67"/>
                <a:gd name="T2" fmla="*/ 0 w 65"/>
                <a:gd name="T3" fmla="*/ 16 h 67"/>
                <a:gd name="T4" fmla="*/ 12 w 65"/>
                <a:gd name="T5" fmla="*/ 18 h 67"/>
                <a:gd name="T6" fmla="*/ 22 w 65"/>
                <a:gd name="T7" fmla="*/ 21 h 67"/>
                <a:gd name="T8" fmla="*/ 28 w 65"/>
                <a:gd name="T9" fmla="*/ 28 h 67"/>
                <a:gd name="T10" fmla="*/ 35 w 65"/>
                <a:gd name="T11" fmla="*/ 35 h 67"/>
                <a:gd name="T12" fmla="*/ 42 w 65"/>
                <a:gd name="T13" fmla="*/ 43 h 67"/>
                <a:gd name="T14" fmla="*/ 45 w 65"/>
                <a:gd name="T15" fmla="*/ 50 h 67"/>
                <a:gd name="T16" fmla="*/ 47 w 65"/>
                <a:gd name="T17" fmla="*/ 58 h 67"/>
                <a:gd name="T18" fmla="*/ 49 w 65"/>
                <a:gd name="T19" fmla="*/ 67 h 67"/>
                <a:gd name="T20" fmla="*/ 65 w 65"/>
                <a:gd name="T21" fmla="*/ 67 h 67"/>
                <a:gd name="T22" fmla="*/ 64 w 65"/>
                <a:gd name="T23" fmla="*/ 58 h 67"/>
                <a:gd name="T24" fmla="*/ 62 w 65"/>
                <a:gd name="T25" fmla="*/ 47 h 67"/>
                <a:gd name="T26" fmla="*/ 55 w 65"/>
                <a:gd name="T27" fmla="*/ 37 h 67"/>
                <a:gd name="T28" fmla="*/ 49 w 65"/>
                <a:gd name="T29" fmla="*/ 25 h 67"/>
                <a:gd name="T30" fmla="*/ 39 w 65"/>
                <a:gd name="T31" fmla="*/ 15 h 67"/>
                <a:gd name="T32" fmla="*/ 28 w 65"/>
                <a:gd name="T33" fmla="*/ 8 h 67"/>
                <a:gd name="T34" fmla="*/ 15 w 65"/>
                <a:gd name="T35" fmla="*/ 1 h 67"/>
                <a:gd name="T36" fmla="*/ 0 w 65"/>
                <a:gd name="T37" fmla="*/ 0 h 67"/>
                <a:gd name="T38" fmla="*/ 0 w 65"/>
                <a:gd name="T39" fmla="*/ 1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67">
                  <a:moveTo>
                    <a:pt x="0" y="16"/>
                  </a:moveTo>
                  <a:lnTo>
                    <a:pt x="0" y="16"/>
                  </a:lnTo>
                  <a:lnTo>
                    <a:pt x="12" y="18"/>
                  </a:lnTo>
                  <a:lnTo>
                    <a:pt x="22" y="21"/>
                  </a:lnTo>
                  <a:lnTo>
                    <a:pt x="28" y="28"/>
                  </a:lnTo>
                  <a:lnTo>
                    <a:pt x="35" y="35"/>
                  </a:lnTo>
                  <a:lnTo>
                    <a:pt x="42" y="43"/>
                  </a:lnTo>
                  <a:lnTo>
                    <a:pt x="45" y="50"/>
                  </a:lnTo>
                  <a:lnTo>
                    <a:pt x="47" y="58"/>
                  </a:lnTo>
                  <a:lnTo>
                    <a:pt x="49" y="67"/>
                  </a:lnTo>
                  <a:lnTo>
                    <a:pt x="65" y="67"/>
                  </a:lnTo>
                  <a:lnTo>
                    <a:pt x="64" y="58"/>
                  </a:lnTo>
                  <a:lnTo>
                    <a:pt x="62" y="47"/>
                  </a:lnTo>
                  <a:lnTo>
                    <a:pt x="55" y="37"/>
                  </a:lnTo>
                  <a:lnTo>
                    <a:pt x="49" y="25"/>
                  </a:lnTo>
                  <a:lnTo>
                    <a:pt x="39" y="15"/>
                  </a:lnTo>
                  <a:lnTo>
                    <a:pt x="28" y="8"/>
                  </a:lnTo>
                  <a:lnTo>
                    <a:pt x="15" y="1"/>
                  </a:lnTo>
                  <a:lnTo>
                    <a:pt x="0" y="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82" name="未知"/>
            <p:cNvSpPr>
              <a:spLocks noChangeArrowheads="1"/>
            </p:cNvSpPr>
            <p:nvPr/>
          </p:nvSpPr>
          <p:spPr bwMode="auto">
            <a:xfrm>
              <a:off x="4005" y="178"/>
              <a:ext cx="574" cy="10"/>
            </a:xfrm>
            <a:custGeom>
              <a:avLst/>
              <a:gdLst>
                <a:gd name="T0" fmla="*/ 0 w 1150"/>
                <a:gd name="T1" fmla="*/ 21 h 21"/>
                <a:gd name="T2" fmla="*/ 22 w 1150"/>
                <a:gd name="T3" fmla="*/ 21 h 21"/>
                <a:gd name="T4" fmla="*/ 64 w 1150"/>
                <a:gd name="T5" fmla="*/ 21 h 21"/>
                <a:gd name="T6" fmla="*/ 123 w 1150"/>
                <a:gd name="T7" fmla="*/ 21 h 21"/>
                <a:gd name="T8" fmla="*/ 197 w 1150"/>
                <a:gd name="T9" fmla="*/ 21 h 21"/>
                <a:gd name="T10" fmla="*/ 284 w 1150"/>
                <a:gd name="T11" fmla="*/ 20 h 21"/>
                <a:gd name="T12" fmla="*/ 379 w 1150"/>
                <a:gd name="T13" fmla="*/ 20 h 21"/>
                <a:gd name="T14" fmla="*/ 479 w 1150"/>
                <a:gd name="T15" fmla="*/ 20 h 21"/>
                <a:gd name="T16" fmla="*/ 582 w 1150"/>
                <a:gd name="T17" fmla="*/ 18 h 21"/>
                <a:gd name="T18" fmla="*/ 684 w 1150"/>
                <a:gd name="T19" fmla="*/ 18 h 21"/>
                <a:gd name="T20" fmla="*/ 785 w 1150"/>
                <a:gd name="T21" fmla="*/ 18 h 21"/>
                <a:gd name="T22" fmla="*/ 878 w 1150"/>
                <a:gd name="T23" fmla="*/ 18 h 21"/>
                <a:gd name="T24" fmla="*/ 963 w 1150"/>
                <a:gd name="T25" fmla="*/ 16 h 21"/>
                <a:gd name="T26" fmla="*/ 1036 w 1150"/>
                <a:gd name="T27" fmla="*/ 16 h 21"/>
                <a:gd name="T28" fmla="*/ 1093 w 1150"/>
                <a:gd name="T29" fmla="*/ 16 h 21"/>
                <a:gd name="T30" fmla="*/ 1131 w 1150"/>
                <a:gd name="T31" fmla="*/ 16 h 21"/>
                <a:gd name="T32" fmla="*/ 1150 w 1150"/>
                <a:gd name="T33" fmla="*/ 16 h 21"/>
                <a:gd name="T34" fmla="*/ 1143 w 1150"/>
                <a:gd name="T35" fmla="*/ 0 h 21"/>
                <a:gd name="T36" fmla="*/ 1115 w 1150"/>
                <a:gd name="T37" fmla="*/ 0 h 21"/>
                <a:gd name="T38" fmla="*/ 1066 w 1150"/>
                <a:gd name="T39" fmla="*/ 0 h 21"/>
                <a:gd name="T40" fmla="*/ 1000 w 1150"/>
                <a:gd name="T41" fmla="*/ 0 h 21"/>
                <a:gd name="T42" fmla="*/ 921 w 1150"/>
                <a:gd name="T43" fmla="*/ 1 h 21"/>
                <a:gd name="T44" fmla="*/ 832 w 1150"/>
                <a:gd name="T45" fmla="*/ 1 h 21"/>
                <a:gd name="T46" fmla="*/ 735 w 1150"/>
                <a:gd name="T47" fmla="*/ 1 h 21"/>
                <a:gd name="T48" fmla="*/ 634 w 1150"/>
                <a:gd name="T49" fmla="*/ 1 h 21"/>
                <a:gd name="T50" fmla="*/ 530 w 1150"/>
                <a:gd name="T51" fmla="*/ 3 h 21"/>
                <a:gd name="T52" fmla="*/ 429 w 1150"/>
                <a:gd name="T53" fmla="*/ 3 h 21"/>
                <a:gd name="T54" fmla="*/ 330 w 1150"/>
                <a:gd name="T55" fmla="*/ 3 h 21"/>
                <a:gd name="T56" fmla="*/ 239 w 1150"/>
                <a:gd name="T57" fmla="*/ 3 h 21"/>
                <a:gd name="T58" fmla="*/ 158 w 1150"/>
                <a:gd name="T59" fmla="*/ 5 h 21"/>
                <a:gd name="T60" fmla="*/ 91 w 1150"/>
                <a:gd name="T61" fmla="*/ 5 h 21"/>
                <a:gd name="T62" fmla="*/ 41 w 1150"/>
                <a:gd name="T63" fmla="*/ 5 h 21"/>
                <a:gd name="T64" fmla="*/ 9 w 1150"/>
                <a:gd name="T65" fmla="*/ 5 h 21"/>
                <a:gd name="T66" fmla="*/ 0 w 1150"/>
                <a:gd name="T6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50" h="21">
                  <a:moveTo>
                    <a:pt x="0" y="21"/>
                  </a:moveTo>
                  <a:lnTo>
                    <a:pt x="0" y="21"/>
                  </a:lnTo>
                  <a:lnTo>
                    <a:pt x="9" y="21"/>
                  </a:lnTo>
                  <a:lnTo>
                    <a:pt x="22" y="21"/>
                  </a:lnTo>
                  <a:lnTo>
                    <a:pt x="41" y="21"/>
                  </a:lnTo>
                  <a:lnTo>
                    <a:pt x="64" y="21"/>
                  </a:lnTo>
                  <a:lnTo>
                    <a:pt x="91" y="21"/>
                  </a:lnTo>
                  <a:lnTo>
                    <a:pt x="123" y="21"/>
                  </a:lnTo>
                  <a:lnTo>
                    <a:pt x="158" y="21"/>
                  </a:lnTo>
                  <a:lnTo>
                    <a:pt x="197" y="21"/>
                  </a:lnTo>
                  <a:lnTo>
                    <a:pt x="239" y="20"/>
                  </a:lnTo>
                  <a:lnTo>
                    <a:pt x="284" y="20"/>
                  </a:lnTo>
                  <a:lnTo>
                    <a:pt x="330" y="20"/>
                  </a:lnTo>
                  <a:lnTo>
                    <a:pt x="379" y="20"/>
                  </a:lnTo>
                  <a:lnTo>
                    <a:pt x="429" y="20"/>
                  </a:lnTo>
                  <a:lnTo>
                    <a:pt x="479" y="20"/>
                  </a:lnTo>
                  <a:lnTo>
                    <a:pt x="530" y="20"/>
                  </a:lnTo>
                  <a:lnTo>
                    <a:pt x="582" y="18"/>
                  </a:lnTo>
                  <a:lnTo>
                    <a:pt x="634" y="18"/>
                  </a:lnTo>
                  <a:lnTo>
                    <a:pt x="684" y="18"/>
                  </a:lnTo>
                  <a:lnTo>
                    <a:pt x="735" y="18"/>
                  </a:lnTo>
                  <a:lnTo>
                    <a:pt x="785" y="18"/>
                  </a:lnTo>
                  <a:lnTo>
                    <a:pt x="832" y="18"/>
                  </a:lnTo>
                  <a:lnTo>
                    <a:pt x="878" y="18"/>
                  </a:lnTo>
                  <a:lnTo>
                    <a:pt x="921" y="18"/>
                  </a:lnTo>
                  <a:lnTo>
                    <a:pt x="963" y="16"/>
                  </a:lnTo>
                  <a:lnTo>
                    <a:pt x="1000" y="16"/>
                  </a:lnTo>
                  <a:lnTo>
                    <a:pt x="1036" y="16"/>
                  </a:lnTo>
                  <a:lnTo>
                    <a:pt x="1066" y="16"/>
                  </a:lnTo>
                  <a:lnTo>
                    <a:pt x="1093" y="16"/>
                  </a:lnTo>
                  <a:lnTo>
                    <a:pt x="1115" y="16"/>
                  </a:lnTo>
                  <a:lnTo>
                    <a:pt x="1131" y="16"/>
                  </a:lnTo>
                  <a:lnTo>
                    <a:pt x="1143" y="16"/>
                  </a:lnTo>
                  <a:lnTo>
                    <a:pt x="1150" y="16"/>
                  </a:lnTo>
                  <a:lnTo>
                    <a:pt x="1150" y="0"/>
                  </a:lnTo>
                  <a:lnTo>
                    <a:pt x="1143" y="0"/>
                  </a:lnTo>
                  <a:lnTo>
                    <a:pt x="1131" y="0"/>
                  </a:lnTo>
                  <a:lnTo>
                    <a:pt x="1115" y="0"/>
                  </a:lnTo>
                  <a:lnTo>
                    <a:pt x="1093" y="0"/>
                  </a:lnTo>
                  <a:lnTo>
                    <a:pt x="1066" y="0"/>
                  </a:lnTo>
                  <a:lnTo>
                    <a:pt x="1036" y="0"/>
                  </a:lnTo>
                  <a:lnTo>
                    <a:pt x="1000" y="0"/>
                  </a:lnTo>
                  <a:lnTo>
                    <a:pt x="963" y="0"/>
                  </a:lnTo>
                  <a:lnTo>
                    <a:pt x="921" y="1"/>
                  </a:lnTo>
                  <a:lnTo>
                    <a:pt x="878" y="1"/>
                  </a:lnTo>
                  <a:lnTo>
                    <a:pt x="832" y="1"/>
                  </a:lnTo>
                  <a:lnTo>
                    <a:pt x="785" y="1"/>
                  </a:lnTo>
                  <a:lnTo>
                    <a:pt x="735" y="1"/>
                  </a:lnTo>
                  <a:lnTo>
                    <a:pt x="684" y="1"/>
                  </a:lnTo>
                  <a:lnTo>
                    <a:pt x="634" y="1"/>
                  </a:lnTo>
                  <a:lnTo>
                    <a:pt x="582" y="1"/>
                  </a:lnTo>
                  <a:lnTo>
                    <a:pt x="530" y="3"/>
                  </a:lnTo>
                  <a:lnTo>
                    <a:pt x="479" y="3"/>
                  </a:lnTo>
                  <a:lnTo>
                    <a:pt x="429" y="3"/>
                  </a:lnTo>
                  <a:lnTo>
                    <a:pt x="379" y="3"/>
                  </a:lnTo>
                  <a:lnTo>
                    <a:pt x="330" y="3"/>
                  </a:lnTo>
                  <a:lnTo>
                    <a:pt x="284" y="3"/>
                  </a:lnTo>
                  <a:lnTo>
                    <a:pt x="239" y="3"/>
                  </a:lnTo>
                  <a:lnTo>
                    <a:pt x="197" y="5"/>
                  </a:lnTo>
                  <a:lnTo>
                    <a:pt x="158" y="5"/>
                  </a:lnTo>
                  <a:lnTo>
                    <a:pt x="123" y="5"/>
                  </a:lnTo>
                  <a:lnTo>
                    <a:pt x="91" y="5"/>
                  </a:lnTo>
                  <a:lnTo>
                    <a:pt x="64" y="5"/>
                  </a:lnTo>
                  <a:lnTo>
                    <a:pt x="41" y="5"/>
                  </a:lnTo>
                  <a:lnTo>
                    <a:pt x="22" y="5"/>
                  </a:lnTo>
                  <a:lnTo>
                    <a:pt x="9" y="5"/>
                  </a:lnTo>
                  <a:lnTo>
                    <a:pt x="0" y="5"/>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83" name="未知"/>
            <p:cNvSpPr>
              <a:spLocks noChangeArrowheads="1"/>
            </p:cNvSpPr>
            <p:nvPr/>
          </p:nvSpPr>
          <p:spPr bwMode="auto">
            <a:xfrm>
              <a:off x="3938" y="180"/>
              <a:ext cx="67" cy="32"/>
            </a:xfrm>
            <a:custGeom>
              <a:avLst/>
              <a:gdLst>
                <a:gd name="T0" fmla="*/ 10 w 134"/>
                <a:gd name="T1" fmla="*/ 67 h 67"/>
                <a:gd name="T2" fmla="*/ 17 w 134"/>
                <a:gd name="T3" fmla="*/ 60 h 67"/>
                <a:gd name="T4" fmla="*/ 20 w 134"/>
                <a:gd name="T5" fmla="*/ 48 h 67"/>
                <a:gd name="T6" fmla="*/ 29 w 134"/>
                <a:gd name="T7" fmla="*/ 42 h 67"/>
                <a:gd name="T8" fmla="*/ 40 w 134"/>
                <a:gd name="T9" fmla="*/ 32 h 67"/>
                <a:gd name="T10" fmla="*/ 55 w 134"/>
                <a:gd name="T11" fmla="*/ 27 h 67"/>
                <a:gd name="T12" fmla="*/ 76 w 134"/>
                <a:gd name="T13" fmla="*/ 21 h 67"/>
                <a:gd name="T14" fmla="*/ 92 w 134"/>
                <a:gd name="T15" fmla="*/ 18 h 67"/>
                <a:gd name="T16" fmla="*/ 114 w 134"/>
                <a:gd name="T17" fmla="*/ 16 h 67"/>
                <a:gd name="T18" fmla="*/ 134 w 134"/>
                <a:gd name="T19" fmla="*/ 16 h 67"/>
                <a:gd name="T20" fmla="*/ 134 w 134"/>
                <a:gd name="T21" fmla="*/ 0 h 67"/>
                <a:gd name="T22" fmla="*/ 114 w 134"/>
                <a:gd name="T23" fmla="*/ 0 h 67"/>
                <a:gd name="T24" fmla="*/ 92 w 134"/>
                <a:gd name="T25" fmla="*/ 1 h 67"/>
                <a:gd name="T26" fmla="*/ 72 w 134"/>
                <a:gd name="T27" fmla="*/ 5 h 67"/>
                <a:gd name="T28" fmla="*/ 52 w 134"/>
                <a:gd name="T29" fmla="*/ 10 h 67"/>
                <a:gd name="T30" fmla="*/ 34 w 134"/>
                <a:gd name="T31" fmla="*/ 18 h 67"/>
                <a:gd name="T32" fmla="*/ 18 w 134"/>
                <a:gd name="T33" fmla="*/ 28 h 67"/>
                <a:gd name="T34" fmla="*/ 7 w 134"/>
                <a:gd name="T35" fmla="*/ 42 h 67"/>
                <a:gd name="T36" fmla="*/ 0 w 134"/>
                <a:gd name="T37" fmla="*/ 57 h 67"/>
                <a:gd name="T38" fmla="*/ 7 w 134"/>
                <a:gd name="T39" fmla="*/ 50 h 67"/>
                <a:gd name="T40" fmla="*/ 10 w 134"/>
                <a:gd name="T41"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4" h="67">
                  <a:moveTo>
                    <a:pt x="10" y="67"/>
                  </a:moveTo>
                  <a:lnTo>
                    <a:pt x="17" y="60"/>
                  </a:lnTo>
                  <a:lnTo>
                    <a:pt x="20" y="48"/>
                  </a:lnTo>
                  <a:lnTo>
                    <a:pt x="29" y="42"/>
                  </a:lnTo>
                  <a:lnTo>
                    <a:pt x="40" y="32"/>
                  </a:lnTo>
                  <a:lnTo>
                    <a:pt x="55" y="27"/>
                  </a:lnTo>
                  <a:lnTo>
                    <a:pt x="76" y="21"/>
                  </a:lnTo>
                  <a:lnTo>
                    <a:pt x="92" y="18"/>
                  </a:lnTo>
                  <a:lnTo>
                    <a:pt x="114" y="16"/>
                  </a:lnTo>
                  <a:lnTo>
                    <a:pt x="134" y="16"/>
                  </a:lnTo>
                  <a:lnTo>
                    <a:pt x="134" y="0"/>
                  </a:lnTo>
                  <a:lnTo>
                    <a:pt x="114" y="0"/>
                  </a:lnTo>
                  <a:lnTo>
                    <a:pt x="92" y="1"/>
                  </a:lnTo>
                  <a:lnTo>
                    <a:pt x="72" y="5"/>
                  </a:lnTo>
                  <a:lnTo>
                    <a:pt x="52" y="10"/>
                  </a:lnTo>
                  <a:lnTo>
                    <a:pt x="34" y="18"/>
                  </a:lnTo>
                  <a:lnTo>
                    <a:pt x="18" y="28"/>
                  </a:lnTo>
                  <a:lnTo>
                    <a:pt x="7" y="42"/>
                  </a:lnTo>
                  <a:lnTo>
                    <a:pt x="0" y="57"/>
                  </a:lnTo>
                  <a:lnTo>
                    <a:pt x="7" y="50"/>
                  </a:lnTo>
                  <a:lnTo>
                    <a:pt x="1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84" name="未知"/>
            <p:cNvSpPr>
              <a:spLocks noChangeArrowheads="1"/>
            </p:cNvSpPr>
            <p:nvPr/>
          </p:nvSpPr>
          <p:spPr bwMode="auto">
            <a:xfrm>
              <a:off x="3878" y="204"/>
              <a:ext cx="65" cy="20"/>
            </a:xfrm>
            <a:custGeom>
              <a:avLst/>
              <a:gdLst>
                <a:gd name="T0" fmla="*/ 1 w 129"/>
                <a:gd name="T1" fmla="*/ 42 h 42"/>
                <a:gd name="T2" fmla="*/ 3 w 129"/>
                <a:gd name="T3" fmla="*/ 42 h 42"/>
                <a:gd name="T4" fmla="*/ 15 w 129"/>
                <a:gd name="T5" fmla="*/ 39 h 42"/>
                <a:gd name="T6" fmla="*/ 30 w 129"/>
                <a:gd name="T7" fmla="*/ 35 h 42"/>
                <a:gd name="T8" fmla="*/ 52 w 129"/>
                <a:gd name="T9" fmla="*/ 32 h 42"/>
                <a:gd name="T10" fmla="*/ 74 w 129"/>
                <a:gd name="T11" fmla="*/ 27 h 42"/>
                <a:gd name="T12" fmla="*/ 94 w 129"/>
                <a:gd name="T13" fmla="*/ 24 h 42"/>
                <a:gd name="T14" fmla="*/ 111 w 129"/>
                <a:gd name="T15" fmla="*/ 20 h 42"/>
                <a:gd name="T16" fmla="*/ 124 w 129"/>
                <a:gd name="T17" fmla="*/ 19 h 42"/>
                <a:gd name="T18" fmla="*/ 129 w 129"/>
                <a:gd name="T19" fmla="*/ 17 h 42"/>
                <a:gd name="T20" fmla="*/ 126 w 129"/>
                <a:gd name="T21" fmla="*/ 0 h 42"/>
                <a:gd name="T22" fmla="*/ 121 w 129"/>
                <a:gd name="T23" fmla="*/ 2 h 42"/>
                <a:gd name="T24" fmla="*/ 111 w 129"/>
                <a:gd name="T25" fmla="*/ 3 h 42"/>
                <a:gd name="T26" fmla="*/ 94 w 129"/>
                <a:gd name="T27" fmla="*/ 7 h 42"/>
                <a:gd name="T28" fmla="*/ 70 w 129"/>
                <a:gd name="T29" fmla="*/ 10 h 42"/>
                <a:gd name="T30" fmla="*/ 48 w 129"/>
                <a:gd name="T31" fmla="*/ 15 h 42"/>
                <a:gd name="T32" fmla="*/ 30 w 129"/>
                <a:gd name="T33" fmla="*/ 19 h 42"/>
                <a:gd name="T34" fmla="*/ 11 w 129"/>
                <a:gd name="T35" fmla="*/ 22 h 42"/>
                <a:gd name="T36" fmla="*/ 0 w 129"/>
                <a:gd name="T37" fmla="*/ 25 h 42"/>
                <a:gd name="T38" fmla="*/ 1 w 129"/>
                <a:gd name="T39" fmla="*/ 25 h 42"/>
                <a:gd name="T40" fmla="*/ 1 w 129"/>
                <a:gd name="T4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9" h="42">
                  <a:moveTo>
                    <a:pt x="1" y="42"/>
                  </a:moveTo>
                  <a:lnTo>
                    <a:pt x="3" y="42"/>
                  </a:lnTo>
                  <a:lnTo>
                    <a:pt x="15" y="39"/>
                  </a:lnTo>
                  <a:lnTo>
                    <a:pt x="30" y="35"/>
                  </a:lnTo>
                  <a:lnTo>
                    <a:pt x="52" y="32"/>
                  </a:lnTo>
                  <a:lnTo>
                    <a:pt x="74" y="27"/>
                  </a:lnTo>
                  <a:lnTo>
                    <a:pt x="94" y="24"/>
                  </a:lnTo>
                  <a:lnTo>
                    <a:pt x="111" y="20"/>
                  </a:lnTo>
                  <a:lnTo>
                    <a:pt x="124" y="19"/>
                  </a:lnTo>
                  <a:lnTo>
                    <a:pt x="129" y="17"/>
                  </a:lnTo>
                  <a:lnTo>
                    <a:pt x="126" y="0"/>
                  </a:lnTo>
                  <a:lnTo>
                    <a:pt x="121" y="2"/>
                  </a:lnTo>
                  <a:lnTo>
                    <a:pt x="111" y="3"/>
                  </a:lnTo>
                  <a:lnTo>
                    <a:pt x="94" y="7"/>
                  </a:lnTo>
                  <a:lnTo>
                    <a:pt x="70" y="10"/>
                  </a:lnTo>
                  <a:lnTo>
                    <a:pt x="48" y="15"/>
                  </a:lnTo>
                  <a:lnTo>
                    <a:pt x="30" y="19"/>
                  </a:lnTo>
                  <a:lnTo>
                    <a:pt x="11" y="22"/>
                  </a:lnTo>
                  <a:lnTo>
                    <a:pt x="0" y="25"/>
                  </a:lnTo>
                  <a:lnTo>
                    <a:pt x="1" y="25"/>
                  </a:lnTo>
                  <a:lnTo>
                    <a:pt x="1"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85" name="未知"/>
            <p:cNvSpPr>
              <a:spLocks noChangeArrowheads="1"/>
            </p:cNvSpPr>
            <p:nvPr/>
          </p:nvSpPr>
          <p:spPr bwMode="auto">
            <a:xfrm>
              <a:off x="3852" y="216"/>
              <a:ext cx="27" cy="24"/>
            </a:xfrm>
            <a:custGeom>
              <a:avLst/>
              <a:gdLst>
                <a:gd name="T0" fmla="*/ 16 w 53"/>
                <a:gd name="T1" fmla="*/ 51 h 51"/>
                <a:gd name="T2" fmla="*/ 16 w 53"/>
                <a:gd name="T3" fmla="*/ 51 h 51"/>
                <a:gd name="T4" fmla="*/ 20 w 53"/>
                <a:gd name="T5" fmla="*/ 34 h 51"/>
                <a:gd name="T6" fmla="*/ 26 w 53"/>
                <a:gd name="T7" fmla="*/ 25 h 51"/>
                <a:gd name="T8" fmla="*/ 38 w 53"/>
                <a:gd name="T9" fmla="*/ 20 h 51"/>
                <a:gd name="T10" fmla="*/ 53 w 53"/>
                <a:gd name="T11" fmla="*/ 17 h 51"/>
                <a:gd name="T12" fmla="*/ 53 w 53"/>
                <a:gd name="T13" fmla="*/ 0 h 51"/>
                <a:gd name="T14" fmla="*/ 35 w 53"/>
                <a:gd name="T15" fmla="*/ 4 h 51"/>
                <a:gd name="T16" fmla="*/ 16 w 53"/>
                <a:gd name="T17" fmla="*/ 12 h 51"/>
                <a:gd name="T18" fmla="*/ 3 w 53"/>
                <a:gd name="T19" fmla="*/ 27 h 51"/>
                <a:gd name="T20" fmla="*/ 0 w 53"/>
                <a:gd name="T21" fmla="*/ 51 h 51"/>
                <a:gd name="T22" fmla="*/ 16 w 53"/>
                <a:gd name="T2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 h="51">
                  <a:moveTo>
                    <a:pt x="16" y="51"/>
                  </a:moveTo>
                  <a:lnTo>
                    <a:pt x="16" y="51"/>
                  </a:lnTo>
                  <a:lnTo>
                    <a:pt x="20" y="34"/>
                  </a:lnTo>
                  <a:lnTo>
                    <a:pt x="26" y="25"/>
                  </a:lnTo>
                  <a:lnTo>
                    <a:pt x="38" y="20"/>
                  </a:lnTo>
                  <a:lnTo>
                    <a:pt x="53" y="17"/>
                  </a:lnTo>
                  <a:lnTo>
                    <a:pt x="53" y="0"/>
                  </a:lnTo>
                  <a:lnTo>
                    <a:pt x="35" y="4"/>
                  </a:lnTo>
                  <a:lnTo>
                    <a:pt x="16" y="12"/>
                  </a:lnTo>
                  <a:lnTo>
                    <a:pt x="3" y="27"/>
                  </a:lnTo>
                  <a:lnTo>
                    <a:pt x="0" y="51"/>
                  </a:lnTo>
                  <a:lnTo>
                    <a:pt x="16"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86" name="未知"/>
            <p:cNvSpPr>
              <a:spLocks noChangeArrowheads="1"/>
            </p:cNvSpPr>
            <p:nvPr/>
          </p:nvSpPr>
          <p:spPr bwMode="auto">
            <a:xfrm>
              <a:off x="3852" y="240"/>
              <a:ext cx="8" cy="389"/>
            </a:xfrm>
            <a:custGeom>
              <a:avLst/>
              <a:gdLst>
                <a:gd name="T0" fmla="*/ 16 w 16"/>
                <a:gd name="T1" fmla="*/ 816 h 816"/>
                <a:gd name="T2" fmla="*/ 16 w 16"/>
                <a:gd name="T3" fmla="*/ 816 h 816"/>
                <a:gd name="T4" fmla="*/ 16 w 16"/>
                <a:gd name="T5" fmla="*/ 683 h 816"/>
                <a:gd name="T6" fmla="*/ 16 w 16"/>
                <a:gd name="T7" fmla="*/ 411 h 816"/>
                <a:gd name="T8" fmla="*/ 16 w 16"/>
                <a:gd name="T9" fmla="*/ 137 h 816"/>
                <a:gd name="T10" fmla="*/ 16 w 16"/>
                <a:gd name="T11" fmla="*/ 0 h 816"/>
                <a:gd name="T12" fmla="*/ 0 w 16"/>
                <a:gd name="T13" fmla="*/ 0 h 816"/>
                <a:gd name="T14" fmla="*/ 0 w 16"/>
                <a:gd name="T15" fmla="*/ 137 h 816"/>
                <a:gd name="T16" fmla="*/ 0 w 16"/>
                <a:gd name="T17" fmla="*/ 411 h 816"/>
                <a:gd name="T18" fmla="*/ 0 w 16"/>
                <a:gd name="T19" fmla="*/ 683 h 816"/>
                <a:gd name="T20" fmla="*/ 0 w 16"/>
                <a:gd name="T21" fmla="*/ 816 h 816"/>
                <a:gd name="T22" fmla="*/ 16 w 16"/>
                <a:gd name="T23" fmla="*/ 816 h 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816">
                  <a:moveTo>
                    <a:pt x="16" y="816"/>
                  </a:moveTo>
                  <a:lnTo>
                    <a:pt x="16" y="816"/>
                  </a:lnTo>
                  <a:lnTo>
                    <a:pt x="16" y="683"/>
                  </a:lnTo>
                  <a:lnTo>
                    <a:pt x="16" y="411"/>
                  </a:lnTo>
                  <a:lnTo>
                    <a:pt x="16" y="137"/>
                  </a:lnTo>
                  <a:lnTo>
                    <a:pt x="16" y="0"/>
                  </a:lnTo>
                  <a:lnTo>
                    <a:pt x="0" y="0"/>
                  </a:lnTo>
                  <a:lnTo>
                    <a:pt x="0" y="137"/>
                  </a:lnTo>
                  <a:lnTo>
                    <a:pt x="0" y="411"/>
                  </a:lnTo>
                  <a:lnTo>
                    <a:pt x="0" y="683"/>
                  </a:lnTo>
                  <a:lnTo>
                    <a:pt x="0" y="816"/>
                  </a:lnTo>
                  <a:lnTo>
                    <a:pt x="16" y="8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87" name="未知"/>
            <p:cNvSpPr>
              <a:spLocks noChangeArrowheads="1"/>
            </p:cNvSpPr>
            <p:nvPr/>
          </p:nvSpPr>
          <p:spPr bwMode="auto">
            <a:xfrm>
              <a:off x="3852" y="629"/>
              <a:ext cx="21" cy="28"/>
            </a:xfrm>
            <a:custGeom>
              <a:avLst/>
              <a:gdLst>
                <a:gd name="T0" fmla="*/ 42 w 42"/>
                <a:gd name="T1" fmla="*/ 44 h 57"/>
                <a:gd name="T2" fmla="*/ 42 w 42"/>
                <a:gd name="T3" fmla="*/ 44 h 57"/>
                <a:gd name="T4" fmla="*/ 30 w 42"/>
                <a:gd name="T5" fmla="*/ 33 h 57"/>
                <a:gd name="T6" fmla="*/ 21 w 42"/>
                <a:gd name="T7" fmla="*/ 27 h 57"/>
                <a:gd name="T8" fmla="*/ 18 w 42"/>
                <a:gd name="T9" fmla="*/ 15 h 57"/>
                <a:gd name="T10" fmla="*/ 16 w 42"/>
                <a:gd name="T11" fmla="*/ 0 h 57"/>
                <a:gd name="T12" fmla="*/ 0 w 42"/>
                <a:gd name="T13" fmla="*/ 0 h 57"/>
                <a:gd name="T14" fmla="*/ 1 w 42"/>
                <a:gd name="T15" fmla="*/ 18 h 57"/>
                <a:gd name="T16" fmla="*/ 8 w 42"/>
                <a:gd name="T17" fmla="*/ 33 h 57"/>
                <a:gd name="T18" fmla="*/ 20 w 42"/>
                <a:gd name="T19" fmla="*/ 47 h 57"/>
                <a:gd name="T20" fmla="*/ 35 w 42"/>
                <a:gd name="T21" fmla="*/ 57 h 57"/>
                <a:gd name="T22" fmla="*/ 42 w 42"/>
                <a:gd name="T23" fmla="*/ 4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57">
                  <a:moveTo>
                    <a:pt x="42" y="44"/>
                  </a:moveTo>
                  <a:lnTo>
                    <a:pt x="42" y="44"/>
                  </a:lnTo>
                  <a:lnTo>
                    <a:pt x="30" y="33"/>
                  </a:lnTo>
                  <a:lnTo>
                    <a:pt x="21" y="27"/>
                  </a:lnTo>
                  <a:lnTo>
                    <a:pt x="18" y="15"/>
                  </a:lnTo>
                  <a:lnTo>
                    <a:pt x="16" y="0"/>
                  </a:lnTo>
                  <a:lnTo>
                    <a:pt x="0" y="0"/>
                  </a:lnTo>
                  <a:lnTo>
                    <a:pt x="1" y="18"/>
                  </a:lnTo>
                  <a:lnTo>
                    <a:pt x="8" y="33"/>
                  </a:lnTo>
                  <a:lnTo>
                    <a:pt x="20" y="47"/>
                  </a:lnTo>
                  <a:lnTo>
                    <a:pt x="35" y="57"/>
                  </a:lnTo>
                  <a:lnTo>
                    <a:pt x="42"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88" name="未知"/>
            <p:cNvSpPr>
              <a:spLocks noChangeArrowheads="1"/>
            </p:cNvSpPr>
            <p:nvPr/>
          </p:nvSpPr>
          <p:spPr bwMode="auto">
            <a:xfrm>
              <a:off x="3869" y="650"/>
              <a:ext cx="74" cy="47"/>
            </a:xfrm>
            <a:custGeom>
              <a:avLst/>
              <a:gdLst>
                <a:gd name="T0" fmla="*/ 148 w 148"/>
                <a:gd name="T1" fmla="*/ 90 h 97"/>
                <a:gd name="T2" fmla="*/ 143 w 148"/>
                <a:gd name="T3" fmla="*/ 84 h 97"/>
                <a:gd name="T4" fmla="*/ 138 w 148"/>
                <a:gd name="T5" fmla="*/ 80 h 97"/>
                <a:gd name="T6" fmla="*/ 124 w 148"/>
                <a:gd name="T7" fmla="*/ 72 h 97"/>
                <a:gd name="T8" fmla="*/ 106 w 148"/>
                <a:gd name="T9" fmla="*/ 60 h 97"/>
                <a:gd name="T10" fmla="*/ 84 w 148"/>
                <a:gd name="T11" fmla="*/ 47 h 97"/>
                <a:gd name="T12" fmla="*/ 60 w 148"/>
                <a:gd name="T13" fmla="*/ 31 h 97"/>
                <a:gd name="T14" fmla="*/ 39 w 148"/>
                <a:gd name="T15" fmla="*/ 18 h 97"/>
                <a:gd name="T16" fmla="*/ 20 w 148"/>
                <a:gd name="T17" fmla="*/ 6 h 97"/>
                <a:gd name="T18" fmla="*/ 7 w 148"/>
                <a:gd name="T19" fmla="*/ 0 h 97"/>
                <a:gd name="T20" fmla="*/ 0 w 148"/>
                <a:gd name="T21" fmla="*/ 13 h 97"/>
                <a:gd name="T22" fmla="*/ 13 w 148"/>
                <a:gd name="T23" fmla="*/ 20 h 97"/>
                <a:gd name="T24" fmla="*/ 32 w 148"/>
                <a:gd name="T25" fmla="*/ 31 h 97"/>
                <a:gd name="T26" fmla="*/ 54 w 148"/>
                <a:gd name="T27" fmla="*/ 45 h 97"/>
                <a:gd name="T28" fmla="*/ 77 w 148"/>
                <a:gd name="T29" fmla="*/ 60 h 97"/>
                <a:gd name="T30" fmla="*/ 99 w 148"/>
                <a:gd name="T31" fmla="*/ 73 h 97"/>
                <a:gd name="T32" fmla="*/ 118 w 148"/>
                <a:gd name="T33" fmla="*/ 85 h 97"/>
                <a:gd name="T34" fmla="*/ 131 w 148"/>
                <a:gd name="T35" fmla="*/ 94 h 97"/>
                <a:gd name="T36" fmla="*/ 136 w 148"/>
                <a:gd name="T37" fmla="*/ 97 h 97"/>
                <a:gd name="T38" fmla="*/ 131 w 148"/>
                <a:gd name="T39" fmla="*/ 90 h 97"/>
                <a:gd name="T40" fmla="*/ 148 w 148"/>
                <a:gd name="T41" fmla="*/ 90 h 97"/>
                <a:gd name="T42" fmla="*/ 148 w 148"/>
                <a:gd name="T43" fmla="*/ 87 h 97"/>
                <a:gd name="T44" fmla="*/ 143 w 148"/>
                <a:gd name="T45" fmla="*/ 84 h 97"/>
                <a:gd name="T46" fmla="*/ 148 w 148"/>
                <a:gd name="T47" fmla="*/ 9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8" h="97">
                  <a:moveTo>
                    <a:pt x="148" y="90"/>
                  </a:moveTo>
                  <a:lnTo>
                    <a:pt x="143" y="84"/>
                  </a:lnTo>
                  <a:lnTo>
                    <a:pt x="138" y="80"/>
                  </a:lnTo>
                  <a:lnTo>
                    <a:pt x="124" y="72"/>
                  </a:lnTo>
                  <a:lnTo>
                    <a:pt x="106" y="60"/>
                  </a:lnTo>
                  <a:lnTo>
                    <a:pt x="84" y="47"/>
                  </a:lnTo>
                  <a:lnTo>
                    <a:pt x="60" y="31"/>
                  </a:lnTo>
                  <a:lnTo>
                    <a:pt x="39" y="18"/>
                  </a:lnTo>
                  <a:lnTo>
                    <a:pt x="20" y="6"/>
                  </a:lnTo>
                  <a:lnTo>
                    <a:pt x="7" y="0"/>
                  </a:lnTo>
                  <a:lnTo>
                    <a:pt x="0" y="13"/>
                  </a:lnTo>
                  <a:lnTo>
                    <a:pt x="13" y="20"/>
                  </a:lnTo>
                  <a:lnTo>
                    <a:pt x="32" y="31"/>
                  </a:lnTo>
                  <a:lnTo>
                    <a:pt x="54" y="45"/>
                  </a:lnTo>
                  <a:lnTo>
                    <a:pt x="77" y="60"/>
                  </a:lnTo>
                  <a:lnTo>
                    <a:pt x="99" y="73"/>
                  </a:lnTo>
                  <a:lnTo>
                    <a:pt x="118" y="85"/>
                  </a:lnTo>
                  <a:lnTo>
                    <a:pt x="131" y="94"/>
                  </a:lnTo>
                  <a:lnTo>
                    <a:pt x="136" y="97"/>
                  </a:lnTo>
                  <a:lnTo>
                    <a:pt x="131" y="90"/>
                  </a:lnTo>
                  <a:lnTo>
                    <a:pt x="148" y="90"/>
                  </a:lnTo>
                  <a:lnTo>
                    <a:pt x="148" y="87"/>
                  </a:lnTo>
                  <a:lnTo>
                    <a:pt x="143" y="84"/>
                  </a:lnTo>
                  <a:lnTo>
                    <a:pt x="148"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89" name="未知"/>
            <p:cNvSpPr>
              <a:spLocks noChangeArrowheads="1"/>
            </p:cNvSpPr>
            <p:nvPr/>
          </p:nvSpPr>
          <p:spPr bwMode="auto">
            <a:xfrm>
              <a:off x="3935" y="694"/>
              <a:ext cx="21" cy="39"/>
            </a:xfrm>
            <a:custGeom>
              <a:avLst/>
              <a:gdLst>
                <a:gd name="T0" fmla="*/ 42 w 42"/>
                <a:gd name="T1" fmla="*/ 64 h 81"/>
                <a:gd name="T2" fmla="*/ 42 w 42"/>
                <a:gd name="T3" fmla="*/ 64 h 81"/>
                <a:gd name="T4" fmla="*/ 25 w 42"/>
                <a:gd name="T5" fmla="*/ 51 h 81"/>
                <a:gd name="T6" fmla="*/ 18 w 42"/>
                <a:gd name="T7" fmla="*/ 29 h 81"/>
                <a:gd name="T8" fmla="*/ 17 w 42"/>
                <a:gd name="T9" fmla="*/ 10 h 81"/>
                <a:gd name="T10" fmla="*/ 17 w 42"/>
                <a:gd name="T11" fmla="*/ 0 h 81"/>
                <a:gd name="T12" fmla="*/ 0 w 42"/>
                <a:gd name="T13" fmla="*/ 0 h 81"/>
                <a:gd name="T14" fmla="*/ 0 w 42"/>
                <a:gd name="T15" fmla="*/ 10 h 81"/>
                <a:gd name="T16" fmla="*/ 2 w 42"/>
                <a:gd name="T17" fmla="*/ 32 h 81"/>
                <a:gd name="T18" fmla="*/ 12 w 42"/>
                <a:gd name="T19" fmla="*/ 61 h 81"/>
                <a:gd name="T20" fmla="*/ 39 w 42"/>
                <a:gd name="T21" fmla="*/ 81 h 81"/>
                <a:gd name="T22" fmla="*/ 42 w 42"/>
                <a:gd name="T23" fmla="*/ 6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81">
                  <a:moveTo>
                    <a:pt x="42" y="64"/>
                  </a:moveTo>
                  <a:lnTo>
                    <a:pt x="42" y="64"/>
                  </a:lnTo>
                  <a:lnTo>
                    <a:pt x="25" y="51"/>
                  </a:lnTo>
                  <a:lnTo>
                    <a:pt x="18" y="29"/>
                  </a:lnTo>
                  <a:lnTo>
                    <a:pt x="17" y="10"/>
                  </a:lnTo>
                  <a:lnTo>
                    <a:pt x="17" y="0"/>
                  </a:lnTo>
                  <a:lnTo>
                    <a:pt x="0" y="0"/>
                  </a:lnTo>
                  <a:lnTo>
                    <a:pt x="0" y="10"/>
                  </a:lnTo>
                  <a:lnTo>
                    <a:pt x="2" y="32"/>
                  </a:lnTo>
                  <a:lnTo>
                    <a:pt x="12" y="61"/>
                  </a:lnTo>
                  <a:lnTo>
                    <a:pt x="39" y="81"/>
                  </a:lnTo>
                  <a:lnTo>
                    <a:pt x="42"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90" name="未知"/>
            <p:cNvSpPr>
              <a:spLocks noChangeArrowheads="1"/>
            </p:cNvSpPr>
            <p:nvPr/>
          </p:nvSpPr>
          <p:spPr bwMode="auto">
            <a:xfrm>
              <a:off x="3954" y="725"/>
              <a:ext cx="58" cy="21"/>
            </a:xfrm>
            <a:custGeom>
              <a:avLst/>
              <a:gdLst>
                <a:gd name="T0" fmla="*/ 114 w 116"/>
                <a:gd name="T1" fmla="*/ 29 h 45"/>
                <a:gd name="T2" fmla="*/ 116 w 116"/>
                <a:gd name="T3" fmla="*/ 29 h 45"/>
                <a:gd name="T4" fmla="*/ 112 w 116"/>
                <a:gd name="T5" fmla="*/ 29 h 45"/>
                <a:gd name="T6" fmla="*/ 104 w 116"/>
                <a:gd name="T7" fmla="*/ 25 h 45"/>
                <a:gd name="T8" fmla="*/ 90 w 116"/>
                <a:gd name="T9" fmla="*/ 22 h 45"/>
                <a:gd name="T10" fmla="*/ 75 w 116"/>
                <a:gd name="T11" fmla="*/ 19 h 45"/>
                <a:gd name="T12" fmla="*/ 57 w 116"/>
                <a:gd name="T13" fmla="*/ 13 h 45"/>
                <a:gd name="T14" fmla="*/ 38 w 116"/>
                <a:gd name="T15" fmla="*/ 10 h 45"/>
                <a:gd name="T16" fmla="*/ 20 w 116"/>
                <a:gd name="T17" fmla="*/ 5 h 45"/>
                <a:gd name="T18" fmla="*/ 3 w 116"/>
                <a:gd name="T19" fmla="*/ 0 h 45"/>
                <a:gd name="T20" fmla="*/ 0 w 116"/>
                <a:gd name="T21" fmla="*/ 17 h 45"/>
                <a:gd name="T22" fmla="*/ 16 w 116"/>
                <a:gd name="T23" fmla="*/ 22 h 45"/>
                <a:gd name="T24" fmla="*/ 35 w 116"/>
                <a:gd name="T25" fmla="*/ 27 h 45"/>
                <a:gd name="T26" fmla="*/ 53 w 116"/>
                <a:gd name="T27" fmla="*/ 30 h 45"/>
                <a:gd name="T28" fmla="*/ 72 w 116"/>
                <a:gd name="T29" fmla="*/ 35 h 45"/>
                <a:gd name="T30" fmla="*/ 87 w 116"/>
                <a:gd name="T31" fmla="*/ 39 h 45"/>
                <a:gd name="T32" fmla="*/ 100 w 116"/>
                <a:gd name="T33" fmla="*/ 42 h 45"/>
                <a:gd name="T34" fmla="*/ 109 w 116"/>
                <a:gd name="T35" fmla="*/ 45 h 45"/>
                <a:gd name="T36" fmla="*/ 112 w 116"/>
                <a:gd name="T37" fmla="*/ 45 h 45"/>
                <a:gd name="T38" fmla="*/ 114 w 116"/>
                <a:gd name="T39" fmla="*/ 45 h 45"/>
                <a:gd name="T40" fmla="*/ 112 w 116"/>
                <a:gd name="T41" fmla="*/ 45 h 45"/>
                <a:gd name="T42" fmla="*/ 114 w 116"/>
                <a:gd name="T43" fmla="*/ 45 h 45"/>
                <a:gd name="T44" fmla="*/ 114 w 116"/>
                <a:gd name="T4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6" h="45">
                  <a:moveTo>
                    <a:pt x="114" y="29"/>
                  </a:moveTo>
                  <a:lnTo>
                    <a:pt x="116" y="29"/>
                  </a:lnTo>
                  <a:lnTo>
                    <a:pt x="112" y="29"/>
                  </a:lnTo>
                  <a:lnTo>
                    <a:pt x="104" y="25"/>
                  </a:lnTo>
                  <a:lnTo>
                    <a:pt x="90" y="22"/>
                  </a:lnTo>
                  <a:lnTo>
                    <a:pt x="75" y="19"/>
                  </a:lnTo>
                  <a:lnTo>
                    <a:pt x="57" y="13"/>
                  </a:lnTo>
                  <a:lnTo>
                    <a:pt x="38" y="10"/>
                  </a:lnTo>
                  <a:lnTo>
                    <a:pt x="20" y="5"/>
                  </a:lnTo>
                  <a:lnTo>
                    <a:pt x="3" y="0"/>
                  </a:lnTo>
                  <a:lnTo>
                    <a:pt x="0" y="17"/>
                  </a:lnTo>
                  <a:lnTo>
                    <a:pt x="16" y="22"/>
                  </a:lnTo>
                  <a:lnTo>
                    <a:pt x="35" y="27"/>
                  </a:lnTo>
                  <a:lnTo>
                    <a:pt x="53" y="30"/>
                  </a:lnTo>
                  <a:lnTo>
                    <a:pt x="72" y="35"/>
                  </a:lnTo>
                  <a:lnTo>
                    <a:pt x="87" y="39"/>
                  </a:lnTo>
                  <a:lnTo>
                    <a:pt x="100" y="42"/>
                  </a:lnTo>
                  <a:lnTo>
                    <a:pt x="109" y="45"/>
                  </a:lnTo>
                  <a:lnTo>
                    <a:pt x="112" y="45"/>
                  </a:lnTo>
                  <a:lnTo>
                    <a:pt x="114" y="45"/>
                  </a:lnTo>
                  <a:lnTo>
                    <a:pt x="112" y="45"/>
                  </a:lnTo>
                  <a:lnTo>
                    <a:pt x="114" y="45"/>
                  </a:lnTo>
                  <a:lnTo>
                    <a:pt x="11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91" name="未知"/>
            <p:cNvSpPr>
              <a:spLocks noChangeArrowheads="1"/>
            </p:cNvSpPr>
            <p:nvPr/>
          </p:nvSpPr>
          <p:spPr bwMode="auto">
            <a:xfrm>
              <a:off x="3938" y="208"/>
              <a:ext cx="7" cy="474"/>
            </a:xfrm>
            <a:custGeom>
              <a:avLst/>
              <a:gdLst>
                <a:gd name="T0" fmla="*/ 13 w 13"/>
                <a:gd name="T1" fmla="*/ 993 h 993"/>
                <a:gd name="T2" fmla="*/ 13 w 13"/>
                <a:gd name="T3" fmla="*/ 844 h 993"/>
                <a:gd name="T4" fmla="*/ 13 w 13"/>
                <a:gd name="T5" fmla="*/ 514 h 993"/>
                <a:gd name="T6" fmla="*/ 13 w 13"/>
                <a:gd name="T7" fmla="*/ 175 h 993"/>
                <a:gd name="T8" fmla="*/ 13 w 13"/>
                <a:gd name="T9" fmla="*/ 0 h 993"/>
                <a:gd name="T10" fmla="*/ 0 w 13"/>
                <a:gd name="T11" fmla="*/ 0 h 993"/>
                <a:gd name="T12" fmla="*/ 0 w 13"/>
                <a:gd name="T13" fmla="*/ 175 h 993"/>
                <a:gd name="T14" fmla="*/ 0 w 13"/>
                <a:gd name="T15" fmla="*/ 514 h 993"/>
                <a:gd name="T16" fmla="*/ 0 w 13"/>
                <a:gd name="T17" fmla="*/ 844 h 993"/>
                <a:gd name="T18" fmla="*/ 0 w 13"/>
                <a:gd name="T19" fmla="*/ 993 h 993"/>
                <a:gd name="T20" fmla="*/ 13 w 13"/>
                <a:gd name="T21" fmla="*/ 993 h 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993">
                  <a:moveTo>
                    <a:pt x="13" y="993"/>
                  </a:moveTo>
                  <a:lnTo>
                    <a:pt x="13" y="844"/>
                  </a:lnTo>
                  <a:lnTo>
                    <a:pt x="13" y="514"/>
                  </a:lnTo>
                  <a:lnTo>
                    <a:pt x="13" y="175"/>
                  </a:lnTo>
                  <a:lnTo>
                    <a:pt x="13" y="0"/>
                  </a:lnTo>
                  <a:lnTo>
                    <a:pt x="0" y="0"/>
                  </a:lnTo>
                  <a:lnTo>
                    <a:pt x="0" y="175"/>
                  </a:lnTo>
                  <a:lnTo>
                    <a:pt x="0" y="514"/>
                  </a:lnTo>
                  <a:lnTo>
                    <a:pt x="0" y="844"/>
                  </a:lnTo>
                  <a:lnTo>
                    <a:pt x="0" y="993"/>
                  </a:lnTo>
                  <a:lnTo>
                    <a:pt x="13" y="9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92" name="未知"/>
            <p:cNvSpPr>
              <a:spLocks noChangeArrowheads="1"/>
            </p:cNvSpPr>
            <p:nvPr/>
          </p:nvSpPr>
          <p:spPr bwMode="auto">
            <a:xfrm>
              <a:off x="3874" y="224"/>
              <a:ext cx="58" cy="9"/>
            </a:xfrm>
            <a:custGeom>
              <a:avLst/>
              <a:gdLst>
                <a:gd name="T0" fmla="*/ 0 w 118"/>
                <a:gd name="T1" fmla="*/ 10 h 20"/>
                <a:gd name="T2" fmla="*/ 4 w 118"/>
                <a:gd name="T3" fmla="*/ 10 h 20"/>
                <a:gd name="T4" fmla="*/ 15 w 118"/>
                <a:gd name="T5" fmla="*/ 12 h 20"/>
                <a:gd name="T6" fmla="*/ 31 w 118"/>
                <a:gd name="T7" fmla="*/ 15 h 20"/>
                <a:gd name="T8" fmla="*/ 49 w 118"/>
                <a:gd name="T9" fmla="*/ 15 h 20"/>
                <a:gd name="T10" fmla="*/ 69 w 118"/>
                <a:gd name="T11" fmla="*/ 15 h 20"/>
                <a:gd name="T12" fmla="*/ 88 w 118"/>
                <a:gd name="T13" fmla="*/ 17 h 20"/>
                <a:gd name="T14" fmla="*/ 104 w 118"/>
                <a:gd name="T15" fmla="*/ 20 h 20"/>
                <a:gd name="T16" fmla="*/ 118 w 118"/>
                <a:gd name="T17" fmla="*/ 20 h 20"/>
                <a:gd name="T18" fmla="*/ 118 w 118"/>
                <a:gd name="T19" fmla="*/ 7 h 20"/>
                <a:gd name="T20" fmla="*/ 104 w 118"/>
                <a:gd name="T21" fmla="*/ 7 h 20"/>
                <a:gd name="T22" fmla="*/ 88 w 118"/>
                <a:gd name="T23" fmla="*/ 7 h 20"/>
                <a:gd name="T24" fmla="*/ 69 w 118"/>
                <a:gd name="T25" fmla="*/ 5 h 20"/>
                <a:gd name="T26" fmla="*/ 49 w 118"/>
                <a:gd name="T27" fmla="*/ 2 h 20"/>
                <a:gd name="T28" fmla="*/ 31 w 118"/>
                <a:gd name="T29" fmla="*/ 2 h 20"/>
                <a:gd name="T30" fmla="*/ 15 w 118"/>
                <a:gd name="T31" fmla="*/ 2 h 20"/>
                <a:gd name="T32" fmla="*/ 4 w 118"/>
                <a:gd name="T33" fmla="*/ 0 h 20"/>
                <a:gd name="T34" fmla="*/ 0 w 118"/>
                <a:gd name="T35" fmla="*/ 0 h 20"/>
                <a:gd name="T36" fmla="*/ 0 w 118"/>
                <a:gd name="T3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8" h="20">
                  <a:moveTo>
                    <a:pt x="0" y="10"/>
                  </a:moveTo>
                  <a:lnTo>
                    <a:pt x="4" y="10"/>
                  </a:lnTo>
                  <a:lnTo>
                    <a:pt x="15" y="12"/>
                  </a:lnTo>
                  <a:lnTo>
                    <a:pt x="31" y="15"/>
                  </a:lnTo>
                  <a:lnTo>
                    <a:pt x="49" y="15"/>
                  </a:lnTo>
                  <a:lnTo>
                    <a:pt x="69" y="15"/>
                  </a:lnTo>
                  <a:lnTo>
                    <a:pt x="88" y="17"/>
                  </a:lnTo>
                  <a:lnTo>
                    <a:pt x="104" y="20"/>
                  </a:lnTo>
                  <a:lnTo>
                    <a:pt x="118" y="20"/>
                  </a:lnTo>
                  <a:lnTo>
                    <a:pt x="118" y="7"/>
                  </a:lnTo>
                  <a:lnTo>
                    <a:pt x="104" y="7"/>
                  </a:lnTo>
                  <a:lnTo>
                    <a:pt x="88" y="7"/>
                  </a:lnTo>
                  <a:lnTo>
                    <a:pt x="69" y="5"/>
                  </a:lnTo>
                  <a:lnTo>
                    <a:pt x="49" y="2"/>
                  </a:lnTo>
                  <a:lnTo>
                    <a:pt x="31" y="2"/>
                  </a:lnTo>
                  <a:lnTo>
                    <a:pt x="15" y="2"/>
                  </a:lnTo>
                  <a:lnTo>
                    <a:pt x="4" y="0"/>
                  </a:lnTo>
                  <a:lnTo>
                    <a:pt x="0" y="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93" name="未知"/>
            <p:cNvSpPr>
              <a:spLocks noChangeArrowheads="1"/>
            </p:cNvSpPr>
            <p:nvPr/>
          </p:nvSpPr>
          <p:spPr bwMode="auto">
            <a:xfrm>
              <a:off x="4030" y="236"/>
              <a:ext cx="19" cy="19"/>
            </a:xfrm>
            <a:custGeom>
              <a:avLst/>
              <a:gdLst>
                <a:gd name="T0" fmla="*/ 13 w 39"/>
                <a:gd name="T1" fmla="*/ 41 h 41"/>
                <a:gd name="T2" fmla="*/ 13 w 39"/>
                <a:gd name="T3" fmla="*/ 41 h 41"/>
                <a:gd name="T4" fmla="*/ 13 w 39"/>
                <a:gd name="T5" fmla="*/ 29 h 41"/>
                <a:gd name="T6" fmla="*/ 18 w 39"/>
                <a:gd name="T7" fmla="*/ 19 h 41"/>
                <a:gd name="T8" fmla="*/ 27 w 39"/>
                <a:gd name="T9" fmla="*/ 14 h 41"/>
                <a:gd name="T10" fmla="*/ 39 w 39"/>
                <a:gd name="T11" fmla="*/ 14 h 41"/>
                <a:gd name="T12" fmla="*/ 39 w 39"/>
                <a:gd name="T13" fmla="*/ 0 h 41"/>
                <a:gd name="T14" fmla="*/ 23 w 39"/>
                <a:gd name="T15" fmla="*/ 4 h 41"/>
                <a:gd name="T16" fmla="*/ 12 w 39"/>
                <a:gd name="T17" fmla="*/ 12 h 41"/>
                <a:gd name="T18" fmla="*/ 3 w 39"/>
                <a:gd name="T19" fmla="*/ 25 h 41"/>
                <a:gd name="T20" fmla="*/ 0 w 39"/>
                <a:gd name="T21" fmla="*/ 41 h 41"/>
                <a:gd name="T22" fmla="*/ 13 w 39"/>
                <a:gd name="T23"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41">
                  <a:moveTo>
                    <a:pt x="13" y="41"/>
                  </a:moveTo>
                  <a:lnTo>
                    <a:pt x="13" y="41"/>
                  </a:lnTo>
                  <a:lnTo>
                    <a:pt x="13" y="29"/>
                  </a:lnTo>
                  <a:lnTo>
                    <a:pt x="18" y="19"/>
                  </a:lnTo>
                  <a:lnTo>
                    <a:pt x="27" y="14"/>
                  </a:lnTo>
                  <a:lnTo>
                    <a:pt x="39" y="14"/>
                  </a:lnTo>
                  <a:lnTo>
                    <a:pt x="39" y="0"/>
                  </a:lnTo>
                  <a:lnTo>
                    <a:pt x="23" y="4"/>
                  </a:lnTo>
                  <a:lnTo>
                    <a:pt x="12" y="12"/>
                  </a:lnTo>
                  <a:lnTo>
                    <a:pt x="3" y="25"/>
                  </a:lnTo>
                  <a:lnTo>
                    <a:pt x="0" y="41"/>
                  </a:lnTo>
                  <a:lnTo>
                    <a:pt x="13"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94" name="未知"/>
            <p:cNvSpPr>
              <a:spLocks noChangeArrowheads="1"/>
            </p:cNvSpPr>
            <p:nvPr/>
          </p:nvSpPr>
          <p:spPr bwMode="auto">
            <a:xfrm>
              <a:off x="4030" y="255"/>
              <a:ext cx="7" cy="414"/>
            </a:xfrm>
            <a:custGeom>
              <a:avLst/>
              <a:gdLst>
                <a:gd name="T0" fmla="*/ 13 w 13"/>
                <a:gd name="T1" fmla="*/ 864 h 864"/>
                <a:gd name="T2" fmla="*/ 13 w 13"/>
                <a:gd name="T3" fmla="*/ 864 h 864"/>
                <a:gd name="T4" fmla="*/ 13 w 13"/>
                <a:gd name="T5" fmla="*/ 720 h 864"/>
                <a:gd name="T6" fmla="*/ 13 w 13"/>
                <a:gd name="T7" fmla="*/ 429 h 864"/>
                <a:gd name="T8" fmla="*/ 13 w 13"/>
                <a:gd name="T9" fmla="*/ 141 h 864"/>
                <a:gd name="T10" fmla="*/ 13 w 13"/>
                <a:gd name="T11" fmla="*/ 0 h 864"/>
                <a:gd name="T12" fmla="*/ 0 w 13"/>
                <a:gd name="T13" fmla="*/ 0 h 864"/>
                <a:gd name="T14" fmla="*/ 0 w 13"/>
                <a:gd name="T15" fmla="*/ 141 h 864"/>
                <a:gd name="T16" fmla="*/ 0 w 13"/>
                <a:gd name="T17" fmla="*/ 429 h 864"/>
                <a:gd name="T18" fmla="*/ 0 w 13"/>
                <a:gd name="T19" fmla="*/ 720 h 864"/>
                <a:gd name="T20" fmla="*/ 0 w 13"/>
                <a:gd name="T21" fmla="*/ 864 h 864"/>
                <a:gd name="T22" fmla="*/ 13 w 13"/>
                <a:gd name="T23" fmla="*/ 864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864">
                  <a:moveTo>
                    <a:pt x="13" y="864"/>
                  </a:moveTo>
                  <a:lnTo>
                    <a:pt x="13" y="864"/>
                  </a:lnTo>
                  <a:lnTo>
                    <a:pt x="13" y="720"/>
                  </a:lnTo>
                  <a:lnTo>
                    <a:pt x="13" y="429"/>
                  </a:lnTo>
                  <a:lnTo>
                    <a:pt x="13" y="141"/>
                  </a:lnTo>
                  <a:lnTo>
                    <a:pt x="13" y="0"/>
                  </a:lnTo>
                  <a:lnTo>
                    <a:pt x="0" y="0"/>
                  </a:lnTo>
                  <a:lnTo>
                    <a:pt x="0" y="141"/>
                  </a:lnTo>
                  <a:lnTo>
                    <a:pt x="0" y="429"/>
                  </a:lnTo>
                  <a:lnTo>
                    <a:pt x="0" y="720"/>
                  </a:lnTo>
                  <a:lnTo>
                    <a:pt x="0" y="864"/>
                  </a:lnTo>
                  <a:lnTo>
                    <a:pt x="13" y="8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95" name="未知"/>
            <p:cNvSpPr>
              <a:spLocks noChangeArrowheads="1"/>
            </p:cNvSpPr>
            <p:nvPr/>
          </p:nvSpPr>
          <p:spPr bwMode="auto">
            <a:xfrm>
              <a:off x="4030" y="669"/>
              <a:ext cx="17" cy="19"/>
            </a:xfrm>
            <a:custGeom>
              <a:avLst/>
              <a:gdLst>
                <a:gd name="T0" fmla="*/ 33 w 33"/>
                <a:gd name="T1" fmla="*/ 27 h 41"/>
                <a:gd name="T2" fmla="*/ 33 w 33"/>
                <a:gd name="T3" fmla="*/ 27 h 41"/>
                <a:gd name="T4" fmla="*/ 25 w 33"/>
                <a:gd name="T5" fmla="*/ 27 h 41"/>
                <a:gd name="T6" fmla="*/ 18 w 33"/>
                <a:gd name="T7" fmla="*/ 26 h 41"/>
                <a:gd name="T8" fmla="*/ 13 w 33"/>
                <a:gd name="T9" fmla="*/ 17 h 41"/>
                <a:gd name="T10" fmla="*/ 13 w 33"/>
                <a:gd name="T11" fmla="*/ 0 h 41"/>
                <a:gd name="T12" fmla="*/ 0 w 33"/>
                <a:gd name="T13" fmla="*/ 0 h 41"/>
                <a:gd name="T14" fmla="*/ 3 w 33"/>
                <a:gd name="T15" fmla="*/ 21 h 41"/>
                <a:gd name="T16" fmla="*/ 12 w 33"/>
                <a:gd name="T17" fmla="*/ 32 h 41"/>
                <a:gd name="T18" fmla="*/ 22 w 33"/>
                <a:gd name="T19" fmla="*/ 37 h 41"/>
                <a:gd name="T20" fmla="*/ 33 w 33"/>
                <a:gd name="T21" fmla="*/ 41 h 41"/>
                <a:gd name="T22" fmla="*/ 33 w 33"/>
                <a:gd name="T23"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41">
                  <a:moveTo>
                    <a:pt x="33" y="27"/>
                  </a:moveTo>
                  <a:lnTo>
                    <a:pt x="33" y="27"/>
                  </a:lnTo>
                  <a:lnTo>
                    <a:pt x="25" y="27"/>
                  </a:lnTo>
                  <a:lnTo>
                    <a:pt x="18" y="26"/>
                  </a:lnTo>
                  <a:lnTo>
                    <a:pt x="13" y="17"/>
                  </a:lnTo>
                  <a:lnTo>
                    <a:pt x="13" y="0"/>
                  </a:lnTo>
                  <a:lnTo>
                    <a:pt x="0" y="0"/>
                  </a:lnTo>
                  <a:lnTo>
                    <a:pt x="3" y="21"/>
                  </a:lnTo>
                  <a:lnTo>
                    <a:pt x="12" y="32"/>
                  </a:lnTo>
                  <a:lnTo>
                    <a:pt x="22" y="37"/>
                  </a:lnTo>
                  <a:lnTo>
                    <a:pt x="33" y="41"/>
                  </a:lnTo>
                  <a:lnTo>
                    <a:pt x="33"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96" name="未知"/>
            <p:cNvSpPr>
              <a:spLocks noChangeArrowheads="1"/>
            </p:cNvSpPr>
            <p:nvPr/>
          </p:nvSpPr>
          <p:spPr bwMode="auto">
            <a:xfrm>
              <a:off x="4047" y="668"/>
              <a:ext cx="477" cy="20"/>
            </a:xfrm>
            <a:custGeom>
              <a:avLst/>
              <a:gdLst>
                <a:gd name="T0" fmla="*/ 955 w 955"/>
                <a:gd name="T1" fmla="*/ 0 h 42"/>
                <a:gd name="T2" fmla="*/ 955 w 955"/>
                <a:gd name="T3" fmla="*/ 0 h 42"/>
                <a:gd name="T4" fmla="*/ 940 w 955"/>
                <a:gd name="T5" fmla="*/ 1 h 42"/>
                <a:gd name="T6" fmla="*/ 906 w 955"/>
                <a:gd name="T7" fmla="*/ 3 h 42"/>
                <a:gd name="T8" fmla="*/ 857 w 955"/>
                <a:gd name="T9" fmla="*/ 3 h 42"/>
                <a:gd name="T10" fmla="*/ 797 w 955"/>
                <a:gd name="T11" fmla="*/ 7 h 42"/>
                <a:gd name="T12" fmla="*/ 725 w 955"/>
                <a:gd name="T13" fmla="*/ 10 h 42"/>
                <a:gd name="T14" fmla="*/ 644 w 955"/>
                <a:gd name="T15" fmla="*/ 12 h 42"/>
                <a:gd name="T16" fmla="*/ 560 w 955"/>
                <a:gd name="T17" fmla="*/ 15 h 42"/>
                <a:gd name="T18" fmla="*/ 473 w 955"/>
                <a:gd name="T19" fmla="*/ 17 h 42"/>
                <a:gd name="T20" fmla="*/ 385 w 955"/>
                <a:gd name="T21" fmla="*/ 20 h 42"/>
                <a:gd name="T22" fmla="*/ 301 w 955"/>
                <a:gd name="T23" fmla="*/ 20 h 42"/>
                <a:gd name="T24" fmla="*/ 222 w 955"/>
                <a:gd name="T25" fmla="*/ 23 h 42"/>
                <a:gd name="T26" fmla="*/ 152 w 955"/>
                <a:gd name="T27" fmla="*/ 27 h 42"/>
                <a:gd name="T28" fmla="*/ 91 w 955"/>
                <a:gd name="T29" fmla="*/ 27 h 42"/>
                <a:gd name="T30" fmla="*/ 44 w 955"/>
                <a:gd name="T31" fmla="*/ 27 h 42"/>
                <a:gd name="T32" fmla="*/ 14 w 955"/>
                <a:gd name="T33" fmla="*/ 28 h 42"/>
                <a:gd name="T34" fmla="*/ 0 w 955"/>
                <a:gd name="T35" fmla="*/ 28 h 42"/>
                <a:gd name="T36" fmla="*/ 0 w 955"/>
                <a:gd name="T37" fmla="*/ 42 h 42"/>
                <a:gd name="T38" fmla="*/ 14 w 955"/>
                <a:gd name="T39" fmla="*/ 42 h 42"/>
                <a:gd name="T40" fmla="*/ 44 w 955"/>
                <a:gd name="T41" fmla="*/ 40 h 42"/>
                <a:gd name="T42" fmla="*/ 91 w 955"/>
                <a:gd name="T43" fmla="*/ 40 h 42"/>
                <a:gd name="T44" fmla="*/ 152 w 955"/>
                <a:gd name="T45" fmla="*/ 37 h 42"/>
                <a:gd name="T46" fmla="*/ 222 w 955"/>
                <a:gd name="T47" fmla="*/ 33 h 42"/>
                <a:gd name="T48" fmla="*/ 301 w 955"/>
                <a:gd name="T49" fmla="*/ 33 h 42"/>
                <a:gd name="T50" fmla="*/ 385 w 955"/>
                <a:gd name="T51" fmla="*/ 30 h 42"/>
                <a:gd name="T52" fmla="*/ 473 w 955"/>
                <a:gd name="T53" fmla="*/ 27 h 42"/>
                <a:gd name="T54" fmla="*/ 560 w 955"/>
                <a:gd name="T55" fmla="*/ 25 h 42"/>
                <a:gd name="T56" fmla="*/ 644 w 955"/>
                <a:gd name="T57" fmla="*/ 22 h 42"/>
                <a:gd name="T58" fmla="*/ 725 w 955"/>
                <a:gd name="T59" fmla="*/ 20 h 42"/>
                <a:gd name="T60" fmla="*/ 797 w 955"/>
                <a:gd name="T61" fmla="*/ 17 h 42"/>
                <a:gd name="T62" fmla="*/ 857 w 955"/>
                <a:gd name="T63" fmla="*/ 17 h 42"/>
                <a:gd name="T64" fmla="*/ 906 w 955"/>
                <a:gd name="T65" fmla="*/ 13 h 42"/>
                <a:gd name="T66" fmla="*/ 940 w 955"/>
                <a:gd name="T67" fmla="*/ 12 h 42"/>
                <a:gd name="T68" fmla="*/ 955 w 955"/>
                <a:gd name="T69" fmla="*/ 10 h 42"/>
                <a:gd name="T70" fmla="*/ 955 w 955"/>
                <a:gd name="T7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55" h="42">
                  <a:moveTo>
                    <a:pt x="955" y="0"/>
                  </a:moveTo>
                  <a:lnTo>
                    <a:pt x="955" y="0"/>
                  </a:lnTo>
                  <a:lnTo>
                    <a:pt x="940" y="1"/>
                  </a:lnTo>
                  <a:lnTo>
                    <a:pt x="906" y="3"/>
                  </a:lnTo>
                  <a:lnTo>
                    <a:pt x="857" y="3"/>
                  </a:lnTo>
                  <a:lnTo>
                    <a:pt x="797" y="7"/>
                  </a:lnTo>
                  <a:lnTo>
                    <a:pt x="725" y="10"/>
                  </a:lnTo>
                  <a:lnTo>
                    <a:pt x="644" y="12"/>
                  </a:lnTo>
                  <a:lnTo>
                    <a:pt x="560" y="15"/>
                  </a:lnTo>
                  <a:lnTo>
                    <a:pt x="473" y="17"/>
                  </a:lnTo>
                  <a:lnTo>
                    <a:pt x="385" y="20"/>
                  </a:lnTo>
                  <a:lnTo>
                    <a:pt x="301" y="20"/>
                  </a:lnTo>
                  <a:lnTo>
                    <a:pt x="222" y="23"/>
                  </a:lnTo>
                  <a:lnTo>
                    <a:pt x="152" y="27"/>
                  </a:lnTo>
                  <a:lnTo>
                    <a:pt x="91" y="27"/>
                  </a:lnTo>
                  <a:lnTo>
                    <a:pt x="44" y="27"/>
                  </a:lnTo>
                  <a:lnTo>
                    <a:pt x="14" y="28"/>
                  </a:lnTo>
                  <a:lnTo>
                    <a:pt x="0" y="28"/>
                  </a:lnTo>
                  <a:lnTo>
                    <a:pt x="0" y="42"/>
                  </a:lnTo>
                  <a:lnTo>
                    <a:pt x="14" y="42"/>
                  </a:lnTo>
                  <a:lnTo>
                    <a:pt x="44" y="40"/>
                  </a:lnTo>
                  <a:lnTo>
                    <a:pt x="91" y="40"/>
                  </a:lnTo>
                  <a:lnTo>
                    <a:pt x="152" y="37"/>
                  </a:lnTo>
                  <a:lnTo>
                    <a:pt x="222" y="33"/>
                  </a:lnTo>
                  <a:lnTo>
                    <a:pt x="301" y="33"/>
                  </a:lnTo>
                  <a:lnTo>
                    <a:pt x="385" y="30"/>
                  </a:lnTo>
                  <a:lnTo>
                    <a:pt x="473" y="27"/>
                  </a:lnTo>
                  <a:lnTo>
                    <a:pt x="560" y="25"/>
                  </a:lnTo>
                  <a:lnTo>
                    <a:pt x="644" y="22"/>
                  </a:lnTo>
                  <a:lnTo>
                    <a:pt x="725" y="20"/>
                  </a:lnTo>
                  <a:lnTo>
                    <a:pt x="797" y="17"/>
                  </a:lnTo>
                  <a:lnTo>
                    <a:pt x="857" y="17"/>
                  </a:lnTo>
                  <a:lnTo>
                    <a:pt x="906" y="13"/>
                  </a:lnTo>
                  <a:lnTo>
                    <a:pt x="940" y="12"/>
                  </a:lnTo>
                  <a:lnTo>
                    <a:pt x="955" y="10"/>
                  </a:lnTo>
                  <a:lnTo>
                    <a:pt x="9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97" name="未知"/>
            <p:cNvSpPr>
              <a:spLocks noChangeArrowheads="1"/>
            </p:cNvSpPr>
            <p:nvPr/>
          </p:nvSpPr>
          <p:spPr bwMode="auto">
            <a:xfrm>
              <a:off x="4524" y="649"/>
              <a:ext cx="24" cy="23"/>
            </a:xfrm>
            <a:custGeom>
              <a:avLst/>
              <a:gdLst>
                <a:gd name="T0" fmla="*/ 34 w 47"/>
                <a:gd name="T1" fmla="*/ 0 h 51"/>
                <a:gd name="T2" fmla="*/ 34 w 47"/>
                <a:gd name="T3" fmla="*/ 0 h 51"/>
                <a:gd name="T4" fmla="*/ 34 w 47"/>
                <a:gd name="T5" fmla="*/ 17 h 51"/>
                <a:gd name="T6" fmla="*/ 27 w 47"/>
                <a:gd name="T7" fmla="*/ 29 h 51"/>
                <a:gd name="T8" fmla="*/ 17 w 47"/>
                <a:gd name="T9" fmla="*/ 36 h 51"/>
                <a:gd name="T10" fmla="*/ 0 w 47"/>
                <a:gd name="T11" fmla="*/ 41 h 51"/>
                <a:gd name="T12" fmla="*/ 0 w 47"/>
                <a:gd name="T13" fmla="*/ 51 h 51"/>
                <a:gd name="T14" fmla="*/ 20 w 47"/>
                <a:gd name="T15" fmla="*/ 46 h 51"/>
                <a:gd name="T16" fmla="*/ 34 w 47"/>
                <a:gd name="T17" fmla="*/ 36 h 51"/>
                <a:gd name="T18" fmla="*/ 44 w 47"/>
                <a:gd name="T19" fmla="*/ 21 h 51"/>
                <a:gd name="T20" fmla="*/ 47 w 47"/>
                <a:gd name="T21" fmla="*/ 0 h 51"/>
                <a:gd name="T22" fmla="*/ 34 w 47"/>
                <a:gd name="T23"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51">
                  <a:moveTo>
                    <a:pt x="34" y="0"/>
                  </a:moveTo>
                  <a:lnTo>
                    <a:pt x="34" y="0"/>
                  </a:lnTo>
                  <a:lnTo>
                    <a:pt x="34" y="17"/>
                  </a:lnTo>
                  <a:lnTo>
                    <a:pt x="27" y="29"/>
                  </a:lnTo>
                  <a:lnTo>
                    <a:pt x="17" y="36"/>
                  </a:lnTo>
                  <a:lnTo>
                    <a:pt x="0" y="41"/>
                  </a:lnTo>
                  <a:lnTo>
                    <a:pt x="0" y="51"/>
                  </a:lnTo>
                  <a:lnTo>
                    <a:pt x="20" y="46"/>
                  </a:lnTo>
                  <a:lnTo>
                    <a:pt x="34" y="36"/>
                  </a:lnTo>
                  <a:lnTo>
                    <a:pt x="44" y="21"/>
                  </a:lnTo>
                  <a:lnTo>
                    <a:pt x="47" y="0"/>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98" name="未知"/>
            <p:cNvSpPr>
              <a:spLocks noChangeArrowheads="1"/>
            </p:cNvSpPr>
            <p:nvPr/>
          </p:nvSpPr>
          <p:spPr bwMode="auto">
            <a:xfrm>
              <a:off x="4541" y="249"/>
              <a:ext cx="7" cy="400"/>
            </a:xfrm>
            <a:custGeom>
              <a:avLst/>
              <a:gdLst>
                <a:gd name="T0" fmla="*/ 0 w 13"/>
                <a:gd name="T1" fmla="*/ 0 h 836"/>
                <a:gd name="T2" fmla="*/ 0 w 13"/>
                <a:gd name="T3" fmla="*/ 0 h 836"/>
                <a:gd name="T4" fmla="*/ 0 w 13"/>
                <a:gd name="T5" fmla="*/ 133 h 836"/>
                <a:gd name="T6" fmla="*/ 0 w 13"/>
                <a:gd name="T7" fmla="*/ 413 h 836"/>
                <a:gd name="T8" fmla="*/ 0 w 13"/>
                <a:gd name="T9" fmla="*/ 695 h 836"/>
                <a:gd name="T10" fmla="*/ 0 w 13"/>
                <a:gd name="T11" fmla="*/ 836 h 836"/>
                <a:gd name="T12" fmla="*/ 13 w 13"/>
                <a:gd name="T13" fmla="*/ 836 h 836"/>
                <a:gd name="T14" fmla="*/ 13 w 13"/>
                <a:gd name="T15" fmla="*/ 695 h 836"/>
                <a:gd name="T16" fmla="*/ 13 w 13"/>
                <a:gd name="T17" fmla="*/ 413 h 836"/>
                <a:gd name="T18" fmla="*/ 13 w 13"/>
                <a:gd name="T19" fmla="*/ 133 h 836"/>
                <a:gd name="T20" fmla="*/ 13 w 13"/>
                <a:gd name="T21" fmla="*/ 0 h 836"/>
                <a:gd name="T22" fmla="*/ 0 w 13"/>
                <a:gd name="T23" fmla="*/ 0 h 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836">
                  <a:moveTo>
                    <a:pt x="0" y="0"/>
                  </a:moveTo>
                  <a:lnTo>
                    <a:pt x="0" y="0"/>
                  </a:lnTo>
                  <a:lnTo>
                    <a:pt x="0" y="133"/>
                  </a:lnTo>
                  <a:lnTo>
                    <a:pt x="0" y="413"/>
                  </a:lnTo>
                  <a:lnTo>
                    <a:pt x="0" y="695"/>
                  </a:lnTo>
                  <a:lnTo>
                    <a:pt x="0" y="836"/>
                  </a:lnTo>
                  <a:lnTo>
                    <a:pt x="13" y="836"/>
                  </a:lnTo>
                  <a:lnTo>
                    <a:pt x="13" y="695"/>
                  </a:lnTo>
                  <a:lnTo>
                    <a:pt x="13" y="413"/>
                  </a:lnTo>
                  <a:lnTo>
                    <a:pt x="13" y="133"/>
                  </a:lnTo>
                  <a:lnTo>
                    <a:pt x="1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399" name="未知"/>
            <p:cNvSpPr>
              <a:spLocks noChangeArrowheads="1"/>
            </p:cNvSpPr>
            <p:nvPr/>
          </p:nvSpPr>
          <p:spPr bwMode="auto">
            <a:xfrm>
              <a:off x="4522" y="230"/>
              <a:ext cx="26" cy="19"/>
            </a:xfrm>
            <a:custGeom>
              <a:avLst/>
              <a:gdLst>
                <a:gd name="T0" fmla="*/ 0 w 50"/>
                <a:gd name="T1" fmla="*/ 11 h 39"/>
                <a:gd name="T2" fmla="*/ 0 w 50"/>
                <a:gd name="T3" fmla="*/ 11 h 39"/>
                <a:gd name="T4" fmla="*/ 21 w 50"/>
                <a:gd name="T5" fmla="*/ 11 h 39"/>
                <a:gd name="T6" fmla="*/ 32 w 50"/>
                <a:gd name="T7" fmla="*/ 17 h 39"/>
                <a:gd name="T8" fmla="*/ 37 w 50"/>
                <a:gd name="T9" fmla="*/ 27 h 39"/>
                <a:gd name="T10" fmla="*/ 37 w 50"/>
                <a:gd name="T11" fmla="*/ 39 h 39"/>
                <a:gd name="T12" fmla="*/ 50 w 50"/>
                <a:gd name="T13" fmla="*/ 39 h 39"/>
                <a:gd name="T14" fmla="*/ 47 w 50"/>
                <a:gd name="T15" fmla="*/ 24 h 39"/>
                <a:gd name="T16" fmla="*/ 38 w 50"/>
                <a:gd name="T17" fmla="*/ 11 h 39"/>
                <a:gd name="T18" fmla="*/ 21 w 50"/>
                <a:gd name="T19" fmla="*/ 0 h 39"/>
                <a:gd name="T20" fmla="*/ 0 w 50"/>
                <a:gd name="T21" fmla="*/ 0 h 39"/>
                <a:gd name="T22" fmla="*/ 0 w 50"/>
                <a:gd name="T23" fmla="*/ 1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 h="39">
                  <a:moveTo>
                    <a:pt x="0" y="11"/>
                  </a:moveTo>
                  <a:lnTo>
                    <a:pt x="0" y="11"/>
                  </a:lnTo>
                  <a:lnTo>
                    <a:pt x="21" y="11"/>
                  </a:lnTo>
                  <a:lnTo>
                    <a:pt x="32" y="17"/>
                  </a:lnTo>
                  <a:lnTo>
                    <a:pt x="37" y="27"/>
                  </a:lnTo>
                  <a:lnTo>
                    <a:pt x="37" y="39"/>
                  </a:lnTo>
                  <a:lnTo>
                    <a:pt x="50" y="39"/>
                  </a:lnTo>
                  <a:lnTo>
                    <a:pt x="47" y="24"/>
                  </a:lnTo>
                  <a:lnTo>
                    <a:pt x="38" y="11"/>
                  </a:lnTo>
                  <a:lnTo>
                    <a:pt x="21" y="0"/>
                  </a:lnTo>
                  <a:lnTo>
                    <a:pt x="0" y="0"/>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400" name="未知"/>
            <p:cNvSpPr>
              <a:spLocks noChangeArrowheads="1"/>
            </p:cNvSpPr>
            <p:nvPr/>
          </p:nvSpPr>
          <p:spPr bwMode="auto">
            <a:xfrm>
              <a:off x="4049" y="229"/>
              <a:ext cx="473" cy="14"/>
            </a:xfrm>
            <a:custGeom>
              <a:avLst/>
              <a:gdLst>
                <a:gd name="T0" fmla="*/ 0 w 946"/>
                <a:gd name="T1" fmla="*/ 27 h 27"/>
                <a:gd name="T2" fmla="*/ 0 w 946"/>
                <a:gd name="T3" fmla="*/ 27 h 27"/>
                <a:gd name="T4" fmla="*/ 10 w 946"/>
                <a:gd name="T5" fmla="*/ 27 h 27"/>
                <a:gd name="T6" fmla="*/ 38 w 946"/>
                <a:gd name="T7" fmla="*/ 27 h 27"/>
                <a:gd name="T8" fmla="*/ 84 w 946"/>
                <a:gd name="T9" fmla="*/ 25 h 27"/>
                <a:gd name="T10" fmla="*/ 142 w 946"/>
                <a:gd name="T11" fmla="*/ 25 h 27"/>
                <a:gd name="T12" fmla="*/ 211 w 946"/>
                <a:gd name="T13" fmla="*/ 25 h 27"/>
                <a:gd name="T14" fmla="*/ 289 w 946"/>
                <a:gd name="T15" fmla="*/ 23 h 27"/>
                <a:gd name="T16" fmla="*/ 373 w 946"/>
                <a:gd name="T17" fmla="*/ 22 h 27"/>
                <a:gd name="T18" fmla="*/ 458 w 946"/>
                <a:gd name="T19" fmla="*/ 22 h 27"/>
                <a:gd name="T20" fmla="*/ 546 w 946"/>
                <a:gd name="T21" fmla="*/ 20 h 27"/>
                <a:gd name="T22" fmla="*/ 630 w 946"/>
                <a:gd name="T23" fmla="*/ 18 h 27"/>
                <a:gd name="T24" fmla="*/ 710 w 946"/>
                <a:gd name="T25" fmla="*/ 18 h 27"/>
                <a:gd name="T26" fmla="*/ 783 w 946"/>
                <a:gd name="T27" fmla="*/ 17 h 27"/>
                <a:gd name="T28" fmla="*/ 845 w 946"/>
                <a:gd name="T29" fmla="*/ 15 h 27"/>
                <a:gd name="T30" fmla="*/ 894 w 946"/>
                <a:gd name="T31" fmla="*/ 15 h 27"/>
                <a:gd name="T32" fmla="*/ 929 w 946"/>
                <a:gd name="T33" fmla="*/ 13 h 27"/>
                <a:gd name="T34" fmla="*/ 946 w 946"/>
                <a:gd name="T35" fmla="*/ 12 h 27"/>
                <a:gd name="T36" fmla="*/ 946 w 946"/>
                <a:gd name="T37" fmla="*/ 1 h 27"/>
                <a:gd name="T38" fmla="*/ 929 w 946"/>
                <a:gd name="T39" fmla="*/ 0 h 27"/>
                <a:gd name="T40" fmla="*/ 894 w 946"/>
                <a:gd name="T41" fmla="*/ 1 h 27"/>
                <a:gd name="T42" fmla="*/ 845 w 946"/>
                <a:gd name="T43" fmla="*/ 1 h 27"/>
                <a:gd name="T44" fmla="*/ 783 w 946"/>
                <a:gd name="T45" fmla="*/ 3 h 27"/>
                <a:gd name="T46" fmla="*/ 710 w 946"/>
                <a:gd name="T47" fmla="*/ 5 h 27"/>
                <a:gd name="T48" fmla="*/ 630 w 946"/>
                <a:gd name="T49" fmla="*/ 5 h 27"/>
                <a:gd name="T50" fmla="*/ 546 w 946"/>
                <a:gd name="T51" fmla="*/ 6 h 27"/>
                <a:gd name="T52" fmla="*/ 458 w 946"/>
                <a:gd name="T53" fmla="*/ 8 h 27"/>
                <a:gd name="T54" fmla="*/ 373 w 946"/>
                <a:gd name="T55" fmla="*/ 8 h 27"/>
                <a:gd name="T56" fmla="*/ 289 w 946"/>
                <a:gd name="T57" fmla="*/ 10 h 27"/>
                <a:gd name="T58" fmla="*/ 211 w 946"/>
                <a:gd name="T59" fmla="*/ 12 h 27"/>
                <a:gd name="T60" fmla="*/ 142 w 946"/>
                <a:gd name="T61" fmla="*/ 12 h 27"/>
                <a:gd name="T62" fmla="*/ 84 w 946"/>
                <a:gd name="T63" fmla="*/ 12 h 27"/>
                <a:gd name="T64" fmla="*/ 38 w 946"/>
                <a:gd name="T65" fmla="*/ 13 h 27"/>
                <a:gd name="T66" fmla="*/ 10 w 946"/>
                <a:gd name="T67" fmla="*/ 13 h 27"/>
                <a:gd name="T68" fmla="*/ 0 w 946"/>
                <a:gd name="T69" fmla="*/ 13 h 27"/>
                <a:gd name="T70" fmla="*/ 0 w 946"/>
                <a:gd name="T7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46" h="27">
                  <a:moveTo>
                    <a:pt x="0" y="27"/>
                  </a:moveTo>
                  <a:lnTo>
                    <a:pt x="0" y="27"/>
                  </a:lnTo>
                  <a:lnTo>
                    <a:pt x="10" y="27"/>
                  </a:lnTo>
                  <a:lnTo>
                    <a:pt x="38" y="27"/>
                  </a:lnTo>
                  <a:lnTo>
                    <a:pt x="84" y="25"/>
                  </a:lnTo>
                  <a:lnTo>
                    <a:pt x="142" y="25"/>
                  </a:lnTo>
                  <a:lnTo>
                    <a:pt x="211" y="25"/>
                  </a:lnTo>
                  <a:lnTo>
                    <a:pt x="289" y="23"/>
                  </a:lnTo>
                  <a:lnTo>
                    <a:pt x="373" y="22"/>
                  </a:lnTo>
                  <a:lnTo>
                    <a:pt x="458" y="22"/>
                  </a:lnTo>
                  <a:lnTo>
                    <a:pt x="546" y="20"/>
                  </a:lnTo>
                  <a:lnTo>
                    <a:pt x="630" y="18"/>
                  </a:lnTo>
                  <a:lnTo>
                    <a:pt x="710" y="18"/>
                  </a:lnTo>
                  <a:lnTo>
                    <a:pt x="783" y="17"/>
                  </a:lnTo>
                  <a:lnTo>
                    <a:pt x="845" y="15"/>
                  </a:lnTo>
                  <a:lnTo>
                    <a:pt x="894" y="15"/>
                  </a:lnTo>
                  <a:lnTo>
                    <a:pt x="929" y="13"/>
                  </a:lnTo>
                  <a:lnTo>
                    <a:pt x="946" y="12"/>
                  </a:lnTo>
                  <a:lnTo>
                    <a:pt x="946" y="1"/>
                  </a:lnTo>
                  <a:lnTo>
                    <a:pt x="929" y="0"/>
                  </a:lnTo>
                  <a:lnTo>
                    <a:pt x="894" y="1"/>
                  </a:lnTo>
                  <a:lnTo>
                    <a:pt x="845" y="1"/>
                  </a:lnTo>
                  <a:lnTo>
                    <a:pt x="783" y="3"/>
                  </a:lnTo>
                  <a:lnTo>
                    <a:pt x="710" y="5"/>
                  </a:lnTo>
                  <a:lnTo>
                    <a:pt x="630" y="5"/>
                  </a:lnTo>
                  <a:lnTo>
                    <a:pt x="546" y="6"/>
                  </a:lnTo>
                  <a:lnTo>
                    <a:pt x="458" y="8"/>
                  </a:lnTo>
                  <a:lnTo>
                    <a:pt x="373" y="8"/>
                  </a:lnTo>
                  <a:lnTo>
                    <a:pt x="289" y="10"/>
                  </a:lnTo>
                  <a:lnTo>
                    <a:pt x="211" y="12"/>
                  </a:lnTo>
                  <a:lnTo>
                    <a:pt x="142" y="12"/>
                  </a:lnTo>
                  <a:lnTo>
                    <a:pt x="84" y="12"/>
                  </a:lnTo>
                  <a:lnTo>
                    <a:pt x="38" y="13"/>
                  </a:lnTo>
                  <a:lnTo>
                    <a:pt x="10" y="13"/>
                  </a:lnTo>
                  <a:lnTo>
                    <a:pt x="0" y="13"/>
                  </a:ln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401" name="未知"/>
            <p:cNvSpPr>
              <a:spLocks noChangeArrowheads="1"/>
            </p:cNvSpPr>
            <p:nvPr/>
          </p:nvSpPr>
          <p:spPr bwMode="auto">
            <a:xfrm>
              <a:off x="4037" y="244"/>
              <a:ext cx="484" cy="430"/>
            </a:xfrm>
            <a:custGeom>
              <a:avLst/>
              <a:gdLst>
                <a:gd name="T0" fmla="*/ 30 w 968"/>
                <a:gd name="T1" fmla="*/ 12 h 902"/>
                <a:gd name="T2" fmla="*/ 18 w 968"/>
                <a:gd name="T3" fmla="*/ 14 h 902"/>
                <a:gd name="T4" fmla="*/ 8 w 968"/>
                <a:gd name="T5" fmla="*/ 20 h 902"/>
                <a:gd name="T6" fmla="*/ 2 w 968"/>
                <a:gd name="T7" fmla="*/ 31 h 902"/>
                <a:gd name="T8" fmla="*/ 0 w 968"/>
                <a:gd name="T9" fmla="*/ 44 h 902"/>
                <a:gd name="T10" fmla="*/ 0 w 968"/>
                <a:gd name="T11" fmla="*/ 178 h 902"/>
                <a:gd name="T12" fmla="*/ 0 w 968"/>
                <a:gd name="T13" fmla="*/ 454 h 902"/>
                <a:gd name="T14" fmla="*/ 0 w 968"/>
                <a:gd name="T15" fmla="*/ 733 h 902"/>
                <a:gd name="T16" fmla="*/ 0 w 968"/>
                <a:gd name="T17" fmla="*/ 870 h 902"/>
                <a:gd name="T18" fmla="*/ 2 w 968"/>
                <a:gd name="T19" fmla="*/ 887 h 902"/>
                <a:gd name="T20" fmla="*/ 8 w 968"/>
                <a:gd name="T21" fmla="*/ 897 h 902"/>
                <a:gd name="T22" fmla="*/ 17 w 968"/>
                <a:gd name="T23" fmla="*/ 901 h 902"/>
                <a:gd name="T24" fmla="*/ 27 w 968"/>
                <a:gd name="T25" fmla="*/ 902 h 902"/>
                <a:gd name="T26" fmla="*/ 39 w 968"/>
                <a:gd name="T27" fmla="*/ 902 h 902"/>
                <a:gd name="T28" fmla="*/ 67 w 968"/>
                <a:gd name="T29" fmla="*/ 901 h 902"/>
                <a:gd name="T30" fmla="*/ 113 w 968"/>
                <a:gd name="T31" fmla="*/ 901 h 902"/>
                <a:gd name="T32" fmla="*/ 170 w 968"/>
                <a:gd name="T33" fmla="*/ 899 h 902"/>
                <a:gd name="T34" fmla="*/ 235 w 968"/>
                <a:gd name="T35" fmla="*/ 897 h 902"/>
                <a:gd name="T36" fmla="*/ 311 w 968"/>
                <a:gd name="T37" fmla="*/ 894 h 902"/>
                <a:gd name="T38" fmla="*/ 390 w 968"/>
                <a:gd name="T39" fmla="*/ 892 h 902"/>
                <a:gd name="T40" fmla="*/ 472 w 968"/>
                <a:gd name="T41" fmla="*/ 890 h 902"/>
                <a:gd name="T42" fmla="*/ 555 w 968"/>
                <a:gd name="T43" fmla="*/ 887 h 902"/>
                <a:gd name="T44" fmla="*/ 635 w 968"/>
                <a:gd name="T45" fmla="*/ 885 h 902"/>
                <a:gd name="T46" fmla="*/ 711 w 968"/>
                <a:gd name="T47" fmla="*/ 882 h 902"/>
                <a:gd name="T48" fmla="*/ 778 w 968"/>
                <a:gd name="T49" fmla="*/ 880 h 902"/>
                <a:gd name="T50" fmla="*/ 837 w 968"/>
                <a:gd name="T51" fmla="*/ 879 h 902"/>
                <a:gd name="T52" fmla="*/ 884 w 968"/>
                <a:gd name="T53" fmla="*/ 877 h 902"/>
                <a:gd name="T54" fmla="*/ 914 w 968"/>
                <a:gd name="T55" fmla="*/ 875 h 902"/>
                <a:gd name="T56" fmla="*/ 929 w 968"/>
                <a:gd name="T57" fmla="*/ 874 h 902"/>
                <a:gd name="T58" fmla="*/ 946 w 968"/>
                <a:gd name="T59" fmla="*/ 869 h 902"/>
                <a:gd name="T60" fmla="*/ 958 w 968"/>
                <a:gd name="T61" fmla="*/ 862 h 902"/>
                <a:gd name="T62" fmla="*/ 966 w 968"/>
                <a:gd name="T63" fmla="*/ 848 h 902"/>
                <a:gd name="T64" fmla="*/ 968 w 968"/>
                <a:gd name="T65" fmla="*/ 830 h 902"/>
                <a:gd name="T66" fmla="*/ 968 w 968"/>
                <a:gd name="T67" fmla="*/ 696 h 902"/>
                <a:gd name="T68" fmla="*/ 968 w 968"/>
                <a:gd name="T69" fmla="*/ 427 h 902"/>
                <a:gd name="T70" fmla="*/ 968 w 968"/>
                <a:gd name="T71" fmla="*/ 160 h 902"/>
                <a:gd name="T72" fmla="*/ 968 w 968"/>
                <a:gd name="T73" fmla="*/ 32 h 902"/>
                <a:gd name="T74" fmla="*/ 966 w 968"/>
                <a:gd name="T75" fmla="*/ 19 h 902"/>
                <a:gd name="T76" fmla="*/ 960 w 968"/>
                <a:gd name="T77" fmla="*/ 9 h 902"/>
                <a:gd name="T78" fmla="*/ 946 w 968"/>
                <a:gd name="T79" fmla="*/ 0 h 902"/>
                <a:gd name="T80" fmla="*/ 924 w 968"/>
                <a:gd name="T81" fmla="*/ 0 h 902"/>
                <a:gd name="T82" fmla="*/ 909 w 968"/>
                <a:gd name="T83" fmla="*/ 0 h 902"/>
                <a:gd name="T84" fmla="*/ 875 w 968"/>
                <a:gd name="T85" fmla="*/ 2 h 902"/>
                <a:gd name="T86" fmla="*/ 828 w 968"/>
                <a:gd name="T87" fmla="*/ 2 h 902"/>
                <a:gd name="T88" fmla="*/ 770 w 968"/>
                <a:gd name="T89" fmla="*/ 4 h 902"/>
                <a:gd name="T90" fmla="*/ 702 w 968"/>
                <a:gd name="T91" fmla="*/ 5 h 902"/>
                <a:gd name="T92" fmla="*/ 627 w 968"/>
                <a:gd name="T93" fmla="*/ 5 h 902"/>
                <a:gd name="T94" fmla="*/ 546 w 968"/>
                <a:gd name="T95" fmla="*/ 7 h 902"/>
                <a:gd name="T96" fmla="*/ 465 w 968"/>
                <a:gd name="T97" fmla="*/ 7 h 902"/>
                <a:gd name="T98" fmla="*/ 383 w 968"/>
                <a:gd name="T99" fmla="*/ 9 h 902"/>
                <a:gd name="T100" fmla="*/ 304 w 968"/>
                <a:gd name="T101" fmla="*/ 9 h 902"/>
                <a:gd name="T102" fmla="*/ 230 w 968"/>
                <a:gd name="T103" fmla="*/ 10 h 902"/>
                <a:gd name="T104" fmla="*/ 165 w 968"/>
                <a:gd name="T105" fmla="*/ 10 h 902"/>
                <a:gd name="T106" fmla="*/ 109 w 968"/>
                <a:gd name="T107" fmla="*/ 12 h 902"/>
                <a:gd name="T108" fmla="*/ 67 w 968"/>
                <a:gd name="T109" fmla="*/ 12 h 902"/>
                <a:gd name="T110" fmla="*/ 40 w 968"/>
                <a:gd name="T111" fmla="*/ 12 h 902"/>
                <a:gd name="T112" fmla="*/ 30 w 968"/>
                <a:gd name="T113" fmla="*/ 12 h 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68" h="902">
                  <a:moveTo>
                    <a:pt x="30" y="12"/>
                  </a:moveTo>
                  <a:lnTo>
                    <a:pt x="18" y="14"/>
                  </a:lnTo>
                  <a:lnTo>
                    <a:pt x="8" y="20"/>
                  </a:lnTo>
                  <a:lnTo>
                    <a:pt x="2" y="31"/>
                  </a:lnTo>
                  <a:lnTo>
                    <a:pt x="0" y="44"/>
                  </a:lnTo>
                  <a:lnTo>
                    <a:pt x="0" y="178"/>
                  </a:lnTo>
                  <a:lnTo>
                    <a:pt x="0" y="454"/>
                  </a:lnTo>
                  <a:lnTo>
                    <a:pt x="0" y="733"/>
                  </a:lnTo>
                  <a:lnTo>
                    <a:pt x="0" y="870"/>
                  </a:lnTo>
                  <a:lnTo>
                    <a:pt x="2" y="887"/>
                  </a:lnTo>
                  <a:lnTo>
                    <a:pt x="8" y="897"/>
                  </a:lnTo>
                  <a:lnTo>
                    <a:pt x="17" y="901"/>
                  </a:lnTo>
                  <a:lnTo>
                    <a:pt x="27" y="902"/>
                  </a:lnTo>
                  <a:lnTo>
                    <a:pt x="39" y="902"/>
                  </a:lnTo>
                  <a:lnTo>
                    <a:pt x="67" y="901"/>
                  </a:lnTo>
                  <a:lnTo>
                    <a:pt x="113" y="901"/>
                  </a:lnTo>
                  <a:lnTo>
                    <a:pt x="170" y="899"/>
                  </a:lnTo>
                  <a:lnTo>
                    <a:pt x="235" y="897"/>
                  </a:lnTo>
                  <a:lnTo>
                    <a:pt x="311" y="894"/>
                  </a:lnTo>
                  <a:lnTo>
                    <a:pt x="390" y="892"/>
                  </a:lnTo>
                  <a:lnTo>
                    <a:pt x="472" y="890"/>
                  </a:lnTo>
                  <a:lnTo>
                    <a:pt x="555" y="887"/>
                  </a:lnTo>
                  <a:lnTo>
                    <a:pt x="635" y="885"/>
                  </a:lnTo>
                  <a:lnTo>
                    <a:pt x="711" y="882"/>
                  </a:lnTo>
                  <a:lnTo>
                    <a:pt x="778" y="880"/>
                  </a:lnTo>
                  <a:lnTo>
                    <a:pt x="837" y="879"/>
                  </a:lnTo>
                  <a:lnTo>
                    <a:pt x="884" y="877"/>
                  </a:lnTo>
                  <a:lnTo>
                    <a:pt x="914" y="875"/>
                  </a:lnTo>
                  <a:lnTo>
                    <a:pt x="929" y="874"/>
                  </a:lnTo>
                  <a:lnTo>
                    <a:pt x="946" y="869"/>
                  </a:lnTo>
                  <a:lnTo>
                    <a:pt x="958" y="862"/>
                  </a:lnTo>
                  <a:lnTo>
                    <a:pt x="966" y="848"/>
                  </a:lnTo>
                  <a:lnTo>
                    <a:pt x="968" y="830"/>
                  </a:lnTo>
                  <a:lnTo>
                    <a:pt x="968" y="696"/>
                  </a:lnTo>
                  <a:lnTo>
                    <a:pt x="968" y="427"/>
                  </a:lnTo>
                  <a:lnTo>
                    <a:pt x="968" y="160"/>
                  </a:lnTo>
                  <a:lnTo>
                    <a:pt x="968" y="32"/>
                  </a:lnTo>
                  <a:lnTo>
                    <a:pt x="966" y="19"/>
                  </a:lnTo>
                  <a:lnTo>
                    <a:pt x="960" y="9"/>
                  </a:lnTo>
                  <a:lnTo>
                    <a:pt x="946" y="0"/>
                  </a:lnTo>
                  <a:lnTo>
                    <a:pt x="924" y="0"/>
                  </a:lnTo>
                  <a:lnTo>
                    <a:pt x="909" y="0"/>
                  </a:lnTo>
                  <a:lnTo>
                    <a:pt x="875" y="2"/>
                  </a:lnTo>
                  <a:lnTo>
                    <a:pt x="828" y="2"/>
                  </a:lnTo>
                  <a:lnTo>
                    <a:pt x="770" y="4"/>
                  </a:lnTo>
                  <a:lnTo>
                    <a:pt x="702" y="5"/>
                  </a:lnTo>
                  <a:lnTo>
                    <a:pt x="627" y="5"/>
                  </a:lnTo>
                  <a:lnTo>
                    <a:pt x="546" y="7"/>
                  </a:lnTo>
                  <a:lnTo>
                    <a:pt x="465" y="7"/>
                  </a:lnTo>
                  <a:lnTo>
                    <a:pt x="383" y="9"/>
                  </a:lnTo>
                  <a:lnTo>
                    <a:pt x="304" y="9"/>
                  </a:lnTo>
                  <a:lnTo>
                    <a:pt x="230" y="10"/>
                  </a:lnTo>
                  <a:lnTo>
                    <a:pt x="165" y="10"/>
                  </a:lnTo>
                  <a:lnTo>
                    <a:pt x="109" y="12"/>
                  </a:lnTo>
                  <a:lnTo>
                    <a:pt x="67" y="12"/>
                  </a:lnTo>
                  <a:lnTo>
                    <a:pt x="40" y="12"/>
                  </a:lnTo>
                  <a:lnTo>
                    <a:pt x="30" y="12"/>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latin typeface="Times New Roman" panose="02020603050405020304" pitchFamily="18" charset="0"/>
              </a:endParaRPr>
            </a:p>
          </p:txBody>
        </p:sp>
        <p:sp>
          <p:nvSpPr>
            <p:cNvPr id="15402" name="Rectangle 43"/>
            <p:cNvSpPr>
              <a:spLocks noChangeArrowheads="1"/>
            </p:cNvSpPr>
            <p:nvPr/>
          </p:nvSpPr>
          <p:spPr bwMode="auto">
            <a:xfrm>
              <a:off x="4491" y="857"/>
              <a:ext cx="234" cy="3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b="1">
                <a:latin typeface="Times New Roman" panose="02020603050405020304" pitchFamily="18" charset="0"/>
              </a:endParaRPr>
            </a:p>
          </p:txBody>
        </p:sp>
        <p:grpSp>
          <p:nvGrpSpPr>
            <p:cNvPr id="15403" name="Group 44"/>
            <p:cNvGrpSpPr>
              <a:grpSpLocks/>
            </p:cNvGrpSpPr>
            <p:nvPr/>
          </p:nvGrpSpPr>
          <p:grpSpPr bwMode="auto">
            <a:xfrm>
              <a:off x="3782" y="628"/>
              <a:ext cx="215" cy="309"/>
              <a:chOff x="0" y="0"/>
              <a:chExt cx="289" cy="449"/>
            </a:xfrm>
          </p:grpSpPr>
          <p:sp>
            <p:nvSpPr>
              <p:cNvPr id="15404" name="Line 45"/>
              <p:cNvSpPr>
                <a:spLocks noChangeShapeType="1"/>
              </p:cNvSpPr>
              <p:nvPr/>
            </p:nvSpPr>
            <p:spPr bwMode="auto">
              <a:xfrm flipH="1">
                <a:off x="0" y="0"/>
                <a:ext cx="2" cy="172"/>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05" name="Line 46"/>
              <p:cNvSpPr>
                <a:spLocks noChangeShapeType="1"/>
              </p:cNvSpPr>
              <p:nvPr/>
            </p:nvSpPr>
            <p:spPr bwMode="auto">
              <a:xfrm>
                <a:off x="280" y="285"/>
                <a:ext cx="6" cy="164"/>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06" name="Line 47"/>
              <p:cNvSpPr>
                <a:spLocks noChangeShapeType="1"/>
              </p:cNvSpPr>
              <p:nvPr/>
            </p:nvSpPr>
            <p:spPr bwMode="auto">
              <a:xfrm>
                <a:off x="9" y="10"/>
                <a:ext cx="280" cy="281"/>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07" name="Line 48"/>
              <p:cNvSpPr>
                <a:spLocks noChangeShapeType="1"/>
              </p:cNvSpPr>
              <p:nvPr/>
            </p:nvSpPr>
            <p:spPr bwMode="auto">
              <a:xfrm>
                <a:off x="3" y="168"/>
                <a:ext cx="280" cy="281"/>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grpSp>
        <p:grpSp>
          <p:nvGrpSpPr>
            <p:cNvPr id="15408" name="Group 49"/>
            <p:cNvGrpSpPr>
              <a:grpSpLocks/>
            </p:cNvGrpSpPr>
            <p:nvPr/>
          </p:nvGrpSpPr>
          <p:grpSpPr bwMode="auto">
            <a:xfrm>
              <a:off x="2799" y="1088"/>
              <a:ext cx="752" cy="301"/>
              <a:chOff x="0" y="0"/>
              <a:chExt cx="848" cy="361"/>
            </a:xfrm>
          </p:grpSpPr>
          <p:sp>
            <p:nvSpPr>
              <p:cNvPr id="15409" name="AutoShape 50"/>
              <p:cNvSpPr>
                <a:spLocks noChangeArrowheads="1"/>
              </p:cNvSpPr>
              <p:nvPr/>
            </p:nvSpPr>
            <p:spPr bwMode="auto">
              <a:xfrm>
                <a:off x="515" y="299"/>
                <a:ext cx="93" cy="62"/>
              </a:xfrm>
              <a:prstGeom prst="can">
                <a:avLst>
                  <a:gd name="adj" fmla="val 25000"/>
                </a:avLst>
              </a:prstGeom>
              <a:solidFill>
                <a:srgbClr val="EAEAEA"/>
              </a:solidFill>
              <a:ln w="12700">
                <a:solidFill>
                  <a:schemeClr val="tx1"/>
                </a:solidFill>
                <a:round/>
                <a:headEnd/>
                <a:tailEnd/>
              </a:ln>
            </p:spPr>
            <p:txBody>
              <a:bodyPr wrap="none" anchor="ctr"/>
              <a:lstStyle/>
              <a:p>
                <a:pPr algn="ctr" eaLnBrk="0" hangingPunct="0"/>
                <a:endParaRPr lang="zh-CN" altLang="en-US" b="1">
                  <a:latin typeface="Times New Roman" panose="02020603050405020304" pitchFamily="18" charset="0"/>
                </a:endParaRPr>
              </a:p>
            </p:txBody>
          </p:sp>
          <p:sp>
            <p:nvSpPr>
              <p:cNvPr id="15410" name="AutoShape 51"/>
              <p:cNvSpPr>
                <a:spLocks noChangeArrowheads="1"/>
              </p:cNvSpPr>
              <p:nvPr/>
            </p:nvSpPr>
            <p:spPr bwMode="auto">
              <a:xfrm>
                <a:off x="513" y="0"/>
                <a:ext cx="93" cy="62"/>
              </a:xfrm>
              <a:prstGeom prst="can">
                <a:avLst>
                  <a:gd name="adj" fmla="val 25000"/>
                </a:avLst>
              </a:prstGeom>
              <a:solidFill>
                <a:srgbClr val="EAEAEA"/>
              </a:solidFill>
              <a:ln w="12700">
                <a:solidFill>
                  <a:schemeClr val="tx1"/>
                </a:solidFill>
                <a:round/>
                <a:headEnd/>
                <a:tailEnd/>
              </a:ln>
            </p:spPr>
            <p:txBody>
              <a:bodyPr wrap="none" anchor="ctr"/>
              <a:lstStyle/>
              <a:p>
                <a:pPr algn="ctr" eaLnBrk="0" hangingPunct="0"/>
                <a:endParaRPr lang="zh-CN" altLang="en-US" b="1">
                  <a:latin typeface="Times New Roman" panose="02020603050405020304" pitchFamily="18" charset="0"/>
                </a:endParaRPr>
              </a:p>
            </p:txBody>
          </p:sp>
          <p:sp>
            <p:nvSpPr>
              <p:cNvPr id="15411" name="AutoShape 52"/>
              <p:cNvSpPr>
                <a:spLocks noChangeArrowheads="1"/>
              </p:cNvSpPr>
              <p:nvPr/>
            </p:nvSpPr>
            <p:spPr bwMode="auto">
              <a:xfrm rot="-5400000">
                <a:off x="264" y="-243"/>
                <a:ext cx="297" cy="848"/>
              </a:xfrm>
              <a:prstGeom prst="can">
                <a:avLst>
                  <a:gd name="adj" fmla="val 104705"/>
                </a:avLst>
              </a:prstGeom>
              <a:solidFill>
                <a:srgbClr val="EAEAEA"/>
              </a:solidFill>
              <a:ln w="12700">
                <a:solidFill>
                  <a:schemeClr val="tx1"/>
                </a:solidFill>
                <a:round/>
                <a:headEnd/>
                <a:tailEnd/>
              </a:ln>
            </p:spPr>
            <p:txBody>
              <a:bodyPr wrap="none" anchor="ctr"/>
              <a:lstStyle/>
              <a:p>
                <a:pPr algn="ctr" eaLnBrk="0" hangingPunct="0"/>
                <a:endParaRPr lang="zh-CN" altLang="en-US" b="1">
                  <a:latin typeface="Times New Roman" panose="02020603050405020304" pitchFamily="18" charset="0"/>
                </a:endParaRPr>
              </a:p>
            </p:txBody>
          </p:sp>
        </p:grpSp>
        <p:grpSp>
          <p:nvGrpSpPr>
            <p:cNvPr id="15412" name="Group 53"/>
            <p:cNvGrpSpPr>
              <a:grpSpLocks/>
            </p:cNvGrpSpPr>
            <p:nvPr/>
          </p:nvGrpSpPr>
          <p:grpSpPr bwMode="auto">
            <a:xfrm>
              <a:off x="3123" y="174"/>
              <a:ext cx="373" cy="1511"/>
              <a:chOff x="0" y="0"/>
              <a:chExt cx="420" cy="2071"/>
            </a:xfrm>
          </p:grpSpPr>
          <p:sp>
            <p:nvSpPr>
              <p:cNvPr id="15413" name="Line 54"/>
              <p:cNvSpPr>
                <a:spLocks noChangeShapeType="1"/>
              </p:cNvSpPr>
              <p:nvPr/>
            </p:nvSpPr>
            <p:spPr bwMode="auto">
              <a:xfrm flipH="1">
                <a:off x="30" y="46"/>
                <a:ext cx="0" cy="2025"/>
              </a:xfrm>
              <a:prstGeom prst="line">
                <a:avLst/>
              </a:prstGeom>
              <a:noFill/>
              <a:ln w="76200">
                <a:solidFill>
                  <a:schemeClr val="folHlink"/>
                </a:solidFill>
                <a:round/>
                <a:headEnd/>
                <a:tailEnd/>
              </a:ln>
              <a:scene3d>
                <a:camera prst="legacyObliqueTopRight">
                  <a:rot lat="0" lon="18900000" rev="0"/>
                </a:camera>
                <a:lightRig rig="legacyFlat2" dir="b"/>
              </a:scene3d>
              <a:sp3d extrusionH="430200" prstMaterial="legacyMatte">
                <a:bevelT w="13500" h="13500" prst="angle"/>
                <a:bevelB w="13500" h="13500" prst="angle"/>
                <a:extrusionClr>
                  <a:schemeClr val="bg2"/>
                </a:extrusionClr>
                <a:contourClr>
                  <a:schemeClr val="folHlink"/>
                </a:contourClr>
              </a:sp3d>
              <a:extLst>
                <a:ext uri="{909E8E84-426E-40DD-AFC4-6F175D3DCCD1}">
                  <a14:hiddenFill xmlns:a14="http://schemas.microsoft.com/office/drawing/2010/main">
                    <a:noFill/>
                  </a14:hiddenFill>
                </a:ext>
              </a:extLst>
            </p:spPr>
            <p:txBody>
              <a:bodyPr>
                <a:flatTx/>
              </a:bodyPr>
              <a:lstStyle/>
              <a:p>
                <a:pPr eaLnBrk="0" hangingPunct="0"/>
                <a:endParaRPr lang="zh-CN" altLang="en-US" b="1">
                  <a:latin typeface="Times New Roman" panose="02020603050405020304" pitchFamily="18" charset="0"/>
                </a:endParaRPr>
              </a:p>
            </p:txBody>
          </p:sp>
          <p:sp>
            <p:nvSpPr>
              <p:cNvPr id="15414" name="Line 55"/>
              <p:cNvSpPr>
                <a:spLocks noChangeShapeType="1"/>
              </p:cNvSpPr>
              <p:nvPr/>
            </p:nvSpPr>
            <p:spPr bwMode="auto">
              <a:xfrm rot="16664694" flipH="1">
                <a:off x="198" y="-209"/>
                <a:ext cx="1" cy="420"/>
              </a:xfrm>
              <a:prstGeom prst="line">
                <a:avLst/>
              </a:prstGeom>
              <a:noFill/>
              <a:ln w="76200">
                <a:solidFill>
                  <a:schemeClr val="folHlink"/>
                </a:solidFill>
                <a:round/>
                <a:headEnd/>
                <a:tailEnd/>
              </a:ln>
              <a:scene3d>
                <a:camera prst="legacyObliqueTopRight">
                  <a:rot lat="0" lon="18900000" rev="0"/>
                </a:camera>
                <a:lightRig rig="legacyFlat2" dir="t"/>
              </a:scene3d>
              <a:sp3d extrusionH="430200" prstMaterial="legacyMatte">
                <a:bevelT w="13500" h="13500" prst="angle"/>
                <a:bevelB w="13500" h="13500" prst="angle"/>
                <a:extrusionClr>
                  <a:schemeClr val="bg2"/>
                </a:extrusionClr>
                <a:contourClr>
                  <a:schemeClr val="folHlink"/>
                </a:contourClr>
              </a:sp3d>
              <a:extLst>
                <a:ext uri="{909E8E84-426E-40DD-AFC4-6F175D3DCCD1}">
                  <a14:hiddenFill xmlns:a14="http://schemas.microsoft.com/office/drawing/2010/main">
                    <a:noFill/>
                  </a14:hiddenFill>
                </a:ext>
              </a:extLst>
            </p:spPr>
            <p:txBody>
              <a:bodyPr>
                <a:flatTx/>
              </a:bodyPr>
              <a:lstStyle/>
              <a:p>
                <a:pPr eaLnBrk="0" hangingPunct="0"/>
                <a:endParaRPr lang="zh-CN" altLang="en-US" b="1">
                  <a:latin typeface="Times New Roman" panose="02020603050405020304" pitchFamily="18" charset="0"/>
                </a:endParaRPr>
              </a:p>
            </p:txBody>
          </p:sp>
        </p:grpSp>
        <p:sp>
          <p:nvSpPr>
            <p:cNvPr id="15415" name="Rectangle 56"/>
            <p:cNvSpPr>
              <a:spLocks noChangeArrowheads="1"/>
            </p:cNvSpPr>
            <p:nvPr/>
          </p:nvSpPr>
          <p:spPr bwMode="auto">
            <a:xfrm>
              <a:off x="0" y="315"/>
              <a:ext cx="3080" cy="1188"/>
            </a:xfrm>
            <a:prstGeom prst="rect">
              <a:avLst/>
            </a:prstGeom>
            <a:solidFill>
              <a:srgbClr val="C0C0C0"/>
            </a:solidFill>
            <a:ln w="12700">
              <a:solidFill>
                <a:schemeClr val="tx1"/>
              </a:solidFill>
              <a:miter lim="800000"/>
              <a:headEnd/>
              <a:tailEnd/>
            </a:ln>
          </p:spPr>
          <p:txBody>
            <a:bodyPr wrap="none" anchor="ctr"/>
            <a:lstStyle/>
            <a:p>
              <a:pPr algn="ctr" eaLnBrk="0" hangingPunct="0"/>
              <a:endParaRPr lang="zh-CN" altLang="en-US" b="1">
                <a:latin typeface="Times New Roman" panose="02020603050405020304" pitchFamily="18" charset="0"/>
              </a:endParaRPr>
            </a:p>
          </p:txBody>
        </p:sp>
        <p:sp>
          <p:nvSpPr>
            <p:cNvPr id="15416" name="Line 57"/>
            <p:cNvSpPr>
              <a:spLocks noChangeShapeType="1"/>
            </p:cNvSpPr>
            <p:nvPr/>
          </p:nvSpPr>
          <p:spPr bwMode="auto">
            <a:xfrm flipH="1">
              <a:off x="1163" y="1501"/>
              <a:ext cx="0" cy="20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17" name="Line 58"/>
            <p:cNvSpPr>
              <a:spLocks noChangeShapeType="1"/>
            </p:cNvSpPr>
            <p:nvPr/>
          </p:nvSpPr>
          <p:spPr bwMode="auto">
            <a:xfrm flipH="1">
              <a:off x="987" y="1503"/>
              <a:ext cx="0" cy="20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grpSp>
          <p:nvGrpSpPr>
            <p:cNvPr id="15418" name="Group 59"/>
            <p:cNvGrpSpPr>
              <a:grpSpLocks/>
            </p:cNvGrpSpPr>
            <p:nvPr/>
          </p:nvGrpSpPr>
          <p:grpSpPr bwMode="auto">
            <a:xfrm>
              <a:off x="1456" y="1501"/>
              <a:ext cx="354" cy="206"/>
              <a:chOff x="0" y="0"/>
              <a:chExt cx="399" cy="247"/>
            </a:xfrm>
          </p:grpSpPr>
          <p:sp>
            <p:nvSpPr>
              <p:cNvPr id="15419" name="Line 60"/>
              <p:cNvSpPr>
                <a:spLocks noChangeShapeType="1"/>
              </p:cNvSpPr>
              <p:nvPr/>
            </p:nvSpPr>
            <p:spPr bwMode="auto">
              <a:xfrm flipH="1">
                <a:off x="0" y="6"/>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20" name="Line 61"/>
              <p:cNvSpPr>
                <a:spLocks noChangeShapeType="1"/>
              </p:cNvSpPr>
              <p:nvPr/>
            </p:nvSpPr>
            <p:spPr bwMode="auto">
              <a:xfrm flipH="1">
                <a:off x="57" y="0"/>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21" name="Line 62"/>
              <p:cNvSpPr>
                <a:spLocks noChangeShapeType="1"/>
              </p:cNvSpPr>
              <p:nvPr/>
            </p:nvSpPr>
            <p:spPr bwMode="auto">
              <a:xfrm flipH="1">
                <a:off x="114" y="2"/>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22" name="Line 63"/>
              <p:cNvSpPr>
                <a:spLocks noChangeShapeType="1"/>
              </p:cNvSpPr>
              <p:nvPr/>
            </p:nvSpPr>
            <p:spPr bwMode="auto">
              <a:xfrm flipH="1">
                <a:off x="171" y="4"/>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23" name="Line 64"/>
              <p:cNvSpPr>
                <a:spLocks noChangeShapeType="1"/>
              </p:cNvSpPr>
              <p:nvPr/>
            </p:nvSpPr>
            <p:spPr bwMode="auto">
              <a:xfrm flipH="1">
                <a:off x="228" y="6"/>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24" name="Line 65"/>
              <p:cNvSpPr>
                <a:spLocks noChangeShapeType="1"/>
              </p:cNvSpPr>
              <p:nvPr/>
            </p:nvSpPr>
            <p:spPr bwMode="auto">
              <a:xfrm flipH="1">
                <a:off x="285" y="0"/>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25" name="Line 66"/>
              <p:cNvSpPr>
                <a:spLocks noChangeShapeType="1"/>
              </p:cNvSpPr>
              <p:nvPr/>
            </p:nvSpPr>
            <p:spPr bwMode="auto">
              <a:xfrm flipH="1">
                <a:off x="342" y="2"/>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26" name="Line 67"/>
              <p:cNvSpPr>
                <a:spLocks noChangeShapeType="1"/>
              </p:cNvSpPr>
              <p:nvPr/>
            </p:nvSpPr>
            <p:spPr bwMode="auto">
              <a:xfrm flipH="1">
                <a:off x="399" y="4"/>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grpSp>
        <p:grpSp>
          <p:nvGrpSpPr>
            <p:cNvPr id="15427" name="Group 68"/>
            <p:cNvGrpSpPr>
              <a:grpSpLocks/>
            </p:cNvGrpSpPr>
            <p:nvPr/>
          </p:nvGrpSpPr>
          <p:grpSpPr bwMode="auto">
            <a:xfrm>
              <a:off x="1852" y="1503"/>
              <a:ext cx="354" cy="206"/>
              <a:chOff x="0" y="0"/>
              <a:chExt cx="399" cy="247"/>
            </a:xfrm>
          </p:grpSpPr>
          <p:sp>
            <p:nvSpPr>
              <p:cNvPr id="15428" name="Line 69"/>
              <p:cNvSpPr>
                <a:spLocks noChangeShapeType="1"/>
              </p:cNvSpPr>
              <p:nvPr/>
            </p:nvSpPr>
            <p:spPr bwMode="auto">
              <a:xfrm flipH="1">
                <a:off x="0" y="6"/>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29" name="Line 70"/>
              <p:cNvSpPr>
                <a:spLocks noChangeShapeType="1"/>
              </p:cNvSpPr>
              <p:nvPr/>
            </p:nvSpPr>
            <p:spPr bwMode="auto">
              <a:xfrm flipH="1">
                <a:off x="57" y="0"/>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30" name="Line 71"/>
              <p:cNvSpPr>
                <a:spLocks noChangeShapeType="1"/>
              </p:cNvSpPr>
              <p:nvPr/>
            </p:nvSpPr>
            <p:spPr bwMode="auto">
              <a:xfrm flipH="1">
                <a:off x="114" y="2"/>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31" name="Line 72"/>
              <p:cNvSpPr>
                <a:spLocks noChangeShapeType="1"/>
              </p:cNvSpPr>
              <p:nvPr/>
            </p:nvSpPr>
            <p:spPr bwMode="auto">
              <a:xfrm flipH="1">
                <a:off x="171" y="4"/>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32" name="Line 73"/>
              <p:cNvSpPr>
                <a:spLocks noChangeShapeType="1"/>
              </p:cNvSpPr>
              <p:nvPr/>
            </p:nvSpPr>
            <p:spPr bwMode="auto">
              <a:xfrm flipH="1">
                <a:off x="228" y="6"/>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33" name="Line 74"/>
              <p:cNvSpPr>
                <a:spLocks noChangeShapeType="1"/>
              </p:cNvSpPr>
              <p:nvPr/>
            </p:nvSpPr>
            <p:spPr bwMode="auto">
              <a:xfrm flipH="1">
                <a:off x="285" y="0"/>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34" name="Line 75"/>
              <p:cNvSpPr>
                <a:spLocks noChangeShapeType="1"/>
              </p:cNvSpPr>
              <p:nvPr/>
            </p:nvSpPr>
            <p:spPr bwMode="auto">
              <a:xfrm flipH="1">
                <a:off x="342" y="2"/>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35" name="Line 76"/>
              <p:cNvSpPr>
                <a:spLocks noChangeShapeType="1"/>
              </p:cNvSpPr>
              <p:nvPr/>
            </p:nvSpPr>
            <p:spPr bwMode="auto">
              <a:xfrm flipH="1">
                <a:off x="399" y="4"/>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grpSp>
        <p:grpSp>
          <p:nvGrpSpPr>
            <p:cNvPr id="15436" name="Group 77"/>
            <p:cNvGrpSpPr>
              <a:grpSpLocks/>
            </p:cNvGrpSpPr>
            <p:nvPr/>
          </p:nvGrpSpPr>
          <p:grpSpPr bwMode="auto">
            <a:xfrm>
              <a:off x="438" y="1505"/>
              <a:ext cx="354" cy="207"/>
              <a:chOff x="0" y="0"/>
              <a:chExt cx="399" cy="247"/>
            </a:xfrm>
          </p:grpSpPr>
          <p:sp>
            <p:nvSpPr>
              <p:cNvPr id="15437" name="Line 78"/>
              <p:cNvSpPr>
                <a:spLocks noChangeShapeType="1"/>
              </p:cNvSpPr>
              <p:nvPr/>
            </p:nvSpPr>
            <p:spPr bwMode="auto">
              <a:xfrm flipH="1">
                <a:off x="0" y="6"/>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38" name="Line 79"/>
              <p:cNvSpPr>
                <a:spLocks noChangeShapeType="1"/>
              </p:cNvSpPr>
              <p:nvPr/>
            </p:nvSpPr>
            <p:spPr bwMode="auto">
              <a:xfrm flipH="1">
                <a:off x="57" y="0"/>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39" name="Line 80"/>
              <p:cNvSpPr>
                <a:spLocks noChangeShapeType="1"/>
              </p:cNvSpPr>
              <p:nvPr/>
            </p:nvSpPr>
            <p:spPr bwMode="auto">
              <a:xfrm flipH="1">
                <a:off x="114" y="2"/>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40" name="Line 81"/>
              <p:cNvSpPr>
                <a:spLocks noChangeShapeType="1"/>
              </p:cNvSpPr>
              <p:nvPr/>
            </p:nvSpPr>
            <p:spPr bwMode="auto">
              <a:xfrm flipH="1">
                <a:off x="171" y="4"/>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41" name="Line 82"/>
              <p:cNvSpPr>
                <a:spLocks noChangeShapeType="1"/>
              </p:cNvSpPr>
              <p:nvPr/>
            </p:nvSpPr>
            <p:spPr bwMode="auto">
              <a:xfrm flipH="1">
                <a:off x="228" y="6"/>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42" name="Line 83"/>
              <p:cNvSpPr>
                <a:spLocks noChangeShapeType="1"/>
              </p:cNvSpPr>
              <p:nvPr/>
            </p:nvSpPr>
            <p:spPr bwMode="auto">
              <a:xfrm flipH="1">
                <a:off x="285" y="0"/>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43" name="Line 84"/>
              <p:cNvSpPr>
                <a:spLocks noChangeShapeType="1"/>
              </p:cNvSpPr>
              <p:nvPr/>
            </p:nvSpPr>
            <p:spPr bwMode="auto">
              <a:xfrm flipH="1">
                <a:off x="342" y="2"/>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44" name="Line 85"/>
              <p:cNvSpPr>
                <a:spLocks noChangeShapeType="1"/>
              </p:cNvSpPr>
              <p:nvPr/>
            </p:nvSpPr>
            <p:spPr bwMode="auto">
              <a:xfrm flipH="1">
                <a:off x="399" y="4"/>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grpSp>
        <p:grpSp>
          <p:nvGrpSpPr>
            <p:cNvPr id="15445" name="Group 86"/>
            <p:cNvGrpSpPr>
              <a:grpSpLocks/>
            </p:cNvGrpSpPr>
            <p:nvPr/>
          </p:nvGrpSpPr>
          <p:grpSpPr bwMode="auto">
            <a:xfrm>
              <a:off x="2270" y="1505"/>
              <a:ext cx="354" cy="206"/>
              <a:chOff x="0" y="0"/>
              <a:chExt cx="399" cy="247"/>
            </a:xfrm>
          </p:grpSpPr>
          <p:sp>
            <p:nvSpPr>
              <p:cNvPr id="15446" name="Line 87"/>
              <p:cNvSpPr>
                <a:spLocks noChangeShapeType="1"/>
              </p:cNvSpPr>
              <p:nvPr/>
            </p:nvSpPr>
            <p:spPr bwMode="auto">
              <a:xfrm flipH="1">
                <a:off x="0" y="6"/>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47" name="Line 88"/>
              <p:cNvSpPr>
                <a:spLocks noChangeShapeType="1"/>
              </p:cNvSpPr>
              <p:nvPr/>
            </p:nvSpPr>
            <p:spPr bwMode="auto">
              <a:xfrm flipH="1">
                <a:off x="57" y="0"/>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48" name="Line 89"/>
              <p:cNvSpPr>
                <a:spLocks noChangeShapeType="1"/>
              </p:cNvSpPr>
              <p:nvPr/>
            </p:nvSpPr>
            <p:spPr bwMode="auto">
              <a:xfrm flipH="1">
                <a:off x="114" y="2"/>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49" name="Line 90"/>
              <p:cNvSpPr>
                <a:spLocks noChangeShapeType="1"/>
              </p:cNvSpPr>
              <p:nvPr/>
            </p:nvSpPr>
            <p:spPr bwMode="auto">
              <a:xfrm flipH="1">
                <a:off x="171" y="4"/>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50" name="Line 91"/>
              <p:cNvSpPr>
                <a:spLocks noChangeShapeType="1"/>
              </p:cNvSpPr>
              <p:nvPr/>
            </p:nvSpPr>
            <p:spPr bwMode="auto">
              <a:xfrm flipH="1">
                <a:off x="228" y="6"/>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51" name="Line 92"/>
              <p:cNvSpPr>
                <a:spLocks noChangeShapeType="1"/>
              </p:cNvSpPr>
              <p:nvPr/>
            </p:nvSpPr>
            <p:spPr bwMode="auto">
              <a:xfrm flipH="1">
                <a:off x="285" y="0"/>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52" name="Line 93"/>
              <p:cNvSpPr>
                <a:spLocks noChangeShapeType="1"/>
              </p:cNvSpPr>
              <p:nvPr/>
            </p:nvSpPr>
            <p:spPr bwMode="auto">
              <a:xfrm flipH="1">
                <a:off x="342" y="2"/>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53" name="Line 94"/>
              <p:cNvSpPr>
                <a:spLocks noChangeShapeType="1"/>
              </p:cNvSpPr>
              <p:nvPr/>
            </p:nvSpPr>
            <p:spPr bwMode="auto">
              <a:xfrm flipH="1">
                <a:off x="399" y="4"/>
                <a:ext cx="0" cy="241"/>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grpSp>
        <p:grpSp>
          <p:nvGrpSpPr>
            <p:cNvPr id="15454" name="Group 95"/>
            <p:cNvGrpSpPr>
              <a:grpSpLocks/>
            </p:cNvGrpSpPr>
            <p:nvPr/>
          </p:nvGrpSpPr>
          <p:grpSpPr bwMode="auto">
            <a:xfrm>
              <a:off x="67" y="413"/>
              <a:ext cx="381" cy="422"/>
              <a:chOff x="0" y="0"/>
              <a:chExt cx="429" cy="506"/>
            </a:xfrm>
          </p:grpSpPr>
          <p:sp>
            <p:nvSpPr>
              <p:cNvPr id="15455" name="Rectangle 96"/>
              <p:cNvSpPr>
                <a:spLocks noChangeArrowheads="1"/>
              </p:cNvSpPr>
              <p:nvPr/>
            </p:nvSpPr>
            <p:spPr bwMode="auto">
              <a:xfrm>
                <a:off x="16" y="0"/>
                <a:ext cx="382" cy="506"/>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b="1">
                  <a:latin typeface="Times New Roman" panose="02020603050405020304" pitchFamily="18" charset="0"/>
                </a:endParaRPr>
              </a:p>
            </p:txBody>
          </p:sp>
          <p:sp>
            <p:nvSpPr>
              <p:cNvPr id="15456" name="Text Box 97"/>
              <p:cNvSpPr txBox="1">
                <a:spLocks noChangeArrowheads="1"/>
              </p:cNvSpPr>
              <p:nvPr/>
            </p:nvSpPr>
            <p:spPr bwMode="auto">
              <a:xfrm>
                <a:off x="0" y="114"/>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zh-CN" sz="1400" b="1">
                    <a:solidFill>
                      <a:schemeClr val="bg1"/>
                    </a:solidFill>
                    <a:latin typeface="Arial" panose="020B0604020202020204" pitchFamily="34" charset="0"/>
                  </a:rPr>
                  <a:t>RAM</a:t>
                </a:r>
                <a:endParaRPr lang="zh-CN" altLang="zh-CN" b="1">
                  <a:latin typeface="Times New Roman" panose="02020603050405020304" pitchFamily="18" charset="0"/>
                </a:endParaRPr>
              </a:p>
            </p:txBody>
          </p:sp>
        </p:grpSp>
        <p:grpSp>
          <p:nvGrpSpPr>
            <p:cNvPr id="15457" name="Group 98"/>
            <p:cNvGrpSpPr>
              <a:grpSpLocks/>
            </p:cNvGrpSpPr>
            <p:nvPr/>
          </p:nvGrpSpPr>
          <p:grpSpPr bwMode="auto">
            <a:xfrm>
              <a:off x="70" y="935"/>
              <a:ext cx="380" cy="421"/>
              <a:chOff x="0" y="0"/>
              <a:chExt cx="429" cy="506"/>
            </a:xfrm>
          </p:grpSpPr>
          <p:sp>
            <p:nvSpPr>
              <p:cNvPr id="15458" name="Rectangle 99"/>
              <p:cNvSpPr>
                <a:spLocks noChangeArrowheads="1"/>
              </p:cNvSpPr>
              <p:nvPr/>
            </p:nvSpPr>
            <p:spPr bwMode="auto">
              <a:xfrm>
                <a:off x="16" y="0"/>
                <a:ext cx="382" cy="506"/>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b="1">
                  <a:latin typeface="Times New Roman" panose="02020603050405020304" pitchFamily="18" charset="0"/>
                </a:endParaRPr>
              </a:p>
            </p:txBody>
          </p:sp>
          <p:sp>
            <p:nvSpPr>
              <p:cNvPr id="15459" name="Text Box 100"/>
              <p:cNvSpPr txBox="1">
                <a:spLocks noChangeArrowheads="1"/>
              </p:cNvSpPr>
              <p:nvPr/>
            </p:nvSpPr>
            <p:spPr bwMode="auto">
              <a:xfrm>
                <a:off x="0" y="116"/>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zh-CN" sz="1400" b="1">
                    <a:solidFill>
                      <a:schemeClr val="bg1"/>
                    </a:solidFill>
                    <a:latin typeface="Arial" panose="020B0604020202020204" pitchFamily="34" charset="0"/>
                  </a:rPr>
                  <a:t>RAM</a:t>
                </a:r>
                <a:endParaRPr lang="zh-CN" altLang="zh-CN" b="1">
                  <a:latin typeface="Times New Roman" panose="02020603050405020304" pitchFamily="18" charset="0"/>
                </a:endParaRPr>
              </a:p>
            </p:txBody>
          </p:sp>
        </p:grpSp>
        <p:sp>
          <p:nvSpPr>
            <p:cNvPr id="15460" name="Line 101"/>
            <p:cNvSpPr>
              <a:spLocks noChangeShapeType="1"/>
            </p:cNvSpPr>
            <p:nvPr/>
          </p:nvSpPr>
          <p:spPr bwMode="auto">
            <a:xfrm>
              <a:off x="426" y="945"/>
              <a:ext cx="0" cy="41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61" name="Line 102"/>
            <p:cNvSpPr>
              <a:spLocks noChangeShapeType="1"/>
            </p:cNvSpPr>
            <p:nvPr/>
          </p:nvSpPr>
          <p:spPr bwMode="auto">
            <a:xfrm>
              <a:off x="76" y="946"/>
              <a:ext cx="0" cy="416"/>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62" name="Line 103"/>
            <p:cNvSpPr>
              <a:spLocks noChangeShapeType="1"/>
            </p:cNvSpPr>
            <p:nvPr/>
          </p:nvSpPr>
          <p:spPr bwMode="auto">
            <a:xfrm>
              <a:off x="78" y="416"/>
              <a:ext cx="0" cy="41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63" name="Line 104"/>
            <p:cNvSpPr>
              <a:spLocks noChangeShapeType="1"/>
            </p:cNvSpPr>
            <p:nvPr/>
          </p:nvSpPr>
          <p:spPr bwMode="auto">
            <a:xfrm>
              <a:off x="419" y="418"/>
              <a:ext cx="0" cy="416"/>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grpSp>
          <p:nvGrpSpPr>
            <p:cNvPr id="15464" name="Group 105"/>
            <p:cNvGrpSpPr>
              <a:grpSpLocks/>
            </p:cNvGrpSpPr>
            <p:nvPr/>
          </p:nvGrpSpPr>
          <p:grpSpPr bwMode="auto">
            <a:xfrm rot="-5400000">
              <a:off x="947" y="714"/>
              <a:ext cx="321" cy="540"/>
              <a:chOff x="0" y="0"/>
              <a:chExt cx="386" cy="506"/>
            </a:xfrm>
          </p:grpSpPr>
          <p:sp>
            <p:nvSpPr>
              <p:cNvPr id="15465" name="Rectangle 106"/>
              <p:cNvSpPr>
                <a:spLocks noChangeArrowheads="1"/>
              </p:cNvSpPr>
              <p:nvPr/>
            </p:nvSpPr>
            <p:spPr bwMode="auto">
              <a:xfrm>
                <a:off x="4" y="0"/>
                <a:ext cx="382" cy="506"/>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b="1">
                  <a:latin typeface="Times New Roman" panose="02020603050405020304" pitchFamily="18" charset="0"/>
                </a:endParaRPr>
              </a:p>
            </p:txBody>
          </p:sp>
          <p:sp>
            <p:nvSpPr>
              <p:cNvPr id="15466" name="Line 107"/>
              <p:cNvSpPr>
                <a:spLocks noChangeShapeType="1"/>
              </p:cNvSpPr>
              <p:nvPr/>
            </p:nvSpPr>
            <p:spPr bwMode="auto">
              <a:xfrm>
                <a:off x="0" y="3"/>
                <a:ext cx="0" cy="499"/>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67" name="Line 108"/>
              <p:cNvSpPr>
                <a:spLocks noChangeShapeType="1"/>
              </p:cNvSpPr>
              <p:nvPr/>
            </p:nvSpPr>
            <p:spPr bwMode="auto">
              <a:xfrm>
                <a:off x="385" y="6"/>
                <a:ext cx="0" cy="499"/>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grpSp>
        <p:grpSp>
          <p:nvGrpSpPr>
            <p:cNvPr id="15468" name="Group 109"/>
            <p:cNvGrpSpPr>
              <a:grpSpLocks/>
            </p:cNvGrpSpPr>
            <p:nvPr/>
          </p:nvGrpSpPr>
          <p:grpSpPr bwMode="auto">
            <a:xfrm rot="-5400000">
              <a:off x="1833" y="320"/>
              <a:ext cx="478" cy="539"/>
              <a:chOff x="0" y="0"/>
              <a:chExt cx="386" cy="506"/>
            </a:xfrm>
          </p:grpSpPr>
          <p:sp>
            <p:nvSpPr>
              <p:cNvPr id="15469" name="Rectangle 110"/>
              <p:cNvSpPr>
                <a:spLocks noChangeArrowheads="1"/>
              </p:cNvSpPr>
              <p:nvPr/>
            </p:nvSpPr>
            <p:spPr bwMode="auto">
              <a:xfrm>
                <a:off x="4" y="0"/>
                <a:ext cx="382" cy="506"/>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b="1">
                  <a:latin typeface="Times New Roman" panose="02020603050405020304" pitchFamily="18" charset="0"/>
                </a:endParaRPr>
              </a:p>
            </p:txBody>
          </p:sp>
          <p:sp>
            <p:nvSpPr>
              <p:cNvPr id="15470" name="Line 111"/>
              <p:cNvSpPr>
                <a:spLocks noChangeShapeType="1"/>
              </p:cNvSpPr>
              <p:nvPr/>
            </p:nvSpPr>
            <p:spPr bwMode="auto">
              <a:xfrm>
                <a:off x="0" y="3"/>
                <a:ext cx="0" cy="499"/>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71" name="Line 112"/>
              <p:cNvSpPr>
                <a:spLocks noChangeShapeType="1"/>
              </p:cNvSpPr>
              <p:nvPr/>
            </p:nvSpPr>
            <p:spPr bwMode="auto">
              <a:xfrm>
                <a:off x="385" y="6"/>
                <a:ext cx="0" cy="499"/>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grpSp>
        <p:grpSp>
          <p:nvGrpSpPr>
            <p:cNvPr id="15472" name="Group 113"/>
            <p:cNvGrpSpPr>
              <a:grpSpLocks/>
            </p:cNvGrpSpPr>
            <p:nvPr/>
          </p:nvGrpSpPr>
          <p:grpSpPr bwMode="auto">
            <a:xfrm rot="-5400000">
              <a:off x="2238" y="559"/>
              <a:ext cx="333" cy="123"/>
              <a:chOff x="0" y="0"/>
              <a:chExt cx="399" cy="247"/>
            </a:xfrm>
          </p:grpSpPr>
          <p:sp>
            <p:nvSpPr>
              <p:cNvPr id="15473" name="Line 114"/>
              <p:cNvSpPr>
                <a:spLocks noChangeShapeType="1"/>
              </p:cNvSpPr>
              <p:nvPr/>
            </p:nvSpPr>
            <p:spPr bwMode="auto">
              <a:xfrm flipH="1">
                <a:off x="0" y="6"/>
                <a:ext cx="0" cy="24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74" name="Line 115"/>
              <p:cNvSpPr>
                <a:spLocks noChangeShapeType="1"/>
              </p:cNvSpPr>
              <p:nvPr/>
            </p:nvSpPr>
            <p:spPr bwMode="auto">
              <a:xfrm flipH="1">
                <a:off x="57" y="0"/>
                <a:ext cx="0" cy="24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75" name="Line 116"/>
              <p:cNvSpPr>
                <a:spLocks noChangeShapeType="1"/>
              </p:cNvSpPr>
              <p:nvPr/>
            </p:nvSpPr>
            <p:spPr bwMode="auto">
              <a:xfrm flipH="1">
                <a:off x="114" y="2"/>
                <a:ext cx="0" cy="24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76" name="Line 117"/>
              <p:cNvSpPr>
                <a:spLocks noChangeShapeType="1"/>
              </p:cNvSpPr>
              <p:nvPr/>
            </p:nvSpPr>
            <p:spPr bwMode="auto">
              <a:xfrm flipH="1">
                <a:off x="171" y="4"/>
                <a:ext cx="0" cy="24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77" name="Line 118"/>
              <p:cNvSpPr>
                <a:spLocks noChangeShapeType="1"/>
              </p:cNvSpPr>
              <p:nvPr/>
            </p:nvSpPr>
            <p:spPr bwMode="auto">
              <a:xfrm flipH="1">
                <a:off x="228" y="6"/>
                <a:ext cx="0" cy="24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78" name="Line 119"/>
              <p:cNvSpPr>
                <a:spLocks noChangeShapeType="1"/>
              </p:cNvSpPr>
              <p:nvPr/>
            </p:nvSpPr>
            <p:spPr bwMode="auto">
              <a:xfrm flipH="1">
                <a:off x="285" y="0"/>
                <a:ext cx="0" cy="24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79" name="Line 120"/>
              <p:cNvSpPr>
                <a:spLocks noChangeShapeType="1"/>
              </p:cNvSpPr>
              <p:nvPr/>
            </p:nvSpPr>
            <p:spPr bwMode="auto">
              <a:xfrm flipH="1">
                <a:off x="342" y="2"/>
                <a:ext cx="0" cy="24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80" name="Line 121"/>
              <p:cNvSpPr>
                <a:spLocks noChangeShapeType="1"/>
              </p:cNvSpPr>
              <p:nvPr/>
            </p:nvSpPr>
            <p:spPr bwMode="auto">
              <a:xfrm flipH="1">
                <a:off x="399" y="4"/>
                <a:ext cx="0" cy="24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grpSp>
        <p:sp>
          <p:nvSpPr>
            <p:cNvPr id="15481" name="Text Box 122"/>
            <p:cNvSpPr txBox="1">
              <a:spLocks noChangeArrowheads="1"/>
            </p:cNvSpPr>
            <p:nvPr/>
          </p:nvSpPr>
          <p:spPr bwMode="auto">
            <a:xfrm>
              <a:off x="883" y="919"/>
              <a:ext cx="5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zh-CN" sz="1400" b="1">
                  <a:solidFill>
                    <a:schemeClr val="bg1"/>
                  </a:solidFill>
                  <a:latin typeface="Arial" panose="020B0604020202020204" pitchFamily="34" charset="0"/>
                </a:rPr>
                <a:t>ROM</a:t>
              </a:r>
            </a:p>
          </p:txBody>
        </p:sp>
        <p:sp>
          <p:nvSpPr>
            <p:cNvPr id="15482" name="Text Box 123"/>
            <p:cNvSpPr txBox="1">
              <a:spLocks noChangeArrowheads="1"/>
            </p:cNvSpPr>
            <p:nvPr/>
          </p:nvSpPr>
          <p:spPr bwMode="auto">
            <a:xfrm>
              <a:off x="1776" y="440"/>
              <a:ext cx="68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zh-CN" sz="1400" b="1">
                  <a:solidFill>
                    <a:schemeClr val="bg1"/>
                  </a:solidFill>
                  <a:latin typeface="Arial" panose="020B0604020202020204" pitchFamily="34" charset="0"/>
                </a:rPr>
                <a:t>Ethernet Processor</a:t>
              </a:r>
              <a:endParaRPr lang="zh-CN" altLang="zh-CN" sz="1600" b="1">
                <a:latin typeface="Arial" panose="020B0604020202020204" pitchFamily="34" charset="0"/>
              </a:endParaRPr>
            </a:p>
          </p:txBody>
        </p:sp>
        <p:cxnSp>
          <p:nvCxnSpPr>
            <p:cNvPr id="15483" name="AutoShape 124"/>
            <p:cNvCxnSpPr>
              <a:cxnSpLocks noChangeShapeType="1"/>
            </p:cNvCxnSpPr>
            <p:nvPr/>
          </p:nvCxnSpPr>
          <p:spPr bwMode="auto">
            <a:xfrm rot="10800000" flipV="1">
              <a:off x="3412" y="683"/>
              <a:ext cx="373" cy="204"/>
            </a:xfrm>
            <a:prstGeom prst="curvedConnector3">
              <a:avLst>
                <a:gd name="adj1" fmla="val 50000"/>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484" name="Text Box 125"/>
            <p:cNvSpPr txBox="1">
              <a:spLocks noChangeArrowheads="1"/>
            </p:cNvSpPr>
            <p:nvPr/>
          </p:nvSpPr>
          <p:spPr bwMode="auto">
            <a:xfrm>
              <a:off x="491" y="0"/>
              <a:ext cx="7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zh-CN" sz="1800" b="1">
                  <a:latin typeface="Times New Roman" panose="02020603050405020304" pitchFamily="18" charset="0"/>
                </a:rPr>
                <a:t>（b）</a:t>
              </a:r>
            </a:p>
          </p:txBody>
        </p:sp>
      </p:grpSp>
      <p:sp>
        <p:nvSpPr>
          <p:cNvPr id="15485" name="Text Box 126"/>
          <p:cNvSpPr txBox="1">
            <a:spLocks noChangeArrowheads="1"/>
          </p:cNvSpPr>
          <p:nvPr/>
        </p:nvSpPr>
        <p:spPr bwMode="auto">
          <a:xfrm>
            <a:off x="9309100" y="6454776"/>
            <a:ext cx="184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endParaRPr lang="zh-CN" altLang="zh-CN" sz="1000" b="1">
              <a:latin typeface="Times New Roman" panose="02020603050405020304" pitchFamily="18" charset="0"/>
            </a:endParaRPr>
          </a:p>
        </p:txBody>
      </p:sp>
      <p:graphicFrame>
        <p:nvGraphicFramePr>
          <p:cNvPr id="15486" name="Object 127"/>
          <p:cNvGraphicFramePr>
            <a:graphicFrameLocks noChangeAspect="1"/>
          </p:cNvGraphicFramePr>
          <p:nvPr/>
        </p:nvGraphicFramePr>
        <p:xfrm>
          <a:off x="4687889" y="1196976"/>
          <a:ext cx="4306887" cy="2301875"/>
        </p:xfrm>
        <a:graphic>
          <a:graphicData uri="http://schemas.openxmlformats.org/presentationml/2006/ole">
            <mc:AlternateContent xmlns:mc="http://schemas.openxmlformats.org/markup-compatibility/2006">
              <mc:Choice xmlns:v="urn:schemas-microsoft-com:vml" Requires="v">
                <p:oleObj spid="_x0000_s15647" r:id="rId3" imgW="4953021" imgH="2658126" progId="MS_ClipArt_Gallery.2">
                  <p:embed/>
                </p:oleObj>
              </mc:Choice>
              <mc:Fallback>
                <p:oleObj r:id="rId3" imgW="4953021" imgH="2658126" progId="MS_ClipArt_Gallery.2">
                  <p:embed/>
                  <p:pic>
                    <p:nvPicPr>
                      <p:cNvPr id="0" name="Object 1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7889" y="1196976"/>
                        <a:ext cx="4306887" cy="230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487" name="Line 128"/>
          <p:cNvSpPr>
            <a:spLocks noChangeShapeType="1"/>
          </p:cNvSpPr>
          <p:nvPr/>
        </p:nvSpPr>
        <p:spPr bwMode="auto">
          <a:xfrm>
            <a:off x="4702175" y="2395538"/>
            <a:ext cx="44640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
        <p:nvSpPr>
          <p:cNvPr id="15488" name="Line 129"/>
          <p:cNvSpPr>
            <a:spLocks noChangeShapeType="1"/>
          </p:cNvSpPr>
          <p:nvPr/>
        </p:nvSpPr>
        <p:spPr bwMode="auto">
          <a:xfrm>
            <a:off x="8339138" y="2025650"/>
            <a:ext cx="0" cy="369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latin typeface="Times New Roman" panose="02020603050405020304" pitchFamily="18" charset="0"/>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idx="4294967295"/>
          </p:nvPr>
        </p:nvSpPr>
        <p:spPr>
          <a:xfrm>
            <a:off x="2934586" y="236755"/>
            <a:ext cx="5700713" cy="579438"/>
          </a:xfrm>
        </p:spPr>
        <p:txBody>
          <a:bodyPr>
            <a:normAutofit fontScale="90000"/>
          </a:bodyPr>
          <a:lstStyle/>
          <a:p>
            <a:pPr algn="ctr" eaLnBrk="1" hangingPunct="1"/>
            <a:r>
              <a:rPr lang="zh-CN" altLang="zh-CN" sz="4400">
                <a:ea typeface="华文楷体" panose="02010600040101010101" pitchFamily="2" charset="-122"/>
              </a:rPr>
              <a:t>局域网组成</a:t>
            </a:r>
            <a:r>
              <a:rPr lang="zh-CN" altLang="zh-CN" sz="4400">
                <a:latin typeface="新宋体" panose="02010609030101010101" pitchFamily="49" charset="-122"/>
                <a:ea typeface="华文楷体" panose="02010600040101010101" pitchFamily="2" charset="-122"/>
              </a:rPr>
              <a:t>（硬件）</a:t>
            </a:r>
          </a:p>
        </p:txBody>
      </p:sp>
      <p:sp>
        <p:nvSpPr>
          <p:cNvPr id="16387" name="Text Box 3"/>
          <p:cNvSpPr txBox="1">
            <a:spLocks noChangeArrowheads="1"/>
          </p:cNvSpPr>
          <p:nvPr/>
        </p:nvSpPr>
        <p:spPr bwMode="auto">
          <a:xfrm>
            <a:off x="2058987" y="1471613"/>
            <a:ext cx="8074025" cy="4278094"/>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5738" indent="-185738">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folHlink"/>
              </a:buClr>
              <a:buFont typeface="Arial" panose="020B0604020202020204" pitchFamily="34" charset="0"/>
              <a:buChar char="•"/>
            </a:pPr>
            <a:r>
              <a:rPr lang="zh-CN" altLang="zh-CN">
                <a:solidFill>
                  <a:srgbClr val="000099"/>
                </a:solidFill>
                <a:latin typeface="华文楷体" panose="02010600040101010101" pitchFamily="2" charset="-122"/>
                <a:ea typeface="华文楷体" panose="02010600040101010101" pitchFamily="2" charset="-122"/>
              </a:rPr>
              <a:t>计算机：</a:t>
            </a:r>
            <a:r>
              <a:rPr lang="zh-CN" altLang="zh-CN" sz="2400">
                <a:solidFill>
                  <a:schemeClr val="accent1"/>
                </a:solidFill>
                <a:latin typeface="华文楷体" panose="02010600040101010101" pitchFamily="2" charset="-122"/>
                <a:ea typeface="华文楷体" panose="02010600040101010101" pitchFamily="2" charset="-122"/>
              </a:rPr>
              <a:t>服务器、工作站（有盘、无盘）</a:t>
            </a:r>
          </a:p>
          <a:p>
            <a:pPr algn="just">
              <a:spcBef>
                <a:spcPct val="20000"/>
              </a:spcBef>
              <a:buClr>
                <a:schemeClr val="folHlink"/>
              </a:buClr>
              <a:buFont typeface="Arial" panose="020B0604020202020204" pitchFamily="34" charset="0"/>
              <a:buChar char="•"/>
            </a:pPr>
            <a:r>
              <a:rPr lang="zh-CN" altLang="zh-CN">
                <a:solidFill>
                  <a:srgbClr val="000099"/>
                </a:solidFill>
                <a:latin typeface="华文楷体" panose="02010600040101010101" pitchFamily="2" charset="-122"/>
                <a:ea typeface="华文楷体" panose="02010600040101010101" pitchFamily="2" charset="-122"/>
              </a:rPr>
              <a:t>网络适配器（网卡）</a:t>
            </a:r>
          </a:p>
          <a:p>
            <a:pPr algn="just">
              <a:spcBef>
                <a:spcPct val="20000"/>
              </a:spcBef>
              <a:buClr>
                <a:schemeClr val="folHlink"/>
              </a:buClr>
              <a:buFont typeface="Arial" panose="020B0604020202020204" pitchFamily="34" charset="0"/>
              <a:buChar char="•"/>
            </a:pPr>
            <a:r>
              <a:rPr lang="zh-CN" altLang="zh-CN">
                <a:solidFill>
                  <a:srgbClr val="000099"/>
                </a:solidFill>
                <a:latin typeface="华文楷体" panose="02010600040101010101" pitchFamily="2" charset="-122"/>
                <a:ea typeface="华文楷体" panose="02010600040101010101" pitchFamily="2" charset="-122"/>
              </a:rPr>
              <a:t>网络互连设备</a:t>
            </a:r>
            <a:r>
              <a:rPr lang="zh-CN" altLang="zh-CN">
                <a:solidFill>
                  <a:schemeClr val="accent1"/>
                </a:solidFill>
                <a:latin typeface="华文楷体" panose="02010600040101010101" pitchFamily="2" charset="-122"/>
                <a:ea typeface="华文楷体" panose="02010600040101010101" pitchFamily="2" charset="-122"/>
              </a:rPr>
              <a:t>（中继器、集线器、网桥、交换机、路由器、网关、访问服务器等）</a:t>
            </a:r>
          </a:p>
          <a:p>
            <a:pPr lvl="1" algn="just">
              <a:spcBef>
                <a:spcPct val="20000"/>
              </a:spcBef>
              <a:buClr>
                <a:schemeClr val="folHlink"/>
              </a:buClr>
              <a:buFont typeface="Arial" panose="020B0604020202020204" pitchFamily="34" charset="0"/>
              <a:buChar char="–"/>
            </a:pPr>
            <a:r>
              <a:rPr lang="zh-CN" altLang="zh-CN" sz="2400">
                <a:solidFill>
                  <a:schemeClr val="accent1"/>
                </a:solidFill>
                <a:latin typeface="华文楷体" panose="02010600040101010101" pitchFamily="2" charset="-122"/>
                <a:ea typeface="华文楷体" panose="02010600040101010101" pitchFamily="2" charset="-122"/>
              </a:rPr>
              <a:t>LAN：中继器、HUB、网桥、交换机</a:t>
            </a:r>
          </a:p>
          <a:p>
            <a:pPr lvl="1" algn="just">
              <a:spcBef>
                <a:spcPct val="20000"/>
              </a:spcBef>
              <a:buClr>
                <a:schemeClr val="folHlink"/>
              </a:buClr>
              <a:buFont typeface="Arial" panose="020B0604020202020204" pitchFamily="34" charset="0"/>
              <a:buChar char="–"/>
            </a:pPr>
            <a:r>
              <a:rPr lang="zh-CN" altLang="zh-CN" sz="2400">
                <a:solidFill>
                  <a:schemeClr val="accent1"/>
                </a:solidFill>
                <a:latin typeface="华文楷体" panose="02010600040101010101" pitchFamily="2" charset="-122"/>
                <a:ea typeface="华文楷体" panose="02010600040101010101" pitchFamily="2" charset="-122"/>
              </a:rPr>
              <a:t>WAN或 LAN-WAN：路由器</a:t>
            </a:r>
          </a:p>
          <a:p>
            <a:pPr lvl="1" algn="just">
              <a:spcBef>
                <a:spcPct val="20000"/>
              </a:spcBef>
              <a:buClr>
                <a:schemeClr val="folHlink"/>
              </a:buClr>
              <a:buFont typeface="Arial" panose="020B0604020202020204" pitchFamily="34" charset="0"/>
              <a:buChar char="–"/>
            </a:pPr>
            <a:r>
              <a:rPr lang="zh-CN" altLang="zh-CN" sz="2400">
                <a:solidFill>
                  <a:schemeClr val="accent1"/>
                </a:solidFill>
                <a:latin typeface="华文楷体" panose="02010600040101010101" pitchFamily="2" charset="-122"/>
                <a:ea typeface="华文楷体" panose="02010600040101010101" pitchFamily="2" charset="-122"/>
              </a:rPr>
              <a:t>不同协议系统之间互连：Gateway</a:t>
            </a:r>
            <a:r>
              <a:rPr lang="zh-CN" altLang="zh-CN" sz="2000">
                <a:solidFill>
                  <a:schemeClr val="accent1"/>
                </a:solidFill>
                <a:latin typeface="华文楷体" panose="02010600040101010101" pitchFamily="2" charset="-122"/>
                <a:ea typeface="华文楷体" panose="02010600040101010101" pitchFamily="2" charset="-122"/>
              </a:rPr>
              <a:t>（如以太网与NOVELL网）</a:t>
            </a:r>
          </a:p>
          <a:p>
            <a:pPr lvl="1" algn="just">
              <a:spcBef>
                <a:spcPct val="20000"/>
              </a:spcBef>
              <a:buClr>
                <a:schemeClr val="folHlink"/>
              </a:buClr>
              <a:buFont typeface="Arial" panose="020B0604020202020204" pitchFamily="34" charset="0"/>
              <a:buChar char="–"/>
            </a:pPr>
            <a:r>
              <a:rPr lang="zh-CN" altLang="zh-CN" sz="2400">
                <a:solidFill>
                  <a:schemeClr val="accent1"/>
                </a:solidFill>
                <a:latin typeface="华文楷体" panose="02010600040101010101" pitchFamily="2" charset="-122"/>
                <a:ea typeface="华文楷体" panose="02010600040101010101" pitchFamily="2" charset="-122"/>
              </a:rPr>
              <a:t>拨号上网：访问服务器</a:t>
            </a:r>
          </a:p>
          <a:p>
            <a:pPr algn="just">
              <a:spcBef>
                <a:spcPct val="20000"/>
              </a:spcBef>
              <a:buClr>
                <a:schemeClr val="folHlink"/>
              </a:buClr>
              <a:buFont typeface="Arial" panose="020B0604020202020204" pitchFamily="34" charset="0"/>
              <a:buChar char="•"/>
            </a:pPr>
            <a:r>
              <a:rPr lang="zh-CN" altLang="zh-CN">
                <a:solidFill>
                  <a:srgbClr val="000099"/>
                </a:solidFill>
                <a:latin typeface="华文楷体" panose="02010600040101010101" pitchFamily="2" charset="-122"/>
                <a:ea typeface="华文楷体" panose="02010600040101010101" pitchFamily="2" charset="-122"/>
              </a:rPr>
              <a:t>网络电缆及其附属设备</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 calcmode="lin" valueType="num">
                                      <p:cBhvr additive="base">
                                        <p:cTn id="19" dur="500" fill="hold"/>
                                        <p:tgtEl>
                                          <p:spTgt spid="163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6387">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6387">
                                            <p:txEl>
                                              <p:pRg st="3" end="3"/>
                                            </p:txEl>
                                          </p:spTgt>
                                        </p:tgtEl>
                                        <p:attrNameLst>
                                          <p:attrName>style.visibility</p:attrName>
                                        </p:attrNameLst>
                                      </p:cBhvr>
                                      <p:to>
                                        <p:strVal val="visible"/>
                                      </p:to>
                                    </p:set>
                                    <p:anim calcmode="lin" valueType="num">
                                      <p:cBhvr additive="base">
                                        <p:cTn id="23" dur="500" fill="hold"/>
                                        <p:tgtEl>
                                          <p:spTgt spid="16387">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387">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6387">
                                            <p:txEl>
                                              <p:pRg st="4" end="4"/>
                                            </p:txEl>
                                          </p:spTgt>
                                        </p:tgtEl>
                                        <p:attrNameLst>
                                          <p:attrName>style.visibility</p:attrName>
                                        </p:attrNameLst>
                                      </p:cBhvr>
                                      <p:to>
                                        <p:strVal val="visible"/>
                                      </p:to>
                                    </p:set>
                                    <p:anim calcmode="lin" valueType="num">
                                      <p:cBhvr additive="base">
                                        <p:cTn id="27" dur="500" fill="hold"/>
                                        <p:tgtEl>
                                          <p:spTgt spid="16387">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387">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6387">
                                            <p:txEl>
                                              <p:pRg st="5" end="5"/>
                                            </p:txEl>
                                          </p:spTgt>
                                        </p:tgtEl>
                                        <p:attrNameLst>
                                          <p:attrName>style.visibility</p:attrName>
                                        </p:attrNameLst>
                                      </p:cBhvr>
                                      <p:to>
                                        <p:strVal val="visible"/>
                                      </p:to>
                                    </p:set>
                                    <p:anim calcmode="lin" valueType="num">
                                      <p:cBhvr additive="base">
                                        <p:cTn id="31" dur="500" fill="hold"/>
                                        <p:tgtEl>
                                          <p:spTgt spid="16387">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38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6387">
                                            <p:txEl>
                                              <p:pRg st="6" end="6"/>
                                            </p:txEl>
                                          </p:spTgt>
                                        </p:tgtEl>
                                        <p:attrNameLst>
                                          <p:attrName>style.visibility</p:attrName>
                                        </p:attrNameLst>
                                      </p:cBhvr>
                                      <p:to>
                                        <p:strVal val="visible"/>
                                      </p:to>
                                    </p:set>
                                    <p:anim calcmode="lin" valueType="num">
                                      <p:cBhvr additive="base">
                                        <p:cTn id="35" dur="500" fill="hold"/>
                                        <p:tgtEl>
                                          <p:spTgt spid="1638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638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6387">
                                            <p:txEl>
                                              <p:pRg st="7" end="7"/>
                                            </p:txEl>
                                          </p:spTgt>
                                        </p:tgtEl>
                                        <p:attrNameLst>
                                          <p:attrName>style.visibility</p:attrName>
                                        </p:attrNameLst>
                                      </p:cBhvr>
                                      <p:to>
                                        <p:strVal val="visible"/>
                                      </p:to>
                                    </p:set>
                                    <p:anim calcmode="lin" valueType="num">
                                      <p:cBhvr additive="base">
                                        <p:cTn id="41" dur="500" fill="hold"/>
                                        <p:tgtEl>
                                          <p:spTgt spid="16387">
                                            <p:txEl>
                                              <p:pRg st="7" end="7"/>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638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idx="4294967295"/>
          </p:nvPr>
        </p:nvSpPr>
        <p:spPr>
          <a:xfrm>
            <a:off x="4316818" y="309561"/>
            <a:ext cx="4224338" cy="560388"/>
          </a:xfrm>
        </p:spPr>
        <p:txBody>
          <a:bodyPr>
            <a:normAutofit fontScale="90000"/>
          </a:bodyPr>
          <a:lstStyle/>
          <a:p>
            <a:pPr algn="ctr" eaLnBrk="1" hangingPunct="1"/>
            <a:r>
              <a:rPr lang="zh-CN" altLang="zh-CN" sz="4400">
                <a:ea typeface="华文楷体" panose="02010600040101010101" pitchFamily="2" charset="-122"/>
              </a:rPr>
              <a:t>服务器</a:t>
            </a:r>
            <a:endParaRPr lang="zh-CN" altLang="zh-CN" sz="3600" b="0">
              <a:solidFill>
                <a:srgbClr val="CC3300"/>
              </a:solidFill>
              <a:latin typeface="新宋体" panose="02010609030101010101" pitchFamily="49" charset="-122"/>
              <a:ea typeface="新宋体" panose="02010609030101010101" pitchFamily="49" charset="-122"/>
            </a:endParaRPr>
          </a:p>
        </p:txBody>
      </p:sp>
      <p:sp>
        <p:nvSpPr>
          <p:cNvPr id="17411" name="Text Box 3"/>
          <p:cNvSpPr txBox="1">
            <a:spLocks noChangeArrowheads="1"/>
          </p:cNvSpPr>
          <p:nvPr/>
        </p:nvSpPr>
        <p:spPr bwMode="auto">
          <a:xfrm>
            <a:off x="4189412" y="3429000"/>
            <a:ext cx="3813175" cy="2898775"/>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76263" indent="-200025">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gn="just">
              <a:spcBef>
                <a:spcPct val="10000"/>
              </a:spcBef>
              <a:buClr>
                <a:schemeClr val="folHlink"/>
              </a:buClr>
              <a:buFont typeface="Arial" panose="020B0604020202020204" pitchFamily="34" charset="0"/>
              <a:buChar char="•"/>
            </a:pPr>
            <a:r>
              <a:rPr lang="zh-CN" altLang="zh-CN" sz="2400">
                <a:solidFill>
                  <a:schemeClr val="accent1"/>
                </a:solidFill>
                <a:latin typeface="华文楷体" panose="02010600040101010101" pitchFamily="2" charset="-122"/>
                <a:ea typeface="华文楷体" panose="02010600040101010101" pitchFamily="2" charset="-122"/>
              </a:rPr>
              <a:t>Web服务器</a:t>
            </a:r>
          </a:p>
          <a:p>
            <a:pPr algn="just">
              <a:spcBef>
                <a:spcPct val="10000"/>
              </a:spcBef>
              <a:buClr>
                <a:schemeClr val="folHlink"/>
              </a:buClr>
              <a:buFont typeface="Arial" panose="020B0604020202020204" pitchFamily="34" charset="0"/>
              <a:buChar char="•"/>
            </a:pPr>
            <a:r>
              <a:rPr lang="zh-CN" altLang="zh-CN" sz="2400">
                <a:solidFill>
                  <a:schemeClr val="accent1"/>
                </a:solidFill>
                <a:latin typeface="华文楷体" panose="02010600040101010101" pitchFamily="2" charset="-122"/>
                <a:ea typeface="华文楷体" panose="02010600040101010101" pitchFamily="2" charset="-122"/>
              </a:rPr>
              <a:t>电子邮件服务器</a:t>
            </a:r>
          </a:p>
          <a:p>
            <a:pPr algn="just">
              <a:spcBef>
                <a:spcPct val="10000"/>
              </a:spcBef>
              <a:buClr>
                <a:schemeClr val="folHlink"/>
              </a:buClr>
              <a:buFont typeface="Arial" panose="020B0604020202020204" pitchFamily="34" charset="0"/>
              <a:buChar char="•"/>
            </a:pPr>
            <a:r>
              <a:rPr lang="zh-CN" altLang="zh-CN" sz="2400">
                <a:solidFill>
                  <a:schemeClr val="accent1"/>
                </a:solidFill>
                <a:latin typeface="华文楷体" panose="02010600040101010101" pitchFamily="2" charset="-122"/>
                <a:ea typeface="华文楷体" panose="02010600040101010101" pitchFamily="2" charset="-122"/>
              </a:rPr>
              <a:t>域名服务器</a:t>
            </a:r>
          </a:p>
          <a:p>
            <a:pPr algn="just">
              <a:spcBef>
                <a:spcPct val="10000"/>
              </a:spcBef>
              <a:buClr>
                <a:schemeClr val="folHlink"/>
              </a:buClr>
              <a:buFont typeface="Arial" panose="020B0604020202020204" pitchFamily="34" charset="0"/>
              <a:buChar char="•"/>
            </a:pPr>
            <a:r>
              <a:rPr lang="zh-CN" altLang="zh-CN" sz="2400">
                <a:solidFill>
                  <a:schemeClr val="accent1"/>
                </a:solidFill>
                <a:latin typeface="华文楷体" panose="02010600040101010101" pitchFamily="2" charset="-122"/>
                <a:ea typeface="华文楷体" panose="02010600040101010101" pitchFamily="2" charset="-122"/>
              </a:rPr>
              <a:t>FTP服务器</a:t>
            </a:r>
          </a:p>
          <a:p>
            <a:pPr algn="just">
              <a:spcBef>
                <a:spcPct val="10000"/>
              </a:spcBef>
              <a:buClr>
                <a:schemeClr val="folHlink"/>
              </a:buClr>
              <a:buFont typeface="Arial" panose="020B0604020202020204" pitchFamily="34" charset="0"/>
              <a:buChar char="•"/>
            </a:pPr>
            <a:r>
              <a:rPr lang="zh-CN" altLang="zh-CN" sz="2400">
                <a:solidFill>
                  <a:schemeClr val="accent1"/>
                </a:solidFill>
                <a:latin typeface="华文楷体" panose="02010600040101010101" pitchFamily="2" charset="-122"/>
                <a:ea typeface="华文楷体" panose="02010600040101010101" pitchFamily="2" charset="-122"/>
              </a:rPr>
              <a:t>文件服务器</a:t>
            </a:r>
          </a:p>
          <a:p>
            <a:pPr algn="just">
              <a:spcBef>
                <a:spcPct val="10000"/>
              </a:spcBef>
              <a:buClr>
                <a:schemeClr val="folHlink"/>
              </a:buClr>
              <a:buFont typeface="Arial" panose="020B0604020202020204" pitchFamily="34" charset="0"/>
              <a:buChar char="•"/>
            </a:pPr>
            <a:r>
              <a:rPr lang="zh-CN" altLang="zh-CN" sz="2400">
                <a:solidFill>
                  <a:schemeClr val="accent1"/>
                </a:solidFill>
                <a:latin typeface="华文楷体" panose="02010600040101010101" pitchFamily="2" charset="-122"/>
                <a:ea typeface="华文楷体" panose="02010600040101010101" pitchFamily="2" charset="-122"/>
              </a:rPr>
              <a:t>数据库服务器</a:t>
            </a:r>
            <a:endParaRPr lang="en-US" altLang="zh-CN" sz="2400">
              <a:solidFill>
                <a:schemeClr val="accent1"/>
              </a:solidFill>
              <a:latin typeface="华文楷体" panose="02010600040101010101" pitchFamily="2" charset="-122"/>
              <a:ea typeface="华文楷体" panose="02010600040101010101" pitchFamily="2" charset="-122"/>
            </a:endParaRPr>
          </a:p>
          <a:p>
            <a:pPr algn="just">
              <a:spcBef>
                <a:spcPct val="10000"/>
              </a:spcBef>
              <a:buClr>
                <a:schemeClr val="folHlink"/>
              </a:buClr>
              <a:buFont typeface="Arial" panose="020B0604020202020204" pitchFamily="34" charset="0"/>
              <a:buChar char="•"/>
            </a:pPr>
            <a:r>
              <a:rPr lang="en-US" altLang="zh-CN" sz="2400">
                <a:solidFill>
                  <a:schemeClr val="accent1"/>
                </a:solidFill>
                <a:latin typeface="华文楷体" panose="02010600040101010101" pitchFamily="2" charset="-122"/>
                <a:ea typeface="华文楷体" panose="02010600040101010101" pitchFamily="2" charset="-122"/>
              </a:rPr>
              <a:t>……</a:t>
            </a:r>
            <a:endParaRPr lang="zh-CN" altLang="zh-CN" sz="2400">
              <a:solidFill>
                <a:schemeClr val="accent1"/>
              </a:solidFill>
              <a:latin typeface="华文楷体" panose="02010600040101010101" pitchFamily="2" charset="-122"/>
              <a:ea typeface="华文楷体" panose="02010600040101010101" pitchFamily="2" charset="-122"/>
            </a:endParaRPr>
          </a:p>
        </p:txBody>
      </p:sp>
      <p:sp>
        <p:nvSpPr>
          <p:cNvPr id="17412" name="Text Box 4"/>
          <p:cNvSpPr txBox="1">
            <a:spLocks noChangeArrowheads="1"/>
          </p:cNvSpPr>
          <p:nvPr/>
        </p:nvSpPr>
        <p:spPr bwMode="auto">
          <a:xfrm>
            <a:off x="2244725" y="1381126"/>
            <a:ext cx="8161338" cy="1815882"/>
          </a:xfrm>
          <a:prstGeom prst="rect">
            <a:avLst/>
          </a:prstGeom>
          <a:solidFill>
            <a:srgbClr val="B2B2B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400">
                <a:solidFill>
                  <a:srgbClr val="000099"/>
                </a:solidFill>
                <a:ea typeface="华文楷体" panose="02010600040101010101" pitchFamily="2" charset="-122"/>
              </a:rPr>
              <a:t> </a:t>
            </a:r>
            <a:r>
              <a:rPr lang="zh-CN" altLang="en-US" sz="4000" u="sng">
                <a:solidFill>
                  <a:schemeClr val="accent2"/>
                </a:solidFill>
                <a:effectLst>
                  <a:outerShdw blurRad="38100" dist="38100" dir="2700000" algn="tl">
                    <a:srgbClr val="000000"/>
                  </a:outerShdw>
                </a:effectLst>
                <a:ea typeface="华文楷体" panose="02010600040101010101" pitchFamily="2" charset="-122"/>
              </a:rPr>
              <a:t>服务器</a:t>
            </a:r>
            <a:r>
              <a:rPr lang="zh-CN" altLang="en-US" sz="2400">
                <a:solidFill>
                  <a:srgbClr val="003399"/>
                </a:solidFill>
                <a:ea typeface="华文楷体" panose="02010600040101010101" pitchFamily="2" charset="-122"/>
              </a:rPr>
              <a:t>是一台高性能计算机，用于网络管理、运行应用程序、处理各网络工作站成员的信息请示等，并连接一些共享的外部设备如打印机、</a:t>
            </a:r>
            <a:r>
              <a:rPr lang="zh-CN" altLang="zh-CN" sz="2400">
                <a:solidFill>
                  <a:srgbClr val="003399"/>
                </a:solidFill>
                <a:ea typeface="华文楷体" panose="02010600040101010101" pitchFamily="2" charset="-122"/>
              </a:rPr>
              <a:t>CDROM</a:t>
            </a:r>
            <a:r>
              <a:rPr lang="zh-CN" altLang="en-US" sz="2400">
                <a:solidFill>
                  <a:srgbClr val="003399"/>
                </a:solidFill>
                <a:ea typeface="华文楷体" panose="02010600040101010101" pitchFamily="2" charset="-122"/>
              </a:rPr>
              <a:t>、调制解调器等。服务器根据其作用的不同分为：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anim calcmode="lin" valueType="num">
                                      <p:cBhvr additive="base">
                                        <p:cTn id="19" dur="500" fill="hold"/>
                                        <p:tgtEl>
                                          <p:spTgt spid="174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11">
                                            <p:txEl>
                                              <p:pRg st="3" end="3"/>
                                            </p:txEl>
                                          </p:spTgt>
                                        </p:tgtEl>
                                        <p:attrNameLst>
                                          <p:attrName>style.visibility</p:attrName>
                                        </p:attrNameLst>
                                      </p:cBhvr>
                                      <p:to>
                                        <p:strVal val="visible"/>
                                      </p:to>
                                    </p:set>
                                    <p:anim calcmode="lin" valueType="num">
                                      <p:cBhvr additive="base">
                                        <p:cTn id="25" dur="500" fill="hold"/>
                                        <p:tgtEl>
                                          <p:spTgt spid="174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7411">
                                            <p:txEl>
                                              <p:pRg st="4" end="4"/>
                                            </p:txEl>
                                          </p:spTgt>
                                        </p:tgtEl>
                                        <p:attrNameLst>
                                          <p:attrName>style.visibility</p:attrName>
                                        </p:attrNameLst>
                                      </p:cBhvr>
                                      <p:to>
                                        <p:strVal val="visible"/>
                                      </p:to>
                                    </p:set>
                                    <p:anim calcmode="lin" valueType="num">
                                      <p:cBhvr additive="base">
                                        <p:cTn id="31" dur="500" fill="hold"/>
                                        <p:tgtEl>
                                          <p:spTgt spid="174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4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7411">
                                            <p:txEl>
                                              <p:pRg st="5" end="5"/>
                                            </p:txEl>
                                          </p:spTgt>
                                        </p:tgtEl>
                                        <p:attrNameLst>
                                          <p:attrName>style.visibility</p:attrName>
                                        </p:attrNameLst>
                                      </p:cBhvr>
                                      <p:to>
                                        <p:strVal val="visible"/>
                                      </p:to>
                                    </p:set>
                                    <p:anim calcmode="lin" valueType="num">
                                      <p:cBhvr additive="base">
                                        <p:cTn id="37" dur="500" fill="hold"/>
                                        <p:tgtEl>
                                          <p:spTgt spid="1741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741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7411">
                                            <p:txEl>
                                              <p:pRg st="6" end="6"/>
                                            </p:txEl>
                                          </p:spTgt>
                                        </p:tgtEl>
                                        <p:attrNameLst>
                                          <p:attrName>style.visibility</p:attrName>
                                        </p:attrNameLst>
                                      </p:cBhvr>
                                      <p:to>
                                        <p:strVal val="visible"/>
                                      </p:to>
                                    </p:set>
                                    <p:anim calcmode="lin" valueType="num">
                                      <p:cBhvr additive="base">
                                        <p:cTn id="43" dur="500" fill="hold"/>
                                        <p:tgtEl>
                                          <p:spTgt spid="1741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741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a:xfrm>
            <a:off x="3008669" y="312739"/>
            <a:ext cx="6380163" cy="636587"/>
          </a:xfrm>
        </p:spPr>
        <p:txBody>
          <a:bodyPr>
            <a:normAutofit fontScale="90000"/>
          </a:bodyPr>
          <a:lstStyle/>
          <a:p>
            <a:pPr algn="ctr" eaLnBrk="1" hangingPunct="1"/>
            <a:r>
              <a:rPr lang="zh-CN" altLang="zh-CN" sz="4400" dirty="0">
                <a:ea typeface="华文楷体" panose="02010600040101010101" pitchFamily="2" charset="-122"/>
              </a:rPr>
              <a:t>集线器（</a:t>
            </a:r>
            <a:r>
              <a:rPr lang="zh-CN" altLang="zh-CN" sz="4400">
                <a:ea typeface="华文楷体" panose="02010600040101010101" pitchFamily="2" charset="-122"/>
              </a:rPr>
              <a:t>HUB）</a:t>
            </a:r>
            <a:endParaRPr lang="zh-CN" altLang="zh-CN" sz="4400" dirty="0">
              <a:ea typeface="华文楷体" panose="02010600040101010101" pitchFamily="2" charset="-122"/>
            </a:endParaRPr>
          </a:p>
        </p:txBody>
      </p:sp>
      <p:sp>
        <p:nvSpPr>
          <p:cNvPr id="18434" name="Rectangle 3"/>
          <p:cNvSpPr>
            <a:spLocks noChangeArrowheads="1"/>
          </p:cNvSpPr>
          <p:nvPr/>
        </p:nvSpPr>
        <p:spPr bwMode="auto">
          <a:xfrm>
            <a:off x="3810000" y="244316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endParaRPr lang="zh-CN" altLang="en-US">
              <a:latin typeface="Times New Roman" panose="02020603050405020304" pitchFamily="18" charset="0"/>
            </a:endParaRPr>
          </a:p>
        </p:txBody>
      </p:sp>
      <p:pic>
        <p:nvPicPr>
          <p:cNvPr id="18436" name="Picture 4" descr="../../../../../360云盘/12-13-1教学/计算机网络/第1章 概论及网络体系结构/http:/www.zhuoda.org/xiaojf/jichu/img/30.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905126" y="1457326"/>
            <a:ext cx="6380163"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5"/>
          <p:cNvSpPr>
            <a:spLocks noChangeArrowheads="1"/>
          </p:cNvSpPr>
          <p:nvPr/>
        </p:nvSpPr>
        <p:spPr bwMode="auto">
          <a:xfrm>
            <a:off x="3810000" y="223361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endParaRPr lang="zh-CN" altLang="en-US">
              <a:latin typeface="Times New Roman" panose="02020603050405020304" pitchFamily="18" charset="0"/>
            </a:endParaRPr>
          </a:p>
        </p:txBody>
      </p:sp>
      <p:pic>
        <p:nvPicPr>
          <p:cNvPr id="18438" name="Picture 6" descr="../../../../../360云盘/12-13-1教学/计算机网络/第1章 概论及网络体系结构/http:/www.zhuoda.org/xiaojf/jichu/img/31.gif"/>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2609851" y="3808414"/>
            <a:ext cx="6970713" cy="263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additive="base">
                                        <p:cTn id="7" dur="500" fill="hold"/>
                                        <p:tgtEl>
                                          <p:spTgt spid="18436"/>
                                        </p:tgtEl>
                                        <p:attrNameLst>
                                          <p:attrName>ppt_x</p:attrName>
                                        </p:attrNameLst>
                                      </p:cBhvr>
                                      <p:tavLst>
                                        <p:tav tm="0">
                                          <p:val>
                                            <p:strVal val="1+#ppt_w/2"/>
                                          </p:val>
                                        </p:tav>
                                        <p:tav tm="100000">
                                          <p:val>
                                            <p:strVal val="#ppt_x"/>
                                          </p:val>
                                        </p:tav>
                                      </p:tavLst>
                                    </p:anim>
                                    <p:anim calcmode="lin" valueType="num">
                                      <p:cBhvr additive="base">
                                        <p:cTn id="8" dur="500" fill="hold"/>
                                        <p:tgtEl>
                                          <p:spTgt spid="1843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8438"/>
                                        </p:tgtEl>
                                        <p:attrNameLst>
                                          <p:attrName>style.visibility</p:attrName>
                                        </p:attrNameLst>
                                      </p:cBhvr>
                                      <p:to>
                                        <p:strVal val="visible"/>
                                      </p:to>
                                    </p:set>
                                    <p:anim calcmode="lin" valueType="num">
                                      <p:cBhvr additive="base">
                                        <p:cTn id="13" dur="500" fill="hold"/>
                                        <p:tgtEl>
                                          <p:spTgt spid="18438"/>
                                        </p:tgtEl>
                                        <p:attrNameLst>
                                          <p:attrName>ppt_x</p:attrName>
                                        </p:attrNameLst>
                                      </p:cBhvr>
                                      <p:tavLst>
                                        <p:tav tm="0">
                                          <p:val>
                                            <p:strVal val="1+#ppt_w/2"/>
                                          </p:val>
                                        </p:tav>
                                        <p:tav tm="100000">
                                          <p:val>
                                            <p:strVal val="#ppt_x"/>
                                          </p:val>
                                        </p:tav>
                                      </p:tavLst>
                                    </p:anim>
                                    <p:anim calcmode="lin" valueType="num">
                                      <p:cBhvr additive="base">
                                        <p:cTn id="14" dur="500" fill="hold"/>
                                        <p:tgtEl>
                                          <p:spTgt spid="184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4165601" y="293688"/>
            <a:ext cx="3844925" cy="519112"/>
          </a:xfrm>
        </p:spPr>
        <p:txBody>
          <a:bodyPr>
            <a:normAutofit fontScale="90000"/>
          </a:bodyPr>
          <a:lstStyle/>
          <a:p>
            <a:pPr algn="ctr" eaLnBrk="1" hangingPunct="1"/>
            <a:r>
              <a:rPr lang="zh-CN" altLang="zh-CN" sz="4400">
                <a:ea typeface="华文楷体" panose="02010600040101010101" pitchFamily="2" charset="-122"/>
              </a:rPr>
              <a:t>连网设备</a:t>
            </a:r>
          </a:p>
        </p:txBody>
      </p:sp>
      <p:grpSp>
        <p:nvGrpSpPr>
          <p:cNvPr id="19458" name="Group 3"/>
          <p:cNvGrpSpPr>
            <a:grpSpLocks/>
          </p:cNvGrpSpPr>
          <p:nvPr/>
        </p:nvGrpSpPr>
        <p:grpSpPr bwMode="auto">
          <a:xfrm>
            <a:off x="2039939" y="1314451"/>
            <a:ext cx="8250237" cy="2322513"/>
            <a:chOff x="0" y="0"/>
            <a:chExt cx="5197" cy="1463"/>
          </a:xfrm>
        </p:grpSpPr>
        <p:pic>
          <p:nvPicPr>
            <p:cNvPr id="19459" name="Picture 4" descr="img3_0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
              <a:ext cx="2403" cy="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5" descr="img3_0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 y="0"/>
              <a:ext cx="2504" cy="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Text Box 6"/>
            <p:cNvSpPr txBox="1">
              <a:spLocks noChangeArrowheads="1"/>
            </p:cNvSpPr>
            <p:nvPr/>
          </p:nvSpPr>
          <p:spPr bwMode="auto">
            <a:xfrm>
              <a:off x="1452" y="1136"/>
              <a:ext cx="185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zh-CN" altLang="zh-CN">
                  <a:solidFill>
                    <a:schemeClr val="accent1"/>
                  </a:solidFill>
                  <a:ea typeface="华文楷体" panose="02010600040101010101" pitchFamily="2" charset="-122"/>
                </a:rPr>
                <a:t>（A）  网卡</a:t>
              </a:r>
            </a:p>
          </p:txBody>
        </p:sp>
      </p:grpSp>
      <p:grpSp>
        <p:nvGrpSpPr>
          <p:cNvPr id="19463" name="Group 7"/>
          <p:cNvGrpSpPr>
            <a:grpSpLocks/>
          </p:cNvGrpSpPr>
          <p:nvPr/>
        </p:nvGrpSpPr>
        <p:grpSpPr bwMode="auto">
          <a:xfrm>
            <a:off x="1814514" y="3690938"/>
            <a:ext cx="4200525" cy="2938462"/>
            <a:chOff x="0" y="0"/>
            <a:chExt cx="2646" cy="1851"/>
          </a:xfrm>
        </p:grpSpPr>
        <p:pic>
          <p:nvPicPr>
            <p:cNvPr id="2" name="Picture 8" descr="img1_0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646" cy="1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Text Box 9"/>
            <p:cNvSpPr txBox="1">
              <a:spLocks noChangeArrowheads="1"/>
            </p:cNvSpPr>
            <p:nvPr/>
          </p:nvSpPr>
          <p:spPr bwMode="auto">
            <a:xfrm>
              <a:off x="236" y="1524"/>
              <a:ext cx="20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zh-CN" altLang="zh-CN">
                  <a:solidFill>
                    <a:schemeClr val="accent1"/>
                  </a:solidFill>
                  <a:ea typeface="华文楷体" panose="02010600040101010101" pitchFamily="2" charset="-122"/>
                </a:rPr>
                <a:t>（B） 中继器</a:t>
              </a:r>
            </a:p>
          </p:txBody>
        </p:sp>
      </p:grpSp>
      <p:grpSp>
        <p:nvGrpSpPr>
          <p:cNvPr id="3" name="Group 10"/>
          <p:cNvGrpSpPr>
            <a:grpSpLocks/>
          </p:cNvGrpSpPr>
          <p:nvPr/>
        </p:nvGrpSpPr>
        <p:grpSpPr bwMode="auto">
          <a:xfrm>
            <a:off x="6518275" y="3776664"/>
            <a:ext cx="3729038" cy="2789237"/>
            <a:chOff x="0" y="0"/>
            <a:chExt cx="2180" cy="1757"/>
          </a:xfrm>
        </p:grpSpPr>
        <p:pic>
          <p:nvPicPr>
            <p:cNvPr id="19466" name="Picture 11" descr="img4_0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180" cy="1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7" name="Text Box 12"/>
            <p:cNvSpPr txBox="1">
              <a:spLocks noChangeArrowheads="1"/>
            </p:cNvSpPr>
            <p:nvPr/>
          </p:nvSpPr>
          <p:spPr bwMode="auto">
            <a:xfrm>
              <a:off x="323" y="1430"/>
              <a:ext cx="175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zh-CN" altLang="zh-CN">
                  <a:solidFill>
                    <a:schemeClr val="accent1"/>
                  </a:solidFill>
                  <a:ea typeface="华文楷体" panose="02010600040101010101" pitchFamily="2" charset="-122"/>
                </a:rPr>
                <a:t>（C）交换机</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463"/>
                                        </p:tgtEl>
                                        <p:attrNameLst>
                                          <p:attrName>style.visibility</p:attrName>
                                        </p:attrNameLst>
                                      </p:cBhvr>
                                      <p:to>
                                        <p:strVal val="visible"/>
                                      </p:to>
                                    </p:set>
                                    <p:anim calcmode="lin" valueType="num">
                                      <p:cBhvr additive="base">
                                        <p:cTn id="7" dur="500" fill="hold"/>
                                        <p:tgtEl>
                                          <p:spTgt spid="19463"/>
                                        </p:tgtEl>
                                        <p:attrNameLst>
                                          <p:attrName>ppt_x</p:attrName>
                                        </p:attrNameLst>
                                      </p:cBhvr>
                                      <p:tavLst>
                                        <p:tav tm="0">
                                          <p:val>
                                            <p:strVal val="0-#ppt_w/2"/>
                                          </p:val>
                                        </p:tav>
                                        <p:tav tm="100000">
                                          <p:val>
                                            <p:strVal val="#ppt_x"/>
                                          </p:val>
                                        </p:tav>
                                      </p:tavLst>
                                    </p:anim>
                                    <p:anim calcmode="lin" valueType="num">
                                      <p:cBhvr additive="base">
                                        <p:cTn id="8" dur="500" fill="hold"/>
                                        <p:tgtEl>
                                          <p:spTgt spid="1946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4676775" y="222251"/>
            <a:ext cx="2838450" cy="544513"/>
          </a:xfrm>
        </p:spPr>
        <p:txBody>
          <a:bodyPr>
            <a:normAutofit fontScale="90000"/>
          </a:bodyPr>
          <a:lstStyle/>
          <a:p>
            <a:pPr eaLnBrk="1" hangingPunct="1"/>
            <a:r>
              <a:rPr lang="zh-CN" altLang="zh-CN" sz="4400">
                <a:ea typeface="华文楷体" panose="02010600040101010101" pitchFamily="2" charset="-122"/>
              </a:rPr>
              <a:t>网络连接</a:t>
            </a:r>
          </a:p>
        </p:txBody>
      </p:sp>
      <p:pic>
        <p:nvPicPr>
          <p:cNvPr id="21506" name="Picture 3" descr="img3_0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7925" y="4065589"/>
            <a:ext cx="3811588" cy="195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7" name="Picture 4" descr="img1_0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2688" y="1303338"/>
            <a:ext cx="40894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5" descr="img1_0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8638" y="1262063"/>
            <a:ext cx="4235450"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6" descr="img4_09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6600" y="4068764"/>
            <a:ext cx="3773488" cy="198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Text Box 7"/>
          <p:cNvSpPr txBox="1">
            <a:spLocks noChangeArrowheads="1"/>
          </p:cNvSpPr>
          <p:nvPr/>
        </p:nvSpPr>
        <p:spPr bwMode="auto">
          <a:xfrm>
            <a:off x="2147888" y="3490913"/>
            <a:ext cx="36966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spcBef>
                <a:spcPct val="50000"/>
              </a:spcBef>
            </a:pPr>
            <a:r>
              <a:rPr lang="zh-CN" altLang="zh-CN">
                <a:solidFill>
                  <a:schemeClr val="accent1"/>
                </a:solidFill>
                <a:ea typeface="华文楷体" panose="02010600040101010101" pitchFamily="2" charset="-122"/>
              </a:rPr>
              <a:t>（A）连接到交换机</a:t>
            </a:r>
          </a:p>
        </p:txBody>
      </p:sp>
      <p:sp>
        <p:nvSpPr>
          <p:cNvPr id="21511" name="Text Box 8"/>
          <p:cNvSpPr txBox="1">
            <a:spLocks noChangeArrowheads="1"/>
          </p:cNvSpPr>
          <p:nvPr/>
        </p:nvSpPr>
        <p:spPr bwMode="auto">
          <a:xfrm>
            <a:off x="6781801" y="3589338"/>
            <a:ext cx="34083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zh-CN" altLang="zh-CN">
                <a:solidFill>
                  <a:schemeClr val="accent1"/>
                </a:solidFill>
                <a:ea typeface="华文楷体" panose="02010600040101010101" pitchFamily="2" charset="-122"/>
              </a:rPr>
              <a:t>（B）连接到计算机</a:t>
            </a:r>
          </a:p>
        </p:txBody>
      </p:sp>
      <p:sp>
        <p:nvSpPr>
          <p:cNvPr id="21512" name="Text Box 9"/>
          <p:cNvSpPr txBox="1">
            <a:spLocks noChangeArrowheads="1"/>
          </p:cNvSpPr>
          <p:nvPr/>
        </p:nvSpPr>
        <p:spPr bwMode="auto">
          <a:xfrm>
            <a:off x="2320926" y="6075363"/>
            <a:ext cx="34083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zh-CN" altLang="zh-CN">
                <a:solidFill>
                  <a:schemeClr val="accent1"/>
                </a:solidFill>
                <a:ea typeface="华文楷体" panose="02010600040101010101" pitchFamily="2" charset="-122"/>
              </a:rPr>
              <a:t>（C）连接到计算机</a:t>
            </a:r>
          </a:p>
        </p:txBody>
      </p:sp>
      <p:sp>
        <p:nvSpPr>
          <p:cNvPr id="21513" name="Text Box 10"/>
          <p:cNvSpPr txBox="1">
            <a:spLocks noChangeArrowheads="1"/>
          </p:cNvSpPr>
          <p:nvPr/>
        </p:nvSpPr>
        <p:spPr bwMode="auto">
          <a:xfrm>
            <a:off x="6477001" y="6075363"/>
            <a:ext cx="34083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zh-CN" altLang="zh-CN">
                <a:solidFill>
                  <a:schemeClr val="accent1"/>
                </a:solidFill>
                <a:ea typeface="华文楷体" panose="02010600040101010101" pitchFamily="2" charset="-122"/>
              </a:rPr>
              <a:t>（D）布线系统</a:t>
            </a: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3303588" y="301626"/>
            <a:ext cx="5561012" cy="531813"/>
          </a:xfrm>
        </p:spPr>
        <p:txBody>
          <a:bodyPr>
            <a:normAutofit fontScale="90000"/>
          </a:bodyPr>
          <a:lstStyle/>
          <a:p>
            <a:pPr algn="ctr" eaLnBrk="1" hangingPunct="1"/>
            <a:r>
              <a:rPr lang="zh-CN" altLang="zh-CN" sz="4400">
                <a:ea typeface="华文楷体" panose="02010600040101010101" pitchFamily="2" charset="-122"/>
              </a:rPr>
              <a:t>便携机及无线连网</a:t>
            </a:r>
          </a:p>
        </p:txBody>
      </p:sp>
      <p:pic>
        <p:nvPicPr>
          <p:cNvPr id="22530" name="Picture 3" descr="img4_10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39913" y="1711325"/>
            <a:ext cx="3846512" cy="3117850"/>
          </a:xfrm>
        </p:spPr>
      </p:pic>
      <p:pic>
        <p:nvPicPr>
          <p:cNvPr id="22531" name="Picture 4" descr="img7_0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1722438"/>
            <a:ext cx="4189413"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 Box 5"/>
          <p:cNvSpPr txBox="1">
            <a:spLocks noChangeArrowheads="1"/>
          </p:cNvSpPr>
          <p:nvPr/>
        </p:nvSpPr>
        <p:spPr bwMode="auto">
          <a:xfrm>
            <a:off x="1863726" y="5051426"/>
            <a:ext cx="3408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zh-CN" altLang="zh-CN">
                <a:solidFill>
                  <a:schemeClr val="accent1"/>
                </a:solidFill>
                <a:ea typeface="华文楷体" panose="02010600040101010101" pitchFamily="2" charset="-122"/>
              </a:rPr>
              <a:t>（A）便携机连网</a:t>
            </a:r>
          </a:p>
        </p:txBody>
      </p:sp>
      <p:sp>
        <p:nvSpPr>
          <p:cNvPr id="22533" name="Text Box 6"/>
          <p:cNvSpPr txBox="1">
            <a:spLocks noChangeArrowheads="1"/>
          </p:cNvSpPr>
          <p:nvPr/>
        </p:nvSpPr>
        <p:spPr bwMode="auto">
          <a:xfrm>
            <a:off x="6365876" y="5113338"/>
            <a:ext cx="34083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zh-CN" altLang="zh-CN">
                <a:solidFill>
                  <a:schemeClr val="accent1"/>
                </a:solidFill>
                <a:ea typeface="华文楷体" panose="02010600040101010101" pitchFamily="2" charset="-122"/>
              </a:rPr>
              <a:t>（B） 无线连网</a:t>
            </a: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idx="4294967295"/>
          </p:nvPr>
        </p:nvSpPr>
        <p:spPr>
          <a:xfrm>
            <a:off x="4156075" y="169863"/>
            <a:ext cx="8035925" cy="654050"/>
          </a:xfrm>
        </p:spPr>
        <p:txBody>
          <a:bodyPr>
            <a:normAutofit fontScale="90000"/>
          </a:bodyPr>
          <a:lstStyle/>
          <a:p>
            <a:pPr eaLnBrk="1" hangingPunct="1"/>
            <a:r>
              <a:rPr lang="zh-CN" altLang="zh-CN" sz="4400">
                <a:ea typeface="华文楷体" panose="02010600040101010101" pitchFamily="2" charset="-122"/>
              </a:rPr>
              <a:t>局域网组成（软件）</a:t>
            </a:r>
          </a:p>
        </p:txBody>
      </p:sp>
      <p:sp>
        <p:nvSpPr>
          <p:cNvPr id="24579" name="Text Box 3"/>
          <p:cNvSpPr txBox="1">
            <a:spLocks noChangeArrowheads="1"/>
          </p:cNvSpPr>
          <p:nvPr/>
        </p:nvSpPr>
        <p:spPr bwMode="auto">
          <a:xfrm>
            <a:off x="2085976" y="1735138"/>
            <a:ext cx="8018463" cy="3539430"/>
          </a:xfrm>
          <a:prstGeom prst="rect">
            <a:avLst/>
          </a:prstGeom>
          <a:solidFill>
            <a:srgbClr val="DDDDDD"/>
          </a:solidFill>
          <a:ln>
            <a:noFill/>
          </a:ln>
          <a:effectLst>
            <a:outerShdw dist="179605" dir="2700000" algn="ctr" rotWithShape="0">
              <a:schemeClr val="accent1"/>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5763" indent="-285750">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网络操作系统（NOS）</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网络设备驱动程序（如网卡驱动程序等）</a:t>
            </a:r>
          </a:p>
          <a:p>
            <a:pPr>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网络协议及协议软件（因特网：TCP/IP、NOVELL：IPX/SPX）</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网络通信软件 （如异步通信软件）</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网络管理</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网络应用软件 （如防火墙软件等）</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additive="base">
                                        <p:cTn id="13" dur="500" fill="hold"/>
                                        <p:tgtEl>
                                          <p:spTgt spid="2457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5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579">
                                            <p:txEl>
                                              <p:pRg st="2" end="2"/>
                                            </p:txEl>
                                          </p:spTgt>
                                        </p:tgtEl>
                                        <p:attrNameLst>
                                          <p:attrName>style.visibility</p:attrName>
                                        </p:attrNameLst>
                                      </p:cBhvr>
                                      <p:to>
                                        <p:strVal val="visible"/>
                                      </p:to>
                                    </p:set>
                                    <p:anim calcmode="lin" valueType="num">
                                      <p:cBhvr additive="base">
                                        <p:cTn id="19" dur="500" fill="hold"/>
                                        <p:tgtEl>
                                          <p:spTgt spid="2457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5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579">
                                            <p:txEl>
                                              <p:pRg st="3" end="3"/>
                                            </p:txEl>
                                          </p:spTgt>
                                        </p:tgtEl>
                                        <p:attrNameLst>
                                          <p:attrName>style.visibility</p:attrName>
                                        </p:attrNameLst>
                                      </p:cBhvr>
                                      <p:to>
                                        <p:strVal val="visible"/>
                                      </p:to>
                                    </p:set>
                                    <p:anim calcmode="lin" valueType="num">
                                      <p:cBhvr additive="base">
                                        <p:cTn id="25" dur="500" fill="hold"/>
                                        <p:tgtEl>
                                          <p:spTgt spid="2457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57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579">
                                            <p:txEl>
                                              <p:pRg st="4" end="4"/>
                                            </p:txEl>
                                          </p:spTgt>
                                        </p:tgtEl>
                                        <p:attrNameLst>
                                          <p:attrName>style.visibility</p:attrName>
                                        </p:attrNameLst>
                                      </p:cBhvr>
                                      <p:to>
                                        <p:strVal val="visible"/>
                                      </p:to>
                                    </p:set>
                                    <p:anim calcmode="lin" valueType="num">
                                      <p:cBhvr additive="base">
                                        <p:cTn id="31" dur="500" fill="hold"/>
                                        <p:tgtEl>
                                          <p:spTgt spid="2457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57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579">
                                            <p:txEl>
                                              <p:pRg st="5" end="5"/>
                                            </p:txEl>
                                          </p:spTgt>
                                        </p:tgtEl>
                                        <p:attrNameLst>
                                          <p:attrName>style.visibility</p:attrName>
                                        </p:attrNameLst>
                                      </p:cBhvr>
                                      <p:to>
                                        <p:strVal val="visible"/>
                                      </p:to>
                                    </p:set>
                                    <p:anim calcmode="lin" valueType="num">
                                      <p:cBhvr additive="base">
                                        <p:cTn id="37" dur="500" fill="hold"/>
                                        <p:tgtEl>
                                          <p:spTgt spid="2457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57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2209800" y="219076"/>
            <a:ext cx="7772400" cy="677863"/>
          </a:xfrm>
        </p:spPr>
        <p:txBody>
          <a:bodyPr>
            <a:normAutofit fontScale="90000"/>
          </a:bodyPr>
          <a:lstStyle/>
          <a:p>
            <a:pPr algn="ctr" eaLnBrk="1" hangingPunct="1"/>
            <a:r>
              <a:rPr lang="zh-CN" altLang="zh-CN" sz="4400">
                <a:ea typeface="华文楷体" panose="02010600040101010101" pitchFamily="2" charset="-122"/>
              </a:rPr>
              <a:t>从NOS的安装看LAN软件组成</a:t>
            </a:r>
          </a:p>
        </p:txBody>
      </p:sp>
      <p:sp>
        <p:nvSpPr>
          <p:cNvPr id="25603" name="Rectangle 3"/>
          <p:cNvSpPr>
            <a:spLocks noGrp="1" noChangeArrowheads="1"/>
          </p:cNvSpPr>
          <p:nvPr>
            <p:ph idx="1"/>
          </p:nvPr>
        </p:nvSpPr>
        <p:spPr>
          <a:xfrm>
            <a:off x="2544764" y="1531939"/>
            <a:ext cx="7705725" cy="4651375"/>
          </a:xfrm>
          <a:solidFill>
            <a:srgbClr val="DDDDDD"/>
          </a:solidFill>
          <a:effectLst>
            <a:outerShdw dist="216273" dir="2985819" algn="ctr" rotWithShape="0">
              <a:schemeClr val="accent1"/>
            </a:outerShdw>
          </a:effectLst>
        </p:spPr>
        <p:txBody>
          <a:bodyPr>
            <a:normAutofit/>
          </a:bodyPr>
          <a:lstStyle/>
          <a:p>
            <a:pPr eaLnBrk="1" hangingPunct="1">
              <a:lnSpc>
                <a:spcPct val="80000"/>
              </a:lnSpc>
            </a:pPr>
            <a:r>
              <a:rPr lang="zh-CN" altLang="zh-CN" sz="2400">
                <a:solidFill>
                  <a:schemeClr val="accent1"/>
                </a:solidFill>
                <a:ea typeface="华文楷体" panose="02010600040101010101" pitchFamily="2" charset="-122"/>
              </a:rPr>
              <a:t>安装网络操作系统（Windows，Unix/Linux，NetWare）</a:t>
            </a:r>
          </a:p>
          <a:p>
            <a:pPr eaLnBrk="1" hangingPunct="1">
              <a:lnSpc>
                <a:spcPct val="80000"/>
              </a:lnSpc>
            </a:pPr>
            <a:r>
              <a:rPr lang="zh-CN" altLang="zh-CN" sz="2400">
                <a:solidFill>
                  <a:schemeClr val="accent1"/>
                </a:solidFill>
                <a:ea typeface="华文楷体" panose="02010600040101010101" pitchFamily="2" charset="-122"/>
              </a:rPr>
              <a:t>安装网卡驱动程序</a:t>
            </a:r>
          </a:p>
          <a:p>
            <a:pPr eaLnBrk="1" hangingPunct="1">
              <a:lnSpc>
                <a:spcPct val="80000"/>
              </a:lnSpc>
            </a:pPr>
            <a:r>
              <a:rPr lang="zh-CN" altLang="zh-CN" sz="2400">
                <a:solidFill>
                  <a:schemeClr val="accent1"/>
                </a:solidFill>
                <a:ea typeface="华文楷体" panose="02010600040101010101" pitchFamily="2" charset="-122"/>
              </a:rPr>
              <a:t>添加（配置）网络协议</a:t>
            </a:r>
          </a:p>
          <a:p>
            <a:pPr lvl="1" eaLnBrk="1" hangingPunct="1">
              <a:lnSpc>
                <a:spcPct val="80000"/>
              </a:lnSpc>
            </a:pPr>
            <a:r>
              <a:rPr lang="zh-CN" altLang="zh-CN">
                <a:solidFill>
                  <a:schemeClr val="accent1"/>
                </a:solidFill>
                <a:ea typeface="华文楷体" panose="02010600040101010101" pitchFamily="2" charset="-122"/>
              </a:rPr>
              <a:t>使用因特网：添加TCP/IP协议（IP地址，地址掩码、网关，DNS地址）</a:t>
            </a:r>
          </a:p>
          <a:p>
            <a:pPr lvl="1" eaLnBrk="1" hangingPunct="1">
              <a:lnSpc>
                <a:spcPct val="80000"/>
              </a:lnSpc>
            </a:pPr>
            <a:r>
              <a:rPr lang="zh-CN" altLang="zh-CN">
                <a:solidFill>
                  <a:schemeClr val="accent1"/>
                </a:solidFill>
                <a:ea typeface="华文楷体" panose="02010600040101010101" pitchFamily="2" charset="-122"/>
              </a:rPr>
              <a:t>使用网上邻居：添加NETBUEI协议</a:t>
            </a:r>
          </a:p>
          <a:p>
            <a:pPr eaLnBrk="1" hangingPunct="1">
              <a:lnSpc>
                <a:spcPct val="80000"/>
              </a:lnSpc>
            </a:pPr>
            <a:r>
              <a:rPr lang="zh-CN" altLang="zh-CN" sz="2400">
                <a:solidFill>
                  <a:schemeClr val="accent1"/>
                </a:solidFill>
                <a:ea typeface="华文楷体" panose="02010600040101010101" pitchFamily="2" charset="-122"/>
              </a:rPr>
              <a:t>通过网络客户代理软件使用网络应用</a:t>
            </a:r>
          </a:p>
          <a:p>
            <a:pPr lvl="1" eaLnBrk="1" hangingPunct="1">
              <a:lnSpc>
                <a:spcPct val="80000"/>
              </a:lnSpc>
            </a:pPr>
            <a:r>
              <a:rPr lang="zh-CN" altLang="zh-CN">
                <a:solidFill>
                  <a:schemeClr val="accent1"/>
                </a:solidFill>
                <a:ea typeface="华文楷体" panose="02010600040101010101" pitchFamily="2" charset="-122"/>
              </a:rPr>
              <a:t>浏览器----WWW</a:t>
            </a:r>
          </a:p>
          <a:p>
            <a:pPr lvl="1" eaLnBrk="1" hangingPunct="1">
              <a:lnSpc>
                <a:spcPct val="80000"/>
              </a:lnSpc>
            </a:pPr>
            <a:r>
              <a:rPr lang="zh-CN" altLang="zh-CN">
                <a:solidFill>
                  <a:schemeClr val="accent1"/>
                </a:solidFill>
                <a:ea typeface="华文楷体" panose="02010600040101010101" pitchFamily="2" charset="-122"/>
              </a:rPr>
              <a:t> OUTLOOK----电子邮件</a:t>
            </a:r>
          </a:p>
          <a:p>
            <a:pPr lvl="1" eaLnBrk="1" hangingPunct="1">
              <a:lnSpc>
                <a:spcPct val="80000"/>
              </a:lnSpc>
            </a:pPr>
            <a:r>
              <a:rPr lang="zh-CN" altLang="zh-CN">
                <a:solidFill>
                  <a:schemeClr val="accent1"/>
                </a:solidFill>
                <a:ea typeface="华文楷体" panose="02010600040101010101" pitchFamily="2" charset="-122"/>
              </a:rPr>
              <a:t> FTP：//ftp.lib.pku.edu.cn</a:t>
            </a:r>
          </a:p>
          <a:p>
            <a:pPr lvl="1" eaLnBrk="1" hangingPunct="1">
              <a:lnSpc>
                <a:spcPct val="80000"/>
              </a:lnSpc>
            </a:pPr>
            <a:r>
              <a:rPr lang="zh-CN" altLang="zh-CN">
                <a:solidFill>
                  <a:schemeClr val="accent1"/>
                </a:solidFill>
                <a:latin typeface="Arial" panose="020B0604020202020204" pitchFamily="34" charset="0"/>
                <a:ea typeface="华文楷体" panose="02010600040101010101" pitchFamily="2" charset="-122"/>
              </a:rPr>
              <a:t>……</a:t>
            </a:r>
            <a:endParaRPr lang="zh-CN" altLang="zh-CN">
              <a:solidFill>
                <a:schemeClr val="accent1"/>
              </a:solidFill>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5603">
                                            <p:txEl>
                                              <p:pRg st="2" end="2"/>
                                            </p:txEl>
                                          </p:spTgt>
                                        </p:tgtEl>
                                        <p:attrNameLst>
                                          <p:attrName>style.visibility</p:attrName>
                                        </p:attrNameLst>
                                      </p:cBhvr>
                                      <p:to>
                                        <p:strVal val="visible"/>
                                      </p:to>
                                    </p:set>
                                    <p:anim calcmode="lin" valueType="num">
                                      <p:cBhvr additive="base">
                                        <p:cTn id="19" dur="500" fill="hold"/>
                                        <p:tgtEl>
                                          <p:spTgt spid="2560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5603">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5603">
                                            <p:txEl>
                                              <p:pRg st="3" end="3"/>
                                            </p:txEl>
                                          </p:spTgt>
                                        </p:tgtEl>
                                        <p:attrNameLst>
                                          <p:attrName>style.visibility</p:attrName>
                                        </p:attrNameLst>
                                      </p:cBhvr>
                                      <p:to>
                                        <p:strVal val="visible"/>
                                      </p:to>
                                    </p:set>
                                    <p:anim calcmode="lin" valueType="num">
                                      <p:cBhvr additive="base">
                                        <p:cTn id="23" dur="500" fill="hold"/>
                                        <p:tgtEl>
                                          <p:spTgt spid="25603">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25603">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 calcmode="lin" valueType="num">
                                      <p:cBhvr additive="base">
                                        <p:cTn id="27" dur="500" fill="hold"/>
                                        <p:tgtEl>
                                          <p:spTgt spid="25603">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256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5603">
                                            <p:txEl>
                                              <p:pRg st="5" end="5"/>
                                            </p:txEl>
                                          </p:spTgt>
                                        </p:tgtEl>
                                        <p:attrNameLst>
                                          <p:attrName>style.visibility</p:attrName>
                                        </p:attrNameLst>
                                      </p:cBhvr>
                                      <p:to>
                                        <p:strVal val="visible"/>
                                      </p:to>
                                    </p:set>
                                    <p:anim calcmode="lin" valueType="num">
                                      <p:cBhvr additive="base">
                                        <p:cTn id="33" dur="500" fill="hold"/>
                                        <p:tgtEl>
                                          <p:spTgt spid="25603">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25603">
                                            <p:txEl>
                                              <p:pRg st="5" end="5"/>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25603">
                                            <p:txEl>
                                              <p:pRg st="6" end="6"/>
                                            </p:txEl>
                                          </p:spTgt>
                                        </p:tgtEl>
                                        <p:attrNameLst>
                                          <p:attrName>style.visibility</p:attrName>
                                        </p:attrNameLst>
                                      </p:cBhvr>
                                      <p:to>
                                        <p:strVal val="visible"/>
                                      </p:to>
                                    </p:set>
                                    <p:anim calcmode="lin" valueType="num">
                                      <p:cBhvr additive="base">
                                        <p:cTn id="37" dur="500" fill="hold"/>
                                        <p:tgtEl>
                                          <p:spTgt spid="25603">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5603">
                                            <p:txEl>
                                              <p:pRg st="6" end="6"/>
                                            </p:txEl>
                                          </p:spTgt>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25603">
                                            <p:txEl>
                                              <p:pRg st="7" end="7"/>
                                            </p:txEl>
                                          </p:spTgt>
                                        </p:tgtEl>
                                        <p:attrNameLst>
                                          <p:attrName>style.visibility</p:attrName>
                                        </p:attrNameLst>
                                      </p:cBhvr>
                                      <p:to>
                                        <p:strVal val="visible"/>
                                      </p:to>
                                    </p:set>
                                    <p:anim calcmode="lin" valueType="num">
                                      <p:cBhvr additive="base">
                                        <p:cTn id="41" dur="500" fill="hold"/>
                                        <p:tgtEl>
                                          <p:spTgt spid="25603">
                                            <p:txEl>
                                              <p:pRg st="7" end="7"/>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25603">
                                            <p:txEl>
                                              <p:pRg st="7" end="7"/>
                                            </p:tx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25603">
                                            <p:txEl>
                                              <p:pRg st="8" end="8"/>
                                            </p:txEl>
                                          </p:spTgt>
                                        </p:tgtEl>
                                        <p:attrNameLst>
                                          <p:attrName>style.visibility</p:attrName>
                                        </p:attrNameLst>
                                      </p:cBhvr>
                                      <p:to>
                                        <p:strVal val="visible"/>
                                      </p:to>
                                    </p:set>
                                    <p:anim calcmode="lin" valueType="num">
                                      <p:cBhvr additive="base">
                                        <p:cTn id="45" dur="500" fill="hold"/>
                                        <p:tgtEl>
                                          <p:spTgt spid="25603">
                                            <p:txEl>
                                              <p:pRg st="8" end="8"/>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25603">
                                            <p:txEl>
                                              <p:pRg st="8" end="8"/>
                                            </p:txEl>
                                          </p:spTgt>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25603">
                                            <p:txEl>
                                              <p:pRg st="9" end="9"/>
                                            </p:txEl>
                                          </p:spTgt>
                                        </p:tgtEl>
                                        <p:attrNameLst>
                                          <p:attrName>style.visibility</p:attrName>
                                        </p:attrNameLst>
                                      </p:cBhvr>
                                      <p:to>
                                        <p:strVal val="visible"/>
                                      </p:to>
                                    </p:set>
                                    <p:anim calcmode="lin" valueType="num">
                                      <p:cBhvr additive="base">
                                        <p:cTn id="49" dur="500" fill="hold"/>
                                        <p:tgtEl>
                                          <p:spTgt spid="25603">
                                            <p:txEl>
                                              <p:pRg st="9" end="9"/>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25603">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265907" y="213007"/>
            <a:ext cx="7610475" cy="558800"/>
          </a:xfrm>
        </p:spPr>
        <p:txBody>
          <a:bodyPr>
            <a:noAutofit/>
          </a:bodyPr>
          <a:lstStyle/>
          <a:p>
            <a:pPr eaLnBrk="1" hangingPunct="1"/>
            <a:r>
              <a:rPr lang="zh-CN" altLang="zh-CN">
                <a:ea typeface="华文楷体" panose="02010600040101010101" pitchFamily="2" charset="-122"/>
              </a:rPr>
              <a:t>  1.3 计算机网络结构</a:t>
            </a:r>
          </a:p>
        </p:txBody>
      </p:sp>
      <p:sp>
        <p:nvSpPr>
          <p:cNvPr id="26627" name="Rectangle 3"/>
          <p:cNvSpPr>
            <a:spLocks noGrp="1" noChangeArrowheads="1"/>
          </p:cNvSpPr>
          <p:nvPr>
            <p:ph idx="1"/>
          </p:nvPr>
        </p:nvSpPr>
        <p:spPr>
          <a:xfrm>
            <a:off x="1743076" y="2170114"/>
            <a:ext cx="4352925" cy="3094037"/>
          </a:xfrm>
          <a:solidFill>
            <a:srgbClr val="DDDDDD"/>
          </a:solidFill>
          <a:ln>
            <a:solidFill>
              <a:srgbClr val="CC99FF"/>
            </a:solidFill>
            <a:miter lim="800000"/>
            <a:headEnd/>
            <a:tailEnd/>
          </a:ln>
        </p:spPr>
        <p:txBody>
          <a:bodyPr/>
          <a:lstStyle/>
          <a:p>
            <a:pPr marL="0" indent="0" eaLnBrk="1" hangingPunct="1">
              <a:buNone/>
              <a:tabLst>
                <a:tab pos="1143000" algn="l"/>
              </a:tabLst>
            </a:pPr>
            <a:r>
              <a:rPr lang="zh-CN" altLang="zh-CN">
                <a:solidFill>
                  <a:schemeClr val="accent1"/>
                </a:solidFill>
                <a:ea typeface="华文楷体" panose="02010600040101010101" pitchFamily="2" charset="-122"/>
              </a:rPr>
              <a:t>    计算机网络划分为：</a:t>
            </a:r>
          </a:p>
          <a:p>
            <a:pPr marL="0" indent="0" eaLnBrk="1" hangingPunct="1">
              <a:tabLst>
                <a:tab pos="1143000" algn="l"/>
              </a:tabLst>
            </a:pPr>
            <a:r>
              <a:rPr lang="zh-CN" altLang="zh-CN" b="0">
                <a:solidFill>
                  <a:schemeClr val="accent1"/>
                </a:solidFill>
                <a:ea typeface="华文楷体" panose="02010600040101010101" pitchFamily="2" charset="-122"/>
              </a:rPr>
              <a:t>主机</a:t>
            </a:r>
            <a:r>
              <a:rPr lang="zh-CN" altLang="zh-CN" sz="2500" b="0">
                <a:solidFill>
                  <a:schemeClr val="accent1"/>
                </a:solidFill>
                <a:ea typeface="华文楷体" panose="02010600040101010101" pitchFamily="2" charset="-122"/>
              </a:rPr>
              <a:t>（Host）----资源子网</a:t>
            </a:r>
          </a:p>
          <a:p>
            <a:pPr marL="0" indent="0" eaLnBrk="1" hangingPunct="1">
              <a:tabLst>
                <a:tab pos="1143000" algn="l"/>
              </a:tabLst>
            </a:pPr>
            <a:r>
              <a:rPr lang="zh-CN" altLang="zh-CN" b="0">
                <a:solidFill>
                  <a:schemeClr val="accent1"/>
                </a:solidFill>
                <a:ea typeface="华文楷体" panose="02010600040101010101" pitchFamily="2" charset="-122"/>
              </a:rPr>
              <a:t>通信子网</a:t>
            </a:r>
            <a:r>
              <a:rPr lang="zh-CN" altLang="zh-CN" sz="2500" b="0">
                <a:solidFill>
                  <a:schemeClr val="accent1"/>
                </a:solidFill>
                <a:ea typeface="华文楷体" panose="02010600040101010101" pitchFamily="2" charset="-122"/>
              </a:rPr>
              <a:t>（Communication Subnet）</a:t>
            </a:r>
          </a:p>
          <a:p>
            <a:pPr marL="960438" lvl="1" indent="-379413" eaLnBrk="1" hangingPunct="1">
              <a:tabLst>
                <a:tab pos="1143000" algn="l"/>
              </a:tabLst>
            </a:pPr>
            <a:r>
              <a:rPr lang="zh-CN" altLang="zh-CN">
                <a:solidFill>
                  <a:schemeClr val="accent1"/>
                </a:solidFill>
                <a:ea typeface="华文楷体" panose="02010600040101010101" pitchFamily="2" charset="-122"/>
              </a:rPr>
              <a:t>转发结点 </a:t>
            </a:r>
            <a:r>
              <a:rPr lang="zh-CN" altLang="zh-CN">
                <a:solidFill>
                  <a:schemeClr val="accent1"/>
                </a:solidFill>
                <a:latin typeface="Arial" panose="020B0604020202020204" pitchFamily="34" charset="0"/>
                <a:ea typeface="华文楷体" panose="02010600040101010101" pitchFamily="2" charset="-122"/>
              </a:rPr>
              <a:t>—</a:t>
            </a:r>
            <a:r>
              <a:rPr lang="zh-CN" altLang="zh-CN">
                <a:solidFill>
                  <a:schemeClr val="accent1"/>
                </a:solidFill>
                <a:ea typeface="华文楷体" panose="02010600040101010101" pitchFamily="2" charset="-122"/>
              </a:rPr>
              <a:t>用于转发数据 包的专用计算机</a:t>
            </a:r>
          </a:p>
        </p:txBody>
      </p:sp>
      <p:grpSp>
        <p:nvGrpSpPr>
          <p:cNvPr id="26628" name="Group 4"/>
          <p:cNvGrpSpPr>
            <a:grpSpLocks/>
          </p:cNvGrpSpPr>
          <p:nvPr/>
        </p:nvGrpSpPr>
        <p:grpSpPr bwMode="auto">
          <a:xfrm>
            <a:off x="6473826" y="1901825"/>
            <a:ext cx="3838575" cy="3454400"/>
            <a:chOff x="0" y="0"/>
            <a:chExt cx="2496" cy="2160"/>
          </a:xfrm>
        </p:grpSpPr>
        <p:sp>
          <p:nvSpPr>
            <p:cNvPr id="2" name="Rectangle 5"/>
            <p:cNvSpPr>
              <a:spLocks noChangeArrowheads="1"/>
            </p:cNvSpPr>
            <p:nvPr/>
          </p:nvSpPr>
          <p:spPr bwMode="auto">
            <a:xfrm>
              <a:off x="0" y="0"/>
              <a:ext cx="2496" cy="2160"/>
            </a:xfrm>
            <a:prstGeom prst="rect">
              <a:avLst/>
            </a:prstGeom>
            <a:solidFill>
              <a:srgbClr val="FFFF99"/>
            </a:solidFill>
            <a:ln w="9525">
              <a:solidFill>
                <a:schemeClr val="accent1"/>
              </a:solidFill>
              <a:miter lim="800000"/>
              <a:headEnd/>
              <a:tailEnd/>
            </a:ln>
            <a:effectLst>
              <a:outerShdw dist="198380" dir="3011666" algn="ctr" rotWithShape="0">
                <a:srgbClr val="000066">
                  <a:alpha val="50000"/>
                </a:srgbClr>
              </a:outerShdw>
            </a:effectLst>
          </p:spPr>
          <p:txBody>
            <a:bodyPr wrap="none" anchor="ctr"/>
            <a:lstStyle/>
            <a:p>
              <a:pPr algn="ctr" eaLnBrk="0" hangingPunct="0"/>
              <a:endParaRPr lang="zh-CN" altLang="en-US">
                <a:latin typeface="Times New Roman" panose="02020603050405020304" pitchFamily="18" charset="0"/>
              </a:endParaRPr>
            </a:p>
          </p:txBody>
        </p:sp>
        <p:sp>
          <p:nvSpPr>
            <p:cNvPr id="26629" name="AutoShape 6"/>
            <p:cNvSpPr>
              <a:spLocks noChangeArrowheads="1"/>
            </p:cNvSpPr>
            <p:nvPr/>
          </p:nvSpPr>
          <p:spPr bwMode="auto">
            <a:xfrm>
              <a:off x="588" y="494"/>
              <a:ext cx="1332" cy="1191"/>
            </a:xfrm>
            <a:prstGeom prst="cloudCallout">
              <a:avLst>
                <a:gd name="adj1" fmla="val -40014"/>
                <a:gd name="adj2" fmla="val -3736"/>
              </a:avLst>
            </a:prstGeom>
            <a:solidFill>
              <a:srgbClr val="66FF33"/>
            </a:solidFill>
            <a:ln w="19050">
              <a:solidFill>
                <a:schemeClr val="accent1"/>
              </a:solidFill>
              <a:prstDash val="dash"/>
              <a:round/>
              <a:headEnd/>
              <a:tailEnd/>
            </a:ln>
          </p:spPr>
          <p:txBody>
            <a:bodyPr lIns="0" tIns="0" rIns="0" bIns="0" anchor="ctr"/>
            <a:lstStyle/>
            <a:p>
              <a:pPr algn="ctr"/>
              <a:endParaRPr lang="zh-CN" altLang="zh-CN" sz="2400">
                <a:solidFill>
                  <a:schemeClr val="accent1"/>
                </a:solidFill>
                <a:ea typeface="华文楷体" panose="02010600040101010101" pitchFamily="2" charset="-122"/>
              </a:endParaRPr>
            </a:p>
          </p:txBody>
        </p:sp>
        <p:sp>
          <p:nvSpPr>
            <p:cNvPr id="26630" name="Line 7"/>
            <p:cNvSpPr>
              <a:spLocks noChangeShapeType="1"/>
            </p:cNvSpPr>
            <p:nvPr/>
          </p:nvSpPr>
          <p:spPr bwMode="auto">
            <a:xfrm flipV="1">
              <a:off x="384" y="1291"/>
              <a:ext cx="434" cy="197"/>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31" name="Line 8"/>
            <p:cNvSpPr>
              <a:spLocks noChangeShapeType="1"/>
            </p:cNvSpPr>
            <p:nvPr/>
          </p:nvSpPr>
          <p:spPr bwMode="auto">
            <a:xfrm>
              <a:off x="288" y="576"/>
              <a:ext cx="588" cy="199"/>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32" name="Line 9"/>
            <p:cNvSpPr>
              <a:spLocks noChangeShapeType="1"/>
            </p:cNvSpPr>
            <p:nvPr/>
          </p:nvSpPr>
          <p:spPr bwMode="auto">
            <a:xfrm flipH="1">
              <a:off x="1776" y="384"/>
              <a:ext cx="432" cy="384"/>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33" name="Line 10"/>
            <p:cNvSpPr>
              <a:spLocks noChangeShapeType="1"/>
            </p:cNvSpPr>
            <p:nvPr/>
          </p:nvSpPr>
          <p:spPr bwMode="auto">
            <a:xfrm flipH="1" flipV="1">
              <a:off x="1680" y="1296"/>
              <a:ext cx="480" cy="384"/>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34" name="Rectangle 11"/>
            <p:cNvSpPr>
              <a:spLocks noChangeArrowheads="1"/>
            </p:cNvSpPr>
            <p:nvPr/>
          </p:nvSpPr>
          <p:spPr bwMode="auto">
            <a:xfrm>
              <a:off x="144" y="432"/>
              <a:ext cx="240" cy="240"/>
            </a:xfrm>
            <a:prstGeom prst="rect">
              <a:avLst/>
            </a:prstGeom>
            <a:solidFill>
              <a:srgbClr val="00FF99"/>
            </a:solidFill>
            <a:ln w="28575">
              <a:solidFill>
                <a:schemeClr val="accent1"/>
              </a:solidFill>
              <a:miter lim="800000"/>
              <a:headEnd/>
              <a:tailEnd/>
            </a:ln>
          </p:spPr>
          <p:txBody>
            <a:bodyPr wrap="none" anchor="ctr"/>
            <a:lstStyle/>
            <a:p>
              <a:pPr algn="ctr"/>
              <a:r>
                <a:rPr lang="zh-CN" altLang="zh-CN" sz="2400">
                  <a:solidFill>
                    <a:schemeClr val="accent1"/>
                  </a:solidFill>
                  <a:ea typeface="华文楷体" panose="02010600040101010101" pitchFamily="2" charset="-122"/>
                </a:rPr>
                <a:t>H</a:t>
              </a:r>
            </a:p>
          </p:txBody>
        </p:sp>
        <p:sp>
          <p:nvSpPr>
            <p:cNvPr id="26635" name="Rectangle 12"/>
            <p:cNvSpPr>
              <a:spLocks noChangeArrowheads="1"/>
            </p:cNvSpPr>
            <p:nvPr/>
          </p:nvSpPr>
          <p:spPr bwMode="auto">
            <a:xfrm>
              <a:off x="2112" y="240"/>
              <a:ext cx="240" cy="240"/>
            </a:xfrm>
            <a:prstGeom prst="rect">
              <a:avLst/>
            </a:prstGeom>
            <a:solidFill>
              <a:srgbClr val="00FF99"/>
            </a:solidFill>
            <a:ln w="28575">
              <a:solidFill>
                <a:schemeClr val="accent1"/>
              </a:solidFill>
              <a:miter lim="800000"/>
              <a:headEnd/>
              <a:tailEnd/>
            </a:ln>
          </p:spPr>
          <p:txBody>
            <a:bodyPr wrap="none" anchor="ctr"/>
            <a:lstStyle/>
            <a:p>
              <a:pPr algn="ctr"/>
              <a:r>
                <a:rPr lang="zh-CN" altLang="zh-CN" sz="2400">
                  <a:solidFill>
                    <a:schemeClr val="accent1"/>
                  </a:solidFill>
                  <a:ea typeface="华文楷体" panose="02010600040101010101" pitchFamily="2" charset="-122"/>
                </a:rPr>
                <a:t>H</a:t>
              </a:r>
            </a:p>
          </p:txBody>
        </p:sp>
        <p:sp>
          <p:nvSpPr>
            <p:cNvPr id="26636" name="Rectangle 13"/>
            <p:cNvSpPr>
              <a:spLocks noChangeArrowheads="1"/>
            </p:cNvSpPr>
            <p:nvPr/>
          </p:nvSpPr>
          <p:spPr bwMode="auto">
            <a:xfrm>
              <a:off x="2112" y="1584"/>
              <a:ext cx="240" cy="240"/>
            </a:xfrm>
            <a:prstGeom prst="rect">
              <a:avLst/>
            </a:prstGeom>
            <a:solidFill>
              <a:srgbClr val="00FF99"/>
            </a:solidFill>
            <a:ln w="28575">
              <a:solidFill>
                <a:schemeClr val="accent1"/>
              </a:solidFill>
              <a:miter lim="800000"/>
              <a:headEnd/>
              <a:tailEnd/>
            </a:ln>
          </p:spPr>
          <p:txBody>
            <a:bodyPr wrap="none" anchor="ctr"/>
            <a:lstStyle/>
            <a:p>
              <a:pPr algn="ctr"/>
              <a:r>
                <a:rPr lang="zh-CN" altLang="zh-CN" sz="2400">
                  <a:solidFill>
                    <a:schemeClr val="accent1"/>
                  </a:solidFill>
                  <a:ea typeface="华文楷体" panose="02010600040101010101" pitchFamily="2" charset="-122"/>
                </a:rPr>
                <a:t>H</a:t>
              </a:r>
            </a:p>
          </p:txBody>
        </p:sp>
        <p:sp>
          <p:nvSpPr>
            <p:cNvPr id="26637" name="Rectangle 14"/>
            <p:cNvSpPr>
              <a:spLocks noChangeArrowheads="1"/>
            </p:cNvSpPr>
            <p:nvPr/>
          </p:nvSpPr>
          <p:spPr bwMode="auto">
            <a:xfrm>
              <a:off x="192" y="1440"/>
              <a:ext cx="240" cy="240"/>
            </a:xfrm>
            <a:prstGeom prst="rect">
              <a:avLst/>
            </a:prstGeom>
            <a:solidFill>
              <a:srgbClr val="00FF99"/>
            </a:solidFill>
            <a:ln w="28575">
              <a:solidFill>
                <a:schemeClr val="accent1"/>
              </a:solidFill>
              <a:miter lim="800000"/>
              <a:headEnd/>
              <a:tailEnd/>
            </a:ln>
          </p:spPr>
          <p:txBody>
            <a:bodyPr wrap="none" anchor="ctr"/>
            <a:lstStyle/>
            <a:p>
              <a:pPr algn="ctr"/>
              <a:r>
                <a:rPr lang="zh-CN" altLang="zh-CN" sz="2400">
                  <a:solidFill>
                    <a:schemeClr val="accent1"/>
                  </a:solidFill>
                  <a:ea typeface="华文楷体" panose="02010600040101010101" pitchFamily="2" charset="-122"/>
                </a:rPr>
                <a:t>H</a:t>
              </a:r>
            </a:p>
          </p:txBody>
        </p:sp>
        <p:sp>
          <p:nvSpPr>
            <p:cNvPr id="26638" name="AutoShape 15"/>
            <p:cNvSpPr>
              <a:spLocks noChangeArrowheads="1"/>
            </p:cNvSpPr>
            <p:nvPr/>
          </p:nvSpPr>
          <p:spPr bwMode="auto">
            <a:xfrm>
              <a:off x="912" y="1776"/>
              <a:ext cx="664" cy="240"/>
            </a:xfrm>
            <a:prstGeom prst="roundRect">
              <a:avLst>
                <a:gd name="adj" fmla="val 1666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zh-CN" sz="2000">
                  <a:solidFill>
                    <a:schemeClr val="accent1"/>
                  </a:solidFill>
                  <a:ea typeface="华文楷体" panose="02010600040101010101" pitchFamily="2" charset="-122"/>
                </a:rPr>
                <a:t>资源子网</a:t>
              </a:r>
            </a:p>
          </p:txBody>
        </p:sp>
        <p:sp>
          <p:nvSpPr>
            <p:cNvPr id="26639" name="Line 16"/>
            <p:cNvSpPr>
              <a:spLocks noChangeShapeType="1"/>
            </p:cNvSpPr>
            <p:nvPr/>
          </p:nvSpPr>
          <p:spPr bwMode="auto">
            <a:xfrm flipH="1" flipV="1">
              <a:off x="480" y="1680"/>
              <a:ext cx="432" cy="192"/>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40" name="Line 17"/>
            <p:cNvSpPr>
              <a:spLocks noChangeShapeType="1"/>
            </p:cNvSpPr>
            <p:nvPr/>
          </p:nvSpPr>
          <p:spPr bwMode="auto">
            <a:xfrm flipV="1">
              <a:off x="1568" y="1776"/>
              <a:ext cx="496" cy="137"/>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41" name="AutoShape 18"/>
            <p:cNvSpPr>
              <a:spLocks noChangeArrowheads="1"/>
            </p:cNvSpPr>
            <p:nvPr/>
          </p:nvSpPr>
          <p:spPr bwMode="auto">
            <a:xfrm>
              <a:off x="419" y="96"/>
              <a:ext cx="925" cy="240"/>
            </a:xfrm>
            <a:prstGeom prst="roundRect">
              <a:avLst>
                <a:gd name="adj" fmla="val 16667"/>
              </a:avLst>
            </a:prstGeom>
            <a:noFill/>
            <a:ln w="127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zh-CN" sz="2400">
                  <a:solidFill>
                    <a:schemeClr val="accent1"/>
                  </a:solidFill>
                  <a:ea typeface="华文楷体" panose="02010600040101010101" pitchFamily="2" charset="-122"/>
                </a:rPr>
                <a:t>通信子网</a:t>
              </a:r>
            </a:p>
          </p:txBody>
        </p:sp>
        <p:sp>
          <p:nvSpPr>
            <p:cNvPr id="26642" name="Line 19"/>
            <p:cNvSpPr>
              <a:spLocks noChangeShapeType="1"/>
            </p:cNvSpPr>
            <p:nvPr/>
          </p:nvSpPr>
          <p:spPr bwMode="auto">
            <a:xfrm>
              <a:off x="804" y="336"/>
              <a:ext cx="252" cy="24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43" name="Rectangle 20"/>
            <p:cNvSpPr>
              <a:spLocks noChangeArrowheads="1"/>
            </p:cNvSpPr>
            <p:nvPr/>
          </p:nvSpPr>
          <p:spPr bwMode="auto">
            <a:xfrm>
              <a:off x="1392" y="1152"/>
              <a:ext cx="96" cy="96"/>
            </a:xfrm>
            <a:prstGeom prst="rect">
              <a:avLst/>
            </a:prstGeom>
            <a:solidFill>
              <a:schemeClr val="accent1"/>
            </a:solidFill>
            <a:ln w="28575">
              <a:solidFill>
                <a:schemeClr val="accent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6644" name="Line 21"/>
            <p:cNvSpPr>
              <a:spLocks noChangeShapeType="1"/>
            </p:cNvSpPr>
            <p:nvPr/>
          </p:nvSpPr>
          <p:spPr bwMode="auto">
            <a:xfrm flipH="1">
              <a:off x="1104" y="960"/>
              <a:ext cx="48" cy="144"/>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45" name="Line 22"/>
            <p:cNvSpPr>
              <a:spLocks noChangeShapeType="1"/>
            </p:cNvSpPr>
            <p:nvPr/>
          </p:nvSpPr>
          <p:spPr bwMode="auto">
            <a:xfrm>
              <a:off x="1200" y="912"/>
              <a:ext cx="240" cy="24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46" name="Line 23"/>
            <p:cNvSpPr>
              <a:spLocks noChangeShapeType="1"/>
            </p:cNvSpPr>
            <p:nvPr/>
          </p:nvSpPr>
          <p:spPr bwMode="auto">
            <a:xfrm>
              <a:off x="1152" y="1152"/>
              <a:ext cx="240" cy="48"/>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47" name="Line 24"/>
            <p:cNvSpPr>
              <a:spLocks noChangeShapeType="1"/>
            </p:cNvSpPr>
            <p:nvPr/>
          </p:nvSpPr>
          <p:spPr bwMode="auto">
            <a:xfrm flipV="1">
              <a:off x="1200" y="757"/>
              <a:ext cx="523" cy="155"/>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48" name="Line 25"/>
            <p:cNvSpPr>
              <a:spLocks noChangeShapeType="1"/>
            </p:cNvSpPr>
            <p:nvPr/>
          </p:nvSpPr>
          <p:spPr bwMode="auto">
            <a:xfrm>
              <a:off x="1488" y="1200"/>
              <a:ext cx="192" cy="74"/>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49" name="Line 26"/>
            <p:cNvSpPr>
              <a:spLocks noChangeShapeType="1"/>
            </p:cNvSpPr>
            <p:nvPr/>
          </p:nvSpPr>
          <p:spPr bwMode="auto">
            <a:xfrm flipV="1">
              <a:off x="828" y="1152"/>
              <a:ext cx="276" cy="121"/>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50" name="Rectangle 27"/>
            <p:cNvSpPr>
              <a:spLocks noChangeArrowheads="1"/>
            </p:cNvSpPr>
            <p:nvPr/>
          </p:nvSpPr>
          <p:spPr bwMode="auto">
            <a:xfrm>
              <a:off x="1056" y="1104"/>
              <a:ext cx="96" cy="96"/>
            </a:xfrm>
            <a:prstGeom prst="rect">
              <a:avLst/>
            </a:prstGeom>
            <a:solidFill>
              <a:schemeClr val="accent1"/>
            </a:solidFill>
            <a:ln w="28575">
              <a:solidFill>
                <a:schemeClr val="accent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6651" name="AutoShape 28"/>
            <p:cNvSpPr>
              <a:spLocks noChangeArrowheads="1"/>
            </p:cNvSpPr>
            <p:nvPr/>
          </p:nvSpPr>
          <p:spPr bwMode="auto">
            <a:xfrm>
              <a:off x="1990" y="768"/>
              <a:ext cx="458" cy="516"/>
            </a:xfrm>
            <a:prstGeom prst="roundRect">
              <a:avLst>
                <a:gd name="adj" fmla="val 1666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zh-CN" sz="2400">
                  <a:solidFill>
                    <a:schemeClr val="accent1"/>
                  </a:solidFill>
                  <a:ea typeface="华文楷体" panose="02010600040101010101" pitchFamily="2" charset="-122"/>
                </a:rPr>
                <a:t>转发</a:t>
              </a:r>
            </a:p>
            <a:p>
              <a:pPr algn="ctr"/>
              <a:r>
                <a:rPr lang="zh-CN" altLang="zh-CN" sz="2400">
                  <a:solidFill>
                    <a:schemeClr val="accent1"/>
                  </a:solidFill>
                  <a:ea typeface="华文楷体" panose="02010600040101010101" pitchFamily="2" charset="-122"/>
                </a:rPr>
                <a:t>结点</a:t>
              </a:r>
            </a:p>
          </p:txBody>
        </p:sp>
        <p:sp>
          <p:nvSpPr>
            <p:cNvPr id="26652" name="Line 29"/>
            <p:cNvSpPr>
              <a:spLocks noChangeShapeType="1"/>
            </p:cNvSpPr>
            <p:nvPr/>
          </p:nvSpPr>
          <p:spPr bwMode="auto">
            <a:xfrm flipH="1" flipV="1">
              <a:off x="1847" y="768"/>
              <a:ext cx="152" cy="53"/>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53" name="Rectangle 30"/>
            <p:cNvSpPr>
              <a:spLocks noChangeArrowheads="1"/>
            </p:cNvSpPr>
            <p:nvPr/>
          </p:nvSpPr>
          <p:spPr bwMode="auto">
            <a:xfrm>
              <a:off x="1730" y="703"/>
              <a:ext cx="96" cy="96"/>
            </a:xfrm>
            <a:prstGeom prst="rect">
              <a:avLst/>
            </a:prstGeom>
            <a:solidFill>
              <a:schemeClr val="accent1"/>
            </a:solidFill>
            <a:ln w="28575">
              <a:solidFill>
                <a:schemeClr val="accent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6654" name="Rectangle 31"/>
            <p:cNvSpPr>
              <a:spLocks noChangeArrowheads="1"/>
            </p:cNvSpPr>
            <p:nvPr/>
          </p:nvSpPr>
          <p:spPr bwMode="auto">
            <a:xfrm>
              <a:off x="773" y="1245"/>
              <a:ext cx="96" cy="96"/>
            </a:xfrm>
            <a:prstGeom prst="rect">
              <a:avLst/>
            </a:prstGeom>
            <a:solidFill>
              <a:schemeClr val="accent1"/>
            </a:solidFill>
            <a:ln w="28575">
              <a:solidFill>
                <a:schemeClr val="accent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6655" name="Rectangle 32"/>
            <p:cNvSpPr>
              <a:spLocks noChangeArrowheads="1"/>
            </p:cNvSpPr>
            <p:nvPr/>
          </p:nvSpPr>
          <p:spPr bwMode="auto">
            <a:xfrm>
              <a:off x="1663" y="1254"/>
              <a:ext cx="96" cy="96"/>
            </a:xfrm>
            <a:prstGeom prst="rect">
              <a:avLst/>
            </a:prstGeom>
            <a:solidFill>
              <a:schemeClr val="accent1"/>
            </a:solidFill>
            <a:ln w="28575">
              <a:solidFill>
                <a:schemeClr val="accent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6656" name="Line 33"/>
            <p:cNvSpPr>
              <a:spLocks noChangeShapeType="1"/>
            </p:cNvSpPr>
            <p:nvPr/>
          </p:nvSpPr>
          <p:spPr bwMode="auto">
            <a:xfrm>
              <a:off x="912" y="827"/>
              <a:ext cx="260" cy="73"/>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57" name="Rectangle 34"/>
            <p:cNvSpPr>
              <a:spLocks noChangeArrowheads="1"/>
            </p:cNvSpPr>
            <p:nvPr/>
          </p:nvSpPr>
          <p:spPr bwMode="auto">
            <a:xfrm>
              <a:off x="849" y="737"/>
              <a:ext cx="96" cy="96"/>
            </a:xfrm>
            <a:prstGeom prst="rect">
              <a:avLst/>
            </a:prstGeom>
            <a:solidFill>
              <a:schemeClr val="accent1"/>
            </a:solidFill>
            <a:ln w="28575">
              <a:solidFill>
                <a:schemeClr val="accent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6658" name="Rectangle 35"/>
            <p:cNvSpPr>
              <a:spLocks noChangeArrowheads="1"/>
            </p:cNvSpPr>
            <p:nvPr/>
          </p:nvSpPr>
          <p:spPr bwMode="auto">
            <a:xfrm>
              <a:off x="1104" y="864"/>
              <a:ext cx="96" cy="96"/>
            </a:xfrm>
            <a:prstGeom prst="rect">
              <a:avLst/>
            </a:prstGeom>
            <a:solidFill>
              <a:schemeClr val="accent1"/>
            </a:solidFill>
            <a:ln w="28575">
              <a:solidFill>
                <a:schemeClr val="accent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6659" name="Line 36"/>
            <p:cNvSpPr>
              <a:spLocks noChangeShapeType="1"/>
            </p:cNvSpPr>
            <p:nvPr/>
          </p:nvSpPr>
          <p:spPr bwMode="auto">
            <a:xfrm flipV="1">
              <a:off x="1437" y="977"/>
              <a:ext cx="58" cy="18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60" name="Line 37"/>
            <p:cNvSpPr>
              <a:spLocks noChangeShapeType="1"/>
            </p:cNvSpPr>
            <p:nvPr/>
          </p:nvSpPr>
          <p:spPr bwMode="auto">
            <a:xfrm flipV="1">
              <a:off x="1768" y="791"/>
              <a:ext cx="32" cy="137"/>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6661" name="Line 38"/>
            <p:cNvSpPr>
              <a:spLocks noChangeShapeType="1"/>
            </p:cNvSpPr>
            <p:nvPr/>
          </p:nvSpPr>
          <p:spPr bwMode="auto">
            <a:xfrm flipH="1">
              <a:off x="1765" y="1194"/>
              <a:ext cx="218" cy="88"/>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6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66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662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6627">
                                            <p:txEl>
                                              <p:pRg st="3" end="3"/>
                                            </p:txEl>
                                          </p:spTgt>
                                        </p:tgtEl>
                                        <p:attrNameLst>
                                          <p:attrName>style.visibility</p:attrName>
                                        </p:attrNameLst>
                                      </p:cBhvr>
                                      <p:to>
                                        <p:strVal val="visible"/>
                                      </p:to>
                                    </p:set>
                                  </p:childTnLst>
                                </p:cTn>
                              </p:par>
                            </p:childTnLst>
                          </p:cTn>
                        </p:par>
                        <p:par>
                          <p:cTn id="17" fill="hold" nodeType="afterGroup">
                            <p:stCondLst>
                              <p:cond delay="500"/>
                            </p:stCondLst>
                            <p:childTnLst>
                              <p:par>
                                <p:cTn id="18" presetID="2" presetClass="entr" presetSubtype="2" fill="hold" nodeType="afterEffect">
                                  <p:stCondLst>
                                    <p:cond delay="0"/>
                                  </p:stCondLst>
                                  <p:childTnLst>
                                    <p:set>
                                      <p:cBhvr>
                                        <p:cTn id="19" dur="1" fill="hold">
                                          <p:stCondLst>
                                            <p:cond delay="0"/>
                                          </p:stCondLst>
                                        </p:cTn>
                                        <p:tgtEl>
                                          <p:spTgt spid="26628"/>
                                        </p:tgtEl>
                                        <p:attrNameLst>
                                          <p:attrName>style.visibility</p:attrName>
                                        </p:attrNameLst>
                                      </p:cBhvr>
                                      <p:to>
                                        <p:strVal val="visible"/>
                                      </p:to>
                                    </p:set>
                                    <p:anim calcmode="lin" valueType="num">
                                      <p:cBhvr additive="base">
                                        <p:cTn id="20" dur="500" fill="hold"/>
                                        <p:tgtEl>
                                          <p:spTgt spid="26628"/>
                                        </p:tgtEl>
                                        <p:attrNameLst>
                                          <p:attrName>ppt_x</p:attrName>
                                        </p:attrNameLst>
                                      </p:cBhvr>
                                      <p:tavLst>
                                        <p:tav tm="0">
                                          <p:val>
                                            <p:strVal val="1+#ppt_w/2"/>
                                          </p:val>
                                        </p:tav>
                                        <p:tav tm="100000">
                                          <p:val>
                                            <p:strVal val="#ppt_x"/>
                                          </p:val>
                                        </p:tav>
                                      </p:tavLst>
                                    </p:anim>
                                    <p:anim calcmode="lin" valueType="num">
                                      <p:cBhvr additive="base">
                                        <p:cTn id="21" dur="500" fill="hold"/>
                                        <p:tgtEl>
                                          <p:spTgt spid="266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ChangeArrowheads="1"/>
          </p:cNvSpPr>
          <p:nvPr/>
        </p:nvSpPr>
        <p:spPr bwMode="auto">
          <a:xfrm>
            <a:off x="4324350" y="242411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endParaRPr lang="zh-CN" altLang="en-US">
              <a:latin typeface="Times New Roman" panose="02020603050405020304" pitchFamily="18" charset="0"/>
            </a:endParaRPr>
          </a:p>
        </p:txBody>
      </p:sp>
      <p:pic>
        <p:nvPicPr>
          <p:cNvPr id="28675" name="Picture 3" descr="../../../../../360云盘/12-13-1教学/计算机网络/第1章 概论及网络体系结构/http:/www.dlc.sjtu.edu.cn/webcourses/network/chap1/images/packnet.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732089" y="1250950"/>
            <a:ext cx="6726237"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 Box 4"/>
          <p:cNvSpPr txBox="1">
            <a:spLocks noChangeArrowheads="1"/>
          </p:cNvSpPr>
          <p:nvPr/>
        </p:nvSpPr>
        <p:spPr bwMode="auto">
          <a:xfrm>
            <a:off x="1889126" y="4999039"/>
            <a:ext cx="8412163" cy="138499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zh-CN">
                <a:solidFill>
                  <a:schemeClr val="accent1"/>
                </a:solidFill>
                <a:ea typeface="华文楷体" panose="02010600040101010101" pitchFamily="2" charset="-122"/>
              </a:rPr>
              <a:t>从层次结构上看，计算机网络一般由：</a:t>
            </a:r>
            <a:r>
              <a:rPr lang="zh-CN" altLang="zh-CN" i="1">
                <a:solidFill>
                  <a:srgbClr val="000099"/>
                </a:solidFill>
                <a:ea typeface="华文楷体" panose="02010600040101010101" pitchFamily="2" charset="-122"/>
              </a:rPr>
              <a:t>网络边界</a:t>
            </a:r>
            <a:r>
              <a:rPr lang="zh-CN" altLang="zh-CN">
                <a:solidFill>
                  <a:schemeClr val="accent1"/>
                </a:solidFill>
                <a:ea typeface="华文楷体" panose="02010600040101010101" pitchFamily="2" charset="-122"/>
              </a:rPr>
              <a:t>（</a:t>
            </a:r>
            <a:r>
              <a:rPr lang="zh-CN" altLang="zh-CN" sz="2400">
                <a:solidFill>
                  <a:schemeClr val="accent1"/>
                </a:solidFill>
                <a:ea typeface="华文楷体" panose="02010600040101010101" pitchFamily="2" charset="-122"/>
              </a:rPr>
              <a:t>端系统（主机与应用））、</a:t>
            </a:r>
            <a:r>
              <a:rPr lang="zh-CN" altLang="zh-CN" i="1">
                <a:solidFill>
                  <a:srgbClr val="000099"/>
                </a:solidFill>
                <a:ea typeface="华文楷体" panose="02010600040101010101" pitchFamily="2" charset="-122"/>
              </a:rPr>
              <a:t>网络核心</a:t>
            </a:r>
            <a:r>
              <a:rPr lang="zh-CN" altLang="zh-CN">
                <a:solidFill>
                  <a:schemeClr val="accent1"/>
                </a:solidFill>
                <a:ea typeface="华文楷体" panose="02010600040101010101" pitchFamily="2" charset="-122"/>
              </a:rPr>
              <a:t>（ </a:t>
            </a:r>
            <a:r>
              <a:rPr lang="zh-CN" altLang="zh-CN" sz="2400">
                <a:solidFill>
                  <a:schemeClr val="accent1"/>
                </a:solidFill>
                <a:ea typeface="华文楷体" panose="02010600040101010101" pitchFamily="2" charset="-122"/>
              </a:rPr>
              <a:t>骨干网（路由器、网中网））</a:t>
            </a:r>
            <a:r>
              <a:rPr lang="zh-CN" altLang="zh-CN">
                <a:solidFill>
                  <a:schemeClr val="accent1"/>
                </a:solidFill>
                <a:ea typeface="华文楷体" panose="02010600040101010101" pitchFamily="2" charset="-122"/>
              </a:rPr>
              <a:t>、</a:t>
            </a:r>
            <a:r>
              <a:rPr lang="zh-CN" altLang="zh-CN" i="1">
                <a:solidFill>
                  <a:srgbClr val="000099"/>
                </a:solidFill>
                <a:ea typeface="华文楷体" panose="02010600040101010101" pitchFamily="2" charset="-122"/>
              </a:rPr>
              <a:t>接入网</a:t>
            </a:r>
            <a:r>
              <a:rPr lang="zh-CN" altLang="zh-CN" sz="2400">
                <a:solidFill>
                  <a:schemeClr val="accent1"/>
                </a:solidFill>
                <a:ea typeface="华文楷体" panose="02010600040101010101" pitchFamily="2" charset="-122"/>
              </a:rPr>
              <a:t>（通信链路和接入设备）</a:t>
            </a:r>
            <a:r>
              <a:rPr lang="zh-CN" altLang="zh-CN">
                <a:solidFill>
                  <a:schemeClr val="accent1"/>
                </a:solidFill>
                <a:ea typeface="华文楷体" panose="02010600040101010101" pitchFamily="2" charset="-122"/>
              </a:rPr>
              <a:t>等三部分组成。 </a:t>
            </a:r>
          </a:p>
        </p:txBody>
      </p:sp>
      <p:grpSp>
        <p:nvGrpSpPr>
          <p:cNvPr id="28677" name="Group 5"/>
          <p:cNvGrpSpPr>
            <a:grpSpLocks/>
          </p:cNvGrpSpPr>
          <p:nvPr/>
        </p:nvGrpSpPr>
        <p:grpSpPr bwMode="auto">
          <a:xfrm>
            <a:off x="2820989" y="1535113"/>
            <a:ext cx="6378575" cy="3160712"/>
            <a:chOff x="0" y="0"/>
            <a:chExt cx="5280" cy="2652"/>
          </a:xfrm>
        </p:grpSpPr>
        <p:sp>
          <p:nvSpPr>
            <p:cNvPr id="2" name="Oval 6"/>
            <p:cNvSpPr>
              <a:spLocks noChangeArrowheads="1"/>
            </p:cNvSpPr>
            <p:nvPr/>
          </p:nvSpPr>
          <p:spPr bwMode="auto">
            <a:xfrm>
              <a:off x="600" y="0"/>
              <a:ext cx="2880" cy="2496"/>
            </a:xfrm>
            <a:prstGeom prst="ellipse">
              <a:avLst/>
            </a:prstGeom>
            <a:noFill/>
            <a:ln w="9525">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latin typeface="Times New Roman" panose="02020603050405020304" pitchFamily="18" charset="0"/>
              </a:endParaRPr>
            </a:p>
          </p:txBody>
        </p:sp>
        <p:grpSp>
          <p:nvGrpSpPr>
            <p:cNvPr id="28678" name="Group 7"/>
            <p:cNvGrpSpPr>
              <a:grpSpLocks/>
            </p:cNvGrpSpPr>
            <p:nvPr/>
          </p:nvGrpSpPr>
          <p:grpSpPr bwMode="auto">
            <a:xfrm>
              <a:off x="0" y="312"/>
              <a:ext cx="5280" cy="2340"/>
              <a:chOff x="0" y="0"/>
              <a:chExt cx="5280" cy="2340"/>
            </a:xfrm>
          </p:grpSpPr>
          <p:sp>
            <p:nvSpPr>
              <p:cNvPr id="28679" name="Text Box 8"/>
              <p:cNvSpPr txBox="1">
                <a:spLocks noChangeArrowheads="1"/>
              </p:cNvSpPr>
              <p:nvPr/>
            </p:nvSpPr>
            <p:spPr bwMode="auto">
              <a:xfrm>
                <a:off x="3840" y="0"/>
                <a:ext cx="1440" cy="468"/>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zh-CN" sz="2400">
                    <a:solidFill>
                      <a:schemeClr val="accent1"/>
                    </a:solidFill>
                    <a:ea typeface="华文楷体" panose="02010600040101010101" pitchFamily="2" charset="-122"/>
                  </a:rPr>
                  <a:t>骨 干 网</a:t>
                </a:r>
              </a:p>
            </p:txBody>
          </p:sp>
          <p:sp>
            <p:nvSpPr>
              <p:cNvPr id="28680" name="Text Box 9"/>
              <p:cNvSpPr txBox="1">
                <a:spLocks noChangeArrowheads="1"/>
              </p:cNvSpPr>
              <p:nvPr/>
            </p:nvSpPr>
            <p:spPr bwMode="auto">
              <a:xfrm>
                <a:off x="4200" y="936"/>
                <a:ext cx="108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zh-CN">
                    <a:solidFill>
                      <a:schemeClr val="accent1"/>
                    </a:solidFill>
                    <a:ea typeface="华文楷体" panose="02010600040101010101" pitchFamily="2" charset="-122"/>
                  </a:rPr>
                  <a:t>接入网</a:t>
                </a:r>
              </a:p>
            </p:txBody>
          </p:sp>
          <p:sp>
            <p:nvSpPr>
              <p:cNvPr id="28681" name="Text Box 10"/>
              <p:cNvSpPr txBox="1">
                <a:spLocks noChangeArrowheads="1"/>
              </p:cNvSpPr>
              <p:nvPr/>
            </p:nvSpPr>
            <p:spPr bwMode="auto">
              <a:xfrm>
                <a:off x="0" y="1872"/>
                <a:ext cx="96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zh-CN" sz="2400">
                    <a:solidFill>
                      <a:schemeClr val="accent1"/>
                    </a:solidFill>
                    <a:ea typeface="华文楷体" panose="02010600040101010101" pitchFamily="2" charset="-122"/>
                  </a:rPr>
                  <a:t>端系统</a:t>
                </a:r>
              </a:p>
            </p:txBody>
          </p:sp>
          <p:sp>
            <p:nvSpPr>
              <p:cNvPr id="28682" name="Line 11"/>
              <p:cNvSpPr>
                <a:spLocks noChangeShapeType="1"/>
              </p:cNvSpPr>
              <p:nvPr/>
            </p:nvSpPr>
            <p:spPr bwMode="auto">
              <a:xfrm flipH="1">
                <a:off x="3120" y="1248"/>
                <a:ext cx="126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sp>
        <p:nvSpPr>
          <p:cNvPr id="28683" name="Rectangle 12"/>
          <p:cNvSpPr>
            <a:spLocks noGrp="1" noChangeArrowheads="1"/>
          </p:cNvSpPr>
          <p:nvPr>
            <p:ph type="title" idx="4294967295"/>
          </p:nvPr>
        </p:nvSpPr>
        <p:spPr>
          <a:xfrm>
            <a:off x="3980730" y="179386"/>
            <a:ext cx="3822700" cy="696913"/>
          </a:xfrm>
        </p:spPr>
        <p:txBody>
          <a:bodyPr>
            <a:normAutofit fontScale="90000"/>
          </a:bodyPr>
          <a:lstStyle/>
          <a:p>
            <a:pPr algn="ctr" eaLnBrk="1" hangingPunct="1"/>
            <a:r>
              <a:rPr lang="zh-CN" altLang="zh-CN" sz="4400">
                <a:ea typeface="华文楷体" panose="02010600040101010101" pitchFamily="2" charset="-122"/>
              </a:rPr>
              <a:t>网络结构</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 calcmode="lin" valueType="num">
                                      <p:cBhvr additive="base">
                                        <p:cTn id="7" dur="500" fill="hold"/>
                                        <p:tgtEl>
                                          <p:spTgt spid="2867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867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28675"/>
                                        </p:tgtEl>
                                        <p:attrNameLst>
                                          <p:attrName>style.visibility</p:attrName>
                                        </p:attrNameLst>
                                      </p:cBhvr>
                                      <p:to>
                                        <p:strVal val="visible"/>
                                      </p:to>
                                    </p:set>
                                    <p:anim calcmode="lin" valueType="num">
                                      <p:cBhvr additive="base">
                                        <p:cTn id="13" dur="500" fill="hold"/>
                                        <p:tgtEl>
                                          <p:spTgt spid="28675"/>
                                        </p:tgtEl>
                                        <p:attrNameLst>
                                          <p:attrName>ppt_x</p:attrName>
                                        </p:attrNameLst>
                                      </p:cBhvr>
                                      <p:tavLst>
                                        <p:tav tm="0">
                                          <p:val>
                                            <p:strVal val="1+#ppt_w/2"/>
                                          </p:val>
                                        </p:tav>
                                        <p:tav tm="100000">
                                          <p:val>
                                            <p:strVal val="#ppt_x"/>
                                          </p:val>
                                        </p:tav>
                                      </p:tavLst>
                                    </p:anim>
                                    <p:anim calcmode="lin" valueType="num">
                                      <p:cBhvr additive="base">
                                        <p:cTn id="14" dur="500" fill="hold"/>
                                        <p:tgtEl>
                                          <p:spTgt spid="2867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28677"/>
                                        </p:tgtEl>
                                        <p:attrNameLst>
                                          <p:attrName>style.visibility</p:attrName>
                                        </p:attrNameLst>
                                      </p:cBhvr>
                                      <p:to>
                                        <p:strVal val="visible"/>
                                      </p:to>
                                    </p:set>
                                    <p:anim calcmode="lin" valueType="num">
                                      <p:cBhvr additive="base">
                                        <p:cTn id="19" dur="500" fill="hold"/>
                                        <p:tgtEl>
                                          <p:spTgt spid="28677"/>
                                        </p:tgtEl>
                                        <p:attrNameLst>
                                          <p:attrName>ppt_x</p:attrName>
                                        </p:attrNameLst>
                                      </p:cBhvr>
                                      <p:tavLst>
                                        <p:tav tm="0">
                                          <p:val>
                                            <p:strVal val="1+#ppt_w/2"/>
                                          </p:val>
                                        </p:tav>
                                        <p:tav tm="100000">
                                          <p:val>
                                            <p:strVal val="#ppt_x"/>
                                          </p:val>
                                        </p:tav>
                                      </p:tavLst>
                                    </p:anim>
                                    <p:anim calcmode="lin" valueType="num">
                                      <p:cBhvr additive="base">
                                        <p:cTn id="20" dur="500" fill="hold"/>
                                        <p:tgtEl>
                                          <p:spTgt spid="286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22" name="Rectangle 227"/>
          <p:cNvSpPr>
            <a:spLocks noGrp="1" noChangeArrowheads="1"/>
          </p:cNvSpPr>
          <p:nvPr>
            <p:ph type="title"/>
          </p:nvPr>
        </p:nvSpPr>
        <p:spPr>
          <a:xfrm>
            <a:off x="2312989" y="176214"/>
            <a:ext cx="7564437" cy="725487"/>
          </a:xfrm>
        </p:spPr>
        <p:txBody>
          <a:bodyPr/>
          <a:lstStyle/>
          <a:p>
            <a:pPr algn="ctr" eaLnBrk="1" hangingPunct="1"/>
            <a:r>
              <a:rPr lang="zh-CN" altLang="zh-CN" sz="4400">
                <a:ea typeface="华文楷体" panose="02010600040101010101" pitchFamily="2" charset="-122"/>
              </a:rPr>
              <a:t>The Network Edge</a:t>
            </a:r>
          </a:p>
        </p:txBody>
      </p:sp>
      <p:sp>
        <p:nvSpPr>
          <p:cNvPr id="29697" name="Rectangle 2"/>
          <p:cNvSpPr>
            <a:spLocks noGrp="1" noChangeArrowheads="1"/>
          </p:cNvSpPr>
          <p:nvPr>
            <p:ph sz="half" idx="1"/>
          </p:nvPr>
        </p:nvSpPr>
        <p:spPr>
          <a:xfrm>
            <a:off x="1868488" y="1817688"/>
            <a:ext cx="3865562" cy="4438650"/>
          </a:xfrm>
          <a:solidFill>
            <a:srgbClr val="DDDDDD"/>
          </a:solidFill>
          <a:effectLst>
            <a:outerShdw dist="107763" dir="2700000" algn="ctr" rotWithShape="0">
              <a:schemeClr val="bg2"/>
            </a:outerShdw>
          </a:effectLst>
        </p:spPr>
        <p:txBody>
          <a:bodyPr/>
          <a:lstStyle/>
          <a:p>
            <a:pPr eaLnBrk="1" hangingPunct="1">
              <a:lnSpc>
                <a:spcPct val="80000"/>
              </a:lnSpc>
            </a:pPr>
            <a:r>
              <a:rPr lang="zh-CN" altLang="zh-CN">
                <a:solidFill>
                  <a:schemeClr val="accent1"/>
                </a:solidFill>
                <a:ea typeface="华文楷体" panose="02010600040101010101" pitchFamily="2" charset="-122"/>
              </a:rPr>
              <a:t>端系统 （hosts）</a:t>
            </a:r>
          </a:p>
          <a:p>
            <a:pPr lvl="1" eaLnBrk="1" hangingPunct="1">
              <a:lnSpc>
                <a:spcPct val="80000"/>
              </a:lnSpc>
            </a:pPr>
            <a:r>
              <a:rPr lang="zh-CN" altLang="zh-CN" sz="2000">
                <a:solidFill>
                  <a:schemeClr val="accent1"/>
                </a:solidFill>
                <a:ea typeface="华文楷体" panose="02010600040101010101" pitchFamily="2" charset="-122"/>
              </a:rPr>
              <a:t>运行应用程序 </a:t>
            </a:r>
          </a:p>
          <a:p>
            <a:pPr lvl="1" eaLnBrk="1" hangingPunct="1">
              <a:lnSpc>
                <a:spcPct val="80000"/>
              </a:lnSpc>
            </a:pPr>
            <a:r>
              <a:rPr lang="zh-CN" altLang="zh-CN" sz="2000">
                <a:solidFill>
                  <a:schemeClr val="accent1"/>
                </a:solidFill>
                <a:ea typeface="华文楷体" panose="02010600040101010101" pitchFamily="2" charset="-122"/>
              </a:rPr>
              <a:t>例如， WWW， email</a:t>
            </a:r>
          </a:p>
          <a:p>
            <a:pPr lvl="1" eaLnBrk="1" hangingPunct="1">
              <a:lnSpc>
                <a:spcPct val="80000"/>
              </a:lnSpc>
            </a:pPr>
            <a:r>
              <a:rPr lang="zh-CN" altLang="zh-CN" sz="2000">
                <a:solidFill>
                  <a:schemeClr val="accent1"/>
                </a:solidFill>
                <a:ea typeface="华文楷体" panose="02010600040101010101" pitchFamily="2" charset="-122"/>
              </a:rPr>
              <a:t>位于</a:t>
            </a:r>
            <a:r>
              <a:rPr lang="zh-CN" altLang="zh-CN" sz="2000">
                <a:solidFill>
                  <a:schemeClr val="accent1"/>
                </a:solidFill>
                <a:latin typeface="Comic Sans MS" panose="030F0702030302020204" pitchFamily="66" charset="0"/>
                <a:ea typeface="华文楷体" panose="02010600040101010101" pitchFamily="2" charset="-122"/>
              </a:rPr>
              <a:t>“</a:t>
            </a:r>
            <a:r>
              <a:rPr lang="zh-CN" altLang="zh-CN" sz="2000">
                <a:solidFill>
                  <a:schemeClr val="accent1"/>
                </a:solidFill>
                <a:ea typeface="华文楷体" panose="02010600040101010101" pitchFamily="2" charset="-122"/>
              </a:rPr>
              <a:t>网络边界</a:t>
            </a:r>
            <a:r>
              <a:rPr lang="zh-CN" altLang="zh-CN" sz="2000">
                <a:solidFill>
                  <a:schemeClr val="accent1"/>
                </a:solidFill>
                <a:latin typeface="Comic Sans MS" panose="030F0702030302020204" pitchFamily="66" charset="0"/>
                <a:ea typeface="华文楷体" panose="02010600040101010101" pitchFamily="2" charset="-122"/>
              </a:rPr>
              <a:t>”</a:t>
            </a:r>
            <a:endParaRPr lang="zh-CN" altLang="zh-CN" sz="2000">
              <a:solidFill>
                <a:schemeClr val="accent1"/>
              </a:solidFill>
              <a:ea typeface="华文楷体" panose="02010600040101010101" pitchFamily="2" charset="-122"/>
            </a:endParaRPr>
          </a:p>
          <a:p>
            <a:pPr eaLnBrk="1" hangingPunct="1">
              <a:lnSpc>
                <a:spcPct val="80000"/>
              </a:lnSpc>
            </a:pPr>
            <a:r>
              <a:rPr lang="zh-CN" altLang="zh-CN" sz="3200">
                <a:solidFill>
                  <a:schemeClr val="accent1"/>
                </a:solidFill>
                <a:ea typeface="华文楷体" panose="02010600040101010101" pitchFamily="2" charset="-122"/>
              </a:rPr>
              <a:t>client/server model</a:t>
            </a:r>
            <a:endParaRPr lang="zh-CN" altLang="zh-CN">
              <a:solidFill>
                <a:schemeClr val="accent1"/>
              </a:solidFill>
              <a:ea typeface="华文楷体" panose="02010600040101010101" pitchFamily="2" charset="-122"/>
            </a:endParaRPr>
          </a:p>
          <a:p>
            <a:pPr lvl="1" eaLnBrk="1" hangingPunct="1">
              <a:lnSpc>
                <a:spcPct val="80000"/>
              </a:lnSpc>
            </a:pPr>
            <a:r>
              <a:rPr lang="zh-CN" altLang="zh-CN" sz="2000">
                <a:solidFill>
                  <a:schemeClr val="accent1"/>
                </a:solidFill>
                <a:ea typeface="华文楷体" panose="02010600040101010101" pitchFamily="2" charset="-122"/>
              </a:rPr>
              <a:t>客户主机发起请求，请求服务器服务 </a:t>
            </a:r>
          </a:p>
          <a:p>
            <a:pPr lvl="1" eaLnBrk="1" hangingPunct="1">
              <a:lnSpc>
                <a:spcPct val="80000"/>
              </a:lnSpc>
            </a:pPr>
            <a:r>
              <a:rPr lang="zh-CN" altLang="zh-CN" sz="2000">
                <a:solidFill>
                  <a:schemeClr val="accent1"/>
                </a:solidFill>
                <a:ea typeface="华文楷体" panose="02010600040101010101" pitchFamily="2" charset="-122"/>
              </a:rPr>
              <a:t>例如， WWW client （browser）/ server; email client/server</a:t>
            </a:r>
          </a:p>
          <a:p>
            <a:pPr eaLnBrk="1" hangingPunct="1">
              <a:lnSpc>
                <a:spcPct val="80000"/>
              </a:lnSpc>
            </a:pPr>
            <a:r>
              <a:rPr lang="zh-CN" altLang="zh-CN" sz="3200">
                <a:solidFill>
                  <a:schemeClr val="accent1"/>
                </a:solidFill>
                <a:ea typeface="华文楷体" panose="02010600040101010101" pitchFamily="2" charset="-122"/>
              </a:rPr>
              <a:t>peer-peer model</a:t>
            </a:r>
            <a:endParaRPr lang="zh-CN" altLang="zh-CN">
              <a:solidFill>
                <a:schemeClr val="accent1"/>
              </a:solidFill>
              <a:ea typeface="华文楷体" panose="02010600040101010101" pitchFamily="2" charset="-122"/>
            </a:endParaRPr>
          </a:p>
          <a:p>
            <a:pPr lvl="1" eaLnBrk="1" hangingPunct="1">
              <a:lnSpc>
                <a:spcPct val="80000"/>
              </a:lnSpc>
            </a:pPr>
            <a:r>
              <a:rPr lang="zh-CN" altLang="zh-CN" sz="2000">
                <a:solidFill>
                  <a:schemeClr val="accent1"/>
                </a:solidFill>
                <a:ea typeface="华文楷体" panose="02010600040101010101" pitchFamily="2" charset="-122"/>
              </a:rPr>
              <a:t> 主机之间对等交互</a:t>
            </a:r>
          </a:p>
        </p:txBody>
      </p:sp>
      <p:sp>
        <p:nvSpPr>
          <p:cNvPr id="29698" name="未知"/>
          <p:cNvSpPr>
            <a:spLocks noChangeArrowheads="1"/>
          </p:cNvSpPr>
          <p:nvPr/>
        </p:nvSpPr>
        <p:spPr bwMode="auto">
          <a:xfrm>
            <a:off x="8293100" y="2200276"/>
            <a:ext cx="1798638" cy="1674813"/>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sp>
        <p:nvSpPr>
          <p:cNvPr id="29699" name="未知"/>
          <p:cNvSpPr>
            <a:spLocks noChangeArrowheads="1"/>
          </p:cNvSpPr>
          <p:nvPr/>
        </p:nvSpPr>
        <p:spPr bwMode="auto">
          <a:xfrm>
            <a:off x="6413500" y="2057400"/>
            <a:ext cx="1866900" cy="1589088"/>
          </a:xfrm>
          <a:custGeom>
            <a:avLst/>
            <a:gdLst>
              <a:gd name="T0" fmla="*/ 550 w 1340"/>
              <a:gd name="T1" fmla="*/ 42 h 1191"/>
              <a:gd name="T2" fmla="*/ 82 w 1340"/>
              <a:gd name="T3" fmla="*/ 60 h 1191"/>
              <a:gd name="T4" fmla="*/ 58 w 1340"/>
              <a:gd name="T5" fmla="*/ 402 h 1191"/>
              <a:gd name="T6" fmla="*/ 28 w 1340"/>
              <a:gd name="T7" fmla="*/ 720 h 1191"/>
              <a:gd name="T8" fmla="*/ 112 w 1340"/>
              <a:gd name="T9" fmla="*/ 870 h 1191"/>
              <a:gd name="T10" fmla="*/ 538 w 1340"/>
              <a:gd name="T11" fmla="*/ 876 h 1191"/>
              <a:gd name="T12" fmla="*/ 640 w 1340"/>
              <a:gd name="T13" fmla="*/ 1128 h 1191"/>
              <a:gd name="T14" fmla="*/ 1234 w 1340"/>
              <a:gd name="T15" fmla="*/ 1098 h 1191"/>
              <a:gd name="T16" fmla="*/ 1276 w 1340"/>
              <a:gd name="T17" fmla="*/ 570 h 1191"/>
              <a:gd name="T18" fmla="*/ 1204 w 1340"/>
              <a:gd name="T19" fmla="*/ 342 h 1191"/>
              <a:gd name="T20" fmla="*/ 760 w 1340"/>
              <a:gd name="T21" fmla="*/ 288 h 1191"/>
              <a:gd name="T22" fmla="*/ 550 w 1340"/>
              <a:gd name="T23" fmla="*/ 42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sp>
        <p:nvSpPr>
          <p:cNvPr id="29700" name="未知"/>
          <p:cNvSpPr>
            <a:spLocks noChangeArrowheads="1"/>
          </p:cNvSpPr>
          <p:nvPr/>
        </p:nvSpPr>
        <p:spPr bwMode="auto">
          <a:xfrm>
            <a:off x="6781801" y="3508376"/>
            <a:ext cx="2974975" cy="2219325"/>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29701" name="Group 6"/>
          <p:cNvGrpSpPr>
            <a:grpSpLocks/>
          </p:cNvGrpSpPr>
          <p:nvPr/>
        </p:nvGrpSpPr>
        <p:grpSpPr bwMode="auto">
          <a:xfrm>
            <a:off x="5840414" y="1785938"/>
            <a:ext cx="1100137" cy="874712"/>
            <a:chOff x="0" y="0"/>
            <a:chExt cx="693" cy="551"/>
          </a:xfrm>
        </p:grpSpPr>
        <p:sp>
          <p:nvSpPr>
            <p:cNvPr id="29702" name="未知"/>
            <p:cNvSpPr>
              <a:spLocks noChangeArrowheads="1"/>
            </p:cNvSpPr>
            <p:nvPr/>
          </p:nvSpPr>
          <p:spPr bwMode="auto">
            <a:xfrm>
              <a:off x="0" y="0"/>
              <a:ext cx="693" cy="551"/>
            </a:xfrm>
            <a:custGeom>
              <a:avLst/>
              <a:gdLst>
                <a:gd name="T0" fmla="*/ 77 w 693"/>
                <a:gd name="T1" fmla="*/ 63 h 551"/>
                <a:gd name="T2" fmla="*/ 35 w 693"/>
                <a:gd name="T3" fmla="*/ 255 h 551"/>
                <a:gd name="T4" fmla="*/ 35 w 693"/>
                <a:gd name="T5" fmla="*/ 447 h 551"/>
                <a:gd name="T6" fmla="*/ 245 w 693"/>
                <a:gd name="T7" fmla="*/ 513 h 551"/>
                <a:gd name="T8" fmla="*/ 431 w 693"/>
                <a:gd name="T9" fmla="*/ 543 h 551"/>
                <a:gd name="T10" fmla="*/ 647 w 693"/>
                <a:gd name="T11" fmla="*/ 465 h 551"/>
                <a:gd name="T12" fmla="*/ 689 w 693"/>
                <a:gd name="T13" fmla="*/ 303 h 551"/>
                <a:gd name="T14" fmla="*/ 671 w 693"/>
                <a:gd name="T15" fmla="*/ 105 h 551"/>
                <a:gd name="T16" fmla="*/ 617 w 693"/>
                <a:gd name="T17" fmla="*/ 39 h 551"/>
                <a:gd name="T18" fmla="*/ 311 w 693"/>
                <a:gd name="T19" fmla="*/ 3 h 551"/>
                <a:gd name="T20" fmla="*/ 77 w 693"/>
                <a:gd name="T21" fmla="*/ 63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3" h="551">
                  <a:moveTo>
                    <a:pt x="77" y="63"/>
                  </a:moveTo>
                  <a:cubicBezTo>
                    <a:pt x="31" y="105"/>
                    <a:pt x="42" y="191"/>
                    <a:pt x="35" y="255"/>
                  </a:cubicBezTo>
                  <a:cubicBezTo>
                    <a:pt x="28" y="319"/>
                    <a:pt x="0" y="404"/>
                    <a:pt x="35" y="447"/>
                  </a:cubicBezTo>
                  <a:cubicBezTo>
                    <a:pt x="70" y="490"/>
                    <a:pt x="179" y="497"/>
                    <a:pt x="245" y="513"/>
                  </a:cubicBezTo>
                  <a:cubicBezTo>
                    <a:pt x="311" y="529"/>
                    <a:pt x="364" y="551"/>
                    <a:pt x="431" y="543"/>
                  </a:cubicBezTo>
                  <a:cubicBezTo>
                    <a:pt x="498" y="535"/>
                    <a:pt x="604" y="505"/>
                    <a:pt x="647" y="465"/>
                  </a:cubicBezTo>
                  <a:cubicBezTo>
                    <a:pt x="690" y="425"/>
                    <a:pt x="685" y="363"/>
                    <a:pt x="689" y="303"/>
                  </a:cubicBezTo>
                  <a:cubicBezTo>
                    <a:pt x="693" y="243"/>
                    <a:pt x="683" y="149"/>
                    <a:pt x="671" y="105"/>
                  </a:cubicBezTo>
                  <a:cubicBezTo>
                    <a:pt x="659" y="61"/>
                    <a:pt x="677" y="56"/>
                    <a:pt x="617" y="39"/>
                  </a:cubicBezTo>
                  <a:cubicBezTo>
                    <a:pt x="557" y="22"/>
                    <a:pt x="401" y="0"/>
                    <a:pt x="311" y="3"/>
                  </a:cubicBezTo>
                  <a:cubicBezTo>
                    <a:pt x="221" y="6"/>
                    <a:pt x="123" y="21"/>
                    <a:pt x="77" y="63"/>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aphicFrame>
          <p:nvGraphicFramePr>
            <p:cNvPr id="29703" name="Object 8"/>
            <p:cNvGraphicFramePr>
              <a:graphicFrameLocks noChangeAspect="1"/>
            </p:cNvGraphicFramePr>
            <p:nvPr/>
          </p:nvGraphicFramePr>
          <p:xfrm>
            <a:off x="51" y="49"/>
            <a:ext cx="586" cy="450"/>
          </p:xfrm>
          <a:graphic>
            <a:graphicData uri="http://schemas.openxmlformats.org/presentationml/2006/ole">
              <mc:AlternateContent xmlns:mc="http://schemas.openxmlformats.org/markup-compatibility/2006">
                <mc:Choice xmlns:v="urn:schemas-microsoft-com:vml" Requires="v">
                  <p:oleObj spid="_x0000_s77349" r:id="rId3" imgW="1305626" imgH="1082835" progId="MS_ClipArt_Gallery.2">
                    <p:embed/>
                  </p:oleObj>
                </mc:Choice>
                <mc:Fallback>
                  <p:oleObj r:id="rId3" imgW="1305626" imgH="1082835" progId="MS_ClipArt_Gallery.2">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 y="49"/>
                          <a:ext cx="586"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29704" name="Object 9"/>
          <p:cNvGraphicFramePr>
            <a:graphicFrameLocks noChangeAspect="1"/>
          </p:cNvGraphicFramePr>
          <p:nvPr/>
        </p:nvGraphicFramePr>
        <p:xfrm>
          <a:off x="6985000" y="2311400"/>
          <a:ext cx="279400" cy="184150"/>
        </p:xfrm>
        <a:graphic>
          <a:graphicData uri="http://schemas.openxmlformats.org/presentationml/2006/ole">
            <mc:AlternateContent xmlns:mc="http://schemas.openxmlformats.org/markup-compatibility/2006">
              <mc:Choice xmlns:v="urn:schemas-microsoft-com:vml" Requires="v">
                <p:oleObj spid="_x0000_s77350" r:id="rId5" imgW="682023" imgH="480718" progId="MS_ClipArt_Gallery.2">
                  <p:embed/>
                </p:oleObj>
              </mc:Choice>
              <mc:Fallback>
                <p:oleObj r:id="rId5" imgW="682023" imgH="480718" progId="MS_ClipArt_Gallery.2">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5000" y="2311400"/>
                        <a:ext cx="2794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05" name="Line 10"/>
          <p:cNvSpPr>
            <a:spLocks noChangeShapeType="1"/>
          </p:cNvSpPr>
          <p:nvPr/>
        </p:nvSpPr>
        <p:spPr bwMode="auto">
          <a:xfrm flipV="1">
            <a:off x="6937375" y="2433639"/>
            <a:ext cx="114300"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29706" name="Group 11"/>
          <p:cNvGrpSpPr>
            <a:grpSpLocks/>
          </p:cNvGrpSpPr>
          <p:nvPr/>
        </p:nvGrpSpPr>
        <p:grpSpPr bwMode="auto">
          <a:xfrm>
            <a:off x="6530976" y="2787650"/>
            <a:ext cx="733425" cy="319088"/>
            <a:chOff x="0" y="0"/>
            <a:chExt cx="527" cy="248"/>
          </a:xfrm>
        </p:grpSpPr>
        <p:graphicFrame>
          <p:nvGraphicFramePr>
            <p:cNvPr id="29707" name="Object 12"/>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77351" r:id="rId7" imgW="1305626" imgH="1082835" progId="MS_ClipArt_Gallery.2">
                    <p:embed/>
                  </p:oleObj>
                </mc:Choice>
                <mc:Fallback>
                  <p:oleObj r:id="rId7" imgW="1305626" imgH="1082835" progId="MS_ClipArt_Gallery.2">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708" name="Object 13"/>
            <p:cNvGraphicFramePr>
              <a:graphicFrameLocks noChangeAspect="1"/>
            </p:cNvGraphicFramePr>
            <p:nvPr/>
          </p:nvGraphicFramePr>
          <p:xfrm>
            <a:off x="326" y="92"/>
            <a:ext cx="201" cy="144"/>
          </p:xfrm>
          <a:graphic>
            <a:graphicData uri="http://schemas.openxmlformats.org/presentationml/2006/ole">
              <mc:AlternateContent xmlns:mc="http://schemas.openxmlformats.org/markup-compatibility/2006">
                <mc:Choice xmlns:v="urn:schemas-microsoft-com:vml" Requires="v">
                  <p:oleObj spid="_x0000_s77352" r:id="rId8" imgW="682023" imgH="480718" progId="MS_ClipArt_Gallery.2">
                    <p:embed/>
                  </p:oleObj>
                </mc:Choice>
                <mc:Fallback>
                  <p:oleObj r:id="rId8" imgW="682023" imgH="480718" progId="MS_ClipArt_Gallery.2">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 y="92"/>
                          <a:ext cx="2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09" name="Line 14"/>
            <p:cNvSpPr>
              <a:spLocks noChangeShapeType="1"/>
            </p:cNvSpPr>
            <p:nvPr/>
          </p:nvSpPr>
          <p:spPr bwMode="auto">
            <a:xfrm flipV="1">
              <a:off x="292" y="188"/>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29710" name="Group 15"/>
          <p:cNvGrpSpPr>
            <a:grpSpLocks/>
          </p:cNvGrpSpPr>
          <p:nvPr/>
        </p:nvGrpSpPr>
        <p:grpSpPr bwMode="auto">
          <a:xfrm>
            <a:off x="6907213" y="2574926"/>
            <a:ext cx="69850" cy="214313"/>
            <a:chOff x="0" y="0"/>
            <a:chExt cx="51" cy="167"/>
          </a:xfrm>
        </p:grpSpPr>
        <p:sp>
          <p:nvSpPr>
            <p:cNvPr id="29711" name="Oval 16"/>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12" name="Oval 17"/>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13" name="Oval 18"/>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29714" name="Group 19"/>
          <p:cNvGrpSpPr>
            <a:grpSpLocks/>
          </p:cNvGrpSpPr>
          <p:nvPr/>
        </p:nvGrpSpPr>
        <p:grpSpPr bwMode="auto">
          <a:xfrm>
            <a:off x="7377113" y="3078164"/>
            <a:ext cx="209550" cy="395287"/>
            <a:chOff x="0" y="0"/>
            <a:chExt cx="150" cy="307"/>
          </a:xfrm>
        </p:grpSpPr>
        <p:sp>
          <p:nvSpPr>
            <p:cNvPr id="29715" name="AutoShape 20"/>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16" name="Rectangle 21"/>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17" name="Rectangle 22"/>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18" name="AutoShape 23"/>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19" name="Line 24"/>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20" name="Line 25"/>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21" name="Rectangle 26"/>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22" name="Rectangle 27"/>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29723" name="Group 28"/>
          <p:cNvGrpSpPr>
            <a:grpSpLocks/>
          </p:cNvGrpSpPr>
          <p:nvPr/>
        </p:nvGrpSpPr>
        <p:grpSpPr bwMode="auto">
          <a:xfrm rot="16200000">
            <a:off x="7689851" y="3155951"/>
            <a:ext cx="80963" cy="233363"/>
            <a:chOff x="0" y="0"/>
            <a:chExt cx="51" cy="167"/>
          </a:xfrm>
        </p:grpSpPr>
        <p:sp>
          <p:nvSpPr>
            <p:cNvPr id="29724" name="Oval 29"/>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25" name="Oval 30"/>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26" name="Oval 31"/>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29727" name="Line 32"/>
          <p:cNvSpPr>
            <a:spLocks noChangeShapeType="1"/>
          </p:cNvSpPr>
          <p:nvPr/>
        </p:nvSpPr>
        <p:spPr bwMode="auto">
          <a:xfrm>
            <a:off x="7513638" y="2986089"/>
            <a:ext cx="495300"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28" name="Line 33"/>
          <p:cNvSpPr>
            <a:spLocks noChangeShapeType="1"/>
          </p:cNvSpPr>
          <p:nvPr/>
        </p:nvSpPr>
        <p:spPr bwMode="auto">
          <a:xfrm>
            <a:off x="7516814" y="2982913"/>
            <a:ext cx="1587" cy="952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29" name="Line 34"/>
          <p:cNvSpPr>
            <a:spLocks noChangeShapeType="1"/>
          </p:cNvSpPr>
          <p:nvPr/>
        </p:nvSpPr>
        <p:spPr bwMode="auto">
          <a:xfrm>
            <a:off x="8012114" y="2981325"/>
            <a:ext cx="1587" cy="82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30" name="Line 35"/>
          <p:cNvSpPr>
            <a:spLocks noChangeShapeType="1"/>
          </p:cNvSpPr>
          <p:nvPr/>
        </p:nvSpPr>
        <p:spPr bwMode="auto">
          <a:xfrm>
            <a:off x="7213601" y="2446338"/>
            <a:ext cx="288925" cy="265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31" name="Line 36"/>
          <p:cNvSpPr>
            <a:spLocks noChangeShapeType="1"/>
          </p:cNvSpPr>
          <p:nvPr/>
        </p:nvSpPr>
        <p:spPr bwMode="auto">
          <a:xfrm flipV="1">
            <a:off x="7226301" y="2732088"/>
            <a:ext cx="276225" cy="330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32" name="Line 37"/>
          <p:cNvSpPr>
            <a:spLocks noChangeShapeType="1"/>
          </p:cNvSpPr>
          <p:nvPr/>
        </p:nvSpPr>
        <p:spPr bwMode="auto">
          <a:xfrm flipV="1">
            <a:off x="7753350" y="2817813"/>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29733" name="Group 38"/>
          <p:cNvGrpSpPr>
            <a:grpSpLocks/>
          </p:cNvGrpSpPr>
          <p:nvPr/>
        </p:nvGrpSpPr>
        <p:grpSpPr bwMode="auto">
          <a:xfrm>
            <a:off x="7872413" y="3055939"/>
            <a:ext cx="209550" cy="395287"/>
            <a:chOff x="0" y="0"/>
            <a:chExt cx="150" cy="307"/>
          </a:xfrm>
        </p:grpSpPr>
        <p:sp>
          <p:nvSpPr>
            <p:cNvPr id="29734" name="AutoShape 39"/>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35" name="Rectangle 40"/>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36" name="Rectangle 41"/>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37" name="AutoShape 42"/>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38" name="Line 43"/>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39" name="Line 44"/>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40" name="Rectangle 45"/>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41" name="Rectangle 46"/>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29742" name="Group 47"/>
          <p:cNvGrpSpPr>
            <a:grpSpLocks/>
          </p:cNvGrpSpPr>
          <p:nvPr/>
        </p:nvGrpSpPr>
        <p:grpSpPr bwMode="auto">
          <a:xfrm>
            <a:off x="6915151" y="3675063"/>
            <a:ext cx="479425" cy="925512"/>
            <a:chOff x="0" y="0"/>
            <a:chExt cx="344" cy="694"/>
          </a:xfrm>
        </p:grpSpPr>
        <p:graphicFrame>
          <p:nvGraphicFramePr>
            <p:cNvPr id="29743" name="Object 48"/>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77353" r:id="rId9" imgW="1305626" imgH="1082835" progId="MS_ClipArt_Gallery.2">
                    <p:embed/>
                  </p:oleObj>
                </mc:Choice>
                <mc:Fallback>
                  <p:oleObj r:id="rId9" imgW="1305626" imgH="1082835" progId="MS_ClipArt_Gallery.2">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44" name="Line 49"/>
            <p:cNvSpPr>
              <a:spLocks noChangeShapeType="1"/>
            </p:cNvSpPr>
            <p:nvPr/>
          </p:nvSpPr>
          <p:spPr bwMode="auto">
            <a:xfrm flipV="1">
              <a:off x="292" y="185"/>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29745" name="Object 50"/>
            <p:cNvGraphicFramePr>
              <a:graphicFrameLocks noChangeAspect="1"/>
            </p:cNvGraphicFramePr>
            <p:nvPr/>
          </p:nvGraphicFramePr>
          <p:xfrm>
            <a:off x="0" y="446"/>
            <a:ext cx="299" cy="248"/>
          </p:xfrm>
          <a:graphic>
            <a:graphicData uri="http://schemas.openxmlformats.org/presentationml/2006/ole">
              <mc:AlternateContent xmlns:mc="http://schemas.openxmlformats.org/markup-compatibility/2006">
                <mc:Choice xmlns:v="urn:schemas-microsoft-com:vml" Requires="v">
                  <p:oleObj spid="_x0000_s77354" r:id="rId10" imgW="1305626" imgH="1082835" progId="MS_ClipArt_Gallery.2">
                    <p:embed/>
                  </p:oleObj>
                </mc:Choice>
                <mc:Fallback>
                  <p:oleObj r:id="rId10" imgW="1305626" imgH="1082835" progId="MS_ClipArt_Gallery.2">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46"/>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46" name="Line 51"/>
            <p:cNvSpPr>
              <a:spLocks noChangeShapeType="1"/>
            </p:cNvSpPr>
            <p:nvPr/>
          </p:nvSpPr>
          <p:spPr bwMode="auto">
            <a:xfrm flipV="1">
              <a:off x="292" y="634"/>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29747" name="Group 52"/>
            <p:cNvGrpSpPr>
              <a:grpSpLocks/>
            </p:cNvGrpSpPr>
            <p:nvPr/>
          </p:nvGrpSpPr>
          <p:grpSpPr bwMode="auto">
            <a:xfrm>
              <a:off x="90" y="256"/>
              <a:ext cx="51" cy="167"/>
              <a:chOff x="0" y="0"/>
              <a:chExt cx="51" cy="167"/>
            </a:xfrm>
          </p:grpSpPr>
          <p:sp>
            <p:nvSpPr>
              <p:cNvPr id="29748" name="Oval 53"/>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49" name="Oval 54"/>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50" name="Oval 55"/>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29751" name="Line 56"/>
            <p:cNvSpPr>
              <a:spLocks noChangeShapeType="1"/>
            </p:cNvSpPr>
            <p:nvPr/>
          </p:nvSpPr>
          <p:spPr bwMode="auto">
            <a:xfrm>
              <a:off x="340" y="183"/>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aphicFrame>
        <p:nvGraphicFramePr>
          <p:cNvPr id="29752" name="Object 57"/>
          <p:cNvGraphicFramePr>
            <a:graphicFrameLocks noChangeAspect="1"/>
          </p:cNvGraphicFramePr>
          <p:nvPr/>
        </p:nvGraphicFramePr>
        <p:xfrm>
          <a:off x="7783513" y="4684714"/>
          <a:ext cx="417512" cy="331787"/>
        </p:xfrm>
        <a:graphic>
          <a:graphicData uri="http://schemas.openxmlformats.org/presentationml/2006/ole">
            <mc:AlternateContent xmlns:mc="http://schemas.openxmlformats.org/markup-compatibility/2006">
              <mc:Choice xmlns:v="urn:schemas-microsoft-com:vml" Requires="v">
                <p:oleObj spid="_x0000_s77355" r:id="rId11" imgW="1305626" imgH="1082835" progId="MS_ClipArt_Gallery.2">
                  <p:embed/>
                </p:oleObj>
              </mc:Choice>
              <mc:Fallback>
                <p:oleObj r:id="rId11" imgW="1305626" imgH="1082835" progId="MS_ClipArt_Gallery.2">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3513" y="4684714"/>
                        <a:ext cx="417512"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753" name="Object 58"/>
          <p:cNvGraphicFramePr>
            <a:graphicFrameLocks noChangeAspect="1"/>
          </p:cNvGraphicFramePr>
          <p:nvPr/>
        </p:nvGraphicFramePr>
        <p:xfrm>
          <a:off x="7169151" y="4673600"/>
          <a:ext cx="415925" cy="330200"/>
        </p:xfrm>
        <a:graphic>
          <a:graphicData uri="http://schemas.openxmlformats.org/presentationml/2006/ole">
            <mc:AlternateContent xmlns:mc="http://schemas.openxmlformats.org/markup-compatibility/2006">
              <mc:Choice xmlns:v="urn:schemas-microsoft-com:vml" Requires="v">
                <p:oleObj spid="_x0000_s77356" r:id="rId12" imgW="1305626" imgH="1082835" progId="MS_ClipArt_Gallery.2">
                  <p:embed/>
                </p:oleObj>
              </mc:Choice>
              <mc:Fallback>
                <p:oleObj r:id="rId12" imgW="1305626" imgH="1082835" progId="MS_ClipArt_Gallery.2">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9151" y="4673600"/>
                        <a:ext cx="4159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54" name="Oval 59"/>
          <p:cNvSpPr>
            <a:spLocks noChangeArrowheads="1"/>
          </p:cNvSpPr>
          <p:nvPr/>
        </p:nvSpPr>
        <p:spPr bwMode="auto">
          <a:xfrm rot="16200000">
            <a:off x="7584282" y="4775995"/>
            <a:ext cx="63500" cy="6508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55" name="Oval 60"/>
          <p:cNvSpPr>
            <a:spLocks noChangeArrowheads="1"/>
          </p:cNvSpPr>
          <p:nvPr/>
        </p:nvSpPr>
        <p:spPr bwMode="auto">
          <a:xfrm rot="16200000">
            <a:off x="7670801" y="4775201"/>
            <a:ext cx="63500" cy="666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56" name="Oval 61"/>
          <p:cNvSpPr>
            <a:spLocks noChangeArrowheads="1"/>
          </p:cNvSpPr>
          <p:nvPr/>
        </p:nvSpPr>
        <p:spPr bwMode="auto">
          <a:xfrm rot="16200000">
            <a:off x="7748588" y="4779963"/>
            <a:ext cx="61913"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57" name="Line 62"/>
          <p:cNvSpPr>
            <a:spLocks noChangeShapeType="1"/>
          </p:cNvSpPr>
          <p:nvPr/>
        </p:nvSpPr>
        <p:spPr bwMode="auto">
          <a:xfrm rot="16200000">
            <a:off x="8005764" y="4656139"/>
            <a:ext cx="60325"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58" name="Line 63"/>
          <p:cNvSpPr>
            <a:spLocks noChangeShapeType="1"/>
          </p:cNvSpPr>
          <p:nvPr/>
        </p:nvSpPr>
        <p:spPr bwMode="auto">
          <a:xfrm rot="5400000" flipH="1">
            <a:off x="7381875" y="4651375"/>
            <a:ext cx="63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59" name="Line 64"/>
          <p:cNvSpPr>
            <a:spLocks noChangeShapeType="1"/>
          </p:cNvSpPr>
          <p:nvPr/>
        </p:nvSpPr>
        <p:spPr bwMode="auto">
          <a:xfrm rot="16200000" flipV="1">
            <a:off x="7727157" y="4310857"/>
            <a:ext cx="0" cy="6270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60" name="Line 65"/>
          <p:cNvSpPr>
            <a:spLocks noChangeShapeType="1"/>
          </p:cNvSpPr>
          <p:nvPr/>
        </p:nvSpPr>
        <p:spPr bwMode="auto">
          <a:xfrm flipV="1">
            <a:off x="7394576" y="4251326"/>
            <a:ext cx="93663"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61" name="Line 66"/>
          <p:cNvSpPr>
            <a:spLocks noChangeShapeType="1"/>
          </p:cNvSpPr>
          <p:nvPr/>
        </p:nvSpPr>
        <p:spPr bwMode="auto">
          <a:xfrm>
            <a:off x="7996238" y="4297363"/>
            <a:ext cx="303212" cy="3857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62" name="Line 67"/>
          <p:cNvSpPr>
            <a:spLocks noChangeShapeType="1"/>
          </p:cNvSpPr>
          <p:nvPr/>
        </p:nvSpPr>
        <p:spPr bwMode="auto">
          <a:xfrm flipH="1">
            <a:off x="8791575" y="4294188"/>
            <a:ext cx="279400" cy="392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29763" name="Object 68"/>
          <p:cNvGraphicFramePr>
            <a:graphicFrameLocks noChangeAspect="1"/>
          </p:cNvGraphicFramePr>
          <p:nvPr/>
        </p:nvGraphicFramePr>
        <p:xfrm>
          <a:off x="8969375" y="3846513"/>
          <a:ext cx="203200" cy="241300"/>
        </p:xfrm>
        <a:graphic>
          <a:graphicData uri="http://schemas.openxmlformats.org/presentationml/2006/ole">
            <mc:AlternateContent xmlns:mc="http://schemas.openxmlformats.org/markup-compatibility/2006">
              <mc:Choice xmlns:v="urn:schemas-microsoft-com:vml" Requires="v">
                <p:oleObj spid="_x0000_s77357" r:id="rId13" imgW="981674" imgH="1206892" progId="MS_ClipArt_Gallery.2">
                  <p:embed/>
                </p:oleObj>
              </mc:Choice>
              <mc:Fallback>
                <p:oleObj r:id="rId13" imgW="981674" imgH="1206892" progId="MS_ClipArt_Gallery.2">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969375" y="3846513"/>
                        <a:ext cx="2032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764" name="Object 69"/>
          <p:cNvGraphicFramePr>
            <a:graphicFrameLocks noChangeAspect="1"/>
          </p:cNvGraphicFramePr>
          <p:nvPr/>
        </p:nvGraphicFramePr>
        <p:xfrm>
          <a:off x="7632700" y="3927476"/>
          <a:ext cx="203200" cy="239713"/>
        </p:xfrm>
        <a:graphic>
          <a:graphicData uri="http://schemas.openxmlformats.org/presentationml/2006/ole">
            <mc:AlternateContent xmlns:mc="http://schemas.openxmlformats.org/markup-compatibility/2006">
              <mc:Choice xmlns:v="urn:schemas-microsoft-com:vml" Requires="v">
                <p:oleObj spid="_x0000_s77358" r:id="rId15" imgW="981674" imgH="1206892" progId="MS_ClipArt_Gallery.2">
                  <p:embed/>
                </p:oleObj>
              </mc:Choice>
              <mc:Fallback>
                <p:oleObj r:id="rId15" imgW="981674" imgH="1206892" progId="MS_ClipArt_Gallery.2">
                  <p:embed/>
                  <p:pic>
                    <p:nvPicPr>
                      <p:cNvPr id="0" name="Object 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32700" y="3927476"/>
                        <a:ext cx="203200"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65" name="未知"/>
          <p:cNvSpPr>
            <a:spLocks noChangeArrowheads="1"/>
          </p:cNvSpPr>
          <p:nvPr/>
        </p:nvSpPr>
        <p:spPr bwMode="auto">
          <a:xfrm>
            <a:off x="7713664" y="3702050"/>
            <a:ext cx="1354137" cy="304800"/>
          </a:xfrm>
          <a:custGeom>
            <a:avLst/>
            <a:gdLst>
              <a:gd name="T0" fmla="*/ 0 w 972"/>
              <a:gd name="T1" fmla="*/ 228 h 228"/>
              <a:gd name="T2" fmla="*/ 432 w 972"/>
              <a:gd name="T3" fmla="*/ 9 h 228"/>
              <a:gd name="T4" fmla="*/ 972 w 972"/>
              <a:gd name="T5" fmla="*/ 171 h 228"/>
            </a:gdLst>
            <a:ahLst/>
            <a:cxnLst>
              <a:cxn ang="0">
                <a:pos x="T0" y="T1"/>
              </a:cxn>
              <a:cxn ang="0">
                <a:pos x="T2" y="T3"/>
              </a:cxn>
              <a:cxn ang="0">
                <a:pos x="T4" y="T5"/>
              </a:cxn>
            </a:cxnLst>
            <a:rect l="0" t="0" r="r" b="b"/>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pSp>
        <p:nvGrpSpPr>
          <p:cNvPr id="29766" name="Group 71"/>
          <p:cNvGrpSpPr>
            <a:grpSpLocks noChangeAspect="1"/>
          </p:cNvGrpSpPr>
          <p:nvPr/>
        </p:nvGrpSpPr>
        <p:grpSpPr bwMode="auto">
          <a:xfrm>
            <a:off x="7980363" y="5124450"/>
            <a:ext cx="406400" cy="427038"/>
            <a:chOff x="0" y="0"/>
            <a:chExt cx="292" cy="320"/>
          </a:xfrm>
        </p:grpSpPr>
        <p:graphicFrame>
          <p:nvGraphicFramePr>
            <p:cNvPr id="29767" name="Object 72"/>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7359" r:id="rId16" imgW="825309" imgH="838856" progId="MS_ClipArt_Gallery.2">
                    <p:embed/>
                  </p:oleObj>
                </mc:Choice>
                <mc:Fallback>
                  <p:oleObj r:id="rId16" imgW="825309" imgH="838856" progId="MS_ClipArt_Gallery.2">
                    <p:embed/>
                    <p:pic>
                      <p:nvPicPr>
                        <p:cNvPr id="0" name="Object 7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768" name="Object 73"/>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7360" r:id="rId18" imgW="1266724" imgH="1197956" progId="MS_ClipArt_Gallery.2">
                    <p:embed/>
                  </p:oleObj>
                </mc:Choice>
                <mc:Fallback>
                  <p:oleObj r:id="rId18" imgW="1266724" imgH="1197956" progId="MS_ClipArt_Gallery.2">
                    <p:embed/>
                    <p:pic>
                      <p:nvPicPr>
                        <p:cNvPr id="0" name="Object 7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29769" name="Group 74"/>
          <p:cNvGrpSpPr>
            <a:grpSpLocks noChangeAspect="1"/>
          </p:cNvGrpSpPr>
          <p:nvPr/>
        </p:nvGrpSpPr>
        <p:grpSpPr bwMode="auto">
          <a:xfrm>
            <a:off x="8758238" y="5156200"/>
            <a:ext cx="406400" cy="427038"/>
            <a:chOff x="0" y="0"/>
            <a:chExt cx="292" cy="320"/>
          </a:xfrm>
        </p:grpSpPr>
        <p:graphicFrame>
          <p:nvGraphicFramePr>
            <p:cNvPr id="29770" name="Object 75"/>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7361" r:id="rId20" imgW="825309" imgH="838856" progId="MS_ClipArt_Gallery.2">
                    <p:embed/>
                  </p:oleObj>
                </mc:Choice>
                <mc:Fallback>
                  <p:oleObj r:id="rId20" imgW="825309" imgH="838856" progId="MS_ClipArt_Gallery.2">
                    <p:embed/>
                    <p:pic>
                      <p:nvPicPr>
                        <p:cNvPr id="0" name="Object 7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771" name="Object 76"/>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7362" r:id="rId21" imgW="1266724" imgH="1197956" progId="MS_ClipArt_Gallery.2">
                    <p:embed/>
                  </p:oleObj>
                </mc:Choice>
                <mc:Fallback>
                  <p:oleObj r:id="rId21" imgW="1266724" imgH="1197956" progId="MS_ClipArt_Gallery.2">
                    <p:embed/>
                    <p:pic>
                      <p:nvPicPr>
                        <p:cNvPr id="0" name="Object 7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29772" name="Group 77"/>
          <p:cNvGrpSpPr>
            <a:grpSpLocks/>
          </p:cNvGrpSpPr>
          <p:nvPr/>
        </p:nvGrpSpPr>
        <p:grpSpPr bwMode="auto">
          <a:xfrm>
            <a:off x="8343901" y="4872039"/>
            <a:ext cx="379413" cy="376237"/>
            <a:chOff x="0" y="0"/>
            <a:chExt cx="272" cy="282"/>
          </a:xfrm>
        </p:grpSpPr>
        <p:graphicFrame>
          <p:nvGraphicFramePr>
            <p:cNvPr id="29773" name="Object 78"/>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7363" r:id="rId22" imgW="825309" imgH="838856" progId="MS_ClipArt_Gallery.2">
                    <p:embed/>
                  </p:oleObj>
                </mc:Choice>
                <mc:Fallback>
                  <p:oleObj r:id="rId22" imgW="825309" imgH="838856" progId="MS_ClipArt_Gallery.2">
                    <p:embed/>
                    <p:pic>
                      <p:nvPicPr>
                        <p:cNvPr id="0" name="Object 7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74" name="Rectangle 79"/>
            <p:cNvSpPr>
              <a:spLocks noChangeArrowheads="1"/>
            </p:cNvSpPr>
            <p:nvPr/>
          </p:nvSpPr>
          <p:spPr bwMode="auto">
            <a:xfrm>
              <a:off x="79" y="99"/>
              <a:ext cx="192" cy="183"/>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grpSp>
      <p:sp>
        <p:nvSpPr>
          <p:cNvPr id="29775" name="Line 80"/>
          <p:cNvSpPr>
            <a:spLocks noChangeShapeType="1"/>
          </p:cNvSpPr>
          <p:nvPr/>
        </p:nvSpPr>
        <p:spPr bwMode="auto">
          <a:xfrm>
            <a:off x="8650288" y="4775200"/>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29776" name="Group 81"/>
          <p:cNvGrpSpPr>
            <a:grpSpLocks/>
          </p:cNvGrpSpPr>
          <p:nvPr/>
        </p:nvGrpSpPr>
        <p:grpSpPr bwMode="auto">
          <a:xfrm>
            <a:off x="9371013" y="4198939"/>
            <a:ext cx="207962" cy="409575"/>
            <a:chOff x="0" y="0"/>
            <a:chExt cx="150" cy="307"/>
          </a:xfrm>
        </p:grpSpPr>
        <p:sp>
          <p:nvSpPr>
            <p:cNvPr id="29777" name="AutoShape 82"/>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78" name="Rectangle 83"/>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79" name="Rectangle 84"/>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80" name="AutoShape 85"/>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81" name="Line 86"/>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82" name="Line 87"/>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83" name="Rectangle 88"/>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84" name="Rectangle 89"/>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29785" name="Group 90"/>
          <p:cNvGrpSpPr>
            <a:grpSpLocks/>
          </p:cNvGrpSpPr>
          <p:nvPr/>
        </p:nvGrpSpPr>
        <p:grpSpPr bwMode="auto">
          <a:xfrm>
            <a:off x="9332914" y="4652964"/>
            <a:ext cx="796925" cy="1260475"/>
            <a:chOff x="0" y="0"/>
            <a:chExt cx="502" cy="794"/>
          </a:xfrm>
        </p:grpSpPr>
        <p:sp>
          <p:nvSpPr>
            <p:cNvPr id="29786" name="未知"/>
            <p:cNvSpPr>
              <a:spLocks noChangeArrowheads="1"/>
            </p:cNvSpPr>
            <p:nvPr/>
          </p:nvSpPr>
          <p:spPr bwMode="auto">
            <a:xfrm>
              <a:off x="0" y="0"/>
              <a:ext cx="502" cy="794"/>
            </a:xfrm>
            <a:custGeom>
              <a:avLst/>
              <a:gdLst>
                <a:gd name="T0" fmla="*/ 289 w 502"/>
                <a:gd name="T1" fmla="*/ 9 h 794"/>
                <a:gd name="T2" fmla="*/ 127 w 502"/>
                <a:gd name="T3" fmla="*/ 33 h 794"/>
                <a:gd name="T4" fmla="*/ 25 w 502"/>
                <a:gd name="T5" fmla="*/ 207 h 794"/>
                <a:gd name="T6" fmla="*/ 13 w 502"/>
                <a:gd name="T7" fmla="*/ 621 h 794"/>
                <a:gd name="T8" fmla="*/ 103 w 502"/>
                <a:gd name="T9" fmla="*/ 771 h 794"/>
                <a:gd name="T10" fmla="*/ 271 w 502"/>
                <a:gd name="T11" fmla="*/ 759 h 794"/>
                <a:gd name="T12" fmla="*/ 421 w 502"/>
                <a:gd name="T13" fmla="*/ 735 h 794"/>
                <a:gd name="T14" fmla="*/ 469 w 502"/>
                <a:gd name="T15" fmla="*/ 579 h 794"/>
                <a:gd name="T16" fmla="*/ 487 w 502"/>
                <a:gd name="T17" fmla="*/ 471 h 794"/>
                <a:gd name="T18" fmla="*/ 469 w 502"/>
                <a:gd name="T19" fmla="*/ 87 h 794"/>
                <a:gd name="T20" fmla="*/ 289 w 502"/>
                <a:gd name="T21" fmla="*/ 9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2" h="794">
                  <a:moveTo>
                    <a:pt x="289" y="9"/>
                  </a:moveTo>
                  <a:cubicBezTo>
                    <a:pt x="232" y="0"/>
                    <a:pt x="171" y="0"/>
                    <a:pt x="127" y="33"/>
                  </a:cubicBezTo>
                  <a:cubicBezTo>
                    <a:pt x="83" y="66"/>
                    <a:pt x="44" y="109"/>
                    <a:pt x="25" y="207"/>
                  </a:cubicBezTo>
                  <a:cubicBezTo>
                    <a:pt x="6" y="305"/>
                    <a:pt x="0" y="527"/>
                    <a:pt x="13" y="621"/>
                  </a:cubicBezTo>
                  <a:cubicBezTo>
                    <a:pt x="26" y="715"/>
                    <a:pt x="60" y="748"/>
                    <a:pt x="103" y="771"/>
                  </a:cubicBezTo>
                  <a:cubicBezTo>
                    <a:pt x="146" y="794"/>
                    <a:pt x="218" y="765"/>
                    <a:pt x="271" y="759"/>
                  </a:cubicBezTo>
                  <a:cubicBezTo>
                    <a:pt x="324" y="753"/>
                    <a:pt x="388" y="765"/>
                    <a:pt x="421" y="735"/>
                  </a:cubicBezTo>
                  <a:cubicBezTo>
                    <a:pt x="454" y="705"/>
                    <a:pt x="458" y="623"/>
                    <a:pt x="469" y="579"/>
                  </a:cubicBezTo>
                  <a:cubicBezTo>
                    <a:pt x="480" y="535"/>
                    <a:pt x="487" y="553"/>
                    <a:pt x="487" y="471"/>
                  </a:cubicBezTo>
                  <a:cubicBezTo>
                    <a:pt x="487" y="389"/>
                    <a:pt x="502" y="164"/>
                    <a:pt x="469" y="87"/>
                  </a:cubicBezTo>
                  <a:cubicBezTo>
                    <a:pt x="436" y="10"/>
                    <a:pt x="346" y="18"/>
                    <a:pt x="289" y="9"/>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29787" name="Group 92"/>
            <p:cNvGrpSpPr>
              <a:grpSpLocks/>
            </p:cNvGrpSpPr>
            <p:nvPr/>
          </p:nvGrpSpPr>
          <p:grpSpPr bwMode="auto">
            <a:xfrm>
              <a:off x="70" y="60"/>
              <a:ext cx="347" cy="654"/>
              <a:chOff x="0" y="0"/>
              <a:chExt cx="347" cy="654"/>
            </a:xfrm>
          </p:grpSpPr>
          <p:sp>
            <p:nvSpPr>
              <p:cNvPr id="29788" name="AutoShape 93"/>
              <p:cNvSpPr>
                <a:spLocks noChangeArrowheads="1"/>
              </p:cNvSpPr>
              <p:nvPr/>
            </p:nvSpPr>
            <p:spPr bwMode="auto">
              <a:xfrm>
                <a:off x="0" y="503"/>
                <a:ext cx="347" cy="151"/>
              </a:xfrm>
              <a:prstGeom prst="parallelogram">
                <a:avLst>
                  <a:gd name="adj" fmla="val 8852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89" name="Rectangle 94"/>
              <p:cNvSpPr>
                <a:spLocks noChangeArrowheads="1"/>
              </p:cNvSpPr>
              <p:nvPr/>
            </p:nvSpPr>
            <p:spPr bwMode="auto">
              <a:xfrm>
                <a:off x="176" y="4"/>
                <a:ext cx="165" cy="503"/>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29790" name="Rectangle 95"/>
              <p:cNvSpPr>
                <a:spLocks noChangeArrowheads="1"/>
              </p:cNvSpPr>
              <p:nvPr/>
            </p:nvSpPr>
            <p:spPr bwMode="auto">
              <a:xfrm>
                <a:off x="2" y="147"/>
                <a:ext cx="220" cy="503"/>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91" name="AutoShape 96"/>
              <p:cNvSpPr>
                <a:spLocks noChangeArrowheads="1"/>
              </p:cNvSpPr>
              <p:nvPr/>
            </p:nvSpPr>
            <p:spPr bwMode="auto">
              <a:xfrm>
                <a:off x="0" y="0"/>
                <a:ext cx="347" cy="151"/>
              </a:xfrm>
              <a:prstGeom prst="parallelogram">
                <a:avLst>
                  <a:gd name="adj" fmla="val 8852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92" name="Line 97"/>
              <p:cNvSpPr>
                <a:spLocks noChangeShapeType="1"/>
              </p:cNvSpPr>
              <p:nvPr/>
            </p:nvSpPr>
            <p:spPr bwMode="auto">
              <a:xfrm>
                <a:off x="347" y="11"/>
                <a:ext cx="0" cy="4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93" name="Line 98"/>
              <p:cNvSpPr>
                <a:spLocks noChangeShapeType="1"/>
              </p:cNvSpPr>
              <p:nvPr/>
            </p:nvSpPr>
            <p:spPr bwMode="auto">
              <a:xfrm flipH="1">
                <a:off x="222" y="503"/>
                <a:ext cx="125" cy="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94" name="Rectangle 99"/>
              <p:cNvSpPr>
                <a:spLocks noChangeArrowheads="1"/>
              </p:cNvSpPr>
              <p:nvPr/>
            </p:nvSpPr>
            <p:spPr bwMode="auto">
              <a:xfrm>
                <a:off x="30" y="213"/>
                <a:ext cx="146" cy="290"/>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29795" name="Rectangle 100"/>
              <p:cNvSpPr>
                <a:spLocks noChangeArrowheads="1"/>
              </p:cNvSpPr>
              <p:nvPr/>
            </p:nvSpPr>
            <p:spPr bwMode="auto">
              <a:xfrm>
                <a:off x="51" y="300"/>
                <a:ext cx="111" cy="1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sp>
        <p:nvSpPr>
          <p:cNvPr id="29796" name="Line 101"/>
          <p:cNvSpPr>
            <a:spLocks noChangeShapeType="1"/>
          </p:cNvSpPr>
          <p:nvPr/>
        </p:nvSpPr>
        <p:spPr bwMode="auto">
          <a:xfrm rot="5400000" flipH="1">
            <a:off x="8982870" y="4571207"/>
            <a:ext cx="61118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97" name="Line 102"/>
          <p:cNvSpPr>
            <a:spLocks noChangeShapeType="1"/>
          </p:cNvSpPr>
          <p:nvPr/>
        </p:nvSpPr>
        <p:spPr bwMode="auto">
          <a:xfrm rot="16200000">
            <a:off x="9336882" y="4823620"/>
            <a:ext cx="0" cy="1031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98" name="Line 103"/>
          <p:cNvSpPr>
            <a:spLocks noChangeShapeType="1"/>
          </p:cNvSpPr>
          <p:nvPr/>
        </p:nvSpPr>
        <p:spPr bwMode="auto">
          <a:xfrm rot="16200000">
            <a:off x="9328150" y="4356100"/>
            <a:ext cx="0" cy="8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799" name="Line 104"/>
          <p:cNvSpPr>
            <a:spLocks noChangeShapeType="1"/>
          </p:cNvSpPr>
          <p:nvPr/>
        </p:nvSpPr>
        <p:spPr bwMode="auto">
          <a:xfrm flipV="1">
            <a:off x="8007350" y="2497138"/>
            <a:ext cx="458788"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00" name="Line 105"/>
          <p:cNvSpPr>
            <a:spLocks noChangeShapeType="1"/>
          </p:cNvSpPr>
          <p:nvPr/>
        </p:nvSpPr>
        <p:spPr bwMode="auto">
          <a:xfrm>
            <a:off x="8942389" y="2481263"/>
            <a:ext cx="485775"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01" name="Line 106"/>
          <p:cNvSpPr>
            <a:spLocks noChangeShapeType="1"/>
          </p:cNvSpPr>
          <p:nvPr/>
        </p:nvSpPr>
        <p:spPr bwMode="auto">
          <a:xfrm flipH="1">
            <a:off x="9461500" y="2817814"/>
            <a:ext cx="24130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02" name="Line 107"/>
          <p:cNvSpPr>
            <a:spLocks noChangeShapeType="1"/>
          </p:cNvSpPr>
          <p:nvPr/>
        </p:nvSpPr>
        <p:spPr bwMode="auto">
          <a:xfrm>
            <a:off x="8691563" y="2593975"/>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03" name="Line 108"/>
          <p:cNvSpPr>
            <a:spLocks noChangeShapeType="1"/>
          </p:cNvSpPr>
          <p:nvPr/>
        </p:nvSpPr>
        <p:spPr bwMode="auto">
          <a:xfrm>
            <a:off x="8716964" y="3241675"/>
            <a:ext cx="534987"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04" name="Line 109"/>
          <p:cNvSpPr>
            <a:spLocks noChangeShapeType="1"/>
          </p:cNvSpPr>
          <p:nvPr/>
        </p:nvSpPr>
        <p:spPr bwMode="auto">
          <a:xfrm flipH="1">
            <a:off x="9177338" y="3706813"/>
            <a:ext cx="26670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05" name="Line 110"/>
          <p:cNvSpPr>
            <a:spLocks noChangeShapeType="1"/>
          </p:cNvSpPr>
          <p:nvPr/>
        </p:nvSpPr>
        <p:spPr bwMode="auto">
          <a:xfrm flipH="1">
            <a:off x="8950325" y="2786064"/>
            <a:ext cx="560388"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06" name="Line 111"/>
          <p:cNvSpPr>
            <a:spLocks noChangeShapeType="1"/>
          </p:cNvSpPr>
          <p:nvPr/>
        </p:nvSpPr>
        <p:spPr bwMode="auto">
          <a:xfrm flipH="1">
            <a:off x="8959850" y="2225675"/>
            <a:ext cx="350838" cy="255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07" name="Line 112"/>
          <p:cNvSpPr>
            <a:spLocks noChangeShapeType="1"/>
          </p:cNvSpPr>
          <p:nvPr/>
        </p:nvSpPr>
        <p:spPr bwMode="auto">
          <a:xfrm flipH="1">
            <a:off x="9677401" y="2401888"/>
            <a:ext cx="201613" cy="1762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29808" name="Group 113"/>
          <p:cNvGrpSpPr>
            <a:grpSpLocks/>
          </p:cNvGrpSpPr>
          <p:nvPr/>
        </p:nvGrpSpPr>
        <p:grpSpPr bwMode="auto">
          <a:xfrm>
            <a:off x="7488238" y="2593976"/>
            <a:ext cx="501650" cy="233363"/>
            <a:chOff x="0" y="0"/>
            <a:chExt cx="360" cy="175"/>
          </a:xfrm>
        </p:grpSpPr>
        <p:sp>
          <p:nvSpPr>
            <p:cNvPr id="29809" name="Oval 114"/>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29810" name="Line 115"/>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11" name="Line 116"/>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12" name="Rectangle 117"/>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29813" name="Oval 118"/>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29814" name="Group 119"/>
            <p:cNvGrpSpPr>
              <a:grpSpLocks/>
            </p:cNvGrpSpPr>
            <p:nvPr/>
          </p:nvGrpSpPr>
          <p:grpSpPr bwMode="auto">
            <a:xfrm>
              <a:off x="86" y="25"/>
              <a:ext cx="177" cy="66"/>
              <a:chOff x="0" y="0"/>
              <a:chExt cx="140" cy="98"/>
            </a:xfrm>
          </p:grpSpPr>
          <p:sp>
            <p:nvSpPr>
              <p:cNvPr id="29815" name="Line 120"/>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16" name="Line 121"/>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17" name="Line 122"/>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29818" name="Group 123"/>
            <p:cNvGrpSpPr>
              <a:grpSpLocks/>
            </p:cNvGrpSpPr>
            <p:nvPr/>
          </p:nvGrpSpPr>
          <p:grpSpPr bwMode="auto">
            <a:xfrm flipV="1">
              <a:off x="86" y="24"/>
              <a:ext cx="177" cy="66"/>
              <a:chOff x="0" y="0"/>
              <a:chExt cx="140" cy="98"/>
            </a:xfrm>
          </p:grpSpPr>
          <p:sp>
            <p:nvSpPr>
              <p:cNvPr id="29819" name="Line 124"/>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20" name="Line 125"/>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21" name="Line 126"/>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29822" name="Group 127"/>
          <p:cNvGrpSpPr>
            <a:grpSpLocks/>
          </p:cNvGrpSpPr>
          <p:nvPr/>
        </p:nvGrpSpPr>
        <p:grpSpPr bwMode="auto">
          <a:xfrm>
            <a:off x="8440738" y="2365376"/>
            <a:ext cx="501650" cy="233363"/>
            <a:chOff x="0" y="0"/>
            <a:chExt cx="360" cy="175"/>
          </a:xfrm>
        </p:grpSpPr>
        <p:sp>
          <p:nvSpPr>
            <p:cNvPr id="29823" name="Oval 128"/>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29824" name="Line 129"/>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25" name="Line 130"/>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26" name="Rectangle 131"/>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29827" name="Oval 132"/>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29828" name="Group 133"/>
            <p:cNvGrpSpPr>
              <a:grpSpLocks/>
            </p:cNvGrpSpPr>
            <p:nvPr/>
          </p:nvGrpSpPr>
          <p:grpSpPr bwMode="auto">
            <a:xfrm>
              <a:off x="86" y="25"/>
              <a:ext cx="177" cy="66"/>
              <a:chOff x="0" y="0"/>
              <a:chExt cx="140" cy="98"/>
            </a:xfrm>
          </p:grpSpPr>
          <p:sp>
            <p:nvSpPr>
              <p:cNvPr id="29829" name="Line 134"/>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30" name="Line 135"/>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31" name="Line 136"/>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29832" name="Group 137"/>
            <p:cNvGrpSpPr>
              <a:grpSpLocks/>
            </p:cNvGrpSpPr>
            <p:nvPr/>
          </p:nvGrpSpPr>
          <p:grpSpPr bwMode="auto">
            <a:xfrm flipV="1">
              <a:off x="86" y="24"/>
              <a:ext cx="177" cy="66"/>
              <a:chOff x="0" y="0"/>
              <a:chExt cx="140" cy="98"/>
            </a:xfrm>
          </p:grpSpPr>
          <p:sp>
            <p:nvSpPr>
              <p:cNvPr id="29833" name="Line 138"/>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34" name="Line 139"/>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35" name="Line 140"/>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29836" name="Group 141"/>
          <p:cNvGrpSpPr>
            <a:grpSpLocks/>
          </p:cNvGrpSpPr>
          <p:nvPr/>
        </p:nvGrpSpPr>
        <p:grpSpPr bwMode="auto">
          <a:xfrm>
            <a:off x="8458200" y="3022601"/>
            <a:ext cx="501650" cy="233363"/>
            <a:chOff x="0" y="0"/>
            <a:chExt cx="360" cy="175"/>
          </a:xfrm>
        </p:grpSpPr>
        <p:sp>
          <p:nvSpPr>
            <p:cNvPr id="29837" name="Oval 142"/>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29838" name="Line 143"/>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39" name="Line 144"/>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40" name="Rectangle 145"/>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29841" name="Oval 146"/>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29842" name="Group 147"/>
            <p:cNvGrpSpPr>
              <a:grpSpLocks/>
            </p:cNvGrpSpPr>
            <p:nvPr/>
          </p:nvGrpSpPr>
          <p:grpSpPr bwMode="auto">
            <a:xfrm>
              <a:off x="86" y="25"/>
              <a:ext cx="177" cy="66"/>
              <a:chOff x="0" y="0"/>
              <a:chExt cx="140" cy="98"/>
            </a:xfrm>
          </p:grpSpPr>
          <p:sp>
            <p:nvSpPr>
              <p:cNvPr id="29843" name="Line 148"/>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44" name="Line 149"/>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45" name="Line 150"/>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29846" name="Group 151"/>
            <p:cNvGrpSpPr>
              <a:grpSpLocks/>
            </p:cNvGrpSpPr>
            <p:nvPr/>
          </p:nvGrpSpPr>
          <p:grpSpPr bwMode="auto">
            <a:xfrm flipV="1">
              <a:off x="86" y="24"/>
              <a:ext cx="177" cy="66"/>
              <a:chOff x="0" y="0"/>
              <a:chExt cx="140" cy="98"/>
            </a:xfrm>
          </p:grpSpPr>
          <p:sp>
            <p:nvSpPr>
              <p:cNvPr id="29847" name="Line 152"/>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48" name="Line 153"/>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49" name="Line 154"/>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29850" name="Group 155"/>
          <p:cNvGrpSpPr>
            <a:grpSpLocks/>
          </p:cNvGrpSpPr>
          <p:nvPr/>
        </p:nvGrpSpPr>
        <p:grpSpPr bwMode="auto">
          <a:xfrm>
            <a:off x="9428163" y="2573338"/>
            <a:ext cx="500062" cy="233362"/>
            <a:chOff x="0" y="0"/>
            <a:chExt cx="360" cy="175"/>
          </a:xfrm>
        </p:grpSpPr>
        <p:sp>
          <p:nvSpPr>
            <p:cNvPr id="29851" name="Oval 156"/>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29852" name="Line 157"/>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53" name="Line 158"/>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54" name="Rectangle 159"/>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29855" name="Oval 160"/>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29856" name="Group 161"/>
            <p:cNvGrpSpPr>
              <a:grpSpLocks/>
            </p:cNvGrpSpPr>
            <p:nvPr/>
          </p:nvGrpSpPr>
          <p:grpSpPr bwMode="auto">
            <a:xfrm>
              <a:off x="86" y="25"/>
              <a:ext cx="177" cy="66"/>
              <a:chOff x="0" y="0"/>
              <a:chExt cx="140" cy="98"/>
            </a:xfrm>
          </p:grpSpPr>
          <p:sp>
            <p:nvSpPr>
              <p:cNvPr id="29857" name="Line 162"/>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58" name="Line 163"/>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59" name="Line 164"/>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29860" name="Group 165"/>
            <p:cNvGrpSpPr>
              <a:grpSpLocks/>
            </p:cNvGrpSpPr>
            <p:nvPr/>
          </p:nvGrpSpPr>
          <p:grpSpPr bwMode="auto">
            <a:xfrm flipV="1">
              <a:off x="86" y="24"/>
              <a:ext cx="177" cy="66"/>
              <a:chOff x="0" y="0"/>
              <a:chExt cx="140" cy="98"/>
            </a:xfrm>
          </p:grpSpPr>
          <p:sp>
            <p:nvSpPr>
              <p:cNvPr id="29861" name="Line 166"/>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62" name="Line 167"/>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63" name="Line 168"/>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29864" name="Group 169"/>
          <p:cNvGrpSpPr>
            <a:grpSpLocks/>
          </p:cNvGrpSpPr>
          <p:nvPr/>
        </p:nvGrpSpPr>
        <p:grpSpPr bwMode="auto">
          <a:xfrm>
            <a:off x="9234488" y="3470276"/>
            <a:ext cx="501650" cy="233363"/>
            <a:chOff x="0" y="0"/>
            <a:chExt cx="360" cy="175"/>
          </a:xfrm>
        </p:grpSpPr>
        <p:sp>
          <p:nvSpPr>
            <p:cNvPr id="29865" name="Oval 170"/>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29866" name="Line 171"/>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67" name="Line 172"/>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68" name="Rectangle 173"/>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29869" name="Oval 174"/>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29870" name="Group 175"/>
            <p:cNvGrpSpPr>
              <a:grpSpLocks/>
            </p:cNvGrpSpPr>
            <p:nvPr/>
          </p:nvGrpSpPr>
          <p:grpSpPr bwMode="auto">
            <a:xfrm>
              <a:off x="86" y="25"/>
              <a:ext cx="177" cy="66"/>
              <a:chOff x="0" y="0"/>
              <a:chExt cx="140" cy="98"/>
            </a:xfrm>
          </p:grpSpPr>
          <p:sp>
            <p:nvSpPr>
              <p:cNvPr id="29871" name="Line 176"/>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72" name="Line 177"/>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73" name="Line 178"/>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29874" name="Group 179"/>
            <p:cNvGrpSpPr>
              <a:grpSpLocks/>
            </p:cNvGrpSpPr>
            <p:nvPr/>
          </p:nvGrpSpPr>
          <p:grpSpPr bwMode="auto">
            <a:xfrm flipV="1">
              <a:off x="86" y="24"/>
              <a:ext cx="177" cy="66"/>
              <a:chOff x="0" y="0"/>
              <a:chExt cx="140" cy="98"/>
            </a:xfrm>
          </p:grpSpPr>
          <p:sp>
            <p:nvSpPr>
              <p:cNvPr id="29875" name="Line 180"/>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76" name="Line 181"/>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77" name="Line 182"/>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29878" name="Group 183"/>
          <p:cNvGrpSpPr>
            <a:grpSpLocks/>
          </p:cNvGrpSpPr>
          <p:nvPr/>
        </p:nvGrpSpPr>
        <p:grpSpPr bwMode="auto">
          <a:xfrm>
            <a:off x="8901113" y="4054475"/>
            <a:ext cx="501650" cy="234950"/>
            <a:chOff x="0" y="0"/>
            <a:chExt cx="360" cy="175"/>
          </a:xfrm>
        </p:grpSpPr>
        <p:sp>
          <p:nvSpPr>
            <p:cNvPr id="29879" name="Oval 184"/>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29880" name="Line 185"/>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81" name="Line 186"/>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82" name="Rectangle 187"/>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29883" name="Oval 188"/>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29884" name="Group 189"/>
            <p:cNvGrpSpPr>
              <a:grpSpLocks/>
            </p:cNvGrpSpPr>
            <p:nvPr/>
          </p:nvGrpSpPr>
          <p:grpSpPr bwMode="auto">
            <a:xfrm>
              <a:off x="86" y="25"/>
              <a:ext cx="177" cy="66"/>
              <a:chOff x="0" y="0"/>
              <a:chExt cx="140" cy="98"/>
            </a:xfrm>
          </p:grpSpPr>
          <p:sp>
            <p:nvSpPr>
              <p:cNvPr id="29885" name="Line 190"/>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86" name="Line 191"/>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87" name="Line 192"/>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29888" name="Group 193"/>
            <p:cNvGrpSpPr>
              <a:grpSpLocks/>
            </p:cNvGrpSpPr>
            <p:nvPr/>
          </p:nvGrpSpPr>
          <p:grpSpPr bwMode="auto">
            <a:xfrm flipV="1">
              <a:off x="86" y="24"/>
              <a:ext cx="177" cy="66"/>
              <a:chOff x="0" y="0"/>
              <a:chExt cx="140" cy="98"/>
            </a:xfrm>
          </p:grpSpPr>
          <p:sp>
            <p:nvSpPr>
              <p:cNvPr id="29889" name="Line 194"/>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90" name="Line 195"/>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91" name="Line 196"/>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29892" name="Group 197"/>
          <p:cNvGrpSpPr>
            <a:grpSpLocks/>
          </p:cNvGrpSpPr>
          <p:nvPr/>
        </p:nvGrpSpPr>
        <p:grpSpPr bwMode="auto">
          <a:xfrm>
            <a:off x="8291513" y="4543426"/>
            <a:ext cx="500062" cy="233363"/>
            <a:chOff x="0" y="0"/>
            <a:chExt cx="360" cy="175"/>
          </a:xfrm>
        </p:grpSpPr>
        <p:sp>
          <p:nvSpPr>
            <p:cNvPr id="29893" name="Oval 198"/>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29894" name="Line 199"/>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95" name="Line 200"/>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896" name="Rectangle 201"/>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29897" name="Oval 202"/>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29898" name="Group 203"/>
            <p:cNvGrpSpPr>
              <a:grpSpLocks/>
            </p:cNvGrpSpPr>
            <p:nvPr/>
          </p:nvGrpSpPr>
          <p:grpSpPr bwMode="auto">
            <a:xfrm>
              <a:off x="86" y="25"/>
              <a:ext cx="177" cy="66"/>
              <a:chOff x="0" y="0"/>
              <a:chExt cx="140" cy="98"/>
            </a:xfrm>
          </p:grpSpPr>
          <p:sp>
            <p:nvSpPr>
              <p:cNvPr id="29899" name="Line 204"/>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900" name="Line 205"/>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901" name="Line 206"/>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29902" name="Group 207"/>
            <p:cNvGrpSpPr>
              <a:grpSpLocks/>
            </p:cNvGrpSpPr>
            <p:nvPr/>
          </p:nvGrpSpPr>
          <p:grpSpPr bwMode="auto">
            <a:xfrm flipV="1">
              <a:off x="86" y="24"/>
              <a:ext cx="177" cy="66"/>
              <a:chOff x="0" y="0"/>
              <a:chExt cx="140" cy="98"/>
            </a:xfrm>
          </p:grpSpPr>
          <p:sp>
            <p:nvSpPr>
              <p:cNvPr id="29903" name="Line 208"/>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904" name="Line 209"/>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905" name="Line 210"/>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29906" name="Group 211"/>
          <p:cNvGrpSpPr>
            <a:grpSpLocks/>
          </p:cNvGrpSpPr>
          <p:nvPr/>
        </p:nvGrpSpPr>
        <p:grpSpPr bwMode="auto">
          <a:xfrm>
            <a:off x="7488238" y="4167188"/>
            <a:ext cx="501650" cy="233362"/>
            <a:chOff x="0" y="0"/>
            <a:chExt cx="360" cy="175"/>
          </a:xfrm>
        </p:grpSpPr>
        <p:sp>
          <p:nvSpPr>
            <p:cNvPr id="29907" name="Oval 212"/>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29908" name="Line 213"/>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909" name="Line 214"/>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910" name="Rectangle 215"/>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29911" name="Oval 216"/>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29912" name="Group 217"/>
            <p:cNvGrpSpPr>
              <a:grpSpLocks/>
            </p:cNvGrpSpPr>
            <p:nvPr/>
          </p:nvGrpSpPr>
          <p:grpSpPr bwMode="auto">
            <a:xfrm>
              <a:off x="86" y="25"/>
              <a:ext cx="177" cy="66"/>
              <a:chOff x="0" y="0"/>
              <a:chExt cx="140" cy="98"/>
            </a:xfrm>
          </p:grpSpPr>
          <p:sp>
            <p:nvSpPr>
              <p:cNvPr id="29913" name="Line 218"/>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914" name="Line 219"/>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915" name="Line 220"/>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29916" name="Group 221"/>
            <p:cNvGrpSpPr>
              <a:grpSpLocks/>
            </p:cNvGrpSpPr>
            <p:nvPr/>
          </p:nvGrpSpPr>
          <p:grpSpPr bwMode="auto">
            <a:xfrm flipV="1">
              <a:off x="86" y="24"/>
              <a:ext cx="177" cy="66"/>
              <a:chOff x="0" y="0"/>
              <a:chExt cx="140" cy="98"/>
            </a:xfrm>
          </p:grpSpPr>
          <p:sp>
            <p:nvSpPr>
              <p:cNvPr id="29917" name="Line 222"/>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918" name="Line 223"/>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29919" name="Line 224"/>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sp>
        <p:nvSpPr>
          <p:cNvPr id="29920" name="未知"/>
          <p:cNvSpPr>
            <a:spLocks noChangeArrowheads="1"/>
          </p:cNvSpPr>
          <p:nvPr/>
        </p:nvSpPr>
        <p:spPr bwMode="auto">
          <a:xfrm>
            <a:off x="6915150" y="2266951"/>
            <a:ext cx="2724150" cy="2447925"/>
          </a:xfrm>
          <a:custGeom>
            <a:avLst/>
            <a:gdLst>
              <a:gd name="T0" fmla="*/ 0 w 1716"/>
              <a:gd name="T1" fmla="*/ 0 h 1542"/>
              <a:gd name="T2" fmla="*/ 372 w 1716"/>
              <a:gd name="T3" fmla="*/ 42 h 1542"/>
              <a:gd name="T4" fmla="*/ 852 w 1716"/>
              <a:gd name="T5" fmla="*/ 228 h 1542"/>
              <a:gd name="T6" fmla="*/ 1452 w 1716"/>
              <a:gd name="T7" fmla="*/ 726 h 1542"/>
              <a:gd name="T8" fmla="*/ 1716 w 1716"/>
              <a:gd name="T9" fmla="*/ 1542 h 1542"/>
            </a:gdLst>
            <a:ahLst/>
            <a:cxnLst>
              <a:cxn ang="0">
                <a:pos x="T0" y="T1"/>
              </a:cxn>
              <a:cxn ang="0">
                <a:pos x="T2" y="T3"/>
              </a:cxn>
              <a:cxn ang="0">
                <a:pos x="T4" y="T5"/>
              </a:cxn>
              <a:cxn ang="0">
                <a:pos x="T6" y="T7"/>
              </a:cxn>
              <a:cxn ang="0">
                <a:pos x="T8" y="T9"/>
              </a:cxn>
            </a:cxnLst>
            <a:rect l="0" t="0" r="r" b="b"/>
            <a:pathLst>
              <a:path w="1716" h="1542">
                <a:moveTo>
                  <a:pt x="0" y="0"/>
                </a:moveTo>
                <a:cubicBezTo>
                  <a:pt x="62" y="7"/>
                  <a:pt x="230" y="4"/>
                  <a:pt x="372" y="42"/>
                </a:cubicBezTo>
                <a:cubicBezTo>
                  <a:pt x="514" y="80"/>
                  <a:pt x="672" y="114"/>
                  <a:pt x="852" y="228"/>
                </a:cubicBezTo>
                <a:cubicBezTo>
                  <a:pt x="1032" y="342"/>
                  <a:pt x="1308" y="507"/>
                  <a:pt x="1452" y="726"/>
                </a:cubicBezTo>
                <a:cubicBezTo>
                  <a:pt x="1596" y="945"/>
                  <a:pt x="1661" y="1372"/>
                  <a:pt x="1716" y="1542"/>
                </a:cubicBezTo>
              </a:path>
            </a:pathLst>
          </a:custGeom>
          <a:noFill/>
          <a:ln w="7620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29921" name="Line 226"/>
          <p:cNvSpPr>
            <a:spLocks noChangeShapeType="1"/>
          </p:cNvSpPr>
          <p:nvPr/>
        </p:nvSpPr>
        <p:spPr bwMode="auto">
          <a:xfrm flipV="1">
            <a:off x="7734300" y="4398963"/>
            <a:ext cx="1588" cy="2206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58" name="Rectangle 241"/>
          <p:cNvSpPr>
            <a:spLocks noGrp="1" noChangeArrowheads="1"/>
          </p:cNvSpPr>
          <p:nvPr>
            <p:ph type="title"/>
          </p:nvPr>
        </p:nvSpPr>
        <p:spPr>
          <a:xfrm>
            <a:off x="2420144" y="306388"/>
            <a:ext cx="6810375" cy="588963"/>
          </a:xfrm>
        </p:spPr>
        <p:txBody>
          <a:bodyPr>
            <a:normAutofit fontScale="90000"/>
          </a:bodyPr>
          <a:lstStyle/>
          <a:p>
            <a:pPr algn="ctr" eaLnBrk="1" hangingPunct="1"/>
            <a:r>
              <a:rPr lang="zh-CN" altLang="en-US" sz="4400">
                <a:ea typeface="华文楷体" panose="02010600040101010101" pitchFamily="2" charset="-122"/>
              </a:rPr>
              <a:t>The Network Core</a:t>
            </a:r>
          </a:p>
        </p:txBody>
      </p:sp>
      <p:sp>
        <p:nvSpPr>
          <p:cNvPr id="30721" name="Rectangle 2"/>
          <p:cNvSpPr>
            <a:spLocks noGrp="1" noChangeArrowheads="1"/>
          </p:cNvSpPr>
          <p:nvPr>
            <p:ph sz="half" idx="1"/>
          </p:nvPr>
        </p:nvSpPr>
        <p:spPr>
          <a:xfrm>
            <a:off x="1751013" y="1925638"/>
            <a:ext cx="4538662" cy="4114800"/>
          </a:xfrm>
          <a:solidFill>
            <a:srgbClr val="DDDDDD"/>
          </a:solidFill>
          <a:effectLst>
            <a:outerShdw dist="107763" dir="2700000" algn="ctr" rotWithShape="0">
              <a:schemeClr val="bg2"/>
            </a:outerShdw>
          </a:effectLst>
        </p:spPr>
        <p:txBody>
          <a:bodyPr/>
          <a:lstStyle/>
          <a:p>
            <a:pPr eaLnBrk="1" hangingPunct="1"/>
            <a:r>
              <a:rPr lang="zh-CN" altLang="zh-CN" sz="2400">
                <a:solidFill>
                  <a:schemeClr val="accent1"/>
                </a:solidFill>
                <a:ea typeface="华文楷体" panose="02010600040101010101" pitchFamily="2" charset="-122"/>
              </a:rPr>
              <a:t>由多个路由器连接而成的网络</a:t>
            </a:r>
          </a:p>
          <a:p>
            <a:pPr eaLnBrk="1" hangingPunct="1"/>
            <a:r>
              <a:rPr lang="zh-CN" altLang="zh-CN" sz="2400" i="1" u="sng">
                <a:solidFill>
                  <a:schemeClr val="accent1"/>
                </a:solidFill>
                <a:ea typeface="华文楷体" panose="02010600040101010101" pitchFamily="2" charset="-122"/>
              </a:rPr>
              <a:t>基本功能</a:t>
            </a:r>
            <a:r>
              <a:rPr lang="zh-CN" altLang="zh-CN" sz="2400">
                <a:solidFill>
                  <a:schemeClr val="accent1"/>
                </a:solidFill>
                <a:ea typeface="华文楷体" panose="02010600040101010101" pitchFamily="2" charset="-122"/>
              </a:rPr>
              <a:t>： 数据包的转发</a:t>
            </a:r>
          </a:p>
          <a:p>
            <a:pPr lvl="1" eaLnBrk="1" hangingPunct="1"/>
            <a:r>
              <a:rPr lang="zh-CN" altLang="zh-CN" sz="2200">
                <a:solidFill>
                  <a:schemeClr val="accent1"/>
                </a:solidFill>
                <a:ea typeface="华文楷体" panose="02010600040101010101" pitchFamily="2" charset="-122"/>
              </a:rPr>
              <a:t>circuit switching： 给每个通信分配专用的线路。</a:t>
            </a:r>
          </a:p>
          <a:p>
            <a:pPr lvl="1" eaLnBrk="1" hangingPunct="1">
              <a:buFontTx/>
              <a:buNone/>
            </a:pPr>
            <a:r>
              <a:rPr lang="zh-CN" altLang="zh-CN" sz="2200">
                <a:solidFill>
                  <a:schemeClr val="accent1"/>
                </a:solidFill>
                <a:ea typeface="华文楷体" panose="02010600040101010101" pitchFamily="2" charset="-122"/>
              </a:rPr>
              <a:t>  类比：打电话</a:t>
            </a:r>
          </a:p>
          <a:p>
            <a:pPr lvl="1" eaLnBrk="1" hangingPunct="1"/>
            <a:r>
              <a:rPr lang="zh-CN" altLang="zh-CN" sz="2200">
                <a:solidFill>
                  <a:schemeClr val="accent1"/>
                </a:solidFill>
                <a:ea typeface="华文楷体" panose="02010600040101010101" pitchFamily="2" charset="-122"/>
              </a:rPr>
              <a:t>packet-switching： 数据分组独立地沿不同路线传输</a:t>
            </a:r>
          </a:p>
          <a:p>
            <a:pPr lvl="1" eaLnBrk="1" hangingPunct="1">
              <a:buFontTx/>
              <a:buNone/>
            </a:pPr>
            <a:r>
              <a:rPr lang="zh-CN" altLang="zh-CN" sz="2200">
                <a:solidFill>
                  <a:schemeClr val="accent1"/>
                </a:solidFill>
                <a:ea typeface="华文楷体" panose="02010600040101010101" pitchFamily="2" charset="-122"/>
              </a:rPr>
              <a:t>  类比：发信 </a:t>
            </a:r>
            <a:endParaRPr lang="zh-CN" altLang="zh-CN" sz="2000">
              <a:solidFill>
                <a:schemeClr val="accent1"/>
              </a:solidFill>
              <a:ea typeface="华文楷体" panose="02010600040101010101" pitchFamily="2" charset="-122"/>
            </a:endParaRPr>
          </a:p>
        </p:txBody>
      </p:sp>
      <p:sp>
        <p:nvSpPr>
          <p:cNvPr id="30722" name="未知"/>
          <p:cNvSpPr>
            <a:spLocks noChangeArrowheads="1"/>
          </p:cNvSpPr>
          <p:nvPr/>
        </p:nvSpPr>
        <p:spPr bwMode="auto">
          <a:xfrm>
            <a:off x="8293100" y="2193926"/>
            <a:ext cx="1798638" cy="1674813"/>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sp>
        <p:nvSpPr>
          <p:cNvPr id="30723" name="未知"/>
          <p:cNvSpPr>
            <a:spLocks noChangeArrowheads="1"/>
          </p:cNvSpPr>
          <p:nvPr/>
        </p:nvSpPr>
        <p:spPr bwMode="auto">
          <a:xfrm>
            <a:off x="6413500" y="2051050"/>
            <a:ext cx="1866900" cy="1589088"/>
          </a:xfrm>
          <a:custGeom>
            <a:avLst/>
            <a:gdLst>
              <a:gd name="T0" fmla="*/ 550 w 1340"/>
              <a:gd name="T1" fmla="*/ 42 h 1191"/>
              <a:gd name="T2" fmla="*/ 82 w 1340"/>
              <a:gd name="T3" fmla="*/ 60 h 1191"/>
              <a:gd name="T4" fmla="*/ 58 w 1340"/>
              <a:gd name="T5" fmla="*/ 402 h 1191"/>
              <a:gd name="T6" fmla="*/ 28 w 1340"/>
              <a:gd name="T7" fmla="*/ 720 h 1191"/>
              <a:gd name="T8" fmla="*/ 112 w 1340"/>
              <a:gd name="T9" fmla="*/ 870 h 1191"/>
              <a:gd name="T10" fmla="*/ 538 w 1340"/>
              <a:gd name="T11" fmla="*/ 876 h 1191"/>
              <a:gd name="T12" fmla="*/ 640 w 1340"/>
              <a:gd name="T13" fmla="*/ 1128 h 1191"/>
              <a:gd name="T14" fmla="*/ 1234 w 1340"/>
              <a:gd name="T15" fmla="*/ 1098 h 1191"/>
              <a:gd name="T16" fmla="*/ 1276 w 1340"/>
              <a:gd name="T17" fmla="*/ 570 h 1191"/>
              <a:gd name="T18" fmla="*/ 1204 w 1340"/>
              <a:gd name="T19" fmla="*/ 342 h 1191"/>
              <a:gd name="T20" fmla="*/ 760 w 1340"/>
              <a:gd name="T21" fmla="*/ 288 h 1191"/>
              <a:gd name="T22" fmla="*/ 550 w 1340"/>
              <a:gd name="T23" fmla="*/ 42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sp>
        <p:nvSpPr>
          <p:cNvPr id="30724" name="未知"/>
          <p:cNvSpPr>
            <a:spLocks noChangeArrowheads="1"/>
          </p:cNvSpPr>
          <p:nvPr/>
        </p:nvSpPr>
        <p:spPr bwMode="auto">
          <a:xfrm>
            <a:off x="6781801" y="3502026"/>
            <a:ext cx="2974975" cy="2219325"/>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30725" name="Group 8"/>
          <p:cNvGrpSpPr>
            <a:grpSpLocks/>
          </p:cNvGrpSpPr>
          <p:nvPr/>
        </p:nvGrpSpPr>
        <p:grpSpPr bwMode="auto">
          <a:xfrm>
            <a:off x="6530976" y="2185989"/>
            <a:ext cx="733425" cy="319087"/>
            <a:chOff x="0" y="0"/>
            <a:chExt cx="527" cy="248"/>
          </a:xfrm>
        </p:grpSpPr>
        <p:graphicFrame>
          <p:nvGraphicFramePr>
            <p:cNvPr id="30726" name="Object 9"/>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75313" r:id="rId3" imgW="1305626" imgH="1082835" progId="MS_ClipArt_Gallery.2">
                    <p:embed/>
                  </p:oleObj>
                </mc:Choice>
                <mc:Fallback>
                  <p:oleObj r:id="rId3" imgW="1305626" imgH="1082835" progId="MS_ClipArt_Gallery.2">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727" name="Object 10"/>
            <p:cNvGraphicFramePr>
              <a:graphicFrameLocks noChangeAspect="1"/>
            </p:cNvGraphicFramePr>
            <p:nvPr/>
          </p:nvGraphicFramePr>
          <p:xfrm>
            <a:off x="326" y="92"/>
            <a:ext cx="201" cy="144"/>
          </p:xfrm>
          <a:graphic>
            <a:graphicData uri="http://schemas.openxmlformats.org/presentationml/2006/ole">
              <mc:AlternateContent xmlns:mc="http://schemas.openxmlformats.org/markup-compatibility/2006">
                <mc:Choice xmlns:v="urn:schemas-microsoft-com:vml" Requires="v">
                  <p:oleObj spid="_x0000_s75314" r:id="rId5" imgW="682023" imgH="480718" progId="MS_ClipArt_Gallery.2">
                    <p:embed/>
                  </p:oleObj>
                </mc:Choice>
                <mc:Fallback>
                  <p:oleObj r:id="rId5" imgW="682023" imgH="480718" progId="MS_ClipArt_Gallery.2">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 y="92"/>
                          <a:ext cx="2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28" name="Line 11"/>
            <p:cNvSpPr>
              <a:spLocks noChangeShapeType="1"/>
            </p:cNvSpPr>
            <p:nvPr/>
          </p:nvSpPr>
          <p:spPr bwMode="auto">
            <a:xfrm flipV="1">
              <a:off x="292" y="188"/>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0729" name="Group 12"/>
          <p:cNvGrpSpPr>
            <a:grpSpLocks/>
          </p:cNvGrpSpPr>
          <p:nvPr/>
        </p:nvGrpSpPr>
        <p:grpSpPr bwMode="auto">
          <a:xfrm>
            <a:off x="6530976" y="2781300"/>
            <a:ext cx="733425" cy="319088"/>
            <a:chOff x="0" y="0"/>
            <a:chExt cx="527" cy="248"/>
          </a:xfrm>
        </p:grpSpPr>
        <p:graphicFrame>
          <p:nvGraphicFramePr>
            <p:cNvPr id="30730" name="Object 13"/>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75315" r:id="rId7" imgW="1305626" imgH="1082835" progId="MS_ClipArt_Gallery.2">
                    <p:embed/>
                  </p:oleObj>
                </mc:Choice>
                <mc:Fallback>
                  <p:oleObj r:id="rId7" imgW="1305626" imgH="1082835" progId="MS_ClipArt_Gallery.2">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731" name="Object 14"/>
            <p:cNvGraphicFramePr>
              <a:graphicFrameLocks noChangeAspect="1"/>
            </p:cNvGraphicFramePr>
            <p:nvPr/>
          </p:nvGraphicFramePr>
          <p:xfrm>
            <a:off x="326" y="92"/>
            <a:ext cx="201" cy="144"/>
          </p:xfrm>
          <a:graphic>
            <a:graphicData uri="http://schemas.openxmlformats.org/presentationml/2006/ole">
              <mc:AlternateContent xmlns:mc="http://schemas.openxmlformats.org/markup-compatibility/2006">
                <mc:Choice xmlns:v="urn:schemas-microsoft-com:vml" Requires="v">
                  <p:oleObj spid="_x0000_s75316" r:id="rId8" imgW="682023" imgH="480718" progId="MS_ClipArt_Gallery.2">
                    <p:embed/>
                  </p:oleObj>
                </mc:Choice>
                <mc:Fallback>
                  <p:oleObj r:id="rId8" imgW="682023" imgH="480718" progId="MS_ClipArt_Gallery.2">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 y="92"/>
                          <a:ext cx="2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32" name="Line 15"/>
            <p:cNvSpPr>
              <a:spLocks noChangeShapeType="1"/>
            </p:cNvSpPr>
            <p:nvPr/>
          </p:nvSpPr>
          <p:spPr bwMode="auto">
            <a:xfrm flipV="1">
              <a:off x="292" y="188"/>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0733" name="Group 16"/>
          <p:cNvGrpSpPr>
            <a:grpSpLocks/>
          </p:cNvGrpSpPr>
          <p:nvPr/>
        </p:nvGrpSpPr>
        <p:grpSpPr bwMode="auto">
          <a:xfrm>
            <a:off x="6907213" y="2568576"/>
            <a:ext cx="69850" cy="214313"/>
            <a:chOff x="0" y="0"/>
            <a:chExt cx="51" cy="167"/>
          </a:xfrm>
        </p:grpSpPr>
        <p:sp>
          <p:nvSpPr>
            <p:cNvPr id="30734" name="Oval 17"/>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35" name="Oval 18"/>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36" name="Oval 19"/>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30737" name="Group 20"/>
          <p:cNvGrpSpPr>
            <a:grpSpLocks/>
          </p:cNvGrpSpPr>
          <p:nvPr/>
        </p:nvGrpSpPr>
        <p:grpSpPr bwMode="auto">
          <a:xfrm>
            <a:off x="7377113" y="3071814"/>
            <a:ext cx="209550" cy="395287"/>
            <a:chOff x="0" y="0"/>
            <a:chExt cx="150" cy="307"/>
          </a:xfrm>
        </p:grpSpPr>
        <p:sp>
          <p:nvSpPr>
            <p:cNvPr id="30738" name="AutoShape 21"/>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39" name="Rectangle 22"/>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40" name="Rectangle 23"/>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741" name="AutoShape 24"/>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742" name="Line 25"/>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43" name="Line 26"/>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44" name="Rectangle 27"/>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745" name="Rectangle 28"/>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30746" name="Group 29"/>
          <p:cNvGrpSpPr>
            <a:grpSpLocks/>
          </p:cNvGrpSpPr>
          <p:nvPr/>
        </p:nvGrpSpPr>
        <p:grpSpPr bwMode="auto">
          <a:xfrm rot="16200000">
            <a:off x="7689851" y="3149601"/>
            <a:ext cx="80963" cy="233363"/>
            <a:chOff x="0" y="0"/>
            <a:chExt cx="51" cy="167"/>
          </a:xfrm>
        </p:grpSpPr>
        <p:sp>
          <p:nvSpPr>
            <p:cNvPr id="30747" name="Oval 30"/>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48" name="Oval 31"/>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49" name="Oval 32"/>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30750" name="Line 33"/>
          <p:cNvSpPr>
            <a:spLocks noChangeShapeType="1"/>
          </p:cNvSpPr>
          <p:nvPr/>
        </p:nvSpPr>
        <p:spPr bwMode="auto">
          <a:xfrm>
            <a:off x="7513638" y="2979739"/>
            <a:ext cx="495300"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51" name="Line 34"/>
          <p:cNvSpPr>
            <a:spLocks noChangeShapeType="1"/>
          </p:cNvSpPr>
          <p:nvPr/>
        </p:nvSpPr>
        <p:spPr bwMode="auto">
          <a:xfrm>
            <a:off x="7516814" y="2976563"/>
            <a:ext cx="1587" cy="952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52" name="Line 35"/>
          <p:cNvSpPr>
            <a:spLocks noChangeShapeType="1"/>
          </p:cNvSpPr>
          <p:nvPr/>
        </p:nvSpPr>
        <p:spPr bwMode="auto">
          <a:xfrm>
            <a:off x="8012114" y="2974975"/>
            <a:ext cx="1587" cy="82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53" name="Line 36"/>
          <p:cNvSpPr>
            <a:spLocks noChangeShapeType="1"/>
          </p:cNvSpPr>
          <p:nvPr/>
        </p:nvSpPr>
        <p:spPr bwMode="auto">
          <a:xfrm>
            <a:off x="7213601" y="2439988"/>
            <a:ext cx="288925" cy="265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54" name="Line 37"/>
          <p:cNvSpPr>
            <a:spLocks noChangeShapeType="1"/>
          </p:cNvSpPr>
          <p:nvPr/>
        </p:nvSpPr>
        <p:spPr bwMode="auto">
          <a:xfrm flipV="1">
            <a:off x="7226301" y="2725738"/>
            <a:ext cx="276225" cy="330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55" name="Line 38"/>
          <p:cNvSpPr>
            <a:spLocks noChangeShapeType="1"/>
          </p:cNvSpPr>
          <p:nvPr/>
        </p:nvSpPr>
        <p:spPr bwMode="auto">
          <a:xfrm flipV="1">
            <a:off x="7753350" y="2811463"/>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0756" name="Group 39"/>
          <p:cNvGrpSpPr>
            <a:grpSpLocks/>
          </p:cNvGrpSpPr>
          <p:nvPr/>
        </p:nvGrpSpPr>
        <p:grpSpPr bwMode="auto">
          <a:xfrm>
            <a:off x="7872413" y="3049589"/>
            <a:ext cx="209550" cy="395287"/>
            <a:chOff x="0" y="0"/>
            <a:chExt cx="150" cy="307"/>
          </a:xfrm>
        </p:grpSpPr>
        <p:sp>
          <p:nvSpPr>
            <p:cNvPr id="30757" name="AutoShape 40"/>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58" name="Rectangle 41"/>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59" name="Rectangle 42"/>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760" name="AutoShape 43"/>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761" name="Line 44"/>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62" name="Line 45"/>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63" name="Rectangle 46"/>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764" name="Rectangle 47"/>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30765" name="Group 48"/>
          <p:cNvGrpSpPr>
            <a:grpSpLocks/>
          </p:cNvGrpSpPr>
          <p:nvPr/>
        </p:nvGrpSpPr>
        <p:grpSpPr bwMode="auto">
          <a:xfrm>
            <a:off x="6915151" y="3668713"/>
            <a:ext cx="479425" cy="925512"/>
            <a:chOff x="0" y="0"/>
            <a:chExt cx="344" cy="694"/>
          </a:xfrm>
        </p:grpSpPr>
        <p:graphicFrame>
          <p:nvGraphicFramePr>
            <p:cNvPr id="30766" name="Object 49"/>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75317" r:id="rId9" imgW="1305626" imgH="1082835" progId="MS_ClipArt_Gallery.2">
                    <p:embed/>
                  </p:oleObj>
                </mc:Choice>
                <mc:Fallback>
                  <p:oleObj r:id="rId9" imgW="1305626" imgH="1082835" progId="MS_ClipArt_Gallery.2">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67" name="Line 50"/>
            <p:cNvSpPr>
              <a:spLocks noChangeShapeType="1"/>
            </p:cNvSpPr>
            <p:nvPr/>
          </p:nvSpPr>
          <p:spPr bwMode="auto">
            <a:xfrm flipV="1">
              <a:off x="292" y="185"/>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30768" name="Object 51"/>
            <p:cNvGraphicFramePr>
              <a:graphicFrameLocks noChangeAspect="1"/>
            </p:cNvGraphicFramePr>
            <p:nvPr/>
          </p:nvGraphicFramePr>
          <p:xfrm>
            <a:off x="0" y="446"/>
            <a:ext cx="299" cy="248"/>
          </p:xfrm>
          <a:graphic>
            <a:graphicData uri="http://schemas.openxmlformats.org/presentationml/2006/ole">
              <mc:AlternateContent xmlns:mc="http://schemas.openxmlformats.org/markup-compatibility/2006">
                <mc:Choice xmlns:v="urn:schemas-microsoft-com:vml" Requires="v">
                  <p:oleObj spid="_x0000_s75318" r:id="rId10" imgW="1305626" imgH="1082835" progId="MS_ClipArt_Gallery.2">
                    <p:embed/>
                  </p:oleObj>
                </mc:Choice>
                <mc:Fallback>
                  <p:oleObj r:id="rId10" imgW="1305626" imgH="1082835" progId="MS_ClipArt_Gallery.2">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46"/>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69" name="Line 52"/>
            <p:cNvSpPr>
              <a:spLocks noChangeShapeType="1"/>
            </p:cNvSpPr>
            <p:nvPr/>
          </p:nvSpPr>
          <p:spPr bwMode="auto">
            <a:xfrm flipV="1">
              <a:off x="292" y="634"/>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0770" name="Group 53"/>
            <p:cNvGrpSpPr>
              <a:grpSpLocks/>
            </p:cNvGrpSpPr>
            <p:nvPr/>
          </p:nvGrpSpPr>
          <p:grpSpPr bwMode="auto">
            <a:xfrm>
              <a:off x="90" y="256"/>
              <a:ext cx="51" cy="167"/>
              <a:chOff x="0" y="0"/>
              <a:chExt cx="51" cy="167"/>
            </a:xfrm>
          </p:grpSpPr>
          <p:sp>
            <p:nvSpPr>
              <p:cNvPr id="30771" name="Oval 54"/>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72" name="Oval 55"/>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73" name="Oval 56"/>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30774" name="Line 57"/>
            <p:cNvSpPr>
              <a:spLocks noChangeShapeType="1"/>
            </p:cNvSpPr>
            <p:nvPr/>
          </p:nvSpPr>
          <p:spPr bwMode="auto">
            <a:xfrm>
              <a:off x="340" y="183"/>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aphicFrame>
        <p:nvGraphicFramePr>
          <p:cNvPr id="30775" name="Object 58"/>
          <p:cNvGraphicFramePr>
            <a:graphicFrameLocks noChangeAspect="1"/>
          </p:cNvGraphicFramePr>
          <p:nvPr/>
        </p:nvGraphicFramePr>
        <p:xfrm>
          <a:off x="7783513" y="4678364"/>
          <a:ext cx="417512" cy="331787"/>
        </p:xfrm>
        <a:graphic>
          <a:graphicData uri="http://schemas.openxmlformats.org/presentationml/2006/ole">
            <mc:AlternateContent xmlns:mc="http://schemas.openxmlformats.org/markup-compatibility/2006">
              <mc:Choice xmlns:v="urn:schemas-microsoft-com:vml" Requires="v">
                <p:oleObj spid="_x0000_s75319" r:id="rId11" imgW="1305626" imgH="1082835" progId="MS_ClipArt_Gallery.2">
                  <p:embed/>
                </p:oleObj>
              </mc:Choice>
              <mc:Fallback>
                <p:oleObj r:id="rId11" imgW="1305626" imgH="1082835" progId="MS_ClipArt_Gallery.2">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3513" y="4678364"/>
                        <a:ext cx="417512"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776" name="Object 59"/>
          <p:cNvGraphicFramePr>
            <a:graphicFrameLocks noChangeAspect="1"/>
          </p:cNvGraphicFramePr>
          <p:nvPr/>
        </p:nvGraphicFramePr>
        <p:xfrm>
          <a:off x="7169151" y="4667250"/>
          <a:ext cx="415925" cy="330200"/>
        </p:xfrm>
        <a:graphic>
          <a:graphicData uri="http://schemas.openxmlformats.org/presentationml/2006/ole">
            <mc:AlternateContent xmlns:mc="http://schemas.openxmlformats.org/markup-compatibility/2006">
              <mc:Choice xmlns:v="urn:schemas-microsoft-com:vml" Requires="v">
                <p:oleObj spid="_x0000_s75320" r:id="rId12" imgW="1305626" imgH="1082835" progId="MS_ClipArt_Gallery.2">
                  <p:embed/>
                </p:oleObj>
              </mc:Choice>
              <mc:Fallback>
                <p:oleObj r:id="rId12" imgW="1305626" imgH="1082835" progId="MS_ClipArt_Gallery.2">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9151" y="4667250"/>
                        <a:ext cx="4159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77" name="Oval 60"/>
          <p:cNvSpPr>
            <a:spLocks noChangeArrowheads="1"/>
          </p:cNvSpPr>
          <p:nvPr/>
        </p:nvSpPr>
        <p:spPr bwMode="auto">
          <a:xfrm rot="16200000">
            <a:off x="7584282" y="4769645"/>
            <a:ext cx="63500" cy="6508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78" name="Oval 61"/>
          <p:cNvSpPr>
            <a:spLocks noChangeArrowheads="1"/>
          </p:cNvSpPr>
          <p:nvPr/>
        </p:nvSpPr>
        <p:spPr bwMode="auto">
          <a:xfrm rot="16200000">
            <a:off x="7670801" y="4768851"/>
            <a:ext cx="63500" cy="666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79" name="Oval 62"/>
          <p:cNvSpPr>
            <a:spLocks noChangeArrowheads="1"/>
          </p:cNvSpPr>
          <p:nvPr/>
        </p:nvSpPr>
        <p:spPr bwMode="auto">
          <a:xfrm rot="16200000">
            <a:off x="7748588" y="4773613"/>
            <a:ext cx="61913"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780" name="Line 63"/>
          <p:cNvSpPr>
            <a:spLocks noChangeShapeType="1"/>
          </p:cNvSpPr>
          <p:nvPr/>
        </p:nvSpPr>
        <p:spPr bwMode="auto">
          <a:xfrm rot="16200000">
            <a:off x="8005764" y="4649789"/>
            <a:ext cx="60325"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81" name="Line 64"/>
          <p:cNvSpPr>
            <a:spLocks noChangeShapeType="1"/>
          </p:cNvSpPr>
          <p:nvPr/>
        </p:nvSpPr>
        <p:spPr bwMode="auto">
          <a:xfrm rot="5400000" flipH="1">
            <a:off x="7381875" y="4645025"/>
            <a:ext cx="63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82" name="Line 65"/>
          <p:cNvSpPr>
            <a:spLocks noChangeShapeType="1"/>
          </p:cNvSpPr>
          <p:nvPr/>
        </p:nvSpPr>
        <p:spPr bwMode="auto">
          <a:xfrm rot="16200000" flipV="1">
            <a:off x="7727157" y="4304507"/>
            <a:ext cx="0" cy="6270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83" name="Line 66"/>
          <p:cNvSpPr>
            <a:spLocks noChangeShapeType="1"/>
          </p:cNvSpPr>
          <p:nvPr/>
        </p:nvSpPr>
        <p:spPr bwMode="auto">
          <a:xfrm flipV="1">
            <a:off x="7394576" y="4244976"/>
            <a:ext cx="93663"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84" name="Line 67"/>
          <p:cNvSpPr>
            <a:spLocks noChangeShapeType="1"/>
          </p:cNvSpPr>
          <p:nvPr/>
        </p:nvSpPr>
        <p:spPr bwMode="auto">
          <a:xfrm>
            <a:off x="7996238" y="4291013"/>
            <a:ext cx="303212" cy="3857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785" name="Line 68"/>
          <p:cNvSpPr>
            <a:spLocks noChangeShapeType="1"/>
          </p:cNvSpPr>
          <p:nvPr/>
        </p:nvSpPr>
        <p:spPr bwMode="auto">
          <a:xfrm flipH="1">
            <a:off x="8791575" y="4287838"/>
            <a:ext cx="279400" cy="3921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30786" name="Object 69"/>
          <p:cNvGraphicFramePr>
            <a:graphicFrameLocks noChangeAspect="1"/>
          </p:cNvGraphicFramePr>
          <p:nvPr/>
        </p:nvGraphicFramePr>
        <p:xfrm>
          <a:off x="8969375" y="3840163"/>
          <a:ext cx="203200" cy="241300"/>
        </p:xfrm>
        <a:graphic>
          <a:graphicData uri="http://schemas.openxmlformats.org/presentationml/2006/ole">
            <mc:AlternateContent xmlns:mc="http://schemas.openxmlformats.org/markup-compatibility/2006">
              <mc:Choice xmlns:v="urn:schemas-microsoft-com:vml" Requires="v">
                <p:oleObj spid="_x0000_s75321" r:id="rId13" imgW="981674" imgH="1206892" progId="MS_ClipArt_Gallery.2">
                  <p:embed/>
                </p:oleObj>
              </mc:Choice>
              <mc:Fallback>
                <p:oleObj r:id="rId13" imgW="981674" imgH="1206892" progId="MS_ClipArt_Gallery.2">
                  <p:embed/>
                  <p:pic>
                    <p:nvPicPr>
                      <p:cNvPr id="0" name="Object 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969375" y="3840163"/>
                        <a:ext cx="2032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787" name="Object 70"/>
          <p:cNvGraphicFramePr>
            <a:graphicFrameLocks noChangeAspect="1"/>
          </p:cNvGraphicFramePr>
          <p:nvPr/>
        </p:nvGraphicFramePr>
        <p:xfrm>
          <a:off x="7632700" y="3921126"/>
          <a:ext cx="203200" cy="239713"/>
        </p:xfrm>
        <a:graphic>
          <a:graphicData uri="http://schemas.openxmlformats.org/presentationml/2006/ole">
            <mc:AlternateContent xmlns:mc="http://schemas.openxmlformats.org/markup-compatibility/2006">
              <mc:Choice xmlns:v="urn:schemas-microsoft-com:vml" Requires="v">
                <p:oleObj spid="_x0000_s75322" r:id="rId15" imgW="981674" imgH="1206892" progId="MS_ClipArt_Gallery.2">
                  <p:embed/>
                </p:oleObj>
              </mc:Choice>
              <mc:Fallback>
                <p:oleObj r:id="rId15" imgW="981674" imgH="1206892" progId="MS_ClipArt_Gallery.2">
                  <p:embed/>
                  <p:pic>
                    <p:nvPicPr>
                      <p:cNvPr id="0" name="Object 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32700" y="3921126"/>
                        <a:ext cx="203200"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88" name="未知"/>
          <p:cNvSpPr>
            <a:spLocks noChangeArrowheads="1"/>
          </p:cNvSpPr>
          <p:nvPr/>
        </p:nvSpPr>
        <p:spPr bwMode="auto">
          <a:xfrm>
            <a:off x="7713664" y="3695700"/>
            <a:ext cx="1354137" cy="304800"/>
          </a:xfrm>
          <a:custGeom>
            <a:avLst/>
            <a:gdLst>
              <a:gd name="T0" fmla="*/ 0 w 972"/>
              <a:gd name="T1" fmla="*/ 228 h 228"/>
              <a:gd name="T2" fmla="*/ 432 w 972"/>
              <a:gd name="T3" fmla="*/ 9 h 228"/>
              <a:gd name="T4" fmla="*/ 972 w 972"/>
              <a:gd name="T5" fmla="*/ 171 h 228"/>
            </a:gdLst>
            <a:ahLst/>
            <a:cxnLst>
              <a:cxn ang="0">
                <a:pos x="T0" y="T1"/>
              </a:cxn>
              <a:cxn ang="0">
                <a:pos x="T2" y="T3"/>
              </a:cxn>
              <a:cxn ang="0">
                <a:pos x="T4" y="T5"/>
              </a:cxn>
            </a:cxnLst>
            <a:rect l="0" t="0" r="r" b="b"/>
            <a:pathLst>
              <a:path w="972" h="228">
                <a:moveTo>
                  <a:pt x="0" y="228"/>
                </a:moveTo>
                <a:cubicBezTo>
                  <a:pt x="135" y="123"/>
                  <a:pt x="270" y="18"/>
                  <a:pt x="432" y="9"/>
                </a:cubicBezTo>
                <a:cubicBezTo>
                  <a:pt x="594" y="0"/>
                  <a:pt x="783" y="85"/>
                  <a:pt x="972" y="171"/>
                </a:cubicBezTo>
              </a:path>
            </a:pathLst>
          </a:custGeom>
          <a:noFill/>
          <a:ln w="381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pSp>
        <p:nvGrpSpPr>
          <p:cNvPr id="30789" name="Group 72"/>
          <p:cNvGrpSpPr>
            <a:grpSpLocks noChangeAspect="1"/>
          </p:cNvGrpSpPr>
          <p:nvPr/>
        </p:nvGrpSpPr>
        <p:grpSpPr bwMode="auto">
          <a:xfrm>
            <a:off x="7980363" y="5118100"/>
            <a:ext cx="406400" cy="427038"/>
            <a:chOff x="0" y="0"/>
            <a:chExt cx="292" cy="320"/>
          </a:xfrm>
        </p:grpSpPr>
        <p:graphicFrame>
          <p:nvGraphicFramePr>
            <p:cNvPr id="30790" name="Object 73"/>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5323" r:id="rId16" imgW="825309" imgH="838856" progId="MS_ClipArt_Gallery.2">
                    <p:embed/>
                  </p:oleObj>
                </mc:Choice>
                <mc:Fallback>
                  <p:oleObj r:id="rId16" imgW="825309" imgH="838856" progId="MS_ClipArt_Gallery.2">
                    <p:embed/>
                    <p:pic>
                      <p:nvPicPr>
                        <p:cNvPr id="0" name="Object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791" name="Object 74"/>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5324" r:id="rId18" imgW="1266724" imgH="1197956" progId="MS_ClipArt_Gallery.2">
                    <p:embed/>
                  </p:oleObj>
                </mc:Choice>
                <mc:Fallback>
                  <p:oleObj r:id="rId18" imgW="1266724" imgH="1197956" progId="MS_ClipArt_Gallery.2">
                    <p:embed/>
                    <p:pic>
                      <p:nvPicPr>
                        <p:cNvPr id="0" name="Object 7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30792" name="Group 75"/>
          <p:cNvGrpSpPr>
            <a:grpSpLocks noChangeAspect="1"/>
          </p:cNvGrpSpPr>
          <p:nvPr/>
        </p:nvGrpSpPr>
        <p:grpSpPr bwMode="auto">
          <a:xfrm>
            <a:off x="8758238" y="5149850"/>
            <a:ext cx="406400" cy="427038"/>
            <a:chOff x="0" y="0"/>
            <a:chExt cx="292" cy="320"/>
          </a:xfrm>
        </p:grpSpPr>
        <p:graphicFrame>
          <p:nvGraphicFramePr>
            <p:cNvPr id="30793" name="Object 76"/>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5325" r:id="rId20" imgW="825309" imgH="838856" progId="MS_ClipArt_Gallery.2">
                    <p:embed/>
                  </p:oleObj>
                </mc:Choice>
                <mc:Fallback>
                  <p:oleObj r:id="rId20" imgW="825309" imgH="838856" progId="MS_ClipArt_Gallery.2">
                    <p:embed/>
                    <p:pic>
                      <p:nvPicPr>
                        <p:cNvPr id="0" name="Object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794" name="Object 77"/>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5326" r:id="rId21" imgW="1266724" imgH="1197956" progId="MS_ClipArt_Gallery.2">
                    <p:embed/>
                  </p:oleObj>
                </mc:Choice>
                <mc:Fallback>
                  <p:oleObj r:id="rId21" imgW="1266724" imgH="1197956" progId="MS_ClipArt_Gallery.2">
                    <p:embed/>
                    <p:pic>
                      <p:nvPicPr>
                        <p:cNvPr id="0" name="Object 7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30795" name="Group 78"/>
          <p:cNvGrpSpPr>
            <a:grpSpLocks/>
          </p:cNvGrpSpPr>
          <p:nvPr/>
        </p:nvGrpSpPr>
        <p:grpSpPr bwMode="auto">
          <a:xfrm>
            <a:off x="8343901" y="4865689"/>
            <a:ext cx="379413" cy="376237"/>
            <a:chOff x="0" y="0"/>
            <a:chExt cx="272" cy="282"/>
          </a:xfrm>
        </p:grpSpPr>
        <p:graphicFrame>
          <p:nvGraphicFramePr>
            <p:cNvPr id="30796" name="Object 79"/>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5327" r:id="rId22" imgW="825309" imgH="838856" progId="MS_ClipArt_Gallery.2">
                    <p:embed/>
                  </p:oleObj>
                </mc:Choice>
                <mc:Fallback>
                  <p:oleObj r:id="rId22" imgW="825309" imgH="838856" progId="MS_ClipArt_Gallery.2">
                    <p:embed/>
                    <p:pic>
                      <p:nvPicPr>
                        <p:cNvPr id="0" name="Object 7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97" name="Rectangle 80"/>
            <p:cNvSpPr>
              <a:spLocks noChangeArrowheads="1"/>
            </p:cNvSpPr>
            <p:nvPr/>
          </p:nvSpPr>
          <p:spPr bwMode="auto">
            <a:xfrm>
              <a:off x="79" y="99"/>
              <a:ext cx="192" cy="183"/>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grpSp>
      <p:sp>
        <p:nvSpPr>
          <p:cNvPr id="30798" name="Line 81"/>
          <p:cNvSpPr>
            <a:spLocks noChangeShapeType="1"/>
          </p:cNvSpPr>
          <p:nvPr/>
        </p:nvSpPr>
        <p:spPr bwMode="auto">
          <a:xfrm>
            <a:off x="8650288" y="4768850"/>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0799" name="Group 82"/>
          <p:cNvGrpSpPr>
            <a:grpSpLocks/>
          </p:cNvGrpSpPr>
          <p:nvPr/>
        </p:nvGrpSpPr>
        <p:grpSpPr bwMode="auto">
          <a:xfrm>
            <a:off x="9371013" y="4192589"/>
            <a:ext cx="207962" cy="409575"/>
            <a:chOff x="0" y="0"/>
            <a:chExt cx="150" cy="307"/>
          </a:xfrm>
        </p:grpSpPr>
        <p:sp>
          <p:nvSpPr>
            <p:cNvPr id="30800" name="AutoShape 83"/>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801" name="Rectangle 84"/>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802" name="Rectangle 85"/>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803" name="AutoShape 86"/>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804" name="Line 87"/>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05" name="Line 88"/>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06" name="Rectangle 89"/>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807" name="Rectangle 90"/>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30808" name="Group 91"/>
          <p:cNvGrpSpPr>
            <a:grpSpLocks/>
          </p:cNvGrpSpPr>
          <p:nvPr/>
        </p:nvGrpSpPr>
        <p:grpSpPr bwMode="auto">
          <a:xfrm>
            <a:off x="9358313" y="4637089"/>
            <a:ext cx="207962" cy="409575"/>
            <a:chOff x="0" y="0"/>
            <a:chExt cx="150" cy="307"/>
          </a:xfrm>
        </p:grpSpPr>
        <p:sp>
          <p:nvSpPr>
            <p:cNvPr id="30809" name="AutoShape 92"/>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810" name="Rectangle 93"/>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0811" name="Rectangle 94"/>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812" name="AutoShape 95"/>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813" name="Line 96"/>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14" name="Line 97"/>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15" name="Rectangle 98"/>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0816" name="Rectangle 99"/>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30817" name="Line 100"/>
          <p:cNvSpPr>
            <a:spLocks noChangeShapeType="1"/>
          </p:cNvSpPr>
          <p:nvPr/>
        </p:nvSpPr>
        <p:spPr bwMode="auto">
          <a:xfrm rot="5400000" flipH="1">
            <a:off x="8982870" y="4564857"/>
            <a:ext cx="61118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18" name="Line 101"/>
          <p:cNvSpPr>
            <a:spLocks noChangeShapeType="1"/>
          </p:cNvSpPr>
          <p:nvPr/>
        </p:nvSpPr>
        <p:spPr bwMode="auto">
          <a:xfrm rot="16200000">
            <a:off x="9336882" y="4817270"/>
            <a:ext cx="0" cy="1031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19" name="Line 102"/>
          <p:cNvSpPr>
            <a:spLocks noChangeShapeType="1"/>
          </p:cNvSpPr>
          <p:nvPr/>
        </p:nvSpPr>
        <p:spPr bwMode="auto">
          <a:xfrm rot="16200000">
            <a:off x="9328150" y="4349750"/>
            <a:ext cx="0" cy="8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20" name="Line 103"/>
          <p:cNvSpPr>
            <a:spLocks noChangeShapeType="1"/>
          </p:cNvSpPr>
          <p:nvPr/>
        </p:nvSpPr>
        <p:spPr bwMode="auto">
          <a:xfrm flipV="1">
            <a:off x="8007350" y="2490788"/>
            <a:ext cx="458788" cy="2079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21" name="Line 104"/>
          <p:cNvSpPr>
            <a:spLocks noChangeShapeType="1"/>
          </p:cNvSpPr>
          <p:nvPr/>
        </p:nvSpPr>
        <p:spPr bwMode="auto">
          <a:xfrm>
            <a:off x="8942389" y="2474913"/>
            <a:ext cx="485775" cy="2079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22" name="Line 105"/>
          <p:cNvSpPr>
            <a:spLocks noChangeShapeType="1"/>
          </p:cNvSpPr>
          <p:nvPr/>
        </p:nvSpPr>
        <p:spPr bwMode="auto">
          <a:xfrm flipH="1">
            <a:off x="9461500" y="2811464"/>
            <a:ext cx="241300" cy="68103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23" name="Line 106"/>
          <p:cNvSpPr>
            <a:spLocks noChangeShapeType="1"/>
          </p:cNvSpPr>
          <p:nvPr/>
        </p:nvSpPr>
        <p:spPr bwMode="auto">
          <a:xfrm>
            <a:off x="8691563" y="2587625"/>
            <a:ext cx="0" cy="4318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24" name="Line 107"/>
          <p:cNvSpPr>
            <a:spLocks noChangeShapeType="1"/>
          </p:cNvSpPr>
          <p:nvPr/>
        </p:nvSpPr>
        <p:spPr bwMode="auto">
          <a:xfrm>
            <a:off x="8716964" y="3235325"/>
            <a:ext cx="534987" cy="3683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25" name="Line 108"/>
          <p:cNvSpPr>
            <a:spLocks noChangeShapeType="1"/>
          </p:cNvSpPr>
          <p:nvPr/>
        </p:nvSpPr>
        <p:spPr bwMode="auto">
          <a:xfrm flipH="1">
            <a:off x="9177338" y="3700463"/>
            <a:ext cx="266700" cy="3603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26" name="Line 109"/>
          <p:cNvSpPr>
            <a:spLocks noChangeShapeType="1"/>
          </p:cNvSpPr>
          <p:nvPr/>
        </p:nvSpPr>
        <p:spPr bwMode="auto">
          <a:xfrm flipH="1">
            <a:off x="8950325" y="2779714"/>
            <a:ext cx="560388" cy="384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27" name="Line 110"/>
          <p:cNvSpPr>
            <a:spLocks noChangeShapeType="1"/>
          </p:cNvSpPr>
          <p:nvPr/>
        </p:nvSpPr>
        <p:spPr bwMode="auto">
          <a:xfrm flipH="1">
            <a:off x="8959850" y="2219325"/>
            <a:ext cx="350838" cy="255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28" name="Line 111"/>
          <p:cNvSpPr>
            <a:spLocks noChangeShapeType="1"/>
          </p:cNvSpPr>
          <p:nvPr/>
        </p:nvSpPr>
        <p:spPr bwMode="auto">
          <a:xfrm flipH="1">
            <a:off x="9677401" y="2395538"/>
            <a:ext cx="201613" cy="1762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0829" name="Group 112"/>
          <p:cNvGrpSpPr>
            <a:grpSpLocks/>
          </p:cNvGrpSpPr>
          <p:nvPr/>
        </p:nvGrpSpPr>
        <p:grpSpPr bwMode="auto">
          <a:xfrm>
            <a:off x="8745538" y="4043363"/>
            <a:ext cx="671512" cy="387350"/>
            <a:chOff x="0" y="0"/>
            <a:chExt cx="423" cy="244"/>
          </a:xfrm>
        </p:grpSpPr>
        <p:sp>
          <p:nvSpPr>
            <p:cNvPr id="30830" name="未知"/>
            <p:cNvSpPr>
              <a:spLocks noChangeArrowheads="1"/>
            </p:cNvSpPr>
            <p:nvPr/>
          </p:nvSpPr>
          <p:spPr bwMode="auto">
            <a:xfrm>
              <a:off x="0" y="0"/>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30831" name="Group 114"/>
            <p:cNvGrpSpPr>
              <a:grpSpLocks/>
            </p:cNvGrpSpPr>
            <p:nvPr/>
          </p:nvGrpSpPr>
          <p:grpSpPr bwMode="auto">
            <a:xfrm>
              <a:off x="47" y="55"/>
              <a:ext cx="316" cy="147"/>
              <a:chOff x="0" y="0"/>
              <a:chExt cx="360" cy="175"/>
            </a:xfrm>
          </p:grpSpPr>
          <p:sp>
            <p:nvSpPr>
              <p:cNvPr id="30832" name="Oval 115"/>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0833" name="Line 116"/>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34" name="Line 117"/>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35" name="Rectangle 118"/>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30836" name="Oval 119"/>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0837" name="Group 120"/>
              <p:cNvGrpSpPr>
                <a:grpSpLocks/>
              </p:cNvGrpSpPr>
              <p:nvPr/>
            </p:nvGrpSpPr>
            <p:grpSpPr bwMode="auto">
              <a:xfrm>
                <a:off x="86" y="25"/>
                <a:ext cx="177" cy="66"/>
                <a:chOff x="0" y="0"/>
                <a:chExt cx="140" cy="98"/>
              </a:xfrm>
            </p:grpSpPr>
            <p:sp>
              <p:nvSpPr>
                <p:cNvPr id="30838" name="Line 121"/>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39" name="Line 122"/>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40" name="Line 123"/>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0841" name="Group 124"/>
              <p:cNvGrpSpPr>
                <a:grpSpLocks/>
              </p:cNvGrpSpPr>
              <p:nvPr/>
            </p:nvGrpSpPr>
            <p:grpSpPr bwMode="auto">
              <a:xfrm flipV="1">
                <a:off x="86" y="24"/>
                <a:ext cx="177" cy="66"/>
                <a:chOff x="0" y="0"/>
                <a:chExt cx="140" cy="98"/>
              </a:xfrm>
            </p:grpSpPr>
            <p:sp>
              <p:nvSpPr>
                <p:cNvPr id="30842" name="Line 125"/>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43" name="Line 126"/>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44" name="Line 127"/>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grpSp>
        <p:nvGrpSpPr>
          <p:cNvPr id="30845" name="Group 128"/>
          <p:cNvGrpSpPr>
            <a:grpSpLocks/>
          </p:cNvGrpSpPr>
          <p:nvPr/>
        </p:nvGrpSpPr>
        <p:grpSpPr bwMode="auto">
          <a:xfrm>
            <a:off x="9097963" y="3386138"/>
            <a:ext cx="671512" cy="387350"/>
            <a:chOff x="0" y="0"/>
            <a:chExt cx="423" cy="244"/>
          </a:xfrm>
        </p:grpSpPr>
        <p:sp>
          <p:nvSpPr>
            <p:cNvPr id="30846" name="未知"/>
            <p:cNvSpPr>
              <a:spLocks noChangeArrowheads="1"/>
            </p:cNvSpPr>
            <p:nvPr/>
          </p:nvSpPr>
          <p:spPr bwMode="auto">
            <a:xfrm>
              <a:off x="0" y="0"/>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30847" name="Group 130"/>
            <p:cNvGrpSpPr>
              <a:grpSpLocks/>
            </p:cNvGrpSpPr>
            <p:nvPr/>
          </p:nvGrpSpPr>
          <p:grpSpPr bwMode="auto">
            <a:xfrm>
              <a:off x="47" y="55"/>
              <a:ext cx="316" cy="147"/>
              <a:chOff x="0" y="0"/>
              <a:chExt cx="360" cy="175"/>
            </a:xfrm>
          </p:grpSpPr>
          <p:sp>
            <p:nvSpPr>
              <p:cNvPr id="30848" name="Oval 131"/>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0849" name="Line 132"/>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50" name="Line 133"/>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51" name="Rectangle 134"/>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30852" name="Oval 135"/>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0853" name="Group 136"/>
              <p:cNvGrpSpPr>
                <a:grpSpLocks/>
              </p:cNvGrpSpPr>
              <p:nvPr/>
            </p:nvGrpSpPr>
            <p:grpSpPr bwMode="auto">
              <a:xfrm>
                <a:off x="86" y="25"/>
                <a:ext cx="177" cy="66"/>
                <a:chOff x="0" y="0"/>
                <a:chExt cx="140" cy="98"/>
              </a:xfrm>
            </p:grpSpPr>
            <p:sp>
              <p:nvSpPr>
                <p:cNvPr id="30854" name="Line 137"/>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55" name="Line 138"/>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56" name="Line 139"/>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0857" name="Group 140"/>
              <p:cNvGrpSpPr>
                <a:grpSpLocks/>
              </p:cNvGrpSpPr>
              <p:nvPr/>
            </p:nvGrpSpPr>
            <p:grpSpPr bwMode="auto">
              <a:xfrm flipV="1">
                <a:off x="86" y="24"/>
                <a:ext cx="177" cy="66"/>
                <a:chOff x="0" y="0"/>
                <a:chExt cx="140" cy="98"/>
              </a:xfrm>
            </p:grpSpPr>
            <p:sp>
              <p:nvSpPr>
                <p:cNvPr id="30858" name="Line 141"/>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59" name="Line 142"/>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60" name="Line 143"/>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grpSp>
        <p:nvGrpSpPr>
          <p:cNvPr id="30861" name="Group 144"/>
          <p:cNvGrpSpPr>
            <a:grpSpLocks/>
          </p:cNvGrpSpPr>
          <p:nvPr/>
        </p:nvGrpSpPr>
        <p:grpSpPr bwMode="auto">
          <a:xfrm>
            <a:off x="8450263" y="2938463"/>
            <a:ext cx="671512" cy="387350"/>
            <a:chOff x="0" y="0"/>
            <a:chExt cx="423" cy="244"/>
          </a:xfrm>
        </p:grpSpPr>
        <p:sp>
          <p:nvSpPr>
            <p:cNvPr id="30862" name="未知"/>
            <p:cNvSpPr>
              <a:spLocks noChangeArrowheads="1"/>
            </p:cNvSpPr>
            <p:nvPr/>
          </p:nvSpPr>
          <p:spPr bwMode="auto">
            <a:xfrm>
              <a:off x="0" y="0"/>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30863" name="Group 146"/>
            <p:cNvGrpSpPr>
              <a:grpSpLocks/>
            </p:cNvGrpSpPr>
            <p:nvPr/>
          </p:nvGrpSpPr>
          <p:grpSpPr bwMode="auto">
            <a:xfrm>
              <a:off x="47" y="55"/>
              <a:ext cx="316" cy="147"/>
              <a:chOff x="0" y="0"/>
              <a:chExt cx="360" cy="175"/>
            </a:xfrm>
          </p:grpSpPr>
          <p:sp>
            <p:nvSpPr>
              <p:cNvPr id="30864" name="Oval 147"/>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0865" name="Line 148"/>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66" name="Line 149"/>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67" name="Rectangle 150"/>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30868" name="Oval 151"/>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0869" name="Group 152"/>
              <p:cNvGrpSpPr>
                <a:grpSpLocks/>
              </p:cNvGrpSpPr>
              <p:nvPr/>
            </p:nvGrpSpPr>
            <p:grpSpPr bwMode="auto">
              <a:xfrm>
                <a:off x="86" y="25"/>
                <a:ext cx="177" cy="66"/>
                <a:chOff x="0" y="0"/>
                <a:chExt cx="140" cy="98"/>
              </a:xfrm>
            </p:grpSpPr>
            <p:sp>
              <p:nvSpPr>
                <p:cNvPr id="30870" name="Line 153"/>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71" name="Line 154"/>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72" name="Line 155"/>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0873" name="Group 156"/>
              <p:cNvGrpSpPr>
                <a:grpSpLocks/>
              </p:cNvGrpSpPr>
              <p:nvPr/>
            </p:nvGrpSpPr>
            <p:grpSpPr bwMode="auto">
              <a:xfrm flipV="1">
                <a:off x="86" y="24"/>
                <a:ext cx="177" cy="66"/>
                <a:chOff x="0" y="0"/>
                <a:chExt cx="140" cy="98"/>
              </a:xfrm>
            </p:grpSpPr>
            <p:sp>
              <p:nvSpPr>
                <p:cNvPr id="30874" name="Line 157"/>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75" name="Line 158"/>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76" name="Line 159"/>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grpSp>
        <p:nvGrpSpPr>
          <p:cNvPr id="30877" name="Group 160"/>
          <p:cNvGrpSpPr>
            <a:grpSpLocks/>
          </p:cNvGrpSpPr>
          <p:nvPr/>
        </p:nvGrpSpPr>
        <p:grpSpPr bwMode="auto">
          <a:xfrm>
            <a:off x="9269413" y="2462213"/>
            <a:ext cx="671512" cy="387350"/>
            <a:chOff x="0" y="0"/>
            <a:chExt cx="423" cy="244"/>
          </a:xfrm>
        </p:grpSpPr>
        <p:sp>
          <p:nvSpPr>
            <p:cNvPr id="30878" name="未知"/>
            <p:cNvSpPr>
              <a:spLocks noChangeArrowheads="1"/>
            </p:cNvSpPr>
            <p:nvPr/>
          </p:nvSpPr>
          <p:spPr bwMode="auto">
            <a:xfrm>
              <a:off x="0" y="0"/>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30879" name="Group 162"/>
            <p:cNvGrpSpPr>
              <a:grpSpLocks/>
            </p:cNvGrpSpPr>
            <p:nvPr/>
          </p:nvGrpSpPr>
          <p:grpSpPr bwMode="auto">
            <a:xfrm>
              <a:off x="47" y="55"/>
              <a:ext cx="316" cy="147"/>
              <a:chOff x="0" y="0"/>
              <a:chExt cx="360" cy="175"/>
            </a:xfrm>
          </p:grpSpPr>
          <p:sp>
            <p:nvSpPr>
              <p:cNvPr id="30880" name="Oval 163"/>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0881" name="Line 164"/>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82" name="Line 165"/>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83" name="Rectangle 166"/>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30884" name="Oval 167"/>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0885" name="Group 168"/>
              <p:cNvGrpSpPr>
                <a:grpSpLocks/>
              </p:cNvGrpSpPr>
              <p:nvPr/>
            </p:nvGrpSpPr>
            <p:grpSpPr bwMode="auto">
              <a:xfrm>
                <a:off x="86" y="25"/>
                <a:ext cx="177" cy="66"/>
                <a:chOff x="0" y="0"/>
                <a:chExt cx="140" cy="98"/>
              </a:xfrm>
            </p:grpSpPr>
            <p:sp>
              <p:nvSpPr>
                <p:cNvPr id="30886" name="Line 169"/>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87" name="Line 170"/>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88" name="Line 171"/>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0889" name="Group 172"/>
              <p:cNvGrpSpPr>
                <a:grpSpLocks/>
              </p:cNvGrpSpPr>
              <p:nvPr/>
            </p:nvGrpSpPr>
            <p:grpSpPr bwMode="auto">
              <a:xfrm flipV="1">
                <a:off x="86" y="24"/>
                <a:ext cx="177" cy="66"/>
                <a:chOff x="0" y="0"/>
                <a:chExt cx="140" cy="98"/>
              </a:xfrm>
            </p:grpSpPr>
            <p:sp>
              <p:nvSpPr>
                <p:cNvPr id="30890" name="Line 173"/>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91" name="Line 174"/>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92" name="Line 175"/>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grpSp>
        <p:nvGrpSpPr>
          <p:cNvPr id="30893" name="Group 176"/>
          <p:cNvGrpSpPr>
            <a:grpSpLocks/>
          </p:cNvGrpSpPr>
          <p:nvPr/>
        </p:nvGrpSpPr>
        <p:grpSpPr bwMode="auto">
          <a:xfrm>
            <a:off x="8364538" y="2262188"/>
            <a:ext cx="671512" cy="387350"/>
            <a:chOff x="0" y="0"/>
            <a:chExt cx="423" cy="244"/>
          </a:xfrm>
        </p:grpSpPr>
        <p:sp>
          <p:nvSpPr>
            <p:cNvPr id="30894" name="未知"/>
            <p:cNvSpPr>
              <a:spLocks noChangeArrowheads="1"/>
            </p:cNvSpPr>
            <p:nvPr/>
          </p:nvSpPr>
          <p:spPr bwMode="auto">
            <a:xfrm>
              <a:off x="0" y="0"/>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30895" name="Group 178"/>
            <p:cNvGrpSpPr>
              <a:grpSpLocks/>
            </p:cNvGrpSpPr>
            <p:nvPr/>
          </p:nvGrpSpPr>
          <p:grpSpPr bwMode="auto">
            <a:xfrm>
              <a:off x="47" y="55"/>
              <a:ext cx="316" cy="147"/>
              <a:chOff x="0" y="0"/>
              <a:chExt cx="360" cy="175"/>
            </a:xfrm>
          </p:grpSpPr>
          <p:sp>
            <p:nvSpPr>
              <p:cNvPr id="30896" name="Oval 179"/>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0897" name="Line 180"/>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98" name="Line 181"/>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899" name="Rectangle 182"/>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30900" name="Oval 183"/>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0901" name="Group 184"/>
              <p:cNvGrpSpPr>
                <a:grpSpLocks/>
              </p:cNvGrpSpPr>
              <p:nvPr/>
            </p:nvGrpSpPr>
            <p:grpSpPr bwMode="auto">
              <a:xfrm>
                <a:off x="86" y="25"/>
                <a:ext cx="177" cy="66"/>
                <a:chOff x="0" y="0"/>
                <a:chExt cx="140" cy="98"/>
              </a:xfrm>
            </p:grpSpPr>
            <p:sp>
              <p:nvSpPr>
                <p:cNvPr id="30902" name="Line 185"/>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03" name="Line 186"/>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04" name="Line 187"/>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0905" name="Group 188"/>
              <p:cNvGrpSpPr>
                <a:grpSpLocks/>
              </p:cNvGrpSpPr>
              <p:nvPr/>
            </p:nvGrpSpPr>
            <p:grpSpPr bwMode="auto">
              <a:xfrm flipV="1">
                <a:off x="86" y="24"/>
                <a:ext cx="177" cy="66"/>
                <a:chOff x="0" y="0"/>
                <a:chExt cx="140" cy="98"/>
              </a:xfrm>
            </p:grpSpPr>
            <p:sp>
              <p:nvSpPr>
                <p:cNvPr id="30906" name="Line 189"/>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07" name="Line 190"/>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08" name="Line 191"/>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grpSp>
        <p:nvGrpSpPr>
          <p:cNvPr id="30909" name="Group 192"/>
          <p:cNvGrpSpPr>
            <a:grpSpLocks/>
          </p:cNvGrpSpPr>
          <p:nvPr/>
        </p:nvGrpSpPr>
        <p:grpSpPr bwMode="auto">
          <a:xfrm>
            <a:off x="7421563" y="2471738"/>
            <a:ext cx="671512" cy="387350"/>
            <a:chOff x="0" y="0"/>
            <a:chExt cx="423" cy="244"/>
          </a:xfrm>
        </p:grpSpPr>
        <p:sp>
          <p:nvSpPr>
            <p:cNvPr id="30910" name="未知"/>
            <p:cNvSpPr>
              <a:spLocks noChangeArrowheads="1"/>
            </p:cNvSpPr>
            <p:nvPr/>
          </p:nvSpPr>
          <p:spPr bwMode="auto">
            <a:xfrm>
              <a:off x="0" y="0"/>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30911" name="Group 194"/>
            <p:cNvGrpSpPr>
              <a:grpSpLocks/>
            </p:cNvGrpSpPr>
            <p:nvPr/>
          </p:nvGrpSpPr>
          <p:grpSpPr bwMode="auto">
            <a:xfrm>
              <a:off x="47" y="55"/>
              <a:ext cx="316" cy="147"/>
              <a:chOff x="0" y="0"/>
              <a:chExt cx="360" cy="175"/>
            </a:xfrm>
          </p:grpSpPr>
          <p:sp>
            <p:nvSpPr>
              <p:cNvPr id="30912" name="Oval 195"/>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0913" name="Line 196"/>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14" name="Line 197"/>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15" name="Rectangle 198"/>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30916" name="Oval 199"/>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0917" name="Group 200"/>
              <p:cNvGrpSpPr>
                <a:grpSpLocks/>
              </p:cNvGrpSpPr>
              <p:nvPr/>
            </p:nvGrpSpPr>
            <p:grpSpPr bwMode="auto">
              <a:xfrm>
                <a:off x="86" y="25"/>
                <a:ext cx="177" cy="66"/>
                <a:chOff x="0" y="0"/>
                <a:chExt cx="140" cy="98"/>
              </a:xfrm>
            </p:grpSpPr>
            <p:sp>
              <p:nvSpPr>
                <p:cNvPr id="30918" name="Line 201"/>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19" name="Line 202"/>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20" name="Line 203"/>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0921" name="Group 204"/>
              <p:cNvGrpSpPr>
                <a:grpSpLocks/>
              </p:cNvGrpSpPr>
              <p:nvPr/>
            </p:nvGrpSpPr>
            <p:grpSpPr bwMode="auto">
              <a:xfrm flipV="1">
                <a:off x="86" y="24"/>
                <a:ext cx="177" cy="66"/>
                <a:chOff x="0" y="0"/>
                <a:chExt cx="140" cy="98"/>
              </a:xfrm>
            </p:grpSpPr>
            <p:sp>
              <p:nvSpPr>
                <p:cNvPr id="30922" name="Line 205"/>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23" name="Line 206"/>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24" name="Line 207"/>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grpSp>
        <p:nvGrpSpPr>
          <p:cNvPr id="30925" name="Group 208"/>
          <p:cNvGrpSpPr>
            <a:grpSpLocks/>
          </p:cNvGrpSpPr>
          <p:nvPr/>
        </p:nvGrpSpPr>
        <p:grpSpPr bwMode="auto">
          <a:xfrm>
            <a:off x="7402513" y="4129088"/>
            <a:ext cx="671512" cy="387350"/>
            <a:chOff x="0" y="0"/>
            <a:chExt cx="423" cy="244"/>
          </a:xfrm>
        </p:grpSpPr>
        <p:sp>
          <p:nvSpPr>
            <p:cNvPr id="30926" name="未知"/>
            <p:cNvSpPr>
              <a:spLocks noChangeArrowheads="1"/>
            </p:cNvSpPr>
            <p:nvPr/>
          </p:nvSpPr>
          <p:spPr bwMode="auto">
            <a:xfrm>
              <a:off x="0" y="0"/>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30927" name="Group 210"/>
            <p:cNvGrpSpPr>
              <a:grpSpLocks/>
            </p:cNvGrpSpPr>
            <p:nvPr/>
          </p:nvGrpSpPr>
          <p:grpSpPr bwMode="auto">
            <a:xfrm>
              <a:off x="47" y="55"/>
              <a:ext cx="316" cy="147"/>
              <a:chOff x="0" y="0"/>
              <a:chExt cx="360" cy="175"/>
            </a:xfrm>
          </p:grpSpPr>
          <p:sp>
            <p:nvSpPr>
              <p:cNvPr id="30928" name="Oval 211"/>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0929" name="Line 212"/>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30" name="Line 213"/>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31" name="Rectangle 214"/>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30932" name="Oval 215"/>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0933" name="Group 216"/>
              <p:cNvGrpSpPr>
                <a:grpSpLocks/>
              </p:cNvGrpSpPr>
              <p:nvPr/>
            </p:nvGrpSpPr>
            <p:grpSpPr bwMode="auto">
              <a:xfrm>
                <a:off x="86" y="25"/>
                <a:ext cx="177" cy="66"/>
                <a:chOff x="0" y="0"/>
                <a:chExt cx="140" cy="98"/>
              </a:xfrm>
            </p:grpSpPr>
            <p:sp>
              <p:nvSpPr>
                <p:cNvPr id="30934" name="Line 217"/>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35" name="Line 218"/>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36" name="Line 219"/>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0937" name="Group 220"/>
              <p:cNvGrpSpPr>
                <a:grpSpLocks/>
              </p:cNvGrpSpPr>
              <p:nvPr/>
            </p:nvGrpSpPr>
            <p:grpSpPr bwMode="auto">
              <a:xfrm flipV="1">
                <a:off x="86" y="24"/>
                <a:ext cx="177" cy="66"/>
                <a:chOff x="0" y="0"/>
                <a:chExt cx="140" cy="98"/>
              </a:xfrm>
            </p:grpSpPr>
            <p:sp>
              <p:nvSpPr>
                <p:cNvPr id="30938" name="Line 221"/>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39" name="Line 222"/>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40" name="Line 223"/>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grpSp>
        <p:nvGrpSpPr>
          <p:cNvPr id="30941" name="Group 224"/>
          <p:cNvGrpSpPr>
            <a:grpSpLocks/>
          </p:cNvGrpSpPr>
          <p:nvPr/>
        </p:nvGrpSpPr>
        <p:grpSpPr bwMode="auto">
          <a:xfrm>
            <a:off x="8212138" y="4471988"/>
            <a:ext cx="671512" cy="387350"/>
            <a:chOff x="0" y="0"/>
            <a:chExt cx="423" cy="244"/>
          </a:xfrm>
        </p:grpSpPr>
        <p:sp>
          <p:nvSpPr>
            <p:cNvPr id="30942" name="未知"/>
            <p:cNvSpPr>
              <a:spLocks noChangeArrowheads="1"/>
            </p:cNvSpPr>
            <p:nvPr/>
          </p:nvSpPr>
          <p:spPr bwMode="auto">
            <a:xfrm>
              <a:off x="0" y="0"/>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pSp>
          <p:nvGrpSpPr>
            <p:cNvPr id="30943" name="Group 226"/>
            <p:cNvGrpSpPr>
              <a:grpSpLocks/>
            </p:cNvGrpSpPr>
            <p:nvPr/>
          </p:nvGrpSpPr>
          <p:grpSpPr bwMode="auto">
            <a:xfrm>
              <a:off x="47" y="55"/>
              <a:ext cx="316" cy="147"/>
              <a:chOff x="0" y="0"/>
              <a:chExt cx="360" cy="175"/>
            </a:xfrm>
          </p:grpSpPr>
          <p:sp>
            <p:nvSpPr>
              <p:cNvPr id="30944" name="Oval 227"/>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0945" name="Line 228"/>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46" name="Line 229"/>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47" name="Rectangle 230"/>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30948" name="Oval 231"/>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0949" name="Group 232"/>
              <p:cNvGrpSpPr>
                <a:grpSpLocks/>
              </p:cNvGrpSpPr>
              <p:nvPr/>
            </p:nvGrpSpPr>
            <p:grpSpPr bwMode="auto">
              <a:xfrm>
                <a:off x="86" y="25"/>
                <a:ext cx="177" cy="66"/>
                <a:chOff x="0" y="0"/>
                <a:chExt cx="140" cy="98"/>
              </a:xfrm>
            </p:grpSpPr>
            <p:sp>
              <p:nvSpPr>
                <p:cNvPr id="30950" name="Line 233"/>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51" name="Line 234"/>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52" name="Line 235"/>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0953" name="Group 236"/>
              <p:cNvGrpSpPr>
                <a:grpSpLocks/>
              </p:cNvGrpSpPr>
              <p:nvPr/>
            </p:nvGrpSpPr>
            <p:grpSpPr bwMode="auto">
              <a:xfrm flipV="1">
                <a:off x="86" y="24"/>
                <a:ext cx="177" cy="66"/>
                <a:chOff x="0" y="0"/>
                <a:chExt cx="140" cy="98"/>
              </a:xfrm>
            </p:grpSpPr>
            <p:sp>
              <p:nvSpPr>
                <p:cNvPr id="30954" name="Line 237"/>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55" name="Line 238"/>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0956" name="Line 239"/>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sp>
        <p:nvSpPr>
          <p:cNvPr id="30957" name="Line 240"/>
          <p:cNvSpPr>
            <a:spLocks noChangeShapeType="1"/>
          </p:cNvSpPr>
          <p:nvPr/>
        </p:nvSpPr>
        <p:spPr bwMode="auto">
          <a:xfrm flipV="1">
            <a:off x="7734300" y="4459288"/>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83" name="Rectangle 240"/>
          <p:cNvSpPr>
            <a:spLocks noGrp="1" noChangeArrowheads="1"/>
          </p:cNvSpPr>
          <p:nvPr>
            <p:ph type="title"/>
          </p:nvPr>
        </p:nvSpPr>
        <p:spPr>
          <a:xfrm>
            <a:off x="3471864" y="171450"/>
            <a:ext cx="5246687" cy="719138"/>
          </a:xfrm>
        </p:spPr>
        <p:txBody>
          <a:bodyPr/>
          <a:lstStyle/>
          <a:p>
            <a:pPr algn="ctr" eaLnBrk="1" hangingPunct="1"/>
            <a:r>
              <a:rPr lang="zh-CN" altLang="zh-CN" sz="4400">
                <a:ea typeface="华文楷体" panose="02010600040101010101" pitchFamily="2" charset="-122"/>
              </a:rPr>
              <a:t>Access Networks</a:t>
            </a:r>
          </a:p>
        </p:txBody>
      </p:sp>
      <p:sp>
        <p:nvSpPr>
          <p:cNvPr id="31745" name="Rectangle 2"/>
          <p:cNvSpPr>
            <a:spLocks noGrp="1" noChangeArrowheads="1"/>
          </p:cNvSpPr>
          <p:nvPr>
            <p:ph sz="half" idx="1"/>
          </p:nvPr>
        </p:nvSpPr>
        <p:spPr>
          <a:xfrm>
            <a:off x="469106" y="1603595"/>
            <a:ext cx="6211095" cy="3794125"/>
          </a:xfrm>
          <a:solidFill>
            <a:srgbClr val="DDDDDD"/>
          </a:solidFill>
          <a:ln>
            <a:solidFill>
              <a:srgbClr val="CCFFFF"/>
            </a:solidFill>
            <a:miter lim="800000"/>
            <a:headEnd/>
            <a:tailEnd/>
          </a:ln>
          <a:effectLst>
            <a:outerShdw dist="107763" dir="2700000" algn="ctr" rotWithShape="0">
              <a:schemeClr val="bg2"/>
            </a:outerShdw>
          </a:effectLst>
        </p:spPr>
        <p:txBody>
          <a:bodyPr>
            <a:normAutofit/>
          </a:bodyPr>
          <a:lstStyle/>
          <a:p>
            <a:pPr eaLnBrk="1" hangingPunct="1">
              <a:buFont typeface="Arial" panose="020B0604020202020204" pitchFamily="34" charset="0"/>
              <a:buNone/>
            </a:pPr>
            <a:r>
              <a:rPr lang="zh-CN" altLang="en-US">
                <a:solidFill>
                  <a:schemeClr val="accent1"/>
                </a:solidFill>
                <a:ea typeface="华文楷体" panose="02010600040101010101" pitchFamily="2" charset="-122"/>
              </a:rPr>
              <a:t>Q： 如何连接端系统到边界路由器?</a:t>
            </a:r>
          </a:p>
          <a:p>
            <a:pPr eaLnBrk="1" hangingPunct="1"/>
            <a:r>
              <a:rPr lang="zh-CN" altLang="en-US" sz="2400">
                <a:solidFill>
                  <a:schemeClr val="accent1"/>
                </a:solidFill>
                <a:ea typeface="华文楷体" panose="02010600040101010101" pitchFamily="2" charset="-122"/>
              </a:rPr>
              <a:t>住宅小区接入网</a:t>
            </a:r>
          </a:p>
          <a:p>
            <a:pPr eaLnBrk="1" hangingPunct="1"/>
            <a:r>
              <a:rPr lang="zh-CN" altLang="en-US" sz="2400">
                <a:solidFill>
                  <a:schemeClr val="accent1"/>
                </a:solidFill>
                <a:ea typeface="华文楷体" panose="02010600040101010101" pitchFamily="2" charset="-122"/>
              </a:rPr>
              <a:t>单位 （学校、公司）接入网</a:t>
            </a:r>
          </a:p>
          <a:p>
            <a:pPr eaLnBrk="1" hangingPunct="1"/>
            <a:r>
              <a:rPr lang="zh-CN" altLang="en-US" sz="2400">
                <a:solidFill>
                  <a:schemeClr val="accent1"/>
                </a:solidFill>
                <a:ea typeface="华文楷体" panose="02010600040101010101" pitchFamily="2" charset="-122"/>
              </a:rPr>
              <a:t>移动接入网</a:t>
            </a:r>
          </a:p>
          <a:p>
            <a:pPr eaLnBrk="1" hangingPunct="1">
              <a:buFont typeface="Arial" panose="020B0604020202020204" pitchFamily="34" charset="0"/>
              <a:buNone/>
            </a:pPr>
            <a:r>
              <a:rPr lang="zh-CN" altLang="en-US">
                <a:solidFill>
                  <a:schemeClr val="accent2"/>
                </a:solidFill>
                <a:ea typeface="华文楷体" panose="02010600040101010101" pitchFamily="2" charset="-122"/>
              </a:rPr>
              <a:t>主要关注：</a:t>
            </a:r>
            <a:r>
              <a:rPr lang="zh-CN" altLang="en-US">
                <a:solidFill>
                  <a:schemeClr val="accent1"/>
                </a:solidFill>
                <a:ea typeface="华文楷体" panose="02010600040101010101" pitchFamily="2" charset="-122"/>
              </a:rPr>
              <a:t> </a:t>
            </a:r>
          </a:p>
          <a:p>
            <a:pPr eaLnBrk="1" hangingPunct="1"/>
            <a:r>
              <a:rPr lang="zh-CN" altLang="en-US" sz="2400">
                <a:solidFill>
                  <a:schemeClr val="accent1"/>
                </a:solidFill>
                <a:ea typeface="华文楷体" panose="02010600040101010101" pitchFamily="2" charset="-122"/>
              </a:rPr>
              <a:t>接入网的带宽</a:t>
            </a:r>
            <a:r>
              <a:rPr lang="zh-CN" altLang="en-US" sz="2000">
                <a:solidFill>
                  <a:schemeClr val="accent1"/>
                </a:solidFill>
                <a:ea typeface="华文楷体" panose="02010600040101010101" pitchFamily="2" charset="-122"/>
              </a:rPr>
              <a:t>（宽/窄）</a:t>
            </a:r>
            <a:endParaRPr lang="zh-CN" altLang="en-US" sz="2400">
              <a:solidFill>
                <a:schemeClr val="accent1"/>
              </a:solidFill>
              <a:ea typeface="华文楷体" panose="02010600040101010101" pitchFamily="2" charset="-122"/>
            </a:endParaRPr>
          </a:p>
          <a:p>
            <a:pPr eaLnBrk="1" hangingPunct="1"/>
            <a:r>
              <a:rPr lang="zh-CN" altLang="en-US" sz="2400">
                <a:solidFill>
                  <a:schemeClr val="accent1"/>
                </a:solidFill>
                <a:ea typeface="华文楷体" panose="02010600040101010101" pitchFamily="2" charset="-122"/>
              </a:rPr>
              <a:t>共享或专用</a:t>
            </a:r>
          </a:p>
          <a:p>
            <a:pPr eaLnBrk="1" hangingPunct="1"/>
            <a:r>
              <a:rPr lang="zh-CN" altLang="en-US" sz="2400">
                <a:solidFill>
                  <a:schemeClr val="accent2"/>
                </a:solidFill>
                <a:ea typeface="华文楷体" panose="02010600040101010101" pitchFamily="2" charset="-122"/>
              </a:rPr>
              <a:t>上传带宽，目前非常重要</a:t>
            </a:r>
          </a:p>
        </p:txBody>
      </p:sp>
      <p:sp>
        <p:nvSpPr>
          <p:cNvPr id="31746" name="未知"/>
          <p:cNvSpPr>
            <a:spLocks noChangeArrowheads="1"/>
          </p:cNvSpPr>
          <p:nvPr/>
        </p:nvSpPr>
        <p:spPr bwMode="auto">
          <a:xfrm>
            <a:off x="9398000" y="1927226"/>
            <a:ext cx="1989138" cy="2009775"/>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sp>
        <p:nvSpPr>
          <p:cNvPr id="31747" name="未知"/>
          <p:cNvSpPr>
            <a:spLocks noChangeArrowheads="1"/>
          </p:cNvSpPr>
          <p:nvPr/>
        </p:nvSpPr>
        <p:spPr bwMode="auto">
          <a:xfrm>
            <a:off x="7318375" y="1755775"/>
            <a:ext cx="2065338" cy="1906588"/>
          </a:xfrm>
          <a:custGeom>
            <a:avLst/>
            <a:gdLst>
              <a:gd name="T0" fmla="*/ 550 w 1340"/>
              <a:gd name="T1" fmla="*/ 42 h 1191"/>
              <a:gd name="T2" fmla="*/ 82 w 1340"/>
              <a:gd name="T3" fmla="*/ 60 h 1191"/>
              <a:gd name="T4" fmla="*/ 58 w 1340"/>
              <a:gd name="T5" fmla="*/ 402 h 1191"/>
              <a:gd name="T6" fmla="*/ 28 w 1340"/>
              <a:gd name="T7" fmla="*/ 720 h 1191"/>
              <a:gd name="T8" fmla="*/ 112 w 1340"/>
              <a:gd name="T9" fmla="*/ 870 h 1191"/>
              <a:gd name="T10" fmla="*/ 538 w 1340"/>
              <a:gd name="T11" fmla="*/ 876 h 1191"/>
              <a:gd name="T12" fmla="*/ 640 w 1340"/>
              <a:gd name="T13" fmla="*/ 1128 h 1191"/>
              <a:gd name="T14" fmla="*/ 1234 w 1340"/>
              <a:gd name="T15" fmla="*/ 1098 h 1191"/>
              <a:gd name="T16" fmla="*/ 1276 w 1340"/>
              <a:gd name="T17" fmla="*/ 570 h 1191"/>
              <a:gd name="T18" fmla="*/ 1204 w 1340"/>
              <a:gd name="T19" fmla="*/ 342 h 1191"/>
              <a:gd name="T20" fmla="*/ 760 w 1340"/>
              <a:gd name="T21" fmla="*/ 288 h 1191"/>
              <a:gd name="T22" fmla="*/ 550 w 1340"/>
              <a:gd name="T23" fmla="*/ 42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sp>
        <p:nvSpPr>
          <p:cNvPr id="31748" name="未知"/>
          <p:cNvSpPr>
            <a:spLocks noChangeArrowheads="1"/>
          </p:cNvSpPr>
          <p:nvPr/>
        </p:nvSpPr>
        <p:spPr bwMode="auto">
          <a:xfrm>
            <a:off x="7715250" y="3484564"/>
            <a:ext cx="3290888" cy="2662237"/>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ndParaRPr>
          </a:p>
        </p:txBody>
      </p:sp>
      <p:graphicFrame>
        <p:nvGraphicFramePr>
          <p:cNvPr id="31749" name="Object 6"/>
          <p:cNvGraphicFramePr>
            <a:graphicFrameLocks noChangeAspect="1"/>
          </p:cNvGraphicFramePr>
          <p:nvPr>
            <p:extLst>
              <p:ext uri="{D42A27DB-BD31-4B8C-83A1-F6EECF244321}">
                <p14:modId xmlns:p14="http://schemas.microsoft.com/office/powerpoint/2010/main" val="1194890457"/>
              </p:ext>
            </p:extLst>
          </p:nvPr>
        </p:nvGraphicFramePr>
        <p:xfrm>
          <a:off x="7448551" y="1917700"/>
          <a:ext cx="460375" cy="382588"/>
        </p:xfrm>
        <a:graphic>
          <a:graphicData uri="http://schemas.openxmlformats.org/presentationml/2006/ole">
            <mc:AlternateContent xmlns:mc="http://schemas.openxmlformats.org/markup-compatibility/2006">
              <mc:Choice xmlns:v="urn:schemas-microsoft-com:vml" Requires="v">
                <p:oleObj spid="_x0000_s76338" r:id="rId3" imgW="1305626" imgH="1082835" progId="MS_ClipArt_Gallery.2">
                  <p:embed/>
                </p:oleObj>
              </mc:Choice>
              <mc:Fallback>
                <p:oleObj r:id="rId3" imgW="1305626" imgH="1082835" progId="MS_ClipArt_Gallery.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8551" y="1917700"/>
                        <a:ext cx="460375"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750" name="Object 7"/>
          <p:cNvGraphicFramePr>
            <a:graphicFrameLocks noChangeAspect="1"/>
          </p:cNvGraphicFramePr>
          <p:nvPr>
            <p:extLst>
              <p:ext uri="{D42A27DB-BD31-4B8C-83A1-F6EECF244321}">
                <p14:modId xmlns:p14="http://schemas.microsoft.com/office/powerpoint/2010/main" val="3808005606"/>
              </p:ext>
            </p:extLst>
          </p:nvPr>
        </p:nvGraphicFramePr>
        <p:xfrm>
          <a:off x="7950201" y="2058988"/>
          <a:ext cx="309563" cy="222250"/>
        </p:xfrm>
        <a:graphic>
          <a:graphicData uri="http://schemas.openxmlformats.org/presentationml/2006/ole">
            <mc:AlternateContent xmlns:mc="http://schemas.openxmlformats.org/markup-compatibility/2006">
              <mc:Choice xmlns:v="urn:schemas-microsoft-com:vml" Requires="v">
                <p:oleObj spid="_x0000_s76339" r:id="rId5" imgW="682023" imgH="480718" progId="MS_ClipArt_Gallery.2">
                  <p:embed/>
                </p:oleObj>
              </mc:Choice>
              <mc:Fallback>
                <p:oleObj r:id="rId5" imgW="682023" imgH="480718" progId="MS_ClipArt_Gallery.2">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0201" y="2058988"/>
                        <a:ext cx="30956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51" name="Line 8"/>
          <p:cNvSpPr>
            <a:spLocks noChangeShapeType="1"/>
          </p:cNvSpPr>
          <p:nvPr/>
        </p:nvSpPr>
        <p:spPr bwMode="auto">
          <a:xfrm flipV="1">
            <a:off x="7897813" y="2208214"/>
            <a:ext cx="1270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31752" name="Object 9"/>
          <p:cNvGraphicFramePr>
            <a:graphicFrameLocks noChangeAspect="1"/>
          </p:cNvGraphicFramePr>
          <p:nvPr>
            <p:extLst>
              <p:ext uri="{D42A27DB-BD31-4B8C-83A1-F6EECF244321}">
                <p14:modId xmlns:p14="http://schemas.microsoft.com/office/powerpoint/2010/main" val="3917275297"/>
              </p:ext>
            </p:extLst>
          </p:nvPr>
        </p:nvGraphicFramePr>
        <p:xfrm>
          <a:off x="7448551" y="2632075"/>
          <a:ext cx="460375" cy="382588"/>
        </p:xfrm>
        <a:graphic>
          <a:graphicData uri="http://schemas.openxmlformats.org/presentationml/2006/ole">
            <mc:AlternateContent xmlns:mc="http://schemas.openxmlformats.org/markup-compatibility/2006">
              <mc:Choice xmlns:v="urn:schemas-microsoft-com:vml" Requires="v">
                <p:oleObj spid="_x0000_s76340" r:id="rId7" imgW="1305626" imgH="1082835" progId="MS_ClipArt_Gallery.2">
                  <p:embed/>
                </p:oleObj>
              </mc:Choice>
              <mc:Fallback>
                <p:oleObj r:id="rId7" imgW="1305626" imgH="1082835" progId="MS_ClipArt_Gallery.2">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8551" y="2632075"/>
                        <a:ext cx="460375"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753" name="Object 10"/>
          <p:cNvGraphicFramePr>
            <a:graphicFrameLocks noChangeAspect="1"/>
          </p:cNvGraphicFramePr>
          <p:nvPr>
            <p:extLst>
              <p:ext uri="{D42A27DB-BD31-4B8C-83A1-F6EECF244321}">
                <p14:modId xmlns:p14="http://schemas.microsoft.com/office/powerpoint/2010/main" val="4294361666"/>
              </p:ext>
            </p:extLst>
          </p:nvPr>
        </p:nvGraphicFramePr>
        <p:xfrm>
          <a:off x="7950201" y="2773363"/>
          <a:ext cx="309563" cy="222250"/>
        </p:xfrm>
        <a:graphic>
          <a:graphicData uri="http://schemas.openxmlformats.org/presentationml/2006/ole">
            <mc:AlternateContent xmlns:mc="http://schemas.openxmlformats.org/markup-compatibility/2006">
              <mc:Choice xmlns:v="urn:schemas-microsoft-com:vml" Requires="v">
                <p:oleObj spid="_x0000_s76341" r:id="rId8" imgW="682023" imgH="480718" progId="MS_ClipArt_Gallery.2">
                  <p:embed/>
                </p:oleObj>
              </mc:Choice>
              <mc:Fallback>
                <p:oleObj r:id="rId8" imgW="682023" imgH="480718" progId="MS_ClipArt_Gallery.2">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0201" y="2773363"/>
                        <a:ext cx="30956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54" name="Line 11"/>
          <p:cNvSpPr>
            <a:spLocks noChangeShapeType="1"/>
          </p:cNvSpPr>
          <p:nvPr/>
        </p:nvSpPr>
        <p:spPr bwMode="auto">
          <a:xfrm flipV="1">
            <a:off x="7897813" y="2922589"/>
            <a:ext cx="1270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1755" name="Group 12"/>
          <p:cNvGrpSpPr>
            <a:grpSpLocks/>
          </p:cNvGrpSpPr>
          <p:nvPr/>
        </p:nvGrpSpPr>
        <p:grpSpPr bwMode="auto">
          <a:xfrm>
            <a:off x="7864475" y="2376489"/>
            <a:ext cx="77788" cy="257175"/>
            <a:chOff x="0" y="0"/>
            <a:chExt cx="51" cy="167"/>
          </a:xfrm>
        </p:grpSpPr>
        <p:sp>
          <p:nvSpPr>
            <p:cNvPr id="31756" name="Oval 13"/>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757" name="Oval 14"/>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758" name="Oval 15"/>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31759" name="Group 16"/>
          <p:cNvGrpSpPr>
            <a:grpSpLocks/>
          </p:cNvGrpSpPr>
          <p:nvPr/>
        </p:nvGrpSpPr>
        <p:grpSpPr bwMode="auto">
          <a:xfrm>
            <a:off x="8383589" y="2979738"/>
            <a:ext cx="231775" cy="474662"/>
            <a:chOff x="0" y="0"/>
            <a:chExt cx="150" cy="307"/>
          </a:xfrm>
        </p:grpSpPr>
        <p:sp>
          <p:nvSpPr>
            <p:cNvPr id="31760" name="AutoShape 17"/>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761" name="Rectangle 18"/>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762" name="Rectangle 19"/>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763" name="AutoShape 20"/>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764" name="Line 21"/>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765" name="Line 22"/>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766" name="Rectangle 23"/>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767" name="Rectangle 24"/>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31768" name="Group 25"/>
          <p:cNvGrpSpPr>
            <a:grpSpLocks/>
          </p:cNvGrpSpPr>
          <p:nvPr/>
        </p:nvGrpSpPr>
        <p:grpSpPr bwMode="auto">
          <a:xfrm rot="16200000">
            <a:off x="8726488" y="3084513"/>
            <a:ext cx="96838" cy="258763"/>
            <a:chOff x="0" y="0"/>
            <a:chExt cx="51" cy="167"/>
          </a:xfrm>
        </p:grpSpPr>
        <p:sp>
          <p:nvSpPr>
            <p:cNvPr id="31769" name="Oval 26"/>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770" name="Oval 27"/>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771" name="Oval 28"/>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31772" name="Line 29"/>
          <p:cNvSpPr>
            <a:spLocks noChangeShapeType="1"/>
          </p:cNvSpPr>
          <p:nvPr/>
        </p:nvSpPr>
        <p:spPr bwMode="auto">
          <a:xfrm>
            <a:off x="8535989" y="2870200"/>
            <a:ext cx="547687"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773" name="Line 30"/>
          <p:cNvSpPr>
            <a:spLocks noChangeShapeType="1"/>
          </p:cNvSpPr>
          <p:nvPr/>
        </p:nvSpPr>
        <p:spPr bwMode="auto">
          <a:xfrm>
            <a:off x="8539164" y="2865438"/>
            <a:ext cx="1587" cy="1143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774" name="Line 31"/>
          <p:cNvSpPr>
            <a:spLocks noChangeShapeType="1"/>
          </p:cNvSpPr>
          <p:nvPr/>
        </p:nvSpPr>
        <p:spPr bwMode="auto">
          <a:xfrm>
            <a:off x="9086850" y="2863851"/>
            <a:ext cx="1588" cy="10001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775" name="Line 32"/>
          <p:cNvSpPr>
            <a:spLocks noChangeShapeType="1"/>
          </p:cNvSpPr>
          <p:nvPr/>
        </p:nvSpPr>
        <p:spPr bwMode="auto">
          <a:xfrm>
            <a:off x="8204200" y="2222500"/>
            <a:ext cx="319088" cy="3175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776" name="Line 33"/>
          <p:cNvSpPr>
            <a:spLocks noChangeShapeType="1"/>
          </p:cNvSpPr>
          <p:nvPr/>
        </p:nvSpPr>
        <p:spPr bwMode="auto">
          <a:xfrm flipV="1">
            <a:off x="8216900" y="2565400"/>
            <a:ext cx="306388" cy="3952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777" name="Line 34"/>
          <p:cNvSpPr>
            <a:spLocks noChangeShapeType="1"/>
          </p:cNvSpPr>
          <p:nvPr/>
        </p:nvSpPr>
        <p:spPr bwMode="auto">
          <a:xfrm flipV="1">
            <a:off x="8801100" y="2668588"/>
            <a:ext cx="1588" cy="1952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1778" name="Group 35"/>
          <p:cNvGrpSpPr>
            <a:grpSpLocks/>
          </p:cNvGrpSpPr>
          <p:nvPr/>
        </p:nvGrpSpPr>
        <p:grpSpPr bwMode="auto">
          <a:xfrm>
            <a:off x="8932864" y="2954339"/>
            <a:ext cx="231775" cy="473075"/>
            <a:chOff x="0" y="0"/>
            <a:chExt cx="150" cy="307"/>
          </a:xfrm>
        </p:grpSpPr>
        <p:sp>
          <p:nvSpPr>
            <p:cNvPr id="31779" name="AutoShape 36"/>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780" name="Rectangle 37"/>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781" name="Rectangle 38"/>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782" name="AutoShape 39"/>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783" name="Line 40"/>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784" name="Line 41"/>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785" name="Rectangle 42"/>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786" name="Rectangle 43"/>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aphicFrame>
        <p:nvGraphicFramePr>
          <p:cNvPr id="31787" name="Object 44"/>
          <p:cNvGraphicFramePr>
            <a:graphicFrameLocks noChangeAspect="1"/>
          </p:cNvGraphicFramePr>
          <p:nvPr>
            <p:extLst>
              <p:ext uri="{D42A27DB-BD31-4B8C-83A1-F6EECF244321}">
                <p14:modId xmlns:p14="http://schemas.microsoft.com/office/powerpoint/2010/main" val="3257557827"/>
              </p:ext>
            </p:extLst>
          </p:nvPr>
        </p:nvGraphicFramePr>
        <p:xfrm>
          <a:off x="7874001" y="3697289"/>
          <a:ext cx="460375" cy="396875"/>
        </p:xfrm>
        <a:graphic>
          <a:graphicData uri="http://schemas.openxmlformats.org/presentationml/2006/ole">
            <mc:AlternateContent xmlns:mc="http://schemas.openxmlformats.org/markup-compatibility/2006">
              <mc:Choice xmlns:v="urn:schemas-microsoft-com:vml" Requires="v">
                <p:oleObj spid="_x0000_s76342" r:id="rId9" imgW="1305626" imgH="1082835" progId="MS_ClipArt_Gallery.2">
                  <p:embed/>
                </p:oleObj>
              </mc:Choice>
              <mc:Fallback>
                <p:oleObj r:id="rId9" imgW="1305626" imgH="1082835" progId="MS_ClipArt_Gallery.2">
                  <p:embed/>
                  <p:pic>
                    <p:nvPicPr>
                      <p:cNvPr id="0"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4001" y="3697289"/>
                        <a:ext cx="460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88" name="Line 45"/>
          <p:cNvSpPr>
            <a:spLocks noChangeShapeType="1"/>
          </p:cNvSpPr>
          <p:nvPr/>
        </p:nvSpPr>
        <p:spPr bwMode="auto">
          <a:xfrm flipV="1">
            <a:off x="8324851" y="3992564"/>
            <a:ext cx="79375" cy="793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31789" name="Object 46"/>
          <p:cNvGraphicFramePr>
            <a:graphicFrameLocks noChangeAspect="1"/>
          </p:cNvGraphicFramePr>
          <p:nvPr>
            <p:extLst>
              <p:ext uri="{D42A27DB-BD31-4B8C-83A1-F6EECF244321}">
                <p14:modId xmlns:p14="http://schemas.microsoft.com/office/powerpoint/2010/main" val="3489654653"/>
              </p:ext>
            </p:extLst>
          </p:nvPr>
        </p:nvGraphicFramePr>
        <p:xfrm>
          <a:off x="7874001" y="4410076"/>
          <a:ext cx="460375" cy="396875"/>
        </p:xfrm>
        <a:graphic>
          <a:graphicData uri="http://schemas.openxmlformats.org/presentationml/2006/ole">
            <mc:AlternateContent xmlns:mc="http://schemas.openxmlformats.org/markup-compatibility/2006">
              <mc:Choice xmlns:v="urn:schemas-microsoft-com:vml" Requires="v">
                <p:oleObj spid="_x0000_s76343" r:id="rId10" imgW="1305626" imgH="1082835" progId="MS_ClipArt_Gallery.2">
                  <p:embed/>
                </p:oleObj>
              </mc:Choice>
              <mc:Fallback>
                <p:oleObj r:id="rId10" imgW="1305626" imgH="1082835" progId="MS_ClipArt_Gallery.2">
                  <p:embed/>
                  <p:pic>
                    <p:nvPicPr>
                      <p:cNvPr id="0" name="Object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4001" y="4410076"/>
                        <a:ext cx="460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90" name="Line 47"/>
          <p:cNvSpPr>
            <a:spLocks noChangeShapeType="1"/>
          </p:cNvSpPr>
          <p:nvPr/>
        </p:nvSpPr>
        <p:spPr bwMode="auto">
          <a:xfrm flipV="1">
            <a:off x="8324851" y="4711701"/>
            <a:ext cx="79375"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1791" name="Group 48"/>
          <p:cNvGrpSpPr>
            <a:grpSpLocks/>
          </p:cNvGrpSpPr>
          <p:nvPr/>
        </p:nvGrpSpPr>
        <p:grpSpPr bwMode="auto">
          <a:xfrm>
            <a:off x="8012114" y="4106863"/>
            <a:ext cx="79375" cy="266700"/>
            <a:chOff x="0" y="0"/>
            <a:chExt cx="51" cy="167"/>
          </a:xfrm>
        </p:grpSpPr>
        <p:sp>
          <p:nvSpPr>
            <p:cNvPr id="31792" name="Oval 49"/>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793" name="Oval 50"/>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794" name="Oval 51"/>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31795" name="Line 52"/>
          <p:cNvSpPr>
            <a:spLocks noChangeShapeType="1"/>
          </p:cNvSpPr>
          <p:nvPr/>
        </p:nvSpPr>
        <p:spPr bwMode="auto">
          <a:xfrm>
            <a:off x="8397875" y="3989389"/>
            <a:ext cx="0" cy="720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31796" name="Object 53"/>
          <p:cNvGraphicFramePr>
            <a:graphicFrameLocks noChangeAspect="1"/>
          </p:cNvGraphicFramePr>
          <p:nvPr>
            <p:extLst>
              <p:ext uri="{D42A27DB-BD31-4B8C-83A1-F6EECF244321}">
                <p14:modId xmlns:p14="http://schemas.microsoft.com/office/powerpoint/2010/main" val="2152818543"/>
              </p:ext>
            </p:extLst>
          </p:nvPr>
        </p:nvGraphicFramePr>
        <p:xfrm>
          <a:off x="8834438" y="4908551"/>
          <a:ext cx="461962" cy="396875"/>
        </p:xfrm>
        <a:graphic>
          <a:graphicData uri="http://schemas.openxmlformats.org/presentationml/2006/ole">
            <mc:AlternateContent xmlns:mc="http://schemas.openxmlformats.org/markup-compatibility/2006">
              <mc:Choice xmlns:v="urn:schemas-microsoft-com:vml" Requires="v">
                <p:oleObj spid="_x0000_s76344" r:id="rId11" imgW="1305626" imgH="1082835" progId="MS_ClipArt_Gallery.2">
                  <p:embed/>
                </p:oleObj>
              </mc:Choice>
              <mc:Fallback>
                <p:oleObj r:id="rId11" imgW="1305626" imgH="1082835" progId="MS_ClipArt_Gallery.2">
                  <p:embed/>
                  <p:pic>
                    <p:nvPicPr>
                      <p:cNvPr id="0"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4438" y="4908551"/>
                        <a:ext cx="461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797" name="Object 54"/>
          <p:cNvGraphicFramePr>
            <a:graphicFrameLocks noChangeAspect="1"/>
          </p:cNvGraphicFramePr>
          <p:nvPr>
            <p:extLst>
              <p:ext uri="{D42A27DB-BD31-4B8C-83A1-F6EECF244321}">
                <p14:modId xmlns:p14="http://schemas.microsoft.com/office/powerpoint/2010/main" val="2076859189"/>
              </p:ext>
            </p:extLst>
          </p:nvPr>
        </p:nvGraphicFramePr>
        <p:xfrm>
          <a:off x="8154989" y="4894264"/>
          <a:ext cx="458787" cy="396875"/>
        </p:xfrm>
        <a:graphic>
          <a:graphicData uri="http://schemas.openxmlformats.org/presentationml/2006/ole">
            <mc:AlternateContent xmlns:mc="http://schemas.openxmlformats.org/markup-compatibility/2006">
              <mc:Choice xmlns:v="urn:schemas-microsoft-com:vml" Requires="v">
                <p:oleObj spid="_x0000_s76345" r:id="rId12" imgW="1305626" imgH="1082835" progId="MS_ClipArt_Gallery.2">
                  <p:embed/>
                </p:oleObj>
              </mc:Choice>
              <mc:Fallback>
                <p:oleObj r:id="rId12" imgW="1305626" imgH="1082835" progId="MS_ClipArt_Gallery.2">
                  <p:embed/>
                  <p:pic>
                    <p:nvPicPr>
                      <p:cNvPr id="0"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4989" y="4894264"/>
                        <a:ext cx="458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98" name="Line 55"/>
          <p:cNvSpPr>
            <a:spLocks noChangeShapeType="1"/>
          </p:cNvSpPr>
          <p:nvPr/>
        </p:nvSpPr>
        <p:spPr bwMode="auto">
          <a:xfrm rot="16200000">
            <a:off x="9074945" y="4874420"/>
            <a:ext cx="73025"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799" name="Line 56"/>
          <p:cNvSpPr>
            <a:spLocks noChangeShapeType="1"/>
          </p:cNvSpPr>
          <p:nvPr/>
        </p:nvSpPr>
        <p:spPr bwMode="auto">
          <a:xfrm rot="5400000" flipH="1">
            <a:off x="8386763" y="4868863"/>
            <a:ext cx="762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00" name="Line 57"/>
          <p:cNvSpPr>
            <a:spLocks noChangeShapeType="1"/>
          </p:cNvSpPr>
          <p:nvPr/>
        </p:nvSpPr>
        <p:spPr bwMode="auto">
          <a:xfrm rot="16200000" flipV="1">
            <a:off x="8772526" y="4489451"/>
            <a:ext cx="0" cy="6953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01" name="Line 58"/>
          <p:cNvSpPr>
            <a:spLocks noChangeShapeType="1"/>
          </p:cNvSpPr>
          <p:nvPr/>
        </p:nvSpPr>
        <p:spPr bwMode="auto">
          <a:xfrm>
            <a:off x="8394701" y="4383088"/>
            <a:ext cx="112713" cy="47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02" name="Line 59"/>
          <p:cNvSpPr>
            <a:spLocks noChangeShapeType="1"/>
          </p:cNvSpPr>
          <p:nvPr/>
        </p:nvSpPr>
        <p:spPr bwMode="auto">
          <a:xfrm>
            <a:off x="9069388" y="4443413"/>
            <a:ext cx="334962" cy="463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03" name="Line 60"/>
          <p:cNvSpPr>
            <a:spLocks noChangeShapeType="1"/>
          </p:cNvSpPr>
          <p:nvPr/>
        </p:nvSpPr>
        <p:spPr bwMode="auto">
          <a:xfrm flipH="1">
            <a:off x="9948863" y="4440238"/>
            <a:ext cx="309562" cy="469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31804" name="Object 61"/>
          <p:cNvGraphicFramePr>
            <a:graphicFrameLocks noChangeAspect="1"/>
          </p:cNvGraphicFramePr>
          <p:nvPr>
            <p:extLst>
              <p:ext uri="{D42A27DB-BD31-4B8C-83A1-F6EECF244321}">
                <p14:modId xmlns:p14="http://schemas.microsoft.com/office/powerpoint/2010/main" val="2415636452"/>
              </p:ext>
            </p:extLst>
          </p:nvPr>
        </p:nvGraphicFramePr>
        <p:xfrm>
          <a:off x="10145714" y="3902076"/>
          <a:ext cx="225425" cy="290513"/>
        </p:xfrm>
        <a:graphic>
          <a:graphicData uri="http://schemas.openxmlformats.org/presentationml/2006/ole">
            <mc:AlternateContent xmlns:mc="http://schemas.openxmlformats.org/markup-compatibility/2006">
              <mc:Choice xmlns:v="urn:schemas-microsoft-com:vml" Requires="v">
                <p:oleObj spid="_x0000_s76346" r:id="rId13" imgW="981674" imgH="1206892" progId="MS_ClipArt_Gallery.2">
                  <p:embed/>
                </p:oleObj>
              </mc:Choice>
              <mc:Fallback>
                <p:oleObj r:id="rId13" imgW="981674" imgH="1206892" progId="MS_ClipArt_Gallery.2">
                  <p:embed/>
                  <p:pic>
                    <p:nvPicPr>
                      <p:cNvPr id="0" name="Object 6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145714" y="3902076"/>
                        <a:ext cx="22542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805" name="Object 62"/>
          <p:cNvGraphicFramePr>
            <a:graphicFrameLocks noChangeAspect="1"/>
          </p:cNvGraphicFramePr>
          <p:nvPr>
            <p:extLst>
              <p:ext uri="{D42A27DB-BD31-4B8C-83A1-F6EECF244321}">
                <p14:modId xmlns:p14="http://schemas.microsoft.com/office/powerpoint/2010/main" val="386029543"/>
              </p:ext>
            </p:extLst>
          </p:nvPr>
        </p:nvGraphicFramePr>
        <p:xfrm>
          <a:off x="8667750" y="3998914"/>
          <a:ext cx="223838" cy="288925"/>
        </p:xfrm>
        <a:graphic>
          <a:graphicData uri="http://schemas.openxmlformats.org/presentationml/2006/ole">
            <mc:AlternateContent xmlns:mc="http://schemas.openxmlformats.org/markup-compatibility/2006">
              <mc:Choice xmlns:v="urn:schemas-microsoft-com:vml" Requires="v">
                <p:oleObj spid="_x0000_s76347" r:id="rId15" imgW="981674" imgH="1206892" progId="MS_ClipArt_Gallery.2">
                  <p:embed/>
                </p:oleObj>
              </mc:Choice>
              <mc:Fallback>
                <p:oleObj r:id="rId15" imgW="981674" imgH="1206892" progId="MS_ClipArt_Gallery.2">
                  <p:embed/>
                  <p:pic>
                    <p:nvPicPr>
                      <p:cNvPr id="0" name="Object 6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667750" y="3998914"/>
                        <a:ext cx="2238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806" name="未知"/>
          <p:cNvSpPr>
            <a:spLocks noChangeArrowheads="1"/>
          </p:cNvSpPr>
          <p:nvPr/>
        </p:nvSpPr>
        <p:spPr bwMode="auto">
          <a:xfrm>
            <a:off x="8756650" y="3729039"/>
            <a:ext cx="1498600" cy="365125"/>
          </a:xfrm>
          <a:custGeom>
            <a:avLst/>
            <a:gdLst>
              <a:gd name="T0" fmla="*/ 0 w 972"/>
              <a:gd name="T1" fmla="*/ 228 h 228"/>
              <a:gd name="T2" fmla="*/ 432 w 972"/>
              <a:gd name="T3" fmla="*/ 9 h 228"/>
              <a:gd name="T4" fmla="*/ 972 w 972"/>
              <a:gd name="T5" fmla="*/ 171 h 228"/>
            </a:gdLst>
            <a:ahLst/>
            <a:cxnLst>
              <a:cxn ang="0">
                <a:pos x="T0" y="T1"/>
              </a:cxn>
              <a:cxn ang="0">
                <a:pos x="T2" y="T3"/>
              </a:cxn>
              <a:cxn ang="0">
                <a:pos x="T4" y="T5"/>
              </a:cxn>
            </a:cxnLst>
            <a:rect l="0" t="0" r="r" b="b"/>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aphicFrame>
        <p:nvGraphicFramePr>
          <p:cNvPr id="31807" name="Object 64"/>
          <p:cNvGraphicFramePr>
            <a:graphicFrameLocks noChangeAspect="1"/>
          </p:cNvGraphicFramePr>
          <p:nvPr>
            <p:extLst>
              <p:ext uri="{D42A27DB-BD31-4B8C-83A1-F6EECF244321}">
                <p14:modId xmlns:p14="http://schemas.microsoft.com/office/powerpoint/2010/main" val="2538101755"/>
              </p:ext>
            </p:extLst>
          </p:nvPr>
        </p:nvGraphicFramePr>
        <p:xfrm>
          <a:off x="9051925" y="5435600"/>
          <a:ext cx="419100" cy="452438"/>
        </p:xfrm>
        <a:graphic>
          <a:graphicData uri="http://schemas.openxmlformats.org/presentationml/2006/ole">
            <mc:AlternateContent xmlns:mc="http://schemas.openxmlformats.org/markup-compatibility/2006">
              <mc:Choice xmlns:v="urn:schemas-microsoft-com:vml" Requires="v">
                <p:oleObj spid="_x0000_s76348" r:id="rId16" imgW="825309" imgH="838856" progId="MS_ClipArt_Gallery.2">
                  <p:embed/>
                </p:oleObj>
              </mc:Choice>
              <mc:Fallback>
                <p:oleObj r:id="rId16" imgW="825309" imgH="838856" progId="MS_ClipArt_Gallery.2">
                  <p:embed/>
                  <p:pic>
                    <p:nvPicPr>
                      <p:cNvPr id="0" name="Object 6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051925" y="5435600"/>
                        <a:ext cx="41910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808" name="Object 65"/>
          <p:cNvGraphicFramePr>
            <a:graphicFrameLocks noChangeAspect="1"/>
          </p:cNvGraphicFramePr>
          <p:nvPr>
            <p:extLst>
              <p:ext uri="{D42A27DB-BD31-4B8C-83A1-F6EECF244321}">
                <p14:modId xmlns:p14="http://schemas.microsoft.com/office/powerpoint/2010/main" val="2708115160"/>
              </p:ext>
            </p:extLst>
          </p:nvPr>
        </p:nvGraphicFramePr>
        <p:xfrm>
          <a:off x="9118600" y="5570539"/>
          <a:ext cx="382588" cy="377825"/>
        </p:xfrm>
        <a:graphic>
          <a:graphicData uri="http://schemas.openxmlformats.org/presentationml/2006/ole">
            <mc:AlternateContent xmlns:mc="http://schemas.openxmlformats.org/markup-compatibility/2006">
              <mc:Choice xmlns:v="urn:schemas-microsoft-com:vml" Requires="v">
                <p:oleObj spid="_x0000_s76349" r:id="rId18" imgW="1266724" imgH="1197956" progId="MS_ClipArt_Gallery.2">
                  <p:embed/>
                </p:oleObj>
              </mc:Choice>
              <mc:Fallback>
                <p:oleObj r:id="rId18" imgW="1266724" imgH="1197956" progId="MS_ClipArt_Gallery.2">
                  <p:embed/>
                  <p:pic>
                    <p:nvPicPr>
                      <p:cNvPr id="0" name="Object 6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118600" y="5570539"/>
                        <a:ext cx="382588"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1809" name="Group 66"/>
          <p:cNvGrpSpPr>
            <a:grpSpLocks noChangeAspect="1"/>
          </p:cNvGrpSpPr>
          <p:nvPr/>
        </p:nvGrpSpPr>
        <p:grpSpPr bwMode="auto">
          <a:xfrm>
            <a:off x="9912351" y="5473701"/>
            <a:ext cx="449263" cy="512763"/>
            <a:chOff x="0" y="0"/>
            <a:chExt cx="292" cy="320"/>
          </a:xfrm>
        </p:grpSpPr>
        <p:graphicFrame>
          <p:nvGraphicFramePr>
            <p:cNvPr id="31810" name="Object 67"/>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6350" r:id="rId20" imgW="825309" imgH="838856" progId="MS_ClipArt_Gallery.2">
                    <p:embed/>
                  </p:oleObj>
                </mc:Choice>
                <mc:Fallback>
                  <p:oleObj r:id="rId20" imgW="825309" imgH="838856" progId="MS_ClipArt_Gallery.2">
                    <p:embed/>
                    <p:pic>
                      <p:nvPicPr>
                        <p:cNvPr id="0" name="Object 6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811" name="Object 68"/>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6351" r:id="rId21" imgW="1266724" imgH="1197956" progId="MS_ClipArt_Gallery.2">
                    <p:embed/>
                  </p:oleObj>
                </mc:Choice>
                <mc:Fallback>
                  <p:oleObj r:id="rId21" imgW="1266724" imgH="1197956" progId="MS_ClipArt_Gallery.2">
                    <p:embed/>
                    <p:pic>
                      <p:nvPicPr>
                        <p:cNvPr id="0" name="Object 6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31812" name="Group 69"/>
          <p:cNvGrpSpPr>
            <a:grpSpLocks/>
          </p:cNvGrpSpPr>
          <p:nvPr/>
        </p:nvGrpSpPr>
        <p:grpSpPr bwMode="auto">
          <a:xfrm>
            <a:off x="9453563" y="5132389"/>
            <a:ext cx="419100" cy="452437"/>
            <a:chOff x="0" y="0"/>
            <a:chExt cx="272" cy="282"/>
          </a:xfrm>
        </p:grpSpPr>
        <p:graphicFrame>
          <p:nvGraphicFramePr>
            <p:cNvPr id="31813" name="Object 70"/>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6352" r:id="rId22" imgW="825309" imgH="838856" progId="MS_ClipArt_Gallery.2">
                    <p:embed/>
                  </p:oleObj>
                </mc:Choice>
                <mc:Fallback>
                  <p:oleObj r:id="rId22" imgW="825309" imgH="838856" progId="MS_ClipArt_Gallery.2">
                    <p:embed/>
                    <p:pic>
                      <p:nvPicPr>
                        <p:cNvPr id="0" name="Object 7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814" name="Rectangle 71"/>
            <p:cNvSpPr>
              <a:spLocks noChangeArrowheads="1"/>
            </p:cNvSpPr>
            <p:nvPr/>
          </p:nvSpPr>
          <p:spPr bwMode="auto">
            <a:xfrm>
              <a:off x="79" y="99"/>
              <a:ext cx="192" cy="183"/>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grpSp>
      <p:grpSp>
        <p:nvGrpSpPr>
          <p:cNvPr id="31815" name="Group 72"/>
          <p:cNvGrpSpPr>
            <a:grpSpLocks/>
          </p:cNvGrpSpPr>
          <p:nvPr/>
        </p:nvGrpSpPr>
        <p:grpSpPr bwMode="auto">
          <a:xfrm>
            <a:off x="10590214" y="4325939"/>
            <a:ext cx="230187" cy="490537"/>
            <a:chOff x="0" y="0"/>
            <a:chExt cx="150" cy="307"/>
          </a:xfrm>
        </p:grpSpPr>
        <p:sp>
          <p:nvSpPr>
            <p:cNvPr id="31816" name="AutoShape 73"/>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817" name="Rectangle 74"/>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818" name="Rectangle 75"/>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819" name="AutoShape 76"/>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820" name="Line 77"/>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21" name="Line 78"/>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22" name="Rectangle 79"/>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823" name="Rectangle 80"/>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31824" name="Group 81"/>
          <p:cNvGrpSpPr>
            <a:grpSpLocks/>
          </p:cNvGrpSpPr>
          <p:nvPr/>
        </p:nvGrpSpPr>
        <p:grpSpPr bwMode="auto">
          <a:xfrm>
            <a:off x="10575925" y="4859339"/>
            <a:ext cx="230188" cy="490537"/>
            <a:chOff x="0" y="0"/>
            <a:chExt cx="150" cy="307"/>
          </a:xfrm>
        </p:grpSpPr>
        <p:sp>
          <p:nvSpPr>
            <p:cNvPr id="31825" name="AutoShape 82"/>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826" name="Rectangle 83"/>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827" name="Rectangle 84"/>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828" name="AutoShape 85"/>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829" name="Line 86"/>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30" name="Line 87"/>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31" name="Rectangle 88"/>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31832" name="Rectangle 89"/>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31833" name="Line 90"/>
          <p:cNvSpPr>
            <a:spLocks noChangeShapeType="1"/>
          </p:cNvSpPr>
          <p:nvPr/>
        </p:nvSpPr>
        <p:spPr bwMode="auto">
          <a:xfrm rot="5400000" flipH="1">
            <a:off x="10133013" y="4773613"/>
            <a:ext cx="73342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34" name="Line 91"/>
          <p:cNvSpPr>
            <a:spLocks noChangeShapeType="1"/>
          </p:cNvSpPr>
          <p:nvPr/>
        </p:nvSpPr>
        <p:spPr bwMode="auto">
          <a:xfrm rot="16200000">
            <a:off x="10553700" y="5081588"/>
            <a:ext cx="0" cy="1143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35" name="Line 92"/>
          <p:cNvSpPr>
            <a:spLocks noChangeShapeType="1"/>
          </p:cNvSpPr>
          <p:nvPr/>
        </p:nvSpPr>
        <p:spPr bwMode="auto">
          <a:xfrm rot="16200000">
            <a:off x="10542588" y="4518026"/>
            <a:ext cx="0" cy="984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36" name="Line 93"/>
          <p:cNvSpPr>
            <a:spLocks noChangeShapeType="1"/>
          </p:cNvSpPr>
          <p:nvPr/>
        </p:nvSpPr>
        <p:spPr bwMode="auto">
          <a:xfrm flipV="1">
            <a:off x="9082088" y="2282826"/>
            <a:ext cx="506412" cy="2508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37" name="Line 94"/>
          <p:cNvSpPr>
            <a:spLocks noChangeShapeType="1"/>
          </p:cNvSpPr>
          <p:nvPr/>
        </p:nvSpPr>
        <p:spPr bwMode="auto">
          <a:xfrm>
            <a:off x="10115551" y="2263776"/>
            <a:ext cx="538163" cy="2508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38" name="Line 95"/>
          <p:cNvSpPr>
            <a:spLocks noChangeShapeType="1"/>
          </p:cNvSpPr>
          <p:nvPr/>
        </p:nvSpPr>
        <p:spPr bwMode="auto">
          <a:xfrm flipH="1">
            <a:off x="10690225" y="2668589"/>
            <a:ext cx="266700" cy="8159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39" name="Line 96"/>
          <p:cNvSpPr>
            <a:spLocks noChangeShapeType="1"/>
          </p:cNvSpPr>
          <p:nvPr/>
        </p:nvSpPr>
        <p:spPr bwMode="auto">
          <a:xfrm>
            <a:off x="9837738" y="2400301"/>
            <a:ext cx="0" cy="5175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40" name="Line 97"/>
          <p:cNvSpPr>
            <a:spLocks noChangeShapeType="1"/>
          </p:cNvSpPr>
          <p:nvPr/>
        </p:nvSpPr>
        <p:spPr bwMode="auto">
          <a:xfrm>
            <a:off x="9866314" y="3176589"/>
            <a:ext cx="592137"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41" name="Line 98"/>
          <p:cNvSpPr>
            <a:spLocks noChangeShapeType="1"/>
          </p:cNvSpPr>
          <p:nvPr/>
        </p:nvSpPr>
        <p:spPr bwMode="auto">
          <a:xfrm flipH="1">
            <a:off x="10375901" y="3735388"/>
            <a:ext cx="295275"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42" name="Line 99"/>
          <p:cNvSpPr>
            <a:spLocks noChangeShapeType="1"/>
          </p:cNvSpPr>
          <p:nvPr/>
        </p:nvSpPr>
        <p:spPr bwMode="auto">
          <a:xfrm flipH="1">
            <a:off x="10125076" y="2630489"/>
            <a:ext cx="619125" cy="460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43" name="Line 100"/>
          <p:cNvSpPr>
            <a:spLocks noChangeShapeType="1"/>
          </p:cNvSpPr>
          <p:nvPr/>
        </p:nvSpPr>
        <p:spPr bwMode="auto">
          <a:xfrm flipH="1">
            <a:off x="10134600" y="1957389"/>
            <a:ext cx="388938"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44" name="Line 101"/>
          <p:cNvSpPr>
            <a:spLocks noChangeShapeType="1"/>
          </p:cNvSpPr>
          <p:nvPr/>
        </p:nvSpPr>
        <p:spPr bwMode="auto">
          <a:xfrm flipH="1">
            <a:off x="10928350" y="2168526"/>
            <a:ext cx="223838" cy="212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1845" name="Group 102"/>
          <p:cNvGrpSpPr>
            <a:grpSpLocks/>
          </p:cNvGrpSpPr>
          <p:nvPr/>
        </p:nvGrpSpPr>
        <p:grpSpPr bwMode="auto">
          <a:xfrm>
            <a:off x="8507414" y="2400300"/>
            <a:ext cx="554037" cy="279400"/>
            <a:chOff x="0" y="0"/>
            <a:chExt cx="360" cy="175"/>
          </a:xfrm>
        </p:grpSpPr>
        <p:sp>
          <p:nvSpPr>
            <p:cNvPr id="31846" name="Oval 103"/>
            <p:cNvSpPr>
              <a:spLocks noChangeArrowheads="1"/>
            </p:cNvSpPr>
            <p:nvPr/>
          </p:nvSpPr>
          <p:spPr bwMode="auto">
            <a:xfrm>
              <a:off x="3" y="78"/>
              <a:ext cx="357" cy="97"/>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1847" name="Line 104"/>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48" name="Line 105"/>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49" name="Rectangle 106"/>
            <p:cNvSpPr>
              <a:spLocks noChangeArrowheads="1"/>
            </p:cNvSpPr>
            <p:nvPr/>
          </p:nvSpPr>
          <p:spPr bwMode="auto">
            <a:xfrm>
              <a:off x="3" y="70"/>
              <a:ext cx="354" cy="59"/>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solidFill>
                  <a:schemeClr val="accent1"/>
                </a:solidFill>
                <a:ea typeface="华文楷体" panose="02010600040101010101" pitchFamily="2" charset="-122"/>
              </a:endParaRPr>
            </a:p>
          </p:txBody>
        </p:sp>
        <p:sp>
          <p:nvSpPr>
            <p:cNvPr id="31850" name="Oval 107"/>
            <p:cNvSpPr>
              <a:spLocks noChangeArrowheads="1"/>
            </p:cNvSpPr>
            <p:nvPr/>
          </p:nvSpPr>
          <p:spPr bwMode="auto">
            <a:xfrm>
              <a:off x="0" y="0"/>
              <a:ext cx="357" cy="113"/>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1851" name="Group 108"/>
            <p:cNvGrpSpPr>
              <a:grpSpLocks/>
            </p:cNvGrpSpPr>
            <p:nvPr/>
          </p:nvGrpSpPr>
          <p:grpSpPr bwMode="auto">
            <a:xfrm>
              <a:off x="86" y="25"/>
              <a:ext cx="177" cy="66"/>
              <a:chOff x="0" y="0"/>
              <a:chExt cx="140" cy="98"/>
            </a:xfrm>
          </p:grpSpPr>
          <p:sp>
            <p:nvSpPr>
              <p:cNvPr id="31852" name="Line 109"/>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53" name="Line 110"/>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54" name="Line 111"/>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1855" name="Group 112"/>
            <p:cNvGrpSpPr>
              <a:grpSpLocks/>
            </p:cNvGrpSpPr>
            <p:nvPr/>
          </p:nvGrpSpPr>
          <p:grpSpPr bwMode="auto">
            <a:xfrm flipV="1">
              <a:off x="86" y="24"/>
              <a:ext cx="177" cy="66"/>
              <a:chOff x="0" y="0"/>
              <a:chExt cx="140" cy="98"/>
            </a:xfrm>
          </p:grpSpPr>
          <p:sp>
            <p:nvSpPr>
              <p:cNvPr id="31856" name="Line 113"/>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57" name="Line 114"/>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58" name="Line 115"/>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31859" name="Group 116"/>
          <p:cNvGrpSpPr>
            <a:grpSpLocks/>
          </p:cNvGrpSpPr>
          <p:nvPr/>
        </p:nvGrpSpPr>
        <p:grpSpPr bwMode="auto">
          <a:xfrm>
            <a:off x="9561514" y="2125663"/>
            <a:ext cx="554037" cy="279400"/>
            <a:chOff x="0" y="0"/>
            <a:chExt cx="360" cy="175"/>
          </a:xfrm>
        </p:grpSpPr>
        <p:sp>
          <p:nvSpPr>
            <p:cNvPr id="31860" name="Oval 117"/>
            <p:cNvSpPr>
              <a:spLocks noChangeArrowheads="1"/>
            </p:cNvSpPr>
            <p:nvPr/>
          </p:nvSpPr>
          <p:spPr bwMode="auto">
            <a:xfrm>
              <a:off x="3" y="78"/>
              <a:ext cx="357" cy="97"/>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1861" name="Line 118"/>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62" name="Line 119"/>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63" name="Rectangle 120"/>
            <p:cNvSpPr>
              <a:spLocks noChangeArrowheads="1"/>
            </p:cNvSpPr>
            <p:nvPr/>
          </p:nvSpPr>
          <p:spPr bwMode="auto">
            <a:xfrm>
              <a:off x="3" y="70"/>
              <a:ext cx="354" cy="59"/>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solidFill>
                  <a:schemeClr val="accent1"/>
                </a:solidFill>
                <a:ea typeface="华文楷体" panose="02010600040101010101" pitchFamily="2" charset="-122"/>
              </a:endParaRPr>
            </a:p>
          </p:txBody>
        </p:sp>
        <p:sp>
          <p:nvSpPr>
            <p:cNvPr id="31864" name="Oval 121"/>
            <p:cNvSpPr>
              <a:spLocks noChangeArrowheads="1"/>
            </p:cNvSpPr>
            <p:nvPr/>
          </p:nvSpPr>
          <p:spPr bwMode="auto">
            <a:xfrm>
              <a:off x="0" y="0"/>
              <a:ext cx="357" cy="113"/>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1865" name="Group 122"/>
            <p:cNvGrpSpPr>
              <a:grpSpLocks/>
            </p:cNvGrpSpPr>
            <p:nvPr/>
          </p:nvGrpSpPr>
          <p:grpSpPr bwMode="auto">
            <a:xfrm>
              <a:off x="86" y="25"/>
              <a:ext cx="177" cy="66"/>
              <a:chOff x="0" y="0"/>
              <a:chExt cx="140" cy="98"/>
            </a:xfrm>
          </p:grpSpPr>
          <p:sp>
            <p:nvSpPr>
              <p:cNvPr id="31866" name="Line 123"/>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67" name="Line 124"/>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68" name="Line 125"/>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1869" name="Group 126"/>
            <p:cNvGrpSpPr>
              <a:grpSpLocks/>
            </p:cNvGrpSpPr>
            <p:nvPr/>
          </p:nvGrpSpPr>
          <p:grpSpPr bwMode="auto">
            <a:xfrm flipV="1">
              <a:off x="86" y="24"/>
              <a:ext cx="177" cy="66"/>
              <a:chOff x="0" y="0"/>
              <a:chExt cx="140" cy="98"/>
            </a:xfrm>
          </p:grpSpPr>
          <p:sp>
            <p:nvSpPr>
              <p:cNvPr id="31870" name="Line 127"/>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71" name="Line 128"/>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72" name="Line 129"/>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31873" name="Group 130"/>
          <p:cNvGrpSpPr>
            <a:grpSpLocks/>
          </p:cNvGrpSpPr>
          <p:nvPr/>
        </p:nvGrpSpPr>
        <p:grpSpPr bwMode="auto">
          <a:xfrm>
            <a:off x="9580564" y="2913064"/>
            <a:ext cx="554037" cy="280987"/>
            <a:chOff x="0" y="0"/>
            <a:chExt cx="360" cy="175"/>
          </a:xfrm>
        </p:grpSpPr>
        <p:sp>
          <p:nvSpPr>
            <p:cNvPr id="31874" name="Oval 131"/>
            <p:cNvSpPr>
              <a:spLocks noChangeArrowheads="1"/>
            </p:cNvSpPr>
            <p:nvPr/>
          </p:nvSpPr>
          <p:spPr bwMode="auto">
            <a:xfrm>
              <a:off x="3" y="78"/>
              <a:ext cx="357" cy="97"/>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1875" name="Line 132"/>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76" name="Line 133"/>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77" name="Rectangle 134"/>
            <p:cNvSpPr>
              <a:spLocks noChangeArrowheads="1"/>
            </p:cNvSpPr>
            <p:nvPr/>
          </p:nvSpPr>
          <p:spPr bwMode="auto">
            <a:xfrm>
              <a:off x="3" y="70"/>
              <a:ext cx="354" cy="59"/>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solidFill>
                  <a:schemeClr val="accent1"/>
                </a:solidFill>
                <a:ea typeface="华文楷体" panose="02010600040101010101" pitchFamily="2" charset="-122"/>
              </a:endParaRPr>
            </a:p>
          </p:txBody>
        </p:sp>
        <p:sp>
          <p:nvSpPr>
            <p:cNvPr id="31878" name="Oval 135"/>
            <p:cNvSpPr>
              <a:spLocks noChangeArrowheads="1"/>
            </p:cNvSpPr>
            <p:nvPr/>
          </p:nvSpPr>
          <p:spPr bwMode="auto">
            <a:xfrm>
              <a:off x="0" y="0"/>
              <a:ext cx="357" cy="113"/>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1879" name="Group 136"/>
            <p:cNvGrpSpPr>
              <a:grpSpLocks/>
            </p:cNvGrpSpPr>
            <p:nvPr/>
          </p:nvGrpSpPr>
          <p:grpSpPr bwMode="auto">
            <a:xfrm>
              <a:off x="86" y="25"/>
              <a:ext cx="177" cy="66"/>
              <a:chOff x="0" y="0"/>
              <a:chExt cx="140" cy="98"/>
            </a:xfrm>
          </p:grpSpPr>
          <p:sp>
            <p:nvSpPr>
              <p:cNvPr id="31880" name="Line 137"/>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81" name="Line 138"/>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82" name="Line 139"/>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1883" name="Group 140"/>
            <p:cNvGrpSpPr>
              <a:grpSpLocks/>
            </p:cNvGrpSpPr>
            <p:nvPr/>
          </p:nvGrpSpPr>
          <p:grpSpPr bwMode="auto">
            <a:xfrm flipV="1">
              <a:off x="86" y="24"/>
              <a:ext cx="177" cy="66"/>
              <a:chOff x="0" y="0"/>
              <a:chExt cx="140" cy="98"/>
            </a:xfrm>
          </p:grpSpPr>
          <p:sp>
            <p:nvSpPr>
              <p:cNvPr id="31884" name="Line 141"/>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85" name="Line 142"/>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86" name="Line 143"/>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31887" name="Group 144"/>
          <p:cNvGrpSpPr>
            <a:grpSpLocks/>
          </p:cNvGrpSpPr>
          <p:nvPr/>
        </p:nvGrpSpPr>
        <p:grpSpPr bwMode="auto">
          <a:xfrm>
            <a:off x="10653713" y="2374900"/>
            <a:ext cx="552450" cy="279400"/>
            <a:chOff x="0" y="0"/>
            <a:chExt cx="360" cy="175"/>
          </a:xfrm>
        </p:grpSpPr>
        <p:sp>
          <p:nvSpPr>
            <p:cNvPr id="31888" name="Oval 145"/>
            <p:cNvSpPr>
              <a:spLocks noChangeArrowheads="1"/>
            </p:cNvSpPr>
            <p:nvPr/>
          </p:nvSpPr>
          <p:spPr bwMode="auto">
            <a:xfrm>
              <a:off x="3" y="78"/>
              <a:ext cx="357" cy="97"/>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1889" name="Line 146"/>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90" name="Line 147"/>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91" name="Rectangle 148"/>
            <p:cNvSpPr>
              <a:spLocks noChangeArrowheads="1"/>
            </p:cNvSpPr>
            <p:nvPr/>
          </p:nvSpPr>
          <p:spPr bwMode="auto">
            <a:xfrm>
              <a:off x="3" y="70"/>
              <a:ext cx="354" cy="59"/>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solidFill>
                  <a:schemeClr val="accent1"/>
                </a:solidFill>
                <a:ea typeface="华文楷体" panose="02010600040101010101" pitchFamily="2" charset="-122"/>
              </a:endParaRPr>
            </a:p>
          </p:txBody>
        </p:sp>
        <p:sp>
          <p:nvSpPr>
            <p:cNvPr id="31892" name="Oval 149"/>
            <p:cNvSpPr>
              <a:spLocks noChangeArrowheads="1"/>
            </p:cNvSpPr>
            <p:nvPr/>
          </p:nvSpPr>
          <p:spPr bwMode="auto">
            <a:xfrm>
              <a:off x="0" y="0"/>
              <a:ext cx="357" cy="113"/>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1893" name="Group 150"/>
            <p:cNvGrpSpPr>
              <a:grpSpLocks/>
            </p:cNvGrpSpPr>
            <p:nvPr/>
          </p:nvGrpSpPr>
          <p:grpSpPr bwMode="auto">
            <a:xfrm>
              <a:off x="86" y="25"/>
              <a:ext cx="177" cy="66"/>
              <a:chOff x="0" y="0"/>
              <a:chExt cx="140" cy="98"/>
            </a:xfrm>
          </p:grpSpPr>
          <p:sp>
            <p:nvSpPr>
              <p:cNvPr id="31894" name="Line 151"/>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95" name="Line 152"/>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96" name="Line 153"/>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1897" name="Group 154"/>
            <p:cNvGrpSpPr>
              <a:grpSpLocks/>
            </p:cNvGrpSpPr>
            <p:nvPr/>
          </p:nvGrpSpPr>
          <p:grpSpPr bwMode="auto">
            <a:xfrm flipV="1">
              <a:off x="86" y="24"/>
              <a:ext cx="177" cy="66"/>
              <a:chOff x="0" y="0"/>
              <a:chExt cx="140" cy="98"/>
            </a:xfrm>
          </p:grpSpPr>
          <p:sp>
            <p:nvSpPr>
              <p:cNvPr id="31898" name="Line 155"/>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899" name="Line 156"/>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00" name="Line 157"/>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31901" name="Group 158"/>
          <p:cNvGrpSpPr>
            <a:grpSpLocks/>
          </p:cNvGrpSpPr>
          <p:nvPr/>
        </p:nvGrpSpPr>
        <p:grpSpPr bwMode="auto">
          <a:xfrm>
            <a:off x="10439400" y="3451225"/>
            <a:ext cx="554038" cy="279400"/>
            <a:chOff x="0" y="0"/>
            <a:chExt cx="360" cy="175"/>
          </a:xfrm>
        </p:grpSpPr>
        <p:sp>
          <p:nvSpPr>
            <p:cNvPr id="31902" name="Oval 159"/>
            <p:cNvSpPr>
              <a:spLocks noChangeArrowheads="1"/>
            </p:cNvSpPr>
            <p:nvPr/>
          </p:nvSpPr>
          <p:spPr bwMode="auto">
            <a:xfrm>
              <a:off x="3" y="78"/>
              <a:ext cx="357" cy="97"/>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1903" name="Line 160"/>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04" name="Line 161"/>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05" name="Rectangle 162"/>
            <p:cNvSpPr>
              <a:spLocks noChangeArrowheads="1"/>
            </p:cNvSpPr>
            <p:nvPr/>
          </p:nvSpPr>
          <p:spPr bwMode="auto">
            <a:xfrm>
              <a:off x="3" y="70"/>
              <a:ext cx="354" cy="59"/>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solidFill>
                  <a:schemeClr val="accent1"/>
                </a:solidFill>
                <a:ea typeface="华文楷体" panose="02010600040101010101" pitchFamily="2" charset="-122"/>
              </a:endParaRPr>
            </a:p>
          </p:txBody>
        </p:sp>
        <p:sp>
          <p:nvSpPr>
            <p:cNvPr id="31906" name="Oval 163"/>
            <p:cNvSpPr>
              <a:spLocks noChangeArrowheads="1"/>
            </p:cNvSpPr>
            <p:nvPr/>
          </p:nvSpPr>
          <p:spPr bwMode="auto">
            <a:xfrm>
              <a:off x="0" y="0"/>
              <a:ext cx="357" cy="113"/>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1907" name="Group 164"/>
            <p:cNvGrpSpPr>
              <a:grpSpLocks/>
            </p:cNvGrpSpPr>
            <p:nvPr/>
          </p:nvGrpSpPr>
          <p:grpSpPr bwMode="auto">
            <a:xfrm>
              <a:off x="86" y="25"/>
              <a:ext cx="177" cy="66"/>
              <a:chOff x="0" y="0"/>
              <a:chExt cx="140" cy="98"/>
            </a:xfrm>
          </p:grpSpPr>
          <p:sp>
            <p:nvSpPr>
              <p:cNvPr id="31908" name="Line 165"/>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09" name="Line 166"/>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10" name="Line 167"/>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1911" name="Group 168"/>
            <p:cNvGrpSpPr>
              <a:grpSpLocks/>
            </p:cNvGrpSpPr>
            <p:nvPr/>
          </p:nvGrpSpPr>
          <p:grpSpPr bwMode="auto">
            <a:xfrm flipV="1">
              <a:off x="86" y="24"/>
              <a:ext cx="177" cy="66"/>
              <a:chOff x="0" y="0"/>
              <a:chExt cx="140" cy="98"/>
            </a:xfrm>
          </p:grpSpPr>
          <p:sp>
            <p:nvSpPr>
              <p:cNvPr id="31912" name="Line 169"/>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13" name="Line 170"/>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14" name="Line 171"/>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31915" name="Group 172"/>
          <p:cNvGrpSpPr>
            <a:grpSpLocks/>
          </p:cNvGrpSpPr>
          <p:nvPr/>
        </p:nvGrpSpPr>
        <p:grpSpPr bwMode="auto">
          <a:xfrm>
            <a:off x="10069514" y="4151314"/>
            <a:ext cx="555625" cy="282575"/>
            <a:chOff x="0" y="0"/>
            <a:chExt cx="360" cy="175"/>
          </a:xfrm>
        </p:grpSpPr>
        <p:sp>
          <p:nvSpPr>
            <p:cNvPr id="31916" name="Oval 173"/>
            <p:cNvSpPr>
              <a:spLocks noChangeArrowheads="1"/>
            </p:cNvSpPr>
            <p:nvPr/>
          </p:nvSpPr>
          <p:spPr bwMode="auto">
            <a:xfrm>
              <a:off x="3" y="78"/>
              <a:ext cx="357" cy="97"/>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1917" name="Line 174"/>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18" name="Line 175"/>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19" name="Rectangle 176"/>
            <p:cNvSpPr>
              <a:spLocks noChangeArrowheads="1"/>
            </p:cNvSpPr>
            <p:nvPr/>
          </p:nvSpPr>
          <p:spPr bwMode="auto">
            <a:xfrm>
              <a:off x="3" y="70"/>
              <a:ext cx="354" cy="59"/>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solidFill>
                  <a:schemeClr val="accent1"/>
                </a:solidFill>
                <a:ea typeface="华文楷体" panose="02010600040101010101" pitchFamily="2" charset="-122"/>
              </a:endParaRPr>
            </a:p>
          </p:txBody>
        </p:sp>
        <p:sp>
          <p:nvSpPr>
            <p:cNvPr id="31920" name="Oval 177"/>
            <p:cNvSpPr>
              <a:spLocks noChangeArrowheads="1"/>
            </p:cNvSpPr>
            <p:nvPr/>
          </p:nvSpPr>
          <p:spPr bwMode="auto">
            <a:xfrm>
              <a:off x="0" y="0"/>
              <a:ext cx="357" cy="113"/>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1921" name="Group 178"/>
            <p:cNvGrpSpPr>
              <a:grpSpLocks/>
            </p:cNvGrpSpPr>
            <p:nvPr/>
          </p:nvGrpSpPr>
          <p:grpSpPr bwMode="auto">
            <a:xfrm>
              <a:off x="86" y="25"/>
              <a:ext cx="177" cy="66"/>
              <a:chOff x="0" y="0"/>
              <a:chExt cx="140" cy="98"/>
            </a:xfrm>
          </p:grpSpPr>
          <p:sp>
            <p:nvSpPr>
              <p:cNvPr id="31922" name="Line 179"/>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23" name="Line 180"/>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24" name="Line 181"/>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1925" name="Group 182"/>
            <p:cNvGrpSpPr>
              <a:grpSpLocks/>
            </p:cNvGrpSpPr>
            <p:nvPr/>
          </p:nvGrpSpPr>
          <p:grpSpPr bwMode="auto">
            <a:xfrm flipV="1">
              <a:off x="86" y="24"/>
              <a:ext cx="177" cy="66"/>
              <a:chOff x="0" y="0"/>
              <a:chExt cx="140" cy="98"/>
            </a:xfrm>
          </p:grpSpPr>
          <p:sp>
            <p:nvSpPr>
              <p:cNvPr id="31926" name="Line 183"/>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27" name="Line 184"/>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28" name="Line 185"/>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31929" name="Group 186"/>
          <p:cNvGrpSpPr>
            <a:grpSpLocks/>
          </p:cNvGrpSpPr>
          <p:nvPr/>
        </p:nvGrpSpPr>
        <p:grpSpPr bwMode="auto">
          <a:xfrm>
            <a:off x="9396413" y="4738688"/>
            <a:ext cx="552450" cy="279400"/>
            <a:chOff x="0" y="0"/>
            <a:chExt cx="360" cy="175"/>
          </a:xfrm>
        </p:grpSpPr>
        <p:sp>
          <p:nvSpPr>
            <p:cNvPr id="31930" name="Oval 187"/>
            <p:cNvSpPr>
              <a:spLocks noChangeArrowheads="1"/>
            </p:cNvSpPr>
            <p:nvPr/>
          </p:nvSpPr>
          <p:spPr bwMode="auto">
            <a:xfrm>
              <a:off x="3" y="78"/>
              <a:ext cx="357" cy="97"/>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1931" name="Line 188"/>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32" name="Line 189"/>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33" name="Rectangle 190"/>
            <p:cNvSpPr>
              <a:spLocks noChangeArrowheads="1"/>
            </p:cNvSpPr>
            <p:nvPr/>
          </p:nvSpPr>
          <p:spPr bwMode="auto">
            <a:xfrm>
              <a:off x="3" y="70"/>
              <a:ext cx="354" cy="59"/>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solidFill>
                  <a:schemeClr val="accent1"/>
                </a:solidFill>
                <a:ea typeface="华文楷体" panose="02010600040101010101" pitchFamily="2" charset="-122"/>
              </a:endParaRPr>
            </a:p>
          </p:txBody>
        </p:sp>
        <p:sp>
          <p:nvSpPr>
            <p:cNvPr id="31934" name="Oval 191"/>
            <p:cNvSpPr>
              <a:spLocks noChangeArrowheads="1"/>
            </p:cNvSpPr>
            <p:nvPr/>
          </p:nvSpPr>
          <p:spPr bwMode="auto">
            <a:xfrm>
              <a:off x="0" y="0"/>
              <a:ext cx="357" cy="113"/>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1935" name="Group 192"/>
            <p:cNvGrpSpPr>
              <a:grpSpLocks/>
            </p:cNvGrpSpPr>
            <p:nvPr/>
          </p:nvGrpSpPr>
          <p:grpSpPr bwMode="auto">
            <a:xfrm>
              <a:off x="86" y="25"/>
              <a:ext cx="177" cy="66"/>
              <a:chOff x="0" y="0"/>
              <a:chExt cx="140" cy="98"/>
            </a:xfrm>
          </p:grpSpPr>
          <p:sp>
            <p:nvSpPr>
              <p:cNvPr id="31936" name="Line 193"/>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37" name="Line 194"/>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38" name="Line 195"/>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1939" name="Group 196"/>
            <p:cNvGrpSpPr>
              <a:grpSpLocks/>
            </p:cNvGrpSpPr>
            <p:nvPr/>
          </p:nvGrpSpPr>
          <p:grpSpPr bwMode="auto">
            <a:xfrm flipV="1">
              <a:off x="86" y="24"/>
              <a:ext cx="177" cy="66"/>
              <a:chOff x="0" y="0"/>
              <a:chExt cx="140" cy="98"/>
            </a:xfrm>
          </p:grpSpPr>
          <p:sp>
            <p:nvSpPr>
              <p:cNvPr id="31940" name="Line 197"/>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41" name="Line 198"/>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42" name="Line 199"/>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nvGrpSpPr>
          <p:cNvPr id="31943" name="Group 200"/>
          <p:cNvGrpSpPr>
            <a:grpSpLocks/>
          </p:cNvGrpSpPr>
          <p:nvPr/>
        </p:nvGrpSpPr>
        <p:grpSpPr bwMode="auto">
          <a:xfrm>
            <a:off x="8507414" y="4287838"/>
            <a:ext cx="554037" cy="279400"/>
            <a:chOff x="0" y="0"/>
            <a:chExt cx="360" cy="175"/>
          </a:xfrm>
        </p:grpSpPr>
        <p:sp>
          <p:nvSpPr>
            <p:cNvPr id="31944" name="Oval 201"/>
            <p:cNvSpPr>
              <a:spLocks noChangeArrowheads="1"/>
            </p:cNvSpPr>
            <p:nvPr/>
          </p:nvSpPr>
          <p:spPr bwMode="auto">
            <a:xfrm>
              <a:off x="3" y="78"/>
              <a:ext cx="357" cy="97"/>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1945" name="Line 202"/>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46" name="Line 203"/>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47" name="Rectangle 204"/>
            <p:cNvSpPr>
              <a:spLocks noChangeArrowheads="1"/>
            </p:cNvSpPr>
            <p:nvPr/>
          </p:nvSpPr>
          <p:spPr bwMode="auto">
            <a:xfrm>
              <a:off x="3" y="70"/>
              <a:ext cx="354" cy="59"/>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solidFill>
                  <a:schemeClr val="accent1"/>
                </a:solidFill>
                <a:ea typeface="华文楷体" panose="02010600040101010101" pitchFamily="2" charset="-122"/>
              </a:endParaRPr>
            </a:p>
          </p:txBody>
        </p:sp>
        <p:sp>
          <p:nvSpPr>
            <p:cNvPr id="31948" name="Oval 205"/>
            <p:cNvSpPr>
              <a:spLocks noChangeArrowheads="1"/>
            </p:cNvSpPr>
            <p:nvPr/>
          </p:nvSpPr>
          <p:spPr bwMode="auto">
            <a:xfrm>
              <a:off x="0" y="0"/>
              <a:ext cx="357" cy="113"/>
            </a:xfrm>
            <a:prstGeom prst="ellipse">
              <a:avLst/>
            </a:prstGeom>
            <a:solidFill>
              <a:srgbClr val="0000FF"/>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1949" name="Group 206"/>
            <p:cNvGrpSpPr>
              <a:grpSpLocks/>
            </p:cNvGrpSpPr>
            <p:nvPr/>
          </p:nvGrpSpPr>
          <p:grpSpPr bwMode="auto">
            <a:xfrm>
              <a:off x="86" y="25"/>
              <a:ext cx="177" cy="66"/>
              <a:chOff x="0" y="0"/>
              <a:chExt cx="140" cy="98"/>
            </a:xfrm>
          </p:grpSpPr>
          <p:sp>
            <p:nvSpPr>
              <p:cNvPr id="31950" name="Line 207"/>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51" name="Line 208"/>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52" name="Line 209"/>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1953" name="Group 210"/>
            <p:cNvGrpSpPr>
              <a:grpSpLocks/>
            </p:cNvGrpSpPr>
            <p:nvPr/>
          </p:nvGrpSpPr>
          <p:grpSpPr bwMode="auto">
            <a:xfrm flipV="1">
              <a:off x="86" y="24"/>
              <a:ext cx="177" cy="66"/>
              <a:chOff x="0" y="0"/>
              <a:chExt cx="140" cy="98"/>
            </a:xfrm>
          </p:grpSpPr>
          <p:sp>
            <p:nvSpPr>
              <p:cNvPr id="31954" name="Line 211"/>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55" name="Line 212"/>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56" name="Line 213"/>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sp>
        <p:nvSpPr>
          <p:cNvPr id="31957" name="Line 214"/>
          <p:cNvSpPr>
            <a:spLocks noChangeShapeType="1"/>
          </p:cNvSpPr>
          <p:nvPr/>
        </p:nvSpPr>
        <p:spPr bwMode="auto">
          <a:xfrm>
            <a:off x="8783639" y="4557713"/>
            <a:ext cx="1587" cy="27305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1958" name="Group 215"/>
          <p:cNvGrpSpPr>
            <a:grpSpLocks/>
          </p:cNvGrpSpPr>
          <p:nvPr/>
        </p:nvGrpSpPr>
        <p:grpSpPr bwMode="auto">
          <a:xfrm>
            <a:off x="8613776" y="5016500"/>
            <a:ext cx="1179513" cy="287338"/>
            <a:chOff x="0" y="0"/>
            <a:chExt cx="743" cy="181"/>
          </a:xfrm>
        </p:grpSpPr>
        <p:sp>
          <p:nvSpPr>
            <p:cNvPr id="31959" name="Oval 216"/>
            <p:cNvSpPr>
              <a:spLocks noChangeArrowheads="1"/>
            </p:cNvSpPr>
            <p:nvPr/>
          </p:nvSpPr>
          <p:spPr bwMode="auto">
            <a:xfrm rot="-5400000">
              <a:off x="-1" y="1"/>
              <a:ext cx="47" cy="4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960" name="Oval 217"/>
            <p:cNvSpPr>
              <a:spLocks noChangeArrowheads="1"/>
            </p:cNvSpPr>
            <p:nvPr/>
          </p:nvSpPr>
          <p:spPr bwMode="auto">
            <a:xfrm rot="-5400000">
              <a:off x="58" y="2"/>
              <a:ext cx="48" cy="4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961" name="Oval 218"/>
            <p:cNvSpPr>
              <a:spLocks noChangeArrowheads="1"/>
            </p:cNvSpPr>
            <p:nvPr/>
          </p:nvSpPr>
          <p:spPr bwMode="auto">
            <a:xfrm rot="-5400000">
              <a:off x="101" y="1"/>
              <a:ext cx="47" cy="4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1962" name="Line 219"/>
            <p:cNvSpPr>
              <a:spLocks noChangeShapeType="1"/>
            </p:cNvSpPr>
            <p:nvPr/>
          </p:nvSpPr>
          <p:spPr bwMode="auto">
            <a:xfrm>
              <a:off x="743" y="0"/>
              <a:ext cx="0" cy="17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1963" name="未知"/>
            <p:cNvSpPr>
              <a:spLocks noChangeArrowheads="1"/>
            </p:cNvSpPr>
            <p:nvPr/>
          </p:nvSpPr>
          <p:spPr bwMode="auto">
            <a:xfrm>
              <a:off x="572" y="94"/>
              <a:ext cx="41" cy="48"/>
            </a:xfrm>
            <a:custGeom>
              <a:avLst/>
              <a:gdLst>
                <a:gd name="T0" fmla="*/ 35 w 41"/>
                <a:gd name="T1" fmla="*/ 0 h 48"/>
                <a:gd name="T2" fmla="*/ 4 w 41"/>
                <a:gd name="T3" fmla="*/ 23 h 48"/>
                <a:gd name="T4" fmla="*/ 8 w 41"/>
                <a:gd name="T5" fmla="*/ 39 h 48"/>
                <a:gd name="T6" fmla="*/ 41 w 41"/>
                <a:gd name="T7" fmla="*/ 48 h 48"/>
              </a:gdLst>
              <a:ahLst/>
              <a:cxnLst>
                <a:cxn ang="0">
                  <a:pos x="T0" y="T1"/>
                </a:cxn>
                <a:cxn ang="0">
                  <a:pos x="T2" y="T3"/>
                </a:cxn>
                <a:cxn ang="0">
                  <a:pos x="T4" y="T5"/>
                </a:cxn>
                <a:cxn ang="0">
                  <a:pos x="T6" y="T7"/>
                </a:cxn>
              </a:cxnLst>
              <a:rect l="0" t="0" r="r" b="b"/>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64" name="未知"/>
            <p:cNvSpPr>
              <a:spLocks noChangeArrowheads="1"/>
            </p:cNvSpPr>
            <p:nvPr/>
          </p:nvSpPr>
          <p:spPr bwMode="auto">
            <a:xfrm>
              <a:off x="536" y="78"/>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Lst>
              <a:ahLst/>
              <a:cxnLst>
                <a:cxn ang="0">
                  <a:pos x="T0" y="T1"/>
                </a:cxn>
                <a:cxn ang="0">
                  <a:pos x="T2" y="T3"/>
                </a:cxn>
                <a:cxn ang="0">
                  <a:pos x="T4" y="T5"/>
                </a:cxn>
                <a:cxn ang="0">
                  <a:pos x="T6" y="T7"/>
                </a:cxn>
                <a:cxn ang="0">
                  <a:pos x="T8" y="T9"/>
                </a:cxn>
              </a:cxnLst>
              <a:rect l="0" t="0" r="r" b="b"/>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65" name="未知"/>
            <p:cNvSpPr>
              <a:spLocks noChangeArrowheads="1"/>
            </p:cNvSpPr>
            <p:nvPr/>
          </p:nvSpPr>
          <p:spPr bwMode="auto">
            <a:xfrm>
              <a:off x="501" y="68"/>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Lst>
              <a:ahLst/>
              <a:cxnLst>
                <a:cxn ang="0">
                  <a:pos x="T0" y="T1"/>
                </a:cxn>
                <a:cxn ang="0">
                  <a:pos x="T2" y="T3"/>
                </a:cxn>
                <a:cxn ang="0">
                  <a:pos x="T4" y="T5"/>
                </a:cxn>
                <a:cxn ang="0">
                  <a:pos x="T6" y="T7"/>
                </a:cxn>
                <a:cxn ang="0">
                  <a:pos x="T8" y="T9"/>
                </a:cxn>
              </a:cxnLst>
              <a:rect l="0" t="0" r="r" b="b"/>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66" name="未知"/>
            <p:cNvSpPr>
              <a:spLocks noChangeArrowheads="1"/>
            </p:cNvSpPr>
            <p:nvPr/>
          </p:nvSpPr>
          <p:spPr bwMode="auto">
            <a:xfrm flipH="1" flipV="1">
              <a:off x="629" y="85"/>
              <a:ext cx="41" cy="48"/>
            </a:xfrm>
            <a:custGeom>
              <a:avLst/>
              <a:gdLst>
                <a:gd name="T0" fmla="*/ 35 w 41"/>
                <a:gd name="T1" fmla="*/ 0 h 48"/>
                <a:gd name="T2" fmla="*/ 4 w 41"/>
                <a:gd name="T3" fmla="*/ 23 h 48"/>
                <a:gd name="T4" fmla="*/ 8 w 41"/>
                <a:gd name="T5" fmla="*/ 39 h 48"/>
                <a:gd name="T6" fmla="*/ 41 w 41"/>
                <a:gd name="T7" fmla="*/ 48 h 48"/>
              </a:gdLst>
              <a:ahLst/>
              <a:cxnLst>
                <a:cxn ang="0">
                  <a:pos x="T0" y="T1"/>
                </a:cxn>
                <a:cxn ang="0">
                  <a:pos x="T2" y="T3"/>
                </a:cxn>
                <a:cxn ang="0">
                  <a:pos x="T4" y="T5"/>
                </a:cxn>
                <a:cxn ang="0">
                  <a:pos x="T6" y="T7"/>
                </a:cxn>
              </a:cxnLst>
              <a:rect l="0" t="0" r="r" b="b"/>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67" name="未知"/>
            <p:cNvSpPr>
              <a:spLocks noChangeArrowheads="1"/>
            </p:cNvSpPr>
            <p:nvPr/>
          </p:nvSpPr>
          <p:spPr bwMode="auto">
            <a:xfrm flipH="1" flipV="1">
              <a:off x="646" y="69"/>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Lst>
              <a:ahLst/>
              <a:cxnLst>
                <a:cxn ang="0">
                  <a:pos x="T0" y="T1"/>
                </a:cxn>
                <a:cxn ang="0">
                  <a:pos x="T2" y="T3"/>
                </a:cxn>
                <a:cxn ang="0">
                  <a:pos x="T4" y="T5"/>
                </a:cxn>
                <a:cxn ang="0">
                  <a:pos x="T6" y="T7"/>
                </a:cxn>
                <a:cxn ang="0">
                  <a:pos x="T8" y="T9"/>
                </a:cxn>
              </a:cxnLst>
              <a:rect l="0" t="0" r="r" b="b"/>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68" name="未知"/>
            <p:cNvSpPr>
              <a:spLocks noChangeArrowheads="1"/>
            </p:cNvSpPr>
            <p:nvPr/>
          </p:nvSpPr>
          <p:spPr bwMode="auto">
            <a:xfrm flipH="1" flipV="1">
              <a:off x="660" y="47"/>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Lst>
              <a:ahLst/>
              <a:cxnLst>
                <a:cxn ang="0">
                  <a:pos x="T0" y="T1"/>
                </a:cxn>
                <a:cxn ang="0">
                  <a:pos x="T2" y="T3"/>
                </a:cxn>
                <a:cxn ang="0">
                  <a:pos x="T4" y="T5"/>
                </a:cxn>
                <a:cxn ang="0">
                  <a:pos x="T6" y="T7"/>
                </a:cxn>
                <a:cxn ang="0">
                  <a:pos x="T8" y="T9"/>
                </a:cxn>
              </a:cxnLst>
              <a:rect l="0" t="0" r="r" b="b"/>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pSp>
      <p:grpSp>
        <p:nvGrpSpPr>
          <p:cNvPr id="31969" name="Group 226"/>
          <p:cNvGrpSpPr>
            <a:grpSpLocks/>
          </p:cNvGrpSpPr>
          <p:nvPr/>
        </p:nvGrpSpPr>
        <p:grpSpPr bwMode="auto">
          <a:xfrm>
            <a:off x="9894888" y="5443539"/>
            <a:ext cx="368300" cy="212725"/>
            <a:chOff x="0" y="0"/>
            <a:chExt cx="232" cy="134"/>
          </a:xfrm>
        </p:grpSpPr>
        <p:sp>
          <p:nvSpPr>
            <p:cNvPr id="31970" name="未知"/>
            <p:cNvSpPr>
              <a:spLocks noChangeArrowheads="1"/>
            </p:cNvSpPr>
            <p:nvPr/>
          </p:nvSpPr>
          <p:spPr bwMode="auto">
            <a:xfrm>
              <a:off x="71" y="47"/>
              <a:ext cx="41" cy="48"/>
            </a:xfrm>
            <a:custGeom>
              <a:avLst/>
              <a:gdLst>
                <a:gd name="T0" fmla="*/ 35 w 41"/>
                <a:gd name="T1" fmla="*/ 0 h 48"/>
                <a:gd name="T2" fmla="*/ 4 w 41"/>
                <a:gd name="T3" fmla="*/ 23 h 48"/>
                <a:gd name="T4" fmla="*/ 8 w 41"/>
                <a:gd name="T5" fmla="*/ 39 h 48"/>
                <a:gd name="T6" fmla="*/ 41 w 41"/>
                <a:gd name="T7" fmla="*/ 48 h 48"/>
              </a:gdLst>
              <a:ahLst/>
              <a:cxnLst>
                <a:cxn ang="0">
                  <a:pos x="T0" y="T1"/>
                </a:cxn>
                <a:cxn ang="0">
                  <a:pos x="T2" y="T3"/>
                </a:cxn>
                <a:cxn ang="0">
                  <a:pos x="T4" y="T5"/>
                </a:cxn>
                <a:cxn ang="0">
                  <a:pos x="T6" y="T7"/>
                </a:cxn>
              </a:cxnLst>
              <a:rect l="0" t="0" r="r" b="b"/>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71" name="未知"/>
            <p:cNvSpPr>
              <a:spLocks noChangeArrowheads="1"/>
            </p:cNvSpPr>
            <p:nvPr/>
          </p:nvSpPr>
          <p:spPr bwMode="auto">
            <a:xfrm>
              <a:off x="35" y="31"/>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Lst>
              <a:ahLst/>
              <a:cxnLst>
                <a:cxn ang="0">
                  <a:pos x="T0" y="T1"/>
                </a:cxn>
                <a:cxn ang="0">
                  <a:pos x="T2" y="T3"/>
                </a:cxn>
                <a:cxn ang="0">
                  <a:pos x="T4" y="T5"/>
                </a:cxn>
                <a:cxn ang="0">
                  <a:pos x="T6" y="T7"/>
                </a:cxn>
                <a:cxn ang="0">
                  <a:pos x="T8" y="T9"/>
                </a:cxn>
              </a:cxnLst>
              <a:rect l="0" t="0" r="r" b="b"/>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72" name="未知"/>
            <p:cNvSpPr>
              <a:spLocks noChangeArrowheads="1"/>
            </p:cNvSpPr>
            <p:nvPr/>
          </p:nvSpPr>
          <p:spPr bwMode="auto">
            <a:xfrm>
              <a:off x="0" y="21"/>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Lst>
              <a:ahLst/>
              <a:cxnLst>
                <a:cxn ang="0">
                  <a:pos x="T0" y="T1"/>
                </a:cxn>
                <a:cxn ang="0">
                  <a:pos x="T2" y="T3"/>
                </a:cxn>
                <a:cxn ang="0">
                  <a:pos x="T4" y="T5"/>
                </a:cxn>
                <a:cxn ang="0">
                  <a:pos x="T6" y="T7"/>
                </a:cxn>
                <a:cxn ang="0">
                  <a:pos x="T8" y="T9"/>
                </a:cxn>
              </a:cxnLst>
              <a:rect l="0" t="0" r="r" b="b"/>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73" name="未知"/>
            <p:cNvSpPr>
              <a:spLocks noChangeArrowheads="1"/>
            </p:cNvSpPr>
            <p:nvPr/>
          </p:nvSpPr>
          <p:spPr bwMode="auto">
            <a:xfrm flipH="1" flipV="1">
              <a:off x="128" y="38"/>
              <a:ext cx="41" cy="48"/>
            </a:xfrm>
            <a:custGeom>
              <a:avLst/>
              <a:gdLst>
                <a:gd name="T0" fmla="*/ 35 w 41"/>
                <a:gd name="T1" fmla="*/ 0 h 48"/>
                <a:gd name="T2" fmla="*/ 4 w 41"/>
                <a:gd name="T3" fmla="*/ 23 h 48"/>
                <a:gd name="T4" fmla="*/ 8 w 41"/>
                <a:gd name="T5" fmla="*/ 39 h 48"/>
                <a:gd name="T6" fmla="*/ 41 w 41"/>
                <a:gd name="T7" fmla="*/ 48 h 48"/>
              </a:gdLst>
              <a:ahLst/>
              <a:cxnLst>
                <a:cxn ang="0">
                  <a:pos x="T0" y="T1"/>
                </a:cxn>
                <a:cxn ang="0">
                  <a:pos x="T2" y="T3"/>
                </a:cxn>
                <a:cxn ang="0">
                  <a:pos x="T4" y="T5"/>
                </a:cxn>
                <a:cxn ang="0">
                  <a:pos x="T6" y="T7"/>
                </a:cxn>
              </a:cxnLst>
              <a:rect l="0" t="0" r="r" b="b"/>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74" name="未知"/>
            <p:cNvSpPr>
              <a:spLocks noChangeArrowheads="1"/>
            </p:cNvSpPr>
            <p:nvPr/>
          </p:nvSpPr>
          <p:spPr bwMode="auto">
            <a:xfrm flipH="1" flipV="1">
              <a:off x="145" y="22"/>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Lst>
              <a:ahLst/>
              <a:cxnLst>
                <a:cxn ang="0">
                  <a:pos x="T0" y="T1"/>
                </a:cxn>
                <a:cxn ang="0">
                  <a:pos x="T2" y="T3"/>
                </a:cxn>
                <a:cxn ang="0">
                  <a:pos x="T4" y="T5"/>
                </a:cxn>
                <a:cxn ang="0">
                  <a:pos x="T6" y="T7"/>
                </a:cxn>
                <a:cxn ang="0">
                  <a:pos x="T8" y="T9"/>
                </a:cxn>
              </a:cxnLst>
              <a:rect l="0" t="0" r="r" b="b"/>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75" name="未知"/>
            <p:cNvSpPr>
              <a:spLocks noChangeArrowheads="1"/>
            </p:cNvSpPr>
            <p:nvPr/>
          </p:nvSpPr>
          <p:spPr bwMode="auto">
            <a:xfrm flipH="1" flipV="1">
              <a:off x="159" y="0"/>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Lst>
              <a:ahLst/>
              <a:cxnLst>
                <a:cxn ang="0">
                  <a:pos x="T0" y="T1"/>
                </a:cxn>
                <a:cxn ang="0">
                  <a:pos x="T2" y="T3"/>
                </a:cxn>
                <a:cxn ang="0">
                  <a:pos x="T4" y="T5"/>
                </a:cxn>
                <a:cxn ang="0">
                  <a:pos x="T6" y="T7"/>
                </a:cxn>
                <a:cxn ang="0">
                  <a:pos x="T8" y="T9"/>
                </a:cxn>
              </a:cxnLst>
              <a:rect l="0" t="0" r="r" b="b"/>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pSp>
      <p:grpSp>
        <p:nvGrpSpPr>
          <p:cNvPr id="31976" name="Group 233"/>
          <p:cNvGrpSpPr>
            <a:grpSpLocks/>
          </p:cNvGrpSpPr>
          <p:nvPr/>
        </p:nvGrpSpPr>
        <p:grpSpPr bwMode="auto">
          <a:xfrm>
            <a:off x="8990013" y="5395914"/>
            <a:ext cx="368300" cy="212725"/>
            <a:chOff x="0" y="0"/>
            <a:chExt cx="232" cy="134"/>
          </a:xfrm>
        </p:grpSpPr>
        <p:sp>
          <p:nvSpPr>
            <p:cNvPr id="31977" name="未知"/>
            <p:cNvSpPr>
              <a:spLocks noChangeArrowheads="1"/>
            </p:cNvSpPr>
            <p:nvPr/>
          </p:nvSpPr>
          <p:spPr bwMode="auto">
            <a:xfrm>
              <a:off x="71" y="47"/>
              <a:ext cx="41" cy="48"/>
            </a:xfrm>
            <a:custGeom>
              <a:avLst/>
              <a:gdLst>
                <a:gd name="T0" fmla="*/ 35 w 41"/>
                <a:gd name="T1" fmla="*/ 0 h 48"/>
                <a:gd name="T2" fmla="*/ 4 w 41"/>
                <a:gd name="T3" fmla="*/ 23 h 48"/>
                <a:gd name="T4" fmla="*/ 8 w 41"/>
                <a:gd name="T5" fmla="*/ 39 h 48"/>
                <a:gd name="T6" fmla="*/ 41 w 41"/>
                <a:gd name="T7" fmla="*/ 48 h 48"/>
              </a:gdLst>
              <a:ahLst/>
              <a:cxnLst>
                <a:cxn ang="0">
                  <a:pos x="T0" y="T1"/>
                </a:cxn>
                <a:cxn ang="0">
                  <a:pos x="T2" y="T3"/>
                </a:cxn>
                <a:cxn ang="0">
                  <a:pos x="T4" y="T5"/>
                </a:cxn>
                <a:cxn ang="0">
                  <a:pos x="T6" y="T7"/>
                </a:cxn>
              </a:cxnLst>
              <a:rect l="0" t="0" r="r" b="b"/>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78" name="未知"/>
            <p:cNvSpPr>
              <a:spLocks noChangeArrowheads="1"/>
            </p:cNvSpPr>
            <p:nvPr/>
          </p:nvSpPr>
          <p:spPr bwMode="auto">
            <a:xfrm>
              <a:off x="35" y="31"/>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Lst>
              <a:ahLst/>
              <a:cxnLst>
                <a:cxn ang="0">
                  <a:pos x="T0" y="T1"/>
                </a:cxn>
                <a:cxn ang="0">
                  <a:pos x="T2" y="T3"/>
                </a:cxn>
                <a:cxn ang="0">
                  <a:pos x="T4" y="T5"/>
                </a:cxn>
                <a:cxn ang="0">
                  <a:pos x="T6" y="T7"/>
                </a:cxn>
                <a:cxn ang="0">
                  <a:pos x="T8" y="T9"/>
                </a:cxn>
              </a:cxnLst>
              <a:rect l="0" t="0" r="r" b="b"/>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79" name="未知"/>
            <p:cNvSpPr>
              <a:spLocks noChangeArrowheads="1"/>
            </p:cNvSpPr>
            <p:nvPr/>
          </p:nvSpPr>
          <p:spPr bwMode="auto">
            <a:xfrm>
              <a:off x="0" y="21"/>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Lst>
              <a:ahLst/>
              <a:cxnLst>
                <a:cxn ang="0">
                  <a:pos x="T0" y="T1"/>
                </a:cxn>
                <a:cxn ang="0">
                  <a:pos x="T2" y="T3"/>
                </a:cxn>
                <a:cxn ang="0">
                  <a:pos x="T4" y="T5"/>
                </a:cxn>
                <a:cxn ang="0">
                  <a:pos x="T6" y="T7"/>
                </a:cxn>
                <a:cxn ang="0">
                  <a:pos x="T8" y="T9"/>
                </a:cxn>
              </a:cxnLst>
              <a:rect l="0" t="0" r="r" b="b"/>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80" name="未知"/>
            <p:cNvSpPr>
              <a:spLocks noChangeArrowheads="1"/>
            </p:cNvSpPr>
            <p:nvPr/>
          </p:nvSpPr>
          <p:spPr bwMode="auto">
            <a:xfrm flipH="1" flipV="1">
              <a:off x="128" y="38"/>
              <a:ext cx="41" cy="48"/>
            </a:xfrm>
            <a:custGeom>
              <a:avLst/>
              <a:gdLst>
                <a:gd name="T0" fmla="*/ 35 w 41"/>
                <a:gd name="T1" fmla="*/ 0 h 48"/>
                <a:gd name="T2" fmla="*/ 4 w 41"/>
                <a:gd name="T3" fmla="*/ 23 h 48"/>
                <a:gd name="T4" fmla="*/ 8 w 41"/>
                <a:gd name="T5" fmla="*/ 39 h 48"/>
                <a:gd name="T6" fmla="*/ 41 w 41"/>
                <a:gd name="T7" fmla="*/ 48 h 48"/>
              </a:gdLst>
              <a:ahLst/>
              <a:cxnLst>
                <a:cxn ang="0">
                  <a:pos x="T0" y="T1"/>
                </a:cxn>
                <a:cxn ang="0">
                  <a:pos x="T2" y="T3"/>
                </a:cxn>
                <a:cxn ang="0">
                  <a:pos x="T4" y="T5"/>
                </a:cxn>
                <a:cxn ang="0">
                  <a:pos x="T6" y="T7"/>
                </a:cxn>
              </a:cxnLst>
              <a:rect l="0" t="0" r="r" b="b"/>
              <a:pathLst>
                <a:path w="41" h="48">
                  <a:moveTo>
                    <a:pt x="35" y="0"/>
                  </a:moveTo>
                  <a:cubicBezTo>
                    <a:pt x="20" y="8"/>
                    <a:pt x="8" y="16"/>
                    <a:pt x="4" y="23"/>
                  </a:cubicBezTo>
                  <a:cubicBezTo>
                    <a:pt x="0" y="30"/>
                    <a:pt x="2" y="35"/>
                    <a:pt x="8" y="39"/>
                  </a:cubicBezTo>
                  <a:cubicBezTo>
                    <a:pt x="14" y="43"/>
                    <a:pt x="34" y="46"/>
                    <a:pt x="41" y="4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81" name="未知"/>
            <p:cNvSpPr>
              <a:spLocks noChangeArrowheads="1"/>
            </p:cNvSpPr>
            <p:nvPr/>
          </p:nvSpPr>
          <p:spPr bwMode="auto">
            <a:xfrm flipH="1" flipV="1">
              <a:off x="145" y="22"/>
              <a:ext cx="58" cy="82"/>
            </a:xfrm>
            <a:custGeom>
              <a:avLst/>
              <a:gdLst>
                <a:gd name="T0" fmla="*/ 40 w 58"/>
                <a:gd name="T1" fmla="*/ 0 h 82"/>
                <a:gd name="T2" fmla="*/ 5 w 58"/>
                <a:gd name="T3" fmla="*/ 33 h 82"/>
                <a:gd name="T4" fmla="*/ 7 w 58"/>
                <a:gd name="T5" fmla="*/ 55 h 82"/>
                <a:gd name="T6" fmla="*/ 28 w 58"/>
                <a:gd name="T7" fmla="*/ 75 h 82"/>
                <a:gd name="T8" fmla="*/ 58 w 58"/>
                <a:gd name="T9" fmla="*/ 82 h 82"/>
              </a:gdLst>
              <a:ahLst/>
              <a:cxnLst>
                <a:cxn ang="0">
                  <a:pos x="T0" y="T1"/>
                </a:cxn>
                <a:cxn ang="0">
                  <a:pos x="T2" y="T3"/>
                </a:cxn>
                <a:cxn ang="0">
                  <a:pos x="T4" y="T5"/>
                </a:cxn>
                <a:cxn ang="0">
                  <a:pos x="T6" y="T7"/>
                </a:cxn>
                <a:cxn ang="0">
                  <a:pos x="T8" y="T9"/>
                </a:cxn>
              </a:cxnLst>
              <a:rect l="0" t="0" r="r" b="b"/>
              <a:pathLst>
                <a:path w="58" h="82">
                  <a:moveTo>
                    <a:pt x="40" y="0"/>
                  </a:moveTo>
                  <a:cubicBezTo>
                    <a:pt x="34" y="5"/>
                    <a:pt x="10" y="24"/>
                    <a:pt x="5" y="33"/>
                  </a:cubicBezTo>
                  <a:cubicBezTo>
                    <a:pt x="0" y="42"/>
                    <a:pt x="3" y="48"/>
                    <a:pt x="7" y="55"/>
                  </a:cubicBezTo>
                  <a:cubicBezTo>
                    <a:pt x="11" y="62"/>
                    <a:pt x="20" y="71"/>
                    <a:pt x="28" y="75"/>
                  </a:cubicBezTo>
                  <a:cubicBezTo>
                    <a:pt x="36" y="79"/>
                    <a:pt x="52" y="81"/>
                    <a:pt x="58" y="8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31982" name="未知"/>
            <p:cNvSpPr>
              <a:spLocks noChangeArrowheads="1"/>
            </p:cNvSpPr>
            <p:nvPr/>
          </p:nvSpPr>
          <p:spPr bwMode="auto">
            <a:xfrm flipH="1" flipV="1">
              <a:off x="159" y="0"/>
              <a:ext cx="73" cy="113"/>
            </a:xfrm>
            <a:custGeom>
              <a:avLst/>
              <a:gdLst>
                <a:gd name="T0" fmla="*/ 46 w 73"/>
                <a:gd name="T1" fmla="*/ 0 h 113"/>
                <a:gd name="T2" fmla="*/ 11 w 73"/>
                <a:gd name="T3" fmla="*/ 33 h 113"/>
                <a:gd name="T4" fmla="*/ 3 w 73"/>
                <a:gd name="T5" fmla="*/ 67 h 113"/>
                <a:gd name="T6" fmla="*/ 27 w 73"/>
                <a:gd name="T7" fmla="*/ 95 h 113"/>
                <a:gd name="T8" fmla="*/ 73 w 73"/>
                <a:gd name="T9" fmla="*/ 113 h 113"/>
              </a:gdLst>
              <a:ahLst/>
              <a:cxnLst>
                <a:cxn ang="0">
                  <a:pos x="T0" y="T1"/>
                </a:cxn>
                <a:cxn ang="0">
                  <a:pos x="T2" y="T3"/>
                </a:cxn>
                <a:cxn ang="0">
                  <a:pos x="T4" y="T5"/>
                </a:cxn>
                <a:cxn ang="0">
                  <a:pos x="T6" y="T7"/>
                </a:cxn>
                <a:cxn ang="0">
                  <a:pos x="T8" y="T9"/>
                </a:cxn>
              </a:cxnLst>
              <a:rect l="0" t="0" r="r" b="b"/>
              <a:pathLst>
                <a:path w="73" h="113">
                  <a:moveTo>
                    <a:pt x="46" y="0"/>
                  </a:moveTo>
                  <a:cubicBezTo>
                    <a:pt x="40" y="5"/>
                    <a:pt x="18" y="22"/>
                    <a:pt x="11" y="33"/>
                  </a:cubicBezTo>
                  <a:cubicBezTo>
                    <a:pt x="4" y="44"/>
                    <a:pt x="0" y="57"/>
                    <a:pt x="3" y="67"/>
                  </a:cubicBezTo>
                  <a:cubicBezTo>
                    <a:pt x="6" y="77"/>
                    <a:pt x="15" y="87"/>
                    <a:pt x="27" y="95"/>
                  </a:cubicBezTo>
                  <a:cubicBezTo>
                    <a:pt x="39" y="103"/>
                    <a:pt x="64" y="109"/>
                    <a:pt x="73" y="113"/>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97" name="Rectangle 30"/>
          <p:cNvSpPr>
            <a:spLocks noGrp="1" noChangeArrowheads="1"/>
          </p:cNvSpPr>
          <p:nvPr>
            <p:ph type="title"/>
          </p:nvPr>
        </p:nvSpPr>
        <p:spPr>
          <a:xfrm>
            <a:off x="2209800" y="207963"/>
            <a:ext cx="7772400" cy="646112"/>
          </a:xfrm>
        </p:spPr>
        <p:txBody>
          <a:bodyPr>
            <a:normAutofit fontScale="90000"/>
          </a:bodyPr>
          <a:lstStyle/>
          <a:p>
            <a:pPr algn="ctr" eaLnBrk="1" hangingPunct="1"/>
            <a:r>
              <a:rPr lang="zh-CN" altLang="zh-CN" sz="4400">
                <a:ea typeface="华文楷体" panose="02010600040101010101" pitchFamily="2" charset="-122"/>
              </a:rPr>
              <a:t>住宅小区接入 ：点到点访问</a:t>
            </a:r>
          </a:p>
        </p:txBody>
      </p:sp>
      <p:sp>
        <p:nvSpPr>
          <p:cNvPr id="32769" name="Rectangle 2"/>
          <p:cNvSpPr>
            <a:spLocks noGrp="1" noChangeArrowheads="1"/>
          </p:cNvSpPr>
          <p:nvPr>
            <p:ph sz="half" idx="1"/>
          </p:nvPr>
        </p:nvSpPr>
        <p:spPr>
          <a:xfrm>
            <a:off x="4487863" y="1519238"/>
            <a:ext cx="5905500" cy="4997450"/>
          </a:xfrm>
          <a:solidFill>
            <a:srgbClr val="DDDDDD"/>
          </a:solidFill>
          <a:ln>
            <a:solidFill>
              <a:srgbClr val="CCFFFF"/>
            </a:solidFill>
            <a:miter lim="800000"/>
            <a:headEnd/>
            <a:tailEnd/>
          </a:ln>
          <a:effectLst>
            <a:outerShdw dist="107763" dir="2700000" algn="ctr" rotWithShape="0">
              <a:schemeClr val="bg2"/>
            </a:outerShdw>
          </a:effectLst>
        </p:spPr>
        <p:txBody>
          <a:bodyPr/>
          <a:lstStyle/>
          <a:p>
            <a:pPr eaLnBrk="1" hangingPunct="1"/>
            <a:r>
              <a:rPr lang="zh-CN" altLang="zh-CN" sz="2000">
                <a:solidFill>
                  <a:schemeClr val="accent1"/>
                </a:solidFill>
                <a:ea typeface="华文楷体" panose="02010600040101010101" pitchFamily="2" charset="-122"/>
              </a:rPr>
              <a:t> </a:t>
            </a:r>
            <a:r>
              <a:rPr lang="zh-CN" altLang="zh-CN" sz="3200">
                <a:solidFill>
                  <a:schemeClr val="accent1"/>
                </a:solidFill>
                <a:ea typeface="华文楷体" panose="02010600040101010101" pitchFamily="2" charset="-122"/>
              </a:rPr>
              <a:t>modem拨号</a:t>
            </a:r>
          </a:p>
          <a:p>
            <a:pPr lvl="1" eaLnBrk="1" hangingPunct="1"/>
            <a:r>
              <a:rPr lang="zh-CN" altLang="zh-CN">
                <a:solidFill>
                  <a:schemeClr val="accent1"/>
                </a:solidFill>
                <a:ea typeface="华文楷体" panose="02010600040101010101" pitchFamily="2" charset="-122"/>
              </a:rPr>
              <a:t>56Kbps，直接接入到路由器 </a:t>
            </a:r>
          </a:p>
          <a:p>
            <a:pPr lvl="1" eaLnBrk="1" hangingPunct="1"/>
            <a:r>
              <a:rPr lang="zh-CN" altLang="zh-CN" sz="3200" u="sng">
                <a:solidFill>
                  <a:schemeClr val="accent1"/>
                </a:solidFill>
                <a:ea typeface="华文楷体" panose="02010600040101010101" pitchFamily="2" charset="-122"/>
              </a:rPr>
              <a:t>ISDN：</a:t>
            </a:r>
            <a:r>
              <a:rPr lang="zh-CN" altLang="zh-CN" sz="2200">
                <a:solidFill>
                  <a:schemeClr val="accent1"/>
                </a:solidFill>
                <a:ea typeface="华文楷体" panose="02010600040101010101" pitchFamily="2" charset="-122"/>
              </a:rPr>
              <a:t> </a:t>
            </a:r>
            <a:r>
              <a:rPr lang="zh-CN" altLang="zh-CN">
                <a:solidFill>
                  <a:schemeClr val="accent1"/>
                </a:solidFill>
                <a:ea typeface="华文楷体" panose="02010600040101010101" pitchFamily="2" charset="-122"/>
              </a:rPr>
              <a:t>integrated services digital network： 128Kbps ，全数字连接到路由器 </a:t>
            </a:r>
          </a:p>
          <a:p>
            <a:pPr eaLnBrk="1" hangingPunct="1"/>
            <a:r>
              <a:rPr lang="zh-CN" altLang="zh-CN" sz="3200" u="sng">
                <a:solidFill>
                  <a:schemeClr val="accent1"/>
                </a:solidFill>
                <a:ea typeface="华文楷体" panose="02010600040101010101" pitchFamily="2" charset="-122"/>
              </a:rPr>
              <a:t>Dedicated</a:t>
            </a:r>
            <a:r>
              <a:rPr lang="zh-CN" altLang="zh-CN" sz="2400">
                <a:solidFill>
                  <a:schemeClr val="accent1"/>
                </a:solidFill>
                <a:ea typeface="华文楷体" panose="02010600040101010101" pitchFamily="2" charset="-122"/>
              </a:rPr>
              <a:t>（专线，DDN，FR） </a:t>
            </a:r>
          </a:p>
          <a:p>
            <a:pPr eaLnBrk="1" hangingPunct="1"/>
            <a:r>
              <a:rPr lang="zh-CN" altLang="zh-CN" sz="3200" u="sng">
                <a:solidFill>
                  <a:schemeClr val="accent1"/>
                </a:solidFill>
                <a:ea typeface="华文楷体" panose="02010600040101010101" pitchFamily="2" charset="-122"/>
              </a:rPr>
              <a:t>ADSL</a:t>
            </a:r>
            <a:r>
              <a:rPr lang="zh-CN" altLang="zh-CN" sz="2400" u="sng">
                <a:solidFill>
                  <a:schemeClr val="accent1"/>
                </a:solidFill>
                <a:ea typeface="华文楷体" panose="02010600040101010101" pitchFamily="2" charset="-122"/>
              </a:rPr>
              <a:t>：</a:t>
            </a:r>
            <a:r>
              <a:rPr lang="zh-CN" altLang="zh-CN" sz="2400">
                <a:solidFill>
                  <a:schemeClr val="accent1"/>
                </a:solidFill>
                <a:ea typeface="华文楷体" panose="02010600040101010101" pitchFamily="2" charset="-122"/>
              </a:rPr>
              <a:t> asymmetric digital subscriber line</a:t>
            </a:r>
          </a:p>
          <a:p>
            <a:pPr lvl="1" eaLnBrk="1" hangingPunct="1"/>
            <a:r>
              <a:rPr lang="zh-CN" altLang="zh-CN">
                <a:solidFill>
                  <a:schemeClr val="accent1"/>
                </a:solidFill>
                <a:ea typeface="华文楷体" panose="02010600040101010101" pitchFamily="2" charset="-122"/>
              </a:rPr>
              <a:t>上行：1 Mbps home-to-router</a:t>
            </a:r>
          </a:p>
          <a:p>
            <a:pPr lvl="1" eaLnBrk="1" hangingPunct="1"/>
            <a:r>
              <a:rPr lang="zh-CN" altLang="zh-CN">
                <a:solidFill>
                  <a:schemeClr val="accent1"/>
                </a:solidFill>
                <a:ea typeface="华文楷体" panose="02010600040101010101" pitchFamily="2" charset="-122"/>
              </a:rPr>
              <a:t>下行：8Mbps router-to-home</a:t>
            </a:r>
          </a:p>
          <a:p>
            <a:pPr lvl="1" eaLnBrk="1" hangingPunct="1"/>
            <a:r>
              <a:rPr lang="zh-CN" altLang="zh-CN">
                <a:solidFill>
                  <a:schemeClr val="accent1"/>
                </a:solidFill>
                <a:ea typeface="华文楷体" panose="02010600040101010101" pitchFamily="2" charset="-122"/>
              </a:rPr>
              <a:t>ADSL 发展很快</a:t>
            </a:r>
          </a:p>
        </p:txBody>
      </p:sp>
      <p:grpSp>
        <p:nvGrpSpPr>
          <p:cNvPr id="32770" name="Group 3"/>
          <p:cNvGrpSpPr>
            <a:grpSpLocks/>
          </p:cNvGrpSpPr>
          <p:nvPr/>
        </p:nvGrpSpPr>
        <p:grpSpPr bwMode="auto">
          <a:xfrm>
            <a:off x="1619250" y="1806575"/>
            <a:ext cx="2757488" cy="1993900"/>
            <a:chOff x="0" y="0"/>
            <a:chExt cx="1016" cy="691"/>
          </a:xfrm>
        </p:grpSpPr>
        <p:graphicFrame>
          <p:nvGraphicFramePr>
            <p:cNvPr id="32771" name="Object 4"/>
            <p:cNvGraphicFramePr>
              <a:graphicFrameLocks noChangeAspect="1"/>
            </p:cNvGraphicFramePr>
            <p:nvPr/>
          </p:nvGraphicFramePr>
          <p:xfrm>
            <a:off x="0" y="0"/>
            <a:ext cx="290" cy="241"/>
          </p:xfrm>
          <a:graphic>
            <a:graphicData uri="http://schemas.openxmlformats.org/presentationml/2006/ole">
              <mc:AlternateContent xmlns:mc="http://schemas.openxmlformats.org/markup-compatibility/2006">
                <mc:Choice xmlns:v="urn:schemas-microsoft-com:vml" Requires="v">
                  <p:oleObj spid="_x0000_s33430" r:id="rId3" imgW="1305626" imgH="1082835" progId="MS_ClipArt_Gallery.2">
                    <p:embed/>
                  </p:oleObj>
                </mc:Choice>
                <mc:Fallback>
                  <p:oleObj r:id="rId3" imgW="1305626" imgH="1082835" progId="MS_ClipArt_Gallery.2">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0"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772" name="Object 5"/>
            <p:cNvGraphicFramePr>
              <a:graphicFrameLocks noChangeAspect="1"/>
            </p:cNvGraphicFramePr>
            <p:nvPr/>
          </p:nvGraphicFramePr>
          <p:xfrm>
            <a:off x="316" y="89"/>
            <a:ext cx="195" cy="140"/>
          </p:xfrm>
          <a:graphic>
            <a:graphicData uri="http://schemas.openxmlformats.org/presentationml/2006/ole">
              <mc:AlternateContent xmlns:mc="http://schemas.openxmlformats.org/markup-compatibility/2006">
                <mc:Choice xmlns:v="urn:schemas-microsoft-com:vml" Requires="v">
                  <p:oleObj spid="_x0000_s33431" r:id="rId5" imgW="682023" imgH="480718" progId="MS_ClipArt_Gallery.2">
                    <p:embed/>
                  </p:oleObj>
                </mc:Choice>
                <mc:Fallback>
                  <p:oleObj r:id="rId5" imgW="682023" imgH="480718" progId="MS_ClipArt_Gallery.2">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 y="89"/>
                          <a:ext cx="195"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3" name="Line 6"/>
            <p:cNvSpPr>
              <a:spLocks noChangeShapeType="1"/>
            </p:cNvSpPr>
            <p:nvPr/>
          </p:nvSpPr>
          <p:spPr bwMode="auto">
            <a:xfrm flipV="1">
              <a:off x="283" y="183"/>
              <a:ext cx="80" cy="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32774" name="Object 7"/>
            <p:cNvGraphicFramePr>
              <a:graphicFrameLocks noChangeAspect="1"/>
            </p:cNvGraphicFramePr>
            <p:nvPr/>
          </p:nvGraphicFramePr>
          <p:xfrm>
            <a:off x="0" y="450"/>
            <a:ext cx="290" cy="241"/>
          </p:xfrm>
          <a:graphic>
            <a:graphicData uri="http://schemas.openxmlformats.org/presentationml/2006/ole">
              <mc:AlternateContent xmlns:mc="http://schemas.openxmlformats.org/markup-compatibility/2006">
                <mc:Choice xmlns:v="urn:schemas-microsoft-com:vml" Requires="v">
                  <p:oleObj spid="_x0000_s33432" r:id="rId7" imgW="1305626" imgH="1082835" progId="MS_ClipArt_Gallery.2">
                    <p:embed/>
                  </p:oleObj>
                </mc:Choice>
                <mc:Fallback>
                  <p:oleObj r:id="rId7" imgW="1305626" imgH="1082835"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0"/>
                          <a:ext cx="290"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775" name="Object 8"/>
            <p:cNvGraphicFramePr>
              <a:graphicFrameLocks noChangeAspect="1"/>
            </p:cNvGraphicFramePr>
            <p:nvPr/>
          </p:nvGraphicFramePr>
          <p:xfrm>
            <a:off x="316" y="539"/>
            <a:ext cx="195" cy="140"/>
          </p:xfrm>
          <a:graphic>
            <a:graphicData uri="http://schemas.openxmlformats.org/presentationml/2006/ole">
              <mc:AlternateContent xmlns:mc="http://schemas.openxmlformats.org/markup-compatibility/2006">
                <mc:Choice xmlns:v="urn:schemas-microsoft-com:vml" Requires="v">
                  <p:oleObj spid="_x0000_s33433" r:id="rId8" imgW="682023" imgH="480718" progId="MS_ClipArt_Gallery.2">
                    <p:embed/>
                  </p:oleObj>
                </mc:Choice>
                <mc:Fallback>
                  <p:oleObj r:id="rId8" imgW="682023" imgH="480718" progId="MS_ClipArt_Gallery.2">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 y="539"/>
                          <a:ext cx="195"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6" name="Line 9"/>
            <p:cNvSpPr>
              <a:spLocks noChangeShapeType="1"/>
            </p:cNvSpPr>
            <p:nvPr/>
          </p:nvSpPr>
          <p:spPr bwMode="auto">
            <a:xfrm flipV="1">
              <a:off x="283" y="633"/>
              <a:ext cx="80" cy="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2777" name="Group 10"/>
            <p:cNvGrpSpPr>
              <a:grpSpLocks/>
            </p:cNvGrpSpPr>
            <p:nvPr/>
          </p:nvGrpSpPr>
          <p:grpSpPr bwMode="auto">
            <a:xfrm>
              <a:off x="262" y="289"/>
              <a:ext cx="49" cy="162"/>
              <a:chOff x="0" y="0"/>
              <a:chExt cx="51" cy="167"/>
            </a:xfrm>
          </p:grpSpPr>
          <p:sp>
            <p:nvSpPr>
              <p:cNvPr id="32778" name="Oval 11"/>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2779" name="Oval 12"/>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32780" name="Oval 13"/>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32781" name="Line 14"/>
            <p:cNvSpPr>
              <a:spLocks noChangeShapeType="1"/>
            </p:cNvSpPr>
            <p:nvPr/>
          </p:nvSpPr>
          <p:spPr bwMode="auto">
            <a:xfrm>
              <a:off x="476" y="192"/>
              <a:ext cx="201" cy="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2782" name="Line 15"/>
            <p:cNvSpPr>
              <a:spLocks noChangeShapeType="1"/>
            </p:cNvSpPr>
            <p:nvPr/>
          </p:nvSpPr>
          <p:spPr bwMode="auto">
            <a:xfrm flipV="1">
              <a:off x="484" y="408"/>
              <a:ext cx="193" cy="249"/>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32783" name="Group 16"/>
            <p:cNvGrpSpPr>
              <a:grpSpLocks/>
            </p:cNvGrpSpPr>
            <p:nvPr/>
          </p:nvGrpSpPr>
          <p:grpSpPr bwMode="auto">
            <a:xfrm>
              <a:off x="667" y="304"/>
              <a:ext cx="349" cy="176"/>
              <a:chOff x="0" y="0"/>
              <a:chExt cx="360" cy="175"/>
            </a:xfrm>
          </p:grpSpPr>
          <p:sp>
            <p:nvSpPr>
              <p:cNvPr id="32784" name="Oval 17"/>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32785" name="Line 18"/>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2786" name="Line 19"/>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2787" name="Rectangle 20"/>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solidFill>
                    <a:schemeClr val="accent1"/>
                  </a:solidFill>
                  <a:ea typeface="华文楷体" panose="02010600040101010101" pitchFamily="2" charset="-122"/>
                </a:endParaRPr>
              </a:p>
            </p:txBody>
          </p:sp>
          <p:sp>
            <p:nvSpPr>
              <p:cNvPr id="32788" name="Oval 21"/>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32789" name="Group 22"/>
              <p:cNvGrpSpPr>
                <a:grpSpLocks/>
              </p:cNvGrpSpPr>
              <p:nvPr/>
            </p:nvGrpSpPr>
            <p:grpSpPr bwMode="auto">
              <a:xfrm>
                <a:off x="86" y="25"/>
                <a:ext cx="177" cy="66"/>
                <a:chOff x="0" y="0"/>
                <a:chExt cx="140" cy="98"/>
              </a:xfrm>
            </p:grpSpPr>
            <p:sp>
              <p:nvSpPr>
                <p:cNvPr id="32790" name="Line 23"/>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2791" name="Line 24"/>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2792" name="Line 25"/>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32793" name="Group 26"/>
              <p:cNvGrpSpPr>
                <a:grpSpLocks/>
              </p:cNvGrpSpPr>
              <p:nvPr/>
            </p:nvGrpSpPr>
            <p:grpSpPr bwMode="auto">
              <a:xfrm flipV="1">
                <a:off x="86" y="24"/>
                <a:ext cx="177" cy="66"/>
                <a:chOff x="0" y="0"/>
                <a:chExt cx="140" cy="98"/>
              </a:xfrm>
            </p:grpSpPr>
            <p:sp>
              <p:nvSpPr>
                <p:cNvPr id="32794" name="Line 27"/>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2795" name="Line 28"/>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32796" name="Line 29"/>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gr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2209800" y="238126"/>
            <a:ext cx="7772400" cy="549275"/>
          </a:xfrm>
        </p:spPr>
        <p:txBody>
          <a:bodyPr>
            <a:normAutofit fontScale="90000"/>
          </a:bodyPr>
          <a:lstStyle/>
          <a:p>
            <a:pPr algn="ctr" eaLnBrk="1" hangingPunct="1"/>
            <a:r>
              <a:rPr lang="zh-CN" altLang="zh-CN" sz="4400" b="0">
                <a:ea typeface="华文楷体" panose="02010600040101010101" pitchFamily="2" charset="-122"/>
              </a:rPr>
              <a:t>xDSL技术</a:t>
            </a:r>
          </a:p>
        </p:txBody>
      </p:sp>
      <p:sp>
        <p:nvSpPr>
          <p:cNvPr id="33794" name="Text Box 3"/>
          <p:cNvSpPr txBox="1">
            <a:spLocks noChangeArrowheads="1"/>
          </p:cNvSpPr>
          <p:nvPr/>
        </p:nvSpPr>
        <p:spPr bwMode="auto">
          <a:xfrm>
            <a:off x="2152650" y="1770063"/>
            <a:ext cx="7886700" cy="3477875"/>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zh-CN" altLang="zh-CN" sz="4000">
                <a:solidFill>
                  <a:srgbClr val="003399"/>
                </a:solidFill>
                <a:ea typeface="华文楷体" panose="02010600040101010101" pitchFamily="2" charset="-122"/>
              </a:rPr>
              <a:t>xDSL技术的引入</a:t>
            </a:r>
          </a:p>
          <a:p>
            <a:pPr eaLnBrk="0" hangingPunct="0">
              <a:spcBef>
                <a:spcPct val="50000"/>
              </a:spcBef>
            </a:pPr>
            <a:r>
              <a:rPr lang="zh-CN" altLang="zh-CN" sz="2400">
                <a:solidFill>
                  <a:schemeClr val="accent1"/>
                </a:solidFill>
                <a:ea typeface="华文楷体" panose="02010600040101010101" pitchFamily="2" charset="-122"/>
              </a:rPr>
              <a:t>　　数字用户线（xDSL：Digital Subscriber Line）是美国贝尔通信研究所于1989年为推动视频点播（VOD）业务开发出的用户线高速传输技术，后因VOD业务受挫而被搁置了很长一段时间。近年来Internet和Intranet迅速发展，对固定连接的高速用户线需求日益高涨，基于双绞铜线的xDSL技术因其以低成本实现用户线高速化而重新崛起，打破了高速通信由光纤独揽的局面。 </a:t>
            </a: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a:xfrm>
            <a:off x="2209800" y="190500"/>
            <a:ext cx="7772400" cy="598488"/>
          </a:xfrm>
        </p:spPr>
        <p:txBody>
          <a:bodyPr>
            <a:normAutofit fontScale="90000"/>
          </a:bodyPr>
          <a:lstStyle/>
          <a:p>
            <a:pPr algn="ctr" eaLnBrk="1" hangingPunct="1"/>
            <a:r>
              <a:rPr lang="zh-CN" altLang="zh-CN" sz="4400">
                <a:ea typeface="华文楷体" panose="02010600040101010101" pitchFamily="2" charset="-122"/>
              </a:rPr>
              <a:t>xDSL技术</a:t>
            </a:r>
          </a:p>
        </p:txBody>
      </p:sp>
      <p:sp>
        <p:nvSpPr>
          <p:cNvPr id="34818" name="Text Box 3"/>
          <p:cNvSpPr txBox="1">
            <a:spLocks noChangeArrowheads="1"/>
          </p:cNvSpPr>
          <p:nvPr/>
        </p:nvSpPr>
        <p:spPr bwMode="auto">
          <a:xfrm>
            <a:off x="2198689" y="1498601"/>
            <a:ext cx="7793037" cy="461665"/>
          </a:xfrm>
          <a:prstGeom prst="rect">
            <a:avLst/>
          </a:prstGeom>
          <a:solidFill>
            <a:srgbClr val="B2B2B2"/>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zh-CN" altLang="zh-CN" sz="2400">
                <a:solidFill>
                  <a:srgbClr val="003399"/>
                </a:solidFill>
                <a:ea typeface="华文楷体" panose="02010600040101010101" pitchFamily="2" charset="-122"/>
              </a:rPr>
              <a:t>传统Modem与xDSL技术的比较</a:t>
            </a:r>
            <a:r>
              <a:rPr lang="zh-CN" altLang="zh-CN" sz="2400">
                <a:solidFill>
                  <a:srgbClr val="3333FF"/>
                </a:solidFill>
                <a:ea typeface="华文楷体" panose="02010600040101010101" pitchFamily="2" charset="-122"/>
              </a:rPr>
              <a:t> </a:t>
            </a:r>
          </a:p>
        </p:txBody>
      </p:sp>
      <p:sp>
        <p:nvSpPr>
          <p:cNvPr id="34819" name="Rectangle 4"/>
          <p:cNvSpPr>
            <a:spLocks noChangeArrowheads="1"/>
          </p:cNvSpPr>
          <p:nvPr/>
        </p:nvSpPr>
        <p:spPr bwMode="auto">
          <a:xfrm>
            <a:off x="4395788" y="250031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endParaRPr lang="zh-CN" altLang="en-US">
              <a:latin typeface="Times New Roman" panose="02020603050405020304" pitchFamily="18" charset="0"/>
            </a:endParaRPr>
          </a:p>
        </p:txBody>
      </p:sp>
      <p:pic>
        <p:nvPicPr>
          <p:cNvPr id="34821" name="Picture 5" descr="9804t10.gif (17053 bytes)"/>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005013" y="2282825"/>
            <a:ext cx="8208962"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34821"/>
                                        </p:tgtEl>
                                        <p:attrNameLst>
                                          <p:attrName>style.visibility</p:attrName>
                                        </p:attrNameLst>
                                      </p:cBhvr>
                                      <p:to>
                                        <p:strVal val="visible"/>
                                      </p:to>
                                    </p:set>
                                    <p:anim calcmode="lin" valueType="num">
                                      <p:cBhvr additive="base">
                                        <p:cTn id="7" dur="500" fill="hold"/>
                                        <p:tgtEl>
                                          <p:spTgt spid="34821"/>
                                        </p:tgtEl>
                                        <p:attrNameLst>
                                          <p:attrName>ppt_x</p:attrName>
                                        </p:attrNameLst>
                                      </p:cBhvr>
                                      <p:tavLst>
                                        <p:tav tm="0">
                                          <p:val>
                                            <p:strVal val="1+#ppt_w/2"/>
                                          </p:val>
                                        </p:tav>
                                        <p:tav tm="100000">
                                          <p:val>
                                            <p:strVal val="#ppt_x"/>
                                          </p:val>
                                        </p:tav>
                                      </p:tavLst>
                                    </p:anim>
                                    <p:anim calcmode="lin" valueType="num">
                                      <p:cBhvr additive="base">
                                        <p:cTn id="8" dur="500" fill="hold"/>
                                        <p:tgtEl>
                                          <p:spTgt spid="348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2209800" y="184151"/>
            <a:ext cx="7772400" cy="677863"/>
          </a:xfrm>
        </p:spPr>
        <p:txBody>
          <a:bodyPr>
            <a:normAutofit fontScale="90000"/>
          </a:bodyPr>
          <a:lstStyle/>
          <a:p>
            <a:pPr algn="ctr" eaLnBrk="1" hangingPunct="1"/>
            <a:r>
              <a:rPr lang="zh-CN" altLang="zh-CN" sz="4400">
                <a:ea typeface="华文楷体" panose="02010600040101010101" pitchFamily="2" charset="-122"/>
              </a:rPr>
              <a:t>分离器的功能</a:t>
            </a:r>
          </a:p>
        </p:txBody>
      </p:sp>
      <p:sp>
        <p:nvSpPr>
          <p:cNvPr id="35842" name="Rectangle 3"/>
          <p:cNvSpPr>
            <a:spLocks noChangeArrowheads="1"/>
          </p:cNvSpPr>
          <p:nvPr/>
        </p:nvSpPr>
        <p:spPr bwMode="auto">
          <a:xfrm>
            <a:off x="3586163" y="232410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endParaRPr lang="zh-CN" altLang="en-US">
              <a:latin typeface="Times New Roman" panose="02020603050405020304" pitchFamily="18" charset="0"/>
            </a:endParaRPr>
          </a:p>
        </p:txBody>
      </p:sp>
      <p:sp>
        <p:nvSpPr>
          <p:cNvPr id="35844" name="Text Box 4"/>
          <p:cNvSpPr txBox="1">
            <a:spLocks noChangeArrowheads="1"/>
          </p:cNvSpPr>
          <p:nvPr/>
        </p:nvSpPr>
        <p:spPr bwMode="auto">
          <a:xfrm>
            <a:off x="797442" y="1420813"/>
            <a:ext cx="10717617" cy="4616648"/>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0" hangingPunct="0">
              <a:spcBef>
                <a:spcPct val="50000"/>
              </a:spcBef>
            </a:pPr>
            <a:r>
              <a:rPr lang="zh-CN" altLang="zh-CN" sz="2800">
                <a:solidFill>
                  <a:schemeClr val="accent1"/>
                </a:solidFill>
                <a:ea typeface="华文楷体" panose="02010600040101010101" pitchFamily="2" charset="-122"/>
              </a:rPr>
              <a:t>xDSL Modem内部结构与V</a:t>
            </a:r>
            <a:r>
              <a:rPr lang="en-US" altLang="zh-CN" sz="2800">
                <a:solidFill>
                  <a:schemeClr val="accent1"/>
                </a:solidFill>
                <a:ea typeface="华文楷体" panose="02010600040101010101" pitchFamily="2" charset="-122"/>
              </a:rPr>
              <a:t>.</a:t>
            </a:r>
            <a:r>
              <a:rPr lang="zh-CN" altLang="zh-CN" sz="2800">
                <a:solidFill>
                  <a:schemeClr val="accent1"/>
                </a:solidFill>
                <a:ea typeface="华文楷体" panose="02010600040101010101" pitchFamily="2" charset="-122"/>
              </a:rPr>
              <a:t>34等模拟Modem几乎相同。主要由处理D/A变换的模拟前端（analog front end）、进行调制/解调处理的数字信号处理器（DSP）以及减小数字信号发送功率和传输误差，利用</a:t>
            </a:r>
            <a:r>
              <a:rPr lang="zh-CN" altLang="zh-CN" sz="2800">
                <a:solidFill>
                  <a:schemeClr val="accent1"/>
                </a:solidFill>
                <a:latin typeface="Times New Roman" panose="02020603050405020304" pitchFamily="18" charset="0"/>
                <a:ea typeface="华文楷体" panose="02010600040101010101" pitchFamily="2" charset="-122"/>
              </a:rPr>
              <a:t>“</a:t>
            </a:r>
            <a:r>
              <a:rPr lang="zh-CN" altLang="zh-CN" sz="2800">
                <a:solidFill>
                  <a:schemeClr val="accent1"/>
                </a:solidFill>
                <a:ea typeface="华文楷体" panose="02010600040101010101" pitchFamily="2" charset="-122"/>
              </a:rPr>
              <a:t>网格编码</a:t>
            </a:r>
            <a:r>
              <a:rPr lang="zh-CN" altLang="zh-CN" sz="2800">
                <a:solidFill>
                  <a:schemeClr val="accent1"/>
                </a:solidFill>
                <a:latin typeface="Times New Roman" panose="02020603050405020304" pitchFamily="18" charset="0"/>
                <a:ea typeface="华文楷体" panose="02010600040101010101" pitchFamily="2" charset="-122"/>
              </a:rPr>
              <a:t>”</a:t>
            </a:r>
            <a:r>
              <a:rPr lang="zh-CN" altLang="zh-CN" sz="2800">
                <a:solidFill>
                  <a:schemeClr val="accent1"/>
                </a:solidFill>
                <a:ea typeface="华文楷体" panose="02010600040101010101" pitchFamily="2" charset="-122"/>
              </a:rPr>
              <a:t>和</a:t>
            </a:r>
            <a:r>
              <a:rPr lang="zh-CN" altLang="zh-CN" sz="2800">
                <a:solidFill>
                  <a:schemeClr val="accent1"/>
                </a:solidFill>
                <a:latin typeface="Times New Roman" panose="02020603050405020304" pitchFamily="18" charset="0"/>
                <a:ea typeface="华文楷体" panose="02010600040101010101" pitchFamily="2" charset="-122"/>
              </a:rPr>
              <a:t>“</a:t>
            </a:r>
            <a:r>
              <a:rPr lang="zh-CN" altLang="zh-CN" sz="2800">
                <a:solidFill>
                  <a:schemeClr val="accent1"/>
                </a:solidFill>
                <a:ea typeface="华文楷体" panose="02010600040101010101" pitchFamily="2" charset="-122"/>
              </a:rPr>
              <a:t>交织处理</a:t>
            </a:r>
            <a:r>
              <a:rPr lang="zh-CN" altLang="zh-CN" sz="2800">
                <a:solidFill>
                  <a:schemeClr val="accent1"/>
                </a:solidFill>
                <a:latin typeface="Times New Roman" panose="02020603050405020304" pitchFamily="18" charset="0"/>
                <a:ea typeface="华文楷体" panose="02010600040101010101" pitchFamily="2" charset="-122"/>
              </a:rPr>
              <a:t>”</a:t>
            </a:r>
            <a:r>
              <a:rPr lang="zh-CN" altLang="zh-CN" sz="2800">
                <a:solidFill>
                  <a:schemeClr val="accent1"/>
                </a:solidFill>
                <a:ea typeface="华文楷体" panose="02010600040101010101" pitchFamily="2" charset="-122"/>
              </a:rPr>
              <a:t>实现差错校正的数字接口构成。</a:t>
            </a:r>
          </a:p>
          <a:p>
            <a:pPr eaLnBrk="0" hangingPunct="0">
              <a:spcBef>
                <a:spcPct val="50000"/>
              </a:spcBef>
            </a:pPr>
            <a:r>
              <a:rPr lang="zh-CN" altLang="zh-CN" sz="2800">
                <a:solidFill>
                  <a:schemeClr val="accent1"/>
                </a:solidFill>
                <a:ea typeface="华文楷体" panose="02010600040101010101" pitchFamily="2" charset="-122"/>
              </a:rPr>
              <a:t>交换局端的xDSL Modem产品大多具有多路复用功能（DSLAM：DSL Access Multiplexer）。各条xDSL线路传来的信号在DSLAM中进行复用，通过高速接口向主干网侧的路由器等设备转发，这种配置可节省路由器的端口，布线也得到简化。目前已有将数条xDSL线路集束成一条10BASE-T的产品和将交换机架上全部数据综合成155 Mbit/s  ATM端口的产品。</a:t>
            </a:r>
            <a:r>
              <a:rPr lang="zh-CN" altLang="zh-CN" sz="2000">
                <a:solidFill>
                  <a:schemeClr val="accent1"/>
                </a:solidFill>
                <a:ea typeface="华文楷体" panose="02010600040101010101" pitchFamily="2" charset="-122"/>
              </a:rPr>
              <a:t>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5844">
                                            <p:bg/>
                                          </p:spTgt>
                                        </p:tgtEl>
                                        <p:attrNameLst>
                                          <p:attrName>style.visibility</p:attrName>
                                        </p:attrNameLst>
                                      </p:cBhvr>
                                      <p:to>
                                        <p:strVal val="visible"/>
                                      </p:to>
                                    </p:set>
                                    <p:anim calcmode="lin" valueType="num">
                                      <p:cBhvr additive="base">
                                        <p:cTn id="7" dur="500" fill="hold"/>
                                        <p:tgtEl>
                                          <p:spTgt spid="35844">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35844">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5844">
                                            <p:txEl>
                                              <p:pRg st="0" end="0"/>
                                            </p:txEl>
                                          </p:spTgt>
                                        </p:tgtEl>
                                        <p:attrNameLst>
                                          <p:attrName>style.visibility</p:attrName>
                                        </p:attrNameLst>
                                      </p:cBhvr>
                                      <p:to>
                                        <p:strVal val="visible"/>
                                      </p:to>
                                    </p:set>
                                    <p:anim calcmode="lin" valueType="num">
                                      <p:cBhvr additive="base">
                                        <p:cTn id="13" dur="500" fill="hold"/>
                                        <p:tgtEl>
                                          <p:spTgt spid="35844">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584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5844">
                                            <p:txEl>
                                              <p:pRg st="1" end="1"/>
                                            </p:txEl>
                                          </p:spTgt>
                                        </p:tgtEl>
                                        <p:attrNameLst>
                                          <p:attrName>style.visibility</p:attrName>
                                        </p:attrNameLst>
                                      </p:cBhvr>
                                      <p:to>
                                        <p:strVal val="visible"/>
                                      </p:to>
                                    </p:set>
                                    <p:anim calcmode="lin" valueType="num">
                                      <p:cBhvr additive="base">
                                        <p:cTn id="19" dur="500" fill="hold"/>
                                        <p:tgtEl>
                                          <p:spTgt spid="35844">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584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3581401" y="201614"/>
            <a:ext cx="5027613" cy="555625"/>
          </a:xfrm>
        </p:spPr>
        <p:txBody>
          <a:bodyPr>
            <a:normAutofit fontScale="90000"/>
          </a:bodyPr>
          <a:lstStyle/>
          <a:p>
            <a:pPr algn="ctr" eaLnBrk="1" hangingPunct="1"/>
            <a:r>
              <a:rPr lang="zh-CN" altLang="zh-CN" sz="4400" b="0">
                <a:latin typeface="华文新魏" panose="02010800040101010101" pitchFamily="2" charset="-122"/>
                <a:ea typeface="华文新魏" panose="02010800040101010101" pitchFamily="2" charset="-122"/>
              </a:rPr>
              <a:t>分离器的功能</a:t>
            </a:r>
          </a:p>
        </p:txBody>
      </p:sp>
      <p:pic>
        <p:nvPicPr>
          <p:cNvPr id="36866" name="Picture 3" descr="9804t11.gif (28839 bytes)"/>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003425" y="1482725"/>
            <a:ext cx="8185150" cy="476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3402014" y="193676"/>
            <a:ext cx="5386387" cy="639763"/>
          </a:xfrm>
        </p:spPr>
        <p:txBody>
          <a:bodyPr>
            <a:normAutofit fontScale="90000"/>
          </a:bodyPr>
          <a:lstStyle/>
          <a:p>
            <a:pPr algn="ctr" eaLnBrk="1" hangingPunct="1"/>
            <a:r>
              <a:rPr lang="zh-CN" altLang="en-US" sz="4400">
                <a:ea typeface="华文楷体" panose="02010600040101010101" pitchFamily="2" charset="-122"/>
              </a:rPr>
              <a:t>ADSL技术</a:t>
            </a:r>
          </a:p>
        </p:txBody>
      </p:sp>
      <p:sp>
        <p:nvSpPr>
          <p:cNvPr id="37891" name="Text Box 3"/>
          <p:cNvSpPr txBox="1">
            <a:spLocks noChangeArrowheads="1"/>
          </p:cNvSpPr>
          <p:nvPr/>
        </p:nvSpPr>
        <p:spPr bwMode="auto">
          <a:xfrm>
            <a:off x="749300" y="1390651"/>
            <a:ext cx="11074399" cy="3447098"/>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182563">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buClr>
                <a:schemeClr val="folHlink"/>
              </a:buClr>
              <a:buFont typeface="Arial" panose="020B0604020202020204" pitchFamily="34" charset="0"/>
              <a:buChar char="•"/>
            </a:pPr>
            <a:r>
              <a:rPr lang="zh-CN" altLang="en-US" sz="3200">
                <a:solidFill>
                  <a:srgbClr val="003399"/>
                </a:solidFill>
                <a:latin typeface="华文楷体" panose="02010600040101010101" pitchFamily="2" charset="-122"/>
                <a:ea typeface="华文楷体" panose="02010600040101010101" pitchFamily="2" charset="-122"/>
              </a:rPr>
              <a:t>ADSL（非对称DSL）</a:t>
            </a:r>
            <a:r>
              <a:rPr lang="zh-CN" altLang="en-US" sz="2400" i="1">
                <a:solidFill>
                  <a:srgbClr val="000099"/>
                </a:solidFill>
              </a:rPr>
              <a:t>Asymmetrical Digital Subscriber Line</a:t>
            </a:r>
            <a:br>
              <a:rPr lang="zh-CN" altLang="en-US" sz="2400">
                <a:solidFill>
                  <a:srgbClr val="003399"/>
                </a:solidFill>
                <a:latin typeface="华文楷体" panose="02010600040101010101" pitchFamily="2" charset="-122"/>
                <a:ea typeface="华文楷体" panose="02010600040101010101" pitchFamily="2" charset="-122"/>
              </a:rPr>
            </a:br>
            <a:r>
              <a:rPr lang="zh-CN" altLang="en-US" sz="3200">
                <a:solidFill>
                  <a:srgbClr val="003399"/>
                </a:solidFill>
                <a:latin typeface="华文楷体" panose="02010600040101010101" pitchFamily="2" charset="-122"/>
                <a:ea typeface="华文楷体" panose="02010600040101010101" pitchFamily="2" charset="-122"/>
              </a:rPr>
              <a:t>      </a:t>
            </a:r>
            <a:r>
              <a:rPr lang="zh-CN" altLang="en-US" b="0">
                <a:solidFill>
                  <a:schemeClr val="accent1"/>
                </a:solidFill>
                <a:latin typeface="华文楷体" panose="02010600040101010101" pitchFamily="2" charset="-122"/>
                <a:ea typeface="华文楷体" panose="02010600040101010101" pitchFamily="2" charset="-122"/>
              </a:rPr>
              <a:t>ADSL是一种非对称技术，下传（NSP→用户）速率1.5～8Mbps；上传（用户→NSP）速率为640kbps～1.54Mbps。使用一对双绞线，线路最大长度18000英尺（5486m）。该技术适用于 Internet访问、视频点播、局域网远程访问等场合，因为这些应用的下传数据通常多于上传数据</a:t>
            </a:r>
          </a:p>
          <a:p>
            <a:pPr eaLnBrk="0" hangingPunct="0">
              <a:spcBef>
                <a:spcPct val="50000"/>
              </a:spcBef>
              <a:buClr>
                <a:schemeClr val="folHlink"/>
              </a:buClr>
              <a:buFont typeface="Arial" panose="020B0604020202020204" pitchFamily="34" charset="0"/>
              <a:buChar char="•"/>
            </a:pPr>
            <a:r>
              <a:rPr lang="en-US" altLang="zh-CN" b="0">
                <a:solidFill>
                  <a:schemeClr val="accent1"/>
                </a:solidFill>
                <a:latin typeface="华文楷体" panose="02010600040101010101" pitchFamily="2" charset="-122"/>
                <a:ea typeface="华文楷体" panose="02010600040101010101" pitchFamily="2" charset="-122"/>
              </a:rPr>
              <a:t>DSL</a:t>
            </a:r>
            <a:r>
              <a:rPr lang="zh-CN" altLang="en-US" b="0">
                <a:solidFill>
                  <a:schemeClr val="accent1"/>
                </a:solidFill>
                <a:latin typeface="华文楷体" panose="02010600040101010101" pitchFamily="2" charset="-122"/>
                <a:ea typeface="华文楷体" panose="02010600040101010101" pitchFamily="2" charset="-122"/>
              </a:rPr>
              <a:t>技术目前用于光纤到户，但上传与下载带宽仍然是不均衡的。</a:t>
            </a:r>
            <a:endParaRPr lang="zh-CN" altLang="en-US" sz="3200">
              <a:solidFill>
                <a:schemeClr val="accent1"/>
              </a:solidFill>
              <a:latin typeface="华文楷体" panose="02010600040101010101" pitchFamily="2" charset="-122"/>
              <a:ea typeface="华文楷体" panose="0201060004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7891">
                                            <p:bg/>
                                          </p:spTgt>
                                        </p:tgtEl>
                                        <p:attrNameLst>
                                          <p:attrName>style.visibility</p:attrName>
                                        </p:attrNameLst>
                                      </p:cBhvr>
                                      <p:to>
                                        <p:strVal val="visible"/>
                                      </p:to>
                                    </p:set>
                                    <p:anim calcmode="lin" valueType="num">
                                      <p:cBhvr additive="base">
                                        <p:cTn id="7" dur="500" fill="hold"/>
                                        <p:tgtEl>
                                          <p:spTgt spid="37891">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37891">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7891">
                                            <p:txEl>
                                              <p:pRg st="0" end="0"/>
                                            </p:txEl>
                                          </p:spTgt>
                                        </p:tgtEl>
                                        <p:attrNameLst>
                                          <p:attrName>style.visibility</p:attrName>
                                        </p:attrNameLst>
                                      </p:cBhvr>
                                      <p:to>
                                        <p:strVal val="visible"/>
                                      </p:to>
                                    </p:set>
                                    <p:anim calcmode="lin" valueType="num">
                                      <p:cBhvr additive="base">
                                        <p:cTn id="13" dur="500" fill="hold"/>
                                        <p:tgtEl>
                                          <p:spTgt spid="37891">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78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7891">
                                            <p:txEl>
                                              <p:pRg st="1" end="1"/>
                                            </p:txEl>
                                          </p:spTgt>
                                        </p:tgtEl>
                                        <p:attrNameLst>
                                          <p:attrName>style.visibility</p:attrName>
                                        </p:attrNameLst>
                                      </p:cBhvr>
                                      <p:to>
                                        <p:strVal val="visible"/>
                                      </p:to>
                                    </p:set>
                                    <p:anim calcmode="lin" valueType="num">
                                      <p:cBhvr additive="base">
                                        <p:cTn id="19" dur="500" fill="hold"/>
                                        <p:tgtEl>
                                          <p:spTgt spid="37891">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789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4" name="Rectangle 55"/>
          <p:cNvSpPr>
            <a:spLocks noGrp="1" noChangeArrowheads="1"/>
          </p:cNvSpPr>
          <p:nvPr>
            <p:ph type="title"/>
          </p:nvPr>
        </p:nvSpPr>
        <p:spPr>
          <a:xfrm>
            <a:off x="3436938" y="193676"/>
            <a:ext cx="5300662" cy="752475"/>
          </a:xfrm>
        </p:spPr>
        <p:txBody>
          <a:bodyPr/>
          <a:lstStyle/>
          <a:p>
            <a:pPr algn="ctr" eaLnBrk="1" hangingPunct="1"/>
            <a:r>
              <a:rPr lang="zh-CN" altLang="zh-CN" sz="4400">
                <a:ea typeface="华文楷体" panose="02010600040101010101" pitchFamily="2" charset="-122"/>
              </a:rPr>
              <a:t>单位接入： LAN</a:t>
            </a:r>
          </a:p>
        </p:txBody>
      </p:sp>
      <p:sp>
        <p:nvSpPr>
          <p:cNvPr id="40961" name="Rectangle 2"/>
          <p:cNvSpPr>
            <a:spLocks noGrp="1" noChangeArrowheads="1"/>
          </p:cNvSpPr>
          <p:nvPr>
            <p:ph sz="half" idx="1"/>
          </p:nvPr>
        </p:nvSpPr>
        <p:spPr>
          <a:xfrm>
            <a:off x="5062539" y="1601789"/>
            <a:ext cx="5146675" cy="4814887"/>
          </a:xfrm>
          <a:solidFill>
            <a:srgbClr val="DDDDDD"/>
          </a:solidFill>
          <a:ln>
            <a:solidFill>
              <a:srgbClr val="CCFFFF"/>
            </a:solidFill>
            <a:miter lim="800000"/>
            <a:headEnd/>
            <a:tailEnd/>
          </a:ln>
          <a:effectLst>
            <a:outerShdw dist="107763" dir="2700000" algn="ctr" rotWithShape="0">
              <a:schemeClr val="bg2"/>
            </a:outerShdw>
          </a:effectLst>
        </p:spPr>
        <p:txBody>
          <a:bodyPr/>
          <a:lstStyle/>
          <a:p>
            <a:pPr eaLnBrk="1" hangingPunct="1"/>
            <a:r>
              <a:rPr lang="zh-CN" altLang="zh-CN" sz="3200" b="0">
                <a:solidFill>
                  <a:schemeClr val="accent1"/>
                </a:solidFill>
                <a:ea typeface="华文楷体" panose="02010600040101010101" pitchFamily="2" charset="-122"/>
              </a:rPr>
              <a:t>公司/学校一般通过LAN连接端系统到边界路由器</a:t>
            </a:r>
          </a:p>
          <a:p>
            <a:pPr eaLnBrk="1" hangingPunct="1"/>
            <a:r>
              <a:rPr lang="zh-CN" altLang="zh-CN" sz="3200" b="0">
                <a:solidFill>
                  <a:schemeClr val="accent1"/>
                </a:solidFill>
                <a:ea typeface="华文楷体" panose="02010600040101010101" pitchFamily="2" charset="-122"/>
              </a:rPr>
              <a:t>Ethernet： </a:t>
            </a:r>
          </a:p>
          <a:p>
            <a:pPr lvl="1" eaLnBrk="1" hangingPunct="1"/>
            <a:r>
              <a:rPr lang="zh-CN" altLang="zh-CN" sz="3000">
                <a:solidFill>
                  <a:schemeClr val="accent1"/>
                </a:solidFill>
                <a:ea typeface="华文楷体" panose="02010600040101010101" pitchFamily="2" charset="-122"/>
              </a:rPr>
              <a:t>用共享或专用电缆来连接端系统到路由器 </a:t>
            </a:r>
          </a:p>
          <a:p>
            <a:pPr lvl="1" eaLnBrk="1" hangingPunct="1"/>
            <a:r>
              <a:rPr lang="zh-CN" altLang="zh-CN" sz="3000">
                <a:solidFill>
                  <a:schemeClr val="accent1"/>
                </a:solidFill>
                <a:ea typeface="华文楷体" panose="02010600040101010101" pitchFamily="2" charset="-122"/>
              </a:rPr>
              <a:t>10 Mbs， 100Mbps， Gigabit Ethernet</a:t>
            </a:r>
          </a:p>
          <a:p>
            <a:pPr eaLnBrk="1" hangingPunct="1"/>
            <a:r>
              <a:rPr lang="zh-CN" altLang="zh-CN" sz="3200" b="0">
                <a:solidFill>
                  <a:schemeClr val="accent1"/>
                </a:solidFill>
                <a:ea typeface="华文楷体" panose="02010600040101010101" pitchFamily="2" charset="-122"/>
              </a:rPr>
              <a:t>应用： </a:t>
            </a:r>
            <a:r>
              <a:rPr lang="zh-CN" altLang="zh-CN" b="0">
                <a:solidFill>
                  <a:schemeClr val="accent1"/>
                </a:solidFill>
                <a:ea typeface="华文楷体" panose="02010600040101010101" pitchFamily="2" charset="-122"/>
              </a:rPr>
              <a:t>单位，home LANs （正在逐渐普及）</a:t>
            </a:r>
            <a:r>
              <a:rPr lang="zh-CN" altLang="zh-CN" sz="3200" b="0">
                <a:solidFill>
                  <a:schemeClr val="accent1"/>
                </a:solidFill>
                <a:ea typeface="华文楷体" panose="02010600040101010101" pitchFamily="2" charset="-122"/>
              </a:rPr>
              <a:t> </a:t>
            </a:r>
            <a:endParaRPr lang="zh-CN" altLang="zh-CN" b="0">
              <a:solidFill>
                <a:schemeClr val="accent1"/>
              </a:solidFill>
              <a:ea typeface="华文楷体" panose="02010600040101010101" pitchFamily="2" charset="-122"/>
            </a:endParaRPr>
          </a:p>
        </p:txBody>
      </p:sp>
      <p:grpSp>
        <p:nvGrpSpPr>
          <p:cNvPr id="40962" name="Group 3"/>
          <p:cNvGrpSpPr>
            <a:grpSpLocks/>
          </p:cNvGrpSpPr>
          <p:nvPr/>
        </p:nvGrpSpPr>
        <p:grpSpPr bwMode="auto">
          <a:xfrm>
            <a:off x="1879601" y="1703389"/>
            <a:ext cx="2798763" cy="2351087"/>
            <a:chOff x="0" y="0"/>
            <a:chExt cx="1355" cy="1013"/>
          </a:xfrm>
        </p:grpSpPr>
        <p:graphicFrame>
          <p:nvGraphicFramePr>
            <p:cNvPr id="40963" name="Object 4"/>
            <p:cNvGraphicFramePr>
              <a:graphicFrameLocks noChangeAspect="1"/>
            </p:cNvGraphicFramePr>
            <p:nvPr/>
          </p:nvGraphicFramePr>
          <p:xfrm>
            <a:off x="0" y="0"/>
            <a:ext cx="290" cy="250"/>
          </p:xfrm>
          <a:graphic>
            <a:graphicData uri="http://schemas.openxmlformats.org/presentationml/2006/ole">
              <mc:AlternateContent xmlns:mc="http://schemas.openxmlformats.org/markup-compatibility/2006">
                <mc:Choice xmlns:v="urn:schemas-microsoft-com:vml" Requires="v">
                  <p:oleObj spid="_x0000_s41647" r:id="rId3" imgW="1305626" imgH="1082835" progId="MS_ClipArt_Gallery.2">
                    <p:embed/>
                  </p:oleObj>
                </mc:Choice>
                <mc:Fallback>
                  <p:oleObj r:id="rId3" imgW="1305626" imgH="1082835" progId="MS_ClipArt_Gallery.2">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4" name="Line 5"/>
            <p:cNvSpPr>
              <a:spLocks noChangeShapeType="1"/>
            </p:cNvSpPr>
            <p:nvPr/>
          </p:nvSpPr>
          <p:spPr bwMode="auto">
            <a:xfrm flipV="1">
              <a:off x="284" y="186"/>
              <a:ext cx="50" cy="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40965" name="Object 6"/>
            <p:cNvGraphicFramePr>
              <a:graphicFrameLocks noChangeAspect="1"/>
            </p:cNvGraphicFramePr>
            <p:nvPr/>
          </p:nvGraphicFramePr>
          <p:xfrm>
            <a:off x="0" y="449"/>
            <a:ext cx="290" cy="250"/>
          </p:xfrm>
          <a:graphic>
            <a:graphicData uri="http://schemas.openxmlformats.org/presentationml/2006/ole">
              <mc:AlternateContent xmlns:mc="http://schemas.openxmlformats.org/markup-compatibility/2006">
                <mc:Choice xmlns:v="urn:schemas-microsoft-com:vml" Requires="v">
                  <p:oleObj spid="_x0000_s41648" r:id="rId5" imgW="1305626" imgH="1082835" progId="MS_ClipArt_Gallery.2">
                    <p:embed/>
                  </p:oleObj>
                </mc:Choice>
                <mc:Fallback>
                  <p:oleObj r:id="rId5" imgW="1305626" imgH="1082835" progId="MS_ClipArt_Gallery.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49"/>
                          <a:ext cx="2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6" name="Line 7"/>
            <p:cNvSpPr>
              <a:spLocks noChangeShapeType="1"/>
            </p:cNvSpPr>
            <p:nvPr/>
          </p:nvSpPr>
          <p:spPr bwMode="auto">
            <a:xfrm flipV="1">
              <a:off x="284" y="639"/>
              <a:ext cx="50" cy="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40967" name="Group 8"/>
            <p:cNvGrpSpPr>
              <a:grpSpLocks/>
            </p:cNvGrpSpPr>
            <p:nvPr/>
          </p:nvGrpSpPr>
          <p:grpSpPr bwMode="auto">
            <a:xfrm>
              <a:off x="87" y="258"/>
              <a:ext cx="50" cy="168"/>
              <a:chOff x="0" y="0"/>
              <a:chExt cx="51" cy="167"/>
            </a:xfrm>
          </p:grpSpPr>
          <p:sp>
            <p:nvSpPr>
              <p:cNvPr id="40968" name="Oval 9"/>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40969" name="Oval 10"/>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40970" name="Oval 11"/>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40971" name="Line 12"/>
            <p:cNvSpPr>
              <a:spLocks noChangeShapeType="1"/>
            </p:cNvSpPr>
            <p:nvPr/>
          </p:nvSpPr>
          <p:spPr bwMode="auto">
            <a:xfrm>
              <a:off x="330" y="184"/>
              <a:ext cx="0" cy="45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aphicFrame>
          <p:nvGraphicFramePr>
            <p:cNvPr id="40972" name="Object 13"/>
            <p:cNvGraphicFramePr>
              <a:graphicFrameLocks noChangeAspect="1"/>
            </p:cNvGraphicFramePr>
            <p:nvPr/>
          </p:nvGraphicFramePr>
          <p:xfrm>
            <a:off x="605" y="763"/>
            <a:ext cx="291" cy="250"/>
          </p:xfrm>
          <a:graphic>
            <a:graphicData uri="http://schemas.openxmlformats.org/presentationml/2006/ole">
              <mc:AlternateContent xmlns:mc="http://schemas.openxmlformats.org/markup-compatibility/2006">
                <mc:Choice xmlns:v="urn:schemas-microsoft-com:vml" Requires="v">
                  <p:oleObj spid="_x0000_s41649" r:id="rId6" imgW="1305626" imgH="1082835" progId="MS_ClipArt_Gallery.2">
                    <p:embed/>
                  </p:oleObj>
                </mc:Choice>
                <mc:Fallback>
                  <p:oleObj r:id="rId6" imgW="1305626" imgH="1082835" progId="MS_ClipArt_Gallery.2">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 y="763"/>
                          <a:ext cx="2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973" name="Object 14"/>
            <p:cNvGraphicFramePr>
              <a:graphicFrameLocks noChangeAspect="1"/>
            </p:cNvGraphicFramePr>
            <p:nvPr/>
          </p:nvGraphicFramePr>
          <p:xfrm>
            <a:off x="177" y="754"/>
            <a:ext cx="289" cy="250"/>
          </p:xfrm>
          <a:graphic>
            <a:graphicData uri="http://schemas.openxmlformats.org/presentationml/2006/ole">
              <mc:AlternateContent xmlns:mc="http://schemas.openxmlformats.org/markup-compatibility/2006">
                <mc:Choice xmlns:v="urn:schemas-microsoft-com:vml" Requires="v">
                  <p:oleObj spid="_x0000_s41650" r:id="rId7" imgW="1305626" imgH="1082835" progId="MS_ClipArt_Gallery.2">
                    <p:embed/>
                  </p:oleObj>
                </mc:Choice>
                <mc:Fallback>
                  <p:oleObj r:id="rId7" imgW="1305626" imgH="1082835" progId="MS_ClipArt_Gallery.2">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 y="754"/>
                          <a:ext cx="2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74" name="Line 15"/>
            <p:cNvSpPr>
              <a:spLocks noChangeShapeType="1"/>
            </p:cNvSpPr>
            <p:nvPr/>
          </p:nvSpPr>
          <p:spPr bwMode="auto">
            <a:xfrm rot="-5400000">
              <a:off x="749" y="733"/>
              <a:ext cx="46" cy="1"/>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0975" name="Line 16"/>
            <p:cNvSpPr>
              <a:spLocks noChangeShapeType="1"/>
            </p:cNvSpPr>
            <p:nvPr/>
          </p:nvSpPr>
          <p:spPr bwMode="auto">
            <a:xfrm rot="5400000" flipH="1">
              <a:off x="323" y="738"/>
              <a:ext cx="4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0976" name="Line 17"/>
            <p:cNvSpPr>
              <a:spLocks noChangeShapeType="1"/>
            </p:cNvSpPr>
            <p:nvPr/>
          </p:nvSpPr>
          <p:spPr bwMode="auto">
            <a:xfrm rot="16200000" flipV="1">
              <a:off x="556" y="488"/>
              <a:ext cx="0" cy="43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0977" name="Line 18"/>
            <p:cNvSpPr>
              <a:spLocks noChangeShapeType="1"/>
            </p:cNvSpPr>
            <p:nvPr/>
          </p:nvSpPr>
          <p:spPr bwMode="auto">
            <a:xfrm>
              <a:off x="328" y="432"/>
              <a:ext cx="71" cy="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40978" name="Group 19"/>
            <p:cNvGrpSpPr>
              <a:grpSpLocks/>
            </p:cNvGrpSpPr>
            <p:nvPr/>
          </p:nvGrpSpPr>
          <p:grpSpPr bwMode="auto">
            <a:xfrm>
              <a:off x="1015" y="570"/>
              <a:ext cx="145" cy="309"/>
              <a:chOff x="0" y="0"/>
              <a:chExt cx="150" cy="307"/>
            </a:xfrm>
          </p:grpSpPr>
          <p:sp>
            <p:nvSpPr>
              <p:cNvPr id="40979" name="AutoShape 20"/>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40980" name="Rectangle 21"/>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40981" name="Rectangle 22"/>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40982" name="AutoShape 23"/>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40983" name="Line 24"/>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0984" name="Line 25"/>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0985" name="Rectangle 26"/>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40986" name="Rectangle 27"/>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grpSp>
          <p:nvGrpSpPr>
            <p:cNvPr id="40987" name="Group 28"/>
            <p:cNvGrpSpPr>
              <a:grpSpLocks/>
            </p:cNvGrpSpPr>
            <p:nvPr/>
          </p:nvGrpSpPr>
          <p:grpSpPr bwMode="auto">
            <a:xfrm>
              <a:off x="1210" y="570"/>
              <a:ext cx="145" cy="309"/>
              <a:chOff x="0" y="0"/>
              <a:chExt cx="150" cy="307"/>
            </a:xfrm>
          </p:grpSpPr>
          <p:sp>
            <p:nvSpPr>
              <p:cNvPr id="40988" name="AutoShape 29"/>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40989" name="Rectangle 30"/>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sp>
            <p:nvSpPr>
              <p:cNvPr id="40990" name="Rectangle 31"/>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40991" name="AutoShape 32"/>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40992" name="Line 33"/>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0993" name="Line 34"/>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0994" name="Rectangle 35"/>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sp>
            <p:nvSpPr>
              <p:cNvPr id="40995" name="Rectangle 36"/>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en-US">
                  <a:latin typeface="Times New Roman" panose="02020603050405020304" pitchFamily="18" charset="0"/>
                </a:endParaRPr>
              </a:p>
            </p:txBody>
          </p:sp>
        </p:grpSp>
        <p:sp>
          <p:nvSpPr>
            <p:cNvPr id="40996" name="Line 37"/>
            <p:cNvSpPr>
              <a:spLocks noChangeShapeType="1"/>
            </p:cNvSpPr>
            <p:nvPr/>
          </p:nvSpPr>
          <p:spPr bwMode="auto">
            <a:xfrm rot="-5400000">
              <a:off x="1021" y="192"/>
              <a:ext cx="0" cy="54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0997" name="Line 38"/>
            <p:cNvSpPr>
              <a:spLocks noChangeShapeType="1"/>
            </p:cNvSpPr>
            <p:nvPr/>
          </p:nvSpPr>
          <p:spPr bwMode="auto">
            <a:xfrm rot="-5400000">
              <a:off x="1057" y="519"/>
              <a:ext cx="12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40998" name="Group 39"/>
            <p:cNvGrpSpPr>
              <a:grpSpLocks/>
            </p:cNvGrpSpPr>
            <p:nvPr/>
          </p:nvGrpSpPr>
          <p:grpSpPr bwMode="auto">
            <a:xfrm>
              <a:off x="399" y="372"/>
              <a:ext cx="349" cy="176"/>
              <a:chOff x="0" y="0"/>
              <a:chExt cx="360" cy="175"/>
            </a:xfrm>
          </p:grpSpPr>
          <p:sp>
            <p:nvSpPr>
              <p:cNvPr id="40999" name="Oval 40"/>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41000" name="Line 41"/>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1001" name="Line 42"/>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1002" name="Rectangle 43"/>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latin typeface="Times New Roman" panose="02020603050405020304" pitchFamily="18" charset="0"/>
                </a:endParaRPr>
              </a:p>
            </p:txBody>
          </p:sp>
          <p:sp>
            <p:nvSpPr>
              <p:cNvPr id="41003" name="Oval 44"/>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41004" name="Group 45"/>
              <p:cNvGrpSpPr>
                <a:grpSpLocks/>
              </p:cNvGrpSpPr>
              <p:nvPr/>
            </p:nvGrpSpPr>
            <p:grpSpPr bwMode="auto">
              <a:xfrm>
                <a:off x="86" y="25"/>
                <a:ext cx="177" cy="66"/>
                <a:chOff x="0" y="0"/>
                <a:chExt cx="140" cy="98"/>
              </a:xfrm>
            </p:grpSpPr>
            <p:sp>
              <p:nvSpPr>
                <p:cNvPr id="41005" name="Line 46"/>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1006" name="Line 47"/>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1007" name="Line 48"/>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41008" name="Group 49"/>
              <p:cNvGrpSpPr>
                <a:grpSpLocks/>
              </p:cNvGrpSpPr>
              <p:nvPr/>
            </p:nvGrpSpPr>
            <p:grpSpPr bwMode="auto">
              <a:xfrm flipV="1">
                <a:off x="86" y="24"/>
                <a:ext cx="177" cy="66"/>
                <a:chOff x="0" y="0"/>
                <a:chExt cx="140" cy="98"/>
              </a:xfrm>
            </p:grpSpPr>
            <p:sp>
              <p:nvSpPr>
                <p:cNvPr id="41009" name="Line 50"/>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1010" name="Line 51"/>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1011" name="Line 52"/>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sp>
          <p:nvSpPr>
            <p:cNvPr id="41012" name="Line 53"/>
            <p:cNvSpPr>
              <a:spLocks noChangeShapeType="1"/>
            </p:cNvSpPr>
            <p:nvPr/>
          </p:nvSpPr>
          <p:spPr bwMode="auto">
            <a:xfrm>
              <a:off x="573" y="542"/>
              <a:ext cx="1" cy="17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1013" name="Line 54"/>
            <p:cNvSpPr>
              <a:spLocks noChangeShapeType="1"/>
            </p:cNvSpPr>
            <p:nvPr/>
          </p:nvSpPr>
          <p:spPr bwMode="auto">
            <a:xfrm rot="-5400000">
              <a:off x="1231" y="519"/>
              <a:ext cx="12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21" name="Rectangle 38"/>
          <p:cNvSpPr>
            <a:spLocks noGrp="1" noChangeArrowheads="1"/>
          </p:cNvSpPr>
          <p:nvPr>
            <p:ph type="title"/>
          </p:nvPr>
        </p:nvSpPr>
        <p:spPr>
          <a:xfrm>
            <a:off x="4044950" y="234951"/>
            <a:ext cx="4084638" cy="600075"/>
          </a:xfrm>
        </p:spPr>
        <p:txBody>
          <a:bodyPr>
            <a:normAutofit fontScale="90000"/>
          </a:bodyPr>
          <a:lstStyle/>
          <a:p>
            <a:pPr algn="ctr" eaLnBrk="1" hangingPunct="1"/>
            <a:r>
              <a:rPr lang="zh-CN" altLang="zh-CN" sz="4400">
                <a:ea typeface="华文楷体" panose="02010600040101010101" pitchFamily="2" charset="-122"/>
              </a:rPr>
              <a:t>无线接入网</a:t>
            </a:r>
          </a:p>
        </p:txBody>
      </p:sp>
      <p:sp>
        <p:nvSpPr>
          <p:cNvPr id="41985" name="Rectangle 2"/>
          <p:cNvSpPr>
            <a:spLocks noGrp="1" noChangeArrowheads="1"/>
          </p:cNvSpPr>
          <p:nvPr>
            <p:ph sz="half" idx="1"/>
          </p:nvPr>
        </p:nvSpPr>
        <p:spPr>
          <a:xfrm>
            <a:off x="5734050" y="1574800"/>
            <a:ext cx="4349750" cy="4876800"/>
          </a:xfrm>
          <a:solidFill>
            <a:srgbClr val="DDDDDD"/>
          </a:solidFill>
          <a:ln>
            <a:solidFill>
              <a:srgbClr val="CCFFFF"/>
            </a:solidFill>
            <a:miter lim="800000"/>
            <a:headEnd/>
            <a:tailEnd/>
          </a:ln>
          <a:effectLst>
            <a:outerShdw dist="107763" dir="2700000" algn="ctr" rotWithShape="0">
              <a:schemeClr val="bg2"/>
            </a:outerShdw>
          </a:effectLst>
        </p:spPr>
        <p:txBody>
          <a:bodyPr/>
          <a:lstStyle/>
          <a:p>
            <a:pPr eaLnBrk="1" hangingPunct="1">
              <a:lnSpc>
                <a:spcPct val="80000"/>
              </a:lnSpc>
            </a:pPr>
            <a:r>
              <a:rPr lang="zh-CN" altLang="en-US">
                <a:solidFill>
                  <a:schemeClr val="accent1"/>
                </a:solidFill>
                <a:ea typeface="华文楷体" panose="02010600040101010101" pitchFamily="2" charset="-122"/>
              </a:rPr>
              <a:t>通过共享无线网络来连接端系统到边界路由器 </a:t>
            </a:r>
          </a:p>
          <a:p>
            <a:pPr eaLnBrk="1" hangingPunct="1">
              <a:lnSpc>
                <a:spcPct val="80000"/>
              </a:lnSpc>
            </a:pPr>
            <a:r>
              <a:rPr lang="zh-CN" altLang="en-US">
                <a:solidFill>
                  <a:schemeClr val="accent1"/>
                </a:solidFill>
                <a:ea typeface="华文楷体" panose="02010600040101010101" pitchFamily="2" charset="-122"/>
              </a:rPr>
              <a:t>wireless LANs：</a:t>
            </a:r>
          </a:p>
          <a:p>
            <a:pPr lvl="1" eaLnBrk="1" hangingPunct="1">
              <a:lnSpc>
                <a:spcPct val="80000"/>
              </a:lnSpc>
            </a:pPr>
            <a:r>
              <a:rPr lang="zh-CN" altLang="en-US" sz="2600">
                <a:solidFill>
                  <a:schemeClr val="accent1"/>
                </a:solidFill>
                <a:ea typeface="华文楷体" panose="02010600040101010101" pitchFamily="2" charset="-122"/>
              </a:rPr>
              <a:t>使用无线电波</a:t>
            </a:r>
          </a:p>
          <a:p>
            <a:pPr lvl="1" eaLnBrk="1" hangingPunct="1">
              <a:lnSpc>
                <a:spcPct val="80000"/>
              </a:lnSpc>
            </a:pPr>
            <a:r>
              <a:rPr lang="zh-CN" altLang="en-US" sz="2600">
                <a:solidFill>
                  <a:schemeClr val="accent1"/>
                </a:solidFill>
                <a:ea typeface="华文楷体" panose="02010600040101010101" pitchFamily="2" charset="-122"/>
              </a:rPr>
              <a:t>关注其带宽、信号强度</a:t>
            </a:r>
          </a:p>
          <a:p>
            <a:pPr eaLnBrk="1" hangingPunct="1">
              <a:lnSpc>
                <a:spcPct val="80000"/>
              </a:lnSpc>
            </a:pPr>
            <a:r>
              <a:rPr lang="zh-CN" altLang="en-US">
                <a:solidFill>
                  <a:schemeClr val="accent1"/>
                </a:solidFill>
                <a:ea typeface="华文楷体" panose="02010600040101010101" pitchFamily="2" charset="-122"/>
              </a:rPr>
              <a:t>wider-area wireless access</a:t>
            </a:r>
          </a:p>
          <a:p>
            <a:pPr lvl="1" eaLnBrk="1" hangingPunct="1">
              <a:lnSpc>
                <a:spcPct val="80000"/>
              </a:lnSpc>
            </a:pPr>
            <a:r>
              <a:rPr lang="zh-CN" altLang="en-US" sz="2600">
                <a:solidFill>
                  <a:schemeClr val="accent1"/>
                </a:solidFill>
                <a:ea typeface="华文楷体" panose="02010600040101010101" pitchFamily="2" charset="-122"/>
              </a:rPr>
              <a:t>CDPD： 通过蜂窝（cellular）网络无线接入到ISP路由器 </a:t>
            </a:r>
          </a:p>
        </p:txBody>
      </p:sp>
      <p:grpSp>
        <p:nvGrpSpPr>
          <p:cNvPr id="41986" name="Group 3"/>
          <p:cNvGrpSpPr>
            <a:grpSpLocks/>
          </p:cNvGrpSpPr>
          <p:nvPr/>
        </p:nvGrpSpPr>
        <p:grpSpPr bwMode="auto">
          <a:xfrm>
            <a:off x="2071688" y="2084389"/>
            <a:ext cx="3086100" cy="3962399"/>
            <a:chOff x="0" y="0"/>
            <a:chExt cx="1944" cy="2496"/>
          </a:xfrm>
        </p:grpSpPr>
        <p:grpSp>
          <p:nvGrpSpPr>
            <p:cNvPr id="41987" name="Group 4"/>
            <p:cNvGrpSpPr>
              <a:grpSpLocks noChangeAspect="1"/>
            </p:cNvGrpSpPr>
            <p:nvPr/>
          </p:nvGrpSpPr>
          <p:grpSpPr bwMode="auto">
            <a:xfrm>
              <a:off x="387" y="1452"/>
              <a:ext cx="392" cy="500"/>
              <a:chOff x="0" y="0"/>
              <a:chExt cx="392" cy="500"/>
            </a:xfrm>
          </p:grpSpPr>
          <p:graphicFrame>
            <p:nvGraphicFramePr>
              <p:cNvPr id="41988" name="Object 5"/>
              <p:cNvGraphicFramePr>
                <a:graphicFrameLocks noChangeAspect="1"/>
              </p:cNvGraphicFramePr>
              <p:nvPr/>
            </p:nvGraphicFramePr>
            <p:xfrm>
              <a:off x="0" y="0"/>
              <a:ext cx="366" cy="441"/>
            </p:xfrm>
            <a:graphic>
              <a:graphicData uri="http://schemas.openxmlformats.org/presentationml/2006/ole">
                <mc:AlternateContent xmlns:mc="http://schemas.openxmlformats.org/markup-compatibility/2006">
                  <mc:Choice xmlns:v="urn:schemas-microsoft-com:vml" Requires="v">
                    <p:oleObj spid="_x0000_s74164" r:id="rId3" imgW="825309" imgH="838856" progId="MS_ClipArt_Gallery.2">
                      <p:embed/>
                    </p:oleObj>
                  </mc:Choice>
                  <mc:Fallback>
                    <p:oleObj r:id="rId3" imgW="825309" imgH="838856" progId="MS_ClipArt_Gallery.2">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66"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989" name="Object 6"/>
              <p:cNvGraphicFramePr>
                <a:graphicFrameLocks noChangeAspect="1"/>
              </p:cNvGraphicFramePr>
              <p:nvPr/>
            </p:nvGraphicFramePr>
            <p:xfrm>
              <a:off x="58" y="131"/>
              <a:ext cx="334" cy="369"/>
            </p:xfrm>
            <a:graphic>
              <a:graphicData uri="http://schemas.openxmlformats.org/presentationml/2006/ole">
                <mc:AlternateContent xmlns:mc="http://schemas.openxmlformats.org/markup-compatibility/2006">
                  <mc:Choice xmlns:v="urn:schemas-microsoft-com:vml" Requires="v">
                    <p:oleObj spid="_x0000_s74165" r:id="rId5" imgW="1266724" imgH="1197956" progId="MS_ClipArt_Gallery.2">
                      <p:embed/>
                    </p:oleObj>
                  </mc:Choice>
                  <mc:Fallback>
                    <p:oleObj r:id="rId5" imgW="1266724" imgH="1197956" progId="MS_ClipArt_Gallery.2">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 y="131"/>
                            <a:ext cx="33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1990" name="Group 7"/>
            <p:cNvGrpSpPr>
              <a:grpSpLocks noChangeAspect="1"/>
            </p:cNvGrpSpPr>
            <p:nvPr/>
          </p:nvGrpSpPr>
          <p:grpSpPr bwMode="auto">
            <a:xfrm>
              <a:off x="1115" y="1398"/>
              <a:ext cx="392" cy="500"/>
              <a:chOff x="0" y="0"/>
              <a:chExt cx="292" cy="320"/>
            </a:xfrm>
          </p:grpSpPr>
          <p:graphicFrame>
            <p:nvGraphicFramePr>
              <p:cNvPr id="41991" name="Object 8"/>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4166" r:id="rId7" imgW="825309" imgH="838856" progId="MS_ClipArt_Gallery.2">
                      <p:embed/>
                    </p:oleObj>
                  </mc:Choice>
                  <mc:Fallback>
                    <p:oleObj r:id="rId7" imgW="825309" imgH="838856" progId="MS_ClipArt_Gallery.2">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992" name="Object 9"/>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4167" r:id="rId8" imgW="1266724" imgH="1197956" progId="MS_ClipArt_Gallery.2">
                      <p:embed/>
                    </p:oleObj>
                  </mc:Choice>
                  <mc:Fallback>
                    <p:oleObj r:id="rId8" imgW="1266724" imgH="1197956" progId="MS_ClipArt_Gallery.2">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1993" name="Group 10"/>
            <p:cNvGrpSpPr>
              <a:grpSpLocks/>
            </p:cNvGrpSpPr>
            <p:nvPr/>
          </p:nvGrpSpPr>
          <p:grpSpPr bwMode="auto">
            <a:xfrm>
              <a:off x="535" y="668"/>
              <a:ext cx="366" cy="442"/>
              <a:chOff x="0" y="0"/>
              <a:chExt cx="272" cy="282"/>
            </a:xfrm>
          </p:grpSpPr>
          <p:graphicFrame>
            <p:nvGraphicFramePr>
              <p:cNvPr id="41994" name="Object 11"/>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4168" r:id="rId9" imgW="825309" imgH="838856" progId="MS_ClipArt_Gallery.2">
                      <p:embed/>
                    </p:oleObj>
                  </mc:Choice>
                  <mc:Fallback>
                    <p:oleObj r:id="rId9" imgW="825309" imgH="838856" progId="MS_ClipArt_Gallery.2">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95" name="Rectangle 12"/>
              <p:cNvSpPr>
                <a:spLocks noChangeArrowheads="1"/>
              </p:cNvSpPr>
              <p:nvPr/>
            </p:nvSpPr>
            <p:spPr bwMode="auto">
              <a:xfrm>
                <a:off x="79" y="99"/>
                <a:ext cx="192" cy="183"/>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grpSp>
        <p:grpSp>
          <p:nvGrpSpPr>
            <p:cNvPr id="41996" name="Group 13"/>
            <p:cNvGrpSpPr>
              <a:grpSpLocks/>
            </p:cNvGrpSpPr>
            <p:nvPr/>
          </p:nvGrpSpPr>
          <p:grpSpPr bwMode="auto">
            <a:xfrm>
              <a:off x="556" y="284"/>
              <a:ext cx="483" cy="273"/>
              <a:chOff x="0" y="0"/>
              <a:chExt cx="360" cy="175"/>
            </a:xfrm>
          </p:grpSpPr>
          <p:sp>
            <p:nvSpPr>
              <p:cNvPr id="41997" name="Oval 14"/>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41998" name="Line 15"/>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1999" name="Line 16"/>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2000" name="Rectangle 17"/>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a:ea typeface="华文楷体" panose="02010600040101010101" pitchFamily="2" charset="-122"/>
                </a:endParaRPr>
              </a:p>
            </p:txBody>
          </p:sp>
          <p:sp>
            <p:nvSpPr>
              <p:cNvPr id="42001" name="Oval 18"/>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42002" name="Group 19"/>
              <p:cNvGrpSpPr>
                <a:grpSpLocks/>
              </p:cNvGrpSpPr>
              <p:nvPr/>
            </p:nvGrpSpPr>
            <p:grpSpPr bwMode="auto">
              <a:xfrm>
                <a:off x="86" y="25"/>
                <a:ext cx="177" cy="66"/>
                <a:chOff x="0" y="0"/>
                <a:chExt cx="140" cy="98"/>
              </a:xfrm>
            </p:grpSpPr>
            <p:sp>
              <p:nvSpPr>
                <p:cNvPr id="42003" name="Line 20"/>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2004" name="Line 21"/>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2005" name="Line 22"/>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42006" name="Group 23"/>
              <p:cNvGrpSpPr>
                <a:grpSpLocks/>
              </p:cNvGrpSpPr>
              <p:nvPr/>
            </p:nvGrpSpPr>
            <p:grpSpPr bwMode="auto">
              <a:xfrm flipV="1">
                <a:off x="86" y="24"/>
                <a:ext cx="177" cy="66"/>
                <a:chOff x="0" y="0"/>
                <a:chExt cx="140" cy="98"/>
              </a:xfrm>
            </p:grpSpPr>
            <p:sp>
              <p:nvSpPr>
                <p:cNvPr id="42007" name="Line 24"/>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2008" name="Line 25"/>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2009" name="Line 26"/>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sp>
          <p:nvSpPr>
            <p:cNvPr id="42010" name="Line 27"/>
            <p:cNvSpPr>
              <a:spLocks noChangeShapeType="1"/>
            </p:cNvSpPr>
            <p:nvPr/>
          </p:nvSpPr>
          <p:spPr bwMode="auto">
            <a:xfrm flipV="1">
              <a:off x="806" y="552"/>
              <a:ext cx="0" cy="2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nvGrpSpPr>
            <p:cNvPr id="42011" name="Group 28"/>
            <p:cNvGrpSpPr>
              <a:grpSpLocks noChangeAspect="1"/>
            </p:cNvGrpSpPr>
            <p:nvPr/>
          </p:nvGrpSpPr>
          <p:grpSpPr bwMode="auto">
            <a:xfrm>
              <a:off x="1269" y="388"/>
              <a:ext cx="392" cy="500"/>
              <a:chOff x="0" y="0"/>
              <a:chExt cx="292" cy="320"/>
            </a:xfrm>
          </p:grpSpPr>
          <p:graphicFrame>
            <p:nvGraphicFramePr>
              <p:cNvPr id="42012" name="Object 29"/>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4169" r:id="rId10" imgW="825309" imgH="838856" progId="MS_ClipArt_Gallery.2">
                      <p:embed/>
                    </p:oleObj>
                  </mc:Choice>
                  <mc:Fallback>
                    <p:oleObj r:id="rId10" imgW="825309" imgH="838856" progId="MS_ClipArt_Gallery.2">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2013" name="Object 30"/>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4170" r:id="rId11" imgW="1266724" imgH="1197956" progId="MS_ClipArt_Gallery.2">
                      <p:embed/>
                    </p:oleObj>
                  </mc:Choice>
                  <mc:Fallback>
                    <p:oleObj r:id="rId11" imgW="1266724" imgH="1197956" progId="MS_ClipArt_Gallery.2">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2014" name="Group 31"/>
            <p:cNvGrpSpPr>
              <a:grpSpLocks noChangeAspect="1"/>
            </p:cNvGrpSpPr>
            <p:nvPr/>
          </p:nvGrpSpPr>
          <p:grpSpPr bwMode="auto">
            <a:xfrm>
              <a:off x="1552" y="1057"/>
              <a:ext cx="392" cy="500"/>
              <a:chOff x="0" y="0"/>
              <a:chExt cx="292" cy="320"/>
            </a:xfrm>
          </p:grpSpPr>
          <p:graphicFrame>
            <p:nvGraphicFramePr>
              <p:cNvPr id="42015" name="Object 32"/>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4171" r:id="rId12" imgW="825309" imgH="838856" progId="MS_ClipArt_Gallery.2">
                      <p:embed/>
                    </p:oleObj>
                  </mc:Choice>
                  <mc:Fallback>
                    <p:oleObj r:id="rId12" imgW="825309" imgH="838856" progId="MS_ClipArt_Gallery.2">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2016" name="Object 33"/>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4172" r:id="rId13" imgW="1266724" imgH="1197956" progId="MS_ClipArt_Gallery.2">
                      <p:embed/>
                    </p:oleObj>
                  </mc:Choice>
                  <mc:Fallback>
                    <p:oleObj r:id="rId13" imgW="1266724" imgH="1197956" progId="MS_ClipArt_Gallery.2">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42017" name="Text Box 34"/>
            <p:cNvSpPr txBox="1">
              <a:spLocks noChangeArrowheads="1"/>
            </p:cNvSpPr>
            <p:nvPr/>
          </p:nvSpPr>
          <p:spPr bwMode="auto">
            <a:xfrm>
              <a:off x="11" y="701"/>
              <a:ext cx="621"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zh-CN" altLang="zh-CN" sz="2400">
                  <a:ea typeface="华文楷体" panose="02010600040101010101" pitchFamily="2" charset="-122"/>
                </a:rPr>
                <a:t>base</a:t>
              </a:r>
            </a:p>
            <a:p>
              <a:pPr algn="r" eaLnBrk="0" hangingPunct="0"/>
              <a:r>
                <a:rPr lang="zh-CN" altLang="zh-CN" sz="2400">
                  <a:ea typeface="华文楷体" panose="02010600040101010101" pitchFamily="2" charset="-122"/>
                </a:rPr>
                <a:t>station</a:t>
              </a:r>
            </a:p>
          </p:txBody>
        </p:sp>
        <p:sp>
          <p:nvSpPr>
            <p:cNvPr id="42018" name="Text Box 35"/>
            <p:cNvSpPr txBox="1">
              <a:spLocks noChangeArrowheads="1"/>
            </p:cNvSpPr>
            <p:nvPr/>
          </p:nvSpPr>
          <p:spPr bwMode="auto">
            <a:xfrm>
              <a:off x="1211" y="1973"/>
              <a:ext cx="633"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zh-CN" altLang="zh-CN" sz="2400">
                  <a:ea typeface="华文楷体" panose="02010600040101010101" pitchFamily="2" charset="-122"/>
                </a:rPr>
                <a:t>mobile</a:t>
              </a:r>
            </a:p>
            <a:p>
              <a:pPr algn="r" eaLnBrk="0" hangingPunct="0"/>
              <a:r>
                <a:rPr lang="zh-CN" altLang="zh-CN" sz="2400">
                  <a:ea typeface="华文楷体" panose="02010600040101010101" pitchFamily="2" charset="-122"/>
                </a:rPr>
                <a:t>hosts</a:t>
              </a:r>
            </a:p>
          </p:txBody>
        </p:sp>
        <p:sp>
          <p:nvSpPr>
            <p:cNvPr id="42019" name="Line 36"/>
            <p:cNvSpPr>
              <a:spLocks noChangeShapeType="1"/>
            </p:cNvSpPr>
            <p:nvPr/>
          </p:nvSpPr>
          <p:spPr bwMode="auto">
            <a:xfrm flipV="1">
              <a:off x="770" y="0"/>
              <a:ext cx="0" cy="2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2020" name="Text Box 37"/>
            <p:cNvSpPr txBox="1">
              <a:spLocks noChangeArrowheads="1"/>
            </p:cNvSpPr>
            <p:nvPr/>
          </p:nvSpPr>
          <p:spPr bwMode="auto">
            <a:xfrm>
              <a:off x="0" y="269"/>
              <a:ext cx="5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zh-CN" altLang="zh-CN" sz="2400">
                  <a:ea typeface="华文楷体" panose="02010600040101010101" pitchFamily="2" charset="-122"/>
                </a:rPr>
                <a:t>router</a:t>
              </a:r>
            </a:p>
          </p:txBody>
        </p:sp>
      </p:gr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51" name="Rectangle 44"/>
          <p:cNvSpPr>
            <a:spLocks noGrp="1" noChangeArrowheads="1"/>
          </p:cNvSpPr>
          <p:nvPr>
            <p:ph type="title"/>
          </p:nvPr>
        </p:nvSpPr>
        <p:spPr>
          <a:xfrm>
            <a:off x="3643313" y="215900"/>
            <a:ext cx="4889500" cy="585788"/>
          </a:xfrm>
        </p:spPr>
        <p:txBody>
          <a:bodyPr>
            <a:normAutofit fontScale="90000"/>
          </a:bodyPr>
          <a:lstStyle/>
          <a:p>
            <a:pPr algn="ctr" eaLnBrk="1" hangingPunct="1"/>
            <a:r>
              <a:rPr lang="zh-CN" altLang="zh-CN" sz="4400">
                <a:ea typeface="华文楷体" panose="02010600040101010101" pitchFamily="2" charset="-122"/>
              </a:rPr>
              <a:t>Home Networks</a:t>
            </a:r>
          </a:p>
        </p:txBody>
      </p:sp>
      <p:sp>
        <p:nvSpPr>
          <p:cNvPr id="43010" name="Rectangle 2"/>
          <p:cNvSpPr>
            <a:spLocks noGrp="1" noChangeArrowheads="1"/>
          </p:cNvSpPr>
          <p:nvPr>
            <p:ph sz="half" idx="1"/>
          </p:nvPr>
        </p:nvSpPr>
        <p:spPr>
          <a:xfrm>
            <a:off x="1860550" y="3832225"/>
            <a:ext cx="3944938" cy="2293938"/>
          </a:xfrm>
          <a:solidFill>
            <a:srgbClr val="DDDDDD"/>
          </a:solidFill>
          <a:ln>
            <a:solidFill>
              <a:srgbClr val="CC99FF"/>
            </a:solidFill>
            <a:miter lim="800000"/>
            <a:headEnd/>
            <a:tailEnd/>
          </a:ln>
          <a:effectLst>
            <a:outerShdw dist="107763" dir="2700000" algn="ctr" rotWithShape="0">
              <a:schemeClr val="bg2"/>
            </a:outerShdw>
          </a:effectLst>
        </p:spPr>
        <p:txBody>
          <a:bodyPr/>
          <a:lstStyle/>
          <a:p>
            <a:pPr eaLnBrk="1" hangingPunct="1">
              <a:lnSpc>
                <a:spcPct val="80000"/>
              </a:lnSpc>
              <a:buFont typeface="Arial" panose="020B0604020202020204" pitchFamily="34" charset="0"/>
              <a:buNone/>
            </a:pPr>
            <a:r>
              <a:rPr lang="zh-CN" altLang="zh-CN">
                <a:ea typeface="华文楷体" panose="02010600040101010101" pitchFamily="2" charset="-122"/>
              </a:rPr>
              <a:t>典型房间接入组成部分</a:t>
            </a:r>
            <a:r>
              <a:rPr lang="zh-CN" altLang="zh-CN">
                <a:solidFill>
                  <a:schemeClr val="accent1"/>
                </a:solidFill>
                <a:ea typeface="华文楷体" panose="02010600040101010101" pitchFamily="2" charset="-122"/>
              </a:rPr>
              <a:t> </a:t>
            </a:r>
          </a:p>
          <a:p>
            <a:pPr eaLnBrk="1" hangingPunct="1">
              <a:lnSpc>
                <a:spcPct val="80000"/>
              </a:lnSpc>
            </a:pPr>
            <a:r>
              <a:rPr lang="zh-CN" altLang="zh-CN" sz="2400">
                <a:solidFill>
                  <a:schemeClr val="accent1"/>
                </a:solidFill>
                <a:ea typeface="华文楷体" panose="02010600040101010101" pitchFamily="2" charset="-122"/>
              </a:rPr>
              <a:t>ADSL or cable modem</a:t>
            </a:r>
          </a:p>
          <a:p>
            <a:pPr eaLnBrk="1" hangingPunct="1">
              <a:lnSpc>
                <a:spcPct val="80000"/>
              </a:lnSpc>
            </a:pPr>
            <a:r>
              <a:rPr lang="zh-CN" altLang="zh-CN" sz="2400">
                <a:solidFill>
                  <a:schemeClr val="accent1"/>
                </a:solidFill>
                <a:ea typeface="华文楷体" panose="02010600040101010101" pitchFamily="2" charset="-122"/>
              </a:rPr>
              <a:t>router/firewall</a:t>
            </a:r>
          </a:p>
          <a:p>
            <a:pPr eaLnBrk="1" hangingPunct="1">
              <a:lnSpc>
                <a:spcPct val="80000"/>
              </a:lnSpc>
            </a:pPr>
            <a:r>
              <a:rPr lang="zh-CN" altLang="zh-CN" sz="2400">
                <a:solidFill>
                  <a:schemeClr val="accent1"/>
                </a:solidFill>
                <a:ea typeface="华文楷体" panose="02010600040101010101" pitchFamily="2" charset="-122"/>
              </a:rPr>
              <a:t>Ethernet</a:t>
            </a:r>
          </a:p>
          <a:p>
            <a:pPr eaLnBrk="1" hangingPunct="1">
              <a:lnSpc>
                <a:spcPct val="80000"/>
              </a:lnSpc>
            </a:pPr>
            <a:r>
              <a:rPr lang="zh-CN" altLang="zh-CN" sz="2400">
                <a:solidFill>
                  <a:schemeClr val="accent1"/>
                </a:solidFill>
                <a:ea typeface="华文楷体" panose="02010600040101010101" pitchFamily="2" charset="-122"/>
              </a:rPr>
              <a:t>wireless access  point</a:t>
            </a:r>
          </a:p>
        </p:txBody>
      </p:sp>
      <p:grpSp>
        <p:nvGrpSpPr>
          <p:cNvPr id="2" name="Group 3"/>
          <p:cNvGrpSpPr>
            <a:grpSpLocks noChangeAspect="1"/>
          </p:cNvGrpSpPr>
          <p:nvPr/>
        </p:nvGrpSpPr>
        <p:grpSpPr bwMode="auto">
          <a:xfrm>
            <a:off x="8378825" y="1501775"/>
            <a:ext cx="622300" cy="793750"/>
            <a:chOff x="0" y="0"/>
            <a:chExt cx="392" cy="500"/>
          </a:xfrm>
        </p:grpSpPr>
        <p:graphicFrame>
          <p:nvGraphicFramePr>
            <p:cNvPr id="43011" name="Object 4"/>
            <p:cNvGraphicFramePr>
              <a:graphicFrameLocks noChangeAspect="1"/>
            </p:cNvGraphicFramePr>
            <p:nvPr/>
          </p:nvGraphicFramePr>
          <p:xfrm>
            <a:off x="0" y="0"/>
            <a:ext cx="366" cy="441"/>
          </p:xfrm>
          <a:graphic>
            <a:graphicData uri="http://schemas.openxmlformats.org/presentationml/2006/ole">
              <mc:AlternateContent xmlns:mc="http://schemas.openxmlformats.org/markup-compatibility/2006">
                <mc:Choice xmlns:v="urn:schemas-microsoft-com:vml" Requires="v">
                  <p:oleObj spid="_x0000_s77950" r:id="rId3" imgW="825309" imgH="838856" progId="MS_ClipArt_Gallery.2">
                    <p:embed/>
                  </p:oleObj>
                </mc:Choice>
                <mc:Fallback>
                  <p:oleObj r:id="rId3" imgW="825309" imgH="838856" progId="MS_ClipArt_Gallery.2">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66"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012" name="Object 5"/>
            <p:cNvGraphicFramePr>
              <a:graphicFrameLocks noChangeAspect="1"/>
            </p:cNvGraphicFramePr>
            <p:nvPr/>
          </p:nvGraphicFramePr>
          <p:xfrm>
            <a:off x="58" y="131"/>
            <a:ext cx="334" cy="369"/>
          </p:xfrm>
          <a:graphic>
            <a:graphicData uri="http://schemas.openxmlformats.org/presentationml/2006/ole">
              <mc:AlternateContent xmlns:mc="http://schemas.openxmlformats.org/markup-compatibility/2006">
                <mc:Choice xmlns:v="urn:schemas-microsoft-com:vml" Requires="v">
                  <p:oleObj spid="_x0000_s77951" r:id="rId5" imgW="1266724" imgH="1197956" progId="MS_ClipArt_Gallery.2">
                    <p:embed/>
                  </p:oleObj>
                </mc:Choice>
                <mc:Fallback>
                  <p:oleObj r:id="rId5" imgW="1266724" imgH="1197956" progId="MS_ClipArt_Gallery.2">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 y="131"/>
                          <a:ext cx="33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3013" name="Group 6"/>
          <p:cNvGrpSpPr>
            <a:grpSpLocks noChangeAspect="1"/>
          </p:cNvGrpSpPr>
          <p:nvPr/>
        </p:nvGrpSpPr>
        <p:grpSpPr bwMode="auto">
          <a:xfrm>
            <a:off x="8426450" y="2460625"/>
            <a:ext cx="622300" cy="793750"/>
            <a:chOff x="0" y="0"/>
            <a:chExt cx="292" cy="320"/>
          </a:xfrm>
        </p:grpSpPr>
        <p:graphicFrame>
          <p:nvGraphicFramePr>
            <p:cNvPr id="43014" name="Object 7"/>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7952" r:id="rId7" imgW="825309" imgH="838856" progId="MS_ClipArt_Gallery.2">
                    <p:embed/>
                  </p:oleObj>
                </mc:Choice>
                <mc:Fallback>
                  <p:oleObj r:id="rId7" imgW="825309" imgH="838856"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015" name="Object 8"/>
            <p:cNvGraphicFramePr>
              <a:graphicFrameLocks noChangeAspect="1"/>
            </p:cNvGraphicFramePr>
            <p:nvPr/>
          </p:nvGraphicFramePr>
          <p:xfrm>
            <a:off x="43" y="84"/>
            <a:ext cx="249" cy="236"/>
          </p:xfrm>
          <a:graphic>
            <a:graphicData uri="http://schemas.openxmlformats.org/presentationml/2006/ole">
              <mc:AlternateContent xmlns:mc="http://schemas.openxmlformats.org/markup-compatibility/2006">
                <mc:Choice xmlns:v="urn:schemas-microsoft-com:vml" Requires="v">
                  <p:oleObj spid="_x0000_s77953" r:id="rId8" imgW="1266724" imgH="1197956" progId="MS_ClipArt_Gallery.2">
                    <p:embed/>
                  </p:oleObj>
                </mc:Choice>
                <mc:Fallback>
                  <p:oleObj r:id="rId8" imgW="1266724" imgH="1197956" progId="MS_ClipArt_Gallery.2">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 y="84"/>
                          <a:ext cx="24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3016" name="Group 9"/>
          <p:cNvGrpSpPr>
            <a:grpSpLocks/>
          </p:cNvGrpSpPr>
          <p:nvPr/>
        </p:nvGrpSpPr>
        <p:grpSpPr bwMode="auto">
          <a:xfrm>
            <a:off x="7734300" y="2066926"/>
            <a:ext cx="539750" cy="633413"/>
            <a:chOff x="0" y="0"/>
            <a:chExt cx="272" cy="282"/>
          </a:xfrm>
        </p:grpSpPr>
        <p:graphicFrame>
          <p:nvGraphicFramePr>
            <p:cNvPr id="43017" name="Object 10"/>
            <p:cNvGraphicFramePr>
              <a:graphicFrameLocks noChangeAspect="1"/>
            </p:cNvGraphicFramePr>
            <p:nvPr/>
          </p:nvGraphicFramePr>
          <p:xfrm>
            <a:off x="0" y="0"/>
            <a:ext cx="272" cy="282"/>
          </p:xfrm>
          <a:graphic>
            <a:graphicData uri="http://schemas.openxmlformats.org/presentationml/2006/ole">
              <mc:AlternateContent xmlns:mc="http://schemas.openxmlformats.org/markup-compatibility/2006">
                <mc:Choice xmlns:v="urn:schemas-microsoft-com:vml" Requires="v">
                  <p:oleObj spid="_x0000_s77954" r:id="rId9" imgW="825309" imgH="838856" progId="MS_ClipArt_Gallery.2">
                    <p:embed/>
                  </p:oleObj>
                </mc:Choice>
                <mc:Fallback>
                  <p:oleObj r:id="rId9" imgW="825309" imgH="838856" progId="MS_ClipArt_Gallery.2">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8" name="Rectangle 11"/>
            <p:cNvSpPr>
              <a:spLocks noChangeArrowheads="1"/>
            </p:cNvSpPr>
            <p:nvPr/>
          </p:nvSpPr>
          <p:spPr bwMode="auto">
            <a:xfrm>
              <a:off x="79" y="99"/>
              <a:ext cx="192" cy="183"/>
            </a:xfrm>
            <a:prstGeom prst="rect">
              <a:avLst/>
            </a:prstGeom>
            <a:solidFill>
              <a:srgbClr val="33CCCC"/>
            </a:solidFill>
            <a:ln w="9525">
              <a:solidFill>
                <a:schemeClr val="tx1"/>
              </a:solidFill>
              <a:miter lim="800000"/>
              <a:headEnd/>
              <a:tailEnd/>
            </a:ln>
          </p:spPr>
          <p:txBody>
            <a:bodyPr wrap="none" anchor="ctr"/>
            <a:lstStyle/>
            <a:p>
              <a:pPr algn="ctr" eaLnBrk="0" hangingPunct="0"/>
              <a:endParaRPr lang="zh-CN" altLang="en-US">
                <a:latin typeface="Times New Roman" panose="02020603050405020304" pitchFamily="18" charset="0"/>
              </a:endParaRPr>
            </a:p>
          </p:txBody>
        </p:sp>
      </p:grpSp>
      <p:sp>
        <p:nvSpPr>
          <p:cNvPr id="43019" name="Text Box 12"/>
          <p:cNvSpPr txBox="1">
            <a:spLocks noChangeArrowheads="1"/>
          </p:cNvSpPr>
          <p:nvPr/>
        </p:nvSpPr>
        <p:spPr bwMode="auto">
          <a:xfrm>
            <a:off x="8104188" y="3263901"/>
            <a:ext cx="11477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2000" b="0">
                <a:solidFill>
                  <a:srgbClr val="003399"/>
                </a:solidFill>
                <a:latin typeface="Comic Sans MS" panose="030F0702030302020204" pitchFamily="66" charset="0"/>
              </a:rPr>
              <a:t>wireless</a:t>
            </a:r>
          </a:p>
          <a:p>
            <a:pPr algn="ctr" eaLnBrk="0" hangingPunct="0"/>
            <a:r>
              <a:rPr lang="zh-CN" altLang="zh-CN" sz="2000" b="0">
                <a:solidFill>
                  <a:srgbClr val="003399"/>
                </a:solidFill>
                <a:latin typeface="Comic Sans MS" panose="030F0702030302020204" pitchFamily="66" charset="0"/>
              </a:rPr>
              <a:t>access </a:t>
            </a:r>
          </a:p>
          <a:p>
            <a:pPr algn="ctr" eaLnBrk="0" hangingPunct="0"/>
            <a:r>
              <a:rPr lang="zh-CN" altLang="zh-CN" sz="2000" b="0">
                <a:solidFill>
                  <a:srgbClr val="003399"/>
                </a:solidFill>
                <a:latin typeface="Comic Sans MS" panose="030F0702030302020204" pitchFamily="66" charset="0"/>
              </a:rPr>
              <a:t>point</a:t>
            </a:r>
            <a:endParaRPr lang="zh-CN" altLang="zh-CN" sz="2000" b="0">
              <a:solidFill>
                <a:srgbClr val="003399"/>
              </a:solidFill>
              <a:latin typeface="Times New Roman" panose="02020603050405020304" pitchFamily="18" charset="0"/>
            </a:endParaRPr>
          </a:p>
        </p:txBody>
      </p:sp>
      <p:sp>
        <p:nvSpPr>
          <p:cNvPr id="43020" name="Text Box 13"/>
          <p:cNvSpPr txBox="1">
            <a:spLocks noChangeArrowheads="1"/>
          </p:cNvSpPr>
          <p:nvPr/>
        </p:nvSpPr>
        <p:spPr bwMode="auto">
          <a:xfrm>
            <a:off x="9196388" y="2111376"/>
            <a:ext cx="11477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2000" b="0">
                <a:solidFill>
                  <a:srgbClr val="003399"/>
                </a:solidFill>
                <a:latin typeface="Comic Sans MS" panose="030F0702030302020204" pitchFamily="66" charset="0"/>
              </a:rPr>
              <a:t>wireless</a:t>
            </a:r>
          </a:p>
          <a:p>
            <a:pPr algn="ctr" eaLnBrk="0" hangingPunct="0"/>
            <a:r>
              <a:rPr lang="zh-CN" altLang="zh-CN" sz="2000" b="0">
                <a:solidFill>
                  <a:srgbClr val="FF0000"/>
                </a:solidFill>
                <a:latin typeface="Comic Sans MS" panose="030F0702030302020204" pitchFamily="66" charset="0"/>
              </a:rPr>
              <a:t>laptops</a:t>
            </a:r>
            <a:endParaRPr lang="zh-CN" altLang="zh-CN" sz="2000" b="0">
              <a:solidFill>
                <a:srgbClr val="FF0000"/>
              </a:solidFill>
              <a:latin typeface="Times New Roman" panose="02020603050405020304" pitchFamily="18" charset="0"/>
            </a:endParaRPr>
          </a:p>
        </p:txBody>
      </p:sp>
      <p:sp>
        <p:nvSpPr>
          <p:cNvPr id="43021" name="Text Box 14"/>
          <p:cNvSpPr txBox="1">
            <a:spLocks noChangeArrowheads="1"/>
          </p:cNvSpPr>
          <p:nvPr/>
        </p:nvSpPr>
        <p:spPr bwMode="auto">
          <a:xfrm>
            <a:off x="5238751" y="2628901"/>
            <a:ext cx="1089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zh-CN" altLang="zh-CN" sz="2000" b="0">
                <a:solidFill>
                  <a:srgbClr val="003399"/>
                </a:solidFill>
                <a:latin typeface="Comic Sans MS" panose="030F0702030302020204" pitchFamily="66" charset="0"/>
              </a:rPr>
              <a:t>router/</a:t>
            </a:r>
          </a:p>
          <a:p>
            <a:pPr algn="r" eaLnBrk="0" hangingPunct="0"/>
            <a:r>
              <a:rPr lang="zh-CN" altLang="zh-CN" sz="2000" b="0">
                <a:solidFill>
                  <a:srgbClr val="003399"/>
                </a:solidFill>
                <a:latin typeface="Comic Sans MS" panose="030F0702030302020204" pitchFamily="66" charset="0"/>
              </a:rPr>
              <a:t>firewall</a:t>
            </a:r>
            <a:endParaRPr lang="zh-CN" altLang="zh-CN" sz="2000" b="0">
              <a:solidFill>
                <a:srgbClr val="003399"/>
              </a:solidFill>
              <a:latin typeface="Times New Roman" panose="02020603050405020304" pitchFamily="18" charset="0"/>
            </a:endParaRPr>
          </a:p>
        </p:txBody>
      </p:sp>
      <p:sp>
        <p:nvSpPr>
          <p:cNvPr id="43022" name="未知"/>
          <p:cNvSpPr>
            <a:spLocks noChangeArrowheads="1"/>
          </p:cNvSpPr>
          <p:nvPr/>
        </p:nvSpPr>
        <p:spPr bwMode="auto">
          <a:xfrm>
            <a:off x="6446839" y="2578101"/>
            <a:ext cx="776287" cy="677863"/>
          </a:xfrm>
          <a:custGeom>
            <a:avLst/>
            <a:gdLst>
              <a:gd name="T0" fmla="*/ 489 w 489"/>
              <a:gd name="T1" fmla="*/ 427 h 427"/>
              <a:gd name="T2" fmla="*/ 166 w 489"/>
              <a:gd name="T3" fmla="*/ 427 h 427"/>
              <a:gd name="T4" fmla="*/ 0 w 489"/>
              <a:gd name="T5" fmla="*/ 0 h 427"/>
            </a:gdLst>
            <a:ahLst/>
            <a:cxnLst>
              <a:cxn ang="0">
                <a:pos x="T0" y="T1"/>
              </a:cxn>
              <a:cxn ang="0">
                <a:pos x="T2" y="T3"/>
              </a:cxn>
              <a:cxn ang="0">
                <a:pos x="T4" y="T5"/>
              </a:cxn>
            </a:cxnLst>
            <a:rect l="0" t="0" r="r" b="b"/>
            <a:pathLst>
              <a:path w="489" h="427">
                <a:moveTo>
                  <a:pt x="489" y="427"/>
                </a:moveTo>
                <a:lnTo>
                  <a:pt x="166" y="427"/>
                </a:ln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aphicFrame>
        <p:nvGraphicFramePr>
          <p:cNvPr id="43023" name="Object 16"/>
          <p:cNvGraphicFramePr>
            <a:graphicFrameLocks noChangeAspect="1"/>
          </p:cNvGraphicFramePr>
          <p:nvPr/>
        </p:nvGraphicFramePr>
        <p:xfrm>
          <a:off x="7151689" y="1352550"/>
          <a:ext cx="598487" cy="579438"/>
        </p:xfrm>
        <a:graphic>
          <a:graphicData uri="http://schemas.openxmlformats.org/presentationml/2006/ole">
            <mc:AlternateContent xmlns:mc="http://schemas.openxmlformats.org/markup-compatibility/2006">
              <mc:Choice xmlns:v="urn:schemas-microsoft-com:vml" Requires="v">
                <p:oleObj spid="_x0000_s77955" r:id="rId10" imgW="1305626" imgH="1082835" progId="MS_ClipArt_Gallery.5">
                  <p:embed/>
                </p:oleObj>
              </mc:Choice>
              <mc:Fallback>
                <p:oleObj r:id="rId10" imgW="1305626" imgH="1082835" progId="MS_ClipArt_Gallery.5">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51689" y="1352550"/>
                        <a:ext cx="5984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4" name="未知"/>
          <p:cNvSpPr>
            <a:spLocks noChangeArrowheads="1"/>
          </p:cNvSpPr>
          <p:nvPr/>
        </p:nvSpPr>
        <p:spPr bwMode="auto">
          <a:xfrm flipV="1">
            <a:off x="6646863" y="2368551"/>
            <a:ext cx="1244600" cy="98425"/>
          </a:xfrm>
          <a:custGeom>
            <a:avLst/>
            <a:gdLst>
              <a:gd name="T0" fmla="*/ 0 w 513"/>
              <a:gd name="T1" fmla="*/ 0 h 1"/>
              <a:gd name="T2" fmla="*/ 513 w 513"/>
              <a:gd name="T3" fmla="*/ 0 h 1"/>
            </a:gdLst>
            <a:ahLst/>
            <a:cxnLst>
              <a:cxn ang="0">
                <a:pos x="T0" y="T1"/>
              </a:cxn>
              <a:cxn ang="0">
                <a:pos x="T2" y="T3"/>
              </a:cxn>
            </a:cxnLst>
            <a:rect l="0" t="0" r="r" b="b"/>
            <a:pathLst>
              <a:path w="513" h="1">
                <a:moveTo>
                  <a:pt x="0" y="0"/>
                </a:moveTo>
                <a:lnTo>
                  <a:pt x="513"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aphicFrame>
        <p:nvGraphicFramePr>
          <p:cNvPr id="43025" name="Object 18"/>
          <p:cNvGraphicFramePr>
            <a:graphicFrameLocks noChangeAspect="1"/>
          </p:cNvGraphicFramePr>
          <p:nvPr/>
        </p:nvGraphicFramePr>
        <p:xfrm>
          <a:off x="7178675" y="3081339"/>
          <a:ext cx="598488" cy="579437"/>
        </p:xfrm>
        <a:graphic>
          <a:graphicData uri="http://schemas.openxmlformats.org/presentationml/2006/ole">
            <mc:AlternateContent xmlns:mc="http://schemas.openxmlformats.org/markup-compatibility/2006">
              <mc:Choice xmlns:v="urn:schemas-microsoft-com:vml" Requires="v">
                <p:oleObj spid="_x0000_s77956" r:id="rId12" imgW="1305626" imgH="1082835" progId="MS_ClipArt_Gallery.5">
                  <p:embed/>
                </p:oleObj>
              </mc:Choice>
              <mc:Fallback>
                <p:oleObj r:id="rId12" imgW="1305626" imgH="1082835" progId="MS_ClipArt_Gallery.5">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78675" y="3081339"/>
                        <a:ext cx="5984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6" name="modem"/>
          <p:cNvSpPr>
            <a:spLocks noEditPoints="1" noChangeArrowheads="1"/>
          </p:cNvSpPr>
          <p:nvPr/>
        </p:nvSpPr>
        <p:spPr bwMode="auto">
          <a:xfrm>
            <a:off x="4060826" y="2362201"/>
            <a:ext cx="1033463" cy="207963"/>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0 w 21600"/>
              <a:gd name="T13" fmla="*/ 5152 h 21600"/>
              <a:gd name="T14" fmla="*/ 0 w 21600"/>
              <a:gd name="T15" fmla="*/ 5251 h 21600"/>
              <a:gd name="T16" fmla="*/ 21600 w 21600"/>
              <a:gd name="T17" fmla="*/ 5251 h 21600"/>
              <a:gd name="T18" fmla="*/ 1961 w 21600"/>
              <a:gd name="T19" fmla="*/ 11791 h 21600"/>
              <a:gd name="T20" fmla="*/ 1961 w 21600"/>
              <a:gd name="T21" fmla="*/ 14268 h 21600"/>
              <a:gd name="T22" fmla="*/ 2806 w 21600"/>
              <a:gd name="T23" fmla="*/ 14268 h 21600"/>
              <a:gd name="T24" fmla="*/ 2806 w 21600"/>
              <a:gd name="T25" fmla="*/ 11791 h 21600"/>
              <a:gd name="T26" fmla="*/ 1961 w 21600"/>
              <a:gd name="T27" fmla="*/ 11791 h 21600"/>
              <a:gd name="T28" fmla="*/ 3685 w 21600"/>
              <a:gd name="T29" fmla="*/ 11791 h 21600"/>
              <a:gd name="T30" fmla="*/ 3685 w 21600"/>
              <a:gd name="T31" fmla="*/ 14268 h 21600"/>
              <a:gd name="T32" fmla="*/ 4530 w 21600"/>
              <a:gd name="T33" fmla="*/ 14268 h 21600"/>
              <a:gd name="T34" fmla="*/ 4530 w 21600"/>
              <a:gd name="T35" fmla="*/ 11791 h 21600"/>
              <a:gd name="T36" fmla="*/ 3685 w 21600"/>
              <a:gd name="T37" fmla="*/ 11791 h 21600"/>
              <a:gd name="T38" fmla="*/ 5408 w 21600"/>
              <a:gd name="T39" fmla="*/ 11791 h 21600"/>
              <a:gd name="T40" fmla="*/ 5408 w 21600"/>
              <a:gd name="T41" fmla="*/ 14268 h 21600"/>
              <a:gd name="T42" fmla="*/ 6254 w 21600"/>
              <a:gd name="T43" fmla="*/ 14268 h 21600"/>
              <a:gd name="T44" fmla="*/ 6254 w 21600"/>
              <a:gd name="T45" fmla="*/ 11791 h 21600"/>
              <a:gd name="T46" fmla="*/ 5408 w 21600"/>
              <a:gd name="T47" fmla="*/ 11791 h 21600"/>
              <a:gd name="T48" fmla="*/ 7132 w 21600"/>
              <a:gd name="T49" fmla="*/ 11791 h 21600"/>
              <a:gd name="T50" fmla="*/ 7132 w 21600"/>
              <a:gd name="T51" fmla="*/ 14268 h 21600"/>
              <a:gd name="T52" fmla="*/ 7977 w 21600"/>
              <a:gd name="T53" fmla="*/ 14268 h 21600"/>
              <a:gd name="T54" fmla="*/ 7977 w 21600"/>
              <a:gd name="T55" fmla="*/ 11791 h 21600"/>
              <a:gd name="T56" fmla="*/ 7132 w 21600"/>
              <a:gd name="T57" fmla="*/ 11791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600" h="21600">
                <a:moveTo>
                  <a:pt x="0" y="5152"/>
                </a:moveTo>
                <a:lnTo>
                  <a:pt x="2941" y="0"/>
                </a:lnTo>
                <a:lnTo>
                  <a:pt x="18625" y="0"/>
                </a:lnTo>
                <a:lnTo>
                  <a:pt x="21600" y="5152"/>
                </a:lnTo>
                <a:lnTo>
                  <a:pt x="21600" y="21600"/>
                </a:lnTo>
                <a:lnTo>
                  <a:pt x="0" y="21600"/>
                </a:lnTo>
                <a:lnTo>
                  <a:pt x="0" y="5152"/>
                </a:lnTo>
                <a:close/>
              </a:path>
              <a:path w="21600" h="21600">
                <a:moveTo>
                  <a:pt x="0" y="5251"/>
                </a:moveTo>
                <a:lnTo>
                  <a:pt x="21600" y="5251"/>
                </a:lnTo>
                <a:moveTo>
                  <a:pt x="1961" y="11791"/>
                </a:moveTo>
                <a:lnTo>
                  <a:pt x="1961" y="14268"/>
                </a:lnTo>
                <a:lnTo>
                  <a:pt x="2806" y="14268"/>
                </a:lnTo>
                <a:lnTo>
                  <a:pt x="2806" y="11791"/>
                </a:lnTo>
                <a:lnTo>
                  <a:pt x="1961" y="11791"/>
                </a:lnTo>
                <a:close/>
              </a:path>
              <a:path w="21600" h="21600">
                <a:moveTo>
                  <a:pt x="3685" y="11791"/>
                </a:moveTo>
                <a:lnTo>
                  <a:pt x="3685" y="14268"/>
                </a:lnTo>
                <a:lnTo>
                  <a:pt x="4530" y="14268"/>
                </a:lnTo>
                <a:lnTo>
                  <a:pt x="4530" y="11791"/>
                </a:lnTo>
                <a:lnTo>
                  <a:pt x="3685" y="11791"/>
                </a:lnTo>
                <a:close/>
              </a:path>
              <a:path w="21600" h="21600">
                <a:moveTo>
                  <a:pt x="5408" y="11791"/>
                </a:moveTo>
                <a:lnTo>
                  <a:pt x="5408" y="14268"/>
                </a:lnTo>
                <a:lnTo>
                  <a:pt x="6254" y="14268"/>
                </a:lnTo>
                <a:lnTo>
                  <a:pt x="6254" y="11791"/>
                </a:lnTo>
                <a:lnTo>
                  <a:pt x="5408" y="11791"/>
                </a:lnTo>
                <a:close/>
              </a:path>
              <a:path w="21600" h="21600">
                <a:moveTo>
                  <a:pt x="7132" y="11791"/>
                </a:moveTo>
                <a:lnTo>
                  <a:pt x="7132" y="14268"/>
                </a:lnTo>
                <a:lnTo>
                  <a:pt x="7977" y="14268"/>
                </a:lnTo>
                <a:lnTo>
                  <a:pt x="7977" y="11791"/>
                </a:lnTo>
                <a:lnTo>
                  <a:pt x="7132" y="11791"/>
                </a:lnTo>
                <a:close/>
              </a:path>
            </a:pathLst>
          </a:custGeom>
          <a:solidFill>
            <a:srgbClr val="C0C0C0"/>
          </a:solidFill>
          <a:ln w="9525">
            <a:solidFill>
              <a:srgbClr val="000000"/>
            </a:solidFill>
            <a:miter lim="800000"/>
            <a:headEnd/>
            <a:tailEnd/>
          </a:ln>
        </p:spPr>
        <p:txBody>
          <a:bodyPr/>
          <a:lstStyle/>
          <a:p>
            <a:endParaRPr lang="zh-CN" altLang="en-US">
              <a:latin typeface="Times New Roman" panose="02020603050405020304" pitchFamily="18" charset="0"/>
            </a:endParaRPr>
          </a:p>
        </p:txBody>
      </p:sp>
      <p:sp>
        <p:nvSpPr>
          <p:cNvPr id="43027" name="未知"/>
          <p:cNvSpPr>
            <a:spLocks noChangeArrowheads="1"/>
          </p:cNvSpPr>
          <p:nvPr/>
        </p:nvSpPr>
        <p:spPr bwMode="auto">
          <a:xfrm>
            <a:off x="5095875" y="2498725"/>
            <a:ext cx="814388" cy="1588"/>
          </a:xfrm>
          <a:custGeom>
            <a:avLst/>
            <a:gdLst>
              <a:gd name="T0" fmla="*/ 0 w 513"/>
              <a:gd name="T1" fmla="*/ 0 h 1"/>
              <a:gd name="T2" fmla="*/ 513 w 513"/>
              <a:gd name="T3" fmla="*/ 0 h 1"/>
            </a:gdLst>
            <a:ahLst/>
            <a:cxnLst>
              <a:cxn ang="0">
                <a:pos x="T0" y="T1"/>
              </a:cxn>
              <a:cxn ang="0">
                <a:pos x="T2" y="T3"/>
              </a:cxn>
            </a:cxnLst>
            <a:rect l="0" t="0" r="r" b="b"/>
            <a:pathLst>
              <a:path w="513" h="1">
                <a:moveTo>
                  <a:pt x="0" y="0"/>
                </a:moveTo>
                <a:lnTo>
                  <a:pt x="513"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43028" name="未知"/>
          <p:cNvSpPr>
            <a:spLocks noChangeArrowheads="1"/>
          </p:cNvSpPr>
          <p:nvPr/>
        </p:nvSpPr>
        <p:spPr bwMode="auto">
          <a:xfrm flipV="1">
            <a:off x="6391275" y="1722438"/>
            <a:ext cx="776288" cy="677862"/>
          </a:xfrm>
          <a:custGeom>
            <a:avLst/>
            <a:gdLst>
              <a:gd name="T0" fmla="*/ 489 w 489"/>
              <a:gd name="T1" fmla="*/ 427 h 427"/>
              <a:gd name="T2" fmla="*/ 166 w 489"/>
              <a:gd name="T3" fmla="*/ 427 h 427"/>
              <a:gd name="T4" fmla="*/ 0 w 489"/>
              <a:gd name="T5" fmla="*/ 0 h 427"/>
            </a:gdLst>
            <a:ahLst/>
            <a:cxnLst>
              <a:cxn ang="0">
                <a:pos x="T0" y="T1"/>
              </a:cxn>
              <a:cxn ang="0">
                <a:pos x="T2" y="T3"/>
              </a:cxn>
              <a:cxn ang="0">
                <a:pos x="T4" y="T5"/>
              </a:cxn>
            </a:cxnLst>
            <a:rect l="0" t="0" r="r" b="b"/>
            <a:pathLst>
              <a:path w="489" h="427">
                <a:moveTo>
                  <a:pt x="489" y="427"/>
                </a:moveTo>
                <a:lnTo>
                  <a:pt x="166" y="427"/>
                </a:ln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43029" name="Line 22"/>
          <p:cNvSpPr>
            <a:spLocks noChangeShapeType="1"/>
          </p:cNvSpPr>
          <p:nvPr/>
        </p:nvSpPr>
        <p:spPr bwMode="auto">
          <a:xfrm flipH="1" flipV="1">
            <a:off x="8137526" y="2743201"/>
            <a:ext cx="123825" cy="58261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3030" name="Text Box 23"/>
          <p:cNvSpPr txBox="1">
            <a:spLocks noChangeArrowheads="1"/>
          </p:cNvSpPr>
          <p:nvPr/>
        </p:nvSpPr>
        <p:spPr bwMode="auto">
          <a:xfrm>
            <a:off x="4054476" y="2614614"/>
            <a:ext cx="10001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2000" b="0">
                <a:solidFill>
                  <a:srgbClr val="003399"/>
                </a:solidFill>
                <a:latin typeface="Comic Sans MS" panose="030F0702030302020204" pitchFamily="66" charset="0"/>
              </a:rPr>
              <a:t>cable</a:t>
            </a:r>
          </a:p>
          <a:p>
            <a:pPr algn="ctr" eaLnBrk="0" hangingPunct="0"/>
            <a:r>
              <a:rPr lang="zh-CN" altLang="zh-CN" sz="2000" b="0">
                <a:solidFill>
                  <a:srgbClr val="003399"/>
                </a:solidFill>
                <a:latin typeface="Comic Sans MS" panose="030F0702030302020204" pitchFamily="66" charset="0"/>
              </a:rPr>
              <a:t>modem</a:t>
            </a:r>
            <a:endParaRPr lang="zh-CN" altLang="zh-CN" sz="2000" b="0">
              <a:solidFill>
                <a:srgbClr val="003399"/>
              </a:solidFill>
              <a:latin typeface="Times New Roman" panose="02020603050405020304" pitchFamily="18" charset="0"/>
            </a:endParaRPr>
          </a:p>
        </p:txBody>
      </p:sp>
      <p:sp>
        <p:nvSpPr>
          <p:cNvPr id="43031" name="Line 24"/>
          <p:cNvSpPr>
            <a:spLocks noChangeShapeType="1"/>
          </p:cNvSpPr>
          <p:nvPr/>
        </p:nvSpPr>
        <p:spPr bwMode="auto">
          <a:xfrm>
            <a:off x="3495675" y="2481263"/>
            <a:ext cx="5667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3032" name="Text Box 25"/>
          <p:cNvSpPr txBox="1">
            <a:spLocks noChangeArrowheads="1"/>
          </p:cNvSpPr>
          <p:nvPr/>
        </p:nvSpPr>
        <p:spPr bwMode="auto">
          <a:xfrm>
            <a:off x="2317751" y="1987551"/>
            <a:ext cx="1171575" cy="100647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2000" b="0">
                <a:latin typeface="Comic Sans MS" panose="030F0702030302020204" pitchFamily="66" charset="0"/>
              </a:rPr>
              <a:t>to/from</a:t>
            </a:r>
          </a:p>
          <a:p>
            <a:pPr algn="ctr" eaLnBrk="0" hangingPunct="0"/>
            <a:r>
              <a:rPr lang="zh-CN" altLang="zh-CN" sz="2000" b="0">
                <a:latin typeface="Comic Sans MS" panose="030F0702030302020204" pitchFamily="66" charset="0"/>
              </a:rPr>
              <a:t>cable</a:t>
            </a:r>
          </a:p>
          <a:p>
            <a:pPr algn="ctr" eaLnBrk="0" hangingPunct="0"/>
            <a:r>
              <a:rPr lang="zh-CN" altLang="zh-CN" sz="2000" b="0">
                <a:latin typeface="Comic Sans MS" panose="030F0702030302020204" pitchFamily="66" charset="0"/>
              </a:rPr>
              <a:t>headend</a:t>
            </a:r>
            <a:endParaRPr lang="zh-CN" altLang="zh-CN" sz="2000" b="0">
              <a:latin typeface="Times New Roman" panose="02020603050405020304" pitchFamily="18" charset="0"/>
            </a:endParaRPr>
          </a:p>
        </p:txBody>
      </p:sp>
      <p:grpSp>
        <p:nvGrpSpPr>
          <p:cNvPr id="43033" name="Group 26"/>
          <p:cNvGrpSpPr>
            <a:grpSpLocks/>
          </p:cNvGrpSpPr>
          <p:nvPr/>
        </p:nvGrpSpPr>
        <p:grpSpPr bwMode="auto">
          <a:xfrm>
            <a:off x="5872163" y="2276475"/>
            <a:ext cx="766762" cy="433388"/>
            <a:chOff x="0" y="0"/>
            <a:chExt cx="360" cy="175"/>
          </a:xfrm>
        </p:grpSpPr>
        <p:sp>
          <p:nvSpPr>
            <p:cNvPr id="43034" name="Oval 27"/>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sp>
          <p:nvSpPr>
            <p:cNvPr id="43035" name="Line 28"/>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3036" name="Line 29"/>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3037" name="Rectangle 30"/>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400" b="0">
                <a:solidFill>
                  <a:srgbClr val="003399"/>
                </a:solidFill>
                <a:latin typeface="Times New Roman" panose="02020603050405020304" pitchFamily="18" charset="0"/>
              </a:endParaRPr>
            </a:p>
          </p:txBody>
        </p:sp>
        <p:sp>
          <p:nvSpPr>
            <p:cNvPr id="43038" name="Oval 31"/>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p>
              <a:pPr algn="ctr" eaLnBrk="0" hangingPunct="0"/>
              <a:endParaRPr lang="zh-CN" altLang="en-US">
                <a:latin typeface="Times New Roman" panose="02020603050405020304" pitchFamily="18" charset="0"/>
              </a:endParaRPr>
            </a:p>
          </p:txBody>
        </p:sp>
        <p:grpSp>
          <p:nvGrpSpPr>
            <p:cNvPr id="43039" name="Group 32"/>
            <p:cNvGrpSpPr>
              <a:grpSpLocks/>
            </p:cNvGrpSpPr>
            <p:nvPr/>
          </p:nvGrpSpPr>
          <p:grpSpPr bwMode="auto">
            <a:xfrm>
              <a:off x="86" y="25"/>
              <a:ext cx="177" cy="66"/>
              <a:chOff x="0" y="0"/>
              <a:chExt cx="140" cy="98"/>
            </a:xfrm>
          </p:grpSpPr>
          <p:sp>
            <p:nvSpPr>
              <p:cNvPr id="43040" name="Line 33"/>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3041" name="Line 34"/>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3042" name="Line 35"/>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nvGrpSpPr>
            <p:cNvPr id="43043" name="Group 36"/>
            <p:cNvGrpSpPr>
              <a:grpSpLocks/>
            </p:cNvGrpSpPr>
            <p:nvPr/>
          </p:nvGrpSpPr>
          <p:grpSpPr bwMode="auto">
            <a:xfrm flipV="1">
              <a:off x="86" y="24"/>
              <a:ext cx="177" cy="66"/>
              <a:chOff x="0" y="0"/>
              <a:chExt cx="140" cy="98"/>
            </a:xfrm>
          </p:grpSpPr>
          <p:sp>
            <p:nvSpPr>
              <p:cNvPr id="43044" name="Line 37"/>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3045" name="Line 38"/>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3046" name="Line 39"/>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grpSp>
      </p:grpSp>
      <p:sp>
        <p:nvSpPr>
          <p:cNvPr id="43047" name="Text Box 40"/>
          <p:cNvSpPr txBox="1">
            <a:spLocks noChangeArrowheads="1"/>
          </p:cNvSpPr>
          <p:nvPr/>
        </p:nvSpPr>
        <p:spPr bwMode="auto">
          <a:xfrm>
            <a:off x="5592763" y="3762376"/>
            <a:ext cx="17446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2000" b="0">
                <a:solidFill>
                  <a:srgbClr val="003399"/>
                </a:solidFill>
                <a:latin typeface="Comic Sans MS" panose="030F0702030302020204" pitchFamily="66" charset="0"/>
              </a:rPr>
              <a:t>Ethernet</a:t>
            </a:r>
          </a:p>
          <a:p>
            <a:pPr algn="ctr" eaLnBrk="0" hangingPunct="0"/>
            <a:r>
              <a:rPr lang="zh-CN" altLang="zh-CN" sz="2000" b="0">
                <a:solidFill>
                  <a:srgbClr val="003399"/>
                </a:solidFill>
                <a:latin typeface="Comic Sans MS" panose="030F0702030302020204" pitchFamily="66" charset="0"/>
              </a:rPr>
              <a:t>（switched）</a:t>
            </a:r>
            <a:endParaRPr lang="zh-CN" altLang="zh-CN" sz="2000" b="0">
              <a:solidFill>
                <a:srgbClr val="003399"/>
              </a:solidFill>
              <a:latin typeface="Times New Roman" panose="02020603050405020304" pitchFamily="18" charset="0"/>
            </a:endParaRPr>
          </a:p>
        </p:txBody>
      </p:sp>
      <p:sp>
        <p:nvSpPr>
          <p:cNvPr id="43048" name="Line 41"/>
          <p:cNvSpPr>
            <a:spLocks noChangeShapeType="1"/>
          </p:cNvSpPr>
          <p:nvPr/>
        </p:nvSpPr>
        <p:spPr bwMode="auto">
          <a:xfrm flipV="1">
            <a:off x="6488113" y="3005138"/>
            <a:ext cx="69850" cy="81915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3049" name="Line 42"/>
          <p:cNvSpPr>
            <a:spLocks noChangeShapeType="1"/>
          </p:cNvSpPr>
          <p:nvPr/>
        </p:nvSpPr>
        <p:spPr bwMode="auto">
          <a:xfrm flipV="1">
            <a:off x="6500813" y="1716088"/>
            <a:ext cx="444500" cy="209391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3050" name="Line 43"/>
          <p:cNvSpPr>
            <a:spLocks noChangeShapeType="1"/>
          </p:cNvSpPr>
          <p:nvPr/>
        </p:nvSpPr>
        <p:spPr bwMode="auto">
          <a:xfrm flipV="1">
            <a:off x="6486526" y="3254375"/>
            <a:ext cx="347663" cy="52863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anim calcmode="lin" valueType="num">
                                      <p:cBhvr additive="base">
                                        <p:cTn id="7" dur="500" fill="hold"/>
                                        <p:tgtEl>
                                          <p:spTgt spid="4301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30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3010">
                                            <p:txEl>
                                              <p:pRg st="1" end="1"/>
                                            </p:txEl>
                                          </p:spTgt>
                                        </p:tgtEl>
                                        <p:attrNameLst>
                                          <p:attrName>style.visibility</p:attrName>
                                        </p:attrNameLst>
                                      </p:cBhvr>
                                      <p:to>
                                        <p:strVal val="visible"/>
                                      </p:to>
                                    </p:set>
                                    <p:anim calcmode="lin" valueType="num">
                                      <p:cBhvr additive="base">
                                        <p:cTn id="13" dur="500" fill="hold"/>
                                        <p:tgtEl>
                                          <p:spTgt spid="4301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30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3010">
                                            <p:txEl>
                                              <p:pRg st="2" end="2"/>
                                            </p:txEl>
                                          </p:spTgt>
                                        </p:tgtEl>
                                        <p:attrNameLst>
                                          <p:attrName>style.visibility</p:attrName>
                                        </p:attrNameLst>
                                      </p:cBhvr>
                                      <p:to>
                                        <p:strVal val="visible"/>
                                      </p:to>
                                    </p:set>
                                    <p:anim calcmode="lin" valueType="num">
                                      <p:cBhvr additive="base">
                                        <p:cTn id="19" dur="500" fill="hold"/>
                                        <p:tgtEl>
                                          <p:spTgt spid="4301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301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3010">
                                            <p:txEl>
                                              <p:pRg st="3" end="3"/>
                                            </p:txEl>
                                          </p:spTgt>
                                        </p:tgtEl>
                                        <p:attrNameLst>
                                          <p:attrName>style.visibility</p:attrName>
                                        </p:attrNameLst>
                                      </p:cBhvr>
                                      <p:to>
                                        <p:strVal val="visible"/>
                                      </p:to>
                                    </p:set>
                                    <p:anim calcmode="lin" valueType="num">
                                      <p:cBhvr additive="base">
                                        <p:cTn id="25" dur="500" fill="hold"/>
                                        <p:tgtEl>
                                          <p:spTgt spid="4301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301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3010">
                                            <p:txEl>
                                              <p:pRg st="4" end="4"/>
                                            </p:txEl>
                                          </p:spTgt>
                                        </p:tgtEl>
                                        <p:attrNameLst>
                                          <p:attrName>style.visibility</p:attrName>
                                        </p:attrNameLst>
                                      </p:cBhvr>
                                      <p:to>
                                        <p:strVal val="visible"/>
                                      </p:to>
                                    </p:set>
                                    <p:anim calcmode="lin" valueType="num">
                                      <p:cBhvr additive="base">
                                        <p:cTn id="31" dur="500" fill="hold"/>
                                        <p:tgtEl>
                                          <p:spTgt spid="43010">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3010">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a:xfrm>
            <a:off x="276447" y="0"/>
            <a:ext cx="9615266" cy="1079499"/>
          </a:xfrm>
        </p:spPr>
        <p:txBody>
          <a:bodyPr>
            <a:normAutofit/>
          </a:bodyPr>
          <a:lstStyle/>
          <a:p>
            <a:pPr eaLnBrk="1" hangingPunct="1"/>
            <a:r>
              <a:rPr lang="zh-CN" altLang="zh-CN" sz="3600" b="1">
                <a:ea typeface="华文楷体" panose="02010600040101010101" pitchFamily="2" charset="-122"/>
              </a:rPr>
              <a:t>1.4 计算机网络的功能</a:t>
            </a:r>
          </a:p>
        </p:txBody>
      </p:sp>
      <p:sp>
        <p:nvSpPr>
          <p:cNvPr id="44035" name="Text Box 3"/>
          <p:cNvSpPr txBox="1">
            <a:spLocks noChangeArrowheads="1"/>
          </p:cNvSpPr>
          <p:nvPr/>
        </p:nvSpPr>
        <p:spPr bwMode="auto">
          <a:xfrm>
            <a:off x="776176" y="1430825"/>
            <a:ext cx="10930270" cy="5090624"/>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4163" indent="-284163">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资源共享（Resource Sharing）功能</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包括硬件、软件和数据等资源共享</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分散对象的实时集中控制及管理功能</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均衡负荷及分布处理功能</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综合信息服务功能</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数据传输、EMAIL、MIS、电子商务、远程教育、远程医疗、政府上网等</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提高系统的可靠性（High Reliability）</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节约开支（性能价格比高）</a:t>
            </a:r>
          </a:p>
          <a:p>
            <a:pPr algn="just">
              <a:spcBef>
                <a:spcPct val="2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系统升级方便</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500" fill="hold"/>
                                        <p:tgtEl>
                                          <p:spTgt spid="4403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40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4035">
                                            <p:txEl>
                                              <p:pRg st="1" end="1"/>
                                            </p:txEl>
                                          </p:spTgt>
                                        </p:tgtEl>
                                        <p:attrNameLst>
                                          <p:attrName>style.visibility</p:attrName>
                                        </p:attrNameLst>
                                      </p:cBhvr>
                                      <p:to>
                                        <p:strVal val="visible"/>
                                      </p:to>
                                    </p:set>
                                    <p:anim calcmode="lin" valueType="num">
                                      <p:cBhvr additive="base">
                                        <p:cTn id="13" dur="500" fill="hold"/>
                                        <p:tgtEl>
                                          <p:spTgt spid="4403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40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4035">
                                            <p:txEl>
                                              <p:pRg st="2" end="2"/>
                                            </p:txEl>
                                          </p:spTgt>
                                        </p:tgtEl>
                                        <p:attrNameLst>
                                          <p:attrName>style.visibility</p:attrName>
                                        </p:attrNameLst>
                                      </p:cBhvr>
                                      <p:to>
                                        <p:strVal val="visible"/>
                                      </p:to>
                                    </p:set>
                                    <p:anim calcmode="lin" valueType="num">
                                      <p:cBhvr additive="base">
                                        <p:cTn id="19" dur="500" fill="hold"/>
                                        <p:tgtEl>
                                          <p:spTgt spid="4403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40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4035">
                                            <p:txEl>
                                              <p:pRg st="3" end="3"/>
                                            </p:txEl>
                                          </p:spTgt>
                                        </p:tgtEl>
                                        <p:attrNameLst>
                                          <p:attrName>style.visibility</p:attrName>
                                        </p:attrNameLst>
                                      </p:cBhvr>
                                      <p:to>
                                        <p:strVal val="visible"/>
                                      </p:to>
                                    </p:set>
                                    <p:anim calcmode="lin" valueType="num">
                                      <p:cBhvr additive="base">
                                        <p:cTn id="25" dur="500" fill="hold"/>
                                        <p:tgtEl>
                                          <p:spTgt spid="4403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40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4035">
                                            <p:txEl>
                                              <p:pRg st="4" end="4"/>
                                            </p:txEl>
                                          </p:spTgt>
                                        </p:tgtEl>
                                        <p:attrNameLst>
                                          <p:attrName>style.visibility</p:attrName>
                                        </p:attrNameLst>
                                      </p:cBhvr>
                                      <p:to>
                                        <p:strVal val="visible"/>
                                      </p:to>
                                    </p:set>
                                    <p:anim calcmode="lin" valueType="num">
                                      <p:cBhvr additive="base">
                                        <p:cTn id="31" dur="500" fill="hold"/>
                                        <p:tgtEl>
                                          <p:spTgt spid="4403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40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44035">
                                            <p:txEl>
                                              <p:pRg st="5" end="5"/>
                                            </p:txEl>
                                          </p:spTgt>
                                        </p:tgtEl>
                                        <p:attrNameLst>
                                          <p:attrName>style.visibility</p:attrName>
                                        </p:attrNameLst>
                                      </p:cBhvr>
                                      <p:to>
                                        <p:strVal val="visible"/>
                                      </p:to>
                                    </p:set>
                                    <p:anim calcmode="lin" valueType="num">
                                      <p:cBhvr additive="base">
                                        <p:cTn id="37" dur="500" fill="hold"/>
                                        <p:tgtEl>
                                          <p:spTgt spid="4403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4403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44035">
                                            <p:txEl>
                                              <p:pRg st="6" end="6"/>
                                            </p:txEl>
                                          </p:spTgt>
                                        </p:tgtEl>
                                        <p:attrNameLst>
                                          <p:attrName>style.visibility</p:attrName>
                                        </p:attrNameLst>
                                      </p:cBhvr>
                                      <p:to>
                                        <p:strVal val="visible"/>
                                      </p:to>
                                    </p:set>
                                    <p:anim calcmode="lin" valueType="num">
                                      <p:cBhvr additive="base">
                                        <p:cTn id="43" dur="500" fill="hold"/>
                                        <p:tgtEl>
                                          <p:spTgt spid="4403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4403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44035">
                                            <p:txEl>
                                              <p:pRg st="7" end="7"/>
                                            </p:txEl>
                                          </p:spTgt>
                                        </p:tgtEl>
                                        <p:attrNameLst>
                                          <p:attrName>style.visibility</p:attrName>
                                        </p:attrNameLst>
                                      </p:cBhvr>
                                      <p:to>
                                        <p:strVal val="visible"/>
                                      </p:to>
                                    </p:set>
                                    <p:anim calcmode="lin" valueType="num">
                                      <p:cBhvr additive="base">
                                        <p:cTn id="49" dur="500" fill="hold"/>
                                        <p:tgtEl>
                                          <p:spTgt spid="44035">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4403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44035">
                                            <p:txEl>
                                              <p:pRg st="8" end="8"/>
                                            </p:txEl>
                                          </p:spTgt>
                                        </p:tgtEl>
                                        <p:attrNameLst>
                                          <p:attrName>style.visibility</p:attrName>
                                        </p:attrNameLst>
                                      </p:cBhvr>
                                      <p:to>
                                        <p:strVal val="visible"/>
                                      </p:to>
                                    </p:set>
                                    <p:anim calcmode="lin" valueType="num">
                                      <p:cBhvr additive="base">
                                        <p:cTn id="55" dur="500" fill="hold"/>
                                        <p:tgtEl>
                                          <p:spTgt spid="44035">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44035">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a:xfrm>
            <a:off x="198439" y="223506"/>
            <a:ext cx="6294437" cy="749300"/>
          </a:xfrm>
        </p:spPr>
        <p:txBody>
          <a:bodyPr/>
          <a:lstStyle/>
          <a:p>
            <a:pPr eaLnBrk="1" hangingPunct="1"/>
            <a:r>
              <a:rPr lang="zh-CN" altLang="zh-CN" b="1">
                <a:ea typeface="华文楷体" panose="02010600040101010101" pitchFamily="2" charset="-122"/>
              </a:rPr>
              <a:t>1.5 计算机网络的分类</a:t>
            </a:r>
          </a:p>
        </p:txBody>
      </p:sp>
      <p:sp>
        <p:nvSpPr>
          <p:cNvPr id="45059" name="Text Box 3"/>
          <p:cNvSpPr txBox="1">
            <a:spLocks noChangeArrowheads="1"/>
          </p:cNvSpPr>
          <p:nvPr/>
        </p:nvSpPr>
        <p:spPr bwMode="auto">
          <a:xfrm>
            <a:off x="1985039" y="1612938"/>
            <a:ext cx="8221921" cy="3908762"/>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352425">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gn="just">
              <a:spcBef>
                <a:spcPct val="30000"/>
              </a:spcBef>
            </a:pPr>
            <a:r>
              <a:rPr lang="zh-CN" altLang="zh-CN" sz="4000">
                <a:solidFill>
                  <a:schemeClr val="accent2"/>
                </a:solidFill>
                <a:latin typeface="华文楷体" panose="02010600040101010101" pitchFamily="2" charset="-122"/>
                <a:ea typeface="华文楷体" panose="02010600040101010101" pitchFamily="2" charset="-122"/>
              </a:rPr>
              <a:t>计算机网络的分类方案</a:t>
            </a:r>
          </a:p>
          <a:p>
            <a:pPr algn="just">
              <a:spcBef>
                <a:spcPct val="3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按计算机网络覆盖的地理范围</a:t>
            </a:r>
          </a:p>
          <a:p>
            <a:pPr algn="just">
              <a:spcBef>
                <a:spcPct val="3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按所面向的服务对象的公用与专用性质</a:t>
            </a:r>
          </a:p>
          <a:p>
            <a:pPr algn="just">
              <a:spcBef>
                <a:spcPct val="3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按所采用的技术</a:t>
            </a:r>
          </a:p>
          <a:p>
            <a:pPr algn="just">
              <a:spcBef>
                <a:spcPct val="3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按被传的媒体的性质与提供的服务种类 </a:t>
            </a:r>
          </a:p>
          <a:p>
            <a:pPr algn="just">
              <a:spcBef>
                <a:spcPct val="30000"/>
              </a:spcBef>
              <a:buClr>
                <a:schemeClr val="folHlink"/>
              </a:buClr>
              <a:buFont typeface="Arial" panose="020B0604020202020204" pitchFamily="34" charset="0"/>
              <a:buChar char="•"/>
            </a:pPr>
            <a:r>
              <a:rPr lang="zh-CN" altLang="zh-CN" sz="3200">
                <a:solidFill>
                  <a:schemeClr val="accent1"/>
                </a:solidFill>
                <a:ea typeface="华文楷体" panose="02010600040101010101" pitchFamily="2" charset="-122"/>
              </a:rPr>
              <a:t>……</a:t>
            </a:r>
            <a:endParaRPr lang="zh-CN" altLang="zh-CN" sz="3200">
              <a:solidFill>
                <a:schemeClr val="accent1"/>
              </a:solidFill>
              <a:latin typeface="华文楷体" panose="02010600040101010101" pitchFamily="2" charset="-122"/>
              <a:ea typeface="华文楷体" panose="0201060004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5059">
                                            <p:txEl>
                                              <p:pRg st="1" end="1"/>
                                            </p:txEl>
                                          </p:spTgt>
                                        </p:tgtEl>
                                        <p:attrNameLst>
                                          <p:attrName>style.visibility</p:attrName>
                                        </p:attrNameLst>
                                      </p:cBhvr>
                                      <p:to>
                                        <p:strVal val="visible"/>
                                      </p:to>
                                    </p:set>
                                    <p:anim calcmode="lin" valueType="num">
                                      <p:cBhvr additive="base">
                                        <p:cTn id="13" dur="500" fill="hold"/>
                                        <p:tgtEl>
                                          <p:spTgt spid="4505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50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5059">
                                            <p:txEl>
                                              <p:pRg st="2" end="2"/>
                                            </p:txEl>
                                          </p:spTgt>
                                        </p:tgtEl>
                                        <p:attrNameLst>
                                          <p:attrName>style.visibility</p:attrName>
                                        </p:attrNameLst>
                                      </p:cBhvr>
                                      <p:to>
                                        <p:strVal val="visible"/>
                                      </p:to>
                                    </p:set>
                                    <p:anim calcmode="lin" valueType="num">
                                      <p:cBhvr additive="base">
                                        <p:cTn id="19" dur="500" fill="hold"/>
                                        <p:tgtEl>
                                          <p:spTgt spid="4505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50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5059">
                                            <p:txEl>
                                              <p:pRg st="3" end="3"/>
                                            </p:txEl>
                                          </p:spTgt>
                                        </p:tgtEl>
                                        <p:attrNameLst>
                                          <p:attrName>style.visibility</p:attrName>
                                        </p:attrNameLst>
                                      </p:cBhvr>
                                      <p:to>
                                        <p:strVal val="visible"/>
                                      </p:to>
                                    </p:set>
                                    <p:anim calcmode="lin" valueType="num">
                                      <p:cBhvr additive="base">
                                        <p:cTn id="25" dur="500" fill="hold"/>
                                        <p:tgtEl>
                                          <p:spTgt spid="4505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50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5059">
                                            <p:txEl>
                                              <p:pRg st="4" end="4"/>
                                            </p:txEl>
                                          </p:spTgt>
                                        </p:tgtEl>
                                        <p:attrNameLst>
                                          <p:attrName>style.visibility</p:attrName>
                                        </p:attrNameLst>
                                      </p:cBhvr>
                                      <p:to>
                                        <p:strVal val="visible"/>
                                      </p:to>
                                    </p:set>
                                    <p:anim calcmode="lin" valueType="num">
                                      <p:cBhvr additive="base">
                                        <p:cTn id="31" dur="500" fill="hold"/>
                                        <p:tgtEl>
                                          <p:spTgt spid="4505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50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45059">
                                            <p:txEl>
                                              <p:pRg st="5" end="5"/>
                                            </p:txEl>
                                          </p:spTgt>
                                        </p:tgtEl>
                                        <p:attrNameLst>
                                          <p:attrName>style.visibility</p:attrName>
                                        </p:attrNameLst>
                                      </p:cBhvr>
                                      <p:to>
                                        <p:strVal val="visible"/>
                                      </p:to>
                                    </p:set>
                                    <p:anim calcmode="lin" valueType="num">
                                      <p:cBhvr additive="base">
                                        <p:cTn id="37" dur="500" fill="hold"/>
                                        <p:tgtEl>
                                          <p:spTgt spid="45059">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4505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idx="4294967295"/>
          </p:nvPr>
        </p:nvSpPr>
        <p:spPr>
          <a:xfrm>
            <a:off x="2562447" y="288594"/>
            <a:ext cx="6635750" cy="617537"/>
          </a:xfrm>
        </p:spPr>
        <p:txBody>
          <a:bodyPr>
            <a:normAutofit fontScale="90000"/>
          </a:bodyPr>
          <a:lstStyle/>
          <a:p>
            <a:pPr algn="ctr" eaLnBrk="1" hangingPunct="1"/>
            <a:r>
              <a:rPr lang="zh-CN" altLang="zh-CN" sz="4400">
                <a:ea typeface="华文楷体" panose="02010600040101010101" pitchFamily="2" charset="-122"/>
              </a:rPr>
              <a:t>按覆盖的地理范围划分</a:t>
            </a:r>
            <a:r>
              <a:rPr lang="zh-CN" altLang="zh-CN" sz="2800">
                <a:solidFill>
                  <a:srgbClr val="CC3300"/>
                </a:solidFill>
                <a:ea typeface="华文楷体" panose="02010600040101010101" pitchFamily="2" charset="-122"/>
              </a:rPr>
              <a:t> </a:t>
            </a:r>
          </a:p>
        </p:txBody>
      </p:sp>
      <p:sp>
        <p:nvSpPr>
          <p:cNvPr id="46083" name="Text Box 3"/>
          <p:cNvSpPr txBox="1">
            <a:spLocks noChangeArrowheads="1"/>
          </p:cNvSpPr>
          <p:nvPr/>
        </p:nvSpPr>
        <p:spPr bwMode="auto">
          <a:xfrm>
            <a:off x="1300096" y="1804582"/>
            <a:ext cx="9591808" cy="2800767"/>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90525" indent="-390525">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spcBef>
                <a:spcPct val="5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局域网（</a:t>
            </a:r>
            <a:r>
              <a:rPr lang="zh-CN" altLang="zh-CN" sz="3200">
                <a:solidFill>
                  <a:srgbClr val="FF0000"/>
                </a:solidFill>
                <a:latin typeface="华文楷体" panose="02010600040101010101" pitchFamily="2" charset="-122"/>
                <a:ea typeface="华文楷体" panose="02010600040101010101" pitchFamily="2" charset="-122"/>
              </a:rPr>
              <a:t>L</a:t>
            </a:r>
            <a:r>
              <a:rPr lang="en-US" altLang="zh-CN" sz="3200">
                <a:solidFill>
                  <a:srgbClr val="FF0000"/>
                </a:solidFill>
                <a:latin typeface="华文楷体" panose="02010600040101010101" pitchFamily="2" charset="-122"/>
                <a:ea typeface="华文楷体" panose="02010600040101010101" pitchFamily="2" charset="-122"/>
              </a:rPr>
              <a:t>ocal</a:t>
            </a:r>
            <a:r>
              <a:rPr lang="en-US" altLang="zh-CN" sz="3200">
                <a:solidFill>
                  <a:schemeClr val="accent1"/>
                </a:solidFill>
                <a:latin typeface="华文楷体" panose="02010600040101010101" pitchFamily="2" charset="-122"/>
                <a:ea typeface="华文楷体" panose="02010600040101010101" pitchFamily="2" charset="-122"/>
              </a:rPr>
              <a:t> Area Network </a:t>
            </a:r>
            <a:r>
              <a:rPr lang="zh-CN" altLang="zh-CN" sz="3200">
                <a:solidFill>
                  <a:schemeClr val="accent1"/>
                </a:solidFill>
                <a:latin typeface="华文楷体" panose="02010600040101010101" pitchFamily="2" charset="-122"/>
                <a:ea typeface="华文楷体" panose="02010600040101010101" pitchFamily="2" charset="-122"/>
              </a:rPr>
              <a:t>）（几公里以内）</a:t>
            </a:r>
          </a:p>
          <a:p>
            <a:pPr>
              <a:spcBef>
                <a:spcPct val="5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园区网 （</a:t>
            </a:r>
            <a:r>
              <a:rPr lang="en-US" altLang="zh-CN" sz="3200">
                <a:solidFill>
                  <a:srgbClr val="FF0000"/>
                </a:solidFill>
                <a:latin typeface="华文楷体" panose="02010600040101010101" pitchFamily="2" charset="-122"/>
                <a:ea typeface="华文楷体" panose="02010600040101010101" pitchFamily="2" charset="-122"/>
              </a:rPr>
              <a:t>Campus</a:t>
            </a:r>
            <a:r>
              <a:rPr lang="en-US" altLang="zh-CN" sz="3200">
                <a:solidFill>
                  <a:schemeClr val="accent1"/>
                </a:solidFill>
                <a:latin typeface="华文楷体" panose="02010600040101010101" pitchFamily="2" charset="-122"/>
                <a:ea typeface="华文楷体" panose="02010600040101010101" pitchFamily="2" charset="-122"/>
              </a:rPr>
              <a:t> Area Network</a:t>
            </a:r>
            <a:r>
              <a:rPr lang="zh-CN" altLang="zh-CN" sz="3200">
                <a:solidFill>
                  <a:schemeClr val="accent1"/>
                </a:solidFill>
                <a:latin typeface="华文楷体" panose="02010600040101010101" pitchFamily="2" charset="-122"/>
                <a:ea typeface="华文楷体" panose="02010600040101010101" pitchFamily="2" charset="-122"/>
              </a:rPr>
              <a:t>）</a:t>
            </a:r>
            <a:r>
              <a:rPr lang="zh-CN" altLang="en-US" sz="3200">
                <a:solidFill>
                  <a:schemeClr val="accent1"/>
                </a:solidFill>
                <a:latin typeface="华文楷体" panose="02010600040101010101" pitchFamily="2" charset="-122"/>
                <a:ea typeface="华文楷体" panose="02010600040101010101" pitchFamily="2" charset="-122"/>
              </a:rPr>
              <a:t>（</a:t>
            </a:r>
            <a:r>
              <a:rPr lang="zh-CN" altLang="zh-CN" sz="3200">
                <a:solidFill>
                  <a:schemeClr val="accent1"/>
                </a:solidFill>
                <a:latin typeface="华文楷体" panose="02010600040101010101" pitchFamily="2" charset="-122"/>
                <a:ea typeface="华文楷体" panose="02010600040101010101" pitchFamily="2" charset="-122"/>
              </a:rPr>
              <a:t>十几公里）</a:t>
            </a:r>
          </a:p>
          <a:p>
            <a:pPr>
              <a:spcBef>
                <a:spcPct val="5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城域网（</a:t>
            </a:r>
            <a:r>
              <a:rPr lang="en-US" altLang="zh-CN" sz="3200">
                <a:solidFill>
                  <a:srgbClr val="FF0000"/>
                </a:solidFill>
                <a:latin typeface="华文楷体" panose="02010600040101010101" pitchFamily="2" charset="-122"/>
                <a:ea typeface="华文楷体" panose="02010600040101010101" pitchFamily="2" charset="-122"/>
              </a:rPr>
              <a:t>Metropolitan</a:t>
            </a:r>
            <a:r>
              <a:rPr lang="en-US" altLang="zh-CN" sz="3200">
                <a:solidFill>
                  <a:schemeClr val="accent1"/>
                </a:solidFill>
                <a:latin typeface="华文楷体" panose="02010600040101010101" pitchFamily="2" charset="-122"/>
                <a:ea typeface="华文楷体" panose="02010600040101010101" pitchFamily="2" charset="-122"/>
              </a:rPr>
              <a:t> Area Network </a:t>
            </a:r>
            <a:r>
              <a:rPr lang="zh-CN" altLang="zh-CN" sz="3200">
                <a:solidFill>
                  <a:schemeClr val="accent1"/>
                </a:solidFill>
                <a:latin typeface="华文楷体" panose="02010600040101010101" pitchFamily="2" charset="-122"/>
                <a:ea typeface="华文楷体" panose="02010600040101010101" pitchFamily="2" charset="-122"/>
              </a:rPr>
              <a:t>）（几十公里）</a:t>
            </a:r>
          </a:p>
          <a:p>
            <a:pPr>
              <a:spcBef>
                <a:spcPct val="50000"/>
              </a:spcBef>
              <a:buClr>
                <a:schemeClr val="folHlink"/>
              </a:buClr>
              <a:buFont typeface="Arial" panose="020B0604020202020204" pitchFamily="34" charset="0"/>
              <a:buChar char="•"/>
            </a:pPr>
            <a:r>
              <a:rPr lang="zh-CN" altLang="zh-CN" sz="3200">
                <a:solidFill>
                  <a:schemeClr val="accent1"/>
                </a:solidFill>
                <a:latin typeface="华文楷体" panose="02010600040101010101" pitchFamily="2" charset="-122"/>
                <a:ea typeface="华文楷体" panose="02010600040101010101" pitchFamily="2" charset="-122"/>
              </a:rPr>
              <a:t>广域网（</a:t>
            </a:r>
            <a:r>
              <a:rPr lang="zh-CN" altLang="zh-CN" sz="3200">
                <a:solidFill>
                  <a:srgbClr val="FF0000"/>
                </a:solidFill>
                <a:latin typeface="华文楷体" panose="02010600040101010101" pitchFamily="2" charset="-122"/>
                <a:ea typeface="华文楷体" panose="02010600040101010101" pitchFamily="2" charset="-122"/>
              </a:rPr>
              <a:t>W</a:t>
            </a:r>
            <a:r>
              <a:rPr lang="en-US" altLang="zh-CN" sz="3200">
                <a:solidFill>
                  <a:srgbClr val="FF0000"/>
                </a:solidFill>
                <a:latin typeface="华文楷体" panose="02010600040101010101" pitchFamily="2" charset="-122"/>
                <a:ea typeface="华文楷体" panose="02010600040101010101" pitchFamily="2" charset="-122"/>
              </a:rPr>
              <a:t>ide</a:t>
            </a:r>
            <a:r>
              <a:rPr lang="en-US" altLang="zh-CN" sz="3200">
                <a:solidFill>
                  <a:schemeClr val="accent1"/>
                </a:solidFill>
                <a:latin typeface="华文楷体" panose="02010600040101010101" pitchFamily="2" charset="-122"/>
                <a:ea typeface="华文楷体" panose="02010600040101010101" pitchFamily="2" charset="-122"/>
              </a:rPr>
              <a:t> Area Network </a:t>
            </a:r>
            <a:r>
              <a:rPr lang="zh-CN" altLang="zh-CN" sz="3200">
                <a:solidFill>
                  <a:schemeClr val="accent1"/>
                </a:solidFill>
                <a:latin typeface="华文楷体" panose="02010600040101010101" pitchFamily="2" charset="-122"/>
                <a:ea typeface="华文楷体" panose="02010600040101010101" pitchFamily="2" charset="-122"/>
              </a:rPr>
              <a:t>）（数十公里以上）</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6083">
                                            <p:bg/>
                                          </p:spTgt>
                                        </p:tgtEl>
                                        <p:attrNameLst>
                                          <p:attrName>style.visibility</p:attrName>
                                        </p:attrNameLst>
                                      </p:cBhvr>
                                      <p:to>
                                        <p:strVal val="visible"/>
                                      </p:to>
                                    </p:set>
                                    <p:anim calcmode="lin" valueType="num">
                                      <p:cBhvr additive="base">
                                        <p:cTn id="7" dur="500" fill="hold"/>
                                        <p:tgtEl>
                                          <p:spTgt spid="46083">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46083">
                                            <p:bg/>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6083">
                                            <p:txEl>
                                              <p:pRg st="0" end="0"/>
                                            </p:txEl>
                                          </p:spTgt>
                                        </p:tgtEl>
                                        <p:attrNameLst>
                                          <p:attrName>style.visibility</p:attrName>
                                        </p:attrNameLst>
                                      </p:cBhvr>
                                      <p:to>
                                        <p:strVal val="visible"/>
                                      </p:to>
                                    </p:set>
                                    <p:anim calcmode="lin" valueType="num">
                                      <p:cBhvr additive="base">
                                        <p:cTn id="13" dur="500" fill="hold"/>
                                        <p:tgtEl>
                                          <p:spTgt spid="46083">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60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6083">
                                            <p:txEl>
                                              <p:pRg st="1" end="1"/>
                                            </p:txEl>
                                          </p:spTgt>
                                        </p:tgtEl>
                                        <p:attrNameLst>
                                          <p:attrName>style.visibility</p:attrName>
                                        </p:attrNameLst>
                                      </p:cBhvr>
                                      <p:to>
                                        <p:strVal val="visible"/>
                                      </p:to>
                                    </p:set>
                                    <p:anim calcmode="lin" valueType="num">
                                      <p:cBhvr additive="base">
                                        <p:cTn id="19" dur="500" fill="hold"/>
                                        <p:tgtEl>
                                          <p:spTgt spid="46083">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60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6083">
                                            <p:txEl>
                                              <p:pRg st="2" end="2"/>
                                            </p:txEl>
                                          </p:spTgt>
                                        </p:tgtEl>
                                        <p:attrNameLst>
                                          <p:attrName>style.visibility</p:attrName>
                                        </p:attrNameLst>
                                      </p:cBhvr>
                                      <p:to>
                                        <p:strVal val="visible"/>
                                      </p:to>
                                    </p:set>
                                    <p:anim calcmode="lin" valueType="num">
                                      <p:cBhvr additive="base">
                                        <p:cTn id="25" dur="500" fill="hold"/>
                                        <p:tgtEl>
                                          <p:spTgt spid="46083">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60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6083">
                                            <p:txEl>
                                              <p:pRg st="3" end="3"/>
                                            </p:txEl>
                                          </p:spTgt>
                                        </p:tgtEl>
                                        <p:attrNameLst>
                                          <p:attrName>style.visibility</p:attrName>
                                        </p:attrNameLst>
                                      </p:cBhvr>
                                      <p:to>
                                        <p:strVal val="visible"/>
                                      </p:to>
                                    </p:set>
                                    <p:anim calcmode="lin" valueType="num">
                                      <p:cBhvr additive="base">
                                        <p:cTn id="31" dur="500" fill="hold"/>
                                        <p:tgtEl>
                                          <p:spTgt spid="46083">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608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2209800" y="273050"/>
            <a:ext cx="7772400" cy="698500"/>
          </a:xfrm>
        </p:spPr>
        <p:txBody>
          <a:bodyPr/>
          <a:lstStyle/>
          <a:p>
            <a:pPr algn="ctr" eaLnBrk="1" hangingPunct="1"/>
            <a:r>
              <a:rPr lang="zh-CN" altLang="zh-CN" sz="4400">
                <a:ea typeface="华文楷体" panose="02010600040101010101" pitchFamily="2" charset="-122"/>
              </a:rPr>
              <a:t>MAN</a:t>
            </a:r>
          </a:p>
        </p:txBody>
      </p:sp>
      <p:grpSp>
        <p:nvGrpSpPr>
          <p:cNvPr id="47106" name="Group 3"/>
          <p:cNvGrpSpPr>
            <a:grpSpLocks/>
          </p:cNvGrpSpPr>
          <p:nvPr/>
        </p:nvGrpSpPr>
        <p:grpSpPr bwMode="auto">
          <a:xfrm>
            <a:off x="2209800" y="1489076"/>
            <a:ext cx="8153400" cy="5216525"/>
            <a:chOff x="0" y="0"/>
            <a:chExt cx="5136" cy="3286"/>
          </a:xfrm>
        </p:grpSpPr>
        <p:pic>
          <p:nvPicPr>
            <p:cNvPr id="47107" name="Picture 4"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 y="790"/>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Oval 5"/>
            <p:cNvSpPr>
              <a:spLocks noChangeArrowheads="1"/>
            </p:cNvSpPr>
            <p:nvPr/>
          </p:nvSpPr>
          <p:spPr bwMode="auto">
            <a:xfrm>
              <a:off x="720" y="886"/>
              <a:ext cx="672" cy="240"/>
            </a:xfrm>
            <a:prstGeom prst="ellipse">
              <a:avLst/>
            </a:prstGeom>
            <a:solidFill>
              <a:schemeClr val="accent2"/>
            </a:solidFill>
            <a:ln w="9525">
              <a:solidFill>
                <a:schemeClr val="tx1"/>
              </a:solidFill>
              <a:round/>
              <a:headEnd/>
              <a:tailEnd/>
            </a:ln>
          </p:spPr>
          <p:txBody>
            <a:bodyPr wrap="none" anchor="ctr"/>
            <a:lstStyle/>
            <a:p>
              <a:pPr algn="ctr" eaLnBrk="0" hangingPunct="0"/>
              <a:r>
                <a:rPr lang="zh-CN" altLang="zh-CN" sz="2400">
                  <a:latin typeface="Times New Roman" panose="02020603050405020304" pitchFamily="18" charset="0"/>
                </a:rPr>
                <a:t>LAN</a:t>
              </a:r>
            </a:p>
          </p:txBody>
        </p:sp>
        <p:pic>
          <p:nvPicPr>
            <p:cNvPr id="47109" name="Picture 6"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 y="502"/>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Line 7"/>
            <p:cNvSpPr>
              <a:spLocks noChangeShapeType="1"/>
            </p:cNvSpPr>
            <p:nvPr/>
          </p:nvSpPr>
          <p:spPr bwMode="auto">
            <a:xfrm>
              <a:off x="576" y="982"/>
              <a:ext cx="192"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11" name="Line 8"/>
            <p:cNvSpPr>
              <a:spLocks noChangeShapeType="1"/>
            </p:cNvSpPr>
            <p:nvPr/>
          </p:nvSpPr>
          <p:spPr bwMode="auto">
            <a:xfrm>
              <a:off x="864" y="838"/>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pic>
          <p:nvPicPr>
            <p:cNvPr id="47112" name="Picture 9"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2" y="598"/>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3" name="Picture 10"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4" y="742"/>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4" name="Picture 11"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6" y="886"/>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5" name="Line 12"/>
            <p:cNvSpPr>
              <a:spLocks noChangeShapeType="1"/>
            </p:cNvSpPr>
            <p:nvPr/>
          </p:nvSpPr>
          <p:spPr bwMode="auto">
            <a:xfrm>
              <a:off x="1344" y="93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16" name="Line 13"/>
            <p:cNvSpPr>
              <a:spLocks noChangeShapeType="1"/>
            </p:cNvSpPr>
            <p:nvPr/>
          </p:nvSpPr>
          <p:spPr bwMode="auto">
            <a:xfrm flipV="1">
              <a:off x="1392" y="982"/>
              <a:ext cx="288"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17" name="Line 14"/>
            <p:cNvSpPr>
              <a:spLocks noChangeShapeType="1"/>
            </p:cNvSpPr>
            <p:nvPr/>
          </p:nvSpPr>
          <p:spPr bwMode="auto">
            <a:xfrm>
              <a:off x="1344" y="1078"/>
              <a:ext cx="57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pic>
          <p:nvPicPr>
            <p:cNvPr id="47118" name="Picture 15"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6" y="2182"/>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9" name="Oval 16"/>
            <p:cNvSpPr>
              <a:spLocks noChangeArrowheads="1"/>
            </p:cNvSpPr>
            <p:nvPr/>
          </p:nvSpPr>
          <p:spPr bwMode="auto">
            <a:xfrm>
              <a:off x="816" y="2278"/>
              <a:ext cx="672" cy="240"/>
            </a:xfrm>
            <a:prstGeom prst="ellipse">
              <a:avLst/>
            </a:prstGeom>
            <a:solidFill>
              <a:schemeClr val="accent2"/>
            </a:solidFill>
            <a:ln w="9525">
              <a:solidFill>
                <a:schemeClr val="tx1"/>
              </a:solidFill>
              <a:round/>
              <a:headEnd/>
              <a:tailEnd/>
            </a:ln>
          </p:spPr>
          <p:txBody>
            <a:bodyPr wrap="none" anchor="ctr"/>
            <a:lstStyle/>
            <a:p>
              <a:pPr algn="ctr" eaLnBrk="0" hangingPunct="0"/>
              <a:r>
                <a:rPr lang="zh-CN" altLang="zh-CN" sz="2400">
                  <a:latin typeface="Times New Roman" panose="02020603050405020304" pitchFamily="18" charset="0"/>
                </a:rPr>
                <a:t>LAN</a:t>
              </a:r>
            </a:p>
          </p:txBody>
        </p:sp>
        <p:pic>
          <p:nvPicPr>
            <p:cNvPr id="47120" name="Picture 17"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6" y="1894"/>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1" name="Line 18"/>
            <p:cNvSpPr>
              <a:spLocks noChangeShapeType="1"/>
            </p:cNvSpPr>
            <p:nvPr/>
          </p:nvSpPr>
          <p:spPr bwMode="auto">
            <a:xfrm>
              <a:off x="672" y="2374"/>
              <a:ext cx="192"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22" name="Line 19"/>
            <p:cNvSpPr>
              <a:spLocks noChangeShapeType="1"/>
            </p:cNvSpPr>
            <p:nvPr/>
          </p:nvSpPr>
          <p:spPr bwMode="auto">
            <a:xfrm>
              <a:off x="960" y="223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pic>
          <p:nvPicPr>
            <p:cNvPr id="47123" name="Picture 20"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88" y="1990"/>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24" name="Picture 21"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0" y="2134"/>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25" name="Picture 22"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2" y="2278"/>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6" name="Line 23"/>
            <p:cNvSpPr>
              <a:spLocks noChangeShapeType="1"/>
            </p:cNvSpPr>
            <p:nvPr/>
          </p:nvSpPr>
          <p:spPr bwMode="auto">
            <a:xfrm>
              <a:off x="1440" y="2326"/>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27" name="Line 24"/>
            <p:cNvSpPr>
              <a:spLocks noChangeShapeType="1"/>
            </p:cNvSpPr>
            <p:nvPr/>
          </p:nvSpPr>
          <p:spPr bwMode="auto">
            <a:xfrm flipV="1">
              <a:off x="1488" y="2374"/>
              <a:ext cx="288"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28" name="Line 25"/>
            <p:cNvSpPr>
              <a:spLocks noChangeShapeType="1"/>
            </p:cNvSpPr>
            <p:nvPr/>
          </p:nvSpPr>
          <p:spPr bwMode="auto">
            <a:xfrm>
              <a:off x="1440" y="2470"/>
              <a:ext cx="57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pic>
          <p:nvPicPr>
            <p:cNvPr id="47129" name="Picture 26"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2" y="646"/>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30" name="Oval 27"/>
            <p:cNvSpPr>
              <a:spLocks noChangeArrowheads="1"/>
            </p:cNvSpPr>
            <p:nvPr/>
          </p:nvSpPr>
          <p:spPr bwMode="auto">
            <a:xfrm>
              <a:off x="3552" y="742"/>
              <a:ext cx="672" cy="240"/>
            </a:xfrm>
            <a:prstGeom prst="ellipse">
              <a:avLst/>
            </a:prstGeom>
            <a:solidFill>
              <a:schemeClr val="accent2"/>
            </a:solidFill>
            <a:ln w="9525">
              <a:solidFill>
                <a:schemeClr val="tx1"/>
              </a:solidFill>
              <a:round/>
              <a:headEnd/>
              <a:tailEnd/>
            </a:ln>
          </p:spPr>
          <p:txBody>
            <a:bodyPr wrap="none" anchor="ctr"/>
            <a:lstStyle/>
            <a:p>
              <a:pPr algn="ctr" eaLnBrk="0" hangingPunct="0"/>
              <a:r>
                <a:rPr lang="zh-CN" altLang="zh-CN" sz="2400">
                  <a:latin typeface="Times New Roman" panose="02020603050405020304" pitchFamily="18" charset="0"/>
                </a:rPr>
                <a:t>LAN</a:t>
              </a:r>
            </a:p>
          </p:txBody>
        </p:sp>
        <p:pic>
          <p:nvPicPr>
            <p:cNvPr id="47131" name="Picture 28"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2" y="358"/>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32" name="Line 29"/>
            <p:cNvSpPr>
              <a:spLocks noChangeShapeType="1"/>
            </p:cNvSpPr>
            <p:nvPr/>
          </p:nvSpPr>
          <p:spPr bwMode="auto">
            <a:xfrm>
              <a:off x="3408" y="838"/>
              <a:ext cx="192"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33" name="Line 30"/>
            <p:cNvSpPr>
              <a:spLocks noChangeShapeType="1"/>
            </p:cNvSpPr>
            <p:nvPr/>
          </p:nvSpPr>
          <p:spPr bwMode="auto">
            <a:xfrm>
              <a:off x="3696" y="694"/>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pic>
          <p:nvPicPr>
            <p:cNvPr id="47134" name="Picture 31"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24" y="454"/>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35" name="Picture 32"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16" y="598"/>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36" name="Picture 33"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08" y="742"/>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37" name="Line 34"/>
            <p:cNvSpPr>
              <a:spLocks noChangeShapeType="1"/>
            </p:cNvSpPr>
            <p:nvPr/>
          </p:nvSpPr>
          <p:spPr bwMode="auto">
            <a:xfrm>
              <a:off x="4176" y="79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38" name="Line 35"/>
            <p:cNvSpPr>
              <a:spLocks noChangeShapeType="1"/>
            </p:cNvSpPr>
            <p:nvPr/>
          </p:nvSpPr>
          <p:spPr bwMode="auto">
            <a:xfrm flipV="1">
              <a:off x="4224" y="838"/>
              <a:ext cx="288"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39" name="Line 36"/>
            <p:cNvSpPr>
              <a:spLocks noChangeShapeType="1"/>
            </p:cNvSpPr>
            <p:nvPr/>
          </p:nvSpPr>
          <p:spPr bwMode="auto">
            <a:xfrm>
              <a:off x="4176" y="934"/>
              <a:ext cx="57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pic>
          <p:nvPicPr>
            <p:cNvPr id="47140" name="Picture 37"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24" y="2422"/>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41" name="Oval 38"/>
            <p:cNvSpPr>
              <a:spLocks noChangeArrowheads="1"/>
            </p:cNvSpPr>
            <p:nvPr/>
          </p:nvSpPr>
          <p:spPr bwMode="auto">
            <a:xfrm>
              <a:off x="3504" y="2518"/>
              <a:ext cx="672" cy="240"/>
            </a:xfrm>
            <a:prstGeom prst="ellipse">
              <a:avLst/>
            </a:prstGeom>
            <a:solidFill>
              <a:schemeClr val="accent2"/>
            </a:solidFill>
            <a:ln w="9525">
              <a:solidFill>
                <a:schemeClr val="tx1"/>
              </a:solidFill>
              <a:round/>
              <a:headEnd/>
              <a:tailEnd/>
            </a:ln>
          </p:spPr>
          <p:txBody>
            <a:bodyPr wrap="none" anchor="ctr"/>
            <a:lstStyle/>
            <a:p>
              <a:pPr algn="ctr" eaLnBrk="0" hangingPunct="0"/>
              <a:r>
                <a:rPr lang="zh-CN" altLang="zh-CN" sz="2400">
                  <a:latin typeface="Times New Roman" panose="02020603050405020304" pitchFamily="18" charset="0"/>
                </a:rPr>
                <a:t>LAN</a:t>
              </a:r>
            </a:p>
          </p:txBody>
        </p:sp>
        <p:pic>
          <p:nvPicPr>
            <p:cNvPr id="47142" name="Picture 39"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4" y="2134"/>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43" name="Line 40"/>
            <p:cNvSpPr>
              <a:spLocks noChangeShapeType="1"/>
            </p:cNvSpPr>
            <p:nvPr/>
          </p:nvSpPr>
          <p:spPr bwMode="auto">
            <a:xfrm>
              <a:off x="3360" y="2614"/>
              <a:ext cx="192"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44" name="Line 41"/>
            <p:cNvSpPr>
              <a:spLocks noChangeShapeType="1"/>
            </p:cNvSpPr>
            <p:nvPr/>
          </p:nvSpPr>
          <p:spPr bwMode="auto">
            <a:xfrm>
              <a:off x="3648" y="247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pic>
          <p:nvPicPr>
            <p:cNvPr id="47145" name="Picture 42"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76" y="2230"/>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46" name="Picture 43"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8" y="2374"/>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47" name="Picture 44" descr="ENGWOR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0" y="2518"/>
              <a:ext cx="45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48" name="Line 45"/>
            <p:cNvSpPr>
              <a:spLocks noChangeShapeType="1"/>
            </p:cNvSpPr>
            <p:nvPr/>
          </p:nvSpPr>
          <p:spPr bwMode="auto">
            <a:xfrm>
              <a:off x="4128" y="2566"/>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49" name="Line 46"/>
            <p:cNvSpPr>
              <a:spLocks noChangeShapeType="1"/>
            </p:cNvSpPr>
            <p:nvPr/>
          </p:nvSpPr>
          <p:spPr bwMode="auto">
            <a:xfrm flipV="1">
              <a:off x="4176" y="2614"/>
              <a:ext cx="288"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50" name="Line 47"/>
            <p:cNvSpPr>
              <a:spLocks noChangeShapeType="1"/>
            </p:cNvSpPr>
            <p:nvPr/>
          </p:nvSpPr>
          <p:spPr bwMode="auto">
            <a:xfrm>
              <a:off x="4128" y="2710"/>
              <a:ext cx="57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pic>
          <p:nvPicPr>
            <p:cNvPr id="47151" name="Picture 48" descr="M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 y="1222"/>
              <a:ext cx="1704" cy="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52" name="Text Box 49"/>
            <p:cNvSpPr txBox="1">
              <a:spLocks noChangeArrowheads="1"/>
            </p:cNvSpPr>
            <p:nvPr/>
          </p:nvSpPr>
          <p:spPr bwMode="auto">
            <a:xfrm>
              <a:off x="3062" y="1248"/>
              <a:ext cx="5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400">
                  <a:solidFill>
                    <a:srgbClr val="0000FF"/>
                  </a:solidFill>
                  <a:latin typeface="Times New Roman" panose="02020603050405020304" pitchFamily="18" charset="0"/>
                </a:rPr>
                <a:t>MAN</a:t>
              </a:r>
              <a:endParaRPr lang="zh-CN" altLang="zh-CN" sz="2400" b="0">
                <a:latin typeface="Times New Roman" panose="02020603050405020304" pitchFamily="18" charset="0"/>
              </a:endParaRPr>
            </a:p>
          </p:txBody>
        </p:sp>
        <p:cxnSp>
          <p:nvCxnSpPr>
            <p:cNvPr id="47153" name="AutoShape 50"/>
            <p:cNvCxnSpPr>
              <a:cxnSpLocks noChangeShapeType="1"/>
              <a:stCxn id="47108" idx="5"/>
              <a:endCxn id="47151" idx="1"/>
            </p:cNvCxnSpPr>
            <p:nvPr/>
          </p:nvCxnSpPr>
          <p:spPr bwMode="auto">
            <a:xfrm rot="16200000" flipH="1">
              <a:off x="1394" y="969"/>
              <a:ext cx="499" cy="722"/>
            </a:xfrm>
            <a:prstGeom prst="curvedConnector2">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47154" name="AutoShape 51"/>
            <p:cNvCxnSpPr>
              <a:cxnSpLocks noChangeShapeType="1"/>
              <a:stCxn id="47119" idx="7"/>
              <a:endCxn id="47151" idx="1"/>
            </p:cNvCxnSpPr>
            <p:nvPr/>
          </p:nvCxnSpPr>
          <p:spPr bwMode="auto">
            <a:xfrm rot="-5400000">
              <a:off x="1330" y="1628"/>
              <a:ext cx="723" cy="626"/>
            </a:xfrm>
            <a:prstGeom prst="curvedConnector2">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47155" name="AutoShape 52"/>
            <p:cNvCxnSpPr>
              <a:cxnSpLocks noChangeShapeType="1"/>
              <a:stCxn id="47130" idx="4"/>
              <a:endCxn id="47151" idx="3"/>
            </p:cNvCxnSpPr>
            <p:nvPr/>
          </p:nvCxnSpPr>
          <p:spPr bwMode="auto">
            <a:xfrm rot="5400000">
              <a:off x="3500" y="1202"/>
              <a:ext cx="608" cy="168"/>
            </a:xfrm>
            <a:prstGeom prst="curvedConnector2">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47156" name="AutoShape 53"/>
            <p:cNvCxnSpPr>
              <a:cxnSpLocks noChangeShapeType="1"/>
              <a:stCxn id="47141" idx="7"/>
              <a:endCxn id="47151" idx="3"/>
            </p:cNvCxnSpPr>
            <p:nvPr/>
          </p:nvCxnSpPr>
          <p:spPr bwMode="auto">
            <a:xfrm rot="5400000" flipH="1">
              <a:off x="3406" y="1882"/>
              <a:ext cx="963" cy="358"/>
            </a:xfrm>
            <a:prstGeom prst="curvedConnector2">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47157" name="Line 54"/>
            <p:cNvSpPr>
              <a:spLocks noChangeShapeType="1"/>
            </p:cNvSpPr>
            <p:nvPr/>
          </p:nvSpPr>
          <p:spPr bwMode="auto">
            <a:xfrm>
              <a:off x="1968" y="1606"/>
              <a:ext cx="48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58" name="Line 55"/>
            <p:cNvSpPr>
              <a:spLocks noChangeShapeType="1"/>
            </p:cNvSpPr>
            <p:nvPr/>
          </p:nvSpPr>
          <p:spPr bwMode="auto">
            <a:xfrm flipH="1">
              <a:off x="3024" y="1606"/>
              <a:ext cx="72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47159" name="Rectangle 56"/>
            <p:cNvSpPr>
              <a:spLocks noChangeArrowheads="1"/>
            </p:cNvSpPr>
            <p:nvPr/>
          </p:nvSpPr>
          <p:spPr bwMode="auto">
            <a:xfrm>
              <a:off x="0" y="310"/>
              <a:ext cx="1248" cy="2592"/>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47160" name="Text Box 57"/>
            <p:cNvSpPr txBox="1">
              <a:spLocks noChangeArrowheads="1"/>
            </p:cNvSpPr>
            <p:nvPr/>
          </p:nvSpPr>
          <p:spPr bwMode="auto">
            <a:xfrm>
              <a:off x="268" y="0"/>
              <a:ext cx="7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sz="2400">
                  <a:latin typeface="Times New Roman" panose="02020603050405020304" pitchFamily="18" charset="0"/>
                </a:rPr>
                <a:t>Appl. 1</a:t>
              </a:r>
            </a:p>
          </p:txBody>
        </p:sp>
        <p:sp>
          <p:nvSpPr>
            <p:cNvPr id="47161" name="Rectangle 58"/>
            <p:cNvSpPr>
              <a:spLocks noChangeArrowheads="1"/>
            </p:cNvSpPr>
            <p:nvPr/>
          </p:nvSpPr>
          <p:spPr bwMode="auto">
            <a:xfrm>
              <a:off x="1344" y="262"/>
              <a:ext cx="2784" cy="1008"/>
            </a:xfrm>
            <a:prstGeom prst="rect">
              <a:avLst/>
            </a:prstGeom>
            <a:noFill/>
            <a:ln w="2857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47162" name="Text Box 59"/>
            <p:cNvSpPr txBox="1">
              <a:spLocks noChangeArrowheads="1"/>
            </p:cNvSpPr>
            <p:nvPr/>
          </p:nvSpPr>
          <p:spPr bwMode="auto">
            <a:xfrm>
              <a:off x="2678" y="0"/>
              <a:ext cx="7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400">
                  <a:solidFill>
                    <a:srgbClr val="FF0000"/>
                  </a:solidFill>
                  <a:latin typeface="Times New Roman" panose="02020603050405020304" pitchFamily="18" charset="0"/>
                </a:rPr>
                <a:t>Appl. 2</a:t>
              </a:r>
            </a:p>
          </p:txBody>
        </p:sp>
        <p:sp>
          <p:nvSpPr>
            <p:cNvPr id="47163" name="Rectangle 60"/>
            <p:cNvSpPr>
              <a:spLocks noChangeArrowheads="1"/>
            </p:cNvSpPr>
            <p:nvPr/>
          </p:nvSpPr>
          <p:spPr bwMode="auto">
            <a:xfrm>
              <a:off x="3024" y="310"/>
              <a:ext cx="2112" cy="2736"/>
            </a:xfrm>
            <a:prstGeom prst="rect">
              <a:avLst/>
            </a:prstGeom>
            <a:noFill/>
            <a:ln w="28575">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47164" name="Text Box 61"/>
            <p:cNvSpPr txBox="1">
              <a:spLocks noChangeArrowheads="1"/>
            </p:cNvSpPr>
            <p:nvPr/>
          </p:nvSpPr>
          <p:spPr bwMode="auto">
            <a:xfrm>
              <a:off x="3792" y="2998"/>
              <a:ext cx="7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400">
                  <a:solidFill>
                    <a:srgbClr val="0000FF"/>
                  </a:solidFill>
                  <a:latin typeface="Times New Roman" panose="02020603050405020304" pitchFamily="18" charset="0"/>
                </a:rPr>
                <a:t>Appl. 3</a:t>
              </a:r>
            </a:p>
          </p:txBody>
        </p:sp>
        <p:sp>
          <p:nvSpPr>
            <p:cNvPr id="47165" name="Rectangle 62"/>
            <p:cNvSpPr>
              <a:spLocks noChangeArrowheads="1"/>
            </p:cNvSpPr>
            <p:nvPr/>
          </p:nvSpPr>
          <p:spPr bwMode="auto">
            <a:xfrm>
              <a:off x="240" y="1222"/>
              <a:ext cx="4800" cy="1728"/>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Times New Roman" panose="02020603050405020304" pitchFamily="18" charset="0"/>
              </a:endParaRPr>
            </a:p>
          </p:txBody>
        </p:sp>
        <p:sp>
          <p:nvSpPr>
            <p:cNvPr id="47166" name="Text Box 63"/>
            <p:cNvSpPr txBox="1">
              <a:spLocks noChangeArrowheads="1"/>
            </p:cNvSpPr>
            <p:nvPr/>
          </p:nvSpPr>
          <p:spPr bwMode="auto">
            <a:xfrm>
              <a:off x="2352" y="2662"/>
              <a:ext cx="7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400">
                  <a:solidFill>
                    <a:schemeClr val="accent1"/>
                  </a:solidFill>
                  <a:latin typeface="Times New Roman" panose="02020603050405020304" pitchFamily="18" charset="0"/>
                </a:rPr>
                <a:t>Appl. 4</a:t>
              </a:r>
            </a:p>
          </p:txBody>
        </p:sp>
      </p:gr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a:xfrm>
            <a:off x="2940051" y="241301"/>
            <a:ext cx="6296025" cy="627063"/>
          </a:xfrm>
        </p:spPr>
        <p:txBody>
          <a:bodyPr>
            <a:normAutofit fontScale="90000"/>
          </a:bodyPr>
          <a:lstStyle/>
          <a:p>
            <a:pPr marL="838200" indent="-838200" algn="ctr" eaLnBrk="1" hangingPunct="1"/>
            <a:r>
              <a:rPr lang="zh-CN" altLang="zh-CN" sz="4400">
                <a:ea typeface="华文楷体" panose="02010600040101010101" pitchFamily="2" charset="-122"/>
              </a:rPr>
              <a:t>按公用与专用划分</a:t>
            </a:r>
            <a:endParaRPr lang="zh-CN" altLang="zh-CN" sz="2800">
              <a:solidFill>
                <a:srgbClr val="CC3300"/>
              </a:solidFill>
              <a:ea typeface="华文楷体" panose="02010600040101010101" pitchFamily="2" charset="-122"/>
            </a:endParaRPr>
          </a:p>
        </p:txBody>
      </p:sp>
      <p:sp>
        <p:nvSpPr>
          <p:cNvPr id="48131" name="Text Box 3"/>
          <p:cNvSpPr txBox="1">
            <a:spLocks noChangeArrowheads="1"/>
          </p:cNvSpPr>
          <p:nvPr/>
        </p:nvSpPr>
        <p:spPr bwMode="auto">
          <a:xfrm>
            <a:off x="1728789" y="1482725"/>
            <a:ext cx="6326187" cy="579438"/>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30000"/>
              </a:spcBef>
              <a:buFont typeface="Wingdings" panose="05000000000000000000" pitchFamily="2" charset="2"/>
              <a:buChar char="Ø"/>
            </a:pPr>
            <a:r>
              <a:rPr lang="zh-CN" altLang="zh-CN">
                <a:solidFill>
                  <a:srgbClr val="6600FF"/>
                </a:solidFill>
                <a:ea typeface="华文楷体" panose="02010600040101010101" pitchFamily="2" charset="-122"/>
              </a:rPr>
              <a:t>  </a:t>
            </a:r>
            <a:r>
              <a:rPr lang="zh-CN" altLang="zh-CN" sz="3200">
                <a:solidFill>
                  <a:srgbClr val="6600FF"/>
                </a:solidFill>
                <a:ea typeface="华文楷体" panose="02010600040101010101" pitchFamily="2" charset="-122"/>
              </a:rPr>
              <a:t>公用网（Public Networks）</a:t>
            </a:r>
            <a:r>
              <a:rPr lang="zh-CN" altLang="zh-CN" sz="3200">
                <a:ea typeface="华文楷体" panose="02010600040101010101" pitchFamily="2" charset="-122"/>
              </a:rPr>
              <a:t> </a:t>
            </a:r>
          </a:p>
        </p:txBody>
      </p:sp>
      <p:sp>
        <p:nvSpPr>
          <p:cNvPr id="48132" name="Text Box 4"/>
          <p:cNvSpPr txBox="1">
            <a:spLocks noChangeArrowheads="1"/>
          </p:cNvSpPr>
          <p:nvPr/>
        </p:nvSpPr>
        <p:spPr bwMode="auto">
          <a:xfrm>
            <a:off x="2287589" y="2062164"/>
            <a:ext cx="7896225" cy="1200329"/>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30000"/>
              </a:spcBef>
            </a:pPr>
            <a:r>
              <a:rPr lang="zh-CN" altLang="zh-CN" sz="2400">
                <a:ea typeface="华文楷体" panose="02010600040101010101" pitchFamily="2" charset="-122"/>
              </a:rPr>
              <a:t>指由电信部门或从事专业电信运营业务的公司提供的面向公众服务的网络，如Chianpac、ChinaDDN、</a:t>
            </a:r>
            <a:r>
              <a:rPr lang="zh-CN" altLang="zh-CN" sz="2400">
                <a:solidFill>
                  <a:srgbClr val="FF0000"/>
                </a:solidFill>
                <a:ea typeface="华文楷体" panose="02010600040101010101" pitchFamily="2" charset="-122"/>
              </a:rPr>
              <a:t>Chiannet</a:t>
            </a:r>
            <a:r>
              <a:rPr lang="zh-CN" altLang="zh-CN" sz="2400">
                <a:ea typeface="华文楷体" panose="02010600040101010101" pitchFamily="2" charset="-122"/>
              </a:rPr>
              <a:t>，以及非电信部门提供的以卫星通信为基础的</a:t>
            </a:r>
            <a:r>
              <a:rPr lang="zh-CN" altLang="zh-CN" sz="2400">
                <a:latin typeface="Times New Roman" panose="02020603050405020304" pitchFamily="18" charset="0"/>
                <a:ea typeface="华文楷体" panose="02010600040101010101" pitchFamily="2" charset="-122"/>
              </a:rPr>
              <a:t>“</a:t>
            </a:r>
            <a:r>
              <a:rPr lang="zh-CN" altLang="zh-CN" sz="2400">
                <a:ea typeface="华文楷体" panose="02010600040101010101" pitchFamily="2" charset="-122"/>
              </a:rPr>
              <a:t>金桥网</a:t>
            </a:r>
            <a:r>
              <a:rPr lang="zh-CN" altLang="zh-CN" sz="2400">
                <a:latin typeface="Times New Roman" panose="02020603050405020304" pitchFamily="18" charset="0"/>
                <a:ea typeface="华文楷体" panose="02010600040101010101" pitchFamily="2" charset="-122"/>
              </a:rPr>
              <a:t>”</a:t>
            </a:r>
            <a:r>
              <a:rPr lang="zh-CN" altLang="zh-CN" sz="2400">
                <a:ea typeface="华文楷体" panose="02010600040101010101" pitchFamily="2" charset="-122"/>
              </a:rPr>
              <a:t>。</a:t>
            </a:r>
          </a:p>
        </p:txBody>
      </p:sp>
      <p:sp>
        <p:nvSpPr>
          <p:cNvPr id="48133" name="Text Box 5"/>
          <p:cNvSpPr txBox="1">
            <a:spLocks noChangeArrowheads="1"/>
          </p:cNvSpPr>
          <p:nvPr/>
        </p:nvSpPr>
        <p:spPr bwMode="auto">
          <a:xfrm>
            <a:off x="2212976" y="4298951"/>
            <a:ext cx="7986712" cy="1569660"/>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30000"/>
              </a:spcBef>
            </a:pPr>
            <a:r>
              <a:rPr lang="zh-CN" altLang="zh-CN" sz="2400">
                <a:ea typeface="华文楷体" panose="02010600040101010101" pitchFamily="2" charset="-122"/>
              </a:rPr>
              <a:t>指政府、行业、企业和事业单位为本行业、本企业和本事业单位服务而建立的网络。如教育科研网</a:t>
            </a:r>
            <a:r>
              <a:rPr lang="zh-CN" altLang="zh-CN" sz="2400">
                <a:solidFill>
                  <a:srgbClr val="FF0000"/>
                </a:solidFill>
                <a:ea typeface="华文楷体" panose="02010600040101010101" pitchFamily="2" charset="-122"/>
              </a:rPr>
              <a:t>CERNET</a:t>
            </a:r>
            <a:r>
              <a:rPr lang="zh-CN" altLang="zh-CN" sz="2400">
                <a:ea typeface="华文楷体" panose="02010600040101010101" pitchFamily="2" charset="-122"/>
              </a:rPr>
              <a:t>、中科院网CASNET、中国经济信息网CEINET以及各级政府部门的网络等等。</a:t>
            </a:r>
          </a:p>
        </p:txBody>
      </p:sp>
      <p:sp>
        <p:nvSpPr>
          <p:cNvPr id="48134" name="Text Box 6"/>
          <p:cNvSpPr txBox="1">
            <a:spLocks noChangeArrowheads="1"/>
          </p:cNvSpPr>
          <p:nvPr/>
        </p:nvSpPr>
        <p:spPr bwMode="auto">
          <a:xfrm>
            <a:off x="1728789" y="3733800"/>
            <a:ext cx="5610225" cy="579438"/>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Font typeface="Wingdings" panose="05000000000000000000" pitchFamily="2" charset="2"/>
              <a:buChar char="Ø"/>
            </a:pPr>
            <a:r>
              <a:rPr lang="zh-CN" altLang="zh-CN" sz="3200">
                <a:solidFill>
                  <a:srgbClr val="6600FF"/>
                </a:solidFill>
                <a:ea typeface="华文楷体" panose="02010600040101010101" pitchFamily="2" charset="-122"/>
              </a:rPr>
              <a:t>  专用网（Private Networks）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8134">
                                            <p:txEl>
                                              <p:pRg st="0" end="0"/>
                                            </p:txEl>
                                          </p:spTgt>
                                        </p:tgtEl>
                                        <p:attrNameLst>
                                          <p:attrName>style.visibility</p:attrName>
                                        </p:attrNameLst>
                                      </p:cBhvr>
                                      <p:to>
                                        <p:strVal val="visible"/>
                                      </p:to>
                                    </p:set>
                                    <p:anim calcmode="lin" valueType="num">
                                      <p:cBhvr additive="base">
                                        <p:cTn id="13" dur="500" fill="hold"/>
                                        <p:tgtEl>
                                          <p:spTgt spid="48134">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813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8132">
                                            <p:bg/>
                                          </p:spTgt>
                                        </p:tgtEl>
                                        <p:attrNameLst>
                                          <p:attrName>style.visibility</p:attrName>
                                        </p:attrNameLst>
                                      </p:cBhvr>
                                      <p:to>
                                        <p:strVal val="visible"/>
                                      </p:to>
                                    </p:set>
                                    <p:anim calcmode="lin" valueType="num">
                                      <p:cBhvr additive="base">
                                        <p:cTn id="19" dur="500" fill="hold"/>
                                        <p:tgtEl>
                                          <p:spTgt spid="48132">
                                            <p:bg/>
                                          </p:spTgt>
                                        </p:tgtEl>
                                        <p:attrNameLst>
                                          <p:attrName>ppt_x</p:attrName>
                                        </p:attrNameLst>
                                      </p:cBhvr>
                                      <p:tavLst>
                                        <p:tav tm="0">
                                          <p:val>
                                            <p:strVal val="0-#ppt_w/2"/>
                                          </p:val>
                                        </p:tav>
                                        <p:tav tm="100000">
                                          <p:val>
                                            <p:strVal val="#ppt_x"/>
                                          </p:val>
                                        </p:tav>
                                      </p:tavLst>
                                    </p:anim>
                                    <p:anim calcmode="lin" valueType="num">
                                      <p:cBhvr additive="base">
                                        <p:cTn id="20" dur="500" fill="hold"/>
                                        <p:tgtEl>
                                          <p:spTgt spid="48132">
                                            <p:bg/>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8132">
                                            <p:txEl>
                                              <p:pRg st="0" end="0"/>
                                            </p:txEl>
                                          </p:spTgt>
                                        </p:tgtEl>
                                        <p:attrNameLst>
                                          <p:attrName>style.visibility</p:attrName>
                                        </p:attrNameLst>
                                      </p:cBhvr>
                                      <p:to>
                                        <p:strVal val="visible"/>
                                      </p:to>
                                    </p:set>
                                    <p:anim calcmode="lin" valueType="num">
                                      <p:cBhvr additive="base">
                                        <p:cTn id="25" dur="500" fill="hold"/>
                                        <p:tgtEl>
                                          <p:spTgt spid="48132">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8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8133">
                                            <p:bg/>
                                          </p:spTgt>
                                        </p:tgtEl>
                                        <p:attrNameLst>
                                          <p:attrName>style.visibility</p:attrName>
                                        </p:attrNameLst>
                                      </p:cBhvr>
                                      <p:to>
                                        <p:strVal val="visible"/>
                                      </p:to>
                                    </p:set>
                                    <p:anim calcmode="lin" valueType="num">
                                      <p:cBhvr additive="base">
                                        <p:cTn id="31" dur="500" fill="hold"/>
                                        <p:tgtEl>
                                          <p:spTgt spid="48133">
                                            <p:bg/>
                                          </p:spTgt>
                                        </p:tgtEl>
                                        <p:attrNameLst>
                                          <p:attrName>ppt_x</p:attrName>
                                        </p:attrNameLst>
                                      </p:cBhvr>
                                      <p:tavLst>
                                        <p:tav tm="0">
                                          <p:val>
                                            <p:strVal val="0-#ppt_w/2"/>
                                          </p:val>
                                        </p:tav>
                                        <p:tav tm="100000">
                                          <p:val>
                                            <p:strVal val="#ppt_x"/>
                                          </p:val>
                                        </p:tav>
                                      </p:tavLst>
                                    </p:anim>
                                    <p:anim calcmode="lin" valueType="num">
                                      <p:cBhvr additive="base">
                                        <p:cTn id="32" dur="500" fill="hold"/>
                                        <p:tgtEl>
                                          <p:spTgt spid="48133">
                                            <p:bg/>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8133">
                                            <p:txEl>
                                              <p:pRg st="0" end="0"/>
                                            </p:txEl>
                                          </p:spTgt>
                                        </p:tgtEl>
                                        <p:attrNameLst>
                                          <p:attrName>style.visibility</p:attrName>
                                        </p:attrNameLst>
                                      </p:cBhvr>
                                      <p:to>
                                        <p:strVal val="visible"/>
                                      </p:to>
                                    </p:set>
                                    <p:anim calcmode="lin" valueType="num">
                                      <p:cBhvr additive="base">
                                        <p:cTn id="37" dur="500" fill="hold"/>
                                        <p:tgtEl>
                                          <p:spTgt spid="48133">
                                            <p:txEl>
                                              <p:pRg st="0" end="0"/>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813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P spid="48132" grpId="0" build="p" animBg="1"/>
      <p:bldP spid="48133" grpId="0" build="p" animBg="1"/>
      <p:bldP spid="4813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1966914" y="303214"/>
            <a:ext cx="8258175" cy="471487"/>
          </a:xfrm>
        </p:spPr>
        <p:txBody>
          <a:bodyPr>
            <a:noAutofit/>
          </a:bodyPr>
          <a:lstStyle/>
          <a:p>
            <a:pPr algn="ctr" eaLnBrk="1" hangingPunct="1"/>
            <a:r>
              <a:rPr lang="zh-CN" altLang="zh-CN" sz="3200">
                <a:latin typeface="黑体" panose="02010609060101010101" pitchFamily="49" charset="-122"/>
                <a:ea typeface="黑体" panose="02010609060101010101" pitchFamily="49" charset="-122"/>
              </a:rPr>
              <a:t>按Internet技术为基础的网络划分</a:t>
            </a:r>
          </a:p>
        </p:txBody>
      </p:sp>
      <p:sp>
        <p:nvSpPr>
          <p:cNvPr id="49155" name="Text Box 3"/>
          <p:cNvSpPr txBox="1">
            <a:spLocks noChangeArrowheads="1"/>
          </p:cNvSpPr>
          <p:nvPr/>
        </p:nvSpPr>
        <p:spPr bwMode="auto">
          <a:xfrm>
            <a:off x="723014" y="1628776"/>
            <a:ext cx="10855842" cy="3090077"/>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80988">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indent="0">
              <a:spcBef>
                <a:spcPct val="10000"/>
              </a:spcBef>
            </a:pPr>
            <a:r>
              <a:rPr lang="zh-CN" altLang="zh-CN" sz="3200">
                <a:solidFill>
                  <a:schemeClr val="accent1"/>
                </a:solidFill>
                <a:latin typeface="华文楷体" panose="02010600040101010101" pitchFamily="2" charset="-122"/>
                <a:ea typeface="华文楷体" panose="02010600040101010101" pitchFamily="2" charset="-122"/>
              </a:rPr>
              <a:t>近年来，由于Internet在世界范围内广为流行</a:t>
            </a:r>
            <a:endParaRPr lang="en-US" altLang="zh-CN" sz="3200">
              <a:solidFill>
                <a:schemeClr val="accent1"/>
              </a:solidFill>
              <a:latin typeface="华文楷体" panose="02010600040101010101" pitchFamily="2" charset="-122"/>
              <a:ea typeface="华文楷体" panose="02010600040101010101" pitchFamily="2" charset="-122"/>
            </a:endParaRPr>
          </a:p>
          <a:p>
            <a:pPr indent="0">
              <a:spcBef>
                <a:spcPct val="10000"/>
              </a:spcBef>
            </a:pPr>
            <a:r>
              <a:rPr lang="zh-CN" altLang="zh-CN" sz="3200">
                <a:solidFill>
                  <a:schemeClr val="accent1"/>
                </a:solidFill>
                <a:latin typeface="华文楷体" panose="02010600040101010101" pitchFamily="2" charset="-122"/>
                <a:ea typeface="华文楷体" panose="02010600040101010101" pitchFamily="2" charset="-122"/>
              </a:rPr>
              <a:t>Internet的TCP/IP技术成为建网的基本支撑技术</a:t>
            </a:r>
            <a:endParaRPr lang="en-US" altLang="zh-CN" sz="3200">
              <a:solidFill>
                <a:schemeClr val="accent1"/>
              </a:solidFill>
              <a:latin typeface="华文楷体" panose="02010600040101010101" pitchFamily="2" charset="-122"/>
              <a:ea typeface="华文楷体" panose="02010600040101010101" pitchFamily="2" charset="-122"/>
            </a:endParaRPr>
          </a:p>
          <a:p>
            <a:pPr indent="0">
              <a:spcBef>
                <a:spcPct val="10000"/>
              </a:spcBef>
            </a:pPr>
            <a:r>
              <a:rPr lang="zh-CN" altLang="zh-CN" sz="3200">
                <a:solidFill>
                  <a:schemeClr val="accent1"/>
                </a:solidFill>
                <a:latin typeface="华文楷体" panose="02010600040101010101" pitchFamily="2" charset="-122"/>
                <a:ea typeface="华文楷体" panose="02010600040101010101" pitchFamily="2" charset="-122"/>
              </a:rPr>
              <a:t>由此而产生了新的网络划分方式，即：</a:t>
            </a:r>
          </a:p>
          <a:p>
            <a:pPr>
              <a:spcBef>
                <a:spcPct val="1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Internet（因特网）</a:t>
            </a:r>
          </a:p>
          <a:p>
            <a:pPr>
              <a:spcBef>
                <a:spcPct val="1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Intranet（企业内网）</a:t>
            </a:r>
          </a:p>
          <a:p>
            <a:pPr>
              <a:spcBef>
                <a:spcPct val="10000"/>
              </a:spcBef>
              <a:buClr>
                <a:schemeClr val="folHlink"/>
              </a:buClr>
              <a:buFont typeface="Arial" panose="020B0604020202020204" pitchFamily="34" charset="0"/>
              <a:buChar char="•"/>
            </a:pPr>
            <a:r>
              <a:rPr lang="zh-CN" altLang="zh-CN">
                <a:solidFill>
                  <a:schemeClr val="accent1"/>
                </a:solidFill>
                <a:latin typeface="华文楷体" panose="02010600040101010101" pitchFamily="2" charset="-122"/>
                <a:ea typeface="华文楷体" panose="02010600040101010101" pitchFamily="2" charset="-122"/>
              </a:rPr>
              <a:t>Extranet（企业外网）</a:t>
            </a:r>
            <a:endParaRPr lang="zh-CN" altLang="zh-CN" sz="3200">
              <a:solidFill>
                <a:schemeClr val="accent1"/>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9155">
                                            <p:bg/>
                                          </p:spTgt>
                                        </p:tgtEl>
                                        <p:attrNameLst>
                                          <p:attrName>style.visibility</p:attrName>
                                        </p:attrNameLst>
                                      </p:cBhvr>
                                      <p:to>
                                        <p:strVal val="visible"/>
                                      </p:to>
                                    </p:set>
                                    <p:anim calcmode="lin" valueType="num">
                                      <p:cBhvr additive="base">
                                        <p:cTn id="7" dur="500" fill="hold"/>
                                        <p:tgtEl>
                                          <p:spTgt spid="49155">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49155">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9155">
                                            <p:txEl>
                                              <p:pRg st="0" end="0"/>
                                            </p:txEl>
                                          </p:spTgt>
                                        </p:tgtEl>
                                        <p:attrNameLst>
                                          <p:attrName>style.visibility</p:attrName>
                                        </p:attrNameLst>
                                      </p:cBhvr>
                                      <p:to>
                                        <p:strVal val="visible"/>
                                      </p:to>
                                    </p:set>
                                    <p:anim calcmode="lin" valueType="num">
                                      <p:cBhvr additive="base">
                                        <p:cTn id="13" dur="500" fill="hold"/>
                                        <p:tgtEl>
                                          <p:spTgt spid="49155">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91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9155">
                                            <p:txEl>
                                              <p:pRg st="1" end="1"/>
                                            </p:txEl>
                                          </p:spTgt>
                                        </p:tgtEl>
                                        <p:attrNameLst>
                                          <p:attrName>style.visibility</p:attrName>
                                        </p:attrNameLst>
                                      </p:cBhvr>
                                      <p:to>
                                        <p:strVal val="visible"/>
                                      </p:to>
                                    </p:set>
                                    <p:anim calcmode="lin" valueType="num">
                                      <p:cBhvr additive="base">
                                        <p:cTn id="19" dur="500" fill="hold"/>
                                        <p:tgtEl>
                                          <p:spTgt spid="49155">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91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9155">
                                            <p:txEl>
                                              <p:pRg st="2" end="2"/>
                                            </p:txEl>
                                          </p:spTgt>
                                        </p:tgtEl>
                                        <p:attrNameLst>
                                          <p:attrName>style.visibility</p:attrName>
                                        </p:attrNameLst>
                                      </p:cBhvr>
                                      <p:to>
                                        <p:strVal val="visible"/>
                                      </p:to>
                                    </p:set>
                                    <p:anim calcmode="lin" valueType="num">
                                      <p:cBhvr additive="base">
                                        <p:cTn id="25" dur="500" fill="hold"/>
                                        <p:tgtEl>
                                          <p:spTgt spid="49155">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91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9155">
                                            <p:txEl>
                                              <p:pRg st="3" end="3"/>
                                            </p:txEl>
                                          </p:spTgt>
                                        </p:tgtEl>
                                        <p:attrNameLst>
                                          <p:attrName>style.visibility</p:attrName>
                                        </p:attrNameLst>
                                      </p:cBhvr>
                                      <p:to>
                                        <p:strVal val="visible"/>
                                      </p:to>
                                    </p:set>
                                    <p:anim calcmode="lin" valueType="num">
                                      <p:cBhvr additive="base">
                                        <p:cTn id="31" dur="500" fill="hold"/>
                                        <p:tgtEl>
                                          <p:spTgt spid="49155">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91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49155">
                                            <p:txEl>
                                              <p:pRg st="4" end="4"/>
                                            </p:txEl>
                                          </p:spTgt>
                                        </p:tgtEl>
                                        <p:attrNameLst>
                                          <p:attrName>style.visibility</p:attrName>
                                        </p:attrNameLst>
                                      </p:cBhvr>
                                      <p:to>
                                        <p:strVal val="visible"/>
                                      </p:to>
                                    </p:set>
                                    <p:anim calcmode="lin" valueType="num">
                                      <p:cBhvr additive="base">
                                        <p:cTn id="37" dur="500" fill="hold"/>
                                        <p:tgtEl>
                                          <p:spTgt spid="49155">
                                            <p:txEl>
                                              <p:pRg st="4" end="4"/>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491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49155">
                                            <p:txEl>
                                              <p:pRg st="5" end="5"/>
                                            </p:txEl>
                                          </p:spTgt>
                                        </p:tgtEl>
                                        <p:attrNameLst>
                                          <p:attrName>style.visibility</p:attrName>
                                        </p:attrNameLst>
                                      </p:cBhvr>
                                      <p:to>
                                        <p:strVal val="visible"/>
                                      </p:to>
                                    </p:set>
                                    <p:anim calcmode="lin" valueType="num">
                                      <p:cBhvr additive="base">
                                        <p:cTn id="43" dur="500" fill="hold"/>
                                        <p:tgtEl>
                                          <p:spTgt spid="49155">
                                            <p:txEl>
                                              <p:pRg st="5" end="5"/>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4915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4152107" y="316639"/>
            <a:ext cx="3886200" cy="611187"/>
          </a:xfrm>
        </p:spPr>
        <p:txBody>
          <a:bodyPr>
            <a:normAutofit fontScale="90000"/>
          </a:bodyPr>
          <a:lstStyle/>
          <a:p>
            <a:pPr algn="ctr" eaLnBrk="1" hangingPunct="1"/>
            <a:r>
              <a:rPr lang="zh-CN" altLang="zh-CN" sz="2400" b="0">
                <a:latin typeface="Times New Roman" panose="02020603050405020304" pitchFamily="18" charset="0"/>
              </a:rPr>
              <a:t> </a:t>
            </a:r>
            <a:r>
              <a:rPr lang="zh-CN" altLang="zh-CN" sz="4400">
                <a:ea typeface="华文楷体" panose="02010600040101010101" pitchFamily="2" charset="-122"/>
              </a:rPr>
              <a:t>其它分类法</a:t>
            </a:r>
            <a:r>
              <a:rPr lang="zh-CN" altLang="zh-CN" sz="2400" b="0">
                <a:latin typeface="Times New Roman" panose="02020603050405020304" pitchFamily="18" charset="0"/>
              </a:rPr>
              <a:t> </a:t>
            </a:r>
            <a:endParaRPr lang="zh-CN" altLang="zh-CN" sz="2800" b="0">
              <a:solidFill>
                <a:srgbClr val="CC3300"/>
              </a:solidFill>
              <a:latin typeface="新宋体" panose="02010609030101010101" pitchFamily="49" charset="-122"/>
              <a:ea typeface="新宋体" panose="02010609030101010101" pitchFamily="49" charset="-122"/>
            </a:endParaRPr>
          </a:p>
        </p:txBody>
      </p:sp>
      <p:sp>
        <p:nvSpPr>
          <p:cNvPr id="50179" name="Text Box 3"/>
          <p:cNvSpPr txBox="1">
            <a:spLocks noChangeArrowheads="1"/>
          </p:cNvSpPr>
          <p:nvPr/>
        </p:nvSpPr>
        <p:spPr bwMode="auto">
          <a:xfrm>
            <a:off x="2090739" y="1514475"/>
            <a:ext cx="8008937" cy="4721292"/>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gn="just">
              <a:spcBef>
                <a:spcPct val="10000"/>
              </a:spcBef>
              <a:buClr>
                <a:schemeClr val="folHlink"/>
              </a:buClr>
              <a:buFont typeface="Wingdings" panose="05000000000000000000" pitchFamily="2" charset="2"/>
              <a:buChar char="Ø"/>
            </a:pPr>
            <a:r>
              <a:rPr lang="zh-CN" altLang="zh-CN">
                <a:solidFill>
                  <a:srgbClr val="000099"/>
                </a:solidFill>
                <a:latin typeface="华文楷体" panose="02010600040101010101" pitchFamily="2" charset="-122"/>
                <a:ea typeface="华文楷体" panose="02010600040101010101" pitchFamily="2" charset="-122"/>
              </a:rPr>
              <a:t>按照被传信息种类进行分类</a:t>
            </a:r>
          </a:p>
          <a:p>
            <a:pPr lvl="1" algn="just">
              <a:spcBef>
                <a:spcPct val="10000"/>
              </a:spcBef>
              <a:buClr>
                <a:schemeClr val="folHlink"/>
              </a:buClr>
              <a:buFont typeface="Wingdings" panose="05000000000000000000" pitchFamily="2" charset="2"/>
              <a:buChar char="ü"/>
            </a:pPr>
            <a:r>
              <a:rPr lang="zh-CN" altLang="zh-CN" sz="2400">
                <a:solidFill>
                  <a:schemeClr val="accent1"/>
                </a:solidFill>
                <a:latin typeface="华文楷体" panose="02010600040101010101" pitchFamily="2" charset="-122"/>
                <a:ea typeface="华文楷体" panose="02010600040101010101" pitchFamily="2" charset="-122"/>
              </a:rPr>
              <a:t>数据通信网</a:t>
            </a:r>
          </a:p>
          <a:p>
            <a:pPr lvl="1" algn="just">
              <a:spcBef>
                <a:spcPct val="10000"/>
              </a:spcBef>
              <a:buClr>
                <a:schemeClr val="folHlink"/>
              </a:buClr>
              <a:buFont typeface="Wingdings" panose="05000000000000000000" pitchFamily="2" charset="2"/>
              <a:buChar char="ü"/>
            </a:pPr>
            <a:r>
              <a:rPr lang="zh-CN" altLang="zh-CN" sz="2400">
                <a:solidFill>
                  <a:schemeClr val="accent1"/>
                </a:solidFill>
                <a:latin typeface="华文楷体" panose="02010600040101010101" pitchFamily="2" charset="-122"/>
                <a:ea typeface="华文楷体" panose="02010600040101010101" pitchFamily="2" charset="-122"/>
              </a:rPr>
              <a:t>多媒体网或综合业务数字网（ISDN） </a:t>
            </a:r>
          </a:p>
          <a:p>
            <a:pPr algn="just">
              <a:spcBef>
                <a:spcPct val="10000"/>
              </a:spcBef>
              <a:buClr>
                <a:schemeClr val="folHlink"/>
              </a:buClr>
              <a:buFont typeface="Wingdings" panose="05000000000000000000" pitchFamily="2" charset="2"/>
              <a:buChar char="Ø"/>
            </a:pPr>
            <a:r>
              <a:rPr lang="zh-CN" altLang="zh-CN">
                <a:solidFill>
                  <a:srgbClr val="000099"/>
                </a:solidFill>
                <a:latin typeface="华文楷体" panose="02010600040101010101" pitchFamily="2" charset="-122"/>
                <a:ea typeface="华文楷体" panose="02010600040101010101" pitchFamily="2" charset="-122"/>
              </a:rPr>
              <a:t>按所采用的主要网络技术分类</a:t>
            </a:r>
          </a:p>
          <a:p>
            <a:pPr lvl="1" algn="just">
              <a:spcBef>
                <a:spcPct val="10000"/>
              </a:spcBef>
              <a:buClr>
                <a:schemeClr val="folHlink"/>
              </a:buClr>
              <a:buFont typeface="Wingdings" panose="05000000000000000000" pitchFamily="2" charset="2"/>
              <a:buChar char="ü"/>
            </a:pPr>
            <a:r>
              <a:rPr lang="zh-CN" altLang="zh-CN" sz="2400">
                <a:solidFill>
                  <a:schemeClr val="accent1"/>
                </a:solidFill>
                <a:latin typeface="华文楷体" panose="02010600040101010101" pitchFamily="2" charset="-122"/>
                <a:ea typeface="华文楷体" panose="02010600040101010101" pitchFamily="2" charset="-122"/>
              </a:rPr>
              <a:t>以X.25为基础的分组交换网</a:t>
            </a:r>
          </a:p>
          <a:p>
            <a:pPr lvl="1" algn="just">
              <a:spcBef>
                <a:spcPct val="10000"/>
              </a:spcBef>
              <a:buClr>
                <a:schemeClr val="folHlink"/>
              </a:buClr>
              <a:buFont typeface="Wingdings" panose="05000000000000000000" pitchFamily="2" charset="2"/>
              <a:buChar char="ü"/>
            </a:pPr>
            <a:r>
              <a:rPr lang="zh-CN" altLang="zh-CN" sz="2400">
                <a:solidFill>
                  <a:schemeClr val="accent1"/>
                </a:solidFill>
                <a:latin typeface="华文楷体" panose="02010600040101010101" pitchFamily="2" charset="-122"/>
                <a:ea typeface="华文楷体" panose="02010600040101010101" pitchFamily="2" charset="-122"/>
              </a:rPr>
              <a:t>以异步传输模式为基础的ATM网</a:t>
            </a:r>
          </a:p>
          <a:p>
            <a:pPr lvl="1" algn="just">
              <a:spcBef>
                <a:spcPct val="10000"/>
              </a:spcBef>
              <a:buClr>
                <a:schemeClr val="folHlink"/>
              </a:buClr>
              <a:buFont typeface="Wingdings" panose="05000000000000000000" pitchFamily="2" charset="2"/>
              <a:buChar char="ü"/>
            </a:pPr>
            <a:r>
              <a:rPr lang="zh-CN" altLang="zh-CN" sz="2400">
                <a:solidFill>
                  <a:schemeClr val="accent1"/>
                </a:solidFill>
                <a:latin typeface="华文楷体" panose="02010600040101010101" pitchFamily="2" charset="-122"/>
                <a:ea typeface="华文楷体" panose="02010600040101010101" pitchFamily="2" charset="-122"/>
              </a:rPr>
              <a:t>以幀中继技术为主的幀中继网</a:t>
            </a:r>
          </a:p>
          <a:p>
            <a:pPr lvl="1" algn="just">
              <a:spcBef>
                <a:spcPct val="10000"/>
              </a:spcBef>
              <a:buClr>
                <a:schemeClr val="folHlink"/>
              </a:buClr>
              <a:buFont typeface="Wingdings" panose="05000000000000000000" pitchFamily="2" charset="2"/>
              <a:buChar char="ü"/>
            </a:pPr>
            <a:r>
              <a:rPr lang="zh-CN" altLang="zh-CN" sz="2400">
                <a:solidFill>
                  <a:schemeClr val="accent1"/>
                </a:solidFill>
                <a:latin typeface="华文楷体" panose="02010600040101010101" pitchFamily="2" charset="-122"/>
                <a:ea typeface="华文楷体" panose="02010600040101010101" pitchFamily="2" charset="-122"/>
              </a:rPr>
              <a:t>以卫星通信为基础的卫星网等等。</a:t>
            </a:r>
          </a:p>
          <a:p>
            <a:pPr algn="just">
              <a:spcBef>
                <a:spcPct val="10000"/>
              </a:spcBef>
              <a:buClr>
                <a:schemeClr val="folHlink"/>
              </a:buClr>
              <a:buFont typeface="Wingdings" panose="05000000000000000000" pitchFamily="2" charset="2"/>
              <a:buChar char="Ø"/>
            </a:pPr>
            <a:r>
              <a:rPr lang="zh-CN" altLang="zh-CN">
                <a:solidFill>
                  <a:srgbClr val="000099"/>
                </a:solidFill>
                <a:latin typeface="华文楷体" panose="02010600040101010101" pitchFamily="2" charset="-122"/>
                <a:ea typeface="华文楷体" panose="02010600040101010101" pitchFamily="2" charset="-122"/>
              </a:rPr>
              <a:t>按传输方式分</a:t>
            </a:r>
            <a:r>
              <a:rPr lang="zh-CN" altLang="zh-CN" sz="2400">
                <a:solidFill>
                  <a:schemeClr val="accent1"/>
                </a:solidFill>
                <a:latin typeface="华文楷体" panose="02010600040101010101" pitchFamily="2" charset="-122"/>
                <a:ea typeface="华文楷体" panose="02010600040101010101" pitchFamily="2" charset="-122"/>
              </a:rPr>
              <a:t>：</a:t>
            </a:r>
          </a:p>
          <a:p>
            <a:pPr lvl="1" algn="just">
              <a:spcBef>
                <a:spcPct val="10000"/>
              </a:spcBef>
              <a:buClr>
                <a:schemeClr val="folHlink"/>
              </a:buClr>
              <a:buFont typeface="Wingdings" panose="05000000000000000000" pitchFamily="2" charset="2"/>
              <a:buChar char="ü"/>
            </a:pPr>
            <a:r>
              <a:rPr lang="zh-CN" altLang="zh-CN" sz="2400">
                <a:solidFill>
                  <a:srgbClr val="FF0000"/>
                </a:solidFill>
                <a:latin typeface="华文楷体" panose="02010600040101010101" pitchFamily="2" charset="-122"/>
                <a:ea typeface="华文楷体" panose="02010600040101010101" pitchFamily="2" charset="-122"/>
              </a:rPr>
              <a:t>点到点网络</a:t>
            </a:r>
          </a:p>
          <a:p>
            <a:pPr lvl="1" algn="just">
              <a:spcBef>
                <a:spcPct val="10000"/>
              </a:spcBef>
              <a:buClr>
                <a:schemeClr val="folHlink"/>
              </a:buClr>
              <a:buFont typeface="Wingdings" panose="05000000000000000000" pitchFamily="2" charset="2"/>
              <a:buChar char="ü"/>
            </a:pPr>
            <a:r>
              <a:rPr lang="zh-CN" altLang="zh-CN" sz="2400">
                <a:solidFill>
                  <a:srgbClr val="FF0000"/>
                </a:solidFill>
                <a:latin typeface="华文楷体" panose="02010600040101010101" pitchFamily="2" charset="-122"/>
                <a:ea typeface="华文楷体" panose="02010600040101010101" pitchFamily="2" charset="-122"/>
              </a:rPr>
              <a:t>广播式网络</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0179">
                                            <p:bg/>
                                          </p:spTgt>
                                        </p:tgtEl>
                                        <p:attrNameLst>
                                          <p:attrName>style.visibility</p:attrName>
                                        </p:attrNameLst>
                                      </p:cBhvr>
                                      <p:to>
                                        <p:strVal val="visible"/>
                                      </p:to>
                                    </p:set>
                                    <p:anim calcmode="lin" valueType="num">
                                      <p:cBhvr additive="base">
                                        <p:cTn id="7" dur="500" fill="hold"/>
                                        <p:tgtEl>
                                          <p:spTgt spid="50179">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50179">
                                            <p:bg/>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0179">
                                            <p:txEl>
                                              <p:pRg st="0" end="0"/>
                                            </p:txEl>
                                          </p:spTgt>
                                        </p:tgtEl>
                                        <p:attrNameLst>
                                          <p:attrName>style.visibility</p:attrName>
                                        </p:attrNameLst>
                                      </p:cBhvr>
                                      <p:to>
                                        <p:strVal val="visible"/>
                                      </p:to>
                                    </p:set>
                                    <p:anim calcmode="lin" valueType="num">
                                      <p:cBhvr additive="base">
                                        <p:cTn id="13" dur="500" fill="hold"/>
                                        <p:tgtEl>
                                          <p:spTgt spid="50179">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0179">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50179">
                                            <p:txEl>
                                              <p:pRg st="1" end="1"/>
                                            </p:txEl>
                                          </p:spTgt>
                                        </p:tgtEl>
                                        <p:attrNameLst>
                                          <p:attrName>style.visibility</p:attrName>
                                        </p:attrNameLst>
                                      </p:cBhvr>
                                      <p:to>
                                        <p:strVal val="visible"/>
                                      </p:to>
                                    </p:set>
                                    <p:anim calcmode="lin" valueType="num">
                                      <p:cBhvr additive="base">
                                        <p:cTn id="17" dur="500" fill="hold"/>
                                        <p:tgtEl>
                                          <p:spTgt spid="50179">
                                            <p:txEl>
                                              <p:pRg st="1" end="1"/>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50179">
                                            <p:txEl>
                                              <p:pRg st="1" end="1"/>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50179">
                                            <p:txEl>
                                              <p:pRg st="2" end="2"/>
                                            </p:txEl>
                                          </p:spTgt>
                                        </p:tgtEl>
                                        <p:attrNameLst>
                                          <p:attrName>style.visibility</p:attrName>
                                        </p:attrNameLst>
                                      </p:cBhvr>
                                      <p:to>
                                        <p:strVal val="visible"/>
                                      </p:to>
                                    </p:set>
                                    <p:anim calcmode="lin" valueType="num">
                                      <p:cBhvr additive="base">
                                        <p:cTn id="21" dur="500" fill="hold"/>
                                        <p:tgtEl>
                                          <p:spTgt spid="50179">
                                            <p:txEl>
                                              <p:pRg st="2" end="2"/>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501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50179">
                                            <p:txEl>
                                              <p:pRg st="3" end="3"/>
                                            </p:txEl>
                                          </p:spTgt>
                                        </p:tgtEl>
                                        <p:attrNameLst>
                                          <p:attrName>style.visibility</p:attrName>
                                        </p:attrNameLst>
                                      </p:cBhvr>
                                      <p:to>
                                        <p:strVal val="visible"/>
                                      </p:to>
                                    </p:set>
                                    <p:anim calcmode="lin" valueType="num">
                                      <p:cBhvr additive="base">
                                        <p:cTn id="27" dur="500" fill="hold"/>
                                        <p:tgtEl>
                                          <p:spTgt spid="50179">
                                            <p:txEl>
                                              <p:pRg st="3" end="3"/>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50179">
                                            <p:txEl>
                                              <p:pRg st="3" end="3"/>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50179">
                                            <p:txEl>
                                              <p:pRg st="4" end="4"/>
                                            </p:txEl>
                                          </p:spTgt>
                                        </p:tgtEl>
                                        <p:attrNameLst>
                                          <p:attrName>style.visibility</p:attrName>
                                        </p:attrNameLst>
                                      </p:cBhvr>
                                      <p:to>
                                        <p:strVal val="visible"/>
                                      </p:to>
                                    </p:set>
                                    <p:anim calcmode="lin" valueType="num">
                                      <p:cBhvr additive="base">
                                        <p:cTn id="31" dur="500" fill="hold"/>
                                        <p:tgtEl>
                                          <p:spTgt spid="5017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0179">
                                            <p:txEl>
                                              <p:pRg st="4" end="4"/>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0179">
                                            <p:txEl>
                                              <p:pRg st="5" end="5"/>
                                            </p:txEl>
                                          </p:spTgt>
                                        </p:tgtEl>
                                        <p:attrNameLst>
                                          <p:attrName>style.visibility</p:attrName>
                                        </p:attrNameLst>
                                      </p:cBhvr>
                                      <p:to>
                                        <p:strVal val="visible"/>
                                      </p:to>
                                    </p:set>
                                    <p:anim calcmode="lin" valueType="num">
                                      <p:cBhvr additive="base">
                                        <p:cTn id="35" dur="500" fill="hold"/>
                                        <p:tgtEl>
                                          <p:spTgt spid="50179">
                                            <p:txEl>
                                              <p:pRg st="5" end="5"/>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50179">
                                            <p:txEl>
                                              <p:pRg st="5" end="5"/>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50179">
                                            <p:txEl>
                                              <p:pRg st="6" end="6"/>
                                            </p:txEl>
                                          </p:spTgt>
                                        </p:tgtEl>
                                        <p:attrNameLst>
                                          <p:attrName>style.visibility</p:attrName>
                                        </p:attrNameLst>
                                      </p:cBhvr>
                                      <p:to>
                                        <p:strVal val="visible"/>
                                      </p:to>
                                    </p:set>
                                    <p:anim calcmode="lin" valueType="num">
                                      <p:cBhvr additive="base">
                                        <p:cTn id="39" dur="500" fill="hold"/>
                                        <p:tgtEl>
                                          <p:spTgt spid="50179">
                                            <p:txEl>
                                              <p:pRg st="6" end="6"/>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50179">
                                            <p:txEl>
                                              <p:pRg st="6" end="6"/>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0179">
                                            <p:txEl>
                                              <p:pRg st="7" end="7"/>
                                            </p:txEl>
                                          </p:spTgt>
                                        </p:tgtEl>
                                        <p:attrNameLst>
                                          <p:attrName>style.visibility</p:attrName>
                                        </p:attrNameLst>
                                      </p:cBhvr>
                                      <p:to>
                                        <p:strVal val="visible"/>
                                      </p:to>
                                    </p:set>
                                    <p:anim calcmode="lin" valueType="num">
                                      <p:cBhvr additive="base">
                                        <p:cTn id="43" dur="500" fill="hold"/>
                                        <p:tgtEl>
                                          <p:spTgt spid="50179">
                                            <p:txEl>
                                              <p:pRg st="7" end="7"/>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017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50179">
                                            <p:txEl>
                                              <p:pRg st="8" end="8"/>
                                            </p:txEl>
                                          </p:spTgt>
                                        </p:tgtEl>
                                        <p:attrNameLst>
                                          <p:attrName>style.visibility</p:attrName>
                                        </p:attrNameLst>
                                      </p:cBhvr>
                                      <p:to>
                                        <p:strVal val="visible"/>
                                      </p:to>
                                    </p:set>
                                    <p:anim calcmode="lin" valueType="num">
                                      <p:cBhvr additive="base">
                                        <p:cTn id="49" dur="500" fill="hold"/>
                                        <p:tgtEl>
                                          <p:spTgt spid="50179">
                                            <p:txEl>
                                              <p:pRg st="8" end="8"/>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50179">
                                            <p:txEl>
                                              <p:pRg st="8" end="8"/>
                                            </p:txEl>
                                          </p:spTgt>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50179">
                                            <p:txEl>
                                              <p:pRg st="9" end="9"/>
                                            </p:txEl>
                                          </p:spTgt>
                                        </p:tgtEl>
                                        <p:attrNameLst>
                                          <p:attrName>style.visibility</p:attrName>
                                        </p:attrNameLst>
                                      </p:cBhvr>
                                      <p:to>
                                        <p:strVal val="visible"/>
                                      </p:to>
                                    </p:set>
                                    <p:anim calcmode="lin" valueType="num">
                                      <p:cBhvr additive="base">
                                        <p:cTn id="53" dur="500" fill="hold"/>
                                        <p:tgtEl>
                                          <p:spTgt spid="50179">
                                            <p:txEl>
                                              <p:pRg st="9" end="9"/>
                                            </p:tx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50179">
                                            <p:txEl>
                                              <p:pRg st="9" end="9"/>
                                            </p:txEl>
                                          </p:spTgt>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50179">
                                            <p:txEl>
                                              <p:pRg st="10" end="10"/>
                                            </p:txEl>
                                          </p:spTgt>
                                        </p:tgtEl>
                                        <p:attrNameLst>
                                          <p:attrName>style.visibility</p:attrName>
                                        </p:attrNameLst>
                                      </p:cBhvr>
                                      <p:to>
                                        <p:strVal val="visible"/>
                                      </p:to>
                                    </p:set>
                                    <p:anim calcmode="lin" valueType="num">
                                      <p:cBhvr additive="base">
                                        <p:cTn id="57" dur="500" fill="hold"/>
                                        <p:tgtEl>
                                          <p:spTgt spid="50179">
                                            <p:txEl>
                                              <p:pRg st="10" end="10"/>
                                            </p:tx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50179">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idx="4294967295"/>
          </p:nvPr>
        </p:nvSpPr>
        <p:spPr>
          <a:xfrm>
            <a:off x="277131" y="72412"/>
            <a:ext cx="6654800" cy="925883"/>
          </a:xfrm>
        </p:spPr>
        <p:txBody>
          <a:bodyPr wrap="none">
            <a:normAutofit/>
          </a:bodyPr>
          <a:lstStyle/>
          <a:p>
            <a:pPr eaLnBrk="1" hangingPunct="1"/>
            <a:r>
              <a:rPr lang="zh-CN" altLang="zh-CN" sz="4400" dirty="0">
                <a:ea typeface="华文楷体" panose="02010600040101010101" pitchFamily="2" charset="-122"/>
              </a:rPr>
              <a:t>1.6 网络拓扑结构</a:t>
            </a:r>
          </a:p>
        </p:txBody>
      </p:sp>
      <p:grpSp>
        <p:nvGrpSpPr>
          <p:cNvPr id="51202" name="Group 3"/>
          <p:cNvGrpSpPr>
            <a:grpSpLocks/>
          </p:cNvGrpSpPr>
          <p:nvPr/>
        </p:nvGrpSpPr>
        <p:grpSpPr bwMode="auto">
          <a:xfrm>
            <a:off x="1900239" y="1633539"/>
            <a:ext cx="8440737" cy="4725987"/>
            <a:chOff x="0" y="0"/>
            <a:chExt cx="8505" cy="4992"/>
          </a:xfrm>
        </p:grpSpPr>
        <p:sp>
          <p:nvSpPr>
            <p:cNvPr id="51203" name="Rectangle 4"/>
            <p:cNvSpPr>
              <a:spLocks noChangeArrowheads="1"/>
            </p:cNvSpPr>
            <p:nvPr/>
          </p:nvSpPr>
          <p:spPr bwMode="auto">
            <a:xfrm>
              <a:off x="0" y="0"/>
              <a:ext cx="8505" cy="499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latin typeface="Times New Roman" panose="02020603050405020304" pitchFamily="18" charset="0"/>
              </a:endParaRPr>
            </a:p>
          </p:txBody>
        </p:sp>
        <p:sp>
          <p:nvSpPr>
            <p:cNvPr id="51204" name="Line 5"/>
            <p:cNvSpPr>
              <a:spLocks noChangeShapeType="1"/>
            </p:cNvSpPr>
            <p:nvPr/>
          </p:nvSpPr>
          <p:spPr bwMode="auto">
            <a:xfrm>
              <a:off x="15" y="883"/>
              <a:ext cx="21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05" name="Line 6"/>
            <p:cNvSpPr>
              <a:spLocks noChangeShapeType="1"/>
            </p:cNvSpPr>
            <p:nvPr/>
          </p:nvSpPr>
          <p:spPr bwMode="auto">
            <a:xfrm>
              <a:off x="1095" y="224"/>
              <a:ext cx="1" cy="1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06" name="Line 7"/>
            <p:cNvSpPr>
              <a:spLocks noChangeShapeType="1"/>
            </p:cNvSpPr>
            <p:nvPr/>
          </p:nvSpPr>
          <p:spPr bwMode="auto">
            <a:xfrm>
              <a:off x="375" y="447"/>
              <a:ext cx="1440" cy="88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07" name="Line 8"/>
            <p:cNvSpPr>
              <a:spLocks noChangeShapeType="1"/>
            </p:cNvSpPr>
            <p:nvPr/>
          </p:nvSpPr>
          <p:spPr bwMode="auto">
            <a:xfrm flipV="1">
              <a:off x="375" y="447"/>
              <a:ext cx="1440" cy="88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08" name="Oval 9"/>
            <p:cNvSpPr>
              <a:spLocks noChangeArrowheads="1"/>
            </p:cNvSpPr>
            <p:nvPr/>
          </p:nvSpPr>
          <p:spPr bwMode="auto">
            <a:xfrm>
              <a:off x="915" y="777"/>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09" name="Oval 10"/>
            <p:cNvSpPr>
              <a:spLocks noChangeArrowheads="1"/>
            </p:cNvSpPr>
            <p:nvPr/>
          </p:nvSpPr>
          <p:spPr bwMode="auto">
            <a:xfrm>
              <a:off x="915" y="106"/>
              <a:ext cx="375" cy="235"/>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10" name="Oval 11"/>
            <p:cNvSpPr>
              <a:spLocks noChangeArrowheads="1"/>
            </p:cNvSpPr>
            <p:nvPr/>
          </p:nvSpPr>
          <p:spPr bwMode="auto">
            <a:xfrm>
              <a:off x="195" y="330"/>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11" name="Oval 12"/>
            <p:cNvSpPr>
              <a:spLocks noChangeArrowheads="1"/>
            </p:cNvSpPr>
            <p:nvPr/>
          </p:nvSpPr>
          <p:spPr bwMode="auto">
            <a:xfrm>
              <a:off x="15" y="777"/>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12" name="Oval 13"/>
            <p:cNvSpPr>
              <a:spLocks noChangeArrowheads="1"/>
            </p:cNvSpPr>
            <p:nvPr/>
          </p:nvSpPr>
          <p:spPr bwMode="auto">
            <a:xfrm>
              <a:off x="255" y="1213"/>
              <a:ext cx="375" cy="235"/>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13" name="Oval 14"/>
            <p:cNvSpPr>
              <a:spLocks noChangeArrowheads="1"/>
            </p:cNvSpPr>
            <p:nvPr/>
          </p:nvSpPr>
          <p:spPr bwMode="auto">
            <a:xfrm>
              <a:off x="915" y="1437"/>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14" name="Oval 15"/>
            <p:cNvSpPr>
              <a:spLocks noChangeArrowheads="1"/>
            </p:cNvSpPr>
            <p:nvPr/>
          </p:nvSpPr>
          <p:spPr bwMode="auto">
            <a:xfrm>
              <a:off x="1815" y="777"/>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15" name="Oval 16"/>
            <p:cNvSpPr>
              <a:spLocks noChangeArrowheads="1"/>
            </p:cNvSpPr>
            <p:nvPr/>
          </p:nvSpPr>
          <p:spPr bwMode="auto">
            <a:xfrm>
              <a:off x="1635" y="330"/>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16" name="Oval 17"/>
            <p:cNvSpPr>
              <a:spLocks noChangeArrowheads="1"/>
            </p:cNvSpPr>
            <p:nvPr/>
          </p:nvSpPr>
          <p:spPr bwMode="auto">
            <a:xfrm>
              <a:off x="1635" y="1213"/>
              <a:ext cx="375" cy="235"/>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17" name="Oval 18"/>
            <p:cNvSpPr>
              <a:spLocks noChangeArrowheads="1"/>
            </p:cNvSpPr>
            <p:nvPr/>
          </p:nvSpPr>
          <p:spPr bwMode="auto">
            <a:xfrm>
              <a:off x="2715" y="106"/>
              <a:ext cx="2355" cy="1565"/>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18" name="Oval 19"/>
            <p:cNvSpPr>
              <a:spLocks noChangeArrowheads="1"/>
            </p:cNvSpPr>
            <p:nvPr/>
          </p:nvSpPr>
          <p:spPr bwMode="auto">
            <a:xfrm>
              <a:off x="3795" y="0"/>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19" name="Oval 20"/>
            <p:cNvSpPr>
              <a:spLocks noChangeArrowheads="1"/>
            </p:cNvSpPr>
            <p:nvPr/>
          </p:nvSpPr>
          <p:spPr bwMode="auto">
            <a:xfrm>
              <a:off x="2535" y="777"/>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20" name="Oval 21"/>
            <p:cNvSpPr>
              <a:spLocks noChangeArrowheads="1"/>
            </p:cNvSpPr>
            <p:nvPr/>
          </p:nvSpPr>
          <p:spPr bwMode="auto">
            <a:xfrm>
              <a:off x="2895" y="224"/>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21" name="Oval 22"/>
            <p:cNvSpPr>
              <a:spLocks noChangeArrowheads="1"/>
            </p:cNvSpPr>
            <p:nvPr/>
          </p:nvSpPr>
          <p:spPr bwMode="auto">
            <a:xfrm>
              <a:off x="4515" y="224"/>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22" name="Oval 23"/>
            <p:cNvSpPr>
              <a:spLocks noChangeArrowheads="1"/>
            </p:cNvSpPr>
            <p:nvPr/>
          </p:nvSpPr>
          <p:spPr bwMode="auto">
            <a:xfrm>
              <a:off x="4875" y="777"/>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23" name="Oval 24"/>
            <p:cNvSpPr>
              <a:spLocks noChangeArrowheads="1"/>
            </p:cNvSpPr>
            <p:nvPr/>
          </p:nvSpPr>
          <p:spPr bwMode="auto">
            <a:xfrm>
              <a:off x="2895" y="1330"/>
              <a:ext cx="375" cy="235"/>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24" name="Oval 25"/>
            <p:cNvSpPr>
              <a:spLocks noChangeArrowheads="1"/>
            </p:cNvSpPr>
            <p:nvPr/>
          </p:nvSpPr>
          <p:spPr bwMode="auto">
            <a:xfrm>
              <a:off x="3795" y="1554"/>
              <a:ext cx="375" cy="22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25" name="Oval 26"/>
            <p:cNvSpPr>
              <a:spLocks noChangeArrowheads="1"/>
            </p:cNvSpPr>
            <p:nvPr/>
          </p:nvSpPr>
          <p:spPr bwMode="auto">
            <a:xfrm>
              <a:off x="4515" y="1330"/>
              <a:ext cx="375" cy="235"/>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26" name="Line 27"/>
            <p:cNvSpPr>
              <a:spLocks noChangeShapeType="1"/>
            </p:cNvSpPr>
            <p:nvPr/>
          </p:nvSpPr>
          <p:spPr bwMode="auto">
            <a:xfrm>
              <a:off x="5595" y="883"/>
              <a:ext cx="28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27" name="Line 28"/>
            <p:cNvSpPr>
              <a:spLocks noChangeShapeType="1"/>
            </p:cNvSpPr>
            <p:nvPr/>
          </p:nvSpPr>
          <p:spPr bwMode="auto">
            <a:xfrm>
              <a:off x="5775" y="883"/>
              <a:ext cx="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28" name="Line 29"/>
            <p:cNvSpPr>
              <a:spLocks noChangeShapeType="1"/>
            </p:cNvSpPr>
            <p:nvPr/>
          </p:nvSpPr>
          <p:spPr bwMode="auto">
            <a:xfrm>
              <a:off x="5595" y="777"/>
              <a:ext cx="1" cy="2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29" name="Line 30"/>
            <p:cNvSpPr>
              <a:spLocks noChangeShapeType="1"/>
            </p:cNvSpPr>
            <p:nvPr/>
          </p:nvSpPr>
          <p:spPr bwMode="auto">
            <a:xfrm>
              <a:off x="8475" y="777"/>
              <a:ext cx="1" cy="2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30" name="Line 31"/>
            <p:cNvSpPr>
              <a:spLocks noChangeShapeType="1"/>
            </p:cNvSpPr>
            <p:nvPr/>
          </p:nvSpPr>
          <p:spPr bwMode="auto">
            <a:xfrm>
              <a:off x="5955" y="553"/>
              <a:ext cx="1"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31" name="Line 32"/>
            <p:cNvSpPr>
              <a:spLocks noChangeShapeType="1"/>
            </p:cNvSpPr>
            <p:nvPr/>
          </p:nvSpPr>
          <p:spPr bwMode="auto">
            <a:xfrm>
              <a:off x="7035" y="553"/>
              <a:ext cx="1"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32" name="Line 33"/>
            <p:cNvSpPr>
              <a:spLocks noChangeShapeType="1"/>
            </p:cNvSpPr>
            <p:nvPr/>
          </p:nvSpPr>
          <p:spPr bwMode="auto">
            <a:xfrm>
              <a:off x="8115" y="553"/>
              <a:ext cx="1"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33" name="Line 34"/>
            <p:cNvSpPr>
              <a:spLocks noChangeShapeType="1"/>
            </p:cNvSpPr>
            <p:nvPr/>
          </p:nvSpPr>
          <p:spPr bwMode="auto">
            <a:xfrm>
              <a:off x="6495" y="883"/>
              <a:ext cx="1"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34" name="Line 35"/>
            <p:cNvSpPr>
              <a:spLocks noChangeShapeType="1"/>
            </p:cNvSpPr>
            <p:nvPr/>
          </p:nvSpPr>
          <p:spPr bwMode="auto">
            <a:xfrm>
              <a:off x="7575" y="883"/>
              <a:ext cx="1"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35" name="Oval 36"/>
            <p:cNvSpPr>
              <a:spLocks noChangeArrowheads="1"/>
            </p:cNvSpPr>
            <p:nvPr/>
          </p:nvSpPr>
          <p:spPr bwMode="auto">
            <a:xfrm>
              <a:off x="5775" y="447"/>
              <a:ext cx="375" cy="22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36" name="Oval 37"/>
            <p:cNvSpPr>
              <a:spLocks noChangeArrowheads="1"/>
            </p:cNvSpPr>
            <p:nvPr/>
          </p:nvSpPr>
          <p:spPr bwMode="auto">
            <a:xfrm>
              <a:off x="6855" y="447"/>
              <a:ext cx="375" cy="22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37" name="Oval 38"/>
            <p:cNvSpPr>
              <a:spLocks noChangeArrowheads="1"/>
            </p:cNvSpPr>
            <p:nvPr/>
          </p:nvSpPr>
          <p:spPr bwMode="auto">
            <a:xfrm>
              <a:off x="7935" y="447"/>
              <a:ext cx="375" cy="22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38" name="Oval 39"/>
            <p:cNvSpPr>
              <a:spLocks noChangeArrowheads="1"/>
            </p:cNvSpPr>
            <p:nvPr/>
          </p:nvSpPr>
          <p:spPr bwMode="auto">
            <a:xfrm>
              <a:off x="6315" y="1107"/>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39" name="Oval 40"/>
            <p:cNvSpPr>
              <a:spLocks noChangeArrowheads="1"/>
            </p:cNvSpPr>
            <p:nvPr/>
          </p:nvSpPr>
          <p:spPr bwMode="auto">
            <a:xfrm>
              <a:off x="7395" y="1107"/>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40" name="Line 41"/>
            <p:cNvSpPr>
              <a:spLocks noChangeShapeType="1"/>
            </p:cNvSpPr>
            <p:nvPr/>
          </p:nvSpPr>
          <p:spPr bwMode="auto">
            <a:xfrm flipH="1">
              <a:off x="1275" y="2544"/>
              <a:ext cx="360" cy="4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41" name="Line 42"/>
            <p:cNvSpPr>
              <a:spLocks noChangeShapeType="1"/>
            </p:cNvSpPr>
            <p:nvPr/>
          </p:nvSpPr>
          <p:spPr bwMode="auto">
            <a:xfrm>
              <a:off x="1635" y="2544"/>
              <a:ext cx="720" cy="4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42" name="Line 43"/>
            <p:cNvSpPr>
              <a:spLocks noChangeShapeType="1"/>
            </p:cNvSpPr>
            <p:nvPr/>
          </p:nvSpPr>
          <p:spPr bwMode="auto">
            <a:xfrm flipH="1">
              <a:off x="735" y="2991"/>
              <a:ext cx="540"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43" name="Line 44"/>
            <p:cNvSpPr>
              <a:spLocks noChangeShapeType="1"/>
            </p:cNvSpPr>
            <p:nvPr/>
          </p:nvSpPr>
          <p:spPr bwMode="auto">
            <a:xfrm>
              <a:off x="1275" y="2991"/>
              <a:ext cx="360"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44" name="Line 45"/>
            <p:cNvSpPr>
              <a:spLocks noChangeShapeType="1"/>
            </p:cNvSpPr>
            <p:nvPr/>
          </p:nvSpPr>
          <p:spPr bwMode="auto">
            <a:xfrm flipH="1">
              <a:off x="2175" y="2991"/>
              <a:ext cx="180"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45" name="Line 46"/>
            <p:cNvSpPr>
              <a:spLocks noChangeShapeType="1"/>
            </p:cNvSpPr>
            <p:nvPr/>
          </p:nvSpPr>
          <p:spPr bwMode="auto">
            <a:xfrm>
              <a:off x="2355" y="2991"/>
              <a:ext cx="540"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46" name="Oval 47"/>
            <p:cNvSpPr>
              <a:spLocks noChangeArrowheads="1"/>
            </p:cNvSpPr>
            <p:nvPr/>
          </p:nvSpPr>
          <p:spPr bwMode="auto">
            <a:xfrm>
              <a:off x="1455" y="2437"/>
              <a:ext cx="375" cy="235"/>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47" name="Oval 48"/>
            <p:cNvSpPr>
              <a:spLocks noChangeArrowheads="1"/>
            </p:cNvSpPr>
            <p:nvPr/>
          </p:nvSpPr>
          <p:spPr bwMode="auto">
            <a:xfrm>
              <a:off x="1095" y="2874"/>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48" name="Oval 49"/>
            <p:cNvSpPr>
              <a:spLocks noChangeArrowheads="1"/>
            </p:cNvSpPr>
            <p:nvPr/>
          </p:nvSpPr>
          <p:spPr bwMode="auto">
            <a:xfrm>
              <a:off x="2175" y="2874"/>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49" name="Oval 50"/>
            <p:cNvSpPr>
              <a:spLocks noChangeArrowheads="1"/>
            </p:cNvSpPr>
            <p:nvPr/>
          </p:nvSpPr>
          <p:spPr bwMode="auto">
            <a:xfrm>
              <a:off x="555" y="3214"/>
              <a:ext cx="375" cy="22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50" name="Oval 51"/>
            <p:cNvSpPr>
              <a:spLocks noChangeArrowheads="1"/>
            </p:cNvSpPr>
            <p:nvPr/>
          </p:nvSpPr>
          <p:spPr bwMode="auto">
            <a:xfrm>
              <a:off x="1995" y="3214"/>
              <a:ext cx="375" cy="22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51" name="Line 52"/>
            <p:cNvSpPr>
              <a:spLocks noChangeShapeType="1"/>
            </p:cNvSpPr>
            <p:nvPr/>
          </p:nvSpPr>
          <p:spPr bwMode="auto">
            <a:xfrm flipH="1">
              <a:off x="1095" y="3321"/>
              <a:ext cx="540" cy="4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52" name="Line 53"/>
            <p:cNvSpPr>
              <a:spLocks noChangeShapeType="1"/>
            </p:cNvSpPr>
            <p:nvPr/>
          </p:nvSpPr>
          <p:spPr bwMode="auto">
            <a:xfrm>
              <a:off x="1635" y="3321"/>
              <a:ext cx="360" cy="4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53" name="Line 54"/>
            <p:cNvSpPr>
              <a:spLocks noChangeShapeType="1"/>
            </p:cNvSpPr>
            <p:nvPr/>
          </p:nvSpPr>
          <p:spPr bwMode="auto">
            <a:xfrm flipH="1">
              <a:off x="2535" y="3321"/>
              <a:ext cx="360" cy="4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54" name="Line 55"/>
            <p:cNvSpPr>
              <a:spLocks noChangeShapeType="1"/>
            </p:cNvSpPr>
            <p:nvPr/>
          </p:nvSpPr>
          <p:spPr bwMode="auto">
            <a:xfrm>
              <a:off x="2895" y="3321"/>
              <a:ext cx="540" cy="4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55" name="Oval 56"/>
            <p:cNvSpPr>
              <a:spLocks noChangeArrowheads="1"/>
            </p:cNvSpPr>
            <p:nvPr/>
          </p:nvSpPr>
          <p:spPr bwMode="auto">
            <a:xfrm>
              <a:off x="2715" y="3214"/>
              <a:ext cx="375" cy="22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56" name="Oval 57"/>
            <p:cNvSpPr>
              <a:spLocks noChangeArrowheads="1"/>
            </p:cNvSpPr>
            <p:nvPr/>
          </p:nvSpPr>
          <p:spPr bwMode="auto">
            <a:xfrm>
              <a:off x="2355" y="3651"/>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57" name="Oval 58"/>
            <p:cNvSpPr>
              <a:spLocks noChangeArrowheads="1"/>
            </p:cNvSpPr>
            <p:nvPr/>
          </p:nvSpPr>
          <p:spPr bwMode="auto">
            <a:xfrm>
              <a:off x="3255" y="3651"/>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58" name="Oval 59"/>
            <p:cNvSpPr>
              <a:spLocks noChangeArrowheads="1"/>
            </p:cNvSpPr>
            <p:nvPr/>
          </p:nvSpPr>
          <p:spPr bwMode="auto">
            <a:xfrm>
              <a:off x="1455" y="3214"/>
              <a:ext cx="375" cy="22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59" name="Oval 60"/>
            <p:cNvSpPr>
              <a:spLocks noChangeArrowheads="1"/>
            </p:cNvSpPr>
            <p:nvPr/>
          </p:nvSpPr>
          <p:spPr bwMode="auto">
            <a:xfrm>
              <a:off x="915" y="3651"/>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60" name="Oval 61"/>
            <p:cNvSpPr>
              <a:spLocks noChangeArrowheads="1"/>
            </p:cNvSpPr>
            <p:nvPr/>
          </p:nvSpPr>
          <p:spPr bwMode="auto">
            <a:xfrm>
              <a:off x="1815" y="3651"/>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61" name="Line 62"/>
            <p:cNvSpPr>
              <a:spLocks noChangeShapeType="1"/>
            </p:cNvSpPr>
            <p:nvPr/>
          </p:nvSpPr>
          <p:spPr bwMode="auto">
            <a:xfrm flipV="1">
              <a:off x="5055" y="2544"/>
              <a:ext cx="900" cy="4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62" name="Line 63"/>
            <p:cNvSpPr>
              <a:spLocks noChangeShapeType="1"/>
            </p:cNvSpPr>
            <p:nvPr/>
          </p:nvSpPr>
          <p:spPr bwMode="auto">
            <a:xfrm>
              <a:off x="5955" y="2544"/>
              <a:ext cx="10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63" name="Line 64"/>
            <p:cNvSpPr>
              <a:spLocks noChangeShapeType="1"/>
            </p:cNvSpPr>
            <p:nvPr/>
          </p:nvSpPr>
          <p:spPr bwMode="auto">
            <a:xfrm>
              <a:off x="7035" y="2544"/>
              <a:ext cx="540" cy="4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64" name="Line 65"/>
            <p:cNvSpPr>
              <a:spLocks noChangeShapeType="1"/>
            </p:cNvSpPr>
            <p:nvPr/>
          </p:nvSpPr>
          <p:spPr bwMode="auto">
            <a:xfrm>
              <a:off x="5055" y="2991"/>
              <a:ext cx="540" cy="7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65" name="Line 66"/>
            <p:cNvSpPr>
              <a:spLocks noChangeShapeType="1"/>
            </p:cNvSpPr>
            <p:nvPr/>
          </p:nvSpPr>
          <p:spPr bwMode="auto">
            <a:xfrm flipH="1">
              <a:off x="7215" y="2991"/>
              <a:ext cx="360" cy="88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66" name="Line 67"/>
            <p:cNvSpPr>
              <a:spLocks noChangeShapeType="1"/>
            </p:cNvSpPr>
            <p:nvPr/>
          </p:nvSpPr>
          <p:spPr bwMode="auto">
            <a:xfrm>
              <a:off x="5055" y="2991"/>
              <a:ext cx="2160" cy="88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67" name="Line 68"/>
            <p:cNvSpPr>
              <a:spLocks noChangeShapeType="1"/>
            </p:cNvSpPr>
            <p:nvPr/>
          </p:nvSpPr>
          <p:spPr bwMode="auto">
            <a:xfrm flipH="1">
              <a:off x="5595" y="2991"/>
              <a:ext cx="1980" cy="7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68" name="Line 69"/>
            <p:cNvSpPr>
              <a:spLocks noChangeShapeType="1"/>
            </p:cNvSpPr>
            <p:nvPr/>
          </p:nvSpPr>
          <p:spPr bwMode="auto">
            <a:xfrm>
              <a:off x="7035" y="2544"/>
              <a:ext cx="180" cy="1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latin typeface="Times New Roman" panose="02020603050405020304" pitchFamily="18" charset="0"/>
              </a:endParaRPr>
            </a:p>
          </p:txBody>
        </p:sp>
        <p:sp>
          <p:nvSpPr>
            <p:cNvPr id="51269" name="Oval 70"/>
            <p:cNvSpPr>
              <a:spLocks noChangeArrowheads="1"/>
            </p:cNvSpPr>
            <p:nvPr/>
          </p:nvSpPr>
          <p:spPr bwMode="auto">
            <a:xfrm>
              <a:off x="5775" y="2437"/>
              <a:ext cx="375" cy="235"/>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70" name="Oval 71"/>
            <p:cNvSpPr>
              <a:spLocks noChangeArrowheads="1"/>
            </p:cNvSpPr>
            <p:nvPr/>
          </p:nvSpPr>
          <p:spPr bwMode="auto">
            <a:xfrm>
              <a:off x="6855" y="2437"/>
              <a:ext cx="375" cy="235"/>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71" name="Oval 72"/>
            <p:cNvSpPr>
              <a:spLocks noChangeArrowheads="1"/>
            </p:cNvSpPr>
            <p:nvPr/>
          </p:nvSpPr>
          <p:spPr bwMode="auto">
            <a:xfrm>
              <a:off x="7395" y="2874"/>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72" name="Oval 73"/>
            <p:cNvSpPr>
              <a:spLocks noChangeArrowheads="1"/>
            </p:cNvSpPr>
            <p:nvPr/>
          </p:nvSpPr>
          <p:spPr bwMode="auto">
            <a:xfrm>
              <a:off x="4875" y="2874"/>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73" name="Oval 74"/>
            <p:cNvSpPr>
              <a:spLocks noChangeArrowheads="1"/>
            </p:cNvSpPr>
            <p:nvPr/>
          </p:nvSpPr>
          <p:spPr bwMode="auto">
            <a:xfrm>
              <a:off x="7035" y="3768"/>
              <a:ext cx="375" cy="223"/>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74" name="Oval 75"/>
            <p:cNvSpPr>
              <a:spLocks noChangeArrowheads="1"/>
            </p:cNvSpPr>
            <p:nvPr/>
          </p:nvSpPr>
          <p:spPr bwMode="auto">
            <a:xfrm>
              <a:off x="5415" y="3651"/>
              <a:ext cx="375" cy="234"/>
            </a:xfrm>
            <a:prstGeom prst="ellipse">
              <a:avLst/>
            </a:prstGeom>
            <a:solidFill>
              <a:srgbClr val="FFFFFF"/>
            </a:solidFill>
            <a:ln w="9525">
              <a:solidFill>
                <a:srgbClr val="000000"/>
              </a:solidFill>
              <a:round/>
              <a:headEnd/>
              <a:tailEnd/>
            </a:ln>
          </p:spPr>
          <p:txBody>
            <a:bodyPr/>
            <a:lstStyle/>
            <a:p>
              <a:pPr algn="ctr" eaLnBrk="0" hangingPunct="0"/>
              <a:endParaRPr lang="zh-CN" altLang="en-US">
                <a:latin typeface="Times New Roman" panose="02020603050405020304" pitchFamily="18" charset="0"/>
              </a:endParaRPr>
            </a:p>
          </p:txBody>
        </p:sp>
        <p:sp>
          <p:nvSpPr>
            <p:cNvPr id="51275" name="Rectangle 76"/>
            <p:cNvSpPr>
              <a:spLocks noChangeArrowheads="1"/>
            </p:cNvSpPr>
            <p:nvPr/>
          </p:nvSpPr>
          <p:spPr bwMode="auto">
            <a:xfrm>
              <a:off x="180" y="1884"/>
              <a:ext cx="7935" cy="341"/>
            </a:xfrm>
            <a:prstGeom prst="rect">
              <a:avLst/>
            </a:prstGeom>
            <a:solidFill>
              <a:srgbClr val="FFFFFF"/>
            </a:solidFill>
            <a:ln w="9525">
              <a:solidFill>
                <a:srgbClr val="FFFFFF"/>
              </a:solidFill>
              <a:miter lim="800000"/>
              <a:headEnd/>
              <a:tailEnd/>
            </a:ln>
          </p:spPr>
          <p:txBody>
            <a:bodyPr/>
            <a:lstStyle/>
            <a:p>
              <a:pPr algn="ctr" eaLnBrk="0" hangingPunct="0"/>
              <a:endParaRPr lang="zh-CN" altLang="en-US">
                <a:latin typeface="Times New Roman" panose="02020603050405020304" pitchFamily="18" charset="0"/>
              </a:endParaRPr>
            </a:p>
          </p:txBody>
        </p:sp>
        <p:sp>
          <p:nvSpPr>
            <p:cNvPr id="51276" name="Rectangle 77"/>
            <p:cNvSpPr>
              <a:spLocks noChangeArrowheads="1"/>
            </p:cNvSpPr>
            <p:nvPr/>
          </p:nvSpPr>
          <p:spPr bwMode="auto">
            <a:xfrm>
              <a:off x="329" y="1957"/>
              <a:ext cx="11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宋体" panose="02010600030101010101" pitchFamily="2" charset="-122"/>
                </a:rPr>
                <a:t>（</a:t>
              </a:r>
              <a:endParaRPr lang="zh-CN" altLang="zh-CN" sz="1000" b="0">
                <a:latin typeface="Times New Roman" panose="02020603050405020304" pitchFamily="18" charset="0"/>
              </a:endParaRPr>
            </a:p>
          </p:txBody>
        </p:sp>
        <p:sp>
          <p:nvSpPr>
            <p:cNvPr id="51277" name="Rectangle 78"/>
            <p:cNvSpPr>
              <a:spLocks noChangeArrowheads="1"/>
            </p:cNvSpPr>
            <p:nvPr/>
          </p:nvSpPr>
          <p:spPr bwMode="auto">
            <a:xfrm>
              <a:off x="571" y="1947"/>
              <a:ext cx="52"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Times New Roman" panose="02020603050405020304" pitchFamily="18" charset="0"/>
                </a:rPr>
                <a:t>a</a:t>
              </a:r>
              <a:endParaRPr lang="zh-CN" altLang="zh-CN" sz="1000" b="0">
                <a:latin typeface="Times New Roman" panose="02020603050405020304" pitchFamily="18" charset="0"/>
              </a:endParaRPr>
            </a:p>
          </p:txBody>
        </p:sp>
        <p:sp>
          <p:nvSpPr>
            <p:cNvPr id="51278" name="Rectangle 79"/>
            <p:cNvSpPr>
              <a:spLocks noChangeArrowheads="1"/>
            </p:cNvSpPr>
            <p:nvPr/>
          </p:nvSpPr>
          <p:spPr bwMode="auto">
            <a:xfrm>
              <a:off x="674" y="1957"/>
              <a:ext cx="34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宋体" panose="02010600030101010101" pitchFamily="2" charset="-122"/>
                </a:rPr>
                <a:t>）星型</a:t>
              </a:r>
              <a:endParaRPr lang="zh-CN" altLang="zh-CN" sz="1000" b="0">
                <a:latin typeface="Times New Roman" panose="02020603050405020304" pitchFamily="18" charset="0"/>
              </a:endParaRPr>
            </a:p>
          </p:txBody>
        </p:sp>
        <p:sp>
          <p:nvSpPr>
            <p:cNvPr id="51279" name="Rectangle 80"/>
            <p:cNvSpPr>
              <a:spLocks noChangeArrowheads="1"/>
            </p:cNvSpPr>
            <p:nvPr/>
          </p:nvSpPr>
          <p:spPr bwMode="auto">
            <a:xfrm>
              <a:off x="2897" y="1947"/>
              <a:ext cx="785"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Times New Roman" panose="02020603050405020304" pitchFamily="18" charset="0"/>
                </a:rPr>
                <a:t>                 （b）</a:t>
              </a:r>
              <a:endParaRPr lang="zh-CN" altLang="zh-CN" sz="1000" b="0">
                <a:latin typeface="Times New Roman" panose="02020603050405020304" pitchFamily="18" charset="0"/>
              </a:endParaRPr>
            </a:p>
          </p:txBody>
        </p:sp>
        <p:sp>
          <p:nvSpPr>
            <p:cNvPr id="51280" name="Rectangle 81"/>
            <p:cNvSpPr>
              <a:spLocks noChangeArrowheads="1"/>
            </p:cNvSpPr>
            <p:nvPr/>
          </p:nvSpPr>
          <p:spPr bwMode="auto">
            <a:xfrm>
              <a:off x="3704" y="1947"/>
              <a:ext cx="2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Times New Roman" panose="02020603050405020304" pitchFamily="18" charset="0"/>
                </a:rPr>
                <a:t> </a:t>
              </a:r>
              <a:endParaRPr lang="zh-CN" altLang="zh-CN" sz="1000" b="0">
                <a:latin typeface="Times New Roman" panose="02020603050405020304" pitchFamily="18" charset="0"/>
              </a:endParaRPr>
            </a:p>
          </p:txBody>
        </p:sp>
        <p:sp>
          <p:nvSpPr>
            <p:cNvPr id="51281" name="Rectangle 82"/>
            <p:cNvSpPr>
              <a:spLocks noChangeArrowheads="1"/>
            </p:cNvSpPr>
            <p:nvPr/>
          </p:nvSpPr>
          <p:spPr bwMode="auto">
            <a:xfrm>
              <a:off x="3824" y="1957"/>
              <a:ext cx="233"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宋体" panose="02010600030101010101" pitchFamily="2" charset="-122"/>
                </a:rPr>
                <a:t>环型</a:t>
              </a:r>
              <a:endParaRPr lang="zh-CN" altLang="zh-CN" sz="1000" b="0">
                <a:latin typeface="Times New Roman" panose="02020603050405020304" pitchFamily="18" charset="0"/>
              </a:endParaRPr>
            </a:p>
          </p:txBody>
        </p:sp>
        <p:sp>
          <p:nvSpPr>
            <p:cNvPr id="51282" name="Rectangle 83"/>
            <p:cNvSpPr>
              <a:spLocks noChangeArrowheads="1"/>
            </p:cNvSpPr>
            <p:nvPr/>
          </p:nvSpPr>
          <p:spPr bwMode="auto">
            <a:xfrm>
              <a:off x="4302" y="1947"/>
              <a:ext cx="523"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Times New Roman" panose="02020603050405020304" pitchFamily="18" charset="0"/>
                </a:rPr>
                <a:t>                  </a:t>
              </a:r>
              <a:endParaRPr lang="zh-CN" altLang="zh-CN" sz="1000" b="0">
                <a:latin typeface="Times New Roman" panose="02020603050405020304" pitchFamily="18" charset="0"/>
              </a:endParaRPr>
            </a:p>
          </p:txBody>
        </p:sp>
        <p:sp>
          <p:nvSpPr>
            <p:cNvPr id="51283" name="Rectangle 84"/>
            <p:cNvSpPr>
              <a:spLocks noChangeArrowheads="1"/>
            </p:cNvSpPr>
            <p:nvPr/>
          </p:nvSpPr>
          <p:spPr bwMode="auto">
            <a:xfrm>
              <a:off x="6465" y="1957"/>
              <a:ext cx="11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宋体" panose="02010600030101010101" pitchFamily="2" charset="-122"/>
                </a:rPr>
                <a:t>（</a:t>
              </a:r>
              <a:endParaRPr lang="zh-CN" altLang="zh-CN" sz="1000" b="0">
                <a:latin typeface="Times New Roman" panose="02020603050405020304" pitchFamily="18" charset="0"/>
              </a:endParaRPr>
            </a:p>
          </p:txBody>
        </p:sp>
        <p:sp>
          <p:nvSpPr>
            <p:cNvPr id="51284" name="Rectangle 85"/>
            <p:cNvSpPr>
              <a:spLocks noChangeArrowheads="1"/>
            </p:cNvSpPr>
            <p:nvPr/>
          </p:nvSpPr>
          <p:spPr bwMode="auto">
            <a:xfrm>
              <a:off x="6704" y="1947"/>
              <a:ext cx="52"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Times New Roman" panose="02020603050405020304" pitchFamily="18" charset="0"/>
                </a:rPr>
                <a:t>c</a:t>
              </a:r>
              <a:endParaRPr lang="zh-CN" altLang="zh-CN" sz="1000" b="0">
                <a:latin typeface="Times New Roman" panose="02020603050405020304" pitchFamily="18" charset="0"/>
              </a:endParaRPr>
            </a:p>
          </p:txBody>
        </p:sp>
        <p:sp>
          <p:nvSpPr>
            <p:cNvPr id="51285" name="Rectangle 86"/>
            <p:cNvSpPr>
              <a:spLocks noChangeArrowheads="1"/>
            </p:cNvSpPr>
            <p:nvPr/>
          </p:nvSpPr>
          <p:spPr bwMode="auto">
            <a:xfrm>
              <a:off x="6809" y="1957"/>
              <a:ext cx="11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宋体" panose="02010600030101010101" pitchFamily="2" charset="-122"/>
                </a:rPr>
                <a:t>）</a:t>
              </a:r>
              <a:endParaRPr lang="zh-CN" altLang="zh-CN" sz="1000" b="0">
                <a:latin typeface="Times New Roman" panose="02020603050405020304" pitchFamily="18" charset="0"/>
              </a:endParaRPr>
            </a:p>
          </p:txBody>
        </p:sp>
        <p:sp>
          <p:nvSpPr>
            <p:cNvPr id="51286" name="Rectangle 87"/>
            <p:cNvSpPr>
              <a:spLocks noChangeArrowheads="1"/>
            </p:cNvSpPr>
            <p:nvPr/>
          </p:nvSpPr>
          <p:spPr bwMode="auto">
            <a:xfrm>
              <a:off x="7049" y="1947"/>
              <a:ext cx="2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Times New Roman" panose="02020603050405020304" pitchFamily="18" charset="0"/>
                </a:rPr>
                <a:t> </a:t>
              </a:r>
              <a:endParaRPr lang="zh-CN" altLang="zh-CN" sz="1000" b="0">
                <a:latin typeface="Times New Roman" panose="02020603050405020304" pitchFamily="18" charset="0"/>
              </a:endParaRPr>
            </a:p>
          </p:txBody>
        </p:sp>
        <p:sp>
          <p:nvSpPr>
            <p:cNvPr id="51287" name="Rectangle 88"/>
            <p:cNvSpPr>
              <a:spLocks noChangeArrowheads="1"/>
            </p:cNvSpPr>
            <p:nvPr/>
          </p:nvSpPr>
          <p:spPr bwMode="auto">
            <a:xfrm>
              <a:off x="7168" y="1957"/>
              <a:ext cx="34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宋体" panose="02010600030101010101" pitchFamily="2" charset="-122"/>
                </a:rPr>
                <a:t>总线型</a:t>
              </a:r>
              <a:endParaRPr lang="zh-CN" altLang="zh-CN" sz="1000" b="0">
                <a:latin typeface="Times New Roman" panose="02020603050405020304" pitchFamily="18" charset="0"/>
              </a:endParaRPr>
            </a:p>
          </p:txBody>
        </p:sp>
        <p:sp>
          <p:nvSpPr>
            <p:cNvPr id="51288" name="Rectangle 89"/>
            <p:cNvSpPr>
              <a:spLocks noChangeArrowheads="1"/>
            </p:cNvSpPr>
            <p:nvPr/>
          </p:nvSpPr>
          <p:spPr bwMode="auto">
            <a:xfrm>
              <a:off x="1260" y="4098"/>
              <a:ext cx="6135" cy="341"/>
            </a:xfrm>
            <a:prstGeom prst="rect">
              <a:avLst/>
            </a:prstGeom>
            <a:solidFill>
              <a:srgbClr val="FFFFFF"/>
            </a:solidFill>
            <a:ln w="9525">
              <a:solidFill>
                <a:srgbClr val="FFFFFF"/>
              </a:solidFill>
              <a:miter lim="800000"/>
              <a:headEnd/>
              <a:tailEnd/>
            </a:ln>
          </p:spPr>
          <p:txBody>
            <a:bodyPr/>
            <a:lstStyle/>
            <a:p>
              <a:pPr algn="ctr" eaLnBrk="0" hangingPunct="0"/>
              <a:endParaRPr lang="zh-CN" altLang="en-US">
                <a:latin typeface="Times New Roman" panose="02020603050405020304" pitchFamily="18" charset="0"/>
              </a:endParaRPr>
            </a:p>
          </p:txBody>
        </p:sp>
        <p:sp>
          <p:nvSpPr>
            <p:cNvPr id="51289" name="Rectangle 90"/>
            <p:cNvSpPr>
              <a:spLocks noChangeArrowheads="1"/>
            </p:cNvSpPr>
            <p:nvPr/>
          </p:nvSpPr>
          <p:spPr bwMode="auto">
            <a:xfrm>
              <a:off x="1408" y="4172"/>
              <a:ext cx="11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宋体" panose="02010600030101010101" pitchFamily="2" charset="-122"/>
                </a:rPr>
                <a:t>（</a:t>
              </a:r>
              <a:endParaRPr lang="zh-CN" altLang="zh-CN" sz="1000" b="0">
                <a:latin typeface="Times New Roman" panose="02020603050405020304" pitchFamily="18" charset="0"/>
              </a:endParaRPr>
            </a:p>
          </p:txBody>
        </p:sp>
        <p:sp>
          <p:nvSpPr>
            <p:cNvPr id="51290" name="Rectangle 91"/>
            <p:cNvSpPr>
              <a:spLocks noChangeArrowheads="1"/>
            </p:cNvSpPr>
            <p:nvPr/>
          </p:nvSpPr>
          <p:spPr bwMode="auto">
            <a:xfrm>
              <a:off x="1650" y="4162"/>
              <a:ext cx="58"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Times New Roman" panose="02020603050405020304" pitchFamily="18" charset="0"/>
                </a:rPr>
                <a:t>d</a:t>
              </a:r>
              <a:endParaRPr lang="zh-CN" altLang="zh-CN" sz="1000" b="0">
                <a:latin typeface="Times New Roman" panose="02020603050405020304" pitchFamily="18" charset="0"/>
              </a:endParaRPr>
            </a:p>
          </p:txBody>
        </p:sp>
        <p:sp>
          <p:nvSpPr>
            <p:cNvPr id="51291" name="Rectangle 92"/>
            <p:cNvSpPr>
              <a:spLocks noChangeArrowheads="1"/>
            </p:cNvSpPr>
            <p:nvPr/>
          </p:nvSpPr>
          <p:spPr bwMode="auto">
            <a:xfrm>
              <a:off x="1768" y="4172"/>
              <a:ext cx="11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宋体" panose="02010600030101010101" pitchFamily="2" charset="-122"/>
                </a:rPr>
                <a:t>）</a:t>
              </a:r>
              <a:endParaRPr lang="zh-CN" altLang="zh-CN" sz="1000" b="0">
                <a:latin typeface="Times New Roman" panose="02020603050405020304" pitchFamily="18" charset="0"/>
              </a:endParaRPr>
            </a:p>
          </p:txBody>
        </p:sp>
        <p:sp>
          <p:nvSpPr>
            <p:cNvPr id="51292" name="Rectangle 93"/>
            <p:cNvSpPr>
              <a:spLocks noChangeArrowheads="1"/>
            </p:cNvSpPr>
            <p:nvPr/>
          </p:nvSpPr>
          <p:spPr bwMode="auto">
            <a:xfrm>
              <a:off x="2010" y="4162"/>
              <a:ext cx="2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Times New Roman" panose="02020603050405020304" pitchFamily="18" charset="0"/>
                </a:rPr>
                <a:t> </a:t>
              </a:r>
              <a:endParaRPr lang="zh-CN" altLang="zh-CN" sz="1000" b="0">
                <a:latin typeface="Times New Roman" panose="02020603050405020304" pitchFamily="18" charset="0"/>
              </a:endParaRPr>
            </a:p>
          </p:txBody>
        </p:sp>
        <p:sp>
          <p:nvSpPr>
            <p:cNvPr id="51293" name="Rectangle 94"/>
            <p:cNvSpPr>
              <a:spLocks noChangeArrowheads="1"/>
            </p:cNvSpPr>
            <p:nvPr/>
          </p:nvSpPr>
          <p:spPr bwMode="auto">
            <a:xfrm>
              <a:off x="2130" y="4172"/>
              <a:ext cx="233"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宋体" panose="02010600030101010101" pitchFamily="2" charset="-122"/>
                </a:rPr>
                <a:t>树型</a:t>
              </a:r>
              <a:endParaRPr lang="zh-CN" altLang="zh-CN" sz="1000" b="0">
                <a:latin typeface="Times New Roman" panose="02020603050405020304" pitchFamily="18" charset="0"/>
              </a:endParaRPr>
            </a:p>
          </p:txBody>
        </p:sp>
        <p:sp>
          <p:nvSpPr>
            <p:cNvPr id="51294" name="Rectangle 95"/>
            <p:cNvSpPr>
              <a:spLocks noChangeArrowheads="1"/>
            </p:cNvSpPr>
            <p:nvPr/>
          </p:nvSpPr>
          <p:spPr bwMode="auto">
            <a:xfrm>
              <a:off x="2607" y="4162"/>
              <a:ext cx="814"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Times New Roman" panose="02020603050405020304" pitchFamily="18" charset="0"/>
                </a:rPr>
                <a:t>                            </a:t>
              </a:r>
              <a:endParaRPr lang="zh-CN" altLang="zh-CN" sz="1000" b="0">
                <a:latin typeface="Times New Roman" panose="02020603050405020304" pitchFamily="18" charset="0"/>
              </a:endParaRPr>
            </a:p>
          </p:txBody>
        </p:sp>
        <p:sp>
          <p:nvSpPr>
            <p:cNvPr id="51295" name="Rectangle 96"/>
            <p:cNvSpPr>
              <a:spLocks noChangeArrowheads="1"/>
            </p:cNvSpPr>
            <p:nvPr/>
          </p:nvSpPr>
          <p:spPr bwMode="auto">
            <a:xfrm>
              <a:off x="5970" y="4162"/>
              <a:ext cx="320"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Times New Roman" panose="02020603050405020304" pitchFamily="18" charset="0"/>
                </a:rPr>
                <a:t>（d） </a:t>
              </a:r>
              <a:endParaRPr lang="zh-CN" altLang="zh-CN" sz="1000" b="0">
                <a:latin typeface="Times New Roman" panose="02020603050405020304" pitchFamily="18" charset="0"/>
              </a:endParaRPr>
            </a:p>
          </p:txBody>
        </p:sp>
        <p:sp>
          <p:nvSpPr>
            <p:cNvPr id="51296" name="Rectangle 97"/>
            <p:cNvSpPr>
              <a:spLocks noChangeArrowheads="1"/>
            </p:cNvSpPr>
            <p:nvPr/>
          </p:nvSpPr>
          <p:spPr bwMode="auto">
            <a:xfrm>
              <a:off x="6357" y="4172"/>
              <a:ext cx="34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r>
                <a:rPr lang="zh-CN" altLang="zh-CN" sz="900" b="0">
                  <a:latin typeface="宋体" panose="02010600030101010101" pitchFamily="2" charset="-122"/>
                </a:rPr>
                <a:t>网状型</a:t>
              </a:r>
              <a:endParaRPr lang="zh-CN" altLang="zh-CN" sz="1000" b="0">
                <a:latin typeface="Times New Roman" panose="02020603050405020304" pitchFamily="18" charset="0"/>
              </a:endParaRPr>
            </a:p>
          </p:txBody>
        </p:sp>
        <p:sp>
          <p:nvSpPr>
            <p:cNvPr id="51299" name="Rectangle 100"/>
            <p:cNvSpPr>
              <a:spLocks noChangeArrowheads="1"/>
            </p:cNvSpPr>
            <p:nvPr/>
          </p:nvSpPr>
          <p:spPr bwMode="auto">
            <a:xfrm>
              <a:off x="2910" y="4715"/>
              <a:ext cx="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0" hangingPunct="0"/>
              <a:endParaRPr lang="zh-CN" altLang="zh-CN" sz="1000" b="0">
                <a:latin typeface="Times New Roman" panose="02020603050405020304" pitchFamily="18" charset="0"/>
              </a:endParaRPr>
            </a:p>
          </p:txBody>
        </p:sp>
      </p:gr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264301" y="114300"/>
            <a:ext cx="6267450" cy="892951"/>
          </a:xfrm>
        </p:spPr>
        <p:txBody>
          <a:bodyPr/>
          <a:lstStyle/>
          <a:p>
            <a:pPr eaLnBrk="1" hangingPunct="1"/>
            <a:r>
              <a:rPr lang="zh-CN" altLang="zh-CN" sz="4400" dirty="0">
                <a:ea typeface="华文楷体" panose="02010600040101010101" pitchFamily="2" charset="-122"/>
              </a:rPr>
              <a:t>1.7 计算机网络</a:t>
            </a:r>
            <a:r>
              <a:rPr lang="zh-CN" altLang="zh-CN" sz="4400">
                <a:ea typeface="华文楷体" panose="02010600040101010101" pitchFamily="2" charset="-122"/>
              </a:rPr>
              <a:t>的发</a:t>
            </a:r>
            <a:r>
              <a:rPr lang="zh-CN" altLang="en-US" sz="4400">
                <a:ea typeface="华文楷体" panose="02010600040101010101" pitchFamily="2" charset="-122"/>
              </a:rPr>
              <a:t>展</a:t>
            </a:r>
            <a:endParaRPr lang="zh-CN" altLang="zh-CN" sz="2800" b="0" dirty="0">
              <a:solidFill>
                <a:srgbClr val="CC3300"/>
              </a:solidFill>
              <a:latin typeface="新宋体" panose="02010609030101010101" pitchFamily="49" charset="-122"/>
              <a:ea typeface="新宋体" panose="02010609030101010101" pitchFamily="49" charset="-122"/>
            </a:endParaRPr>
          </a:p>
        </p:txBody>
      </p:sp>
      <p:sp>
        <p:nvSpPr>
          <p:cNvPr id="52227" name="Text Box 3"/>
          <p:cNvSpPr txBox="1">
            <a:spLocks noChangeArrowheads="1"/>
          </p:cNvSpPr>
          <p:nvPr/>
        </p:nvSpPr>
        <p:spPr bwMode="auto">
          <a:xfrm>
            <a:off x="857250" y="1487171"/>
            <a:ext cx="10477500" cy="3539430"/>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spcBef>
                <a:spcPct val="50000"/>
              </a:spcBef>
            </a:pPr>
            <a:r>
              <a:rPr lang="zh-CN" altLang="zh-CN" sz="3200" dirty="0">
                <a:solidFill>
                  <a:srgbClr val="000099"/>
                </a:solidFill>
                <a:ea typeface="华文楷体" panose="02010600040101010101" pitchFamily="2" charset="-122"/>
              </a:rPr>
              <a:t>计算机网络的四个里程碑</a:t>
            </a:r>
          </a:p>
          <a:p>
            <a:pPr>
              <a:spcBef>
                <a:spcPct val="50000"/>
              </a:spcBef>
              <a:buClr>
                <a:schemeClr val="folHlink"/>
              </a:buClr>
              <a:buFont typeface="Arial" panose="020B0604020202020204" pitchFamily="34" charset="0"/>
              <a:buChar char="•"/>
            </a:pPr>
            <a:r>
              <a:rPr lang="zh-CN" altLang="zh-CN" sz="3200" dirty="0">
                <a:solidFill>
                  <a:schemeClr val="accent1"/>
                </a:solidFill>
                <a:ea typeface="华文楷体" panose="02010600040101010101" pitchFamily="2" charset="-122"/>
              </a:rPr>
              <a:t>第一个里程碑：以ARPA网的出现为标志；</a:t>
            </a:r>
          </a:p>
          <a:p>
            <a:pPr>
              <a:spcBef>
                <a:spcPct val="50000"/>
              </a:spcBef>
              <a:buClr>
                <a:schemeClr val="folHlink"/>
              </a:buClr>
              <a:buFont typeface="Arial" panose="020B0604020202020204" pitchFamily="34" charset="0"/>
              <a:buChar char="•"/>
            </a:pPr>
            <a:r>
              <a:rPr lang="zh-CN" altLang="zh-CN" sz="3200" dirty="0">
                <a:solidFill>
                  <a:schemeClr val="accent1"/>
                </a:solidFill>
                <a:ea typeface="华文楷体" panose="02010600040101010101" pitchFamily="2" charset="-122"/>
              </a:rPr>
              <a:t>第二个里程碑：以局域网（LAN）的出现为标志；</a:t>
            </a:r>
          </a:p>
          <a:p>
            <a:pPr>
              <a:spcBef>
                <a:spcPct val="50000"/>
              </a:spcBef>
              <a:buClr>
                <a:schemeClr val="folHlink"/>
              </a:buClr>
              <a:buFont typeface="Arial" panose="020B0604020202020204" pitchFamily="34" charset="0"/>
              <a:buChar char="•"/>
            </a:pPr>
            <a:r>
              <a:rPr lang="zh-CN" altLang="zh-CN" sz="3200" dirty="0">
                <a:solidFill>
                  <a:schemeClr val="accent1"/>
                </a:solidFill>
                <a:ea typeface="华文楷体" panose="02010600040101010101" pitchFamily="2" charset="-122"/>
              </a:rPr>
              <a:t>第三个里程碑：网络标准化，以OSI/RM的出现为标志；</a:t>
            </a:r>
          </a:p>
          <a:p>
            <a:pPr>
              <a:spcBef>
                <a:spcPct val="50000"/>
              </a:spcBef>
              <a:buClr>
                <a:schemeClr val="folHlink"/>
              </a:buClr>
              <a:buFont typeface="Arial" panose="020B0604020202020204" pitchFamily="34" charset="0"/>
              <a:buChar char="•"/>
            </a:pPr>
            <a:r>
              <a:rPr lang="zh-CN" altLang="zh-CN" sz="3200" dirty="0">
                <a:solidFill>
                  <a:schemeClr val="accent1"/>
                </a:solidFill>
                <a:ea typeface="华文楷体" panose="02010600040101010101" pitchFamily="2" charset="-122"/>
              </a:rPr>
              <a:t>第四个里程碑：以Internet的迅速发展与推广为特征。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2227">
                                            <p:txEl>
                                              <p:pRg st="1" end="1"/>
                                            </p:txEl>
                                          </p:spTgt>
                                        </p:tgtEl>
                                        <p:attrNameLst>
                                          <p:attrName>style.visibility</p:attrName>
                                        </p:attrNameLst>
                                      </p:cBhvr>
                                      <p:to>
                                        <p:strVal val="visible"/>
                                      </p:to>
                                    </p:set>
                                    <p:anim calcmode="lin" valueType="num">
                                      <p:cBhvr additive="base">
                                        <p:cTn id="13" dur="500" fill="hold"/>
                                        <p:tgtEl>
                                          <p:spTgt spid="5222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22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2227">
                                            <p:txEl>
                                              <p:pRg st="2" end="2"/>
                                            </p:txEl>
                                          </p:spTgt>
                                        </p:tgtEl>
                                        <p:attrNameLst>
                                          <p:attrName>style.visibility</p:attrName>
                                        </p:attrNameLst>
                                      </p:cBhvr>
                                      <p:to>
                                        <p:strVal val="visible"/>
                                      </p:to>
                                    </p:set>
                                    <p:anim calcmode="lin" valueType="num">
                                      <p:cBhvr additive="base">
                                        <p:cTn id="19" dur="500" fill="hold"/>
                                        <p:tgtEl>
                                          <p:spTgt spid="5222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22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2227">
                                            <p:txEl>
                                              <p:pRg st="3" end="3"/>
                                            </p:txEl>
                                          </p:spTgt>
                                        </p:tgtEl>
                                        <p:attrNameLst>
                                          <p:attrName>style.visibility</p:attrName>
                                        </p:attrNameLst>
                                      </p:cBhvr>
                                      <p:to>
                                        <p:strVal val="visible"/>
                                      </p:to>
                                    </p:set>
                                    <p:anim calcmode="lin" valueType="num">
                                      <p:cBhvr additive="base">
                                        <p:cTn id="25" dur="500" fill="hold"/>
                                        <p:tgtEl>
                                          <p:spTgt spid="5222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22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2227">
                                            <p:txEl>
                                              <p:pRg st="4" end="4"/>
                                            </p:txEl>
                                          </p:spTgt>
                                        </p:tgtEl>
                                        <p:attrNameLst>
                                          <p:attrName>style.visibility</p:attrName>
                                        </p:attrNameLst>
                                      </p:cBhvr>
                                      <p:to>
                                        <p:strVal val="visible"/>
                                      </p:to>
                                    </p:set>
                                    <p:anim calcmode="lin" valueType="num">
                                      <p:cBhvr additive="base">
                                        <p:cTn id="31" dur="500" fill="hold"/>
                                        <p:tgtEl>
                                          <p:spTgt spid="5222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222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xfrm>
            <a:off x="3160713" y="250826"/>
            <a:ext cx="5854700" cy="652463"/>
          </a:xfrm>
        </p:spPr>
        <p:txBody>
          <a:bodyPr>
            <a:normAutofit fontScale="90000"/>
          </a:bodyPr>
          <a:lstStyle/>
          <a:p>
            <a:pPr algn="ctr" eaLnBrk="1" hangingPunct="1"/>
            <a:r>
              <a:rPr lang="zh-CN" altLang="zh-CN" sz="4400">
                <a:ea typeface="华文楷体" panose="02010600040101010101" pitchFamily="2" charset="-122"/>
              </a:rPr>
              <a:t>ARPANET</a:t>
            </a:r>
          </a:p>
        </p:txBody>
      </p:sp>
      <p:sp>
        <p:nvSpPr>
          <p:cNvPr id="53250" name="Text Box 3"/>
          <p:cNvSpPr txBox="1">
            <a:spLocks noChangeArrowheads="1"/>
          </p:cNvSpPr>
          <p:nvPr/>
        </p:nvSpPr>
        <p:spPr bwMode="auto">
          <a:xfrm>
            <a:off x="1981200" y="1665288"/>
            <a:ext cx="8473440" cy="3834896"/>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spcBef>
                <a:spcPct val="10000"/>
              </a:spcBef>
            </a:pPr>
            <a:r>
              <a:rPr lang="zh-CN" altLang="zh-CN" sz="2400">
                <a:solidFill>
                  <a:srgbClr val="000099"/>
                </a:solidFill>
                <a:ea typeface="华文楷体" panose="02010600040101010101" pitchFamily="2" charset="-122"/>
              </a:rPr>
              <a:t>ARPA网开始于1969年，起初只有四个结点，分别位于斯坦福研究所、犹他大学、加州大学圣巴巴拉分校和洛杉矶分校。1973年发展到40个结点，1983年已有100多个结点。后来发展成为Internet。</a:t>
            </a:r>
          </a:p>
          <a:p>
            <a:pPr algn="just">
              <a:spcBef>
                <a:spcPct val="10000"/>
              </a:spcBef>
            </a:pPr>
            <a:r>
              <a:rPr lang="zh-CN" altLang="zh-CN" sz="2400">
                <a:solidFill>
                  <a:srgbClr val="000099"/>
                </a:solidFill>
                <a:ea typeface="华文楷体" panose="02010600040101010101" pitchFamily="2" charset="-122"/>
              </a:rPr>
              <a:t>ARPA网是计算机网络技术发展的一个重要的里程碑，为网络技术的发展作出了突出的贡献：</a:t>
            </a:r>
          </a:p>
          <a:p>
            <a:pPr algn="just">
              <a:spcBef>
                <a:spcPct val="10000"/>
              </a:spcBef>
            </a:pPr>
            <a:r>
              <a:rPr lang="zh-CN" altLang="zh-CN" sz="2200">
                <a:solidFill>
                  <a:schemeClr val="accent1"/>
                </a:solidFill>
                <a:ea typeface="华文楷体" panose="02010600040101010101" pitchFamily="2" charset="-122"/>
              </a:rPr>
              <a:t>  （1）完成了对计算机网络的定义、分类与子课题研究内容的描述；</a:t>
            </a:r>
          </a:p>
          <a:p>
            <a:pPr algn="just">
              <a:spcBef>
                <a:spcPct val="10000"/>
              </a:spcBef>
            </a:pPr>
            <a:r>
              <a:rPr lang="zh-CN" altLang="zh-CN" sz="2200">
                <a:solidFill>
                  <a:schemeClr val="accent1"/>
                </a:solidFill>
                <a:ea typeface="华文楷体" panose="02010600040101010101" pitchFamily="2" charset="-122"/>
              </a:rPr>
              <a:t>  （2）网络分级成资源子网和通信子网；</a:t>
            </a:r>
          </a:p>
          <a:p>
            <a:pPr algn="just">
              <a:spcBef>
                <a:spcPct val="10000"/>
              </a:spcBef>
            </a:pPr>
            <a:r>
              <a:rPr lang="zh-CN" altLang="zh-CN" sz="2200">
                <a:solidFill>
                  <a:schemeClr val="accent1"/>
                </a:solidFill>
                <a:ea typeface="华文楷体" panose="02010600040101010101" pitchFamily="2" charset="-122"/>
              </a:rPr>
              <a:t>  （3）报文分组交换（Packet Switching）；</a:t>
            </a:r>
          </a:p>
          <a:p>
            <a:pPr algn="just">
              <a:spcBef>
                <a:spcPct val="10000"/>
              </a:spcBef>
            </a:pPr>
            <a:r>
              <a:rPr lang="zh-CN" altLang="zh-CN" sz="2200">
                <a:solidFill>
                  <a:schemeClr val="accent1"/>
                </a:solidFill>
                <a:ea typeface="华文楷体" panose="02010600040101010101" pitchFamily="2" charset="-122"/>
              </a:rPr>
              <a:t>  （4）采用层次结构的网络协议 。</a:t>
            </a:r>
          </a:p>
        </p:txBody>
      </p:sp>
      <p:graphicFrame>
        <p:nvGraphicFramePr>
          <p:cNvPr id="53252" name="Object 4"/>
          <p:cNvGraphicFramePr>
            <a:graphicFrameLocks noChangeAspect="1"/>
          </p:cNvGraphicFramePr>
          <p:nvPr>
            <p:extLst>
              <p:ext uri="{D42A27DB-BD31-4B8C-83A1-F6EECF244321}">
                <p14:modId xmlns:p14="http://schemas.microsoft.com/office/powerpoint/2010/main" val="546490382"/>
              </p:ext>
            </p:extLst>
          </p:nvPr>
        </p:nvGraphicFramePr>
        <p:xfrm>
          <a:off x="1981200" y="1511261"/>
          <a:ext cx="8674100" cy="5006044"/>
        </p:xfrm>
        <a:graphic>
          <a:graphicData uri="http://schemas.openxmlformats.org/presentationml/2006/ole">
            <mc:AlternateContent xmlns:mc="http://schemas.openxmlformats.org/markup-compatibility/2006">
              <mc:Choice xmlns:v="urn:schemas-microsoft-com:vml" Requires="v">
                <p:oleObj spid="_x0000_s53410" r:id="rId4" imgW="5725477" imgH="3287077" progId="Word.Picture.8">
                  <p:embed/>
                </p:oleObj>
              </mc:Choice>
              <mc:Fallback>
                <p:oleObj r:id="rId4" imgW="5725477" imgH="3287077" progId="Word.Picture.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1511261"/>
                        <a:ext cx="8674100" cy="5006044"/>
                      </a:xfrm>
                      <a:prstGeom prst="rect">
                        <a:avLst/>
                      </a:prstGeom>
                      <a:solidFill>
                        <a:srgbClr val="CCFFCC"/>
                      </a:solidFill>
                      <a:ln>
                        <a:noFill/>
                      </a:ln>
                      <a:extLst/>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3252"/>
                                        </p:tgtEl>
                                        <p:attrNameLst>
                                          <p:attrName>style.visibility</p:attrName>
                                        </p:attrNameLst>
                                      </p:cBhvr>
                                      <p:to>
                                        <p:strVal val="visible"/>
                                      </p:to>
                                    </p:set>
                                    <p:anim calcmode="lin" valueType="num">
                                      <p:cBhvr additive="base">
                                        <p:cTn id="7" dur="500" fill="hold"/>
                                        <p:tgtEl>
                                          <p:spTgt spid="53252"/>
                                        </p:tgtEl>
                                        <p:attrNameLst>
                                          <p:attrName>ppt_x</p:attrName>
                                        </p:attrNameLst>
                                      </p:cBhvr>
                                      <p:tavLst>
                                        <p:tav tm="0">
                                          <p:val>
                                            <p:strVal val="1+#ppt_w/2"/>
                                          </p:val>
                                        </p:tav>
                                        <p:tav tm="100000">
                                          <p:val>
                                            <p:strVal val="#ppt_x"/>
                                          </p:val>
                                        </p:tav>
                                      </p:tavLst>
                                    </p:anim>
                                    <p:anim calcmode="lin" valueType="num">
                                      <p:cBhvr additive="base">
                                        <p:cTn id="8" dur="500" fill="hold"/>
                                        <p:tgtEl>
                                          <p:spTgt spid="532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xfrm>
            <a:off x="2209800" y="150813"/>
            <a:ext cx="7772400" cy="781050"/>
          </a:xfrm>
        </p:spPr>
        <p:txBody>
          <a:bodyPr/>
          <a:lstStyle/>
          <a:p>
            <a:pPr algn="ctr" eaLnBrk="1" hangingPunct="1"/>
            <a:r>
              <a:rPr lang="zh-CN" altLang="zh-CN" sz="4400">
                <a:ea typeface="华文楷体" panose="02010600040101010101" pitchFamily="2" charset="-122"/>
              </a:rPr>
              <a:t>局域网的出现</a:t>
            </a:r>
          </a:p>
        </p:txBody>
      </p:sp>
      <p:sp>
        <p:nvSpPr>
          <p:cNvPr id="55299" name="Text Box 3"/>
          <p:cNvSpPr txBox="1">
            <a:spLocks noChangeArrowheads="1"/>
          </p:cNvSpPr>
          <p:nvPr/>
        </p:nvSpPr>
        <p:spPr bwMode="auto">
          <a:xfrm>
            <a:off x="508000" y="1370014"/>
            <a:ext cx="11480800" cy="2677656"/>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zh-CN" sz="2800">
                <a:solidFill>
                  <a:schemeClr val="accent1"/>
                </a:solidFill>
                <a:ea typeface="华文楷体" panose="02010600040101010101" pitchFamily="2" charset="-122"/>
              </a:rPr>
              <a:t>1973年Robert与David提出了Ethernet（以太网），它是一种总线型结构的局域网。1980年Intel、DEC和Xeror三家公司联合公布了Ethernet规范，奠定了总线型局域网的基础。</a:t>
            </a:r>
            <a:br>
              <a:rPr lang="en-US" altLang="zh-CN" sz="2800">
                <a:solidFill>
                  <a:schemeClr val="accent1"/>
                </a:solidFill>
                <a:ea typeface="华文楷体" panose="02010600040101010101" pitchFamily="2" charset="-122"/>
              </a:rPr>
            </a:br>
            <a:r>
              <a:rPr lang="zh-CN" altLang="zh-CN" sz="2800">
                <a:solidFill>
                  <a:schemeClr val="accent1"/>
                </a:solidFill>
                <a:ea typeface="华文楷体" panose="02010600040101010101" pitchFamily="2" charset="-122"/>
              </a:rPr>
              <a:t>除了以太网外，另外两种主要的局域网是IBM Token Ring（环型网的代表），ARCNET（令牌总线网的代表）。</a:t>
            </a:r>
            <a:br>
              <a:rPr lang="en-US" altLang="zh-CN" sz="2800">
                <a:solidFill>
                  <a:schemeClr val="accent1"/>
                </a:solidFill>
                <a:ea typeface="华文楷体" panose="02010600040101010101" pitchFamily="2" charset="-122"/>
              </a:rPr>
            </a:br>
            <a:r>
              <a:rPr lang="zh-CN" altLang="zh-CN" sz="2800">
                <a:solidFill>
                  <a:schemeClr val="accent1"/>
                </a:solidFill>
                <a:ea typeface="华文楷体" panose="02010600040101010101" pitchFamily="2" charset="-122"/>
              </a:rPr>
              <a:t>局域网的出现，促进了计算机网络的推广使用</a:t>
            </a:r>
            <a:r>
              <a:rPr lang="zh-CN" altLang="zh-CN" sz="2000" b="0">
                <a:solidFill>
                  <a:schemeClr val="accent1"/>
                </a:solidFill>
                <a:latin typeface="隶书" panose="02010509060101010101" pitchFamily="49" charset="-122"/>
                <a:ea typeface="隶书" panose="02010509060101010101" pitchFamily="49" charset="-122"/>
              </a:rPr>
              <a:t>。</a:t>
            </a:r>
          </a:p>
        </p:txBody>
      </p:sp>
      <p:pic>
        <p:nvPicPr>
          <p:cNvPr id="553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0500" y="4186233"/>
            <a:ext cx="5341938"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026" y="4311648"/>
            <a:ext cx="4676775"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55300"/>
                                        </p:tgtEl>
                                        <p:attrNameLst>
                                          <p:attrName>style.visibility</p:attrName>
                                        </p:attrNameLst>
                                      </p:cBhvr>
                                      <p:to>
                                        <p:strVal val="visible"/>
                                      </p:to>
                                    </p:set>
                                    <p:anim calcmode="lin" valueType="num">
                                      <p:cBhvr additive="base">
                                        <p:cTn id="13" dur="500" fill="hold"/>
                                        <p:tgtEl>
                                          <p:spTgt spid="55300"/>
                                        </p:tgtEl>
                                        <p:attrNameLst>
                                          <p:attrName>ppt_x</p:attrName>
                                        </p:attrNameLst>
                                      </p:cBhvr>
                                      <p:tavLst>
                                        <p:tav tm="0">
                                          <p:val>
                                            <p:strVal val="1+#ppt_w/2"/>
                                          </p:val>
                                        </p:tav>
                                        <p:tav tm="100000">
                                          <p:val>
                                            <p:strVal val="#ppt_x"/>
                                          </p:val>
                                        </p:tav>
                                      </p:tavLst>
                                    </p:anim>
                                    <p:anim calcmode="lin" valueType="num">
                                      <p:cBhvr additive="base">
                                        <p:cTn id="14" dur="500" fill="hold"/>
                                        <p:tgtEl>
                                          <p:spTgt spid="5530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55301"/>
                                        </p:tgtEl>
                                        <p:attrNameLst>
                                          <p:attrName>style.visibility</p:attrName>
                                        </p:attrNameLst>
                                      </p:cBhvr>
                                      <p:to>
                                        <p:strVal val="visible"/>
                                      </p:to>
                                    </p:set>
                                    <p:anim calcmode="lin" valueType="num">
                                      <p:cBhvr additive="base">
                                        <p:cTn id="19" dur="500" fill="hold"/>
                                        <p:tgtEl>
                                          <p:spTgt spid="55301"/>
                                        </p:tgtEl>
                                        <p:attrNameLst>
                                          <p:attrName>ppt_x</p:attrName>
                                        </p:attrNameLst>
                                      </p:cBhvr>
                                      <p:tavLst>
                                        <p:tav tm="0">
                                          <p:val>
                                            <p:strVal val="1+#ppt_w/2"/>
                                          </p:val>
                                        </p:tav>
                                        <p:tav tm="100000">
                                          <p:val>
                                            <p:strVal val="#ppt_x"/>
                                          </p:val>
                                        </p:tav>
                                      </p:tavLst>
                                    </p:anim>
                                    <p:anim calcmode="lin" valueType="num">
                                      <p:cBhvr additive="base">
                                        <p:cTn id="20" dur="500" fill="hold"/>
                                        <p:tgtEl>
                                          <p:spTgt spid="553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2209800" y="244475"/>
            <a:ext cx="7772400" cy="712788"/>
          </a:xfrm>
        </p:spPr>
        <p:txBody>
          <a:bodyPr/>
          <a:lstStyle/>
          <a:p>
            <a:pPr algn="ctr" eaLnBrk="1" hangingPunct="1"/>
            <a:r>
              <a:rPr lang="zh-CN" altLang="zh-CN" sz="4400">
                <a:ea typeface="华文楷体" panose="02010600040101010101" pitchFamily="2" charset="-122"/>
              </a:rPr>
              <a:t>计算机网络标准化</a:t>
            </a:r>
            <a:r>
              <a:rPr lang="zh-CN" altLang="zh-CN" sz="3200" b="0">
                <a:solidFill>
                  <a:srgbClr val="CC3300"/>
                </a:solidFill>
                <a:latin typeface="华文新魏" panose="02010800040101010101" pitchFamily="2" charset="-122"/>
                <a:ea typeface="华文新魏" panose="02010800040101010101" pitchFamily="2" charset="-122"/>
              </a:rPr>
              <a:t> </a:t>
            </a:r>
          </a:p>
        </p:txBody>
      </p:sp>
      <p:sp>
        <p:nvSpPr>
          <p:cNvPr id="56323" name="Text Box 3"/>
          <p:cNvSpPr txBox="1">
            <a:spLocks noChangeArrowheads="1"/>
          </p:cNvSpPr>
          <p:nvPr/>
        </p:nvSpPr>
        <p:spPr bwMode="auto">
          <a:xfrm>
            <a:off x="552893" y="1455739"/>
            <a:ext cx="11302409" cy="4696670"/>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5763" indent="-385763">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buClr>
                <a:schemeClr val="accent2"/>
              </a:buClr>
              <a:buSzPct val="50000"/>
              <a:buFont typeface="Wingdings" panose="05000000000000000000" pitchFamily="2" charset="2"/>
              <a:buChar char="u"/>
            </a:pPr>
            <a:r>
              <a:rPr lang="zh-CN" altLang="zh-CN" sz="2400">
                <a:solidFill>
                  <a:schemeClr val="accent2"/>
                </a:solidFill>
                <a:latin typeface="华文楷体" panose="02010600040101010101" pitchFamily="2" charset="-122"/>
                <a:ea typeface="华文楷体" panose="02010600040101010101" pitchFamily="2" charset="-122"/>
              </a:rPr>
              <a:t>ISO/OSI-RM</a:t>
            </a:r>
            <a:br>
              <a:rPr lang="zh-CN" altLang="zh-CN" sz="2000">
                <a:solidFill>
                  <a:schemeClr val="accent2"/>
                </a:solidFill>
                <a:latin typeface="华文楷体" panose="02010600040101010101" pitchFamily="2" charset="-122"/>
                <a:ea typeface="华文楷体" panose="02010600040101010101" pitchFamily="2" charset="-122"/>
              </a:rPr>
            </a:br>
            <a:r>
              <a:rPr lang="zh-CN" altLang="zh-CN" sz="2000" b="0">
                <a:solidFill>
                  <a:schemeClr val="accent1"/>
                </a:solidFill>
                <a:latin typeface="华文楷体" panose="02010600040101010101" pitchFamily="2" charset="-122"/>
                <a:ea typeface="华文楷体" panose="02010600040101010101" pitchFamily="2" charset="-122"/>
              </a:rPr>
              <a:t>ISO下设100多个技术委员会（TC），其中TC97是信息处理委员会。该技术委员会已经制定了OSI参考模型等相关的标准</a:t>
            </a:r>
          </a:p>
          <a:p>
            <a:pPr eaLnBrk="0" hangingPunct="0">
              <a:spcBef>
                <a:spcPct val="20000"/>
              </a:spcBef>
              <a:buClr>
                <a:schemeClr val="accent2"/>
              </a:buClr>
              <a:buSzPct val="50000"/>
              <a:buFont typeface="Wingdings" panose="05000000000000000000" pitchFamily="2" charset="2"/>
              <a:buChar char="u"/>
            </a:pPr>
            <a:r>
              <a:rPr lang="zh-CN" altLang="zh-CN" sz="2400">
                <a:solidFill>
                  <a:schemeClr val="accent2"/>
                </a:solidFill>
                <a:latin typeface="华文楷体" panose="02010600040101010101" pitchFamily="2" charset="-122"/>
                <a:ea typeface="华文楷体" panose="02010600040101010101" pitchFamily="2" charset="-122"/>
              </a:rPr>
              <a:t>IEEE 802系列标准</a:t>
            </a:r>
            <a:br>
              <a:rPr lang="zh-CN" altLang="zh-CN" sz="2000">
                <a:solidFill>
                  <a:schemeClr val="accent2"/>
                </a:solidFill>
                <a:latin typeface="华文楷体" panose="02010600040101010101" pitchFamily="2" charset="-122"/>
                <a:ea typeface="华文楷体" panose="02010600040101010101" pitchFamily="2" charset="-122"/>
              </a:rPr>
            </a:br>
            <a:r>
              <a:rPr lang="zh-CN" altLang="zh-CN" sz="2000" b="0">
                <a:solidFill>
                  <a:schemeClr val="accent1"/>
                </a:solidFill>
                <a:latin typeface="华文楷体" panose="02010600040101010101" pitchFamily="2" charset="-122"/>
                <a:ea typeface="华文楷体" panose="02010600040101010101" pitchFamily="2" charset="-122"/>
              </a:rPr>
              <a:t>已经制定了有关局域网的系列标准。  </a:t>
            </a:r>
          </a:p>
          <a:p>
            <a:pPr eaLnBrk="0" hangingPunct="0">
              <a:spcBef>
                <a:spcPct val="20000"/>
              </a:spcBef>
              <a:buClr>
                <a:schemeClr val="accent2"/>
              </a:buClr>
              <a:buSzPct val="50000"/>
              <a:buFont typeface="Wingdings" panose="05000000000000000000" pitchFamily="2" charset="2"/>
              <a:buChar char="u"/>
            </a:pPr>
            <a:r>
              <a:rPr lang="zh-CN" altLang="zh-CN" sz="2400">
                <a:solidFill>
                  <a:schemeClr val="accent2"/>
                </a:solidFill>
                <a:latin typeface="华文楷体" panose="02010600040101010101" pitchFamily="2" charset="-122"/>
                <a:ea typeface="华文楷体" panose="02010600040101010101" pitchFamily="2" charset="-122"/>
              </a:rPr>
              <a:t>CCITT（现该为ITU-T）</a:t>
            </a:r>
            <a:br>
              <a:rPr lang="zh-CN" altLang="zh-CN" sz="2400">
                <a:solidFill>
                  <a:schemeClr val="accent2"/>
                </a:solidFill>
                <a:latin typeface="华文楷体" panose="02010600040101010101" pitchFamily="2" charset="-122"/>
                <a:ea typeface="华文楷体" panose="02010600040101010101" pitchFamily="2" charset="-122"/>
              </a:rPr>
            </a:br>
            <a:r>
              <a:rPr lang="zh-CN" altLang="zh-CN" sz="2000" b="0">
                <a:solidFill>
                  <a:schemeClr val="accent1"/>
                </a:solidFill>
                <a:latin typeface="华文楷体" panose="02010600040101010101" pitchFamily="2" charset="-122"/>
                <a:ea typeface="华文楷体" panose="02010600040101010101" pitchFamily="2" charset="-122"/>
              </a:rPr>
              <a:t>70年代出现的X.21，X.25， X.75与计算机网络密切相关；70年代后期80年代制定的有关ISDN的I系列标准；80年代后期90年代制定的有关B-ISDN标准。目前，CCITT与ISO关系更加密切，采纳了ISO的体系结构。</a:t>
            </a:r>
          </a:p>
          <a:p>
            <a:pPr eaLnBrk="0" hangingPunct="0">
              <a:spcBef>
                <a:spcPct val="20000"/>
              </a:spcBef>
              <a:buClr>
                <a:schemeClr val="accent2"/>
              </a:buClr>
              <a:buSzPct val="50000"/>
              <a:buFont typeface="Wingdings" panose="05000000000000000000" pitchFamily="2" charset="2"/>
              <a:buChar char="u"/>
            </a:pPr>
            <a:r>
              <a:rPr lang="zh-CN" altLang="zh-CN" sz="2400">
                <a:solidFill>
                  <a:schemeClr val="accent2"/>
                </a:solidFill>
                <a:latin typeface="华文楷体" panose="02010600040101010101" pitchFamily="2" charset="-122"/>
                <a:ea typeface="华文楷体" panose="02010600040101010101" pitchFamily="2" charset="-122"/>
              </a:rPr>
              <a:t>TCP/IP标准</a:t>
            </a:r>
            <a:br>
              <a:rPr lang="zh-CN" altLang="zh-CN" sz="2000">
                <a:solidFill>
                  <a:schemeClr val="accent2"/>
                </a:solidFill>
                <a:latin typeface="华文楷体" panose="02010600040101010101" pitchFamily="2" charset="-122"/>
                <a:ea typeface="华文楷体" panose="02010600040101010101" pitchFamily="2" charset="-122"/>
              </a:rPr>
            </a:br>
            <a:r>
              <a:rPr lang="zh-CN" altLang="zh-CN" sz="2000" b="0">
                <a:solidFill>
                  <a:schemeClr val="accent1"/>
                </a:solidFill>
                <a:latin typeface="华文楷体" panose="02010600040101010101" pitchFamily="2" charset="-122"/>
                <a:ea typeface="华文楷体" panose="02010600040101010101" pitchFamily="2" charset="-122"/>
              </a:rPr>
              <a:t>主要由IETF的RFC和DRAFT给出 </a:t>
            </a:r>
          </a:p>
          <a:p>
            <a:pPr eaLnBrk="0" hangingPunct="0">
              <a:spcBef>
                <a:spcPct val="20000"/>
              </a:spcBef>
              <a:buClr>
                <a:schemeClr val="accent2"/>
              </a:buClr>
              <a:buSzPct val="50000"/>
              <a:buFont typeface="Wingdings" panose="05000000000000000000" pitchFamily="2" charset="2"/>
              <a:buChar char="u"/>
            </a:pPr>
            <a:r>
              <a:rPr lang="zh-CN" altLang="zh-CN" sz="2400">
                <a:solidFill>
                  <a:schemeClr val="accent2"/>
                </a:solidFill>
                <a:latin typeface="华文楷体" panose="02010600040101010101" pitchFamily="2" charset="-122"/>
                <a:ea typeface="华文楷体" panose="02010600040101010101" pitchFamily="2" charset="-122"/>
              </a:rPr>
              <a:t>其它</a:t>
            </a:r>
            <a:br>
              <a:rPr lang="zh-CN" altLang="zh-CN" sz="2400">
                <a:solidFill>
                  <a:schemeClr val="accent2"/>
                </a:solidFill>
                <a:latin typeface="华文楷体" panose="02010600040101010101" pitchFamily="2" charset="-122"/>
                <a:ea typeface="华文楷体" panose="02010600040101010101" pitchFamily="2" charset="-122"/>
              </a:rPr>
            </a:br>
            <a:r>
              <a:rPr lang="zh-CN" altLang="zh-CN" sz="2000" b="0">
                <a:solidFill>
                  <a:schemeClr val="accent1"/>
                </a:solidFill>
                <a:latin typeface="华文楷体" panose="02010600040101010101" pitchFamily="2" charset="-122"/>
                <a:ea typeface="华文楷体" panose="02010600040101010101" pitchFamily="2" charset="-122"/>
              </a:rPr>
              <a:t>ANSI等也分别制定了一些网络标准 </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 calcmode="lin" valueType="num">
                                      <p:cBhvr additive="base">
                                        <p:cTn id="7" dur="500" fill="hold"/>
                                        <p:tgtEl>
                                          <p:spTgt spid="563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63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6323">
                                            <p:txEl>
                                              <p:pRg st="1" end="1"/>
                                            </p:txEl>
                                          </p:spTgt>
                                        </p:tgtEl>
                                        <p:attrNameLst>
                                          <p:attrName>style.visibility</p:attrName>
                                        </p:attrNameLst>
                                      </p:cBhvr>
                                      <p:to>
                                        <p:strVal val="visible"/>
                                      </p:to>
                                    </p:set>
                                    <p:anim calcmode="lin" valueType="num">
                                      <p:cBhvr additive="base">
                                        <p:cTn id="13" dur="500" fill="hold"/>
                                        <p:tgtEl>
                                          <p:spTgt spid="5632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63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6323">
                                            <p:txEl>
                                              <p:pRg st="2" end="2"/>
                                            </p:txEl>
                                          </p:spTgt>
                                        </p:tgtEl>
                                        <p:attrNameLst>
                                          <p:attrName>style.visibility</p:attrName>
                                        </p:attrNameLst>
                                      </p:cBhvr>
                                      <p:to>
                                        <p:strVal val="visible"/>
                                      </p:to>
                                    </p:set>
                                    <p:anim calcmode="lin" valueType="num">
                                      <p:cBhvr additive="base">
                                        <p:cTn id="19" dur="500" fill="hold"/>
                                        <p:tgtEl>
                                          <p:spTgt spid="5632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63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6323">
                                            <p:txEl>
                                              <p:pRg st="3" end="3"/>
                                            </p:txEl>
                                          </p:spTgt>
                                        </p:tgtEl>
                                        <p:attrNameLst>
                                          <p:attrName>style.visibility</p:attrName>
                                        </p:attrNameLst>
                                      </p:cBhvr>
                                      <p:to>
                                        <p:strVal val="visible"/>
                                      </p:to>
                                    </p:set>
                                    <p:anim calcmode="lin" valueType="num">
                                      <p:cBhvr additive="base">
                                        <p:cTn id="25" dur="500" fill="hold"/>
                                        <p:tgtEl>
                                          <p:spTgt spid="5632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63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6323">
                                            <p:txEl>
                                              <p:pRg st="4" end="4"/>
                                            </p:txEl>
                                          </p:spTgt>
                                        </p:tgtEl>
                                        <p:attrNameLst>
                                          <p:attrName>style.visibility</p:attrName>
                                        </p:attrNameLst>
                                      </p:cBhvr>
                                      <p:to>
                                        <p:strVal val="visible"/>
                                      </p:to>
                                    </p:set>
                                    <p:anim calcmode="lin" valueType="num">
                                      <p:cBhvr additive="base">
                                        <p:cTn id="31" dur="500" fill="hold"/>
                                        <p:tgtEl>
                                          <p:spTgt spid="5632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632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theme/theme1.xml><?xml version="1.0" encoding="utf-8"?>
<a:theme xmlns:a="http://schemas.openxmlformats.org/drawingml/2006/main" name="Geotel_cisco">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511</TotalTime>
  <Pages>0</Pages>
  <Words>2024</Words>
  <Characters>0</Characters>
  <Application>Microsoft Office PowerPoint</Application>
  <DocSecurity>0</DocSecurity>
  <PresentationFormat>宽屏</PresentationFormat>
  <Lines>0</Lines>
  <Paragraphs>313</Paragraphs>
  <Slides>45</Slides>
  <Notes>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45</vt:i4>
      </vt:variant>
    </vt:vector>
  </HeadingPairs>
  <TitlesOfParts>
    <vt:vector size="64" baseType="lpstr">
      <vt:lpstr>等线</vt:lpstr>
      <vt:lpstr>等线 Light</vt:lpstr>
      <vt:lpstr>黑体</vt:lpstr>
      <vt:lpstr>华文楷体</vt:lpstr>
      <vt:lpstr>华文新魏</vt:lpstr>
      <vt:lpstr>隶书</vt:lpstr>
      <vt:lpstr>宋体</vt:lpstr>
      <vt:lpstr>新宋体</vt:lpstr>
      <vt:lpstr>Arial</vt:lpstr>
      <vt:lpstr>Calibri</vt:lpstr>
      <vt:lpstr>Calibri Light</vt:lpstr>
      <vt:lpstr>Comic Sans MS</vt:lpstr>
      <vt:lpstr>Times New Roman</vt:lpstr>
      <vt:lpstr>Wingdings</vt:lpstr>
      <vt:lpstr>Geotel_cisco</vt:lpstr>
      <vt:lpstr>Bitmap Image</vt:lpstr>
      <vt:lpstr>MS_ClipArt_Gallery.2</vt:lpstr>
      <vt:lpstr>MS_ClipArt_Gallery.5</vt:lpstr>
      <vt:lpstr>Microsoft Word Picture</vt:lpstr>
      <vt:lpstr>PowerPoint 演示文稿</vt:lpstr>
      <vt:lpstr>PowerPoint 演示文稿</vt:lpstr>
      <vt:lpstr>1.1 计算机网络的定义</vt:lpstr>
      <vt:lpstr>什么是计算机网络</vt:lpstr>
      <vt:lpstr>网络实例（LAN）</vt:lpstr>
      <vt:lpstr>Campus （校园网）</vt:lpstr>
      <vt:lpstr>网络实例（WAN）</vt:lpstr>
      <vt:lpstr>DDN数字网</vt:lpstr>
      <vt:lpstr>主机系统</vt:lpstr>
      <vt:lpstr>计算机网络和分布式系统 </vt:lpstr>
      <vt:lpstr>1.2 局域网的组成部分</vt:lpstr>
      <vt:lpstr>局域网组成（硬件）</vt:lpstr>
      <vt:lpstr>服务器</vt:lpstr>
      <vt:lpstr>集线器（HUB）</vt:lpstr>
      <vt:lpstr>连网设备</vt:lpstr>
      <vt:lpstr>网络连接</vt:lpstr>
      <vt:lpstr>便携机及无线连网</vt:lpstr>
      <vt:lpstr>局域网组成（软件）</vt:lpstr>
      <vt:lpstr>从NOS的安装看LAN软件组成</vt:lpstr>
      <vt:lpstr>  1.3 计算机网络结构</vt:lpstr>
      <vt:lpstr>网络结构</vt:lpstr>
      <vt:lpstr>The Network Edge</vt:lpstr>
      <vt:lpstr>The Network Core</vt:lpstr>
      <vt:lpstr>Access Networks</vt:lpstr>
      <vt:lpstr>住宅小区接入 ：点到点访问</vt:lpstr>
      <vt:lpstr>xDSL技术</vt:lpstr>
      <vt:lpstr>xDSL技术</vt:lpstr>
      <vt:lpstr>分离器的功能</vt:lpstr>
      <vt:lpstr>分离器的功能</vt:lpstr>
      <vt:lpstr>ADSL技术</vt:lpstr>
      <vt:lpstr>单位接入： LAN</vt:lpstr>
      <vt:lpstr>无线接入网</vt:lpstr>
      <vt:lpstr>Home Networks</vt:lpstr>
      <vt:lpstr>1.4 计算机网络的功能</vt:lpstr>
      <vt:lpstr>1.5 计算机网络的分类</vt:lpstr>
      <vt:lpstr>按覆盖的地理范围划分 </vt:lpstr>
      <vt:lpstr>MAN</vt:lpstr>
      <vt:lpstr>按公用与专用划分</vt:lpstr>
      <vt:lpstr>按Internet技术为基础的网络划分</vt:lpstr>
      <vt:lpstr> 其它分类法 </vt:lpstr>
      <vt:lpstr>1.6 网络拓扑结构</vt:lpstr>
      <vt:lpstr>1.7 计算机网络的发展</vt:lpstr>
      <vt:lpstr>ARPANET</vt:lpstr>
      <vt:lpstr>局域网的出现</vt:lpstr>
      <vt:lpstr>计算机网络标准化 </vt:lpstr>
    </vt:vector>
  </TitlesOfParts>
  <Manager/>
  <Company>西南交通大学</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谭献海</dc:creator>
  <cp:keywords/>
  <dc:description/>
  <cp:lastModifiedBy>陈剑波</cp:lastModifiedBy>
  <cp:revision>1229</cp:revision>
  <dcterms:created xsi:type="dcterms:W3CDTF">2000-11-07T02:44:39Z</dcterms:created>
  <dcterms:modified xsi:type="dcterms:W3CDTF">2020-09-28T00:00:55Z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2052-10.8.0.5562</vt:lpwstr>
  </property>
</Properties>
</file>