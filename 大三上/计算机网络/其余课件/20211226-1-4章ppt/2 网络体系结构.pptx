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62"/>
  </p:notesMasterIdLst>
  <p:sldIdLst>
    <p:sldId id="490" r:id="rId2"/>
    <p:sldId id="704" r:id="rId3"/>
    <p:sldId id="799" r:id="rId4"/>
    <p:sldId id="705" r:id="rId5"/>
    <p:sldId id="706" r:id="rId6"/>
    <p:sldId id="710" r:id="rId7"/>
    <p:sldId id="809" r:id="rId8"/>
    <p:sldId id="711" r:id="rId9"/>
    <p:sldId id="781" r:id="rId10"/>
    <p:sldId id="782" r:id="rId11"/>
    <p:sldId id="707" r:id="rId12"/>
    <p:sldId id="708" r:id="rId13"/>
    <p:sldId id="808" r:id="rId14"/>
    <p:sldId id="709" r:id="rId15"/>
    <p:sldId id="715" r:id="rId16"/>
    <p:sldId id="716" r:id="rId17"/>
    <p:sldId id="718" r:id="rId18"/>
    <p:sldId id="719" r:id="rId19"/>
    <p:sldId id="720" r:id="rId20"/>
    <p:sldId id="721" r:id="rId21"/>
    <p:sldId id="722" r:id="rId22"/>
    <p:sldId id="868" r:id="rId23"/>
    <p:sldId id="723" r:id="rId24"/>
    <p:sldId id="725" r:id="rId25"/>
    <p:sldId id="724" r:id="rId26"/>
    <p:sldId id="726" r:id="rId27"/>
    <p:sldId id="727" r:id="rId28"/>
    <p:sldId id="810" r:id="rId29"/>
    <p:sldId id="811" r:id="rId30"/>
    <p:sldId id="812" r:id="rId31"/>
    <p:sldId id="813" r:id="rId32"/>
    <p:sldId id="814" r:id="rId33"/>
    <p:sldId id="817" r:id="rId34"/>
    <p:sldId id="818" r:id="rId35"/>
    <p:sldId id="819" r:id="rId36"/>
    <p:sldId id="821" r:id="rId37"/>
    <p:sldId id="822" r:id="rId38"/>
    <p:sldId id="823" r:id="rId39"/>
    <p:sldId id="826" r:id="rId40"/>
    <p:sldId id="827" r:id="rId41"/>
    <p:sldId id="828" r:id="rId42"/>
    <p:sldId id="829" r:id="rId43"/>
    <p:sldId id="830" r:id="rId44"/>
    <p:sldId id="831" r:id="rId45"/>
    <p:sldId id="832" r:id="rId46"/>
    <p:sldId id="834" r:id="rId47"/>
    <p:sldId id="835" r:id="rId48"/>
    <p:sldId id="836" r:id="rId49"/>
    <p:sldId id="838" r:id="rId50"/>
    <p:sldId id="839" r:id="rId51"/>
    <p:sldId id="840" r:id="rId52"/>
    <p:sldId id="841" r:id="rId53"/>
    <p:sldId id="842" r:id="rId54"/>
    <p:sldId id="843" r:id="rId55"/>
    <p:sldId id="844" r:id="rId56"/>
    <p:sldId id="845" r:id="rId57"/>
    <p:sldId id="846" r:id="rId58"/>
    <p:sldId id="847" r:id="rId59"/>
    <p:sldId id="850" r:id="rId60"/>
    <p:sldId id="852"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DDDD"/>
    <a:srgbClr val="66CCFF"/>
    <a:srgbClr val="006C88"/>
    <a:srgbClr val="006666"/>
    <a:srgbClr val="008080"/>
    <a:srgbClr val="CC000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75" d="100"/>
          <a:sy n="75" d="100"/>
        </p:scale>
        <p:origin x="294" y="90"/>
      </p:cViewPr>
      <p:guideLst>
        <p:guide orient="horz" pos="213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buFontTx/>
              <a:buNone/>
              <a:defRPr sz="1200">
                <a:latin typeface="Tahoma" pitchFamily="34" charset="0"/>
              </a:defRPr>
            </a:lvl1pPr>
          </a:lstStyle>
          <a:p>
            <a:pPr>
              <a:defRPr/>
            </a:pPr>
            <a:endParaRPr lang="zh-CN" altLang="zh-CN"/>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Tx/>
              <a:buNone/>
              <a:defRPr sz="1200">
                <a:latin typeface="Tahoma" pitchFamily="34" charset="0"/>
              </a:defRPr>
            </a:lvl1pPr>
          </a:lstStyle>
          <a:p>
            <a:pPr>
              <a:defRPr/>
            </a:pPr>
            <a:endParaRPr lang="zh-CN" altLang="zh-CN"/>
          </a:p>
        </p:txBody>
      </p:sp>
      <p:sp>
        <p:nvSpPr>
          <p:cNvPr id="3076" name="Rectangle 4"/>
          <p:cNvSpPr>
            <a:spLocks noGrp="1" noRot="1" noChangeAspect="1" noChangeArrowheads="1"/>
          </p:cNvSpPr>
          <p:nvPr>
            <p:ph type="sldImg" idx="4294967295"/>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noProof="0"/>
              <a:t>单击此处编辑母版文本样式</a:t>
            </a:r>
          </a:p>
          <a:p>
            <a:pPr lvl="1"/>
            <a:r>
              <a:rPr lang="zh-CN" noProof="0"/>
              <a:t>第二级</a:t>
            </a:r>
          </a:p>
          <a:p>
            <a:pPr lvl="2"/>
            <a:r>
              <a:rPr lang="zh-CN" noProof="0"/>
              <a:t>第三级</a:t>
            </a:r>
          </a:p>
          <a:p>
            <a:pPr lvl="3"/>
            <a:r>
              <a:rPr lang="zh-CN" noProof="0"/>
              <a:t>第四级</a:t>
            </a:r>
          </a:p>
          <a:p>
            <a:pPr lvl="4"/>
            <a:r>
              <a:rPr lang="zh-CN" noProof="0"/>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buFontTx/>
              <a:buNone/>
              <a:defRPr sz="1200">
                <a:latin typeface="Tahoma" pitchFamily="34" charset="0"/>
              </a:defRPr>
            </a:lvl1pPr>
          </a:lstStyle>
          <a:p>
            <a:pPr>
              <a:defRPr/>
            </a:pPr>
            <a:endParaRPr lang="zh-CN"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Tx/>
              <a:buNone/>
              <a:defRPr sz="1200">
                <a:latin typeface="Tahoma" pitchFamily="34" charset="0"/>
              </a:defRPr>
            </a:lvl1pPr>
          </a:lstStyle>
          <a:p>
            <a:pPr>
              <a:defRPr/>
            </a:pPr>
            <a:fld id="{3D99C2C9-92A0-40D2-A1AA-45BA7E6362BC}"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idx="4294967295"/>
          </p:nvPr>
        </p:nvSpPr>
        <p:spPr>
          <a:xfrm>
            <a:off x="381000" y="685800"/>
            <a:ext cx="6096000" cy="3429000"/>
          </a:xfrm>
        </p:spPr>
      </p:sp>
      <p:sp>
        <p:nvSpPr>
          <p:cNvPr id="17411" name="Rectangle 3"/>
          <p:cNvSpPr>
            <a:spLocks noGrp="1" noChangeArrowheads="1"/>
          </p:cNvSpPr>
          <p:nvPr>
            <p:ph type="body" idx="4294967295"/>
          </p:nvPr>
        </p:nvSpPr>
        <p:spPr/>
        <p:txBody>
          <a:bodyPr>
            <a:prstTxWarp prst="textNoShape">
              <a:avLst/>
            </a:prstTxWarp>
          </a:bodyPr>
          <a:lstStyle/>
          <a:p>
            <a:pPr eaLnBrk="1" hangingPunct="1"/>
            <a:r>
              <a:rPr lang="zh-CN" altLang="zh-CN"/>
              <a:t>1。网络实例：由一个路由器连接的两个网络所构成的互联网。位于不同网络中的主机A和B的通信需要通过路由器R的转发。我们可以看到转发的基本过程。</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idx="4294967295"/>
          </p:nvPr>
        </p:nvSpPr>
        <p:spPr>
          <a:xfrm>
            <a:off x="381000" y="685800"/>
            <a:ext cx="6096000" cy="3429000"/>
          </a:xfrm>
        </p:spPr>
      </p:sp>
      <p:sp>
        <p:nvSpPr>
          <p:cNvPr id="61443" name="Rectangle 3"/>
          <p:cNvSpPr>
            <a:spLocks noGrp="1" noChangeArrowheads="1"/>
          </p:cNvSpPr>
          <p:nvPr>
            <p:ph type="body" idx="4294967295"/>
          </p:nvPr>
        </p:nvSpPr>
        <p:spPr/>
        <p:txBody>
          <a:bodyPr>
            <a:prstTxWarp prst="textNoShape">
              <a:avLst/>
            </a:prstTxWarp>
          </a:bodyPr>
          <a:lstStyle/>
          <a:p>
            <a:pPr eaLnBrk="1" hangingPunct="1"/>
            <a:r>
              <a:rPr lang="zh-CN" altLang="zh-CN"/>
              <a:t>B28</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idx="4294967295"/>
          </p:nvPr>
        </p:nvSpPr>
        <p:spPr>
          <a:xfrm>
            <a:off x="381000" y="685800"/>
            <a:ext cx="6096000" cy="3429000"/>
          </a:xfrm>
        </p:spPr>
      </p:sp>
      <p:sp>
        <p:nvSpPr>
          <p:cNvPr id="63491" name="Rectangle 3"/>
          <p:cNvSpPr>
            <a:spLocks noGrp="1" noChangeArrowheads="1"/>
          </p:cNvSpPr>
          <p:nvPr>
            <p:ph type="body" idx="4294967295"/>
          </p:nvPr>
        </p:nvSpPr>
        <p:spPr/>
        <p:txBody>
          <a:bodyPr>
            <a:prstTxWarp prst="textNoShape">
              <a:avLst/>
            </a:prstTxWarp>
          </a:bodyPr>
          <a:lstStyle/>
          <a:p>
            <a:pPr eaLnBrk="1" hangingPunct="1"/>
            <a:r>
              <a:rPr lang="zh-CN" altLang="zh-CN"/>
              <a:t>B30</a:t>
            </a: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idx="4294967295"/>
          </p:nvPr>
        </p:nvSpPr>
        <p:spPr>
          <a:xfrm>
            <a:off x="381000" y="685800"/>
            <a:ext cx="6096000" cy="3429000"/>
          </a:xfrm>
        </p:spPr>
      </p:sp>
      <p:sp>
        <p:nvSpPr>
          <p:cNvPr id="65539" name="Rectangle 3"/>
          <p:cNvSpPr>
            <a:spLocks noGrp="1" noChangeArrowheads="1"/>
          </p:cNvSpPr>
          <p:nvPr>
            <p:ph type="body" idx="4294967295"/>
          </p:nvPr>
        </p:nvSpPr>
        <p:spPr/>
        <p:txBody>
          <a:bodyPr>
            <a:prstTxWarp prst="textNoShape">
              <a:avLst/>
            </a:prstTxWarp>
          </a:bodyPr>
          <a:lstStyle/>
          <a:p>
            <a:pPr eaLnBrk="1" hangingPunct="1"/>
            <a:r>
              <a:rPr lang="zh-CN" altLang="zh-CN"/>
              <a:t>b32</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graphicFrame>
        <p:nvGraphicFramePr>
          <p:cNvPr id="7" name="Object 2">
            <a:extLst>
              <a:ext uri="{FF2B5EF4-FFF2-40B4-BE49-F238E27FC236}">
                <a16:creationId xmlns:a16="http://schemas.microsoft.com/office/drawing/2014/main" id="{3FCC0221-D610-4592-BF73-396E6544D3C5}"/>
              </a:ext>
            </a:extLst>
          </p:cNvPr>
          <p:cNvGraphicFramePr>
            <a:graphicFrameLocks noChangeAspect="1"/>
          </p:cNvGraphicFramePr>
          <p:nvPr userDrawn="1"/>
        </p:nvGraphicFramePr>
        <p:xfrm>
          <a:off x="0" y="0"/>
          <a:ext cx="12192000" cy="3429000"/>
        </p:xfrm>
        <a:graphic>
          <a:graphicData uri="http://schemas.openxmlformats.org/presentationml/2006/ole">
            <mc:AlternateContent xmlns:mc="http://schemas.openxmlformats.org/markup-compatibility/2006">
              <mc:Choice xmlns:v="urn:schemas-microsoft-com:vml" Requires="v">
                <p:oleObj spid="_x0000_s74876" r:id="rId3" imgW="7733333" imgH="2704762" progId="Paint.Picture">
                  <p:embed/>
                </p:oleObj>
              </mc:Choice>
              <mc:Fallback>
                <p:oleObj r:id="rId3" imgW="7733333" imgH="2704762" progId="Paint.Picture">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37446559"/>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69246128"/>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41584794"/>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8801374"/>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10/11/2021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49908184"/>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10/11/2021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84764312"/>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53638858"/>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412310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63211347"/>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09065458"/>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3886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10/11/2021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graphicFrame>
        <p:nvGraphicFramePr>
          <p:cNvPr id="7" name="Object 3">
            <a:extLst>
              <a:ext uri="{FF2B5EF4-FFF2-40B4-BE49-F238E27FC236}">
                <a16:creationId xmlns:a16="http://schemas.microsoft.com/office/drawing/2014/main" id="{4F865665-7342-45A1-B542-3316D1C2839C}"/>
              </a:ext>
            </a:extLst>
          </p:cNvPr>
          <p:cNvGraphicFramePr>
            <a:graphicFrameLocks/>
          </p:cNvGraphicFramePr>
          <p:nvPr userDrawn="1"/>
        </p:nvGraphicFramePr>
        <p:xfrm>
          <a:off x="0" y="1049338"/>
          <a:ext cx="12192000" cy="239712"/>
        </p:xfrm>
        <a:graphic>
          <a:graphicData uri="http://schemas.openxmlformats.org/presentationml/2006/ole">
            <mc:AlternateContent xmlns:mc="http://schemas.openxmlformats.org/markup-compatibility/2006">
              <mc:Choice xmlns:v="urn:schemas-microsoft-com:vml" Requires="v">
                <p:oleObj spid="_x0000_s73852" r:id="rId14" imgW="7733333" imgH="200159" progId="Paint.Picture">
                  <p:embed/>
                </p:oleObj>
              </mc:Choice>
              <mc:Fallback>
                <p:oleObj r:id="rId14" imgW="7733333" imgH="200159" progId="Paint.Picture">
                  <p:embed/>
                  <p:pic>
                    <p:nvPicPr>
                      <p:cNvPr id="1027" name="Object 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049338"/>
                        <a:ext cx="121920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3668303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8.wmf"/><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7.bin"/><Relationship Id="rId4" Type="http://schemas.openxmlformats.org/officeDocument/2006/relationships/image" Target="../media/image3.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11.bin"/><Relationship Id="rId4" Type="http://schemas.openxmlformats.org/officeDocument/2006/relationships/image" Target="../media/image3.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13.bin"/><Relationship Id="rId4" Type="http://schemas.openxmlformats.org/officeDocument/2006/relationships/image" Target="../media/image3.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oleObject" Target="../embeddings/oleObject17.bin"/><Relationship Id="rId4" Type="http://schemas.openxmlformats.org/officeDocument/2006/relationships/image" Target="../media/image2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6518275" y="3189288"/>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099" name="Rectangle 3"/>
          <p:cNvSpPr>
            <a:spLocks noChangeArrowheads="1"/>
          </p:cNvSpPr>
          <p:nvPr/>
        </p:nvSpPr>
        <p:spPr bwMode="auto">
          <a:xfrm>
            <a:off x="2608263" y="3614739"/>
            <a:ext cx="7010400" cy="833437"/>
          </a:xfrm>
          <a:prstGeom prst="rect">
            <a:avLst/>
          </a:prstGeom>
          <a:noFill/>
          <a:ln w="9525" cmpd="sng">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buFont typeface="Arial" panose="020B0604020202020204" pitchFamily="34" charset="0"/>
              <a:buNone/>
              <a:defRPr/>
            </a:pPr>
            <a:r>
              <a:rPr lang="zh-CN" altLang="en-US" sz="4800" b="1">
                <a:solidFill>
                  <a:srgbClr val="CC0000"/>
                </a:solidFill>
                <a:effectLst>
                  <a:outerShdw blurRad="38100" dist="38100" dir="2700000" algn="tl">
                    <a:srgbClr val="C0C0C0"/>
                  </a:outerShdw>
                </a:effectLst>
                <a:latin typeface="Arial" panose="020B0604020202020204" pitchFamily="34" charset="0"/>
                <a:ea typeface="华文新魏" panose="02010800040101010101" pitchFamily="2" charset="-122"/>
              </a:rPr>
              <a:t>第</a:t>
            </a:r>
            <a:r>
              <a:rPr lang="en-US" altLang="zh-CN" sz="4800" b="1">
                <a:solidFill>
                  <a:srgbClr val="CC0000"/>
                </a:solidFill>
                <a:effectLst>
                  <a:outerShdw blurRad="38100" dist="38100" dir="2700000" algn="tl">
                    <a:srgbClr val="C0C0C0"/>
                  </a:outerShdw>
                </a:effectLst>
                <a:latin typeface="Arial" panose="020B0604020202020204" pitchFamily="34" charset="0"/>
                <a:ea typeface="华文新魏" panose="02010800040101010101" pitchFamily="2" charset="-122"/>
              </a:rPr>
              <a:t>2</a:t>
            </a:r>
            <a:r>
              <a:rPr lang="zh-CN" altLang="en-US" sz="4800" b="1">
                <a:solidFill>
                  <a:srgbClr val="CC0000"/>
                </a:solidFill>
                <a:effectLst>
                  <a:outerShdw blurRad="38100" dist="38100" dir="2700000" algn="tl">
                    <a:srgbClr val="C0C0C0"/>
                  </a:outerShdw>
                </a:effectLst>
                <a:latin typeface="Arial" panose="020B0604020202020204" pitchFamily="34" charset="0"/>
                <a:ea typeface="华文新魏" panose="02010800040101010101" pitchFamily="2" charset="-122"/>
              </a:rPr>
              <a:t>章 网络体系结构</a:t>
            </a:r>
          </a:p>
        </p:txBody>
      </p:sp>
      <p:sp>
        <p:nvSpPr>
          <p:cNvPr id="4100" name="Text Box 4"/>
          <p:cNvSpPr txBox="1">
            <a:spLocks noChangeArrowheads="1"/>
          </p:cNvSpPr>
          <p:nvPr/>
        </p:nvSpPr>
        <p:spPr bwMode="auto">
          <a:xfrm>
            <a:off x="3792538" y="4803776"/>
            <a:ext cx="6057900" cy="16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nSpc>
                <a:spcPct val="90000"/>
              </a:lnSpc>
              <a:spcBef>
                <a:spcPct val="40000"/>
              </a:spcBef>
              <a:buFont typeface="Wingdings" panose="05000000000000000000" pitchFamily="2" charset="2"/>
              <a:buNone/>
            </a:pPr>
            <a:r>
              <a:rPr lang="zh-CN" altLang="en-US" sz="2900" b="1">
                <a:solidFill>
                  <a:srgbClr val="006C88"/>
                </a:solidFill>
                <a:latin typeface="华文楷体" panose="02010600040101010101" pitchFamily="2" charset="-122"/>
                <a:ea typeface="华文楷体" panose="02010600040101010101" pitchFamily="2" charset="-122"/>
              </a:rPr>
              <a:t>主讲：陈剑波</a:t>
            </a:r>
          </a:p>
          <a:p>
            <a:pPr>
              <a:lnSpc>
                <a:spcPct val="90000"/>
              </a:lnSpc>
              <a:spcBef>
                <a:spcPct val="40000"/>
              </a:spcBef>
              <a:buFont typeface="Wingdings" panose="05000000000000000000" pitchFamily="2" charset="2"/>
              <a:buNone/>
            </a:pPr>
            <a:r>
              <a:rPr lang="zh-CN" altLang="en-US" sz="2900" b="1">
                <a:solidFill>
                  <a:srgbClr val="006C88"/>
                </a:solidFill>
                <a:latin typeface="华文楷体" panose="02010600040101010101" pitchFamily="2" charset="-122"/>
                <a:ea typeface="华文楷体" panose="02010600040101010101" pitchFamily="2" charset="-122"/>
              </a:rPr>
              <a:t>电话：13709088388</a:t>
            </a:r>
          </a:p>
          <a:p>
            <a:pPr>
              <a:lnSpc>
                <a:spcPct val="90000"/>
              </a:lnSpc>
              <a:spcBef>
                <a:spcPct val="40000"/>
              </a:spcBef>
              <a:buFont typeface="Wingdings" panose="05000000000000000000" pitchFamily="2" charset="2"/>
              <a:buNone/>
            </a:pPr>
            <a:r>
              <a:rPr lang="zh-CN" altLang="en-US" sz="2900" b="1">
                <a:solidFill>
                  <a:srgbClr val="006C88"/>
                </a:solidFill>
                <a:latin typeface="华文楷体" panose="02010600040101010101" pitchFamily="2" charset="-122"/>
                <a:ea typeface="华文楷体" panose="02010600040101010101" pitchFamily="2" charset="-122"/>
              </a:rPr>
              <a:t>邮件：293440@qq.com</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3291682" y="1563815"/>
            <a:ext cx="5608637" cy="2074414"/>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网络层次结构的概念</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从实际需要看网络体系结构</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OSI/RM 的基本概念</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ARPANET（TCP/IP）体系结构</a:t>
            </a:r>
          </a:p>
        </p:txBody>
      </p:sp>
      <p:sp>
        <p:nvSpPr>
          <p:cNvPr id="5124" name="Rectangle 4"/>
          <p:cNvSpPr>
            <a:spLocks noChangeArrowheads="1"/>
          </p:cNvSpPr>
          <p:nvPr/>
        </p:nvSpPr>
        <p:spPr bwMode="auto">
          <a:xfrm>
            <a:off x="3815969" y="274321"/>
            <a:ext cx="4560062" cy="646331"/>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3600" b="1">
                <a:solidFill>
                  <a:srgbClr val="003399"/>
                </a:solidFill>
                <a:latin typeface="华文楷体" panose="02010600040101010101" pitchFamily="2" charset="-122"/>
                <a:ea typeface="华文楷体" panose="02010600040101010101" pitchFamily="2" charset="-122"/>
              </a:rPr>
              <a:t>主要内容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319464" y="336551"/>
            <a:ext cx="5553075" cy="504825"/>
          </a:xfrm>
        </p:spPr>
        <p:txBody>
          <a:bodyPr>
            <a:normAutofit fontScale="90000"/>
          </a:bodyPr>
          <a:lstStyle/>
          <a:p>
            <a:pPr eaLnBrk="1" hangingPunct="1"/>
            <a:r>
              <a:rPr lang="zh-CN" altLang="zh-CN"/>
              <a:t>计算机网络的复杂性</a:t>
            </a:r>
          </a:p>
        </p:txBody>
      </p:sp>
      <p:sp>
        <p:nvSpPr>
          <p:cNvPr id="6147" name="Text Box 3"/>
          <p:cNvSpPr txBox="1">
            <a:spLocks noChangeArrowheads="1"/>
          </p:cNvSpPr>
          <p:nvPr/>
        </p:nvSpPr>
        <p:spPr bwMode="auto">
          <a:xfrm>
            <a:off x="2128839" y="1460501"/>
            <a:ext cx="8205787" cy="4524315"/>
          </a:xfrm>
          <a:prstGeom prst="rect">
            <a:avLst/>
          </a:prstGeom>
          <a:solidFill>
            <a:srgbClr val="DDDDDD"/>
          </a:solidFill>
          <a:ln>
            <a:noFill/>
          </a:ln>
          <a:effectLst>
            <a:outerShdw dist="107763"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通信介质：电子、光  </a:t>
            </a:r>
          </a:p>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链路：光纤、铜线、卫星 </a:t>
            </a:r>
            <a:r>
              <a:rPr lang="zh-CN" altLang="en-US" b="1">
                <a:solidFill>
                  <a:srgbClr val="006C88"/>
                </a:solidFill>
                <a:latin typeface="Arial" panose="020B0604020202020204" pitchFamily="34" charset="0"/>
                <a:ea typeface="华文楷体" panose="02010600040101010101" pitchFamily="2" charset="-122"/>
              </a:rPr>
              <a:t>…</a:t>
            </a:r>
            <a:endParaRPr lang="zh-CN" altLang="en-US" b="1">
              <a:solidFill>
                <a:srgbClr val="006C88"/>
              </a:solidFill>
              <a:latin typeface="华文楷体" panose="02010600040101010101" pitchFamily="2" charset="-122"/>
              <a:ea typeface="华文楷体" panose="02010600040101010101" pitchFamily="2" charset="-122"/>
            </a:endParaRPr>
          </a:p>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交换: 机械/电/光, 交叉</a:t>
            </a:r>
          </a:p>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协议: TCP/IP, ATM, Ethernet, PPP, X.25, FrameRelay, AppleTalk, IPX</a:t>
            </a:r>
            <a:r>
              <a:rPr lang="zh-CN" altLang="en-US" b="1">
                <a:solidFill>
                  <a:srgbClr val="006C88"/>
                </a:solidFill>
                <a:latin typeface="Arial" panose="020B0604020202020204" pitchFamily="34" charset="0"/>
                <a:ea typeface="华文楷体" panose="02010600040101010101" pitchFamily="2" charset="-122"/>
              </a:rPr>
              <a:t>……</a:t>
            </a:r>
            <a:endParaRPr lang="zh-CN" altLang="en-US" b="1">
              <a:solidFill>
                <a:srgbClr val="006C88"/>
              </a:solidFill>
              <a:latin typeface="华文楷体" panose="02010600040101010101" pitchFamily="2" charset="-122"/>
              <a:ea typeface="华文楷体" panose="02010600040101010101" pitchFamily="2" charset="-122"/>
            </a:endParaRPr>
          </a:p>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功能: routing, error control, congestion control, Quality of Service (QoS)</a:t>
            </a:r>
          </a:p>
          <a:p>
            <a:pPr eaLnBrk="1" hangingPunct="1">
              <a:buClr>
                <a:srgbClr val="66CCFF"/>
              </a:buClr>
              <a:buSzTx/>
              <a:buFont typeface="Wingdings" panose="05000000000000000000" pitchFamily="2" charset="2"/>
              <a:buChar char="•"/>
            </a:pPr>
            <a:r>
              <a:rPr lang="zh-CN" altLang="en-US" b="1">
                <a:solidFill>
                  <a:srgbClr val="006C88"/>
                </a:solidFill>
                <a:latin typeface="华文楷体" panose="02010600040101010101" pitchFamily="2" charset="-122"/>
                <a:ea typeface="华文楷体" panose="02010600040101010101" pitchFamily="2" charset="-122"/>
              </a:rPr>
              <a:t>应用: FTP, WEB, 远程桌面, 虚拟化...</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147">
                                            <p:bg/>
                                          </p:spTgt>
                                        </p:tgtEl>
                                        <p:attrNameLst>
                                          <p:attrName>style.visibility</p:attrName>
                                        </p:attrNameLst>
                                      </p:cBhvr>
                                      <p:to>
                                        <p:strVal val="visible"/>
                                      </p:to>
                                    </p:set>
                                    <p:anim calcmode="lin" valueType="num">
                                      <p:cBhvr additive="base">
                                        <p:cTn id="7" dur="500" fill="hold"/>
                                        <p:tgtEl>
                                          <p:spTgt spid="6147">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6147">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147">
                                            <p:txEl>
                                              <p:pRg st="0" end="0"/>
                                            </p:txEl>
                                          </p:spTgt>
                                        </p:tgtEl>
                                        <p:attrNameLst>
                                          <p:attrName>style.visibility</p:attrName>
                                        </p:attrNameLst>
                                      </p:cBhvr>
                                      <p:to>
                                        <p:strVal val="visible"/>
                                      </p:to>
                                    </p:set>
                                    <p:anim calcmode="lin" valueType="num">
                                      <p:cBhvr additive="base">
                                        <p:cTn id="13" dur="500" fill="hold"/>
                                        <p:tgtEl>
                                          <p:spTgt spid="614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1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147">
                                            <p:txEl>
                                              <p:pRg st="1" end="1"/>
                                            </p:txEl>
                                          </p:spTgt>
                                        </p:tgtEl>
                                        <p:attrNameLst>
                                          <p:attrName>style.visibility</p:attrName>
                                        </p:attrNameLst>
                                      </p:cBhvr>
                                      <p:to>
                                        <p:strVal val="visible"/>
                                      </p:to>
                                    </p:set>
                                    <p:anim calcmode="lin" valueType="num">
                                      <p:cBhvr additive="base">
                                        <p:cTn id="19" dur="500" fill="hold"/>
                                        <p:tgtEl>
                                          <p:spTgt spid="6147">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1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147">
                                            <p:txEl>
                                              <p:pRg st="2" end="2"/>
                                            </p:txEl>
                                          </p:spTgt>
                                        </p:tgtEl>
                                        <p:attrNameLst>
                                          <p:attrName>style.visibility</p:attrName>
                                        </p:attrNameLst>
                                      </p:cBhvr>
                                      <p:to>
                                        <p:strVal val="visible"/>
                                      </p:to>
                                    </p:set>
                                    <p:anim calcmode="lin" valueType="num">
                                      <p:cBhvr additive="base">
                                        <p:cTn id="25" dur="500" fill="hold"/>
                                        <p:tgtEl>
                                          <p:spTgt spid="6147">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147">
                                            <p:txEl>
                                              <p:pRg st="3" end="3"/>
                                            </p:txEl>
                                          </p:spTgt>
                                        </p:tgtEl>
                                        <p:attrNameLst>
                                          <p:attrName>style.visibility</p:attrName>
                                        </p:attrNameLst>
                                      </p:cBhvr>
                                      <p:to>
                                        <p:strVal val="visible"/>
                                      </p:to>
                                    </p:set>
                                    <p:anim calcmode="lin" valueType="num">
                                      <p:cBhvr additive="base">
                                        <p:cTn id="31" dur="500" fill="hold"/>
                                        <p:tgtEl>
                                          <p:spTgt spid="6147">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1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147">
                                            <p:txEl>
                                              <p:pRg st="4" end="4"/>
                                            </p:txEl>
                                          </p:spTgt>
                                        </p:tgtEl>
                                        <p:attrNameLst>
                                          <p:attrName>style.visibility</p:attrName>
                                        </p:attrNameLst>
                                      </p:cBhvr>
                                      <p:to>
                                        <p:strVal val="visible"/>
                                      </p:to>
                                    </p:set>
                                    <p:anim calcmode="lin" valueType="num">
                                      <p:cBhvr additive="base">
                                        <p:cTn id="37" dur="500" fill="hold"/>
                                        <p:tgtEl>
                                          <p:spTgt spid="6147">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1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6147">
                                            <p:txEl>
                                              <p:pRg st="5" end="5"/>
                                            </p:txEl>
                                          </p:spTgt>
                                        </p:tgtEl>
                                        <p:attrNameLst>
                                          <p:attrName>style.visibility</p:attrName>
                                        </p:attrNameLst>
                                      </p:cBhvr>
                                      <p:to>
                                        <p:strVal val="visible"/>
                                      </p:to>
                                    </p:set>
                                    <p:anim calcmode="lin" valueType="num">
                                      <p:cBhvr additive="base">
                                        <p:cTn id="43" dur="500" fill="hold"/>
                                        <p:tgtEl>
                                          <p:spTgt spid="6147">
                                            <p:txEl>
                                              <p:pRg st="5" end="5"/>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14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2024" y="0"/>
            <a:ext cx="9790176" cy="1143000"/>
          </a:xfrm>
        </p:spPr>
        <p:txBody>
          <a:bodyPr/>
          <a:lstStyle/>
          <a:p>
            <a:pPr eaLnBrk="1" hangingPunct="1"/>
            <a:r>
              <a:rPr lang="zh-CN" altLang="zh-CN"/>
              <a:t>2.1 网络层次结构</a:t>
            </a:r>
          </a:p>
        </p:txBody>
      </p:sp>
      <p:sp>
        <p:nvSpPr>
          <p:cNvPr id="7171" name="Text Box 3"/>
          <p:cNvSpPr txBox="1">
            <a:spLocks noChangeArrowheads="1"/>
          </p:cNvSpPr>
          <p:nvPr/>
        </p:nvSpPr>
        <p:spPr bwMode="auto">
          <a:xfrm>
            <a:off x="2087563" y="1535114"/>
            <a:ext cx="4273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30000"/>
              </a:spcBef>
              <a:buFont typeface="Wingdings" panose="05000000000000000000" pitchFamily="2" charset="2"/>
              <a:buNone/>
            </a:pPr>
            <a:r>
              <a:rPr lang="zh-CN" altLang="zh-CN" sz="3200" b="1">
                <a:solidFill>
                  <a:schemeClr val="hlink"/>
                </a:solidFill>
                <a:latin typeface="华文楷体" panose="02010600040101010101" pitchFamily="2" charset="-122"/>
                <a:ea typeface="华文楷体" panose="02010600040101010101" pitchFamily="2" charset="-122"/>
              </a:rPr>
              <a:t>计算机网络非常复杂</a:t>
            </a:r>
            <a:endParaRPr lang="zh-CN" altLang="zh-CN" b="1">
              <a:latin typeface="华文楷体" panose="02010600040101010101" pitchFamily="2" charset="-122"/>
              <a:ea typeface="华文楷体" panose="02010600040101010101" pitchFamily="2" charset="-122"/>
            </a:endParaRPr>
          </a:p>
        </p:txBody>
      </p:sp>
      <p:sp>
        <p:nvSpPr>
          <p:cNvPr id="7172" name="Text Box 4"/>
          <p:cNvSpPr txBox="1">
            <a:spLocks noChangeArrowheads="1"/>
          </p:cNvSpPr>
          <p:nvPr/>
        </p:nvSpPr>
        <p:spPr bwMode="auto">
          <a:xfrm>
            <a:off x="2227264" y="3038475"/>
            <a:ext cx="7735887" cy="245903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10000"/>
              </a:spcBef>
              <a:buClrTx/>
              <a:buSzTx/>
              <a:buFont typeface="Wingdings" panose="05000000000000000000" pitchFamily="2" charset="2"/>
              <a:buNone/>
            </a:pPr>
            <a:r>
              <a:rPr lang="zh-CN" altLang="zh-CN" b="1">
                <a:solidFill>
                  <a:schemeClr val="hlink"/>
                </a:solidFill>
                <a:latin typeface="华文楷体" panose="02010600040101010101" pitchFamily="2" charset="-122"/>
                <a:ea typeface="华文楷体" panose="02010600040101010101" pitchFamily="2" charset="-122"/>
              </a:rPr>
              <a:t>为什么要</a:t>
            </a:r>
            <a:r>
              <a:rPr lang="zh-CN" altLang="zh-CN" b="1">
                <a:solidFill>
                  <a:srgbClr val="CC0000"/>
                </a:solidFill>
                <a:latin typeface="华文楷体" panose="02010600040101010101" pitchFamily="2" charset="-122"/>
                <a:ea typeface="华文楷体" panose="02010600040101010101" pitchFamily="2" charset="-122"/>
              </a:rPr>
              <a:t>分层？</a:t>
            </a:r>
            <a:r>
              <a:rPr lang="zh-CN" altLang="zh-CN" b="1">
                <a:latin typeface="华文楷体" panose="02010600040101010101" pitchFamily="2" charset="-122"/>
                <a:ea typeface="华文楷体" panose="02010600040101010101" pitchFamily="2" charset="-122"/>
              </a:rPr>
              <a:t>     </a:t>
            </a:r>
          </a:p>
          <a:p>
            <a:pPr lvl="1" algn="just" eaLnBrk="1" hangingPunct="1">
              <a:spcBef>
                <a:spcPct val="1000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１．在对等层(之间)建立通信关系</a:t>
            </a:r>
          </a:p>
          <a:p>
            <a:pPr lvl="1" algn="just" eaLnBrk="1" hangingPunct="1">
              <a:spcBef>
                <a:spcPct val="1000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２．简化软件的编制、调制、修改</a:t>
            </a:r>
          </a:p>
          <a:p>
            <a:pPr lvl="1" algn="just" eaLnBrk="1" hangingPunct="1">
              <a:spcBef>
                <a:spcPct val="1000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３．修改某层不影响其他层</a:t>
            </a:r>
          </a:p>
          <a:p>
            <a:pPr lvl="1" algn="just" eaLnBrk="1" hangingPunct="1">
              <a:spcBef>
                <a:spcPct val="1000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４．容易标准化、开放式</a:t>
            </a:r>
          </a:p>
        </p:txBody>
      </p:sp>
      <p:sp>
        <p:nvSpPr>
          <p:cNvPr id="7173" name="Text Box 5"/>
          <p:cNvSpPr txBox="1">
            <a:spLocks noChangeArrowheads="1"/>
          </p:cNvSpPr>
          <p:nvPr/>
        </p:nvSpPr>
        <p:spPr bwMode="auto">
          <a:xfrm>
            <a:off x="3624264" y="2176463"/>
            <a:ext cx="6289675" cy="5191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划分成小的子系统来处理（分层）</a:t>
            </a:r>
          </a:p>
        </p:txBody>
      </p:sp>
      <p:sp>
        <p:nvSpPr>
          <p:cNvPr id="7174" name="AutoShape 6"/>
          <p:cNvSpPr>
            <a:spLocks noChangeArrowheads="1"/>
          </p:cNvSpPr>
          <p:nvPr/>
        </p:nvSpPr>
        <p:spPr bwMode="auto">
          <a:xfrm>
            <a:off x="2906713" y="2301875"/>
            <a:ext cx="711200" cy="242888"/>
          </a:xfrm>
          <a:prstGeom prst="rightArrow">
            <a:avLst>
              <a:gd name="adj1" fmla="val 50000"/>
              <a:gd name="adj2" fmla="val 73189"/>
            </a:avLst>
          </a:prstGeom>
          <a:solidFill>
            <a:srgbClr val="66CC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174"/>
                                        </p:tgtEl>
                                        <p:attrNameLst>
                                          <p:attrName>style.visibility</p:attrName>
                                        </p:attrNameLst>
                                      </p:cBhvr>
                                      <p:to>
                                        <p:strVal val="visible"/>
                                      </p:to>
                                    </p:set>
                                    <p:anim calcmode="lin" valueType="num">
                                      <p:cBhvr additive="base">
                                        <p:cTn id="13" dur="500" fill="hold"/>
                                        <p:tgtEl>
                                          <p:spTgt spid="7174"/>
                                        </p:tgtEl>
                                        <p:attrNameLst>
                                          <p:attrName>ppt_x</p:attrName>
                                        </p:attrNameLst>
                                      </p:cBhvr>
                                      <p:tavLst>
                                        <p:tav tm="0">
                                          <p:val>
                                            <p:strVal val="1+#ppt_w/2"/>
                                          </p:val>
                                        </p:tav>
                                        <p:tav tm="100000">
                                          <p:val>
                                            <p:strVal val="#ppt_x"/>
                                          </p:val>
                                        </p:tav>
                                      </p:tavLst>
                                    </p:anim>
                                    <p:anim calcmode="lin" valueType="num">
                                      <p:cBhvr additive="base">
                                        <p:cTn id="14" dur="500" fill="hold"/>
                                        <p:tgtEl>
                                          <p:spTgt spid="71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172">
                                            <p:txEl>
                                              <p:pRg st="0" end="0"/>
                                            </p:txEl>
                                          </p:spTgt>
                                        </p:tgtEl>
                                        <p:attrNameLst>
                                          <p:attrName>style.visibility</p:attrName>
                                        </p:attrNameLst>
                                      </p:cBhvr>
                                      <p:to>
                                        <p:strVal val="visible"/>
                                      </p:to>
                                    </p:set>
                                    <p:anim calcmode="lin" valueType="num">
                                      <p:cBhvr additive="base">
                                        <p:cTn id="19" dur="500" fill="hold"/>
                                        <p:tgtEl>
                                          <p:spTgt spid="7172">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72">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172">
                                            <p:txEl>
                                              <p:pRg st="1" end="1"/>
                                            </p:txEl>
                                          </p:spTgt>
                                        </p:tgtEl>
                                        <p:attrNameLst>
                                          <p:attrName>style.visibility</p:attrName>
                                        </p:attrNameLst>
                                      </p:cBhvr>
                                      <p:to>
                                        <p:strVal val="visible"/>
                                      </p:to>
                                    </p:set>
                                    <p:anim calcmode="lin" valueType="num">
                                      <p:cBhvr additive="base">
                                        <p:cTn id="23" dur="500" fill="hold"/>
                                        <p:tgtEl>
                                          <p:spTgt spid="7172">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172">
                                            <p:txEl>
                                              <p:pRg st="1" end="1"/>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172">
                                            <p:txEl>
                                              <p:pRg st="2" end="2"/>
                                            </p:txEl>
                                          </p:spTgt>
                                        </p:tgtEl>
                                        <p:attrNameLst>
                                          <p:attrName>style.visibility</p:attrName>
                                        </p:attrNameLst>
                                      </p:cBhvr>
                                      <p:to>
                                        <p:strVal val="visible"/>
                                      </p:to>
                                    </p:set>
                                    <p:anim calcmode="lin" valueType="num">
                                      <p:cBhvr additive="base">
                                        <p:cTn id="27" dur="500" fill="hold"/>
                                        <p:tgtEl>
                                          <p:spTgt spid="7172">
                                            <p:txEl>
                                              <p:pRg st="2" end="2"/>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172">
                                            <p:txEl>
                                              <p:pRg st="2" end="2"/>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172">
                                            <p:txEl>
                                              <p:pRg st="3" end="3"/>
                                            </p:txEl>
                                          </p:spTgt>
                                        </p:tgtEl>
                                        <p:attrNameLst>
                                          <p:attrName>style.visibility</p:attrName>
                                        </p:attrNameLst>
                                      </p:cBhvr>
                                      <p:to>
                                        <p:strVal val="visible"/>
                                      </p:to>
                                    </p:set>
                                    <p:anim calcmode="lin" valueType="num">
                                      <p:cBhvr additive="base">
                                        <p:cTn id="31" dur="500" fill="hold"/>
                                        <p:tgtEl>
                                          <p:spTgt spid="7172">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172">
                                            <p:txEl>
                                              <p:pRg st="3" end="3"/>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172">
                                            <p:txEl>
                                              <p:pRg st="4" end="4"/>
                                            </p:txEl>
                                          </p:spTgt>
                                        </p:tgtEl>
                                        <p:attrNameLst>
                                          <p:attrName>style.visibility</p:attrName>
                                        </p:attrNameLst>
                                      </p:cBhvr>
                                      <p:to>
                                        <p:strVal val="visible"/>
                                      </p:to>
                                    </p:set>
                                    <p:anim calcmode="lin" valueType="num">
                                      <p:cBhvr additive="base">
                                        <p:cTn id="35" dur="500" fill="hold"/>
                                        <p:tgtEl>
                                          <p:spTgt spid="7172">
                                            <p:txEl>
                                              <p:pRg st="4" end="4"/>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17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7172" grpId="0" build="p"/>
      <p:bldP spid="717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9800" y="344488"/>
            <a:ext cx="7772400" cy="481012"/>
          </a:xfrm>
        </p:spPr>
        <p:txBody>
          <a:bodyPr>
            <a:normAutofit fontScale="90000"/>
          </a:bodyPr>
          <a:lstStyle/>
          <a:p>
            <a:pPr algn="ctr" eaLnBrk="1" hangingPunct="1"/>
            <a:r>
              <a:rPr lang="zh-CN" altLang="zh-CN"/>
              <a:t>如何分层</a:t>
            </a:r>
          </a:p>
        </p:txBody>
      </p:sp>
      <p:sp>
        <p:nvSpPr>
          <p:cNvPr id="8195" name="Text Box 3"/>
          <p:cNvSpPr txBox="1">
            <a:spLocks noChangeArrowheads="1"/>
          </p:cNvSpPr>
          <p:nvPr/>
        </p:nvSpPr>
        <p:spPr bwMode="auto">
          <a:xfrm>
            <a:off x="502920" y="1620520"/>
            <a:ext cx="11036807" cy="28100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66750" indent="-6667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１．根据不同层次的抽象分层，每层应当实现一个定义明确的功能</a:t>
            </a:r>
          </a:p>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２．各层的功能及技术实现应有明显差别，交界面的相互作用要少</a:t>
            </a:r>
          </a:p>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３．低层对高层而言是透明的</a:t>
            </a:r>
          </a:p>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４．每层功能的选择应该有助于制定网络协议的国际标准</a:t>
            </a:r>
          </a:p>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５．层次数目要适当。层数应足够多，以避免不同的功能混杂在同一层中，但也不能太多，否则体系结构会过于庞大</a:t>
            </a:r>
          </a:p>
          <a:p>
            <a:pPr algn="just" eaLnBrk="1" hangingPunct="1">
              <a:lnSpc>
                <a:spcPct val="90000"/>
              </a:lnSpc>
              <a:spcBef>
                <a:spcPct val="0"/>
              </a:spcBef>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６．考虑现有网络结构及通信协议</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5">
                                            <p:bg/>
                                          </p:spTgt>
                                        </p:tgtEl>
                                        <p:attrNameLst>
                                          <p:attrName>style.visibility</p:attrName>
                                        </p:attrNameLst>
                                      </p:cBhvr>
                                      <p:to>
                                        <p:strVal val="visible"/>
                                      </p:to>
                                    </p:set>
                                    <p:anim calcmode="lin" valueType="num">
                                      <p:cBhvr additive="base">
                                        <p:cTn id="7" dur="500" fill="hold"/>
                                        <p:tgtEl>
                                          <p:spTgt spid="8195">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5">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95">
                                            <p:txEl>
                                              <p:pRg st="0" end="0"/>
                                            </p:txEl>
                                          </p:spTgt>
                                        </p:tgtEl>
                                        <p:attrNameLst>
                                          <p:attrName>style.visibility</p:attrName>
                                        </p:attrNameLst>
                                      </p:cBhvr>
                                      <p:to>
                                        <p:strVal val="visible"/>
                                      </p:to>
                                    </p:set>
                                    <p:anim calcmode="lin" valueType="num">
                                      <p:cBhvr additive="base">
                                        <p:cTn id="13" dur="500" fill="hold"/>
                                        <p:tgtEl>
                                          <p:spTgt spid="819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195">
                                            <p:txEl>
                                              <p:pRg st="1" end="1"/>
                                            </p:txEl>
                                          </p:spTgt>
                                        </p:tgtEl>
                                        <p:attrNameLst>
                                          <p:attrName>style.visibility</p:attrName>
                                        </p:attrNameLst>
                                      </p:cBhvr>
                                      <p:to>
                                        <p:strVal val="visible"/>
                                      </p:to>
                                    </p:set>
                                    <p:anim calcmode="lin" valueType="num">
                                      <p:cBhvr additive="base">
                                        <p:cTn id="19" dur="500" fill="hold"/>
                                        <p:tgtEl>
                                          <p:spTgt spid="8195">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195">
                                            <p:txEl>
                                              <p:pRg st="2" end="2"/>
                                            </p:txEl>
                                          </p:spTgt>
                                        </p:tgtEl>
                                        <p:attrNameLst>
                                          <p:attrName>style.visibility</p:attrName>
                                        </p:attrNameLst>
                                      </p:cBhvr>
                                      <p:to>
                                        <p:strVal val="visible"/>
                                      </p:to>
                                    </p:set>
                                    <p:anim calcmode="lin" valueType="num">
                                      <p:cBhvr additive="base">
                                        <p:cTn id="25" dur="500" fill="hold"/>
                                        <p:tgtEl>
                                          <p:spTgt spid="8195">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195">
                                            <p:txEl>
                                              <p:pRg st="3" end="3"/>
                                            </p:txEl>
                                          </p:spTgt>
                                        </p:tgtEl>
                                        <p:attrNameLst>
                                          <p:attrName>style.visibility</p:attrName>
                                        </p:attrNameLst>
                                      </p:cBhvr>
                                      <p:to>
                                        <p:strVal val="visible"/>
                                      </p:to>
                                    </p:set>
                                    <p:anim calcmode="lin" valueType="num">
                                      <p:cBhvr additive="base">
                                        <p:cTn id="31" dur="500" fill="hold"/>
                                        <p:tgtEl>
                                          <p:spTgt spid="8195">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195">
                                            <p:txEl>
                                              <p:pRg st="4" end="4"/>
                                            </p:txEl>
                                          </p:spTgt>
                                        </p:tgtEl>
                                        <p:attrNameLst>
                                          <p:attrName>style.visibility</p:attrName>
                                        </p:attrNameLst>
                                      </p:cBhvr>
                                      <p:to>
                                        <p:strVal val="visible"/>
                                      </p:to>
                                    </p:set>
                                    <p:anim calcmode="lin" valueType="num">
                                      <p:cBhvr additive="base">
                                        <p:cTn id="37" dur="500" fill="hold"/>
                                        <p:tgtEl>
                                          <p:spTgt spid="8195">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195">
                                            <p:txEl>
                                              <p:pRg st="5" end="5"/>
                                            </p:txEl>
                                          </p:spTgt>
                                        </p:tgtEl>
                                        <p:attrNameLst>
                                          <p:attrName>style.visibility</p:attrName>
                                        </p:attrNameLst>
                                      </p:cBhvr>
                                      <p:to>
                                        <p:strVal val="visible"/>
                                      </p:to>
                                    </p:set>
                                    <p:anim calcmode="lin" valueType="num">
                                      <p:cBhvr additive="base">
                                        <p:cTn id="43" dur="500" fill="hold"/>
                                        <p:tgtEl>
                                          <p:spTgt spid="8195">
                                            <p:txEl>
                                              <p:pRg st="5" end="5"/>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19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346075"/>
            <a:ext cx="7772400" cy="338138"/>
          </a:xfrm>
        </p:spPr>
        <p:txBody>
          <a:bodyPr>
            <a:normAutofit fontScale="90000"/>
          </a:bodyPr>
          <a:lstStyle/>
          <a:p>
            <a:pPr algn="ctr" eaLnBrk="1" hangingPunct="1"/>
            <a:r>
              <a:rPr lang="zh-CN" altLang="zh-CN"/>
              <a:t>协议</a:t>
            </a:r>
            <a:endParaRPr lang="en-US" altLang="zh-CN"/>
          </a:p>
        </p:txBody>
      </p:sp>
      <p:sp>
        <p:nvSpPr>
          <p:cNvPr id="9219" name="Text Box 3"/>
          <p:cNvSpPr txBox="1">
            <a:spLocks noChangeArrowheads="1"/>
          </p:cNvSpPr>
          <p:nvPr/>
        </p:nvSpPr>
        <p:spPr bwMode="auto">
          <a:xfrm>
            <a:off x="777240" y="1681164"/>
            <a:ext cx="11073384" cy="353943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通信的关键是通信的双方能够</a:t>
            </a:r>
            <a:r>
              <a:rPr lang="zh-CN" altLang="zh-CN" sz="3200" b="1">
                <a:solidFill>
                  <a:srgbClr val="CC0000"/>
                </a:solidFill>
                <a:latin typeface="华文楷体" panose="02010600040101010101" pitchFamily="2" charset="-122"/>
                <a:ea typeface="华文楷体" panose="02010600040101010101" pitchFamily="2" charset="-122"/>
              </a:rPr>
              <a:t>相互理解</a:t>
            </a:r>
          </a:p>
          <a:p>
            <a:pPr algn="just" eaLnBrk="1" hangingPunct="1">
              <a:spcBef>
                <a:spcPct val="20000"/>
              </a:spcBef>
              <a:buFont typeface="Wingdings" panose="05000000000000000000" pitchFamily="2" charset="2"/>
              <a:buNone/>
            </a:pPr>
            <a:r>
              <a:rPr lang="zh-CN" altLang="zh-CN" sz="3200" b="1">
                <a:solidFill>
                  <a:srgbClr val="6600FF"/>
                </a:solidFill>
                <a:latin typeface="华文楷体" panose="02010600040101010101" pitchFamily="2" charset="-122"/>
                <a:ea typeface="华文楷体" panose="02010600040101010101" pitchFamily="2" charset="-122"/>
              </a:rPr>
              <a:t>人类语言：</a:t>
            </a:r>
            <a:r>
              <a:rPr lang="zh-CN" altLang="zh-CN" sz="3200" b="1">
                <a:latin typeface="华文楷体" panose="02010600040101010101" pitchFamily="2" charset="-122"/>
                <a:ea typeface="华文楷体" panose="02010600040101010101" pitchFamily="2" charset="-122"/>
              </a:rPr>
              <a:t>讲什么--如何讲--谁先讲，谁后讲</a:t>
            </a:r>
          </a:p>
          <a:p>
            <a:pPr algn="just" eaLnBrk="1" hangingPunct="1">
              <a:spcBef>
                <a:spcPct val="20000"/>
              </a:spcBef>
              <a:buFont typeface="Wingdings" panose="05000000000000000000" pitchFamily="2" charset="2"/>
              <a:buNone/>
            </a:pPr>
            <a:r>
              <a:rPr lang="zh-CN" altLang="zh-CN" sz="3200" b="1">
                <a:solidFill>
                  <a:srgbClr val="6600FF"/>
                </a:solidFill>
                <a:latin typeface="华文楷体" panose="02010600040101010101" pitchFamily="2" charset="-122"/>
                <a:ea typeface="华文楷体" panose="02010600040101010101" pitchFamily="2" charset="-122"/>
              </a:rPr>
              <a:t>计算机网络</a:t>
            </a:r>
            <a:r>
              <a:rPr lang="zh-CN" altLang="zh-CN" sz="3200" b="1">
                <a:latin typeface="华文楷体" panose="02010600040101010101" pitchFamily="2" charset="-122"/>
                <a:ea typeface="华文楷体" panose="02010600040101010101" pitchFamily="2" charset="-122"/>
              </a:rPr>
              <a:t>：报文格式-报文含义-发送顺序 </a:t>
            </a:r>
            <a:endParaRPr lang="en-US" altLang="zh-CN" sz="3200" b="1">
              <a:latin typeface="华文楷体" panose="02010600040101010101" pitchFamily="2" charset="-122"/>
              <a:ea typeface="华文楷体" panose="02010600040101010101" pitchFamily="2" charset="-122"/>
            </a:endParaRPr>
          </a:p>
          <a:p>
            <a:pPr algn="just" eaLnBrk="1" hangingPunct="1">
              <a:spcBef>
                <a:spcPct val="2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       </a:t>
            </a:r>
          </a:p>
          <a:p>
            <a:pPr eaLnBrk="1" hangingPunct="1">
              <a:spcBef>
                <a:spcPct val="2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这种</a:t>
            </a:r>
            <a:r>
              <a:rPr lang="zh-CN" altLang="zh-CN" sz="3200" b="1">
                <a:solidFill>
                  <a:schemeClr val="hlink"/>
                </a:solidFill>
                <a:latin typeface="华文楷体" panose="02010600040101010101" pitchFamily="2" charset="-122"/>
                <a:ea typeface="华文楷体" panose="02010600040101010101" pitchFamily="2" charset="-122"/>
              </a:rPr>
              <a:t>约定或规则（Agreement about communication ）</a:t>
            </a:r>
            <a:endParaRPr lang="en-US" altLang="zh-CN" sz="3200" b="1">
              <a:solidFill>
                <a:schemeClr val="hlink"/>
              </a:solidFill>
              <a:latin typeface="华文楷体" panose="02010600040101010101" pitchFamily="2" charset="-122"/>
              <a:ea typeface="华文楷体" panose="02010600040101010101" pitchFamily="2" charset="-122"/>
            </a:endParaRPr>
          </a:p>
          <a:p>
            <a:pPr eaLnBrk="1" hangingPunct="1">
              <a:spcBef>
                <a:spcPct val="2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称做</a:t>
            </a:r>
            <a:r>
              <a:rPr lang="zh-CN" altLang="zh-CN" sz="3200" b="1">
                <a:solidFill>
                  <a:srgbClr val="6600FF"/>
                </a:solidFill>
                <a:latin typeface="华文楷体" panose="02010600040101010101" pitchFamily="2" charset="-122"/>
                <a:ea typeface="华文楷体" panose="02010600040101010101" pitchFamily="2" charset="-122"/>
              </a:rPr>
              <a:t>协议(protocol)</a:t>
            </a:r>
            <a:r>
              <a:rPr lang="zh-CN" altLang="zh-CN" sz="3200" b="1">
                <a:latin typeface="华文楷体" panose="02010600040101010101" pitchFamily="2" charset="-122"/>
                <a:ea typeface="华文楷体" panose="02010600040101010101" pitchFamily="2"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19">
                                            <p:bg/>
                                          </p:spTgt>
                                        </p:tgtEl>
                                        <p:attrNameLst>
                                          <p:attrName>style.visibility</p:attrName>
                                        </p:attrNameLst>
                                      </p:cBhvr>
                                      <p:to>
                                        <p:strVal val="visible"/>
                                      </p:to>
                                    </p:set>
                                    <p:anim calcmode="lin" valueType="num">
                                      <p:cBhvr additive="base">
                                        <p:cTn id="7" dur="500" fill="hold"/>
                                        <p:tgtEl>
                                          <p:spTgt spid="9219">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9219">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anim calcmode="lin" valueType="num">
                                      <p:cBhvr additive="base">
                                        <p:cTn id="13" dur="500" fill="hold"/>
                                        <p:tgtEl>
                                          <p:spTgt spid="921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219">
                                            <p:txEl>
                                              <p:pRg st="1" end="1"/>
                                            </p:txEl>
                                          </p:spTgt>
                                        </p:tgtEl>
                                        <p:attrNameLst>
                                          <p:attrName>style.visibility</p:attrName>
                                        </p:attrNameLst>
                                      </p:cBhvr>
                                      <p:to>
                                        <p:strVal val="visible"/>
                                      </p:to>
                                    </p:set>
                                    <p:anim calcmode="lin" valueType="num">
                                      <p:cBhvr additive="base">
                                        <p:cTn id="19" dur="500" fill="hold"/>
                                        <p:tgtEl>
                                          <p:spTgt spid="9219">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219">
                                            <p:txEl>
                                              <p:pRg st="2" end="2"/>
                                            </p:txEl>
                                          </p:spTgt>
                                        </p:tgtEl>
                                        <p:attrNameLst>
                                          <p:attrName>style.visibility</p:attrName>
                                        </p:attrNameLst>
                                      </p:cBhvr>
                                      <p:to>
                                        <p:strVal val="visible"/>
                                      </p:to>
                                    </p:set>
                                    <p:anim calcmode="lin" valueType="num">
                                      <p:cBhvr additive="base">
                                        <p:cTn id="25" dur="500" fill="hold"/>
                                        <p:tgtEl>
                                          <p:spTgt spid="9219">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219">
                                            <p:txEl>
                                              <p:pRg st="3" end="3"/>
                                            </p:txEl>
                                          </p:spTgt>
                                        </p:tgtEl>
                                        <p:attrNameLst>
                                          <p:attrName>style.visibility</p:attrName>
                                        </p:attrNameLst>
                                      </p:cBhvr>
                                      <p:to>
                                        <p:strVal val="visible"/>
                                      </p:to>
                                    </p:set>
                                    <p:anim calcmode="lin" valueType="num">
                                      <p:cBhvr additive="base">
                                        <p:cTn id="31" dur="500" fill="hold"/>
                                        <p:tgtEl>
                                          <p:spTgt spid="9219">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9219">
                                            <p:txEl>
                                              <p:pRg st="4" end="4"/>
                                            </p:txEl>
                                          </p:spTgt>
                                        </p:tgtEl>
                                        <p:attrNameLst>
                                          <p:attrName>style.visibility</p:attrName>
                                        </p:attrNameLst>
                                      </p:cBhvr>
                                      <p:to>
                                        <p:strVal val="visible"/>
                                      </p:to>
                                    </p:set>
                                    <p:anim calcmode="lin" valueType="num">
                                      <p:cBhvr additive="base">
                                        <p:cTn id="37" dur="500" fill="hold"/>
                                        <p:tgtEl>
                                          <p:spTgt spid="9219">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2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9219">
                                            <p:txEl>
                                              <p:pRg st="5" end="5"/>
                                            </p:txEl>
                                          </p:spTgt>
                                        </p:tgtEl>
                                        <p:attrNameLst>
                                          <p:attrName>style.visibility</p:attrName>
                                        </p:attrNameLst>
                                      </p:cBhvr>
                                      <p:to>
                                        <p:strVal val="visible"/>
                                      </p:to>
                                    </p:set>
                                    <p:anim calcmode="lin" valueType="num">
                                      <p:cBhvr additive="base">
                                        <p:cTn id="43" dur="500" fill="hold"/>
                                        <p:tgtEl>
                                          <p:spTgt spid="9219">
                                            <p:txEl>
                                              <p:pRg st="5" end="5"/>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921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45014" y="214314"/>
            <a:ext cx="3101975" cy="574675"/>
          </a:xfrm>
        </p:spPr>
        <p:txBody>
          <a:bodyPr>
            <a:normAutofit fontScale="90000"/>
          </a:bodyPr>
          <a:lstStyle/>
          <a:p>
            <a:pPr eaLnBrk="1" hangingPunct="1"/>
            <a:r>
              <a:rPr lang="zh-CN" altLang="zh-CN"/>
              <a:t>协议实例</a:t>
            </a:r>
          </a:p>
        </p:txBody>
      </p:sp>
      <p:sp>
        <p:nvSpPr>
          <p:cNvPr id="10243" name="Text Box 3"/>
          <p:cNvSpPr txBox="1">
            <a:spLocks noChangeArrowheads="1"/>
          </p:cNvSpPr>
          <p:nvPr/>
        </p:nvSpPr>
        <p:spPr bwMode="auto">
          <a:xfrm>
            <a:off x="2092325" y="1389063"/>
            <a:ext cx="8007350" cy="5191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b="1">
                <a:solidFill>
                  <a:srgbClr val="CC0000"/>
                </a:solidFill>
                <a:latin typeface="华文楷体" panose="02010600040101010101" pitchFamily="2" charset="-122"/>
                <a:ea typeface="华文楷体" panose="02010600040101010101" pitchFamily="2" charset="-122"/>
              </a:rPr>
              <a:t>人类协议与计算机网络协议  </a:t>
            </a:r>
          </a:p>
        </p:txBody>
      </p:sp>
      <p:pic>
        <p:nvPicPr>
          <p:cNvPr id="10244" name="Picture 4"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3614" y="2487613"/>
            <a:ext cx="561975"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5"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2964" y="2989263"/>
            <a:ext cx="6762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6" name="Group 6"/>
          <p:cNvGrpSpPr>
            <a:grpSpLocks/>
          </p:cNvGrpSpPr>
          <p:nvPr/>
        </p:nvGrpSpPr>
        <p:grpSpPr bwMode="auto">
          <a:xfrm>
            <a:off x="2781301" y="2633664"/>
            <a:ext cx="1762125" cy="706437"/>
            <a:chOff x="0" y="0"/>
            <a:chExt cx="1110" cy="445"/>
          </a:xfrm>
        </p:grpSpPr>
        <p:sp>
          <p:nvSpPr>
            <p:cNvPr id="10293" name="Line 7"/>
            <p:cNvSpPr>
              <a:spLocks noChangeShapeType="1"/>
            </p:cNvSpPr>
            <p:nvPr/>
          </p:nvSpPr>
          <p:spPr bwMode="auto">
            <a:xfrm>
              <a:off x="0" y="224"/>
              <a:ext cx="1110" cy="22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94" name="Text Box 8"/>
            <p:cNvSpPr txBox="1">
              <a:spLocks noChangeArrowheads="1"/>
            </p:cNvSpPr>
            <p:nvPr/>
          </p:nvSpPr>
          <p:spPr bwMode="auto">
            <a:xfrm>
              <a:off x="278" y="0"/>
              <a:ext cx="3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400" b="1">
                  <a:solidFill>
                    <a:srgbClr val="FF0000"/>
                  </a:solidFill>
                  <a:latin typeface="华文楷体" panose="02010600040101010101" pitchFamily="2" charset="-122"/>
                  <a:ea typeface="华文楷体" panose="02010600040101010101" pitchFamily="2" charset="-122"/>
                </a:rPr>
                <a:t>Hi</a:t>
              </a:r>
              <a:endParaRPr lang="zh-CN" altLang="zh-CN" sz="2400" b="1">
                <a:latin typeface="华文楷体" panose="02010600040101010101" pitchFamily="2" charset="-122"/>
                <a:ea typeface="华文楷体" panose="02010600040101010101" pitchFamily="2" charset="-122"/>
              </a:endParaRPr>
            </a:p>
          </p:txBody>
        </p:sp>
      </p:grpSp>
      <p:grpSp>
        <p:nvGrpSpPr>
          <p:cNvPr id="10249" name="Group 9"/>
          <p:cNvGrpSpPr>
            <a:grpSpLocks/>
          </p:cNvGrpSpPr>
          <p:nvPr/>
        </p:nvGrpSpPr>
        <p:grpSpPr bwMode="auto">
          <a:xfrm>
            <a:off x="2495551" y="3467100"/>
            <a:ext cx="2085975" cy="719138"/>
            <a:chOff x="0" y="0"/>
            <a:chExt cx="1314" cy="453"/>
          </a:xfrm>
        </p:grpSpPr>
        <p:sp>
          <p:nvSpPr>
            <p:cNvPr id="10291" name="Line 10"/>
            <p:cNvSpPr>
              <a:spLocks noChangeShapeType="1"/>
            </p:cNvSpPr>
            <p:nvPr/>
          </p:nvSpPr>
          <p:spPr bwMode="auto">
            <a:xfrm flipV="1">
              <a:off x="0" y="164"/>
              <a:ext cx="1314" cy="289"/>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292" name="Text Box 11"/>
            <p:cNvSpPr txBox="1">
              <a:spLocks noChangeArrowheads="1"/>
            </p:cNvSpPr>
            <p:nvPr/>
          </p:nvSpPr>
          <p:spPr bwMode="auto">
            <a:xfrm>
              <a:off x="452" y="0"/>
              <a:ext cx="3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400" b="1">
                  <a:solidFill>
                    <a:srgbClr val="FF0000"/>
                  </a:solidFill>
                  <a:latin typeface="华文楷体" panose="02010600040101010101" pitchFamily="2" charset="-122"/>
                  <a:ea typeface="华文楷体" panose="02010600040101010101" pitchFamily="2" charset="-122"/>
                </a:rPr>
                <a:t>Hi</a:t>
              </a:r>
              <a:endParaRPr lang="zh-CN" altLang="zh-CN" sz="2400" b="1">
                <a:latin typeface="华文楷体" panose="02010600040101010101" pitchFamily="2" charset="-122"/>
                <a:ea typeface="华文楷体" panose="02010600040101010101" pitchFamily="2" charset="-122"/>
              </a:endParaRPr>
            </a:p>
          </p:txBody>
        </p:sp>
      </p:grpSp>
      <p:grpSp>
        <p:nvGrpSpPr>
          <p:cNvPr id="10252" name="Group 12"/>
          <p:cNvGrpSpPr>
            <a:grpSpLocks/>
          </p:cNvGrpSpPr>
          <p:nvPr/>
        </p:nvGrpSpPr>
        <p:grpSpPr bwMode="auto">
          <a:xfrm>
            <a:off x="2457451" y="4168776"/>
            <a:ext cx="2162175" cy="779463"/>
            <a:chOff x="0" y="0"/>
            <a:chExt cx="1362" cy="491"/>
          </a:xfrm>
        </p:grpSpPr>
        <p:sp>
          <p:nvSpPr>
            <p:cNvPr id="10287" name="Line 13"/>
            <p:cNvSpPr>
              <a:spLocks noChangeShapeType="1"/>
            </p:cNvSpPr>
            <p:nvPr/>
          </p:nvSpPr>
          <p:spPr bwMode="auto">
            <a:xfrm>
              <a:off x="0" y="49"/>
              <a:ext cx="1362" cy="3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288" name="Group 14"/>
            <p:cNvGrpSpPr>
              <a:grpSpLocks/>
            </p:cNvGrpSpPr>
            <p:nvPr/>
          </p:nvGrpSpPr>
          <p:grpSpPr bwMode="auto">
            <a:xfrm>
              <a:off x="283" y="0"/>
              <a:ext cx="610" cy="491"/>
              <a:chOff x="-3" y="0"/>
              <a:chExt cx="610" cy="387"/>
            </a:xfrm>
          </p:grpSpPr>
          <p:sp>
            <p:nvSpPr>
              <p:cNvPr id="10289" name="Rectangle 15"/>
              <p:cNvSpPr>
                <a:spLocks noChangeArrowheads="1"/>
              </p:cNvSpPr>
              <p:nvPr/>
            </p:nvSpPr>
            <p:spPr bwMode="auto">
              <a:xfrm>
                <a:off x="8" y="39"/>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90" name="Text Box 16"/>
              <p:cNvSpPr txBox="1">
                <a:spLocks noChangeArrowheads="1"/>
              </p:cNvSpPr>
              <p:nvPr/>
            </p:nvSpPr>
            <p:spPr bwMode="auto">
              <a:xfrm>
                <a:off x="-3" y="0"/>
                <a:ext cx="610" cy="35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Got the</a:t>
                </a:r>
              </a:p>
              <a:p>
                <a:pPr algn="ct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time?</a:t>
                </a:r>
                <a:endParaRPr lang="zh-CN" altLang="zh-CN" sz="2000" b="1">
                  <a:latin typeface="华文楷体" panose="02010600040101010101" pitchFamily="2" charset="-122"/>
                  <a:ea typeface="华文楷体" panose="02010600040101010101" pitchFamily="2" charset="-122"/>
                </a:endParaRPr>
              </a:p>
            </p:txBody>
          </p:sp>
        </p:grpSp>
      </p:grpSp>
      <p:grpSp>
        <p:nvGrpSpPr>
          <p:cNvPr id="10257" name="Group 17"/>
          <p:cNvGrpSpPr>
            <a:grpSpLocks/>
          </p:cNvGrpSpPr>
          <p:nvPr/>
        </p:nvGrpSpPr>
        <p:grpSpPr bwMode="auto">
          <a:xfrm>
            <a:off x="2619376" y="4972050"/>
            <a:ext cx="1952625" cy="508000"/>
            <a:chOff x="0" y="0"/>
            <a:chExt cx="1230" cy="320"/>
          </a:xfrm>
        </p:grpSpPr>
        <p:sp>
          <p:nvSpPr>
            <p:cNvPr id="10283" name="Line 18"/>
            <p:cNvSpPr>
              <a:spLocks noChangeShapeType="1"/>
            </p:cNvSpPr>
            <p:nvPr/>
          </p:nvSpPr>
          <p:spPr bwMode="auto">
            <a:xfrm flipV="1">
              <a:off x="0" y="0"/>
              <a:ext cx="1230" cy="267"/>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0284" name="Group 19"/>
            <p:cNvGrpSpPr>
              <a:grpSpLocks/>
            </p:cNvGrpSpPr>
            <p:nvPr/>
          </p:nvGrpSpPr>
          <p:grpSpPr bwMode="auto">
            <a:xfrm>
              <a:off x="212" y="27"/>
              <a:ext cx="502" cy="293"/>
              <a:chOff x="0" y="0"/>
              <a:chExt cx="502" cy="231"/>
            </a:xfrm>
          </p:grpSpPr>
          <p:sp>
            <p:nvSpPr>
              <p:cNvPr id="10285" name="Rectangle 20"/>
              <p:cNvSpPr>
                <a:spLocks noChangeArrowheads="1"/>
              </p:cNvSpPr>
              <p:nvPr/>
            </p:nvSpPr>
            <p:spPr bwMode="auto">
              <a:xfrm>
                <a:off x="58" y="45"/>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86" name="Text Box 21"/>
              <p:cNvSpPr txBox="1">
                <a:spLocks noChangeArrowheads="1"/>
              </p:cNvSpPr>
              <p:nvPr/>
            </p:nvSpPr>
            <p:spPr bwMode="auto">
              <a:xfrm>
                <a:off x="0" y="0"/>
                <a:ext cx="43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400" b="1">
                    <a:solidFill>
                      <a:srgbClr val="FF0000"/>
                    </a:solidFill>
                    <a:latin typeface="华文楷体" panose="02010600040101010101" pitchFamily="2" charset="-122"/>
                    <a:ea typeface="华文楷体" panose="02010600040101010101" pitchFamily="2" charset="-122"/>
                  </a:rPr>
                  <a:t>2:00</a:t>
                </a:r>
                <a:endParaRPr lang="zh-CN" altLang="zh-CN" sz="2400" b="1">
                  <a:latin typeface="华文楷体" panose="02010600040101010101" pitchFamily="2" charset="-122"/>
                  <a:ea typeface="华文楷体" panose="02010600040101010101" pitchFamily="2" charset="-122"/>
                </a:endParaRPr>
              </a:p>
            </p:txBody>
          </p:sp>
        </p:grpSp>
      </p:grpSp>
      <p:grpSp>
        <p:nvGrpSpPr>
          <p:cNvPr id="10262" name="Group 22"/>
          <p:cNvGrpSpPr>
            <a:grpSpLocks/>
          </p:cNvGrpSpPr>
          <p:nvPr/>
        </p:nvGrpSpPr>
        <p:grpSpPr bwMode="auto">
          <a:xfrm>
            <a:off x="5203826" y="2116138"/>
            <a:ext cx="720725" cy="4741862"/>
            <a:chOff x="0" y="0"/>
            <a:chExt cx="454" cy="3084"/>
          </a:xfrm>
        </p:grpSpPr>
        <p:sp>
          <p:nvSpPr>
            <p:cNvPr id="10279" name="Line 23"/>
            <p:cNvSpPr>
              <a:spLocks noChangeShapeType="1"/>
            </p:cNvSpPr>
            <p:nvPr/>
          </p:nvSpPr>
          <p:spPr bwMode="auto">
            <a:xfrm>
              <a:off x="238" y="0"/>
              <a:ext cx="0" cy="3084"/>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280" name="Group 24"/>
            <p:cNvGrpSpPr>
              <a:grpSpLocks/>
            </p:cNvGrpSpPr>
            <p:nvPr/>
          </p:nvGrpSpPr>
          <p:grpSpPr bwMode="auto">
            <a:xfrm>
              <a:off x="0" y="2509"/>
              <a:ext cx="454" cy="301"/>
              <a:chOff x="0" y="0"/>
              <a:chExt cx="454" cy="237"/>
            </a:xfrm>
          </p:grpSpPr>
          <p:sp>
            <p:nvSpPr>
              <p:cNvPr id="10281" name="Rectangle 25"/>
              <p:cNvSpPr>
                <a:spLocks noChangeArrowheads="1"/>
              </p:cNvSpPr>
              <p:nvPr/>
            </p:nvSpPr>
            <p:spPr bwMode="auto">
              <a:xfrm>
                <a:off x="46" y="57"/>
                <a:ext cx="408"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82" name="Text Box 26"/>
              <p:cNvSpPr txBox="1">
                <a:spLocks noChangeArrowheads="1"/>
              </p:cNvSpPr>
              <p:nvPr/>
            </p:nvSpPr>
            <p:spPr bwMode="auto">
              <a:xfrm>
                <a:off x="0" y="0"/>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400" b="1">
                    <a:solidFill>
                      <a:schemeClr val="accent2"/>
                    </a:solidFill>
                    <a:latin typeface="华文楷体" panose="02010600040101010101" pitchFamily="2" charset="-122"/>
                    <a:ea typeface="华文楷体" panose="02010600040101010101" pitchFamily="2" charset="-122"/>
                  </a:rPr>
                  <a:t>time</a:t>
                </a:r>
                <a:endParaRPr lang="zh-CN" altLang="zh-CN" sz="2400" b="1">
                  <a:latin typeface="华文楷体" panose="02010600040101010101" pitchFamily="2" charset="-122"/>
                  <a:ea typeface="华文楷体" panose="02010600040101010101" pitchFamily="2" charset="-122"/>
                </a:endParaRPr>
              </a:p>
            </p:txBody>
          </p:sp>
        </p:grpSp>
      </p:grpSp>
      <p:grpSp>
        <p:nvGrpSpPr>
          <p:cNvPr id="10267" name="Group 27"/>
          <p:cNvGrpSpPr>
            <a:grpSpLocks/>
          </p:cNvGrpSpPr>
          <p:nvPr/>
        </p:nvGrpSpPr>
        <p:grpSpPr bwMode="auto">
          <a:xfrm>
            <a:off x="9437688" y="3082925"/>
            <a:ext cx="455612" cy="1473200"/>
            <a:chOff x="0" y="0"/>
            <a:chExt cx="150" cy="307"/>
          </a:xfrm>
        </p:grpSpPr>
        <p:sp>
          <p:nvSpPr>
            <p:cNvPr id="10271" name="AutoShape 28"/>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72" name="Rectangle 29"/>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73" name="Rectangle 30"/>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74" name="AutoShape 31"/>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75" name="Line 32"/>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6" name="Line 33"/>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7" name="Rectangle 34"/>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78" name="Rectangle 35"/>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aphicFrame>
        <p:nvGraphicFramePr>
          <p:cNvPr id="2" name="Object 36"/>
          <p:cNvGraphicFramePr>
            <a:graphicFrameLocks noChangeAspect="1"/>
          </p:cNvGraphicFramePr>
          <p:nvPr/>
        </p:nvGraphicFramePr>
        <p:xfrm>
          <a:off x="6067426" y="2632075"/>
          <a:ext cx="796925" cy="788988"/>
        </p:xfrm>
        <a:graphic>
          <a:graphicData uri="http://schemas.openxmlformats.org/presentationml/2006/ole">
            <mc:AlternateContent xmlns:mc="http://schemas.openxmlformats.org/markup-compatibility/2006">
              <mc:Choice xmlns:v="urn:schemas-microsoft-com:vml" Requires="v">
                <p:oleObj spid="_x0000_s10444" r:id="rId5" imgW="1305309" imgH="1082518" progId="MS_ClipArt_Gallery.2">
                  <p:embed/>
                </p:oleObj>
              </mc:Choice>
              <mc:Fallback>
                <p:oleObj r:id="rId5" imgW="1305309" imgH="1082518" progId="MS_ClipArt_Gallery.2">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7426" y="2632075"/>
                        <a:ext cx="79692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37"/>
          <p:cNvGrpSpPr>
            <a:grpSpLocks/>
          </p:cNvGrpSpPr>
          <p:nvPr/>
        </p:nvGrpSpPr>
        <p:grpSpPr bwMode="auto">
          <a:xfrm>
            <a:off x="6877051" y="2678114"/>
            <a:ext cx="2314575" cy="941387"/>
            <a:chOff x="0" y="0"/>
            <a:chExt cx="1458" cy="593"/>
          </a:xfrm>
        </p:grpSpPr>
        <p:sp>
          <p:nvSpPr>
            <p:cNvPr id="10269" name="Text Box 38"/>
            <p:cNvSpPr txBox="1">
              <a:spLocks noChangeArrowheads="1"/>
            </p:cNvSpPr>
            <p:nvPr/>
          </p:nvSpPr>
          <p:spPr bwMode="auto">
            <a:xfrm>
              <a:off x="0" y="0"/>
              <a:ext cx="115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TCP connection</a:t>
              </a:r>
            </a:p>
            <a:p>
              <a:pP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 req.</a:t>
              </a:r>
              <a:endParaRPr lang="zh-CN" altLang="zh-CN" sz="2400" b="1">
                <a:latin typeface="华文楷体" panose="02010600040101010101" pitchFamily="2" charset="-122"/>
                <a:ea typeface="华文楷体" panose="02010600040101010101" pitchFamily="2" charset="-122"/>
              </a:endParaRPr>
            </a:p>
          </p:txBody>
        </p:sp>
        <p:sp>
          <p:nvSpPr>
            <p:cNvPr id="10270" name="Line 39"/>
            <p:cNvSpPr>
              <a:spLocks noChangeShapeType="1"/>
            </p:cNvSpPr>
            <p:nvPr/>
          </p:nvSpPr>
          <p:spPr bwMode="auto">
            <a:xfrm>
              <a:off x="36" y="318"/>
              <a:ext cx="1422" cy="2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40"/>
          <p:cNvGrpSpPr>
            <a:grpSpLocks/>
          </p:cNvGrpSpPr>
          <p:nvPr/>
        </p:nvGrpSpPr>
        <p:grpSpPr bwMode="auto">
          <a:xfrm>
            <a:off x="6518275" y="3856039"/>
            <a:ext cx="2673350" cy="701675"/>
            <a:chOff x="0" y="-6"/>
            <a:chExt cx="1684" cy="442"/>
          </a:xfrm>
        </p:grpSpPr>
        <p:sp>
          <p:nvSpPr>
            <p:cNvPr id="10265" name="Line 41"/>
            <p:cNvSpPr>
              <a:spLocks noChangeShapeType="1"/>
            </p:cNvSpPr>
            <p:nvPr/>
          </p:nvSpPr>
          <p:spPr bwMode="auto">
            <a:xfrm flipV="1">
              <a:off x="0" y="62"/>
              <a:ext cx="1684" cy="36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0266" name="Group 42"/>
            <p:cNvGrpSpPr>
              <a:grpSpLocks/>
            </p:cNvGrpSpPr>
            <p:nvPr/>
          </p:nvGrpSpPr>
          <p:grpSpPr bwMode="auto">
            <a:xfrm>
              <a:off x="285" y="-6"/>
              <a:ext cx="1213" cy="442"/>
              <a:chOff x="58" y="-4"/>
              <a:chExt cx="947" cy="281"/>
            </a:xfrm>
          </p:grpSpPr>
          <p:sp>
            <p:nvSpPr>
              <p:cNvPr id="5" name="Rectangle 43"/>
              <p:cNvSpPr>
                <a:spLocks noChangeArrowheads="1"/>
              </p:cNvSpPr>
              <p:nvPr/>
            </p:nvSpPr>
            <p:spPr bwMode="auto">
              <a:xfrm>
                <a:off x="58" y="40"/>
                <a:ext cx="906"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68" name="Text Box 44"/>
              <p:cNvSpPr txBox="1">
                <a:spLocks noChangeArrowheads="1"/>
              </p:cNvSpPr>
              <p:nvPr/>
            </p:nvSpPr>
            <p:spPr bwMode="auto">
              <a:xfrm>
                <a:off x="114" y="-4"/>
                <a:ext cx="8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TCP connection</a:t>
                </a:r>
              </a:p>
              <a:p>
                <a:pP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reply.</a:t>
                </a:r>
                <a:endParaRPr lang="zh-CN" altLang="zh-CN" sz="2400" b="1">
                  <a:latin typeface="华文楷体" panose="02010600040101010101" pitchFamily="2" charset="-122"/>
                  <a:ea typeface="华文楷体" panose="02010600040101010101" pitchFamily="2" charset="-122"/>
                </a:endParaRPr>
              </a:p>
            </p:txBody>
          </p:sp>
        </p:grpSp>
      </p:grpSp>
      <p:grpSp>
        <p:nvGrpSpPr>
          <p:cNvPr id="6" name="Group 45"/>
          <p:cNvGrpSpPr>
            <a:grpSpLocks/>
          </p:cNvGrpSpPr>
          <p:nvPr/>
        </p:nvGrpSpPr>
        <p:grpSpPr bwMode="auto">
          <a:xfrm>
            <a:off x="6580188" y="5813426"/>
            <a:ext cx="3001962" cy="676275"/>
            <a:chOff x="0" y="0"/>
            <a:chExt cx="1891" cy="426"/>
          </a:xfrm>
        </p:grpSpPr>
        <p:sp>
          <p:nvSpPr>
            <p:cNvPr id="10261" name="Line 46"/>
            <p:cNvSpPr>
              <a:spLocks noChangeShapeType="1"/>
            </p:cNvSpPr>
            <p:nvPr/>
          </p:nvSpPr>
          <p:spPr bwMode="auto">
            <a:xfrm flipV="1">
              <a:off x="0" y="0"/>
              <a:ext cx="1891" cy="426"/>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7" name="Group 47"/>
            <p:cNvGrpSpPr>
              <a:grpSpLocks/>
            </p:cNvGrpSpPr>
            <p:nvPr/>
          </p:nvGrpSpPr>
          <p:grpSpPr bwMode="auto">
            <a:xfrm>
              <a:off x="679" y="13"/>
              <a:ext cx="643" cy="366"/>
              <a:chOff x="0" y="0"/>
              <a:chExt cx="502" cy="232"/>
            </a:xfrm>
          </p:grpSpPr>
          <p:sp>
            <p:nvSpPr>
              <p:cNvPr id="10263" name="Rectangle 48"/>
              <p:cNvSpPr>
                <a:spLocks noChangeArrowheads="1"/>
              </p:cNvSpPr>
              <p:nvPr/>
            </p:nvSpPr>
            <p:spPr bwMode="auto">
              <a:xfrm>
                <a:off x="58" y="46"/>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64" name="Text Box 49"/>
              <p:cNvSpPr txBox="1">
                <a:spLocks noChangeArrowheads="1"/>
              </p:cNvSpPr>
              <p:nvPr/>
            </p:nvSpPr>
            <p:spPr bwMode="auto">
              <a:xfrm>
                <a:off x="0" y="0"/>
                <a:ext cx="47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400" b="1">
                    <a:solidFill>
                      <a:srgbClr val="FF0000"/>
                    </a:solidFill>
                    <a:latin typeface="华文楷体" panose="02010600040101010101" pitchFamily="2" charset="-122"/>
                    <a:ea typeface="华文楷体" panose="02010600040101010101" pitchFamily="2" charset="-122"/>
                  </a:rPr>
                  <a:t>&lt;file&gt;</a:t>
                </a:r>
                <a:endParaRPr lang="zh-CN" altLang="zh-CN" sz="2400" b="1">
                  <a:latin typeface="华文楷体" panose="02010600040101010101" pitchFamily="2" charset="-122"/>
                  <a:ea typeface="华文楷体" panose="02010600040101010101" pitchFamily="2" charset="-122"/>
                </a:endParaRPr>
              </a:p>
            </p:txBody>
          </p:sp>
        </p:grpSp>
      </p:grpSp>
      <p:grpSp>
        <p:nvGrpSpPr>
          <p:cNvPr id="8" name="Group 50"/>
          <p:cNvGrpSpPr>
            <a:grpSpLocks/>
          </p:cNvGrpSpPr>
          <p:nvPr/>
        </p:nvGrpSpPr>
        <p:grpSpPr bwMode="auto">
          <a:xfrm>
            <a:off x="6359526" y="4926013"/>
            <a:ext cx="4308475" cy="673100"/>
            <a:chOff x="0" y="0"/>
            <a:chExt cx="2714" cy="424"/>
          </a:xfrm>
        </p:grpSpPr>
        <p:sp>
          <p:nvSpPr>
            <p:cNvPr id="9" name="Line 51"/>
            <p:cNvSpPr>
              <a:spLocks noChangeShapeType="1"/>
            </p:cNvSpPr>
            <p:nvPr/>
          </p:nvSpPr>
          <p:spPr bwMode="auto">
            <a:xfrm>
              <a:off x="139" y="0"/>
              <a:ext cx="1937" cy="41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258" name="Group 52"/>
            <p:cNvGrpSpPr>
              <a:grpSpLocks/>
            </p:cNvGrpSpPr>
            <p:nvPr/>
          </p:nvGrpSpPr>
          <p:grpSpPr bwMode="auto">
            <a:xfrm>
              <a:off x="0" y="72"/>
              <a:ext cx="2714" cy="352"/>
              <a:chOff x="0" y="0"/>
              <a:chExt cx="2390" cy="145"/>
            </a:xfrm>
          </p:grpSpPr>
          <p:sp>
            <p:nvSpPr>
              <p:cNvPr id="10259" name="Rectangle 53"/>
              <p:cNvSpPr>
                <a:spLocks noChangeArrowheads="1"/>
              </p:cNvSpPr>
              <p:nvPr/>
            </p:nvSpPr>
            <p:spPr bwMode="auto">
              <a:xfrm>
                <a:off x="40" y="31"/>
                <a:ext cx="2100"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0260" name="Text Box 54"/>
              <p:cNvSpPr txBox="1">
                <a:spLocks noChangeArrowheads="1"/>
              </p:cNvSpPr>
              <p:nvPr/>
            </p:nvSpPr>
            <p:spPr bwMode="auto">
              <a:xfrm>
                <a:off x="0" y="0"/>
                <a:ext cx="239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b="1">
                    <a:solidFill>
                      <a:srgbClr val="FF0000"/>
                    </a:solidFill>
                    <a:latin typeface="华文楷体" panose="02010600040101010101" pitchFamily="2" charset="-122"/>
                    <a:ea typeface="华文楷体" panose="02010600040101010101" pitchFamily="2" charset="-122"/>
                  </a:rPr>
                  <a:t>Get http://www.rpi.edu/index.htm</a:t>
                </a:r>
                <a:endParaRPr lang="zh-CN" altLang="zh-CN" sz="2000" b="1">
                  <a:latin typeface="华文楷体" panose="02010600040101010101" pitchFamily="2" charset="-122"/>
                  <a:ea typeface="华文楷体" panose="02010600040101010101" pitchFamily="2" charset="-122"/>
                </a:endParaRPr>
              </a:p>
            </p:txBody>
          </p:sp>
        </p:gr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1+#ppt_w/2"/>
                                          </p:val>
                                        </p:tav>
                                        <p:tav tm="100000">
                                          <p:val>
                                            <p:strVal val="#ppt_x"/>
                                          </p:val>
                                        </p:tav>
                                      </p:tavLst>
                                    </p:anim>
                                    <p:anim calcmode="lin" valueType="num">
                                      <p:cBhvr additive="base">
                                        <p:cTn id="8" dur="500" fill="hold"/>
                                        <p:tgtEl>
                                          <p:spTgt spid="102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0245"/>
                                        </p:tgtEl>
                                        <p:attrNameLst>
                                          <p:attrName>style.visibility</p:attrName>
                                        </p:attrNameLst>
                                      </p:cBhvr>
                                      <p:to>
                                        <p:strVal val="visible"/>
                                      </p:to>
                                    </p:set>
                                    <p:anim calcmode="lin" valueType="num">
                                      <p:cBhvr additive="base">
                                        <p:cTn id="13" dur="500" fill="hold"/>
                                        <p:tgtEl>
                                          <p:spTgt spid="10245"/>
                                        </p:tgtEl>
                                        <p:attrNameLst>
                                          <p:attrName>ppt_x</p:attrName>
                                        </p:attrNameLst>
                                      </p:cBhvr>
                                      <p:tavLst>
                                        <p:tav tm="0">
                                          <p:val>
                                            <p:strVal val="1+#ppt_w/2"/>
                                          </p:val>
                                        </p:tav>
                                        <p:tav tm="100000">
                                          <p:val>
                                            <p:strVal val="#ppt_x"/>
                                          </p:val>
                                        </p:tav>
                                      </p:tavLst>
                                    </p:anim>
                                    <p:anim calcmode="lin" valueType="num">
                                      <p:cBhvr additive="base">
                                        <p:cTn id="14" dur="500" fill="hold"/>
                                        <p:tgtEl>
                                          <p:spTgt spid="1024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0262"/>
                                        </p:tgtEl>
                                        <p:attrNameLst>
                                          <p:attrName>style.visibility</p:attrName>
                                        </p:attrNameLst>
                                      </p:cBhvr>
                                      <p:to>
                                        <p:strVal val="visible"/>
                                      </p:to>
                                    </p:set>
                                    <p:anim calcmode="lin" valueType="num">
                                      <p:cBhvr additive="base">
                                        <p:cTn id="19" dur="500" fill="hold"/>
                                        <p:tgtEl>
                                          <p:spTgt spid="10262"/>
                                        </p:tgtEl>
                                        <p:attrNameLst>
                                          <p:attrName>ppt_x</p:attrName>
                                        </p:attrNameLst>
                                      </p:cBhvr>
                                      <p:tavLst>
                                        <p:tav tm="0">
                                          <p:val>
                                            <p:strVal val="1+#ppt_w/2"/>
                                          </p:val>
                                        </p:tav>
                                        <p:tav tm="100000">
                                          <p:val>
                                            <p:strVal val="#ppt_x"/>
                                          </p:val>
                                        </p:tav>
                                      </p:tavLst>
                                    </p:anim>
                                    <p:anim calcmode="lin" valueType="num">
                                      <p:cBhvr additive="base">
                                        <p:cTn id="20" dur="500" fill="hold"/>
                                        <p:tgtEl>
                                          <p:spTgt spid="1026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0246"/>
                                        </p:tgtEl>
                                        <p:attrNameLst>
                                          <p:attrName>style.visibility</p:attrName>
                                        </p:attrNameLst>
                                      </p:cBhvr>
                                      <p:to>
                                        <p:strVal val="visible"/>
                                      </p:to>
                                    </p:set>
                                    <p:anim calcmode="lin" valueType="num">
                                      <p:cBhvr additive="base">
                                        <p:cTn id="25" dur="500" fill="hold"/>
                                        <p:tgtEl>
                                          <p:spTgt spid="10246"/>
                                        </p:tgtEl>
                                        <p:attrNameLst>
                                          <p:attrName>ppt_x</p:attrName>
                                        </p:attrNameLst>
                                      </p:cBhvr>
                                      <p:tavLst>
                                        <p:tav tm="0">
                                          <p:val>
                                            <p:strVal val="1+#ppt_w/2"/>
                                          </p:val>
                                        </p:tav>
                                        <p:tav tm="100000">
                                          <p:val>
                                            <p:strVal val="#ppt_x"/>
                                          </p:val>
                                        </p:tav>
                                      </p:tavLst>
                                    </p:anim>
                                    <p:anim calcmode="lin" valueType="num">
                                      <p:cBhvr additive="base">
                                        <p:cTn id="26" dur="500" fill="hold"/>
                                        <p:tgtEl>
                                          <p:spTgt spid="1024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0249"/>
                                        </p:tgtEl>
                                        <p:attrNameLst>
                                          <p:attrName>style.visibility</p:attrName>
                                        </p:attrNameLst>
                                      </p:cBhvr>
                                      <p:to>
                                        <p:strVal val="visible"/>
                                      </p:to>
                                    </p:set>
                                    <p:anim calcmode="lin" valueType="num">
                                      <p:cBhvr additive="base">
                                        <p:cTn id="31" dur="500" fill="hold"/>
                                        <p:tgtEl>
                                          <p:spTgt spid="10249"/>
                                        </p:tgtEl>
                                        <p:attrNameLst>
                                          <p:attrName>ppt_x</p:attrName>
                                        </p:attrNameLst>
                                      </p:cBhvr>
                                      <p:tavLst>
                                        <p:tav tm="0">
                                          <p:val>
                                            <p:strVal val="1+#ppt_w/2"/>
                                          </p:val>
                                        </p:tav>
                                        <p:tav tm="100000">
                                          <p:val>
                                            <p:strVal val="#ppt_x"/>
                                          </p:val>
                                        </p:tav>
                                      </p:tavLst>
                                    </p:anim>
                                    <p:anim calcmode="lin" valueType="num">
                                      <p:cBhvr additive="base">
                                        <p:cTn id="32" dur="500" fill="hold"/>
                                        <p:tgtEl>
                                          <p:spTgt spid="1024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0252"/>
                                        </p:tgtEl>
                                        <p:attrNameLst>
                                          <p:attrName>style.visibility</p:attrName>
                                        </p:attrNameLst>
                                      </p:cBhvr>
                                      <p:to>
                                        <p:strVal val="visible"/>
                                      </p:to>
                                    </p:set>
                                    <p:anim calcmode="lin" valueType="num">
                                      <p:cBhvr additive="base">
                                        <p:cTn id="37" dur="500" fill="hold"/>
                                        <p:tgtEl>
                                          <p:spTgt spid="10252"/>
                                        </p:tgtEl>
                                        <p:attrNameLst>
                                          <p:attrName>ppt_x</p:attrName>
                                        </p:attrNameLst>
                                      </p:cBhvr>
                                      <p:tavLst>
                                        <p:tav tm="0">
                                          <p:val>
                                            <p:strVal val="1+#ppt_w/2"/>
                                          </p:val>
                                        </p:tav>
                                        <p:tav tm="100000">
                                          <p:val>
                                            <p:strVal val="#ppt_x"/>
                                          </p:val>
                                        </p:tav>
                                      </p:tavLst>
                                    </p:anim>
                                    <p:anim calcmode="lin" valueType="num">
                                      <p:cBhvr additive="base">
                                        <p:cTn id="38" dur="500" fill="hold"/>
                                        <p:tgtEl>
                                          <p:spTgt spid="1025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0257"/>
                                        </p:tgtEl>
                                        <p:attrNameLst>
                                          <p:attrName>style.visibility</p:attrName>
                                        </p:attrNameLst>
                                      </p:cBhvr>
                                      <p:to>
                                        <p:strVal val="visible"/>
                                      </p:to>
                                    </p:set>
                                    <p:anim calcmode="lin" valueType="num">
                                      <p:cBhvr additive="base">
                                        <p:cTn id="43" dur="500" fill="hold"/>
                                        <p:tgtEl>
                                          <p:spTgt spid="10257"/>
                                        </p:tgtEl>
                                        <p:attrNameLst>
                                          <p:attrName>ppt_x</p:attrName>
                                        </p:attrNameLst>
                                      </p:cBhvr>
                                      <p:tavLst>
                                        <p:tav tm="0">
                                          <p:val>
                                            <p:strVal val="1+#ppt_w/2"/>
                                          </p:val>
                                        </p:tav>
                                        <p:tav tm="100000">
                                          <p:val>
                                            <p:strVal val="#ppt_x"/>
                                          </p:val>
                                        </p:tav>
                                      </p:tavLst>
                                    </p:anim>
                                    <p:anim calcmode="lin" valueType="num">
                                      <p:cBhvr additive="base">
                                        <p:cTn id="44" dur="500" fill="hold"/>
                                        <p:tgtEl>
                                          <p:spTgt spid="1025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1+#ppt_w/2"/>
                                          </p:val>
                                        </p:tav>
                                        <p:tav tm="100000">
                                          <p:val>
                                            <p:strVal val="#ppt_x"/>
                                          </p:val>
                                        </p:tav>
                                      </p:tavLst>
                                    </p:anim>
                                    <p:anim calcmode="lin" valueType="num">
                                      <p:cBhvr additive="base">
                                        <p:cTn id="5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10267"/>
                                        </p:tgtEl>
                                        <p:attrNameLst>
                                          <p:attrName>style.visibility</p:attrName>
                                        </p:attrNameLst>
                                      </p:cBhvr>
                                      <p:to>
                                        <p:strVal val="visible"/>
                                      </p:to>
                                    </p:set>
                                    <p:anim calcmode="lin" valueType="num">
                                      <p:cBhvr additive="base">
                                        <p:cTn id="55" dur="500" fill="hold"/>
                                        <p:tgtEl>
                                          <p:spTgt spid="10267"/>
                                        </p:tgtEl>
                                        <p:attrNameLst>
                                          <p:attrName>ppt_x</p:attrName>
                                        </p:attrNameLst>
                                      </p:cBhvr>
                                      <p:tavLst>
                                        <p:tav tm="0">
                                          <p:val>
                                            <p:strVal val="1+#ppt_w/2"/>
                                          </p:val>
                                        </p:tav>
                                        <p:tav tm="100000">
                                          <p:val>
                                            <p:strVal val="#ppt_x"/>
                                          </p:val>
                                        </p:tav>
                                      </p:tavLst>
                                    </p:anim>
                                    <p:anim calcmode="lin" valueType="num">
                                      <p:cBhvr additive="base">
                                        <p:cTn id="56" dur="500" fill="hold"/>
                                        <p:tgtEl>
                                          <p:spTgt spid="10267"/>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1+#ppt_w/2"/>
                                          </p:val>
                                        </p:tav>
                                        <p:tav tm="100000">
                                          <p:val>
                                            <p:strVal val="#ppt_x"/>
                                          </p:val>
                                        </p:tav>
                                      </p:tavLst>
                                    </p:anim>
                                    <p:anim calcmode="lin" valueType="num">
                                      <p:cBhvr additive="base">
                                        <p:cTn id="6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1+#ppt_w/2"/>
                                          </p:val>
                                        </p:tav>
                                        <p:tav tm="100000">
                                          <p:val>
                                            <p:strVal val="#ppt_x"/>
                                          </p:val>
                                        </p:tav>
                                      </p:tavLst>
                                    </p:anim>
                                    <p:anim calcmode="lin" valueType="num">
                                      <p:cBhvr additive="base">
                                        <p:cTn id="6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anim calcmode="lin" valueType="num">
                                      <p:cBhvr additive="base">
                                        <p:cTn id="73" dur="500" fill="hold"/>
                                        <p:tgtEl>
                                          <p:spTgt spid="8"/>
                                        </p:tgtEl>
                                        <p:attrNameLst>
                                          <p:attrName>ppt_x</p:attrName>
                                        </p:attrNameLst>
                                      </p:cBhvr>
                                      <p:tavLst>
                                        <p:tav tm="0">
                                          <p:val>
                                            <p:strVal val="1+#ppt_w/2"/>
                                          </p:val>
                                        </p:tav>
                                        <p:tav tm="100000">
                                          <p:val>
                                            <p:strVal val="#ppt_x"/>
                                          </p:val>
                                        </p:tav>
                                      </p:tavLst>
                                    </p:anim>
                                    <p:anim calcmode="lin" valueType="num">
                                      <p:cBhvr additive="base">
                                        <p:cTn id="7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 calcmode="lin" valueType="num">
                                      <p:cBhvr additive="base">
                                        <p:cTn id="79" dur="500" fill="hold"/>
                                        <p:tgtEl>
                                          <p:spTgt spid="6"/>
                                        </p:tgtEl>
                                        <p:attrNameLst>
                                          <p:attrName>ppt_x</p:attrName>
                                        </p:attrNameLst>
                                      </p:cBhvr>
                                      <p:tavLst>
                                        <p:tav tm="0">
                                          <p:val>
                                            <p:strVal val="1+#ppt_w/2"/>
                                          </p:val>
                                        </p:tav>
                                        <p:tav tm="100000">
                                          <p:val>
                                            <p:strVal val="#ppt_x"/>
                                          </p:val>
                                        </p:tav>
                                      </p:tavLst>
                                    </p:anim>
                                    <p:anim calcmode="lin" valueType="num">
                                      <p:cBhvr additive="base">
                                        <p:cTn id="8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09800" y="193675"/>
            <a:ext cx="7772400" cy="596900"/>
          </a:xfrm>
        </p:spPr>
        <p:txBody>
          <a:bodyPr>
            <a:normAutofit fontScale="90000"/>
          </a:bodyPr>
          <a:lstStyle/>
          <a:p>
            <a:pPr algn="ctr" eaLnBrk="1" hangingPunct="1"/>
            <a:r>
              <a:rPr lang="zh-CN" altLang="zh-CN" dirty="0"/>
              <a:t>协议三要素</a:t>
            </a:r>
          </a:p>
        </p:txBody>
      </p:sp>
      <p:sp>
        <p:nvSpPr>
          <p:cNvPr id="11267" name="Text Box 3"/>
          <p:cNvSpPr txBox="1">
            <a:spLocks noChangeArrowheads="1"/>
          </p:cNvSpPr>
          <p:nvPr/>
        </p:nvSpPr>
        <p:spPr bwMode="auto">
          <a:xfrm>
            <a:off x="2259014" y="2190750"/>
            <a:ext cx="8131175" cy="3145476"/>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6286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1" eaLnBrk="1" hangingPunct="1">
              <a:buClr>
                <a:schemeClr val="accent2"/>
              </a:buClr>
              <a:buSzPct val="70000"/>
              <a:buFont typeface="Wingdings" panose="05000000000000000000" pitchFamily="2" charset="2"/>
              <a:buAutoNum type="arabicParenR"/>
            </a:pPr>
            <a:r>
              <a:rPr lang="zh-CN" altLang="en-US" sz="3200" b="1">
                <a:latin typeface="华文楷体" panose="02010600040101010101" pitchFamily="2" charset="-122"/>
                <a:ea typeface="华文楷体" panose="02010600040101010101" pitchFamily="2" charset="-122"/>
              </a:rPr>
              <a:t>Format of messages（ </a:t>
            </a:r>
            <a:r>
              <a:rPr lang="zh-CN" altLang="en-US" sz="2400" b="1">
                <a:latin typeface="华文楷体" panose="02010600040101010101" pitchFamily="2" charset="-122"/>
                <a:ea typeface="华文楷体" panose="02010600040101010101" pitchFamily="2" charset="-122"/>
              </a:rPr>
              <a:t>Syntax</a:t>
            </a:r>
            <a:r>
              <a:rPr lang="zh-CN" altLang="en-US" sz="3200" b="1">
                <a:solidFill>
                  <a:schemeClr val="accent2"/>
                </a:solidFill>
                <a:latin typeface="华文楷体" panose="02010600040101010101" pitchFamily="2" charset="-122"/>
                <a:ea typeface="华文楷体" panose="02010600040101010101" pitchFamily="2" charset="-122"/>
              </a:rPr>
              <a:t>语法</a:t>
            </a:r>
            <a:r>
              <a:rPr lang="zh-CN" altLang="en-US" sz="3200" b="1">
                <a:latin typeface="华文楷体" panose="02010600040101010101" pitchFamily="2" charset="-122"/>
                <a:ea typeface="华文楷体" panose="02010600040101010101" pitchFamily="2" charset="-122"/>
              </a:rPr>
              <a:t>）</a:t>
            </a:r>
          </a:p>
          <a:p>
            <a:pPr lvl="1" eaLnBrk="1" hangingPunct="1">
              <a:spcAft>
                <a:spcPct val="300000"/>
              </a:spcAft>
              <a:buClr>
                <a:schemeClr val="accent2"/>
              </a:buClr>
              <a:buSzPct val="70000"/>
              <a:buFont typeface="Wingdings" panose="05000000000000000000" pitchFamily="2" charset="2"/>
              <a:buAutoNum type="arabicParenR"/>
            </a:pPr>
            <a:r>
              <a:rPr lang="zh-CN" altLang="en-US" sz="3200" b="1">
                <a:latin typeface="华文楷体" panose="02010600040101010101" pitchFamily="2" charset="-122"/>
                <a:ea typeface="华文楷体" panose="02010600040101010101" pitchFamily="2" charset="-122"/>
              </a:rPr>
              <a:t>Meaning of messages（ </a:t>
            </a:r>
            <a:r>
              <a:rPr lang="zh-CN" altLang="en-US" sz="2400" b="1">
                <a:latin typeface="华文楷体" panose="02010600040101010101" pitchFamily="2" charset="-122"/>
                <a:ea typeface="华文楷体" panose="02010600040101010101" pitchFamily="2" charset="-122"/>
              </a:rPr>
              <a:t>Semantics</a:t>
            </a:r>
            <a:r>
              <a:rPr lang="zh-CN" altLang="en-US" sz="3200" b="1">
                <a:solidFill>
                  <a:schemeClr val="accent2"/>
                </a:solidFill>
                <a:latin typeface="华文楷体" panose="02010600040101010101" pitchFamily="2" charset="-122"/>
                <a:ea typeface="华文楷体" panose="02010600040101010101" pitchFamily="2" charset="-122"/>
              </a:rPr>
              <a:t>语义</a:t>
            </a:r>
            <a:r>
              <a:rPr lang="zh-CN" altLang="en-US" sz="3200" b="1">
                <a:latin typeface="华文楷体" panose="02010600040101010101" pitchFamily="2" charset="-122"/>
                <a:ea typeface="华文楷体" panose="02010600040101010101" pitchFamily="2" charset="-122"/>
              </a:rPr>
              <a:t>）</a:t>
            </a:r>
            <a:br>
              <a:rPr lang="zh-CN" altLang="en-US" sz="3200" b="1">
                <a:latin typeface="华文楷体" panose="02010600040101010101" pitchFamily="2" charset="-122"/>
                <a:ea typeface="华文楷体" panose="02010600040101010101" pitchFamily="2" charset="-122"/>
              </a:rPr>
            </a:br>
            <a:br>
              <a:rPr lang="zh-CN" altLang="en-US" sz="3200" b="1">
                <a:latin typeface="华文楷体" panose="02010600040101010101" pitchFamily="2" charset="-122"/>
                <a:ea typeface="华文楷体" panose="02010600040101010101" pitchFamily="2" charset="-122"/>
              </a:rPr>
            </a:br>
            <a:br>
              <a:rPr lang="zh-CN" altLang="en-US" sz="3200" b="1">
                <a:latin typeface="华文楷体" panose="02010600040101010101" pitchFamily="2" charset="-122"/>
                <a:ea typeface="华文楷体" panose="02010600040101010101" pitchFamily="2" charset="-122"/>
              </a:rPr>
            </a:br>
            <a:br>
              <a:rPr lang="zh-CN" altLang="en-US" sz="3200" b="1">
                <a:latin typeface="华文楷体" panose="02010600040101010101" pitchFamily="2" charset="-122"/>
                <a:ea typeface="华文楷体" panose="02010600040101010101" pitchFamily="2" charset="-122"/>
              </a:rPr>
            </a:br>
            <a:r>
              <a:rPr lang="zh-CN" altLang="en-US" sz="3200" b="1">
                <a:solidFill>
                  <a:schemeClr val="accent2"/>
                </a:solidFill>
                <a:latin typeface="华文楷体" panose="02010600040101010101" pitchFamily="2" charset="-122"/>
                <a:ea typeface="华文楷体" panose="02010600040101010101" pitchFamily="2" charset="-122"/>
              </a:rPr>
              <a:t>3）</a:t>
            </a:r>
            <a:r>
              <a:rPr lang="zh-CN" altLang="en-US" sz="3200" b="1">
                <a:latin typeface="华文楷体" panose="02010600040101010101" pitchFamily="2" charset="-122"/>
                <a:ea typeface="华文楷体" panose="02010600040101010101" pitchFamily="2" charset="-122"/>
              </a:rPr>
              <a:t>Procedure for handling problems（</a:t>
            </a:r>
            <a:r>
              <a:rPr lang="zh-CN" altLang="en-US" sz="3200" b="1">
                <a:solidFill>
                  <a:schemeClr val="accent2"/>
                </a:solidFill>
                <a:latin typeface="华文楷体" panose="02010600040101010101" pitchFamily="2" charset="-122"/>
                <a:ea typeface="华文楷体" panose="02010600040101010101" pitchFamily="2" charset="-122"/>
              </a:rPr>
              <a:t>时序</a:t>
            </a:r>
            <a:r>
              <a:rPr lang="zh-CN" altLang="en-US" sz="3200" b="1">
                <a:latin typeface="华文楷体" panose="02010600040101010101" pitchFamily="2" charset="-122"/>
                <a:ea typeface="华文楷体" panose="02010600040101010101" pitchFamily="2" charset="-122"/>
              </a:rPr>
              <a:t>）</a:t>
            </a:r>
          </a:p>
        </p:txBody>
      </p:sp>
      <p:sp>
        <p:nvSpPr>
          <p:cNvPr id="11268" name="AutoShape 4"/>
          <p:cNvSpPr>
            <a:spLocks noChangeArrowheads="1"/>
          </p:cNvSpPr>
          <p:nvPr/>
        </p:nvSpPr>
        <p:spPr bwMode="auto">
          <a:xfrm>
            <a:off x="4379914" y="1260476"/>
            <a:ext cx="3260725" cy="822325"/>
          </a:xfrm>
          <a:prstGeom prst="wedgeRoundRectCallout">
            <a:avLst>
              <a:gd name="adj1" fmla="val -61051"/>
              <a:gd name="adj2" fmla="val 82625"/>
              <a:gd name="adj3" fmla="val 16667"/>
            </a:avLst>
          </a:prstGeom>
          <a:solidFill>
            <a:schemeClr val="accent1">
              <a:alpha val="50195"/>
            </a:schemeClr>
          </a:solidFill>
          <a:ln w="9525">
            <a:solidFill>
              <a:schemeClr val="tx1"/>
            </a:solidFill>
            <a:miter lim="800000"/>
            <a:headEnd/>
            <a:tailEnd/>
          </a:ln>
        </p:spPr>
        <p:txBody>
          <a:bodyPr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69938" indent="-312738">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1">
              <a:buClr>
                <a:schemeClr val="folHlink"/>
              </a:buClr>
              <a:buSzPct val="75000"/>
              <a:buFont typeface="Wingdings" panose="05000000000000000000" pitchFamily="2" charset="2"/>
              <a:buChar char="ü"/>
            </a:pPr>
            <a:r>
              <a:rPr lang="zh-CN" altLang="zh-CN" sz="2400" b="1">
                <a:solidFill>
                  <a:schemeClr val="hlink"/>
                </a:solidFill>
                <a:latin typeface="华文楷体" panose="02010600040101010101" pitchFamily="2" charset="-122"/>
                <a:ea typeface="华文楷体" panose="02010600040101010101" pitchFamily="2" charset="-122"/>
              </a:rPr>
              <a:t>包含那些域?</a:t>
            </a:r>
          </a:p>
          <a:p>
            <a:pPr lvl="1">
              <a:buClr>
                <a:schemeClr val="folHlink"/>
              </a:buClr>
              <a:buSzPct val="75000"/>
              <a:buFont typeface="Wingdings" panose="05000000000000000000" pitchFamily="2" charset="2"/>
              <a:buChar char="ü"/>
            </a:pPr>
            <a:r>
              <a:rPr lang="zh-CN" altLang="zh-CN" sz="2400" b="1">
                <a:solidFill>
                  <a:schemeClr val="hlink"/>
                </a:solidFill>
                <a:latin typeface="华文楷体" panose="02010600040101010101" pitchFamily="2" charset="-122"/>
                <a:ea typeface="华文楷体" panose="02010600040101010101" pitchFamily="2" charset="-122"/>
              </a:rPr>
              <a:t>格式如何?</a:t>
            </a:r>
          </a:p>
        </p:txBody>
      </p:sp>
      <p:sp>
        <p:nvSpPr>
          <p:cNvPr id="11269" name="AutoShape 5"/>
          <p:cNvSpPr>
            <a:spLocks noChangeArrowheads="1"/>
          </p:cNvSpPr>
          <p:nvPr/>
        </p:nvSpPr>
        <p:spPr bwMode="auto">
          <a:xfrm>
            <a:off x="4714876" y="3394076"/>
            <a:ext cx="5027613" cy="1400175"/>
          </a:xfrm>
          <a:prstGeom prst="wedgeRoundRectCallout">
            <a:avLst>
              <a:gd name="adj1" fmla="val -66769"/>
              <a:gd name="adj2" fmla="val -60546"/>
              <a:gd name="adj3" fmla="val 16667"/>
            </a:avLst>
          </a:prstGeom>
          <a:solidFill>
            <a:schemeClr val="accent1">
              <a:alpha val="50000"/>
            </a:schemeClr>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485775" indent="-295275" eaLnBrk="0" hangingPunct="0">
              <a:defRPr sz="2800">
                <a:solidFill>
                  <a:schemeClr val="tx1"/>
                </a:solidFill>
                <a:latin typeface="Times New Roman" panose="02020603050405020304" pitchFamily="18" charset="0"/>
                <a:ea typeface="宋体" panose="02010600030101010101" pitchFamily="2" charset="-122"/>
              </a:defRPr>
            </a:lvl2pPr>
            <a:lvl3pPr eaLnBrk="0" hangingPunct="0">
              <a:defRPr sz="2800">
                <a:solidFill>
                  <a:schemeClr val="tx1"/>
                </a:solidFill>
                <a:latin typeface="Times New Roman" panose="02020603050405020304" pitchFamily="18" charset="0"/>
                <a:ea typeface="宋体" panose="02010600030101010101" pitchFamily="2" charset="-122"/>
              </a:defRPr>
            </a:lvl3pPr>
            <a:lvl4pPr eaLnBrk="0" hangingPunct="0">
              <a:defRPr sz="2800">
                <a:solidFill>
                  <a:schemeClr val="tx1"/>
                </a:solidFill>
                <a:latin typeface="Times New Roman" panose="02020603050405020304" pitchFamily="18" charset="0"/>
                <a:ea typeface="宋体" panose="02010600030101010101" pitchFamily="2" charset="-122"/>
              </a:defRPr>
            </a:lvl4pPr>
            <a:lvl5pPr eaLnBrk="0" hangingPunct="0">
              <a:defRPr sz="28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 typeface="Arial" panose="020B0604020202020204" pitchFamily="34" charset="0"/>
              <a:buNone/>
              <a:defRPr/>
            </a:pPr>
            <a:r>
              <a:rPr lang="zh-CN" altLang="zh-CN" sz="2400" b="1">
                <a:solidFill>
                  <a:schemeClr val="hlink"/>
                </a:solidFill>
                <a:latin typeface="华文楷体" panose="02010600040101010101" pitchFamily="2" charset="-122"/>
                <a:ea typeface="华文楷体" panose="02010600040101010101" pitchFamily="2" charset="-122"/>
              </a:rPr>
              <a:t> </a:t>
            </a:r>
            <a:r>
              <a:rPr lang="zh-CN" altLang="en-US" sz="2400" b="1">
                <a:solidFill>
                  <a:schemeClr val="hlink"/>
                </a:solidFill>
                <a:latin typeface="华文楷体" panose="02010600040101010101" pitchFamily="2" charset="-122"/>
                <a:ea typeface="华文楷体" panose="02010600040101010101" pitchFamily="2" charset="-122"/>
              </a:rPr>
              <a:t>报文的含义是什么</a:t>
            </a:r>
            <a:r>
              <a:rPr lang="zh-CN" altLang="zh-CN" sz="2400" b="1">
                <a:solidFill>
                  <a:schemeClr val="hlink"/>
                </a:solidFill>
                <a:latin typeface="华文楷体" panose="02010600040101010101" pitchFamily="2" charset="-122"/>
                <a:ea typeface="华文楷体" panose="02010600040101010101" pitchFamily="2" charset="-122"/>
              </a:rPr>
              <a:t>?</a:t>
            </a:r>
          </a:p>
          <a:p>
            <a:pPr lvl="1">
              <a:spcBef>
                <a:spcPct val="20000"/>
              </a:spcBef>
              <a:buClr>
                <a:schemeClr val="folHlink"/>
              </a:buClr>
              <a:buSzPct val="75000"/>
              <a:buFont typeface="Wingdings" panose="05000000000000000000" pitchFamily="2" charset="2"/>
              <a:buChar char="§"/>
              <a:defRPr/>
            </a:pPr>
            <a:r>
              <a:rPr lang="zh-CN" altLang="en-US" sz="2400" b="1">
                <a:solidFill>
                  <a:schemeClr val="hlink"/>
                </a:solidFill>
                <a:latin typeface="华文楷体" panose="02010600040101010101" pitchFamily="2" charset="-122"/>
                <a:ea typeface="华文楷体" panose="02010600040101010101" pitchFamily="2" charset="-122"/>
              </a:rPr>
              <a:t>比如</a:t>
            </a:r>
            <a:r>
              <a:rPr lang="zh-CN" altLang="zh-CN" sz="2400" b="1">
                <a:solidFill>
                  <a:schemeClr val="hlink"/>
                </a:solidFill>
                <a:latin typeface="华文楷体" panose="02010600040101010101" pitchFamily="2" charset="-122"/>
                <a:ea typeface="华文楷体" panose="02010600040101010101" pitchFamily="2" charset="-122"/>
              </a:rPr>
              <a:t>, not-OK </a:t>
            </a:r>
            <a:r>
              <a:rPr lang="zh-CN" altLang="en-US" sz="2400" b="1">
                <a:solidFill>
                  <a:schemeClr val="hlink"/>
                </a:solidFill>
                <a:latin typeface="华文楷体" panose="02010600040101010101" pitchFamily="2" charset="-122"/>
                <a:ea typeface="华文楷体" panose="02010600040101010101" pitchFamily="2" charset="-122"/>
              </a:rPr>
              <a:t>报文表示接收方收到一个有错或重复的报文</a:t>
            </a:r>
            <a:r>
              <a:rPr lang="zh-CN" altLang="en-US" sz="1800" b="1">
                <a:effectLst>
                  <a:outerShdw blurRad="38100" dist="38100" dir="2700000" algn="tl">
                    <a:srgbClr val="FFFFFF"/>
                  </a:outerShdw>
                </a:effectLst>
                <a:latin typeface="华文楷体" panose="02010600040101010101" pitchFamily="2" charset="-122"/>
                <a:ea typeface="华文楷体" panose="02010600040101010101" pitchFamily="2" charset="-122"/>
              </a:rPr>
              <a:t> </a:t>
            </a:r>
          </a:p>
        </p:txBody>
      </p:sp>
      <p:sp>
        <p:nvSpPr>
          <p:cNvPr id="11270" name="AutoShape 6"/>
          <p:cNvSpPr>
            <a:spLocks noChangeArrowheads="1"/>
          </p:cNvSpPr>
          <p:nvPr/>
        </p:nvSpPr>
        <p:spPr bwMode="auto">
          <a:xfrm>
            <a:off x="2773363" y="5591175"/>
            <a:ext cx="5429250" cy="1023938"/>
          </a:xfrm>
          <a:prstGeom prst="wedgeRoundRectCallout">
            <a:avLst>
              <a:gd name="adj1" fmla="val -1843"/>
              <a:gd name="adj2" fmla="val -82713"/>
              <a:gd name="adj3" fmla="val 16667"/>
            </a:avLst>
          </a:prstGeom>
          <a:solidFill>
            <a:schemeClr val="accent1">
              <a:alpha val="50195"/>
            </a:schemeClr>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    </a:t>
            </a:r>
            <a:r>
              <a:rPr lang="zh-CN" altLang="zh-CN" sz="2400" b="1">
                <a:solidFill>
                  <a:schemeClr val="hlink"/>
                </a:solidFill>
                <a:latin typeface="华文楷体" panose="02010600040101010101" pitchFamily="2" charset="-122"/>
                <a:ea typeface="华文楷体" panose="02010600040101010101" pitchFamily="2" charset="-122"/>
              </a:rPr>
              <a:t>对事件实现顺序的详细说明。比如，收到not-OK报文后,重发该报文</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267">
                                            <p:bg/>
                                          </p:spTgt>
                                        </p:tgtEl>
                                        <p:attrNameLst>
                                          <p:attrName>style.visibility</p:attrName>
                                        </p:attrNameLst>
                                      </p:cBhvr>
                                      <p:to>
                                        <p:strVal val="visible"/>
                                      </p:to>
                                    </p:set>
                                    <p:anim calcmode="lin" valueType="num">
                                      <p:cBhvr additive="base">
                                        <p:cTn id="7" dur="500" fill="hold"/>
                                        <p:tgtEl>
                                          <p:spTgt spid="11267">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7">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267">
                                            <p:txEl>
                                              <p:pRg st="0" end="0"/>
                                            </p:txEl>
                                          </p:spTgt>
                                        </p:tgtEl>
                                        <p:attrNameLst>
                                          <p:attrName>style.visibility</p:attrName>
                                        </p:attrNameLst>
                                      </p:cBhvr>
                                      <p:to>
                                        <p:strVal val="visible"/>
                                      </p:to>
                                    </p:set>
                                    <p:anim calcmode="lin" valueType="num">
                                      <p:cBhvr additive="base">
                                        <p:cTn id="13" dur="500" fill="hold"/>
                                        <p:tgtEl>
                                          <p:spTgt spid="1126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267">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1267">
                                            <p:txEl>
                                              <p:pRg st="1" end="1"/>
                                            </p:txEl>
                                          </p:spTgt>
                                        </p:tgtEl>
                                        <p:attrNameLst>
                                          <p:attrName>style.visibility</p:attrName>
                                        </p:attrNameLst>
                                      </p:cBhvr>
                                      <p:to>
                                        <p:strVal val="visible"/>
                                      </p:to>
                                    </p:set>
                                    <p:anim calcmode="lin" valueType="num">
                                      <p:cBhvr additive="base">
                                        <p:cTn id="17" dur="500" fill="hold"/>
                                        <p:tgtEl>
                                          <p:spTgt spid="11267">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1268"/>
                                        </p:tgtEl>
                                        <p:attrNameLst>
                                          <p:attrName>style.visibility</p:attrName>
                                        </p:attrNameLst>
                                      </p:cBhvr>
                                      <p:to>
                                        <p:strVal val="visible"/>
                                      </p:to>
                                    </p:set>
                                    <p:anim calcmode="lin" valueType="num">
                                      <p:cBhvr additive="base">
                                        <p:cTn id="23" dur="500" fill="hold"/>
                                        <p:tgtEl>
                                          <p:spTgt spid="11268"/>
                                        </p:tgtEl>
                                        <p:attrNameLst>
                                          <p:attrName>ppt_x</p:attrName>
                                        </p:attrNameLst>
                                      </p:cBhvr>
                                      <p:tavLst>
                                        <p:tav tm="0">
                                          <p:val>
                                            <p:strVal val="1+#ppt_w/2"/>
                                          </p:val>
                                        </p:tav>
                                        <p:tav tm="100000">
                                          <p:val>
                                            <p:strVal val="#ppt_x"/>
                                          </p:val>
                                        </p:tav>
                                      </p:tavLst>
                                    </p:anim>
                                    <p:anim calcmode="lin" valueType="num">
                                      <p:cBhvr additive="base">
                                        <p:cTn id="24"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1269"/>
                                        </p:tgtEl>
                                        <p:attrNameLst>
                                          <p:attrName>style.visibility</p:attrName>
                                        </p:attrNameLst>
                                      </p:cBhvr>
                                      <p:to>
                                        <p:strVal val="visible"/>
                                      </p:to>
                                    </p:set>
                                    <p:anim calcmode="lin" valueType="num">
                                      <p:cBhvr additive="base">
                                        <p:cTn id="29" dur="500" fill="hold"/>
                                        <p:tgtEl>
                                          <p:spTgt spid="11269"/>
                                        </p:tgtEl>
                                        <p:attrNameLst>
                                          <p:attrName>ppt_x</p:attrName>
                                        </p:attrNameLst>
                                      </p:cBhvr>
                                      <p:tavLst>
                                        <p:tav tm="0">
                                          <p:val>
                                            <p:strVal val="1+#ppt_w/2"/>
                                          </p:val>
                                        </p:tav>
                                        <p:tav tm="100000">
                                          <p:val>
                                            <p:strVal val="#ppt_x"/>
                                          </p:val>
                                        </p:tav>
                                      </p:tavLst>
                                    </p:anim>
                                    <p:anim calcmode="lin" valueType="num">
                                      <p:cBhvr additive="base">
                                        <p:cTn id="30"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1270"/>
                                        </p:tgtEl>
                                        <p:attrNameLst>
                                          <p:attrName>style.visibility</p:attrName>
                                        </p:attrNameLst>
                                      </p:cBhvr>
                                      <p:to>
                                        <p:strVal val="visible"/>
                                      </p:to>
                                    </p:set>
                                    <p:anim calcmode="lin" valueType="num">
                                      <p:cBhvr additive="base">
                                        <p:cTn id="35" dur="500" fill="hold"/>
                                        <p:tgtEl>
                                          <p:spTgt spid="11270"/>
                                        </p:tgtEl>
                                        <p:attrNameLst>
                                          <p:attrName>ppt_x</p:attrName>
                                        </p:attrNameLst>
                                      </p:cBhvr>
                                      <p:tavLst>
                                        <p:tav tm="0">
                                          <p:val>
                                            <p:strVal val="1+#ppt_w/2"/>
                                          </p:val>
                                        </p:tav>
                                        <p:tav tm="100000">
                                          <p:val>
                                            <p:strVal val="#ppt_x"/>
                                          </p:val>
                                        </p:tav>
                                      </p:tavLst>
                                    </p:anim>
                                    <p:anim calcmode="lin" valueType="num">
                                      <p:cBhvr additive="base">
                                        <p:cTn id="36" dur="500" fill="hold"/>
                                        <p:tgtEl>
                                          <p:spTgt spid="112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nimBg="1"/>
      <p:bldP spid="11268" grpId="0" animBg="1"/>
      <p:bldP spid="11269" grpId="0" animBg="1"/>
      <p:bldP spid="1127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09800" y="171450"/>
            <a:ext cx="7772400" cy="750888"/>
          </a:xfrm>
        </p:spPr>
        <p:txBody>
          <a:bodyPr/>
          <a:lstStyle/>
          <a:p>
            <a:pPr algn="ctr" eaLnBrk="1" hangingPunct="1"/>
            <a:r>
              <a:rPr lang="zh-CN" altLang="zh-CN"/>
              <a:t>协议的必要性</a:t>
            </a:r>
          </a:p>
        </p:txBody>
      </p:sp>
      <p:sp>
        <p:nvSpPr>
          <p:cNvPr id="12291" name="Text Box 3"/>
          <p:cNvSpPr txBox="1">
            <a:spLocks noChangeArrowheads="1"/>
          </p:cNvSpPr>
          <p:nvPr/>
        </p:nvSpPr>
        <p:spPr bwMode="auto">
          <a:xfrm>
            <a:off x="2209800" y="1420749"/>
            <a:ext cx="8015287" cy="451200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57238" indent="-268288">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
                <a:schemeClr val="tx2"/>
              </a:buClr>
              <a:buSzPct val="75000"/>
              <a:buFont typeface="Wingdings" panose="05000000000000000000" pitchFamily="2" charset="2"/>
              <a:buChar char="t"/>
            </a:pPr>
            <a:r>
              <a:rPr lang="zh-CN" altLang="zh-CN" b="1">
                <a:solidFill>
                  <a:schemeClr val="accent2"/>
                </a:solidFill>
                <a:latin typeface="华文楷体" panose="02010600040101010101" pitchFamily="2" charset="-122"/>
                <a:ea typeface="华文楷体" panose="02010600040101010101" pitchFamily="2" charset="-122"/>
              </a:rPr>
              <a:t>硬件只负责低层</a:t>
            </a:r>
            <a:r>
              <a:rPr lang="zh-CN" altLang="zh-CN" sz="2800" b="1">
                <a:latin typeface="华文楷体" panose="02010600040101010101" pitchFamily="2" charset="-122"/>
                <a:ea typeface="华文楷体" panose="02010600040101010101" pitchFamily="2" charset="-122"/>
              </a:rPr>
              <a:t>（一般</a:t>
            </a:r>
            <a:r>
              <a:rPr lang="zh-CN" altLang="zh-CN" sz="2800">
                <a:latin typeface="华文楷体" panose="02010600040101010101" pitchFamily="2" charset="-122"/>
                <a:ea typeface="华文楷体" panose="02010600040101010101" pitchFamily="2" charset="-122"/>
              </a:rPr>
              <a:t>只负责数据的收发</a:t>
            </a:r>
            <a:r>
              <a:rPr lang="zh-CN" altLang="zh-CN" sz="2800" b="1">
                <a:latin typeface="华文楷体" panose="02010600040101010101" pitchFamily="2" charset="-122"/>
                <a:ea typeface="华文楷体" panose="02010600040101010101" pitchFamily="2" charset="-122"/>
              </a:rPr>
              <a:t>）</a:t>
            </a:r>
          </a:p>
          <a:p>
            <a:pPr eaLnBrk="1" hangingPunct="1">
              <a:spcBef>
                <a:spcPct val="10000"/>
              </a:spcBef>
              <a:buClr>
                <a:schemeClr val="tx2"/>
              </a:buClr>
              <a:buSzPct val="75000"/>
              <a:buFont typeface="Wingdings" panose="05000000000000000000" pitchFamily="2" charset="2"/>
              <a:buChar char="t"/>
            </a:pPr>
            <a:r>
              <a:rPr lang="zh-CN" altLang="zh-CN" b="1">
                <a:solidFill>
                  <a:schemeClr val="accent2"/>
                </a:solidFill>
                <a:latin typeface="华文楷体" panose="02010600040101010101" pitchFamily="2" charset="-122"/>
                <a:ea typeface="华文楷体" panose="02010600040101010101" pitchFamily="2" charset="-122"/>
              </a:rPr>
              <a:t>可能发生许多问题</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比特出错或破坏 </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报文丢失</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重复报文</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报文传送顺序错</a:t>
            </a:r>
          </a:p>
          <a:p>
            <a:pPr eaLnBrk="1" hangingPunct="1">
              <a:spcBef>
                <a:spcPct val="10000"/>
              </a:spcBef>
              <a:buClr>
                <a:schemeClr val="tx2"/>
              </a:buClr>
              <a:buSzPct val="75000"/>
              <a:buFont typeface="Wingdings" panose="05000000000000000000" pitchFamily="2" charset="2"/>
              <a:buChar char="t"/>
            </a:pPr>
            <a:r>
              <a:rPr lang="zh-CN" altLang="zh-CN" b="1">
                <a:solidFill>
                  <a:schemeClr val="accent2"/>
                </a:solidFill>
                <a:latin typeface="华文楷体" panose="02010600040101010101" pitchFamily="2" charset="-122"/>
                <a:ea typeface="华文楷体" panose="02010600040101010101" pitchFamily="2" charset="-122"/>
              </a:rPr>
              <a:t>需要采取措施来处理</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一个网络连接多台计算机</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同一个计算机上运行有多个应用进程</a:t>
            </a:r>
          </a:p>
          <a:p>
            <a:pPr lvl="1" eaLnBrk="1" hangingPunct="1">
              <a:spcBef>
                <a:spcPct val="10000"/>
              </a:spcBef>
              <a:buClr>
                <a:schemeClr val="accent2"/>
              </a:buClr>
              <a:buSzPct val="70000"/>
              <a:buFont typeface="Wingdings" panose="05000000000000000000" pitchFamily="2" charset="2"/>
              <a:buChar char="t"/>
            </a:pPr>
            <a:r>
              <a:rPr lang="zh-CN" altLang="zh-CN" sz="2400">
                <a:latin typeface="华文楷体" panose="02010600040101010101" pitchFamily="2" charset="-122"/>
                <a:ea typeface="华文楷体" panose="02010600040101010101" pitchFamily="2" charset="-122"/>
              </a:rPr>
              <a:t>同一个计算机上的一个应用具有多个拷贝</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 calcmode="lin" valueType="num">
                                      <p:cBhvr additive="base">
                                        <p:cTn id="17" dur="500" fill="hold"/>
                                        <p:tgtEl>
                                          <p:spTgt spid="1229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229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2291">
                                            <p:txEl>
                                              <p:pRg st="3" end="3"/>
                                            </p:txEl>
                                          </p:spTgt>
                                        </p:tgtEl>
                                        <p:attrNameLst>
                                          <p:attrName>style.visibility</p:attrName>
                                        </p:attrNameLst>
                                      </p:cBhvr>
                                      <p:to>
                                        <p:strVal val="visible"/>
                                      </p:to>
                                    </p:set>
                                    <p:anim calcmode="lin" valueType="num">
                                      <p:cBhvr additive="base">
                                        <p:cTn id="21" dur="500" fill="hold"/>
                                        <p:tgtEl>
                                          <p:spTgt spid="1229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2291">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2291">
                                            <p:txEl>
                                              <p:pRg st="4" end="4"/>
                                            </p:txEl>
                                          </p:spTgt>
                                        </p:tgtEl>
                                        <p:attrNameLst>
                                          <p:attrName>style.visibility</p:attrName>
                                        </p:attrNameLst>
                                      </p:cBhvr>
                                      <p:to>
                                        <p:strVal val="visible"/>
                                      </p:to>
                                    </p:set>
                                    <p:anim calcmode="lin" valueType="num">
                                      <p:cBhvr additive="base">
                                        <p:cTn id="25" dur="500" fill="hold"/>
                                        <p:tgtEl>
                                          <p:spTgt spid="1229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29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2291">
                                            <p:txEl>
                                              <p:pRg st="5" end="5"/>
                                            </p:txEl>
                                          </p:spTgt>
                                        </p:tgtEl>
                                        <p:attrNameLst>
                                          <p:attrName>style.visibility</p:attrName>
                                        </p:attrNameLst>
                                      </p:cBhvr>
                                      <p:to>
                                        <p:strVal val="visible"/>
                                      </p:to>
                                    </p:set>
                                    <p:anim calcmode="lin" valueType="num">
                                      <p:cBhvr additive="base">
                                        <p:cTn id="29" dur="500" fill="hold"/>
                                        <p:tgtEl>
                                          <p:spTgt spid="1229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229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2291">
                                            <p:txEl>
                                              <p:pRg st="6" end="6"/>
                                            </p:txEl>
                                          </p:spTgt>
                                        </p:tgtEl>
                                        <p:attrNameLst>
                                          <p:attrName>style.visibility</p:attrName>
                                        </p:attrNameLst>
                                      </p:cBhvr>
                                      <p:to>
                                        <p:strVal val="visible"/>
                                      </p:to>
                                    </p:set>
                                    <p:anim calcmode="lin" valueType="num">
                                      <p:cBhvr additive="base">
                                        <p:cTn id="35" dur="500" fill="hold"/>
                                        <p:tgtEl>
                                          <p:spTgt spid="12291">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2291">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291">
                                            <p:txEl>
                                              <p:pRg st="7" end="7"/>
                                            </p:txEl>
                                          </p:spTgt>
                                        </p:tgtEl>
                                        <p:attrNameLst>
                                          <p:attrName>style.visibility</p:attrName>
                                        </p:attrNameLst>
                                      </p:cBhvr>
                                      <p:to>
                                        <p:strVal val="visible"/>
                                      </p:to>
                                    </p:set>
                                    <p:anim calcmode="lin" valueType="num">
                                      <p:cBhvr additive="base">
                                        <p:cTn id="39" dur="500" fill="hold"/>
                                        <p:tgtEl>
                                          <p:spTgt spid="1229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2291">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2291">
                                            <p:txEl>
                                              <p:pRg st="8" end="8"/>
                                            </p:txEl>
                                          </p:spTgt>
                                        </p:tgtEl>
                                        <p:attrNameLst>
                                          <p:attrName>style.visibility</p:attrName>
                                        </p:attrNameLst>
                                      </p:cBhvr>
                                      <p:to>
                                        <p:strVal val="visible"/>
                                      </p:to>
                                    </p:set>
                                    <p:anim calcmode="lin" valueType="num">
                                      <p:cBhvr additive="base">
                                        <p:cTn id="43" dur="500" fill="hold"/>
                                        <p:tgtEl>
                                          <p:spTgt spid="12291">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291">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2291">
                                            <p:txEl>
                                              <p:pRg st="9" end="9"/>
                                            </p:txEl>
                                          </p:spTgt>
                                        </p:tgtEl>
                                        <p:attrNameLst>
                                          <p:attrName>style.visibility</p:attrName>
                                        </p:attrNameLst>
                                      </p:cBhvr>
                                      <p:to>
                                        <p:strVal val="visible"/>
                                      </p:to>
                                    </p:set>
                                    <p:anim calcmode="lin" valueType="num">
                                      <p:cBhvr additive="base">
                                        <p:cTn id="47" dur="500" fill="hold"/>
                                        <p:tgtEl>
                                          <p:spTgt spid="12291">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12291">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09800" y="211138"/>
            <a:ext cx="7772400" cy="715962"/>
          </a:xfrm>
        </p:spPr>
        <p:txBody>
          <a:bodyPr/>
          <a:lstStyle/>
          <a:p>
            <a:pPr algn="ctr" eaLnBrk="1" hangingPunct="1"/>
            <a:r>
              <a:rPr lang="zh-CN" altLang="zh-CN"/>
              <a:t>协议集</a:t>
            </a:r>
          </a:p>
        </p:txBody>
      </p:sp>
      <p:sp>
        <p:nvSpPr>
          <p:cNvPr id="13315" name="Text Box 3"/>
          <p:cNvSpPr txBox="1">
            <a:spLocks noChangeArrowheads="1"/>
          </p:cNvSpPr>
          <p:nvPr/>
        </p:nvSpPr>
        <p:spPr bwMode="auto">
          <a:xfrm>
            <a:off x="2902904" y="1517707"/>
            <a:ext cx="6111875" cy="3822585"/>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57238" indent="-2730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chemeClr val="tx2"/>
              </a:buClr>
              <a:buSzTx/>
              <a:buFont typeface="Wingdings" panose="05000000000000000000" pitchFamily="2" charset="2"/>
              <a:buChar char="§"/>
            </a:pPr>
            <a:r>
              <a:rPr lang="zh-CN" altLang="zh-CN" sz="3600" b="1">
                <a:latin typeface="华文楷体" panose="02010600040101010101" pitchFamily="2" charset="-122"/>
                <a:ea typeface="华文楷体" panose="02010600040101010101" pitchFamily="2" charset="-122"/>
              </a:rPr>
              <a:t>多个协议一起工作 </a:t>
            </a:r>
          </a:p>
          <a:p>
            <a:pPr eaLnBrk="1" hangingPunct="1">
              <a:buClr>
                <a:schemeClr val="tx2"/>
              </a:buClr>
              <a:buSzTx/>
              <a:buFont typeface="Wingdings" panose="05000000000000000000" pitchFamily="2" charset="2"/>
              <a:buChar char="§"/>
            </a:pPr>
            <a:r>
              <a:rPr lang="zh-CN" altLang="zh-CN" sz="3600" b="1">
                <a:latin typeface="华文楷体" panose="02010600040101010101" pitchFamily="2" charset="-122"/>
                <a:ea typeface="华文楷体" panose="02010600040101010101" pitchFamily="2" charset="-122"/>
              </a:rPr>
              <a:t>协议各自解决不同的问题 </a:t>
            </a:r>
          </a:p>
          <a:p>
            <a:pPr eaLnBrk="1" hangingPunct="1">
              <a:buClr>
                <a:schemeClr val="tx2"/>
              </a:buClr>
              <a:buSzTx/>
              <a:buFont typeface="Wingdings" panose="05000000000000000000" pitchFamily="2" charset="2"/>
              <a:buChar char="§"/>
            </a:pPr>
            <a:r>
              <a:rPr lang="zh-CN" altLang="zh-CN" sz="3600" b="1">
                <a:latin typeface="华文楷体" panose="02010600040101010101" pitchFamily="2" charset="-122"/>
                <a:ea typeface="华文楷体" panose="02010600040101010101" pitchFamily="2" charset="-122"/>
              </a:rPr>
              <a:t>一般成为</a:t>
            </a:r>
          </a:p>
          <a:p>
            <a:pPr lvl="1" eaLnBrk="1" hangingPunct="1">
              <a:buClr>
                <a:schemeClr val="accent2"/>
              </a:buClr>
              <a:buSzTx/>
              <a:buFont typeface="Wingdings" panose="05000000000000000000" pitchFamily="2" charset="2"/>
              <a:buChar char="§"/>
            </a:pPr>
            <a:r>
              <a:rPr lang="zh-CN" altLang="zh-CN" sz="3200" b="1">
                <a:latin typeface="华文楷体" panose="02010600040101010101" pitchFamily="2" charset="-122"/>
                <a:ea typeface="华文楷体" panose="02010600040101010101" pitchFamily="2" charset="-122"/>
              </a:rPr>
              <a:t>Protocol suite（协议组）</a:t>
            </a:r>
          </a:p>
          <a:p>
            <a:pPr lvl="1" eaLnBrk="1" hangingPunct="1">
              <a:buClr>
                <a:schemeClr val="accent2"/>
              </a:buClr>
              <a:buSzTx/>
              <a:buFont typeface="Wingdings" panose="05000000000000000000" pitchFamily="2" charset="2"/>
              <a:buChar char="§"/>
            </a:pPr>
            <a:r>
              <a:rPr lang="zh-CN" altLang="zh-CN" sz="3200" b="1">
                <a:latin typeface="华文楷体" panose="02010600040101010101" pitchFamily="2" charset="-122"/>
                <a:ea typeface="华文楷体" panose="02010600040101010101" pitchFamily="2" charset="-122"/>
              </a:rPr>
              <a:t>Protocol family（协议簇）</a:t>
            </a:r>
          </a:p>
          <a:p>
            <a:pPr eaLnBrk="1" hangingPunct="1">
              <a:buClr>
                <a:schemeClr val="tx2"/>
              </a:buClr>
              <a:buSzTx/>
              <a:buFont typeface="Wingdings" panose="05000000000000000000" pitchFamily="2" charset="2"/>
              <a:buChar char="§"/>
            </a:pPr>
            <a:r>
              <a:rPr lang="zh-CN" altLang="zh-CN" sz="3600" b="1">
                <a:latin typeface="华文楷体" panose="02010600040101010101" pitchFamily="2" charset="-122"/>
                <a:ea typeface="华文楷体" panose="02010600040101010101" pitchFamily="2" charset="-122"/>
              </a:rPr>
              <a:t>协议的层次结构</a:t>
            </a:r>
            <a:endParaRPr lang="zh-CN" altLang="zh-CN" b="1">
              <a:latin typeface="华文楷体" panose="02010600040101010101" pitchFamily="2" charset="-122"/>
              <a:ea typeface="华文楷体" panose="0201060004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 calcmode="lin" valueType="num">
                                      <p:cBhvr additive="base">
                                        <p:cTn id="23" dur="500" fill="hold"/>
                                        <p:tgtEl>
                                          <p:spTgt spid="1331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31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 calcmode="lin" valueType="num">
                                      <p:cBhvr additive="base">
                                        <p:cTn id="27" dur="500" fill="hold"/>
                                        <p:tgtEl>
                                          <p:spTgt spid="1331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3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3315">
                                            <p:txEl>
                                              <p:pRg st="5" end="5"/>
                                            </p:txEl>
                                          </p:spTgt>
                                        </p:tgtEl>
                                        <p:attrNameLst>
                                          <p:attrName>style.visibility</p:attrName>
                                        </p:attrNameLst>
                                      </p:cBhvr>
                                      <p:to>
                                        <p:strVal val="visible"/>
                                      </p:to>
                                    </p:set>
                                    <p:anim calcmode="lin" valueType="num">
                                      <p:cBhvr additive="base">
                                        <p:cTn id="33" dur="500" fill="hold"/>
                                        <p:tgtEl>
                                          <p:spTgt spid="13315">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331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088136" y="1695450"/>
            <a:ext cx="10433304" cy="2554545"/>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每层完成一定的</a:t>
            </a:r>
            <a:r>
              <a:rPr lang="zh-CN" altLang="zh-CN" sz="3200" b="1">
                <a:solidFill>
                  <a:schemeClr val="accent2"/>
                </a:solidFill>
                <a:latin typeface="华文楷体" panose="02010600040101010101" pitchFamily="2" charset="-122"/>
                <a:ea typeface="华文楷体" panose="02010600040101010101" pitchFamily="2" charset="-122"/>
              </a:rPr>
              <a:t>功能</a:t>
            </a:r>
            <a:r>
              <a:rPr lang="zh-CN" altLang="zh-CN" sz="3200" b="1">
                <a:latin typeface="华文楷体" panose="02010600040101010101" pitchFamily="2" charset="-122"/>
                <a:ea typeface="华文楷体" panose="02010600040101010101" pitchFamily="2" charset="-122"/>
              </a:rPr>
              <a:t>（Function），每层都向它的上层提供一定的</a:t>
            </a:r>
            <a:r>
              <a:rPr lang="zh-CN" altLang="zh-CN" sz="3200" b="1">
                <a:solidFill>
                  <a:schemeClr val="accent2"/>
                </a:solidFill>
                <a:latin typeface="华文楷体" panose="02010600040101010101" pitchFamily="2" charset="-122"/>
                <a:ea typeface="华文楷体" panose="02010600040101010101" pitchFamily="2" charset="-122"/>
              </a:rPr>
              <a:t>服务</a:t>
            </a:r>
            <a:r>
              <a:rPr lang="zh-CN" altLang="zh-CN" sz="3200" b="1">
                <a:latin typeface="华文楷体" panose="02010600040101010101" pitchFamily="2" charset="-122"/>
                <a:ea typeface="华文楷体" panose="02010600040101010101" pitchFamily="2" charset="-122"/>
              </a:rPr>
              <a:t>(Service)，而将如何实现服务的细节对上层屏蔽，即低层协议对高层而言是透明的。相邻两层之间为</a:t>
            </a:r>
            <a:r>
              <a:rPr lang="zh-CN" altLang="zh-CN" sz="3200" b="1">
                <a:solidFill>
                  <a:schemeClr val="accent2"/>
                </a:solidFill>
                <a:latin typeface="华文楷体" panose="02010600040101010101" pitchFamily="2" charset="-122"/>
                <a:ea typeface="华文楷体" panose="02010600040101010101" pitchFamily="2" charset="-122"/>
              </a:rPr>
              <a:t>层间接口</a:t>
            </a:r>
            <a:r>
              <a:rPr lang="zh-CN" altLang="zh-CN" sz="3200" b="1">
                <a:latin typeface="华文楷体" panose="02010600040101010101" pitchFamily="2" charset="-122"/>
                <a:ea typeface="华文楷体" panose="02010600040101010101" pitchFamily="2" charset="-122"/>
              </a:rPr>
              <a:t>（Interface）。</a:t>
            </a:r>
            <a:r>
              <a:rPr lang="zh-CN" altLang="zh-CN" sz="3200" b="1">
                <a:solidFill>
                  <a:schemeClr val="accent2"/>
                </a:solidFill>
                <a:latin typeface="华文楷体" panose="02010600040101010101" pitchFamily="2" charset="-122"/>
                <a:ea typeface="华文楷体" panose="02010600040101010101" pitchFamily="2" charset="-122"/>
              </a:rPr>
              <a:t>对等层用户通话时所必须遵守的规则</a:t>
            </a:r>
            <a:r>
              <a:rPr lang="zh-CN" altLang="zh-CN" sz="3200" b="1">
                <a:latin typeface="华文楷体" panose="02010600040101010101" pitchFamily="2" charset="-122"/>
                <a:ea typeface="华文楷体" panose="02010600040101010101" pitchFamily="2" charset="-122"/>
              </a:rPr>
              <a:t>称为</a:t>
            </a:r>
            <a:r>
              <a:rPr lang="zh-CN" altLang="zh-CN" sz="3200" b="1">
                <a:solidFill>
                  <a:srgbClr val="FF0000"/>
                </a:solidFill>
                <a:latin typeface="华文楷体" panose="02010600040101010101" pitchFamily="2" charset="-122"/>
                <a:ea typeface="华文楷体" panose="02010600040101010101" pitchFamily="2" charset="-122"/>
              </a:rPr>
              <a:t>对等层协议。</a:t>
            </a:r>
            <a:endParaRPr lang="zh-CN" altLang="zh-CN" sz="3200" b="1">
              <a:latin typeface="华文楷体" panose="02010600040101010101" pitchFamily="2" charset="-122"/>
              <a:ea typeface="华文楷体" panose="02010600040101010101" pitchFamily="2" charset="-122"/>
            </a:endParaRPr>
          </a:p>
        </p:txBody>
      </p:sp>
      <p:sp>
        <p:nvSpPr>
          <p:cNvPr id="14339" name="Rectangle 3"/>
          <p:cNvSpPr>
            <a:spLocks noGrp="1" noChangeArrowheads="1"/>
          </p:cNvSpPr>
          <p:nvPr>
            <p:ph type="title"/>
          </p:nvPr>
        </p:nvSpPr>
        <p:spPr>
          <a:xfrm>
            <a:off x="3808603" y="226252"/>
            <a:ext cx="4337050" cy="623887"/>
          </a:xfrm>
        </p:spPr>
        <p:txBody>
          <a:bodyPr>
            <a:normAutofit fontScale="90000"/>
          </a:bodyPr>
          <a:lstStyle/>
          <a:p>
            <a:pPr algn="ctr" eaLnBrk="1" hangingPunct="1"/>
            <a:r>
              <a:rPr lang="zh-CN" altLang="zh-CN"/>
              <a:t>协议层次结构</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noChangeAspect="1"/>
          </p:cNvGraphicFramePr>
          <p:nvPr/>
        </p:nvGraphicFramePr>
        <p:xfrm>
          <a:off x="2241551" y="1397000"/>
          <a:ext cx="7586663" cy="5168900"/>
        </p:xfrm>
        <a:graphic>
          <a:graphicData uri="http://schemas.openxmlformats.org/presentationml/2006/ole">
            <mc:AlternateContent xmlns:mc="http://schemas.openxmlformats.org/markup-compatibility/2006">
              <mc:Choice xmlns:v="urn:schemas-microsoft-com:vml" Requires="v">
                <p:oleObj spid="_x0000_s15514" r:id="rId3" imgW="3779520" imgH="4058920" progId="Word.Picture.8">
                  <p:embed/>
                </p:oleObj>
              </mc:Choice>
              <mc:Fallback>
                <p:oleObj r:id="rId3" imgW="3779520" imgH="4058920"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551" y="1397000"/>
                        <a:ext cx="7586663"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3" name="AutoShape 3"/>
          <p:cNvSpPr>
            <a:spLocks noChangeArrowheads="1"/>
          </p:cNvSpPr>
          <p:nvPr/>
        </p:nvSpPr>
        <p:spPr bwMode="auto">
          <a:xfrm>
            <a:off x="1316736" y="1933577"/>
            <a:ext cx="10296144" cy="2446400"/>
          </a:xfrm>
          <a:prstGeom prst="wedgeRoundRectCallout">
            <a:avLst>
              <a:gd name="adj1" fmla="val -5205"/>
              <a:gd name="adj2" fmla="val 106517"/>
              <a:gd name="adj3" fmla="val 16667"/>
            </a:avLst>
          </a:prstGeom>
          <a:solidFill>
            <a:srgbClr val="DDDDDD"/>
          </a:solidFill>
          <a:ln w="9525">
            <a:solidFill>
              <a:srgbClr val="000000"/>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3600" b="1">
                <a:latin typeface="华文楷体" panose="02010600040101010101" pitchFamily="2" charset="-122"/>
                <a:ea typeface="华文楷体" panose="02010600040101010101" pitchFamily="2" charset="-122"/>
              </a:rPr>
              <a:t>实际上，数据不是从一台机器的第n层直接传送到另一台机器的第n层，而是把数据和控制信息</a:t>
            </a:r>
            <a:r>
              <a:rPr lang="zh-CN" altLang="zh-CN" sz="3600" b="1">
                <a:solidFill>
                  <a:srgbClr val="FF0000"/>
                </a:solidFill>
                <a:latin typeface="华文楷体" panose="02010600040101010101" pitchFamily="2" charset="-122"/>
                <a:ea typeface="华文楷体" panose="02010600040101010101" pitchFamily="2" charset="-122"/>
              </a:rPr>
              <a:t>层层下传</a:t>
            </a:r>
            <a:r>
              <a:rPr lang="zh-CN" altLang="zh-CN" sz="3600" b="1">
                <a:latin typeface="华文楷体" panose="02010600040101010101" pitchFamily="2" charset="-122"/>
                <a:ea typeface="华文楷体" panose="02010600040101010101" pitchFamily="2" charset="-122"/>
              </a:rPr>
              <a:t>，</a:t>
            </a:r>
            <a:r>
              <a:rPr lang="zh-CN" altLang="zh-CN" sz="3600" b="1">
                <a:solidFill>
                  <a:srgbClr val="FF0000"/>
                </a:solidFill>
                <a:latin typeface="华文楷体" panose="02010600040101010101" pitchFamily="2" charset="-122"/>
                <a:ea typeface="华文楷体" panose="02010600040101010101" pitchFamily="2" charset="-122"/>
              </a:rPr>
              <a:t>直到最低层</a:t>
            </a:r>
            <a:r>
              <a:rPr lang="zh-CN" altLang="zh-CN" sz="3600" b="1">
                <a:latin typeface="华文楷体" panose="02010600040101010101" pitchFamily="2" charset="-122"/>
                <a:ea typeface="华文楷体" panose="02010600040101010101" pitchFamily="2" charset="-122"/>
              </a:rPr>
              <a:t>。第一层下面是物理介质，实际数据通信是在它的上面进行。</a:t>
            </a:r>
          </a:p>
        </p:txBody>
      </p:sp>
      <p:sp>
        <p:nvSpPr>
          <p:cNvPr id="15364" name="Rectangle 4"/>
          <p:cNvSpPr>
            <a:spLocks noGrp="1" noChangeArrowheads="1"/>
          </p:cNvSpPr>
          <p:nvPr>
            <p:ph type="title"/>
          </p:nvPr>
        </p:nvSpPr>
        <p:spPr>
          <a:xfrm>
            <a:off x="4002089" y="193675"/>
            <a:ext cx="4187825" cy="649288"/>
          </a:xfrm>
        </p:spPr>
        <p:txBody>
          <a:bodyPr>
            <a:normAutofit fontScale="90000"/>
          </a:bodyPr>
          <a:lstStyle/>
          <a:p>
            <a:pPr eaLnBrk="1" hangingPunct="1"/>
            <a:r>
              <a:rPr lang="zh-CN" altLang="zh-CN"/>
              <a:t>对等层逻辑通信</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1+#ppt_w/2"/>
                                          </p:val>
                                        </p:tav>
                                        <p:tav tm="100000">
                                          <p:val>
                                            <p:strVal val="#ppt_x"/>
                                          </p:val>
                                        </p:tav>
                                      </p:tavLst>
                                    </p:anim>
                                    <p:anim calcmode="lin" valueType="num">
                                      <p:cBhvr additive="base">
                                        <p:cTn id="8" dur="500" fill="hold"/>
                                        <p:tgtEl>
                                          <p:spTgt spid="153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1676400" y="1335089"/>
            <a:ext cx="8763000" cy="5216525"/>
            <a:chOff x="0" y="0"/>
            <a:chExt cx="5520" cy="3555"/>
          </a:xfrm>
        </p:grpSpPr>
        <p:sp>
          <p:nvSpPr>
            <p:cNvPr id="16508" name="Rectangle 3"/>
            <p:cNvSpPr>
              <a:spLocks noChangeArrowheads="1"/>
            </p:cNvSpPr>
            <p:nvPr/>
          </p:nvSpPr>
          <p:spPr bwMode="auto">
            <a:xfrm>
              <a:off x="0" y="0"/>
              <a:ext cx="5520" cy="3555"/>
            </a:xfrm>
            <a:prstGeom prst="rect">
              <a:avLst/>
            </a:prstGeom>
            <a:solidFill>
              <a:srgbClr val="FFFFCC"/>
            </a:solidFill>
            <a:ln w="19050">
              <a:solidFill>
                <a:srgbClr val="000066"/>
              </a:solidFill>
              <a:miter lim="800000"/>
              <a:headEnd/>
              <a:tailEnd/>
            </a:ln>
            <a:effectLst>
              <a:outerShdw dist="252086" dir="2945138" algn="ctr" rotWithShape="0">
                <a:schemeClr val="bg2">
                  <a:alpha val="50000"/>
                </a:schemeClr>
              </a:outerShdw>
            </a:effec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CC"/>
                </a:solidFill>
                <a:latin typeface="Times New Roman" panose="02020603050405020304" pitchFamily="18" charset="0"/>
                <a:ea typeface="华文新魏" panose="02010800040101010101" pitchFamily="2" charset="-122"/>
              </a:endParaRPr>
            </a:p>
          </p:txBody>
        </p:sp>
        <p:grpSp>
          <p:nvGrpSpPr>
            <p:cNvPr id="16509" name="Group 4"/>
            <p:cNvGrpSpPr>
              <a:grpSpLocks/>
            </p:cNvGrpSpPr>
            <p:nvPr/>
          </p:nvGrpSpPr>
          <p:grpSpPr bwMode="auto">
            <a:xfrm>
              <a:off x="141" y="42"/>
              <a:ext cx="5279" cy="1075"/>
              <a:chOff x="0" y="0"/>
              <a:chExt cx="5279" cy="1075"/>
            </a:xfrm>
          </p:grpSpPr>
          <p:sp>
            <p:nvSpPr>
              <p:cNvPr id="16510" name="AutoShape 5"/>
              <p:cNvSpPr>
                <a:spLocks noChangeArrowheads="1"/>
              </p:cNvSpPr>
              <p:nvPr/>
            </p:nvSpPr>
            <p:spPr bwMode="auto">
              <a:xfrm>
                <a:off x="0" y="0"/>
                <a:ext cx="2042" cy="1016"/>
              </a:xfrm>
              <a:prstGeom prst="cloudCallout">
                <a:avLst>
                  <a:gd name="adj1" fmla="val -37611"/>
                  <a:gd name="adj2" fmla="val 17815"/>
                </a:avLst>
              </a:prstGeom>
              <a:solidFill>
                <a:srgbClr val="FFFF99"/>
              </a:solidFill>
              <a:ln w="19050">
                <a:solidFill>
                  <a:srgbClr val="000099"/>
                </a:solidFill>
                <a:prstDash val="dash"/>
                <a:round/>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Times New Roman" panose="02020603050405020304" pitchFamily="18" charset="0"/>
                    <a:ea typeface="华文新魏" panose="02010800040101010101" pitchFamily="2" charset="-122"/>
                  </a:rPr>
                  <a:t>网络 1</a:t>
                </a:r>
              </a:p>
              <a:p>
                <a:pPr algn="ctr" eaLnBrk="1" hangingPunct="1">
                  <a:buFont typeface="Wingdings" panose="05000000000000000000" pitchFamily="2" charset="2"/>
                  <a:buNone/>
                </a:pPr>
                <a:endParaRPr lang="zh-CN" altLang="zh-CN" sz="2400">
                  <a:solidFill>
                    <a:srgbClr val="000099"/>
                  </a:solidFill>
                  <a:latin typeface="Times New Roman" panose="02020603050405020304" pitchFamily="18" charset="0"/>
                  <a:ea typeface="华文新魏" panose="02010800040101010101" pitchFamily="2" charset="-122"/>
                </a:endParaRPr>
              </a:p>
              <a:p>
                <a:pPr algn="ctr" eaLnBrk="1" hangingPunct="1">
                  <a:buFont typeface="Wingdings" panose="05000000000000000000" pitchFamily="2" charset="2"/>
                  <a:buNone/>
                </a:pPr>
                <a:endParaRPr lang="zh-CN" altLang="zh-CN" sz="2400">
                  <a:solidFill>
                    <a:srgbClr val="000099"/>
                  </a:solidFill>
                  <a:latin typeface="Times New Roman" panose="02020603050405020304" pitchFamily="18" charset="0"/>
                  <a:ea typeface="华文新魏" panose="02010800040101010101" pitchFamily="2" charset="-122"/>
                </a:endParaRPr>
              </a:p>
            </p:txBody>
          </p:sp>
          <p:sp>
            <p:nvSpPr>
              <p:cNvPr id="16511" name="AutoShape 6"/>
              <p:cNvSpPr>
                <a:spLocks noChangeArrowheads="1"/>
              </p:cNvSpPr>
              <p:nvPr/>
            </p:nvSpPr>
            <p:spPr bwMode="auto">
              <a:xfrm>
                <a:off x="3152" y="0"/>
                <a:ext cx="2127" cy="1075"/>
              </a:xfrm>
              <a:prstGeom prst="cloudCallout">
                <a:avLst>
                  <a:gd name="adj1" fmla="val 30773"/>
                  <a:gd name="adj2" fmla="val 7769"/>
                </a:avLst>
              </a:prstGeom>
              <a:solidFill>
                <a:srgbClr val="FFFF99"/>
              </a:solidFill>
              <a:ln w="19050">
                <a:solidFill>
                  <a:srgbClr val="000099"/>
                </a:solidFill>
                <a:prstDash val="dash"/>
                <a:round/>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Times New Roman" panose="02020603050405020304" pitchFamily="18" charset="0"/>
                    <a:ea typeface="华文新魏" panose="02010800040101010101" pitchFamily="2" charset="-122"/>
                  </a:rPr>
                  <a:t>网络 2</a:t>
                </a:r>
              </a:p>
              <a:p>
                <a:pPr algn="ctr" eaLnBrk="1" hangingPunct="1">
                  <a:buFont typeface="Wingdings" panose="05000000000000000000" pitchFamily="2" charset="2"/>
                  <a:buNone/>
                </a:pPr>
                <a:endParaRPr lang="zh-CN" altLang="zh-CN" sz="2400">
                  <a:solidFill>
                    <a:srgbClr val="000099"/>
                  </a:solidFill>
                  <a:latin typeface="Times New Roman" panose="02020603050405020304" pitchFamily="18" charset="0"/>
                  <a:ea typeface="华文新魏" panose="02010800040101010101" pitchFamily="2" charset="-122"/>
                </a:endParaRPr>
              </a:p>
              <a:p>
                <a:pPr algn="ctr" eaLnBrk="1" hangingPunct="1">
                  <a:buFont typeface="Wingdings" panose="05000000000000000000" pitchFamily="2" charset="2"/>
                  <a:buNone/>
                </a:pPr>
                <a:endParaRPr lang="zh-CN" altLang="zh-CN" sz="2400">
                  <a:solidFill>
                    <a:srgbClr val="000099"/>
                  </a:solidFill>
                  <a:latin typeface="Times New Roman" panose="02020603050405020304" pitchFamily="18" charset="0"/>
                  <a:ea typeface="华文新魏" panose="02010800040101010101" pitchFamily="2" charset="-122"/>
                </a:endParaRPr>
              </a:p>
            </p:txBody>
          </p:sp>
          <p:sp>
            <p:nvSpPr>
              <p:cNvPr id="16512" name="Rectangle 7"/>
              <p:cNvSpPr>
                <a:spLocks noChangeArrowheads="1"/>
              </p:cNvSpPr>
              <p:nvPr/>
            </p:nvSpPr>
            <p:spPr bwMode="auto">
              <a:xfrm>
                <a:off x="432" y="589"/>
                <a:ext cx="160" cy="203"/>
              </a:xfrm>
              <a:prstGeom prst="rect">
                <a:avLst/>
              </a:prstGeom>
              <a:solidFill>
                <a:srgbClr val="00FF99"/>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Times New Roman" panose="02020603050405020304" pitchFamily="18" charset="0"/>
                    <a:ea typeface="华文新魏" panose="02010800040101010101" pitchFamily="2" charset="-122"/>
                  </a:rPr>
                  <a:t>A</a:t>
                </a:r>
              </a:p>
            </p:txBody>
          </p:sp>
          <p:sp>
            <p:nvSpPr>
              <p:cNvPr id="16513" name="Line 8"/>
              <p:cNvSpPr>
                <a:spLocks noChangeShapeType="1"/>
              </p:cNvSpPr>
              <p:nvPr/>
            </p:nvSpPr>
            <p:spPr bwMode="auto">
              <a:xfrm>
                <a:off x="314" y="466"/>
                <a:ext cx="4497"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14" name="Rectangle 9"/>
              <p:cNvSpPr>
                <a:spLocks noChangeArrowheads="1"/>
              </p:cNvSpPr>
              <p:nvPr/>
            </p:nvSpPr>
            <p:spPr bwMode="auto">
              <a:xfrm>
                <a:off x="2482" y="313"/>
                <a:ext cx="322" cy="339"/>
              </a:xfrm>
              <a:prstGeom prst="rect">
                <a:avLst/>
              </a:prstGeom>
              <a:solidFill>
                <a:schemeClr val="bg1"/>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solidFill>
                      <a:srgbClr val="000099"/>
                    </a:solidFill>
                    <a:latin typeface="Times New Roman" panose="02020603050405020304" pitchFamily="18" charset="0"/>
                    <a:ea typeface="华文新魏" panose="02010800040101010101" pitchFamily="2" charset="-122"/>
                  </a:rPr>
                  <a:t>R</a:t>
                </a:r>
              </a:p>
            </p:txBody>
          </p:sp>
          <p:sp>
            <p:nvSpPr>
              <p:cNvPr id="16515" name="Rectangle 10"/>
              <p:cNvSpPr>
                <a:spLocks noChangeArrowheads="1"/>
              </p:cNvSpPr>
              <p:nvPr/>
            </p:nvSpPr>
            <p:spPr bwMode="auto">
              <a:xfrm>
                <a:off x="986" y="589"/>
                <a:ext cx="160" cy="203"/>
              </a:xfrm>
              <a:prstGeom prst="rect">
                <a:avLst/>
              </a:prstGeom>
              <a:solidFill>
                <a:schemeClr val="bg1"/>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516" name="Rectangle 11"/>
              <p:cNvSpPr>
                <a:spLocks noChangeArrowheads="1"/>
              </p:cNvSpPr>
              <p:nvPr/>
            </p:nvSpPr>
            <p:spPr bwMode="auto">
              <a:xfrm>
                <a:off x="709" y="589"/>
                <a:ext cx="160" cy="203"/>
              </a:xfrm>
              <a:prstGeom prst="rect">
                <a:avLst/>
              </a:prstGeom>
              <a:solidFill>
                <a:schemeClr val="bg1"/>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517" name="Rectangle 12"/>
              <p:cNvSpPr>
                <a:spLocks noChangeArrowheads="1"/>
              </p:cNvSpPr>
              <p:nvPr/>
            </p:nvSpPr>
            <p:spPr bwMode="auto">
              <a:xfrm>
                <a:off x="3761" y="589"/>
                <a:ext cx="160" cy="203"/>
              </a:xfrm>
              <a:prstGeom prst="rect">
                <a:avLst/>
              </a:prstGeom>
              <a:solidFill>
                <a:schemeClr val="bg1"/>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518" name="Rectangle 13"/>
              <p:cNvSpPr>
                <a:spLocks noChangeArrowheads="1"/>
              </p:cNvSpPr>
              <p:nvPr/>
            </p:nvSpPr>
            <p:spPr bwMode="auto">
              <a:xfrm>
                <a:off x="4315" y="589"/>
                <a:ext cx="160" cy="203"/>
              </a:xfrm>
              <a:prstGeom prst="rect">
                <a:avLst/>
              </a:prstGeom>
              <a:solidFill>
                <a:schemeClr val="bg1"/>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519" name="Rectangle 14"/>
              <p:cNvSpPr>
                <a:spLocks noChangeArrowheads="1"/>
              </p:cNvSpPr>
              <p:nvPr/>
            </p:nvSpPr>
            <p:spPr bwMode="auto">
              <a:xfrm>
                <a:off x="4038" y="589"/>
                <a:ext cx="160" cy="203"/>
              </a:xfrm>
              <a:prstGeom prst="rect">
                <a:avLst/>
              </a:prstGeom>
              <a:solidFill>
                <a:srgbClr val="00FF99"/>
              </a:solidFill>
              <a:ln w="28575">
                <a:solidFill>
                  <a:srgbClr val="000099"/>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Times New Roman" panose="02020603050405020304" pitchFamily="18" charset="0"/>
                    <a:ea typeface="华文新魏" panose="02010800040101010101" pitchFamily="2" charset="-122"/>
                  </a:rPr>
                  <a:t>B</a:t>
                </a:r>
              </a:p>
            </p:txBody>
          </p:sp>
          <p:sp>
            <p:nvSpPr>
              <p:cNvPr id="16520" name="Line 15"/>
              <p:cNvSpPr>
                <a:spLocks noChangeShapeType="1"/>
              </p:cNvSpPr>
              <p:nvPr/>
            </p:nvSpPr>
            <p:spPr bwMode="auto">
              <a:xfrm flipV="1">
                <a:off x="508"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1" name="Line 16"/>
              <p:cNvSpPr>
                <a:spLocks noChangeShapeType="1"/>
              </p:cNvSpPr>
              <p:nvPr/>
            </p:nvSpPr>
            <p:spPr bwMode="auto">
              <a:xfrm flipV="1">
                <a:off x="788"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2" name="Line 17"/>
              <p:cNvSpPr>
                <a:spLocks noChangeShapeType="1"/>
              </p:cNvSpPr>
              <p:nvPr/>
            </p:nvSpPr>
            <p:spPr bwMode="auto">
              <a:xfrm flipV="1">
                <a:off x="1067"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3" name="Line 18"/>
              <p:cNvSpPr>
                <a:spLocks noChangeShapeType="1"/>
              </p:cNvSpPr>
              <p:nvPr/>
            </p:nvSpPr>
            <p:spPr bwMode="auto">
              <a:xfrm flipV="1">
                <a:off x="3820"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4" name="Line 19"/>
              <p:cNvSpPr>
                <a:spLocks noChangeShapeType="1"/>
              </p:cNvSpPr>
              <p:nvPr/>
            </p:nvSpPr>
            <p:spPr bwMode="auto">
              <a:xfrm flipV="1">
                <a:off x="4117"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25" name="Line 20"/>
              <p:cNvSpPr>
                <a:spLocks noChangeShapeType="1"/>
              </p:cNvSpPr>
              <p:nvPr/>
            </p:nvSpPr>
            <p:spPr bwMode="auto">
              <a:xfrm flipV="1">
                <a:off x="4388" y="458"/>
                <a:ext cx="0" cy="136"/>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405" name="Group 21"/>
          <p:cNvGrpSpPr>
            <a:grpSpLocks/>
          </p:cNvGrpSpPr>
          <p:nvPr/>
        </p:nvGrpSpPr>
        <p:grpSpPr bwMode="auto">
          <a:xfrm>
            <a:off x="1927226" y="2892425"/>
            <a:ext cx="8247063" cy="3602038"/>
            <a:chOff x="0" y="0"/>
            <a:chExt cx="5195" cy="2455"/>
          </a:xfrm>
        </p:grpSpPr>
        <p:sp>
          <p:nvSpPr>
            <p:cNvPr id="16486" name="Rectangle 22"/>
            <p:cNvSpPr>
              <a:spLocks noChangeArrowheads="1"/>
            </p:cNvSpPr>
            <p:nvPr/>
          </p:nvSpPr>
          <p:spPr bwMode="auto">
            <a:xfrm>
              <a:off x="2064" y="2071"/>
              <a:ext cx="12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FF"/>
                  </a:solidFill>
                  <a:latin typeface="Verdana" panose="020B0604030504040204" pitchFamily="34" charset="0"/>
                  <a:ea typeface="华文新魏" panose="02010800040101010101" pitchFamily="2" charset="-122"/>
                </a:rPr>
                <a:t>路由器 </a:t>
              </a:r>
              <a:r>
                <a:rPr lang="zh-CN" altLang="zh-CN" sz="2400">
                  <a:solidFill>
                    <a:srgbClr val="FF0000"/>
                  </a:solidFill>
                  <a:latin typeface="Verdana" panose="020B0604030504040204" pitchFamily="34" charset="0"/>
                  <a:ea typeface="华文新魏" panose="02010800040101010101" pitchFamily="2" charset="-122"/>
                </a:rPr>
                <a:t>R</a:t>
              </a:r>
              <a:endParaRPr lang="zh-CN" altLang="zh-CN" sz="2000">
                <a:solidFill>
                  <a:srgbClr val="0000FF"/>
                </a:solidFill>
                <a:latin typeface="Verdana" panose="020B0604030504040204" pitchFamily="34" charset="0"/>
              </a:endParaRPr>
            </a:p>
          </p:txBody>
        </p:sp>
        <p:sp>
          <p:nvSpPr>
            <p:cNvPr id="16487" name="Line 23"/>
            <p:cNvSpPr>
              <a:spLocks noChangeShapeType="1"/>
            </p:cNvSpPr>
            <p:nvPr/>
          </p:nvSpPr>
          <p:spPr bwMode="auto">
            <a:xfrm>
              <a:off x="1028" y="1878"/>
              <a:ext cx="3216" cy="0"/>
            </a:xfrm>
            <a:prstGeom prst="line">
              <a:avLst/>
            </a:prstGeom>
            <a:noFill/>
            <a:ln w="38100">
              <a:solidFill>
                <a:srgbClr val="D6009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488" name="Group 24"/>
            <p:cNvGrpSpPr>
              <a:grpSpLocks/>
            </p:cNvGrpSpPr>
            <p:nvPr/>
          </p:nvGrpSpPr>
          <p:grpSpPr bwMode="auto">
            <a:xfrm>
              <a:off x="59" y="0"/>
              <a:ext cx="5136" cy="2064"/>
              <a:chOff x="0" y="0"/>
              <a:chExt cx="5136" cy="2064"/>
            </a:xfrm>
          </p:grpSpPr>
          <p:sp>
            <p:nvSpPr>
              <p:cNvPr id="16493" name="Rectangle 25"/>
              <p:cNvSpPr>
                <a:spLocks noChangeArrowheads="1"/>
              </p:cNvSpPr>
              <p:nvPr/>
            </p:nvSpPr>
            <p:spPr bwMode="auto">
              <a:xfrm>
                <a:off x="0" y="1056"/>
                <a:ext cx="960" cy="336"/>
              </a:xfrm>
              <a:prstGeom prst="rect">
                <a:avLst/>
              </a:prstGeom>
              <a:solidFill>
                <a:srgbClr val="00FF99"/>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FF0000"/>
                    </a:solidFill>
                    <a:latin typeface="Verdana" panose="020B0604030504040204" pitchFamily="34" charset="0"/>
                    <a:ea typeface="华文新魏" panose="02010800040101010101" pitchFamily="2" charset="-122"/>
                  </a:rPr>
                  <a:t>IP</a:t>
                </a:r>
              </a:p>
            </p:txBody>
          </p:sp>
          <p:sp>
            <p:nvSpPr>
              <p:cNvPr id="16494" name="Rectangle 26"/>
              <p:cNvSpPr>
                <a:spLocks noChangeArrowheads="1"/>
              </p:cNvSpPr>
              <p:nvPr/>
            </p:nvSpPr>
            <p:spPr bwMode="auto">
              <a:xfrm>
                <a:off x="0" y="1392"/>
                <a:ext cx="960" cy="336"/>
              </a:xfrm>
              <a:prstGeom prst="rect">
                <a:avLst/>
              </a:prstGeom>
              <a:solidFill>
                <a:srgbClr val="009900"/>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数据链路</a:t>
                </a:r>
              </a:p>
            </p:txBody>
          </p:sp>
          <p:sp>
            <p:nvSpPr>
              <p:cNvPr id="16495" name="Rectangle 27"/>
              <p:cNvSpPr>
                <a:spLocks noChangeArrowheads="1"/>
              </p:cNvSpPr>
              <p:nvPr/>
            </p:nvSpPr>
            <p:spPr bwMode="auto">
              <a:xfrm>
                <a:off x="0" y="1728"/>
                <a:ext cx="960" cy="336"/>
              </a:xfrm>
              <a:prstGeom prst="rect">
                <a:avLst/>
              </a:prstGeom>
              <a:solidFill>
                <a:srgbClr val="D60093"/>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物理层</a:t>
                </a:r>
              </a:p>
            </p:txBody>
          </p:sp>
          <p:sp>
            <p:nvSpPr>
              <p:cNvPr id="16496" name="Rectangle 28"/>
              <p:cNvSpPr>
                <a:spLocks noChangeArrowheads="1"/>
              </p:cNvSpPr>
              <p:nvPr/>
            </p:nvSpPr>
            <p:spPr bwMode="auto">
              <a:xfrm>
                <a:off x="0" y="720"/>
                <a:ext cx="960" cy="336"/>
              </a:xfrm>
              <a:prstGeom prst="rect">
                <a:avLst/>
              </a:prstGeom>
              <a:solidFill>
                <a:srgbClr val="FF66FF"/>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Verdana" panose="020B0604030504040204" pitchFamily="34" charset="0"/>
                    <a:ea typeface="华文新魏" panose="02010800040101010101" pitchFamily="2" charset="-122"/>
                  </a:rPr>
                  <a:t>TCP/UDP</a:t>
                </a:r>
              </a:p>
            </p:txBody>
          </p:sp>
          <p:sp>
            <p:nvSpPr>
              <p:cNvPr id="16497" name="Rectangle 29"/>
              <p:cNvSpPr>
                <a:spLocks noChangeArrowheads="1"/>
              </p:cNvSpPr>
              <p:nvPr/>
            </p:nvSpPr>
            <p:spPr bwMode="auto">
              <a:xfrm>
                <a:off x="0" y="0"/>
                <a:ext cx="960" cy="720"/>
              </a:xfrm>
              <a:prstGeom prst="rect">
                <a:avLst/>
              </a:prstGeom>
              <a:solidFill>
                <a:srgbClr val="FFFF66"/>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CC"/>
                    </a:solidFill>
                    <a:latin typeface="Verdana" panose="020B0604030504040204" pitchFamily="34" charset="0"/>
                    <a:ea typeface="华文新魏" panose="02010800040101010101" pitchFamily="2" charset="-122"/>
                  </a:rPr>
                  <a:t>应用程序</a:t>
                </a:r>
              </a:p>
            </p:txBody>
          </p:sp>
          <p:sp>
            <p:nvSpPr>
              <p:cNvPr id="16498" name="Rectangle 30"/>
              <p:cNvSpPr>
                <a:spLocks noChangeArrowheads="1"/>
              </p:cNvSpPr>
              <p:nvPr/>
            </p:nvSpPr>
            <p:spPr bwMode="auto">
              <a:xfrm>
                <a:off x="4176" y="1056"/>
                <a:ext cx="960" cy="336"/>
              </a:xfrm>
              <a:prstGeom prst="rect">
                <a:avLst/>
              </a:prstGeom>
              <a:solidFill>
                <a:srgbClr val="00FF99"/>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FF0000"/>
                    </a:solidFill>
                    <a:latin typeface="Verdana" panose="020B0604030504040204" pitchFamily="34" charset="0"/>
                    <a:ea typeface="华文新魏" panose="02010800040101010101" pitchFamily="2" charset="-122"/>
                  </a:rPr>
                  <a:t>IP</a:t>
                </a:r>
              </a:p>
            </p:txBody>
          </p:sp>
          <p:sp>
            <p:nvSpPr>
              <p:cNvPr id="16499" name="Rectangle 31"/>
              <p:cNvSpPr>
                <a:spLocks noChangeArrowheads="1"/>
              </p:cNvSpPr>
              <p:nvPr/>
            </p:nvSpPr>
            <p:spPr bwMode="auto">
              <a:xfrm>
                <a:off x="4176" y="1392"/>
                <a:ext cx="960" cy="336"/>
              </a:xfrm>
              <a:prstGeom prst="rect">
                <a:avLst/>
              </a:prstGeom>
              <a:solidFill>
                <a:srgbClr val="009900"/>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数据链路</a:t>
                </a:r>
              </a:p>
            </p:txBody>
          </p:sp>
          <p:sp>
            <p:nvSpPr>
              <p:cNvPr id="16500" name="Rectangle 32"/>
              <p:cNvSpPr>
                <a:spLocks noChangeArrowheads="1"/>
              </p:cNvSpPr>
              <p:nvPr/>
            </p:nvSpPr>
            <p:spPr bwMode="auto">
              <a:xfrm>
                <a:off x="4176" y="1728"/>
                <a:ext cx="960" cy="336"/>
              </a:xfrm>
              <a:prstGeom prst="rect">
                <a:avLst/>
              </a:prstGeom>
              <a:solidFill>
                <a:srgbClr val="D60093"/>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物理层</a:t>
                </a:r>
              </a:p>
            </p:txBody>
          </p:sp>
          <p:sp>
            <p:nvSpPr>
              <p:cNvPr id="16501" name="Rectangle 33"/>
              <p:cNvSpPr>
                <a:spLocks noChangeArrowheads="1"/>
              </p:cNvSpPr>
              <p:nvPr/>
            </p:nvSpPr>
            <p:spPr bwMode="auto">
              <a:xfrm>
                <a:off x="4176" y="720"/>
                <a:ext cx="960" cy="336"/>
              </a:xfrm>
              <a:prstGeom prst="rect">
                <a:avLst/>
              </a:prstGeom>
              <a:solidFill>
                <a:srgbClr val="FF66FF"/>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99"/>
                    </a:solidFill>
                    <a:latin typeface="Verdana" panose="020B0604030504040204" pitchFamily="34" charset="0"/>
                    <a:ea typeface="华文新魏" panose="02010800040101010101" pitchFamily="2" charset="-122"/>
                  </a:rPr>
                  <a:t>TCP/UDP</a:t>
                </a:r>
              </a:p>
            </p:txBody>
          </p:sp>
          <p:sp>
            <p:nvSpPr>
              <p:cNvPr id="16502" name="Rectangle 34"/>
              <p:cNvSpPr>
                <a:spLocks noChangeArrowheads="1"/>
              </p:cNvSpPr>
              <p:nvPr/>
            </p:nvSpPr>
            <p:spPr bwMode="auto">
              <a:xfrm>
                <a:off x="4176" y="0"/>
                <a:ext cx="960" cy="720"/>
              </a:xfrm>
              <a:prstGeom prst="rect">
                <a:avLst/>
              </a:prstGeom>
              <a:solidFill>
                <a:srgbClr val="FFFF66"/>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CC"/>
                    </a:solidFill>
                    <a:latin typeface="Verdana" panose="020B0604030504040204" pitchFamily="34" charset="0"/>
                    <a:ea typeface="华文新魏" panose="02010800040101010101" pitchFamily="2" charset="-122"/>
                  </a:rPr>
                  <a:t>应用程序</a:t>
                </a:r>
              </a:p>
            </p:txBody>
          </p:sp>
          <p:sp>
            <p:nvSpPr>
              <p:cNvPr id="16503" name="Rectangle 35"/>
              <p:cNvSpPr>
                <a:spLocks noChangeArrowheads="1"/>
              </p:cNvSpPr>
              <p:nvPr/>
            </p:nvSpPr>
            <p:spPr bwMode="auto">
              <a:xfrm>
                <a:off x="1824" y="1056"/>
                <a:ext cx="1488" cy="336"/>
              </a:xfrm>
              <a:prstGeom prst="rect">
                <a:avLst/>
              </a:prstGeom>
              <a:solidFill>
                <a:srgbClr val="00FF99"/>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FF0000"/>
                    </a:solidFill>
                    <a:latin typeface="Verdana" panose="020B0604030504040204" pitchFamily="34" charset="0"/>
                    <a:ea typeface="华文新魏" panose="02010800040101010101" pitchFamily="2" charset="-122"/>
                  </a:rPr>
                  <a:t>IP</a:t>
                </a:r>
              </a:p>
            </p:txBody>
          </p:sp>
          <p:sp>
            <p:nvSpPr>
              <p:cNvPr id="16504" name="Rectangle 36"/>
              <p:cNvSpPr>
                <a:spLocks noChangeArrowheads="1"/>
              </p:cNvSpPr>
              <p:nvPr/>
            </p:nvSpPr>
            <p:spPr bwMode="auto">
              <a:xfrm>
                <a:off x="1824" y="1392"/>
                <a:ext cx="768" cy="336"/>
              </a:xfrm>
              <a:prstGeom prst="rect">
                <a:avLst/>
              </a:prstGeom>
              <a:solidFill>
                <a:srgbClr val="009900"/>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数据链路</a:t>
                </a:r>
              </a:p>
            </p:txBody>
          </p:sp>
          <p:sp>
            <p:nvSpPr>
              <p:cNvPr id="16505" name="Rectangle 37"/>
              <p:cNvSpPr>
                <a:spLocks noChangeArrowheads="1"/>
              </p:cNvSpPr>
              <p:nvPr/>
            </p:nvSpPr>
            <p:spPr bwMode="auto">
              <a:xfrm>
                <a:off x="1824" y="1728"/>
                <a:ext cx="768" cy="336"/>
              </a:xfrm>
              <a:prstGeom prst="rect">
                <a:avLst/>
              </a:prstGeom>
              <a:solidFill>
                <a:srgbClr val="D60093"/>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物理层</a:t>
                </a:r>
              </a:p>
            </p:txBody>
          </p:sp>
          <p:sp>
            <p:nvSpPr>
              <p:cNvPr id="16506" name="Rectangle 38"/>
              <p:cNvSpPr>
                <a:spLocks noChangeArrowheads="1"/>
              </p:cNvSpPr>
              <p:nvPr/>
            </p:nvSpPr>
            <p:spPr bwMode="auto">
              <a:xfrm>
                <a:off x="2592" y="1392"/>
                <a:ext cx="720" cy="336"/>
              </a:xfrm>
              <a:prstGeom prst="rect">
                <a:avLst/>
              </a:prstGeom>
              <a:solidFill>
                <a:srgbClr val="009900"/>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数据链路</a:t>
                </a:r>
              </a:p>
            </p:txBody>
          </p:sp>
          <p:sp>
            <p:nvSpPr>
              <p:cNvPr id="16507" name="Rectangle 39"/>
              <p:cNvSpPr>
                <a:spLocks noChangeArrowheads="1"/>
              </p:cNvSpPr>
              <p:nvPr/>
            </p:nvSpPr>
            <p:spPr bwMode="auto">
              <a:xfrm>
                <a:off x="2592" y="1728"/>
                <a:ext cx="720" cy="336"/>
              </a:xfrm>
              <a:prstGeom prst="rect">
                <a:avLst/>
              </a:prstGeom>
              <a:solidFill>
                <a:srgbClr val="D60093"/>
              </a:solidFill>
              <a:ln w="28575">
                <a:solidFill>
                  <a:srgbClr val="000066"/>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Verdana" panose="020B0604030504040204" pitchFamily="34" charset="0"/>
                    <a:ea typeface="华文新魏" panose="02010800040101010101" pitchFamily="2" charset="-122"/>
                  </a:rPr>
                  <a:t>物理层</a:t>
                </a:r>
              </a:p>
            </p:txBody>
          </p:sp>
        </p:grpSp>
        <p:sp>
          <p:nvSpPr>
            <p:cNvPr id="16489" name="Rectangle 40"/>
            <p:cNvSpPr>
              <a:spLocks noChangeArrowheads="1"/>
            </p:cNvSpPr>
            <p:nvPr/>
          </p:nvSpPr>
          <p:spPr bwMode="auto">
            <a:xfrm>
              <a:off x="0" y="2119"/>
              <a:ext cx="96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FF0000"/>
                  </a:solidFill>
                  <a:latin typeface="Verdana" panose="020B0604030504040204" pitchFamily="34" charset="0"/>
                  <a:ea typeface="华文新魏" panose="02010800040101010101" pitchFamily="2" charset="-122"/>
                </a:rPr>
                <a:t>主机 A</a:t>
              </a:r>
            </a:p>
          </p:txBody>
        </p:sp>
        <p:sp>
          <p:nvSpPr>
            <p:cNvPr id="16490" name="Rectangle 41"/>
            <p:cNvSpPr>
              <a:spLocks noChangeArrowheads="1"/>
            </p:cNvSpPr>
            <p:nvPr/>
          </p:nvSpPr>
          <p:spPr bwMode="auto">
            <a:xfrm>
              <a:off x="4159" y="2091"/>
              <a:ext cx="96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FF0000"/>
                  </a:solidFill>
                  <a:latin typeface="Verdana" panose="020B0604030504040204" pitchFamily="34" charset="0"/>
                  <a:ea typeface="华文新魏" panose="02010800040101010101" pitchFamily="2" charset="-122"/>
                </a:rPr>
                <a:t>主机 B</a:t>
              </a:r>
            </a:p>
          </p:txBody>
        </p:sp>
        <p:sp>
          <p:nvSpPr>
            <p:cNvPr id="16491" name="Rectangle 42"/>
            <p:cNvSpPr>
              <a:spLocks noChangeArrowheads="1"/>
            </p:cNvSpPr>
            <p:nvPr/>
          </p:nvSpPr>
          <p:spPr bwMode="auto">
            <a:xfrm>
              <a:off x="1141" y="1869"/>
              <a:ext cx="6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66"/>
                  </a:solidFill>
                  <a:latin typeface="Verdana" panose="020B0604030504040204" pitchFamily="34" charset="0"/>
                  <a:ea typeface="隶书" panose="02010509060101010101" pitchFamily="49" charset="-122"/>
                </a:rPr>
                <a:t>网络 1</a:t>
              </a:r>
            </a:p>
          </p:txBody>
        </p:sp>
        <p:sp>
          <p:nvSpPr>
            <p:cNvPr id="16492" name="Rectangle 43"/>
            <p:cNvSpPr>
              <a:spLocks noChangeArrowheads="1"/>
            </p:cNvSpPr>
            <p:nvPr/>
          </p:nvSpPr>
          <p:spPr bwMode="auto">
            <a:xfrm>
              <a:off x="3493" y="1861"/>
              <a:ext cx="6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rgbClr val="000066"/>
                  </a:solidFill>
                  <a:latin typeface="Verdana" panose="020B0604030504040204" pitchFamily="34" charset="0"/>
                  <a:ea typeface="隶书" panose="02010509060101010101" pitchFamily="49" charset="-122"/>
                </a:rPr>
                <a:t>网络 2</a:t>
              </a:r>
            </a:p>
          </p:txBody>
        </p:sp>
      </p:grpSp>
      <p:sp>
        <p:nvSpPr>
          <p:cNvPr id="16428" name="Line 44"/>
          <p:cNvSpPr>
            <a:spLocks noChangeShapeType="1"/>
          </p:cNvSpPr>
          <p:nvPr/>
        </p:nvSpPr>
        <p:spPr bwMode="auto">
          <a:xfrm>
            <a:off x="2689225" y="3535363"/>
            <a:ext cx="0" cy="633412"/>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29" name="Line 45"/>
          <p:cNvSpPr>
            <a:spLocks noChangeShapeType="1"/>
          </p:cNvSpPr>
          <p:nvPr/>
        </p:nvSpPr>
        <p:spPr bwMode="auto">
          <a:xfrm>
            <a:off x="2689225" y="4168776"/>
            <a:ext cx="0" cy="492125"/>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30" name="Line 46"/>
          <p:cNvSpPr>
            <a:spLocks noChangeShapeType="1"/>
          </p:cNvSpPr>
          <p:nvPr/>
        </p:nvSpPr>
        <p:spPr bwMode="auto">
          <a:xfrm>
            <a:off x="2689225" y="4660901"/>
            <a:ext cx="0" cy="493713"/>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16431" name="Group 47"/>
          <p:cNvGrpSpPr>
            <a:grpSpLocks/>
          </p:cNvGrpSpPr>
          <p:nvPr/>
        </p:nvGrpSpPr>
        <p:grpSpPr bwMode="auto">
          <a:xfrm>
            <a:off x="2911475" y="2908300"/>
            <a:ext cx="2590800" cy="985838"/>
            <a:chOff x="0" y="0"/>
            <a:chExt cx="1632" cy="672"/>
          </a:xfrm>
        </p:grpSpPr>
        <p:sp>
          <p:nvSpPr>
            <p:cNvPr id="16482" name="AutoShape 48"/>
            <p:cNvSpPr>
              <a:spLocks noChangeArrowheads="1"/>
            </p:cNvSpPr>
            <p:nvPr/>
          </p:nvSpPr>
          <p:spPr bwMode="auto">
            <a:xfrm>
              <a:off x="0" y="0"/>
              <a:ext cx="1632" cy="672"/>
            </a:xfrm>
            <a:prstGeom prst="wedgeRoundRectCallout">
              <a:avLst>
                <a:gd name="adj1" fmla="val -58579"/>
                <a:gd name="adj2" fmla="val 2231"/>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83" name="Rectangle 49"/>
            <p:cNvSpPr>
              <a:spLocks noChangeArrowheads="1"/>
            </p:cNvSpPr>
            <p:nvPr/>
          </p:nvSpPr>
          <p:spPr bwMode="auto">
            <a:xfrm>
              <a:off x="768" y="336"/>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84" name="Rectangle 50"/>
            <p:cNvSpPr>
              <a:spLocks noChangeArrowheads="1"/>
            </p:cNvSpPr>
            <p:nvPr/>
          </p:nvSpPr>
          <p:spPr bwMode="auto">
            <a:xfrm>
              <a:off x="192" y="0"/>
              <a:ext cx="12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隶书" panose="02010509060101010101" pitchFamily="49" charset="-122"/>
                </a:rPr>
                <a:t>生成一个数据包</a:t>
              </a:r>
            </a:p>
          </p:txBody>
        </p:sp>
        <p:sp>
          <p:nvSpPr>
            <p:cNvPr id="16485" name="Rectangle 51"/>
            <p:cNvSpPr>
              <a:spLocks noChangeArrowheads="1"/>
            </p:cNvSpPr>
            <p:nvPr/>
          </p:nvSpPr>
          <p:spPr bwMode="auto">
            <a:xfrm>
              <a:off x="48" y="336"/>
              <a:ext cx="6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rPr>
                <a:t>A -&gt; B</a:t>
              </a:r>
            </a:p>
          </p:txBody>
        </p:sp>
      </p:grpSp>
      <p:grpSp>
        <p:nvGrpSpPr>
          <p:cNvPr id="16436" name="Group 52"/>
          <p:cNvGrpSpPr>
            <a:grpSpLocks/>
          </p:cNvGrpSpPr>
          <p:nvPr/>
        </p:nvGrpSpPr>
        <p:grpSpPr bwMode="auto">
          <a:xfrm>
            <a:off x="3014663" y="3703639"/>
            <a:ext cx="2743200" cy="915987"/>
            <a:chOff x="0" y="0"/>
            <a:chExt cx="1728" cy="624"/>
          </a:xfrm>
        </p:grpSpPr>
        <p:sp>
          <p:nvSpPr>
            <p:cNvPr id="16477" name="AutoShape 53"/>
            <p:cNvSpPr>
              <a:spLocks noChangeArrowheads="1"/>
            </p:cNvSpPr>
            <p:nvPr/>
          </p:nvSpPr>
          <p:spPr bwMode="auto">
            <a:xfrm>
              <a:off x="0" y="0"/>
              <a:ext cx="1728" cy="624"/>
            </a:xfrm>
            <a:prstGeom prst="wedgeRoundRectCallout">
              <a:avLst>
                <a:gd name="adj1" fmla="val -60995"/>
                <a:gd name="adj2" fmla="val 1120"/>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78" name="Rectangle 54"/>
            <p:cNvSpPr>
              <a:spLocks noChangeArrowheads="1"/>
            </p:cNvSpPr>
            <p:nvPr/>
          </p:nvSpPr>
          <p:spPr bwMode="auto">
            <a:xfrm>
              <a:off x="864" y="336"/>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79" name="Rectangle 55"/>
            <p:cNvSpPr>
              <a:spLocks noChangeArrowheads="1"/>
            </p:cNvSpPr>
            <p:nvPr/>
          </p:nvSpPr>
          <p:spPr bwMode="auto">
            <a:xfrm>
              <a:off x="288" y="48"/>
              <a:ext cx="105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隶书" panose="02010509060101010101" pitchFamily="49" charset="-122"/>
                </a:rPr>
                <a:t>传输层封装</a:t>
              </a:r>
            </a:p>
          </p:txBody>
        </p:sp>
        <p:sp>
          <p:nvSpPr>
            <p:cNvPr id="16480" name="Rectangle 56"/>
            <p:cNvSpPr>
              <a:spLocks noChangeArrowheads="1"/>
            </p:cNvSpPr>
            <p:nvPr/>
          </p:nvSpPr>
          <p:spPr bwMode="auto">
            <a:xfrm>
              <a:off x="192" y="336"/>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81" name="Rectangle 57"/>
            <p:cNvSpPr>
              <a:spLocks noChangeArrowheads="1"/>
            </p:cNvSpPr>
            <p:nvPr/>
          </p:nvSpPr>
          <p:spPr bwMode="auto">
            <a:xfrm>
              <a:off x="576" y="288"/>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b="1">
                  <a:solidFill>
                    <a:schemeClr val="tx2"/>
                  </a:solidFill>
                  <a:latin typeface="隶书" panose="02010509060101010101" pitchFamily="49" charset="-122"/>
                  <a:ea typeface="隶书" panose="02010509060101010101" pitchFamily="49" charset="-122"/>
                </a:rPr>
                <a:t>+</a:t>
              </a:r>
            </a:p>
          </p:txBody>
        </p:sp>
      </p:grpSp>
      <p:grpSp>
        <p:nvGrpSpPr>
          <p:cNvPr id="16442" name="Group 58"/>
          <p:cNvGrpSpPr>
            <a:grpSpLocks/>
          </p:cNvGrpSpPr>
          <p:nvPr/>
        </p:nvGrpSpPr>
        <p:grpSpPr bwMode="auto">
          <a:xfrm>
            <a:off x="3009900" y="4046539"/>
            <a:ext cx="3352800" cy="1760537"/>
            <a:chOff x="0" y="0"/>
            <a:chExt cx="2112" cy="1200"/>
          </a:xfrm>
        </p:grpSpPr>
        <p:sp>
          <p:nvSpPr>
            <p:cNvPr id="16466" name="AutoShape 59"/>
            <p:cNvSpPr>
              <a:spLocks noChangeArrowheads="1"/>
            </p:cNvSpPr>
            <p:nvPr/>
          </p:nvSpPr>
          <p:spPr bwMode="auto">
            <a:xfrm>
              <a:off x="0" y="0"/>
              <a:ext cx="2112" cy="1200"/>
            </a:xfrm>
            <a:prstGeom prst="wedgeRoundRectCallout">
              <a:avLst>
                <a:gd name="adj1" fmla="val -59755"/>
                <a:gd name="adj2" fmla="val -13250"/>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67" name="Rectangle 60"/>
            <p:cNvSpPr>
              <a:spLocks noChangeArrowheads="1"/>
            </p:cNvSpPr>
            <p:nvPr/>
          </p:nvSpPr>
          <p:spPr bwMode="auto">
            <a:xfrm>
              <a:off x="1296" y="288"/>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68" name="Rectangle 61"/>
            <p:cNvSpPr>
              <a:spLocks noChangeArrowheads="1"/>
            </p:cNvSpPr>
            <p:nvPr/>
          </p:nvSpPr>
          <p:spPr bwMode="auto">
            <a:xfrm>
              <a:off x="96" y="48"/>
              <a:ext cx="96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华文新魏" panose="02010800040101010101" pitchFamily="2" charset="-122"/>
                </a:rPr>
                <a:t>1.  </a:t>
              </a:r>
              <a:r>
                <a:rPr lang="zh-CN" altLang="zh-CN" sz="2400">
                  <a:solidFill>
                    <a:schemeClr val="tx2"/>
                  </a:solidFill>
                  <a:latin typeface="Verdana" panose="020B0604030504040204" pitchFamily="34" charset="0"/>
                  <a:ea typeface="华文新魏" panose="02010800040101010101" pitchFamily="2" charset="-122"/>
                </a:rPr>
                <a:t>IP </a:t>
              </a:r>
              <a:r>
                <a:rPr lang="zh-CN" altLang="zh-CN" sz="2400">
                  <a:solidFill>
                    <a:schemeClr val="tx2"/>
                  </a:solidFill>
                  <a:latin typeface="Verdana" panose="020B0604030504040204" pitchFamily="34" charset="0"/>
                  <a:ea typeface="隶书" panose="02010509060101010101" pitchFamily="49" charset="-122"/>
                </a:rPr>
                <a:t>层封装</a:t>
              </a:r>
            </a:p>
          </p:txBody>
        </p:sp>
        <p:sp>
          <p:nvSpPr>
            <p:cNvPr id="16469" name="Rectangle 62"/>
            <p:cNvSpPr>
              <a:spLocks noChangeArrowheads="1"/>
            </p:cNvSpPr>
            <p:nvPr/>
          </p:nvSpPr>
          <p:spPr bwMode="auto">
            <a:xfrm>
              <a:off x="960" y="288"/>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70" name="Rectangle 63"/>
            <p:cNvSpPr>
              <a:spLocks noChangeArrowheads="1"/>
            </p:cNvSpPr>
            <p:nvPr/>
          </p:nvSpPr>
          <p:spPr bwMode="auto">
            <a:xfrm>
              <a:off x="240" y="288"/>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sp>
          <p:nvSpPr>
            <p:cNvPr id="16471" name="Rectangle 64"/>
            <p:cNvSpPr>
              <a:spLocks noChangeArrowheads="1"/>
            </p:cNvSpPr>
            <p:nvPr/>
          </p:nvSpPr>
          <p:spPr bwMode="auto">
            <a:xfrm>
              <a:off x="672" y="240"/>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b="1">
                  <a:solidFill>
                    <a:schemeClr val="tx2"/>
                  </a:solidFill>
                  <a:latin typeface="隶书" panose="02010509060101010101" pitchFamily="49" charset="-122"/>
                  <a:ea typeface="隶书" panose="02010509060101010101" pitchFamily="49" charset="-122"/>
                </a:rPr>
                <a:t>+</a:t>
              </a:r>
            </a:p>
          </p:txBody>
        </p:sp>
        <p:sp>
          <p:nvSpPr>
            <p:cNvPr id="16472" name="Rectangle 65"/>
            <p:cNvSpPr>
              <a:spLocks noChangeArrowheads="1"/>
            </p:cNvSpPr>
            <p:nvPr/>
          </p:nvSpPr>
          <p:spPr bwMode="auto">
            <a:xfrm>
              <a:off x="738" y="528"/>
              <a:ext cx="12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latin typeface="Verdana" panose="020B0604030504040204" pitchFamily="34" charset="0"/>
                  <a:ea typeface="隶书" panose="02010509060101010101" pitchFamily="49" charset="-122"/>
                </a:rPr>
                <a:t>目的 IP 地址 = B</a:t>
              </a:r>
            </a:p>
          </p:txBody>
        </p:sp>
        <p:sp>
          <p:nvSpPr>
            <p:cNvPr id="16473" name="Line 66"/>
            <p:cNvSpPr>
              <a:spLocks noChangeShapeType="1"/>
            </p:cNvSpPr>
            <p:nvPr/>
          </p:nvSpPr>
          <p:spPr bwMode="auto">
            <a:xfrm>
              <a:off x="432" y="480"/>
              <a:ext cx="0" cy="1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74" name="Line 67"/>
            <p:cNvSpPr>
              <a:spLocks noChangeShapeType="1"/>
            </p:cNvSpPr>
            <p:nvPr/>
          </p:nvSpPr>
          <p:spPr bwMode="auto">
            <a:xfrm>
              <a:off x="432" y="624"/>
              <a:ext cx="28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75" name="Rectangle 68"/>
            <p:cNvSpPr>
              <a:spLocks noChangeArrowheads="1"/>
            </p:cNvSpPr>
            <p:nvPr/>
          </p:nvSpPr>
          <p:spPr bwMode="auto">
            <a:xfrm>
              <a:off x="96" y="720"/>
              <a:ext cx="163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华文新魏" panose="02010800040101010101" pitchFamily="2" charset="-122"/>
                </a:rPr>
                <a:t>2.</a:t>
              </a:r>
              <a:r>
                <a:rPr lang="zh-CN" altLang="zh-CN" sz="2000">
                  <a:solidFill>
                    <a:schemeClr val="tx2"/>
                  </a:solidFill>
                  <a:latin typeface="Times New Roman" panose="02020603050405020304" pitchFamily="18" charset="0"/>
                  <a:ea typeface="华文新魏" panose="02010800040101010101" pitchFamily="2" charset="-122"/>
                </a:rPr>
                <a:t> </a:t>
              </a:r>
              <a:r>
                <a:rPr lang="zh-CN" altLang="zh-CN" sz="2400">
                  <a:solidFill>
                    <a:schemeClr val="tx2"/>
                  </a:solidFill>
                  <a:latin typeface="Times New Roman" panose="02020603050405020304" pitchFamily="18" charset="0"/>
                  <a:ea typeface="隶书" panose="02010509060101010101" pitchFamily="49" charset="-122"/>
                </a:rPr>
                <a:t>确定传送的下一站</a:t>
              </a:r>
            </a:p>
          </p:txBody>
        </p:sp>
        <p:sp>
          <p:nvSpPr>
            <p:cNvPr id="16476" name="Rectangle 69"/>
            <p:cNvSpPr>
              <a:spLocks noChangeArrowheads="1"/>
            </p:cNvSpPr>
            <p:nvPr/>
          </p:nvSpPr>
          <p:spPr bwMode="auto">
            <a:xfrm>
              <a:off x="384" y="960"/>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latin typeface="Verdana" panose="020B0604030504040204" pitchFamily="34" charset="0"/>
                  <a:ea typeface="隶书" panose="02010509060101010101" pitchFamily="49" charset="-122"/>
                </a:rPr>
                <a:t>下一站 IP 地址 = R</a:t>
              </a:r>
            </a:p>
          </p:txBody>
        </p:sp>
      </p:grpSp>
      <p:grpSp>
        <p:nvGrpSpPr>
          <p:cNvPr id="16454" name="Group 70"/>
          <p:cNvGrpSpPr>
            <a:grpSpLocks/>
          </p:cNvGrpSpPr>
          <p:nvPr/>
        </p:nvGrpSpPr>
        <p:grpSpPr bwMode="auto">
          <a:xfrm>
            <a:off x="2930526" y="4322764"/>
            <a:ext cx="4213225" cy="1690687"/>
            <a:chOff x="0" y="0"/>
            <a:chExt cx="2654" cy="1152"/>
          </a:xfrm>
        </p:grpSpPr>
        <p:sp>
          <p:nvSpPr>
            <p:cNvPr id="16456" name="AutoShape 71"/>
            <p:cNvSpPr>
              <a:spLocks noChangeArrowheads="1"/>
            </p:cNvSpPr>
            <p:nvPr/>
          </p:nvSpPr>
          <p:spPr bwMode="auto">
            <a:xfrm>
              <a:off x="0" y="0"/>
              <a:ext cx="2654" cy="1152"/>
            </a:xfrm>
            <a:prstGeom prst="wedgeRoundRectCallout">
              <a:avLst>
                <a:gd name="adj1" fmla="val -55352"/>
                <a:gd name="adj2" fmla="val 259"/>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57" name="Rectangle 72"/>
            <p:cNvSpPr>
              <a:spLocks noChangeArrowheads="1"/>
            </p:cNvSpPr>
            <p:nvPr/>
          </p:nvSpPr>
          <p:spPr bwMode="auto">
            <a:xfrm>
              <a:off x="1440" y="624"/>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58" name="Rectangle 73"/>
            <p:cNvSpPr>
              <a:spLocks noChangeArrowheads="1"/>
            </p:cNvSpPr>
            <p:nvPr/>
          </p:nvSpPr>
          <p:spPr bwMode="auto">
            <a:xfrm>
              <a:off x="192" y="48"/>
              <a:ext cx="19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AutoNum type="arabicPeriod"/>
              </a:pPr>
              <a:r>
                <a:rPr lang="zh-CN" altLang="zh-CN" sz="2400">
                  <a:solidFill>
                    <a:schemeClr val="tx2"/>
                  </a:solidFill>
                  <a:latin typeface="Verdana" panose="020B0604030504040204" pitchFamily="34" charset="0"/>
                  <a:ea typeface="隶书" panose="02010509060101010101" pitchFamily="49" charset="-122"/>
                </a:rPr>
                <a:t>计算 R 的物理地址 PR</a:t>
              </a:r>
            </a:p>
            <a:p>
              <a:pPr eaLnBrk="1" hangingPunct="1">
                <a:spcBef>
                  <a:spcPct val="0"/>
                </a:spcBef>
                <a:buClrTx/>
                <a:buSzTx/>
                <a:buFont typeface="Wingdings" panose="05000000000000000000" pitchFamily="2" charset="2"/>
                <a:buAutoNum type="arabicPeriod"/>
              </a:pPr>
              <a:r>
                <a:rPr lang="zh-CN" altLang="zh-CN" sz="2400">
                  <a:solidFill>
                    <a:schemeClr val="tx2"/>
                  </a:solidFill>
                  <a:latin typeface="Verdana" panose="020B0604030504040204" pitchFamily="34" charset="0"/>
                  <a:ea typeface="隶书" panose="02010509060101010101" pitchFamily="49" charset="-122"/>
                </a:rPr>
                <a:t>数据链路帧封装</a:t>
              </a:r>
            </a:p>
          </p:txBody>
        </p:sp>
        <p:sp>
          <p:nvSpPr>
            <p:cNvPr id="16459" name="Rectangle 74"/>
            <p:cNvSpPr>
              <a:spLocks noChangeArrowheads="1"/>
            </p:cNvSpPr>
            <p:nvPr/>
          </p:nvSpPr>
          <p:spPr bwMode="auto">
            <a:xfrm>
              <a:off x="1104" y="624"/>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60" name="Rectangle 75"/>
            <p:cNvSpPr>
              <a:spLocks noChangeArrowheads="1"/>
            </p:cNvSpPr>
            <p:nvPr/>
          </p:nvSpPr>
          <p:spPr bwMode="auto">
            <a:xfrm>
              <a:off x="720" y="624"/>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sp>
          <p:nvSpPr>
            <p:cNvPr id="16461" name="Rectangle 76"/>
            <p:cNvSpPr>
              <a:spLocks noChangeArrowheads="1"/>
            </p:cNvSpPr>
            <p:nvPr/>
          </p:nvSpPr>
          <p:spPr bwMode="auto">
            <a:xfrm>
              <a:off x="432" y="57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b="1">
                  <a:solidFill>
                    <a:schemeClr val="tx2"/>
                  </a:solidFill>
                  <a:latin typeface="隶书" panose="02010509060101010101" pitchFamily="49" charset="-122"/>
                  <a:ea typeface="隶书" panose="02010509060101010101" pitchFamily="49" charset="-122"/>
                </a:rPr>
                <a:t>+</a:t>
              </a:r>
            </a:p>
          </p:txBody>
        </p:sp>
        <p:sp>
          <p:nvSpPr>
            <p:cNvPr id="16462" name="Rectangle 77"/>
            <p:cNvSpPr>
              <a:spLocks noChangeArrowheads="1"/>
            </p:cNvSpPr>
            <p:nvPr/>
          </p:nvSpPr>
          <p:spPr bwMode="auto">
            <a:xfrm>
              <a:off x="636" y="854"/>
              <a:ext cx="13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latin typeface="Verdana" panose="020B0604030504040204" pitchFamily="34" charset="0"/>
                  <a:ea typeface="隶书" panose="02010509060101010101" pitchFamily="49" charset="-122"/>
                </a:rPr>
                <a:t>目的物理地址 = PR</a:t>
              </a:r>
            </a:p>
          </p:txBody>
        </p:sp>
        <p:sp>
          <p:nvSpPr>
            <p:cNvPr id="16463" name="Line 78"/>
            <p:cNvSpPr>
              <a:spLocks noChangeShapeType="1"/>
            </p:cNvSpPr>
            <p:nvPr/>
          </p:nvSpPr>
          <p:spPr bwMode="auto">
            <a:xfrm>
              <a:off x="288" y="816"/>
              <a:ext cx="0" cy="1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64" name="Line 79"/>
            <p:cNvSpPr>
              <a:spLocks noChangeShapeType="1"/>
            </p:cNvSpPr>
            <p:nvPr/>
          </p:nvSpPr>
          <p:spPr bwMode="auto">
            <a:xfrm>
              <a:off x="288" y="960"/>
              <a:ext cx="28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65" name="Rectangle 80"/>
            <p:cNvSpPr>
              <a:spLocks noChangeArrowheads="1"/>
            </p:cNvSpPr>
            <p:nvPr/>
          </p:nvSpPr>
          <p:spPr bwMode="auto">
            <a:xfrm>
              <a:off x="144" y="624"/>
              <a:ext cx="288" cy="192"/>
            </a:xfrm>
            <a:prstGeom prst="rect">
              <a:avLst/>
            </a:prstGeom>
            <a:solidFill>
              <a:srgbClr val="00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F-H</a:t>
              </a:r>
            </a:p>
          </p:txBody>
        </p:sp>
      </p:grpSp>
      <p:sp>
        <p:nvSpPr>
          <p:cNvPr id="2" name="未知"/>
          <p:cNvSpPr>
            <a:spLocks noChangeArrowheads="1"/>
          </p:cNvSpPr>
          <p:nvPr/>
        </p:nvSpPr>
        <p:spPr bwMode="auto">
          <a:xfrm>
            <a:off x="2692400" y="5141913"/>
            <a:ext cx="2647950" cy="508000"/>
          </a:xfrm>
          <a:custGeom>
            <a:avLst/>
            <a:gdLst>
              <a:gd name="T0" fmla="*/ 0 w 1688"/>
              <a:gd name="T1" fmla="*/ 14640 h 347"/>
              <a:gd name="T2" fmla="*/ 0 w 1688"/>
              <a:gd name="T3" fmla="*/ 508000 h 347"/>
              <a:gd name="T4" fmla="*/ 2647950 w 1688"/>
              <a:gd name="T5" fmla="*/ 508000 h 347"/>
              <a:gd name="T6" fmla="*/ 2647950 w 1688"/>
              <a:gd name="T7" fmla="*/ 0 h 3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8" h="347">
                <a:moveTo>
                  <a:pt x="0" y="10"/>
                </a:moveTo>
                <a:lnTo>
                  <a:pt x="0" y="347"/>
                </a:lnTo>
                <a:lnTo>
                  <a:pt x="1688" y="347"/>
                </a:lnTo>
                <a:lnTo>
                  <a:pt x="1688" y="0"/>
                </a:lnTo>
              </a:path>
            </a:pathLst>
          </a:custGeom>
          <a:noFill/>
          <a:ln w="50800">
            <a:solidFill>
              <a:schemeClr val="hlink"/>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 name="Group 82"/>
          <p:cNvGrpSpPr>
            <a:grpSpLocks/>
          </p:cNvGrpSpPr>
          <p:nvPr/>
        </p:nvGrpSpPr>
        <p:grpSpPr bwMode="auto">
          <a:xfrm>
            <a:off x="1570038" y="4078288"/>
            <a:ext cx="3429000" cy="1198562"/>
            <a:chOff x="0" y="0"/>
            <a:chExt cx="2160" cy="817"/>
          </a:xfrm>
        </p:grpSpPr>
        <p:sp>
          <p:nvSpPr>
            <p:cNvPr id="16449" name="AutoShape 83"/>
            <p:cNvSpPr>
              <a:spLocks noChangeArrowheads="1"/>
            </p:cNvSpPr>
            <p:nvPr/>
          </p:nvSpPr>
          <p:spPr bwMode="auto">
            <a:xfrm>
              <a:off x="0" y="0"/>
              <a:ext cx="2160" cy="817"/>
            </a:xfrm>
            <a:prstGeom prst="wedgeRoundRectCallout">
              <a:avLst>
                <a:gd name="adj1" fmla="val 59352"/>
                <a:gd name="adj2" fmla="val 34944"/>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50" name="Rectangle 84"/>
            <p:cNvSpPr>
              <a:spLocks noChangeArrowheads="1"/>
            </p:cNvSpPr>
            <p:nvPr/>
          </p:nvSpPr>
          <p:spPr bwMode="auto">
            <a:xfrm>
              <a:off x="48" y="47"/>
              <a:ext cx="19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解除数据链路帧的封装</a:t>
              </a:r>
            </a:p>
          </p:txBody>
        </p:sp>
        <p:sp>
          <p:nvSpPr>
            <p:cNvPr id="16451" name="Rectangle 85"/>
            <p:cNvSpPr>
              <a:spLocks noChangeArrowheads="1"/>
            </p:cNvSpPr>
            <p:nvPr/>
          </p:nvSpPr>
          <p:spPr bwMode="auto">
            <a:xfrm>
              <a:off x="48" y="385"/>
              <a:ext cx="288" cy="192"/>
            </a:xfrm>
            <a:prstGeom prst="rect">
              <a:avLst/>
            </a:prstGeom>
            <a:solidFill>
              <a:srgbClr val="00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F-H</a:t>
              </a:r>
            </a:p>
          </p:txBody>
        </p:sp>
        <p:sp>
          <p:nvSpPr>
            <p:cNvPr id="16452" name="Rectangle 86"/>
            <p:cNvSpPr>
              <a:spLocks noChangeArrowheads="1"/>
            </p:cNvSpPr>
            <p:nvPr/>
          </p:nvSpPr>
          <p:spPr bwMode="auto">
            <a:xfrm>
              <a:off x="336" y="337"/>
              <a:ext cx="1440" cy="336"/>
            </a:xfrm>
            <a:prstGeom prst="rect">
              <a:avLst/>
            </a:prstGeom>
            <a:solidFill>
              <a:srgbClr val="000066"/>
            </a:solidFill>
            <a:ln w="28575">
              <a:solidFill>
                <a:schemeClr val="tx2"/>
              </a:solidFill>
              <a:prstDash val="dash"/>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6453" name="Rectangle 87"/>
            <p:cNvSpPr>
              <a:spLocks noChangeArrowheads="1"/>
            </p:cNvSpPr>
            <p:nvPr/>
          </p:nvSpPr>
          <p:spPr bwMode="auto">
            <a:xfrm>
              <a:off x="1056" y="385"/>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4" name="Rectangle 88"/>
            <p:cNvSpPr>
              <a:spLocks noChangeArrowheads="1"/>
            </p:cNvSpPr>
            <p:nvPr/>
          </p:nvSpPr>
          <p:spPr bwMode="auto">
            <a:xfrm>
              <a:off x="720" y="385"/>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55" name="Rectangle 89"/>
            <p:cNvSpPr>
              <a:spLocks noChangeArrowheads="1"/>
            </p:cNvSpPr>
            <p:nvPr/>
          </p:nvSpPr>
          <p:spPr bwMode="auto">
            <a:xfrm>
              <a:off x="336" y="385"/>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grpSp>
      <p:sp>
        <p:nvSpPr>
          <p:cNvPr id="5" name="Line 90"/>
          <p:cNvSpPr>
            <a:spLocks noChangeShapeType="1"/>
          </p:cNvSpPr>
          <p:nvPr/>
        </p:nvSpPr>
        <p:spPr bwMode="auto">
          <a:xfrm rot="10800000">
            <a:off x="5337175" y="4670425"/>
            <a:ext cx="0" cy="488950"/>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6" name="Group 91"/>
          <p:cNvGrpSpPr>
            <a:grpSpLocks/>
          </p:cNvGrpSpPr>
          <p:nvPr/>
        </p:nvGrpSpPr>
        <p:grpSpPr bwMode="auto">
          <a:xfrm>
            <a:off x="3059113" y="2849563"/>
            <a:ext cx="4813300" cy="1549400"/>
            <a:chOff x="0" y="0"/>
            <a:chExt cx="3032" cy="1056"/>
          </a:xfrm>
        </p:grpSpPr>
        <p:sp>
          <p:nvSpPr>
            <p:cNvPr id="16441" name="AutoShape 92"/>
            <p:cNvSpPr>
              <a:spLocks noChangeArrowheads="1"/>
            </p:cNvSpPr>
            <p:nvPr/>
          </p:nvSpPr>
          <p:spPr bwMode="auto">
            <a:xfrm>
              <a:off x="0" y="0"/>
              <a:ext cx="3032" cy="1056"/>
            </a:xfrm>
            <a:prstGeom prst="wedgeRoundRectCallout">
              <a:avLst>
                <a:gd name="adj1" fmla="val -1912"/>
                <a:gd name="adj2" fmla="val 64014"/>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7" name="Rectangle 93"/>
            <p:cNvSpPr>
              <a:spLocks noChangeArrowheads="1"/>
            </p:cNvSpPr>
            <p:nvPr/>
          </p:nvSpPr>
          <p:spPr bwMode="auto">
            <a:xfrm>
              <a:off x="864" y="336"/>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43" name="Rectangle 94"/>
            <p:cNvSpPr>
              <a:spLocks noChangeArrowheads="1"/>
            </p:cNvSpPr>
            <p:nvPr/>
          </p:nvSpPr>
          <p:spPr bwMode="auto">
            <a:xfrm>
              <a:off x="576" y="48"/>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IP 选路</a:t>
              </a:r>
            </a:p>
          </p:txBody>
        </p:sp>
        <p:sp>
          <p:nvSpPr>
            <p:cNvPr id="16444" name="Rectangle 95"/>
            <p:cNvSpPr>
              <a:spLocks noChangeArrowheads="1"/>
            </p:cNvSpPr>
            <p:nvPr/>
          </p:nvSpPr>
          <p:spPr bwMode="auto">
            <a:xfrm>
              <a:off x="528" y="336"/>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45" name="Rectangle 96"/>
            <p:cNvSpPr>
              <a:spLocks noChangeArrowheads="1"/>
            </p:cNvSpPr>
            <p:nvPr/>
          </p:nvSpPr>
          <p:spPr bwMode="auto">
            <a:xfrm>
              <a:off x="336" y="576"/>
              <a:ext cx="24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187325" indent="-1873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000">
                  <a:latin typeface="Verdana" panose="020B0604030504040204" pitchFamily="34" charset="0"/>
                  <a:ea typeface="隶书" panose="02010509060101010101" pitchFamily="49" charset="-122"/>
                </a:rPr>
                <a:t>1.取出目的 IP 地址   </a:t>
              </a:r>
              <a:r>
                <a:rPr lang="zh-CN" altLang="zh-CN" sz="2000">
                  <a:solidFill>
                    <a:schemeClr val="tx2"/>
                  </a:solidFill>
                  <a:latin typeface="Verdana" panose="020B0604030504040204" pitchFamily="34" charset="0"/>
                  <a:ea typeface="隶书" panose="02010509060101010101" pitchFamily="49" charset="-122"/>
                </a:rPr>
                <a:t>目的地址 = B</a:t>
              </a:r>
            </a:p>
            <a:p>
              <a:pPr eaLnBrk="1" hangingPunct="1">
                <a:spcBef>
                  <a:spcPct val="0"/>
                </a:spcBef>
                <a:buClrTx/>
                <a:buSzTx/>
                <a:buFont typeface="Wingdings" panose="05000000000000000000" pitchFamily="2" charset="2"/>
                <a:buNone/>
              </a:pPr>
              <a:r>
                <a:rPr lang="zh-CN" altLang="zh-CN" sz="2000">
                  <a:latin typeface="Verdana" panose="020B0604030504040204" pitchFamily="34" charset="0"/>
                  <a:ea typeface="隶书" panose="02010509060101010101" pitchFamily="49" charset="-122"/>
                </a:rPr>
                <a:t>2.确定传送的下一站  </a:t>
              </a:r>
              <a:r>
                <a:rPr lang="zh-CN" altLang="zh-CN" sz="2000">
                  <a:solidFill>
                    <a:schemeClr val="tx2"/>
                  </a:solidFill>
                  <a:latin typeface="Verdana" panose="020B0604030504040204" pitchFamily="34" charset="0"/>
                  <a:ea typeface="隶书" panose="02010509060101010101" pitchFamily="49" charset="-122"/>
                </a:rPr>
                <a:t>下一站 = B</a:t>
              </a:r>
              <a:endParaRPr lang="zh-CN" altLang="zh-CN" sz="2000">
                <a:latin typeface="Verdana" panose="020B0604030504040204" pitchFamily="34" charset="0"/>
                <a:ea typeface="隶书" panose="02010509060101010101" pitchFamily="49" charset="-122"/>
              </a:endParaRPr>
            </a:p>
          </p:txBody>
        </p:sp>
        <p:sp>
          <p:nvSpPr>
            <p:cNvPr id="16446" name="Line 97"/>
            <p:cNvSpPr>
              <a:spLocks noChangeShapeType="1"/>
            </p:cNvSpPr>
            <p:nvPr/>
          </p:nvSpPr>
          <p:spPr bwMode="auto">
            <a:xfrm>
              <a:off x="240" y="528"/>
              <a:ext cx="0" cy="1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7" name="Line 98"/>
            <p:cNvSpPr>
              <a:spLocks noChangeShapeType="1"/>
            </p:cNvSpPr>
            <p:nvPr/>
          </p:nvSpPr>
          <p:spPr bwMode="auto">
            <a:xfrm>
              <a:off x="240" y="672"/>
              <a:ext cx="144"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8" name="Rectangle 99"/>
            <p:cNvSpPr>
              <a:spLocks noChangeArrowheads="1"/>
            </p:cNvSpPr>
            <p:nvPr/>
          </p:nvSpPr>
          <p:spPr bwMode="auto">
            <a:xfrm>
              <a:off x="144" y="336"/>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grpSp>
      <p:grpSp>
        <p:nvGrpSpPr>
          <p:cNvPr id="8" name="Group 100"/>
          <p:cNvGrpSpPr>
            <a:grpSpLocks/>
          </p:cNvGrpSpPr>
          <p:nvPr/>
        </p:nvGrpSpPr>
        <p:grpSpPr bwMode="auto">
          <a:xfrm>
            <a:off x="6850064" y="4064000"/>
            <a:ext cx="3787775" cy="1690688"/>
            <a:chOff x="0" y="0"/>
            <a:chExt cx="2386" cy="1152"/>
          </a:xfrm>
        </p:grpSpPr>
        <p:sp>
          <p:nvSpPr>
            <p:cNvPr id="9" name="AutoShape 101"/>
            <p:cNvSpPr>
              <a:spLocks noChangeArrowheads="1"/>
            </p:cNvSpPr>
            <p:nvPr/>
          </p:nvSpPr>
          <p:spPr bwMode="auto">
            <a:xfrm>
              <a:off x="0" y="0"/>
              <a:ext cx="2386" cy="1152"/>
            </a:xfrm>
            <a:prstGeom prst="wedgeRoundRectCallout">
              <a:avLst>
                <a:gd name="adj1" fmla="val -54819"/>
                <a:gd name="adj2" fmla="val 20486"/>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32" name="Rectangle 102"/>
            <p:cNvSpPr>
              <a:spLocks noChangeArrowheads="1"/>
            </p:cNvSpPr>
            <p:nvPr/>
          </p:nvSpPr>
          <p:spPr bwMode="auto">
            <a:xfrm>
              <a:off x="1440" y="624"/>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33" name="Rectangle 103"/>
            <p:cNvSpPr>
              <a:spLocks noChangeArrowheads="1"/>
            </p:cNvSpPr>
            <p:nvPr/>
          </p:nvSpPr>
          <p:spPr bwMode="auto">
            <a:xfrm>
              <a:off x="2" y="68"/>
              <a:ext cx="19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AutoNum type="arabicPeriod"/>
              </a:pPr>
              <a:r>
                <a:rPr lang="zh-CN" altLang="zh-CN" sz="2400">
                  <a:solidFill>
                    <a:schemeClr val="tx2"/>
                  </a:solidFill>
                  <a:latin typeface="Verdana" panose="020B0604030504040204" pitchFamily="34" charset="0"/>
                  <a:ea typeface="隶书" panose="02010509060101010101" pitchFamily="49" charset="-122"/>
                </a:rPr>
                <a:t>计算 B 的物理地址 PB</a:t>
              </a:r>
            </a:p>
            <a:p>
              <a:pPr eaLnBrk="1" hangingPunct="1">
                <a:spcBef>
                  <a:spcPct val="0"/>
                </a:spcBef>
                <a:buClrTx/>
                <a:buSzTx/>
                <a:buFont typeface="Wingdings" panose="05000000000000000000" pitchFamily="2" charset="2"/>
                <a:buAutoNum type="arabicPeriod"/>
              </a:pPr>
              <a:r>
                <a:rPr lang="zh-CN" altLang="zh-CN" sz="2400">
                  <a:solidFill>
                    <a:schemeClr val="tx2"/>
                  </a:solidFill>
                  <a:latin typeface="Verdana" panose="020B0604030504040204" pitchFamily="34" charset="0"/>
                  <a:ea typeface="隶书" panose="02010509060101010101" pitchFamily="49" charset="-122"/>
                </a:rPr>
                <a:t>数据链路帧封装</a:t>
              </a:r>
            </a:p>
          </p:txBody>
        </p:sp>
        <p:sp>
          <p:nvSpPr>
            <p:cNvPr id="16434" name="Rectangle 104"/>
            <p:cNvSpPr>
              <a:spLocks noChangeArrowheads="1"/>
            </p:cNvSpPr>
            <p:nvPr/>
          </p:nvSpPr>
          <p:spPr bwMode="auto">
            <a:xfrm>
              <a:off x="1104" y="624"/>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35" name="Rectangle 105"/>
            <p:cNvSpPr>
              <a:spLocks noChangeArrowheads="1"/>
            </p:cNvSpPr>
            <p:nvPr/>
          </p:nvSpPr>
          <p:spPr bwMode="auto">
            <a:xfrm>
              <a:off x="720" y="624"/>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sp>
          <p:nvSpPr>
            <p:cNvPr id="10" name="Rectangle 106"/>
            <p:cNvSpPr>
              <a:spLocks noChangeArrowheads="1"/>
            </p:cNvSpPr>
            <p:nvPr/>
          </p:nvSpPr>
          <p:spPr bwMode="auto">
            <a:xfrm>
              <a:off x="432" y="57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b="1">
                  <a:solidFill>
                    <a:schemeClr val="tx2"/>
                  </a:solidFill>
                  <a:latin typeface="隶书" panose="02010509060101010101" pitchFamily="49" charset="-122"/>
                  <a:ea typeface="隶书" panose="02010509060101010101" pitchFamily="49" charset="-122"/>
                </a:rPr>
                <a:t>+</a:t>
              </a:r>
            </a:p>
          </p:txBody>
        </p:sp>
        <p:sp>
          <p:nvSpPr>
            <p:cNvPr id="16437" name="Rectangle 107"/>
            <p:cNvSpPr>
              <a:spLocks noChangeArrowheads="1"/>
            </p:cNvSpPr>
            <p:nvPr/>
          </p:nvSpPr>
          <p:spPr bwMode="auto">
            <a:xfrm>
              <a:off x="626" y="864"/>
              <a:ext cx="13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latin typeface="Verdana" panose="020B0604030504040204" pitchFamily="34" charset="0"/>
                  <a:ea typeface="隶书" panose="02010509060101010101" pitchFamily="49" charset="-122"/>
                </a:rPr>
                <a:t>目的物理地址 = PB</a:t>
              </a:r>
            </a:p>
          </p:txBody>
        </p:sp>
        <p:sp>
          <p:nvSpPr>
            <p:cNvPr id="16438" name="Line 108"/>
            <p:cNvSpPr>
              <a:spLocks noChangeShapeType="1"/>
            </p:cNvSpPr>
            <p:nvPr/>
          </p:nvSpPr>
          <p:spPr bwMode="auto">
            <a:xfrm>
              <a:off x="288" y="816"/>
              <a:ext cx="0" cy="1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9" name="Line 109"/>
            <p:cNvSpPr>
              <a:spLocks noChangeShapeType="1"/>
            </p:cNvSpPr>
            <p:nvPr/>
          </p:nvSpPr>
          <p:spPr bwMode="auto">
            <a:xfrm>
              <a:off x="288" y="960"/>
              <a:ext cx="28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0" name="Rectangle 110"/>
            <p:cNvSpPr>
              <a:spLocks noChangeArrowheads="1"/>
            </p:cNvSpPr>
            <p:nvPr/>
          </p:nvSpPr>
          <p:spPr bwMode="auto">
            <a:xfrm>
              <a:off x="144" y="624"/>
              <a:ext cx="288" cy="192"/>
            </a:xfrm>
            <a:prstGeom prst="rect">
              <a:avLst/>
            </a:prstGeom>
            <a:solidFill>
              <a:srgbClr val="00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F-H</a:t>
              </a:r>
            </a:p>
          </p:txBody>
        </p:sp>
      </p:grpSp>
      <p:sp>
        <p:nvSpPr>
          <p:cNvPr id="11" name="未知"/>
          <p:cNvSpPr>
            <a:spLocks noChangeArrowheads="1"/>
          </p:cNvSpPr>
          <p:nvPr/>
        </p:nvSpPr>
        <p:spPr bwMode="auto">
          <a:xfrm>
            <a:off x="5338764" y="4643438"/>
            <a:ext cx="1311275" cy="482600"/>
          </a:xfrm>
          <a:custGeom>
            <a:avLst/>
            <a:gdLst>
              <a:gd name="T0" fmla="*/ 0 w 835"/>
              <a:gd name="T1" fmla="*/ 0 h 328"/>
              <a:gd name="T2" fmla="*/ 1311275 w 835"/>
              <a:gd name="T3" fmla="*/ 0 h 328"/>
              <a:gd name="T4" fmla="*/ 1311275 w 835"/>
              <a:gd name="T5" fmla="*/ 482600 h 328"/>
              <a:gd name="T6" fmla="*/ 0 60000 65536"/>
              <a:gd name="T7" fmla="*/ 0 60000 65536"/>
              <a:gd name="T8" fmla="*/ 0 60000 65536"/>
            </a:gdLst>
            <a:ahLst/>
            <a:cxnLst>
              <a:cxn ang="T6">
                <a:pos x="T0" y="T1"/>
              </a:cxn>
              <a:cxn ang="T7">
                <a:pos x="T2" y="T3"/>
              </a:cxn>
              <a:cxn ang="T8">
                <a:pos x="T4" y="T5"/>
              </a:cxn>
            </a:cxnLst>
            <a:rect l="0" t="0" r="r" b="b"/>
            <a:pathLst>
              <a:path w="835" h="328">
                <a:moveTo>
                  <a:pt x="0" y="0"/>
                </a:moveTo>
                <a:lnTo>
                  <a:pt x="835" y="0"/>
                </a:lnTo>
                <a:lnTo>
                  <a:pt x="835" y="328"/>
                </a:lnTo>
              </a:path>
            </a:pathLst>
          </a:custGeom>
          <a:noFill/>
          <a:ln w="50800">
            <a:solidFill>
              <a:schemeClr val="hlink"/>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 name="未知"/>
          <p:cNvSpPr>
            <a:spLocks noChangeArrowheads="1"/>
          </p:cNvSpPr>
          <p:nvPr/>
        </p:nvSpPr>
        <p:spPr bwMode="auto">
          <a:xfrm>
            <a:off x="6664326" y="5154613"/>
            <a:ext cx="2663825" cy="495300"/>
          </a:xfrm>
          <a:custGeom>
            <a:avLst/>
            <a:gdLst>
              <a:gd name="T0" fmla="*/ 0 w 1688"/>
              <a:gd name="T1" fmla="*/ 14274 h 347"/>
              <a:gd name="T2" fmla="*/ 0 w 1688"/>
              <a:gd name="T3" fmla="*/ 495300 h 347"/>
              <a:gd name="T4" fmla="*/ 2663825 w 1688"/>
              <a:gd name="T5" fmla="*/ 495300 h 347"/>
              <a:gd name="T6" fmla="*/ 2663825 w 1688"/>
              <a:gd name="T7" fmla="*/ 0 h 3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8" h="347">
                <a:moveTo>
                  <a:pt x="0" y="10"/>
                </a:moveTo>
                <a:lnTo>
                  <a:pt x="0" y="347"/>
                </a:lnTo>
                <a:lnTo>
                  <a:pt x="1688" y="347"/>
                </a:lnTo>
                <a:lnTo>
                  <a:pt x="1688" y="0"/>
                </a:lnTo>
              </a:path>
            </a:pathLst>
          </a:custGeom>
          <a:noFill/>
          <a:ln w="50800">
            <a:solidFill>
              <a:schemeClr val="hlink"/>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3" name="Group 113"/>
          <p:cNvGrpSpPr>
            <a:grpSpLocks/>
          </p:cNvGrpSpPr>
          <p:nvPr/>
        </p:nvGrpSpPr>
        <p:grpSpPr bwMode="auto">
          <a:xfrm>
            <a:off x="5588001" y="4097339"/>
            <a:ext cx="3351213" cy="1214437"/>
            <a:chOff x="0" y="0"/>
            <a:chExt cx="2111" cy="828"/>
          </a:xfrm>
        </p:grpSpPr>
        <p:sp>
          <p:nvSpPr>
            <p:cNvPr id="16424" name="AutoShape 114"/>
            <p:cNvSpPr>
              <a:spLocks noChangeArrowheads="1"/>
            </p:cNvSpPr>
            <p:nvPr/>
          </p:nvSpPr>
          <p:spPr bwMode="auto">
            <a:xfrm>
              <a:off x="0" y="0"/>
              <a:ext cx="2111" cy="828"/>
            </a:xfrm>
            <a:prstGeom prst="wedgeRoundRectCallout">
              <a:avLst>
                <a:gd name="adj1" fmla="val 61889"/>
                <a:gd name="adj2" fmla="val 35144"/>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25" name="Rectangle 115"/>
            <p:cNvSpPr>
              <a:spLocks noChangeArrowheads="1"/>
            </p:cNvSpPr>
            <p:nvPr/>
          </p:nvSpPr>
          <p:spPr bwMode="auto">
            <a:xfrm>
              <a:off x="48" y="48"/>
              <a:ext cx="19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解除数据链路帧的封装</a:t>
              </a:r>
            </a:p>
          </p:txBody>
        </p:sp>
        <p:sp>
          <p:nvSpPr>
            <p:cNvPr id="16426" name="Rectangle 116"/>
            <p:cNvSpPr>
              <a:spLocks noChangeArrowheads="1"/>
            </p:cNvSpPr>
            <p:nvPr/>
          </p:nvSpPr>
          <p:spPr bwMode="auto">
            <a:xfrm>
              <a:off x="48" y="396"/>
              <a:ext cx="288" cy="192"/>
            </a:xfrm>
            <a:prstGeom prst="rect">
              <a:avLst/>
            </a:prstGeom>
            <a:solidFill>
              <a:srgbClr val="00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chemeClr val="tx2"/>
                  </a:solidFill>
                  <a:latin typeface="Verdana" panose="020B0604030504040204" pitchFamily="34" charset="0"/>
                  <a:ea typeface="华文新魏" panose="02010800040101010101" pitchFamily="2" charset="-122"/>
                </a:rPr>
                <a:t>F-H</a:t>
              </a:r>
            </a:p>
          </p:txBody>
        </p:sp>
        <p:sp>
          <p:nvSpPr>
            <p:cNvPr id="16427" name="Rectangle 117"/>
            <p:cNvSpPr>
              <a:spLocks noChangeArrowheads="1"/>
            </p:cNvSpPr>
            <p:nvPr/>
          </p:nvSpPr>
          <p:spPr bwMode="auto">
            <a:xfrm>
              <a:off x="336" y="348"/>
              <a:ext cx="1440" cy="336"/>
            </a:xfrm>
            <a:prstGeom prst="rect">
              <a:avLst/>
            </a:prstGeom>
            <a:solidFill>
              <a:srgbClr val="000066"/>
            </a:solidFill>
            <a:ln w="28575">
              <a:solidFill>
                <a:schemeClr val="tx2"/>
              </a:solidFill>
              <a:prstDash val="dash"/>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4" name="Rectangle 118"/>
            <p:cNvSpPr>
              <a:spLocks noChangeArrowheads="1"/>
            </p:cNvSpPr>
            <p:nvPr/>
          </p:nvSpPr>
          <p:spPr bwMode="auto">
            <a:xfrm>
              <a:off x="1056" y="396"/>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5" name="Rectangle 119"/>
            <p:cNvSpPr>
              <a:spLocks noChangeArrowheads="1"/>
            </p:cNvSpPr>
            <p:nvPr/>
          </p:nvSpPr>
          <p:spPr bwMode="auto">
            <a:xfrm>
              <a:off x="720" y="396"/>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 name="Rectangle 120"/>
            <p:cNvSpPr>
              <a:spLocks noChangeArrowheads="1"/>
            </p:cNvSpPr>
            <p:nvPr/>
          </p:nvSpPr>
          <p:spPr bwMode="auto">
            <a:xfrm>
              <a:off x="336" y="396"/>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grpSp>
      <p:grpSp>
        <p:nvGrpSpPr>
          <p:cNvPr id="17" name="Group 121"/>
          <p:cNvGrpSpPr>
            <a:grpSpLocks/>
          </p:cNvGrpSpPr>
          <p:nvPr/>
        </p:nvGrpSpPr>
        <p:grpSpPr bwMode="auto">
          <a:xfrm>
            <a:off x="6146800" y="4083051"/>
            <a:ext cx="2871788" cy="1127125"/>
            <a:chOff x="0" y="0"/>
            <a:chExt cx="1809" cy="768"/>
          </a:xfrm>
        </p:grpSpPr>
        <p:sp>
          <p:nvSpPr>
            <p:cNvPr id="16418" name="AutoShape 122"/>
            <p:cNvSpPr>
              <a:spLocks noChangeArrowheads="1"/>
            </p:cNvSpPr>
            <p:nvPr/>
          </p:nvSpPr>
          <p:spPr bwMode="auto">
            <a:xfrm>
              <a:off x="0" y="0"/>
              <a:ext cx="1809" cy="768"/>
            </a:xfrm>
            <a:prstGeom prst="wedgeRoundRectCallout">
              <a:avLst>
                <a:gd name="adj1" fmla="val 60560"/>
                <a:gd name="adj2" fmla="val -782"/>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19" name="Rectangle 123"/>
            <p:cNvSpPr>
              <a:spLocks noChangeArrowheads="1"/>
            </p:cNvSpPr>
            <p:nvPr/>
          </p:nvSpPr>
          <p:spPr bwMode="auto">
            <a:xfrm>
              <a:off x="48" y="48"/>
              <a:ext cx="13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400">
                  <a:solidFill>
                    <a:schemeClr val="tx2"/>
                  </a:solidFill>
                  <a:latin typeface="隶书" panose="02010509060101010101" pitchFamily="49" charset="-122"/>
                  <a:ea typeface="隶书" panose="02010509060101010101" pitchFamily="49" charset="-122"/>
                </a:rPr>
                <a:t>解除 IP 包的封装</a:t>
              </a:r>
            </a:p>
          </p:txBody>
        </p:sp>
        <p:sp>
          <p:nvSpPr>
            <p:cNvPr id="16420" name="Rectangle 124"/>
            <p:cNvSpPr>
              <a:spLocks noChangeArrowheads="1"/>
            </p:cNvSpPr>
            <p:nvPr/>
          </p:nvSpPr>
          <p:spPr bwMode="auto">
            <a:xfrm>
              <a:off x="528" y="336"/>
              <a:ext cx="1056" cy="336"/>
            </a:xfrm>
            <a:prstGeom prst="rect">
              <a:avLst/>
            </a:prstGeom>
            <a:solidFill>
              <a:srgbClr val="000066"/>
            </a:solidFill>
            <a:ln w="28575">
              <a:solidFill>
                <a:schemeClr val="tx2"/>
              </a:solidFill>
              <a:prstDash val="dash"/>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6421" name="Rectangle 125"/>
            <p:cNvSpPr>
              <a:spLocks noChangeArrowheads="1"/>
            </p:cNvSpPr>
            <p:nvPr/>
          </p:nvSpPr>
          <p:spPr bwMode="auto">
            <a:xfrm>
              <a:off x="864" y="384"/>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22" name="Rectangle 126"/>
            <p:cNvSpPr>
              <a:spLocks noChangeArrowheads="1"/>
            </p:cNvSpPr>
            <p:nvPr/>
          </p:nvSpPr>
          <p:spPr bwMode="auto">
            <a:xfrm>
              <a:off x="528" y="384"/>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sp>
          <p:nvSpPr>
            <p:cNvPr id="16423" name="Rectangle 127"/>
            <p:cNvSpPr>
              <a:spLocks noChangeArrowheads="1"/>
            </p:cNvSpPr>
            <p:nvPr/>
          </p:nvSpPr>
          <p:spPr bwMode="auto">
            <a:xfrm>
              <a:off x="144" y="384"/>
              <a:ext cx="384" cy="192"/>
            </a:xfrm>
            <a:prstGeom prst="rect">
              <a:avLst/>
            </a:prstGeom>
            <a:solidFill>
              <a:srgbClr val="00FF99"/>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FF0000"/>
                  </a:solidFill>
                  <a:latin typeface="Verdana" panose="020B0604030504040204" pitchFamily="34" charset="0"/>
                  <a:ea typeface="华文新魏" panose="02010800040101010101" pitchFamily="2" charset="-122"/>
                </a:rPr>
                <a:t>IP-H</a:t>
              </a:r>
            </a:p>
          </p:txBody>
        </p:sp>
      </p:grpSp>
      <p:grpSp>
        <p:nvGrpSpPr>
          <p:cNvPr id="18" name="Group 128"/>
          <p:cNvGrpSpPr>
            <a:grpSpLocks/>
          </p:cNvGrpSpPr>
          <p:nvPr/>
        </p:nvGrpSpPr>
        <p:grpSpPr bwMode="auto">
          <a:xfrm>
            <a:off x="6307139" y="3517901"/>
            <a:ext cx="2708275" cy="1127125"/>
            <a:chOff x="0" y="0"/>
            <a:chExt cx="1706" cy="768"/>
          </a:xfrm>
        </p:grpSpPr>
        <p:sp>
          <p:nvSpPr>
            <p:cNvPr id="16413" name="AutoShape 129"/>
            <p:cNvSpPr>
              <a:spLocks noChangeArrowheads="1"/>
            </p:cNvSpPr>
            <p:nvPr/>
          </p:nvSpPr>
          <p:spPr bwMode="auto">
            <a:xfrm>
              <a:off x="0" y="0"/>
              <a:ext cx="1706" cy="768"/>
            </a:xfrm>
            <a:prstGeom prst="wedgeRoundRectCallout">
              <a:avLst>
                <a:gd name="adj1" fmla="val 61315"/>
                <a:gd name="adj2" fmla="val 5079"/>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14" name="Rectangle 130"/>
            <p:cNvSpPr>
              <a:spLocks noChangeArrowheads="1"/>
            </p:cNvSpPr>
            <p:nvPr/>
          </p:nvSpPr>
          <p:spPr bwMode="auto">
            <a:xfrm>
              <a:off x="48" y="48"/>
              <a:ext cx="13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解除传输层的封装</a:t>
              </a:r>
            </a:p>
          </p:txBody>
        </p:sp>
        <p:sp>
          <p:nvSpPr>
            <p:cNvPr id="16415" name="Rectangle 131"/>
            <p:cNvSpPr>
              <a:spLocks noChangeArrowheads="1"/>
            </p:cNvSpPr>
            <p:nvPr/>
          </p:nvSpPr>
          <p:spPr bwMode="auto">
            <a:xfrm>
              <a:off x="576" y="336"/>
              <a:ext cx="720" cy="336"/>
            </a:xfrm>
            <a:prstGeom prst="rect">
              <a:avLst/>
            </a:prstGeom>
            <a:solidFill>
              <a:srgbClr val="000066"/>
            </a:solidFill>
            <a:ln w="28575">
              <a:solidFill>
                <a:schemeClr val="tx2"/>
              </a:solidFill>
              <a:prstDash val="dash"/>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16416" name="Rectangle 132"/>
            <p:cNvSpPr>
              <a:spLocks noChangeArrowheads="1"/>
            </p:cNvSpPr>
            <p:nvPr/>
          </p:nvSpPr>
          <p:spPr bwMode="auto">
            <a:xfrm>
              <a:off x="576" y="384"/>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sp>
          <p:nvSpPr>
            <p:cNvPr id="16417" name="Rectangle 133"/>
            <p:cNvSpPr>
              <a:spLocks noChangeArrowheads="1"/>
            </p:cNvSpPr>
            <p:nvPr/>
          </p:nvSpPr>
          <p:spPr bwMode="auto">
            <a:xfrm>
              <a:off x="240" y="384"/>
              <a:ext cx="336" cy="192"/>
            </a:xfrm>
            <a:prstGeom prst="rect">
              <a:avLst/>
            </a:prstGeom>
            <a:solidFill>
              <a:srgbClr val="FF66FF"/>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FF"/>
                  </a:solidFill>
                  <a:latin typeface="Verdana" panose="020B0604030504040204" pitchFamily="34" charset="0"/>
                  <a:ea typeface="华文新魏" panose="02010800040101010101" pitchFamily="2" charset="-122"/>
                </a:rPr>
                <a:t>T-H</a:t>
              </a:r>
            </a:p>
          </p:txBody>
        </p:sp>
      </p:grpSp>
      <p:grpSp>
        <p:nvGrpSpPr>
          <p:cNvPr id="19" name="Group 134"/>
          <p:cNvGrpSpPr>
            <a:grpSpLocks/>
          </p:cNvGrpSpPr>
          <p:nvPr/>
        </p:nvGrpSpPr>
        <p:grpSpPr bwMode="auto">
          <a:xfrm>
            <a:off x="6681789" y="2476501"/>
            <a:ext cx="2281237" cy="1338263"/>
            <a:chOff x="0" y="0"/>
            <a:chExt cx="1437" cy="912"/>
          </a:xfrm>
        </p:grpSpPr>
        <p:sp>
          <p:nvSpPr>
            <p:cNvPr id="16410" name="AutoShape 135"/>
            <p:cNvSpPr>
              <a:spLocks noChangeArrowheads="1"/>
            </p:cNvSpPr>
            <p:nvPr/>
          </p:nvSpPr>
          <p:spPr bwMode="auto">
            <a:xfrm>
              <a:off x="0" y="0"/>
              <a:ext cx="1437" cy="912"/>
            </a:xfrm>
            <a:prstGeom prst="wedgeRoundRectCallout">
              <a:avLst>
                <a:gd name="adj1" fmla="val 66704"/>
                <a:gd name="adj2" fmla="val 25657"/>
                <a:gd name="adj3" fmla="val 16667"/>
              </a:avLst>
            </a:prstGeom>
            <a:solidFill>
              <a:srgbClr val="000066"/>
            </a:solidFill>
            <a:ln w="19050">
              <a:solidFill>
                <a:schemeClr val="tx2"/>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2000">
                <a:solidFill>
                  <a:srgbClr val="000099"/>
                </a:solidFill>
                <a:latin typeface="Times New Roman" panose="02020603050405020304" pitchFamily="18" charset="0"/>
                <a:ea typeface="华文新魏" panose="02010800040101010101" pitchFamily="2" charset="-122"/>
              </a:endParaRPr>
            </a:p>
          </p:txBody>
        </p:sp>
        <p:sp>
          <p:nvSpPr>
            <p:cNvPr id="16411" name="Rectangle 136"/>
            <p:cNvSpPr>
              <a:spLocks noChangeArrowheads="1"/>
            </p:cNvSpPr>
            <p:nvPr/>
          </p:nvSpPr>
          <p:spPr bwMode="auto">
            <a:xfrm>
              <a:off x="192" y="48"/>
              <a:ext cx="91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数据包到达</a:t>
              </a:r>
            </a:p>
            <a:p>
              <a:pPr eaLnBrk="1" hangingPunct="1">
                <a:spcBef>
                  <a:spcPct val="0"/>
                </a:spcBef>
                <a:buClrTx/>
                <a:buSzTx/>
                <a:buFont typeface="Wingdings" panose="05000000000000000000" pitchFamily="2" charset="2"/>
                <a:buNone/>
              </a:pPr>
              <a:r>
                <a:rPr lang="zh-CN" altLang="zh-CN" sz="2400">
                  <a:solidFill>
                    <a:schemeClr val="tx2"/>
                  </a:solidFill>
                  <a:latin typeface="Verdana" panose="020B0604030504040204" pitchFamily="34" charset="0"/>
                  <a:ea typeface="隶书" panose="02010509060101010101" pitchFamily="49" charset="-122"/>
                </a:rPr>
                <a:t>对端的应用</a:t>
              </a:r>
            </a:p>
          </p:txBody>
        </p:sp>
        <p:sp>
          <p:nvSpPr>
            <p:cNvPr id="16412" name="Rectangle 137"/>
            <p:cNvSpPr>
              <a:spLocks noChangeArrowheads="1"/>
            </p:cNvSpPr>
            <p:nvPr/>
          </p:nvSpPr>
          <p:spPr bwMode="auto">
            <a:xfrm>
              <a:off x="288" y="576"/>
              <a:ext cx="720" cy="192"/>
            </a:xfrm>
            <a:prstGeom prst="rect">
              <a:avLst/>
            </a:prstGeom>
            <a:solidFill>
              <a:srgbClr val="FFFF66"/>
            </a:solidFill>
            <a:ln w="19050">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000">
                  <a:solidFill>
                    <a:srgbClr val="000099"/>
                  </a:solidFill>
                  <a:latin typeface="Times New Roman" panose="02020603050405020304" pitchFamily="18" charset="0"/>
                  <a:ea typeface="华文新魏" panose="02010800040101010101" pitchFamily="2" charset="-122"/>
                </a:rPr>
                <a:t>Data</a:t>
              </a:r>
            </a:p>
          </p:txBody>
        </p:sp>
      </p:grpSp>
      <p:sp>
        <p:nvSpPr>
          <p:cNvPr id="20" name="Line 138"/>
          <p:cNvSpPr>
            <a:spLocks noChangeShapeType="1"/>
          </p:cNvSpPr>
          <p:nvPr/>
        </p:nvSpPr>
        <p:spPr bwMode="auto">
          <a:xfrm flipV="1">
            <a:off x="9324975" y="4660901"/>
            <a:ext cx="0" cy="493713"/>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39"/>
          <p:cNvSpPr>
            <a:spLocks noChangeShapeType="1"/>
          </p:cNvSpPr>
          <p:nvPr/>
        </p:nvSpPr>
        <p:spPr bwMode="auto">
          <a:xfrm flipV="1">
            <a:off x="9324975" y="4181476"/>
            <a:ext cx="0" cy="493713"/>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140"/>
          <p:cNvSpPr>
            <a:spLocks noChangeShapeType="1"/>
          </p:cNvSpPr>
          <p:nvPr/>
        </p:nvSpPr>
        <p:spPr bwMode="auto">
          <a:xfrm flipV="1">
            <a:off x="9324975" y="3535363"/>
            <a:ext cx="0" cy="633412"/>
          </a:xfrm>
          <a:prstGeom prst="line">
            <a:avLst/>
          </a:prstGeom>
          <a:noFill/>
          <a:ln w="508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09" name="Rectangle 141"/>
          <p:cNvSpPr>
            <a:spLocks noGrp="1" noChangeArrowheads="1"/>
          </p:cNvSpPr>
          <p:nvPr>
            <p:ph type="title"/>
          </p:nvPr>
        </p:nvSpPr>
        <p:spPr>
          <a:xfrm>
            <a:off x="3013075" y="211138"/>
            <a:ext cx="6165850" cy="698500"/>
          </a:xfrm>
        </p:spPr>
        <p:txBody>
          <a:bodyPr/>
          <a:lstStyle/>
          <a:p>
            <a:pPr algn="ctr" eaLnBrk="1" hangingPunct="1"/>
            <a:r>
              <a:rPr lang="zh-CN" altLang="zh-CN" b="1">
                <a:solidFill>
                  <a:srgbClr val="002060"/>
                </a:solidFill>
              </a:rPr>
              <a:t>物理通信</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dissolve">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405"/>
                                        </p:tgtEl>
                                        <p:attrNameLst>
                                          <p:attrName>style.visibility</p:attrName>
                                        </p:attrNameLst>
                                      </p:cBhvr>
                                      <p:to>
                                        <p:strVal val="visible"/>
                                      </p:to>
                                    </p:set>
                                    <p:animEffect transition="in" filter="dissolve">
                                      <p:cBhvr>
                                        <p:cTn id="12" dur="500"/>
                                        <p:tgtEl>
                                          <p:spTgt spid="164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431"/>
                                        </p:tgtEl>
                                        <p:attrNameLst>
                                          <p:attrName>style.visibility</p:attrName>
                                        </p:attrNameLst>
                                      </p:cBhvr>
                                      <p:to>
                                        <p:strVal val="visible"/>
                                      </p:to>
                                    </p:set>
                                    <p:animEffect transition="in" filter="dissolve">
                                      <p:cBhvr>
                                        <p:cTn id="17" dur="500"/>
                                        <p:tgtEl>
                                          <p:spTgt spid="16431"/>
                                        </p:tgtEl>
                                      </p:cBhvr>
                                    </p:animEffect>
                                  </p:childTnLst>
                                  <p:subTnLst>
                                    <p:set>
                                      <p:cBhvr override="childStyle">
                                        <p:cTn dur="1" fill="hold" display="0" masterRel="nextClick" afterEffect="1"/>
                                        <p:tgtEl>
                                          <p:spTgt spid="1643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 fill="hold" nodeType="clickEffect">
                                  <p:stCondLst>
                                    <p:cond delay="0"/>
                                  </p:stCondLst>
                                  <p:childTnLst>
                                    <p:set>
                                      <p:cBhvr>
                                        <p:cTn id="21" dur="1" fill="hold">
                                          <p:stCondLst>
                                            <p:cond delay="0"/>
                                          </p:stCondLst>
                                        </p:cTn>
                                        <p:tgtEl>
                                          <p:spTgt spid="16428"/>
                                        </p:tgtEl>
                                        <p:attrNameLst>
                                          <p:attrName>style.visibility</p:attrName>
                                        </p:attrNameLst>
                                      </p:cBhvr>
                                      <p:to>
                                        <p:strVal val="visible"/>
                                      </p:to>
                                    </p:set>
                                    <p:anim calcmode="lin" valueType="num">
                                      <p:cBhvr>
                                        <p:cTn id="22" dur="500" fill="hold"/>
                                        <p:tgtEl>
                                          <p:spTgt spid="16428"/>
                                        </p:tgtEl>
                                        <p:attrNameLst>
                                          <p:attrName>ppt_x</p:attrName>
                                        </p:attrNameLst>
                                      </p:cBhvr>
                                      <p:tavLst>
                                        <p:tav tm="0">
                                          <p:val>
                                            <p:strVal val="#ppt_x"/>
                                          </p:val>
                                        </p:tav>
                                        <p:tav tm="100000">
                                          <p:val>
                                            <p:strVal val="#ppt_x"/>
                                          </p:val>
                                        </p:tav>
                                      </p:tavLst>
                                    </p:anim>
                                    <p:anim calcmode="lin" valueType="num">
                                      <p:cBhvr>
                                        <p:cTn id="23" dur="500" fill="hold"/>
                                        <p:tgtEl>
                                          <p:spTgt spid="16428"/>
                                        </p:tgtEl>
                                        <p:attrNameLst>
                                          <p:attrName>ppt_y</p:attrName>
                                        </p:attrNameLst>
                                      </p:cBhvr>
                                      <p:tavLst>
                                        <p:tav tm="0">
                                          <p:val>
                                            <p:strVal val="#ppt_y-#ppt_h/2"/>
                                          </p:val>
                                        </p:tav>
                                        <p:tav tm="100000">
                                          <p:val>
                                            <p:strVal val="#ppt_y"/>
                                          </p:val>
                                        </p:tav>
                                      </p:tavLst>
                                    </p:anim>
                                    <p:anim calcmode="lin" valueType="num">
                                      <p:cBhvr>
                                        <p:cTn id="24" dur="500" fill="hold"/>
                                        <p:tgtEl>
                                          <p:spTgt spid="16428"/>
                                        </p:tgtEl>
                                        <p:attrNameLst>
                                          <p:attrName>ppt_w</p:attrName>
                                        </p:attrNameLst>
                                      </p:cBhvr>
                                      <p:tavLst>
                                        <p:tav tm="0">
                                          <p:val>
                                            <p:strVal val="#ppt_w"/>
                                          </p:val>
                                        </p:tav>
                                        <p:tav tm="100000">
                                          <p:val>
                                            <p:strVal val="#ppt_w"/>
                                          </p:val>
                                        </p:tav>
                                      </p:tavLst>
                                    </p:anim>
                                    <p:anim calcmode="lin" valueType="num">
                                      <p:cBhvr>
                                        <p:cTn id="25" dur="500" fill="hold"/>
                                        <p:tgtEl>
                                          <p:spTgt spid="16428"/>
                                        </p:tgtEl>
                                        <p:attrNameLst>
                                          <p:attrName>ppt_h</p:attrName>
                                        </p:attrNameLst>
                                      </p:cBhvr>
                                      <p:tavLst>
                                        <p:tav tm="0">
                                          <p:val>
                                            <p:fltVal val="0"/>
                                          </p:val>
                                        </p:tav>
                                        <p:tav tm="100000">
                                          <p:val>
                                            <p:strVal val="#ppt_h"/>
                                          </p:val>
                                        </p:tav>
                                      </p:tavLst>
                                    </p:anim>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16436"/>
                                        </p:tgtEl>
                                        <p:attrNameLst>
                                          <p:attrName>style.visibility</p:attrName>
                                        </p:attrNameLst>
                                      </p:cBhvr>
                                      <p:to>
                                        <p:strVal val="visible"/>
                                      </p:to>
                                    </p:set>
                                    <p:animEffect transition="in" filter="dissolve">
                                      <p:cBhvr>
                                        <p:cTn id="29" dur="500"/>
                                        <p:tgtEl>
                                          <p:spTgt spid="16436"/>
                                        </p:tgtEl>
                                      </p:cBhvr>
                                    </p:animEffect>
                                  </p:childTnLst>
                                  <p:subTnLst>
                                    <p:set>
                                      <p:cBhvr override="childStyle">
                                        <p:cTn dur="1" fill="hold" display="0" masterRel="nextClick" afterEffect="1"/>
                                        <p:tgtEl>
                                          <p:spTgt spid="16436"/>
                                        </p:tgtEl>
                                        <p:attrNameLst>
                                          <p:attrName>style.visibility</p:attrName>
                                        </p:attrNameLst>
                                      </p:cBhvr>
                                      <p:to>
                                        <p:strVal val="hidden"/>
                                      </p:to>
                                    </p:set>
                                  </p:subTnLst>
                                </p:cTn>
                              </p:par>
                            </p:childTnLst>
                          </p:cTn>
                        </p:par>
                        <p:par>
                          <p:cTn id="30" fill="hold" nodeType="afterGroup">
                            <p:stCondLst>
                              <p:cond delay="1000"/>
                            </p:stCondLst>
                            <p:childTnLst>
                              <p:par>
                                <p:cTn id="31" presetID="17" presetClass="entr" presetSubtype="1" fill="hold" nodeType="afterEffect">
                                  <p:stCondLst>
                                    <p:cond delay="7000"/>
                                  </p:stCondLst>
                                  <p:childTnLst>
                                    <p:set>
                                      <p:cBhvr>
                                        <p:cTn id="32" dur="1" fill="hold">
                                          <p:stCondLst>
                                            <p:cond delay="0"/>
                                          </p:stCondLst>
                                        </p:cTn>
                                        <p:tgtEl>
                                          <p:spTgt spid="16429"/>
                                        </p:tgtEl>
                                        <p:attrNameLst>
                                          <p:attrName>style.visibility</p:attrName>
                                        </p:attrNameLst>
                                      </p:cBhvr>
                                      <p:to>
                                        <p:strVal val="visible"/>
                                      </p:to>
                                    </p:set>
                                    <p:anim calcmode="lin" valueType="num">
                                      <p:cBhvr>
                                        <p:cTn id="33" dur="500" fill="hold"/>
                                        <p:tgtEl>
                                          <p:spTgt spid="16429"/>
                                        </p:tgtEl>
                                        <p:attrNameLst>
                                          <p:attrName>ppt_x</p:attrName>
                                        </p:attrNameLst>
                                      </p:cBhvr>
                                      <p:tavLst>
                                        <p:tav tm="0">
                                          <p:val>
                                            <p:strVal val="#ppt_x"/>
                                          </p:val>
                                        </p:tav>
                                        <p:tav tm="100000">
                                          <p:val>
                                            <p:strVal val="#ppt_x"/>
                                          </p:val>
                                        </p:tav>
                                      </p:tavLst>
                                    </p:anim>
                                    <p:anim calcmode="lin" valueType="num">
                                      <p:cBhvr>
                                        <p:cTn id="34" dur="500" fill="hold"/>
                                        <p:tgtEl>
                                          <p:spTgt spid="16429"/>
                                        </p:tgtEl>
                                        <p:attrNameLst>
                                          <p:attrName>ppt_y</p:attrName>
                                        </p:attrNameLst>
                                      </p:cBhvr>
                                      <p:tavLst>
                                        <p:tav tm="0">
                                          <p:val>
                                            <p:strVal val="#ppt_y-#ppt_h/2"/>
                                          </p:val>
                                        </p:tav>
                                        <p:tav tm="100000">
                                          <p:val>
                                            <p:strVal val="#ppt_y"/>
                                          </p:val>
                                        </p:tav>
                                      </p:tavLst>
                                    </p:anim>
                                    <p:anim calcmode="lin" valueType="num">
                                      <p:cBhvr>
                                        <p:cTn id="35" dur="500" fill="hold"/>
                                        <p:tgtEl>
                                          <p:spTgt spid="16429"/>
                                        </p:tgtEl>
                                        <p:attrNameLst>
                                          <p:attrName>ppt_w</p:attrName>
                                        </p:attrNameLst>
                                      </p:cBhvr>
                                      <p:tavLst>
                                        <p:tav tm="0">
                                          <p:val>
                                            <p:strVal val="#ppt_w"/>
                                          </p:val>
                                        </p:tav>
                                        <p:tav tm="100000">
                                          <p:val>
                                            <p:strVal val="#ppt_w"/>
                                          </p:val>
                                        </p:tav>
                                      </p:tavLst>
                                    </p:anim>
                                    <p:anim calcmode="lin" valueType="num">
                                      <p:cBhvr>
                                        <p:cTn id="36" dur="500" fill="hold"/>
                                        <p:tgtEl>
                                          <p:spTgt spid="16429"/>
                                        </p:tgtEl>
                                        <p:attrNameLst>
                                          <p:attrName>ppt_h</p:attrName>
                                        </p:attrNameLst>
                                      </p:cBhvr>
                                      <p:tavLst>
                                        <p:tav tm="0">
                                          <p:val>
                                            <p:fltVal val="0"/>
                                          </p:val>
                                        </p:tav>
                                        <p:tav tm="100000">
                                          <p:val>
                                            <p:strVal val="#ppt_h"/>
                                          </p:val>
                                        </p:tav>
                                      </p:tavLst>
                                    </p:anim>
                                  </p:childTnLst>
                                </p:cTn>
                              </p:par>
                            </p:childTnLst>
                          </p:cTn>
                        </p:par>
                        <p:par>
                          <p:cTn id="37" fill="hold" nodeType="afterGroup">
                            <p:stCondLst>
                              <p:cond delay="8500"/>
                            </p:stCondLst>
                            <p:childTnLst>
                              <p:par>
                                <p:cTn id="38" presetID="9" presetClass="entr" presetSubtype="0" fill="hold" nodeType="afterEffect">
                                  <p:stCondLst>
                                    <p:cond delay="0"/>
                                  </p:stCondLst>
                                  <p:childTnLst>
                                    <p:set>
                                      <p:cBhvr>
                                        <p:cTn id="39" dur="1" fill="hold">
                                          <p:stCondLst>
                                            <p:cond delay="0"/>
                                          </p:stCondLst>
                                        </p:cTn>
                                        <p:tgtEl>
                                          <p:spTgt spid="16442"/>
                                        </p:tgtEl>
                                        <p:attrNameLst>
                                          <p:attrName>style.visibility</p:attrName>
                                        </p:attrNameLst>
                                      </p:cBhvr>
                                      <p:to>
                                        <p:strVal val="visible"/>
                                      </p:to>
                                    </p:set>
                                    <p:animEffect transition="in" filter="dissolve">
                                      <p:cBhvr>
                                        <p:cTn id="40" dur="500"/>
                                        <p:tgtEl>
                                          <p:spTgt spid="16442"/>
                                        </p:tgtEl>
                                      </p:cBhvr>
                                    </p:animEffect>
                                  </p:childTnLst>
                                  <p:subTnLst>
                                    <p:set>
                                      <p:cBhvr override="childStyle">
                                        <p:cTn dur="1" fill="hold" display="0" masterRel="nextClick" afterEffect="1"/>
                                        <p:tgtEl>
                                          <p:spTgt spid="16442"/>
                                        </p:tgtEl>
                                        <p:attrNameLst>
                                          <p:attrName>style.visibility</p:attrName>
                                        </p:attrNameLst>
                                      </p:cBhvr>
                                      <p:to>
                                        <p:strVal val="hidden"/>
                                      </p:to>
                                    </p:set>
                                  </p:subTnLst>
                                </p:cTn>
                              </p:par>
                            </p:childTnLst>
                          </p:cTn>
                        </p:par>
                        <p:par>
                          <p:cTn id="41" fill="hold" nodeType="afterGroup">
                            <p:stCondLst>
                              <p:cond delay="9000"/>
                            </p:stCondLst>
                            <p:childTnLst>
                              <p:par>
                                <p:cTn id="42" presetID="17" presetClass="entr" presetSubtype="1" fill="hold" nodeType="afterEffect">
                                  <p:stCondLst>
                                    <p:cond delay="7000"/>
                                  </p:stCondLst>
                                  <p:childTnLst>
                                    <p:set>
                                      <p:cBhvr>
                                        <p:cTn id="43" dur="1" fill="hold">
                                          <p:stCondLst>
                                            <p:cond delay="0"/>
                                          </p:stCondLst>
                                        </p:cTn>
                                        <p:tgtEl>
                                          <p:spTgt spid="16430"/>
                                        </p:tgtEl>
                                        <p:attrNameLst>
                                          <p:attrName>style.visibility</p:attrName>
                                        </p:attrNameLst>
                                      </p:cBhvr>
                                      <p:to>
                                        <p:strVal val="visible"/>
                                      </p:to>
                                    </p:set>
                                    <p:anim calcmode="lin" valueType="num">
                                      <p:cBhvr>
                                        <p:cTn id="44" dur="500" fill="hold"/>
                                        <p:tgtEl>
                                          <p:spTgt spid="16430"/>
                                        </p:tgtEl>
                                        <p:attrNameLst>
                                          <p:attrName>ppt_x</p:attrName>
                                        </p:attrNameLst>
                                      </p:cBhvr>
                                      <p:tavLst>
                                        <p:tav tm="0">
                                          <p:val>
                                            <p:strVal val="#ppt_x"/>
                                          </p:val>
                                        </p:tav>
                                        <p:tav tm="100000">
                                          <p:val>
                                            <p:strVal val="#ppt_x"/>
                                          </p:val>
                                        </p:tav>
                                      </p:tavLst>
                                    </p:anim>
                                    <p:anim calcmode="lin" valueType="num">
                                      <p:cBhvr>
                                        <p:cTn id="45" dur="500" fill="hold"/>
                                        <p:tgtEl>
                                          <p:spTgt spid="16430"/>
                                        </p:tgtEl>
                                        <p:attrNameLst>
                                          <p:attrName>ppt_y</p:attrName>
                                        </p:attrNameLst>
                                      </p:cBhvr>
                                      <p:tavLst>
                                        <p:tav tm="0">
                                          <p:val>
                                            <p:strVal val="#ppt_y-#ppt_h/2"/>
                                          </p:val>
                                        </p:tav>
                                        <p:tav tm="100000">
                                          <p:val>
                                            <p:strVal val="#ppt_y"/>
                                          </p:val>
                                        </p:tav>
                                      </p:tavLst>
                                    </p:anim>
                                    <p:anim calcmode="lin" valueType="num">
                                      <p:cBhvr>
                                        <p:cTn id="46" dur="500" fill="hold"/>
                                        <p:tgtEl>
                                          <p:spTgt spid="16430"/>
                                        </p:tgtEl>
                                        <p:attrNameLst>
                                          <p:attrName>ppt_w</p:attrName>
                                        </p:attrNameLst>
                                      </p:cBhvr>
                                      <p:tavLst>
                                        <p:tav tm="0">
                                          <p:val>
                                            <p:strVal val="#ppt_w"/>
                                          </p:val>
                                        </p:tav>
                                        <p:tav tm="100000">
                                          <p:val>
                                            <p:strVal val="#ppt_w"/>
                                          </p:val>
                                        </p:tav>
                                      </p:tavLst>
                                    </p:anim>
                                    <p:anim calcmode="lin" valueType="num">
                                      <p:cBhvr>
                                        <p:cTn id="47" dur="500" fill="hold"/>
                                        <p:tgtEl>
                                          <p:spTgt spid="16430"/>
                                        </p:tgtEl>
                                        <p:attrNameLst>
                                          <p:attrName>ppt_h</p:attrName>
                                        </p:attrNameLst>
                                      </p:cBhvr>
                                      <p:tavLst>
                                        <p:tav tm="0">
                                          <p:val>
                                            <p:fltVal val="0"/>
                                          </p:val>
                                        </p:tav>
                                        <p:tav tm="100000">
                                          <p:val>
                                            <p:strVal val="#ppt_h"/>
                                          </p:val>
                                        </p:tav>
                                      </p:tavLst>
                                    </p:anim>
                                  </p:childTnLst>
                                </p:cTn>
                              </p:par>
                            </p:childTnLst>
                          </p:cTn>
                        </p:par>
                        <p:par>
                          <p:cTn id="48" fill="hold" nodeType="afterGroup">
                            <p:stCondLst>
                              <p:cond delay="16500"/>
                            </p:stCondLst>
                            <p:childTnLst>
                              <p:par>
                                <p:cTn id="49" presetID="9" presetClass="entr" presetSubtype="0" fill="hold" nodeType="afterEffect">
                                  <p:stCondLst>
                                    <p:cond delay="0"/>
                                  </p:stCondLst>
                                  <p:childTnLst>
                                    <p:set>
                                      <p:cBhvr>
                                        <p:cTn id="50" dur="1" fill="hold">
                                          <p:stCondLst>
                                            <p:cond delay="0"/>
                                          </p:stCondLst>
                                        </p:cTn>
                                        <p:tgtEl>
                                          <p:spTgt spid="16454"/>
                                        </p:tgtEl>
                                        <p:attrNameLst>
                                          <p:attrName>style.visibility</p:attrName>
                                        </p:attrNameLst>
                                      </p:cBhvr>
                                      <p:to>
                                        <p:strVal val="visible"/>
                                      </p:to>
                                    </p:set>
                                    <p:animEffect transition="in" filter="dissolve">
                                      <p:cBhvr>
                                        <p:cTn id="51" dur="500"/>
                                        <p:tgtEl>
                                          <p:spTgt spid="16454"/>
                                        </p:tgtEl>
                                      </p:cBhvr>
                                    </p:animEffect>
                                  </p:childTnLst>
                                  <p:subTnLst>
                                    <p:set>
                                      <p:cBhvr override="childStyle">
                                        <p:cTn dur="1" fill="hold" display="0" masterRel="nextClick" afterEffect="1"/>
                                        <p:tgtEl>
                                          <p:spTgt spid="16454"/>
                                        </p:tgtEl>
                                        <p:attrNameLst>
                                          <p:attrName>style.visibility</p:attrName>
                                        </p:attrNameLst>
                                      </p:cBhvr>
                                      <p:to>
                                        <p:strVal val="hidden"/>
                                      </p:to>
                                    </p:set>
                                  </p:subTnLst>
                                </p:cTn>
                              </p:par>
                            </p:childTnLst>
                          </p:cTn>
                        </p:par>
                        <p:par>
                          <p:cTn id="52" fill="hold" nodeType="afterGroup">
                            <p:stCondLst>
                              <p:cond delay="17000"/>
                            </p:stCondLst>
                            <p:childTnLst>
                              <p:par>
                                <p:cTn id="53" presetID="18" presetClass="entr" presetSubtype="6" fill="hold" nodeType="afterEffect">
                                  <p:stCondLst>
                                    <p:cond delay="7000"/>
                                  </p:stCondLst>
                                  <p:childTnLst>
                                    <p:set>
                                      <p:cBhvr>
                                        <p:cTn id="54" dur="1" fill="hold">
                                          <p:stCondLst>
                                            <p:cond delay="0"/>
                                          </p:stCondLst>
                                        </p:cTn>
                                        <p:tgtEl>
                                          <p:spTgt spid="2"/>
                                        </p:tgtEl>
                                        <p:attrNameLst>
                                          <p:attrName>style.visibility</p:attrName>
                                        </p:attrNameLst>
                                      </p:cBhvr>
                                      <p:to>
                                        <p:strVal val="visible"/>
                                      </p:to>
                                    </p:set>
                                    <p:animEffect transition="in" filter="strips(downRight)">
                                      <p:cBhvr>
                                        <p:cTn id="55" dur="500"/>
                                        <p:tgtEl>
                                          <p:spTgt spid="2"/>
                                        </p:tgtEl>
                                      </p:cBhvr>
                                    </p:animEffect>
                                  </p:childTnLst>
                                </p:cTn>
                              </p:par>
                            </p:childTnLst>
                          </p:cTn>
                        </p:par>
                        <p:par>
                          <p:cTn id="56" fill="hold" nodeType="afterGroup">
                            <p:stCondLst>
                              <p:cond delay="24500"/>
                            </p:stCondLst>
                            <p:childTnLst>
                              <p:par>
                                <p:cTn id="57" presetID="9" presetClass="entr" presetSubtype="0" fill="hold" nodeType="after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dissolve">
                                      <p:cBhvr>
                                        <p:cTn id="59"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4"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p:cTn id="64" dur="500" fill="hold"/>
                                        <p:tgtEl>
                                          <p:spTgt spid="5"/>
                                        </p:tgtEl>
                                        <p:attrNameLst>
                                          <p:attrName>ppt_x</p:attrName>
                                        </p:attrNameLst>
                                      </p:cBhvr>
                                      <p:tavLst>
                                        <p:tav tm="0">
                                          <p:val>
                                            <p:strVal val="#ppt_x"/>
                                          </p:val>
                                        </p:tav>
                                        <p:tav tm="100000">
                                          <p:val>
                                            <p:strVal val="#ppt_x"/>
                                          </p:val>
                                        </p:tav>
                                      </p:tavLst>
                                    </p:anim>
                                    <p:anim calcmode="lin" valueType="num">
                                      <p:cBhvr>
                                        <p:cTn id="65" dur="500" fill="hold"/>
                                        <p:tgtEl>
                                          <p:spTgt spid="5"/>
                                        </p:tgtEl>
                                        <p:attrNameLst>
                                          <p:attrName>ppt_y</p:attrName>
                                        </p:attrNameLst>
                                      </p:cBhvr>
                                      <p:tavLst>
                                        <p:tav tm="0">
                                          <p:val>
                                            <p:strVal val="#ppt_y+#ppt_h/2"/>
                                          </p:val>
                                        </p:tav>
                                        <p:tav tm="100000">
                                          <p:val>
                                            <p:strVal val="#ppt_y"/>
                                          </p:val>
                                        </p:tav>
                                      </p:tavLst>
                                    </p:anim>
                                    <p:anim calcmode="lin" valueType="num">
                                      <p:cBhvr>
                                        <p:cTn id="66" dur="500" fill="hold"/>
                                        <p:tgtEl>
                                          <p:spTgt spid="5"/>
                                        </p:tgtEl>
                                        <p:attrNameLst>
                                          <p:attrName>ppt_w</p:attrName>
                                        </p:attrNameLst>
                                      </p:cBhvr>
                                      <p:tavLst>
                                        <p:tav tm="0">
                                          <p:val>
                                            <p:strVal val="#ppt_w"/>
                                          </p:val>
                                        </p:tav>
                                        <p:tav tm="100000">
                                          <p:val>
                                            <p:strVal val="#ppt_w"/>
                                          </p:val>
                                        </p:tav>
                                      </p:tavLst>
                                    </p:anim>
                                    <p:anim calcmode="lin" valueType="num">
                                      <p:cBhvr>
                                        <p:cTn id="67" dur="500" fill="hold"/>
                                        <p:tgtEl>
                                          <p:spTgt spid="5"/>
                                        </p:tgtEl>
                                        <p:attrNameLst>
                                          <p:attrName>ppt_h</p:attrName>
                                        </p:attrNameLst>
                                      </p:cBhvr>
                                      <p:tavLst>
                                        <p:tav tm="0">
                                          <p:val>
                                            <p:fltVal val="0"/>
                                          </p:val>
                                        </p:tav>
                                        <p:tav tm="100000">
                                          <p:val>
                                            <p:strVal val="#ppt_h"/>
                                          </p:val>
                                        </p:tav>
                                      </p:tavLst>
                                    </p:anim>
                                  </p:childTnLst>
                                </p:cTn>
                              </p:par>
                            </p:childTnLst>
                          </p:cTn>
                        </p:par>
                        <p:par>
                          <p:cTn id="68" fill="hold" nodeType="afterGroup">
                            <p:stCondLst>
                              <p:cond delay="500"/>
                            </p:stCondLst>
                            <p:childTnLst>
                              <p:par>
                                <p:cTn id="69" presetID="9" presetClass="entr" presetSubtype="0" fill="hold" nodeType="after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dissolve">
                                      <p:cBhvr>
                                        <p:cTn id="71"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72" fill="hold" nodeType="clickPar">
                      <p:stCondLst>
                        <p:cond delay="indefinite"/>
                      </p:stCondLst>
                      <p:childTnLst>
                        <p:par>
                          <p:cTn id="73" fill="hold" nodeType="withGroup">
                            <p:stCondLst>
                              <p:cond delay="0"/>
                            </p:stCondLst>
                            <p:childTnLst>
                              <p:par>
                                <p:cTn id="74" presetID="18" presetClass="entr" presetSubtype="6"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strips(downRight)">
                                      <p:cBhvr>
                                        <p:cTn id="76" dur="500"/>
                                        <p:tgtEl>
                                          <p:spTgt spid="11"/>
                                        </p:tgtEl>
                                      </p:cBhvr>
                                    </p:animEffect>
                                  </p:childTnLst>
                                </p:cTn>
                              </p:par>
                            </p:childTnLst>
                          </p:cTn>
                        </p:par>
                        <p:par>
                          <p:cTn id="77" fill="hold" nodeType="afterGroup">
                            <p:stCondLst>
                              <p:cond delay="500"/>
                            </p:stCondLst>
                            <p:childTnLst>
                              <p:par>
                                <p:cTn id="78" presetID="9" presetClass="entr" presetSubtype="0" fill="hold" nodeType="after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dissolve">
                                      <p:cBhvr>
                                        <p:cTn id="8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1" fill="hold" nodeType="clickPar">
                      <p:stCondLst>
                        <p:cond delay="indefinite"/>
                      </p:stCondLst>
                      <p:childTnLst>
                        <p:par>
                          <p:cTn id="82" fill="hold" nodeType="withGroup">
                            <p:stCondLst>
                              <p:cond delay="0"/>
                            </p:stCondLst>
                            <p:childTnLst>
                              <p:par>
                                <p:cTn id="83" presetID="18" presetClass="entr" presetSubtype="6" fill="hold" nodeType="click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strips(downRight)">
                                      <p:cBhvr>
                                        <p:cTn id="85" dur="500"/>
                                        <p:tgtEl>
                                          <p:spTgt spid="12"/>
                                        </p:tgtEl>
                                      </p:cBhvr>
                                    </p:animEffect>
                                  </p:childTnLst>
                                </p:cTn>
                              </p:par>
                            </p:childTnLst>
                          </p:cTn>
                        </p:par>
                        <p:par>
                          <p:cTn id="86" fill="hold" nodeType="afterGroup">
                            <p:stCondLst>
                              <p:cond delay="500"/>
                            </p:stCondLst>
                            <p:childTnLst>
                              <p:par>
                                <p:cTn id="87" presetID="9" presetClass="entr" presetSubtype="0" fill="hold" nodeType="after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dissolve">
                                      <p:cBhvr>
                                        <p:cTn id="89"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4" fill="hold" nodeType="click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p:cTn id="94" dur="500" fill="hold"/>
                                        <p:tgtEl>
                                          <p:spTgt spid="20"/>
                                        </p:tgtEl>
                                        <p:attrNameLst>
                                          <p:attrName>ppt_x</p:attrName>
                                        </p:attrNameLst>
                                      </p:cBhvr>
                                      <p:tavLst>
                                        <p:tav tm="0">
                                          <p:val>
                                            <p:strVal val="#ppt_x"/>
                                          </p:val>
                                        </p:tav>
                                        <p:tav tm="100000">
                                          <p:val>
                                            <p:strVal val="#ppt_x"/>
                                          </p:val>
                                        </p:tav>
                                      </p:tavLst>
                                    </p:anim>
                                    <p:anim calcmode="lin" valueType="num">
                                      <p:cBhvr>
                                        <p:cTn id="95" dur="500" fill="hold"/>
                                        <p:tgtEl>
                                          <p:spTgt spid="20"/>
                                        </p:tgtEl>
                                        <p:attrNameLst>
                                          <p:attrName>ppt_y</p:attrName>
                                        </p:attrNameLst>
                                      </p:cBhvr>
                                      <p:tavLst>
                                        <p:tav tm="0">
                                          <p:val>
                                            <p:strVal val="#ppt_y+#ppt_h/2"/>
                                          </p:val>
                                        </p:tav>
                                        <p:tav tm="100000">
                                          <p:val>
                                            <p:strVal val="#ppt_y"/>
                                          </p:val>
                                        </p:tav>
                                      </p:tavLst>
                                    </p:anim>
                                    <p:anim calcmode="lin" valueType="num">
                                      <p:cBhvr>
                                        <p:cTn id="96" dur="500" fill="hold"/>
                                        <p:tgtEl>
                                          <p:spTgt spid="20"/>
                                        </p:tgtEl>
                                        <p:attrNameLst>
                                          <p:attrName>ppt_w</p:attrName>
                                        </p:attrNameLst>
                                      </p:cBhvr>
                                      <p:tavLst>
                                        <p:tav tm="0">
                                          <p:val>
                                            <p:strVal val="#ppt_w"/>
                                          </p:val>
                                        </p:tav>
                                        <p:tav tm="100000">
                                          <p:val>
                                            <p:strVal val="#ppt_w"/>
                                          </p:val>
                                        </p:tav>
                                      </p:tavLst>
                                    </p:anim>
                                    <p:anim calcmode="lin" valueType="num">
                                      <p:cBhvr>
                                        <p:cTn id="97" dur="500" fill="hold"/>
                                        <p:tgtEl>
                                          <p:spTgt spid="20"/>
                                        </p:tgtEl>
                                        <p:attrNameLst>
                                          <p:attrName>ppt_h</p:attrName>
                                        </p:attrNameLst>
                                      </p:cBhvr>
                                      <p:tavLst>
                                        <p:tav tm="0">
                                          <p:val>
                                            <p:fltVal val="0"/>
                                          </p:val>
                                        </p:tav>
                                        <p:tav tm="100000">
                                          <p:val>
                                            <p:strVal val="#ppt_h"/>
                                          </p:val>
                                        </p:tav>
                                      </p:tavLst>
                                    </p:anim>
                                  </p:childTnLst>
                                </p:cTn>
                              </p:par>
                            </p:childTnLst>
                          </p:cTn>
                        </p:par>
                        <p:par>
                          <p:cTn id="98" fill="hold" nodeType="afterGroup">
                            <p:stCondLst>
                              <p:cond delay="500"/>
                            </p:stCondLst>
                            <p:childTnLst>
                              <p:par>
                                <p:cTn id="99" presetID="9" presetClass="entr" presetSubtype="0" fill="hold" nodeType="after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dissolve">
                                      <p:cBhvr>
                                        <p:cTn id="101"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02" fill="hold" nodeType="clickPar">
                      <p:stCondLst>
                        <p:cond delay="indefinite"/>
                      </p:stCondLst>
                      <p:childTnLst>
                        <p:par>
                          <p:cTn id="103" fill="hold" nodeType="withGroup">
                            <p:stCondLst>
                              <p:cond delay="0"/>
                            </p:stCondLst>
                            <p:childTnLst>
                              <p:par>
                                <p:cTn id="104" presetID="17" presetClass="entr" presetSubtype="4" fill="hold" nodeType="clickEffect">
                                  <p:stCondLst>
                                    <p:cond delay="0"/>
                                  </p:stCondLst>
                                  <p:childTnLst>
                                    <p:set>
                                      <p:cBhvr>
                                        <p:cTn id="105" dur="1" fill="hold">
                                          <p:stCondLst>
                                            <p:cond delay="0"/>
                                          </p:stCondLst>
                                        </p:cTn>
                                        <p:tgtEl>
                                          <p:spTgt spid="21"/>
                                        </p:tgtEl>
                                        <p:attrNameLst>
                                          <p:attrName>style.visibility</p:attrName>
                                        </p:attrNameLst>
                                      </p:cBhvr>
                                      <p:to>
                                        <p:strVal val="visible"/>
                                      </p:to>
                                    </p:set>
                                    <p:anim calcmode="lin" valueType="num">
                                      <p:cBhvr>
                                        <p:cTn id="106" dur="500" fill="hold"/>
                                        <p:tgtEl>
                                          <p:spTgt spid="21"/>
                                        </p:tgtEl>
                                        <p:attrNameLst>
                                          <p:attrName>ppt_x</p:attrName>
                                        </p:attrNameLst>
                                      </p:cBhvr>
                                      <p:tavLst>
                                        <p:tav tm="0">
                                          <p:val>
                                            <p:strVal val="#ppt_x"/>
                                          </p:val>
                                        </p:tav>
                                        <p:tav tm="100000">
                                          <p:val>
                                            <p:strVal val="#ppt_x"/>
                                          </p:val>
                                        </p:tav>
                                      </p:tavLst>
                                    </p:anim>
                                    <p:anim calcmode="lin" valueType="num">
                                      <p:cBhvr>
                                        <p:cTn id="107" dur="500" fill="hold"/>
                                        <p:tgtEl>
                                          <p:spTgt spid="21"/>
                                        </p:tgtEl>
                                        <p:attrNameLst>
                                          <p:attrName>ppt_y</p:attrName>
                                        </p:attrNameLst>
                                      </p:cBhvr>
                                      <p:tavLst>
                                        <p:tav tm="0">
                                          <p:val>
                                            <p:strVal val="#ppt_y+#ppt_h/2"/>
                                          </p:val>
                                        </p:tav>
                                        <p:tav tm="100000">
                                          <p:val>
                                            <p:strVal val="#ppt_y"/>
                                          </p:val>
                                        </p:tav>
                                      </p:tavLst>
                                    </p:anim>
                                    <p:anim calcmode="lin" valueType="num">
                                      <p:cBhvr>
                                        <p:cTn id="108" dur="500" fill="hold"/>
                                        <p:tgtEl>
                                          <p:spTgt spid="21"/>
                                        </p:tgtEl>
                                        <p:attrNameLst>
                                          <p:attrName>ppt_w</p:attrName>
                                        </p:attrNameLst>
                                      </p:cBhvr>
                                      <p:tavLst>
                                        <p:tav tm="0">
                                          <p:val>
                                            <p:strVal val="#ppt_w"/>
                                          </p:val>
                                        </p:tav>
                                        <p:tav tm="100000">
                                          <p:val>
                                            <p:strVal val="#ppt_w"/>
                                          </p:val>
                                        </p:tav>
                                      </p:tavLst>
                                    </p:anim>
                                    <p:anim calcmode="lin" valueType="num">
                                      <p:cBhvr>
                                        <p:cTn id="109" dur="500" fill="hold"/>
                                        <p:tgtEl>
                                          <p:spTgt spid="21"/>
                                        </p:tgtEl>
                                        <p:attrNameLst>
                                          <p:attrName>ppt_h</p:attrName>
                                        </p:attrNameLst>
                                      </p:cBhvr>
                                      <p:tavLst>
                                        <p:tav tm="0">
                                          <p:val>
                                            <p:fltVal val="0"/>
                                          </p:val>
                                        </p:tav>
                                        <p:tav tm="100000">
                                          <p:val>
                                            <p:strVal val="#ppt_h"/>
                                          </p:val>
                                        </p:tav>
                                      </p:tavLst>
                                    </p:anim>
                                  </p:childTnLst>
                                </p:cTn>
                              </p:par>
                            </p:childTnLst>
                          </p:cTn>
                        </p:par>
                        <p:par>
                          <p:cTn id="110" fill="hold" nodeType="afterGroup">
                            <p:stCondLst>
                              <p:cond delay="500"/>
                            </p:stCondLst>
                            <p:childTnLst>
                              <p:par>
                                <p:cTn id="111" presetID="9" presetClass="entr" presetSubtype="0" fill="hold" nodeType="after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dissolve">
                                      <p:cBhvr>
                                        <p:cTn id="113"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14" fill="hold" nodeType="clickPar">
                      <p:stCondLst>
                        <p:cond delay="indefinite"/>
                      </p:stCondLst>
                      <p:childTnLst>
                        <p:par>
                          <p:cTn id="115" fill="hold" nodeType="withGroup">
                            <p:stCondLst>
                              <p:cond delay="0"/>
                            </p:stCondLst>
                            <p:childTnLst>
                              <p:par>
                                <p:cTn id="116" presetID="17" presetClass="entr" presetSubtype="4" fill="hold" nodeType="clickEffect">
                                  <p:stCondLst>
                                    <p:cond delay="0"/>
                                  </p:stCondLst>
                                  <p:childTnLst>
                                    <p:set>
                                      <p:cBhvr>
                                        <p:cTn id="117" dur="1" fill="hold">
                                          <p:stCondLst>
                                            <p:cond delay="0"/>
                                          </p:stCondLst>
                                        </p:cTn>
                                        <p:tgtEl>
                                          <p:spTgt spid="22"/>
                                        </p:tgtEl>
                                        <p:attrNameLst>
                                          <p:attrName>style.visibility</p:attrName>
                                        </p:attrNameLst>
                                      </p:cBhvr>
                                      <p:to>
                                        <p:strVal val="visible"/>
                                      </p:to>
                                    </p:set>
                                    <p:anim calcmode="lin" valueType="num">
                                      <p:cBhvr>
                                        <p:cTn id="118" dur="500" fill="hold"/>
                                        <p:tgtEl>
                                          <p:spTgt spid="22"/>
                                        </p:tgtEl>
                                        <p:attrNameLst>
                                          <p:attrName>ppt_x</p:attrName>
                                        </p:attrNameLst>
                                      </p:cBhvr>
                                      <p:tavLst>
                                        <p:tav tm="0">
                                          <p:val>
                                            <p:strVal val="#ppt_x"/>
                                          </p:val>
                                        </p:tav>
                                        <p:tav tm="100000">
                                          <p:val>
                                            <p:strVal val="#ppt_x"/>
                                          </p:val>
                                        </p:tav>
                                      </p:tavLst>
                                    </p:anim>
                                    <p:anim calcmode="lin" valueType="num">
                                      <p:cBhvr>
                                        <p:cTn id="119" dur="500" fill="hold"/>
                                        <p:tgtEl>
                                          <p:spTgt spid="22"/>
                                        </p:tgtEl>
                                        <p:attrNameLst>
                                          <p:attrName>ppt_y</p:attrName>
                                        </p:attrNameLst>
                                      </p:cBhvr>
                                      <p:tavLst>
                                        <p:tav tm="0">
                                          <p:val>
                                            <p:strVal val="#ppt_y+#ppt_h/2"/>
                                          </p:val>
                                        </p:tav>
                                        <p:tav tm="100000">
                                          <p:val>
                                            <p:strVal val="#ppt_y"/>
                                          </p:val>
                                        </p:tav>
                                      </p:tavLst>
                                    </p:anim>
                                    <p:anim calcmode="lin" valueType="num">
                                      <p:cBhvr>
                                        <p:cTn id="120" dur="500" fill="hold"/>
                                        <p:tgtEl>
                                          <p:spTgt spid="22"/>
                                        </p:tgtEl>
                                        <p:attrNameLst>
                                          <p:attrName>ppt_w</p:attrName>
                                        </p:attrNameLst>
                                      </p:cBhvr>
                                      <p:tavLst>
                                        <p:tav tm="0">
                                          <p:val>
                                            <p:strVal val="#ppt_w"/>
                                          </p:val>
                                        </p:tav>
                                        <p:tav tm="100000">
                                          <p:val>
                                            <p:strVal val="#ppt_w"/>
                                          </p:val>
                                        </p:tav>
                                      </p:tavLst>
                                    </p:anim>
                                    <p:anim calcmode="lin" valueType="num">
                                      <p:cBhvr>
                                        <p:cTn id="121" dur="500" fill="hold"/>
                                        <p:tgtEl>
                                          <p:spTgt spid="22"/>
                                        </p:tgtEl>
                                        <p:attrNameLst>
                                          <p:attrName>ppt_h</p:attrName>
                                        </p:attrNameLst>
                                      </p:cBhvr>
                                      <p:tavLst>
                                        <p:tav tm="0">
                                          <p:val>
                                            <p:fltVal val="0"/>
                                          </p:val>
                                        </p:tav>
                                        <p:tav tm="100000">
                                          <p:val>
                                            <p:strVal val="#ppt_h"/>
                                          </p:val>
                                        </p:tav>
                                      </p:tavLst>
                                    </p:anim>
                                  </p:childTnLst>
                                </p:cTn>
                              </p:par>
                            </p:childTnLst>
                          </p:cTn>
                        </p:par>
                        <p:par>
                          <p:cTn id="122" fill="hold" nodeType="afterGroup">
                            <p:stCondLst>
                              <p:cond delay="500"/>
                            </p:stCondLst>
                            <p:childTnLst>
                              <p:par>
                                <p:cTn id="123" presetID="9" presetClass="entr" presetSubtype="0" fill="hold" nodeType="afterEffect">
                                  <p:stCondLst>
                                    <p:cond delay="0"/>
                                  </p:stCondLst>
                                  <p:childTnLst>
                                    <p:set>
                                      <p:cBhvr>
                                        <p:cTn id="124" dur="1" fill="hold">
                                          <p:stCondLst>
                                            <p:cond delay="0"/>
                                          </p:stCondLst>
                                        </p:cTn>
                                        <p:tgtEl>
                                          <p:spTgt spid="19"/>
                                        </p:tgtEl>
                                        <p:attrNameLst>
                                          <p:attrName>style.visibility</p:attrName>
                                        </p:attrNameLst>
                                      </p:cBhvr>
                                      <p:to>
                                        <p:strVal val="visible"/>
                                      </p:to>
                                    </p:set>
                                    <p:animEffect transition="in" filter="dissolve">
                                      <p:cBhvr>
                                        <p:cTn id="1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09800" y="330201"/>
            <a:ext cx="7772400" cy="549275"/>
          </a:xfrm>
        </p:spPr>
        <p:txBody>
          <a:bodyPr>
            <a:normAutofit fontScale="90000"/>
          </a:bodyPr>
          <a:lstStyle/>
          <a:p>
            <a:pPr algn="ctr" eaLnBrk="1" hangingPunct="1"/>
            <a:r>
              <a:rPr lang="zh-CN" altLang="zh-CN"/>
              <a:t>网络体系结构的定义</a:t>
            </a:r>
          </a:p>
        </p:txBody>
      </p:sp>
      <p:sp>
        <p:nvSpPr>
          <p:cNvPr id="18435" name="Text Box 3"/>
          <p:cNvSpPr txBox="1">
            <a:spLocks noChangeArrowheads="1"/>
          </p:cNvSpPr>
          <p:nvPr/>
        </p:nvSpPr>
        <p:spPr bwMode="auto">
          <a:xfrm>
            <a:off x="2738438" y="1493838"/>
            <a:ext cx="6831012" cy="1785104"/>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4400" b="1">
                <a:solidFill>
                  <a:srgbClr val="FF0000"/>
                </a:solidFill>
                <a:latin typeface="华文楷体" panose="02010600040101010101" pitchFamily="2" charset="-122"/>
                <a:ea typeface="华文楷体" panose="02010600040101010101" pitchFamily="2" charset="-122"/>
              </a:rPr>
              <a:t>网络体系结构即是</a:t>
            </a:r>
            <a:endParaRPr lang="en-US" altLang="zh-CN" sz="4400" b="1">
              <a:solidFill>
                <a:srgbClr val="FF0000"/>
              </a:solidFill>
              <a:latin typeface="华文楷体" panose="02010600040101010101" pitchFamily="2" charset="-122"/>
              <a:ea typeface="华文楷体" panose="02010600040101010101" pitchFamily="2" charset="-122"/>
            </a:endParaRPr>
          </a:p>
          <a:p>
            <a:pPr eaLnBrk="1" hangingPunct="1">
              <a:spcBef>
                <a:spcPct val="50000"/>
              </a:spcBef>
              <a:buFont typeface="Wingdings" panose="05000000000000000000" pitchFamily="2" charset="2"/>
              <a:buNone/>
            </a:pPr>
            <a:r>
              <a:rPr lang="zh-CN" altLang="zh-CN" sz="4400" b="1">
                <a:solidFill>
                  <a:srgbClr val="3333FF"/>
                </a:solidFill>
                <a:latin typeface="华文楷体" panose="02010600040101010101" pitchFamily="2" charset="-122"/>
                <a:ea typeface="华文楷体" panose="02010600040101010101" pitchFamily="2" charset="-122"/>
              </a:rPr>
              <a:t>层次</a:t>
            </a:r>
            <a:r>
              <a:rPr lang="zh-CN" altLang="zh-CN" sz="4400" b="1">
                <a:solidFill>
                  <a:srgbClr val="FF0000"/>
                </a:solidFill>
                <a:latin typeface="华文楷体" panose="02010600040101010101" pitchFamily="2" charset="-122"/>
                <a:ea typeface="华文楷体" panose="02010600040101010101" pitchFamily="2" charset="-122"/>
              </a:rPr>
              <a:t>与</a:t>
            </a:r>
            <a:r>
              <a:rPr lang="zh-CN" altLang="zh-CN" sz="4400" b="1">
                <a:solidFill>
                  <a:srgbClr val="3333FF"/>
                </a:solidFill>
                <a:latin typeface="华文楷体" panose="02010600040101010101" pitchFamily="2" charset="-122"/>
                <a:ea typeface="华文楷体" panose="02010600040101010101" pitchFamily="2" charset="-122"/>
              </a:rPr>
              <a:t>协议</a:t>
            </a:r>
            <a:r>
              <a:rPr lang="zh-CN" altLang="zh-CN" sz="4400" b="1">
                <a:solidFill>
                  <a:srgbClr val="FF0000"/>
                </a:solidFill>
                <a:latin typeface="华文楷体" panose="02010600040101010101" pitchFamily="2" charset="-122"/>
                <a:ea typeface="华文楷体" panose="02010600040101010101" pitchFamily="2" charset="-122"/>
              </a:rPr>
              <a:t>的集合。</a:t>
            </a:r>
            <a:r>
              <a:rPr lang="zh-CN" altLang="zh-CN" b="1">
                <a:latin typeface="华文楷体" panose="02010600040101010101" pitchFamily="2" charset="-122"/>
                <a:ea typeface="华文楷体" panose="02010600040101010101" pitchFamily="2" charset="-122"/>
              </a:rPr>
              <a:t> </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10896" y="179389"/>
            <a:ext cx="9671304" cy="623887"/>
          </a:xfrm>
        </p:spPr>
        <p:txBody>
          <a:bodyPr>
            <a:normAutofit fontScale="90000"/>
          </a:bodyPr>
          <a:lstStyle/>
          <a:p>
            <a:pPr eaLnBrk="1" hangingPunct="1"/>
            <a:r>
              <a:rPr lang="zh-CN" altLang="zh-CN"/>
              <a:t>2.2 从实际考察网络的分层</a:t>
            </a:r>
          </a:p>
        </p:txBody>
      </p:sp>
      <p:sp>
        <p:nvSpPr>
          <p:cNvPr id="19459" name="Text Box 3"/>
          <p:cNvSpPr txBox="1">
            <a:spLocks noChangeArrowheads="1"/>
          </p:cNvSpPr>
          <p:nvPr/>
        </p:nvSpPr>
        <p:spPr bwMode="auto">
          <a:xfrm>
            <a:off x="2246313" y="4170364"/>
            <a:ext cx="8031162"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3600" b="1">
                <a:latin typeface="华文楷体" panose="02010600040101010101" pitchFamily="2" charset="-122"/>
                <a:ea typeface="华文楷体" panose="02010600040101010101" pitchFamily="2" charset="-122"/>
              </a:rPr>
              <a:t>首先考察通过</a:t>
            </a:r>
            <a:r>
              <a:rPr lang="zh-CN" altLang="zh-CN" sz="3600" b="1">
                <a:solidFill>
                  <a:schemeClr val="hlink"/>
                </a:solidFill>
                <a:latin typeface="华文楷体" panose="02010600040101010101" pitchFamily="2" charset="-122"/>
                <a:ea typeface="华文楷体" panose="02010600040101010101" pitchFamily="2" charset="-122"/>
              </a:rPr>
              <a:t>理想线路</a:t>
            </a:r>
            <a:r>
              <a:rPr lang="zh-CN" altLang="zh-CN" sz="3600" b="1">
                <a:latin typeface="华文楷体" panose="02010600040101010101" pitchFamily="2" charset="-122"/>
                <a:ea typeface="华文楷体" panose="02010600040101010101" pitchFamily="2" charset="-122"/>
              </a:rPr>
              <a:t>（无差错）的两个</a:t>
            </a:r>
            <a:r>
              <a:rPr lang="zh-CN" altLang="zh-CN" sz="3600" b="1">
                <a:solidFill>
                  <a:schemeClr val="hlink"/>
                </a:solidFill>
                <a:latin typeface="华文楷体" panose="02010600040101010101" pitchFamily="2" charset="-122"/>
                <a:ea typeface="华文楷体" panose="02010600040101010101" pitchFamily="2" charset="-122"/>
              </a:rPr>
              <a:t>相同的计算机</a:t>
            </a:r>
            <a:r>
              <a:rPr lang="zh-CN" altLang="zh-CN" sz="3600" b="1">
                <a:latin typeface="华文楷体" panose="02010600040101010101" pitchFamily="2" charset="-122"/>
                <a:ea typeface="华文楷体" panose="02010600040101010101" pitchFamily="2" charset="-122"/>
              </a:rPr>
              <a:t>如何互连？</a:t>
            </a:r>
          </a:p>
        </p:txBody>
      </p:sp>
      <p:pic>
        <p:nvPicPr>
          <p:cNvPr id="19460" name="Picture 4" descr="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8389" y="1981200"/>
            <a:ext cx="199072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5864" y="1973264"/>
            <a:ext cx="2181225"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Line 6"/>
          <p:cNvSpPr>
            <a:spLocks noChangeShapeType="1"/>
          </p:cNvSpPr>
          <p:nvPr/>
        </p:nvSpPr>
        <p:spPr bwMode="auto">
          <a:xfrm>
            <a:off x="4006851" y="2922588"/>
            <a:ext cx="3756025"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3" name="WordArt 7"/>
          <p:cNvSpPr>
            <a:spLocks noChangeArrowheads="1" noChangeShapeType="1" noTextEdit="1"/>
          </p:cNvSpPr>
          <p:nvPr/>
        </p:nvSpPr>
        <p:spPr bwMode="auto">
          <a:xfrm>
            <a:off x="5384800" y="2257426"/>
            <a:ext cx="1411288" cy="1457325"/>
          </a:xfrm>
          <a:prstGeom prst="rect">
            <a:avLst/>
          </a:prstGeom>
        </p:spPr>
        <p:txBody>
          <a:bodyPr wrap="none" fromWordArt="1">
            <a:prstTxWarp prst="textDoubleWave1">
              <a:avLst>
                <a:gd name="adj1" fmla="val 0"/>
                <a:gd name="adj2" fmla="val -10000"/>
              </a:avLst>
            </a:prstTxWarp>
          </a:bodyPr>
          <a:lstStyle/>
          <a:p>
            <a:pPr algn="ctr"/>
            <a:r>
              <a:rPr lang="en-US" altLang="zh-CN"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rPr>
              <a:t>?</a:t>
            </a:r>
            <a:endParaRPr lang="zh-CN" altLang="en-US"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1+#ppt_w/2"/>
                                          </p:val>
                                        </p:tav>
                                        <p:tav tm="100000">
                                          <p:val>
                                            <p:strVal val="#ppt_x"/>
                                          </p:val>
                                        </p:tav>
                                      </p:tavLst>
                                    </p:anim>
                                    <p:anim calcmode="lin" valueType="num">
                                      <p:cBhvr additive="base">
                                        <p:cTn id="8"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1+#ppt_w/2"/>
                                          </p:val>
                                        </p:tav>
                                        <p:tav tm="100000">
                                          <p:val>
                                            <p:strVal val="#ppt_x"/>
                                          </p:val>
                                        </p:tav>
                                      </p:tavLst>
                                    </p:anim>
                                    <p:anim calcmode="lin" valueType="num">
                                      <p:cBhvr additive="base">
                                        <p:cTn id="14" dur="500" fill="hold"/>
                                        <p:tgtEl>
                                          <p:spTgt spid="194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9463"/>
                                        </p:tgtEl>
                                        <p:attrNameLst>
                                          <p:attrName>style.visibility</p:attrName>
                                        </p:attrNameLst>
                                      </p:cBhvr>
                                      <p:to>
                                        <p:strVal val="visible"/>
                                      </p:to>
                                    </p:set>
                                    <p:anim calcmode="lin" valueType="num">
                                      <p:cBhvr additive="base">
                                        <p:cTn id="19" dur="500" fill="hold"/>
                                        <p:tgtEl>
                                          <p:spTgt spid="19463"/>
                                        </p:tgtEl>
                                        <p:attrNameLst>
                                          <p:attrName>ppt_x</p:attrName>
                                        </p:attrNameLst>
                                      </p:cBhvr>
                                      <p:tavLst>
                                        <p:tav tm="0">
                                          <p:val>
                                            <p:strVal val="1+#ppt_w/2"/>
                                          </p:val>
                                        </p:tav>
                                        <p:tav tm="100000">
                                          <p:val>
                                            <p:strVal val="#ppt_x"/>
                                          </p:val>
                                        </p:tav>
                                      </p:tavLst>
                                    </p:anim>
                                    <p:anim calcmode="lin" valueType="num">
                                      <p:cBhvr additive="base">
                                        <p:cTn id="20" dur="500" fill="hold"/>
                                        <p:tgtEl>
                                          <p:spTgt spid="1946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9462"/>
                                        </p:tgtEl>
                                        <p:attrNameLst>
                                          <p:attrName>style.visibility</p:attrName>
                                        </p:attrNameLst>
                                      </p:cBhvr>
                                      <p:to>
                                        <p:strVal val="visible"/>
                                      </p:to>
                                    </p:set>
                                    <p:anim calcmode="lin" valueType="num">
                                      <p:cBhvr additive="base">
                                        <p:cTn id="25" dur="500" fill="hold"/>
                                        <p:tgtEl>
                                          <p:spTgt spid="19462"/>
                                        </p:tgtEl>
                                        <p:attrNameLst>
                                          <p:attrName>ppt_x</p:attrName>
                                        </p:attrNameLst>
                                      </p:cBhvr>
                                      <p:tavLst>
                                        <p:tav tm="0">
                                          <p:val>
                                            <p:strVal val="1+#ppt_w/2"/>
                                          </p:val>
                                        </p:tav>
                                        <p:tav tm="100000">
                                          <p:val>
                                            <p:strVal val="#ppt_x"/>
                                          </p:val>
                                        </p:tav>
                                      </p:tavLst>
                                    </p:anim>
                                    <p:anim calcmode="lin" valueType="num">
                                      <p:cBhvr additive="base">
                                        <p:cTn id="26"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621792" y="1905000"/>
            <a:ext cx="10643615" cy="308392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 typeface="Wingdings" panose="05000000000000000000" pitchFamily="2" charset="2"/>
              <a:buNone/>
            </a:pPr>
            <a:r>
              <a:rPr lang="zh-CN" altLang="zh-CN" sz="3600" b="1">
                <a:latin typeface="华文楷体" panose="02010600040101010101" pitchFamily="2" charset="-122"/>
                <a:ea typeface="华文楷体" panose="02010600040101010101" pitchFamily="2" charset="-122"/>
              </a:rPr>
              <a:t>要连接两台计算机，必须解决：</a:t>
            </a:r>
          </a:p>
          <a:p>
            <a:pPr eaLnBrk="1" hangingPunct="1">
              <a:buClrTx/>
              <a:buSzTx/>
              <a:buFont typeface="Wingdings" panose="05000000000000000000" pitchFamily="2" charset="2"/>
              <a:buAutoNum type="arabicParenR"/>
            </a:pPr>
            <a:r>
              <a:rPr lang="zh-CN" altLang="zh-CN" b="1">
                <a:latin typeface="华文楷体" panose="02010600040101010101" pitchFamily="2" charset="-122"/>
                <a:ea typeface="华文楷体" panose="02010600040101010101" pitchFamily="2" charset="-122"/>
              </a:rPr>
              <a:t>采用什么样的通信接口</a:t>
            </a:r>
            <a:r>
              <a:rPr lang="zh-CN" altLang="zh-CN" sz="2400" b="1">
                <a:latin typeface="华文楷体" panose="02010600040101010101" pitchFamily="2" charset="-122"/>
                <a:ea typeface="华文楷体" panose="02010600040101010101" pitchFamily="2" charset="-122"/>
              </a:rPr>
              <a:t>(串/并/网络)</a:t>
            </a:r>
            <a:r>
              <a:rPr lang="zh-CN" altLang="zh-CN" b="1">
                <a:latin typeface="华文楷体" panose="02010600040101010101" pitchFamily="2" charset="-122"/>
                <a:ea typeface="华文楷体" panose="02010600040101010101" pitchFamily="2" charset="-122"/>
              </a:rPr>
              <a:t>？</a:t>
            </a:r>
          </a:p>
          <a:p>
            <a:pPr eaLnBrk="1" hangingPunct="1">
              <a:buClrTx/>
              <a:buSzTx/>
              <a:buFont typeface="Wingdings" panose="05000000000000000000" pitchFamily="2" charset="2"/>
              <a:buAutoNum type="arabicParenR"/>
            </a:pPr>
            <a:r>
              <a:rPr lang="zh-CN" altLang="zh-CN" b="1">
                <a:latin typeface="华文楷体" panose="02010600040101010101" pitchFamily="2" charset="-122"/>
                <a:ea typeface="华文楷体" panose="02010600040101010101" pitchFamily="2" charset="-122"/>
              </a:rPr>
              <a:t>通信接口如何定义</a:t>
            </a:r>
            <a:r>
              <a:rPr lang="zh-CN" altLang="zh-CN" sz="2400" b="1">
                <a:latin typeface="华文楷体" panose="02010600040101010101" pitchFamily="2" charset="-122"/>
                <a:ea typeface="华文楷体" panose="02010600040101010101" pitchFamily="2" charset="-122"/>
              </a:rPr>
              <a:t>(数据、控制、定时、地）</a:t>
            </a:r>
            <a:r>
              <a:rPr lang="zh-CN" altLang="zh-CN" sz="3600" b="1">
                <a:latin typeface="华文楷体" panose="02010600040101010101" pitchFamily="2" charset="-122"/>
                <a:ea typeface="华文楷体" panose="02010600040101010101" pitchFamily="2" charset="-122"/>
              </a:rPr>
              <a:t>？</a:t>
            </a:r>
          </a:p>
          <a:p>
            <a:pPr eaLnBrk="1" hangingPunct="1">
              <a:buClrTx/>
              <a:buSzTx/>
              <a:buFont typeface="Wingdings" panose="05000000000000000000" pitchFamily="2" charset="2"/>
              <a:buAutoNum type="arabicParenR"/>
            </a:pPr>
            <a:r>
              <a:rPr lang="zh-CN" altLang="zh-CN" b="1">
                <a:latin typeface="华文楷体" panose="02010600040101010101" pitchFamily="2" charset="-122"/>
                <a:ea typeface="华文楷体" panose="02010600040101010101" pitchFamily="2" charset="-122"/>
              </a:rPr>
              <a:t>信号电平、比特宽度、连接距离、信道编码等如何定义？</a:t>
            </a:r>
          </a:p>
          <a:p>
            <a:pPr eaLnBrk="1" hangingPunct="1">
              <a:buClrTx/>
              <a:buSzTx/>
              <a:buFont typeface="Wingdings" panose="05000000000000000000" pitchFamily="2" charset="2"/>
              <a:buAutoNum type="arabicParenR"/>
            </a:pPr>
            <a:r>
              <a:rPr lang="zh-CN" altLang="zh-CN" b="1">
                <a:latin typeface="华文楷体" panose="02010600040101010101" pitchFamily="2" charset="-122"/>
                <a:ea typeface="华文楷体" panose="02010600040101010101" pitchFamily="2" charset="-122"/>
              </a:rPr>
              <a:t>事件之间的时序关系如何？</a:t>
            </a:r>
          </a:p>
        </p:txBody>
      </p:sp>
      <p:sp>
        <p:nvSpPr>
          <p:cNvPr id="20483" name="AutoShape 3"/>
          <p:cNvSpPr>
            <a:spLocks noChangeArrowheads="1"/>
          </p:cNvSpPr>
          <p:nvPr/>
        </p:nvSpPr>
        <p:spPr bwMode="auto">
          <a:xfrm>
            <a:off x="7578725" y="1831976"/>
            <a:ext cx="2768600" cy="766763"/>
          </a:xfrm>
          <a:prstGeom prst="wedgeRoundRectCallout">
            <a:avLst>
              <a:gd name="adj1" fmla="val -67594"/>
              <a:gd name="adj2" fmla="val 91319"/>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隶书" panose="02010509060101010101" pitchFamily="49" charset="-122"/>
              </a:rPr>
              <a:t>机械特性</a:t>
            </a:r>
          </a:p>
          <a:p>
            <a:pPr algn="ctr" eaLnBrk="1" hangingPunct="1">
              <a:buFont typeface="Wingdings" panose="05000000000000000000" pitchFamily="2" charset="2"/>
              <a:buNone/>
            </a:pPr>
            <a:r>
              <a:rPr lang="zh-CN" altLang="zh-CN" sz="2400">
                <a:solidFill>
                  <a:schemeClr val="tx2"/>
                </a:solidFill>
                <a:latin typeface="Times New Roman" panose="02020603050405020304" pitchFamily="18" charset="0"/>
                <a:ea typeface="隶书" panose="02010509060101010101" pitchFamily="49" charset="-122"/>
              </a:rPr>
              <a:t>(</a:t>
            </a:r>
            <a:r>
              <a:rPr lang="zh-CN" altLang="zh-CN" sz="2400">
                <a:solidFill>
                  <a:schemeClr val="tx2"/>
                </a:solidFill>
                <a:latin typeface="Arial" panose="020B0604020202020204" pitchFamily="34" charset="0"/>
                <a:ea typeface="隶书" panose="02010509060101010101" pitchFamily="49" charset="-122"/>
              </a:rPr>
              <a:t>Mechanical</a:t>
            </a:r>
            <a:r>
              <a:rPr lang="zh-CN" altLang="zh-CN" sz="2400">
                <a:solidFill>
                  <a:schemeClr val="tx2"/>
                </a:solidFill>
                <a:latin typeface="Times New Roman" panose="02020603050405020304" pitchFamily="18" charset="0"/>
                <a:ea typeface="隶书" panose="02010509060101010101" pitchFamily="49" charset="-122"/>
              </a:rPr>
              <a:t>)</a:t>
            </a:r>
          </a:p>
        </p:txBody>
      </p:sp>
      <p:sp>
        <p:nvSpPr>
          <p:cNvPr id="20484" name="AutoShape 4"/>
          <p:cNvSpPr>
            <a:spLocks noChangeArrowheads="1"/>
          </p:cNvSpPr>
          <p:nvPr/>
        </p:nvSpPr>
        <p:spPr bwMode="auto">
          <a:xfrm>
            <a:off x="8862696" y="2898384"/>
            <a:ext cx="2767012" cy="766763"/>
          </a:xfrm>
          <a:prstGeom prst="wedgeRoundRectCallout">
            <a:avLst>
              <a:gd name="adj1" fmla="val -78127"/>
              <a:gd name="adj2" fmla="val 30796"/>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Arial" panose="020B0604020202020204" pitchFamily="34" charset="0"/>
                <a:ea typeface="隶书" panose="02010509060101010101" pitchFamily="49" charset="-122"/>
              </a:rPr>
              <a:t>功能特性</a:t>
            </a:r>
          </a:p>
          <a:p>
            <a:pPr algn="ctr" eaLnBrk="1" hangingPunct="1">
              <a:buFont typeface="Wingdings" panose="05000000000000000000" pitchFamily="2" charset="2"/>
              <a:buNone/>
            </a:pPr>
            <a:r>
              <a:rPr lang="zh-CN" altLang="zh-CN" sz="2400">
                <a:solidFill>
                  <a:schemeClr val="tx2"/>
                </a:solidFill>
                <a:latin typeface="Arial" panose="020B0604020202020204" pitchFamily="34" charset="0"/>
                <a:ea typeface="隶书" panose="02010509060101010101" pitchFamily="49" charset="-122"/>
              </a:rPr>
              <a:t>(Functional)</a:t>
            </a:r>
          </a:p>
        </p:txBody>
      </p:sp>
      <p:sp>
        <p:nvSpPr>
          <p:cNvPr id="20485" name="AutoShape 5"/>
          <p:cNvSpPr>
            <a:spLocks noChangeArrowheads="1"/>
          </p:cNvSpPr>
          <p:nvPr/>
        </p:nvSpPr>
        <p:spPr bwMode="auto">
          <a:xfrm>
            <a:off x="8066882" y="4425062"/>
            <a:ext cx="2767012" cy="768350"/>
          </a:xfrm>
          <a:prstGeom prst="wedgeRoundRectCallout">
            <a:avLst>
              <a:gd name="adj1" fmla="val -157530"/>
              <a:gd name="adj2" fmla="val -78113"/>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sz="2400">
                <a:solidFill>
                  <a:schemeClr val="tx2"/>
                </a:solidFill>
                <a:latin typeface="Arial" panose="020B0604020202020204" pitchFamily="34" charset="0"/>
                <a:ea typeface="隶书" panose="02010509060101010101" pitchFamily="49" charset="-122"/>
              </a:rPr>
              <a:t>电气特性</a:t>
            </a:r>
          </a:p>
          <a:p>
            <a:pPr algn="ctr" eaLnBrk="1" hangingPunct="1">
              <a:buFont typeface="Wingdings" panose="05000000000000000000" pitchFamily="2" charset="2"/>
              <a:buNone/>
            </a:pPr>
            <a:r>
              <a:rPr lang="zh-CN" altLang="zh-CN" sz="2400">
                <a:solidFill>
                  <a:schemeClr val="tx2"/>
                </a:solidFill>
                <a:latin typeface="Arial" panose="020B0604020202020204" pitchFamily="34" charset="0"/>
                <a:ea typeface="隶书" panose="02010509060101010101" pitchFamily="49" charset="-122"/>
              </a:rPr>
              <a:t>(Electrical)</a:t>
            </a:r>
          </a:p>
        </p:txBody>
      </p:sp>
      <p:sp>
        <p:nvSpPr>
          <p:cNvPr id="20486" name="AutoShape 6"/>
          <p:cNvSpPr>
            <a:spLocks noChangeArrowheads="1"/>
          </p:cNvSpPr>
          <p:nvPr/>
        </p:nvSpPr>
        <p:spPr bwMode="auto">
          <a:xfrm>
            <a:off x="6683376" y="5741988"/>
            <a:ext cx="2767013" cy="766762"/>
          </a:xfrm>
          <a:prstGeom prst="wedgeRoundRectCallout">
            <a:avLst>
              <a:gd name="adj1" fmla="val -81675"/>
              <a:gd name="adj2" fmla="val -163462"/>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2400">
                <a:solidFill>
                  <a:schemeClr val="tx2"/>
                </a:solidFill>
                <a:latin typeface="Arial" panose="020B0604020202020204" pitchFamily="34" charset="0"/>
                <a:ea typeface="隶书" panose="02010509060101010101" pitchFamily="49" charset="-122"/>
              </a:rPr>
              <a:t>规程特性</a:t>
            </a:r>
          </a:p>
          <a:p>
            <a:pPr algn="ctr" eaLnBrk="1" hangingPunct="1">
              <a:buFont typeface="Wingdings" panose="05000000000000000000" pitchFamily="2" charset="2"/>
              <a:buNone/>
            </a:pPr>
            <a:r>
              <a:rPr lang="zh-CN" altLang="en-US" sz="2400">
                <a:solidFill>
                  <a:schemeClr val="tx2"/>
                </a:solidFill>
                <a:latin typeface="Arial" panose="020B0604020202020204" pitchFamily="34" charset="0"/>
                <a:ea typeface="隶书" panose="02010509060101010101" pitchFamily="49" charset="-122"/>
              </a:rPr>
              <a:t>(Procedural)</a:t>
            </a:r>
          </a:p>
        </p:txBody>
      </p:sp>
      <p:sp>
        <p:nvSpPr>
          <p:cNvPr id="20487" name="AutoShape 7"/>
          <p:cNvSpPr>
            <a:spLocks noChangeArrowheads="1"/>
          </p:cNvSpPr>
          <p:nvPr/>
        </p:nvSpPr>
        <p:spPr bwMode="auto">
          <a:xfrm>
            <a:off x="3134836" y="158159"/>
            <a:ext cx="5922327" cy="1449387"/>
          </a:xfrm>
          <a:prstGeom prst="wedgeRoundRectCallout">
            <a:avLst>
              <a:gd name="adj1" fmla="val -21208"/>
              <a:gd name="adj2" fmla="val 47829"/>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3200">
                <a:latin typeface="华文新魏" panose="02010800040101010101" pitchFamily="2" charset="-122"/>
                <a:ea typeface="华文新魏" panose="02010800040101010101" pitchFamily="2" charset="-122"/>
              </a:rPr>
              <a:t>所有这些内容都是物理相关的</a:t>
            </a:r>
          </a:p>
          <a:p>
            <a:pPr eaLnBrk="1" hangingPunct="1">
              <a:buFont typeface="Wingdings" panose="05000000000000000000" pitchFamily="2" charset="2"/>
              <a:buNone/>
            </a:pPr>
            <a:r>
              <a:rPr lang="zh-CN" altLang="zh-CN" sz="3200">
                <a:solidFill>
                  <a:srgbClr val="FF0000"/>
                </a:solidFill>
                <a:latin typeface="华文新魏" panose="02010800040101010101" pitchFamily="2" charset="-122"/>
                <a:ea typeface="华文新魏" panose="02010800040101010101" pitchFamily="2" charset="-122"/>
              </a:rPr>
              <a:t>→ 物理层</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 calcmode="lin" valueType="num">
                                      <p:cBhvr additive="base">
                                        <p:cTn id="7" dur="500" fill="hold"/>
                                        <p:tgtEl>
                                          <p:spTgt spid="2048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4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482">
                                            <p:txEl>
                                              <p:pRg st="1" end="1"/>
                                            </p:txEl>
                                          </p:spTgt>
                                        </p:tgtEl>
                                        <p:attrNameLst>
                                          <p:attrName>style.visibility</p:attrName>
                                        </p:attrNameLst>
                                      </p:cBhvr>
                                      <p:to>
                                        <p:strVal val="visible"/>
                                      </p:to>
                                    </p:set>
                                    <p:anim calcmode="lin" valueType="num">
                                      <p:cBhvr additive="base">
                                        <p:cTn id="13" dur="500" fill="hold"/>
                                        <p:tgtEl>
                                          <p:spTgt spid="2048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048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482">
                                            <p:txEl>
                                              <p:pRg st="2" end="2"/>
                                            </p:txEl>
                                          </p:spTgt>
                                        </p:tgtEl>
                                        <p:attrNameLst>
                                          <p:attrName>style.visibility</p:attrName>
                                        </p:attrNameLst>
                                      </p:cBhvr>
                                      <p:to>
                                        <p:strVal val="visible"/>
                                      </p:to>
                                    </p:set>
                                    <p:anim calcmode="lin" valueType="num">
                                      <p:cBhvr additive="base">
                                        <p:cTn id="19" dur="500" fill="hold"/>
                                        <p:tgtEl>
                                          <p:spTgt spid="2048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04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482">
                                            <p:txEl>
                                              <p:pRg st="3" end="3"/>
                                            </p:txEl>
                                          </p:spTgt>
                                        </p:tgtEl>
                                        <p:attrNameLst>
                                          <p:attrName>style.visibility</p:attrName>
                                        </p:attrNameLst>
                                      </p:cBhvr>
                                      <p:to>
                                        <p:strVal val="visible"/>
                                      </p:to>
                                    </p:set>
                                    <p:anim calcmode="lin" valueType="num">
                                      <p:cBhvr additive="base">
                                        <p:cTn id="25" dur="500" fill="hold"/>
                                        <p:tgtEl>
                                          <p:spTgt spid="2048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048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0482">
                                            <p:txEl>
                                              <p:pRg st="4" end="4"/>
                                            </p:txEl>
                                          </p:spTgt>
                                        </p:tgtEl>
                                        <p:attrNameLst>
                                          <p:attrName>style.visibility</p:attrName>
                                        </p:attrNameLst>
                                      </p:cBhvr>
                                      <p:to>
                                        <p:strVal val="visible"/>
                                      </p:to>
                                    </p:set>
                                    <p:anim calcmode="lin" valueType="num">
                                      <p:cBhvr additive="base">
                                        <p:cTn id="31" dur="500" fill="hold"/>
                                        <p:tgtEl>
                                          <p:spTgt spid="2048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048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0487"/>
                                        </p:tgtEl>
                                        <p:attrNameLst>
                                          <p:attrName>style.visibility</p:attrName>
                                        </p:attrNameLst>
                                      </p:cBhvr>
                                      <p:to>
                                        <p:strVal val="visible"/>
                                      </p:to>
                                    </p:set>
                                    <p:anim calcmode="lin" valueType="num">
                                      <p:cBhvr additive="base">
                                        <p:cTn id="37" dur="500" fill="hold"/>
                                        <p:tgtEl>
                                          <p:spTgt spid="20487"/>
                                        </p:tgtEl>
                                        <p:attrNameLst>
                                          <p:attrName>ppt_x</p:attrName>
                                        </p:attrNameLst>
                                      </p:cBhvr>
                                      <p:tavLst>
                                        <p:tav tm="0">
                                          <p:val>
                                            <p:strVal val="1+#ppt_w/2"/>
                                          </p:val>
                                        </p:tav>
                                        <p:tav tm="100000">
                                          <p:val>
                                            <p:strVal val="#ppt_x"/>
                                          </p:val>
                                        </p:tav>
                                      </p:tavLst>
                                    </p:anim>
                                    <p:anim calcmode="lin" valueType="num">
                                      <p:cBhvr additive="base">
                                        <p:cTn id="38" dur="500" fill="hold"/>
                                        <p:tgtEl>
                                          <p:spTgt spid="2048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0483"/>
                                        </p:tgtEl>
                                        <p:attrNameLst>
                                          <p:attrName>style.visibility</p:attrName>
                                        </p:attrNameLst>
                                      </p:cBhvr>
                                      <p:to>
                                        <p:strVal val="visible"/>
                                      </p:to>
                                    </p:set>
                                    <p:anim calcmode="lin" valueType="num">
                                      <p:cBhvr additive="base">
                                        <p:cTn id="43" dur="500" fill="hold"/>
                                        <p:tgtEl>
                                          <p:spTgt spid="20483"/>
                                        </p:tgtEl>
                                        <p:attrNameLst>
                                          <p:attrName>ppt_x</p:attrName>
                                        </p:attrNameLst>
                                      </p:cBhvr>
                                      <p:tavLst>
                                        <p:tav tm="0">
                                          <p:val>
                                            <p:strVal val="1+#ppt_w/2"/>
                                          </p:val>
                                        </p:tav>
                                        <p:tav tm="100000">
                                          <p:val>
                                            <p:strVal val="#ppt_x"/>
                                          </p:val>
                                        </p:tav>
                                      </p:tavLst>
                                    </p:anim>
                                    <p:anim calcmode="lin" valueType="num">
                                      <p:cBhvr additive="base">
                                        <p:cTn id="44"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20484"/>
                                        </p:tgtEl>
                                        <p:attrNameLst>
                                          <p:attrName>style.visibility</p:attrName>
                                        </p:attrNameLst>
                                      </p:cBhvr>
                                      <p:to>
                                        <p:strVal val="visible"/>
                                      </p:to>
                                    </p:set>
                                    <p:anim calcmode="lin" valueType="num">
                                      <p:cBhvr additive="base">
                                        <p:cTn id="49" dur="500" fill="hold"/>
                                        <p:tgtEl>
                                          <p:spTgt spid="20484"/>
                                        </p:tgtEl>
                                        <p:attrNameLst>
                                          <p:attrName>ppt_x</p:attrName>
                                        </p:attrNameLst>
                                      </p:cBhvr>
                                      <p:tavLst>
                                        <p:tav tm="0">
                                          <p:val>
                                            <p:strVal val="1+#ppt_w/2"/>
                                          </p:val>
                                        </p:tav>
                                        <p:tav tm="100000">
                                          <p:val>
                                            <p:strVal val="#ppt_x"/>
                                          </p:val>
                                        </p:tav>
                                      </p:tavLst>
                                    </p:anim>
                                    <p:anim calcmode="lin" valueType="num">
                                      <p:cBhvr additive="base">
                                        <p:cTn id="50"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20485"/>
                                        </p:tgtEl>
                                        <p:attrNameLst>
                                          <p:attrName>style.visibility</p:attrName>
                                        </p:attrNameLst>
                                      </p:cBhvr>
                                      <p:to>
                                        <p:strVal val="visible"/>
                                      </p:to>
                                    </p:set>
                                    <p:anim calcmode="lin" valueType="num">
                                      <p:cBhvr additive="base">
                                        <p:cTn id="55" dur="500" fill="hold"/>
                                        <p:tgtEl>
                                          <p:spTgt spid="20485"/>
                                        </p:tgtEl>
                                        <p:attrNameLst>
                                          <p:attrName>ppt_x</p:attrName>
                                        </p:attrNameLst>
                                      </p:cBhvr>
                                      <p:tavLst>
                                        <p:tav tm="0">
                                          <p:val>
                                            <p:strVal val="1+#ppt_w/2"/>
                                          </p:val>
                                        </p:tav>
                                        <p:tav tm="100000">
                                          <p:val>
                                            <p:strVal val="#ppt_x"/>
                                          </p:val>
                                        </p:tav>
                                      </p:tavLst>
                                    </p:anim>
                                    <p:anim calcmode="lin" valueType="num">
                                      <p:cBhvr additive="base">
                                        <p:cTn id="56"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20486"/>
                                        </p:tgtEl>
                                        <p:attrNameLst>
                                          <p:attrName>style.visibility</p:attrName>
                                        </p:attrNameLst>
                                      </p:cBhvr>
                                      <p:to>
                                        <p:strVal val="visible"/>
                                      </p:to>
                                    </p:set>
                                    <p:anim calcmode="lin" valueType="num">
                                      <p:cBhvr additive="base">
                                        <p:cTn id="61" dur="500" fill="hold"/>
                                        <p:tgtEl>
                                          <p:spTgt spid="20486"/>
                                        </p:tgtEl>
                                        <p:attrNameLst>
                                          <p:attrName>ppt_x</p:attrName>
                                        </p:attrNameLst>
                                      </p:cBhvr>
                                      <p:tavLst>
                                        <p:tav tm="0">
                                          <p:val>
                                            <p:strVal val="1+#ppt_w/2"/>
                                          </p:val>
                                        </p:tav>
                                        <p:tav tm="100000">
                                          <p:val>
                                            <p:strVal val="#ppt_x"/>
                                          </p:val>
                                        </p:tav>
                                      </p:tavLst>
                                    </p:anim>
                                    <p:anim calcmode="lin" valueType="num">
                                      <p:cBhvr additive="base">
                                        <p:cTn id="62"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P spid="20483" grpId="0" bldLvl="0" animBg="1"/>
      <p:bldP spid="20484" grpId="0" bldLvl="0" animBg="1"/>
      <p:bldP spid="20485" grpId="0" bldLvl="0" animBg="1"/>
      <p:bldP spid="20486" grpId="0" bldLvl="0" animBg="1"/>
      <p:bldP spid="20487"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969264" y="1862139"/>
            <a:ext cx="10597896" cy="363791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3000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物理层的机械特性规定了物理连接时所使用可接插连接器的形状和尺寸，连接器中引脚的数量与排列情况等。如 </a:t>
            </a:r>
          </a:p>
          <a:p>
            <a:pPr lvl="1" eaLnBrk="1" hangingPunct="1">
              <a:spcBef>
                <a:spcPct val="30000"/>
              </a:spcBef>
              <a:buClr>
                <a:srgbClr val="CC0000"/>
              </a:buClr>
              <a:buSzPct val="50000"/>
              <a:buFont typeface="Wingdings" panose="05000000000000000000" pitchFamily="2" charset="2"/>
              <a:buChar char="u"/>
            </a:pPr>
            <a:r>
              <a:rPr lang="zh-CN" altLang="zh-CN" sz="3200" b="1">
                <a:latin typeface="华文楷体" panose="02010600040101010101" pitchFamily="2" charset="-122"/>
                <a:ea typeface="华文楷体" panose="02010600040101010101" pitchFamily="2" charset="-122"/>
              </a:rPr>
              <a:t> 并行口</a:t>
            </a:r>
            <a:r>
              <a:rPr lang="zh-CN" altLang="zh-CN" sz="2400" b="1">
                <a:latin typeface="华文楷体" panose="02010600040101010101" pitchFamily="2" charset="-122"/>
                <a:ea typeface="华文楷体" panose="02010600040101010101" pitchFamily="2" charset="-122"/>
              </a:rPr>
              <a:t>（25芯）</a:t>
            </a:r>
          </a:p>
          <a:p>
            <a:pPr lvl="1" eaLnBrk="1" hangingPunct="1">
              <a:spcBef>
                <a:spcPct val="30000"/>
              </a:spcBef>
              <a:buClr>
                <a:srgbClr val="CC0000"/>
              </a:buClr>
              <a:buSzPct val="50000"/>
              <a:buFont typeface="Wingdings" panose="05000000000000000000" pitchFamily="2" charset="2"/>
              <a:buChar char="u"/>
            </a:pPr>
            <a:r>
              <a:rPr lang="zh-CN" altLang="zh-CN" sz="3200" b="1">
                <a:latin typeface="华文楷体" panose="02010600040101010101" pitchFamily="2" charset="-122"/>
                <a:ea typeface="华文楷体" panose="02010600040101010101" pitchFamily="2" charset="-122"/>
              </a:rPr>
              <a:t> 串行口</a:t>
            </a:r>
            <a:r>
              <a:rPr lang="zh-CN" altLang="zh-CN" sz="2400" b="1">
                <a:latin typeface="华文楷体" panose="02010600040101010101" pitchFamily="2" charset="-122"/>
                <a:ea typeface="华文楷体" panose="02010600040101010101" pitchFamily="2" charset="-122"/>
              </a:rPr>
              <a:t>（25芯、9芯；针形、孔形）</a:t>
            </a:r>
          </a:p>
          <a:p>
            <a:pPr lvl="1" eaLnBrk="1" hangingPunct="1">
              <a:spcBef>
                <a:spcPct val="30000"/>
              </a:spcBef>
              <a:buClr>
                <a:srgbClr val="CC0000"/>
              </a:buClr>
              <a:buSzPct val="50000"/>
              <a:buFont typeface="Wingdings" panose="05000000000000000000" pitchFamily="2" charset="2"/>
              <a:buChar char="u"/>
            </a:pPr>
            <a:r>
              <a:rPr lang="zh-CN" altLang="zh-CN" sz="3200" b="1">
                <a:latin typeface="华文楷体" panose="02010600040101010101" pitchFamily="2" charset="-122"/>
                <a:ea typeface="华文楷体" panose="02010600040101010101" pitchFamily="2" charset="-122"/>
              </a:rPr>
              <a:t> 网络接口</a:t>
            </a:r>
            <a:r>
              <a:rPr lang="zh-CN" altLang="zh-CN" sz="2400" b="1">
                <a:latin typeface="华文楷体" panose="02010600040101010101" pitchFamily="2" charset="-122"/>
                <a:ea typeface="华文楷体" panose="02010600040101010101" pitchFamily="2" charset="-122"/>
              </a:rPr>
              <a:t>（以太网卡、X.25网卡等,RJ45/BNC/DIX）</a:t>
            </a:r>
          </a:p>
          <a:p>
            <a:pPr lvl="1" eaLnBrk="1" hangingPunct="1">
              <a:spcBef>
                <a:spcPct val="30000"/>
              </a:spcBef>
              <a:buClr>
                <a:srgbClr val="CC0000"/>
              </a:buClr>
              <a:buSzPct val="50000"/>
              <a:buFont typeface="Wingdings" panose="05000000000000000000" pitchFamily="2" charset="2"/>
              <a:buChar char="u"/>
            </a:pPr>
            <a:r>
              <a:rPr lang="zh-CN" altLang="zh-CN" sz="3200" b="1">
                <a:latin typeface="华文楷体" panose="02010600040101010101" pitchFamily="2" charset="-122"/>
                <a:ea typeface="华文楷体" panose="02010600040101010101" pitchFamily="2" charset="-122"/>
              </a:rPr>
              <a:t> </a:t>
            </a:r>
            <a:r>
              <a:rPr lang="zh-CN" altLang="zh-CN" sz="3200" b="1">
                <a:latin typeface="Times New Roman" panose="02020603050405020304" pitchFamily="18" charset="0"/>
                <a:ea typeface="华文楷体" panose="02010600040101010101" pitchFamily="2" charset="-122"/>
              </a:rPr>
              <a:t>……</a:t>
            </a:r>
            <a:endParaRPr lang="zh-CN" altLang="zh-CN" sz="3200" b="1">
              <a:latin typeface="华文楷体" panose="02010600040101010101" pitchFamily="2" charset="-122"/>
              <a:ea typeface="华文楷体" panose="02010600040101010101" pitchFamily="2" charset="-122"/>
            </a:endParaRPr>
          </a:p>
        </p:txBody>
      </p:sp>
      <p:sp>
        <p:nvSpPr>
          <p:cNvPr id="21507" name="Rectangle 3"/>
          <p:cNvSpPr>
            <a:spLocks noGrp="1" noChangeArrowheads="1"/>
          </p:cNvSpPr>
          <p:nvPr>
            <p:ph type="title"/>
          </p:nvPr>
        </p:nvSpPr>
        <p:spPr>
          <a:xfrm>
            <a:off x="4743450" y="206375"/>
            <a:ext cx="2705100" cy="723900"/>
          </a:xfrm>
        </p:spPr>
        <p:txBody>
          <a:bodyPr/>
          <a:lstStyle/>
          <a:p>
            <a:pPr eaLnBrk="1" hangingPunct="1"/>
            <a:r>
              <a:rPr lang="zh-CN" altLang="zh-CN"/>
              <a:t>机械特性</a:t>
            </a:r>
          </a:p>
        </p:txBody>
      </p:sp>
      <p:grpSp>
        <p:nvGrpSpPr>
          <p:cNvPr id="21508" name="Group 4"/>
          <p:cNvGrpSpPr>
            <a:grpSpLocks noChangeAspect="1"/>
          </p:cNvGrpSpPr>
          <p:nvPr/>
        </p:nvGrpSpPr>
        <p:grpSpPr bwMode="auto">
          <a:xfrm>
            <a:off x="5705476" y="419100"/>
            <a:ext cx="4486275" cy="3009900"/>
            <a:chOff x="0" y="0"/>
            <a:chExt cx="2826" cy="1896"/>
          </a:xfrm>
        </p:grpSpPr>
        <p:pic>
          <p:nvPicPr>
            <p:cNvPr id="2151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8"/>
              <a:ext cx="2826" cy="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 y="0"/>
              <a:ext cx="121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 name="Picture 7" descr="img1_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4300" y="2520950"/>
            <a:ext cx="2933700" cy="19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descr="img3_0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3875" y="4518026"/>
            <a:ext cx="3405188"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 calcmode="lin" valueType="num">
                                      <p:cBhvr additive="base">
                                        <p:cTn id="7" dur="500" fill="hold"/>
                                        <p:tgtEl>
                                          <p:spTgt spid="2150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150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1506">
                                            <p:txEl>
                                              <p:pRg st="1" end="1"/>
                                            </p:txEl>
                                          </p:spTgt>
                                        </p:tgtEl>
                                        <p:attrNameLst>
                                          <p:attrName>style.visibility</p:attrName>
                                        </p:attrNameLst>
                                      </p:cBhvr>
                                      <p:to>
                                        <p:strVal val="visible"/>
                                      </p:to>
                                    </p:set>
                                    <p:anim calcmode="lin" valueType="num">
                                      <p:cBhvr additive="base">
                                        <p:cTn id="11" dur="500" fill="hold"/>
                                        <p:tgtEl>
                                          <p:spTgt spid="21506">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1506">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1506">
                                            <p:txEl>
                                              <p:pRg st="2" end="2"/>
                                            </p:txEl>
                                          </p:spTgt>
                                        </p:tgtEl>
                                        <p:attrNameLst>
                                          <p:attrName>style.visibility</p:attrName>
                                        </p:attrNameLst>
                                      </p:cBhvr>
                                      <p:to>
                                        <p:strVal val="visible"/>
                                      </p:to>
                                    </p:set>
                                    <p:anim calcmode="lin" valueType="num">
                                      <p:cBhvr additive="base">
                                        <p:cTn id="15" dur="500" fill="hold"/>
                                        <p:tgtEl>
                                          <p:spTgt spid="21506">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21506">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1506">
                                            <p:txEl>
                                              <p:pRg st="3" end="3"/>
                                            </p:txEl>
                                          </p:spTgt>
                                        </p:tgtEl>
                                        <p:attrNameLst>
                                          <p:attrName>style.visibility</p:attrName>
                                        </p:attrNameLst>
                                      </p:cBhvr>
                                      <p:to>
                                        <p:strVal val="visible"/>
                                      </p:to>
                                    </p:set>
                                    <p:anim calcmode="lin" valueType="num">
                                      <p:cBhvr additive="base">
                                        <p:cTn id="19" dur="500" fill="hold"/>
                                        <p:tgtEl>
                                          <p:spTgt spid="21506">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1506">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1506">
                                            <p:txEl>
                                              <p:pRg st="4" end="4"/>
                                            </p:txEl>
                                          </p:spTgt>
                                        </p:tgtEl>
                                        <p:attrNameLst>
                                          <p:attrName>style.visibility</p:attrName>
                                        </p:attrNameLst>
                                      </p:cBhvr>
                                      <p:to>
                                        <p:strVal val="visible"/>
                                      </p:to>
                                    </p:set>
                                    <p:anim calcmode="lin" valueType="num">
                                      <p:cBhvr additive="base">
                                        <p:cTn id="23" dur="500" fill="hold"/>
                                        <p:tgtEl>
                                          <p:spTgt spid="21506">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150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1+#ppt_w/2"/>
                                          </p:val>
                                        </p:tav>
                                        <p:tav tm="100000">
                                          <p:val>
                                            <p:strVal val="#ppt_x"/>
                                          </p:val>
                                        </p:tav>
                                      </p:tavLst>
                                    </p:anim>
                                    <p:anim calcmode="lin" valueType="num">
                                      <p:cBhvr additive="base">
                                        <p:cTn id="3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21508"/>
                                        </p:tgtEl>
                                        <p:attrNameLst>
                                          <p:attrName>style.visibility</p:attrName>
                                        </p:attrNameLst>
                                      </p:cBhvr>
                                      <p:to>
                                        <p:strVal val="visible"/>
                                      </p:to>
                                    </p:set>
                                    <p:anim calcmode="lin" valueType="num">
                                      <p:cBhvr additive="base">
                                        <p:cTn id="35" dur="500" fill="hold"/>
                                        <p:tgtEl>
                                          <p:spTgt spid="21508"/>
                                        </p:tgtEl>
                                        <p:attrNameLst>
                                          <p:attrName>ppt_x</p:attrName>
                                        </p:attrNameLst>
                                      </p:cBhvr>
                                      <p:tavLst>
                                        <p:tav tm="0">
                                          <p:val>
                                            <p:strVal val="1+#ppt_w/2"/>
                                          </p:val>
                                        </p:tav>
                                        <p:tav tm="100000">
                                          <p:val>
                                            <p:strVal val="#ppt_x"/>
                                          </p:val>
                                        </p:tav>
                                      </p:tavLst>
                                    </p:anim>
                                    <p:anim calcmode="lin" valueType="num">
                                      <p:cBhvr additive="base">
                                        <p:cTn id="36"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1+#ppt_w/2"/>
                                          </p:val>
                                        </p:tav>
                                        <p:tav tm="100000">
                                          <p:val>
                                            <p:strVal val="#ppt_x"/>
                                          </p:val>
                                        </p:tav>
                                      </p:tavLst>
                                    </p:anim>
                                    <p:anim calcmode="lin" valueType="num">
                                      <p:cBhvr additive="base">
                                        <p:cTn id="4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356100" y="193675"/>
            <a:ext cx="3479800" cy="660400"/>
          </a:xfrm>
        </p:spPr>
        <p:txBody>
          <a:bodyPr>
            <a:normAutofit fontScale="90000"/>
          </a:bodyPr>
          <a:lstStyle/>
          <a:p>
            <a:pPr eaLnBrk="1" hangingPunct="1"/>
            <a:r>
              <a:rPr lang="zh-CN" altLang="zh-CN"/>
              <a:t>功能特性</a:t>
            </a:r>
          </a:p>
        </p:txBody>
      </p:sp>
      <p:sp>
        <p:nvSpPr>
          <p:cNvPr id="22531" name="Text Box 3"/>
          <p:cNvSpPr txBox="1">
            <a:spLocks noChangeArrowheads="1"/>
          </p:cNvSpPr>
          <p:nvPr/>
        </p:nvSpPr>
        <p:spPr bwMode="auto">
          <a:xfrm>
            <a:off x="2351089" y="1522413"/>
            <a:ext cx="7488237"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3600" b="1">
                <a:solidFill>
                  <a:srgbClr val="CC0000"/>
                </a:solidFill>
                <a:latin typeface="华文楷体" panose="02010600040101010101" pitchFamily="2" charset="-122"/>
                <a:ea typeface="华文楷体" panose="02010600040101010101" pitchFamily="2" charset="-122"/>
              </a:rPr>
              <a:t>通信接口的功能特性描述：物理层的功能特性规定了物理接口上各条信号线的功能分配和确切定义。物理接口信号线一般分为：数据线、控制线、定时线和地线。如RS232</a:t>
            </a:r>
          </a:p>
        </p:txBody>
      </p:sp>
      <p:sp>
        <p:nvSpPr>
          <p:cNvPr id="22532" name="Rectangle 4"/>
          <p:cNvSpPr>
            <a:spLocks noChangeArrowheads="1"/>
          </p:cNvSpPr>
          <p:nvPr/>
        </p:nvSpPr>
        <p:spPr bwMode="auto">
          <a:xfrm>
            <a:off x="4848225" y="248126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pic>
        <p:nvPicPr>
          <p:cNvPr id="225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1550989"/>
            <a:ext cx="73660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6" descr="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025" y="1530351"/>
            <a:ext cx="772795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1+#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2534"/>
                                        </p:tgtEl>
                                        <p:attrNameLst>
                                          <p:attrName>style.visibility</p:attrName>
                                        </p:attrNameLst>
                                      </p:cBhvr>
                                      <p:to>
                                        <p:strVal val="visible"/>
                                      </p:to>
                                    </p:set>
                                    <p:anim calcmode="lin" valueType="num">
                                      <p:cBhvr additive="base">
                                        <p:cTn id="19" dur="500" fill="hold"/>
                                        <p:tgtEl>
                                          <p:spTgt spid="22534"/>
                                        </p:tgtEl>
                                        <p:attrNameLst>
                                          <p:attrName>ppt_x</p:attrName>
                                        </p:attrNameLst>
                                      </p:cBhvr>
                                      <p:tavLst>
                                        <p:tav tm="0">
                                          <p:val>
                                            <p:strVal val="1+#ppt_w/2"/>
                                          </p:val>
                                        </p:tav>
                                        <p:tav tm="100000">
                                          <p:val>
                                            <p:strVal val="#ppt_x"/>
                                          </p:val>
                                        </p:tav>
                                      </p:tavLst>
                                    </p:anim>
                                    <p:anim calcmode="lin" valueType="num">
                                      <p:cBhvr additive="base">
                                        <p:cTn id="20"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445001" y="160338"/>
            <a:ext cx="4098925" cy="698500"/>
          </a:xfrm>
        </p:spPr>
        <p:txBody>
          <a:bodyPr/>
          <a:lstStyle/>
          <a:p>
            <a:pPr eaLnBrk="1" hangingPunct="1"/>
            <a:r>
              <a:rPr lang="zh-CN" altLang="zh-CN"/>
              <a:t>电气特性</a:t>
            </a:r>
          </a:p>
        </p:txBody>
      </p:sp>
      <p:sp>
        <p:nvSpPr>
          <p:cNvPr id="23555" name="Text Box 3"/>
          <p:cNvSpPr txBox="1">
            <a:spLocks noChangeArrowheads="1"/>
          </p:cNvSpPr>
          <p:nvPr/>
        </p:nvSpPr>
        <p:spPr bwMode="auto">
          <a:xfrm>
            <a:off x="1905000" y="3038475"/>
            <a:ext cx="8351838" cy="13716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zh-CN" sz="2000" b="1">
                <a:solidFill>
                  <a:srgbClr val="CC0000"/>
                </a:solidFill>
                <a:latin typeface="华文楷体" panose="02010600040101010101" pitchFamily="2" charset="-122"/>
                <a:ea typeface="华文楷体" panose="02010600040101010101" pitchFamily="2" charset="-122"/>
              </a:rPr>
              <a:t>通信接口插头、座的电气、光等特性描述：</a:t>
            </a:r>
          </a:p>
          <a:p>
            <a:pPr eaLnBrk="1" hangingPunct="1">
              <a:spcBef>
                <a:spcPct val="20000"/>
              </a:spcBef>
              <a:buFont typeface="Wingdings" panose="05000000000000000000" pitchFamily="2" charset="2"/>
              <a:buNone/>
            </a:pPr>
            <a:r>
              <a:rPr lang="zh-CN" altLang="zh-CN" sz="2000" b="1">
                <a:latin typeface="华文楷体" panose="02010600040101010101" pitchFamily="2" charset="-122"/>
                <a:ea typeface="华文楷体" panose="02010600040101010101" pitchFamily="2" charset="-122"/>
              </a:rPr>
              <a:t>    </a:t>
            </a:r>
            <a:r>
              <a:rPr lang="zh-CN" altLang="zh-CN" sz="2000">
                <a:latin typeface="华文楷体" panose="02010600040101010101" pitchFamily="2" charset="-122"/>
                <a:ea typeface="华文楷体" panose="02010600040101010101" pitchFamily="2" charset="-122"/>
              </a:rPr>
              <a:t>规定信号电平、负载、速率、距离等，即多少伏电压代表</a:t>
            </a:r>
            <a:r>
              <a:rPr lang="zh-CN" altLang="zh-CN" sz="2000">
                <a:latin typeface="Times New Roman" panose="02020603050405020304" pitchFamily="18" charset="0"/>
                <a:ea typeface="华文楷体" panose="02010600040101010101" pitchFamily="2" charset="-122"/>
              </a:rPr>
              <a:t>“</a:t>
            </a:r>
            <a:r>
              <a:rPr lang="zh-CN" altLang="zh-CN" sz="2000">
                <a:latin typeface="华文楷体" panose="02010600040101010101" pitchFamily="2" charset="-122"/>
                <a:ea typeface="华文楷体" panose="02010600040101010101" pitchFamily="2" charset="-122"/>
              </a:rPr>
              <a:t>0</a:t>
            </a:r>
            <a:r>
              <a:rPr lang="zh-CN" altLang="zh-CN" sz="2000">
                <a:latin typeface="Times New Roman" panose="02020603050405020304" pitchFamily="18" charset="0"/>
                <a:ea typeface="华文楷体" panose="02010600040101010101" pitchFamily="2" charset="-122"/>
              </a:rPr>
              <a:t>”</a:t>
            </a:r>
            <a:r>
              <a:rPr lang="zh-CN" altLang="zh-CN" sz="2000">
                <a:latin typeface="华文楷体" panose="02010600040101010101" pitchFamily="2" charset="-122"/>
                <a:ea typeface="华文楷体" panose="02010600040101010101" pitchFamily="2" charset="-122"/>
              </a:rPr>
              <a:t>，多少伏电压代表</a:t>
            </a:r>
            <a:r>
              <a:rPr lang="zh-CN" altLang="zh-CN" sz="2000">
                <a:latin typeface="Times New Roman" panose="02020603050405020304" pitchFamily="18" charset="0"/>
                <a:ea typeface="华文楷体" panose="02010600040101010101" pitchFamily="2" charset="-122"/>
              </a:rPr>
              <a:t>“</a:t>
            </a:r>
            <a:r>
              <a:rPr lang="zh-CN" altLang="zh-CN" sz="2000">
                <a:latin typeface="华文楷体" panose="02010600040101010101" pitchFamily="2" charset="-122"/>
                <a:ea typeface="华文楷体" panose="02010600040101010101" pitchFamily="2" charset="-122"/>
              </a:rPr>
              <a:t>1</a:t>
            </a:r>
            <a:r>
              <a:rPr lang="zh-CN" altLang="zh-CN" sz="2000">
                <a:latin typeface="Times New Roman" panose="02020603050405020304" pitchFamily="18" charset="0"/>
                <a:ea typeface="华文楷体" panose="02010600040101010101" pitchFamily="2" charset="-122"/>
              </a:rPr>
              <a:t>”</a:t>
            </a:r>
            <a:r>
              <a:rPr lang="zh-CN" altLang="zh-CN" sz="2000">
                <a:latin typeface="华文楷体" panose="02010600040101010101" pitchFamily="2" charset="-122"/>
                <a:ea typeface="华文楷体" panose="02010600040101010101" pitchFamily="2" charset="-122"/>
              </a:rPr>
              <a:t>；每段电缆能带多少个计算机；一个比特数据持续多少时间；RS-232标准规定DTE与DCE之间的最大电缆长度为15米。</a:t>
            </a:r>
            <a:r>
              <a:rPr lang="zh-CN" altLang="zh-CN" sz="2000" b="1">
                <a:latin typeface="华文楷体" panose="02010600040101010101" pitchFamily="2" charset="-122"/>
                <a:ea typeface="华文楷体" panose="02010600040101010101" pitchFamily="2" charset="-122"/>
              </a:rPr>
              <a:t> </a:t>
            </a:r>
          </a:p>
        </p:txBody>
      </p:sp>
      <p:sp>
        <p:nvSpPr>
          <p:cNvPr id="23556" name="Text Box 4"/>
          <p:cNvSpPr txBox="1">
            <a:spLocks noChangeArrowheads="1"/>
          </p:cNvSpPr>
          <p:nvPr/>
        </p:nvSpPr>
        <p:spPr bwMode="auto">
          <a:xfrm>
            <a:off x="2571751" y="4405313"/>
            <a:ext cx="7046913" cy="209506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273050" indent="-2730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数字信号 </a:t>
            </a:r>
          </a:p>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控制信号和数据 </a:t>
            </a:r>
          </a:p>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负逻辑  </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1</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 -3v ~-15v; </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0</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 +3v ~+15v; (NRZ-L)</a:t>
            </a:r>
            <a:r>
              <a:rPr lang="zh-CN" altLang="zh-CN" sz="2000" b="1">
                <a:latin typeface="华文楷体" panose="02010600040101010101" pitchFamily="2" charset="-122"/>
                <a:ea typeface="华文楷体" panose="02010600040101010101" pitchFamily="2" charset="-122"/>
              </a:rPr>
              <a:t> </a:t>
            </a:r>
          </a:p>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信号速率 </a:t>
            </a:r>
            <a:r>
              <a:rPr lang="zh-CN" altLang="zh-CN" sz="1800" b="1">
                <a:latin typeface="华文楷体" panose="02010600040101010101" pitchFamily="2" charset="-122"/>
                <a:ea typeface="华文楷体" panose="02010600040101010101" pitchFamily="2" charset="-122"/>
              </a:rPr>
              <a:t>&lt; 56kbps</a:t>
            </a:r>
            <a:r>
              <a:rPr lang="zh-CN" altLang="zh-CN" sz="2000" b="1">
                <a:latin typeface="华文楷体" panose="02010600040101010101" pitchFamily="2" charset="-122"/>
                <a:ea typeface="华文楷体" panose="02010600040101010101" pitchFamily="2" charset="-122"/>
              </a:rPr>
              <a:t> </a:t>
            </a:r>
          </a:p>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连线距离 </a:t>
            </a:r>
            <a:r>
              <a:rPr lang="zh-CN" altLang="zh-CN" sz="1800" b="1">
                <a:latin typeface="华文楷体" panose="02010600040101010101" pitchFamily="2" charset="-122"/>
                <a:ea typeface="华文楷体" panose="02010600040101010101" pitchFamily="2" charset="-122"/>
              </a:rPr>
              <a:t>&lt;15m</a:t>
            </a:r>
            <a:r>
              <a:rPr lang="zh-CN" altLang="zh-CN" sz="2000" b="1">
                <a:latin typeface="华文楷体" panose="02010600040101010101" pitchFamily="2" charset="-122"/>
                <a:ea typeface="华文楷体" panose="02010600040101010101" pitchFamily="2" charset="-122"/>
              </a:rPr>
              <a:t> </a:t>
            </a:r>
          </a:p>
          <a:p>
            <a:pPr eaLnBrk="1" hangingPunct="1">
              <a:spcBef>
                <a:spcPct val="10000"/>
              </a:spcBef>
              <a:buClr>
                <a:srgbClr val="CC0000"/>
              </a:buClr>
              <a:buSzPct val="50000"/>
              <a:buFont typeface="Wingdings" panose="05000000000000000000" pitchFamily="2" charset="2"/>
              <a:buChar char="u"/>
            </a:pPr>
            <a:r>
              <a:rPr lang="zh-CN" altLang="zh-CN" sz="2000" b="1">
                <a:latin typeface="华文楷体" panose="02010600040101010101" pitchFamily="2" charset="-122"/>
                <a:ea typeface="华文楷体" panose="02010600040101010101" pitchFamily="2" charset="-122"/>
              </a:rPr>
              <a:t>控制信号</a:t>
            </a:r>
            <a:r>
              <a:rPr lang="zh-CN" altLang="zh-CN" sz="1800" b="1">
                <a:latin typeface="华文楷体" panose="02010600040101010101" pitchFamily="2" charset="-122"/>
                <a:ea typeface="华文楷体" panose="02010600040101010101" pitchFamily="2" charset="-122"/>
              </a:rPr>
              <a:t>,</a:t>
            </a:r>
            <a:r>
              <a:rPr lang="zh-CN" altLang="zh-CN" sz="2000" b="1">
                <a:latin typeface="华文楷体" panose="02010600040101010101" pitchFamily="2" charset="-122"/>
                <a:ea typeface="华文楷体" panose="02010600040101010101" pitchFamily="2" charset="-122"/>
              </a:rPr>
              <a:t> </a:t>
            </a:r>
            <a:r>
              <a:rPr lang="zh-CN" altLang="zh-CN" sz="1800" b="1">
                <a:latin typeface="华文楷体" panose="02010600040101010101" pitchFamily="2" charset="-122"/>
                <a:ea typeface="华文楷体" panose="02010600040101010101" pitchFamily="2" charset="-122"/>
              </a:rPr>
              <a:t>-3v ~-15v; </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off</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 +3v+15v :</a:t>
            </a:r>
            <a:r>
              <a:rPr lang="zh-CN" altLang="zh-CN" sz="1800" b="1">
                <a:latin typeface="Times New Roman" panose="02020603050405020304" pitchFamily="18" charset="0"/>
                <a:ea typeface="华文楷体" panose="02010600040101010101" pitchFamily="2" charset="-122"/>
              </a:rPr>
              <a:t>“</a:t>
            </a:r>
            <a:r>
              <a:rPr lang="zh-CN" altLang="zh-CN" sz="1800" b="1">
                <a:latin typeface="华文楷体" panose="02010600040101010101" pitchFamily="2" charset="-122"/>
                <a:ea typeface="华文楷体" panose="02010600040101010101" pitchFamily="2" charset="-122"/>
              </a:rPr>
              <a:t>on</a:t>
            </a:r>
            <a:r>
              <a:rPr lang="zh-CN" altLang="zh-CN" sz="1800" b="1">
                <a:latin typeface="Times New Roman" panose="02020603050405020304" pitchFamily="18" charset="0"/>
                <a:ea typeface="华文楷体" panose="02010600040101010101" pitchFamily="2" charset="-122"/>
              </a:rPr>
              <a:t>”</a:t>
            </a:r>
            <a:endParaRPr lang="zh-CN" altLang="zh-CN" sz="1800" b="1">
              <a:latin typeface="华文楷体" panose="02010600040101010101" pitchFamily="2" charset="-122"/>
              <a:ea typeface="华文楷体" panose="02010600040101010101" pitchFamily="2" charset="-122"/>
            </a:endParaRPr>
          </a:p>
        </p:txBody>
      </p:sp>
      <p:pic>
        <p:nvPicPr>
          <p:cNvPr id="23557" name="Picture 5"/>
          <p:cNvPicPr>
            <a:picLocks noChangeAspect="1" noChangeArrowheads="1"/>
          </p:cNvPicPr>
          <p:nvPr/>
        </p:nvPicPr>
        <p:blipFill>
          <a:blip r:embed="rId2">
            <a:extLst>
              <a:ext uri="{28A0092B-C50C-407E-A947-70E740481C1C}">
                <a14:useLocalDpi xmlns:a14="http://schemas.microsoft.com/office/drawing/2010/main" val="0"/>
              </a:ext>
            </a:extLst>
          </a:blip>
          <a:srcRect l="21465" t="15340" r="21393" b="58961"/>
          <a:stretch>
            <a:fillRect/>
          </a:stretch>
        </p:blipFill>
        <p:spPr bwMode="auto">
          <a:xfrm>
            <a:off x="3098800" y="1284289"/>
            <a:ext cx="59944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3556">
                                            <p:txEl>
                                              <p:pRg st="0" end="0"/>
                                            </p:txEl>
                                          </p:spTgt>
                                        </p:tgtEl>
                                        <p:attrNameLst>
                                          <p:attrName>style.visibility</p:attrName>
                                        </p:attrNameLst>
                                      </p:cBhvr>
                                      <p:to>
                                        <p:strVal val="visible"/>
                                      </p:to>
                                    </p:set>
                                    <p:anim calcmode="lin" valueType="num">
                                      <p:cBhvr additive="base">
                                        <p:cTn id="19" dur="500" fill="hold"/>
                                        <p:tgtEl>
                                          <p:spTgt spid="2355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5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3556">
                                            <p:txEl>
                                              <p:pRg st="1" end="1"/>
                                            </p:txEl>
                                          </p:spTgt>
                                        </p:tgtEl>
                                        <p:attrNameLst>
                                          <p:attrName>style.visibility</p:attrName>
                                        </p:attrNameLst>
                                      </p:cBhvr>
                                      <p:to>
                                        <p:strVal val="visible"/>
                                      </p:to>
                                    </p:set>
                                    <p:anim calcmode="lin" valueType="num">
                                      <p:cBhvr additive="base">
                                        <p:cTn id="25" dur="500" fill="hold"/>
                                        <p:tgtEl>
                                          <p:spTgt spid="23556">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355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3556">
                                            <p:txEl>
                                              <p:pRg st="2" end="2"/>
                                            </p:txEl>
                                          </p:spTgt>
                                        </p:tgtEl>
                                        <p:attrNameLst>
                                          <p:attrName>style.visibility</p:attrName>
                                        </p:attrNameLst>
                                      </p:cBhvr>
                                      <p:to>
                                        <p:strVal val="visible"/>
                                      </p:to>
                                    </p:set>
                                    <p:anim calcmode="lin" valueType="num">
                                      <p:cBhvr additive="base">
                                        <p:cTn id="31" dur="500" fill="hold"/>
                                        <p:tgtEl>
                                          <p:spTgt spid="23556">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355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3556">
                                            <p:txEl>
                                              <p:pRg st="3" end="3"/>
                                            </p:txEl>
                                          </p:spTgt>
                                        </p:tgtEl>
                                        <p:attrNameLst>
                                          <p:attrName>style.visibility</p:attrName>
                                        </p:attrNameLst>
                                      </p:cBhvr>
                                      <p:to>
                                        <p:strVal val="visible"/>
                                      </p:to>
                                    </p:set>
                                    <p:anim calcmode="lin" valueType="num">
                                      <p:cBhvr additive="base">
                                        <p:cTn id="37" dur="500" fill="hold"/>
                                        <p:tgtEl>
                                          <p:spTgt spid="23556">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355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3556">
                                            <p:txEl>
                                              <p:pRg st="4" end="4"/>
                                            </p:txEl>
                                          </p:spTgt>
                                        </p:tgtEl>
                                        <p:attrNameLst>
                                          <p:attrName>style.visibility</p:attrName>
                                        </p:attrNameLst>
                                      </p:cBhvr>
                                      <p:to>
                                        <p:strVal val="visible"/>
                                      </p:to>
                                    </p:set>
                                    <p:anim calcmode="lin" valueType="num">
                                      <p:cBhvr additive="base">
                                        <p:cTn id="43" dur="500" fill="hold"/>
                                        <p:tgtEl>
                                          <p:spTgt spid="23556">
                                            <p:txEl>
                                              <p:pRg st="4" end="4"/>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355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23556">
                                            <p:txEl>
                                              <p:pRg st="5" end="5"/>
                                            </p:txEl>
                                          </p:spTgt>
                                        </p:tgtEl>
                                        <p:attrNameLst>
                                          <p:attrName>style.visibility</p:attrName>
                                        </p:attrNameLst>
                                      </p:cBhvr>
                                      <p:to>
                                        <p:strVal val="visible"/>
                                      </p:to>
                                    </p:set>
                                    <p:anim calcmode="lin" valueType="num">
                                      <p:cBhvr additive="base">
                                        <p:cTn id="49" dur="500" fill="hold"/>
                                        <p:tgtEl>
                                          <p:spTgt spid="23556">
                                            <p:txEl>
                                              <p:pRg st="5" end="5"/>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355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23557"/>
                                        </p:tgtEl>
                                        <p:attrNameLst>
                                          <p:attrName>style.visibility</p:attrName>
                                        </p:attrNameLst>
                                      </p:cBhvr>
                                      <p:to>
                                        <p:strVal val="visible"/>
                                      </p:to>
                                    </p:set>
                                    <p:anim calcmode="lin" valueType="num">
                                      <p:cBhvr additive="base">
                                        <p:cTn id="55" dur="500" fill="hold"/>
                                        <p:tgtEl>
                                          <p:spTgt spid="23557"/>
                                        </p:tgtEl>
                                        <p:attrNameLst>
                                          <p:attrName>ppt_x</p:attrName>
                                        </p:attrNameLst>
                                      </p:cBhvr>
                                      <p:tavLst>
                                        <p:tav tm="0">
                                          <p:val>
                                            <p:strVal val="1+#ppt_w/2"/>
                                          </p:val>
                                        </p:tav>
                                        <p:tav tm="100000">
                                          <p:val>
                                            <p:strVal val="#ppt_x"/>
                                          </p:val>
                                        </p:tav>
                                      </p:tavLst>
                                    </p:anim>
                                    <p:anim calcmode="lin" valueType="num">
                                      <p:cBhvr additive="base">
                                        <p:cTn id="56"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355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108732" y="258764"/>
            <a:ext cx="3200400" cy="600075"/>
          </a:xfrm>
        </p:spPr>
        <p:txBody>
          <a:bodyPr>
            <a:normAutofit fontScale="90000"/>
          </a:bodyPr>
          <a:lstStyle/>
          <a:p>
            <a:pPr algn="ctr" eaLnBrk="1" hangingPunct="1"/>
            <a:r>
              <a:rPr lang="zh-CN" altLang="en-US" b="1"/>
              <a:t>规程</a:t>
            </a:r>
            <a:r>
              <a:rPr lang="zh-CN" altLang="zh-CN" b="1"/>
              <a:t>特性</a:t>
            </a:r>
          </a:p>
        </p:txBody>
      </p:sp>
      <p:sp>
        <p:nvSpPr>
          <p:cNvPr id="24579" name="Text Box 3"/>
          <p:cNvSpPr txBox="1">
            <a:spLocks noChangeArrowheads="1"/>
          </p:cNvSpPr>
          <p:nvPr/>
        </p:nvSpPr>
        <p:spPr bwMode="auto">
          <a:xfrm>
            <a:off x="2203450" y="1387475"/>
            <a:ext cx="7785100" cy="13716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通信接口的规程性描述：规程特性定义了信号线进行二进制比特流传输线的一组</a:t>
            </a:r>
            <a:r>
              <a:rPr lang="zh-CN" altLang="zh-CN" b="1">
                <a:solidFill>
                  <a:srgbClr val="3333FF"/>
                </a:solidFill>
                <a:latin typeface="华文楷体" panose="02010600040101010101" pitchFamily="2" charset="-122"/>
                <a:ea typeface="华文楷体" panose="02010600040101010101" pitchFamily="2" charset="-122"/>
              </a:rPr>
              <a:t>操作过程</a:t>
            </a:r>
            <a:r>
              <a:rPr lang="zh-CN" altLang="zh-CN" b="1">
                <a:latin typeface="华文楷体" panose="02010600040101010101" pitchFamily="2" charset="-122"/>
                <a:ea typeface="华文楷体" panose="02010600040101010101" pitchFamily="2" charset="-122"/>
              </a:rPr>
              <a:t>，包括各信号线的</a:t>
            </a:r>
            <a:r>
              <a:rPr lang="zh-CN" altLang="zh-CN" b="1">
                <a:solidFill>
                  <a:srgbClr val="3333FF"/>
                </a:solidFill>
                <a:latin typeface="华文楷体" panose="02010600040101010101" pitchFamily="2" charset="-122"/>
                <a:ea typeface="华文楷体" panose="02010600040101010101" pitchFamily="2" charset="-122"/>
              </a:rPr>
              <a:t>工作规则</a:t>
            </a:r>
            <a:r>
              <a:rPr lang="zh-CN" altLang="zh-CN" b="1">
                <a:latin typeface="华文楷体" panose="02010600040101010101" pitchFamily="2" charset="-122"/>
                <a:ea typeface="华文楷体" panose="02010600040101010101" pitchFamily="2" charset="-122"/>
              </a:rPr>
              <a:t>和</a:t>
            </a:r>
            <a:r>
              <a:rPr lang="zh-CN" altLang="zh-CN" b="1">
                <a:solidFill>
                  <a:srgbClr val="3333FF"/>
                </a:solidFill>
                <a:latin typeface="华文楷体" panose="02010600040101010101" pitchFamily="2" charset="-122"/>
                <a:ea typeface="华文楷体" panose="02010600040101010101" pitchFamily="2" charset="-122"/>
              </a:rPr>
              <a:t>时序</a:t>
            </a:r>
            <a:r>
              <a:rPr lang="zh-CN" altLang="zh-CN" b="1">
                <a:latin typeface="华文楷体" panose="02010600040101010101" pitchFamily="2" charset="-122"/>
                <a:ea typeface="华文楷体" panose="02010600040101010101" pitchFamily="2" charset="-122"/>
              </a:rPr>
              <a:t>。如RS232 </a:t>
            </a:r>
          </a:p>
        </p:txBody>
      </p:sp>
      <p:grpSp>
        <p:nvGrpSpPr>
          <p:cNvPr id="24580" name="Group 4"/>
          <p:cNvGrpSpPr>
            <a:grpSpLocks/>
          </p:cNvGrpSpPr>
          <p:nvPr/>
        </p:nvGrpSpPr>
        <p:grpSpPr bwMode="auto">
          <a:xfrm>
            <a:off x="2246313" y="3008314"/>
            <a:ext cx="7923212" cy="1989137"/>
            <a:chOff x="0" y="0"/>
            <a:chExt cx="4991" cy="1253"/>
          </a:xfrm>
        </p:grpSpPr>
        <p:grpSp>
          <p:nvGrpSpPr>
            <p:cNvPr id="24581" name="Group 5"/>
            <p:cNvGrpSpPr>
              <a:grpSpLocks/>
            </p:cNvGrpSpPr>
            <p:nvPr/>
          </p:nvGrpSpPr>
          <p:grpSpPr bwMode="auto">
            <a:xfrm>
              <a:off x="0" y="0"/>
              <a:ext cx="3581" cy="326"/>
              <a:chOff x="0" y="0"/>
              <a:chExt cx="3379" cy="326"/>
            </a:xfrm>
          </p:grpSpPr>
          <p:sp>
            <p:nvSpPr>
              <p:cNvPr id="24603" name="Text Box 6"/>
              <p:cNvSpPr txBox="1">
                <a:spLocks noChangeArrowheads="1"/>
              </p:cNvSpPr>
              <p:nvPr/>
            </p:nvSpPr>
            <p:spPr bwMode="auto">
              <a:xfrm>
                <a:off x="0" y="0"/>
                <a:ext cx="10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DTR</a:t>
                </a:r>
              </a:p>
            </p:txBody>
          </p:sp>
          <p:grpSp>
            <p:nvGrpSpPr>
              <p:cNvPr id="24604" name="Group 7"/>
              <p:cNvGrpSpPr>
                <a:grpSpLocks/>
              </p:cNvGrpSpPr>
              <p:nvPr/>
            </p:nvGrpSpPr>
            <p:grpSpPr bwMode="auto">
              <a:xfrm>
                <a:off x="819" y="65"/>
                <a:ext cx="2560" cy="153"/>
                <a:chOff x="0" y="0"/>
                <a:chExt cx="2560" cy="153"/>
              </a:xfrm>
            </p:grpSpPr>
            <p:sp>
              <p:nvSpPr>
                <p:cNvPr id="24607" name="Line 8"/>
                <p:cNvSpPr>
                  <a:spLocks noChangeShapeType="1"/>
                </p:cNvSpPr>
                <p:nvPr/>
              </p:nvSpPr>
              <p:spPr bwMode="auto">
                <a:xfrm>
                  <a:off x="0" y="0"/>
                  <a:ext cx="57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8" name="Line 9"/>
                <p:cNvSpPr>
                  <a:spLocks noChangeShapeType="1"/>
                </p:cNvSpPr>
                <p:nvPr/>
              </p:nvSpPr>
              <p:spPr bwMode="auto">
                <a:xfrm flipH="1">
                  <a:off x="564" y="0"/>
                  <a:ext cx="12" cy="15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9" name="Line 10"/>
                <p:cNvSpPr>
                  <a:spLocks noChangeShapeType="1"/>
                </p:cNvSpPr>
                <p:nvPr/>
              </p:nvSpPr>
              <p:spPr bwMode="auto">
                <a:xfrm>
                  <a:off x="576" y="153"/>
                  <a:ext cx="1984"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05" name="Line 11"/>
              <p:cNvSpPr>
                <a:spLocks noChangeShapeType="1"/>
              </p:cNvSpPr>
              <p:nvPr/>
            </p:nvSpPr>
            <p:spPr bwMode="auto">
              <a:xfrm>
                <a:off x="346" y="38"/>
                <a:ext cx="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Line 12"/>
              <p:cNvSpPr>
                <a:spLocks noChangeShapeType="1"/>
              </p:cNvSpPr>
              <p:nvPr/>
            </p:nvSpPr>
            <p:spPr bwMode="auto">
              <a:xfrm>
                <a:off x="442" y="326"/>
                <a:ext cx="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2" name="Group 13"/>
            <p:cNvGrpSpPr>
              <a:grpSpLocks/>
            </p:cNvGrpSpPr>
            <p:nvPr/>
          </p:nvGrpSpPr>
          <p:grpSpPr bwMode="auto">
            <a:xfrm>
              <a:off x="96" y="288"/>
              <a:ext cx="3484" cy="357"/>
              <a:chOff x="0" y="0"/>
              <a:chExt cx="3379" cy="357"/>
            </a:xfrm>
          </p:grpSpPr>
          <p:sp>
            <p:nvSpPr>
              <p:cNvPr id="24597" name="Text Box 14"/>
              <p:cNvSpPr txBox="1">
                <a:spLocks noChangeArrowheads="1"/>
              </p:cNvSpPr>
              <p:nvPr/>
            </p:nvSpPr>
            <p:spPr bwMode="auto">
              <a:xfrm>
                <a:off x="0" y="0"/>
                <a:ext cx="10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DCR</a:t>
                </a:r>
              </a:p>
            </p:txBody>
          </p:sp>
          <p:grpSp>
            <p:nvGrpSpPr>
              <p:cNvPr id="24598" name="Group 15"/>
              <p:cNvGrpSpPr>
                <a:grpSpLocks/>
              </p:cNvGrpSpPr>
              <p:nvPr/>
            </p:nvGrpSpPr>
            <p:grpSpPr bwMode="auto">
              <a:xfrm>
                <a:off x="819" y="65"/>
                <a:ext cx="2560" cy="153"/>
                <a:chOff x="0" y="0"/>
                <a:chExt cx="2560" cy="153"/>
              </a:xfrm>
            </p:grpSpPr>
            <p:sp>
              <p:nvSpPr>
                <p:cNvPr id="24600" name="Line 16"/>
                <p:cNvSpPr>
                  <a:spLocks noChangeShapeType="1"/>
                </p:cNvSpPr>
                <p:nvPr/>
              </p:nvSpPr>
              <p:spPr bwMode="auto">
                <a:xfrm>
                  <a:off x="0" y="0"/>
                  <a:ext cx="57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Line 17"/>
                <p:cNvSpPr>
                  <a:spLocks noChangeShapeType="1"/>
                </p:cNvSpPr>
                <p:nvPr/>
              </p:nvSpPr>
              <p:spPr bwMode="auto">
                <a:xfrm flipH="1">
                  <a:off x="564" y="0"/>
                  <a:ext cx="12" cy="15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Line 18"/>
                <p:cNvSpPr>
                  <a:spLocks noChangeShapeType="1"/>
                </p:cNvSpPr>
                <p:nvPr/>
              </p:nvSpPr>
              <p:spPr bwMode="auto">
                <a:xfrm>
                  <a:off x="576" y="153"/>
                  <a:ext cx="1984"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99" name="Line 19"/>
              <p:cNvSpPr>
                <a:spLocks noChangeShapeType="1"/>
              </p:cNvSpPr>
              <p:nvPr/>
            </p:nvSpPr>
            <p:spPr bwMode="auto">
              <a:xfrm>
                <a:off x="423" y="357"/>
                <a:ext cx="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3" name="Group 20"/>
            <p:cNvGrpSpPr>
              <a:grpSpLocks/>
            </p:cNvGrpSpPr>
            <p:nvPr/>
          </p:nvGrpSpPr>
          <p:grpSpPr bwMode="auto">
            <a:xfrm>
              <a:off x="262" y="915"/>
              <a:ext cx="3312" cy="288"/>
              <a:chOff x="0" y="0"/>
              <a:chExt cx="3379" cy="288"/>
            </a:xfrm>
          </p:grpSpPr>
          <p:sp>
            <p:nvSpPr>
              <p:cNvPr id="24592" name="Text Box 21"/>
              <p:cNvSpPr txBox="1">
                <a:spLocks noChangeArrowheads="1"/>
              </p:cNvSpPr>
              <p:nvPr/>
            </p:nvSpPr>
            <p:spPr bwMode="auto">
              <a:xfrm>
                <a:off x="0" y="0"/>
                <a:ext cx="10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CTS</a:t>
                </a:r>
              </a:p>
            </p:txBody>
          </p:sp>
          <p:grpSp>
            <p:nvGrpSpPr>
              <p:cNvPr id="24593" name="Group 22"/>
              <p:cNvGrpSpPr>
                <a:grpSpLocks/>
              </p:cNvGrpSpPr>
              <p:nvPr/>
            </p:nvGrpSpPr>
            <p:grpSpPr bwMode="auto">
              <a:xfrm>
                <a:off x="819" y="65"/>
                <a:ext cx="2560" cy="153"/>
                <a:chOff x="0" y="0"/>
                <a:chExt cx="2560" cy="153"/>
              </a:xfrm>
            </p:grpSpPr>
            <p:sp>
              <p:nvSpPr>
                <p:cNvPr id="24594" name="Line 23"/>
                <p:cNvSpPr>
                  <a:spLocks noChangeShapeType="1"/>
                </p:cNvSpPr>
                <p:nvPr/>
              </p:nvSpPr>
              <p:spPr bwMode="auto">
                <a:xfrm>
                  <a:off x="0" y="0"/>
                  <a:ext cx="57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5" name="Line 24"/>
                <p:cNvSpPr>
                  <a:spLocks noChangeShapeType="1"/>
                </p:cNvSpPr>
                <p:nvPr/>
              </p:nvSpPr>
              <p:spPr bwMode="auto">
                <a:xfrm flipH="1">
                  <a:off x="564" y="0"/>
                  <a:ext cx="12" cy="15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 name="Line 25"/>
                <p:cNvSpPr>
                  <a:spLocks noChangeShapeType="1"/>
                </p:cNvSpPr>
                <p:nvPr/>
              </p:nvSpPr>
              <p:spPr bwMode="auto">
                <a:xfrm>
                  <a:off x="576" y="153"/>
                  <a:ext cx="1984"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4584" name="Group 26"/>
            <p:cNvGrpSpPr>
              <a:grpSpLocks/>
            </p:cNvGrpSpPr>
            <p:nvPr/>
          </p:nvGrpSpPr>
          <p:grpSpPr bwMode="auto">
            <a:xfrm>
              <a:off x="173" y="607"/>
              <a:ext cx="3379" cy="346"/>
              <a:chOff x="0" y="0"/>
              <a:chExt cx="3379" cy="346"/>
            </a:xfrm>
          </p:grpSpPr>
          <p:sp>
            <p:nvSpPr>
              <p:cNvPr id="24586" name="Text Box 27"/>
              <p:cNvSpPr txBox="1">
                <a:spLocks noChangeArrowheads="1"/>
              </p:cNvSpPr>
              <p:nvPr/>
            </p:nvSpPr>
            <p:spPr bwMode="auto">
              <a:xfrm>
                <a:off x="0" y="0"/>
                <a:ext cx="10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RTS</a:t>
                </a:r>
              </a:p>
            </p:txBody>
          </p:sp>
          <p:grpSp>
            <p:nvGrpSpPr>
              <p:cNvPr id="24587" name="Group 28"/>
              <p:cNvGrpSpPr>
                <a:grpSpLocks/>
              </p:cNvGrpSpPr>
              <p:nvPr/>
            </p:nvGrpSpPr>
            <p:grpSpPr bwMode="auto">
              <a:xfrm>
                <a:off x="819" y="65"/>
                <a:ext cx="2560" cy="153"/>
                <a:chOff x="0" y="0"/>
                <a:chExt cx="2560" cy="153"/>
              </a:xfrm>
            </p:grpSpPr>
            <p:sp>
              <p:nvSpPr>
                <p:cNvPr id="24589" name="Line 29"/>
                <p:cNvSpPr>
                  <a:spLocks noChangeShapeType="1"/>
                </p:cNvSpPr>
                <p:nvPr/>
              </p:nvSpPr>
              <p:spPr bwMode="auto">
                <a:xfrm>
                  <a:off x="0" y="0"/>
                  <a:ext cx="57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Line 30"/>
                <p:cNvSpPr>
                  <a:spLocks noChangeShapeType="1"/>
                </p:cNvSpPr>
                <p:nvPr/>
              </p:nvSpPr>
              <p:spPr bwMode="auto">
                <a:xfrm flipH="1">
                  <a:off x="564" y="0"/>
                  <a:ext cx="12" cy="15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Line 31"/>
                <p:cNvSpPr>
                  <a:spLocks noChangeShapeType="1"/>
                </p:cNvSpPr>
                <p:nvPr/>
              </p:nvSpPr>
              <p:spPr bwMode="auto">
                <a:xfrm>
                  <a:off x="576" y="153"/>
                  <a:ext cx="1984"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8" name="Line 32"/>
              <p:cNvSpPr>
                <a:spLocks noChangeShapeType="1"/>
              </p:cNvSpPr>
              <p:nvPr/>
            </p:nvSpPr>
            <p:spPr bwMode="auto">
              <a:xfrm>
                <a:off x="435" y="346"/>
                <a:ext cx="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5" name="Text Box 33"/>
            <p:cNvSpPr txBox="1">
              <a:spLocks noChangeArrowheads="1"/>
            </p:cNvSpPr>
            <p:nvPr/>
          </p:nvSpPr>
          <p:spPr bwMode="auto">
            <a:xfrm>
              <a:off x="3677" y="84"/>
              <a:ext cx="1314" cy="1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spcBef>
                  <a:spcPct val="50000"/>
                </a:spcBef>
                <a:buFont typeface="Wingdings" panose="05000000000000000000" pitchFamily="2" charset="2"/>
                <a:buNone/>
              </a:pPr>
              <a:r>
                <a:rPr lang="zh-CN" altLang="zh-CN" sz="2100" b="1">
                  <a:latin typeface="华文楷体" panose="02010600040101010101" pitchFamily="2" charset="-122"/>
                  <a:ea typeface="华文楷体" panose="02010600040101010101" pitchFamily="2" charset="-122"/>
                </a:rPr>
                <a:t>数据终端准备好</a:t>
              </a:r>
            </a:p>
            <a:p>
              <a:pPr>
                <a:spcBef>
                  <a:spcPct val="50000"/>
                </a:spcBef>
                <a:buFont typeface="Wingdings" panose="05000000000000000000" pitchFamily="2" charset="2"/>
                <a:buNone/>
              </a:pPr>
              <a:r>
                <a:rPr lang="zh-CN" altLang="zh-CN" sz="2100" b="1">
                  <a:latin typeface="华文楷体" panose="02010600040101010101" pitchFamily="2" charset="-122"/>
                  <a:ea typeface="华文楷体" panose="02010600040101010101" pitchFamily="2" charset="-122"/>
                </a:rPr>
                <a:t>数据通道就绪</a:t>
              </a:r>
            </a:p>
            <a:p>
              <a:pPr>
                <a:spcBef>
                  <a:spcPct val="50000"/>
                </a:spcBef>
                <a:buFont typeface="Wingdings" panose="05000000000000000000" pitchFamily="2" charset="2"/>
                <a:buNone/>
              </a:pPr>
              <a:r>
                <a:rPr lang="zh-CN" altLang="zh-CN" sz="2100" b="1">
                  <a:latin typeface="华文楷体" panose="02010600040101010101" pitchFamily="2" charset="-122"/>
                  <a:ea typeface="华文楷体" panose="02010600040101010101" pitchFamily="2" charset="-122"/>
                </a:rPr>
                <a:t>发送请求</a:t>
              </a:r>
            </a:p>
            <a:p>
              <a:pPr>
                <a:spcBef>
                  <a:spcPct val="50000"/>
                </a:spcBef>
                <a:buFont typeface="Wingdings" panose="05000000000000000000" pitchFamily="2" charset="2"/>
                <a:buNone/>
              </a:pPr>
              <a:r>
                <a:rPr lang="zh-CN" altLang="zh-CN" sz="2100" b="1">
                  <a:latin typeface="华文楷体" panose="02010600040101010101" pitchFamily="2" charset="-122"/>
                  <a:ea typeface="华文楷体" panose="02010600040101010101" pitchFamily="2" charset="-122"/>
                </a:rPr>
                <a:t>清发送</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579">
                                            <p:bg/>
                                          </p:spTgt>
                                        </p:tgtEl>
                                        <p:attrNameLst>
                                          <p:attrName>style.visibility</p:attrName>
                                        </p:attrNameLst>
                                      </p:cBhvr>
                                      <p:to>
                                        <p:strVal val="visible"/>
                                      </p:to>
                                    </p:set>
                                    <p:anim calcmode="lin" valueType="num">
                                      <p:cBhvr additive="base">
                                        <p:cTn id="7" dur="500" fill="hold"/>
                                        <p:tgtEl>
                                          <p:spTgt spid="24579">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24579">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579">
                                            <p:txEl>
                                              <p:pRg st="0" end="0"/>
                                            </p:txEl>
                                          </p:spTgt>
                                        </p:tgtEl>
                                        <p:attrNameLst>
                                          <p:attrName>style.visibility</p:attrName>
                                        </p:attrNameLst>
                                      </p:cBhvr>
                                      <p:to>
                                        <p:strVal val="visible"/>
                                      </p:to>
                                    </p:set>
                                    <p:anim calcmode="lin" valueType="num">
                                      <p:cBhvr additive="base">
                                        <p:cTn id="13" dur="500" fill="hold"/>
                                        <p:tgtEl>
                                          <p:spTgt spid="2457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457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397250" y="249239"/>
            <a:ext cx="5149850" cy="649287"/>
          </a:xfrm>
        </p:spPr>
        <p:txBody>
          <a:bodyPr/>
          <a:lstStyle/>
          <a:p>
            <a:pPr algn="ctr" eaLnBrk="1" hangingPunct="1"/>
            <a:r>
              <a:rPr lang="zh-CN" altLang="zh-CN" sz="4000" b="1"/>
              <a:t>物理层的功能</a:t>
            </a:r>
          </a:p>
        </p:txBody>
      </p:sp>
      <p:sp>
        <p:nvSpPr>
          <p:cNvPr id="25603" name="Text Box 3"/>
          <p:cNvSpPr txBox="1">
            <a:spLocks noChangeArrowheads="1"/>
          </p:cNvSpPr>
          <p:nvPr/>
        </p:nvSpPr>
        <p:spPr bwMode="auto">
          <a:xfrm>
            <a:off x="2097089" y="1466088"/>
            <a:ext cx="8372791" cy="3046988"/>
          </a:xfrm>
          <a:prstGeom prst="rect">
            <a:avLst/>
          </a:prstGeom>
          <a:solidFill>
            <a:srgbClr val="DDDDDD"/>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在无差错信道的理想情况下，只要互连的两台机器都遵守上述物理层四大特性，就能</a:t>
            </a:r>
            <a:r>
              <a:rPr lang="zh-CN" altLang="zh-CN" sz="3200" b="1">
                <a:solidFill>
                  <a:schemeClr val="hlink"/>
                </a:solidFill>
                <a:latin typeface="华文楷体" panose="02010600040101010101" pitchFamily="2" charset="-122"/>
                <a:ea typeface="华文楷体" panose="02010600040101010101" pitchFamily="2" charset="-122"/>
              </a:rPr>
              <a:t>确保比特信号在两台计算机之间的可靠传输</a:t>
            </a:r>
            <a:r>
              <a:rPr lang="zh-CN" altLang="zh-CN" sz="3200" b="1">
                <a:latin typeface="华文楷体" panose="02010600040101010101" pitchFamily="2" charset="-122"/>
                <a:ea typeface="华文楷体" panose="02010600040101010101" pitchFamily="2" charset="-122"/>
              </a:rPr>
              <a:t>。</a:t>
            </a:r>
          </a:p>
          <a:p>
            <a:pPr eaLnBrk="1" hangingPunct="1">
              <a:spcBef>
                <a:spcPct val="5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    发</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0</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  → 收</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0</a:t>
            </a:r>
            <a:r>
              <a:rPr lang="zh-CN" altLang="zh-CN" sz="3200" b="1">
                <a:latin typeface="Times New Roman" panose="02020603050405020304" pitchFamily="18" charset="0"/>
                <a:ea typeface="华文楷体" panose="02010600040101010101" pitchFamily="2" charset="-122"/>
              </a:rPr>
              <a:t>”</a:t>
            </a:r>
            <a:endParaRPr lang="zh-CN" altLang="zh-CN" sz="3200" b="1">
              <a:latin typeface="华文楷体" panose="02010600040101010101" pitchFamily="2" charset="-122"/>
              <a:ea typeface="华文楷体" panose="02010600040101010101" pitchFamily="2" charset="-122"/>
            </a:endParaRPr>
          </a:p>
          <a:p>
            <a:pPr eaLnBrk="1" hangingPunct="1">
              <a:spcBef>
                <a:spcPct val="5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    发</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1</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  → 收</a:t>
            </a:r>
            <a:r>
              <a:rPr lang="zh-CN" altLang="zh-CN" sz="3200" b="1">
                <a:latin typeface="Times New Roman" panose="02020603050405020304" pitchFamily="18" charset="0"/>
                <a:ea typeface="华文楷体" panose="02010600040101010101" pitchFamily="2" charset="-122"/>
              </a:rPr>
              <a:t>“</a:t>
            </a:r>
            <a:r>
              <a:rPr lang="zh-CN" altLang="zh-CN" sz="3200" b="1">
                <a:latin typeface="华文楷体" panose="02010600040101010101" pitchFamily="2" charset="-122"/>
                <a:ea typeface="华文楷体" panose="02010600040101010101" pitchFamily="2" charset="-122"/>
              </a:rPr>
              <a:t>1</a:t>
            </a:r>
            <a:r>
              <a:rPr lang="zh-CN" altLang="zh-CN" sz="3200" b="1">
                <a:latin typeface="Times New Roman" panose="02020603050405020304" pitchFamily="18" charset="0"/>
                <a:ea typeface="华文楷体" panose="02010600040101010101" pitchFamily="2" charset="-122"/>
              </a:rPr>
              <a:t>”</a:t>
            </a:r>
            <a:endParaRPr lang="zh-CN" altLang="zh-CN" sz="3200" b="1">
              <a:latin typeface="华文楷体" panose="02010600040101010101" pitchFamily="2" charset="-122"/>
              <a:ea typeface="华文楷体" panose="02010600040101010101" pitchFamily="2" charset="-122"/>
            </a:endParaRP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375151" y="250826"/>
            <a:ext cx="4117975" cy="652463"/>
          </a:xfrm>
        </p:spPr>
        <p:txBody>
          <a:bodyPr>
            <a:normAutofit fontScale="90000"/>
          </a:bodyPr>
          <a:lstStyle/>
          <a:p>
            <a:pPr eaLnBrk="1" hangingPunct="1"/>
            <a:r>
              <a:rPr lang="zh-CN" altLang="en-US" b="1"/>
              <a:t>物理层原理小结</a:t>
            </a:r>
          </a:p>
        </p:txBody>
      </p:sp>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276" y="1558926"/>
            <a:ext cx="7827963"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4"/>
          <p:cNvSpPr txBox="1">
            <a:spLocks noChangeArrowheads="1"/>
          </p:cNvSpPr>
          <p:nvPr/>
        </p:nvSpPr>
        <p:spPr bwMode="auto">
          <a:xfrm>
            <a:off x="2762251" y="4591050"/>
            <a:ext cx="7312025" cy="168046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2400">
                <a:latin typeface="华文楷体" panose="02010600040101010101" pitchFamily="2" charset="-122"/>
                <a:ea typeface="华文楷体" panose="02010600040101010101" pitchFamily="2" charset="-122"/>
              </a:rPr>
              <a:t>物理层的</a:t>
            </a:r>
            <a:r>
              <a:rPr lang="zh-CN" altLang="zh-CN" sz="2400">
                <a:solidFill>
                  <a:schemeClr val="hlink"/>
                </a:solidFill>
                <a:latin typeface="华文楷体" panose="02010600040101010101" pitchFamily="2" charset="-122"/>
                <a:ea typeface="华文楷体" panose="02010600040101010101" pitchFamily="2" charset="-122"/>
              </a:rPr>
              <a:t>主要功能</a:t>
            </a:r>
            <a:r>
              <a:rPr lang="zh-CN" altLang="zh-CN" sz="2400">
                <a:latin typeface="华文楷体" panose="02010600040101010101" pitchFamily="2" charset="-122"/>
                <a:ea typeface="华文楷体" panose="02010600040101010101" pitchFamily="2" charset="-122"/>
              </a:rPr>
              <a:t>：通过遵守物理层的四大特性，</a:t>
            </a:r>
            <a:r>
              <a:rPr lang="zh-CN" altLang="zh-CN" sz="2400">
                <a:solidFill>
                  <a:schemeClr val="accent2"/>
                </a:solidFill>
                <a:latin typeface="华文楷体" panose="02010600040101010101" pitchFamily="2" charset="-122"/>
                <a:ea typeface="华文楷体" panose="02010600040101010101" pitchFamily="2" charset="-122"/>
              </a:rPr>
              <a:t>确保比特信号在信道上的可靠传输</a:t>
            </a:r>
            <a:r>
              <a:rPr lang="zh-CN" altLang="zh-CN" sz="2400">
                <a:latin typeface="华文楷体" panose="02010600040101010101" pitchFamily="2" charset="-122"/>
                <a:ea typeface="华文楷体" panose="02010600040101010101" pitchFamily="2" charset="-122"/>
              </a:rPr>
              <a:t>。</a:t>
            </a:r>
          </a:p>
          <a:p>
            <a:pPr>
              <a:lnSpc>
                <a:spcPct val="95000"/>
              </a:lnSpc>
              <a:spcBef>
                <a:spcPct val="20000"/>
              </a:spcBef>
              <a:buClr>
                <a:schemeClr val="accent2"/>
              </a:buClr>
              <a:buFont typeface="Monotype Sorts" pitchFamily="2" charset="2"/>
              <a:buNone/>
            </a:pPr>
            <a:r>
              <a:rPr lang="zh-CN" altLang="zh-CN" sz="2400">
                <a:solidFill>
                  <a:schemeClr val="hlink"/>
                </a:solidFill>
                <a:latin typeface="华文楷体" panose="02010600040101010101" pitchFamily="2" charset="-122"/>
                <a:ea typeface="华文楷体" panose="02010600040101010101" pitchFamily="2" charset="-122"/>
              </a:rPr>
              <a:t>线缆</a:t>
            </a:r>
            <a:r>
              <a:rPr lang="zh-CN" altLang="zh-CN" sz="2400">
                <a:latin typeface="华文楷体" panose="02010600040101010101" pitchFamily="2" charset="-122"/>
                <a:ea typeface="华文楷体" panose="02010600040101010101" pitchFamily="2" charset="-122"/>
              </a:rPr>
              <a:t>:</a:t>
            </a:r>
            <a:r>
              <a:rPr lang="zh-CN" altLang="zh-CN" sz="2200">
                <a:latin typeface="华文楷体" panose="02010600040101010101" pitchFamily="2" charset="-122"/>
                <a:ea typeface="华文楷体" panose="02010600040101010101" pitchFamily="2" charset="-122"/>
              </a:rPr>
              <a:t>光纤,同轴电缆,双绞线(屏蔽,非屏蔽),无线电,卫星</a:t>
            </a:r>
            <a:r>
              <a:rPr lang="zh-CN" altLang="zh-CN" sz="2000">
                <a:latin typeface="华文楷体" panose="02010600040101010101" pitchFamily="2" charset="-122"/>
                <a:ea typeface="华文楷体" panose="02010600040101010101" pitchFamily="2" charset="-122"/>
              </a:rPr>
              <a:t> </a:t>
            </a:r>
          </a:p>
          <a:p>
            <a:pPr>
              <a:lnSpc>
                <a:spcPct val="95000"/>
              </a:lnSpc>
              <a:spcBef>
                <a:spcPct val="20000"/>
              </a:spcBef>
              <a:buClr>
                <a:schemeClr val="accent2"/>
              </a:buClr>
              <a:buFont typeface="Monotype Sorts" pitchFamily="2" charset="2"/>
              <a:buNone/>
            </a:pPr>
            <a:r>
              <a:rPr lang="zh-CN" altLang="zh-CN" sz="2400">
                <a:solidFill>
                  <a:schemeClr val="hlink"/>
                </a:solidFill>
                <a:latin typeface="华文楷体" panose="02010600040101010101" pitchFamily="2" charset="-122"/>
                <a:ea typeface="华文楷体" panose="02010600040101010101" pitchFamily="2" charset="-122"/>
              </a:rPr>
              <a:t>接口</a:t>
            </a:r>
            <a:r>
              <a:rPr lang="zh-CN" altLang="zh-CN" sz="2400">
                <a:latin typeface="华文楷体" panose="02010600040101010101" pitchFamily="2" charset="-122"/>
                <a:ea typeface="华文楷体" panose="02010600040101010101" pitchFamily="2" charset="-122"/>
              </a:rPr>
              <a:t>:RS232,RJ45,BNC……</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 calcmode="lin" valueType="num">
                                      <p:cBhvr additive="base">
                                        <p:cTn id="7" dur="500" fill="hold"/>
                                        <p:tgtEl>
                                          <p:spTgt spid="2662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66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6628">
                                            <p:txEl>
                                              <p:pRg st="1" end="1"/>
                                            </p:txEl>
                                          </p:spTgt>
                                        </p:tgtEl>
                                        <p:attrNameLst>
                                          <p:attrName>style.visibility</p:attrName>
                                        </p:attrNameLst>
                                      </p:cBhvr>
                                      <p:to>
                                        <p:strVal val="visible"/>
                                      </p:to>
                                    </p:set>
                                    <p:anim calcmode="lin" valueType="num">
                                      <p:cBhvr additive="base">
                                        <p:cTn id="13" dur="500" fill="hold"/>
                                        <p:tgtEl>
                                          <p:spTgt spid="2662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66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6628">
                                            <p:txEl>
                                              <p:pRg st="2" end="2"/>
                                            </p:txEl>
                                          </p:spTgt>
                                        </p:tgtEl>
                                        <p:attrNameLst>
                                          <p:attrName>style.visibility</p:attrName>
                                        </p:attrNameLst>
                                      </p:cBhvr>
                                      <p:to>
                                        <p:strVal val="visible"/>
                                      </p:to>
                                    </p:set>
                                    <p:anim calcmode="lin" valueType="num">
                                      <p:cBhvr additive="base">
                                        <p:cTn id="19" dur="500" fill="hold"/>
                                        <p:tgtEl>
                                          <p:spTgt spid="2662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662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957514" y="227013"/>
            <a:ext cx="7044902" cy="660400"/>
          </a:xfrm>
        </p:spPr>
        <p:txBody>
          <a:bodyPr>
            <a:normAutofit fontScale="90000"/>
          </a:bodyPr>
          <a:lstStyle/>
          <a:p>
            <a:pPr algn="ctr" eaLnBrk="1" hangingPunct="1"/>
            <a:r>
              <a:rPr lang="zh-CN" altLang="zh-CN"/>
              <a:t>物理层没有解决的问题</a:t>
            </a:r>
          </a:p>
        </p:txBody>
      </p:sp>
      <p:sp>
        <p:nvSpPr>
          <p:cNvPr id="27651" name="Text Box 3"/>
          <p:cNvSpPr txBox="1">
            <a:spLocks noChangeArrowheads="1"/>
          </p:cNvSpPr>
          <p:nvPr/>
        </p:nvSpPr>
        <p:spPr bwMode="auto">
          <a:xfrm>
            <a:off x="1684339" y="1395414"/>
            <a:ext cx="8823325" cy="259147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77825" indent="-3778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 typeface="Wingdings" panose="05000000000000000000" pitchFamily="2" charset="2"/>
              <a:buNone/>
            </a:pPr>
            <a:r>
              <a:rPr lang="zh-CN" altLang="zh-CN" sz="2800" b="1">
                <a:latin typeface="华文楷体" panose="02010600040101010101" pitchFamily="2" charset="-122"/>
                <a:ea typeface="华文楷体" panose="02010600040101010101" pitchFamily="2" charset="-122"/>
              </a:rPr>
              <a:t>在现实世界中，</a:t>
            </a:r>
          </a:p>
          <a:p>
            <a:pPr eaLnBrk="1" hangingPunct="1">
              <a:buClr>
                <a:srgbClr val="66CCFF"/>
              </a:buClr>
              <a:buSzTx/>
              <a:buFont typeface="Wingdings" panose="05000000000000000000" pitchFamily="2" charset="2"/>
              <a:buChar char="•"/>
            </a:pPr>
            <a:r>
              <a:rPr lang="zh-CN" altLang="zh-CN" sz="2400" b="1">
                <a:latin typeface="华文楷体" panose="02010600040101010101" pitchFamily="2" charset="-122"/>
                <a:ea typeface="华文楷体" panose="02010600040101010101" pitchFamily="2" charset="-122"/>
              </a:rPr>
              <a:t>信道一般都存在误码率 </a:t>
            </a:r>
            <a:r>
              <a:rPr lang="zh-CN" altLang="zh-CN" sz="2400" b="1">
                <a:solidFill>
                  <a:schemeClr val="hlink"/>
                </a:solidFill>
                <a:latin typeface="华文楷体" panose="02010600040101010101" pitchFamily="2" charset="-122"/>
                <a:ea typeface="华文楷体" panose="02010600040101010101" pitchFamily="2" charset="-122"/>
              </a:rPr>
              <a:t>→</a:t>
            </a:r>
            <a:r>
              <a:rPr lang="zh-CN" altLang="zh-CN" sz="2400" b="1">
                <a:latin typeface="华文楷体" panose="02010600040101010101" pitchFamily="2" charset="-122"/>
                <a:ea typeface="华文楷体" panose="02010600040101010101" pitchFamily="2" charset="-122"/>
              </a:rPr>
              <a:t> 如何进行</a:t>
            </a:r>
            <a:r>
              <a:rPr lang="zh-CN" altLang="zh-CN" sz="2400" b="1">
                <a:solidFill>
                  <a:schemeClr val="hlink"/>
                </a:solidFill>
                <a:latin typeface="华文楷体" panose="02010600040101010101" pitchFamily="2" charset="-122"/>
                <a:ea typeface="华文楷体" panose="02010600040101010101" pitchFamily="2" charset="-122"/>
              </a:rPr>
              <a:t>差错控制</a:t>
            </a:r>
          </a:p>
          <a:p>
            <a:pPr eaLnBrk="1" hangingPunct="1">
              <a:buClr>
                <a:srgbClr val="66CCFF"/>
              </a:buClr>
              <a:buSzTx/>
              <a:buFont typeface="Wingdings" panose="05000000000000000000" pitchFamily="2" charset="2"/>
              <a:buChar char="•"/>
            </a:pPr>
            <a:r>
              <a:rPr lang="zh-CN" altLang="zh-CN" sz="2400" b="1">
                <a:latin typeface="华文楷体" panose="02010600040101010101" pitchFamily="2" charset="-122"/>
                <a:ea typeface="华文楷体" panose="02010600040101010101" pitchFamily="2" charset="-122"/>
              </a:rPr>
              <a:t>物理层只管传送比特信号，不关心</a:t>
            </a:r>
            <a:r>
              <a:rPr lang="zh-CN" altLang="zh-CN" sz="2400" b="1">
                <a:solidFill>
                  <a:schemeClr val="hlink"/>
                </a:solidFill>
                <a:latin typeface="华文楷体" panose="02010600040101010101" pitchFamily="2" charset="-122"/>
                <a:ea typeface="华文楷体" panose="02010600040101010101" pitchFamily="2" charset="-122"/>
              </a:rPr>
              <a:t>信号</a:t>
            </a:r>
            <a:r>
              <a:rPr lang="zh-CN" altLang="zh-CN" sz="2400" b="1">
                <a:latin typeface="华文楷体" panose="02010600040101010101" pitchFamily="2" charset="-122"/>
                <a:ea typeface="华文楷体" panose="02010600040101010101" pitchFamily="2" charset="-122"/>
              </a:rPr>
              <a:t>的</a:t>
            </a:r>
            <a:r>
              <a:rPr lang="zh-CN" altLang="zh-CN" sz="2400" b="1">
                <a:solidFill>
                  <a:schemeClr val="hlink"/>
                </a:solidFill>
                <a:latin typeface="华文楷体" panose="02010600040101010101" pitchFamily="2" charset="-122"/>
                <a:ea typeface="华文楷体" panose="02010600040101010101" pitchFamily="2" charset="-122"/>
              </a:rPr>
              <a:t>含义</a:t>
            </a:r>
            <a:r>
              <a:rPr lang="zh-CN" altLang="zh-CN" sz="2400" b="1">
                <a:latin typeface="华文楷体" panose="02010600040101010101" pitchFamily="2" charset="-122"/>
                <a:ea typeface="华文楷体" panose="02010600040101010101" pitchFamily="2" charset="-122"/>
              </a:rPr>
              <a:t> </a:t>
            </a:r>
            <a:r>
              <a:rPr lang="zh-CN" altLang="zh-CN" sz="2400" b="1">
                <a:solidFill>
                  <a:schemeClr val="hlink"/>
                </a:solidFill>
                <a:latin typeface="华文楷体" panose="02010600040101010101" pitchFamily="2" charset="-122"/>
                <a:ea typeface="华文楷体" panose="02010600040101010101" pitchFamily="2" charset="-122"/>
              </a:rPr>
              <a:t>→</a:t>
            </a:r>
            <a:r>
              <a:rPr lang="zh-CN" altLang="zh-CN" sz="2400" b="1">
                <a:latin typeface="华文楷体" panose="02010600040101010101" pitchFamily="2" charset="-122"/>
                <a:ea typeface="华文楷体" panose="02010600040101010101" pitchFamily="2" charset="-122"/>
              </a:rPr>
              <a:t> 如何定义所传输信号的具体含义？</a:t>
            </a:r>
          </a:p>
          <a:p>
            <a:pPr eaLnBrk="1" hangingPunct="1">
              <a:buClr>
                <a:srgbClr val="66CCFF"/>
              </a:buClr>
              <a:buSzTx/>
              <a:buFont typeface="Wingdings" panose="05000000000000000000" pitchFamily="2" charset="2"/>
              <a:buChar char="•"/>
            </a:pPr>
            <a:r>
              <a:rPr lang="zh-CN" altLang="zh-CN" sz="2400" b="1">
                <a:latin typeface="华文楷体" panose="02010600040101010101" pitchFamily="2" charset="-122"/>
                <a:ea typeface="华文楷体" panose="02010600040101010101" pitchFamily="2" charset="-122"/>
              </a:rPr>
              <a:t>连网的两台机器</a:t>
            </a:r>
            <a:r>
              <a:rPr lang="zh-CN" altLang="zh-CN" sz="2400" b="1">
                <a:solidFill>
                  <a:schemeClr val="hlink"/>
                </a:solidFill>
                <a:latin typeface="华文楷体" panose="02010600040101010101" pitchFamily="2" charset="-122"/>
                <a:ea typeface="华文楷体" panose="02010600040101010101" pitchFamily="2" charset="-122"/>
              </a:rPr>
              <a:t>速率</a:t>
            </a:r>
            <a:r>
              <a:rPr lang="zh-CN" altLang="zh-CN" sz="2400" b="1">
                <a:latin typeface="华文楷体" panose="02010600040101010101" pitchFamily="2" charset="-122"/>
                <a:ea typeface="华文楷体" panose="02010600040101010101" pitchFamily="2" charset="-122"/>
              </a:rPr>
              <a:t>不</a:t>
            </a:r>
            <a:r>
              <a:rPr lang="zh-CN" altLang="zh-CN" sz="2400" b="1">
                <a:solidFill>
                  <a:schemeClr val="hlink"/>
                </a:solidFill>
                <a:latin typeface="华文楷体" panose="02010600040101010101" pitchFamily="2" charset="-122"/>
                <a:ea typeface="华文楷体" panose="02010600040101010101" pitchFamily="2" charset="-122"/>
              </a:rPr>
              <a:t>匹配</a:t>
            </a:r>
            <a:r>
              <a:rPr lang="zh-CN" altLang="zh-CN" sz="2400" b="1">
                <a:latin typeface="华文楷体" panose="02010600040101010101" pitchFamily="2" charset="-122"/>
                <a:ea typeface="华文楷体" panose="02010600040101010101" pitchFamily="2" charset="-122"/>
              </a:rPr>
              <a:t> </a:t>
            </a:r>
            <a:r>
              <a:rPr lang="zh-CN" altLang="zh-CN" sz="2400" b="1">
                <a:solidFill>
                  <a:schemeClr val="hlink"/>
                </a:solidFill>
                <a:latin typeface="华文楷体" panose="02010600040101010101" pitchFamily="2" charset="-122"/>
                <a:ea typeface="华文楷体" panose="02010600040101010101" pitchFamily="2" charset="-122"/>
              </a:rPr>
              <a:t>→</a:t>
            </a:r>
            <a:r>
              <a:rPr lang="zh-CN" altLang="zh-CN" sz="2400" b="1">
                <a:latin typeface="华文楷体" panose="02010600040101010101" pitchFamily="2" charset="-122"/>
                <a:ea typeface="华文楷体" panose="02010600040101010101" pitchFamily="2" charset="-122"/>
              </a:rPr>
              <a:t> 如何进行流量控制，以避免快的发送将慢的接收给淹没了。</a:t>
            </a:r>
          </a:p>
        </p:txBody>
      </p:sp>
      <p:sp>
        <p:nvSpPr>
          <p:cNvPr id="27652" name="AutoShape 4"/>
          <p:cNvSpPr>
            <a:spLocks noChangeArrowheads="1"/>
          </p:cNvSpPr>
          <p:nvPr/>
        </p:nvSpPr>
        <p:spPr bwMode="auto">
          <a:xfrm>
            <a:off x="4083050" y="3971925"/>
            <a:ext cx="3638550" cy="1589088"/>
          </a:xfrm>
          <a:prstGeom prst="wedgeRoundRectCallout">
            <a:avLst>
              <a:gd name="adj1" fmla="val 10472"/>
              <a:gd name="adj2" fmla="val -33315"/>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a:latin typeface="Times New Roman" panose="02020603050405020304" pitchFamily="18" charset="0"/>
                <a:ea typeface="仿宋_GB2312" pitchFamily="1" charset="-122"/>
              </a:rPr>
              <a:t>为了解决这些问题，在物理层的基础上引入</a:t>
            </a:r>
            <a:r>
              <a:rPr lang="zh-CN" altLang="zh-CN">
                <a:solidFill>
                  <a:srgbClr val="FF0000"/>
                </a:solidFill>
                <a:latin typeface="Times New Roman" panose="02020603050405020304" pitchFamily="18" charset="0"/>
                <a:ea typeface="仿宋_GB2312" pitchFamily="1" charset="-122"/>
              </a:rPr>
              <a:t>数据链路层</a:t>
            </a:r>
          </a:p>
        </p:txBody>
      </p:sp>
      <p:sp>
        <p:nvSpPr>
          <p:cNvPr id="27654" name="WordArt 6"/>
          <p:cNvSpPr>
            <a:spLocks noChangeArrowheads="1" noChangeShapeType="1" noTextEdit="1"/>
          </p:cNvSpPr>
          <p:nvPr/>
        </p:nvSpPr>
        <p:spPr bwMode="auto">
          <a:xfrm>
            <a:off x="5203825" y="5349876"/>
            <a:ext cx="1411288" cy="771525"/>
          </a:xfrm>
          <a:prstGeom prst="rect">
            <a:avLst/>
          </a:prstGeom>
        </p:spPr>
        <p:txBody>
          <a:bodyPr wrap="none" fromWordArt="1">
            <a:prstTxWarp prst="textDoubleWave1">
              <a:avLst>
                <a:gd name="adj1" fmla="val 0"/>
                <a:gd name="adj2" fmla="val -10000"/>
              </a:avLst>
            </a:prstTxWarp>
          </a:bodyPr>
          <a:lstStyle/>
          <a:p>
            <a:pPr algn="ctr"/>
            <a:r>
              <a:rPr lang="en-US" altLang="zh-CN"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rPr>
              <a:t>?</a:t>
            </a:r>
            <a:endParaRPr lang="zh-CN" altLang="en-US"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endParaRPr>
          </a:p>
        </p:txBody>
      </p:sp>
      <p:grpSp>
        <p:nvGrpSpPr>
          <p:cNvPr id="27655" name="Group 7"/>
          <p:cNvGrpSpPr>
            <a:grpSpLocks/>
          </p:cNvGrpSpPr>
          <p:nvPr/>
        </p:nvGrpSpPr>
        <p:grpSpPr bwMode="auto">
          <a:xfrm>
            <a:off x="2405064" y="4956176"/>
            <a:ext cx="7310437" cy="1241425"/>
            <a:chOff x="0" y="0"/>
            <a:chExt cx="4021" cy="782"/>
          </a:xfrm>
        </p:grpSpPr>
        <p:pic>
          <p:nvPicPr>
            <p:cNvPr id="27656" name="Picture 8" descr="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5" y="24"/>
              <a:ext cx="1246" cy="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Line 9"/>
            <p:cNvSpPr>
              <a:spLocks noChangeShapeType="1"/>
            </p:cNvSpPr>
            <p:nvPr/>
          </p:nvSpPr>
          <p:spPr bwMode="auto">
            <a:xfrm>
              <a:off x="664" y="475"/>
              <a:ext cx="2366" cy="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765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63" cy="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7651">
                                            <p:txEl>
                                              <p:pRg st="2" end="2"/>
                                            </p:txEl>
                                          </p:spTgt>
                                        </p:tgtEl>
                                        <p:attrNameLst>
                                          <p:attrName>style.visibility</p:attrName>
                                        </p:attrNameLst>
                                      </p:cBhvr>
                                      <p:to>
                                        <p:strVal val="visible"/>
                                      </p:to>
                                    </p:set>
                                    <p:anim calcmode="lin" valueType="num">
                                      <p:cBhvr additive="base">
                                        <p:cTn id="19" dur="500" fill="hold"/>
                                        <p:tgtEl>
                                          <p:spTgt spid="276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7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7651">
                                            <p:txEl>
                                              <p:pRg st="3" end="3"/>
                                            </p:txEl>
                                          </p:spTgt>
                                        </p:tgtEl>
                                        <p:attrNameLst>
                                          <p:attrName>style.visibility</p:attrName>
                                        </p:attrNameLst>
                                      </p:cBhvr>
                                      <p:to>
                                        <p:strVal val="visible"/>
                                      </p:to>
                                    </p:set>
                                    <p:anim calcmode="lin" valueType="num">
                                      <p:cBhvr additive="base">
                                        <p:cTn id="25" dur="500" fill="hold"/>
                                        <p:tgtEl>
                                          <p:spTgt spid="276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76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7654"/>
                                        </p:tgtEl>
                                        <p:attrNameLst>
                                          <p:attrName>style.visibility</p:attrName>
                                        </p:attrNameLst>
                                      </p:cBhvr>
                                      <p:to>
                                        <p:strVal val="visible"/>
                                      </p:to>
                                    </p:set>
                                    <p:anim calcmode="lin" valueType="num">
                                      <p:cBhvr additive="base">
                                        <p:cTn id="31" dur="500" fill="hold"/>
                                        <p:tgtEl>
                                          <p:spTgt spid="27654"/>
                                        </p:tgtEl>
                                        <p:attrNameLst>
                                          <p:attrName>ppt_x</p:attrName>
                                        </p:attrNameLst>
                                      </p:cBhvr>
                                      <p:tavLst>
                                        <p:tav tm="0">
                                          <p:val>
                                            <p:strVal val="1+#ppt_w/2"/>
                                          </p:val>
                                        </p:tav>
                                        <p:tav tm="100000">
                                          <p:val>
                                            <p:strVal val="#ppt_x"/>
                                          </p:val>
                                        </p:tav>
                                      </p:tavLst>
                                    </p:anim>
                                    <p:anim calcmode="lin" valueType="num">
                                      <p:cBhvr additive="base">
                                        <p:cTn id="32" dur="500" fill="hold"/>
                                        <p:tgtEl>
                                          <p:spTgt spid="2765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7652"/>
                                        </p:tgtEl>
                                        <p:attrNameLst>
                                          <p:attrName>style.visibility</p:attrName>
                                        </p:attrNameLst>
                                      </p:cBhvr>
                                      <p:to>
                                        <p:strVal val="visible"/>
                                      </p:to>
                                    </p:set>
                                    <p:anim calcmode="lin" valueType="num">
                                      <p:cBhvr additive="base">
                                        <p:cTn id="37" dur="500" fill="hold"/>
                                        <p:tgtEl>
                                          <p:spTgt spid="27652"/>
                                        </p:tgtEl>
                                        <p:attrNameLst>
                                          <p:attrName>ppt_x</p:attrName>
                                        </p:attrNameLst>
                                      </p:cBhvr>
                                      <p:tavLst>
                                        <p:tav tm="0">
                                          <p:val>
                                            <p:strVal val="1+#ppt_w/2"/>
                                          </p:val>
                                        </p:tav>
                                        <p:tav tm="100000">
                                          <p:val>
                                            <p:strVal val="#ppt_x"/>
                                          </p:val>
                                        </p:tav>
                                      </p:tavLst>
                                    </p:anim>
                                    <p:anim calcmode="lin" valueType="num">
                                      <p:cBhvr additive="base">
                                        <p:cTn id="3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2765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747964" y="250825"/>
            <a:ext cx="6694487" cy="673100"/>
          </a:xfrm>
        </p:spPr>
        <p:txBody>
          <a:bodyPr>
            <a:normAutofit fontScale="90000"/>
          </a:bodyPr>
          <a:lstStyle/>
          <a:p>
            <a:pPr algn="ctr" eaLnBrk="1" hangingPunct="1"/>
            <a:r>
              <a:rPr lang="zh-CN" altLang="zh-CN"/>
              <a:t>数据链路层的主要功能</a:t>
            </a:r>
          </a:p>
        </p:txBody>
      </p:sp>
      <p:sp>
        <p:nvSpPr>
          <p:cNvPr id="28675" name="Text Box 3"/>
          <p:cNvSpPr txBox="1">
            <a:spLocks noChangeArrowheads="1"/>
          </p:cNvSpPr>
          <p:nvPr/>
        </p:nvSpPr>
        <p:spPr bwMode="auto">
          <a:xfrm>
            <a:off x="511179" y="1536484"/>
            <a:ext cx="8129587" cy="20574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 typeface="Wingdings" panose="05000000000000000000" pitchFamily="2" charset="2"/>
              <a:buAutoNum type="arabicParenR"/>
            </a:pPr>
            <a:r>
              <a:rPr lang="zh-CN" altLang="zh-CN" sz="2800" b="1">
                <a:solidFill>
                  <a:schemeClr val="accent2"/>
                </a:solidFill>
                <a:latin typeface="华文楷体" panose="02010600040101010101" pitchFamily="2" charset="-122"/>
                <a:ea typeface="华文楷体" panose="02010600040101010101" pitchFamily="2" charset="-122"/>
              </a:rPr>
              <a:t>信息含义</a:t>
            </a:r>
            <a:r>
              <a:rPr lang="zh-CN" altLang="zh-CN" sz="2800" b="1">
                <a:latin typeface="华文楷体" panose="02010600040101010101" pitchFamily="2" charset="-122"/>
                <a:ea typeface="华文楷体" panose="02010600040101010101" pitchFamily="2" charset="-122"/>
              </a:rPr>
              <a:t>的定义（帧格式的定义）、帧定界</a:t>
            </a:r>
          </a:p>
          <a:p>
            <a:pPr eaLnBrk="1" hangingPunct="1">
              <a:buClrTx/>
              <a:buSzTx/>
              <a:buFont typeface="Wingdings" panose="05000000000000000000" pitchFamily="2" charset="2"/>
              <a:buAutoNum type="arabicParenR"/>
            </a:pPr>
            <a:r>
              <a:rPr lang="zh-CN" altLang="zh-CN" sz="2800" b="1">
                <a:solidFill>
                  <a:schemeClr val="accent2"/>
                </a:solidFill>
                <a:latin typeface="华文楷体" panose="02010600040101010101" pitchFamily="2" charset="-122"/>
                <a:ea typeface="华文楷体" panose="02010600040101010101" pitchFamily="2" charset="-122"/>
              </a:rPr>
              <a:t>流量控制</a:t>
            </a:r>
            <a:r>
              <a:rPr lang="en-US" altLang="zh-CN" sz="2800" b="1">
                <a:latin typeface="华文楷体" panose="02010600040101010101" pitchFamily="2" charset="-122"/>
                <a:ea typeface="华文楷体" panose="02010600040101010101" pitchFamily="2" charset="-122"/>
              </a:rPr>
              <a:t>—</a:t>
            </a:r>
            <a:r>
              <a:rPr lang="zh-CN" altLang="zh-CN" sz="2800" b="1">
                <a:latin typeface="华文楷体" panose="02010600040101010101" pitchFamily="2" charset="-122"/>
                <a:ea typeface="华文楷体" panose="02010600040101010101" pitchFamily="2" charset="-122"/>
              </a:rPr>
              <a:t>以避免快的发送淹没慢的接收</a:t>
            </a:r>
          </a:p>
          <a:p>
            <a:pPr eaLnBrk="1" hangingPunct="1">
              <a:buClrTx/>
              <a:buSzTx/>
              <a:buFont typeface="Wingdings" panose="05000000000000000000" pitchFamily="2" charset="2"/>
              <a:buAutoNum type="arabicParenR"/>
            </a:pPr>
            <a:r>
              <a:rPr lang="zh-CN" altLang="zh-CN" sz="2800" b="1">
                <a:solidFill>
                  <a:schemeClr val="accent2"/>
                </a:solidFill>
                <a:latin typeface="华文楷体" panose="02010600040101010101" pitchFamily="2" charset="-122"/>
                <a:ea typeface="华文楷体" panose="02010600040101010101" pitchFamily="2" charset="-122"/>
              </a:rPr>
              <a:t>差错控制</a:t>
            </a:r>
            <a:r>
              <a:rPr lang="zh-CN" altLang="zh-CN" sz="2800" b="1">
                <a:latin typeface="华文楷体" panose="02010600040101010101" pitchFamily="2" charset="-122"/>
                <a:ea typeface="华文楷体" panose="02010600040101010101" pitchFamily="2" charset="-122"/>
              </a:rPr>
              <a:t>（</a:t>
            </a:r>
            <a:r>
              <a:rPr lang="zh-CN" altLang="zh-CN" sz="2400" b="1">
                <a:latin typeface="华文楷体" panose="02010600040101010101" pitchFamily="2" charset="-122"/>
                <a:ea typeface="华文楷体" panose="02010600040101010101" pitchFamily="2" charset="-122"/>
              </a:rPr>
              <a:t>错误检测，确认（捎带应答）、重传）</a:t>
            </a:r>
          </a:p>
          <a:p>
            <a:pPr eaLnBrk="1" hangingPunct="1">
              <a:buClrTx/>
              <a:buSzTx/>
              <a:buFont typeface="Wingdings" panose="05000000000000000000" pitchFamily="2" charset="2"/>
              <a:buAutoNum type="arabicParenR"/>
            </a:pPr>
            <a:r>
              <a:rPr lang="zh-CN" altLang="zh-CN" sz="2800" b="1">
                <a:latin typeface="华文楷体" panose="02010600040101010101" pitchFamily="2" charset="-122"/>
                <a:ea typeface="华文楷体" panose="02010600040101010101" pitchFamily="2" charset="-122"/>
              </a:rPr>
              <a:t>共享信道</a:t>
            </a:r>
            <a:r>
              <a:rPr lang="en-US" altLang="zh-CN" sz="2800" b="1">
                <a:latin typeface="华文楷体" panose="02010600040101010101" pitchFamily="2" charset="-122"/>
                <a:ea typeface="华文楷体" panose="02010600040101010101" pitchFamily="2" charset="-122"/>
              </a:rPr>
              <a:t>—</a:t>
            </a:r>
            <a:r>
              <a:rPr lang="zh-CN" altLang="zh-CN" sz="2800" b="1">
                <a:solidFill>
                  <a:schemeClr val="accent2"/>
                </a:solidFill>
                <a:latin typeface="华文楷体" panose="02010600040101010101" pitchFamily="2" charset="-122"/>
                <a:ea typeface="华文楷体" panose="02010600040101010101" pitchFamily="2" charset="-122"/>
              </a:rPr>
              <a:t>介质访问控制</a:t>
            </a:r>
            <a:r>
              <a:rPr lang="zh-CN" altLang="zh-CN" sz="2800" b="1">
                <a:latin typeface="华文楷体" panose="02010600040101010101" pitchFamily="2" charset="-122"/>
                <a:ea typeface="华文楷体" panose="02010600040101010101" pitchFamily="2" charset="-122"/>
              </a:rPr>
              <a:t>（MAC）</a:t>
            </a:r>
          </a:p>
        </p:txBody>
      </p:sp>
      <p:sp>
        <p:nvSpPr>
          <p:cNvPr id="28676" name="Text Box 4"/>
          <p:cNvSpPr txBox="1">
            <a:spLocks noChangeArrowheads="1"/>
          </p:cNvSpPr>
          <p:nvPr/>
        </p:nvSpPr>
        <p:spPr bwMode="auto">
          <a:xfrm>
            <a:off x="511179" y="4280953"/>
            <a:ext cx="10067921" cy="52322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数据链路层的</a:t>
            </a:r>
            <a:r>
              <a:rPr lang="zh-CN" altLang="zh-CN" b="1">
                <a:solidFill>
                  <a:schemeClr val="folHlink"/>
                </a:solidFill>
                <a:latin typeface="华文楷体" panose="02010600040101010101" pitchFamily="2" charset="-122"/>
                <a:ea typeface="华文楷体" panose="02010600040101010101" pitchFamily="2" charset="-122"/>
              </a:rPr>
              <a:t>主要功能</a:t>
            </a:r>
            <a:r>
              <a:rPr lang="zh-CN" altLang="zh-CN" b="1">
                <a:latin typeface="华文楷体" panose="02010600040101010101" pitchFamily="2" charset="-122"/>
                <a:ea typeface="华文楷体" panose="02010600040101010101" pitchFamily="2" charset="-122"/>
              </a:rPr>
              <a:t>是</a:t>
            </a:r>
            <a:r>
              <a:rPr lang="zh-CN" altLang="zh-CN" b="1">
                <a:solidFill>
                  <a:srgbClr val="FF0000"/>
                </a:solidFill>
                <a:latin typeface="华文楷体" panose="02010600040101010101" pitchFamily="2" charset="-122"/>
                <a:ea typeface="华文楷体" panose="02010600040101010101" pitchFamily="2" charset="-122"/>
              </a:rPr>
              <a:t>确保数据（帧）在链路上的可靠传输</a:t>
            </a:r>
            <a:r>
              <a:rPr lang="zh-CN" altLang="zh-CN" b="1">
                <a:latin typeface="华文楷体" panose="02010600040101010101" pitchFamily="2" charset="-122"/>
                <a:ea typeface="华文楷体" panose="02010600040101010101" pitchFamily="2" charset="-122"/>
              </a:rPr>
              <a:t>。 </a:t>
            </a:r>
          </a:p>
        </p:txBody>
      </p:sp>
      <p:grpSp>
        <p:nvGrpSpPr>
          <p:cNvPr id="28677" name="Group 5"/>
          <p:cNvGrpSpPr>
            <a:grpSpLocks/>
          </p:cNvGrpSpPr>
          <p:nvPr/>
        </p:nvGrpSpPr>
        <p:grpSpPr bwMode="auto">
          <a:xfrm>
            <a:off x="8891584" y="1536484"/>
            <a:ext cx="2789237" cy="1749425"/>
            <a:chOff x="0" y="0"/>
            <a:chExt cx="1757" cy="1613"/>
          </a:xfrm>
        </p:grpSpPr>
        <p:sp>
          <p:nvSpPr>
            <p:cNvPr id="28678" name="Line 6"/>
            <p:cNvSpPr>
              <a:spLocks noChangeShapeType="1"/>
            </p:cNvSpPr>
            <p:nvPr/>
          </p:nvSpPr>
          <p:spPr bwMode="auto">
            <a:xfrm flipV="1">
              <a:off x="1462" y="356"/>
              <a:ext cx="0" cy="476"/>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28679" name="Line 7"/>
            <p:cNvSpPr>
              <a:spLocks noChangeShapeType="1"/>
            </p:cNvSpPr>
            <p:nvPr/>
          </p:nvSpPr>
          <p:spPr bwMode="auto">
            <a:xfrm flipV="1">
              <a:off x="1354" y="817"/>
              <a:ext cx="0" cy="459"/>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28680" name="Line 8"/>
            <p:cNvSpPr>
              <a:spLocks noChangeShapeType="1"/>
            </p:cNvSpPr>
            <p:nvPr/>
          </p:nvSpPr>
          <p:spPr bwMode="auto">
            <a:xfrm flipV="1">
              <a:off x="220" y="355"/>
              <a:ext cx="0" cy="459"/>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sp>
          <p:nvSpPr>
            <p:cNvPr id="28681" name="Line 9"/>
            <p:cNvSpPr>
              <a:spLocks noChangeShapeType="1"/>
            </p:cNvSpPr>
            <p:nvPr/>
          </p:nvSpPr>
          <p:spPr bwMode="auto">
            <a:xfrm flipV="1">
              <a:off x="544" y="817"/>
              <a:ext cx="0" cy="459"/>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pic>
          <p:nvPicPr>
            <p:cNvPr id="28682" name="Picture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26"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3" name="Picture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0" y="0"/>
              <a:ext cx="527"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4" name="Picture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 y="1137"/>
              <a:ext cx="52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5" name="Picture 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 y="1137"/>
              <a:ext cx="52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6" name="Line 14"/>
            <p:cNvSpPr>
              <a:spLocks noChangeShapeType="1"/>
            </p:cNvSpPr>
            <p:nvPr/>
          </p:nvSpPr>
          <p:spPr bwMode="auto">
            <a:xfrm>
              <a:off x="142" y="803"/>
              <a:ext cx="1374"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a:lstStyle/>
            <a:p>
              <a:endParaRPr lang="zh-CN" altLang="en-US"/>
            </a:p>
          </p:txBody>
        </p:sp>
        <p:graphicFrame>
          <p:nvGraphicFramePr>
            <p:cNvPr id="28687" name="Object 15">
              <a:hlinkClick r:id="" action="ppaction://ole?verb=1"/>
            </p:cNvPr>
            <p:cNvGraphicFramePr>
              <a:graphicFrameLocks/>
            </p:cNvGraphicFramePr>
            <p:nvPr/>
          </p:nvGraphicFramePr>
          <p:xfrm>
            <a:off x="313" y="598"/>
            <a:ext cx="980" cy="333"/>
          </p:xfrm>
          <a:graphic>
            <a:graphicData uri="http://schemas.openxmlformats.org/presentationml/2006/ole">
              <mc:AlternateContent xmlns:mc="http://schemas.openxmlformats.org/markup-compatibility/2006">
                <mc:Choice xmlns:v="urn:schemas-microsoft-com:vml" Requires="v">
                  <p:oleObj spid="_x0000_s28837" r:id="rId7" imgW="1379510" imgH="468274" progId="MS_ClipArt_Gallery.2">
                    <p:embed/>
                  </p:oleObj>
                </mc:Choice>
                <mc:Fallback>
                  <p:oleObj r:id="rId7" imgW="1379510" imgH="468274" progId="MS_ClipArt_Gallery.2">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 y="598"/>
                          <a:ext cx="98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8677"/>
                                        </p:tgtEl>
                                        <p:attrNameLst>
                                          <p:attrName>style.visibility</p:attrName>
                                        </p:attrNameLst>
                                      </p:cBhvr>
                                      <p:to>
                                        <p:strVal val="visible"/>
                                      </p:to>
                                    </p:set>
                                    <p:anim calcmode="lin" valueType="num">
                                      <p:cBhvr additive="base">
                                        <p:cTn id="31" dur="500" fill="hold"/>
                                        <p:tgtEl>
                                          <p:spTgt spid="28677"/>
                                        </p:tgtEl>
                                        <p:attrNameLst>
                                          <p:attrName>ppt_x</p:attrName>
                                        </p:attrNameLst>
                                      </p:cBhvr>
                                      <p:tavLst>
                                        <p:tav tm="0">
                                          <p:val>
                                            <p:strVal val="1+#ppt_w/2"/>
                                          </p:val>
                                        </p:tav>
                                        <p:tav tm="100000">
                                          <p:val>
                                            <p:strVal val="#ppt_x"/>
                                          </p:val>
                                        </p:tav>
                                      </p:tavLst>
                                    </p:anim>
                                    <p:anim calcmode="lin" valueType="num">
                                      <p:cBhvr additive="base">
                                        <p:cTn id="32" dur="500" fill="hold"/>
                                        <p:tgtEl>
                                          <p:spTgt spid="2867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8676">
                                            <p:bg/>
                                          </p:spTgt>
                                        </p:tgtEl>
                                        <p:attrNameLst>
                                          <p:attrName>style.visibility</p:attrName>
                                        </p:attrNameLst>
                                      </p:cBhvr>
                                      <p:to>
                                        <p:strVal val="visible"/>
                                      </p:to>
                                    </p:set>
                                    <p:anim calcmode="lin" valueType="num">
                                      <p:cBhvr additive="base">
                                        <p:cTn id="37" dur="500" fill="hold"/>
                                        <p:tgtEl>
                                          <p:spTgt spid="28676">
                                            <p:bg/>
                                          </p:spTgt>
                                        </p:tgtEl>
                                        <p:attrNameLst>
                                          <p:attrName>ppt_x</p:attrName>
                                        </p:attrNameLst>
                                      </p:cBhvr>
                                      <p:tavLst>
                                        <p:tav tm="0">
                                          <p:val>
                                            <p:strVal val="1+#ppt_w/2"/>
                                          </p:val>
                                        </p:tav>
                                        <p:tav tm="100000">
                                          <p:val>
                                            <p:strVal val="#ppt_x"/>
                                          </p:val>
                                        </p:tav>
                                      </p:tavLst>
                                    </p:anim>
                                    <p:anim calcmode="lin" valueType="num">
                                      <p:cBhvr additive="base">
                                        <p:cTn id="38" dur="500" fill="hold"/>
                                        <p:tgtEl>
                                          <p:spTgt spid="28676">
                                            <p:bg/>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8676">
                                            <p:txEl>
                                              <p:pRg st="0" end="0"/>
                                            </p:txEl>
                                          </p:spTgt>
                                        </p:tgtEl>
                                        <p:attrNameLst>
                                          <p:attrName>style.visibility</p:attrName>
                                        </p:attrNameLst>
                                      </p:cBhvr>
                                      <p:to>
                                        <p:strVal val="visible"/>
                                      </p:to>
                                    </p:set>
                                    <p:anim calcmode="lin" valueType="num">
                                      <p:cBhvr additive="base">
                                        <p:cTn id="43" dur="500" fill="hold"/>
                                        <p:tgtEl>
                                          <p:spTgt spid="28676">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867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676"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906589" y="1303339"/>
            <a:ext cx="8377237" cy="525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spcBef>
                <a:spcPct val="10000"/>
              </a:spcBef>
              <a:buFont typeface="Wingdings" panose="05000000000000000000" pitchFamily="2" charset="2"/>
              <a:buNone/>
            </a:pPr>
            <a:r>
              <a:rPr lang="zh-CN" altLang="zh-CN" b="1" i="1">
                <a:latin typeface="Times New Roman" panose="02020603050405020304" pitchFamily="18" charset="0"/>
              </a:rPr>
              <a:t>            一个从Internet上拦截下来的实际比特流</a:t>
            </a:r>
            <a:endParaRPr lang="zh-CN" altLang="zh-CN">
              <a:latin typeface="Times New Roman" panose="02020603050405020304" pitchFamily="18" charset="0"/>
            </a:endParaRPr>
          </a:p>
          <a:p>
            <a:pPr algn="just" eaLnBrk="1" hangingPunct="1">
              <a:spcBef>
                <a:spcPct val="10000"/>
              </a:spcBef>
              <a:buFont typeface="Wingdings" panose="05000000000000000000" pitchFamily="2" charset="2"/>
              <a:buNone/>
            </a:pPr>
            <a:r>
              <a:rPr lang="zh-CN" altLang="zh-CN">
                <a:latin typeface="Times New Roman" panose="02020603050405020304" pitchFamily="18" charset="0"/>
              </a:rPr>
              <a:t>101010101010……10101011000000001000000010101101000110000101110110001110010100100101010010101011001000111110101101110000000010000000000001000101000000000000000000101000001110000111011001000000000000000100000000000110111110110100111111000000101010000000000001111101110010100110001001111011100000100000100000011000000000000101000000110010000001011110010110000101000110011001011010100000000110110101000000000100000000000000000011001111001100010000000000000000001000000010000000100000001000000010000000100000</a:t>
            </a:r>
          </a:p>
        </p:txBody>
      </p:sp>
      <p:sp>
        <p:nvSpPr>
          <p:cNvPr id="29699" name="Rectangle 3"/>
          <p:cNvSpPr>
            <a:spLocks noGrp="1" noChangeArrowheads="1"/>
          </p:cNvSpPr>
          <p:nvPr>
            <p:ph type="title"/>
          </p:nvPr>
        </p:nvSpPr>
        <p:spPr>
          <a:xfrm>
            <a:off x="4013201" y="234950"/>
            <a:ext cx="4164013" cy="649288"/>
          </a:xfrm>
        </p:spPr>
        <p:txBody>
          <a:bodyPr>
            <a:normAutofit fontScale="90000"/>
          </a:bodyPr>
          <a:lstStyle/>
          <a:p>
            <a:pPr eaLnBrk="1" hangingPunct="1"/>
            <a:r>
              <a:rPr lang="zh-CN" altLang="zh-CN"/>
              <a:t>信号含义的定义</a:t>
            </a:r>
          </a:p>
        </p:txBody>
      </p:sp>
      <p:sp>
        <p:nvSpPr>
          <p:cNvPr id="29700" name="Text Box 4"/>
          <p:cNvSpPr txBox="1">
            <a:spLocks noChangeArrowheads="1"/>
          </p:cNvSpPr>
          <p:nvPr/>
        </p:nvSpPr>
        <p:spPr bwMode="auto">
          <a:xfrm>
            <a:off x="1870075" y="1343026"/>
            <a:ext cx="84518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buFont typeface="Wingdings" panose="05000000000000000000" pitchFamily="2" charset="2"/>
              <a:buNone/>
            </a:pPr>
            <a:r>
              <a:rPr lang="zh-CN" altLang="zh-CN">
                <a:latin typeface="Times New Roman" panose="02020603050405020304" pitchFamily="18" charset="0"/>
              </a:rPr>
              <a:t>                          上述比特流的含义</a:t>
            </a:r>
          </a:p>
          <a:p>
            <a:pPr algn="just" eaLnBrk="1" hangingPunct="1">
              <a:buFont typeface="Wingdings" panose="05000000000000000000" pitchFamily="2" charset="2"/>
              <a:buNone/>
            </a:pPr>
            <a:r>
              <a:rPr lang="zh-CN" altLang="zh-CN" i="1">
                <a:solidFill>
                  <a:srgbClr val="3366FF"/>
                </a:solidFill>
                <a:latin typeface="Times New Roman" panose="02020603050405020304" pitchFamily="18" charset="0"/>
              </a:rPr>
              <a:t>101010101010……101010</a:t>
            </a:r>
            <a:r>
              <a:rPr lang="zh-CN" altLang="zh-CN" i="1">
                <a:solidFill>
                  <a:srgbClr val="800000"/>
                </a:solidFill>
                <a:latin typeface="Times New Roman" panose="02020603050405020304" pitchFamily="18" charset="0"/>
              </a:rPr>
              <a:t>11</a:t>
            </a:r>
            <a:r>
              <a:rPr lang="zh-CN" altLang="zh-CN">
                <a:solidFill>
                  <a:srgbClr val="33CCCC"/>
                </a:solidFill>
                <a:latin typeface="Times New Roman" panose="02020603050405020304" pitchFamily="18" charset="0"/>
              </a:rPr>
              <a:t>0000000010000000101011010001100001011101100011100101001001010100101010110010001111101011011100000000100000000000</a:t>
            </a:r>
            <a:r>
              <a:rPr lang="zh-CN" altLang="zh-CN">
                <a:solidFill>
                  <a:srgbClr val="000080"/>
                </a:solidFill>
                <a:latin typeface="Times New Roman" panose="02020603050405020304" pitchFamily="18" charset="0"/>
              </a:rPr>
              <a:t>0100010100000000000000000010100000111000011101100100000000000000010000000000011011111011010011111100000010101000000000000111110111001010011000100111101110000010</a:t>
            </a:r>
            <a:r>
              <a:rPr lang="zh-CN" altLang="zh-CN">
                <a:solidFill>
                  <a:srgbClr val="00FF00"/>
                </a:solidFill>
                <a:latin typeface="Times New Roman" panose="02020603050405020304" pitchFamily="18" charset="0"/>
              </a:rPr>
              <a:t>000010000001100000000000010100000011001000000101111001011000010100011001100101101010000000011011010100000000010000000000000000001100111100110001</a:t>
            </a:r>
            <a:r>
              <a:rPr lang="zh-CN" altLang="zh-CN">
                <a:solidFill>
                  <a:srgbClr val="3366FF"/>
                </a:solidFill>
                <a:latin typeface="Times New Roman" panose="02020603050405020304" pitchFamily="18" charset="0"/>
              </a:rPr>
              <a:t>0000000000000000001000000010000000100000001000000010000000100000</a:t>
            </a:r>
          </a:p>
        </p:txBody>
      </p:sp>
      <p:sp>
        <p:nvSpPr>
          <p:cNvPr id="29701" name="AutoShape 5"/>
          <p:cNvSpPr>
            <a:spLocks noChangeArrowheads="1"/>
          </p:cNvSpPr>
          <p:nvPr/>
        </p:nvSpPr>
        <p:spPr bwMode="auto">
          <a:xfrm>
            <a:off x="6329364" y="865189"/>
            <a:ext cx="1978025" cy="765175"/>
          </a:xfrm>
          <a:prstGeom prst="wedgeRoundRectCallout">
            <a:avLst>
              <a:gd name="adj1" fmla="val -168620"/>
              <a:gd name="adj2" fmla="val 105394"/>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a:latin typeface="Times New Roman" panose="02020603050405020304" pitchFamily="18" charset="0"/>
              </a:rPr>
              <a:t>同步序列</a:t>
            </a:r>
          </a:p>
        </p:txBody>
      </p:sp>
      <p:sp>
        <p:nvSpPr>
          <p:cNvPr id="29702" name="AutoShape 6"/>
          <p:cNvSpPr>
            <a:spLocks noChangeArrowheads="1"/>
          </p:cNvSpPr>
          <p:nvPr/>
        </p:nvSpPr>
        <p:spPr bwMode="auto">
          <a:xfrm>
            <a:off x="7667625" y="1474789"/>
            <a:ext cx="1976438" cy="790575"/>
          </a:xfrm>
          <a:prstGeom prst="wedgeRoundRectCallout">
            <a:avLst>
              <a:gd name="adj1" fmla="val -72491"/>
              <a:gd name="adj2" fmla="val 79319"/>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solidFill>
                  <a:schemeClr val="hlink"/>
                </a:solidFill>
                <a:latin typeface="Times New Roman" panose="02020603050405020304" pitchFamily="18" charset="0"/>
              </a:rPr>
              <a:t>以太帧头</a:t>
            </a:r>
          </a:p>
        </p:txBody>
      </p:sp>
      <p:sp>
        <p:nvSpPr>
          <p:cNvPr id="29703" name="AutoShape 7"/>
          <p:cNvSpPr>
            <a:spLocks noChangeArrowheads="1"/>
          </p:cNvSpPr>
          <p:nvPr/>
        </p:nvSpPr>
        <p:spPr bwMode="auto">
          <a:xfrm>
            <a:off x="7205664" y="2849563"/>
            <a:ext cx="1952625" cy="741362"/>
          </a:xfrm>
          <a:prstGeom prst="wedgeRoundRectCallout">
            <a:avLst>
              <a:gd name="adj1" fmla="val -56421"/>
              <a:gd name="adj2" fmla="val 73343"/>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latin typeface="Times New Roman" panose="02020603050405020304" pitchFamily="18" charset="0"/>
              </a:rPr>
              <a:t>IP报头</a:t>
            </a:r>
          </a:p>
        </p:txBody>
      </p:sp>
      <p:sp>
        <p:nvSpPr>
          <p:cNvPr id="29704" name="AutoShape 8"/>
          <p:cNvSpPr>
            <a:spLocks noChangeArrowheads="1"/>
          </p:cNvSpPr>
          <p:nvPr/>
        </p:nvSpPr>
        <p:spPr bwMode="auto">
          <a:xfrm>
            <a:off x="6096000" y="4197351"/>
            <a:ext cx="2247900" cy="741363"/>
          </a:xfrm>
          <a:prstGeom prst="wedgeRoundRectCallout">
            <a:avLst>
              <a:gd name="adj1" fmla="val -100778"/>
              <a:gd name="adj2" fmla="val 124306"/>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solidFill>
                  <a:schemeClr val="hlink"/>
                </a:solidFill>
                <a:latin typeface="Times New Roman" panose="02020603050405020304" pitchFamily="18" charset="0"/>
              </a:rPr>
              <a:t>TCP报头</a:t>
            </a:r>
          </a:p>
        </p:txBody>
      </p:sp>
      <p:sp>
        <p:nvSpPr>
          <p:cNvPr id="29705" name="AutoShape 9"/>
          <p:cNvSpPr>
            <a:spLocks noChangeArrowheads="1"/>
          </p:cNvSpPr>
          <p:nvPr/>
        </p:nvSpPr>
        <p:spPr bwMode="auto">
          <a:xfrm>
            <a:off x="8456613" y="5011738"/>
            <a:ext cx="1854200" cy="754062"/>
          </a:xfrm>
          <a:prstGeom prst="wedgeRoundRectCallout">
            <a:avLst>
              <a:gd name="adj1" fmla="val -147431"/>
              <a:gd name="adj2" fmla="val 129792"/>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latin typeface="Times New Roman" panose="02020603050405020304" pitchFamily="18" charset="0"/>
              </a:rPr>
              <a:t>数据</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linds(horizontal)">
                                      <p:cBhvr>
                                        <p:cTn id="7" dur="500"/>
                                        <p:tgtEl>
                                          <p:spTgt spid="29698"/>
                                        </p:tgtEl>
                                      </p:cBhvr>
                                    </p:animEffect>
                                  </p:childTnLst>
                                  <p:subTnLst>
                                    <p:set>
                                      <p:cBhvr override="childStyle">
                                        <p:cTn dur="1" fill="hold" display="0" masterRel="nextClick" afterEffect="1"/>
                                        <p:tgtEl>
                                          <p:spTgt spid="2969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9700">
                                            <p:txEl>
                                              <p:pRg st="0" end="0"/>
                                            </p:txEl>
                                          </p:spTgt>
                                        </p:tgtEl>
                                        <p:attrNameLst>
                                          <p:attrName>style.visibility</p:attrName>
                                        </p:attrNameLst>
                                      </p:cBhvr>
                                      <p:to>
                                        <p:strVal val="visible"/>
                                      </p:to>
                                    </p:set>
                                    <p:anim calcmode="lin" valueType="num">
                                      <p:cBhvr additive="base">
                                        <p:cTn id="12" dur="500" fill="hold"/>
                                        <p:tgtEl>
                                          <p:spTgt spid="29700">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2970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9700">
                                            <p:txEl>
                                              <p:pRg st="1" end="1"/>
                                            </p:txEl>
                                          </p:spTgt>
                                        </p:tgtEl>
                                        <p:attrNameLst>
                                          <p:attrName>style.visibility</p:attrName>
                                        </p:attrNameLst>
                                      </p:cBhvr>
                                      <p:to>
                                        <p:strVal val="visible"/>
                                      </p:to>
                                    </p:set>
                                    <p:anim calcmode="lin" valueType="num">
                                      <p:cBhvr additive="base">
                                        <p:cTn id="18" dur="500" fill="hold"/>
                                        <p:tgtEl>
                                          <p:spTgt spid="29700">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2970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29701"/>
                                        </p:tgtEl>
                                        <p:attrNameLst>
                                          <p:attrName>style.visibility</p:attrName>
                                        </p:attrNameLst>
                                      </p:cBhvr>
                                      <p:to>
                                        <p:strVal val="visible"/>
                                      </p:to>
                                    </p:set>
                                    <p:anim calcmode="lin" valueType="num">
                                      <p:cBhvr additive="base">
                                        <p:cTn id="24" dur="500" fill="hold"/>
                                        <p:tgtEl>
                                          <p:spTgt spid="29701"/>
                                        </p:tgtEl>
                                        <p:attrNameLst>
                                          <p:attrName>ppt_x</p:attrName>
                                        </p:attrNameLst>
                                      </p:cBhvr>
                                      <p:tavLst>
                                        <p:tav tm="0">
                                          <p:val>
                                            <p:strVal val="1+#ppt_w/2"/>
                                          </p:val>
                                        </p:tav>
                                        <p:tav tm="100000">
                                          <p:val>
                                            <p:strVal val="#ppt_x"/>
                                          </p:val>
                                        </p:tav>
                                      </p:tavLst>
                                    </p:anim>
                                    <p:anim calcmode="lin" valueType="num">
                                      <p:cBhvr additive="base">
                                        <p:cTn id="25"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9702"/>
                                        </p:tgtEl>
                                        <p:attrNameLst>
                                          <p:attrName>style.visibility</p:attrName>
                                        </p:attrNameLst>
                                      </p:cBhvr>
                                      <p:to>
                                        <p:strVal val="visible"/>
                                      </p:to>
                                    </p:set>
                                    <p:anim calcmode="lin" valueType="num">
                                      <p:cBhvr additive="base">
                                        <p:cTn id="30" dur="500" fill="hold"/>
                                        <p:tgtEl>
                                          <p:spTgt spid="29702"/>
                                        </p:tgtEl>
                                        <p:attrNameLst>
                                          <p:attrName>ppt_x</p:attrName>
                                        </p:attrNameLst>
                                      </p:cBhvr>
                                      <p:tavLst>
                                        <p:tav tm="0">
                                          <p:val>
                                            <p:strVal val="1+#ppt_w/2"/>
                                          </p:val>
                                        </p:tav>
                                        <p:tav tm="100000">
                                          <p:val>
                                            <p:strVal val="#ppt_x"/>
                                          </p:val>
                                        </p:tav>
                                      </p:tavLst>
                                    </p:anim>
                                    <p:anim calcmode="lin" valueType="num">
                                      <p:cBhvr additive="base">
                                        <p:cTn id="31" dur="500" fill="hold"/>
                                        <p:tgtEl>
                                          <p:spTgt spid="29702"/>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9703"/>
                                        </p:tgtEl>
                                        <p:attrNameLst>
                                          <p:attrName>style.visibility</p:attrName>
                                        </p:attrNameLst>
                                      </p:cBhvr>
                                      <p:to>
                                        <p:strVal val="visible"/>
                                      </p:to>
                                    </p:set>
                                    <p:anim calcmode="lin" valueType="num">
                                      <p:cBhvr additive="base">
                                        <p:cTn id="36" dur="500" fill="hold"/>
                                        <p:tgtEl>
                                          <p:spTgt spid="29703"/>
                                        </p:tgtEl>
                                        <p:attrNameLst>
                                          <p:attrName>ppt_x</p:attrName>
                                        </p:attrNameLst>
                                      </p:cBhvr>
                                      <p:tavLst>
                                        <p:tav tm="0">
                                          <p:val>
                                            <p:strVal val="1+#ppt_w/2"/>
                                          </p:val>
                                        </p:tav>
                                        <p:tav tm="100000">
                                          <p:val>
                                            <p:strVal val="#ppt_x"/>
                                          </p:val>
                                        </p:tav>
                                      </p:tavLst>
                                    </p:anim>
                                    <p:anim calcmode="lin" valueType="num">
                                      <p:cBhvr additive="base">
                                        <p:cTn id="37" dur="500" fill="hold"/>
                                        <p:tgtEl>
                                          <p:spTgt spid="29703"/>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9704"/>
                                        </p:tgtEl>
                                        <p:attrNameLst>
                                          <p:attrName>style.visibility</p:attrName>
                                        </p:attrNameLst>
                                      </p:cBhvr>
                                      <p:to>
                                        <p:strVal val="visible"/>
                                      </p:to>
                                    </p:set>
                                    <p:anim calcmode="lin" valueType="num">
                                      <p:cBhvr additive="base">
                                        <p:cTn id="42" dur="500" fill="hold"/>
                                        <p:tgtEl>
                                          <p:spTgt spid="29704"/>
                                        </p:tgtEl>
                                        <p:attrNameLst>
                                          <p:attrName>ppt_x</p:attrName>
                                        </p:attrNameLst>
                                      </p:cBhvr>
                                      <p:tavLst>
                                        <p:tav tm="0">
                                          <p:val>
                                            <p:strVal val="1+#ppt_w/2"/>
                                          </p:val>
                                        </p:tav>
                                        <p:tav tm="100000">
                                          <p:val>
                                            <p:strVal val="#ppt_x"/>
                                          </p:val>
                                        </p:tav>
                                      </p:tavLst>
                                    </p:anim>
                                    <p:anim calcmode="lin" valueType="num">
                                      <p:cBhvr additive="base">
                                        <p:cTn id="43" dur="500" fill="hold"/>
                                        <p:tgtEl>
                                          <p:spTgt spid="29704"/>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9705"/>
                                        </p:tgtEl>
                                        <p:attrNameLst>
                                          <p:attrName>style.visibility</p:attrName>
                                        </p:attrNameLst>
                                      </p:cBhvr>
                                      <p:to>
                                        <p:strVal val="visible"/>
                                      </p:to>
                                    </p:set>
                                    <p:anim calcmode="lin" valueType="num">
                                      <p:cBhvr additive="base">
                                        <p:cTn id="48" dur="500" fill="hold"/>
                                        <p:tgtEl>
                                          <p:spTgt spid="29705"/>
                                        </p:tgtEl>
                                        <p:attrNameLst>
                                          <p:attrName>ppt_x</p:attrName>
                                        </p:attrNameLst>
                                      </p:cBhvr>
                                      <p:tavLst>
                                        <p:tav tm="0">
                                          <p:val>
                                            <p:strVal val="1+#ppt_w/2"/>
                                          </p:val>
                                        </p:tav>
                                        <p:tav tm="100000">
                                          <p:val>
                                            <p:strVal val="#ppt_x"/>
                                          </p:val>
                                        </p:tav>
                                      </p:tavLst>
                                    </p:anim>
                                    <p:anim calcmode="lin" valueType="num">
                                      <p:cBhvr additive="base">
                                        <p:cTn id="49" dur="500" fill="hold"/>
                                        <p:tgtEl>
                                          <p:spTgt spid="297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0" grpId="0" build="p"/>
      <p:bldP spid="29701" grpId="0" animBg="1"/>
      <p:bldP spid="29702" grpId="0" animBg="1"/>
      <p:bldP spid="29703" grpId="0" animBg="1"/>
      <p:bldP spid="29704" grpId="0" animBg="1"/>
      <p:bldP spid="2970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305301" y="227013"/>
            <a:ext cx="3579813" cy="696912"/>
          </a:xfrm>
        </p:spPr>
        <p:txBody>
          <a:bodyPr/>
          <a:lstStyle/>
          <a:p>
            <a:pPr eaLnBrk="1" hangingPunct="1"/>
            <a:r>
              <a:rPr lang="zh-CN" altLang="zh-CN"/>
              <a:t>以太网帧格式</a:t>
            </a:r>
          </a:p>
        </p:txBody>
      </p:sp>
      <p:sp>
        <p:nvSpPr>
          <p:cNvPr id="30723" name="Text Box 3"/>
          <p:cNvSpPr txBox="1">
            <a:spLocks noChangeArrowheads="1"/>
          </p:cNvSpPr>
          <p:nvPr/>
        </p:nvSpPr>
        <p:spPr bwMode="auto">
          <a:xfrm>
            <a:off x="4725989" y="1508126"/>
            <a:ext cx="2738437" cy="51911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a:latin typeface="Times New Roman" panose="02020603050405020304" pitchFamily="18" charset="0"/>
              </a:rPr>
              <a:t>以太网帧格式：</a:t>
            </a:r>
          </a:p>
        </p:txBody>
      </p:sp>
      <p:sp>
        <p:nvSpPr>
          <p:cNvPr id="30724" name="Text Box 4"/>
          <p:cNvSpPr txBox="1">
            <a:spLocks noChangeArrowheads="1"/>
          </p:cNvSpPr>
          <p:nvPr/>
        </p:nvSpPr>
        <p:spPr bwMode="auto">
          <a:xfrm>
            <a:off x="1524000" y="2117725"/>
            <a:ext cx="9144000" cy="156966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2400">
                <a:latin typeface="Times New Roman" panose="02020603050405020304" pitchFamily="18" charset="0"/>
              </a:rPr>
              <a:t> </a:t>
            </a:r>
          </a:p>
          <a:p>
            <a:pPr eaLnBrk="1" hangingPunct="1">
              <a:spcBef>
                <a:spcPct val="50000"/>
              </a:spcBef>
              <a:buFont typeface="Wingdings" panose="05000000000000000000" pitchFamily="2" charset="2"/>
              <a:buNone/>
            </a:pPr>
            <a:r>
              <a:rPr lang="zh-CN" altLang="zh-CN" sz="2400">
                <a:latin typeface="Times New Roman" panose="02020603050405020304" pitchFamily="18" charset="0"/>
              </a:rPr>
              <a:t>Preamble   Destination  Address   Source  Address   Type   Data     FCS</a:t>
            </a:r>
          </a:p>
          <a:p>
            <a:pPr eaLnBrk="1" hangingPunct="1">
              <a:spcBef>
                <a:spcPct val="50000"/>
              </a:spcBef>
              <a:buFont typeface="Wingdings" panose="05000000000000000000" pitchFamily="2" charset="2"/>
              <a:buNone/>
            </a:pPr>
            <a:r>
              <a:rPr lang="zh-CN" altLang="zh-CN" sz="2400">
                <a:latin typeface="Times New Roman" panose="02020603050405020304" pitchFamily="18" charset="0"/>
              </a:rPr>
              <a:t>长度 8               6                                     6                   2      48~1500  4</a:t>
            </a:r>
          </a:p>
        </p:txBody>
      </p:sp>
      <p:sp>
        <p:nvSpPr>
          <p:cNvPr id="30725" name="Line 5"/>
          <p:cNvSpPr>
            <a:spLocks noChangeShapeType="1"/>
          </p:cNvSpPr>
          <p:nvPr/>
        </p:nvSpPr>
        <p:spPr bwMode="auto">
          <a:xfrm>
            <a:off x="1524000" y="2543175"/>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6" name="Line 6"/>
          <p:cNvSpPr>
            <a:spLocks noChangeShapeType="1"/>
          </p:cNvSpPr>
          <p:nvPr/>
        </p:nvSpPr>
        <p:spPr bwMode="auto">
          <a:xfrm>
            <a:off x="1524000" y="2543175"/>
            <a:ext cx="0" cy="712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7" name="Line 7"/>
          <p:cNvSpPr>
            <a:spLocks noChangeShapeType="1"/>
          </p:cNvSpPr>
          <p:nvPr/>
        </p:nvSpPr>
        <p:spPr bwMode="auto">
          <a:xfrm>
            <a:off x="1524000" y="3255963"/>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8" name="Line 8"/>
          <p:cNvSpPr>
            <a:spLocks noChangeShapeType="1"/>
          </p:cNvSpPr>
          <p:nvPr/>
        </p:nvSpPr>
        <p:spPr bwMode="auto">
          <a:xfrm flipV="1">
            <a:off x="10601325" y="2543176"/>
            <a:ext cx="0" cy="690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9" name="Line 9"/>
          <p:cNvSpPr>
            <a:spLocks noChangeShapeType="1"/>
          </p:cNvSpPr>
          <p:nvPr/>
        </p:nvSpPr>
        <p:spPr bwMode="auto">
          <a:xfrm>
            <a:off x="2928938" y="2543175"/>
            <a:ext cx="0" cy="712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0" name="Line 10"/>
          <p:cNvSpPr>
            <a:spLocks noChangeShapeType="1"/>
          </p:cNvSpPr>
          <p:nvPr/>
        </p:nvSpPr>
        <p:spPr bwMode="auto">
          <a:xfrm>
            <a:off x="5649913" y="2543176"/>
            <a:ext cx="0" cy="690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1" name="Line 11"/>
          <p:cNvSpPr>
            <a:spLocks noChangeShapeType="1"/>
          </p:cNvSpPr>
          <p:nvPr/>
        </p:nvSpPr>
        <p:spPr bwMode="auto">
          <a:xfrm flipH="1">
            <a:off x="7813676" y="2565401"/>
            <a:ext cx="22225" cy="690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2" name="Line 12"/>
          <p:cNvSpPr>
            <a:spLocks noChangeShapeType="1"/>
          </p:cNvSpPr>
          <p:nvPr/>
        </p:nvSpPr>
        <p:spPr bwMode="auto">
          <a:xfrm>
            <a:off x="8750300" y="2543175"/>
            <a:ext cx="0" cy="712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3" name="Line 13"/>
          <p:cNvSpPr>
            <a:spLocks noChangeShapeType="1"/>
          </p:cNvSpPr>
          <p:nvPr/>
        </p:nvSpPr>
        <p:spPr bwMode="auto">
          <a:xfrm>
            <a:off x="9620250" y="2543175"/>
            <a:ext cx="0" cy="712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4" name="Text Box 14"/>
          <p:cNvSpPr txBox="1">
            <a:spLocks noChangeArrowheads="1"/>
          </p:cNvSpPr>
          <p:nvPr/>
        </p:nvSpPr>
        <p:spPr bwMode="auto">
          <a:xfrm>
            <a:off x="2036764" y="4259263"/>
            <a:ext cx="8118475" cy="51911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  </a:t>
            </a:r>
            <a:r>
              <a:rPr lang="zh-CN" altLang="zh-CN" b="1">
                <a:latin typeface="华文楷体" panose="02010600040101010101" pitchFamily="2" charset="-122"/>
                <a:ea typeface="华文楷体" panose="02010600040101010101" pitchFamily="2" charset="-122"/>
              </a:rPr>
              <a:t>Type 域的以态数据的类型：IP、ARP、ICMP</a:t>
            </a:r>
            <a:r>
              <a:rPr lang="zh-CN" altLang="zh-CN" b="1">
                <a:latin typeface="Times New Roman" panose="02020603050405020304" pitchFamily="18" charset="0"/>
                <a:ea typeface="华文楷体" panose="02010600040101010101" pitchFamily="2" charset="-122"/>
              </a:rPr>
              <a:t>……</a:t>
            </a:r>
            <a:endParaRPr lang="zh-CN" altLang="zh-CN" b="1">
              <a:latin typeface="华文楷体" panose="02010600040101010101" pitchFamily="2" charset="-122"/>
              <a:ea typeface="华文楷体" panose="02010600040101010101" pitchFamily="2" charset="-122"/>
            </a:endParaRPr>
          </a:p>
        </p:txBody>
      </p:sp>
    </p:spTree>
  </p:cSld>
  <p:clrMapOvr>
    <a:masterClrMapping/>
  </p:clrMapOvr>
  <p:transition spd="med">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724">
                                            <p:txEl>
                                              <p:pRg st="1" end="1"/>
                                            </p:txEl>
                                          </p:spTgt>
                                        </p:tgtEl>
                                        <p:attrNameLst>
                                          <p:attrName>style.visibility</p:attrName>
                                        </p:attrNameLst>
                                      </p:cBhvr>
                                      <p:to>
                                        <p:strVal val="visible"/>
                                      </p:to>
                                    </p:set>
                                    <p:anim calcmode="lin" valueType="num">
                                      <p:cBhvr additive="base">
                                        <p:cTn id="13" dur="500" fill="hold"/>
                                        <p:tgtEl>
                                          <p:spTgt spid="307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0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0724">
                                            <p:txEl>
                                              <p:pRg st="2" end="2"/>
                                            </p:txEl>
                                          </p:spTgt>
                                        </p:tgtEl>
                                        <p:attrNameLst>
                                          <p:attrName>style.visibility</p:attrName>
                                        </p:attrNameLst>
                                      </p:cBhvr>
                                      <p:to>
                                        <p:strVal val="visible"/>
                                      </p:to>
                                    </p:set>
                                    <p:anim calcmode="lin" valueType="num">
                                      <p:cBhvr additive="base">
                                        <p:cTn id="19" dur="500" fill="hold"/>
                                        <p:tgtEl>
                                          <p:spTgt spid="307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07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0734">
                                            <p:txEl>
                                              <p:pRg st="0" end="0"/>
                                            </p:txEl>
                                          </p:spTgt>
                                        </p:tgtEl>
                                        <p:attrNameLst>
                                          <p:attrName>style.visibility</p:attrName>
                                        </p:attrNameLst>
                                      </p:cBhvr>
                                      <p:to>
                                        <p:strVal val="visible"/>
                                      </p:to>
                                    </p:set>
                                    <p:anim calcmode="lin" valueType="num">
                                      <p:cBhvr additive="base">
                                        <p:cTn id="25" dur="500" fill="hold"/>
                                        <p:tgtEl>
                                          <p:spTgt spid="30734">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073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p:bldP spid="3073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656139" y="261939"/>
            <a:ext cx="2878137" cy="625475"/>
          </a:xfrm>
        </p:spPr>
        <p:txBody>
          <a:bodyPr>
            <a:normAutofit fontScale="90000"/>
          </a:bodyPr>
          <a:lstStyle/>
          <a:p>
            <a:pPr algn="ctr" eaLnBrk="1" hangingPunct="1"/>
            <a:r>
              <a:rPr lang="zh-CN" altLang="zh-CN"/>
              <a:t>流量控制</a:t>
            </a:r>
          </a:p>
        </p:txBody>
      </p:sp>
      <p:sp>
        <p:nvSpPr>
          <p:cNvPr id="31747" name="Text Box 3"/>
          <p:cNvSpPr txBox="1">
            <a:spLocks noChangeArrowheads="1"/>
          </p:cNvSpPr>
          <p:nvPr/>
        </p:nvSpPr>
        <p:spPr bwMode="auto">
          <a:xfrm>
            <a:off x="3266282" y="1641695"/>
            <a:ext cx="5657850" cy="204311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rgbClr val="66CCFF"/>
              </a:buClr>
              <a:buSzTx/>
              <a:buFont typeface="Wingdings" panose="05000000000000000000" pitchFamily="2" charset="2"/>
              <a:buChar char="§"/>
            </a:pPr>
            <a:r>
              <a:rPr lang="zh-CN" altLang="zh-CN" b="1">
                <a:latin typeface="Times New Roman" panose="02020603050405020304" pitchFamily="18" charset="0"/>
                <a:ea typeface="华文楷体" panose="02010600040101010101" pitchFamily="2" charset="-122"/>
              </a:rPr>
              <a:t>停等协议</a:t>
            </a:r>
          </a:p>
          <a:p>
            <a:pPr eaLnBrk="1" hangingPunct="1">
              <a:spcBef>
                <a:spcPct val="50000"/>
              </a:spcBef>
              <a:buClr>
                <a:srgbClr val="66CCFF"/>
              </a:buClr>
              <a:buSzTx/>
              <a:buFont typeface="Wingdings" panose="05000000000000000000" pitchFamily="2" charset="2"/>
              <a:buChar char="§"/>
            </a:pPr>
            <a:r>
              <a:rPr lang="zh-CN" altLang="zh-CN" b="1">
                <a:latin typeface="Times New Roman" panose="02020603050405020304" pitchFamily="18" charset="0"/>
                <a:ea typeface="华文楷体" panose="02010600040101010101" pitchFamily="2" charset="-122"/>
              </a:rPr>
              <a:t>滑动窗口协议</a:t>
            </a:r>
          </a:p>
          <a:p>
            <a:pPr eaLnBrk="1" hangingPunct="1">
              <a:spcBef>
                <a:spcPct val="50000"/>
              </a:spcBef>
              <a:buClr>
                <a:srgbClr val="66CCFF"/>
              </a:buClr>
              <a:buSzTx/>
              <a:buFont typeface="Wingdings" panose="05000000000000000000" pitchFamily="2" charset="2"/>
              <a:buChar char="§"/>
            </a:pPr>
            <a:r>
              <a:rPr lang="zh-CN" altLang="zh-CN" b="1">
                <a:latin typeface="Times New Roman" panose="02020603050405020304" pitchFamily="18" charset="0"/>
                <a:ea typeface="华文楷体" panose="02010600040101010101" pitchFamily="2" charset="-122"/>
              </a:rPr>
              <a:t>其它流量控制协议</a:t>
            </a:r>
          </a:p>
        </p:txBody>
      </p:sp>
      <p:sp>
        <p:nvSpPr>
          <p:cNvPr id="31748" name="Rectangle 4"/>
          <p:cNvSpPr>
            <a:spLocks noChangeArrowheads="1"/>
          </p:cNvSpPr>
          <p:nvPr/>
        </p:nvSpPr>
        <p:spPr bwMode="auto">
          <a:xfrm>
            <a:off x="7277101" y="2319338"/>
            <a:ext cx="703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3600">
                <a:solidFill>
                  <a:schemeClr val="tx2"/>
                </a:solidFill>
                <a:latin typeface="Times New Roman" panose="02020603050405020304" pitchFamily="18" charset="0"/>
              </a:rPr>
              <a:t>√</a:t>
            </a:r>
          </a:p>
        </p:txBody>
      </p:sp>
      <p:sp>
        <p:nvSpPr>
          <p:cNvPr id="31749" name="Rectangle 5"/>
          <p:cNvSpPr>
            <a:spLocks noChangeArrowheads="1"/>
          </p:cNvSpPr>
          <p:nvPr/>
        </p:nvSpPr>
        <p:spPr bwMode="auto">
          <a:xfrm>
            <a:off x="7442305" y="3022601"/>
            <a:ext cx="437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3600">
                <a:solidFill>
                  <a:schemeClr val="tx2"/>
                </a:solidFill>
                <a:latin typeface="Times New Roman" panose="02020603050405020304" pitchFamily="18"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822576" y="225425"/>
            <a:ext cx="6575425" cy="673100"/>
          </a:xfrm>
        </p:spPr>
        <p:txBody>
          <a:bodyPr>
            <a:normAutofit fontScale="90000"/>
          </a:bodyPr>
          <a:lstStyle/>
          <a:p>
            <a:pPr algn="ctr" eaLnBrk="1" hangingPunct="1"/>
            <a:r>
              <a:rPr lang="zh-CN" altLang="zh-CN"/>
              <a:t>链路层没有解决的问题</a:t>
            </a:r>
          </a:p>
        </p:txBody>
      </p:sp>
      <p:sp>
        <p:nvSpPr>
          <p:cNvPr id="32771" name="Rectangle 3"/>
          <p:cNvSpPr>
            <a:spLocks noChangeArrowheads="1"/>
          </p:cNvSpPr>
          <p:nvPr/>
        </p:nvSpPr>
        <p:spPr bwMode="auto">
          <a:xfrm>
            <a:off x="2190751" y="3286125"/>
            <a:ext cx="741363" cy="717550"/>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A</a:t>
            </a:r>
          </a:p>
        </p:txBody>
      </p:sp>
      <p:sp>
        <p:nvSpPr>
          <p:cNvPr id="32772" name="Rectangle 4"/>
          <p:cNvSpPr>
            <a:spLocks noChangeArrowheads="1"/>
          </p:cNvSpPr>
          <p:nvPr/>
        </p:nvSpPr>
        <p:spPr bwMode="auto">
          <a:xfrm>
            <a:off x="9112251" y="3309939"/>
            <a:ext cx="741363" cy="668337"/>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B</a:t>
            </a:r>
          </a:p>
        </p:txBody>
      </p:sp>
      <p:grpSp>
        <p:nvGrpSpPr>
          <p:cNvPr id="32773" name="Group 5"/>
          <p:cNvGrpSpPr>
            <a:grpSpLocks/>
          </p:cNvGrpSpPr>
          <p:nvPr/>
        </p:nvGrpSpPr>
        <p:grpSpPr bwMode="auto">
          <a:xfrm>
            <a:off x="4017963" y="2100264"/>
            <a:ext cx="1435100" cy="1508125"/>
            <a:chOff x="0" y="0"/>
            <a:chExt cx="904" cy="950"/>
          </a:xfrm>
        </p:grpSpPr>
        <p:sp>
          <p:nvSpPr>
            <p:cNvPr id="32812" name="Text Box 6"/>
            <p:cNvSpPr txBox="1">
              <a:spLocks noChangeArrowheads="1"/>
            </p:cNvSpPr>
            <p:nvPr/>
          </p:nvSpPr>
          <p:spPr bwMode="auto">
            <a:xfrm>
              <a:off x="16" y="14"/>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2813" name="Line 7"/>
            <p:cNvSpPr>
              <a:spLocks noChangeShapeType="1"/>
            </p:cNvSpPr>
            <p:nvPr/>
          </p:nvSpPr>
          <p:spPr bwMode="auto">
            <a:xfrm>
              <a:off x="0" y="0"/>
              <a:ext cx="1" cy="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4" name="Line 8"/>
            <p:cNvSpPr>
              <a:spLocks noChangeShapeType="1"/>
            </p:cNvSpPr>
            <p:nvPr/>
          </p:nvSpPr>
          <p:spPr bwMode="auto">
            <a:xfrm>
              <a:off x="872" y="16"/>
              <a:ext cx="1" cy="3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5" name="Line 9"/>
            <p:cNvSpPr>
              <a:spLocks noChangeShapeType="1"/>
            </p:cNvSpPr>
            <p:nvPr/>
          </p:nvSpPr>
          <p:spPr bwMode="auto">
            <a:xfrm flipV="1">
              <a:off x="1" y="327"/>
              <a:ext cx="872"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78" name="Group 10"/>
          <p:cNvGrpSpPr>
            <a:grpSpLocks/>
          </p:cNvGrpSpPr>
          <p:nvPr/>
        </p:nvGrpSpPr>
        <p:grpSpPr bwMode="auto">
          <a:xfrm>
            <a:off x="5402263" y="2006601"/>
            <a:ext cx="1606550" cy="663575"/>
            <a:chOff x="0" y="0"/>
            <a:chExt cx="1012" cy="418"/>
          </a:xfrm>
        </p:grpSpPr>
        <p:sp>
          <p:nvSpPr>
            <p:cNvPr id="32808" name="Text Box 11"/>
            <p:cNvSpPr txBox="1">
              <a:spLocks noChangeArrowheads="1"/>
            </p:cNvSpPr>
            <p:nvPr/>
          </p:nvSpPr>
          <p:spPr bwMode="auto">
            <a:xfrm>
              <a:off x="11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2809" name="Line 12"/>
            <p:cNvSpPr>
              <a:spLocks noChangeShapeType="1"/>
            </p:cNvSpPr>
            <p:nvPr/>
          </p:nvSpPr>
          <p:spPr bwMode="auto">
            <a:xfrm>
              <a:off x="1012" y="60"/>
              <a:ext cx="0" cy="3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0" name="Line 13"/>
            <p:cNvSpPr>
              <a:spLocks noChangeShapeType="1"/>
            </p:cNvSpPr>
            <p:nvPr/>
          </p:nvSpPr>
          <p:spPr bwMode="auto">
            <a:xfrm flipV="1">
              <a:off x="31" y="138"/>
              <a:ext cx="950" cy="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1" name="Line 14"/>
            <p:cNvSpPr>
              <a:spLocks noChangeShapeType="1"/>
            </p:cNvSpPr>
            <p:nvPr/>
          </p:nvSpPr>
          <p:spPr bwMode="auto">
            <a:xfrm>
              <a:off x="0" y="60"/>
              <a:ext cx="0" cy="2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83" name="Group 15"/>
          <p:cNvGrpSpPr>
            <a:grpSpLocks/>
          </p:cNvGrpSpPr>
          <p:nvPr/>
        </p:nvGrpSpPr>
        <p:grpSpPr bwMode="auto">
          <a:xfrm>
            <a:off x="6845300" y="2233614"/>
            <a:ext cx="1409700" cy="1474787"/>
            <a:chOff x="0" y="0"/>
            <a:chExt cx="888" cy="929"/>
          </a:xfrm>
        </p:grpSpPr>
        <p:sp>
          <p:nvSpPr>
            <p:cNvPr id="32804" name="Text Box 16"/>
            <p:cNvSpPr txBox="1">
              <a:spLocks noChangeArrowheads="1"/>
            </p:cNvSpPr>
            <p:nvPr/>
          </p:nvSpPr>
          <p:spPr bwMode="auto">
            <a:xfrm>
              <a:off x="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2805" name="Line 17"/>
            <p:cNvSpPr>
              <a:spLocks noChangeShapeType="1"/>
            </p:cNvSpPr>
            <p:nvPr/>
          </p:nvSpPr>
          <p:spPr bwMode="auto">
            <a:xfrm flipH="1">
              <a:off x="804" y="25"/>
              <a:ext cx="1" cy="9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6" name="Line 18"/>
            <p:cNvSpPr>
              <a:spLocks noChangeShapeType="1"/>
            </p:cNvSpPr>
            <p:nvPr/>
          </p:nvSpPr>
          <p:spPr bwMode="auto">
            <a:xfrm>
              <a:off x="42" y="134"/>
              <a:ext cx="778"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7" name="Line 19"/>
            <p:cNvSpPr>
              <a:spLocks noChangeShapeType="1"/>
            </p:cNvSpPr>
            <p:nvPr/>
          </p:nvSpPr>
          <p:spPr bwMode="auto">
            <a:xfrm>
              <a:off x="11" y="25"/>
              <a:ext cx="31"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788" name="Line 20"/>
          <p:cNvSpPr>
            <a:spLocks noChangeShapeType="1"/>
          </p:cNvSpPr>
          <p:nvPr/>
        </p:nvSpPr>
        <p:spPr bwMode="auto">
          <a:xfrm>
            <a:off x="4143375" y="3683000"/>
            <a:ext cx="0" cy="180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9" name="Line 21"/>
          <p:cNvSpPr>
            <a:spLocks noChangeShapeType="1"/>
          </p:cNvSpPr>
          <p:nvPr/>
        </p:nvSpPr>
        <p:spPr bwMode="auto">
          <a:xfrm flipH="1">
            <a:off x="8121650" y="3805239"/>
            <a:ext cx="1588" cy="175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0" name="Line 22"/>
          <p:cNvSpPr>
            <a:spLocks noChangeShapeType="1"/>
          </p:cNvSpPr>
          <p:nvPr/>
        </p:nvSpPr>
        <p:spPr bwMode="auto">
          <a:xfrm>
            <a:off x="4168776" y="4943475"/>
            <a:ext cx="3978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9" name="WordArt 23"/>
          <p:cNvSpPr>
            <a:spLocks noChangeArrowheads="1" noChangeShapeType="1" noTextEdit="1"/>
          </p:cNvSpPr>
          <p:nvPr/>
        </p:nvSpPr>
        <p:spPr bwMode="auto">
          <a:xfrm>
            <a:off x="5345114" y="4846639"/>
            <a:ext cx="941387" cy="325437"/>
          </a:xfrm>
          <a:prstGeom prst="rect">
            <a:avLst/>
          </a:prstGeom>
        </p:spPr>
        <p:txBody>
          <a:bodyPr wrap="none" fromWordArt="1">
            <a:prstTxWarp prst="textDoubleWave1">
              <a:avLst>
                <a:gd name="adj1" fmla="val 0"/>
                <a:gd name="adj2" fmla="val -10000"/>
              </a:avLst>
            </a:prstTxWarp>
          </a:bodyPr>
          <a:lstStyle/>
          <a:p>
            <a:pPr algn="ctr"/>
            <a:r>
              <a:rPr lang="en-US" altLang="zh-CN"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rPr>
              <a:t>?</a:t>
            </a:r>
            <a:endParaRPr lang="zh-CN" altLang="en-US"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endParaRPr>
          </a:p>
        </p:txBody>
      </p:sp>
      <p:sp>
        <p:nvSpPr>
          <p:cNvPr id="32792" name="AutoShape 24"/>
          <p:cNvSpPr>
            <a:spLocks noChangeArrowheads="1"/>
          </p:cNvSpPr>
          <p:nvPr/>
        </p:nvSpPr>
        <p:spPr bwMode="auto">
          <a:xfrm>
            <a:off x="3179764" y="5461000"/>
            <a:ext cx="5462587" cy="965200"/>
          </a:xfrm>
          <a:prstGeom prst="wedgeRoundRectCallout">
            <a:avLst>
              <a:gd name="adj1" fmla="val -5681"/>
              <a:gd name="adj2" fmla="val -80593"/>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这些是通信子网内必须解决的问题 → 引入</a:t>
            </a:r>
            <a:r>
              <a:rPr lang="zh-CN" altLang="zh-CN" b="1">
                <a:solidFill>
                  <a:schemeClr val="hlink"/>
                </a:solidFill>
                <a:latin typeface="华文楷体" panose="02010600040101010101" pitchFamily="2" charset="-122"/>
                <a:ea typeface="华文楷体" panose="02010600040101010101" pitchFamily="2" charset="-122"/>
              </a:rPr>
              <a:t>网络层</a:t>
            </a:r>
          </a:p>
        </p:txBody>
      </p:sp>
      <p:sp>
        <p:nvSpPr>
          <p:cNvPr id="32793" name="AutoShape 25"/>
          <p:cNvSpPr>
            <a:spLocks noChangeArrowheads="1"/>
          </p:cNvSpPr>
          <p:nvPr/>
        </p:nvSpPr>
        <p:spPr bwMode="auto">
          <a:xfrm>
            <a:off x="7183439" y="963613"/>
            <a:ext cx="3246437" cy="1814512"/>
          </a:xfrm>
          <a:prstGeom prst="wedgeRoundRectCallout">
            <a:avLst>
              <a:gd name="adj1" fmla="val -43838"/>
              <a:gd name="adj2" fmla="val 74495"/>
              <a:gd name="adj3" fmla="val 16667"/>
            </a:avLst>
          </a:prstGeom>
          <a:solidFill>
            <a:srgbClr val="CCFFFF"/>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b="1">
                <a:solidFill>
                  <a:srgbClr val="CC0000"/>
                </a:solidFill>
                <a:latin typeface="华文楷体" panose="02010600040101010101" pitchFamily="2" charset="-122"/>
                <a:ea typeface="华文楷体" panose="02010600040101010101" pitchFamily="2" charset="-122"/>
              </a:rPr>
              <a:t>网络层的主要功能：确保分组在通信子网内（从源IMP到目的IMP之间）的传输</a:t>
            </a:r>
          </a:p>
        </p:txBody>
      </p:sp>
      <p:grpSp>
        <p:nvGrpSpPr>
          <p:cNvPr id="32794" name="Group 26"/>
          <p:cNvGrpSpPr>
            <a:grpSpLocks/>
          </p:cNvGrpSpPr>
          <p:nvPr/>
        </p:nvGrpSpPr>
        <p:grpSpPr bwMode="auto">
          <a:xfrm>
            <a:off x="2932114" y="2595564"/>
            <a:ext cx="6154737" cy="2124075"/>
            <a:chOff x="0" y="0"/>
            <a:chExt cx="3877" cy="1338"/>
          </a:xfrm>
        </p:grpSpPr>
        <p:grpSp>
          <p:nvGrpSpPr>
            <p:cNvPr id="2" name="Group 27"/>
            <p:cNvGrpSpPr>
              <a:grpSpLocks/>
            </p:cNvGrpSpPr>
            <p:nvPr/>
          </p:nvGrpSpPr>
          <p:grpSpPr bwMode="auto">
            <a:xfrm>
              <a:off x="0" y="0"/>
              <a:ext cx="3877" cy="1338"/>
              <a:chOff x="0" y="0"/>
              <a:chExt cx="3877" cy="1338"/>
            </a:xfrm>
          </p:grpSpPr>
          <p:sp>
            <p:nvSpPr>
              <p:cNvPr id="32786" name="Oval 28"/>
              <p:cNvSpPr>
                <a:spLocks noChangeArrowheads="1"/>
              </p:cNvSpPr>
              <p:nvPr/>
            </p:nvSpPr>
            <p:spPr bwMode="auto">
              <a:xfrm>
                <a:off x="670" y="561"/>
                <a:ext cx="218"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2787" name="Oval 29"/>
              <p:cNvSpPr>
                <a:spLocks noChangeArrowheads="1"/>
              </p:cNvSpPr>
              <p:nvPr/>
            </p:nvSpPr>
            <p:spPr bwMode="auto">
              <a:xfrm>
                <a:off x="1418" y="15"/>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 name="Oval 30"/>
              <p:cNvSpPr>
                <a:spLocks noChangeArrowheads="1"/>
              </p:cNvSpPr>
              <p:nvPr/>
            </p:nvSpPr>
            <p:spPr bwMode="auto">
              <a:xfrm>
                <a:off x="2367" y="0"/>
                <a:ext cx="249" cy="264"/>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 name="Oval 31"/>
              <p:cNvSpPr>
                <a:spLocks noChangeArrowheads="1"/>
              </p:cNvSpPr>
              <p:nvPr/>
            </p:nvSpPr>
            <p:spPr bwMode="auto">
              <a:xfrm>
                <a:off x="3083" y="622"/>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 name="Oval 32"/>
              <p:cNvSpPr>
                <a:spLocks noChangeArrowheads="1"/>
              </p:cNvSpPr>
              <p:nvPr/>
            </p:nvSpPr>
            <p:spPr bwMode="auto">
              <a:xfrm>
                <a:off x="1448" y="1136"/>
                <a:ext cx="187"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2791" name="Oval 33"/>
              <p:cNvSpPr>
                <a:spLocks noChangeArrowheads="1"/>
              </p:cNvSpPr>
              <p:nvPr/>
            </p:nvSpPr>
            <p:spPr bwMode="auto">
              <a:xfrm>
                <a:off x="2367" y="1105"/>
                <a:ext cx="265"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6" name="Group 34"/>
              <p:cNvGrpSpPr>
                <a:grpSpLocks/>
              </p:cNvGrpSpPr>
              <p:nvPr/>
            </p:nvGrpSpPr>
            <p:grpSpPr bwMode="auto">
              <a:xfrm>
                <a:off x="0" y="77"/>
                <a:ext cx="3877" cy="1168"/>
                <a:chOff x="0" y="0"/>
                <a:chExt cx="3877" cy="1168"/>
              </a:xfrm>
            </p:grpSpPr>
            <p:sp>
              <p:nvSpPr>
                <p:cNvPr id="7" name="Line 35"/>
                <p:cNvSpPr>
                  <a:spLocks noChangeShapeType="1"/>
                </p:cNvSpPr>
                <p:nvPr/>
              </p:nvSpPr>
              <p:spPr bwMode="auto">
                <a:xfrm flipV="1">
                  <a:off x="779" y="94"/>
                  <a:ext cx="669"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36"/>
                <p:cNvSpPr>
                  <a:spLocks noChangeShapeType="1"/>
                </p:cNvSpPr>
                <p:nvPr/>
              </p:nvSpPr>
              <p:spPr bwMode="auto">
                <a:xfrm>
                  <a:off x="1682" y="0"/>
                  <a:ext cx="747"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5" name="Line 37"/>
                <p:cNvSpPr>
                  <a:spLocks noChangeShapeType="1"/>
                </p:cNvSpPr>
                <p:nvPr/>
              </p:nvSpPr>
              <p:spPr bwMode="auto">
                <a:xfrm>
                  <a:off x="2585" y="94"/>
                  <a:ext cx="638"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6" name="Line 38"/>
                <p:cNvSpPr>
                  <a:spLocks noChangeShapeType="1"/>
                </p:cNvSpPr>
                <p:nvPr/>
              </p:nvSpPr>
              <p:spPr bwMode="auto">
                <a:xfrm flipV="1">
                  <a:off x="2569" y="717"/>
                  <a:ext cx="607"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7" name="Line 39"/>
                <p:cNvSpPr>
                  <a:spLocks noChangeShapeType="1"/>
                </p:cNvSpPr>
                <p:nvPr/>
              </p:nvSpPr>
              <p:spPr bwMode="auto">
                <a:xfrm>
                  <a:off x="841" y="670"/>
                  <a:ext cx="638" cy="4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8" name="Line 40"/>
                <p:cNvSpPr>
                  <a:spLocks noChangeShapeType="1"/>
                </p:cNvSpPr>
                <p:nvPr/>
              </p:nvSpPr>
              <p:spPr bwMode="auto">
                <a:xfrm>
                  <a:off x="1635" y="1168"/>
                  <a:ext cx="8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9" name="Line 41"/>
                <p:cNvSpPr>
                  <a:spLocks noChangeShapeType="1"/>
                </p:cNvSpPr>
                <p:nvPr/>
              </p:nvSpPr>
              <p:spPr bwMode="auto">
                <a:xfrm>
                  <a:off x="1604" y="125"/>
                  <a:ext cx="949" cy="9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0" name="Line 42"/>
                <p:cNvSpPr>
                  <a:spLocks noChangeShapeType="1"/>
                </p:cNvSpPr>
                <p:nvPr/>
              </p:nvSpPr>
              <p:spPr bwMode="auto">
                <a:xfrm flipH="1">
                  <a:off x="2507" y="156"/>
                  <a:ext cx="31" cy="8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1" name="Line 43"/>
                <p:cNvSpPr>
                  <a:spLocks noChangeShapeType="1"/>
                </p:cNvSpPr>
                <p:nvPr/>
              </p:nvSpPr>
              <p:spPr bwMode="auto">
                <a:xfrm flipH="1">
                  <a:off x="1495" y="125"/>
                  <a:ext cx="93" cy="9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2" name="Line 44"/>
                <p:cNvSpPr>
                  <a:spLocks noChangeShapeType="1"/>
                </p:cNvSpPr>
                <p:nvPr/>
              </p:nvSpPr>
              <p:spPr bwMode="auto">
                <a:xfrm>
                  <a:off x="0" y="592"/>
                  <a:ext cx="6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3" name="Line 45"/>
                <p:cNvSpPr>
                  <a:spLocks noChangeShapeType="1"/>
                </p:cNvSpPr>
                <p:nvPr/>
              </p:nvSpPr>
              <p:spPr bwMode="auto">
                <a:xfrm>
                  <a:off x="3347" y="654"/>
                  <a:ext cx="530"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2784" name="Text Box 46"/>
            <p:cNvSpPr txBox="1">
              <a:spLocks noChangeArrowheads="1"/>
            </p:cNvSpPr>
            <p:nvPr/>
          </p:nvSpPr>
          <p:spPr bwMode="auto">
            <a:xfrm>
              <a:off x="374" y="233"/>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IMP</a:t>
              </a:r>
            </a:p>
          </p:txBody>
        </p:sp>
        <p:sp>
          <p:nvSpPr>
            <p:cNvPr id="32785" name="Text Box 47"/>
            <p:cNvSpPr txBox="1">
              <a:spLocks noChangeArrowheads="1"/>
            </p:cNvSpPr>
            <p:nvPr/>
          </p:nvSpPr>
          <p:spPr bwMode="auto">
            <a:xfrm>
              <a:off x="3163" y="936"/>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IMP</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1+#ppt_w/2"/>
                                          </p:val>
                                        </p:tav>
                                        <p:tav tm="100000">
                                          <p:val>
                                            <p:strVal val="#ppt_x"/>
                                          </p:val>
                                        </p:tav>
                                      </p:tavLst>
                                    </p:anim>
                                    <p:anim calcmode="lin" valueType="num">
                                      <p:cBhvr additive="base">
                                        <p:cTn id="8"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1+#ppt_w/2"/>
                                          </p:val>
                                        </p:tav>
                                        <p:tav tm="100000">
                                          <p:val>
                                            <p:strVal val="#ppt_x"/>
                                          </p:val>
                                        </p:tav>
                                      </p:tavLst>
                                    </p:anim>
                                    <p:anim calcmode="lin" valueType="num">
                                      <p:cBhvr additive="base">
                                        <p:cTn id="14"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2794"/>
                                        </p:tgtEl>
                                        <p:attrNameLst>
                                          <p:attrName>style.visibility</p:attrName>
                                        </p:attrNameLst>
                                      </p:cBhvr>
                                      <p:to>
                                        <p:strVal val="visible"/>
                                      </p:to>
                                    </p:set>
                                    <p:anim calcmode="lin" valueType="num">
                                      <p:cBhvr additive="base">
                                        <p:cTn id="19" dur="500" fill="hold"/>
                                        <p:tgtEl>
                                          <p:spTgt spid="32794"/>
                                        </p:tgtEl>
                                        <p:attrNameLst>
                                          <p:attrName>ppt_x</p:attrName>
                                        </p:attrNameLst>
                                      </p:cBhvr>
                                      <p:tavLst>
                                        <p:tav tm="0">
                                          <p:val>
                                            <p:strVal val="1+#ppt_w/2"/>
                                          </p:val>
                                        </p:tav>
                                        <p:tav tm="100000">
                                          <p:val>
                                            <p:strVal val="#ppt_x"/>
                                          </p:val>
                                        </p:tav>
                                      </p:tavLst>
                                    </p:anim>
                                    <p:anim calcmode="lin" valueType="num">
                                      <p:cBhvr additive="base">
                                        <p:cTn id="20" dur="500" fill="hold"/>
                                        <p:tgtEl>
                                          <p:spTgt spid="3279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2773"/>
                                        </p:tgtEl>
                                        <p:attrNameLst>
                                          <p:attrName>style.visibility</p:attrName>
                                        </p:attrNameLst>
                                      </p:cBhvr>
                                      <p:to>
                                        <p:strVal val="visible"/>
                                      </p:to>
                                    </p:set>
                                    <p:anim calcmode="lin" valueType="num">
                                      <p:cBhvr additive="base">
                                        <p:cTn id="25" dur="500" fill="hold"/>
                                        <p:tgtEl>
                                          <p:spTgt spid="32773"/>
                                        </p:tgtEl>
                                        <p:attrNameLst>
                                          <p:attrName>ppt_x</p:attrName>
                                        </p:attrNameLst>
                                      </p:cBhvr>
                                      <p:tavLst>
                                        <p:tav tm="0">
                                          <p:val>
                                            <p:strVal val="1+#ppt_w/2"/>
                                          </p:val>
                                        </p:tav>
                                        <p:tav tm="100000">
                                          <p:val>
                                            <p:strVal val="#ppt_x"/>
                                          </p:val>
                                        </p:tav>
                                      </p:tavLst>
                                    </p:anim>
                                    <p:anim calcmode="lin" valueType="num">
                                      <p:cBhvr additive="base">
                                        <p:cTn id="26" dur="500" fill="hold"/>
                                        <p:tgtEl>
                                          <p:spTgt spid="3277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32778"/>
                                        </p:tgtEl>
                                        <p:attrNameLst>
                                          <p:attrName>style.visibility</p:attrName>
                                        </p:attrNameLst>
                                      </p:cBhvr>
                                      <p:to>
                                        <p:strVal val="visible"/>
                                      </p:to>
                                    </p:set>
                                    <p:anim calcmode="lin" valueType="num">
                                      <p:cBhvr additive="base">
                                        <p:cTn id="31" dur="500" fill="hold"/>
                                        <p:tgtEl>
                                          <p:spTgt spid="32778"/>
                                        </p:tgtEl>
                                        <p:attrNameLst>
                                          <p:attrName>ppt_x</p:attrName>
                                        </p:attrNameLst>
                                      </p:cBhvr>
                                      <p:tavLst>
                                        <p:tav tm="0">
                                          <p:val>
                                            <p:strVal val="1+#ppt_w/2"/>
                                          </p:val>
                                        </p:tav>
                                        <p:tav tm="100000">
                                          <p:val>
                                            <p:strVal val="#ppt_x"/>
                                          </p:val>
                                        </p:tav>
                                      </p:tavLst>
                                    </p:anim>
                                    <p:anim calcmode="lin" valueType="num">
                                      <p:cBhvr additive="base">
                                        <p:cTn id="32" dur="500" fill="hold"/>
                                        <p:tgtEl>
                                          <p:spTgt spid="3277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32783"/>
                                        </p:tgtEl>
                                        <p:attrNameLst>
                                          <p:attrName>style.visibility</p:attrName>
                                        </p:attrNameLst>
                                      </p:cBhvr>
                                      <p:to>
                                        <p:strVal val="visible"/>
                                      </p:to>
                                    </p:set>
                                    <p:anim calcmode="lin" valueType="num">
                                      <p:cBhvr additive="base">
                                        <p:cTn id="37" dur="500" fill="hold"/>
                                        <p:tgtEl>
                                          <p:spTgt spid="32783"/>
                                        </p:tgtEl>
                                        <p:attrNameLst>
                                          <p:attrName>ppt_x</p:attrName>
                                        </p:attrNameLst>
                                      </p:cBhvr>
                                      <p:tavLst>
                                        <p:tav tm="0">
                                          <p:val>
                                            <p:strVal val="1+#ppt_w/2"/>
                                          </p:val>
                                        </p:tav>
                                        <p:tav tm="100000">
                                          <p:val>
                                            <p:strVal val="#ppt_x"/>
                                          </p:val>
                                        </p:tav>
                                      </p:tavLst>
                                    </p:anim>
                                    <p:anim calcmode="lin" valueType="num">
                                      <p:cBhvr additive="base">
                                        <p:cTn id="38" dur="500" fill="hold"/>
                                        <p:tgtEl>
                                          <p:spTgt spid="3278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32788"/>
                                        </p:tgtEl>
                                        <p:attrNameLst>
                                          <p:attrName>style.visibility</p:attrName>
                                        </p:attrNameLst>
                                      </p:cBhvr>
                                      <p:to>
                                        <p:strVal val="visible"/>
                                      </p:to>
                                    </p:set>
                                    <p:anim calcmode="lin" valueType="num">
                                      <p:cBhvr additive="base">
                                        <p:cTn id="43" dur="500" fill="hold"/>
                                        <p:tgtEl>
                                          <p:spTgt spid="32788"/>
                                        </p:tgtEl>
                                        <p:attrNameLst>
                                          <p:attrName>ppt_x</p:attrName>
                                        </p:attrNameLst>
                                      </p:cBhvr>
                                      <p:tavLst>
                                        <p:tav tm="0">
                                          <p:val>
                                            <p:strVal val="1+#ppt_w/2"/>
                                          </p:val>
                                        </p:tav>
                                        <p:tav tm="100000">
                                          <p:val>
                                            <p:strVal val="#ppt_x"/>
                                          </p:val>
                                        </p:tav>
                                      </p:tavLst>
                                    </p:anim>
                                    <p:anim calcmode="lin" valueType="num">
                                      <p:cBhvr additive="base">
                                        <p:cTn id="44" dur="500" fill="hold"/>
                                        <p:tgtEl>
                                          <p:spTgt spid="32788"/>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32789"/>
                                        </p:tgtEl>
                                        <p:attrNameLst>
                                          <p:attrName>style.visibility</p:attrName>
                                        </p:attrNameLst>
                                      </p:cBhvr>
                                      <p:to>
                                        <p:strVal val="visible"/>
                                      </p:to>
                                    </p:set>
                                    <p:anim calcmode="lin" valueType="num">
                                      <p:cBhvr additive="base">
                                        <p:cTn id="49" dur="500" fill="hold"/>
                                        <p:tgtEl>
                                          <p:spTgt spid="32789"/>
                                        </p:tgtEl>
                                        <p:attrNameLst>
                                          <p:attrName>ppt_x</p:attrName>
                                        </p:attrNameLst>
                                      </p:cBhvr>
                                      <p:tavLst>
                                        <p:tav tm="0">
                                          <p:val>
                                            <p:strVal val="1+#ppt_w/2"/>
                                          </p:val>
                                        </p:tav>
                                        <p:tav tm="100000">
                                          <p:val>
                                            <p:strVal val="#ppt_x"/>
                                          </p:val>
                                        </p:tav>
                                      </p:tavLst>
                                    </p:anim>
                                    <p:anim calcmode="lin" valueType="num">
                                      <p:cBhvr additive="base">
                                        <p:cTn id="50" dur="500" fill="hold"/>
                                        <p:tgtEl>
                                          <p:spTgt spid="3278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32790"/>
                                        </p:tgtEl>
                                        <p:attrNameLst>
                                          <p:attrName>style.visibility</p:attrName>
                                        </p:attrNameLst>
                                      </p:cBhvr>
                                      <p:to>
                                        <p:strVal val="visible"/>
                                      </p:to>
                                    </p:set>
                                    <p:anim calcmode="lin" valueType="num">
                                      <p:cBhvr additive="base">
                                        <p:cTn id="55" dur="500" fill="hold"/>
                                        <p:tgtEl>
                                          <p:spTgt spid="32790"/>
                                        </p:tgtEl>
                                        <p:attrNameLst>
                                          <p:attrName>ppt_x</p:attrName>
                                        </p:attrNameLst>
                                      </p:cBhvr>
                                      <p:tavLst>
                                        <p:tav tm="0">
                                          <p:val>
                                            <p:strVal val="1+#ppt_w/2"/>
                                          </p:val>
                                        </p:tav>
                                        <p:tav tm="100000">
                                          <p:val>
                                            <p:strVal val="#ppt_x"/>
                                          </p:val>
                                        </p:tav>
                                      </p:tavLst>
                                    </p:anim>
                                    <p:anim calcmode="lin" valueType="num">
                                      <p:cBhvr additive="base">
                                        <p:cTn id="56" dur="500" fill="hold"/>
                                        <p:tgtEl>
                                          <p:spTgt spid="32790"/>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nodeType="clickEffect">
                                  <p:stCondLst>
                                    <p:cond delay="0"/>
                                  </p:stCondLst>
                                  <p:childTnLst>
                                    <p:set>
                                      <p:cBhvr>
                                        <p:cTn id="60" dur="1" fill="hold">
                                          <p:stCondLst>
                                            <p:cond delay="0"/>
                                          </p:stCondLst>
                                        </p:cTn>
                                        <p:tgtEl>
                                          <p:spTgt spid="32779"/>
                                        </p:tgtEl>
                                        <p:attrNameLst>
                                          <p:attrName>style.visibility</p:attrName>
                                        </p:attrNameLst>
                                      </p:cBhvr>
                                      <p:to>
                                        <p:strVal val="visible"/>
                                      </p:to>
                                    </p:set>
                                    <p:anim calcmode="lin" valueType="num">
                                      <p:cBhvr additive="base">
                                        <p:cTn id="61" dur="500" fill="hold"/>
                                        <p:tgtEl>
                                          <p:spTgt spid="32779"/>
                                        </p:tgtEl>
                                        <p:attrNameLst>
                                          <p:attrName>ppt_x</p:attrName>
                                        </p:attrNameLst>
                                      </p:cBhvr>
                                      <p:tavLst>
                                        <p:tav tm="0">
                                          <p:val>
                                            <p:strVal val="1+#ppt_w/2"/>
                                          </p:val>
                                        </p:tav>
                                        <p:tav tm="100000">
                                          <p:val>
                                            <p:strVal val="#ppt_x"/>
                                          </p:val>
                                        </p:tav>
                                      </p:tavLst>
                                    </p:anim>
                                    <p:anim calcmode="lin" valueType="num">
                                      <p:cBhvr additive="base">
                                        <p:cTn id="62" dur="500" fill="hold"/>
                                        <p:tgtEl>
                                          <p:spTgt spid="32779"/>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32792"/>
                                        </p:tgtEl>
                                        <p:attrNameLst>
                                          <p:attrName>style.visibility</p:attrName>
                                        </p:attrNameLst>
                                      </p:cBhvr>
                                      <p:to>
                                        <p:strVal val="visible"/>
                                      </p:to>
                                    </p:set>
                                    <p:anim calcmode="lin" valueType="num">
                                      <p:cBhvr additive="base">
                                        <p:cTn id="67" dur="500" fill="hold"/>
                                        <p:tgtEl>
                                          <p:spTgt spid="32792"/>
                                        </p:tgtEl>
                                        <p:attrNameLst>
                                          <p:attrName>ppt_x</p:attrName>
                                        </p:attrNameLst>
                                      </p:cBhvr>
                                      <p:tavLst>
                                        <p:tav tm="0">
                                          <p:val>
                                            <p:strVal val="1+#ppt_w/2"/>
                                          </p:val>
                                        </p:tav>
                                        <p:tav tm="100000">
                                          <p:val>
                                            <p:strVal val="#ppt_x"/>
                                          </p:val>
                                        </p:tav>
                                      </p:tavLst>
                                    </p:anim>
                                    <p:anim calcmode="lin" valueType="num">
                                      <p:cBhvr additive="base">
                                        <p:cTn id="68" dur="500" fill="hold"/>
                                        <p:tgtEl>
                                          <p:spTgt spid="32792"/>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32793"/>
                                        </p:tgtEl>
                                        <p:attrNameLst>
                                          <p:attrName>style.visibility</p:attrName>
                                        </p:attrNameLst>
                                      </p:cBhvr>
                                      <p:to>
                                        <p:strVal val="visible"/>
                                      </p:to>
                                    </p:set>
                                    <p:anim calcmode="lin" valueType="num">
                                      <p:cBhvr additive="base">
                                        <p:cTn id="73" dur="500" fill="hold"/>
                                        <p:tgtEl>
                                          <p:spTgt spid="32793"/>
                                        </p:tgtEl>
                                        <p:attrNameLst>
                                          <p:attrName>ppt_x</p:attrName>
                                        </p:attrNameLst>
                                      </p:cBhvr>
                                      <p:tavLst>
                                        <p:tav tm="0">
                                          <p:val>
                                            <p:strVal val="1+#ppt_w/2"/>
                                          </p:val>
                                        </p:tav>
                                        <p:tav tm="100000">
                                          <p:val>
                                            <p:strVal val="#ppt_x"/>
                                          </p:val>
                                        </p:tav>
                                      </p:tavLst>
                                    </p:anim>
                                    <p:anim calcmode="lin" valueType="num">
                                      <p:cBhvr additive="base">
                                        <p:cTn id="74" dur="500" fill="hold"/>
                                        <p:tgtEl>
                                          <p:spTgt spid="327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nimBg="1"/>
      <p:bldP spid="32772" grpId="0" animBg="1"/>
      <p:bldP spid="32792" grpId="0" animBg="1"/>
      <p:bldP spid="3279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592514" y="206376"/>
            <a:ext cx="5005387" cy="822325"/>
          </a:xfrm>
        </p:spPr>
        <p:txBody>
          <a:bodyPr/>
          <a:lstStyle/>
          <a:p>
            <a:pPr eaLnBrk="1" hangingPunct="1"/>
            <a:r>
              <a:rPr lang="zh-CN" altLang="zh-CN"/>
              <a:t>网络层解决的问题</a:t>
            </a:r>
          </a:p>
        </p:txBody>
      </p:sp>
      <p:sp>
        <p:nvSpPr>
          <p:cNvPr id="33795" name="Text Box 3"/>
          <p:cNvSpPr txBox="1">
            <a:spLocks noChangeArrowheads="1"/>
          </p:cNvSpPr>
          <p:nvPr/>
        </p:nvSpPr>
        <p:spPr bwMode="auto">
          <a:xfrm>
            <a:off x="2117726" y="1754189"/>
            <a:ext cx="8031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3200">
              <a:latin typeface="隶书" panose="02010509060101010101" pitchFamily="49" charset="-122"/>
              <a:ea typeface="隶书" panose="02010509060101010101" pitchFamily="49" charset="-122"/>
            </a:endParaRPr>
          </a:p>
        </p:txBody>
      </p:sp>
      <p:sp>
        <p:nvSpPr>
          <p:cNvPr id="33796" name="Text Box 4"/>
          <p:cNvSpPr txBox="1">
            <a:spLocks noChangeArrowheads="1"/>
          </p:cNvSpPr>
          <p:nvPr/>
        </p:nvSpPr>
        <p:spPr bwMode="auto">
          <a:xfrm>
            <a:off x="3060700" y="1768476"/>
            <a:ext cx="6478588" cy="380841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76238" indent="-3762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编址</a:t>
            </a:r>
            <a:r>
              <a:rPr lang="zh-CN" altLang="zh-CN" sz="2400" b="1">
                <a:solidFill>
                  <a:srgbClr val="FF0000"/>
                </a:solidFill>
                <a:latin typeface="华文楷体" panose="02010600040101010101" pitchFamily="2" charset="-122"/>
                <a:ea typeface="华文楷体" panose="02010600040101010101" pitchFamily="2" charset="-122"/>
              </a:rPr>
              <a:t>（IP地址、域名、MAC地址）</a:t>
            </a: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地址转换</a:t>
            </a:r>
            <a:r>
              <a:rPr lang="zh-CN" altLang="zh-CN" sz="2400" b="1">
                <a:solidFill>
                  <a:srgbClr val="FF0000"/>
                </a:solidFill>
                <a:latin typeface="华文楷体" panose="02010600040101010101" pitchFamily="2" charset="-122"/>
                <a:ea typeface="华文楷体" panose="02010600040101010101" pitchFamily="2" charset="-122"/>
              </a:rPr>
              <a:t>（MAC地址-IP地址-域名、NAT）</a:t>
            </a:r>
          </a:p>
          <a:p>
            <a:pPr eaLnBrk="1" hangingPunct="1">
              <a:spcBef>
                <a:spcPct val="10000"/>
              </a:spcBef>
              <a:buClr>
                <a:srgbClr val="66CCFF"/>
              </a:buClr>
              <a:buSzTx/>
              <a:buFont typeface="Wingdings" panose="05000000000000000000" pitchFamily="2" charset="2"/>
              <a:buChar char="§"/>
            </a:pPr>
            <a:r>
              <a:rPr lang="zh-CN" altLang="en-US" sz="2800" b="1">
                <a:solidFill>
                  <a:srgbClr val="FF0000"/>
                </a:solidFill>
                <a:latin typeface="华文楷体" panose="02010600040101010101" pitchFamily="2" charset="-122"/>
                <a:ea typeface="华文楷体" panose="02010600040101010101" pitchFamily="2" charset="-122"/>
              </a:rPr>
              <a:t>分组</a:t>
            </a:r>
            <a:r>
              <a:rPr lang="zh-CN" altLang="zh-CN" sz="2800" b="1">
                <a:solidFill>
                  <a:srgbClr val="FF0000"/>
                </a:solidFill>
                <a:latin typeface="华文楷体" panose="02010600040101010101" pitchFamily="2" charset="-122"/>
                <a:ea typeface="华文楷体" panose="02010600040101010101" pitchFamily="2" charset="-122"/>
              </a:rPr>
              <a:t>转发与路由选择</a:t>
            </a: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拥塞控制</a:t>
            </a:r>
            <a:r>
              <a:rPr lang="zh-CN" altLang="en-US" sz="2800" b="1">
                <a:solidFill>
                  <a:srgbClr val="FF0000"/>
                </a:solidFill>
                <a:latin typeface="华文楷体" panose="02010600040101010101" pitchFamily="2" charset="-122"/>
                <a:ea typeface="华文楷体" panose="02010600040101010101" pitchFamily="2" charset="-122"/>
              </a:rPr>
              <a:t>（路由器拥塞控制）</a:t>
            </a:r>
            <a:endParaRPr lang="zh-CN" altLang="zh-CN" sz="2800" b="1">
              <a:solidFill>
                <a:srgbClr val="FF0000"/>
              </a:solidFill>
              <a:latin typeface="华文楷体" panose="02010600040101010101" pitchFamily="2" charset="-122"/>
              <a:ea typeface="华文楷体" panose="02010600040101010101" pitchFamily="2" charset="-122"/>
            </a:endParaRP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网际互连</a:t>
            </a: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差错检测与恢复</a:t>
            </a: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多路广播 </a:t>
            </a:r>
          </a:p>
          <a:p>
            <a:pPr eaLnBrk="1" hangingPunct="1">
              <a:spcBef>
                <a:spcPct val="10000"/>
              </a:spcBef>
              <a:buClr>
                <a:srgbClr val="66CCFF"/>
              </a:buClr>
              <a:buSzTx/>
              <a:buFont typeface="Wingdings" panose="05000000000000000000" pitchFamily="2" charset="2"/>
              <a:buChar char="§"/>
            </a:pPr>
            <a:r>
              <a:rPr lang="zh-CN" altLang="zh-CN" sz="2800" b="1">
                <a:solidFill>
                  <a:srgbClr val="FF0000"/>
                </a:solidFill>
                <a:latin typeface="华文楷体" panose="02010600040101010101" pitchFamily="2" charset="-122"/>
                <a:ea typeface="华文楷体" panose="02010600040101010101" pitchFamily="2" charset="-122"/>
              </a:rPr>
              <a:t>记帐服务</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nodePh="1">
                                  <p:stCondLst>
                                    <p:cond delay="0"/>
                                  </p:stCondLst>
                                  <p:endCondLst>
                                    <p:cond delay="0"/>
                                  </p:end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3796">
                                            <p:bg/>
                                          </p:spTgt>
                                        </p:tgtEl>
                                        <p:attrNameLst>
                                          <p:attrName>style.visibility</p:attrName>
                                        </p:attrNameLst>
                                      </p:cBhvr>
                                      <p:to>
                                        <p:strVal val="visible"/>
                                      </p:to>
                                    </p:set>
                                    <p:anim calcmode="lin" valueType="num">
                                      <p:cBhvr additive="base">
                                        <p:cTn id="13" dur="500" fill="hold"/>
                                        <p:tgtEl>
                                          <p:spTgt spid="33796">
                                            <p:bg/>
                                          </p:spTgt>
                                        </p:tgtEl>
                                        <p:attrNameLst>
                                          <p:attrName>ppt_x</p:attrName>
                                        </p:attrNameLst>
                                      </p:cBhvr>
                                      <p:tavLst>
                                        <p:tav tm="0">
                                          <p:val>
                                            <p:strVal val="1+#ppt_w/2"/>
                                          </p:val>
                                        </p:tav>
                                        <p:tav tm="100000">
                                          <p:val>
                                            <p:strVal val="#ppt_x"/>
                                          </p:val>
                                        </p:tav>
                                      </p:tavLst>
                                    </p:anim>
                                    <p:anim calcmode="lin" valueType="num">
                                      <p:cBhvr additive="base">
                                        <p:cTn id="14" dur="500" fill="hold"/>
                                        <p:tgtEl>
                                          <p:spTgt spid="33796">
                                            <p:bg/>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3796">
                                            <p:txEl>
                                              <p:pRg st="0" end="0"/>
                                            </p:txEl>
                                          </p:spTgt>
                                        </p:tgtEl>
                                        <p:attrNameLst>
                                          <p:attrName>style.visibility</p:attrName>
                                        </p:attrNameLst>
                                      </p:cBhvr>
                                      <p:to>
                                        <p:strVal val="visible"/>
                                      </p:to>
                                    </p:set>
                                    <p:anim calcmode="lin" valueType="num">
                                      <p:cBhvr additive="base">
                                        <p:cTn id="19" dur="500" fill="hold"/>
                                        <p:tgtEl>
                                          <p:spTgt spid="3379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3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3796">
                                            <p:txEl>
                                              <p:pRg st="1" end="1"/>
                                            </p:txEl>
                                          </p:spTgt>
                                        </p:tgtEl>
                                        <p:attrNameLst>
                                          <p:attrName>style.visibility</p:attrName>
                                        </p:attrNameLst>
                                      </p:cBhvr>
                                      <p:to>
                                        <p:strVal val="visible"/>
                                      </p:to>
                                    </p:set>
                                    <p:anim calcmode="lin" valueType="num">
                                      <p:cBhvr additive="base">
                                        <p:cTn id="25" dur="500" fill="hold"/>
                                        <p:tgtEl>
                                          <p:spTgt spid="33796">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379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3796">
                                            <p:txEl>
                                              <p:pRg st="2" end="2"/>
                                            </p:txEl>
                                          </p:spTgt>
                                        </p:tgtEl>
                                        <p:attrNameLst>
                                          <p:attrName>style.visibility</p:attrName>
                                        </p:attrNameLst>
                                      </p:cBhvr>
                                      <p:to>
                                        <p:strVal val="visible"/>
                                      </p:to>
                                    </p:set>
                                    <p:anim calcmode="lin" valueType="num">
                                      <p:cBhvr additive="base">
                                        <p:cTn id="31" dur="500" fill="hold"/>
                                        <p:tgtEl>
                                          <p:spTgt spid="33796">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379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3796">
                                            <p:txEl>
                                              <p:pRg st="3" end="3"/>
                                            </p:txEl>
                                          </p:spTgt>
                                        </p:tgtEl>
                                        <p:attrNameLst>
                                          <p:attrName>style.visibility</p:attrName>
                                        </p:attrNameLst>
                                      </p:cBhvr>
                                      <p:to>
                                        <p:strVal val="visible"/>
                                      </p:to>
                                    </p:set>
                                    <p:anim calcmode="lin" valueType="num">
                                      <p:cBhvr additive="base">
                                        <p:cTn id="37" dur="500" fill="hold"/>
                                        <p:tgtEl>
                                          <p:spTgt spid="33796">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379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3796">
                                            <p:txEl>
                                              <p:pRg st="4" end="4"/>
                                            </p:txEl>
                                          </p:spTgt>
                                        </p:tgtEl>
                                        <p:attrNameLst>
                                          <p:attrName>style.visibility</p:attrName>
                                        </p:attrNameLst>
                                      </p:cBhvr>
                                      <p:to>
                                        <p:strVal val="visible"/>
                                      </p:to>
                                    </p:set>
                                    <p:anim calcmode="lin" valueType="num">
                                      <p:cBhvr additive="base">
                                        <p:cTn id="43" dur="500" fill="hold"/>
                                        <p:tgtEl>
                                          <p:spTgt spid="33796">
                                            <p:txEl>
                                              <p:pRg st="4" end="4"/>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379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33796">
                                            <p:txEl>
                                              <p:pRg st="5" end="5"/>
                                            </p:txEl>
                                          </p:spTgt>
                                        </p:tgtEl>
                                        <p:attrNameLst>
                                          <p:attrName>style.visibility</p:attrName>
                                        </p:attrNameLst>
                                      </p:cBhvr>
                                      <p:to>
                                        <p:strVal val="visible"/>
                                      </p:to>
                                    </p:set>
                                    <p:anim calcmode="lin" valueType="num">
                                      <p:cBhvr additive="base">
                                        <p:cTn id="49" dur="500" fill="hold"/>
                                        <p:tgtEl>
                                          <p:spTgt spid="33796">
                                            <p:txEl>
                                              <p:pRg st="5" end="5"/>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379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33796">
                                            <p:txEl>
                                              <p:pRg st="6" end="6"/>
                                            </p:txEl>
                                          </p:spTgt>
                                        </p:tgtEl>
                                        <p:attrNameLst>
                                          <p:attrName>style.visibility</p:attrName>
                                        </p:attrNameLst>
                                      </p:cBhvr>
                                      <p:to>
                                        <p:strVal val="visible"/>
                                      </p:to>
                                    </p:set>
                                    <p:anim calcmode="lin" valueType="num">
                                      <p:cBhvr additive="base">
                                        <p:cTn id="55" dur="500" fill="hold"/>
                                        <p:tgtEl>
                                          <p:spTgt spid="33796">
                                            <p:txEl>
                                              <p:pRg st="6" end="6"/>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3379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33796">
                                            <p:txEl>
                                              <p:pRg st="7" end="7"/>
                                            </p:txEl>
                                          </p:spTgt>
                                        </p:tgtEl>
                                        <p:attrNameLst>
                                          <p:attrName>style.visibility</p:attrName>
                                        </p:attrNameLst>
                                      </p:cBhvr>
                                      <p:to>
                                        <p:strVal val="visible"/>
                                      </p:to>
                                    </p:set>
                                    <p:anim calcmode="lin" valueType="num">
                                      <p:cBhvr additive="base">
                                        <p:cTn id="61" dur="500" fill="hold"/>
                                        <p:tgtEl>
                                          <p:spTgt spid="33796">
                                            <p:txEl>
                                              <p:pRg st="7" end="7"/>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3379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33796"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946651" y="234951"/>
            <a:ext cx="2297113" cy="714375"/>
          </a:xfrm>
        </p:spPr>
        <p:txBody>
          <a:bodyPr/>
          <a:lstStyle/>
          <a:p>
            <a:pPr eaLnBrk="1" hangingPunct="1"/>
            <a:r>
              <a:rPr lang="zh-CN" altLang="zh-CN"/>
              <a:t>传输层</a:t>
            </a:r>
          </a:p>
        </p:txBody>
      </p:sp>
      <p:sp>
        <p:nvSpPr>
          <p:cNvPr id="34819" name="Line 3"/>
          <p:cNvSpPr>
            <a:spLocks noChangeShapeType="1"/>
          </p:cNvSpPr>
          <p:nvPr/>
        </p:nvSpPr>
        <p:spPr bwMode="auto">
          <a:xfrm>
            <a:off x="2759075" y="3533776"/>
            <a:ext cx="0" cy="2151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 name="Line 4"/>
          <p:cNvSpPr>
            <a:spLocks noChangeShapeType="1"/>
          </p:cNvSpPr>
          <p:nvPr/>
        </p:nvSpPr>
        <p:spPr bwMode="auto">
          <a:xfrm>
            <a:off x="2784476" y="5264150"/>
            <a:ext cx="69199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1" name="Line 5"/>
          <p:cNvSpPr>
            <a:spLocks noChangeShapeType="1"/>
          </p:cNvSpPr>
          <p:nvPr/>
        </p:nvSpPr>
        <p:spPr bwMode="auto">
          <a:xfrm>
            <a:off x="9705975" y="3509963"/>
            <a:ext cx="0" cy="2074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2" name="WordArt 6"/>
          <p:cNvSpPr>
            <a:spLocks noChangeArrowheads="1" noChangeShapeType="1" noTextEdit="1"/>
          </p:cNvSpPr>
          <p:nvPr/>
        </p:nvSpPr>
        <p:spPr bwMode="auto">
          <a:xfrm>
            <a:off x="6210300" y="5092700"/>
            <a:ext cx="941388" cy="325438"/>
          </a:xfrm>
          <a:prstGeom prst="rect">
            <a:avLst/>
          </a:prstGeom>
        </p:spPr>
        <p:txBody>
          <a:bodyPr wrap="none" fromWordArt="1">
            <a:prstTxWarp prst="textDoubleWave1">
              <a:avLst>
                <a:gd name="adj1" fmla="val 0"/>
                <a:gd name="adj2" fmla="val -10000"/>
              </a:avLst>
            </a:prstTxWarp>
          </a:bodyPr>
          <a:lstStyle/>
          <a:p>
            <a:pPr algn="ctr"/>
            <a:r>
              <a:rPr lang="en-US" altLang="zh-CN"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rPr>
              <a:t>?</a:t>
            </a:r>
            <a:endParaRPr lang="zh-CN" altLang="en-US" sz="4400" b="1" kern="10" spc="-440">
              <a:ln w="12700">
                <a:solidFill>
                  <a:srgbClr val="000099"/>
                </a:solidFill>
                <a:round/>
                <a:headEnd/>
                <a:tailEnd/>
              </a:ln>
              <a:solidFill>
                <a:srgbClr val="33CCFF"/>
              </a:solidFill>
              <a:effectLst>
                <a:outerShdw dist="125724" dir="18900000" algn="ctr" rotWithShape="0">
                  <a:srgbClr val="000099"/>
                </a:outerShdw>
              </a:effectLst>
              <a:latin typeface="宋体" panose="02010600030101010101" pitchFamily="2" charset="-122"/>
            </a:endParaRPr>
          </a:p>
        </p:txBody>
      </p:sp>
      <p:sp>
        <p:nvSpPr>
          <p:cNvPr id="34823" name="Text Box 7"/>
          <p:cNvSpPr txBox="1">
            <a:spLocks noChangeArrowheads="1"/>
          </p:cNvSpPr>
          <p:nvPr/>
        </p:nvSpPr>
        <p:spPr bwMode="auto">
          <a:xfrm>
            <a:off x="3375026" y="5018088"/>
            <a:ext cx="2124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b="1">
                <a:solidFill>
                  <a:schemeClr val="folHlink"/>
                </a:solidFill>
                <a:latin typeface="华文楷体" panose="02010600040101010101" pitchFamily="2" charset="-122"/>
                <a:ea typeface="华文楷体" panose="02010600040101010101" pitchFamily="2" charset="-122"/>
              </a:rPr>
              <a:t>传输层</a:t>
            </a:r>
          </a:p>
        </p:txBody>
      </p:sp>
      <p:sp>
        <p:nvSpPr>
          <p:cNvPr id="34824" name="AutoShape 8"/>
          <p:cNvSpPr>
            <a:spLocks noChangeArrowheads="1"/>
          </p:cNvSpPr>
          <p:nvPr/>
        </p:nvSpPr>
        <p:spPr bwMode="auto">
          <a:xfrm>
            <a:off x="5010151" y="5511801"/>
            <a:ext cx="4881563" cy="989013"/>
          </a:xfrm>
          <a:prstGeom prst="wedgeRoundRectCallout">
            <a:avLst>
              <a:gd name="adj1" fmla="val -48245"/>
              <a:gd name="adj2" fmla="val -70384"/>
              <a:gd name="adj3" fmla="val 16667"/>
            </a:avLst>
          </a:prstGeom>
          <a:solidFill>
            <a:schemeClr val="accent1"/>
          </a:solidFill>
          <a:ln w="9525">
            <a:solidFill>
              <a:schemeClr val="tx1"/>
            </a:solidFill>
            <a:miter lim="800000"/>
            <a:headEnd/>
            <a:tailEnd/>
          </a:ln>
        </p:spPr>
        <p:txBody>
          <a:bodyPr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b="1">
                <a:solidFill>
                  <a:schemeClr val="accent2"/>
                </a:solidFill>
                <a:latin typeface="华文楷体" panose="02010600040101010101" pitchFamily="2" charset="-122"/>
                <a:ea typeface="华文楷体" panose="02010600040101010101" pitchFamily="2" charset="-122"/>
              </a:rPr>
              <a:t>传输层的功能：</a:t>
            </a:r>
            <a:r>
              <a:rPr lang="zh-CN" altLang="zh-CN" sz="2400" b="1">
                <a:solidFill>
                  <a:srgbClr val="FF0000"/>
                </a:solidFill>
                <a:latin typeface="华文楷体" panose="02010600040101010101" pitchFamily="2" charset="-122"/>
                <a:ea typeface="华文楷体" panose="02010600040101010101" pitchFamily="2" charset="-122"/>
              </a:rPr>
              <a:t>确保报文在用户</a:t>
            </a:r>
            <a:r>
              <a:rPr lang="zh-CN" altLang="en-US" sz="2400" b="1">
                <a:solidFill>
                  <a:srgbClr val="FF0000"/>
                </a:solidFill>
                <a:latin typeface="华文楷体" panose="02010600040101010101" pitchFamily="2" charset="-122"/>
                <a:ea typeface="华文楷体" panose="02010600040101010101" pitchFamily="2" charset="-122"/>
              </a:rPr>
              <a:t>应用程序</a:t>
            </a:r>
            <a:r>
              <a:rPr lang="zh-CN" altLang="zh-CN" sz="2400" b="1">
                <a:solidFill>
                  <a:srgbClr val="FF0000"/>
                </a:solidFill>
                <a:latin typeface="华文楷体" panose="02010600040101010101" pitchFamily="2" charset="-122"/>
                <a:ea typeface="华文楷体" panose="02010600040101010101" pitchFamily="2" charset="-122"/>
              </a:rPr>
              <a:t>之间(端到端）的传输</a:t>
            </a:r>
          </a:p>
        </p:txBody>
      </p:sp>
      <p:grpSp>
        <p:nvGrpSpPr>
          <p:cNvPr id="34825" name="Group 9"/>
          <p:cNvGrpSpPr>
            <a:grpSpLocks/>
          </p:cNvGrpSpPr>
          <p:nvPr/>
        </p:nvGrpSpPr>
        <p:grpSpPr bwMode="auto">
          <a:xfrm>
            <a:off x="2363788" y="1536701"/>
            <a:ext cx="7662862" cy="3554413"/>
            <a:chOff x="0" y="0"/>
            <a:chExt cx="4827" cy="2239"/>
          </a:xfrm>
        </p:grpSpPr>
        <p:grpSp>
          <p:nvGrpSpPr>
            <p:cNvPr id="34827" name="Group 10"/>
            <p:cNvGrpSpPr>
              <a:grpSpLocks/>
            </p:cNvGrpSpPr>
            <p:nvPr/>
          </p:nvGrpSpPr>
          <p:grpSpPr bwMode="auto">
            <a:xfrm>
              <a:off x="0" y="0"/>
              <a:ext cx="4827" cy="2239"/>
              <a:chOff x="0" y="0"/>
              <a:chExt cx="4827" cy="2239"/>
            </a:xfrm>
          </p:grpSpPr>
          <p:sp>
            <p:nvSpPr>
              <p:cNvPr id="34830" name="Rectangle 11"/>
              <p:cNvSpPr>
                <a:spLocks noChangeArrowheads="1"/>
              </p:cNvSpPr>
              <p:nvPr/>
            </p:nvSpPr>
            <p:spPr bwMode="auto">
              <a:xfrm>
                <a:off x="0" y="806"/>
                <a:ext cx="467" cy="452"/>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A</a:t>
                </a:r>
              </a:p>
            </p:txBody>
          </p:sp>
          <p:sp>
            <p:nvSpPr>
              <p:cNvPr id="34831" name="Rectangle 12"/>
              <p:cNvSpPr>
                <a:spLocks noChangeArrowheads="1"/>
              </p:cNvSpPr>
              <p:nvPr/>
            </p:nvSpPr>
            <p:spPr bwMode="auto">
              <a:xfrm>
                <a:off x="4360" y="821"/>
                <a:ext cx="467" cy="421"/>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B</a:t>
                </a:r>
              </a:p>
            </p:txBody>
          </p:sp>
          <p:grpSp>
            <p:nvGrpSpPr>
              <p:cNvPr id="34832" name="Group 13"/>
              <p:cNvGrpSpPr>
                <a:grpSpLocks/>
              </p:cNvGrpSpPr>
              <p:nvPr/>
            </p:nvGrpSpPr>
            <p:grpSpPr bwMode="auto">
              <a:xfrm>
                <a:off x="467" y="371"/>
                <a:ext cx="3877" cy="1338"/>
                <a:chOff x="0" y="0"/>
                <a:chExt cx="3877" cy="1338"/>
              </a:xfrm>
            </p:grpSpPr>
            <p:sp>
              <p:nvSpPr>
                <p:cNvPr id="34852" name="Oval 14"/>
                <p:cNvSpPr>
                  <a:spLocks noChangeArrowheads="1"/>
                </p:cNvSpPr>
                <p:nvPr/>
              </p:nvSpPr>
              <p:spPr bwMode="auto">
                <a:xfrm>
                  <a:off x="670" y="561"/>
                  <a:ext cx="218"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4853" name="Oval 15"/>
                <p:cNvSpPr>
                  <a:spLocks noChangeArrowheads="1"/>
                </p:cNvSpPr>
                <p:nvPr/>
              </p:nvSpPr>
              <p:spPr bwMode="auto">
                <a:xfrm>
                  <a:off x="1418" y="15"/>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4854" name="Oval 16"/>
                <p:cNvSpPr>
                  <a:spLocks noChangeArrowheads="1"/>
                </p:cNvSpPr>
                <p:nvPr/>
              </p:nvSpPr>
              <p:spPr bwMode="auto">
                <a:xfrm>
                  <a:off x="2367" y="0"/>
                  <a:ext cx="249" cy="264"/>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4855" name="Oval 17"/>
                <p:cNvSpPr>
                  <a:spLocks noChangeArrowheads="1"/>
                </p:cNvSpPr>
                <p:nvPr/>
              </p:nvSpPr>
              <p:spPr bwMode="auto">
                <a:xfrm>
                  <a:off x="3083" y="622"/>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4856" name="Oval 18"/>
                <p:cNvSpPr>
                  <a:spLocks noChangeArrowheads="1"/>
                </p:cNvSpPr>
                <p:nvPr/>
              </p:nvSpPr>
              <p:spPr bwMode="auto">
                <a:xfrm>
                  <a:off x="1448" y="1136"/>
                  <a:ext cx="187"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34857" name="Oval 19"/>
                <p:cNvSpPr>
                  <a:spLocks noChangeArrowheads="1"/>
                </p:cNvSpPr>
                <p:nvPr/>
              </p:nvSpPr>
              <p:spPr bwMode="auto">
                <a:xfrm>
                  <a:off x="2367" y="1105"/>
                  <a:ext cx="265"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34858" name="Group 20"/>
                <p:cNvGrpSpPr>
                  <a:grpSpLocks/>
                </p:cNvGrpSpPr>
                <p:nvPr/>
              </p:nvGrpSpPr>
              <p:grpSpPr bwMode="auto">
                <a:xfrm>
                  <a:off x="0" y="77"/>
                  <a:ext cx="3877" cy="1168"/>
                  <a:chOff x="0" y="0"/>
                  <a:chExt cx="3877" cy="1168"/>
                </a:xfrm>
              </p:grpSpPr>
              <p:sp>
                <p:nvSpPr>
                  <p:cNvPr id="34859" name="Line 21"/>
                  <p:cNvSpPr>
                    <a:spLocks noChangeShapeType="1"/>
                  </p:cNvSpPr>
                  <p:nvPr/>
                </p:nvSpPr>
                <p:spPr bwMode="auto">
                  <a:xfrm flipV="1">
                    <a:off x="779" y="94"/>
                    <a:ext cx="669"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0" name="Line 22"/>
                  <p:cNvSpPr>
                    <a:spLocks noChangeShapeType="1"/>
                  </p:cNvSpPr>
                  <p:nvPr/>
                </p:nvSpPr>
                <p:spPr bwMode="auto">
                  <a:xfrm>
                    <a:off x="1682" y="0"/>
                    <a:ext cx="747"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1" name="Line 23"/>
                  <p:cNvSpPr>
                    <a:spLocks noChangeShapeType="1"/>
                  </p:cNvSpPr>
                  <p:nvPr/>
                </p:nvSpPr>
                <p:spPr bwMode="auto">
                  <a:xfrm>
                    <a:off x="2585" y="94"/>
                    <a:ext cx="638"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2" name="Line 24"/>
                  <p:cNvSpPr>
                    <a:spLocks noChangeShapeType="1"/>
                  </p:cNvSpPr>
                  <p:nvPr/>
                </p:nvSpPr>
                <p:spPr bwMode="auto">
                  <a:xfrm flipV="1">
                    <a:off x="2569" y="717"/>
                    <a:ext cx="607"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3" name="Line 25"/>
                  <p:cNvSpPr>
                    <a:spLocks noChangeShapeType="1"/>
                  </p:cNvSpPr>
                  <p:nvPr/>
                </p:nvSpPr>
                <p:spPr bwMode="auto">
                  <a:xfrm>
                    <a:off x="841" y="670"/>
                    <a:ext cx="638" cy="4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4" name="Line 26"/>
                  <p:cNvSpPr>
                    <a:spLocks noChangeShapeType="1"/>
                  </p:cNvSpPr>
                  <p:nvPr/>
                </p:nvSpPr>
                <p:spPr bwMode="auto">
                  <a:xfrm>
                    <a:off x="1635" y="1168"/>
                    <a:ext cx="8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5" name="Line 27"/>
                  <p:cNvSpPr>
                    <a:spLocks noChangeShapeType="1"/>
                  </p:cNvSpPr>
                  <p:nvPr/>
                </p:nvSpPr>
                <p:spPr bwMode="auto">
                  <a:xfrm>
                    <a:off x="1604" y="125"/>
                    <a:ext cx="949" cy="9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6" name="Line 28"/>
                  <p:cNvSpPr>
                    <a:spLocks noChangeShapeType="1"/>
                  </p:cNvSpPr>
                  <p:nvPr/>
                </p:nvSpPr>
                <p:spPr bwMode="auto">
                  <a:xfrm flipH="1">
                    <a:off x="2507" y="156"/>
                    <a:ext cx="31" cy="8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7" name="Line 29"/>
                  <p:cNvSpPr>
                    <a:spLocks noChangeShapeType="1"/>
                  </p:cNvSpPr>
                  <p:nvPr/>
                </p:nvSpPr>
                <p:spPr bwMode="auto">
                  <a:xfrm flipH="1">
                    <a:off x="1495" y="125"/>
                    <a:ext cx="93" cy="9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8" name="Line 30"/>
                  <p:cNvSpPr>
                    <a:spLocks noChangeShapeType="1"/>
                  </p:cNvSpPr>
                  <p:nvPr/>
                </p:nvSpPr>
                <p:spPr bwMode="auto">
                  <a:xfrm>
                    <a:off x="0" y="592"/>
                    <a:ext cx="6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9" name="Line 31"/>
                  <p:cNvSpPr>
                    <a:spLocks noChangeShapeType="1"/>
                  </p:cNvSpPr>
                  <p:nvPr/>
                </p:nvSpPr>
                <p:spPr bwMode="auto">
                  <a:xfrm>
                    <a:off x="3347" y="654"/>
                    <a:ext cx="530"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833" name="Group 32"/>
              <p:cNvGrpSpPr>
                <a:grpSpLocks/>
              </p:cNvGrpSpPr>
              <p:nvPr/>
            </p:nvGrpSpPr>
            <p:grpSpPr bwMode="auto">
              <a:xfrm>
                <a:off x="1151" y="59"/>
                <a:ext cx="904" cy="950"/>
                <a:chOff x="0" y="0"/>
                <a:chExt cx="904" cy="950"/>
              </a:xfrm>
            </p:grpSpPr>
            <p:sp>
              <p:nvSpPr>
                <p:cNvPr id="34848" name="Text Box 33"/>
                <p:cNvSpPr txBox="1">
                  <a:spLocks noChangeArrowheads="1"/>
                </p:cNvSpPr>
                <p:nvPr/>
              </p:nvSpPr>
              <p:spPr bwMode="auto">
                <a:xfrm>
                  <a:off x="16" y="14"/>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4849" name="Line 34"/>
                <p:cNvSpPr>
                  <a:spLocks noChangeShapeType="1"/>
                </p:cNvSpPr>
                <p:nvPr/>
              </p:nvSpPr>
              <p:spPr bwMode="auto">
                <a:xfrm>
                  <a:off x="0" y="0"/>
                  <a:ext cx="1" cy="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0" name="Line 35"/>
                <p:cNvSpPr>
                  <a:spLocks noChangeShapeType="1"/>
                </p:cNvSpPr>
                <p:nvPr/>
              </p:nvSpPr>
              <p:spPr bwMode="auto">
                <a:xfrm>
                  <a:off x="872" y="16"/>
                  <a:ext cx="1" cy="3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1" name="Line 36"/>
                <p:cNvSpPr>
                  <a:spLocks noChangeShapeType="1"/>
                </p:cNvSpPr>
                <p:nvPr/>
              </p:nvSpPr>
              <p:spPr bwMode="auto">
                <a:xfrm flipV="1">
                  <a:off x="1" y="327"/>
                  <a:ext cx="872"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4" name="Group 37"/>
              <p:cNvGrpSpPr>
                <a:grpSpLocks/>
              </p:cNvGrpSpPr>
              <p:nvPr/>
            </p:nvGrpSpPr>
            <p:grpSpPr bwMode="auto">
              <a:xfrm>
                <a:off x="2023" y="0"/>
                <a:ext cx="1012" cy="418"/>
                <a:chOff x="0" y="0"/>
                <a:chExt cx="1012" cy="418"/>
              </a:xfrm>
            </p:grpSpPr>
            <p:sp>
              <p:nvSpPr>
                <p:cNvPr id="34844" name="Text Box 38"/>
                <p:cNvSpPr txBox="1">
                  <a:spLocks noChangeArrowheads="1"/>
                </p:cNvSpPr>
                <p:nvPr/>
              </p:nvSpPr>
              <p:spPr bwMode="auto">
                <a:xfrm>
                  <a:off x="11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4845" name="Line 39"/>
                <p:cNvSpPr>
                  <a:spLocks noChangeShapeType="1"/>
                </p:cNvSpPr>
                <p:nvPr/>
              </p:nvSpPr>
              <p:spPr bwMode="auto">
                <a:xfrm>
                  <a:off x="1012" y="60"/>
                  <a:ext cx="0" cy="3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Line 40"/>
                <p:cNvSpPr>
                  <a:spLocks noChangeShapeType="1"/>
                </p:cNvSpPr>
                <p:nvPr/>
              </p:nvSpPr>
              <p:spPr bwMode="auto">
                <a:xfrm flipV="1">
                  <a:off x="31" y="138"/>
                  <a:ext cx="950" cy="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7" name="Line 41"/>
                <p:cNvSpPr>
                  <a:spLocks noChangeShapeType="1"/>
                </p:cNvSpPr>
                <p:nvPr/>
              </p:nvSpPr>
              <p:spPr bwMode="auto">
                <a:xfrm>
                  <a:off x="0" y="60"/>
                  <a:ext cx="0" cy="2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5" name="Group 42"/>
              <p:cNvGrpSpPr>
                <a:grpSpLocks/>
              </p:cNvGrpSpPr>
              <p:nvPr/>
            </p:nvGrpSpPr>
            <p:grpSpPr bwMode="auto">
              <a:xfrm>
                <a:off x="2932" y="143"/>
                <a:ext cx="888" cy="929"/>
                <a:chOff x="0" y="0"/>
                <a:chExt cx="888" cy="929"/>
              </a:xfrm>
            </p:grpSpPr>
            <p:sp>
              <p:nvSpPr>
                <p:cNvPr id="34840" name="Text Box 43"/>
                <p:cNvSpPr txBox="1">
                  <a:spLocks noChangeArrowheads="1"/>
                </p:cNvSpPr>
                <p:nvPr/>
              </p:nvSpPr>
              <p:spPr bwMode="auto">
                <a:xfrm>
                  <a:off x="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链路层</a:t>
                  </a:r>
                </a:p>
              </p:txBody>
            </p:sp>
            <p:sp>
              <p:nvSpPr>
                <p:cNvPr id="34841" name="Line 44"/>
                <p:cNvSpPr>
                  <a:spLocks noChangeShapeType="1"/>
                </p:cNvSpPr>
                <p:nvPr/>
              </p:nvSpPr>
              <p:spPr bwMode="auto">
                <a:xfrm flipH="1">
                  <a:off x="804" y="25"/>
                  <a:ext cx="1" cy="9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2" name="Line 45"/>
                <p:cNvSpPr>
                  <a:spLocks noChangeShapeType="1"/>
                </p:cNvSpPr>
                <p:nvPr/>
              </p:nvSpPr>
              <p:spPr bwMode="auto">
                <a:xfrm>
                  <a:off x="42" y="134"/>
                  <a:ext cx="778"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Line 46"/>
                <p:cNvSpPr>
                  <a:spLocks noChangeShapeType="1"/>
                </p:cNvSpPr>
                <p:nvPr/>
              </p:nvSpPr>
              <p:spPr bwMode="auto">
                <a:xfrm>
                  <a:off x="11" y="25"/>
                  <a:ext cx="31"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4836" name="Line 47"/>
              <p:cNvSpPr>
                <a:spLocks noChangeShapeType="1"/>
              </p:cNvSpPr>
              <p:nvPr/>
            </p:nvSpPr>
            <p:spPr bwMode="auto">
              <a:xfrm>
                <a:off x="1230" y="1056"/>
                <a:ext cx="0" cy="1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Line 48"/>
              <p:cNvSpPr>
                <a:spLocks noChangeShapeType="1"/>
              </p:cNvSpPr>
              <p:nvPr/>
            </p:nvSpPr>
            <p:spPr bwMode="auto">
              <a:xfrm flipH="1">
                <a:off x="3736" y="1133"/>
                <a:ext cx="1" cy="1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Line 49"/>
              <p:cNvSpPr>
                <a:spLocks noChangeShapeType="1"/>
              </p:cNvSpPr>
              <p:nvPr/>
            </p:nvSpPr>
            <p:spPr bwMode="auto">
              <a:xfrm>
                <a:off x="1246" y="1850"/>
                <a:ext cx="250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Text Box 50"/>
              <p:cNvSpPr txBox="1">
                <a:spLocks noChangeArrowheads="1"/>
              </p:cNvSpPr>
              <p:nvPr/>
            </p:nvSpPr>
            <p:spPr bwMode="auto">
              <a:xfrm>
                <a:off x="1867" y="1865"/>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网络层</a:t>
                </a:r>
              </a:p>
            </p:txBody>
          </p:sp>
        </p:grpSp>
        <p:sp>
          <p:nvSpPr>
            <p:cNvPr id="34828" name="Text Box 51"/>
            <p:cNvSpPr txBox="1">
              <a:spLocks noChangeArrowheads="1"/>
            </p:cNvSpPr>
            <p:nvPr/>
          </p:nvSpPr>
          <p:spPr bwMode="auto">
            <a:xfrm>
              <a:off x="872" y="621"/>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IMP</a:t>
              </a:r>
            </a:p>
          </p:txBody>
        </p:sp>
        <p:sp>
          <p:nvSpPr>
            <p:cNvPr id="34829" name="Text Box 52"/>
            <p:cNvSpPr txBox="1">
              <a:spLocks noChangeArrowheads="1"/>
            </p:cNvSpPr>
            <p:nvPr/>
          </p:nvSpPr>
          <p:spPr bwMode="auto">
            <a:xfrm>
              <a:off x="3612" y="650"/>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b="1">
                  <a:latin typeface="华文楷体" panose="02010600040101010101" pitchFamily="2" charset="-122"/>
                  <a:ea typeface="华文楷体" panose="02010600040101010101" pitchFamily="2" charset="-122"/>
                </a:rPr>
                <a:t>IMP</a:t>
              </a:r>
            </a:p>
          </p:txBody>
        </p:sp>
      </p:grpSp>
      <p:sp>
        <p:nvSpPr>
          <p:cNvPr id="2" name="AutoShape 53"/>
          <p:cNvSpPr>
            <a:spLocks noChangeArrowheads="1"/>
          </p:cNvSpPr>
          <p:nvPr/>
        </p:nvSpPr>
        <p:spPr bwMode="auto">
          <a:xfrm>
            <a:off x="3451225" y="2595563"/>
            <a:ext cx="446088" cy="1433512"/>
          </a:xfrm>
          <a:prstGeom prst="irregularSeal1">
            <a:avLst/>
          </a:prstGeom>
          <a:solidFill>
            <a:schemeClr val="hlink"/>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4819"/>
                                        </p:tgtEl>
                                        <p:attrNameLst>
                                          <p:attrName>style.visibility</p:attrName>
                                        </p:attrNameLst>
                                      </p:cBhvr>
                                      <p:to>
                                        <p:strVal val="visible"/>
                                      </p:to>
                                    </p:set>
                                    <p:anim calcmode="lin" valueType="num">
                                      <p:cBhvr additive="base">
                                        <p:cTn id="13" dur="500" fill="hold"/>
                                        <p:tgtEl>
                                          <p:spTgt spid="34819"/>
                                        </p:tgtEl>
                                        <p:attrNameLst>
                                          <p:attrName>ppt_x</p:attrName>
                                        </p:attrNameLst>
                                      </p:cBhvr>
                                      <p:tavLst>
                                        <p:tav tm="0">
                                          <p:val>
                                            <p:strVal val="1+#ppt_w/2"/>
                                          </p:val>
                                        </p:tav>
                                        <p:tav tm="100000">
                                          <p:val>
                                            <p:strVal val="#ppt_x"/>
                                          </p:val>
                                        </p:tav>
                                      </p:tavLst>
                                    </p:anim>
                                    <p:anim calcmode="lin" valueType="num">
                                      <p:cBhvr additive="base">
                                        <p:cTn id="14" dur="500" fill="hold"/>
                                        <p:tgtEl>
                                          <p:spTgt spid="3481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4821"/>
                                        </p:tgtEl>
                                        <p:attrNameLst>
                                          <p:attrName>style.visibility</p:attrName>
                                        </p:attrNameLst>
                                      </p:cBhvr>
                                      <p:to>
                                        <p:strVal val="visible"/>
                                      </p:to>
                                    </p:set>
                                    <p:anim calcmode="lin" valueType="num">
                                      <p:cBhvr additive="base">
                                        <p:cTn id="19" dur="500" fill="hold"/>
                                        <p:tgtEl>
                                          <p:spTgt spid="34821"/>
                                        </p:tgtEl>
                                        <p:attrNameLst>
                                          <p:attrName>ppt_x</p:attrName>
                                        </p:attrNameLst>
                                      </p:cBhvr>
                                      <p:tavLst>
                                        <p:tav tm="0">
                                          <p:val>
                                            <p:strVal val="1+#ppt_w/2"/>
                                          </p:val>
                                        </p:tav>
                                        <p:tav tm="100000">
                                          <p:val>
                                            <p:strVal val="#ppt_x"/>
                                          </p:val>
                                        </p:tav>
                                      </p:tavLst>
                                    </p:anim>
                                    <p:anim calcmode="lin" valueType="num">
                                      <p:cBhvr additive="base">
                                        <p:cTn id="20" dur="500" fill="hold"/>
                                        <p:tgtEl>
                                          <p:spTgt spid="3482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4820"/>
                                        </p:tgtEl>
                                        <p:attrNameLst>
                                          <p:attrName>style.visibility</p:attrName>
                                        </p:attrNameLst>
                                      </p:cBhvr>
                                      <p:to>
                                        <p:strVal val="visible"/>
                                      </p:to>
                                    </p:set>
                                    <p:anim calcmode="lin" valueType="num">
                                      <p:cBhvr additive="base">
                                        <p:cTn id="25" dur="500" fill="hold"/>
                                        <p:tgtEl>
                                          <p:spTgt spid="34820"/>
                                        </p:tgtEl>
                                        <p:attrNameLst>
                                          <p:attrName>ppt_x</p:attrName>
                                        </p:attrNameLst>
                                      </p:cBhvr>
                                      <p:tavLst>
                                        <p:tav tm="0">
                                          <p:val>
                                            <p:strVal val="1+#ppt_w/2"/>
                                          </p:val>
                                        </p:tav>
                                        <p:tav tm="100000">
                                          <p:val>
                                            <p:strVal val="#ppt_x"/>
                                          </p:val>
                                        </p:tav>
                                      </p:tavLst>
                                    </p:anim>
                                    <p:anim calcmode="lin" valueType="num">
                                      <p:cBhvr additive="base">
                                        <p:cTn id="26" dur="500" fill="hold"/>
                                        <p:tgtEl>
                                          <p:spTgt spid="3482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34822"/>
                                        </p:tgtEl>
                                        <p:attrNameLst>
                                          <p:attrName>style.visibility</p:attrName>
                                        </p:attrNameLst>
                                      </p:cBhvr>
                                      <p:to>
                                        <p:strVal val="visible"/>
                                      </p:to>
                                    </p:set>
                                    <p:anim calcmode="lin" valueType="num">
                                      <p:cBhvr additive="base">
                                        <p:cTn id="31" dur="500" fill="hold"/>
                                        <p:tgtEl>
                                          <p:spTgt spid="34822"/>
                                        </p:tgtEl>
                                        <p:attrNameLst>
                                          <p:attrName>ppt_x</p:attrName>
                                        </p:attrNameLst>
                                      </p:cBhvr>
                                      <p:tavLst>
                                        <p:tav tm="0">
                                          <p:val>
                                            <p:strVal val="1+#ppt_w/2"/>
                                          </p:val>
                                        </p:tav>
                                        <p:tav tm="100000">
                                          <p:val>
                                            <p:strVal val="#ppt_x"/>
                                          </p:val>
                                        </p:tav>
                                      </p:tavLst>
                                    </p:anim>
                                    <p:anim calcmode="lin" valueType="num">
                                      <p:cBhvr additive="base">
                                        <p:cTn id="32" dur="500" fill="hold"/>
                                        <p:tgtEl>
                                          <p:spTgt spid="3482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4823">
                                            <p:txEl>
                                              <p:pRg st="0" end="0"/>
                                            </p:txEl>
                                          </p:spTgt>
                                        </p:tgtEl>
                                        <p:attrNameLst>
                                          <p:attrName>style.visibility</p:attrName>
                                        </p:attrNameLst>
                                      </p:cBhvr>
                                      <p:to>
                                        <p:strVal val="visible"/>
                                      </p:to>
                                    </p:set>
                                    <p:anim calcmode="lin" valueType="num">
                                      <p:cBhvr additive="base">
                                        <p:cTn id="37" dur="500" fill="hold"/>
                                        <p:tgtEl>
                                          <p:spTgt spid="34823">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48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4824"/>
                                        </p:tgtEl>
                                        <p:attrNameLst>
                                          <p:attrName>style.visibility</p:attrName>
                                        </p:attrNameLst>
                                      </p:cBhvr>
                                      <p:to>
                                        <p:strVal val="visible"/>
                                      </p:to>
                                    </p:set>
                                    <p:anim calcmode="lin" valueType="num">
                                      <p:cBhvr additive="base">
                                        <p:cTn id="43" dur="500" fill="hold"/>
                                        <p:tgtEl>
                                          <p:spTgt spid="34824"/>
                                        </p:tgtEl>
                                        <p:attrNameLst>
                                          <p:attrName>ppt_x</p:attrName>
                                        </p:attrNameLst>
                                      </p:cBhvr>
                                      <p:tavLst>
                                        <p:tav tm="0">
                                          <p:val>
                                            <p:strVal val="1+#ppt_w/2"/>
                                          </p:val>
                                        </p:tav>
                                        <p:tav tm="100000">
                                          <p:val>
                                            <p:strVal val="#ppt_x"/>
                                          </p:val>
                                        </p:tav>
                                      </p:tavLst>
                                    </p:anim>
                                    <p:anim calcmode="lin" valueType="num">
                                      <p:cBhvr additive="base">
                                        <p:cTn id="44" dur="500" fill="hold"/>
                                        <p:tgtEl>
                                          <p:spTgt spid="348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build="p"/>
      <p:bldP spid="34824" grpId="0" animBg="1"/>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857500" y="207964"/>
            <a:ext cx="6477000" cy="674687"/>
          </a:xfrm>
        </p:spPr>
        <p:txBody>
          <a:bodyPr>
            <a:normAutofit fontScale="90000"/>
          </a:bodyPr>
          <a:lstStyle/>
          <a:p>
            <a:pPr algn="ctr" eaLnBrk="1" hangingPunct="1"/>
            <a:r>
              <a:rPr lang="zh-CN" altLang="zh-CN"/>
              <a:t>传输层解决的主要问题</a:t>
            </a:r>
          </a:p>
        </p:txBody>
      </p:sp>
      <p:sp>
        <p:nvSpPr>
          <p:cNvPr id="35843" name="Text Box 3"/>
          <p:cNvSpPr txBox="1">
            <a:spLocks noChangeArrowheads="1"/>
          </p:cNvSpPr>
          <p:nvPr/>
        </p:nvSpPr>
        <p:spPr bwMode="auto">
          <a:xfrm>
            <a:off x="2393950" y="1547813"/>
            <a:ext cx="7894638" cy="23987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76238" indent="-3762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
                <a:srgbClr val="66CCFF"/>
              </a:buClr>
              <a:buSzTx/>
              <a:buFont typeface="Wingdings" panose="05000000000000000000" pitchFamily="2" charset="2"/>
              <a:buChar char="§"/>
            </a:pPr>
            <a:r>
              <a:rPr lang="zh-CN" altLang="zh-CN" sz="2800" b="1">
                <a:latin typeface="华文楷体" panose="02010600040101010101" pitchFamily="2" charset="-122"/>
                <a:ea typeface="华文楷体" panose="02010600040101010101" pitchFamily="2" charset="-122"/>
              </a:rPr>
              <a:t>报文分组</a:t>
            </a:r>
            <a:r>
              <a:rPr lang="zh-CN" altLang="zh-CN" sz="2800" b="1">
                <a:latin typeface="Times New Roman" panose="02020603050405020304" pitchFamily="18" charset="0"/>
                <a:ea typeface="华文楷体" panose="02010600040101010101" pitchFamily="2" charset="-122"/>
              </a:rPr>
              <a:t>——</a:t>
            </a:r>
            <a:r>
              <a:rPr lang="zh-CN" altLang="zh-CN" sz="2800" b="1">
                <a:latin typeface="华文楷体" panose="02010600040101010101" pitchFamily="2" charset="-122"/>
                <a:ea typeface="华文楷体" panose="02010600040101010101" pitchFamily="2" charset="-122"/>
              </a:rPr>
              <a:t>Msg</a:t>
            </a:r>
            <a:r>
              <a:rPr lang="en-US" altLang="zh-CN" sz="2800" b="1">
                <a:latin typeface="华文楷体" panose="02010600040101010101" pitchFamily="2" charset="-122"/>
                <a:ea typeface="华文楷体" panose="02010600040101010101" pitchFamily="2" charset="-122"/>
              </a:rPr>
              <a:t>  </a:t>
            </a:r>
            <a:r>
              <a:rPr lang="zh-CN" altLang="zh-CN" sz="2800" b="1">
                <a:latin typeface="华文楷体" panose="02010600040101010101" pitchFamily="2" charset="-122"/>
                <a:ea typeface="华文楷体" panose="02010600040101010101" pitchFamily="2" charset="-122"/>
                <a:sym typeface="Wingdings" panose="05000000000000000000" pitchFamily="2" charset="2"/>
              </a:rPr>
              <a:t></a:t>
            </a:r>
            <a:r>
              <a:rPr lang="en-US" altLang="zh-CN" sz="2800" b="1">
                <a:latin typeface="华文楷体" panose="02010600040101010101" pitchFamily="2" charset="-122"/>
                <a:ea typeface="华文楷体" panose="02010600040101010101" pitchFamily="2" charset="-122"/>
                <a:sym typeface="Wingdings" panose="05000000000000000000" pitchFamily="2" charset="2"/>
              </a:rPr>
              <a:t> </a:t>
            </a:r>
            <a:r>
              <a:rPr lang="zh-CN" altLang="zh-CN" sz="2800" b="1">
                <a:latin typeface="华文楷体" panose="02010600040101010101" pitchFamily="2" charset="-122"/>
                <a:ea typeface="华文楷体" panose="02010600040101010101" pitchFamily="2" charset="-122"/>
                <a:sym typeface="Wingdings" panose="05000000000000000000" pitchFamily="2" charset="2"/>
              </a:rPr>
              <a:t>Pkt</a:t>
            </a:r>
            <a:r>
              <a:rPr lang="en-US" altLang="zh-CN" sz="2800" b="1">
                <a:latin typeface="华文楷体" panose="02010600040101010101" pitchFamily="2" charset="-122"/>
                <a:ea typeface="华文楷体" panose="02010600040101010101" pitchFamily="2" charset="-122"/>
                <a:sym typeface="Wingdings" panose="05000000000000000000" pitchFamily="2" charset="2"/>
              </a:rPr>
              <a:t> </a:t>
            </a:r>
            <a:r>
              <a:rPr lang="zh-CN" altLang="zh-CN" sz="2800" b="1">
                <a:latin typeface="华文楷体" panose="02010600040101010101" pitchFamily="2" charset="-122"/>
                <a:ea typeface="华文楷体" panose="02010600040101010101" pitchFamily="2" charset="-122"/>
                <a:sym typeface="Wingdings" panose="05000000000000000000" pitchFamily="2" charset="2"/>
              </a:rPr>
              <a:t> </a:t>
            </a:r>
            <a:r>
              <a:rPr lang="zh-CN" altLang="zh-CN" sz="2800" b="1">
                <a:latin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sym typeface="Wingdings" panose="05000000000000000000" pitchFamily="2" charset="2"/>
              </a:rPr>
              <a:t> </a:t>
            </a:r>
            <a:r>
              <a:rPr lang="zh-CN" altLang="zh-CN" sz="2800" b="1">
                <a:latin typeface="Times New Roman" panose="02020603050405020304" pitchFamily="18" charset="0"/>
                <a:sym typeface="Wingdings" panose="05000000000000000000" pitchFamily="2" charset="2"/>
              </a:rPr>
              <a:t>Msg</a:t>
            </a:r>
            <a:endParaRPr lang="zh-CN" altLang="zh-CN" sz="2800" b="1">
              <a:latin typeface="华文楷体" panose="02010600040101010101" pitchFamily="2" charset="-122"/>
              <a:ea typeface="华文楷体" panose="02010600040101010101" pitchFamily="2" charset="-122"/>
            </a:endParaRPr>
          </a:p>
          <a:p>
            <a:pPr eaLnBrk="1" hangingPunct="1">
              <a:spcBef>
                <a:spcPct val="10000"/>
              </a:spcBef>
              <a:buClr>
                <a:srgbClr val="66CCFF"/>
              </a:buClr>
              <a:buSzTx/>
              <a:buFont typeface="Wingdings" panose="05000000000000000000" pitchFamily="2" charset="2"/>
              <a:buChar char="§"/>
            </a:pPr>
            <a:r>
              <a:rPr lang="zh-CN" altLang="zh-CN" sz="2800" b="1">
                <a:latin typeface="华文楷体" panose="02010600040101010101" pitchFamily="2" charset="-122"/>
                <a:ea typeface="华文楷体" panose="02010600040101010101" pitchFamily="2" charset="-122"/>
              </a:rPr>
              <a:t>连接管理（建立连接、传输数据、释放连接）</a:t>
            </a:r>
          </a:p>
          <a:p>
            <a:pPr eaLnBrk="1" hangingPunct="1">
              <a:spcBef>
                <a:spcPct val="10000"/>
              </a:spcBef>
              <a:buClr>
                <a:srgbClr val="66CCFF"/>
              </a:buClr>
              <a:buSzTx/>
              <a:buFont typeface="Wingdings" panose="05000000000000000000" pitchFamily="2" charset="2"/>
              <a:buChar char="§"/>
            </a:pPr>
            <a:r>
              <a:rPr lang="zh-CN" altLang="zh-CN" sz="2800" b="1">
                <a:latin typeface="华文楷体" panose="02010600040101010101" pitchFamily="2" charset="-122"/>
                <a:ea typeface="华文楷体" panose="02010600040101010101" pitchFamily="2" charset="-122"/>
              </a:rPr>
              <a:t>Addressing与多路复用</a:t>
            </a: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IP</a:t>
            </a:r>
            <a:r>
              <a:rPr lang="zh-CN" altLang="en-US" sz="2800" b="1">
                <a:latin typeface="华文楷体" panose="02010600040101010101" pitchFamily="2" charset="-122"/>
                <a:ea typeface="华文楷体" panose="02010600040101010101" pitchFamily="2" charset="-122"/>
              </a:rPr>
              <a:t>和端口）</a:t>
            </a:r>
            <a:endParaRPr lang="zh-CN" altLang="zh-CN" sz="2800" b="1">
              <a:latin typeface="华文楷体" panose="02010600040101010101" pitchFamily="2" charset="-122"/>
              <a:ea typeface="华文楷体" panose="02010600040101010101" pitchFamily="2" charset="-122"/>
            </a:endParaRPr>
          </a:p>
          <a:p>
            <a:pPr eaLnBrk="1" hangingPunct="1">
              <a:spcBef>
                <a:spcPct val="10000"/>
              </a:spcBef>
              <a:buClr>
                <a:srgbClr val="66CCFF"/>
              </a:buClr>
              <a:buSzTx/>
              <a:buFont typeface="Wingdings" panose="05000000000000000000" pitchFamily="2" charset="2"/>
              <a:buChar char="§"/>
            </a:pPr>
            <a:r>
              <a:rPr lang="zh-CN" altLang="zh-CN" sz="2800" b="1">
                <a:latin typeface="华文楷体" panose="02010600040101010101" pitchFamily="2" charset="-122"/>
                <a:ea typeface="华文楷体" panose="02010600040101010101" pitchFamily="2" charset="-122"/>
              </a:rPr>
              <a:t>流量控制/拥塞控制</a:t>
            </a:r>
            <a:r>
              <a:rPr lang="zh-CN" altLang="en-US" sz="2800" b="1">
                <a:latin typeface="华文楷体" panose="02010600040101010101" pitchFamily="2" charset="-122"/>
                <a:ea typeface="华文楷体" panose="02010600040101010101" pitchFamily="2" charset="-122"/>
              </a:rPr>
              <a:t>：</a:t>
            </a:r>
            <a:r>
              <a:rPr lang="zh-CN" altLang="en-US" sz="2800" b="1">
                <a:solidFill>
                  <a:srgbClr val="FF0000"/>
                </a:solidFill>
                <a:latin typeface="华文楷体" panose="02010600040101010101" pitchFamily="2" charset="-122"/>
                <a:ea typeface="华文楷体" panose="02010600040101010101" pitchFamily="2" charset="-122"/>
              </a:rPr>
              <a:t>终端</a:t>
            </a:r>
            <a:r>
              <a:rPr lang="en-US" altLang="zh-CN" sz="2800" b="1">
                <a:solidFill>
                  <a:srgbClr val="FF0000"/>
                </a:solidFill>
                <a:latin typeface="华文楷体" panose="02010600040101010101" pitchFamily="2" charset="-122"/>
                <a:ea typeface="华文楷体" panose="02010600040101010101" pitchFamily="2" charset="-122"/>
              </a:rPr>
              <a:t>/</a:t>
            </a:r>
            <a:r>
              <a:rPr lang="zh-CN" altLang="en-US" sz="2800" b="1">
                <a:solidFill>
                  <a:srgbClr val="FF0000"/>
                </a:solidFill>
                <a:latin typeface="华文楷体" panose="02010600040101010101" pitchFamily="2" charset="-122"/>
                <a:ea typeface="华文楷体" panose="02010600040101010101" pitchFamily="2" charset="-122"/>
              </a:rPr>
              <a:t>网络端</a:t>
            </a:r>
            <a:endParaRPr lang="zh-CN" altLang="zh-CN" sz="2800" b="1">
              <a:solidFill>
                <a:srgbClr val="FF0000"/>
              </a:solidFill>
              <a:latin typeface="华文楷体" panose="02010600040101010101" pitchFamily="2" charset="-122"/>
              <a:ea typeface="华文楷体" panose="02010600040101010101" pitchFamily="2" charset="-122"/>
            </a:endParaRPr>
          </a:p>
          <a:p>
            <a:pPr eaLnBrk="1" hangingPunct="1">
              <a:spcBef>
                <a:spcPct val="10000"/>
              </a:spcBef>
              <a:buClr>
                <a:srgbClr val="66CCFF"/>
              </a:buClr>
              <a:buSzTx/>
              <a:buFont typeface="Wingdings" panose="05000000000000000000" pitchFamily="2" charset="2"/>
              <a:buChar char="§"/>
            </a:pPr>
            <a:r>
              <a:rPr lang="zh-CN" altLang="zh-CN" sz="2800" b="1">
                <a:latin typeface="华文楷体" panose="02010600040101010101" pitchFamily="2" charset="-122"/>
                <a:ea typeface="华文楷体" panose="02010600040101010101" pitchFamily="2" charset="-122"/>
              </a:rPr>
              <a:t>差错控制</a:t>
            </a:r>
            <a:r>
              <a:rPr lang="zh-CN" altLang="en-US" sz="2800" b="1">
                <a:latin typeface="华文楷体" panose="02010600040101010101" pitchFamily="2" charset="-122"/>
                <a:ea typeface="华文楷体" panose="02010600040101010101" pitchFamily="2" charset="-122"/>
              </a:rPr>
              <a:t>：由终端（主机）完成</a:t>
            </a:r>
            <a:endParaRPr lang="zh-CN" altLang="zh-CN" sz="2800" b="1">
              <a:latin typeface="华文楷体" panose="02010600040101010101" pitchFamily="2" charset="-122"/>
              <a:ea typeface="华文楷体" panose="0201060004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5843">
                                            <p:bg/>
                                          </p:spTgt>
                                        </p:tgtEl>
                                        <p:attrNameLst>
                                          <p:attrName>style.visibility</p:attrName>
                                        </p:attrNameLst>
                                      </p:cBhvr>
                                      <p:to>
                                        <p:strVal val="visible"/>
                                      </p:to>
                                    </p:set>
                                    <p:anim calcmode="lin" valueType="num">
                                      <p:cBhvr additive="base">
                                        <p:cTn id="7" dur="500" fill="hold"/>
                                        <p:tgtEl>
                                          <p:spTgt spid="35843">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35843">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843">
                                            <p:txEl>
                                              <p:pRg st="0" end="0"/>
                                            </p:txEl>
                                          </p:spTgt>
                                        </p:tgtEl>
                                        <p:attrNameLst>
                                          <p:attrName>style.visibility</p:attrName>
                                        </p:attrNameLst>
                                      </p:cBhvr>
                                      <p:to>
                                        <p:strVal val="visible"/>
                                      </p:to>
                                    </p:set>
                                    <p:anim calcmode="lin" valueType="num">
                                      <p:cBhvr additive="base">
                                        <p:cTn id="13" dur="500" fill="hold"/>
                                        <p:tgtEl>
                                          <p:spTgt spid="3584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5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5843">
                                            <p:txEl>
                                              <p:pRg st="1" end="1"/>
                                            </p:txEl>
                                          </p:spTgt>
                                        </p:tgtEl>
                                        <p:attrNameLst>
                                          <p:attrName>style.visibility</p:attrName>
                                        </p:attrNameLst>
                                      </p:cBhvr>
                                      <p:to>
                                        <p:strVal val="visible"/>
                                      </p:to>
                                    </p:set>
                                    <p:anim calcmode="lin" valueType="num">
                                      <p:cBhvr additive="base">
                                        <p:cTn id="19" dur="500" fill="hold"/>
                                        <p:tgtEl>
                                          <p:spTgt spid="35843">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58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5843">
                                            <p:txEl>
                                              <p:pRg st="2" end="2"/>
                                            </p:txEl>
                                          </p:spTgt>
                                        </p:tgtEl>
                                        <p:attrNameLst>
                                          <p:attrName>style.visibility</p:attrName>
                                        </p:attrNameLst>
                                      </p:cBhvr>
                                      <p:to>
                                        <p:strVal val="visible"/>
                                      </p:to>
                                    </p:set>
                                    <p:anim calcmode="lin" valueType="num">
                                      <p:cBhvr additive="base">
                                        <p:cTn id="25" dur="500" fill="hold"/>
                                        <p:tgtEl>
                                          <p:spTgt spid="35843">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58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5843">
                                            <p:txEl>
                                              <p:pRg st="3" end="3"/>
                                            </p:txEl>
                                          </p:spTgt>
                                        </p:tgtEl>
                                        <p:attrNameLst>
                                          <p:attrName>style.visibility</p:attrName>
                                        </p:attrNameLst>
                                      </p:cBhvr>
                                      <p:to>
                                        <p:strVal val="visible"/>
                                      </p:to>
                                    </p:set>
                                    <p:anim calcmode="lin" valueType="num">
                                      <p:cBhvr additive="base">
                                        <p:cTn id="31" dur="500" fill="hold"/>
                                        <p:tgtEl>
                                          <p:spTgt spid="35843">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58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5843">
                                            <p:txEl>
                                              <p:pRg st="4" end="4"/>
                                            </p:txEl>
                                          </p:spTgt>
                                        </p:tgtEl>
                                        <p:attrNameLst>
                                          <p:attrName>style.visibility</p:attrName>
                                        </p:attrNameLst>
                                      </p:cBhvr>
                                      <p:to>
                                        <p:strVal val="visible"/>
                                      </p:to>
                                    </p:set>
                                    <p:anim calcmode="lin" valueType="num">
                                      <p:cBhvr additive="base">
                                        <p:cTn id="37" dur="500" fill="hold"/>
                                        <p:tgtEl>
                                          <p:spTgt spid="35843">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58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933950" y="234950"/>
            <a:ext cx="2324100" cy="585788"/>
          </a:xfrm>
        </p:spPr>
        <p:txBody>
          <a:bodyPr>
            <a:normAutofit fontScale="90000"/>
          </a:bodyPr>
          <a:lstStyle/>
          <a:p>
            <a:pPr eaLnBrk="1" hangingPunct="1"/>
            <a:r>
              <a:rPr lang="zh-CN" altLang="zh-CN"/>
              <a:t>会话层</a:t>
            </a:r>
          </a:p>
        </p:txBody>
      </p:sp>
      <p:sp>
        <p:nvSpPr>
          <p:cNvPr id="36867" name="Text Box 3"/>
          <p:cNvSpPr txBox="1">
            <a:spLocks noChangeArrowheads="1"/>
          </p:cNvSpPr>
          <p:nvPr/>
        </p:nvSpPr>
        <p:spPr bwMode="auto">
          <a:xfrm>
            <a:off x="1893889" y="1489075"/>
            <a:ext cx="8402637" cy="156966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3200" b="1">
                <a:latin typeface="华文楷体" panose="02010600040101010101" pitchFamily="2" charset="-122"/>
                <a:ea typeface="华文楷体" panose="02010600040101010101" pitchFamily="2" charset="-122"/>
              </a:rPr>
              <a:t>传输层及其以下各层主要负责网络数据通信，而网络的最终目的是用户之间的通信----会话，为了解决用户之间的会话问题引入</a:t>
            </a:r>
            <a:r>
              <a:rPr lang="zh-CN" altLang="zh-CN" sz="3200" b="1">
                <a:solidFill>
                  <a:schemeClr val="hlink"/>
                </a:solidFill>
                <a:latin typeface="华文楷体" panose="02010600040101010101" pitchFamily="2" charset="-122"/>
                <a:ea typeface="华文楷体" panose="02010600040101010101" pitchFamily="2" charset="-122"/>
              </a:rPr>
              <a:t>会话层</a:t>
            </a:r>
          </a:p>
        </p:txBody>
      </p:sp>
      <p:sp>
        <p:nvSpPr>
          <p:cNvPr id="36868" name="Text Box 4"/>
          <p:cNvSpPr txBox="1">
            <a:spLocks noChangeArrowheads="1"/>
          </p:cNvSpPr>
          <p:nvPr/>
        </p:nvSpPr>
        <p:spPr bwMode="auto">
          <a:xfrm>
            <a:off x="1960564" y="3203576"/>
            <a:ext cx="8270875" cy="218916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76238" indent="-3762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
                <a:srgbClr val="66CCFF"/>
              </a:buClr>
              <a:buSzTx/>
              <a:buFont typeface="Wingdings" panose="05000000000000000000" pitchFamily="2" charset="2"/>
              <a:buChar char="§"/>
            </a:pPr>
            <a:r>
              <a:rPr lang="zh-CN" altLang="zh-CN" b="1">
                <a:latin typeface="华文楷体" panose="02010600040101010101" pitchFamily="2" charset="-122"/>
                <a:ea typeface="华文楷体" panose="02010600040101010101" pitchFamily="2" charset="-122"/>
              </a:rPr>
              <a:t>会话层的重要功能：</a:t>
            </a:r>
          </a:p>
          <a:p>
            <a:pPr eaLnBrk="1" hangingPunct="1">
              <a:spcBef>
                <a:spcPct val="10000"/>
              </a:spcBef>
              <a:buClr>
                <a:srgbClr val="66CCFF"/>
              </a:buClr>
              <a:buSzTx/>
              <a:buFont typeface="Wingdings" panose="05000000000000000000" pitchFamily="2" charset="2"/>
              <a:buChar char="§"/>
            </a:pPr>
            <a:r>
              <a:rPr lang="zh-CN" altLang="zh-CN" b="1">
                <a:latin typeface="华文楷体" panose="02010600040101010101" pitchFamily="2" charset="-122"/>
                <a:ea typeface="华文楷体" panose="02010600040101010101" pitchFamily="2" charset="-122"/>
              </a:rPr>
              <a:t>对话管理</a:t>
            </a:r>
            <a:r>
              <a:rPr lang="zh-CN" altLang="zh-CN" sz="2600" b="1">
                <a:latin typeface="华文楷体" panose="02010600040101010101" pitchFamily="2" charset="-122"/>
                <a:ea typeface="华文楷体" panose="02010600040101010101" pitchFamily="2" charset="-122"/>
              </a:rPr>
              <a:t>（建立会话、维护会话、释放会话）</a:t>
            </a:r>
          </a:p>
          <a:p>
            <a:pPr eaLnBrk="1" hangingPunct="1">
              <a:spcBef>
                <a:spcPct val="10000"/>
              </a:spcBef>
              <a:buClr>
                <a:srgbClr val="66CCFF"/>
              </a:buClr>
              <a:buSzTx/>
              <a:buFont typeface="Wingdings" panose="05000000000000000000" pitchFamily="2" charset="2"/>
              <a:buChar char="§"/>
            </a:pPr>
            <a:r>
              <a:rPr lang="zh-CN" altLang="zh-CN" b="1">
                <a:latin typeface="华文楷体" panose="02010600040101010101" pitchFamily="2" charset="-122"/>
                <a:ea typeface="华文楷体" panose="02010600040101010101" pitchFamily="2" charset="-122"/>
              </a:rPr>
              <a:t>数据流同步</a:t>
            </a:r>
            <a:r>
              <a:rPr lang="zh-CN" altLang="zh-CN" sz="2600" b="1">
                <a:latin typeface="华文楷体" panose="02010600040101010101" pitchFamily="2" charset="-122"/>
                <a:ea typeface="华文楷体" panose="02010600040101010101" pitchFamily="2" charset="-122"/>
              </a:rPr>
              <a:t>（单工/双工/半双工）</a:t>
            </a:r>
          </a:p>
          <a:p>
            <a:pPr eaLnBrk="1" hangingPunct="1">
              <a:spcBef>
                <a:spcPct val="10000"/>
              </a:spcBef>
              <a:buClr>
                <a:srgbClr val="66CCFF"/>
              </a:buClr>
              <a:buSzTx/>
              <a:buFont typeface="Wingdings" panose="05000000000000000000" pitchFamily="2" charset="2"/>
              <a:buChar char="§"/>
            </a:pPr>
            <a:r>
              <a:rPr lang="zh-CN" altLang="zh-CN" b="1">
                <a:latin typeface="华文楷体" panose="02010600040101010101" pitchFamily="2" charset="-122"/>
                <a:ea typeface="华文楷体" panose="02010600040101010101" pitchFamily="2" charset="-122"/>
              </a:rPr>
              <a:t>重新同步</a:t>
            </a:r>
            <a:r>
              <a:rPr lang="zh-CN" altLang="zh-CN" sz="2600" b="1">
                <a:latin typeface="华文楷体" panose="02010600040101010101" pitchFamily="2" charset="-122"/>
                <a:ea typeface="华文楷体" panose="02010600040101010101" pitchFamily="2" charset="-122"/>
              </a:rPr>
              <a:t>（断点恢复）</a:t>
            </a:r>
            <a:r>
              <a:rPr lang="zh-CN" altLang="zh-CN" sz="2800" b="1">
                <a:latin typeface="华文楷体" panose="02010600040101010101" pitchFamily="2" charset="-122"/>
                <a:ea typeface="华文楷体" panose="02010600040101010101"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6868">
                                            <p:txEl>
                                              <p:pRg st="0" end="0"/>
                                            </p:txEl>
                                          </p:spTgt>
                                        </p:tgtEl>
                                        <p:attrNameLst>
                                          <p:attrName>style.visibility</p:attrName>
                                        </p:attrNameLst>
                                      </p:cBhvr>
                                      <p:to>
                                        <p:strVal val="visible"/>
                                      </p:to>
                                    </p:set>
                                    <p:anim calcmode="lin" valueType="num">
                                      <p:cBhvr additive="base">
                                        <p:cTn id="13" dur="500" fill="hold"/>
                                        <p:tgtEl>
                                          <p:spTgt spid="3686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68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6868">
                                            <p:txEl>
                                              <p:pRg st="1" end="1"/>
                                            </p:txEl>
                                          </p:spTgt>
                                        </p:tgtEl>
                                        <p:attrNameLst>
                                          <p:attrName>style.visibility</p:attrName>
                                        </p:attrNameLst>
                                      </p:cBhvr>
                                      <p:to>
                                        <p:strVal val="visible"/>
                                      </p:to>
                                    </p:set>
                                    <p:anim calcmode="lin" valueType="num">
                                      <p:cBhvr additive="base">
                                        <p:cTn id="19" dur="500" fill="hold"/>
                                        <p:tgtEl>
                                          <p:spTgt spid="36868">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68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6868">
                                            <p:txEl>
                                              <p:pRg st="2" end="2"/>
                                            </p:txEl>
                                          </p:spTgt>
                                        </p:tgtEl>
                                        <p:attrNameLst>
                                          <p:attrName>style.visibility</p:attrName>
                                        </p:attrNameLst>
                                      </p:cBhvr>
                                      <p:to>
                                        <p:strVal val="visible"/>
                                      </p:to>
                                    </p:set>
                                    <p:anim calcmode="lin" valueType="num">
                                      <p:cBhvr additive="base">
                                        <p:cTn id="25" dur="500" fill="hold"/>
                                        <p:tgtEl>
                                          <p:spTgt spid="36868">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686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6868">
                                            <p:txEl>
                                              <p:pRg st="3" end="3"/>
                                            </p:txEl>
                                          </p:spTgt>
                                        </p:tgtEl>
                                        <p:attrNameLst>
                                          <p:attrName>style.visibility</p:attrName>
                                        </p:attrNameLst>
                                      </p:cBhvr>
                                      <p:to>
                                        <p:strVal val="visible"/>
                                      </p:to>
                                    </p:set>
                                    <p:anim calcmode="lin" valueType="num">
                                      <p:cBhvr additive="base">
                                        <p:cTn id="31" dur="500" fill="hold"/>
                                        <p:tgtEl>
                                          <p:spTgt spid="36868">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686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P spid="3686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57714" y="258763"/>
            <a:ext cx="3076575" cy="673100"/>
          </a:xfrm>
        </p:spPr>
        <p:txBody>
          <a:bodyPr>
            <a:normAutofit fontScale="90000"/>
          </a:bodyPr>
          <a:lstStyle/>
          <a:p>
            <a:pPr algn="ctr" eaLnBrk="1" hangingPunct="1"/>
            <a:r>
              <a:rPr lang="zh-CN" altLang="zh-CN"/>
              <a:t>表示层</a:t>
            </a:r>
          </a:p>
        </p:txBody>
      </p:sp>
      <p:sp>
        <p:nvSpPr>
          <p:cNvPr id="37891" name="Text Box 3"/>
          <p:cNvSpPr txBox="1">
            <a:spLocks noChangeArrowheads="1"/>
          </p:cNvSpPr>
          <p:nvPr/>
        </p:nvSpPr>
        <p:spPr bwMode="auto">
          <a:xfrm>
            <a:off x="2581275" y="1344614"/>
            <a:ext cx="7124700" cy="41179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4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ClrTx/>
              <a:buSzTx/>
              <a:buFont typeface="Wingdings" panose="05000000000000000000" pitchFamily="2" charset="2"/>
              <a:buNone/>
            </a:pPr>
            <a:r>
              <a:rPr lang="zh-CN" altLang="zh-CN" b="1">
                <a:solidFill>
                  <a:srgbClr val="006C88"/>
                </a:solidFill>
                <a:latin typeface="华文楷体" panose="02010600040101010101" pitchFamily="2" charset="-122"/>
                <a:ea typeface="华文楷体" panose="02010600040101010101" pitchFamily="2" charset="-122"/>
              </a:rPr>
              <a:t>有关用户信息的表达以及网络安全性等问题，集中地放在表示层来处理，该层的重要功能为：</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 抽象</a:t>
            </a:r>
            <a:r>
              <a:rPr lang="zh-CN" altLang="en-US" sz="2800" b="1">
                <a:solidFill>
                  <a:srgbClr val="006C88"/>
                </a:solidFill>
                <a:latin typeface="华文楷体" panose="02010600040101010101" pitchFamily="2" charset="-122"/>
                <a:ea typeface="华文楷体" panose="02010600040101010101" pitchFamily="2" charset="-122"/>
              </a:rPr>
              <a:t>语法描述</a:t>
            </a:r>
            <a:r>
              <a:rPr lang="zh-CN" altLang="zh-CN" sz="2800" b="1">
                <a:solidFill>
                  <a:srgbClr val="006C88"/>
                </a:solidFill>
                <a:latin typeface="华文楷体" panose="02010600040101010101" pitchFamily="2" charset="-122"/>
                <a:ea typeface="华文楷体" panose="02010600040101010101" pitchFamily="2" charset="-122"/>
              </a:rPr>
              <a:t>（ASN.1）</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 编码规则</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 数据压缩/解压缩</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 加密/解密</a:t>
            </a:r>
          </a:p>
          <a:p>
            <a:pPr algn="just" eaLnBrk="1" hangingPunct="1">
              <a:buClr>
                <a:srgbClr val="66CCFF"/>
              </a:buClr>
              <a:buSzTx/>
              <a:buFont typeface="Wingdings" panose="05000000000000000000" pitchFamily="2" charset="2"/>
              <a:buChar char="§"/>
            </a:pPr>
            <a:r>
              <a:rPr lang="zh-CN" altLang="zh-CN" sz="2800" b="1">
                <a:solidFill>
                  <a:srgbClr val="006C88"/>
                </a:solidFill>
                <a:latin typeface="华文楷体" panose="02010600040101010101" pitchFamily="2" charset="-122"/>
                <a:ea typeface="华文楷体" panose="02010600040101010101" pitchFamily="2" charset="-122"/>
              </a:rPr>
              <a:t> </a:t>
            </a:r>
            <a:r>
              <a:rPr lang="zh-CN" altLang="zh-CN" sz="2800" b="1">
                <a:solidFill>
                  <a:srgbClr val="006C88"/>
                </a:solidFill>
                <a:latin typeface="Times New Roman" panose="02020603050405020304" pitchFamily="18" charset="0"/>
                <a:ea typeface="华文楷体" panose="02010600040101010101" pitchFamily="2" charset="-122"/>
              </a:rPr>
              <a:t>……</a:t>
            </a:r>
            <a:endParaRPr lang="zh-CN" altLang="zh-CN" sz="2800" b="1">
              <a:solidFill>
                <a:srgbClr val="006C88"/>
              </a:solidFill>
              <a:latin typeface="华文楷体" panose="02010600040101010101" pitchFamily="2" charset="-122"/>
              <a:ea typeface="华文楷体" panose="0201060004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1">
                                            <p:txEl>
                                              <p:pRg st="2" end="2"/>
                                            </p:txEl>
                                          </p:spTgt>
                                        </p:tgtEl>
                                        <p:attrNameLst>
                                          <p:attrName>style.visibility</p:attrName>
                                        </p:attrNameLst>
                                      </p:cBhvr>
                                      <p:to>
                                        <p:strVal val="visible"/>
                                      </p:to>
                                    </p:set>
                                    <p:anim calcmode="lin" valueType="num">
                                      <p:cBhvr additive="base">
                                        <p:cTn id="19" dur="500" fill="hold"/>
                                        <p:tgtEl>
                                          <p:spTgt spid="3789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7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1">
                                            <p:txEl>
                                              <p:pRg st="3" end="3"/>
                                            </p:txEl>
                                          </p:spTgt>
                                        </p:tgtEl>
                                        <p:attrNameLst>
                                          <p:attrName>style.visibility</p:attrName>
                                        </p:attrNameLst>
                                      </p:cBhvr>
                                      <p:to>
                                        <p:strVal val="visible"/>
                                      </p:to>
                                    </p:set>
                                    <p:anim calcmode="lin" valueType="num">
                                      <p:cBhvr additive="base">
                                        <p:cTn id="25" dur="500" fill="hold"/>
                                        <p:tgtEl>
                                          <p:spTgt spid="3789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78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7891">
                                            <p:txEl>
                                              <p:pRg st="4" end="4"/>
                                            </p:txEl>
                                          </p:spTgt>
                                        </p:tgtEl>
                                        <p:attrNameLst>
                                          <p:attrName>style.visibility</p:attrName>
                                        </p:attrNameLst>
                                      </p:cBhvr>
                                      <p:to>
                                        <p:strVal val="visible"/>
                                      </p:to>
                                    </p:set>
                                    <p:anim calcmode="lin" valueType="num">
                                      <p:cBhvr additive="base">
                                        <p:cTn id="31" dur="500" fill="hold"/>
                                        <p:tgtEl>
                                          <p:spTgt spid="3789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78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7891">
                                            <p:txEl>
                                              <p:pRg st="5" end="5"/>
                                            </p:txEl>
                                          </p:spTgt>
                                        </p:tgtEl>
                                        <p:attrNameLst>
                                          <p:attrName>style.visibility</p:attrName>
                                        </p:attrNameLst>
                                      </p:cBhvr>
                                      <p:to>
                                        <p:strVal val="visible"/>
                                      </p:to>
                                    </p:set>
                                    <p:anim calcmode="lin" valueType="num">
                                      <p:cBhvr additive="base">
                                        <p:cTn id="37" dur="500" fill="hold"/>
                                        <p:tgtEl>
                                          <p:spTgt spid="3789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789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927475" y="177801"/>
            <a:ext cx="4337050" cy="747713"/>
          </a:xfrm>
        </p:spPr>
        <p:txBody>
          <a:bodyPr/>
          <a:lstStyle/>
          <a:p>
            <a:pPr algn="ctr" eaLnBrk="1" hangingPunct="1"/>
            <a:r>
              <a:rPr lang="zh-CN" altLang="zh-CN"/>
              <a:t>通用性应用问题</a:t>
            </a:r>
          </a:p>
        </p:txBody>
      </p:sp>
      <p:sp>
        <p:nvSpPr>
          <p:cNvPr id="38915" name="Text Box 3"/>
          <p:cNvSpPr txBox="1">
            <a:spLocks noChangeArrowheads="1"/>
          </p:cNvSpPr>
          <p:nvPr/>
        </p:nvSpPr>
        <p:spPr bwMode="auto">
          <a:xfrm>
            <a:off x="381000" y="1428751"/>
            <a:ext cx="11430000" cy="132343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4000" b="1">
                <a:solidFill>
                  <a:srgbClr val="006C88"/>
                </a:solidFill>
                <a:latin typeface="华文楷体" panose="02010600040101010101" pitchFamily="2" charset="-122"/>
                <a:ea typeface="华文楷体" panose="02010600040101010101" pitchFamily="2" charset="-122"/>
              </a:rPr>
              <a:t>计算机网络上的应用多种多样，如何规范这些应用，使之成为开放式应用，应用之间能够实现互连？</a:t>
            </a:r>
          </a:p>
        </p:txBody>
      </p:sp>
      <p:sp>
        <p:nvSpPr>
          <p:cNvPr id="38916" name="Text Box 4"/>
          <p:cNvSpPr txBox="1">
            <a:spLocks noChangeArrowheads="1"/>
          </p:cNvSpPr>
          <p:nvPr/>
        </p:nvSpPr>
        <p:spPr bwMode="auto">
          <a:xfrm>
            <a:off x="3549650" y="3255427"/>
            <a:ext cx="4714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4000" b="1">
                <a:solidFill>
                  <a:srgbClr val="006C88"/>
                </a:solidFill>
                <a:latin typeface="华文楷体" panose="02010600040101010101" pitchFamily="2" charset="-122"/>
                <a:ea typeface="华文楷体" panose="02010600040101010101" pitchFamily="2" charset="-122"/>
              </a:rPr>
              <a:t>→ 引入</a:t>
            </a:r>
            <a:r>
              <a:rPr lang="zh-CN" altLang="zh-CN" sz="4000" b="1">
                <a:solidFill>
                  <a:schemeClr val="hlink"/>
                </a:solidFill>
                <a:latin typeface="华文楷体" panose="02010600040101010101" pitchFamily="2" charset="-122"/>
                <a:ea typeface="华文楷体" panose="02010600040101010101" pitchFamily="2" charset="-122"/>
              </a:rPr>
              <a:t>应用层</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 calcmode="lin" valueType="num">
                                      <p:cBhvr additive="base">
                                        <p:cTn id="7" dur="500" fill="hold"/>
                                        <p:tgtEl>
                                          <p:spTgt spid="3891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891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633664" y="234950"/>
            <a:ext cx="6808787" cy="623888"/>
          </a:xfrm>
        </p:spPr>
        <p:txBody>
          <a:bodyPr>
            <a:normAutofit fontScale="90000"/>
          </a:bodyPr>
          <a:lstStyle/>
          <a:p>
            <a:pPr algn="ctr" eaLnBrk="1" hangingPunct="1"/>
            <a:r>
              <a:rPr lang="zh-CN" altLang="zh-CN"/>
              <a:t>应用层</a:t>
            </a:r>
          </a:p>
        </p:txBody>
      </p:sp>
      <p:sp>
        <p:nvSpPr>
          <p:cNvPr id="39939" name="Text Box 3"/>
          <p:cNvSpPr txBox="1">
            <a:spLocks noChangeArrowheads="1"/>
          </p:cNvSpPr>
          <p:nvPr/>
        </p:nvSpPr>
        <p:spPr bwMode="auto">
          <a:xfrm>
            <a:off x="787400" y="1301750"/>
            <a:ext cx="10833100" cy="107721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82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spcBef>
                <a:spcPct val="0"/>
              </a:spcBef>
              <a:buClrTx/>
              <a:buSzTx/>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应用层向应用程序提供服务，解决通用性应用问题。这些服务按其向应用程序提供的特性分成组，并称为服务元素。 </a:t>
            </a:r>
          </a:p>
        </p:txBody>
      </p:sp>
      <p:sp>
        <p:nvSpPr>
          <p:cNvPr id="39940" name="Text Box 4"/>
          <p:cNvSpPr txBox="1">
            <a:spLocks noChangeArrowheads="1"/>
          </p:cNvSpPr>
          <p:nvPr/>
        </p:nvSpPr>
        <p:spPr bwMode="auto">
          <a:xfrm>
            <a:off x="2874962" y="2566988"/>
            <a:ext cx="6442075" cy="3808412"/>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01700" indent="-334963" eaLnBrk="0" hangingPunct="0">
              <a:defRPr sz="2800">
                <a:solidFill>
                  <a:schemeClr val="tx1"/>
                </a:solidFill>
                <a:latin typeface="Times New Roman" panose="02020603050405020304" pitchFamily="18" charset="0"/>
                <a:ea typeface="宋体" panose="02010600030101010101" pitchFamily="2" charset="-122"/>
              </a:defRPr>
            </a:lvl1pPr>
            <a:lvl2pPr eaLnBrk="0" hangingPunct="0">
              <a:defRPr sz="2800">
                <a:solidFill>
                  <a:schemeClr val="tx1"/>
                </a:solidFill>
                <a:latin typeface="Times New Roman" panose="02020603050405020304" pitchFamily="18" charset="0"/>
                <a:ea typeface="宋体" panose="02010600030101010101" pitchFamily="2" charset="-122"/>
              </a:defRPr>
            </a:lvl2pPr>
            <a:lvl3pPr eaLnBrk="0" hangingPunct="0">
              <a:defRPr sz="2800">
                <a:solidFill>
                  <a:schemeClr val="tx1"/>
                </a:solidFill>
                <a:latin typeface="Times New Roman" panose="02020603050405020304" pitchFamily="18" charset="0"/>
                <a:ea typeface="宋体" panose="02010600030101010101" pitchFamily="2" charset="-122"/>
              </a:defRPr>
            </a:lvl3pPr>
            <a:lvl4pPr eaLnBrk="0" hangingPunct="0">
              <a:defRPr sz="2800">
                <a:solidFill>
                  <a:schemeClr val="tx1"/>
                </a:solidFill>
                <a:latin typeface="Times New Roman" panose="02020603050405020304" pitchFamily="18" charset="0"/>
                <a:ea typeface="宋体" panose="02010600030101010101" pitchFamily="2" charset="-122"/>
              </a:defRPr>
            </a:lvl4pPr>
            <a:lvl5pPr eaLnBrk="0" hangingPunct="0">
              <a:defRPr sz="28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宋体" panose="02010600030101010101" pitchFamily="2" charset="-122"/>
              </a:defRPr>
            </a:lvl9pPr>
          </a:lstStyle>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文件传输：</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tfp/tftp</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电子邮件：</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smtp,pop3/imap</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网上浏览：</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http</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终端仿真（</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BBS</a:t>
            </a: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telnet</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无盘工作站：</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BOOTP/DHCP</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简单网络管理协议：</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SNMP</a:t>
            </a:r>
          </a:p>
          <a:p>
            <a:pPr>
              <a:spcBef>
                <a:spcPct val="10000"/>
              </a:spcBef>
              <a:buClr>
                <a:srgbClr val="CC0000"/>
              </a:buClr>
              <a:buSzPct val="50000"/>
              <a:buFont typeface="Arial" panose="020B0604020202020204" pitchFamily="34" charset="0"/>
              <a:buChar char="u"/>
              <a:defRPr/>
            </a:pPr>
            <a:r>
              <a:rPr lang="zh-CN" altLang="en-US">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目录服务：</a:t>
            </a: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LDAP</a:t>
            </a:r>
          </a:p>
          <a:p>
            <a:pPr>
              <a:spcBef>
                <a:spcPct val="10000"/>
              </a:spcBef>
              <a:buClr>
                <a:srgbClr val="CC0000"/>
              </a:buClr>
              <a:buSzPct val="50000"/>
              <a:buFont typeface="Arial" panose="020B0604020202020204" pitchFamily="34" charset="0"/>
              <a:buChar char="u"/>
              <a:defRPr/>
            </a:pPr>
            <a:r>
              <a:rPr lang="zh-CN" altLang="zh-CN">
                <a:solidFill>
                  <a:srgbClr val="006C88"/>
                </a:solidFill>
                <a:effectLst>
                  <a:outerShdw blurRad="38100" dist="38100" dir="2700000" algn="tl">
                    <a:srgbClr val="000000"/>
                  </a:outerShdw>
                </a:effectLst>
                <a:latin typeface="华文楷体" panose="02010600040101010101" pitchFamily="2" charset="-122"/>
                <a:ea typeface="华文楷体" panose="02010600040101010101" pitchFamily="2"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85738" y="243680"/>
            <a:ext cx="7186612" cy="598487"/>
          </a:xfrm>
        </p:spPr>
        <p:txBody>
          <a:bodyPr>
            <a:normAutofit fontScale="90000"/>
          </a:bodyPr>
          <a:lstStyle/>
          <a:p>
            <a:pPr eaLnBrk="1" hangingPunct="1"/>
            <a:r>
              <a:rPr lang="en-US" altLang="zh-CN"/>
              <a:t>2.</a:t>
            </a:r>
            <a:r>
              <a:rPr lang="zh-CN" altLang="zh-CN"/>
              <a:t>3 开放系统互连参考模型</a:t>
            </a:r>
          </a:p>
        </p:txBody>
      </p:sp>
      <p:sp>
        <p:nvSpPr>
          <p:cNvPr id="40963" name="Text Box 3"/>
          <p:cNvSpPr txBox="1">
            <a:spLocks noChangeArrowheads="1"/>
          </p:cNvSpPr>
          <p:nvPr/>
        </p:nvSpPr>
        <p:spPr bwMode="auto">
          <a:xfrm>
            <a:off x="790575" y="1417639"/>
            <a:ext cx="10610850" cy="138499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en-US" b="1">
                <a:solidFill>
                  <a:srgbClr val="006C88"/>
                </a:solidFill>
                <a:latin typeface="华文楷体" panose="02010600040101010101" pitchFamily="2" charset="-122"/>
                <a:ea typeface="华文楷体" panose="02010600040101010101" pitchFamily="2" charset="-122"/>
              </a:rPr>
              <a:t>开放系统参考模型（OSI/RM ：Open Systems Interconnection Reference Model ) 是由国际标准化组织(ISO)提出和定义的计算机网络的分层、各层协议和层间接口的集合。</a:t>
            </a:r>
          </a:p>
        </p:txBody>
      </p:sp>
      <p:sp>
        <p:nvSpPr>
          <p:cNvPr id="40964" name="Text Box 4"/>
          <p:cNvSpPr txBox="1">
            <a:spLocks noChangeArrowheads="1"/>
          </p:cNvSpPr>
          <p:nvPr/>
        </p:nvSpPr>
        <p:spPr bwMode="auto">
          <a:xfrm>
            <a:off x="1647825" y="2974976"/>
            <a:ext cx="8896350" cy="297773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Font typeface="Wingdings" panose="05000000000000000000" pitchFamily="2" charset="2"/>
              <a:buNone/>
            </a:pPr>
            <a:r>
              <a:rPr lang="zh-CN" altLang="zh-CN" sz="2500">
                <a:solidFill>
                  <a:srgbClr val="006C88"/>
                </a:solidFill>
                <a:latin typeface="华文楷体" panose="02010600040101010101" pitchFamily="2" charset="-122"/>
                <a:ea typeface="华文楷体" panose="02010600040101010101" pitchFamily="2" charset="-122"/>
              </a:rPr>
              <a:t>OSI/RM把进行交换信息的“源端系统”和“目的端系统”划分为七个子系统，即七层，每一层完成系统信息交换所需的部分功能，通过层间的接口与其相邻层连接，从而实现不同系统之间、不同结点之间的信息交换。</a:t>
            </a:r>
            <a:endParaRPr lang="en-US" altLang="zh-CN" sz="2500">
              <a:solidFill>
                <a:srgbClr val="006C88"/>
              </a:solidFill>
              <a:latin typeface="华文楷体" panose="02010600040101010101" pitchFamily="2" charset="-122"/>
              <a:ea typeface="华文楷体" panose="02010600040101010101" pitchFamily="2" charset="-122"/>
            </a:endParaRPr>
          </a:p>
          <a:p>
            <a:pPr algn="just" eaLnBrk="1" hangingPunct="1">
              <a:spcBef>
                <a:spcPct val="50000"/>
              </a:spcBef>
              <a:buFont typeface="Wingdings" panose="05000000000000000000" pitchFamily="2" charset="2"/>
              <a:buNone/>
            </a:pPr>
            <a:r>
              <a:rPr lang="zh-CN" altLang="zh-CN" sz="2500">
                <a:solidFill>
                  <a:srgbClr val="006C88"/>
                </a:solidFill>
                <a:latin typeface="华文楷体" panose="02010600040101010101" pitchFamily="2" charset="-122"/>
                <a:ea typeface="华文楷体" panose="02010600040101010101" pitchFamily="2" charset="-122"/>
              </a:rPr>
              <a:t>如果两个端系统主机之间没有直接的物理介质相连，其间的信息交换必须通过通信子网中的路由器(Router)进行数据中转，路由器只需要七层中的下三层。</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0964">
                                            <p:txEl>
                                              <p:pRg st="0" end="0"/>
                                            </p:txEl>
                                          </p:spTgt>
                                        </p:tgtEl>
                                        <p:attrNameLst>
                                          <p:attrName>style.visibility</p:attrName>
                                        </p:attrNameLst>
                                      </p:cBhvr>
                                      <p:to>
                                        <p:strVal val="visible"/>
                                      </p:to>
                                    </p:set>
                                    <p:anim calcmode="lin" valueType="num">
                                      <p:cBhvr additive="base">
                                        <p:cTn id="13" dur="500" fill="hold"/>
                                        <p:tgtEl>
                                          <p:spTgt spid="4096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09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0964">
                                            <p:txEl>
                                              <p:pRg st="1" end="1"/>
                                            </p:txEl>
                                          </p:spTgt>
                                        </p:tgtEl>
                                        <p:attrNameLst>
                                          <p:attrName>style.visibility</p:attrName>
                                        </p:attrNameLst>
                                      </p:cBhvr>
                                      <p:to>
                                        <p:strVal val="visible"/>
                                      </p:to>
                                    </p:set>
                                    <p:anim calcmode="lin" valueType="num">
                                      <p:cBhvr additive="base">
                                        <p:cTn id="19" dur="500" fill="hold"/>
                                        <p:tgtEl>
                                          <p:spTgt spid="40964">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096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40964"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2981325" y="1109663"/>
            <a:ext cx="1346200" cy="4914900"/>
            <a:chOff x="0" y="0"/>
            <a:chExt cx="848" cy="3096"/>
          </a:xfrm>
        </p:grpSpPr>
        <p:sp>
          <p:nvSpPr>
            <p:cNvPr id="42060" name="Rectangle 3"/>
            <p:cNvSpPr>
              <a:spLocks noChangeArrowheads="1"/>
            </p:cNvSpPr>
            <p:nvPr/>
          </p:nvSpPr>
          <p:spPr bwMode="auto">
            <a:xfrm>
              <a:off x="0" y="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1" name="Rectangle 4"/>
            <p:cNvSpPr>
              <a:spLocks noChangeArrowheads="1"/>
            </p:cNvSpPr>
            <p:nvPr/>
          </p:nvSpPr>
          <p:spPr bwMode="auto">
            <a:xfrm>
              <a:off x="0" y="42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2" name="Rectangle 5"/>
            <p:cNvSpPr>
              <a:spLocks noChangeArrowheads="1"/>
            </p:cNvSpPr>
            <p:nvPr/>
          </p:nvSpPr>
          <p:spPr bwMode="auto">
            <a:xfrm>
              <a:off x="0" y="84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3" name="Rectangle 6"/>
            <p:cNvSpPr>
              <a:spLocks noChangeArrowheads="1"/>
            </p:cNvSpPr>
            <p:nvPr/>
          </p:nvSpPr>
          <p:spPr bwMode="auto">
            <a:xfrm>
              <a:off x="0" y="1272"/>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4" name="Rectangle 7"/>
            <p:cNvSpPr>
              <a:spLocks noChangeArrowheads="1"/>
            </p:cNvSpPr>
            <p:nvPr/>
          </p:nvSpPr>
          <p:spPr bwMode="auto">
            <a:xfrm>
              <a:off x="0" y="1696"/>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5" name="Rectangle 8"/>
            <p:cNvSpPr>
              <a:spLocks noChangeArrowheads="1"/>
            </p:cNvSpPr>
            <p:nvPr/>
          </p:nvSpPr>
          <p:spPr bwMode="auto">
            <a:xfrm>
              <a:off x="0" y="212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6" name="Rectangle 9"/>
            <p:cNvSpPr>
              <a:spLocks noChangeArrowheads="1"/>
            </p:cNvSpPr>
            <p:nvPr/>
          </p:nvSpPr>
          <p:spPr bwMode="auto">
            <a:xfrm>
              <a:off x="0" y="254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67" name="Rectangle 10"/>
            <p:cNvSpPr>
              <a:spLocks noChangeArrowheads="1"/>
            </p:cNvSpPr>
            <p:nvPr/>
          </p:nvSpPr>
          <p:spPr bwMode="auto">
            <a:xfrm>
              <a:off x="66" y="32"/>
              <a:ext cx="697"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应用层</a:t>
              </a:r>
            </a:p>
          </p:txBody>
        </p:sp>
        <p:sp>
          <p:nvSpPr>
            <p:cNvPr id="42068" name="Rectangle 11"/>
            <p:cNvSpPr>
              <a:spLocks noChangeArrowheads="1"/>
            </p:cNvSpPr>
            <p:nvPr/>
          </p:nvSpPr>
          <p:spPr bwMode="auto">
            <a:xfrm>
              <a:off x="52" y="448"/>
              <a:ext cx="73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Presentation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表示层</a:t>
              </a:r>
            </a:p>
          </p:txBody>
        </p:sp>
        <p:sp>
          <p:nvSpPr>
            <p:cNvPr id="42069" name="Rectangle 12"/>
            <p:cNvSpPr>
              <a:spLocks noChangeArrowheads="1"/>
            </p:cNvSpPr>
            <p:nvPr/>
          </p:nvSpPr>
          <p:spPr bwMode="auto">
            <a:xfrm>
              <a:off x="178" y="864"/>
              <a:ext cx="50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Session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会话层</a:t>
              </a:r>
            </a:p>
          </p:txBody>
        </p:sp>
        <p:sp>
          <p:nvSpPr>
            <p:cNvPr id="42070" name="Rectangle 13"/>
            <p:cNvSpPr>
              <a:spLocks noChangeArrowheads="1"/>
            </p:cNvSpPr>
            <p:nvPr/>
          </p:nvSpPr>
          <p:spPr bwMode="auto">
            <a:xfrm>
              <a:off x="130" y="1280"/>
              <a:ext cx="61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传输层</a:t>
              </a:r>
            </a:p>
          </p:txBody>
        </p:sp>
        <p:sp>
          <p:nvSpPr>
            <p:cNvPr id="42071" name="Rectangle 14"/>
            <p:cNvSpPr>
              <a:spLocks noChangeArrowheads="1"/>
            </p:cNvSpPr>
            <p:nvPr/>
          </p:nvSpPr>
          <p:spPr bwMode="auto">
            <a:xfrm>
              <a:off x="165" y="1696"/>
              <a:ext cx="561"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网络层</a:t>
              </a:r>
            </a:p>
          </p:txBody>
        </p:sp>
        <p:sp>
          <p:nvSpPr>
            <p:cNvPr id="42072" name="Rectangle 15"/>
            <p:cNvSpPr>
              <a:spLocks noChangeArrowheads="1"/>
            </p:cNvSpPr>
            <p:nvPr/>
          </p:nvSpPr>
          <p:spPr bwMode="auto">
            <a:xfrm>
              <a:off x="72" y="2112"/>
              <a:ext cx="761"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Data Link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数据链路层</a:t>
              </a:r>
            </a:p>
          </p:txBody>
        </p:sp>
        <p:sp>
          <p:nvSpPr>
            <p:cNvPr id="42073" name="Rectangle 16"/>
            <p:cNvSpPr>
              <a:spLocks noChangeArrowheads="1"/>
            </p:cNvSpPr>
            <p:nvPr/>
          </p:nvSpPr>
          <p:spPr bwMode="auto">
            <a:xfrm>
              <a:off x="202" y="2528"/>
              <a:ext cx="5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Physical</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物理层</a:t>
              </a:r>
            </a:p>
          </p:txBody>
        </p:sp>
        <p:sp>
          <p:nvSpPr>
            <p:cNvPr id="42074" name="Line 17"/>
            <p:cNvSpPr>
              <a:spLocks noChangeShapeType="1"/>
            </p:cNvSpPr>
            <p:nvPr/>
          </p:nvSpPr>
          <p:spPr bwMode="auto">
            <a:xfrm>
              <a:off x="432" y="2976"/>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002" name="Group 18"/>
          <p:cNvGrpSpPr>
            <a:grpSpLocks/>
          </p:cNvGrpSpPr>
          <p:nvPr/>
        </p:nvGrpSpPr>
        <p:grpSpPr bwMode="auto">
          <a:xfrm>
            <a:off x="8823325" y="1109663"/>
            <a:ext cx="1346200" cy="4876800"/>
            <a:chOff x="0" y="0"/>
            <a:chExt cx="848" cy="3072"/>
          </a:xfrm>
        </p:grpSpPr>
        <p:sp>
          <p:nvSpPr>
            <p:cNvPr id="42038" name="Rectangle 19"/>
            <p:cNvSpPr>
              <a:spLocks noChangeArrowheads="1"/>
            </p:cNvSpPr>
            <p:nvPr/>
          </p:nvSpPr>
          <p:spPr bwMode="auto">
            <a:xfrm>
              <a:off x="0" y="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39" name="Rectangle 20"/>
            <p:cNvSpPr>
              <a:spLocks noChangeArrowheads="1"/>
            </p:cNvSpPr>
            <p:nvPr/>
          </p:nvSpPr>
          <p:spPr bwMode="auto">
            <a:xfrm>
              <a:off x="0" y="42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0" name="Rectangle 21"/>
            <p:cNvSpPr>
              <a:spLocks noChangeArrowheads="1"/>
            </p:cNvSpPr>
            <p:nvPr/>
          </p:nvSpPr>
          <p:spPr bwMode="auto">
            <a:xfrm>
              <a:off x="0" y="84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1" name="Rectangle 22"/>
            <p:cNvSpPr>
              <a:spLocks noChangeArrowheads="1"/>
            </p:cNvSpPr>
            <p:nvPr/>
          </p:nvSpPr>
          <p:spPr bwMode="auto">
            <a:xfrm>
              <a:off x="0" y="1272"/>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2" name="Rectangle 23"/>
            <p:cNvSpPr>
              <a:spLocks noChangeArrowheads="1"/>
            </p:cNvSpPr>
            <p:nvPr/>
          </p:nvSpPr>
          <p:spPr bwMode="auto">
            <a:xfrm>
              <a:off x="0" y="1696"/>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3" name="Rectangle 24"/>
            <p:cNvSpPr>
              <a:spLocks noChangeArrowheads="1"/>
            </p:cNvSpPr>
            <p:nvPr/>
          </p:nvSpPr>
          <p:spPr bwMode="auto">
            <a:xfrm>
              <a:off x="0" y="212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4" name="Rectangle 25"/>
            <p:cNvSpPr>
              <a:spLocks noChangeArrowheads="1"/>
            </p:cNvSpPr>
            <p:nvPr/>
          </p:nvSpPr>
          <p:spPr bwMode="auto">
            <a:xfrm>
              <a:off x="0" y="254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5" name="Rectangle 26"/>
            <p:cNvSpPr>
              <a:spLocks noChangeArrowheads="1"/>
            </p:cNvSpPr>
            <p:nvPr/>
          </p:nvSpPr>
          <p:spPr bwMode="auto">
            <a:xfrm>
              <a:off x="0" y="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6" name="Rectangle 27"/>
            <p:cNvSpPr>
              <a:spLocks noChangeArrowheads="1"/>
            </p:cNvSpPr>
            <p:nvPr/>
          </p:nvSpPr>
          <p:spPr bwMode="auto">
            <a:xfrm>
              <a:off x="0" y="424"/>
              <a:ext cx="848" cy="4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7" name="Rectangle 28"/>
            <p:cNvSpPr>
              <a:spLocks noChangeArrowheads="1"/>
            </p:cNvSpPr>
            <p:nvPr/>
          </p:nvSpPr>
          <p:spPr bwMode="auto">
            <a:xfrm>
              <a:off x="0" y="84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8" name="Rectangle 29"/>
            <p:cNvSpPr>
              <a:spLocks noChangeArrowheads="1"/>
            </p:cNvSpPr>
            <p:nvPr/>
          </p:nvSpPr>
          <p:spPr bwMode="auto">
            <a:xfrm>
              <a:off x="0" y="1272"/>
              <a:ext cx="848" cy="4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49" name="Rectangle 30"/>
            <p:cNvSpPr>
              <a:spLocks noChangeArrowheads="1"/>
            </p:cNvSpPr>
            <p:nvPr/>
          </p:nvSpPr>
          <p:spPr bwMode="auto">
            <a:xfrm>
              <a:off x="0" y="1696"/>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50" name="Rectangle 31"/>
            <p:cNvSpPr>
              <a:spLocks noChangeArrowheads="1"/>
            </p:cNvSpPr>
            <p:nvPr/>
          </p:nvSpPr>
          <p:spPr bwMode="auto">
            <a:xfrm>
              <a:off x="0" y="2120"/>
              <a:ext cx="848" cy="4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51" name="Rectangle 32"/>
            <p:cNvSpPr>
              <a:spLocks noChangeArrowheads="1"/>
            </p:cNvSpPr>
            <p:nvPr/>
          </p:nvSpPr>
          <p:spPr bwMode="auto">
            <a:xfrm>
              <a:off x="0" y="254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52" name="Rectangle 33"/>
            <p:cNvSpPr>
              <a:spLocks noChangeArrowheads="1"/>
            </p:cNvSpPr>
            <p:nvPr/>
          </p:nvSpPr>
          <p:spPr bwMode="auto">
            <a:xfrm>
              <a:off x="66" y="32"/>
              <a:ext cx="697"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3" name="Rectangle 34"/>
            <p:cNvSpPr>
              <a:spLocks noChangeArrowheads="1"/>
            </p:cNvSpPr>
            <p:nvPr/>
          </p:nvSpPr>
          <p:spPr bwMode="auto">
            <a:xfrm>
              <a:off x="52" y="448"/>
              <a:ext cx="73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Presentation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4" name="Rectangle 35"/>
            <p:cNvSpPr>
              <a:spLocks noChangeArrowheads="1"/>
            </p:cNvSpPr>
            <p:nvPr/>
          </p:nvSpPr>
          <p:spPr bwMode="auto">
            <a:xfrm>
              <a:off x="186" y="864"/>
              <a:ext cx="48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Session</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5" name="Rectangle 36"/>
            <p:cNvSpPr>
              <a:spLocks noChangeArrowheads="1"/>
            </p:cNvSpPr>
            <p:nvPr/>
          </p:nvSpPr>
          <p:spPr bwMode="auto">
            <a:xfrm>
              <a:off x="130" y="1280"/>
              <a:ext cx="61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6" name="Rectangle 37"/>
            <p:cNvSpPr>
              <a:spLocks noChangeArrowheads="1"/>
            </p:cNvSpPr>
            <p:nvPr/>
          </p:nvSpPr>
          <p:spPr bwMode="auto">
            <a:xfrm>
              <a:off x="165" y="1696"/>
              <a:ext cx="561"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7" name="Rectangle 38"/>
            <p:cNvSpPr>
              <a:spLocks noChangeArrowheads="1"/>
            </p:cNvSpPr>
            <p:nvPr/>
          </p:nvSpPr>
          <p:spPr bwMode="auto">
            <a:xfrm>
              <a:off x="143" y="2112"/>
              <a:ext cx="6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Data Link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8" name="Rectangle 39"/>
            <p:cNvSpPr>
              <a:spLocks noChangeArrowheads="1"/>
            </p:cNvSpPr>
            <p:nvPr/>
          </p:nvSpPr>
          <p:spPr bwMode="auto">
            <a:xfrm>
              <a:off x="202" y="2528"/>
              <a:ext cx="5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Physical</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59" name="Line 40"/>
            <p:cNvSpPr>
              <a:spLocks noChangeShapeType="1"/>
            </p:cNvSpPr>
            <p:nvPr/>
          </p:nvSpPr>
          <p:spPr bwMode="auto">
            <a:xfrm>
              <a:off x="464" y="2976"/>
              <a:ext cx="0" cy="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025" name="Group 41"/>
          <p:cNvGrpSpPr>
            <a:grpSpLocks/>
          </p:cNvGrpSpPr>
          <p:nvPr/>
        </p:nvGrpSpPr>
        <p:grpSpPr bwMode="auto">
          <a:xfrm>
            <a:off x="2827338" y="481013"/>
            <a:ext cx="7397750" cy="615950"/>
            <a:chOff x="0" y="0"/>
            <a:chExt cx="4660" cy="388"/>
          </a:xfrm>
        </p:grpSpPr>
        <p:sp>
          <p:nvSpPr>
            <p:cNvPr id="42033" name="Rectangle 42"/>
            <p:cNvSpPr>
              <a:spLocks noChangeArrowheads="1"/>
            </p:cNvSpPr>
            <p:nvPr/>
          </p:nvSpPr>
          <p:spPr bwMode="auto">
            <a:xfrm>
              <a:off x="0" y="0"/>
              <a:ext cx="7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   应用  A</a:t>
              </a:r>
            </a:p>
          </p:txBody>
        </p:sp>
        <p:sp>
          <p:nvSpPr>
            <p:cNvPr id="42034" name="Line 43"/>
            <p:cNvSpPr>
              <a:spLocks noChangeShapeType="1"/>
            </p:cNvSpPr>
            <p:nvPr/>
          </p:nvSpPr>
          <p:spPr bwMode="auto">
            <a:xfrm>
              <a:off x="473" y="204"/>
              <a:ext cx="0" cy="16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35" name="Line 44"/>
            <p:cNvSpPr>
              <a:spLocks noChangeShapeType="1"/>
            </p:cNvSpPr>
            <p:nvPr/>
          </p:nvSpPr>
          <p:spPr bwMode="auto">
            <a:xfrm>
              <a:off x="4193" y="220"/>
              <a:ext cx="0" cy="16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36" name="Rectangle 45"/>
            <p:cNvSpPr>
              <a:spLocks noChangeArrowheads="1"/>
            </p:cNvSpPr>
            <p:nvPr/>
          </p:nvSpPr>
          <p:spPr bwMode="auto">
            <a:xfrm>
              <a:off x="3672" y="2"/>
              <a:ext cx="9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Application B</a:t>
              </a:r>
            </a:p>
          </p:txBody>
        </p:sp>
        <p:sp>
          <p:nvSpPr>
            <p:cNvPr id="42037" name="Line 46"/>
            <p:cNvSpPr>
              <a:spLocks noChangeShapeType="1"/>
            </p:cNvSpPr>
            <p:nvPr/>
          </p:nvSpPr>
          <p:spPr bwMode="auto">
            <a:xfrm>
              <a:off x="1049" y="132"/>
              <a:ext cx="2606"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2031" name="Group 47"/>
          <p:cNvGrpSpPr>
            <a:grpSpLocks/>
          </p:cNvGrpSpPr>
          <p:nvPr/>
        </p:nvGrpSpPr>
        <p:grpSpPr bwMode="auto">
          <a:xfrm>
            <a:off x="3679825" y="4135439"/>
            <a:ext cx="5842000" cy="1901825"/>
            <a:chOff x="0" y="0"/>
            <a:chExt cx="3680" cy="1198"/>
          </a:xfrm>
        </p:grpSpPr>
        <p:sp>
          <p:nvSpPr>
            <p:cNvPr id="42030" name="Line 48"/>
            <p:cNvSpPr>
              <a:spLocks noChangeShapeType="1"/>
            </p:cNvSpPr>
            <p:nvPr/>
          </p:nvSpPr>
          <p:spPr bwMode="auto">
            <a:xfrm>
              <a:off x="0" y="1198"/>
              <a:ext cx="9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Line 49"/>
            <p:cNvSpPr>
              <a:spLocks noChangeShapeType="1"/>
            </p:cNvSpPr>
            <p:nvPr/>
          </p:nvSpPr>
          <p:spPr bwMode="auto">
            <a:xfrm>
              <a:off x="2648" y="1174"/>
              <a:ext cx="1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32" name="Line 50"/>
            <p:cNvSpPr>
              <a:spLocks noChangeShapeType="1"/>
            </p:cNvSpPr>
            <p:nvPr/>
          </p:nvSpPr>
          <p:spPr bwMode="auto">
            <a:xfrm>
              <a:off x="389" y="0"/>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51"/>
          <p:cNvGrpSpPr>
            <a:grpSpLocks/>
          </p:cNvGrpSpPr>
          <p:nvPr/>
        </p:nvGrpSpPr>
        <p:grpSpPr bwMode="auto">
          <a:xfrm>
            <a:off x="4478338" y="1430339"/>
            <a:ext cx="4170362" cy="1931987"/>
            <a:chOff x="0" y="0"/>
            <a:chExt cx="2627" cy="1217"/>
          </a:xfrm>
        </p:grpSpPr>
        <p:grpSp>
          <p:nvGrpSpPr>
            <p:cNvPr id="4" name="Group 52"/>
            <p:cNvGrpSpPr>
              <a:grpSpLocks/>
            </p:cNvGrpSpPr>
            <p:nvPr/>
          </p:nvGrpSpPr>
          <p:grpSpPr bwMode="auto">
            <a:xfrm>
              <a:off x="3" y="0"/>
              <a:ext cx="2609" cy="466"/>
              <a:chOff x="0" y="0"/>
              <a:chExt cx="2609" cy="466"/>
            </a:xfrm>
          </p:grpSpPr>
          <p:sp>
            <p:nvSpPr>
              <p:cNvPr id="42028" name="Line 53"/>
              <p:cNvSpPr>
                <a:spLocks noChangeShapeType="1"/>
              </p:cNvSpPr>
              <p:nvPr/>
            </p:nvSpPr>
            <p:spPr bwMode="auto">
              <a:xfrm>
                <a:off x="3" y="0"/>
                <a:ext cx="2606"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9" name="Line 54"/>
              <p:cNvSpPr>
                <a:spLocks noChangeShapeType="1"/>
              </p:cNvSpPr>
              <p:nvPr/>
            </p:nvSpPr>
            <p:spPr bwMode="auto">
              <a:xfrm>
                <a:off x="0" y="466"/>
                <a:ext cx="2606"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2026" name="Line 55"/>
            <p:cNvSpPr>
              <a:spLocks noChangeShapeType="1"/>
            </p:cNvSpPr>
            <p:nvPr/>
          </p:nvSpPr>
          <p:spPr bwMode="auto">
            <a:xfrm>
              <a:off x="0" y="867"/>
              <a:ext cx="2606"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7" name="Line 56"/>
            <p:cNvSpPr>
              <a:spLocks noChangeShapeType="1"/>
            </p:cNvSpPr>
            <p:nvPr/>
          </p:nvSpPr>
          <p:spPr bwMode="auto">
            <a:xfrm>
              <a:off x="21" y="1217"/>
              <a:ext cx="2606"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57"/>
          <p:cNvGrpSpPr>
            <a:grpSpLocks/>
          </p:cNvGrpSpPr>
          <p:nvPr/>
        </p:nvGrpSpPr>
        <p:grpSpPr bwMode="auto">
          <a:xfrm>
            <a:off x="4332289" y="3481389"/>
            <a:ext cx="4460875" cy="3032125"/>
            <a:chOff x="0" y="0"/>
            <a:chExt cx="2810" cy="1910"/>
          </a:xfrm>
        </p:grpSpPr>
        <p:sp>
          <p:nvSpPr>
            <p:cNvPr id="41993" name="Rectangle 58"/>
            <p:cNvSpPr>
              <a:spLocks noChangeArrowheads="1"/>
            </p:cNvSpPr>
            <p:nvPr/>
          </p:nvSpPr>
          <p:spPr bwMode="auto">
            <a:xfrm>
              <a:off x="349" y="25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1994" name="Rectangle 59"/>
            <p:cNvSpPr>
              <a:spLocks noChangeArrowheads="1"/>
            </p:cNvSpPr>
            <p:nvPr/>
          </p:nvSpPr>
          <p:spPr bwMode="auto">
            <a:xfrm>
              <a:off x="349" y="682"/>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1995" name="Rectangle 60"/>
            <p:cNvSpPr>
              <a:spLocks noChangeArrowheads="1"/>
            </p:cNvSpPr>
            <p:nvPr/>
          </p:nvSpPr>
          <p:spPr bwMode="auto">
            <a:xfrm>
              <a:off x="349" y="1106"/>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1996" name="Rectangle 61"/>
            <p:cNvSpPr>
              <a:spLocks noChangeArrowheads="1"/>
            </p:cNvSpPr>
            <p:nvPr/>
          </p:nvSpPr>
          <p:spPr bwMode="auto">
            <a:xfrm>
              <a:off x="349" y="25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1997" name="Rectangle 62"/>
            <p:cNvSpPr>
              <a:spLocks noChangeArrowheads="1"/>
            </p:cNvSpPr>
            <p:nvPr/>
          </p:nvSpPr>
          <p:spPr bwMode="auto">
            <a:xfrm>
              <a:off x="349" y="682"/>
              <a:ext cx="848" cy="4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1998" name="Rectangle 63"/>
            <p:cNvSpPr>
              <a:spLocks noChangeArrowheads="1"/>
            </p:cNvSpPr>
            <p:nvPr/>
          </p:nvSpPr>
          <p:spPr bwMode="auto">
            <a:xfrm>
              <a:off x="482" y="290"/>
              <a:ext cx="561"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1999" name="Rectangle 64"/>
            <p:cNvSpPr>
              <a:spLocks noChangeArrowheads="1"/>
            </p:cNvSpPr>
            <p:nvPr/>
          </p:nvSpPr>
          <p:spPr bwMode="auto">
            <a:xfrm>
              <a:off x="884" y="1698"/>
              <a:ext cx="17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Electrical and/or Optical Signals</a:t>
              </a:r>
            </a:p>
          </p:txBody>
        </p:sp>
        <p:sp>
          <p:nvSpPr>
            <p:cNvPr id="42000" name="Line 65"/>
            <p:cNvSpPr>
              <a:spLocks noChangeShapeType="1"/>
            </p:cNvSpPr>
            <p:nvPr/>
          </p:nvSpPr>
          <p:spPr bwMode="auto">
            <a:xfrm>
              <a:off x="2229" y="1530"/>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1" name="Rectangle 66"/>
            <p:cNvSpPr>
              <a:spLocks noChangeArrowheads="1"/>
            </p:cNvSpPr>
            <p:nvPr/>
          </p:nvSpPr>
          <p:spPr bwMode="auto">
            <a:xfrm>
              <a:off x="452" y="706"/>
              <a:ext cx="6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Data Link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6" name="Rectangle 67"/>
            <p:cNvSpPr>
              <a:spLocks noChangeArrowheads="1"/>
            </p:cNvSpPr>
            <p:nvPr/>
          </p:nvSpPr>
          <p:spPr bwMode="auto">
            <a:xfrm>
              <a:off x="511" y="1130"/>
              <a:ext cx="5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Physical</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03" name="Line 68"/>
            <p:cNvSpPr>
              <a:spLocks noChangeShapeType="1"/>
            </p:cNvSpPr>
            <p:nvPr/>
          </p:nvSpPr>
          <p:spPr bwMode="auto">
            <a:xfrm>
              <a:off x="509" y="1546"/>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Rectangle 69"/>
            <p:cNvSpPr>
              <a:spLocks noChangeArrowheads="1"/>
            </p:cNvSpPr>
            <p:nvPr/>
          </p:nvSpPr>
          <p:spPr bwMode="auto">
            <a:xfrm>
              <a:off x="1581" y="25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05" name="Rectangle 70"/>
            <p:cNvSpPr>
              <a:spLocks noChangeArrowheads="1"/>
            </p:cNvSpPr>
            <p:nvPr/>
          </p:nvSpPr>
          <p:spPr bwMode="auto">
            <a:xfrm>
              <a:off x="1581" y="674"/>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06" name="Rectangle 71"/>
            <p:cNvSpPr>
              <a:spLocks noChangeArrowheads="1"/>
            </p:cNvSpPr>
            <p:nvPr/>
          </p:nvSpPr>
          <p:spPr bwMode="auto">
            <a:xfrm>
              <a:off x="1581" y="1098"/>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07" name="Rectangle 72"/>
            <p:cNvSpPr>
              <a:spLocks noChangeArrowheads="1"/>
            </p:cNvSpPr>
            <p:nvPr/>
          </p:nvSpPr>
          <p:spPr bwMode="auto">
            <a:xfrm>
              <a:off x="1581" y="250"/>
              <a:ext cx="848" cy="4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08" name="Rectangle 73"/>
            <p:cNvSpPr>
              <a:spLocks noChangeArrowheads="1"/>
            </p:cNvSpPr>
            <p:nvPr/>
          </p:nvSpPr>
          <p:spPr bwMode="auto">
            <a:xfrm>
              <a:off x="1581" y="674"/>
              <a:ext cx="848" cy="4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09" name="Rectangle 74"/>
            <p:cNvSpPr>
              <a:spLocks noChangeArrowheads="1"/>
            </p:cNvSpPr>
            <p:nvPr/>
          </p:nvSpPr>
          <p:spPr bwMode="auto">
            <a:xfrm>
              <a:off x="1714" y="282"/>
              <a:ext cx="561"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10" name="Rectangle 75"/>
            <p:cNvSpPr>
              <a:spLocks noChangeArrowheads="1"/>
            </p:cNvSpPr>
            <p:nvPr/>
          </p:nvSpPr>
          <p:spPr bwMode="auto">
            <a:xfrm>
              <a:off x="1684" y="698"/>
              <a:ext cx="6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Data Link</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11" name="Rectangle 76"/>
            <p:cNvSpPr>
              <a:spLocks noChangeArrowheads="1"/>
            </p:cNvSpPr>
            <p:nvPr/>
          </p:nvSpPr>
          <p:spPr bwMode="auto">
            <a:xfrm>
              <a:off x="1743" y="1122"/>
              <a:ext cx="51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Physical</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Layer</a:t>
              </a:r>
            </a:p>
          </p:txBody>
        </p:sp>
        <p:sp>
          <p:nvSpPr>
            <p:cNvPr id="42012" name="Line 77"/>
            <p:cNvSpPr>
              <a:spLocks noChangeShapeType="1"/>
            </p:cNvSpPr>
            <p:nvPr/>
          </p:nvSpPr>
          <p:spPr bwMode="auto">
            <a:xfrm>
              <a:off x="1781" y="1530"/>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3" name="AutoShape 78"/>
            <p:cNvSpPr>
              <a:spLocks noChangeArrowheads="1"/>
            </p:cNvSpPr>
            <p:nvPr/>
          </p:nvSpPr>
          <p:spPr bwMode="auto">
            <a:xfrm>
              <a:off x="105" y="158"/>
              <a:ext cx="2624" cy="1552"/>
            </a:xfrm>
            <a:prstGeom prst="roundRect">
              <a:avLst>
                <a:gd name="adj" fmla="val 12495"/>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2014" name="Rectangle 79"/>
            <p:cNvSpPr>
              <a:spLocks noChangeArrowheads="1"/>
            </p:cNvSpPr>
            <p:nvPr/>
          </p:nvSpPr>
          <p:spPr bwMode="auto">
            <a:xfrm>
              <a:off x="493" y="0"/>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中继系统</a:t>
              </a:r>
            </a:p>
          </p:txBody>
        </p:sp>
        <p:sp>
          <p:nvSpPr>
            <p:cNvPr id="42015" name="Line 80"/>
            <p:cNvSpPr>
              <a:spLocks noChangeShapeType="1"/>
            </p:cNvSpPr>
            <p:nvPr/>
          </p:nvSpPr>
          <p:spPr bwMode="auto">
            <a:xfrm>
              <a:off x="1053" y="1538"/>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6" name="Line 81"/>
            <p:cNvSpPr>
              <a:spLocks noChangeShapeType="1"/>
            </p:cNvSpPr>
            <p:nvPr/>
          </p:nvSpPr>
          <p:spPr bwMode="auto">
            <a:xfrm>
              <a:off x="1061" y="1666"/>
              <a:ext cx="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7" name="Line 82"/>
            <p:cNvSpPr>
              <a:spLocks noChangeShapeType="1"/>
            </p:cNvSpPr>
            <p:nvPr/>
          </p:nvSpPr>
          <p:spPr bwMode="auto">
            <a:xfrm>
              <a:off x="0" y="892"/>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8" name="Line 83"/>
            <p:cNvSpPr>
              <a:spLocks noChangeShapeType="1"/>
            </p:cNvSpPr>
            <p:nvPr/>
          </p:nvSpPr>
          <p:spPr bwMode="auto">
            <a:xfrm>
              <a:off x="6" y="1292"/>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9" name="Line 84"/>
            <p:cNvSpPr>
              <a:spLocks noChangeShapeType="1"/>
            </p:cNvSpPr>
            <p:nvPr/>
          </p:nvSpPr>
          <p:spPr bwMode="auto">
            <a:xfrm>
              <a:off x="1195" y="476"/>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0" name="Line 85"/>
            <p:cNvSpPr>
              <a:spLocks noChangeShapeType="1"/>
            </p:cNvSpPr>
            <p:nvPr/>
          </p:nvSpPr>
          <p:spPr bwMode="auto">
            <a:xfrm>
              <a:off x="1209" y="877"/>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1" name="Line 86"/>
            <p:cNvSpPr>
              <a:spLocks noChangeShapeType="1"/>
            </p:cNvSpPr>
            <p:nvPr/>
          </p:nvSpPr>
          <p:spPr bwMode="auto">
            <a:xfrm>
              <a:off x="1223" y="1278"/>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2" name="Line 87"/>
            <p:cNvSpPr>
              <a:spLocks noChangeShapeType="1"/>
            </p:cNvSpPr>
            <p:nvPr/>
          </p:nvSpPr>
          <p:spPr bwMode="auto">
            <a:xfrm>
              <a:off x="2437" y="463"/>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3" name="Line 88"/>
            <p:cNvSpPr>
              <a:spLocks noChangeShapeType="1"/>
            </p:cNvSpPr>
            <p:nvPr/>
          </p:nvSpPr>
          <p:spPr bwMode="auto">
            <a:xfrm>
              <a:off x="2443" y="872"/>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24" name="Line 89"/>
            <p:cNvSpPr>
              <a:spLocks noChangeShapeType="1"/>
            </p:cNvSpPr>
            <p:nvPr/>
          </p:nvSpPr>
          <p:spPr bwMode="auto">
            <a:xfrm>
              <a:off x="2449" y="1281"/>
              <a:ext cx="361" cy="0"/>
            </a:xfrm>
            <a:prstGeom prst="line">
              <a:avLst/>
            </a:prstGeom>
            <a:noFill/>
            <a:ln w="25400" cap="rnd">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 name="Text Box 90"/>
          <p:cNvSpPr txBox="1">
            <a:spLocks noChangeArrowheads="1"/>
          </p:cNvSpPr>
          <p:nvPr/>
        </p:nvSpPr>
        <p:spPr bwMode="auto">
          <a:xfrm>
            <a:off x="1790701" y="1150939"/>
            <a:ext cx="1865313" cy="450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zh-CN" sz="2000">
                <a:solidFill>
                  <a:schemeClr val="hlink"/>
                </a:solidFill>
                <a:latin typeface="华文楷体" panose="02010600040101010101" pitchFamily="2" charset="-122"/>
                <a:ea typeface="华文楷体" panose="02010600040101010101" pitchFamily="2" charset="-122"/>
              </a:rPr>
              <a:t>数据单元</a:t>
            </a:r>
          </a:p>
          <a:p>
            <a:pPr eaLnBrk="1" hangingPunct="1">
              <a:spcBef>
                <a:spcPct val="2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APDU</a:t>
            </a:r>
          </a:p>
          <a:p>
            <a:pPr eaLnBrk="1" hangingPunct="1">
              <a:spcBef>
                <a:spcPct val="7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PPDU</a:t>
            </a:r>
          </a:p>
          <a:p>
            <a:pPr eaLnBrk="1" hangingPunct="1">
              <a:spcBef>
                <a:spcPct val="7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SPDU</a:t>
            </a:r>
          </a:p>
          <a:p>
            <a:pPr eaLnBrk="1" hangingPunct="1">
              <a:spcBef>
                <a:spcPct val="70000"/>
              </a:spcBef>
              <a:buFont typeface="Wingdings" panose="05000000000000000000" pitchFamily="2" charset="2"/>
              <a:buNone/>
            </a:pPr>
            <a:r>
              <a:rPr lang="zh-CN" altLang="zh-CN" sz="2000">
                <a:solidFill>
                  <a:schemeClr val="accent2"/>
                </a:solidFill>
                <a:latin typeface="华文楷体" panose="02010600040101010101" pitchFamily="2" charset="-122"/>
                <a:ea typeface="华文楷体" panose="02010600040101010101" pitchFamily="2" charset="-122"/>
              </a:rPr>
              <a:t>   报文</a:t>
            </a:r>
          </a:p>
          <a:p>
            <a:pPr eaLnBrk="1" hangingPunct="1">
              <a:spcBef>
                <a:spcPct val="7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分组</a:t>
            </a:r>
          </a:p>
          <a:p>
            <a:pPr eaLnBrk="1" hangingPunct="1">
              <a:spcBef>
                <a:spcPct val="7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帧</a:t>
            </a:r>
          </a:p>
          <a:p>
            <a:pPr eaLnBrk="1" hangingPunct="1">
              <a:spcBef>
                <a:spcPct val="70000"/>
              </a:spcBef>
              <a:buFont typeface="Wingdings" panose="05000000000000000000" pitchFamily="2" charset="2"/>
              <a:buNone/>
            </a:pPr>
            <a:r>
              <a:rPr lang="zh-CN" altLang="zh-CN" sz="2400">
                <a:solidFill>
                  <a:schemeClr val="accent2"/>
                </a:solidFill>
                <a:latin typeface="华文楷体" panose="02010600040101010101" pitchFamily="2" charset="-122"/>
                <a:ea typeface="华文楷体" panose="02010600040101010101" pitchFamily="2" charset="-122"/>
              </a:rPr>
              <a:t>  比特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2025"/>
                                        </p:tgtEl>
                                        <p:attrNameLst>
                                          <p:attrName>style.visibility</p:attrName>
                                        </p:attrNameLst>
                                      </p:cBhvr>
                                      <p:to>
                                        <p:strVal val="visible"/>
                                      </p:to>
                                    </p:set>
                                    <p:anim calcmode="lin" valueType="num">
                                      <p:cBhvr additive="base">
                                        <p:cTn id="7" dur="500" fill="hold"/>
                                        <p:tgtEl>
                                          <p:spTgt spid="42025"/>
                                        </p:tgtEl>
                                        <p:attrNameLst>
                                          <p:attrName>ppt_x</p:attrName>
                                        </p:attrNameLst>
                                      </p:cBhvr>
                                      <p:tavLst>
                                        <p:tav tm="0">
                                          <p:val>
                                            <p:strVal val="1+#ppt_w/2"/>
                                          </p:val>
                                        </p:tav>
                                        <p:tav tm="100000">
                                          <p:val>
                                            <p:strVal val="#ppt_x"/>
                                          </p:val>
                                        </p:tav>
                                      </p:tavLst>
                                    </p:anim>
                                    <p:anim calcmode="lin" valueType="num">
                                      <p:cBhvr additive="base">
                                        <p:cTn id="8" dur="500" fill="hold"/>
                                        <p:tgtEl>
                                          <p:spTgt spid="420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1986"/>
                                        </p:tgtEl>
                                        <p:attrNameLst>
                                          <p:attrName>style.visibility</p:attrName>
                                        </p:attrNameLst>
                                      </p:cBhvr>
                                      <p:to>
                                        <p:strVal val="visible"/>
                                      </p:to>
                                    </p:set>
                                    <p:anim calcmode="lin" valueType="num">
                                      <p:cBhvr additive="base">
                                        <p:cTn id="13" dur="500" fill="hold"/>
                                        <p:tgtEl>
                                          <p:spTgt spid="41986"/>
                                        </p:tgtEl>
                                        <p:attrNameLst>
                                          <p:attrName>ppt_x</p:attrName>
                                        </p:attrNameLst>
                                      </p:cBhvr>
                                      <p:tavLst>
                                        <p:tav tm="0">
                                          <p:val>
                                            <p:strVal val="1+#ppt_w/2"/>
                                          </p:val>
                                        </p:tav>
                                        <p:tav tm="100000">
                                          <p:val>
                                            <p:strVal val="#ppt_x"/>
                                          </p:val>
                                        </p:tav>
                                      </p:tavLst>
                                    </p:anim>
                                    <p:anim calcmode="lin" valueType="num">
                                      <p:cBhvr additive="base">
                                        <p:cTn id="14" dur="500" fill="hold"/>
                                        <p:tgtEl>
                                          <p:spTgt spid="419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42002"/>
                                        </p:tgtEl>
                                        <p:attrNameLst>
                                          <p:attrName>style.visibility</p:attrName>
                                        </p:attrNameLst>
                                      </p:cBhvr>
                                      <p:to>
                                        <p:strVal val="visible"/>
                                      </p:to>
                                    </p:set>
                                    <p:anim calcmode="lin" valueType="num">
                                      <p:cBhvr additive="base">
                                        <p:cTn id="19" dur="500" fill="hold"/>
                                        <p:tgtEl>
                                          <p:spTgt spid="42002"/>
                                        </p:tgtEl>
                                        <p:attrNameLst>
                                          <p:attrName>ppt_x</p:attrName>
                                        </p:attrNameLst>
                                      </p:cBhvr>
                                      <p:tavLst>
                                        <p:tav tm="0">
                                          <p:val>
                                            <p:strVal val="1+#ppt_w/2"/>
                                          </p:val>
                                        </p:tav>
                                        <p:tav tm="100000">
                                          <p:val>
                                            <p:strVal val="#ppt_x"/>
                                          </p:val>
                                        </p:tav>
                                      </p:tavLst>
                                    </p:anim>
                                    <p:anim calcmode="lin" valueType="num">
                                      <p:cBhvr additive="base">
                                        <p:cTn id="20" dur="500" fill="hold"/>
                                        <p:tgtEl>
                                          <p:spTgt spid="4200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42031"/>
                                        </p:tgtEl>
                                        <p:attrNameLst>
                                          <p:attrName>style.visibility</p:attrName>
                                        </p:attrNameLst>
                                      </p:cBhvr>
                                      <p:to>
                                        <p:strVal val="visible"/>
                                      </p:to>
                                    </p:set>
                                    <p:anim calcmode="lin" valueType="num">
                                      <p:cBhvr additive="base">
                                        <p:cTn id="31" dur="500" fill="hold"/>
                                        <p:tgtEl>
                                          <p:spTgt spid="42031"/>
                                        </p:tgtEl>
                                        <p:attrNameLst>
                                          <p:attrName>ppt_x</p:attrName>
                                        </p:attrNameLst>
                                      </p:cBhvr>
                                      <p:tavLst>
                                        <p:tav tm="0">
                                          <p:val>
                                            <p:strVal val="1+#ppt_w/2"/>
                                          </p:val>
                                        </p:tav>
                                        <p:tav tm="100000">
                                          <p:val>
                                            <p:strVal val="#ppt_x"/>
                                          </p:val>
                                        </p:tav>
                                      </p:tavLst>
                                    </p:anim>
                                    <p:anim calcmode="lin" valueType="num">
                                      <p:cBhvr additive="base">
                                        <p:cTn id="32" dur="500" fill="hold"/>
                                        <p:tgtEl>
                                          <p:spTgt spid="4203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1+#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 calcmode="lin" valueType="num">
                                      <p:cBhvr additive="base">
                                        <p:cTn id="43"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anim calcmode="lin" valueType="num">
                                      <p:cBhvr additive="base">
                                        <p:cTn id="49"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anim calcmode="lin" valueType="num">
                                      <p:cBhvr additive="base">
                                        <p:cTn id="55"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7">
                                            <p:txEl>
                                              <p:pRg st="3" end="3"/>
                                            </p:txEl>
                                          </p:spTgt>
                                        </p:tgtEl>
                                        <p:attrNameLst>
                                          <p:attrName>style.visibility</p:attrName>
                                        </p:attrNameLst>
                                      </p:cBhvr>
                                      <p:to>
                                        <p:strVal val="visible"/>
                                      </p:to>
                                    </p:set>
                                    <p:anim calcmode="lin" valueType="num">
                                      <p:cBhvr additive="base">
                                        <p:cTn id="61"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7">
                                            <p:txEl>
                                              <p:pRg st="4" end="4"/>
                                            </p:txEl>
                                          </p:spTgt>
                                        </p:tgtEl>
                                        <p:attrNameLst>
                                          <p:attrName>style.visibility</p:attrName>
                                        </p:attrNameLst>
                                      </p:cBhvr>
                                      <p:to>
                                        <p:strVal val="visible"/>
                                      </p:to>
                                    </p:set>
                                    <p:anim calcmode="lin" valueType="num">
                                      <p:cBhvr additive="base">
                                        <p:cTn id="67"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7">
                                            <p:txEl>
                                              <p:pRg st="5" end="5"/>
                                            </p:txEl>
                                          </p:spTgt>
                                        </p:tgtEl>
                                        <p:attrNameLst>
                                          <p:attrName>style.visibility</p:attrName>
                                        </p:attrNameLst>
                                      </p:cBhvr>
                                      <p:to>
                                        <p:strVal val="visible"/>
                                      </p:to>
                                    </p:set>
                                    <p:anim calcmode="lin" valueType="num">
                                      <p:cBhvr additive="base">
                                        <p:cTn id="73" dur="500" fill="hold"/>
                                        <p:tgtEl>
                                          <p:spTgt spid="7">
                                            <p:txEl>
                                              <p:pRg st="5" end="5"/>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7">
                                            <p:txEl>
                                              <p:pRg st="6" end="6"/>
                                            </p:txEl>
                                          </p:spTgt>
                                        </p:tgtEl>
                                        <p:attrNameLst>
                                          <p:attrName>style.visibility</p:attrName>
                                        </p:attrNameLst>
                                      </p:cBhvr>
                                      <p:to>
                                        <p:strVal val="visible"/>
                                      </p:to>
                                    </p:set>
                                    <p:anim calcmode="lin" valueType="num">
                                      <p:cBhvr additive="base">
                                        <p:cTn id="79" dur="500" fill="hold"/>
                                        <p:tgtEl>
                                          <p:spTgt spid="7">
                                            <p:txEl>
                                              <p:pRg st="6" end="6"/>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7">
                                            <p:txEl>
                                              <p:pRg st="7" end="7"/>
                                            </p:txEl>
                                          </p:spTgt>
                                        </p:tgtEl>
                                        <p:attrNameLst>
                                          <p:attrName>style.visibility</p:attrName>
                                        </p:attrNameLst>
                                      </p:cBhvr>
                                      <p:to>
                                        <p:strVal val="visible"/>
                                      </p:to>
                                    </p:set>
                                    <p:anim calcmode="lin" valueType="num">
                                      <p:cBhvr additive="base">
                                        <p:cTn id="85" dur="500" fill="hold"/>
                                        <p:tgtEl>
                                          <p:spTgt spid="7">
                                            <p:txEl>
                                              <p:pRg st="7" end="7"/>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46064" y="239714"/>
            <a:ext cx="4040187" cy="649287"/>
          </a:xfrm>
        </p:spPr>
        <p:txBody>
          <a:bodyPr>
            <a:normAutofit fontScale="90000"/>
          </a:bodyPr>
          <a:lstStyle/>
          <a:p>
            <a:pPr eaLnBrk="1" hangingPunct="1"/>
            <a:r>
              <a:rPr lang="en-US" altLang="zh-CN"/>
              <a:t>2.</a:t>
            </a:r>
            <a:r>
              <a:rPr lang="zh-CN" altLang="zh-CN"/>
              <a:t>4</a:t>
            </a:r>
            <a:r>
              <a:rPr lang="en-US" altLang="zh-CN"/>
              <a:t> </a:t>
            </a:r>
            <a:r>
              <a:rPr lang="zh-CN" altLang="zh-CN"/>
              <a:t>OSI/RM要点</a:t>
            </a:r>
          </a:p>
        </p:txBody>
      </p:sp>
      <p:sp>
        <p:nvSpPr>
          <p:cNvPr id="43011" name="Text Box 3"/>
          <p:cNvSpPr txBox="1">
            <a:spLocks noChangeArrowheads="1"/>
          </p:cNvSpPr>
          <p:nvPr/>
        </p:nvSpPr>
        <p:spPr bwMode="auto">
          <a:xfrm>
            <a:off x="522514" y="1798503"/>
            <a:ext cx="10972799" cy="20313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Font typeface="Wingdings" panose="05000000000000000000" pitchFamily="2" charset="2"/>
              <a:buNone/>
            </a:pPr>
            <a:r>
              <a:rPr lang="zh-CN" altLang="zh-CN" sz="3600" b="1">
                <a:solidFill>
                  <a:schemeClr val="accent2"/>
                </a:solidFill>
                <a:latin typeface="华文楷体" panose="02010600040101010101" pitchFamily="2" charset="-122"/>
                <a:ea typeface="华文楷体" panose="02010600040101010101" pitchFamily="2" charset="-122"/>
              </a:rPr>
              <a:t>分层</a:t>
            </a:r>
            <a:r>
              <a:rPr lang="zh-CN" altLang="zh-CN" sz="3600" b="1">
                <a:latin typeface="华文楷体" panose="02010600040101010101" pitchFamily="2" charset="-122"/>
                <a:ea typeface="华文楷体" panose="02010600040101010101" pitchFamily="2" charset="-122"/>
              </a:rPr>
              <a:t>、</a:t>
            </a:r>
            <a:r>
              <a:rPr lang="zh-CN" altLang="zh-CN" sz="3600" b="1">
                <a:solidFill>
                  <a:schemeClr val="accent2"/>
                </a:solidFill>
                <a:latin typeface="华文楷体" panose="02010600040101010101" pitchFamily="2" charset="-122"/>
                <a:ea typeface="华文楷体" panose="02010600040101010101" pitchFamily="2" charset="-122"/>
              </a:rPr>
              <a:t>层接口</a:t>
            </a:r>
            <a:r>
              <a:rPr lang="zh-CN" altLang="zh-CN" sz="3600" b="1">
                <a:latin typeface="华文楷体" panose="02010600040101010101" pitchFamily="2" charset="-122"/>
                <a:ea typeface="华文楷体" panose="02010600040101010101" pitchFamily="2" charset="-122"/>
              </a:rPr>
              <a:t>、</a:t>
            </a:r>
            <a:r>
              <a:rPr lang="zh-CN" altLang="zh-CN" sz="3600" b="1">
                <a:solidFill>
                  <a:schemeClr val="accent2"/>
                </a:solidFill>
                <a:latin typeface="华文楷体" panose="02010600040101010101" pitchFamily="2" charset="-122"/>
                <a:ea typeface="华文楷体" panose="02010600040101010101" pitchFamily="2" charset="-122"/>
              </a:rPr>
              <a:t>层功能</a:t>
            </a:r>
            <a:r>
              <a:rPr lang="zh-CN" altLang="zh-CN" sz="3600" b="1">
                <a:latin typeface="华文楷体" panose="02010600040101010101" pitchFamily="2" charset="-122"/>
                <a:ea typeface="华文楷体" panose="02010600040101010101" pitchFamily="2" charset="-122"/>
              </a:rPr>
              <a:t>、</a:t>
            </a:r>
            <a:r>
              <a:rPr lang="zh-CN" altLang="zh-CN" sz="3600" b="1">
                <a:solidFill>
                  <a:schemeClr val="accent2"/>
                </a:solidFill>
                <a:latin typeface="华文楷体" panose="02010600040101010101" pitchFamily="2" charset="-122"/>
                <a:ea typeface="华文楷体" panose="02010600040101010101" pitchFamily="2" charset="-122"/>
              </a:rPr>
              <a:t>服务</a:t>
            </a:r>
            <a:r>
              <a:rPr lang="zh-CN" altLang="zh-CN" sz="3600" b="1">
                <a:latin typeface="华文楷体" panose="02010600040101010101" pitchFamily="2" charset="-122"/>
                <a:ea typeface="华文楷体" panose="02010600040101010101" pitchFamily="2" charset="-122"/>
              </a:rPr>
              <a:t>、</a:t>
            </a:r>
            <a:r>
              <a:rPr lang="zh-CN" altLang="zh-CN" sz="3600" b="1">
                <a:solidFill>
                  <a:schemeClr val="accent2"/>
                </a:solidFill>
                <a:latin typeface="华文楷体" panose="02010600040101010101" pitchFamily="2" charset="-122"/>
                <a:ea typeface="华文楷体" panose="02010600040101010101" pitchFamily="2" charset="-122"/>
              </a:rPr>
              <a:t>协议</a:t>
            </a:r>
            <a:r>
              <a:rPr lang="zh-CN" altLang="zh-CN" sz="3600" b="1">
                <a:latin typeface="华文楷体" panose="02010600040101010101" pitchFamily="2" charset="-122"/>
                <a:ea typeface="华文楷体" panose="02010600040101010101" pitchFamily="2" charset="-122"/>
              </a:rPr>
              <a:t>、</a:t>
            </a:r>
            <a:r>
              <a:rPr lang="zh-CN" altLang="zh-CN" sz="3600" b="1">
                <a:solidFill>
                  <a:schemeClr val="accent2"/>
                </a:solidFill>
                <a:latin typeface="华文楷体" panose="02010600040101010101" pitchFamily="2" charset="-122"/>
                <a:ea typeface="华文楷体" panose="02010600040101010101" pitchFamily="2" charset="-122"/>
              </a:rPr>
              <a:t>服务访问点</a:t>
            </a:r>
          </a:p>
          <a:p>
            <a:pPr algn="just" eaLnBrk="1" hangingPunct="1">
              <a:spcBef>
                <a:spcPct val="50000"/>
              </a:spcBef>
              <a:buFont typeface="Wingdings" panose="05000000000000000000" pitchFamily="2" charset="2"/>
              <a:buNone/>
            </a:pPr>
            <a:r>
              <a:rPr lang="zh-CN" altLang="zh-CN" sz="3600">
                <a:latin typeface="华文楷体" panose="02010600040101010101" pitchFamily="2" charset="-122"/>
                <a:ea typeface="华文楷体" panose="02010600040101010101" pitchFamily="2" charset="-122"/>
              </a:rPr>
              <a:t>    OSI/RM总共分为七层，每一层的完成一定的功能，同时通过层间接口为它的上层提供服务</a:t>
            </a:r>
            <a:r>
              <a:rPr lang="zh-CN" altLang="zh-CN" sz="3200">
                <a:latin typeface="华文楷体" panose="02010600040101010101" pitchFamily="2" charset="-122"/>
                <a:ea typeface="华文楷体" panose="02010600040101010101" pitchFamily="2" charset="-122"/>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238625" y="254000"/>
            <a:ext cx="3714750" cy="673100"/>
          </a:xfrm>
        </p:spPr>
        <p:txBody>
          <a:bodyPr>
            <a:normAutofit fontScale="90000"/>
          </a:bodyPr>
          <a:lstStyle/>
          <a:p>
            <a:pPr algn="ctr" eaLnBrk="1" hangingPunct="1"/>
            <a:r>
              <a:rPr lang="zh-CN" altLang="zh-CN"/>
              <a:t>服务</a:t>
            </a:r>
          </a:p>
        </p:txBody>
      </p:sp>
      <p:sp>
        <p:nvSpPr>
          <p:cNvPr id="44035" name="Text Box 3"/>
          <p:cNvSpPr txBox="1">
            <a:spLocks noChangeArrowheads="1"/>
          </p:cNvSpPr>
          <p:nvPr/>
        </p:nvSpPr>
        <p:spPr bwMode="auto">
          <a:xfrm>
            <a:off x="775063" y="1393825"/>
            <a:ext cx="10929257" cy="328089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spcBef>
                <a:spcPct val="20000"/>
              </a:spcBef>
              <a:buClr>
                <a:schemeClr val="hlink"/>
              </a:buClr>
              <a:buFont typeface="Wingdings" panose="05000000000000000000" pitchFamily="2" charset="2"/>
              <a:buChar char="u"/>
            </a:pPr>
            <a:r>
              <a:rPr lang="zh-CN" altLang="zh-CN" b="1">
                <a:latin typeface="华文楷体" panose="02010600040101010101" pitchFamily="2" charset="-122"/>
                <a:ea typeface="华文楷体" panose="02010600040101010101" pitchFamily="2" charset="-122"/>
              </a:rPr>
              <a:t>在OSI服务定义文本中，协议层间交换的信息（种类、信息内部参数及用途）被称为</a:t>
            </a:r>
            <a:r>
              <a:rPr lang="zh-CN" altLang="zh-CN" b="1">
                <a:solidFill>
                  <a:schemeClr val="hlink"/>
                </a:solidFill>
                <a:latin typeface="华文楷体" panose="02010600040101010101" pitchFamily="2" charset="-122"/>
                <a:ea typeface="华文楷体" panose="02010600040101010101" pitchFamily="2" charset="-122"/>
              </a:rPr>
              <a:t>服务原语</a:t>
            </a:r>
            <a:r>
              <a:rPr lang="zh-CN" altLang="zh-CN" b="1">
                <a:latin typeface="华文楷体" panose="02010600040101010101" pitchFamily="2" charset="-122"/>
                <a:ea typeface="华文楷体" panose="02010600040101010101" pitchFamily="2" charset="-122"/>
              </a:rPr>
              <a:t>。由于对服务原语的定义不涉及其具体的表达格式，又称之为</a:t>
            </a:r>
            <a:r>
              <a:rPr lang="zh-CN" altLang="zh-CN" b="1">
                <a:solidFill>
                  <a:schemeClr val="hlink"/>
                </a:solidFill>
                <a:latin typeface="华文楷体" panose="02010600040101010101" pitchFamily="2" charset="-122"/>
                <a:ea typeface="华文楷体" panose="02010600040101010101" pitchFamily="2" charset="-122"/>
              </a:rPr>
              <a:t>抽象服务原语</a:t>
            </a:r>
            <a:r>
              <a:rPr lang="zh-CN" altLang="zh-CN" b="1">
                <a:latin typeface="华文楷体" panose="02010600040101010101" pitchFamily="2" charset="-122"/>
                <a:ea typeface="华文楷体" panose="02010600040101010101" pitchFamily="2" charset="-122"/>
              </a:rPr>
              <a:t>，因此，同一服务的服务原语在不同的硬软件实现中其表达格式可能完全不同。</a:t>
            </a:r>
          </a:p>
          <a:p>
            <a:pPr eaLnBrk="1" hangingPunct="1">
              <a:lnSpc>
                <a:spcPct val="120000"/>
              </a:lnSpc>
              <a:spcBef>
                <a:spcPct val="20000"/>
              </a:spcBef>
              <a:buClr>
                <a:schemeClr val="hlink"/>
              </a:buClr>
              <a:buFont typeface="Wingdings" panose="05000000000000000000" pitchFamily="2" charset="2"/>
              <a:buChar char="u"/>
            </a:pPr>
            <a:r>
              <a:rPr lang="zh-CN" altLang="zh-CN" b="1">
                <a:latin typeface="华文楷体" panose="02010600040101010101" pitchFamily="2" charset="-122"/>
                <a:ea typeface="华文楷体" panose="02010600040101010101" pitchFamily="2" charset="-122"/>
              </a:rPr>
              <a:t>OSI的服务有两类：</a:t>
            </a:r>
            <a:br>
              <a:rPr lang="zh-CN" altLang="zh-CN" b="1">
                <a:latin typeface="华文楷体" panose="02010600040101010101" pitchFamily="2" charset="-122"/>
                <a:ea typeface="华文楷体" panose="02010600040101010101" pitchFamily="2" charset="-122"/>
              </a:rPr>
            </a:br>
            <a:r>
              <a:rPr lang="zh-CN" altLang="zh-CN" b="1">
                <a:solidFill>
                  <a:schemeClr val="hlink"/>
                </a:solidFill>
                <a:latin typeface="华文楷体" panose="02010600040101010101" pitchFamily="2" charset="-122"/>
                <a:ea typeface="华文楷体" panose="02010600040101010101" pitchFamily="2" charset="-122"/>
              </a:rPr>
              <a:t>面向连接的服务</a:t>
            </a:r>
            <a:r>
              <a:rPr lang="zh-CN" altLang="zh-CN" b="1">
                <a:latin typeface="华文楷体" panose="02010600040101010101" pitchFamily="2" charset="-122"/>
                <a:ea typeface="华文楷体" panose="02010600040101010101" pitchFamily="2" charset="-122"/>
              </a:rPr>
              <a:t>和</a:t>
            </a:r>
            <a:r>
              <a:rPr lang="zh-CN" altLang="zh-CN" b="1">
                <a:solidFill>
                  <a:schemeClr val="hlink"/>
                </a:solidFill>
                <a:latin typeface="华文楷体" panose="02010600040101010101" pitchFamily="2" charset="-122"/>
                <a:ea typeface="华文楷体" panose="02010600040101010101" pitchFamily="2" charset="-122"/>
              </a:rPr>
              <a:t>无连接服务</a:t>
            </a:r>
            <a:r>
              <a:rPr lang="zh-CN" altLang="zh-CN" b="1">
                <a:latin typeface="华文楷体" panose="02010600040101010101" pitchFamily="2" charset="-122"/>
                <a:ea typeface="华文楷体" panose="02010600040101010101" pitchFamily="2" charset="-122"/>
              </a:rPr>
              <a:t>。</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421189" y="265113"/>
            <a:ext cx="3349625" cy="698500"/>
          </a:xfrm>
        </p:spPr>
        <p:txBody>
          <a:bodyPr/>
          <a:lstStyle/>
          <a:p>
            <a:pPr eaLnBrk="1" hangingPunct="1"/>
            <a:r>
              <a:rPr lang="zh-CN" altLang="zh-CN"/>
              <a:t>OSI服务原语</a:t>
            </a:r>
          </a:p>
        </p:txBody>
      </p:sp>
      <p:sp>
        <p:nvSpPr>
          <p:cNvPr id="45059" name="Text Box 3"/>
          <p:cNvSpPr txBox="1">
            <a:spLocks noChangeArrowheads="1"/>
          </p:cNvSpPr>
          <p:nvPr/>
        </p:nvSpPr>
        <p:spPr bwMode="auto">
          <a:xfrm>
            <a:off x="1993901" y="1600200"/>
            <a:ext cx="8480425" cy="4235006"/>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ClrTx/>
              <a:buSzTx/>
              <a:buFont typeface="Wingdings" panose="05000000000000000000" pitchFamily="2" charset="2"/>
              <a:buNone/>
            </a:pPr>
            <a:r>
              <a:rPr lang="zh-CN" altLang="zh-CN" b="1">
                <a:solidFill>
                  <a:srgbClr val="FF0000"/>
                </a:solidFill>
                <a:latin typeface="华文楷体" panose="02010600040101010101" pitchFamily="2" charset="-122"/>
                <a:ea typeface="华文楷体" panose="02010600040101010101" pitchFamily="2" charset="-122"/>
              </a:rPr>
              <a:t>REQUEST（请求）：</a:t>
            </a:r>
            <a:br>
              <a:rPr lang="zh-CN" altLang="zh-CN" b="1">
                <a:solidFill>
                  <a:srgbClr val="FF0000"/>
                </a:solidFill>
                <a:latin typeface="华文楷体" panose="02010600040101010101" pitchFamily="2" charset="-122"/>
                <a:ea typeface="华文楷体" panose="02010600040101010101" pitchFamily="2" charset="-122"/>
              </a:rPr>
            </a:br>
            <a:r>
              <a:rPr lang="zh-CN" altLang="zh-CN" b="1">
                <a:latin typeface="华文楷体" panose="02010600040101010101" pitchFamily="2" charset="-122"/>
                <a:ea typeface="华文楷体" panose="02010600040101010101" pitchFamily="2" charset="-122"/>
              </a:rPr>
              <a:t>一个实体希望得到完成 某些操作的服务 </a:t>
            </a:r>
            <a:endParaRPr lang="zh-CN" altLang="zh-CN" b="1">
              <a:solidFill>
                <a:srgbClr val="FF0000"/>
              </a:solidFill>
              <a:latin typeface="华文楷体" panose="02010600040101010101" pitchFamily="2" charset="-122"/>
              <a:ea typeface="华文楷体" panose="02010600040101010101" pitchFamily="2" charset="-122"/>
            </a:endParaRPr>
          </a:p>
          <a:p>
            <a:pPr eaLnBrk="1" hangingPunct="1">
              <a:buClrTx/>
              <a:buSzTx/>
              <a:buFont typeface="Wingdings" panose="05000000000000000000" pitchFamily="2" charset="2"/>
              <a:buNone/>
            </a:pPr>
            <a:r>
              <a:rPr lang="zh-CN" altLang="zh-CN" b="1">
                <a:solidFill>
                  <a:srgbClr val="FF0000"/>
                </a:solidFill>
                <a:latin typeface="华文楷体" panose="02010600040101010101" pitchFamily="2" charset="-122"/>
                <a:ea typeface="华文楷体" panose="02010600040101010101" pitchFamily="2" charset="-122"/>
              </a:rPr>
              <a:t>INDICATION（指示）：</a:t>
            </a:r>
            <a:br>
              <a:rPr lang="zh-CN" altLang="zh-CN" b="1">
                <a:solidFill>
                  <a:srgbClr val="FF0000"/>
                </a:solidFill>
                <a:latin typeface="华文楷体" panose="02010600040101010101" pitchFamily="2" charset="-122"/>
                <a:ea typeface="华文楷体" panose="02010600040101010101" pitchFamily="2" charset="-122"/>
              </a:rPr>
            </a:br>
            <a:r>
              <a:rPr lang="zh-CN" altLang="zh-CN" b="1">
                <a:latin typeface="华文楷体" panose="02010600040101010101" pitchFamily="2" charset="-122"/>
                <a:ea typeface="华文楷体" panose="02010600040101010101" pitchFamily="2" charset="-122"/>
              </a:rPr>
              <a:t>通知一个实体，有某个事件发生 </a:t>
            </a:r>
            <a:endParaRPr lang="zh-CN" altLang="zh-CN" b="1">
              <a:solidFill>
                <a:srgbClr val="FF0000"/>
              </a:solidFill>
              <a:latin typeface="华文楷体" panose="02010600040101010101" pitchFamily="2" charset="-122"/>
              <a:ea typeface="华文楷体" panose="02010600040101010101" pitchFamily="2" charset="-122"/>
            </a:endParaRPr>
          </a:p>
          <a:p>
            <a:pPr eaLnBrk="1" hangingPunct="1">
              <a:buClrTx/>
              <a:buSzTx/>
              <a:buFont typeface="Wingdings" panose="05000000000000000000" pitchFamily="2" charset="2"/>
              <a:buNone/>
            </a:pPr>
            <a:r>
              <a:rPr lang="zh-CN" altLang="zh-CN" b="1">
                <a:solidFill>
                  <a:srgbClr val="FF0000"/>
                </a:solidFill>
                <a:latin typeface="华文楷体" panose="02010600040101010101" pitchFamily="2" charset="-122"/>
                <a:ea typeface="华文楷体" panose="02010600040101010101" pitchFamily="2" charset="-122"/>
              </a:rPr>
              <a:t>RESPONSE（响应）：</a:t>
            </a:r>
            <a:br>
              <a:rPr lang="zh-CN" altLang="zh-CN" b="1">
                <a:solidFill>
                  <a:srgbClr val="FF0000"/>
                </a:solidFill>
                <a:latin typeface="华文楷体" panose="02010600040101010101" pitchFamily="2" charset="-122"/>
                <a:ea typeface="华文楷体" panose="02010600040101010101" pitchFamily="2" charset="-122"/>
              </a:rPr>
            </a:br>
            <a:r>
              <a:rPr lang="zh-CN" altLang="zh-CN" sz="2600" b="1">
                <a:latin typeface="华文楷体" panose="02010600040101010101" pitchFamily="2" charset="-122"/>
                <a:ea typeface="华文楷体" panose="02010600040101010101" pitchFamily="2" charset="-122"/>
              </a:rPr>
              <a:t>一个实体希望响应一个事件 </a:t>
            </a:r>
            <a:endParaRPr lang="zh-CN" altLang="zh-CN" sz="2600" b="1">
              <a:solidFill>
                <a:srgbClr val="FF0000"/>
              </a:solidFill>
              <a:latin typeface="华文楷体" panose="02010600040101010101" pitchFamily="2" charset="-122"/>
              <a:ea typeface="华文楷体" panose="02010600040101010101" pitchFamily="2" charset="-122"/>
            </a:endParaRPr>
          </a:p>
          <a:p>
            <a:pPr eaLnBrk="1" hangingPunct="1">
              <a:buClrTx/>
              <a:buSzTx/>
              <a:buFont typeface="Wingdings" panose="05000000000000000000" pitchFamily="2" charset="2"/>
              <a:buNone/>
            </a:pPr>
            <a:r>
              <a:rPr lang="zh-CN" altLang="zh-CN" b="1">
                <a:solidFill>
                  <a:srgbClr val="FF0000"/>
                </a:solidFill>
                <a:latin typeface="华文楷体" panose="02010600040101010101" pitchFamily="2" charset="-122"/>
                <a:ea typeface="华文楷体" panose="02010600040101010101" pitchFamily="2" charset="-122"/>
              </a:rPr>
              <a:t>CONFORM（证实）：</a:t>
            </a:r>
            <a:br>
              <a:rPr lang="zh-CN" altLang="zh-CN" b="1">
                <a:solidFill>
                  <a:srgbClr val="FF0000"/>
                </a:solidFill>
                <a:latin typeface="华文楷体" panose="02010600040101010101" pitchFamily="2" charset="-122"/>
                <a:ea typeface="华文楷体" panose="02010600040101010101" pitchFamily="2" charset="-122"/>
              </a:rPr>
            </a:br>
            <a:r>
              <a:rPr lang="zh-CN" altLang="zh-CN" sz="2800" b="1">
                <a:latin typeface="华文楷体" panose="02010600040101010101" pitchFamily="2" charset="-122"/>
                <a:ea typeface="华文楷体" panose="02010600040101010101" pitchFamily="2" charset="-122"/>
              </a:rPr>
              <a:t>返回对先前请求的响应</a:t>
            </a:r>
            <a:r>
              <a:rPr lang="zh-CN" altLang="zh-CN">
                <a:latin typeface="华文楷体" panose="02010600040101010101" pitchFamily="2" charset="-122"/>
                <a:ea typeface="华文楷体" panose="02010600040101010101"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59">
                                            <p:bg/>
                                          </p:spTgt>
                                        </p:tgtEl>
                                        <p:attrNameLst>
                                          <p:attrName>style.visibility</p:attrName>
                                        </p:attrNameLst>
                                      </p:cBhvr>
                                      <p:to>
                                        <p:strVal val="visible"/>
                                      </p:to>
                                    </p:set>
                                    <p:anim calcmode="lin" valueType="num">
                                      <p:cBhvr additive="base">
                                        <p:cTn id="7" dur="500" fill="hold"/>
                                        <p:tgtEl>
                                          <p:spTgt spid="45059">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45059">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059">
                                            <p:txEl>
                                              <p:pRg st="0" end="0"/>
                                            </p:txEl>
                                          </p:spTgt>
                                        </p:tgtEl>
                                        <p:attrNameLst>
                                          <p:attrName>style.visibility</p:attrName>
                                        </p:attrNameLst>
                                      </p:cBhvr>
                                      <p:to>
                                        <p:strVal val="visible"/>
                                      </p:to>
                                    </p:set>
                                    <p:anim calcmode="lin" valueType="num">
                                      <p:cBhvr additive="base">
                                        <p:cTn id="13" dur="500" fill="hold"/>
                                        <p:tgtEl>
                                          <p:spTgt spid="4505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059">
                                            <p:txEl>
                                              <p:pRg st="1" end="1"/>
                                            </p:txEl>
                                          </p:spTgt>
                                        </p:tgtEl>
                                        <p:attrNameLst>
                                          <p:attrName>style.visibility</p:attrName>
                                        </p:attrNameLst>
                                      </p:cBhvr>
                                      <p:to>
                                        <p:strVal val="visible"/>
                                      </p:to>
                                    </p:set>
                                    <p:anim calcmode="lin" valueType="num">
                                      <p:cBhvr additive="base">
                                        <p:cTn id="19" dur="500" fill="hold"/>
                                        <p:tgtEl>
                                          <p:spTgt spid="4505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5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5059">
                                            <p:txEl>
                                              <p:pRg st="2" end="2"/>
                                            </p:txEl>
                                          </p:spTgt>
                                        </p:tgtEl>
                                        <p:attrNameLst>
                                          <p:attrName>style.visibility</p:attrName>
                                        </p:attrNameLst>
                                      </p:cBhvr>
                                      <p:to>
                                        <p:strVal val="visible"/>
                                      </p:to>
                                    </p:set>
                                    <p:anim calcmode="lin" valueType="num">
                                      <p:cBhvr additive="base">
                                        <p:cTn id="25" dur="500" fill="hold"/>
                                        <p:tgtEl>
                                          <p:spTgt spid="45059">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5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5059">
                                            <p:txEl>
                                              <p:pRg st="3" end="3"/>
                                            </p:txEl>
                                          </p:spTgt>
                                        </p:tgtEl>
                                        <p:attrNameLst>
                                          <p:attrName>style.visibility</p:attrName>
                                        </p:attrNameLst>
                                      </p:cBhvr>
                                      <p:to>
                                        <p:strVal val="visible"/>
                                      </p:to>
                                    </p:set>
                                    <p:anim calcmode="lin" valueType="num">
                                      <p:cBhvr additive="base">
                                        <p:cTn id="31" dur="500" fill="hold"/>
                                        <p:tgtEl>
                                          <p:spTgt spid="45059">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50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927475" y="203200"/>
            <a:ext cx="4337050" cy="719138"/>
          </a:xfrm>
        </p:spPr>
        <p:txBody>
          <a:bodyPr/>
          <a:lstStyle/>
          <a:p>
            <a:pPr eaLnBrk="1" hangingPunct="1"/>
            <a:r>
              <a:rPr lang="zh-CN" altLang="zh-CN"/>
              <a:t>服务原语时序图</a:t>
            </a:r>
          </a:p>
        </p:txBody>
      </p:sp>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418" y="1346700"/>
            <a:ext cx="7777163"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394076" y="260351"/>
            <a:ext cx="5402263" cy="574675"/>
          </a:xfrm>
        </p:spPr>
        <p:txBody>
          <a:bodyPr>
            <a:normAutofit fontScale="90000"/>
          </a:bodyPr>
          <a:lstStyle/>
          <a:p>
            <a:pPr algn="ctr" eaLnBrk="1" hangingPunct="1"/>
            <a:r>
              <a:rPr lang="zh-CN" altLang="zh-CN"/>
              <a:t>服务与协议的关系</a:t>
            </a:r>
          </a:p>
        </p:txBody>
      </p:sp>
      <p:sp>
        <p:nvSpPr>
          <p:cNvPr id="47107" name="Text Box 3"/>
          <p:cNvSpPr txBox="1">
            <a:spLocks noChangeArrowheads="1"/>
          </p:cNvSpPr>
          <p:nvPr/>
        </p:nvSpPr>
        <p:spPr bwMode="auto">
          <a:xfrm>
            <a:off x="361950" y="1581151"/>
            <a:ext cx="11515725" cy="358251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270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indent="0" algn="just" eaLnBrk="1" hangingPunct="1">
              <a:lnSpc>
                <a:spcPct val="90000"/>
              </a:lnSpc>
              <a:spcBef>
                <a:spcPct val="50000"/>
              </a:spcBef>
              <a:buClrTx/>
              <a:buSzTx/>
              <a:buFont typeface="Wingdings" panose="05000000000000000000" pitchFamily="2" charset="2"/>
              <a:buNone/>
            </a:pPr>
            <a:r>
              <a:rPr lang="zh-CN" altLang="zh-CN" sz="2800" b="1">
                <a:solidFill>
                  <a:schemeClr val="accent2"/>
                </a:solidFill>
                <a:latin typeface="华文楷体" panose="02010600040101010101" pitchFamily="2" charset="-122"/>
                <a:ea typeface="华文楷体" panose="02010600040101010101" pitchFamily="2" charset="-122"/>
              </a:rPr>
              <a:t>服务与协议是完全不同的两个概念，但二者常常被混淆</a:t>
            </a:r>
            <a:r>
              <a:rPr lang="zh-CN" altLang="zh-CN" sz="2800" b="1">
                <a:latin typeface="华文楷体" panose="02010600040101010101" pitchFamily="2" charset="-122"/>
                <a:ea typeface="华文楷体" panose="02010600040101010101" pitchFamily="2" charset="-122"/>
              </a:rPr>
              <a:t>。</a:t>
            </a:r>
            <a:r>
              <a:rPr lang="zh-CN" altLang="zh-CN" sz="2800" b="1">
                <a:solidFill>
                  <a:schemeClr val="hlink"/>
                </a:solidFill>
                <a:latin typeface="华文楷体" panose="02010600040101010101" pitchFamily="2" charset="-122"/>
                <a:ea typeface="华文楷体" panose="02010600040101010101" pitchFamily="2" charset="-122"/>
              </a:rPr>
              <a:t>服务是各层向它的上层提供的一组原语（或称操作）</a:t>
            </a:r>
            <a:r>
              <a:rPr lang="zh-CN" altLang="zh-CN" sz="2800" b="1">
                <a:latin typeface="华文楷体" panose="02010600040101010101" pitchFamily="2" charset="-122"/>
                <a:ea typeface="华文楷体" panose="02010600040101010101" pitchFamily="2" charset="-122"/>
              </a:rPr>
              <a:t>。服务只是定义了该层能够代表它的上层完成的操作，但丝毫未涉及这些操作是如何实现的。服务定义了两层之间的接口</a:t>
            </a:r>
            <a:r>
              <a:rPr lang="zh-CN" altLang="zh-CN" sz="2400" b="1">
                <a:solidFill>
                  <a:schemeClr val="accent2"/>
                </a:solidFill>
                <a:latin typeface="华文楷体" panose="02010600040101010101" pitchFamily="2" charset="-122"/>
                <a:ea typeface="华文楷体" panose="02010600040101010101" pitchFamily="2" charset="-122"/>
              </a:rPr>
              <a:t>(纵向）</a:t>
            </a:r>
            <a:r>
              <a:rPr lang="zh-CN" altLang="zh-CN" sz="2800" b="1">
                <a:latin typeface="华文楷体" panose="02010600040101010101" pitchFamily="2" charset="-122"/>
                <a:ea typeface="华文楷体" panose="02010600040101010101" pitchFamily="2" charset="-122"/>
              </a:rPr>
              <a:t>，上层是服务的用户，下层是服务的提供者。</a:t>
            </a:r>
          </a:p>
          <a:p>
            <a:pPr indent="0" algn="just" eaLnBrk="1" hangingPunct="1">
              <a:spcBef>
                <a:spcPct val="50000"/>
              </a:spcBef>
              <a:buClrTx/>
              <a:buSzTx/>
              <a:buFont typeface="Wingdings" panose="05000000000000000000" pitchFamily="2" charset="2"/>
              <a:buNone/>
            </a:pPr>
            <a:r>
              <a:rPr lang="zh-CN" altLang="zh-CN" sz="2800" b="1">
                <a:solidFill>
                  <a:schemeClr val="hlink"/>
                </a:solidFill>
                <a:latin typeface="华文楷体" panose="02010600040101010101" pitchFamily="2" charset="-122"/>
                <a:ea typeface="华文楷体" panose="02010600040101010101" pitchFamily="2" charset="-122"/>
              </a:rPr>
              <a:t>协议是定义同层对等实体之间交换的帧、分组和报文的格式及意义的一组规则</a:t>
            </a:r>
            <a:r>
              <a:rPr lang="zh-CN" altLang="zh-CN" sz="2400" b="1">
                <a:solidFill>
                  <a:schemeClr val="accent2"/>
                </a:solidFill>
                <a:latin typeface="华文楷体" panose="02010600040101010101" pitchFamily="2" charset="-122"/>
                <a:ea typeface="华文楷体" panose="02010600040101010101" pitchFamily="2" charset="-122"/>
              </a:rPr>
              <a:t>（横向）</a:t>
            </a:r>
            <a:r>
              <a:rPr lang="zh-CN" altLang="zh-CN" sz="2800" b="1">
                <a:latin typeface="华文楷体" panose="02010600040101010101" pitchFamily="2" charset="-122"/>
                <a:ea typeface="华文楷体" panose="02010600040101010101" pitchFamily="2" charset="-122"/>
              </a:rPr>
              <a:t>。实体利用协议来实现它们的服务定义。只要不改变提供给用户的服务，实体可以任意地改变它们的协议。这样，服务和协议就被完全分离开了。</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706939" y="206375"/>
            <a:ext cx="2776537" cy="674688"/>
          </a:xfrm>
        </p:spPr>
        <p:txBody>
          <a:bodyPr>
            <a:normAutofit fontScale="90000"/>
          </a:bodyPr>
          <a:lstStyle/>
          <a:p>
            <a:pPr algn="ctr" eaLnBrk="1" hangingPunct="1"/>
            <a:r>
              <a:rPr lang="zh-CN" altLang="zh-CN"/>
              <a:t>数据封装</a:t>
            </a:r>
          </a:p>
        </p:txBody>
      </p:sp>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0" y="1303338"/>
            <a:ext cx="8350250" cy="524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132" name="Group 4"/>
          <p:cNvGrpSpPr>
            <a:grpSpLocks/>
          </p:cNvGrpSpPr>
          <p:nvPr/>
        </p:nvGrpSpPr>
        <p:grpSpPr bwMode="auto">
          <a:xfrm>
            <a:off x="1943100" y="2511426"/>
            <a:ext cx="8305800" cy="4035425"/>
            <a:chOff x="0" y="0"/>
            <a:chExt cx="5232" cy="2112"/>
          </a:xfrm>
        </p:grpSpPr>
        <p:sp>
          <p:nvSpPr>
            <p:cNvPr id="48150" name="Rectangle 5"/>
            <p:cNvSpPr>
              <a:spLocks noChangeArrowheads="1"/>
            </p:cNvSpPr>
            <p:nvPr/>
          </p:nvSpPr>
          <p:spPr bwMode="auto">
            <a:xfrm>
              <a:off x="0" y="0"/>
              <a:ext cx="5232" cy="2112"/>
            </a:xfrm>
            <a:prstGeom prst="rect">
              <a:avLst/>
            </a:prstGeom>
            <a:solidFill>
              <a:srgbClr val="F8F9C9"/>
            </a:solidFill>
            <a:ln w="254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1" name="Rectangle 6"/>
            <p:cNvSpPr>
              <a:spLocks noChangeArrowheads="1"/>
            </p:cNvSpPr>
            <p:nvPr/>
          </p:nvSpPr>
          <p:spPr bwMode="auto">
            <a:xfrm>
              <a:off x="1058" y="355"/>
              <a:ext cx="832"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2" name="Rectangle 7"/>
            <p:cNvSpPr>
              <a:spLocks noChangeArrowheads="1"/>
            </p:cNvSpPr>
            <p:nvPr/>
          </p:nvSpPr>
          <p:spPr bwMode="auto">
            <a:xfrm>
              <a:off x="1056" y="594"/>
              <a:ext cx="833"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3" name="Rectangle 8"/>
            <p:cNvSpPr>
              <a:spLocks noChangeArrowheads="1"/>
            </p:cNvSpPr>
            <p:nvPr/>
          </p:nvSpPr>
          <p:spPr bwMode="auto">
            <a:xfrm>
              <a:off x="1056" y="838"/>
              <a:ext cx="833"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4" name="Rectangle 9"/>
            <p:cNvSpPr>
              <a:spLocks noChangeArrowheads="1"/>
            </p:cNvSpPr>
            <p:nvPr/>
          </p:nvSpPr>
          <p:spPr bwMode="auto">
            <a:xfrm>
              <a:off x="1058" y="1087"/>
              <a:ext cx="832"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5" name="Rectangle 10"/>
            <p:cNvSpPr>
              <a:spLocks noChangeArrowheads="1"/>
            </p:cNvSpPr>
            <p:nvPr/>
          </p:nvSpPr>
          <p:spPr bwMode="auto">
            <a:xfrm>
              <a:off x="1056" y="1326"/>
              <a:ext cx="833"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6" name="Rectangle 11"/>
            <p:cNvSpPr>
              <a:spLocks noChangeArrowheads="1"/>
            </p:cNvSpPr>
            <p:nvPr/>
          </p:nvSpPr>
          <p:spPr bwMode="auto">
            <a:xfrm>
              <a:off x="1056" y="1571"/>
              <a:ext cx="833" cy="249"/>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7" name="Rectangle 12"/>
            <p:cNvSpPr>
              <a:spLocks noChangeArrowheads="1"/>
            </p:cNvSpPr>
            <p:nvPr/>
          </p:nvSpPr>
          <p:spPr bwMode="auto">
            <a:xfrm>
              <a:off x="3293" y="355"/>
              <a:ext cx="834"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8" name="Rectangle 13"/>
            <p:cNvSpPr>
              <a:spLocks noChangeArrowheads="1"/>
            </p:cNvSpPr>
            <p:nvPr/>
          </p:nvSpPr>
          <p:spPr bwMode="auto">
            <a:xfrm>
              <a:off x="3292" y="594"/>
              <a:ext cx="833"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59" name="Rectangle 14"/>
            <p:cNvSpPr>
              <a:spLocks noChangeArrowheads="1"/>
            </p:cNvSpPr>
            <p:nvPr/>
          </p:nvSpPr>
          <p:spPr bwMode="auto">
            <a:xfrm>
              <a:off x="3292" y="838"/>
              <a:ext cx="833"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0" name="Rectangle 15"/>
            <p:cNvSpPr>
              <a:spLocks noChangeArrowheads="1"/>
            </p:cNvSpPr>
            <p:nvPr/>
          </p:nvSpPr>
          <p:spPr bwMode="auto">
            <a:xfrm>
              <a:off x="3293" y="1087"/>
              <a:ext cx="834"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1" name="Rectangle 16"/>
            <p:cNvSpPr>
              <a:spLocks noChangeArrowheads="1"/>
            </p:cNvSpPr>
            <p:nvPr/>
          </p:nvSpPr>
          <p:spPr bwMode="auto">
            <a:xfrm>
              <a:off x="3292" y="1326"/>
              <a:ext cx="833"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2" name="Rectangle 17"/>
            <p:cNvSpPr>
              <a:spLocks noChangeArrowheads="1"/>
            </p:cNvSpPr>
            <p:nvPr/>
          </p:nvSpPr>
          <p:spPr bwMode="auto">
            <a:xfrm>
              <a:off x="3292" y="1571"/>
              <a:ext cx="833" cy="249"/>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3" name="Rectangle 18"/>
            <p:cNvSpPr>
              <a:spLocks noChangeArrowheads="1"/>
            </p:cNvSpPr>
            <p:nvPr/>
          </p:nvSpPr>
          <p:spPr bwMode="auto">
            <a:xfrm>
              <a:off x="960" y="1824"/>
              <a:ext cx="3312" cy="144"/>
            </a:xfrm>
            <a:prstGeom prst="rect">
              <a:avLst/>
            </a:prstGeom>
            <a:solidFill>
              <a:srgbClr val="DDDDDD"/>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4" name="Rectangle 19"/>
            <p:cNvSpPr>
              <a:spLocks noChangeArrowheads="1"/>
            </p:cNvSpPr>
            <p:nvPr/>
          </p:nvSpPr>
          <p:spPr bwMode="auto">
            <a:xfrm>
              <a:off x="1058" y="108"/>
              <a:ext cx="832" cy="249"/>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5" name="Rectangle 20"/>
            <p:cNvSpPr>
              <a:spLocks noChangeArrowheads="1"/>
            </p:cNvSpPr>
            <p:nvPr/>
          </p:nvSpPr>
          <p:spPr bwMode="auto">
            <a:xfrm>
              <a:off x="3294" y="96"/>
              <a:ext cx="834" cy="261"/>
            </a:xfrm>
            <a:prstGeom prst="rect">
              <a:avLst/>
            </a:prstGeom>
            <a:solidFill>
              <a:srgbClr val="FFFFCC"/>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6" name="Text Box 21"/>
            <p:cNvSpPr txBox="1">
              <a:spLocks noChangeArrowheads="1"/>
            </p:cNvSpPr>
            <p:nvPr/>
          </p:nvSpPr>
          <p:spPr bwMode="auto">
            <a:xfrm>
              <a:off x="480" y="79"/>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67" name="Rectangle 22"/>
            <p:cNvSpPr>
              <a:spLocks noChangeArrowheads="1"/>
            </p:cNvSpPr>
            <p:nvPr/>
          </p:nvSpPr>
          <p:spPr bwMode="auto">
            <a:xfrm>
              <a:off x="528" y="86"/>
              <a:ext cx="28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68" name="Text Box 23"/>
            <p:cNvSpPr txBox="1">
              <a:spLocks noChangeArrowheads="1"/>
            </p:cNvSpPr>
            <p:nvPr/>
          </p:nvSpPr>
          <p:spPr bwMode="auto">
            <a:xfrm>
              <a:off x="485" y="33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69" name="Rectangle 24"/>
            <p:cNvSpPr>
              <a:spLocks noChangeArrowheads="1"/>
            </p:cNvSpPr>
            <p:nvPr/>
          </p:nvSpPr>
          <p:spPr bwMode="auto">
            <a:xfrm>
              <a:off x="533" y="339"/>
              <a:ext cx="28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0" name="Rectangle 25"/>
            <p:cNvSpPr>
              <a:spLocks noChangeArrowheads="1"/>
            </p:cNvSpPr>
            <p:nvPr/>
          </p:nvSpPr>
          <p:spPr bwMode="auto">
            <a:xfrm>
              <a:off x="444" y="336"/>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1" name="Text Box 26"/>
            <p:cNvSpPr txBox="1">
              <a:spLocks noChangeArrowheads="1"/>
            </p:cNvSpPr>
            <p:nvPr/>
          </p:nvSpPr>
          <p:spPr bwMode="auto">
            <a:xfrm>
              <a:off x="437" y="57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72" name="Rectangle 27"/>
            <p:cNvSpPr>
              <a:spLocks noChangeArrowheads="1"/>
            </p:cNvSpPr>
            <p:nvPr/>
          </p:nvSpPr>
          <p:spPr bwMode="auto">
            <a:xfrm>
              <a:off x="472" y="586"/>
              <a:ext cx="37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3" name="Rectangle 28"/>
            <p:cNvSpPr>
              <a:spLocks noChangeArrowheads="1"/>
            </p:cNvSpPr>
            <p:nvPr/>
          </p:nvSpPr>
          <p:spPr bwMode="auto">
            <a:xfrm>
              <a:off x="377" y="586"/>
              <a:ext cx="95"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4" name="Text Box 29"/>
            <p:cNvSpPr txBox="1">
              <a:spLocks noChangeArrowheads="1"/>
            </p:cNvSpPr>
            <p:nvPr/>
          </p:nvSpPr>
          <p:spPr bwMode="auto">
            <a:xfrm>
              <a:off x="437" y="81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75" name="Rectangle 30"/>
            <p:cNvSpPr>
              <a:spLocks noChangeArrowheads="1"/>
            </p:cNvSpPr>
            <p:nvPr/>
          </p:nvSpPr>
          <p:spPr bwMode="auto">
            <a:xfrm>
              <a:off x="396" y="832"/>
              <a:ext cx="468" cy="1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6" name="Rectangle 31"/>
            <p:cNvSpPr>
              <a:spLocks noChangeArrowheads="1"/>
            </p:cNvSpPr>
            <p:nvPr/>
          </p:nvSpPr>
          <p:spPr bwMode="auto">
            <a:xfrm>
              <a:off x="301" y="836"/>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7" name="Text Box 32"/>
            <p:cNvSpPr txBox="1">
              <a:spLocks noChangeArrowheads="1"/>
            </p:cNvSpPr>
            <p:nvPr/>
          </p:nvSpPr>
          <p:spPr bwMode="auto">
            <a:xfrm>
              <a:off x="437" y="109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78" name="Rectangle 33"/>
            <p:cNvSpPr>
              <a:spLocks noChangeArrowheads="1"/>
            </p:cNvSpPr>
            <p:nvPr/>
          </p:nvSpPr>
          <p:spPr bwMode="auto">
            <a:xfrm>
              <a:off x="283" y="1104"/>
              <a:ext cx="562"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79" name="Rectangle 34"/>
            <p:cNvSpPr>
              <a:spLocks noChangeArrowheads="1"/>
            </p:cNvSpPr>
            <p:nvPr/>
          </p:nvSpPr>
          <p:spPr bwMode="auto">
            <a:xfrm>
              <a:off x="189" y="1104"/>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0" name="Text Box 35"/>
            <p:cNvSpPr txBox="1">
              <a:spLocks noChangeArrowheads="1"/>
            </p:cNvSpPr>
            <p:nvPr/>
          </p:nvSpPr>
          <p:spPr bwMode="auto">
            <a:xfrm>
              <a:off x="437" y="134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81" name="Rectangle 36"/>
            <p:cNvSpPr>
              <a:spLocks noChangeArrowheads="1"/>
            </p:cNvSpPr>
            <p:nvPr/>
          </p:nvSpPr>
          <p:spPr bwMode="auto">
            <a:xfrm>
              <a:off x="189" y="1356"/>
              <a:ext cx="656" cy="1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2" name="Rectangle 37"/>
            <p:cNvSpPr>
              <a:spLocks noChangeArrowheads="1"/>
            </p:cNvSpPr>
            <p:nvPr/>
          </p:nvSpPr>
          <p:spPr bwMode="auto">
            <a:xfrm>
              <a:off x="94" y="1354"/>
              <a:ext cx="95"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3" name="Text Box 38"/>
            <p:cNvSpPr txBox="1">
              <a:spLocks noChangeArrowheads="1"/>
            </p:cNvSpPr>
            <p:nvPr/>
          </p:nvSpPr>
          <p:spPr bwMode="auto">
            <a:xfrm>
              <a:off x="437" y="157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84" name="Rectangle 39"/>
            <p:cNvSpPr>
              <a:spLocks noChangeArrowheads="1"/>
            </p:cNvSpPr>
            <p:nvPr/>
          </p:nvSpPr>
          <p:spPr bwMode="auto">
            <a:xfrm>
              <a:off x="94" y="1586"/>
              <a:ext cx="751"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5" name="Rectangle 40"/>
            <p:cNvSpPr>
              <a:spLocks noChangeArrowheads="1"/>
            </p:cNvSpPr>
            <p:nvPr/>
          </p:nvSpPr>
          <p:spPr bwMode="auto">
            <a:xfrm>
              <a:off x="0" y="1584"/>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6" name="Rectangle 41"/>
            <p:cNvSpPr>
              <a:spLocks noChangeArrowheads="1"/>
            </p:cNvSpPr>
            <p:nvPr/>
          </p:nvSpPr>
          <p:spPr bwMode="auto">
            <a:xfrm>
              <a:off x="843" y="1583"/>
              <a:ext cx="63"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7" name="Text Box 42"/>
            <p:cNvSpPr txBox="1">
              <a:spLocks noChangeArrowheads="1"/>
            </p:cNvSpPr>
            <p:nvPr/>
          </p:nvSpPr>
          <p:spPr bwMode="auto">
            <a:xfrm>
              <a:off x="4710" y="69"/>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88" name="Rectangle 43"/>
            <p:cNvSpPr>
              <a:spLocks noChangeArrowheads="1"/>
            </p:cNvSpPr>
            <p:nvPr/>
          </p:nvSpPr>
          <p:spPr bwMode="auto">
            <a:xfrm>
              <a:off x="4758" y="76"/>
              <a:ext cx="28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89" name="Text Box 44"/>
            <p:cNvSpPr txBox="1">
              <a:spLocks noChangeArrowheads="1"/>
            </p:cNvSpPr>
            <p:nvPr/>
          </p:nvSpPr>
          <p:spPr bwMode="auto">
            <a:xfrm>
              <a:off x="4715" y="32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90" name="Rectangle 45"/>
            <p:cNvSpPr>
              <a:spLocks noChangeArrowheads="1"/>
            </p:cNvSpPr>
            <p:nvPr/>
          </p:nvSpPr>
          <p:spPr bwMode="auto">
            <a:xfrm>
              <a:off x="4763" y="329"/>
              <a:ext cx="28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1" name="Rectangle 46"/>
            <p:cNvSpPr>
              <a:spLocks noChangeArrowheads="1"/>
            </p:cNvSpPr>
            <p:nvPr/>
          </p:nvSpPr>
          <p:spPr bwMode="auto">
            <a:xfrm>
              <a:off x="4674" y="326"/>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2" name="Text Box 47"/>
            <p:cNvSpPr txBox="1">
              <a:spLocks noChangeArrowheads="1"/>
            </p:cNvSpPr>
            <p:nvPr/>
          </p:nvSpPr>
          <p:spPr bwMode="auto">
            <a:xfrm>
              <a:off x="4667" y="56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93" name="Rectangle 48"/>
            <p:cNvSpPr>
              <a:spLocks noChangeArrowheads="1"/>
            </p:cNvSpPr>
            <p:nvPr/>
          </p:nvSpPr>
          <p:spPr bwMode="auto">
            <a:xfrm>
              <a:off x="4702" y="576"/>
              <a:ext cx="373"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4" name="Rectangle 49"/>
            <p:cNvSpPr>
              <a:spLocks noChangeArrowheads="1"/>
            </p:cNvSpPr>
            <p:nvPr/>
          </p:nvSpPr>
          <p:spPr bwMode="auto">
            <a:xfrm>
              <a:off x="4607" y="576"/>
              <a:ext cx="95"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5" name="Text Box 50"/>
            <p:cNvSpPr txBox="1">
              <a:spLocks noChangeArrowheads="1"/>
            </p:cNvSpPr>
            <p:nvPr/>
          </p:nvSpPr>
          <p:spPr bwMode="auto">
            <a:xfrm>
              <a:off x="4667" y="806"/>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96" name="Rectangle 51"/>
            <p:cNvSpPr>
              <a:spLocks noChangeArrowheads="1"/>
            </p:cNvSpPr>
            <p:nvPr/>
          </p:nvSpPr>
          <p:spPr bwMode="auto">
            <a:xfrm>
              <a:off x="4626" y="822"/>
              <a:ext cx="468" cy="1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7" name="Rectangle 52"/>
            <p:cNvSpPr>
              <a:spLocks noChangeArrowheads="1"/>
            </p:cNvSpPr>
            <p:nvPr/>
          </p:nvSpPr>
          <p:spPr bwMode="auto">
            <a:xfrm>
              <a:off x="4531" y="826"/>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198" name="Text Box 53"/>
            <p:cNvSpPr txBox="1">
              <a:spLocks noChangeArrowheads="1"/>
            </p:cNvSpPr>
            <p:nvPr/>
          </p:nvSpPr>
          <p:spPr bwMode="auto">
            <a:xfrm>
              <a:off x="4667" y="108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199" name="Rectangle 54"/>
            <p:cNvSpPr>
              <a:spLocks noChangeArrowheads="1"/>
            </p:cNvSpPr>
            <p:nvPr/>
          </p:nvSpPr>
          <p:spPr bwMode="auto">
            <a:xfrm>
              <a:off x="4513" y="1094"/>
              <a:ext cx="562"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0" name="Rectangle 55"/>
            <p:cNvSpPr>
              <a:spLocks noChangeArrowheads="1"/>
            </p:cNvSpPr>
            <p:nvPr/>
          </p:nvSpPr>
          <p:spPr bwMode="auto">
            <a:xfrm>
              <a:off x="4419" y="1094"/>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1" name="Text Box 56"/>
            <p:cNvSpPr txBox="1">
              <a:spLocks noChangeArrowheads="1"/>
            </p:cNvSpPr>
            <p:nvPr/>
          </p:nvSpPr>
          <p:spPr bwMode="auto">
            <a:xfrm>
              <a:off x="4667" y="133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202" name="Rectangle 57"/>
            <p:cNvSpPr>
              <a:spLocks noChangeArrowheads="1"/>
            </p:cNvSpPr>
            <p:nvPr/>
          </p:nvSpPr>
          <p:spPr bwMode="auto">
            <a:xfrm>
              <a:off x="4419" y="1346"/>
              <a:ext cx="656" cy="1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3" name="Rectangle 58"/>
            <p:cNvSpPr>
              <a:spLocks noChangeArrowheads="1"/>
            </p:cNvSpPr>
            <p:nvPr/>
          </p:nvSpPr>
          <p:spPr bwMode="auto">
            <a:xfrm>
              <a:off x="4324" y="1344"/>
              <a:ext cx="95"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4" name="Text Box 59"/>
            <p:cNvSpPr txBox="1">
              <a:spLocks noChangeArrowheads="1"/>
            </p:cNvSpPr>
            <p:nvPr/>
          </p:nvSpPr>
          <p:spPr bwMode="auto">
            <a:xfrm>
              <a:off x="4667" y="1564"/>
              <a:ext cx="3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b="1">
                  <a:latin typeface="Arial" panose="020B0604020202020204" pitchFamily="34" charset="0"/>
                </a:rPr>
                <a:t>data</a:t>
              </a:r>
            </a:p>
          </p:txBody>
        </p:sp>
        <p:sp>
          <p:nvSpPr>
            <p:cNvPr id="48205" name="Rectangle 60"/>
            <p:cNvSpPr>
              <a:spLocks noChangeArrowheads="1"/>
            </p:cNvSpPr>
            <p:nvPr/>
          </p:nvSpPr>
          <p:spPr bwMode="auto">
            <a:xfrm>
              <a:off x="4324" y="1576"/>
              <a:ext cx="751" cy="1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6" name="Rectangle 61"/>
            <p:cNvSpPr>
              <a:spLocks noChangeArrowheads="1"/>
            </p:cNvSpPr>
            <p:nvPr/>
          </p:nvSpPr>
          <p:spPr bwMode="auto">
            <a:xfrm>
              <a:off x="4230" y="1574"/>
              <a:ext cx="94"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7" name="Rectangle 62"/>
            <p:cNvSpPr>
              <a:spLocks noChangeArrowheads="1"/>
            </p:cNvSpPr>
            <p:nvPr/>
          </p:nvSpPr>
          <p:spPr bwMode="auto">
            <a:xfrm>
              <a:off x="5073" y="1573"/>
              <a:ext cx="63" cy="192"/>
            </a:xfrm>
            <a:prstGeom prst="rect">
              <a:avLst/>
            </a:prstGeom>
            <a:solidFill>
              <a:srgbClr val="FF6600"/>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8" name="Rectangle 63"/>
            <p:cNvSpPr>
              <a:spLocks noChangeArrowheads="1"/>
            </p:cNvSpPr>
            <p:nvPr/>
          </p:nvSpPr>
          <p:spPr bwMode="auto">
            <a:xfrm>
              <a:off x="2192" y="1091"/>
              <a:ext cx="832"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09" name="Rectangle 64"/>
            <p:cNvSpPr>
              <a:spLocks noChangeArrowheads="1"/>
            </p:cNvSpPr>
            <p:nvPr/>
          </p:nvSpPr>
          <p:spPr bwMode="auto">
            <a:xfrm>
              <a:off x="2190" y="1330"/>
              <a:ext cx="833" cy="250"/>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10" name="Rectangle 65"/>
            <p:cNvSpPr>
              <a:spLocks noChangeArrowheads="1"/>
            </p:cNvSpPr>
            <p:nvPr/>
          </p:nvSpPr>
          <p:spPr bwMode="auto">
            <a:xfrm>
              <a:off x="2190" y="1575"/>
              <a:ext cx="833" cy="249"/>
            </a:xfrm>
            <a:prstGeom prst="rect">
              <a:avLst/>
            </a:prstGeom>
            <a:solidFill>
              <a:srgbClr val="99CCFF"/>
            </a:solidFill>
            <a:ln w="1905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8211" name="未知"/>
            <p:cNvSpPr>
              <a:spLocks noChangeArrowheads="1"/>
            </p:cNvSpPr>
            <p:nvPr/>
          </p:nvSpPr>
          <p:spPr bwMode="auto">
            <a:xfrm>
              <a:off x="1440" y="192"/>
              <a:ext cx="2352" cy="1680"/>
            </a:xfrm>
            <a:custGeom>
              <a:avLst/>
              <a:gdLst>
                <a:gd name="T0" fmla="*/ 0 w 2352"/>
                <a:gd name="T1" fmla="*/ 0 h 1968"/>
                <a:gd name="T2" fmla="*/ 0 w 2352"/>
                <a:gd name="T3" fmla="*/ 1557 h 1968"/>
                <a:gd name="T4" fmla="*/ 96 w 2352"/>
                <a:gd name="T5" fmla="*/ 1680 h 1968"/>
                <a:gd name="T6" fmla="*/ 864 w 2352"/>
                <a:gd name="T7" fmla="*/ 1680 h 1968"/>
                <a:gd name="T8" fmla="*/ 864 w 2352"/>
                <a:gd name="T9" fmla="*/ 1024 h 1968"/>
                <a:gd name="T10" fmla="*/ 1488 w 2352"/>
                <a:gd name="T11" fmla="*/ 1024 h 1968"/>
                <a:gd name="T12" fmla="*/ 1488 w 2352"/>
                <a:gd name="T13" fmla="*/ 1680 h 1968"/>
                <a:gd name="T14" fmla="*/ 2256 w 2352"/>
                <a:gd name="T15" fmla="*/ 1680 h 1968"/>
                <a:gd name="T16" fmla="*/ 2352 w 2352"/>
                <a:gd name="T17" fmla="*/ 1557 h 1968"/>
                <a:gd name="T18" fmla="*/ 2352 w 2352"/>
                <a:gd name="T19" fmla="*/ 0 h 19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52" h="1968">
                  <a:moveTo>
                    <a:pt x="0" y="0"/>
                  </a:moveTo>
                  <a:lnTo>
                    <a:pt x="0" y="1824"/>
                  </a:lnTo>
                  <a:lnTo>
                    <a:pt x="96" y="1968"/>
                  </a:lnTo>
                  <a:lnTo>
                    <a:pt x="864" y="1968"/>
                  </a:lnTo>
                  <a:lnTo>
                    <a:pt x="864" y="1200"/>
                  </a:lnTo>
                  <a:lnTo>
                    <a:pt x="1488" y="1200"/>
                  </a:lnTo>
                  <a:lnTo>
                    <a:pt x="1488" y="1968"/>
                  </a:lnTo>
                  <a:lnTo>
                    <a:pt x="2256" y="1968"/>
                  </a:lnTo>
                  <a:lnTo>
                    <a:pt x="2352" y="1824"/>
                  </a:lnTo>
                  <a:lnTo>
                    <a:pt x="2352" y="0"/>
                  </a:lnTo>
                </a:path>
              </a:pathLst>
            </a:custGeom>
            <a:noFill/>
            <a:ln w="50800">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8133" name="Text Box 67"/>
          <p:cNvSpPr txBox="1">
            <a:spLocks noChangeArrowheads="1"/>
          </p:cNvSpPr>
          <p:nvPr/>
        </p:nvSpPr>
        <p:spPr bwMode="auto">
          <a:xfrm>
            <a:off x="3678239" y="2778126"/>
            <a:ext cx="134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Application</a:t>
            </a:r>
          </a:p>
        </p:txBody>
      </p:sp>
      <p:sp>
        <p:nvSpPr>
          <p:cNvPr id="48134" name="Text Box 68"/>
          <p:cNvSpPr txBox="1">
            <a:spLocks noChangeArrowheads="1"/>
          </p:cNvSpPr>
          <p:nvPr/>
        </p:nvSpPr>
        <p:spPr bwMode="auto">
          <a:xfrm>
            <a:off x="3606800" y="3235326"/>
            <a:ext cx="1341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Presentation</a:t>
            </a:r>
          </a:p>
        </p:txBody>
      </p:sp>
      <p:sp>
        <p:nvSpPr>
          <p:cNvPr id="48135" name="Text Box 69"/>
          <p:cNvSpPr txBox="1">
            <a:spLocks noChangeArrowheads="1"/>
          </p:cNvSpPr>
          <p:nvPr/>
        </p:nvSpPr>
        <p:spPr bwMode="auto">
          <a:xfrm>
            <a:off x="3586164" y="3702051"/>
            <a:ext cx="134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Session</a:t>
            </a:r>
          </a:p>
        </p:txBody>
      </p:sp>
      <p:sp>
        <p:nvSpPr>
          <p:cNvPr id="48136" name="Text Box 70"/>
          <p:cNvSpPr txBox="1">
            <a:spLocks noChangeArrowheads="1"/>
          </p:cNvSpPr>
          <p:nvPr/>
        </p:nvSpPr>
        <p:spPr bwMode="auto">
          <a:xfrm>
            <a:off x="3586164" y="4168776"/>
            <a:ext cx="134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Transport</a:t>
            </a:r>
          </a:p>
        </p:txBody>
      </p:sp>
      <p:sp>
        <p:nvSpPr>
          <p:cNvPr id="48137" name="Text Box 71"/>
          <p:cNvSpPr txBox="1">
            <a:spLocks noChangeArrowheads="1"/>
          </p:cNvSpPr>
          <p:nvPr/>
        </p:nvSpPr>
        <p:spPr bwMode="auto">
          <a:xfrm>
            <a:off x="3627439" y="4637088"/>
            <a:ext cx="13414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Network</a:t>
            </a:r>
          </a:p>
        </p:txBody>
      </p:sp>
      <p:sp>
        <p:nvSpPr>
          <p:cNvPr id="48138" name="Text Box 72"/>
          <p:cNvSpPr txBox="1">
            <a:spLocks noChangeArrowheads="1"/>
          </p:cNvSpPr>
          <p:nvPr/>
        </p:nvSpPr>
        <p:spPr bwMode="auto">
          <a:xfrm>
            <a:off x="3606800" y="5064126"/>
            <a:ext cx="1341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Data Link</a:t>
            </a:r>
          </a:p>
        </p:txBody>
      </p:sp>
      <p:sp>
        <p:nvSpPr>
          <p:cNvPr id="48139" name="Text Box 73"/>
          <p:cNvSpPr txBox="1">
            <a:spLocks noChangeArrowheads="1"/>
          </p:cNvSpPr>
          <p:nvPr/>
        </p:nvSpPr>
        <p:spPr bwMode="auto">
          <a:xfrm>
            <a:off x="3587750" y="5530851"/>
            <a:ext cx="1341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Physical</a:t>
            </a:r>
          </a:p>
        </p:txBody>
      </p:sp>
      <p:sp>
        <p:nvSpPr>
          <p:cNvPr id="48140" name="Text Box 74"/>
          <p:cNvSpPr txBox="1">
            <a:spLocks noChangeArrowheads="1"/>
          </p:cNvSpPr>
          <p:nvPr/>
        </p:nvSpPr>
        <p:spPr bwMode="auto">
          <a:xfrm>
            <a:off x="7162800" y="2747963"/>
            <a:ext cx="13414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Application</a:t>
            </a:r>
          </a:p>
        </p:txBody>
      </p:sp>
      <p:sp>
        <p:nvSpPr>
          <p:cNvPr id="48141" name="Text Box 75"/>
          <p:cNvSpPr txBox="1">
            <a:spLocks noChangeArrowheads="1"/>
          </p:cNvSpPr>
          <p:nvPr/>
        </p:nvSpPr>
        <p:spPr bwMode="auto">
          <a:xfrm>
            <a:off x="7091364" y="3205163"/>
            <a:ext cx="13414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Presentation</a:t>
            </a:r>
          </a:p>
        </p:txBody>
      </p:sp>
      <p:sp>
        <p:nvSpPr>
          <p:cNvPr id="48142" name="Text Box 76"/>
          <p:cNvSpPr txBox="1">
            <a:spLocks noChangeArrowheads="1"/>
          </p:cNvSpPr>
          <p:nvPr/>
        </p:nvSpPr>
        <p:spPr bwMode="auto">
          <a:xfrm>
            <a:off x="7070725" y="3671888"/>
            <a:ext cx="13414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Session</a:t>
            </a:r>
          </a:p>
        </p:txBody>
      </p:sp>
      <p:sp>
        <p:nvSpPr>
          <p:cNvPr id="48143" name="Text Box 77"/>
          <p:cNvSpPr txBox="1">
            <a:spLocks noChangeArrowheads="1"/>
          </p:cNvSpPr>
          <p:nvPr/>
        </p:nvSpPr>
        <p:spPr bwMode="auto">
          <a:xfrm>
            <a:off x="7070725" y="4138613"/>
            <a:ext cx="13414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Transport</a:t>
            </a:r>
          </a:p>
        </p:txBody>
      </p:sp>
      <p:sp>
        <p:nvSpPr>
          <p:cNvPr id="48144" name="Text Box 78"/>
          <p:cNvSpPr txBox="1">
            <a:spLocks noChangeArrowheads="1"/>
          </p:cNvSpPr>
          <p:nvPr/>
        </p:nvSpPr>
        <p:spPr bwMode="auto">
          <a:xfrm>
            <a:off x="7112000" y="4606926"/>
            <a:ext cx="1341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Network</a:t>
            </a:r>
          </a:p>
        </p:txBody>
      </p:sp>
      <p:sp>
        <p:nvSpPr>
          <p:cNvPr id="48145" name="Text Box 79"/>
          <p:cNvSpPr txBox="1">
            <a:spLocks noChangeArrowheads="1"/>
          </p:cNvSpPr>
          <p:nvPr/>
        </p:nvSpPr>
        <p:spPr bwMode="auto">
          <a:xfrm>
            <a:off x="7091364" y="5033963"/>
            <a:ext cx="13414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Data Link</a:t>
            </a:r>
          </a:p>
        </p:txBody>
      </p:sp>
      <p:sp>
        <p:nvSpPr>
          <p:cNvPr id="48146" name="Text Box 80"/>
          <p:cNvSpPr txBox="1">
            <a:spLocks noChangeArrowheads="1"/>
          </p:cNvSpPr>
          <p:nvPr/>
        </p:nvSpPr>
        <p:spPr bwMode="auto">
          <a:xfrm>
            <a:off x="7072314" y="5500688"/>
            <a:ext cx="13414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Physical</a:t>
            </a:r>
          </a:p>
        </p:txBody>
      </p:sp>
      <p:sp>
        <p:nvSpPr>
          <p:cNvPr id="48147" name="Text Box 81"/>
          <p:cNvSpPr txBox="1">
            <a:spLocks noChangeArrowheads="1"/>
          </p:cNvSpPr>
          <p:nvPr/>
        </p:nvSpPr>
        <p:spPr bwMode="auto">
          <a:xfrm>
            <a:off x="5426075" y="4668838"/>
            <a:ext cx="13414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Network</a:t>
            </a:r>
          </a:p>
        </p:txBody>
      </p:sp>
      <p:sp>
        <p:nvSpPr>
          <p:cNvPr id="48148" name="Text Box 82"/>
          <p:cNvSpPr txBox="1">
            <a:spLocks noChangeArrowheads="1"/>
          </p:cNvSpPr>
          <p:nvPr/>
        </p:nvSpPr>
        <p:spPr bwMode="auto">
          <a:xfrm>
            <a:off x="5405439" y="5095876"/>
            <a:ext cx="134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Data Link</a:t>
            </a:r>
          </a:p>
        </p:txBody>
      </p:sp>
      <p:sp>
        <p:nvSpPr>
          <p:cNvPr id="48149" name="Text Box 83"/>
          <p:cNvSpPr txBox="1">
            <a:spLocks noChangeArrowheads="1"/>
          </p:cNvSpPr>
          <p:nvPr/>
        </p:nvSpPr>
        <p:spPr bwMode="auto">
          <a:xfrm>
            <a:off x="5386389" y="5562601"/>
            <a:ext cx="134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800">
                <a:latin typeface="Times New Roman" panose="02020603050405020304" pitchFamily="18" charset="0"/>
              </a:rPr>
              <a:t>Physical</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anim calcmode="lin" valueType="num">
                                      <p:cBhvr additive="base">
                                        <p:cTn id="7" dur="500" fill="hold"/>
                                        <p:tgtEl>
                                          <p:spTgt spid="48132"/>
                                        </p:tgtEl>
                                        <p:attrNameLst>
                                          <p:attrName>ppt_x</p:attrName>
                                        </p:attrNameLst>
                                      </p:cBhvr>
                                      <p:tavLst>
                                        <p:tav tm="0">
                                          <p:val>
                                            <p:strVal val="1+#ppt_w/2"/>
                                          </p:val>
                                        </p:tav>
                                        <p:tav tm="100000">
                                          <p:val>
                                            <p:strVal val="#ppt_x"/>
                                          </p:val>
                                        </p:tav>
                                      </p:tavLst>
                                    </p:anim>
                                    <p:anim calcmode="lin" valueType="num">
                                      <p:cBhvr additive="base">
                                        <p:cTn id="8" dur="500" fill="hold"/>
                                        <p:tgtEl>
                                          <p:spTgt spid="4813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813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233363"/>
            <a:ext cx="7772400" cy="657225"/>
          </a:xfrm>
        </p:spPr>
        <p:txBody>
          <a:bodyPr wrap="none">
            <a:normAutofit fontScale="90000"/>
          </a:bodyPr>
          <a:lstStyle/>
          <a:p>
            <a:pPr algn="ctr" eaLnBrk="1" hangingPunct="1"/>
            <a:r>
              <a:rPr lang="zh-CN" altLang="zh-CN"/>
              <a:t>数据封装（洋葱皮结构）</a:t>
            </a:r>
          </a:p>
        </p:txBody>
      </p:sp>
      <p:sp>
        <p:nvSpPr>
          <p:cNvPr id="49155" name="Rectangle 3"/>
          <p:cNvSpPr>
            <a:spLocks noChangeArrowheads="1"/>
          </p:cNvSpPr>
          <p:nvPr/>
        </p:nvSpPr>
        <p:spPr bwMode="auto">
          <a:xfrm>
            <a:off x="2171700" y="4826000"/>
            <a:ext cx="77925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b="1">
                <a:latin typeface="宋体" panose="02010600030101010101" pitchFamily="2" charset="-122"/>
              </a:rPr>
              <a:t>Physical Address.. . . : </a:t>
            </a:r>
            <a:r>
              <a:rPr lang="zh-CN" altLang="zh-CN" b="1">
                <a:solidFill>
                  <a:schemeClr val="hlink"/>
                </a:solidFill>
                <a:latin typeface="宋体" panose="02010600030101010101" pitchFamily="2" charset="-122"/>
              </a:rPr>
              <a:t>00-50-BA</a:t>
            </a:r>
            <a:r>
              <a:rPr lang="zh-CN" altLang="zh-CN" b="1">
                <a:latin typeface="宋体" panose="02010600030101010101" pitchFamily="2" charset="-122"/>
              </a:rPr>
              <a:t>-</a:t>
            </a:r>
            <a:r>
              <a:rPr lang="zh-CN" altLang="zh-CN" b="1">
                <a:solidFill>
                  <a:schemeClr val="folHlink"/>
                </a:solidFill>
                <a:latin typeface="宋体" panose="02010600030101010101" pitchFamily="2" charset="-122"/>
              </a:rPr>
              <a:t>63-87-A4</a:t>
            </a:r>
          </a:p>
        </p:txBody>
      </p:sp>
      <p:sp>
        <p:nvSpPr>
          <p:cNvPr id="49156" name="Rectangle 4"/>
          <p:cNvSpPr>
            <a:spLocks noChangeArrowheads="1"/>
          </p:cNvSpPr>
          <p:nvPr/>
        </p:nvSpPr>
        <p:spPr bwMode="auto">
          <a:xfrm>
            <a:off x="1857375" y="2119313"/>
            <a:ext cx="8426450" cy="1350962"/>
          </a:xfrm>
          <a:prstGeom prst="rect">
            <a:avLst/>
          </a:prstGeom>
          <a:solidFill>
            <a:schemeClr val="bg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9157" name="Text Box 5"/>
          <p:cNvSpPr txBox="1">
            <a:spLocks noChangeArrowheads="1"/>
          </p:cNvSpPr>
          <p:nvPr/>
        </p:nvSpPr>
        <p:spPr bwMode="auto">
          <a:xfrm>
            <a:off x="5351464" y="14986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b="1">
                <a:latin typeface="Times New Roman" panose="02020603050405020304" pitchFamily="18" charset="0"/>
              </a:rPr>
              <a:t>数据链路层：</a:t>
            </a:r>
          </a:p>
        </p:txBody>
      </p:sp>
      <p:sp>
        <p:nvSpPr>
          <p:cNvPr id="49158" name="Rectangle 6"/>
          <p:cNvSpPr>
            <a:spLocks noChangeArrowheads="1"/>
          </p:cNvSpPr>
          <p:nvPr/>
        </p:nvSpPr>
        <p:spPr bwMode="auto">
          <a:xfrm>
            <a:off x="4702175" y="2252664"/>
            <a:ext cx="5378450" cy="1062037"/>
          </a:xfrm>
          <a:prstGeom prst="rect">
            <a:avLst/>
          </a:prstGeom>
          <a:solidFill>
            <a:schemeClr val="bg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9159" name="Rectangle 7"/>
          <p:cNvSpPr>
            <a:spLocks noChangeArrowheads="1"/>
          </p:cNvSpPr>
          <p:nvPr/>
        </p:nvSpPr>
        <p:spPr bwMode="auto">
          <a:xfrm>
            <a:off x="5765800" y="2336800"/>
            <a:ext cx="3709988" cy="808038"/>
          </a:xfrm>
          <a:prstGeom prst="rect">
            <a:avLst/>
          </a:prstGeom>
          <a:solidFill>
            <a:schemeClr val="bg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9160" name="Text Box 8"/>
          <p:cNvSpPr txBox="1">
            <a:spLocks noChangeArrowheads="1"/>
          </p:cNvSpPr>
          <p:nvPr/>
        </p:nvSpPr>
        <p:spPr bwMode="auto">
          <a:xfrm>
            <a:off x="4700588" y="2608264"/>
            <a:ext cx="1993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r" eaLnBrk="1" hangingPunct="1">
              <a:buFont typeface="Wingdings" panose="05000000000000000000" pitchFamily="2" charset="2"/>
              <a:buNone/>
            </a:pPr>
            <a:r>
              <a:rPr lang="zh-CN" altLang="zh-CN" sz="2000">
                <a:latin typeface="Times New Roman" panose="02020603050405020304" pitchFamily="18" charset="0"/>
              </a:rPr>
              <a:t>SA   DA   SP  DP</a:t>
            </a:r>
          </a:p>
        </p:txBody>
      </p:sp>
      <p:sp>
        <p:nvSpPr>
          <p:cNvPr id="49161" name="Text Box 9"/>
          <p:cNvSpPr txBox="1">
            <a:spLocks noChangeArrowheads="1"/>
          </p:cNvSpPr>
          <p:nvPr/>
        </p:nvSpPr>
        <p:spPr bwMode="auto">
          <a:xfrm>
            <a:off x="7521575" y="2570164"/>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000">
                <a:latin typeface="Times New Roman" panose="02020603050405020304" pitchFamily="18" charset="0"/>
              </a:rPr>
              <a:t>数据</a:t>
            </a:r>
          </a:p>
        </p:txBody>
      </p:sp>
      <p:sp>
        <p:nvSpPr>
          <p:cNvPr id="49162" name="Rectangle 10"/>
          <p:cNvSpPr>
            <a:spLocks noChangeArrowheads="1"/>
          </p:cNvSpPr>
          <p:nvPr/>
        </p:nvSpPr>
        <p:spPr bwMode="auto">
          <a:xfrm>
            <a:off x="6924675" y="2489200"/>
            <a:ext cx="1803400" cy="5476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49163" name="Rectangle 11"/>
          <p:cNvSpPr>
            <a:spLocks noChangeArrowheads="1"/>
          </p:cNvSpPr>
          <p:nvPr/>
        </p:nvSpPr>
        <p:spPr bwMode="auto">
          <a:xfrm>
            <a:off x="2027238" y="2590800"/>
            <a:ext cx="2254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400" b="1">
                <a:latin typeface="Times New Roman" panose="02020603050405020304" pitchFamily="18" charset="0"/>
              </a:rPr>
              <a:t>DMAC  SMAC</a:t>
            </a:r>
          </a:p>
        </p:txBody>
      </p:sp>
      <p:sp>
        <p:nvSpPr>
          <p:cNvPr id="49164" name="Line 12"/>
          <p:cNvSpPr>
            <a:spLocks noChangeShapeType="1"/>
          </p:cNvSpPr>
          <p:nvPr/>
        </p:nvSpPr>
        <p:spPr bwMode="auto">
          <a:xfrm flipV="1">
            <a:off x="3576638" y="3297239"/>
            <a:ext cx="0" cy="1641475"/>
          </a:xfrm>
          <a:prstGeom prst="line">
            <a:avLst/>
          </a:prstGeom>
          <a:noFill/>
          <a:ln w="381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9165" name="Line 13"/>
          <p:cNvSpPr>
            <a:spLocks noChangeShapeType="1"/>
          </p:cNvSpPr>
          <p:nvPr/>
        </p:nvSpPr>
        <p:spPr bwMode="auto">
          <a:xfrm flipV="1">
            <a:off x="5180013" y="2914651"/>
            <a:ext cx="0" cy="1470025"/>
          </a:xfrm>
          <a:prstGeom prst="line">
            <a:avLst/>
          </a:prstGeom>
          <a:noFill/>
          <a:ln w="381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9166" name="Rectangle 14"/>
          <p:cNvSpPr>
            <a:spLocks noChangeArrowheads="1"/>
          </p:cNvSpPr>
          <p:nvPr/>
        </p:nvSpPr>
        <p:spPr bwMode="auto">
          <a:xfrm>
            <a:off x="4367214" y="4329113"/>
            <a:ext cx="5768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b="1">
                <a:latin typeface="宋体" panose="02010600030101010101" pitchFamily="2" charset="-122"/>
              </a:rPr>
              <a:t>目的（源）IP地址：202.197.96.43</a:t>
            </a:r>
          </a:p>
        </p:txBody>
      </p:sp>
      <p:sp>
        <p:nvSpPr>
          <p:cNvPr id="49167" name="Line 15"/>
          <p:cNvSpPr>
            <a:spLocks noChangeShapeType="1"/>
          </p:cNvSpPr>
          <p:nvPr/>
        </p:nvSpPr>
        <p:spPr bwMode="auto">
          <a:xfrm flipV="1">
            <a:off x="6184900" y="2805113"/>
            <a:ext cx="0" cy="1185862"/>
          </a:xfrm>
          <a:prstGeom prst="line">
            <a:avLst/>
          </a:prstGeom>
          <a:noFill/>
          <a:ln w="38100">
            <a:solidFill>
              <a:schemeClr val="hlink"/>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9168" name="Rectangle 16"/>
          <p:cNvSpPr>
            <a:spLocks noChangeArrowheads="1"/>
          </p:cNvSpPr>
          <p:nvPr/>
        </p:nvSpPr>
        <p:spPr bwMode="auto">
          <a:xfrm>
            <a:off x="5332413" y="3813176"/>
            <a:ext cx="4718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b="1">
                <a:latin typeface="宋体" panose="02010600030101010101" pitchFamily="2" charset="-122"/>
              </a:rPr>
              <a:t>目的（源）端口号：80 </a:t>
            </a:r>
            <a:r>
              <a:rPr lang="zh-CN" altLang="zh-CN" sz="2400">
                <a:latin typeface="宋体" panose="02010600030101010101" pitchFamily="2" charset="-122"/>
              </a:rPr>
              <a:t>(WWW)</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2700" y="0"/>
            <a:ext cx="79121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 Box 3"/>
          <p:cNvSpPr txBox="1">
            <a:spLocks noChangeArrowheads="1"/>
          </p:cNvSpPr>
          <p:nvPr/>
        </p:nvSpPr>
        <p:spPr bwMode="auto">
          <a:xfrm>
            <a:off x="1847850" y="1703389"/>
            <a:ext cx="49053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3200">
                <a:latin typeface="Times New Roman" panose="02020603050405020304" pitchFamily="18" charset="0"/>
              </a:rPr>
              <a:t>OSI</a:t>
            </a:r>
            <a:r>
              <a:rPr lang="zh-CN" altLang="zh-CN" sz="3200">
                <a:latin typeface="Times New Roman" panose="02020603050405020304" pitchFamily="18" charset="0"/>
                <a:ea typeface="隶书" panose="02010509060101010101" pitchFamily="49" charset="-122"/>
              </a:rPr>
              <a:t>各层功能总结</a:t>
            </a:r>
          </a:p>
        </p:txBody>
      </p:sp>
      <p:sp>
        <p:nvSpPr>
          <p:cNvPr id="50180" name="Text Box 4"/>
          <p:cNvSpPr txBox="1">
            <a:spLocks noChangeArrowheads="1"/>
          </p:cNvSpPr>
          <p:nvPr/>
        </p:nvSpPr>
        <p:spPr bwMode="auto">
          <a:xfrm>
            <a:off x="5651501" y="6107114"/>
            <a:ext cx="4251325" cy="528637"/>
          </a:xfrm>
          <a:prstGeom prst="rect">
            <a:avLst/>
          </a:prstGeom>
          <a:solidFill>
            <a:schemeClr val="bg1"/>
          </a:solidFill>
          <a:ln w="9525">
            <a:solidFill>
              <a:schemeClr val="bg1"/>
            </a:solidFill>
            <a:miter lim="800000"/>
            <a:headEnd/>
            <a:tailEnd/>
          </a:ln>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a:latin typeface="Times New Roman" panose="02020603050405020304" pitchFamily="18" charset="0"/>
            </a:endParaRPr>
          </a:p>
        </p:txBody>
      </p:sp>
      <p:sp>
        <p:nvSpPr>
          <p:cNvPr id="50181" name="Text Box 5"/>
          <p:cNvSpPr txBox="1">
            <a:spLocks noChangeArrowheads="1"/>
          </p:cNvSpPr>
          <p:nvPr/>
        </p:nvSpPr>
        <p:spPr bwMode="auto">
          <a:xfrm>
            <a:off x="5783263" y="6089650"/>
            <a:ext cx="4622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200">
                <a:solidFill>
                  <a:schemeClr val="hlink"/>
                </a:solidFill>
                <a:latin typeface="Times New Roman" panose="02020603050405020304" pitchFamily="18" charset="0"/>
              </a:rPr>
              <a:t>Physical Layer</a:t>
            </a:r>
            <a:r>
              <a:rPr lang="zh-CN" altLang="zh-CN" sz="2200">
                <a:latin typeface="Times New Roman" panose="02020603050405020304" pitchFamily="18" charset="0"/>
              </a:rPr>
              <a:t>（</a:t>
            </a:r>
            <a:r>
              <a:rPr lang="zh-CN" altLang="zh-CN" sz="2200">
                <a:solidFill>
                  <a:srgbClr val="0000FF"/>
                </a:solidFill>
                <a:latin typeface="Times New Roman" panose="02020603050405020304" pitchFamily="18" charset="0"/>
              </a:rPr>
              <a:t>底层硬件</a:t>
            </a:r>
            <a:r>
              <a:rPr lang="zh-CN" altLang="zh-CN" sz="2200">
                <a:latin typeface="Times New Roman" panose="02020603050405020304" pitchFamily="18" charset="0"/>
              </a:rPr>
              <a:t>，</a:t>
            </a:r>
            <a:r>
              <a:rPr lang="zh-CN" altLang="zh-CN" sz="2200">
                <a:latin typeface="仿宋_GB2312" pitchFamily="1" charset="-122"/>
              </a:rPr>
              <a:t>数据的物理传输）</a:t>
            </a:r>
          </a:p>
        </p:txBody>
      </p:sp>
      <p:sp>
        <p:nvSpPr>
          <p:cNvPr id="50182" name="Text Box 6"/>
          <p:cNvSpPr txBox="1">
            <a:spLocks noChangeArrowheads="1"/>
          </p:cNvSpPr>
          <p:nvPr/>
        </p:nvSpPr>
        <p:spPr bwMode="auto">
          <a:xfrm>
            <a:off x="5602289" y="5310189"/>
            <a:ext cx="3608387" cy="7016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solidFill>
                <a:srgbClr val="B2B2B2"/>
              </a:solidFill>
              <a:latin typeface="Times New Roman" panose="02020603050405020304" pitchFamily="18" charset="0"/>
            </a:endParaRPr>
          </a:p>
        </p:txBody>
      </p:sp>
      <p:sp>
        <p:nvSpPr>
          <p:cNvPr id="50183" name="Text Box 7"/>
          <p:cNvSpPr txBox="1">
            <a:spLocks noChangeArrowheads="1"/>
          </p:cNvSpPr>
          <p:nvPr/>
        </p:nvSpPr>
        <p:spPr bwMode="auto">
          <a:xfrm>
            <a:off x="5729288" y="3832226"/>
            <a:ext cx="3929062" cy="7016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solidFill>
                <a:srgbClr val="B2B2B2"/>
              </a:solidFill>
              <a:latin typeface="Times New Roman" panose="02020603050405020304" pitchFamily="18" charset="0"/>
            </a:endParaRPr>
          </a:p>
        </p:txBody>
      </p:sp>
      <p:sp>
        <p:nvSpPr>
          <p:cNvPr id="50184" name="Text Box 8"/>
          <p:cNvSpPr txBox="1">
            <a:spLocks noChangeArrowheads="1"/>
          </p:cNvSpPr>
          <p:nvPr/>
        </p:nvSpPr>
        <p:spPr bwMode="auto">
          <a:xfrm>
            <a:off x="5757863" y="3756025"/>
            <a:ext cx="467201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200">
                <a:solidFill>
                  <a:schemeClr val="hlink"/>
                </a:solidFill>
                <a:latin typeface="Times New Roman" panose="02020603050405020304" pitchFamily="18" charset="0"/>
              </a:rPr>
              <a:t>Transport Layer</a:t>
            </a:r>
            <a:r>
              <a:rPr lang="zh-CN" altLang="zh-CN" sz="2200">
                <a:latin typeface="Times New Roman" panose="02020603050405020304" pitchFamily="18" charset="0"/>
              </a:rPr>
              <a:t> (</a:t>
            </a:r>
            <a:r>
              <a:rPr lang="zh-CN" altLang="zh-CN" sz="2200">
                <a:solidFill>
                  <a:schemeClr val="accent2"/>
                </a:solidFill>
                <a:latin typeface="Times New Roman" panose="02020603050405020304" pitchFamily="18" charset="0"/>
              </a:rPr>
              <a:t>报文</a:t>
            </a:r>
            <a:r>
              <a:rPr lang="zh-CN" altLang="zh-CN" sz="2200">
                <a:solidFill>
                  <a:srgbClr val="0000FF"/>
                </a:solidFill>
                <a:latin typeface="Times New Roman" panose="02020603050405020304" pitchFamily="18" charset="0"/>
              </a:rPr>
              <a:t>端传输</a:t>
            </a:r>
            <a:r>
              <a:rPr lang="zh-CN" altLang="zh-CN" sz="2200">
                <a:latin typeface="Times New Roman" panose="02020603050405020304" pitchFamily="18" charset="0"/>
              </a:rPr>
              <a:t>。</a:t>
            </a:r>
            <a:r>
              <a:rPr lang="zh-CN" altLang="zh-CN" sz="2200">
                <a:latin typeface="仿宋_GB2312" pitchFamily="1" charset="-122"/>
              </a:rPr>
              <a:t>网络决策、链路管理、分组和重装</a:t>
            </a:r>
            <a:r>
              <a:rPr lang="zh-CN" altLang="zh-CN" sz="2200">
                <a:latin typeface="Times New Roman" panose="02020603050405020304" pitchFamily="18" charset="0"/>
              </a:rPr>
              <a:t>)</a:t>
            </a:r>
          </a:p>
        </p:txBody>
      </p:sp>
      <p:sp>
        <p:nvSpPr>
          <p:cNvPr id="50185" name="Text Box 9"/>
          <p:cNvSpPr txBox="1">
            <a:spLocks noChangeArrowheads="1"/>
          </p:cNvSpPr>
          <p:nvPr/>
        </p:nvSpPr>
        <p:spPr bwMode="auto">
          <a:xfrm>
            <a:off x="5813426" y="5262563"/>
            <a:ext cx="4918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200">
                <a:solidFill>
                  <a:schemeClr val="hlink"/>
                </a:solidFill>
                <a:latin typeface="Times New Roman" panose="02020603050405020304" pitchFamily="18" charset="0"/>
              </a:rPr>
              <a:t>Data Ling Layer</a:t>
            </a:r>
            <a:r>
              <a:rPr lang="zh-CN" altLang="zh-CN" sz="2200">
                <a:latin typeface="Times New Roman" panose="02020603050405020304" pitchFamily="18" charset="0"/>
              </a:rPr>
              <a:t>(</a:t>
            </a:r>
            <a:r>
              <a:rPr lang="zh-CN" altLang="zh-CN" sz="2200">
                <a:solidFill>
                  <a:srgbClr val="0000FF"/>
                </a:solidFill>
                <a:latin typeface="Times New Roman" panose="02020603050405020304" pitchFamily="18" charset="0"/>
              </a:rPr>
              <a:t>硬件帧定义</a:t>
            </a:r>
            <a:r>
              <a:rPr lang="zh-CN" altLang="zh-CN" sz="2200">
                <a:latin typeface="Times New Roman" panose="02020603050405020304" pitchFamily="18" charset="0"/>
              </a:rPr>
              <a:t>。</a:t>
            </a:r>
            <a:r>
              <a:rPr lang="zh-CN" altLang="zh-CN" sz="2200">
                <a:latin typeface="仿宋_GB2312" pitchFamily="1" charset="-122"/>
              </a:rPr>
              <a:t>错误检测和校正、组帧、流量控制）</a:t>
            </a:r>
          </a:p>
        </p:txBody>
      </p:sp>
      <p:sp>
        <p:nvSpPr>
          <p:cNvPr id="50186" name="Text Box 10"/>
          <p:cNvSpPr txBox="1">
            <a:spLocks noChangeArrowheads="1"/>
          </p:cNvSpPr>
          <p:nvPr/>
        </p:nvSpPr>
        <p:spPr bwMode="auto">
          <a:xfrm>
            <a:off x="5683250" y="2354264"/>
            <a:ext cx="4471988" cy="7016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solidFill>
                <a:srgbClr val="B2B2B2"/>
              </a:solidFill>
              <a:latin typeface="Times New Roman" panose="02020603050405020304" pitchFamily="18" charset="0"/>
            </a:endParaRPr>
          </a:p>
        </p:txBody>
      </p:sp>
      <p:sp>
        <p:nvSpPr>
          <p:cNvPr id="50187" name="Text Box 11"/>
          <p:cNvSpPr txBox="1">
            <a:spLocks noChangeArrowheads="1"/>
          </p:cNvSpPr>
          <p:nvPr/>
        </p:nvSpPr>
        <p:spPr bwMode="auto">
          <a:xfrm>
            <a:off x="5700714" y="2297113"/>
            <a:ext cx="44481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200">
                <a:solidFill>
                  <a:schemeClr val="hlink"/>
                </a:solidFill>
                <a:latin typeface="Times New Roman" panose="02020603050405020304" pitchFamily="18" charset="0"/>
              </a:rPr>
              <a:t>Presentation Layer</a:t>
            </a:r>
            <a:r>
              <a:rPr lang="zh-CN" altLang="zh-CN" sz="2200">
                <a:latin typeface="Times New Roman" panose="02020603050405020304" pitchFamily="18" charset="0"/>
              </a:rPr>
              <a:t> (</a:t>
            </a:r>
            <a:r>
              <a:rPr lang="zh-CN" altLang="zh-CN" sz="2200">
                <a:solidFill>
                  <a:schemeClr val="accent2"/>
                </a:solidFill>
                <a:latin typeface="Times New Roman" panose="02020603050405020304" pitchFamily="18" charset="0"/>
              </a:rPr>
              <a:t>数据表示</a:t>
            </a:r>
            <a:r>
              <a:rPr lang="zh-CN" altLang="zh-CN" sz="2200">
                <a:latin typeface="Times New Roman" panose="02020603050405020304" pitchFamily="18" charset="0"/>
              </a:rPr>
              <a:t>。</a:t>
            </a:r>
            <a:r>
              <a:rPr lang="zh-CN" altLang="zh-CN" sz="2200">
                <a:latin typeface="仿宋_GB2312" pitchFamily="1" charset="-122"/>
              </a:rPr>
              <a:t>转换数据格式，数据加密和解密</a:t>
            </a:r>
            <a:r>
              <a:rPr lang="zh-CN" altLang="zh-CN" sz="2200">
                <a:latin typeface="Times New Roman" panose="02020603050405020304" pitchFamily="18" charset="0"/>
              </a:rPr>
              <a:t>)</a:t>
            </a:r>
          </a:p>
        </p:txBody>
      </p:sp>
      <p:sp>
        <p:nvSpPr>
          <p:cNvPr id="50188" name="Text Box 12"/>
          <p:cNvSpPr txBox="1">
            <a:spLocks noChangeArrowheads="1"/>
          </p:cNvSpPr>
          <p:nvPr/>
        </p:nvSpPr>
        <p:spPr bwMode="auto">
          <a:xfrm>
            <a:off x="5651501" y="4597401"/>
            <a:ext cx="370681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latin typeface="Times New Roman" panose="02020603050405020304" pitchFamily="18" charset="0"/>
            </a:endParaRPr>
          </a:p>
        </p:txBody>
      </p:sp>
      <p:sp>
        <p:nvSpPr>
          <p:cNvPr id="50189" name="Text Box 13"/>
          <p:cNvSpPr txBox="1">
            <a:spLocks noChangeArrowheads="1"/>
          </p:cNvSpPr>
          <p:nvPr/>
        </p:nvSpPr>
        <p:spPr bwMode="auto">
          <a:xfrm>
            <a:off x="5729289" y="4521200"/>
            <a:ext cx="49434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100">
                <a:solidFill>
                  <a:schemeClr val="hlink"/>
                </a:solidFill>
                <a:latin typeface="Times New Roman" panose="02020603050405020304" pitchFamily="18" charset="0"/>
              </a:rPr>
              <a:t>Network Layer</a:t>
            </a:r>
            <a:r>
              <a:rPr lang="zh-CN" altLang="zh-CN" sz="2100">
                <a:latin typeface="Times New Roman" panose="02020603050405020304" pitchFamily="18" charset="0"/>
              </a:rPr>
              <a:t> </a:t>
            </a:r>
            <a:r>
              <a:rPr lang="zh-CN" altLang="zh-CN" sz="2000">
                <a:latin typeface="Times New Roman" panose="02020603050405020304" pitchFamily="18" charset="0"/>
              </a:rPr>
              <a:t>(分组</a:t>
            </a:r>
            <a:r>
              <a:rPr lang="zh-CN" altLang="zh-CN" sz="2000">
                <a:solidFill>
                  <a:srgbClr val="0000FF"/>
                </a:solidFill>
                <a:latin typeface="Times New Roman" panose="02020603050405020304" pitchFamily="18" charset="0"/>
              </a:rPr>
              <a:t>转发</a:t>
            </a:r>
            <a:r>
              <a:rPr lang="zh-CN" altLang="zh-CN" sz="2000">
                <a:latin typeface="Times New Roman" panose="02020603050405020304" pitchFamily="18" charset="0"/>
              </a:rPr>
              <a:t>、地址规划、</a:t>
            </a:r>
            <a:r>
              <a:rPr lang="zh-CN" altLang="zh-CN" sz="2000">
                <a:latin typeface="仿宋_GB2312" pitchFamily="1" charset="-122"/>
              </a:rPr>
              <a:t>路由选择，计费管理、流控、拥塞控制</a:t>
            </a:r>
            <a:r>
              <a:rPr lang="zh-CN" altLang="zh-CN" sz="2000" b="1">
                <a:latin typeface="仿宋_GB2312" pitchFamily="1" charset="-122"/>
              </a:rPr>
              <a:t>）</a:t>
            </a:r>
          </a:p>
        </p:txBody>
      </p:sp>
      <p:sp>
        <p:nvSpPr>
          <p:cNvPr id="50190" name="Text Box 14"/>
          <p:cNvSpPr txBox="1">
            <a:spLocks noChangeArrowheads="1"/>
          </p:cNvSpPr>
          <p:nvPr/>
        </p:nvSpPr>
        <p:spPr bwMode="auto">
          <a:xfrm>
            <a:off x="5576889" y="3040064"/>
            <a:ext cx="3805237"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latin typeface="Times New Roman" panose="02020603050405020304" pitchFamily="18" charset="0"/>
            </a:endParaRPr>
          </a:p>
        </p:txBody>
      </p:sp>
      <p:sp>
        <p:nvSpPr>
          <p:cNvPr id="50191" name="Text Box 15"/>
          <p:cNvSpPr txBox="1">
            <a:spLocks noChangeArrowheads="1"/>
          </p:cNvSpPr>
          <p:nvPr/>
        </p:nvSpPr>
        <p:spPr bwMode="auto">
          <a:xfrm>
            <a:off x="5749926" y="3040063"/>
            <a:ext cx="45704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zh-CN" sz="2200">
                <a:solidFill>
                  <a:schemeClr val="hlink"/>
                </a:solidFill>
                <a:latin typeface="Times New Roman" panose="02020603050405020304" pitchFamily="18" charset="0"/>
              </a:rPr>
              <a:t>Session Layer</a:t>
            </a:r>
            <a:r>
              <a:rPr lang="zh-CN" altLang="zh-CN" sz="2200">
                <a:latin typeface="Times New Roman" panose="02020603050405020304" pitchFamily="18" charset="0"/>
              </a:rPr>
              <a:t> </a:t>
            </a:r>
            <a:r>
              <a:rPr lang="zh-CN" altLang="zh-CN" sz="2200">
                <a:latin typeface="仿宋_GB2312" pitchFamily="1" charset="-122"/>
              </a:rPr>
              <a:t>(</a:t>
            </a:r>
            <a:r>
              <a:rPr lang="zh-CN" altLang="zh-CN" sz="2200">
                <a:solidFill>
                  <a:srgbClr val="0000FF"/>
                </a:solidFill>
                <a:latin typeface="Times New Roman" panose="02020603050405020304" pitchFamily="18" charset="0"/>
              </a:rPr>
              <a:t>连接的建立与维护</a:t>
            </a:r>
            <a:r>
              <a:rPr lang="zh-CN" altLang="zh-CN" sz="2200">
                <a:latin typeface="仿宋_GB2312" pitchFamily="1" charset="-122"/>
              </a:rPr>
              <a:t>。通信同步，错误恢复和事务操作）</a:t>
            </a:r>
          </a:p>
        </p:txBody>
      </p:sp>
      <p:sp>
        <p:nvSpPr>
          <p:cNvPr id="50192" name="Text Box 16"/>
          <p:cNvSpPr txBox="1">
            <a:spLocks noChangeArrowheads="1"/>
          </p:cNvSpPr>
          <p:nvPr/>
        </p:nvSpPr>
        <p:spPr bwMode="auto">
          <a:xfrm>
            <a:off x="5651501" y="1630364"/>
            <a:ext cx="395446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50000"/>
              </a:spcBef>
              <a:buFont typeface="Wingdings" panose="05000000000000000000" pitchFamily="2" charset="2"/>
              <a:buNone/>
            </a:pPr>
            <a:endParaRPr lang="zh-CN" altLang="zh-CN" sz="4000">
              <a:latin typeface="Times New Roman" panose="02020603050405020304" pitchFamily="18" charset="0"/>
            </a:endParaRPr>
          </a:p>
        </p:txBody>
      </p:sp>
      <p:sp>
        <p:nvSpPr>
          <p:cNvPr id="50193" name="Text Box 17"/>
          <p:cNvSpPr>
            <a:spLocks noGrp="1" noChangeArrowheads="1"/>
          </p:cNvSpPr>
          <p:nvPr>
            <p:ph type="title"/>
          </p:nvPr>
        </p:nvSpPr>
        <p:spPr>
          <a:xfrm>
            <a:off x="5688014" y="1568450"/>
            <a:ext cx="4510087" cy="673100"/>
          </a:xfrm>
        </p:spPr>
        <p:txBody>
          <a:bodyPr>
            <a:normAutofit fontScale="90000"/>
          </a:bodyPr>
          <a:lstStyle/>
          <a:p>
            <a:pPr eaLnBrk="1" hangingPunct="1"/>
            <a:r>
              <a:rPr lang="zh-CN" altLang="zh-CN" sz="2200">
                <a:solidFill>
                  <a:schemeClr val="hlink"/>
                </a:solidFill>
              </a:rPr>
              <a:t>Application Layer</a:t>
            </a:r>
            <a:r>
              <a:rPr lang="zh-CN" altLang="zh-CN" sz="2200"/>
              <a:t>  (</a:t>
            </a:r>
            <a:r>
              <a:rPr lang="zh-CN" altLang="zh-CN" sz="2200">
                <a:solidFill>
                  <a:srgbClr val="0000FF"/>
                </a:solidFill>
              </a:rPr>
              <a:t>独立的应用程序</a:t>
            </a:r>
            <a:r>
              <a:rPr lang="zh-CN" altLang="zh-CN" sz="2200"/>
              <a:t>，如电子邮件、文件传输等)</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413251" y="320675"/>
            <a:ext cx="3363913" cy="501650"/>
          </a:xfrm>
        </p:spPr>
        <p:txBody>
          <a:bodyPr>
            <a:normAutofit fontScale="90000"/>
          </a:bodyPr>
          <a:lstStyle/>
          <a:p>
            <a:pPr algn="ctr" eaLnBrk="1" hangingPunct="1"/>
            <a:r>
              <a:rPr lang="zh-CN" altLang="zh-CN"/>
              <a:t>OSI/RM总结</a:t>
            </a:r>
          </a:p>
        </p:txBody>
      </p:sp>
      <p:grpSp>
        <p:nvGrpSpPr>
          <p:cNvPr id="51203" name="Group 3"/>
          <p:cNvGrpSpPr>
            <a:grpSpLocks/>
          </p:cNvGrpSpPr>
          <p:nvPr/>
        </p:nvGrpSpPr>
        <p:grpSpPr bwMode="auto">
          <a:xfrm>
            <a:off x="2487613" y="2051051"/>
            <a:ext cx="7662862" cy="2124075"/>
            <a:chOff x="0" y="0"/>
            <a:chExt cx="4827" cy="1338"/>
          </a:xfrm>
        </p:grpSpPr>
        <p:sp>
          <p:nvSpPr>
            <p:cNvPr id="51235" name="Rectangle 4"/>
            <p:cNvSpPr>
              <a:spLocks noChangeArrowheads="1"/>
            </p:cNvSpPr>
            <p:nvPr/>
          </p:nvSpPr>
          <p:spPr bwMode="auto">
            <a:xfrm>
              <a:off x="4360" y="450"/>
              <a:ext cx="467" cy="421"/>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latin typeface="Times New Roman" panose="02020603050405020304" pitchFamily="18" charset="0"/>
                </a:rPr>
                <a:t>B</a:t>
              </a:r>
            </a:p>
          </p:txBody>
        </p:sp>
        <p:grpSp>
          <p:nvGrpSpPr>
            <p:cNvPr id="51236" name="Group 5"/>
            <p:cNvGrpSpPr>
              <a:grpSpLocks/>
            </p:cNvGrpSpPr>
            <p:nvPr/>
          </p:nvGrpSpPr>
          <p:grpSpPr bwMode="auto">
            <a:xfrm>
              <a:off x="0" y="0"/>
              <a:ext cx="4344" cy="1338"/>
              <a:chOff x="0" y="0"/>
              <a:chExt cx="4344" cy="1338"/>
            </a:xfrm>
          </p:grpSpPr>
          <p:sp>
            <p:nvSpPr>
              <p:cNvPr id="51237" name="Rectangle 6"/>
              <p:cNvSpPr>
                <a:spLocks noChangeArrowheads="1"/>
              </p:cNvSpPr>
              <p:nvPr/>
            </p:nvSpPr>
            <p:spPr bwMode="auto">
              <a:xfrm>
                <a:off x="0" y="435"/>
                <a:ext cx="467" cy="452"/>
              </a:xfrm>
              <a:prstGeom prst="rect">
                <a:avLst/>
              </a:prstGeom>
              <a:solidFill>
                <a:schemeClr val="accent1"/>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zh-CN" altLang="zh-CN">
                    <a:latin typeface="Times New Roman" panose="02020603050405020304" pitchFamily="18" charset="0"/>
                  </a:rPr>
                  <a:t>A</a:t>
                </a:r>
              </a:p>
            </p:txBody>
          </p:sp>
          <p:grpSp>
            <p:nvGrpSpPr>
              <p:cNvPr id="51238" name="Group 7"/>
              <p:cNvGrpSpPr>
                <a:grpSpLocks/>
              </p:cNvGrpSpPr>
              <p:nvPr/>
            </p:nvGrpSpPr>
            <p:grpSpPr bwMode="auto">
              <a:xfrm>
                <a:off x="467" y="0"/>
                <a:ext cx="3877" cy="1338"/>
                <a:chOff x="0" y="0"/>
                <a:chExt cx="3877" cy="1338"/>
              </a:xfrm>
            </p:grpSpPr>
            <p:sp>
              <p:nvSpPr>
                <p:cNvPr id="51241" name="Oval 8"/>
                <p:cNvSpPr>
                  <a:spLocks noChangeArrowheads="1"/>
                </p:cNvSpPr>
                <p:nvPr/>
              </p:nvSpPr>
              <p:spPr bwMode="auto">
                <a:xfrm>
                  <a:off x="670" y="561"/>
                  <a:ext cx="218"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1242" name="Oval 9"/>
                <p:cNvSpPr>
                  <a:spLocks noChangeArrowheads="1"/>
                </p:cNvSpPr>
                <p:nvPr/>
              </p:nvSpPr>
              <p:spPr bwMode="auto">
                <a:xfrm>
                  <a:off x="1418" y="15"/>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1243" name="Oval 10"/>
                <p:cNvSpPr>
                  <a:spLocks noChangeArrowheads="1"/>
                </p:cNvSpPr>
                <p:nvPr/>
              </p:nvSpPr>
              <p:spPr bwMode="auto">
                <a:xfrm>
                  <a:off x="2367" y="0"/>
                  <a:ext cx="249" cy="264"/>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1244" name="Oval 11"/>
                <p:cNvSpPr>
                  <a:spLocks noChangeArrowheads="1"/>
                </p:cNvSpPr>
                <p:nvPr/>
              </p:nvSpPr>
              <p:spPr bwMode="auto">
                <a:xfrm>
                  <a:off x="3083" y="622"/>
                  <a:ext cx="264"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1245" name="Oval 12"/>
                <p:cNvSpPr>
                  <a:spLocks noChangeArrowheads="1"/>
                </p:cNvSpPr>
                <p:nvPr/>
              </p:nvSpPr>
              <p:spPr bwMode="auto">
                <a:xfrm>
                  <a:off x="1448" y="1136"/>
                  <a:ext cx="187" cy="202"/>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1246" name="Oval 13"/>
                <p:cNvSpPr>
                  <a:spLocks noChangeArrowheads="1"/>
                </p:cNvSpPr>
                <p:nvPr/>
              </p:nvSpPr>
              <p:spPr bwMode="auto">
                <a:xfrm>
                  <a:off x="2367" y="1105"/>
                  <a:ext cx="265" cy="218"/>
                </a:xfrm>
                <a:prstGeom prst="ellipse">
                  <a:avLst/>
                </a:prstGeom>
                <a:solidFill>
                  <a:schemeClr val="accent1"/>
                </a:solidFill>
                <a:ln w="9525">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51247" name="Group 14"/>
                <p:cNvGrpSpPr>
                  <a:grpSpLocks/>
                </p:cNvGrpSpPr>
                <p:nvPr/>
              </p:nvGrpSpPr>
              <p:grpSpPr bwMode="auto">
                <a:xfrm>
                  <a:off x="0" y="77"/>
                  <a:ext cx="3877" cy="1168"/>
                  <a:chOff x="0" y="0"/>
                  <a:chExt cx="3877" cy="1168"/>
                </a:xfrm>
              </p:grpSpPr>
              <p:sp>
                <p:nvSpPr>
                  <p:cNvPr id="51248" name="Line 15"/>
                  <p:cNvSpPr>
                    <a:spLocks noChangeShapeType="1"/>
                  </p:cNvSpPr>
                  <p:nvPr/>
                </p:nvSpPr>
                <p:spPr bwMode="auto">
                  <a:xfrm flipV="1">
                    <a:off x="779" y="94"/>
                    <a:ext cx="669"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Line 16"/>
                  <p:cNvSpPr>
                    <a:spLocks noChangeShapeType="1"/>
                  </p:cNvSpPr>
                  <p:nvPr/>
                </p:nvSpPr>
                <p:spPr bwMode="auto">
                  <a:xfrm>
                    <a:off x="1682" y="0"/>
                    <a:ext cx="747"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0" name="Line 17"/>
                  <p:cNvSpPr>
                    <a:spLocks noChangeShapeType="1"/>
                  </p:cNvSpPr>
                  <p:nvPr/>
                </p:nvSpPr>
                <p:spPr bwMode="auto">
                  <a:xfrm>
                    <a:off x="2585" y="94"/>
                    <a:ext cx="638" cy="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1" name="Line 18"/>
                  <p:cNvSpPr>
                    <a:spLocks noChangeShapeType="1"/>
                  </p:cNvSpPr>
                  <p:nvPr/>
                </p:nvSpPr>
                <p:spPr bwMode="auto">
                  <a:xfrm flipV="1">
                    <a:off x="2569" y="717"/>
                    <a:ext cx="607"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2" name="Line 19"/>
                  <p:cNvSpPr>
                    <a:spLocks noChangeShapeType="1"/>
                  </p:cNvSpPr>
                  <p:nvPr/>
                </p:nvSpPr>
                <p:spPr bwMode="auto">
                  <a:xfrm>
                    <a:off x="841" y="670"/>
                    <a:ext cx="638" cy="4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3" name="Line 20"/>
                  <p:cNvSpPr>
                    <a:spLocks noChangeShapeType="1"/>
                  </p:cNvSpPr>
                  <p:nvPr/>
                </p:nvSpPr>
                <p:spPr bwMode="auto">
                  <a:xfrm>
                    <a:off x="1635" y="1168"/>
                    <a:ext cx="8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4" name="Line 21"/>
                  <p:cNvSpPr>
                    <a:spLocks noChangeShapeType="1"/>
                  </p:cNvSpPr>
                  <p:nvPr/>
                </p:nvSpPr>
                <p:spPr bwMode="auto">
                  <a:xfrm>
                    <a:off x="1604" y="125"/>
                    <a:ext cx="949" cy="9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5" name="Line 22"/>
                  <p:cNvSpPr>
                    <a:spLocks noChangeShapeType="1"/>
                  </p:cNvSpPr>
                  <p:nvPr/>
                </p:nvSpPr>
                <p:spPr bwMode="auto">
                  <a:xfrm flipH="1">
                    <a:off x="2507" y="156"/>
                    <a:ext cx="31" cy="8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6" name="Line 23"/>
                  <p:cNvSpPr>
                    <a:spLocks noChangeShapeType="1"/>
                  </p:cNvSpPr>
                  <p:nvPr/>
                </p:nvSpPr>
                <p:spPr bwMode="auto">
                  <a:xfrm flipH="1">
                    <a:off x="1495" y="125"/>
                    <a:ext cx="93" cy="9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7" name="Line 24"/>
                  <p:cNvSpPr>
                    <a:spLocks noChangeShapeType="1"/>
                  </p:cNvSpPr>
                  <p:nvPr/>
                </p:nvSpPr>
                <p:spPr bwMode="auto">
                  <a:xfrm>
                    <a:off x="0" y="592"/>
                    <a:ext cx="6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8" name="Line 25"/>
                  <p:cNvSpPr>
                    <a:spLocks noChangeShapeType="1"/>
                  </p:cNvSpPr>
                  <p:nvPr/>
                </p:nvSpPr>
                <p:spPr bwMode="auto">
                  <a:xfrm>
                    <a:off x="3347" y="654"/>
                    <a:ext cx="530" cy="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1239" name="Text Box 26"/>
              <p:cNvSpPr txBox="1">
                <a:spLocks noChangeArrowheads="1"/>
              </p:cNvSpPr>
              <p:nvPr/>
            </p:nvSpPr>
            <p:spPr bwMode="auto">
              <a:xfrm>
                <a:off x="872" y="250"/>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a:latin typeface="Times New Roman" panose="02020603050405020304" pitchFamily="18" charset="0"/>
                  </a:rPr>
                  <a:t>IMP</a:t>
                </a:r>
              </a:p>
            </p:txBody>
          </p:sp>
          <p:sp>
            <p:nvSpPr>
              <p:cNvPr id="51240" name="Text Box 27"/>
              <p:cNvSpPr txBox="1">
                <a:spLocks noChangeArrowheads="1"/>
              </p:cNvSpPr>
              <p:nvPr/>
            </p:nvSpPr>
            <p:spPr bwMode="auto">
              <a:xfrm>
                <a:off x="3612" y="279"/>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a:latin typeface="Times New Roman" panose="02020603050405020304" pitchFamily="18" charset="0"/>
                  </a:rPr>
                  <a:t>IMP</a:t>
                </a:r>
              </a:p>
            </p:txBody>
          </p:sp>
        </p:grpSp>
      </p:grpSp>
      <p:grpSp>
        <p:nvGrpSpPr>
          <p:cNvPr id="51228" name="Group 28"/>
          <p:cNvGrpSpPr>
            <a:grpSpLocks/>
          </p:cNvGrpSpPr>
          <p:nvPr/>
        </p:nvGrpSpPr>
        <p:grpSpPr bwMode="auto">
          <a:xfrm>
            <a:off x="4440238" y="3138488"/>
            <a:ext cx="3979862" cy="1878012"/>
            <a:chOff x="0" y="0"/>
            <a:chExt cx="2507" cy="1183"/>
          </a:xfrm>
        </p:grpSpPr>
        <p:sp>
          <p:nvSpPr>
            <p:cNvPr id="51231" name="Line 29"/>
            <p:cNvSpPr>
              <a:spLocks noChangeShapeType="1"/>
            </p:cNvSpPr>
            <p:nvPr/>
          </p:nvSpPr>
          <p:spPr bwMode="auto">
            <a:xfrm>
              <a:off x="0" y="0"/>
              <a:ext cx="0" cy="1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2" name="Line 30"/>
            <p:cNvSpPr>
              <a:spLocks noChangeShapeType="1"/>
            </p:cNvSpPr>
            <p:nvPr/>
          </p:nvSpPr>
          <p:spPr bwMode="auto">
            <a:xfrm flipH="1">
              <a:off x="2506" y="77"/>
              <a:ext cx="1" cy="1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3" name="Text Box 31"/>
            <p:cNvSpPr txBox="1">
              <a:spLocks noChangeArrowheads="1"/>
            </p:cNvSpPr>
            <p:nvPr/>
          </p:nvSpPr>
          <p:spPr bwMode="auto">
            <a:xfrm>
              <a:off x="637" y="809"/>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a:latin typeface="Times New Roman" panose="02020603050405020304" pitchFamily="18" charset="0"/>
                </a:rPr>
                <a:t>网络层</a:t>
              </a:r>
            </a:p>
          </p:txBody>
        </p:sp>
        <p:sp>
          <p:nvSpPr>
            <p:cNvPr id="51234" name="Line 32"/>
            <p:cNvSpPr>
              <a:spLocks noChangeShapeType="1"/>
            </p:cNvSpPr>
            <p:nvPr/>
          </p:nvSpPr>
          <p:spPr bwMode="auto">
            <a:xfrm>
              <a:off x="16" y="763"/>
              <a:ext cx="2475"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Group 33"/>
          <p:cNvGrpSpPr>
            <a:grpSpLocks/>
          </p:cNvGrpSpPr>
          <p:nvPr/>
        </p:nvGrpSpPr>
        <p:grpSpPr bwMode="auto">
          <a:xfrm>
            <a:off x="4340225" y="1581151"/>
            <a:ext cx="1409700" cy="1508125"/>
            <a:chOff x="0" y="0"/>
            <a:chExt cx="888" cy="950"/>
          </a:xfrm>
        </p:grpSpPr>
        <p:sp>
          <p:nvSpPr>
            <p:cNvPr id="51226" name="Text Box 34"/>
            <p:cNvSpPr txBox="1">
              <a:spLocks noChangeArrowheads="1"/>
            </p:cNvSpPr>
            <p:nvPr/>
          </p:nvSpPr>
          <p:spPr bwMode="auto">
            <a:xfrm>
              <a:off x="0" y="13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a:latin typeface="Times New Roman" panose="02020603050405020304" pitchFamily="18" charset="0"/>
                </a:rPr>
                <a:t>链路层</a:t>
              </a:r>
            </a:p>
          </p:txBody>
        </p:sp>
        <p:grpSp>
          <p:nvGrpSpPr>
            <p:cNvPr id="51227" name="Group 35"/>
            <p:cNvGrpSpPr>
              <a:grpSpLocks/>
            </p:cNvGrpSpPr>
            <p:nvPr/>
          </p:nvGrpSpPr>
          <p:grpSpPr bwMode="auto">
            <a:xfrm>
              <a:off x="0" y="0"/>
              <a:ext cx="873" cy="950"/>
              <a:chOff x="0" y="0"/>
              <a:chExt cx="873" cy="950"/>
            </a:xfrm>
          </p:grpSpPr>
          <p:sp>
            <p:nvSpPr>
              <p:cNvPr id="3" name="Line 36"/>
              <p:cNvSpPr>
                <a:spLocks noChangeShapeType="1"/>
              </p:cNvSpPr>
              <p:nvPr/>
            </p:nvSpPr>
            <p:spPr bwMode="auto">
              <a:xfrm>
                <a:off x="0" y="0"/>
                <a:ext cx="1" cy="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9" name="Line 37"/>
              <p:cNvSpPr>
                <a:spLocks noChangeShapeType="1"/>
              </p:cNvSpPr>
              <p:nvPr/>
            </p:nvSpPr>
            <p:spPr bwMode="auto">
              <a:xfrm>
                <a:off x="872" y="16"/>
                <a:ext cx="1" cy="3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0" name="Line 38"/>
              <p:cNvSpPr>
                <a:spLocks noChangeShapeType="1"/>
              </p:cNvSpPr>
              <p:nvPr/>
            </p:nvSpPr>
            <p:spPr bwMode="auto">
              <a:xfrm>
                <a:off x="17" y="265"/>
                <a:ext cx="840"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39"/>
          <p:cNvGrpSpPr>
            <a:grpSpLocks/>
          </p:cNvGrpSpPr>
          <p:nvPr/>
        </p:nvGrpSpPr>
        <p:grpSpPr bwMode="auto">
          <a:xfrm>
            <a:off x="5673725" y="1658939"/>
            <a:ext cx="1606550" cy="663575"/>
            <a:chOff x="0" y="0"/>
            <a:chExt cx="1012" cy="418"/>
          </a:xfrm>
        </p:grpSpPr>
        <p:sp>
          <p:nvSpPr>
            <p:cNvPr id="51222" name="Text Box 40"/>
            <p:cNvSpPr txBox="1">
              <a:spLocks noChangeArrowheads="1"/>
            </p:cNvSpPr>
            <p:nvPr/>
          </p:nvSpPr>
          <p:spPr bwMode="auto">
            <a:xfrm>
              <a:off x="11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a:latin typeface="Times New Roman" panose="02020603050405020304" pitchFamily="18" charset="0"/>
                </a:rPr>
                <a:t>链路层</a:t>
              </a:r>
            </a:p>
          </p:txBody>
        </p:sp>
        <p:sp>
          <p:nvSpPr>
            <p:cNvPr id="51223" name="Line 41"/>
            <p:cNvSpPr>
              <a:spLocks noChangeShapeType="1"/>
            </p:cNvSpPr>
            <p:nvPr/>
          </p:nvSpPr>
          <p:spPr bwMode="auto">
            <a:xfrm>
              <a:off x="1012" y="60"/>
              <a:ext cx="0" cy="3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4" name="Line 42"/>
            <p:cNvSpPr>
              <a:spLocks noChangeShapeType="1"/>
            </p:cNvSpPr>
            <p:nvPr/>
          </p:nvSpPr>
          <p:spPr bwMode="auto">
            <a:xfrm>
              <a:off x="0" y="60"/>
              <a:ext cx="0" cy="2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5" name="Line 43"/>
            <p:cNvSpPr>
              <a:spLocks noChangeShapeType="1"/>
            </p:cNvSpPr>
            <p:nvPr/>
          </p:nvSpPr>
          <p:spPr bwMode="auto">
            <a:xfrm>
              <a:off x="1" y="216"/>
              <a:ext cx="996" cy="16"/>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44"/>
          <p:cNvGrpSpPr>
            <a:grpSpLocks/>
          </p:cNvGrpSpPr>
          <p:nvPr/>
        </p:nvGrpSpPr>
        <p:grpSpPr bwMode="auto">
          <a:xfrm>
            <a:off x="7092950" y="1760539"/>
            <a:ext cx="1409700" cy="1474787"/>
            <a:chOff x="0" y="0"/>
            <a:chExt cx="888" cy="929"/>
          </a:xfrm>
        </p:grpSpPr>
        <p:sp>
          <p:nvSpPr>
            <p:cNvPr id="51218" name="Text Box 45"/>
            <p:cNvSpPr txBox="1">
              <a:spLocks noChangeArrowheads="1"/>
            </p:cNvSpPr>
            <p:nvPr/>
          </p:nvSpPr>
          <p:spPr bwMode="auto">
            <a:xfrm>
              <a:off x="0" y="0"/>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sz="2400">
                  <a:latin typeface="Times New Roman" panose="02020603050405020304" pitchFamily="18" charset="0"/>
                </a:rPr>
                <a:t>链路层</a:t>
              </a:r>
            </a:p>
          </p:txBody>
        </p:sp>
        <p:sp>
          <p:nvSpPr>
            <p:cNvPr id="51219" name="Line 46"/>
            <p:cNvSpPr>
              <a:spLocks noChangeShapeType="1"/>
            </p:cNvSpPr>
            <p:nvPr/>
          </p:nvSpPr>
          <p:spPr bwMode="auto">
            <a:xfrm flipH="1">
              <a:off x="804" y="25"/>
              <a:ext cx="1" cy="9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0" name="Line 47"/>
            <p:cNvSpPr>
              <a:spLocks noChangeShapeType="1"/>
            </p:cNvSpPr>
            <p:nvPr/>
          </p:nvSpPr>
          <p:spPr bwMode="auto">
            <a:xfrm>
              <a:off x="11" y="25"/>
              <a:ext cx="31" cy="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1" name="Line 48"/>
            <p:cNvSpPr>
              <a:spLocks noChangeShapeType="1"/>
            </p:cNvSpPr>
            <p:nvPr/>
          </p:nvSpPr>
          <p:spPr bwMode="auto">
            <a:xfrm>
              <a:off x="10" y="104"/>
              <a:ext cx="779" cy="16"/>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9"/>
          <p:cNvGrpSpPr>
            <a:grpSpLocks/>
          </p:cNvGrpSpPr>
          <p:nvPr/>
        </p:nvGrpSpPr>
        <p:grpSpPr bwMode="auto">
          <a:xfrm>
            <a:off x="2859089" y="3435351"/>
            <a:ext cx="6969125" cy="3014663"/>
            <a:chOff x="0" y="0"/>
            <a:chExt cx="4390" cy="1899"/>
          </a:xfrm>
        </p:grpSpPr>
        <p:grpSp>
          <p:nvGrpSpPr>
            <p:cNvPr id="51213" name="Group 50"/>
            <p:cNvGrpSpPr>
              <a:grpSpLocks/>
            </p:cNvGrpSpPr>
            <p:nvPr/>
          </p:nvGrpSpPr>
          <p:grpSpPr bwMode="auto">
            <a:xfrm>
              <a:off x="0" y="0"/>
              <a:ext cx="4390" cy="1899"/>
              <a:chOff x="0" y="0"/>
              <a:chExt cx="4390" cy="1899"/>
            </a:xfrm>
          </p:grpSpPr>
          <p:sp>
            <p:nvSpPr>
              <p:cNvPr id="51215" name="Line 51"/>
              <p:cNvSpPr>
                <a:spLocks noChangeShapeType="1"/>
              </p:cNvSpPr>
              <p:nvPr/>
            </p:nvSpPr>
            <p:spPr bwMode="auto">
              <a:xfrm>
                <a:off x="0" y="15"/>
                <a:ext cx="0" cy="1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Line 52"/>
              <p:cNvSpPr>
                <a:spLocks noChangeShapeType="1"/>
              </p:cNvSpPr>
              <p:nvPr/>
            </p:nvSpPr>
            <p:spPr bwMode="auto">
              <a:xfrm>
                <a:off x="4390" y="0"/>
                <a:ext cx="0" cy="18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Line 53"/>
              <p:cNvSpPr>
                <a:spLocks noChangeShapeType="1"/>
              </p:cNvSpPr>
              <p:nvPr/>
            </p:nvSpPr>
            <p:spPr bwMode="auto">
              <a:xfrm>
                <a:off x="15" y="1339"/>
                <a:ext cx="4359"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214" name="Text Box 54"/>
            <p:cNvSpPr txBox="1">
              <a:spLocks noChangeArrowheads="1"/>
            </p:cNvSpPr>
            <p:nvPr/>
          </p:nvSpPr>
          <p:spPr bwMode="auto">
            <a:xfrm>
              <a:off x="1323" y="1043"/>
              <a:ext cx="1852"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 typeface="Wingdings" panose="05000000000000000000" pitchFamily="2" charset="2"/>
                <a:buNone/>
              </a:pPr>
              <a:r>
                <a:rPr lang="zh-CN" altLang="zh-CN">
                  <a:latin typeface="Times New Roman" panose="02020603050405020304" pitchFamily="18" charset="0"/>
                </a:rPr>
                <a:t>传输层、会话层</a:t>
              </a:r>
            </a:p>
            <a:p>
              <a:pPr algn="ctr" eaLnBrk="1" hangingPunct="1">
                <a:spcBef>
                  <a:spcPct val="50000"/>
                </a:spcBef>
                <a:buFont typeface="Wingdings" panose="05000000000000000000" pitchFamily="2" charset="2"/>
                <a:buNone/>
              </a:pPr>
              <a:r>
                <a:rPr lang="zh-CN" altLang="zh-CN">
                  <a:latin typeface="Times New Roman" panose="02020603050405020304" pitchFamily="18" charset="0"/>
                </a:rPr>
                <a:t>表示层、应用层</a:t>
              </a:r>
            </a:p>
          </p:txBody>
        </p:sp>
      </p:grpSp>
      <p:sp>
        <p:nvSpPr>
          <p:cNvPr id="7" name="AutoShape 55"/>
          <p:cNvSpPr>
            <a:spLocks noChangeArrowheads="1"/>
          </p:cNvSpPr>
          <p:nvPr/>
        </p:nvSpPr>
        <p:spPr bwMode="auto">
          <a:xfrm>
            <a:off x="8248650" y="5684838"/>
            <a:ext cx="2419350" cy="914400"/>
          </a:xfrm>
          <a:prstGeom prst="wedgeRoundRectCallout">
            <a:avLst>
              <a:gd name="adj1" fmla="val -71981"/>
              <a:gd name="adj2" fmla="val -8505"/>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zh-CN" sz="1400">
                <a:solidFill>
                  <a:schemeClr val="tx2"/>
                </a:solidFill>
                <a:latin typeface="Times New Roman" panose="02020603050405020304" pitchFamily="18" charset="0"/>
                <a:ea typeface="隶书" panose="02010509060101010101" pitchFamily="49" charset="-122"/>
              </a:rPr>
              <a:t>应用协议</a:t>
            </a:r>
            <a:r>
              <a:rPr lang="zh-CN" altLang="zh-CN" sz="1400">
                <a:latin typeface="Times New Roman" panose="02020603050405020304" pitchFamily="18" charset="0"/>
              </a:rPr>
              <a:t>：Telnet,FTP,</a:t>
            </a:r>
          </a:p>
          <a:p>
            <a:pPr eaLnBrk="1" hangingPunct="1">
              <a:spcBef>
                <a:spcPct val="20000"/>
              </a:spcBef>
              <a:buFont typeface="Wingdings" panose="05000000000000000000" pitchFamily="2" charset="2"/>
              <a:buNone/>
            </a:pPr>
            <a:r>
              <a:rPr lang="zh-CN" altLang="zh-CN" sz="1400">
                <a:latin typeface="Times New Roman" panose="02020603050405020304" pitchFamily="18" charset="0"/>
              </a:rPr>
              <a:t>WWW,NNTP,SMTP,</a:t>
            </a:r>
          </a:p>
          <a:p>
            <a:pPr eaLnBrk="1" hangingPunct="1">
              <a:spcBef>
                <a:spcPct val="20000"/>
              </a:spcBef>
              <a:buFont typeface="Wingdings" panose="05000000000000000000" pitchFamily="2" charset="2"/>
              <a:buNone/>
            </a:pPr>
            <a:r>
              <a:rPr lang="zh-CN" altLang="zh-CN" sz="1400">
                <a:latin typeface="Times New Roman" panose="02020603050405020304" pitchFamily="18" charset="0"/>
              </a:rPr>
              <a:t>POP3,IMAP,SNMP……</a:t>
            </a:r>
          </a:p>
        </p:txBody>
      </p:sp>
      <p:sp>
        <p:nvSpPr>
          <p:cNvPr id="8" name="AutoShape 56"/>
          <p:cNvSpPr>
            <a:spLocks noChangeArrowheads="1"/>
          </p:cNvSpPr>
          <p:nvPr/>
        </p:nvSpPr>
        <p:spPr bwMode="auto">
          <a:xfrm>
            <a:off x="8248650" y="887413"/>
            <a:ext cx="2419350" cy="1039812"/>
          </a:xfrm>
          <a:prstGeom prst="wedgeRoundRectCallout">
            <a:avLst>
              <a:gd name="adj1" fmla="val -77954"/>
              <a:gd name="adj2" fmla="val 33056"/>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nSpc>
                <a:spcPct val="90000"/>
              </a:lnSpc>
              <a:spcBef>
                <a:spcPct val="40000"/>
              </a:spcBef>
              <a:buClr>
                <a:schemeClr val="hlink"/>
              </a:buClr>
              <a:buFont typeface="Wingdings" panose="05000000000000000000" pitchFamily="2" charset="2"/>
              <a:buChar char="ü"/>
            </a:pPr>
            <a:r>
              <a:rPr lang="zh-CN" altLang="zh-CN" sz="1200">
                <a:solidFill>
                  <a:schemeClr val="tx2"/>
                </a:solidFill>
                <a:latin typeface="隶书" panose="02010509060101010101" pitchFamily="49" charset="-122"/>
                <a:ea typeface="隶书" panose="02010509060101010101" pitchFamily="49" charset="-122"/>
              </a:rPr>
              <a:t>LANs</a:t>
            </a:r>
            <a:r>
              <a:rPr lang="zh-CN" altLang="zh-CN" sz="1200">
                <a:latin typeface="Times New Roman" panose="02020603050405020304" pitchFamily="18" charset="0"/>
              </a:rPr>
              <a:t>:Ethernet, Fast Ethernet,G-Ethernet,Token Ring,FDDI,ATM</a:t>
            </a:r>
          </a:p>
          <a:p>
            <a:pPr>
              <a:lnSpc>
                <a:spcPct val="90000"/>
              </a:lnSpc>
              <a:spcBef>
                <a:spcPct val="40000"/>
              </a:spcBef>
              <a:buClr>
                <a:schemeClr val="hlink"/>
              </a:buClr>
              <a:buFont typeface="Wingdings" panose="05000000000000000000" pitchFamily="2" charset="2"/>
              <a:buChar char="ü"/>
            </a:pPr>
            <a:r>
              <a:rPr lang="zh-CN" altLang="zh-CN" sz="1200">
                <a:solidFill>
                  <a:schemeClr val="tx2"/>
                </a:solidFill>
                <a:latin typeface="隶书" panose="02010509060101010101" pitchFamily="49" charset="-122"/>
                <a:ea typeface="隶书" panose="02010509060101010101" pitchFamily="49" charset="-122"/>
              </a:rPr>
              <a:t>WANs</a:t>
            </a:r>
            <a:r>
              <a:rPr lang="zh-CN" altLang="zh-CN" sz="1200">
                <a:latin typeface="Times New Roman" panose="02020603050405020304" pitchFamily="18" charset="0"/>
              </a:rPr>
              <a:t>:Voice/H.321/HDLC/PPP/Frame Relay/SDLC/ISDN</a:t>
            </a:r>
          </a:p>
        </p:txBody>
      </p:sp>
      <p:sp>
        <p:nvSpPr>
          <p:cNvPr id="9" name="AutoShape 57"/>
          <p:cNvSpPr>
            <a:spLocks noChangeArrowheads="1"/>
          </p:cNvSpPr>
          <p:nvPr/>
        </p:nvSpPr>
        <p:spPr bwMode="auto">
          <a:xfrm>
            <a:off x="2422525" y="5676900"/>
            <a:ext cx="2419350" cy="914400"/>
          </a:xfrm>
          <a:prstGeom prst="wedgeRoundRectCallout">
            <a:avLst>
              <a:gd name="adj1" fmla="val 62926"/>
              <a:gd name="adj2" fmla="val -73264"/>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600">
                <a:solidFill>
                  <a:schemeClr val="tx2"/>
                </a:solidFill>
                <a:latin typeface="隶书" panose="02010509060101010101" pitchFamily="49" charset="-122"/>
                <a:ea typeface="隶书" panose="02010509060101010101" pitchFamily="49" charset="-122"/>
              </a:rPr>
              <a:t>协议</a:t>
            </a:r>
            <a:r>
              <a:rPr lang="zh-CN" altLang="zh-CN" sz="1600">
                <a:latin typeface="隶书" panose="02010509060101010101" pitchFamily="49" charset="-122"/>
                <a:ea typeface="隶书" panose="02010509060101010101" pitchFamily="49" charset="-122"/>
              </a:rPr>
              <a:t>: FTP, TFTP, RTCP; NCP, UDP, NetBIOS</a:t>
            </a:r>
          </a:p>
        </p:txBody>
      </p:sp>
      <p:sp>
        <p:nvSpPr>
          <p:cNvPr id="10" name="AutoShape 58"/>
          <p:cNvSpPr>
            <a:spLocks noChangeArrowheads="1"/>
          </p:cNvSpPr>
          <p:nvPr/>
        </p:nvSpPr>
        <p:spPr bwMode="auto">
          <a:xfrm>
            <a:off x="7791450" y="4465638"/>
            <a:ext cx="2419350" cy="914400"/>
          </a:xfrm>
          <a:prstGeom prst="wedgeRoundRectCallout">
            <a:avLst>
              <a:gd name="adj1" fmla="val -92718"/>
              <a:gd name="adj2" fmla="val -22222"/>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nSpc>
                <a:spcPct val="90000"/>
              </a:lnSpc>
              <a:spcBef>
                <a:spcPct val="30000"/>
              </a:spcBef>
              <a:buClr>
                <a:schemeClr val="accent2"/>
              </a:buClr>
              <a:buFont typeface="Wingdings" panose="05000000000000000000" pitchFamily="2" charset="2"/>
              <a:buChar char="ü"/>
            </a:pPr>
            <a:r>
              <a:rPr lang="zh-CN" altLang="zh-CN" sz="1400">
                <a:solidFill>
                  <a:schemeClr val="tx2"/>
                </a:solidFill>
                <a:latin typeface="隶书" panose="02010509060101010101" pitchFamily="49" charset="-122"/>
                <a:ea typeface="隶书" panose="02010509060101010101" pitchFamily="49" charset="-122"/>
              </a:rPr>
              <a:t>协议</a:t>
            </a:r>
            <a:r>
              <a:rPr lang="zh-CN" altLang="zh-CN" sz="1400">
                <a:latin typeface="宋体" panose="02010600030101010101" pitchFamily="2" charset="-122"/>
              </a:rPr>
              <a:t>: Internet IP,Novell IPX,IBM SNA,</a:t>
            </a:r>
          </a:p>
          <a:p>
            <a:pPr>
              <a:lnSpc>
                <a:spcPct val="90000"/>
              </a:lnSpc>
              <a:spcBef>
                <a:spcPct val="30000"/>
              </a:spcBef>
              <a:buClr>
                <a:schemeClr val="accent2"/>
              </a:buClr>
              <a:buFont typeface="Wingdings" panose="05000000000000000000" pitchFamily="2" charset="2"/>
              <a:buNone/>
            </a:pPr>
            <a:r>
              <a:rPr lang="zh-CN" altLang="zh-CN" sz="1400">
                <a:latin typeface="宋体" panose="02010600030101010101" pitchFamily="2" charset="-122"/>
              </a:rPr>
              <a:t>Apple AppleTalk,Banyan  Vines,Digital  DEC net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51228"/>
                                        </p:tgtEl>
                                        <p:attrNameLst>
                                          <p:attrName>style.visibility</p:attrName>
                                        </p:attrNameLst>
                                      </p:cBhvr>
                                      <p:to>
                                        <p:strVal val="visible"/>
                                      </p:to>
                                    </p:set>
                                    <p:anim calcmode="lin" valueType="num">
                                      <p:cBhvr additive="base">
                                        <p:cTn id="31" dur="500" fill="hold"/>
                                        <p:tgtEl>
                                          <p:spTgt spid="51228"/>
                                        </p:tgtEl>
                                        <p:attrNameLst>
                                          <p:attrName>ppt_x</p:attrName>
                                        </p:attrNameLst>
                                      </p:cBhvr>
                                      <p:tavLst>
                                        <p:tav tm="0">
                                          <p:val>
                                            <p:strVal val="1+#ppt_w/2"/>
                                          </p:val>
                                        </p:tav>
                                        <p:tav tm="100000">
                                          <p:val>
                                            <p:strVal val="#ppt_x"/>
                                          </p:val>
                                        </p:tav>
                                      </p:tavLst>
                                    </p:anim>
                                    <p:anim calcmode="lin" valueType="num">
                                      <p:cBhvr additive="base">
                                        <p:cTn id="32" dur="500" fill="hold"/>
                                        <p:tgtEl>
                                          <p:spTgt spid="5122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1+#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1+#ppt_w/2"/>
                                          </p:val>
                                        </p:tav>
                                        <p:tav tm="100000">
                                          <p:val>
                                            <p:strVal val="#ppt_x"/>
                                          </p:val>
                                        </p:tav>
                                      </p:tavLst>
                                    </p:anim>
                                    <p:anim calcmode="lin" valueType="num">
                                      <p:cBhvr additive="base">
                                        <p:cTn id="4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1+#ppt_w/2"/>
                                          </p:val>
                                        </p:tav>
                                        <p:tav tm="100000">
                                          <p:val>
                                            <p:strVal val="#ppt_x"/>
                                          </p:val>
                                        </p:tav>
                                      </p:tavLst>
                                    </p:anim>
                                    <p:anim calcmode="lin" valueType="num">
                                      <p:cBhvr additive="base">
                                        <p:cTn id="5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209550" y="229395"/>
            <a:ext cx="7032625" cy="596900"/>
          </a:xfrm>
        </p:spPr>
        <p:txBody>
          <a:bodyPr wrap="none">
            <a:noAutofit/>
          </a:bodyPr>
          <a:lstStyle/>
          <a:p>
            <a:pPr eaLnBrk="1" hangingPunct="1"/>
            <a:r>
              <a:rPr lang="en-US" altLang="zh-CN" sz="4800" b="1"/>
              <a:t>2.</a:t>
            </a:r>
            <a:r>
              <a:rPr lang="zh-CN" altLang="zh-CN" sz="4800" b="1"/>
              <a:t>5</a:t>
            </a:r>
            <a:r>
              <a:rPr lang="en-US" altLang="zh-CN" sz="4800" b="1"/>
              <a:t> </a:t>
            </a:r>
            <a:r>
              <a:rPr lang="zh-CN" altLang="zh-CN" sz="4800" b="1"/>
              <a:t>Internet体系结构</a:t>
            </a:r>
            <a:endParaRPr lang="zh-CN" altLang="zh-CN" sz="4800" b="1" dirty="0"/>
          </a:p>
        </p:txBody>
      </p:sp>
      <p:grpSp>
        <p:nvGrpSpPr>
          <p:cNvPr id="52227" name="Group 3"/>
          <p:cNvGrpSpPr>
            <a:grpSpLocks/>
          </p:cNvGrpSpPr>
          <p:nvPr/>
        </p:nvGrpSpPr>
        <p:grpSpPr bwMode="auto">
          <a:xfrm>
            <a:off x="4545013" y="2241551"/>
            <a:ext cx="2354262" cy="4162425"/>
            <a:chOff x="0" y="0"/>
            <a:chExt cx="1483" cy="2622"/>
          </a:xfrm>
        </p:grpSpPr>
        <p:sp>
          <p:nvSpPr>
            <p:cNvPr id="52254" name="Rectangle 4"/>
            <p:cNvSpPr>
              <a:spLocks noChangeArrowheads="1"/>
            </p:cNvSpPr>
            <p:nvPr/>
          </p:nvSpPr>
          <p:spPr bwMode="auto">
            <a:xfrm>
              <a:off x="200" y="334"/>
              <a:ext cx="1280" cy="65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ea typeface="华文新魏" panose="02010800040101010101" pitchFamily="2" charset="-122"/>
                </a:rPr>
                <a:t>应用层</a:t>
              </a:r>
            </a:p>
          </p:txBody>
        </p:sp>
        <p:sp>
          <p:nvSpPr>
            <p:cNvPr id="52255" name="Rectangle 5"/>
            <p:cNvSpPr>
              <a:spLocks noChangeArrowheads="1"/>
            </p:cNvSpPr>
            <p:nvPr/>
          </p:nvSpPr>
          <p:spPr bwMode="auto">
            <a:xfrm>
              <a:off x="200" y="1006"/>
              <a:ext cx="1280" cy="629"/>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ea typeface="华文新魏" panose="02010800040101010101" pitchFamily="2" charset="-122"/>
                </a:rPr>
                <a:t>主机-主机层</a:t>
              </a:r>
            </a:p>
          </p:txBody>
        </p:sp>
        <p:sp>
          <p:nvSpPr>
            <p:cNvPr id="52256" name="Rectangle 6"/>
            <p:cNvSpPr>
              <a:spLocks noChangeArrowheads="1"/>
            </p:cNvSpPr>
            <p:nvPr/>
          </p:nvSpPr>
          <p:spPr bwMode="auto">
            <a:xfrm>
              <a:off x="200" y="1651"/>
              <a:ext cx="1280" cy="3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ea typeface="华文新魏" panose="02010800040101010101" pitchFamily="2" charset="-122"/>
                </a:rPr>
                <a:t>网间网层</a:t>
              </a:r>
            </a:p>
          </p:txBody>
        </p:sp>
        <p:sp>
          <p:nvSpPr>
            <p:cNvPr id="52257" name="Rectangle 7"/>
            <p:cNvSpPr>
              <a:spLocks noChangeArrowheads="1"/>
            </p:cNvSpPr>
            <p:nvPr/>
          </p:nvSpPr>
          <p:spPr bwMode="auto">
            <a:xfrm>
              <a:off x="200" y="1980"/>
              <a:ext cx="1280" cy="64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ea typeface="华文新魏" panose="02010800040101010101" pitchFamily="2" charset="-122"/>
                </a:rPr>
                <a:t>网络</a:t>
              </a:r>
            </a:p>
            <a:p>
              <a:pPr algn="ctr">
                <a:buFont typeface="Wingdings" panose="05000000000000000000" pitchFamily="2" charset="2"/>
                <a:buNone/>
              </a:pPr>
              <a:r>
                <a:rPr lang="zh-CN" altLang="zh-CN">
                  <a:latin typeface="Arial" panose="020B0604020202020204" pitchFamily="34" charset="0"/>
                  <a:ea typeface="华文新魏" panose="02010800040101010101" pitchFamily="2" charset="-122"/>
                </a:rPr>
                <a:t>接口层</a:t>
              </a:r>
            </a:p>
          </p:txBody>
        </p:sp>
        <p:sp>
          <p:nvSpPr>
            <p:cNvPr id="52258" name="Rectangle 8"/>
            <p:cNvSpPr>
              <a:spLocks noChangeArrowheads="1"/>
            </p:cNvSpPr>
            <p:nvPr/>
          </p:nvSpPr>
          <p:spPr bwMode="auto">
            <a:xfrm>
              <a:off x="0" y="0"/>
              <a:ext cx="1483"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a:latin typeface="Times New Roman" panose="02020603050405020304" pitchFamily="18" charset="0"/>
                </a:rPr>
                <a:t> TCP/IP Model</a:t>
              </a:r>
            </a:p>
          </p:txBody>
        </p:sp>
      </p:grpSp>
      <p:grpSp>
        <p:nvGrpSpPr>
          <p:cNvPr id="52233" name="Group 9"/>
          <p:cNvGrpSpPr>
            <a:grpSpLocks/>
          </p:cNvGrpSpPr>
          <p:nvPr/>
        </p:nvGrpSpPr>
        <p:grpSpPr bwMode="auto">
          <a:xfrm>
            <a:off x="1803401" y="2198689"/>
            <a:ext cx="2982913" cy="4162425"/>
            <a:chOff x="0" y="0"/>
            <a:chExt cx="1879" cy="2622"/>
          </a:xfrm>
        </p:grpSpPr>
        <p:grpSp>
          <p:nvGrpSpPr>
            <p:cNvPr id="52241" name="Group 10"/>
            <p:cNvGrpSpPr>
              <a:grpSpLocks/>
            </p:cNvGrpSpPr>
            <p:nvPr/>
          </p:nvGrpSpPr>
          <p:grpSpPr bwMode="auto">
            <a:xfrm>
              <a:off x="65" y="334"/>
              <a:ext cx="1280" cy="2288"/>
              <a:chOff x="0" y="0"/>
              <a:chExt cx="1280" cy="2288"/>
            </a:xfrm>
          </p:grpSpPr>
          <p:sp>
            <p:nvSpPr>
              <p:cNvPr id="52247" name="Rectangle 11"/>
              <p:cNvSpPr>
                <a:spLocks noChangeArrowheads="1"/>
              </p:cNvSpPr>
              <p:nvPr/>
            </p:nvSpPr>
            <p:spPr bwMode="auto">
              <a:xfrm>
                <a:off x="0" y="0"/>
                <a:ext cx="1280" cy="3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Application</a:t>
                </a:r>
              </a:p>
            </p:txBody>
          </p:sp>
          <p:sp>
            <p:nvSpPr>
              <p:cNvPr id="52248" name="Rectangle 12"/>
              <p:cNvSpPr>
                <a:spLocks noChangeArrowheads="1"/>
              </p:cNvSpPr>
              <p:nvPr/>
            </p:nvSpPr>
            <p:spPr bwMode="auto">
              <a:xfrm>
                <a:off x="0" y="329"/>
                <a:ext cx="1280" cy="31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Presentation</a:t>
                </a:r>
              </a:p>
            </p:txBody>
          </p:sp>
          <p:sp>
            <p:nvSpPr>
              <p:cNvPr id="52249" name="Rectangle 13"/>
              <p:cNvSpPr>
                <a:spLocks noChangeArrowheads="1"/>
              </p:cNvSpPr>
              <p:nvPr/>
            </p:nvSpPr>
            <p:spPr bwMode="auto">
              <a:xfrm>
                <a:off x="0" y="660"/>
                <a:ext cx="1280" cy="3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Session</a:t>
                </a:r>
              </a:p>
            </p:txBody>
          </p:sp>
          <p:sp>
            <p:nvSpPr>
              <p:cNvPr id="52250" name="Rectangle 14"/>
              <p:cNvSpPr>
                <a:spLocks noChangeArrowheads="1"/>
              </p:cNvSpPr>
              <p:nvPr/>
            </p:nvSpPr>
            <p:spPr bwMode="auto">
              <a:xfrm>
                <a:off x="0" y="989"/>
                <a:ext cx="1280" cy="31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Transport</a:t>
                </a:r>
              </a:p>
            </p:txBody>
          </p:sp>
          <p:sp>
            <p:nvSpPr>
              <p:cNvPr id="52251" name="Rectangle 15"/>
              <p:cNvSpPr>
                <a:spLocks noChangeArrowheads="1"/>
              </p:cNvSpPr>
              <p:nvPr/>
            </p:nvSpPr>
            <p:spPr bwMode="auto">
              <a:xfrm>
                <a:off x="0" y="1317"/>
                <a:ext cx="1280" cy="3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Network</a:t>
                </a:r>
              </a:p>
            </p:txBody>
          </p:sp>
          <p:sp>
            <p:nvSpPr>
              <p:cNvPr id="52252" name="Rectangle 16"/>
              <p:cNvSpPr>
                <a:spLocks noChangeArrowheads="1"/>
              </p:cNvSpPr>
              <p:nvPr/>
            </p:nvSpPr>
            <p:spPr bwMode="auto">
              <a:xfrm>
                <a:off x="0" y="1646"/>
                <a:ext cx="1280" cy="314"/>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Datalink</a:t>
                </a:r>
              </a:p>
            </p:txBody>
          </p:sp>
          <p:sp>
            <p:nvSpPr>
              <p:cNvPr id="52253" name="Rectangle 17"/>
              <p:cNvSpPr>
                <a:spLocks noChangeArrowheads="1"/>
              </p:cNvSpPr>
              <p:nvPr/>
            </p:nvSpPr>
            <p:spPr bwMode="auto">
              <a:xfrm>
                <a:off x="0" y="1976"/>
                <a:ext cx="1280" cy="31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Physical</a:t>
                </a:r>
              </a:p>
            </p:txBody>
          </p:sp>
        </p:grpSp>
        <p:sp>
          <p:nvSpPr>
            <p:cNvPr id="52242" name="Line 18"/>
            <p:cNvSpPr>
              <a:spLocks noChangeShapeType="1"/>
            </p:cNvSpPr>
            <p:nvPr/>
          </p:nvSpPr>
          <p:spPr bwMode="auto">
            <a:xfrm>
              <a:off x="1412" y="1635"/>
              <a:ext cx="416" cy="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3" name="Line 19"/>
            <p:cNvSpPr>
              <a:spLocks noChangeShapeType="1"/>
            </p:cNvSpPr>
            <p:nvPr/>
          </p:nvSpPr>
          <p:spPr bwMode="auto">
            <a:xfrm>
              <a:off x="1438" y="1971"/>
              <a:ext cx="416" cy="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4" name="Line 20"/>
            <p:cNvSpPr>
              <a:spLocks noChangeShapeType="1"/>
            </p:cNvSpPr>
            <p:nvPr/>
          </p:nvSpPr>
          <p:spPr bwMode="auto">
            <a:xfrm flipV="1">
              <a:off x="1400" y="1038"/>
              <a:ext cx="479" cy="242"/>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5" name="Line 21"/>
            <p:cNvSpPr>
              <a:spLocks noChangeShapeType="1"/>
            </p:cNvSpPr>
            <p:nvPr/>
          </p:nvSpPr>
          <p:spPr bwMode="auto">
            <a:xfrm>
              <a:off x="1425" y="2617"/>
              <a:ext cx="416" cy="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6" name="Rectangle 22"/>
            <p:cNvSpPr>
              <a:spLocks noChangeArrowheads="1"/>
            </p:cNvSpPr>
            <p:nvPr/>
          </p:nvSpPr>
          <p:spPr bwMode="auto">
            <a:xfrm>
              <a:off x="0" y="0"/>
              <a:ext cx="1510"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a:latin typeface="Times New Roman" panose="02020603050405020304" pitchFamily="18" charset="0"/>
                </a:rPr>
                <a:t>OSI Ref Model</a:t>
              </a:r>
            </a:p>
          </p:txBody>
        </p:sp>
      </p:grpSp>
      <p:grpSp>
        <p:nvGrpSpPr>
          <p:cNvPr id="2" name="Group 23"/>
          <p:cNvGrpSpPr>
            <a:grpSpLocks/>
          </p:cNvGrpSpPr>
          <p:nvPr/>
        </p:nvGrpSpPr>
        <p:grpSpPr bwMode="auto">
          <a:xfrm>
            <a:off x="7167563" y="2149475"/>
            <a:ext cx="3175000" cy="4211638"/>
            <a:chOff x="0" y="0"/>
            <a:chExt cx="2000" cy="2653"/>
          </a:xfrm>
        </p:grpSpPr>
        <p:sp>
          <p:nvSpPr>
            <p:cNvPr id="52231" name="Rectangle 24"/>
            <p:cNvSpPr>
              <a:spLocks noChangeArrowheads="1"/>
            </p:cNvSpPr>
            <p:nvPr/>
          </p:nvSpPr>
          <p:spPr bwMode="auto">
            <a:xfrm>
              <a:off x="0" y="365"/>
              <a:ext cx="608" cy="65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FTP</a:t>
              </a:r>
            </a:p>
          </p:txBody>
        </p:sp>
        <p:sp>
          <p:nvSpPr>
            <p:cNvPr id="52232" name="Rectangle 25"/>
            <p:cNvSpPr>
              <a:spLocks noChangeArrowheads="1"/>
            </p:cNvSpPr>
            <p:nvPr/>
          </p:nvSpPr>
          <p:spPr bwMode="auto">
            <a:xfrm>
              <a:off x="0" y="1037"/>
              <a:ext cx="1088" cy="629"/>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TCP</a:t>
              </a:r>
            </a:p>
          </p:txBody>
        </p:sp>
        <p:sp>
          <p:nvSpPr>
            <p:cNvPr id="3" name="Rectangle 26"/>
            <p:cNvSpPr>
              <a:spLocks noChangeArrowheads="1"/>
            </p:cNvSpPr>
            <p:nvPr/>
          </p:nvSpPr>
          <p:spPr bwMode="auto">
            <a:xfrm>
              <a:off x="0" y="1682"/>
              <a:ext cx="2000" cy="3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  IP   </a:t>
              </a:r>
            </a:p>
          </p:txBody>
        </p:sp>
        <p:sp>
          <p:nvSpPr>
            <p:cNvPr id="52234" name="Rectangle 27"/>
            <p:cNvSpPr>
              <a:spLocks noChangeArrowheads="1"/>
            </p:cNvSpPr>
            <p:nvPr/>
          </p:nvSpPr>
          <p:spPr bwMode="auto">
            <a:xfrm>
              <a:off x="0" y="2011"/>
              <a:ext cx="1021" cy="64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Ether</a:t>
              </a:r>
              <a:br>
                <a:rPr lang="zh-CN" altLang="zh-CN">
                  <a:latin typeface="Arial" panose="020B0604020202020204" pitchFamily="34" charset="0"/>
                </a:rPr>
              </a:br>
              <a:r>
                <a:rPr lang="zh-CN" altLang="zh-CN">
                  <a:latin typeface="Arial" panose="020B0604020202020204" pitchFamily="34" charset="0"/>
                </a:rPr>
                <a:t>net</a:t>
              </a:r>
            </a:p>
          </p:txBody>
        </p:sp>
        <p:sp>
          <p:nvSpPr>
            <p:cNvPr id="52235" name="Rectangle 28"/>
            <p:cNvSpPr>
              <a:spLocks noChangeArrowheads="1"/>
            </p:cNvSpPr>
            <p:nvPr/>
          </p:nvSpPr>
          <p:spPr bwMode="auto">
            <a:xfrm>
              <a:off x="624" y="365"/>
              <a:ext cx="752" cy="65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Telnet</a:t>
              </a:r>
            </a:p>
          </p:txBody>
        </p:sp>
        <p:sp>
          <p:nvSpPr>
            <p:cNvPr id="52236" name="Rectangle 29"/>
            <p:cNvSpPr>
              <a:spLocks noChangeArrowheads="1"/>
            </p:cNvSpPr>
            <p:nvPr/>
          </p:nvSpPr>
          <p:spPr bwMode="auto">
            <a:xfrm>
              <a:off x="1392" y="365"/>
              <a:ext cx="608" cy="65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HTTP</a:t>
              </a:r>
            </a:p>
          </p:txBody>
        </p:sp>
        <p:sp>
          <p:nvSpPr>
            <p:cNvPr id="52237" name="Rectangle 30"/>
            <p:cNvSpPr>
              <a:spLocks noChangeArrowheads="1"/>
            </p:cNvSpPr>
            <p:nvPr/>
          </p:nvSpPr>
          <p:spPr bwMode="auto">
            <a:xfrm>
              <a:off x="1104" y="1037"/>
              <a:ext cx="896" cy="629"/>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UDP</a:t>
              </a:r>
            </a:p>
          </p:txBody>
        </p:sp>
        <p:sp>
          <p:nvSpPr>
            <p:cNvPr id="52239" name="Rectangle 32"/>
            <p:cNvSpPr>
              <a:spLocks noChangeArrowheads="1"/>
            </p:cNvSpPr>
            <p:nvPr/>
          </p:nvSpPr>
          <p:spPr bwMode="auto">
            <a:xfrm>
              <a:off x="1021" y="2011"/>
              <a:ext cx="979" cy="64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Arial" panose="020B0604020202020204" pitchFamily="34" charset="0"/>
                </a:rPr>
                <a:t>Point-to-</a:t>
              </a:r>
              <a:br>
                <a:rPr lang="zh-CN" altLang="zh-CN">
                  <a:latin typeface="Arial" panose="020B0604020202020204" pitchFamily="34" charset="0"/>
                </a:rPr>
              </a:br>
              <a:r>
                <a:rPr lang="zh-CN" altLang="zh-CN">
                  <a:latin typeface="Arial" panose="020B0604020202020204" pitchFamily="34" charset="0"/>
                </a:rPr>
                <a:t>Point</a:t>
              </a:r>
            </a:p>
          </p:txBody>
        </p:sp>
        <p:sp>
          <p:nvSpPr>
            <p:cNvPr id="52240" name="Rectangle 33"/>
            <p:cNvSpPr>
              <a:spLocks noChangeArrowheads="1"/>
            </p:cNvSpPr>
            <p:nvPr/>
          </p:nvSpPr>
          <p:spPr bwMode="auto">
            <a:xfrm>
              <a:off x="166" y="0"/>
              <a:ext cx="168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a:latin typeface="Times New Roman" panose="02020603050405020304" pitchFamily="18" charset="0"/>
                </a:rPr>
                <a:t>TCP/IP Protocols</a:t>
              </a:r>
            </a:p>
          </p:txBody>
        </p:sp>
      </p:grpSp>
      <p:sp>
        <p:nvSpPr>
          <p:cNvPr id="52230" name="Text Box 34"/>
          <p:cNvSpPr txBox="1">
            <a:spLocks noChangeArrowheads="1"/>
          </p:cNvSpPr>
          <p:nvPr/>
        </p:nvSpPr>
        <p:spPr bwMode="auto">
          <a:xfrm>
            <a:off x="4230688" y="1406526"/>
            <a:ext cx="3765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a:latin typeface="Times New Roman" panose="02020603050405020304" pitchFamily="18" charset="0"/>
              </a:rPr>
              <a:t>因特网四层结构</a:t>
            </a:r>
          </a:p>
        </p:txBody>
      </p:sp>
      <p:sp>
        <p:nvSpPr>
          <p:cNvPr id="35" name="Line 20"/>
          <p:cNvSpPr>
            <a:spLocks noChangeShapeType="1"/>
          </p:cNvSpPr>
          <p:nvPr/>
        </p:nvSpPr>
        <p:spPr bwMode="auto">
          <a:xfrm>
            <a:off x="3963988" y="2771775"/>
            <a:ext cx="873125" cy="49213"/>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2233"/>
                                        </p:tgtEl>
                                        <p:attrNameLst>
                                          <p:attrName>style.visibility</p:attrName>
                                        </p:attrNameLst>
                                      </p:cBhvr>
                                      <p:to>
                                        <p:strVal val="visible"/>
                                      </p:to>
                                    </p:set>
                                    <p:anim calcmode="lin" valueType="num">
                                      <p:cBhvr additive="base">
                                        <p:cTn id="7" dur="500" fill="hold"/>
                                        <p:tgtEl>
                                          <p:spTgt spid="52233"/>
                                        </p:tgtEl>
                                        <p:attrNameLst>
                                          <p:attrName>ppt_x</p:attrName>
                                        </p:attrNameLst>
                                      </p:cBhvr>
                                      <p:tavLst>
                                        <p:tav tm="0">
                                          <p:val>
                                            <p:strVal val="1+#ppt_w/2"/>
                                          </p:val>
                                        </p:tav>
                                        <p:tav tm="100000">
                                          <p:val>
                                            <p:strVal val="#ppt_x"/>
                                          </p:val>
                                        </p:tav>
                                      </p:tavLst>
                                    </p:anim>
                                    <p:anim calcmode="lin" valueType="num">
                                      <p:cBhvr additive="base">
                                        <p:cTn id="8" dur="500" fill="hold"/>
                                        <p:tgtEl>
                                          <p:spTgt spid="5223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2227"/>
                                        </p:tgtEl>
                                        <p:attrNameLst>
                                          <p:attrName>style.visibility</p:attrName>
                                        </p:attrNameLst>
                                      </p:cBhvr>
                                      <p:to>
                                        <p:strVal val="visible"/>
                                      </p:to>
                                    </p:set>
                                    <p:anim calcmode="lin" valueType="num">
                                      <p:cBhvr additive="base">
                                        <p:cTn id="13" dur="500" fill="hold"/>
                                        <p:tgtEl>
                                          <p:spTgt spid="52227"/>
                                        </p:tgtEl>
                                        <p:attrNameLst>
                                          <p:attrName>ppt_x</p:attrName>
                                        </p:attrNameLst>
                                      </p:cBhvr>
                                      <p:tavLst>
                                        <p:tav tm="0">
                                          <p:val>
                                            <p:strVal val="1+#ppt_w/2"/>
                                          </p:val>
                                        </p:tav>
                                        <p:tav tm="100000">
                                          <p:val>
                                            <p:strVal val="#ppt_x"/>
                                          </p:val>
                                        </p:tav>
                                      </p:tavLst>
                                    </p:anim>
                                    <p:anim calcmode="lin" valueType="num">
                                      <p:cBhvr additive="base">
                                        <p:cTn id="14" dur="500" fill="hold"/>
                                        <p:tgtEl>
                                          <p:spTgt spid="5222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568700" y="182563"/>
            <a:ext cx="5054600" cy="666750"/>
          </a:xfrm>
        </p:spPr>
        <p:txBody>
          <a:bodyPr>
            <a:normAutofit fontScale="90000"/>
          </a:bodyPr>
          <a:lstStyle/>
          <a:p>
            <a:pPr algn="ctr" eaLnBrk="1" hangingPunct="1"/>
            <a:r>
              <a:rPr lang="zh-CN" altLang="zh-CN"/>
              <a:t>  TCP/IP 四层结构</a:t>
            </a:r>
          </a:p>
        </p:txBody>
      </p:sp>
      <p:grpSp>
        <p:nvGrpSpPr>
          <p:cNvPr id="53251" name="Group 3"/>
          <p:cNvGrpSpPr>
            <a:grpSpLocks/>
          </p:cNvGrpSpPr>
          <p:nvPr/>
        </p:nvGrpSpPr>
        <p:grpSpPr bwMode="auto">
          <a:xfrm>
            <a:off x="1873251" y="1638300"/>
            <a:ext cx="1222375" cy="1035050"/>
            <a:chOff x="0" y="0"/>
            <a:chExt cx="770" cy="652"/>
          </a:xfrm>
        </p:grpSpPr>
        <p:grpSp>
          <p:nvGrpSpPr>
            <p:cNvPr id="53346" name="Group 4"/>
            <p:cNvGrpSpPr>
              <a:grpSpLocks/>
            </p:cNvGrpSpPr>
            <p:nvPr/>
          </p:nvGrpSpPr>
          <p:grpSpPr bwMode="auto">
            <a:xfrm>
              <a:off x="0" y="0"/>
              <a:ext cx="386" cy="647"/>
              <a:chOff x="0" y="0"/>
              <a:chExt cx="386" cy="647"/>
            </a:xfrm>
          </p:grpSpPr>
          <p:sp>
            <p:nvSpPr>
              <p:cNvPr id="53370" name="未知"/>
              <p:cNvSpPr>
                <a:spLocks noChangeArrowheads="1"/>
              </p:cNvSpPr>
              <p:nvPr/>
            </p:nvSpPr>
            <p:spPr bwMode="auto">
              <a:xfrm>
                <a:off x="0" y="271"/>
                <a:ext cx="216" cy="368"/>
              </a:xfrm>
              <a:custGeom>
                <a:avLst/>
                <a:gdLst>
                  <a:gd name="T0" fmla="*/ 215 w 216"/>
                  <a:gd name="T1" fmla="*/ 173 h 368"/>
                  <a:gd name="T2" fmla="*/ 153 w 216"/>
                  <a:gd name="T3" fmla="*/ 136 h 368"/>
                  <a:gd name="T4" fmla="*/ 86 w 216"/>
                  <a:gd name="T5" fmla="*/ 7 h 368"/>
                  <a:gd name="T6" fmla="*/ 83 w 216"/>
                  <a:gd name="T7" fmla="*/ 5 h 368"/>
                  <a:gd name="T8" fmla="*/ 78 w 216"/>
                  <a:gd name="T9" fmla="*/ 2 h 368"/>
                  <a:gd name="T10" fmla="*/ 73 w 216"/>
                  <a:gd name="T11" fmla="*/ 1 h 368"/>
                  <a:gd name="T12" fmla="*/ 66 w 216"/>
                  <a:gd name="T13" fmla="*/ 0 h 368"/>
                  <a:gd name="T14" fmla="*/ 59 w 216"/>
                  <a:gd name="T15" fmla="*/ 1 h 368"/>
                  <a:gd name="T16" fmla="*/ 53 w 216"/>
                  <a:gd name="T17" fmla="*/ 3 h 368"/>
                  <a:gd name="T18" fmla="*/ 46 w 216"/>
                  <a:gd name="T19" fmla="*/ 7 h 368"/>
                  <a:gd name="T20" fmla="*/ 37 w 216"/>
                  <a:gd name="T21" fmla="*/ 12 h 368"/>
                  <a:gd name="T22" fmla="*/ 29 w 216"/>
                  <a:gd name="T23" fmla="*/ 18 h 368"/>
                  <a:gd name="T24" fmla="*/ 22 w 216"/>
                  <a:gd name="T25" fmla="*/ 23 h 368"/>
                  <a:gd name="T26" fmla="*/ 17 w 216"/>
                  <a:gd name="T27" fmla="*/ 28 h 368"/>
                  <a:gd name="T28" fmla="*/ 13 w 216"/>
                  <a:gd name="T29" fmla="*/ 34 h 368"/>
                  <a:gd name="T30" fmla="*/ 7 w 216"/>
                  <a:gd name="T31" fmla="*/ 43 h 368"/>
                  <a:gd name="T32" fmla="*/ 4 w 216"/>
                  <a:gd name="T33" fmla="*/ 50 h 368"/>
                  <a:gd name="T34" fmla="*/ 1 w 216"/>
                  <a:gd name="T35" fmla="*/ 59 h 368"/>
                  <a:gd name="T36" fmla="*/ 0 w 216"/>
                  <a:gd name="T37" fmla="*/ 70 h 368"/>
                  <a:gd name="T38" fmla="*/ 0 w 216"/>
                  <a:gd name="T39" fmla="*/ 85 h 368"/>
                  <a:gd name="T40" fmla="*/ 2 w 216"/>
                  <a:gd name="T41" fmla="*/ 104 h 368"/>
                  <a:gd name="T42" fmla="*/ 5 w 216"/>
                  <a:gd name="T43" fmla="*/ 121 h 368"/>
                  <a:gd name="T44" fmla="*/ 11 w 216"/>
                  <a:gd name="T45" fmla="*/ 141 h 368"/>
                  <a:gd name="T46" fmla="*/ 17 w 216"/>
                  <a:gd name="T47" fmla="*/ 158 h 368"/>
                  <a:gd name="T48" fmla="*/ 22 w 216"/>
                  <a:gd name="T49" fmla="*/ 170 h 368"/>
                  <a:gd name="T50" fmla="*/ 29 w 216"/>
                  <a:gd name="T51" fmla="*/ 182 h 368"/>
                  <a:gd name="T52" fmla="*/ 35 w 216"/>
                  <a:gd name="T53" fmla="*/ 191 h 368"/>
                  <a:gd name="T54" fmla="*/ 41 w 216"/>
                  <a:gd name="T55" fmla="*/ 200 h 368"/>
                  <a:gd name="T56" fmla="*/ 49 w 216"/>
                  <a:gd name="T57" fmla="*/ 210 h 368"/>
                  <a:gd name="T58" fmla="*/ 55 w 216"/>
                  <a:gd name="T59" fmla="*/ 216 h 368"/>
                  <a:gd name="T60" fmla="*/ 189 w 216"/>
                  <a:gd name="T61" fmla="*/ 205 h 368"/>
                  <a:gd name="T62" fmla="*/ 194 w 216"/>
                  <a:gd name="T63" fmla="*/ 218 h 368"/>
                  <a:gd name="T64" fmla="*/ 194 w 216"/>
                  <a:gd name="T65" fmla="*/ 315 h 368"/>
                  <a:gd name="T66" fmla="*/ 194 w 216"/>
                  <a:gd name="T67" fmla="*/ 324 h 368"/>
                  <a:gd name="T68" fmla="*/ 192 w 216"/>
                  <a:gd name="T69" fmla="*/ 330 h 368"/>
                  <a:gd name="T70" fmla="*/ 190 w 216"/>
                  <a:gd name="T71" fmla="*/ 336 h 368"/>
                  <a:gd name="T72" fmla="*/ 186 w 216"/>
                  <a:gd name="T73" fmla="*/ 341 h 368"/>
                  <a:gd name="T74" fmla="*/ 182 w 216"/>
                  <a:gd name="T75" fmla="*/ 345 h 368"/>
                  <a:gd name="T76" fmla="*/ 177 w 216"/>
                  <a:gd name="T77" fmla="*/ 348 h 368"/>
                  <a:gd name="T78" fmla="*/ 173 w 216"/>
                  <a:gd name="T79" fmla="*/ 349 h 368"/>
                  <a:gd name="T80" fmla="*/ 168 w 216"/>
                  <a:gd name="T81" fmla="*/ 350 h 368"/>
                  <a:gd name="T82" fmla="*/ 23 w 216"/>
                  <a:gd name="T83" fmla="*/ 349 h 368"/>
                  <a:gd name="T84" fmla="*/ 22 w 216"/>
                  <a:gd name="T85" fmla="*/ 367 h 368"/>
                  <a:gd name="T86" fmla="*/ 171 w 216"/>
                  <a:gd name="T87" fmla="*/ 367 h 368"/>
                  <a:gd name="T88" fmla="*/ 179 w 216"/>
                  <a:gd name="T89" fmla="*/ 366 h 368"/>
                  <a:gd name="T90" fmla="*/ 184 w 216"/>
                  <a:gd name="T91" fmla="*/ 366 h 368"/>
                  <a:gd name="T92" fmla="*/ 190 w 216"/>
                  <a:gd name="T93" fmla="*/ 364 h 368"/>
                  <a:gd name="T94" fmla="*/ 195 w 216"/>
                  <a:gd name="T95" fmla="*/ 362 h 368"/>
                  <a:gd name="T96" fmla="*/ 199 w 216"/>
                  <a:gd name="T97" fmla="*/ 357 h 368"/>
                  <a:gd name="T98" fmla="*/ 204 w 216"/>
                  <a:gd name="T99" fmla="*/ 351 h 368"/>
                  <a:gd name="T100" fmla="*/ 208 w 216"/>
                  <a:gd name="T101" fmla="*/ 345 h 368"/>
                  <a:gd name="T102" fmla="*/ 210 w 216"/>
                  <a:gd name="T103" fmla="*/ 338 h 368"/>
                  <a:gd name="T104" fmla="*/ 212 w 216"/>
                  <a:gd name="T105" fmla="*/ 331 h 368"/>
                  <a:gd name="T106" fmla="*/ 214 w 216"/>
                  <a:gd name="T107" fmla="*/ 322 h 368"/>
                  <a:gd name="T108" fmla="*/ 214 w 216"/>
                  <a:gd name="T109" fmla="*/ 313 h 368"/>
                  <a:gd name="T110" fmla="*/ 215 w 216"/>
                  <a:gd name="T111" fmla="*/ 173 h 36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6" h="368">
                    <a:moveTo>
                      <a:pt x="215" y="173"/>
                    </a:moveTo>
                    <a:lnTo>
                      <a:pt x="153" y="136"/>
                    </a:lnTo>
                    <a:lnTo>
                      <a:pt x="86" y="7"/>
                    </a:lnTo>
                    <a:lnTo>
                      <a:pt x="83" y="5"/>
                    </a:lnTo>
                    <a:lnTo>
                      <a:pt x="78" y="2"/>
                    </a:lnTo>
                    <a:lnTo>
                      <a:pt x="73" y="1"/>
                    </a:lnTo>
                    <a:lnTo>
                      <a:pt x="66" y="0"/>
                    </a:lnTo>
                    <a:lnTo>
                      <a:pt x="59" y="1"/>
                    </a:lnTo>
                    <a:lnTo>
                      <a:pt x="53" y="3"/>
                    </a:lnTo>
                    <a:lnTo>
                      <a:pt x="46" y="7"/>
                    </a:lnTo>
                    <a:lnTo>
                      <a:pt x="37" y="12"/>
                    </a:lnTo>
                    <a:lnTo>
                      <a:pt x="29" y="18"/>
                    </a:lnTo>
                    <a:lnTo>
                      <a:pt x="22" y="23"/>
                    </a:lnTo>
                    <a:lnTo>
                      <a:pt x="17" y="28"/>
                    </a:lnTo>
                    <a:lnTo>
                      <a:pt x="13" y="34"/>
                    </a:lnTo>
                    <a:lnTo>
                      <a:pt x="7" y="43"/>
                    </a:lnTo>
                    <a:lnTo>
                      <a:pt x="4" y="50"/>
                    </a:lnTo>
                    <a:lnTo>
                      <a:pt x="1" y="59"/>
                    </a:lnTo>
                    <a:lnTo>
                      <a:pt x="0" y="70"/>
                    </a:lnTo>
                    <a:lnTo>
                      <a:pt x="0" y="85"/>
                    </a:lnTo>
                    <a:lnTo>
                      <a:pt x="2" y="104"/>
                    </a:lnTo>
                    <a:lnTo>
                      <a:pt x="5" y="121"/>
                    </a:lnTo>
                    <a:lnTo>
                      <a:pt x="11" y="141"/>
                    </a:lnTo>
                    <a:lnTo>
                      <a:pt x="17" y="158"/>
                    </a:lnTo>
                    <a:lnTo>
                      <a:pt x="22" y="170"/>
                    </a:lnTo>
                    <a:lnTo>
                      <a:pt x="29" y="182"/>
                    </a:lnTo>
                    <a:lnTo>
                      <a:pt x="35" y="191"/>
                    </a:lnTo>
                    <a:lnTo>
                      <a:pt x="41" y="200"/>
                    </a:lnTo>
                    <a:lnTo>
                      <a:pt x="49" y="210"/>
                    </a:lnTo>
                    <a:lnTo>
                      <a:pt x="55" y="216"/>
                    </a:lnTo>
                    <a:lnTo>
                      <a:pt x="189" y="205"/>
                    </a:lnTo>
                    <a:lnTo>
                      <a:pt x="194" y="218"/>
                    </a:lnTo>
                    <a:lnTo>
                      <a:pt x="194" y="315"/>
                    </a:lnTo>
                    <a:lnTo>
                      <a:pt x="194" y="324"/>
                    </a:lnTo>
                    <a:lnTo>
                      <a:pt x="192" y="330"/>
                    </a:lnTo>
                    <a:lnTo>
                      <a:pt x="190" y="336"/>
                    </a:lnTo>
                    <a:lnTo>
                      <a:pt x="186" y="341"/>
                    </a:lnTo>
                    <a:lnTo>
                      <a:pt x="182" y="345"/>
                    </a:lnTo>
                    <a:lnTo>
                      <a:pt x="177" y="348"/>
                    </a:lnTo>
                    <a:lnTo>
                      <a:pt x="173" y="349"/>
                    </a:lnTo>
                    <a:lnTo>
                      <a:pt x="168" y="350"/>
                    </a:lnTo>
                    <a:lnTo>
                      <a:pt x="23" y="349"/>
                    </a:lnTo>
                    <a:lnTo>
                      <a:pt x="22" y="367"/>
                    </a:lnTo>
                    <a:lnTo>
                      <a:pt x="171" y="367"/>
                    </a:lnTo>
                    <a:lnTo>
                      <a:pt x="179" y="366"/>
                    </a:lnTo>
                    <a:lnTo>
                      <a:pt x="184" y="366"/>
                    </a:lnTo>
                    <a:lnTo>
                      <a:pt x="190" y="364"/>
                    </a:lnTo>
                    <a:lnTo>
                      <a:pt x="195" y="362"/>
                    </a:lnTo>
                    <a:lnTo>
                      <a:pt x="199" y="357"/>
                    </a:lnTo>
                    <a:lnTo>
                      <a:pt x="204" y="351"/>
                    </a:lnTo>
                    <a:lnTo>
                      <a:pt x="208" y="345"/>
                    </a:lnTo>
                    <a:lnTo>
                      <a:pt x="210" y="338"/>
                    </a:lnTo>
                    <a:lnTo>
                      <a:pt x="212" y="331"/>
                    </a:lnTo>
                    <a:lnTo>
                      <a:pt x="214" y="322"/>
                    </a:lnTo>
                    <a:lnTo>
                      <a:pt x="214" y="313"/>
                    </a:lnTo>
                    <a:lnTo>
                      <a:pt x="215" y="173"/>
                    </a:lnTo>
                  </a:path>
                </a:pathLst>
              </a:custGeom>
              <a:solidFill>
                <a:srgbClr val="474747"/>
              </a:solidFill>
              <a:ln w="12700" cap="rnd">
                <a:solidFill>
                  <a:srgbClr val="000000"/>
                </a:solidFill>
                <a:round/>
                <a:headEnd/>
                <a:tailEnd/>
              </a:ln>
            </p:spPr>
            <p:txBody>
              <a:bodyPr/>
              <a:lstStyle/>
              <a:p>
                <a:endParaRPr lang="zh-CN" altLang="en-US"/>
              </a:p>
            </p:txBody>
          </p:sp>
          <p:grpSp>
            <p:nvGrpSpPr>
              <p:cNvPr id="53371" name="Group 6"/>
              <p:cNvGrpSpPr>
                <a:grpSpLocks/>
              </p:cNvGrpSpPr>
              <p:nvPr/>
            </p:nvGrpSpPr>
            <p:grpSpPr bwMode="auto">
              <a:xfrm>
                <a:off x="47" y="0"/>
                <a:ext cx="339" cy="647"/>
                <a:chOff x="0" y="0"/>
                <a:chExt cx="339" cy="647"/>
              </a:xfrm>
            </p:grpSpPr>
            <p:sp>
              <p:nvSpPr>
                <p:cNvPr id="53372" name="未知"/>
                <p:cNvSpPr>
                  <a:spLocks noChangeArrowheads="1"/>
                </p:cNvSpPr>
                <p:nvPr/>
              </p:nvSpPr>
              <p:spPr bwMode="auto">
                <a:xfrm>
                  <a:off x="0" y="0"/>
                  <a:ext cx="339" cy="647"/>
                </a:xfrm>
                <a:custGeom>
                  <a:avLst/>
                  <a:gdLst>
                    <a:gd name="T0" fmla="*/ 32 w 339"/>
                    <a:gd name="T1" fmla="*/ 80 h 647"/>
                    <a:gd name="T2" fmla="*/ 60 w 339"/>
                    <a:gd name="T3" fmla="*/ 75 h 647"/>
                    <a:gd name="T4" fmla="*/ 59 w 339"/>
                    <a:gd name="T5" fmla="*/ 67 h 647"/>
                    <a:gd name="T6" fmla="*/ 89 w 339"/>
                    <a:gd name="T7" fmla="*/ 79 h 647"/>
                    <a:gd name="T8" fmla="*/ 88 w 339"/>
                    <a:gd name="T9" fmla="*/ 59 h 647"/>
                    <a:gd name="T10" fmla="*/ 78 w 339"/>
                    <a:gd name="T11" fmla="*/ 27 h 647"/>
                    <a:gd name="T12" fmla="*/ 104 w 339"/>
                    <a:gd name="T13" fmla="*/ 53 h 647"/>
                    <a:gd name="T14" fmla="*/ 102 w 339"/>
                    <a:gd name="T15" fmla="*/ 26 h 647"/>
                    <a:gd name="T16" fmla="*/ 111 w 339"/>
                    <a:gd name="T17" fmla="*/ 26 h 647"/>
                    <a:gd name="T18" fmla="*/ 121 w 339"/>
                    <a:gd name="T19" fmla="*/ 27 h 647"/>
                    <a:gd name="T20" fmla="*/ 135 w 339"/>
                    <a:gd name="T21" fmla="*/ 43 h 647"/>
                    <a:gd name="T22" fmla="*/ 146 w 339"/>
                    <a:gd name="T23" fmla="*/ 28 h 647"/>
                    <a:gd name="T24" fmla="*/ 158 w 339"/>
                    <a:gd name="T25" fmla="*/ 42 h 647"/>
                    <a:gd name="T26" fmla="*/ 173 w 339"/>
                    <a:gd name="T27" fmla="*/ 13 h 647"/>
                    <a:gd name="T28" fmla="*/ 182 w 339"/>
                    <a:gd name="T29" fmla="*/ 38 h 647"/>
                    <a:gd name="T30" fmla="*/ 187 w 339"/>
                    <a:gd name="T31" fmla="*/ 55 h 647"/>
                    <a:gd name="T32" fmla="*/ 204 w 339"/>
                    <a:gd name="T33" fmla="*/ 19 h 647"/>
                    <a:gd name="T34" fmla="*/ 200 w 339"/>
                    <a:gd name="T35" fmla="*/ 51 h 647"/>
                    <a:gd name="T36" fmla="*/ 211 w 339"/>
                    <a:gd name="T37" fmla="*/ 78 h 647"/>
                    <a:gd name="T38" fmla="*/ 235 w 339"/>
                    <a:gd name="T39" fmla="*/ 105 h 647"/>
                    <a:gd name="T40" fmla="*/ 264 w 339"/>
                    <a:gd name="T41" fmla="*/ 144 h 647"/>
                    <a:gd name="T42" fmla="*/ 274 w 339"/>
                    <a:gd name="T43" fmla="*/ 164 h 647"/>
                    <a:gd name="T44" fmla="*/ 268 w 339"/>
                    <a:gd name="T45" fmla="*/ 173 h 647"/>
                    <a:gd name="T46" fmla="*/ 248 w 339"/>
                    <a:gd name="T47" fmla="*/ 178 h 647"/>
                    <a:gd name="T48" fmla="*/ 250 w 339"/>
                    <a:gd name="T49" fmla="*/ 246 h 647"/>
                    <a:gd name="T50" fmla="*/ 243 w 339"/>
                    <a:gd name="T51" fmla="*/ 257 h 647"/>
                    <a:gd name="T52" fmla="*/ 227 w 339"/>
                    <a:gd name="T53" fmla="*/ 261 h 647"/>
                    <a:gd name="T54" fmla="*/ 199 w 339"/>
                    <a:gd name="T55" fmla="*/ 252 h 647"/>
                    <a:gd name="T56" fmla="*/ 216 w 339"/>
                    <a:gd name="T57" fmla="*/ 356 h 647"/>
                    <a:gd name="T58" fmla="*/ 211 w 339"/>
                    <a:gd name="T59" fmla="*/ 371 h 647"/>
                    <a:gd name="T60" fmla="*/ 195 w 339"/>
                    <a:gd name="T61" fmla="*/ 379 h 647"/>
                    <a:gd name="T62" fmla="*/ 174 w 339"/>
                    <a:gd name="T63" fmla="*/ 377 h 647"/>
                    <a:gd name="T64" fmla="*/ 214 w 339"/>
                    <a:gd name="T65" fmla="*/ 431 h 647"/>
                    <a:gd name="T66" fmla="*/ 224 w 339"/>
                    <a:gd name="T67" fmla="*/ 518 h 647"/>
                    <a:gd name="T68" fmla="*/ 237 w 339"/>
                    <a:gd name="T69" fmla="*/ 577 h 647"/>
                    <a:gd name="T70" fmla="*/ 252 w 339"/>
                    <a:gd name="T71" fmla="*/ 590 h 647"/>
                    <a:gd name="T72" fmla="*/ 308 w 339"/>
                    <a:gd name="T73" fmla="*/ 612 h 647"/>
                    <a:gd name="T74" fmla="*/ 335 w 339"/>
                    <a:gd name="T75" fmla="*/ 628 h 647"/>
                    <a:gd name="T76" fmla="*/ 338 w 339"/>
                    <a:gd name="T77" fmla="*/ 641 h 647"/>
                    <a:gd name="T78" fmla="*/ 276 w 339"/>
                    <a:gd name="T79" fmla="*/ 643 h 647"/>
                    <a:gd name="T80" fmla="*/ 227 w 339"/>
                    <a:gd name="T81" fmla="*/ 643 h 647"/>
                    <a:gd name="T82" fmla="*/ 181 w 339"/>
                    <a:gd name="T83" fmla="*/ 643 h 647"/>
                    <a:gd name="T84" fmla="*/ 160 w 339"/>
                    <a:gd name="T85" fmla="*/ 638 h 647"/>
                    <a:gd name="T86" fmla="*/ 161 w 339"/>
                    <a:gd name="T87" fmla="*/ 516 h 647"/>
                    <a:gd name="T88" fmla="*/ 156 w 339"/>
                    <a:gd name="T89" fmla="*/ 464 h 647"/>
                    <a:gd name="T90" fmla="*/ 113 w 339"/>
                    <a:gd name="T91" fmla="*/ 455 h 647"/>
                    <a:gd name="T92" fmla="*/ 63 w 339"/>
                    <a:gd name="T93" fmla="*/ 456 h 647"/>
                    <a:gd name="T94" fmla="*/ 26 w 339"/>
                    <a:gd name="T95" fmla="*/ 452 h 647"/>
                    <a:gd name="T96" fmla="*/ 12 w 339"/>
                    <a:gd name="T97" fmla="*/ 434 h 647"/>
                    <a:gd name="T98" fmla="*/ 3 w 339"/>
                    <a:gd name="T99" fmla="*/ 404 h 647"/>
                    <a:gd name="T100" fmla="*/ 1 w 339"/>
                    <a:gd name="T101" fmla="*/ 368 h 647"/>
                    <a:gd name="T102" fmla="*/ 12 w 339"/>
                    <a:gd name="T103" fmla="*/ 329 h 647"/>
                    <a:gd name="T104" fmla="*/ 31 w 339"/>
                    <a:gd name="T105" fmla="*/ 286 h 647"/>
                    <a:gd name="T106" fmla="*/ 50 w 339"/>
                    <a:gd name="T107" fmla="*/ 247 h 647"/>
                    <a:gd name="T108" fmla="*/ 69 w 339"/>
                    <a:gd name="T109" fmla="*/ 197 h 647"/>
                    <a:gd name="T110" fmla="*/ 76 w 339"/>
                    <a:gd name="T111" fmla="*/ 159 h 6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39" h="647">
                      <a:moveTo>
                        <a:pt x="69" y="95"/>
                      </a:moveTo>
                      <a:lnTo>
                        <a:pt x="52" y="84"/>
                      </a:lnTo>
                      <a:lnTo>
                        <a:pt x="32" y="80"/>
                      </a:lnTo>
                      <a:lnTo>
                        <a:pt x="54" y="81"/>
                      </a:lnTo>
                      <a:lnTo>
                        <a:pt x="70" y="90"/>
                      </a:lnTo>
                      <a:lnTo>
                        <a:pt x="60" y="75"/>
                      </a:lnTo>
                      <a:lnTo>
                        <a:pt x="73" y="82"/>
                      </a:lnTo>
                      <a:lnTo>
                        <a:pt x="79" y="81"/>
                      </a:lnTo>
                      <a:lnTo>
                        <a:pt x="59" y="67"/>
                      </a:lnTo>
                      <a:lnTo>
                        <a:pt x="49" y="50"/>
                      </a:lnTo>
                      <a:lnTo>
                        <a:pt x="64" y="65"/>
                      </a:lnTo>
                      <a:lnTo>
                        <a:pt x="89" y="79"/>
                      </a:lnTo>
                      <a:lnTo>
                        <a:pt x="86" y="66"/>
                      </a:lnTo>
                      <a:lnTo>
                        <a:pt x="72" y="45"/>
                      </a:lnTo>
                      <a:lnTo>
                        <a:pt x="88" y="59"/>
                      </a:lnTo>
                      <a:lnTo>
                        <a:pt x="68" y="28"/>
                      </a:lnTo>
                      <a:lnTo>
                        <a:pt x="59" y="4"/>
                      </a:lnTo>
                      <a:lnTo>
                        <a:pt x="78" y="27"/>
                      </a:lnTo>
                      <a:lnTo>
                        <a:pt x="102" y="65"/>
                      </a:lnTo>
                      <a:lnTo>
                        <a:pt x="84" y="27"/>
                      </a:lnTo>
                      <a:lnTo>
                        <a:pt x="104" y="53"/>
                      </a:lnTo>
                      <a:lnTo>
                        <a:pt x="108" y="54"/>
                      </a:lnTo>
                      <a:lnTo>
                        <a:pt x="94" y="16"/>
                      </a:lnTo>
                      <a:lnTo>
                        <a:pt x="102" y="26"/>
                      </a:lnTo>
                      <a:lnTo>
                        <a:pt x="114" y="48"/>
                      </a:lnTo>
                      <a:lnTo>
                        <a:pt x="105" y="18"/>
                      </a:lnTo>
                      <a:lnTo>
                        <a:pt x="111" y="26"/>
                      </a:lnTo>
                      <a:lnTo>
                        <a:pt x="110" y="0"/>
                      </a:lnTo>
                      <a:lnTo>
                        <a:pt x="119" y="35"/>
                      </a:lnTo>
                      <a:lnTo>
                        <a:pt x="121" y="27"/>
                      </a:lnTo>
                      <a:lnTo>
                        <a:pt x="127" y="40"/>
                      </a:lnTo>
                      <a:lnTo>
                        <a:pt x="121" y="2"/>
                      </a:lnTo>
                      <a:lnTo>
                        <a:pt x="135" y="43"/>
                      </a:lnTo>
                      <a:lnTo>
                        <a:pt x="143" y="45"/>
                      </a:lnTo>
                      <a:lnTo>
                        <a:pt x="137" y="9"/>
                      </a:lnTo>
                      <a:lnTo>
                        <a:pt x="146" y="28"/>
                      </a:lnTo>
                      <a:lnTo>
                        <a:pt x="153" y="43"/>
                      </a:lnTo>
                      <a:lnTo>
                        <a:pt x="152" y="31"/>
                      </a:lnTo>
                      <a:lnTo>
                        <a:pt x="158" y="42"/>
                      </a:lnTo>
                      <a:lnTo>
                        <a:pt x="156" y="11"/>
                      </a:lnTo>
                      <a:lnTo>
                        <a:pt x="167" y="53"/>
                      </a:lnTo>
                      <a:lnTo>
                        <a:pt x="173" y="13"/>
                      </a:lnTo>
                      <a:lnTo>
                        <a:pt x="174" y="39"/>
                      </a:lnTo>
                      <a:lnTo>
                        <a:pt x="178" y="53"/>
                      </a:lnTo>
                      <a:lnTo>
                        <a:pt x="182" y="38"/>
                      </a:lnTo>
                      <a:lnTo>
                        <a:pt x="189" y="18"/>
                      </a:lnTo>
                      <a:lnTo>
                        <a:pt x="186" y="41"/>
                      </a:lnTo>
                      <a:lnTo>
                        <a:pt x="187" y="55"/>
                      </a:lnTo>
                      <a:lnTo>
                        <a:pt x="194" y="21"/>
                      </a:lnTo>
                      <a:lnTo>
                        <a:pt x="195" y="46"/>
                      </a:lnTo>
                      <a:lnTo>
                        <a:pt x="204" y="19"/>
                      </a:lnTo>
                      <a:lnTo>
                        <a:pt x="216" y="8"/>
                      </a:lnTo>
                      <a:lnTo>
                        <a:pt x="207" y="24"/>
                      </a:lnTo>
                      <a:lnTo>
                        <a:pt x="200" y="51"/>
                      </a:lnTo>
                      <a:lnTo>
                        <a:pt x="200" y="68"/>
                      </a:lnTo>
                      <a:lnTo>
                        <a:pt x="205" y="72"/>
                      </a:lnTo>
                      <a:lnTo>
                        <a:pt x="211" y="78"/>
                      </a:lnTo>
                      <a:lnTo>
                        <a:pt x="218" y="85"/>
                      </a:lnTo>
                      <a:lnTo>
                        <a:pt x="227" y="94"/>
                      </a:lnTo>
                      <a:lnTo>
                        <a:pt x="235" y="105"/>
                      </a:lnTo>
                      <a:lnTo>
                        <a:pt x="245" y="118"/>
                      </a:lnTo>
                      <a:lnTo>
                        <a:pt x="256" y="133"/>
                      </a:lnTo>
                      <a:lnTo>
                        <a:pt x="264" y="144"/>
                      </a:lnTo>
                      <a:lnTo>
                        <a:pt x="271" y="154"/>
                      </a:lnTo>
                      <a:lnTo>
                        <a:pt x="273" y="159"/>
                      </a:lnTo>
                      <a:lnTo>
                        <a:pt x="274" y="164"/>
                      </a:lnTo>
                      <a:lnTo>
                        <a:pt x="273" y="168"/>
                      </a:lnTo>
                      <a:lnTo>
                        <a:pt x="271" y="171"/>
                      </a:lnTo>
                      <a:lnTo>
                        <a:pt x="268" y="173"/>
                      </a:lnTo>
                      <a:lnTo>
                        <a:pt x="263" y="175"/>
                      </a:lnTo>
                      <a:lnTo>
                        <a:pt x="253" y="176"/>
                      </a:lnTo>
                      <a:lnTo>
                        <a:pt x="248" y="178"/>
                      </a:lnTo>
                      <a:lnTo>
                        <a:pt x="248" y="200"/>
                      </a:lnTo>
                      <a:lnTo>
                        <a:pt x="251" y="237"/>
                      </a:lnTo>
                      <a:lnTo>
                        <a:pt x="250" y="246"/>
                      </a:lnTo>
                      <a:lnTo>
                        <a:pt x="249" y="250"/>
                      </a:lnTo>
                      <a:lnTo>
                        <a:pt x="246" y="254"/>
                      </a:lnTo>
                      <a:lnTo>
                        <a:pt x="243" y="257"/>
                      </a:lnTo>
                      <a:lnTo>
                        <a:pt x="238" y="259"/>
                      </a:lnTo>
                      <a:lnTo>
                        <a:pt x="234" y="261"/>
                      </a:lnTo>
                      <a:lnTo>
                        <a:pt x="227" y="261"/>
                      </a:lnTo>
                      <a:lnTo>
                        <a:pt x="216" y="259"/>
                      </a:lnTo>
                      <a:lnTo>
                        <a:pt x="206" y="256"/>
                      </a:lnTo>
                      <a:lnTo>
                        <a:pt x="199" y="252"/>
                      </a:lnTo>
                      <a:lnTo>
                        <a:pt x="205" y="289"/>
                      </a:lnTo>
                      <a:lnTo>
                        <a:pt x="211" y="325"/>
                      </a:lnTo>
                      <a:lnTo>
                        <a:pt x="216" y="356"/>
                      </a:lnTo>
                      <a:lnTo>
                        <a:pt x="215" y="362"/>
                      </a:lnTo>
                      <a:lnTo>
                        <a:pt x="213" y="367"/>
                      </a:lnTo>
                      <a:lnTo>
                        <a:pt x="211" y="371"/>
                      </a:lnTo>
                      <a:lnTo>
                        <a:pt x="208" y="374"/>
                      </a:lnTo>
                      <a:lnTo>
                        <a:pt x="205" y="376"/>
                      </a:lnTo>
                      <a:lnTo>
                        <a:pt x="195" y="379"/>
                      </a:lnTo>
                      <a:lnTo>
                        <a:pt x="184" y="380"/>
                      </a:lnTo>
                      <a:lnTo>
                        <a:pt x="180" y="379"/>
                      </a:lnTo>
                      <a:lnTo>
                        <a:pt x="174" y="377"/>
                      </a:lnTo>
                      <a:lnTo>
                        <a:pt x="178" y="402"/>
                      </a:lnTo>
                      <a:lnTo>
                        <a:pt x="205" y="423"/>
                      </a:lnTo>
                      <a:lnTo>
                        <a:pt x="214" y="431"/>
                      </a:lnTo>
                      <a:lnTo>
                        <a:pt x="214" y="448"/>
                      </a:lnTo>
                      <a:lnTo>
                        <a:pt x="219" y="489"/>
                      </a:lnTo>
                      <a:lnTo>
                        <a:pt x="224" y="518"/>
                      </a:lnTo>
                      <a:lnTo>
                        <a:pt x="229" y="553"/>
                      </a:lnTo>
                      <a:lnTo>
                        <a:pt x="232" y="564"/>
                      </a:lnTo>
                      <a:lnTo>
                        <a:pt x="237" y="577"/>
                      </a:lnTo>
                      <a:lnTo>
                        <a:pt x="241" y="581"/>
                      </a:lnTo>
                      <a:lnTo>
                        <a:pt x="246" y="586"/>
                      </a:lnTo>
                      <a:lnTo>
                        <a:pt x="252" y="590"/>
                      </a:lnTo>
                      <a:lnTo>
                        <a:pt x="265" y="596"/>
                      </a:lnTo>
                      <a:lnTo>
                        <a:pt x="285" y="603"/>
                      </a:lnTo>
                      <a:lnTo>
                        <a:pt x="308" y="612"/>
                      </a:lnTo>
                      <a:lnTo>
                        <a:pt x="329" y="622"/>
                      </a:lnTo>
                      <a:lnTo>
                        <a:pt x="332" y="625"/>
                      </a:lnTo>
                      <a:lnTo>
                        <a:pt x="335" y="628"/>
                      </a:lnTo>
                      <a:lnTo>
                        <a:pt x="337" y="633"/>
                      </a:lnTo>
                      <a:lnTo>
                        <a:pt x="338" y="637"/>
                      </a:lnTo>
                      <a:lnTo>
                        <a:pt x="338" y="641"/>
                      </a:lnTo>
                      <a:lnTo>
                        <a:pt x="324" y="645"/>
                      </a:lnTo>
                      <a:lnTo>
                        <a:pt x="297" y="646"/>
                      </a:lnTo>
                      <a:lnTo>
                        <a:pt x="276" y="643"/>
                      </a:lnTo>
                      <a:lnTo>
                        <a:pt x="256" y="640"/>
                      </a:lnTo>
                      <a:lnTo>
                        <a:pt x="245" y="641"/>
                      </a:lnTo>
                      <a:lnTo>
                        <a:pt x="227" y="643"/>
                      </a:lnTo>
                      <a:lnTo>
                        <a:pt x="211" y="645"/>
                      </a:lnTo>
                      <a:lnTo>
                        <a:pt x="199" y="644"/>
                      </a:lnTo>
                      <a:lnTo>
                        <a:pt x="181" y="643"/>
                      </a:lnTo>
                      <a:lnTo>
                        <a:pt x="164" y="643"/>
                      </a:lnTo>
                      <a:lnTo>
                        <a:pt x="161" y="641"/>
                      </a:lnTo>
                      <a:lnTo>
                        <a:pt x="160" y="638"/>
                      </a:lnTo>
                      <a:lnTo>
                        <a:pt x="160" y="609"/>
                      </a:lnTo>
                      <a:lnTo>
                        <a:pt x="162" y="554"/>
                      </a:lnTo>
                      <a:lnTo>
                        <a:pt x="161" y="516"/>
                      </a:lnTo>
                      <a:lnTo>
                        <a:pt x="159" y="481"/>
                      </a:lnTo>
                      <a:lnTo>
                        <a:pt x="158" y="472"/>
                      </a:lnTo>
                      <a:lnTo>
                        <a:pt x="156" y="464"/>
                      </a:lnTo>
                      <a:lnTo>
                        <a:pt x="154" y="459"/>
                      </a:lnTo>
                      <a:lnTo>
                        <a:pt x="151" y="457"/>
                      </a:lnTo>
                      <a:lnTo>
                        <a:pt x="113" y="455"/>
                      </a:lnTo>
                      <a:lnTo>
                        <a:pt x="97" y="456"/>
                      </a:lnTo>
                      <a:lnTo>
                        <a:pt x="83" y="457"/>
                      </a:lnTo>
                      <a:lnTo>
                        <a:pt x="63" y="456"/>
                      </a:lnTo>
                      <a:lnTo>
                        <a:pt x="46" y="455"/>
                      </a:lnTo>
                      <a:lnTo>
                        <a:pt x="34" y="454"/>
                      </a:lnTo>
                      <a:lnTo>
                        <a:pt x="26" y="452"/>
                      </a:lnTo>
                      <a:lnTo>
                        <a:pt x="20" y="450"/>
                      </a:lnTo>
                      <a:lnTo>
                        <a:pt x="16" y="442"/>
                      </a:lnTo>
                      <a:lnTo>
                        <a:pt x="12" y="434"/>
                      </a:lnTo>
                      <a:lnTo>
                        <a:pt x="8" y="423"/>
                      </a:lnTo>
                      <a:lnTo>
                        <a:pt x="5" y="413"/>
                      </a:lnTo>
                      <a:lnTo>
                        <a:pt x="3" y="404"/>
                      </a:lnTo>
                      <a:lnTo>
                        <a:pt x="1" y="392"/>
                      </a:lnTo>
                      <a:lnTo>
                        <a:pt x="0" y="380"/>
                      </a:lnTo>
                      <a:lnTo>
                        <a:pt x="1" y="368"/>
                      </a:lnTo>
                      <a:lnTo>
                        <a:pt x="3" y="356"/>
                      </a:lnTo>
                      <a:lnTo>
                        <a:pt x="7" y="343"/>
                      </a:lnTo>
                      <a:lnTo>
                        <a:pt x="12" y="329"/>
                      </a:lnTo>
                      <a:lnTo>
                        <a:pt x="17" y="317"/>
                      </a:lnTo>
                      <a:lnTo>
                        <a:pt x="24" y="300"/>
                      </a:lnTo>
                      <a:lnTo>
                        <a:pt x="31" y="286"/>
                      </a:lnTo>
                      <a:lnTo>
                        <a:pt x="37" y="274"/>
                      </a:lnTo>
                      <a:lnTo>
                        <a:pt x="42" y="262"/>
                      </a:lnTo>
                      <a:lnTo>
                        <a:pt x="50" y="247"/>
                      </a:lnTo>
                      <a:lnTo>
                        <a:pt x="56" y="231"/>
                      </a:lnTo>
                      <a:lnTo>
                        <a:pt x="63" y="216"/>
                      </a:lnTo>
                      <a:lnTo>
                        <a:pt x="69" y="197"/>
                      </a:lnTo>
                      <a:lnTo>
                        <a:pt x="73" y="183"/>
                      </a:lnTo>
                      <a:lnTo>
                        <a:pt x="75" y="171"/>
                      </a:lnTo>
                      <a:lnTo>
                        <a:pt x="76" y="159"/>
                      </a:lnTo>
                      <a:lnTo>
                        <a:pt x="69" y="95"/>
                      </a:lnTo>
                    </a:path>
                  </a:pathLst>
                </a:custGeom>
                <a:solidFill>
                  <a:srgbClr val="DADADA"/>
                </a:solidFill>
                <a:ln w="12700" cap="rnd">
                  <a:solidFill>
                    <a:srgbClr val="000000"/>
                  </a:solidFill>
                  <a:round/>
                  <a:headEnd/>
                  <a:tailEnd/>
                </a:ln>
              </p:spPr>
              <p:txBody>
                <a:bodyPr/>
                <a:lstStyle/>
                <a:p>
                  <a:endParaRPr lang="zh-CN" altLang="en-US"/>
                </a:p>
              </p:txBody>
            </p:sp>
            <p:grpSp>
              <p:nvGrpSpPr>
                <p:cNvPr id="53373" name="Group 8"/>
                <p:cNvGrpSpPr>
                  <a:grpSpLocks/>
                </p:cNvGrpSpPr>
                <p:nvPr/>
              </p:nvGrpSpPr>
              <p:grpSpPr bwMode="auto">
                <a:xfrm>
                  <a:off x="82" y="100"/>
                  <a:ext cx="124" cy="278"/>
                  <a:chOff x="0" y="0"/>
                  <a:chExt cx="124" cy="278"/>
                </a:xfrm>
              </p:grpSpPr>
              <p:sp>
                <p:nvSpPr>
                  <p:cNvPr id="53374" name="Oval 9"/>
                  <p:cNvSpPr>
                    <a:spLocks noChangeArrowheads="1"/>
                  </p:cNvSpPr>
                  <p:nvPr/>
                </p:nvSpPr>
                <p:spPr bwMode="auto">
                  <a:xfrm>
                    <a:off x="111" y="0"/>
                    <a:ext cx="2" cy="34"/>
                  </a:xfrm>
                  <a:prstGeom prst="ellipse">
                    <a:avLst/>
                  </a:prstGeom>
                  <a:solidFill>
                    <a:srgbClr val="DADADA"/>
                  </a:solidFill>
                  <a:ln w="12700">
                    <a:solidFill>
                      <a:srgbClr val="000000"/>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53375" name="Group 10"/>
                  <p:cNvGrpSpPr>
                    <a:grpSpLocks/>
                  </p:cNvGrpSpPr>
                  <p:nvPr/>
                </p:nvGrpSpPr>
                <p:grpSpPr bwMode="auto">
                  <a:xfrm>
                    <a:off x="0" y="85"/>
                    <a:ext cx="124" cy="193"/>
                    <a:chOff x="0" y="0"/>
                    <a:chExt cx="124" cy="193"/>
                  </a:xfrm>
                </p:grpSpPr>
                <p:sp>
                  <p:nvSpPr>
                    <p:cNvPr id="53376" name="未知"/>
                    <p:cNvSpPr>
                      <a:spLocks noChangeArrowheads="1"/>
                    </p:cNvSpPr>
                    <p:nvPr/>
                  </p:nvSpPr>
                  <p:spPr bwMode="auto">
                    <a:xfrm>
                      <a:off x="19" y="0"/>
                      <a:ext cx="105" cy="139"/>
                    </a:xfrm>
                    <a:custGeom>
                      <a:avLst/>
                      <a:gdLst>
                        <a:gd name="T0" fmla="*/ 97 w 105"/>
                        <a:gd name="T1" fmla="*/ 66 h 139"/>
                        <a:gd name="T2" fmla="*/ 100 w 105"/>
                        <a:gd name="T3" fmla="*/ 57 h 139"/>
                        <a:gd name="T4" fmla="*/ 104 w 105"/>
                        <a:gd name="T5" fmla="*/ 45 h 139"/>
                        <a:gd name="T6" fmla="*/ 104 w 105"/>
                        <a:gd name="T7" fmla="*/ 36 h 139"/>
                        <a:gd name="T8" fmla="*/ 104 w 105"/>
                        <a:gd name="T9" fmla="*/ 27 h 139"/>
                        <a:gd name="T10" fmla="*/ 103 w 105"/>
                        <a:gd name="T11" fmla="*/ 18 h 139"/>
                        <a:gd name="T12" fmla="*/ 102 w 105"/>
                        <a:gd name="T13" fmla="*/ 17 h 139"/>
                        <a:gd name="T14" fmla="*/ 100 w 105"/>
                        <a:gd name="T15" fmla="*/ 16 h 139"/>
                        <a:gd name="T16" fmla="*/ 98 w 105"/>
                        <a:gd name="T17" fmla="*/ 16 h 139"/>
                        <a:gd name="T18" fmla="*/ 93 w 105"/>
                        <a:gd name="T19" fmla="*/ 18 h 139"/>
                        <a:gd name="T20" fmla="*/ 88 w 105"/>
                        <a:gd name="T21" fmla="*/ 21 h 139"/>
                        <a:gd name="T22" fmla="*/ 83 w 105"/>
                        <a:gd name="T23" fmla="*/ 21 h 139"/>
                        <a:gd name="T24" fmla="*/ 79 w 105"/>
                        <a:gd name="T25" fmla="*/ 21 h 139"/>
                        <a:gd name="T26" fmla="*/ 72 w 105"/>
                        <a:gd name="T27" fmla="*/ 14 h 139"/>
                        <a:gd name="T28" fmla="*/ 64 w 105"/>
                        <a:gd name="T29" fmla="*/ 8 h 139"/>
                        <a:gd name="T30" fmla="*/ 58 w 105"/>
                        <a:gd name="T31" fmla="*/ 1 h 139"/>
                        <a:gd name="T32" fmla="*/ 57 w 105"/>
                        <a:gd name="T33" fmla="*/ 0 h 139"/>
                        <a:gd name="T34" fmla="*/ 54 w 105"/>
                        <a:gd name="T35" fmla="*/ 1 h 139"/>
                        <a:gd name="T36" fmla="*/ 49 w 105"/>
                        <a:gd name="T37" fmla="*/ 6 h 139"/>
                        <a:gd name="T38" fmla="*/ 44 w 105"/>
                        <a:gd name="T39" fmla="*/ 10 h 139"/>
                        <a:gd name="T40" fmla="*/ 39 w 105"/>
                        <a:gd name="T41" fmla="*/ 13 h 139"/>
                        <a:gd name="T42" fmla="*/ 34 w 105"/>
                        <a:gd name="T43" fmla="*/ 14 h 139"/>
                        <a:gd name="T44" fmla="*/ 29 w 105"/>
                        <a:gd name="T45" fmla="*/ 11 h 139"/>
                        <a:gd name="T46" fmla="*/ 25 w 105"/>
                        <a:gd name="T47" fmla="*/ 9 h 139"/>
                        <a:gd name="T48" fmla="*/ 21 w 105"/>
                        <a:gd name="T49" fmla="*/ 11 h 139"/>
                        <a:gd name="T50" fmla="*/ 18 w 105"/>
                        <a:gd name="T51" fmla="*/ 12 h 139"/>
                        <a:gd name="T52" fmla="*/ 15 w 105"/>
                        <a:gd name="T53" fmla="*/ 14 h 139"/>
                        <a:gd name="T54" fmla="*/ 13 w 105"/>
                        <a:gd name="T55" fmla="*/ 18 h 139"/>
                        <a:gd name="T56" fmla="*/ 11 w 105"/>
                        <a:gd name="T57" fmla="*/ 21 h 139"/>
                        <a:gd name="T58" fmla="*/ 9 w 105"/>
                        <a:gd name="T59" fmla="*/ 27 h 139"/>
                        <a:gd name="T60" fmla="*/ 5 w 105"/>
                        <a:gd name="T61" fmla="*/ 28 h 139"/>
                        <a:gd name="T62" fmla="*/ 2 w 105"/>
                        <a:gd name="T63" fmla="*/ 29 h 139"/>
                        <a:gd name="T64" fmla="*/ 1 w 105"/>
                        <a:gd name="T65" fmla="*/ 30 h 139"/>
                        <a:gd name="T66" fmla="*/ 0 w 105"/>
                        <a:gd name="T67" fmla="*/ 32 h 139"/>
                        <a:gd name="T68" fmla="*/ 1 w 105"/>
                        <a:gd name="T69" fmla="*/ 35 h 139"/>
                        <a:gd name="T70" fmla="*/ 4 w 105"/>
                        <a:gd name="T71" fmla="*/ 47 h 139"/>
                        <a:gd name="T72" fmla="*/ 9 w 105"/>
                        <a:gd name="T73" fmla="*/ 59 h 139"/>
                        <a:gd name="T74" fmla="*/ 17 w 105"/>
                        <a:gd name="T75" fmla="*/ 74 h 139"/>
                        <a:gd name="T76" fmla="*/ 28 w 105"/>
                        <a:gd name="T77" fmla="*/ 88 h 139"/>
                        <a:gd name="T78" fmla="*/ 36 w 105"/>
                        <a:gd name="T79" fmla="*/ 101 h 139"/>
                        <a:gd name="T80" fmla="*/ 44 w 105"/>
                        <a:gd name="T81" fmla="*/ 115 h 139"/>
                        <a:gd name="T82" fmla="*/ 52 w 105"/>
                        <a:gd name="T83" fmla="*/ 124 h 139"/>
                        <a:gd name="T84" fmla="*/ 63 w 105"/>
                        <a:gd name="T85" fmla="*/ 138 h 139"/>
                        <a:gd name="T86" fmla="*/ 53 w 105"/>
                        <a:gd name="T87" fmla="*/ 125 h 139"/>
                        <a:gd name="T88" fmla="*/ 47 w 105"/>
                        <a:gd name="T89" fmla="*/ 121 h 139"/>
                        <a:gd name="T90" fmla="*/ 41 w 105"/>
                        <a:gd name="T91" fmla="*/ 116 h 139"/>
                        <a:gd name="T92" fmla="*/ 36 w 105"/>
                        <a:gd name="T93" fmla="*/ 113 h 139"/>
                        <a:gd name="T94" fmla="*/ 29 w 105"/>
                        <a:gd name="T95" fmla="*/ 111 h 139"/>
                        <a:gd name="T96" fmla="*/ 23 w 105"/>
                        <a:gd name="T97" fmla="*/ 110 h 13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5" h="139">
                          <a:moveTo>
                            <a:pt x="97" y="66"/>
                          </a:moveTo>
                          <a:lnTo>
                            <a:pt x="100" y="57"/>
                          </a:lnTo>
                          <a:lnTo>
                            <a:pt x="104" y="45"/>
                          </a:lnTo>
                          <a:lnTo>
                            <a:pt x="104" y="36"/>
                          </a:lnTo>
                          <a:lnTo>
                            <a:pt x="104" y="27"/>
                          </a:lnTo>
                          <a:lnTo>
                            <a:pt x="103" y="18"/>
                          </a:lnTo>
                          <a:lnTo>
                            <a:pt x="102" y="17"/>
                          </a:lnTo>
                          <a:lnTo>
                            <a:pt x="100" y="16"/>
                          </a:lnTo>
                          <a:lnTo>
                            <a:pt x="98" y="16"/>
                          </a:lnTo>
                          <a:lnTo>
                            <a:pt x="93" y="18"/>
                          </a:lnTo>
                          <a:lnTo>
                            <a:pt x="88" y="21"/>
                          </a:lnTo>
                          <a:lnTo>
                            <a:pt x="83" y="21"/>
                          </a:lnTo>
                          <a:lnTo>
                            <a:pt x="79" y="21"/>
                          </a:lnTo>
                          <a:lnTo>
                            <a:pt x="72" y="14"/>
                          </a:lnTo>
                          <a:lnTo>
                            <a:pt x="64" y="8"/>
                          </a:lnTo>
                          <a:lnTo>
                            <a:pt x="58" y="1"/>
                          </a:lnTo>
                          <a:lnTo>
                            <a:pt x="57" y="0"/>
                          </a:lnTo>
                          <a:lnTo>
                            <a:pt x="54" y="1"/>
                          </a:lnTo>
                          <a:lnTo>
                            <a:pt x="49" y="6"/>
                          </a:lnTo>
                          <a:lnTo>
                            <a:pt x="44" y="10"/>
                          </a:lnTo>
                          <a:lnTo>
                            <a:pt x="39" y="13"/>
                          </a:lnTo>
                          <a:lnTo>
                            <a:pt x="34" y="14"/>
                          </a:lnTo>
                          <a:lnTo>
                            <a:pt x="29" y="11"/>
                          </a:lnTo>
                          <a:lnTo>
                            <a:pt x="25" y="9"/>
                          </a:lnTo>
                          <a:lnTo>
                            <a:pt x="21" y="11"/>
                          </a:lnTo>
                          <a:lnTo>
                            <a:pt x="18" y="12"/>
                          </a:lnTo>
                          <a:lnTo>
                            <a:pt x="15" y="14"/>
                          </a:lnTo>
                          <a:lnTo>
                            <a:pt x="13" y="18"/>
                          </a:lnTo>
                          <a:lnTo>
                            <a:pt x="11" y="21"/>
                          </a:lnTo>
                          <a:lnTo>
                            <a:pt x="9" y="27"/>
                          </a:lnTo>
                          <a:lnTo>
                            <a:pt x="5" y="28"/>
                          </a:lnTo>
                          <a:lnTo>
                            <a:pt x="2" y="29"/>
                          </a:lnTo>
                          <a:lnTo>
                            <a:pt x="1" y="30"/>
                          </a:lnTo>
                          <a:lnTo>
                            <a:pt x="0" y="32"/>
                          </a:lnTo>
                          <a:lnTo>
                            <a:pt x="1" y="35"/>
                          </a:lnTo>
                          <a:lnTo>
                            <a:pt x="4" y="47"/>
                          </a:lnTo>
                          <a:lnTo>
                            <a:pt x="9" y="59"/>
                          </a:lnTo>
                          <a:lnTo>
                            <a:pt x="17" y="74"/>
                          </a:lnTo>
                          <a:lnTo>
                            <a:pt x="28" y="88"/>
                          </a:lnTo>
                          <a:lnTo>
                            <a:pt x="36" y="101"/>
                          </a:lnTo>
                          <a:lnTo>
                            <a:pt x="44" y="115"/>
                          </a:lnTo>
                          <a:lnTo>
                            <a:pt x="52" y="124"/>
                          </a:lnTo>
                          <a:lnTo>
                            <a:pt x="63" y="138"/>
                          </a:lnTo>
                          <a:lnTo>
                            <a:pt x="53" y="125"/>
                          </a:lnTo>
                          <a:lnTo>
                            <a:pt x="47" y="121"/>
                          </a:lnTo>
                          <a:lnTo>
                            <a:pt x="41" y="116"/>
                          </a:lnTo>
                          <a:lnTo>
                            <a:pt x="36" y="113"/>
                          </a:lnTo>
                          <a:lnTo>
                            <a:pt x="29" y="111"/>
                          </a:lnTo>
                          <a:lnTo>
                            <a:pt x="23" y="11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77" name="未知"/>
                    <p:cNvSpPr>
                      <a:spLocks noChangeArrowheads="1"/>
                    </p:cNvSpPr>
                    <p:nvPr/>
                  </p:nvSpPr>
                  <p:spPr bwMode="auto">
                    <a:xfrm>
                      <a:off x="0" y="123"/>
                      <a:ext cx="93" cy="70"/>
                    </a:xfrm>
                    <a:custGeom>
                      <a:avLst/>
                      <a:gdLst>
                        <a:gd name="T0" fmla="*/ 0 w 93"/>
                        <a:gd name="T1" fmla="*/ 0 h 70"/>
                        <a:gd name="T2" fmla="*/ 3 w 93"/>
                        <a:gd name="T3" fmla="*/ 6 h 70"/>
                        <a:gd name="T4" fmla="*/ 6 w 93"/>
                        <a:gd name="T5" fmla="*/ 12 h 70"/>
                        <a:gd name="T6" fmla="*/ 18 w 93"/>
                        <a:gd name="T7" fmla="*/ 19 h 70"/>
                        <a:gd name="T8" fmla="*/ 34 w 93"/>
                        <a:gd name="T9" fmla="*/ 28 h 70"/>
                        <a:gd name="T10" fmla="*/ 47 w 93"/>
                        <a:gd name="T11" fmla="*/ 36 h 70"/>
                        <a:gd name="T12" fmla="*/ 57 w 93"/>
                        <a:gd name="T13" fmla="*/ 43 h 70"/>
                        <a:gd name="T14" fmla="*/ 69 w 93"/>
                        <a:gd name="T15" fmla="*/ 52 h 70"/>
                        <a:gd name="T16" fmla="*/ 82 w 93"/>
                        <a:gd name="T17" fmla="*/ 61 h 70"/>
                        <a:gd name="T18" fmla="*/ 92 w 93"/>
                        <a:gd name="T19" fmla="*/ 69 h 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3" h="70">
                          <a:moveTo>
                            <a:pt x="0" y="0"/>
                          </a:moveTo>
                          <a:lnTo>
                            <a:pt x="3" y="6"/>
                          </a:lnTo>
                          <a:lnTo>
                            <a:pt x="6" y="12"/>
                          </a:lnTo>
                          <a:lnTo>
                            <a:pt x="18" y="19"/>
                          </a:lnTo>
                          <a:lnTo>
                            <a:pt x="34" y="28"/>
                          </a:lnTo>
                          <a:lnTo>
                            <a:pt x="47" y="36"/>
                          </a:lnTo>
                          <a:lnTo>
                            <a:pt x="57" y="43"/>
                          </a:lnTo>
                          <a:lnTo>
                            <a:pt x="69" y="52"/>
                          </a:lnTo>
                          <a:lnTo>
                            <a:pt x="82" y="61"/>
                          </a:lnTo>
                          <a:lnTo>
                            <a:pt x="92" y="69"/>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sp>
          <p:nvSpPr>
            <p:cNvPr id="53347" name="未知"/>
            <p:cNvSpPr>
              <a:spLocks noChangeArrowheads="1"/>
            </p:cNvSpPr>
            <p:nvPr/>
          </p:nvSpPr>
          <p:spPr bwMode="auto">
            <a:xfrm>
              <a:off x="226" y="339"/>
              <a:ext cx="346" cy="313"/>
            </a:xfrm>
            <a:custGeom>
              <a:avLst/>
              <a:gdLst>
                <a:gd name="T0" fmla="*/ 345 w 346"/>
                <a:gd name="T1" fmla="*/ 312 h 313"/>
                <a:gd name="T2" fmla="*/ 345 w 346"/>
                <a:gd name="T3" fmla="*/ 151 h 313"/>
                <a:gd name="T4" fmla="*/ 340 w 346"/>
                <a:gd name="T5" fmla="*/ 23 h 313"/>
                <a:gd name="T6" fmla="*/ 172 w 346"/>
                <a:gd name="T7" fmla="*/ 0 h 313"/>
                <a:gd name="T8" fmla="*/ 35 w 346"/>
                <a:gd name="T9" fmla="*/ 25 h 313"/>
                <a:gd name="T10" fmla="*/ 34 w 346"/>
                <a:gd name="T11" fmla="*/ 29 h 313"/>
                <a:gd name="T12" fmla="*/ 32 w 346"/>
                <a:gd name="T13" fmla="*/ 32 h 313"/>
                <a:gd name="T14" fmla="*/ 29 w 346"/>
                <a:gd name="T15" fmla="*/ 35 h 313"/>
                <a:gd name="T16" fmla="*/ 27 w 346"/>
                <a:gd name="T17" fmla="*/ 37 h 313"/>
                <a:gd name="T18" fmla="*/ 21 w 346"/>
                <a:gd name="T19" fmla="*/ 38 h 313"/>
                <a:gd name="T20" fmla="*/ 15 w 346"/>
                <a:gd name="T21" fmla="*/ 40 h 313"/>
                <a:gd name="T22" fmla="*/ 11 w 346"/>
                <a:gd name="T23" fmla="*/ 40 h 313"/>
                <a:gd name="T24" fmla="*/ 6 w 346"/>
                <a:gd name="T25" fmla="*/ 41 h 313"/>
                <a:gd name="T26" fmla="*/ 3 w 346"/>
                <a:gd name="T27" fmla="*/ 40 h 313"/>
                <a:gd name="T28" fmla="*/ 0 w 346"/>
                <a:gd name="T29" fmla="*/ 151 h 313"/>
                <a:gd name="T30" fmla="*/ 0 w 346"/>
                <a:gd name="T31" fmla="*/ 309 h 313"/>
                <a:gd name="T32" fmla="*/ 29 w 346"/>
                <a:gd name="T33" fmla="*/ 309 h 313"/>
                <a:gd name="T34" fmla="*/ 32 w 346"/>
                <a:gd name="T35" fmla="*/ 84 h 313"/>
                <a:gd name="T36" fmla="*/ 313 w 346"/>
                <a:gd name="T37" fmla="*/ 84 h 313"/>
                <a:gd name="T38" fmla="*/ 316 w 346"/>
                <a:gd name="T39" fmla="*/ 312 h 313"/>
                <a:gd name="T40" fmla="*/ 345 w 346"/>
                <a:gd name="T41" fmla="*/ 312 h 3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6" h="313">
                  <a:moveTo>
                    <a:pt x="345" y="312"/>
                  </a:moveTo>
                  <a:lnTo>
                    <a:pt x="345" y="151"/>
                  </a:lnTo>
                  <a:lnTo>
                    <a:pt x="340" y="23"/>
                  </a:lnTo>
                  <a:lnTo>
                    <a:pt x="172" y="0"/>
                  </a:lnTo>
                  <a:lnTo>
                    <a:pt x="35" y="25"/>
                  </a:lnTo>
                  <a:lnTo>
                    <a:pt x="34" y="29"/>
                  </a:lnTo>
                  <a:lnTo>
                    <a:pt x="32" y="32"/>
                  </a:lnTo>
                  <a:lnTo>
                    <a:pt x="29" y="35"/>
                  </a:lnTo>
                  <a:lnTo>
                    <a:pt x="27" y="37"/>
                  </a:lnTo>
                  <a:lnTo>
                    <a:pt x="21" y="38"/>
                  </a:lnTo>
                  <a:lnTo>
                    <a:pt x="15" y="40"/>
                  </a:lnTo>
                  <a:lnTo>
                    <a:pt x="11" y="40"/>
                  </a:lnTo>
                  <a:lnTo>
                    <a:pt x="6" y="41"/>
                  </a:lnTo>
                  <a:lnTo>
                    <a:pt x="3" y="40"/>
                  </a:lnTo>
                  <a:lnTo>
                    <a:pt x="0" y="151"/>
                  </a:lnTo>
                  <a:lnTo>
                    <a:pt x="0" y="309"/>
                  </a:lnTo>
                  <a:lnTo>
                    <a:pt x="29" y="309"/>
                  </a:lnTo>
                  <a:lnTo>
                    <a:pt x="32" y="84"/>
                  </a:lnTo>
                  <a:lnTo>
                    <a:pt x="313" y="84"/>
                  </a:lnTo>
                  <a:lnTo>
                    <a:pt x="316" y="312"/>
                  </a:lnTo>
                  <a:lnTo>
                    <a:pt x="345" y="312"/>
                  </a:lnTo>
                </a:path>
              </a:pathLst>
            </a:custGeom>
            <a:solidFill>
              <a:srgbClr val="474747"/>
            </a:solidFill>
            <a:ln w="12700" cap="rnd">
              <a:solidFill>
                <a:srgbClr val="000000"/>
              </a:solidFill>
              <a:round/>
              <a:headEnd/>
              <a:tailEnd/>
            </a:ln>
          </p:spPr>
          <p:txBody>
            <a:bodyPr/>
            <a:lstStyle/>
            <a:p>
              <a:endParaRPr lang="zh-CN" altLang="en-US"/>
            </a:p>
          </p:txBody>
        </p:sp>
        <p:grpSp>
          <p:nvGrpSpPr>
            <p:cNvPr id="53348" name="Group 14"/>
            <p:cNvGrpSpPr>
              <a:grpSpLocks/>
            </p:cNvGrpSpPr>
            <p:nvPr/>
          </p:nvGrpSpPr>
          <p:grpSpPr bwMode="auto">
            <a:xfrm>
              <a:off x="268" y="332"/>
              <a:ext cx="146" cy="101"/>
              <a:chOff x="0" y="0"/>
              <a:chExt cx="146" cy="101"/>
            </a:xfrm>
          </p:grpSpPr>
          <p:sp>
            <p:nvSpPr>
              <p:cNvPr id="53367" name="未知"/>
              <p:cNvSpPr>
                <a:spLocks noChangeArrowheads="1"/>
              </p:cNvSpPr>
              <p:nvPr/>
            </p:nvSpPr>
            <p:spPr bwMode="auto">
              <a:xfrm>
                <a:off x="2" y="0"/>
                <a:ext cx="144" cy="84"/>
              </a:xfrm>
              <a:custGeom>
                <a:avLst/>
                <a:gdLst>
                  <a:gd name="T0" fmla="*/ 0 w 144"/>
                  <a:gd name="T1" fmla="*/ 18 h 84"/>
                  <a:gd name="T2" fmla="*/ 66 w 144"/>
                  <a:gd name="T3" fmla="*/ 0 h 84"/>
                  <a:gd name="T4" fmla="*/ 143 w 144"/>
                  <a:gd name="T5" fmla="*/ 60 h 84"/>
                  <a:gd name="T6" fmla="*/ 76 w 144"/>
                  <a:gd name="T7" fmla="*/ 83 h 84"/>
                  <a:gd name="T8" fmla="*/ 39 w 144"/>
                  <a:gd name="T9" fmla="*/ 49 h 84"/>
                  <a:gd name="T10" fmla="*/ 28 w 144"/>
                  <a:gd name="T11" fmla="*/ 39 h 84"/>
                  <a:gd name="T12" fmla="*/ 0 w 144"/>
                  <a:gd name="T13" fmla="*/ 18 h 8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 h="84">
                    <a:moveTo>
                      <a:pt x="0" y="18"/>
                    </a:moveTo>
                    <a:lnTo>
                      <a:pt x="66" y="0"/>
                    </a:lnTo>
                    <a:lnTo>
                      <a:pt x="143" y="60"/>
                    </a:lnTo>
                    <a:lnTo>
                      <a:pt x="76" y="83"/>
                    </a:lnTo>
                    <a:lnTo>
                      <a:pt x="39" y="49"/>
                    </a:lnTo>
                    <a:lnTo>
                      <a:pt x="28" y="39"/>
                    </a:lnTo>
                    <a:lnTo>
                      <a:pt x="0" y="18"/>
                    </a:lnTo>
                  </a:path>
                </a:pathLst>
              </a:custGeom>
              <a:solidFill>
                <a:srgbClr val="919191"/>
              </a:solidFill>
              <a:ln w="12700" cap="rnd">
                <a:solidFill>
                  <a:srgbClr val="000000"/>
                </a:solidFill>
                <a:round/>
                <a:headEnd/>
                <a:tailEnd/>
              </a:ln>
            </p:spPr>
            <p:txBody>
              <a:bodyPr/>
              <a:lstStyle/>
              <a:p>
                <a:endParaRPr lang="zh-CN" altLang="en-US"/>
              </a:p>
            </p:txBody>
          </p:sp>
          <p:sp>
            <p:nvSpPr>
              <p:cNvPr id="53368" name="未知"/>
              <p:cNvSpPr>
                <a:spLocks noChangeArrowheads="1"/>
              </p:cNvSpPr>
              <p:nvPr/>
            </p:nvSpPr>
            <p:spPr bwMode="auto">
              <a:xfrm>
                <a:off x="74" y="60"/>
                <a:ext cx="72" cy="41"/>
              </a:xfrm>
              <a:custGeom>
                <a:avLst/>
                <a:gdLst>
                  <a:gd name="T0" fmla="*/ 3 w 72"/>
                  <a:gd name="T1" fmla="*/ 23 h 41"/>
                  <a:gd name="T2" fmla="*/ 71 w 72"/>
                  <a:gd name="T3" fmla="*/ 0 h 41"/>
                  <a:gd name="T4" fmla="*/ 71 w 72"/>
                  <a:gd name="T5" fmla="*/ 10 h 41"/>
                  <a:gd name="T6" fmla="*/ 0 w 72"/>
                  <a:gd name="T7" fmla="*/ 40 h 41"/>
                  <a:gd name="T8" fmla="*/ 3 w 72"/>
                  <a:gd name="T9" fmla="*/ 23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41">
                    <a:moveTo>
                      <a:pt x="3" y="23"/>
                    </a:moveTo>
                    <a:lnTo>
                      <a:pt x="71" y="0"/>
                    </a:lnTo>
                    <a:lnTo>
                      <a:pt x="71" y="10"/>
                    </a:lnTo>
                    <a:lnTo>
                      <a:pt x="0" y="40"/>
                    </a:lnTo>
                    <a:lnTo>
                      <a:pt x="3" y="23"/>
                    </a:lnTo>
                  </a:path>
                </a:pathLst>
              </a:custGeom>
              <a:solidFill>
                <a:srgbClr val="919191"/>
              </a:solidFill>
              <a:ln w="12700" cap="rnd">
                <a:solidFill>
                  <a:srgbClr val="000000"/>
                </a:solidFill>
                <a:round/>
                <a:headEnd/>
                <a:tailEnd/>
              </a:ln>
            </p:spPr>
            <p:txBody>
              <a:bodyPr/>
              <a:lstStyle/>
              <a:p>
                <a:endParaRPr lang="zh-CN" altLang="en-US"/>
              </a:p>
            </p:txBody>
          </p:sp>
          <p:sp>
            <p:nvSpPr>
              <p:cNvPr id="53369" name="未知"/>
              <p:cNvSpPr>
                <a:spLocks noChangeArrowheads="1"/>
              </p:cNvSpPr>
              <p:nvPr/>
            </p:nvSpPr>
            <p:spPr bwMode="auto">
              <a:xfrm>
                <a:off x="0" y="18"/>
                <a:ext cx="78" cy="83"/>
              </a:xfrm>
              <a:custGeom>
                <a:avLst/>
                <a:gdLst>
                  <a:gd name="T0" fmla="*/ 33 w 78"/>
                  <a:gd name="T1" fmla="*/ 23 h 83"/>
                  <a:gd name="T2" fmla="*/ 58 w 78"/>
                  <a:gd name="T3" fmla="*/ 46 h 83"/>
                  <a:gd name="T4" fmla="*/ 77 w 78"/>
                  <a:gd name="T5" fmla="*/ 65 h 83"/>
                  <a:gd name="T6" fmla="*/ 74 w 78"/>
                  <a:gd name="T7" fmla="*/ 82 h 83"/>
                  <a:gd name="T8" fmla="*/ 47 w 78"/>
                  <a:gd name="T9" fmla="*/ 58 h 83"/>
                  <a:gd name="T10" fmla="*/ 23 w 78"/>
                  <a:gd name="T11" fmla="*/ 37 h 83"/>
                  <a:gd name="T12" fmla="*/ 0 w 78"/>
                  <a:gd name="T13" fmla="*/ 17 h 83"/>
                  <a:gd name="T14" fmla="*/ 2 w 78"/>
                  <a:gd name="T15" fmla="*/ 0 h 83"/>
                  <a:gd name="T16" fmla="*/ 16 w 78"/>
                  <a:gd name="T17" fmla="*/ 10 h 83"/>
                  <a:gd name="T18" fmla="*/ 33 w 78"/>
                  <a:gd name="T19" fmla="*/ 23 h 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8" h="83">
                    <a:moveTo>
                      <a:pt x="33" y="23"/>
                    </a:moveTo>
                    <a:lnTo>
                      <a:pt x="58" y="46"/>
                    </a:lnTo>
                    <a:lnTo>
                      <a:pt x="77" y="65"/>
                    </a:lnTo>
                    <a:lnTo>
                      <a:pt x="74" y="82"/>
                    </a:lnTo>
                    <a:lnTo>
                      <a:pt x="47" y="58"/>
                    </a:lnTo>
                    <a:lnTo>
                      <a:pt x="23" y="37"/>
                    </a:lnTo>
                    <a:lnTo>
                      <a:pt x="0" y="17"/>
                    </a:lnTo>
                    <a:lnTo>
                      <a:pt x="2" y="0"/>
                    </a:lnTo>
                    <a:lnTo>
                      <a:pt x="16" y="10"/>
                    </a:lnTo>
                    <a:lnTo>
                      <a:pt x="33" y="23"/>
                    </a:lnTo>
                  </a:path>
                </a:pathLst>
              </a:custGeom>
              <a:solidFill>
                <a:srgbClr val="919191"/>
              </a:solidFill>
              <a:ln w="12700" cap="rnd">
                <a:solidFill>
                  <a:srgbClr val="000000"/>
                </a:solidFill>
                <a:round/>
                <a:headEnd/>
                <a:tailEnd/>
              </a:ln>
            </p:spPr>
            <p:txBody>
              <a:bodyPr/>
              <a:lstStyle/>
              <a:p>
                <a:endParaRPr lang="zh-CN" altLang="en-US"/>
              </a:p>
            </p:txBody>
          </p:sp>
        </p:grpSp>
        <p:grpSp>
          <p:nvGrpSpPr>
            <p:cNvPr id="53349" name="Group 18"/>
            <p:cNvGrpSpPr>
              <a:grpSpLocks/>
            </p:cNvGrpSpPr>
            <p:nvPr/>
          </p:nvGrpSpPr>
          <p:grpSpPr bwMode="auto">
            <a:xfrm>
              <a:off x="290" y="345"/>
              <a:ext cx="96" cy="58"/>
              <a:chOff x="0" y="0"/>
              <a:chExt cx="96" cy="58"/>
            </a:xfrm>
          </p:grpSpPr>
          <p:grpSp>
            <p:nvGrpSpPr>
              <p:cNvPr id="53356" name="Group 19"/>
              <p:cNvGrpSpPr>
                <a:grpSpLocks/>
              </p:cNvGrpSpPr>
              <p:nvPr/>
            </p:nvGrpSpPr>
            <p:grpSpPr bwMode="auto">
              <a:xfrm>
                <a:off x="7" y="4"/>
                <a:ext cx="87" cy="54"/>
                <a:chOff x="0" y="0"/>
                <a:chExt cx="87" cy="54"/>
              </a:xfrm>
            </p:grpSpPr>
            <p:sp>
              <p:nvSpPr>
                <p:cNvPr id="53364" name="未知"/>
                <p:cNvSpPr>
                  <a:spLocks noChangeArrowheads="1"/>
                </p:cNvSpPr>
                <p:nvPr/>
              </p:nvSpPr>
              <p:spPr bwMode="auto">
                <a:xfrm>
                  <a:off x="35" y="0"/>
                  <a:ext cx="52" cy="45"/>
                </a:xfrm>
                <a:custGeom>
                  <a:avLst/>
                  <a:gdLst>
                    <a:gd name="T0" fmla="*/ 0 w 52"/>
                    <a:gd name="T1" fmla="*/ 0 h 45"/>
                    <a:gd name="T2" fmla="*/ 19 w 52"/>
                    <a:gd name="T3" fmla="*/ 18 h 45"/>
                    <a:gd name="T4" fmla="*/ 51 w 52"/>
                    <a:gd name="T5" fmla="*/ 44 h 45"/>
                    <a:gd name="T6" fmla="*/ 0 60000 65536"/>
                    <a:gd name="T7" fmla="*/ 0 60000 65536"/>
                    <a:gd name="T8" fmla="*/ 0 60000 65536"/>
                  </a:gdLst>
                  <a:ahLst/>
                  <a:cxnLst>
                    <a:cxn ang="T6">
                      <a:pos x="T0" y="T1"/>
                    </a:cxn>
                    <a:cxn ang="T7">
                      <a:pos x="T2" y="T3"/>
                    </a:cxn>
                    <a:cxn ang="T8">
                      <a:pos x="T4" y="T5"/>
                    </a:cxn>
                  </a:cxnLst>
                  <a:rect l="0" t="0" r="r" b="b"/>
                  <a:pathLst>
                    <a:path w="52" h="45">
                      <a:moveTo>
                        <a:pt x="0" y="0"/>
                      </a:moveTo>
                      <a:lnTo>
                        <a:pt x="19" y="18"/>
                      </a:lnTo>
                      <a:lnTo>
                        <a:pt x="51" y="44"/>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5" name="未知"/>
                <p:cNvSpPr>
                  <a:spLocks noChangeArrowheads="1"/>
                </p:cNvSpPr>
                <p:nvPr/>
              </p:nvSpPr>
              <p:spPr bwMode="auto">
                <a:xfrm>
                  <a:off x="19" y="3"/>
                  <a:ext cx="50" cy="45"/>
                </a:xfrm>
                <a:custGeom>
                  <a:avLst/>
                  <a:gdLst>
                    <a:gd name="T0" fmla="*/ 0 w 50"/>
                    <a:gd name="T1" fmla="*/ 0 h 45"/>
                    <a:gd name="T2" fmla="*/ 27 w 50"/>
                    <a:gd name="T3" fmla="*/ 24 h 45"/>
                    <a:gd name="T4" fmla="*/ 49 w 50"/>
                    <a:gd name="T5" fmla="*/ 44 h 45"/>
                    <a:gd name="T6" fmla="*/ 0 60000 65536"/>
                    <a:gd name="T7" fmla="*/ 0 60000 65536"/>
                    <a:gd name="T8" fmla="*/ 0 60000 65536"/>
                  </a:gdLst>
                  <a:ahLst/>
                  <a:cxnLst>
                    <a:cxn ang="T6">
                      <a:pos x="T0" y="T1"/>
                    </a:cxn>
                    <a:cxn ang="T7">
                      <a:pos x="T2" y="T3"/>
                    </a:cxn>
                    <a:cxn ang="T8">
                      <a:pos x="T4" y="T5"/>
                    </a:cxn>
                  </a:cxnLst>
                  <a:rect l="0" t="0" r="r" b="b"/>
                  <a:pathLst>
                    <a:path w="50" h="45">
                      <a:moveTo>
                        <a:pt x="0" y="0"/>
                      </a:moveTo>
                      <a:lnTo>
                        <a:pt x="27" y="24"/>
                      </a:lnTo>
                      <a:lnTo>
                        <a:pt x="49" y="44"/>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6" name="未知"/>
                <p:cNvSpPr>
                  <a:spLocks noChangeArrowheads="1"/>
                </p:cNvSpPr>
                <p:nvPr/>
              </p:nvSpPr>
              <p:spPr bwMode="auto">
                <a:xfrm>
                  <a:off x="0" y="9"/>
                  <a:ext cx="60" cy="45"/>
                </a:xfrm>
                <a:custGeom>
                  <a:avLst/>
                  <a:gdLst>
                    <a:gd name="T0" fmla="*/ 0 w 60"/>
                    <a:gd name="T1" fmla="*/ 0 h 45"/>
                    <a:gd name="T2" fmla="*/ 27 w 60"/>
                    <a:gd name="T3" fmla="*/ 17 h 45"/>
                    <a:gd name="T4" fmla="*/ 43 w 60"/>
                    <a:gd name="T5" fmla="*/ 31 h 45"/>
                    <a:gd name="T6" fmla="*/ 59 w 60"/>
                    <a:gd name="T7" fmla="*/ 44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45">
                      <a:moveTo>
                        <a:pt x="0" y="0"/>
                      </a:moveTo>
                      <a:lnTo>
                        <a:pt x="27" y="17"/>
                      </a:lnTo>
                      <a:lnTo>
                        <a:pt x="43" y="31"/>
                      </a:lnTo>
                      <a:lnTo>
                        <a:pt x="59" y="44"/>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3357" name="Group 23"/>
              <p:cNvGrpSpPr>
                <a:grpSpLocks/>
              </p:cNvGrpSpPr>
              <p:nvPr/>
            </p:nvGrpSpPr>
            <p:grpSpPr bwMode="auto">
              <a:xfrm>
                <a:off x="0" y="0"/>
                <a:ext cx="96" cy="58"/>
                <a:chOff x="0" y="0"/>
                <a:chExt cx="96" cy="58"/>
              </a:xfrm>
            </p:grpSpPr>
            <p:sp>
              <p:nvSpPr>
                <p:cNvPr id="53358" name="未知"/>
                <p:cNvSpPr>
                  <a:spLocks noChangeArrowheads="1"/>
                </p:cNvSpPr>
                <p:nvPr/>
              </p:nvSpPr>
              <p:spPr bwMode="auto">
                <a:xfrm>
                  <a:off x="0" y="0"/>
                  <a:ext cx="45" cy="14"/>
                </a:xfrm>
                <a:custGeom>
                  <a:avLst/>
                  <a:gdLst>
                    <a:gd name="T0" fmla="*/ 0 w 45"/>
                    <a:gd name="T1" fmla="*/ 13 h 14"/>
                    <a:gd name="T2" fmla="*/ 44 w 45"/>
                    <a:gd name="T3" fmla="*/ 0 h 14"/>
                    <a:gd name="T4" fmla="*/ 0 w 45"/>
                    <a:gd name="T5" fmla="*/ 13 h 14"/>
                    <a:gd name="T6" fmla="*/ 0 60000 65536"/>
                    <a:gd name="T7" fmla="*/ 0 60000 65536"/>
                    <a:gd name="T8" fmla="*/ 0 60000 65536"/>
                  </a:gdLst>
                  <a:ahLst/>
                  <a:cxnLst>
                    <a:cxn ang="T6">
                      <a:pos x="T0" y="T1"/>
                    </a:cxn>
                    <a:cxn ang="T7">
                      <a:pos x="T2" y="T3"/>
                    </a:cxn>
                    <a:cxn ang="T8">
                      <a:pos x="T4" y="T5"/>
                    </a:cxn>
                  </a:cxnLst>
                  <a:rect l="0" t="0" r="r" b="b"/>
                  <a:pathLst>
                    <a:path w="45" h="14">
                      <a:moveTo>
                        <a:pt x="0" y="13"/>
                      </a:moveTo>
                      <a:lnTo>
                        <a:pt x="44" y="0"/>
                      </a:lnTo>
                      <a:lnTo>
                        <a:pt x="0" y="13"/>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59" name="未知"/>
                <p:cNvSpPr>
                  <a:spLocks noChangeArrowheads="1"/>
                </p:cNvSpPr>
                <p:nvPr/>
              </p:nvSpPr>
              <p:spPr bwMode="auto">
                <a:xfrm>
                  <a:off x="16" y="11"/>
                  <a:ext cx="42" cy="13"/>
                </a:xfrm>
                <a:custGeom>
                  <a:avLst/>
                  <a:gdLst>
                    <a:gd name="T0" fmla="*/ 0 w 42"/>
                    <a:gd name="T1" fmla="*/ 12 h 13"/>
                    <a:gd name="T2" fmla="*/ 41 w 42"/>
                    <a:gd name="T3" fmla="*/ 0 h 13"/>
                    <a:gd name="T4" fmla="*/ 0 w 42"/>
                    <a:gd name="T5" fmla="*/ 12 h 13"/>
                    <a:gd name="T6" fmla="*/ 0 60000 65536"/>
                    <a:gd name="T7" fmla="*/ 0 60000 65536"/>
                    <a:gd name="T8" fmla="*/ 0 60000 65536"/>
                  </a:gdLst>
                  <a:ahLst/>
                  <a:cxnLst>
                    <a:cxn ang="T6">
                      <a:pos x="T0" y="T1"/>
                    </a:cxn>
                    <a:cxn ang="T7">
                      <a:pos x="T2" y="T3"/>
                    </a:cxn>
                    <a:cxn ang="T8">
                      <a:pos x="T4" y="T5"/>
                    </a:cxn>
                  </a:cxnLst>
                  <a:rect l="0" t="0" r="r" b="b"/>
                  <a:pathLst>
                    <a:path w="42" h="13">
                      <a:moveTo>
                        <a:pt x="0" y="12"/>
                      </a:moveTo>
                      <a:lnTo>
                        <a:pt x="41" y="0"/>
                      </a:lnTo>
                      <a:lnTo>
                        <a:pt x="0" y="12"/>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0" name="未知"/>
                <p:cNvSpPr>
                  <a:spLocks noChangeArrowheads="1"/>
                </p:cNvSpPr>
                <p:nvPr/>
              </p:nvSpPr>
              <p:spPr bwMode="auto">
                <a:xfrm>
                  <a:off x="30" y="18"/>
                  <a:ext cx="39" cy="15"/>
                </a:xfrm>
                <a:custGeom>
                  <a:avLst/>
                  <a:gdLst>
                    <a:gd name="T0" fmla="*/ 0 w 39"/>
                    <a:gd name="T1" fmla="*/ 14 h 15"/>
                    <a:gd name="T2" fmla="*/ 38 w 39"/>
                    <a:gd name="T3" fmla="*/ 0 h 15"/>
                    <a:gd name="T4" fmla="*/ 0 w 39"/>
                    <a:gd name="T5" fmla="*/ 14 h 15"/>
                    <a:gd name="T6" fmla="*/ 0 60000 65536"/>
                    <a:gd name="T7" fmla="*/ 0 60000 65536"/>
                    <a:gd name="T8" fmla="*/ 0 60000 65536"/>
                  </a:gdLst>
                  <a:ahLst/>
                  <a:cxnLst>
                    <a:cxn ang="T6">
                      <a:pos x="T0" y="T1"/>
                    </a:cxn>
                    <a:cxn ang="T7">
                      <a:pos x="T2" y="T3"/>
                    </a:cxn>
                    <a:cxn ang="T8">
                      <a:pos x="T4" y="T5"/>
                    </a:cxn>
                  </a:cxnLst>
                  <a:rect l="0" t="0" r="r" b="b"/>
                  <a:pathLst>
                    <a:path w="39" h="15">
                      <a:moveTo>
                        <a:pt x="0" y="14"/>
                      </a:moveTo>
                      <a:lnTo>
                        <a:pt x="38" y="0"/>
                      </a:lnTo>
                      <a:lnTo>
                        <a:pt x="0" y="14"/>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1" name="未知"/>
                <p:cNvSpPr>
                  <a:spLocks noChangeArrowheads="1"/>
                </p:cNvSpPr>
                <p:nvPr/>
              </p:nvSpPr>
              <p:spPr bwMode="auto">
                <a:xfrm>
                  <a:off x="40" y="28"/>
                  <a:ext cx="37" cy="14"/>
                </a:xfrm>
                <a:custGeom>
                  <a:avLst/>
                  <a:gdLst>
                    <a:gd name="T0" fmla="*/ 0 w 37"/>
                    <a:gd name="T1" fmla="*/ 13 h 14"/>
                    <a:gd name="T2" fmla="*/ 36 w 37"/>
                    <a:gd name="T3" fmla="*/ 0 h 14"/>
                    <a:gd name="T4" fmla="*/ 0 w 37"/>
                    <a:gd name="T5" fmla="*/ 13 h 14"/>
                    <a:gd name="T6" fmla="*/ 0 60000 65536"/>
                    <a:gd name="T7" fmla="*/ 0 60000 65536"/>
                    <a:gd name="T8" fmla="*/ 0 60000 65536"/>
                  </a:gdLst>
                  <a:ahLst/>
                  <a:cxnLst>
                    <a:cxn ang="T6">
                      <a:pos x="T0" y="T1"/>
                    </a:cxn>
                    <a:cxn ang="T7">
                      <a:pos x="T2" y="T3"/>
                    </a:cxn>
                    <a:cxn ang="T8">
                      <a:pos x="T4" y="T5"/>
                    </a:cxn>
                  </a:cxnLst>
                  <a:rect l="0" t="0" r="r" b="b"/>
                  <a:pathLst>
                    <a:path w="37" h="14">
                      <a:moveTo>
                        <a:pt x="0" y="13"/>
                      </a:moveTo>
                      <a:lnTo>
                        <a:pt x="36" y="0"/>
                      </a:lnTo>
                      <a:lnTo>
                        <a:pt x="0" y="13"/>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2" name="未知"/>
                <p:cNvSpPr>
                  <a:spLocks noChangeArrowheads="1"/>
                </p:cNvSpPr>
                <p:nvPr/>
              </p:nvSpPr>
              <p:spPr bwMode="auto">
                <a:xfrm>
                  <a:off x="52" y="33"/>
                  <a:ext cx="38" cy="16"/>
                </a:xfrm>
                <a:custGeom>
                  <a:avLst/>
                  <a:gdLst>
                    <a:gd name="T0" fmla="*/ 0 w 38"/>
                    <a:gd name="T1" fmla="*/ 15 h 16"/>
                    <a:gd name="T2" fmla="*/ 37 w 38"/>
                    <a:gd name="T3" fmla="*/ 0 h 16"/>
                    <a:gd name="T4" fmla="*/ 0 w 38"/>
                    <a:gd name="T5" fmla="*/ 15 h 16"/>
                    <a:gd name="T6" fmla="*/ 0 60000 65536"/>
                    <a:gd name="T7" fmla="*/ 0 60000 65536"/>
                    <a:gd name="T8" fmla="*/ 0 60000 65536"/>
                  </a:gdLst>
                  <a:ahLst/>
                  <a:cxnLst>
                    <a:cxn ang="T6">
                      <a:pos x="T0" y="T1"/>
                    </a:cxn>
                    <a:cxn ang="T7">
                      <a:pos x="T2" y="T3"/>
                    </a:cxn>
                    <a:cxn ang="T8">
                      <a:pos x="T4" y="T5"/>
                    </a:cxn>
                  </a:cxnLst>
                  <a:rect l="0" t="0" r="r" b="b"/>
                  <a:pathLst>
                    <a:path w="38" h="16">
                      <a:moveTo>
                        <a:pt x="0" y="15"/>
                      </a:moveTo>
                      <a:lnTo>
                        <a:pt x="37" y="0"/>
                      </a:lnTo>
                      <a:lnTo>
                        <a:pt x="0" y="15"/>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63" name="未知"/>
                <p:cNvSpPr>
                  <a:spLocks noChangeArrowheads="1"/>
                </p:cNvSpPr>
                <p:nvPr/>
              </p:nvSpPr>
              <p:spPr bwMode="auto">
                <a:xfrm>
                  <a:off x="57" y="45"/>
                  <a:ext cx="39" cy="13"/>
                </a:xfrm>
                <a:custGeom>
                  <a:avLst/>
                  <a:gdLst>
                    <a:gd name="T0" fmla="*/ 0 w 39"/>
                    <a:gd name="T1" fmla="*/ 12 h 13"/>
                    <a:gd name="T2" fmla="*/ 38 w 39"/>
                    <a:gd name="T3" fmla="*/ 0 h 13"/>
                    <a:gd name="T4" fmla="*/ 0 w 39"/>
                    <a:gd name="T5" fmla="*/ 12 h 13"/>
                    <a:gd name="T6" fmla="*/ 0 60000 65536"/>
                    <a:gd name="T7" fmla="*/ 0 60000 65536"/>
                    <a:gd name="T8" fmla="*/ 0 60000 65536"/>
                  </a:gdLst>
                  <a:ahLst/>
                  <a:cxnLst>
                    <a:cxn ang="T6">
                      <a:pos x="T0" y="T1"/>
                    </a:cxn>
                    <a:cxn ang="T7">
                      <a:pos x="T2" y="T3"/>
                    </a:cxn>
                    <a:cxn ang="T8">
                      <a:pos x="T4" y="T5"/>
                    </a:cxn>
                  </a:cxnLst>
                  <a:rect l="0" t="0" r="r" b="b"/>
                  <a:pathLst>
                    <a:path w="39" h="13">
                      <a:moveTo>
                        <a:pt x="0" y="12"/>
                      </a:moveTo>
                      <a:lnTo>
                        <a:pt x="38" y="0"/>
                      </a:lnTo>
                      <a:lnTo>
                        <a:pt x="0" y="12"/>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53350" name="未知"/>
            <p:cNvSpPr>
              <a:spLocks noChangeArrowheads="1"/>
            </p:cNvSpPr>
            <p:nvPr/>
          </p:nvSpPr>
          <p:spPr bwMode="auto">
            <a:xfrm>
              <a:off x="381" y="396"/>
              <a:ext cx="75" cy="49"/>
            </a:xfrm>
            <a:custGeom>
              <a:avLst/>
              <a:gdLst>
                <a:gd name="T0" fmla="*/ 0 w 75"/>
                <a:gd name="T1" fmla="*/ 13 h 49"/>
                <a:gd name="T2" fmla="*/ 1 w 75"/>
                <a:gd name="T3" fmla="*/ 22 h 49"/>
                <a:gd name="T4" fmla="*/ 4 w 75"/>
                <a:gd name="T5" fmla="*/ 32 h 49"/>
                <a:gd name="T6" fmla="*/ 8 w 75"/>
                <a:gd name="T7" fmla="*/ 38 h 49"/>
                <a:gd name="T8" fmla="*/ 15 w 75"/>
                <a:gd name="T9" fmla="*/ 44 h 49"/>
                <a:gd name="T10" fmla="*/ 24 w 75"/>
                <a:gd name="T11" fmla="*/ 47 h 49"/>
                <a:gd name="T12" fmla="*/ 32 w 75"/>
                <a:gd name="T13" fmla="*/ 48 h 49"/>
                <a:gd name="T14" fmla="*/ 41 w 75"/>
                <a:gd name="T15" fmla="*/ 46 h 49"/>
                <a:gd name="T16" fmla="*/ 49 w 75"/>
                <a:gd name="T17" fmla="*/ 40 h 49"/>
                <a:gd name="T18" fmla="*/ 56 w 75"/>
                <a:gd name="T19" fmla="*/ 31 h 49"/>
                <a:gd name="T20" fmla="*/ 57 w 75"/>
                <a:gd name="T21" fmla="*/ 21 h 49"/>
                <a:gd name="T22" fmla="*/ 62 w 75"/>
                <a:gd name="T23" fmla="*/ 13 h 49"/>
                <a:gd name="T24" fmla="*/ 67 w 75"/>
                <a:gd name="T25" fmla="*/ 5 h 49"/>
                <a:gd name="T26" fmla="*/ 74 w 75"/>
                <a:gd name="T27" fmla="*/ 0 h 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 h="49">
                  <a:moveTo>
                    <a:pt x="0" y="13"/>
                  </a:moveTo>
                  <a:lnTo>
                    <a:pt x="1" y="22"/>
                  </a:lnTo>
                  <a:lnTo>
                    <a:pt x="4" y="32"/>
                  </a:lnTo>
                  <a:lnTo>
                    <a:pt x="8" y="38"/>
                  </a:lnTo>
                  <a:lnTo>
                    <a:pt x="15" y="44"/>
                  </a:lnTo>
                  <a:lnTo>
                    <a:pt x="24" y="47"/>
                  </a:lnTo>
                  <a:lnTo>
                    <a:pt x="32" y="48"/>
                  </a:lnTo>
                  <a:lnTo>
                    <a:pt x="41" y="46"/>
                  </a:lnTo>
                  <a:lnTo>
                    <a:pt x="49" y="40"/>
                  </a:lnTo>
                  <a:lnTo>
                    <a:pt x="56" y="31"/>
                  </a:lnTo>
                  <a:lnTo>
                    <a:pt x="57" y="21"/>
                  </a:lnTo>
                  <a:lnTo>
                    <a:pt x="62" y="13"/>
                  </a:lnTo>
                  <a:lnTo>
                    <a:pt x="67" y="5"/>
                  </a:lnTo>
                  <a:lnTo>
                    <a:pt x="74"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51" name="未知"/>
            <p:cNvSpPr>
              <a:spLocks noChangeArrowheads="1"/>
            </p:cNvSpPr>
            <p:nvPr/>
          </p:nvSpPr>
          <p:spPr bwMode="auto">
            <a:xfrm>
              <a:off x="373" y="69"/>
              <a:ext cx="397" cy="359"/>
            </a:xfrm>
            <a:custGeom>
              <a:avLst/>
              <a:gdLst>
                <a:gd name="T0" fmla="*/ 75 w 397"/>
                <a:gd name="T1" fmla="*/ 73 h 359"/>
                <a:gd name="T2" fmla="*/ 84 w 397"/>
                <a:gd name="T3" fmla="*/ 48 h 359"/>
                <a:gd name="T4" fmla="*/ 89 w 397"/>
                <a:gd name="T5" fmla="*/ 32 h 359"/>
                <a:gd name="T6" fmla="*/ 92 w 397"/>
                <a:gd name="T7" fmla="*/ 27 h 359"/>
                <a:gd name="T8" fmla="*/ 95 w 397"/>
                <a:gd name="T9" fmla="*/ 23 h 359"/>
                <a:gd name="T10" fmla="*/ 98 w 397"/>
                <a:gd name="T11" fmla="*/ 21 h 359"/>
                <a:gd name="T12" fmla="*/ 101 w 397"/>
                <a:gd name="T13" fmla="*/ 20 h 359"/>
                <a:gd name="T14" fmla="*/ 152 w 397"/>
                <a:gd name="T15" fmla="*/ 11 h 359"/>
                <a:gd name="T16" fmla="*/ 205 w 397"/>
                <a:gd name="T17" fmla="*/ 3 h 359"/>
                <a:gd name="T18" fmla="*/ 254 w 397"/>
                <a:gd name="T19" fmla="*/ 0 h 359"/>
                <a:gd name="T20" fmla="*/ 281 w 397"/>
                <a:gd name="T21" fmla="*/ 0 h 359"/>
                <a:gd name="T22" fmla="*/ 339 w 397"/>
                <a:gd name="T23" fmla="*/ 2 h 359"/>
                <a:gd name="T24" fmla="*/ 381 w 397"/>
                <a:gd name="T25" fmla="*/ 4 h 359"/>
                <a:gd name="T26" fmla="*/ 387 w 397"/>
                <a:gd name="T27" fmla="*/ 5 h 359"/>
                <a:gd name="T28" fmla="*/ 391 w 397"/>
                <a:gd name="T29" fmla="*/ 6 h 359"/>
                <a:gd name="T30" fmla="*/ 394 w 397"/>
                <a:gd name="T31" fmla="*/ 8 h 359"/>
                <a:gd name="T32" fmla="*/ 395 w 397"/>
                <a:gd name="T33" fmla="*/ 11 h 359"/>
                <a:gd name="T34" fmla="*/ 396 w 397"/>
                <a:gd name="T35" fmla="*/ 14 h 359"/>
                <a:gd name="T36" fmla="*/ 394 w 397"/>
                <a:gd name="T37" fmla="*/ 24 h 359"/>
                <a:gd name="T38" fmla="*/ 385 w 397"/>
                <a:gd name="T39" fmla="*/ 57 h 359"/>
                <a:gd name="T40" fmla="*/ 379 w 397"/>
                <a:gd name="T41" fmla="*/ 80 h 359"/>
                <a:gd name="T42" fmla="*/ 365 w 397"/>
                <a:gd name="T43" fmla="*/ 135 h 359"/>
                <a:gd name="T44" fmla="*/ 357 w 397"/>
                <a:gd name="T45" fmla="*/ 168 h 359"/>
                <a:gd name="T46" fmla="*/ 334 w 397"/>
                <a:gd name="T47" fmla="*/ 246 h 359"/>
                <a:gd name="T48" fmla="*/ 310 w 397"/>
                <a:gd name="T49" fmla="*/ 308 h 359"/>
                <a:gd name="T50" fmla="*/ 307 w 397"/>
                <a:gd name="T51" fmla="*/ 321 h 359"/>
                <a:gd name="T52" fmla="*/ 304 w 397"/>
                <a:gd name="T53" fmla="*/ 328 h 359"/>
                <a:gd name="T54" fmla="*/ 302 w 397"/>
                <a:gd name="T55" fmla="*/ 334 h 359"/>
                <a:gd name="T56" fmla="*/ 298 w 397"/>
                <a:gd name="T57" fmla="*/ 338 h 359"/>
                <a:gd name="T58" fmla="*/ 295 w 397"/>
                <a:gd name="T59" fmla="*/ 342 h 359"/>
                <a:gd name="T60" fmla="*/ 291 w 397"/>
                <a:gd name="T61" fmla="*/ 344 h 359"/>
                <a:gd name="T62" fmla="*/ 284 w 397"/>
                <a:gd name="T63" fmla="*/ 345 h 359"/>
                <a:gd name="T64" fmla="*/ 270 w 397"/>
                <a:gd name="T65" fmla="*/ 347 h 359"/>
                <a:gd name="T66" fmla="*/ 247 w 397"/>
                <a:gd name="T67" fmla="*/ 347 h 359"/>
                <a:gd name="T68" fmla="*/ 229 w 397"/>
                <a:gd name="T69" fmla="*/ 348 h 359"/>
                <a:gd name="T70" fmla="*/ 204 w 397"/>
                <a:gd name="T71" fmla="*/ 352 h 359"/>
                <a:gd name="T72" fmla="*/ 178 w 397"/>
                <a:gd name="T73" fmla="*/ 356 h 359"/>
                <a:gd name="T74" fmla="*/ 160 w 397"/>
                <a:gd name="T75" fmla="*/ 358 h 359"/>
                <a:gd name="T76" fmla="*/ 139 w 397"/>
                <a:gd name="T77" fmla="*/ 358 h 359"/>
                <a:gd name="T78" fmla="*/ 134 w 397"/>
                <a:gd name="T79" fmla="*/ 356 h 359"/>
                <a:gd name="T80" fmla="*/ 12 w 397"/>
                <a:gd name="T81" fmla="*/ 284 h 359"/>
                <a:gd name="T82" fmla="*/ 6 w 397"/>
                <a:gd name="T83" fmla="*/ 280 h 359"/>
                <a:gd name="T84" fmla="*/ 2 w 397"/>
                <a:gd name="T85" fmla="*/ 275 h 359"/>
                <a:gd name="T86" fmla="*/ 0 w 397"/>
                <a:gd name="T87" fmla="*/ 269 h 359"/>
                <a:gd name="T88" fmla="*/ 0 w 397"/>
                <a:gd name="T89" fmla="*/ 263 h 359"/>
                <a:gd name="T90" fmla="*/ 2 w 397"/>
                <a:gd name="T91" fmla="*/ 257 h 359"/>
                <a:gd name="T92" fmla="*/ 37 w 397"/>
                <a:gd name="T93" fmla="*/ 169 h 359"/>
                <a:gd name="T94" fmla="*/ 59 w 397"/>
                <a:gd name="T95" fmla="*/ 113 h 359"/>
                <a:gd name="T96" fmla="*/ 75 w 397"/>
                <a:gd name="T97" fmla="*/ 73 h 35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97" h="359">
                  <a:moveTo>
                    <a:pt x="75" y="73"/>
                  </a:moveTo>
                  <a:lnTo>
                    <a:pt x="84" y="48"/>
                  </a:lnTo>
                  <a:lnTo>
                    <a:pt x="89" y="32"/>
                  </a:lnTo>
                  <a:lnTo>
                    <a:pt x="92" y="27"/>
                  </a:lnTo>
                  <a:lnTo>
                    <a:pt x="95" y="23"/>
                  </a:lnTo>
                  <a:lnTo>
                    <a:pt x="98" y="21"/>
                  </a:lnTo>
                  <a:lnTo>
                    <a:pt x="101" y="20"/>
                  </a:lnTo>
                  <a:lnTo>
                    <a:pt x="152" y="11"/>
                  </a:lnTo>
                  <a:lnTo>
                    <a:pt x="205" y="3"/>
                  </a:lnTo>
                  <a:lnTo>
                    <a:pt x="254" y="0"/>
                  </a:lnTo>
                  <a:lnTo>
                    <a:pt x="281" y="0"/>
                  </a:lnTo>
                  <a:lnTo>
                    <a:pt x="339" y="2"/>
                  </a:lnTo>
                  <a:lnTo>
                    <a:pt x="381" y="4"/>
                  </a:lnTo>
                  <a:lnTo>
                    <a:pt x="387" y="5"/>
                  </a:lnTo>
                  <a:lnTo>
                    <a:pt x="391" y="6"/>
                  </a:lnTo>
                  <a:lnTo>
                    <a:pt x="394" y="8"/>
                  </a:lnTo>
                  <a:lnTo>
                    <a:pt x="395" y="11"/>
                  </a:lnTo>
                  <a:lnTo>
                    <a:pt x="396" y="14"/>
                  </a:lnTo>
                  <a:lnTo>
                    <a:pt x="394" y="24"/>
                  </a:lnTo>
                  <a:lnTo>
                    <a:pt x="385" y="57"/>
                  </a:lnTo>
                  <a:lnTo>
                    <a:pt x="379" y="80"/>
                  </a:lnTo>
                  <a:lnTo>
                    <a:pt x="365" y="135"/>
                  </a:lnTo>
                  <a:lnTo>
                    <a:pt x="357" y="168"/>
                  </a:lnTo>
                  <a:lnTo>
                    <a:pt x="334" y="246"/>
                  </a:lnTo>
                  <a:lnTo>
                    <a:pt x="310" y="308"/>
                  </a:lnTo>
                  <a:lnTo>
                    <a:pt x="307" y="321"/>
                  </a:lnTo>
                  <a:lnTo>
                    <a:pt x="304" y="328"/>
                  </a:lnTo>
                  <a:lnTo>
                    <a:pt x="302" y="334"/>
                  </a:lnTo>
                  <a:lnTo>
                    <a:pt x="298" y="338"/>
                  </a:lnTo>
                  <a:lnTo>
                    <a:pt x="295" y="342"/>
                  </a:lnTo>
                  <a:lnTo>
                    <a:pt x="291" y="344"/>
                  </a:lnTo>
                  <a:lnTo>
                    <a:pt x="284" y="345"/>
                  </a:lnTo>
                  <a:lnTo>
                    <a:pt x="270" y="347"/>
                  </a:lnTo>
                  <a:lnTo>
                    <a:pt x="247" y="347"/>
                  </a:lnTo>
                  <a:lnTo>
                    <a:pt x="229" y="348"/>
                  </a:lnTo>
                  <a:lnTo>
                    <a:pt x="204" y="352"/>
                  </a:lnTo>
                  <a:lnTo>
                    <a:pt x="178" y="356"/>
                  </a:lnTo>
                  <a:lnTo>
                    <a:pt x="160" y="358"/>
                  </a:lnTo>
                  <a:lnTo>
                    <a:pt x="139" y="358"/>
                  </a:lnTo>
                  <a:lnTo>
                    <a:pt x="134" y="356"/>
                  </a:lnTo>
                  <a:lnTo>
                    <a:pt x="12" y="284"/>
                  </a:lnTo>
                  <a:lnTo>
                    <a:pt x="6" y="280"/>
                  </a:lnTo>
                  <a:lnTo>
                    <a:pt x="2" y="275"/>
                  </a:lnTo>
                  <a:lnTo>
                    <a:pt x="0" y="269"/>
                  </a:lnTo>
                  <a:lnTo>
                    <a:pt x="0" y="263"/>
                  </a:lnTo>
                  <a:lnTo>
                    <a:pt x="2" y="257"/>
                  </a:lnTo>
                  <a:lnTo>
                    <a:pt x="37" y="169"/>
                  </a:lnTo>
                  <a:lnTo>
                    <a:pt x="59" y="113"/>
                  </a:lnTo>
                  <a:lnTo>
                    <a:pt x="75" y="73"/>
                  </a:lnTo>
                </a:path>
              </a:pathLst>
            </a:custGeom>
            <a:solidFill>
              <a:srgbClr val="919191"/>
            </a:solidFill>
            <a:ln w="12700" cap="rnd">
              <a:solidFill>
                <a:srgbClr val="000000"/>
              </a:solidFill>
              <a:round/>
              <a:headEnd/>
              <a:tailEnd/>
            </a:ln>
          </p:spPr>
          <p:txBody>
            <a:bodyPr/>
            <a:lstStyle/>
            <a:p>
              <a:endParaRPr lang="zh-CN" altLang="en-US"/>
            </a:p>
          </p:txBody>
        </p:sp>
        <p:sp>
          <p:nvSpPr>
            <p:cNvPr id="53352" name="未知"/>
            <p:cNvSpPr>
              <a:spLocks noChangeArrowheads="1"/>
            </p:cNvSpPr>
            <p:nvPr/>
          </p:nvSpPr>
          <p:spPr bwMode="auto">
            <a:xfrm>
              <a:off x="398" y="88"/>
              <a:ext cx="331" cy="257"/>
            </a:xfrm>
            <a:custGeom>
              <a:avLst/>
              <a:gdLst>
                <a:gd name="T0" fmla="*/ 76 w 331"/>
                <a:gd name="T1" fmla="*/ 76 h 257"/>
                <a:gd name="T2" fmla="*/ 100 w 331"/>
                <a:gd name="T3" fmla="*/ 40 h 257"/>
                <a:gd name="T4" fmla="*/ 120 w 331"/>
                <a:gd name="T5" fmla="*/ 7 h 257"/>
                <a:gd name="T6" fmla="*/ 124 w 331"/>
                <a:gd name="T7" fmla="*/ 6 h 257"/>
                <a:gd name="T8" fmla="*/ 127 w 331"/>
                <a:gd name="T9" fmla="*/ 5 h 257"/>
                <a:gd name="T10" fmla="*/ 134 w 331"/>
                <a:gd name="T11" fmla="*/ 4 h 257"/>
                <a:gd name="T12" fmla="*/ 229 w 331"/>
                <a:gd name="T13" fmla="*/ 0 h 257"/>
                <a:gd name="T14" fmla="*/ 321 w 331"/>
                <a:gd name="T15" fmla="*/ 0 h 257"/>
                <a:gd name="T16" fmla="*/ 327 w 331"/>
                <a:gd name="T17" fmla="*/ 1 h 257"/>
                <a:gd name="T18" fmla="*/ 328 w 331"/>
                <a:gd name="T19" fmla="*/ 2 h 257"/>
                <a:gd name="T20" fmla="*/ 330 w 331"/>
                <a:gd name="T21" fmla="*/ 5 h 257"/>
                <a:gd name="T22" fmla="*/ 323 w 331"/>
                <a:gd name="T23" fmla="*/ 28 h 257"/>
                <a:gd name="T24" fmla="*/ 309 w 331"/>
                <a:gd name="T25" fmla="*/ 48 h 257"/>
                <a:gd name="T26" fmla="*/ 284 w 331"/>
                <a:gd name="T27" fmla="*/ 85 h 257"/>
                <a:gd name="T28" fmla="*/ 237 w 331"/>
                <a:gd name="T29" fmla="*/ 148 h 257"/>
                <a:gd name="T30" fmla="*/ 196 w 331"/>
                <a:gd name="T31" fmla="*/ 204 h 257"/>
                <a:gd name="T32" fmla="*/ 186 w 331"/>
                <a:gd name="T33" fmla="*/ 224 h 257"/>
                <a:gd name="T34" fmla="*/ 180 w 331"/>
                <a:gd name="T35" fmla="*/ 238 h 257"/>
                <a:gd name="T36" fmla="*/ 174 w 331"/>
                <a:gd name="T37" fmla="*/ 246 h 257"/>
                <a:gd name="T38" fmla="*/ 167 w 331"/>
                <a:gd name="T39" fmla="*/ 251 h 257"/>
                <a:gd name="T40" fmla="*/ 163 w 331"/>
                <a:gd name="T41" fmla="*/ 254 h 257"/>
                <a:gd name="T42" fmla="*/ 160 w 331"/>
                <a:gd name="T43" fmla="*/ 256 h 257"/>
                <a:gd name="T44" fmla="*/ 155 w 331"/>
                <a:gd name="T45" fmla="*/ 256 h 257"/>
                <a:gd name="T46" fmla="*/ 148 w 331"/>
                <a:gd name="T47" fmla="*/ 255 h 257"/>
                <a:gd name="T48" fmla="*/ 139 w 331"/>
                <a:gd name="T49" fmla="*/ 252 h 257"/>
                <a:gd name="T50" fmla="*/ 129 w 331"/>
                <a:gd name="T51" fmla="*/ 248 h 257"/>
                <a:gd name="T52" fmla="*/ 119 w 331"/>
                <a:gd name="T53" fmla="*/ 243 h 257"/>
                <a:gd name="T54" fmla="*/ 108 w 331"/>
                <a:gd name="T55" fmla="*/ 238 h 257"/>
                <a:gd name="T56" fmla="*/ 98 w 331"/>
                <a:gd name="T57" fmla="*/ 233 h 257"/>
                <a:gd name="T58" fmla="*/ 5 w 331"/>
                <a:gd name="T59" fmla="*/ 210 h 257"/>
                <a:gd name="T60" fmla="*/ 2 w 331"/>
                <a:gd name="T61" fmla="*/ 209 h 257"/>
                <a:gd name="T62" fmla="*/ 0 w 331"/>
                <a:gd name="T63" fmla="*/ 207 h 257"/>
                <a:gd name="T64" fmla="*/ 2 w 331"/>
                <a:gd name="T65" fmla="*/ 204 h 257"/>
                <a:gd name="T66" fmla="*/ 3 w 331"/>
                <a:gd name="T67" fmla="*/ 201 h 257"/>
                <a:gd name="T68" fmla="*/ 76 w 331"/>
                <a:gd name="T69" fmla="*/ 76 h 25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1" h="257">
                  <a:moveTo>
                    <a:pt x="76" y="76"/>
                  </a:moveTo>
                  <a:lnTo>
                    <a:pt x="100" y="40"/>
                  </a:lnTo>
                  <a:lnTo>
                    <a:pt x="120" y="7"/>
                  </a:lnTo>
                  <a:lnTo>
                    <a:pt x="124" y="6"/>
                  </a:lnTo>
                  <a:lnTo>
                    <a:pt x="127" y="5"/>
                  </a:lnTo>
                  <a:lnTo>
                    <a:pt x="134" y="4"/>
                  </a:lnTo>
                  <a:lnTo>
                    <a:pt x="229" y="0"/>
                  </a:lnTo>
                  <a:lnTo>
                    <a:pt x="321" y="0"/>
                  </a:lnTo>
                  <a:lnTo>
                    <a:pt x="327" y="1"/>
                  </a:lnTo>
                  <a:lnTo>
                    <a:pt x="328" y="2"/>
                  </a:lnTo>
                  <a:lnTo>
                    <a:pt x="330" y="5"/>
                  </a:lnTo>
                  <a:lnTo>
                    <a:pt x="323" y="28"/>
                  </a:lnTo>
                  <a:lnTo>
                    <a:pt x="309" y="48"/>
                  </a:lnTo>
                  <a:lnTo>
                    <a:pt x="284" y="85"/>
                  </a:lnTo>
                  <a:lnTo>
                    <a:pt x="237" y="148"/>
                  </a:lnTo>
                  <a:lnTo>
                    <a:pt x="196" y="204"/>
                  </a:lnTo>
                  <a:lnTo>
                    <a:pt x="186" y="224"/>
                  </a:lnTo>
                  <a:lnTo>
                    <a:pt x="180" y="238"/>
                  </a:lnTo>
                  <a:lnTo>
                    <a:pt x="174" y="246"/>
                  </a:lnTo>
                  <a:lnTo>
                    <a:pt x="167" y="251"/>
                  </a:lnTo>
                  <a:lnTo>
                    <a:pt x="163" y="254"/>
                  </a:lnTo>
                  <a:lnTo>
                    <a:pt x="160" y="256"/>
                  </a:lnTo>
                  <a:lnTo>
                    <a:pt x="155" y="256"/>
                  </a:lnTo>
                  <a:lnTo>
                    <a:pt x="148" y="255"/>
                  </a:lnTo>
                  <a:lnTo>
                    <a:pt x="139" y="252"/>
                  </a:lnTo>
                  <a:lnTo>
                    <a:pt x="129" y="248"/>
                  </a:lnTo>
                  <a:lnTo>
                    <a:pt x="119" y="243"/>
                  </a:lnTo>
                  <a:lnTo>
                    <a:pt x="108" y="238"/>
                  </a:lnTo>
                  <a:lnTo>
                    <a:pt x="98" y="233"/>
                  </a:lnTo>
                  <a:lnTo>
                    <a:pt x="5" y="210"/>
                  </a:lnTo>
                  <a:lnTo>
                    <a:pt x="2" y="209"/>
                  </a:lnTo>
                  <a:lnTo>
                    <a:pt x="0" y="207"/>
                  </a:lnTo>
                  <a:lnTo>
                    <a:pt x="2" y="204"/>
                  </a:lnTo>
                  <a:lnTo>
                    <a:pt x="3" y="201"/>
                  </a:lnTo>
                  <a:lnTo>
                    <a:pt x="76" y="76"/>
                  </a:lnTo>
                </a:path>
              </a:pathLst>
            </a:custGeom>
            <a:solidFill>
              <a:srgbClr val="676767"/>
            </a:solidFill>
            <a:ln w="12700" cap="rnd">
              <a:solidFill>
                <a:srgbClr val="000000"/>
              </a:solidFill>
              <a:round/>
              <a:headEnd/>
              <a:tailEnd/>
            </a:ln>
          </p:spPr>
          <p:txBody>
            <a:bodyPr/>
            <a:lstStyle/>
            <a:p>
              <a:endParaRPr lang="zh-CN" altLang="en-US"/>
            </a:p>
          </p:txBody>
        </p:sp>
        <p:sp>
          <p:nvSpPr>
            <p:cNvPr id="53353" name="未知"/>
            <p:cNvSpPr>
              <a:spLocks noChangeArrowheads="1"/>
            </p:cNvSpPr>
            <p:nvPr/>
          </p:nvSpPr>
          <p:spPr bwMode="auto">
            <a:xfrm>
              <a:off x="593" y="374"/>
              <a:ext cx="49" cy="148"/>
            </a:xfrm>
            <a:custGeom>
              <a:avLst/>
              <a:gdLst>
                <a:gd name="T0" fmla="*/ 0 w 49"/>
                <a:gd name="T1" fmla="*/ 0 h 148"/>
                <a:gd name="T2" fmla="*/ 2 w 49"/>
                <a:gd name="T3" fmla="*/ 10 h 148"/>
                <a:gd name="T4" fmla="*/ 4 w 49"/>
                <a:gd name="T5" fmla="*/ 18 h 148"/>
                <a:gd name="T6" fmla="*/ 8 w 49"/>
                <a:gd name="T7" fmla="*/ 24 h 148"/>
                <a:gd name="T8" fmla="*/ 15 w 49"/>
                <a:gd name="T9" fmla="*/ 28 h 148"/>
                <a:gd name="T10" fmla="*/ 22 w 49"/>
                <a:gd name="T11" fmla="*/ 32 h 148"/>
                <a:gd name="T12" fmla="*/ 28 w 49"/>
                <a:gd name="T13" fmla="*/ 37 h 148"/>
                <a:gd name="T14" fmla="*/ 33 w 49"/>
                <a:gd name="T15" fmla="*/ 44 h 148"/>
                <a:gd name="T16" fmla="*/ 38 w 49"/>
                <a:gd name="T17" fmla="*/ 56 h 148"/>
                <a:gd name="T18" fmla="*/ 40 w 49"/>
                <a:gd name="T19" fmla="*/ 66 h 148"/>
                <a:gd name="T20" fmla="*/ 39 w 49"/>
                <a:gd name="T21" fmla="*/ 74 h 148"/>
                <a:gd name="T22" fmla="*/ 33 w 49"/>
                <a:gd name="T23" fmla="*/ 81 h 148"/>
                <a:gd name="T24" fmla="*/ 29 w 49"/>
                <a:gd name="T25" fmla="*/ 88 h 148"/>
                <a:gd name="T26" fmla="*/ 25 w 49"/>
                <a:gd name="T27" fmla="*/ 94 h 148"/>
                <a:gd name="T28" fmla="*/ 23 w 49"/>
                <a:gd name="T29" fmla="*/ 103 h 148"/>
                <a:gd name="T30" fmla="*/ 22 w 49"/>
                <a:gd name="T31" fmla="*/ 113 h 148"/>
                <a:gd name="T32" fmla="*/ 24 w 49"/>
                <a:gd name="T33" fmla="*/ 122 h 148"/>
                <a:gd name="T34" fmla="*/ 27 w 49"/>
                <a:gd name="T35" fmla="*/ 128 h 148"/>
                <a:gd name="T36" fmla="*/ 34 w 49"/>
                <a:gd name="T37" fmla="*/ 136 h 148"/>
                <a:gd name="T38" fmla="*/ 40 w 49"/>
                <a:gd name="T39" fmla="*/ 141 h 148"/>
                <a:gd name="T40" fmla="*/ 48 w 49"/>
                <a:gd name="T41" fmla="*/ 147 h 1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9" h="148">
                  <a:moveTo>
                    <a:pt x="0" y="0"/>
                  </a:moveTo>
                  <a:lnTo>
                    <a:pt x="2" y="10"/>
                  </a:lnTo>
                  <a:lnTo>
                    <a:pt x="4" y="18"/>
                  </a:lnTo>
                  <a:lnTo>
                    <a:pt x="8" y="24"/>
                  </a:lnTo>
                  <a:lnTo>
                    <a:pt x="15" y="28"/>
                  </a:lnTo>
                  <a:lnTo>
                    <a:pt x="22" y="32"/>
                  </a:lnTo>
                  <a:lnTo>
                    <a:pt x="28" y="37"/>
                  </a:lnTo>
                  <a:lnTo>
                    <a:pt x="33" y="44"/>
                  </a:lnTo>
                  <a:lnTo>
                    <a:pt x="38" y="56"/>
                  </a:lnTo>
                  <a:lnTo>
                    <a:pt x="40" y="66"/>
                  </a:lnTo>
                  <a:lnTo>
                    <a:pt x="39" y="74"/>
                  </a:lnTo>
                  <a:lnTo>
                    <a:pt x="33" y="81"/>
                  </a:lnTo>
                  <a:lnTo>
                    <a:pt x="29" y="88"/>
                  </a:lnTo>
                  <a:lnTo>
                    <a:pt x="25" y="94"/>
                  </a:lnTo>
                  <a:lnTo>
                    <a:pt x="23" y="103"/>
                  </a:lnTo>
                  <a:lnTo>
                    <a:pt x="22" y="113"/>
                  </a:lnTo>
                  <a:lnTo>
                    <a:pt x="24" y="122"/>
                  </a:lnTo>
                  <a:lnTo>
                    <a:pt x="27" y="128"/>
                  </a:lnTo>
                  <a:lnTo>
                    <a:pt x="34" y="136"/>
                  </a:lnTo>
                  <a:lnTo>
                    <a:pt x="40" y="141"/>
                  </a:lnTo>
                  <a:lnTo>
                    <a:pt x="48" y="147"/>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54" name="Oval 34"/>
            <p:cNvSpPr>
              <a:spLocks noChangeArrowheads="1"/>
            </p:cNvSpPr>
            <p:nvPr/>
          </p:nvSpPr>
          <p:spPr bwMode="auto">
            <a:xfrm>
              <a:off x="590" y="369"/>
              <a:ext cx="2" cy="3"/>
            </a:xfrm>
            <a:prstGeom prst="ellipse">
              <a:avLst/>
            </a:prstGeom>
            <a:solidFill>
              <a:srgbClr val="000000"/>
            </a:solidFill>
            <a:ln w="12700">
              <a:solidFill>
                <a:srgbClr val="000000"/>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55" name="Rectangle 35"/>
            <p:cNvSpPr>
              <a:spLocks noChangeArrowheads="1"/>
            </p:cNvSpPr>
            <p:nvPr/>
          </p:nvSpPr>
          <p:spPr bwMode="auto">
            <a:xfrm>
              <a:off x="402" y="74"/>
              <a:ext cx="3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b="1" i="1">
                  <a:latin typeface="Garamond Narrow" charset="0"/>
                </a:rPr>
                <a:t>FTP</a:t>
              </a:r>
            </a:p>
          </p:txBody>
        </p:sp>
      </p:grpSp>
      <p:grpSp>
        <p:nvGrpSpPr>
          <p:cNvPr id="53252" name="Group 36"/>
          <p:cNvGrpSpPr>
            <a:grpSpLocks/>
          </p:cNvGrpSpPr>
          <p:nvPr/>
        </p:nvGrpSpPr>
        <p:grpSpPr bwMode="auto">
          <a:xfrm>
            <a:off x="9534525" y="1558925"/>
            <a:ext cx="876300" cy="1003300"/>
            <a:chOff x="0" y="0"/>
            <a:chExt cx="552" cy="632"/>
          </a:xfrm>
        </p:grpSpPr>
        <p:sp>
          <p:nvSpPr>
            <p:cNvPr id="53325" name="AutoShape 37"/>
            <p:cNvSpPr>
              <a:spLocks noChangeArrowheads="1"/>
            </p:cNvSpPr>
            <p:nvPr/>
          </p:nvSpPr>
          <p:spPr bwMode="auto">
            <a:xfrm>
              <a:off x="0" y="0"/>
              <a:ext cx="552" cy="632"/>
            </a:xfrm>
            <a:prstGeom prst="cube">
              <a:avLst>
                <a:gd name="adj" fmla="val 19639"/>
              </a:avLst>
            </a:prstGeom>
            <a:gradFill rotWithShape="0">
              <a:gsLst>
                <a:gs pos="0">
                  <a:srgbClr val="DADADA"/>
                </a:gs>
                <a:gs pos="100000">
                  <a:srgbClr val="AEAEAE"/>
                </a:gs>
              </a:gsLst>
              <a:path path="rect">
                <a:fillToRect l="100000" b="100000"/>
              </a:path>
            </a:gradFill>
            <a:ln w="12700">
              <a:solidFill>
                <a:schemeClr val="tx1"/>
              </a:solidFill>
              <a:miter lim="800000"/>
              <a:headEnd/>
              <a:tailEnd/>
            </a:ln>
            <a:effectLst>
              <a:outerShdw dist="107763" dir="2700000" algn="ctr" rotWithShape="0">
                <a:schemeClr val="hlink"/>
              </a:outerShdw>
            </a:effec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b="1">
                  <a:latin typeface="Garamond Narrow" charset="0"/>
                </a:rPr>
                <a:t>server</a:t>
              </a:r>
            </a:p>
          </p:txBody>
        </p:sp>
        <p:grpSp>
          <p:nvGrpSpPr>
            <p:cNvPr id="53326" name="Group 38"/>
            <p:cNvGrpSpPr>
              <a:grpSpLocks/>
            </p:cNvGrpSpPr>
            <p:nvPr/>
          </p:nvGrpSpPr>
          <p:grpSpPr bwMode="auto">
            <a:xfrm>
              <a:off x="68" y="548"/>
              <a:ext cx="280" cy="40"/>
              <a:chOff x="0" y="0"/>
              <a:chExt cx="280" cy="40"/>
            </a:xfrm>
          </p:grpSpPr>
          <p:sp>
            <p:nvSpPr>
              <p:cNvPr id="53343" name="AutoShape 39"/>
              <p:cNvSpPr>
                <a:spLocks noChangeArrowheads="1"/>
              </p:cNvSpPr>
              <p:nvPr/>
            </p:nvSpPr>
            <p:spPr bwMode="auto">
              <a:xfrm>
                <a:off x="212"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44" name="AutoShape 40"/>
              <p:cNvSpPr>
                <a:spLocks noChangeArrowheads="1"/>
              </p:cNvSpPr>
              <p:nvPr/>
            </p:nvSpPr>
            <p:spPr bwMode="auto">
              <a:xfrm>
                <a:off x="0"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45" name="AutoShape 41"/>
              <p:cNvSpPr>
                <a:spLocks noChangeArrowheads="1"/>
              </p:cNvSpPr>
              <p:nvPr/>
            </p:nvSpPr>
            <p:spPr bwMode="auto">
              <a:xfrm>
                <a:off x="104"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3327" name="Group 42"/>
            <p:cNvGrpSpPr>
              <a:grpSpLocks/>
            </p:cNvGrpSpPr>
            <p:nvPr/>
          </p:nvGrpSpPr>
          <p:grpSpPr bwMode="auto">
            <a:xfrm>
              <a:off x="68" y="486"/>
              <a:ext cx="280" cy="40"/>
              <a:chOff x="0" y="0"/>
              <a:chExt cx="280" cy="40"/>
            </a:xfrm>
          </p:grpSpPr>
          <p:sp>
            <p:nvSpPr>
              <p:cNvPr id="53340" name="AutoShape 43"/>
              <p:cNvSpPr>
                <a:spLocks noChangeArrowheads="1"/>
              </p:cNvSpPr>
              <p:nvPr/>
            </p:nvSpPr>
            <p:spPr bwMode="auto">
              <a:xfrm>
                <a:off x="212"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41" name="AutoShape 44"/>
              <p:cNvSpPr>
                <a:spLocks noChangeArrowheads="1"/>
              </p:cNvSpPr>
              <p:nvPr/>
            </p:nvSpPr>
            <p:spPr bwMode="auto">
              <a:xfrm>
                <a:off x="0"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42" name="AutoShape 45"/>
              <p:cNvSpPr>
                <a:spLocks noChangeArrowheads="1"/>
              </p:cNvSpPr>
              <p:nvPr/>
            </p:nvSpPr>
            <p:spPr bwMode="auto">
              <a:xfrm>
                <a:off x="104"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3328" name="Group 46"/>
            <p:cNvGrpSpPr>
              <a:grpSpLocks/>
            </p:cNvGrpSpPr>
            <p:nvPr/>
          </p:nvGrpSpPr>
          <p:grpSpPr bwMode="auto">
            <a:xfrm>
              <a:off x="68" y="262"/>
              <a:ext cx="280" cy="40"/>
              <a:chOff x="0" y="0"/>
              <a:chExt cx="280" cy="40"/>
            </a:xfrm>
          </p:grpSpPr>
          <p:sp>
            <p:nvSpPr>
              <p:cNvPr id="53337" name="AutoShape 47"/>
              <p:cNvSpPr>
                <a:spLocks noChangeArrowheads="1"/>
              </p:cNvSpPr>
              <p:nvPr/>
            </p:nvSpPr>
            <p:spPr bwMode="auto">
              <a:xfrm>
                <a:off x="212"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8" name="AutoShape 48"/>
              <p:cNvSpPr>
                <a:spLocks noChangeArrowheads="1"/>
              </p:cNvSpPr>
              <p:nvPr/>
            </p:nvSpPr>
            <p:spPr bwMode="auto">
              <a:xfrm>
                <a:off x="0"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9" name="AutoShape 49"/>
              <p:cNvSpPr>
                <a:spLocks noChangeArrowheads="1"/>
              </p:cNvSpPr>
              <p:nvPr/>
            </p:nvSpPr>
            <p:spPr bwMode="auto">
              <a:xfrm>
                <a:off x="104"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3329" name="Group 50"/>
            <p:cNvGrpSpPr>
              <a:grpSpLocks/>
            </p:cNvGrpSpPr>
            <p:nvPr/>
          </p:nvGrpSpPr>
          <p:grpSpPr bwMode="auto">
            <a:xfrm>
              <a:off x="68" y="200"/>
              <a:ext cx="280" cy="40"/>
              <a:chOff x="0" y="0"/>
              <a:chExt cx="280" cy="40"/>
            </a:xfrm>
          </p:grpSpPr>
          <p:sp>
            <p:nvSpPr>
              <p:cNvPr id="53334" name="AutoShape 51"/>
              <p:cNvSpPr>
                <a:spLocks noChangeArrowheads="1"/>
              </p:cNvSpPr>
              <p:nvPr/>
            </p:nvSpPr>
            <p:spPr bwMode="auto">
              <a:xfrm>
                <a:off x="212"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5" name="AutoShape 52"/>
              <p:cNvSpPr>
                <a:spLocks noChangeArrowheads="1"/>
              </p:cNvSpPr>
              <p:nvPr/>
            </p:nvSpPr>
            <p:spPr bwMode="auto">
              <a:xfrm>
                <a:off x="0"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6" name="AutoShape 53"/>
              <p:cNvSpPr>
                <a:spLocks noChangeArrowheads="1"/>
              </p:cNvSpPr>
              <p:nvPr/>
            </p:nvSpPr>
            <p:spPr bwMode="auto">
              <a:xfrm>
                <a:off x="104"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3330" name="Group 54"/>
            <p:cNvGrpSpPr>
              <a:grpSpLocks/>
            </p:cNvGrpSpPr>
            <p:nvPr/>
          </p:nvGrpSpPr>
          <p:grpSpPr bwMode="auto">
            <a:xfrm>
              <a:off x="68" y="138"/>
              <a:ext cx="280" cy="40"/>
              <a:chOff x="0" y="0"/>
              <a:chExt cx="280" cy="40"/>
            </a:xfrm>
          </p:grpSpPr>
          <p:sp>
            <p:nvSpPr>
              <p:cNvPr id="53331" name="AutoShape 55"/>
              <p:cNvSpPr>
                <a:spLocks noChangeArrowheads="1"/>
              </p:cNvSpPr>
              <p:nvPr/>
            </p:nvSpPr>
            <p:spPr bwMode="auto">
              <a:xfrm>
                <a:off x="212"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2" name="AutoShape 56"/>
              <p:cNvSpPr>
                <a:spLocks noChangeArrowheads="1"/>
              </p:cNvSpPr>
              <p:nvPr/>
            </p:nvSpPr>
            <p:spPr bwMode="auto">
              <a:xfrm>
                <a:off x="0"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33" name="AutoShape 57"/>
              <p:cNvSpPr>
                <a:spLocks noChangeArrowheads="1"/>
              </p:cNvSpPr>
              <p:nvPr/>
            </p:nvSpPr>
            <p:spPr bwMode="auto">
              <a:xfrm>
                <a:off x="104" y="0"/>
                <a:ext cx="68" cy="40"/>
              </a:xfrm>
              <a:prstGeom prst="cube">
                <a:avLst>
                  <a:gd name="adj" fmla="val 24995"/>
                </a:avLst>
              </a:prstGeom>
              <a:solidFill>
                <a:schemeClr val="hlink"/>
              </a:solidFill>
              <a:ln w="12700">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sp>
        <p:nvSpPr>
          <p:cNvPr id="53253" name="Rectangle 58"/>
          <p:cNvSpPr>
            <a:spLocks noChangeArrowheads="1"/>
          </p:cNvSpPr>
          <p:nvPr/>
        </p:nvSpPr>
        <p:spPr bwMode="auto">
          <a:xfrm>
            <a:off x="3092450" y="1608138"/>
            <a:ext cx="6369050" cy="4519612"/>
          </a:xfrm>
          <a:prstGeom prst="rect">
            <a:avLst/>
          </a:prstGeom>
          <a:solidFill>
            <a:schemeClr val="bg1"/>
          </a:solidFill>
          <a:ln w="50800">
            <a:solidFill>
              <a:srgbClr val="CC99FF"/>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254" name="Rectangle 59"/>
          <p:cNvSpPr>
            <a:spLocks noChangeArrowheads="1"/>
          </p:cNvSpPr>
          <p:nvPr/>
        </p:nvSpPr>
        <p:spPr bwMode="auto">
          <a:xfrm>
            <a:off x="5189539" y="1730376"/>
            <a:ext cx="2232985"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3200" b="1">
                <a:latin typeface="Times New Roman" panose="02020603050405020304" pitchFamily="18" charset="0"/>
              </a:rPr>
              <a:t>Application</a:t>
            </a:r>
          </a:p>
        </p:txBody>
      </p:sp>
      <p:sp>
        <p:nvSpPr>
          <p:cNvPr id="53255" name="Rectangle 60"/>
          <p:cNvSpPr>
            <a:spLocks noChangeArrowheads="1"/>
          </p:cNvSpPr>
          <p:nvPr/>
        </p:nvSpPr>
        <p:spPr bwMode="auto">
          <a:xfrm>
            <a:off x="5302250" y="2646364"/>
            <a:ext cx="195406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3200" b="1">
                <a:latin typeface="Times New Roman" panose="02020603050405020304" pitchFamily="18" charset="0"/>
              </a:rPr>
              <a:t>Transport</a:t>
            </a:r>
          </a:p>
        </p:txBody>
      </p:sp>
      <p:sp>
        <p:nvSpPr>
          <p:cNvPr id="53256" name="Rectangle 61"/>
          <p:cNvSpPr>
            <a:spLocks noChangeArrowheads="1"/>
          </p:cNvSpPr>
          <p:nvPr/>
        </p:nvSpPr>
        <p:spPr bwMode="auto">
          <a:xfrm>
            <a:off x="5138738" y="5191126"/>
            <a:ext cx="216886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2000" b="1">
                <a:latin typeface="Times New Roman" panose="02020603050405020304" pitchFamily="18" charset="0"/>
              </a:rPr>
              <a:t>Network interface</a:t>
            </a:r>
          </a:p>
        </p:txBody>
      </p:sp>
      <p:sp>
        <p:nvSpPr>
          <p:cNvPr id="53257" name="Line 62"/>
          <p:cNvSpPr>
            <a:spLocks noChangeShapeType="1"/>
          </p:cNvSpPr>
          <p:nvPr/>
        </p:nvSpPr>
        <p:spPr bwMode="auto">
          <a:xfrm>
            <a:off x="3098800" y="2659063"/>
            <a:ext cx="6343650"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8" name="Line 63"/>
          <p:cNvSpPr>
            <a:spLocks noChangeShapeType="1"/>
          </p:cNvSpPr>
          <p:nvPr/>
        </p:nvSpPr>
        <p:spPr bwMode="auto">
          <a:xfrm>
            <a:off x="3098800" y="3709988"/>
            <a:ext cx="6343650"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64"/>
          <p:cNvSpPr>
            <a:spLocks noChangeShapeType="1"/>
          </p:cNvSpPr>
          <p:nvPr/>
        </p:nvSpPr>
        <p:spPr bwMode="auto">
          <a:xfrm>
            <a:off x="3098800" y="5103813"/>
            <a:ext cx="6343650"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65"/>
          <p:cNvSpPr>
            <a:spLocks noChangeShapeType="1"/>
          </p:cNvSpPr>
          <p:nvPr/>
        </p:nvSpPr>
        <p:spPr bwMode="auto">
          <a:xfrm>
            <a:off x="3640138" y="2392364"/>
            <a:ext cx="0" cy="4921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66"/>
          <p:cNvSpPr>
            <a:spLocks noChangeShapeType="1"/>
          </p:cNvSpPr>
          <p:nvPr/>
        </p:nvSpPr>
        <p:spPr bwMode="auto">
          <a:xfrm>
            <a:off x="3640138" y="3619501"/>
            <a:ext cx="0" cy="550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Rectangle 67"/>
          <p:cNvSpPr>
            <a:spLocks noChangeArrowheads="1"/>
          </p:cNvSpPr>
          <p:nvPr/>
        </p:nvSpPr>
        <p:spPr bwMode="auto">
          <a:xfrm>
            <a:off x="3235325" y="1703389"/>
            <a:ext cx="814388" cy="719137"/>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FTP</a:t>
            </a:r>
          </a:p>
          <a:p>
            <a:pPr algn="ctr">
              <a:lnSpc>
                <a:spcPct val="75000"/>
              </a:lnSpc>
              <a:buFont typeface="Wingdings" panose="05000000000000000000" pitchFamily="2" charset="2"/>
              <a:buNone/>
            </a:pPr>
            <a:r>
              <a:rPr lang="zh-CN" altLang="zh-CN" sz="2400">
                <a:latin typeface="Garamond Narrow" charset="0"/>
              </a:rPr>
              <a:t>client</a:t>
            </a:r>
          </a:p>
        </p:txBody>
      </p:sp>
      <p:sp>
        <p:nvSpPr>
          <p:cNvPr id="53263" name="Rectangle 68"/>
          <p:cNvSpPr>
            <a:spLocks noChangeArrowheads="1"/>
          </p:cNvSpPr>
          <p:nvPr/>
        </p:nvSpPr>
        <p:spPr bwMode="auto">
          <a:xfrm>
            <a:off x="3235325" y="2921000"/>
            <a:ext cx="814388" cy="647700"/>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TCP</a:t>
            </a:r>
          </a:p>
        </p:txBody>
      </p:sp>
      <p:sp>
        <p:nvSpPr>
          <p:cNvPr id="53264" name="Line 69"/>
          <p:cNvSpPr>
            <a:spLocks noChangeShapeType="1"/>
          </p:cNvSpPr>
          <p:nvPr/>
        </p:nvSpPr>
        <p:spPr bwMode="auto">
          <a:xfrm>
            <a:off x="3644900" y="5910263"/>
            <a:ext cx="0" cy="188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3265" name="Group 70"/>
          <p:cNvGrpSpPr>
            <a:grpSpLocks/>
          </p:cNvGrpSpPr>
          <p:nvPr/>
        </p:nvGrpSpPr>
        <p:grpSpPr bwMode="auto">
          <a:xfrm>
            <a:off x="5121276" y="4403726"/>
            <a:ext cx="2297113" cy="665163"/>
            <a:chOff x="0" y="0"/>
            <a:chExt cx="1447" cy="419"/>
          </a:xfrm>
        </p:grpSpPr>
        <p:sp>
          <p:nvSpPr>
            <p:cNvPr id="53294" name="Line 71"/>
            <p:cNvSpPr>
              <a:spLocks noChangeShapeType="1"/>
            </p:cNvSpPr>
            <p:nvPr/>
          </p:nvSpPr>
          <p:spPr bwMode="auto">
            <a:xfrm flipV="1">
              <a:off x="896" y="51"/>
              <a:ext cx="35" cy="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5" name="Oval 72"/>
            <p:cNvSpPr>
              <a:spLocks noChangeArrowheads="1"/>
            </p:cNvSpPr>
            <p:nvPr/>
          </p:nvSpPr>
          <p:spPr bwMode="auto">
            <a:xfrm>
              <a:off x="183" y="64"/>
              <a:ext cx="57" cy="72"/>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296" name="Oval 73"/>
            <p:cNvSpPr>
              <a:spLocks noChangeArrowheads="1"/>
            </p:cNvSpPr>
            <p:nvPr/>
          </p:nvSpPr>
          <p:spPr bwMode="auto">
            <a:xfrm>
              <a:off x="0" y="215"/>
              <a:ext cx="56" cy="70"/>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297" name="Oval 74"/>
            <p:cNvSpPr>
              <a:spLocks noChangeArrowheads="1"/>
            </p:cNvSpPr>
            <p:nvPr/>
          </p:nvSpPr>
          <p:spPr bwMode="auto">
            <a:xfrm>
              <a:off x="1012" y="260"/>
              <a:ext cx="58" cy="70"/>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298" name="Oval 75"/>
            <p:cNvSpPr>
              <a:spLocks noChangeArrowheads="1"/>
            </p:cNvSpPr>
            <p:nvPr/>
          </p:nvSpPr>
          <p:spPr bwMode="auto">
            <a:xfrm>
              <a:off x="831" y="54"/>
              <a:ext cx="58" cy="69"/>
            </a:xfrm>
            <a:prstGeom prst="ellipse">
              <a:avLst/>
            </a:prstGeom>
            <a:solidFill>
              <a:schemeClr val="accent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299" name="Oval 76"/>
            <p:cNvSpPr>
              <a:spLocks noChangeArrowheads="1"/>
            </p:cNvSpPr>
            <p:nvPr/>
          </p:nvSpPr>
          <p:spPr bwMode="auto">
            <a:xfrm>
              <a:off x="328" y="44"/>
              <a:ext cx="57" cy="70"/>
            </a:xfrm>
            <a:prstGeom prst="ellipse">
              <a:avLst/>
            </a:prstGeom>
            <a:solidFill>
              <a:schemeClr val="accent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0" name="Oval 77"/>
            <p:cNvSpPr>
              <a:spLocks noChangeArrowheads="1"/>
            </p:cNvSpPr>
            <p:nvPr/>
          </p:nvSpPr>
          <p:spPr bwMode="auto">
            <a:xfrm>
              <a:off x="812" y="271"/>
              <a:ext cx="59" cy="71"/>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1" name="Oval 78"/>
            <p:cNvSpPr>
              <a:spLocks noChangeArrowheads="1"/>
            </p:cNvSpPr>
            <p:nvPr/>
          </p:nvSpPr>
          <p:spPr bwMode="auto">
            <a:xfrm>
              <a:off x="558" y="91"/>
              <a:ext cx="57" cy="72"/>
            </a:xfrm>
            <a:prstGeom prst="ellipse">
              <a:avLst/>
            </a:prstGeom>
            <a:solidFill>
              <a:schemeClr val="accent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2" name="Line 79"/>
            <p:cNvSpPr>
              <a:spLocks noChangeShapeType="1"/>
            </p:cNvSpPr>
            <p:nvPr/>
          </p:nvSpPr>
          <p:spPr bwMode="auto">
            <a:xfrm flipV="1">
              <a:off x="248" y="78"/>
              <a:ext cx="75" cy="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3" name="Line 80"/>
            <p:cNvSpPr>
              <a:spLocks noChangeShapeType="1"/>
            </p:cNvSpPr>
            <p:nvPr/>
          </p:nvSpPr>
          <p:spPr bwMode="auto">
            <a:xfrm>
              <a:off x="393" y="86"/>
              <a:ext cx="160" cy="3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04" name="Oval 81"/>
            <p:cNvSpPr>
              <a:spLocks noChangeArrowheads="1"/>
            </p:cNvSpPr>
            <p:nvPr/>
          </p:nvSpPr>
          <p:spPr bwMode="auto">
            <a:xfrm>
              <a:off x="940" y="20"/>
              <a:ext cx="55" cy="71"/>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5" name="Oval 82"/>
            <p:cNvSpPr>
              <a:spLocks noChangeArrowheads="1"/>
            </p:cNvSpPr>
            <p:nvPr/>
          </p:nvSpPr>
          <p:spPr bwMode="auto">
            <a:xfrm>
              <a:off x="879" y="183"/>
              <a:ext cx="57" cy="69"/>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6" name="Oval 83"/>
            <p:cNvSpPr>
              <a:spLocks noChangeArrowheads="1"/>
            </p:cNvSpPr>
            <p:nvPr/>
          </p:nvSpPr>
          <p:spPr bwMode="auto">
            <a:xfrm>
              <a:off x="1390" y="189"/>
              <a:ext cx="57" cy="69"/>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7" name="Oval 84"/>
            <p:cNvSpPr>
              <a:spLocks noChangeArrowheads="1"/>
            </p:cNvSpPr>
            <p:nvPr/>
          </p:nvSpPr>
          <p:spPr bwMode="auto">
            <a:xfrm>
              <a:off x="730" y="0"/>
              <a:ext cx="56" cy="69"/>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08" name="Line 85"/>
            <p:cNvSpPr>
              <a:spLocks noChangeShapeType="1"/>
            </p:cNvSpPr>
            <p:nvPr/>
          </p:nvSpPr>
          <p:spPr bwMode="auto">
            <a:xfrm flipH="1" flipV="1">
              <a:off x="777" y="50"/>
              <a:ext cx="53" cy="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9" name="Line 86"/>
            <p:cNvSpPr>
              <a:spLocks noChangeShapeType="1"/>
            </p:cNvSpPr>
            <p:nvPr/>
          </p:nvSpPr>
          <p:spPr bwMode="auto">
            <a:xfrm>
              <a:off x="896" y="114"/>
              <a:ext cx="208" cy="5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10" name="Line 87"/>
            <p:cNvSpPr>
              <a:spLocks noChangeShapeType="1"/>
            </p:cNvSpPr>
            <p:nvPr/>
          </p:nvSpPr>
          <p:spPr bwMode="auto">
            <a:xfrm>
              <a:off x="876" y="131"/>
              <a:ext cx="15"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1" name="Line 88"/>
            <p:cNvSpPr>
              <a:spLocks noChangeShapeType="1"/>
            </p:cNvSpPr>
            <p:nvPr/>
          </p:nvSpPr>
          <p:spPr bwMode="auto">
            <a:xfrm>
              <a:off x="941" y="237"/>
              <a:ext cx="72" cy="3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2" name="Line 89"/>
            <p:cNvSpPr>
              <a:spLocks noChangeShapeType="1"/>
            </p:cNvSpPr>
            <p:nvPr/>
          </p:nvSpPr>
          <p:spPr bwMode="auto">
            <a:xfrm flipV="1">
              <a:off x="732" y="315"/>
              <a:ext cx="278" cy="7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3" name="Line 90"/>
            <p:cNvSpPr>
              <a:spLocks noChangeShapeType="1"/>
            </p:cNvSpPr>
            <p:nvPr/>
          </p:nvSpPr>
          <p:spPr bwMode="auto">
            <a:xfrm flipH="1">
              <a:off x="715" y="323"/>
              <a:ext cx="102" cy="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4" name="Line 91"/>
            <p:cNvSpPr>
              <a:spLocks noChangeShapeType="1"/>
            </p:cNvSpPr>
            <p:nvPr/>
          </p:nvSpPr>
          <p:spPr bwMode="auto">
            <a:xfrm flipV="1">
              <a:off x="862" y="241"/>
              <a:ext cx="18" cy="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5" name="Line 92"/>
            <p:cNvSpPr>
              <a:spLocks noChangeShapeType="1"/>
            </p:cNvSpPr>
            <p:nvPr/>
          </p:nvSpPr>
          <p:spPr bwMode="auto">
            <a:xfrm flipV="1">
              <a:off x="621" y="107"/>
              <a:ext cx="213" cy="3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16" name="Line 93"/>
            <p:cNvSpPr>
              <a:spLocks noChangeShapeType="1"/>
            </p:cNvSpPr>
            <p:nvPr/>
          </p:nvSpPr>
          <p:spPr bwMode="auto">
            <a:xfrm>
              <a:off x="61" y="269"/>
              <a:ext cx="421" cy="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17" name="Line 94"/>
            <p:cNvSpPr>
              <a:spLocks noChangeShapeType="1"/>
            </p:cNvSpPr>
            <p:nvPr/>
          </p:nvSpPr>
          <p:spPr bwMode="auto">
            <a:xfrm flipV="1">
              <a:off x="61" y="107"/>
              <a:ext cx="124"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8" name="Line 95"/>
            <p:cNvSpPr>
              <a:spLocks noChangeShapeType="1"/>
            </p:cNvSpPr>
            <p:nvPr/>
          </p:nvSpPr>
          <p:spPr bwMode="auto">
            <a:xfrm>
              <a:off x="379" y="108"/>
              <a:ext cx="104" cy="137"/>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319" name="Line 96"/>
            <p:cNvSpPr>
              <a:spLocks noChangeShapeType="1"/>
            </p:cNvSpPr>
            <p:nvPr/>
          </p:nvSpPr>
          <p:spPr bwMode="auto">
            <a:xfrm>
              <a:off x="1167" y="183"/>
              <a:ext cx="214" cy="2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20" name="Line 97"/>
            <p:cNvSpPr>
              <a:spLocks noChangeShapeType="1"/>
            </p:cNvSpPr>
            <p:nvPr/>
          </p:nvSpPr>
          <p:spPr bwMode="auto">
            <a:xfrm flipV="1">
              <a:off x="606" y="48"/>
              <a:ext cx="116" cy="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1" name="Line 98"/>
            <p:cNvSpPr>
              <a:spLocks noChangeShapeType="1"/>
            </p:cNvSpPr>
            <p:nvPr/>
          </p:nvSpPr>
          <p:spPr bwMode="auto">
            <a:xfrm>
              <a:off x="486" y="247"/>
              <a:ext cx="175" cy="1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2" name="Oval 99"/>
            <p:cNvSpPr>
              <a:spLocks noChangeArrowheads="1"/>
            </p:cNvSpPr>
            <p:nvPr/>
          </p:nvSpPr>
          <p:spPr bwMode="auto">
            <a:xfrm>
              <a:off x="1111" y="146"/>
              <a:ext cx="57" cy="70"/>
            </a:xfrm>
            <a:prstGeom prst="ellipse">
              <a:avLst/>
            </a:prstGeom>
            <a:solidFill>
              <a:schemeClr val="accent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23" name="Oval 100"/>
            <p:cNvSpPr>
              <a:spLocks noChangeArrowheads="1"/>
            </p:cNvSpPr>
            <p:nvPr/>
          </p:nvSpPr>
          <p:spPr bwMode="auto">
            <a:xfrm>
              <a:off x="670" y="350"/>
              <a:ext cx="55" cy="69"/>
            </a:xfrm>
            <a:prstGeom prst="ellipse">
              <a:avLst/>
            </a:prstGeom>
            <a:solidFill>
              <a:schemeClr val="bg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3324" name="Oval 101"/>
            <p:cNvSpPr>
              <a:spLocks noChangeArrowheads="1"/>
            </p:cNvSpPr>
            <p:nvPr/>
          </p:nvSpPr>
          <p:spPr bwMode="auto">
            <a:xfrm>
              <a:off x="489" y="244"/>
              <a:ext cx="56" cy="71"/>
            </a:xfrm>
            <a:prstGeom prst="ellipse">
              <a:avLst/>
            </a:prstGeom>
            <a:solidFill>
              <a:schemeClr val="accent1"/>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sp>
        <p:nvSpPr>
          <p:cNvPr id="53266" name="Line 102"/>
          <p:cNvSpPr>
            <a:spLocks noChangeShapeType="1"/>
          </p:cNvSpPr>
          <p:nvPr/>
        </p:nvSpPr>
        <p:spPr bwMode="auto">
          <a:xfrm>
            <a:off x="8897938" y="2316164"/>
            <a:ext cx="0" cy="593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7" name="Line 103"/>
          <p:cNvSpPr>
            <a:spLocks noChangeShapeType="1"/>
          </p:cNvSpPr>
          <p:nvPr/>
        </p:nvSpPr>
        <p:spPr bwMode="auto">
          <a:xfrm>
            <a:off x="8897938" y="3543301"/>
            <a:ext cx="0" cy="550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8" name="Line 104"/>
          <p:cNvSpPr>
            <a:spLocks noChangeShapeType="1"/>
          </p:cNvSpPr>
          <p:nvPr/>
        </p:nvSpPr>
        <p:spPr bwMode="auto">
          <a:xfrm>
            <a:off x="8897938" y="4745039"/>
            <a:ext cx="0"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9" name="Rectangle 105"/>
          <p:cNvSpPr>
            <a:spLocks noChangeArrowheads="1"/>
          </p:cNvSpPr>
          <p:nvPr/>
        </p:nvSpPr>
        <p:spPr bwMode="auto">
          <a:xfrm>
            <a:off x="8493125" y="1703389"/>
            <a:ext cx="814388" cy="719137"/>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FTP</a:t>
            </a:r>
          </a:p>
          <a:p>
            <a:pPr algn="ctr">
              <a:lnSpc>
                <a:spcPct val="75000"/>
              </a:lnSpc>
              <a:buFont typeface="Wingdings" panose="05000000000000000000" pitchFamily="2" charset="2"/>
              <a:buNone/>
            </a:pPr>
            <a:r>
              <a:rPr lang="zh-CN" altLang="zh-CN" sz="2400">
                <a:latin typeface="Garamond Narrow" charset="0"/>
              </a:rPr>
              <a:t>server</a:t>
            </a:r>
          </a:p>
        </p:txBody>
      </p:sp>
      <p:sp>
        <p:nvSpPr>
          <p:cNvPr id="53270" name="Rectangle 106"/>
          <p:cNvSpPr>
            <a:spLocks noChangeArrowheads="1"/>
          </p:cNvSpPr>
          <p:nvPr/>
        </p:nvSpPr>
        <p:spPr bwMode="auto">
          <a:xfrm>
            <a:off x="8493125" y="2921000"/>
            <a:ext cx="814388" cy="647700"/>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TCP</a:t>
            </a:r>
          </a:p>
        </p:txBody>
      </p:sp>
      <p:sp>
        <p:nvSpPr>
          <p:cNvPr id="53271" name="Rectangle 107"/>
          <p:cNvSpPr>
            <a:spLocks noChangeArrowheads="1"/>
          </p:cNvSpPr>
          <p:nvPr/>
        </p:nvSpPr>
        <p:spPr bwMode="auto">
          <a:xfrm>
            <a:off x="8493125" y="4129089"/>
            <a:ext cx="814388" cy="650875"/>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IP</a:t>
            </a:r>
          </a:p>
        </p:txBody>
      </p:sp>
      <p:sp>
        <p:nvSpPr>
          <p:cNvPr id="53272" name="Line 108"/>
          <p:cNvSpPr>
            <a:spLocks noChangeShapeType="1"/>
          </p:cNvSpPr>
          <p:nvPr/>
        </p:nvSpPr>
        <p:spPr bwMode="auto">
          <a:xfrm>
            <a:off x="8890000" y="5872163"/>
            <a:ext cx="0" cy="188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3" name="Line 109"/>
          <p:cNvSpPr>
            <a:spLocks noChangeShapeType="1"/>
          </p:cNvSpPr>
          <p:nvPr/>
        </p:nvSpPr>
        <p:spPr bwMode="auto">
          <a:xfrm>
            <a:off x="4749800" y="5910263"/>
            <a:ext cx="0" cy="188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4" name="Line 110"/>
          <p:cNvSpPr>
            <a:spLocks noChangeShapeType="1"/>
          </p:cNvSpPr>
          <p:nvPr/>
        </p:nvSpPr>
        <p:spPr bwMode="auto">
          <a:xfrm>
            <a:off x="7812088" y="4764089"/>
            <a:ext cx="0" cy="466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5" name="Rectangle 111"/>
          <p:cNvSpPr>
            <a:spLocks noChangeArrowheads="1"/>
          </p:cNvSpPr>
          <p:nvPr/>
        </p:nvSpPr>
        <p:spPr bwMode="auto">
          <a:xfrm>
            <a:off x="7407275" y="4129089"/>
            <a:ext cx="814388" cy="650875"/>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IP</a:t>
            </a:r>
          </a:p>
        </p:txBody>
      </p:sp>
      <p:sp>
        <p:nvSpPr>
          <p:cNvPr id="53276" name="Rectangle 112"/>
          <p:cNvSpPr>
            <a:spLocks noChangeArrowheads="1"/>
          </p:cNvSpPr>
          <p:nvPr/>
        </p:nvSpPr>
        <p:spPr bwMode="auto">
          <a:xfrm>
            <a:off x="8408988" y="5245101"/>
            <a:ext cx="906462" cy="722313"/>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Ethernet</a:t>
            </a:r>
          </a:p>
          <a:p>
            <a:pPr algn="ctr">
              <a:lnSpc>
                <a:spcPct val="75000"/>
              </a:lnSpc>
              <a:buFont typeface="Wingdings" panose="05000000000000000000" pitchFamily="2" charset="2"/>
              <a:buNone/>
            </a:pPr>
            <a:r>
              <a:rPr lang="zh-CN" altLang="zh-CN" sz="2400">
                <a:latin typeface="Garamond Narrow" charset="0"/>
              </a:rPr>
              <a:t>Driver</a:t>
            </a:r>
          </a:p>
        </p:txBody>
      </p:sp>
      <p:grpSp>
        <p:nvGrpSpPr>
          <p:cNvPr id="53277" name="Group 113"/>
          <p:cNvGrpSpPr>
            <a:grpSpLocks/>
          </p:cNvGrpSpPr>
          <p:nvPr/>
        </p:nvGrpSpPr>
        <p:grpSpPr bwMode="auto">
          <a:xfrm>
            <a:off x="3151188" y="4129089"/>
            <a:ext cx="2011362" cy="1963737"/>
            <a:chOff x="0" y="0"/>
            <a:chExt cx="1267" cy="1237"/>
          </a:xfrm>
        </p:grpSpPr>
        <p:sp>
          <p:nvSpPr>
            <p:cNvPr id="53287" name="Line 114"/>
            <p:cNvSpPr>
              <a:spLocks noChangeShapeType="1"/>
            </p:cNvSpPr>
            <p:nvPr/>
          </p:nvSpPr>
          <p:spPr bwMode="auto">
            <a:xfrm>
              <a:off x="261" y="1237"/>
              <a:ext cx="816"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8" name="Line 115"/>
            <p:cNvSpPr>
              <a:spLocks noChangeShapeType="1"/>
            </p:cNvSpPr>
            <p:nvPr/>
          </p:nvSpPr>
          <p:spPr bwMode="auto">
            <a:xfrm>
              <a:off x="308" y="436"/>
              <a:ext cx="0" cy="2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9" name="Rectangle 116"/>
            <p:cNvSpPr>
              <a:spLocks noChangeArrowheads="1"/>
            </p:cNvSpPr>
            <p:nvPr/>
          </p:nvSpPr>
          <p:spPr bwMode="auto">
            <a:xfrm>
              <a:off x="53" y="0"/>
              <a:ext cx="513" cy="410"/>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IP</a:t>
              </a:r>
            </a:p>
          </p:txBody>
        </p:sp>
        <p:sp>
          <p:nvSpPr>
            <p:cNvPr id="53290" name="Line 117"/>
            <p:cNvSpPr>
              <a:spLocks noChangeShapeType="1"/>
            </p:cNvSpPr>
            <p:nvPr/>
          </p:nvSpPr>
          <p:spPr bwMode="auto">
            <a:xfrm>
              <a:off x="1004" y="412"/>
              <a:ext cx="0" cy="2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1" name="Rectangle 118"/>
            <p:cNvSpPr>
              <a:spLocks noChangeArrowheads="1"/>
            </p:cNvSpPr>
            <p:nvPr/>
          </p:nvSpPr>
          <p:spPr bwMode="auto">
            <a:xfrm>
              <a:off x="749" y="0"/>
              <a:ext cx="513" cy="410"/>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IP</a:t>
              </a:r>
            </a:p>
          </p:txBody>
        </p:sp>
        <p:sp>
          <p:nvSpPr>
            <p:cNvPr id="53292" name="Rectangle 119"/>
            <p:cNvSpPr>
              <a:spLocks noChangeArrowheads="1"/>
            </p:cNvSpPr>
            <p:nvPr/>
          </p:nvSpPr>
          <p:spPr bwMode="auto">
            <a:xfrm>
              <a:off x="0" y="703"/>
              <a:ext cx="571" cy="455"/>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Ethernet</a:t>
              </a:r>
            </a:p>
            <a:p>
              <a:pPr algn="ctr">
                <a:lnSpc>
                  <a:spcPct val="75000"/>
                </a:lnSpc>
                <a:buFont typeface="Wingdings" panose="05000000000000000000" pitchFamily="2" charset="2"/>
                <a:buNone/>
              </a:pPr>
              <a:r>
                <a:rPr lang="zh-CN" altLang="zh-CN" sz="2400">
                  <a:latin typeface="Garamond Narrow" charset="0"/>
                </a:rPr>
                <a:t>Driver</a:t>
              </a:r>
            </a:p>
          </p:txBody>
        </p:sp>
        <p:sp>
          <p:nvSpPr>
            <p:cNvPr id="53293" name="Rectangle 120"/>
            <p:cNvSpPr>
              <a:spLocks noChangeArrowheads="1"/>
            </p:cNvSpPr>
            <p:nvPr/>
          </p:nvSpPr>
          <p:spPr bwMode="auto">
            <a:xfrm>
              <a:off x="696" y="703"/>
              <a:ext cx="571" cy="455"/>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以太</a:t>
              </a:r>
            </a:p>
            <a:p>
              <a:pPr algn="ctr">
                <a:lnSpc>
                  <a:spcPct val="75000"/>
                </a:lnSpc>
                <a:buFont typeface="Wingdings" panose="05000000000000000000" pitchFamily="2" charset="2"/>
                <a:buNone/>
              </a:pPr>
              <a:r>
                <a:rPr lang="zh-CN" altLang="zh-CN" sz="2400">
                  <a:latin typeface="Garamond Narrow" charset="0"/>
                </a:rPr>
                <a:t>网卡</a:t>
              </a:r>
            </a:p>
          </p:txBody>
        </p:sp>
      </p:grpSp>
      <p:sp>
        <p:nvSpPr>
          <p:cNvPr id="53278" name="Rectangle 121"/>
          <p:cNvSpPr>
            <a:spLocks noChangeArrowheads="1"/>
          </p:cNvSpPr>
          <p:nvPr/>
        </p:nvSpPr>
        <p:spPr bwMode="auto">
          <a:xfrm>
            <a:off x="7323138" y="5245101"/>
            <a:ext cx="906462" cy="722313"/>
          </a:xfrm>
          <a:prstGeom prst="rect">
            <a:avLst/>
          </a:prstGeom>
          <a:solidFill>
            <a:schemeClr val="bg1"/>
          </a:solidFill>
          <a:ln w="12700">
            <a:solidFill>
              <a:schemeClr val="tx1"/>
            </a:solidFill>
            <a:miter lim="800000"/>
            <a:headEnd/>
            <a:tailEnd/>
          </a:ln>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2400">
                <a:latin typeface="Garamond Narrow" charset="0"/>
              </a:rPr>
              <a:t>Ethernet</a:t>
            </a:r>
          </a:p>
          <a:p>
            <a:pPr algn="ctr">
              <a:lnSpc>
                <a:spcPct val="75000"/>
              </a:lnSpc>
              <a:buFont typeface="Wingdings" panose="05000000000000000000" pitchFamily="2" charset="2"/>
              <a:buNone/>
            </a:pPr>
            <a:r>
              <a:rPr lang="zh-CN" altLang="zh-CN" sz="2400">
                <a:latin typeface="Garamond Narrow" charset="0"/>
              </a:rPr>
              <a:t>Driver</a:t>
            </a:r>
          </a:p>
        </p:txBody>
      </p:sp>
      <p:sp>
        <p:nvSpPr>
          <p:cNvPr id="53279" name="Line 122"/>
          <p:cNvSpPr>
            <a:spLocks noChangeShapeType="1"/>
          </p:cNvSpPr>
          <p:nvPr/>
        </p:nvSpPr>
        <p:spPr bwMode="auto">
          <a:xfrm>
            <a:off x="7816850" y="5967413"/>
            <a:ext cx="0" cy="746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0" name="Line 123"/>
          <p:cNvSpPr>
            <a:spLocks noChangeShapeType="1"/>
          </p:cNvSpPr>
          <p:nvPr/>
        </p:nvSpPr>
        <p:spPr bwMode="auto">
          <a:xfrm>
            <a:off x="7756525" y="6073775"/>
            <a:ext cx="129540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1" name="Line 124"/>
          <p:cNvSpPr>
            <a:spLocks noChangeShapeType="1"/>
          </p:cNvSpPr>
          <p:nvPr/>
        </p:nvSpPr>
        <p:spPr bwMode="auto">
          <a:xfrm>
            <a:off x="4095750" y="3270250"/>
            <a:ext cx="436880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82" name="Rectangle 125"/>
          <p:cNvSpPr>
            <a:spLocks noChangeArrowheads="1"/>
          </p:cNvSpPr>
          <p:nvPr/>
        </p:nvSpPr>
        <p:spPr bwMode="auto">
          <a:xfrm>
            <a:off x="5566666" y="3224213"/>
            <a:ext cx="145713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400">
                <a:solidFill>
                  <a:schemeClr val="hlink"/>
                </a:solidFill>
                <a:latin typeface="Garamond Narrow" charset="0"/>
              </a:rPr>
              <a:t>(</a:t>
            </a:r>
            <a:r>
              <a:rPr lang="zh-CN" altLang="zh-CN" sz="1800">
                <a:solidFill>
                  <a:schemeClr val="folHlink"/>
                </a:solidFill>
                <a:latin typeface="Comic Sans MS" panose="030F0702030302020204" pitchFamily="66" charset="0"/>
              </a:rPr>
              <a:t>端-端 通信</a:t>
            </a:r>
            <a:r>
              <a:rPr lang="zh-CN" altLang="zh-CN" sz="2400">
                <a:solidFill>
                  <a:schemeClr val="hlink"/>
                </a:solidFill>
                <a:latin typeface="Garamond Narrow" charset="0"/>
              </a:rPr>
              <a:t>)</a:t>
            </a:r>
          </a:p>
        </p:txBody>
      </p:sp>
      <p:sp>
        <p:nvSpPr>
          <p:cNvPr id="53283" name="Rectangle 126"/>
          <p:cNvSpPr>
            <a:spLocks noChangeArrowheads="1"/>
          </p:cNvSpPr>
          <p:nvPr/>
        </p:nvSpPr>
        <p:spPr bwMode="auto">
          <a:xfrm>
            <a:off x="5365750" y="3681414"/>
            <a:ext cx="171040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3200" b="1">
                <a:latin typeface="Times New Roman" panose="02020603050405020304" pitchFamily="18" charset="0"/>
              </a:rPr>
              <a:t>Network</a:t>
            </a:r>
          </a:p>
        </p:txBody>
      </p:sp>
      <p:sp>
        <p:nvSpPr>
          <p:cNvPr id="53284" name="Rectangle 127"/>
          <p:cNvSpPr>
            <a:spLocks noChangeArrowheads="1"/>
          </p:cNvSpPr>
          <p:nvPr/>
        </p:nvSpPr>
        <p:spPr bwMode="auto">
          <a:xfrm>
            <a:off x="4908550" y="5535613"/>
            <a:ext cx="2611438" cy="302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lnSpc>
                <a:spcPct val="75000"/>
              </a:lnSpc>
              <a:buFont typeface="Wingdings" panose="05000000000000000000" pitchFamily="2" charset="2"/>
              <a:buNone/>
            </a:pPr>
            <a:r>
              <a:rPr lang="zh-CN" altLang="zh-CN" sz="1800">
                <a:solidFill>
                  <a:schemeClr val="hlink"/>
                </a:solidFill>
                <a:latin typeface="Garamond Narrow" charset="0"/>
              </a:rPr>
              <a:t>(设备驱动与接口卡)</a:t>
            </a:r>
          </a:p>
        </p:txBody>
      </p:sp>
      <p:sp>
        <p:nvSpPr>
          <p:cNvPr id="53285" name="Rectangle 128"/>
          <p:cNvSpPr>
            <a:spLocks noChangeArrowheads="1"/>
          </p:cNvSpPr>
          <p:nvPr/>
        </p:nvSpPr>
        <p:spPr bwMode="auto">
          <a:xfrm>
            <a:off x="4295775" y="2181225"/>
            <a:ext cx="4286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chemeClr val="folHlink"/>
                </a:solidFill>
                <a:latin typeface="Garamond Narrow" charset="0"/>
              </a:rPr>
              <a:t>          (</a:t>
            </a:r>
            <a:r>
              <a:rPr lang="zh-CN" altLang="zh-CN" sz="1800">
                <a:solidFill>
                  <a:schemeClr val="folHlink"/>
                </a:solidFill>
                <a:latin typeface="Comic Sans MS" panose="030F0702030302020204" pitchFamily="66" charset="0"/>
              </a:rPr>
              <a:t>网络应用:ftp, smtp, http</a:t>
            </a:r>
            <a:r>
              <a:rPr lang="zh-CN" altLang="zh-CN" sz="1800">
                <a:solidFill>
                  <a:schemeClr val="folHlink"/>
                </a:solidFill>
                <a:latin typeface="Garamond Narrow" charset="0"/>
              </a:rPr>
              <a:t>)</a:t>
            </a:r>
          </a:p>
        </p:txBody>
      </p:sp>
      <p:sp>
        <p:nvSpPr>
          <p:cNvPr id="53286" name="Rectangle 129"/>
          <p:cNvSpPr>
            <a:spLocks noChangeArrowheads="1"/>
          </p:cNvSpPr>
          <p:nvPr/>
        </p:nvSpPr>
        <p:spPr bwMode="auto">
          <a:xfrm>
            <a:off x="5292726" y="4100514"/>
            <a:ext cx="1819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solidFill>
                  <a:schemeClr val="hlink"/>
                </a:solidFill>
                <a:latin typeface="Garamond Narrow" charset="0"/>
              </a:rPr>
              <a:t>(路由,转发,互连)</a:t>
            </a: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679031" y="243680"/>
            <a:ext cx="4833937" cy="674688"/>
          </a:xfrm>
        </p:spPr>
        <p:txBody>
          <a:bodyPr>
            <a:normAutofit fontScale="90000"/>
          </a:bodyPr>
          <a:lstStyle/>
          <a:p>
            <a:pPr algn="ctr" eaLnBrk="1" hangingPunct="1"/>
            <a:r>
              <a:rPr lang="zh-CN" altLang="zh-CN"/>
              <a:t>三类网络地址</a:t>
            </a:r>
          </a:p>
        </p:txBody>
      </p:sp>
      <p:pic>
        <p:nvPicPr>
          <p:cNvPr id="54275" name="Picture 3"/>
          <p:cNvPicPr>
            <a:picLocks noChangeAspect="1" noChangeArrowheads="1"/>
          </p:cNvPicPr>
          <p:nvPr/>
        </p:nvPicPr>
        <p:blipFill>
          <a:blip r:embed="rId2">
            <a:extLst>
              <a:ext uri="{28A0092B-C50C-407E-A947-70E740481C1C}">
                <a14:useLocalDpi xmlns:a14="http://schemas.microsoft.com/office/drawing/2010/main" val="0"/>
              </a:ext>
            </a:extLst>
          </a:blip>
          <a:srcRect b="7463"/>
          <a:stretch>
            <a:fillRect/>
          </a:stretch>
        </p:blipFill>
        <p:spPr bwMode="auto">
          <a:xfrm>
            <a:off x="3079751" y="1317626"/>
            <a:ext cx="6843713"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4"/>
          <p:cNvSpPr txBox="1">
            <a:spLocks noChangeArrowheads="1"/>
          </p:cNvSpPr>
          <p:nvPr/>
        </p:nvSpPr>
        <p:spPr bwMode="auto">
          <a:xfrm>
            <a:off x="4445001" y="5059363"/>
            <a:ext cx="1255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1400">
                <a:latin typeface="Times New Roman" panose="02020603050405020304" pitchFamily="18" charset="0"/>
              </a:rPr>
              <a:t>物理地址</a:t>
            </a:r>
          </a:p>
        </p:txBody>
      </p:sp>
      <p:sp>
        <p:nvSpPr>
          <p:cNvPr id="54277" name="Text Box 5"/>
          <p:cNvSpPr txBox="1">
            <a:spLocks noChangeArrowheads="1"/>
          </p:cNvSpPr>
          <p:nvPr/>
        </p:nvSpPr>
        <p:spPr bwMode="auto">
          <a:xfrm>
            <a:off x="4381501" y="3832225"/>
            <a:ext cx="1255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en-US" sz="1400">
                <a:latin typeface="Times New Roman" panose="02020603050405020304" pitchFamily="18" charset="0"/>
              </a:rPr>
              <a:t>物理</a:t>
            </a:r>
            <a:r>
              <a:rPr lang="zh-CN" altLang="zh-CN" sz="1400">
                <a:latin typeface="Times New Roman" panose="02020603050405020304" pitchFamily="18" charset="0"/>
              </a:rPr>
              <a:t>地址</a:t>
            </a:r>
          </a:p>
        </p:txBody>
      </p:sp>
      <p:sp>
        <p:nvSpPr>
          <p:cNvPr id="54278" name="Text Box 6"/>
          <p:cNvSpPr txBox="1">
            <a:spLocks noChangeArrowheads="1"/>
          </p:cNvSpPr>
          <p:nvPr/>
        </p:nvSpPr>
        <p:spPr bwMode="auto">
          <a:xfrm>
            <a:off x="4567239" y="1276350"/>
            <a:ext cx="33543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spcBef>
                <a:spcPct val="50000"/>
              </a:spcBef>
              <a:buFont typeface="Wingdings" panose="05000000000000000000" pitchFamily="2" charset="2"/>
              <a:buNone/>
            </a:pPr>
            <a:r>
              <a:rPr lang="zh-CN" altLang="zh-CN" sz="1800">
                <a:solidFill>
                  <a:schemeClr val="tx2"/>
                </a:solidFill>
                <a:latin typeface="华文楷体" panose="02010600040101010101" pitchFamily="2" charset="-122"/>
                <a:ea typeface="华文楷体" panose="02010600040101010101" pitchFamily="2" charset="-122"/>
              </a:rPr>
              <a:t>物理地址在转发过程中不断变化</a:t>
            </a:r>
            <a:r>
              <a:rPr lang="zh-CN" altLang="en-US" sz="1800">
                <a:solidFill>
                  <a:schemeClr val="tx2"/>
                </a:solidFill>
                <a:latin typeface="华文楷体" panose="02010600040101010101" pitchFamily="2" charset="-122"/>
                <a:ea typeface="华文楷体" panose="02010600040101010101" pitchFamily="2" charset="-122"/>
              </a:rPr>
              <a:t>，</a:t>
            </a:r>
            <a:r>
              <a:rPr lang="zh-CN" altLang="zh-CN" sz="1800">
                <a:solidFill>
                  <a:schemeClr val="tx2"/>
                </a:solidFill>
                <a:latin typeface="华文楷体" panose="02010600040101010101" pitchFamily="2" charset="-122"/>
                <a:ea typeface="华文楷体" panose="02010600040101010101" pitchFamily="2" charset="-122"/>
              </a:rPr>
              <a:t>IP地址和端口号保持不变</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4278">
                                            <p:txEl>
                                              <p:pRg st="0" end="0"/>
                                            </p:txEl>
                                          </p:spTgt>
                                        </p:tgtEl>
                                        <p:attrNameLst>
                                          <p:attrName>style.visibility</p:attrName>
                                        </p:attrNameLst>
                                      </p:cBhvr>
                                      <p:to>
                                        <p:strVal val="visible"/>
                                      </p:to>
                                    </p:set>
                                    <p:anim calcmode="lin" valueType="num">
                                      <p:cBhvr additive="base">
                                        <p:cTn id="7" dur="500" fill="hold"/>
                                        <p:tgtEl>
                                          <p:spTgt spid="5427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427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209800" y="182563"/>
            <a:ext cx="7772400" cy="728662"/>
          </a:xfrm>
        </p:spPr>
        <p:txBody>
          <a:bodyPr/>
          <a:lstStyle/>
          <a:p>
            <a:pPr algn="ctr" eaLnBrk="1" hangingPunct="1"/>
            <a:r>
              <a:rPr lang="zh-CN" altLang="zh-CN"/>
              <a:t>TCP/IP数据封装</a:t>
            </a:r>
          </a:p>
        </p:txBody>
      </p:sp>
      <p:sp>
        <p:nvSpPr>
          <p:cNvPr id="55299" name="Text Box 3"/>
          <p:cNvSpPr txBox="1">
            <a:spLocks noChangeArrowheads="1"/>
          </p:cNvSpPr>
          <p:nvPr/>
        </p:nvSpPr>
        <p:spPr bwMode="auto">
          <a:xfrm>
            <a:off x="495300" y="1762126"/>
            <a:ext cx="11477625" cy="216411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4013" indent="-35401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buClrTx/>
              <a:buSzTx/>
              <a:buFont typeface="Wingdings" panose="05000000000000000000" pitchFamily="2" charset="2"/>
              <a:buNone/>
            </a:pPr>
            <a:r>
              <a:rPr lang="zh-CN" altLang="zh-CN" b="1">
                <a:solidFill>
                  <a:srgbClr val="CC0000"/>
                </a:solidFill>
                <a:latin typeface="华文楷体" panose="02010600040101010101" pitchFamily="2" charset="-122"/>
                <a:ea typeface="华文楷体" panose="02010600040101010101" pitchFamily="2" charset="-122"/>
              </a:rPr>
              <a:t>某一层从它的上一层接受数据：</a:t>
            </a:r>
            <a:r>
              <a:rPr lang="zh-CN" altLang="zh-CN" b="1">
                <a:solidFill>
                  <a:srgbClr val="006C88"/>
                </a:solidFill>
                <a:latin typeface="华文楷体" panose="02010600040101010101" pitchFamily="2" charset="-122"/>
                <a:ea typeface="华文楷体" panose="02010600040101010101" pitchFamily="2" charset="-122"/>
              </a:rPr>
              <a:t> </a:t>
            </a:r>
          </a:p>
          <a:p>
            <a:pPr eaLnBrk="1" hangingPunct="1">
              <a:lnSpc>
                <a:spcPct val="90000"/>
              </a:lnSpc>
              <a:buClr>
                <a:srgbClr val="66CCFF"/>
              </a:buClr>
              <a:buSzPct val="50000"/>
              <a:buFont typeface="Wingdings" panose="05000000000000000000" pitchFamily="2" charset="2"/>
              <a:buChar char="•"/>
            </a:pPr>
            <a:r>
              <a:rPr lang="zh-CN" altLang="zh-CN" b="1">
                <a:solidFill>
                  <a:srgbClr val="006C88"/>
                </a:solidFill>
                <a:latin typeface="华文楷体" panose="02010600040101010101" pitchFamily="2" charset="-122"/>
                <a:ea typeface="华文楷体" panose="02010600040101010101" pitchFamily="2" charset="-122"/>
              </a:rPr>
              <a:t>加上报头（ header）信息，形成新的数据单元</a:t>
            </a:r>
            <a:r>
              <a:rPr lang="zh-CN" altLang="en-US" b="1">
                <a:solidFill>
                  <a:srgbClr val="006C88"/>
                </a:solidFill>
                <a:latin typeface="华文楷体" panose="02010600040101010101" pitchFamily="2" charset="-122"/>
                <a:ea typeface="华文楷体" panose="02010600040101010101" pitchFamily="2" charset="-122"/>
              </a:rPr>
              <a:t>，</a:t>
            </a:r>
            <a:r>
              <a:rPr lang="zh-CN" altLang="zh-CN" b="1">
                <a:solidFill>
                  <a:srgbClr val="006C88"/>
                </a:solidFill>
                <a:latin typeface="华文楷体" panose="02010600040101010101" pitchFamily="2" charset="-122"/>
                <a:ea typeface="华文楷体" panose="02010600040101010101" pitchFamily="2" charset="-122"/>
              </a:rPr>
              <a:t>encapsulation</a:t>
            </a:r>
          </a:p>
          <a:p>
            <a:pPr eaLnBrk="1" hangingPunct="1">
              <a:lnSpc>
                <a:spcPct val="90000"/>
              </a:lnSpc>
              <a:buClr>
                <a:srgbClr val="66CCFF"/>
              </a:buClr>
              <a:buSzPct val="50000"/>
              <a:buFont typeface="Wingdings" panose="05000000000000000000" pitchFamily="2" charset="2"/>
              <a:buChar char="•"/>
            </a:pPr>
            <a:r>
              <a:rPr lang="zh-CN" altLang="zh-CN" b="1">
                <a:solidFill>
                  <a:srgbClr val="006C88"/>
                </a:solidFill>
                <a:latin typeface="华文楷体" panose="02010600040101010101" pitchFamily="2" charset="-122"/>
                <a:ea typeface="华文楷体" panose="02010600040101010101" pitchFamily="2" charset="-122"/>
              </a:rPr>
              <a:t>然后传送到它的下一层,再加上该层报头。 </a:t>
            </a:r>
          </a:p>
          <a:p>
            <a:pPr eaLnBrk="1" hangingPunct="1">
              <a:lnSpc>
                <a:spcPct val="90000"/>
              </a:lnSpc>
              <a:buClr>
                <a:srgbClr val="66CCFF"/>
              </a:buClr>
              <a:buSzPct val="50000"/>
              <a:buFont typeface="Wingdings" panose="05000000000000000000" pitchFamily="2" charset="2"/>
              <a:buChar char="•"/>
            </a:pPr>
            <a:r>
              <a:rPr lang="zh-CN" altLang="zh-CN" b="1">
                <a:solidFill>
                  <a:srgbClr val="006C88"/>
                </a:solidFill>
                <a:latin typeface="华文楷体" panose="02010600040101010101" pitchFamily="2" charset="-122"/>
                <a:ea typeface="华文楷体" panose="02010600040101010101" pitchFamily="2" charset="-122"/>
              </a:rPr>
              <a:t>接收时往上一层一层剥掉报头</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492626" y="234950"/>
            <a:ext cx="3205163" cy="674688"/>
          </a:xfrm>
        </p:spPr>
        <p:txBody>
          <a:bodyPr>
            <a:normAutofit fontScale="90000"/>
          </a:bodyPr>
          <a:lstStyle/>
          <a:p>
            <a:pPr algn="ctr" eaLnBrk="1" hangingPunct="1"/>
            <a:r>
              <a:rPr lang="zh-CN" altLang="zh-CN"/>
              <a:t>数据封装</a:t>
            </a:r>
          </a:p>
        </p:txBody>
      </p:sp>
      <p:grpSp>
        <p:nvGrpSpPr>
          <p:cNvPr id="56323" name="Group 3"/>
          <p:cNvGrpSpPr>
            <a:grpSpLocks/>
          </p:cNvGrpSpPr>
          <p:nvPr/>
        </p:nvGrpSpPr>
        <p:grpSpPr bwMode="auto">
          <a:xfrm>
            <a:off x="5865813" y="1411288"/>
            <a:ext cx="3071812" cy="812800"/>
            <a:chOff x="0" y="0"/>
            <a:chExt cx="1935" cy="512"/>
          </a:xfrm>
        </p:grpSpPr>
        <p:sp>
          <p:nvSpPr>
            <p:cNvPr id="56344" name="Rectangle 4"/>
            <p:cNvSpPr>
              <a:spLocks noChangeArrowheads="1"/>
            </p:cNvSpPr>
            <p:nvPr/>
          </p:nvSpPr>
          <p:spPr bwMode="auto">
            <a:xfrm>
              <a:off x="901" y="0"/>
              <a:ext cx="1034"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400">
                  <a:latin typeface="华文楷体" panose="02010600040101010101" pitchFamily="2" charset="-122"/>
                  <a:ea typeface="华文楷体" panose="02010600040101010101" pitchFamily="2" charset="-122"/>
                </a:rPr>
                <a:t>WWW</a:t>
              </a:r>
              <a:r>
                <a:rPr lang="zh-CN" altLang="zh-CN">
                  <a:latin typeface="华文楷体" panose="02010600040101010101" pitchFamily="2" charset="-122"/>
                  <a:ea typeface="华文楷体" panose="02010600040101010101" pitchFamily="2" charset="-122"/>
                </a:rPr>
                <a:t> Data</a:t>
              </a:r>
            </a:p>
          </p:txBody>
        </p:sp>
        <p:sp>
          <p:nvSpPr>
            <p:cNvPr id="56345" name="Rectangle 5"/>
            <p:cNvSpPr>
              <a:spLocks noChangeArrowheads="1"/>
            </p:cNvSpPr>
            <p:nvPr/>
          </p:nvSpPr>
          <p:spPr bwMode="auto">
            <a:xfrm>
              <a:off x="0" y="0"/>
              <a:ext cx="884"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400">
                  <a:latin typeface="华文楷体" panose="02010600040101010101" pitchFamily="2" charset="-122"/>
                  <a:ea typeface="华文楷体" panose="02010600040101010101" pitchFamily="2" charset="-122"/>
                </a:rPr>
                <a:t>WWW</a:t>
              </a:r>
              <a:r>
                <a:rPr lang="zh-CN" altLang="zh-CN">
                  <a:latin typeface="华文楷体" panose="02010600040101010101" pitchFamily="2" charset="-122"/>
                  <a:ea typeface="华文楷体" panose="02010600040101010101" pitchFamily="2" charset="-122"/>
                </a:rPr>
                <a:t> </a:t>
              </a:r>
              <a:br>
                <a:rPr lang="zh-CN" altLang="zh-CN">
                  <a:latin typeface="华文楷体" panose="02010600040101010101" pitchFamily="2" charset="-122"/>
                  <a:ea typeface="华文楷体" panose="02010600040101010101" pitchFamily="2" charset="-122"/>
                </a:rPr>
              </a:br>
              <a:r>
                <a:rPr lang="zh-CN" altLang="zh-CN">
                  <a:latin typeface="华文楷体" panose="02010600040101010101" pitchFamily="2" charset="-122"/>
                  <a:ea typeface="华文楷体" panose="02010600040101010101" pitchFamily="2" charset="-122"/>
                </a:rPr>
                <a:t>Header</a:t>
              </a:r>
            </a:p>
          </p:txBody>
        </p:sp>
      </p:grpSp>
      <p:grpSp>
        <p:nvGrpSpPr>
          <p:cNvPr id="56326" name="Group 6"/>
          <p:cNvGrpSpPr>
            <a:grpSpLocks/>
          </p:cNvGrpSpPr>
          <p:nvPr/>
        </p:nvGrpSpPr>
        <p:grpSpPr bwMode="auto">
          <a:xfrm>
            <a:off x="4594225" y="2249488"/>
            <a:ext cx="4357688" cy="1117600"/>
            <a:chOff x="0" y="0"/>
            <a:chExt cx="2745" cy="704"/>
          </a:xfrm>
        </p:grpSpPr>
        <p:sp>
          <p:nvSpPr>
            <p:cNvPr id="56340" name="Rectangle 7"/>
            <p:cNvSpPr>
              <a:spLocks noChangeArrowheads="1"/>
            </p:cNvSpPr>
            <p:nvPr/>
          </p:nvSpPr>
          <p:spPr bwMode="auto">
            <a:xfrm>
              <a:off x="801" y="192"/>
              <a:ext cx="1935"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TCP Data</a:t>
              </a:r>
            </a:p>
          </p:txBody>
        </p:sp>
        <p:sp>
          <p:nvSpPr>
            <p:cNvPr id="56341" name="Rectangle 8"/>
            <p:cNvSpPr>
              <a:spLocks noChangeArrowheads="1"/>
            </p:cNvSpPr>
            <p:nvPr/>
          </p:nvSpPr>
          <p:spPr bwMode="auto">
            <a:xfrm>
              <a:off x="0" y="192"/>
              <a:ext cx="785"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TCP</a:t>
              </a:r>
              <a:br>
                <a:rPr lang="zh-CN" altLang="zh-CN">
                  <a:latin typeface="华文楷体" panose="02010600040101010101" pitchFamily="2" charset="-122"/>
                  <a:ea typeface="华文楷体" panose="02010600040101010101" pitchFamily="2" charset="-122"/>
                </a:rPr>
              </a:br>
              <a:r>
                <a:rPr lang="zh-CN" altLang="zh-CN">
                  <a:latin typeface="华文楷体" panose="02010600040101010101" pitchFamily="2" charset="-122"/>
                  <a:ea typeface="华文楷体" panose="02010600040101010101" pitchFamily="2" charset="-122"/>
                </a:rPr>
                <a:t>Header</a:t>
              </a:r>
            </a:p>
          </p:txBody>
        </p:sp>
        <p:sp>
          <p:nvSpPr>
            <p:cNvPr id="56342" name="Line 9"/>
            <p:cNvSpPr>
              <a:spLocks noChangeShapeType="1"/>
            </p:cNvSpPr>
            <p:nvPr/>
          </p:nvSpPr>
          <p:spPr bwMode="auto">
            <a:xfrm>
              <a:off x="793"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3" name="Line 10"/>
            <p:cNvSpPr>
              <a:spLocks noChangeShapeType="1"/>
            </p:cNvSpPr>
            <p:nvPr/>
          </p:nvSpPr>
          <p:spPr bwMode="auto">
            <a:xfrm>
              <a:off x="2745"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31" name="Group 11"/>
          <p:cNvGrpSpPr>
            <a:grpSpLocks/>
          </p:cNvGrpSpPr>
          <p:nvPr/>
        </p:nvGrpSpPr>
        <p:grpSpPr bwMode="auto">
          <a:xfrm>
            <a:off x="3324225" y="3392488"/>
            <a:ext cx="5627688" cy="1117600"/>
            <a:chOff x="0" y="0"/>
            <a:chExt cx="3545" cy="704"/>
          </a:xfrm>
        </p:grpSpPr>
        <p:sp>
          <p:nvSpPr>
            <p:cNvPr id="56336" name="Rectangle 12"/>
            <p:cNvSpPr>
              <a:spLocks noChangeArrowheads="1"/>
            </p:cNvSpPr>
            <p:nvPr/>
          </p:nvSpPr>
          <p:spPr bwMode="auto">
            <a:xfrm>
              <a:off x="800" y="192"/>
              <a:ext cx="2736"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IP Data</a:t>
              </a:r>
            </a:p>
          </p:txBody>
        </p:sp>
        <p:sp>
          <p:nvSpPr>
            <p:cNvPr id="56337" name="Rectangle 13"/>
            <p:cNvSpPr>
              <a:spLocks noChangeArrowheads="1"/>
            </p:cNvSpPr>
            <p:nvPr/>
          </p:nvSpPr>
          <p:spPr bwMode="auto">
            <a:xfrm>
              <a:off x="0" y="192"/>
              <a:ext cx="784"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IP</a:t>
              </a:r>
              <a:br>
                <a:rPr lang="zh-CN" altLang="zh-CN">
                  <a:latin typeface="华文楷体" panose="02010600040101010101" pitchFamily="2" charset="-122"/>
                  <a:ea typeface="华文楷体" panose="02010600040101010101" pitchFamily="2" charset="-122"/>
                </a:rPr>
              </a:br>
              <a:r>
                <a:rPr lang="zh-CN" altLang="zh-CN">
                  <a:latin typeface="华文楷体" panose="02010600040101010101" pitchFamily="2" charset="-122"/>
                  <a:ea typeface="华文楷体" panose="02010600040101010101" pitchFamily="2" charset="-122"/>
                </a:rPr>
                <a:t>Header</a:t>
              </a:r>
            </a:p>
          </p:txBody>
        </p:sp>
        <p:sp>
          <p:nvSpPr>
            <p:cNvPr id="56338" name="Line 14"/>
            <p:cNvSpPr>
              <a:spLocks noChangeShapeType="1"/>
            </p:cNvSpPr>
            <p:nvPr/>
          </p:nvSpPr>
          <p:spPr bwMode="auto">
            <a:xfrm>
              <a:off x="792"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9" name="Line 15"/>
            <p:cNvSpPr>
              <a:spLocks noChangeShapeType="1"/>
            </p:cNvSpPr>
            <p:nvPr/>
          </p:nvSpPr>
          <p:spPr bwMode="auto">
            <a:xfrm>
              <a:off x="3545"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Group 16"/>
          <p:cNvGrpSpPr>
            <a:grpSpLocks/>
          </p:cNvGrpSpPr>
          <p:nvPr/>
        </p:nvGrpSpPr>
        <p:grpSpPr bwMode="auto">
          <a:xfrm>
            <a:off x="1893889" y="4535488"/>
            <a:ext cx="8474075" cy="1117600"/>
            <a:chOff x="0" y="0"/>
            <a:chExt cx="5338" cy="704"/>
          </a:xfrm>
        </p:grpSpPr>
        <p:sp>
          <p:nvSpPr>
            <p:cNvPr id="3" name="Rectangle 17"/>
            <p:cNvSpPr>
              <a:spLocks noChangeArrowheads="1"/>
            </p:cNvSpPr>
            <p:nvPr/>
          </p:nvSpPr>
          <p:spPr bwMode="auto">
            <a:xfrm>
              <a:off x="901" y="192"/>
              <a:ext cx="3536"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Ethernet Data</a:t>
              </a:r>
            </a:p>
          </p:txBody>
        </p:sp>
        <p:sp>
          <p:nvSpPr>
            <p:cNvPr id="56332" name="Rectangle 18"/>
            <p:cNvSpPr>
              <a:spLocks noChangeArrowheads="1"/>
            </p:cNvSpPr>
            <p:nvPr/>
          </p:nvSpPr>
          <p:spPr bwMode="auto">
            <a:xfrm>
              <a:off x="0" y="192"/>
              <a:ext cx="884"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Ethernet</a:t>
              </a:r>
              <a:br>
                <a:rPr lang="zh-CN" altLang="zh-CN">
                  <a:latin typeface="华文楷体" panose="02010600040101010101" pitchFamily="2" charset="-122"/>
                  <a:ea typeface="华文楷体" panose="02010600040101010101" pitchFamily="2" charset="-122"/>
                </a:rPr>
              </a:br>
              <a:r>
                <a:rPr lang="zh-CN" altLang="zh-CN">
                  <a:latin typeface="华文楷体" panose="02010600040101010101" pitchFamily="2" charset="-122"/>
                  <a:ea typeface="华文楷体" panose="02010600040101010101" pitchFamily="2" charset="-122"/>
                </a:rPr>
                <a:t>Header</a:t>
              </a:r>
            </a:p>
          </p:txBody>
        </p:sp>
        <p:sp>
          <p:nvSpPr>
            <p:cNvPr id="56333" name="Line 19"/>
            <p:cNvSpPr>
              <a:spLocks noChangeShapeType="1"/>
            </p:cNvSpPr>
            <p:nvPr/>
          </p:nvSpPr>
          <p:spPr bwMode="auto">
            <a:xfrm>
              <a:off x="892"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4" name="Line 20"/>
            <p:cNvSpPr>
              <a:spLocks noChangeShapeType="1"/>
            </p:cNvSpPr>
            <p:nvPr/>
          </p:nvSpPr>
          <p:spPr bwMode="auto">
            <a:xfrm>
              <a:off x="4446" y="0"/>
              <a:ext cx="0" cy="176"/>
            </a:xfrm>
            <a:prstGeom prst="line">
              <a:avLst/>
            </a:prstGeom>
            <a:noFill/>
            <a:ln w="28575">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5" name="Rectangle 21"/>
            <p:cNvSpPr>
              <a:spLocks noChangeArrowheads="1"/>
            </p:cNvSpPr>
            <p:nvPr/>
          </p:nvSpPr>
          <p:spPr bwMode="auto">
            <a:xfrm>
              <a:off x="4454" y="192"/>
              <a:ext cx="884" cy="512"/>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a:latin typeface="华文楷体" panose="02010600040101010101" pitchFamily="2" charset="-122"/>
                  <a:ea typeface="华文楷体" panose="02010600040101010101" pitchFamily="2" charset="-122"/>
                </a:rPr>
                <a:t>Ethernet</a:t>
              </a:r>
              <a:br>
                <a:rPr lang="zh-CN" altLang="zh-CN">
                  <a:latin typeface="华文楷体" panose="02010600040101010101" pitchFamily="2" charset="-122"/>
                  <a:ea typeface="华文楷体" panose="02010600040101010101" pitchFamily="2" charset="-122"/>
                </a:rPr>
              </a:br>
              <a:r>
                <a:rPr lang="zh-CN" altLang="zh-CN">
                  <a:latin typeface="华文楷体" panose="02010600040101010101" pitchFamily="2" charset="-122"/>
                  <a:ea typeface="华文楷体" panose="02010600040101010101" pitchFamily="2" charset="-122"/>
                </a:rPr>
                <a:t>Trailer</a:t>
              </a:r>
            </a:p>
          </p:txBody>
        </p:sp>
      </p:grpSp>
      <p:sp>
        <p:nvSpPr>
          <p:cNvPr id="4" name="AutoShape 22"/>
          <p:cNvSpPr>
            <a:spLocks noChangeArrowheads="1"/>
          </p:cNvSpPr>
          <p:nvPr/>
        </p:nvSpPr>
        <p:spPr bwMode="auto">
          <a:xfrm>
            <a:off x="1835151" y="4152900"/>
            <a:ext cx="1350963" cy="457200"/>
          </a:xfrm>
          <a:prstGeom prst="wedgeRoundRectCallout">
            <a:avLst>
              <a:gd name="adj1" fmla="val 8639"/>
              <a:gd name="adj2" fmla="val 115278"/>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网卡地址</a:t>
            </a:r>
          </a:p>
        </p:txBody>
      </p:sp>
      <p:sp>
        <p:nvSpPr>
          <p:cNvPr id="5" name="AutoShape 23"/>
          <p:cNvSpPr>
            <a:spLocks noChangeArrowheads="1"/>
          </p:cNvSpPr>
          <p:nvPr/>
        </p:nvSpPr>
        <p:spPr bwMode="auto">
          <a:xfrm>
            <a:off x="2881313" y="3098800"/>
            <a:ext cx="1350962" cy="457200"/>
          </a:xfrm>
          <a:prstGeom prst="wedgeRoundRectCallout">
            <a:avLst>
              <a:gd name="adj1" fmla="val 45532"/>
              <a:gd name="adj2" fmla="val 97569"/>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IP地址</a:t>
            </a:r>
          </a:p>
        </p:txBody>
      </p:sp>
      <p:sp>
        <p:nvSpPr>
          <p:cNvPr id="6" name="AutoShape 24"/>
          <p:cNvSpPr>
            <a:spLocks noChangeArrowheads="1"/>
          </p:cNvSpPr>
          <p:nvPr/>
        </p:nvSpPr>
        <p:spPr bwMode="auto">
          <a:xfrm>
            <a:off x="3862388" y="1690688"/>
            <a:ext cx="1657350" cy="762000"/>
          </a:xfrm>
          <a:prstGeom prst="wedgeRoundRectCallout">
            <a:avLst>
              <a:gd name="adj1" fmla="val 45116"/>
              <a:gd name="adj2" fmla="val 67917"/>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应用地址</a:t>
            </a:r>
          </a:p>
          <a:p>
            <a:pPr algn="ctr">
              <a:buFont typeface="Wingdings" panose="05000000000000000000" pitchFamily="2" charset="2"/>
              <a:buNone/>
            </a:pPr>
            <a:r>
              <a:rPr lang="zh-CN" altLang="zh-CN" sz="1600">
                <a:latin typeface="华文楷体" panose="02010600040101010101" pitchFamily="2" charset="-122"/>
                <a:ea typeface="华文楷体" panose="02010600040101010101" pitchFamily="2" charset="-122"/>
              </a:rPr>
              <a:t>（端口号:80）</a:t>
            </a:r>
          </a:p>
        </p:txBody>
      </p:sp>
      <p:sp>
        <p:nvSpPr>
          <p:cNvPr id="7" name="AutoShape 25"/>
          <p:cNvSpPr>
            <a:spLocks noChangeArrowheads="1"/>
          </p:cNvSpPr>
          <p:nvPr/>
        </p:nvSpPr>
        <p:spPr bwMode="auto">
          <a:xfrm>
            <a:off x="9317038" y="4090988"/>
            <a:ext cx="1350962" cy="457200"/>
          </a:xfrm>
          <a:prstGeom prst="wedgeRoundRectCallout">
            <a:avLst>
              <a:gd name="adj1" fmla="val -37778"/>
              <a:gd name="adj2" fmla="val 103472"/>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校验和</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6323"/>
                                        </p:tgtEl>
                                        <p:attrNameLst>
                                          <p:attrName>style.visibility</p:attrName>
                                        </p:attrNameLst>
                                      </p:cBhvr>
                                      <p:to>
                                        <p:strVal val="visible"/>
                                      </p:to>
                                    </p:set>
                                    <p:anim calcmode="lin" valueType="num">
                                      <p:cBhvr additive="base">
                                        <p:cTn id="7" dur="500" fill="hold"/>
                                        <p:tgtEl>
                                          <p:spTgt spid="56323"/>
                                        </p:tgtEl>
                                        <p:attrNameLst>
                                          <p:attrName>ppt_x</p:attrName>
                                        </p:attrNameLst>
                                      </p:cBhvr>
                                      <p:tavLst>
                                        <p:tav tm="0">
                                          <p:val>
                                            <p:strVal val="1+#ppt_w/2"/>
                                          </p:val>
                                        </p:tav>
                                        <p:tav tm="100000">
                                          <p:val>
                                            <p:strVal val="#ppt_x"/>
                                          </p:val>
                                        </p:tav>
                                      </p:tavLst>
                                    </p:anim>
                                    <p:anim calcmode="lin" valueType="num">
                                      <p:cBhvr additive="base">
                                        <p:cTn id="8" dur="500" fill="hold"/>
                                        <p:tgtEl>
                                          <p:spTgt spid="563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6326"/>
                                        </p:tgtEl>
                                        <p:attrNameLst>
                                          <p:attrName>style.visibility</p:attrName>
                                        </p:attrNameLst>
                                      </p:cBhvr>
                                      <p:to>
                                        <p:strVal val="visible"/>
                                      </p:to>
                                    </p:set>
                                    <p:anim calcmode="lin" valueType="num">
                                      <p:cBhvr additive="base">
                                        <p:cTn id="13" dur="500" fill="hold"/>
                                        <p:tgtEl>
                                          <p:spTgt spid="56326"/>
                                        </p:tgtEl>
                                        <p:attrNameLst>
                                          <p:attrName>ppt_x</p:attrName>
                                        </p:attrNameLst>
                                      </p:cBhvr>
                                      <p:tavLst>
                                        <p:tav tm="0">
                                          <p:val>
                                            <p:strVal val="1+#ppt_w/2"/>
                                          </p:val>
                                        </p:tav>
                                        <p:tav tm="100000">
                                          <p:val>
                                            <p:strVal val="#ppt_x"/>
                                          </p:val>
                                        </p:tav>
                                      </p:tavLst>
                                    </p:anim>
                                    <p:anim calcmode="lin" valueType="num">
                                      <p:cBhvr additive="base">
                                        <p:cTn id="14" dur="500" fill="hold"/>
                                        <p:tgtEl>
                                          <p:spTgt spid="5632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56331"/>
                                        </p:tgtEl>
                                        <p:attrNameLst>
                                          <p:attrName>style.visibility</p:attrName>
                                        </p:attrNameLst>
                                      </p:cBhvr>
                                      <p:to>
                                        <p:strVal val="visible"/>
                                      </p:to>
                                    </p:set>
                                    <p:anim calcmode="lin" valueType="num">
                                      <p:cBhvr additive="base">
                                        <p:cTn id="25" dur="500" fill="hold"/>
                                        <p:tgtEl>
                                          <p:spTgt spid="56331"/>
                                        </p:tgtEl>
                                        <p:attrNameLst>
                                          <p:attrName>ppt_x</p:attrName>
                                        </p:attrNameLst>
                                      </p:cBhvr>
                                      <p:tavLst>
                                        <p:tav tm="0">
                                          <p:val>
                                            <p:strVal val="1+#ppt_w/2"/>
                                          </p:val>
                                        </p:tav>
                                        <p:tav tm="100000">
                                          <p:val>
                                            <p:strVal val="#ppt_x"/>
                                          </p:val>
                                        </p:tav>
                                      </p:tavLst>
                                    </p:anim>
                                    <p:anim calcmode="lin" valueType="num">
                                      <p:cBhvr additive="base">
                                        <p:cTn id="26" dur="500" fill="hold"/>
                                        <p:tgtEl>
                                          <p:spTgt spid="5633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1+#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1+#ppt_w/2"/>
                                          </p:val>
                                        </p:tav>
                                        <p:tav tm="100000">
                                          <p:val>
                                            <p:strVal val="#ppt_x"/>
                                          </p:val>
                                        </p:tav>
                                      </p:tavLst>
                                    </p:anim>
                                    <p:anim calcmode="lin" valueType="num">
                                      <p:cBhvr additive="base">
                                        <p:cTn id="4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1+#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未知"/>
          <p:cNvSpPr>
            <a:spLocks noChangeArrowheads="1"/>
          </p:cNvSpPr>
          <p:nvPr/>
        </p:nvSpPr>
        <p:spPr bwMode="auto">
          <a:xfrm>
            <a:off x="5383213" y="1725613"/>
            <a:ext cx="5943600" cy="4451350"/>
          </a:xfrm>
          <a:custGeom>
            <a:avLst/>
            <a:gdLst>
              <a:gd name="T0" fmla="*/ 2439537 w 1340"/>
              <a:gd name="T1" fmla="*/ 156975 h 1191"/>
              <a:gd name="T2" fmla="*/ 363713 w 1340"/>
              <a:gd name="T3" fmla="*/ 224249 h 1191"/>
              <a:gd name="T4" fmla="*/ 257260 w 1340"/>
              <a:gd name="T5" fmla="*/ 1502471 h 1191"/>
              <a:gd name="T6" fmla="*/ 124195 w 1340"/>
              <a:gd name="T7" fmla="*/ 2690992 h 1191"/>
              <a:gd name="T8" fmla="*/ 496779 w 1340"/>
              <a:gd name="T9" fmla="*/ 3251616 h 1191"/>
              <a:gd name="T10" fmla="*/ 2386311 w 1340"/>
              <a:gd name="T11" fmla="*/ 3274041 h 1191"/>
              <a:gd name="T12" fmla="*/ 2838734 w 1340"/>
              <a:gd name="T13" fmla="*/ 4215888 h 1191"/>
              <a:gd name="T14" fmla="*/ 5473435 w 1340"/>
              <a:gd name="T15" fmla="*/ 4103763 h 1191"/>
              <a:gd name="T16" fmla="*/ 5659727 w 1340"/>
              <a:gd name="T17" fmla="*/ 2130369 h 1191"/>
              <a:gd name="T18" fmla="*/ 5340369 w 1340"/>
              <a:gd name="T19" fmla="*/ 1278221 h 1191"/>
              <a:gd name="T20" fmla="*/ 3370997 w 1340"/>
              <a:gd name="T21" fmla="*/ 1076397 h 1191"/>
              <a:gd name="T22" fmla="*/ 2439537 w 1340"/>
              <a:gd name="T23" fmla="*/ 15697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7347" name="Group 3"/>
          <p:cNvGrpSpPr>
            <a:grpSpLocks/>
          </p:cNvGrpSpPr>
          <p:nvPr/>
        </p:nvGrpSpPr>
        <p:grpSpPr bwMode="auto">
          <a:xfrm>
            <a:off x="5743576" y="2076451"/>
            <a:ext cx="2333625" cy="892175"/>
            <a:chOff x="0" y="0"/>
            <a:chExt cx="527" cy="248"/>
          </a:xfrm>
        </p:grpSpPr>
        <p:graphicFrame>
          <p:nvGraphicFramePr>
            <p:cNvPr id="57439" name="Object 4"/>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58038" r:id="rId3" imgW="1305309" imgH="1082518" progId="MS_ClipArt_Gallery.2">
                    <p:embed/>
                  </p:oleObj>
                </mc:Choice>
                <mc:Fallback>
                  <p:oleObj r:id="rId3" imgW="1305309" imgH="1082518"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440" name="Object 5"/>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58039" r:id="rId5" imgW="678163" imgH="477905" progId="MS_ClipArt_Gallery.2">
                    <p:embed/>
                  </p:oleObj>
                </mc:Choice>
                <mc:Fallback>
                  <p:oleObj r:id="rId5" imgW="678163" imgH="477905" progId="MS_ClipArt_Gallery.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441" name="Line 6"/>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48" name="Group 7"/>
          <p:cNvGrpSpPr>
            <a:grpSpLocks/>
          </p:cNvGrpSpPr>
          <p:nvPr/>
        </p:nvGrpSpPr>
        <p:grpSpPr bwMode="auto">
          <a:xfrm>
            <a:off x="5743576" y="3743326"/>
            <a:ext cx="2333625" cy="893763"/>
            <a:chOff x="0" y="0"/>
            <a:chExt cx="527" cy="248"/>
          </a:xfrm>
        </p:grpSpPr>
        <p:graphicFrame>
          <p:nvGraphicFramePr>
            <p:cNvPr id="57436" name="Object 8"/>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58040" r:id="rId7" imgW="1305309" imgH="1082518" progId="MS_ClipArt_Gallery.2">
                    <p:embed/>
                  </p:oleObj>
                </mc:Choice>
                <mc:Fallback>
                  <p:oleObj r:id="rId7" imgW="1305309" imgH="1082518"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437" name="Object 9"/>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58041" r:id="rId8" imgW="678163" imgH="477905" progId="MS_ClipArt_Gallery.2">
                    <p:embed/>
                  </p:oleObj>
                </mc:Choice>
                <mc:Fallback>
                  <p:oleObj r:id="rId8" imgW="678163" imgH="477905"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438" name="Line 10"/>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49" name="Group 11"/>
          <p:cNvGrpSpPr>
            <a:grpSpLocks/>
          </p:cNvGrpSpPr>
          <p:nvPr/>
        </p:nvGrpSpPr>
        <p:grpSpPr bwMode="auto">
          <a:xfrm>
            <a:off x="7443788" y="3119439"/>
            <a:ext cx="165100" cy="600075"/>
            <a:chOff x="0" y="0"/>
            <a:chExt cx="51" cy="167"/>
          </a:xfrm>
        </p:grpSpPr>
        <p:sp>
          <p:nvSpPr>
            <p:cNvPr id="57433" name="Oval 12"/>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34" name="Oval 13"/>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35" name="Oval 14"/>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7350" name="Group 15"/>
          <p:cNvGrpSpPr>
            <a:grpSpLocks/>
          </p:cNvGrpSpPr>
          <p:nvPr/>
        </p:nvGrpSpPr>
        <p:grpSpPr bwMode="auto">
          <a:xfrm>
            <a:off x="8437563" y="4557714"/>
            <a:ext cx="666750" cy="1106487"/>
            <a:chOff x="0" y="0"/>
            <a:chExt cx="150" cy="307"/>
          </a:xfrm>
        </p:grpSpPr>
        <p:sp>
          <p:nvSpPr>
            <p:cNvPr id="57425" name="AutoShape 16"/>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6" name="Rectangle 17"/>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7" name="Rectangle 18"/>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8" name="AutoShape 19"/>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9" name="Line 20"/>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0" name="Line 21"/>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1" name="Rectangle 22"/>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32" name="Rectangle 23"/>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7351" name="Group 24"/>
          <p:cNvGrpSpPr>
            <a:grpSpLocks/>
          </p:cNvGrpSpPr>
          <p:nvPr/>
        </p:nvGrpSpPr>
        <p:grpSpPr bwMode="auto">
          <a:xfrm rot="16200000">
            <a:off x="9448007" y="4729957"/>
            <a:ext cx="227013" cy="742950"/>
            <a:chOff x="0" y="0"/>
            <a:chExt cx="51" cy="167"/>
          </a:xfrm>
        </p:grpSpPr>
        <p:sp>
          <p:nvSpPr>
            <p:cNvPr id="57422" name="Oval 25"/>
            <p:cNvSpPr>
              <a:spLocks noChangeArrowheads="1"/>
            </p:cNvSpPr>
            <p:nvPr/>
          </p:nvSpPr>
          <p:spPr bwMode="auto">
            <a:xfrm>
              <a:off x="0" y="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3" name="Oval 26"/>
            <p:cNvSpPr>
              <a:spLocks noChangeArrowheads="1"/>
            </p:cNvSpPr>
            <p:nvPr/>
          </p:nvSpPr>
          <p:spPr bwMode="auto">
            <a:xfrm>
              <a:off x="2" y="6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4" name="Oval 27"/>
            <p:cNvSpPr>
              <a:spLocks noChangeArrowheads="1"/>
            </p:cNvSpPr>
            <p:nvPr/>
          </p:nvSpPr>
          <p:spPr bwMode="auto">
            <a:xfrm>
              <a:off x="4" y="120"/>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sp>
        <p:nvSpPr>
          <p:cNvPr id="57352" name="Line 28"/>
          <p:cNvSpPr>
            <a:spLocks noChangeShapeType="1"/>
          </p:cNvSpPr>
          <p:nvPr/>
        </p:nvSpPr>
        <p:spPr bwMode="auto">
          <a:xfrm>
            <a:off x="8870951" y="4298951"/>
            <a:ext cx="1577975"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3" name="Line 29"/>
          <p:cNvSpPr>
            <a:spLocks noChangeShapeType="1"/>
          </p:cNvSpPr>
          <p:nvPr/>
        </p:nvSpPr>
        <p:spPr bwMode="auto">
          <a:xfrm>
            <a:off x="8882063" y="4289425"/>
            <a:ext cx="4762" cy="268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4" name="Line 30"/>
          <p:cNvSpPr>
            <a:spLocks noChangeShapeType="1"/>
          </p:cNvSpPr>
          <p:nvPr/>
        </p:nvSpPr>
        <p:spPr bwMode="auto">
          <a:xfrm>
            <a:off x="10460039" y="4284664"/>
            <a:ext cx="3175" cy="231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5" name="Line 31"/>
          <p:cNvSpPr>
            <a:spLocks noChangeShapeType="1"/>
          </p:cNvSpPr>
          <p:nvPr/>
        </p:nvSpPr>
        <p:spPr bwMode="auto">
          <a:xfrm>
            <a:off x="7916863" y="2786063"/>
            <a:ext cx="919162" cy="742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6" name="Line 32"/>
          <p:cNvSpPr>
            <a:spLocks noChangeShapeType="1"/>
          </p:cNvSpPr>
          <p:nvPr/>
        </p:nvSpPr>
        <p:spPr bwMode="auto">
          <a:xfrm flipV="1">
            <a:off x="7956551" y="3587751"/>
            <a:ext cx="879475" cy="923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7" name="Line 33"/>
          <p:cNvSpPr>
            <a:spLocks noChangeShapeType="1"/>
          </p:cNvSpPr>
          <p:nvPr/>
        </p:nvSpPr>
        <p:spPr bwMode="auto">
          <a:xfrm flipV="1">
            <a:off x="9634538" y="3827463"/>
            <a:ext cx="4762"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7358" name="Group 34"/>
          <p:cNvGrpSpPr>
            <a:grpSpLocks/>
          </p:cNvGrpSpPr>
          <p:nvPr/>
        </p:nvGrpSpPr>
        <p:grpSpPr bwMode="auto">
          <a:xfrm>
            <a:off x="10044113" y="4521201"/>
            <a:ext cx="666750" cy="1108075"/>
            <a:chOff x="0" y="0"/>
            <a:chExt cx="150" cy="307"/>
          </a:xfrm>
        </p:grpSpPr>
        <p:sp>
          <p:nvSpPr>
            <p:cNvPr id="57414" name="AutoShape 35"/>
            <p:cNvSpPr>
              <a:spLocks noChangeArrowheads="1"/>
            </p:cNvSpPr>
            <p:nvPr/>
          </p:nvSpPr>
          <p:spPr bwMode="auto">
            <a:xfrm>
              <a:off x="0" y="236"/>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15" name="Rectangle 36"/>
            <p:cNvSpPr>
              <a:spLocks noChangeArrowheads="1"/>
            </p:cNvSpPr>
            <p:nvPr/>
          </p:nvSpPr>
          <p:spPr bwMode="auto">
            <a:xfrm>
              <a:off x="76" y="2"/>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16" name="Rectangle 37"/>
            <p:cNvSpPr>
              <a:spLocks noChangeArrowheads="1"/>
            </p:cNvSpPr>
            <p:nvPr/>
          </p:nvSpPr>
          <p:spPr bwMode="auto">
            <a:xfrm>
              <a:off x="1" y="69"/>
              <a:ext cx="95" cy="236"/>
            </a:xfrm>
            <a:prstGeom prst="rect">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17" name="AutoShape 38"/>
            <p:cNvSpPr>
              <a:spLocks noChangeArrowheads="1"/>
            </p:cNvSpPr>
            <p:nvPr/>
          </p:nvSpPr>
          <p:spPr bwMode="auto">
            <a:xfrm>
              <a:off x="0" y="0"/>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18" name="Line 39"/>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9" name="Line 40"/>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0" name="Rectangle 41"/>
            <p:cNvSpPr>
              <a:spLocks noChangeArrowheads="1"/>
            </p:cNvSpPr>
            <p:nvPr/>
          </p:nvSpPr>
          <p:spPr bwMode="auto">
            <a:xfrm>
              <a:off x="13" y="100"/>
              <a:ext cx="63" cy="136"/>
            </a:xfrm>
            <a:prstGeom prst="rect">
              <a:avLst/>
            </a:prstGeom>
            <a:solidFill>
              <a:schemeClr val="accent2"/>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21" name="Rectangle 42"/>
            <p:cNvSpPr>
              <a:spLocks noChangeArrowheads="1"/>
            </p:cNvSpPr>
            <p:nvPr/>
          </p:nvSpPr>
          <p:spPr bwMode="auto">
            <a:xfrm>
              <a:off x="22" y="141"/>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7359" name="Group 43"/>
          <p:cNvGrpSpPr>
            <a:grpSpLocks/>
          </p:cNvGrpSpPr>
          <p:nvPr/>
        </p:nvGrpSpPr>
        <p:grpSpPr bwMode="auto">
          <a:xfrm>
            <a:off x="8789988" y="3200400"/>
            <a:ext cx="1598612" cy="654050"/>
            <a:chOff x="0" y="0"/>
            <a:chExt cx="360" cy="175"/>
          </a:xfrm>
        </p:grpSpPr>
        <p:sp>
          <p:nvSpPr>
            <p:cNvPr id="57401" name="Oval 44"/>
            <p:cNvSpPr>
              <a:spLocks noChangeArrowheads="1"/>
            </p:cNvSpPr>
            <p:nvPr/>
          </p:nvSpPr>
          <p:spPr bwMode="auto">
            <a:xfrm>
              <a:off x="3" y="78"/>
              <a:ext cx="357" cy="97"/>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402" name="Line 45"/>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3" name="Line 46"/>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4" name="Rectangle 47"/>
            <p:cNvSpPr>
              <a:spLocks noChangeArrowheads="1"/>
            </p:cNvSpPr>
            <p:nvPr/>
          </p:nvSpPr>
          <p:spPr bwMode="auto">
            <a:xfrm>
              <a:off x="3" y="70"/>
              <a:ext cx="354" cy="5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zh-CN" sz="2400">
                <a:latin typeface="Times New Roman" panose="02020603050405020304" pitchFamily="18" charset="0"/>
              </a:endParaRPr>
            </a:p>
          </p:txBody>
        </p:sp>
        <p:sp>
          <p:nvSpPr>
            <p:cNvPr id="57405" name="Oval 48"/>
            <p:cNvSpPr>
              <a:spLocks noChangeArrowheads="1"/>
            </p:cNvSpPr>
            <p:nvPr/>
          </p:nvSpPr>
          <p:spPr bwMode="auto">
            <a:xfrm>
              <a:off x="0" y="0"/>
              <a:ext cx="357" cy="113"/>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57406" name="Group 49"/>
            <p:cNvGrpSpPr>
              <a:grpSpLocks/>
            </p:cNvGrpSpPr>
            <p:nvPr/>
          </p:nvGrpSpPr>
          <p:grpSpPr bwMode="auto">
            <a:xfrm>
              <a:off x="86" y="25"/>
              <a:ext cx="177" cy="66"/>
              <a:chOff x="0" y="0"/>
              <a:chExt cx="140" cy="98"/>
            </a:xfrm>
          </p:grpSpPr>
          <p:sp>
            <p:nvSpPr>
              <p:cNvPr id="57411" name="Line 50"/>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2" name="Line 51"/>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3" name="Line 52"/>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407" name="Group 53"/>
            <p:cNvGrpSpPr>
              <a:grpSpLocks/>
            </p:cNvGrpSpPr>
            <p:nvPr/>
          </p:nvGrpSpPr>
          <p:grpSpPr bwMode="auto">
            <a:xfrm flipV="1">
              <a:off x="86" y="24"/>
              <a:ext cx="177" cy="66"/>
              <a:chOff x="0" y="0"/>
              <a:chExt cx="140" cy="98"/>
            </a:xfrm>
          </p:grpSpPr>
          <p:sp>
            <p:nvSpPr>
              <p:cNvPr id="57408" name="Line 54"/>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9" name="Line 55"/>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0" name="Line 56"/>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 name="Group 57"/>
          <p:cNvGrpSpPr>
            <a:grpSpLocks/>
          </p:cNvGrpSpPr>
          <p:nvPr/>
        </p:nvGrpSpPr>
        <p:grpSpPr bwMode="auto">
          <a:xfrm>
            <a:off x="5683251" y="1485900"/>
            <a:ext cx="5514975" cy="4471988"/>
            <a:chOff x="0" y="0"/>
            <a:chExt cx="3496" cy="2847"/>
          </a:xfrm>
        </p:grpSpPr>
        <p:grpSp>
          <p:nvGrpSpPr>
            <p:cNvPr id="57363" name="Group 58"/>
            <p:cNvGrpSpPr>
              <a:grpSpLocks/>
            </p:cNvGrpSpPr>
            <p:nvPr/>
          </p:nvGrpSpPr>
          <p:grpSpPr bwMode="auto">
            <a:xfrm>
              <a:off x="50" y="0"/>
              <a:ext cx="849" cy="965"/>
              <a:chOff x="0" y="0"/>
              <a:chExt cx="849" cy="965"/>
            </a:xfrm>
          </p:grpSpPr>
          <p:sp>
            <p:nvSpPr>
              <p:cNvPr id="57394" name="Rectangle 59"/>
              <p:cNvSpPr>
                <a:spLocks noChangeArrowheads="1"/>
              </p:cNvSpPr>
              <p:nvPr/>
            </p:nvSpPr>
            <p:spPr bwMode="auto">
              <a:xfrm>
                <a:off x="51"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95" name="Rectangle 60"/>
              <p:cNvSpPr>
                <a:spLocks noChangeArrowheads="1"/>
              </p:cNvSpPr>
              <p:nvPr/>
            </p:nvSpPr>
            <p:spPr bwMode="auto">
              <a:xfrm>
                <a:off x="21"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96" name="Text Box 61"/>
              <p:cNvSpPr txBox="1">
                <a:spLocks noChangeArrowheads="1"/>
              </p:cNvSpPr>
              <p:nvPr/>
            </p:nvSpPr>
            <p:spPr bwMode="auto">
              <a:xfrm>
                <a:off x="0" y="32"/>
                <a:ext cx="836"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7397" name="Line 62"/>
              <p:cNvSpPr>
                <a:spLocks noChangeShapeType="1"/>
              </p:cNvSpPr>
              <p:nvPr/>
            </p:nvSpPr>
            <p:spPr bwMode="auto">
              <a:xfrm flipV="1">
                <a:off x="18"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8" name="Line 63"/>
              <p:cNvSpPr>
                <a:spLocks noChangeShapeType="1"/>
              </p:cNvSpPr>
              <p:nvPr/>
            </p:nvSpPr>
            <p:spPr bwMode="auto">
              <a:xfrm flipV="1">
                <a:off x="30"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9" name="Line 64"/>
              <p:cNvSpPr>
                <a:spLocks noChangeShapeType="1"/>
              </p:cNvSpPr>
              <p:nvPr/>
            </p:nvSpPr>
            <p:spPr bwMode="auto">
              <a:xfrm flipV="1">
                <a:off x="30"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0" name="Line 65"/>
              <p:cNvSpPr>
                <a:spLocks noChangeShapeType="1"/>
              </p:cNvSpPr>
              <p:nvPr/>
            </p:nvSpPr>
            <p:spPr bwMode="auto">
              <a:xfrm flipV="1">
                <a:off x="15"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64" name="Group 66"/>
            <p:cNvGrpSpPr>
              <a:grpSpLocks/>
            </p:cNvGrpSpPr>
            <p:nvPr/>
          </p:nvGrpSpPr>
          <p:grpSpPr bwMode="auto">
            <a:xfrm>
              <a:off x="0" y="1088"/>
              <a:ext cx="850" cy="967"/>
              <a:chOff x="0" y="0"/>
              <a:chExt cx="850" cy="967"/>
            </a:xfrm>
          </p:grpSpPr>
          <p:sp>
            <p:nvSpPr>
              <p:cNvPr id="57387" name="Rectangle 67"/>
              <p:cNvSpPr>
                <a:spLocks noChangeArrowheads="1"/>
              </p:cNvSpPr>
              <p:nvPr/>
            </p:nvSpPr>
            <p:spPr bwMode="auto">
              <a:xfrm>
                <a:off x="52"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88" name="Rectangle 68"/>
              <p:cNvSpPr>
                <a:spLocks noChangeArrowheads="1"/>
              </p:cNvSpPr>
              <p:nvPr/>
            </p:nvSpPr>
            <p:spPr bwMode="auto">
              <a:xfrm>
                <a:off x="22"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89" name="Text Box 69"/>
              <p:cNvSpPr txBox="1">
                <a:spLocks noChangeArrowheads="1"/>
              </p:cNvSpPr>
              <p:nvPr/>
            </p:nvSpPr>
            <p:spPr bwMode="auto">
              <a:xfrm>
                <a:off x="0" y="34"/>
                <a:ext cx="835"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7390" name="Line 70"/>
              <p:cNvSpPr>
                <a:spLocks noChangeShapeType="1"/>
              </p:cNvSpPr>
              <p:nvPr/>
            </p:nvSpPr>
            <p:spPr bwMode="auto">
              <a:xfrm flipV="1">
                <a:off x="19"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1" name="Line 71"/>
              <p:cNvSpPr>
                <a:spLocks noChangeShapeType="1"/>
              </p:cNvSpPr>
              <p:nvPr/>
            </p:nvSpPr>
            <p:spPr bwMode="auto">
              <a:xfrm flipV="1">
                <a:off x="31"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2" name="Line 72"/>
              <p:cNvSpPr>
                <a:spLocks noChangeShapeType="1"/>
              </p:cNvSpPr>
              <p:nvPr/>
            </p:nvSpPr>
            <p:spPr bwMode="auto">
              <a:xfrm flipV="1">
                <a:off x="31"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3" name="Line 73"/>
              <p:cNvSpPr>
                <a:spLocks noChangeShapeType="1"/>
              </p:cNvSpPr>
              <p:nvPr/>
            </p:nvSpPr>
            <p:spPr bwMode="auto">
              <a:xfrm flipV="1">
                <a:off x="16"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65" name="Group 74"/>
            <p:cNvGrpSpPr>
              <a:grpSpLocks/>
            </p:cNvGrpSpPr>
            <p:nvPr/>
          </p:nvGrpSpPr>
          <p:grpSpPr bwMode="auto">
            <a:xfrm>
              <a:off x="1523" y="1884"/>
              <a:ext cx="850" cy="963"/>
              <a:chOff x="0" y="0"/>
              <a:chExt cx="850" cy="963"/>
            </a:xfrm>
          </p:grpSpPr>
          <p:sp>
            <p:nvSpPr>
              <p:cNvPr id="57380" name="Rectangle 75"/>
              <p:cNvSpPr>
                <a:spLocks noChangeArrowheads="1"/>
              </p:cNvSpPr>
              <p:nvPr/>
            </p:nvSpPr>
            <p:spPr bwMode="auto">
              <a:xfrm>
                <a:off x="52"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81" name="Rectangle 76"/>
              <p:cNvSpPr>
                <a:spLocks noChangeArrowheads="1"/>
              </p:cNvSpPr>
              <p:nvPr/>
            </p:nvSpPr>
            <p:spPr bwMode="auto">
              <a:xfrm>
                <a:off x="22"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82" name="Text Box 77"/>
              <p:cNvSpPr txBox="1">
                <a:spLocks noChangeArrowheads="1"/>
              </p:cNvSpPr>
              <p:nvPr/>
            </p:nvSpPr>
            <p:spPr bwMode="auto">
              <a:xfrm>
                <a:off x="0" y="30"/>
                <a:ext cx="835"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7383" name="Line 78"/>
              <p:cNvSpPr>
                <a:spLocks noChangeShapeType="1"/>
              </p:cNvSpPr>
              <p:nvPr/>
            </p:nvSpPr>
            <p:spPr bwMode="auto">
              <a:xfrm flipV="1">
                <a:off x="19"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4" name="Line 79"/>
              <p:cNvSpPr>
                <a:spLocks noChangeShapeType="1"/>
              </p:cNvSpPr>
              <p:nvPr/>
            </p:nvSpPr>
            <p:spPr bwMode="auto">
              <a:xfrm flipV="1">
                <a:off x="31"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5" name="Line 80"/>
              <p:cNvSpPr>
                <a:spLocks noChangeShapeType="1"/>
              </p:cNvSpPr>
              <p:nvPr/>
            </p:nvSpPr>
            <p:spPr bwMode="auto">
              <a:xfrm flipV="1">
                <a:off x="31"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6" name="Line 81"/>
              <p:cNvSpPr>
                <a:spLocks noChangeShapeType="1"/>
              </p:cNvSpPr>
              <p:nvPr/>
            </p:nvSpPr>
            <p:spPr bwMode="auto">
              <a:xfrm flipV="1">
                <a:off x="16"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66" name="Group 82"/>
            <p:cNvGrpSpPr>
              <a:grpSpLocks/>
            </p:cNvGrpSpPr>
            <p:nvPr/>
          </p:nvGrpSpPr>
          <p:grpSpPr bwMode="auto">
            <a:xfrm>
              <a:off x="2646" y="1880"/>
              <a:ext cx="850" cy="965"/>
              <a:chOff x="0" y="0"/>
              <a:chExt cx="850" cy="965"/>
            </a:xfrm>
          </p:grpSpPr>
          <p:sp>
            <p:nvSpPr>
              <p:cNvPr id="57373" name="Rectangle 83"/>
              <p:cNvSpPr>
                <a:spLocks noChangeArrowheads="1"/>
              </p:cNvSpPr>
              <p:nvPr/>
            </p:nvSpPr>
            <p:spPr bwMode="auto">
              <a:xfrm>
                <a:off x="52"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74" name="Rectangle 84"/>
              <p:cNvSpPr>
                <a:spLocks noChangeArrowheads="1"/>
              </p:cNvSpPr>
              <p:nvPr/>
            </p:nvSpPr>
            <p:spPr bwMode="auto">
              <a:xfrm>
                <a:off x="22"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75" name="Text Box 85"/>
              <p:cNvSpPr txBox="1">
                <a:spLocks noChangeArrowheads="1"/>
              </p:cNvSpPr>
              <p:nvPr/>
            </p:nvSpPr>
            <p:spPr bwMode="auto">
              <a:xfrm>
                <a:off x="0" y="32"/>
                <a:ext cx="835"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7376" name="Line 86"/>
              <p:cNvSpPr>
                <a:spLocks noChangeShapeType="1"/>
              </p:cNvSpPr>
              <p:nvPr/>
            </p:nvSpPr>
            <p:spPr bwMode="auto">
              <a:xfrm flipV="1">
                <a:off x="19"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7" name="Line 87"/>
              <p:cNvSpPr>
                <a:spLocks noChangeShapeType="1"/>
              </p:cNvSpPr>
              <p:nvPr/>
            </p:nvSpPr>
            <p:spPr bwMode="auto">
              <a:xfrm flipV="1">
                <a:off x="31"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8" name="Line 88"/>
              <p:cNvSpPr>
                <a:spLocks noChangeShapeType="1"/>
              </p:cNvSpPr>
              <p:nvPr/>
            </p:nvSpPr>
            <p:spPr bwMode="auto">
              <a:xfrm flipV="1">
                <a:off x="31"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9" name="Line 89"/>
              <p:cNvSpPr>
                <a:spLocks noChangeShapeType="1"/>
              </p:cNvSpPr>
              <p:nvPr/>
            </p:nvSpPr>
            <p:spPr bwMode="auto">
              <a:xfrm flipV="1">
                <a:off x="16"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7367" name="Group 90"/>
            <p:cNvGrpSpPr>
              <a:grpSpLocks/>
            </p:cNvGrpSpPr>
            <p:nvPr/>
          </p:nvGrpSpPr>
          <p:grpSpPr bwMode="auto">
            <a:xfrm>
              <a:off x="2050" y="918"/>
              <a:ext cx="832" cy="615"/>
              <a:chOff x="0" y="0"/>
              <a:chExt cx="832" cy="615"/>
            </a:xfrm>
          </p:grpSpPr>
          <p:sp>
            <p:nvSpPr>
              <p:cNvPr id="57368" name="Rectangle 91"/>
              <p:cNvSpPr>
                <a:spLocks noChangeArrowheads="1"/>
              </p:cNvSpPr>
              <p:nvPr/>
            </p:nvSpPr>
            <p:spPr bwMode="auto">
              <a:xfrm>
                <a:off x="34" y="0"/>
                <a:ext cx="798" cy="58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69" name="Rectangle 92"/>
              <p:cNvSpPr>
                <a:spLocks noChangeArrowheads="1"/>
              </p:cNvSpPr>
              <p:nvPr/>
            </p:nvSpPr>
            <p:spPr bwMode="auto">
              <a:xfrm>
                <a:off x="0" y="39"/>
                <a:ext cx="798" cy="56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7370" name="Text Box 93"/>
              <p:cNvSpPr txBox="1">
                <a:spLocks noChangeArrowheads="1"/>
              </p:cNvSpPr>
              <p:nvPr/>
            </p:nvSpPr>
            <p:spPr bwMode="auto">
              <a:xfrm>
                <a:off x="68" y="32"/>
                <a:ext cx="664"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7371" name="Line 94"/>
              <p:cNvSpPr>
                <a:spLocks noChangeShapeType="1"/>
              </p:cNvSpPr>
              <p:nvPr/>
            </p:nvSpPr>
            <p:spPr bwMode="auto">
              <a:xfrm flipV="1">
                <a:off x="1"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2" name="Line 95"/>
              <p:cNvSpPr>
                <a:spLocks noChangeShapeType="1"/>
              </p:cNvSpPr>
              <p:nvPr/>
            </p:nvSpPr>
            <p:spPr bwMode="auto">
              <a:xfrm flipV="1">
                <a:off x="13"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7362" name="Rectangle 97"/>
          <p:cNvSpPr>
            <a:spLocks noGrp="1" noChangeArrowheads="1"/>
          </p:cNvSpPr>
          <p:nvPr>
            <p:ph type="title"/>
          </p:nvPr>
        </p:nvSpPr>
        <p:spPr>
          <a:xfrm>
            <a:off x="4629151" y="244475"/>
            <a:ext cx="2932113" cy="630238"/>
          </a:xfrm>
        </p:spPr>
        <p:txBody>
          <a:bodyPr>
            <a:normAutofit fontScale="90000"/>
          </a:bodyPr>
          <a:lstStyle/>
          <a:p>
            <a:pPr algn="ctr" eaLnBrk="1" hangingPunct="1"/>
            <a:r>
              <a:rPr lang="zh-CN" altLang="zh-CN"/>
              <a:t>逻辑通信</a:t>
            </a:r>
          </a:p>
        </p:txBody>
      </p:sp>
      <p:sp>
        <p:nvSpPr>
          <p:cNvPr id="57361" name="Rectangle 96"/>
          <p:cNvSpPr>
            <a:spLocks noGrp="1" noChangeArrowheads="1"/>
          </p:cNvSpPr>
          <p:nvPr>
            <p:ph sz="half" idx="1"/>
          </p:nvPr>
        </p:nvSpPr>
        <p:spPr>
          <a:xfrm>
            <a:off x="228600" y="1643064"/>
            <a:ext cx="4165600" cy="3570287"/>
          </a:xfrm>
        </p:spPr>
        <p:txBody>
          <a:bodyPr/>
          <a:lstStyle/>
          <a:p>
            <a:pPr eaLnBrk="1" hangingPunct="1">
              <a:buFont typeface="Wingdings" panose="05000000000000000000" pitchFamily="2" charset="2"/>
              <a:buNone/>
            </a:pPr>
            <a:r>
              <a:rPr lang="zh-CN" altLang="zh-CN" b="1">
                <a:latin typeface="华文楷体" panose="02010600040101010101" pitchFamily="2" charset="-122"/>
                <a:ea typeface="华文楷体" panose="02010600040101010101" pitchFamily="2" charset="-122"/>
              </a:rPr>
              <a:t>   每一层:</a:t>
            </a:r>
          </a:p>
          <a:p>
            <a:pPr eaLnBrk="1" hangingPunct="1"/>
            <a:r>
              <a:rPr lang="zh-CN" altLang="zh-CN" b="1">
                <a:latin typeface="华文楷体" panose="02010600040101010101" pitchFamily="2" charset="-122"/>
                <a:ea typeface="华文楷体" panose="02010600040101010101" pitchFamily="2" charset="-122"/>
              </a:rPr>
              <a:t>分布</a:t>
            </a:r>
            <a:r>
              <a:rPr lang="zh-CN" altLang="zh-CN" b="1">
                <a:latin typeface="Comic Sans MS" panose="030F0702030302020204" pitchFamily="66" charset="0"/>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实体</a:t>
            </a:r>
            <a:r>
              <a:rPr lang="zh-CN" altLang="zh-CN" b="1">
                <a:latin typeface="Comic Sans MS" panose="030F0702030302020204" pitchFamily="66" charset="0"/>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 </a:t>
            </a:r>
          </a:p>
          <a:p>
            <a:pPr eaLnBrk="1" hangingPunct="1"/>
            <a:r>
              <a:rPr lang="zh-CN" altLang="zh-CN" b="1">
                <a:latin typeface="华文楷体" panose="02010600040101010101" pitchFamily="2" charset="-122"/>
                <a:ea typeface="华文楷体" panose="02010600040101010101" pitchFamily="2" charset="-122"/>
              </a:rPr>
              <a:t>在各节点实现各层功能 </a:t>
            </a:r>
          </a:p>
          <a:p>
            <a:pPr eaLnBrk="1" hangingPunct="1"/>
            <a:r>
              <a:rPr lang="zh-CN" altLang="zh-CN" b="1">
                <a:latin typeface="华文楷体" panose="02010600040101010101" pitchFamily="2" charset="-122"/>
                <a:ea typeface="华文楷体" panose="02010600040101010101" pitchFamily="2" charset="-122"/>
              </a:rPr>
              <a:t>对等实体之间相互通信,交换报文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405314" y="214314"/>
            <a:ext cx="3379787" cy="655637"/>
          </a:xfrm>
        </p:spPr>
        <p:txBody>
          <a:bodyPr>
            <a:normAutofit fontScale="90000"/>
          </a:bodyPr>
          <a:lstStyle/>
          <a:p>
            <a:pPr algn="ctr" eaLnBrk="1" hangingPunct="1"/>
            <a:r>
              <a:rPr lang="zh-CN" altLang="zh-CN"/>
              <a:t>逻辑通信</a:t>
            </a:r>
          </a:p>
        </p:txBody>
      </p:sp>
      <p:sp>
        <p:nvSpPr>
          <p:cNvPr id="58371" name="未知"/>
          <p:cNvSpPr>
            <a:spLocks noChangeArrowheads="1"/>
          </p:cNvSpPr>
          <p:nvPr/>
        </p:nvSpPr>
        <p:spPr bwMode="auto">
          <a:xfrm>
            <a:off x="4724400" y="2016125"/>
            <a:ext cx="5943600" cy="4451350"/>
          </a:xfrm>
          <a:custGeom>
            <a:avLst/>
            <a:gdLst>
              <a:gd name="T0" fmla="*/ 2439537 w 1340"/>
              <a:gd name="T1" fmla="*/ 156975 h 1191"/>
              <a:gd name="T2" fmla="*/ 363713 w 1340"/>
              <a:gd name="T3" fmla="*/ 224249 h 1191"/>
              <a:gd name="T4" fmla="*/ 257260 w 1340"/>
              <a:gd name="T5" fmla="*/ 1502471 h 1191"/>
              <a:gd name="T6" fmla="*/ 124195 w 1340"/>
              <a:gd name="T7" fmla="*/ 2690992 h 1191"/>
              <a:gd name="T8" fmla="*/ 496779 w 1340"/>
              <a:gd name="T9" fmla="*/ 3251616 h 1191"/>
              <a:gd name="T10" fmla="*/ 2386311 w 1340"/>
              <a:gd name="T11" fmla="*/ 3274041 h 1191"/>
              <a:gd name="T12" fmla="*/ 2838734 w 1340"/>
              <a:gd name="T13" fmla="*/ 4215888 h 1191"/>
              <a:gd name="T14" fmla="*/ 5473435 w 1340"/>
              <a:gd name="T15" fmla="*/ 4103763 h 1191"/>
              <a:gd name="T16" fmla="*/ 5659727 w 1340"/>
              <a:gd name="T17" fmla="*/ 2130369 h 1191"/>
              <a:gd name="T18" fmla="*/ 5340369 w 1340"/>
              <a:gd name="T19" fmla="*/ 1278221 h 1191"/>
              <a:gd name="T20" fmla="*/ 3370997 w 1340"/>
              <a:gd name="T21" fmla="*/ 1076397 h 1191"/>
              <a:gd name="T22" fmla="*/ 2439537 w 1340"/>
              <a:gd name="T23" fmla="*/ 15697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66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58372" name="Object 4"/>
          <p:cNvGraphicFramePr>
            <a:graphicFrameLocks noChangeAspect="1"/>
          </p:cNvGraphicFramePr>
          <p:nvPr/>
        </p:nvGraphicFramePr>
        <p:xfrm>
          <a:off x="5084764" y="2366964"/>
          <a:ext cx="1323975" cy="892175"/>
        </p:xfrm>
        <a:graphic>
          <a:graphicData uri="http://schemas.openxmlformats.org/presentationml/2006/ole">
            <mc:AlternateContent xmlns:mc="http://schemas.openxmlformats.org/markup-compatibility/2006">
              <mc:Choice xmlns:v="urn:schemas-microsoft-com:vml" Requires="v">
                <p:oleObj spid="_x0000_s58774" r:id="rId3" imgW="1305309" imgH="1082518" progId="MS_ClipArt_Gallery.2">
                  <p:embed/>
                </p:oleObj>
              </mc:Choice>
              <mc:Fallback>
                <p:oleObj r:id="rId3" imgW="1305309" imgH="1082518"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4764" y="2366964"/>
                        <a:ext cx="13239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3" name="Line 5"/>
          <p:cNvSpPr>
            <a:spLocks noChangeShapeType="1"/>
          </p:cNvSpPr>
          <p:nvPr/>
        </p:nvSpPr>
        <p:spPr bwMode="auto">
          <a:xfrm flipV="1">
            <a:off x="6376989" y="3043239"/>
            <a:ext cx="363537" cy="79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8374" name="Object 6"/>
          <p:cNvGraphicFramePr>
            <a:graphicFrameLocks noChangeAspect="1"/>
          </p:cNvGraphicFramePr>
          <p:nvPr/>
        </p:nvGraphicFramePr>
        <p:xfrm>
          <a:off x="5084764" y="4033838"/>
          <a:ext cx="1323975" cy="893762"/>
        </p:xfrm>
        <a:graphic>
          <a:graphicData uri="http://schemas.openxmlformats.org/presentationml/2006/ole">
            <mc:AlternateContent xmlns:mc="http://schemas.openxmlformats.org/markup-compatibility/2006">
              <mc:Choice xmlns:v="urn:schemas-microsoft-com:vml" Requires="v">
                <p:oleObj spid="_x0000_s58775" r:id="rId5" imgW="1305309" imgH="1082518" progId="MS_ClipArt_Gallery.2">
                  <p:embed/>
                </p:oleObj>
              </mc:Choice>
              <mc:Fallback>
                <p:oleObj r:id="rId5" imgW="1305309" imgH="1082518"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4764" y="4033838"/>
                        <a:ext cx="1323975"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5" name="Line 7"/>
          <p:cNvSpPr>
            <a:spLocks noChangeShapeType="1"/>
          </p:cNvSpPr>
          <p:nvPr/>
        </p:nvSpPr>
        <p:spPr bwMode="auto">
          <a:xfrm flipV="1">
            <a:off x="6376989" y="4711700"/>
            <a:ext cx="363537"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6" name="Oval 8"/>
          <p:cNvSpPr>
            <a:spLocks noChangeArrowheads="1"/>
          </p:cNvSpPr>
          <p:nvPr/>
        </p:nvSpPr>
        <p:spPr bwMode="auto">
          <a:xfrm>
            <a:off x="6784975" y="3409951"/>
            <a:ext cx="152400" cy="1682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77" name="Oval 9"/>
          <p:cNvSpPr>
            <a:spLocks noChangeArrowheads="1"/>
          </p:cNvSpPr>
          <p:nvPr/>
        </p:nvSpPr>
        <p:spPr bwMode="auto">
          <a:xfrm>
            <a:off x="6791325" y="3625851"/>
            <a:ext cx="152400" cy="1682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78" name="Oval 10"/>
          <p:cNvSpPr>
            <a:spLocks noChangeArrowheads="1"/>
          </p:cNvSpPr>
          <p:nvPr/>
        </p:nvSpPr>
        <p:spPr bwMode="auto">
          <a:xfrm>
            <a:off x="6797675" y="3841751"/>
            <a:ext cx="152400" cy="1682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79" name="AutoShape 11"/>
          <p:cNvSpPr>
            <a:spLocks noChangeArrowheads="1"/>
          </p:cNvSpPr>
          <p:nvPr/>
        </p:nvSpPr>
        <p:spPr bwMode="auto">
          <a:xfrm>
            <a:off x="7778750" y="5699125"/>
            <a:ext cx="666750" cy="255588"/>
          </a:xfrm>
          <a:prstGeom prst="parallelogram">
            <a:avLst>
              <a:gd name="adj" fmla="val 100495"/>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0" name="Rectangle 12"/>
          <p:cNvSpPr>
            <a:spLocks noChangeArrowheads="1"/>
          </p:cNvSpPr>
          <p:nvPr/>
        </p:nvSpPr>
        <p:spPr bwMode="auto">
          <a:xfrm>
            <a:off x="8116889" y="4856163"/>
            <a:ext cx="306387" cy="849312"/>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1" name="Rectangle 13"/>
          <p:cNvSpPr>
            <a:spLocks noChangeArrowheads="1"/>
          </p:cNvSpPr>
          <p:nvPr/>
        </p:nvSpPr>
        <p:spPr bwMode="auto">
          <a:xfrm>
            <a:off x="7783514" y="5097463"/>
            <a:ext cx="422275" cy="849312"/>
          </a:xfrm>
          <a:prstGeom prst="rect">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2" name="AutoShape 14"/>
          <p:cNvSpPr>
            <a:spLocks noChangeArrowheads="1"/>
          </p:cNvSpPr>
          <p:nvPr/>
        </p:nvSpPr>
        <p:spPr bwMode="auto">
          <a:xfrm>
            <a:off x="7778750" y="4848225"/>
            <a:ext cx="666750" cy="255588"/>
          </a:xfrm>
          <a:prstGeom prst="parallelogram">
            <a:avLst>
              <a:gd name="adj" fmla="val 100495"/>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3" name="Line 15"/>
          <p:cNvSpPr>
            <a:spLocks noChangeShapeType="1"/>
          </p:cNvSpPr>
          <p:nvPr/>
        </p:nvSpPr>
        <p:spPr bwMode="auto">
          <a:xfrm>
            <a:off x="8445500" y="4865689"/>
            <a:ext cx="0" cy="833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4" name="Line 16"/>
          <p:cNvSpPr>
            <a:spLocks noChangeShapeType="1"/>
          </p:cNvSpPr>
          <p:nvPr/>
        </p:nvSpPr>
        <p:spPr bwMode="auto">
          <a:xfrm flipH="1">
            <a:off x="8205788" y="5699125"/>
            <a:ext cx="239712" cy="247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5" name="Rectangle 17"/>
          <p:cNvSpPr>
            <a:spLocks noChangeArrowheads="1"/>
          </p:cNvSpPr>
          <p:nvPr/>
        </p:nvSpPr>
        <p:spPr bwMode="auto">
          <a:xfrm>
            <a:off x="7835900" y="5208589"/>
            <a:ext cx="280988" cy="490537"/>
          </a:xfrm>
          <a:prstGeom prst="rect">
            <a:avLst/>
          </a:prstGeom>
          <a:solidFill>
            <a:schemeClr val="accent2"/>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6" name="Rectangle 18"/>
          <p:cNvSpPr>
            <a:spLocks noChangeArrowheads="1"/>
          </p:cNvSpPr>
          <p:nvPr/>
        </p:nvSpPr>
        <p:spPr bwMode="auto">
          <a:xfrm>
            <a:off x="7877176" y="5356225"/>
            <a:ext cx="212725" cy="173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7" name="Oval 19"/>
          <p:cNvSpPr>
            <a:spLocks noChangeArrowheads="1"/>
          </p:cNvSpPr>
          <p:nvPr/>
        </p:nvSpPr>
        <p:spPr bwMode="auto">
          <a:xfrm rot="16200000">
            <a:off x="8529638" y="5295900"/>
            <a:ext cx="209550" cy="20955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8" name="Oval 20"/>
          <p:cNvSpPr>
            <a:spLocks noChangeArrowheads="1"/>
          </p:cNvSpPr>
          <p:nvPr/>
        </p:nvSpPr>
        <p:spPr bwMode="auto">
          <a:xfrm rot="16200000">
            <a:off x="8797132" y="5285582"/>
            <a:ext cx="207963" cy="20955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89" name="Oval 21"/>
          <p:cNvSpPr>
            <a:spLocks noChangeArrowheads="1"/>
          </p:cNvSpPr>
          <p:nvPr/>
        </p:nvSpPr>
        <p:spPr bwMode="auto">
          <a:xfrm rot="16200000">
            <a:off x="9063038" y="5278438"/>
            <a:ext cx="209550" cy="20955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90" name="Line 22"/>
          <p:cNvSpPr>
            <a:spLocks noChangeShapeType="1"/>
          </p:cNvSpPr>
          <p:nvPr/>
        </p:nvSpPr>
        <p:spPr bwMode="auto">
          <a:xfrm>
            <a:off x="8212139" y="4589464"/>
            <a:ext cx="1577975"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1" name="Line 23"/>
          <p:cNvSpPr>
            <a:spLocks noChangeShapeType="1"/>
          </p:cNvSpPr>
          <p:nvPr/>
        </p:nvSpPr>
        <p:spPr bwMode="auto">
          <a:xfrm>
            <a:off x="8223251" y="4579939"/>
            <a:ext cx="4763" cy="2682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2" name="Line 24"/>
          <p:cNvSpPr>
            <a:spLocks noChangeShapeType="1"/>
          </p:cNvSpPr>
          <p:nvPr/>
        </p:nvSpPr>
        <p:spPr bwMode="auto">
          <a:xfrm>
            <a:off x="9801226" y="4575176"/>
            <a:ext cx="3175" cy="231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3" name="Line 25"/>
          <p:cNvSpPr>
            <a:spLocks noChangeShapeType="1"/>
          </p:cNvSpPr>
          <p:nvPr/>
        </p:nvSpPr>
        <p:spPr bwMode="auto">
          <a:xfrm>
            <a:off x="7258051" y="3076575"/>
            <a:ext cx="919163" cy="742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4" name="Line 26"/>
          <p:cNvSpPr>
            <a:spLocks noChangeShapeType="1"/>
          </p:cNvSpPr>
          <p:nvPr/>
        </p:nvSpPr>
        <p:spPr bwMode="auto">
          <a:xfrm flipV="1">
            <a:off x="7297739" y="3878264"/>
            <a:ext cx="879475" cy="923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5" name="Line 27"/>
          <p:cNvSpPr>
            <a:spLocks noChangeShapeType="1"/>
          </p:cNvSpPr>
          <p:nvPr/>
        </p:nvSpPr>
        <p:spPr bwMode="auto">
          <a:xfrm flipV="1">
            <a:off x="8975726" y="4117975"/>
            <a:ext cx="4763"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6" name="AutoShape 28"/>
          <p:cNvSpPr>
            <a:spLocks noChangeArrowheads="1"/>
          </p:cNvSpPr>
          <p:nvPr/>
        </p:nvSpPr>
        <p:spPr bwMode="auto">
          <a:xfrm>
            <a:off x="9385300" y="5664200"/>
            <a:ext cx="666750" cy="255588"/>
          </a:xfrm>
          <a:prstGeom prst="parallelogram">
            <a:avLst>
              <a:gd name="adj" fmla="val 100495"/>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97" name="Rectangle 29"/>
          <p:cNvSpPr>
            <a:spLocks noChangeArrowheads="1"/>
          </p:cNvSpPr>
          <p:nvPr/>
        </p:nvSpPr>
        <p:spPr bwMode="auto">
          <a:xfrm>
            <a:off x="9723439" y="4819650"/>
            <a:ext cx="306387" cy="8509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98" name="Rectangle 30"/>
          <p:cNvSpPr>
            <a:spLocks noChangeArrowheads="1"/>
          </p:cNvSpPr>
          <p:nvPr/>
        </p:nvSpPr>
        <p:spPr bwMode="auto">
          <a:xfrm>
            <a:off x="9390064" y="5060950"/>
            <a:ext cx="422275" cy="850900"/>
          </a:xfrm>
          <a:prstGeom prst="rect">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399" name="AutoShape 31"/>
          <p:cNvSpPr>
            <a:spLocks noChangeArrowheads="1"/>
          </p:cNvSpPr>
          <p:nvPr/>
        </p:nvSpPr>
        <p:spPr bwMode="auto">
          <a:xfrm>
            <a:off x="9385300" y="4811714"/>
            <a:ext cx="666750" cy="255587"/>
          </a:xfrm>
          <a:prstGeom prst="parallelogram">
            <a:avLst>
              <a:gd name="adj" fmla="val 100495"/>
            </a:avLst>
          </a:prstGeom>
          <a:solidFill>
            <a:srgbClr val="33CCCC"/>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00" name="Line 32"/>
          <p:cNvSpPr>
            <a:spLocks noChangeShapeType="1"/>
          </p:cNvSpPr>
          <p:nvPr/>
        </p:nvSpPr>
        <p:spPr bwMode="auto">
          <a:xfrm>
            <a:off x="10052050" y="4829176"/>
            <a:ext cx="0" cy="835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1" name="Line 33"/>
          <p:cNvSpPr>
            <a:spLocks noChangeShapeType="1"/>
          </p:cNvSpPr>
          <p:nvPr/>
        </p:nvSpPr>
        <p:spPr bwMode="auto">
          <a:xfrm flipH="1">
            <a:off x="9812338" y="5664200"/>
            <a:ext cx="239712" cy="247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2" name="Rectangle 34"/>
          <p:cNvSpPr>
            <a:spLocks noChangeArrowheads="1"/>
          </p:cNvSpPr>
          <p:nvPr/>
        </p:nvSpPr>
        <p:spPr bwMode="auto">
          <a:xfrm>
            <a:off x="9442450" y="5172076"/>
            <a:ext cx="280988" cy="492125"/>
          </a:xfrm>
          <a:prstGeom prst="rect">
            <a:avLst/>
          </a:prstGeom>
          <a:solidFill>
            <a:schemeClr val="accent2"/>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03" name="Rectangle 35"/>
          <p:cNvSpPr>
            <a:spLocks noChangeArrowheads="1"/>
          </p:cNvSpPr>
          <p:nvPr/>
        </p:nvSpPr>
        <p:spPr bwMode="auto">
          <a:xfrm>
            <a:off x="9483726" y="5321300"/>
            <a:ext cx="212725" cy="173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04" name="Oval 36"/>
          <p:cNvSpPr>
            <a:spLocks noChangeArrowheads="1"/>
          </p:cNvSpPr>
          <p:nvPr/>
        </p:nvSpPr>
        <p:spPr bwMode="auto">
          <a:xfrm>
            <a:off x="8143876" y="3783013"/>
            <a:ext cx="1585913" cy="361950"/>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05" name="Line 37"/>
          <p:cNvSpPr>
            <a:spLocks noChangeShapeType="1"/>
          </p:cNvSpPr>
          <p:nvPr/>
        </p:nvSpPr>
        <p:spPr bwMode="auto">
          <a:xfrm>
            <a:off x="8143875" y="37528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6" name="Line 38"/>
          <p:cNvSpPr>
            <a:spLocks noChangeShapeType="1"/>
          </p:cNvSpPr>
          <p:nvPr/>
        </p:nvSpPr>
        <p:spPr bwMode="auto">
          <a:xfrm>
            <a:off x="9729788" y="3752850"/>
            <a:ext cx="0" cy="223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7" name="Rectangle 39"/>
          <p:cNvSpPr>
            <a:spLocks noChangeArrowheads="1"/>
          </p:cNvSpPr>
          <p:nvPr/>
        </p:nvSpPr>
        <p:spPr bwMode="auto">
          <a:xfrm>
            <a:off x="8143876" y="3752851"/>
            <a:ext cx="1573213" cy="22066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zh-CN" sz="2400">
              <a:latin typeface="华文楷体" panose="02010600040101010101" pitchFamily="2" charset="-122"/>
              <a:ea typeface="华文楷体" panose="02010600040101010101" pitchFamily="2" charset="-122"/>
            </a:endParaRPr>
          </a:p>
        </p:txBody>
      </p:sp>
      <p:sp>
        <p:nvSpPr>
          <p:cNvPr id="58408" name="Oval 40"/>
          <p:cNvSpPr>
            <a:spLocks noChangeArrowheads="1"/>
          </p:cNvSpPr>
          <p:nvPr/>
        </p:nvSpPr>
        <p:spPr bwMode="auto">
          <a:xfrm>
            <a:off x="8131176" y="3490914"/>
            <a:ext cx="1585913" cy="422275"/>
          </a:xfrm>
          <a:prstGeom prst="ellipse">
            <a:avLst/>
          </a:prstGeom>
          <a:solidFill>
            <a:schemeClr val="hlink"/>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09" name="Line 41"/>
          <p:cNvSpPr>
            <a:spLocks noChangeShapeType="1"/>
          </p:cNvSpPr>
          <p:nvPr/>
        </p:nvSpPr>
        <p:spPr bwMode="auto">
          <a:xfrm flipV="1">
            <a:off x="8513764" y="3584576"/>
            <a:ext cx="280987"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0" name="Line 42"/>
          <p:cNvSpPr>
            <a:spLocks noChangeShapeType="1"/>
          </p:cNvSpPr>
          <p:nvPr/>
        </p:nvSpPr>
        <p:spPr bwMode="auto">
          <a:xfrm>
            <a:off x="9051925" y="3830638"/>
            <a:ext cx="247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1" name="Line 43"/>
          <p:cNvSpPr>
            <a:spLocks noChangeShapeType="1"/>
          </p:cNvSpPr>
          <p:nvPr/>
        </p:nvSpPr>
        <p:spPr bwMode="auto">
          <a:xfrm>
            <a:off x="8772525" y="3589338"/>
            <a:ext cx="292100" cy="241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2" name="Line 44"/>
          <p:cNvSpPr>
            <a:spLocks noChangeShapeType="1"/>
          </p:cNvSpPr>
          <p:nvPr/>
        </p:nvSpPr>
        <p:spPr bwMode="auto">
          <a:xfrm>
            <a:off x="8513764" y="3822701"/>
            <a:ext cx="280987"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3" name="Line 45"/>
          <p:cNvSpPr>
            <a:spLocks noChangeShapeType="1"/>
          </p:cNvSpPr>
          <p:nvPr/>
        </p:nvSpPr>
        <p:spPr bwMode="auto">
          <a:xfrm flipV="1">
            <a:off x="9051925" y="3581400"/>
            <a:ext cx="247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4" name="Line 46"/>
          <p:cNvSpPr>
            <a:spLocks noChangeShapeType="1"/>
          </p:cNvSpPr>
          <p:nvPr/>
        </p:nvSpPr>
        <p:spPr bwMode="auto">
          <a:xfrm flipV="1">
            <a:off x="8772525" y="3581400"/>
            <a:ext cx="292100" cy="241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5" name="Rectangle 47"/>
          <p:cNvSpPr>
            <a:spLocks noChangeArrowheads="1"/>
          </p:cNvSpPr>
          <p:nvPr/>
        </p:nvSpPr>
        <p:spPr bwMode="auto">
          <a:xfrm>
            <a:off x="5184775" y="1776414"/>
            <a:ext cx="1257300" cy="14192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16" name="Rectangle 48"/>
          <p:cNvSpPr>
            <a:spLocks noChangeArrowheads="1"/>
          </p:cNvSpPr>
          <p:nvPr/>
        </p:nvSpPr>
        <p:spPr bwMode="auto">
          <a:xfrm>
            <a:off x="5137150" y="1838325"/>
            <a:ext cx="1257300" cy="1417638"/>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17" name="Text Box 49"/>
          <p:cNvSpPr txBox="1">
            <a:spLocks noChangeArrowheads="1"/>
          </p:cNvSpPr>
          <p:nvPr/>
        </p:nvSpPr>
        <p:spPr bwMode="auto">
          <a:xfrm>
            <a:off x="5186364" y="1833563"/>
            <a:ext cx="1150937"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link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physical</a:t>
            </a:r>
          </a:p>
        </p:txBody>
      </p:sp>
      <p:sp>
        <p:nvSpPr>
          <p:cNvPr id="58418" name="Line 50"/>
          <p:cNvSpPr>
            <a:spLocks noChangeShapeType="1"/>
          </p:cNvSpPr>
          <p:nvPr/>
        </p:nvSpPr>
        <p:spPr bwMode="auto">
          <a:xfrm flipV="1">
            <a:off x="5132388" y="2154239"/>
            <a:ext cx="1243012"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9" name="Line 51"/>
          <p:cNvSpPr>
            <a:spLocks noChangeShapeType="1"/>
          </p:cNvSpPr>
          <p:nvPr/>
        </p:nvSpPr>
        <p:spPr bwMode="auto">
          <a:xfrm flipV="1">
            <a:off x="5151438" y="2436813"/>
            <a:ext cx="1243012"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0" name="Line 52"/>
          <p:cNvSpPr>
            <a:spLocks noChangeShapeType="1"/>
          </p:cNvSpPr>
          <p:nvPr/>
        </p:nvSpPr>
        <p:spPr bwMode="auto">
          <a:xfrm flipV="1">
            <a:off x="5151438" y="2690813"/>
            <a:ext cx="1243012"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1" name="Line 53"/>
          <p:cNvSpPr>
            <a:spLocks noChangeShapeType="1"/>
          </p:cNvSpPr>
          <p:nvPr/>
        </p:nvSpPr>
        <p:spPr bwMode="auto">
          <a:xfrm flipV="1">
            <a:off x="5127626" y="2968626"/>
            <a:ext cx="1243013"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2" name="Rectangle 54"/>
          <p:cNvSpPr>
            <a:spLocks noChangeArrowheads="1"/>
          </p:cNvSpPr>
          <p:nvPr/>
        </p:nvSpPr>
        <p:spPr bwMode="auto">
          <a:xfrm>
            <a:off x="5106989" y="3486150"/>
            <a:ext cx="1258887" cy="14176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23" name="Rectangle 55"/>
          <p:cNvSpPr>
            <a:spLocks noChangeArrowheads="1"/>
          </p:cNvSpPr>
          <p:nvPr/>
        </p:nvSpPr>
        <p:spPr bwMode="auto">
          <a:xfrm>
            <a:off x="5059364" y="3548063"/>
            <a:ext cx="1258887" cy="1416050"/>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24" name="Text Box 56"/>
          <p:cNvSpPr txBox="1">
            <a:spLocks noChangeArrowheads="1"/>
          </p:cNvSpPr>
          <p:nvPr/>
        </p:nvSpPr>
        <p:spPr bwMode="auto">
          <a:xfrm>
            <a:off x="5106989" y="3546476"/>
            <a:ext cx="1150937"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link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physical</a:t>
            </a:r>
          </a:p>
        </p:txBody>
      </p:sp>
      <p:sp>
        <p:nvSpPr>
          <p:cNvPr id="58425" name="Line 57"/>
          <p:cNvSpPr>
            <a:spLocks noChangeShapeType="1"/>
          </p:cNvSpPr>
          <p:nvPr/>
        </p:nvSpPr>
        <p:spPr bwMode="auto">
          <a:xfrm flipV="1">
            <a:off x="5054600" y="3862388"/>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6" name="Line 58"/>
          <p:cNvSpPr>
            <a:spLocks noChangeShapeType="1"/>
          </p:cNvSpPr>
          <p:nvPr/>
        </p:nvSpPr>
        <p:spPr bwMode="auto">
          <a:xfrm flipV="1">
            <a:off x="5073650" y="414496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7" name="Line 59"/>
          <p:cNvSpPr>
            <a:spLocks noChangeShapeType="1"/>
          </p:cNvSpPr>
          <p:nvPr/>
        </p:nvSpPr>
        <p:spPr bwMode="auto">
          <a:xfrm flipV="1">
            <a:off x="5073650" y="439896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8" name="Line 60"/>
          <p:cNvSpPr>
            <a:spLocks noChangeShapeType="1"/>
          </p:cNvSpPr>
          <p:nvPr/>
        </p:nvSpPr>
        <p:spPr bwMode="auto">
          <a:xfrm flipV="1">
            <a:off x="5049838" y="4676776"/>
            <a:ext cx="1244600"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9" name="Rectangle 61"/>
          <p:cNvSpPr>
            <a:spLocks noChangeArrowheads="1"/>
          </p:cNvSpPr>
          <p:nvPr/>
        </p:nvSpPr>
        <p:spPr bwMode="auto">
          <a:xfrm>
            <a:off x="7508875" y="4735514"/>
            <a:ext cx="1258888" cy="14192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30" name="Rectangle 62"/>
          <p:cNvSpPr>
            <a:spLocks noChangeArrowheads="1"/>
          </p:cNvSpPr>
          <p:nvPr/>
        </p:nvSpPr>
        <p:spPr bwMode="auto">
          <a:xfrm>
            <a:off x="7461250" y="4797425"/>
            <a:ext cx="1258888" cy="1417638"/>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31" name="Text Box 63"/>
          <p:cNvSpPr txBox="1">
            <a:spLocks noChangeArrowheads="1"/>
          </p:cNvSpPr>
          <p:nvPr/>
        </p:nvSpPr>
        <p:spPr bwMode="auto">
          <a:xfrm>
            <a:off x="7508875" y="4789488"/>
            <a:ext cx="1150938"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link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physical</a:t>
            </a:r>
          </a:p>
        </p:txBody>
      </p:sp>
      <p:sp>
        <p:nvSpPr>
          <p:cNvPr id="58432" name="Line 64"/>
          <p:cNvSpPr>
            <a:spLocks noChangeShapeType="1"/>
          </p:cNvSpPr>
          <p:nvPr/>
        </p:nvSpPr>
        <p:spPr bwMode="auto">
          <a:xfrm flipV="1">
            <a:off x="7456488" y="5113339"/>
            <a:ext cx="124460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3" name="Line 65"/>
          <p:cNvSpPr>
            <a:spLocks noChangeShapeType="1"/>
          </p:cNvSpPr>
          <p:nvPr/>
        </p:nvSpPr>
        <p:spPr bwMode="auto">
          <a:xfrm flipV="1">
            <a:off x="7475538" y="539591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4" name="Line 66"/>
          <p:cNvSpPr>
            <a:spLocks noChangeShapeType="1"/>
          </p:cNvSpPr>
          <p:nvPr/>
        </p:nvSpPr>
        <p:spPr bwMode="auto">
          <a:xfrm flipV="1">
            <a:off x="7475538" y="564991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5" name="Line 67"/>
          <p:cNvSpPr>
            <a:spLocks noChangeShapeType="1"/>
          </p:cNvSpPr>
          <p:nvPr/>
        </p:nvSpPr>
        <p:spPr bwMode="auto">
          <a:xfrm flipV="1">
            <a:off x="7451725" y="5927726"/>
            <a:ext cx="1244600"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6" name="Rectangle 68"/>
          <p:cNvSpPr>
            <a:spLocks noChangeArrowheads="1"/>
          </p:cNvSpPr>
          <p:nvPr/>
        </p:nvSpPr>
        <p:spPr bwMode="auto">
          <a:xfrm>
            <a:off x="9280525" y="4729164"/>
            <a:ext cx="1258888" cy="14192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37" name="Rectangle 69"/>
          <p:cNvSpPr>
            <a:spLocks noChangeArrowheads="1"/>
          </p:cNvSpPr>
          <p:nvPr/>
        </p:nvSpPr>
        <p:spPr bwMode="auto">
          <a:xfrm>
            <a:off x="9232900" y="4791075"/>
            <a:ext cx="1258888" cy="1417638"/>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38" name="Text Box 70"/>
          <p:cNvSpPr txBox="1">
            <a:spLocks noChangeArrowheads="1"/>
          </p:cNvSpPr>
          <p:nvPr/>
        </p:nvSpPr>
        <p:spPr bwMode="auto">
          <a:xfrm>
            <a:off x="9280525" y="4786313"/>
            <a:ext cx="1150938"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application</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transport</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link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physical</a:t>
            </a:r>
          </a:p>
        </p:txBody>
      </p:sp>
      <p:sp>
        <p:nvSpPr>
          <p:cNvPr id="58439" name="Line 71"/>
          <p:cNvSpPr>
            <a:spLocks noChangeShapeType="1"/>
          </p:cNvSpPr>
          <p:nvPr/>
        </p:nvSpPr>
        <p:spPr bwMode="auto">
          <a:xfrm flipV="1">
            <a:off x="9228138" y="5106989"/>
            <a:ext cx="124460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0" name="Line 72"/>
          <p:cNvSpPr>
            <a:spLocks noChangeShapeType="1"/>
          </p:cNvSpPr>
          <p:nvPr/>
        </p:nvSpPr>
        <p:spPr bwMode="auto">
          <a:xfrm flipV="1">
            <a:off x="9247188" y="538956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1" name="Line 73"/>
          <p:cNvSpPr>
            <a:spLocks noChangeShapeType="1"/>
          </p:cNvSpPr>
          <p:nvPr/>
        </p:nvSpPr>
        <p:spPr bwMode="auto">
          <a:xfrm flipV="1">
            <a:off x="9247188" y="564356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2" name="Line 74"/>
          <p:cNvSpPr>
            <a:spLocks noChangeShapeType="1"/>
          </p:cNvSpPr>
          <p:nvPr/>
        </p:nvSpPr>
        <p:spPr bwMode="auto">
          <a:xfrm flipV="1">
            <a:off x="9223375" y="5921376"/>
            <a:ext cx="1244600" cy="4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3" name="Rectangle 75"/>
          <p:cNvSpPr>
            <a:spLocks noChangeArrowheads="1"/>
          </p:cNvSpPr>
          <p:nvPr/>
        </p:nvSpPr>
        <p:spPr bwMode="auto">
          <a:xfrm>
            <a:off x="8312150" y="3217864"/>
            <a:ext cx="1258888" cy="9159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44" name="Rectangle 76"/>
          <p:cNvSpPr>
            <a:spLocks noChangeArrowheads="1"/>
          </p:cNvSpPr>
          <p:nvPr/>
        </p:nvSpPr>
        <p:spPr bwMode="auto">
          <a:xfrm>
            <a:off x="8258175" y="3279775"/>
            <a:ext cx="1258888" cy="884238"/>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45" name="Text Box 77"/>
          <p:cNvSpPr txBox="1">
            <a:spLocks noChangeArrowheads="1"/>
          </p:cNvSpPr>
          <p:nvPr/>
        </p:nvSpPr>
        <p:spPr bwMode="auto">
          <a:xfrm>
            <a:off x="8432800" y="3275014"/>
            <a:ext cx="9144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network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link</a:t>
            </a:r>
          </a:p>
          <a:p>
            <a:pPr algn="ctr">
              <a:buFont typeface="Wingdings" panose="05000000000000000000" pitchFamily="2" charset="2"/>
              <a:buNone/>
            </a:pPr>
            <a:r>
              <a:rPr lang="zh-CN" altLang="zh-CN" sz="1800">
                <a:latin typeface="华文楷体" panose="02010600040101010101" pitchFamily="2" charset="-122"/>
                <a:ea typeface="华文楷体" panose="02010600040101010101" pitchFamily="2" charset="-122"/>
              </a:rPr>
              <a:t>physical</a:t>
            </a:r>
          </a:p>
        </p:txBody>
      </p:sp>
      <p:sp>
        <p:nvSpPr>
          <p:cNvPr id="58446" name="Line 78"/>
          <p:cNvSpPr>
            <a:spLocks noChangeShapeType="1"/>
          </p:cNvSpPr>
          <p:nvPr/>
        </p:nvSpPr>
        <p:spPr bwMode="auto">
          <a:xfrm flipV="1">
            <a:off x="8259763" y="3595688"/>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7" name="Line 79"/>
          <p:cNvSpPr>
            <a:spLocks noChangeShapeType="1"/>
          </p:cNvSpPr>
          <p:nvPr/>
        </p:nvSpPr>
        <p:spPr bwMode="auto">
          <a:xfrm flipV="1">
            <a:off x="8278813" y="3878263"/>
            <a:ext cx="1244600" cy="47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48" name="Rectangle 80"/>
          <p:cNvSpPr>
            <a:spLocks noChangeArrowheads="1"/>
          </p:cNvSpPr>
          <p:nvPr/>
        </p:nvSpPr>
        <p:spPr bwMode="auto">
          <a:xfrm>
            <a:off x="7031039" y="3822700"/>
            <a:ext cx="700087" cy="376238"/>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49" name="Rectangle 81"/>
          <p:cNvSpPr>
            <a:spLocks noChangeArrowheads="1"/>
          </p:cNvSpPr>
          <p:nvPr/>
        </p:nvSpPr>
        <p:spPr bwMode="auto">
          <a:xfrm>
            <a:off x="9247188" y="5129214"/>
            <a:ext cx="1257300" cy="276225"/>
          </a:xfrm>
          <a:prstGeom prst="rect">
            <a:avLst/>
          </a:prstGeom>
          <a:solidFill>
            <a:srgbClr val="FF0000"/>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solidFill>
                  <a:schemeClr val="bg1"/>
                </a:solidFill>
                <a:latin typeface="华文楷体" panose="02010600040101010101" pitchFamily="2" charset="-122"/>
                <a:ea typeface="华文楷体" panose="02010600040101010101" pitchFamily="2" charset="-122"/>
              </a:rPr>
              <a:t>transport</a:t>
            </a:r>
            <a:endParaRPr lang="zh-CN" altLang="zh-CN" sz="2400">
              <a:latin typeface="华文楷体" panose="02010600040101010101" pitchFamily="2" charset="-122"/>
              <a:ea typeface="华文楷体" panose="02010600040101010101" pitchFamily="2" charset="-122"/>
            </a:endParaRPr>
          </a:p>
        </p:txBody>
      </p:sp>
      <p:sp>
        <p:nvSpPr>
          <p:cNvPr id="58450" name="Rectangle 82"/>
          <p:cNvSpPr>
            <a:spLocks noChangeArrowheads="1"/>
          </p:cNvSpPr>
          <p:nvPr/>
        </p:nvSpPr>
        <p:spPr bwMode="auto">
          <a:xfrm>
            <a:off x="5160963" y="2176464"/>
            <a:ext cx="1257300" cy="276225"/>
          </a:xfrm>
          <a:prstGeom prst="rect">
            <a:avLst/>
          </a:prstGeom>
          <a:solidFill>
            <a:srgbClr val="FF0000"/>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2000">
                <a:solidFill>
                  <a:schemeClr val="bg1"/>
                </a:solidFill>
                <a:latin typeface="华文楷体" panose="02010600040101010101" pitchFamily="2" charset="-122"/>
                <a:ea typeface="华文楷体" panose="02010600040101010101" pitchFamily="2" charset="-122"/>
              </a:rPr>
              <a:t>transport</a:t>
            </a:r>
            <a:endParaRPr lang="zh-CN" altLang="zh-CN" sz="2400">
              <a:latin typeface="华文楷体" panose="02010600040101010101" pitchFamily="2" charset="-122"/>
              <a:ea typeface="华文楷体" panose="02010600040101010101" pitchFamily="2" charset="-122"/>
            </a:endParaRPr>
          </a:p>
        </p:txBody>
      </p:sp>
      <p:sp>
        <p:nvSpPr>
          <p:cNvPr id="58451" name="未知"/>
          <p:cNvSpPr>
            <a:spLocks noChangeArrowheads="1"/>
          </p:cNvSpPr>
          <p:nvPr/>
        </p:nvSpPr>
        <p:spPr bwMode="auto">
          <a:xfrm>
            <a:off x="10161589" y="4833938"/>
            <a:ext cx="9525" cy="361950"/>
          </a:xfrm>
          <a:custGeom>
            <a:avLst/>
            <a:gdLst>
              <a:gd name="T0" fmla="*/ 9525 w 6"/>
              <a:gd name="T1" fmla="*/ 361950 h 228"/>
              <a:gd name="T2" fmla="*/ 0 w 6"/>
              <a:gd name="T3" fmla="*/ 0 h 228"/>
              <a:gd name="T4" fmla="*/ 0 60000 65536"/>
              <a:gd name="T5" fmla="*/ 0 60000 65536"/>
            </a:gdLst>
            <a:ahLst/>
            <a:cxnLst>
              <a:cxn ang="T4">
                <a:pos x="T0" y="T1"/>
              </a:cxn>
              <a:cxn ang="T5">
                <a:pos x="T2" y="T3"/>
              </a:cxn>
            </a:cxnLst>
            <a:rect l="0" t="0" r="r" b="b"/>
            <a:pathLst>
              <a:path w="6" h="228">
                <a:moveTo>
                  <a:pt x="6" y="228"/>
                </a:moveTo>
                <a:lnTo>
                  <a:pt x="0" y="0"/>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52" name="未知"/>
          <p:cNvSpPr>
            <a:spLocks noChangeArrowheads="1"/>
          </p:cNvSpPr>
          <p:nvPr/>
        </p:nvSpPr>
        <p:spPr bwMode="auto">
          <a:xfrm>
            <a:off x="6546850" y="2620963"/>
            <a:ext cx="890588" cy="519112"/>
          </a:xfrm>
          <a:custGeom>
            <a:avLst/>
            <a:gdLst>
              <a:gd name="T0" fmla="*/ 690563 w 1122"/>
              <a:gd name="T1" fmla="*/ 22225 h 981"/>
              <a:gd name="T2" fmla="*/ 567532 w 1122"/>
              <a:gd name="T3" fmla="*/ 4233 h 981"/>
              <a:gd name="T4" fmla="*/ 419100 w 1122"/>
              <a:gd name="T5" fmla="*/ 0 h 981"/>
              <a:gd name="T6" fmla="*/ 279400 w 1122"/>
              <a:gd name="T7" fmla="*/ 7937 h 981"/>
              <a:gd name="T8" fmla="*/ 161131 w 1122"/>
              <a:gd name="T9" fmla="*/ 32279 h 981"/>
              <a:gd name="T10" fmla="*/ 30956 w 1122"/>
              <a:gd name="T11" fmla="*/ 103717 h 981"/>
              <a:gd name="T12" fmla="*/ 794 w 1122"/>
              <a:gd name="T13" fmla="*/ 204258 h 981"/>
              <a:gd name="T14" fmla="*/ 45244 w 1122"/>
              <a:gd name="T15" fmla="*/ 239712 h 981"/>
              <a:gd name="T16" fmla="*/ 112713 w 1122"/>
              <a:gd name="T17" fmla="*/ 238125 h 981"/>
              <a:gd name="T18" fmla="*/ 174625 w 1122"/>
              <a:gd name="T19" fmla="*/ 222779 h 981"/>
              <a:gd name="T20" fmla="*/ 219075 w 1122"/>
              <a:gd name="T21" fmla="*/ 200554 h 981"/>
              <a:gd name="T22" fmla="*/ 245269 w 1122"/>
              <a:gd name="T23" fmla="*/ 166687 h 981"/>
              <a:gd name="T24" fmla="*/ 246063 w 1122"/>
              <a:gd name="T25" fmla="*/ 113771 h 981"/>
              <a:gd name="T26" fmla="*/ 255588 w 1122"/>
              <a:gd name="T27" fmla="*/ 193146 h 981"/>
              <a:gd name="T28" fmla="*/ 204788 w 1122"/>
              <a:gd name="T29" fmla="*/ 258762 h 981"/>
              <a:gd name="T30" fmla="*/ 134938 w 1122"/>
              <a:gd name="T31" fmla="*/ 340783 h 981"/>
              <a:gd name="T32" fmla="*/ 84931 w 1122"/>
              <a:gd name="T33" fmla="*/ 466725 h 981"/>
              <a:gd name="T34" fmla="*/ 146844 w 1122"/>
              <a:gd name="T35" fmla="*/ 518583 h 981"/>
              <a:gd name="T36" fmla="*/ 258763 w 1122"/>
              <a:gd name="T37" fmla="*/ 519112 h 981"/>
              <a:gd name="T38" fmla="*/ 378619 w 1122"/>
              <a:gd name="T39" fmla="*/ 519112 h 981"/>
              <a:gd name="T40" fmla="*/ 440531 w 1122"/>
              <a:gd name="T41" fmla="*/ 461433 h 981"/>
              <a:gd name="T42" fmla="*/ 352425 w 1122"/>
              <a:gd name="T43" fmla="*/ 438150 h 981"/>
              <a:gd name="T44" fmla="*/ 294481 w 1122"/>
              <a:gd name="T45" fmla="*/ 379941 h 981"/>
              <a:gd name="T46" fmla="*/ 284956 w 1122"/>
              <a:gd name="T47" fmla="*/ 301625 h 981"/>
              <a:gd name="T48" fmla="*/ 327819 w 1122"/>
              <a:gd name="T49" fmla="*/ 234421 h 981"/>
              <a:gd name="T50" fmla="*/ 407988 w 1122"/>
              <a:gd name="T51" fmla="*/ 197379 h 981"/>
              <a:gd name="T52" fmla="*/ 415925 w 1122"/>
              <a:gd name="T53" fmla="*/ 128058 h 981"/>
              <a:gd name="T54" fmla="*/ 370681 w 1122"/>
              <a:gd name="T55" fmla="*/ 125412 h 981"/>
              <a:gd name="T56" fmla="*/ 388144 w 1122"/>
              <a:gd name="T57" fmla="*/ 102658 h 981"/>
              <a:gd name="T58" fmla="*/ 457994 w 1122"/>
              <a:gd name="T59" fmla="*/ 103187 h 981"/>
              <a:gd name="T60" fmla="*/ 516732 w 1122"/>
              <a:gd name="T61" fmla="*/ 102658 h 981"/>
              <a:gd name="T62" fmla="*/ 505619 w 1122"/>
              <a:gd name="T63" fmla="*/ 129117 h 981"/>
              <a:gd name="T64" fmla="*/ 453232 w 1122"/>
              <a:gd name="T65" fmla="*/ 127529 h 981"/>
              <a:gd name="T66" fmla="*/ 440531 w 1122"/>
              <a:gd name="T67" fmla="*/ 194733 h 981"/>
              <a:gd name="T68" fmla="*/ 491332 w 1122"/>
              <a:gd name="T69" fmla="*/ 200554 h 981"/>
              <a:gd name="T70" fmla="*/ 569119 w 1122"/>
              <a:gd name="T71" fmla="*/ 243416 h 981"/>
              <a:gd name="T72" fmla="*/ 604044 w 1122"/>
              <a:gd name="T73" fmla="*/ 314325 h 981"/>
              <a:gd name="T74" fmla="*/ 585788 w 1122"/>
              <a:gd name="T75" fmla="*/ 391583 h 981"/>
              <a:gd name="T76" fmla="*/ 520700 w 1122"/>
              <a:gd name="T77" fmla="*/ 445558 h 981"/>
              <a:gd name="T78" fmla="*/ 442119 w 1122"/>
              <a:gd name="T79" fmla="*/ 461433 h 981"/>
              <a:gd name="T80" fmla="*/ 446088 w 1122"/>
              <a:gd name="T81" fmla="*/ 519112 h 981"/>
              <a:gd name="T82" fmla="*/ 511969 w 1122"/>
              <a:gd name="T83" fmla="*/ 519112 h 981"/>
              <a:gd name="T84" fmla="*/ 643732 w 1122"/>
              <a:gd name="T85" fmla="*/ 519112 h 981"/>
              <a:gd name="T86" fmla="*/ 762794 w 1122"/>
              <a:gd name="T87" fmla="*/ 516995 h 981"/>
              <a:gd name="T88" fmla="*/ 802482 w 1122"/>
              <a:gd name="T89" fmla="*/ 444500 h 981"/>
              <a:gd name="T90" fmla="*/ 742950 w 1122"/>
              <a:gd name="T91" fmla="*/ 320675 h 981"/>
              <a:gd name="T92" fmla="*/ 671513 w 1122"/>
              <a:gd name="T93" fmla="*/ 245533 h 981"/>
              <a:gd name="T94" fmla="*/ 631032 w 1122"/>
              <a:gd name="T95" fmla="*/ 175683 h 981"/>
              <a:gd name="T96" fmla="*/ 651669 w 1122"/>
              <a:gd name="T97" fmla="*/ 114300 h 981"/>
              <a:gd name="T98" fmla="*/ 645319 w 1122"/>
              <a:gd name="T99" fmla="*/ 171979 h 981"/>
              <a:gd name="T100" fmla="*/ 679450 w 1122"/>
              <a:gd name="T101" fmla="*/ 206375 h 981"/>
              <a:gd name="T102" fmla="*/ 724694 w 1122"/>
              <a:gd name="T103" fmla="*/ 225425 h 981"/>
              <a:gd name="T104" fmla="*/ 788988 w 1122"/>
              <a:gd name="T105" fmla="*/ 239712 h 981"/>
              <a:gd name="T106" fmla="*/ 855663 w 1122"/>
              <a:gd name="T107" fmla="*/ 236537 h 981"/>
              <a:gd name="T108" fmla="*/ 890588 w 1122"/>
              <a:gd name="T109" fmla="*/ 192616 h 981"/>
              <a:gd name="T110" fmla="*/ 839788 w 1122"/>
              <a:gd name="T111" fmla="*/ 84667 h 98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22" h="981">
                <a:moveTo>
                  <a:pt x="986" y="98"/>
                </a:moveTo>
                <a:lnTo>
                  <a:pt x="964" y="84"/>
                </a:lnTo>
                <a:lnTo>
                  <a:pt x="941" y="72"/>
                </a:lnTo>
                <a:lnTo>
                  <a:pt x="918" y="61"/>
                </a:lnTo>
                <a:lnTo>
                  <a:pt x="894" y="52"/>
                </a:lnTo>
                <a:lnTo>
                  <a:pt x="870" y="42"/>
                </a:lnTo>
                <a:lnTo>
                  <a:pt x="847" y="35"/>
                </a:lnTo>
                <a:lnTo>
                  <a:pt x="821" y="28"/>
                </a:lnTo>
                <a:lnTo>
                  <a:pt x="796" y="21"/>
                </a:lnTo>
                <a:lnTo>
                  <a:pt x="770" y="15"/>
                </a:lnTo>
                <a:lnTo>
                  <a:pt x="744" y="11"/>
                </a:lnTo>
                <a:lnTo>
                  <a:pt x="715" y="8"/>
                </a:lnTo>
                <a:lnTo>
                  <a:pt x="687" y="4"/>
                </a:lnTo>
                <a:lnTo>
                  <a:pt x="657" y="3"/>
                </a:lnTo>
                <a:lnTo>
                  <a:pt x="627" y="1"/>
                </a:lnTo>
                <a:lnTo>
                  <a:pt x="594" y="0"/>
                </a:lnTo>
                <a:lnTo>
                  <a:pt x="562" y="0"/>
                </a:lnTo>
                <a:lnTo>
                  <a:pt x="528" y="0"/>
                </a:lnTo>
                <a:lnTo>
                  <a:pt x="496" y="1"/>
                </a:lnTo>
                <a:lnTo>
                  <a:pt x="465" y="3"/>
                </a:lnTo>
                <a:lnTo>
                  <a:pt x="436" y="4"/>
                </a:lnTo>
                <a:lnTo>
                  <a:pt x="407" y="8"/>
                </a:lnTo>
                <a:lnTo>
                  <a:pt x="378" y="11"/>
                </a:lnTo>
                <a:lnTo>
                  <a:pt x="352" y="15"/>
                </a:lnTo>
                <a:lnTo>
                  <a:pt x="326" y="21"/>
                </a:lnTo>
                <a:lnTo>
                  <a:pt x="300" y="28"/>
                </a:lnTo>
                <a:lnTo>
                  <a:pt x="275" y="35"/>
                </a:lnTo>
                <a:lnTo>
                  <a:pt x="252" y="42"/>
                </a:lnTo>
                <a:lnTo>
                  <a:pt x="227" y="52"/>
                </a:lnTo>
                <a:lnTo>
                  <a:pt x="203" y="61"/>
                </a:lnTo>
                <a:lnTo>
                  <a:pt x="181" y="72"/>
                </a:lnTo>
                <a:lnTo>
                  <a:pt x="157" y="84"/>
                </a:lnTo>
                <a:lnTo>
                  <a:pt x="135" y="98"/>
                </a:lnTo>
                <a:lnTo>
                  <a:pt x="94" y="127"/>
                </a:lnTo>
                <a:lnTo>
                  <a:pt x="63" y="160"/>
                </a:lnTo>
                <a:lnTo>
                  <a:pt x="39" y="196"/>
                </a:lnTo>
                <a:lnTo>
                  <a:pt x="22" y="233"/>
                </a:lnTo>
                <a:lnTo>
                  <a:pt x="11" y="269"/>
                </a:lnTo>
                <a:lnTo>
                  <a:pt x="4" y="304"/>
                </a:lnTo>
                <a:lnTo>
                  <a:pt x="1" y="336"/>
                </a:lnTo>
                <a:lnTo>
                  <a:pt x="0" y="364"/>
                </a:lnTo>
                <a:lnTo>
                  <a:pt x="1" y="386"/>
                </a:lnTo>
                <a:lnTo>
                  <a:pt x="6" y="405"/>
                </a:lnTo>
                <a:lnTo>
                  <a:pt x="11" y="421"/>
                </a:lnTo>
                <a:lnTo>
                  <a:pt x="20" y="432"/>
                </a:lnTo>
                <a:lnTo>
                  <a:pt x="30" y="442"/>
                </a:lnTo>
                <a:lnTo>
                  <a:pt x="43" y="447"/>
                </a:lnTo>
                <a:lnTo>
                  <a:pt x="57" y="453"/>
                </a:lnTo>
                <a:lnTo>
                  <a:pt x="73" y="456"/>
                </a:lnTo>
                <a:lnTo>
                  <a:pt x="86" y="457"/>
                </a:lnTo>
                <a:lnTo>
                  <a:pt x="99" y="457"/>
                </a:lnTo>
                <a:lnTo>
                  <a:pt x="113" y="456"/>
                </a:lnTo>
                <a:lnTo>
                  <a:pt x="127" y="453"/>
                </a:lnTo>
                <a:lnTo>
                  <a:pt x="142" y="450"/>
                </a:lnTo>
                <a:lnTo>
                  <a:pt x="155" y="447"/>
                </a:lnTo>
                <a:lnTo>
                  <a:pt x="168" y="442"/>
                </a:lnTo>
                <a:lnTo>
                  <a:pt x="183" y="438"/>
                </a:lnTo>
                <a:lnTo>
                  <a:pt x="195" y="432"/>
                </a:lnTo>
                <a:lnTo>
                  <a:pt x="208" y="426"/>
                </a:lnTo>
                <a:lnTo>
                  <a:pt x="220" y="421"/>
                </a:lnTo>
                <a:lnTo>
                  <a:pt x="231" y="414"/>
                </a:lnTo>
                <a:lnTo>
                  <a:pt x="241" y="408"/>
                </a:lnTo>
                <a:lnTo>
                  <a:pt x="250" y="403"/>
                </a:lnTo>
                <a:lnTo>
                  <a:pt x="258" y="396"/>
                </a:lnTo>
                <a:lnTo>
                  <a:pt x="265" y="390"/>
                </a:lnTo>
                <a:lnTo>
                  <a:pt x="276" y="379"/>
                </a:lnTo>
                <a:lnTo>
                  <a:pt x="286" y="368"/>
                </a:lnTo>
                <a:lnTo>
                  <a:pt x="294" y="357"/>
                </a:lnTo>
                <a:lnTo>
                  <a:pt x="300" y="346"/>
                </a:lnTo>
                <a:lnTo>
                  <a:pt x="304" y="336"/>
                </a:lnTo>
                <a:lnTo>
                  <a:pt x="308" y="325"/>
                </a:lnTo>
                <a:lnTo>
                  <a:pt x="309" y="315"/>
                </a:lnTo>
                <a:lnTo>
                  <a:pt x="308" y="305"/>
                </a:lnTo>
                <a:lnTo>
                  <a:pt x="302" y="283"/>
                </a:lnTo>
                <a:lnTo>
                  <a:pt x="297" y="255"/>
                </a:lnTo>
                <a:lnTo>
                  <a:pt x="294" y="231"/>
                </a:lnTo>
                <a:lnTo>
                  <a:pt x="300" y="216"/>
                </a:lnTo>
                <a:lnTo>
                  <a:pt x="310" y="215"/>
                </a:lnTo>
                <a:lnTo>
                  <a:pt x="318" y="222"/>
                </a:lnTo>
                <a:lnTo>
                  <a:pt x="323" y="237"/>
                </a:lnTo>
                <a:lnTo>
                  <a:pt x="327" y="259"/>
                </a:lnTo>
                <a:lnTo>
                  <a:pt x="328" y="295"/>
                </a:lnTo>
                <a:lnTo>
                  <a:pt x="326" y="332"/>
                </a:lnTo>
                <a:lnTo>
                  <a:pt x="322" y="365"/>
                </a:lnTo>
                <a:lnTo>
                  <a:pt x="317" y="389"/>
                </a:lnTo>
                <a:lnTo>
                  <a:pt x="312" y="401"/>
                </a:lnTo>
                <a:lnTo>
                  <a:pt x="302" y="419"/>
                </a:lnTo>
                <a:lnTo>
                  <a:pt x="290" y="440"/>
                </a:lnTo>
                <a:lnTo>
                  <a:pt x="275" y="464"/>
                </a:lnTo>
                <a:lnTo>
                  <a:pt x="258" y="489"/>
                </a:lnTo>
                <a:lnTo>
                  <a:pt x="243" y="513"/>
                </a:lnTo>
                <a:lnTo>
                  <a:pt x="227" y="535"/>
                </a:lnTo>
                <a:lnTo>
                  <a:pt x="213" y="553"/>
                </a:lnTo>
                <a:lnTo>
                  <a:pt x="200" y="574"/>
                </a:lnTo>
                <a:lnTo>
                  <a:pt x="185" y="606"/>
                </a:lnTo>
                <a:lnTo>
                  <a:pt x="170" y="644"/>
                </a:lnTo>
                <a:lnTo>
                  <a:pt x="154" y="686"/>
                </a:lnTo>
                <a:lnTo>
                  <a:pt x="138" y="730"/>
                </a:lnTo>
                <a:lnTo>
                  <a:pt x="126" y="772"/>
                </a:lnTo>
                <a:lnTo>
                  <a:pt x="116" y="810"/>
                </a:lnTo>
                <a:lnTo>
                  <a:pt x="110" y="840"/>
                </a:lnTo>
                <a:lnTo>
                  <a:pt x="107" y="882"/>
                </a:lnTo>
                <a:lnTo>
                  <a:pt x="108" y="916"/>
                </a:lnTo>
                <a:lnTo>
                  <a:pt x="113" y="941"/>
                </a:lnTo>
                <a:lnTo>
                  <a:pt x="124" y="957"/>
                </a:lnTo>
                <a:lnTo>
                  <a:pt x="139" y="970"/>
                </a:lnTo>
                <a:lnTo>
                  <a:pt x="159" y="977"/>
                </a:lnTo>
                <a:lnTo>
                  <a:pt x="185" y="980"/>
                </a:lnTo>
                <a:lnTo>
                  <a:pt x="217" y="981"/>
                </a:lnTo>
                <a:lnTo>
                  <a:pt x="235" y="981"/>
                </a:lnTo>
                <a:lnTo>
                  <a:pt x="255" y="981"/>
                </a:lnTo>
                <a:lnTo>
                  <a:pt x="277" y="981"/>
                </a:lnTo>
                <a:lnTo>
                  <a:pt x="301" y="981"/>
                </a:lnTo>
                <a:lnTo>
                  <a:pt x="326" y="981"/>
                </a:lnTo>
                <a:lnTo>
                  <a:pt x="352" y="981"/>
                </a:lnTo>
                <a:lnTo>
                  <a:pt x="378" y="981"/>
                </a:lnTo>
                <a:lnTo>
                  <a:pt x="404" y="981"/>
                </a:lnTo>
                <a:lnTo>
                  <a:pt x="430" y="981"/>
                </a:lnTo>
                <a:lnTo>
                  <a:pt x="455" y="981"/>
                </a:lnTo>
                <a:lnTo>
                  <a:pt x="477" y="981"/>
                </a:lnTo>
                <a:lnTo>
                  <a:pt x="499" y="981"/>
                </a:lnTo>
                <a:lnTo>
                  <a:pt x="518" y="981"/>
                </a:lnTo>
                <a:lnTo>
                  <a:pt x="533" y="981"/>
                </a:lnTo>
                <a:lnTo>
                  <a:pt x="546" y="981"/>
                </a:lnTo>
                <a:lnTo>
                  <a:pt x="555" y="981"/>
                </a:lnTo>
                <a:lnTo>
                  <a:pt x="555" y="872"/>
                </a:lnTo>
                <a:lnTo>
                  <a:pt x="535" y="871"/>
                </a:lnTo>
                <a:lnTo>
                  <a:pt x="514" y="867"/>
                </a:lnTo>
                <a:lnTo>
                  <a:pt x="495" y="860"/>
                </a:lnTo>
                <a:lnTo>
                  <a:pt x="477" y="851"/>
                </a:lnTo>
                <a:lnTo>
                  <a:pt x="459" y="842"/>
                </a:lnTo>
                <a:lnTo>
                  <a:pt x="444" y="828"/>
                </a:lnTo>
                <a:lnTo>
                  <a:pt x="428" y="814"/>
                </a:lnTo>
                <a:lnTo>
                  <a:pt x="413" y="797"/>
                </a:lnTo>
                <a:lnTo>
                  <a:pt x="401" y="779"/>
                </a:lnTo>
                <a:lnTo>
                  <a:pt x="389" y="761"/>
                </a:lnTo>
                <a:lnTo>
                  <a:pt x="380" y="740"/>
                </a:lnTo>
                <a:lnTo>
                  <a:pt x="371" y="718"/>
                </a:lnTo>
                <a:lnTo>
                  <a:pt x="364" y="694"/>
                </a:lnTo>
                <a:lnTo>
                  <a:pt x="359" y="670"/>
                </a:lnTo>
                <a:lnTo>
                  <a:pt x="356" y="645"/>
                </a:lnTo>
                <a:lnTo>
                  <a:pt x="355" y="620"/>
                </a:lnTo>
                <a:lnTo>
                  <a:pt x="356" y="595"/>
                </a:lnTo>
                <a:lnTo>
                  <a:pt x="359" y="570"/>
                </a:lnTo>
                <a:lnTo>
                  <a:pt x="364" y="546"/>
                </a:lnTo>
                <a:lnTo>
                  <a:pt x="371" y="523"/>
                </a:lnTo>
                <a:lnTo>
                  <a:pt x="380" y="500"/>
                </a:lnTo>
                <a:lnTo>
                  <a:pt x="389" y="479"/>
                </a:lnTo>
                <a:lnTo>
                  <a:pt x="401" y="461"/>
                </a:lnTo>
                <a:lnTo>
                  <a:pt x="413" y="443"/>
                </a:lnTo>
                <a:lnTo>
                  <a:pt x="428" y="426"/>
                </a:lnTo>
                <a:lnTo>
                  <a:pt x="444" y="412"/>
                </a:lnTo>
                <a:lnTo>
                  <a:pt x="459" y="399"/>
                </a:lnTo>
                <a:lnTo>
                  <a:pt x="477" y="389"/>
                </a:lnTo>
                <a:lnTo>
                  <a:pt x="495" y="380"/>
                </a:lnTo>
                <a:lnTo>
                  <a:pt x="514" y="373"/>
                </a:lnTo>
                <a:lnTo>
                  <a:pt x="535" y="369"/>
                </a:lnTo>
                <a:lnTo>
                  <a:pt x="555" y="368"/>
                </a:lnTo>
                <a:lnTo>
                  <a:pt x="555" y="241"/>
                </a:lnTo>
                <a:lnTo>
                  <a:pt x="546" y="241"/>
                </a:lnTo>
                <a:lnTo>
                  <a:pt x="536" y="241"/>
                </a:lnTo>
                <a:lnTo>
                  <a:pt x="524" y="242"/>
                </a:lnTo>
                <a:lnTo>
                  <a:pt x="513" y="242"/>
                </a:lnTo>
                <a:lnTo>
                  <a:pt x="503" y="242"/>
                </a:lnTo>
                <a:lnTo>
                  <a:pt x="493" y="244"/>
                </a:lnTo>
                <a:lnTo>
                  <a:pt x="484" y="244"/>
                </a:lnTo>
                <a:lnTo>
                  <a:pt x="477" y="244"/>
                </a:lnTo>
                <a:lnTo>
                  <a:pt x="467" y="237"/>
                </a:lnTo>
                <a:lnTo>
                  <a:pt x="462" y="220"/>
                </a:lnTo>
                <a:lnTo>
                  <a:pt x="460" y="203"/>
                </a:lnTo>
                <a:lnTo>
                  <a:pt x="465" y="195"/>
                </a:lnTo>
                <a:lnTo>
                  <a:pt x="471" y="194"/>
                </a:lnTo>
                <a:lnTo>
                  <a:pt x="478" y="194"/>
                </a:lnTo>
                <a:lnTo>
                  <a:pt x="489" y="194"/>
                </a:lnTo>
                <a:lnTo>
                  <a:pt x="501" y="194"/>
                </a:lnTo>
                <a:lnTo>
                  <a:pt x="514" y="194"/>
                </a:lnTo>
                <a:lnTo>
                  <a:pt x="530" y="195"/>
                </a:lnTo>
                <a:lnTo>
                  <a:pt x="546" y="195"/>
                </a:lnTo>
                <a:lnTo>
                  <a:pt x="562" y="195"/>
                </a:lnTo>
                <a:lnTo>
                  <a:pt x="577" y="195"/>
                </a:lnTo>
                <a:lnTo>
                  <a:pt x="593" y="195"/>
                </a:lnTo>
                <a:lnTo>
                  <a:pt x="608" y="194"/>
                </a:lnTo>
                <a:lnTo>
                  <a:pt x="621" y="194"/>
                </a:lnTo>
                <a:lnTo>
                  <a:pt x="633" y="194"/>
                </a:lnTo>
                <a:lnTo>
                  <a:pt x="644" y="194"/>
                </a:lnTo>
                <a:lnTo>
                  <a:pt x="651" y="194"/>
                </a:lnTo>
                <a:lnTo>
                  <a:pt x="657" y="195"/>
                </a:lnTo>
                <a:lnTo>
                  <a:pt x="662" y="203"/>
                </a:lnTo>
                <a:lnTo>
                  <a:pt x="662" y="220"/>
                </a:lnTo>
                <a:lnTo>
                  <a:pt x="655" y="237"/>
                </a:lnTo>
                <a:lnTo>
                  <a:pt x="645" y="244"/>
                </a:lnTo>
                <a:lnTo>
                  <a:pt x="637" y="244"/>
                </a:lnTo>
                <a:lnTo>
                  <a:pt x="628" y="244"/>
                </a:lnTo>
                <a:lnTo>
                  <a:pt x="617" y="242"/>
                </a:lnTo>
                <a:lnTo>
                  <a:pt x="605" y="242"/>
                </a:lnTo>
                <a:lnTo>
                  <a:pt x="593" y="242"/>
                </a:lnTo>
                <a:lnTo>
                  <a:pt x="581" y="241"/>
                </a:lnTo>
                <a:lnTo>
                  <a:pt x="571" y="241"/>
                </a:lnTo>
                <a:lnTo>
                  <a:pt x="562" y="241"/>
                </a:lnTo>
                <a:lnTo>
                  <a:pt x="560" y="241"/>
                </a:lnTo>
                <a:lnTo>
                  <a:pt x="558" y="241"/>
                </a:lnTo>
                <a:lnTo>
                  <a:pt x="557" y="241"/>
                </a:lnTo>
                <a:lnTo>
                  <a:pt x="555" y="241"/>
                </a:lnTo>
                <a:lnTo>
                  <a:pt x="555" y="368"/>
                </a:lnTo>
                <a:lnTo>
                  <a:pt x="556" y="368"/>
                </a:lnTo>
                <a:lnTo>
                  <a:pt x="557" y="368"/>
                </a:lnTo>
                <a:lnTo>
                  <a:pt x="558" y="368"/>
                </a:lnTo>
                <a:lnTo>
                  <a:pt x="580" y="369"/>
                </a:lnTo>
                <a:lnTo>
                  <a:pt x="600" y="373"/>
                </a:lnTo>
                <a:lnTo>
                  <a:pt x="619" y="379"/>
                </a:lnTo>
                <a:lnTo>
                  <a:pt x="638" y="387"/>
                </a:lnTo>
                <a:lnTo>
                  <a:pt x="656" y="399"/>
                </a:lnTo>
                <a:lnTo>
                  <a:pt x="673" y="411"/>
                </a:lnTo>
                <a:lnTo>
                  <a:pt x="688" y="425"/>
                </a:lnTo>
                <a:lnTo>
                  <a:pt x="703" y="442"/>
                </a:lnTo>
                <a:lnTo>
                  <a:pt x="717" y="460"/>
                </a:lnTo>
                <a:lnTo>
                  <a:pt x="728" y="479"/>
                </a:lnTo>
                <a:lnTo>
                  <a:pt x="738" y="500"/>
                </a:lnTo>
                <a:lnTo>
                  <a:pt x="747" y="523"/>
                </a:lnTo>
                <a:lnTo>
                  <a:pt x="754" y="545"/>
                </a:lnTo>
                <a:lnTo>
                  <a:pt x="758" y="570"/>
                </a:lnTo>
                <a:lnTo>
                  <a:pt x="761" y="594"/>
                </a:lnTo>
                <a:lnTo>
                  <a:pt x="763" y="620"/>
                </a:lnTo>
                <a:lnTo>
                  <a:pt x="761" y="647"/>
                </a:lnTo>
                <a:lnTo>
                  <a:pt x="758" y="670"/>
                </a:lnTo>
                <a:lnTo>
                  <a:pt x="754" y="695"/>
                </a:lnTo>
                <a:lnTo>
                  <a:pt x="747" y="718"/>
                </a:lnTo>
                <a:lnTo>
                  <a:pt x="738" y="740"/>
                </a:lnTo>
                <a:lnTo>
                  <a:pt x="728" y="761"/>
                </a:lnTo>
                <a:lnTo>
                  <a:pt x="717" y="780"/>
                </a:lnTo>
                <a:lnTo>
                  <a:pt x="703" y="798"/>
                </a:lnTo>
                <a:lnTo>
                  <a:pt x="688" y="815"/>
                </a:lnTo>
                <a:lnTo>
                  <a:pt x="673" y="829"/>
                </a:lnTo>
                <a:lnTo>
                  <a:pt x="656" y="842"/>
                </a:lnTo>
                <a:lnTo>
                  <a:pt x="638" y="853"/>
                </a:lnTo>
                <a:lnTo>
                  <a:pt x="619" y="861"/>
                </a:lnTo>
                <a:lnTo>
                  <a:pt x="600" y="867"/>
                </a:lnTo>
                <a:lnTo>
                  <a:pt x="580" y="871"/>
                </a:lnTo>
                <a:lnTo>
                  <a:pt x="558" y="872"/>
                </a:lnTo>
                <a:lnTo>
                  <a:pt x="557" y="872"/>
                </a:lnTo>
                <a:lnTo>
                  <a:pt x="556" y="872"/>
                </a:lnTo>
                <a:lnTo>
                  <a:pt x="555" y="872"/>
                </a:lnTo>
                <a:lnTo>
                  <a:pt x="555" y="981"/>
                </a:lnTo>
                <a:lnTo>
                  <a:pt x="558" y="981"/>
                </a:lnTo>
                <a:lnTo>
                  <a:pt x="560" y="981"/>
                </a:lnTo>
                <a:lnTo>
                  <a:pt x="562" y="981"/>
                </a:lnTo>
                <a:lnTo>
                  <a:pt x="564" y="981"/>
                </a:lnTo>
                <a:lnTo>
                  <a:pt x="573" y="981"/>
                </a:lnTo>
                <a:lnTo>
                  <a:pt x="585" y="981"/>
                </a:lnTo>
                <a:lnTo>
                  <a:pt x="602" y="981"/>
                </a:lnTo>
                <a:lnTo>
                  <a:pt x="622" y="981"/>
                </a:lnTo>
                <a:lnTo>
                  <a:pt x="645" y="981"/>
                </a:lnTo>
                <a:lnTo>
                  <a:pt x="671" y="981"/>
                </a:lnTo>
                <a:lnTo>
                  <a:pt x="697" y="981"/>
                </a:lnTo>
                <a:lnTo>
                  <a:pt x="726" y="981"/>
                </a:lnTo>
                <a:lnTo>
                  <a:pt x="754" y="981"/>
                </a:lnTo>
                <a:lnTo>
                  <a:pt x="783" y="981"/>
                </a:lnTo>
                <a:lnTo>
                  <a:pt x="811" y="981"/>
                </a:lnTo>
                <a:lnTo>
                  <a:pt x="838" y="981"/>
                </a:lnTo>
                <a:lnTo>
                  <a:pt x="863" y="981"/>
                </a:lnTo>
                <a:lnTo>
                  <a:pt x="885" y="981"/>
                </a:lnTo>
                <a:lnTo>
                  <a:pt x="905" y="981"/>
                </a:lnTo>
                <a:lnTo>
                  <a:pt x="937" y="980"/>
                </a:lnTo>
                <a:lnTo>
                  <a:pt x="961" y="977"/>
                </a:lnTo>
                <a:lnTo>
                  <a:pt x="983" y="970"/>
                </a:lnTo>
                <a:lnTo>
                  <a:pt x="997" y="957"/>
                </a:lnTo>
                <a:lnTo>
                  <a:pt x="1009" y="941"/>
                </a:lnTo>
                <a:lnTo>
                  <a:pt x="1013" y="916"/>
                </a:lnTo>
                <a:lnTo>
                  <a:pt x="1014" y="882"/>
                </a:lnTo>
                <a:lnTo>
                  <a:pt x="1011" y="840"/>
                </a:lnTo>
                <a:lnTo>
                  <a:pt x="1005" y="810"/>
                </a:lnTo>
                <a:lnTo>
                  <a:pt x="995" y="772"/>
                </a:lnTo>
                <a:lnTo>
                  <a:pt x="983" y="730"/>
                </a:lnTo>
                <a:lnTo>
                  <a:pt x="968" y="686"/>
                </a:lnTo>
                <a:lnTo>
                  <a:pt x="951" y="644"/>
                </a:lnTo>
                <a:lnTo>
                  <a:pt x="936" y="606"/>
                </a:lnTo>
                <a:lnTo>
                  <a:pt x="921" y="574"/>
                </a:lnTo>
                <a:lnTo>
                  <a:pt x="907" y="553"/>
                </a:lnTo>
                <a:lnTo>
                  <a:pt x="894" y="535"/>
                </a:lnTo>
                <a:lnTo>
                  <a:pt x="878" y="513"/>
                </a:lnTo>
                <a:lnTo>
                  <a:pt x="863" y="489"/>
                </a:lnTo>
                <a:lnTo>
                  <a:pt x="846" y="464"/>
                </a:lnTo>
                <a:lnTo>
                  <a:pt x="831" y="440"/>
                </a:lnTo>
                <a:lnTo>
                  <a:pt x="819" y="419"/>
                </a:lnTo>
                <a:lnTo>
                  <a:pt x="809" y="401"/>
                </a:lnTo>
                <a:lnTo>
                  <a:pt x="804" y="389"/>
                </a:lnTo>
                <a:lnTo>
                  <a:pt x="799" y="365"/>
                </a:lnTo>
                <a:lnTo>
                  <a:pt x="795" y="332"/>
                </a:lnTo>
                <a:lnTo>
                  <a:pt x="794" y="295"/>
                </a:lnTo>
                <a:lnTo>
                  <a:pt x="794" y="259"/>
                </a:lnTo>
                <a:lnTo>
                  <a:pt x="797" y="237"/>
                </a:lnTo>
                <a:lnTo>
                  <a:pt x="803" y="222"/>
                </a:lnTo>
                <a:lnTo>
                  <a:pt x="811" y="215"/>
                </a:lnTo>
                <a:lnTo>
                  <a:pt x="821" y="216"/>
                </a:lnTo>
                <a:lnTo>
                  <a:pt x="827" y="231"/>
                </a:lnTo>
                <a:lnTo>
                  <a:pt x="824" y="255"/>
                </a:lnTo>
                <a:lnTo>
                  <a:pt x="819" y="283"/>
                </a:lnTo>
                <a:lnTo>
                  <a:pt x="813" y="305"/>
                </a:lnTo>
                <a:lnTo>
                  <a:pt x="812" y="315"/>
                </a:lnTo>
                <a:lnTo>
                  <a:pt x="813" y="325"/>
                </a:lnTo>
                <a:lnTo>
                  <a:pt x="817" y="336"/>
                </a:lnTo>
                <a:lnTo>
                  <a:pt x="821" y="346"/>
                </a:lnTo>
                <a:lnTo>
                  <a:pt x="827" y="357"/>
                </a:lnTo>
                <a:lnTo>
                  <a:pt x="834" y="368"/>
                </a:lnTo>
                <a:lnTo>
                  <a:pt x="845" y="379"/>
                </a:lnTo>
                <a:lnTo>
                  <a:pt x="856" y="390"/>
                </a:lnTo>
                <a:lnTo>
                  <a:pt x="863" y="396"/>
                </a:lnTo>
                <a:lnTo>
                  <a:pt x="870" y="403"/>
                </a:lnTo>
                <a:lnTo>
                  <a:pt x="879" y="408"/>
                </a:lnTo>
                <a:lnTo>
                  <a:pt x="890" y="414"/>
                </a:lnTo>
                <a:lnTo>
                  <a:pt x="901" y="421"/>
                </a:lnTo>
                <a:lnTo>
                  <a:pt x="913" y="426"/>
                </a:lnTo>
                <a:lnTo>
                  <a:pt x="925" y="432"/>
                </a:lnTo>
                <a:lnTo>
                  <a:pt x="939" y="438"/>
                </a:lnTo>
                <a:lnTo>
                  <a:pt x="952" y="442"/>
                </a:lnTo>
                <a:lnTo>
                  <a:pt x="966" y="447"/>
                </a:lnTo>
                <a:lnTo>
                  <a:pt x="980" y="450"/>
                </a:lnTo>
                <a:lnTo>
                  <a:pt x="994" y="453"/>
                </a:lnTo>
                <a:lnTo>
                  <a:pt x="1009" y="456"/>
                </a:lnTo>
                <a:lnTo>
                  <a:pt x="1022" y="457"/>
                </a:lnTo>
                <a:lnTo>
                  <a:pt x="1036" y="457"/>
                </a:lnTo>
                <a:lnTo>
                  <a:pt x="1048" y="456"/>
                </a:lnTo>
                <a:lnTo>
                  <a:pt x="1064" y="453"/>
                </a:lnTo>
                <a:lnTo>
                  <a:pt x="1078" y="447"/>
                </a:lnTo>
                <a:lnTo>
                  <a:pt x="1091" y="442"/>
                </a:lnTo>
                <a:lnTo>
                  <a:pt x="1102" y="432"/>
                </a:lnTo>
                <a:lnTo>
                  <a:pt x="1110" y="421"/>
                </a:lnTo>
                <a:lnTo>
                  <a:pt x="1116" y="405"/>
                </a:lnTo>
                <a:lnTo>
                  <a:pt x="1121" y="386"/>
                </a:lnTo>
                <a:lnTo>
                  <a:pt x="1122" y="364"/>
                </a:lnTo>
                <a:lnTo>
                  <a:pt x="1121" y="336"/>
                </a:lnTo>
                <a:lnTo>
                  <a:pt x="1118" y="304"/>
                </a:lnTo>
                <a:lnTo>
                  <a:pt x="1111" y="269"/>
                </a:lnTo>
                <a:lnTo>
                  <a:pt x="1100" y="233"/>
                </a:lnTo>
                <a:lnTo>
                  <a:pt x="1082" y="196"/>
                </a:lnTo>
                <a:lnTo>
                  <a:pt x="1058" y="160"/>
                </a:lnTo>
                <a:lnTo>
                  <a:pt x="1027" y="127"/>
                </a:lnTo>
                <a:lnTo>
                  <a:pt x="986" y="9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53" name="Rectangle 85"/>
          <p:cNvSpPr>
            <a:spLocks noChangeArrowheads="1"/>
          </p:cNvSpPr>
          <p:nvPr/>
        </p:nvSpPr>
        <p:spPr bwMode="auto">
          <a:xfrm>
            <a:off x="7392989" y="3251200"/>
            <a:ext cx="700087" cy="376238"/>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54" name="未知"/>
          <p:cNvSpPr>
            <a:spLocks noChangeArrowheads="1"/>
          </p:cNvSpPr>
          <p:nvPr/>
        </p:nvSpPr>
        <p:spPr bwMode="auto">
          <a:xfrm>
            <a:off x="6565900" y="4325938"/>
            <a:ext cx="890588" cy="519112"/>
          </a:xfrm>
          <a:custGeom>
            <a:avLst/>
            <a:gdLst>
              <a:gd name="T0" fmla="*/ 690563 w 1122"/>
              <a:gd name="T1" fmla="*/ 22225 h 981"/>
              <a:gd name="T2" fmla="*/ 567532 w 1122"/>
              <a:gd name="T3" fmla="*/ 4233 h 981"/>
              <a:gd name="T4" fmla="*/ 419100 w 1122"/>
              <a:gd name="T5" fmla="*/ 0 h 981"/>
              <a:gd name="T6" fmla="*/ 279400 w 1122"/>
              <a:gd name="T7" fmla="*/ 7937 h 981"/>
              <a:gd name="T8" fmla="*/ 161131 w 1122"/>
              <a:gd name="T9" fmla="*/ 32279 h 981"/>
              <a:gd name="T10" fmla="*/ 30956 w 1122"/>
              <a:gd name="T11" fmla="*/ 103717 h 981"/>
              <a:gd name="T12" fmla="*/ 794 w 1122"/>
              <a:gd name="T13" fmla="*/ 204258 h 981"/>
              <a:gd name="T14" fmla="*/ 45244 w 1122"/>
              <a:gd name="T15" fmla="*/ 239712 h 981"/>
              <a:gd name="T16" fmla="*/ 112713 w 1122"/>
              <a:gd name="T17" fmla="*/ 238125 h 981"/>
              <a:gd name="T18" fmla="*/ 174625 w 1122"/>
              <a:gd name="T19" fmla="*/ 222779 h 981"/>
              <a:gd name="T20" fmla="*/ 219075 w 1122"/>
              <a:gd name="T21" fmla="*/ 200554 h 981"/>
              <a:gd name="T22" fmla="*/ 245269 w 1122"/>
              <a:gd name="T23" fmla="*/ 166687 h 981"/>
              <a:gd name="T24" fmla="*/ 246063 w 1122"/>
              <a:gd name="T25" fmla="*/ 113771 h 981"/>
              <a:gd name="T26" fmla="*/ 255588 w 1122"/>
              <a:gd name="T27" fmla="*/ 193146 h 981"/>
              <a:gd name="T28" fmla="*/ 204788 w 1122"/>
              <a:gd name="T29" fmla="*/ 258762 h 981"/>
              <a:gd name="T30" fmla="*/ 134938 w 1122"/>
              <a:gd name="T31" fmla="*/ 340783 h 981"/>
              <a:gd name="T32" fmla="*/ 84931 w 1122"/>
              <a:gd name="T33" fmla="*/ 466725 h 981"/>
              <a:gd name="T34" fmla="*/ 146844 w 1122"/>
              <a:gd name="T35" fmla="*/ 518583 h 981"/>
              <a:gd name="T36" fmla="*/ 258763 w 1122"/>
              <a:gd name="T37" fmla="*/ 519112 h 981"/>
              <a:gd name="T38" fmla="*/ 378619 w 1122"/>
              <a:gd name="T39" fmla="*/ 519112 h 981"/>
              <a:gd name="T40" fmla="*/ 440531 w 1122"/>
              <a:gd name="T41" fmla="*/ 461433 h 981"/>
              <a:gd name="T42" fmla="*/ 352425 w 1122"/>
              <a:gd name="T43" fmla="*/ 438150 h 981"/>
              <a:gd name="T44" fmla="*/ 294481 w 1122"/>
              <a:gd name="T45" fmla="*/ 379941 h 981"/>
              <a:gd name="T46" fmla="*/ 284956 w 1122"/>
              <a:gd name="T47" fmla="*/ 301625 h 981"/>
              <a:gd name="T48" fmla="*/ 327819 w 1122"/>
              <a:gd name="T49" fmla="*/ 234421 h 981"/>
              <a:gd name="T50" fmla="*/ 407988 w 1122"/>
              <a:gd name="T51" fmla="*/ 197379 h 981"/>
              <a:gd name="T52" fmla="*/ 415925 w 1122"/>
              <a:gd name="T53" fmla="*/ 128058 h 981"/>
              <a:gd name="T54" fmla="*/ 370681 w 1122"/>
              <a:gd name="T55" fmla="*/ 125412 h 981"/>
              <a:gd name="T56" fmla="*/ 388144 w 1122"/>
              <a:gd name="T57" fmla="*/ 102658 h 981"/>
              <a:gd name="T58" fmla="*/ 457994 w 1122"/>
              <a:gd name="T59" fmla="*/ 103187 h 981"/>
              <a:gd name="T60" fmla="*/ 516732 w 1122"/>
              <a:gd name="T61" fmla="*/ 102658 h 981"/>
              <a:gd name="T62" fmla="*/ 505619 w 1122"/>
              <a:gd name="T63" fmla="*/ 129117 h 981"/>
              <a:gd name="T64" fmla="*/ 453232 w 1122"/>
              <a:gd name="T65" fmla="*/ 127529 h 981"/>
              <a:gd name="T66" fmla="*/ 440531 w 1122"/>
              <a:gd name="T67" fmla="*/ 194733 h 981"/>
              <a:gd name="T68" fmla="*/ 491332 w 1122"/>
              <a:gd name="T69" fmla="*/ 200554 h 981"/>
              <a:gd name="T70" fmla="*/ 569119 w 1122"/>
              <a:gd name="T71" fmla="*/ 243416 h 981"/>
              <a:gd name="T72" fmla="*/ 604044 w 1122"/>
              <a:gd name="T73" fmla="*/ 314325 h 981"/>
              <a:gd name="T74" fmla="*/ 585788 w 1122"/>
              <a:gd name="T75" fmla="*/ 391583 h 981"/>
              <a:gd name="T76" fmla="*/ 520700 w 1122"/>
              <a:gd name="T77" fmla="*/ 445558 h 981"/>
              <a:gd name="T78" fmla="*/ 442119 w 1122"/>
              <a:gd name="T79" fmla="*/ 461433 h 981"/>
              <a:gd name="T80" fmla="*/ 446088 w 1122"/>
              <a:gd name="T81" fmla="*/ 519112 h 981"/>
              <a:gd name="T82" fmla="*/ 511969 w 1122"/>
              <a:gd name="T83" fmla="*/ 519112 h 981"/>
              <a:gd name="T84" fmla="*/ 643732 w 1122"/>
              <a:gd name="T85" fmla="*/ 519112 h 981"/>
              <a:gd name="T86" fmla="*/ 762794 w 1122"/>
              <a:gd name="T87" fmla="*/ 516995 h 981"/>
              <a:gd name="T88" fmla="*/ 802482 w 1122"/>
              <a:gd name="T89" fmla="*/ 444500 h 981"/>
              <a:gd name="T90" fmla="*/ 742950 w 1122"/>
              <a:gd name="T91" fmla="*/ 320675 h 981"/>
              <a:gd name="T92" fmla="*/ 671513 w 1122"/>
              <a:gd name="T93" fmla="*/ 245533 h 981"/>
              <a:gd name="T94" fmla="*/ 631032 w 1122"/>
              <a:gd name="T95" fmla="*/ 175683 h 981"/>
              <a:gd name="T96" fmla="*/ 651669 w 1122"/>
              <a:gd name="T97" fmla="*/ 114300 h 981"/>
              <a:gd name="T98" fmla="*/ 645319 w 1122"/>
              <a:gd name="T99" fmla="*/ 171979 h 981"/>
              <a:gd name="T100" fmla="*/ 679450 w 1122"/>
              <a:gd name="T101" fmla="*/ 206375 h 981"/>
              <a:gd name="T102" fmla="*/ 724694 w 1122"/>
              <a:gd name="T103" fmla="*/ 225425 h 981"/>
              <a:gd name="T104" fmla="*/ 788988 w 1122"/>
              <a:gd name="T105" fmla="*/ 239712 h 981"/>
              <a:gd name="T106" fmla="*/ 855663 w 1122"/>
              <a:gd name="T107" fmla="*/ 236537 h 981"/>
              <a:gd name="T108" fmla="*/ 890588 w 1122"/>
              <a:gd name="T109" fmla="*/ 192616 h 981"/>
              <a:gd name="T110" fmla="*/ 839788 w 1122"/>
              <a:gd name="T111" fmla="*/ 84667 h 98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22" h="981">
                <a:moveTo>
                  <a:pt x="986" y="98"/>
                </a:moveTo>
                <a:lnTo>
                  <a:pt x="964" y="84"/>
                </a:lnTo>
                <a:lnTo>
                  <a:pt x="941" y="72"/>
                </a:lnTo>
                <a:lnTo>
                  <a:pt x="918" y="61"/>
                </a:lnTo>
                <a:lnTo>
                  <a:pt x="894" y="52"/>
                </a:lnTo>
                <a:lnTo>
                  <a:pt x="870" y="42"/>
                </a:lnTo>
                <a:lnTo>
                  <a:pt x="847" y="35"/>
                </a:lnTo>
                <a:lnTo>
                  <a:pt x="821" y="28"/>
                </a:lnTo>
                <a:lnTo>
                  <a:pt x="796" y="21"/>
                </a:lnTo>
                <a:lnTo>
                  <a:pt x="770" y="15"/>
                </a:lnTo>
                <a:lnTo>
                  <a:pt x="744" y="11"/>
                </a:lnTo>
                <a:lnTo>
                  <a:pt x="715" y="8"/>
                </a:lnTo>
                <a:lnTo>
                  <a:pt x="687" y="4"/>
                </a:lnTo>
                <a:lnTo>
                  <a:pt x="657" y="3"/>
                </a:lnTo>
                <a:lnTo>
                  <a:pt x="627" y="1"/>
                </a:lnTo>
                <a:lnTo>
                  <a:pt x="594" y="0"/>
                </a:lnTo>
                <a:lnTo>
                  <a:pt x="562" y="0"/>
                </a:lnTo>
                <a:lnTo>
                  <a:pt x="528" y="0"/>
                </a:lnTo>
                <a:lnTo>
                  <a:pt x="496" y="1"/>
                </a:lnTo>
                <a:lnTo>
                  <a:pt x="465" y="3"/>
                </a:lnTo>
                <a:lnTo>
                  <a:pt x="436" y="4"/>
                </a:lnTo>
                <a:lnTo>
                  <a:pt x="407" y="8"/>
                </a:lnTo>
                <a:lnTo>
                  <a:pt x="378" y="11"/>
                </a:lnTo>
                <a:lnTo>
                  <a:pt x="352" y="15"/>
                </a:lnTo>
                <a:lnTo>
                  <a:pt x="326" y="21"/>
                </a:lnTo>
                <a:lnTo>
                  <a:pt x="300" y="28"/>
                </a:lnTo>
                <a:lnTo>
                  <a:pt x="275" y="35"/>
                </a:lnTo>
                <a:lnTo>
                  <a:pt x="252" y="42"/>
                </a:lnTo>
                <a:lnTo>
                  <a:pt x="227" y="52"/>
                </a:lnTo>
                <a:lnTo>
                  <a:pt x="203" y="61"/>
                </a:lnTo>
                <a:lnTo>
                  <a:pt x="181" y="72"/>
                </a:lnTo>
                <a:lnTo>
                  <a:pt x="157" y="84"/>
                </a:lnTo>
                <a:lnTo>
                  <a:pt x="135" y="98"/>
                </a:lnTo>
                <a:lnTo>
                  <a:pt x="94" y="127"/>
                </a:lnTo>
                <a:lnTo>
                  <a:pt x="63" y="160"/>
                </a:lnTo>
                <a:lnTo>
                  <a:pt x="39" y="196"/>
                </a:lnTo>
                <a:lnTo>
                  <a:pt x="22" y="233"/>
                </a:lnTo>
                <a:lnTo>
                  <a:pt x="11" y="269"/>
                </a:lnTo>
                <a:lnTo>
                  <a:pt x="4" y="304"/>
                </a:lnTo>
                <a:lnTo>
                  <a:pt x="1" y="336"/>
                </a:lnTo>
                <a:lnTo>
                  <a:pt x="0" y="364"/>
                </a:lnTo>
                <a:lnTo>
                  <a:pt x="1" y="386"/>
                </a:lnTo>
                <a:lnTo>
                  <a:pt x="6" y="405"/>
                </a:lnTo>
                <a:lnTo>
                  <a:pt x="11" y="421"/>
                </a:lnTo>
                <a:lnTo>
                  <a:pt x="20" y="432"/>
                </a:lnTo>
                <a:lnTo>
                  <a:pt x="30" y="442"/>
                </a:lnTo>
                <a:lnTo>
                  <a:pt x="43" y="447"/>
                </a:lnTo>
                <a:lnTo>
                  <a:pt x="57" y="453"/>
                </a:lnTo>
                <a:lnTo>
                  <a:pt x="73" y="456"/>
                </a:lnTo>
                <a:lnTo>
                  <a:pt x="86" y="457"/>
                </a:lnTo>
                <a:lnTo>
                  <a:pt x="99" y="457"/>
                </a:lnTo>
                <a:lnTo>
                  <a:pt x="113" y="456"/>
                </a:lnTo>
                <a:lnTo>
                  <a:pt x="127" y="453"/>
                </a:lnTo>
                <a:lnTo>
                  <a:pt x="142" y="450"/>
                </a:lnTo>
                <a:lnTo>
                  <a:pt x="155" y="447"/>
                </a:lnTo>
                <a:lnTo>
                  <a:pt x="168" y="442"/>
                </a:lnTo>
                <a:lnTo>
                  <a:pt x="183" y="438"/>
                </a:lnTo>
                <a:lnTo>
                  <a:pt x="195" y="432"/>
                </a:lnTo>
                <a:lnTo>
                  <a:pt x="208" y="426"/>
                </a:lnTo>
                <a:lnTo>
                  <a:pt x="220" y="421"/>
                </a:lnTo>
                <a:lnTo>
                  <a:pt x="231" y="414"/>
                </a:lnTo>
                <a:lnTo>
                  <a:pt x="241" y="408"/>
                </a:lnTo>
                <a:lnTo>
                  <a:pt x="250" y="403"/>
                </a:lnTo>
                <a:lnTo>
                  <a:pt x="258" y="396"/>
                </a:lnTo>
                <a:lnTo>
                  <a:pt x="265" y="390"/>
                </a:lnTo>
                <a:lnTo>
                  <a:pt x="276" y="379"/>
                </a:lnTo>
                <a:lnTo>
                  <a:pt x="286" y="368"/>
                </a:lnTo>
                <a:lnTo>
                  <a:pt x="294" y="357"/>
                </a:lnTo>
                <a:lnTo>
                  <a:pt x="300" y="346"/>
                </a:lnTo>
                <a:lnTo>
                  <a:pt x="304" y="336"/>
                </a:lnTo>
                <a:lnTo>
                  <a:pt x="308" y="325"/>
                </a:lnTo>
                <a:lnTo>
                  <a:pt x="309" y="315"/>
                </a:lnTo>
                <a:lnTo>
                  <a:pt x="308" y="305"/>
                </a:lnTo>
                <a:lnTo>
                  <a:pt x="302" y="283"/>
                </a:lnTo>
                <a:lnTo>
                  <a:pt x="297" y="255"/>
                </a:lnTo>
                <a:lnTo>
                  <a:pt x="294" y="231"/>
                </a:lnTo>
                <a:lnTo>
                  <a:pt x="300" y="216"/>
                </a:lnTo>
                <a:lnTo>
                  <a:pt x="310" y="215"/>
                </a:lnTo>
                <a:lnTo>
                  <a:pt x="318" y="222"/>
                </a:lnTo>
                <a:lnTo>
                  <a:pt x="323" y="237"/>
                </a:lnTo>
                <a:lnTo>
                  <a:pt x="327" y="259"/>
                </a:lnTo>
                <a:lnTo>
                  <a:pt x="328" y="295"/>
                </a:lnTo>
                <a:lnTo>
                  <a:pt x="326" y="332"/>
                </a:lnTo>
                <a:lnTo>
                  <a:pt x="322" y="365"/>
                </a:lnTo>
                <a:lnTo>
                  <a:pt x="317" y="389"/>
                </a:lnTo>
                <a:lnTo>
                  <a:pt x="312" y="401"/>
                </a:lnTo>
                <a:lnTo>
                  <a:pt x="302" y="419"/>
                </a:lnTo>
                <a:lnTo>
                  <a:pt x="290" y="440"/>
                </a:lnTo>
                <a:lnTo>
                  <a:pt x="275" y="464"/>
                </a:lnTo>
                <a:lnTo>
                  <a:pt x="258" y="489"/>
                </a:lnTo>
                <a:lnTo>
                  <a:pt x="243" y="513"/>
                </a:lnTo>
                <a:lnTo>
                  <a:pt x="227" y="535"/>
                </a:lnTo>
                <a:lnTo>
                  <a:pt x="213" y="553"/>
                </a:lnTo>
                <a:lnTo>
                  <a:pt x="200" y="574"/>
                </a:lnTo>
                <a:lnTo>
                  <a:pt x="185" y="606"/>
                </a:lnTo>
                <a:lnTo>
                  <a:pt x="170" y="644"/>
                </a:lnTo>
                <a:lnTo>
                  <a:pt x="154" y="686"/>
                </a:lnTo>
                <a:lnTo>
                  <a:pt x="138" y="730"/>
                </a:lnTo>
                <a:lnTo>
                  <a:pt x="126" y="772"/>
                </a:lnTo>
                <a:lnTo>
                  <a:pt x="116" y="810"/>
                </a:lnTo>
                <a:lnTo>
                  <a:pt x="110" y="840"/>
                </a:lnTo>
                <a:lnTo>
                  <a:pt x="107" y="882"/>
                </a:lnTo>
                <a:lnTo>
                  <a:pt x="108" y="916"/>
                </a:lnTo>
                <a:lnTo>
                  <a:pt x="113" y="941"/>
                </a:lnTo>
                <a:lnTo>
                  <a:pt x="124" y="957"/>
                </a:lnTo>
                <a:lnTo>
                  <a:pt x="139" y="970"/>
                </a:lnTo>
                <a:lnTo>
                  <a:pt x="159" y="977"/>
                </a:lnTo>
                <a:lnTo>
                  <a:pt x="185" y="980"/>
                </a:lnTo>
                <a:lnTo>
                  <a:pt x="217" y="981"/>
                </a:lnTo>
                <a:lnTo>
                  <a:pt x="235" y="981"/>
                </a:lnTo>
                <a:lnTo>
                  <a:pt x="255" y="981"/>
                </a:lnTo>
                <a:lnTo>
                  <a:pt x="277" y="981"/>
                </a:lnTo>
                <a:lnTo>
                  <a:pt x="301" y="981"/>
                </a:lnTo>
                <a:lnTo>
                  <a:pt x="326" y="981"/>
                </a:lnTo>
                <a:lnTo>
                  <a:pt x="352" y="981"/>
                </a:lnTo>
                <a:lnTo>
                  <a:pt x="378" y="981"/>
                </a:lnTo>
                <a:lnTo>
                  <a:pt x="404" y="981"/>
                </a:lnTo>
                <a:lnTo>
                  <a:pt x="430" y="981"/>
                </a:lnTo>
                <a:lnTo>
                  <a:pt x="455" y="981"/>
                </a:lnTo>
                <a:lnTo>
                  <a:pt x="477" y="981"/>
                </a:lnTo>
                <a:lnTo>
                  <a:pt x="499" y="981"/>
                </a:lnTo>
                <a:lnTo>
                  <a:pt x="518" y="981"/>
                </a:lnTo>
                <a:lnTo>
                  <a:pt x="533" y="981"/>
                </a:lnTo>
                <a:lnTo>
                  <a:pt x="546" y="981"/>
                </a:lnTo>
                <a:lnTo>
                  <a:pt x="555" y="981"/>
                </a:lnTo>
                <a:lnTo>
                  <a:pt x="555" y="872"/>
                </a:lnTo>
                <a:lnTo>
                  <a:pt x="535" y="871"/>
                </a:lnTo>
                <a:lnTo>
                  <a:pt x="514" y="867"/>
                </a:lnTo>
                <a:lnTo>
                  <a:pt x="495" y="860"/>
                </a:lnTo>
                <a:lnTo>
                  <a:pt x="477" y="851"/>
                </a:lnTo>
                <a:lnTo>
                  <a:pt x="459" y="842"/>
                </a:lnTo>
                <a:lnTo>
                  <a:pt x="444" y="828"/>
                </a:lnTo>
                <a:lnTo>
                  <a:pt x="428" y="814"/>
                </a:lnTo>
                <a:lnTo>
                  <a:pt x="413" y="797"/>
                </a:lnTo>
                <a:lnTo>
                  <a:pt x="401" y="779"/>
                </a:lnTo>
                <a:lnTo>
                  <a:pt x="389" y="761"/>
                </a:lnTo>
                <a:lnTo>
                  <a:pt x="380" y="740"/>
                </a:lnTo>
                <a:lnTo>
                  <a:pt x="371" y="718"/>
                </a:lnTo>
                <a:lnTo>
                  <a:pt x="364" y="694"/>
                </a:lnTo>
                <a:lnTo>
                  <a:pt x="359" y="670"/>
                </a:lnTo>
                <a:lnTo>
                  <a:pt x="356" y="645"/>
                </a:lnTo>
                <a:lnTo>
                  <a:pt x="355" y="620"/>
                </a:lnTo>
                <a:lnTo>
                  <a:pt x="356" y="595"/>
                </a:lnTo>
                <a:lnTo>
                  <a:pt x="359" y="570"/>
                </a:lnTo>
                <a:lnTo>
                  <a:pt x="364" y="546"/>
                </a:lnTo>
                <a:lnTo>
                  <a:pt x="371" y="523"/>
                </a:lnTo>
                <a:lnTo>
                  <a:pt x="380" y="500"/>
                </a:lnTo>
                <a:lnTo>
                  <a:pt x="389" y="479"/>
                </a:lnTo>
                <a:lnTo>
                  <a:pt x="401" y="461"/>
                </a:lnTo>
                <a:lnTo>
                  <a:pt x="413" y="443"/>
                </a:lnTo>
                <a:lnTo>
                  <a:pt x="428" y="426"/>
                </a:lnTo>
                <a:lnTo>
                  <a:pt x="444" y="412"/>
                </a:lnTo>
                <a:lnTo>
                  <a:pt x="459" y="399"/>
                </a:lnTo>
                <a:lnTo>
                  <a:pt x="477" y="389"/>
                </a:lnTo>
                <a:lnTo>
                  <a:pt x="495" y="380"/>
                </a:lnTo>
                <a:lnTo>
                  <a:pt x="514" y="373"/>
                </a:lnTo>
                <a:lnTo>
                  <a:pt x="535" y="369"/>
                </a:lnTo>
                <a:lnTo>
                  <a:pt x="555" y="368"/>
                </a:lnTo>
                <a:lnTo>
                  <a:pt x="555" y="241"/>
                </a:lnTo>
                <a:lnTo>
                  <a:pt x="546" y="241"/>
                </a:lnTo>
                <a:lnTo>
                  <a:pt x="536" y="241"/>
                </a:lnTo>
                <a:lnTo>
                  <a:pt x="524" y="242"/>
                </a:lnTo>
                <a:lnTo>
                  <a:pt x="513" y="242"/>
                </a:lnTo>
                <a:lnTo>
                  <a:pt x="503" y="242"/>
                </a:lnTo>
                <a:lnTo>
                  <a:pt x="493" y="244"/>
                </a:lnTo>
                <a:lnTo>
                  <a:pt x="484" y="244"/>
                </a:lnTo>
                <a:lnTo>
                  <a:pt x="477" y="244"/>
                </a:lnTo>
                <a:lnTo>
                  <a:pt x="467" y="237"/>
                </a:lnTo>
                <a:lnTo>
                  <a:pt x="462" y="220"/>
                </a:lnTo>
                <a:lnTo>
                  <a:pt x="460" y="203"/>
                </a:lnTo>
                <a:lnTo>
                  <a:pt x="465" y="195"/>
                </a:lnTo>
                <a:lnTo>
                  <a:pt x="471" y="194"/>
                </a:lnTo>
                <a:lnTo>
                  <a:pt x="478" y="194"/>
                </a:lnTo>
                <a:lnTo>
                  <a:pt x="489" y="194"/>
                </a:lnTo>
                <a:lnTo>
                  <a:pt x="501" y="194"/>
                </a:lnTo>
                <a:lnTo>
                  <a:pt x="514" y="194"/>
                </a:lnTo>
                <a:lnTo>
                  <a:pt x="530" y="195"/>
                </a:lnTo>
                <a:lnTo>
                  <a:pt x="546" y="195"/>
                </a:lnTo>
                <a:lnTo>
                  <a:pt x="562" y="195"/>
                </a:lnTo>
                <a:lnTo>
                  <a:pt x="577" y="195"/>
                </a:lnTo>
                <a:lnTo>
                  <a:pt x="593" y="195"/>
                </a:lnTo>
                <a:lnTo>
                  <a:pt x="608" y="194"/>
                </a:lnTo>
                <a:lnTo>
                  <a:pt x="621" y="194"/>
                </a:lnTo>
                <a:lnTo>
                  <a:pt x="633" y="194"/>
                </a:lnTo>
                <a:lnTo>
                  <a:pt x="644" y="194"/>
                </a:lnTo>
                <a:lnTo>
                  <a:pt x="651" y="194"/>
                </a:lnTo>
                <a:lnTo>
                  <a:pt x="657" y="195"/>
                </a:lnTo>
                <a:lnTo>
                  <a:pt x="662" y="203"/>
                </a:lnTo>
                <a:lnTo>
                  <a:pt x="662" y="220"/>
                </a:lnTo>
                <a:lnTo>
                  <a:pt x="655" y="237"/>
                </a:lnTo>
                <a:lnTo>
                  <a:pt x="645" y="244"/>
                </a:lnTo>
                <a:lnTo>
                  <a:pt x="637" y="244"/>
                </a:lnTo>
                <a:lnTo>
                  <a:pt x="628" y="244"/>
                </a:lnTo>
                <a:lnTo>
                  <a:pt x="617" y="242"/>
                </a:lnTo>
                <a:lnTo>
                  <a:pt x="605" y="242"/>
                </a:lnTo>
                <a:lnTo>
                  <a:pt x="593" y="242"/>
                </a:lnTo>
                <a:lnTo>
                  <a:pt x="581" y="241"/>
                </a:lnTo>
                <a:lnTo>
                  <a:pt x="571" y="241"/>
                </a:lnTo>
                <a:lnTo>
                  <a:pt x="562" y="241"/>
                </a:lnTo>
                <a:lnTo>
                  <a:pt x="560" y="241"/>
                </a:lnTo>
                <a:lnTo>
                  <a:pt x="558" y="241"/>
                </a:lnTo>
                <a:lnTo>
                  <a:pt x="557" y="241"/>
                </a:lnTo>
                <a:lnTo>
                  <a:pt x="555" y="241"/>
                </a:lnTo>
                <a:lnTo>
                  <a:pt x="555" y="368"/>
                </a:lnTo>
                <a:lnTo>
                  <a:pt x="556" y="368"/>
                </a:lnTo>
                <a:lnTo>
                  <a:pt x="557" y="368"/>
                </a:lnTo>
                <a:lnTo>
                  <a:pt x="558" y="368"/>
                </a:lnTo>
                <a:lnTo>
                  <a:pt x="580" y="369"/>
                </a:lnTo>
                <a:lnTo>
                  <a:pt x="600" y="373"/>
                </a:lnTo>
                <a:lnTo>
                  <a:pt x="619" y="379"/>
                </a:lnTo>
                <a:lnTo>
                  <a:pt x="638" y="387"/>
                </a:lnTo>
                <a:lnTo>
                  <a:pt x="656" y="399"/>
                </a:lnTo>
                <a:lnTo>
                  <a:pt x="673" y="411"/>
                </a:lnTo>
                <a:lnTo>
                  <a:pt x="688" y="425"/>
                </a:lnTo>
                <a:lnTo>
                  <a:pt x="703" y="442"/>
                </a:lnTo>
                <a:lnTo>
                  <a:pt x="717" y="460"/>
                </a:lnTo>
                <a:lnTo>
                  <a:pt x="728" y="479"/>
                </a:lnTo>
                <a:lnTo>
                  <a:pt x="738" y="500"/>
                </a:lnTo>
                <a:lnTo>
                  <a:pt x="747" y="523"/>
                </a:lnTo>
                <a:lnTo>
                  <a:pt x="754" y="545"/>
                </a:lnTo>
                <a:lnTo>
                  <a:pt x="758" y="570"/>
                </a:lnTo>
                <a:lnTo>
                  <a:pt x="761" y="594"/>
                </a:lnTo>
                <a:lnTo>
                  <a:pt x="763" y="620"/>
                </a:lnTo>
                <a:lnTo>
                  <a:pt x="761" y="647"/>
                </a:lnTo>
                <a:lnTo>
                  <a:pt x="758" y="670"/>
                </a:lnTo>
                <a:lnTo>
                  <a:pt x="754" y="695"/>
                </a:lnTo>
                <a:lnTo>
                  <a:pt x="747" y="718"/>
                </a:lnTo>
                <a:lnTo>
                  <a:pt x="738" y="740"/>
                </a:lnTo>
                <a:lnTo>
                  <a:pt x="728" y="761"/>
                </a:lnTo>
                <a:lnTo>
                  <a:pt x="717" y="780"/>
                </a:lnTo>
                <a:lnTo>
                  <a:pt x="703" y="798"/>
                </a:lnTo>
                <a:lnTo>
                  <a:pt x="688" y="815"/>
                </a:lnTo>
                <a:lnTo>
                  <a:pt x="673" y="829"/>
                </a:lnTo>
                <a:lnTo>
                  <a:pt x="656" y="842"/>
                </a:lnTo>
                <a:lnTo>
                  <a:pt x="638" y="853"/>
                </a:lnTo>
                <a:lnTo>
                  <a:pt x="619" y="861"/>
                </a:lnTo>
                <a:lnTo>
                  <a:pt x="600" y="867"/>
                </a:lnTo>
                <a:lnTo>
                  <a:pt x="580" y="871"/>
                </a:lnTo>
                <a:lnTo>
                  <a:pt x="558" y="872"/>
                </a:lnTo>
                <a:lnTo>
                  <a:pt x="557" y="872"/>
                </a:lnTo>
                <a:lnTo>
                  <a:pt x="556" y="872"/>
                </a:lnTo>
                <a:lnTo>
                  <a:pt x="555" y="872"/>
                </a:lnTo>
                <a:lnTo>
                  <a:pt x="555" y="981"/>
                </a:lnTo>
                <a:lnTo>
                  <a:pt x="558" y="981"/>
                </a:lnTo>
                <a:lnTo>
                  <a:pt x="560" y="981"/>
                </a:lnTo>
                <a:lnTo>
                  <a:pt x="562" y="981"/>
                </a:lnTo>
                <a:lnTo>
                  <a:pt x="564" y="981"/>
                </a:lnTo>
                <a:lnTo>
                  <a:pt x="573" y="981"/>
                </a:lnTo>
                <a:lnTo>
                  <a:pt x="585" y="981"/>
                </a:lnTo>
                <a:lnTo>
                  <a:pt x="602" y="981"/>
                </a:lnTo>
                <a:lnTo>
                  <a:pt x="622" y="981"/>
                </a:lnTo>
                <a:lnTo>
                  <a:pt x="645" y="981"/>
                </a:lnTo>
                <a:lnTo>
                  <a:pt x="671" y="981"/>
                </a:lnTo>
                <a:lnTo>
                  <a:pt x="697" y="981"/>
                </a:lnTo>
                <a:lnTo>
                  <a:pt x="726" y="981"/>
                </a:lnTo>
                <a:lnTo>
                  <a:pt x="754" y="981"/>
                </a:lnTo>
                <a:lnTo>
                  <a:pt x="783" y="981"/>
                </a:lnTo>
                <a:lnTo>
                  <a:pt x="811" y="981"/>
                </a:lnTo>
                <a:lnTo>
                  <a:pt x="838" y="981"/>
                </a:lnTo>
                <a:lnTo>
                  <a:pt x="863" y="981"/>
                </a:lnTo>
                <a:lnTo>
                  <a:pt x="885" y="981"/>
                </a:lnTo>
                <a:lnTo>
                  <a:pt x="905" y="981"/>
                </a:lnTo>
                <a:lnTo>
                  <a:pt x="937" y="980"/>
                </a:lnTo>
                <a:lnTo>
                  <a:pt x="961" y="977"/>
                </a:lnTo>
                <a:lnTo>
                  <a:pt x="983" y="970"/>
                </a:lnTo>
                <a:lnTo>
                  <a:pt x="997" y="957"/>
                </a:lnTo>
                <a:lnTo>
                  <a:pt x="1009" y="941"/>
                </a:lnTo>
                <a:lnTo>
                  <a:pt x="1013" y="916"/>
                </a:lnTo>
                <a:lnTo>
                  <a:pt x="1014" y="882"/>
                </a:lnTo>
                <a:lnTo>
                  <a:pt x="1011" y="840"/>
                </a:lnTo>
                <a:lnTo>
                  <a:pt x="1005" y="810"/>
                </a:lnTo>
                <a:lnTo>
                  <a:pt x="995" y="772"/>
                </a:lnTo>
                <a:lnTo>
                  <a:pt x="983" y="730"/>
                </a:lnTo>
                <a:lnTo>
                  <a:pt x="968" y="686"/>
                </a:lnTo>
                <a:lnTo>
                  <a:pt x="951" y="644"/>
                </a:lnTo>
                <a:lnTo>
                  <a:pt x="936" y="606"/>
                </a:lnTo>
                <a:lnTo>
                  <a:pt x="921" y="574"/>
                </a:lnTo>
                <a:lnTo>
                  <a:pt x="907" y="553"/>
                </a:lnTo>
                <a:lnTo>
                  <a:pt x="894" y="535"/>
                </a:lnTo>
                <a:lnTo>
                  <a:pt x="878" y="513"/>
                </a:lnTo>
                <a:lnTo>
                  <a:pt x="863" y="489"/>
                </a:lnTo>
                <a:lnTo>
                  <a:pt x="846" y="464"/>
                </a:lnTo>
                <a:lnTo>
                  <a:pt x="831" y="440"/>
                </a:lnTo>
                <a:lnTo>
                  <a:pt x="819" y="419"/>
                </a:lnTo>
                <a:lnTo>
                  <a:pt x="809" y="401"/>
                </a:lnTo>
                <a:lnTo>
                  <a:pt x="804" y="389"/>
                </a:lnTo>
                <a:lnTo>
                  <a:pt x="799" y="365"/>
                </a:lnTo>
                <a:lnTo>
                  <a:pt x="795" y="332"/>
                </a:lnTo>
                <a:lnTo>
                  <a:pt x="794" y="295"/>
                </a:lnTo>
                <a:lnTo>
                  <a:pt x="794" y="259"/>
                </a:lnTo>
                <a:lnTo>
                  <a:pt x="797" y="237"/>
                </a:lnTo>
                <a:lnTo>
                  <a:pt x="803" y="222"/>
                </a:lnTo>
                <a:lnTo>
                  <a:pt x="811" y="215"/>
                </a:lnTo>
                <a:lnTo>
                  <a:pt x="821" y="216"/>
                </a:lnTo>
                <a:lnTo>
                  <a:pt x="827" y="231"/>
                </a:lnTo>
                <a:lnTo>
                  <a:pt x="824" y="255"/>
                </a:lnTo>
                <a:lnTo>
                  <a:pt x="819" y="283"/>
                </a:lnTo>
                <a:lnTo>
                  <a:pt x="813" y="305"/>
                </a:lnTo>
                <a:lnTo>
                  <a:pt x="812" y="315"/>
                </a:lnTo>
                <a:lnTo>
                  <a:pt x="813" y="325"/>
                </a:lnTo>
                <a:lnTo>
                  <a:pt x="817" y="336"/>
                </a:lnTo>
                <a:lnTo>
                  <a:pt x="821" y="346"/>
                </a:lnTo>
                <a:lnTo>
                  <a:pt x="827" y="357"/>
                </a:lnTo>
                <a:lnTo>
                  <a:pt x="834" y="368"/>
                </a:lnTo>
                <a:lnTo>
                  <a:pt x="845" y="379"/>
                </a:lnTo>
                <a:lnTo>
                  <a:pt x="856" y="390"/>
                </a:lnTo>
                <a:lnTo>
                  <a:pt x="863" y="396"/>
                </a:lnTo>
                <a:lnTo>
                  <a:pt x="870" y="403"/>
                </a:lnTo>
                <a:lnTo>
                  <a:pt x="879" y="408"/>
                </a:lnTo>
                <a:lnTo>
                  <a:pt x="890" y="414"/>
                </a:lnTo>
                <a:lnTo>
                  <a:pt x="901" y="421"/>
                </a:lnTo>
                <a:lnTo>
                  <a:pt x="913" y="426"/>
                </a:lnTo>
                <a:lnTo>
                  <a:pt x="925" y="432"/>
                </a:lnTo>
                <a:lnTo>
                  <a:pt x="939" y="438"/>
                </a:lnTo>
                <a:lnTo>
                  <a:pt x="952" y="442"/>
                </a:lnTo>
                <a:lnTo>
                  <a:pt x="966" y="447"/>
                </a:lnTo>
                <a:lnTo>
                  <a:pt x="980" y="450"/>
                </a:lnTo>
                <a:lnTo>
                  <a:pt x="994" y="453"/>
                </a:lnTo>
                <a:lnTo>
                  <a:pt x="1009" y="456"/>
                </a:lnTo>
                <a:lnTo>
                  <a:pt x="1022" y="457"/>
                </a:lnTo>
                <a:lnTo>
                  <a:pt x="1036" y="457"/>
                </a:lnTo>
                <a:lnTo>
                  <a:pt x="1048" y="456"/>
                </a:lnTo>
                <a:lnTo>
                  <a:pt x="1064" y="453"/>
                </a:lnTo>
                <a:lnTo>
                  <a:pt x="1078" y="447"/>
                </a:lnTo>
                <a:lnTo>
                  <a:pt x="1091" y="442"/>
                </a:lnTo>
                <a:lnTo>
                  <a:pt x="1102" y="432"/>
                </a:lnTo>
                <a:lnTo>
                  <a:pt x="1110" y="421"/>
                </a:lnTo>
                <a:lnTo>
                  <a:pt x="1116" y="405"/>
                </a:lnTo>
                <a:lnTo>
                  <a:pt x="1121" y="386"/>
                </a:lnTo>
                <a:lnTo>
                  <a:pt x="1122" y="364"/>
                </a:lnTo>
                <a:lnTo>
                  <a:pt x="1121" y="336"/>
                </a:lnTo>
                <a:lnTo>
                  <a:pt x="1118" y="304"/>
                </a:lnTo>
                <a:lnTo>
                  <a:pt x="1111" y="269"/>
                </a:lnTo>
                <a:lnTo>
                  <a:pt x="1100" y="233"/>
                </a:lnTo>
                <a:lnTo>
                  <a:pt x="1082" y="196"/>
                </a:lnTo>
                <a:lnTo>
                  <a:pt x="1058" y="160"/>
                </a:lnTo>
                <a:lnTo>
                  <a:pt x="1027" y="127"/>
                </a:lnTo>
                <a:lnTo>
                  <a:pt x="986" y="9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8455" name="Group 87"/>
          <p:cNvGrpSpPr>
            <a:grpSpLocks/>
          </p:cNvGrpSpPr>
          <p:nvPr/>
        </p:nvGrpSpPr>
        <p:grpSpPr bwMode="auto">
          <a:xfrm>
            <a:off x="1833564" y="2551113"/>
            <a:ext cx="8555037" cy="3371850"/>
            <a:chOff x="0" y="0"/>
            <a:chExt cx="5389" cy="2124"/>
          </a:xfrm>
        </p:grpSpPr>
        <p:sp>
          <p:nvSpPr>
            <p:cNvPr id="58468" name="Rectangle 88"/>
            <p:cNvSpPr>
              <a:spLocks noChangeArrowheads="1"/>
            </p:cNvSpPr>
            <p:nvPr/>
          </p:nvSpPr>
          <p:spPr bwMode="auto">
            <a:xfrm>
              <a:off x="4948" y="1259"/>
              <a:ext cx="441" cy="237"/>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8469" name="Text Box 89"/>
            <p:cNvSpPr txBox="1">
              <a:spLocks noChangeArrowheads="1"/>
            </p:cNvSpPr>
            <p:nvPr/>
          </p:nvSpPr>
          <p:spPr bwMode="auto">
            <a:xfrm>
              <a:off x="4962" y="1273"/>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华文楷体" panose="02010600040101010101" pitchFamily="2" charset="-122"/>
                  <a:ea typeface="华文楷体" panose="02010600040101010101" pitchFamily="2" charset="-122"/>
                </a:rPr>
                <a:t>data</a:t>
              </a:r>
              <a:endParaRPr lang="zh-CN" altLang="zh-CN" sz="2400">
                <a:latin typeface="华文楷体" panose="02010600040101010101" pitchFamily="2" charset="-122"/>
                <a:ea typeface="华文楷体" panose="02010600040101010101" pitchFamily="2" charset="-122"/>
              </a:endParaRPr>
            </a:p>
          </p:txBody>
        </p:sp>
        <p:grpSp>
          <p:nvGrpSpPr>
            <p:cNvPr id="58470" name="Group 90"/>
            <p:cNvGrpSpPr>
              <a:grpSpLocks/>
            </p:cNvGrpSpPr>
            <p:nvPr/>
          </p:nvGrpSpPr>
          <p:grpSpPr bwMode="auto">
            <a:xfrm>
              <a:off x="0" y="0"/>
              <a:ext cx="5170" cy="2124"/>
              <a:chOff x="0" y="0"/>
              <a:chExt cx="5170" cy="2124"/>
            </a:xfrm>
          </p:grpSpPr>
          <p:grpSp>
            <p:nvGrpSpPr>
              <p:cNvPr id="58471" name="Group 91"/>
              <p:cNvGrpSpPr>
                <a:grpSpLocks/>
              </p:cNvGrpSpPr>
              <p:nvPr/>
            </p:nvGrpSpPr>
            <p:grpSpPr bwMode="auto">
              <a:xfrm>
                <a:off x="2762" y="0"/>
                <a:ext cx="2408" cy="1822"/>
                <a:chOff x="0" y="0"/>
                <a:chExt cx="2408" cy="1822"/>
              </a:xfrm>
            </p:grpSpPr>
            <p:sp>
              <p:nvSpPr>
                <p:cNvPr id="58473" name="Line 92"/>
                <p:cNvSpPr>
                  <a:spLocks noChangeShapeType="1"/>
                </p:cNvSpPr>
                <p:nvPr/>
              </p:nvSpPr>
              <p:spPr bwMode="auto">
                <a:xfrm flipH="1" flipV="1">
                  <a:off x="600" y="468"/>
                  <a:ext cx="126" cy="10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74" name="未知"/>
                <p:cNvSpPr>
                  <a:spLocks noChangeArrowheads="1"/>
                </p:cNvSpPr>
                <p:nvPr/>
              </p:nvSpPr>
              <p:spPr bwMode="auto">
                <a:xfrm>
                  <a:off x="0" y="0"/>
                  <a:ext cx="2408" cy="1822"/>
                </a:xfrm>
                <a:custGeom>
                  <a:avLst/>
                  <a:gdLst>
                    <a:gd name="T0" fmla="*/ 0 w 2408"/>
                    <a:gd name="T1" fmla="*/ 0 h 1822"/>
                    <a:gd name="T2" fmla="*/ 6 w 2408"/>
                    <a:gd name="T3" fmla="*/ 126 h 1822"/>
                    <a:gd name="T4" fmla="*/ 2408 w 2408"/>
                    <a:gd name="T5" fmla="*/ 1822 h 1822"/>
                    <a:gd name="T6" fmla="*/ 0 60000 65536"/>
                    <a:gd name="T7" fmla="*/ 0 60000 65536"/>
                    <a:gd name="T8" fmla="*/ 0 60000 65536"/>
                  </a:gdLst>
                  <a:ahLst/>
                  <a:cxnLst>
                    <a:cxn ang="T6">
                      <a:pos x="T0" y="T1"/>
                    </a:cxn>
                    <a:cxn ang="T7">
                      <a:pos x="T2" y="T3"/>
                    </a:cxn>
                    <a:cxn ang="T8">
                      <a:pos x="T4" y="T5"/>
                    </a:cxn>
                  </a:cxnLst>
                  <a:rect l="0" t="0" r="r" b="b"/>
                  <a:pathLst>
                    <a:path w="2408" h="1822">
                      <a:moveTo>
                        <a:pt x="0" y="0"/>
                      </a:moveTo>
                      <a:lnTo>
                        <a:pt x="6" y="126"/>
                      </a:lnTo>
                      <a:lnTo>
                        <a:pt x="2408" y="1822"/>
                      </a:lnTo>
                    </a:path>
                  </a:pathLst>
                </a:custGeom>
                <a:noFill/>
                <a:ln w="3810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75" name="Text Box 94"/>
                <p:cNvSpPr txBox="1">
                  <a:spLocks noChangeArrowheads="1"/>
                </p:cNvSpPr>
                <p:nvPr/>
              </p:nvSpPr>
              <p:spPr bwMode="auto">
                <a:xfrm>
                  <a:off x="754" y="511"/>
                  <a:ext cx="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华文楷体" panose="02010600040101010101" pitchFamily="2" charset="-122"/>
                      <a:ea typeface="华文楷体" panose="02010600040101010101" pitchFamily="2" charset="-122"/>
                    </a:rPr>
                    <a:t>ack</a:t>
                  </a:r>
                  <a:endParaRPr lang="zh-CN" altLang="zh-CN" sz="2400">
                    <a:latin typeface="华文楷体" panose="02010600040101010101" pitchFamily="2" charset="-122"/>
                    <a:ea typeface="华文楷体" panose="02010600040101010101" pitchFamily="2" charset="-122"/>
                  </a:endParaRPr>
                </a:p>
              </p:txBody>
            </p:sp>
          </p:grpSp>
          <p:sp>
            <p:nvSpPr>
              <p:cNvPr id="58472" name="Text Box 95"/>
              <p:cNvSpPr txBox="1">
                <a:spLocks noChangeArrowheads="1"/>
              </p:cNvSpPr>
              <p:nvPr/>
            </p:nvSpPr>
            <p:spPr bwMode="auto">
              <a:xfrm>
                <a:off x="0" y="1554"/>
                <a:ext cx="2717"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3688" indent="-2936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endParaRPr lang="zh-CN" altLang="zh-CN" sz="240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Char char="•"/>
                </a:pPr>
                <a:r>
                  <a:rPr lang="zh-CN" altLang="zh-CN" sz="2400">
                    <a:latin typeface="华文楷体" panose="02010600040101010101" pitchFamily="2" charset="-122"/>
                    <a:ea typeface="华文楷体" panose="02010600040101010101" pitchFamily="2" charset="-122"/>
                  </a:rPr>
                  <a:t>等待接收对等层的应答。 </a:t>
                </a:r>
              </a:p>
            </p:txBody>
          </p:sp>
        </p:grpSp>
      </p:grpSp>
      <p:grpSp>
        <p:nvGrpSpPr>
          <p:cNvPr id="58464" name="Group 96"/>
          <p:cNvGrpSpPr>
            <a:grpSpLocks/>
          </p:cNvGrpSpPr>
          <p:nvPr/>
        </p:nvGrpSpPr>
        <p:grpSpPr bwMode="auto">
          <a:xfrm>
            <a:off x="1828800" y="1528764"/>
            <a:ext cx="4046538" cy="2832099"/>
            <a:chOff x="0" y="0"/>
            <a:chExt cx="2549" cy="1784"/>
          </a:xfrm>
        </p:grpSpPr>
        <p:sp>
          <p:nvSpPr>
            <p:cNvPr id="2" name="Rectangle 97"/>
            <p:cNvSpPr>
              <a:spLocks noChangeArrowheads="1"/>
            </p:cNvSpPr>
            <p:nvPr/>
          </p:nvSpPr>
          <p:spPr bwMode="auto">
            <a:xfrm>
              <a:off x="2107" y="0"/>
              <a:ext cx="442" cy="237"/>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58465" name="Group 98"/>
            <p:cNvGrpSpPr>
              <a:grpSpLocks/>
            </p:cNvGrpSpPr>
            <p:nvPr/>
          </p:nvGrpSpPr>
          <p:grpSpPr bwMode="auto">
            <a:xfrm>
              <a:off x="0" y="14"/>
              <a:ext cx="2467" cy="1770"/>
              <a:chOff x="0" y="0"/>
              <a:chExt cx="2467" cy="1770"/>
            </a:xfrm>
          </p:grpSpPr>
          <p:sp>
            <p:nvSpPr>
              <p:cNvPr id="58466" name="Text Box 99"/>
              <p:cNvSpPr txBox="1">
                <a:spLocks noChangeArrowheads="1"/>
              </p:cNvSpPr>
              <p:nvPr/>
            </p:nvSpPr>
            <p:spPr bwMode="auto">
              <a:xfrm>
                <a:off x="2121" y="0"/>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华文楷体" panose="02010600040101010101" pitchFamily="2" charset="-122"/>
                    <a:ea typeface="华文楷体" panose="02010600040101010101" pitchFamily="2" charset="-122"/>
                  </a:rPr>
                  <a:t>data</a:t>
                </a:r>
                <a:endParaRPr lang="zh-CN" altLang="zh-CN" sz="2400">
                  <a:latin typeface="华文楷体" panose="02010600040101010101" pitchFamily="2" charset="-122"/>
                  <a:ea typeface="华文楷体" panose="02010600040101010101" pitchFamily="2" charset="-122"/>
                </a:endParaRPr>
              </a:p>
            </p:txBody>
          </p:sp>
          <p:sp>
            <p:nvSpPr>
              <p:cNvPr id="58467" name="Text Box 100"/>
              <p:cNvSpPr txBox="1">
                <a:spLocks noChangeArrowheads="1"/>
              </p:cNvSpPr>
              <p:nvPr/>
            </p:nvSpPr>
            <p:spPr bwMode="auto">
              <a:xfrm>
                <a:off x="0" y="735"/>
                <a:ext cx="1830" cy="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zh-CN" sz="2400">
                    <a:latin typeface="华文楷体" panose="02010600040101010101" pitchFamily="2" charset="-122"/>
                    <a:ea typeface="华文楷体" panose="02010600040101010101" pitchFamily="2" charset="-122"/>
                  </a:rPr>
                  <a:t>从应用层接受数据</a:t>
                </a:r>
              </a:p>
              <a:p>
                <a:pPr eaLnBrk="1" hangingPunct="1"/>
                <a:r>
                  <a:rPr lang="zh-CN" altLang="zh-CN" sz="2400">
                    <a:latin typeface="华文楷体" panose="02010600040101010101" pitchFamily="2" charset="-122"/>
                    <a:ea typeface="华文楷体" panose="02010600040101010101" pitchFamily="2" charset="-122"/>
                  </a:rPr>
                  <a:t>加上地址、校验码等信息，构成  “数据报”</a:t>
                </a:r>
              </a:p>
            </p:txBody>
          </p:sp>
        </p:grpSp>
      </p:grpSp>
      <p:grpSp>
        <p:nvGrpSpPr>
          <p:cNvPr id="3" name="Group 101"/>
          <p:cNvGrpSpPr>
            <a:grpSpLocks/>
          </p:cNvGrpSpPr>
          <p:nvPr/>
        </p:nvGrpSpPr>
        <p:grpSpPr bwMode="auto">
          <a:xfrm>
            <a:off x="1828801" y="1928813"/>
            <a:ext cx="7446963" cy="3162300"/>
            <a:chOff x="0" y="0"/>
            <a:chExt cx="4691" cy="1992"/>
          </a:xfrm>
        </p:grpSpPr>
        <p:grpSp>
          <p:nvGrpSpPr>
            <p:cNvPr id="58459" name="Group 102"/>
            <p:cNvGrpSpPr>
              <a:grpSpLocks/>
            </p:cNvGrpSpPr>
            <p:nvPr/>
          </p:nvGrpSpPr>
          <p:grpSpPr bwMode="auto">
            <a:xfrm>
              <a:off x="2345" y="0"/>
              <a:ext cx="2346" cy="1992"/>
              <a:chOff x="0" y="0"/>
              <a:chExt cx="2346" cy="1992"/>
            </a:xfrm>
          </p:grpSpPr>
          <p:sp>
            <p:nvSpPr>
              <p:cNvPr id="58461" name="未知"/>
              <p:cNvSpPr>
                <a:spLocks noChangeArrowheads="1"/>
              </p:cNvSpPr>
              <p:nvPr/>
            </p:nvSpPr>
            <p:spPr bwMode="auto">
              <a:xfrm>
                <a:off x="0" y="0"/>
                <a:ext cx="2346" cy="1992"/>
              </a:xfrm>
              <a:custGeom>
                <a:avLst/>
                <a:gdLst>
                  <a:gd name="T0" fmla="*/ 12 w 2346"/>
                  <a:gd name="T1" fmla="*/ 0 h 1992"/>
                  <a:gd name="T2" fmla="*/ 0 w 2346"/>
                  <a:gd name="T3" fmla="*/ 288 h 1992"/>
                  <a:gd name="T4" fmla="*/ 2112 w 2346"/>
                  <a:gd name="T5" fmla="*/ 1812 h 1992"/>
                  <a:gd name="T6" fmla="*/ 2346 w 2346"/>
                  <a:gd name="T7" fmla="*/ 1992 h 19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6" h="1992">
                    <a:moveTo>
                      <a:pt x="12" y="0"/>
                    </a:moveTo>
                    <a:lnTo>
                      <a:pt x="0" y="288"/>
                    </a:lnTo>
                    <a:lnTo>
                      <a:pt x="2112" y="1812"/>
                    </a:lnTo>
                    <a:lnTo>
                      <a:pt x="2346" y="1992"/>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62" name="Text Box 104"/>
              <p:cNvSpPr txBox="1">
                <a:spLocks noChangeArrowheads="1"/>
              </p:cNvSpPr>
              <p:nvPr/>
            </p:nvSpPr>
            <p:spPr bwMode="auto">
              <a:xfrm>
                <a:off x="946" y="1207"/>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华文楷体" panose="02010600040101010101" pitchFamily="2" charset="-122"/>
                    <a:ea typeface="华文楷体" panose="02010600040101010101" pitchFamily="2" charset="-122"/>
                  </a:rPr>
                  <a:t>data</a:t>
                </a:r>
                <a:endParaRPr lang="zh-CN" altLang="zh-CN" sz="2400">
                  <a:latin typeface="华文楷体" panose="02010600040101010101" pitchFamily="2" charset="-122"/>
                  <a:ea typeface="华文楷体" panose="02010600040101010101" pitchFamily="2" charset="-122"/>
                </a:endParaRPr>
              </a:p>
            </p:txBody>
          </p:sp>
          <p:sp>
            <p:nvSpPr>
              <p:cNvPr id="58463" name="Line 105"/>
              <p:cNvSpPr>
                <a:spLocks noChangeShapeType="1"/>
              </p:cNvSpPr>
              <p:nvPr/>
            </p:nvSpPr>
            <p:spPr bwMode="auto">
              <a:xfrm>
                <a:off x="1380" y="1410"/>
                <a:ext cx="180" cy="13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8460" name="Text Box 106"/>
            <p:cNvSpPr txBox="1">
              <a:spLocks noChangeArrowheads="1"/>
            </p:cNvSpPr>
            <p:nvPr/>
          </p:nvSpPr>
          <p:spPr bwMode="auto">
            <a:xfrm>
              <a:off x="0" y="1610"/>
              <a:ext cx="2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2563" indent="-1825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buClr>
                  <a:schemeClr val="hlink"/>
                </a:buClr>
                <a:buSzTx/>
                <a:buFont typeface="Wingdings" panose="05000000000000000000" pitchFamily="2" charset="2"/>
                <a:buChar char="§"/>
              </a:pPr>
              <a:r>
                <a:rPr lang="zh-CN" altLang="zh-CN" sz="2400">
                  <a:latin typeface="华文楷体" panose="02010600040101010101" pitchFamily="2" charset="-122"/>
                  <a:ea typeface="华文楷体" panose="02010600040101010101" pitchFamily="2" charset="-122"/>
                </a:rPr>
                <a:t>发送数据报到对等层</a:t>
              </a:r>
            </a:p>
          </p:txBody>
        </p:sp>
      </p:grpSp>
      <p:sp>
        <p:nvSpPr>
          <p:cNvPr id="58458" name="Text Box 107"/>
          <p:cNvSpPr txBox="1">
            <a:spLocks noChangeArrowheads="1"/>
          </p:cNvSpPr>
          <p:nvPr/>
        </p:nvSpPr>
        <p:spPr bwMode="auto">
          <a:xfrm>
            <a:off x="1835151" y="1762126"/>
            <a:ext cx="3084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000">
                <a:latin typeface="华文楷体" panose="02010600040101010101" pitchFamily="2" charset="-122"/>
                <a:ea typeface="华文楷体" panose="02010600040101010101" pitchFamily="2" charset="-122"/>
              </a:rPr>
              <a:t>以传输层对等通信为例: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8464"/>
                                        </p:tgtEl>
                                        <p:attrNameLst>
                                          <p:attrName>style.visibility</p:attrName>
                                        </p:attrNameLst>
                                      </p:cBhvr>
                                      <p:to>
                                        <p:strVal val="visible"/>
                                      </p:to>
                                    </p:set>
                                    <p:anim calcmode="lin" valueType="num">
                                      <p:cBhvr additive="base">
                                        <p:cTn id="7" dur="500" fill="hold"/>
                                        <p:tgtEl>
                                          <p:spTgt spid="58464"/>
                                        </p:tgtEl>
                                        <p:attrNameLst>
                                          <p:attrName>ppt_x</p:attrName>
                                        </p:attrNameLst>
                                      </p:cBhvr>
                                      <p:tavLst>
                                        <p:tav tm="0">
                                          <p:val>
                                            <p:strVal val="1+#ppt_w/2"/>
                                          </p:val>
                                        </p:tav>
                                        <p:tav tm="100000">
                                          <p:val>
                                            <p:strVal val="#ppt_x"/>
                                          </p:val>
                                        </p:tav>
                                      </p:tavLst>
                                    </p:anim>
                                    <p:anim calcmode="lin" valueType="num">
                                      <p:cBhvr additive="base">
                                        <p:cTn id="8" dur="500" fill="hold"/>
                                        <p:tgtEl>
                                          <p:spTgt spid="584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8455"/>
                                        </p:tgtEl>
                                        <p:attrNameLst>
                                          <p:attrName>style.visibility</p:attrName>
                                        </p:attrNameLst>
                                      </p:cBhvr>
                                      <p:to>
                                        <p:strVal val="visible"/>
                                      </p:to>
                                    </p:set>
                                    <p:anim calcmode="lin" valueType="num">
                                      <p:cBhvr additive="base">
                                        <p:cTn id="19" dur="500" fill="hold"/>
                                        <p:tgtEl>
                                          <p:spTgt spid="58455"/>
                                        </p:tgtEl>
                                        <p:attrNameLst>
                                          <p:attrName>ppt_x</p:attrName>
                                        </p:attrNameLst>
                                      </p:cBhvr>
                                      <p:tavLst>
                                        <p:tav tm="0">
                                          <p:val>
                                            <p:strVal val="#ppt_x"/>
                                          </p:val>
                                        </p:tav>
                                        <p:tav tm="100000">
                                          <p:val>
                                            <p:strVal val="#ppt_x"/>
                                          </p:val>
                                        </p:tav>
                                      </p:tavLst>
                                    </p:anim>
                                    <p:anim calcmode="lin" valueType="num">
                                      <p:cBhvr additive="base">
                                        <p:cTn id="20" dur="500" fill="hold"/>
                                        <p:tgtEl>
                                          <p:spTgt spid="584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4" name="Group 2"/>
          <p:cNvGrpSpPr>
            <a:grpSpLocks/>
          </p:cNvGrpSpPr>
          <p:nvPr/>
        </p:nvGrpSpPr>
        <p:grpSpPr bwMode="auto">
          <a:xfrm>
            <a:off x="3513138" y="1822450"/>
            <a:ext cx="5981700" cy="4497388"/>
            <a:chOff x="0" y="0"/>
            <a:chExt cx="3768" cy="2833"/>
          </a:xfrm>
        </p:grpSpPr>
        <p:sp>
          <p:nvSpPr>
            <p:cNvPr id="59448" name="未知"/>
            <p:cNvSpPr>
              <a:spLocks noChangeArrowheads="1"/>
            </p:cNvSpPr>
            <p:nvPr/>
          </p:nvSpPr>
          <p:spPr bwMode="auto">
            <a:xfrm>
              <a:off x="0" y="0"/>
              <a:ext cx="3768" cy="2833"/>
            </a:xfrm>
            <a:custGeom>
              <a:avLst/>
              <a:gdLst>
                <a:gd name="T0" fmla="*/ 1547 w 1340"/>
                <a:gd name="T1" fmla="*/ 100 h 1191"/>
                <a:gd name="T2" fmla="*/ 231 w 1340"/>
                <a:gd name="T3" fmla="*/ 143 h 1191"/>
                <a:gd name="T4" fmla="*/ 163 w 1340"/>
                <a:gd name="T5" fmla="*/ 956 h 1191"/>
                <a:gd name="T6" fmla="*/ 79 w 1340"/>
                <a:gd name="T7" fmla="*/ 1713 h 1191"/>
                <a:gd name="T8" fmla="*/ 315 w 1340"/>
                <a:gd name="T9" fmla="*/ 2069 h 1191"/>
                <a:gd name="T10" fmla="*/ 1513 w 1340"/>
                <a:gd name="T11" fmla="*/ 2084 h 1191"/>
                <a:gd name="T12" fmla="*/ 1800 w 1340"/>
                <a:gd name="T13" fmla="*/ 2683 h 1191"/>
                <a:gd name="T14" fmla="*/ 3470 w 1340"/>
                <a:gd name="T15" fmla="*/ 2612 h 1191"/>
                <a:gd name="T16" fmla="*/ 3588 w 1340"/>
                <a:gd name="T17" fmla="*/ 1356 h 1191"/>
                <a:gd name="T18" fmla="*/ 3386 w 1340"/>
                <a:gd name="T19" fmla="*/ 814 h 1191"/>
                <a:gd name="T20" fmla="*/ 2137 w 1340"/>
                <a:gd name="T21" fmla="*/ 685 h 1191"/>
                <a:gd name="T22" fmla="*/ 1547 w 1340"/>
                <a:gd name="T23" fmla="*/ 100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9449" name="Group 4"/>
            <p:cNvGrpSpPr>
              <a:grpSpLocks/>
            </p:cNvGrpSpPr>
            <p:nvPr/>
          </p:nvGrpSpPr>
          <p:grpSpPr bwMode="auto">
            <a:xfrm>
              <a:off x="228" y="223"/>
              <a:ext cx="1480" cy="568"/>
              <a:chOff x="0" y="0"/>
              <a:chExt cx="527" cy="248"/>
            </a:xfrm>
          </p:grpSpPr>
          <p:graphicFrame>
            <p:nvGraphicFramePr>
              <p:cNvPr id="59500" name="Object 5"/>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60099" r:id="rId3" imgW="1305309" imgH="1082518" progId="MS_ClipArt_Gallery.2">
                      <p:embed/>
                    </p:oleObj>
                  </mc:Choice>
                  <mc:Fallback>
                    <p:oleObj r:id="rId3" imgW="1305309" imgH="1082518"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solidFill>
                            <a:srgbClr val="00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501" name="Object 6"/>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60100" r:id="rId5" imgW="678163" imgH="477905" progId="MS_ClipArt_Gallery.2">
                      <p:embed/>
                    </p:oleObj>
                  </mc:Choice>
                  <mc:Fallback>
                    <p:oleObj r:id="rId5" imgW="678163" imgH="477905" progId="MS_ClipArt_Gallery.2">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solidFill>
                            <a:srgbClr val="00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502" name="Line 7"/>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50" name="Group 8"/>
            <p:cNvGrpSpPr>
              <a:grpSpLocks/>
            </p:cNvGrpSpPr>
            <p:nvPr/>
          </p:nvGrpSpPr>
          <p:grpSpPr bwMode="auto">
            <a:xfrm>
              <a:off x="228" y="1284"/>
              <a:ext cx="1480" cy="569"/>
              <a:chOff x="0" y="0"/>
              <a:chExt cx="527" cy="248"/>
            </a:xfrm>
          </p:grpSpPr>
          <p:graphicFrame>
            <p:nvGraphicFramePr>
              <p:cNvPr id="59497" name="Object 9"/>
              <p:cNvGraphicFramePr>
                <a:graphicFrameLocks noChangeAspect="1"/>
              </p:cNvGraphicFramePr>
              <p:nvPr/>
            </p:nvGraphicFramePr>
            <p:xfrm>
              <a:off x="0" y="0"/>
              <a:ext cx="299" cy="248"/>
            </p:xfrm>
            <a:graphic>
              <a:graphicData uri="http://schemas.openxmlformats.org/presentationml/2006/ole">
                <mc:AlternateContent xmlns:mc="http://schemas.openxmlformats.org/markup-compatibility/2006">
                  <mc:Choice xmlns:v="urn:schemas-microsoft-com:vml" Requires="v">
                    <p:oleObj spid="_x0000_s60101" r:id="rId7" imgW="1305309" imgH="1082518" progId="MS_ClipArt_Gallery.2">
                      <p:embed/>
                    </p:oleObj>
                  </mc:Choice>
                  <mc:Fallback>
                    <p:oleObj r:id="rId7" imgW="1305309" imgH="1082518"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9" cy="248"/>
                          </a:xfrm>
                          <a:prstGeom prst="rect">
                            <a:avLst/>
                          </a:prstGeom>
                          <a:solidFill>
                            <a:srgbClr val="00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98" name="Object 10"/>
              <p:cNvGraphicFramePr>
                <a:graphicFrameLocks noChangeAspect="1"/>
              </p:cNvGraphicFramePr>
              <p:nvPr/>
            </p:nvGraphicFramePr>
            <p:xfrm>
              <a:off x="326" y="92"/>
              <a:ext cx="201" cy="144"/>
            </p:xfrm>
            <a:graphic>
              <a:graphicData uri="http://schemas.openxmlformats.org/presentationml/2006/ole">
                <mc:AlternateContent xmlns:mc="http://schemas.openxmlformats.org/markup-compatibility/2006">
                  <mc:Choice xmlns:v="urn:schemas-microsoft-com:vml" Requires="v">
                    <p:oleObj spid="_x0000_s60102" r:id="rId8" imgW="678163" imgH="477905" progId="MS_ClipArt_Gallery.2">
                      <p:embed/>
                    </p:oleObj>
                  </mc:Choice>
                  <mc:Fallback>
                    <p:oleObj r:id="rId8" imgW="678163" imgH="477905"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92"/>
                            <a:ext cx="201" cy="144"/>
                          </a:xfrm>
                          <a:prstGeom prst="rect">
                            <a:avLst/>
                          </a:prstGeom>
                          <a:solidFill>
                            <a:srgbClr val="00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99" name="Line 11"/>
              <p:cNvSpPr>
                <a:spLocks noChangeShapeType="1"/>
              </p:cNvSpPr>
              <p:nvPr/>
            </p:nvSpPr>
            <p:spPr bwMode="auto">
              <a:xfrm flipV="1">
                <a:off x="292" y="188"/>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51" name="Group 12"/>
            <p:cNvGrpSpPr>
              <a:grpSpLocks/>
            </p:cNvGrpSpPr>
            <p:nvPr/>
          </p:nvGrpSpPr>
          <p:grpSpPr bwMode="auto">
            <a:xfrm>
              <a:off x="1306" y="887"/>
              <a:ext cx="105" cy="382"/>
              <a:chOff x="0" y="0"/>
              <a:chExt cx="51" cy="167"/>
            </a:xfrm>
          </p:grpSpPr>
          <p:sp>
            <p:nvSpPr>
              <p:cNvPr id="59494" name="Oval 13"/>
              <p:cNvSpPr>
                <a:spLocks noChangeArrowheads="1"/>
              </p:cNvSpPr>
              <p:nvPr/>
            </p:nvSpPr>
            <p:spPr bwMode="auto">
              <a:xfrm>
                <a:off x="0" y="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95" name="Oval 14"/>
              <p:cNvSpPr>
                <a:spLocks noChangeArrowheads="1"/>
              </p:cNvSpPr>
              <p:nvPr/>
            </p:nvSpPr>
            <p:spPr bwMode="auto">
              <a:xfrm>
                <a:off x="2" y="6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96" name="Oval 15"/>
              <p:cNvSpPr>
                <a:spLocks noChangeArrowheads="1"/>
              </p:cNvSpPr>
              <p:nvPr/>
            </p:nvSpPr>
            <p:spPr bwMode="auto">
              <a:xfrm>
                <a:off x="4" y="12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9452" name="Group 16"/>
            <p:cNvGrpSpPr>
              <a:grpSpLocks/>
            </p:cNvGrpSpPr>
            <p:nvPr/>
          </p:nvGrpSpPr>
          <p:grpSpPr bwMode="auto">
            <a:xfrm>
              <a:off x="1936" y="1802"/>
              <a:ext cx="423" cy="705"/>
              <a:chOff x="0" y="0"/>
              <a:chExt cx="150" cy="307"/>
            </a:xfrm>
          </p:grpSpPr>
          <p:sp>
            <p:nvSpPr>
              <p:cNvPr id="59486" name="AutoShape 17"/>
              <p:cNvSpPr>
                <a:spLocks noChangeArrowheads="1"/>
              </p:cNvSpPr>
              <p:nvPr/>
            </p:nvSpPr>
            <p:spPr bwMode="auto">
              <a:xfrm>
                <a:off x="0" y="236"/>
                <a:ext cx="150" cy="71"/>
              </a:xfrm>
              <a:prstGeom prst="parallelogram">
                <a:avLst>
                  <a:gd name="adj" fmla="val 81387"/>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7" name="Rectangle 18"/>
              <p:cNvSpPr>
                <a:spLocks noChangeArrowheads="1"/>
              </p:cNvSpPr>
              <p:nvPr/>
            </p:nvSpPr>
            <p:spPr bwMode="auto">
              <a:xfrm>
                <a:off x="76" y="2"/>
                <a:ext cx="69" cy="236"/>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8" name="Rectangle 19"/>
              <p:cNvSpPr>
                <a:spLocks noChangeArrowheads="1"/>
              </p:cNvSpPr>
              <p:nvPr/>
            </p:nvSpPr>
            <p:spPr bwMode="auto">
              <a:xfrm>
                <a:off x="1" y="69"/>
                <a:ext cx="95" cy="236"/>
              </a:xfrm>
              <a:prstGeom prst="rect">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9" name="AutoShape 20"/>
              <p:cNvSpPr>
                <a:spLocks noChangeArrowheads="1"/>
              </p:cNvSpPr>
              <p:nvPr/>
            </p:nvSpPr>
            <p:spPr bwMode="auto">
              <a:xfrm>
                <a:off x="0" y="0"/>
                <a:ext cx="150" cy="71"/>
              </a:xfrm>
              <a:prstGeom prst="parallelogram">
                <a:avLst>
                  <a:gd name="adj" fmla="val 81387"/>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90" name="Line 21"/>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1" name="Line 22"/>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2" name="Rectangle 23"/>
              <p:cNvSpPr>
                <a:spLocks noChangeArrowheads="1"/>
              </p:cNvSpPr>
              <p:nvPr/>
            </p:nvSpPr>
            <p:spPr bwMode="auto">
              <a:xfrm>
                <a:off x="13" y="100"/>
                <a:ext cx="63" cy="136"/>
              </a:xfrm>
              <a:prstGeom prst="rect">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93" name="Rectangle 24"/>
              <p:cNvSpPr>
                <a:spLocks noChangeArrowheads="1"/>
              </p:cNvSpPr>
              <p:nvPr/>
            </p:nvSpPr>
            <p:spPr bwMode="auto">
              <a:xfrm>
                <a:off x="22" y="141"/>
                <a:ext cx="48" cy="4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9453" name="Group 25"/>
            <p:cNvGrpSpPr>
              <a:grpSpLocks/>
            </p:cNvGrpSpPr>
            <p:nvPr/>
          </p:nvGrpSpPr>
          <p:grpSpPr bwMode="auto">
            <a:xfrm rot="-5400000">
              <a:off x="2573" y="1910"/>
              <a:ext cx="145" cy="471"/>
              <a:chOff x="0" y="0"/>
              <a:chExt cx="51" cy="167"/>
            </a:xfrm>
          </p:grpSpPr>
          <p:sp>
            <p:nvSpPr>
              <p:cNvPr id="59483" name="Oval 26"/>
              <p:cNvSpPr>
                <a:spLocks noChangeArrowheads="1"/>
              </p:cNvSpPr>
              <p:nvPr/>
            </p:nvSpPr>
            <p:spPr bwMode="auto">
              <a:xfrm>
                <a:off x="0" y="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4" name="Oval 27"/>
              <p:cNvSpPr>
                <a:spLocks noChangeArrowheads="1"/>
              </p:cNvSpPr>
              <p:nvPr/>
            </p:nvSpPr>
            <p:spPr bwMode="auto">
              <a:xfrm>
                <a:off x="2" y="6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5" name="Oval 28"/>
              <p:cNvSpPr>
                <a:spLocks noChangeArrowheads="1"/>
              </p:cNvSpPr>
              <p:nvPr/>
            </p:nvSpPr>
            <p:spPr bwMode="auto">
              <a:xfrm>
                <a:off x="4" y="120"/>
                <a:ext cx="47" cy="47"/>
              </a:xfrm>
              <a:prstGeom prst="ellipse">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sp>
          <p:nvSpPr>
            <p:cNvPr id="59454" name="Line 29"/>
            <p:cNvSpPr>
              <a:spLocks noChangeShapeType="1"/>
            </p:cNvSpPr>
            <p:nvPr/>
          </p:nvSpPr>
          <p:spPr bwMode="auto">
            <a:xfrm>
              <a:off x="2211" y="1638"/>
              <a:ext cx="1000"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5" name="Line 30"/>
            <p:cNvSpPr>
              <a:spLocks noChangeShapeType="1"/>
            </p:cNvSpPr>
            <p:nvPr/>
          </p:nvSpPr>
          <p:spPr bwMode="auto">
            <a:xfrm>
              <a:off x="2218" y="1632"/>
              <a:ext cx="3" cy="1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6" name="Line 31"/>
            <p:cNvSpPr>
              <a:spLocks noChangeShapeType="1"/>
            </p:cNvSpPr>
            <p:nvPr/>
          </p:nvSpPr>
          <p:spPr bwMode="auto">
            <a:xfrm>
              <a:off x="3218" y="1629"/>
              <a:ext cx="3" cy="1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7" name="Line 32"/>
            <p:cNvSpPr>
              <a:spLocks noChangeShapeType="1"/>
            </p:cNvSpPr>
            <p:nvPr/>
          </p:nvSpPr>
          <p:spPr bwMode="auto">
            <a:xfrm>
              <a:off x="1606" y="675"/>
              <a:ext cx="583" cy="4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8" name="Line 33"/>
            <p:cNvSpPr>
              <a:spLocks noChangeShapeType="1"/>
            </p:cNvSpPr>
            <p:nvPr/>
          </p:nvSpPr>
          <p:spPr bwMode="auto">
            <a:xfrm flipV="1">
              <a:off x="1631" y="1185"/>
              <a:ext cx="558" cy="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9" name="Line 34"/>
            <p:cNvSpPr>
              <a:spLocks noChangeShapeType="1"/>
            </p:cNvSpPr>
            <p:nvPr/>
          </p:nvSpPr>
          <p:spPr bwMode="auto">
            <a:xfrm flipV="1">
              <a:off x="2695" y="1338"/>
              <a:ext cx="3"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9460" name="Group 35"/>
            <p:cNvGrpSpPr>
              <a:grpSpLocks/>
            </p:cNvGrpSpPr>
            <p:nvPr/>
          </p:nvGrpSpPr>
          <p:grpSpPr bwMode="auto">
            <a:xfrm>
              <a:off x="2955" y="1779"/>
              <a:ext cx="423" cy="705"/>
              <a:chOff x="0" y="0"/>
              <a:chExt cx="150" cy="307"/>
            </a:xfrm>
          </p:grpSpPr>
          <p:sp>
            <p:nvSpPr>
              <p:cNvPr id="59475" name="AutoShape 36"/>
              <p:cNvSpPr>
                <a:spLocks noChangeArrowheads="1"/>
              </p:cNvSpPr>
              <p:nvPr/>
            </p:nvSpPr>
            <p:spPr bwMode="auto">
              <a:xfrm>
                <a:off x="0" y="236"/>
                <a:ext cx="150" cy="71"/>
              </a:xfrm>
              <a:prstGeom prst="parallelogram">
                <a:avLst>
                  <a:gd name="adj" fmla="val 81387"/>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76" name="Rectangle 37"/>
              <p:cNvSpPr>
                <a:spLocks noChangeArrowheads="1"/>
              </p:cNvSpPr>
              <p:nvPr/>
            </p:nvSpPr>
            <p:spPr bwMode="auto">
              <a:xfrm>
                <a:off x="76" y="2"/>
                <a:ext cx="69" cy="236"/>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77" name="Rectangle 38"/>
              <p:cNvSpPr>
                <a:spLocks noChangeArrowheads="1"/>
              </p:cNvSpPr>
              <p:nvPr/>
            </p:nvSpPr>
            <p:spPr bwMode="auto">
              <a:xfrm>
                <a:off x="1" y="69"/>
                <a:ext cx="95" cy="236"/>
              </a:xfrm>
              <a:prstGeom prst="rect">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78" name="AutoShape 39"/>
              <p:cNvSpPr>
                <a:spLocks noChangeArrowheads="1"/>
              </p:cNvSpPr>
              <p:nvPr/>
            </p:nvSpPr>
            <p:spPr bwMode="auto">
              <a:xfrm>
                <a:off x="0" y="0"/>
                <a:ext cx="150" cy="71"/>
              </a:xfrm>
              <a:prstGeom prst="parallelogram">
                <a:avLst>
                  <a:gd name="adj" fmla="val 81387"/>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79" name="Line 40"/>
              <p:cNvSpPr>
                <a:spLocks noChangeShapeType="1"/>
              </p:cNvSpPr>
              <p:nvPr/>
            </p:nvSpPr>
            <p:spPr bwMode="auto">
              <a:xfrm>
                <a:off x="150" y="5"/>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0" name="Line 41"/>
              <p:cNvSpPr>
                <a:spLocks noChangeShapeType="1"/>
              </p:cNvSpPr>
              <p:nvPr/>
            </p:nvSpPr>
            <p:spPr bwMode="auto">
              <a:xfrm flipH="1">
                <a:off x="96" y="236"/>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1" name="Rectangle 42"/>
              <p:cNvSpPr>
                <a:spLocks noChangeArrowheads="1"/>
              </p:cNvSpPr>
              <p:nvPr/>
            </p:nvSpPr>
            <p:spPr bwMode="auto">
              <a:xfrm>
                <a:off x="13" y="100"/>
                <a:ext cx="63" cy="136"/>
              </a:xfrm>
              <a:prstGeom prst="rect">
                <a:avLst/>
              </a:prstGeom>
              <a:solidFill>
                <a:srgbClr val="00FFFF"/>
              </a:solidFill>
              <a:ln w="952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82" name="Rectangle 43"/>
              <p:cNvSpPr>
                <a:spLocks noChangeArrowheads="1"/>
              </p:cNvSpPr>
              <p:nvPr/>
            </p:nvSpPr>
            <p:spPr bwMode="auto">
              <a:xfrm>
                <a:off x="22" y="141"/>
                <a:ext cx="48" cy="4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grpSp>
          <p:nvGrpSpPr>
            <p:cNvPr id="59461" name="Group 44"/>
            <p:cNvGrpSpPr>
              <a:grpSpLocks/>
            </p:cNvGrpSpPr>
            <p:nvPr/>
          </p:nvGrpSpPr>
          <p:grpSpPr bwMode="auto">
            <a:xfrm>
              <a:off x="2160" y="939"/>
              <a:ext cx="1013" cy="416"/>
              <a:chOff x="0" y="0"/>
              <a:chExt cx="360" cy="175"/>
            </a:xfrm>
          </p:grpSpPr>
          <p:sp>
            <p:nvSpPr>
              <p:cNvPr id="59462" name="Oval 45"/>
              <p:cNvSpPr>
                <a:spLocks noChangeArrowheads="1"/>
              </p:cNvSpPr>
              <p:nvPr/>
            </p:nvSpPr>
            <p:spPr bwMode="auto">
              <a:xfrm>
                <a:off x="3" y="78"/>
                <a:ext cx="357" cy="97"/>
              </a:xfrm>
              <a:prstGeom prst="ellipse">
                <a:avLst/>
              </a:prstGeom>
              <a:solidFill>
                <a:srgbClr val="00FFFF"/>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63" name="Line 46"/>
              <p:cNvSpPr>
                <a:spLocks noChangeShapeType="1"/>
              </p:cNvSpPr>
              <p:nvPr/>
            </p:nvSpPr>
            <p:spPr bwMode="auto">
              <a:xfrm>
                <a:off x="3"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4" name="Line 47"/>
              <p:cNvSpPr>
                <a:spLocks noChangeShapeType="1"/>
              </p:cNvSpPr>
              <p:nvPr/>
            </p:nvSpPr>
            <p:spPr bwMode="auto">
              <a:xfrm>
                <a:off x="360" y="70"/>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5" name="Rectangle 48"/>
              <p:cNvSpPr>
                <a:spLocks noChangeArrowheads="1"/>
              </p:cNvSpPr>
              <p:nvPr/>
            </p:nvSpPr>
            <p:spPr bwMode="auto">
              <a:xfrm>
                <a:off x="3" y="70"/>
                <a:ext cx="354" cy="59"/>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zh-CN" sz="2400">
                  <a:latin typeface="Times New Roman" panose="02020603050405020304" pitchFamily="18" charset="0"/>
                </a:endParaRPr>
              </a:p>
            </p:txBody>
          </p:sp>
          <p:sp>
            <p:nvSpPr>
              <p:cNvPr id="59466" name="Oval 49"/>
              <p:cNvSpPr>
                <a:spLocks noChangeArrowheads="1"/>
              </p:cNvSpPr>
              <p:nvPr/>
            </p:nvSpPr>
            <p:spPr bwMode="auto">
              <a:xfrm>
                <a:off x="0" y="0"/>
                <a:ext cx="357" cy="113"/>
              </a:xfrm>
              <a:prstGeom prst="ellipse">
                <a:avLst/>
              </a:prstGeom>
              <a:solidFill>
                <a:srgbClr val="00FFFF"/>
              </a:solidFill>
              <a:ln w="12700">
                <a:solidFill>
                  <a:schemeClr val="tx1"/>
                </a:solidFill>
                <a:round/>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grpSp>
            <p:nvGrpSpPr>
              <p:cNvPr id="59467" name="Group 50"/>
              <p:cNvGrpSpPr>
                <a:grpSpLocks/>
              </p:cNvGrpSpPr>
              <p:nvPr/>
            </p:nvGrpSpPr>
            <p:grpSpPr bwMode="auto">
              <a:xfrm>
                <a:off x="86" y="25"/>
                <a:ext cx="177" cy="66"/>
                <a:chOff x="0" y="0"/>
                <a:chExt cx="140" cy="98"/>
              </a:xfrm>
            </p:grpSpPr>
            <p:sp>
              <p:nvSpPr>
                <p:cNvPr id="59472" name="Line 51"/>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3" name="Line 52"/>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4" name="Line 53"/>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68" name="Group 54"/>
              <p:cNvGrpSpPr>
                <a:grpSpLocks/>
              </p:cNvGrpSpPr>
              <p:nvPr/>
            </p:nvGrpSpPr>
            <p:grpSpPr bwMode="auto">
              <a:xfrm flipV="1">
                <a:off x="86" y="24"/>
                <a:ext cx="177" cy="66"/>
                <a:chOff x="0" y="0"/>
                <a:chExt cx="140" cy="98"/>
              </a:xfrm>
            </p:grpSpPr>
            <p:sp>
              <p:nvSpPr>
                <p:cNvPr id="59469" name="Line 55"/>
                <p:cNvSpPr>
                  <a:spLocks noChangeShapeType="1"/>
                </p:cNvSpPr>
                <p:nvPr/>
              </p:nvSpPr>
              <p:spPr bwMode="auto">
                <a:xfrm flipV="1">
                  <a:off x="0" y="0"/>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0" name="Line 56"/>
                <p:cNvSpPr>
                  <a:spLocks noChangeShapeType="1"/>
                </p:cNvSpPr>
                <p:nvPr/>
              </p:nvSpPr>
              <p:spPr bwMode="auto">
                <a:xfrm>
                  <a:off x="96" y="98"/>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1" name="Line 57"/>
                <p:cNvSpPr>
                  <a:spLocks noChangeShapeType="1"/>
                </p:cNvSpPr>
                <p:nvPr/>
              </p:nvSpPr>
              <p:spPr bwMode="auto">
                <a:xfrm>
                  <a:off x="46" y="2"/>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59395" name="Group 58"/>
          <p:cNvGrpSpPr>
            <a:grpSpLocks/>
          </p:cNvGrpSpPr>
          <p:nvPr/>
        </p:nvGrpSpPr>
        <p:grpSpPr bwMode="auto">
          <a:xfrm>
            <a:off x="3897313" y="1579564"/>
            <a:ext cx="1344612" cy="1512887"/>
            <a:chOff x="0" y="0"/>
            <a:chExt cx="847" cy="953"/>
          </a:xfrm>
        </p:grpSpPr>
        <p:sp>
          <p:nvSpPr>
            <p:cNvPr id="59441" name="Rectangle 59"/>
            <p:cNvSpPr>
              <a:spLocks noChangeArrowheads="1"/>
            </p:cNvSpPr>
            <p:nvPr/>
          </p:nvSpPr>
          <p:spPr bwMode="auto">
            <a:xfrm>
              <a:off x="49"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42" name="Rectangle 60"/>
            <p:cNvSpPr>
              <a:spLocks noChangeArrowheads="1"/>
            </p:cNvSpPr>
            <p:nvPr/>
          </p:nvSpPr>
          <p:spPr bwMode="auto">
            <a:xfrm>
              <a:off x="19"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43" name="Text Box 61"/>
            <p:cNvSpPr txBox="1">
              <a:spLocks noChangeArrowheads="1"/>
            </p:cNvSpPr>
            <p:nvPr/>
          </p:nvSpPr>
          <p:spPr bwMode="auto">
            <a:xfrm>
              <a:off x="0" y="30"/>
              <a:ext cx="830"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9444" name="Line 62"/>
            <p:cNvSpPr>
              <a:spLocks noChangeShapeType="1"/>
            </p:cNvSpPr>
            <p:nvPr/>
          </p:nvSpPr>
          <p:spPr bwMode="auto">
            <a:xfrm flipV="1">
              <a:off x="16"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5" name="Line 63"/>
            <p:cNvSpPr>
              <a:spLocks noChangeShapeType="1"/>
            </p:cNvSpPr>
            <p:nvPr/>
          </p:nvSpPr>
          <p:spPr bwMode="auto">
            <a:xfrm flipV="1">
              <a:off x="28"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6" name="Line 64"/>
            <p:cNvSpPr>
              <a:spLocks noChangeShapeType="1"/>
            </p:cNvSpPr>
            <p:nvPr/>
          </p:nvSpPr>
          <p:spPr bwMode="auto">
            <a:xfrm flipV="1">
              <a:off x="28"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7" name="Line 65"/>
            <p:cNvSpPr>
              <a:spLocks noChangeShapeType="1"/>
            </p:cNvSpPr>
            <p:nvPr/>
          </p:nvSpPr>
          <p:spPr bwMode="auto">
            <a:xfrm flipV="1">
              <a:off x="13"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396" name="Group 66"/>
          <p:cNvGrpSpPr>
            <a:grpSpLocks/>
          </p:cNvGrpSpPr>
          <p:nvPr/>
        </p:nvGrpSpPr>
        <p:grpSpPr bwMode="auto">
          <a:xfrm>
            <a:off x="3819526" y="3306764"/>
            <a:ext cx="1344613" cy="1512887"/>
            <a:chOff x="0" y="0"/>
            <a:chExt cx="847" cy="953"/>
          </a:xfrm>
        </p:grpSpPr>
        <p:sp>
          <p:nvSpPr>
            <p:cNvPr id="59434" name="Rectangle 67"/>
            <p:cNvSpPr>
              <a:spLocks noChangeArrowheads="1"/>
            </p:cNvSpPr>
            <p:nvPr/>
          </p:nvSpPr>
          <p:spPr bwMode="auto">
            <a:xfrm>
              <a:off x="49"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35" name="Rectangle 68"/>
            <p:cNvSpPr>
              <a:spLocks noChangeArrowheads="1"/>
            </p:cNvSpPr>
            <p:nvPr/>
          </p:nvSpPr>
          <p:spPr bwMode="auto">
            <a:xfrm>
              <a:off x="19"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36" name="Text Box 69"/>
            <p:cNvSpPr txBox="1">
              <a:spLocks noChangeArrowheads="1"/>
            </p:cNvSpPr>
            <p:nvPr/>
          </p:nvSpPr>
          <p:spPr bwMode="auto">
            <a:xfrm>
              <a:off x="0" y="30"/>
              <a:ext cx="830"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9437" name="Line 70"/>
            <p:cNvSpPr>
              <a:spLocks noChangeShapeType="1"/>
            </p:cNvSpPr>
            <p:nvPr/>
          </p:nvSpPr>
          <p:spPr bwMode="auto">
            <a:xfrm flipV="1">
              <a:off x="16"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8" name="Line 71"/>
            <p:cNvSpPr>
              <a:spLocks noChangeShapeType="1"/>
            </p:cNvSpPr>
            <p:nvPr/>
          </p:nvSpPr>
          <p:spPr bwMode="auto">
            <a:xfrm flipV="1">
              <a:off x="28"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9" name="Line 72"/>
            <p:cNvSpPr>
              <a:spLocks noChangeShapeType="1"/>
            </p:cNvSpPr>
            <p:nvPr/>
          </p:nvSpPr>
          <p:spPr bwMode="auto">
            <a:xfrm flipV="1">
              <a:off x="28"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0" name="Line 73"/>
            <p:cNvSpPr>
              <a:spLocks noChangeShapeType="1"/>
            </p:cNvSpPr>
            <p:nvPr/>
          </p:nvSpPr>
          <p:spPr bwMode="auto">
            <a:xfrm flipV="1">
              <a:off x="13"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397" name="Group 74"/>
          <p:cNvGrpSpPr>
            <a:grpSpLocks/>
          </p:cNvGrpSpPr>
          <p:nvPr/>
        </p:nvGrpSpPr>
        <p:grpSpPr bwMode="auto">
          <a:xfrm>
            <a:off x="6237288" y="4570414"/>
            <a:ext cx="1344612" cy="1512887"/>
            <a:chOff x="0" y="0"/>
            <a:chExt cx="847" cy="953"/>
          </a:xfrm>
        </p:grpSpPr>
        <p:sp>
          <p:nvSpPr>
            <p:cNvPr id="59427" name="Rectangle 75"/>
            <p:cNvSpPr>
              <a:spLocks noChangeArrowheads="1"/>
            </p:cNvSpPr>
            <p:nvPr/>
          </p:nvSpPr>
          <p:spPr bwMode="auto">
            <a:xfrm>
              <a:off x="49"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28" name="Rectangle 76"/>
            <p:cNvSpPr>
              <a:spLocks noChangeArrowheads="1"/>
            </p:cNvSpPr>
            <p:nvPr/>
          </p:nvSpPr>
          <p:spPr bwMode="auto">
            <a:xfrm>
              <a:off x="19"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29" name="Text Box 77"/>
            <p:cNvSpPr txBox="1">
              <a:spLocks noChangeArrowheads="1"/>
            </p:cNvSpPr>
            <p:nvPr/>
          </p:nvSpPr>
          <p:spPr bwMode="auto">
            <a:xfrm>
              <a:off x="0" y="30"/>
              <a:ext cx="830"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9430" name="Line 78"/>
            <p:cNvSpPr>
              <a:spLocks noChangeShapeType="1"/>
            </p:cNvSpPr>
            <p:nvPr/>
          </p:nvSpPr>
          <p:spPr bwMode="auto">
            <a:xfrm flipV="1">
              <a:off x="16"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1" name="Line 79"/>
            <p:cNvSpPr>
              <a:spLocks noChangeShapeType="1"/>
            </p:cNvSpPr>
            <p:nvPr/>
          </p:nvSpPr>
          <p:spPr bwMode="auto">
            <a:xfrm flipV="1">
              <a:off x="28"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2" name="Line 80"/>
            <p:cNvSpPr>
              <a:spLocks noChangeShapeType="1"/>
            </p:cNvSpPr>
            <p:nvPr/>
          </p:nvSpPr>
          <p:spPr bwMode="auto">
            <a:xfrm flipV="1">
              <a:off x="28"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3" name="Line 81"/>
            <p:cNvSpPr>
              <a:spLocks noChangeShapeType="1"/>
            </p:cNvSpPr>
            <p:nvPr/>
          </p:nvSpPr>
          <p:spPr bwMode="auto">
            <a:xfrm flipV="1">
              <a:off x="13"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398" name="Group 82"/>
          <p:cNvGrpSpPr>
            <a:grpSpLocks/>
          </p:cNvGrpSpPr>
          <p:nvPr/>
        </p:nvGrpSpPr>
        <p:grpSpPr bwMode="auto">
          <a:xfrm>
            <a:off x="8020051" y="4564064"/>
            <a:ext cx="1344613" cy="1512887"/>
            <a:chOff x="0" y="0"/>
            <a:chExt cx="847" cy="953"/>
          </a:xfrm>
        </p:grpSpPr>
        <p:sp>
          <p:nvSpPr>
            <p:cNvPr id="59420" name="Rectangle 83"/>
            <p:cNvSpPr>
              <a:spLocks noChangeArrowheads="1"/>
            </p:cNvSpPr>
            <p:nvPr/>
          </p:nvSpPr>
          <p:spPr bwMode="auto">
            <a:xfrm>
              <a:off x="49" y="0"/>
              <a:ext cx="798" cy="90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21" name="Rectangle 84"/>
            <p:cNvSpPr>
              <a:spLocks noChangeArrowheads="1"/>
            </p:cNvSpPr>
            <p:nvPr/>
          </p:nvSpPr>
          <p:spPr bwMode="auto">
            <a:xfrm>
              <a:off x="19" y="39"/>
              <a:ext cx="798" cy="90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22" name="Text Box 85"/>
            <p:cNvSpPr txBox="1">
              <a:spLocks noChangeArrowheads="1"/>
            </p:cNvSpPr>
            <p:nvPr/>
          </p:nvSpPr>
          <p:spPr bwMode="auto">
            <a:xfrm>
              <a:off x="0" y="30"/>
              <a:ext cx="830"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application</a:t>
              </a:r>
            </a:p>
            <a:p>
              <a:pPr algn="ctr">
                <a:buFont typeface="Wingdings" panose="05000000000000000000" pitchFamily="2" charset="2"/>
                <a:buNone/>
              </a:pPr>
              <a:r>
                <a:rPr lang="zh-CN" altLang="zh-CN" sz="1800">
                  <a:latin typeface="Comic Sans MS" panose="030F0702030302020204" pitchFamily="66" charset="0"/>
                </a:rPr>
                <a:t>transport</a:t>
              </a:r>
            </a:p>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9423" name="Line 86"/>
            <p:cNvSpPr>
              <a:spLocks noChangeShapeType="1"/>
            </p:cNvSpPr>
            <p:nvPr/>
          </p:nvSpPr>
          <p:spPr bwMode="auto">
            <a:xfrm flipV="1">
              <a:off x="16"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4" name="Line 87"/>
            <p:cNvSpPr>
              <a:spLocks noChangeShapeType="1"/>
            </p:cNvSpPr>
            <p:nvPr/>
          </p:nvSpPr>
          <p:spPr bwMode="auto">
            <a:xfrm flipV="1">
              <a:off x="28"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5" name="Line 88"/>
            <p:cNvSpPr>
              <a:spLocks noChangeShapeType="1"/>
            </p:cNvSpPr>
            <p:nvPr/>
          </p:nvSpPr>
          <p:spPr bwMode="auto">
            <a:xfrm flipV="1">
              <a:off x="28" y="582"/>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6" name="Line 89"/>
            <p:cNvSpPr>
              <a:spLocks noChangeShapeType="1"/>
            </p:cNvSpPr>
            <p:nvPr/>
          </p:nvSpPr>
          <p:spPr bwMode="auto">
            <a:xfrm flipV="1">
              <a:off x="13" y="75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399" name="Group 90"/>
          <p:cNvGrpSpPr>
            <a:grpSpLocks/>
          </p:cNvGrpSpPr>
          <p:nvPr/>
        </p:nvGrpSpPr>
        <p:grpSpPr bwMode="auto">
          <a:xfrm>
            <a:off x="7069138" y="3036888"/>
            <a:ext cx="1320800" cy="963612"/>
            <a:chOff x="0" y="0"/>
            <a:chExt cx="832" cy="607"/>
          </a:xfrm>
        </p:grpSpPr>
        <p:sp>
          <p:nvSpPr>
            <p:cNvPr id="59415" name="Rectangle 91"/>
            <p:cNvSpPr>
              <a:spLocks noChangeArrowheads="1"/>
            </p:cNvSpPr>
            <p:nvPr/>
          </p:nvSpPr>
          <p:spPr bwMode="auto">
            <a:xfrm>
              <a:off x="34" y="0"/>
              <a:ext cx="798" cy="58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16" name="Rectangle 92"/>
            <p:cNvSpPr>
              <a:spLocks noChangeArrowheads="1"/>
            </p:cNvSpPr>
            <p:nvPr/>
          </p:nvSpPr>
          <p:spPr bwMode="auto">
            <a:xfrm>
              <a:off x="0" y="39"/>
              <a:ext cx="798" cy="563"/>
            </a:xfrm>
            <a:prstGeom prst="rect">
              <a:avLst/>
            </a:prstGeom>
            <a:solidFill>
              <a:schemeClr val="bg1"/>
            </a:solidFill>
            <a:ln w="28575">
              <a:solidFill>
                <a:schemeClr val="tx1"/>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17" name="Text Box 93"/>
            <p:cNvSpPr txBox="1">
              <a:spLocks noChangeArrowheads="1"/>
            </p:cNvSpPr>
            <p:nvPr/>
          </p:nvSpPr>
          <p:spPr bwMode="auto">
            <a:xfrm>
              <a:off x="70" y="30"/>
              <a:ext cx="66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r>
                <a:rPr lang="zh-CN" altLang="zh-CN" sz="1800">
                  <a:latin typeface="Comic Sans MS" panose="030F0702030302020204" pitchFamily="66" charset="0"/>
                </a:rPr>
                <a:t>network</a:t>
              </a:r>
            </a:p>
            <a:p>
              <a:pPr algn="ctr">
                <a:buFont typeface="Wingdings" panose="05000000000000000000" pitchFamily="2" charset="2"/>
                <a:buNone/>
              </a:pPr>
              <a:r>
                <a:rPr lang="zh-CN" altLang="zh-CN" sz="1800">
                  <a:latin typeface="Comic Sans MS" panose="030F0702030302020204" pitchFamily="66" charset="0"/>
                </a:rPr>
                <a:t>link</a:t>
              </a:r>
            </a:p>
            <a:p>
              <a:pPr algn="ctr">
                <a:buFont typeface="Wingdings" panose="05000000000000000000" pitchFamily="2" charset="2"/>
                <a:buNone/>
              </a:pPr>
              <a:r>
                <a:rPr lang="zh-CN" altLang="zh-CN" sz="1800">
                  <a:latin typeface="Comic Sans MS" panose="030F0702030302020204" pitchFamily="66" charset="0"/>
                </a:rPr>
                <a:t>physical</a:t>
              </a:r>
            </a:p>
          </p:txBody>
        </p:sp>
        <p:sp>
          <p:nvSpPr>
            <p:cNvPr id="59418" name="Line 94"/>
            <p:cNvSpPr>
              <a:spLocks noChangeShapeType="1"/>
            </p:cNvSpPr>
            <p:nvPr/>
          </p:nvSpPr>
          <p:spPr bwMode="auto">
            <a:xfrm flipV="1">
              <a:off x="1" y="24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9" name="Line 95"/>
            <p:cNvSpPr>
              <a:spLocks noChangeShapeType="1"/>
            </p:cNvSpPr>
            <p:nvPr/>
          </p:nvSpPr>
          <p:spPr bwMode="auto">
            <a:xfrm flipV="1">
              <a:off x="13" y="420"/>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Line 96"/>
          <p:cNvSpPr>
            <a:spLocks noChangeShapeType="1"/>
          </p:cNvSpPr>
          <p:nvPr/>
        </p:nvSpPr>
        <p:spPr bwMode="auto">
          <a:xfrm>
            <a:off x="4721225" y="1790700"/>
            <a:ext cx="6350" cy="10287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Line 97"/>
          <p:cNvSpPr>
            <a:spLocks noChangeShapeType="1"/>
          </p:cNvSpPr>
          <p:nvPr/>
        </p:nvSpPr>
        <p:spPr bwMode="auto">
          <a:xfrm>
            <a:off x="7947025" y="3200400"/>
            <a:ext cx="6350" cy="27305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Line 98"/>
          <p:cNvSpPr>
            <a:spLocks noChangeShapeType="1"/>
          </p:cNvSpPr>
          <p:nvPr/>
        </p:nvSpPr>
        <p:spPr bwMode="auto">
          <a:xfrm flipV="1">
            <a:off x="7331075" y="3168650"/>
            <a:ext cx="0" cy="6159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Line 99"/>
          <p:cNvSpPr>
            <a:spLocks noChangeShapeType="1"/>
          </p:cNvSpPr>
          <p:nvPr/>
        </p:nvSpPr>
        <p:spPr bwMode="auto">
          <a:xfrm>
            <a:off x="7324726" y="3187701"/>
            <a:ext cx="625475"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Line 100"/>
          <p:cNvSpPr>
            <a:spLocks noChangeShapeType="1"/>
          </p:cNvSpPr>
          <p:nvPr/>
        </p:nvSpPr>
        <p:spPr bwMode="auto">
          <a:xfrm>
            <a:off x="7947025" y="5918201"/>
            <a:ext cx="787400" cy="95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101"/>
          <p:cNvSpPr>
            <a:spLocks noChangeShapeType="1"/>
          </p:cNvSpPr>
          <p:nvPr/>
        </p:nvSpPr>
        <p:spPr bwMode="auto">
          <a:xfrm flipV="1">
            <a:off x="8734425" y="4759325"/>
            <a:ext cx="12700" cy="1168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02"/>
          <p:cNvSpPr>
            <a:spLocks noChangeShapeType="1"/>
          </p:cNvSpPr>
          <p:nvPr/>
        </p:nvSpPr>
        <p:spPr bwMode="auto">
          <a:xfrm flipV="1">
            <a:off x="4752975" y="2835276"/>
            <a:ext cx="1403350" cy="285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03"/>
          <p:cNvSpPr>
            <a:spLocks noChangeShapeType="1"/>
          </p:cNvSpPr>
          <p:nvPr/>
        </p:nvSpPr>
        <p:spPr bwMode="auto">
          <a:xfrm>
            <a:off x="6127750" y="2851150"/>
            <a:ext cx="1212850" cy="965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104"/>
          <p:cNvGrpSpPr>
            <a:grpSpLocks/>
          </p:cNvGrpSpPr>
          <p:nvPr/>
        </p:nvGrpSpPr>
        <p:grpSpPr bwMode="auto">
          <a:xfrm>
            <a:off x="8442325" y="4330700"/>
            <a:ext cx="704850" cy="382588"/>
            <a:chOff x="0" y="0"/>
            <a:chExt cx="444" cy="241"/>
          </a:xfrm>
        </p:grpSpPr>
        <p:sp>
          <p:nvSpPr>
            <p:cNvPr id="59413" name="Rectangle 105"/>
            <p:cNvSpPr>
              <a:spLocks noChangeArrowheads="1"/>
            </p:cNvSpPr>
            <p:nvPr/>
          </p:nvSpPr>
          <p:spPr bwMode="auto">
            <a:xfrm>
              <a:off x="0" y="0"/>
              <a:ext cx="444" cy="240"/>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14" name="Text Box 106"/>
            <p:cNvSpPr txBox="1">
              <a:spLocks noChangeArrowheads="1"/>
            </p:cNvSpPr>
            <p:nvPr/>
          </p:nvSpPr>
          <p:spPr bwMode="auto">
            <a:xfrm>
              <a:off x="14" y="10"/>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Comic Sans MS" panose="030F0702030302020204" pitchFamily="66" charset="0"/>
                </a:rPr>
                <a:t>data</a:t>
              </a:r>
              <a:endParaRPr lang="zh-CN" altLang="zh-CN" sz="2400">
                <a:latin typeface="Times New Roman" panose="02020603050405020304" pitchFamily="18" charset="0"/>
              </a:endParaRPr>
            </a:p>
          </p:txBody>
        </p:sp>
      </p:grpSp>
      <p:grpSp>
        <p:nvGrpSpPr>
          <p:cNvPr id="11" name="Group 107"/>
          <p:cNvGrpSpPr>
            <a:grpSpLocks/>
          </p:cNvGrpSpPr>
          <p:nvPr/>
        </p:nvGrpSpPr>
        <p:grpSpPr bwMode="auto">
          <a:xfrm>
            <a:off x="4391025" y="1409700"/>
            <a:ext cx="704850" cy="382588"/>
            <a:chOff x="0" y="0"/>
            <a:chExt cx="444" cy="241"/>
          </a:xfrm>
        </p:grpSpPr>
        <p:sp>
          <p:nvSpPr>
            <p:cNvPr id="59411" name="Rectangle 108"/>
            <p:cNvSpPr>
              <a:spLocks noChangeArrowheads="1"/>
            </p:cNvSpPr>
            <p:nvPr/>
          </p:nvSpPr>
          <p:spPr bwMode="auto">
            <a:xfrm>
              <a:off x="0" y="0"/>
              <a:ext cx="444" cy="240"/>
            </a:xfrm>
            <a:prstGeom prst="rect">
              <a:avLst/>
            </a:prstGeom>
            <a:solidFill>
              <a:schemeClr val="bg1"/>
            </a:solidFill>
            <a:ln w="28575">
              <a:solidFill>
                <a:srgbClr val="FF0000"/>
              </a:solidFill>
              <a:miter lim="800000"/>
              <a:headEnd/>
              <a:tailEnd/>
            </a:ln>
          </p:spPr>
          <p:txBody>
            <a:bodyPr wrap="none" anchor="ct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buFont typeface="Wingdings" panose="05000000000000000000" pitchFamily="2" charset="2"/>
                <a:buNone/>
              </a:pPr>
              <a:endParaRPr lang="zh-CN" altLang="en-US">
                <a:latin typeface="Times New Roman" panose="02020603050405020304" pitchFamily="18" charset="0"/>
              </a:endParaRPr>
            </a:p>
          </p:txBody>
        </p:sp>
        <p:sp>
          <p:nvSpPr>
            <p:cNvPr id="59412" name="Text Box 109"/>
            <p:cNvSpPr txBox="1">
              <a:spLocks noChangeArrowheads="1"/>
            </p:cNvSpPr>
            <p:nvPr/>
          </p:nvSpPr>
          <p:spPr bwMode="auto">
            <a:xfrm>
              <a:off x="14" y="10"/>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sz="1800">
                  <a:solidFill>
                    <a:srgbClr val="FF0000"/>
                  </a:solidFill>
                  <a:latin typeface="Comic Sans MS" panose="030F0702030302020204" pitchFamily="66" charset="0"/>
                </a:rPr>
                <a:t>data</a:t>
              </a:r>
              <a:endParaRPr lang="zh-CN" altLang="zh-CN" sz="2400">
                <a:latin typeface="Times New Roman" panose="02020603050405020304" pitchFamily="18" charset="0"/>
              </a:endParaRPr>
            </a:p>
          </p:txBody>
        </p:sp>
      </p:grpSp>
      <p:sp>
        <p:nvSpPr>
          <p:cNvPr id="59410" name="Rectangle 110"/>
          <p:cNvSpPr>
            <a:spLocks noGrp="1" noChangeArrowheads="1"/>
          </p:cNvSpPr>
          <p:nvPr>
            <p:ph type="title"/>
          </p:nvPr>
        </p:nvSpPr>
        <p:spPr>
          <a:xfrm>
            <a:off x="4343400" y="358776"/>
            <a:ext cx="3505200" cy="436563"/>
          </a:xfrm>
        </p:spPr>
        <p:txBody>
          <a:bodyPr>
            <a:normAutofit fontScale="90000"/>
          </a:bodyPr>
          <a:lstStyle/>
          <a:p>
            <a:pPr algn="ctr" eaLnBrk="1" hangingPunct="1"/>
            <a:r>
              <a:rPr lang="zh-CN" altLang="zh-CN"/>
              <a:t>物理通信</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ppt_h/2"/>
                                          </p:val>
                                        </p:tav>
                                        <p:tav tm="100000">
                                          <p:val>
                                            <p:strVal val="#ppt_y"/>
                                          </p:val>
                                        </p:tav>
                                      </p:tavLst>
                                    </p:anim>
                                    <p:anim calcmode="lin" valueType="num">
                                      <p:cBhvr>
                                        <p:cTn id="14" dur="500" fill="hold"/>
                                        <p:tgtEl>
                                          <p:spTgt spid="2"/>
                                        </p:tgtEl>
                                        <p:attrNameLst>
                                          <p:attrName>ppt_w</p:attrName>
                                        </p:attrNameLst>
                                      </p:cBhvr>
                                      <p:tavLst>
                                        <p:tav tm="0">
                                          <p:val>
                                            <p:strVal val="#ppt_w"/>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ppt_x</p:attrName>
                                        </p:attrNameLst>
                                      </p:cBhvr>
                                      <p:tavLst>
                                        <p:tav tm="0">
                                          <p:val>
                                            <p:strVal val="#ppt_x-#ppt_w/2"/>
                                          </p:val>
                                        </p:tav>
                                        <p:tav tm="100000">
                                          <p:val>
                                            <p:strVal val="#ppt_x"/>
                                          </p:val>
                                        </p:tav>
                                      </p:tavLst>
                                    </p:anim>
                                    <p:anim calcmode="lin" valueType="num">
                                      <p:cBhvr>
                                        <p:cTn id="21" dur="500" fill="hold"/>
                                        <p:tgtEl>
                                          <p:spTgt spid="8"/>
                                        </p:tgtEl>
                                        <p:attrNameLst>
                                          <p:attrName>ppt_y</p:attrName>
                                        </p:attrNameLst>
                                      </p:cBhvr>
                                      <p:tavLst>
                                        <p:tav tm="0">
                                          <p:val>
                                            <p:strVal val="#ppt_y"/>
                                          </p:val>
                                        </p:tav>
                                        <p:tav tm="100000">
                                          <p:val>
                                            <p:strVal val="#ppt_y"/>
                                          </p:val>
                                        </p:tav>
                                      </p:tavLst>
                                    </p:anim>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strips(downRight)">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ppt_x</p:attrName>
                                        </p:attrNameLst>
                                      </p:cBhvr>
                                      <p:tavLst>
                                        <p:tav tm="0">
                                          <p:val>
                                            <p:strVal val="#ppt_x"/>
                                          </p:val>
                                        </p:tav>
                                        <p:tav tm="100000">
                                          <p:val>
                                            <p:strVal val="#ppt_x"/>
                                          </p:val>
                                        </p:tav>
                                      </p:tavLst>
                                    </p:anim>
                                    <p:anim calcmode="lin" valueType="num">
                                      <p:cBhvr>
                                        <p:cTn id="34" dur="500" fill="hold"/>
                                        <p:tgtEl>
                                          <p:spTgt spid="4"/>
                                        </p:tgtEl>
                                        <p:attrNameLst>
                                          <p:attrName>ppt_y</p:attrName>
                                        </p:attrNameLst>
                                      </p:cBhvr>
                                      <p:tavLst>
                                        <p:tav tm="0">
                                          <p:val>
                                            <p:strVal val="#ppt_y+#ppt_h/2"/>
                                          </p:val>
                                        </p:tav>
                                        <p:tav tm="100000">
                                          <p:val>
                                            <p:strVal val="#ppt_y"/>
                                          </p:val>
                                        </p:tav>
                                      </p:tavLst>
                                    </p:anim>
                                    <p:anim calcmode="lin" valueType="num">
                                      <p:cBhvr>
                                        <p:cTn id="35" dur="500" fill="hold"/>
                                        <p:tgtEl>
                                          <p:spTgt spid="4"/>
                                        </p:tgtEl>
                                        <p:attrNameLst>
                                          <p:attrName>ppt_w</p:attrName>
                                        </p:attrNameLst>
                                      </p:cBhvr>
                                      <p:tavLst>
                                        <p:tav tm="0">
                                          <p:val>
                                            <p:strVal val="#ppt_w"/>
                                          </p:val>
                                        </p:tav>
                                        <p:tav tm="100000">
                                          <p:val>
                                            <p:strVal val="#ppt_w"/>
                                          </p:val>
                                        </p:tav>
                                      </p:tavLst>
                                    </p:anim>
                                    <p:anim calcmode="lin" valueType="num">
                                      <p:cBhvr>
                                        <p:cTn id="36"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p:cTn id="41" dur="500" fill="hold"/>
                                        <p:tgtEl>
                                          <p:spTgt spid="5"/>
                                        </p:tgtEl>
                                        <p:attrNameLst>
                                          <p:attrName>ppt_x</p:attrName>
                                        </p:attrNameLst>
                                      </p:cBhvr>
                                      <p:tavLst>
                                        <p:tav tm="0">
                                          <p:val>
                                            <p:strVal val="#ppt_x-#ppt_w/2"/>
                                          </p:val>
                                        </p:tav>
                                        <p:tav tm="100000">
                                          <p:val>
                                            <p:strVal val="#ppt_x"/>
                                          </p:val>
                                        </p:tav>
                                      </p:tavLst>
                                    </p:anim>
                                    <p:anim calcmode="lin" valueType="num">
                                      <p:cBhvr>
                                        <p:cTn id="42" dur="500" fill="hold"/>
                                        <p:tgtEl>
                                          <p:spTgt spid="5"/>
                                        </p:tgtEl>
                                        <p:attrNameLst>
                                          <p:attrName>ppt_y</p:attrName>
                                        </p:attrNameLst>
                                      </p:cBhvr>
                                      <p:tavLst>
                                        <p:tav tm="0">
                                          <p:val>
                                            <p:strVal val="#ppt_y"/>
                                          </p:val>
                                        </p:tav>
                                        <p:tav tm="100000">
                                          <p:val>
                                            <p:strVal val="#ppt_y"/>
                                          </p:val>
                                        </p:tav>
                                      </p:tavLst>
                                    </p:anim>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ppt_x</p:attrName>
                                        </p:attrNameLst>
                                      </p:cBhvr>
                                      <p:tavLst>
                                        <p:tav tm="0">
                                          <p:val>
                                            <p:strVal val="#ppt_x"/>
                                          </p:val>
                                        </p:tav>
                                        <p:tav tm="100000">
                                          <p:val>
                                            <p:strVal val="#ppt_x"/>
                                          </p:val>
                                        </p:tav>
                                      </p:tavLst>
                                    </p:anim>
                                    <p:anim calcmode="lin" valueType="num">
                                      <p:cBhvr>
                                        <p:cTn id="50" dur="500" fill="hold"/>
                                        <p:tgtEl>
                                          <p:spTgt spid="3"/>
                                        </p:tgtEl>
                                        <p:attrNameLst>
                                          <p:attrName>ppt_y</p:attrName>
                                        </p:attrNameLst>
                                      </p:cBhvr>
                                      <p:tavLst>
                                        <p:tav tm="0">
                                          <p:val>
                                            <p:strVal val="#ppt_y-#ppt_h/2"/>
                                          </p:val>
                                        </p:tav>
                                        <p:tav tm="100000">
                                          <p:val>
                                            <p:strVal val="#ppt_y"/>
                                          </p:val>
                                        </p:tav>
                                      </p:tavLst>
                                    </p:anim>
                                    <p:anim calcmode="lin" valueType="num">
                                      <p:cBhvr>
                                        <p:cTn id="51" dur="500" fill="hold"/>
                                        <p:tgtEl>
                                          <p:spTgt spid="3"/>
                                        </p:tgtEl>
                                        <p:attrNameLst>
                                          <p:attrName>ppt_w</p:attrName>
                                        </p:attrNameLst>
                                      </p:cBhvr>
                                      <p:tavLst>
                                        <p:tav tm="0">
                                          <p:val>
                                            <p:strVal val="#ppt_w"/>
                                          </p:val>
                                        </p:tav>
                                        <p:tav tm="100000">
                                          <p:val>
                                            <p:strVal val="#ppt_w"/>
                                          </p:val>
                                        </p:tav>
                                      </p:tavLst>
                                    </p:anim>
                                    <p:anim calcmode="lin" valueType="num">
                                      <p:cBhvr>
                                        <p:cTn id="52"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p:cTn id="57" dur="500" fill="hold"/>
                                        <p:tgtEl>
                                          <p:spTgt spid="6"/>
                                        </p:tgtEl>
                                        <p:attrNameLst>
                                          <p:attrName>ppt_x</p:attrName>
                                        </p:attrNameLst>
                                      </p:cBhvr>
                                      <p:tavLst>
                                        <p:tav tm="0">
                                          <p:val>
                                            <p:strVal val="#ppt_x-#ppt_w/2"/>
                                          </p:val>
                                        </p:tav>
                                        <p:tav tm="100000">
                                          <p:val>
                                            <p:strVal val="#ppt_x"/>
                                          </p:val>
                                        </p:tav>
                                      </p:tavLst>
                                    </p:anim>
                                    <p:anim calcmode="lin" valueType="num">
                                      <p:cBhvr>
                                        <p:cTn id="58" dur="500" fill="hold"/>
                                        <p:tgtEl>
                                          <p:spTgt spid="6"/>
                                        </p:tgtEl>
                                        <p:attrNameLst>
                                          <p:attrName>ppt_y</p:attrName>
                                        </p:attrNameLst>
                                      </p:cBhvr>
                                      <p:tavLst>
                                        <p:tav tm="0">
                                          <p:val>
                                            <p:strVal val="#ppt_y"/>
                                          </p:val>
                                        </p:tav>
                                        <p:tav tm="100000">
                                          <p:val>
                                            <p:strVal val="#ppt_y"/>
                                          </p:val>
                                        </p:tav>
                                      </p:tavLst>
                                    </p:anim>
                                    <p:anim calcmode="lin" valueType="num">
                                      <p:cBhvr>
                                        <p:cTn id="59" dur="500" fill="hold"/>
                                        <p:tgtEl>
                                          <p:spTgt spid="6"/>
                                        </p:tgtEl>
                                        <p:attrNameLst>
                                          <p:attrName>ppt_w</p:attrName>
                                        </p:attrNameLst>
                                      </p:cBhvr>
                                      <p:tavLst>
                                        <p:tav tm="0">
                                          <p:val>
                                            <p:fltVal val="0"/>
                                          </p:val>
                                        </p:tav>
                                        <p:tav tm="100000">
                                          <p:val>
                                            <p:strVal val="#ppt_w"/>
                                          </p:val>
                                        </p:tav>
                                      </p:tavLst>
                                    </p:anim>
                                    <p:anim calcmode="lin" valueType="num">
                                      <p:cBhvr>
                                        <p:cTn id="6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4"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p:cTn id="65" dur="500" fill="hold"/>
                                        <p:tgtEl>
                                          <p:spTgt spid="7"/>
                                        </p:tgtEl>
                                        <p:attrNameLst>
                                          <p:attrName>ppt_x</p:attrName>
                                        </p:attrNameLst>
                                      </p:cBhvr>
                                      <p:tavLst>
                                        <p:tav tm="0">
                                          <p:val>
                                            <p:strVal val="#ppt_x"/>
                                          </p:val>
                                        </p:tav>
                                        <p:tav tm="100000">
                                          <p:val>
                                            <p:strVal val="#ppt_x"/>
                                          </p:val>
                                        </p:tav>
                                      </p:tavLst>
                                    </p:anim>
                                    <p:anim calcmode="lin" valueType="num">
                                      <p:cBhvr>
                                        <p:cTn id="66" dur="500" fill="hold"/>
                                        <p:tgtEl>
                                          <p:spTgt spid="7"/>
                                        </p:tgtEl>
                                        <p:attrNameLst>
                                          <p:attrName>ppt_y</p:attrName>
                                        </p:attrNameLst>
                                      </p:cBhvr>
                                      <p:tavLst>
                                        <p:tav tm="0">
                                          <p:val>
                                            <p:strVal val="#ppt_y+#ppt_h/2"/>
                                          </p:val>
                                        </p:tav>
                                        <p:tav tm="100000">
                                          <p:val>
                                            <p:strVal val="#ppt_y"/>
                                          </p:val>
                                        </p:tav>
                                      </p:tavLst>
                                    </p:anim>
                                    <p:anim calcmode="lin" valueType="num">
                                      <p:cBhvr>
                                        <p:cTn id="67" dur="500" fill="hold"/>
                                        <p:tgtEl>
                                          <p:spTgt spid="7"/>
                                        </p:tgtEl>
                                        <p:attrNameLst>
                                          <p:attrName>ppt_w</p:attrName>
                                        </p:attrNameLst>
                                      </p:cBhvr>
                                      <p:tavLst>
                                        <p:tav tm="0">
                                          <p:val>
                                            <p:strVal val="#ppt_w"/>
                                          </p:val>
                                        </p:tav>
                                        <p:tav tm="100000">
                                          <p:val>
                                            <p:strVal val="#ppt_w"/>
                                          </p:val>
                                        </p:tav>
                                      </p:tavLst>
                                    </p:anim>
                                    <p:anim calcmode="lin" valueType="num">
                                      <p:cBhvr>
                                        <p:cTn id="68" dur="500" fill="hold"/>
                                        <p:tgtEl>
                                          <p:spTgt spid="7"/>
                                        </p:tgtEl>
                                        <p:attrNameLst>
                                          <p:attrName>ppt_h</p:attrName>
                                        </p:attrNameLst>
                                      </p:cBhvr>
                                      <p:tavLst>
                                        <p:tav tm="0">
                                          <p:val>
                                            <p:fltVal val="0"/>
                                          </p:val>
                                        </p:tav>
                                        <p:tav tm="100000">
                                          <p:val>
                                            <p:strVal val="#ppt_h"/>
                                          </p:val>
                                        </p:tav>
                                      </p:tavLst>
                                    </p:anim>
                                  </p:childTnLst>
                                </p:cTn>
                              </p:par>
                            </p:childTnLst>
                          </p:cTn>
                        </p:par>
                        <p:par>
                          <p:cTn id="69" fill="hold" nodeType="afterGroup">
                            <p:stCondLst>
                              <p:cond delay="500"/>
                            </p:stCondLst>
                            <p:childTnLst>
                              <p:par>
                                <p:cTn id="70" presetID="9" presetClass="entr" presetSubtype="0" fill="hold" nodeType="after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dissolve">
                                      <p:cBhvr>
                                        <p:cTn id="7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697037" y="1550989"/>
            <a:ext cx="8797925" cy="38893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95263" indent="-1952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
                <a:srgbClr val="CC0000"/>
              </a:buClr>
              <a:buSzPct val="50000"/>
              <a:buFont typeface="Wingdings" panose="05000000000000000000" pitchFamily="2" charset="2"/>
              <a:buChar char="u"/>
            </a:pPr>
            <a:r>
              <a:rPr lang="zh-CN" altLang="zh-CN" sz="2400" b="1">
                <a:latin typeface="华文楷体" panose="02010600040101010101" pitchFamily="2" charset="-122"/>
                <a:ea typeface="华文楷体" panose="02010600040101010101" pitchFamily="2" charset="-122"/>
              </a:rPr>
              <a:t>OSI模型有3个主要概念：</a:t>
            </a:r>
            <a:r>
              <a:rPr lang="zh-CN" altLang="zh-CN" sz="2400" b="1">
                <a:solidFill>
                  <a:schemeClr val="accent2"/>
                </a:solidFill>
                <a:latin typeface="华文楷体" panose="02010600040101010101" pitchFamily="2" charset="-122"/>
                <a:ea typeface="华文楷体" panose="02010600040101010101" pitchFamily="2" charset="-122"/>
              </a:rPr>
              <a:t>服务、接口、协议</a:t>
            </a:r>
            <a:r>
              <a:rPr lang="zh-CN" altLang="zh-CN" sz="2400" b="1">
                <a:latin typeface="华文楷体" panose="02010600040101010101" pitchFamily="2" charset="-122"/>
                <a:ea typeface="华文楷体" panose="02010600040101010101" pitchFamily="2" charset="-122"/>
              </a:rPr>
              <a:t>；TCP/IP参考模型最初没有明确区分服务、接口和协议。</a:t>
            </a:r>
          </a:p>
          <a:p>
            <a:pPr algn="just" eaLnBrk="1" hangingPunct="1">
              <a:lnSpc>
                <a:spcPct val="130000"/>
              </a:lnSpc>
              <a:spcBef>
                <a:spcPct val="0"/>
              </a:spcBef>
              <a:buClr>
                <a:srgbClr val="CC0000"/>
              </a:buClr>
              <a:buSzPct val="50000"/>
              <a:buFont typeface="Wingdings" panose="05000000000000000000" pitchFamily="2" charset="2"/>
              <a:buChar char="u"/>
            </a:pPr>
            <a:r>
              <a:rPr lang="zh-CN" altLang="zh-CN" sz="2400" b="1">
                <a:latin typeface="华文楷体" panose="02010600040101010101" pitchFamily="2" charset="-122"/>
                <a:ea typeface="华文楷体" panose="02010600040101010101" pitchFamily="2" charset="-122"/>
              </a:rPr>
              <a:t>OSI参考模型产生在协议产生之后（而TCP/IP却正好相反）。模型实际上是对已有协议的描述。</a:t>
            </a:r>
          </a:p>
          <a:p>
            <a:pPr algn="just" eaLnBrk="1" hangingPunct="1">
              <a:lnSpc>
                <a:spcPct val="130000"/>
              </a:lnSpc>
              <a:spcBef>
                <a:spcPct val="0"/>
              </a:spcBef>
              <a:buClr>
                <a:srgbClr val="CC0000"/>
              </a:buClr>
              <a:buSzPct val="50000"/>
              <a:buFont typeface="Wingdings" panose="05000000000000000000" pitchFamily="2" charset="2"/>
              <a:buChar char="u"/>
            </a:pPr>
            <a:r>
              <a:rPr lang="zh-CN" altLang="zh-CN" sz="2400" b="1">
                <a:solidFill>
                  <a:schemeClr val="accent2"/>
                </a:solidFill>
                <a:latin typeface="华文楷体" panose="02010600040101010101" pitchFamily="2" charset="-122"/>
                <a:ea typeface="华文楷体" panose="02010600040101010101" pitchFamily="2" charset="-122"/>
              </a:rPr>
              <a:t>OSI</a:t>
            </a:r>
            <a:r>
              <a:rPr lang="zh-CN" altLang="zh-CN" sz="2400" b="1">
                <a:latin typeface="华文楷体" panose="02010600040101010101" pitchFamily="2" charset="-122"/>
                <a:ea typeface="华文楷体" panose="02010600040101010101" pitchFamily="2" charset="-122"/>
              </a:rPr>
              <a:t>模型有</a:t>
            </a:r>
            <a:r>
              <a:rPr lang="zh-CN" altLang="zh-CN" sz="2400" b="1">
                <a:solidFill>
                  <a:schemeClr val="accent2"/>
                </a:solidFill>
                <a:latin typeface="华文楷体" panose="02010600040101010101" pitchFamily="2" charset="-122"/>
                <a:ea typeface="华文楷体" panose="02010600040101010101" pitchFamily="2" charset="-122"/>
              </a:rPr>
              <a:t>7层</a:t>
            </a:r>
            <a:r>
              <a:rPr lang="zh-CN" altLang="zh-CN" sz="2400" b="1">
                <a:latin typeface="华文楷体" panose="02010600040101010101" pitchFamily="2" charset="-122"/>
                <a:ea typeface="华文楷体" panose="02010600040101010101" pitchFamily="2" charset="-122"/>
              </a:rPr>
              <a:t>，而</a:t>
            </a:r>
            <a:r>
              <a:rPr lang="zh-CN" altLang="zh-CN" sz="2400" b="1">
                <a:solidFill>
                  <a:schemeClr val="accent2"/>
                </a:solidFill>
                <a:latin typeface="华文楷体" panose="02010600040101010101" pitchFamily="2" charset="-122"/>
                <a:ea typeface="华文楷体" panose="02010600040101010101" pitchFamily="2" charset="-122"/>
              </a:rPr>
              <a:t>TCP/IP</a:t>
            </a:r>
            <a:r>
              <a:rPr lang="zh-CN" altLang="zh-CN" sz="2400" b="1">
                <a:latin typeface="华文楷体" panose="02010600040101010101" pitchFamily="2" charset="-122"/>
                <a:ea typeface="华文楷体" panose="02010600040101010101" pitchFamily="2" charset="-122"/>
              </a:rPr>
              <a:t>模型只有</a:t>
            </a:r>
            <a:r>
              <a:rPr lang="zh-CN" altLang="zh-CN" sz="2400" b="1">
                <a:solidFill>
                  <a:schemeClr val="accent2"/>
                </a:solidFill>
                <a:latin typeface="华文楷体" panose="02010600040101010101" pitchFamily="2" charset="-122"/>
                <a:ea typeface="华文楷体" panose="02010600040101010101" pitchFamily="2" charset="-122"/>
              </a:rPr>
              <a:t>4层</a:t>
            </a:r>
            <a:r>
              <a:rPr lang="zh-CN" altLang="zh-CN" sz="2400" b="1">
                <a:latin typeface="华文楷体" panose="02010600040101010101" pitchFamily="2" charset="-122"/>
                <a:ea typeface="华文楷体" panose="02010600040101010101" pitchFamily="2" charset="-122"/>
              </a:rPr>
              <a:t>。</a:t>
            </a:r>
          </a:p>
          <a:p>
            <a:pPr algn="just" eaLnBrk="1" hangingPunct="1">
              <a:lnSpc>
                <a:spcPct val="130000"/>
              </a:lnSpc>
              <a:spcBef>
                <a:spcPct val="0"/>
              </a:spcBef>
              <a:buClr>
                <a:srgbClr val="CC0000"/>
              </a:buClr>
              <a:buSzPct val="50000"/>
              <a:buFont typeface="Wingdings" panose="05000000000000000000" pitchFamily="2" charset="2"/>
              <a:buChar char="u"/>
            </a:pPr>
            <a:r>
              <a:rPr lang="zh-CN" altLang="zh-CN" sz="2400" b="1">
                <a:latin typeface="华文楷体" panose="02010600040101010101" pitchFamily="2" charset="-122"/>
                <a:ea typeface="华文楷体" panose="02010600040101010101" pitchFamily="2" charset="-122"/>
              </a:rPr>
              <a:t>OSI模型在</a:t>
            </a:r>
            <a:r>
              <a:rPr lang="zh-CN" altLang="zh-CN" sz="2400" b="1">
                <a:solidFill>
                  <a:schemeClr val="accent2"/>
                </a:solidFill>
                <a:latin typeface="华文楷体" panose="02010600040101010101" pitchFamily="2" charset="-122"/>
                <a:ea typeface="华文楷体" panose="02010600040101010101" pitchFamily="2" charset="-122"/>
              </a:rPr>
              <a:t>网络层</a:t>
            </a:r>
            <a:r>
              <a:rPr lang="zh-CN" altLang="zh-CN" sz="2400" b="1">
                <a:latin typeface="华文楷体" panose="02010600040101010101" pitchFamily="2" charset="-122"/>
                <a:ea typeface="华文楷体" panose="02010600040101010101" pitchFamily="2" charset="-122"/>
              </a:rPr>
              <a:t>支持无连接和面向连接的通信，但在传输层仅有面向连接的通信，TCP/IP模型在</a:t>
            </a:r>
            <a:r>
              <a:rPr lang="zh-CN" altLang="zh-CN" sz="2400" b="1">
                <a:solidFill>
                  <a:schemeClr val="accent2"/>
                </a:solidFill>
                <a:latin typeface="华文楷体" panose="02010600040101010101" pitchFamily="2" charset="-122"/>
                <a:ea typeface="华文楷体" panose="02010600040101010101" pitchFamily="2" charset="-122"/>
              </a:rPr>
              <a:t>网络层</a:t>
            </a:r>
            <a:r>
              <a:rPr lang="zh-CN" altLang="zh-CN" sz="2400" b="1">
                <a:latin typeface="华文楷体" panose="02010600040101010101" pitchFamily="2" charset="-122"/>
                <a:ea typeface="华文楷体" panose="02010600040101010101" pitchFamily="2" charset="-122"/>
              </a:rPr>
              <a:t>仅有一种通信模型(无连接)，但在传输层支持两种模式。</a:t>
            </a:r>
          </a:p>
        </p:txBody>
      </p:sp>
      <p:sp>
        <p:nvSpPr>
          <p:cNvPr id="60419" name="Rectangle 3"/>
          <p:cNvSpPr>
            <a:spLocks noGrp="1" noChangeArrowheads="1"/>
          </p:cNvSpPr>
          <p:nvPr>
            <p:ph type="title" idx="4294967295"/>
          </p:nvPr>
        </p:nvSpPr>
        <p:spPr>
          <a:xfrm>
            <a:off x="2959100" y="188913"/>
            <a:ext cx="6070600" cy="623887"/>
          </a:xfrm>
        </p:spPr>
        <p:txBody>
          <a:bodyPr>
            <a:normAutofit fontScale="90000"/>
          </a:bodyPr>
          <a:lstStyle/>
          <a:p>
            <a:pPr algn="ctr" eaLnBrk="1" hangingPunct="1"/>
            <a:r>
              <a:rPr lang="zh-CN" altLang="zh-CN"/>
              <a:t>OSI与TCP/IP的比较</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anim calcmode="lin" valueType="num">
                                      <p:cBhvr additive="base">
                                        <p:cTn id="7" dur="500" fill="hold"/>
                                        <p:tgtEl>
                                          <p:spTgt spid="6041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04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0418">
                                            <p:txEl>
                                              <p:pRg st="1" end="1"/>
                                            </p:txEl>
                                          </p:spTgt>
                                        </p:tgtEl>
                                        <p:attrNameLst>
                                          <p:attrName>style.visibility</p:attrName>
                                        </p:attrNameLst>
                                      </p:cBhvr>
                                      <p:to>
                                        <p:strVal val="visible"/>
                                      </p:to>
                                    </p:set>
                                    <p:anim calcmode="lin" valueType="num">
                                      <p:cBhvr additive="base">
                                        <p:cTn id="13" dur="500" fill="hold"/>
                                        <p:tgtEl>
                                          <p:spTgt spid="6041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04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0418">
                                            <p:txEl>
                                              <p:pRg st="2" end="2"/>
                                            </p:txEl>
                                          </p:spTgt>
                                        </p:tgtEl>
                                        <p:attrNameLst>
                                          <p:attrName>style.visibility</p:attrName>
                                        </p:attrNameLst>
                                      </p:cBhvr>
                                      <p:to>
                                        <p:strVal val="visible"/>
                                      </p:to>
                                    </p:set>
                                    <p:anim calcmode="lin" valueType="num">
                                      <p:cBhvr additive="base">
                                        <p:cTn id="19" dur="500" fill="hold"/>
                                        <p:tgtEl>
                                          <p:spTgt spid="6041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04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0418">
                                            <p:txEl>
                                              <p:pRg st="3" end="3"/>
                                            </p:txEl>
                                          </p:spTgt>
                                        </p:tgtEl>
                                        <p:attrNameLst>
                                          <p:attrName>style.visibility</p:attrName>
                                        </p:attrNameLst>
                                      </p:cBhvr>
                                      <p:to>
                                        <p:strVal val="visible"/>
                                      </p:to>
                                    </p:set>
                                    <p:anim calcmode="lin" valueType="num">
                                      <p:cBhvr additive="base">
                                        <p:cTn id="25" dur="500" fill="hold"/>
                                        <p:tgtEl>
                                          <p:spTgt spid="6041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041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576262" y="1503363"/>
            <a:ext cx="11039474" cy="64479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lnSpc>
                <a:spcPct val="140000"/>
              </a:lnSpc>
              <a:buFont typeface="Wingdings" panose="05000000000000000000" pitchFamily="2" charset="2"/>
              <a:buNone/>
            </a:pPr>
            <a:r>
              <a:rPr lang="zh-CN" altLang="zh-CN" b="1">
                <a:solidFill>
                  <a:srgbClr val="FF3300"/>
                </a:solidFill>
                <a:latin typeface="华文楷体" panose="02010600040101010101" pitchFamily="2" charset="-122"/>
                <a:ea typeface="华文楷体" panose="02010600040101010101" pitchFamily="2" charset="-122"/>
              </a:rPr>
              <a:t>OSI模型的优点：</a:t>
            </a:r>
            <a:r>
              <a:rPr lang="zh-CN" altLang="zh-CN">
                <a:latin typeface="华文楷体" panose="02010600040101010101" pitchFamily="2" charset="-122"/>
                <a:ea typeface="华文楷体" panose="02010600040101010101" pitchFamily="2" charset="-122"/>
              </a:rPr>
              <a:t>结构严谨、科学、完备，是计算机网络的国际标准</a:t>
            </a:r>
          </a:p>
        </p:txBody>
      </p:sp>
      <p:sp>
        <p:nvSpPr>
          <p:cNvPr id="62467" name="Rectangle 3"/>
          <p:cNvSpPr>
            <a:spLocks noGrp="1" noChangeArrowheads="1"/>
          </p:cNvSpPr>
          <p:nvPr>
            <p:ph type="title" idx="4294967295"/>
          </p:nvPr>
        </p:nvSpPr>
        <p:spPr>
          <a:xfrm>
            <a:off x="3655218" y="217488"/>
            <a:ext cx="4881563" cy="674687"/>
          </a:xfrm>
        </p:spPr>
        <p:txBody>
          <a:bodyPr>
            <a:normAutofit fontScale="90000"/>
          </a:bodyPr>
          <a:lstStyle/>
          <a:p>
            <a:pPr algn="ctr" eaLnBrk="1" hangingPunct="1"/>
            <a:r>
              <a:rPr lang="zh-CN" altLang="zh-CN"/>
              <a:t>OSI模型的优缺点</a:t>
            </a:r>
          </a:p>
        </p:txBody>
      </p:sp>
      <p:sp>
        <p:nvSpPr>
          <p:cNvPr id="62468" name="Text Box 4"/>
          <p:cNvSpPr txBox="1">
            <a:spLocks noChangeArrowheads="1"/>
          </p:cNvSpPr>
          <p:nvPr/>
        </p:nvSpPr>
        <p:spPr bwMode="auto">
          <a:xfrm>
            <a:off x="576262" y="2439989"/>
            <a:ext cx="11039474" cy="164352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30000"/>
              </a:spcBef>
              <a:buClrTx/>
              <a:buSzTx/>
              <a:buFont typeface="Wingdings" panose="05000000000000000000" pitchFamily="2" charset="2"/>
              <a:buNone/>
            </a:pPr>
            <a:r>
              <a:rPr lang="zh-CN" altLang="zh-CN" sz="2800" b="1">
                <a:solidFill>
                  <a:schemeClr val="tx2"/>
                </a:solidFill>
                <a:latin typeface="华文楷体" panose="02010600040101010101" pitchFamily="2" charset="-122"/>
                <a:ea typeface="华文楷体" panose="02010600040101010101" pitchFamily="2" charset="-122"/>
              </a:rPr>
              <a:t>OSI模型的缺点：</a:t>
            </a:r>
          </a:p>
          <a:p>
            <a:pPr eaLnBrk="1" hangingPunct="1">
              <a:spcBef>
                <a:spcPct val="30000"/>
              </a:spcBef>
              <a:buClrTx/>
              <a:buSzTx/>
              <a:buFont typeface="Wingdings" panose="05000000000000000000" pitchFamily="2" charset="2"/>
              <a:buAutoNum type="arabicParenR"/>
            </a:pPr>
            <a:r>
              <a:rPr lang="zh-CN" altLang="zh-CN" sz="2800">
                <a:latin typeface="华文楷体" panose="02010600040101010101" pitchFamily="2" charset="-122"/>
                <a:ea typeface="华文楷体" panose="02010600040101010101" pitchFamily="2" charset="-122"/>
              </a:rPr>
              <a:t>过分追求完美性使协议体系过于复杂，难以尽快投入应用 </a:t>
            </a:r>
          </a:p>
          <a:p>
            <a:pPr eaLnBrk="1" hangingPunct="1">
              <a:spcBef>
                <a:spcPct val="30000"/>
              </a:spcBef>
              <a:buClrTx/>
              <a:buSzTx/>
              <a:buFont typeface="Wingdings" panose="05000000000000000000" pitchFamily="2" charset="2"/>
              <a:buAutoNum type="arabicParenR"/>
            </a:pPr>
            <a:r>
              <a:rPr lang="zh-CN" altLang="zh-CN" sz="2800">
                <a:latin typeface="华文楷体" panose="02010600040101010101" pitchFamily="2" charset="-122"/>
                <a:ea typeface="华文楷体" panose="02010600040101010101" pitchFamily="2" charset="-122"/>
              </a:rPr>
              <a:t>标准制订周期太长，不适应市场需求的迅速变化和技术的发展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 calcmode="lin" valueType="num">
                                      <p:cBhvr additive="base">
                                        <p:cTn id="7" dur="500" fill="hold"/>
                                        <p:tgtEl>
                                          <p:spTgt spid="6246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24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2468">
                                            <p:txEl>
                                              <p:pRg st="0" end="0"/>
                                            </p:txEl>
                                          </p:spTgt>
                                        </p:tgtEl>
                                        <p:attrNameLst>
                                          <p:attrName>style.visibility</p:attrName>
                                        </p:attrNameLst>
                                      </p:cBhvr>
                                      <p:to>
                                        <p:strVal val="visible"/>
                                      </p:to>
                                    </p:set>
                                    <p:anim calcmode="lin" valueType="num">
                                      <p:cBhvr additive="base">
                                        <p:cTn id="13" dur="500" fill="hold"/>
                                        <p:tgtEl>
                                          <p:spTgt spid="6246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24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2468">
                                            <p:txEl>
                                              <p:pRg st="1" end="1"/>
                                            </p:txEl>
                                          </p:spTgt>
                                        </p:tgtEl>
                                        <p:attrNameLst>
                                          <p:attrName>style.visibility</p:attrName>
                                        </p:attrNameLst>
                                      </p:cBhvr>
                                      <p:to>
                                        <p:strVal val="visible"/>
                                      </p:to>
                                    </p:set>
                                    <p:anim calcmode="lin" valueType="num">
                                      <p:cBhvr additive="base">
                                        <p:cTn id="19" dur="500" fill="hold"/>
                                        <p:tgtEl>
                                          <p:spTgt spid="62468">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24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2468">
                                            <p:txEl>
                                              <p:pRg st="2" end="2"/>
                                            </p:txEl>
                                          </p:spTgt>
                                        </p:tgtEl>
                                        <p:attrNameLst>
                                          <p:attrName>style.visibility</p:attrName>
                                        </p:attrNameLst>
                                      </p:cBhvr>
                                      <p:to>
                                        <p:strVal val="visible"/>
                                      </p:to>
                                    </p:set>
                                    <p:anim calcmode="lin" valueType="num">
                                      <p:cBhvr additive="base">
                                        <p:cTn id="25" dur="500" fill="hold"/>
                                        <p:tgtEl>
                                          <p:spTgt spid="62468">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246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p:bldP spid="6246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114301" y="1508061"/>
            <a:ext cx="12077700" cy="183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buFont typeface="Wingdings" panose="05000000000000000000" pitchFamily="2" charset="2"/>
              <a:buNone/>
            </a:pPr>
            <a:r>
              <a:rPr lang="zh-CN" altLang="zh-CN" sz="3200" b="1">
                <a:solidFill>
                  <a:srgbClr val="FF3300"/>
                </a:solidFill>
                <a:latin typeface="华文楷体" panose="02010600040101010101" pitchFamily="2" charset="-122"/>
                <a:ea typeface="华文楷体" panose="02010600040101010101" pitchFamily="2" charset="-122"/>
              </a:rPr>
              <a:t>TCP/IP参考模型的优点：</a:t>
            </a:r>
            <a:r>
              <a:rPr lang="zh-CN" altLang="zh-CN" sz="3200">
                <a:latin typeface="华文楷体" panose="02010600040101010101" pitchFamily="2" charset="-122"/>
                <a:ea typeface="华文楷体" panose="02010600040101010101" pitchFamily="2" charset="-122"/>
              </a:rPr>
              <a:t>从体系结构上看, Internet的4层结构比OSI/RM的7层结构简单, 也没有OSI/RM中复杂的“服务”定义，制订的时机合适, 在实践中它明显地占了上风</a:t>
            </a:r>
            <a:r>
              <a:rPr lang="en-US" altLang="zh-CN" sz="3200">
                <a:latin typeface="华文楷体" panose="02010600040101010101" pitchFamily="2" charset="-122"/>
                <a:ea typeface="华文楷体" panose="02010600040101010101" pitchFamily="2" charset="-122"/>
              </a:rPr>
              <a:t>——</a:t>
            </a:r>
            <a:r>
              <a:rPr lang="zh-CN" altLang="zh-CN" sz="3200">
                <a:solidFill>
                  <a:schemeClr val="folHlink"/>
                </a:solidFill>
                <a:latin typeface="华文楷体" panose="02010600040101010101" pitchFamily="2" charset="-122"/>
                <a:ea typeface="华文楷体" panose="02010600040101010101" pitchFamily="2" charset="-122"/>
              </a:rPr>
              <a:t>事实上的网络标准</a:t>
            </a:r>
          </a:p>
        </p:txBody>
      </p:sp>
      <p:sp>
        <p:nvSpPr>
          <p:cNvPr id="64515" name="Rectangle 3"/>
          <p:cNvSpPr>
            <a:spLocks noGrp="1" noChangeArrowheads="1"/>
          </p:cNvSpPr>
          <p:nvPr>
            <p:ph type="title" idx="4294967295"/>
          </p:nvPr>
        </p:nvSpPr>
        <p:spPr>
          <a:xfrm>
            <a:off x="3833018" y="190500"/>
            <a:ext cx="4773613" cy="796925"/>
          </a:xfrm>
        </p:spPr>
        <p:txBody>
          <a:bodyPr/>
          <a:lstStyle/>
          <a:p>
            <a:pPr algn="ctr" eaLnBrk="1" hangingPunct="1"/>
            <a:r>
              <a:rPr lang="zh-CN" altLang="zh-CN" b="1"/>
              <a:t>TCP/IP的优缺点</a:t>
            </a:r>
          </a:p>
        </p:txBody>
      </p:sp>
      <p:sp>
        <p:nvSpPr>
          <p:cNvPr id="64516" name="Text Box 4"/>
          <p:cNvSpPr txBox="1">
            <a:spLocks noChangeArrowheads="1"/>
          </p:cNvSpPr>
          <p:nvPr/>
        </p:nvSpPr>
        <p:spPr bwMode="auto">
          <a:xfrm>
            <a:off x="114301" y="3719577"/>
            <a:ext cx="8734425" cy="183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None/>
            </a:pPr>
            <a:r>
              <a:rPr lang="zh-CN" altLang="zh-CN" sz="3200" b="1">
                <a:solidFill>
                  <a:srgbClr val="FF3300"/>
                </a:solidFill>
                <a:latin typeface="华文楷体" panose="02010600040101010101" pitchFamily="2" charset="-122"/>
                <a:ea typeface="华文楷体" panose="02010600040101010101" pitchFamily="2" charset="-122"/>
              </a:rPr>
              <a:t>TCP/IP参考模型的缺点：</a:t>
            </a:r>
          </a:p>
          <a:p>
            <a:pPr eaLnBrk="1" hangingPunct="1">
              <a:lnSpc>
                <a:spcPct val="120000"/>
              </a:lnSpc>
              <a:buFont typeface="Wingdings" panose="05000000000000000000" pitchFamily="2" charset="2"/>
              <a:buNone/>
            </a:pPr>
            <a:r>
              <a:rPr lang="zh-CN" altLang="zh-CN" sz="3200">
                <a:latin typeface="华文楷体" panose="02010600040101010101" pitchFamily="2" charset="-122"/>
                <a:ea typeface="华文楷体" panose="02010600040101010101" pitchFamily="2" charset="-122"/>
              </a:rPr>
              <a:t>结构不严谨、不科学、不完善</a:t>
            </a:r>
          </a:p>
          <a:p>
            <a:pPr eaLnBrk="1" hangingPunct="1">
              <a:lnSpc>
                <a:spcPct val="120000"/>
              </a:lnSpc>
              <a:buFont typeface="Wingdings" panose="05000000000000000000" pitchFamily="2" charset="2"/>
              <a:buNone/>
            </a:pPr>
            <a:r>
              <a:rPr lang="zh-CN" altLang="zh-CN" sz="3200">
                <a:latin typeface="华文楷体" panose="02010600040101010101" pitchFamily="2" charset="-122"/>
                <a:ea typeface="华文楷体" panose="02010600040101010101" pitchFamily="2" charset="-122"/>
              </a:rPr>
              <a:t>在实践中不断发现问题，不断完善----</a:t>
            </a:r>
            <a:r>
              <a:rPr lang="zh-CN" altLang="zh-CN" sz="3200">
                <a:solidFill>
                  <a:srgbClr val="3333FF"/>
                </a:solidFill>
                <a:latin typeface="华文楷体" panose="02010600040101010101" pitchFamily="2" charset="-122"/>
                <a:ea typeface="华文楷体" panose="02010600040101010101" pitchFamily="2" charset="-122"/>
              </a:rPr>
              <a:t>打补丁</a:t>
            </a:r>
            <a:endParaRPr lang="zh-CN" altLang="zh-CN" sz="3200">
              <a:solidFill>
                <a:schemeClr val="folHlink"/>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 calcmode="lin" valueType="num">
                                      <p:cBhvr additive="base">
                                        <p:cTn id="7" dur="500" fill="hold"/>
                                        <p:tgtEl>
                                          <p:spTgt spid="645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5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4516">
                                            <p:txEl>
                                              <p:pRg st="0" end="0"/>
                                            </p:txEl>
                                          </p:spTgt>
                                        </p:tgtEl>
                                        <p:attrNameLst>
                                          <p:attrName>style.visibility</p:attrName>
                                        </p:attrNameLst>
                                      </p:cBhvr>
                                      <p:to>
                                        <p:strVal val="visible"/>
                                      </p:to>
                                    </p:set>
                                    <p:anim calcmode="lin" valueType="num">
                                      <p:cBhvr additive="base">
                                        <p:cTn id="13" dur="500" fill="hold"/>
                                        <p:tgtEl>
                                          <p:spTgt spid="64516">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45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4516">
                                            <p:txEl>
                                              <p:pRg st="1" end="1"/>
                                            </p:txEl>
                                          </p:spTgt>
                                        </p:tgtEl>
                                        <p:attrNameLst>
                                          <p:attrName>style.visibility</p:attrName>
                                        </p:attrNameLst>
                                      </p:cBhvr>
                                      <p:to>
                                        <p:strVal val="visible"/>
                                      </p:to>
                                    </p:set>
                                    <p:anim calcmode="lin" valueType="num">
                                      <p:cBhvr additive="base">
                                        <p:cTn id="19" dur="500" fill="hold"/>
                                        <p:tgtEl>
                                          <p:spTgt spid="64516">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45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4516">
                                            <p:txEl>
                                              <p:pRg st="2" end="2"/>
                                            </p:txEl>
                                          </p:spTgt>
                                        </p:tgtEl>
                                        <p:attrNameLst>
                                          <p:attrName>style.visibility</p:attrName>
                                        </p:attrNameLst>
                                      </p:cBhvr>
                                      <p:to>
                                        <p:strVal val="visible"/>
                                      </p:to>
                                    </p:set>
                                    <p:anim calcmode="lin" valueType="num">
                                      <p:cBhvr additive="base">
                                        <p:cTn id="25" dur="500" fill="hold"/>
                                        <p:tgtEl>
                                          <p:spTgt spid="64516">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451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p:bldP spid="6451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014788" y="455613"/>
            <a:ext cx="3841750" cy="400050"/>
          </a:xfrm>
        </p:spPr>
        <p:txBody>
          <a:bodyPr>
            <a:normAutofit fontScale="90000"/>
          </a:bodyPr>
          <a:lstStyle/>
          <a:p>
            <a:pPr algn="ctr" eaLnBrk="1" hangingPunct="1"/>
            <a:r>
              <a:rPr lang="zh-CN" altLang="zh-CN" b="1"/>
              <a:t>TCP/IP的补丁</a:t>
            </a:r>
          </a:p>
        </p:txBody>
      </p:sp>
      <p:sp>
        <p:nvSpPr>
          <p:cNvPr id="66563" name="Text Box 3"/>
          <p:cNvSpPr txBox="1">
            <a:spLocks noChangeArrowheads="1"/>
          </p:cNvSpPr>
          <p:nvPr/>
        </p:nvSpPr>
        <p:spPr bwMode="auto">
          <a:xfrm>
            <a:off x="157162" y="1462089"/>
            <a:ext cx="11877675" cy="250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61975" indent="-5619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3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网络层不安全</a:t>
            </a:r>
            <a:r>
              <a:rPr lang="zh-CN" altLang="en-US" b="1">
                <a:latin typeface="华文楷体" panose="02010600040101010101" pitchFamily="2" charset="-122"/>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IPSec</a:t>
            </a:r>
          </a:p>
          <a:p>
            <a:pPr eaLnBrk="1" hangingPunct="1">
              <a:spcBef>
                <a:spcPct val="3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没有数据加密、压缩等功能</a:t>
            </a:r>
            <a:r>
              <a:rPr lang="zh-CN" altLang="en-US" b="1">
                <a:latin typeface="华文楷体" panose="02010600040101010101" pitchFamily="2" charset="-122"/>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增加SSL（增加会话层和表示层）</a:t>
            </a:r>
          </a:p>
          <a:p>
            <a:pPr eaLnBrk="1" hangingPunct="1">
              <a:spcBef>
                <a:spcPct val="3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电子邮件不安全</a:t>
            </a:r>
            <a:r>
              <a:rPr lang="zh-CN" altLang="en-US" b="1">
                <a:latin typeface="华文楷体" panose="02010600040101010101" pitchFamily="2" charset="-122"/>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安全电子邮件协议</a:t>
            </a:r>
          </a:p>
          <a:p>
            <a:pPr eaLnBrk="1" hangingPunct="1">
              <a:spcBef>
                <a:spcPct val="30000"/>
              </a:spcBef>
              <a:buClrTx/>
              <a:buSzTx/>
              <a:buFont typeface="Wingdings" panose="05000000000000000000" pitchFamily="2" charset="2"/>
              <a:buChar char="Ø"/>
            </a:pPr>
            <a:r>
              <a:rPr lang="zh-CN" altLang="zh-CN" b="1">
                <a:latin typeface="华文楷体" panose="02010600040101010101" pitchFamily="2" charset="-122"/>
                <a:ea typeface="华文楷体" panose="02010600040101010101" pitchFamily="2" charset="-122"/>
              </a:rPr>
              <a:t>不支持QoS</a:t>
            </a:r>
            <a:r>
              <a:rPr lang="en-US" altLang="zh-CN" b="1">
                <a:latin typeface="华文楷体" panose="02010600040101010101" pitchFamily="2" charset="-122"/>
                <a:ea typeface="华文楷体" panose="02010600040101010101" pitchFamily="2" charset="-122"/>
              </a:rPr>
              <a:t> </a:t>
            </a:r>
            <a:r>
              <a:rPr lang="zh-CN" altLang="en-US" b="1">
                <a:latin typeface="华文楷体" panose="02010600040101010101" pitchFamily="2" charset="-122"/>
                <a:ea typeface="华文楷体" panose="02010600040101010101" pitchFamily="2" charset="-122"/>
              </a:rPr>
              <a:t>：</a:t>
            </a:r>
            <a:r>
              <a:rPr lang="zh-CN" altLang="zh-CN" b="1">
                <a:latin typeface="华文楷体" panose="02010600040101010101" pitchFamily="2" charset="-122"/>
                <a:ea typeface="华文楷体" panose="02010600040101010101" pitchFamily="2" charset="-122"/>
              </a:rPr>
              <a:t>制订一组多</a:t>
            </a:r>
            <a:r>
              <a:rPr lang="zh-CN" altLang="en-US" b="1">
                <a:latin typeface="华文楷体" panose="02010600040101010101" pitchFamily="2" charset="-122"/>
                <a:ea typeface="华文楷体" panose="02010600040101010101" pitchFamily="2" charset="-122"/>
              </a:rPr>
              <a:t>媒体</a:t>
            </a:r>
            <a:r>
              <a:rPr lang="zh-CN" altLang="zh-CN" b="1">
                <a:latin typeface="华文楷体" panose="02010600040101010101" pitchFamily="2" charset="-122"/>
                <a:ea typeface="华文楷体" panose="02010600040101010101" pitchFamily="2" charset="-122"/>
              </a:rPr>
              <a:t>传送协议</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6563">
                                            <p:txEl>
                                              <p:pRg st="1" end="1"/>
                                            </p:txEl>
                                          </p:spTgt>
                                        </p:tgtEl>
                                        <p:attrNameLst>
                                          <p:attrName>style.visibility</p:attrName>
                                        </p:attrNameLst>
                                      </p:cBhvr>
                                      <p:to>
                                        <p:strVal val="visible"/>
                                      </p:to>
                                    </p:set>
                                    <p:anim calcmode="lin" valueType="num">
                                      <p:cBhvr additive="base">
                                        <p:cTn id="13" dur="500" fill="hold"/>
                                        <p:tgtEl>
                                          <p:spTgt spid="6656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65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6563">
                                            <p:txEl>
                                              <p:pRg st="2" end="2"/>
                                            </p:txEl>
                                          </p:spTgt>
                                        </p:tgtEl>
                                        <p:attrNameLst>
                                          <p:attrName>style.visibility</p:attrName>
                                        </p:attrNameLst>
                                      </p:cBhvr>
                                      <p:to>
                                        <p:strVal val="visible"/>
                                      </p:to>
                                    </p:set>
                                    <p:anim calcmode="lin" valueType="num">
                                      <p:cBhvr additive="base">
                                        <p:cTn id="19" dur="500" fill="hold"/>
                                        <p:tgtEl>
                                          <p:spTgt spid="6656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65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6563">
                                            <p:txEl>
                                              <p:pRg st="3" end="3"/>
                                            </p:txEl>
                                          </p:spTgt>
                                        </p:tgtEl>
                                        <p:attrNameLst>
                                          <p:attrName>style.visibility</p:attrName>
                                        </p:attrNameLst>
                                      </p:cBhvr>
                                      <p:to>
                                        <p:strVal val="visible"/>
                                      </p:to>
                                    </p:set>
                                    <p:anim calcmode="lin" valueType="num">
                                      <p:cBhvr additive="base">
                                        <p:cTn id="25" dur="500" fill="hold"/>
                                        <p:tgtEl>
                                          <p:spTgt spid="6656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65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773364" y="266700"/>
            <a:ext cx="6643687" cy="673100"/>
          </a:xfrm>
        </p:spPr>
        <p:txBody>
          <a:bodyPr>
            <a:normAutofit fontScale="90000"/>
          </a:bodyPr>
          <a:lstStyle/>
          <a:p>
            <a:pPr algn="ctr" eaLnBrk="1" hangingPunct="1"/>
            <a:r>
              <a:rPr lang="zh-CN" altLang="zh-CN" b="1"/>
              <a:t>完善之后的TCP/IP协议</a:t>
            </a:r>
          </a:p>
        </p:txBody>
      </p:sp>
      <p:sp>
        <p:nvSpPr>
          <p:cNvPr id="67587" name="Text Box 3"/>
          <p:cNvSpPr txBox="1">
            <a:spLocks noChangeArrowheads="1"/>
          </p:cNvSpPr>
          <p:nvPr/>
        </p:nvSpPr>
        <p:spPr bwMode="auto">
          <a:xfrm>
            <a:off x="2551113" y="1466850"/>
            <a:ext cx="7124700" cy="425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宋体" panose="02010600030101010101" pitchFamily="2" charset="-122"/>
              </a:rPr>
              <a:t>OSI/RM           TCP/IP模型             实际应用中的TCP/IP</a:t>
            </a:r>
          </a:p>
        </p:txBody>
      </p:sp>
      <p:grpSp>
        <p:nvGrpSpPr>
          <p:cNvPr id="67588" name="Group 4"/>
          <p:cNvGrpSpPr>
            <a:grpSpLocks/>
          </p:cNvGrpSpPr>
          <p:nvPr/>
        </p:nvGrpSpPr>
        <p:grpSpPr bwMode="auto">
          <a:xfrm>
            <a:off x="2551114" y="2174876"/>
            <a:ext cx="909637" cy="3833813"/>
            <a:chOff x="0" y="0"/>
            <a:chExt cx="1080" cy="4212"/>
          </a:xfrm>
        </p:grpSpPr>
        <p:sp>
          <p:nvSpPr>
            <p:cNvPr id="67614" name="Text Box 5"/>
            <p:cNvSpPr txBox="1">
              <a:spLocks noChangeArrowheads="1"/>
            </p:cNvSpPr>
            <p:nvPr/>
          </p:nvSpPr>
          <p:spPr bwMode="auto">
            <a:xfrm>
              <a:off x="0" y="0"/>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应用层</a:t>
              </a:r>
            </a:p>
          </p:txBody>
        </p:sp>
        <p:sp>
          <p:nvSpPr>
            <p:cNvPr id="67615" name="Text Box 6"/>
            <p:cNvSpPr txBox="1">
              <a:spLocks noChangeArrowheads="1"/>
            </p:cNvSpPr>
            <p:nvPr/>
          </p:nvSpPr>
          <p:spPr bwMode="auto">
            <a:xfrm>
              <a:off x="0" y="624"/>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表示层</a:t>
              </a:r>
            </a:p>
          </p:txBody>
        </p:sp>
        <p:sp>
          <p:nvSpPr>
            <p:cNvPr id="67616" name="Text Box 7"/>
            <p:cNvSpPr txBox="1">
              <a:spLocks noChangeArrowheads="1"/>
            </p:cNvSpPr>
            <p:nvPr/>
          </p:nvSpPr>
          <p:spPr bwMode="auto">
            <a:xfrm>
              <a:off x="0" y="1248"/>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会话层</a:t>
              </a:r>
            </a:p>
          </p:txBody>
        </p:sp>
        <p:sp>
          <p:nvSpPr>
            <p:cNvPr id="67617" name="Text Box 8"/>
            <p:cNvSpPr txBox="1">
              <a:spLocks noChangeArrowheads="1"/>
            </p:cNvSpPr>
            <p:nvPr/>
          </p:nvSpPr>
          <p:spPr bwMode="auto">
            <a:xfrm>
              <a:off x="0" y="1872"/>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传输层</a:t>
              </a:r>
            </a:p>
          </p:txBody>
        </p:sp>
        <p:sp>
          <p:nvSpPr>
            <p:cNvPr id="67618" name="Text Box 9"/>
            <p:cNvSpPr txBox="1">
              <a:spLocks noChangeArrowheads="1"/>
            </p:cNvSpPr>
            <p:nvPr/>
          </p:nvSpPr>
          <p:spPr bwMode="auto">
            <a:xfrm>
              <a:off x="0" y="2496"/>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网络层</a:t>
              </a:r>
            </a:p>
          </p:txBody>
        </p:sp>
        <p:sp>
          <p:nvSpPr>
            <p:cNvPr id="67619" name="Text Box 10"/>
            <p:cNvSpPr txBox="1">
              <a:spLocks noChangeArrowheads="1"/>
            </p:cNvSpPr>
            <p:nvPr/>
          </p:nvSpPr>
          <p:spPr bwMode="auto">
            <a:xfrm>
              <a:off x="0" y="3120"/>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链路层</a:t>
              </a:r>
            </a:p>
          </p:txBody>
        </p:sp>
        <p:sp>
          <p:nvSpPr>
            <p:cNvPr id="67620" name="Text Box 11"/>
            <p:cNvSpPr txBox="1">
              <a:spLocks noChangeArrowheads="1"/>
            </p:cNvSpPr>
            <p:nvPr/>
          </p:nvSpPr>
          <p:spPr bwMode="auto">
            <a:xfrm>
              <a:off x="0" y="3744"/>
              <a:ext cx="10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物理层</a:t>
              </a:r>
              <a:r>
                <a:rPr lang="zh-CN" altLang="zh-CN" sz="1000">
                  <a:latin typeface="Times New Roman" panose="02020603050405020304" pitchFamily="18" charset="0"/>
                </a:rPr>
                <a:t> </a:t>
              </a:r>
            </a:p>
          </p:txBody>
        </p:sp>
      </p:grpSp>
      <p:grpSp>
        <p:nvGrpSpPr>
          <p:cNvPr id="67589" name="Group 12"/>
          <p:cNvGrpSpPr>
            <a:grpSpLocks/>
          </p:cNvGrpSpPr>
          <p:nvPr/>
        </p:nvGrpSpPr>
        <p:grpSpPr bwMode="auto">
          <a:xfrm>
            <a:off x="6189664" y="2174876"/>
            <a:ext cx="4092575" cy="3833813"/>
            <a:chOff x="0" y="0"/>
            <a:chExt cx="4860" cy="4212"/>
          </a:xfrm>
        </p:grpSpPr>
        <p:sp>
          <p:nvSpPr>
            <p:cNvPr id="67607" name="Text Box 13"/>
            <p:cNvSpPr txBox="1">
              <a:spLocks noChangeArrowheads="1"/>
            </p:cNvSpPr>
            <p:nvPr/>
          </p:nvSpPr>
          <p:spPr bwMode="auto">
            <a:xfrm>
              <a:off x="0" y="0"/>
              <a:ext cx="486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400">
                  <a:latin typeface="Times New Roman" panose="02020603050405020304" pitchFamily="18" charset="0"/>
                </a:rPr>
                <a:t>应用层协议（FTP、HTTP、TELNET、LDAP等）</a:t>
              </a:r>
            </a:p>
          </p:txBody>
        </p:sp>
        <p:sp>
          <p:nvSpPr>
            <p:cNvPr id="67608" name="Text Box 14"/>
            <p:cNvSpPr txBox="1">
              <a:spLocks noChangeArrowheads="1"/>
            </p:cNvSpPr>
            <p:nvPr/>
          </p:nvSpPr>
          <p:spPr bwMode="auto">
            <a:xfrm>
              <a:off x="0" y="624"/>
              <a:ext cx="486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400">
                  <a:latin typeface="Times New Roman" panose="02020603050405020304" pitchFamily="18" charset="0"/>
                </a:rPr>
                <a:t>负责安全的SSL协议（数据加密、认证、压缩）</a:t>
              </a:r>
            </a:p>
          </p:txBody>
        </p:sp>
        <p:sp>
          <p:nvSpPr>
            <p:cNvPr id="67609" name="Text Box 15"/>
            <p:cNvSpPr txBox="1">
              <a:spLocks noChangeArrowheads="1"/>
            </p:cNvSpPr>
            <p:nvPr/>
          </p:nvSpPr>
          <p:spPr bwMode="auto">
            <a:xfrm>
              <a:off x="540" y="1248"/>
              <a:ext cx="414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600">
                  <a:latin typeface="Times New Roman" panose="02020603050405020304" pitchFamily="18" charset="0"/>
                </a:rPr>
                <a:t>SSL握手,socket</a:t>
              </a:r>
              <a:r>
                <a:rPr lang="zh-CN" altLang="zh-CN" sz="1400">
                  <a:latin typeface="Times New Roman" panose="02020603050405020304" pitchFamily="18" charset="0"/>
                </a:rPr>
                <a:t>（建立和维护SESSION）</a:t>
              </a:r>
            </a:p>
          </p:txBody>
        </p:sp>
        <p:sp>
          <p:nvSpPr>
            <p:cNvPr id="67610" name="Text Box 16"/>
            <p:cNvSpPr txBox="1">
              <a:spLocks noChangeArrowheads="1"/>
            </p:cNvSpPr>
            <p:nvPr/>
          </p:nvSpPr>
          <p:spPr bwMode="auto">
            <a:xfrm>
              <a:off x="1080" y="1872"/>
              <a:ext cx="270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400">
                  <a:latin typeface="Times New Roman" panose="02020603050405020304" pitchFamily="18" charset="0"/>
                </a:rPr>
                <a:t>传输层协议（TCP/UDP）</a:t>
              </a:r>
            </a:p>
          </p:txBody>
        </p:sp>
        <p:sp>
          <p:nvSpPr>
            <p:cNvPr id="67611" name="Text Box 17"/>
            <p:cNvSpPr txBox="1">
              <a:spLocks noChangeArrowheads="1"/>
            </p:cNvSpPr>
            <p:nvPr/>
          </p:nvSpPr>
          <p:spPr bwMode="auto">
            <a:xfrm>
              <a:off x="360" y="2496"/>
              <a:ext cx="432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300">
                  <a:latin typeface="Times New Roman" panose="02020603050405020304" pitchFamily="18" charset="0"/>
                </a:rPr>
                <a:t>网络层协议（IP、ICMP、ARP/RARP、IGMP）</a:t>
              </a:r>
            </a:p>
          </p:txBody>
        </p:sp>
        <p:sp>
          <p:nvSpPr>
            <p:cNvPr id="67612" name="Text Box 18"/>
            <p:cNvSpPr txBox="1">
              <a:spLocks noChangeArrowheads="1"/>
            </p:cNvSpPr>
            <p:nvPr/>
          </p:nvSpPr>
          <p:spPr bwMode="auto">
            <a:xfrm>
              <a:off x="1260" y="3120"/>
              <a:ext cx="19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600">
                  <a:latin typeface="Times New Roman" panose="02020603050405020304" pitchFamily="18" charset="0"/>
                </a:rPr>
                <a:t>Ethernet  Driver</a:t>
              </a:r>
            </a:p>
          </p:txBody>
        </p:sp>
        <p:sp>
          <p:nvSpPr>
            <p:cNvPr id="67613" name="Text Box 19"/>
            <p:cNvSpPr txBox="1">
              <a:spLocks noChangeArrowheads="1"/>
            </p:cNvSpPr>
            <p:nvPr/>
          </p:nvSpPr>
          <p:spPr bwMode="auto">
            <a:xfrm>
              <a:off x="1260" y="3744"/>
              <a:ext cx="198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Ethernet  Card</a:t>
              </a:r>
            </a:p>
          </p:txBody>
        </p:sp>
      </p:grpSp>
      <p:grpSp>
        <p:nvGrpSpPr>
          <p:cNvPr id="67590" name="Group 20"/>
          <p:cNvGrpSpPr>
            <a:grpSpLocks/>
          </p:cNvGrpSpPr>
          <p:nvPr/>
        </p:nvGrpSpPr>
        <p:grpSpPr bwMode="auto">
          <a:xfrm>
            <a:off x="2551113" y="2174876"/>
            <a:ext cx="4699000" cy="3833813"/>
            <a:chOff x="0" y="0"/>
            <a:chExt cx="5580" cy="4212"/>
          </a:xfrm>
        </p:grpSpPr>
        <p:sp>
          <p:nvSpPr>
            <p:cNvPr id="67599" name="Line 21"/>
            <p:cNvSpPr>
              <a:spLocks noChangeShapeType="1"/>
            </p:cNvSpPr>
            <p:nvPr/>
          </p:nvSpPr>
          <p:spPr bwMode="auto">
            <a:xfrm>
              <a:off x="0" y="468"/>
              <a:ext cx="432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0" name="Line 22"/>
            <p:cNvSpPr>
              <a:spLocks noChangeShapeType="1"/>
            </p:cNvSpPr>
            <p:nvPr/>
          </p:nvSpPr>
          <p:spPr bwMode="auto">
            <a:xfrm>
              <a:off x="1080" y="1248"/>
              <a:ext cx="378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1" name="Line 23"/>
            <p:cNvSpPr>
              <a:spLocks noChangeShapeType="1"/>
            </p:cNvSpPr>
            <p:nvPr/>
          </p:nvSpPr>
          <p:spPr bwMode="auto">
            <a:xfrm>
              <a:off x="1080" y="1872"/>
              <a:ext cx="432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2" name="Line 24"/>
            <p:cNvSpPr>
              <a:spLocks noChangeShapeType="1"/>
            </p:cNvSpPr>
            <p:nvPr/>
          </p:nvSpPr>
          <p:spPr bwMode="auto">
            <a:xfrm>
              <a:off x="1080" y="2496"/>
              <a:ext cx="378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3" name="Line 25"/>
            <p:cNvSpPr>
              <a:spLocks noChangeShapeType="1"/>
            </p:cNvSpPr>
            <p:nvPr/>
          </p:nvSpPr>
          <p:spPr bwMode="auto">
            <a:xfrm>
              <a:off x="1080" y="3120"/>
              <a:ext cx="4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4" name="Line 26"/>
            <p:cNvSpPr>
              <a:spLocks noChangeShapeType="1"/>
            </p:cNvSpPr>
            <p:nvPr/>
          </p:nvSpPr>
          <p:spPr bwMode="auto">
            <a:xfrm>
              <a:off x="1080" y="3744"/>
              <a:ext cx="4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5" name="Line 27"/>
            <p:cNvSpPr>
              <a:spLocks noChangeShapeType="1"/>
            </p:cNvSpPr>
            <p:nvPr/>
          </p:nvSpPr>
          <p:spPr bwMode="auto">
            <a:xfrm>
              <a:off x="1080" y="0"/>
              <a:ext cx="324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6" name="Line 28"/>
            <p:cNvSpPr>
              <a:spLocks noChangeShapeType="1"/>
            </p:cNvSpPr>
            <p:nvPr/>
          </p:nvSpPr>
          <p:spPr bwMode="auto">
            <a:xfrm>
              <a:off x="1080" y="4212"/>
              <a:ext cx="4500"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7591" name="Group 29"/>
          <p:cNvGrpSpPr>
            <a:grpSpLocks/>
          </p:cNvGrpSpPr>
          <p:nvPr/>
        </p:nvGrpSpPr>
        <p:grpSpPr bwMode="auto">
          <a:xfrm>
            <a:off x="4673601" y="2174876"/>
            <a:ext cx="1363663" cy="3833813"/>
            <a:chOff x="0" y="0"/>
            <a:chExt cx="1620" cy="4212"/>
          </a:xfrm>
        </p:grpSpPr>
        <p:sp>
          <p:nvSpPr>
            <p:cNvPr id="67595" name="Text Box 30"/>
            <p:cNvSpPr txBox="1">
              <a:spLocks noChangeArrowheads="1"/>
            </p:cNvSpPr>
            <p:nvPr/>
          </p:nvSpPr>
          <p:spPr bwMode="auto">
            <a:xfrm>
              <a:off x="0" y="0"/>
              <a:ext cx="1440" cy="1716"/>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endParaRPr lang="zh-CN" altLang="zh-CN" sz="1000">
                <a:latin typeface="Times New Roman" panose="02020603050405020304" pitchFamily="18" charset="0"/>
              </a:endParaRPr>
            </a:p>
            <a:p>
              <a:pPr algn="just">
                <a:buFont typeface="Wingdings" panose="05000000000000000000" pitchFamily="2" charset="2"/>
                <a:buNone/>
              </a:pPr>
              <a:endParaRPr lang="zh-CN" altLang="zh-CN" sz="1000">
                <a:latin typeface="Times New Roman" panose="02020603050405020304" pitchFamily="18" charset="0"/>
              </a:endParaRPr>
            </a:p>
            <a:p>
              <a:pPr algn="just">
                <a:buFont typeface="Wingdings" panose="05000000000000000000" pitchFamily="2" charset="2"/>
                <a:buNone/>
              </a:pPr>
              <a:r>
                <a:rPr lang="zh-CN" altLang="zh-CN" sz="2000">
                  <a:latin typeface="Times New Roman" panose="02020603050405020304" pitchFamily="18" charset="0"/>
                </a:rPr>
                <a:t>应用层</a:t>
              </a:r>
            </a:p>
          </p:txBody>
        </p:sp>
        <p:sp>
          <p:nvSpPr>
            <p:cNvPr id="67596" name="Text Box 31"/>
            <p:cNvSpPr txBox="1">
              <a:spLocks noChangeArrowheads="1"/>
            </p:cNvSpPr>
            <p:nvPr/>
          </p:nvSpPr>
          <p:spPr bwMode="auto">
            <a:xfrm>
              <a:off x="0" y="1872"/>
              <a:ext cx="144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400">
                  <a:latin typeface="Times New Roman" panose="02020603050405020304" pitchFamily="18" charset="0"/>
                </a:rPr>
                <a:t>主机-主机层</a:t>
              </a:r>
            </a:p>
          </p:txBody>
        </p:sp>
        <p:sp>
          <p:nvSpPr>
            <p:cNvPr id="67597" name="Text Box 32"/>
            <p:cNvSpPr txBox="1">
              <a:spLocks noChangeArrowheads="1"/>
            </p:cNvSpPr>
            <p:nvPr/>
          </p:nvSpPr>
          <p:spPr bwMode="auto">
            <a:xfrm>
              <a:off x="0" y="2496"/>
              <a:ext cx="1440" cy="468"/>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网间网层</a:t>
              </a:r>
            </a:p>
          </p:txBody>
        </p:sp>
        <p:sp>
          <p:nvSpPr>
            <p:cNvPr id="67598" name="Text Box 33"/>
            <p:cNvSpPr txBox="1">
              <a:spLocks noChangeArrowheads="1"/>
            </p:cNvSpPr>
            <p:nvPr/>
          </p:nvSpPr>
          <p:spPr bwMode="auto">
            <a:xfrm>
              <a:off x="0" y="3276"/>
              <a:ext cx="1620" cy="936"/>
            </a:xfrm>
            <a:prstGeom prst="rect">
              <a:avLst/>
            </a:prstGeom>
            <a:solidFill>
              <a:srgbClr val="FFFFFF"/>
            </a:solidFill>
            <a:ln w="9525">
              <a:solidFill>
                <a:srgbClr val="000000"/>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800">
                  <a:latin typeface="Times New Roman" panose="02020603050405020304" pitchFamily="18" charset="0"/>
                </a:rPr>
                <a:t>网络接口层 </a:t>
              </a:r>
            </a:p>
          </p:txBody>
        </p:sp>
      </p:grpSp>
      <p:sp>
        <p:nvSpPr>
          <p:cNvPr id="67592" name="Text Box 34"/>
          <p:cNvSpPr txBox="1">
            <a:spLocks noChangeArrowheads="1"/>
          </p:cNvSpPr>
          <p:nvPr/>
        </p:nvSpPr>
        <p:spPr bwMode="auto">
          <a:xfrm>
            <a:off x="4043363" y="6308725"/>
            <a:ext cx="5002212" cy="425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just">
              <a:buFont typeface="Wingdings" panose="05000000000000000000" pitchFamily="2" charset="2"/>
              <a:buNone/>
            </a:pPr>
            <a:r>
              <a:rPr lang="zh-CN" altLang="zh-CN" sz="1400">
                <a:latin typeface="Times New Roman" panose="02020603050405020304" pitchFamily="18" charset="0"/>
              </a:rPr>
              <a:t>图  OSI/RM、TCP/IP模型与实际中应用的TCP/IP之间的关系</a:t>
            </a:r>
            <a:endParaRPr lang="zh-CN" altLang="zh-CN" sz="1400">
              <a:latin typeface="宋体" panose="02010600030101010101" pitchFamily="2" charset="-122"/>
            </a:endParaRPr>
          </a:p>
        </p:txBody>
      </p:sp>
      <p:sp>
        <p:nvSpPr>
          <p:cNvPr id="67593" name="Text Box 35"/>
          <p:cNvSpPr txBox="1">
            <a:spLocks noChangeArrowheads="1"/>
          </p:cNvSpPr>
          <p:nvPr/>
        </p:nvSpPr>
        <p:spPr bwMode="auto">
          <a:xfrm>
            <a:off x="9043988" y="5062538"/>
            <a:ext cx="1238250" cy="863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zh-CN" altLang="zh-CN" sz="2000">
                <a:latin typeface="Times New Roman" panose="02020603050405020304" pitchFamily="18" charset="0"/>
              </a:rPr>
              <a:t>PPP</a:t>
            </a:r>
          </a:p>
          <a:p>
            <a:pPr algn="ctr">
              <a:spcBef>
                <a:spcPct val="50000"/>
              </a:spcBef>
              <a:buFont typeface="Wingdings" panose="05000000000000000000" pitchFamily="2" charset="2"/>
              <a:buNone/>
            </a:pPr>
            <a:r>
              <a:rPr lang="zh-CN" altLang="zh-CN" sz="2000">
                <a:latin typeface="Times New Roman" panose="02020603050405020304" pitchFamily="18" charset="0"/>
              </a:rPr>
              <a:t>MODEM</a:t>
            </a:r>
          </a:p>
        </p:txBody>
      </p:sp>
      <p:sp>
        <p:nvSpPr>
          <p:cNvPr id="2" name="AutoShape 36"/>
          <p:cNvSpPr>
            <a:spLocks noChangeArrowheads="1"/>
          </p:cNvSpPr>
          <p:nvPr/>
        </p:nvSpPr>
        <p:spPr bwMode="auto">
          <a:xfrm>
            <a:off x="6557963" y="0"/>
            <a:ext cx="3048000" cy="1422400"/>
          </a:xfrm>
          <a:prstGeom prst="wedgeRoundRectCallout">
            <a:avLst>
              <a:gd name="adj1" fmla="val -43750"/>
              <a:gd name="adj2" fmla="val 70000"/>
              <a:gd name="adj3" fmla="val 16667"/>
            </a:avLst>
          </a:prstGeom>
          <a:solidFill>
            <a:schemeClr val="accent1"/>
          </a:solidFill>
          <a:ln w="9525">
            <a:solidFill>
              <a:schemeClr val="tx1"/>
            </a:solidFill>
            <a:miter lim="800000"/>
            <a:headEnd/>
            <a:tailEnd/>
          </a:ln>
        </p:spPr>
        <p:txBody>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zh-CN">
                <a:solidFill>
                  <a:srgbClr val="FF0000"/>
                </a:solidFill>
                <a:latin typeface="Times New Roman" panose="02020603050405020304" pitchFamily="18" charset="0"/>
                <a:ea typeface="华文行楷" panose="02010800040101010101" pitchFamily="2" charset="-122"/>
              </a:rPr>
              <a:t>结论:完善后的Internet体系结构与OSI/RM相似</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3014664" y="196851"/>
            <a:ext cx="6161087" cy="542925"/>
          </a:xfrm>
        </p:spPr>
        <p:txBody>
          <a:bodyPr>
            <a:normAutofit fontScale="90000"/>
          </a:bodyPr>
          <a:lstStyle/>
          <a:p>
            <a:pPr algn="ctr" eaLnBrk="1" hangingPunct="1"/>
            <a:r>
              <a:rPr lang="zh-CN" altLang="zh-CN" b="1"/>
              <a:t>   Summary</a:t>
            </a:r>
          </a:p>
        </p:txBody>
      </p:sp>
      <p:graphicFrame>
        <p:nvGraphicFramePr>
          <p:cNvPr id="68611" name="Object 3">
            <a:hlinkClick r:id="" action="ppaction://ole?verb=1"/>
          </p:cNvPr>
          <p:cNvGraphicFramePr>
            <a:graphicFrameLocks noGrp="1"/>
          </p:cNvGraphicFramePr>
          <p:nvPr>
            <p:ph idx="1"/>
          </p:nvPr>
        </p:nvGraphicFramePr>
        <p:xfrm>
          <a:off x="5130800" y="1444625"/>
          <a:ext cx="1827213" cy="1600200"/>
        </p:xfrm>
        <a:graphic>
          <a:graphicData uri="http://schemas.openxmlformats.org/presentationml/2006/ole">
            <mc:AlternateContent xmlns:mc="http://schemas.openxmlformats.org/markup-compatibility/2006">
              <mc:Choice xmlns:v="urn:schemas-microsoft-com:vml" Requires="v">
                <p:oleObj spid="_x0000_s68913" r:id="rId3" imgW="4054475" imgH="3549650" progId="MS_ClipArt_Gallery.2">
                  <p:embed/>
                </p:oleObj>
              </mc:Choice>
              <mc:Fallback>
                <p:oleObj r:id="rId3" imgW="4054475" imgH="3549650" progId="MS_ClipArt_Gallery.2">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0800" y="1444625"/>
                        <a:ext cx="18272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2" name="Text Box 4"/>
          <p:cNvSpPr txBox="1">
            <a:spLocks noChangeArrowheads="1"/>
          </p:cNvSpPr>
          <p:nvPr/>
        </p:nvSpPr>
        <p:spPr bwMode="auto">
          <a:xfrm>
            <a:off x="2166938" y="3386138"/>
            <a:ext cx="85010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ahom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endParaRPr lang="zh-CN" altLang="zh-CN">
              <a:latin typeface="Times New Roman" panose="02020603050405020304" pitchFamily="18" charset="0"/>
            </a:endParaRPr>
          </a:p>
        </p:txBody>
      </p:sp>
      <p:graphicFrame>
        <p:nvGraphicFramePr>
          <p:cNvPr id="68613" name="Object 5">
            <a:hlinkClick r:id="" action="ppaction://ole?verb=1"/>
          </p:cNvPr>
          <p:cNvGraphicFramePr>
            <a:graphicFrameLocks/>
          </p:cNvGraphicFramePr>
          <p:nvPr/>
        </p:nvGraphicFramePr>
        <p:xfrm>
          <a:off x="4289425" y="1616075"/>
          <a:ext cx="2895600" cy="1600200"/>
        </p:xfrm>
        <a:graphic>
          <a:graphicData uri="http://schemas.openxmlformats.org/presentationml/2006/ole">
            <mc:AlternateContent xmlns:mc="http://schemas.openxmlformats.org/markup-compatibility/2006">
              <mc:Choice xmlns:v="urn:schemas-microsoft-com:vml" Requires="v">
                <p:oleObj spid="_x0000_s68914" r:id="rId5" imgW="4054475" imgH="3549650" progId="MS_ClipArt_Gallery.2">
                  <p:embed/>
                </p:oleObj>
              </mc:Choice>
              <mc:Fallback>
                <p:oleObj r:id="rId5" imgW="4054475" imgH="3549650" progId="MS_ClipArt_Gallery.2">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9425" y="1616075"/>
                        <a:ext cx="2895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4" name="Text Box 6"/>
          <p:cNvSpPr txBox="1">
            <a:spLocks noChangeArrowheads="1"/>
          </p:cNvSpPr>
          <p:nvPr/>
        </p:nvSpPr>
        <p:spPr bwMode="auto">
          <a:xfrm>
            <a:off x="3228976" y="3497263"/>
            <a:ext cx="580866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0"/>
              </a:spcBef>
              <a:buClr>
                <a:srgbClr val="CC0000"/>
              </a:buClr>
              <a:buSzPct val="50000"/>
              <a:buFont typeface="Wingdings" panose="05000000000000000000" pitchFamily="2" charset="2"/>
              <a:buChar char="u"/>
            </a:pPr>
            <a:r>
              <a:rPr lang="zh-CN" altLang="en-US" b="1">
                <a:latin typeface="华文楷体" panose="02010600040101010101" pitchFamily="2" charset="-122"/>
                <a:ea typeface="华文楷体" panose="02010600040101010101" pitchFamily="2" charset="-122"/>
              </a:rPr>
              <a:t>分层</a:t>
            </a:r>
            <a:endParaRPr lang="en-US" altLang="zh-CN" b="1">
              <a:latin typeface="华文楷体" panose="02010600040101010101" pitchFamily="2" charset="-122"/>
              <a:ea typeface="华文楷体" panose="02010600040101010101" pitchFamily="2" charset="-122"/>
            </a:endParaRPr>
          </a:p>
          <a:p>
            <a:pPr>
              <a:spcBef>
                <a:spcPct val="50000"/>
              </a:spcBef>
              <a:buClr>
                <a:srgbClr val="CC0000"/>
              </a:buClr>
              <a:buSzPct val="50000"/>
              <a:buFont typeface="Wingdings" panose="05000000000000000000" pitchFamily="2" charset="2"/>
              <a:buChar char="u"/>
            </a:pPr>
            <a:r>
              <a:rPr lang="zh-CN" altLang="zh-CN" b="1">
                <a:latin typeface="华文楷体" panose="02010600040101010101" pitchFamily="2" charset="-122"/>
                <a:ea typeface="华文楷体" panose="02010600040101010101" pitchFamily="2" charset="-122"/>
              </a:rPr>
              <a:t>OSI/RM</a:t>
            </a:r>
          </a:p>
          <a:p>
            <a:pPr>
              <a:spcBef>
                <a:spcPct val="50000"/>
              </a:spcBef>
              <a:buClr>
                <a:srgbClr val="CC0000"/>
              </a:buClr>
              <a:buSzPct val="50000"/>
              <a:buFont typeface="Wingdings" panose="05000000000000000000" pitchFamily="2" charset="2"/>
              <a:buChar char="u"/>
            </a:pPr>
            <a:r>
              <a:rPr lang="zh-CN" altLang="zh-CN" b="1">
                <a:latin typeface="华文楷体" panose="02010600040101010101" pitchFamily="2" charset="-122"/>
                <a:ea typeface="华文楷体" panose="02010600040101010101" pitchFamily="2" charset="-122"/>
              </a:rPr>
              <a:t>TCP/IP</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614">
                                            <p:txEl>
                                              <p:pRg st="0" end="0"/>
                                            </p:txEl>
                                          </p:spTgt>
                                        </p:tgtEl>
                                        <p:attrNameLst>
                                          <p:attrName>style.visibility</p:attrName>
                                        </p:attrNameLst>
                                      </p:cBhvr>
                                      <p:to>
                                        <p:strVal val="visible"/>
                                      </p:to>
                                    </p:set>
                                    <p:anim calcmode="lin" valueType="num">
                                      <p:cBhvr additive="base">
                                        <p:cTn id="7" dur="500" fill="hold"/>
                                        <p:tgtEl>
                                          <p:spTgt spid="686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6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614">
                                            <p:txEl>
                                              <p:pRg st="1" end="1"/>
                                            </p:txEl>
                                          </p:spTgt>
                                        </p:tgtEl>
                                        <p:attrNameLst>
                                          <p:attrName>style.visibility</p:attrName>
                                        </p:attrNameLst>
                                      </p:cBhvr>
                                      <p:to>
                                        <p:strVal val="visible"/>
                                      </p:to>
                                    </p:set>
                                    <p:anim calcmode="lin" valueType="num">
                                      <p:cBhvr additive="base">
                                        <p:cTn id="13" dur="500" fill="hold"/>
                                        <p:tgtEl>
                                          <p:spTgt spid="6861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86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8614">
                                            <p:txEl>
                                              <p:pRg st="2" end="2"/>
                                            </p:txEl>
                                          </p:spTgt>
                                        </p:tgtEl>
                                        <p:attrNameLst>
                                          <p:attrName>style.visibility</p:attrName>
                                        </p:attrNameLst>
                                      </p:cBhvr>
                                      <p:to>
                                        <p:strVal val="visible"/>
                                      </p:to>
                                    </p:set>
                                    <p:anim calcmode="lin" valueType="num">
                                      <p:cBhvr additive="base">
                                        <p:cTn id="19" dur="500" fill="hold"/>
                                        <p:tgtEl>
                                          <p:spTgt spid="6861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861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build="p"/>
    </p:bldLst>
  </p:timing>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501</TotalTime>
  <Pages>0</Pages>
  <Words>3738</Words>
  <Characters>0</Characters>
  <Application>Microsoft Office PowerPoint</Application>
  <PresentationFormat>宽屏</PresentationFormat>
  <Lines>0</Lines>
  <Paragraphs>680</Paragraphs>
  <Slides>60</Slides>
  <Notes>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82" baseType="lpstr">
      <vt:lpstr>Garamond Narrow</vt:lpstr>
      <vt:lpstr>Monotype Sorts</vt:lpstr>
      <vt:lpstr>等线</vt:lpstr>
      <vt:lpstr>等线 Light</vt:lpstr>
      <vt:lpstr>仿宋_GB2312</vt:lpstr>
      <vt:lpstr>华文楷体</vt:lpstr>
      <vt:lpstr>华文新魏</vt:lpstr>
      <vt:lpstr>华文行楷</vt:lpstr>
      <vt:lpstr>隶书</vt:lpstr>
      <vt:lpstr>宋体</vt:lpstr>
      <vt:lpstr>Arial</vt:lpstr>
      <vt:lpstr>Calibri</vt:lpstr>
      <vt:lpstr>Calibri Light</vt:lpstr>
      <vt:lpstr>Comic Sans MS</vt:lpstr>
      <vt:lpstr>Tahoma</vt:lpstr>
      <vt:lpstr>Times New Roman</vt:lpstr>
      <vt:lpstr>Verdana</vt:lpstr>
      <vt:lpstr>Wingdings</vt:lpstr>
      <vt:lpstr>Blends</vt:lpstr>
      <vt:lpstr>Bitmap Image</vt:lpstr>
      <vt:lpstr>MS_ClipArt_Gallery.2</vt:lpstr>
      <vt:lpstr>Microsoft Word Picture</vt:lpstr>
      <vt:lpstr>PowerPoint 演示文稿</vt:lpstr>
      <vt:lpstr>PowerPoint 演示文稿</vt:lpstr>
      <vt:lpstr>计算机网络的复杂性</vt:lpstr>
      <vt:lpstr>2.1 网络层次结构</vt:lpstr>
      <vt:lpstr>如何分层</vt:lpstr>
      <vt:lpstr>协议</vt:lpstr>
      <vt:lpstr>协议实例</vt:lpstr>
      <vt:lpstr>协议三要素</vt:lpstr>
      <vt:lpstr>协议的必要性</vt:lpstr>
      <vt:lpstr>协议集</vt:lpstr>
      <vt:lpstr>协议层次结构</vt:lpstr>
      <vt:lpstr>对等层逻辑通信</vt:lpstr>
      <vt:lpstr>物理通信</vt:lpstr>
      <vt:lpstr>网络体系结构的定义</vt:lpstr>
      <vt:lpstr>2.2 从实际考察网络的分层</vt:lpstr>
      <vt:lpstr>PowerPoint 演示文稿</vt:lpstr>
      <vt:lpstr>机械特性</vt:lpstr>
      <vt:lpstr>功能特性</vt:lpstr>
      <vt:lpstr>电气特性</vt:lpstr>
      <vt:lpstr>规程特性</vt:lpstr>
      <vt:lpstr>物理层的功能</vt:lpstr>
      <vt:lpstr>物理层原理小结</vt:lpstr>
      <vt:lpstr>物理层没有解决的问题</vt:lpstr>
      <vt:lpstr>数据链路层的主要功能</vt:lpstr>
      <vt:lpstr>信号含义的定义</vt:lpstr>
      <vt:lpstr>以太网帧格式</vt:lpstr>
      <vt:lpstr>流量控制</vt:lpstr>
      <vt:lpstr>链路层没有解决的问题</vt:lpstr>
      <vt:lpstr>网络层解决的问题</vt:lpstr>
      <vt:lpstr>传输层</vt:lpstr>
      <vt:lpstr>传输层解决的主要问题</vt:lpstr>
      <vt:lpstr>会话层</vt:lpstr>
      <vt:lpstr>表示层</vt:lpstr>
      <vt:lpstr>通用性应用问题</vt:lpstr>
      <vt:lpstr>应用层</vt:lpstr>
      <vt:lpstr>2.3 开放系统互连参考模型</vt:lpstr>
      <vt:lpstr>PowerPoint 演示文稿</vt:lpstr>
      <vt:lpstr>2.4 OSI/RM要点</vt:lpstr>
      <vt:lpstr>服务</vt:lpstr>
      <vt:lpstr>OSI服务原语</vt:lpstr>
      <vt:lpstr>服务原语时序图</vt:lpstr>
      <vt:lpstr>服务与协议的关系</vt:lpstr>
      <vt:lpstr>数据封装</vt:lpstr>
      <vt:lpstr>数据封装（洋葱皮结构）</vt:lpstr>
      <vt:lpstr>Application Layer  (独立的应用程序，如电子邮件、文件传输等)</vt:lpstr>
      <vt:lpstr>OSI/RM总结</vt:lpstr>
      <vt:lpstr>2.5 Internet体系结构</vt:lpstr>
      <vt:lpstr>  TCP/IP 四层结构</vt:lpstr>
      <vt:lpstr>三类网络地址</vt:lpstr>
      <vt:lpstr>TCP/IP数据封装</vt:lpstr>
      <vt:lpstr>数据封装</vt:lpstr>
      <vt:lpstr>逻辑通信</vt:lpstr>
      <vt:lpstr>逻辑通信</vt:lpstr>
      <vt:lpstr>物理通信</vt:lpstr>
      <vt:lpstr>OSI与TCP/IP的比较</vt:lpstr>
      <vt:lpstr>OSI模型的优缺点</vt:lpstr>
      <vt:lpstr>TCP/IP的优缺点</vt:lpstr>
      <vt:lpstr>TCP/IP的补丁</vt:lpstr>
      <vt:lpstr>完善之后的TCP/IP协议</vt:lpstr>
      <vt:lpstr>   Summary</vt:lpstr>
    </vt:vector>
  </TitlesOfParts>
  <Manager/>
  <Company>西南交通大学</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谭献海</dc:creator>
  <cp:keywords/>
  <dc:description/>
  <cp:lastModifiedBy>陈剑波</cp:lastModifiedBy>
  <cp:revision>1151</cp:revision>
  <dcterms:created xsi:type="dcterms:W3CDTF">2000-11-07T02:44:39Z</dcterms:created>
  <dcterms:modified xsi:type="dcterms:W3CDTF">2021-10-11T01:47:01Z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2052-10.8.0.5562</vt:lpwstr>
  </property>
</Properties>
</file>