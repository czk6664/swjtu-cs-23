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5"/>
  </p:notesMasterIdLst>
  <p:handoutMasterIdLst>
    <p:handoutMasterId r:id="rId36"/>
  </p:handoutMasterIdLst>
  <p:sldIdLst>
    <p:sldId id="353" r:id="rId2"/>
    <p:sldId id="360" r:id="rId3"/>
    <p:sldId id="423" r:id="rId4"/>
    <p:sldId id="422" r:id="rId5"/>
    <p:sldId id="364" r:id="rId6"/>
    <p:sldId id="430" r:id="rId7"/>
    <p:sldId id="409" r:id="rId8"/>
    <p:sldId id="411" r:id="rId9"/>
    <p:sldId id="412" r:id="rId10"/>
    <p:sldId id="413" r:id="rId11"/>
    <p:sldId id="414" r:id="rId12"/>
    <p:sldId id="415" r:id="rId13"/>
    <p:sldId id="419" r:id="rId14"/>
    <p:sldId id="416" r:id="rId15"/>
    <p:sldId id="417" r:id="rId16"/>
    <p:sldId id="410" r:id="rId17"/>
    <p:sldId id="408" r:id="rId18"/>
    <p:sldId id="426" r:id="rId19"/>
    <p:sldId id="427" r:id="rId20"/>
    <p:sldId id="420" r:id="rId21"/>
    <p:sldId id="396" r:id="rId22"/>
    <p:sldId id="399" r:id="rId23"/>
    <p:sldId id="431" r:id="rId24"/>
    <p:sldId id="400" r:id="rId25"/>
    <p:sldId id="401" r:id="rId26"/>
    <p:sldId id="418" r:id="rId27"/>
    <p:sldId id="406" r:id="rId28"/>
    <p:sldId id="404" r:id="rId29"/>
    <p:sldId id="407" r:id="rId30"/>
    <p:sldId id="402" r:id="rId31"/>
    <p:sldId id="424" r:id="rId32"/>
    <p:sldId id="421" r:id="rId33"/>
    <p:sldId id="429" r:id="rId34"/>
  </p:sldIdLst>
  <p:sldSz cx="9144000" cy="6858000" type="screen4x3"/>
  <p:notesSz cx="7099300" cy="102346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99"/>
    <a:srgbClr val="6600FF"/>
    <a:srgbClr val="666699"/>
    <a:srgbClr val="6600CC"/>
    <a:srgbClr val="9966FF"/>
    <a:srgbClr val="3333CC"/>
    <a:srgbClr val="6666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48" autoAdjust="0"/>
    <p:restoredTop sz="94340" autoAdjust="0"/>
  </p:normalViewPr>
  <p:slideViewPr>
    <p:cSldViewPr>
      <p:cViewPr varScale="1">
        <p:scale>
          <a:sx n="153" d="100"/>
          <a:sy n="153" d="100"/>
        </p:scale>
        <p:origin x="1940" y="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-2520" y="-78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pPr>
              <a:defRPr/>
            </a:pPr>
            <a:fld id="{6061AB62-0724-4A7D-AEF7-26166F90C86B}" type="datetimeFigureOut">
              <a:rPr lang="zh-CN" altLang="en-US"/>
              <a:pPr>
                <a:defRPr/>
              </a:pPr>
              <a:t>2025/10/28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pPr>
              <a:defRPr/>
            </a:pPr>
            <a:fld id="{A337C597-94C0-47F3-8947-0333BD1368A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kumimoji="1"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kumimoji="1"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8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7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57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kumimoji="1"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7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kumimoji="1" sz="1300">
                <a:latin typeface="Times New Roman" pitchFamily="18" charset="0"/>
              </a:defRPr>
            </a:lvl1pPr>
          </a:lstStyle>
          <a:p>
            <a:pPr>
              <a:defRPr/>
            </a:pPr>
            <a:fld id="{FA530CA6-6881-4162-A285-B41AF3A848F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16E331-C17C-4F93-A426-C12E145F6178}" type="slidenum">
              <a:rPr lang="en-US" altLang="zh-CN" smtClean="0"/>
              <a:pPr/>
              <a:t>1</a:t>
            </a:fld>
            <a:endParaRPr lang="en-US" altLang="zh-CN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zh-CN" altLang="en-US"/>
              <a:t>教学安排：</a:t>
            </a:r>
            <a:endParaRPr lang="en-US" altLang="zh-CN"/>
          </a:p>
          <a:p>
            <a:pPr eaLnBrk="1" hangingPunct="1"/>
            <a:r>
              <a:rPr lang="zh-CN" altLang="en-US"/>
              <a:t>共</a:t>
            </a:r>
            <a:r>
              <a:rPr lang="en-US" altLang="zh-CN"/>
              <a:t>4</a:t>
            </a:r>
            <a:r>
              <a:rPr lang="zh-CN" altLang="en-US"/>
              <a:t>学时；</a:t>
            </a:r>
            <a:endParaRPr lang="en-US" altLang="zh-CN"/>
          </a:p>
          <a:p>
            <a:pPr eaLnBrk="1" hangingPunct="1"/>
            <a:r>
              <a:rPr lang="en-US" altLang="zh-CN"/>
              <a:t>0.5</a:t>
            </a:r>
            <a:r>
              <a:rPr lang="zh-CN" altLang="en-US"/>
              <a:t>学时讲解实验原理；</a:t>
            </a:r>
            <a:endParaRPr lang="en-US" altLang="zh-CN"/>
          </a:p>
          <a:p>
            <a:pPr eaLnBrk="1" hangingPunct="1"/>
            <a:r>
              <a:rPr lang="en-US" altLang="zh-CN"/>
              <a:t>3.5</a:t>
            </a:r>
            <a:r>
              <a:rPr lang="zh-CN" altLang="en-US"/>
              <a:t>学时上机操作并完成实验报告。</a:t>
            </a:r>
            <a:endParaRPr lang="en-US" altLang="zh-CN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EE4F772-A83A-4A4D-A5FF-B521517BB32E}" type="slidenum">
              <a:rPr lang="en-US" altLang="zh-CN" smtClean="0"/>
              <a:pPr/>
              <a:t>2</a:t>
            </a:fld>
            <a:endParaRPr lang="en-US" altLang="zh-CN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 sz="14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21DDB14-1E38-4B15-9212-0360A629D736}" type="slidenum">
              <a:rPr lang="en-US" altLang="zh-CN" smtClean="0"/>
              <a:pPr/>
              <a:t>3</a:t>
            </a:fld>
            <a:endParaRPr lang="en-US" altLang="zh-CN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zh-CN" altLang="en-US">
                <a:latin typeface="黑体" pitchFamily="2" charset="-122"/>
                <a:ea typeface="黑体" pitchFamily="2" charset="-122"/>
                <a:cs typeface="Times New Roman" pitchFamily="18" charset="0"/>
              </a:rPr>
              <a:t>熟悉</a:t>
            </a:r>
            <a:r>
              <a:rPr lang="en-US" altLang="zh-CN">
                <a:latin typeface="黑体" pitchFamily="2" charset="-122"/>
                <a:ea typeface="黑体" pitchFamily="2" charset="-122"/>
                <a:cs typeface="Times New Roman" pitchFamily="18" charset="0"/>
              </a:rPr>
              <a:t>TCP/IP</a:t>
            </a:r>
            <a:r>
              <a:rPr lang="zh-CN" altLang="en-US">
                <a:latin typeface="黑体" pitchFamily="2" charset="-122"/>
                <a:ea typeface="黑体" pitchFamily="2" charset="-122"/>
                <a:cs typeface="Times New Roman" pitchFamily="18" charset="0"/>
              </a:rPr>
              <a:t>协议的配置</a:t>
            </a:r>
          </a:p>
          <a:p>
            <a:pPr eaLnBrk="1" hangingPunct="1"/>
            <a:r>
              <a:rPr lang="zh-CN" altLang="en-US">
                <a:latin typeface="黑体" pitchFamily="2" charset="-122"/>
                <a:ea typeface="黑体" pitchFamily="2" charset="-122"/>
                <a:cs typeface="Times New Roman" pitchFamily="18" charset="0"/>
              </a:rPr>
              <a:t>熟悉常用网络命令的功能，了解如何利用网络命令检查和排除网络故障</a:t>
            </a:r>
          </a:p>
          <a:p>
            <a:pPr eaLnBrk="1" hangingPunct="1"/>
            <a:r>
              <a:rPr lang="zh-CN" altLang="en-US">
                <a:latin typeface="黑体" pitchFamily="2" charset="-122"/>
                <a:ea typeface="黑体" pitchFamily="2" charset="-122"/>
                <a:cs typeface="Times New Roman" pitchFamily="18" charset="0"/>
              </a:rPr>
              <a:t>掌握常用网络命令的用法</a:t>
            </a:r>
          </a:p>
          <a:p>
            <a:pPr eaLnBrk="1" hangingPunct="1"/>
            <a:r>
              <a:rPr lang="zh-CN" altLang="en-US">
                <a:ea typeface="黑体" pitchFamily="2" charset="-122"/>
                <a:cs typeface="Times New Roman" pitchFamily="18" charset="0"/>
              </a:rPr>
              <a:t>预习时实验目的自己总结，实验内容看后面的实验步骤。</a:t>
            </a:r>
            <a:endParaRPr lang="en-US" altLang="zh-CN">
              <a:ea typeface="黑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A00C48B-5F2F-4771-B727-9F8C0556AC28}" type="slidenum">
              <a:rPr lang="en-US" altLang="zh-CN" smtClean="0"/>
              <a:pPr/>
              <a:t>4</a:t>
            </a:fld>
            <a:endParaRPr lang="en-US" altLang="zh-CN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 sz="14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7388520-C760-4CCF-B687-DD5B8CD648DC}" type="slidenum">
              <a:rPr lang="en-US" altLang="zh-CN" smtClean="0"/>
              <a:pPr/>
              <a:t>5</a:t>
            </a:fld>
            <a:endParaRPr lang="en-US" altLang="zh-CN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1" eaLnBrk="1" hangingPunct="1"/>
            <a:r>
              <a:rPr lang="zh-CN" altLang="en-US"/>
              <a:t>高级</a:t>
            </a:r>
            <a:r>
              <a:rPr lang="en-US" altLang="zh-CN"/>
              <a:t>TCP/IP</a:t>
            </a:r>
            <a:r>
              <a:rPr lang="zh-CN" altLang="en-US"/>
              <a:t>设置窗体包含</a:t>
            </a:r>
            <a:r>
              <a:rPr lang="zh-CN" altLang="en-US">
                <a:latin typeface="Arial" charset="0"/>
              </a:rPr>
              <a:t>“</a:t>
            </a:r>
            <a:r>
              <a:rPr lang="en-US" altLang="zh-CN"/>
              <a:t>IP</a:t>
            </a:r>
            <a:r>
              <a:rPr lang="zh-CN" altLang="en-US"/>
              <a:t>设置</a:t>
            </a:r>
            <a:r>
              <a:rPr lang="zh-CN" altLang="en-US">
                <a:latin typeface="Arial" charset="0"/>
              </a:rPr>
              <a:t>”</a:t>
            </a:r>
            <a:r>
              <a:rPr lang="zh-CN" altLang="en-US"/>
              <a:t>，</a:t>
            </a:r>
            <a:r>
              <a:rPr lang="zh-CN" altLang="en-US">
                <a:latin typeface="Arial" charset="0"/>
              </a:rPr>
              <a:t>“</a:t>
            </a:r>
            <a:r>
              <a:rPr lang="en-US" altLang="zh-CN"/>
              <a:t>DNS</a:t>
            </a:r>
            <a:r>
              <a:rPr lang="en-US" altLang="zh-CN">
                <a:latin typeface="Arial" charset="0"/>
              </a:rPr>
              <a:t>”</a:t>
            </a:r>
            <a:r>
              <a:rPr lang="zh-CN" altLang="en-US"/>
              <a:t>，</a:t>
            </a:r>
            <a:r>
              <a:rPr lang="zh-CN" altLang="en-US">
                <a:latin typeface="Arial" charset="0"/>
              </a:rPr>
              <a:t>“</a:t>
            </a:r>
            <a:r>
              <a:rPr lang="en-US" altLang="zh-CN"/>
              <a:t>WINS</a:t>
            </a:r>
            <a:r>
              <a:rPr lang="en-US" altLang="zh-CN">
                <a:latin typeface="Arial" charset="0"/>
              </a:rPr>
              <a:t>”</a:t>
            </a:r>
            <a:r>
              <a:rPr lang="zh-CN" altLang="en-US"/>
              <a:t>，</a:t>
            </a:r>
            <a:r>
              <a:rPr lang="zh-CN" altLang="en-US">
                <a:latin typeface="Arial" charset="0"/>
              </a:rPr>
              <a:t>“</a:t>
            </a:r>
            <a:r>
              <a:rPr lang="zh-CN" altLang="en-US"/>
              <a:t>选项</a:t>
            </a:r>
            <a:r>
              <a:rPr lang="zh-CN" altLang="en-US">
                <a:latin typeface="Arial" charset="0"/>
              </a:rPr>
              <a:t>”</a:t>
            </a:r>
            <a:r>
              <a:rPr lang="zh-CN" altLang="en-US"/>
              <a:t>四个标签，可对</a:t>
            </a:r>
            <a:r>
              <a:rPr lang="en-US" altLang="zh-CN"/>
              <a:t>TCP/IP</a:t>
            </a:r>
            <a:r>
              <a:rPr lang="zh-CN" altLang="en-US"/>
              <a:t>参数进行更加详细的设置。</a:t>
            </a:r>
          </a:p>
          <a:p>
            <a:pPr lvl="1" eaLnBrk="1" hangingPunct="1"/>
            <a:r>
              <a:rPr lang="zh-CN" altLang="en-US">
                <a:latin typeface="Arial" charset="0"/>
              </a:rPr>
              <a:t>“</a:t>
            </a:r>
            <a:r>
              <a:rPr lang="en-US" altLang="zh-CN"/>
              <a:t>IP</a:t>
            </a:r>
            <a:r>
              <a:rPr lang="zh-CN" altLang="en-US"/>
              <a:t>设置</a:t>
            </a:r>
            <a:r>
              <a:rPr lang="zh-CN" altLang="en-US">
                <a:latin typeface="Arial" charset="0"/>
              </a:rPr>
              <a:t>”</a:t>
            </a:r>
            <a:r>
              <a:rPr lang="zh-CN" altLang="en-US"/>
              <a:t>可以对一个网卡设置多个</a:t>
            </a:r>
            <a:r>
              <a:rPr lang="en-US" altLang="zh-CN"/>
              <a:t>IP</a:t>
            </a:r>
            <a:r>
              <a:rPr lang="zh-CN" altLang="en-US"/>
              <a:t>地址或多个默认网关。</a:t>
            </a:r>
          </a:p>
          <a:p>
            <a:pPr lvl="1" eaLnBrk="1" hangingPunct="1"/>
            <a:r>
              <a:rPr lang="zh-CN" altLang="en-US">
                <a:latin typeface="Arial" charset="0"/>
              </a:rPr>
              <a:t>“</a:t>
            </a:r>
            <a:r>
              <a:rPr lang="en-US" altLang="zh-CN"/>
              <a:t>DNS</a:t>
            </a:r>
            <a:r>
              <a:rPr lang="en-US" altLang="zh-CN">
                <a:latin typeface="Arial" charset="0"/>
              </a:rPr>
              <a:t>”</a:t>
            </a:r>
            <a:r>
              <a:rPr lang="zh-CN" altLang="en-US"/>
              <a:t>可以设置多个</a:t>
            </a:r>
            <a:r>
              <a:rPr lang="en-US" altLang="zh-CN"/>
              <a:t>DNS</a:t>
            </a:r>
            <a:r>
              <a:rPr lang="zh-CN" altLang="en-US"/>
              <a:t>服务器地址，并指定解析顺序、设置主机的默认域等。</a:t>
            </a:r>
          </a:p>
          <a:p>
            <a:pPr lvl="1" eaLnBrk="1" hangingPunct="1"/>
            <a:r>
              <a:rPr lang="zh-CN" altLang="en-US">
                <a:latin typeface="Arial" charset="0"/>
              </a:rPr>
              <a:t>“</a:t>
            </a:r>
            <a:r>
              <a:rPr lang="en-US" altLang="zh-CN"/>
              <a:t>WINS</a:t>
            </a:r>
            <a:r>
              <a:rPr lang="en-US" altLang="zh-CN">
                <a:latin typeface="Arial" charset="0"/>
              </a:rPr>
              <a:t>”</a:t>
            </a:r>
            <a:r>
              <a:rPr lang="zh-CN" altLang="en-US"/>
              <a:t>可以设置</a:t>
            </a:r>
            <a:r>
              <a:rPr lang="en-US" altLang="zh-CN"/>
              <a:t>WINS</a:t>
            </a:r>
            <a:r>
              <a:rPr lang="zh-CN" altLang="en-US"/>
              <a:t>服务器的</a:t>
            </a:r>
            <a:r>
              <a:rPr lang="en-US" altLang="zh-CN"/>
              <a:t>IP</a:t>
            </a:r>
            <a:r>
              <a:rPr lang="zh-CN" altLang="en-US"/>
              <a:t>地址以及是否启用</a:t>
            </a:r>
            <a:r>
              <a:rPr lang="en-US" altLang="zh-CN"/>
              <a:t>NetBIOS</a:t>
            </a:r>
            <a:r>
              <a:rPr lang="zh-CN" altLang="en-US"/>
              <a:t>。</a:t>
            </a:r>
          </a:p>
          <a:p>
            <a:pPr lvl="1" eaLnBrk="1" hangingPunct="1"/>
            <a:r>
              <a:rPr lang="zh-CN" altLang="en-US">
                <a:latin typeface="Arial" charset="0"/>
              </a:rPr>
              <a:t>“</a:t>
            </a:r>
            <a:r>
              <a:rPr lang="zh-CN" altLang="en-US"/>
              <a:t>选项</a:t>
            </a:r>
            <a:r>
              <a:rPr lang="zh-CN" altLang="en-US">
                <a:latin typeface="Arial" charset="0"/>
              </a:rPr>
              <a:t>”</a:t>
            </a:r>
            <a:r>
              <a:rPr lang="zh-CN" altLang="en-US"/>
              <a:t>设置</a:t>
            </a:r>
            <a:r>
              <a:rPr lang="zh-CN" altLang="en-US">
                <a:latin typeface="Arial" charset="0"/>
              </a:rPr>
              <a:t>“</a:t>
            </a:r>
            <a:r>
              <a:rPr lang="en-US" altLang="zh-CN"/>
              <a:t>TCP/IP</a:t>
            </a:r>
            <a:r>
              <a:rPr lang="zh-CN" altLang="en-US"/>
              <a:t>筛选</a:t>
            </a:r>
            <a:r>
              <a:rPr lang="zh-CN" altLang="en-US">
                <a:latin typeface="Arial" charset="0"/>
              </a:rPr>
              <a:t>”</a:t>
            </a:r>
            <a:r>
              <a:rPr lang="zh-CN" altLang="en-US"/>
              <a:t>，用来控制连接到用户计算机的</a:t>
            </a:r>
            <a:r>
              <a:rPr lang="en-US" altLang="zh-CN"/>
              <a:t>TCP/IP</a:t>
            </a:r>
            <a:r>
              <a:rPr lang="zh-CN" altLang="en-US"/>
              <a:t>网络流量类型。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7388520-C760-4CCF-B687-DD5B8CD648DC}" type="slidenum">
              <a:rPr lang="en-US" altLang="zh-CN" smtClean="0"/>
              <a:pPr/>
              <a:t>6</a:t>
            </a:fld>
            <a:endParaRPr lang="en-US" altLang="zh-CN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1" eaLnBrk="1" hangingPunct="1"/>
            <a:r>
              <a:rPr lang="zh-CN" altLang="en-US"/>
              <a:t>高级</a:t>
            </a:r>
            <a:r>
              <a:rPr lang="en-US" altLang="zh-CN"/>
              <a:t>TCP/IP</a:t>
            </a:r>
            <a:r>
              <a:rPr lang="zh-CN" altLang="en-US"/>
              <a:t>设置窗体包含</a:t>
            </a:r>
            <a:r>
              <a:rPr lang="zh-CN" altLang="en-US">
                <a:latin typeface="Arial" charset="0"/>
              </a:rPr>
              <a:t>“</a:t>
            </a:r>
            <a:r>
              <a:rPr lang="en-US" altLang="zh-CN"/>
              <a:t>IP</a:t>
            </a:r>
            <a:r>
              <a:rPr lang="zh-CN" altLang="en-US"/>
              <a:t>设置</a:t>
            </a:r>
            <a:r>
              <a:rPr lang="zh-CN" altLang="en-US">
                <a:latin typeface="Arial" charset="0"/>
              </a:rPr>
              <a:t>”</a:t>
            </a:r>
            <a:r>
              <a:rPr lang="zh-CN" altLang="en-US"/>
              <a:t>，</a:t>
            </a:r>
            <a:r>
              <a:rPr lang="zh-CN" altLang="en-US">
                <a:latin typeface="Arial" charset="0"/>
              </a:rPr>
              <a:t>“</a:t>
            </a:r>
            <a:r>
              <a:rPr lang="en-US" altLang="zh-CN"/>
              <a:t>DNS</a:t>
            </a:r>
            <a:r>
              <a:rPr lang="en-US" altLang="zh-CN">
                <a:latin typeface="Arial" charset="0"/>
              </a:rPr>
              <a:t>”</a:t>
            </a:r>
            <a:r>
              <a:rPr lang="zh-CN" altLang="en-US"/>
              <a:t>，</a:t>
            </a:r>
            <a:r>
              <a:rPr lang="zh-CN" altLang="en-US">
                <a:latin typeface="Arial" charset="0"/>
              </a:rPr>
              <a:t>“</a:t>
            </a:r>
            <a:r>
              <a:rPr lang="en-US" altLang="zh-CN"/>
              <a:t>WINS</a:t>
            </a:r>
            <a:r>
              <a:rPr lang="en-US" altLang="zh-CN">
                <a:latin typeface="Arial" charset="0"/>
              </a:rPr>
              <a:t>”</a:t>
            </a:r>
            <a:r>
              <a:rPr lang="zh-CN" altLang="en-US"/>
              <a:t>，</a:t>
            </a:r>
            <a:r>
              <a:rPr lang="zh-CN" altLang="en-US">
                <a:latin typeface="Arial" charset="0"/>
              </a:rPr>
              <a:t>“</a:t>
            </a:r>
            <a:r>
              <a:rPr lang="zh-CN" altLang="en-US"/>
              <a:t>选项</a:t>
            </a:r>
            <a:r>
              <a:rPr lang="zh-CN" altLang="en-US">
                <a:latin typeface="Arial" charset="0"/>
              </a:rPr>
              <a:t>”</a:t>
            </a:r>
            <a:r>
              <a:rPr lang="zh-CN" altLang="en-US"/>
              <a:t>四个标签，可对</a:t>
            </a:r>
            <a:r>
              <a:rPr lang="en-US" altLang="zh-CN"/>
              <a:t>TCP/IP</a:t>
            </a:r>
            <a:r>
              <a:rPr lang="zh-CN" altLang="en-US"/>
              <a:t>参数进行更加详细的设置。</a:t>
            </a:r>
          </a:p>
          <a:p>
            <a:pPr lvl="1" eaLnBrk="1" hangingPunct="1"/>
            <a:r>
              <a:rPr lang="zh-CN" altLang="en-US">
                <a:latin typeface="Arial" charset="0"/>
              </a:rPr>
              <a:t>“</a:t>
            </a:r>
            <a:r>
              <a:rPr lang="en-US" altLang="zh-CN"/>
              <a:t>IP</a:t>
            </a:r>
            <a:r>
              <a:rPr lang="zh-CN" altLang="en-US"/>
              <a:t>设置</a:t>
            </a:r>
            <a:r>
              <a:rPr lang="zh-CN" altLang="en-US">
                <a:latin typeface="Arial" charset="0"/>
              </a:rPr>
              <a:t>”</a:t>
            </a:r>
            <a:r>
              <a:rPr lang="zh-CN" altLang="en-US"/>
              <a:t>可以对一个网卡设置多个</a:t>
            </a:r>
            <a:r>
              <a:rPr lang="en-US" altLang="zh-CN"/>
              <a:t>IP</a:t>
            </a:r>
            <a:r>
              <a:rPr lang="zh-CN" altLang="en-US"/>
              <a:t>地址或多个默认网关。</a:t>
            </a:r>
          </a:p>
          <a:p>
            <a:pPr lvl="1" eaLnBrk="1" hangingPunct="1"/>
            <a:r>
              <a:rPr lang="zh-CN" altLang="en-US">
                <a:latin typeface="Arial" charset="0"/>
              </a:rPr>
              <a:t>“</a:t>
            </a:r>
            <a:r>
              <a:rPr lang="en-US" altLang="zh-CN"/>
              <a:t>DNS</a:t>
            </a:r>
            <a:r>
              <a:rPr lang="en-US" altLang="zh-CN">
                <a:latin typeface="Arial" charset="0"/>
              </a:rPr>
              <a:t>”</a:t>
            </a:r>
            <a:r>
              <a:rPr lang="zh-CN" altLang="en-US"/>
              <a:t>可以设置多个</a:t>
            </a:r>
            <a:r>
              <a:rPr lang="en-US" altLang="zh-CN"/>
              <a:t>DNS</a:t>
            </a:r>
            <a:r>
              <a:rPr lang="zh-CN" altLang="en-US"/>
              <a:t>服务器地址，并指定解析顺序、设置主机的默认域等。</a:t>
            </a:r>
          </a:p>
          <a:p>
            <a:pPr lvl="1" eaLnBrk="1" hangingPunct="1"/>
            <a:r>
              <a:rPr lang="zh-CN" altLang="en-US">
                <a:latin typeface="Arial" charset="0"/>
              </a:rPr>
              <a:t>“</a:t>
            </a:r>
            <a:r>
              <a:rPr lang="en-US" altLang="zh-CN"/>
              <a:t>WINS</a:t>
            </a:r>
            <a:r>
              <a:rPr lang="en-US" altLang="zh-CN">
                <a:latin typeface="Arial" charset="0"/>
              </a:rPr>
              <a:t>”</a:t>
            </a:r>
            <a:r>
              <a:rPr lang="zh-CN" altLang="en-US"/>
              <a:t>可以设置</a:t>
            </a:r>
            <a:r>
              <a:rPr lang="en-US" altLang="zh-CN"/>
              <a:t>WINS</a:t>
            </a:r>
            <a:r>
              <a:rPr lang="zh-CN" altLang="en-US"/>
              <a:t>服务器的</a:t>
            </a:r>
            <a:r>
              <a:rPr lang="en-US" altLang="zh-CN"/>
              <a:t>IP</a:t>
            </a:r>
            <a:r>
              <a:rPr lang="zh-CN" altLang="en-US"/>
              <a:t>地址以及是否启用</a:t>
            </a:r>
            <a:r>
              <a:rPr lang="en-US" altLang="zh-CN"/>
              <a:t>NetBIOS</a:t>
            </a:r>
            <a:r>
              <a:rPr lang="zh-CN" altLang="en-US"/>
              <a:t>。</a:t>
            </a:r>
          </a:p>
          <a:p>
            <a:pPr lvl="1" eaLnBrk="1" hangingPunct="1"/>
            <a:r>
              <a:rPr lang="zh-CN" altLang="en-US">
                <a:latin typeface="Arial" charset="0"/>
              </a:rPr>
              <a:t>“</a:t>
            </a:r>
            <a:r>
              <a:rPr lang="zh-CN" altLang="en-US"/>
              <a:t>选项</a:t>
            </a:r>
            <a:r>
              <a:rPr lang="zh-CN" altLang="en-US">
                <a:latin typeface="Arial" charset="0"/>
              </a:rPr>
              <a:t>”</a:t>
            </a:r>
            <a:r>
              <a:rPr lang="zh-CN" altLang="en-US"/>
              <a:t>设置</a:t>
            </a:r>
            <a:r>
              <a:rPr lang="zh-CN" altLang="en-US">
                <a:latin typeface="Arial" charset="0"/>
              </a:rPr>
              <a:t>“</a:t>
            </a:r>
            <a:r>
              <a:rPr lang="en-US" altLang="zh-CN"/>
              <a:t>TCP/IP</a:t>
            </a:r>
            <a:r>
              <a:rPr lang="zh-CN" altLang="en-US"/>
              <a:t>筛选</a:t>
            </a:r>
            <a:r>
              <a:rPr lang="zh-CN" altLang="en-US">
                <a:latin typeface="Arial" charset="0"/>
              </a:rPr>
              <a:t>”</a:t>
            </a:r>
            <a:r>
              <a:rPr lang="zh-CN" altLang="en-US"/>
              <a:t>，用来控制连接到用户计算机的</a:t>
            </a:r>
            <a:r>
              <a:rPr lang="en-US" altLang="zh-CN"/>
              <a:t>TCP/IP</a:t>
            </a:r>
            <a:r>
              <a:rPr lang="zh-CN" altLang="en-US"/>
              <a:t>网络流量类型。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 txBox="1">
            <a:spLocks noGrp="1" noChangeArrowheads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9048" tIns="49524" rIns="99048" bIns="49524" anchor="b"/>
          <a:lstStyle/>
          <a:p>
            <a:pPr algn="r" defTabSz="990600"/>
            <a:fld id="{9244FDEE-BA36-44CF-AFD8-163B9D7FE406}" type="slidenum">
              <a:rPr kumimoji="1" lang="en-US" altLang="zh-CN" sz="1300">
                <a:latin typeface="Times New Roman" pitchFamily="18" charset="0"/>
              </a:rPr>
              <a:pPr algn="r" defTabSz="990600"/>
              <a:t>11</a:t>
            </a:fld>
            <a:endParaRPr kumimoji="1" lang="en-US" altLang="zh-CN" sz="1300">
              <a:latin typeface="Times New Roman" pitchFamily="18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FA07319-1915-48E6-B144-E46DF3FAB8DE}" type="slidenum">
              <a:rPr lang="en-US" altLang="zh-CN" smtClean="0"/>
              <a:pPr/>
              <a:t>21</a:t>
            </a:fld>
            <a:endParaRPr lang="en-US" altLang="zh-CN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zh-CN" altLang="en-US"/>
              <a:t>练习使用各种网络命令，观察并分析运行结果。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5C48F89-D00B-4481-9CA0-4078075CCFF0}" type="slidenum">
              <a:rPr lang="en-US" altLang="zh-CN" smtClean="0"/>
              <a:pPr/>
              <a:t>22</a:t>
            </a:fld>
            <a:endParaRPr lang="en-US" altLang="zh-CN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altLang="zh-CN" sz="900" b="1">
                <a:latin typeface="黑体" pitchFamily="2" charset="-122"/>
                <a:ea typeface="黑体" pitchFamily="2" charset="-122"/>
              </a:rPr>
              <a:t>Windows </a:t>
            </a:r>
            <a:r>
              <a:rPr lang="zh-CN" altLang="en-US" sz="900" b="1">
                <a:latin typeface="黑体" pitchFamily="2" charset="-122"/>
                <a:ea typeface="黑体" pitchFamily="2" charset="-122"/>
              </a:rPr>
              <a:t>提供了许多命令行工具，可以使用这些工具诊断和解决计算机和网络的问题。本实验介绍常用命令的功能和用法，并在</a:t>
            </a:r>
            <a:r>
              <a:rPr lang="en-US" altLang="zh-CN" sz="900" b="1">
                <a:latin typeface="黑体" pitchFamily="2" charset="-122"/>
                <a:ea typeface="黑体" pitchFamily="2" charset="-122"/>
              </a:rPr>
              <a:t>Windows XP</a:t>
            </a:r>
            <a:r>
              <a:rPr lang="zh-CN" altLang="en-US" sz="900" b="1">
                <a:latin typeface="黑体" pitchFamily="2" charset="-122"/>
                <a:ea typeface="黑体" pitchFamily="2" charset="-122"/>
              </a:rPr>
              <a:t>下使用这些命令，观察运行结果。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FA07319-1915-48E6-B144-E46DF3FAB8DE}" type="slidenum">
              <a:rPr lang="en-US" altLang="zh-CN" smtClean="0"/>
              <a:pPr/>
              <a:t>23</a:t>
            </a:fld>
            <a:endParaRPr lang="en-US" altLang="zh-CN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zh-CN" altLang="en-US"/>
              <a:t>练习使用各种网络命令，观察并分析运行结果。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/>
              <a:t>重复的结果记录时可省略。对命令结果的分析可以课后查询有关资料。</a:t>
            </a:r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/>
              <a:t>重复的结果记录时可省略。对命令结果的分析可以课后查询有关资料。</a:t>
            </a:r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altLang="zh-CN"/>
              <a:t>Metric :</a:t>
            </a:r>
            <a:r>
              <a:rPr lang="zh-CN" altLang="en-US"/>
              <a:t>是路由算法用以确定到达目的地的最佳路径的计量标准。路径长度</a:t>
            </a:r>
            <a:r>
              <a:rPr lang="en-US" altLang="zh-CN"/>
              <a:t>(</a:t>
            </a:r>
            <a:r>
              <a:rPr lang="zh-CN" altLang="en-US"/>
              <a:t>路由个数</a:t>
            </a:r>
            <a:r>
              <a:rPr lang="en-US" altLang="zh-CN"/>
              <a:t>)/</a:t>
            </a:r>
            <a:r>
              <a:rPr lang="zh-CN" altLang="en-US"/>
              <a:t>可靠性</a:t>
            </a:r>
            <a:r>
              <a:rPr lang="en-US" altLang="zh-CN"/>
              <a:t>/</a:t>
            </a:r>
            <a:r>
              <a:rPr lang="zh-CN" altLang="en-US"/>
              <a:t>延迟</a:t>
            </a:r>
            <a:r>
              <a:rPr lang="en-US" altLang="zh-CN"/>
              <a:t>/</a:t>
            </a:r>
            <a:r>
              <a:rPr lang="zh-CN" altLang="en-US"/>
              <a:t>带宽</a:t>
            </a:r>
            <a:r>
              <a:rPr lang="en-US" altLang="zh-CN"/>
              <a:t>/</a:t>
            </a:r>
            <a:r>
              <a:rPr lang="zh-CN" altLang="en-US"/>
              <a:t>负载</a:t>
            </a:r>
            <a:r>
              <a:rPr lang="en-US" altLang="zh-CN"/>
              <a:t>/</a:t>
            </a:r>
            <a:r>
              <a:rPr lang="zh-CN" altLang="en-US"/>
              <a:t>通信代价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/>
              <a:t>注意不同状态下输入的命令</a:t>
            </a:r>
            <a:r>
              <a:rPr lang="en-US" altLang="zh-CN"/>
              <a:t>,</a:t>
            </a:r>
            <a:r>
              <a:rPr lang="zh-CN" altLang="en-US"/>
              <a:t>反向解析。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6082338-CCC1-48E6-ACF1-0E56C5678721}" type="slidenum">
              <a:rPr lang="en-US" altLang="zh-CN" smtClean="0"/>
              <a:pPr/>
              <a:t>32</a:t>
            </a:fld>
            <a:endParaRPr lang="en-US" altLang="zh-CN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zh-CN" altLang="en-US">
                <a:latin typeface="黑体" pitchFamily="2" charset="-122"/>
                <a:ea typeface="黑体" pitchFamily="2" charset="-122"/>
                <a:cs typeface="Times New Roman" pitchFamily="18" charset="0"/>
              </a:rPr>
              <a:t>熟悉</a:t>
            </a:r>
            <a:r>
              <a:rPr lang="en-US" altLang="zh-CN">
                <a:latin typeface="黑体" pitchFamily="2" charset="-122"/>
                <a:ea typeface="黑体" pitchFamily="2" charset="-122"/>
                <a:cs typeface="Times New Roman" pitchFamily="18" charset="0"/>
              </a:rPr>
              <a:t>TCP/IP</a:t>
            </a:r>
            <a:r>
              <a:rPr lang="zh-CN" altLang="en-US">
                <a:latin typeface="黑体" pitchFamily="2" charset="-122"/>
                <a:ea typeface="黑体" pitchFamily="2" charset="-122"/>
                <a:cs typeface="Times New Roman" pitchFamily="18" charset="0"/>
              </a:rPr>
              <a:t>协议的配置</a:t>
            </a:r>
          </a:p>
          <a:p>
            <a:pPr eaLnBrk="1" hangingPunct="1"/>
            <a:r>
              <a:rPr lang="zh-CN" altLang="en-US">
                <a:latin typeface="黑体" pitchFamily="2" charset="-122"/>
                <a:ea typeface="黑体" pitchFamily="2" charset="-122"/>
                <a:cs typeface="Times New Roman" pitchFamily="18" charset="0"/>
              </a:rPr>
              <a:t>熟悉常用网络命令的功能，了解如何利用网络命令检查和排除网络故障</a:t>
            </a:r>
          </a:p>
          <a:p>
            <a:pPr eaLnBrk="1" hangingPunct="1"/>
            <a:r>
              <a:rPr lang="zh-CN" altLang="en-US">
                <a:latin typeface="黑体" pitchFamily="2" charset="-122"/>
                <a:ea typeface="黑体" pitchFamily="2" charset="-122"/>
                <a:cs typeface="Times New Roman" pitchFamily="18" charset="0"/>
              </a:rPr>
              <a:t>掌握常用网络命令的用法</a:t>
            </a:r>
          </a:p>
          <a:p>
            <a:pPr eaLnBrk="1" hangingPunct="1"/>
            <a:r>
              <a:rPr lang="zh-CN" altLang="en-US">
                <a:ea typeface="黑体" pitchFamily="2" charset="-122"/>
                <a:cs typeface="Times New Roman" pitchFamily="18" charset="0"/>
              </a:rPr>
              <a:t>预习时实验目的自己总结，实验内容看后面的实验步骤。</a:t>
            </a:r>
            <a:endParaRPr lang="en-US" altLang="zh-CN">
              <a:ea typeface="黑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18" name="Text Box 21"/>
          <p:cNvSpPr txBox="1">
            <a:spLocks noChangeArrowheads="1"/>
          </p:cNvSpPr>
          <p:nvPr userDrawn="1"/>
        </p:nvSpPr>
        <p:spPr bwMode="auto">
          <a:xfrm>
            <a:off x="7054850" y="6491288"/>
            <a:ext cx="2089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b="1" i="1">
                <a:solidFill>
                  <a:schemeClr val="bg2"/>
                </a:solidFill>
                <a:latin typeface="Arial" pitchFamily="34" charset="0"/>
                <a:ea typeface="黑体" pitchFamily="49" charset="-122"/>
              </a:rPr>
              <a:t>计算机网络实验室</a:t>
            </a:r>
          </a:p>
        </p:txBody>
      </p:sp>
      <p:sp>
        <p:nvSpPr>
          <p:cNvPr id="10446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  <a:ea typeface="楷体_GB2312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46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9" name="Rectangle 16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7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" name="Rectangle 18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16CE62FC-D6BA-4C8E-A7DD-55A83558C33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268413"/>
            <a:ext cx="4171950" cy="4608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68413"/>
            <a:ext cx="4171950" cy="4608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78613" y="0"/>
            <a:ext cx="2141537" cy="58769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50825" y="0"/>
            <a:ext cx="6275388" cy="58769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1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268413"/>
            <a:ext cx="8496300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Content Here</a:t>
            </a:r>
          </a:p>
          <a:p>
            <a:pPr lvl="1"/>
            <a:r>
              <a:rPr lang="zh-CN" altLang="en-US"/>
              <a:t>。。。</a:t>
            </a:r>
          </a:p>
          <a:p>
            <a:pPr lvl="1"/>
            <a:endParaRPr lang="zh-CN" altLang="en-US"/>
          </a:p>
          <a:p>
            <a:pPr lvl="2"/>
            <a:endParaRPr lang="zh-CN" altLang="en-US"/>
          </a:p>
          <a:p>
            <a:pPr lvl="1"/>
            <a:endParaRPr lang="zh-CN" altLang="en-US"/>
          </a:p>
          <a:p>
            <a:pPr lvl="2"/>
            <a:endParaRPr lang="en-US" altLang="zh-CN"/>
          </a:p>
        </p:txBody>
      </p:sp>
      <p:sp>
        <p:nvSpPr>
          <p:cNvPr id="103462" name="AutoShape 38"/>
          <p:cNvSpPr>
            <a:spLocks noChangeArrowheads="1"/>
          </p:cNvSpPr>
          <p:nvPr userDrawn="1"/>
        </p:nvSpPr>
        <p:spPr bwMode="auto">
          <a:xfrm>
            <a:off x="0" y="0"/>
            <a:ext cx="9144000" cy="765175"/>
          </a:xfrm>
          <a:prstGeom prst="flowChartAlternateProcess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03460" name="Rectangle 36"/>
          <p:cNvSpPr>
            <a:spLocks noChangeArrowheads="1"/>
          </p:cNvSpPr>
          <p:nvPr userDrawn="1"/>
        </p:nvSpPr>
        <p:spPr bwMode="auto">
          <a:xfrm rot="10800000">
            <a:off x="6732588" y="6597650"/>
            <a:ext cx="2411412" cy="260350"/>
          </a:xfrm>
          <a:prstGeom prst="rect">
            <a:avLst/>
          </a:prstGeom>
          <a:solidFill>
            <a:schemeClr val="folHlink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029" name="Rectangle 20"/>
          <p:cNvSpPr>
            <a:spLocks noGrp="1" noChangeArrowheads="1"/>
          </p:cNvSpPr>
          <p:nvPr>
            <p:ph type="title"/>
          </p:nvPr>
        </p:nvSpPr>
        <p:spPr bwMode="auto">
          <a:xfrm>
            <a:off x="250825" y="0"/>
            <a:ext cx="847725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Title Here</a:t>
            </a:r>
          </a:p>
        </p:txBody>
      </p:sp>
      <p:sp>
        <p:nvSpPr>
          <p:cNvPr id="103447" name="Rectangle 23"/>
          <p:cNvSpPr>
            <a:spLocks noChangeArrowheads="1"/>
          </p:cNvSpPr>
          <p:nvPr userDrawn="1"/>
        </p:nvSpPr>
        <p:spPr bwMode="auto">
          <a:xfrm>
            <a:off x="1639888" y="58738"/>
            <a:ext cx="5715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wrap="none" lIns="28575" tIns="15875" rIns="28575" bIns="15875">
            <a:spAutoFit/>
          </a:bodyPr>
          <a:lstStyle/>
          <a:p>
            <a:pPr defTabSz="84138" eaLnBrk="0" hangingPunct="0">
              <a:defRPr/>
            </a:pPr>
            <a:endParaRPr lang="zh-CN" altLang="zh-CN" sz="2400" b="1">
              <a:latin typeface="Arial" pitchFamily="34" charset="0"/>
            </a:endParaRPr>
          </a:p>
        </p:txBody>
      </p:sp>
      <p:sp>
        <p:nvSpPr>
          <p:cNvPr id="103450" name="Rectangle 26"/>
          <p:cNvSpPr>
            <a:spLocks noChangeArrowheads="1"/>
          </p:cNvSpPr>
          <p:nvPr userDrawn="1"/>
        </p:nvSpPr>
        <p:spPr bwMode="auto">
          <a:xfrm rot="10800000">
            <a:off x="0" y="6597650"/>
            <a:ext cx="6732588" cy="260350"/>
          </a:xfrm>
          <a:prstGeom prst="rect">
            <a:avLst/>
          </a:prstGeom>
          <a:solidFill>
            <a:srgbClr val="666699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pic>
        <p:nvPicPr>
          <p:cNvPr id="1032" name="Picture 33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8459788" y="476250"/>
            <a:ext cx="531812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3" name="WordArt 44"/>
          <p:cNvSpPr>
            <a:spLocks noChangeArrowheads="1" noChangeShapeType="1" noTextEdit="1"/>
          </p:cNvSpPr>
          <p:nvPr userDrawn="1"/>
        </p:nvSpPr>
        <p:spPr bwMode="auto">
          <a:xfrm>
            <a:off x="6948488" y="6237288"/>
            <a:ext cx="1612900" cy="3000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宋体"/>
                <a:ea typeface="宋体"/>
              </a:rPr>
              <a:t>计算机网络实验室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Arial" pitchFamily="34" charset="0"/>
          <a:ea typeface="宋体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Arial" pitchFamily="34" charset="0"/>
          <a:ea typeface="宋体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Arial" pitchFamily="34" charset="0"/>
          <a:ea typeface="宋体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Arial" pitchFamily="34" charset="0"/>
          <a:ea typeface="宋体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Arial" pitchFamily="34" charset="0"/>
          <a:ea typeface="宋体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Arial" pitchFamily="34" charset="0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NULL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9"/>
          <p:cNvSpPr>
            <a:spLocks noChangeArrowheads="1"/>
          </p:cNvSpPr>
          <p:nvPr/>
        </p:nvSpPr>
        <p:spPr bwMode="auto">
          <a:xfrm>
            <a:off x="0" y="0"/>
            <a:ext cx="9144000" cy="12684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504" name="Rectangle 32"/>
          <p:cNvSpPr>
            <a:spLocks noChangeArrowheads="1"/>
          </p:cNvSpPr>
          <p:nvPr/>
        </p:nvSpPr>
        <p:spPr bwMode="auto">
          <a:xfrm>
            <a:off x="1639888" y="6237288"/>
            <a:ext cx="5715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wrap="none" lIns="28575" tIns="15875" rIns="28575" bIns="15875">
            <a:spAutoFit/>
          </a:bodyPr>
          <a:lstStyle/>
          <a:p>
            <a:pPr defTabSz="84138" eaLnBrk="0" hangingPunct="0">
              <a:defRPr/>
            </a:pPr>
            <a:endParaRPr lang="zh-CN" altLang="zh-CN" sz="2400" b="1">
              <a:latin typeface="Arial" pitchFamily="34" charset="0"/>
            </a:endParaRPr>
          </a:p>
        </p:txBody>
      </p:sp>
      <p:sp>
        <p:nvSpPr>
          <p:cNvPr id="3076" name="Rectangle 35"/>
          <p:cNvSpPr>
            <a:spLocks noChangeArrowheads="1"/>
          </p:cNvSpPr>
          <p:nvPr/>
        </p:nvSpPr>
        <p:spPr bwMode="auto">
          <a:xfrm>
            <a:off x="0" y="4149725"/>
            <a:ext cx="9144000" cy="2708275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7" name="Rectangle 36"/>
          <p:cNvSpPr>
            <a:spLocks noChangeArrowheads="1"/>
          </p:cNvSpPr>
          <p:nvPr/>
        </p:nvSpPr>
        <p:spPr bwMode="auto">
          <a:xfrm>
            <a:off x="0" y="3933825"/>
            <a:ext cx="9144000" cy="215900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8" name="WordArt 38"/>
          <p:cNvSpPr>
            <a:spLocks noChangeArrowheads="1" noChangeShapeType="1" noTextEdit="1"/>
          </p:cNvSpPr>
          <p:nvPr/>
        </p:nvSpPr>
        <p:spPr bwMode="auto">
          <a:xfrm>
            <a:off x="6877050" y="188913"/>
            <a:ext cx="1971675" cy="2873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宋体"/>
                <a:ea typeface="宋体"/>
              </a:rPr>
              <a:t>计算机网络实验室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250825" y="2133600"/>
            <a:ext cx="8477250" cy="1436688"/>
          </a:xfrm>
        </p:spPr>
        <p:txBody>
          <a:bodyPr/>
          <a:lstStyle/>
          <a:p>
            <a:pPr algn="ctr" eaLnBrk="1" hangingPunct="1">
              <a:defRPr/>
            </a:pPr>
            <a:br>
              <a:rPr lang="zh-CN" altLang="en-US"/>
            </a:br>
            <a:r>
              <a:rPr lang="en-US" altLang="zh-CN" sz="360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TCP/IP</a:t>
            </a:r>
            <a:r>
              <a:rPr lang="zh-CN" altLang="en-US" sz="360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配置与网络命令应用实验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6921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0" dirty="0">
                <a:effectLst>
                  <a:outerShdw blurRad="38100" dist="38100" dir="2700000" algn="tl">
                    <a:srgbClr val="C0C0C0"/>
                  </a:outerShdw>
                </a:effectLst>
                <a:cs typeface="Times New Roman" pitchFamily="18" charset="0"/>
              </a:rPr>
              <a:t>实验内容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125538"/>
            <a:ext cx="7921625" cy="3024187"/>
          </a:xfrm>
          <a:noFill/>
        </p:spPr>
        <p:txBody>
          <a:bodyPr/>
          <a:lstStyle/>
          <a:p>
            <a:pPr eaLnBrk="1" hangingPunct="1"/>
            <a:r>
              <a:rPr lang="en-US" altLang="zh-CN" b="0">
                <a:latin typeface="Times New Roman" pitchFamily="18" charset="0"/>
                <a:cs typeface="Times New Roman" pitchFamily="18" charset="0"/>
              </a:rPr>
              <a:t>TCP/IP</a:t>
            </a:r>
            <a:r>
              <a:rPr lang="zh-CN" altLang="en-US" b="0">
                <a:latin typeface="Times New Roman" pitchFamily="18" charset="0"/>
                <a:cs typeface="Times New Roman" pitchFamily="18" charset="0"/>
              </a:rPr>
              <a:t>配置</a:t>
            </a:r>
          </a:p>
          <a:p>
            <a:pPr eaLnBrk="1" hangingPunct="1"/>
            <a:r>
              <a:rPr lang="en-US" altLang="zh-CN" b="0">
                <a:latin typeface="Times New Roman" pitchFamily="18" charset="0"/>
                <a:cs typeface="Times New Roman" pitchFamily="18" charset="0"/>
              </a:rPr>
              <a:t>Web</a:t>
            </a:r>
            <a:r>
              <a:rPr lang="zh-CN" altLang="en-US" b="0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b="0">
                <a:latin typeface="Times New Roman" pitchFamily="18" charset="0"/>
                <a:cs typeface="Times New Roman" pitchFamily="18" charset="0"/>
              </a:rPr>
              <a:t>ftp</a:t>
            </a:r>
            <a:r>
              <a:rPr lang="zh-CN" altLang="en-US" b="0">
                <a:latin typeface="Times New Roman" pitchFamily="18" charset="0"/>
                <a:cs typeface="Times New Roman" pitchFamily="18" charset="0"/>
              </a:rPr>
              <a:t>服务器配置</a:t>
            </a:r>
          </a:p>
          <a:p>
            <a:pPr eaLnBrk="1" hangingPunct="1"/>
            <a:r>
              <a:rPr lang="zh-CN" altLang="en-US" b="0">
                <a:latin typeface="Times New Roman" pitchFamily="18" charset="0"/>
                <a:cs typeface="Times New Roman" pitchFamily="18" charset="0"/>
              </a:rPr>
              <a:t>常用网络命令操作和结果分析</a:t>
            </a:r>
            <a:endParaRPr lang="en-US" altLang="zh-CN" b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100" name="Picture 5" descr="keji2_12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867400" y="3573463"/>
            <a:ext cx="2733675" cy="261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0"/>
            <a:ext cx="8229600" cy="71913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0" dirty="0">
                <a:effectLst>
                  <a:outerShdw blurRad="38100" dist="38100" dir="2700000" algn="tl">
                    <a:srgbClr val="C0C0C0"/>
                  </a:outerShdw>
                </a:effectLst>
                <a:cs typeface="Times New Roman" pitchFamily="18" charset="0"/>
              </a:rPr>
              <a:t>实验目的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625" y="1465263"/>
            <a:ext cx="8285163" cy="3868737"/>
          </a:xfrm>
        </p:spPr>
        <p:txBody>
          <a:bodyPr/>
          <a:lstStyle/>
          <a:p>
            <a:pPr eaLnBrk="1" hangingPunct="1"/>
            <a:r>
              <a:rPr lang="zh-CN" altLang="en-US" dirty="0"/>
              <a:t>掌握</a:t>
            </a:r>
            <a:r>
              <a:rPr lang="en-US" altLang="zh-CN" dirty="0"/>
              <a:t>TCP/IP</a:t>
            </a:r>
            <a:r>
              <a:rPr lang="zh-CN" altLang="en-US" dirty="0"/>
              <a:t>协议的配置</a:t>
            </a:r>
            <a:endParaRPr lang="en-US" altLang="zh-CN" dirty="0"/>
          </a:p>
          <a:p>
            <a:pPr eaLnBrk="1" hangingPunct="1"/>
            <a:r>
              <a:rPr lang="zh-CN" altLang="en-US" dirty="0"/>
              <a:t>掌握</a:t>
            </a:r>
            <a:r>
              <a:rPr lang="en-US" altLang="zh-CN" dirty="0"/>
              <a:t>WEB</a:t>
            </a:r>
            <a:r>
              <a:rPr lang="zh-CN" altLang="en-US" dirty="0"/>
              <a:t>、</a:t>
            </a:r>
            <a:r>
              <a:rPr lang="en-US" altLang="zh-CN" dirty="0"/>
              <a:t>FTP</a:t>
            </a:r>
            <a:r>
              <a:rPr lang="zh-CN" altLang="en-US" dirty="0"/>
              <a:t>服务器基本配置</a:t>
            </a:r>
          </a:p>
          <a:p>
            <a:pPr eaLnBrk="1" hangingPunct="1"/>
            <a:r>
              <a:rPr lang="zh-CN" altLang="en-US" dirty="0"/>
              <a:t>掌握常用网络命令的功能、用法</a:t>
            </a:r>
            <a:endParaRPr lang="zh-CN" altLang="en-US" sz="3600" dirty="0"/>
          </a:p>
          <a:p>
            <a:pPr eaLnBrk="1" hangingPunct="1"/>
            <a:r>
              <a:rPr lang="zh-CN" altLang="en-US" dirty="0"/>
              <a:t>学会利用网络命令检查网络故障</a:t>
            </a:r>
            <a:endParaRPr lang="zh-CN" altLang="en-US" sz="3600" dirty="0"/>
          </a:p>
          <a:p>
            <a:pPr eaLnBrk="1" hangingPunct="1"/>
            <a:r>
              <a:rPr lang="zh-CN" altLang="en-US" dirty="0"/>
              <a:t>学会利用网络命令排除网络故障</a:t>
            </a:r>
            <a:endParaRPr lang="en-US" altLang="zh-CN" dirty="0"/>
          </a:p>
        </p:txBody>
      </p:sp>
      <p:pic>
        <p:nvPicPr>
          <p:cNvPr id="5124" name="Picture 5" descr="J030125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94475" y="3929063"/>
            <a:ext cx="2549525" cy="2179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6921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0">
                <a:effectLst>
                  <a:outerShdw blurRad="38100" dist="38100" dir="2700000" algn="tl">
                    <a:srgbClr val="C0C0C0"/>
                  </a:outerShdw>
                </a:effectLst>
                <a:cs typeface="Times New Roman" pitchFamily="18" charset="0"/>
              </a:rPr>
              <a:t>实验设备（环境）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125538"/>
            <a:ext cx="7921625" cy="3024187"/>
          </a:xfrm>
          <a:noFill/>
        </p:spPr>
        <p:txBody>
          <a:bodyPr/>
          <a:lstStyle/>
          <a:p>
            <a:pPr eaLnBrk="1" hangingPunct="1"/>
            <a:r>
              <a:rPr lang="zh-CN" altLang="en-US" b="0">
                <a:cs typeface="Times New Roman" pitchFamily="18" charset="0"/>
              </a:rPr>
              <a:t>计算机</a:t>
            </a:r>
          </a:p>
          <a:p>
            <a:pPr eaLnBrk="1" hangingPunct="1"/>
            <a:r>
              <a:rPr lang="zh-CN" altLang="en-US" b="0">
                <a:cs typeface="Times New Roman" pitchFamily="18" charset="0"/>
              </a:rPr>
              <a:t>网络适配器</a:t>
            </a:r>
          </a:p>
          <a:p>
            <a:pPr eaLnBrk="1" hangingPunct="1"/>
            <a:r>
              <a:rPr lang="zh-CN" altLang="en-US" b="0">
                <a:cs typeface="Times New Roman" pitchFamily="18" charset="0"/>
              </a:rPr>
              <a:t>网线</a:t>
            </a:r>
          </a:p>
          <a:p>
            <a:pPr eaLnBrk="1" hangingPunct="1"/>
            <a:r>
              <a:rPr lang="zh-CN" altLang="en-US" b="0">
                <a:cs typeface="Times New Roman" pitchFamily="18" charset="0"/>
              </a:rPr>
              <a:t>交换机</a:t>
            </a:r>
          </a:p>
          <a:p>
            <a:pPr eaLnBrk="1" hangingPunct="1"/>
            <a:r>
              <a:rPr lang="zh-CN" altLang="en-US" b="0">
                <a:cs typeface="Times New Roman" pitchFamily="18" charset="0"/>
              </a:rPr>
              <a:t>所有设备连入局域网或互联网</a:t>
            </a:r>
            <a:endParaRPr lang="en-US" altLang="zh-CN" sz="2800" b="0">
              <a:cs typeface="Times New Roman" pitchFamily="18" charset="0"/>
            </a:endParaRPr>
          </a:p>
        </p:txBody>
      </p:sp>
      <p:pic>
        <p:nvPicPr>
          <p:cNvPr id="6148" name="Picture 5" descr="keji2_12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143625" y="3714750"/>
            <a:ext cx="2733675" cy="261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981075"/>
            <a:ext cx="8285163" cy="511175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zh-CN" altLang="en-US" sz="2800" dirty="0">
                <a:latin typeface="Arial" charset="0"/>
              </a:rPr>
              <a:t>打开“网络和共享中心”</a:t>
            </a:r>
            <a:r>
              <a:rPr lang="en-US" altLang="zh-CN" sz="2800" dirty="0">
                <a:latin typeface="Arial" charset="0"/>
              </a:rPr>
              <a:t>—</a:t>
            </a:r>
            <a:r>
              <a:rPr lang="zh-CN" altLang="en-US" sz="2800" dirty="0">
                <a:latin typeface="Arial" charset="0"/>
              </a:rPr>
              <a:t>“更改适配器设置”</a:t>
            </a:r>
          </a:p>
          <a:p>
            <a:pPr algn="just" eaLnBrk="1" hangingPunct="1">
              <a:lnSpc>
                <a:spcPct val="90000"/>
              </a:lnSpc>
            </a:pPr>
            <a:r>
              <a:rPr lang="zh-CN" altLang="en-US" sz="2800" dirty="0">
                <a:latin typeface="Arial" charset="0"/>
              </a:rPr>
              <a:t>选择“</a:t>
            </a:r>
            <a:r>
              <a:rPr lang="zh-CN" altLang="en-US" sz="2800" dirty="0"/>
              <a:t>本地连接</a:t>
            </a:r>
            <a:r>
              <a:rPr lang="zh-CN" altLang="en-US" sz="2800" dirty="0">
                <a:latin typeface="Arial" charset="0"/>
              </a:rPr>
              <a:t>”</a:t>
            </a:r>
            <a:endParaRPr lang="en-US" altLang="zh-CN" sz="2800" dirty="0"/>
          </a:p>
          <a:p>
            <a:pPr algn="just" eaLnBrk="1" hangingPunct="1">
              <a:lnSpc>
                <a:spcPct val="90000"/>
              </a:lnSpc>
            </a:pPr>
            <a:r>
              <a:rPr lang="zh-CN" altLang="en-US" sz="2800" dirty="0"/>
              <a:t>右键打开快捷菜单，单击</a:t>
            </a:r>
            <a:r>
              <a:rPr lang="zh-CN" altLang="en-US" sz="2800" dirty="0">
                <a:latin typeface="Arial" charset="0"/>
              </a:rPr>
              <a:t>“</a:t>
            </a:r>
            <a:r>
              <a:rPr lang="zh-CN" altLang="en-US" sz="2800" dirty="0"/>
              <a:t>属性</a:t>
            </a:r>
            <a:r>
              <a:rPr lang="zh-CN" altLang="en-US" sz="2800" dirty="0">
                <a:latin typeface="Arial" charset="0"/>
              </a:rPr>
              <a:t>”</a:t>
            </a:r>
            <a:endParaRPr lang="zh-CN" altLang="en-US" sz="2800" dirty="0"/>
          </a:p>
          <a:p>
            <a:pPr algn="just" eaLnBrk="1" hangingPunct="1">
              <a:lnSpc>
                <a:spcPct val="90000"/>
              </a:lnSpc>
            </a:pPr>
            <a:r>
              <a:rPr lang="zh-CN" altLang="en-US" sz="2800" dirty="0"/>
              <a:t>选中列表中的</a:t>
            </a:r>
            <a:r>
              <a:rPr lang="zh-CN" altLang="en-US" sz="2800" dirty="0">
                <a:latin typeface="Arial" charset="0"/>
              </a:rPr>
              <a:t>“</a:t>
            </a:r>
            <a:r>
              <a:rPr lang="en-US" altLang="zh-CN" sz="2800" dirty="0"/>
              <a:t>Internet</a:t>
            </a:r>
            <a:r>
              <a:rPr lang="zh-CN" altLang="en-US" sz="2800" dirty="0"/>
              <a:t>协议版本</a:t>
            </a:r>
            <a:r>
              <a:rPr lang="en-US" altLang="zh-CN" sz="2800" dirty="0"/>
              <a:t>4</a:t>
            </a:r>
            <a:r>
              <a:rPr lang="zh-CN" altLang="en-US" sz="2800" dirty="0"/>
              <a:t>（</a:t>
            </a:r>
            <a:r>
              <a:rPr lang="en-US" altLang="zh-CN" sz="2800" dirty="0"/>
              <a:t>TCP/IPv4</a:t>
            </a:r>
            <a:r>
              <a:rPr lang="zh-CN" altLang="en-US" sz="2800" dirty="0"/>
              <a:t>）</a:t>
            </a:r>
            <a:r>
              <a:rPr lang="zh-CN" altLang="en-US" sz="2800" dirty="0">
                <a:latin typeface="Arial" charset="0"/>
              </a:rPr>
              <a:t>”</a:t>
            </a:r>
            <a:endParaRPr lang="zh-CN" altLang="en-US" sz="2800" dirty="0"/>
          </a:p>
          <a:p>
            <a:pPr algn="just" eaLnBrk="1" hangingPunct="1">
              <a:lnSpc>
                <a:spcPct val="90000"/>
              </a:lnSpc>
            </a:pPr>
            <a:r>
              <a:rPr lang="zh-CN" altLang="en-US" sz="2800" dirty="0"/>
              <a:t>单击</a:t>
            </a:r>
            <a:r>
              <a:rPr lang="zh-CN" altLang="en-US" sz="2800" dirty="0">
                <a:latin typeface="Arial" charset="0"/>
              </a:rPr>
              <a:t>“</a:t>
            </a:r>
            <a:r>
              <a:rPr lang="zh-CN" altLang="en-US" sz="2800" dirty="0"/>
              <a:t>属性</a:t>
            </a:r>
            <a:r>
              <a:rPr lang="zh-CN" altLang="en-US" sz="2800" dirty="0">
                <a:latin typeface="Arial" charset="0"/>
              </a:rPr>
              <a:t>”</a:t>
            </a:r>
            <a:endParaRPr lang="zh-CN" altLang="en-US" sz="2800" dirty="0"/>
          </a:p>
          <a:p>
            <a:pPr algn="just" eaLnBrk="1" hangingPunct="1">
              <a:lnSpc>
                <a:spcPct val="90000"/>
              </a:lnSpc>
            </a:pPr>
            <a:r>
              <a:rPr lang="zh-CN" altLang="en-US" sz="2800" dirty="0">
                <a:latin typeface="Arial" charset="0"/>
              </a:rPr>
              <a:t>“</a:t>
            </a:r>
            <a:r>
              <a:rPr lang="en-US" altLang="zh-CN" sz="2800" dirty="0"/>
              <a:t>Internet</a:t>
            </a:r>
            <a:r>
              <a:rPr lang="zh-CN" altLang="en-US" sz="2800" dirty="0"/>
              <a:t>协议版本</a:t>
            </a:r>
            <a:r>
              <a:rPr lang="en-US" altLang="zh-CN" sz="2800" dirty="0"/>
              <a:t>4</a:t>
            </a:r>
            <a:r>
              <a:rPr lang="zh-CN" altLang="en-US" sz="2800" dirty="0"/>
              <a:t>（</a:t>
            </a:r>
            <a:r>
              <a:rPr lang="en-US" altLang="zh-CN" sz="2800" dirty="0"/>
              <a:t>TCP/IPv4</a:t>
            </a:r>
            <a:r>
              <a:rPr lang="zh-CN" altLang="en-US" sz="2800" dirty="0"/>
              <a:t>）属性</a:t>
            </a:r>
            <a:r>
              <a:rPr lang="zh-CN" altLang="en-US" sz="2800" dirty="0">
                <a:latin typeface="Arial" charset="0"/>
              </a:rPr>
              <a:t>”</a:t>
            </a:r>
            <a:r>
              <a:rPr lang="zh-CN" altLang="en-US" sz="2800" dirty="0"/>
              <a:t>对话框 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dirty="0"/>
              <a:t>设置</a:t>
            </a:r>
            <a:r>
              <a:rPr lang="en-US" altLang="zh-CN" dirty="0"/>
              <a:t>IP</a:t>
            </a:r>
            <a:r>
              <a:rPr lang="zh-CN" altLang="en-US" dirty="0"/>
              <a:t>、子网掩码、网关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dirty="0"/>
              <a:t>设置</a:t>
            </a:r>
            <a:r>
              <a:rPr lang="en-US" altLang="zh-CN" dirty="0"/>
              <a:t>DNS</a:t>
            </a:r>
            <a:r>
              <a:rPr lang="zh-CN" altLang="en-US" dirty="0"/>
              <a:t>服务器</a:t>
            </a:r>
            <a:endParaRPr lang="en-US" altLang="zh-CN" dirty="0"/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dirty="0"/>
              <a:t>单击</a:t>
            </a:r>
            <a:r>
              <a:rPr lang="zh-CN" altLang="en-US" dirty="0">
                <a:latin typeface="Arial" charset="0"/>
              </a:rPr>
              <a:t>“</a:t>
            </a:r>
            <a:r>
              <a:rPr lang="zh-CN" altLang="en-US" dirty="0"/>
              <a:t>确定</a:t>
            </a:r>
            <a:r>
              <a:rPr lang="zh-CN" altLang="en-US" dirty="0">
                <a:latin typeface="Arial" charset="0"/>
              </a:rPr>
              <a:t>”</a:t>
            </a:r>
            <a:r>
              <a:rPr lang="zh-CN" altLang="en-US" dirty="0"/>
              <a:t> </a:t>
            </a:r>
          </a:p>
          <a:p>
            <a:pPr lvl="1" algn="just"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dirty="0"/>
          </a:p>
        </p:txBody>
      </p:sp>
      <p:sp>
        <p:nvSpPr>
          <p:cNvPr id="717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TCP/IP</a:t>
            </a:r>
            <a:r>
              <a:rPr lang="zh-CN" altLang="en-US"/>
              <a:t>协议配置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981075"/>
            <a:ext cx="8285163" cy="5111750"/>
          </a:xfrm>
        </p:spPr>
        <p:txBody>
          <a:bodyPr/>
          <a:lstStyle/>
          <a:p>
            <a:pPr marL="342900" lvl="1" indent="-342900" algn="just" eaLnBrk="1" hangingPunct="1">
              <a:lnSpc>
                <a:spcPct val="9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zh-CN" altLang="en-US" sz="3600" dirty="0"/>
              <a:t>打开“</a:t>
            </a:r>
            <a:r>
              <a:rPr lang="en-US" altLang="zh-CN" sz="3600" dirty="0"/>
              <a:t>TCP/IP</a:t>
            </a:r>
            <a:r>
              <a:rPr lang="zh-CN" altLang="en-US" sz="3600" dirty="0"/>
              <a:t>协议设置”窗口</a:t>
            </a:r>
            <a:endParaRPr lang="en-US" altLang="zh-CN" sz="3600" dirty="0"/>
          </a:p>
          <a:p>
            <a:pPr marL="342900" lvl="1" indent="-342900" algn="just" eaLnBrk="1" hangingPunct="1">
              <a:lnSpc>
                <a:spcPct val="9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zh-CN" altLang="en-US" sz="3600" dirty="0"/>
              <a:t>记录已经设置好的各参数值，</a:t>
            </a:r>
            <a:r>
              <a:rPr lang="zh-CN" altLang="en-US" sz="3600" dirty="0">
                <a:solidFill>
                  <a:srgbClr val="FF0000"/>
                </a:solidFill>
              </a:rPr>
              <a:t>不要修改</a:t>
            </a:r>
            <a:endParaRPr lang="en-US" altLang="zh-CN" sz="3600" dirty="0">
              <a:solidFill>
                <a:srgbClr val="FF0000"/>
              </a:solidFill>
            </a:endParaRPr>
          </a:p>
          <a:p>
            <a:pPr marL="342900" lvl="1" indent="-342900" algn="just" eaLnBrk="1" hangingPunct="1">
              <a:lnSpc>
                <a:spcPct val="9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zh-CN" altLang="en-US" sz="3600" dirty="0"/>
              <a:t>理解掌握每个参数值的作用</a:t>
            </a:r>
            <a:endParaRPr lang="en-US" altLang="zh-CN" sz="3600" dirty="0"/>
          </a:p>
          <a:p>
            <a:pPr algn="just" eaLnBrk="1" hangingPunct="1">
              <a:lnSpc>
                <a:spcPct val="90000"/>
              </a:lnSpc>
            </a:pPr>
            <a:r>
              <a:rPr lang="zh-CN" altLang="en-US" sz="3600" dirty="0"/>
              <a:t>参看其它计算机的设置，理解所设置的每个值的意义</a:t>
            </a:r>
            <a:endParaRPr lang="en-US" altLang="zh-CN" sz="3600" dirty="0"/>
          </a:p>
          <a:p>
            <a:pPr lvl="1" algn="just"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dirty="0"/>
          </a:p>
        </p:txBody>
      </p:sp>
      <p:sp>
        <p:nvSpPr>
          <p:cNvPr id="717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TCP/IP</a:t>
            </a:r>
            <a:r>
              <a:rPr lang="zh-CN" altLang="en-US" dirty="0"/>
              <a:t>协议配置</a:t>
            </a:r>
            <a:r>
              <a:rPr lang="zh-CN" altLang="en-US" dirty="0">
                <a:latin typeface="Arial" charset="0"/>
              </a:rPr>
              <a:t>实验步骤和要求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IP</a:t>
            </a:r>
            <a:r>
              <a:rPr lang="zh-CN" altLang="en-US"/>
              <a:t>和子网掩码</a:t>
            </a:r>
            <a:endParaRPr lang="en-US" altLang="zh-CN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836613"/>
            <a:ext cx="8496300" cy="4608512"/>
          </a:xfrm>
        </p:spPr>
        <p:txBody>
          <a:bodyPr/>
          <a:lstStyle/>
          <a:p>
            <a:r>
              <a:rPr lang="en-US" altLang="zh-CN"/>
              <a:t>IP</a:t>
            </a:r>
            <a:r>
              <a:rPr lang="zh-CN" altLang="en-US"/>
              <a:t>地址包括网络编号和主机号两部分</a:t>
            </a:r>
            <a:endParaRPr lang="en-US" altLang="zh-CN"/>
          </a:p>
          <a:p>
            <a:r>
              <a:rPr lang="en-US" altLang="zh-CN"/>
              <a:t>IP</a:t>
            </a:r>
            <a:r>
              <a:rPr lang="zh-CN" altLang="en-US"/>
              <a:t>分类</a:t>
            </a:r>
          </a:p>
          <a:p>
            <a:pPr>
              <a:buFont typeface="Wingdings" pitchFamily="2" charset="2"/>
              <a:buNone/>
            </a:pPr>
            <a:r>
              <a:rPr lang="zh-CN" altLang="en-US"/>
              <a:t> </a:t>
            </a:r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63" y="1928813"/>
            <a:ext cx="8316912" cy="3640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IP</a:t>
            </a:r>
            <a:r>
              <a:rPr lang="zh-CN" altLang="en-US"/>
              <a:t>和子网掩码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zh-CN" altLang="en-US" dirty="0"/>
              <a:t>专用</a:t>
            </a:r>
            <a:r>
              <a:rPr lang="en-US" altLang="zh-CN" dirty="0"/>
              <a:t>IP</a:t>
            </a:r>
            <a:r>
              <a:rPr lang="zh-CN" altLang="en-US" dirty="0"/>
              <a:t>地址   </a:t>
            </a:r>
          </a:p>
          <a:p>
            <a:pPr marL="990600" lvl="1" indent="-533400"/>
            <a:r>
              <a:rPr lang="zh-CN" altLang="en-US" sz="3200" b="0" dirty="0"/>
              <a:t>他们只在本机构成的内部网络里有效，不会被路由器转发到公网中。 </a:t>
            </a:r>
          </a:p>
          <a:p>
            <a:pPr marL="990600" lvl="1" indent="-533400">
              <a:buFont typeface="Wingdings" pitchFamily="2" charset="2"/>
              <a:buNone/>
            </a:pPr>
            <a:r>
              <a:rPr lang="en-US" altLang="zh-CN" sz="3200" b="0" dirty="0"/>
              <a:t>	A</a:t>
            </a:r>
            <a:r>
              <a:rPr lang="zh-CN" altLang="en-US" sz="3200" b="0" dirty="0"/>
              <a:t>类：</a:t>
            </a:r>
            <a:r>
              <a:rPr lang="en-US" altLang="zh-CN" sz="3200" b="0" dirty="0"/>
              <a:t>10.0.0.0~10.255.255.255</a:t>
            </a:r>
          </a:p>
          <a:p>
            <a:pPr marL="990600" lvl="1" indent="-533400">
              <a:buFont typeface="Wingdings" pitchFamily="2" charset="2"/>
              <a:buNone/>
            </a:pPr>
            <a:r>
              <a:rPr lang="en-US" altLang="zh-CN" sz="3200" b="0" dirty="0"/>
              <a:t>	B</a:t>
            </a:r>
            <a:r>
              <a:rPr lang="zh-CN" altLang="en-US" sz="3200" b="0" dirty="0"/>
              <a:t>类： </a:t>
            </a:r>
            <a:r>
              <a:rPr lang="en-US" altLang="zh-CN" sz="3200" b="0" dirty="0"/>
              <a:t>172.16.0.0~172.31.255.255</a:t>
            </a:r>
          </a:p>
          <a:p>
            <a:pPr marL="990600" lvl="1" indent="-533400">
              <a:buFont typeface="Wingdings" pitchFamily="2" charset="2"/>
              <a:buNone/>
            </a:pPr>
            <a:r>
              <a:rPr lang="en-US" altLang="zh-CN" sz="3200" b="0" dirty="0"/>
              <a:t>	C</a:t>
            </a:r>
            <a:r>
              <a:rPr lang="zh-CN" altLang="en-US" sz="3200" b="0" dirty="0"/>
              <a:t>类： </a:t>
            </a:r>
            <a:r>
              <a:rPr lang="en-US" altLang="zh-CN" sz="3200" b="0" dirty="0"/>
              <a:t>192.168.0.0~192.168.255.255 </a:t>
            </a:r>
            <a:endParaRPr lang="zh-CN" altLang="en-US" sz="3200" b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IP</a:t>
            </a:r>
            <a:r>
              <a:rPr lang="zh-CN" altLang="en-US"/>
              <a:t>和子网掩码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125538"/>
            <a:ext cx="8496300" cy="48958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/>
              <a:t>子网掩码：用来确定某个子网的网络地址和主机号的位数 </a:t>
            </a:r>
            <a:endParaRPr lang="en-US" altLang="zh-CN"/>
          </a:p>
          <a:p>
            <a:pPr>
              <a:lnSpc>
                <a:spcPct val="90000"/>
              </a:lnSpc>
            </a:pPr>
            <a:r>
              <a:rPr lang="zh-CN" altLang="en-US"/>
              <a:t>例：</a:t>
            </a:r>
            <a:r>
              <a:rPr lang="en-US" altLang="zh-CN"/>
              <a:t>172.16.2.160/24</a:t>
            </a:r>
            <a:endParaRPr lang="zh-CN" altLang="en-US"/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3200" b="0"/>
              <a:t>IP</a:t>
            </a:r>
            <a:r>
              <a:rPr lang="zh-CN" altLang="en-US" sz="3200" b="0"/>
              <a:t>： </a:t>
            </a:r>
            <a:r>
              <a:rPr lang="en-US" altLang="zh-CN" sz="3200" b="0"/>
              <a:t>172.16.2.160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3200" b="0"/>
              <a:t>子网掩码：</a:t>
            </a:r>
            <a:r>
              <a:rPr lang="en-US" altLang="zh-CN" sz="3200" b="0"/>
              <a:t>255.255.255.0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3200" b="0"/>
              <a:t>网络号：</a:t>
            </a:r>
            <a:r>
              <a:rPr lang="en-US" altLang="zh-CN" sz="3200" b="0"/>
              <a:t>172.16.2.0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3200" b="0"/>
              <a:t>10101100 00010000 00000010 10100000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3200" b="0"/>
              <a:t>11111111 11111111 11111111 00000000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3200" b="0"/>
              <a:t>10101100 000100000 0000010 00000000</a:t>
            </a:r>
            <a:endParaRPr lang="zh-CN" altLang="en-US" sz="3200" b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IP</a:t>
            </a:r>
            <a:r>
              <a:rPr lang="zh-CN" altLang="en-US"/>
              <a:t>和子网掩码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子网划分</a:t>
            </a:r>
          </a:p>
          <a:p>
            <a:pPr lvl="1">
              <a:buFont typeface="Wingdings" pitchFamily="2" charset="2"/>
              <a:buNone/>
            </a:pPr>
            <a:r>
              <a:rPr lang="zh-CN" altLang="en-US" sz="3200" b="0"/>
              <a:t>子网掩码：</a:t>
            </a:r>
            <a:r>
              <a:rPr lang="en-US" altLang="zh-CN" sz="3200" b="0"/>
              <a:t>255.255.255.0 </a:t>
            </a:r>
          </a:p>
          <a:p>
            <a:pPr lvl="1">
              <a:buFont typeface="Wingdings" pitchFamily="2" charset="2"/>
              <a:buNone/>
            </a:pPr>
            <a:r>
              <a:rPr lang="zh-CN" altLang="en-US" sz="3200" b="0"/>
              <a:t>同一子网 </a:t>
            </a:r>
            <a:r>
              <a:rPr lang="en-US" altLang="zh-CN" sz="3200" b="0"/>
              <a:t>IP(</a:t>
            </a:r>
            <a:r>
              <a:rPr lang="zh-CN" altLang="en-US" sz="3200" b="0"/>
              <a:t>网络号相同</a:t>
            </a:r>
            <a:r>
              <a:rPr lang="en-US" altLang="zh-CN" sz="3200" b="0"/>
              <a:t>)</a:t>
            </a:r>
            <a:r>
              <a:rPr lang="zh-CN" altLang="en-US" sz="3200" b="0"/>
              <a:t>：</a:t>
            </a:r>
          </a:p>
          <a:p>
            <a:pPr lvl="1">
              <a:buFont typeface="Wingdings" pitchFamily="2" charset="2"/>
              <a:buNone/>
            </a:pPr>
            <a:r>
              <a:rPr lang="zh-CN" altLang="en-US" sz="3200" b="0"/>
              <a:t>     </a:t>
            </a:r>
            <a:r>
              <a:rPr lang="en-US" altLang="zh-CN" sz="3200" b="0"/>
              <a:t>172.16.2.160   172.16.2.213</a:t>
            </a:r>
          </a:p>
          <a:p>
            <a:pPr lvl="1">
              <a:buFont typeface="Wingdings" pitchFamily="2" charset="2"/>
              <a:buNone/>
            </a:pPr>
            <a:r>
              <a:rPr lang="zh-CN" altLang="en-US" sz="3200" b="0"/>
              <a:t>不同子网 </a:t>
            </a:r>
            <a:r>
              <a:rPr lang="en-US" altLang="zh-CN" sz="3200" b="0"/>
              <a:t>IP (</a:t>
            </a:r>
            <a:r>
              <a:rPr lang="zh-CN" altLang="en-US" sz="3200" b="0"/>
              <a:t>网络号不同</a:t>
            </a:r>
            <a:r>
              <a:rPr lang="en-US" altLang="zh-CN" sz="3200" b="0"/>
              <a:t>) </a:t>
            </a:r>
            <a:r>
              <a:rPr lang="zh-CN" altLang="en-US" sz="3200" b="0"/>
              <a:t>：</a:t>
            </a:r>
          </a:p>
          <a:p>
            <a:pPr lvl="1">
              <a:buFont typeface="Wingdings" pitchFamily="2" charset="2"/>
              <a:buNone/>
            </a:pPr>
            <a:r>
              <a:rPr lang="zh-CN" altLang="en-US" sz="3200" b="0"/>
              <a:t>     </a:t>
            </a:r>
            <a:r>
              <a:rPr lang="en-US" altLang="zh-CN" sz="3200" b="0"/>
              <a:t>172.16.2.160   172.16.3.213</a:t>
            </a:r>
          </a:p>
          <a:p>
            <a:pPr>
              <a:buFont typeface="Wingdings" pitchFamily="2" charset="2"/>
              <a:buNone/>
            </a:pPr>
            <a:endParaRPr lang="en-US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8" name="Rectangle 6"/>
          <p:cNvSpPr>
            <a:spLocks noChangeArrowheads="1"/>
          </p:cNvSpPr>
          <p:nvPr/>
        </p:nvSpPr>
        <p:spPr bwMode="auto">
          <a:xfrm>
            <a:off x="1639888" y="6237288"/>
            <a:ext cx="5715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wrap="none" lIns="28575" tIns="15875" rIns="28575" bIns="15875">
            <a:spAutoFit/>
          </a:bodyPr>
          <a:lstStyle/>
          <a:p>
            <a:pPr defTabSz="84138" eaLnBrk="0" hangingPunct="0">
              <a:defRPr/>
            </a:pPr>
            <a:endParaRPr lang="zh-CN" altLang="zh-CN" sz="2400" b="1"/>
          </a:p>
        </p:txBody>
      </p:sp>
      <p:sp>
        <p:nvSpPr>
          <p:cNvPr id="12291" name="Text Box 9"/>
          <p:cNvSpPr txBox="1">
            <a:spLocks noChangeArrowheads="1"/>
          </p:cNvSpPr>
          <p:nvPr/>
        </p:nvSpPr>
        <p:spPr bwMode="auto">
          <a:xfrm>
            <a:off x="3203575" y="4221163"/>
            <a:ext cx="295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</a:rPr>
              <a:t>http://www.ntlab.cn</a:t>
            </a:r>
          </a:p>
        </p:txBody>
      </p:sp>
      <p:sp>
        <p:nvSpPr>
          <p:cNvPr id="12292" name="WordArt 10"/>
          <p:cNvSpPr>
            <a:spLocks noChangeArrowheads="1" noChangeShapeType="1" noTextEdit="1"/>
          </p:cNvSpPr>
          <p:nvPr/>
        </p:nvSpPr>
        <p:spPr bwMode="auto">
          <a:xfrm>
            <a:off x="6877050" y="188913"/>
            <a:ext cx="1971675" cy="2873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宋体"/>
                <a:ea typeface="宋体"/>
              </a:rPr>
              <a:t>计算机网络实验室</a:t>
            </a:r>
          </a:p>
        </p:txBody>
      </p:sp>
      <p:sp>
        <p:nvSpPr>
          <p:cNvPr id="192523" name="Rectangle 11"/>
          <p:cNvSpPr>
            <a:spLocks noGrp="1" noChangeArrowheads="1"/>
          </p:cNvSpPr>
          <p:nvPr>
            <p:ph type="title" idx="4294967295"/>
          </p:nvPr>
        </p:nvSpPr>
        <p:spPr>
          <a:xfrm>
            <a:off x="395288" y="2997200"/>
            <a:ext cx="8477250" cy="838200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网络服务器配置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服务器配置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88" y="928688"/>
            <a:ext cx="8496300" cy="55721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/>
              <a:t>实验目标是将自己的计算机经过配置后可作为</a:t>
            </a:r>
            <a:r>
              <a:rPr lang="en-US" altLang="zh-CN" dirty="0"/>
              <a:t>web</a:t>
            </a:r>
            <a:r>
              <a:rPr lang="zh-CN" altLang="en-US" dirty="0"/>
              <a:t>和</a:t>
            </a:r>
            <a:r>
              <a:rPr lang="en-US" altLang="zh-CN" dirty="0"/>
              <a:t>ftp</a:t>
            </a:r>
            <a:r>
              <a:rPr lang="zh-CN" altLang="en-US" dirty="0"/>
              <a:t>服务器，可供其它计算机访问。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zh-CN" altLang="en-US" dirty="0"/>
              <a:t>配置</a:t>
            </a:r>
            <a:r>
              <a:rPr lang="en-US" altLang="zh-CN" dirty="0"/>
              <a:t>web</a:t>
            </a:r>
            <a:r>
              <a:rPr lang="zh-CN" altLang="en-US" dirty="0"/>
              <a:t>和</a:t>
            </a:r>
            <a:r>
              <a:rPr lang="en-US" altLang="zh-CN" dirty="0"/>
              <a:t>ftp</a:t>
            </a:r>
            <a:r>
              <a:rPr lang="zh-CN" altLang="en-US" dirty="0"/>
              <a:t>服务器需在计算机上安装</a:t>
            </a:r>
            <a:r>
              <a:rPr lang="en-US" altLang="zh-CN" dirty="0"/>
              <a:t>Windows</a:t>
            </a:r>
            <a:r>
              <a:rPr lang="zh-CN" altLang="en-US" dirty="0"/>
              <a:t>组件</a:t>
            </a:r>
            <a:r>
              <a:rPr lang="en-US" altLang="zh-CN" dirty="0"/>
              <a:t>IIS</a:t>
            </a:r>
            <a:r>
              <a:rPr lang="zh-CN" altLang="en-US" dirty="0"/>
              <a:t>（</a:t>
            </a:r>
            <a:r>
              <a:rPr lang="en-US" altLang="zh-CN" dirty="0"/>
              <a:t>Internet</a:t>
            </a:r>
            <a:r>
              <a:rPr lang="zh-CN" altLang="en-US" dirty="0"/>
              <a:t>信息服务）</a:t>
            </a:r>
          </a:p>
          <a:p>
            <a:pPr>
              <a:lnSpc>
                <a:spcPct val="90000"/>
              </a:lnSpc>
            </a:pPr>
            <a:r>
              <a:rPr lang="zh-CN" altLang="en-US" dirty="0"/>
              <a:t>配置</a:t>
            </a:r>
            <a:r>
              <a:rPr lang="en-US" altLang="zh-CN" dirty="0"/>
              <a:t>web</a:t>
            </a:r>
            <a:r>
              <a:rPr lang="zh-CN" altLang="en-US" dirty="0"/>
              <a:t>服务器前需先</a:t>
            </a:r>
            <a:r>
              <a:rPr lang="zh-CN" altLang="en-US" dirty="0">
                <a:solidFill>
                  <a:srgbClr val="FF0000"/>
                </a:solidFill>
              </a:rPr>
              <a:t>在本机建立</a:t>
            </a:r>
            <a:r>
              <a:rPr lang="en-US" altLang="zh-CN" dirty="0">
                <a:solidFill>
                  <a:srgbClr val="FF0000"/>
                </a:solidFill>
              </a:rPr>
              <a:t>web</a:t>
            </a:r>
            <a:r>
              <a:rPr lang="zh-CN" altLang="en-US" dirty="0">
                <a:solidFill>
                  <a:srgbClr val="FF0000"/>
                </a:solidFill>
              </a:rPr>
              <a:t>网站</a:t>
            </a:r>
            <a:r>
              <a:rPr lang="zh-CN" altLang="en-US" dirty="0"/>
              <a:t>：在本机新建一文件夹</a:t>
            </a:r>
            <a:r>
              <a:rPr lang="en-US" altLang="zh-CN" dirty="0"/>
              <a:t>(web)</a:t>
            </a:r>
            <a:r>
              <a:rPr lang="zh-CN" altLang="en-US" dirty="0"/>
              <a:t>，在该文件夹下放置至少一个网页文件（学号命名）。    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zh-CN" altLang="en-US" dirty="0"/>
              <a:t>配置</a:t>
            </a:r>
            <a:r>
              <a:rPr lang="en-US" altLang="zh-CN" dirty="0"/>
              <a:t>ftp</a:t>
            </a:r>
            <a:r>
              <a:rPr lang="zh-CN" altLang="en-US" dirty="0"/>
              <a:t>服务器前需先</a:t>
            </a:r>
            <a:r>
              <a:rPr lang="zh-CN" altLang="en-US" dirty="0">
                <a:solidFill>
                  <a:srgbClr val="FF0000"/>
                </a:solidFill>
              </a:rPr>
              <a:t>在本机建立</a:t>
            </a:r>
            <a:r>
              <a:rPr lang="en-US" altLang="zh-CN" dirty="0">
                <a:solidFill>
                  <a:srgbClr val="FF0000"/>
                </a:solidFill>
              </a:rPr>
              <a:t>ftp</a:t>
            </a:r>
            <a:r>
              <a:rPr lang="zh-CN" altLang="en-US" dirty="0">
                <a:solidFill>
                  <a:srgbClr val="FF0000"/>
                </a:solidFill>
              </a:rPr>
              <a:t>网站</a:t>
            </a:r>
            <a:r>
              <a:rPr lang="zh-CN" altLang="en-US" dirty="0"/>
              <a:t>：在本机新建一文件夹</a:t>
            </a:r>
            <a:r>
              <a:rPr lang="en-US" altLang="zh-CN" dirty="0"/>
              <a:t>(ftp)</a:t>
            </a:r>
            <a:r>
              <a:rPr lang="zh-CN" altLang="en-US" dirty="0"/>
              <a:t>，在该文件夹下放置一些文件</a:t>
            </a:r>
            <a:r>
              <a:rPr lang="en-US" altLang="zh-CN" dirty="0"/>
              <a:t>(</a:t>
            </a:r>
            <a:r>
              <a:rPr lang="zh-CN" altLang="en-US" dirty="0"/>
              <a:t>至少</a:t>
            </a:r>
            <a:r>
              <a:rPr lang="en-US" altLang="zh-CN" dirty="0"/>
              <a:t>2</a:t>
            </a:r>
            <a:r>
              <a:rPr lang="zh-CN" altLang="en-US" dirty="0"/>
              <a:t>个</a:t>
            </a:r>
            <a:r>
              <a:rPr lang="en-US" altLang="zh-CN" dirty="0"/>
              <a:t>/</a:t>
            </a:r>
            <a:r>
              <a:rPr lang="zh-CN" altLang="en-US" dirty="0"/>
              <a:t>文件名含自己标志</a:t>
            </a:r>
            <a:r>
              <a:rPr lang="en-US" altLang="zh-CN" dirty="0"/>
              <a:t>)</a:t>
            </a:r>
            <a:r>
              <a:rPr lang="zh-CN" altLang="en-US" dirty="0"/>
              <a:t>。   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</a:t>
            </a:r>
            <a:r>
              <a:rPr lang="en-US" altLang="zh-CN"/>
              <a:t>web</a:t>
            </a:r>
            <a:r>
              <a:rPr lang="zh-CN" altLang="en-US"/>
              <a:t>站点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88" y="928688"/>
            <a:ext cx="8496300" cy="55721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/>
              <a:t>打开控制面板</a:t>
            </a:r>
            <a:r>
              <a:rPr lang="en-US" altLang="zh-CN" dirty="0"/>
              <a:t>-</a:t>
            </a:r>
            <a:r>
              <a:rPr lang="zh-CN" altLang="en-US" dirty="0"/>
              <a:t>管理工具</a:t>
            </a:r>
            <a:r>
              <a:rPr lang="en-US" altLang="zh-CN" dirty="0"/>
              <a:t>-Internet</a:t>
            </a:r>
            <a:r>
              <a:rPr lang="zh-CN" altLang="en-US" dirty="0"/>
              <a:t>信息服务</a:t>
            </a:r>
            <a:r>
              <a:rPr lang="en-US" altLang="zh-CN" dirty="0"/>
              <a:t>(IIS)</a:t>
            </a:r>
            <a:r>
              <a:rPr lang="zh-CN" altLang="en-US" dirty="0"/>
              <a:t>管理器</a:t>
            </a:r>
            <a:r>
              <a:rPr lang="en-US" altLang="zh-CN" dirty="0"/>
              <a:t>–</a:t>
            </a:r>
            <a:r>
              <a:rPr lang="zh-CN" altLang="en-US" dirty="0"/>
              <a:t>在左侧窗口选择“网站”</a:t>
            </a:r>
          </a:p>
          <a:p>
            <a:pPr>
              <a:lnSpc>
                <a:spcPct val="90000"/>
              </a:lnSpc>
            </a:pPr>
            <a:r>
              <a:rPr lang="zh-CN" altLang="en-US" dirty="0"/>
              <a:t>选择添加网站，打开网站配置窗口。</a:t>
            </a:r>
          </a:p>
          <a:p>
            <a:pPr>
              <a:lnSpc>
                <a:spcPct val="90000"/>
              </a:lnSpc>
            </a:pPr>
            <a:r>
              <a:rPr lang="zh-CN" altLang="en-US" dirty="0"/>
              <a:t>输入网站名称；物理路径选择本机</a:t>
            </a:r>
            <a:r>
              <a:rPr lang="en-US" altLang="zh-CN" dirty="0"/>
              <a:t>web</a:t>
            </a:r>
            <a:r>
              <a:rPr lang="zh-CN" altLang="en-US" dirty="0"/>
              <a:t>网站的文件夹；</a:t>
            </a:r>
            <a:r>
              <a:rPr lang="en-US" altLang="zh-CN" dirty="0"/>
              <a:t>IP</a:t>
            </a:r>
            <a:r>
              <a:rPr lang="zh-CN" altLang="en-US" dirty="0"/>
              <a:t>地址选择本机用于连网的</a:t>
            </a:r>
            <a:r>
              <a:rPr lang="en-US" altLang="zh-CN" dirty="0"/>
              <a:t>IP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zh-CN" altLang="en-US" dirty="0"/>
              <a:t>设置完成后，点击确定。在左窗口的网站下，会加入刚建的网站名称。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zh-CN" altLang="en-US" dirty="0"/>
              <a:t>选中网站名称，在主窗口中双击默认文档，选择添加，输入本机</a:t>
            </a:r>
            <a:r>
              <a:rPr lang="en-US" altLang="zh-CN" dirty="0"/>
              <a:t>web</a:t>
            </a:r>
            <a:r>
              <a:rPr lang="zh-CN" altLang="en-US" dirty="0"/>
              <a:t>网站的主页文件名。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</a:t>
            </a:r>
            <a:r>
              <a:rPr lang="en-US" altLang="zh-CN"/>
              <a:t>web</a:t>
            </a:r>
            <a:r>
              <a:rPr lang="zh-CN" altLang="en-US"/>
              <a:t>站点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364" name="AutoShape 5"/>
          <p:cNvSpPr>
            <a:spLocks noChangeArrowheads="1"/>
          </p:cNvSpPr>
          <p:nvPr/>
        </p:nvSpPr>
        <p:spPr bwMode="auto">
          <a:xfrm>
            <a:off x="4427538" y="4221163"/>
            <a:ext cx="1512887" cy="504825"/>
          </a:xfrm>
          <a:prstGeom prst="wedgeEllipseCallout">
            <a:avLst>
              <a:gd name="adj1" fmla="val -30380"/>
              <a:gd name="adj2" fmla="val -115722"/>
            </a:avLst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>
            <a:prstShdw prst="shdw17" dist="17961" dir="2700000">
              <a:srgbClr val="990000"/>
            </a:prstShdw>
          </a:effectLst>
        </p:spPr>
        <p:txBody>
          <a:bodyPr anchor="ctr"/>
          <a:lstStyle/>
          <a:p>
            <a:pPr algn="ctr"/>
            <a:r>
              <a:rPr lang="zh-CN" altLang="en-US"/>
              <a:t>修改目录</a:t>
            </a:r>
            <a:endParaRPr lang="en-US" altLang="zh-CN"/>
          </a:p>
        </p:txBody>
      </p:sp>
      <p:pic>
        <p:nvPicPr>
          <p:cNvPr id="15366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5" y="857250"/>
            <a:ext cx="8842375" cy="557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</a:t>
            </a:r>
            <a:r>
              <a:rPr lang="en-US" altLang="zh-CN"/>
              <a:t>web</a:t>
            </a:r>
            <a:r>
              <a:rPr lang="zh-CN" altLang="en-US"/>
              <a:t>站点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388" name="AutoShape 5"/>
          <p:cNvSpPr>
            <a:spLocks noChangeArrowheads="1"/>
          </p:cNvSpPr>
          <p:nvPr/>
        </p:nvSpPr>
        <p:spPr bwMode="auto">
          <a:xfrm>
            <a:off x="4932363" y="5084763"/>
            <a:ext cx="2232025" cy="1081087"/>
          </a:xfrm>
          <a:prstGeom prst="wedgeEllipseCallout">
            <a:avLst>
              <a:gd name="adj1" fmla="val -49787"/>
              <a:gd name="adj2" fmla="val -97722"/>
            </a:avLst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>
            <a:prstShdw prst="shdw17" dist="17961" dir="2700000">
              <a:srgbClr val="990000"/>
            </a:prstShdw>
          </a:effectLst>
        </p:spPr>
        <p:txBody>
          <a:bodyPr/>
          <a:lstStyle/>
          <a:p>
            <a:pPr algn="ctr"/>
            <a:r>
              <a:rPr lang="zh-CN" altLang="en-US"/>
              <a:t>添加</a:t>
            </a:r>
            <a:r>
              <a:rPr lang="en-US" altLang="zh-CN"/>
              <a:t>htm</a:t>
            </a:r>
            <a:r>
              <a:rPr lang="zh-CN" altLang="en-US"/>
              <a:t>文件。该文件在</a:t>
            </a:r>
            <a:r>
              <a:rPr lang="en-US" altLang="zh-CN"/>
              <a:t>D:\web</a:t>
            </a:r>
            <a:r>
              <a:rPr lang="zh-CN" altLang="en-US"/>
              <a:t>目录下</a:t>
            </a:r>
            <a:endParaRPr lang="en-US" altLang="zh-CN"/>
          </a:p>
        </p:txBody>
      </p:sp>
      <p:pic>
        <p:nvPicPr>
          <p:cNvPr id="16392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50" y="857250"/>
            <a:ext cx="8686800" cy="557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ftp</a:t>
            </a:r>
            <a:r>
              <a:rPr lang="zh-CN" altLang="en-US"/>
              <a:t>站点配置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88" y="1000125"/>
            <a:ext cx="8496300" cy="5232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/>
              <a:t>打开控制面板</a:t>
            </a:r>
            <a:r>
              <a:rPr lang="en-US" altLang="zh-CN" dirty="0"/>
              <a:t>-</a:t>
            </a:r>
            <a:r>
              <a:rPr lang="zh-CN" altLang="en-US" dirty="0"/>
              <a:t>管理工具</a:t>
            </a:r>
            <a:r>
              <a:rPr lang="en-US" altLang="zh-CN" dirty="0"/>
              <a:t>-Internet</a:t>
            </a:r>
            <a:r>
              <a:rPr lang="zh-CN" altLang="en-US" dirty="0"/>
              <a:t>信息服务</a:t>
            </a:r>
            <a:r>
              <a:rPr lang="en-US" altLang="zh-CN" dirty="0"/>
              <a:t>(IIS)</a:t>
            </a:r>
            <a:r>
              <a:rPr lang="zh-CN" altLang="en-US" dirty="0"/>
              <a:t>管理器</a:t>
            </a:r>
            <a:r>
              <a:rPr lang="en-US" altLang="zh-CN" dirty="0"/>
              <a:t>–</a:t>
            </a:r>
            <a:r>
              <a:rPr lang="zh-CN" altLang="en-US" dirty="0"/>
              <a:t>在左侧窗口选择“网站”</a:t>
            </a:r>
          </a:p>
          <a:p>
            <a:pPr>
              <a:lnSpc>
                <a:spcPct val="90000"/>
              </a:lnSpc>
            </a:pPr>
            <a:r>
              <a:rPr lang="zh-CN" altLang="en-US" dirty="0"/>
              <a:t>选择添加</a:t>
            </a:r>
            <a:r>
              <a:rPr lang="en-US" altLang="zh-CN" dirty="0"/>
              <a:t>FTP</a:t>
            </a:r>
            <a:r>
              <a:rPr lang="zh-CN" altLang="en-US" dirty="0"/>
              <a:t>站点，打开</a:t>
            </a:r>
            <a:r>
              <a:rPr lang="en-US" altLang="zh-CN" dirty="0"/>
              <a:t>FTP</a:t>
            </a:r>
            <a:r>
              <a:rPr lang="zh-CN" altLang="en-US" dirty="0"/>
              <a:t>网站配置窗口。</a:t>
            </a:r>
          </a:p>
          <a:p>
            <a:r>
              <a:rPr lang="zh-CN" altLang="en-US" dirty="0"/>
              <a:t>输入站点名称；物理路径选择本机</a:t>
            </a:r>
            <a:r>
              <a:rPr lang="en-US" altLang="zh-CN" dirty="0"/>
              <a:t>ftp</a:t>
            </a:r>
            <a:r>
              <a:rPr lang="zh-CN" altLang="en-US" dirty="0"/>
              <a:t>网站的文件夹；</a:t>
            </a:r>
            <a:endParaRPr lang="en-US" altLang="zh-CN" dirty="0"/>
          </a:p>
          <a:p>
            <a:r>
              <a:rPr lang="en-US" altLang="zh-CN" dirty="0"/>
              <a:t>IP</a:t>
            </a:r>
            <a:r>
              <a:rPr lang="zh-CN" altLang="en-US" dirty="0"/>
              <a:t>地址选择本机用于连网的</a:t>
            </a:r>
            <a:r>
              <a:rPr lang="en-US" altLang="zh-CN" dirty="0"/>
              <a:t>IP</a:t>
            </a:r>
            <a:r>
              <a:rPr lang="zh-CN" altLang="en-US" dirty="0"/>
              <a:t>。</a:t>
            </a:r>
            <a:r>
              <a:rPr lang="en-US" altLang="zh-CN" dirty="0"/>
              <a:t>SSL</a:t>
            </a:r>
            <a:r>
              <a:rPr lang="zh-CN" altLang="en-US" dirty="0"/>
              <a:t>选择无。</a:t>
            </a:r>
            <a:endParaRPr lang="en-US" altLang="zh-CN" dirty="0"/>
          </a:p>
          <a:p>
            <a:r>
              <a:rPr lang="zh-CN" altLang="en-US" dirty="0"/>
              <a:t>身份验证勾选匿名，允许访问可选所有用户，权限勾选读取。</a:t>
            </a:r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ftp</a:t>
            </a:r>
            <a:r>
              <a:rPr lang="zh-CN" altLang="en-US"/>
              <a:t>站点配置</a:t>
            </a:r>
          </a:p>
        </p:txBody>
      </p:sp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50" y="857250"/>
            <a:ext cx="8643938" cy="552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ftp</a:t>
            </a:r>
            <a:r>
              <a:rPr lang="zh-CN" altLang="en-US"/>
              <a:t>站点配置</a:t>
            </a:r>
          </a:p>
        </p:txBody>
      </p:sp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50" y="785813"/>
            <a:ext cx="7500938" cy="578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ftp</a:t>
            </a:r>
            <a:r>
              <a:rPr lang="zh-CN" altLang="en-US"/>
              <a:t>站点配置</a:t>
            </a:r>
          </a:p>
        </p:txBody>
      </p:sp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63" y="857250"/>
            <a:ext cx="7715250" cy="553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服务器测试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用自己的计算机或其他的计算机访问配置的</a:t>
            </a:r>
            <a:r>
              <a:rPr lang="en-US" altLang="zh-CN"/>
              <a:t>web</a:t>
            </a:r>
            <a:r>
              <a:rPr lang="zh-CN" altLang="en-US"/>
              <a:t>或</a:t>
            </a:r>
            <a:r>
              <a:rPr lang="en-US" altLang="zh-CN"/>
              <a:t>ftp</a:t>
            </a:r>
            <a:r>
              <a:rPr lang="zh-CN" altLang="en-US"/>
              <a:t>服务器可以测试配置是否成功。</a:t>
            </a:r>
            <a:endParaRPr lang="en-US" altLang="zh-CN"/>
          </a:p>
          <a:p>
            <a:r>
              <a:rPr lang="zh-CN" altLang="en-US"/>
              <a:t>测试</a:t>
            </a:r>
            <a:r>
              <a:rPr lang="en-US" altLang="zh-CN"/>
              <a:t>web</a:t>
            </a:r>
            <a:r>
              <a:rPr lang="zh-CN" altLang="en-US"/>
              <a:t>服务器</a:t>
            </a:r>
            <a:endParaRPr lang="en-US" altLang="zh-CN"/>
          </a:p>
          <a:p>
            <a:pPr>
              <a:buFont typeface="Wingdings" pitchFamily="2" charset="2"/>
              <a:buNone/>
            </a:pPr>
            <a:r>
              <a:rPr lang="en-US" altLang="zh-CN"/>
              <a:t>	</a:t>
            </a:r>
            <a:r>
              <a:rPr lang="zh-CN" altLang="en-US"/>
              <a:t>在</a:t>
            </a:r>
            <a:r>
              <a:rPr lang="en-US" altLang="zh-CN"/>
              <a:t>IE</a:t>
            </a:r>
            <a:r>
              <a:rPr lang="zh-CN" altLang="en-US"/>
              <a:t>地址栏中输入服务器的</a:t>
            </a:r>
            <a:r>
              <a:rPr lang="en-US" altLang="zh-CN"/>
              <a:t>ip,</a:t>
            </a:r>
            <a:r>
              <a:rPr lang="zh-CN" altLang="en-US"/>
              <a:t>测试是否可以打开服务器网页文件。</a:t>
            </a:r>
          </a:p>
          <a:p>
            <a:r>
              <a:rPr lang="zh-CN" altLang="en-US"/>
              <a:t>测试</a:t>
            </a:r>
            <a:r>
              <a:rPr lang="en-US" altLang="zh-CN"/>
              <a:t>ftp</a:t>
            </a:r>
            <a:r>
              <a:rPr lang="zh-CN" altLang="en-US"/>
              <a:t>服务器</a:t>
            </a:r>
            <a:endParaRPr lang="en-US" altLang="zh-CN"/>
          </a:p>
          <a:p>
            <a:pPr>
              <a:buFont typeface="Wingdings" pitchFamily="2" charset="2"/>
              <a:buNone/>
            </a:pPr>
            <a:r>
              <a:rPr lang="en-US" altLang="zh-CN"/>
              <a:t>	</a:t>
            </a:r>
            <a:r>
              <a:rPr lang="zh-CN" altLang="en-US"/>
              <a:t>打开</a:t>
            </a:r>
            <a:r>
              <a:rPr lang="en-US" altLang="zh-CN"/>
              <a:t>IE</a:t>
            </a:r>
            <a:r>
              <a:rPr lang="zh-CN" altLang="en-US"/>
              <a:t>，在地址栏输入</a:t>
            </a:r>
            <a:r>
              <a:rPr lang="en-US" altLang="zh-CN"/>
              <a:t>ftp://</a:t>
            </a:r>
            <a:r>
              <a:rPr lang="zh-CN" altLang="en-US"/>
              <a:t>服务器</a:t>
            </a:r>
            <a:r>
              <a:rPr lang="en-US" altLang="zh-CN"/>
              <a:t>IP,</a:t>
            </a:r>
            <a:r>
              <a:rPr lang="zh-CN" altLang="en-US"/>
              <a:t>测试是否可以浏览服务器文件目录。</a:t>
            </a:r>
            <a:endParaRPr lang="en-US" altLang="zh-C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2910" y="1196975"/>
            <a:ext cx="7643866" cy="4897438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zh-CN" altLang="en-US" dirty="0"/>
              <a:t>理解需要设置的项目，按前述操作步骤进行设置</a:t>
            </a:r>
            <a:endParaRPr lang="en-US" altLang="zh-CN" dirty="0"/>
          </a:p>
          <a:p>
            <a:pPr algn="just" eaLnBrk="1" hangingPunct="1">
              <a:lnSpc>
                <a:spcPct val="90000"/>
              </a:lnSpc>
            </a:pPr>
            <a:r>
              <a:rPr lang="zh-CN" altLang="en-US" dirty="0"/>
              <a:t>服务器目录不要使用</a:t>
            </a:r>
            <a:r>
              <a:rPr lang="en-US" altLang="zh-CN" dirty="0"/>
              <a:t>windows</a:t>
            </a:r>
            <a:r>
              <a:rPr lang="zh-CN" altLang="en-US" dirty="0"/>
              <a:t>特殊路径</a:t>
            </a:r>
            <a:endParaRPr lang="en-US" altLang="zh-CN" dirty="0"/>
          </a:p>
          <a:p>
            <a:pPr algn="just" eaLnBrk="1" hangingPunct="1">
              <a:lnSpc>
                <a:spcPct val="90000"/>
              </a:lnSpc>
            </a:pPr>
            <a:r>
              <a:rPr lang="zh-CN" altLang="en-US" dirty="0"/>
              <a:t>其它设置项目保持默认设置，不要更改</a:t>
            </a:r>
            <a:endParaRPr lang="en-US" altLang="zh-CN" dirty="0"/>
          </a:p>
          <a:p>
            <a:pPr algn="just" eaLnBrk="1" hangingPunct="1">
              <a:lnSpc>
                <a:spcPct val="90000"/>
              </a:lnSpc>
            </a:pPr>
            <a:r>
              <a:rPr lang="en-US" altLang="zh-CN" dirty="0"/>
              <a:t>Web</a:t>
            </a:r>
            <a:r>
              <a:rPr lang="zh-CN" altLang="en-US" dirty="0"/>
              <a:t>配置在添加默认文档时应正确输入文件全名（文件名加扩展名）</a:t>
            </a:r>
            <a:endParaRPr lang="en-US" altLang="zh-CN" dirty="0"/>
          </a:p>
        </p:txBody>
      </p:sp>
      <p:sp>
        <p:nvSpPr>
          <p:cNvPr id="2355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服务器配置注意事项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1268413"/>
            <a:ext cx="6264275" cy="4608512"/>
          </a:xfrm>
        </p:spPr>
        <p:txBody>
          <a:bodyPr/>
          <a:lstStyle/>
          <a:p>
            <a:pPr eaLnBrk="1" hangingPunct="1"/>
            <a:r>
              <a:rPr lang="zh-CN" altLang="en-US" b="0"/>
              <a:t>访问网络</a:t>
            </a:r>
          </a:p>
          <a:p>
            <a:pPr eaLnBrk="1" hangingPunct="1"/>
            <a:r>
              <a:rPr lang="zh-CN" altLang="en-US" b="0"/>
              <a:t>网络参数设置</a:t>
            </a:r>
          </a:p>
          <a:p>
            <a:pPr eaLnBrk="1" hangingPunct="1"/>
            <a:r>
              <a:rPr lang="zh-CN" altLang="en-US" b="0"/>
              <a:t>网络性能监视</a:t>
            </a:r>
          </a:p>
          <a:p>
            <a:pPr eaLnBrk="1" hangingPunct="1"/>
            <a:r>
              <a:rPr lang="zh-CN" altLang="en-US" b="0"/>
              <a:t>状态查看</a:t>
            </a:r>
          </a:p>
          <a:p>
            <a:pPr eaLnBrk="1" hangingPunct="1"/>
            <a:r>
              <a:rPr lang="zh-CN" altLang="en-US" b="0"/>
              <a:t>故障检测 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95250" y="0"/>
            <a:ext cx="8477250" cy="83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cs typeface="Times New Roman" pitchFamily="18" charset="0"/>
              </a:rPr>
              <a:t>网络实用程序的作用</a:t>
            </a:r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2988" y="1196975"/>
            <a:ext cx="6624637" cy="4897438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zh-CN"/>
              <a:t>ping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zh-CN"/>
              <a:t>Ipconfig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zh-CN"/>
              <a:t>Arp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zh-CN"/>
              <a:t>Netstat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zh-CN"/>
              <a:t>Tracert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zh-CN"/>
              <a:t>Route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zh-CN"/>
              <a:t>Net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zh-CN"/>
              <a:t>Nslookup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zh-CN"/>
              <a:t>ftp</a:t>
            </a:r>
          </a:p>
          <a:p>
            <a:pPr algn="just" eaLnBrk="1" hangingPunct="1">
              <a:lnSpc>
                <a:spcPct val="90000"/>
              </a:lnSpc>
            </a:pPr>
            <a:endParaRPr lang="en-US" altLang="zh-CN"/>
          </a:p>
        </p:txBody>
      </p:sp>
      <p:sp>
        <p:nvSpPr>
          <p:cNvPr id="2355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网络实用命令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实验步骤</a:t>
            </a:r>
            <a:endParaRPr lang="en-US" altLang="zh-CN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857250"/>
            <a:ext cx="8572500" cy="5429250"/>
          </a:xfrm>
        </p:spPr>
        <p:txBody>
          <a:bodyPr/>
          <a:lstStyle/>
          <a:p>
            <a:r>
              <a:rPr lang="zh-CN" altLang="en-US"/>
              <a:t>在“搜索程序和文件”中输入</a:t>
            </a:r>
            <a:r>
              <a:rPr lang="en-US" altLang="zh-CN"/>
              <a:t>cmd</a:t>
            </a:r>
            <a:r>
              <a:rPr lang="zh-CN" altLang="en-US"/>
              <a:t>，找到</a:t>
            </a:r>
            <a:r>
              <a:rPr lang="en-US" altLang="zh-CN"/>
              <a:t>cmd</a:t>
            </a:r>
            <a:r>
              <a:rPr lang="zh-CN" altLang="en-US"/>
              <a:t>程序运行，打开控制台操作窗口</a:t>
            </a:r>
          </a:p>
          <a:p>
            <a:r>
              <a:rPr lang="zh-CN" altLang="en-US"/>
              <a:t>在控制台操作窗口输入命令</a:t>
            </a:r>
            <a:r>
              <a:rPr lang="en-US" altLang="zh-CN"/>
              <a:t>/?</a:t>
            </a:r>
            <a:r>
              <a:rPr lang="zh-CN" altLang="en-US"/>
              <a:t>，查看命令格式。</a:t>
            </a:r>
          </a:p>
          <a:p>
            <a:r>
              <a:rPr lang="zh-CN" altLang="en-US"/>
              <a:t>根据实验要求，输入完整的网络命令及参数</a:t>
            </a:r>
          </a:p>
          <a:p>
            <a:r>
              <a:rPr lang="zh-CN" altLang="en-US"/>
              <a:t>对命令运行的结果进行分析，</a:t>
            </a:r>
            <a:r>
              <a:rPr lang="zh-CN" altLang="en-US">
                <a:solidFill>
                  <a:srgbClr val="FF0000"/>
                </a:solidFill>
              </a:rPr>
              <a:t>理解其给出的信息</a:t>
            </a:r>
          </a:p>
          <a:p>
            <a:r>
              <a:rPr lang="zh-CN" altLang="en-US"/>
              <a:t>在实验报告上按要求记录你输入的</a:t>
            </a:r>
            <a:r>
              <a:rPr lang="zh-CN" altLang="en-US">
                <a:solidFill>
                  <a:srgbClr val="FF0000"/>
                </a:solidFill>
              </a:rPr>
              <a:t>命令、命令运行的部分结果</a:t>
            </a:r>
          </a:p>
          <a:p>
            <a:endParaRPr lang="en-US" altLang="zh-CN" sz="2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实验步骤（选择命令）</a:t>
            </a:r>
            <a:endParaRPr lang="en-US" altLang="zh-CN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908050"/>
            <a:ext cx="8496300" cy="56165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1800"/>
              <a:t>可以在命令的关键字后加？来查看该命令的格式及参数</a:t>
            </a:r>
          </a:p>
          <a:p>
            <a:pPr>
              <a:lnSpc>
                <a:spcPct val="80000"/>
              </a:lnSpc>
            </a:pPr>
            <a:r>
              <a:rPr lang="zh-CN" altLang="en-US" sz="1800"/>
              <a:t>例：</a:t>
            </a:r>
            <a:r>
              <a:rPr lang="en-US" altLang="zh-CN" sz="1800"/>
              <a:t>C:\&gt;ping/?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/>
              <a:t> Usage: ping [-t] [-a] [-n count] [-l size] [-f] [-i TTL] [-v TOS]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/>
              <a:t>             [-r count] [-s count] [[-j host-list] | [-k host-list]]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/>
              <a:t>             [-w timeout] target_name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/>
              <a:t> Options: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/>
              <a:t>     -t             Ping the specified host until stopped.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/>
              <a:t>                   To see statistics and continue - type Control-Break;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/>
              <a:t>                   To stop - type Control-C.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/>
              <a:t>     -a             Resolve addresses to hostnames.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/>
              <a:t>     -n count       Number of echo requests to send.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/>
              <a:t>     -l size        Send buffer size.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/>
              <a:t>     -f             Set Don't Fragment flag in packet.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/>
              <a:t>     -i TTL         Time To Live.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/>
              <a:t>     -v TOS         Type Of Service.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/>
              <a:t>     -r count       Record route for count hops.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/>
              <a:t>     -s count       Timestamp for count hops.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/>
              <a:t>     -j host-list   Loose source route along host-list.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/>
              <a:t>     -k host-list   Strict source route along host-list.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/>
              <a:t>     -w timeout     Timeout in milliseconds to wait for each reply.</a:t>
            </a:r>
            <a:endParaRPr lang="zh-CN" altLang="en-US" sz="180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</a:pPr>
            <a:endParaRPr lang="zh-CN" altLang="en-US" sz="180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</a:pPr>
            <a:endParaRPr lang="en-US" altLang="zh-CN" sz="1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实验步骤（记录结果）</a:t>
            </a:r>
            <a:endParaRPr lang="en-US" altLang="zh-CN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981075"/>
            <a:ext cx="8496300" cy="5111750"/>
          </a:xfrm>
        </p:spPr>
        <p:txBody>
          <a:bodyPr/>
          <a:lstStyle/>
          <a:p>
            <a:pPr>
              <a:lnSpc>
                <a:spcPct val="80000"/>
              </a:lnSpc>
            </a:pPr>
            <a:endParaRPr lang="en-US" altLang="zh-CN" sz="800">
              <a:latin typeface="宋体" pitchFamily="2" charset="-122"/>
              <a:ea typeface="宋体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000" b="0">
                <a:latin typeface="宋体" pitchFamily="2" charset="-122"/>
                <a:ea typeface="宋体" pitchFamily="2" charset="-122"/>
              </a:rPr>
              <a:t>命令：</a:t>
            </a:r>
            <a:r>
              <a:rPr lang="en-US" altLang="zh-CN" sz="2000" b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ping 192.168.100.215</a:t>
            </a:r>
          </a:p>
          <a:p>
            <a:pPr>
              <a:lnSpc>
                <a:spcPct val="80000"/>
              </a:lnSpc>
            </a:pPr>
            <a:r>
              <a:rPr lang="zh-CN" altLang="en-US" sz="2000" b="0">
                <a:latin typeface="宋体" pitchFamily="2" charset="-122"/>
                <a:ea typeface="宋体" pitchFamily="2" charset="-122"/>
              </a:rPr>
              <a:t>命令运行结果：</a:t>
            </a:r>
            <a:endParaRPr lang="en-US" altLang="zh-CN" sz="2000" b="0">
              <a:latin typeface="宋体" pitchFamily="2" charset="-122"/>
              <a:ea typeface="宋体" pitchFamily="2" charset="-122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b="0">
                <a:latin typeface="宋体" pitchFamily="2" charset="-122"/>
                <a:ea typeface="宋体" pitchFamily="2" charset="-122"/>
              </a:rPr>
              <a:t>Pinging 192.168.100.215 with 32 bytes of data: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altLang="zh-CN" sz="2000" b="0">
              <a:latin typeface="宋体" pitchFamily="2" charset="-122"/>
              <a:ea typeface="宋体" pitchFamily="2" charset="-122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b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Reply from 192.168.100.215: bytes=32 time&lt;1ms TTL=128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b="0">
                <a:latin typeface="宋体" pitchFamily="2" charset="-122"/>
                <a:ea typeface="宋体" pitchFamily="2" charset="-122"/>
              </a:rPr>
              <a:t>Reply from 192.168.100.215: bytes=32 time&lt;1ms TTL=128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b="0">
                <a:latin typeface="宋体" pitchFamily="2" charset="-122"/>
                <a:ea typeface="宋体" pitchFamily="2" charset="-122"/>
              </a:rPr>
              <a:t>Reply from 192.168.100.215: bytes=32 time&lt;1ms TTL=128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b="0">
                <a:latin typeface="宋体" pitchFamily="2" charset="-122"/>
                <a:ea typeface="宋体" pitchFamily="2" charset="-122"/>
              </a:rPr>
              <a:t>Reply from 192.168.100.215: bytes=32 time&lt;1ms TTL=128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altLang="zh-CN" sz="2000" b="0">
              <a:latin typeface="宋体" pitchFamily="2" charset="-122"/>
              <a:ea typeface="宋体" pitchFamily="2" charset="-122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b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Ping statistics for 192.168.100.215: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b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 Packets: Sent = 4, Received = 4, Lost = 0 (0% loss),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b="0">
                <a:latin typeface="宋体" pitchFamily="2" charset="-122"/>
                <a:ea typeface="宋体" pitchFamily="2" charset="-122"/>
              </a:rPr>
              <a:t>Approximate round trip times in milli-seconds: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b="0">
                <a:latin typeface="宋体" pitchFamily="2" charset="-122"/>
                <a:ea typeface="宋体" pitchFamily="2" charset="-122"/>
              </a:rPr>
              <a:t>    Minimum = 0ms, Maximum = 0ms, Average = 0ms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altLang="zh-CN" sz="2000" b="0">
              <a:latin typeface="宋体" pitchFamily="2" charset="-122"/>
              <a:ea typeface="宋体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000" b="0">
                <a:latin typeface="宋体" pitchFamily="2" charset="-122"/>
                <a:ea typeface="宋体" pitchFamily="2" charset="-122"/>
              </a:rPr>
              <a:t>结论：</a:t>
            </a:r>
            <a:r>
              <a:rPr lang="zh-CN" altLang="en-US" sz="2000" b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本机与</a:t>
            </a:r>
            <a:r>
              <a:rPr lang="en-US" altLang="zh-CN" sz="2000" b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IP</a:t>
            </a:r>
            <a:r>
              <a:rPr lang="zh-CN" altLang="en-US" sz="2000" b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为</a:t>
            </a:r>
            <a:r>
              <a:rPr lang="en-US" altLang="zh-CN" sz="2000" b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192.168.100.215</a:t>
            </a:r>
            <a:r>
              <a:rPr lang="zh-CN" altLang="en-US" sz="2000" b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的主机连通。</a:t>
            </a:r>
            <a:endParaRPr lang="en-US" altLang="zh-CN" sz="2000" b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实验注意事项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836613"/>
            <a:ext cx="8496300" cy="54006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/>
              <a:t>Ping</a:t>
            </a:r>
            <a:r>
              <a:rPr lang="zh-CN" altLang="en-US"/>
              <a:t>命令（教材</a:t>
            </a:r>
            <a:r>
              <a:rPr lang="en-US" altLang="zh-CN"/>
              <a:t>p29</a:t>
            </a:r>
            <a:r>
              <a:rPr lang="zh-CN" altLang="en-US"/>
              <a:t>）</a:t>
            </a:r>
          </a:p>
          <a:p>
            <a:pPr lvl="1">
              <a:lnSpc>
                <a:spcPct val="90000"/>
              </a:lnSpc>
            </a:pPr>
            <a:r>
              <a:rPr lang="zh-CN" altLang="en-US"/>
              <a:t>理解命令的运行过程，测试网络故障的方法</a:t>
            </a:r>
            <a:r>
              <a:rPr lang="en-US" altLang="zh-CN"/>
              <a:t>  </a:t>
            </a:r>
          </a:p>
          <a:p>
            <a:pPr>
              <a:lnSpc>
                <a:spcPct val="90000"/>
              </a:lnSpc>
            </a:pPr>
            <a:r>
              <a:rPr lang="en-US" altLang="zh-CN"/>
              <a:t>Netstat(</a:t>
            </a:r>
            <a:r>
              <a:rPr lang="zh-CN" altLang="en-US"/>
              <a:t>教材</a:t>
            </a:r>
            <a:r>
              <a:rPr lang="en-US" altLang="zh-CN"/>
              <a:t>p32)</a:t>
            </a:r>
          </a:p>
          <a:p>
            <a:pPr lvl="1">
              <a:lnSpc>
                <a:spcPct val="90000"/>
              </a:lnSpc>
            </a:pPr>
            <a:r>
              <a:rPr lang="zh-CN" altLang="en-US"/>
              <a:t>理解路由表的格式</a:t>
            </a:r>
            <a:endParaRPr lang="en-US" altLang="zh-CN"/>
          </a:p>
          <a:p>
            <a:pPr>
              <a:lnSpc>
                <a:spcPct val="90000"/>
              </a:lnSpc>
            </a:pPr>
            <a:r>
              <a:rPr lang="en-US" altLang="zh-CN"/>
              <a:t>ARP</a:t>
            </a:r>
            <a:r>
              <a:rPr lang="zh-CN" altLang="en-US"/>
              <a:t>工作过程（教材</a:t>
            </a:r>
            <a:r>
              <a:rPr lang="en-US" altLang="zh-CN"/>
              <a:t>P34,P68</a:t>
            </a:r>
            <a:r>
              <a:rPr lang="zh-CN" altLang="en-US"/>
              <a:t>）</a:t>
            </a:r>
          </a:p>
          <a:p>
            <a:pPr lvl="1">
              <a:lnSpc>
                <a:spcPct val="90000"/>
              </a:lnSpc>
            </a:pPr>
            <a:r>
              <a:rPr lang="zh-CN" altLang="en-US"/>
              <a:t>理解</a:t>
            </a:r>
            <a:r>
              <a:rPr lang="en-US" altLang="zh-CN"/>
              <a:t>arp </a:t>
            </a:r>
            <a:r>
              <a:rPr lang="en-US" altLang="zh-CN">
                <a:latin typeface="Arial" charset="0"/>
              </a:rPr>
              <a:t>–</a:t>
            </a:r>
            <a:r>
              <a:rPr lang="en-US" altLang="zh-CN"/>
              <a:t>a</a:t>
            </a:r>
            <a:r>
              <a:rPr lang="zh-CN" altLang="en-US"/>
              <a:t>的结果为什么会变化。</a:t>
            </a:r>
            <a:endParaRPr lang="en-US" altLang="zh-CN"/>
          </a:p>
          <a:p>
            <a:pPr>
              <a:lnSpc>
                <a:spcPct val="90000"/>
              </a:lnSpc>
            </a:pPr>
            <a:r>
              <a:rPr lang="en-US" altLang="zh-CN"/>
              <a:t>DNS</a:t>
            </a:r>
            <a:r>
              <a:rPr lang="zh-CN" altLang="en-US"/>
              <a:t>域名解析过程（教材</a:t>
            </a:r>
            <a:r>
              <a:rPr lang="en-US" altLang="zh-CN"/>
              <a:t>p43</a:t>
            </a:r>
            <a:r>
              <a:rPr lang="zh-CN" altLang="en-US"/>
              <a:t>）</a:t>
            </a:r>
          </a:p>
          <a:p>
            <a:pPr lvl="1">
              <a:lnSpc>
                <a:spcPct val="90000"/>
              </a:lnSpc>
            </a:pPr>
            <a:r>
              <a:rPr lang="zh-CN" altLang="en-US"/>
              <a:t>两种解析过程</a:t>
            </a:r>
            <a:endParaRPr lang="en-US" altLang="zh-C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实验注意事项</a:t>
            </a:r>
            <a:r>
              <a:rPr lang="en-US" altLang="zh-CN"/>
              <a:t>(Nslookup)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88" y="785813"/>
            <a:ext cx="8496300" cy="1152525"/>
          </a:xfrm>
        </p:spPr>
        <p:txBody>
          <a:bodyPr/>
          <a:lstStyle/>
          <a:p>
            <a:r>
              <a:rPr lang="en-US" altLang="zh-CN"/>
              <a:t>Nslookup</a:t>
            </a:r>
            <a:r>
              <a:rPr lang="zh-CN" altLang="en-US"/>
              <a:t>（教材</a:t>
            </a:r>
            <a:r>
              <a:rPr lang="en-US" altLang="zh-CN"/>
              <a:t>P39</a:t>
            </a:r>
            <a:r>
              <a:rPr lang="zh-CN" altLang="en-US"/>
              <a:t>）</a:t>
            </a:r>
          </a:p>
          <a:p>
            <a:pPr lvl="1"/>
            <a:r>
              <a:rPr lang="zh-CN" altLang="en-US"/>
              <a:t>非交互式运行模式</a:t>
            </a:r>
            <a:endParaRPr lang="en-US" altLang="zh-CN"/>
          </a:p>
          <a:p>
            <a:pPr lvl="1">
              <a:buFont typeface="Wingdings" pitchFamily="2" charset="2"/>
              <a:buNone/>
            </a:pPr>
            <a:endParaRPr lang="en-US" altLang="zh-CN"/>
          </a:p>
          <a:p>
            <a:pPr lvl="1">
              <a:buFont typeface="Wingdings" pitchFamily="2" charset="2"/>
              <a:buNone/>
            </a:pPr>
            <a:endParaRPr lang="en-US" altLang="zh-CN"/>
          </a:p>
          <a:p>
            <a:pPr lvl="1">
              <a:buFont typeface="Wingdings" pitchFamily="2" charset="2"/>
              <a:buNone/>
            </a:pPr>
            <a:endParaRPr lang="en-US" altLang="zh-CN"/>
          </a:p>
          <a:p>
            <a:pPr lvl="1">
              <a:buFont typeface="Wingdings" pitchFamily="2" charset="2"/>
              <a:buNone/>
            </a:pPr>
            <a:endParaRPr lang="en-US" altLang="zh-CN"/>
          </a:p>
          <a:p>
            <a:pPr lvl="1">
              <a:buFont typeface="Wingdings" pitchFamily="2" charset="2"/>
              <a:buNone/>
            </a:pPr>
            <a:endParaRPr lang="en-US" altLang="zh-CN"/>
          </a:p>
          <a:p>
            <a:pPr lvl="1">
              <a:buFont typeface="Wingdings" pitchFamily="2" charset="2"/>
              <a:buNone/>
            </a:pPr>
            <a:endParaRPr lang="en-US" altLang="zh-CN"/>
          </a:p>
        </p:txBody>
      </p:sp>
      <p:sp>
        <p:nvSpPr>
          <p:cNvPr id="28676" name="Rectangle 3"/>
          <p:cNvSpPr txBox="1">
            <a:spLocks noChangeArrowheads="1"/>
          </p:cNvSpPr>
          <p:nvPr/>
        </p:nvSpPr>
        <p:spPr bwMode="auto">
          <a:xfrm>
            <a:off x="357188" y="3500438"/>
            <a:ext cx="8496300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</a:pPr>
            <a:r>
              <a:rPr lang="zh-CN" altLang="en-US" sz="2800" b="1">
                <a:latin typeface="黑体" pitchFamily="2" charset="-122"/>
                <a:ea typeface="黑体" pitchFamily="2" charset="-122"/>
              </a:rPr>
              <a:t>交互式运行模式</a:t>
            </a:r>
            <a:endParaRPr lang="en-US" altLang="zh-CN" sz="2800" b="1">
              <a:latin typeface="黑体" pitchFamily="2" charset="-122"/>
              <a:ea typeface="黑体" pitchFamily="2" charset="-122"/>
            </a:endParaRPr>
          </a:p>
          <a:p>
            <a:pPr marL="742950" lvl="1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endParaRPr lang="en-US" altLang="zh-CN" sz="2800" b="1">
              <a:latin typeface="黑体" pitchFamily="2" charset="-122"/>
              <a:ea typeface="黑体" pitchFamily="2" charset="-122"/>
            </a:endParaRPr>
          </a:p>
          <a:p>
            <a:pPr marL="742950" lvl="1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endParaRPr lang="en-US" altLang="zh-CN" sz="2800" b="1">
              <a:latin typeface="黑体" pitchFamily="2" charset="-122"/>
              <a:ea typeface="黑体" pitchFamily="2" charset="-122"/>
            </a:endParaRPr>
          </a:p>
          <a:p>
            <a:pPr marL="742950" lvl="1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endParaRPr lang="en-US" altLang="zh-CN" sz="2800" b="1"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28677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31913" y="4005263"/>
            <a:ext cx="6913562" cy="2509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8" name="Picture 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58888" y="1844675"/>
            <a:ext cx="6480175" cy="173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实验注意事项</a:t>
            </a:r>
            <a:r>
              <a:rPr lang="en-US" altLang="zh-CN"/>
              <a:t>(Nslookup)</a:t>
            </a:r>
            <a:endParaRPr lang="zh-CN" alt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9700" name="Picture 4" descr="nslookup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1188" y="981075"/>
            <a:ext cx="7777162" cy="5630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实验注意事项</a:t>
            </a:r>
            <a:endParaRPr lang="en-US" altLang="zh-CN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ftp</a:t>
            </a:r>
            <a:r>
              <a:rPr lang="zh-CN" altLang="en-US"/>
              <a:t>命令需要连接一个</a:t>
            </a:r>
            <a:r>
              <a:rPr lang="en-US" altLang="zh-CN"/>
              <a:t>ftp</a:t>
            </a:r>
            <a:r>
              <a:rPr lang="zh-CN" altLang="en-US"/>
              <a:t>服务器</a:t>
            </a:r>
          </a:p>
          <a:p>
            <a:r>
              <a:rPr lang="zh-CN" altLang="en-US"/>
              <a:t>可以连接一个已知的</a:t>
            </a:r>
            <a:r>
              <a:rPr lang="en-US" altLang="zh-CN"/>
              <a:t>ftp</a:t>
            </a:r>
            <a:r>
              <a:rPr lang="zh-CN" altLang="en-US"/>
              <a:t>服务器或前面实验中自建的</a:t>
            </a:r>
            <a:r>
              <a:rPr lang="en-US" altLang="zh-CN"/>
              <a:t>ftp</a:t>
            </a:r>
            <a:r>
              <a:rPr lang="zh-CN" altLang="en-US"/>
              <a:t>服务器</a:t>
            </a:r>
            <a:endParaRPr lang="en-US" altLang="zh-CN"/>
          </a:p>
          <a:p>
            <a:r>
              <a:rPr lang="zh-CN" altLang="en-US"/>
              <a:t>连接方式：</a:t>
            </a:r>
          </a:p>
          <a:p>
            <a:pPr lvl="1"/>
            <a:r>
              <a:rPr lang="zh-CN" altLang="en-US"/>
              <a:t>输入命令</a:t>
            </a:r>
            <a:r>
              <a:rPr lang="en-US" altLang="zh-CN"/>
              <a:t>ftp </a:t>
            </a:r>
            <a:r>
              <a:rPr lang="zh-CN" altLang="en-US"/>
              <a:t>服务器域名</a:t>
            </a:r>
            <a:r>
              <a:rPr lang="en-US" altLang="zh-CN"/>
              <a:t>/IP</a:t>
            </a:r>
            <a:r>
              <a:rPr lang="zh-CN" altLang="en-US"/>
              <a:t>。 </a:t>
            </a:r>
          </a:p>
          <a:p>
            <a:pPr lvl="1">
              <a:buFont typeface="Wingdings" pitchFamily="2" charset="2"/>
              <a:buNone/>
            </a:pPr>
            <a:r>
              <a:rPr lang="zh-CN" altLang="en-US"/>
              <a:t>		例：</a:t>
            </a:r>
            <a:r>
              <a:rPr lang="en-US" altLang="zh-CN">
                <a:hlinkClick r:id="rId2" invalidUrl="ftp://ftp 192.168.1.1/"/>
              </a:rPr>
              <a:t>ftp 192.168.1.1</a:t>
            </a:r>
            <a:endParaRPr lang="en-US" altLang="zh-CN"/>
          </a:p>
          <a:p>
            <a:pPr lvl="1"/>
            <a:r>
              <a:rPr lang="zh-CN" altLang="en-US"/>
              <a:t>提示输入用户名时可输入</a:t>
            </a:r>
            <a:r>
              <a:rPr lang="en-US" altLang="zh-CN"/>
              <a:t>anonymous,</a:t>
            </a:r>
            <a:r>
              <a:rPr lang="zh-CN" altLang="en-US"/>
              <a:t>密码直接回车。 </a:t>
            </a:r>
          </a:p>
          <a:p>
            <a:pPr lvl="1">
              <a:buFont typeface="Wingdings" pitchFamily="2" charset="2"/>
              <a:buNone/>
            </a:pPr>
            <a:endParaRPr lang="en-US" altLang="zh-CN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/>
              <a:t>实验注意事项</a:t>
            </a:r>
            <a:endParaRPr lang="en-US" altLang="zh-CN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zh-CN" altLang="en-US"/>
              <a:t>相同的命令在不同的环境下命令运行结果会不一样</a:t>
            </a:r>
          </a:p>
          <a:p>
            <a:r>
              <a:rPr lang="zh-CN" altLang="en-US"/>
              <a:t>当你的计算机未与其它计算机建立连接时运行</a:t>
            </a:r>
            <a:r>
              <a:rPr lang="en-US" altLang="zh-CN"/>
              <a:t>Arp</a:t>
            </a:r>
            <a:r>
              <a:rPr lang="zh-CN" altLang="en-US"/>
              <a:t>、</a:t>
            </a:r>
            <a:r>
              <a:rPr lang="en-US" altLang="zh-CN"/>
              <a:t>netstat</a:t>
            </a:r>
            <a:r>
              <a:rPr lang="zh-CN" altLang="en-US"/>
              <a:t>等命令的结果内容可能为空</a:t>
            </a:r>
          </a:p>
          <a:p>
            <a:r>
              <a:rPr lang="zh-CN" altLang="en-US"/>
              <a:t>当用</a:t>
            </a:r>
            <a:r>
              <a:rPr lang="en-US" altLang="zh-CN"/>
              <a:t>ftp</a:t>
            </a:r>
            <a:r>
              <a:rPr lang="zh-CN" altLang="en-US"/>
              <a:t>、</a:t>
            </a:r>
            <a:r>
              <a:rPr lang="en-US" altLang="zh-CN"/>
              <a:t>tracert</a:t>
            </a:r>
            <a:r>
              <a:rPr lang="zh-CN" altLang="en-US"/>
              <a:t>、</a:t>
            </a:r>
            <a:r>
              <a:rPr lang="en-US" altLang="zh-CN"/>
              <a:t>nslookup</a:t>
            </a:r>
            <a:r>
              <a:rPr lang="zh-CN" altLang="en-US"/>
              <a:t>命令访问远程计算机时可能没有反馈结果</a:t>
            </a:r>
            <a:endParaRPr lang="en-US" altLang="zh-CN"/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0"/>
            <a:ext cx="8229600" cy="71913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0" dirty="0">
                <a:effectLst>
                  <a:outerShdw blurRad="38100" dist="38100" dir="2700000" algn="tl">
                    <a:srgbClr val="C0C0C0"/>
                  </a:outerShdw>
                </a:effectLst>
                <a:cs typeface="Times New Roman" pitchFamily="18" charset="0"/>
              </a:rPr>
              <a:t>本实验要求掌握内容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0063" y="1071563"/>
            <a:ext cx="8285162" cy="3868737"/>
          </a:xfrm>
        </p:spPr>
        <p:txBody>
          <a:bodyPr/>
          <a:lstStyle/>
          <a:p>
            <a:pPr eaLnBrk="1" hangingPunct="1"/>
            <a:r>
              <a:rPr lang="zh-CN" altLang="en-US"/>
              <a:t>掌握</a:t>
            </a:r>
            <a:r>
              <a:rPr lang="en-US" altLang="zh-CN"/>
              <a:t>TCP/IP</a:t>
            </a:r>
            <a:r>
              <a:rPr lang="zh-CN" altLang="en-US"/>
              <a:t>协议配置方法、其中各参数的作用及如何取值。</a:t>
            </a:r>
          </a:p>
          <a:p>
            <a:pPr eaLnBrk="1" hangingPunct="1"/>
            <a:r>
              <a:rPr lang="zh-CN" altLang="en-US"/>
              <a:t>掌握默认</a:t>
            </a:r>
            <a:r>
              <a:rPr lang="en-US" altLang="zh-CN"/>
              <a:t>WEB</a:t>
            </a:r>
            <a:r>
              <a:rPr lang="zh-CN" altLang="en-US"/>
              <a:t>、</a:t>
            </a:r>
            <a:r>
              <a:rPr lang="en-US" altLang="zh-CN"/>
              <a:t>FTP</a:t>
            </a:r>
            <a:r>
              <a:rPr lang="zh-CN" altLang="en-US"/>
              <a:t>服务器主要参数配置</a:t>
            </a:r>
            <a:endParaRPr lang="en-US" altLang="zh-CN"/>
          </a:p>
          <a:p>
            <a:pPr eaLnBrk="1" hangingPunct="1"/>
            <a:r>
              <a:rPr lang="zh-CN" altLang="en-US"/>
              <a:t>了解主要网络命令工作原理</a:t>
            </a:r>
            <a:endParaRPr lang="en-US" altLang="zh-CN"/>
          </a:p>
          <a:p>
            <a:pPr eaLnBrk="1" hangingPunct="1"/>
            <a:r>
              <a:rPr lang="zh-CN" altLang="en-US"/>
              <a:t>掌握常用网络命令及其主要参数的功能、用法</a:t>
            </a:r>
            <a:endParaRPr lang="zh-CN" altLang="en-US" sz="3600"/>
          </a:p>
          <a:p>
            <a:pPr eaLnBrk="1" hangingPunct="1"/>
            <a:r>
              <a:rPr lang="zh-CN" altLang="en-US"/>
              <a:t>能够对网络命令运行结果做简单分析。</a:t>
            </a:r>
            <a:endParaRPr lang="en-US" altLang="zh-CN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dirty="0"/>
              <a:t>网络协议分析实验预习</a:t>
            </a:r>
            <a:endParaRPr lang="en-US" altLang="zh-CN" dirty="0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zh-CN" altLang="en-US" dirty="0"/>
              <a:t>网络协议的作用和工作过程</a:t>
            </a:r>
            <a:endParaRPr lang="en-US" altLang="zh-CN" dirty="0"/>
          </a:p>
          <a:p>
            <a:r>
              <a:rPr lang="zh-CN" altLang="en-US"/>
              <a:t>协议数据格式</a:t>
            </a:r>
            <a:r>
              <a:rPr lang="zh-CN" altLang="en-US" dirty="0"/>
              <a:t>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黑体"/>
        <a:ea typeface="黑体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3914</TotalTime>
  <Words>2000</Words>
  <Application>Microsoft Office PowerPoint</Application>
  <PresentationFormat>On-screen Show (4:3)</PresentationFormat>
  <Paragraphs>236</Paragraphs>
  <Slides>33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黑体</vt:lpstr>
      <vt:lpstr>楷体_GB2312</vt:lpstr>
      <vt:lpstr>宋体</vt:lpstr>
      <vt:lpstr>Arial</vt:lpstr>
      <vt:lpstr>Arial Black</vt:lpstr>
      <vt:lpstr>Times New Roman</vt:lpstr>
      <vt:lpstr>Wingdings</vt:lpstr>
      <vt:lpstr>Pixel</vt:lpstr>
      <vt:lpstr> TCP/IP配置与网络命令应用实验</vt:lpstr>
      <vt:lpstr>实验内容</vt:lpstr>
      <vt:lpstr>实验目的</vt:lpstr>
      <vt:lpstr>实验设备（环境）</vt:lpstr>
      <vt:lpstr>TCP/IP协议配置</vt:lpstr>
      <vt:lpstr>TCP/IP协议配置实验步骤和要求</vt:lpstr>
      <vt:lpstr>IP和子网掩码</vt:lpstr>
      <vt:lpstr>IP和子网掩码</vt:lpstr>
      <vt:lpstr>IP和子网掩码</vt:lpstr>
      <vt:lpstr>IP和子网掩码</vt:lpstr>
      <vt:lpstr>网络服务器配置</vt:lpstr>
      <vt:lpstr>服务器配置</vt:lpstr>
      <vt:lpstr>配置web站点</vt:lpstr>
      <vt:lpstr>配置web站点</vt:lpstr>
      <vt:lpstr>配置web站点</vt:lpstr>
      <vt:lpstr>ftp站点配置</vt:lpstr>
      <vt:lpstr>ftp站点配置</vt:lpstr>
      <vt:lpstr>ftp站点配置</vt:lpstr>
      <vt:lpstr>ftp站点配置</vt:lpstr>
      <vt:lpstr>服务器测试</vt:lpstr>
      <vt:lpstr>服务器配置注意事项</vt:lpstr>
      <vt:lpstr>网络实用程序的作用</vt:lpstr>
      <vt:lpstr>网络实用命令</vt:lpstr>
      <vt:lpstr>实验步骤</vt:lpstr>
      <vt:lpstr>实验步骤（选择命令）</vt:lpstr>
      <vt:lpstr>实验步骤（记录结果）</vt:lpstr>
      <vt:lpstr>实验注意事项</vt:lpstr>
      <vt:lpstr>实验注意事项(Nslookup)</vt:lpstr>
      <vt:lpstr>实验注意事项(Nslookup)</vt:lpstr>
      <vt:lpstr>实验注意事项</vt:lpstr>
      <vt:lpstr>实验注意事项</vt:lpstr>
      <vt:lpstr>本实验要求掌握内容</vt:lpstr>
      <vt:lpstr>网络协议分析实验预习</vt:lpstr>
    </vt:vector>
  </TitlesOfParts>
  <Company>netlab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</dc:title>
  <dc:creator>贾真</dc:creator>
  <cp:lastModifiedBy>9320</cp:lastModifiedBy>
  <cp:revision>343</cp:revision>
  <dcterms:created xsi:type="dcterms:W3CDTF">2004-09-14T08:08:58Z</dcterms:created>
  <dcterms:modified xsi:type="dcterms:W3CDTF">2025-10-28T06:22:23Z</dcterms:modified>
</cp:coreProperties>
</file>