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4"/>
  </p:notesMasterIdLst>
  <p:handoutMasterIdLst>
    <p:handoutMasterId r:id="rId45"/>
  </p:handoutMasterIdLst>
  <p:sldIdLst>
    <p:sldId id="410" r:id="rId2"/>
    <p:sldId id="316" r:id="rId3"/>
    <p:sldId id="389" r:id="rId4"/>
    <p:sldId id="425" r:id="rId5"/>
    <p:sldId id="677" r:id="rId6"/>
    <p:sldId id="426" r:id="rId7"/>
    <p:sldId id="738" r:id="rId8"/>
    <p:sldId id="707" r:id="rId9"/>
    <p:sldId id="708" r:id="rId10"/>
    <p:sldId id="709" r:id="rId11"/>
    <p:sldId id="648" r:id="rId12"/>
    <p:sldId id="650" r:id="rId13"/>
    <p:sldId id="651" r:id="rId14"/>
    <p:sldId id="652" r:id="rId15"/>
    <p:sldId id="786" r:id="rId16"/>
    <p:sldId id="653" r:id="rId17"/>
    <p:sldId id="655" r:id="rId18"/>
    <p:sldId id="739" r:id="rId19"/>
    <p:sldId id="656" r:id="rId20"/>
    <p:sldId id="657" r:id="rId21"/>
    <p:sldId id="658" r:id="rId22"/>
    <p:sldId id="659" r:id="rId23"/>
    <p:sldId id="660" r:id="rId24"/>
    <p:sldId id="679" r:id="rId25"/>
    <p:sldId id="770" r:id="rId26"/>
    <p:sldId id="661" r:id="rId27"/>
    <p:sldId id="662" r:id="rId28"/>
    <p:sldId id="663" r:id="rId29"/>
    <p:sldId id="665" r:id="rId30"/>
    <p:sldId id="813" r:id="rId31"/>
    <p:sldId id="666" r:id="rId32"/>
    <p:sldId id="825" r:id="rId33"/>
    <p:sldId id="667" r:id="rId34"/>
    <p:sldId id="668" r:id="rId35"/>
    <p:sldId id="669" r:id="rId36"/>
    <p:sldId id="670" r:id="rId37"/>
    <p:sldId id="671" r:id="rId38"/>
    <p:sldId id="672" r:id="rId39"/>
    <p:sldId id="673" r:id="rId40"/>
    <p:sldId id="674" r:id="rId41"/>
    <p:sldId id="675" r:id="rId42"/>
    <p:sldId id="649" r:id="rId43"/>
  </p:sldIdLst>
  <p:sldSz cx="9144000" cy="6858000" type="screen4x3"/>
  <p:notesSz cx="6858000" cy="9144000"/>
  <p:custDataLst>
    <p:tags r:id="rId46"/>
  </p:custDataLst>
  <p:defaultTextStyle>
    <a:defPPr>
      <a:defRPr lang="zh-CN"/>
    </a:defPPr>
    <a:lvl1pPr marL="0" lvl="0"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宋体" panose="02010600030101010101" pitchFamily="2" charset="-122"/>
        <a:ea typeface="宋体" panose="02010600030101010101" pitchFamily="2" charset="-122"/>
        <a:cs typeface="+mn-cs"/>
      </a:defRPr>
    </a:lvl1pPr>
    <a:lvl2pPr marL="457200" lvl="1"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宋体" panose="02010600030101010101" pitchFamily="2" charset="-122"/>
        <a:ea typeface="宋体" panose="02010600030101010101" pitchFamily="2" charset="-122"/>
        <a:cs typeface="+mn-cs"/>
      </a:defRPr>
    </a:lvl2pPr>
    <a:lvl3pPr marL="914400" lvl="2"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宋体" panose="02010600030101010101" pitchFamily="2" charset="-122"/>
        <a:ea typeface="宋体" panose="02010600030101010101" pitchFamily="2" charset="-122"/>
        <a:cs typeface="+mn-cs"/>
      </a:defRPr>
    </a:lvl3pPr>
    <a:lvl4pPr marL="1371600" lvl="3"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宋体" panose="02010600030101010101" pitchFamily="2" charset="-122"/>
        <a:ea typeface="宋体" panose="02010600030101010101" pitchFamily="2" charset="-122"/>
        <a:cs typeface="+mn-cs"/>
      </a:defRPr>
    </a:lvl4pPr>
    <a:lvl5pPr marL="1828800" lvl="4"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宋体" panose="02010600030101010101" pitchFamily="2" charset="-122"/>
        <a:ea typeface="宋体" panose="02010600030101010101" pitchFamily="2" charset="-122"/>
        <a:cs typeface="+mn-cs"/>
      </a:defRPr>
    </a:lvl5pPr>
    <a:lvl6pPr marL="2286000" lvl="5"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宋体" panose="02010600030101010101" pitchFamily="2" charset="-122"/>
        <a:ea typeface="宋体" panose="02010600030101010101" pitchFamily="2" charset="-122"/>
        <a:cs typeface="+mn-cs"/>
      </a:defRPr>
    </a:lvl6pPr>
    <a:lvl7pPr marL="2743200" lvl="6"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宋体" panose="02010600030101010101" pitchFamily="2" charset="-122"/>
        <a:ea typeface="宋体" panose="02010600030101010101" pitchFamily="2" charset="-122"/>
        <a:cs typeface="+mn-cs"/>
      </a:defRPr>
    </a:lvl7pPr>
    <a:lvl8pPr marL="3200400" lvl="7"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宋体" panose="02010600030101010101" pitchFamily="2" charset="-122"/>
        <a:ea typeface="宋体" panose="02010600030101010101" pitchFamily="2" charset="-122"/>
        <a:cs typeface="+mn-cs"/>
      </a:defRPr>
    </a:lvl8pPr>
    <a:lvl9pPr marL="3657600" lvl="8" indent="0" algn="l" defTabSz="914400" rtl="0" eaLnBrk="1" fontAlgn="base" latinLnBrk="0" hangingPunct="1">
      <a:lnSpc>
        <a:spcPct val="90000"/>
      </a:lnSpc>
      <a:spcBef>
        <a:spcPct val="20000"/>
      </a:spcBef>
      <a:spcAft>
        <a:spcPct val="0"/>
      </a:spcAft>
      <a:buFont typeface="Arial" panose="020B0604020202020204" pitchFamily="34" charset="0"/>
      <a:buNone/>
      <a:defRPr sz="2400" b="1" i="0" u="none" kern="1200" baseline="0">
        <a:solidFill>
          <a:schemeClr val="tx1"/>
        </a:solidFill>
        <a:latin typeface="宋体" panose="02010600030101010101" pitchFamily="2" charset="-122"/>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57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66FF"/>
    <a:srgbClr val="FFFF66"/>
    <a:srgbClr val="003399"/>
    <a:srgbClr val="2314EC"/>
    <a:srgbClr val="3258FC"/>
    <a:srgbClr val="544CFA"/>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8" d="100"/>
          <a:sy n="108" d="100"/>
        </p:scale>
        <p:origin x="1704" y="102"/>
      </p:cViewPr>
      <p:guideLst>
        <p:guide orient="horz" pos="2160"/>
        <p:guide pos="576"/>
      </p:guideLst>
    </p:cSldViewPr>
  </p:slideViewPr>
  <p:notesTextViewPr>
    <p:cViewPr>
      <p:scale>
        <a:sx n="100" d="100"/>
        <a:sy n="100" d="100"/>
      </p:scale>
      <p:origin x="0" y="0"/>
    </p:cViewPr>
  </p:notesTextViewPr>
  <p:sorterViewPr showFormatting="0">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1.png"/></Relationships>
</file>

<file path=ppt/drawings/_rels/vmlDrawing4.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wmf"/><Relationship Id="rId1" Type="http://schemas.openxmlformats.org/officeDocument/2006/relationships/image" Target="../media/image4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宋体" panose="02010600030101010101" pitchFamily="2" charset="-122"/>
                <a:ea typeface="宋体" panose="02010600030101010101" pitchFamily="2" charset="-122"/>
                <a:cs typeface="+mn-ea"/>
              </a:rPr>
              <a:t>2025/9/10</a:t>
            </a:fld>
            <a:endParaRPr lang="zh-CN" altLang="en-US" strike="noStrike" noProof="1">
              <a:latin typeface="宋体" panose="02010600030101010101" pitchFamily="2" charset="-122"/>
              <a:ea typeface="宋体" panose="02010600030101010101" pitchFamily="2" charset="-122"/>
              <a:cs typeface="+mn-ea"/>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宋体" panose="02010600030101010101" pitchFamily="2" charset="-122"/>
                <a:ea typeface="宋体" panose="02010600030101010101" pitchFamily="2" charset="-122"/>
                <a:cs typeface="+mn-ea"/>
              </a:rPr>
              <a:t>‹#›</a:t>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latinLnBrk="1">
              <a:spcBef>
                <a:spcPct val="0"/>
              </a:spcBef>
              <a:buFont typeface="Arial" panose="020B0604020202020204" pitchFamily="34" charset="0"/>
              <a:buNone/>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5" name="Rectangle 3"/>
          <p:cNvSpPr>
            <a:spLocks noGrp="1" noChangeArrowheads="1"/>
          </p:cNvSpPr>
          <p:nvPr>
            <p:ph type="dt" idx="1"/>
          </p:nvPr>
        </p:nvSpPr>
        <p:spPr bwMode="auto">
          <a:xfrm>
            <a:off x="3886200" y="0"/>
            <a:ext cx="2971800" cy="457200"/>
          </a:xfrm>
          <a:prstGeom prst="rect">
            <a:avLst/>
          </a:prstGeom>
          <a:noFill/>
          <a:ln w="9525">
            <a:noFill/>
            <a:miter lim="800000"/>
          </a:ln>
        </p:spPr>
        <p:txBody>
          <a:bodyPr vert="horz" wrap="square" lIns="91440" tIns="45720" rIns="91440" bIns="45720" numCol="1" anchor="t" anchorCtr="0" compatLnSpc="1"/>
          <a:lstStyle>
            <a:lvl1pPr algn="r" latinLnBrk="1">
              <a:spcBef>
                <a:spcPct val="0"/>
              </a:spcBef>
              <a:buFont typeface="Arial" panose="020B0604020202020204" pitchFamily="34" charset="0"/>
              <a:buNone/>
              <a:defRPr sz="1200" b="0">
                <a:latin typeface="Times New Roman" panose="02020603050405020304" pitchFamily="18" charset="0"/>
              </a:defRPr>
            </a:lvl1pPr>
          </a:lstStyle>
          <a:p>
            <a:pPr marL="0" marR="0" lvl="0" indent="0" algn="r" defTabSz="914400" rtl="0" eaLnBrk="1" fontAlgn="base" latinLnBrk="1" hangingPunct="1">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6" name="Rectangle 4"/>
          <p:cNvSpPr>
            <a:spLocks noGrp="1" noRot="1" noChangeAspect="1"/>
          </p:cNvSpPr>
          <p:nvPr>
            <p:ph type="sldImg"/>
          </p:nvPr>
        </p:nvSpPr>
        <p:spPr>
          <a:xfrm>
            <a:off x="1143000" y="685800"/>
            <a:ext cx="4572000" cy="3429000"/>
          </a:xfrm>
          <a:prstGeom prst="rect">
            <a:avLst/>
          </a:prstGeom>
          <a:noFill/>
          <a:ln w="9525">
            <a:noFill/>
          </a:ln>
        </p:spPr>
      </p:sp>
      <p:sp>
        <p:nvSpPr>
          <p:cNvPr id="3077" name="Rectangle 5"/>
          <p:cNvSpPr>
            <a:spLocks noGrp="1" noChangeArrowheads="1"/>
          </p:cNvSpPr>
          <p:nvPr>
            <p:ph type="body" sz="quarter" idx="3"/>
          </p:nvPr>
        </p:nvSpPr>
        <p:spPr bwMode="auto">
          <a:xfrm>
            <a:off x="914400" y="4343400"/>
            <a:ext cx="5029200" cy="4114800"/>
          </a:xfrm>
          <a:prstGeom prst="rect">
            <a:avLst/>
          </a:prstGeom>
          <a:noFill/>
          <a:ln w="9525">
            <a:noFill/>
            <a:miter lim="800000"/>
          </a:ln>
        </p:spPr>
        <p:txBody>
          <a:bodyPr vert="horz" wrap="square" lIns="91440" tIns="45720" rIns="91440" bIns="45720" numCol="1" anchor="ctr" anchorCtr="0" compatLnSpc="1"/>
          <a:lstStyle/>
          <a:p>
            <a:pPr marL="0" marR="0" lvl="0"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p>
          <a:p>
            <a:pPr marL="457200" marR="0" lvl="1"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p>
          <a:p>
            <a:pPr marL="914400" marR="0" lvl="2"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p>
          <a:p>
            <a:pPr marL="1371600" marR="0" lvl="3"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p>
          <a:p>
            <a:pPr marL="1828800" marR="0" lvl="4" indent="0" algn="l" defTabSz="914400" rtl="0" eaLnBrk="0" fontAlgn="base" latinLnBrk="0" hangingPunct="0">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w="9525">
            <a:noFill/>
            <a:miter lim="800000"/>
          </a:ln>
        </p:spPr>
        <p:txBody>
          <a:bodyPr vert="horz" wrap="square" lIns="91440" tIns="45720" rIns="91440" bIns="45720" numCol="1" anchor="b" anchorCtr="0" compatLnSpc="1"/>
          <a:lstStyle>
            <a:lvl1pPr latinLnBrk="1">
              <a:spcBef>
                <a:spcPct val="0"/>
              </a:spcBef>
              <a:buFont typeface="Arial" panose="020B0604020202020204" pitchFamily="34" charset="0"/>
              <a:buNone/>
              <a:defRPr sz="1200" b="0">
                <a:latin typeface="Times New Roman" panose="02020603050405020304" pitchFamily="18" charset="0"/>
              </a:defRPr>
            </a:lvl1pPr>
          </a:lstStyle>
          <a:p>
            <a:pPr marL="0" marR="0" lvl="0" indent="0" algn="l" defTabSz="914400" rtl="0" eaLnBrk="1" fontAlgn="base" latinLnBrk="1" hangingPunct="1">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p:spPr>
        <p:txBody>
          <a:bodyPr vert="horz" wrap="square" lIns="91440" tIns="45720" rIns="91440" bIns="45720" numCol="1" anchor="b" anchorCtr="0" compatLnSpc="1"/>
          <a:lstStyle/>
          <a:p>
            <a:pPr lvl="0" algn="r" eaLnBrk="1" fontAlgn="base" latinLnBrk="1" hangingPunct="1">
              <a:spcBef>
                <a:spcPct val="0"/>
              </a:spcBef>
            </a:pPr>
            <a:fld id="{9A0DB2DC-4C9A-4742-B13C-FB6460FD3503}" type="slidenum">
              <a:rPr lang="en-US" altLang="zh-CN" sz="1200" b="0" strike="noStrike" noProof="1" dirty="0">
                <a:latin typeface="Times New Roman" panose="02020603050405020304" pitchFamily="18" charset="0"/>
                <a:ea typeface="宋体" panose="02010600030101010101" pitchFamily="2" charset="-122"/>
                <a:cs typeface="+mn-ea"/>
              </a:rPr>
              <a:t>‹#›</a:t>
            </a:fld>
            <a:endParaRPr lang="en-US" altLang="zh-CN" sz="1200" b="0" strike="noStrike" noProof="1">
              <a:latin typeface="Times New Roman" panose="02020603050405020304" pitchFamily="18"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p:cNvSpPr>
          <p:nvPr>
            <p:ph type="sldImg"/>
          </p:nvPr>
        </p:nvSpPr>
        <p:spPr>
          <a:ln/>
        </p:spPr>
      </p:sp>
      <p:sp>
        <p:nvSpPr>
          <p:cNvPr id="36866" name="文本占位符 2"/>
          <p:cNvSpPr>
            <a:spLocks noGrp="1"/>
          </p:cNvSpPr>
          <p:nvPr>
            <p:ph type="body"/>
          </p:nvPr>
        </p:nvSpPr>
        <p:spPr>
          <a:ln/>
        </p:spPr>
        <p:txBody>
          <a:bodyPr wrap="square" lIns="91440" tIns="45720" rIns="91440" bIns="45720" anchor="ctr" anchorCtr="0"/>
          <a:lstStyle/>
          <a:p>
            <a:pPr lvl="0"/>
            <a:r>
              <a:rPr lang="zh-CN" altLang="en-US"/>
              <a:t>《易·系辞上》：“易有太极，是生两仪，两仪生四象，四象生八卦。”</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lstStyle/>
          <a:p>
            <a:pPr lvl="0" algn="r" latinLnBrk="1">
              <a:spcBef>
                <a:spcPct val="0"/>
              </a:spcBef>
            </a:pPr>
            <a:fld id="{9A0DB2DC-4C9A-4742-B13C-FB6460FD3503}" type="slidenum">
              <a:rPr lang="en-US" altLang="zh-CN" sz="1200" b="0" dirty="0">
                <a:latin typeface="Times New Roman" panose="02020603050405020304" pitchFamily="18" charset="0"/>
              </a:rPr>
              <a:t>42</a:t>
            </a:fld>
            <a:endParaRPr lang="en-US" altLang="zh-CN" sz="1200" b="0" dirty="0">
              <a:latin typeface="Times New Roman" panose="02020603050405020304" pitchFamily="18" charset="0"/>
            </a:endParaRPr>
          </a:p>
        </p:txBody>
      </p:sp>
      <p:sp>
        <p:nvSpPr>
          <p:cNvPr id="48130" name="Rectangle 2"/>
          <p:cNvSpPr>
            <a:spLocks noGrp="1" noRot="1" noChangeAspect="1" noTextEdit="1"/>
          </p:cNvSpPr>
          <p:nvPr>
            <p:ph type="sldImg"/>
          </p:nvPr>
        </p:nvSpPr>
        <p:spPr>
          <a:ln/>
        </p:spPr>
      </p:sp>
      <p:sp>
        <p:nvSpPr>
          <p:cNvPr id="48131" name="Rectangle 3"/>
          <p:cNvSpPr>
            <a:spLocks noGrp="1"/>
          </p:cNvSpPr>
          <p:nvPr>
            <p:ph type="body"/>
          </p:nvPr>
        </p:nvSpPr>
        <p:spPr>
          <a:ln/>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577850"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752975" y="1387475"/>
            <a:ext cx="4022725" cy="48148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2075" tIns="46038" rIns="92075" bIns="46038"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spcBef>
                <a:spcPct val="20000"/>
              </a:spcBef>
              <a:spcAft>
                <a:spcPct val="0"/>
              </a:spcAft>
              <a:buClr>
                <a:schemeClr val="accent2"/>
              </a:buClr>
              <a:buSzPct val="70000"/>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86550" y="228600"/>
            <a:ext cx="2089150" cy="597376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417513" y="228600"/>
            <a:ext cx="6116637" cy="597376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Ovr>
    <a:masterClrMapping/>
  </p:clrMapOvr>
  <p:transition spd="med">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solidDmnd">
          <a:fgClr>
            <a:schemeClr val="bg1">
              <a:lumMod val="75000"/>
            </a:schemeClr>
          </a:fgClr>
          <a:bgClr>
            <a:schemeClr val="bg1">
              <a:lumMod val="75000"/>
            </a:schemeClr>
          </a:bgClr>
        </a:patt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381000" y="0"/>
            <a:ext cx="1447800" cy="6856413"/>
          </a:xfrm>
          <a:prstGeom prst="rect">
            <a:avLst/>
          </a:prstGeom>
          <a:gradFill rotWithShape="0">
            <a:gsLst>
              <a:gs pos="0">
                <a:schemeClr val="bg1">
                  <a:alpha val="50000"/>
                </a:schemeClr>
              </a:gs>
              <a:gs pos="100000">
                <a:srgbClr val="003F7E"/>
              </a:gs>
            </a:gsLst>
            <a:lin ang="5400000" scaled="1"/>
          </a:gradFill>
          <a:ln w="9525">
            <a:noFill/>
            <a:miter lim="800000"/>
          </a:ln>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7" name="Rectangle 3"/>
          <p:cNvSpPr>
            <a:spLocks noChangeArrowheads="1"/>
          </p:cNvSpPr>
          <p:nvPr/>
        </p:nvSpPr>
        <p:spPr bwMode="auto">
          <a:xfrm>
            <a:off x="0" y="1219200"/>
            <a:ext cx="4724400" cy="152400"/>
          </a:xfrm>
          <a:prstGeom prst="rect">
            <a:avLst/>
          </a:prstGeom>
          <a:solidFill>
            <a:schemeClr val="accent1">
              <a:alpha val="50000"/>
            </a:schemeClr>
          </a:solidFill>
          <a:ln w="9525">
            <a:noFill/>
            <a:miter lim="800000"/>
          </a:ln>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8" name="Rectangle 5"/>
          <p:cNvSpPr>
            <a:spLocks noChangeArrowheads="1"/>
          </p:cNvSpPr>
          <p:nvPr/>
        </p:nvSpPr>
        <p:spPr bwMode="auto">
          <a:xfrm>
            <a:off x="763588" y="457200"/>
            <a:ext cx="8380413" cy="762000"/>
          </a:xfrm>
          <a:prstGeom prst="rect">
            <a:avLst/>
          </a:prstGeom>
          <a:gradFill rotWithShape="0">
            <a:gsLst>
              <a:gs pos="0">
                <a:schemeClr val="bg1"/>
              </a:gs>
              <a:gs pos="100000">
                <a:srgbClr val="00101F"/>
              </a:gs>
            </a:gsLst>
            <a:lin ang="0" scaled="1"/>
          </a:gradFill>
          <a:ln w="9525">
            <a:noFill/>
            <a:miter lim="800000"/>
          </a:ln>
        </p:spPr>
        <p:txBody>
          <a:body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6"/>
          <p:cNvSpPr>
            <a:spLocks noGrp="1"/>
          </p:cNvSpPr>
          <p:nvPr>
            <p:ph type="title"/>
          </p:nvPr>
        </p:nvSpPr>
        <p:spPr>
          <a:xfrm>
            <a:off x="417513" y="228600"/>
            <a:ext cx="8331200" cy="1143000"/>
          </a:xfrm>
          <a:prstGeom prst="rect">
            <a:avLst/>
          </a:prstGeom>
          <a:noFill/>
          <a:ln w="9525">
            <a:noFill/>
          </a:ln>
        </p:spPr>
        <p:txBody>
          <a:bodyPr lIns="92075" tIns="46038" rIns="92075" bIns="46038" anchor="ctr" anchorCtr="0"/>
          <a:lstStyle/>
          <a:p>
            <a:pPr lvl="0"/>
            <a:r>
              <a:rPr lang="zh-CN" altLang="en-US" dirty="0"/>
              <a:t>单击此处编辑母版标题样式</a:t>
            </a:r>
          </a:p>
        </p:txBody>
      </p:sp>
      <p:sp>
        <p:nvSpPr>
          <p:cNvPr id="1030" name="Rectangle 7"/>
          <p:cNvSpPr>
            <a:spLocks noGrp="1"/>
          </p:cNvSpPr>
          <p:nvPr>
            <p:ph type="body"/>
          </p:nvPr>
        </p:nvSpPr>
        <p:spPr>
          <a:xfrm>
            <a:off x="577850" y="1387475"/>
            <a:ext cx="8197850" cy="4814888"/>
          </a:xfrm>
          <a:prstGeom prst="rect">
            <a:avLst/>
          </a:prstGeom>
          <a:noFill/>
          <a:ln w="9525">
            <a:noFill/>
          </a:ln>
        </p:spPr>
        <p:txBody>
          <a:bodyPr lIns="92075" tIns="46038" rIns="92075" bIns="46038" anchor="t" anchorCtr="0"/>
          <a:lstStyle/>
          <a:p>
            <a:pPr lvl="0"/>
            <a:r>
              <a:rPr lang="zh-CN" altLang="en-US" dirty="0"/>
              <a:t>单击此处编辑母版文本样式</a:t>
            </a:r>
          </a:p>
          <a:p>
            <a:pPr lvl="1"/>
            <a:r>
              <a:rPr lang="zh-CN" altLang="en-US" dirty="0"/>
              <a:t>第二层</a:t>
            </a:r>
          </a:p>
          <a:p>
            <a:pPr lvl="2"/>
            <a:r>
              <a:rPr lang="zh-CN" altLang="en-US" dirty="0"/>
              <a:t>第三层</a:t>
            </a:r>
          </a:p>
          <a:p>
            <a:pPr lvl="3"/>
            <a:r>
              <a:rPr lang="zh-CN" altLang="en-US" dirty="0"/>
              <a:t>第四层</a:t>
            </a:r>
          </a:p>
          <a:p>
            <a:pPr lvl="4"/>
            <a:r>
              <a:rPr lang="zh-CN" altLang="en-US" dirty="0"/>
              <a:t>第五层</a:t>
            </a:r>
          </a:p>
        </p:txBody>
      </p:sp>
      <p:sp>
        <p:nvSpPr>
          <p:cNvPr id="1031" name="Rectangle 8"/>
          <p:cNvSpPr>
            <a:spLocks noGrp="1" noChangeArrowheads="1"/>
          </p:cNvSpPr>
          <p:nvPr>
            <p:ph type="dt" sz="half" idx="2"/>
          </p:nvPr>
        </p:nvSpPr>
        <p:spPr bwMode="auto">
          <a:xfrm>
            <a:off x="685800" y="6172200"/>
            <a:ext cx="1905000" cy="457200"/>
          </a:xfrm>
          <a:prstGeom prst="rect">
            <a:avLst/>
          </a:prstGeom>
          <a:noFill/>
          <a:ln w="9525">
            <a:noFill/>
            <a:miter lim="800000"/>
          </a:ln>
        </p:spPr>
        <p:txBody>
          <a:bodyPr vert="horz" wrap="square" lIns="92075" tIns="46038" rIns="92075" bIns="46038" numCol="1" anchor="ctr" anchorCtr="0" compatLnSpc="1"/>
          <a:lstStyle>
            <a:lvl1pPr>
              <a:spcBef>
                <a:spcPct val="0"/>
              </a:spcBef>
              <a:buFont typeface="Arial" panose="020B0604020202020204" pitchFamily="34" charset="0"/>
              <a:buNone/>
              <a:defRPr sz="1400" b="0">
                <a:latin typeface="+mn-lt"/>
              </a:defRPr>
            </a:lvl1pPr>
          </a:lstStyle>
          <a:p>
            <a:pPr marL="0" marR="0" lvl="0" indent="0" algn="l"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2" name="Rectangle 9"/>
          <p:cNvSpPr>
            <a:spLocks noGrp="1" noChangeArrowheads="1"/>
          </p:cNvSpPr>
          <p:nvPr>
            <p:ph type="ftr" sz="quarter" idx="3"/>
          </p:nvPr>
        </p:nvSpPr>
        <p:spPr bwMode="auto">
          <a:xfrm>
            <a:off x="3124200" y="6172200"/>
            <a:ext cx="2895600" cy="457200"/>
          </a:xfrm>
          <a:prstGeom prst="rect">
            <a:avLst/>
          </a:prstGeom>
          <a:noFill/>
          <a:ln w="9525">
            <a:noFill/>
            <a:miter lim="800000"/>
          </a:ln>
        </p:spPr>
        <p:txBody>
          <a:bodyPr vert="horz" wrap="square" lIns="92075" tIns="46038" rIns="92075" bIns="46038" numCol="1" anchor="ctr" anchorCtr="0" compatLnSpc="1"/>
          <a:lstStyle>
            <a:lvl1pPr algn="ctr">
              <a:spcBef>
                <a:spcPct val="0"/>
              </a:spcBef>
              <a:buFont typeface="Arial" panose="020B0604020202020204" pitchFamily="34" charset="0"/>
              <a:buNone/>
              <a:defRPr sz="1400" b="0">
                <a:latin typeface="+mn-lt"/>
              </a:defRPr>
            </a:lvl1pPr>
          </a:lstStyle>
          <a:p>
            <a:pPr marL="0" marR="0" lvl="0" indent="0" algn="ctr" defTabSz="914400" rtl="0" eaLnBrk="1" fontAlgn="base" latinLnBrk="0" hangingPunct="1">
              <a:spcBef>
                <a:spcPct val="0"/>
              </a:spcBef>
              <a:spcAft>
                <a:spcPct val="0"/>
              </a:spcAft>
              <a:buClrTx/>
              <a:buSzTx/>
              <a:buFont typeface="Arial" panose="020B0604020202020204" pitchFamily="34" charset="0"/>
              <a:buNone/>
              <a:defRPr/>
            </a:pPr>
            <a:endParaRPr kumimoji="0" lang="en-US" sz="1400" b="0" i="0" u="none" strike="noStrike" kern="1200" cap="none" spc="0" normalizeH="0" baseline="0" noProof="0">
              <a:ln>
                <a:noFill/>
              </a:ln>
              <a:solidFill>
                <a:schemeClr val="tx1"/>
              </a:solidFill>
              <a:effectLst/>
              <a:uLnTx/>
              <a:uFillTx/>
              <a:latin typeface="+mn-lt"/>
              <a:ea typeface="宋体" panose="02010600030101010101" pitchFamily="2" charset="-122"/>
              <a:cs typeface="+mn-cs"/>
            </a:endParaRPr>
          </a:p>
        </p:txBody>
      </p:sp>
      <p:sp>
        <p:nvSpPr>
          <p:cNvPr id="1033" name="Rectangle 10"/>
          <p:cNvSpPr>
            <a:spLocks noGrp="1" noChangeArrowheads="1"/>
          </p:cNvSpPr>
          <p:nvPr>
            <p:ph type="sldNum" sz="quarter" idx="4"/>
          </p:nvPr>
        </p:nvSpPr>
        <p:spPr bwMode="auto">
          <a:xfrm>
            <a:off x="6553200" y="6172200"/>
            <a:ext cx="1905000" cy="457200"/>
          </a:xfrm>
          <a:prstGeom prst="rect">
            <a:avLst/>
          </a:prstGeom>
          <a:noFill/>
          <a:ln w="9525">
            <a:noFill/>
            <a:miter lim="800000"/>
          </a:ln>
        </p:spPr>
        <p:txBody>
          <a:bodyPr vert="horz" wrap="none" lIns="92075" tIns="46038" rIns="92075" bIns="46038" numCol="1" anchor="ctr" anchorCtr="0" compatLnSpc="1"/>
          <a:lstStyle/>
          <a:p>
            <a:pPr lvl="0" algn="r" eaLnBrk="1" fontAlgn="base" hangingPunct="1">
              <a:spcBef>
                <a:spcPct val="0"/>
              </a:spcBef>
            </a:pPr>
            <a:fld id="{9A0DB2DC-4C9A-4742-B13C-FB6460FD3503}" type="slidenum">
              <a:rPr lang="en-US" altLang="zh-CN" sz="1400" b="0" strike="noStrike" noProof="1" dirty="0">
                <a:latin typeface="Times New Roman" panose="02020603050405020304" pitchFamily="18" charset="0"/>
                <a:ea typeface="宋体" panose="02010600030101010101" pitchFamily="2" charset="-122"/>
                <a:cs typeface="+mn-ea"/>
              </a:rPr>
              <a:t>‹#›</a:t>
            </a:fld>
            <a:endParaRPr lang="en-US" altLang="zh-CN" sz="1400" b="0" strike="noStrike" noProof="1">
              <a:latin typeface="Times New Roman" panose="02020603050405020304" pitchFamily="18" charset="0"/>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p:random/>
  </p:transition>
  <p:hf sldNum="0" hdr="0" ftr="0" dt="0"/>
  <p:txStyles>
    <p:titleStyle>
      <a:lvl1pPr algn="l" rtl="0" eaLnBrk="0" fontAlgn="base" hangingPunct="0">
        <a:spcBef>
          <a:spcPct val="0"/>
        </a:spcBef>
        <a:spcAft>
          <a:spcPct val="0"/>
        </a:spcAft>
        <a:defRPr sz="3200" b="1">
          <a:solidFill>
            <a:srgbClr val="E8E8E8"/>
          </a:solidFill>
          <a:latin typeface="+mj-lt"/>
          <a:ea typeface="+mj-ea"/>
          <a:cs typeface="+mj-cs"/>
        </a:defRPr>
      </a:lvl1pPr>
      <a:lvl2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5pPr>
      <a:lvl6pPr marL="4572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6pPr>
      <a:lvl7pPr marL="9144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7pPr>
      <a:lvl8pPr marL="13716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8pPr>
      <a:lvl9pPr marL="1828800" algn="l" rtl="0" eaLnBrk="0" fontAlgn="base" hangingPunct="0">
        <a:spcBef>
          <a:spcPct val="0"/>
        </a:spcBef>
        <a:spcAft>
          <a:spcPct val="0"/>
        </a:spcAft>
        <a:defRPr sz="3200" b="1">
          <a:solidFill>
            <a:srgbClr val="E8E8E8"/>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70000"/>
        <a:buFont typeface="Wingdings" panose="05000000000000000000" pitchFamily="2" charset="2"/>
        <a:buChar char="u"/>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Ø"/>
        <a:defRPr sz="2400" b="1">
          <a:solidFill>
            <a:schemeClr val="tx1"/>
          </a:solidFill>
          <a:latin typeface="+mn-lt"/>
          <a:ea typeface="+mn-ea"/>
        </a:defRPr>
      </a:lvl2pPr>
      <a:lvl3pPr marL="1143000" indent="-228600" algn="l" rtl="0" eaLnBrk="0" fontAlgn="base" hangingPunct="0">
        <a:spcBef>
          <a:spcPct val="20000"/>
        </a:spcBef>
        <a:spcAft>
          <a:spcPct val="0"/>
        </a:spcAft>
        <a:buClr>
          <a:schemeClr val="accent2"/>
        </a:buClr>
        <a:buSzPct val="70000"/>
        <a:buFont typeface="Wingdings" panose="05000000000000000000" pitchFamily="2" charset="2"/>
        <a:buChar char="v"/>
        <a:defRPr sz="2000" b="1">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mn-lt"/>
          <a:ea typeface="+mn-ea"/>
        </a:defRPr>
      </a:lvl4pPr>
      <a:lvl5pPr marL="20574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5pPr>
      <a:lvl6pPr marL="25146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6pPr>
      <a:lvl7pPr marL="29718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7pPr>
      <a:lvl8pPr marL="34290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8pPr>
      <a:lvl9pPr marL="3886200" indent="-228600" algn="l" rtl="0" eaLnBrk="0" fontAlgn="base" hangingPunct="0">
        <a:spcBef>
          <a:spcPct val="20000"/>
        </a:spcBef>
        <a:spcAft>
          <a:spcPct val="0"/>
        </a:spcAft>
        <a:buClr>
          <a:schemeClr val="accent2"/>
        </a:buClr>
        <a:buFont typeface="Wingdings" panose="05000000000000000000"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15.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32.png"/><Relationship Id="rId7" Type="http://schemas.openxmlformats.org/officeDocument/2006/relationships/image" Target="../media/image31.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C:/Users/wtl/Desktop/http:/homepage3.nifty.com/ZAN10566/image/bios_rom.jpg" TargetMode="External"/><Relationship Id="rId4" Type="http://schemas.openxmlformats.org/officeDocument/2006/relationships/image" Target="../media/image33.jpeg"/><Relationship Id="rId9" Type="http://schemas.openxmlformats.org/officeDocument/2006/relationships/image" Target="../media/image3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40.wmf"/><Relationship Id="rId5" Type="http://schemas.openxmlformats.org/officeDocument/2006/relationships/oleObject" Target="../embeddings/oleObject5.bin"/><Relationship Id="rId4" Type="http://schemas.openxmlformats.org/officeDocument/2006/relationships/image" Target="../media/image39.wmf"/><Relationship Id="rId9"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image" Target="../media/image43.wmf"/></Relationships>
</file>

<file path=ppt/slides/_rels/slide40.xml.rels><?xml version="1.0" encoding="UTF-8" standalone="yes"?>
<Relationships xmlns="http://schemas.openxmlformats.org/package/2006/relationships"><Relationship Id="rId8" Type="http://schemas.openxmlformats.org/officeDocument/2006/relationships/image" Target="../media/image46.e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45.wmf"/><Relationship Id="rId5" Type="http://schemas.openxmlformats.org/officeDocument/2006/relationships/oleObject" Target="../embeddings/oleObject9.bin"/><Relationship Id="rId4" Type="http://schemas.openxmlformats.org/officeDocument/2006/relationships/image" Target="../media/image44.e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1035"/>
          <p:cNvSpPr>
            <a:spLocks noGrp="1" noChangeArrowheads="1"/>
          </p:cNvSpPr>
          <p:nvPr/>
        </p:nvSpPr>
        <p:spPr bwMode="auto">
          <a:xfrm>
            <a:off x="685800" y="1549400"/>
            <a:ext cx="7772400" cy="1285875"/>
          </a:xfrm>
          <a:prstGeom prst="rect">
            <a:avLst/>
          </a:prstGeom>
          <a:noFill/>
          <a:ln w="9525">
            <a:noFill/>
            <a:miter lim="800000"/>
          </a:ln>
        </p:spPr>
        <p:txBody>
          <a:bodyPr lIns="92075" tIns="46038" rIns="92075" bIns="46038" anchor="ctr"/>
          <a:lstStyle/>
          <a:p>
            <a:pPr marL="0" marR="0" lvl="0" indent="0" algn="ctr" defTabSz="914400" rtl="0" eaLnBrk="0" fontAlgn="base" latinLnBrk="0" hangingPunct="0">
              <a:spcBef>
                <a:spcPct val="0"/>
              </a:spcBef>
              <a:spcAft>
                <a:spcPct val="0"/>
              </a:spcAft>
              <a:buClrTx/>
              <a:buSzTx/>
              <a:buFont typeface="Arial" panose="020B0604020202020204" pitchFamily="34" charset="0"/>
              <a:buNone/>
              <a:defRPr/>
            </a:pPr>
            <a:r>
              <a:rPr kumimoji="0" lang="zh-CN" altLang="en-US" sz="6600" b="0" i="0" u="none" strike="noStrike" kern="1200" cap="none" spc="0" normalizeH="0" baseline="0" noProof="0" dirty="0">
                <a:ln>
                  <a:noFill/>
                </a:ln>
                <a:solidFill>
                  <a:srgbClr val="FF0000"/>
                </a:solidFill>
                <a:effectLst>
                  <a:outerShdw blurRad="38100" dist="38100" dir="2700000" algn="tl">
                    <a:srgbClr val="FFFFFF"/>
                  </a:outerShdw>
                </a:effectLst>
                <a:uLnTx/>
                <a:uFillTx/>
                <a:latin typeface="隶书" panose="02010509060101010101" pitchFamily="49" charset="-122"/>
                <a:ea typeface="隶书" panose="02010509060101010101" pitchFamily="49" charset="-122"/>
                <a:cs typeface="+mn-cs"/>
              </a:rPr>
              <a:t>微机原理及接口</a:t>
            </a:r>
          </a:p>
        </p:txBody>
      </p:sp>
      <p:sp>
        <p:nvSpPr>
          <p:cNvPr id="2" name="TextBox 1">
            <a:extLst>
              <a:ext uri="{FF2B5EF4-FFF2-40B4-BE49-F238E27FC236}">
                <a16:creationId xmlns:a16="http://schemas.microsoft.com/office/drawing/2014/main" id="{25F24AC8-320E-4564-B6DE-42E741C0A457}"/>
              </a:ext>
            </a:extLst>
          </p:cNvPr>
          <p:cNvSpPr txBox="1"/>
          <p:nvPr/>
        </p:nvSpPr>
        <p:spPr>
          <a:xfrm>
            <a:off x="3665551" y="4715124"/>
            <a:ext cx="2878372" cy="424732"/>
          </a:xfrm>
          <a:prstGeom prst="rect">
            <a:avLst/>
          </a:prstGeom>
          <a:noFill/>
        </p:spPr>
        <p:txBody>
          <a:bodyPr wrap="square" rtlCol="0">
            <a:spAutoFit/>
          </a:bodyPr>
          <a:lstStyle/>
          <a:p>
            <a:r>
              <a:rPr lang="zh-CN" altLang="en-US" dirty="0"/>
              <a:t>主讲：郭东明</a:t>
            </a:r>
          </a:p>
        </p:txBody>
      </p:sp>
    </p:spTree>
  </p:cSld>
  <p:clrMapOvr>
    <a:masterClrMapping/>
  </p:clrMapOvr>
  <p:transition spd="med">
    <p:random/>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a:xfrm>
            <a:off x="1025525" y="268288"/>
            <a:ext cx="7070725"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0" cap="none" spc="0" normalizeH="0" baseline="0" noProof="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第</a:t>
            </a:r>
            <a:r>
              <a:rPr kumimoji="0" lang="en-US" sz="36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1</a:t>
            </a:r>
            <a:r>
              <a:rPr kumimoji="0" lang="zh-CN" altLang="en-US" sz="3600" b="1" i="0" u="none" strike="noStrike" kern="0" cap="none" spc="0" normalizeH="0" baseline="0" noProof="0">
                <a:ln>
                  <a:noFill/>
                </a:ln>
                <a:solidFill>
                  <a:srgbClr val="E8E8E8"/>
                </a:solidFill>
                <a:effectLst>
                  <a:outerShdw blurRad="38100" dist="38100" dir="2700000" algn="tl">
                    <a:srgbClr val="000000"/>
                  </a:outerShdw>
                </a:effectLst>
                <a:uLnTx/>
                <a:uFillTx/>
                <a:latin typeface="宋体" panose="02010600030101010101" pitchFamily="2" charset="-122"/>
                <a:ea typeface="+mj-ea"/>
                <a:cs typeface="+mj-cs"/>
              </a:rPr>
              <a:t>章  </a:t>
            </a:r>
            <a:r>
              <a:rPr kumimoji="0" lang="zh-CN" altLang="en-US" sz="36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微型计算机概述</a:t>
            </a:r>
            <a:r>
              <a:rPr kumimoji="0" lang="zh-CN" altLang="en-US" sz="3200" b="1" i="0" u="none" strike="noStrike" kern="0" cap="none" spc="0" normalizeH="0" baseline="0" noProof="0">
                <a:ln>
                  <a:noFill/>
                </a:ln>
                <a:solidFill>
                  <a:srgbClr val="E8E8E8"/>
                </a:solidFill>
                <a:effectLst>
                  <a:outerShdw blurRad="38100" dist="38100" dir="2700000" algn="tl">
                    <a:srgbClr val="000000"/>
                  </a:outerShdw>
                </a:effectLst>
                <a:uLnTx/>
                <a:uFillTx/>
                <a:latin typeface="+mj-lt"/>
                <a:ea typeface="+mj-ea"/>
                <a:cs typeface="+mj-cs"/>
              </a:rPr>
              <a:t> </a:t>
            </a:r>
          </a:p>
        </p:txBody>
      </p:sp>
      <p:sp>
        <p:nvSpPr>
          <p:cNvPr id="2" name="Rectangle 3"/>
          <p:cNvSpPr>
            <a:spLocks noGrp="1"/>
          </p:cNvSpPr>
          <p:nvPr>
            <p:ph type="body" idx="4294967295"/>
          </p:nvPr>
        </p:nvSpPr>
        <p:spPr>
          <a:xfrm>
            <a:off x="1411288" y="1995488"/>
            <a:ext cx="6870700" cy="3543300"/>
          </a:xfrm>
          <a:ln/>
        </p:spPr>
        <p:txBody>
          <a:bodyPr wrap="square" lIns="92075" tIns="46038" rIns="92075" bIns="46038" anchor="t" anchorCtr="0"/>
          <a:lstStyle/>
          <a:p>
            <a:pPr eaLnBrk="1" hangingPunct="1">
              <a:lnSpc>
                <a:spcPct val="130000"/>
              </a:lnSpc>
              <a:buNone/>
            </a:pPr>
            <a:endParaRPr lang="en-US" altLang="zh-CN" sz="3200">
              <a:solidFill>
                <a:srgbClr val="FFCC00"/>
              </a:solidFill>
            </a:endParaRPr>
          </a:p>
          <a:p>
            <a:pPr algn="just" eaLnBrk="1" hangingPunct="1">
              <a:lnSpc>
                <a:spcPct val="150000"/>
              </a:lnSpc>
            </a:pPr>
            <a:r>
              <a:rPr lang="en-US" altLang="zh-CN">
                <a:latin typeface="宋体" panose="02010600030101010101" pitchFamily="2" charset="-122"/>
              </a:rPr>
              <a:t> </a:t>
            </a:r>
            <a:r>
              <a:rPr lang="zh-CN" altLang="en-US">
                <a:latin typeface="宋体" panose="02010600030101010101" pitchFamily="2" charset="-122"/>
              </a:rPr>
              <a:t>了解微型</a:t>
            </a:r>
            <a:r>
              <a:rPr lang="zh-CN" altLang="en-US" dirty="0">
                <a:latin typeface="宋体" panose="02010600030101010101" pitchFamily="2" charset="-122"/>
              </a:rPr>
              <a:t>计算机的发展历史</a:t>
            </a:r>
            <a:r>
              <a:rPr lang="zh-CN" altLang="en-US" dirty="0"/>
              <a:t> </a:t>
            </a:r>
            <a:endParaRPr lang="zh-CN" altLang="en-US" dirty="0">
              <a:latin typeface="宋体" panose="02010600030101010101" pitchFamily="2" charset="-122"/>
            </a:endParaRPr>
          </a:p>
          <a:p>
            <a:pPr algn="just" eaLnBrk="1" hangingPunct="1">
              <a:lnSpc>
                <a:spcPct val="150000"/>
              </a:lnSpc>
            </a:pPr>
            <a:r>
              <a:rPr lang="zh-CN" altLang="en-US" dirty="0">
                <a:latin typeface="宋体" panose="02010600030101010101" pitchFamily="2" charset="-122"/>
              </a:rPr>
              <a:t> </a:t>
            </a:r>
            <a:r>
              <a:rPr lang="zh-CN" altLang="en-US" dirty="0">
                <a:latin typeface="宋体" panose="02010600030101010101" pitchFamily="2" charset="-122"/>
                <a:sym typeface="Arial" panose="020B0604020202020204" pitchFamily="34" charset="0"/>
              </a:rPr>
              <a:t>理解</a:t>
            </a:r>
            <a:r>
              <a:rPr lang="zh-CN" altLang="en-US" dirty="0">
                <a:latin typeface="宋体" panose="02010600030101010101" pitchFamily="2" charset="-122"/>
              </a:rPr>
              <a:t>微型计算机系统的组成</a:t>
            </a:r>
          </a:p>
          <a:p>
            <a:pPr algn="just" eaLnBrk="1" hangingPunct="1">
              <a:lnSpc>
                <a:spcPct val="150000"/>
              </a:lnSpc>
            </a:pPr>
            <a:r>
              <a:rPr lang="zh-CN" altLang="en-US" dirty="0">
                <a:latin typeface="宋体" panose="02010600030101010101" pitchFamily="2" charset="-122"/>
              </a:rPr>
              <a:t> </a:t>
            </a:r>
            <a:r>
              <a:rPr lang="zh-CN" altLang="en-US" dirty="0">
                <a:latin typeface="宋体" panose="02010600030101010101" pitchFamily="2" charset="-122"/>
                <a:sym typeface="Arial" panose="020B0604020202020204" pitchFamily="34" charset="0"/>
              </a:rPr>
              <a:t>掌握</a:t>
            </a:r>
            <a:r>
              <a:rPr lang="zh-CN" altLang="en-US" dirty="0">
                <a:latin typeface="宋体" panose="02010600030101010101" pitchFamily="2" charset="-122"/>
              </a:rPr>
              <a:t>微型计算机的运算基础</a:t>
            </a:r>
          </a:p>
        </p:txBody>
      </p:sp>
      <p:sp>
        <p:nvSpPr>
          <p:cNvPr id="5123" name="Rectangle 12"/>
          <p:cNvSpPr/>
          <p:nvPr/>
        </p:nvSpPr>
        <p:spPr>
          <a:xfrm>
            <a:off x="947738" y="1798638"/>
            <a:ext cx="3106737" cy="825500"/>
          </a:xfrm>
          <a:prstGeom prst="rect">
            <a:avLst/>
          </a:prstGeom>
          <a:noFill/>
          <a:ln w="9525">
            <a:noFill/>
          </a:ln>
        </p:spPr>
        <p:txBody>
          <a:bodyPr lIns="92075" tIns="46038" rIns="92075" bIns="46038" anchor="t" anchorCtr="0"/>
          <a:lstStyle/>
          <a:p>
            <a:pPr marL="342900" indent="-342900">
              <a:lnSpc>
                <a:spcPct val="130000"/>
              </a:lnSpc>
              <a:buClr>
                <a:schemeClr val="accent2"/>
              </a:buClr>
              <a:buSzPct val="70000"/>
              <a:buFont typeface="Wingdings" panose="05000000000000000000" pitchFamily="2" charset="2"/>
            </a:pPr>
            <a:r>
              <a:rPr lang="zh-CN" altLang="en-US" sz="3200" dirty="0">
                <a:solidFill>
                  <a:srgbClr val="FFCC00"/>
                </a:solidFill>
                <a:latin typeface="Times New Roman" panose="02020603050405020304" pitchFamily="18" charset="0"/>
                <a:ea typeface="宋体" panose="02010600030101010101" pitchFamily="2" charset="-122"/>
              </a:rPr>
              <a:t>学习目标：</a:t>
            </a:r>
            <a:endParaRPr lang="zh-CN" altLang="en-US" sz="2800" dirty="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5368925"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1.1  </a:t>
            </a:r>
            <a:r>
              <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计算机的发展</a:t>
            </a:r>
          </a:p>
        </p:txBody>
      </p:sp>
      <p:sp>
        <p:nvSpPr>
          <p:cNvPr id="2" name="Rectangle 11"/>
          <p:cNvSpPr>
            <a:spLocks noGrp="1"/>
          </p:cNvSpPr>
          <p:nvPr>
            <p:ph type="body" idx="4294967295"/>
          </p:nvPr>
        </p:nvSpPr>
        <p:spPr>
          <a:xfrm>
            <a:off x="1412875" y="2159000"/>
            <a:ext cx="5297488" cy="3162300"/>
          </a:xfrm>
          <a:ln/>
        </p:spPr>
        <p:txBody>
          <a:bodyPr wrap="square" lIns="92075" tIns="46038" rIns="92075" bIns="46038" anchor="t" anchorCtr="0"/>
          <a:lstStyle/>
          <a:p>
            <a:pPr eaLnBrk="1" hangingPunct="1">
              <a:buNone/>
            </a:pPr>
            <a:r>
              <a:rPr lang="zh-CN" altLang="en-US" dirty="0">
                <a:solidFill>
                  <a:srgbClr val="66FFCC"/>
                </a:solidFill>
              </a:rPr>
              <a:t>1.1.1  计算机的诞生</a:t>
            </a:r>
          </a:p>
          <a:p>
            <a:pPr eaLnBrk="1" hangingPunct="1"/>
            <a:endParaRPr lang="zh-CN" altLang="en-US" dirty="0">
              <a:solidFill>
                <a:srgbClr val="66FFCC"/>
              </a:solidFill>
            </a:endParaRPr>
          </a:p>
          <a:p>
            <a:pPr eaLnBrk="1" hangingPunct="1">
              <a:buNone/>
            </a:pPr>
            <a:r>
              <a:rPr lang="zh-CN" altLang="en-US" dirty="0">
                <a:solidFill>
                  <a:srgbClr val="66FFCC"/>
                </a:solidFill>
              </a:rPr>
              <a:t>1.1.2  微处理器的发展</a:t>
            </a:r>
          </a:p>
          <a:p>
            <a:pPr eaLnBrk="1" hangingPunct="1">
              <a:buNone/>
            </a:pPr>
            <a:endParaRPr lang="zh-CN" altLang="en-US" dirty="0">
              <a:solidFill>
                <a:srgbClr val="66FFCC"/>
              </a:solidFill>
            </a:endParaRPr>
          </a:p>
          <a:p>
            <a:pPr eaLnBrk="1" hangingPunct="1">
              <a:buNone/>
            </a:pPr>
            <a:r>
              <a:rPr lang="zh-CN" altLang="en-US" dirty="0">
                <a:solidFill>
                  <a:srgbClr val="66FFCC"/>
                </a:solidFill>
              </a:rPr>
              <a:t>1.1.3  计算机的工作原理</a:t>
            </a:r>
          </a:p>
        </p:txBody>
      </p:sp>
    </p:spTree>
  </p:cSld>
  <p:clrMapOvr>
    <a:masterClrMapping/>
  </p:clrMapOvr>
  <p:transition spd="med">
    <p:random/>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1.1.1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计算机的诞生</a:t>
            </a:r>
          </a:p>
        </p:txBody>
      </p:sp>
      <p:sp>
        <p:nvSpPr>
          <p:cNvPr id="7170" name="内容占位符 2"/>
          <p:cNvSpPr>
            <a:spLocks noGrp="1"/>
          </p:cNvSpPr>
          <p:nvPr>
            <p:ph idx="4294967295"/>
          </p:nvPr>
        </p:nvSpPr>
        <p:spPr>
          <a:xfrm>
            <a:off x="307975" y="2070100"/>
            <a:ext cx="8147050" cy="3794125"/>
          </a:xfrm>
          <a:ln/>
        </p:spPr>
        <p:txBody>
          <a:bodyPr wrap="square" lIns="92075" tIns="46038" rIns="92075" bIns="46038" anchor="t" anchorCtr="0"/>
          <a:lstStyle/>
          <a:p>
            <a:pPr algn="just">
              <a:lnSpc>
                <a:spcPts val="3200"/>
              </a:lnSpc>
              <a:buNone/>
            </a:pPr>
            <a:r>
              <a:rPr lang="en-US" altLang="zh-CN" sz="2400"/>
              <a:t>              1946</a:t>
            </a:r>
            <a:r>
              <a:rPr lang="zh-CN" altLang="en-US" sz="2400"/>
              <a:t>年</a:t>
            </a:r>
            <a:r>
              <a:rPr lang="en-US" altLang="zh-CN" sz="2400"/>
              <a:t>2</a:t>
            </a:r>
            <a:r>
              <a:rPr lang="zh-CN" altLang="en-US" sz="2400"/>
              <a:t>月</a:t>
            </a:r>
            <a:r>
              <a:rPr lang="en-US" altLang="zh-CN" sz="2400"/>
              <a:t>14</a:t>
            </a:r>
            <a:r>
              <a:rPr lang="zh-CN" altLang="en-US" sz="2400"/>
              <a:t>日，世界上</a:t>
            </a:r>
            <a:r>
              <a:rPr lang="zh-CN" altLang="en-US" sz="2400">
                <a:solidFill>
                  <a:srgbClr val="FF0000"/>
                </a:solidFill>
              </a:rPr>
              <a:t>公认</a:t>
            </a:r>
            <a:r>
              <a:rPr lang="zh-CN" altLang="en-US" sz="2400"/>
              <a:t>的第一台电子计算机</a:t>
            </a:r>
            <a:r>
              <a:rPr lang="en-US" altLang="zh-CN" sz="2400">
                <a:solidFill>
                  <a:srgbClr val="FF0000"/>
                </a:solidFill>
              </a:rPr>
              <a:t>ENIAC</a:t>
            </a:r>
            <a:r>
              <a:rPr lang="zh-CN" altLang="en-US" sz="2400"/>
              <a:t>（</a:t>
            </a:r>
            <a:r>
              <a:rPr lang="en-US" altLang="zh-CN" sz="2400"/>
              <a:t>Electronic Numerical Integrator and Computer,</a:t>
            </a:r>
            <a:r>
              <a:rPr lang="zh-CN" altLang="en-US" sz="2400">
                <a:sym typeface="Arial" panose="020B0604020202020204" pitchFamily="34" charset="0"/>
              </a:rPr>
              <a:t>电子数值积分式计算机</a:t>
            </a:r>
            <a:r>
              <a:rPr lang="zh-CN" altLang="en-US" sz="2400"/>
              <a:t>）由美国宾州宾夕法尼亚大学研制成功。</a:t>
            </a:r>
            <a:r>
              <a:rPr lang="en-US" altLang="zh-CN" sz="2400"/>
              <a:t>ENIAC</a:t>
            </a:r>
            <a:r>
              <a:rPr lang="zh-CN" altLang="en-US" sz="2400"/>
              <a:t>占地面积</a:t>
            </a:r>
            <a:r>
              <a:rPr lang="en-US" altLang="zh-CN" sz="2400"/>
              <a:t>150m</a:t>
            </a:r>
            <a:r>
              <a:rPr lang="en-US" altLang="zh-CN" sz="2400" baseline="30000"/>
              <a:t>2</a:t>
            </a:r>
            <a:r>
              <a:rPr lang="zh-CN" altLang="en-US" sz="2400"/>
              <a:t>，重达</a:t>
            </a:r>
            <a:r>
              <a:rPr lang="en-US" altLang="zh-CN" sz="2400"/>
              <a:t>30 000kg</a:t>
            </a:r>
            <a:r>
              <a:rPr lang="zh-CN" altLang="en-US" sz="2400"/>
              <a:t>，使用了</a:t>
            </a:r>
            <a:r>
              <a:rPr lang="en-US" altLang="zh-CN" sz="2400"/>
              <a:t>18000</a:t>
            </a:r>
            <a:r>
              <a:rPr lang="zh-CN" altLang="en-US" sz="2400"/>
              <a:t>多个电子管，功率为</a:t>
            </a:r>
            <a:r>
              <a:rPr lang="en-US" altLang="zh-CN" sz="2400"/>
              <a:t>150kW</a:t>
            </a:r>
            <a:r>
              <a:rPr lang="zh-CN" altLang="en-US" sz="2400"/>
              <a:t>，运算速度为</a:t>
            </a:r>
            <a:r>
              <a:rPr lang="en-US" altLang="zh-CN" sz="2400"/>
              <a:t>5000</a:t>
            </a:r>
            <a:r>
              <a:rPr lang="zh-CN" altLang="en-US" sz="2400"/>
              <a:t>次</a:t>
            </a:r>
            <a:r>
              <a:rPr lang="en-US" altLang="zh-CN" sz="2400"/>
              <a:t>/</a:t>
            </a:r>
            <a:r>
              <a:rPr lang="zh-CN" altLang="en-US" sz="2400"/>
              <a:t>秒。今天看来，</a:t>
            </a:r>
            <a:r>
              <a:rPr lang="en-US" altLang="zh-CN" sz="2400"/>
              <a:t>ENIAC</a:t>
            </a:r>
            <a:r>
              <a:rPr lang="zh-CN" altLang="en-US" sz="2400"/>
              <a:t>体积庞大，运行效率不高，且采用十进制运算，输入和更换程序十分不便，但它的问世开创了计算机科学技术的新纪元。</a:t>
            </a:r>
          </a:p>
          <a:p>
            <a:pPr algn="just">
              <a:lnSpc>
                <a:spcPts val="3200"/>
              </a:lnSpc>
              <a:buNone/>
            </a:pPr>
            <a:r>
              <a:rPr lang="en-US" altLang="zh-CN" sz="2400"/>
              <a:t>          </a:t>
            </a:r>
          </a:p>
          <a:p>
            <a:pPr algn="just">
              <a:lnSpc>
                <a:spcPts val="3200"/>
              </a:lnSpc>
              <a:buNone/>
            </a:pPr>
            <a:endParaRPr lang="en-US" altLang="zh-CN" sz="2400"/>
          </a:p>
        </p:txBody>
      </p:sp>
    </p:spTree>
  </p:cSld>
  <p:clrMapOvr>
    <a:masterClrMapping/>
  </p:clrMapOvr>
  <p:transition spd="med">
    <p:random/>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8193" name="图片 1" descr="1"/>
          <p:cNvPicPr>
            <a:picLocks noChangeAspect="1"/>
          </p:cNvPicPr>
          <p:nvPr/>
        </p:nvPicPr>
        <p:blipFill>
          <a:blip r:embed="rId2"/>
          <a:stretch>
            <a:fillRect/>
          </a:stretch>
        </p:blipFill>
        <p:spPr>
          <a:xfrm>
            <a:off x="65088" y="3505200"/>
            <a:ext cx="4273550" cy="3168650"/>
          </a:xfrm>
          <a:prstGeom prst="rect">
            <a:avLst/>
          </a:prstGeom>
          <a:noFill/>
          <a:ln w="9525">
            <a:noFill/>
          </a:ln>
        </p:spPr>
      </p:pic>
      <p:pic>
        <p:nvPicPr>
          <p:cNvPr id="8194" name="图片 2" descr="2"/>
          <p:cNvPicPr>
            <a:picLocks noChangeAspect="1"/>
          </p:cNvPicPr>
          <p:nvPr/>
        </p:nvPicPr>
        <p:blipFill>
          <a:blip r:embed="rId3"/>
          <a:stretch>
            <a:fillRect/>
          </a:stretch>
        </p:blipFill>
        <p:spPr>
          <a:xfrm>
            <a:off x="79375" y="155575"/>
            <a:ext cx="4518025" cy="3117850"/>
          </a:xfrm>
          <a:prstGeom prst="rect">
            <a:avLst/>
          </a:prstGeom>
          <a:noFill/>
          <a:ln w="9525">
            <a:noFill/>
          </a:ln>
        </p:spPr>
      </p:pic>
      <p:pic>
        <p:nvPicPr>
          <p:cNvPr id="8195" name="图片 3" descr="3"/>
          <p:cNvPicPr>
            <a:picLocks noChangeAspect="1"/>
          </p:cNvPicPr>
          <p:nvPr/>
        </p:nvPicPr>
        <p:blipFill>
          <a:blip r:embed="rId4"/>
          <a:stretch>
            <a:fillRect/>
          </a:stretch>
        </p:blipFill>
        <p:spPr>
          <a:xfrm>
            <a:off x="4697413" y="130175"/>
            <a:ext cx="4365625" cy="3511550"/>
          </a:xfrm>
          <a:prstGeom prst="rect">
            <a:avLst/>
          </a:prstGeom>
          <a:noFill/>
          <a:ln w="9525">
            <a:noFill/>
          </a:ln>
        </p:spPr>
      </p:pic>
      <p:pic>
        <p:nvPicPr>
          <p:cNvPr id="8196" name="图片 4" descr="4"/>
          <p:cNvPicPr>
            <a:picLocks noChangeAspect="1"/>
          </p:cNvPicPr>
          <p:nvPr/>
        </p:nvPicPr>
        <p:blipFill>
          <a:blip r:embed="rId5"/>
          <a:stretch>
            <a:fillRect/>
          </a:stretch>
        </p:blipFill>
        <p:spPr>
          <a:xfrm>
            <a:off x="4379913" y="3803650"/>
            <a:ext cx="4705350" cy="2879725"/>
          </a:xfrm>
          <a:prstGeom prst="rect">
            <a:avLst/>
          </a:prstGeom>
          <a:noFill/>
          <a:ln w="9525">
            <a:noFill/>
          </a:ln>
        </p:spPr>
      </p:pic>
    </p:spTree>
  </p:cSld>
  <p:clrMapOvr>
    <a:masterClrMapping/>
  </p:clrMapOvr>
  <p:transition spd="med">
    <p:random/>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7" name="内容占位符 2"/>
          <p:cNvSpPr>
            <a:spLocks noGrp="1"/>
          </p:cNvSpPr>
          <p:nvPr>
            <p:ph idx="4294967295"/>
          </p:nvPr>
        </p:nvSpPr>
        <p:spPr>
          <a:xfrm>
            <a:off x="34925" y="222250"/>
            <a:ext cx="8847138" cy="6359525"/>
          </a:xfrm>
          <a:ln/>
        </p:spPr>
        <p:txBody>
          <a:bodyPr wrap="square" lIns="92075" tIns="46038" rIns="92075" bIns="46038" anchor="t" anchorCtr="0"/>
          <a:lstStyle/>
          <a:p>
            <a:pPr algn="just">
              <a:buNone/>
            </a:pPr>
            <a:r>
              <a:rPr lang="en-US" altLang="zh-CN" sz="2400"/>
              <a:t>             1947</a:t>
            </a:r>
            <a:r>
              <a:rPr lang="zh-CN" altLang="en-US" sz="2400"/>
              <a:t>年，贝尔实验室</a:t>
            </a:r>
            <a:r>
              <a:rPr lang="en-US" altLang="zh-CN" sz="2400"/>
              <a:t>Shockley</a:t>
            </a:r>
            <a:r>
              <a:rPr lang="zh-CN" altLang="en-US" sz="2400"/>
              <a:t>博士发明了被誉为“</a:t>
            </a:r>
            <a:r>
              <a:rPr lang="en-US" altLang="zh-CN" sz="2400"/>
              <a:t>20</a:t>
            </a:r>
            <a:r>
              <a:rPr lang="zh-CN" altLang="en-US" sz="2400"/>
              <a:t>世纪最伟大发明”的</a:t>
            </a:r>
            <a:r>
              <a:rPr lang="zh-CN" altLang="en-US" sz="2400">
                <a:solidFill>
                  <a:srgbClr val="FF0000"/>
                </a:solidFill>
              </a:rPr>
              <a:t>晶体管</a:t>
            </a:r>
            <a:r>
              <a:rPr lang="zh-CN" altLang="en-US" sz="2400"/>
              <a:t>。晶体管与电子管相比体积小、功耗低、载流子运行速度快，它开辟了电子时代的新纪元。</a:t>
            </a:r>
          </a:p>
          <a:p>
            <a:pPr algn="just">
              <a:buNone/>
            </a:pPr>
            <a:r>
              <a:rPr lang="zh-CN" altLang="en-US" sz="2400"/>
              <a:t>             </a:t>
            </a:r>
            <a:r>
              <a:rPr lang="en-US" altLang="zh-CN" sz="2400"/>
              <a:t>1949</a:t>
            </a:r>
            <a:r>
              <a:rPr lang="zh-CN" altLang="en-US" sz="2400"/>
              <a:t>年，英国剑桥大学数学实验室率先制成电子离散时序自动计算机</a:t>
            </a:r>
            <a:r>
              <a:rPr lang="en-US" altLang="zh-CN" sz="2400">
                <a:solidFill>
                  <a:srgbClr val="FF0000"/>
                </a:solidFill>
              </a:rPr>
              <a:t>EDSAC</a:t>
            </a:r>
            <a:r>
              <a:rPr lang="zh-CN" altLang="en-US" sz="2400"/>
              <a:t>（</a:t>
            </a:r>
            <a:r>
              <a:rPr lang="en-US" altLang="zh-CN" sz="2400"/>
              <a:t>Electronic Discrete Sequential Automatic Computer</a:t>
            </a:r>
            <a:r>
              <a:rPr lang="zh-CN" altLang="en-US" sz="2400"/>
              <a:t>），</a:t>
            </a:r>
            <a:r>
              <a:rPr lang="en-US" altLang="zh-CN" sz="2400"/>
              <a:t>EDSAC </a:t>
            </a:r>
            <a:r>
              <a:rPr lang="zh-CN" altLang="en-US" sz="2400"/>
              <a:t>是世界上第一台采用冯</a:t>
            </a:r>
            <a:r>
              <a:rPr lang="en-US" altLang="zh-CN" sz="2400"/>
              <a:t>·</a:t>
            </a:r>
            <a:r>
              <a:rPr lang="zh-CN" altLang="en-US" sz="2400"/>
              <a:t>诺依曼体系结构的计算机，威尔克斯作为主创凭此摘取了1967年度计算机世界最高奖</a:t>
            </a:r>
            <a:r>
              <a:rPr lang="en-US" altLang="zh-CN" sz="2400"/>
              <a:t>——</a:t>
            </a:r>
            <a:r>
              <a:rPr lang="zh-CN" altLang="en-US" sz="2400"/>
              <a:t>“图灵奖”。此后</a:t>
            </a:r>
            <a:r>
              <a:rPr lang="en-US" altLang="zh-CN" sz="2400"/>
              <a:t>60</a:t>
            </a:r>
            <a:r>
              <a:rPr lang="zh-CN" altLang="en-US" sz="2400"/>
              <a:t>多年，计算机的发展日新月异，至今已经历了电子管计算机、晶体管计算机、集成电路计算机和（超）大规模集成电路计算机</a:t>
            </a:r>
            <a:r>
              <a:rPr lang="en-US" altLang="zh-CN" sz="2400"/>
              <a:t>4</a:t>
            </a:r>
            <a:r>
              <a:rPr lang="zh-CN" altLang="en-US" sz="2400"/>
              <a:t>代的发展。表</a:t>
            </a:r>
            <a:r>
              <a:rPr lang="en-US" altLang="zh-CN" sz="2400"/>
              <a:t>1-1</a:t>
            </a:r>
            <a:r>
              <a:rPr lang="zh-CN" altLang="en-US" sz="2400"/>
              <a:t>简要地描述了这一发展过程。</a:t>
            </a:r>
          </a:p>
          <a:p>
            <a:pPr algn="just">
              <a:buNone/>
            </a:pPr>
            <a:r>
              <a:rPr lang="zh-CN" altLang="en-US" sz="2400"/>
              <a:t>             </a:t>
            </a:r>
            <a:r>
              <a:rPr lang="zh-CN" altLang="en-US" sz="2400">
                <a:solidFill>
                  <a:srgbClr val="FF0000"/>
                </a:solidFill>
              </a:rPr>
              <a:t>EDVAC</a:t>
            </a:r>
            <a:r>
              <a:rPr lang="zh-CN" altLang="en-US" sz="2400"/>
              <a:t> (Electronic Discrete variable Automatic Computer，离散变量自动电子计算机</a:t>
            </a:r>
            <a:r>
              <a:rPr lang="zh-CN" altLang="en-US" sz="2400">
                <a:sym typeface="Arial" panose="020B0604020202020204" pitchFamily="34" charset="0"/>
              </a:rPr>
              <a:t>)</a:t>
            </a:r>
            <a:r>
              <a:rPr lang="zh-CN" altLang="en-US" sz="2400"/>
              <a:t>方案明确奠定了新机器由五个部分组成，包括：运算器、逻辑控制装置、存储器、输入和输出设备，并描述了这五部分的职能和相互关系。报告中，</a:t>
            </a:r>
            <a:r>
              <a:rPr lang="zh-CN" altLang="en-US" sz="2400">
                <a:sym typeface="Arial" panose="020B0604020202020204" pitchFamily="34" charset="0"/>
              </a:rPr>
              <a:t>冯·</a:t>
            </a:r>
            <a:r>
              <a:rPr lang="zh-CN" altLang="en-US" sz="2400"/>
              <a:t>诺伊曼对EDVAC中的</a:t>
            </a:r>
            <a:r>
              <a:rPr lang="zh-CN" altLang="en-US" sz="2400">
                <a:solidFill>
                  <a:srgbClr val="FF0000"/>
                </a:solidFill>
              </a:rPr>
              <a:t>两大设计思想</a:t>
            </a:r>
            <a:r>
              <a:rPr lang="en-US" altLang="zh-CN" sz="2400">
                <a:solidFill>
                  <a:srgbClr val="FF0000"/>
                </a:solidFill>
              </a:rPr>
              <a:t>(</a:t>
            </a:r>
            <a:r>
              <a:rPr lang="zh-CN" altLang="en-US" sz="2400">
                <a:solidFill>
                  <a:srgbClr val="FF0000"/>
                </a:solidFill>
              </a:rPr>
              <a:t>二进制和程序存储</a:t>
            </a:r>
            <a:r>
              <a:rPr lang="en-US" altLang="zh-CN" sz="2400">
                <a:solidFill>
                  <a:srgbClr val="FF0000"/>
                </a:solidFill>
              </a:rPr>
              <a:t>)</a:t>
            </a:r>
            <a:r>
              <a:rPr lang="zh-CN" altLang="en-US" sz="2400"/>
              <a:t>作了进一步的论证，为计算机的设计树立了一座里程碑。</a:t>
            </a:r>
          </a:p>
        </p:txBody>
      </p:sp>
    </p:spTree>
  </p:cSld>
  <p:clrMapOvr>
    <a:masterClrMapping/>
  </p:clrMapOvr>
  <p:transition spd="med">
    <p:random/>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41" name="图片 1" descr="1 (1)"/>
          <p:cNvPicPr>
            <a:picLocks noChangeAspect="1"/>
          </p:cNvPicPr>
          <p:nvPr/>
        </p:nvPicPr>
        <p:blipFill>
          <a:blip r:embed="rId2"/>
          <a:stretch>
            <a:fillRect/>
          </a:stretch>
        </p:blipFill>
        <p:spPr>
          <a:xfrm>
            <a:off x="3219450" y="103188"/>
            <a:ext cx="2635250" cy="1974850"/>
          </a:xfrm>
          <a:prstGeom prst="rect">
            <a:avLst/>
          </a:prstGeom>
          <a:noFill/>
          <a:ln w="9525">
            <a:noFill/>
          </a:ln>
        </p:spPr>
      </p:pic>
      <p:pic>
        <p:nvPicPr>
          <p:cNvPr id="10242" name="图片 2" descr="11"/>
          <p:cNvPicPr>
            <a:picLocks noChangeAspect="1"/>
          </p:cNvPicPr>
          <p:nvPr/>
        </p:nvPicPr>
        <p:blipFill>
          <a:blip r:embed="rId3"/>
          <a:stretch>
            <a:fillRect/>
          </a:stretch>
        </p:blipFill>
        <p:spPr>
          <a:xfrm>
            <a:off x="5853113" y="98425"/>
            <a:ext cx="3236912" cy="1973263"/>
          </a:xfrm>
          <a:prstGeom prst="rect">
            <a:avLst/>
          </a:prstGeom>
          <a:noFill/>
          <a:ln w="9525">
            <a:noFill/>
          </a:ln>
        </p:spPr>
      </p:pic>
      <p:sp>
        <p:nvSpPr>
          <p:cNvPr id="10243" name="内容占位符 2"/>
          <p:cNvSpPr>
            <a:spLocks noGrp="1"/>
          </p:cNvSpPr>
          <p:nvPr/>
        </p:nvSpPr>
        <p:spPr>
          <a:xfrm>
            <a:off x="1147763" y="884238"/>
            <a:ext cx="1263650" cy="484187"/>
          </a:xfrm>
          <a:prstGeom prst="rect">
            <a:avLst/>
          </a:prstGeom>
          <a:noFill/>
          <a:ln w="9525">
            <a:noFill/>
          </a:ln>
        </p:spPr>
        <p:txBody>
          <a:bodyPr wrap="square" lIns="92075" tIns="46038" rIns="92075" bIns="46038" anchor="t" anchorCtr="0"/>
          <a:lstStyle/>
          <a:p>
            <a:pPr marL="342900" indent="-342900" algn="just" eaLnBrk="0" hangingPunct="0">
              <a:buClr>
                <a:schemeClr val="accent2"/>
              </a:buClr>
              <a:buSzPct val="70000"/>
              <a:buFont typeface="Wingdings" panose="05000000000000000000" pitchFamily="2" charset="2"/>
            </a:pPr>
            <a:r>
              <a:rPr lang="zh-CN" altLang="en-US">
                <a:latin typeface="宋体" panose="02010600030101010101" pitchFamily="2" charset="-122"/>
                <a:ea typeface="宋体" panose="02010600030101010101" pitchFamily="2" charset="-122"/>
              </a:rPr>
              <a:t>电子管</a:t>
            </a:r>
          </a:p>
        </p:txBody>
      </p:sp>
      <p:sp>
        <p:nvSpPr>
          <p:cNvPr id="10244" name="右箭头 4"/>
          <p:cNvSpPr/>
          <p:nvPr/>
        </p:nvSpPr>
        <p:spPr>
          <a:xfrm flipV="1">
            <a:off x="2266950" y="976313"/>
            <a:ext cx="854075" cy="211137"/>
          </a:xfrm>
          <a:prstGeom prst="rightArrow">
            <a:avLst>
              <a:gd name="adj1" fmla="val 50000"/>
              <a:gd name="adj2" fmla="val 49552"/>
            </a:avLst>
          </a:prstGeom>
          <a:solidFill>
            <a:srgbClr val="FFFF00"/>
          </a:solidFill>
          <a:ln w="9525">
            <a:noFill/>
          </a:ln>
        </p:spPr>
        <p:txBody>
          <a:bodyPr wrap="square" lIns="92075" tIns="46038" rIns="92075" bIns="46038" anchor="t" anchorCtr="0"/>
          <a:lstStyle/>
          <a:p>
            <a:endParaRPr lang="zh-CN" altLang="en-US">
              <a:latin typeface="宋体" panose="02010600030101010101" pitchFamily="2" charset="-122"/>
              <a:ea typeface="宋体" panose="02010600030101010101" pitchFamily="2" charset="-122"/>
            </a:endParaRPr>
          </a:p>
        </p:txBody>
      </p:sp>
      <p:pic>
        <p:nvPicPr>
          <p:cNvPr id="10245" name="图片 5" descr="1"/>
          <p:cNvPicPr>
            <a:picLocks noChangeAspect="1"/>
          </p:cNvPicPr>
          <p:nvPr/>
        </p:nvPicPr>
        <p:blipFill>
          <a:blip r:embed="rId4"/>
          <a:stretch>
            <a:fillRect/>
          </a:stretch>
        </p:blipFill>
        <p:spPr>
          <a:xfrm>
            <a:off x="4714875" y="2128838"/>
            <a:ext cx="4378325" cy="2049462"/>
          </a:xfrm>
          <a:prstGeom prst="rect">
            <a:avLst/>
          </a:prstGeom>
          <a:noFill/>
          <a:ln w="9525">
            <a:noFill/>
          </a:ln>
        </p:spPr>
      </p:pic>
      <p:sp>
        <p:nvSpPr>
          <p:cNvPr id="10246" name="内容占位符 2"/>
          <p:cNvSpPr>
            <a:spLocks noGrp="1"/>
          </p:cNvSpPr>
          <p:nvPr/>
        </p:nvSpPr>
        <p:spPr>
          <a:xfrm>
            <a:off x="2865438" y="2528888"/>
            <a:ext cx="1263650" cy="484187"/>
          </a:xfrm>
          <a:prstGeom prst="rect">
            <a:avLst/>
          </a:prstGeom>
          <a:noFill/>
          <a:ln w="9525">
            <a:noFill/>
          </a:ln>
        </p:spPr>
        <p:txBody>
          <a:bodyPr wrap="square" lIns="92075" tIns="46038" rIns="92075" bIns="46038" anchor="t" anchorCtr="0"/>
          <a:lstStyle/>
          <a:p>
            <a:pPr marL="342900" indent="-342900" algn="just" eaLnBrk="0" hangingPunct="0">
              <a:buClr>
                <a:schemeClr val="accent2"/>
              </a:buClr>
              <a:buSzPct val="70000"/>
              <a:buFont typeface="Wingdings" panose="05000000000000000000" pitchFamily="2" charset="2"/>
            </a:pPr>
            <a:r>
              <a:rPr lang="zh-CN" altLang="en-US">
                <a:latin typeface="宋体" panose="02010600030101010101" pitchFamily="2" charset="-122"/>
                <a:ea typeface="宋体" panose="02010600030101010101" pitchFamily="2" charset="-122"/>
              </a:rPr>
              <a:t>晶体管</a:t>
            </a:r>
          </a:p>
        </p:txBody>
      </p:sp>
      <p:sp>
        <p:nvSpPr>
          <p:cNvPr id="10247" name="右箭头 7"/>
          <p:cNvSpPr/>
          <p:nvPr/>
        </p:nvSpPr>
        <p:spPr>
          <a:xfrm flipV="1">
            <a:off x="4095750" y="2654300"/>
            <a:ext cx="515938" cy="209550"/>
          </a:xfrm>
          <a:prstGeom prst="rightArrow">
            <a:avLst>
              <a:gd name="adj1" fmla="val 50000"/>
              <a:gd name="adj2" fmla="val 50051"/>
            </a:avLst>
          </a:prstGeom>
          <a:solidFill>
            <a:srgbClr val="FFFF00"/>
          </a:solidFill>
          <a:ln w="9525">
            <a:noFill/>
          </a:ln>
        </p:spPr>
        <p:txBody>
          <a:bodyPr wrap="square" lIns="92075" tIns="46038" rIns="92075" bIns="46038" anchor="t" anchorCtr="0"/>
          <a:lstStyle/>
          <a:p>
            <a:endParaRPr lang="zh-CN" altLang="en-US">
              <a:latin typeface="宋体" panose="02010600030101010101" pitchFamily="2" charset="-122"/>
              <a:ea typeface="宋体" panose="02010600030101010101" pitchFamily="2" charset="-122"/>
            </a:endParaRPr>
          </a:p>
        </p:txBody>
      </p:sp>
      <p:pic>
        <p:nvPicPr>
          <p:cNvPr id="10248" name="图片 8" descr="1 (2)"/>
          <p:cNvPicPr>
            <a:picLocks noChangeAspect="1"/>
          </p:cNvPicPr>
          <p:nvPr/>
        </p:nvPicPr>
        <p:blipFill>
          <a:blip r:embed="rId5"/>
          <a:stretch>
            <a:fillRect/>
          </a:stretch>
        </p:blipFill>
        <p:spPr>
          <a:xfrm>
            <a:off x="269875" y="3471863"/>
            <a:ext cx="4391025" cy="3294062"/>
          </a:xfrm>
          <a:prstGeom prst="rect">
            <a:avLst/>
          </a:prstGeom>
          <a:noFill/>
          <a:ln w="9525">
            <a:noFill/>
          </a:ln>
        </p:spPr>
      </p:pic>
      <p:sp>
        <p:nvSpPr>
          <p:cNvPr id="10249" name="内容占位符 2"/>
          <p:cNvSpPr>
            <a:spLocks noGrp="1"/>
          </p:cNvSpPr>
          <p:nvPr/>
        </p:nvSpPr>
        <p:spPr>
          <a:xfrm>
            <a:off x="5456238" y="5367338"/>
            <a:ext cx="2301875" cy="484187"/>
          </a:xfrm>
          <a:prstGeom prst="rect">
            <a:avLst/>
          </a:prstGeom>
          <a:noFill/>
          <a:ln w="9525">
            <a:noFill/>
          </a:ln>
        </p:spPr>
        <p:txBody>
          <a:bodyPr wrap="square" lIns="92075" tIns="46038" rIns="92075" bIns="46038" anchor="t" anchorCtr="0"/>
          <a:lstStyle/>
          <a:p>
            <a:pPr marL="342900" indent="-342900" algn="just" eaLnBrk="0" hangingPunct="0">
              <a:buClr>
                <a:schemeClr val="accent2"/>
              </a:buClr>
              <a:buSzPct val="70000"/>
              <a:buFont typeface="Wingdings" panose="05000000000000000000" pitchFamily="2" charset="2"/>
            </a:pPr>
            <a:r>
              <a:rPr lang="zh-CN" altLang="en-US">
                <a:latin typeface="宋体" panose="02010600030101010101" pitchFamily="2" charset="-122"/>
                <a:ea typeface="宋体" panose="02010600030101010101" pitchFamily="2" charset="-122"/>
              </a:rPr>
              <a:t>晶体管计算机</a:t>
            </a:r>
          </a:p>
        </p:txBody>
      </p:sp>
      <p:sp>
        <p:nvSpPr>
          <p:cNvPr id="10250" name="右箭头 10"/>
          <p:cNvSpPr/>
          <p:nvPr/>
        </p:nvSpPr>
        <p:spPr>
          <a:xfrm rot="-10800000" flipV="1">
            <a:off x="4940300" y="5467350"/>
            <a:ext cx="517525" cy="209550"/>
          </a:xfrm>
          <a:prstGeom prst="rightArrow">
            <a:avLst>
              <a:gd name="adj1" fmla="val 50000"/>
              <a:gd name="adj2" fmla="val 50205"/>
            </a:avLst>
          </a:prstGeom>
          <a:solidFill>
            <a:srgbClr val="FFFF00"/>
          </a:solidFill>
          <a:ln w="9525">
            <a:noFill/>
          </a:ln>
        </p:spPr>
        <p:txBody>
          <a:bodyPr wrap="square" lIns="92075" tIns="46038" rIns="92075" bIns="46038" anchor="t" anchorCtr="0"/>
          <a:lstStyle/>
          <a:p>
            <a:endParaRPr lang="zh-CN" altLang="en-US">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5" name="内容占位符 2"/>
          <p:cNvSpPr>
            <a:spLocks noGrp="1"/>
          </p:cNvSpPr>
          <p:nvPr>
            <p:ph idx="4294967295"/>
          </p:nvPr>
        </p:nvSpPr>
        <p:spPr>
          <a:xfrm>
            <a:off x="90488" y="260350"/>
            <a:ext cx="8567737" cy="4138613"/>
          </a:xfrm>
          <a:ln/>
        </p:spPr>
        <p:txBody>
          <a:bodyPr wrap="square" lIns="92075" tIns="46038" rIns="92075" bIns="46038" anchor="t" anchorCtr="0"/>
          <a:lstStyle/>
          <a:p>
            <a:pPr algn="just">
              <a:buNone/>
            </a:pPr>
            <a:r>
              <a:rPr lang="en-US" altLang="zh-CN" sz="2400"/>
              <a:t>             </a:t>
            </a:r>
            <a:r>
              <a:rPr lang="zh-CN" altLang="en-US" sz="2400">
                <a:solidFill>
                  <a:srgbClr val="FF0000"/>
                </a:solidFill>
              </a:rPr>
              <a:t>冯·诺依曼</a:t>
            </a:r>
            <a:r>
              <a:rPr lang="zh-CN" altLang="en-US" sz="2400"/>
              <a:t>（John von Neumann，1903~1957），20世纪最重要的数学家之一，在现代计算机、博弈论、核武器和生化武器等诸多领域内有杰出建树的最伟大的科学全才之一，被后人称为“计算机之父”和“博弈论之父”。原籍匈牙利，布达佩斯大学数学博士。先后执教于柏林大学和汉堡大学。1930年前往美国，后入美国籍。历任普林斯顿大学、普林斯顿高级研究所教授，美国原子能委员会会员。美国全国科学院院士。早期以算子理论、共振论、量子理论、集合论等方面的研究闻名，开创了冯·诺依曼代数。第二次世界大战期间为第一颗原子弹的研制作出了贡献。为研制电子数字计算机提供了基础性的方案。</a:t>
            </a:r>
          </a:p>
        </p:txBody>
      </p:sp>
      <p:sp>
        <p:nvSpPr>
          <p:cNvPr id="11266" name="内容占位符 2"/>
          <p:cNvSpPr>
            <a:spLocks noGrp="1"/>
          </p:cNvSpPr>
          <p:nvPr/>
        </p:nvSpPr>
        <p:spPr>
          <a:xfrm>
            <a:off x="109538" y="4432300"/>
            <a:ext cx="5291137" cy="2171700"/>
          </a:xfrm>
          <a:prstGeom prst="rect">
            <a:avLst/>
          </a:prstGeom>
          <a:noFill/>
          <a:ln w="9525">
            <a:noFill/>
          </a:ln>
        </p:spPr>
        <p:txBody>
          <a:bodyPr wrap="square" lIns="92075" tIns="46038" rIns="92075" bIns="46038" anchor="t" anchorCtr="0"/>
          <a:lstStyle/>
          <a:p>
            <a:pPr marL="342900" indent="-342900" algn="just" eaLnBrk="0" hangingPunct="0">
              <a:buClr>
                <a:schemeClr val="accent2"/>
              </a:buClr>
              <a:buSzPct val="70000"/>
              <a:buFont typeface="Wingdings" panose="05000000000000000000" pitchFamily="2" charset="2"/>
            </a:pPr>
            <a:r>
              <a:rPr lang="en-US" altLang="zh-CN">
                <a:latin typeface="Times New Roman" panose="02020603050405020304" pitchFamily="18" charset="0"/>
                <a:ea typeface="宋体" panose="02010600030101010101" pitchFamily="2" charset="-122"/>
              </a:rPr>
              <a:t>             </a:t>
            </a:r>
            <a:r>
              <a:rPr lang="zh-CN" altLang="en-US">
                <a:latin typeface="宋体" panose="02010600030101010101" pitchFamily="2" charset="-122"/>
                <a:ea typeface="宋体" panose="02010600030101010101" pitchFamily="2" charset="-122"/>
              </a:rPr>
              <a:t>1944年与摩根斯特恩（Oskar Morgenstern）合著《博弈论与经济行为》，是博弈论学科的奠基性著作。晚年，研究自动机理论，著有对人脑和计算机系统进行精确分析的著作《计算机与人脑》。</a:t>
            </a:r>
          </a:p>
        </p:txBody>
      </p:sp>
      <p:pic>
        <p:nvPicPr>
          <p:cNvPr id="11267" name="图片 4" descr="c75c10385343fbf262790274b27eca8065388f14"/>
          <p:cNvPicPr>
            <a:picLocks noChangeAspect="1"/>
          </p:cNvPicPr>
          <p:nvPr/>
        </p:nvPicPr>
        <p:blipFill>
          <a:blip r:embed="rId2"/>
          <a:stretch>
            <a:fillRect/>
          </a:stretch>
        </p:blipFill>
        <p:spPr>
          <a:xfrm>
            <a:off x="6237288" y="4000500"/>
            <a:ext cx="2136775" cy="2784475"/>
          </a:xfrm>
          <a:prstGeom prst="rect">
            <a:avLst/>
          </a:prstGeom>
          <a:noFill/>
          <a:ln w="9525">
            <a:noFill/>
          </a:ln>
        </p:spPr>
      </p:pic>
    </p:spTree>
  </p:cSld>
  <p:clrMapOvr>
    <a:masterClrMapping/>
  </p:clrMapOvr>
  <p:transition spd="med">
    <p:random/>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89" name="内容占位符 2"/>
          <p:cNvSpPr>
            <a:spLocks noGrp="1"/>
          </p:cNvSpPr>
          <p:nvPr>
            <p:ph idx="4294967295"/>
          </p:nvPr>
        </p:nvSpPr>
        <p:spPr>
          <a:xfrm>
            <a:off x="17463" y="233363"/>
            <a:ext cx="8788400" cy="6461125"/>
          </a:xfrm>
          <a:ln/>
        </p:spPr>
        <p:txBody>
          <a:bodyPr wrap="square" lIns="92075" tIns="46038" rIns="92075" bIns="46038" anchor="t" anchorCtr="0"/>
          <a:lstStyle/>
          <a:p>
            <a:pPr algn="just">
              <a:buNone/>
            </a:pPr>
            <a:r>
              <a:rPr lang="en-US" altLang="zh-CN" sz="2400"/>
              <a:t>             </a:t>
            </a:r>
            <a:r>
              <a:rPr lang="zh-CN" altLang="en-US" sz="2400">
                <a:solidFill>
                  <a:srgbClr val="FF0000"/>
                </a:solidFill>
              </a:rPr>
              <a:t>艾伦·麦席森·图灵</a:t>
            </a:r>
            <a:r>
              <a:rPr lang="zh-CN" altLang="en-US" sz="2400"/>
              <a:t>（Alan Mathison Turing，1912年6月23日－1954年6月7日），英国数学家、逻辑学家，被称为计算机之父，人工智能之父。1931年图灵进入剑桥大学国王学院，毕业后到美国普林斯顿大学攻读博士学位，二战爆发后回到剑桥，后曾协助军方破解德国的著名密码系统Enigma，帮助盟军取得了二战的胜利。2013年12月24日，在英国司法部长克里斯·格雷灵（Chris Grayling）的要求下，英国女王向图灵颁发了皇家赦免。图灵对于人工智能的发展有诸多贡献，提出了一种用于判定机器是否具有智能的试验方法，即图灵试验，至今，每年都有试验的比赛。此外，图灵提出的著名的图灵机模型为现代计算机的逻辑工作方式奠定了基础。</a:t>
            </a:r>
          </a:p>
          <a:p>
            <a:pPr algn="just">
              <a:buNone/>
            </a:pPr>
            <a:r>
              <a:rPr lang="zh-CN" altLang="en-US" sz="2400"/>
              <a:t>            </a:t>
            </a:r>
            <a:r>
              <a:rPr lang="zh-CN" altLang="en-US" sz="2400">
                <a:solidFill>
                  <a:srgbClr val="FF0000"/>
                </a:solidFill>
              </a:rPr>
              <a:t>图灵测试</a:t>
            </a:r>
            <a:r>
              <a:rPr lang="zh-CN" altLang="en-US" sz="2400"/>
              <a:t>：如果电脑能在5分钟内回答由人类测试者提出的一系列问题，且其超过30%的回答让测试者误认为是人类所答，则电脑通过测试。2014年6月7日是计算机科学之父</a:t>
            </a:r>
            <a:r>
              <a:rPr lang="en-US" altLang="zh-CN" sz="2400"/>
              <a:t>—</a:t>
            </a:r>
            <a:r>
              <a:rPr lang="zh-CN" altLang="en-US" sz="2400"/>
              <a:t>图灵（Alan Turing）逝世60周年纪念日。这一天，在英国皇家学会举行的“2014图灵测试”大会上，聊天程序“尤金·古斯特曼”（Eugene Goostman）首次“通过”了图灵测试。</a:t>
            </a:r>
          </a:p>
        </p:txBody>
      </p:sp>
    </p:spTree>
  </p:cSld>
  <p:clrMapOvr>
    <a:masterClrMapping/>
  </p:clrMapOvr>
  <p:transition spd="med">
    <p:random/>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3" name="内容占位符 2"/>
          <p:cNvSpPr>
            <a:spLocks noGrp="1"/>
          </p:cNvSpPr>
          <p:nvPr>
            <p:ph idx="4294967295"/>
          </p:nvPr>
        </p:nvSpPr>
        <p:spPr>
          <a:xfrm>
            <a:off x="42863" y="233363"/>
            <a:ext cx="8788400" cy="6461125"/>
          </a:xfrm>
          <a:ln/>
        </p:spPr>
        <p:txBody>
          <a:bodyPr wrap="square" lIns="92075" tIns="46038" rIns="92075" bIns="46038" anchor="t" anchorCtr="0"/>
          <a:lstStyle/>
          <a:p>
            <a:pPr algn="just">
              <a:buNone/>
            </a:pPr>
            <a:r>
              <a:rPr lang="en-US" altLang="zh-CN" sz="2400" dirty="0"/>
              <a:t>             </a:t>
            </a:r>
            <a:r>
              <a:rPr lang="zh-CN" altLang="en-US" sz="2400" dirty="0">
                <a:solidFill>
                  <a:srgbClr val="FF0000"/>
                </a:solidFill>
              </a:rPr>
              <a:t>图灵机</a:t>
            </a:r>
            <a:r>
              <a:rPr lang="zh-CN" altLang="en-US" sz="2400" dirty="0"/>
              <a:t>，又称图灵计算、图灵计算机，是</a:t>
            </a:r>
            <a:r>
              <a:rPr lang="zh-CN" altLang="en-US" sz="2400"/>
              <a:t>由数学家艾伦·麦席森·图灵</a:t>
            </a:r>
            <a:r>
              <a:rPr lang="zh-CN" altLang="en-US" sz="2400" dirty="0"/>
              <a:t>（1912～1954）提出的一种抽象计算模型，即将人们使用纸笔进行数学运算的过程进行抽象，由一个虚拟的机器替代人们进行数学运算。</a:t>
            </a:r>
          </a:p>
          <a:p>
            <a:pPr algn="just">
              <a:buNone/>
            </a:pPr>
            <a:r>
              <a:rPr lang="zh-CN" altLang="en-US" sz="2400" dirty="0"/>
              <a:t>             所谓的图灵机就是指一个抽象的机器，它有一条无限长的纸带，纸带分成了一个一个的小方格，每个方格有不同的颜色。有一个机器头在纸带上移来移去。机器头有一组内部状态，还有一些固定的程序。在每个时刻，机器头都要从当前纸带上读入一个方格信息，然后结合自己的内部状态查找程序表，根据程序输出信息到纸带方格上，并转换自己的内部状态，然后进行移动。</a:t>
            </a:r>
          </a:p>
        </p:txBody>
      </p:sp>
      <p:pic>
        <p:nvPicPr>
          <p:cNvPr id="13314" name="图片 1" descr="280199"/>
          <p:cNvPicPr>
            <a:picLocks noChangeAspect="1"/>
          </p:cNvPicPr>
          <p:nvPr/>
        </p:nvPicPr>
        <p:blipFill>
          <a:blip r:embed="rId2"/>
          <a:stretch>
            <a:fillRect/>
          </a:stretch>
        </p:blipFill>
        <p:spPr>
          <a:xfrm>
            <a:off x="4130675" y="4135438"/>
            <a:ext cx="4600575" cy="2600325"/>
          </a:xfrm>
          <a:prstGeom prst="rect">
            <a:avLst/>
          </a:prstGeom>
          <a:noFill/>
          <a:ln w="9525">
            <a:noFill/>
          </a:ln>
        </p:spPr>
      </p:pic>
      <p:pic>
        <p:nvPicPr>
          <p:cNvPr id="13315" name="图片 2" descr="2e4d0ab36a51cda4af25c08efbc6dc08"/>
          <p:cNvPicPr>
            <a:picLocks noChangeAspect="1"/>
          </p:cNvPicPr>
          <p:nvPr/>
        </p:nvPicPr>
        <p:blipFill>
          <a:blip r:embed="rId3"/>
          <a:stretch>
            <a:fillRect/>
          </a:stretch>
        </p:blipFill>
        <p:spPr>
          <a:xfrm>
            <a:off x="514350" y="4708525"/>
            <a:ext cx="3341688" cy="1446213"/>
          </a:xfrm>
          <a:prstGeom prst="rect">
            <a:avLst/>
          </a:prstGeom>
          <a:noFill/>
          <a:ln w="9525">
            <a:noFill/>
          </a:ln>
        </p:spPr>
      </p:pic>
    </p:spTree>
  </p:cSld>
  <p:clrMapOvr>
    <a:masterClrMapping/>
  </p:clrMapOvr>
  <p:transition spd="med">
    <p:random/>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7" name="内容占位符 2"/>
          <p:cNvSpPr>
            <a:spLocks noGrp="1"/>
          </p:cNvSpPr>
          <p:nvPr>
            <p:ph idx="4294967295"/>
          </p:nvPr>
        </p:nvSpPr>
        <p:spPr>
          <a:xfrm>
            <a:off x="273050" y="1049338"/>
            <a:ext cx="8218488" cy="4651375"/>
          </a:xfrm>
          <a:ln/>
        </p:spPr>
        <p:txBody>
          <a:bodyPr wrap="square" lIns="92075" tIns="46038" rIns="92075" bIns="46038" anchor="t" anchorCtr="0"/>
          <a:lstStyle/>
          <a:p>
            <a:pPr algn="just">
              <a:buNone/>
            </a:pPr>
            <a:r>
              <a:rPr lang="en-US" altLang="zh-CN" sz="2400"/>
              <a:t> </a:t>
            </a:r>
          </a:p>
        </p:txBody>
      </p:sp>
      <p:sp>
        <p:nvSpPr>
          <p:cNvPr id="14338" name="文本框 3"/>
          <p:cNvSpPr txBox="1"/>
          <p:nvPr/>
        </p:nvSpPr>
        <p:spPr>
          <a:xfrm>
            <a:off x="1911350" y="663575"/>
            <a:ext cx="5080000" cy="438150"/>
          </a:xfrm>
          <a:prstGeom prst="rect">
            <a:avLst/>
          </a:prstGeom>
          <a:noFill/>
          <a:ln w="9525">
            <a:noFill/>
          </a:ln>
        </p:spPr>
        <p:txBody>
          <a:bodyPr wrap="square" anchor="t" anchorCtr="0">
            <a:spAutoFit/>
          </a:bodyPr>
          <a:lstStyle/>
          <a:p>
            <a:pPr algn="ctr"/>
            <a:r>
              <a:rPr lang="zh-CN" altLang="en-US">
                <a:solidFill>
                  <a:srgbClr val="FFFF66"/>
                </a:solidFill>
                <a:latin typeface="宋体" panose="02010600030101010101" pitchFamily="2" charset="-122"/>
                <a:ea typeface="宋体" panose="02010600030101010101" pitchFamily="2" charset="-122"/>
              </a:rPr>
              <a:t>表</a:t>
            </a:r>
            <a:r>
              <a:rPr lang="en-US" altLang="zh-CN">
                <a:solidFill>
                  <a:srgbClr val="FFFF66"/>
                </a:solidFill>
                <a:latin typeface="Times New Roman" panose="02020603050405020304" pitchFamily="18" charset="0"/>
                <a:ea typeface="宋体" panose="02010600030101010101" pitchFamily="2" charset="-122"/>
              </a:rPr>
              <a:t>1-1  </a:t>
            </a:r>
            <a:r>
              <a:rPr lang="zh-CN" altLang="en-US">
                <a:solidFill>
                  <a:srgbClr val="FFFF66"/>
                </a:solidFill>
                <a:latin typeface="宋体" panose="02010600030101010101" pitchFamily="2" charset="-122"/>
                <a:ea typeface="宋体" panose="02010600030101010101" pitchFamily="2" charset="-122"/>
              </a:rPr>
              <a:t>计算机的发展历程</a:t>
            </a:r>
          </a:p>
        </p:txBody>
      </p:sp>
      <p:graphicFrame>
        <p:nvGraphicFramePr>
          <p:cNvPr id="6" name="表格 5"/>
          <p:cNvGraphicFramePr/>
          <p:nvPr/>
        </p:nvGraphicFramePr>
        <p:xfrm>
          <a:off x="180975" y="1400175"/>
          <a:ext cx="8765540" cy="4069080"/>
        </p:xfrm>
        <a:graphic>
          <a:graphicData uri="http://schemas.openxmlformats.org/drawingml/2006/table">
            <a:tbl>
              <a:tblPr firstRow="1" bandRow="1">
                <a:tableStyleId>{5940675A-B579-460E-94D1-54222C63F5DA}</a:tableStyleId>
              </a:tblPr>
              <a:tblGrid>
                <a:gridCol w="1072515">
                  <a:extLst>
                    <a:ext uri="{9D8B030D-6E8A-4147-A177-3AD203B41FA5}">
                      <a16:colId xmlns:a16="http://schemas.microsoft.com/office/drawing/2014/main" val="20000"/>
                    </a:ext>
                  </a:extLst>
                </a:gridCol>
                <a:gridCol w="2004060">
                  <a:extLst>
                    <a:ext uri="{9D8B030D-6E8A-4147-A177-3AD203B41FA5}">
                      <a16:colId xmlns:a16="http://schemas.microsoft.com/office/drawing/2014/main" val="20001"/>
                    </a:ext>
                  </a:extLst>
                </a:gridCol>
                <a:gridCol w="1897380">
                  <a:extLst>
                    <a:ext uri="{9D8B030D-6E8A-4147-A177-3AD203B41FA5}">
                      <a16:colId xmlns:a16="http://schemas.microsoft.com/office/drawing/2014/main" val="20002"/>
                    </a:ext>
                  </a:extLst>
                </a:gridCol>
                <a:gridCol w="1729740">
                  <a:extLst>
                    <a:ext uri="{9D8B030D-6E8A-4147-A177-3AD203B41FA5}">
                      <a16:colId xmlns:a16="http://schemas.microsoft.com/office/drawing/2014/main" val="20003"/>
                    </a:ext>
                  </a:extLst>
                </a:gridCol>
                <a:gridCol w="2061845">
                  <a:extLst>
                    <a:ext uri="{9D8B030D-6E8A-4147-A177-3AD203B41FA5}">
                      <a16:colId xmlns:a16="http://schemas.microsoft.com/office/drawing/2014/main" val="20004"/>
                    </a:ext>
                  </a:extLst>
                </a:gridCol>
              </a:tblGrid>
              <a:tr h="452120">
                <a:tc gridSpan="2">
                  <a:txBody>
                    <a:bodyPr/>
                    <a:lstStyle/>
                    <a:p>
                      <a:pPr marL="0" indent="0" algn="ctr">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计算机时代</a:t>
                      </a:r>
                    </a:p>
                  </a:txBody>
                  <a:tcPr marL="0" marR="0" marT="0" marB="1">
                    <a:lnL w="9525" cap="flat" cmpd="sng">
                      <a:solidFill>
                        <a:srgbClr val="000000"/>
                      </a:solidFill>
                      <a:prstDash val="solid"/>
                      <a:headEnd type="none" w="med" len="med"/>
                      <a:tailEnd type="none" w="med" len="med"/>
                    </a:lnL>
                    <a:lnR>
                      <a:noFill/>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hMerge="1">
                  <a:txBody>
                    <a:bodyPr/>
                    <a:lstStyle/>
                    <a:p>
                      <a:endParaRPr lang="zh-CN"/>
                    </a:p>
                  </a:txBody>
                  <a:tcPr>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tcPr>
                </a:tc>
                <a:tc>
                  <a:txBody>
                    <a:bodyPr/>
                    <a:lstStyle/>
                    <a:p>
                      <a:pPr marL="0" indent="0" algn="ctr">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年份</a:t>
                      </a:r>
                    </a:p>
                  </a:txBody>
                  <a:tcPr marL="0" marR="0" marT="0" marB="1">
                    <a:lnL w="6350" cap="flat" cmpd="sng">
                      <a:no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ctr">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存储器</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ctr">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重要特征</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extLst>
                  <a:ext uri="{0D108BD9-81ED-4DB2-BD59-A6C34878D82A}">
                    <a16:rowId xmlns:a16="http://schemas.microsoft.com/office/drawing/2014/main" val="10000"/>
                  </a:ext>
                </a:extLst>
              </a:tr>
              <a:tr h="904240">
                <a:tc>
                  <a:txBody>
                    <a:bodyPr/>
                    <a:lstStyle/>
                    <a:p>
                      <a:pPr marL="0" indent="0" algn="l">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第一代</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l">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电子管时代</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l">
                        <a:buNone/>
                      </a:pPr>
                      <a:r>
                        <a:rPr lang="en-US" altLang="zh-CN" sz="2000" b="0" u="none">
                          <a:solidFill>
                            <a:srgbClr val="000000"/>
                          </a:solidFill>
                          <a:latin typeface="宋体" panose="02010600030101010101" pitchFamily="2" charset="-122"/>
                          <a:ea typeface="宋体" panose="02010600030101010101" pitchFamily="2" charset="-122"/>
                          <a:cs typeface="宋体" panose="02010600030101010101" pitchFamily="2" charset="-122"/>
                        </a:rPr>
                        <a:t>1946</a:t>
                      </a: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年</a:t>
                      </a:r>
                      <a:r>
                        <a:rPr lang="en-US" altLang="zh-CN" sz="2000" b="0" u="none">
                          <a:solidFill>
                            <a:srgbClr val="000000"/>
                          </a:solidFill>
                          <a:latin typeface="宋体" panose="02010600030101010101" pitchFamily="2" charset="-122"/>
                          <a:ea typeface="宋体" panose="02010600030101010101" pitchFamily="2" charset="-122"/>
                          <a:cs typeface="宋体" panose="02010600030101010101" pitchFamily="2" charset="-122"/>
                        </a:rPr>
                        <a:t>~1957</a:t>
                      </a: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年</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l">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磁鼓存储器</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l">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机器语言</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extLst>
                  <a:ext uri="{0D108BD9-81ED-4DB2-BD59-A6C34878D82A}">
                    <a16:rowId xmlns:a16="http://schemas.microsoft.com/office/drawing/2014/main" val="10001"/>
                  </a:ext>
                </a:extLst>
              </a:tr>
              <a:tr h="904240">
                <a:tc>
                  <a:txBody>
                    <a:bodyPr/>
                    <a:lstStyle/>
                    <a:p>
                      <a:pPr marL="0" indent="0" algn="l">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第二代</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l">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晶体管时代</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l">
                        <a:buNone/>
                      </a:pPr>
                      <a:r>
                        <a:rPr lang="en-US" altLang="zh-CN" sz="2000" b="0" u="none">
                          <a:solidFill>
                            <a:srgbClr val="000000"/>
                          </a:solidFill>
                          <a:latin typeface="宋体" panose="02010600030101010101" pitchFamily="2" charset="-122"/>
                          <a:ea typeface="宋体" panose="02010600030101010101" pitchFamily="2" charset="-122"/>
                          <a:cs typeface="宋体" panose="02010600030101010101" pitchFamily="2" charset="-122"/>
                        </a:rPr>
                        <a:t>1958</a:t>
                      </a: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年</a:t>
                      </a:r>
                      <a:r>
                        <a:rPr lang="en-US" altLang="zh-CN" sz="2000" b="0" u="none">
                          <a:solidFill>
                            <a:srgbClr val="000000"/>
                          </a:solidFill>
                          <a:latin typeface="宋体" panose="02010600030101010101" pitchFamily="2" charset="-122"/>
                          <a:ea typeface="宋体" panose="02010600030101010101" pitchFamily="2" charset="-122"/>
                          <a:cs typeface="宋体" panose="02010600030101010101" pitchFamily="2" charset="-122"/>
                        </a:rPr>
                        <a:t>~1963</a:t>
                      </a: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年</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l">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磁芯存储器</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l">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发展到高级语言</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extLst>
                  <a:ext uri="{0D108BD9-81ED-4DB2-BD59-A6C34878D82A}">
                    <a16:rowId xmlns:a16="http://schemas.microsoft.com/office/drawing/2014/main" val="10002"/>
                  </a:ext>
                </a:extLst>
              </a:tr>
              <a:tr h="904240">
                <a:tc>
                  <a:txBody>
                    <a:bodyPr/>
                    <a:lstStyle/>
                    <a:p>
                      <a:pPr marL="0" indent="0" algn="l">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第三代</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l">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集成电路时代</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l">
                        <a:buNone/>
                      </a:pPr>
                      <a:r>
                        <a:rPr lang="en-US" altLang="zh-CN" sz="2000" b="0" u="none">
                          <a:solidFill>
                            <a:srgbClr val="000000"/>
                          </a:solidFill>
                          <a:latin typeface="宋体" panose="02010600030101010101" pitchFamily="2" charset="-122"/>
                          <a:ea typeface="宋体" panose="02010600030101010101" pitchFamily="2" charset="-122"/>
                          <a:cs typeface="宋体" panose="02010600030101010101" pitchFamily="2" charset="-122"/>
                        </a:rPr>
                        <a:t>1964</a:t>
                      </a: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年</a:t>
                      </a:r>
                      <a:r>
                        <a:rPr lang="en-US" altLang="zh-CN" sz="2000" b="0" u="none">
                          <a:solidFill>
                            <a:srgbClr val="000000"/>
                          </a:solidFill>
                          <a:latin typeface="宋体" panose="02010600030101010101" pitchFamily="2" charset="-122"/>
                          <a:ea typeface="宋体" panose="02010600030101010101" pitchFamily="2" charset="-122"/>
                          <a:cs typeface="宋体" panose="02010600030101010101" pitchFamily="2" charset="-122"/>
                        </a:rPr>
                        <a:t>~1970</a:t>
                      </a: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年</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l">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半导体存储器</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l">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发展到总线结构</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extLst>
                  <a:ext uri="{0D108BD9-81ED-4DB2-BD59-A6C34878D82A}">
                    <a16:rowId xmlns:a16="http://schemas.microsoft.com/office/drawing/2014/main" val="10003"/>
                  </a:ext>
                </a:extLst>
              </a:tr>
              <a:tr h="904240">
                <a:tc>
                  <a:txBody>
                    <a:bodyPr/>
                    <a:lstStyle/>
                    <a:p>
                      <a:pPr marL="0" indent="0" algn="l">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第四代</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l">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（超）大规模集成电路</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l">
                        <a:buNone/>
                      </a:pPr>
                      <a:r>
                        <a:rPr lang="en-US" altLang="zh-CN" sz="2000" b="0" u="none">
                          <a:solidFill>
                            <a:srgbClr val="000000"/>
                          </a:solidFill>
                          <a:latin typeface="宋体" panose="02010600030101010101" pitchFamily="2" charset="-122"/>
                          <a:ea typeface="宋体" panose="02010600030101010101" pitchFamily="2" charset="-122"/>
                          <a:cs typeface="宋体" panose="02010600030101010101" pitchFamily="2" charset="-122"/>
                        </a:rPr>
                        <a:t>1971</a:t>
                      </a: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年</a:t>
                      </a:r>
                      <a:r>
                        <a:rPr lang="en-US" altLang="zh-CN" sz="2000" b="0" u="none">
                          <a:solidFill>
                            <a:srgbClr val="000000"/>
                          </a:solidFill>
                          <a:latin typeface="宋体" panose="02010600030101010101" pitchFamily="2" charset="-122"/>
                          <a:ea typeface="宋体" panose="02010600030101010101" pitchFamily="2" charset="-122"/>
                          <a:cs typeface="宋体" panose="02010600030101010101" pitchFamily="2" charset="-122"/>
                        </a:rPr>
                        <a:t>~</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l">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半导体存储器</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tc>
                  <a:txBody>
                    <a:bodyPr/>
                    <a:lstStyle/>
                    <a:p>
                      <a:pPr marL="0" indent="0" algn="l">
                        <a:buNone/>
                      </a:pPr>
                      <a:r>
                        <a:rPr lang="zh-CN" altLang="en-US" sz="2000" b="0" u="none">
                          <a:solidFill>
                            <a:srgbClr val="000000"/>
                          </a:solidFill>
                          <a:latin typeface="宋体" panose="02010600030101010101" pitchFamily="2" charset="-122"/>
                          <a:ea typeface="宋体" panose="02010600030101010101" pitchFamily="2" charset="-122"/>
                          <a:cs typeface="宋体" panose="02010600030101010101" pitchFamily="2" charset="-122"/>
                        </a:rPr>
                        <a:t>发展到微处理器</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40000"/>
                        <a:lumOff val="60000"/>
                      </a:schemeClr>
                    </a:solidFill>
                  </a:tcPr>
                </a:tc>
                <a:extLst>
                  <a:ext uri="{0D108BD9-81ED-4DB2-BD59-A6C34878D82A}">
                    <a16:rowId xmlns:a16="http://schemas.microsoft.com/office/drawing/2014/main" val="10004"/>
                  </a:ext>
                </a:extLst>
              </a:tr>
            </a:tbl>
          </a:graphicData>
        </a:graphic>
      </p:graphicFrame>
      <p:grpSp>
        <p:nvGrpSpPr>
          <p:cNvPr id="14377" name="组合 358439"/>
          <p:cNvGrpSpPr/>
          <p:nvPr/>
        </p:nvGrpSpPr>
        <p:grpSpPr>
          <a:xfrm>
            <a:off x="547688" y="5513388"/>
            <a:ext cx="8156575" cy="1327150"/>
            <a:chOff x="-52" y="2660"/>
            <a:chExt cx="5524" cy="1408"/>
          </a:xfrm>
        </p:grpSpPr>
        <p:graphicFrame>
          <p:nvGraphicFramePr>
            <p:cNvPr id="14378" name="对象 358440"/>
            <p:cNvGraphicFramePr/>
            <p:nvPr/>
          </p:nvGraphicFramePr>
          <p:xfrm>
            <a:off x="2792" y="2667"/>
            <a:ext cx="1052" cy="1000"/>
          </p:xfrm>
          <a:graphic>
            <a:graphicData uri="http://schemas.openxmlformats.org/presentationml/2006/ole">
              <mc:AlternateContent xmlns:mc="http://schemas.openxmlformats.org/markup-compatibility/2006">
                <mc:Choice xmlns:v="urn:schemas-microsoft-com:vml" Requires="v">
                  <p:oleObj spid="_x0000_s3083" r:id="rId3" imgW="1384300" imgH="1155700" progId="Photoshop.Image.4">
                    <p:embed/>
                  </p:oleObj>
                </mc:Choice>
                <mc:Fallback>
                  <p:oleObj r:id="rId3" imgW="1384300" imgH="1155700" progId="Photoshop.Image.4">
                    <p:embed/>
                    <p:pic>
                      <p:nvPicPr>
                        <p:cNvPr id="0" name="图片 3075"/>
                        <p:cNvPicPr/>
                        <p:nvPr/>
                      </p:nvPicPr>
                      <p:blipFill>
                        <a:blip r:embed="rId4"/>
                        <a:srcRect l="9529" t="9465" r="9738" b="4150"/>
                        <a:stretch>
                          <a:fillRect/>
                        </a:stretch>
                      </p:blipFill>
                      <p:spPr>
                        <a:xfrm>
                          <a:off x="2792" y="2667"/>
                          <a:ext cx="1052" cy="1000"/>
                        </a:xfrm>
                        <a:prstGeom prst="rect">
                          <a:avLst/>
                        </a:prstGeom>
                        <a:noFill/>
                        <a:ln w="38100">
                          <a:noFill/>
                          <a:miter/>
                        </a:ln>
                      </p:spPr>
                    </p:pic>
                  </p:oleObj>
                </mc:Fallback>
              </mc:AlternateContent>
            </a:graphicData>
          </a:graphic>
        </p:graphicFrame>
        <p:pic>
          <p:nvPicPr>
            <p:cNvPr id="14379" name="图片 358441" descr="B131208"/>
            <p:cNvPicPr>
              <a:picLocks noChangeAspect="1"/>
            </p:cNvPicPr>
            <p:nvPr/>
          </p:nvPicPr>
          <p:blipFill>
            <a:blip r:embed="rId5"/>
            <a:stretch>
              <a:fillRect/>
            </a:stretch>
          </p:blipFill>
          <p:spPr>
            <a:xfrm>
              <a:off x="-52" y="2664"/>
              <a:ext cx="1413" cy="984"/>
            </a:xfrm>
            <a:prstGeom prst="rect">
              <a:avLst/>
            </a:prstGeom>
            <a:noFill/>
            <a:ln w="9525">
              <a:noFill/>
            </a:ln>
          </p:spPr>
        </p:pic>
        <p:sp>
          <p:nvSpPr>
            <p:cNvPr id="14380" name="文本框 358442"/>
            <p:cNvSpPr txBox="1"/>
            <p:nvPr/>
          </p:nvSpPr>
          <p:spPr>
            <a:xfrm>
              <a:off x="148" y="3645"/>
              <a:ext cx="974" cy="219"/>
            </a:xfrm>
            <a:prstGeom prst="rect">
              <a:avLst/>
            </a:prstGeom>
            <a:noFill/>
            <a:ln w="9525">
              <a:noFill/>
            </a:ln>
          </p:spPr>
          <p:txBody>
            <a:bodyPr anchor="t" anchorCtr="0"/>
            <a:lstStyle/>
            <a:p>
              <a:pPr algn="ctr" eaLnBrk="0" hangingPunct="0">
                <a:spcAft>
                  <a:spcPts val="600"/>
                </a:spcAft>
              </a:pPr>
              <a:r>
                <a:rPr lang="zh-CN" altLang="en-US" sz="2000" dirty="0">
                  <a:solidFill>
                    <a:srgbClr val="A50021"/>
                  </a:solidFill>
                  <a:latin typeface="Times New Roman" panose="02020603050405020304" pitchFamily="18" charset="0"/>
                  <a:ea typeface="宋体" panose="02010600030101010101" pitchFamily="2" charset="-122"/>
                </a:rPr>
                <a:t>电子管</a:t>
              </a:r>
            </a:p>
          </p:txBody>
        </p:sp>
        <p:pic>
          <p:nvPicPr>
            <p:cNvPr id="14381" name="图片 358443" descr="B131209"/>
            <p:cNvPicPr>
              <a:picLocks noChangeAspect="1"/>
            </p:cNvPicPr>
            <p:nvPr/>
          </p:nvPicPr>
          <p:blipFill>
            <a:blip r:embed="rId6"/>
            <a:stretch>
              <a:fillRect/>
            </a:stretch>
          </p:blipFill>
          <p:spPr>
            <a:xfrm>
              <a:off x="1446" y="2660"/>
              <a:ext cx="1193" cy="999"/>
            </a:xfrm>
            <a:prstGeom prst="rect">
              <a:avLst/>
            </a:prstGeom>
            <a:noFill/>
            <a:ln w="9525">
              <a:noFill/>
            </a:ln>
          </p:spPr>
        </p:pic>
        <p:sp>
          <p:nvSpPr>
            <p:cNvPr id="14382" name="文本框 358444"/>
            <p:cNvSpPr txBox="1"/>
            <p:nvPr/>
          </p:nvSpPr>
          <p:spPr>
            <a:xfrm>
              <a:off x="1453" y="3638"/>
              <a:ext cx="1202" cy="251"/>
            </a:xfrm>
            <a:prstGeom prst="rect">
              <a:avLst/>
            </a:prstGeom>
            <a:noFill/>
            <a:ln w="9525">
              <a:noFill/>
            </a:ln>
          </p:spPr>
          <p:txBody>
            <a:bodyPr anchor="t" anchorCtr="0"/>
            <a:lstStyle/>
            <a:p>
              <a:pPr algn="ctr" eaLnBrk="0" hangingPunct="0">
                <a:spcAft>
                  <a:spcPts val="600"/>
                </a:spcAft>
              </a:pPr>
              <a:r>
                <a:rPr lang="zh-CN" altLang="en-US" sz="2000" dirty="0">
                  <a:solidFill>
                    <a:srgbClr val="A50021"/>
                  </a:solidFill>
                  <a:latin typeface="Times New Roman" panose="02020603050405020304" pitchFamily="18" charset="0"/>
                  <a:ea typeface="宋体" panose="02010600030101010101" pitchFamily="2" charset="-122"/>
                </a:rPr>
                <a:t>晶体管</a:t>
              </a:r>
            </a:p>
          </p:txBody>
        </p:sp>
        <p:pic>
          <p:nvPicPr>
            <p:cNvPr id="14383" name="图片 358445" descr="cpu"/>
            <p:cNvPicPr>
              <a:picLocks noChangeAspect="1"/>
            </p:cNvPicPr>
            <p:nvPr/>
          </p:nvPicPr>
          <p:blipFill>
            <a:blip r:embed="rId7"/>
            <a:stretch>
              <a:fillRect/>
            </a:stretch>
          </p:blipFill>
          <p:spPr>
            <a:xfrm>
              <a:off x="4019" y="2683"/>
              <a:ext cx="1370" cy="995"/>
            </a:xfrm>
            <a:prstGeom prst="rect">
              <a:avLst/>
            </a:prstGeom>
            <a:noFill/>
            <a:ln w="9525">
              <a:noFill/>
            </a:ln>
          </p:spPr>
        </p:pic>
        <p:sp>
          <p:nvSpPr>
            <p:cNvPr id="14384" name="文本框 358446"/>
            <p:cNvSpPr txBox="1"/>
            <p:nvPr/>
          </p:nvSpPr>
          <p:spPr>
            <a:xfrm>
              <a:off x="3935" y="3675"/>
              <a:ext cx="1537" cy="267"/>
            </a:xfrm>
            <a:prstGeom prst="rect">
              <a:avLst/>
            </a:prstGeom>
            <a:noFill/>
            <a:ln w="9525">
              <a:noFill/>
            </a:ln>
          </p:spPr>
          <p:txBody>
            <a:bodyPr anchor="t" anchorCtr="0"/>
            <a:lstStyle/>
            <a:p>
              <a:pPr algn="ctr" eaLnBrk="0" hangingPunct="0">
                <a:spcAft>
                  <a:spcPts val="600"/>
                </a:spcAft>
              </a:pPr>
              <a:r>
                <a:rPr lang="zh-CN" altLang="en-US" sz="2000" dirty="0">
                  <a:solidFill>
                    <a:srgbClr val="A50021"/>
                  </a:solidFill>
                  <a:latin typeface="Times New Roman" panose="02020603050405020304" pitchFamily="18" charset="0"/>
                  <a:ea typeface="宋体" panose="02010600030101010101" pitchFamily="2" charset="-122"/>
                </a:rPr>
                <a:t>超大规模集成电路</a:t>
              </a:r>
            </a:p>
          </p:txBody>
        </p:sp>
        <p:sp>
          <p:nvSpPr>
            <p:cNvPr id="14385" name="文本框 358447"/>
            <p:cNvSpPr txBox="1"/>
            <p:nvPr/>
          </p:nvSpPr>
          <p:spPr>
            <a:xfrm>
              <a:off x="2785" y="3675"/>
              <a:ext cx="1052" cy="393"/>
            </a:xfrm>
            <a:prstGeom prst="rect">
              <a:avLst/>
            </a:prstGeom>
            <a:noFill/>
            <a:ln w="12700">
              <a:noFill/>
            </a:ln>
          </p:spPr>
          <p:txBody>
            <a:bodyPr anchor="t" anchorCtr="0">
              <a:spAutoFit/>
            </a:bodyPr>
            <a:lstStyle/>
            <a:p>
              <a:pPr algn="ctr">
                <a:spcBef>
                  <a:spcPct val="50000"/>
                </a:spcBef>
              </a:pPr>
              <a:r>
                <a:rPr lang="zh-CN" altLang="en-US" sz="2000" dirty="0">
                  <a:solidFill>
                    <a:srgbClr val="A50021"/>
                  </a:solidFill>
                  <a:latin typeface="Arial" panose="020B0604020202020204" pitchFamily="34" charset="0"/>
                  <a:ea typeface="宋体" panose="02010600030101010101" pitchFamily="2" charset="-122"/>
                </a:rPr>
                <a:t>集成电路</a:t>
              </a:r>
            </a:p>
          </p:txBody>
        </p:sp>
      </p:grpSp>
    </p:spTree>
  </p:cSld>
  <p:clrMapOvr>
    <a:masterClrMapping/>
  </p:clrMapOvr>
  <p:transition spd="med">
    <p:random/>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微处理器的发展</a:t>
            </a:r>
          </a:p>
        </p:txBody>
      </p:sp>
      <p:sp>
        <p:nvSpPr>
          <p:cNvPr id="15362" name="内容占位符 2"/>
          <p:cNvSpPr>
            <a:spLocks noGrp="1"/>
          </p:cNvSpPr>
          <p:nvPr>
            <p:ph idx="4294967295"/>
          </p:nvPr>
        </p:nvSpPr>
        <p:spPr>
          <a:xfrm>
            <a:off x="309563" y="2070100"/>
            <a:ext cx="8145462" cy="2978150"/>
          </a:xfrm>
          <a:ln/>
        </p:spPr>
        <p:txBody>
          <a:bodyPr wrap="square" lIns="92075" tIns="46038" rIns="92075" bIns="46038" anchor="t" anchorCtr="0"/>
          <a:lstStyle/>
          <a:p>
            <a:pPr algn="just">
              <a:lnSpc>
                <a:spcPts val="3200"/>
              </a:lnSpc>
              <a:buNone/>
            </a:pPr>
            <a:r>
              <a:rPr lang="en-US" altLang="zh-CN" sz="2400"/>
              <a:t>              微处理器出现于20世纪70年代，是大规模集成电路发展的产物。将计算机中的运算器和控制器集成在一片硅片上制成的集成电路作为微型计算机的中央处理部件（</a:t>
            </a:r>
            <a:r>
              <a:rPr lang="en-US" altLang="zh-CN" sz="2400">
                <a:solidFill>
                  <a:srgbClr val="FF0000"/>
                </a:solidFill>
              </a:rPr>
              <a:t>CPU</a:t>
            </a:r>
            <a:r>
              <a:rPr lang="en-US" altLang="zh-CN" sz="2400"/>
              <a:t>，Central Processing Unit），称为微处理器。微型计算机以微处理器为核心，再配上适量内存、接口电路和外部设备组成。          </a:t>
            </a:r>
          </a:p>
          <a:p>
            <a:pPr algn="just">
              <a:lnSpc>
                <a:spcPts val="3200"/>
              </a:lnSpc>
              <a:buNone/>
            </a:pPr>
            <a:endParaRPr lang="en-US" altLang="zh-CN" sz="2400"/>
          </a:p>
        </p:txBody>
      </p:sp>
    </p:spTree>
  </p:cSld>
  <p:clrMapOvr>
    <a:masterClrMapping/>
  </p:clrMapOvr>
  <p:transition spd="med">
    <p:random/>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微处理器的发展</a:t>
            </a:r>
          </a:p>
        </p:txBody>
      </p:sp>
      <p:sp>
        <p:nvSpPr>
          <p:cNvPr id="16386" name="内容占位符 2"/>
          <p:cNvSpPr>
            <a:spLocks noGrp="1"/>
          </p:cNvSpPr>
          <p:nvPr>
            <p:ph idx="4294967295"/>
          </p:nvPr>
        </p:nvSpPr>
        <p:spPr>
          <a:xfrm>
            <a:off x="277813" y="1368425"/>
            <a:ext cx="8147050" cy="2957513"/>
          </a:xfrm>
          <a:ln/>
        </p:spPr>
        <p:txBody>
          <a:bodyPr wrap="square" lIns="92075" tIns="46038" rIns="92075" bIns="46038" anchor="t" anchorCtr="0"/>
          <a:lstStyle/>
          <a:p>
            <a:pPr algn="just">
              <a:lnSpc>
                <a:spcPts val="3200"/>
              </a:lnSpc>
              <a:buNone/>
            </a:pPr>
            <a:r>
              <a:rPr lang="en-US" altLang="zh-CN" sz="2400"/>
              <a:t>              微处理器的品质决定了微型计算机的性能，因此微处理器的发展历程也是微型计算机的发展历史。美国Intel公司于1971年成功开发出全球第一块微处理器4004芯片，这一芯片最初被应用于一种计算器中。这一创举也开始了人类将智能内嵌于无生命设备的历程。近30多年来微处理器本身不断更新换代，从4位发展到8位、16位、32位乃至64位。其应用范围几乎渗透到社会的各个领域。 </a:t>
            </a:r>
          </a:p>
          <a:p>
            <a:pPr algn="just">
              <a:lnSpc>
                <a:spcPts val="3200"/>
              </a:lnSpc>
              <a:buNone/>
            </a:pPr>
            <a:endParaRPr lang="en-US" altLang="zh-CN" sz="2400"/>
          </a:p>
        </p:txBody>
      </p:sp>
      <p:pic>
        <p:nvPicPr>
          <p:cNvPr id="16387" name="图片 3" descr="u=1980174849,4034480460&amp;fm=23&amp;gp=0.jpg"/>
          <p:cNvPicPr>
            <a:picLocks noChangeAspect="1"/>
          </p:cNvPicPr>
          <p:nvPr/>
        </p:nvPicPr>
        <p:blipFill>
          <a:blip r:embed="rId2"/>
          <a:stretch>
            <a:fillRect/>
          </a:stretch>
        </p:blipFill>
        <p:spPr>
          <a:xfrm>
            <a:off x="47625" y="4310063"/>
            <a:ext cx="2936875" cy="1011237"/>
          </a:xfrm>
          <a:prstGeom prst="rect">
            <a:avLst/>
          </a:prstGeom>
          <a:noFill/>
          <a:ln w="9525">
            <a:noFill/>
          </a:ln>
        </p:spPr>
      </p:pic>
      <p:pic>
        <p:nvPicPr>
          <p:cNvPr id="16388" name="图片 1" descr="1 (3)"/>
          <p:cNvPicPr>
            <a:picLocks noChangeAspect="1"/>
          </p:cNvPicPr>
          <p:nvPr/>
        </p:nvPicPr>
        <p:blipFill>
          <a:blip r:embed="rId3"/>
          <a:stretch>
            <a:fillRect/>
          </a:stretch>
        </p:blipFill>
        <p:spPr>
          <a:xfrm>
            <a:off x="44450" y="5426075"/>
            <a:ext cx="2949575" cy="1219200"/>
          </a:xfrm>
          <a:prstGeom prst="rect">
            <a:avLst/>
          </a:prstGeom>
          <a:noFill/>
          <a:ln w="9525">
            <a:noFill/>
          </a:ln>
        </p:spPr>
      </p:pic>
      <p:pic>
        <p:nvPicPr>
          <p:cNvPr id="16389" name="图片 2" descr="1 (1)"/>
          <p:cNvPicPr>
            <a:picLocks noChangeAspect="1"/>
          </p:cNvPicPr>
          <p:nvPr/>
        </p:nvPicPr>
        <p:blipFill>
          <a:blip r:embed="rId4"/>
          <a:stretch>
            <a:fillRect/>
          </a:stretch>
        </p:blipFill>
        <p:spPr>
          <a:xfrm>
            <a:off x="3095625" y="4305300"/>
            <a:ext cx="2349500" cy="2346325"/>
          </a:xfrm>
          <a:prstGeom prst="rect">
            <a:avLst/>
          </a:prstGeom>
          <a:noFill/>
          <a:ln w="9525">
            <a:noFill/>
          </a:ln>
        </p:spPr>
      </p:pic>
      <p:pic>
        <p:nvPicPr>
          <p:cNvPr id="16390" name="图片 6" descr="i72"/>
          <p:cNvPicPr>
            <a:picLocks noChangeAspect="1"/>
          </p:cNvPicPr>
          <p:nvPr/>
        </p:nvPicPr>
        <p:blipFill>
          <a:blip r:embed="rId5"/>
          <a:stretch>
            <a:fillRect/>
          </a:stretch>
        </p:blipFill>
        <p:spPr>
          <a:xfrm>
            <a:off x="5505450" y="4335463"/>
            <a:ext cx="2008188" cy="1720850"/>
          </a:xfrm>
          <a:prstGeom prst="rect">
            <a:avLst/>
          </a:prstGeom>
          <a:noFill/>
          <a:ln w="9525">
            <a:noFill/>
          </a:ln>
        </p:spPr>
      </p:pic>
      <p:pic>
        <p:nvPicPr>
          <p:cNvPr id="16391" name="图片 5" descr="i7"/>
          <p:cNvPicPr>
            <a:picLocks noChangeAspect="1"/>
          </p:cNvPicPr>
          <p:nvPr/>
        </p:nvPicPr>
        <p:blipFill>
          <a:blip r:embed="rId6"/>
          <a:stretch>
            <a:fillRect/>
          </a:stretch>
        </p:blipFill>
        <p:spPr>
          <a:xfrm>
            <a:off x="7386638" y="5176838"/>
            <a:ext cx="1709737" cy="1668462"/>
          </a:xfrm>
          <a:prstGeom prst="rect">
            <a:avLst/>
          </a:prstGeom>
          <a:noFill/>
          <a:ln w="9525">
            <a:noFill/>
          </a:ln>
        </p:spPr>
      </p:pic>
    </p:spTree>
  </p:cSld>
  <p:clrMapOvr>
    <a:masterClrMapping/>
  </p:clrMapOvr>
  <p:transition spd="med">
    <p:random/>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表格 -1"/>
          <p:cNvGraphicFramePr/>
          <p:nvPr/>
        </p:nvGraphicFramePr>
        <p:xfrm>
          <a:off x="566738" y="538163"/>
          <a:ext cx="7906385" cy="6198235"/>
        </p:xfrm>
        <a:graphic>
          <a:graphicData uri="http://schemas.openxmlformats.org/drawingml/2006/table">
            <a:tbl>
              <a:tblPr firstRow="1" bandRow="1">
                <a:tableStyleId>{5940675A-B579-460E-94D1-54222C63F5DA}</a:tableStyleId>
              </a:tblPr>
              <a:tblGrid>
                <a:gridCol w="1459865">
                  <a:extLst>
                    <a:ext uri="{9D8B030D-6E8A-4147-A177-3AD203B41FA5}">
                      <a16:colId xmlns:a16="http://schemas.microsoft.com/office/drawing/2014/main" val="20000"/>
                    </a:ext>
                  </a:extLst>
                </a:gridCol>
                <a:gridCol w="893445">
                  <a:extLst>
                    <a:ext uri="{9D8B030D-6E8A-4147-A177-3AD203B41FA5}">
                      <a16:colId xmlns:a16="http://schemas.microsoft.com/office/drawing/2014/main" val="20001"/>
                    </a:ext>
                  </a:extLst>
                </a:gridCol>
                <a:gridCol w="1244600">
                  <a:extLst>
                    <a:ext uri="{9D8B030D-6E8A-4147-A177-3AD203B41FA5}">
                      <a16:colId xmlns:a16="http://schemas.microsoft.com/office/drawing/2014/main" val="20002"/>
                    </a:ext>
                  </a:extLst>
                </a:gridCol>
                <a:gridCol w="1094105">
                  <a:extLst>
                    <a:ext uri="{9D8B030D-6E8A-4147-A177-3AD203B41FA5}">
                      <a16:colId xmlns:a16="http://schemas.microsoft.com/office/drawing/2014/main" val="20003"/>
                    </a:ext>
                  </a:extLst>
                </a:gridCol>
                <a:gridCol w="922020">
                  <a:extLst>
                    <a:ext uri="{9D8B030D-6E8A-4147-A177-3AD203B41FA5}">
                      <a16:colId xmlns:a16="http://schemas.microsoft.com/office/drawing/2014/main" val="20004"/>
                    </a:ext>
                  </a:extLst>
                </a:gridCol>
                <a:gridCol w="1228090">
                  <a:extLst>
                    <a:ext uri="{9D8B030D-6E8A-4147-A177-3AD203B41FA5}">
                      <a16:colId xmlns:a16="http://schemas.microsoft.com/office/drawing/2014/main" val="20005"/>
                    </a:ext>
                  </a:extLst>
                </a:gridCol>
                <a:gridCol w="1064260">
                  <a:extLst>
                    <a:ext uri="{9D8B030D-6E8A-4147-A177-3AD203B41FA5}">
                      <a16:colId xmlns:a16="http://schemas.microsoft.com/office/drawing/2014/main" val="20006"/>
                    </a:ext>
                  </a:extLst>
                </a:gridCol>
              </a:tblGrid>
              <a:tr h="306705">
                <a:tc>
                  <a:txBody>
                    <a:bodyPr/>
                    <a:lstStyle/>
                    <a:p>
                      <a:pPr marL="0" indent="0" algn="ctr">
                        <a:buNone/>
                      </a:pP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型号</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推出年份</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时钟频率</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处理器位宽</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地址总线</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外部数据总线</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晶体管数</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00"/>
                  </a:ext>
                </a:extLst>
              </a:tr>
              <a:tr h="30670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4004</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1971</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108 kHz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 </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 </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0.23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万万</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01"/>
                  </a:ext>
                </a:extLst>
              </a:tr>
              <a:tr h="30670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8080</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1974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2 MHz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8</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8</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0.5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万万</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02"/>
                  </a:ext>
                </a:extLst>
              </a:tr>
              <a:tr h="30543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8085</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1976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 MHz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8</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8</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0.6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万万</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03"/>
                  </a:ext>
                </a:extLst>
              </a:tr>
              <a:tr h="30670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8086</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1978</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8 MHz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20</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2.9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万万</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04"/>
                  </a:ext>
                </a:extLst>
              </a:tr>
              <a:tr h="30670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8088</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1979</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8 MHz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20</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8</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2.9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万万</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05"/>
                  </a:ext>
                </a:extLst>
              </a:tr>
              <a:tr h="30670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80186</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1982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8 MHz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20</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5.6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万万</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06"/>
                  </a:ext>
                </a:extLst>
              </a:tr>
              <a:tr h="30670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80286</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1982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12.5 MHz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24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13.4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万万</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07"/>
                  </a:ext>
                </a:extLst>
              </a:tr>
              <a:tr h="30670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80386</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1985</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Arial" panose="020B0604020202020204" pitchFamily="34" charset="0"/>
                          <a:ea typeface="Arial" panose="020B0604020202020204" pitchFamily="34" charset="0"/>
                          <a:cs typeface="Arial" panose="020B0604020202020204" pitchFamily="34" charset="0"/>
                        </a:rPr>
                        <a:t>≥</a:t>
                      </a: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 20 MHz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27.5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万万</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08"/>
                  </a:ext>
                </a:extLst>
              </a:tr>
              <a:tr h="30543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80486</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1989</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Arial" panose="020B0604020202020204" pitchFamily="34" charset="0"/>
                          <a:ea typeface="Arial" panose="020B0604020202020204" pitchFamily="34" charset="0"/>
                          <a:cs typeface="Arial" panose="020B0604020202020204" pitchFamily="34" charset="0"/>
                        </a:rPr>
                        <a:t>≥</a:t>
                      </a: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 25 MHz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120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万万</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09"/>
                  </a:ext>
                </a:extLst>
              </a:tr>
              <a:tr h="30670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Pentium</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1993.03</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Arial" panose="020B0604020202020204" pitchFamily="34" charset="0"/>
                          <a:ea typeface="Arial" panose="020B0604020202020204" pitchFamily="34" charset="0"/>
                          <a:cs typeface="Arial" panose="020B0604020202020204" pitchFamily="34" charset="0"/>
                        </a:rPr>
                        <a:t>≥</a:t>
                      </a: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 60 MHz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64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310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万万</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10"/>
                  </a:ext>
                </a:extLst>
              </a:tr>
              <a:tr h="30670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Pentium Pro</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1995.11</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Arial" panose="020B0604020202020204" pitchFamily="34" charset="0"/>
                          <a:ea typeface="Arial" panose="020B0604020202020204" pitchFamily="34" charset="0"/>
                          <a:cs typeface="Arial" panose="020B0604020202020204" pitchFamily="34" charset="0"/>
                        </a:rPr>
                        <a:t>≥</a:t>
                      </a: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 200 MHz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64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550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万万</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11"/>
                  </a:ext>
                </a:extLst>
              </a:tr>
              <a:tr h="30670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Pentium MMX</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1997.01</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Arial" panose="020B0604020202020204" pitchFamily="34" charset="0"/>
                          <a:ea typeface="Arial" panose="020B0604020202020204" pitchFamily="34" charset="0"/>
                          <a:cs typeface="Arial" panose="020B0604020202020204" pitchFamily="34" charset="0"/>
                        </a:rPr>
                        <a:t>≥</a:t>
                      </a: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 166 MHz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64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450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万万</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12"/>
                  </a:ext>
                </a:extLst>
              </a:tr>
              <a:tr h="30670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Pentium 2</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1997.05</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Arial" panose="020B0604020202020204" pitchFamily="34" charset="0"/>
                          <a:ea typeface="Arial" panose="020B0604020202020204" pitchFamily="34" charset="0"/>
                          <a:cs typeface="Arial" panose="020B0604020202020204" pitchFamily="34" charset="0"/>
                        </a:rPr>
                        <a:t>≥</a:t>
                      </a: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 266 MHz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64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750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万万</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13"/>
                  </a:ext>
                </a:extLst>
              </a:tr>
              <a:tr h="30670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Pentium 3</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1999.01</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Arial" panose="020B0604020202020204" pitchFamily="34" charset="0"/>
                          <a:ea typeface="Arial" panose="020B0604020202020204" pitchFamily="34" charset="0"/>
                          <a:cs typeface="Arial" panose="020B0604020202020204" pitchFamily="34" charset="0"/>
                        </a:rPr>
                        <a:t>≥</a:t>
                      </a: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 500 MHz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64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950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万万</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14"/>
                  </a:ext>
                </a:extLst>
              </a:tr>
              <a:tr h="30543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Pentium 4</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2000.11</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Arial" panose="020B0604020202020204" pitchFamily="34" charset="0"/>
                          <a:ea typeface="Arial" panose="020B0604020202020204" pitchFamily="34" charset="0"/>
                          <a:cs typeface="Arial" panose="020B0604020202020204" pitchFamily="34" charset="0"/>
                        </a:rPr>
                        <a:t>≥</a:t>
                      </a: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 1.3 GHz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64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3400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万万</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15"/>
                  </a:ext>
                </a:extLst>
              </a:tr>
              <a:tr h="30670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Pentium M</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二代二代</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2004.10</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Arial" panose="020B0604020202020204" pitchFamily="34" charset="0"/>
                          <a:ea typeface="Arial" panose="020B0604020202020204" pitchFamily="34" charset="0"/>
                          <a:cs typeface="Arial" panose="020B0604020202020204" pitchFamily="34" charset="0"/>
                        </a:rPr>
                        <a:t>≥</a:t>
                      </a: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 1 GHz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64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1.4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亿亿</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16"/>
                  </a:ext>
                </a:extLst>
              </a:tr>
              <a:tr h="30670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Pentium D</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双核双核</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2005.04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3.2 GHz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64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2.3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亿亿</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17"/>
                  </a:ext>
                </a:extLst>
              </a:tr>
              <a:tr h="306705">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Core2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双核双核</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2006.07</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1.66~2.93 GHz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64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64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2.91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亿亿</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18"/>
                  </a:ext>
                </a:extLst>
              </a:tr>
              <a:tr h="374650">
                <a:tc>
                  <a:txBody>
                    <a:bodyPr/>
                    <a:lstStyle/>
                    <a:p>
                      <a:pPr marL="0" indent="0" algn="ctr">
                        <a:buNone/>
                      </a:pPr>
                      <a:r>
                        <a:rPr lang="en-US" altLang="zh-CN" sz="1200" b="0" u="none">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zh-CN" altLang="en-US" sz="1200" b="0" u="none">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四核</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2008.11</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2.66~3.2 GHz</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64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36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64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tc>
                  <a:txBody>
                    <a:bodyPr/>
                    <a:lstStyle/>
                    <a:p>
                      <a:pPr marL="0" indent="0" algn="ctr">
                        <a:buNone/>
                      </a:pPr>
                      <a:r>
                        <a:rPr lang="en-US" altLang="zh-CN" sz="1200" b="0" u="none">
                          <a:solidFill>
                            <a:schemeClr val="tx1"/>
                          </a:solidFill>
                          <a:latin typeface="宋体" panose="02010600030101010101" pitchFamily="2" charset="-122"/>
                          <a:ea typeface="宋体" panose="02010600030101010101" pitchFamily="2" charset="-122"/>
                          <a:cs typeface="宋体" panose="02010600030101010101" pitchFamily="2" charset="-122"/>
                        </a:rPr>
                        <a:t>7.31 </a:t>
                      </a:r>
                      <a:r>
                        <a:rPr lang="zh-CN" altLang="en-US" sz="1200" b="0" u="none">
                          <a:solidFill>
                            <a:schemeClr val="tx1"/>
                          </a:solidFill>
                          <a:latin typeface="宋体" panose="02010600030101010101" pitchFamily="2" charset="-122"/>
                          <a:ea typeface="宋体" panose="02010600030101010101" pitchFamily="2" charset="-122"/>
                          <a:cs typeface="宋体" panose="02010600030101010101" pitchFamily="2" charset="-122"/>
                        </a:rPr>
                        <a:t>亿亿</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accent3">
                        <a:lumMod val="50000"/>
                      </a:schemeClr>
                    </a:solidFill>
                  </a:tcPr>
                </a:tc>
                <a:extLst>
                  <a:ext uri="{0D108BD9-81ED-4DB2-BD59-A6C34878D82A}">
                    <a16:rowId xmlns:a16="http://schemas.microsoft.com/office/drawing/2014/main" val="10019"/>
                  </a:ext>
                </a:extLst>
              </a:tr>
            </a:tbl>
          </a:graphicData>
        </a:graphic>
      </p:graphicFrame>
      <p:sp>
        <p:nvSpPr>
          <p:cNvPr id="17579" name="文本框 99"/>
          <p:cNvSpPr txBox="1"/>
          <p:nvPr/>
        </p:nvSpPr>
        <p:spPr>
          <a:xfrm>
            <a:off x="2154238" y="146050"/>
            <a:ext cx="5080000" cy="320675"/>
          </a:xfrm>
          <a:prstGeom prst="rect">
            <a:avLst/>
          </a:prstGeom>
          <a:noFill/>
          <a:ln w="9525">
            <a:noFill/>
          </a:ln>
        </p:spPr>
        <p:txBody>
          <a:bodyPr anchor="t" anchorCtr="0">
            <a:spAutoFit/>
          </a:bodyPr>
          <a:lstStyle/>
          <a:p>
            <a:pPr algn="ctr"/>
            <a:r>
              <a:rPr lang="zh-CN" altLang="en-US" sz="1600">
                <a:latin typeface="宋体" panose="02010600030101010101" pitchFamily="2" charset="-122"/>
                <a:ea typeface="宋体" panose="02010600030101010101" pitchFamily="2" charset="-122"/>
              </a:rPr>
              <a:t>表</a:t>
            </a:r>
            <a:r>
              <a:rPr lang="en-US" altLang="zh-CN" sz="1600">
                <a:latin typeface="Times New Roman" panose="02020603050405020304" pitchFamily="18" charset="0"/>
                <a:ea typeface="宋体" panose="02010600030101010101" pitchFamily="2" charset="-122"/>
              </a:rPr>
              <a:t>1-2  Intel</a:t>
            </a:r>
            <a:r>
              <a:rPr lang="zh-CN" altLang="en-US" sz="1600">
                <a:latin typeface="宋体" panose="02010600030101010101" pitchFamily="2" charset="-122"/>
                <a:ea typeface="宋体" panose="02010600030101010101" pitchFamily="2" charset="-122"/>
              </a:rPr>
              <a:t>历代微处理器的典型产品</a:t>
            </a:r>
          </a:p>
        </p:txBody>
      </p:sp>
    </p:spTree>
  </p:cSld>
  <p:clrMapOvr>
    <a:masterClrMapping/>
  </p:clrMapOvr>
  <p:transition spd="med">
    <p:random/>
  </p:transition>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微处理器的发展</a:t>
            </a:r>
          </a:p>
        </p:txBody>
      </p:sp>
      <p:sp>
        <p:nvSpPr>
          <p:cNvPr id="18434" name="内容占位符 2"/>
          <p:cNvSpPr>
            <a:spLocks noGrp="1"/>
          </p:cNvSpPr>
          <p:nvPr>
            <p:ph idx="4294967295"/>
          </p:nvPr>
        </p:nvSpPr>
        <p:spPr>
          <a:xfrm>
            <a:off x="52388" y="1865313"/>
            <a:ext cx="8628062" cy="4157662"/>
          </a:xfrm>
          <a:ln/>
        </p:spPr>
        <p:txBody>
          <a:bodyPr wrap="square" lIns="92075" tIns="46038" rIns="92075" bIns="46038" anchor="t" anchorCtr="0"/>
          <a:lstStyle/>
          <a:p>
            <a:pPr algn="just">
              <a:lnSpc>
                <a:spcPts val="3200"/>
              </a:lnSpc>
              <a:buNone/>
            </a:pPr>
            <a:r>
              <a:rPr lang="en-US" altLang="en-US" sz="2400"/>
              <a:t>            </a:t>
            </a:r>
            <a:r>
              <a:rPr lang="zh-CN" altLang="en-US" sz="2400"/>
              <a:t>正如著名的</a:t>
            </a:r>
            <a:r>
              <a:rPr lang="zh-CN" altLang="en-US" sz="2400">
                <a:solidFill>
                  <a:srgbClr val="FF0000"/>
                </a:solidFill>
              </a:rPr>
              <a:t>摩尔定律</a:t>
            </a:r>
            <a:r>
              <a:rPr lang="zh-CN" altLang="en-US" sz="2400"/>
              <a:t>所预言：每过</a:t>
            </a:r>
            <a:r>
              <a:rPr lang="en-US" altLang="zh-CN" sz="2400"/>
              <a:t>18</a:t>
            </a:r>
            <a:r>
              <a:rPr lang="zh-CN" altLang="en-US" sz="2400"/>
              <a:t>个月，微处理器的集成度将翻一番，性能会提高一倍或价格降低一半。</a:t>
            </a:r>
          </a:p>
          <a:p>
            <a:pPr algn="just">
              <a:lnSpc>
                <a:spcPts val="3200"/>
              </a:lnSpc>
              <a:buNone/>
            </a:pPr>
            <a:r>
              <a:rPr lang="zh-CN" altLang="en-US" sz="2400"/>
              <a:t>            随着互联网和媒体技术的迅猛发展，网络服务和移动计算逐渐成为一种非常重要的计算模式，这一新的计算模式迫切要求微处理器具有响应实时性、处理流式数据类型的能力，支持数据级和线程级并行性，更高的存储和</a:t>
            </a:r>
            <a:r>
              <a:rPr lang="en-US" altLang="zh-CN" sz="2400"/>
              <a:t>I/O</a:t>
            </a:r>
            <a:r>
              <a:rPr lang="zh-CN" altLang="en-US" sz="2400"/>
              <a:t>带宽，低功耗，设计的可伸缩性及缩短芯片进入和退出市场的周期等。</a:t>
            </a:r>
          </a:p>
          <a:p>
            <a:pPr algn="just">
              <a:lnSpc>
                <a:spcPts val="3200"/>
              </a:lnSpc>
              <a:buNone/>
            </a:pPr>
            <a:r>
              <a:rPr lang="en-US" altLang="zh-CN" sz="2400"/>
              <a:t>            目前，片内多处理器及多线程技术正在成为处理器体系结构设计的热点。 </a:t>
            </a:r>
          </a:p>
          <a:p>
            <a:pPr algn="just">
              <a:lnSpc>
                <a:spcPts val="3200"/>
              </a:lnSpc>
              <a:buNone/>
            </a:pPr>
            <a:r>
              <a:rPr lang="en-US" altLang="zh-CN" sz="2400"/>
              <a:t>       </a:t>
            </a:r>
          </a:p>
          <a:p>
            <a:pPr algn="just">
              <a:lnSpc>
                <a:spcPts val="3200"/>
              </a:lnSpc>
              <a:buNone/>
            </a:pPr>
            <a:endParaRPr lang="en-US" altLang="zh-CN" sz="2400"/>
          </a:p>
        </p:txBody>
      </p:sp>
    </p:spTree>
  </p:cSld>
  <p:clrMapOvr>
    <a:masterClrMapping/>
  </p:clrMapOvr>
  <p:transition spd="med">
    <p:random/>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计算机的工作原理</a:t>
            </a:r>
          </a:p>
        </p:txBody>
      </p:sp>
      <p:sp>
        <p:nvSpPr>
          <p:cNvPr id="19458" name="内容占位符 2"/>
          <p:cNvSpPr>
            <a:spLocks noGrp="1"/>
          </p:cNvSpPr>
          <p:nvPr>
            <p:ph idx="4294967295"/>
          </p:nvPr>
        </p:nvSpPr>
        <p:spPr>
          <a:xfrm>
            <a:off x="163513" y="1455738"/>
            <a:ext cx="8385175" cy="5232400"/>
          </a:xfrm>
          <a:ln/>
        </p:spPr>
        <p:txBody>
          <a:bodyPr wrap="square" lIns="92075" tIns="46038" rIns="92075" bIns="46038" anchor="t" anchorCtr="0"/>
          <a:lstStyle/>
          <a:p>
            <a:pPr algn="just">
              <a:lnSpc>
                <a:spcPts val="3200"/>
              </a:lnSpc>
              <a:buNone/>
            </a:pPr>
            <a:r>
              <a:rPr lang="en-US" altLang="zh-CN" sz="2400"/>
              <a:t>              1946</a:t>
            </a:r>
            <a:r>
              <a:rPr lang="zh-CN" altLang="en-US" sz="2400"/>
              <a:t>年</a:t>
            </a:r>
            <a:r>
              <a:rPr lang="en-US" altLang="zh-CN" sz="2400"/>
              <a:t>6</a:t>
            </a:r>
            <a:r>
              <a:rPr lang="zh-CN" altLang="en-US" sz="2400"/>
              <a:t>月，冯</a:t>
            </a:r>
            <a:r>
              <a:rPr lang="en-US" altLang="zh-CN" sz="2400"/>
              <a:t>·</a:t>
            </a:r>
            <a:r>
              <a:rPr lang="zh-CN" altLang="en-US" sz="2400"/>
              <a:t>诺依曼等人在</a:t>
            </a:r>
            <a:r>
              <a:rPr lang="en-US" altLang="zh-CN" sz="2400"/>
              <a:t>《</a:t>
            </a:r>
            <a:r>
              <a:rPr lang="zh-CN" altLang="en-US" sz="2400"/>
              <a:t>电子计算机装置逻辑初探</a:t>
            </a:r>
            <a:r>
              <a:rPr lang="en-US" altLang="zh-CN" sz="2400"/>
              <a:t>》</a:t>
            </a:r>
            <a:r>
              <a:rPr lang="zh-CN" altLang="en-US" sz="2400"/>
              <a:t>的报告中，首次提出了“</a:t>
            </a:r>
            <a:r>
              <a:rPr lang="zh-CN" altLang="en-US" sz="2400">
                <a:solidFill>
                  <a:srgbClr val="FF0000"/>
                </a:solidFill>
              </a:rPr>
              <a:t>程序存储</a:t>
            </a:r>
            <a:r>
              <a:rPr lang="zh-CN" altLang="en-US" sz="2400"/>
              <a:t>”和“</a:t>
            </a:r>
            <a:r>
              <a:rPr lang="zh-CN" altLang="en-US" sz="2400">
                <a:solidFill>
                  <a:srgbClr val="FF0000"/>
                </a:solidFill>
              </a:rPr>
              <a:t>二进制运算</a:t>
            </a:r>
            <a:r>
              <a:rPr lang="zh-CN" altLang="en-US" sz="2400"/>
              <a:t>”的概念，这个报告的内容可简要概括为以下几点：</a:t>
            </a:r>
          </a:p>
          <a:p>
            <a:pPr algn="just">
              <a:lnSpc>
                <a:spcPts val="3200"/>
              </a:lnSpc>
              <a:buNone/>
            </a:pPr>
            <a:r>
              <a:rPr lang="zh-CN" altLang="en-US" sz="2400"/>
              <a:t>  （</a:t>
            </a:r>
            <a:r>
              <a:rPr lang="en-US" altLang="zh-CN" sz="2400"/>
              <a:t>1</a:t>
            </a:r>
            <a:r>
              <a:rPr lang="zh-CN" altLang="en-US" sz="2400"/>
              <a:t>）计算机由运算器、控制器、存储器、输入和输出设备五大部分组成。</a:t>
            </a:r>
          </a:p>
          <a:p>
            <a:pPr algn="just">
              <a:lnSpc>
                <a:spcPts val="3200"/>
              </a:lnSpc>
              <a:buNone/>
            </a:pPr>
            <a:r>
              <a:rPr lang="zh-CN" altLang="en-US" sz="2400"/>
              <a:t>  （</a:t>
            </a:r>
            <a:r>
              <a:rPr lang="en-US" altLang="zh-CN" sz="2400"/>
              <a:t>2</a:t>
            </a:r>
            <a:r>
              <a:rPr lang="zh-CN" altLang="en-US" sz="2400"/>
              <a:t>）数据和指令以二进制代码形式不加区别地存放在存储器中，地址码也是二进制形式，计算机能自动区分指令和数据。</a:t>
            </a:r>
          </a:p>
          <a:p>
            <a:pPr algn="just">
              <a:lnSpc>
                <a:spcPts val="3200"/>
              </a:lnSpc>
              <a:buNone/>
            </a:pPr>
            <a:r>
              <a:rPr lang="en-US" altLang="zh-CN" sz="2400"/>
              <a:t>  （3）编写好的程序事先存入存储器。控制器根据存放在存储器中的指令序列（即程序）来工作，由程序计数器（PC，Program Counter）控制指令的执行顺序。控制器具有判断能力，能根据计算结果选择不同的动作流程。  </a:t>
            </a:r>
          </a:p>
        </p:txBody>
      </p:sp>
    </p:spTree>
  </p:cSld>
  <p:clrMapOvr>
    <a:masterClrMapping/>
  </p:clrMapOvr>
  <p:transition spd="med">
    <p:random/>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417513" y="219075"/>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计算机的工作原理</a:t>
            </a:r>
          </a:p>
        </p:txBody>
      </p:sp>
      <p:sp>
        <p:nvSpPr>
          <p:cNvPr id="20482" name="内容占位符 2"/>
          <p:cNvSpPr>
            <a:spLocks noGrp="1"/>
          </p:cNvSpPr>
          <p:nvPr>
            <p:ph idx="4294967295"/>
          </p:nvPr>
        </p:nvSpPr>
        <p:spPr>
          <a:xfrm>
            <a:off x="87313" y="1387475"/>
            <a:ext cx="8731250" cy="942975"/>
          </a:xfrm>
          <a:ln/>
        </p:spPr>
        <p:txBody>
          <a:bodyPr wrap="square" lIns="92075" tIns="46038" rIns="92075" bIns="46038" anchor="t" anchorCtr="0"/>
          <a:lstStyle/>
          <a:p>
            <a:pPr algn="just">
              <a:lnSpc>
                <a:spcPts val="3200"/>
              </a:lnSpc>
              <a:buNone/>
            </a:pPr>
            <a:r>
              <a:rPr lang="en-US" altLang="zh-CN" sz="2400"/>
              <a:t>            </a:t>
            </a:r>
            <a:r>
              <a:rPr lang="zh-CN" altLang="en-US" sz="2400"/>
              <a:t>目前，计算机硬件体系结构基本上还是经典的冯</a:t>
            </a:r>
            <a:r>
              <a:rPr lang="en-US" altLang="zh-CN" sz="2400"/>
              <a:t>·</a:t>
            </a:r>
            <a:r>
              <a:rPr lang="zh-CN" altLang="en-US" sz="2400"/>
              <a:t>诺依曼结构，如图</a:t>
            </a:r>
            <a:r>
              <a:rPr lang="en-US" altLang="zh-CN" sz="2400"/>
              <a:t>1-1</a:t>
            </a:r>
            <a:r>
              <a:rPr lang="zh-CN" altLang="en-US" sz="2400"/>
              <a:t>所示。</a:t>
            </a:r>
          </a:p>
          <a:p>
            <a:pPr algn="just">
              <a:lnSpc>
                <a:spcPts val="3200"/>
              </a:lnSpc>
              <a:buNone/>
            </a:pPr>
            <a:endParaRPr lang="zh-CN" altLang="en-US" sz="2400"/>
          </a:p>
          <a:p>
            <a:pPr algn="just">
              <a:lnSpc>
                <a:spcPts val="3200"/>
              </a:lnSpc>
              <a:buNone/>
            </a:pPr>
            <a:endParaRPr lang="zh-CN" altLang="en-US" sz="2400"/>
          </a:p>
          <a:p>
            <a:pPr algn="just">
              <a:lnSpc>
                <a:spcPts val="3200"/>
              </a:lnSpc>
              <a:buNone/>
            </a:pPr>
            <a:endParaRPr lang="zh-CN" altLang="en-US" sz="2400"/>
          </a:p>
          <a:p>
            <a:pPr algn="just">
              <a:lnSpc>
                <a:spcPts val="3200"/>
              </a:lnSpc>
              <a:buNone/>
            </a:pPr>
            <a:endParaRPr lang="zh-CN" altLang="en-US" sz="2400"/>
          </a:p>
          <a:p>
            <a:pPr algn="just">
              <a:lnSpc>
                <a:spcPts val="3200"/>
              </a:lnSpc>
              <a:buNone/>
            </a:pPr>
            <a:r>
              <a:rPr lang="zh-CN" altLang="en-US" sz="2000"/>
              <a:t>              </a:t>
            </a:r>
          </a:p>
          <a:p>
            <a:pPr algn="just">
              <a:lnSpc>
                <a:spcPts val="3200"/>
              </a:lnSpc>
              <a:buNone/>
            </a:pPr>
            <a:r>
              <a:rPr lang="zh-CN" altLang="en-US" sz="2000"/>
              <a:t>               </a:t>
            </a:r>
          </a:p>
        </p:txBody>
      </p:sp>
      <p:pic>
        <p:nvPicPr>
          <p:cNvPr id="20483" name="图片 26" descr="图1-1"/>
          <p:cNvPicPr>
            <a:picLocks noChangeAspect="1"/>
          </p:cNvPicPr>
          <p:nvPr/>
        </p:nvPicPr>
        <p:blipFill>
          <a:blip r:embed="rId2"/>
          <a:stretch>
            <a:fillRect/>
          </a:stretch>
        </p:blipFill>
        <p:spPr>
          <a:xfrm>
            <a:off x="542925" y="2274888"/>
            <a:ext cx="4203700" cy="2019300"/>
          </a:xfrm>
          <a:prstGeom prst="rect">
            <a:avLst/>
          </a:prstGeom>
          <a:noFill/>
          <a:ln w="9525">
            <a:noFill/>
          </a:ln>
        </p:spPr>
      </p:pic>
      <p:pic>
        <p:nvPicPr>
          <p:cNvPr id="20484" name="图片 27652" descr="0109a"/>
          <p:cNvPicPr>
            <a:picLocks noChangeAspect="1"/>
          </p:cNvPicPr>
          <p:nvPr/>
        </p:nvPicPr>
        <p:blipFill>
          <a:blip r:embed="rId3"/>
          <a:stretch>
            <a:fillRect/>
          </a:stretch>
        </p:blipFill>
        <p:spPr>
          <a:xfrm>
            <a:off x="4779963" y="3917950"/>
            <a:ext cx="4295775" cy="2862263"/>
          </a:xfrm>
          <a:prstGeom prst="rect">
            <a:avLst/>
          </a:prstGeom>
          <a:noFill/>
          <a:ln w="9525">
            <a:noFill/>
          </a:ln>
        </p:spPr>
      </p:pic>
      <p:sp>
        <p:nvSpPr>
          <p:cNvPr id="20485" name="文本框 1"/>
          <p:cNvSpPr txBox="1"/>
          <p:nvPr/>
        </p:nvSpPr>
        <p:spPr>
          <a:xfrm>
            <a:off x="2146300" y="5765800"/>
            <a:ext cx="1962150" cy="498475"/>
          </a:xfrm>
          <a:prstGeom prst="rect">
            <a:avLst/>
          </a:prstGeom>
          <a:noFill/>
          <a:ln w="9525">
            <a:noFill/>
          </a:ln>
        </p:spPr>
        <p:txBody>
          <a:bodyPr wrap="none" anchor="t" anchorCtr="0">
            <a:spAutoFit/>
          </a:bodyPr>
          <a:lstStyle/>
          <a:p>
            <a:pPr marL="342900" indent="-342900" algn="just" eaLnBrk="0" hangingPunct="0">
              <a:lnSpc>
                <a:spcPts val="3200"/>
              </a:lnSpc>
              <a:buClr>
                <a:schemeClr val="accent2"/>
              </a:buClr>
              <a:buSzPct val="70000"/>
              <a:buFont typeface="Wingdings" panose="05000000000000000000" pitchFamily="2" charset="2"/>
            </a:pPr>
            <a:r>
              <a:rPr lang="zh-CN" altLang="en-US" sz="2000">
                <a:latin typeface="Times New Roman" panose="02020603050405020304" pitchFamily="18" charset="0"/>
                <a:ea typeface="宋体" panose="02010600030101010101" pitchFamily="2" charset="-122"/>
                <a:sym typeface="Arial" panose="020B0604020202020204" pitchFamily="34" charset="0"/>
              </a:rPr>
              <a:t>指令执行流程图</a:t>
            </a:r>
            <a:endParaRPr lang="zh-CN" altLang="en-US" sz="2000">
              <a:latin typeface="Times New Roman" panose="02020603050405020304" pitchFamily="18" charset="0"/>
              <a:ea typeface="宋体" panose="02010600030101010101" pitchFamily="2" charset="-122"/>
            </a:endParaRPr>
          </a:p>
        </p:txBody>
      </p:sp>
      <p:sp>
        <p:nvSpPr>
          <p:cNvPr id="20486" name="右箭头 7"/>
          <p:cNvSpPr/>
          <p:nvPr/>
        </p:nvSpPr>
        <p:spPr>
          <a:xfrm flipV="1">
            <a:off x="4113213" y="5946775"/>
            <a:ext cx="515937" cy="209550"/>
          </a:xfrm>
          <a:prstGeom prst="rightArrow">
            <a:avLst>
              <a:gd name="adj1" fmla="val 50000"/>
              <a:gd name="adj2" fmla="val 50051"/>
            </a:avLst>
          </a:prstGeom>
          <a:solidFill>
            <a:srgbClr val="FFFF00"/>
          </a:solidFill>
          <a:ln w="9525">
            <a:noFill/>
          </a:ln>
        </p:spPr>
        <p:txBody>
          <a:bodyPr wrap="square" lIns="92075" tIns="46038" rIns="92075" bIns="46038" anchor="t" anchorCtr="0"/>
          <a:lstStyle/>
          <a:p>
            <a:endParaRPr lang="zh-CN" altLang="en-US">
              <a:latin typeface="宋体" panose="02010600030101010101" pitchFamily="2" charset="-122"/>
              <a:ea typeface="宋体" panose="02010600030101010101" pitchFamily="2" charset="-122"/>
            </a:endParaRPr>
          </a:p>
        </p:txBody>
      </p:sp>
      <p:sp>
        <p:nvSpPr>
          <p:cNvPr id="20487" name="文本框 2"/>
          <p:cNvSpPr txBox="1"/>
          <p:nvPr/>
        </p:nvSpPr>
        <p:spPr>
          <a:xfrm>
            <a:off x="984250" y="4327525"/>
            <a:ext cx="3357563" cy="498475"/>
          </a:xfrm>
          <a:prstGeom prst="rect">
            <a:avLst/>
          </a:prstGeom>
          <a:noFill/>
          <a:ln w="9525">
            <a:noFill/>
          </a:ln>
        </p:spPr>
        <p:txBody>
          <a:bodyPr wrap="none" anchor="t" anchorCtr="0">
            <a:spAutoFit/>
          </a:bodyPr>
          <a:lstStyle/>
          <a:p>
            <a:pPr algn="just">
              <a:lnSpc>
                <a:spcPts val="3200"/>
              </a:lnSpc>
            </a:pPr>
            <a:r>
              <a:rPr lang="zh-CN" altLang="en-US" sz="2000">
                <a:latin typeface="宋体" panose="02010600030101010101" pitchFamily="2" charset="-122"/>
                <a:ea typeface="宋体" panose="02010600030101010101" pitchFamily="2" charset="-122"/>
                <a:sym typeface="Arial" panose="020B0604020202020204" pitchFamily="34" charset="0"/>
              </a:rPr>
              <a:t>图</a:t>
            </a:r>
            <a:r>
              <a:rPr lang="en-US" altLang="zh-CN" sz="2000">
                <a:latin typeface="宋体" panose="02010600030101010101" pitchFamily="2" charset="-122"/>
                <a:ea typeface="宋体" panose="02010600030101010101" pitchFamily="2" charset="-122"/>
                <a:sym typeface="Arial" panose="020B0604020202020204" pitchFamily="34" charset="0"/>
              </a:rPr>
              <a:t>1-1  </a:t>
            </a:r>
            <a:r>
              <a:rPr lang="zh-CN" altLang="en-US" sz="2000">
                <a:latin typeface="宋体" panose="02010600030101010101" pitchFamily="2" charset="-122"/>
                <a:ea typeface="宋体" panose="02010600030101010101" pitchFamily="2" charset="-122"/>
                <a:sym typeface="Arial" panose="020B0604020202020204" pitchFamily="34" charset="0"/>
              </a:rPr>
              <a:t>计算机硬件基本结构</a:t>
            </a:r>
            <a:endParaRPr lang="zh-CN" altLang="en-US" sz="2000">
              <a:latin typeface="宋体" panose="02010600030101010101" pitchFamily="2" charset="-122"/>
              <a:ea typeface="宋体" panose="02010600030101010101" pitchFamily="2" charset="-122"/>
            </a:endParaRPr>
          </a:p>
        </p:txBody>
      </p:sp>
    </p:spTree>
  </p:cSld>
  <p:clrMapOvr>
    <a:masterClrMapping/>
  </p:clrMapOvr>
  <p:transition spd="med">
    <p:random/>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417513" y="219075"/>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计算机的工作原理</a:t>
            </a:r>
          </a:p>
        </p:txBody>
      </p:sp>
      <p:sp>
        <p:nvSpPr>
          <p:cNvPr id="21506" name="Rectangle 3"/>
          <p:cNvSpPr>
            <a:spLocks noGrp="1"/>
          </p:cNvSpPr>
          <p:nvPr>
            <p:ph type="body" idx="4294967295"/>
          </p:nvPr>
        </p:nvSpPr>
        <p:spPr>
          <a:xfrm>
            <a:off x="328613" y="1406525"/>
            <a:ext cx="8388350" cy="1638300"/>
          </a:xfrm>
          <a:ln w="38100">
            <a:solidFill>
              <a:srgbClr val="FFFF00"/>
            </a:solidFill>
            <a:miter/>
          </a:ln>
        </p:spPr>
        <p:txBody>
          <a:bodyPr wrap="square" lIns="91440" tIns="45720" rIns="91440" bIns="45720" anchor="t" anchorCtr="0">
            <a:spAutoFit/>
          </a:bodyPr>
          <a:lstStyle/>
          <a:p>
            <a:pPr marL="0" indent="0" algn="just">
              <a:lnSpc>
                <a:spcPct val="110000"/>
              </a:lnSpc>
              <a:spcBef>
                <a:spcPct val="0"/>
              </a:spcBef>
            </a:pPr>
            <a:r>
              <a:rPr lang="zh-CN" altLang="en-US" sz="1800" dirty="0">
                <a:latin typeface="黑体" panose="02010609060101010101" pitchFamily="49" charset="-122"/>
                <a:ea typeface="黑体" panose="02010609060101010101" pitchFamily="49" charset="-122"/>
              </a:rPr>
              <a:t>冯</a:t>
            </a:r>
            <a:r>
              <a:rPr lang="en-US" altLang="zh-CN" sz="1800" dirty="0">
                <a:latin typeface="黑体" panose="02010609060101010101" pitchFamily="49" charset="-122"/>
                <a:ea typeface="黑体" panose="02010609060101010101" pitchFamily="49" charset="-122"/>
              </a:rPr>
              <a:t>·</a:t>
            </a:r>
            <a:r>
              <a:rPr lang="zh-CN" altLang="en-US" sz="1800" dirty="0">
                <a:latin typeface="黑体" panose="02010609060101010101" pitchFamily="49" charset="-122"/>
                <a:ea typeface="黑体" panose="02010609060101010101" pitchFamily="49" charset="-122"/>
              </a:rPr>
              <a:t>诺依曼计算机工作原理：把程序输入到计算机存储器中，然后执行程序，由控制器向内存储器发出取指令命令；控制器对取出的指令进行译码，并根据指令的操作要求，向存储器和运算器发出存、取命令和运算命令；经过运算器运算后，运算结果保存到存储器中；最后，在控制器发出取指令及输出指令的作用下，将存储器中的运算结果输出到输出设备。                  </a:t>
            </a:r>
          </a:p>
        </p:txBody>
      </p:sp>
      <p:grpSp>
        <p:nvGrpSpPr>
          <p:cNvPr id="21507" name="组合 2"/>
          <p:cNvGrpSpPr/>
          <p:nvPr/>
        </p:nvGrpSpPr>
        <p:grpSpPr>
          <a:xfrm>
            <a:off x="368300" y="3162300"/>
            <a:ext cx="8413750" cy="3381375"/>
            <a:chOff x="232" y="1933"/>
            <a:chExt cx="5300" cy="2130"/>
          </a:xfrm>
        </p:grpSpPr>
        <p:sp>
          <p:nvSpPr>
            <p:cNvPr id="21508" name="矩形 3"/>
            <p:cNvSpPr>
              <a:spLocks noChangeAspect="1" noTextEdit="1"/>
            </p:cNvSpPr>
            <p:nvPr/>
          </p:nvSpPr>
          <p:spPr>
            <a:xfrm>
              <a:off x="249" y="1933"/>
              <a:ext cx="5216" cy="2126"/>
            </a:xfrm>
            <a:prstGeom prst="rect">
              <a:avLst/>
            </a:prstGeom>
            <a:no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21509" name="矩形 4"/>
            <p:cNvSpPr/>
            <p:nvPr/>
          </p:nvSpPr>
          <p:spPr>
            <a:xfrm>
              <a:off x="5496" y="3890"/>
              <a:ext cx="36" cy="173"/>
            </a:xfrm>
            <a:prstGeom prst="rect">
              <a:avLst/>
            </a:prstGeom>
            <a:noFill/>
            <a:ln w="9525">
              <a:noFill/>
            </a:ln>
          </p:spPr>
          <p:txBody>
            <a:bodyPr wrap="none" lIns="0" tIns="0" rIns="0" bIns="0" anchor="t" anchorCtr="0">
              <a:spAutoFit/>
            </a:bodyPr>
            <a:lstStyle/>
            <a:p>
              <a:pPr algn="ctr"/>
              <a:r>
                <a:rPr lang="en-US" altLang="zh-CN" sz="1800" dirty="0">
                  <a:solidFill>
                    <a:srgbClr val="000099"/>
                  </a:solidFill>
                  <a:latin typeface="Times New Roman" panose="02020603050405020304" pitchFamily="18" charset="0"/>
                  <a:ea typeface="黑体" panose="02010609060101010101" pitchFamily="49" charset="-122"/>
                </a:rPr>
                <a:t> </a:t>
              </a:r>
              <a:endParaRPr lang="en-US" altLang="zh-CN" dirty="0">
                <a:solidFill>
                  <a:srgbClr val="000099"/>
                </a:solidFill>
                <a:latin typeface="Times New Roman" panose="02020603050405020304" pitchFamily="18" charset="0"/>
                <a:ea typeface="黑体" panose="02010609060101010101" pitchFamily="49" charset="-122"/>
              </a:endParaRPr>
            </a:p>
          </p:txBody>
        </p:sp>
        <p:sp>
          <p:nvSpPr>
            <p:cNvPr id="21510" name="矩形 6"/>
            <p:cNvSpPr/>
            <p:nvPr/>
          </p:nvSpPr>
          <p:spPr>
            <a:xfrm>
              <a:off x="4604" y="2849"/>
              <a:ext cx="870" cy="173"/>
            </a:xfrm>
            <a:prstGeom prst="rect">
              <a:avLst/>
            </a:prstGeom>
            <a:noFill/>
            <a:ln w="9525">
              <a:noFill/>
            </a:ln>
          </p:spPr>
          <p:txBody>
            <a:bodyPr wrap="none" lIns="0" tIns="0" rIns="0" bIns="0" anchor="t" anchorCtr="0">
              <a:spAutoFit/>
            </a:bodyPr>
            <a:lstStyle/>
            <a:p>
              <a:pPr algn="ctr"/>
              <a:r>
                <a:rPr lang="zh-CN" altLang="en-US" sz="1800" dirty="0">
                  <a:solidFill>
                    <a:srgbClr val="000099"/>
                  </a:solidFill>
                  <a:latin typeface="宋体" panose="02010600030101010101" pitchFamily="2" charset="-122"/>
                  <a:ea typeface="宋体" panose="02010600030101010101" pitchFamily="2" charset="-122"/>
                </a:rPr>
                <a:t>输出结果信息</a:t>
              </a:r>
              <a:endParaRPr lang="zh-CN" altLang="en-US" dirty="0">
                <a:solidFill>
                  <a:srgbClr val="000099"/>
                </a:solidFill>
                <a:latin typeface="Times New Roman" panose="02020603050405020304" pitchFamily="18" charset="0"/>
                <a:ea typeface="黑体" panose="02010609060101010101" pitchFamily="49" charset="-122"/>
              </a:endParaRPr>
            </a:p>
          </p:txBody>
        </p:sp>
        <p:sp>
          <p:nvSpPr>
            <p:cNvPr id="21511" name="矩形 7"/>
            <p:cNvSpPr/>
            <p:nvPr/>
          </p:nvSpPr>
          <p:spPr>
            <a:xfrm>
              <a:off x="5435" y="2579"/>
              <a:ext cx="36" cy="173"/>
            </a:xfrm>
            <a:prstGeom prst="rect">
              <a:avLst/>
            </a:prstGeom>
            <a:noFill/>
            <a:ln w="9525">
              <a:noFill/>
            </a:ln>
          </p:spPr>
          <p:txBody>
            <a:bodyPr wrap="none" lIns="0" tIns="0" rIns="0" bIns="0" anchor="t" anchorCtr="0">
              <a:spAutoFit/>
            </a:bodyPr>
            <a:lstStyle/>
            <a:p>
              <a:pPr algn="ctr"/>
              <a:r>
                <a:rPr lang="en-US" altLang="zh-CN" sz="1800" dirty="0">
                  <a:solidFill>
                    <a:srgbClr val="000099"/>
                  </a:solidFill>
                  <a:latin typeface="Times New Roman" panose="02020603050405020304" pitchFamily="18" charset="0"/>
                  <a:ea typeface="黑体" panose="02010609060101010101" pitchFamily="49" charset="-122"/>
                </a:rPr>
                <a:t> </a:t>
              </a:r>
              <a:endParaRPr lang="en-US" altLang="zh-CN" dirty="0">
                <a:solidFill>
                  <a:srgbClr val="000099"/>
                </a:solidFill>
                <a:latin typeface="Times New Roman" panose="02020603050405020304" pitchFamily="18" charset="0"/>
                <a:ea typeface="黑体" panose="02010609060101010101" pitchFamily="49" charset="-122"/>
              </a:endParaRPr>
            </a:p>
          </p:txBody>
        </p:sp>
        <p:grpSp>
          <p:nvGrpSpPr>
            <p:cNvPr id="21512" name="组合 8"/>
            <p:cNvGrpSpPr/>
            <p:nvPr/>
          </p:nvGrpSpPr>
          <p:grpSpPr>
            <a:xfrm>
              <a:off x="2506" y="1989"/>
              <a:ext cx="825" cy="320"/>
              <a:chOff x="2506" y="1989"/>
              <a:chExt cx="825" cy="320"/>
            </a:xfrm>
          </p:grpSpPr>
          <p:sp>
            <p:nvSpPr>
              <p:cNvPr id="21513" name="矩形 9"/>
              <p:cNvSpPr/>
              <p:nvPr/>
            </p:nvSpPr>
            <p:spPr>
              <a:xfrm>
                <a:off x="2506" y="1989"/>
                <a:ext cx="825" cy="320"/>
              </a:xfrm>
              <a:prstGeom prst="rect">
                <a:avLst/>
              </a:prstGeom>
              <a:solidFill>
                <a:srgbClr val="004364"/>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21514" name="矩形 10"/>
              <p:cNvSpPr/>
              <p:nvPr/>
            </p:nvSpPr>
            <p:spPr>
              <a:xfrm>
                <a:off x="2506" y="1989"/>
                <a:ext cx="825" cy="320"/>
              </a:xfrm>
              <a:prstGeom prst="rect">
                <a:avLst/>
              </a:prstGeom>
              <a:solidFill>
                <a:srgbClr val="004364"/>
              </a:solidFill>
              <a:ln w="15875" cap="rnd"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sp>
          <p:nvSpPr>
            <p:cNvPr id="21515" name="矩形 11"/>
            <p:cNvSpPr/>
            <p:nvPr/>
          </p:nvSpPr>
          <p:spPr>
            <a:xfrm>
              <a:off x="2699" y="2049"/>
              <a:ext cx="435" cy="173"/>
            </a:xfrm>
            <a:prstGeom prst="rect">
              <a:avLst/>
            </a:prstGeom>
            <a:solidFill>
              <a:srgbClr val="004364"/>
            </a:solidFill>
            <a:ln w="9525">
              <a:noFill/>
            </a:ln>
          </p:spPr>
          <p:txBody>
            <a:bodyPr wrap="none" lIns="0" tIns="0" rIns="0" bIns="0" anchor="t" anchorCtr="0">
              <a:spAutoFit/>
            </a:bodyPr>
            <a:lstStyle/>
            <a:p>
              <a:pPr algn="ctr"/>
              <a:r>
                <a:rPr lang="zh-CN" altLang="en-US" sz="1800" dirty="0">
                  <a:solidFill>
                    <a:srgbClr val="00CC00"/>
                  </a:solidFill>
                  <a:latin typeface="宋体" panose="02010600030101010101" pitchFamily="2" charset="-122"/>
                  <a:ea typeface="宋体" panose="02010600030101010101" pitchFamily="2" charset="-122"/>
                </a:rPr>
                <a:t>运算器</a:t>
              </a:r>
            </a:p>
          </p:txBody>
        </p:sp>
        <p:sp>
          <p:nvSpPr>
            <p:cNvPr id="21516" name="矩形 12"/>
            <p:cNvSpPr/>
            <p:nvPr/>
          </p:nvSpPr>
          <p:spPr>
            <a:xfrm>
              <a:off x="3048" y="2076"/>
              <a:ext cx="36" cy="173"/>
            </a:xfrm>
            <a:prstGeom prst="rect">
              <a:avLst/>
            </a:prstGeom>
            <a:noFill/>
            <a:ln w="9525">
              <a:noFill/>
            </a:ln>
          </p:spPr>
          <p:txBody>
            <a:bodyPr wrap="none" lIns="0" tIns="0" rIns="0" bIns="0" anchor="t" anchorCtr="0">
              <a:spAutoFit/>
            </a:bodyPr>
            <a:lstStyle/>
            <a:p>
              <a:pPr algn="ctr"/>
              <a:r>
                <a:rPr lang="en-US" altLang="zh-CN" sz="1800" dirty="0">
                  <a:solidFill>
                    <a:srgbClr val="00CC00"/>
                  </a:solidFill>
                  <a:latin typeface="Times New Roman" panose="02020603050405020304" pitchFamily="18" charset="0"/>
                  <a:ea typeface="黑体" panose="02010609060101010101" pitchFamily="49" charset="-122"/>
                </a:rPr>
                <a:t> </a:t>
              </a:r>
            </a:p>
          </p:txBody>
        </p:sp>
        <p:grpSp>
          <p:nvGrpSpPr>
            <p:cNvPr id="21517" name="组合 13"/>
            <p:cNvGrpSpPr/>
            <p:nvPr/>
          </p:nvGrpSpPr>
          <p:grpSpPr>
            <a:xfrm>
              <a:off x="2501" y="3265"/>
              <a:ext cx="830" cy="320"/>
              <a:chOff x="2501" y="3265"/>
              <a:chExt cx="830" cy="320"/>
            </a:xfrm>
          </p:grpSpPr>
          <p:sp>
            <p:nvSpPr>
              <p:cNvPr id="21518" name="矩形 14"/>
              <p:cNvSpPr/>
              <p:nvPr/>
            </p:nvSpPr>
            <p:spPr>
              <a:xfrm>
                <a:off x="2501" y="3265"/>
                <a:ext cx="830" cy="320"/>
              </a:xfrm>
              <a:prstGeom prst="rect">
                <a:avLst/>
              </a:prstGeom>
              <a:solidFill>
                <a:srgbClr val="004364"/>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21519" name="矩形 15"/>
              <p:cNvSpPr/>
              <p:nvPr/>
            </p:nvSpPr>
            <p:spPr>
              <a:xfrm>
                <a:off x="2501" y="3265"/>
                <a:ext cx="830" cy="320"/>
              </a:xfrm>
              <a:prstGeom prst="rect">
                <a:avLst/>
              </a:prstGeom>
              <a:solidFill>
                <a:srgbClr val="004364"/>
              </a:solidFill>
              <a:ln w="15875" cap="rnd"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sp>
          <p:nvSpPr>
            <p:cNvPr id="21520" name="矩形 16"/>
            <p:cNvSpPr/>
            <p:nvPr/>
          </p:nvSpPr>
          <p:spPr>
            <a:xfrm>
              <a:off x="2717" y="3352"/>
              <a:ext cx="435" cy="173"/>
            </a:xfrm>
            <a:prstGeom prst="rect">
              <a:avLst/>
            </a:prstGeom>
            <a:noFill/>
            <a:ln w="9525">
              <a:noFill/>
            </a:ln>
          </p:spPr>
          <p:txBody>
            <a:bodyPr wrap="none" lIns="0" tIns="0" rIns="0" bIns="0" anchor="t" anchorCtr="0">
              <a:spAutoFit/>
            </a:bodyPr>
            <a:lstStyle/>
            <a:p>
              <a:pPr algn="ctr"/>
              <a:r>
                <a:rPr lang="zh-CN" altLang="en-US" sz="1800" dirty="0">
                  <a:solidFill>
                    <a:srgbClr val="00CC00"/>
                  </a:solidFill>
                  <a:latin typeface="宋体" panose="02010600030101010101" pitchFamily="2" charset="-122"/>
                  <a:ea typeface="宋体" panose="02010600030101010101" pitchFamily="2" charset="-122"/>
                </a:rPr>
                <a:t>控制器</a:t>
              </a:r>
            </a:p>
          </p:txBody>
        </p:sp>
        <p:sp>
          <p:nvSpPr>
            <p:cNvPr id="21521" name="矩形 17"/>
            <p:cNvSpPr/>
            <p:nvPr/>
          </p:nvSpPr>
          <p:spPr>
            <a:xfrm>
              <a:off x="3043" y="3352"/>
              <a:ext cx="36" cy="173"/>
            </a:xfrm>
            <a:prstGeom prst="rect">
              <a:avLst/>
            </a:prstGeom>
            <a:noFill/>
            <a:ln w="9525">
              <a:noFill/>
            </a:ln>
          </p:spPr>
          <p:txBody>
            <a:bodyPr wrap="none" lIns="0" tIns="0" rIns="0" bIns="0" anchor="t" anchorCtr="0">
              <a:spAutoFit/>
            </a:bodyPr>
            <a:lstStyle/>
            <a:p>
              <a:pPr algn="ctr"/>
              <a:r>
                <a:rPr lang="en-US" altLang="zh-CN" sz="1800" dirty="0">
                  <a:solidFill>
                    <a:srgbClr val="000099"/>
                  </a:solidFill>
                  <a:latin typeface="Times New Roman" panose="02020603050405020304" pitchFamily="18" charset="0"/>
                  <a:ea typeface="黑体" panose="02010609060101010101" pitchFamily="49" charset="-122"/>
                </a:rPr>
                <a:t> </a:t>
              </a:r>
              <a:endParaRPr lang="en-US" altLang="zh-CN" dirty="0">
                <a:solidFill>
                  <a:srgbClr val="000099"/>
                </a:solidFill>
                <a:latin typeface="Times New Roman" panose="02020603050405020304" pitchFamily="18" charset="0"/>
                <a:ea typeface="黑体" panose="02010609060101010101" pitchFamily="49" charset="-122"/>
              </a:endParaRPr>
            </a:p>
          </p:txBody>
        </p:sp>
        <p:grpSp>
          <p:nvGrpSpPr>
            <p:cNvPr id="21522" name="组合 18"/>
            <p:cNvGrpSpPr/>
            <p:nvPr/>
          </p:nvGrpSpPr>
          <p:grpSpPr>
            <a:xfrm>
              <a:off x="2501" y="2624"/>
              <a:ext cx="830" cy="320"/>
              <a:chOff x="2501" y="2624"/>
              <a:chExt cx="830" cy="320"/>
            </a:xfrm>
          </p:grpSpPr>
          <p:sp>
            <p:nvSpPr>
              <p:cNvPr id="21523" name="矩形 19"/>
              <p:cNvSpPr/>
              <p:nvPr/>
            </p:nvSpPr>
            <p:spPr>
              <a:xfrm>
                <a:off x="2501" y="2624"/>
                <a:ext cx="830" cy="320"/>
              </a:xfrm>
              <a:prstGeom prst="rect">
                <a:avLst/>
              </a:prstGeom>
              <a:solidFill>
                <a:srgbClr val="004364"/>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21524" name="矩形 20"/>
              <p:cNvSpPr/>
              <p:nvPr/>
            </p:nvSpPr>
            <p:spPr>
              <a:xfrm>
                <a:off x="2501" y="2624"/>
                <a:ext cx="830" cy="320"/>
              </a:xfrm>
              <a:prstGeom prst="rect">
                <a:avLst/>
              </a:prstGeom>
              <a:solidFill>
                <a:srgbClr val="004364"/>
              </a:solidFill>
              <a:ln w="15875" cap="rnd"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sp>
          <p:nvSpPr>
            <p:cNvPr id="21525" name="矩形 21"/>
            <p:cNvSpPr/>
            <p:nvPr/>
          </p:nvSpPr>
          <p:spPr>
            <a:xfrm>
              <a:off x="2699" y="2705"/>
              <a:ext cx="435" cy="173"/>
            </a:xfrm>
            <a:prstGeom prst="rect">
              <a:avLst/>
            </a:prstGeom>
            <a:noFill/>
            <a:ln w="9525">
              <a:noFill/>
            </a:ln>
          </p:spPr>
          <p:txBody>
            <a:bodyPr wrap="none" lIns="0" tIns="0" rIns="0" bIns="0" anchor="t" anchorCtr="0">
              <a:spAutoFit/>
            </a:bodyPr>
            <a:lstStyle/>
            <a:p>
              <a:pPr algn="ctr"/>
              <a:r>
                <a:rPr lang="zh-CN" altLang="en-US" sz="1800" dirty="0">
                  <a:solidFill>
                    <a:srgbClr val="00CC00"/>
                  </a:solidFill>
                  <a:latin typeface="宋体" panose="02010600030101010101" pitchFamily="2" charset="-122"/>
                  <a:ea typeface="宋体" panose="02010600030101010101" pitchFamily="2" charset="-122"/>
                </a:rPr>
                <a:t>存储器</a:t>
              </a:r>
            </a:p>
          </p:txBody>
        </p:sp>
        <p:sp>
          <p:nvSpPr>
            <p:cNvPr id="21526" name="矩形 22"/>
            <p:cNvSpPr/>
            <p:nvPr/>
          </p:nvSpPr>
          <p:spPr>
            <a:xfrm>
              <a:off x="3043" y="2712"/>
              <a:ext cx="36" cy="173"/>
            </a:xfrm>
            <a:prstGeom prst="rect">
              <a:avLst/>
            </a:prstGeom>
            <a:noFill/>
            <a:ln w="9525">
              <a:noFill/>
            </a:ln>
          </p:spPr>
          <p:txBody>
            <a:bodyPr wrap="none" lIns="0" tIns="0" rIns="0" bIns="0" anchor="t" anchorCtr="0">
              <a:spAutoFit/>
            </a:bodyPr>
            <a:lstStyle/>
            <a:p>
              <a:pPr algn="ctr"/>
              <a:r>
                <a:rPr lang="en-US" altLang="zh-CN" sz="1800" dirty="0">
                  <a:solidFill>
                    <a:srgbClr val="000099"/>
                  </a:solidFill>
                  <a:latin typeface="Times New Roman" panose="02020603050405020304" pitchFamily="18" charset="0"/>
                  <a:ea typeface="黑体" panose="02010609060101010101" pitchFamily="49" charset="-122"/>
                </a:rPr>
                <a:t> </a:t>
              </a:r>
              <a:endParaRPr lang="en-US" altLang="zh-CN" dirty="0">
                <a:solidFill>
                  <a:srgbClr val="000099"/>
                </a:solidFill>
                <a:latin typeface="Times New Roman" panose="02020603050405020304" pitchFamily="18" charset="0"/>
                <a:ea typeface="黑体" panose="02010609060101010101" pitchFamily="49" charset="-122"/>
              </a:endParaRPr>
            </a:p>
          </p:txBody>
        </p:sp>
        <p:grpSp>
          <p:nvGrpSpPr>
            <p:cNvPr id="21527" name="组合 23"/>
            <p:cNvGrpSpPr/>
            <p:nvPr/>
          </p:nvGrpSpPr>
          <p:grpSpPr>
            <a:xfrm>
              <a:off x="1314" y="2624"/>
              <a:ext cx="831" cy="320"/>
              <a:chOff x="1314" y="2624"/>
              <a:chExt cx="831" cy="320"/>
            </a:xfrm>
          </p:grpSpPr>
          <p:sp>
            <p:nvSpPr>
              <p:cNvPr id="21528" name="矩形 24"/>
              <p:cNvSpPr/>
              <p:nvPr/>
            </p:nvSpPr>
            <p:spPr>
              <a:xfrm>
                <a:off x="1314" y="2624"/>
                <a:ext cx="831" cy="320"/>
              </a:xfrm>
              <a:prstGeom prst="rect">
                <a:avLst/>
              </a:prstGeom>
              <a:solidFill>
                <a:srgbClr val="004364"/>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21529" name="矩形 25"/>
              <p:cNvSpPr/>
              <p:nvPr/>
            </p:nvSpPr>
            <p:spPr>
              <a:xfrm>
                <a:off x="1314" y="2624"/>
                <a:ext cx="831" cy="320"/>
              </a:xfrm>
              <a:prstGeom prst="rect">
                <a:avLst/>
              </a:prstGeom>
              <a:solidFill>
                <a:srgbClr val="004364"/>
              </a:solidFill>
              <a:ln w="15875" cap="rnd"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sp>
          <p:nvSpPr>
            <p:cNvPr id="21530" name="矩形 26"/>
            <p:cNvSpPr/>
            <p:nvPr/>
          </p:nvSpPr>
          <p:spPr>
            <a:xfrm>
              <a:off x="1438" y="2704"/>
              <a:ext cx="580" cy="173"/>
            </a:xfrm>
            <a:prstGeom prst="rect">
              <a:avLst/>
            </a:prstGeom>
            <a:noFill/>
            <a:ln w="9525">
              <a:noFill/>
            </a:ln>
          </p:spPr>
          <p:txBody>
            <a:bodyPr wrap="none" lIns="0" tIns="0" rIns="0" bIns="0" anchor="t" anchorCtr="0">
              <a:spAutoFit/>
            </a:bodyPr>
            <a:lstStyle/>
            <a:p>
              <a:pPr algn="ctr"/>
              <a:r>
                <a:rPr lang="zh-CN" altLang="en-US" sz="1800" dirty="0">
                  <a:solidFill>
                    <a:srgbClr val="00CC00"/>
                  </a:solidFill>
                  <a:latin typeface="宋体" panose="02010600030101010101" pitchFamily="2" charset="-122"/>
                  <a:ea typeface="宋体" panose="02010600030101010101" pitchFamily="2" charset="-122"/>
                </a:rPr>
                <a:t>输入设备</a:t>
              </a:r>
            </a:p>
          </p:txBody>
        </p:sp>
        <p:sp>
          <p:nvSpPr>
            <p:cNvPr id="21531" name="矩形 27"/>
            <p:cNvSpPr/>
            <p:nvPr/>
          </p:nvSpPr>
          <p:spPr>
            <a:xfrm>
              <a:off x="1994" y="2712"/>
              <a:ext cx="36" cy="173"/>
            </a:xfrm>
            <a:prstGeom prst="rect">
              <a:avLst/>
            </a:prstGeom>
            <a:noFill/>
            <a:ln w="9525">
              <a:noFill/>
            </a:ln>
          </p:spPr>
          <p:txBody>
            <a:bodyPr wrap="none" lIns="0" tIns="0" rIns="0" bIns="0" anchor="t" anchorCtr="0">
              <a:spAutoFit/>
            </a:bodyPr>
            <a:lstStyle/>
            <a:p>
              <a:pPr algn="ctr"/>
              <a:r>
                <a:rPr lang="en-US" altLang="zh-CN" sz="1800" dirty="0">
                  <a:solidFill>
                    <a:srgbClr val="000099"/>
                  </a:solidFill>
                  <a:latin typeface="Times New Roman" panose="02020603050405020304" pitchFamily="18" charset="0"/>
                  <a:ea typeface="黑体" panose="02010609060101010101" pitchFamily="49" charset="-122"/>
                </a:rPr>
                <a:t> </a:t>
              </a:r>
              <a:endParaRPr lang="en-US" altLang="zh-CN" dirty="0">
                <a:solidFill>
                  <a:srgbClr val="000099"/>
                </a:solidFill>
                <a:latin typeface="Times New Roman" panose="02020603050405020304" pitchFamily="18" charset="0"/>
                <a:ea typeface="黑体" panose="02010609060101010101" pitchFamily="49" charset="-122"/>
              </a:endParaRPr>
            </a:p>
          </p:txBody>
        </p:sp>
        <p:grpSp>
          <p:nvGrpSpPr>
            <p:cNvPr id="21532" name="组合 28"/>
            <p:cNvGrpSpPr/>
            <p:nvPr/>
          </p:nvGrpSpPr>
          <p:grpSpPr>
            <a:xfrm>
              <a:off x="3687" y="2624"/>
              <a:ext cx="831" cy="320"/>
              <a:chOff x="3687" y="2624"/>
              <a:chExt cx="831" cy="320"/>
            </a:xfrm>
          </p:grpSpPr>
          <p:sp>
            <p:nvSpPr>
              <p:cNvPr id="21533" name="矩形 29"/>
              <p:cNvSpPr/>
              <p:nvPr/>
            </p:nvSpPr>
            <p:spPr>
              <a:xfrm>
                <a:off x="3687" y="2624"/>
                <a:ext cx="831" cy="320"/>
              </a:xfrm>
              <a:prstGeom prst="rect">
                <a:avLst/>
              </a:prstGeom>
              <a:solidFill>
                <a:srgbClr val="004364"/>
              </a:solidFill>
              <a:ln w="9525">
                <a:noFill/>
              </a:ln>
            </p:spPr>
            <p:txBody>
              <a:bodyPr anchor="t" anchorCtr="0"/>
              <a:lstStyle/>
              <a:p>
                <a:endParaRPr lang="zh-CN" altLang="en-US">
                  <a:latin typeface="宋体" panose="02010600030101010101" pitchFamily="2" charset="-122"/>
                  <a:ea typeface="宋体" panose="02010600030101010101" pitchFamily="2" charset="-122"/>
                </a:endParaRPr>
              </a:p>
            </p:txBody>
          </p:sp>
          <p:sp>
            <p:nvSpPr>
              <p:cNvPr id="21534" name="矩形 30"/>
              <p:cNvSpPr/>
              <p:nvPr/>
            </p:nvSpPr>
            <p:spPr>
              <a:xfrm>
                <a:off x="3687" y="2624"/>
                <a:ext cx="831" cy="320"/>
              </a:xfrm>
              <a:prstGeom prst="rect">
                <a:avLst/>
              </a:prstGeom>
              <a:solidFill>
                <a:srgbClr val="004364"/>
              </a:solidFill>
              <a:ln w="15875" cap="rnd" cmpd="sng">
                <a:solidFill>
                  <a:srgbClr val="000000"/>
                </a:solidFill>
                <a:prstDash val="solid"/>
                <a:miter/>
                <a:headEnd type="none" w="med" len="med"/>
                <a:tailEnd type="none" w="med" len="med"/>
              </a:ln>
            </p:spPr>
            <p:txBody>
              <a:bodyPr anchor="t" anchorCtr="0"/>
              <a:lstStyle/>
              <a:p>
                <a:endParaRPr lang="zh-CN" altLang="en-US">
                  <a:latin typeface="宋体" panose="02010600030101010101" pitchFamily="2" charset="-122"/>
                  <a:ea typeface="宋体" panose="02010600030101010101" pitchFamily="2" charset="-122"/>
                </a:endParaRPr>
              </a:p>
            </p:txBody>
          </p:sp>
        </p:grpSp>
        <p:sp>
          <p:nvSpPr>
            <p:cNvPr id="21535" name="矩形 31"/>
            <p:cNvSpPr/>
            <p:nvPr/>
          </p:nvSpPr>
          <p:spPr>
            <a:xfrm>
              <a:off x="3797" y="2704"/>
              <a:ext cx="580" cy="173"/>
            </a:xfrm>
            <a:prstGeom prst="rect">
              <a:avLst/>
            </a:prstGeom>
            <a:noFill/>
            <a:ln w="9525">
              <a:noFill/>
            </a:ln>
          </p:spPr>
          <p:txBody>
            <a:bodyPr wrap="none" lIns="0" tIns="0" rIns="0" bIns="0" anchor="t" anchorCtr="0">
              <a:spAutoFit/>
            </a:bodyPr>
            <a:lstStyle/>
            <a:p>
              <a:pPr algn="ctr"/>
              <a:r>
                <a:rPr lang="zh-CN" altLang="en-US" sz="1800" dirty="0">
                  <a:solidFill>
                    <a:srgbClr val="00CC00"/>
                  </a:solidFill>
                  <a:latin typeface="宋体" panose="02010600030101010101" pitchFamily="2" charset="-122"/>
                  <a:ea typeface="宋体" panose="02010600030101010101" pitchFamily="2" charset="-122"/>
                </a:rPr>
                <a:t>输出设备</a:t>
              </a:r>
            </a:p>
          </p:txBody>
        </p:sp>
        <p:sp>
          <p:nvSpPr>
            <p:cNvPr id="21536" name="矩形 32"/>
            <p:cNvSpPr/>
            <p:nvPr/>
          </p:nvSpPr>
          <p:spPr>
            <a:xfrm>
              <a:off x="4367" y="2712"/>
              <a:ext cx="36" cy="173"/>
            </a:xfrm>
            <a:prstGeom prst="rect">
              <a:avLst/>
            </a:prstGeom>
            <a:noFill/>
            <a:ln w="9525">
              <a:noFill/>
            </a:ln>
          </p:spPr>
          <p:txBody>
            <a:bodyPr wrap="none" lIns="0" tIns="0" rIns="0" bIns="0" anchor="t" anchorCtr="0">
              <a:spAutoFit/>
            </a:bodyPr>
            <a:lstStyle/>
            <a:p>
              <a:pPr algn="ctr"/>
              <a:r>
                <a:rPr lang="en-US" altLang="zh-CN" sz="1800" dirty="0">
                  <a:solidFill>
                    <a:srgbClr val="000099"/>
                  </a:solidFill>
                  <a:latin typeface="Times New Roman" panose="02020603050405020304" pitchFamily="18" charset="0"/>
                  <a:ea typeface="黑体" panose="02010609060101010101" pitchFamily="49" charset="-122"/>
                </a:rPr>
                <a:t> </a:t>
              </a:r>
              <a:endParaRPr lang="en-US" altLang="zh-CN" dirty="0">
                <a:solidFill>
                  <a:srgbClr val="000099"/>
                </a:solidFill>
                <a:latin typeface="Times New Roman" panose="02020603050405020304" pitchFamily="18" charset="0"/>
                <a:ea typeface="黑体" panose="02010609060101010101" pitchFamily="49" charset="-122"/>
              </a:endParaRPr>
            </a:p>
          </p:txBody>
        </p:sp>
        <p:grpSp>
          <p:nvGrpSpPr>
            <p:cNvPr id="21537" name="组合 33"/>
            <p:cNvGrpSpPr/>
            <p:nvPr/>
          </p:nvGrpSpPr>
          <p:grpSpPr>
            <a:xfrm>
              <a:off x="2857" y="2304"/>
              <a:ext cx="118" cy="320"/>
              <a:chOff x="2857" y="2304"/>
              <a:chExt cx="118" cy="320"/>
            </a:xfrm>
          </p:grpSpPr>
          <p:sp>
            <p:nvSpPr>
              <p:cNvPr id="21538" name="任意多边形 34"/>
              <p:cNvSpPr/>
              <p:nvPr/>
            </p:nvSpPr>
            <p:spPr>
              <a:xfrm>
                <a:off x="2857" y="2304"/>
                <a:ext cx="118" cy="320"/>
              </a:xfrm>
              <a:custGeom>
                <a:avLst/>
                <a:gdLst/>
                <a:ahLst/>
                <a:cxnLst/>
                <a:rect l="0" t="0" r="0" b="0"/>
                <a:pathLst>
                  <a:path w="118" h="320">
                    <a:moveTo>
                      <a:pt x="59" y="0"/>
                    </a:moveTo>
                    <a:lnTo>
                      <a:pt x="118" y="64"/>
                    </a:lnTo>
                    <a:lnTo>
                      <a:pt x="89" y="64"/>
                    </a:lnTo>
                    <a:lnTo>
                      <a:pt x="89" y="256"/>
                    </a:lnTo>
                    <a:lnTo>
                      <a:pt x="118" y="256"/>
                    </a:lnTo>
                    <a:lnTo>
                      <a:pt x="59" y="320"/>
                    </a:lnTo>
                    <a:lnTo>
                      <a:pt x="0" y="256"/>
                    </a:lnTo>
                    <a:lnTo>
                      <a:pt x="29" y="256"/>
                    </a:lnTo>
                    <a:lnTo>
                      <a:pt x="29" y="64"/>
                    </a:lnTo>
                    <a:lnTo>
                      <a:pt x="0" y="64"/>
                    </a:lnTo>
                    <a:lnTo>
                      <a:pt x="59" y="0"/>
                    </a:lnTo>
                    <a:close/>
                  </a:path>
                </a:pathLst>
              </a:custGeom>
              <a:solidFill>
                <a:srgbClr val="60A3B0"/>
              </a:solidFill>
              <a:ln w="9525" cap="flat" cmpd="sng">
                <a:solidFill>
                  <a:schemeClr val="accent1"/>
                </a:solidFill>
                <a:prstDash val="solid"/>
                <a:round/>
                <a:headEnd type="none" w="med" len="med"/>
                <a:tailEnd type="none" w="med" len="med"/>
              </a:ln>
            </p:spPr>
            <p:txBody>
              <a:bodyPr/>
              <a:lstStyle/>
              <a:p>
                <a:endParaRPr lang="zh-CN" altLang="en-US"/>
              </a:p>
            </p:txBody>
          </p:sp>
          <p:sp>
            <p:nvSpPr>
              <p:cNvPr id="21539" name="任意多边形 35"/>
              <p:cNvSpPr/>
              <p:nvPr/>
            </p:nvSpPr>
            <p:spPr>
              <a:xfrm>
                <a:off x="2857" y="2304"/>
                <a:ext cx="118" cy="320"/>
              </a:xfrm>
              <a:custGeom>
                <a:avLst/>
                <a:gdLst/>
                <a:ahLst/>
                <a:cxnLst/>
                <a:rect l="0" t="0" r="0" b="0"/>
                <a:pathLst>
                  <a:path w="118" h="320">
                    <a:moveTo>
                      <a:pt x="59" y="0"/>
                    </a:moveTo>
                    <a:lnTo>
                      <a:pt x="118" y="64"/>
                    </a:lnTo>
                    <a:lnTo>
                      <a:pt x="89" y="64"/>
                    </a:lnTo>
                    <a:lnTo>
                      <a:pt x="89" y="256"/>
                    </a:lnTo>
                    <a:lnTo>
                      <a:pt x="118" y="256"/>
                    </a:lnTo>
                    <a:lnTo>
                      <a:pt x="59" y="320"/>
                    </a:lnTo>
                    <a:lnTo>
                      <a:pt x="0" y="256"/>
                    </a:lnTo>
                    <a:lnTo>
                      <a:pt x="29" y="256"/>
                    </a:lnTo>
                    <a:lnTo>
                      <a:pt x="29" y="64"/>
                    </a:lnTo>
                    <a:lnTo>
                      <a:pt x="0" y="64"/>
                    </a:lnTo>
                    <a:lnTo>
                      <a:pt x="59" y="0"/>
                    </a:lnTo>
                    <a:close/>
                  </a:path>
                </a:pathLst>
              </a:custGeom>
              <a:solidFill>
                <a:srgbClr val="60A3B0"/>
              </a:solidFill>
              <a:ln w="15875" cap="rnd" cmpd="sng">
                <a:solidFill>
                  <a:schemeClr val="accent1"/>
                </a:solidFill>
                <a:prstDash val="solid"/>
                <a:round/>
                <a:headEnd type="none" w="med" len="med"/>
                <a:tailEnd type="none" w="med" len="med"/>
              </a:ln>
            </p:spPr>
            <p:txBody>
              <a:bodyPr/>
              <a:lstStyle/>
              <a:p>
                <a:endParaRPr lang="zh-CN" altLang="en-US"/>
              </a:p>
            </p:txBody>
          </p:sp>
        </p:grpSp>
        <p:grpSp>
          <p:nvGrpSpPr>
            <p:cNvPr id="21540" name="组合 36"/>
            <p:cNvGrpSpPr/>
            <p:nvPr/>
          </p:nvGrpSpPr>
          <p:grpSpPr>
            <a:xfrm>
              <a:off x="3331" y="2731"/>
              <a:ext cx="356" cy="107"/>
              <a:chOff x="3331" y="2731"/>
              <a:chExt cx="356" cy="107"/>
            </a:xfrm>
          </p:grpSpPr>
          <p:sp>
            <p:nvSpPr>
              <p:cNvPr id="21541" name="任意多边形 37"/>
              <p:cNvSpPr/>
              <p:nvPr/>
            </p:nvSpPr>
            <p:spPr>
              <a:xfrm>
                <a:off x="3331" y="2731"/>
                <a:ext cx="356" cy="107"/>
              </a:xfrm>
              <a:custGeom>
                <a:avLst/>
                <a:gdLst/>
                <a:ahLst/>
                <a:cxnLst/>
                <a:rect l="0" t="0" r="0" b="0"/>
                <a:pathLst>
                  <a:path w="356" h="107">
                    <a:moveTo>
                      <a:pt x="267" y="0"/>
                    </a:moveTo>
                    <a:lnTo>
                      <a:pt x="267" y="27"/>
                    </a:lnTo>
                    <a:lnTo>
                      <a:pt x="0" y="27"/>
                    </a:lnTo>
                    <a:lnTo>
                      <a:pt x="0" y="80"/>
                    </a:lnTo>
                    <a:lnTo>
                      <a:pt x="267" y="80"/>
                    </a:lnTo>
                    <a:lnTo>
                      <a:pt x="267" y="107"/>
                    </a:lnTo>
                    <a:lnTo>
                      <a:pt x="356" y="53"/>
                    </a:lnTo>
                    <a:lnTo>
                      <a:pt x="267" y="0"/>
                    </a:lnTo>
                    <a:close/>
                  </a:path>
                </a:pathLst>
              </a:custGeom>
              <a:solidFill>
                <a:srgbClr val="60A3B0"/>
              </a:solidFill>
              <a:ln w="9525" cap="flat" cmpd="sng">
                <a:solidFill>
                  <a:schemeClr val="accent1"/>
                </a:solidFill>
                <a:prstDash val="solid"/>
                <a:round/>
                <a:headEnd type="none" w="med" len="med"/>
                <a:tailEnd type="none" w="med" len="med"/>
              </a:ln>
            </p:spPr>
            <p:txBody>
              <a:bodyPr/>
              <a:lstStyle/>
              <a:p>
                <a:endParaRPr lang="zh-CN" altLang="en-US"/>
              </a:p>
            </p:txBody>
          </p:sp>
          <p:sp>
            <p:nvSpPr>
              <p:cNvPr id="21542" name="任意多边形 38"/>
              <p:cNvSpPr/>
              <p:nvPr/>
            </p:nvSpPr>
            <p:spPr>
              <a:xfrm>
                <a:off x="3331" y="2731"/>
                <a:ext cx="356" cy="107"/>
              </a:xfrm>
              <a:custGeom>
                <a:avLst/>
                <a:gdLst/>
                <a:ahLst/>
                <a:cxnLst/>
                <a:rect l="0" t="0" r="0" b="0"/>
                <a:pathLst>
                  <a:path w="356" h="107">
                    <a:moveTo>
                      <a:pt x="267" y="0"/>
                    </a:moveTo>
                    <a:lnTo>
                      <a:pt x="267" y="27"/>
                    </a:lnTo>
                    <a:lnTo>
                      <a:pt x="0" y="27"/>
                    </a:lnTo>
                    <a:lnTo>
                      <a:pt x="0" y="80"/>
                    </a:lnTo>
                    <a:lnTo>
                      <a:pt x="267" y="80"/>
                    </a:lnTo>
                    <a:lnTo>
                      <a:pt x="267" y="107"/>
                    </a:lnTo>
                    <a:lnTo>
                      <a:pt x="356" y="53"/>
                    </a:lnTo>
                    <a:lnTo>
                      <a:pt x="267" y="0"/>
                    </a:lnTo>
                    <a:close/>
                  </a:path>
                </a:pathLst>
              </a:custGeom>
              <a:solidFill>
                <a:srgbClr val="60A3B0"/>
              </a:solidFill>
              <a:ln w="15875" cap="rnd" cmpd="sng">
                <a:solidFill>
                  <a:schemeClr val="accent1"/>
                </a:solidFill>
                <a:prstDash val="solid"/>
                <a:round/>
                <a:headEnd type="none" w="med" len="med"/>
                <a:tailEnd type="none" w="med" len="med"/>
              </a:ln>
            </p:spPr>
            <p:txBody>
              <a:bodyPr/>
              <a:lstStyle/>
              <a:p>
                <a:endParaRPr lang="zh-CN" altLang="en-US"/>
              </a:p>
            </p:txBody>
          </p:sp>
        </p:grpSp>
        <p:grpSp>
          <p:nvGrpSpPr>
            <p:cNvPr id="21543" name="组合 39"/>
            <p:cNvGrpSpPr/>
            <p:nvPr/>
          </p:nvGrpSpPr>
          <p:grpSpPr>
            <a:xfrm>
              <a:off x="1601" y="3799"/>
              <a:ext cx="356" cy="106"/>
              <a:chOff x="1601" y="3799"/>
              <a:chExt cx="356" cy="106"/>
            </a:xfrm>
          </p:grpSpPr>
          <p:sp>
            <p:nvSpPr>
              <p:cNvPr id="21544" name="任意多边形 40"/>
              <p:cNvSpPr/>
              <p:nvPr/>
            </p:nvSpPr>
            <p:spPr>
              <a:xfrm>
                <a:off x="1601" y="3799"/>
                <a:ext cx="356" cy="106"/>
              </a:xfrm>
              <a:custGeom>
                <a:avLst/>
                <a:gdLst/>
                <a:ahLst/>
                <a:cxnLst/>
                <a:rect l="0" t="0" r="0" b="0"/>
                <a:pathLst>
                  <a:path w="356" h="106">
                    <a:moveTo>
                      <a:pt x="267" y="0"/>
                    </a:moveTo>
                    <a:lnTo>
                      <a:pt x="267" y="26"/>
                    </a:lnTo>
                    <a:lnTo>
                      <a:pt x="0" y="26"/>
                    </a:lnTo>
                    <a:lnTo>
                      <a:pt x="0" y="80"/>
                    </a:lnTo>
                    <a:lnTo>
                      <a:pt x="267" y="80"/>
                    </a:lnTo>
                    <a:lnTo>
                      <a:pt x="267" y="106"/>
                    </a:lnTo>
                    <a:lnTo>
                      <a:pt x="356" y="53"/>
                    </a:lnTo>
                    <a:lnTo>
                      <a:pt x="267" y="0"/>
                    </a:lnTo>
                    <a:close/>
                  </a:path>
                </a:pathLst>
              </a:custGeom>
              <a:solidFill>
                <a:srgbClr val="60A3B0"/>
              </a:solidFill>
              <a:ln w="9525" cap="flat" cmpd="sng">
                <a:solidFill>
                  <a:schemeClr val="accent1"/>
                </a:solidFill>
                <a:prstDash val="solid"/>
                <a:round/>
                <a:headEnd type="none" w="med" len="med"/>
                <a:tailEnd type="none" w="med" len="med"/>
              </a:ln>
            </p:spPr>
            <p:txBody>
              <a:bodyPr/>
              <a:lstStyle/>
              <a:p>
                <a:endParaRPr lang="zh-CN" altLang="en-US"/>
              </a:p>
            </p:txBody>
          </p:sp>
          <p:sp>
            <p:nvSpPr>
              <p:cNvPr id="21545" name="任意多边形 41"/>
              <p:cNvSpPr/>
              <p:nvPr/>
            </p:nvSpPr>
            <p:spPr>
              <a:xfrm>
                <a:off x="1601" y="3799"/>
                <a:ext cx="356" cy="106"/>
              </a:xfrm>
              <a:custGeom>
                <a:avLst/>
                <a:gdLst/>
                <a:ahLst/>
                <a:cxnLst/>
                <a:rect l="0" t="0" r="0" b="0"/>
                <a:pathLst>
                  <a:path w="356" h="106">
                    <a:moveTo>
                      <a:pt x="267" y="0"/>
                    </a:moveTo>
                    <a:lnTo>
                      <a:pt x="267" y="26"/>
                    </a:lnTo>
                    <a:lnTo>
                      <a:pt x="0" y="26"/>
                    </a:lnTo>
                    <a:lnTo>
                      <a:pt x="0" y="80"/>
                    </a:lnTo>
                    <a:lnTo>
                      <a:pt x="267" y="80"/>
                    </a:lnTo>
                    <a:lnTo>
                      <a:pt x="267" y="106"/>
                    </a:lnTo>
                    <a:lnTo>
                      <a:pt x="356" y="53"/>
                    </a:lnTo>
                    <a:lnTo>
                      <a:pt x="267" y="0"/>
                    </a:lnTo>
                    <a:close/>
                  </a:path>
                </a:pathLst>
              </a:custGeom>
              <a:solidFill>
                <a:srgbClr val="60A3B0"/>
              </a:solidFill>
              <a:ln w="15875" cap="rnd" cmpd="sng">
                <a:solidFill>
                  <a:schemeClr val="accent1"/>
                </a:solidFill>
                <a:prstDash val="solid"/>
                <a:round/>
                <a:headEnd type="none" w="med" len="med"/>
                <a:tailEnd type="none" w="med" len="med"/>
              </a:ln>
            </p:spPr>
            <p:txBody>
              <a:bodyPr/>
              <a:lstStyle/>
              <a:p>
                <a:endParaRPr lang="zh-CN" altLang="en-US"/>
              </a:p>
            </p:txBody>
          </p:sp>
        </p:grpSp>
        <p:grpSp>
          <p:nvGrpSpPr>
            <p:cNvPr id="21546" name="组合 42"/>
            <p:cNvGrpSpPr/>
            <p:nvPr/>
          </p:nvGrpSpPr>
          <p:grpSpPr>
            <a:xfrm>
              <a:off x="2738" y="2944"/>
              <a:ext cx="119" cy="321"/>
              <a:chOff x="2738" y="2944"/>
              <a:chExt cx="119" cy="321"/>
            </a:xfrm>
          </p:grpSpPr>
          <p:sp>
            <p:nvSpPr>
              <p:cNvPr id="21547" name="任意多边形 43"/>
              <p:cNvSpPr/>
              <p:nvPr/>
            </p:nvSpPr>
            <p:spPr>
              <a:xfrm>
                <a:off x="2738" y="2944"/>
                <a:ext cx="119" cy="321"/>
              </a:xfrm>
              <a:custGeom>
                <a:avLst/>
                <a:gdLst/>
                <a:ahLst/>
                <a:cxnLst/>
                <a:rect l="0" t="0" r="0" b="0"/>
                <a:pathLst>
                  <a:path w="119" h="321">
                    <a:moveTo>
                      <a:pt x="0" y="241"/>
                    </a:moveTo>
                    <a:lnTo>
                      <a:pt x="30" y="241"/>
                    </a:lnTo>
                    <a:lnTo>
                      <a:pt x="30" y="0"/>
                    </a:lnTo>
                    <a:lnTo>
                      <a:pt x="89" y="0"/>
                    </a:lnTo>
                    <a:lnTo>
                      <a:pt x="89" y="241"/>
                    </a:lnTo>
                    <a:lnTo>
                      <a:pt x="119" y="241"/>
                    </a:lnTo>
                    <a:lnTo>
                      <a:pt x="59" y="321"/>
                    </a:lnTo>
                    <a:lnTo>
                      <a:pt x="0" y="241"/>
                    </a:lnTo>
                    <a:close/>
                  </a:path>
                </a:pathLst>
              </a:custGeom>
              <a:solidFill>
                <a:srgbClr val="60A3B0"/>
              </a:solidFill>
              <a:ln w="9525" cap="flat" cmpd="sng">
                <a:solidFill>
                  <a:schemeClr val="accent1"/>
                </a:solidFill>
                <a:prstDash val="solid"/>
                <a:round/>
                <a:headEnd type="none" w="med" len="med"/>
                <a:tailEnd type="none" w="med" len="med"/>
              </a:ln>
            </p:spPr>
            <p:txBody>
              <a:bodyPr/>
              <a:lstStyle/>
              <a:p>
                <a:endParaRPr lang="zh-CN" altLang="en-US"/>
              </a:p>
            </p:txBody>
          </p:sp>
          <p:sp>
            <p:nvSpPr>
              <p:cNvPr id="21548" name="任意多边形 44"/>
              <p:cNvSpPr/>
              <p:nvPr/>
            </p:nvSpPr>
            <p:spPr>
              <a:xfrm>
                <a:off x="2738" y="2944"/>
                <a:ext cx="119" cy="321"/>
              </a:xfrm>
              <a:custGeom>
                <a:avLst/>
                <a:gdLst/>
                <a:ahLst/>
                <a:cxnLst/>
                <a:rect l="0" t="0" r="0" b="0"/>
                <a:pathLst>
                  <a:path w="119" h="321">
                    <a:moveTo>
                      <a:pt x="0" y="241"/>
                    </a:moveTo>
                    <a:lnTo>
                      <a:pt x="30" y="241"/>
                    </a:lnTo>
                    <a:lnTo>
                      <a:pt x="30" y="0"/>
                    </a:lnTo>
                    <a:lnTo>
                      <a:pt x="89" y="0"/>
                    </a:lnTo>
                    <a:lnTo>
                      <a:pt x="89" y="241"/>
                    </a:lnTo>
                    <a:lnTo>
                      <a:pt x="119" y="241"/>
                    </a:lnTo>
                    <a:lnTo>
                      <a:pt x="59" y="321"/>
                    </a:lnTo>
                    <a:lnTo>
                      <a:pt x="0" y="241"/>
                    </a:lnTo>
                    <a:close/>
                  </a:path>
                </a:pathLst>
              </a:custGeom>
              <a:solidFill>
                <a:srgbClr val="60A3B0"/>
              </a:solidFill>
              <a:ln w="15875" cap="rnd" cmpd="sng">
                <a:solidFill>
                  <a:schemeClr val="accent1"/>
                </a:solidFill>
                <a:prstDash val="solid"/>
                <a:round/>
                <a:headEnd type="none" w="med" len="med"/>
                <a:tailEnd type="none" w="med" len="med"/>
              </a:ln>
            </p:spPr>
            <p:txBody>
              <a:bodyPr/>
              <a:lstStyle/>
              <a:p>
                <a:endParaRPr lang="zh-CN" altLang="en-US"/>
              </a:p>
            </p:txBody>
          </p:sp>
        </p:grpSp>
        <p:grpSp>
          <p:nvGrpSpPr>
            <p:cNvPr id="21549" name="组合 45"/>
            <p:cNvGrpSpPr/>
            <p:nvPr/>
          </p:nvGrpSpPr>
          <p:grpSpPr>
            <a:xfrm>
              <a:off x="4518" y="2731"/>
              <a:ext cx="356" cy="107"/>
              <a:chOff x="4518" y="2731"/>
              <a:chExt cx="356" cy="107"/>
            </a:xfrm>
          </p:grpSpPr>
          <p:sp>
            <p:nvSpPr>
              <p:cNvPr id="21550" name="任意多边形 46"/>
              <p:cNvSpPr/>
              <p:nvPr/>
            </p:nvSpPr>
            <p:spPr>
              <a:xfrm>
                <a:off x="4518" y="2731"/>
                <a:ext cx="356" cy="107"/>
              </a:xfrm>
              <a:custGeom>
                <a:avLst/>
                <a:gdLst/>
                <a:ahLst/>
                <a:cxnLst/>
                <a:rect l="0" t="0" r="0" b="0"/>
                <a:pathLst>
                  <a:path w="356" h="107">
                    <a:moveTo>
                      <a:pt x="267" y="0"/>
                    </a:moveTo>
                    <a:lnTo>
                      <a:pt x="267" y="27"/>
                    </a:lnTo>
                    <a:lnTo>
                      <a:pt x="0" y="27"/>
                    </a:lnTo>
                    <a:lnTo>
                      <a:pt x="0" y="80"/>
                    </a:lnTo>
                    <a:lnTo>
                      <a:pt x="267" y="80"/>
                    </a:lnTo>
                    <a:lnTo>
                      <a:pt x="267" y="107"/>
                    </a:lnTo>
                    <a:lnTo>
                      <a:pt x="356" y="53"/>
                    </a:lnTo>
                    <a:lnTo>
                      <a:pt x="267" y="0"/>
                    </a:lnTo>
                    <a:close/>
                  </a:path>
                </a:pathLst>
              </a:custGeom>
              <a:solidFill>
                <a:srgbClr val="60A3B0"/>
              </a:solidFill>
              <a:ln w="9525" cap="flat" cmpd="sng">
                <a:solidFill>
                  <a:schemeClr val="accent1"/>
                </a:solidFill>
                <a:prstDash val="solid"/>
                <a:round/>
                <a:headEnd type="none" w="med" len="med"/>
                <a:tailEnd type="none" w="med" len="med"/>
              </a:ln>
            </p:spPr>
            <p:txBody>
              <a:bodyPr/>
              <a:lstStyle/>
              <a:p>
                <a:endParaRPr lang="zh-CN" altLang="en-US"/>
              </a:p>
            </p:txBody>
          </p:sp>
          <p:sp>
            <p:nvSpPr>
              <p:cNvPr id="21551" name="任意多边形 47"/>
              <p:cNvSpPr/>
              <p:nvPr/>
            </p:nvSpPr>
            <p:spPr>
              <a:xfrm>
                <a:off x="4518" y="2731"/>
                <a:ext cx="356" cy="107"/>
              </a:xfrm>
              <a:custGeom>
                <a:avLst/>
                <a:gdLst/>
                <a:ahLst/>
                <a:cxnLst/>
                <a:rect l="0" t="0" r="0" b="0"/>
                <a:pathLst>
                  <a:path w="356" h="107">
                    <a:moveTo>
                      <a:pt x="267" y="0"/>
                    </a:moveTo>
                    <a:lnTo>
                      <a:pt x="267" y="27"/>
                    </a:lnTo>
                    <a:lnTo>
                      <a:pt x="0" y="27"/>
                    </a:lnTo>
                    <a:lnTo>
                      <a:pt x="0" y="80"/>
                    </a:lnTo>
                    <a:lnTo>
                      <a:pt x="267" y="80"/>
                    </a:lnTo>
                    <a:lnTo>
                      <a:pt x="267" y="107"/>
                    </a:lnTo>
                    <a:lnTo>
                      <a:pt x="356" y="53"/>
                    </a:lnTo>
                    <a:lnTo>
                      <a:pt x="267" y="0"/>
                    </a:lnTo>
                    <a:close/>
                  </a:path>
                </a:pathLst>
              </a:custGeom>
              <a:solidFill>
                <a:srgbClr val="60A3B0"/>
              </a:solidFill>
              <a:ln w="15875" cap="rnd" cmpd="sng">
                <a:solidFill>
                  <a:schemeClr val="accent1"/>
                </a:solidFill>
                <a:prstDash val="solid"/>
                <a:round/>
                <a:headEnd type="none" w="med" len="med"/>
                <a:tailEnd type="none" w="med" len="med"/>
              </a:ln>
            </p:spPr>
            <p:txBody>
              <a:bodyPr/>
              <a:lstStyle/>
              <a:p>
                <a:endParaRPr lang="zh-CN" altLang="en-US"/>
              </a:p>
            </p:txBody>
          </p:sp>
        </p:grpSp>
        <p:sp>
          <p:nvSpPr>
            <p:cNvPr id="21552" name="任意多边形 48"/>
            <p:cNvSpPr>
              <a:spLocks noEditPoints="1"/>
            </p:cNvSpPr>
            <p:nvPr/>
          </p:nvSpPr>
          <p:spPr>
            <a:xfrm>
              <a:off x="2257" y="2090"/>
              <a:ext cx="244" cy="82"/>
            </a:xfrm>
            <a:custGeom>
              <a:avLst/>
              <a:gdLst/>
              <a:ahLst/>
              <a:cxnLst/>
              <a:rect l="0" t="0" r="0" b="0"/>
              <a:pathLst>
                <a:path w="822" h="267">
                  <a:moveTo>
                    <a:pt x="22" y="111"/>
                  </a:moveTo>
                  <a:lnTo>
                    <a:pt x="156" y="111"/>
                  </a:lnTo>
                  <a:cubicBezTo>
                    <a:pt x="168" y="111"/>
                    <a:pt x="178" y="121"/>
                    <a:pt x="178" y="133"/>
                  </a:cubicBezTo>
                  <a:cubicBezTo>
                    <a:pt x="178" y="146"/>
                    <a:pt x="168" y="155"/>
                    <a:pt x="156" y="155"/>
                  </a:cubicBezTo>
                  <a:lnTo>
                    <a:pt x="22" y="155"/>
                  </a:lnTo>
                  <a:cubicBezTo>
                    <a:pt x="10" y="155"/>
                    <a:pt x="0" y="146"/>
                    <a:pt x="0" y="133"/>
                  </a:cubicBezTo>
                  <a:cubicBezTo>
                    <a:pt x="0" y="121"/>
                    <a:pt x="10" y="111"/>
                    <a:pt x="22" y="111"/>
                  </a:cubicBezTo>
                  <a:close/>
                  <a:moveTo>
                    <a:pt x="334" y="111"/>
                  </a:moveTo>
                  <a:lnTo>
                    <a:pt x="467" y="111"/>
                  </a:lnTo>
                  <a:cubicBezTo>
                    <a:pt x="479" y="111"/>
                    <a:pt x="489" y="121"/>
                    <a:pt x="489" y="133"/>
                  </a:cubicBezTo>
                  <a:cubicBezTo>
                    <a:pt x="489" y="146"/>
                    <a:pt x="479" y="155"/>
                    <a:pt x="467" y="155"/>
                  </a:cubicBezTo>
                  <a:lnTo>
                    <a:pt x="334" y="155"/>
                  </a:lnTo>
                  <a:cubicBezTo>
                    <a:pt x="321" y="155"/>
                    <a:pt x="311" y="146"/>
                    <a:pt x="311" y="133"/>
                  </a:cubicBezTo>
                  <a:cubicBezTo>
                    <a:pt x="311" y="121"/>
                    <a:pt x="321" y="111"/>
                    <a:pt x="334" y="111"/>
                  </a:cubicBezTo>
                  <a:close/>
                  <a:moveTo>
                    <a:pt x="556" y="0"/>
                  </a:moveTo>
                  <a:lnTo>
                    <a:pt x="822" y="133"/>
                  </a:lnTo>
                  <a:lnTo>
                    <a:pt x="556" y="267"/>
                  </a:lnTo>
                  <a:lnTo>
                    <a:pt x="556" y="0"/>
                  </a:lnTo>
                  <a:close/>
                </a:path>
              </a:pathLst>
            </a:custGeom>
            <a:solidFill>
              <a:srgbClr val="000000"/>
            </a:solidFill>
            <a:ln w="7938" cap="flat" cmpd="sng">
              <a:solidFill>
                <a:srgbClr val="CC3300"/>
              </a:solidFill>
              <a:prstDash val="solid"/>
              <a:bevel/>
              <a:headEnd type="none" w="med" len="med"/>
              <a:tailEnd type="none" w="med" len="med"/>
            </a:ln>
          </p:spPr>
          <p:txBody>
            <a:bodyPr/>
            <a:lstStyle/>
            <a:p>
              <a:endParaRPr lang="zh-CN" altLang="en-US"/>
            </a:p>
          </p:txBody>
        </p:sp>
        <p:sp>
          <p:nvSpPr>
            <p:cNvPr id="21553" name="任意多边形 49"/>
            <p:cNvSpPr>
              <a:spLocks noEditPoints="1"/>
            </p:cNvSpPr>
            <p:nvPr/>
          </p:nvSpPr>
          <p:spPr>
            <a:xfrm>
              <a:off x="2252" y="2131"/>
              <a:ext cx="10" cy="1263"/>
            </a:xfrm>
            <a:custGeom>
              <a:avLst/>
              <a:gdLst/>
              <a:ahLst/>
              <a:cxnLst/>
              <a:rect l="0" t="0" r="0" b="0"/>
              <a:pathLst>
                <a:path w="35" h="4100">
                  <a:moveTo>
                    <a:pt x="33" y="16"/>
                  </a:moveTo>
                  <a:lnTo>
                    <a:pt x="33" y="116"/>
                  </a:lnTo>
                  <a:cubicBezTo>
                    <a:pt x="33" y="125"/>
                    <a:pt x="26" y="133"/>
                    <a:pt x="17" y="133"/>
                  </a:cubicBezTo>
                  <a:cubicBezTo>
                    <a:pt x="7" y="133"/>
                    <a:pt x="0" y="125"/>
                    <a:pt x="0" y="116"/>
                  </a:cubicBezTo>
                  <a:lnTo>
                    <a:pt x="0" y="16"/>
                  </a:lnTo>
                  <a:cubicBezTo>
                    <a:pt x="0" y="7"/>
                    <a:pt x="7" y="0"/>
                    <a:pt x="16" y="0"/>
                  </a:cubicBezTo>
                  <a:cubicBezTo>
                    <a:pt x="26" y="0"/>
                    <a:pt x="33" y="7"/>
                    <a:pt x="33" y="16"/>
                  </a:cubicBezTo>
                  <a:close/>
                  <a:moveTo>
                    <a:pt x="33" y="250"/>
                  </a:moveTo>
                  <a:lnTo>
                    <a:pt x="33" y="350"/>
                  </a:lnTo>
                  <a:cubicBezTo>
                    <a:pt x="33" y="359"/>
                    <a:pt x="26" y="366"/>
                    <a:pt x="17" y="366"/>
                  </a:cubicBezTo>
                  <a:cubicBezTo>
                    <a:pt x="7" y="366"/>
                    <a:pt x="0" y="359"/>
                    <a:pt x="0" y="350"/>
                  </a:cubicBezTo>
                  <a:lnTo>
                    <a:pt x="0" y="250"/>
                  </a:lnTo>
                  <a:cubicBezTo>
                    <a:pt x="0" y="240"/>
                    <a:pt x="7" y="233"/>
                    <a:pt x="17" y="233"/>
                  </a:cubicBezTo>
                  <a:cubicBezTo>
                    <a:pt x="26" y="233"/>
                    <a:pt x="33" y="240"/>
                    <a:pt x="33" y="250"/>
                  </a:cubicBezTo>
                  <a:close/>
                  <a:moveTo>
                    <a:pt x="33" y="483"/>
                  </a:moveTo>
                  <a:lnTo>
                    <a:pt x="33" y="583"/>
                  </a:lnTo>
                  <a:cubicBezTo>
                    <a:pt x="33" y="592"/>
                    <a:pt x="26" y="600"/>
                    <a:pt x="17" y="600"/>
                  </a:cubicBezTo>
                  <a:cubicBezTo>
                    <a:pt x="8" y="600"/>
                    <a:pt x="0" y="592"/>
                    <a:pt x="0" y="583"/>
                  </a:cubicBezTo>
                  <a:lnTo>
                    <a:pt x="0" y="483"/>
                  </a:lnTo>
                  <a:cubicBezTo>
                    <a:pt x="0" y="474"/>
                    <a:pt x="8" y="466"/>
                    <a:pt x="17" y="466"/>
                  </a:cubicBezTo>
                  <a:cubicBezTo>
                    <a:pt x="26" y="466"/>
                    <a:pt x="33" y="474"/>
                    <a:pt x="33" y="483"/>
                  </a:cubicBezTo>
                  <a:close/>
                  <a:moveTo>
                    <a:pt x="34" y="716"/>
                  </a:moveTo>
                  <a:lnTo>
                    <a:pt x="34" y="816"/>
                  </a:lnTo>
                  <a:cubicBezTo>
                    <a:pt x="34" y="825"/>
                    <a:pt x="26" y="833"/>
                    <a:pt x="17" y="833"/>
                  </a:cubicBezTo>
                  <a:cubicBezTo>
                    <a:pt x="8" y="833"/>
                    <a:pt x="0" y="825"/>
                    <a:pt x="0" y="816"/>
                  </a:cubicBezTo>
                  <a:lnTo>
                    <a:pt x="0" y="716"/>
                  </a:lnTo>
                  <a:cubicBezTo>
                    <a:pt x="0" y="707"/>
                    <a:pt x="8" y="700"/>
                    <a:pt x="17" y="700"/>
                  </a:cubicBezTo>
                  <a:cubicBezTo>
                    <a:pt x="26" y="700"/>
                    <a:pt x="34" y="707"/>
                    <a:pt x="34" y="716"/>
                  </a:cubicBezTo>
                  <a:close/>
                  <a:moveTo>
                    <a:pt x="34" y="950"/>
                  </a:moveTo>
                  <a:lnTo>
                    <a:pt x="34" y="1050"/>
                  </a:lnTo>
                  <a:cubicBezTo>
                    <a:pt x="34" y="1059"/>
                    <a:pt x="26" y="1066"/>
                    <a:pt x="17" y="1066"/>
                  </a:cubicBezTo>
                  <a:cubicBezTo>
                    <a:pt x="8" y="1066"/>
                    <a:pt x="0" y="1059"/>
                    <a:pt x="0" y="1050"/>
                  </a:cubicBezTo>
                  <a:lnTo>
                    <a:pt x="0" y="950"/>
                  </a:lnTo>
                  <a:cubicBezTo>
                    <a:pt x="0" y="940"/>
                    <a:pt x="8" y="933"/>
                    <a:pt x="17" y="933"/>
                  </a:cubicBezTo>
                  <a:cubicBezTo>
                    <a:pt x="26" y="933"/>
                    <a:pt x="34" y="940"/>
                    <a:pt x="34" y="950"/>
                  </a:cubicBezTo>
                  <a:close/>
                  <a:moveTo>
                    <a:pt x="34" y="1183"/>
                  </a:moveTo>
                  <a:lnTo>
                    <a:pt x="34" y="1283"/>
                  </a:lnTo>
                  <a:cubicBezTo>
                    <a:pt x="34" y="1292"/>
                    <a:pt x="26" y="1300"/>
                    <a:pt x="17" y="1300"/>
                  </a:cubicBezTo>
                  <a:cubicBezTo>
                    <a:pt x="8" y="1300"/>
                    <a:pt x="0" y="1292"/>
                    <a:pt x="0" y="1283"/>
                  </a:cubicBezTo>
                  <a:lnTo>
                    <a:pt x="0" y="1183"/>
                  </a:lnTo>
                  <a:cubicBezTo>
                    <a:pt x="0" y="1174"/>
                    <a:pt x="8" y="1166"/>
                    <a:pt x="17" y="1166"/>
                  </a:cubicBezTo>
                  <a:cubicBezTo>
                    <a:pt x="26" y="1166"/>
                    <a:pt x="34" y="1174"/>
                    <a:pt x="34" y="1183"/>
                  </a:cubicBezTo>
                  <a:close/>
                  <a:moveTo>
                    <a:pt x="34" y="1416"/>
                  </a:moveTo>
                  <a:lnTo>
                    <a:pt x="34" y="1516"/>
                  </a:lnTo>
                  <a:cubicBezTo>
                    <a:pt x="34" y="1525"/>
                    <a:pt x="26" y="1533"/>
                    <a:pt x="17" y="1533"/>
                  </a:cubicBezTo>
                  <a:cubicBezTo>
                    <a:pt x="8" y="1533"/>
                    <a:pt x="1" y="1525"/>
                    <a:pt x="1" y="1516"/>
                  </a:cubicBezTo>
                  <a:lnTo>
                    <a:pt x="1" y="1416"/>
                  </a:lnTo>
                  <a:cubicBezTo>
                    <a:pt x="1" y="1407"/>
                    <a:pt x="8" y="1400"/>
                    <a:pt x="17" y="1400"/>
                  </a:cubicBezTo>
                  <a:cubicBezTo>
                    <a:pt x="26" y="1400"/>
                    <a:pt x="34" y="1407"/>
                    <a:pt x="34" y="1416"/>
                  </a:cubicBezTo>
                  <a:close/>
                  <a:moveTo>
                    <a:pt x="34" y="1650"/>
                  </a:moveTo>
                  <a:lnTo>
                    <a:pt x="34" y="1750"/>
                  </a:lnTo>
                  <a:cubicBezTo>
                    <a:pt x="34" y="1759"/>
                    <a:pt x="27" y="1766"/>
                    <a:pt x="17" y="1766"/>
                  </a:cubicBezTo>
                  <a:cubicBezTo>
                    <a:pt x="8" y="1766"/>
                    <a:pt x="1" y="1759"/>
                    <a:pt x="1" y="1750"/>
                  </a:cubicBezTo>
                  <a:lnTo>
                    <a:pt x="1" y="1650"/>
                  </a:lnTo>
                  <a:cubicBezTo>
                    <a:pt x="1" y="1640"/>
                    <a:pt x="8" y="1633"/>
                    <a:pt x="17" y="1633"/>
                  </a:cubicBezTo>
                  <a:cubicBezTo>
                    <a:pt x="27" y="1633"/>
                    <a:pt x="34" y="1640"/>
                    <a:pt x="34" y="1650"/>
                  </a:cubicBezTo>
                  <a:close/>
                  <a:moveTo>
                    <a:pt x="34" y="1883"/>
                  </a:moveTo>
                  <a:lnTo>
                    <a:pt x="34" y="1983"/>
                  </a:lnTo>
                  <a:cubicBezTo>
                    <a:pt x="34" y="1992"/>
                    <a:pt x="27" y="2000"/>
                    <a:pt x="18" y="2000"/>
                  </a:cubicBezTo>
                  <a:cubicBezTo>
                    <a:pt x="8" y="2000"/>
                    <a:pt x="1" y="1992"/>
                    <a:pt x="1" y="1983"/>
                  </a:cubicBezTo>
                  <a:lnTo>
                    <a:pt x="1" y="1883"/>
                  </a:lnTo>
                  <a:cubicBezTo>
                    <a:pt x="1" y="1874"/>
                    <a:pt x="8" y="1866"/>
                    <a:pt x="17" y="1866"/>
                  </a:cubicBezTo>
                  <a:cubicBezTo>
                    <a:pt x="27" y="1866"/>
                    <a:pt x="34" y="1874"/>
                    <a:pt x="34" y="1883"/>
                  </a:cubicBezTo>
                  <a:close/>
                  <a:moveTo>
                    <a:pt x="34" y="2116"/>
                  </a:moveTo>
                  <a:lnTo>
                    <a:pt x="34" y="2216"/>
                  </a:lnTo>
                  <a:cubicBezTo>
                    <a:pt x="34" y="2225"/>
                    <a:pt x="27" y="2233"/>
                    <a:pt x="18" y="2233"/>
                  </a:cubicBezTo>
                  <a:cubicBezTo>
                    <a:pt x="8" y="2233"/>
                    <a:pt x="1" y="2225"/>
                    <a:pt x="1" y="2216"/>
                  </a:cubicBezTo>
                  <a:lnTo>
                    <a:pt x="1" y="2116"/>
                  </a:lnTo>
                  <a:cubicBezTo>
                    <a:pt x="1" y="2107"/>
                    <a:pt x="8" y="2100"/>
                    <a:pt x="18" y="2100"/>
                  </a:cubicBezTo>
                  <a:cubicBezTo>
                    <a:pt x="27" y="2100"/>
                    <a:pt x="34" y="2107"/>
                    <a:pt x="34" y="2116"/>
                  </a:cubicBezTo>
                  <a:close/>
                  <a:moveTo>
                    <a:pt x="34" y="2350"/>
                  </a:moveTo>
                  <a:lnTo>
                    <a:pt x="34" y="2450"/>
                  </a:lnTo>
                  <a:cubicBezTo>
                    <a:pt x="34" y="2459"/>
                    <a:pt x="27" y="2466"/>
                    <a:pt x="18" y="2466"/>
                  </a:cubicBezTo>
                  <a:cubicBezTo>
                    <a:pt x="9" y="2466"/>
                    <a:pt x="1" y="2459"/>
                    <a:pt x="1" y="2450"/>
                  </a:cubicBezTo>
                  <a:lnTo>
                    <a:pt x="1" y="2350"/>
                  </a:lnTo>
                  <a:cubicBezTo>
                    <a:pt x="1" y="2340"/>
                    <a:pt x="8" y="2333"/>
                    <a:pt x="18" y="2333"/>
                  </a:cubicBezTo>
                  <a:cubicBezTo>
                    <a:pt x="27" y="2333"/>
                    <a:pt x="34" y="2340"/>
                    <a:pt x="34" y="2350"/>
                  </a:cubicBezTo>
                  <a:close/>
                  <a:moveTo>
                    <a:pt x="35" y="2583"/>
                  </a:moveTo>
                  <a:lnTo>
                    <a:pt x="35" y="2683"/>
                  </a:lnTo>
                  <a:cubicBezTo>
                    <a:pt x="35" y="2692"/>
                    <a:pt x="27" y="2700"/>
                    <a:pt x="18" y="2700"/>
                  </a:cubicBezTo>
                  <a:cubicBezTo>
                    <a:pt x="9" y="2700"/>
                    <a:pt x="1" y="2692"/>
                    <a:pt x="1" y="2683"/>
                  </a:cubicBezTo>
                  <a:lnTo>
                    <a:pt x="1" y="2583"/>
                  </a:lnTo>
                  <a:cubicBezTo>
                    <a:pt x="1" y="2574"/>
                    <a:pt x="9" y="2566"/>
                    <a:pt x="18" y="2566"/>
                  </a:cubicBezTo>
                  <a:cubicBezTo>
                    <a:pt x="27" y="2566"/>
                    <a:pt x="34" y="2574"/>
                    <a:pt x="35" y="2583"/>
                  </a:cubicBezTo>
                  <a:close/>
                  <a:moveTo>
                    <a:pt x="35" y="2816"/>
                  </a:moveTo>
                  <a:lnTo>
                    <a:pt x="35" y="2916"/>
                  </a:lnTo>
                  <a:cubicBezTo>
                    <a:pt x="35" y="2925"/>
                    <a:pt x="27" y="2933"/>
                    <a:pt x="18" y="2933"/>
                  </a:cubicBezTo>
                  <a:cubicBezTo>
                    <a:pt x="9" y="2933"/>
                    <a:pt x="1" y="2925"/>
                    <a:pt x="1" y="2916"/>
                  </a:cubicBezTo>
                  <a:lnTo>
                    <a:pt x="1" y="2816"/>
                  </a:lnTo>
                  <a:cubicBezTo>
                    <a:pt x="1" y="2807"/>
                    <a:pt x="9" y="2800"/>
                    <a:pt x="18" y="2800"/>
                  </a:cubicBezTo>
                  <a:cubicBezTo>
                    <a:pt x="27" y="2800"/>
                    <a:pt x="35" y="2807"/>
                    <a:pt x="35" y="2816"/>
                  </a:cubicBezTo>
                  <a:close/>
                  <a:moveTo>
                    <a:pt x="35" y="3050"/>
                  </a:moveTo>
                  <a:lnTo>
                    <a:pt x="35" y="3150"/>
                  </a:lnTo>
                  <a:cubicBezTo>
                    <a:pt x="35" y="3159"/>
                    <a:pt x="27" y="3166"/>
                    <a:pt x="18" y="3166"/>
                  </a:cubicBezTo>
                  <a:cubicBezTo>
                    <a:pt x="9" y="3166"/>
                    <a:pt x="1" y="3159"/>
                    <a:pt x="1" y="3150"/>
                  </a:cubicBezTo>
                  <a:lnTo>
                    <a:pt x="1" y="3050"/>
                  </a:lnTo>
                  <a:cubicBezTo>
                    <a:pt x="1" y="3040"/>
                    <a:pt x="9" y="3033"/>
                    <a:pt x="18" y="3033"/>
                  </a:cubicBezTo>
                  <a:cubicBezTo>
                    <a:pt x="27" y="3033"/>
                    <a:pt x="35" y="3040"/>
                    <a:pt x="35" y="3050"/>
                  </a:cubicBezTo>
                  <a:close/>
                  <a:moveTo>
                    <a:pt x="35" y="3283"/>
                  </a:moveTo>
                  <a:lnTo>
                    <a:pt x="35" y="3383"/>
                  </a:lnTo>
                  <a:cubicBezTo>
                    <a:pt x="35" y="3392"/>
                    <a:pt x="27" y="3400"/>
                    <a:pt x="18" y="3400"/>
                  </a:cubicBezTo>
                  <a:cubicBezTo>
                    <a:pt x="9" y="3400"/>
                    <a:pt x="2" y="3392"/>
                    <a:pt x="2" y="3383"/>
                  </a:cubicBezTo>
                  <a:lnTo>
                    <a:pt x="2" y="3283"/>
                  </a:lnTo>
                  <a:cubicBezTo>
                    <a:pt x="2" y="3274"/>
                    <a:pt x="9" y="3266"/>
                    <a:pt x="18" y="3266"/>
                  </a:cubicBezTo>
                  <a:cubicBezTo>
                    <a:pt x="27" y="3266"/>
                    <a:pt x="35" y="3274"/>
                    <a:pt x="35" y="3283"/>
                  </a:cubicBezTo>
                  <a:close/>
                  <a:moveTo>
                    <a:pt x="35" y="3516"/>
                  </a:moveTo>
                  <a:lnTo>
                    <a:pt x="35" y="3616"/>
                  </a:lnTo>
                  <a:cubicBezTo>
                    <a:pt x="35" y="3625"/>
                    <a:pt x="28" y="3633"/>
                    <a:pt x="18" y="3633"/>
                  </a:cubicBezTo>
                  <a:cubicBezTo>
                    <a:pt x="9" y="3633"/>
                    <a:pt x="2" y="3625"/>
                    <a:pt x="2" y="3616"/>
                  </a:cubicBezTo>
                  <a:lnTo>
                    <a:pt x="2" y="3516"/>
                  </a:lnTo>
                  <a:cubicBezTo>
                    <a:pt x="2" y="3507"/>
                    <a:pt x="9" y="3500"/>
                    <a:pt x="18" y="3500"/>
                  </a:cubicBezTo>
                  <a:cubicBezTo>
                    <a:pt x="28" y="3500"/>
                    <a:pt x="35" y="3507"/>
                    <a:pt x="35" y="3516"/>
                  </a:cubicBezTo>
                  <a:close/>
                  <a:moveTo>
                    <a:pt x="35" y="3750"/>
                  </a:moveTo>
                  <a:lnTo>
                    <a:pt x="35" y="3850"/>
                  </a:lnTo>
                  <a:cubicBezTo>
                    <a:pt x="35" y="3859"/>
                    <a:pt x="28" y="3866"/>
                    <a:pt x="19" y="3866"/>
                  </a:cubicBezTo>
                  <a:cubicBezTo>
                    <a:pt x="9" y="3866"/>
                    <a:pt x="2" y="3859"/>
                    <a:pt x="2" y="3850"/>
                  </a:cubicBezTo>
                  <a:lnTo>
                    <a:pt x="2" y="3750"/>
                  </a:lnTo>
                  <a:cubicBezTo>
                    <a:pt x="2" y="3740"/>
                    <a:pt x="9" y="3733"/>
                    <a:pt x="18" y="3733"/>
                  </a:cubicBezTo>
                  <a:cubicBezTo>
                    <a:pt x="28" y="3733"/>
                    <a:pt x="35" y="3740"/>
                    <a:pt x="35" y="3750"/>
                  </a:cubicBezTo>
                  <a:close/>
                  <a:moveTo>
                    <a:pt x="35" y="3983"/>
                  </a:moveTo>
                  <a:lnTo>
                    <a:pt x="35" y="4083"/>
                  </a:lnTo>
                  <a:cubicBezTo>
                    <a:pt x="35" y="4092"/>
                    <a:pt x="28" y="4100"/>
                    <a:pt x="19" y="4100"/>
                  </a:cubicBezTo>
                  <a:cubicBezTo>
                    <a:pt x="9" y="4100"/>
                    <a:pt x="2" y="4092"/>
                    <a:pt x="2" y="4083"/>
                  </a:cubicBezTo>
                  <a:lnTo>
                    <a:pt x="2" y="3983"/>
                  </a:lnTo>
                  <a:cubicBezTo>
                    <a:pt x="2" y="3974"/>
                    <a:pt x="9" y="3966"/>
                    <a:pt x="19" y="3966"/>
                  </a:cubicBezTo>
                  <a:cubicBezTo>
                    <a:pt x="28" y="3966"/>
                    <a:pt x="35" y="3974"/>
                    <a:pt x="35" y="3983"/>
                  </a:cubicBezTo>
                  <a:close/>
                </a:path>
              </a:pathLst>
            </a:custGeom>
            <a:solidFill>
              <a:srgbClr val="000000"/>
            </a:solidFill>
            <a:ln w="7938" cap="flat" cmpd="sng">
              <a:solidFill>
                <a:srgbClr val="CC3300"/>
              </a:solidFill>
              <a:prstDash val="solid"/>
              <a:bevel/>
              <a:headEnd type="none" w="med" len="med"/>
              <a:tailEnd type="none" w="med" len="med"/>
            </a:ln>
          </p:spPr>
          <p:txBody>
            <a:bodyPr/>
            <a:lstStyle/>
            <a:p>
              <a:endParaRPr lang="zh-CN" altLang="en-US"/>
            </a:p>
          </p:txBody>
        </p:sp>
        <p:sp>
          <p:nvSpPr>
            <p:cNvPr id="21554" name="任意多边形 50"/>
            <p:cNvSpPr>
              <a:spLocks noEditPoints="1"/>
            </p:cNvSpPr>
            <p:nvPr/>
          </p:nvSpPr>
          <p:spPr>
            <a:xfrm>
              <a:off x="2259" y="3366"/>
              <a:ext cx="247" cy="11"/>
            </a:xfrm>
            <a:custGeom>
              <a:avLst/>
              <a:gdLst/>
              <a:ahLst/>
              <a:cxnLst/>
              <a:rect l="0" t="0" r="0" b="0"/>
              <a:pathLst>
                <a:path w="833" h="35">
                  <a:moveTo>
                    <a:pt x="17" y="0"/>
                  </a:moveTo>
                  <a:lnTo>
                    <a:pt x="117" y="0"/>
                  </a:lnTo>
                  <a:cubicBezTo>
                    <a:pt x="126" y="0"/>
                    <a:pt x="133" y="7"/>
                    <a:pt x="133" y="17"/>
                  </a:cubicBezTo>
                  <a:cubicBezTo>
                    <a:pt x="133" y="26"/>
                    <a:pt x="126" y="33"/>
                    <a:pt x="116" y="33"/>
                  </a:cubicBezTo>
                  <a:lnTo>
                    <a:pt x="16" y="33"/>
                  </a:lnTo>
                  <a:cubicBezTo>
                    <a:pt x="7" y="33"/>
                    <a:pt x="0" y="25"/>
                    <a:pt x="0" y="16"/>
                  </a:cubicBezTo>
                  <a:cubicBezTo>
                    <a:pt x="0" y="7"/>
                    <a:pt x="7" y="0"/>
                    <a:pt x="17" y="0"/>
                  </a:cubicBezTo>
                  <a:close/>
                  <a:moveTo>
                    <a:pt x="250" y="0"/>
                  </a:moveTo>
                  <a:lnTo>
                    <a:pt x="350" y="1"/>
                  </a:lnTo>
                  <a:cubicBezTo>
                    <a:pt x="359" y="1"/>
                    <a:pt x="366" y="8"/>
                    <a:pt x="366" y="17"/>
                  </a:cubicBezTo>
                  <a:cubicBezTo>
                    <a:pt x="366" y="26"/>
                    <a:pt x="359" y="34"/>
                    <a:pt x="350" y="34"/>
                  </a:cubicBezTo>
                  <a:lnTo>
                    <a:pt x="250" y="34"/>
                  </a:lnTo>
                  <a:cubicBezTo>
                    <a:pt x="241" y="34"/>
                    <a:pt x="233" y="26"/>
                    <a:pt x="233" y="17"/>
                  </a:cubicBezTo>
                  <a:cubicBezTo>
                    <a:pt x="233" y="8"/>
                    <a:pt x="241" y="0"/>
                    <a:pt x="250" y="0"/>
                  </a:cubicBezTo>
                  <a:close/>
                  <a:moveTo>
                    <a:pt x="483" y="1"/>
                  </a:moveTo>
                  <a:lnTo>
                    <a:pt x="583" y="1"/>
                  </a:lnTo>
                  <a:cubicBezTo>
                    <a:pt x="592" y="1"/>
                    <a:pt x="600" y="9"/>
                    <a:pt x="600" y="18"/>
                  </a:cubicBezTo>
                  <a:cubicBezTo>
                    <a:pt x="600" y="27"/>
                    <a:pt x="592" y="35"/>
                    <a:pt x="583" y="34"/>
                  </a:cubicBezTo>
                  <a:lnTo>
                    <a:pt x="483" y="34"/>
                  </a:lnTo>
                  <a:cubicBezTo>
                    <a:pt x="474" y="34"/>
                    <a:pt x="466" y="27"/>
                    <a:pt x="466" y="17"/>
                  </a:cubicBezTo>
                  <a:cubicBezTo>
                    <a:pt x="466" y="8"/>
                    <a:pt x="474" y="1"/>
                    <a:pt x="483" y="1"/>
                  </a:cubicBezTo>
                  <a:close/>
                  <a:moveTo>
                    <a:pt x="717" y="2"/>
                  </a:moveTo>
                  <a:lnTo>
                    <a:pt x="817" y="2"/>
                  </a:lnTo>
                  <a:cubicBezTo>
                    <a:pt x="826" y="2"/>
                    <a:pt x="833" y="9"/>
                    <a:pt x="833" y="19"/>
                  </a:cubicBezTo>
                  <a:cubicBezTo>
                    <a:pt x="833" y="28"/>
                    <a:pt x="826" y="35"/>
                    <a:pt x="816" y="35"/>
                  </a:cubicBezTo>
                  <a:lnTo>
                    <a:pt x="716" y="35"/>
                  </a:lnTo>
                  <a:cubicBezTo>
                    <a:pt x="707" y="35"/>
                    <a:pt x="700" y="27"/>
                    <a:pt x="700" y="18"/>
                  </a:cubicBezTo>
                  <a:cubicBezTo>
                    <a:pt x="700" y="9"/>
                    <a:pt x="707" y="1"/>
                    <a:pt x="717" y="2"/>
                  </a:cubicBezTo>
                  <a:close/>
                </a:path>
              </a:pathLst>
            </a:custGeom>
            <a:solidFill>
              <a:srgbClr val="000000"/>
            </a:solidFill>
            <a:ln w="7938" cap="flat" cmpd="sng">
              <a:solidFill>
                <a:srgbClr val="CC3300"/>
              </a:solidFill>
              <a:prstDash val="solid"/>
              <a:bevel/>
              <a:headEnd type="none" w="med" len="med"/>
              <a:tailEnd type="none" w="med" len="med"/>
            </a:ln>
          </p:spPr>
          <p:txBody>
            <a:bodyPr/>
            <a:lstStyle/>
            <a:p>
              <a:endParaRPr lang="zh-CN" altLang="en-US"/>
            </a:p>
          </p:txBody>
        </p:sp>
        <p:sp>
          <p:nvSpPr>
            <p:cNvPr id="21555" name="任意多边形 51"/>
            <p:cNvSpPr>
              <a:spLocks noEditPoints="1"/>
            </p:cNvSpPr>
            <p:nvPr/>
          </p:nvSpPr>
          <p:spPr>
            <a:xfrm>
              <a:off x="1631" y="2944"/>
              <a:ext cx="79" cy="541"/>
            </a:xfrm>
            <a:custGeom>
              <a:avLst/>
              <a:gdLst/>
              <a:ahLst/>
              <a:cxnLst/>
              <a:rect l="0" t="0" r="0" b="0"/>
              <a:pathLst>
                <a:path w="267" h="1755">
                  <a:moveTo>
                    <a:pt x="111" y="1733"/>
                  </a:moveTo>
                  <a:lnTo>
                    <a:pt x="111" y="1600"/>
                  </a:lnTo>
                  <a:cubicBezTo>
                    <a:pt x="111" y="1587"/>
                    <a:pt x="121" y="1577"/>
                    <a:pt x="133" y="1577"/>
                  </a:cubicBezTo>
                  <a:cubicBezTo>
                    <a:pt x="146" y="1577"/>
                    <a:pt x="156" y="1587"/>
                    <a:pt x="156" y="1600"/>
                  </a:cubicBezTo>
                  <a:lnTo>
                    <a:pt x="156" y="1733"/>
                  </a:lnTo>
                  <a:cubicBezTo>
                    <a:pt x="156" y="1745"/>
                    <a:pt x="146" y="1755"/>
                    <a:pt x="133" y="1755"/>
                  </a:cubicBezTo>
                  <a:cubicBezTo>
                    <a:pt x="121" y="1755"/>
                    <a:pt x="111" y="1745"/>
                    <a:pt x="111" y="1733"/>
                  </a:cubicBezTo>
                  <a:close/>
                  <a:moveTo>
                    <a:pt x="111" y="1422"/>
                  </a:moveTo>
                  <a:lnTo>
                    <a:pt x="111" y="1288"/>
                  </a:lnTo>
                  <a:cubicBezTo>
                    <a:pt x="111" y="1276"/>
                    <a:pt x="121" y="1266"/>
                    <a:pt x="133" y="1266"/>
                  </a:cubicBezTo>
                  <a:cubicBezTo>
                    <a:pt x="146" y="1266"/>
                    <a:pt x="156" y="1276"/>
                    <a:pt x="156" y="1288"/>
                  </a:cubicBezTo>
                  <a:lnTo>
                    <a:pt x="156" y="1422"/>
                  </a:lnTo>
                  <a:cubicBezTo>
                    <a:pt x="156" y="1434"/>
                    <a:pt x="146" y="1444"/>
                    <a:pt x="133" y="1444"/>
                  </a:cubicBezTo>
                  <a:cubicBezTo>
                    <a:pt x="121" y="1444"/>
                    <a:pt x="111" y="1434"/>
                    <a:pt x="111" y="1422"/>
                  </a:cubicBezTo>
                  <a:close/>
                  <a:moveTo>
                    <a:pt x="111" y="1111"/>
                  </a:moveTo>
                  <a:lnTo>
                    <a:pt x="111" y="977"/>
                  </a:lnTo>
                  <a:cubicBezTo>
                    <a:pt x="111" y="965"/>
                    <a:pt x="121" y="955"/>
                    <a:pt x="133" y="955"/>
                  </a:cubicBezTo>
                  <a:cubicBezTo>
                    <a:pt x="146" y="955"/>
                    <a:pt x="156" y="965"/>
                    <a:pt x="156" y="977"/>
                  </a:cubicBezTo>
                  <a:lnTo>
                    <a:pt x="156" y="1111"/>
                  </a:lnTo>
                  <a:cubicBezTo>
                    <a:pt x="156" y="1123"/>
                    <a:pt x="146" y="1133"/>
                    <a:pt x="133" y="1133"/>
                  </a:cubicBezTo>
                  <a:cubicBezTo>
                    <a:pt x="121" y="1133"/>
                    <a:pt x="111" y="1123"/>
                    <a:pt x="111" y="1111"/>
                  </a:cubicBezTo>
                  <a:close/>
                  <a:moveTo>
                    <a:pt x="111" y="800"/>
                  </a:moveTo>
                  <a:lnTo>
                    <a:pt x="111" y="666"/>
                  </a:lnTo>
                  <a:cubicBezTo>
                    <a:pt x="111" y="654"/>
                    <a:pt x="121" y="644"/>
                    <a:pt x="133" y="644"/>
                  </a:cubicBezTo>
                  <a:cubicBezTo>
                    <a:pt x="146" y="644"/>
                    <a:pt x="156" y="654"/>
                    <a:pt x="156" y="666"/>
                  </a:cubicBezTo>
                  <a:lnTo>
                    <a:pt x="156" y="800"/>
                  </a:lnTo>
                  <a:cubicBezTo>
                    <a:pt x="156" y="812"/>
                    <a:pt x="146" y="822"/>
                    <a:pt x="133" y="822"/>
                  </a:cubicBezTo>
                  <a:cubicBezTo>
                    <a:pt x="121" y="822"/>
                    <a:pt x="111" y="812"/>
                    <a:pt x="111" y="800"/>
                  </a:cubicBezTo>
                  <a:close/>
                  <a:moveTo>
                    <a:pt x="111" y="488"/>
                  </a:moveTo>
                  <a:lnTo>
                    <a:pt x="111" y="355"/>
                  </a:lnTo>
                  <a:cubicBezTo>
                    <a:pt x="111" y="343"/>
                    <a:pt x="121" y="333"/>
                    <a:pt x="133" y="333"/>
                  </a:cubicBezTo>
                  <a:cubicBezTo>
                    <a:pt x="146" y="333"/>
                    <a:pt x="156" y="343"/>
                    <a:pt x="156" y="355"/>
                  </a:cubicBezTo>
                  <a:lnTo>
                    <a:pt x="156" y="488"/>
                  </a:lnTo>
                  <a:cubicBezTo>
                    <a:pt x="156" y="501"/>
                    <a:pt x="146" y="511"/>
                    <a:pt x="133" y="511"/>
                  </a:cubicBezTo>
                  <a:cubicBezTo>
                    <a:pt x="121" y="511"/>
                    <a:pt x="111" y="501"/>
                    <a:pt x="111" y="488"/>
                  </a:cubicBezTo>
                  <a:close/>
                  <a:moveTo>
                    <a:pt x="0" y="266"/>
                  </a:moveTo>
                  <a:lnTo>
                    <a:pt x="133" y="0"/>
                  </a:lnTo>
                  <a:lnTo>
                    <a:pt x="267" y="266"/>
                  </a:lnTo>
                  <a:lnTo>
                    <a:pt x="0" y="266"/>
                  </a:lnTo>
                  <a:close/>
                </a:path>
              </a:pathLst>
            </a:custGeom>
            <a:solidFill>
              <a:srgbClr val="000000"/>
            </a:solidFill>
            <a:ln w="7938" cap="flat" cmpd="sng">
              <a:solidFill>
                <a:srgbClr val="CC3300"/>
              </a:solidFill>
              <a:prstDash val="solid"/>
              <a:bevel/>
              <a:headEnd type="none" w="med" len="med"/>
              <a:tailEnd type="none" w="med" len="med"/>
            </a:ln>
          </p:spPr>
          <p:txBody>
            <a:bodyPr/>
            <a:lstStyle/>
            <a:p>
              <a:endParaRPr lang="zh-CN" altLang="en-US"/>
            </a:p>
          </p:txBody>
        </p:sp>
        <p:sp>
          <p:nvSpPr>
            <p:cNvPr id="21556" name="任意多边形 52"/>
            <p:cNvSpPr>
              <a:spLocks noEditPoints="1"/>
            </p:cNvSpPr>
            <p:nvPr/>
          </p:nvSpPr>
          <p:spPr>
            <a:xfrm>
              <a:off x="1666" y="3473"/>
              <a:ext cx="800" cy="11"/>
            </a:xfrm>
            <a:custGeom>
              <a:avLst/>
              <a:gdLst/>
              <a:ahLst/>
              <a:cxnLst/>
              <a:rect l="0" t="0" r="0" b="0"/>
              <a:pathLst>
                <a:path w="2700" h="34">
                  <a:moveTo>
                    <a:pt x="16" y="0"/>
                  </a:moveTo>
                  <a:lnTo>
                    <a:pt x="116" y="0"/>
                  </a:lnTo>
                  <a:cubicBezTo>
                    <a:pt x="126" y="0"/>
                    <a:pt x="133" y="8"/>
                    <a:pt x="133" y="17"/>
                  </a:cubicBezTo>
                  <a:cubicBezTo>
                    <a:pt x="133" y="26"/>
                    <a:pt x="126" y="34"/>
                    <a:pt x="116" y="34"/>
                  </a:cubicBezTo>
                  <a:lnTo>
                    <a:pt x="16" y="34"/>
                  </a:lnTo>
                  <a:cubicBezTo>
                    <a:pt x="7" y="34"/>
                    <a:pt x="0" y="26"/>
                    <a:pt x="0" y="17"/>
                  </a:cubicBezTo>
                  <a:cubicBezTo>
                    <a:pt x="0" y="8"/>
                    <a:pt x="7" y="0"/>
                    <a:pt x="16" y="0"/>
                  </a:cubicBezTo>
                  <a:close/>
                  <a:moveTo>
                    <a:pt x="250" y="0"/>
                  </a:moveTo>
                  <a:lnTo>
                    <a:pt x="350" y="0"/>
                  </a:lnTo>
                  <a:cubicBezTo>
                    <a:pt x="359" y="0"/>
                    <a:pt x="366" y="8"/>
                    <a:pt x="366" y="17"/>
                  </a:cubicBezTo>
                  <a:cubicBezTo>
                    <a:pt x="366" y="26"/>
                    <a:pt x="359" y="34"/>
                    <a:pt x="350" y="34"/>
                  </a:cubicBezTo>
                  <a:lnTo>
                    <a:pt x="250" y="34"/>
                  </a:lnTo>
                  <a:cubicBezTo>
                    <a:pt x="241" y="34"/>
                    <a:pt x="233" y="26"/>
                    <a:pt x="233" y="17"/>
                  </a:cubicBezTo>
                  <a:cubicBezTo>
                    <a:pt x="233" y="8"/>
                    <a:pt x="241" y="0"/>
                    <a:pt x="250" y="0"/>
                  </a:cubicBezTo>
                  <a:close/>
                  <a:moveTo>
                    <a:pt x="483" y="0"/>
                  </a:moveTo>
                  <a:lnTo>
                    <a:pt x="583" y="0"/>
                  </a:lnTo>
                  <a:cubicBezTo>
                    <a:pt x="592" y="0"/>
                    <a:pt x="600" y="8"/>
                    <a:pt x="600" y="17"/>
                  </a:cubicBezTo>
                  <a:cubicBezTo>
                    <a:pt x="600" y="26"/>
                    <a:pt x="592" y="34"/>
                    <a:pt x="583" y="34"/>
                  </a:cubicBezTo>
                  <a:lnTo>
                    <a:pt x="483" y="34"/>
                  </a:lnTo>
                  <a:cubicBezTo>
                    <a:pt x="474" y="34"/>
                    <a:pt x="466" y="26"/>
                    <a:pt x="466" y="17"/>
                  </a:cubicBezTo>
                  <a:cubicBezTo>
                    <a:pt x="466" y="8"/>
                    <a:pt x="474" y="0"/>
                    <a:pt x="483" y="0"/>
                  </a:cubicBezTo>
                  <a:close/>
                  <a:moveTo>
                    <a:pt x="716" y="0"/>
                  </a:moveTo>
                  <a:lnTo>
                    <a:pt x="816" y="0"/>
                  </a:lnTo>
                  <a:cubicBezTo>
                    <a:pt x="826" y="0"/>
                    <a:pt x="833" y="8"/>
                    <a:pt x="833" y="17"/>
                  </a:cubicBezTo>
                  <a:cubicBezTo>
                    <a:pt x="833" y="26"/>
                    <a:pt x="826" y="34"/>
                    <a:pt x="816" y="34"/>
                  </a:cubicBezTo>
                  <a:lnTo>
                    <a:pt x="716" y="34"/>
                  </a:lnTo>
                  <a:cubicBezTo>
                    <a:pt x="707" y="34"/>
                    <a:pt x="700" y="26"/>
                    <a:pt x="700" y="17"/>
                  </a:cubicBezTo>
                  <a:cubicBezTo>
                    <a:pt x="700" y="8"/>
                    <a:pt x="707" y="0"/>
                    <a:pt x="716" y="0"/>
                  </a:cubicBezTo>
                  <a:close/>
                  <a:moveTo>
                    <a:pt x="950" y="0"/>
                  </a:moveTo>
                  <a:lnTo>
                    <a:pt x="1050" y="0"/>
                  </a:lnTo>
                  <a:cubicBezTo>
                    <a:pt x="1059" y="0"/>
                    <a:pt x="1066" y="8"/>
                    <a:pt x="1066" y="17"/>
                  </a:cubicBezTo>
                  <a:cubicBezTo>
                    <a:pt x="1066" y="26"/>
                    <a:pt x="1059" y="34"/>
                    <a:pt x="1050" y="34"/>
                  </a:cubicBezTo>
                  <a:lnTo>
                    <a:pt x="950" y="34"/>
                  </a:lnTo>
                  <a:cubicBezTo>
                    <a:pt x="941" y="34"/>
                    <a:pt x="933" y="26"/>
                    <a:pt x="933" y="17"/>
                  </a:cubicBezTo>
                  <a:cubicBezTo>
                    <a:pt x="933" y="8"/>
                    <a:pt x="941" y="0"/>
                    <a:pt x="950" y="0"/>
                  </a:cubicBezTo>
                  <a:close/>
                  <a:moveTo>
                    <a:pt x="1183" y="0"/>
                  </a:moveTo>
                  <a:lnTo>
                    <a:pt x="1283" y="0"/>
                  </a:lnTo>
                  <a:cubicBezTo>
                    <a:pt x="1292" y="0"/>
                    <a:pt x="1300" y="8"/>
                    <a:pt x="1300" y="17"/>
                  </a:cubicBezTo>
                  <a:cubicBezTo>
                    <a:pt x="1300" y="26"/>
                    <a:pt x="1292" y="34"/>
                    <a:pt x="1283" y="34"/>
                  </a:cubicBezTo>
                  <a:lnTo>
                    <a:pt x="1183" y="34"/>
                  </a:lnTo>
                  <a:cubicBezTo>
                    <a:pt x="1174" y="34"/>
                    <a:pt x="1166" y="26"/>
                    <a:pt x="1166" y="17"/>
                  </a:cubicBezTo>
                  <a:cubicBezTo>
                    <a:pt x="1166" y="8"/>
                    <a:pt x="1174" y="0"/>
                    <a:pt x="1183" y="0"/>
                  </a:cubicBezTo>
                  <a:close/>
                  <a:moveTo>
                    <a:pt x="1416" y="0"/>
                  </a:moveTo>
                  <a:lnTo>
                    <a:pt x="1516" y="0"/>
                  </a:lnTo>
                  <a:cubicBezTo>
                    <a:pt x="1526" y="0"/>
                    <a:pt x="1533" y="8"/>
                    <a:pt x="1533" y="17"/>
                  </a:cubicBezTo>
                  <a:cubicBezTo>
                    <a:pt x="1533" y="26"/>
                    <a:pt x="1526" y="34"/>
                    <a:pt x="1516" y="34"/>
                  </a:cubicBezTo>
                  <a:lnTo>
                    <a:pt x="1416" y="34"/>
                  </a:lnTo>
                  <a:cubicBezTo>
                    <a:pt x="1407" y="34"/>
                    <a:pt x="1400" y="26"/>
                    <a:pt x="1400" y="17"/>
                  </a:cubicBezTo>
                  <a:cubicBezTo>
                    <a:pt x="1400" y="8"/>
                    <a:pt x="1407" y="0"/>
                    <a:pt x="1416" y="0"/>
                  </a:cubicBezTo>
                  <a:close/>
                  <a:moveTo>
                    <a:pt x="1650" y="0"/>
                  </a:moveTo>
                  <a:lnTo>
                    <a:pt x="1750" y="0"/>
                  </a:lnTo>
                  <a:cubicBezTo>
                    <a:pt x="1759" y="0"/>
                    <a:pt x="1766" y="8"/>
                    <a:pt x="1766" y="17"/>
                  </a:cubicBezTo>
                  <a:cubicBezTo>
                    <a:pt x="1766" y="26"/>
                    <a:pt x="1759" y="34"/>
                    <a:pt x="1750" y="34"/>
                  </a:cubicBezTo>
                  <a:lnTo>
                    <a:pt x="1650" y="34"/>
                  </a:lnTo>
                  <a:cubicBezTo>
                    <a:pt x="1641" y="34"/>
                    <a:pt x="1633" y="26"/>
                    <a:pt x="1633" y="17"/>
                  </a:cubicBezTo>
                  <a:cubicBezTo>
                    <a:pt x="1633" y="8"/>
                    <a:pt x="1641" y="0"/>
                    <a:pt x="1650" y="0"/>
                  </a:cubicBezTo>
                  <a:close/>
                  <a:moveTo>
                    <a:pt x="1883" y="0"/>
                  </a:moveTo>
                  <a:lnTo>
                    <a:pt x="1983" y="0"/>
                  </a:lnTo>
                  <a:cubicBezTo>
                    <a:pt x="1992" y="0"/>
                    <a:pt x="2000" y="8"/>
                    <a:pt x="2000" y="17"/>
                  </a:cubicBezTo>
                  <a:cubicBezTo>
                    <a:pt x="2000" y="26"/>
                    <a:pt x="1992" y="34"/>
                    <a:pt x="1983" y="34"/>
                  </a:cubicBezTo>
                  <a:lnTo>
                    <a:pt x="1883" y="34"/>
                  </a:lnTo>
                  <a:cubicBezTo>
                    <a:pt x="1874" y="34"/>
                    <a:pt x="1866" y="26"/>
                    <a:pt x="1866" y="17"/>
                  </a:cubicBezTo>
                  <a:cubicBezTo>
                    <a:pt x="1866" y="8"/>
                    <a:pt x="1874" y="0"/>
                    <a:pt x="1883" y="0"/>
                  </a:cubicBezTo>
                  <a:close/>
                  <a:moveTo>
                    <a:pt x="2116" y="0"/>
                  </a:moveTo>
                  <a:lnTo>
                    <a:pt x="2216" y="0"/>
                  </a:lnTo>
                  <a:cubicBezTo>
                    <a:pt x="2226" y="0"/>
                    <a:pt x="2233" y="8"/>
                    <a:pt x="2233" y="17"/>
                  </a:cubicBezTo>
                  <a:cubicBezTo>
                    <a:pt x="2233" y="26"/>
                    <a:pt x="2226" y="34"/>
                    <a:pt x="2216" y="34"/>
                  </a:cubicBezTo>
                  <a:lnTo>
                    <a:pt x="2116" y="34"/>
                  </a:lnTo>
                  <a:cubicBezTo>
                    <a:pt x="2107" y="34"/>
                    <a:pt x="2100" y="26"/>
                    <a:pt x="2100" y="17"/>
                  </a:cubicBezTo>
                  <a:cubicBezTo>
                    <a:pt x="2100" y="8"/>
                    <a:pt x="2107" y="0"/>
                    <a:pt x="2116" y="0"/>
                  </a:cubicBezTo>
                  <a:close/>
                  <a:moveTo>
                    <a:pt x="2350" y="0"/>
                  </a:moveTo>
                  <a:lnTo>
                    <a:pt x="2450" y="0"/>
                  </a:lnTo>
                  <a:cubicBezTo>
                    <a:pt x="2459" y="0"/>
                    <a:pt x="2466" y="8"/>
                    <a:pt x="2466" y="17"/>
                  </a:cubicBezTo>
                  <a:cubicBezTo>
                    <a:pt x="2466" y="26"/>
                    <a:pt x="2459" y="34"/>
                    <a:pt x="2450" y="34"/>
                  </a:cubicBezTo>
                  <a:lnTo>
                    <a:pt x="2350" y="34"/>
                  </a:lnTo>
                  <a:cubicBezTo>
                    <a:pt x="2341" y="34"/>
                    <a:pt x="2333" y="26"/>
                    <a:pt x="2333" y="17"/>
                  </a:cubicBezTo>
                  <a:cubicBezTo>
                    <a:pt x="2333" y="8"/>
                    <a:pt x="2341" y="0"/>
                    <a:pt x="2350" y="0"/>
                  </a:cubicBezTo>
                  <a:close/>
                  <a:moveTo>
                    <a:pt x="2583" y="0"/>
                  </a:moveTo>
                  <a:lnTo>
                    <a:pt x="2683" y="0"/>
                  </a:lnTo>
                  <a:cubicBezTo>
                    <a:pt x="2692" y="0"/>
                    <a:pt x="2700" y="8"/>
                    <a:pt x="2700" y="17"/>
                  </a:cubicBezTo>
                  <a:cubicBezTo>
                    <a:pt x="2700" y="26"/>
                    <a:pt x="2692" y="34"/>
                    <a:pt x="2683" y="34"/>
                  </a:cubicBezTo>
                  <a:lnTo>
                    <a:pt x="2583" y="34"/>
                  </a:lnTo>
                  <a:cubicBezTo>
                    <a:pt x="2574" y="34"/>
                    <a:pt x="2566" y="26"/>
                    <a:pt x="2566" y="17"/>
                  </a:cubicBezTo>
                  <a:cubicBezTo>
                    <a:pt x="2566" y="8"/>
                    <a:pt x="2574" y="0"/>
                    <a:pt x="2583" y="0"/>
                  </a:cubicBezTo>
                  <a:close/>
                </a:path>
              </a:pathLst>
            </a:custGeom>
            <a:solidFill>
              <a:srgbClr val="000000"/>
            </a:solidFill>
            <a:ln w="7938" cap="flat" cmpd="sng">
              <a:solidFill>
                <a:srgbClr val="CC3300"/>
              </a:solidFill>
              <a:prstDash val="solid"/>
              <a:bevel/>
              <a:headEnd type="none" w="med" len="med"/>
              <a:tailEnd type="none" w="med" len="med"/>
            </a:ln>
          </p:spPr>
          <p:txBody>
            <a:bodyPr/>
            <a:lstStyle/>
            <a:p>
              <a:endParaRPr lang="zh-CN" altLang="en-US"/>
            </a:p>
          </p:txBody>
        </p:sp>
        <p:grpSp>
          <p:nvGrpSpPr>
            <p:cNvPr id="21557" name="组合 53"/>
            <p:cNvGrpSpPr/>
            <p:nvPr/>
          </p:nvGrpSpPr>
          <p:grpSpPr>
            <a:xfrm>
              <a:off x="2145" y="2731"/>
              <a:ext cx="356" cy="107"/>
              <a:chOff x="2145" y="2731"/>
              <a:chExt cx="356" cy="107"/>
            </a:xfrm>
          </p:grpSpPr>
          <p:sp>
            <p:nvSpPr>
              <p:cNvPr id="21558" name="任意多边形 54"/>
              <p:cNvSpPr/>
              <p:nvPr/>
            </p:nvSpPr>
            <p:spPr>
              <a:xfrm>
                <a:off x="2145" y="2731"/>
                <a:ext cx="356" cy="107"/>
              </a:xfrm>
              <a:custGeom>
                <a:avLst/>
                <a:gdLst/>
                <a:ahLst/>
                <a:cxnLst/>
                <a:rect l="0" t="0" r="0" b="0"/>
                <a:pathLst>
                  <a:path w="356" h="107">
                    <a:moveTo>
                      <a:pt x="267" y="0"/>
                    </a:moveTo>
                    <a:lnTo>
                      <a:pt x="267" y="27"/>
                    </a:lnTo>
                    <a:lnTo>
                      <a:pt x="0" y="27"/>
                    </a:lnTo>
                    <a:lnTo>
                      <a:pt x="0" y="80"/>
                    </a:lnTo>
                    <a:lnTo>
                      <a:pt x="267" y="80"/>
                    </a:lnTo>
                    <a:lnTo>
                      <a:pt x="267" y="107"/>
                    </a:lnTo>
                    <a:lnTo>
                      <a:pt x="356" y="53"/>
                    </a:lnTo>
                    <a:lnTo>
                      <a:pt x="267" y="0"/>
                    </a:lnTo>
                    <a:close/>
                  </a:path>
                </a:pathLst>
              </a:custGeom>
              <a:solidFill>
                <a:srgbClr val="60A3B0"/>
              </a:solidFill>
              <a:ln w="9525" cap="flat" cmpd="sng">
                <a:solidFill>
                  <a:schemeClr val="accent1"/>
                </a:solidFill>
                <a:prstDash val="solid"/>
                <a:round/>
                <a:headEnd type="none" w="med" len="med"/>
                <a:tailEnd type="none" w="med" len="med"/>
              </a:ln>
            </p:spPr>
            <p:txBody>
              <a:bodyPr/>
              <a:lstStyle/>
              <a:p>
                <a:endParaRPr lang="zh-CN" altLang="en-US"/>
              </a:p>
            </p:txBody>
          </p:sp>
          <p:sp>
            <p:nvSpPr>
              <p:cNvPr id="21559" name="任意多边形 55"/>
              <p:cNvSpPr/>
              <p:nvPr/>
            </p:nvSpPr>
            <p:spPr>
              <a:xfrm>
                <a:off x="2145" y="2731"/>
                <a:ext cx="356" cy="107"/>
              </a:xfrm>
              <a:custGeom>
                <a:avLst/>
                <a:gdLst/>
                <a:ahLst/>
                <a:cxnLst/>
                <a:rect l="0" t="0" r="0" b="0"/>
                <a:pathLst>
                  <a:path w="356" h="107">
                    <a:moveTo>
                      <a:pt x="267" y="0"/>
                    </a:moveTo>
                    <a:lnTo>
                      <a:pt x="267" y="27"/>
                    </a:lnTo>
                    <a:lnTo>
                      <a:pt x="0" y="27"/>
                    </a:lnTo>
                    <a:lnTo>
                      <a:pt x="0" y="80"/>
                    </a:lnTo>
                    <a:lnTo>
                      <a:pt x="267" y="80"/>
                    </a:lnTo>
                    <a:lnTo>
                      <a:pt x="267" y="107"/>
                    </a:lnTo>
                    <a:lnTo>
                      <a:pt x="356" y="53"/>
                    </a:lnTo>
                    <a:lnTo>
                      <a:pt x="267" y="0"/>
                    </a:lnTo>
                    <a:close/>
                  </a:path>
                </a:pathLst>
              </a:custGeom>
              <a:solidFill>
                <a:srgbClr val="60A3B0"/>
              </a:solidFill>
              <a:ln w="15875" cap="rnd" cmpd="sng">
                <a:solidFill>
                  <a:schemeClr val="accent1"/>
                </a:solidFill>
                <a:prstDash val="solid"/>
                <a:round/>
                <a:headEnd type="none" w="med" len="med"/>
                <a:tailEnd type="none" w="med" len="med"/>
              </a:ln>
            </p:spPr>
            <p:txBody>
              <a:bodyPr/>
              <a:lstStyle/>
              <a:p>
                <a:endParaRPr lang="zh-CN" altLang="en-US"/>
              </a:p>
            </p:txBody>
          </p:sp>
        </p:grpSp>
        <p:sp>
          <p:nvSpPr>
            <p:cNvPr id="21560" name="任意多边形 56"/>
            <p:cNvSpPr>
              <a:spLocks noEditPoints="1"/>
            </p:cNvSpPr>
            <p:nvPr/>
          </p:nvSpPr>
          <p:spPr>
            <a:xfrm>
              <a:off x="3055" y="2944"/>
              <a:ext cx="79" cy="328"/>
            </a:xfrm>
            <a:custGeom>
              <a:avLst/>
              <a:gdLst/>
              <a:ahLst/>
              <a:cxnLst/>
              <a:rect l="0" t="0" r="0" b="0"/>
              <a:pathLst>
                <a:path w="267" h="1062">
                  <a:moveTo>
                    <a:pt x="111" y="1040"/>
                  </a:moveTo>
                  <a:lnTo>
                    <a:pt x="111" y="906"/>
                  </a:lnTo>
                  <a:cubicBezTo>
                    <a:pt x="111" y="894"/>
                    <a:pt x="121" y="884"/>
                    <a:pt x="133" y="884"/>
                  </a:cubicBezTo>
                  <a:cubicBezTo>
                    <a:pt x="146" y="884"/>
                    <a:pt x="156" y="894"/>
                    <a:pt x="156" y="906"/>
                  </a:cubicBezTo>
                  <a:lnTo>
                    <a:pt x="156" y="1040"/>
                  </a:lnTo>
                  <a:cubicBezTo>
                    <a:pt x="156" y="1052"/>
                    <a:pt x="146" y="1062"/>
                    <a:pt x="133" y="1062"/>
                  </a:cubicBezTo>
                  <a:cubicBezTo>
                    <a:pt x="121" y="1062"/>
                    <a:pt x="111" y="1052"/>
                    <a:pt x="111" y="1040"/>
                  </a:cubicBezTo>
                  <a:close/>
                  <a:moveTo>
                    <a:pt x="111" y="728"/>
                  </a:moveTo>
                  <a:lnTo>
                    <a:pt x="111" y="595"/>
                  </a:lnTo>
                  <a:cubicBezTo>
                    <a:pt x="111" y="583"/>
                    <a:pt x="121" y="573"/>
                    <a:pt x="133" y="573"/>
                  </a:cubicBezTo>
                  <a:cubicBezTo>
                    <a:pt x="146" y="573"/>
                    <a:pt x="156" y="583"/>
                    <a:pt x="156" y="595"/>
                  </a:cubicBezTo>
                  <a:lnTo>
                    <a:pt x="156" y="728"/>
                  </a:lnTo>
                  <a:cubicBezTo>
                    <a:pt x="156" y="741"/>
                    <a:pt x="146" y="751"/>
                    <a:pt x="133" y="751"/>
                  </a:cubicBezTo>
                  <a:cubicBezTo>
                    <a:pt x="121" y="751"/>
                    <a:pt x="111" y="741"/>
                    <a:pt x="111" y="728"/>
                  </a:cubicBezTo>
                  <a:close/>
                  <a:moveTo>
                    <a:pt x="111" y="417"/>
                  </a:moveTo>
                  <a:lnTo>
                    <a:pt x="111" y="284"/>
                  </a:lnTo>
                  <a:cubicBezTo>
                    <a:pt x="111" y="272"/>
                    <a:pt x="121" y="262"/>
                    <a:pt x="133" y="262"/>
                  </a:cubicBezTo>
                  <a:cubicBezTo>
                    <a:pt x="146" y="262"/>
                    <a:pt x="156" y="272"/>
                    <a:pt x="156" y="284"/>
                  </a:cubicBezTo>
                  <a:lnTo>
                    <a:pt x="156" y="417"/>
                  </a:lnTo>
                  <a:cubicBezTo>
                    <a:pt x="156" y="430"/>
                    <a:pt x="146" y="440"/>
                    <a:pt x="133" y="440"/>
                  </a:cubicBezTo>
                  <a:cubicBezTo>
                    <a:pt x="121" y="440"/>
                    <a:pt x="111" y="430"/>
                    <a:pt x="111" y="417"/>
                  </a:cubicBezTo>
                  <a:close/>
                  <a:moveTo>
                    <a:pt x="0" y="266"/>
                  </a:moveTo>
                  <a:lnTo>
                    <a:pt x="133" y="0"/>
                  </a:lnTo>
                  <a:lnTo>
                    <a:pt x="267" y="266"/>
                  </a:lnTo>
                  <a:lnTo>
                    <a:pt x="0" y="266"/>
                  </a:lnTo>
                  <a:close/>
                </a:path>
              </a:pathLst>
            </a:custGeom>
            <a:solidFill>
              <a:srgbClr val="000000"/>
            </a:solidFill>
            <a:ln w="7938" cap="flat" cmpd="sng">
              <a:solidFill>
                <a:srgbClr val="CC3300"/>
              </a:solidFill>
              <a:prstDash val="solid"/>
              <a:bevel/>
              <a:headEnd type="none" w="med" len="med"/>
              <a:tailEnd type="none" w="med" len="med"/>
            </a:ln>
          </p:spPr>
          <p:txBody>
            <a:bodyPr/>
            <a:lstStyle/>
            <a:p>
              <a:endParaRPr lang="zh-CN" altLang="en-US"/>
            </a:p>
          </p:txBody>
        </p:sp>
        <p:sp>
          <p:nvSpPr>
            <p:cNvPr id="21561" name="任意多边形 57"/>
            <p:cNvSpPr>
              <a:spLocks noEditPoints="1"/>
            </p:cNvSpPr>
            <p:nvPr/>
          </p:nvSpPr>
          <p:spPr>
            <a:xfrm>
              <a:off x="4004" y="2944"/>
              <a:ext cx="80" cy="541"/>
            </a:xfrm>
            <a:custGeom>
              <a:avLst/>
              <a:gdLst/>
              <a:ahLst/>
              <a:cxnLst/>
              <a:rect l="0" t="0" r="0" b="0"/>
              <a:pathLst>
                <a:path w="267" h="1755">
                  <a:moveTo>
                    <a:pt x="109" y="1733"/>
                  </a:moveTo>
                  <a:lnTo>
                    <a:pt x="109" y="1600"/>
                  </a:lnTo>
                  <a:cubicBezTo>
                    <a:pt x="109" y="1587"/>
                    <a:pt x="119" y="1577"/>
                    <a:pt x="132" y="1577"/>
                  </a:cubicBezTo>
                  <a:cubicBezTo>
                    <a:pt x="144" y="1577"/>
                    <a:pt x="154" y="1587"/>
                    <a:pt x="154" y="1600"/>
                  </a:cubicBezTo>
                  <a:lnTo>
                    <a:pt x="154" y="1733"/>
                  </a:lnTo>
                  <a:cubicBezTo>
                    <a:pt x="154" y="1745"/>
                    <a:pt x="144" y="1755"/>
                    <a:pt x="131" y="1755"/>
                  </a:cubicBezTo>
                  <a:cubicBezTo>
                    <a:pt x="119" y="1755"/>
                    <a:pt x="109" y="1745"/>
                    <a:pt x="109" y="1733"/>
                  </a:cubicBezTo>
                  <a:close/>
                  <a:moveTo>
                    <a:pt x="110" y="1422"/>
                  </a:moveTo>
                  <a:lnTo>
                    <a:pt x="110" y="1288"/>
                  </a:lnTo>
                  <a:cubicBezTo>
                    <a:pt x="110" y="1276"/>
                    <a:pt x="120" y="1266"/>
                    <a:pt x="132" y="1266"/>
                  </a:cubicBezTo>
                  <a:cubicBezTo>
                    <a:pt x="144" y="1266"/>
                    <a:pt x="154" y="1276"/>
                    <a:pt x="154" y="1288"/>
                  </a:cubicBezTo>
                  <a:lnTo>
                    <a:pt x="154" y="1422"/>
                  </a:lnTo>
                  <a:cubicBezTo>
                    <a:pt x="154" y="1434"/>
                    <a:pt x="144" y="1444"/>
                    <a:pt x="132" y="1444"/>
                  </a:cubicBezTo>
                  <a:cubicBezTo>
                    <a:pt x="120" y="1444"/>
                    <a:pt x="110" y="1434"/>
                    <a:pt x="110" y="1422"/>
                  </a:cubicBezTo>
                  <a:close/>
                  <a:moveTo>
                    <a:pt x="110" y="1111"/>
                  </a:moveTo>
                  <a:lnTo>
                    <a:pt x="110" y="977"/>
                  </a:lnTo>
                  <a:cubicBezTo>
                    <a:pt x="110" y="965"/>
                    <a:pt x="120" y="955"/>
                    <a:pt x="132" y="955"/>
                  </a:cubicBezTo>
                  <a:cubicBezTo>
                    <a:pt x="145" y="955"/>
                    <a:pt x="155" y="965"/>
                    <a:pt x="155" y="977"/>
                  </a:cubicBezTo>
                  <a:lnTo>
                    <a:pt x="154" y="1111"/>
                  </a:lnTo>
                  <a:cubicBezTo>
                    <a:pt x="154" y="1123"/>
                    <a:pt x="145" y="1133"/>
                    <a:pt x="132" y="1133"/>
                  </a:cubicBezTo>
                  <a:cubicBezTo>
                    <a:pt x="120" y="1133"/>
                    <a:pt x="110" y="1123"/>
                    <a:pt x="110" y="1111"/>
                  </a:cubicBezTo>
                  <a:close/>
                  <a:moveTo>
                    <a:pt x="110" y="800"/>
                  </a:moveTo>
                  <a:lnTo>
                    <a:pt x="111" y="666"/>
                  </a:lnTo>
                  <a:cubicBezTo>
                    <a:pt x="111" y="654"/>
                    <a:pt x="121" y="644"/>
                    <a:pt x="133" y="644"/>
                  </a:cubicBezTo>
                  <a:cubicBezTo>
                    <a:pt x="145" y="644"/>
                    <a:pt x="155" y="654"/>
                    <a:pt x="155" y="666"/>
                  </a:cubicBezTo>
                  <a:lnTo>
                    <a:pt x="155" y="800"/>
                  </a:lnTo>
                  <a:cubicBezTo>
                    <a:pt x="155" y="812"/>
                    <a:pt x="145" y="822"/>
                    <a:pt x="133" y="822"/>
                  </a:cubicBezTo>
                  <a:cubicBezTo>
                    <a:pt x="120" y="822"/>
                    <a:pt x="110" y="812"/>
                    <a:pt x="110" y="800"/>
                  </a:cubicBezTo>
                  <a:close/>
                  <a:moveTo>
                    <a:pt x="111" y="488"/>
                  </a:moveTo>
                  <a:lnTo>
                    <a:pt x="111" y="355"/>
                  </a:lnTo>
                  <a:cubicBezTo>
                    <a:pt x="111" y="343"/>
                    <a:pt x="121" y="333"/>
                    <a:pt x="133" y="333"/>
                  </a:cubicBezTo>
                  <a:cubicBezTo>
                    <a:pt x="146" y="333"/>
                    <a:pt x="155" y="343"/>
                    <a:pt x="155" y="355"/>
                  </a:cubicBezTo>
                  <a:lnTo>
                    <a:pt x="155" y="488"/>
                  </a:lnTo>
                  <a:cubicBezTo>
                    <a:pt x="155" y="501"/>
                    <a:pt x="145" y="511"/>
                    <a:pt x="133" y="511"/>
                  </a:cubicBezTo>
                  <a:cubicBezTo>
                    <a:pt x="121" y="511"/>
                    <a:pt x="111" y="501"/>
                    <a:pt x="111" y="488"/>
                  </a:cubicBezTo>
                  <a:close/>
                  <a:moveTo>
                    <a:pt x="0" y="266"/>
                  </a:moveTo>
                  <a:lnTo>
                    <a:pt x="134" y="0"/>
                  </a:lnTo>
                  <a:lnTo>
                    <a:pt x="267" y="266"/>
                  </a:lnTo>
                  <a:lnTo>
                    <a:pt x="0" y="266"/>
                  </a:lnTo>
                  <a:close/>
                </a:path>
              </a:pathLst>
            </a:custGeom>
            <a:solidFill>
              <a:srgbClr val="000000"/>
            </a:solidFill>
            <a:ln w="7938" cap="flat" cmpd="sng">
              <a:solidFill>
                <a:srgbClr val="CC3300"/>
              </a:solidFill>
              <a:prstDash val="solid"/>
              <a:bevel/>
              <a:headEnd type="none" w="med" len="med"/>
              <a:tailEnd type="none" w="med" len="med"/>
            </a:ln>
          </p:spPr>
          <p:txBody>
            <a:bodyPr/>
            <a:lstStyle/>
            <a:p>
              <a:endParaRPr lang="zh-CN" altLang="en-US"/>
            </a:p>
          </p:txBody>
        </p:sp>
        <p:sp>
          <p:nvSpPr>
            <p:cNvPr id="21562" name="任意多边形 58"/>
            <p:cNvSpPr>
              <a:spLocks noEditPoints="1"/>
            </p:cNvSpPr>
            <p:nvPr/>
          </p:nvSpPr>
          <p:spPr>
            <a:xfrm>
              <a:off x="3327" y="3473"/>
              <a:ext cx="721" cy="11"/>
            </a:xfrm>
            <a:custGeom>
              <a:avLst/>
              <a:gdLst/>
              <a:ahLst/>
              <a:cxnLst/>
              <a:rect l="0" t="0" r="0" b="0"/>
              <a:pathLst>
                <a:path w="2433" h="34">
                  <a:moveTo>
                    <a:pt x="16" y="0"/>
                  </a:moveTo>
                  <a:lnTo>
                    <a:pt x="116" y="0"/>
                  </a:lnTo>
                  <a:cubicBezTo>
                    <a:pt x="126" y="0"/>
                    <a:pt x="133" y="8"/>
                    <a:pt x="133" y="17"/>
                  </a:cubicBezTo>
                  <a:cubicBezTo>
                    <a:pt x="133" y="26"/>
                    <a:pt x="126" y="34"/>
                    <a:pt x="116" y="34"/>
                  </a:cubicBezTo>
                  <a:lnTo>
                    <a:pt x="16" y="34"/>
                  </a:lnTo>
                  <a:cubicBezTo>
                    <a:pt x="7" y="34"/>
                    <a:pt x="0" y="26"/>
                    <a:pt x="0" y="17"/>
                  </a:cubicBezTo>
                  <a:cubicBezTo>
                    <a:pt x="0" y="8"/>
                    <a:pt x="7" y="0"/>
                    <a:pt x="16" y="0"/>
                  </a:cubicBezTo>
                  <a:close/>
                  <a:moveTo>
                    <a:pt x="250" y="0"/>
                  </a:moveTo>
                  <a:lnTo>
                    <a:pt x="350" y="0"/>
                  </a:lnTo>
                  <a:cubicBezTo>
                    <a:pt x="359" y="0"/>
                    <a:pt x="366" y="8"/>
                    <a:pt x="366" y="17"/>
                  </a:cubicBezTo>
                  <a:cubicBezTo>
                    <a:pt x="366" y="26"/>
                    <a:pt x="359" y="34"/>
                    <a:pt x="350" y="34"/>
                  </a:cubicBezTo>
                  <a:lnTo>
                    <a:pt x="250" y="34"/>
                  </a:lnTo>
                  <a:cubicBezTo>
                    <a:pt x="241" y="34"/>
                    <a:pt x="233" y="26"/>
                    <a:pt x="233" y="17"/>
                  </a:cubicBezTo>
                  <a:cubicBezTo>
                    <a:pt x="233" y="8"/>
                    <a:pt x="241" y="0"/>
                    <a:pt x="250" y="0"/>
                  </a:cubicBezTo>
                  <a:close/>
                  <a:moveTo>
                    <a:pt x="483" y="0"/>
                  </a:moveTo>
                  <a:lnTo>
                    <a:pt x="583" y="0"/>
                  </a:lnTo>
                  <a:cubicBezTo>
                    <a:pt x="592" y="0"/>
                    <a:pt x="600" y="8"/>
                    <a:pt x="600" y="17"/>
                  </a:cubicBezTo>
                  <a:cubicBezTo>
                    <a:pt x="600" y="26"/>
                    <a:pt x="592" y="34"/>
                    <a:pt x="583" y="34"/>
                  </a:cubicBezTo>
                  <a:lnTo>
                    <a:pt x="483" y="34"/>
                  </a:lnTo>
                  <a:cubicBezTo>
                    <a:pt x="474" y="34"/>
                    <a:pt x="466" y="26"/>
                    <a:pt x="466" y="17"/>
                  </a:cubicBezTo>
                  <a:cubicBezTo>
                    <a:pt x="466" y="8"/>
                    <a:pt x="474" y="0"/>
                    <a:pt x="483" y="0"/>
                  </a:cubicBezTo>
                  <a:close/>
                  <a:moveTo>
                    <a:pt x="716" y="0"/>
                  </a:moveTo>
                  <a:lnTo>
                    <a:pt x="816" y="0"/>
                  </a:lnTo>
                  <a:cubicBezTo>
                    <a:pt x="826" y="0"/>
                    <a:pt x="833" y="8"/>
                    <a:pt x="833" y="17"/>
                  </a:cubicBezTo>
                  <a:cubicBezTo>
                    <a:pt x="833" y="26"/>
                    <a:pt x="826" y="34"/>
                    <a:pt x="816" y="34"/>
                  </a:cubicBezTo>
                  <a:lnTo>
                    <a:pt x="716" y="34"/>
                  </a:lnTo>
                  <a:cubicBezTo>
                    <a:pt x="707" y="34"/>
                    <a:pt x="700" y="26"/>
                    <a:pt x="700" y="17"/>
                  </a:cubicBezTo>
                  <a:cubicBezTo>
                    <a:pt x="700" y="8"/>
                    <a:pt x="707" y="0"/>
                    <a:pt x="716" y="0"/>
                  </a:cubicBezTo>
                  <a:close/>
                  <a:moveTo>
                    <a:pt x="950" y="0"/>
                  </a:moveTo>
                  <a:lnTo>
                    <a:pt x="1050" y="0"/>
                  </a:lnTo>
                  <a:cubicBezTo>
                    <a:pt x="1059" y="0"/>
                    <a:pt x="1066" y="8"/>
                    <a:pt x="1066" y="17"/>
                  </a:cubicBezTo>
                  <a:cubicBezTo>
                    <a:pt x="1066" y="26"/>
                    <a:pt x="1059" y="34"/>
                    <a:pt x="1050" y="34"/>
                  </a:cubicBezTo>
                  <a:lnTo>
                    <a:pt x="950" y="34"/>
                  </a:lnTo>
                  <a:cubicBezTo>
                    <a:pt x="941" y="34"/>
                    <a:pt x="933" y="26"/>
                    <a:pt x="933" y="17"/>
                  </a:cubicBezTo>
                  <a:cubicBezTo>
                    <a:pt x="933" y="8"/>
                    <a:pt x="941" y="0"/>
                    <a:pt x="950" y="0"/>
                  </a:cubicBezTo>
                  <a:close/>
                  <a:moveTo>
                    <a:pt x="1183" y="0"/>
                  </a:moveTo>
                  <a:lnTo>
                    <a:pt x="1283" y="0"/>
                  </a:lnTo>
                  <a:cubicBezTo>
                    <a:pt x="1292" y="0"/>
                    <a:pt x="1300" y="8"/>
                    <a:pt x="1300" y="17"/>
                  </a:cubicBezTo>
                  <a:cubicBezTo>
                    <a:pt x="1300" y="26"/>
                    <a:pt x="1292" y="34"/>
                    <a:pt x="1283" y="34"/>
                  </a:cubicBezTo>
                  <a:lnTo>
                    <a:pt x="1183" y="34"/>
                  </a:lnTo>
                  <a:cubicBezTo>
                    <a:pt x="1174" y="34"/>
                    <a:pt x="1166" y="26"/>
                    <a:pt x="1166" y="17"/>
                  </a:cubicBezTo>
                  <a:cubicBezTo>
                    <a:pt x="1166" y="8"/>
                    <a:pt x="1174" y="0"/>
                    <a:pt x="1183" y="0"/>
                  </a:cubicBezTo>
                  <a:close/>
                  <a:moveTo>
                    <a:pt x="1416" y="0"/>
                  </a:moveTo>
                  <a:lnTo>
                    <a:pt x="1516" y="0"/>
                  </a:lnTo>
                  <a:cubicBezTo>
                    <a:pt x="1526" y="0"/>
                    <a:pt x="1533" y="8"/>
                    <a:pt x="1533" y="17"/>
                  </a:cubicBezTo>
                  <a:cubicBezTo>
                    <a:pt x="1533" y="26"/>
                    <a:pt x="1526" y="34"/>
                    <a:pt x="1516" y="34"/>
                  </a:cubicBezTo>
                  <a:lnTo>
                    <a:pt x="1416" y="34"/>
                  </a:lnTo>
                  <a:cubicBezTo>
                    <a:pt x="1407" y="34"/>
                    <a:pt x="1400" y="26"/>
                    <a:pt x="1400" y="17"/>
                  </a:cubicBezTo>
                  <a:cubicBezTo>
                    <a:pt x="1400" y="8"/>
                    <a:pt x="1407" y="0"/>
                    <a:pt x="1416" y="0"/>
                  </a:cubicBezTo>
                  <a:close/>
                  <a:moveTo>
                    <a:pt x="1650" y="0"/>
                  </a:moveTo>
                  <a:lnTo>
                    <a:pt x="1750" y="0"/>
                  </a:lnTo>
                  <a:cubicBezTo>
                    <a:pt x="1759" y="0"/>
                    <a:pt x="1766" y="8"/>
                    <a:pt x="1766" y="17"/>
                  </a:cubicBezTo>
                  <a:cubicBezTo>
                    <a:pt x="1766" y="26"/>
                    <a:pt x="1759" y="34"/>
                    <a:pt x="1750" y="34"/>
                  </a:cubicBezTo>
                  <a:lnTo>
                    <a:pt x="1650" y="34"/>
                  </a:lnTo>
                  <a:cubicBezTo>
                    <a:pt x="1641" y="34"/>
                    <a:pt x="1633" y="26"/>
                    <a:pt x="1633" y="17"/>
                  </a:cubicBezTo>
                  <a:cubicBezTo>
                    <a:pt x="1633" y="8"/>
                    <a:pt x="1641" y="0"/>
                    <a:pt x="1650" y="0"/>
                  </a:cubicBezTo>
                  <a:close/>
                  <a:moveTo>
                    <a:pt x="1883" y="0"/>
                  </a:moveTo>
                  <a:lnTo>
                    <a:pt x="1983" y="0"/>
                  </a:lnTo>
                  <a:cubicBezTo>
                    <a:pt x="1992" y="0"/>
                    <a:pt x="2000" y="8"/>
                    <a:pt x="2000" y="17"/>
                  </a:cubicBezTo>
                  <a:cubicBezTo>
                    <a:pt x="2000" y="26"/>
                    <a:pt x="1992" y="34"/>
                    <a:pt x="1983" y="34"/>
                  </a:cubicBezTo>
                  <a:lnTo>
                    <a:pt x="1883" y="34"/>
                  </a:lnTo>
                  <a:cubicBezTo>
                    <a:pt x="1874" y="34"/>
                    <a:pt x="1866" y="26"/>
                    <a:pt x="1866" y="17"/>
                  </a:cubicBezTo>
                  <a:cubicBezTo>
                    <a:pt x="1866" y="8"/>
                    <a:pt x="1874" y="0"/>
                    <a:pt x="1883" y="0"/>
                  </a:cubicBezTo>
                  <a:close/>
                  <a:moveTo>
                    <a:pt x="2116" y="0"/>
                  </a:moveTo>
                  <a:lnTo>
                    <a:pt x="2216" y="0"/>
                  </a:lnTo>
                  <a:cubicBezTo>
                    <a:pt x="2226" y="0"/>
                    <a:pt x="2233" y="8"/>
                    <a:pt x="2233" y="17"/>
                  </a:cubicBezTo>
                  <a:cubicBezTo>
                    <a:pt x="2233" y="26"/>
                    <a:pt x="2226" y="34"/>
                    <a:pt x="2216" y="34"/>
                  </a:cubicBezTo>
                  <a:lnTo>
                    <a:pt x="2116" y="34"/>
                  </a:lnTo>
                  <a:cubicBezTo>
                    <a:pt x="2107" y="34"/>
                    <a:pt x="2100" y="26"/>
                    <a:pt x="2100" y="17"/>
                  </a:cubicBezTo>
                  <a:cubicBezTo>
                    <a:pt x="2100" y="8"/>
                    <a:pt x="2107" y="0"/>
                    <a:pt x="2116" y="0"/>
                  </a:cubicBezTo>
                  <a:close/>
                  <a:moveTo>
                    <a:pt x="2350" y="0"/>
                  </a:moveTo>
                  <a:lnTo>
                    <a:pt x="2416" y="0"/>
                  </a:lnTo>
                  <a:cubicBezTo>
                    <a:pt x="2426" y="0"/>
                    <a:pt x="2433" y="8"/>
                    <a:pt x="2433" y="17"/>
                  </a:cubicBezTo>
                  <a:cubicBezTo>
                    <a:pt x="2433" y="26"/>
                    <a:pt x="2426" y="34"/>
                    <a:pt x="2416" y="34"/>
                  </a:cubicBezTo>
                  <a:lnTo>
                    <a:pt x="2350" y="34"/>
                  </a:lnTo>
                  <a:cubicBezTo>
                    <a:pt x="2341" y="34"/>
                    <a:pt x="2333" y="26"/>
                    <a:pt x="2333" y="17"/>
                  </a:cubicBezTo>
                  <a:cubicBezTo>
                    <a:pt x="2333" y="8"/>
                    <a:pt x="2341" y="0"/>
                    <a:pt x="2350" y="0"/>
                  </a:cubicBezTo>
                  <a:close/>
                </a:path>
              </a:pathLst>
            </a:custGeom>
            <a:solidFill>
              <a:srgbClr val="000000"/>
            </a:solidFill>
            <a:ln w="7938" cap="flat" cmpd="sng">
              <a:solidFill>
                <a:srgbClr val="CC3300"/>
              </a:solidFill>
              <a:prstDash val="solid"/>
              <a:bevel/>
              <a:headEnd type="none" w="med" len="med"/>
              <a:tailEnd type="none" w="med" len="med"/>
            </a:ln>
          </p:spPr>
          <p:txBody>
            <a:bodyPr/>
            <a:lstStyle/>
            <a:p>
              <a:endParaRPr lang="zh-CN" altLang="en-US"/>
            </a:p>
          </p:txBody>
        </p:sp>
        <p:sp>
          <p:nvSpPr>
            <p:cNvPr id="21563" name="矩形 60"/>
            <p:cNvSpPr/>
            <p:nvPr/>
          </p:nvSpPr>
          <p:spPr>
            <a:xfrm>
              <a:off x="232" y="2868"/>
              <a:ext cx="1015" cy="173"/>
            </a:xfrm>
            <a:prstGeom prst="rect">
              <a:avLst/>
            </a:prstGeom>
            <a:noFill/>
            <a:ln w="9525">
              <a:noFill/>
            </a:ln>
          </p:spPr>
          <p:txBody>
            <a:bodyPr wrap="none" lIns="0" tIns="0" rIns="0" bIns="0" anchor="t" anchorCtr="0">
              <a:spAutoFit/>
            </a:bodyPr>
            <a:lstStyle/>
            <a:p>
              <a:pPr algn="ctr"/>
              <a:r>
                <a:rPr lang="zh-CN" altLang="en-US" sz="1800" dirty="0">
                  <a:solidFill>
                    <a:srgbClr val="003399"/>
                  </a:solidFill>
                  <a:latin typeface="宋体" panose="02010600030101010101" pitchFamily="2" charset="-122"/>
                  <a:ea typeface="宋体" panose="02010600030101010101" pitchFamily="2" charset="-122"/>
                </a:rPr>
                <a:t>原始数据或程序</a:t>
              </a:r>
            </a:p>
          </p:txBody>
        </p:sp>
        <p:sp>
          <p:nvSpPr>
            <p:cNvPr id="21564" name="矩形 61"/>
            <p:cNvSpPr/>
            <p:nvPr/>
          </p:nvSpPr>
          <p:spPr>
            <a:xfrm>
              <a:off x="1239" y="2549"/>
              <a:ext cx="36" cy="173"/>
            </a:xfrm>
            <a:prstGeom prst="rect">
              <a:avLst/>
            </a:prstGeom>
            <a:noFill/>
            <a:ln w="9525">
              <a:noFill/>
            </a:ln>
          </p:spPr>
          <p:txBody>
            <a:bodyPr wrap="none" lIns="0" tIns="0" rIns="0" bIns="0" anchor="t" anchorCtr="0">
              <a:spAutoFit/>
            </a:bodyPr>
            <a:lstStyle/>
            <a:p>
              <a:pPr algn="ctr"/>
              <a:r>
                <a:rPr lang="en-US" altLang="zh-CN" sz="1800" dirty="0">
                  <a:solidFill>
                    <a:srgbClr val="000099"/>
                  </a:solidFill>
                  <a:latin typeface="Times New Roman" panose="02020603050405020304" pitchFamily="18" charset="0"/>
                  <a:ea typeface="黑体" panose="02010609060101010101" pitchFamily="49" charset="-122"/>
                </a:rPr>
                <a:t> </a:t>
              </a:r>
              <a:endParaRPr lang="en-US" altLang="zh-CN" dirty="0">
                <a:solidFill>
                  <a:srgbClr val="000099"/>
                </a:solidFill>
                <a:latin typeface="Times New Roman" panose="02020603050405020304" pitchFamily="18" charset="0"/>
                <a:ea typeface="黑体" panose="02010609060101010101" pitchFamily="49" charset="-122"/>
              </a:endParaRPr>
            </a:p>
          </p:txBody>
        </p:sp>
        <p:grpSp>
          <p:nvGrpSpPr>
            <p:cNvPr id="21565" name="组合 62"/>
            <p:cNvGrpSpPr/>
            <p:nvPr/>
          </p:nvGrpSpPr>
          <p:grpSpPr>
            <a:xfrm>
              <a:off x="958" y="2731"/>
              <a:ext cx="356" cy="107"/>
              <a:chOff x="958" y="2731"/>
              <a:chExt cx="356" cy="107"/>
            </a:xfrm>
          </p:grpSpPr>
          <p:sp>
            <p:nvSpPr>
              <p:cNvPr id="21566" name="任意多边形 63"/>
              <p:cNvSpPr/>
              <p:nvPr/>
            </p:nvSpPr>
            <p:spPr>
              <a:xfrm>
                <a:off x="958" y="2731"/>
                <a:ext cx="356" cy="107"/>
              </a:xfrm>
              <a:custGeom>
                <a:avLst/>
                <a:gdLst/>
                <a:ahLst/>
                <a:cxnLst/>
                <a:rect l="0" t="0" r="0" b="0"/>
                <a:pathLst>
                  <a:path w="356" h="107">
                    <a:moveTo>
                      <a:pt x="267" y="0"/>
                    </a:moveTo>
                    <a:lnTo>
                      <a:pt x="267" y="27"/>
                    </a:lnTo>
                    <a:lnTo>
                      <a:pt x="0" y="27"/>
                    </a:lnTo>
                    <a:lnTo>
                      <a:pt x="0" y="80"/>
                    </a:lnTo>
                    <a:lnTo>
                      <a:pt x="267" y="80"/>
                    </a:lnTo>
                    <a:lnTo>
                      <a:pt x="267" y="107"/>
                    </a:lnTo>
                    <a:lnTo>
                      <a:pt x="356" y="53"/>
                    </a:lnTo>
                    <a:lnTo>
                      <a:pt x="267" y="0"/>
                    </a:lnTo>
                    <a:close/>
                  </a:path>
                </a:pathLst>
              </a:custGeom>
              <a:solidFill>
                <a:srgbClr val="60A3B0"/>
              </a:solidFill>
              <a:ln w="9525" cap="flat" cmpd="sng">
                <a:solidFill>
                  <a:schemeClr val="accent1"/>
                </a:solidFill>
                <a:prstDash val="solid"/>
                <a:round/>
                <a:headEnd type="none" w="med" len="med"/>
                <a:tailEnd type="none" w="med" len="med"/>
              </a:ln>
            </p:spPr>
            <p:txBody>
              <a:bodyPr/>
              <a:lstStyle/>
              <a:p>
                <a:endParaRPr lang="zh-CN" altLang="en-US"/>
              </a:p>
            </p:txBody>
          </p:sp>
          <p:sp>
            <p:nvSpPr>
              <p:cNvPr id="21567" name="任意多边形 64"/>
              <p:cNvSpPr/>
              <p:nvPr/>
            </p:nvSpPr>
            <p:spPr>
              <a:xfrm>
                <a:off x="958" y="2731"/>
                <a:ext cx="356" cy="107"/>
              </a:xfrm>
              <a:custGeom>
                <a:avLst/>
                <a:gdLst/>
                <a:ahLst/>
                <a:cxnLst/>
                <a:rect l="0" t="0" r="0" b="0"/>
                <a:pathLst>
                  <a:path w="356" h="107">
                    <a:moveTo>
                      <a:pt x="267" y="0"/>
                    </a:moveTo>
                    <a:lnTo>
                      <a:pt x="267" y="27"/>
                    </a:lnTo>
                    <a:lnTo>
                      <a:pt x="0" y="27"/>
                    </a:lnTo>
                    <a:lnTo>
                      <a:pt x="0" y="80"/>
                    </a:lnTo>
                    <a:lnTo>
                      <a:pt x="267" y="80"/>
                    </a:lnTo>
                    <a:lnTo>
                      <a:pt x="267" y="107"/>
                    </a:lnTo>
                    <a:lnTo>
                      <a:pt x="356" y="53"/>
                    </a:lnTo>
                    <a:lnTo>
                      <a:pt x="267" y="0"/>
                    </a:lnTo>
                    <a:close/>
                  </a:path>
                </a:pathLst>
              </a:custGeom>
              <a:solidFill>
                <a:srgbClr val="60A3B0"/>
              </a:solidFill>
              <a:ln w="15875" cap="rnd" cmpd="sng">
                <a:solidFill>
                  <a:schemeClr val="accent1"/>
                </a:solidFill>
                <a:prstDash val="solid"/>
                <a:round/>
                <a:headEnd type="none" w="med" len="med"/>
                <a:tailEnd type="none" w="med" len="med"/>
              </a:ln>
            </p:spPr>
            <p:txBody>
              <a:bodyPr/>
              <a:lstStyle/>
              <a:p>
                <a:endParaRPr lang="zh-CN" altLang="en-US"/>
              </a:p>
            </p:txBody>
          </p:sp>
        </p:grpSp>
        <p:sp>
          <p:nvSpPr>
            <p:cNvPr id="21568" name="矩形 66"/>
            <p:cNvSpPr/>
            <p:nvPr/>
          </p:nvSpPr>
          <p:spPr>
            <a:xfrm>
              <a:off x="1974" y="3748"/>
              <a:ext cx="725" cy="173"/>
            </a:xfrm>
            <a:prstGeom prst="rect">
              <a:avLst/>
            </a:prstGeom>
            <a:noFill/>
            <a:ln w="9525">
              <a:noFill/>
            </a:ln>
          </p:spPr>
          <p:txBody>
            <a:bodyPr wrap="none" lIns="0" tIns="0" rIns="0" bIns="0" anchor="t" anchorCtr="0">
              <a:spAutoFit/>
            </a:bodyPr>
            <a:lstStyle/>
            <a:p>
              <a:pPr algn="ctr"/>
              <a:r>
                <a:rPr lang="zh-CN" altLang="en-US" sz="1800" dirty="0">
                  <a:solidFill>
                    <a:srgbClr val="000099"/>
                  </a:solidFill>
                  <a:latin typeface="宋体" panose="02010600030101010101" pitchFamily="2" charset="-122"/>
                  <a:ea typeface="宋体" panose="02010600030101010101" pitchFamily="2" charset="-122"/>
                </a:rPr>
                <a:t>表示数据流</a:t>
              </a:r>
              <a:endParaRPr lang="zh-CN" altLang="en-US" dirty="0">
                <a:solidFill>
                  <a:srgbClr val="000099"/>
                </a:solidFill>
                <a:latin typeface="Times New Roman" panose="02020603050405020304" pitchFamily="18" charset="0"/>
                <a:ea typeface="黑体" panose="02010609060101010101" pitchFamily="49" charset="-122"/>
              </a:endParaRPr>
            </a:p>
          </p:txBody>
        </p:sp>
        <p:sp>
          <p:nvSpPr>
            <p:cNvPr id="21569" name="矩形 67"/>
            <p:cNvSpPr/>
            <p:nvPr/>
          </p:nvSpPr>
          <p:spPr>
            <a:xfrm>
              <a:off x="2744" y="3796"/>
              <a:ext cx="36" cy="173"/>
            </a:xfrm>
            <a:prstGeom prst="rect">
              <a:avLst/>
            </a:prstGeom>
            <a:noFill/>
            <a:ln w="9525">
              <a:noFill/>
            </a:ln>
          </p:spPr>
          <p:txBody>
            <a:bodyPr wrap="none" lIns="0" tIns="0" rIns="0" bIns="0" anchor="t" anchorCtr="0">
              <a:spAutoFit/>
            </a:bodyPr>
            <a:lstStyle/>
            <a:p>
              <a:pPr algn="ctr"/>
              <a:r>
                <a:rPr lang="en-US" altLang="zh-CN" sz="1800" dirty="0">
                  <a:solidFill>
                    <a:srgbClr val="000099"/>
                  </a:solidFill>
                  <a:latin typeface="Times New Roman" panose="02020603050405020304" pitchFamily="18" charset="0"/>
                  <a:ea typeface="黑体" panose="02010609060101010101" pitchFamily="49" charset="-122"/>
                </a:rPr>
                <a:t> </a:t>
              </a:r>
              <a:endParaRPr lang="en-US" altLang="zh-CN" dirty="0">
                <a:solidFill>
                  <a:srgbClr val="000099"/>
                </a:solidFill>
                <a:latin typeface="Times New Roman" panose="02020603050405020304" pitchFamily="18" charset="0"/>
                <a:ea typeface="黑体" panose="02010609060101010101" pitchFamily="49" charset="-122"/>
              </a:endParaRPr>
            </a:p>
          </p:txBody>
        </p:sp>
        <p:sp>
          <p:nvSpPr>
            <p:cNvPr id="21570" name="任意多边形 68"/>
            <p:cNvSpPr>
              <a:spLocks noEditPoints="1"/>
            </p:cNvSpPr>
            <p:nvPr/>
          </p:nvSpPr>
          <p:spPr>
            <a:xfrm>
              <a:off x="2969" y="3809"/>
              <a:ext cx="481" cy="82"/>
            </a:xfrm>
            <a:custGeom>
              <a:avLst/>
              <a:gdLst/>
              <a:ahLst/>
              <a:cxnLst/>
              <a:rect l="0" t="0" r="0" b="0"/>
              <a:pathLst>
                <a:path w="1622" h="266">
                  <a:moveTo>
                    <a:pt x="23" y="107"/>
                  </a:moveTo>
                  <a:lnTo>
                    <a:pt x="156" y="108"/>
                  </a:lnTo>
                  <a:cubicBezTo>
                    <a:pt x="168" y="108"/>
                    <a:pt x="178" y="118"/>
                    <a:pt x="178" y="130"/>
                  </a:cubicBezTo>
                  <a:cubicBezTo>
                    <a:pt x="178" y="142"/>
                    <a:pt x="168" y="152"/>
                    <a:pt x="156" y="152"/>
                  </a:cubicBezTo>
                  <a:lnTo>
                    <a:pt x="22" y="152"/>
                  </a:lnTo>
                  <a:cubicBezTo>
                    <a:pt x="10" y="152"/>
                    <a:pt x="0" y="142"/>
                    <a:pt x="0" y="129"/>
                  </a:cubicBezTo>
                  <a:cubicBezTo>
                    <a:pt x="0" y="117"/>
                    <a:pt x="10" y="107"/>
                    <a:pt x="23" y="107"/>
                  </a:cubicBezTo>
                  <a:close/>
                  <a:moveTo>
                    <a:pt x="334" y="108"/>
                  </a:moveTo>
                  <a:lnTo>
                    <a:pt x="467" y="108"/>
                  </a:lnTo>
                  <a:cubicBezTo>
                    <a:pt x="479" y="108"/>
                    <a:pt x="489" y="118"/>
                    <a:pt x="489" y="131"/>
                  </a:cubicBezTo>
                  <a:cubicBezTo>
                    <a:pt x="489" y="143"/>
                    <a:pt x="479" y="153"/>
                    <a:pt x="467" y="153"/>
                  </a:cubicBezTo>
                  <a:lnTo>
                    <a:pt x="334" y="152"/>
                  </a:lnTo>
                  <a:cubicBezTo>
                    <a:pt x="321" y="152"/>
                    <a:pt x="311" y="142"/>
                    <a:pt x="311" y="130"/>
                  </a:cubicBezTo>
                  <a:cubicBezTo>
                    <a:pt x="311" y="118"/>
                    <a:pt x="321" y="108"/>
                    <a:pt x="334" y="108"/>
                  </a:cubicBezTo>
                  <a:close/>
                  <a:moveTo>
                    <a:pt x="645" y="109"/>
                  </a:moveTo>
                  <a:lnTo>
                    <a:pt x="778" y="109"/>
                  </a:lnTo>
                  <a:cubicBezTo>
                    <a:pt x="790" y="109"/>
                    <a:pt x="800" y="119"/>
                    <a:pt x="800" y="132"/>
                  </a:cubicBezTo>
                  <a:cubicBezTo>
                    <a:pt x="800" y="144"/>
                    <a:pt x="790" y="154"/>
                    <a:pt x="778" y="154"/>
                  </a:cubicBezTo>
                  <a:lnTo>
                    <a:pt x="645" y="153"/>
                  </a:lnTo>
                  <a:cubicBezTo>
                    <a:pt x="632" y="153"/>
                    <a:pt x="622" y="143"/>
                    <a:pt x="622" y="131"/>
                  </a:cubicBezTo>
                  <a:cubicBezTo>
                    <a:pt x="622" y="119"/>
                    <a:pt x="632" y="109"/>
                    <a:pt x="645" y="109"/>
                  </a:cubicBezTo>
                  <a:close/>
                  <a:moveTo>
                    <a:pt x="956" y="110"/>
                  </a:moveTo>
                  <a:lnTo>
                    <a:pt x="1089" y="110"/>
                  </a:lnTo>
                  <a:cubicBezTo>
                    <a:pt x="1101" y="110"/>
                    <a:pt x="1111" y="120"/>
                    <a:pt x="1111" y="132"/>
                  </a:cubicBezTo>
                  <a:cubicBezTo>
                    <a:pt x="1111" y="145"/>
                    <a:pt x="1101" y="155"/>
                    <a:pt x="1089" y="155"/>
                  </a:cubicBezTo>
                  <a:lnTo>
                    <a:pt x="956" y="154"/>
                  </a:lnTo>
                  <a:cubicBezTo>
                    <a:pt x="943" y="154"/>
                    <a:pt x="934" y="144"/>
                    <a:pt x="934" y="132"/>
                  </a:cubicBezTo>
                  <a:cubicBezTo>
                    <a:pt x="934" y="120"/>
                    <a:pt x="944" y="110"/>
                    <a:pt x="956" y="110"/>
                  </a:cubicBezTo>
                  <a:close/>
                  <a:moveTo>
                    <a:pt x="1267" y="111"/>
                  </a:moveTo>
                  <a:lnTo>
                    <a:pt x="1400" y="111"/>
                  </a:lnTo>
                  <a:cubicBezTo>
                    <a:pt x="1413" y="111"/>
                    <a:pt x="1422" y="121"/>
                    <a:pt x="1422" y="133"/>
                  </a:cubicBezTo>
                  <a:cubicBezTo>
                    <a:pt x="1422" y="146"/>
                    <a:pt x="1412" y="155"/>
                    <a:pt x="1400" y="155"/>
                  </a:cubicBezTo>
                  <a:lnTo>
                    <a:pt x="1267" y="155"/>
                  </a:lnTo>
                  <a:cubicBezTo>
                    <a:pt x="1255" y="155"/>
                    <a:pt x="1245" y="145"/>
                    <a:pt x="1245" y="133"/>
                  </a:cubicBezTo>
                  <a:cubicBezTo>
                    <a:pt x="1245" y="120"/>
                    <a:pt x="1255" y="111"/>
                    <a:pt x="1267" y="111"/>
                  </a:cubicBezTo>
                  <a:close/>
                  <a:moveTo>
                    <a:pt x="1356" y="0"/>
                  </a:moveTo>
                  <a:lnTo>
                    <a:pt x="1622" y="134"/>
                  </a:lnTo>
                  <a:lnTo>
                    <a:pt x="1355" y="266"/>
                  </a:lnTo>
                  <a:lnTo>
                    <a:pt x="1356" y="0"/>
                  </a:lnTo>
                  <a:close/>
                </a:path>
              </a:pathLst>
            </a:custGeom>
            <a:solidFill>
              <a:srgbClr val="000000"/>
            </a:solidFill>
            <a:ln w="7938" cap="flat" cmpd="sng">
              <a:solidFill>
                <a:srgbClr val="CC3300"/>
              </a:solidFill>
              <a:prstDash val="solid"/>
              <a:bevel/>
              <a:headEnd type="none" w="med" len="med"/>
              <a:tailEnd type="none" w="med" len="med"/>
            </a:ln>
          </p:spPr>
          <p:txBody>
            <a:bodyPr/>
            <a:lstStyle/>
            <a:p>
              <a:endParaRPr lang="zh-CN" altLang="en-US"/>
            </a:p>
          </p:txBody>
        </p:sp>
        <p:sp>
          <p:nvSpPr>
            <p:cNvPr id="21571" name="矩形 70"/>
            <p:cNvSpPr/>
            <p:nvPr/>
          </p:nvSpPr>
          <p:spPr>
            <a:xfrm>
              <a:off x="3470" y="3748"/>
              <a:ext cx="725" cy="173"/>
            </a:xfrm>
            <a:prstGeom prst="rect">
              <a:avLst/>
            </a:prstGeom>
            <a:noFill/>
            <a:ln w="9525">
              <a:noFill/>
            </a:ln>
          </p:spPr>
          <p:txBody>
            <a:bodyPr wrap="none" lIns="0" tIns="0" rIns="0" bIns="0" anchor="t" anchorCtr="0">
              <a:spAutoFit/>
            </a:bodyPr>
            <a:lstStyle/>
            <a:p>
              <a:pPr algn="ctr"/>
              <a:r>
                <a:rPr lang="zh-CN" altLang="en-US" sz="1800" dirty="0">
                  <a:solidFill>
                    <a:srgbClr val="000099"/>
                  </a:solidFill>
                  <a:latin typeface="宋体" panose="02010600030101010101" pitchFamily="2" charset="-122"/>
                  <a:ea typeface="宋体" panose="02010600030101010101" pitchFamily="2" charset="-122"/>
                </a:rPr>
                <a:t>表示控制流</a:t>
              </a:r>
              <a:endParaRPr lang="zh-CN" altLang="en-US" dirty="0">
                <a:solidFill>
                  <a:srgbClr val="000099"/>
                </a:solidFill>
                <a:latin typeface="Times New Roman" panose="02020603050405020304" pitchFamily="18" charset="0"/>
                <a:ea typeface="黑体" panose="02010609060101010101" pitchFamily="49" charset="-122"/>
              </a:endParaRPr>
            </a:p>
          </p:txBody>
        </p:sp>
        <p:sp>
          <p:nvSpPr>
            <p:cNvPr id="21572" name="矩形 71"/>
            <p:cNvSpPr/>
            <p:nvPr/>
          </p:nvSpPr>
          <p:spPr>
            <a:xfrm>
              <a:off x="4215" y="3786"/>
              <a:ext cx="36" cy="173"/>
            </a:xfrm>
            <a:prstGeom prst="rect">
              <a:avLst/>
            </a:prstGeom>
            <a:noFill/>
            <a:ln w="9525">
              <a:noFill/>
            </a:ln>
          </p:spPr>
          <p:txBody>
            <a:bodyPr wrap="none" lIns="0" tIns="0" rIns="0" bIns="0" anchor="t" anchorCtr="0">
              <a:spAutoFit/>
            </a:bodyPr>
            <a:lstStyle/>
            <a:p>
              <a:pPr algn="ctr"/>
              <a:r>
                <a:rPr lang="en-US" altLang="zh-CN" sz="1800" dirty="0">
                  <a:solidFill>
                    <a:srgbClr val="000099"/>
                  </a:solidFill>
                  <a:latin typeface="Times New Roman" panose="02020603050405020304" pitchFamily="18" charset="0"/>
                  <a:ea typeface="黑体" panose="02010609060101010101" pitchFamily="49" charset="-122"/>
                </a:rPr>
                <a:t> </a:t>
              </a:r>
              <a:endParaRPr lang="en-US" altLang="zh-CN" dirty="0">
                <a:solidFill>
                  <a:srgbClr val="000099"/>
                </a:solidFill>
                <a:latin typeface="Times New Roman" panose="02020603050405020304" pitchFamily="18" charset="0"/>
                <a:ea typeface="黑体" panose="02010609060101010101" pitchFamily="49" charset="-122"/>
              </a:endParaRPr>
            </a:p>
          </p:txBody>
        </p:sp>
        <p:sp>
          <p:nvSpPr>
            <p:cNvPr id="21573" name="矩形 72"/>
            <p:cNvSpPr/>
            <p:nvPr/>
          </p:nvSpPr>
          <p:spPr>
            <a:xfrm>
              <a:off x="4610" y="2864"/>
              <a:ext cx="870" cy="173"/>
            </a:xfrm>
            <a:prstGeom prst="rect">
              <a:avLst/>
            </a:prstGeom>
            <a:noFill/>
            <a:ln w="9525">
              <a:noFill/>
            </a:ln>
          </p:spPr>
          <p:txBody>
            <a:bodyPr wrap="none" lIns="0" tIns="0" rIns="0" bIns="0" anchor="t" anchorCtr="0">
              <a:spAutoFit/>
            </a:bodyPr>
            <a:lstStyle/>
            <a:p>
              <a:pPr algn="ctr"/>
              <a:r>
                <a:rPr lang="zh-CN" altLang="en-US" sz="1800" dirty="0">
                  <a:solidFill>
                    <a:srgbClr val="FFFF66"/>
                  </a:solidFill>
                  <a:latin typeface="宋体" panose="02010600030101010101" pitchFamily="2" charset="-122"/>
                  <a:ea typeface="宋体" panose="02010600030101010101" pitchFamily="2" charset="-122"/>
                </a:rPr>
                <a:t>输出结果信息</a:t>
              </a:r>
            </a:p>
          </p:txBody>
        </p:sp>
        <p:sp>
          <p:nvSpPr>
            <p:cNvPr id="21574" name="矩形 73"/>
            <p:cNvSpPr/>
            <p:nvPr/>
          </p:nvSpPr>
          <p:spPr>
            <a:xfrm>
              <a:off x="1995" y="3773"/>
              <a:ext cx="725" cy="173"/>
            </a:xfrm>
            <a:prstGeom prst="rect">
              <a:avLst/>
            </a:prstGeom>
            <a:noFill/>
            <a:ln w="9525">
              <a:noFill/>
            </a:ln>
          </p:spPr>
          <p:txBody>
            <a:bodyPr wrap="none" lIns="0" tIns="0" rIns="0" bIns="0" anchor="t" anchorCtr="0">
              <a:spAutoFit/>
            </a:bodyPr>
            <a:lstStyle/>
            <a:p>
              <a:pPr algn="ctr"/>
              <a:r>
                <a:rPr lang="zh-CN" altLang="en-US" sz="1800" dirty="0">
                  <a:solidFill>
                    <a:srgbClr val="FFFF66"/>
                  </a:solidFill>
                  <a:latin typeface="宋体" panose="02010600030101010101" pitchFamily="2" charset="-122"/>
                  <a:ea typeface="宋体" panose="02010600030101010101" pitchFamily="2" charset="-122"/>
                </a:rPr>
                <a:t>表示数据流</a:t>
              </a:r>
            </a:p>
          </p:txBody>
        </p:sp>
        <p:sp>
          <p:nvSpPr>
            <p:cNvPr id="21575" name="矩形 74"/>
            <p:cNvSpPr/>
            <p:nvPr/>
          </p:nvSpPr>
          <p:spPr>
            <a:xfrm>
              <a:off x="3486" y="3768"/>
              <a:ext cx="725" cy="173"/>
            </a:xfrm>
            <a:prstGeom prst="rect">
              <a:avLst/>
            </a:prstGeom>
            <a:noFill/>
            <a:ln w="9525">
              <a:noFill/>
            </a:ln>
          </p:spPr>
          <p:txBody>
            <a:bodyPr wrap="none" lIns="0" tIns="0" rIns="0" bIns="0" anchor="t" anchorCtr="0">
              <a:spAutoFit/>
            </a:bodyPr>
            <a:lstStyle/>
            <a:p>
              <a:pPr algn="ctr"/>
              <a:r>
                <a:rPr lang="zh-CN" altLang="en-US" sz="1800" dirty="0">
                  <a:solidFill>
                    <a:srgbClr val="FFFF66"/>
                  </a:solidFill>
                  <a:latin typeface="宋体" panose="02010600030101010101" pitchFamily="2" charset="-122"/>
                  <a:ea typeface="宋体" panose="02010600030101010101" pitchFamily="2" charset="-122"/>
                </a:rPr>
                <a:t>表示控制流</a:t>
              </a:r>
            </a:p>
          </p:txBody>
        </p:sp>
      </p:grpSp>
      <p:sp>
        <p:nvSpPr>
          <p:cNvPr id="21576" name="矩形 75"/>
          <p:cNvSpPr/>
          <p:nvPr/>
        </p:nvSpPr>
        <p:spPr>
          <a:xfrm>
            <a:off x="379413" y="4683125"/>
            <a:ext cx="1611312" cy="274638"/>
          </a:xfrm>
          <a:prstGeom prst="rect">
            <a:avLst/>
          </a:prstGeom>
          <a:noFill/>
          <a:ln w="9525">
            <a:noFill/>
          </a:ln>
        </p:spPr>
        <p:txBody>
          <a:bodyPr wrap="none" lIns="0" tIns="0" rIns="0" bIns="0" anchor="t" anchorCtr="0">
            <a:spAutoFit/>
          </a:bodyPr>
          <a:lstStyle/>
          <a:p>
            <a:pPr algn="ctr"/>
            <a:r>
              <a:rPr lang="zh-CN" altLang="en-US" sz="1800" dirty="0">
                <a:solidFill>
                  <a:srgbClr val="FFFF66"/>
                </a:solidFill>
                <a:latin typeface="宋体" panose="02010600030101010101" pitchFamily="2" charset="-122"/>
                <a:ea typeface="宋体" panose="02010600030101010101" pitchFamily="2" charset="-122"/>
              </a:rPr>
              <a:t>原始数据或程序</a:t>
            </a:r>
          </a:p>
        </p:txBody>
      </p:sp>
    </p:spTree>
  </p:cSld>
  <p:clrMapOvr>
    <a:masterClrMapping/>
  </p:clrMapOvr>
  <p:transition spd="med">
    <p:random/>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5368925"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1.2  </a:t>
            </a:r>
            <a:r>
              <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微型计算机系统</a:t>
            </a:r>
          </a:p>
        </p:txBody>
      </p:sp>
      <p:sp>
        <p:nvSpPr>
          <p:cNvPr id="22530" name="Rectangle 11"/>
          <p:cNvSpPr>
            <a:spLocks noGrp="1"/>
          </p:cNvSpPr>
          <p:nvPr>
            <p:ph type="body" idx="4294967295"/>
          </p:nvPr>
        </p:nvSpPr>
        <p:spPr>
          <a:xfrm>
            <a:off x="1412875" y="2159000"/>
            <a:ext cx="5297488" cy="3162300"/>
          </a:xfrm>
          <a:ln/>
        </p:spPr>
        <p:txBody>
          <a:bodyPr wrap="square" lIns="92075" tIns="46038" rIns="92075" bIns="46038" anchor="t" anchorCtr="0"/>
          <a:lstStyle/>
          <a:p>
            <a:pPr eaLnBrk="1" hangingPunct="1">
              <a:buNone/>
            </a:pPr>
            <a:r>
              <a:rPr lang="zh-CN" altLang="en-US" dirty="0">
                <a:solidFill>
                  <a:srgbClr val="66FFCC"/>
                </a:solidFill>
              </a:rPr>
              <a:t>1.</a:t>
            </a:r>
            <a:r>
              <a:rPr lang="en-US" altLang="zh-CN" dirty="0">
                <a:solidFill>
                  <a:srgbClr val="66FFCC"/>
                </a:solidFill>
              </a:rPr>
              <a:t>2</a:t>
            </a:r>
            <a:r>
              <a:rPr lang="zh-CN" altLang="en-US" dirty="0">
                <a:solidFill>
                  <a:srgbClr val="66FFCC"/>
                </a:solidFill>
              </a:rPr>
              <a:t>.1  系统组成与结构</a:t>
            </a:r>
          </a:p>
          <a:p>
            <a:pPr eaLnBrk="1" hangingPunct="1"/>
            <a:endParaRPr lang="zh-CN" altLang="en-US" dirty="0">
              <a:solidFill>
                <a:srgbClr val="66FFCC"/>
              </a:solidFill>
            </a:endParaRPr>
          </a:p>
          <a:p>
            <a:pPr eaLnBrk="1" hangingPunct="1">
              <a:buNone/>
            </a:pPr>
            <a:r>
              <a:rPr lang="zh-CN" altLang="en-US" dirty="0">
                <a:solidFill>
                  <a:srgbClr val="66FFCC"/>
                </a:solidFill>
              </a:rPr>
              <a:t>1.</a:t>
            </a:r>
            <a:r>
              <a:rPr lang="en-US" altLang="zh-CN" dirty="0">
                <a:solidFill>
                  <a:srgbClr val="66FFCC"/>
                </a:solidFill>
              </a:rPr>
              <a:t>2</a:t>
            </a:r>
            <a:r>
              <a:rPr lang="zh-CN" altLang="en-US" dirty="0">
                <a:solidFill>
                  <a:srgbClr val="66FFCC"/>
                </a:solidFill>
              </a:rPr>
              <a:t>.2  微型计算机分类</a:t>
            </a:r>
          </a:p>
          <a:p>
            <a:pPr eaLnBrk="1" hangingPunct="1">
              <a:buNone/>
            </a:pPr>
            <a:endParaRPr lang="zh-CN" altLang="en-US" dirty="0">
              <a:solidFill>
                <a:srgbClr val="66FFCC"/>
              </a:solidFill>
            </a:endParaRPr>
          </a:p>
          <a:p>
            <a:pPr eaLnBrk="1" hangingPunct="1">
              <a:buNone/>
            </a:pPr>
            <a:r>
              <a:rPr lang="zh-CN" altLang="en-US" dirty="0">
                <a:solidFill>
                  <a:srgbClr val="66FFCC"/>
                </a:solidFill>
              </a:rPr>
              <a:t>1.</a:t>
            </a:r>
            <a:r>
              <a:rPr lang="en-US" altLang="zh-CN" dirty="0">
                <a:solidFill>
                  <a:srgbClr val="66FFCC"/>
                </a:solidFill>
              </a:rPr>
              <a:t>2</a:t>
            </a:r>
            <a:r>
              <a:rPr lang="zh-CN" altLang="en-US" dirty="0">
                <a:solidFill>
                  <a:srgbClr val="66FFCC"/>
                </a:solidFill>
              </a:rPr>
              <a:t>.3  微型计算机的性能指标</a:t>
            </a:r>
          </a:p>
        </p:txBody>
      </p:sp>
    </p:spTree>
  </p:cSld>
  <p:clrMapOvr>
    <a:masterClrMapping/>
  </p:clrMapOvr>
  <p:transition spd="med">
    <p:random/>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系统组成与结构</a:t>
            </a:r>
          </a:p>
        </p:txBody>
      </p:sp>
      <p:sp>
        <p:nvSpPr>
          <p:cNvPr id="23554" name="内容占位符 2"/>
          <p:cNvSpPr>
            <a:spLocks noGrp="1"/>
          </p:cNvSpPr>
          <p:nvPr>
            <p:ph idx="4294967295"/>
          </p:nvPr>
        </p:nvSpPr>
        <p:spPr>
          <a:xfrm>
            <a:off x="307975" y="2070100"/>
            <a:ext cx="8147050" cy="3794125"/>
          </a:xfrm>
          <a:ln/>
        </p:spPr>
        <p:txBody>
          <a:bodyPr wrap="square" lIns="92075" tIns="46038" rIns="92075" bIns="46038" anchor="t" anchorCtr="0"/>
          <a:lstStyle/>
          <a:p>
            <a:pPr algn="just">
              <a:lnSpc>
                <a:spcPts val="3200"/>
              </a:lnSpc>
              <a:buNone/>
            </a:pPr>
            <a:r>
              <a:rPr lang="en-US" altLang="zh-CN" sz="2400"/>
              <a:t>             </a:t>
            </a:r>
            <a:r>
              <a:rPr lang="zh-CN" altLang="en-US" sz="2400"/>
              <a:t>微型计算机系统（</a:t>
            </a:r>
            <a:r>
              <a:rPr lang="en-US" altLang="zh-CN" sz="2400"/>
              <a:t>Micro Computer System</a:t>
            </a:r>
            <a:r>
              <a:rPr lang="zh-CN" altLang="en-US" sz="2400"/>
              <a:t>）是以微型计算机为主体，再配以相应的外围设备、电源、辅助电路和控制微型计算机工作的软件而构成的完整计算机系统。微型计算机系统可分为硬件和软件两大部分，硬件是基础，软件是灵魂，二者缺一不可。硬件和软件分别由多个部分组成，自成系统，也常称为硬件系统和软件系统。微型计算机系统组成如图</a:t>
            </a:r>
            <a:r>
              <a:rPr lang="en-US" altLang="zh-CN" sz="2400"/>
              <a:t>1-2</a:t>
            </a:r>
            <a:r>
              <a:rPr lang="zh-CN" altLang="en-US" sz="2400"/>
              <a:t>所示。</a:t>
            </a:r>
          </a:p>
          <a:p>
            <a:pPr algn="just">
              <a:lnSpc>
                <a:spcPts val="3200"/>
              </a:lnSpc>
              <a:buNone/>
            </a:pPr>
            <a:r>
              <a:rPr lang="en-US" altLang="zh-CN" sz="2400"/>
              <a:t>          </a:t>
            </a:r>
          </a:p>
          <a:p>
            <a:pPr algn="just">
              <a:lnSpc>
                <a:spcPts val="3200"/>
              </a:lnSpc>
              <a:buNone/>
            </a:pPr>
            <a:endParaRPr lang="en-US" altLang="zh-CN" sz="2400"/>
          </a:p>
        </p:txBody>
      </p:sp>
    </p:spTree>
  </p:cSld>
  <p:clrMapOvr>
    <a:masterClrMapping/>
  </p:clrMapOvr>
  <p:transition spd="med">
    <p:random/>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4577" name="图片 5"/>
          <p:cNvGraphicFramePr/>
          <p:nvPr/>
        </p:nvGraphicFramePr>
        <p:xfrm>
          <a:off x="301625" y="50800"/>
          <a:ext cx="4786313" cy="6778625"/>
        </p:xfrm>
        <a:graphic>
          <a:graphicData uri="http://schemas.openxmlformats.org/presentationml/2006/ole">
            <mc:AlternateContent xmlns:mc="http://schemas.openxmlformats.org/markup-compatibility/2006">
              <mc:Choice xmlns:v="urn:schemas-microsoft-com:vml" Requires="v">
                <p:oleObj spid="_x0000_s4102" r:id="rId3" imgW="5321300" imgH="8534400" progId="Visio.Drawing.11">
                  <p:embed/>
                </p:oleObj>
              </mc:Choice>
              <mc:Fallback>
                <p:oleObj r:id="rId3" imgW="5321300" imgH="8534400" progId="Visio.Drawing.11">
                  <p:embed/>
                  <p:pic>
                    <p:nvPicPr>
                      <p:cNvPr id="0" name="图片 3076"/>
                      <p:cNvPicPr/>
                      <p:nvPr/>
                    </p:nvPicPr>
                    <p:blipFill>
                      <a:blip r:embed="rId4"/>
                      <a:stretch>
                        <a:fillRect/>
                      </a:stretch>
                    </p:blipFill>
                    <p:spPr>
                      <a:xfrm>
                        <a:off x="301625" y="50800"/>
                        <a:ext cx="4786313" cy="6778625"/>
                      </a:xfrm>
                      <a:prstGeom prst="rect">
                        <a:avLst/>
                      </a:prstGeom>
                      <a:solidFill>
                        <a:srgbClr val="C2E0FF"/>
                      </a:solidFill>
                      <a:ln w="38100">
                        <a:noFill/>
                        <a:miter/>
                      </a:ln>
                    </p:spPr>
                  </p:pic>
                </p:oleObj>
              </mc:Fallback>
            </mc:AlternateContent>
          </a:graphicData>
        </a:graphic>
      </p:graphicFrame>
      <p:sp>
        <p:nvSpPr>
          <p:cNvPr id="24578" name="文本框 99"/>
          <p:cNvSpPr txBox="1"/>
          <p:nvPr/>
        </p:nvSpPr>
        <p:spPr>
          <a:xfrm>
            <a:off x="5618163" y="6116638"/>
            <a:ext cx="2962275" cy="349250"/>
          </a:xfrm>
          <a:prstGeom prst="rect">
            <a:avLst/>
          </a:prstGeom>
          <a:noFill/>
          <a:ln w="9525">
            <a:noFill/>
          </a:ln>
        </p:spPr>
        <p:txBody>
          <a:bodyPr wrap="square" anchor="t" anchorCtr="0">
            <a:spAutoFit/>
          </a:bodyPr>
          <a:lstStyle/>
          <a:p>
            <a:pPr algn="ctr"/>
            <a:r>
              <a:rPr lang="zh-CN" altLang="en-US" sz="1800">
                <a:latin typeface="Times New Roman" panose="02020603050405020304" pitchFamily="18" charset="0"/>
                <a:ea typeface="宋体" panose="02010600030101010101" pitchFamily="2" charset="-122"/>
              </a:rPr>
              <a:t>图</a:t>
            </a:r>
            <a:r>
              <a:rPr lang="en-US" altLang="zh-CN" sz="1800">
                <a:latin typeface="Times New Roman" panose="02020603050405020304" pitchFamily="18" charset="0"/>
                <a:ea typeface="宋体" panose="02010600030101010101" pitchFamily="2" charset="-122"/>
              </a:rPr>
              <a:t>1-</a:t>
            </a:r>
            <a:r>
              <a:rPr lang="en-US" altLang="zh-CN" sz="1800">
                <a:latin typeface="宋体" panose="02010600030101010101" pitchFamily="2" charset="-122"/>
                <a:ea typeface="宋体" panose="02010600030101010101" pitchFamily="2" charset="-122"/>
              </a:rPr>
              <a:t>2</a:t>
            </a:r>
            <a:r>
              <a:rPr lang="en-US" altLang="zh-CN" sz="1800">
                <a:latin typeface="Times New Roman" panose="02020603050405020304" pitchFamily="18" charset="0"/>
                <a:ea typeface="宋体" panose="02010600030101010101" pitchFamily="2" charset="-122"/>
              </a:rPr>
              <a:t>  </a:t>
            </a:r>
            <a:r>
              <a:rPr lang="zh-CN" altLang="en-US" sz="1800">
                <a:latin typeface="宋体" panose="02010600030101010101" pitchFamily="2" charset="-122"/>
                <a:ea typeface="宋体" panose="02010600030101010101" pitchFamily="2" charset="-122"/>
              </a:rPr>
              <a:t>微型计算机系统</a:t>
            </a:r>
            <a:r>
              <a:rPr lang="zh-CN" altLang="en-US" sz="1800">
                <a:latin typeface="Times New Roman" panose="02020603050405020304" pitchFamily="18" charset="0"/>
                <a:ea typeface="宋体" panose="02010600030101010101" pitchFamily="2" charset="-122"/>
              </a:rPr>
              <a:t>组</a:t>
            </a:r>
            <a:r>
              <a:rPr lang="zh-CN" altLang="en-US" sz="1800">
                <a:latin typeface="宋体" panose="02010600030101010101" pitchFamily="2" charset="-122"/>
                <a:ea typeface="宋体" panose="02010600030101010101" pitchFamily="2" charset="-122"/>
              </a:rPr>
              <a:t>成</a:t>
            </a:r>
          </a:p>
        </p:txBody>
      </p:sp>
      <p:pic>
        <p:nvPicPr>
          <p:cNvPr id="24579" name="图片 2" descr="1 (5)"/>
          <p:cNvPicPr>
            <a:picLocks noChangeAspect="1"/>
          </p:cNvPicPr>
          <p:nvPr/>
        </p:nvPicPr>
        <p:blipFill>
          <a:blip r:embed="rId5"/>
          <a:stretch>
            <a:fillRect/>
          </a:stretch>
        </p:blipFill>
        <p:spPr>
          <a:xfrm>
            <a:off x="5303838" y="174625"/>
            <a:ext cx="3662362" cy="3163888"/>
          </a:xfrm>
          <a:prstGeom prst="rect">
            <a:avLst/>
          </a:prstGeom>
          <a:noFill/>
          <a:ln w="9525">
            <a:noFill/>
          </a:ln>
        </p:spPr>
      </p:pic>
      <p:pic>
        <p:nvPicPr>
          <p:cNvPr id="24580" name="图片 3" descr="1 (1)"/>
          <p:cNvPicPr>
            <a:picLocks noChangeAspect="1"/>
          </p:cNvPicPr>
          <p:nvPr/>
        </p:nvPicPr>
        <p:blipFill>
          <a:blip r:embed="rId6"/>
          <a:stretch>
            <a:fillRect/>
          </a:stretch>
        </p:blipFill>
        <p:spPr>
          <a:xfrm>
            <a:off x="5311775" y="3405188"/>
            <a:ext cx="3648075" cy="2486025"/>
          </a:xfrm>
          <a:prstGeom prst="rect">
            <a:avLst/>
          </a:prstGeom>
          <a:noFill/>
          <a:ln w="9525">
            <a:noFill/>
          </a:ln>
        </p:spPr>
      </p:pic>
    </p:spTree>
  </p:cSld>
  <p:clrMapOvr>
    <a:masterClrMapping/>
  </p:clrMapOvr>
  <p:transition spd="med">
    <p:random/>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系统组成与结构</a:t>
            </a:r>
          </a:p>
        </p:txBody>
      </p:sp>
      <p:sp>
        <p:nvSpPr>
          <p:cNvPr id="25602" name="内容占位符 2"/>
          <p:cNvSpPr>
            <a:spLocks noGrp="1"/>
          </p:cNvSpPr>
          <p:nvPr>
            <p:ph idx="4294967295"/>
          </p:nvPr>
        </p:nvSpPr>
        <p:spPr>
          <a:xfrm>
            <a:off x="23813" y="1365250"/>
            <a:ext cx="8678862" cy="5327650"/>
          </a:xfrm>
          <a:ln/>
        </p:spPr>
        <p:txBody>
          <a:bodyPr wrap="square" lIns="92075" tIns="46038" rIns="92075" bIns="46038" anchor="t" anchorCtr="0"/>
          <a:lstStyle/>
          <a:p>
            <a:pPr algn="just">
              <a:lnSpc>
                <a:spcPts val="3200"/>
              </a:lnSpc>
              <a:buNone/>
            </a:pPr>
            <a:r>
              <a:rPr lang="en-US" altLang="zh-CN" sz="2400"/>
              <a:t>             1</a:t>
            </a:r>
            <a:r>
              <a:rPr lang="zh-CN" altLang="en-US" sz="2400"/>
              <a:t>．硬件系统组成</a:t>
            </a:r>
          </a:p>
          <a:p>
            <a:pPr algn="just">
              <a:lnSpc>
                <a:spcPts val="3200"/>
              </a:lnSpc>
              <a:buNone/>
            </a:pPr>
            <a:r>
              <a:rPr lang="zh-CN" altLang="en-US" sz="2400"/>
              <a:t>             微型计算机硬件系统是机器的实体部分，由运算器、控制器、存储器、输入设备和输出设备五大部分组成。其中运算器和控制器常常集成在一起，称为微处理器，即</a:t>
            </a:r>
            <a:r>
              <a:rPr lang="en-US" altLang="zh-CN" sz="2400"/>
              <a:t>CPU</a:t>
            </a:r>
            <a:r>
              <a:rPr lang="zh-CN" altLang="en-US" sz="2400"/>
              <a:t>。</a:t>
            </a:r>
          </a:p>
          <a:p>
            <a:pPr algn="just">
              <a:lnSpc>
                <a:spcPts val="3200"/>
              </a:lnSpc>
              <a:buNone/>
            </a:pPr>
            <a:r>
              <a:rPr lang="zh-CN" altLang="en-US" sz="2400"/>
              <a:t>             </a:t>
            </a:r>
            <a:r>
              <a:rPr lang="en-US" altLang="zh-CN" sz="2400"/>
              <a:t>1</a:t>
            </a:r>
            <a:r>
              <a:rPr lang="zh-CN" altLang="en-US" sz="2400"/>
              <a:t>）微处理器</a:t>
            </a:r>
          </a:p>
          <a:p>
            <a:pPr algn="just">
              <a:lnSpc>
                <a:spcPts val="3200"/>
              </a:lnSpc>
              <a:buNone/>
            </a:pPr>
            <a:r>
              <a:rPr lang="zh-CN" altLang="en-US" sz="2400"/>
              <a:t>     微处理器是微型计算机的核心芯片，它主要包括运算器、控制器及相关寄存器等。</a:t>
            </a:r>
          </a:p>
          <a:p>
            <a:pPr algn="just">
              <a:lnSpc>
                <a:spcPts val="3200"/>
              </a:lnSpc>
              <a:buNone/>
            </a:pPr>
            <a:r>
              <a:rPr lang="zh-CN" altLang="en-US" sz="2400"/>
              <a:t>             </a:t>
            </a:r>
            <a:r>
              <a:rPr lang="en-US" altLang="zh-CN" sz="2400"/>
              <a:t>2</a:t>
            </a:r>
            <a:r>
              <a:rPr lang="zh-CN" altLang="en-US" sz="2400"/>
              <a:t>）存储器</a:t>
            </a:r>
          </a:p>
          <a:p>
            <a:pPr algn="just">
              <a:lnSpc>
                <a:spcPts val="3200"/>
              </a:lnSpc>
              <a:buNone/>
            </a:pPr>
            <a:r>
              <a:rPr lang="zh-CN" altLang="en-US" sz="2400"/>
              <a:t>            存储器用来存放数据和程序。按照在系统中的位置，存储器一般分为内存储器和外存储器两类。内存储器又称为内存或主存，</a:t>
            </a:r>
            <a:r>
              <a:rPr lang="en-US" altLang="zh-CN" sz="2400"/>
              <a:t>CPU</a:t>
            </a:r>
            <a:r>
              <a:rPr lang="zh-CN" altLang="en-US" sz="2400"/>
              <a:t>可以直接访问。外存储器属于外设的范畴。</a:t>
            </a:r>
            <a:r>
              <a:rPr lang="en-US" altLang="zh-CN" sz="2400"/>
              <a:t>       </a:t>
            </a:r>
          </a:p>
        </p:txBody>
      </p:sp>
    </p:spTree>
  </p:cSld>
  <p:clrMapOvr>
    <a:masterClrMapping/>
  </p:clrMapOvr>
  <p:transition spd="med">
    <p:random/>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系统组成与结构</a:t>
            </a:r>
          </a:p>
        </p:txBody>
      </p:sp>
      <p:sp>
        <p:nvSpPr>
          <p:cNvPr id="26626" name="内容占位符 2"/>
          <p:cNvSpPr>
            <a:spLocks noGrp="1"/>
          </p:cNvSpPr>
          <p:nvPr>
            <p:ph idx="4294967295"/>
          </p:nvPr>
        </p:nvSpPr>
        <p:spPr>
          <a:xfrm>
            <a:off x="50800" y="1476375"/>
            <a:ext cx="8678863" cy="5095875"/>
          </a:xfrm>
          <a:ln/>
        </p:spPr>
        <p:txBody>
          <a:bodyPr wrap="square" lIns="92075" tIns="46038" rIns="92075" bIns="46038" anchor="t" anchorCtr="0"/>
          <a:lstStyle/>
          <a:p>
            <a:pPr algn="just">
              <a:lnSpc>
                <a:spcPts val="3200"/>
              </a:lnSpc>
              <a:buNone/>
            </a:pPr>
            <a:r>
              <a:rPr lang="en-US" altLang="zh-CN" sz="2400"/>
              <a:t>             3</a:t>
            </a:r>
            <a:r>
              <a:rPr lang="zh-CN" altLang="en-US" sz="2400"/>
              <a:t>）输入</a:t>
            </a:r>
            <a:r>
              <a:rPr lang="en-US" altLang="zh-CN" sz="2400"/>
              <a:t>/</a:t>
            </a:r>
            <a:r>
              <a:rPr lang="zh-CN" altLang="en-US" sz="2400"/>
              <a:t>输出（</a:t>
            </a:r>
            <a:r>
              <a:rPr lang="en-US" altLang="zh-CN" sz="2400"/>
              <a:t>I/O</a:t>
            </a:r>
            <a:r>
              <a:rPr lang="zh-CN" altLang="en-US" sz="2400"/>
              <a:t>）设备和输入</a:t>
            </a:r>
            <a:r>
              <a:rPr lang="en-US" altLang="zh-CN" sz="2400"/>
              <a:t>/</a:t>
            </a:r>
            <a:r>
              <a:rPr lang="zh-CN" altLang="en-US" sz="2400"/>
              <a:t>输出接口（</a:t>
            </a:r>
            <a:r>
              <a:rPr lang="en-US" altLang="zh-CN" sz="2400"/>
              <a:t>I/O Interface</a:t>
            </a:r>
            <a:r>
              <a:rPr lang="zh-CN" altLang="en-US" sz="2400"/>
              <a:t>）</a:t>
            </a:r>
          </a:p>
          <a:p>
            <a:pPr algn="just">
              <a:lnSpc>
                <a:spcPts val="3200"/>
              </a:lnSpc>
              <a:buNone/>
            </a:pPr>
            <a:r>
              <a:rPr lang="zh-CN" altLang="en-US" sz="2400"/>
              <a:t>             </a:t>
            </a:r>
            <a:r>
              <a:rPr lang="en-US" altLang="zh-CN" sz="2400"/>
              <a:t>I/O</a:t>
            </a:r>
            <a:r>
              <a:rPr lang="zh-CN" altLang="en-US" sz="2400"/>
              <a:t>设备是微型机系统的重要组成部分。程序、数据及现场信息要通过输入设备输入给微型机。</a:t>
            </a:r>
            <a:r>
              <a:rPr lang="en-US" altLang="zh-CN" sz="2400"/>
              <a:t>CPU</a:t>
            </a:r>
            <a:r>
              <a:rPr lang="zh-CN" altLang="en-US" sz="2400"/>
              <a:t>的计算结果通过输出设备输出到外部。常用的输入设备有键盘、鼠标、扫描仪等。常用的输出设备有显示器、打印机、绘图仪等。</a:t>
            </a:r>
          </a:p>
          <a:p>
            <a:pPr algn="just">
              <a:lnSpc>
                <a:spcPts val="3200"/>
              </a:lnSpc>
              <a:buNone/>
            </a:pPr>
            <a:r>
              <a:rPr lang="en-US" altLang="zh-CN" sz="2400"/>
              <a:t>            由于各种外设的工作速度、驱动方法差别很大，无法与CPU直接匹配，所以不可能将它们简单地连接到系统总线上，而需要通过I/O接口电路来充当外设与CPU之间的桥梁，来辅助CPU工作，实现CPU与外设之间的速度匹配、信号电平匹配、信号格式匹配、时序控制、中断控制等。       </a:t>
            </a:r>
          </a:p>
          <a:p>
            <a:pPr algn="just">
              <a:lnSpc>
                <a:spcPts val="3200"/>
              </a:lnSpc>
              <a:buNone/>
            </a:pPr>
            <a:endParaRPr lang="en-US" altLang="zh-CN" sz="2400"/>
          </a:p>
        </p:txBody>
      </p:sp>
    </p:spTree>
  </p:cSld>
  <p:clrMapOvr>
    <a:masterClrMapping/>
  </p:clrMapOvr>
  <p:transition spd="med">
    <p:random/>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7649" name="图片 1" descr="接口"/>
          <p:cNvPicPr>
            <a:picLocks noChangeAspect="1"/>
          </p:cNvPicPr>
          <p:nvPr/>
        </p:nvPicPr>
        <p:blipFill>
          <a:blip r:embed="rId2"/>
          <a:stretch>
            <a:fillRect/>
          </a:stretch>
        </p:blipFill>
        <p:spPr>
          <a:xfrm>
            <a:off x="55563" y="42863"/>
            <a:ext cx="6899275" cy="3565525"/>
          </a:xfrm>
          <a:prstGeom prst="rect">
            <a:avLst/>
          </a:prstGeom>
          <a:noFill/>
          <a:ln w="9525">
            <a:noFill/>
          </a:ln>
        </p:spPr>
      </p:pic>
      <p:pic>
        <p:nvPicPr>
          <p:cNvPr id="27650" name="图片 5" descr="图片111"/>
          <p:cNvPicPr>
            <a:picLocks noChangeAspect="1"/>
          </p:cNvPicPr>
          <p:nvPr/>
        </p:nvPicPr>
        <p:blipFill>
          <a:blip r:embed="rId3"/>
          <a:stretch>
            <a:fillRect/>
          </a:stretch>
        </p:blipFill>
        <p:spPr>
          <a:xfrm>
            <a:off x="2224088" y="2520950"/>
            <a:ext cx="6840537" cy="4283075"/>
          </a:xfrm>
          <a:prstGeom prst="rect">
            <a:avLst/>
          </a:prstGeom>
          <a:noFill/>
          <a:ln w="9525">
            <a:noFill/>
          </a:ln>
        </p:spPr>
      </p:pic>
    </p:spTree>
  </p:cSld>
  <p:clrMapOvr>
    <a:masterClrMapping/>
  </p:clrMapOvr>
  <p:transition spd="med">
    <p:random/>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8673" name="图片 6" descr="1"/>
          <p:cNvPicPr>
            <a:picLocks noChangeAspect="1"/>
          </p:cNvPicPr>
          <p:nvPr/>
        </p:nvPicPr>
        <p:blipFill>
          <a:blip r:embed="rId2"/>
          <a:stretch>
            <a:fillRect/>
          </a:stretch>
        </p:blipFill>
        <p:spPr>
          <a:xfrm>
            <a:off x="34925" y="3557588"/>
            <a:ext cx="5627688" cy="3268662"/>
          </a:xfrm>
          <a:prstGeom prst="rect">
            <a:avLst/>
          </a:prstGeom>
          <a:noFill/>
          <a:ln w="9525">
            <a:noFill/>
          </a:ln>
        </p:spPr>
      </p:pic>
      <p:pic>
        <p:nvPicPr>
          <p:cNvPr id="28674" name="图片 7" descr="2"/>
          <p:cNvPicPr>
            <a:picLocks noChangeAspect="1"/>
          </p:cNvPicPr>
          <p:nvPr/>
        </p:nvPicPr>
        <p:blipFill>
          <a:blip r:embed="rId3"/>
          <a:stretch>
            <a:fillRect/>
          </a:stretch>
        </p:blipFill>
        <p:spPr>
          <a:xfrm>
            <a:off x="3416300" y="25400"/>
            <a:ext cx="5702300" cy="3659188"/>
          </a:xfrm>
          <a:prstGeom prst="rect">
            <a:avLst/>
          </a:prstGeom>
          <a:noFill/>
          <a:ln w="9525">
            <a:noFill/>
          </a:ln>
        </p:spPr>
      </p:pic>
    </p:spTree>
  </p:cSld>
  <p:clrMapOvr>
    <a:masterClrMapping/>
  </p:clrMapOvr>
  <p:transition spd="med">
    <p:random/>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系统组成与结构</a:t>
            </a:r>
          </a:p>
        </p:txBody>
      </p:sp>
      <p:sp>
        <p:nvSpPr>
          <p:cNvPr id="29698" name="内容占位符 2"/>
          <p:cNvSpPr>
            <a:spLocks noGrp="1"/>
          </p:cNvSpPr>
          <p:nvPr>
            <p:ph idx="4294967295"/>
          </p:nvPr>
        </p:nvSpPr>
        <p:spPr>
          <a:xfrm>
            <a:off x="23813" y="1365250"/>
            <a:ext cx="8678862" cy="5327650"/>
          </a:xfrm>
          <a:ln/>
        </p:spPr>
        <p:txBody>
          <a:bodyPr wrap="square" lIns="92075" tIns="46038" rIns="92075" bIns="46038" anchor="t" anchorCtr="0"/>
          <a:lstStyle/>
          <a:p>
            <a:pPr algn="just">
              <a:lnSpc>
                <a:spcPts val="3200"/>
              </a:lnSpc>
              <a:buNone/>
            </a:pPr>
            <a:r>
              <a:rPr lang="en-US" altLang="zh-CN" sz="2400"/>
              <a:t>             2</a:t>
            </a:r>
            <a:r>
              <a:rPr lang="zh-CN" altLang="en-US" sz="2400"/>
              <a:t>．体系结构</a:t>
            </a:r>
          </a:p>
          <a:p>
            <a:pPr algn="just">
              <a:lnSpc>
                <a:spcPts val="3200"/>
              </a:lnSpc>
              <a:buNone/>
            </a:pPr>
            <a:r>
              <a:rPr lang="zh-CN" altLang="en-US" sz="2400"/>
              <a:t>             硬件系统的五大部分加上电源，通过系统总线有机地连在一起。系统总线是各个部件之间传输信息的公共通道。一般有三组总线：地址总线、数据总线和控制总线。典型的微机系统总线结构如图</a:t>
            </a:r>
            <a:r>
              <a:rPr lang="en-US" altLang="zh-CN" sz="2400"/>
              <a:t>1-3</a:t>
            </a:r>
            <a:r>
              <a:rPr lang="zh-CN" altLang="en-US" sz="2400"/>
              <a:t>所示。</a:t>
            </a:r>
          </a:p>
          <a:p>
            <a:pPr algn="just">
              <a:lnSpc>
                <a:spcPts val="3200"/>
              </a:lnSpc>
              <a:buNone/>
            </a:pPr>
            <a:endParaRPr lang="zh-CN" altLang="en-US" sz="2400"/>
          </a:p>
          <a:p>
            <a:pPr algn="just">
              <a:lnSpc>
                <a:spcPts val="3200"/>
              </a:lnSpc>
              <a:buNone/>
            </a:pPr>
            <a:endParaRPr lang="zh-CN" altLang="en-US" sz="2400"/>
          </a:p>
          <a:p>
            <a:pPr algn="just">
              <a:lnSpc>
                <a:spcPts val="3200"/>
              </a:lnSpc>
              <a:buNone/>
            </a:pPr>
            <a:endParaRPr lang="zh-CN" altLang="en-US" sz="2400"/>
          </a:p>
          <a:p>
            <a:pPr algn="just">
              <a:lnSpc>
                <a:spcPts val="3200"/>
              </a:lnSpc>
              <a:buNone/>
            </a:pPr>
            <a:endParaRPr lang="zh-CN" altLang="en-US" sz="2400"/>
          </a:p>
          <a:p>
            <a:pPr algn="just">
              <a:lnSpc>
                <a:spcPts val="3200"/>
              </a:lnSpc>
              <a:buNone/>
            </a:pPr>
            <a:endParaRPr lang="zh-CN" altLang="en-US" sz="2400"/>
          </a:p>
          <a:p>
            <a:pPr algn="ctr">
              <a:lnSpc>
                <a:spcPts val="3200"/>
              </a:lnSpc>
              <a:buNone/>
            </a:pPr>
            <a:r>
              <a:rPr lang="zh-CN" altLang="en-US" sz="2000"/>
              <a:t>图</a:t>
            </a:r>
            <a:r>
              <a:rPr lang="en-US" altLang="zh-CN" sz="2000"/>
              <a:t>1-3  </a:t>
            </a:r>
            <a:r>
              <a:rPr lang="zh-CN" altLang="en-US" sz="2000"/>
              <a:t>典型的微机系统总线结构</a:t>
            </a:r>
          </a:p>
          <a:p>
            <a:pPr algn="just">
              <a:lnSpc>
                <a:spcPts val="3200"/>
              </a:lnSpc>
              <a:buNone/>
            </a:pPr>
            <a:endParaRPr lang="zh-CN" altLang="en-US" sz="2400"/>
          </a:p>
        </p:txBody>
      </p:sp>
      <p:pic>
        <p:nvPicPr>
          <p:cNvPr id="29699" name="图片 26" descr="bus1-2"/>
          <p:cNvPicPr>
            <a:picLocks noChangeAspect="1"/>
          </p:cNvPicPr>
          <p:nvPr/>
        </p:nvPicPr>
        <p:blipFill>
          <a:blip r:embed="rId2"/>
          <a:stretch>
            <a:fillRect/>
          </a:stretch>
        </p:blipFill>
        <p:spPr>
          <a:xfrm>
            <a:off x="1041400" y="3578225"/>
            <a:ext cx="6940550" cy="2355850"/>
          </a:xfrm>
          <a:prstGeom prst="rect">
            <a:avLst/>
          </a:prstGeom>
          <a:noFill/>
          <a:ln w="9525">
            <a:noFill/>
          </a:ln>
        </p:spPr>
      </p:pic>
    </p:spTree>
  </p:cSld>
  <p:clrMapOvr>
    <a:masterClrMapping/>
  </p:clrMapOvr>
  <p:transition spd="med">
    <p:random/>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系统组成与结构</a:t>
            </a:r>
          </a:p>
        </p:txBody>
      </p:sp>
      <p:sp>
        <p:nvSpPr>
          <p:cNvPr id="30722" name="内容占位符 2"/>
          <p:cNvSpPr>
            <a:spLocks noGrp="1"/>
          </p:cNvSpPr>
          <p:nvPr>
            <p:ph idx="4294967295"/>
          </p:nvPr>
        </p:nvSpPr>
        <p:spPr>
          <a:xfrm>
            <a:off x="53975" y="1666875"/>
            <a:ext cx="8824913" cy="4268788"/>
          </a:xfrm>
          <a:ln/>
        </p:spPr>
        <p:txBody>
          <a:bodyPr wrap="square" lIns="92075" tIns="46038" rIns="92075" bIns="46038" anchor="t" anchorCtr="0"/>
          <a:lstStyle/>
          <a:p>
            <a:pPr algn="just">
              <a:lnSpc>
                <a:spcPts val="3200"/>
              </a:lnSpc>
              <a:buNone/>
            </a:pPr>
            <a:r>
              <a:rPr lang="en-US" altLang="en-US" sz="2400"/>
              <a:t>             </a:t>
            </a:r>
            <a:r>
              <a:rPr lang="en-US" altLang="zh-CN" sz="2400"/>
              <a:t>3</a:t>
            </a:r>
            <a:r>
              <a:rPr lang="zh-CN" altLang="en-US" sz="2400"/>
              <a:t>．软件系统组成</a:t>
            </a:r>
          </a:p>
          <a:p>
            <a:pPr algn="just">
              <a:lnSpc>
                <a:spcPts val="3200"/>
              </a:lnSpc>
              <a:buNone/>
            </a:pPr>
            <a:r>
              <a:rPr lang="zh-CN" altLang="en-US" sz="2400"/>
              <a:t>             软件系统主要分为系统软件和应用软件。系统软件是由设计者提供给用户的、充分发挥计算机效能的一系列软件。</a:t>
            </a:r>
          </a:p>
          <a:p>
            <a:pPr algn="just">
              <a:lnSpc>
                <a:spcPts val="3200"/>
              </a:lnSpc>
              <a:buNone/>
            </a:pPr>
            <a:r>
              <a:rPr lang="zh-CN" altLang="en-US" sz="2400"/>
              <a:t>             系统软件包括操作系统、语言处理程序和各种支持软件。</a:t>
            </a:r>
          </a:p>
          <a:p>
            <a:pPr algn="just">
              <a:lnSpc>
                <a:spcPts val="3200"/>
              </a:lnSpc>
              <a:buNone/>
            </a:pPr>
            <a:r>
              <a:rPr lang="zh-CN" altLang="en-US" sz="2400"/>
              <a:t>             操作系统是系统软件的核心，它的主要功能是对系统的软硬件资源进行合理的管理。</a:t>
            </a:r>
          </a:p>
          <a:p>
            <a:pPr algn="just">
              <a:lnSpc>
                <a:spcPts val="3200"/>
              </a:lnSpc>
              <a:buNone/>
            </a:pPr>
            <a:r>
              <a:rPr lang="zh-CN" altLang="en-US" sz="2400"/>
              <a:t>             程序设计语言是用来编写程序的语言，是人和计算机交换信息所用的工具，通常分为机器语言、汇编语言和高级语言三类。</a:t>
            </a:r>
          </a:p>
          <a:p>
            <a:pPr algn="just">
              <a:lnSpc>
                <a:spcPts val="3200"/>
              </a:lnSpc>
              <a:buNone/>
            </a:pPr>
            <a:endParaRPr lang="zh-CN" altLang="en-US" sz="2400"/>
          </a:p>
        </p:txBody>
      </p:sp>
    </p:spTree>
  </p:cSld>
  <p:clrMapOvr>
    <a:masterClrMapping/>
  </p:clrMapOvr>
  <p:transition spd="med">
    <p:random/>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微型计算机分类</a:t>
            </a:r>
          </a:p>
        </p:txBody>
      </p:sp>
      <p:sp>
        <p:nvSpPr>
          <p:cNvPr id="31746" name="内容占位符 2"/>
          <p:cNvSpPr>
            <a:spLocks noGrp="1"/>
          </p:cNvSpPr>
          <p:nvPr>
            <p:ph idx="4294967295"/>
          </p:nvPr>
        </p:nvSpPr>
        <p:spPr>
          <a:xfrm>
            <a:off x="344488" y="1712913"/>
            <a:ext cx="8058150" cy="4268787"/>
          </a:xfrm>
          <a:ln/>
        </p:spPr>
        <p:txBody>
          <a:bodyPr wrap="square" lIns="92075" tIns="46038" rIns="92075" bIns="46038" anchor="t" anchorCtr="0"/>
          <a:lstStyle/>
          <a:p>
            <a:pPr algn="just">
              <a:lnSpc>
                <a:spcPts val="3200"/>
              </a:lnSpc>
              <a:buNone/>
            </a:pPr>
            <a:r>
              <a:rPr lang="en-US" altLang="en-US" sz="2400"/>
              <a:t>             </a:t>
            </a:r>
            <a:r>
              <a:rPr lang="en-US" altLang="zh-CN" sz="2400"/>
              <a:t>1</a:t>
            </a:r>
            <a:r>
              <a:rPr lang="zh-CN" altLang="en-US" sz="2400"/>
              <a:t>．按字长分类</a:t>
            </a:r>
          </a:p>
          <a:p>
            <a:pPr algn="just">
              <a:lnSpc>
                <a:spcPts val="3200"/>
              </a:lnSpc>
              <a:buNone/>
            </a:pPr>
            <a:r>
              <a:rPr lang="zh-CN" altLang="en-US" sz="2400"/>
              <a:t>             微型计算机按字长可分为</a:t>
            </a:r>
            <a:r>
              <a:rPr lang="en-US" altLang="zh-CN" sz="2400"/>
              <a:t>4</a:t>
            </a:r>
            <a:r>
              <a:rPr lang="zh-CN" altLang="en-US" sz="2400"/>
              <a:t>位机、</a:t>
            </a:r>
            <a:r>
              <a:rPr lang="en-US" altLang="zh-CN" sz="2400"/>
              <a:t>8</a:t>
            </a:r>
            <a:r>
              <a:rPr lang="zh-CN" altLang="en-US" sz="2400"/>
              <a:t>位机、</a:t>
            </a:r>
            <a:r>
              <a:rPr lang="en-US" altLang="zh-CN" sz="2400"/>
              <a:t>16</a:t>
            </a:r>
            <a:r>
              <a:rPr lang="zh-CN" altLang="en-US" sz="2400"/>
              <a:t>位机、</a:t>
            </a:r>
            <a:r>
              <a:rPr lang="en-US" altLang="zh-CN" sz="2400"/>
              <a:t>32</a:t>
            </a:r>
            <a:r>
              <a:rPr lang="zh-CN" altLang="en-US" sz="2400"/>
              <a:t>位机和</a:t>
            </a:r>
            <a:r>
              <a:rPr lang="en-US" altLang="zh-CN" sz="2400"/>
              <a:t>64</a:t>
            </a:r>
            <a:r>
              <a:rPr lang="zh-CN" altLang="en-US" sz="2400"/>
              <a:t>位机。</a:t>
            </a:r>
          </a:p>
          <a:p>
            <a:pPr algn="just">
              <a:lnSpc>
                <a:spcPts val="3200"/>
              </a:lnSpc>
              <a:buNone/>
            </a:pPr>
            <a:r>
              <a:rPr lang="zh-CN" altLang="en-US" sz="2400"/>
              <a:t>             </a:t>
            </a:r>
            <a:r>
              <a:rPr lang="en-US" altLang="zh-CN" sz="2400"/>
              <a:t>2</a:t>
            </a:r>
            <a:r>
              <a:rPr lang="zh-CN" altLang="en-US" sz="2400"/>
              <a:t>．按组装结构分类</a:t>
            </a:r>
          </a:p>
          <a:p>
            <a:pPr algn="just">
              <a:lnSpc>
                <a:spcPts val="3200"/>
              </a:lnSpc>
              <a:buNone/>
            </a:pPr>
            <a:r>
              <a:rPr lang="zh-CN" altLang="en-US" sz="2400"/>
              <a:t>             微型计算机按组装结构可分为单片机、单板机和多板机。</a:t>
            </a:r>
          </a:p>
          <a:p>
            <a:pPr algn="just">
              <a:lnSpc>
                <a:spcPts val="3200"/>
              </a:lnSpc>
              <a:buNone/>
            </a:pPr>
            <a:r>
              <a:rPr lang="zh-CN" altLang="en-US" sz="2400"/>
              <a:t>             </a:t>
            </a:r>
            <a:r>
              <a:rPr lang="en-US" altLang="zh-CN" sz="2400"/>
              <a:t>3</a:t>
            </a:r>
            <a:r>
              <a:rPr lang="zh-CN" altLang="en-US" sz="2400"/>
              <a:t>．按用途分类</a:t>
            </a:r>
          </a:p>
          <a:p>
            <a:pPr algn="just">
              <a:lnSpc>
                <a:spcPts val="3200"/>
              </a:lnSpc>
              <a:buNone/>
            </a:pPr>
            <a:r>
              <a:rPr lang="zh-CN" altLang="en-US" sz="2400"/>
              <a:t>             微型计算机按用途可分为通用计算机和嵌入式计算机。</a:t>
            </a:r>
          </a:p>
          <a:p>
            <a:pPr algn="ctr">
              <a:lnSpc>
                <a:spcPts val="3200"/>
              </a:lnSpc>
              <a:buNone/>
            </a:pPr>
            <a:endParaRPr lang="zh-CN" altLang="en-US" sz="2000"/>
          </a:p>
          <a:p>
            <a:pPr algn="just">
              <a:lnSpc>
                <a:spcPts val="3200"/>
              </a:lnSpc>
              <a:buNone/>
            </a:pPr>
            <a:endParaRPr lang="zh-CN" altLang="en-US" sz="2400"/>
          </a:p>
        </p:txBody>
      </p:sp>
    </p:spTree>
  </p:cSld>
  <p:clrMapOvr>
    <a:masterClrMapping/>
  </p:clrMapOvr>
  <p:transition spd="med">
    <p:random/>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微型计算机的性能指标</a:t>
            </a:r>
          </a:p>
        </p:txBody>
      </p:sp>
      <p:sp>
        <p:nvSpPr>
          <p:cNvPr id="22530" name="内容占位符 2"/>
          <p:cNvSpPr>
            <a:spLocks noGrp="1"/>
          </p:cNvSpPr>
          <p:nvPr>
            <p:ph idx="4294967295"/>
          </p:nvPr>
        </p:nvSpPr>
        <p:spPr>
          <a:xfrm>
            <a:off x="600075" y="1501775"/>
            <a:ext cx="7688263" cy="5027613"/>
          </a:xfrm>
          <a:ln>
            <a:miter/>
          </a:ln>
        </p:spPr>
        <p:txBody>
          <a:bodyPr wrap="square" lIns="92075" tIns="46038" rIns="92075" bIns="46038" anchor="t"/>
          <a:lstStyle/>
          <a:p>
            <a:pPr marL="342900" marR="0" lvl="0" indent="-342900" algn="just" defTabSz="914400" rtl="0" eaLnBrk="0" fontAlgn="base" latinLnBrk="0" hangingPunct="0">
              <a:lnSpc>
                <a:spcPts val="3200"/>
              </a:lnSpc>
              <a:spcBef>
                <a:spcPct val="20000"/>
              </a:spcBef>
              <a:spcAft>
                <a:spcPct val="0"/>
              </a:spcAft>
              <a:buClr>
                <a:schemeClr val="accent2"/>
              </a:buClr>
              <a:buSzPct val="70000"/>
              <a:buFont typeface="Wingdings" panose="05000000000000000000" pitchFamily="2" charset="2"/>
              <a:buNone/>
            </a:pPr>
            <a:r>
              <a:rPr kumimoji="0" lang="en-US" altLang="en-US" sz="2400" b="1" i="0" u="none" strike="noStrike" kern="0" cap="none" spc="0" normalizeH="0" baseline="0" noProof="1">
                <a:solidFill>
                  <a:schemeClr val="tx1"/>
                </a:solidFill>
                <a:latin typeface="+mn-lt"/>
                <a:ea typeface="+mn-ea"/>
                <a:cs typeface="+mn-cs"/>
              </a:rPr>
              <a:t>             </a:t>
            </a:r>
            <a:r>
              <a:rPr kumimoji="0" sz="2400" b="1" i="0" u="none" strike="noStrike" kern="0" cap="none" spc="0" normalizeH="0" baseline="0" noProof="1">
                <a:solidFill>
                  <a:schemeClr val="tx1"/>
                </a:solidFill>
                <a:latin typeface="+mn-lt"/>
                <a:ea typeface="+mn-ea"/>
                <a:cs typeface="+mn-cs"/>
              </a:rPr>
              <a:t>一台微型计算机的性能如何，是由它的系统结构、指令系统、硬件设备组成和软件配置情况等因素决定的。以下是评价微型计算机性能的主要指标。</a:t>
            </a:r>
          </a:p>
          <a:p>
            <a:pPr marL="742950" marR="0" lvl="1" indent="-285750" algn="just" defTabSz="914400" rtl="0" eaLnBrk="0" fontAlgn="base" latinLnBrk="0" hangingPunct="0">
              <a:lnSpc>
                <a:spcPts val="3200"/>
              </a:lnSpc>
              <a:spcBef>
                <a:spcPct val="20000"/>
              </a:spcBef>
              <a:spcAft>
                <a:spcPct val="0"/>
              </a:spcAft>
              <a:buClr>
                <a:schemeClr val="accent2"/>
              </a:buClr>
              <a:buSzPct val="70000"/>
              <a:buFont typeface="Wingdings" panose="05000000000000000000" pitchFamily="2" charset="2"/>
              <a:buNone/>
            </a:pPr>
            <a:r>
              <a:rPr kumimoji="0" sz="2055" b="1" i="0" u="none" strike="noStrike" kern="0" cap="none" spc="0" normalizeH="0" baseline="0" noProof="1">
                <a:solidFill>
                  <a:schemeClr val="tx1"/>
                </a:solidFill>
                <a:latin typeface="+mn-lt"/>
                <a:ea typeface="+mn-ea"/>
                <a:cs typeface="+mn-ea"/>
              </a:rPr>
              <a:t>      1．字长</a:t>
            </a:r>
          </a:p>
          <a:p>
            <a:pPr marL="742950" marR="0" lvl="1" indent="-285750" algn="just" defTabSz="914400" rtl="0" eaLnBrk="0" fontAlgn="base" latinLnBrk="0" hangingPunct="0">
              <a:lnSpc>
                <a:spcPts val="3200"/>
              </a:lnSpc>
              <a:spcBef>
                <a:spcPct val="20000"/>
              </a:spcBef>
              <a:spcAft>
                <a:spcPct val="0"/>
              </a:spcAft>
              <a:buClr>
                <a:schemeClr val="accent2"/>
              </a:buClr>
              <a:buSzPct val="70000"/>
              <a:buFont typeface="Wingdings" panose="05000000000000000000" pitchFamily="2" charset="2"/>
              <a:buNone/>
            </a:pPr>
            <a:r>
              <a:rPr kumimoji="0" sz="2055" b="1" i="0" u="none" strike="noStrike" kern="0" cap="none" spc="0" normalizeH="0" baseline="0" noProof="1">
                <a:solidFill>
                  <a:schemeClr val="tx1"/>
                </a:solidFill>
                <a:latin typeface="+mn-lt"/>
                <a:ea typeface="+mn-ea"/>
                <a:cs typeface="+mn-ea"/>
              </a:rPr>
              <a:t>      2．运算速度</a:t>
            </a:r>
          </a:p>
          <a:p>
            <a:pPr marL="742950" marR="0" lvl="1" indent="-285750" algn="just" defTabSz="914400" rtl="0" eaLnBrk="0" fontAlgn="base" latinLnBrk="0" hangingPunct="0">
              <a:lnSpc>
                <a:spcPts val="3200"/>
              </a:lnSpc>
              <a:spcBef>
                <a:spcPct val="20000"/>
              </a:spcBef>
              <a:spcAft>
                <a:spcPct val="0"/>
              </a:spcAft>
              <a:buClr>
                <a:schemeClr val="accent2"/>
              </a:buClr>
              <a:buSzPct val="70000"/>
              <a:buFont typeface="Wingdings" panose="05000000000000000000" pitchFamily="2" charset="2"/>
              <a:buNone/>
            </a:pPr>
            <a:r>
              <a:rPr kumimoji="0" sz="2055" b="1" i="0" u="none" strike="noStrike" kern="0" cap="none" spc="0" normalizeH="0" baseline="0" noProof="1">
                <a:solidFill>
                  <a:schemeClr val="tx1"/>
                </a:solidFill>
                <a:latin typeface="+mn-lt"/>
                <a:ea typeface="+mn-ea"/>
                <a:cs typeface="+mn-ea"/>
              </a:rPr>
              <a:t>      3．存储容量</a:t>
            </a:r>
          </a:p>
          <a:p>
            <a:pPr marL="742950" marR="0" lvl="1" indent="-285750" algn="just" defTabSz="914400" rtl="0" eaLnBrk="0" fontAlgn="base" latinLnBrk="0" hangingPunct="0">
              <a:lnSpc>
                <a:spcPts val="3200"/>
              </a:lnSpc>
              <a:spcBef>
                <a:spcPct val="20000"/>
              </a:spcBef>
              <a:spcAft>
                <a:spcPct val="0"/>
              </a:spcAft>
              <a:buClr>
                <a:schemeClr val="accent2"/>
              </a:buClr>
              <a:buSzPct val="70000"/>
              <a:buFont typeface="Wingdings" panose="05000000000000000000" pitchFamily="2" charset="2"/>
              <a:buNone/>
            </a:pPr>
            <a:r>
              <a:rPr kumimoji="0" sz="2055" b="1" i="0" u="none" strike="noStrike" kern="0" cap="none" spc="0" normalizeH="0" baseline="0" noProof="1">
                <a:solidFill>
                  <a:schemeClr val="tx1"/>
                </a:solidFill>
                <a:latin typeface="+mn-lt"/>
                <a:ea typeface="+mn-ea"/>
                <a:cs typeface="+mn-ea"/>
              </a:rPr>
              <a:t>      4．指令系统</a:t>
            </a:r>
          </a:p>
          <a:p>
            <a:pPr marL="742950" marR="0" lvl="1" indent="-285750" algn="just" defTabSz="914400" rtl="0" eaLnBrk="0" fontAlgn="base" latinLnBrk="0" hangingPunct="0">
              <a:lnSpc>
                <a:spcPts val="3200"/>
              </a:lnSpc>
              <a:spcBef>
                <a:spcPct val="20000"/>
              </a:spcBef>
              <a:spcAft>
                <a:spcPct val="0"/>
              </a:spcAft>
              <a:buClr>
                <a:schemeClr val="accent2"/>
              </a:buClr>
              <a:buSzPct val="70000"/>
              <a:buFont typeface="Wingdings" panose="05000000000000000000" pitchFamily="2" charset="2"/>
              <a:buNone/>
            </a:pPr>
            <a:r>
              <a:rPr kumimoji="0" sz="2055" b="1" i="0" u="none" strike="noStrike" kern="0" cap="none" spc="0" normalizeH="0" baseline="0" noProof="1">
                <a:solidFill>
                  <a:schemeClr val="tx1"/>
                </a:solidFill>
                <a:latin typeface="+mn-lt"/>
                <a:ea typeface="+mn-ea"/>
                <a:cs typeface="+mn-ea"/>
              </a:rPr>
              <a:t>      5．内核数目</a:t>
            </a:r>
          </a:p>
          <a:p>
            <a:pPr marL="742950" marR="0" lvl="1" indent="-285750" algn="just" defTabSz="914400" rtl="0" eaLnBrk="0" fontAlgn="base" latinLnBrk="0" hangingPunct="0">
              <a:lnSpc>
                <a:spcPts val="3200"/>
              </a:lnSpc>
              <a:spcBef>
                <a:spcPct val="20000"/>
              </a:spcBef>
              <a:spcAft>
                <a:spcPct val="0"/>
              </a:spcAft>
              <a:buClr>
                <a:schemeClr val="accent2"/>
              </a:buClr>
              <a:buSzPct val="70000"/>
              <a:buFont typeface="Wingdings" panose="05000000000000000000" pitchFamily="2" charset="2"/>
              <a:buNone/>
            </a:pPr>
            <a:r>
              <a:rPr kumimoji="0" sz="2055" b="1" i="0" u="none" strike="noStrike" kern="0" cap="none" spc="0" normalizeH="0" baseline="0" noProof="1">
                <a:solidFill>
                  <a:schemeClr val="tx1"/>
                </a:solidFill>
                <a:latin typeface="+mn-lt"/>
                <a:ea typeface="+mn-ea"/>
                <a:cs typeface="+mn-ea"/>
              </a:rPr>
              <a:t>      6．高速缓存</a:t>
            </a:r>
          </a:p>
          <a:p>
            <a:pPr marL="742950" marR="0" lvl="1" indent="-285750" algn="just" defTabSz="914400" rtl="0" eaLnBrk="0" fontAlgn="base" latinLnBrk="0" hangingPunct="0">
              <a:lnSpc>
                <a:spcPts val="3200"/>
              </a:lnSpc>
              <a:spcBef>
                <a:spcPct val="20000"/>
              </a:spcBef>
              <a:spcAft>
                <a:spcPct val="0"/>
              </a:spcAft>
              <a:buClr>
                <a:schemeClr val="accent2"/>
              </a:buClr>
              <a:buSzPct val="70000"/>
              <a:buFont typeface="Wingdings" panose="05000000000000000000" pitchFamily="2" charset="2"/>
              <a:buNone/>
            </a:pPr>
            <a:r>
              <a:rPr kumimoji="0" sz="2055" b="1" i="0" u="none" strike="noStrike" kern="0" cap="none" spc="0" normalizeH="0" baseline="0" noProof="1">
                <a:solidFill>
                  <a:schemeClr val="tx1"/>
                </a:solidFill>
                <a:latin typeface="+mn-lt"/>
                <a:ea typeface="+mn-ea"/>
                <a:cs typeface="+mn-ea"/>
              </a:rPr>
              <a:t>      7．总线性能</a:t>
            </a:r>
          </a:p>
          <a:p>
            <a:pPr marL="742950" marR="0" lvl="1" indent="-285750" algn="just" defTabSz="914400" rtl="0" eaLnBrk="0" fontAlgn="base" latinLnBrk="0" hangingPunct="0">
              <a:lnSpc>
                <a:spcPts val="3200"/>
              </a:lnSpc>
              <a:spcBef>
                <a:spcPct val="20000"/>
              </a:spcBef>
              <a:spcAft>
                <a:spcPct val="0"/>
              </a:spcAft>
              <a:buClr>
                <a:schemeClr val="accent2"/>
              </a:buClr>
              <a:buSzPct val="70000"/>
              <a:buFont typeface="Wingdings" panose="05000000000000000000" pitchFamily="2" charset="2"/>
              <a:buNone/>
            </a:pPr>
            <a:r>
              <a:rPr kumimoji="0" sz="2055" b="1" i="0" u="none" strike="noStrike" kern="0" cap="none" spc="0" normalizeH="0" baseline="0" noProof="1">
                <a:solidFill>
                  <a:schemeClr val="tx1"/>
                </a:solidFill>
                <a:latin typeface="+mn-lt"/>
                <a:ea typeface="+mn-ea"/>
                <a:cs typeface="+mn-ea"/>
              </a:rPr>
              <a:t>      8．系统配置</a:t>
            </a:r>
            <a:endParaRPr kumimoji="0" lang="zh-CN" altLang="en-US" sz="2400" b="1" i="0" u="none" strike="noStrike" kern="0" cap="none" spc="0" normalizeH="0" baseline="0" noProof="1">
              <a:solidFill>
                <a:schemeClr val="tx1"/>
              </a:solidFill>
              <a:latin typeface="+mn-lt"/>
              <a:ea typeface="+mn-ea"/>
              <a:cs typeface="+mn-ea"/>
            </a:endParaRPr>
          </a:p>
        </p:txBody>
      </p:sp>
    </p:spTree>
  </p:cSld>
  <p:clrMapOvr>
    <a:masterClrMapping/>
  </p:clrMapOvr>
  <p:transition spd="med">
    <p:random/>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rPr>
              <a:t>微型计算机的性能指标</a:t>
            </a:r>
          </a:p>
        </p:txBody>
      </p:sp>
      <p:sp>
        <p:nvSpPr>
          <p:cNvPr id="33794" name="内容占位符 2"/>
          <p:cNvSpPr>
            <a:spLocks noGrp="1"/>
          </p:cNvSpPr>
          <p:nvPr>
            <p:ph idx="4294967295"/>
          </p:nvPr>
        </p:nvSpPr>
        <p:spPr>
          <a:xfrm>
            <a:off x="266700" y="1173163"/>
            <a:ext cx="8593138" cy="5588000"/>
          </a:xfrm>
          <a:solidFill>
            <a:schemeClr val="tx1"/>
          </a:solidFill>
          <a:ln/>
        </p:spPr>
        <p:txBody>
          <a:bodyPr wrap="square" lIns="92075" tIns="46038" rIns="92075" bIns="46038" anchor="t" anchorCtr="0"/>
          <a:lstStyle/>
          <a:p>
            <a:pPr algn="just">
              <a:lnSpc>
                <a:spcPts val="3200"/>
              </a:lnSpc>
              <a:buNone/>
            </a:pPr>
            <a:r>
              <a:rPr lang="en-US" altLang="en-US" sz="2400"/>
              <a:t>  </a:t>
            </a:r>
            <a:endParaRPr lang="zh-CN" altLang="en-US" sz="2400"/>
          </a:p>
        </p:txBody>
      </p:sp>
      <p:sp>
        <p:nvSpPr>
          <p:cNvPr id="33795" name="Rectangle 2"/>
          <p:cNvSpPr>
            <a:spLocks noGrp="1"/>
          </p:cNvSpPr>
          <p:nvPr/>
        </p:nvSpPr>
        <p:spPr>
          <a:xfrm>
            <a:off x="914400" y="847725"/>
            <a:ext cx="7772400" cy="1143000"/>
          </a:xfrm>
          <a:prstGeom prst="rect">
            <a:avLst/>
          </a:prstGeom>
          <a:noFill/>
          <a:ln w="9525">
            <a:noFill/>
          </a:ln>
        </p:spPr>
        <p:txBody>
          <a:bodyPr wrap="square" lIns="91440" tIns="45720" rIns="91440" bIns="91440" anchor="b" anchorCtr="0"/>
          <a:lstStyle/>
          <a:p>
            <a:pPr marL="609600" indent="-609600" eaLnBrk="0" hangingPunct="0">
              <a:spcBef>
                <a:spcPct val="0"/>
              </a:spcBef>
            </a:pPr>
            <a:r>
              <a:rPr lang="zh-CN" altLang="en-US" sz="2800" dirty="0">
                <a:solidFill>
                  <a:srgbClr val="000000"/>
                </a:solidFill>
                <a:latin typeface="宋体" panose="02010600030101010101" pitchFamily="2" charset="-122"/>
                <a:ea typeface="宋体" panose="02010600030101010101" pitchFamily="2" charset="-122"/>
              </a:rPr>
              <a:t>微型计算机系统的启动过程</a:t>
            </a:r>
          </a:p>
        </p:txBody>
      </p:sp>
      <p:pic>
        <p:nvPicPr>
          <p:cNvPr id="33796" name="Picture 4"/>
          <p:cNvPicPr>
            <a:picLocks noChangeAspect="1"/>
          </p:cNvPicPr>
          <p:nvPr/>
        </p:nvPicPr>
        <p:blipFill>
          <a:blip r:embed="rId3"/>
          <a:stretch>
            <a:fillRect/>
          </a:stretch>
        </p:blipFill>
        <p:spPr>
          <a:xfrm>
            <a:off x="4862513" y="4775200"/>
            <a:ext cx="1852612" cy="1406525"/>
          </a:xfrm>
          <a:prstGeom prst="rect">
            <a:avLst/>
          </a:prstGeom>
          <a:noFill/>
          <a:ln w="9525">
            <a:noFill/>
          </a:ln>
        </p:spPr>
      </p:pic>
      <p:pic>
        <p:nvPicPr>
          <p:cNvPr id="33797" name="Picture 5" descr="http://homepage3.nifty.com/ZAN10566/image/bios_rom.jpg"/>
          <p:cNvPicPr>
            <a:picLocks noChangeAspect="1"/>
          </p:cNvPicPr>
          <p:nvPr/>
        </p:nvPicPr>
        <p:blipFill>
          <a:blip r:embed="rId4" r:link="rId5"/>
          <a:stretch>
            <a:fillRect/>
          </a:stretch>
        </p:blipFill>
        <p:spPr>
          <a:xfrm>
            <a:off x="1584325" y="5207000"/>
            <a:ext cx="876300" cy="862013"/>
          </a:xfrm>
          <a:prstGeom prst="rect">
            <a:avLst/>
          </a:prstGeom>
          <a:noFill/>
          <a:ln w="9525">
            <a:noFill/>
          </a:ln>
        </p:spPr>
      </p:pic>
      <p:graphicFrame>
        <p:nvGraphicFramePr>
          <p:cNvPr id="33798" name="Object 2"/>
          <p:cNvGraphicFramePr>
            <a:graphicFrameLocks noChangeAspect="1"/>
          </p:cNvGraphicFramePr>
          <p:nvPr/>
        </p:nvGraphicFramePr>
        <p:xfrm>
          <a:off x="4456113" y="2251075"/>
          <a:ext cx="2568575" cy="657225"/>
        </p:xfrm>
        <a:graphic>
          <a:graphicData uri="http://schemas.openxmlformats.org/presentationml/2006/ole">
            <mc:AlternateContent xmlns:mc="http://schemas.openxmlformats.org/markup-compatibility/2006">
              <mc:Choice xmlns:v="urn:schemas-microsoft-com:vml" Requires="v">
                <p:oleObj spid="_x0000_s5126" r:id="rId6" imgW="2849880" imgH="723900" progId="">
                  <p:embed/>
                </p:oleObj>
              </mc:Choice>
              <mc:Fallback>
                <p:oleObj r:id="rId6" imgW="2849880" imgH="723900" progId="">
                  <p:embed/>
                  <p:pic>
                    <p:nvPicPr>
                      <p:cNvPr id="0" name="图片 3080"/>
                      <p:cNvPicPr/>
                      <p:nvPr/>
                    </p:nvPicPr>
                    <p:blipFill>
                      <a:blip r:embed="rId7"/>
                      <a:stretch>
                        <a:fillRect/>
                      </a:stretch>
                    </p:blipFill>
                    <p:spPr>
                      <a:xfrm>
                        <a:off x="4456113" y="2251075"/>
                        <a:ext cx="2568575" cy="657225"/>
                      </a:xfrm>
                      <a:prstGeom prst="rect">
                        <a:avLst/>
                      </a:prstGeom>
                      <a:noFill/>
                      <a:ln w="38100">
                        <a:noFill/>
                        <a:miter/>
                      </a:ln>
                    </p:spPr>
                  </p:pic>
                </p:oleObj>
              </mc:Fallback>
            </mc:AlternateContent>
          </a:graphicData>
        </a:graphic>
      </p:graphicFrame>
      <p:sp>
        <p:nvSpPr>
          <p:cNvPr id="33799" name="Text Box 7"/>
          <p:cNvSpPr txBox="1"/>
          <p:nvPr/>
        </p:nvSpPr>
        <p:spPr>
          <a:xfrm>
            <a:off x="360363" y="5264150"/>
            <a:ext cx="1444625" cy="808038"/>
          </a:xfrm>
          <a:prstGeom prst="rect">
            <a:avLst/>
          </a:prstGeom>
          <a:noFill/>
          <a:ln w="9525">
            <a:noFill/>
          </a:ln>
        </p:spPr>
        <p:txBody>
          <a:bodyPr lIns="90774" tIns="45390" rIns="90774" bIns="45390" anchor="t" anchorCtr="0"/>
          <a:lstStyle/>
          <a:p>
            <a:pPr algn="ctr">
              <a:lnSpc>
                <a:spcPct val="80000"/>
              </a:lnSpc>
            </a:pPr>
            <a:r>
              <a:rPr lang="en-US" altLang="zh-CN" dirty="0">
                <a:latin typeface="Times New Roman" panose="02020603050405020304" pitchFamily="18" charset="0"/>
                <a:ea typeface="宋体" panose="02010600030101010101" pitchFamily="2" charset="-122"/>
              </a:rPr>
              <a:t>ROM</a:t>
            </a:r>
          </a:p>
          <a:p>
            <a:pPr algn="ctr">
              <a:lnSpc>
                <a:spcPct val="80000"/>
              </a:lnSpc>
            </a:pPr>
            <a:r>
              <a:rPr lang="en-US" altLang="zh-CN" dirty="0">
                <a:latin typeface="Times New Roman" panose="02020603050405020304" pitchFamily="18" charset="0"/>
                <a:ea typeface="宋体" panose="02010600030101010101" pitchFamily="2" charset="-122"/>
              </a:rPr>
              <a:t>BIOS</a:t>
            </a:r>
            <a:endParaRPr lang="en-US" altLang="zh-CN" sz="4300" dirty="0">
              <a:latin typeface="Arial" panose="020B0604020202020204" pitchFamily="34" charset="0"/>
              <a:ea typeface="宋体" panose="02010600030101010101" pitchFamily="2" charset="-122"/>
            </a:endParaRPr>
          </a:p>
        </p:txBody>
      </p:sp>
      <p:grpSp>
        <p:nvGrpSpPr>
          <p:cNvPr id="33800" name="Group 8"/>
          <p:cNvGrpSpPr/>
          <p:nvPr/>
        </p:nvGrpSpPr>
        <p:grpSpPr>
          <a:xfrm>
            <a:off x="1176338" y="2122488"/>
            <a:ext cx="1441450" cy="954087"/>
            <a:chOff x="2128" y="2049"/>
            <a:chExt cx="804" cy="531"/>
          </a:xfrm>
        </p:grpSpPr>
        <p:sp>
          <p:nvSpPr>
            <p:cNvPr id="33801" name="AutoShape 9"/>
            <p:cNvSpPr/>
            <p:nvPr/>
          </p:nvSpPr>
          <p:spPr>
            <a:xfrm>
              <a:off x="2206" y="2049"/>
              <a:ext cx="638" cy="470"/>
            </a:xfrm>
            <a:prstGeom prst="can">
              <a:avLst>
                <a:gd name="adj" fmla="val 25000"/>
              </a:avLst>
            </a:prstGeom>
            <a:solidFill>
              <a:srgbClr val="FF99CC"/>
            </a:solidFill>
            <a:ln w="9525" cap="flat" cmpd="sng">
              <a:solidFill>
                <a:srgbClr val="000000"/>
              </a:solidFill>
              <a:prstDash val="solid"/>
              <a:round/>
              <a:headEnd type="none" w="med" len="med"/>
              <a:tailEnd type="none" w="med" len="med"/>
            </a:ln>
          </p:spPr>
          <p:txBody>
            <a:bodyPr anchor="t" anchorCtr="0"/>
            <a:lstStyle/>
            <a:p>
              <a:endParaRPr lang="zh-CN" altLang="en-US" dirty="0">
                <a:latin typeface="Arial" panose="020B0604020202020204" pitchFamily="34" charset="0"/>
                <a:ea typeface="宋体" panose="02010600030101010101" pitchFamily="2" charset="-122"/>
              </a:endParaRPr>
            </a:p>
          </p:txBody>
        </p:sp>
        <p:sp>
          <p:nvSpPr>
            <p:cNvPr id="33802" name="Text Box 10"/>
            <p:cNvSpPr txBox="1"/>
            <p:nvPr/>
          </p:nvSpPr>
          <p:spPr>
            <a:xfrm>
              <a:off x="2128" y="2118"/>
              <a:ext cx="804" cy="462"/>
            </a:xfrm>
            <a:prstGeom prst="rect">
              <a:avLst/>
            </a:prstGeom>
            <a:noFill/>
            <a:ln w="9525">
              <a:noFill/>
            </a:ln>
          </p:spPr>
          <p:txBody>
            <a:bodyPr lIns="90774" tIns="45390" rIns="90774" bIns="45390" anchor="t" anchorCtr="0"/>
            <a:lstStyle/>
            <a:p>
              <a:pPr algn="ctr">
                <a:lnSpc>
                  <a:spcPct val="140000"/>
                </a:lnSpc>
              </a:pPr>
              <a:r>
                <a:rPr lang="zh-CN" altLang="en-US" dirty="0">
                  <a:latin typeface="Times New Roman" panose="02020603050405020304" pitchFamily="18" charset="0"/>
                  <a:ea typeface="宋体" panose="02010600030101010101" pitchFamily="2" charset="-122"/>
                </a:rPr>
                <a:t>硬 盘</a:t>
              </a:r>
              <a:endParaRPr lang="zh-CN" altLang="en-US" sz="4300" dirty="0">
                <a:latin typeface="Arial" panose="020B0604020202020204" pitchFamily="34" charset="0"/>
                <a:ea typeface="宋体" panose="02010600030101010101" pitchFamily="2" charset="-122"/>
              </a:endParaRPr>
            </a:p>
          </p:txBody>
        </p:sp>
      </p:grpSp>
      <p:sp>
        <p:nvSpPr>
          <p:cNvPr id="33803" name="Text Box 11"/>
          <p:cNvSpPr txBox="1"/>
          <p:nvPr/>
        </p:nvSpPr>
        <p:spPr>
          <a:xfrm>
            <a:off x="5100638" y="1857375"/>
            <a:ext cx="1441450" cy="541338"/>
          </a:xfrm>
          <a:prstGeom prst="rect">
            <a:avLst/>
          </a:prstGeom>
          <a:noFill/>
          <a:ln w="9525">
            <a:noFill/>
          </a:ln>
        </p:spPr>
        <p:txBody>
          <a:bodyPr lIns="90774" tIns="45390" rIns="90774" bIns="45390" anchor="t" anchorCtr="0"/>
          <a:lstStyle/>
          <a:p>
            <a:pPr algn="ctr"/>
            <a:r>
              <a:rPr lang="en-US" altLang="zh-CN" dirty="0">
                <a:latin typeface="Times New Roman" panose="02020603050405020304" pitchFamily="18" charset="0"/>
                <a:ea typeface="宋体" panose="02010600030101010101" pitchFamily="2" charset="-122"/>
              </a:rPr>
              <a:t>RAM</a:t>
            </a:r>
            <a:endParaRPr lang="en-US" altLang="zh-CN" sz="4300" dirty="0">
              <a:latin typeface="Arial" panose="020B0604020202020204" pitchFamily="34" charset="0"/>
              <a:ea typeface="宋体" panose="02010600030101010101" pitchFamily="2" charset="-122"/>
            </a:endParaRPr>
          </a:p>
        </p:txBody>
      </p:sp>
      <p:grpSp>
        <p:nvGrpSpPr>
          <p:cNvPr id="3" name="Group 12"/>
          <p:cNvGrpSpPr/>
          <p:nvPr/>
        </p:nvGrpSpPr>
        <p:grpSpPr>
          <a:xfrm>
            <a:off x="2414588" y="5135563"/>
            <a:ext cx="2662237" cy="490537"/>
            <a:chOff x="2041" y="3294"/>
            <a:chExt cx="1678" cy="309"/>
          </a:xfrm>
        </p:grpSpPr>
        <p:sp>
          <p:nvSpPr>
            <p:cNvPr id="33805" name="Line 13"/>
            <p:cNvSpPr/>
            <p:nvPr/>
          </p:nvSpPr>
          <p:spPr>
            <a:xfrm flipH="1">
              <a:off x="2041" y="3543"/>
              <a:ext cx="1678" cy="0"/>
            </a:xfrm>
            <a:prstGeom prst="line">
              <a:avLst/>
            </a:prstGeom>
            <a:ln w="28575" cap="flat" cmpd="sng">
              <a:solidFill>
                <a:srgbClr val="0000FF"/>
              </a:solidFill>
              <a:prstDash val="solid"/>
              <a:round/>
              <a:headEnd type="none" w="med" len="med"/>
              <a:tailEnd type="triangle" w="med" len="med"/>
            </a:ln>
          </p:spPr>
        </p:sp>
        <p:sp>
          <p:nvSpPr>
            <p:cNvPr id="33806" name="Text Box 14"/>
            <p:cNvSpPr txBox="1"/>
            <p:nvPr/>
          </p:nvSpPr>
          <p:spPr>
            <a:xfrm>
              <a:off x="2064" y="3294"/>
              <a:ext cx="1566" cy="309"/>
            </a:xfrm>
            <a:prstGeom prst="rect">
              <a:avLst/>
            </a:prstGeom>
            <a:noFill/>
            <a:ln w="9525">
              <a:noFill/>
            </a:ln>
          </p:spPr>
          <p:txBody>
            <a:bodyPr lIns="90774" tIns="45390" rIns="90774" bIns="45390" anchor="t" anchorCtr="0"/>
            <a:lstStyle/>
            <a:p>
              <a:pPr algn="ctr"/>
              <a:r>
                <a:rPr lang="en-US" altLang="zh-CN" sz="2000" dirty="0">
                  <a:solidFill>
                    <a:srgbClr val="0000FF"/>
                  </a:solidFill>
                  <a:latin typeface="Arial" panose="020B0604020202020204" pitchFamily="34" charset="0"/>
                  <a:ea typeface="宋体" panose="02010600030101010101" pitchFamily="2" charset="-122"/>
                </a:rPr>
                <a:t>② </a:t>
              </a:r>
              <a:r>
                <a:rPr lang="zh-CN" altLang="en-US" sz="2000" dirty="0">
                  <a:solidFill>
                    <a:srgbClr val="0000FF"/>
                  </a:solidFill>
                  <a:latin typeface="Times New Roman" panose="02020603050405020304" pitchFamily="18" charset="0"/>
                  <a:ea typeface="宋体" panose="02010600030101010101" pitchFamily="2" charset="-122"/>
                </a:rPr>
                <a:t>执行自举程序</a:t>
              </a:r>
            </a:p>
          </p:txBody>
        </p:sp>
      </p:grpSp>
      <p:grpSp>
        <p:nvGrpSpPr>
          <p:cNvPr id="4" name="Group 15"/>
          <p:cNvGrpSpPr/>
          <p:nvPr/>
        </p:nvGrpSpPr>
        <p:grpSpPr>
          <a:xfrm>
            <a:off x="5076825" y="2795588"/>
            <a:ext cx="612775" cy="2346325"/>
            <a:chOff x="3719" y="1820"/>
            <a:chExt cx="386" cy="1478"/>
          </a:xfrm>
        </p:grpSpPr>
        <p:sp>
          <p:nvSpPr>
            <p:cNvPr id="33808" name="Text Box 16"/>
            <p:cNvSpPr txBox="1"/>
            <p:nvPr/>
          </p:nvSpPr>
          <p:spPr>
            <a:xfrm>
              <a:off x="3719" y="1820"/>
              <a:ext cx="386" cy="1384"/>
            </a:xfrm>
            <a:prstGeom prst="rect">
              <a:avLst/>
            </a:prstGeom>
            <a:noFill/>
            <a:ln w="9525">
              <a:noFill/>
            </a:ln>
          </p:spPr>
          <p:txBody>
            <a:bodyPr lIns="90774" tIns="45390" rIns="90774" bIns="45390" anchor="t" anchorCtr="0"/>
            <a:lstStyle/>
            <a:p>
              <a:pPr algn="ctr">
                <a:lnSpc>
                  <a:spcPct val="112000"/>
                </a:lnSpc>
              </a:pPr>
              <a:r>
                <a:rPr lang="en-US" altLang="zh-CN" sz="1800" dirty="0">
                  <a:solidFill>
                    <a:srgbClr val="FFC000"/>
                  </a:solidFill>
                  <a:latin typeface="Arial" panose="020B0604020202020204" pitchFamily="34" charset="0"/>
                  <a:ea typeface="宋体" panose="02010600030101010101" pitchFamily="2" charset="-122"/>
                </a:rPr>
                <a:t>⑥</a:t>
              </a:r>
              <a:r>
                <a:rPr lang="zh-CN" altLang="en-US" sz="1800" dirty="0">
                  <a:solidFill>
                    <a:srgbClr val="FFC000"/>
                  </a:solidFill>
                  <a:latin typeface="Times New Roman" panose="02020603050405020304" pitchFamily="18" charset="0"/>
                  <a:ea typeface="宋体" panose="02010600030101010101" pitchFamily="2" charset="-122"/>
                </a:rPr>
                <a:t>执行</a:t>
              </a:r>
            </a:p>
            <a:p>
              <a:pPr algn="ctr">
                <a:lnSpc>
                  <a:spcPct val="112000"/>
                </a:lnSpc>
              </a:pPr>
              <a:r>
                <a:rPr lang="zh-CN" altLang="en-US" sz="1800" dirty="0">
                  <a:solidFill>
                    <a:srgbClr val="FFC000"/>
                  </a:solidFill>
                  <a:latin typeface="Times New Roman" panose="02020603050405020304" pitchFamily="18" charset="0"/>
                  <a:ea typeface="宋体" panose="02010600030101010101" pitchFamily="2" charset="-122"/>
                </a:rPr>
                <a:t>引导</a:t>
              </a:r>
            </a:p>
            <a:p>
              <a:pPr algn="ctr">
                <a:lnSpc>
                  <a:spcPct val="112000"/>
                </a:lnSpc>
              </a:pPr>
              <a:r>
                <a:rPr lang="zh-CN" altLang="en-US" sz="1800" dirty="0">
                  <a:solidFill>
                    <a:srgbClr val="FFC000"/>
                  </a:solidFill>
                  <a:latin typeface="Times New Roman" panose="02020603050405020304" pitchFamily="18" charset="0"/>
                  <a:ea typeface="宋体" panose="02010600030101010101" pitchFamily="2" charset="-122"/>
                </a:rPr>
                <a:t>程序</a:t>
              </a:r>
            </a:p>
          </p:txBody>
        </p:sp>
        <p:sp>
          <p:nvSpPr>
            <p:cNvPr id="33809" name="Line 17"/>
            <p:cNvSpPr/>
            <p:nvPr/>
          </p:nvSpPr>
          <p:spPr>
            <a:xfrm flipV="1">
              <a:off x="4026" y="1837"/>
              <a:ext cx="0" cy="1461"/>
            </a:xfrm>
            <a:prstGeom prst="line">
              <a:avLst/>
            </a:prstGeom>
            <a:ln w="28575" cap="flat" cmpd="sng">
              <a:solidFill>
                <a:schemeClr val="accent1"/>
              </a:solidFill>
              <a:prstDash val="solid"/>
              <a:round/>
              <a:headEnd type="none" w="med" len="med"/>
              <a:tailEnd type="triangle" w="med" len="med"/>
            </a:ln>
          </p:spPr>
        </p:sp>
      </p:grpSp>
      <p:grpSp>
        <p:nvGrpSpPr>
          <p:cNvPr id="5" name="Group 18"/>
          <p:cNvGrpSpPr/>
          <p:nvPr/>
        </p:nvGrpSpPr>
        <p:grpSpPr>
          <a:xfrm>
            <a:off x="2062163" y="2936875"/>
            <a:ext cx="3146425" cy="2205038"/>
            <a:chOff x="1819" y="1909"/>
            <a:chExt cx="1983" cy="1389"/>
          </a:xfrm>
        </p:grpSpPr>
        <p:sp>
          <p:nvSpPr>
            <p:cNvPr id="33811" name="Line 19"/>
            <p:cNvSpPr/>
            <p:nvPr/>
          </p:nvSpPr>
          <p:spPr>
            <a:xfrm flipH="1" flipV="1">
              <a:off x="2016" y="1909"/>
              <a:ext cx="1786" cy="1389"/>
            </a:xfrm>
            <a:prstGeom prst="line">
              <a:avLst/>
            </a:prstGeom>
            <a:ln w="28575" cap="flat" cmpd="sng">
              <a:solidFill>
                <a:srgbClr val="0000FF"/>
              </a:solidFill>
              <a:prstDash val="solid"/>
              <a:round/>
              <a:headEnd type="none" w="med" len="med"/>
              <a:tailEnd type="triangle" w="med" len="med"/>
            </a:ln>
          </p:spPr>
        </p:sp>
        <p:grpSp>
          <p:nvGrpSpPr>
            <p:cNvPr id="33812" name="Group 20"/>
            <p:cNvGrpSpPr/>
            <p:nvPr/>
          </p:nvGrpSpPr>
          <p:grpSpPr>
            <a:xfrm>
              <a:off x="1819" y="1978"/>
              <a:ext cx="1787" cy="1248"/>
              <a:chOff x="1724" y="1865"/>
              <a:chExt cx="1787" cy="1248"/>
            </a:xfrm>
          </p:grpSpPr>
          <p:sp>
            <p:nvSpPr>
              <p:cNvPr id="33813" name="Text Box 21"/>
              <p:cNvSpPr txBox="1"/>
              <p:nvPr/>
            </p:nvSpPr>
            <p:spPr>
              <a:xfrm>
                <a:off x="2862" y="2877"/>
                <a:ext cx="649" cy="236"/>
              </a:xfrm>
              <a:prstGeom prst="rect">
                <a:avLst/>
              </a:prstGeom>
              <a:noFill/>
              <a:ln w="9525">
                <a:noFill/>
              </a:ln>
            </p:spPr>
            <p:txBody>
              <a:bodyPr lIns="90774" tIns="45390" rIns="90774" bIns="45390" anchor="t" anchorCtr="0"/>
              <a:lstStyle/>
              <a:p>
                <a:pPr algn="ctr">
                  <a:lnSpc>
                    <a:spcPct val="72000"/>
                  </a:lnSpc>
                </a:pPr>
                <a:r>
                  <a:rPr lang="zh-CN" altLang="en-US" dirty="0">
                    <a:solidFill>
                      <a:srgbClr val="0000FF"/>
                    </a:solidFill>
                    <a:latin typeface="Times New Roman" panose="02020603050405020304" pitchFamily="18" charset="0"/>
                    <a:ea typeface="宋体" panose="02010600030101010101" pitchFamily="2" charset="-122"/>
                  </a:rPr>
                  <a:t>序</a:t>
                </a:r>
                <a:endParaRPr lang="zh-CN" altLang="en-US" sz="4300" dirty="0">
                  <a:solidFill>
                    <a:srgbClr val="0000FF"/>
                  </a:solidFill>
                  <a:latin typeface="Arial" panose="020B0604020202020204" pitchFamily="34" charset="0"/>
                  <a:ea typeface="宋体" panose="02010600030101010101" pitchFamily="2" charset="-122"/>
                </a:endParaRPr>
              </a:p>
            </p:txBody>
          </p:sp>
          <p:grpSp>
            <p:nvGrpSpPr>
              <p:cNvPr id="33814" name="Group 22"/>
              <p:cNvGrpSpPr/>
              <p:nvPr/>
            </p:nvGrpSpPr>
            <p:grpSpPr>
              <a:xfrm>
                <a:off x="1724" y="1865"/>
                <a:ext cx="1558" cy="1225"/>
                <a:chOff x="1724" y="1879"/>
                <a:chExt cx="1558" cy="1225"/>
              </a:xfrm>
            </p:grpSpPr>
            <p:sp>
              <p:nvSpPr>
                <p:cNvPr id="33815" name="Text Box 23"/>
                <p:cNvSpPr txBox="1"/>
                <p:nvPr/>
              </p:nvSpPr>
              <p:spPr>
                <a:xfrm>
                  <a:off x="1820" y="2093"/>
                  <a:ext cx="711" cy="452"/>
                </a:xfrm>
                <a:prstGeom prst="rect">
                  <a:avLst/>
                </a:prstGeom>
                <a:noFill/>
                <a:ln w="9525">
                  <a:noFill/>
                </a:ln>
              </p:spPr>
              <p:txBody>
                <a:bodyPr lIns="90774" tIns="45390" rIns="90774" bIns="45390" anchor="t" anchorCtr="0"/>
                <a:lstStyle/>
                <a:p>
                  <a:pPr algn="ctr">
                    <a:lnSpc>
                      <a:spcPct val="72000"/>
                    </a:lnSpc>
                  </a:pPr>
                  <a:r>
                    <a:rPr lang="zh-CN" altLang="en-US" dirty="0">
                      <a:solidFill>
                        <a:srgbClr val="0000FF"/>
                      </a:solidFill>
                      <a:latin typeface="Times New Roman" panose="02020603050405020304" pitchFamily="18" charset="0"/>
                      <a:ea typeface="宋体" panose="02010600030101010101" pitchFamily="2" charset="-122"/>
                    </a:rPr>
                    <a:t>读</a:t>
                  </a:r>
                  <a:endParaRPr lang="zh-CN" altLang="en-US" sz="4300" dirty="0">
                    <a:solidFill>
                      <a:srgbClr val="0000FF"/>
                    </a:solidFill>
                    <a:latin typeface="Arial" panose="020B0604020202020204" pitchFamily="34" charset="0"/>
                    <a:ea typeface="宋体" panose="02010600030101010101" pitchFamily="2" charset="-122"/>
                  </a:endParaRPr>
                </a:p>
              </p:txBody>
            </p:sp>
            <p:sp>
              <p:nvSpPr>
                <p:cNvPr id="33816" name="Text Box 24"/>
                <p:cNvSpPr txBox="1"/>
                <p:nvPr/>
              </p:nvSpPr>
              <p:spPr>
                <a:xfrm>
                  <a:off x="1985" y="2247"/>
                  <a:ext cx="712" cy="407"/>
                </a:xfrm>
                <a:prstGeom prst="rect">
                  <a:avLst/>
                </a:prstGeom>
                <a:noFill/>
                <a:ln w="9525">
                  <a:noFill/>
                </a:ln>
              </p:spPr>
              <p:txBody>
                <a:bodyPr lIns="90774" tIns="45390" rIns="90774" bIns="45390" anchor="t" anchorCtr="0"/>
                <a:lstStyle/>
                <a:p>
                  <a:pPr algn="ctr">
                    <a:lnSpc>
                      <a:spcPct val="72000"/>
                    </a:lnSpc>
                  </a:pPr>
                  <a:r>
                    <a:rPr lang="zh-CN" altLang="en-US" dirty="0">
                      <a:solidFill>
                        <a:srgbClr val="0000FF"/>
                      </a:solidFill>
                      <a:latin typeface="Times New Roman" panose="02020603050405020304" pitchFamily="18" charset="0"/>
                      <a:ea typeface="宋体" panose="02010600030101010101" pitchFamily="2" charset="-122"/>
                    </a:rPr>
                    <a:t>出</a:t>
                  </a:r>
                  <a:endParaRPr lang="zh-CN" altLang="en-US" sz="4300" dirty="0">
                    <a:solidFill>
                      <a:srgbClr val="0000FF"/>
                    </a:solidFill>
                    <a:latin typeface="Arial" panose="020B0604020202020204" pitchFamily="34" charset="0"/>
                    <a:ea typeface="宋体" panose="02010600030101010101" pitchFamily="2" charset="-122"/>
                  </a:endParaRPr>
                </a:p>
              </p:txBody>
            </p:sp>
            <p:sp>
              <p:nvSpPr>
                <p:cNvPr id="33817" name="Text Box 25"/>
                <p:cNvSpPr txBox="1"/>
                <p:nvPr/>
              </p:nvSpPr>
              <p:spPr>
                <a:xfrm>
                  <a:off x="2198" y="2405"/>
                  <a:ext cx="689" cy="441"/>
                </a:xfrm>
                <a:prstGeom prst="rect">
                  <a:avLst/>
                </a:prstGeom>
                <a:noFill/>
                <a:ln w="9525">
                  <a:noFill/>
                </a:ln>
              </p:spPr>
              <p:txBody>
                <a:bodyPr lIns="90774" tIns="45390" rIns="90774" bIns="45390" anchor="t" anchorCtr="0"/>
                <a:lstStyle/>
                <a:p>
                  <a:pPr algn="ctr">
                    <a:lnSpc>
                      <a:spcPct val="72000"/>
                    </a:lnSpc>
                  </a:pPr>
                  <a:r>
                    <a:rPr lang="zh-CN" altLang="en-US" dirty="0">
                      <a:solidFill>
                        <a:srgbClr val="0000FF"/>
                      </a:solidFill>
                      <a:latin typeface="Times New Roman" panose="02020603050405020304" pitchFamily="18" charset="0"/>
                      <a:ea typeface="宋体" panose="02010600030101010101" pitchFamily="2" charset="-122"/>
                    </a:rPr>
                    <a:t>引</a:t>
                  </a:r>
                  <a:endParaRPr lang="zh-CN" altLang="en-US" sz="4300" dirty="0">
                    <a:solidFill>
                      <a:srgbClr val="0000FF"/>
                    </a:solidFill>
                    <a:latin typeface="Arial" panose="020B0604020202020204" pitchFamily="34" charset="0"/>
                    <a:ea typeface="宋体" panose="02010600030101010101" pitchFamily="2" charset="-122"/>
                  </a:endParaRPr>
                </a:p>
              </p:txBody>
            </p:sp>
            <p:sp>
              <p:nvSpPr>
                <p:cNvPr id="33818" name="Text Box 26"/>
                <p:cNvSpPr txBox="1"/>
                <p:nvPr/>
              </p:nvSpPr>
              <p:spPr>
                <a:xfrm>
                  <a:off x="2376" y="2568"/>
                  <a:ext cx="712" cy="410"/>
                </a:xfrm>
                <a:prstGeom prst="rect">
                  <a:avLst/>
                </a:prstGeom>
                <a:noFill/>
                <a:ln w="9525">
                  <a:noFill/>
                </a:ln>
              </p:spPr>
              <p:txBody>
                <a:bodyPr lIns="90774" tIns="45390" rIns="90774" bIns="45390" anchor="t" anchorCtr="0"/>
                <a:lstStyle/>
                <a:p>
                  <a:pPr algn="ctr">
                    <a:lnSpc>
                      <a:spcPct val="72000"/>
                    </a:lnSpc>
                  </a:pPr>
                  <a:r>
                    <a:rPr lang="zh-CN" altLang="en-US" dirty="0">
                      <a:solidFill>
                        <a:srgbClr val="0000FF"/>
                      </a:solidFill>
                      <a:latin typeface="Times New Roman" panose="02020603050405020304" pitchFamily="18" charset="0"/>
                      <a:ea typeface="宋体" panose="02010600030101010101" pitchFamily="2" charset="-122"/>
                    </a:rPr>
                    <a:t>导</a:t>
                  </a:r>
                  <a:endParaRPr lang="zh-CN" altLang="en-US" sz="4300" dirty="0">
                    <a:solidFill>
                      <a:srgbClr val="0000FF"/>
                    </a:solidFill>
                    <a:latin typeface="Arial" panose="020B0604020202020204" pitchFamily="34" charset="0"/>
                    <a:ea typeface="宋体" panose="02010600030101010101" pitchFamily="2" charset="-122"/>
                  </a:endParaRPr>
                </a:p>
              </p:txBody>
            </p:sp>
            <p:sp>
              <p:nvSpPr>
                <p:cNvPr id="33819" name="Text Box 27"/>
                <p:cNvSpPr txBox="1"/>
                <p:nvPr/>
              </p:nvSpPr>
              <p:spPr>
                <a:xfrm>
                  <a:off x="2629" y="2738"/>
                  <a:ext cx="653" cy="366"/>
                </a:xfrm>
                <a:prstGeom prst="rect">
                  <a:avLst/>
                </a:prstGeom>
                <a:noFill/>
                <a:ln w="9525">
                  <a:noFill/>
                </a:ln>
              </p:spPr>
              <p:txBody>
                <a:bodyPr lIns="90774" tIns="45390" rIns="90774" bIns="45390" anchor="t" anchorCtr="0"/>
                <a:lstStyle/>
                <a:p>
                  <a:pPr algn="ctr">
                    <a:lnSpc>
                      <a:spcPct val="72000"/>
                    </a:lnSpc>
                  </a:pPr>
                  <a:r>
                    <a:rPr lang="zh-CN" altLang="en-US" dirty="0">
                      <a:solidFill>
                        <a:srgbClr val="0000FF"/>
                      </a:solidFill>
                      <a:latin typeface="Times New Roman" panose="02020603050405020304" pitchFamily="18" charset="0"/>
                      <a:ea typeface="宋体" panose="02010600030101010101" pitchFamily="2" charset="-122"/>
                    </a:rPr>
                    <a:t>程</a:t>
                  </a:r>
                  <a:endParaRPr lang="zh-CN" altLang="en-US" sz="4300" dirty="0">
                    <a:solidFill>
                      <a:srgbClr val="0000FF"/>
                    </a:solidFill>
                    <a:latin typeface="Arial" panose="020B0604020202020204" pitchFamily="34" charset="0"/>
                    <a:ea typeface="宋体" panose="02010600030101010101" pitchFamily="2" charset="-122"/>
                  </a:endParaRPr>
                </a:p>
              </p:txBody>
            </p:sp>
            <p:grpSp>
              <p:nvGrpSpPr>
                <p:cNvPr id="33820" name="Group 28"/>
                <p:cNvGrpSpPr/>
                <p:nvPr/>
              </p:nvGrpSpPr>
              <p:grpSpPr>
                <a:xfrm>
                  <a:off x="1724" y="1879"/>
                  <a:ext cx="544" cy="508"/>
                  <a:chOff x="9176" y="5583"/>
                  <a:chExt cx="482" cy="450"/>
                </a:xfrm>
              </p:grpSpPr>
              <p:sp>
                <p:nvSpPr>
                  <p:cNvPr id="33821" name="Rectangle 29"/>
                  <p:cNvSpPr/>
                  <p:nvPr/>
                </p:nvSpPr>
                <p:spPr>
                  <a:xfrm>
                    <a:off x="9330" y="5724"/>
                    <a:ext cx="194" cy="195"/>
                  </a:xfrm>
                  <a:prstGeom prst="rect">
                    <a:avLst/>
                  </a:prstGeom>
                  <a:solidFill>
                    <a:srgbClr val="FFFFFF"/>
                  </a:solidFill>
                  <a:ln w="9525">
                    <a:noFill/>
                  </a:ln>
                </p:spPr>
                <p:txBody>
                  <a:bodyPr anchor="t" anchorCtr="0"/>
                  <a:lstStyle/>
                  <a:p>
                    <a:endParaRPr lang="zh-CN" altLang="en-US" dirty="0">
                      <a:latin typeface="Arial" panose="020B0604020202020204" pitchFamily="34" charset="0"/>
                      <a:ea typeface="宋体" panose="02010600030101010101" pitchFamily="2" charset="-122"/>
                    </a:endParaRPr>
                  </a:p>
                </p:txBody>
              </p:sp>
              <p:sp>
                <p:nvSpPr>
                  <p:cNvPr id="33822" name="Text Box 30"/>
                  <p:cNvSpPr txBox="1"/>
                  <p:nvPr/>
                </p:nvSpPr>
                <p:spPr>
                  <a:xfrm>
                    <a:off x="9176" y="5583"/>
                    <a:ext cx="482" cy="450"/>
                  </a:xfrm>
                  <a:prstGeom prst="rect">
                    <a:avLst/>
                  </a:prstGeom>
                  <a:noFill/>
                  <a:ln w="9525">
                    <a:noFill/>
                  </a:ln>
                </p:spPr>
                <p:txBody>
                  <a:bodyPr lIns="90774" tIns="45390" rIns="90774" bIns="45390" anchor="t" anchorCtr="0"/>
                  <a:lstStyle/>
                  <a:p>
                    <a:pPr algn="ctr"/>
                    <a:r>
                      <a:rPr lang="en-US" altLang="zh-CN" dirty="0">
                        <a:solidFill>
                          <a:srgbClr val="0000FF"/>
                        </a:solidFill>
                        <a:latin typeface="Arial" panose="020B0604020202020204" pitchFamily="34" charset="0"/>
                        <a:ea typeface="宋体" panose="02010600030101010101" pitchFamily="2" charset="-122"/>
                      </a:rPr>
                      <a:t>④</a:t>
                    </a:r>
                  </a:p>
                </p:txBody>
              </p:sp>
            </p:grpSp>
          </p:grpSp>
        </p:grpSp>
      </p:grpSp>
      <p:sp>
        <p:nvSpPr>
          <p:cNvPr id="33823" name="Text Box 31"/>
          <p:cNvSpPr txBox="1"/>
          <p:nvPr/>
        </p:nvSpPr>
        <p:spPr>
          <a:xfrm>
            <a:off x="5938838" y="4921250"/>
            <a:ext cx="1444625" cy="827088"/>
          </a:xfrm>
          <a:prstGeom prst="rect">
            <a:avLst/>
          </a:prstGeom>
          <a:noFill/>
          <a:ln w="9525">
            <a:noFill/>
          </a:ln>
        </p:spPr>
        <p:txBody>
          <a:bodyPr lIns="90774" tIns="45390" rIns="90774" bIns="45390" anchor="t" anchorCtr="0"/>
          <a:lstStyle/>
          <a:p>
            <a:pPr algn="ctr"/>
            <a:r>
              <a:rPr lang="en-US" altLang="zh-CN" dirty="0">
                <a:solidFill>
                  <a:srgbClr val="000000"/>
                </a:solidFill>
                <a:latin typeface="Times New Roman" panose="02020603050405020304" pitchFamily="18" charset="0"/>
                <a:ea typeface="宋体" panose="02010600030101010101" pitchFamily="2" charset="-122"/>
              </a:rPr>
              <a:t>CPU</a:t>
            </a:r>
          </a:p>
        </p:txBody>
      </p:sp>
      <p:grpSp>
        <p:nvGrpSpPr>
          <p:cNvPr id="9" name="Group 32"/>
          <p:cNvGrpSpPr/>
          <p:nvPr/>
        </p:nvGrpSpPr>
        <p:grpSpPr>
          <a:xfrm>
            <a:off x="2427288" y="5784850"/>
            <a:ext cx="2819400" cy="663575"/>
            <a:chOff x="2050" y="3714"/>
            <a:chExt cx="1776" cy="419"/>
          </a:xfrm>
        </p:grpSpPr>
        <p:sp>
          <p:nvSpPr>
            <p:cNvPr id="33825" name="Line 33"/>
            <p:cNvSpPr/>
            <p:nvPr/>
          </p:nvSpPr>
          <p:spPr>
            <a:xfrm>
              <a:off x="2050" y="3714"/>
              <a:ext cx="1776" cy="0"/>
            </a:xfrm>
            <a:prstGeom prst="line">
              <a:avLst/>
            </a:prstGeom>
            <a:ln w="28575" cap="flat" cmpd="sng">
              <a:solidFill>
                <a:schemeClr val="tx1"/>
              </a:solidFill>
              <a:prstDash val="solid"/>
              <a:round/>
              <a:headEnd type="triangle" w="med" len="med"/>
              <a:tailEnd type="none" w="sm" len="sm"/>
            </a:ln>
          </p:spPr>
        </p:sp>
        <p:sp>
          <p:nvSpPr>
            <p:cNvPr id="33826" name="Rectangle 34"/>
            <p:cNvSpPr/>
            <p:nvPr/>
          </p:nvSpPr>
          <p:spPr>
            <a:xfrm>
              <a:off x="3322" y="3912"/>
              <a:ext cx="352" cy="221"/>
            </a:xfrm>
            <a:prstGeom prst="rect">
              <a:avLst/>
            </a:prstGeom>
            <a:solidFill>
              <a:srgbClr val="FFFFFF"/>
            </a:solidFill>
            <a:ln w="9525">
              <a:noFill/>
            </a:ln>
          </p:spPr>
          <p:txBody>
            <a:bodyPr anchor="t" anchorCtr="0"/>
            <a:lstStyle/>
            <a:p>
              <a:endParaRPr lang="zh-CN" altLang="en-US" dirty="0">
                <a:latin typeface="Arial" panose="020B0604020202020204" pitchFamily="34" charset="0"/>
                <a:ea typeface="宋体" panose="02010600030101010101" pitchFamily="2" charset="-122"/>
              </a:endParaRPr>
            </a:p>
          </p:txBody>
        </p:sp>
        <p:sp>
          <p:nvSpPr>
            <p:cNvPr id="33827" name="Text Box 35"/>
            <p:cNvSpPr txBox="1"/>
            <p:nvPr/>
          </p:nvSpPr>
          <p:spPr>
            <a:xfrm>
              <a:off x="2086" y="3723"/>
              <a:ext cx="1679" cy="297"/>
            </a:xfrm>
            <a:prstGeom prst="rect">
              <a:avLst/>
            </a:prstGeom>
            <a:noFill/>
            <a:ln w="9525">
              <a:noFill/>
            </a:ln>
          </p:spPr>
          <p:txBody>
            <a:bodyPr lIns="90774" tIns="45390" rIns="90774" bIns="45390" anchor="t" anchorCtr="0"/>
            <a:lstStyle/>
            <a:p>
              <a:pPr algn="ctr"/>
              <a:r>
                <a:rPr lang="en-US" altLang="zh-CN" sz="2000" dirty="0">
                  <a:solidFill>
                    <a:srgbClr val="000000"/>
                  </a:solidFill>
                  <a:latin typeface="Arial" panose="020B0604020202020204" pitchFamily="34" charset="0"/>
                  <a:ea typeface="宋体" panose="02010600030101010101" pitchFamily="2" charset="-122"/>
                </a:rPr>
                <a:t>① </a:t>
              </a:r>
              <a:r>
                <a:rPr lang="zh-CN" altLang="en-US" sz="2000" dirty="0">
                  <a:solidFill>
                    <a:srgbClr val="000000"/>
                  </a:solidFill>
                  <a:latin typeface="Arial" panose="020B0604020202020204" pitchFamily="34" charset="0"/>
                  <a:ea typeface="宋体" panose="02010600030101010101" pitchFamily="2" charset="-122"/>
                </a:rPr>
                <a:t>执行</a:t>
              </a:r>
              <a:r>
                <a:rPr lang="zh-CN" altLang="en-US" sz="2000" dirty="0">
                  <a:solidFill>
                    <a:srgbClr val="000000"/>
                  </a:solidFill>
                  <a:latin typeface="Times New Roman" panose="02020603050405020304" pitchFamily="18" charset="0"/>
                  <a:ea typeface="宋体" panose="02010600030101010101" pitchFamily="2" charset="-122"/>
                </a:rPr>
                <a:t>加电自检程序</a:t>
              </a:r>
            </a:p>
          </p:txBody>
        </p:sp>
      </p:grpSp>
      <p:grpSp>
        <p:nvGrpSpPr>
          <p:cNvPr id="10" name="Group 36"/>
          <p:cNvGrpSpPr/>
          <p:nvPr/>
        </p:nvGrpSpPr>
        <p:grpSpPr>
          <a:xfrm>
            <a:off x="2341563" y="2133600"/>
            <a:ext cx="2300287" cy="444500"/>
            <a:chOff x="1995" y="1018"/>
            <a:chExt cx="1450" cy="280"/>
          </a:xfrm>
        </p:grpSpPr>
        <p:sp>
          <p:nvSpPr>
            <p:cNvPr id="33829" name="Text Box 37"/>
            <p:cNvSpPr txBox="1"/>
            <p:nvPr/>
          </p:nvSpPr>
          <p:spPr>
            <a:xfrm>
              <a:off x="1995" y="1018"/>
              <a:ext cx="1450" cy="280"/>
            </a:xfrm>
            <a:prstGeom prst="rect">
              <a:avLst/>
            </a:prstGeom>
            <a:noFill/>
            <a:ln w="9525">
              <a:noFill/>
            </a:ln>
          </p:spPr>
          <p:txBody>
            <a:bodyPr lIns="90774" tIns="45390" rIns="90774" bIns="45390" anchor="t" anchorCtr="0"/>
            <a:lstStyle/>
            <a:p>
              <a:pPr algn="ctr">
                <a:lnSpc>
                  <a:spcPct val="80000"/>
                </a:lnSpc>
              </a:pPr>
              <a:r>
                <a:rPr lang="en-US" altLang="zh-CN" dirty="0">
                  <a:solidFill>
                    <a:srgbClr val="0000FF"/>
                  </a:solidFill>
                  <a:latin typeface="Arial" panose="020B0604020202020204" pitchFamily="34" charset="0"/>
                  <a:ea typeface="宋体" panose="02010600030101010101" pitchFamily="2" charset="-122"/>
                </a:rPr>
                <a:t>⑤ </a:t>
              </a:r>
              <a:r>
                <a:rPr lang="zh-CN" altLang="en-US" sz="2000" dirty="0">
                  <a:solidFill>
                    <a:srgbClr val="0000FF"/>
                  </a:solidFill>
                  <a:latin typeface="Times New Roman" panose="02020603050405020304" pitchFamily="18" charset="0"/>
                  <a:ea typeface="宋体" panose="02010600030101010101" pitchFamily="2" charset="-122"/>
                </a:rPr>
                <a:t>装入引导程序</a:t>
              </a:r>
            </a:p>
          </p:txBody>
        </p:sp>
        <p:sp>
          <p:nvSpPr>
            <p:cNvPr id="33830" name="Line 38"/>
            <p:cNvSpPr/>
            <p:nvPr/>
          </p:nvSpPr>
          <p:spPr>
            <a:xfrm>
              <a:off x="2073" y="1209"/>
              <a:ext cx="1282" cy="0"/>
            </a:xfrm>
            <a:prstGeom prst="line">
              <a:avLst/>
            </a:prstGeom>
            <a:ln w="28575" cap="flat" cmpd="sng">
              <a:solidFill>
                <a:srgbClr val="0000FF"/>
              </a:solidFill>
              <a:prstDash val="solid"/>
              <a:round/>
              <a:headEnd type="none" w="med" len="med"/>
              <a:tailEnd type="triangle" w="med" len="med"/>
            </a:ln>
          </p:spPr>
        </p:sp>
      </p:grpSp>
      <p:grpSp>
        <p:nvGrpSpPr>
          <p:cNvPr id="11" name="Group 39"/>
          <p:cNvGrpSpPr/>
          <p:nvPr/>
        </p:nvGrpSpPr>
        <p:grpSpPr>
          <a:xfrm>
            <a:off x="2305050" y="2673350"/>
            <a:ext cx="2443163" cy="409575"/>
            <a:chOff x="1973" y="1744"/>
            <a:chExt cx="1539" cy="257"/>
          </a:xfrm>
        </p:grpSpPr>
        <p:sp>
          <p:nvSpPr>
            <p:cNvPr id="33832" name="Text Box 40"/>
            <p:cNvSpPr txBox="1"/>
            <p:nvPr/>
          </p:nvSpPr>
          <p:spPr>
            <a:xfrm>
              <a:off x="1973" y="1744"/>
              <a:ext cx="1539" cy="257"/>
            </a:xfrm>
            <a:prstGeom prst="rect">
              <a:avLst/>
            </a:prstGeom>
            <a:noFill/>
            <a:ln w="9525">
              <a:noFill/>
            </a:ln>
          </p:spPr>
          <p:txBody>
            <a:bodyPr lIns="90774" tIns="45390" rIns="90774" bIns="45390" anchor="t" anchorCtr="0"/>
            <a:lstStyle/>
            <a:p>
              <a:pPr algn="ctr"/>
              <a:r>
                <a:rPr lang="en-US" altLang="zh-CN" dirty="0">
                  <a:solidFill>
                    <a:srgbClr val="FFC000"/>
                  </a:solidFill>
                  <a:latin typeface="Arial" panose="020B0604020202020204" pitchFamily="34" charset="0"/>
                  <a:ea typeface="宋体" panose="02010600030101010101" pitchFamily="2" charset="-122"/>
                </a:rPr>
                <a:t>⑦ </a:t>
              </a:r>
              <a:r>
                <a:rPr lang="zh-CN" altLang="en-US" dirty="0">
                  <a:solidFill>
                    <a:srgbClr val="FFC000"/>
                  </a:solidFill>
                  <a:latin typeface="Times New Roman" panose="02020603050405020304" pitchFamily="18" charset="0"/>
                  <a:ea typeface="宋体" panose="02010600030101010101" pitchFamily="2" charset="-122"/>
                </a:rPr>
                <a:t>装入操作系统</a:t>
              </a:r>
            </a:p>
          </p:txBody>
        </p:sp>
        <p:sp>
          <p:nvSpPr>
            <p:cNvPr id="33833" name="Line 41"/>
            <p:cNvSpPr/>
            <p:nvPr/>
          </p:nvSpPr>
          <p:spPr>
            <a:xfrm>
              <a:off x="2073" y="1752"/>
              <a:ext cx="1282" cy="0"/>
            </a:xfrm>
            <a:prstGeom prst="line">
              <a:avLst/>
            </a:prstGeom>
            <a:ln w="28575" cap="flat" cmpd="sng">
              <a:solidFill>
                <a:schemeClr val="accent1"/>
              </a:solidFill>
              <a:prstDash val="solid"/>
              <a:round/>
              <a:headEnd type="none" w="med" len="med"/>
              <a:tailEnd type="triangle" w="med" len="med"/>
            </a:ln>
          </p:spPr>
        </p:sp>
      </p:grpSp>
      <p:grpSp>
        <p:nvGrpSpPr>
          <p:cNvPr id="33834" name="Group 42"/>
          <p:cNvGrpSpPr/>
          <p:nvPr/>
        </p:nvGrpSpPr>
        <p:grpSpPr>
          <a:xfrm>
            <a:off x="107950" y="3697288"/>
            <a:ext cx="2125663" cy="819150"/>
            <a:chOff x="589" y="2024"/>
            <a:chExt cx="1339" cy="517"/>
          </a:xfrm>
        </p:grpSpPr>
        <p:pic>
          <p:nvPicPr>
            <p:cNvPr id="33835" name="Picture 43" descr="000042295"/>
            <p:cNvPicPr>
              <a:picLocks noChangeAspect="1"/>
            </p:cNvPicPr>
            <p:nvPr/>
          </p:nvPicPr>
          <p:blipFill>
            <a:blip r:embed="rId8"/>
            <a:stretch>
              <a:fillRect/>
            </a:stretch>
          </p:blipFill>
          <p:spPr>
            <a:xfrm>
              <a:off x="1270" y="2047"/>
              <a:ext cx="658" cy="494"/>
            </a:xfrm>
            <a:prstGeom prst="rect">
              <a:avLst/>
            </a:prstGeom>
            <a:noFill/>
            <a:ln w="9525">
              <a:noFill/>
            </a:ln>
          </p:spPr>
        </p:pic>
        <p:sp>
          <p:nvSpPr>
            <p:cNvPr id="33836" name="Text Box 44"/>
            <p:cNvSpPr txBox="1"/>
            <p:nvPr/>
          </p:nvSpPr>
          <p:spPr>
            <a:xfrm>
              <a:off x="589" y="2024"/>
              <a:ext cx="909" cy="250"/>
            </a:xfrm>
            <a:prstGeom prst="rect">
              <a:avLst/>
            </a:prstGeom>
            <a:noFill/>
            <a:ln w="9525">
              <a:noFill/>
            </a:ln>
          </p:spPr>
          <p:txBody>
            <a:bodyPr lIns="90774" tIns="45390" rIns="90774" bIns="45390" anchor="t" anchorCtr="0"/>
            <a:lstStyle/>
            <a:p>
              <a:pPr algn="ctr">
                <a:lnSpc>
                  <a:spcPct val="80000"/>
                </a:lnSpc>
              </a:pPr>
              <a:r>
                <a:rPr lang="en-US" altLang="zh-CN" dirty="0">
                  <a:solidFill>
                    <a:srgbClr val="000000"/>
                  </a:solidFill>
                  <a:latin typeface="Times New Roman" panose="02020603050405020304" pitchFamily="18" charset="0"/>
                  <a:ea typeface="宋体" panose="02010600030101010101" pitchFamily="2" charset="-122"/>
                </a:rPr>
                <a:t>CMOS</a:t>
              </a:r>
            </a:p>
          </p:txBody>
        </p:sp>
      </p:grpSp>
      <p:grpSp>
        <p:nvGrpSpPr>
          <p:cNvPr id="13" name="Group 45"/>
          <p:cNvGrpSpPr/>
          <p:nvPr/>
        </p:nvGrpSpPr>
        <p:grpSpPr>
          <a:xfrm>
            <a:off x="1800225" y="4198938"/>
            <a:ext cx="3184525" cy="1089025"/>
            <a:chOff x="1655" y="2296"/>
            <a:chExt cx="2006" cy="686"/>
          </a:xfrm>
        </p:grpSpPr>
        <p:sp>
          <p:nvSpPr>
            <p:cNvPr id="33838" name="Line 46"/>
            <p:cNvSpPr/>
            <p:nvPr/>
          </p:nvSpPr>
          <p:spPr>
            <a:xfrm flipH="1" flipV="1">
              <a:off x="1904" y="2296"/>
              <a:ext cx="1757" cy="686"/>
            </a:xfrm>
            <a:prstGeom prst="line">
              <a:avLst/>
            </a:prstGeom>
            <a:ln w="28575" cap="flat" cmpd="sng">
              <a:solidFill>
                <a:srgbClr val="0000FF"/>
              </a:solidFill>
              <a:prstDash val="solid"/>
              <a:round/>
              <a:headEnd type="none" w="med" len="med"/>
              <a:tailEnd type="triangle" w="med" len="med"/>
            </a:ln>
          </p:spPr>
        </p:sp>
        <p:grpSp>
          <p:nvGrpSpPr>
            <p:cNvPr id="33839" name="Group 47"/>
            <p:cNvGrpSpPr/>
            <p:nvPr/>
          </p:nvGrpSpPr>
          <p:grpSpPr>
            <a:xfrm>
              <a:off x="1655" y="2296"/>
              <a:ext cx="1429" cy="613"/>
              <a:chOff x="1678" y="2341"/>
              <a:chExt cx="1429" cy="613"/>
            </a:xfrm>
          </p:grpSpPr>
          <p:sp>
            <p:nvSpPr>
              <p:cNvPr id="33840" name="Text Box 48"/>
              <p:cNvSpPr txBox="1"/>
              <p:nvPr/>
            </p:nvSpPr>
            <p:spPr>
              <a:xfrm>
                <a:off x="2816" y="2787"/>
                <a:ext cx="291" cy="167"/>
              </a:xfrm>
              <a:prstGeom prst="rect">
                <a:avLst/>
              </a:prstGeom>
              <a:noFill/>
              <a:ln w="9525">
                <a:noFill/>
              </a:ln>
            </p:spPr>
            <p:txBody>
              <a:bodyPr lIns="90774" tIns="45390" rIns="90774" bIns="45390" anchor="t" anchorCtr="0"/>
              <a:lstStyle/>
              <a:p>
                <a:pPr algn="ctr">
                  <a:lnSpc>
                    <a:spcPct val="72000"/>
                  </a:lnSpc>
                </a:pPr>
                <a:r>
                  <a:rPr lang="zh-CN" altLang="en-US" dirty="0">
                    <a:solidFill>
                      <a:srgbClr val="0000FF"/>
                    </a:solidFill>
                    <a:latin typeface="Times New Roman" panose="02020603050405020304" pitchFamily="18" charset="0"/>
                    <a:ea typeface="宋体" panose="02010600030101010101" pitchFamily="2" charset="-122"/>
                  </a:rPr>
                  <a:t>？</a:t>
                </a:r>
                <a:endParaRPr lang="zh-CN" altLang="en-US" sz="4300" dirty="0">
                  <a:solidFill>
                    <a:srgbClr val="0000FF"/>
                  </a:solidFill>
                  <a:latin typeface="Arial" panose="020B0604020202020204" pitchFamily="34" charset="0"/>
                  <a:ea typeface="宋体" panose="02010600030101010101" pitchFamily="2" charset="-122"/>
                </a:endParaRPr>
              </a:p>
            </p:txBody>
          </p:sp>
          <p:sp>
            <p:nvSpPr>
              <p:cNvPr id="33841" name="Text Box 49"/>
              <p:cNvSpPr txBox="1"/>
              <p:nvPr/>
            </p:nvSpPr>
            <p:spPr>
              <a:xfrm>
                <a:off x="1905" y="2478"/>
                <a:ext cx="425" cy="194"/>
              </a:xfrm>
              <a:prstGeom prst="rect">
                <a:avLst/>
              </a:prstGeom>
              <a:noFill/>
              <a:ln w="9525">
                <a:noFill/>
              </a:ln>
            </p:spPr>
            <p:txBody>
              <a:bodyPr lIns="90774" tIns="45390" rIns="90774" bIns="45390" anchor="t" anchorCtr="0"/>
              <a:lstStyle/>
              <a:p>
                <a:pPr algn="ctr">
                  <a:lnSpc>
                    <a:spcPct val="72000"/>
                  </a:lnSpc>
                </a:pPr>
                <a:r>
                  <a:rPr lang="zh-CN" altLang="en-US" dirty="0">
                    <a:solidFill>
                      <a:srgbClr val="0000FF"/>
                    </a:solidFill>
                    <a:latin typeface="Times New Roman" panose="02020603050405020304" pitchFamily="18" charset="0"/>
                    <a:ea typeface="宋体" panose="02010600030101010101" pitchFamily="2" charset="-122"/>
                  </a:rPr>
                  <a:t>从</a:t>
                </a:r>
                <a:endParaRPr lang="zh-CN" altLang="en-US" sz="4300" dirty="0">
                  <a:solidFill>
                    <a:srgbClr val="0000FF"/>
                  </a:solidFill>
                  <a:latin typeface="Arial" panose="020B0604020202020204" pitchFamily="34" charset="0"/>
                  <a:ea typeface="宋体" panose="02010600030101010101" pitchFamily="2" charset="-122"/>
                </a:endParaRPr>
              </a:p>
            </p:txBody>
          </p:sp>
          <p:sp>
            <p:nvSpPr>
              <p:cNvPr id="33842" name="Text Box 50"/>
              <p:cNvSpPr txBox="1"/>
              <p:nvPr/>
            </p:nvSpPr>
            <p:spPr>
              <a:xfrm>
                <a:off x="2075" y="2551"/>
                <a:ext cx="419" cy="199"/>
              </a:xfrm>
              <a:prstGeom prst="rect">
                <a:avLst/>
              </a:prstGeom>
              <a:noFill/>
              <a:ln w="9525">
                <a:noFill/>
              </a:ln>
            </p:spPr>
            <p:txBody>
              <a:bodyPr lIns="90774" tIns="45390" rIns="90774" bIns="45390" anchor="t" anchorCtr="0"/>
              <a:lstStyle/>
              <a:p>
                <a:pPr algn="ctr">
                  <a:lnSpc>
                    <a:spcPct val="72000"/>
                  </a:lnSpc>
                </a:pPr>
                <a:r>
                  <a:rPr lang="zh-CN" altLang="en-US" dirty="0">
                    <a:solidFill>
                      <a:srgbClr val="0000FF"/>
                    </a:solidFill>
                    <a:latin typeface="Times New Roman" panose="02020603050405020304" pitchFamily="18" charset="0"/>
                    <a:ea typeface="宋体" panose="02010600030101010101" pitchFamily="2" charset="-122"/>
                  </a:rPr>
                  <a:t>何</a:t>
                </a:r>
                <a:endParaRPr lang="zh-CN" altLang="en-US" sz="4300" dirty="0">
                  <a:solidFill>
                    <a:srgbClr val="0000FF"/>
                  </a:solidFill>
                  <a:latin typeface="Arial" panose="020B0604020202020204" pitchFamily="34" charset="0"/>
                  <a:ea typeface="宋体" panose="02010600030101010101" pitchFamily="2" charset="-122"/>
                </a:endParaRPr>
              </a:p>
            </p:txBody>
          </p:sp>
          <p:sp>
            <p:nvSpPr>
              <p:cNvPr id="33843" name="Text Box 51"/>
              <p:cNvSpPr txBox="1"/>
              <p:nvPr/>
            </p:nvSpPr>
            <p:spPr>
              <a:xfrm>
                <a:off x="2243" y="2596"/>
                <a:ext cx="388" cy="199"/>
              </a:xfrm>
              <a:prstGeom prst="rect">
                <a:avLst/>
              </a:prstGeom>
              <a:noFill/>
              <a:ln w="9525">
                <a:noFill/>
              </a:ln>
            </p:spPr>
            <p:txBody>
              <a:bodyPr lIns="90774" tIns="45390" rIns="90774" bIns="45390" anchor="t" anchorCtr="0"/>
              <a:lstStyle/>
              <a:p>
                <a:pPr algn="ctr">
                  <a:lnSpc>
                    <a:spcPct val="72000"/>
                  </a:lnSpc>
                </a:pPr>
                <a:r>
                  <a:rPr lang="zh-CN" altLang="en-US" dirty="0">
                    <a:solidFill>
                      <a:srgbClr val="0000FF"/>
                    </a:solidFill>
                    <a:latin typeface="Times New Roman" panose="02020603050405020304" pitchFamily="18" charset="0"/>
                    <a:ea typeface="宋体" panose="02010600030101010101" pitchFamily="2" charset="-122"/>
                  </a:rPr>
                  <a:t>处</a:t>
                </a:r>
                <a:endParaRPr lang="zh-CN" altLang="en-US" sz="4300" dirty="0">
                  <a:solidFill>
                    <a:srgbClr val="0000FF"/>
                  </a:solidFill>
                  <a:latin typeface="Arial" panose="020B0604020202020204" pitchFamily="34" charset="0"/>
                  <a:ea typeface="宋体" panose="02010600030101010101" pitchFamily="2" charset="-122"/>
                </a:endParaRPr>
              </a:p>
            </p:txBody>
          </p:sp>
          <p:sp>
            <p:nvSpPr>
              <p:cNvPr id="33844" name="Text Box 52"/>
              <p:cNvSpPr txBox="1"/>
              <p:nvPr/>
            </p:nvSpPr>
            <p:spPr>
              <a:xfrm>
                <a:off x="2426" y="2668"/>
                <a:ext cx="368" cy="218"/>
              </a:xfrm>
              <a:prstGeom prst="rect">
                <a:avLst/>
              </a:prstGeom>
              <a:noFill/>
              <a:ln w="9525">
                <a:noFill/>
              </a:ln>
            </p:spPr>
            <p:txBody>
              <a:bodyPr lIns="90774" tIns="45390" rIns="90774" bIns="45390" anchor="t" anchorCtr="0"/>
              <a:lstStyle/>
              <a:p>
                <a:pPr algn="ctr">
                  <a:lnSpc>
                    <a:spcPct val="72000"/>
                  </a:lnSpc>
                </a:pPr>
                <a:r>
                  <a:rPr lang="zh-CN" altLang="en-US" dirty="0">
                    <a:solidFill>
                      <a:srgbClr val="0000FF"/>
                    </a:solidFill>
                    <a:latin typeface="Times New Roman" panose="02020603050405020304" pitchFamily="18" charset="0"/>
                    <a:ea typeface="宋体" panose="02010600030101010101" pitchFamily="2" charset="-122"/>
                  </a:rPr>
                  <a:t>启</a:t>
                </a:r>
                <a:endParaRPr lang="zh-CN" altLang="en-US" sz="4300" dirty="0">
                  <a:solidFill>
                    <a:srgbClr val="0000FF"/>
                  </a:solidFill>
                  <a:latin typeface="Arial" panose="020B0604020202020204" pitchFamily="34" charset="0"/>
                  <a:ea typeface="宋体" panose="02010600030101010101" pitchFamily="2" charset="-122"/>
                </a:endParaRPr>
              </a:p>
            </p:txBody>
          </p:sp>
          <p:sp>
            <p:nvSpPr>
              <p:cNvPr id="33845" name="Text Box 53"/>
              <p:cNvSpPr txBox="1"/>
              <p:nvPr/>
            </p:nvSpPr>
            <p:spPr>
              <a:xfrm>
                <a:off x="2606" y="2726"/>
                <a:ext cx="365" cy="182"/>
              </a:xfrm>
              <a:prstGeom prst="rect">
                <a:avLst/>
              </a:prstGeom>
              <a:noFill/>
              <a:ln w="9525">
                <a:noFill/>
              </a:ln>
            </p:spPr>
            <p:txBody>
              <a:bodyPr lIns="90774" tIns="45390" rIns="90774" bIns="45390" anchor="t" anchorCtr="0"/>
              <a:lstStyle/>
              <a:p>
                <a:pPr algn="ctr">
                  <a:lnSpc>
                    <a:spcPct val="72000"/>
                  </a:lnSpc>
                </a:pPr>
                <a:r>
                  <a:rPr lang="zh-CN" altLang="en-US" dirty="0">
                    <a:solidFill>
                      <a:srgbClr val="0000FF"/>
                    </a:solidFill>
                    <a:latin typeface="Times New Roman" panose="02020603050405020304" pitchFamily="18" charset="0"/>
                    <a:ea typeface="宋体" panose="02010600030101010101" pitchFamily="2" charset="-122"/>
                  </a:rPr>
                  <a:t>动</a:t>
                </a:r>
                <a:endParaRPr lang="zh-CN" altLang="en-US" sz="4300" dirty="0">
                  <a:solidFill>
                    <a:srgbClr val="0000FF"/>
                  </a:solidFill>
                  <a:latin typeface="Arial" panose="020B0604020202020204" pitchFamily="34" charset="0"/>
                  <a:ea typeface="宋体" panose="02010600030101010101" pitchFamily="2" charset="-122"/>
                </a:endParaRPr>
              </a:p>
            </p:txBody>
          </p:sp>
          <p:sp>
            <p:nvSpPr>
              <p:cNvPr id="33846" name="Text Box 54"/>
              <p:cNvSpPr txBox="1"/>
              <p:nvPr/>
            </p:nvSpPr>
            <p:spPr>
              <a:xfrm>
                <a:off x="1678" y="2341"/>
                <a:ext cx="544" cy="272"/>
              </a:xfrm>
              <a:prstGeom prst="rect">
                <a:avLst/>
              </a:prstGeom>
              <a:noFill/>
              <a:ln w="9525">
                <a:noFill/>
              </a:ln>
            </p:spPr>
            <p:txBody>
              <a:bodyPr lIns="90774" tIns="45390" rIns="90774" bIns="45390" anchor="t" anchorCtr="0"/>
              <a:lstStyle/>
              <a:p>
                <a:pPr algn="ctr"/>
                <a:r>
                  <a:rPr lang="en-US" altLang="zh-CN" sz="2000" dirty="0">
                    <a:solidFill>
                      <a:srgbClr val="0000FF"/>
                    </a:solidFill>
                    <a:latin typeface="Times New Roman" panose="02020603050405020304" pitchFamily="18" charset="0"/>
                    <a:ea typeface="宋体" panose="02010600030101010101" pitchFamily="2" charset="-122"/>
                  </a:rPr>
                  <a:t>③</a:t>
                </a:r>
                <a:endParaRPr lang="en-US" altLang="zh-CN" sz="4000" dirty="0">
                  <a:solidFill>
                    <a:srgbClr val="0000FF"/>
                  </a:solidFill>
                  <a:latin typeface="Arial" panose="020B0604020202020204" pitchFamily="34" charset="0"/>
                  <a:ea typeface="宋体" panose="02010600030101010101" pitchFamily="2" charset="-122"/>
                </a:endParaRPr>
              </a:p>
            </p:txBody>
          </p:sp>
        </p:grpSp>
      </p:grpSp>
      <p:pic>
        <p:nvPicPr>
          <p:cNvPr id="33847" name="Picture 55" descr="fig08_03"/>
          <p:cNvPicPr>
            <a:picLocks noChangeAspect="1"/>
          </p:cNvPicPr>
          <p:nvPr/>
        </p:nvPicPr>
        <p:blipFill>
          <a:blip r:embed="rId9"/>
          <a:srcRect l="21106" t="64952" r="36771"/>
          <a:stretch>
            <a:fillRect/>
          </a:stretch>
        </p:blipFill>
        <p:spPr>
          <a:xfrm>
            <a:off x="7129463" y="3709988"/>
            <a:ext cx="850900" cy="704850"/>
          </a:xfrm>
          <a:prstGeom prst="rect">
            <a:avLst/>
          </a:prstGeom>
          <a:noFill/>
          <a:ln w="9525">
            <a:noFill/>
          </a:ln>
        </p:spPr>
      </p:pic>
      <p:grpSp>
        <p:nvGrpSpPr>
          <p:cNvPr id="15" name="Group 56"/>
          <p:cNvGrpSpPr/>
          <p:nvPr/>
        </p:nvGrpSpPr>
        <p:grpSpPr>
          <a:xfrm>
            <a:off x="5832475" y="2795588"/>
            <a:ext cx="2376488" cy="2339975"/>
            <a:chOff x="4195" y="1412"/>
            <a:chExt cx="1497" cy="1474"/>
          </a:xfrm>
        </p:grpSpPr>
        <p:grpSp>
          <p:nvGrpSpPr>
            <p:cNvPr id="33849" name="Group 57"/>
            <p:cNvGrpSpPr/>
            <p:nvPr/>
          </p:nvGrpSpPr>
          <p:grpSpPr>
            <a:xfrm>
              <a:off x="4195" y="1412"/>
              <a:ext cx="340" cy="1474"/>
              <a:chOff x="4195" y="1820"/>
              <a:chExt cx="340" cy="1474"/>
            </a:xfrm>
          </p:grpSpPr>
          <p:sp>
            <p:nvSpPr>
              <p:cNvPr id="33850" name="Line 58"/>
              <p:cNvSpPr/>
              <p:nvPr/>
            </p:nvSpPr>
            <p:spPr>
              <a:xfrm flipV="1">
                <a:off x="4231" y="1888"/>
                <a:ext cx="0" cy="1293"/>
              </a:xfrm>
              <a:prstGeom prst="line">
                <a:avLst/>
              </a:prstGeom>
              <a:ln w="28575" cap="flat" cmpd="sng">
                <a:solidFill>
                  <a:srgbClr val="CC00FF"/>
                </a:solidFill>
                <a:prstDash val="solid"/>
                <a:round/>
                <a:headEnd type="none" w="med" len="med"/>
                <a:tailEnd type="triangle" w="med" len="med"/>
              </a:ln>
            </p:spPr>
          </p:sp>
          <p:sp>
            <p:nvSpPr>
              <p:cNvPr id="33851" name="Text Box 59"/>
              <p:cNvSpPr txBox="1"/>
              <p:nvPr/>
            </p:nvSpPr>
            <p:spPr>
              <a:xfrm>
                <a:off x="4195" y="1820"/>
                <a:ext cx="340" cy="1474"/>
              </a:xfrm>
              <a:prstGeom prst="rect">
                <a:avLst/>
              </a:prstGeom>
              <a:noFill/>
              <a:ln w="9525">
                <a:noFill/>
              </a:ln>
            </p:spPr>
            <p:txBody>
              <a:bodyPr lIns="90774" tIns="45390" rIns="90774" bIns="45390" anchor="t" anchorCtr="0"/>
              <a:lstStyle/>
              <a:p>
                <a:pPr algn="ctr">
                  <a:lnSpc>
                    <a:spcPct val="112000"/>
                  </a:lnSpc>
                </a:pPr>
                <a:r>
                  <a:rPr lang="en-US" altLang="zh-CN" sz="1800" dirty="0">
                    <a:solidFill>
                      <a:srgbClr val="CC00FF"/>
                    </a:solidFill>
                    <a:latin typeface="Times New Roman" panose="02020603050405020304" pitchFamily="18" charset="0"/>
                    <a:ea typeface="宋体" panose="02010600030101010101" pitchFamily="2" charset="-122"/>
                  </a:rPr>
                  <a:t>⑧</a:t>
                </a:r>
                <a:r>
                  <a:rPr lang="zh-CN" altLang="en-US" sz="1800" dirty="0">
                    <a:solidFill>
                      <a:srgbClr val="CC00FF"/>
                    </a:solidFill>
                    <a:latin typeface="Times New Roman" panose="02020603050405020304" pitchFamily="18" charset="0"/>
                    <a:ea typeface="宋体" panose="02010600030101010101" pitchFamily="2" charset="-122"/>
                  </a:rPr>
                  <a:t>运行</a:t>
                </a:r>
              </a:p>
              <a:p>
                <a:pPr algn="ctr">
                  <a:lnSpc>
                    <a:spcPct val="112000"/>
                  </a:lnSpc>
                </a:pPr>
                <a:r>
                  <a:rPr lang="zh-CN" altLang="en-US" sz="1800" dirty="0">
                    <a:solidFill>
                      <a:srgbClr val="CC00FF"/>
                    </a:solidFill>
                    <a:latin typeface="Times New Roman" panose="02020603050405020304" pitchFamily="18" charset="0"/>
                    <a:ea typeface="宋体" panose="02010600030101010101" pitchFamily="2" charset="-122"/>
                  </a:rPr>
                  <a:t>操作</a:t>
                </a:r>
              </a:p>
              <a:p>
                <a:pPr algn="ctr">
                  <a:lnSpc>
                    <a:spcPct val="112000"/>
                  </a:lnSpc>
                </a:pPr>
                <a:r>
                  <a:rPr lang="zh-CN" altLang="en-US" sz="1800" dirty="0">
                    <a:solidFill>
                      <a:srgbClr val="CC00FF"/>
                    </a:solidFill>
                    <a:latin typeface="Times New Roman" panose="02020603050405020304" pitchFamily="18" charset="0"/>
                    <a:ea typeface="宋体" panose="02010600030101010101" pitchFamily="2" charset="-122"/>
                  </a:rPr>
                  <a:t>系统</a:t>
                </a:r>
              </a:p>
            </p:txBody>
          </p:sp>
        </p:grpSp>
        <p:grpSp>
          <p:nvGrpSpPr>
            <p:cNvPr id="33852" name="Group 60"/>
            <p:cNvGrpSpPr/>
            <p:nvPr/>
          </p:nvGrpSpPr>
          <p:grpSpPr>
            <a:xfrm>
              <a:off x="4445" y="2273"/>
              <a:ext cx="1247" cy="545"/>
              <a:chOff x="4445" y="2273"/>
              <a:chExt cx="1247" cy="545"/>
            </a:xfrm>
          </p:grpSpPr>
          <p:sp>
            <p:nvSpPr>
              <p:cNvPr id="33853" name="Line 61"/>
              <p:cNvSpPr/>
              <p:nvPr/>
            </p:nvSpPr>
            <p:spPr>
              <a:xfrm flipV="1">
                <a:off x="4445" y="2273"/>
                <a:ext cx="635" cy="545"/>
              </a:xfrm>
              <a:prstGeom prst="line">
                <a:avLst/>
              </a:prstGeom>
              <a:ln w="28575" cap="flat" cmpd="sng">
                <a:solidFill>
                  <a:srgbClr val="CC00FF"/>
                </a:solidFill>
                <a:prstDash val="solid"/>
                <a:round/>
                <a:headEnd type="none" w="med" len="med"/>
                <a:tailEnd type="triangle" w="med" len="med"/>
              </a:ln>
            </p:spPr>
          </p:sp>
          <p:sp>
            <p:nvSpPr>
              <p:cNvPr id="33854" name="Text Box 62"/>
              <p:cNvSpPr txBox="1"/>
              <p:nvPr/>
            </p:nvSpPr>
            <p:spPr>
              <a:xfrm>
                <a:off x="4626" y="2546"/>
                <a:ext cx="1066" cy="214"/>
              </a:xfrm>
              <a:prstGeom prst="rect">
                <a:avLst/>
              </a:prstGeom>
              <a:noFill/>
              <a:ln w="9525">
                <a:noFill/>
              </a:ln>
            </p:spPr>
            <p:txBody>
              <a:bodyPr lIns="90774" tIns="45390" rIns="90774" bIns="45390" anchor="t" anchorCtr="0">
                <a:spAutoFit/>
              </a:bodyPr>
              <a:lstStyle/>
              <a:p>
                <a:pPr>
                  <a:spcBef>
                    <a:spcPct val="50000"/>
                  </a:spcBef>
                </a:pPr>
                <a:r>
                  <a:rPr lang="zh-CN" altLang="en-US" sz="1800" dirty="0">
                    <a:solidFill>
                      <a:srgbClr val="CC00FF"/>
                    </a:solidFill>
                    <a:latin typeface="Arial" panose="020B0604020202020204" pitchFamily="34" charset="0"/>
                    <a:ea typeface="宋体" panose="02010600030101010101" pitchFamily="2" charset="-122"/>
                  </a:rPr>
                  <a:t>显示初始界面</a:t>
                </a:r>
              </a:p>
            </p:txBody>
          </p:sp>
        </p:grpSp>
      </p:grpSp>
      <p:grpSp>
        <p:nvGrpSpPr>
          <p:cNvPr id="6" name="Group 12"/>
          <p:cNvGrpSpPr/>
          <p:nvPr/>
        </p:nvGrpSpPr>
        <p:grpSpPr>
          <a:xfrm>
            <a:off x="2349500" y="5394325"/>
            <a:ext cx="2774950" cy="490538"/>
            <a:chOff x="1970" y="3326"/>
            <a:chExt cx="1749" cy="309"/>
          </a:xfrm>
        </p:grpSpPr>
        <p:sp>
          <p:nvSpPr>
            <p:cNvPr id="33856" name="Line 13"/>
            <p:cNvSpPr/>
            <p:nvPr/>
          </p:nvSpPr>
          <p:spPr>
            <a:xfrm flipH="1">
              <a:off x="2041" y="3543"/>
              <a:ext cx="1678" cy="0"/>
            </a:xfrm>
            <a:prstGeom prst="line">
              <a:avLst/>
            </a:prstGeom>
            <a:ln w="28575" cap="flat" cmpd="sng">
              <a:solidFill>
                <a:srgbClr val="0000FF"/>
              </a:solidFill>
              <a:prstDash val="solid"/>
              <a:round/>
              <a:headEnd type="none" w="med" len="med"/>
              <a:tailEnd type="triangle" w="med" len="med"/>
            </a:ln>
          </p:spPr>
        </p:sp>
        <p:sp>
          <p:nvSpPr>
            <p:cNvPr id="33857" name="Text Box 14"/>
            <p:cNvSpPr txBox="1"/>
            <p:nvPr/>
          </p:nvSpPr>
          <p:spPr>
            <a:xfrm>
              <a:off x="1970" y="3326"/>
              <a:ext cx="1566" cy="309"/>
            </a:xfrm>
            <a:prstGeom prst="rect">
              <a:avLst/>
            </a:prstGeom>
            <a:noFill/>
            <a:ln w="9525">
              <a:noFill/>
            </a:ln>
          </p:spPr>
          <p:txBody>
            <a:bodyPr lIns="90774" tIns="45390" rIns="90774" bIns="45390" anchor="t" anchorCtr="0"/>
            <a:lstStyle/>
            <a:p>
              <a:pPr algn="ctr"/>
              <a:endParaRPr lang="zh-CN" altLang="en-US" sz="2000" dirty="0">
                <a:solidFill>
                  <a:srgbClr val="0000FF"/>
                </a:solidFill>
                <a:latin typeface="Times New Roman" panose="02020603050405020304" pitchFamily="18" charset="0"/>
                <a:ea typeface="宋体" panose="02010600030101010101" pitchFamily="2" charset="-122"/>
              </a:endParaRPr>
            </a:p>
          </p:txBody>
        </p:sp>
      </p:gr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blinds(horizontal)">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linds(horizontal)">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linds(horizontal)">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blinds(horizontal)">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blinds(horizontal)">
                                      <p:cBhvr>
                                        <p:cTn id="4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1101725" y="268288"/>
            <a:ext cx="5368925"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1.3  </a:t>
            </a:r>
            <a:r>
              <a:rPr kumimoji="0" lang="zh-CN" altLang="en-US"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微型计算机的运算基础</a:t>
            </a:r>
          </a:p>
        </p:txBody>
      </p:sp>
      <p:sp>
        <p:nvSpPr>
          <p:cNvPr id="34818" name="Rectangle 11"/>
          <p:cNvSpPr>
            <a:spLocks noGrp="1"/>
          </p:cNvSpPr>
          <p:nvPr>
            <p:ph type="body" idx="4294967295"/>
          </p:nvPr>
        </p:nvSpPr>
        <p:spPr>
          <a:xfrm>
            <a:off x="1412875" y="2152650"/>
            <a:ext cx="6421438" cy="4005263"/>
          </a:xfrm>
          <a:ln/>
        </p:spPr>
        <p:txBody>
          <a:bodyPr wrap="square" lIns="92075" tIns="46038" rIns="92075" bIns="46038" anchor="t" anchorCtr="0"/>
          <a:lstStyle/>
          <a:p>
            <a:pPr eaLnBrk="1" hangingPunct="1">
              <a:buNone/>
            </a:pPr>
            <a:r>
              <a:rPr lang="zh-CN" altLang="en-US" dirty="0">
                <a:solidFill>
                  <a:srgbClr val="66FFCC"/>
                </a:solidFill>
              </a:rPr>
              <a:t>1.</a:t>
            </a:r>
            <a:r>
              <a:rPr lang="en-US" altLang="zh-CN" dirty="0">
                <a:solidFill>
                  <a:srgbClr val="66FFCC"/>
                </a:solidFill>
              </a:rPr>
              <a:t>3</a:t>
            </a:r>
            <a:r>
              <a:rPr lang="zh-CN" altLang="en-US" dirty="0">
                <a:solidFill>
                  <a:srgbClr val="66FFCC"/>
                </a:solidFill>
              </a:rPr>
              <a:t>.1  无符号数的表示方法</a:t>
            </a:r>
          </a:p>
          <a:p>
            <a:pPr eaLnBrk="1" hangingPunct="1"/>
            <a:endParaRPr lang="zh-CN" altLang="en-US" dirty="0">
              <a:solidFill>
                <a:srgbClr val="66FFCC"/>
              </a:solidFill>
            </a:endParaRPr>
          </a:p>
          <a:p>
            <a:pPr eaLnBrk="1" hangingPunct="1">
              <a:buNone/>
            </a:pPr>
            <a:r>
              <a:rPr lang="zh-CN" altLang="en-US" dirty="0">
                <a:solidFill>
                  <a:srgbClr val="66FFCC"/>
                </a:solidFill>
              </a:rPr>
              <a:t>1.</a:t>
            </a:r>
            <a:r>
              <a:rPr lang="en-US" altLang="zh-CN" dirty="0">
                <a:solidFill>
                  <a:srgbClr val="66FFCC"/>
                </a:solidFill>
              </a:rPr>
              <a:t>3</a:t>
            </a:r>
            <a:r>
              <a:rPr lang="zh-CN" altLang="en-US" dirty="0">
                <a:solidFill>
                  <a:srgbClr val="66FFCC"/>
                </a:solidFill>
              </a:rPr>
              <a:t>.2  数制的转换与运算</a:t>
            </a:r>
          </a:p>
          <a:p>
            <a:pPr eaLnBrk="1" hangingPunct="1">
              <a:buNone/>
            </a:pPr>
            <a:endParaRPr lang="zh-CN" altLang="en-US" dirty="0">
              <a:solidFill>
                <a:srgbClr val="66FFCC"/>
              </a:solidFill>
            </a:endParaRPr>
          </a:p>
          <a:p>
            <a:pPr eaLnBrk="1" hangingPunct="1">
              <a:buNone/>
            </a:pPr>
            <a:r>
              <a:rPr lang="zh-CN" altLang="en-US" dirty="0">
                <a:solidFill>
                  <a:srgbClr val="66FFCC"/>
                </a:solidFill>
              </a:rPr>
              <a:t>1.</a:t>
            </a:r>
            <a:r>
              <a:rPr lang="en-US" altLang="zh-CN" dirty="0">
                <a:solidFill>
                  <a:srgbClr val="66FFCC"/>
                </a:solidFill>
              </a:rPr>
              <a:t>3</a:t>
            </a:r>
            <a:r>
              <a:rPr lang="zh-CN" altLang="en-US" dirty="0">
                <a:solidFill>
                  <a:srgbClr val="66FFCC"/>
                </a:solidFill>
              </a:rPr>
              <a:t>.3  符号数的表示及运算</a:t>
            </a:r>
          </a:p>
          <a:p>
            <a:pPr eaLnBrk="1" hangingPunct="1">
              <a:buNone/>
            </a:pPr>
            <a:endParaRPr lang="zh-CN" altLang="en-US" dirty="0">
              <a:solidFill>
                <a:srgbClr val="66FFCC"/>
              </a:solidFill>
            </a:endParaRPr>
          </a:p>
          <a:p>
            <a:pPr eaLnBrk="1" hangingPunct="1">
              <a:buNone/>
            </a:pPr>
            <a:r>
              <a:rPr lang="zh-CN" altLang="en-US" dirty="0">
                <a:solidFill>
                  <a:srgbClr val="66FFCC"/>
                </a:solidFill>
                <a:sym typeface="Arial" panose="020B0604020202020204" pitchFamily="34" charset="0"/>
              </a:rPr>
              <a:t>1.</a:t>
            </a:r>
            <a:r>
              <a:rPr lang="en-US" altLang="zh-CN" dirty="0">
                <a:solidFill>
                  <a:srgbClr val="66FFCC"/>
                </a:solidFill>
                <a:sym typeface="Arial" panose="020B0604020202020204" pitchFamily="34" charset="0"/>
              </a:rPr>
              <a:t>3</a:t>
            </a:r>
            <a:r>
              <a:rPr lang="zh-CN" altLang="en-US" dirty="0">
                <a:solidFill>
                  <a:srgbClr val="66FFCC"/>
                </a:solidFill>
                <a:sym typeface="Arial" panose="020B0604020202020204" pitchFamily="34" charset="0"/>
              </a:rPr>
              <a:t>.</a:t>
            </a:r>
            <a:r>
              <a:rPr lang="en-US" altLang="zh-CN" dirty="0">
                <a:solidFill>
                  <a:srgbClr val="66FFCC"/>
                </a:solidFill>
                <a:sym typeface="Arial" panose="020B0604020202020204" pitchFamily="34" charset="0"/>
              </a:rPr>
              <a:t>4</a:t>
            </a:r>
            <a:r>
              <a:rPr lang="zh-CN" altLang="en-US" dirty="0">
                <a:solidFill>
                  <a:srgbClr val="66FFCC"/>
                </a:solidFill>
                <a:sym typeface="Arial" panose="020B0604020202020204" pitchFamily="34" charset="0"/>
              </a:rPr>
              <a:t>  计算机中的定点数和浮点数</a:t>
            </a:r>
          </a:p>
        </p:txBody>
      </p:sp>
    </p:spTree>
  </p:cSld>
  <p:clrMapOvr>
    <a:masterClrMapping/>
  </p:clrMapOvr>
  <p:transition spd="med">
    <p:random/>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698500" y="282575"/>
            <a:ext cx="5368925" cy="1143000"/>
          </a:xfrm>
          <a:ln>
            <a:miter/>
          </a:ln>
        </p:spPr>
        <p:txBody>
          <a:bodyPr vert="horz" wrap="square" lIns="92075" tIns="46038" rIns="92075" bIns="46038" numCol="1" anchor="ctr"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sz="3200" b="1" i="0" u="none" strike="noStrike" kern="0" cap="none" spc="0" normalizeH="0" baseline="0" noProof="0">
                <a:ln>
                  <a:noFill/>
                </a:ln>
                <a:solidFill>
                  <a:srgbClr val="FFFF66"/>
                </a:solidFill>
                <a:effectLst>
                  <a:outerShdw blurRad="38100" dist="38100" dir="2700000" algn="tl">
                    <a:srgbClr val="000000"/>
                  </a:outerShdw>
                </a:effectLst>
                <a:uLnTx/>
                <a:uFillTx/>
                <a:latin typeface="+mj-lt"/>
                <a:ea typeface="+mj-ea"/>
                <a:cs typeface="+mj-cs"/>
              </a:rPr>
              <a:t>二进制与八卦图</a:t>
            </a:r>
          </a:p>
        </p:txBody>
      </p:sp>
      <p:sp>
        <p:nvSpPr>
          <p:cNvPr id="35842" name="AutoShape 8">
            <a:hlinkClick r:id="rId3" action="ppaction://hlinksldjump"/>
          </p:cNvPr>
          <p:cNvSpPr/>
          <p:nvPr/>
        </p:nvSpPr>
        <p:spPr>
          <a:xfrm>
            <a:off x="8548688" y="6484938"/>
            <a:ext cx="595312" cy="373062"/>
          </a:xfrm>
          <a:prstGeom prst="actionButtonBlank">
            <a:avLst/>
          </a:prstGeom>
          <a:gradFill rotWithShape="0">
            <a:gsLst>
              <a:gs pos="0">
                <a:srgbClr val="CCFFFF"/>
              </a:gs>
              <a:gs pos="100000">
                <a:srgbClr val="86A8A8"/>
              </a:gs>
            </a:gsLst>
            <a:lin ang="5400000" scaled="1"/>
            <a:tileRect/>
          </a:gradFill>
          <a:ln w="9525" cap="flat" cmpd="sng">
            <a:solidFill>
              <a:srgbClr val="00FFFF"/>
            </a:solidFill>
            <a:prstDash val="solid"/>
            <a:miter/>
            <a:headEnd type="none" w="med" len="med"/>
            <a:tailEnd type="none" w="med" len="med"/>
          </a:ln>
        </p:spPr>
        <p:txBody>
          <a:bodyPr wrap="none" lIns="92075" tIns="46038" rIns="92075" bIns="46038" anchor="ctr" anchorCtr="0"/>
          <a:lstStyle/>
          <a:p>
            <a:pPr algn="ctr"/>
            <a:r>
              <a:rPr lang="zh-CN" altLang="en-US" sz="1800" dirty="0">
                <a:solidFill>
                  <a:schemeClr val="bg2"/>
                </a:solidFill>
                <a:latin typeface="宋体" panose="02010600030101010101" pitchFamily="2" charset="-122"/>
                <a:ea typeface="宋体" panose="02010600030101010101" pitchFamily="2" charset="-122"/>
                <a:hlinkClick r:id="rId3" action="ppaction://hlinksldjump"/>
              </a:rPr>
              <a:t>返回</a:t>
            </a:r>
            <a:endParaRPr lang="zh-CN" altLang="en-US" sz="1800" dirty="0">
              <a:solidFill>
                <a:schemeClr val="bg2"/>
              </a:solidFill>
              <a:latin typeface="宋体" panose="02010600030101010101" pitchFamily="2" charset="-122"/>
              <a:ea typeface="宋体" panose="02010600030101010101" pitchFamily="2" charset="-122"/>
            </a:endParaRPr>
          </a:p>
        </p:txBody>
      </p:sp>
      <p:pic>
        <p:nvPicPr>
          <p:cNvPr id="35843" name="图片 1"/>
          <p:cNvPicPr>
            <a:picLocks noChangeAspect="1"/>
          </p:cNvPicPr>
          <p:nvPr/>
        </p:nvPicPr>
        <p:blipFill>
          <a:blip r:embed="rId4"/>
          <a:stretch>
            <a:fillRect/>
          </a:stretch>
        </p:blipFill>
        <p:spPr>
          <a:xfrm>
            <a:off x="5089525" y="3548063"/>
            <a:ext cx="4013200" cy="3230562"/>
          </a:xfrm>
          <a:prstGeom prst="rect">
            <a:avLst/>
          </a:prstGeom>
          <a:noFill/>
          <a:ln w="9525">
            <a:noFill/>
          </a:ln>
        </p:spPr>
      </p:pic>
      <p:pic>
        <p:nvPicPr>
          <p:cNvPr id="35844" name="图片 2"/>
          <p:cNvPicPr>
            <a:picLocks noChangeAspect="1"/>
          </p:cNvPicPr>
          <p:nvPr/>
        </p:nvPicPr>
        <p:blipFill>
          <a:blip r:embed="rId5"/>
          <a:stretch>
            <a:fillRect/>
          </a:stretch>
        </p:blipFill>
        <p:spPr>
          <a:xfrm>
            <a:off x="5095875" y="130175"/>
            <a:ext cx="4006850" cy="3859213"/>
          </a:xfrm>
          <a:prstGeom prst="rect">
            <a:avLst/>
          </a:prstGeom>
          <a:noFill/>
          <a:ln w="9525">
            <a:noFill/>
          </a:ln>
        </p:spPr>
      </p:pic>
      <p:pic>
        <p:nvPicPr>
          <p:cNvPr id="35845" name="图片 3"/>
          <p:cNvPicPr>
            <a:picLocks noChangeAspect="1"/>
          </p:cNvPicPr>
          <p:nvPr/>
        </p:nvPicPr>
        <p:blipFill>
          <a:blip r:embed="rId6"/>
          <a:stretch>
            <a:fillRect/>
          </a:stretch>
        </p:blipFill>
        <p:spPr>
          <a:xfrm>
            <a:off x="39688" y="1425575"/>
            <a:ext cx="5024437" cy="5024438"/>
          </a:xfrm>
          <a:prstGeom prst="rect">
            <a:avLst/>
          </a:prstGeom>
          <a:noFill/>
          <a:ln w="9525">
            <a:noFill/>
          </a:ln>
        </p:spPr>
      </p:pic>
    </p:spTree>
  </p:cSld>
  <p:clrMapOvr>
    <a:masterClrMapping/>
  </p:clrMapOvr>
  <p:transition spd="med">
    <p:random/>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无符号数的表示方法</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37890" name="内容占位符 2"/>
          <p:cNvSpPr>
            <a:spLocks noGrp="1"/>
          </p:cNvSpPr>
          <p:nvPr>
            <p:ph idx="4294967295"/>
          </p:nvPr>
        </p:nvSpPr>
        <p:spPr>
          <a:xfrm>
            <a:off x="307975" y="2070100"/>
            <a:ext cx="8147050" cy="3794125"/>
          </a:xfrm>
          <a:ln/>
        </p:spPr>
        <p:txBody>
          <a:bodyPr wrap="square" lIns="92075" tIns="46038" rIns="92075" bIns="46038" anchor="t" anchorCtr="0"/>
          <a:lstStyle/>
          <a:p>
            <a:pPr algn="just">
              <a:lnSpc>
                <a:spcPts val="3200"/>
              </a:lnSpc>
              <a:buNone/>
            </a:pPr>
            <a:r>
              <a:rPr lang="en-US" altLang="zh-CN" sz="2400"/>
              <a:t>             </a:t>
            </a:r>
            <a:r>
              <a:rPr lang="zh-CN" altLang="en-US" sz="2400"/>
              <a:t>用一组符号表示数据时，其代表的数值大小与符号所在的位置有关，这种表示数的方法称为位置计数表示法。按进位的原则进行计数，称为进位计数制。每一种进位计数制都有自身的数码个数，如十进制有</a:t>
            </a:r>
            <a:r>
              <a:rPr lang="en-US" altLang="zh-CN" sz="2400"/>
              <a:t>10</a:t>
            </a:r>
            <a:r>
              <a:rPr lang="zh-CN" altLang="en-US" sz="2400"/>
              <a:t>个数码，二进制有</a:t>
            </a:r>
            <a:r>
              <a:rPr lang="en-US" altLang="zh-CN" sz="2400"/>
              <a:t>2</a:t>
            </a:r>
            <a:r>
              <a:rPr lang="zh-CN" altLang="en-US" sz="2400"/>
              <a:t>个数码，而十六进制就有</a:t>
            </a:r>
            <a:r>
              <a:rPr lang="en-US" altLang="zh-CN" sz="2400"/>
              <a:t>16</a:t>
            </a:r>
            <a:r>
              <a:rPr lang="zh-CN" altLang="en-US" sz="2400"/>
              <a:t>个数码。</a:t>
            </a:r>
          </a:p>
          <a:p>
            <a:pPr algn="just">
              <a:lnSpc>
                <a:spcPts val="3200"/>
              </a:lnSpc>
              <a:buNone/>
            </a:pPr>
            <a:r>
              <a:rPr lang="en-US" altLang="zh-CN" sz="2400"/>
              <a:t>          </a:t>
            </a:r>
          </a:p>
          <a:p>
            <a:pPr algn="just">
              <a:lnSpc>
                <a:spcPts val="3200"/>
              </a:lnSpc>
              <a:buNone/>
            </a:pPr>
            <a:endParaRPr lang="en-US" altLang="zh-CN" sz="2400"/>
          </a:p>
        </p:txBody>
      </p:sp>
    </p:spTree>
  </p:cSld>
  <p:clrMapOvr>
    <a:masterClrMapping/>
  </p:clrMapOvr>
  <p:transition spd="med">
    <p:random/>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  无符号数的表示方法</a:t>
            </a:r>
            <a:endPar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endParaRPr>
          </a:p>
        </p:txBody>
      </p:sp>
      <p:sp>
        <p:nvSpPr>
          <p:cNvPr id="38914" name="内容占位符 2"/>
          <p:cNvSpPr>
            <a:spLocks noGrp="1"/>
          </p:cNvSpPr>
          <p:nvPr>
            <p:ph idx="4294967295"/>
          </p:nvPr>
        </p:nvSpPr>
        <p:spPr>
          <a:xfrm>
            <a:off x="234950" y="1711325"/>
            <a:ext cx="8466138" cy="4478338"/>
          </a:xfrm>
          <a:ln/>
        </p:spPr>
        <p:txBody>
          <a:bodyPr wrap="square" lIns="92075" tIns="46038" rIns="92075" bIns="46038" anchor="t" anchorCtr="0"/>
          <a:lstStyle/>
          <a:p>
            <a:pPr algn="just">
              <a:lnSpc>
                <a:spcPts val="3200"/>
              </a:lnSpc>
              <a:buNone/>
            </a:pPr>
            <a:r>
              <a:rPr lang="en-US" altLang="zh-CN" sz="2400"/>
              <a:t>            1</a:t>
            </a:r>
            <a:r>
              <a:rPr lang="zh-CN" altLang="en-US" sz="2400"/>
              <a:t>．十进制数的表示法</a:t>
            </a:r>
          </a:p>
          <a:p>
            <a:pPr algn="just">
              <a:lnSpc>
                <a:spcPts val="3200"/>
              </a:lnSpc>
              <a:buNone/>
            </a:pPr>
            <a:r>
              <a:rPr lang="zh-CN" altLang="en-US" sz="2400"/>
              <a:t>            十进制数有</a:t>
            </a:r>
            <a:r>
              <a:rPr lang="en-US" altLang="zh-CN" sz="2400"/>
              <a:t>0</a:t>
            </a:r>
            <a:r>
              <a:rPr lang="zh-CN" altLang="en-US" sz="2400"/>
              <a:t>，</a:t>
            </a:r>
            <a:r>
              <a:rPr lang="en-US" altLang="zh-CN" sz="2400"/>
              <a:t>1</a:t>
            </a:r>
            <a:r>
              <a:rPr lang="zh-CN" altLang="en-US" sz="2400"/>
              <a:t>，</a:t>
            </a:r>
            <a:r>
              <a:rPr lang="en-US" altLang="zh-CN" sz="2400"/>
              <a:t>2</a:t>
            </a:r>
            <a:r>
              <a:rPr lang="zh-CN" altLang="en-US" sz="2400"/>
              <a:t>，</a:t>
            </a:r>
            <a:r>
              <a:rPr lang="en-US" altLang="zh-CN" sz="2400"/>
              <a:t>…</a:t>
            </a:r>
            <a:r>
              <a:rPr lang="zh-CN" altLang="en-US" sz="2400"/>
              <a:t>，</a:t>
            </a:r>
            <a:r>
              <a:rPr lang="en-US" altLang="zh-CN" sz="2400"/>
              <a:t>9</a:t>
            </a:r>
            <a:r>
              <a:rPr lang="zh-CN" altLang="en-US" sz="2400"/>
              <a:t>共</a:t>
            </a:r>
            <a:r>
              <a:rPr lang="en-US" altLang="zh-CN" sz="2400"/>
              <a:t>10</a:t>
            </a:r>
            <a:r>
              <a:rPr lang="zh-CN" altLang="en-US" sz="2400"/>
              <a:t>个数码。后缀为</a:t>
            </a:r>
            <a:r>
              <a:rPr lang="en-US" altLang="zh-CN" sz="2400"/>
              <a:t>D</a:t>
            </a:r>
            <a:r>
              <a:rPr lang="zh-CN" altLang="en-US" sz="2400"/>
              <a:t>或不加后缀。计数时，数码在不同的位置，代表不同的数值大小。低位对高位的进位是“逢十进一”。</a:t>
            </a:r>
          </a:p>
          <a:p>
            <a:pPr algn="just">
              <a:lnSpc>
                <a:spcPts val="3200"/>
              </a:lnSpc>
              <a:buNone/>
            </a:pPr>
            <a:r>
              <a:rPr lang="zh-CN" altLang="en-US" sz="2400"/>
              <a:t>            </a:t>
            </a:r>
            <a:r>
              <a:rPr lang="en-US" altLang="zh-CN" sz="2400"/>
              <a:t>2</a:t>
            </a:r>
            <a:r>
              <a:rPr lang="zh-CN" altLang="en-US" sz="2400"/>
              <a:t>．二进制数的表示法</a:t>
            </a:r>
          </a:p>
          <a:p>
            <a:pPr algn="just">
              <a:lnSpc>
                <a:spcPts val="3200"/>
              </a:lnSpc>
              <a:buNone/>
            </a:pPr>
            <a:r>
              <a:rPr lang="zh-CN" altLang="en-US" sz="2400"/>
              <a:t>            二进制数只有</a:t>
            </a:r>
            <a:r>
              <a:rPr lang="en-US" altLang="zh-CN" sz="2400"/>
              <a:t>2</a:t>
            </a:r>
            <a:r>
              <a:rPr lang="zh-CN" altLang="en-US" sz="2400"/>
              <a:t>个数码</a:t>
            </a:r>
            <a:r>
              <a:rPr lang="en-US" altLang="zh-CN" sz="2400"/>
              <a:t>0</a:t>
            </a:r>
            <a:r>
              <a:rPr lang="zh-CN" altLang="en-US" sz="2400"/>
              <a:t>和</a:t>
            </a:r>
            <a:r>
              <a:rPr lang="en-US" altLang="zh-CN" sz="2400"/>
              <a:t>1</a:t>
            </a:r>
            <a:r>
              <a:rPr lang="zh-CN" altLang="en-US" sz="2400"/>
              <a:t>。后缀为</a:t>
            </a:r>
            <a:r>
              <a:rPr lang="en-US" altLang="zh-CN" sz="2400"/>
              <a:t>B</a:t>
            </a:r>
            <a:r>
              <a:rPr lang="zh-CN" altLang="en-US" sz="2400"/>
              <a:t>。计数时，是按“逢二进一”的原则计算的。</a:t>
            </a:r>
          </a:p>
          <a:p>
            <a:pPr algn="just">
              <a:lnSpc>
                <a:spcPts val="3200"/>
              </a:lnSpc>
              <a:buNone/>
            </a:pPr>
            <a:r>
              <a:rPr lang="zh-CN" altLang="en-US" sz="2400"/>
              <a:t>            </a:t>
            </a:r>
            <a:r>
              <a:rPr lang="en-US" altLang="zh-CN" sz="2400"/>
              <a:t>3.</a:t>
            </a:r>
            <a:r>
              <a:rPr lang="zh-CN" altLang="en-US" sz="2400"/>
              <a:t>十六进制数的表示法</a:t>
            </a:r>
          </a:p>
          <a:p>
            <a:pPr algn="just">
              <a:lnSpc>
                <a:spcPts val="3200"/>
              </a:lnSpc>
              <a:buNone/>
            </a:pPr>
            <a:r>
              <a:rPr lang="en-US" altLang="zh-CN" sz="2400"/>
              <a:t>           十六进制数需要用16个数码符号表示，采用0~9和A~F。后缀为H。计数时，是按“逢十六进一”的原则计算的。        </a:t>
            </a:r>
          </a:p>
          <a:p>
            <a:pPr algn="just">
              <a:lnSpc>
                <a:spcPts val="3200"/>
              </a:lnSpc>
              <a:buNone/>
            </a:pPr>
            <a:endParaRPr lang="en-US" altLang="zh-CN" sz="2400"/>
          </a:p>
        </p:txBody>
      </p:sp>
    </p:spTree>
  </p:cSld>
  <p:clrMapOvr>
    <a:masterClrMapping/>
  </p:clrMapOvr>
  <p:transition spd="med">
    <p:random/>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数制的转换与运算</a:t>
            </a:r>
          </a:p>
        </p:txBody>
      </p:sp>
      <p:sp>
        <p:nvSpPr>
          <p:cNvPr id="39938" name="内容占位符 2"/>
          <p:cNvSpPr>
            <a:spLocks noGrp="1"/>
          </p:cNvSpPr>
          <p:nvPr>
            <p:ph idx="4294967295"/>
          </p:nvPr>
        </p:nvSpPr>
        <p:spPr>
          <a:xfrm>
            <a:off x="234950" y="1711325"/>
            <a:ext cx="8466138" cy="4478338"/>
          </a:xfrm>
          <a:ln/>
        </p:spPr>
        <p:txBody>
          <a:bodyPr wrap="square" lIns="92075" tIns="46038" rIns="92075" bIns="46038" anchor="t" anchorCtr="0"/>
          <a:lstStyle/>
          <a:p>
            <a:pPr algn="just">
              <a:lnSpc>
                <a:spcPts val="3200"/>
              </a:lnSpc>
              <a:buNone/>
            </a:pPr>
            <a:r>
              <a:rPr lang="zh-CN" altLang="en-US" sz="2400"/>
              <a:t>【例</a:t>
            </a:r>
            <a:r>
              <a:rPr lang="en-US" altLang="zh-CN" sz="2400"/>
              <a:t>1.1</a:t>
            </a:r>
            <a:r>
              <a:rPr lang="zh-CN" altLang="en-US" sz="2400"/>
              <a:t>】 十进制数</a:t>
            </a:r>
            <a:r>
              <a:rPr lang="en-US" altLang="zh-CN" sz="2400"/>
              <a:t>3890.568</a:t>
            </a:r>
            <a:r>
              <a:rPr lang="zh-CN" altLang="en-US" sz="2400"/>
              <a:t>可以表示为</a:t>
            </a:r>
          </a:p>
          <a:p>
            <a:pPr algn="just">
              <a:lnSpc>
                <a:spcPts val="3200"/>
              </a:lnSpc>
              <a:buNone/>
            </a:pPr>
            <a:r>
              <a:rPr lang="en-US" altLang="zh-CN" sz="2400"/>
              <a:t>          </a:t>
            </a:r>
          </a:p>
          <a:p>
            <a:pPr algn="just">
              <a:lnSpc>
                <a:spcPts val="3200"/>
              </a:lnSpc>
              <a:buNone/>
            </a:pPr>
            <a:r>
              <a:rPr lang="en-US" altLang="zh-CN" sz="2400"/>
              <a:t>【例1.2】 二进制数1101.101B可以表示为：</a:t>
            </a:r>
          </a:p>
          <a:p>
            <a:pPr algn="just">
              <a:lnSpc>
                <a:spcPts val="3200"/>
              </a:lnSpc>
              <a:buNone/>
            </a:pPr>
            <a:endParaRPr lang="en-US" altLang="zh-CN" sz="2400"/>
          </a:p>
          <a:p>
            <a:pPr algn="just">
              <a:lnSpc>
                <a:spcPts val="3200"/>
              </a:lnSpc>
              <a:buNone/>
            </a:pPr>
            <a:r>
              <a:rPr lang="en-US" altLang="zh-CN" sz="2400"/>
              <a:t>【例1.3】 十六进制数12AB.2C5H可以表示为：</a:t>
            </a:r>
          </a:p>
          <a:p>
            <a:pPr algn="just">
              <a:lnSpc>
                <a:spcPts val="3200"/>
              </a:lnSpc>
              <a:buNone/>
            </a:pPr>
            <a:endParaRPr lang="en-US" altLang="zh-CN" sz="2400"/>
          </a:p>
          <a:p>
            <a:pPr algn="just">
              <a:lnSpc>
                <a:spcPts val="3200"/>
              </a:lnSpc>
              <a:buNone/>
            </a:pPr>
            <a:r>
              <a:rPr lang="en-US" altLang="zh-CN" sz="2400"/>
              <a:t>【例1.4】13D = 1101B</a:t>
            </a:r>
          </a:p>
          <a:p>
            <a:pPr algn="just">
              <a:lnSpc>
                <a:spcPts val="3200"/>
              </a:lnSpc>
              <a:buNone/>
            </a:pPr>
            <a:endParaRPr lang="en-US" altLang="zh-CN" sz="2400"/>
          </a:p>
        </p:txBody>
      </p:sp>
      <p:graphicFrame>
        <p:nvGraphicFramePr>
          <p:cNvPr id="39939" name="图片 27"/>
          <p:cNvGraphicFramePr>
            <a:graphicFrameLocks noChangeAspect="1"/>
          </p:cNvGraphicFramePr>
          <p:nvPr/>
        </p:nvGraphicFramePr>
        <p:xfrm>
          <a:off x="484188" y="2281238"/>
          <a:ext cx="7967662" cy="331787"/>
        </p:xfrm>
        <a:graphic>
          <a:graphicData uri="http://schemas.openxmlformats.org/presentationml/2006/ole">
            <mc:AlternateContent xmlns:mc="http://schemas.openxmlformats.org/markup-compatibility/2006">
              <mc:Choice xmlns:v="urn:schemas-microsoft-com:vml" Requires="v">
                <p:oleObj spid="_x0000_s6160" r:id="rId3" imgW="4888865" imgH="203200" progId="Equation.KSEE3">
                  <p:embed/>
                </p:oleObj>
              </mc:Choice>
              <mc:Fallback>
                <p:oleObj r:id="rId3" imgW="4888865" imgH="203200" progId="Equation.KSEE3">
                  <p:embed/>
                  <p:pic>
                    <p:nvPicPr>
                      <p:cNvPr id="0" name="图片 3079"/>
                      <p:cNvPicPr/>
                      <p:nvPr/>
                    </p:nvPicPr>
                    <p:blipFill>
                      <a:blip r:embed="rId4"/>
                      <a:stretch>
                        <a:fillRect/>
                      </a:stretch>
                    </p:blipFill>
                    <p:spPr>
                      <a:xfrm>
                        <a:off x="484188" y="2281238"/>
                        <a:ext cx="7967662" cy="331787"/>
                      </a:xfrm>
                      <a:prstGeom prst="rect">
                        <a:avLst/>
                      </a:prstGeom>
                      <a:solidFill>
                        <a:srgbClr val="C2E0FF"/>
                      </a:solidFill>
                      <a:ln w="38100">
                        <a:noFill/>
                        <a:miter/>
                      </a:ln>
                    </p:spPr>
                  </p:pic>
                </p:oleObj>
              </mc:Fallback>
            </mc:AlternateContent>
          </a:graphicData>
        </a:graphic>
      </p:graphicFrame>
      <p:graphicFrame>
        <p:nvGraphicFramePr>
          <p:cNvPr id="39940" name="图片 27"/>
          <p:cNvGraphicFramePr>
            <a:graphicFrameLocks noChangeAspect="1"/>
          </p:cNvGraphicFramePr>
          <p:nvPr/>
        </p:nvGraphicFramePr>
        <p:xfrm>
          <a:off x="495300" y="3227388"/>
          <a:ext cx="7769225" cy="355600"/>
        </p:xfrm>
        <a:graphic>
          <a:graphicData uri="http://schemas.openxmlformats.org/presentationml/2006/ole">
            <mc:AlternateContent xmlns:mc="http://schemas.openxmlformats.org/markup-compatibility/2006">
              <mc:Choice xmlns:v="urn:schemas-microsoft-com:vml" Requires="v">
                <p:oleObj spid="_x0000_s6161" r:id="rId5" imgW="4445000" imgH="203200" progId="Equation.KSEE3">
                  <p:embed/>
                </p:oleObj>
              </mc:Choice>
              <mc:Fallback>
                <p:oleObj r:id="rId5" imgW="4445000" imgH="203200" progId="Equation.KSEE3">
                  <p:embed/>
                  <p:pic>
                    <p:nvPicPr>
                      <p:cNvPr id="0" name="图片 3077"/>
                      <p:cNvPicPr/>
                      <p:nvPr/>
                    </p:nvPicPr>
                    <p:blipFill>
                      <a:blip r:embed="rId6"/>
                      <a:stretch>
                        <a:fillRect/>
                      </a:stretch>
                    </p:blipFill>
                    <p:spPr>
                      <a:xfrm>
                        <a:off x="495300" y="3227388"/>
                        <a:ext cx="7769225" cy="355600"/>
                      </a:xfrm>
                      <a:prstGeom prst="rect">
                        <a:avLst/>
                      </a:prstGeom>
                      <a:solidFill>
                        <a:srgbClr val="C2E0FF"/>
                      </a:solidFill>
                      <a:ln w="38100">
                        <a:noFill/>
                        <a:miter/>
                      </a:ln>
                    </p:spPr>
                  </p:pic>
                </p:oleObj>
              </mc:Fallback>
            </mc:AlternateContent>
          </a:graphicData>
        </a:graphic>
      </p:graphicFrame>
      <p:graphicFrame>
        <p:nvGraphicFramePr>
          <p:cNvPr id="39941" name="图片 27"/>
          <p:cNvGraphicFramePr>
            <a:graphicFrameLocks noChangeAspect="1"/>
          </p:cNvGraphicFramePr>
          <p:nvPr/>
        </p:nvGraphicFramePr>
        <p:xfrm>
          <a:off x="488950" y="4225925"/>
          <a:ext cx="8074025" cy="317500"/>
        </p:xfrm>
        <a:graphic>
          <a:graphicData uri="http://schemas.openxmlformats.org/presentationml/2006/ole">
            <mc:AlternateContent xmlns:mc="http://schemas.openxmlformats.org/markup-compatibility/2006">
              <mc:Choice xmlns:v="urn:schemas-microsoft-com:vml" Requires="v">
                <p:oleObj spid="_x0000_s6162" r:id="rId7" imgW="5168900" imgH="203200" progId="Equation.KSEE3">
                  <p:embed/>
                </p:oleObj>
              </mc:Choice>
              <mc:Fallback>
                <p:oleObj r:id="rId7" imgW="5168900" imgH="203200" progId="Equation.KSEE3">
                  <p:embed/>
                  <p:pic>
                    <p:nvPicPr>
                      <p:cNvPr id="0" name="图片 3078"/>
                      <p:cNvPicPr/>
                      <p:nvPr/>
                    </p:nvPicPr>
                    <p:blipFill>
                      <a:blip r:embed="rId8"/>
                      <a:stretch>
                        <a:fillRect/>
                      </a:stretch>
                    </p:blipFill>
                    <p:spPr>
                      <a:xfrm>
                        <a:off x="488950" y="4225925"/>
                        <a:ext cx="8074025" cy="317500"/>
                      </a:xfrm>
                      <a:prstGeom prst="rect">
                        <a:avLst/>
                      </a:prstGeom>
                      <a:solidFill>
                        <a:srgbClr val="C2E0FF"/>
                      </a:solidFill>
                      <a:ln w="38100">
                        <a:noFill/>
                        <a:miter/>
                      </a:ln>
                    </p:spPr>
                  </p:pic>
                </p:oleObj>
              </mc:Fallback>
            </mc:AlternateContent>
          </a:graphicData>
        </a:graphic>
      </p:graphicFrame>
      <p:pic>
        <p:nvPicPr>
          <p:cNvPr id="39942" name="Picture 6" descr="1a"/>
          <p:cNvPicPr>
            <a:picLocks noChangeAspect="1"/>
          </p:cNvPicPr>
          <p:nvPr/>
        </p:nvPicPr>
        <p:blipFill>
          <a:blip r:embed="rId9"/>
          <a:stretch>
            <a:fillRect/>
          </a:stretch>
        </p:blipFill>
        <p:spPr>
          <a:xfrm>
            <a:off x="3732213" y="4937125"/>
            <a:ext cx="2311400" cy="1830388"/>
          </a:xfrm>
          <a:prstGeom prst="rect">
            <a:avLst/>
          </a:prstGeom>
          <a:noFill/>
          <a:ln w="9525">
            <a:noFill/>
          </a:ln>
        </p:spPr>
      </p:pic>
    </p:spTree>
  </p:cSld>
  <p:clrMapOvr>
    <a:masterClrMapping/>
  </p:clrMapOvr>
  <p:transition spd="med">
    <p:random/>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2</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数制的转换与运算</a:t>
            </a:r>
          </a:p>
        </p:txBody>
      </p:sp>
      <p:sp>
        <p:nvSpPr>
          <p:cNvPr id="40962" name="内容占位符 2"/>
          <p:cNvSpPr>
            <a:spLocks noGrp="1"/>
          </p:cNvSpPr>
          <p:nvPr>
            <p:ph idx="4294967295"/>
          </p:nvPr>
        </p:nvSpPr>
        <p:spPr>
          <a:xfrm>
            <a:off x="919163" y="1973263"/>
            <a:ext cx="6981825" cy="3852862"/>
          </a:xfrm>
          <a:ln/>
        </p:spPr>
        <p:txBody>
          <a:bodyPr wrap="square" lIns="92075" tIns="46038" rIns="92075" bIns="46038" anchor="t" anchorCtr="0"/>
          <a:lstStyle/>
          <a:p>
            <a:pPr algn="just">
              <a:lnSpc>
                <a:spcPts val="3200"/>
              </a:lnSpc>
              <a:buNone/>
            </a:pPr>
            <a:r>
              <a:rPr lang="en-US" altLang="zh-CN" sz="2400"/>
              <a:t>【例1.5】0.6875D = 0.1011B</a:t>
            </a:r>
          </a:p>
          <a:p>
            <a:pPr algn="just">
              <a:lnSpc>
                <a:spcPts val="3200"/>
              </a:lnSpc>
              <a:buNone/>
            </a:pPr>
            <a:r>
              <a:rPr lang="en-US" altLang="zh-CN" sz="2400"/>
              <a:t>  0.6875D×2=1.375	……	  B-1=1</a:t>
            </a:r>
          </a:p>
          <a:p>
            <a:pPr algn="just">
              <a:lnSpc>
                <a:spcPts val="3200"/>
              </a:lnSpc>
              <a:buNone/>
            </a:pPr>
            <a:r>
              <a:rPr lang="en-US" altLang="zh-CN" sz="2400"/>
              <a:t>  0.375D×2 =0.75 	……	  B-2=0</a:t>
            </a:r>
          </a:p>
          <a:p>
            <a:pPr algn="just">
              <a:lnSpc>
                <a:spcPts val="3200"/>
              </a:lnSpc>
              <a:buNone/>
            </a:pPr>
            <a:r>
              <a:rPr lang="en-US" altLang="zh-CN" sz="2400"/>
              <a:t>  0.75D×2  =1.5  	……      B-3=1</a:t>
            </a:r>
          </a:p>
          <a:p>
            <a:pPr algn="just">
              <a:lnSpc>
                <a:spcPts val="3200"/>
              </a:lnSpc>
              <a:buNone/>
            </a:pPr>
            <a:r>
              <a:rPr lang="en-US" altLang="zh-CN" sz="2400"/>
              <a:t>  0.5D×2   =1.0  	……   	  B-4=1</a:t>
            </a:r>
          </a:p>
          <a:p>
            <a:pPr algn="just">
              <a:lnSpc>
                <a:spcPts val="3200"/>
              </a:lnSpc>
              <a:buNone/>
            </a:pPr>
            <a:endParaRPr lang="en-US" altLang="zh-CN" sz="2400"/>
          </a:p>
        </p:txBody>
      </p:sp>
    </p:spTree>
  </p:cSld>
  <p:clrMapOvr>
    <a:masterClrMapping/>
  </p:clrMapOvr>
  <p:transition spd="med">
    <p:random/>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符号数的表示及运算</a:t>
            </a:r>
          </a:p>
        </p:txBody>
      </p:sp>
      <p:sp>
        <p:nvSpPr>
          <p:cNvPr id="41986" name="内容占位符 2"/>
          <p:cNvSpPr>
            <a:spLocks noGrp="1"/>
          </p:cNvSpPr>
          <p:nvPr>
            <p:ph idx="4294967295"/>
          </p:nvPr>
        </p:nvSpPr>
        <p:spPr>
          <a:xfrm>
            <a:off x="185738" y="1119188"/>
            <a:ext cx="8382000" cy="5581650"/>
          </a:xfrm>
          <a:ln/>
        </p:spPr>
        <p:txBody>
          <a:bodyPr wrap="square" lIns="92075" tIns="46038" rIns="92075" bIns="46038" anchor="t" anchorCtr="0"/>
          <a:lstStyle/>
          <a:p>
            <a:pPr algn="just">
              <a:lnSpc>
                <a:spcPts val="3200"/>
              </a:lnSpc>
              <a:buNone/>
            </a:pPr>
            <a:r>
              <a:rPr lang="en-US" altLang="zh-CN" sz="2400"/>
              <a:t>             </a:t>
            </a:r>
            <a:r>
              <a:rPr lang="zh-CN" altLang="en-US" sz="2400"/>
              <a:t>机器数可以用不同的码制来表示，常用的有原码、反码、补码表示法。</a:t>
            </a:r>
          </a:p>
          <a:p>
            <a:pPr algn="just">
              <a:lnSpc>
                <a:spcPts val="3200"/>
              </a:lnSpc>
              <a:buNone/>
            </a:pPr>
            <a:r>
              <a:rPr lang="zh-CN" altLang="en-US" sz="2400"/>
              <a:t>             </a:t>
            </a:r>
            <a:r>
              <a:rPr lang="en-US" altLang="zh-CN" sz="2400"/>
              <a:t>1</a:t>
            </a:r>
            <a:r>
              <a:rPr lang="zh-CN" altLang="en-US" sz="2400"/>
              <a:t>）原码</a:t>
            </a:r>
          </a:p>
          <a:p>
            <a:pPr algn="just">
              <a:lnSpc>
                <a:spcPts val="3200"/>
              </a:lnSpc>
              <a:buNone/>
            </a:pPr>
            <a:r>
              <a:rPr lang="zh-CN" altLang="en-US" sz="2400"/>
              <a:t>             在用二进制原码表示的数中，符号位为“</a:t>
            </a:r>
            <a:r>
              <a:rPr lang="en-US" altLang="zh-CN" sz="2400"/>
              <a:t>0”</a:t>
            </a:r>
            <a:r>
              <a:rPr lang="zh-CN" altLang="en-US" sz="2400"/>
              <a:t>表示正数，符号位为“</a:t>
            </a:r>
            <a:r>
              <a:rPr lang="en-US" altLang="zh-CN" sz="2400"/>
              <a:t>1”</a:t>
            </a:r>
            <a:r>
              <a:rPr lang="zh-CN" altLang="en-US" sz="2400"/>
              <a:t>表示负数，其他各数值取原值不变。</a:t>
            </a:r>
          </a:p>
          <a:p>
            <a:pPr algn="just">
              <a:lnSpc>
                <a:spcPts val="3200"/>
              </a:lnSpc>
              <a:buNone/>
            </a:pPr>
            <a:r>
              <a:rPr lang="en-US" altLang="zh-CN" sz="2400"/>
              <a:t>             2）反码</a:t>
            </a:r>
          </a:p>
          <a:p>
            <a:pPr algn="just">
              <a:lnSpc>
                <a:spcPts val="3200"/>
              </a:lnSpc>
              <a:buNone/>
            </a:pPr>
            <a:r>
              <a:rPr lang="en-US" altLang="zh-CN" sz="2400"/>
              <a:t>             对于正数，反码的表示与原码相同，即[X]</a:t>
            </a:r>
            <a:r>
              <a:rPr lang="en-US" altLang="zh-CN" sz="2400" baseline="-25000"/>
              <a:t>原</a:t>
            </a:r>
            <a:r>
              <a:rPr lang="en-US" altLang="zh-CN" sz="2400"/>
              <a:t>=[X]</a:t>
            </a:r>
            <a:r>
              <a:rPr lang="en-US" altLang="zh-CN" sz="2400" baseline="-25000"/>
              <a:t>反 </a:t>
            </a:r>
            <a:r>
              <a:rPr lang="en-US" altLang="zh-CN" sz="2400"/>
              <a:t>。</a:t>
            </a:r>
          </a:p>
          <a:p>
            <a:pPr algn="just">
              <a:lnSpc>
                <a:spcPts val="3200"/>
              </a:lnSpc>
              <a:buNone/>
            </a:pPr>
            <a:r>
              <a:rPr lang="en-US" altLang="zh-CN" sz="2400"/>
              <a:t>             对于负数，负数的反码表示，除符号位仍为“1”外，其余各位数值位按位取反</a:t>
            </a:r>
            <a:r>
              <a:rPr lang="zh-CN" altLang="en-US" sz="2400"/>
              <a:t>。</a:t>
            </a:r>
          </a:p>
          <a:p>
            <a:pPr algn="just">
              <a:lnSpc>
                <a:spcPts val="3200"/>
              </a:lnSpc>
              <a:buNone/>
            </a:pPr>
            <a:r>
              <a:rPr lang="en-US" altLang="zh-CN" sz="2400"/>
              <a:t>             3）补码</a:t>
            </a:r>
          </a:p>
          <a:p>
            <a:pPr algn="just">
              <a:lnSpc>
                <a:spcPts val="3200"/>
              </a:lnSpc>
              <a:buNone/>
            </a:pPr>
            <a:r>
              <a:rPr lang="en-US" altLang="zh-CN" sz="2400"/>
              <a:t>             正数的补码与它的原码和反码均相同。</a:t>
            </a:r>
          </a:p>
          <a:p>
            <a:pPr algn="just">
              <a:lnSpc>
                <a:spcPts val="3200"/>
              </a:lnSpc>
              <a:buNone/>
            </a:pPr>
            <a:r>
              <a:rPr lang="en-US" altLang="zh-CN" sz="2400"/>
              <a:t>             </a:t>
            </a:r>
            <a:r>
              <a:rPr lang="zh-CN" altLang="en-US" sz="2400"/>
              <a:t>负数的补码：</a:t>
            </a:r>
            <a:r>
              <a:rPr lang="en-US" altLang="zh-CN" sz="2400"/>
              <a:t> [X]</a:t>
            </a:r>
            <a:r>
              <a:rPr lang="zh-CN" altLang="en-US" sz="2400" baseline="-25000"/>
              <a:t>补</a:t>
            </a:r>
            <a:r>
              <a:rPr lang="en-US" altLang="zh-CN" sz="2400"/>
              <a:t>=[X]</a:t>
            </a:r>
            <a:r>
              <a:rPr lang="en-US" altLang="zh-CN" sz="2400" baseline="-25000"/>
              <a:t>反</a:t>
            </a:r>
            <a:r>
              <a:rPr lang="en-US" altLang="zh-CN" sz="2400"/>
              <a:t>+1 。     </a:t>
            </a:r>
          </a:p>
          <a:p>
            <a:pPr algn="just">
              <a:lnSpc>
                <a:spcPts val="3200"/>
              </a:lnSpc>
              <a:buNone/>
            </a:pPr>
            <a:endParaRPr lang="en-US" altLang="zh-CN" sz="2400"/>
          </a:p>
        </p:txBody>
      </p:sp>
    </p:spTree>
  </p:cSld>
  <p:clrMapOvr>
    <a:masterClrMapping/>
  </p:clrMapOvr>
  <p:transition spd="med">
    <p:random/>
  </p:transition>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符号数的表示及运算</a:t>
            </a:r>
          </a:p>
        </p:txBody>
      </p:sp>
      <p:sp>
        <p:nvSpPr>
          <p:cNvPr id="43010" name="内容占位符 2"/>
          <p:cNvSpPr>
            <a:spLocks noGrp="1"/>
          </p:cNvSpPr>
          <p:nvPr>
            <p:ph idx="4294967295"/>
          </p:nvPr>
        </p:nvSpPr>
        <p:spPr>
          <a:xfrm>
            <a:off x="185738" y="1465263"/>
            <a:ext cx="8382000" cy="5170487"/>
          </a:xfrm>
          <a:ln/>
        </p:spPr>
        <p:txBody>
          <a:bodyPr wrap="square" lIns="92075" tIns="46038" rIns="92075" bIns="46038" anchor="t" anchorCtr="0"/>
          <a:lstStyle/>
          <a:p>
            <a:pPr algn="just">
              <a:lnSpc>
                <a:spcPts val="3200"/>
              </a:lnSpc>
              <a:buNone/>
            </a:pPr>
            <a:r>
              <a:rPr lang="en-US" altLang="zh-CN" sz="2400"/>
              <a:t>                                   </a:t>
            </a:r>
            <a:r>
              <a:rPr lang="en-US" altLang="zh-CN" sz="2000"/>
              <a:t>表1-5  原码、反码、补码表  </a:t>
            </a:r>
            <a:r>
              <a:rPr lang="en-US" altLang="zh-CN" sz="2400"/>
              <a:t>      </a:t>
            </a:r>
          </a:p>
          <a:p>
            <a:pPr algn="just">
              <a:lnSpc>
                <a:spcPts val="3200"/>
              </a:lnSpc>
              <a:buNone/>
            </a:pPr>
            <a:endParaRPr lang="en-US" altLang="zh-CN" sz="2400"/>
          </a:p>
        </p:txBody>
      </p:sp>
      <p:graphicFrame>
        <p:nvGraphicFramePr>
          <p:cNvPr id="2" name="表格 -1"/>
          <p:cNvGraphicFramePr/>
          <p:nvPr/>
        </p:nvGraphicFramePr>
        <p:xfrm>
          <a:off x="614363" y="1930400"/>
          <a:ext cx="7882890" cy="4537075"/>
        </p:xfrm>
        <a:graphic>
          <a:graphicData uri="http://schemas.openxmlformats.org/drawingml/2006/table">
            <a:tbl>
              <a:tblPr firstRow="1" bandRow="1">
                <a:tableStyleId>{5940675A-B579-460E-94D1-54222C63F5DA}</a:tableStyleId>
              </a:tblPr>
              <a:tblGrid>
                <a:gridCol w="1511300">
                  <a:extLst>
                    <a:ext uri="{9D8B030D-6E8A-4147-A177-3AD203B41FA5}">
                      <a16:colId xmlns:a16="http://schemas.microsoft.com/office/drawing/2014/main" val="20000"/>
                    </a:ext>
                  </a:extLst>
                </a:gridCol>
                <a:gridCol w="1601470">
                  <a:extLst>
                    <a:ext uri="{9D8B030D-6E8A-4147-A177-3AD203B41FA5}">
                      <a16:colId xmlns:a16="http://schemas.microsoft.com/office/drawing/2014/main" val="20001"/>
                    </a:ext>
                  </a:extLst>
                </a:gridCol>
                <a:gridCol w="1729740">
                  <a:extLst>
                    <a:ext uri="{9D8B030D-6E8A-4147-A177-3AD203B41FA5}">
                      <a16:colId xmlns:a16="http://schemas.microsoft.com/office/drawing/2014/main" val="20002"/>
                    </a:ext>
                  </a:extLst>
                </a:gridCol>
                <a:gridCol w="1525270">
                  <a:extLst>
                    <a:ext uri="{9D8B030D-6E8A-4147-A177-3AD203B41FA5}">
                      <a16:colId xmlns:a16="http://schemas.microsoft.com/office/drawing/2014/main" val="20003"/>
                    </a:ext>
                  </a:extLst>
                </a:gridCol>
                <a:gridCol w="1515110">
                  <a:extLst>
                    <a:ext uri="{9D8B030D-6E8A-4147-A177-3AD203B41FA5}">
                      <a16:colId xmlns:a16="http://schemas.microsoft.com/office/drawing/2014/main" val="20004"/>
                    </a:ext>
                  </a:extLst>
                </a:gridCol>
              </a:tblGrid>
              <a:tr h="324485">
                <a:tc rowSpan="2">
                  <a:txBody>
                    <a:bodyPr/>
                    <a:lstStyle/>
                    <a:p>
                      <a:pPr marL="0" indent="0" algn="ctr">
                        <a:buNone/>
                      </a:pPr>
                      <a:r>
                        <a:rPr lang="zh-CN" altLang="en-US" sz="1800" b="0" u="none">
                          <a:solidFill>
                            <a:srgbClr val="000000"/>
                          </a:solidFill>
                          <a:latin typeface="宋体" panose="02010600030101010101" pitchFamily="2" charset="-122"/>
                          <a:ea typeface="宋体" panose="02010600030101010101" pitchFamily="2" charset="-122"/>
                          <a:cs typeface="宋体" panose="02010600030101010101" pitchFamily="2" charset="-122"/>
                        </a:rPr>
                        <a:t>二进制数</a:t>
                      </a:r>
                    </a:p>
                  </a:txBody>
                  <a:tcPr marL="0" marR="0" marT="0" marB="1" anchor="ct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a:noFill/>
                    </a:lnB>
                    <a:lnTlToBr>
                      <a:noFill/>
                    </a:lnTlToBr>
                    <a:lnBlToTr>
                      <a:noFill/>
                    </a:lnBlToTr>
                    <a:solidFill>
                      <a:schemeClr val="bg1">
                        <a:lumMod val="20000"/>
                        <a:lumOff val="80000"/>
                      </a:schemeClr>
                    </a:solidFill>
                  </a:tcPr>
                </a:tc>
                <a:tc rowSpan="2">
                  <a:txBody>
                    <a:bodyPr/>
                    <a:lstStyle/>
                    <a:p>
                      <a:pPr marL="0" indent="0" algn="ctr">
                        <a:buNone/>
                      </a:pPr>
                      <a:r>
                        <a:rPr lang="zh-CN" altLang="en-US" sz="1800" b="0" u="none">
                          <a:solidFill>
                            <a:srgbClr val="000000"/>
                          </a:solidFill>
                          <a:latin typeface="宋体" panose="02010600030101010101" pitchFamily="2" charset="-122"/>
                          <a:ea typeface="宋体" panose="02010600030101010101" pitchFamily="2" charset="-122"/>
                          <a:cs typeface="宋体" panose="02010600030101010101" pitchFamily="2" charset="-122"/>
                        </a:rPr>
                        <a:t>无符号数</a:t>
                      </a:r>
                    </a:p>
                  </a:txBody>
                  <a:tcPr marL="0" marR="0" marT="0" marB="1" anchor="ct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a:noFill/>
                    </a:lnB>
                    <a:lnTlToBr>
                      <a:noFill/>
                    </a:lnTlToBr>
                    <a:lnBlToTr>
                      <a:noFill/>
                    </a:lnBlToTr>
                    <a:solidFill>
                      <a:schemeClr val="bg1">
                        <a:lumMod val="20000"/>
                        <a:lumOff val="80000"/>
                      </a:schemeClr>
                    </a:solidFill>
                  </a:tcPr>
                </a:tc>
                <a:tc gridSpan="3">
                  <a:txBody>
                    <a:bodyPr/>
                    <a:lstStyle/>
                    <a:p>
                      <a:pPr marL="0" indent="0" algn="ctr">
                        <a:buNone/>
                      </a:pPr>
                      <a:r>
                        <a:rPr lang="zh-CN" altLang="en-US" sz="1800" b="0" u="none">
                          <a:solidFill>
                            <a:srgbClr val="000000"/>
                          </a:solidFill>
                          <a:latin typeface="宋体" panose="02010600030101010101" pitchFamily="2" charset="-122"/>
                          <a:ea typeface="宋体" panose="02010600030101010101" pitchFamily="2" charset="-122"/>
                          <a:cs typeface="宋体" panose="02010600030101010101" pitchFamily="2" charset="-122"/>
                        </a:rPr>
                        <a:t>有符号数</a:t>
                      </a:r>
                    </a:p>
                  </a:txBody>
                  <a:tcPr marL="0" marR="0" marT="0" marB="1">
                    <a:lnL w="6350" cap="flat" cmpd="sng">
                      <a:solidFill>
                        <a:srgbClr val="080000"/>
                      </a:solidFill>
                      <a:prstDash val="solid"/>
                      <a:headEnd type="none" w="med" len="med"/>
                      <a:tailEnd type="none" w="med" len="med"/>
                    </a:lnL>
                    <a:lnR>
                      <a:noFill/>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hMerge="1">
                  <a:txBody>
                    <a:bodyPr/>
                    <a:lstStyle/>
                    <a:p>
                      <a:endParaRPr lang="zh-CN"/>
                    </a:p>
                  </a:txBody>
                  <a:tcP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tcPr>
                </a:tc>
                <a:tc hMerge="1">
                  <a:txBody>
                    <a:bodyPr/>
                    <a:lstStyle/>
                    <a:p>
                      <a:endParaRPr lang="zh-CN"/>
                    </a:p>
                  </a:txBody>
                  <a:tcPr>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tcPr>
                </a:tc>
                <a:extLst>
                  <a:ext uri="{0D108BD9-81ED-4DB2-BD59-A6C34878D82A}">
                    <a16:rowId xmlns:a16="http://schemas.microsoft.com/office/drawing/2014/main" val="10000"/>
                  </a:ext>
                </a:extLst>
              </a:tr>
              <a:tr h="323215">
                <a:tc vMerge="1">
                  <a:txBody>
                    <a:bodyPr/>
                    <a:lstStyle/>
                    <a:p>
                      <a:endParaRPr lang="zh-CN"/>
                    </a:p>
                  </a:txBody>
                  <a:tcPr>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B w="6350" cap="flat" cmpd="sng">
                      <a:solidFill>
                        <a:srgbClr val="080000"/>
                      </a:solidFill>
                      <a:prstDash val="solid"/>
                      <a:headEnd type="none" w="med" len="med"/>
                      <a:tailEnd type="none" w="med" len="med"/>
                    </a:lnB>
                  </a:tcPr>
                </a:tc>
                <a:tc vMerge="1">
                  <a:txBody>
                    <a:bodyPr/>
                    <a:lstStyle/>
                    <a:p>
                      <a:endParaRPr lang="zh-CN"/>
                    </a:p>
                  </a:txBody>
                  <a:tcPr>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B w="6350" cap="flat" cmpd="sng">
                      <a:solidFill>
                        <a:srgbClr val="080000"/>
                      </a:solidFill>
                      <a:prstDash val="solid"/>
                      <a:headEnd type="none" w="med" len="med"/>
                      <a:tailEnd type="none" w="med" len="med"/>
                    </a:lnB>
                  </a:tcPr>
                </a:tc>
                <a:tc>
                  <a:txBody>
                    <a:bodyPr/>
                    <a:lstStyle/>
                    <a:p>
                      <a:pPr marL="0" indent="0" algn="ctr">
                        <a:buNone/>
                      </a:pPr>
                      <a:r>
                        <a:rPr lang="zh-CN" altLang="en-US" sz="1800" b="0" u="none">
                          <a:solidFill>
                            <a:srgbClr val="000000"/>
                          </a:solidFill>
                          <a:latin typeface="宋体" panose="02010600030101010101" pitchFamily="2" charset="-122"/>
                          <a:ea typeface="宋体" panose="02010600030101010101" pitchFamily="2" charset="-122"/>
                          <a:cs typeface="宋体" panose="02010600030101010101" pitchFamily="2" charset="-122"/>
                        </a:rPr>
                        <a:t>原码</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zh-CN" altLang="en-US" sz="1800" b="0" u="none">
                          <a:solidFill>
                            <a:srgbClr val="000000"/>
                          </a:solidFill>
                          <a:latin typeface="宋体" panose="02010600030101010101" pitchFamily="2" charset="-122"/>
                          <a:ea typeface="宋体" panose="02010600030101010101" pitchFamily="2" charset="-122"/>
                          <a:cs typeface="宋体" panose="02010600030101010101" pitchFamily="2" charset="-122"/>
                        </a:rPr>
                        <a:t>补码</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zh-CN" altLang="en-US" sz="1800" b="0" u="none">
                          <a:solidFill>
                            <a:srgbClr val="000000"/>
                          </a:solidFill>
                          <a:latin typeface="宋体" panose="02010600030101010101" pitchFamily="2" charset="-122"/>
                          <a:ea typeface="宋体" panose="02010600030101010101" pitchFamily="2" charset="-122"/>
                          <a:cs typeface="宋体" panose="02010600030101010101" pitchFamily="2" charset="-122"/>
                        </a:rPr>
                        <a:t>反码</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extLst>
                  <a:ext uri="{0D108BD9-81ED-4DB2-BD59-A6C34878D82A}">
                    <a16:rowId xmlns:a16="http://schemas.microsoft.com/office/drawing/2014/main" val="10001"/>
                  </a:ext>
                </a:extLst>
              </a:tr>
              <a:tr h="325120">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0000 0000</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no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0</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no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+ 0</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0</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+ 0</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extLst>
                  <a:ext uri="{0D108BD9-81ED-4DB2-BD59-A6C34878D82A}">
                    <a16:rowId xmlns:a16="http://schemas.microsoft.com/office/drawing/2014/main" val="10002"/>
                  </a:ext>
                </a:extLst>
              </a:tr>
              <a:tr h="323850">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0000 0001</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1</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extLst>
                  <a:ext uri="{0D108BD9-81ED-4DB2-BD59-A6C34878D82A}">
                    <a16:rowId xmlns:a16="http://schemas.microsoft.com/office/drawing/2014/main" val="10003"/>
                  </a:ext>
                </a:extLst>
              </a:tr>
              <a:tr h="323215">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0000 0010</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+ 2</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extLst>
                  <a:ext uri="{0D108BD9-81ED-4DB2-BD59-A6C34878D82A}">
                    <a16:rowId xmlns:a16="http://schemas.microsoft.com/office/drawing/2014/main" val="10004"/>
                  </a:ext>
                </a:extLst>
              </a:tr>
              <a:tr h="324485">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extLst>
                  <a:ext uri="{0D108BD9-81ED-4DB2-BD59-A6C34878D82A}">
                    <a16:rowId xmlns:a16="http://schemas.microsoft.com/office/drawing/2014/main" val="10005"/>
                  </a:ext>
                </a:extLst>
              </a:tr>
              <a:tr h="325120">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0111 1110</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126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+ 126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+ 126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+ 126</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extLst>
                  <a:ext uri="{0D108BD9-81ED-4DB2-BD59-A6C34878D82A}">
                    <a16:rowId xmlns:a16="http://schemas.microsoft.com/office/drawing/2014/main" val="10006"/>
                  </a:ext>
                </a:extLst>
              </a:tr>
              <a:tr h="323215">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0111 1111</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127</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+ 127</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+ 127</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+ 127</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extLst>
                  <a:ext uri="{0D108BD9-81ED-4DB2-BD59-A6C34878D82A}">
                    <a16:rowId xmlns:a16="http://schemas.microsoft.com/office/drawing/2014/main" val="10007"/>
                  </a:ext>
                </a:extLst>
              </a:tr>
              <a:tr h="324485">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1000 0000</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128</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- 0</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- 128</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- 127</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extLst>
                  <a:ext uri="{0D108BD9-81ED-4DB2-BD59-A6C34878D82A}">
                    <a16:rowId xmlns:a16="http://schemas.microsoft.com/office/drawing/2014/main" val="10008"/>
                  </a:ext>
                </a:extLst>
              </a:tr>
              <a:tr h="323215">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1000 0001</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129</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- 127</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- 126</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extLst>
                  <a:ext uri="{0D108BD9-81ED-4DB2-BD59-A6C34878D82A}">
                    <a16:rowId xmlns:a16="http://schemas.microsoft.com/office/drawing/2014/main" val="10009"/>
                  </a:ext>
                </a:extLst>
              </a:tr>
              <a:tr h="323850">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extLst>
                  <a:ext uri="{0D108BD9-81ED-4DB2-BD59-A6C34878D82A}">
                    <a16:rowId xmlns:a16="http://schemas.microsoft.com/office/drawing/2014/main" val="10010"/>
                  </a:ext>
                </a:extLst>
              </a:tr>
              <a:tr h="325120">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1111 1101</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253</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- 125</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- 3</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- 2</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extLst>
                  <a:ext uri="{0D108BD9-81ED-4DB2-BD59-A6C34878D82A}">
                    <a16:rowId xmlns:a16="http://schemas.microsoft.com/office/drawing/2014/main" val="10011"/>
                  </a:ext>
                </a:extLst>
              </a:tr>
              <a:tr h="323215">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1111 1110</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254</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- 126</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- 2</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extLst>
                  <a:ext uri="{0D108BD9-81ED-4DB2-BD59-A6C34878D82A}">
                    <a16:rowId xmlns:a16="http://schemas.microsoft.com/office/drawing/2014/main" val="10012"/>
                  </a:ext>
                </a:extLst>
              </a:tr>
              <a:tr h="324485">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1111 1111</a:t>
                      </a:r>
                    </a:p>
                  </a:txBody>
                  <a:tcPr marL="0" marR="0" marT="0" marB="1">
                    <a:lnL w="9525" cap="flat" cmpd="sng">
                      <a:solidFill>
                        <a:srgbClr val="00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255</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- 127</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- 1</a:t>
                      </a:r>
                    </a:p>
                  </a:txBody>
                  <a:tcPr marL="0" marR="0" marT="0" marB="1">
                    <a:lnL w="6350" cap="flat" cmpd="sng">
                      <a:solidFill>
                        <a:srgbClr val="080000"/>
                      </a:solidFill>
                      <a:prstDash val="solid"/>
                      <a:headEnd type="none" w="med" len="med"/>
                      <a:tailEnd type="none" w="med" len="med"/>
                    </a:lnL>
                    <a:lnR w="6350" cap="flat" cmpd="sng">
                      <a:solidFill>
                        <a:srgbClr val="08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tc>
                  <a:txBody>
                    <a:bodyPr/>
                    <a:lstStyle/>
                    <a:p>
                      <a:pPr marL="0" indent="0" algn="ctr">
                        <a:buNone/>
                      </a:pPr>
                      <a:r>
                        <a:rPr lang="en-US" altLang="zh-CN" sz="1800" b="0" u="none">
                          <a:solidFill>
                            <a:srgbClr val="000000"/>
                          </a:solidFill>
                          <a:latin typeface="宋体" panose="02010600030101010101" pitchFamily="2" charset="-122"/>
                          <a:ea typeface="宋体" panose="02010600030101010101" pitchFamily="2" charset="-122"/>
                          <a:cs typeface="宋体" panose="02010600030101010101" pitchFamily="2" charset="-122"/>
                        </a:rPr>
                        <a:t>- 0</a:t>
                      </a:r>
                    </a:p>
                  </a:txBody>
                  <a:tcPr marL="0" marR="0" marT="0" marB="1">
                    <a:lnL w="6350" cap="flat" cmpd="sng">
                      <a:solidFill>
                        <a:srgbClr val="08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80000"/>
                      </a:solidFill>
                      <a:prstDash val="solid"/>
                      <a:headEnd type="none" w="med" len="med"/>
                      <a:tailEnd type="none" w="med" len="med"/>
                    </a:lnT>
                    <a:lnB w="6350" cap="flat" cmpd="sng">
                      <a:solidFill>
                        <a:srgbClr val="080000"/>
                      </a:solidFill>
                      <a:prstDash val="solid"/>
                      <a:headEnd type="none" w="med" len="med"/>
                      <a:tailEnd type="none" w="med" len="med"/>
                    </a:lnB>
                    <a:lnTlToBr>
                      <a:noFill/>
                    </a:lnTlToBr>
                    <a:lnBlToTr>
                      <a:noFill/>
                    </a:lnBlToTr>
                    <a:solidFill>
                      <a:schemeClr val="bg1">
                        <a:lumMod val="20000"/>
                        <a:lumOff val="80000"/>
                      </a:schemeClr>
                    </a:solidFill>
                  </a:tcPr>
                </a:tc>
                <a:extLst>
                  <a:ext uri="{0D108BD9-81ED-4DB2-BD59-A6C34878D82A}">
                    <a16:rowId xmlns:a16="http://schemas.microsoft.com/office/drawing/2014/main" val="10013"/>
                  </a:ext>
                </a:extLst>
              </a:tr>
            </a:tbl>
          </a:graphicData>
        </a:graphic>
      </p:graphicFrame>
    </p:spTree>
  </p:cSld>
  <p:clrMapOvr>
    <a:masterClrMapping/>
  </p:clrMapOvr>
  <p:transition spd="med">
    <p:random/>
  </p:transition>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计算机中的定点数和浮点数</a:t>
            </a:r>
          </a:p>
        </p:txBody>
      </p:sp>
      <p:sp>
        <p:nvSpPr>
          <p:cNvPr id="44034" name="内容占位符 2"/>
          <p:cNvSpPr>
            <a:spLocks noGrp="1"/>
          </p:cNvSpPr>
          <p:nvPr>
            <p:ph idx="4294967295"/>
          </p:nvPr>
        </p:nvSpPr>
        <p:spPr>
          <a:xfrm>
            <a:off x="100013" y="1439863"/>
            <a:ext cx="8669337" cy="5170487"/>
          </a:xfrm>
          <a:ln/>
        </p:spPr>
        <p:txBody>
          <a:bodyPr wrap="square" lIns="92075" tIns="46038" rIns="92075" bIns="46038" anchor="t" anchorCtr="0"/>
          <a:lstStyle/>
          <a:p>
            <a:pPr algn="just">
              <a:lnSpc>
                <a:spcPts val="3200"/>
              </a:lnSpc>
              <a:buNone/>
            </a:pPr>
            <a:r>
              <a:rPr lang="en-US" altLang="zh-CN" sz="2400"/>
              <a:t>             </a:t>
            </a:r>
            <a:r>
              <a:rPr lang="zh-CN" altLang="en-US" sz="2400"/>
              <a:t>对于任意一个二进制数，都可以表示为</a:t>
            </a:r>
          </a:p>
          <a:p>
            <a:pPr algn="just">
              <a:lnSpc>
                <a:spcPts val="3200"/>
              </a:lnSpc>
              <a:buNone/>
            </a:pPr>
            <a:endParaRPr lang="zh-CN" altLang="en-US" sz="2400"/>
          </a:p>
          <a:p>
            <a:pPr algn="just">
              <a:lnSpc>
                <a:spcPts val="3200"/>
              </a:lnSpc>
              <a:buNone/>
            </a:pPr>
            <a:r>
              <a:rPr lang="zh-CN" altLang="en-US" sz="2400"/>
              <a:t>             式中，</a:t>
            </a:r>
            <a:r>
              <a:rPr lang="en-US" altLang="zh-CN" sz="2400"/>
              <a:t>J</a:t>
            </a:r>
            <a:r>
              <a:rPr lang="zh-CN" altLang="en-US" sz="2400"/>
              <a:t>称为数</a:t>
            </a:r>
            <a:r>
              <a:rPr lang="en-US" altLang="zh-CN" sz="2400"/>
              <a:t>N</a:t>
            </a:r>
            <a:r>
              <a:rPr lang="zh-CN" altLang="en-US" sz="2400"/>
              <a:t>的阶；</a:t>
            </a:r>
            <a:r>
              <a:rPr lang="en-US" altLang="zh-CN" sz="2400"/>
              <a:t>S</a:t>
            </a:r>
            <a:r>
              <a:rPr lang="zh-CN" altLang="en-US" sz="2400"/>
              <a:t>称为数</a:t>
            </a:r>
            <a:r>
              <a:rPr lang="en-US" altLang="zh-CN" sz="2400"/>
              <a:t>N</a:t>
            </a:r>
            <a:r>
              <a:rPr lang="zh-CN" altLang="en-US" sz="2400"/>
              <a:t>的尾数。尾数</a:t>
            </a:r>
            <a:r>
              <a:rPr lang="en-US" altLang="zh-CN" sz="2400"/>
              <a:t>S</a:t>
            </a:r>
            <a:r>
              <a:rPr lang="zh-CN" altLang="en-US" sz="2400"/>
              <a:t>表示数</a:t>
            </a:r>
            <a:r>
              <a:rPr lang="en-US" altLang="zh-CN" sz="2400"/>
              <a:t>N</a:t>
            </a:r>
            <a:r>
              <a:rPr lang="zh-CN" altLang="en-US" sz="2400"/>
              <a:t>的全部有效数字，阶</a:t>
            </a:r>
            <a:r>
              <a:rPr lang="en-US" altLang="zh-CN" sz="2400"/>
              <a:t>J</a:t>
            </a:r>
            <a:r>
              <a:rPr lang="zh-CN" altLang="en-US" sz="2400"/>
              <a:t>表示出小数点的位置。</a:t>
            </a:r>
          </a:p>
          <a:p>
            <a:pPr algn="just">
              <a:lnSpc>
                <a:spcPts val="3200"/>
              </a:lnSpc>
              <a:buNone/>
            </a:pPr>
            <a:r>
              <a:rPr lang="zh-CN" altLang="en-US" sz="2400"/>
              <a:t>             </a:t>
            </a:r>
            <a:r>
              <a:rPr lang="en-US" altLang="zh-CN" sz="2400"/>
              <a:t>1</a:t>
            </a:r>
            <a:r>
              <a:rPr lang="zh-CN" altLang="en-US" sz="2400"/>
              <a:t>．数的定点表示法</a:t>
            </a:r>
          </a:p>
          <a:p>
            <a:pPr algn="just">
              <a:lnSpc>
                <a:spcPts val="3200"/>
              </a:lnSpc>
              <a:buNone/>
            </a:pPr>
            <a:r>
              <a:rPr lang="zh-CN" altLang="en-US" sz="2400"/>
              <a:t>            常用的定点数有两种：定点纯整数和定点纯小数。</a:t>
            </a:r>
          </a:p>
          <a:p>
            <a:pPr algn="just">
              <a:lnSpc>
                <a:spcPts val="3200"/>
              </a:lnSpc>
              <a:buNone/>
            </a:pPr>
            <a:r>
              <a:rPr lang="zh-CN" altLang="en-US" sz="2400"/>
              <a:t>            </a:t>
            </a:r>
            <a:r>
              <a:rPr lang="en-US" altLang="zh-CN" sz="2400"/>
              <a:t>1</a:t>
            </a:r>
            <a:r>
              <a:rPr lang="zh-CN" altLang="en-US" sz="2400"/>
              <a:t>）定点纯整数</a:t>
            </a:r>
          </a:p>
          <a:p>
            <a:pPr algn="just">
              <a:lnSpc>
                <a:spcPts val="3200"/>
              </a:lnSpc>
              <a:buNone/>
            </a:pPr>
            <a:r>
              <a:rPr lang="zh-CN" altLang="en-US" sz="2400"/>
              <a:t>            </a:t>
            </a:r>
            <a:r>
              <a:rPr lang="en-US" altLang="zh-CN" sz="2400" i="1"/>
              <a:t>J</a:t>
            </a:r>
            <a:r>
              <a:rPr lang="en-US" altLang="zh-CN" sz="2400"/>
              <a:t>=0</a:t>
            </a:r>
            <a:r>
              <a:rPr lang="zh-CN" altLang="en-US" sz="2400"/>
              <a:t>，且小数点固定在尾数之后，表示定点纯整数。</a:t>
            </a:r>
          </a:p>
          <a:p>
            <a:pPr algn="just">
              <a:lnSpc>
                <a:spcPts val="3200"/>
              </a:lnSpc>
              <a:buNone/>
            </a:pPr>
            <a:r>
              <a:rPr lang="zh-CN" altLang="en-US" sz="2400"/>
              <a:t>            </a:t>
            </a:r>
            <a:r>
              <a:rPr lang="en-US" altLang="zh-CN" sz="2400"/>
              <a:t>2</a:t>
            </a:r>
            <a:r>
              <a:rPr lang="zh-CN" altLang="en-US" sz="2400"/>
              <a:t>）定点纯小数</a:t>
            </a:r>
          </a:p>
          <a:p>
            <a:pPr algn="just">
              <a:lnSpc>
                <a:spcPts val="3200"/>
              </a:lnSpc>
              <a:buNone/>
            </a:pPr>
            <a:r>
              <a:rPr lang="zh-CN" altLang="en-US" sz="2400"/>
              <a:t>            </a:t>
            </a:r>
            <a:r>
              <a:rPr lang="en-US" altLang="zh-CN" sz="2400" i="1"/>
              <a:t>J</a:t>
            </a:r>
            <a:r>
              <a:rPr lang="en-US" altLang="zh-CN" sz="2400"/>
              <a:t>=0</a:t>
            </a:r>
            <a:r>
              <a:rPr lang="zh-CN" altLang="en-US" sz="2400"/>
              <a:t>，且小数点固定在尾数之前，表示定点纯小数。</a:t>
            </a:r>
          </a:p>
        </p:txBody>
      </p:sp>
      <p:graphicFrame>
        <p:nvGraphicFramePr>
          <p:cNvPr id="44035" name="Picture 11"/>
          <p:cNvGraphicFramePr>
            <a:graphicFrameLocks noChangeAspect="1"/>
          </p:cNvGraphicFramePr>
          <p:nvPr/>
        </p:nvGraphicFramePr>
        <p:xfrm>
          <a:off x="3292475" y="1982788"/>
          <a:ext cx="1557338" cy="477837"/>
        </p:xfrm>
        <a:graphic>
          <a:graphicData uri="http://schemas.openxmlformats.org/presentationml/2006/ole">
            <mc:AlternateContent xmlns:mc="http://schemas.openxmlformats.org/markup-compatibility/2006">
              <mc:Choice xmlns:v="urn:schemas-microsoft-com:vml" Requires="v">
                <p:oleObj spid="_x0000_s7174" r:id="rId3" imgW="635635" imgH="194945" progId="Equation.DSMT4">
                  <p:embed/>
                </p:oleObj>
              </mc:Choice>
              <mc:Fallback>
                <p:oleObj r:id="rId3" imgW="635635" imgH="194945" progId="Equation.DSMT4">
                  <p:embed/>
                  <p:pic>
                    <p:nvPicPr>
                      <p:cNvPr id="0" name="图片 3081"/>
                      <p:cNvPicPr/>
                      <p:nvPr/>
                    </p:nvPicPr>
                    <p:blipFill>
                      <a:blip r:embed="rId4"/>
                      <a:stretch>
                        <a:fillRect/>
                      </a:stretch>
                    </p:blipFill>
                    <p:spPr>
                      <a:xfrm>
                        <a:off x="3292475" y="1982788"/>
                        <a:ext cx="1557338" cy="477837"/>
                      </a:xfrm>
                      <a:prstGeom prst="rect">
                        <a:avLst/>
                      </a:prstGeom>
                      <a:solidFill>
                        <a:srgbClr val="C2E0FF"/>
                      </a:solidFill>
                      <a:ln w="38100">
                        <a:noFill/>
                        <a:miter/>
                      </a:ln>
                    </p:spPr>
                  </p:pic>
                </p:oleObj>
              </mc:Fallback>
            </mc:AlternateContent>
          </a:graphicData>
        </a:graphic>
      </p:graphicFrame>
    </p:spTree>
  </p:cSld>
  <p:clrMapOvr>
    <a:masterClrMapping/>
  </p:clrMapOvr>
  <p:transition spd="med">
    <p:random/>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417513" y="261938"/>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4</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计算机中的定点数和浮点数</a:t>
            </a:r>
          </a:p>
        </p:txBody>
      </p:sp>
      <p:sp>
        <p:nvSpPr>
          <p:cNvPr id="45058" name="内容占位符 2"/>
          <p:cNvSpPr>
            <a:spLocks noGrp="1"/>
          </p:cNvSpPr>
          <p:nvPr>
            <p:ph idx="4294967295"/>
          </p:nvPr>
        </p:nvSpPr>
        <p:spPr>
          <a:xfrm>
            <a:off x="100013" y="1736725"/>
            <a:ext cx="8669337" cy="4883150"/>
          </a:xfrm>
          <a:ln/>
        </p:spPr>
        <p:txBody>
          <a:bodyPr wrap="square" lIns="92075" tIns="46038" rIns="92075" bIns="46038" anchor="t" anchorCtr="0"/>
          <a:lstStyle/>
          <a:p>
            <a:pPr algn="just">
              <a:lnSpc>
                <a:spcPts val="3200"/>
              </a:lnSpc>
              <a:buNone/>
            </a:pPr>
            <a:r>
              <a:rPr lang="en-US" altLang="zh-CN" sz="2400"/>
              <a:t>              2．数的浮点表示法</a:t>
            </a:r>
          </a:p>
          <a:p>
            <a:pPr algn="just">
              <a:lnSpc>
                <a:spcPts val="3200"/>
              </a:lnSpc>
              <a:buNone/>
            </a:pPr>
            <a:r>
              <a:rPr lang="en-US" altLang="zh-CN" sz="2400"/>
              <a:t>             浮点数在计算机中表示为：</a:t>
            </a:r>
          </a:p>
          <a:p>
            <a:pPr algn="just">
              <a:lnSpc>
                <a:spcPts val="3200"/>
              </a:lnSpc>
              <a:buNone/>
            </a:pPr>
            <a:endParaRPr lang="en-US" altLang="zh-CN" sz="2400"/>
          </a:p>
          <a:p>
            <a:pPr algn="just">
              <a:lnSpc>
                <a:spcPts val="3200"/>
              </a:lnSpc>
              <a:buNone/>
            </a:pPr>
            <a:r>
              <a:rPr lang="en-US" altLang="zh-CN" sz="2400"/>
              <a:t>            【例1.6】将N = 5.5表示成字长为8的浮点数，要求阶码为2位，尾数为4位，阶符及数符各为一位，阶码与尾数均用原码表示。</a:t>
            </a:r>
          </a:p>
          <a:p>
            <a:pPr algn="just">
              <a:lnSpc>
                <a:spcPts val="3200"/>
              </a:lnSpc>
              <a:buNone/>
            </a:pPr>
            <a:r>
              <a:rPr lang="en-US" altLang="zh-CN" sz="2400"/>
              <a:t>     二进制浮点数表示形式为：</a:t>
            </a:r>
          </a:p>
          <a:p>
            <a:pPr algn="just">
              <a:lnSpc>
                <a:spcPts val="3200"/>
              </a:lnSpc>
              <a:buNone/>
            </a:pPr>
            <a:r>
              <a:rPr lang="en-US" altLang="zh-CN" sz="2400"/>
              <a:t>     它在计算机中的表示形式为：      </a:t>
            </a:r>
          </a:p>
        </p:txBody>
      </p:sp>
      <p:graphicFrame>
        <p:nvGraphicFramePr>
          <p:cNvPr id="45059" name="Picture 20"/>
          <p:cNvGraphicFramePr>
            <a:graphicFrameLocks noChangeAspect="1"/>
          </p:cNvGraphicFramePr>
          <p:nvPr/>
        </p:nvGraphicFramePr>
        <p:xfrm>
          <a:off x="4765675" y="2247900"/>
          <a:ext cx="2070100" cy="476250"/>
        </p:xfrm>
        <a:graphic>
          <a:graphicData uri="http://schemas.openxmlformats.org/presentationml/2006/ole">
            <mc:AlternateContent xmlns:mc="http://schemas.openxmlformats.org/markup-compatibility/2006">
              <mc:Choice xmlns:v="urn:schemas-microsoft-com:vml" Requires="v">
                <p:oleObj spid="_x0000_s8208" r:id="rId3" imgW="1410970" imgH="325120" progId="Word.Picture.8">
                  <p:embed/>
                </p:oleObj>
              </mc:Choice>
              <mc:Fallback>
                <p:oleObj r:id="rId3" imgW="1410970" imgH="325120" progId="Word.Picture.8">
                  <p:embed/>
                  <p:pic>
                    <p:nvPicPr>
                      <p:cNvPr id="0" name="图片 3082"/>
                      <p:cNvPicPr/>
                      <p:nvPr/>
                    </p:nvPicPr>
                    <p:blipFill>
                      <a:blip r:embed="rId4"/>
                      <a:stretch>
                        <a:fillRect/>
                      </a:stretch>
                    </p:blipFill>
                    <p:spPr>
                      <a:xfrm>
                        <a:off x="4765675" y="2247900"/>
                        <a:ext cx="2070100" cy="476250"/>
                      </a:xfrm>
                      <a:prstGeom prst="rect">
                        <a:avLst/>
                      </a:prstGeom>
                      <a:noFill/>
                      <a:ln w="38100">
                        <a:noFill/>
                        <a:miter/>
                      </a:ln>
                    </p:spPr>
                  </p:pic>
                </p:oleObj>
              </mc:Fallback>
            </mc:AlternateContent>
          </a:graphicData>
        </a:graphic>
      </p:graphicFrame>
      <p:graphicFrame>
        <p:nvGraphicFramePr>
          <p:cNvPr id="45060" name="Picture 21"/>
          <p:cNvGraphicFramePr>
            <a:graphicFrameLocks noChangeAspect="1"/>
          </p:cNvGraphicFramePr>
          <p:nvPr/>
        </p:nvGraphicFramePr>
        <p:xfrm>
          <a:off x="4492625" y="4551363"/>
          <a:ext cx="1882775" cy="376237"/>
        </p:xfrm>
        <a:graphic>
          <a:graphicData uri="http://schemas.openxmlformats.org/presentationml/2006/ole">
            <mc:AlternateContent xmlns:mc="http://schemas.openxmlformats.org/markup-compatibility/2006">
              <mc:Choice xmlns:v="urn:schemas-microsoft-com:vml" Requires="v">
                <p:oleObj spid="_x0000_s8209" r:id="rId5" imgW="973455" imgH="194945" progId="Equation.DSMT4">
                  <p:embed/>
                </p:oleObj>
              </mc:Choice>
              <mc:Fallback>
                <p:oleObj r:id="rId5" imgW="973455" imgH="194945" progId="Equation.DSMT4">
                  <p:embed/>
                  <p:pic>
                    <p:nvPicPr>
                      <p:cNvPr id="0" name="图片 3084"/>
                      <p:cNvPicPr/>
                      <p:nvPr/>
                    </p:nvPicPr>
                    <p:blipFill>
                      <a:blip r:embed="rId6"/>
                      <a:stretch>
                        <a:fillRect/>
                      </a:stretch>
                    </p:blipFill>
                    <p:spPr>
                      <a:xfrm>
                        <a:off x="4492625" y="4551363"/>
                        <a:ext cx="1882775" cy="376237"/>
                      </a:xfrm>
                      <a:prstGeom prst="rect">
                        <a:avLst/>
                      </a:prstGeom>
                      <a:solidFill>
                        <a:srgbClr val="C2E0FF"/>
                      </a:solidFill>
                      <a:ln w="38100">
                        <a:noFill/>
                        <a:miter/>
                      </a:ln>
                    </p:spPr>
                  </p:pic>
                </p:oleObj>
              </mc:Fallback>
            </mc:AlternateContent>
          </a:graphicData>
        </a:graphic>
      </p:graphicFrame>
      <p:graphicFrame>
        <p:nvGraphicFramePr>
          <p:cNvPr id="45061" name="Picture 22"/>
          <p:cNvGraphicFramePr>
            <a:graphicFrameLocks noChangeAspect="1"/>
          </p:cNvGraphicFramePr>
          <p:nvPr/>
        </p:nvGraphicFramePr>
        <p:xfrm>
          <a:off x="4484688" y="4991100"/>
          <a:ext cx="3968750" cy="447675"/>
        </p:xfrm>
        <a:graphic>
          <a:graphicData uri="http://schemas.openxmlformats.org/presentationml/2006/ole">
            <mc:AlternateContent xmlns:mc="http://schemas.openxmlformats.org/markup-compatibility/2006">
              <mc:Choice xmlns:v="urn:schemas-microsoft-com:vml" Requires="v">
                <p:oleObj spid="_x0000_s8210" r:id="rId7" imgW="2784475" imgH="314960" progId="Word.Picture.8">
                  <p:embed/>
                </p:oleObj>
              </mc:Choice>
              <mc:Fallback>
                <p:oleObj r:id="rId7" imgW="2784475" imgH="314960" progId="Word.Picture.8">
                  <p:embed/>
                  <p:pic>
                    <p:nvPicPr>
                      <p:cNvPr id="0" name="图片 3083"/>
                      <p:cNvPicPr/>
                      <p:nvPr/>
                    </p:nvPicPr>
                    <p:blipFill>
                      <a:blip r:embed="rId8"/>
                      <a:stretch>
                        <a:fillRect/>
                      </a:stretch>
                    </p:blipFill>
                    <p:spPr>
                      <a:xfrm>
                        <a:off x="4484688" y="4991100"/>
                        <a:ext cx="3968750" cy="447675"/>
                      </a:xfrm>
                      <a:prstGeom prst="rect">
                        <a:avLst/>
                      </a:prstGeom>
                      <a:noFill/>
                      <a:ln w="38100">
                        <a:noFill/>
                        <a:miter/>
                      </a:ln>
                    </p:spPr>
                  </p:pic>
                </p:oleObj>
              </mc:Fallback>
            </mc:AlternateContent>
          </a:graphicData>
        </a:graphic>
      </p:graphicFrame>
    </p:spTree>
  </p:cSld>
  <p:clrMapOvr>
    <a:masterClrMapping/>
  </p:clrMapOvr>
  <p:transition spd="med">
    <p:random/>
  </p:transition>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4" name="标题 1"/>
          <p:cNvSpPr>
            <a:spLocks noGrp="1"/>
          </p:cNvSpPr>
          <p:nvPr>
            <p:ph type="title" idx="4294967295"/>
          </p:nvPr>
        </p:nvSpPr>
        <p:spPr>
          <a:xfrm>
            <a:off x="417513" y="261938"/>
            <a:ext cx="8331200" cy="1143000"/>
          </a:xfrm>
          <a:ln>
            <a:miter/>
          </a:ln>
        </p:spPr>
        <p:txBody>
          <a:bodyPr vert="horz" wrap="square" lIns="92075" tIns="46038" rIns="92075" bIns="46038" numCol="1" anchor="ctr" anchorCtr="0" compatLnSpc="1"/>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1.</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3</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a:t>
            </a:r>
            <a:r>
              <a:rPr kumimoji="0" lang="en-US" alt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5</a:t>
            </a:r>
            <a:r>
              <a:rPr kumimoji="0" lang="zh-CN" sz="3200" b="1" i="0" u="none" strike="noStrike" kern="0" cap="none" spc="0" normalizeH="0" baseline="0" noProof="0" dirty="0">
                <a:ln>
                  <a:noFill/>
                </a:ln>
                <a:solidFill>
                  <a:srgbClr val="00CC00"/>
                </a:solidFill>
                <a:effectLst>
                  <a:outerShdw blurRad="38100" dist="38100" dir="2700000" algn="tl">
                    <a:srgbClr val="000000"/>
                  </a:outerShdw>
                </a:effectLst>
                <a:uLnTx/>
                <a:uFillTx/>
                <a:latin typeface="+mj-lt"/>
                <a:ea typeface="+mj-ea"/>
                <a:cs typeface="+mj-cs"/>
                <a:sym typeface="+mn-ea"/>
              </a:rPr>
              <a:t>  计算机中的编码</a:t>
            </a:r>
          </a:p>
        </p:txBody>
      </p:sp>
      <p:sp>
        <p:nvSpPr>
          <p:cNvPr id="46082" name="内容占位符 2"/>
          <p:cNvSpPr>
            <a:spLocks noGrp="1"/>
          </p:cNvSpPr>
          <p:nvPr>
            <p:ph idx="4294967295"/>
          </p:nvPr>
        </p:nvSpPr>
        <p:spPr>
          <a:xfrm>
            <a:off x="82550" y="1638300"/>
            <a:ext cx="8669338" cy="4816475"/>
          </a:xfrm>
          <a:ln/>
        </p:spPr>
        <p:txBody>
          <a:bodyPr wrap="square" lIns="92075" tIns="46038" rIns="92075" bIns="46038" anchor="t" anchorCtr="0"/>
          <a:lstStyle/>
          <a:p>
            <a:pPr algn="just">
              <a:lnSpc>
                <a:spcPts val="3200"/>
              </a:lnSpc>
              <a:buNone/>
            </a:pPr>
            <a:r>
              <a:rPr lang="en-US" altLang="zh-CN" sz="2400"/>
              <a:t>             1．BCD码</a:t>
            </a:r>
          </a:p>
          <a:p>
            <a:pPr algn="just">
              <a:lnSpc>
                <a:spcPts val="3200"/>
              </a:lnSpc>
              <a:buNone/>
            </a:pPr>
            <a:r>
              <a:rPr lang="en-US" altLang="zh-CN" sz="2400"/>
              <a:t>             一个十进制数用4位二进制编码表示，这种二进制编码的十进制数称为BCD（Binary–coded Decimal）码。4位二进制编码有16种组合，舍去6种组合，保留10种组合作为代码，分别表示十进制数中的0～9这10个数字。</a:t>
            </a:r>
          </a:p>
          <a:p>
            <a:pPr algn="just">
              <a:lnSpc>
                <a:spcPts val="3200"/>
              </a:lnSpc>
              <a:buNone/>
            </a:pPr>
            <a:r>
              <a:rPr lang="en-US" altLang="zh-CN" sz="2400"/>
              <a:t>             2．ASCII码</a:t>
            </a:r>
          </a:p>
          <a:p>
            <a:pPr algn="just">
              <a:lnSpc>
                <a:spcPts val="3200"/>
              </a:lnSpc>
              <a:buNone/>
            </a:pPr>
            <a:r>
              <a:rPr lang="en-US" altLang="zh-CN" sz="2400"/>
              <a:t>            在计算机中，除了数字外，还需要处理各种字符，如字母、运算符号、标点符号等，这些字符在计算机中也采用二进制数来编码，最常用的编码是ASCII（American Standard Code for Information Interchange）码，即美国标准信息交换代码。      </a:t>
            </a:r>
          </a:p>
        </p:txBody>
      </p:sp>
    </p:spTree>
  </p:cSld>
  <p:clrMapOvr>
    <a:masterClrMapping/>
  </p:clrMapOvr>
  <p:transition spd="med">
    <p:random/>
  </p:transition>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9426" name="Rectangle 2"/>
          <p:cNvSpPr>
            <a:spLocks noGrp="1" noChangeArrowheads="1"/>
          </p:cNvSpPr>
          <p:nvPr>
            <p:ph type="title"/>
          </p:nvPr>
        </p:nvSpPr>
        <p:spPr>
          <a:xfrm>
            <a:off x="1101725" y="268288"/>
            <a:ext cx="6710363" cy="1143000"/>
          </a:xfrm>
          <a:ln>
            <a:miter/>
          </a:ln>
        </p:spPr>
        <p:txBody>
          <a:bodyPr vert="horz" wrap="square" lIns="92075" tIns="46038" rIns="92075" bIns="46038"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1" lang="zh-CN" altLang="zh-CN" sz="3200" b="1" i="0" u="none" strike="noStrike" kern="0" cap="none" spc="0" normalizeH="0" baseline="0" noProof="0" dirty="0">
                <a:ln>
                  <a:noFill/>
                </a:ln>
                <a:solidFill>
                  <a:srgbClr val="FF0000"/>
                </a:solidFill>
                <a:effectLst>
                  <a:outerShdw blurRad="38100" dist="38100" dir="2700000" algn="tl">
                    <a:srgbClr val="000000"/>
                  </a:outerShdw>
                </a:effectLst>
                <a:uLnTx/>
                <a:uFillTx/>
                <a:latin typeface="+mj-lt"/>
                <a:ea typeface="+mj-ea"/>
                <a:cs typeface="+mj-cs"/>
              </a:rPr>
              <a:t>思考与练习</a:t>
            </a:r>
          </a:p>
        </p:txBody>
      </p:sp>
      <p:sp>
        <p:nvSpPr>
          <p:cNvPr id="47106" name="内容占位符 4"/>
          <p:cNvSpPr>
            <a:spLocks noGrp="1"/>
          </p:cNvSpPr>
          <p:nvPr>
            <p:ph idx="1"/>
          </p:nvPr>
        </p:nvSpPr>
        <p:spPr>
          <a:xfrm>
            <a:off x="1106488" y="1806575"/>
            <a:ext cx="7510462" cy="3829050"/>
          </a:xfrm>
          <a:ln/>
        </p:spPr>
        <p:txBody>
          <a:bodyPr wrap="square" lIns="92075" tIns="46038" rIns="92075" bIns="46038" anchor="t" anchorCtr="0"/>
          <a:lstStyle/>
          <a:p>
            <a:pPr algn="just">
              <a:buNone/>
            </a:pPr>
            <a:r>
              <a:rPr lang="en-US" altLang="zh-CN" sz="2400" dirty="0"/>
              <a:t>1-1  冯·诺依曼计算机的结构特点是什么？</a:t>
            </a:r>
          </a:p>
          <a:p>
            <a:pPr algn="just">
              <a:buNone/>
            </a:pPr>
            <a:r>
              <a:rPr lang="en-US" altLang="zh-CN" sz="2400" dirty="0"/>
              <a:t>1-2  典型微机有哪三大总线？它们传送的是什么信息？</a:t>
            </a:r>
          </a:p>
          <a:p>
            <a:pPr algn="just">
              <a:buNone/>
            </a:pPr>
            <a:r>
              <a:rPr lang="en-US" altLang="zh-CN" sz="2400" dirty="0"/>
              <a:t>1-3  什么叫微处理器？什么叫微型计算机？什么叫微型</a:t>
            </a:r>
          </a:p>
          <a:p>
            <a:pPr algn="just">
              <a:buNone/>
            </a:pPr>
            <a:r>
              <a:rPr lang="en-US" altLang="zh-CN" sz="2400" dirty="0"/>
              <a:t>计算机系统？三种有什么区别和联系？</a:t>
            </a:r>
          </a:p>
          <a:p>
            <a:pPr algn="just">
              <a:buNone/>
            </a:pPr>
            <a:r>
              <a:rPr lang="en-US" altLang="zh-CN" sz="2400" dirty="0"/>
              <a:t>1-4  评价微型计算机性能的主要指标有哪些？试举例说</a:t>
            </a:r>
          </a:p>
          <a:p>
            <a:pPr algn="just">
              <a:buNone/>
            </a:pPr>
            <a:r>
              <a:rPr lang="en-US" altLang="zh-CN" sz="2400" dirty="0"/>
              <a:t>明目前主流微型计算机机型的性能参数。</a:t>
            </a:r>
          </a:p>
          <a:p>
            <a:pPr algn="just">
              <a:buNone/>
            </a:pPr>
            <a:r>
              <a:rPr lang="en-US" altLang="zh-CN" sz="2400" dirty="0"/>
              <a:t>1-6  已知[X]补=01010101B，求X的真值。</a:t>
            </a:r>
          </a:p>
          <a:p>
            <a:pPr algn="just">
              <a:buNone/>
            </a:pPr>
            <a:r>
              <a:rPr lang="en-US" altLang="zh-CN" sz="2400" dirty="0"/>
              <a:t>1-7  已知[X]补=11010101B，求X的真值。</a:t>
            </a:r>
            <a:endParaRPr lang="zh-CN" altLang="zh-CN" sz="2400" dirty="0"/>
          </a:p>
          <a:p>
            <a:pPr algn="just" eaLnBrk="1" hangingPunct="1">
              <a:buNone/>
            </a:pPr>
            <a:endParaRPr lang="zh-CN" altLang="zh-CN" sz="2400" dirty="0"/>
          </a:p>
        </p:txBody>
      </p:sp>
    </p:spTree>
  </p:cSld>
  <p:clrMapOvr>
    <a:masterClrMapping/>
  </p:clrMapOvr>
  <p:transition spd="med">
    <p:random/>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OTAwNWQ1MGFjZWY2ZGU4NzY5ZmZjNDc2ZWQwNjNjYzUifQ=="/>
</p:tagLst>
</file>

<file path=ppt/theme/theme1.xml><?xml version="1.0" encoding="utf-8"?>
<a:theme xmlns:a="http://schemas.openxmlformats.org/drawingml/2006/main" name="项目总览">
  <a:themeElements>
    <a:clrScheme name="">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FF00"/>
      </a:hlink>
      <a:folHlink>
        <a:srgbClr val="FF7C80"/>
      </a:folHlink>
    </a:clrScheme>
    <a:fontScheme name="项目总览">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2075" tIns="46038" rIns="92075" bIns="46038" numCol="1" anchor="t" anchorCtr="0" compatLnSpc="1"/>
      <a:lstStyle>
        <a:defPPr marL="0" marR="0" indent="0" algn="l" defTabSz="914400" rtl="0" eaLnBrk="1" fontAlgn="base" latinLnBrk="0" hangingPunct="1">
          <a:lnSpc>
            <a:spcPct val="90000"/>
          </a:lnSpc>
          <a:spcBef>
            <a:spcPct val="20000"/>
          </a:spcBef>
          <a:spcAft>
            <a:spcPct val="0"/>
          </a:spcAft>
          <a:buClrTx/>
          <a:buSzTx/>
          <a:buFont typeface="Arial" panose="020B0604020202020204" pitchFamily="34" charset="0"/>
          <a:buNone/>
          <a:defRPr kumimoji="0" lang="zh-CN" sz="2400" b="1" i="0" u="none" strike="noStrike" cap="none" normalizeH="0" baseline="0" smtClean="0">
            <a:ln>
              <a:noFill/>
            </a:ln>
            <a:solidFill>
              <a:schemeClr val="tx1"/>
            </a:solidFill>
            <a:effectLst/>
            <a:latin typeface="宋体" panose="02010600030101010101" pitchFamily="2" charset="-122"/>
            <a:ea typeface="宋体" panose="02010600030101010101" pitchFamily="2" charset="-122"/>
          </a:defRPr>
        </a:defPPr>
      </a:lstStyle>
    </a:lnDef>
  </a:objectDefaults>
  <a:extraClrSchemeLst>
    <a:extraClrScheme>
      <a:clrScheme name="项目总览 1">
        <a:dk1>
          <a:srgbClr val="000000"/>
        </a:dk1>
        <a:lt1>
          <a:srgbClr val="FFFFFF"/>
        </a:lt1>
        <a:dk2>
          <a:srgbClr val="0066CC"/>
        </a:dk2>
        <a:lt2>
          <a:srgbClr val="CBCBCB"/>
        </a:lt2>
        <a:accent1>
          <a:srgbClr val="00CCFF"/>
        </a:accent1>
        <a:accent2>
          <a:srgbClr val="00FFCC"/>
        </a:accent2>
        <a:accent3>
          <a:srgbClr val="AAB8E2"/>
        </a:accent3>
        <a:accent4>
          <a:srgbClr val="DADADA"/>
        </a:accent4>
        <a:accent5>
          <a:srgbClr val="AAE2FF"/>
        </a:accent5>
        <a:accent6>
          <a:srgbClr val="00E7B9"/>
        </a:accent6>
        <a:hlink>
          <a:srgbClr val="FF3300"/>
        </a:hlink>
        <a:folHlink>
          <a:srgbClr val="FF7C80"/>
        </a:folHlink>
      </a:clrScheme>
      <a:clrMap bg1="dk2" tx1="lt1" bg2="dk1" tx2="lt2" accent1="accent1" accent2="accent2" accent3="accent3" accent4="accent4" accent5="accent5" accent6="accent6" hlink="hlink" folHlink="folHlink"/>
    </a:extraClrScheme>
    <a:extraClrScheme>
      <a:clrScheme name="项目总览 2">
        <a:dk1>
          <a:srgbClr val="000000"/>
        </a:dk1>
        <a:lt1>
          <a:srgbClr val="FFFFFF"/>
        </a:lt1>
        <a:dk2>
          <a:srgbClr val="000000"/>
        </a:dk2>
        <a:lt2>
          <a:srgbClr val="868686"/>
        </a:lt2>
        <a:accent1>
          <a:srgbClr val="3366FF"/>
        </a:accent1>
        <a:accent2>
          <a:srgbClr val="009900"/>
        </a:accent2>
        <a:accent3>
          <a:srgbClr val="FFFFFF"/>
        </a:accent3>
        <a:accent4>
          <a:srgbClr val="000000"/>
        </a:accent4>
        <a:accent5>
          <a:srgbClr val="ADB8FF"/>
        </a:accent5>
        <a:accent6>
          <a:srgbClr val="008A00"/>
        </a:accent6>
        <a:hlink>
          <a:srgbClr val="FF0033"/>
        </a:hlink>
        <a:folHlink>
          <a:srgbClr val="CCCCCC"/>
        </a:folHlink>
      </a:clrScheme>
      <a:clrMap bg1="lt1" tx1="dk1" bg2="lt2" tx2="dk2" accent1="accent1" accent2="accent2" accent3="accent3" accent4="accent4" accent5="accent5" accent6="accent6" hlink="hlink" folHlink="folHlink"/>
    </a:extraClrScheme>
    <a:extraClrScheme>
      <a:clrScheme name="项目总览 3">
        <a:dk1>
          <a:srgbClr val="000000"/>
        </a:dk1>
        <a:lt1>
          <a:srgbClr val="FFFFFF"/>
        </a:lt1>
        <a:dk2>
          <a:srgbClr val="000000"/>
        </a:dk2>
        <a:lt2>
          <a:srgbClr val="868686"/>
        </a:lt2>
        <a:accent1>
          <a:srgbClr val="EAEAEA"/>
        </a:accent1>
        <a:accent2>
          <a:srgbClr val="5F5F5F"/>
        </a:accent2>
        <a:accent3>
          <a:srgbClr val="FFFFFF"/>
        </a:accent3>
        <a:accent4>
          <a:srgbClr val="000000"/>
        </a:accent4>
        <a:accent5>
          <a:srgbClr val="F3F3F3"/>
        </a:accent5>
        <a:accent6>
          <a:srgbClr val="555555"/>
        </a:accent6>
        <a:hlink>
          <a:srgbClr val="969696"/>
        </a:hlink>
        <a:folHlink>
          <a:srgbClr val="CBCBC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D:\Program Files\Microsoft Office\Templates\2052\项目总览.pot</Template>
  <TotalTime>19</TotalTime>
  <Words>3477</Words>
  <Application>Microsoft Office PowerPoint</Application>
  <PresentationFormat>On-screen Show (4:3)</PresentationFormat>
  <Paragraphs>481</Paragraphs>
  <Slides>42</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5</vt:i4>
      </vt:variant>
      <vt:variant>
        <vt:lpstr>Slide Titles</vt:lpstr>
      </vt:variant>
      <vt:variant>
        <vt:i4>42</vt:i4>
      </vt:variant>
    </vt:vector>
  </HeadingPairs>
  <TitlesOfParts>
    <vt:vector size="54" baseType="lpstr">
      <vt:lpstr>宋体</vt:lpstr>
      <vt:lpstr>隶书</vt:lpstr>
      <vt:lpstr>黑体</vt:lpstr>
      <vt:lpstr>Arial</vt:lpstr>
      <vt:lpstr>Times New Roman</vt:lpstr>
      <vt:lpstr>Wingdings</vt:lpstr>
      <vt:lpstr>项目总览</vt:lpstr>
      <vt:lpstr>Photoshop.Image.4</vt:lpstr>
      <vt:lpstr>Visio.Drawing.11</vt:lpstr>
      <vt:lpstr>Equation.KSEE3</vt:lpstr>
      <vt:lpstr>MathType 6.0 Equation</vt:lpstr>
      <vt:lpstr>Microsoft Word Picture</vt:lpstr>
      <vt:lpstr>PowerPoint Presentation</vt:lpstr>
      <vt:lpstr>第1章  微型计算机概述 </vt:lpstr>
      <vt:lpstr>1.1  计算机的发展</vt:lpstr>
      <vt:lpstr>1.1.1  计算机的诞生</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1.1.2  微处理器的发展</vt:lpstr>
      <vt:lpstr>1.1.2  微处理器的发展</vt:lpstr>
      <vt:lpstr>PowerPoint Presentation</vt:lpstr>
      <vt:lpstr>1.1.2  微处理器的发展</vt:lpstr>
      <vt:lpstr>1.1.3  计算机的工作原理</vt:lpstr>
      <vt:lpstr>1.1.3  计算机的工作原理</vt:lpstr>
      <vt:lpstr>1.1.3  计算机的工作原理</vt:lpstr>
      <vt:lpstr>1.2  微型计算机系统</vt:lpstr>
      <vt:lpstr>1.2.1  系统组成与结构</vt:lpstr>
      <vt:lpstr>PowerPoint Presentation</vt:lpstr>
      <vt:lpstr>1.2.1  系统组成与结构</vt:lpstr>
      <vt:lpstr>1.2.1  系统组成与结构</vt:lpstr>
      <vt:lpstr>PowerPoint Presentation</vt:lpstr>
      <vt:lpstr>PowerPoint Presentation</vt:lpstr>
      <vt:lpstr>1.2.1  系统组成与结构</vt:lpstr>
      <vt:lpstr>1.2.1  系统组成与结构</vt:lpstr>
      <vt:lpstr>1.2.2  微型计算机分类</vt:lpstr>
      <vt:lpstr>1.2.3  微型计算机的性能指标</vt:lpstr>
      <vt:lpstr>1.2.3  微型计算机的性能指标</vt:lpstr>
      <vt:lpstr>1.3  微型计算机的运算基础</vt:lpstr>
      <vt:lpstr>二进制与八卦图</vt:lpstr>
      <vt:lpstr>1.3.1  无符号数的表示方法</vt:lpstr>
      <vt:lpstr>1.3.1  无符号数的表示方法</vt:lpstr>
      <vt:lpstr>1.3.2  数制的转换与运算</vt:lpstr>
      <vt:lpstr>1.3.2  数制的转换与运算</vt:lpstr>
      <vt:lpstr>1.3.3  符号数的表示及运算</vt:lpstr>
      <vt:lpstr>1.3.3  符号数的表示及运算</vt:lpstr>
      <vt:lpstr>1.3.4  计算机中的定点数和浮点数</vt:lpstr>
      <vt:lpstr>1.3.4  计算机中的定点数和浮点数</vt:lpstr>
      <vt:lpstr>1.3.5  计算机中的编码</vt:lpstr>
      <vt:lpstr>思考与练习</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Dongming Guo</cp:lastModifiedBy>
  <cp:revision>851</cp:revision>
  <dcterms:created xsi:type="dcterms:W3CDTF">2013-12-06T13:55:24Z</dcterms:created>
  <dcterms:modified xsi:type="dcterms:W3CDTF">2025-09-10T05:55:51Z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2052-12.1.0.17133</vt:lpwstr>
  </property>
  <property fmtid="{D5CDD505-2E9C-101B-9397-08002B2CF9AE}" pid="3" name="ICV">
    <vt:lpwstr>9D2DDE3CE3014025B843C5A628DDBA12_13</vt:lpwstr>
  </property>
</Properties>
</file>