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8"/>
  </p:notesMasterIdLst>
  <p:handoutMasterIdLst>
    <p:handoutMasterId r:id="rId79"/>
  </p:handoutMasterIdLst>
  <p:sldIdLst>
    <p:sldId id="708" r:id="rId2"/>
    <p:sldId id="316" r:id="rId3"/>
    <p:sldId id="389" r:id="rId4"/>
    <p:sldId id="411" r:id="rId5"/>
    <p:sldId id="412" r:id="rId6"/>
    <p:sldId id="413" r:id="rId7"/>
    <p:sldId id="414" r:id="rId8"/>
    <p:sldId id="415" r:id="rId9"/>
    <p:sldId id="416" r:id="rId10"/>
    <p:sldId id="417" r:id="rId11"/>
    <p:sldId id="418" r:id="rId12"/>
    <p:sldId id="419" r:id="rId13"/>
    <p:sldId id="420" r:id="rId14"/>
    <p:sldId id="645" r:id="rId15"/>
    <p:sldId id="646" r:id="rId16"/>
    <p:sldId id="584" r:id="rId17"/>
    <p:sldId id="585" r:id="rId18"/>
    <p:sldId id="647" r:id="rId19"/>
    <p:sldId id="648" r:id="rId20"/>
    <p:sldId id="586" r:id="rId21"/>
    <p:sldId id="588" r:id="rId22"/>
    <p:sldId id="587" r:id="rId23"/>
    <p:sldId id="589" r:id="rId24"/>
    <p:sldId id="423" r:id="rId25"/>
    <p:sldId id="424" r:id="rId26"/>
    <p:sldId id="425" r:id="rId27"/>
    <p:sldId id="426" r:id="rId28"/>
    <p:sldId id="427" r:id="rId29"/>
    <p:sldId id="429" r:id="rId30"/>
    <p:sldId id="430" r:id="rId31"/>
    <p:sldId id="431" r:id="rId32"/>
    <p:sldId id="432" r:id="rId33"/>
    <p:sldId id="433" r:id="rId34"/>
    <p:sldId id="434" r:id="rId35"/>
    <p:sldId id="590" r:id="rId36"/>
    <p:sldId id="591" r:id="rId37"/>
    <p:sldId id="592" r:id="rId38"/>
    <p:sldId id="593" r:id="rId39"/>
    <p:sldId id="594" r:id="rId40"/>
    <p:sldId id="595" r:id="rId41"/>
    <p:sldId id="596" r:id="rId42"/>
    <p:sldId id="437" r:id="rId43"/>
    <p:sldId id="438" r:id="rId44"/>
    <p:sldId id="435" r:id="rId45"/>
    <p:sldId id="436" r:id="rId46"/>
    <p:sldId id="439" r:id="rId47"/>
    <p:sldId id="440" r:id="rId48"/>
    <p:sldId id="441" r:id="rId49"/>
    <p:sldId id="442" r:id="rId50"/>
    <p:sldId id="443" r:id="rId51"/>
    <p:sldId id="444" r:id="rId52"/>
    <p:sldId id="445" r:id="rId53"/>
    <p:sldId id="446" r:id="rId54"/>
    <p:sldId id="447" r:id="rId55"/>
    <p:sldId id="448" r:id="rId56"/>
    <p:sldId id="449" r:id="rId57"/>
    <p:sldId id="649" r:id="rId58"/>
    <p:sldId id="650" r:id="rId59"/>
    <p:sldId id="651" r:id="rId60"/>
    <p:sldId id="450" r:id="rId61"/>
    <p:sldId id="451" r:id="rId62"/>
    <p:sldId id="455" r:id="rId63"/>
    <p:sldId id="456" r:id="rId64"/>
    <p:sldId id="483" r:id="rId65"/>
    <p:sldId id="484" r:id="rId66"/>
    <p:sldId id="485" r:id="rId67"/>
    <p:sldId id="486" r:id="rId68"/>
    <p:sldId id="487" r:id="rId69"/>
    <p:sldId id="488" r:id="rId70"/>
    <p:sldId id="489" r:id="rId71"/>
    <p:sldId id="490" r:id="rId72"/>
    <p:sldId id="491" r:id="rId73"/>
    <p:sldId id="492" r:id="rId74"/>
    <p:sldId id="493" r:id="rId75"/>
    <p:sldId id="494" r:id="rId76"/>
    <p:sldId id="652" r:id="rId77"/>
  </p:sldIdLst>
  <p:sldSz cx="9144000" cy="6858000" type="screen4x3"/>
  <p:notesSz cx="6858000" cy="9144000"/>
  <p:custDataLst>
    <p:tags r:id="rId80"/>
  </p:custDataLst>
  <p:defaultTextStyle>
    <a:defPPr>
      <a:defRPr lang="zh-CN"/>
    </a:defPPr>
    <a:lvl1pPr marL="0" lvl="0" indent="0" algn="l" defTabSz="914400" rtl="0" eaLnBrk="1" fontAlgn="base" latinLnBrk="0" hangingPunct="1">
      <a:lnSpc>
        <a:spcPct val="90000"/>
      </a:lnSpc>
      <a:spcBef>
        <a:spcPct val="2000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90000"/>
      </a:lnSpc>
      <a:spcBef>
        <a:spcPct val="20000"/>
      </a:spcBef>
      <a:spcAft>
        <a:spcPct val="0"/>
      </a:spcAft>
      <a:buFont typeface="Arial" panose="020B0604020202020204" pitchFamily="34" charset="0"/>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90000"/>
      </a:lnSpc>
      <a:spcBef>
        <a:spcPct val="20000"/>
      </a:spcBef>
      <a:spcAft>
        <a:spcPct val="0"/>
      </a:spcAft>
      <a:buFontTx/>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90000"/>
      </a:lnSpc>
      <a:spcBef>
        <a:spcPct val="20000"/>
      </a:spcBef>
      <a:spcAft>
        <a:spcPct val="0"/>
      </a:spcAft>
      <a:buFont typeface="Arial" panose="020B0604020202020204" pitchFamily="34" charset="0"/>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90000"/>
      </a:lnSpc>
      <a:spcBef>
        <a:spcPct val="20000"/>
      </a:spcBef>
      <a:spcAft>
        <a:spcPct val="0"/>
      </a:spcAft>
      <a:buFontTx/>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90000"/>
      </a:lnSpc>
      <a:spcBef>
        <a:spcPct val="20000"/>
      </a:spcBef>
      <a:spcAft>
        <a:spcPct val="0"/>
      </a:spcAft>
      <a:buFontTx/>
      <a:buNone/>
      <a:defRPr sz="2400" b="1"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90000"/>
      </a:lnSpc>
      <a:spcBef>
        <a:spcPct val="20000"/>
      </a:spcBef>
      <a:spcAft>
        <a:spcPct val="0"/>
      </a:spcAft>
      <a:buFontTx/>
      <a:buNone/>
      <a:defRPr sz="2400" b="1"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90000"/>
      </a:lnSpc>
      <a:spcBef>
        <a:spcPct val="20000"/>
      </a:spcBef>
      <a:spcAft>
        <a:spcPct val="0"/>
      </a:spcAft>
      <a:buFontTx/>
      <a:buNone/>
      <a:defRPr sz="2400" b="1"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90000"/>
      </a:lnSpc>
      <a:spcBef>
        <a:spcPct val="20000"/>
      </a:spcBef>
      <a:spcAft>
        <a:spcPct val="0"/>
      </a:spcAft>
      <a:buFontTx/>
      <a:buNone/>
      <a:defRPr sz="2400" b="1" i="0" u="none" kern="1200" baseline="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96" userDrawn="1">
          <p15:clr>
            <a:srgbClr val="A4A3A4"/>
          </p15:clr>
        </p15:guide>
        <p15:guide id="2" pos="64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7C80"/>
    <a:srgbClr val="66FFCC"/>
    <a:srgbClr val="FFFF66"/>
    <a:srgbClr val="99FFCC"/>
    <a:srgbClr val="FF3300"/>
    <a:srgbClr val="FFCC00"/>
    <a:srgbClr val="FF9933"/>
    <a:srgbClr val="00C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379"/>
    <p:restoredTop sz="94614"/>
  </p:normalViewPr>
  <p:slideViewPr>
    <p:cSldViewPr snapToGrid="0" showGuides="1">
      <p:cViewPr varScale="1">
        <p:scale>
          <a:sx n="113" d="100"/>
          <a:sy n="113" d="100"/>
        </p:scale>
        <p:origin x="2088" y="102"/>
      </p:cViewPr>
      <p:guideLst>
        <p:guide orient="horz" pos="2196"/>
        <p:guide pos="646"/>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handoutMaster" Target="handoutMasters/handout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gs" Target="tags/tag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notesMaster" Target="notesMasters/notesMaster1.xml"/><Relationship Id="rId8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image" Target="../media/image9.e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image" Target="../media/image1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4.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31.e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34.wmf"/><Relationship Id="rId1" Type="http://schemas.openxmlformats.org/officeDocument/2006/relationships/image" Target="../media/image33.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38.wmf"/><Relationship Id="rId1" Type="http://schemas.openxmlformats.org/officeDocument/2006/relationships/image" Target="../media/image37.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74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latinLnBrk="1">
              <a:spcBef>
                <a:spcPct val="0"/>
              </a:spcBef>
              <a:defRPr sz="1200" b="0">
                <a:latin typeface="Times New Roman" panose="02020603050405020304" pitchFamily="18" charset="0"/>
                <a:ea typeface="宋体" panose="02010600030101010101" pitchFamily="2" charset="-122"/>
              </a:defRPr>
            </a:lvl1pPr>
          </a:lstStyle>
          <a:p>
            <a:pPr marL="0" marR="0" lvl="0" indent="0" algn="l" defTabSz="914400" rtl="0" eaLnBrk="1" fontAlgn="base" latinLnBrk="1" hangingPunct="1">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1747" name="Rectangle 3"/>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latinLnBrk="1">
              <a:spcBef>
                <a:spcPct val="0"/>
              </a:spcBef>
              <a:defRPr sz="1200" b="0">
                <a:latin typeface="Times New Roman" panose="02020603050405020304" pitchFamily="18" charset="0"/>
                <a:ea typeface="宋体" panose="02010600030101010101" pitchFamily="2" charset="-122"/>
              </a:defRPr>
            </a:lvl1pPr>
          </a:lstStyle>
          <a:p>
            <a:pPr marL="0" marR="0" lvl="0" indent="0" algn="r" defTabSz="914400" rtl="0" eaLnBrk="1" fontAlgn="base" latinLnBrk="1" hangingPunct="1">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1748" name="Rectangle 4"/>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latinLnBrk="1">
              <a:spcBef>
                <a:spcPct val="0"/>
              </a:spcBef>
              <a:defRPr sz="1200" b="0">
                <a:latin typeface="Times New Roman" panose="02020603050405020304" pitchFamily="18" charset="0"/>
                <a:ea typeface="宋体" panose="02010600030101010101" pitchFamily="2" charset="-122"/>
              </a:defRPr>
            </a:lvl1pPr>
          </a:lstStyle>
          <a:p>
            <a:pPr marL="0" marR="0" lvl="0" indent="0" algn="l" defTabSz="914400" rtl="0" eaLnBrk="1" fontAlgn="base" latinLnBrk="1" hangingPunct="1">
              <a:spcBef>
                <a:spcPct val="0"/>
              </a:spcBef>
              <a:spcAft>
                <a:spcPct val="0"/>
              </a:spcAft>
              <a:buClrTx/>
              <a:buSzTx/>
              <a:buFontTx/>
              <a:buNone/>
              <a:defRPr/>
            </a:pPr>
            <a:endParaRPr kumimoji="1" lang="zh-CN"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1749" name="Rectangle 5"/>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p>
            <a:pPr lvl="0" algn="r" eaLnBrk="1" fontAlgn="base" latinLnBrk="1" hangingPunct="1">
              <a:spcBef>
                <a:spcPct val="0"/>
              </a:spcBef>
            </a:pPr>
            <a:fld id="{9A0DB2DC-4C9A-4742-B13C-FB6460FD3503}" type="slidenum">
              <a:rPr lang="en-US" altLang="zh-CN" sz="1200" b="0" strike="noStrike" noProof="1" dirty="0">
                <a:latin typeface="Times New Roman" panose="02020603050405020304" pitchFamily="18" charset="0"/>
                <a:ea typeface="宋体" panose="02010600030101010101" pitchFamily="2" charset="-122"/>
                <a:cs typeface="+mn-ea"/>
              </a:rPr>
              <a:t>‹#›</a:t>
            </a:fld>
            <a:endParaRPr lang="en-US" altLang="zh-CN" sz="1200" b="0" strike="noStrike" noProof="1">
              <a:latin typeface="Times New Roman" panose="02020603050405020304" pitchFamily="18" charset="0"/>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22"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latinLnBrk="1">
              <a:spcBef>
                <a:spcPct val="0"/>
              </a:spcBef>
              <a:defRPr sz="1200" b="0">
                <a:latin typeface="Times New Roman" panose="02020603050405020304" pitchFamily="18" charset="0"/>
                <a:ea typeface="宋体" panose="02010600030101010101" pitchFamily="2" charset="-122"/>
              </a:defRPr>
            </a:lvl1pPr>
          </a:lstStyle>
          <a:p>
            <a:pPr marL="0" marR="0" lvl="0" indent="0" algn="l" defTabSz="914400" rtl="0" eaLnBrk="1" fontAlgn="base" latinLnBrk="1" hangingPunct="1">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23"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latinLnBrk="1">
              <a:spcBef>
                <a:spcPct val="0"/>
              </a:spcBef>
              <a:defRPr sz="1200" b="0">
                <a:latin typeface="Times New Roman" panose="02020603050405020304" pitchFamily="18" charset="0"/>
                <a:ea typeface="宋体" panose="02010600030101010101" pitchFamily="2" charset="-122"/>
              </a:defRPr>
            </a:lvl1pPr>
          </a:lstStyle>
          <a:p>
            <a:pPr marL="0" marR="0" lvl="0" indent="0" algn="r" defTabSz="914400" rtl="0" eaLnBrk="1" fontAlgn="base" latinLnBrk="1" hangingPunct="1">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100" name="Rectangle 4"/>
          <p:cNvSpPr>
            <a:spLocks noGrp="1" noRot="1" noChangeAspect="1" noTextEdit="1"/>
          </p:cNvSpPr>
          <p:nvPr>
            <p:ph type="sldImg"/>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30725"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0" marR="0" lvl="0" indent="0" algn="l" defTabSz="914400" rtl="0" eaLnBrk="0" fontAlgn="base" latinLnBrk="0" hangingPunct="0">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单击此处编辑母版文本样式</a:t>
            </a:r>
          </a:p>
          <a:p>
            <a:pPr marL="457200" marR="0" lvl="1" indent="0" algn="l" defTabSz="914400" rtl="0" eaLnBrk="0" fontAlgn="base" latinLnBrk="0" hangingPunct="0">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第二级</a:t>
            </a:r>
          </a:p>
          <a:p>
            <a:pPr marL="914400" marR="0" lvl="2" indent="0" algn="l" defTabSz="914400" rtl="0" eaLnBrk="0" fontAlgn="base" latinLnBrk="0" hangingPunct="0">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第三级</a:t>
            </a:r>
          </a:p>
          <a:p>
            <a:pPr marL="1371600" marR="0" lvl="3" indent="0" algn="l" defTabSz="914400" rtl="0" eaLnBrk="0" fontAlgn="base" latinLnBrk="0" hangingPunct="0">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第四级</a:t>
            </a:r>
          </a:p>
          <a:p>
            <a:pPr marL="1828800" marR="0" lvl="4" indent="0" algn="l" defTabSz="914400" rtl="0" eaLnBrk="0" fontAlgn="base" latinLnBrk="0" hangingPunct="0">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第五级</a:t>
            </a:r>
          </a:p>
        </p:txBody>
      </p:sp>
      <p:sp>
        <p:nvSpPr>
          <p:cNvPr id="30726"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latinLnBrk="1">
              <a:spcBef>
                <a:spcPct val="0"/>
              </a:spcBef>
              <a:defRPr sz="1200" b="0">
                <a:latin typeface="Times New Roman" panose="02020603050405020304" pitchFamily="18" charset="0"/>
                <a:ea typeface="宋体" panose="02010600030101010101" pitchFamily="2" charset="-122"/>
              </a:defRPr>
            </a:lvl1pPr>
          </a:lstStyle>
          <a:p>
            <a:pPr marL="0" marR="0" lvl="0" indent="0" algn="l" defTabSz="914400" rtl="0" eaLnBrk="1" fontAlgn="base" latinLnBrk="1" hangingPunct="1">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27"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p>
            <a:pPr lvl="0" algn="r" eaLnBrk="1" fontAlgn="base" latinLnBrk="1" hangingPunct="1">
              <a:spcBef>
                <a:spcPct val="0"/>
              </a:spcBef>
            </a:pPr>
            <a:fld id="{9A0DB2DC-4C9A-4742-B13C-FB6460FD3503}" type="slidenum">
              <a:rPr lang="en-US" altLang="zh-CN" sz="1200" b="0" strike="noStrike" noProof="1" dirty="0">
                <a:latin typeface="Times New Roman" panose="02020603050405020304" pitchFamily="18" charset="0"/>
                <a:ea typeface="宋体" panose="02010600030101010101" pitchFamily="2" charset="-122"/>
                <a:cs typeface="+mn-ea"/>
              </a:rPr>
              <a:t>‹#›</a:t>
            </a:fld>
            <a:endParaRPr lang="en-US" altLang="zh-CN" sz="1200" b="0" strike="noStrike" noProof="1">
              <a:latin typeface="Times New Roman" panose="02020603050405020304" pitchFamily="18" charset="0"/>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spcBef>
                <a:spcPct val="0"/>
              </a:spcBef>
            </a:pPr>
            <a:fld id="{9A0DB2DC-4C9A-4742-B13C-FB6460FD3503}" type="slidenum">
              <a:rPr lang="en-US" altLang="zh-CN" dirty="0"/>
              <a:t>2</a:t>
            </a:fld>
            <a:endParaRPr lang="en-US" altLang="zh-CN" dirty="0"/>
          </a:p>
        </p:txBody>
      </p:sp>
      <p:sp>
        <p:nvSpPr>
          <p:cNvPr id="7170" name="Rectangle 2"/>
          <p:cNvSpPr>
            <a:spLocks noGrp="1" noRot="1" noChangeAspect="1" noTextEdit="1"/>
          </p:cNvSpPr>
          <p:nvPr>
            <p:ph type="sldImg"/>
          </p:nvPr>
        </p:nvSpPr>
        <p:spPr>
          <a:ln/>
        </p:spPr>
      </p:sp>
      <p:sp>
        <p:nvSpPr>
          <p:cNvPr id="7171"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spcBef>
                <a:spcPct val="0"/>
              </a:spcBef>
            </a:pPr>
            <a:fld id="{9A0DB2DC-4C9A-4742-B13C-FB6460FD3503}" type="slidenum">
              <a:rPr lang="en-US" altLang="zh-CN" dirty="0"/>
              <a:t>3</a:t>
            </a:fld>
            <a:endParaRPr lang="en-US" altLang="zh-CN" dirty="0"/>
          </a:p>
        </p:txBody>
      </p:sp>
      <p:sp>
        <p:nvSpPr>
          <p:cNvPr id="9218" name="Rectangle 2"/>
          <p:cNvSpPr>
            <a:spLocks noGrp="1" noRot="1" noChangeAspect="1" noTextEdit="1"/>
          </p:cNvSpPr>
          <p:nvPr>
            <p:ph type="sldImg"/>
          </p:nvPr>
        </p:nvSpPr>
        <p:spPr>
          <a:ln/>
        </p:spPr>
      </p:sp>
      <p:sp>
        <p:nvSpPr>
          <p:cNvPr id="9219"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幻灯片图像占位符 1"/>
          <p:cNvSpPr>
            <a:spLocks noGrp="1" noRot="1" noChangeAspect="1" noTextEdit="1"/>
          </p:cNvSpPr>
          <p:nvPr>
            <p:ph type="sldImg"/>
          </p:nvPr>
        </p:nvSpPr>
        <p:spPr>
          <a:ln/>
        </p:spPr>
      </p:sp>
      <p:sp>
        <p:nvSpPr>
          <p:cNvPr id="22530" name="文本占位符 2"/>
          <p:cNvSpPr>
            <a:spLocks noGrp="1"/>
          </p:cNvSpPr>
          <p:nvPr>
            <p:ph type="body"/>
          </p:nvPr>
        </p:nvSpPr>
        <p:spPr>
          <a:ln/>
        </p:spPr>
        <p:txBody>
          <a:bodyPr wrap="square" lIns="91440" tIns="45720" rIns="91440" bIns="45720" anchor="t" anchorCtr="0"/>
          <a:lstStyle/>
          <a:p>
            <a:pPr lvl="0"/>
            <a:endParaRPr lang="zh-CN" altLang="en-US"/>
          </a:p>
        </p:txBody>
      </p:sp>
      <p:sp>
        <p:nvSpPr>
          <p:cNvPr id="22531" name="灯片编号占位符 3"/>
          <p:cNvSpPr>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spcBef>
                <a:spcPct val="0"/>
              </a:spcBef>
            </a:pPr>
            <a:fld id="{9A0DB2DC-4C9A-4742-B13C-FB6460FD3503}" type="slidenum">
              <a:rPr lang="en-US" altLang="zh-CN" sz="1200" b="0" dirty="0"/>
              <a:t>15</a:t>
            </a:fld>
            <a:endParaRPr lang="en-US" altLang="zh-CN" sz="1200" b="0"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11" name="Rectangle 2"/>
          <p:cNvSpPr>
            <a:spLocks noChangeArrowheads="1"/>
          </p:cNvSpPr>
          <p:nvPr/>
        </p:nvSpPr>
        <p:spPr bwMode="auto">
          <a:xfrm>
            <a:off x="388938" y="0"/>
            <a:ext cx="1447800" cy="6856413"/>
          </a:xfrm>
          <a:prstGeom prst="rect">
            <a:avLst/>
          </a:prstGeom>
          <a:gradFill rotWithShape="0">
            <a:gsLst>
              <a:gs pos="0">
                <a:schemeClr val="bg1">
                  <a:gamma/>
                  <a:shade val="61961"/>
                  <a:invGamma/>
                </a:schemeClr>
              </a:gs>
              <a:gs pos="50000">
                <a:schemeClr val="bg1">
                  <a:alpha val="50000"/>
                </a:schemeClr>
              </a:gs>
              <a:gs pos="100000">
                <a:schemeClr val="bg1">
                  <a:gamma/>
                  <a:shade val="61961"/>
                  <a:invGamma/>
                </a:schemeClr>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2" name="Rectangle 3"/>
          <p:cNvSpPr>
            <a:spLocks noChangeArrowheads="1"/>
          </p:cNvSpPr>
          <p:nvPr/>
        </p:nvSpPr>
        <p:spPr bwMode="auto">
          <a:xfrm>
            <a:off x="685800" y="1733550"/>
            <a:ext cx="8456613" cy="1466850"/>
          </a:xfrm>
          <a:prstGeom prst="rect">
            <a:avLst/>
          </a:prstGeom>
          <a:gradFill rotWithShape="0">
            <a:gsLst>
              <a:gs pos="0">
                <a:schemeClr val="bg1"/>
              </a:gs>
              <a:gs pos="100000">
                <a:schemeClr val="bg1">
                  <a:gamma/>
                  <a:shade val="15294"/>
                  <a:invGamma/>
                </a:schemeClr>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3" name="Rectangle 9"/>
          <p:cNvSpPr>
            <a:spLocks noChangeArrowheads="1"/>
          </p:cNvSpPr>
          <p:nvPr/>
        </p:nvSpPr>
        <p:spPr bwMode="auto">
          <a:xfrm>
            <a:off x="0" y="3352800"/>
            <a:ext cx="4724400" cy="152400"/>
          </a:xfrm>
          <a:prstGeom prst="rect">
            <a:avLst/>
          </a:prstGeom>
          <a:solidFill>
            <a:schemeClr val="accent1">
              <a:alpha val="50195"/>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kumimoji="1" sz="2400" b="1">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b="1">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b="1">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b="1">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b="1">
                <a:solidFill>
                  <a:schemeClr val="tx1"/>
                </a:solidFill>
                <a:latin typeface="宋体" panose="02010600030101010101" pitchFamily="2" charset="-122"/>
                <a:ea typeface="宋体" panose="02010600030101010101" pitchFamily="2" charset="-122"/>
              </a:defRPr>
            </a:lvl5pPr>
            <a:lvl6pPr marL="2514600" indent="-228600" eaLnBrk="0" fontAlgn="base" hangingPunct="0">
              <a:lnSpc>
                <a:spcPct val="90000"/>
              </a:lnSpc>
              <a:spcBef>
                <a:spcPct val="20000"/>
              </a:spcBef>
              <a:spcAft>
                <a:spcPct val="0"/>
              </a:spcAft>
              <a:defRPr kumimoji="1" sz="2400" b="1">
                <a:solidFill>
                  <a:schemeClr val="tx1"/>
                </a:solidFill>
                <a:latin typeface="宋体" panose="02010600030101010101" pitchFamily="2" charset="-122"/>
                <a:ea typeface="宋体" panose="02010600030101010101" pitchFamily="2" charset="-122"/>
              </a:defRPr>
            </a:lvl6pPr>
            <a:lvl7pPr marL="2971800" indent="-228600" eaLnBrk="0" fontAlgn="base" hangingPunct="0">
              <a:lnSpc>
                <a:spcPct val="90000"/>
              </a:lnSpc>
              <a:spcBef>
                <a:spcPct val="20000"/>
              </a:spcBef>
              <a:spcAft>
                <a:spcPct val="0"/>
              </a:spcAft>
              <a:defRPr kumimoji="1" sz="2400" b="1">
                <a:solidFill>
                  <a:schemeClr val="tx1"/>
                </a:solidFill>
                <a:latin typeface="宋体" panose="02010600030101010101" pitchFamily="2" charset="-122"/>
                <a:ea typeface="宋体" panose="02010600030101010101" pitchFamily="2" charset="-122"/>
              </a:defRPr>
            </a:lvl7pPr>
            <a:lvl8pPr marL="3429000" indent="-228600" eaLnBrk="0" fontAlgn="base" hangingPunct="0">
              <a:lnSpc>
                <a:spcPct val="90000"/>
              </a:lnSpc>
              <a:spcBef>
                <a:spcPct val="20000"/>
              </a:spcBef>
              <a:spcAft>
                <a:spcPct val="0"/>
              </a:spcAft>
              <a:defRPr kumimoji="1" sz="2400" b="1">
                <a:solidFill>
                  <a:schemeClr val="tx1"/>
                </a:solidFill>
                <a:latin typeface="宋体" panose="02010600030101010101" pitchFamily="2" charset="-122"/>
                <a:ea typeface="宋体" panose="02010600030101010101" pitchFamily="2" charset="-122"/>
              </a:defRPr>
            </a:lvl8pPr>
            <a:lvl9pPr marL="3886200" indent="-228600" eaLnBrk="0" fontAlgn="base" hangingPunct="0">
              <a:lnSpc>
                <a:spcPct val="90000"/>
              </a:lnSpc>
              <a:spcBef>
                <a:spcPct val="20000"/>
              </a:spcBef>
              <a:spcAft>
                <a:spcPct val="0"/>
              </a:spcAft>
              <a:defRPr kumimoji="1" sz="2400" b="1">
                <a:solidFill>
                  <a:schemeClr val="tx1"/>
                </a:solidFill>
                <a:latin typeface="宋体" panose="02010600030101010101" pitchFamily="2" charset="-122"/>
                <a:ea typeface="宋体" panose="02010600030101010101" pitchFamily="2" charset="-122"/>
              </a:defRPr>
            </a:lvl9pPr>
          </a:lstStyle>
          <a:p>
            <a:pPr marL="0" marR="0" lvl="0" indent="0" algn="l" defTabSz="914400" rtl="0" eaLnBrk="1" fontAlgn="base" latinLnBrk="0" hangingPunct="1">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4" name="Rectangle 6"/>
          <p:cNvSpPr>
            <a:spLocks noGrp="1" noChangeArrowheads="1"/>
          </p:cNvSpPr>
          <p:nvPr>
            <p:ph type="dt" sz="quarter" idx="2"/>
          </p:nvPr>
        </p:nvSpPr>
        <p:spPr bwMode="auto">
          <a:xfrm>
            <a:off x="685800" y="61722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2075" tIns="46038" rIns="92075" bIns="46038" numCol="1" anchor="ctr" anchorCtr="0" compatLnSpc="1"/>
          <a:lstStyle>
            <a:lvl1pPr>
              <a:defRPr/>
            </a:lvl1pPr>
          </a:lstStyle>
          <a:p>
            <a:pPr marL="0" marR="0" indent="0" algn="l" defTabSz="914400" rtl="0" eaLnBrk="1" fontAlgn="base" latinLnBrk="0" hangingPunct="1">
              <a:spcAft>
                <a:spcPct val="0"/>
              </a:spcAft>
              <a:buClrTx/>
              <a:buSzTx/>
              <a:buFontTx/>
              <a:buNone/>
              <a:defRPr/>
            </a:pPr>
            <a:endParaRPr kumimoji="1" lang="en-US" altLang="zh-CN" i="0" strike="noStrike" kern="1200" cap="none" spc="0" normalizeH="0" baseline="0" noProof="0">
              <a:solidFill>
                <a:schemeClr val="tx1"/>
              </a:solidFill>
              <a:latin typeface="+mn-lt"/>
              <a:ea typeface="宋体" panose="02010600030101010101" pitchFamily="2" charset="-122"/>
              <a:cs typeface="+mn-cs"/>
            </a:endParaRPr>
          </a:p>
        </p:txBody>
      </p:sp>
      <p:sp>
        <p:nvSpPr>
          <p:cNvPr id="15" name="Rectangle 7"/>
          <p:cNvSpPr>
            <a:spLocks noGrp="1" noChangeArrowheads="1"/>
          </p:cNvSpPr>
          <p:nvPr>
            <p:ph type="ftr" sz="quarter" idx="3"/>
          </p:nvPr>
        </p:nvSpPr>
        <p:spPr bwMode="auto">
          <a:xfrm>
            <a:off x="3124200" y="61722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2075" tIns="46038" rIns="92075" bIns="46038" numCol="1" anchor="ctr" anchorCtr="0" compatLnSpc="1"/>
          <a:lstStyle>
            <a:lvl1pPr>
              <a:defRPr/>
            </a:lvl1pPr>
          </a:lstStyle>
          <a:p>
            <a:pPr marL="0" marR="0" indent="0" defTabSz="914400" rtl="0" eaLnBrk="1" fontAlgn="base" latinLnBrk="0" hangingPunct="1">
              <a:spcAft>
                <a:spcPct val="0"/>
              </a:spcAft>
              <a:buClrTx/>
              <a:buSzTx/>
              <a:buFontTx/>
              <a:buNone/>
              <a:defRPr/>
            </a:pPr>
            <a:endParaRPr kumimoji="1" lang="en-US" altLang="zh-CN" i="0" strike="noStrike" kern="1200" cap="none" spc="0" normalizeH="0" baseline="0" noProof="0">
              <a:solidFill>
                <a:schemeClr val="tx1"/>
              </a:solidFill>
              <a:latin typeface="+mn-lt"/>
              <a:ea typeface="宋体" panose="02010600030101010101" pitchFamily="2" charset="-122"/>
              <a:cs typeface="+mn-cs"/>
            </a:endParaRPr>
          </a:p>
        </p:txBody>
      </p:sp>
      <p:sp>
        <p:nvSpPr>
          <p:cNvPr id="16" name="Rectangle 8"/>
          <p:cNvSpPr>
            <a:spLocks noGrp="1" noChangeArrowheads="1"/>
          </p:cNvSpPr>
          <p:nvPr>
            <p:ph type="sldNum" sz="quarter" idx="4"/>
          </p:nvPr>
        </p:nvSpPr>
        <p:spPr bwMode="auto">
          <a:xfrm>
            <a:off x="6553200" y="61722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none" lIns="92075" tIns="46038" rIns="92075" bIns="46038" numCol="1" anchor="ctr" anchorCtr="0" compatLnSpc="1"/>
          <a:lstStyle/>
          <a:p>
            <a:pPr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cSld>
  <p:clrMapOvr>
    <a:masterClrMapping/>
  </p:clrMapOvr>
  <p:transition spd="med">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lvl="0"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cSld>
  <p:clrMapOvr>
    <a:masterClrMapping/>
  </p:clrMapOvr>
  <p:transition spd="med">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lvl="0"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cSld>
  <p:clrMapOvr>
    <a:masterClrMapping/>
  </p:clrMapOvr>
  <p:transition spd="med">
    <p:random/>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ChangeArrowheads="1"/>
          </p:cNvSpPr>
          <p:nvPr/>
        </p:nvSpPr>
        <p:spPr bwMode="auto">
          <a:xfrm>
            <a:off x="381000" y="0"/>
            <a:ext cx="1447800" cy="6856413"/>
          </a:xfrm>
          <a:prstGeom prst="rect">
            <a:avLst/>
          </a:prstGeom>
          <a:gradFill rotWithShape="0">
            <a:gsLst>
              <a:gs pos="0">
                <a:schemeClr val="bg1">
                  <a:alpha val="50000"/>
                </a:schemeClr>
              </a:gs>
              <a:gs pos="100000">
                <a:schemeClr val="bg1">
                  <a:gamma/>
                  <a:shade val="61961"/>
                  <a:invGamma/>
                </a:schemeClr>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27" name="Rectangle 3"/>
          <p:cNvSpPr>
            <a:spLocks noChangeArrowheads="1"/>
          </p:cNvSpPr>
          <p:nvPr/>
        </p:nvSpPr>
        <p:spPr bwMode="auto">
          <a:xfrm>
            <a:off x="0" y="1219200"/>
            <a:ext cx="4724400" cy="152400"/>
          </a:xfrm>
          <a:prstGeom prst="rect">
            <a:avLst/>
          </a:prstGeom>
          <a:solidFill>
            <a:schemeClr val="accent1">
              <a:alpha val="50195"/>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kumimoji="1" sz="2400" b="1">
                <a:solidFill>
                  <a:schemeClr val="tx1"/>
                </a:solidFill>
                <a:latin typeface="宋体" panose="02010600030101010101" pitchFamily="2" charset="-122"/>
                <a:ea typeface="宋体" panose="02010600030101010101" pitchFamily="2" charset="-122"/>
              </a:defRPr>
            </a:lvl1pPr>
            <a:lvl2pPr marL="742950" indent="-285750" eaLnBrk="0" hangingPunct="0">
              <a:defRPr kumimoji="1" sz="2400" b="1">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b="1">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b="1">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b="1">
                <a:solidFill>
                  <a:schemeClr val="tx1"/>
                </a:solidFill>
                <a:latin typeface="宋体" panose="02010600030101010101" pitchFamily="2" charset="-122"/>
                <a:ea typeface="宋体" panose="02010600030101010101" pitchFamily="2" charset="-122"/>
              </a:defRPr>
            </a:lvl5pPr>
            <a:lvl6pPr marL="2514600" indent="-228600" eaLnBrk="0" fontAlgn="base" hangingPunct="0">
              <a:lnSpc>
                <a:spcPct val="90000"/>
              </a:lnSpc>
              <a:spcBef>
                <a:spcPct val="20000"/>
              </a:spcBef>
              <a:spcAft>
                <a:spcPct val="0"/>
              </a:spcAft>
              <a:defRPr kumimoji="1" sz="2400" b="1">
                <a:solidFill>
                  <a:schemeClr val="tx1"/>
                </a:solidFill>
                <a:latin typeface="宋体" panose="02010600030101010101" pitchFamily="2" charset="-122"/>
                <a:ea typeface="宋体" panose="02010600030101010101" pitchFamily="2" charset="-122"/>
              </a:defRPr>
            </a:lvl6pPr>
            <a:lvl7pPr marL="2971800" indent="-228600" eaLnBrk="0" fontAlgn="base" hangingPunct="0">
              <a:lnSpc>
                <a:spcPct val="90000"/>
              </a:lnSpc>
              <a:spcBef>
                <a:spcPct val="20000"/>
              </a:spcBef>
              <a:spcAft>
                <a:spcPct val="0"/>
              </a:spcAft>
              <a:defRPr kumimoji="1" sz="2400" b="1">
                <a:solidFill>
                  <a:schemeClr val="tx1"/>
                </a:solidFill>
                <a:latin typeface="宋体" panose="02010600030101010101" pitchFamily="2" charset="-122"/>
                <a:ea typeface="宋体" panose="02010600030101010101" pitchFamily="2" charset="-122"/>
              </a:defRPr>
            </a:lvl7pPr>
            <a:lvl8pPr marL="3429000" indent="-228600" eaLnBrk="0" fontAlgn="base" hangingPunct="0">
              <a:lnSpc>
                <a:spcPct val="90000"/>
              </a:lnSpc>
              <a:spcBef>
                <a:spcPct val="20000"/>
              </a:spcBef>
              <a:spcAft>
                <a:spcPct val="0"/>
              </a:spcAft>
              <a:defRPr kumimoji="1" sz="2400" b="1">
                <a:solidFill>
                  <a:schemeClr val="tx1"/>
                </a:solidFill>
                <a:latin typeface="宋体" panose="02010600030101010101" pitchFamily="2" charset="-122"/>
                <a:ea typeface="宋体" panose="02010600030101010101" pitchFamily="2" charset="-122"/>
              </a:defRPr>
            </a:lvl8pPr>
            <a:lvl9pPr marL="3886200" indent="-228600" eaLnBrk="0" fontAlgn="base" hangingPunct="0">
              <a:lnSpc>
                <a:spcPct val="90000"/>
              </a:lnSpc>
              <a:spcBef>
                <a:spcPct val="20000"/>
              </a:spcBef>
              <a:spcAft>
                <a:spcPct val="0"/>
              </a:spcAft>
              <a:defRPr kumimoji="1" sz="2400" b="1">
                <a:solidFill>
                  <a:schemeClr val="tx1"/>
                </a:solidFill>
                <a:latin typeface="宋体" panose="02010600030101010101" pitchFamily="2" charset="-122"/>
                <a:ea typeface="宋体" panose="02010600030101010101" pitchFamily="2" charset="-122"/>
              </a:defRPr>
            </a:lvl9pPr>
          </a:lstStyle>
          <a:p>
            <a:pPr marL="0" marR="0" lvl="0" indent="0" algn="l" defTabSz="914400" rtl="0" eaLnBrk="1" fontAlgn="base" latinLnBrk="0" hangingPunct="1">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7" name="Rectangle 5"/>
          <p:cNvSpPr>
            <a:spLocks noChangeArrowheads="1"/>
          </p:cNvSpPr>
          <p:nvPr/>
        </p:nvSpPr>
        <p:spPr bwMode="auto">
          <a:xfrm>
            <a:off x="763588" y="457200"/>
            <a:ext cx="8380413" cy="762000"/>
          </a:xfrm>
          <a:prstGeom prst="rect">
            <a:avLst/>
          </a:prstGeom>
          <a:gradFill rotWithShape="0">
            <a:gsLst>
              <a:gs pos="0">
                <a:schemeClr val="bg1"/>
              </a:gs>
              <a:gs pos="100000">
                <a:schemeClr val="bg1">
                  <a:gamma/>
                  <a:shade val="15294"/>
                  <a:invGamma/>
                </a:schemeClr>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1" fontAlgn="base" latinLnBrk="0" hangingPunct="1">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80" name="Rectangle 8"/>
          <p:cNvSpPr>
            <a:spLocks noGrp="1" noChangeArrowheads="1"/>
          </p:cNvSpPr>
          <p:nvPr>
            <p:ph type="dt" sz="half" idx="2"/>
          </p:nvPr>
        </p:nvSpPr>
        <p:spPr bwMode="auto">
          <a:xfrm>
            <a:off x="685800" y="61722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2075" tIns="46038" rIns="92075" bIns="46038" numCol="1" anchor="ctr" anchorCtr="0" compatLnSpc="1"/>
          <a:lstStyle>
            <a:lvl1pPr>
              <a:spcBef>
                <a:spcPct val="0"/>
              </a:spcBef>
              <a:defRPr sz="1400" b="0">
                <a:latin typeface="+mn-lt"/>
                <a:ea typeface="宋体" panose="02010600030101010101" pitchFamily="2" charset="-122"/>
              </a:defRPr>
            </a:lvl1pPr>
          </a:lstStyle>
          <a:p>
            <a:pPr marL="0" marR="0" lvl="0" indent="0" algn="l" defTabSz="914400" rtl="0" eaLnBrk="1" fontAlgn="base" latinLnBrk="0" hangingPunct="1">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081" name="Rectangle 9"/>
          <p:cNvSpPr>
            <a:spLocks noGrp="1" noChangeArrowheads="1"/>
          </p:cNvSpPr>
          <p:nvPr>
            <p:ph type="ftr" sz="quarter" idx="3"/>
          </p:nvPr>
        </p:nvSpPr>
        <p:spPr bwMode="auto">
          <a:xfrm>
            <a:off x="3124200" y="61722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2075" tIns="46038" rIns="92075" bIns="46038" numCol="1" anchor="ctr" anchorCtr="0" compatLnSpc="1"/>
          <a:lstStyle>
            <a:lvl1pPr algn="ctr">
              <a:spcBef>
                <a:spcPct val="0"/>
              </a:spcBef>
              <a:defRPr sz="1400" b="0">
                <a:latin typeface="+mn-lt"/>
                <a:ea typeface="宋体" panose="02010600030101010101" pitchFamily="2" charset="-122"/>
              </a:defRPr>
            </a:lvl1pPr>
          </a:lstStyle>
          <a:p>
            <a:pPr marL="0" marR="0" lvl="0" indent="0" algn="ctr" defTabSz="914400" rtl="0" eaLnBrk="1" fontAlgn="base" latinLnBrk="0" hangingPunct="1">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082" name="Rectangle 10"/>
          <p:cNvSpPr>
            <a:spLocks noGrp="1" noChangeArrowheads="1"/>
          </p:cNvSpPr>
          <p:nvPr>
            <p:ph type="sldNum" sz="quarter" idx="4"/>
          </p:nvPr>
        </p:nvSpPr>
        <p:spPr bwMode="auto">
          <a:xfrm>
            <a:off x="6553200" y="61722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none" lIns="92075" tIns="46038" rIns="92075" bIns="46038" numCol="1" anchor="ctr" anchorCtr="0" compatLnSpc="1"/>
          <a:lstStyle/>
          <a:p>
            <a:pPr lvl="0"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cSld>
  <p:clrMap bg1="dk2" tx1="lt1" bg2="dk1" tx2="lt2" accent1="accent1" accent2="accent2" accent3="accent3" accent4="accent4" accent5="accent5" accent6="accent6" hlink="hlink" folHlink="folHlink"/>
  <p:sldLayoutIdLst>
    <p:sldLayoutId id="2147483649" r:id="rId1"/>
    <p:sldLayoutId id="2147483650" r:id="rId2"/>
    <p:sldLayoutId id="2147483651" r:id="rId3"/>
  </p:sldLayoutIdLst>
  <p:transition spd="med">
    <p:random/>
  </p:transition>
  <p:hf sldNum="0" hdr="0" ftr="0" dt="0"/>
  <p:txStyles>
    <p:titleStyle>
      <a:lvl1pPr algn="l" rtl="0" eaLnBrk="0" fontAlgn="base" hangingPunct="0">
        <a:spcBef>
          <a:spcPct val="0"/>
        </a:spcBef>
        <a:spcAft>
          <a:spcPct val="0"/>
        </a:spcAft>
        <a:defRPr kumimoji="1" sz="3200" b="1">
          <a:solidFill>
            <a:srgbClr val="E8E8E8"/>
          </a:solidFill>
          <a:effectLst>
            <a:outerShdw blurRad="38100" dist="38100" dir="2700000" algn="tl">
              <a:srgbClr val="000000"/>
            </a:outerShdw>
          </a:effectLst>
          <a:latin typeface="+mj-lt"/>
          <a:ea typeface="+mj-ea"/>
          <a:cs typeface="+mj-cs"/>
        </a:defRPr>
      </a:lvl1pPr>
      <a:lvl2pPr algn="l" rtl="0" eaLnBrk="0" fontAlgn="base" hangingPunct="0">
        <a:spcBef>
          <a:spcPct val="0"/>
        </a:spcBef>
        <a:spcAft>
          <a:spcPct val="0"/>
        </a:spcAft>
        <a:defRPr kumimoji="1" sz="3200" b="1">
          <a:solidFill>
            <a:srgbClr val="E8E8E8"/>
          </a:solidFill>
          <a:effectLst>
            <a:outerShdw blurRad="38100" dist="38100" dir="2700000" algn="tl">
              <a:srgbClr val="000000"/>
            </a:outerShdw>
          </a:effectLst>
          <a:latin typeface="Times New Roman" panose="02020603050405020304" pitchFamily="18" charset="0"/>
          <a:ea typeface="宋体" panose="02010600030101010101" pitchFamily="2" charset="-122"/>
        </a:defRPr>
      </a:lvl2pPr>
      <a:lvl3pPr algn="l" rtl="0" eaLnBrk="0" fontAlgn="base" hangingPunct="0">
        <a:spcBef>
          <a:spcPct val="0"/>
        </a:spcBef>
        <a:spcAft>
          <a:spcPct val="0"/>
        </a:spcAft>
        <a:defRPr kumimoji="1" sz="3200" b="1">
          <a:solidFill>
            <a:srgbClr val="E8E8E8"/>
          </a:solidFill>
          <a:effectLst>
            <a:outerShdw blurRad="38100" dist="38100" dir="2700000" algn="tl">
              <a:srgbClr val="000000"/>
            </a:outerShdw>
          </a:effectLst>
          <a:latin typeface="Times New Roman" panose="02020603050405020304" pitchFamily="18" charset="0"/>
          <a:ea typeface="宋体" panose="02010600030101010101" pitchFamily="2" charset="-122"/>
        </a:defRPr>
      </a:lvl3pPr>
      <a:lvl4pPr algn="l" rtl="0" eaLnBrk="0" fontAlgn="base" hangingPunct="0">
        <a:spcBef>
          <a:spcPct val="0"/>
        </a:spcBef>
        <a:spcAft>
          <a:spcPct val="0"/>
        </a:spcAft>
        <a:defRPr kumimoji="1" sz="3200" b="1">
          <a:solidFill>
            <a:srgbClr val="E8E8E8"/>
          </a:solidFill>
          <a:effectLst>
            <a:outerShdw blurRad="38100" dist="38100" dir="2700000" algn="tl">
              <a:srgbClr val="000000"/>
            </a:outerShdw>
          </a:effectLst>
          <a:latin typeface="Times New Roman" panose="02020603050405020304" pitchFamily="18" charset="0"/>
          <a:ea typeface="宋体" panose="02010600030101010101" pitchFamily="2" charset="-122"/>
        </a:defRPr>
      </a:lvl4pPr>
      <a:lvl5pPr algn="l" rtl="0" eaLnBrk="0" fontAlgn="base" hangingPunct="0">
        <a:spcBef>
          <a:spcPct val="0"/>
        </a:spcBef>
        <a:spcAft>
          <a:spcPct val="0"/>
        </a:spcAft>
        <a:defRPr kumimoji="1" sz="3200" b="1">
          <a:solidFill>
            <a:srgbClr val="E8E8E8"/>
          </a:solidFill>
          <a:effectLst>
            <a:outerShdw blurRad="38100" dist="38100" dir="2700000" algn="tl">
              <a:srgbClr val="000000"/>
            </a:outerShdw>
          </a:effectLst>
          <a:latin typeface="Times New Roman" panose="02020603050405020304" pitchFamily="18" charset="0"/>
          <a:ea typeface="宋体" panose="02010600030101010101" pitchFamily="2" charset="-122"/>
        </a:defRPr>
      </a:lvl5pPr>
      <a:lvl6pPr marL="457200" algn="l" rtl="0" fontAlgn="base">
        <a:spcBef>
          <a:spcPct val="0"/>
        </a:spcBef>
        <a:spcAft>
          <a:spcPct val="0"/>
        </a:spcAft>
        <a:defRPr kumimoji="1" sz="3200" b="1">
          <a:solidFill>
            <a:srgbClr val="E8E8E8"/>
          </a:solidFill>
          <a:effectLst>
            <a:outerShdw blurRad="38100" dist="38100" dir="2700000" algn="tl">
              <a:srgbClr val="000000"/>
            </a:outerShdw>
          </a:effectLst>
          <a:latin typeface="Times New Roman" panose="02020603050405020304" pitchFamily="18" charset="0"/>
          <a:ea typeface="宋体" panose="02010600030101010101" pitchFamily="2" charset="-122"/>
        </a:defRPr>
      </a:lvl6pPr>
      <a:lvl7pPr marL="914400" algn="l" rtl="0" fontAlgn="base">
        <a:spcBef>
          <a:spcPct val="0"/>
        </a:spcBef>
        <a:spcAft>
          <a:spcPct val="0"/>
        </a:spcAft>
        <a:defRPr kumimoji="1" sz="3200" b="1">
          <a:solidFill>
            <a:srgbClr val="E8E8E8"/>
          </a:solidFill>
          <a:effectLst>
            <a:outerShdw blurRad="38100" dist="38100" dir="2700000" algn="tl">
              <a:srgbClr val="000000"/>
            </a:outerShdw>
          </a:effectLst>
          <a:latin typeface="Times New Roman" panose="02020603050405020304" pitchFamily="18" charset="0"/>
          <a:ea typeface="宋体" panose="02010600030101010101" pitchFamily="2" charset="-122"/>
        </a:defRPr>
      </a:lvl7pPr>
      <a:lvl8pPr marL="1371600" algn="l" rtl="0" fontAlgn="base">
        <a:spcBef>
          <a:spcPct val="0"/>
        </a:spcBef>
        <a:spcAft>
          <a:spcPct val="0"/>
        </a:spcAft>
        <a:defRPr kumimoji="1" sz="3200" b="1">
          <a:solidFill>
            <a:srgbClr val="E8E8E8"/>
          </a:solidFill>
          <a:effectLst>
            <a:outerShdw blurRad="38100" dist="38100" dir="2700000" algn="tl">
              <a:srgbClr val="000000"/>
            </a:outerShdw>
          </a:effectLst>
          <a:latin typeface="Times New Roman" panose="02020603050405020304" pitchFamily="18" charset="0"/>
          <a:ea typeface="宋体" panose="02010600030101010101" pitchFamily="2" charset="-122"/>
        </a:defRPr>
      </a:lvl8pPr>
      <a:lvl9pPr marL="1828800" algn="l" rtl="0" fontAlgn="base">
        <a:spcBef>
          <a:spcPct val="0"/>
        </a:spcBef>
        <a:spcAft>
          <a:spcPct val="0"/>
        </a:spcAft>
        <a:defRPr kumimoji="1" sz="3200" b="1">
          <a:solidFill>
            <a:srgbClr val="E8E8E8"/>
          </a:solidFill>
          <a:effectLst>
            <a:outerShdw blurRad="38100" dist="38100" dir="2700000" algn="tl">
              <a:srgbClr val="000000"/>
            </a:outerShdw>
          </a:effectLst>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accent2"/>
        </a:buClr>
        <a:buSzPct val="70000"/>
        <a:buFont typeface="Wingdings" panose="05000000000000000000" pitchFamily="2" charset="2"/>
        <a:buChar char="u"/>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Ø"/>
        <a:defRPr kumimoji="1" sz="2400" b="1">
          <a:solidFill>
            <a:schemeClr val="tx1"/>
          </a:solidFill>
          <a:latin typeface="+mn-lt"/>
          <a:ea typeface="+mn-ea"/>
        </a:defRPr>
      </a:lvl2pPr>
      <a:lvl3pPr marL="1143000" indent="-228600" algn="l" rtl="0" eaLnBrk="0" fontAlgn="base" hangingPunct="0">
        <a:spcBef>
          <a:spcPct val="20000"/>
        </a:spcBef>
        <a:spcAft>
          <a:spcPct val="0"/>
        </a:spcAft>
        <a:buClr>
          <a:schemeClr val="accent2"/>
        </a:buClr>
        <a:buSzPct val="80000"/>
        <a:buFont typeface="Wingdings" panose="05000000000000000000" pitchFamily="2" charset="2"/>
        <a:buChar char="v"/>
        <a:defRPr kumimoji="1" sz="2000" b="1">
          <a:solidFill>
            <a:schemeClr val="tx1"/>
          </a:solidFill>
          <a:latin typeface="+mn-lt"/>
          <a:ea typeface="+mn-ea"/>
        </a:defRPr>
      </a:lvl3pPr>
      <a:lvl4pPr marL="1600200" indent="-228600" algn="l" rtl="0" eaLnBrk="0" fontAlgn="base" hangingPunct="0">
        <a:spcBef>
          <a:spcPct val="20000"/>
        </a:spcBef>
        <a:spcAft>
          <a:spcPct val="0"/>
        </a:spcAft>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chemeClr val="accent2"/>
        </a:buClr>
        <a:buChar char="•"/>
        <a:defRPr kumimoji="1" sz="2000" b="1">
          <a:solidFill>
            <a:schemeClr val="tx1"/>
          </a:solidFill>
          <a:latin typeface="+mn-lt"/>
          <a:ea typeface="+mn-ea"/>
        </a:defRPr>
      </a:lvl5pPr>
      <a:lvl6pPr marL="2514600" indent="-228600" algn="l" rtl="0" fontAlgn="base">
        <a:spcBef>
          <a:spcPct val="20000"/>
        </a:spcBef>
        <a:spcAft>
          <a:spcPct val="0"/>
        </a:spcAft>
        <a:buClr>
          <a:schemeClr val="accent2"/>
        </a:buClr>
        <a:buChar char="•"/>
        <a:defRPr kumimoji="1" sz="2000" b="1">
          <a:solidFill>
            <a:schemeClr val="tx1"/>
          </a:solidFill>
          <a:latin typeface="+mn-lt"/>
          <a:ea typeface="+mn-ea"/>
        </a:defRPr>
      </a:lvl6pPr>
      <a:lvl7pPr marL="2971800" indent="-228600" algn="l" rtl="0" fontAlgn="base">
        <a:spcBef>
          <a:spcPct val="20000"/>
        </a:spcBef>
        <a:spcAft>
          <a:spcPct val="0"/>
        </a:spcAft>
        <a:buClr>
          <a:schemeClr val="accent2"/>
        </a:buClr>
        <a:buChar char="•"/>
        <a:defRPr kumimoji="1" sz="2000" b="1">
          <a:solidFill>
            <a:schemeClr val="tx1"/>
          </a:solidFill>
          <a:latin typeface="+mn-lt"/>
          <a:ea typeface="+mn-ea"/>
        </a:defRPr>
      </a:lvl7pPr>
      <a:lvl8pPr marL="3429000" indent="-228600" algn="l" rtl="0" fontAlgn="base">
        <a:spcBef>
          <a:spcPct val="20000"/>
        </a:spcBef>
        <a:spcAft>
          <a:spcPct val="0"/>
        </a:spcAft>
        <a:buClr>
          <a:schemeClr val="accent2"/>
        </a:buClr>
        <a:buChar char="•"/>
        <a:defRPr kumimoji="1" sz="2000" b="1">
          <a:solidFill>
            <a:schemeClr val="tx1"/>
          </a:solidFill>
          <a:latin typeface="+mn-lt"/>
          <a:ea typeface="+mn-ea"/>
        </a:defRPr>
      </a:lvl8pPr>
      <a:lvl9pPr marL="3886200" indent="-228600" algn="l" rtl="0" fontAlgn="base">
        <a:spcBef>
          <a:spcPct val="20000"/>
        </a:spcBef>
        <a:spcAft>
          <a:spcPct val="0"/>
        </a:spcAft>
        <a:buClr>
          <a:schemeClr val="accent2"/>
        </a:buClr>
        <a:buChar char="•"/>
        <a:defRPr kumimoji="1"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8.emf"/><Relationship Id="rId4" Type="http://schemas.openxmlformats.org/officeDocument/2006/relationships/oleObject" Target="../embeddings/oleObject1.bin"/></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10.emf"/><Relationship Id="rId5" Type="http://schemas.openxmlformats.org/officeDocument/2006/relationships/oleObject" Target="../embeddings/oleObject3.bin"/><Relationship Id="rId4" Type="http://schemas.openxmlformats.org/officeDocument/2006/relationships/image" Target="../media/image9.emf"/></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12.emf"/><Relationship Id="rId5" Type="http://schemas.openxmlformats.org/officeDocument/2006/relationships/oleObject" Target="../embeddings/oleObject5.bin"/><Relationship Id="rId4" Type="http://schemas.openxmlformats.org/officeDocument/2006/relationships/image" Target="../media/image11.emf"/></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17.emf"/></Relationships>
</file>

<file path=ppt/slides/_rels/slide2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21.emf"/></Relationships>
</file>

<file path=ppt/slides/_rels/slide3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slideLayout" Target="../slideLayouts/slideLayout2.xml"/><Relationship Id="rId1" Type="http://schemas.openxmlformats.org/officeDocument/2006/relationships/vmlDrawing" Target="../drawings/vmlDrawing6.vml"/><Relationship Id="rId5" Type="http://schemas.openxmlformats.org/officeDocument/2006/relationships/image" Target="../media/image24.wmf"/><Relationship Id="rId4" Type="http://schemas.openxmlformats.org/officeDocument/2006/relationships/oleObject" Target="../embeddings/oleObject8.bin"/></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7.vml"/><Relationship Id="rId4" Type="http://schemas.openxmlformats.org/officeDocument/2006/relationships/image" Target="../media/image31.emf"/></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hyperlink" Target="http://baike.baidu.com/view/1670325.htm" TargetMode="Externa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image" Target="../media/image34.wmf"/><Relationship Id="rId5" Type="http://schemas.openxmlformats.org/officeDocument/2006/relationships/oleObject" Target="../embeddings/oleObject11.bin"/><Relationship Id="rId4" Type="http://schemas.openxmlformats.org/officeDocument/2006/relationships/image" Target="../media/image33.wmf"/></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image" Target="../media/image38.wmf"/><Relationship Id="rId5" Type="http://schemas.openxmlformats.org/officeDocument/2006/relationships/oleObject" Target="../embeddings/oleObject13.bin"/><Relationship Id="rId4" Type="http://schemas.openxmlformats.org/officeDocument/2006/relationships/image" Target="../media/image37.wmf"/></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8" name="Rectangle 1035"/>
          <p:cNvSpPr>
            <a:spLocks noGrp="1" noChangeArrowheads="1"/>
          </p:cNvSpPr>
          <p:nvPr/>
        </p:nvSpPr>
        <p:spPr bwMode="auto">
          <a:xfrm>
            <a:off x="685800" y="1549400"/>
            <a:ext cx="7772400" cy="1285875"/>
          </a:xfrm>
          <a:prstGeom prst="rect">
            <a:avLst/>
          </a:prstGeom>
          <a:noFill/>
          <a:ln w="9525">
            <a:noFill/>
            <a:miter lim="800000"/>
          </a:ln>
        </p:spPr>
        <p:txBody>
          <a:bodyPr lIns="92075" tIns="46038" rIns="92075" bIns="46038" anchor="ctr"/>
          <a:lstStyle/>
          <a:p>
            <a:pPr marL="0" marR="0" lvl="0" indent="0" algn="ctr" defTabSz="914400" rtl="0" eaLnBrk="0" fontAlgn="base" latinLnBrk="0" hangingPunct="0">
              <a:spcBef>
                <a:spcPct val="0"/>
              </a:spcBef>
              <a:spcAft>
                <a:spcPct val="0"/>
              </a:spcAft>
              <a:buClrTx/>
              <a:buSzTx/>
              <a:buFont typeface="Arial" panose="020B0604020202020204" pitchFamily="34" charset="0"/>
              <a:buNone/>
              <a:defRPr/>
            </a:pPr>
            <a:r>
              <a:rPr kumimoji="0" lang="zh-CN" altLang="en-US" sz="6600" b="0" i="0" u="none" strike="noStrike" kern="1200" cap="none" spc="0" normalizeH="0" baseline="0" noProof="0">
                <a:ln>
                  <a:noFill/>
                </a:ln>
                <a:solidFill>
                  <a:schemeClr val="bg2"/>
                </a:solidFill>
                <a:effectLst>
                  <a:outerShdw blurRad="38100" dist="38100" dir="2700000" algn="tl">
                    <a:srgbClr val="FFFFFF"/>
                  </a:outerShdw>
                </a:effectLst>
                <a:uLnTx/>
                <a:uFillTx/>
                <a:latin typeface="隶书" panose="02010509060101010101" pitchFamily="49" charset="-122"/>
                <a:ea typeface="隶书" panose="02010509060101010101" pitchFamily="49" charset="-122"/>
                <a:cs typeface="+mn-cs"/>
              </a:rPr>
              <a:t>微机原理及应用</a:t>
            </a:r>
            <a:endParaRPr kumimoji="0" lang="zh-CN" altLang="en-US" sz="5400" b="0" i="0" u="none" strike="noStrike" kern="1200" cap="none" spc="0" normalizeH="0" baseline="0" noProof="0">
              <a:ln>
                <a:noFill/>
              </a:ln>
              <a:solidFill>
                <a:schemeClr val="bg2"/>
              </a:solidFill>
              <a:effectLst>
                <a:outerShdw blurRad="38100" dist="38100" dir="2700000" algn="tl">
                  <a:srgbClr val="FFFFFF"/>
                </a:outerShdw>
              </a:effectLst>
              <a:uLnTx/>
              <a:uFillTx/>
              <a:latin typeface="隶书" panose="02010509060101010101" pitchFamily="49" charset="-122"/>
              <a:ea typeface="隶书" panose="02010509060101010101" pitchFamily="49" charset="-122"/>
              <a:cs typeface="+mn-cs"/>
            </a:endParaRPr>
          </a:p>
        </p:txBody>
      </p:sp>
    </p:spTree>
  </p:cSld>
  <p:clrMapOvr>
    <a:masterClrMapping/>
  </p:clrMapOvr>
  <p:transition spd="med">
    <p:random/>
  </p:transition>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66914" name="Rectangle 2"/>
          <p:cNvSpPr>
            <a:spLocks noGrp="1" noChangeArrowheads="1"/>
          </p:cNvSpPr>
          <p:nvPr>
            <p:ph type="title" idx="4294967295"/>
          </p:nvPr>
        </p:nvSpPr>
        <p:spPr>
          <a:xfrm>
            <a:off x="1025525" y="268288"/>
            <a:ext cx="7070725" cy="1143000"/>
          </a:xfrm>
          <a:prstGeom prst="rect">
            <a:avLst/>
          </a:prstGeom>
          <a:ln w="9525" cap="flat" cmpd="sng" algn="ctr">
            <a:noFill/>
            <a:prstDash val="solid"/>
          </a:ln>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3600" b="1" i="0" u="none" strike="noStrike" kern="0" cap="none" spc="0" normalizeH="0" baseline="0" noProof="0" dirty="0">
                <a:ln>
                  <a:noFill/>
                </a:ln>
                <a:solidFill>
                  <a:srgbClr val="E8E8E8"/>
                </a:solidFill>
                <a:effectLst>
                  <a:outerShdw blurRad="38100" dist="38100" dir="2700000" algn="tl">
                    <a:srgbClr val="000000"/>
                  </a:outerShdw>
                </a:effectLst>
                <a:uLnTx/>
                <a:uFillTx/>
                <a:latin typeface="宋体" panose="02010600030101010101" pitchFamily="2" charset="-122"/>
                <a:ea typeface="+mj-ea"/>
                <a:cs typeface="+mj-cs"/>
              </a:rPr>
              <a:t>第</a:t>
            </a:r>
            <a:r>
              <a:rPr kumimoji="1" lang="en-US" altLang="zh-CN" sz="36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rPr>
              <a:t>5</a:t>
            </a:r>
            <a:r>
              <a:rPr kumimoji="1" lang="zh-CN" altLang="en-US" sz="3600" b="1" i="0" u="none" strike="noStrike" kern="0" cap="none" spc="0" normalizeH="0" baseline="0" noProof="0" dirty="0">
                <a:ln>
                  <a:noFill/>
                </a:ln>
                <a:solidFill>
                  <a:srgbClr val="E8E8E8"/>
                </a:solidFill>
                <a:effectLst>
                  <a:outerShdw blurRad="38100" dist="38100" dir="2700000" algn="tl">
                    <a:srgbClr val="000000"/>
                  </a:outerShdw>
                </a:effectLst>
                <a:uLnTx/>
                <a:uFillTx/>
                <a:latin typeface="宋体" panose="02010600030101010101" pitchFamily="2" charset="-122"/>
                <a:ea typeface="+mj-ea"/>
                <a:cs typeface="+mj-cs"/>
              </a:rPr>
              <a:t>章  </a:t>
            </a:r>
            <a:r>
              <a:rPr kumimoji="1" lang="zh-CN" altLang="en-US" sz="36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rPr>
              <a:t>存储器</a:t>
            </a:r>
            <a:endParaRPr kumimoji="1" lang="zh-CN" altLang="en-US" sz="32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endParaRPr>
          </a:p>
        </p:txBody>
      </p:sp>
      <p:sp>
        <p:nvSpPr>
          <p:cNvPr id="6146" name="Rectangle 3"/>
          <p:cNvSpPr>
            <a:spLocks noGrp="1"/>
          </p:cNvSpPr>
          <p:nvPr>
            <p:ph/>
          </p:nvPr>
        </p:nvSpPr>
        <p:spPr>
          <a:xfrm>
            <a:off x="1411288" y="1995488"/>
            <a:ext cx="6870700" cy="3543300"/>
          </a:xfrm>
          <a:prstGeom prst="rect">
            <a:avLst/>
          </a:prstGeom>
          <a:noFill/>
          <a:ln w="9525">
            <a:noFill/>
          </a:ln>
        </p:spPr>
        <p:txBody>
          <a:bodyPr wrap="square" lIns="92075" tIns="46038" rIns="92075" bIns="46038" anchor="t" anchorCtr="0"/>
          <a:lstStyle/>
          <a:p>
            <a:pPr eaLnBrk="1" hangingPunct="1">
              <a:lnSpc>
                <a:spcPct val="130000"/>
              </a:lnSpc>
              <a:buNone/>
            </a:pPr>
            <a:endParaRPr lang="en-US" altLang="zh-CN" sz="3200" dirty="0">
              <a:solidFill>
                <a:srgbClr val="FFCC00"/>
              </a:solidFill>
            </a:endParaRPr>
          </a:p>
          <a:p>
            <a:pPr algn="just" eaLnBrk="1" hangingPunct="1">
              <a:lnSpc>
                <a:spcPct val="150000"/>
              </a:lnSpc>
            </a:pPr>
            <a:r>
              <a:rPr lang="zh-CN" altLang="en-US" dirty="0"/>
              <a:t>了解</a:t>
            </a:r>
            <a:r>
              <a:rPr lang="zh-CN" altLang="zh-CN" dirty="0"/>
              <a:t>存储器的分类</a:t>
            </a:r>
            <a:r>
              <a:rPr lang="zh-CN" altLang="en-US" dirty="0"/>
              <a:t>及</a:t>
            </a:r>
            <a:r>
              <a:rPr lang="zh-CN" altLang="zh-CN" dirty="0"/>
              <a:t>工作原理</a:t>
            </a:r>
            <a:endParaRPr lang="en-US" altLang="zh-CN" dirty="0"/>
          </a:p>
          <a:p>
            <a:pPr algn="just" eaLnBrk="1" hangingPunct="1">
              <a:lnSpc>
                <a:spcPct val="150000"/>
              </a:lnSpc>
            </a:pPr>
            <a:r>
              <a:rPr lang="zh-CN" altLang="en-US" dirty="0"/>
              <a:t>理解</a:t>
            </a:r>
            <a:r>
              <a:rPr lang="zh-CN" altLang="zh-CN" dirty="0"/>
              <a:t>地址译码器的工作原理</a:t>
            </a:r>
            <a:endParaRPr lang="en-US" altLang="zh-CN" dirty="0"/>
          </a:p>
          <a:p>
            <a:pPr algn="just" eaLnBrk="1" hangingPunct="1">
              <a:lnSpc>
                <a:spcPct val="150000"/>
              </a:lnSpc>
            </a:pPr>
            <a:r>
              <a:rPr lang="zh-CN" altLang="en-US" dirty="0"/>
              <a:t>掌握</a:t>
            </a:r>
            <a:r>
              <a:rPr lang="zh-CN" altLang="zh-CN" dirty="0"/>
              <a:t>存储器与微机系统的连接</a:t>
            </a:r>
            <a:endParaRPr lang="zh-CN" altLang="en-US" dirty="0">
              <a:latin typeface="宋体" panose="02010600030101010101" pitchFamily="2" charset="-122"/>
            </a:endParaRPr>
          </a:p>
        </p:txBody>
      </p:sp>
      <p:sp>
        <p:nvSpPr>
          <p:cNvPr id="6147" name="Rectangle 12"/>
          <p:cNvSpPr/>
          <p:nvPr/>
        </p:nvSpPr>
        <p:spPr>
          <a:xfrm>
            <a:off x="947738" y="1798638"/>
            <a:ext cx="3106737" cy="825500"/>
          </a:xfrm>
          <a:prstGeom prst="rect">
            <a:avLst/>
          </a:prstGeom>
          <a:noFill/>
          <a:ln w="9525">
            <a:noFill/>
          </a:ln>
        </p:spPr>
        <p:txBody>
          <a:bodyPr lIns="92075" tIns="46038" rIns="92075" bIns="46038" anchor="t" anchorCtr="0"/>
          <a:lstStyle/>
          <a:p>
            <a:pPr marL="342900" indent="-342900">
              <a:lnSpc>
                <a:spcPct val="130000"/>
              </a:lnSpc>
              <a:buClr>
                <a:schemeClr val="accent2"/>
              </a:buClr>
              <a:buSzPct val="70000"/>
            </a:pPr>
            <a:r>
              <a:rPr lang="zh-CN" altLang="en-US" sz="3200" b="0" dirty="0">
                <a:solidFill>
                  <a:srgbClr val="FFCC00"/>
                </a:solidFill>
                <a:latin typeface="宋体" panose="02010600030101010101" pitchFamily="2" charset="-122"/>
                <a:ea typeface="宋体" panose="02010600030101010101" pitchFamily="2" charset="-122"/>
              </a:rPr>
              <a:t>学习目标：</a:t>
            </a:r>
            <a:endParaRPr lang="zh-CN" altLang="en-US" sz="2800" b="0" dirty="0">
              <a:latin typeface="宋体" panose="02010600030101010101" pitchFamily="2" charset="-122"/>
              <a:ea typeface="宋体" panose="02010600030101010101" pitchFamily="2" charset="-122"/>
            </a:endParaRPr>
          </a:p>
        </p:txBody>
      </p:sp>
    </p:spTree>
  </p:cSld>
  <p:clrMapOvr>
    <a:masterClrMapping/>
  </p:clrMapOvr>
  <p:transition spd="med">
    <p:random/>
  </p:transition>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9426" name="Rectangle 2"/>
          <p:cNvSpPr>
            <a:spLocks noGrp="1" noChangeArrowheads="1"/>
          </p:cNvSpPr>
          <p:nvPr>
            <p:ph type="title" idx="4294967295"/>
          </p:nvPr>
        </p:nvSpPr>
        <p:spPr>
          <a:xfrm>
            <a:off x="1101725" y="268288"/>
            <a:ext cx="5368925" cy="1143000"/>
          </a:xfrm>
          <a:prstGeom prst="rect">
            <a:avLst/>
          </a:prstGeom>
          <a:ln w="9525" cap="flat" cmpd="sng" algn="ctr">
            <a:noFill/>
            <a:prstDash val="solid"/>
          </a:ln>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5.1  </a:t>
            </a:r>
            <a:r>
              <a:rPr kumimoji="1" lang="zh-CN" altLang="en-US"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概述</a:t>
            </a:r>
            <a:endParaRPr kumimoji="1" lang="zh-CN" altLang="en-US"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宋体" panose="02010600030101010101" pitchFamily="2" charset="-122"/>
              <a:ea typeface="+mj-ea"/>
              <a:cs typeface="+mj-cs"/>
            </a:endParaRPr>
          </a:p>
        </p:txBody>
      </p:sp>
      <p:sp>
        <p:nvSpPr>
          <p:cNvPr id="8194"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b="0" dirty="0">
                <a:solidFill>
                  <a:schemeClr val="bg2"/>
                </a:solidFill>
                <a:latin typeface="宋体" panose="02010600030101010101" pitchFamily="2" charset="-122"/>
                <a:ea typeface="宋体" panose="02010600030101010101" pitchFamily="2" charset="-122"/>
                <a:hlinkClick r:id="rId3" action="ppaction://hlinksldjump"/>
              </a:rPr>
              <a:t>返回</a:t>
            </a:r>
            <a:endParaRPr lang="zh-CN" altLang="en-US" sz="1800" b="0" dirty="0">
              <a:solidFill>
                <a:schemeClr val="bg2"/>
              </a:solidFill>
              <a:latin typeface="宋体" panose="02010600030101010101" pitchFamily="2" charset="-122"/>
              <a:ea typeface="宋体" panose="02010600030101010101" pitchFamily="2" charset="-122"/>
            </a:endParaRPr>
          </a:p>
        </p:txBody>
      </p:sp>
      <p:sp>
        <p:nvSpPr>
          <p:cNvPr id="8195" name="Rectangle 11"/>
          <p:cNvSpPr>
            <a:spLocks noGrp="1"/>
          </p:cNvSpPr>
          <p:nvPr>
            <p:ph/>
          </p:nvPr>
        </p:nvSpPr>
        <p:spPr>
          <a:xfrm>
            <a:off x="1412875" y="2508250"/>
            <a:ext cx="6086475" cy="2813050"/>
          </a:xfrm>
          <a:prstGeom prst="rect">
            <a:avLst/>
          </a:prstGeom>
          <a:noFill/>
          <a:ln w="9525">
            <a:noFill/>
          </a:ln>
        </p:spPr>
        <p:txBody>
          <a:bodyPr wrap="square" lIns="92075" tIns="46038" rIns="92075" bIns="46038" anchor="t" anchorCtr="0"/>
          <a:lstStyle/>
          <a:p>
            <a:pPr eaLnBrk="1" hangingPunct="1">
              <a:buNone/>
            </a:pPr>
            <a:r>
              <a:rPr lang="zh-CN" altLang="en-US" dirty="0">
                <a:solidFill>
                  <a:srgbClr val="66FFCC"/>
                </a:solidFill>
              </a:rPr>
              <a:t>5.1.1  存储器的分类</a:t>
            </a:r>
          </a:p>
          <a:p>
            <a:pPr eaLnBrk="1" hangingPunct="1"/>
            <a:endParaRPr lang="zh-CN" altLang="en-US" dirty="0">
              <a:solidFill>
                <a:srgbClr val="66FFCC"/>
              </a:solidFill>
            </a:endParaRPr>
          </a:p>
          <a:p>
            <a:pPr eaLnBrk="1" hangingPunct="1">
              <a:buNone/>
            </a:pPr>
            <a:r>
              <a:rPr lang="zh-CN" altLang="en-US" dirty="0">
                <a:solidFill>
                  <a:srgbClr val="66FFCC"/>
                </a:solidFill>
              </a:rPr>
              <a:t>5.1.2  存储器芯片的主要技术指标</a:t>
            </a:r>
            <a:endParaRPr lang="zh-CN" altLang="en-US" dirty="0"/>
          </a:p>
        </p:txBody>
      </p:sp>
    </p:spTree>
  </p:cSld>
  <p:clrMapOvr>
    <a:masterClrMapping/>
  </p:clrMapOvr>
  <p:transition spd="med">
    <p:random/>
  </p:transition>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95350" y="2039938"/>
            <a:ext cx="6245225" cy="3870325"/>
          </a:xfrm>
          <a:prstGeom prst="rect">
            <a:avLst/>
          </a:prstGeom>
          <a:ln w="9525" cap="flat" cmpd="sng" algn="ctr">
            <a:noFill/>
            <a:prstDash val="solid"/>
            <a:miter/>
          </a:ln>
        </p:spPr>
        <p:txBody>
          <a:bodyPr vert="horz" wrap="square" lIns="92075" tIns="46038" rIns="92075" bIns="46038" numCol="1" anchor="t" anchorCtr="0" compatLnSpc="1"/>
          <a:lstStyle/>
          <a:p>
            <a:pPr marL="0" marR="0" lvl="0" indent="0" algn="l" defTabSz="914400" rtl="0" eaLnBrk="0" fontAlgn="base" latinLnBrk="0" hangingPunct="0">
              <a:lnSpc>
                <a:spcPct val="100000"/>
              </a:lnSpc>
              <a:spcBef>
                <a:spcPct val="20000"/>
              </a:spcBef>
              <a:spcAft>
                <a:spcPct val="0"/>
              </a:spcAft>
              <a:buClr>
                <a:schemeClr val="accent2"/>
              </a:buClr>
              <a:buSzPct val="70000"/>
              <a:buFont typeface="Wingdings" panose="05000000000000000000" pitchFamily="2" charset="2"/>
              <a:buNone/>
              <a:defRPr/>
            </a:pPr>
            <a:r>
              <a:rPr kumimoji="1" lang="zh-CN" altLang="zh-CN" sz="2800" b="1" i="0" u="none" strike="noStrike" kern="0" cap="none" spc="0" normalizeH="0" baseline="0" noProof="0" dirty="0">
                <a:ln>
                  <a:noFill/>
                </a:ln>
                <a:solidFill>
                  <a:schemeClr val="tx1"/>
                </a:solidFill>
                <a:effectLst/>
                <a:uLnTx/>
                <a:uFillTx/>
                <a:latin typeface="+mn-lt"/>
                <a:ea typeface="+mn-ea"/>
                <a:cs typeface="+mn-cs"/>
              </a:rPr>
              <a:t>存储器的分类</a:t>
            </a:r>
            <a:endParaRPr kumimoji="1" lang="en-US" altLang="zh-CN" sz="2800" b="1"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
                <a:schemeClr val="accent2"/>
              </a:buClr>
              <a:buSzPct val="70000"/>
              <a:buFont typeface="Wingdings" panose="05000000000000000000" pitchFamily="2" charset="2"/>
              <a:buChar char="u"/>
              <a:defRPr/>
            </a:pPr>
            <a:r>
              <a:rPr kumimoji="1" lang="zh-CN" altLang="zh-CN" sz="2800" b="1" i="0" u="none" strike="noStrike" kern="0" cap="none" spc="0" normalizeH="0" baseline="0" noProof="0" dirty="0">
                <a:ln>
                  <a:noFill/>
                </a:ln>
                <a:solidFill>
                  <a:schemeClr val="tx1"/>
                </a:solidFill>
                <a:effectLst/>
                <a:uLnTx/>
                <a:uFillTx/>
                <a:latin typeface="+mn-lt"/>
                <a:ea typeface="+mn-ea"/>
                <a:cs typeface="+mn-cs"/>
              </a:rPr>
              <a:t>随机存取存储器（</a:t>
            </a:r>
            <a:r>
              <a:rPr kumimoji="1" lang="en-US" altLang="zh-CN" sz="2800" b="1" i="0" u="none" strike="noStrike" kern="0" cap="none" spc="0" normalizeH="0" baseline="0" noProof="0" dirty="0">
                <a:ln>
                  <a:noFill/>
                </a:ln>
                <a:solidFill>
                  <a:schemeClr val="tx1"/>
                </a:solidFill>
                <a:effectLst/>
                <a:uLnTx/>
                <a:uFillTx/>
                <a:latin typeface="+mn-lt"/>
                <a:ea typeface="+mn-ea"/>
                <a:cs typeface="+mn-cs"/>
              </a:rPr>
              <a:t>RAM</a:t>
            </a:r>
            <a:r>
              <a:rPr kumimoji="1" lang="zh-CN" altLang="zh-CN" sz="2800" b="1" i="0" u="none" strike="noStrike" kern="0" cap="none" spc="0" normalizeH="0" baseline="0" noProof="0" dirty="0">
                <a:ln>
                  <a:noFill/>
                </a:ln>
                <a:solidFill>
                  <a:schemeClr val="tx1"/>
                </a:solidFill>
                <a:effectLst/>
                <a:uLnTx/>
                <a:uFillTx/>
                <a:latin typeface="+mn-lt"/>
                <a:ea typeface="+mn-ea"/>
                <a:cs typeface="+mn-cs"/>
              </a:rPr>
              <a:t>）</a:t>
            </a:r>
            <a:endParaRPr kumimoji="1" lang="en-US" altLang="zh-CN" sz="2800" b="1" i="0" u="none" strike="noStrike" kern="0" cap="none" spc="0" normalizeH="0" baseline="0" noProof="0" dirty="0">
              <a:ln>
                <a:noFill/>
              </a:ln>
              <a:solidFill>
                <a:schemeClr val="tx1"/>
              </a:solidFill>
              <a:effectLst/>
              <a:uLnTx/>
              <a:uFillTx/>
              <a:latin typeface="+mn-lt"/>
              <a:ea typeface="+mn-ea"/>
              <a:cs typeface="+mn-cs"/>
            </a:endParaRPr>
          </a:p>
          <a:p>
            <a:pPr marL="742950" marR="0" lvl="1" indent="-285750" algn="l" defTabSz="914400" rtl="0" eaLnBrk="0" fontAlgn="base" latinLnBrk="0" hangingPunct="0">
              <a:lnSpc>
                <a:spcPct val="100000"/>
              </a:lnSpc>
              <a:spcBef>
                <a:spcPct val="20000"/>
              </a:spcBef>
              <a:spcAft>
                <a:spcPct val="0"/>
              </a:spcAft>
              <a:buClr>
                <a:schemeClr val="accent2"/>
              </a:buClr>
              <a:buSzPct val="85000"/>
              <a:buFont typeface="Wingdings" panose="05000000000000000000" pitchFamily="2" charset="2"/>
              <a:buChar char="Ø"/>
              <a:defRPr/>
            </a:pPr>
            <a:r>
              <a:rPr kumimoji="1" lang="zh-CN" altLang="zh-CN" sz="2400" b="1" i="0" u="none" strike="noStrike" kern="0" cap="none" spc="0" normalizeH="0" baseline="0" noProof="0" dirty="0">
                <a:ln>
                  <a:noFill/>
                </a:ln>
                <a:solidFill>
                  <a:schemeClr val="tx1"/>
                </a:solidFill>
                <a:effectLst/>
                <a:uLnTx/>
                <a:uFillTx/>
                <a:latin typeface="+mn-lt"/>
                <a:ea typeface="+mn-ea"/>
                <a:cs typeface="+mn-ea"/>
              </a:rPr>
              <a:t>双极型半导体</a:t>
            </a:r>
            <a:r>
              <a:rPr kumimoji="1" lang="en-US" altLang="zh-CN" sz="2400" b="1" i="0" u="none" strike="noStrike" kern="0" cap="none" spc="0" normalizeH="0" baseline="0" noProof="0" dirty="0">
                <a:ln>
                  <a:noFill/>
                </a:ln>
                <a:solidFill>
                  <a:schemeClr val="tx1"/>
                </a:solidFill>
                <a:effectLst/>
                <a:uLnTx/>
                <a:uFillTx/>
                <a:latin typeface="+mn-lt"/>
                <a:ea typeface="+mn-ea"/>
                <a:cs typeface="+mn-ea"/>
              </a:rPr>
              <a:t>RAM</a:t>
            </a:r>
          </a:p>
          <a:p>
            <a:pPr marL="742950" marR="0" lvl="1" indent="-285750" algn="l" defTabSz="914400" rtl="0" eaLnBrk="0" fontAlgn="base" latinLnBrk="0" hangingPunct="0">
              <a:lnSpc>
                <a:spcPct val="100000"/>
              </a:lnSpc>
              <a:spcBef>
                <a:spcPct val="20000"/>
              </a:spcBef>
              <a:spcAft>
                <a:spcPct val="0"/>
              </a:spcAft>
              <a:buClr>
                <a:schemeClr val="accent2"/>
              </a:buClr>
              <a:buSzPct val="85000"/>
              <a:buFont typeface="Wingdings" panose="05000000000000000000" pitchFamily="2" charset="2"/>
              <a:buChar char="Ø"/>
              <a:defRPr/>
            </a:pPr>
            <a:r>
              <a:rPr kumimoji="1" lang="en-US" altLang="zh-CN" sz="2400" b="1" i="0" u="none" strike="noStrike" kern="0" cap="none" spc="0" normalizeH="0" baseline="0" noProof="0" dirty="0">
                <a:ln>
                  <a:noFill/>
                </a:ln>
                <a:solidFill>
                  <a:schemeClr val="tx1"/>
                </a:solidFill>
                <a:effectLst/>
                <a:uLnTx/>
                <a:uFillTx/>
                <a:latin typeface="+mn-lt"/>
                <a:ea typeface="+mn-ea"/>
                <a:cs typeface="+mn-ea"/>
              </a:rPr>
              <a:t>MOS</a:t>
            </a:r>
            <a:r>
              <a:rPr kumimoji="1" lang="zh-CN" altLang="zh-CN" sz="2400" b="1" i="0" u="none" strike="noStrike" kern="0" cap="none" spc="0" normalizeH="0" baseline="0" noProof="0" dirty="0">
                <a:ln>
                  <a:noFill/>
                </a:ln>
                <a:solidFill>
                  <a:schemeClr val="tx1"/>
                </a:solidFill>
                <a:effectLst/>
                <a:uLnTx/>
                <a:uFillTx/>
                <a:latin typeface="+mn-lt"/>
                <a:ea typeface="+mn-ea"/>
                <a:cs typeface="+mn-ea"/>
              </a:rPr>
              <a:t>型</a:t>
            </a:r>
            <a:r>
              <a:rPr kumimoji="1" lang="en-US" altLang="zh-CN" sz="2400" b="1" i="0" u="none" strike="noStrike" kern="0" cap="none" spc="0" normalizeH="0" baseline="0" noProof="0" dirty="0">
                <a:ln>
                  <a:noFill/>
                </a:ln>
                <a:solidFill>
                  <a:schemeClr val="tx1"/>
                </a:solidFill>
                <a:effectLst/>
                <a:uLnTx/>
                <a:uFillTx/>
                <a:latin typeface="+mn-lt"/>
                <a:ea typeface="+mn-ea"/>
                <a:cs typeface="+mn-ea"/>
              </a:rPr>
              <a:t>RAM</a:t>
            </a:r>
          </a:p>
          <a:p>
            <a:pPr marL="1143000" marR="0" lvl="2" indent="-228600" algn="l" defTabSz="914400" rtl="0" eaLnBrk="0" fontAlgn="base" latinLnBrk="0" hangingPunct="0">
              <a:lnSpc>
                <a:spcPct val="100000"/>
              </a:lnSpc>
              <a:spcBef>
                <a:spcPct val="20000"/>
              </a:spcBef>
              <a:spcAft>
                <a:spcPct val="0"/>
              </a:spcAft>
              <a:buClr>
                <a:schemeClr val="accent2"/>
              </a:buClr>
              <a:buSzPct val="80000"/>
              <a:buFont typeface="Wingdings" panose="05000000000000000000" pitchFamily="2" charset="2"/>
              <a:buChar char="v"/>
              <a:defRPr/>
            </a:pPr>
            <a:r>
              <a:rPr kumimoji="1" lang="zh-CN" altLang="zh-CN" sz="2000" b="1" i="0" u="none" strike="noStrike" kern="0" cap="none" spc="0" normalizeH="0" baseline="0" noProof="0" dirty="0">
                <a:ln>
                  <a:noFill/>
                </a:ln>
                <a:solidFill>
                  <a:schemeClr val="tx1"/>
                </a:solidFill>
                <a:effectLst/>
                <a:uLnTx/>
                <a:uFillTx/>
                <a:latin typeface="+mn-lt"/>
                <a:ea typeface="+mn-ea"/>
                <a:cs typeface="+mn-ea"/>
              </a:rPr>
              <a:t>静态读写存储器（</a:t>
            </a:r>
            <a:r>
              <a:rPr kumimoji="1" lang="en-US" altLang="zh-CN" sz="2000" b="1" i="0" u="none" strike="noStrike" kern="0" cap="none" spc="0" normalizeH="0" baseline="0" noProof="0" dirty="0">
                <a:ln>
                  <a:noFill/>
                </a:ln>
                <a:solidFill>
                  <a:schemeClr val="tx1"/>
                </a:solidFill>
                <a:effectLst/>
                <a:uLnTx/>
                <a:uFillTx/>
                <a:latin typeface="+mn-lt"/>
                <a:ea typeface="+mn-ea"/>
                <a:cs typeface="+mn-ea"/>
              </a:rPr>
              <a:t>SRAM</a:t>
            </a:r>
            <a:r>
              <a:rPr kumimoji="1" lang="zh-CN" altLang="zh-CN" sz="2000" b="1" i="0" u="none" strike="noStrike" kern="0" cap="none" spc="0" normalizeH="0" baseline="0" noProof="0" dirty="0">
                <a:ln>
                  <a:noFill/>
                </a:ln>
                <a:solidFill>
                  <a:schemeClr val="tx1"/>
                </a:solidFill>
                <a:effectLst/>
                <a:uLnTx/>
                <a:uFillTx/>
                <a:latin typeface="+mn-lt"/>
                <a:ea typeface="+mn-ea"/>
                <a:cs typeface="+mn-ea"/>
              </a:rPr>
              <a:t>）</a:t>
            </a:r>
            <a:endParaRPr kumimoji="1" lang="en-US" altLang="zh-CN" sz="2000" b="1" i="0" u="none" strike="noStrike" kern="0" cap="none" spc="0" normalizeH="0" baseline="0" noProof="0" dirty="0">
              <a:ln>
                <a:noFill/>
              </a:ln>
              <a:solidFill>
                <a:schemeClr val="tx1"/>
              </a:solidFill>
              <a:effectLst/>
              <a:uLnTx/>
              <a:uFillTx/>
              <a:latin typeface="+mn-lt"/>
              <a:ea typeface="+mn-ea"/>
              <a:cs typeface="+mn-ea"/>
            </a:endParaRPr>
          </a:p>
          <a:p>
            <a:pPr marL="1143000" marR="0" lvl="2" indent="-228600" algn="l" defTabSz="914400" rtl="0" eaLnBrk="0" fontAlgn="base" latinLnBrk="0" hangingPunct="0">
              <a:lnSpc>
                <a:spcPct val="100000"/>
              </a:lnSpc>
              <a:spcBef>
                <a:spcPct val="20000"/>
              </a:spcBef>
              <a:spcAft>
                <a:spcPct val="0"/>
              </a:spcAft>
              <a:buClr>
                <a:schemeClr val="accent2"/>
              </a:buClr>
              <a:buSzPct val="80000"/>
              <a:buFont typeface="Wingdings" panose="05000000000000000000" pitchFamily="2" charset="2"/>
              <a:buChar char="v"/>
              <a:defRPr/>
            </a:pPr>
            <a:r>
              <a:rPr kumimoji="1" lang="zh-CN" altLang="zh-CN" sz="2000" b="1" i="0" u="none" strike="noStrike" kern="0" cap="none" spc="0" normalizeH="0" baseline="0" noProof="0" dirty="0">
                <a:ln>
                  <a:noFill/>
                </a:ln>
                <a:solidFill>
                  <a:schemeClr val="tx1"/>
                </a:solidFill>
                <a:effectLst/>
                <a:uLnTx/>
                <a:uFillTx/>
                <a:latin typeface="+mn-lt"/>
                <a:ea typeface="+mn-ea"/>
                <a:cs typeface="+mn-ea"/>
              </a:rPr>
              <a:t>动态读写存储器（</a:t>
            </a:r>
            <a:r>
              <a:rPr kumimoji="1" lang="en-US" altLang="zh-CN" sz="2000" b="1" i="0" u="none" strike="noStrike" kern="0" cap="none" spc="0" normalizeH="0" baseline="0" noProof="0" dirty="0">
                <a:ln>
                  <a:noFill/>
                </a:ln>
                <a:solidFill>
                  <a:schemeClr val="tx1"/>
                </a:solidFill>
                <a:effectLst/>
                <a:uLnTx/>
                <a:uFillTx/>
                <a:latin typeface="+mn-lt"/>
                <a:ea typeface="+mn-ea"/>
                <a:cs typeface="+mn-ea"/>
              </a:rPr>
              <a:t>DRAM</a:t>
            </a:r>
            <a:r>
              <a:rPr kumimoji="1" lang="zh-CN" altLang="zh-CN" sz="2000" b="1" i="0" u="none" strike="noStrike" kern="0" cap="none" spc="0" normalizeH="0" baseline="0" noProof="0" dirty="0">
                <a:ln>
                  <a:noFill/>
                </a:ln>
                <a:solidFill>
                  <a:schemeClr val="tx1"/>
                </a:solidFill>
                <a:effectLst/>
                <a:uLnTx/>
                <a:uFillTx/>
                <a:latin typeface="+mn-lt"/>
                <a:ea typeface="+mn-ea"/>
                <a:cs typeface="+mn-ea"/>
              </a:rPr>
              <a:t>）</a:t>
            </a:r>
            <a:endParaRPr kumimoji="1" lang="en-US" altLang="zh-CN" sz="2000" b="1" i="0" u="none" strike="noStrike" kern="0" cap="none" spc="0" normalizeH="0" baseline="0" noProof="0" dirty="0">
              <a:ln>
                <a:noFill/>
              </a:ln>
              <a:solidFill>
                <a:schemeClr val="tx1"/>
              </a:solidFill>
              <a:effectLst/>
              <a:uLnTx/>
              <a:uFillTx/>
              <a:latin typeface="+mn-lt"/>
              <a:ea typeface="+mn-ea"/>
              <a:cs typeface="+mn-ea"/>
            </a:endParaRPr>
          </a:p>
          <a:p>
            <a:pPr marL="342900" marR="0" lvl="0" indent="-342900" algn="l" defTabSz="914400" rtl="0" eaLnBrk="0" fontAlgn="base" latinLnBrk="0" hangingPunct="0">
              <a:lnSpc>
                <a:spcPct val="100000"/>
              </a:lnSpc>
              <a:spcBef>
                <a:spcPct val="20000"/>
              </a:spcBef>
              <a:spcAft>
                <a:spcPct val="0"/>
              </a:spcAft>
              <a:buClr>
                <a:schemeClr val="accent2"/>
              </a:buClr>
              <a:buSzPct val="70000"/>
              <a:buFont typeface="Wingdings" panose="05000000000000000000" pitchFamily="2" charset="2"/>
              <a:buChar char="u"/>
              <a:defRPr/>
            </a:pPr>
            <a:r>
              <a:rPr kumimoji="1" lang="zh-CN" altLang="zh-CN" sz="2800" b="1" i="0" u="none" strike="noStrike" kern="0" cap="none" spc="0" normalizeH="0" baseline="0" noProof="0" dirty="0">
                <a:ln>
                  <a:noFill/>
                </a:ln>
                <a:solidFill>
                  <a:schemeClr val="tx1"/>
                </a:solidFill>
                <a:effectLst/>
                <a:uLnTx/>
                <a:uFillTx/>
                <a:latin typeface="+mn-lt"/>
                <a:ea typeface="+mn-ea"/>
                <a:cs typeface="+mn-cs"/>
              </a:rPr>
              <a:t>只读存储器（</a:t>
            </a:r>
            <a:r>
              <a:rPr kumimoji="1" lang="en-US" altLang="zh-CN" sz="2800" b="1" i="0" u="none" strike="noStrike" kern="0" cap="none" spc="0" normalizeH="0" baseline="0" noProof="0" dirty="0">
                <a:ln>
                  <a:noFill/>
                </a:ln>
                <a:solidFill>
                  <a:schemeClr val="tx1"/>
                </a:solidFill>
                <a:effectLst/>
                <a:uLnTx/>
                <a:uFillTx/>
                <a:latin typeface="+mn-lt"/>
                <a:ea typeface="+mn-ea"/>
                <a:cs typeface="+mn-cs"/>
              </a:rPr>
              <a:t>ROM</a:t>
            </a:r>
            <a:r>
              <a:rPr kumimoji="1" lang="zh-CN" altLang="zh-CN" sz="2800" b="1" i="0" u="none" strike="noStrike" kern="0" cap="none" spc="0" normalizeH="0" baseline="0" noProof="0" dirty="0">
                <a:ln>
                  <a:noFill/>
                </a:ln>
                <a:solidFill>
                  <a:schemeClr val="tx1"/>
                </a:solidFill>
                <a:effectLst/>
                <a:uLnTx/>
                <a:uFillTx/>
                <a:latin typeface="+mn-lt"/>
                <a:ea typeface="+mn-ea"/>
                <a:cs typeface="+mn-cs"/>
              </a:rPr>
              <a:t>）</a:t>
            </a:r>
            <a:endParaRPr kumimoji="1" lang="en-US" altLang="zh-CN" sz="2800" b="1"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
                <a:schemeClr val="accent2"/>
              </a:buClr>
              <a:buSzPct val="70000"/>
              <a:buFont typeface="Wingdings" panose="05000000000000000000" pitchFamily="2" charset="2"/>
              <a:buChar char="u"/>
              <a:defRPr/>
            </a:pPr>
            <a:endParaRPr kumimoji="1" lang="zh-CN" altLang="en-US" sz="2800" b="1" i="0" u="none" strike="noStrike" kern="0" cap="none" spc="0" normalizeH="0" baseline="0" noProof="0" dirty="0">
              <a:ln>
                <a:noFill/>
              </a:ln>
              <a:solidFill>
                <a:schemeClr val="tx1"/>
              </a:solidFill>
              <a:effectLst/>
              <a:uLnTx/>
              <a:uFillTx/>
              <a:latin typeface="+mn-lt"/>
              <a:ea typeface="+mn-ea"/>
              <a:cs typeface="+mn-cs"/>
            </a:endParaRPr>
          </a:p>
        </p:txBody>
      </p:sp>
      <p:sp>
        <p:nvSpPr>
          <p:cNvPr id="2" name="标题 1"/>
          <p:cNvSpPr>
            <a:spLocks noGrp="1"/>
          </p:cNvSpPr>
          <p:nvPr>
            <p:ph type="title" idx="4294967295"/>
          </p:nvPr>
        </p:nvSpPr>
        <p:spPr>
          <a:xfrm>
            <a:off x="417513" y="228600"/>
            <a:ext cx="8331200" cy="1143000"/>
          </a:xfrm>
          <a:prstGeom prst="rect">
            <a:avLst/>
          </a:prstGeom>
          <a:ln w="9525" cap="flat" cmpd="sng" algn="ctr">
            <a:noFill/>
            <a:prstDash val="solid"/>
          </a:ln>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5.1  </a:t>
            </a:r>
            <a:r>
              <a:rPr kumimoji="1" lang="zh-CN" altLang="en-US"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概述</a:t>
            </a:r>
            <a:r>
              <a:rPr kumimoji="1" lang="en-US"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a:t>
            </a:r>
            <a:r>
              <a:rPr kumimoji="1" lang="en-US" altLang="zh-CN" sz="3200" b="1" i="0" u="none" strike="noStrike" kern="0" cap="none" spc="0" normalizeH="0" baseline="0" noProof="0" dirty="0">
                <a:ln>
                  <a:noFill/>
                </a:ln>
                <a:solidFill>
                  <a:srgbClr val="E8E8E8"/>
                </a:solidFill>
                <a:effectLst/>
                <a:uLnTx/>
                <a:uFillTx/>
                <a:latin typeface="+mj-lt"/>
                <a:ea typeface="+mj-ea"/>
                <a:cs typeface="+mj-cs"/>
              </a:rPr>
              <a:t>5.1.1  </a:t>
            </a:r>
            <a:r>
              <a:rPr kumimoji="1" lang="zh-CN" altLang="zh-CN" sz="3200" b="1" i="0" u="none" strike="noStrike" kern="0" cap="none" spc="0" normalizeH="0" baseline="0" noProof="0" dirty="0">
                <a:ln>
                  <a:noFill/>
                </a:ln>
                <a:solidFill>
                  <a:srgbClr val="E8E8E8"/>
                </a:solidFill>
                <a:effectLst/>
                <a:uLnTx/>
                <a:uFillTx/>
                <a:latin typeface="+mj-lt"/>
                <a:ea typeface="+mj-ea"/>
                <a:cs typeface="+mj-cs"/>
              </a:rPr>
              <a:t>存储器的分类</a:t>
            </a:r>
            <a:endParaRPr kumimoji="1" lang="zh-CN" altLang="en-US" sz="32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endParaRPr>
          </a:p>
        </p:txBody>
      </p:sp>
    </p:spTree>
  </p:cSld>
  <p:clrMapOvr>
    <a:masterClrMapping/>
  </p:clrMapOvr>
  <p:transition spd="med">
    <p:random/>
  </p:transition>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417513" y="228600"/>
            <a:ext cx="8331200" cy="1143000"/>
          </a:xfrm>
          <a:prstGeom prst="rect">
            <a:avLst/>
          </a:prstGeom>
          <a:ln w="9525" cap="flat" cmpd="sng" algn="ctr">
            <a:noFill/>
            <a:prstDash val="solid"/>
          </a:ln>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5.1  </a:t>
            </a:r>
            <a:r>
              <a:rPr kumimoji="1" lang="zh-CN" altLang="en-US"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概述</a:t>
            </a:r>
            <a:r>
              <a:rPr kumimoji="1" lang="en-US"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a:t>
            </a:r>
            <a:r>
              <a:rPr kumimoji="1" lang="en-US" altLang="zh-CN" sz="3200" b="1" i="0" u="none" strike="noStrike" kern="0" cap="none" spc="0" normalizeH="0" baseline="0" noProof="0" dirty="0">
                <a:ln>
                  <a:noFill/>
                </a:ln>
                <a:solidFill>
                  <a:srgbClr val="E8E8E8"/>
                </a:solidFill>
                <a:effectLst/>
                <a:uLnTx/>
                <a:uFillTx/>
                <a:latin typeface="+mj-lt"/>
                <a:ea typeface="+mj-ea"/>
                <a:cs typeface="+mj-cs"/>
              </a:rPr>
              <a:t>5.1.2  </a:t>
            </a:r>
            <a:r>
              <a:rPr kumimoji="1" lang="zh-CN" altLang="zh-CN" sz="3200" b="1" i="0" u="none" strike="noStrike" kern="0" cap="none" spc="0" normalizeH="0" baseline="0" noProof="0" dirty="0">
                <a:ln>
                  <a:noFill/>
                </a:ln>
                <a:solidFill>
                  <a:srgbClr val="E8E8E8"/>
                </a:solidFill>
                <a:effectLst/>
                <a:uLnTx/>
                <a:uFillTx/>
                <a:latin typeface="+mj-lt"/>
                <a:ea typeface="+mj-ea"/>
                <a:cs typeface="+mj-cs"/>
              </a:rPr>
              <a:t>存储器芯片的主要技术指标</a:t>
            </a:r>
            <a:endParaRPr kumimoji="1" lang="zh-CN" altLang="en-US" sz="32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endParaRPr>
          </a:p>
        </p:txBody>
      </p:sp>
      <p:sp>
        <p:nvSpPr>
          <p:cNvPr id="11266" name="内容占位符 2"/>
          <p:cNvSpPr>
            <a:spLocks noGrp="1"/>
          </p:cNvSpPr>
          <p:nvPr>
            <p:ph/>
          </p:nvPr>
        </p:nvSpPr>
        <p:spPr>
          <a:xfrm>
            <a:off x="577850" y="1335088"/>
            <a:ext cx="8124825" cy="4814887"/>
          </a:xfrm>
          <a:prstGeom prst="rect">
            <a:avLst/>
          </a:prstGeom>
          <a:noFill/>
          <a:ln w="9525">
            <a:noFill/>
          </a:ln>
        </p:spPr>
        <p:txBody>
          <a:bodyPr wrap="square" lIns="92075" tIns="46038" rIns="92075" bIns="46038" anchor="t" anchorCtr="0"/>
          <a:lstStyle/>
          <a:p>
            <a:r>
              <a:rPr lang="zh-CN" altLang="zh-CN" dirty="0"/>
              <a:t>存储容量</a:t>
            </a:r>
            <a:endParaRPr lang="en-US" altLang="zh-CN" dirty="0"/>
          </a:p>
          <a:p>
            <a:pPr lvl="1"/>
            <a:r>
              <a:rPr lang="zh-CN" altLang="zh-CN" dirty="0"/>
              <a:t>存储器容量（</a:t>
            </a:r>
            <a:r>
              <a:rPr lang="en-US" altLang="zh-CN" i="1" dirty="0"/>
              <a:t>S</a:t>
            </a:r>
            <a:r>
              <a:rPr lang="zh-CN" altLang="zh-CN" dirty="0"/>
              <a:t>）</a:t>
            </a:r>
            <a:r>
              <a:rPr lang="en-US" altLang="zh-CN" dirty="0"/>
              <a:t>=</a:t>
            </a:r>
            <a:r>
              <a:rPr lang="zh-CN" altLang="zh-CN" dirty="0"/>
              <a:t>存储单元数（</a:t>
            </a:r>
            <a:r>
              <a:rPr lang="en-US" altLang="zh-CN" i="1" dirty="0"/>
              <a:t>P</a:t>
            </a:r>
            <a:r>
              <a:rPr lang="zh-CN" altLang="zh-CN" dirty="0"/>
              <a:t>）</a:t>
            </a:r>
            <a:r>
              <a:rPr lang="en-US" altLang="zh-CN" dirty="0"/>
              <a:t>×</a:t>
            </a:r>
            <a:r>
              <a:rPr lang="zh-CN" altLang="zh-CN" dirty="0"/>
              <a:t>数据位数（</a:t>
            </a:r>
            <a:r>
              <a:rPr lang="en-US" altLang="zh-CN" i="1" dirty="0"/>
              <a:t>i</a:t>
            </a:r>
            <a:r>
              <a:rPr lang="zh-CN" altLang="zh-CN" dirty="0"/>
              <a:t>）</a:t>
            </a:r>
          </a:p>
          <a:p>
            <a:r>
              <a:rPr lang="zh-CN" altLang="zh-CN" dirty="0"/>
              <a:t>存取时间和存取周期</a:t>
            </a:r>
            <a:endParaRPr lang="en-US" altLang="zh-CN" dirty="0"/>
          </a:p>
          <a:p>
            <a:pPr lvl="1"/>
            <a:r>
              <a:rPr lang="en-US" altLang="zh-CN" dirty="0"/>
              <a:t>CPU</a:t>
            </a:r>
            <a:r>
              <a:rPr lang="zh-CN" altLang="zh-CN" dirty="0"/>
              <a:t>在读写存储器时，其读写时间必须大于存储器芯片的最大存取时间。</a:t>
            </a:r>
            <a:endParaRPr lang="en-US" altLang="zh-CN" dirty="0"/>
          </a:p>
          <a:p>
            <a:r>
              <a:rPr lang="zh-CN" altLang="zh-CN" dirty="0"/>
              <a:t>可靠性</a:t>
            </a:r>
            <a:endParaRPr lang="en-US" altLang="zh-CN" dirty="0"/>
          </a:p>
          <a:p>
            <a:pPr lvl="1"/>
            <a:r>
              <a:rPr lang="zh-CN" altLang="zh-CN" dirty="0"/>
              <a:t>目前所用的半导体存储器芯片的平均故障间隔时间（</a:t>
            </a:r>
            <a:r>
              <a:rPr lang="en-US" altLang="zh-CN" dirty="0"/>
              <a:t>MTBF</a:t>
            </a:r>
            <a:r>
              <a:rPr lang="zh-CN" altLang="zh-CN" dirty="0"/>
              <a:t>）约为</a:t>
            </a:r>
            <a:r>
              <a:rPr lang="en-US" altLang="zh-CN" dirty="0"/>
              <a:t>5×10</a:t>
            </a:r>
            <a:r>
              <a:rPr lang="en-US" altLang="zh-CN" baseline="30000" dirty="0"/>
              <a:t>6</a:t>
            </a:r>
            <a:r>
              <a:rPr lang="zh-CN" altLang="zh-CN" dirty="0"/>
              <a:t>～</a:t>
            </a:r>
            <a:r>
              <a:rPr lang="en-US" altLang="zh-CN" dirty="0"/>
              <a:t>1×10</a:t>
            </a:r>
            <a:r>
              <a:rPr lang="en-US" altLang="zh-CN" baseline="30000" dirty="0"/>
              <a:t>8</a:t>
            </a:r>
            <a:r>
              <a:rPr lang="en-US" altLang="zh-CN" dirty="0"/>
              <a:t>h</a:t>
            </a:r>
            <a:r>
              <a:rPr lang="zh-CN" altLang="zh-CN" dirty="0"/>
              <a:t>。</a:t>
            </a:r>
            <a:endParaRPr lang="en-US" altLang="zh-CN" dirty="0"/>
          </a:p>
          <a:p>
            <a:r>
              <a:rPr lang="zh-CN" altLang="zh-CN" dirty="0"/>
              <a:t>功耗</a:t>
            </a:r>
            <a:endParaRPr lang="en-US" altLang="zh-CN" dirty="0"/>
          </a:p>
          <a:p>
            <a:pPr lvl="1"/>
            <a:r>
              <a:rPr lang="zh-CN" altLang="zh-CN" sz="2000" dirty="0"/>
              <a:t>不仅涉及消耗功率的大小，也关系到芯片的集成度。对于在特殊场合下</a:t>
            </a:r>
            <a:r>
              <a:rPr lang="en-US" altLang="zh-CN" sz="2000" dirty="0"/>
              <a:t>(</a:t>
            </a:r>
            <a:r>
              <a:rPr lang="zh-CN" altLang="zh-CN" sz="2000" dirty="0"/>
              <a:t>如野外作业的系统</a:t>
            </a:r>
            <a:r>
              <a:rPr lang="en-US" altLang="zh-CN" sz="2000" dirty="0"/>
              <a:t>)</a:t>
            </a:r>
            <a:r>
              <a:rPr lang="zh-CN" altLang="zh-CN" sz="2000" dirty="0"/>
              <a:t>使用功耗低的存储器芯片构成存储系统不仅可以降低对电源容量的要求，而且还可以提高存储系统的可靠性。</a:t>
            </a:r>
            <a:endParaRPr lang="zh-CN" altLang="en-US" sz="2000" dirty="0"/>
          </a:p>
        </p:txBody>
      </p:sp>
    </p:spTree>
  </p:cSld>
  <p:clrMapOvr>
    <a:masterClrMapping/>
  </p:clrMapOvr>
  <p:transition spd="med">
    <p:random/>
  </p:transition>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417513" y="228600"/>
            <a:ext cx="8331200" cy="1143000"/>
          </a:xfrm>
          <a:prstGeom prst="rect">
            <a:avLst/>
          </a:prstGeom>
          <a:ln w="9525" cap="flat" cmpd="sng" algn="ctr">
            <a:noFill/>
            <a:prstDash val="solid"/>
          </a:ln>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5.2  随机存取存储器RAM</a:t>
            </a:r>
          </a:p>
        </p:txBody>
      </p:sp>
      <p:sp>
        <p:nvSpPr>
          <p:cNvPr id="12290" name="内容占位符 2"/>
          <p:cNvSpPr>
            <a:spLocks noGrp="1"/>
          </p:cNvSpPr>
          <p:nvPr>
            <p:ph/>
          </p:nvPr>
        </p:nvSpPr>
        <p:spPr>
          <a:xfrm>
            <a:off x="544513" y="1981200"/>
            <a:ext cx="8197850" cy="3871913"/>
          </a:xfrm>
          <a:prstGeom prst="rect">
            <a:avLst/>
          </a:prstGeom>
          <a:noFill/>
          <a:ln w="9525">
            <a:noFill/>
          </a:ln>
        </p:spPr>
        <p:txBody>
          <a:bodyPr wrap="square" lIns="92075" tIns="46038" rIns="92075" bIns="46038" anchor="t" anchorCtr="0"/>
          <a:lstStyle/>
          <a:p>
            <a:pPr marL="0" indent="755650" eaLnBrk="1">
              <a:buNone/>
            </a:pPr>
            <a:r>
              <a:rPr lang="zh-CN" altLang="zh-CN" sz="2400" dirty="0"/>
              <a:t>随机存取存储器</a:t>
            </a:r>
            <a:r>
              <a:rPr lang="en-US" altLang="zh-CN" sz="2400" dirty="0"/>
              <a:t>RAM</a:t>
            </a:r>
            <a:r>
              <a:rPr lang="zh-CN" altLang="zh-CN" sz="2400" dirty="0"/>
              <a:t>的存储单元内容可按需随时读出、写入及修改，且存取的速度与存储单元的位置无关。这种存储器在断电时将丢失其存储内容，因此主要用来存放当前运行的程序、各种输入</a:t>
            </a:r>
            <a:r>
              <a:rPr lang="en-US" altLang="zh-CN" sz="2400" dirty="0"/>
              <a:t>/</a:t>
            </a:r>
            <a:r>
              <a:rPr lang="zh-CN" altLang="zh-CN" sz="2400" dirty="0"/>
              <a:t>输出数据、中间运算结果及堆栈等。</a:t>
            </a:r>
            <a:endParaRPr lang="en-US" altLang="zh-CN" sz="2400" dirty="0"/>
          </a:p>
          <a:p>
            <a:pPr marL="0" indent="755650" eaLnBrk="1">
              <a:buNone/>
            </a:pPr>
            <a:r>
              <a:rPr lang="zh-CN" altLang="zh-CN" sz="2400" dirty="0"/>
              <a:t>本节将从应用的角度出发，以几种常用的典型芯片为例，详细介绍两类</a:t>
            </a:r>
            <a:r>
              <a:rPr lang="en-US" altLang="zh-CN" sz="2400" dirty="0"/>
              <a:t>MOS</a:t>
            </a:r>
            <a:r>
              <a:rPr lang="zh-CN" altLang="zh-CN" sz="2400" dirty="0"/>
              <a:t>型读写存储器</a:t>
            </a:r>
            <a:r>
              <a:rPr lang="en-US" altLang="zh-CN" sz="2400" dirty="0"/>
              <a:t>SRAM</a:t>
            </a:r>
            <a:r>
              <a:rPr lang="zh-CN" altLang="zh-CN" sz="2400" dirty="0"/>
              <a:t>和</a:t>
            </a:r>
            <a:r>
              <a:rPr lang="en-US" altLang="zh-CN" sz="2400" dirty="0"/>
              <a:t>DRAM</a:t>
            </a:r>
            <a:r>
              <a:rPr lang="zh-CN" altLang="zh-CN" sz="2400" dirty="0"/>
              <a:t>的特点、外部特性及其应用。</a:t>
            </a:r>
          </a:p>
          <a:p>
            <a:pPr marL="0" indent="755650" eaLnBrk="1">
              <a:buNone/>
            </a:pPr>
            <a:endParaRPr lang="zh-CN" altLang="en-US" sz="2400" dirty="0"/>
          </a:p>
        </p:txBody>
      </p:sp>
    </p:spTree>
  </p:cSld>
  <p:clrMapOvr>
    <a:masterClrMapping/>
  </p:clrMapOvr>
  <p:transition spd="med">
    <p:random/>
  </p:transition>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417513" y="228600"/>
            <a:ext cx="8331200" cy="1143000"/>
          </a:xfrm>
          <a:prstGeom prst="rect">
            <a:avLst/>
          </a:prstGeom>
          <a:ln w="9525" cap="flat" cmpd="sng" algn="ctr">
            <a:noFill/>
            <a:prstDash val="solid"/>
          </a:ln>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800" b="1" i="0" u="none" strike="noStrike" kern="0" cap="none" spc="0" normalizeH="0" baseline="0" noProof="0" dirty="0">
                <a:ln>
                  <a:noFill/>
                </a:ln>
                <a:solidFill>
                  <a:srgbClr val="E8E8E8"/>
                </a:solidFill>
                <a:effectLst/>
                <a:uLnTx/>
                <a:uFillTx/>
                <a:latin typeface="+mj-lt"/>
                <a:ea typeface="+mj-ea"/>
                <a:cs typeface="+mj-cs"/>
              </a:rPr>
              <a:t>5.2.1  </a:t>
            </a:r>
            <a:r>
              <a:rPr kumimoji="1" lang="zh-CN" altLang="zh-CN" sz="2800" b="1" i="0" u="none" strike="noStrike" kern="0" cap="none" spc="0" normalizeH="0" baseline="0" noProof="0" dirty="0">
                <a:ln>
                  <a:noFill/>
                </a:ln>
                <a:solidFill>
                  <a:srgbClr val="E8E8E8"/>
                </a:solidFill>
                <a:effectLst/>
                <a:uLnTx/>
                <a:uFillTx/>
                <a:latin typeface="+mj-lt"/>
                <a:ea typeface="+mj-ea"/>
                <a:cs typeface="+mj-cs"/>
              </a:rPr>
              <a:t>存储器的系统结构</a:t>
            </a:r>
            <a:endParaRPr kumimoji="1" lang="zh-CN" altLang="en-US" sz="28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endParaRPr>
          </a:p>
        </p:txBody>
      </p:sp>
      <p:sp>
        <p:nvSpPr>
          <p:cNvPr id="13314" name="内容占位符 2"/>
          <p:cNvSpPr>
            <a:spLocks noGrp="1"/>
          </p:cNvSpPr>
          <p:nvPr>
            <p:ph/>
          </p:nvPr>
        </p:nvSpPr>
        <p:spPr>
          <a:xfrm>
            <a:off x="577850" y="1387475"/>
            <a:ext cx="8197850" cy="4814888"/>
          </a:xfrm>
          <a:prstGeom prst="rect">
            <a:avLst/>
          </a:prstGeom>
          <a:noFill/>
          <a:ln w="9525">
            <a:noFill/>
          </a:ln>
        </p:spPr>
        <p:txBody>
          <a:bodyPr wrap="square" lIns="92075" tIns="46038" rIns="92075" bIns="46038" anchor="t" anchorCtr="0"/>
          <a:lstStyle/>
          <a:p>
            <a:pPr marL="0" indent="457200" eaLnBrk="1">
              <a:buNone/>
            </a:pPr>
            <a:r>
              <a:rPr lang="en-US" altLang="zh-CN" dirty="0"/>
              <a:t>   </a:t>
            </a:r>
            <a:r>
              <a:rPr lang="zh-CN" altLang="zh-CN" dirty="0"/>
              <a:t>一个存储元只能存储一个二进制位的信息，要存储多个数据位的信息就需要将这些单个的存储元有机地进行排列，再加上一些外围设备。一般情况下，一个存储器系统由以下几部分组成。</a:t>
            </a:r>
            <a:r>
              <a:rPr lang="zh-CN" altLang="en-US" dirty="0"/>
              <a:t>如图</a:t>
            </a:r>
            <a:r>
              <a:rPr lang="en-US" altLang="zh-CN" dirty="0"/>
              <a:t>5-2</a:t>
            </a:r>
            <a:r>
              <a:rPr lang="zh-CN" altLang="en-US" dirty="0"/>
              <a:t>所示。</a:t>
            </a:r>
            <a:endParaRPr lang="en-US" altLang="zh-CN" dirty="0"/>
          </a:p>
          <a:p>
            <a:pPr lvl="1"/>
            <a:r>
              <a:rPr lang="en-US" altLang="zh-CN" dirty="0"/>
              <a:t>1</a:t>
            </a:r>
            <a:r>
              <a:rPr lang="zh-CN" altLang="zh-CN" dirty="0"/>
              <a:t>．基本存储单元</a:t>
            </a:r>
          </a:p>
          <a:p>
            <a:pPr lvl="1"/>
            <a:r>
              <a:rPr lang="en-US" altLang="zh-CN" dirty="0"/>
              <a:t>2</a:t>
            </a:r>
            <a:r>
              <a:rPr lang="zh-CN" altLang="zh-CN" dirty="0"/>
              <a:t>．存储体</a:t>
            </a:r>
            <a:endParaRPr lang="en-US" altLang="zh-CN" dirty="0"/>
          </a:p>
          <a:p>
            <a:pPr lvl="1"/>
            <a:r>
              <a:rPr lang="en-US" altLang="zh-CN" dirty="0"/>
              <a:t>3</a:t>
            </a:r>
            <a:r>
              <a:rPr lang="zh-CN" altLang="zh-CN" dirty="0"/>
              <a:t>．地址译码器</a:t>
            </a:r>
          </a:p>
          <a:p>
            <a:pPr lvl="1"/>
            <a:r>
              <a:rPr lang="en-US" altLang="zh-CN" dirty="0"/>
              <a:t>4</a:t>
            </a:r>
            <a:r>
              <a:rPr lang="zh-CN" altLang="zh-CN" dirty="0"/>
              <a:t>．片选与读</a:t>
            </a:r>
            <a:r>
              <a:rPr lang="en-US" altLang="zh-CN" dirty="0"/>
              <a:t>/</a:t>
            </a:r>
            <a:r>
              <a:rPr lang="zh-CN" altLang="zh-CN" dirty="0"/>
              <a:t>写控制电路</a:t>
            </a:r>
          </a:p>
          <a:p>
            <a:pPr lvl="1"/>
            <a:r>
              <a:rPr lang="en-US" altLang="zh-CN" dirty="0"/>
              <a:t>5</a:t>
            </a:r>
            <a:r>
              <a:rPr lang="zh-CN" altLang="zh-CN" dirty="0"/>
              <a:t>．</a:t>
            </a:r>
            <a:r>
              <a:rPr lang="en-US" altLang="zh-CN" dirty="0"/>
              <a:t>I/O</a:t>
            </a:r>
            <a:r>
              <a:rPr lang="zh-CN" altLang="zh-CN" dirty="0"/>
              <a:t>电路</a:t>
            </a:r>
          </a:p>
          <a:p>
            <a:pPr lvl="1"/>
            <a:r>
              <a:rPr lang="en-US" altLang="zh-CN" dirty="0"/>
              <a:t>6</a:t>
            </a:r>
            <a:r>
              <a:rPr lang="zh-CN" altLang="zh-CN" dirty="0"/>
              <a:t>．集电极开路或三态输出缓冲器</a:t>
            </a:r>
          </a:p>
          <a:p>
            <a:pPr lvl="1"/>
            <a:r>
              <a:rPr lang="en-US" altLang="zh-CN" dirty="0"/>
              <a:t>7</a:t>
            </a:r>
            <a:r>
              <a:rPr lang="zh-CN" altLang="zh-CN" dirty="0"/>
              <a:t>．其他外围电路</a:t>
            </a:r>
          </a:p>
        </p:txBody>
      </p:sp>
    </p:spTree>
  </p:cSld>
  <p:clrMapOvr>
    <a:masterClrMapping/>
  </p:clrMapOvr>
  <p:transition spd="med">
    <p:random/>
  </p:transition>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4337" name="Picture 4" descr="5"/>
          <p:cNvPicPr>
            <a:picLocks noGrp="1" noChangeAspect="1"/>
          </p:cNvPicPr>
          <p:nvPr>
            <p:ph/>
          </p:nvPr>
        </p:nvPicPr>
        <p:blipFill>
          <a:blip r:embed="rId2"/>
          <a:stretch>
            <a:fillRect/>
          </a:stretch>
        </p:blipFill>
        <p:spPr>
          <a:xfrm>
            <a:off x="1295400" y="933450"/>
            <a:ext cx="6124575" cy="5081588"/>
          </a:xfrm>
          <a:prstGeom prst="rect">
            <a:avLst/>
          </a:prstGeom>
          <a:solidFill>
            <a:srgbClr val="FFFFFF"/>
          </a:solidFill>
          <a:ln w="9525">
            <a:noFill/>
          </a:ln>
        </p:spPr>
      </p:pic>
      <p:sp>
        <p:nvSpPr>
          <p:cNvPr id="14338" name="矩形 2"/>
          <p:cNvSpPr/>
          <p:nvPr/>
        </p:nvSpPr>
        <p:spPr>
          <a:xfrm>
            <a:off x="2266950" y="6091238"/>
            <a:ext cx="4060825" cy="423862"/>
          </a:xfrm>
          <a:prstGeom prst="rect">
            <a:avLst/>
          </a:prstGeom>
          <a:noFill/>
          <a:ln w="9525">
            <a:noFill/>
          </a:ln>
        </p:spPr>
        <p:txBody>
          <a:bodyPr wrap="none" anchor="t" anchorCtr="0">
            <a:spAutoFit/>
          </a:bodyPr>
          <a:lstStyle/>
          <a:p>
            <a:r>
              <a:rPr lang="zh-CN" altLang="zh-CN" b="0" dirty="0">
                <a:latin typeface="宋体" panose="02010600030101010101" pitchFamily="2" charset="-122"/>
                <a:ea typeface="宋体" panose="02010600030101010101" pitchFamily="2" charset="-122"/>
              </a:rPr>
              <a:t>图</a:t>
            </a:r>
            <a:r>
              <a:rPr lang="en-US" altLang="zh-CN" b="0" dirty="0">
                <a:latin typeface="宋体" panose="02010600030101010101" pitchFamily="2" charset="-122"/>
                <a:ea typeface="宋体" panose="02010600030101010101" pitchFamily="2" charset="-122"/>
              </a:rPr>
              <a:t>5-2  16×1</a:t>
            </a:r>
            <a:r>
              <a:rPr lang="zh-CN" altLang="zh-CN" b="0" dirty="0">
                <a:latin typeface="宋体" panose="02010600030101010101" pitchFamily="2" charset="-122"/>
                <a:ea typeface="宋体" panose="02010600030101010101" pitchFamily="2" charset="-122"/>
              </a:rPr>
              <a:t>静态</a:t>
            </a:r>
            <a:r>
              <a:rPr lang="en-US" altLang="zh-CN" b="0" dirty="0">
                <a:latin typeface="宋体" panose="02010600030101010101" pitchFamily="2" charset="-122"/>
                <a:ea typeface="宋体" panose="02010600030101010101" pitchFamily="2" charset="-122"/>
              </a:rPr>
              <a:t>RAM</a:t>
            </a:r>
            <a:r>
              <a:rPr lang="zh-CN" altLang="zh-CN" b="0" dirty="0">
                <a:latin typeface="宋体" panose="02010600030101010101" pitchFamily="2" charset="-122"/>
                <a:ea typeface="宋体" panose="02010600030101010101" pitchFamily="2" charset="-122"/>
              </a:rPr>
              <a:t>原理图</a:t>
            </a:r>
          </a:p>
        </p:txBody>
      </p:sp>
    </p:spTree>
  </p:cSld>
  <p:clrMapOvr>
    <a:masterClrMapping/>
  </p:clrMapOvr>
  <p:transition spd="med">
    <p:random/>
  </p:transition>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417513" y="566738"/>
            <a:ext cx="8331200" cy="804863"/>
          </a:xfrm>
          <a:prstGeom prst="rect">
            <a:avLst/>
          </a:prstGeom>
          <a:ln w="9525" cap="flat" cmpd="sng" algn="ctr">
            <a:noFill/>
            <a:prstDash val="solid"/>
          </a:ln>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800" b="1" i="0" u="none" strike="noStrike" kern="0" cap="none" spc="0" normalizeH="0" baseline="0" noProof="0" dirty="0">
                <a:ln>
                  <a:noFill/>
                </a:ln>
                <a:solidFill>
                  <a:srgbClr val="E8E8E8"/>
                </a:solidFill>
                <a:effectLst/>
                <a:uLnTx/>
                <a:uFillTx/>
                <a:latin typeface="+mj-lt"/>
                <a:ea typeface="+mj-ea"/>
                <a:cs typeface="+mj-cs"/>
              </a:rPr>
              <a:t>5.2.2  </a:t>
            </a:r>
            <a:r>
              <a:rPr kumimoji="1" lang="zh-CN" altLang="zh-CN" sz="2800" b="1" i="0" u="none" strike="noStrike" kern="0" cap="none" spc="0" normalizeH="0" baseline="0" noProof="0" dirty="0">
                <a:ln>
                  <a:noFill/>
                </a:ln>
                <a:solidFill>
                  <a:srgbClr val="E8E8E8"/>
                </a:solidFill>
                <a:effectLst/>
                <a:uLnTx/>
                <a:uFillTx/>
                <a:latin typeface="+mj-lt"/>
                <a:ea typeface="+mj-ea"/>
                <a:cs typeface="+mj-cs"/>
              </a:rPr>
              <a:t>静态随机存储器（</a:t>
            </a:r>
            <a:r>
              <a:rPr kumimoji="1" lang="en-US" altLang="zh-CN" sz="2800" b="1" i="0" u="none" strike="noStrike" kern="0" cap="none" spc="0" normalizeH="0" baseline="0" noProof="0" dirty="0">
                <a:ln>
                  <a:noFill/>
                </a:ln>
                <a:solidFill>
                  <a:srgbClr val="E8E8E8"/>
                </a:solidFill>
                <a:effectLst/>
                <a:uLnTx/>
                <a:uFillTx/>
                <a:latin typeface="+mj-lt"/>
                <a:ea typeface="+mj-ea"/>
                <a:cs typeface="+mj-cs"/>
              </a:rPr>
              <a:t>SRAM</a:t>
            </a:r>
            <a:r>
              <a:rPr kumimoji="1" lang="zh-CN" altLang="zh-CN" sz="2800" b="1" i="0" u="none" strike="noStrike" kern="0" cap="none" spc="0" normalizeH="0" baseline="0" noProof="0" dirty="0">
                <a:ln>
                  <a:noFill/>
                </a:ln>
                <a:solidFill>
                  <a:srgbClr val="E8E8E8"/>
                </a:solidFill>
                <a:effectLst/>
                <a:uLnTx/>
                <a:uFillTx/>
                <a:latin typeface="+mj-lt"/>
                <a:ea typeface="+mj-ea"/>
                <a:cs typeface="+mj-cs"/>
              </a:rPr>
              <a:t>）</a:t>
            </a:r>
            <a:br>
              <a:rPr kumimoji="1" lang="zh-CN" altLang="zh-CN" sz="2800" b="1" i="0" u="none" strike="noStrike" kern="0" cap="none" spc="0" normalizeH="0" baseline="0" noProof="0" dirty="0">
                <a:ln>
                  <a:noFill/>
                </a:ln>
                <a:solidFill>
                  <a:srgbClr val="E8E8E8"/>
                </a:solidFill>
                <a:effectLst/>
                <a:uLnTx/>
                <a:uFillTx/>
                <a:latin typeface="+mj-lt"/>
                <a:ea typeface="+mj-ea"/>
                <a:cs typeface="+mj-cs"/>
              </a:rPr>
            </a:br>
            <a:endParaRPr kumimoji="1" lang="zh-CN" altLang="en-US" sz="28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endParaRPr>
          </a:p>
        </p:txBody>
      </p:sp>
      <p:sp>
        <p:nvSpPr>
          <p:cNvPr id="15362" name="内容占位符 2"/>
          <p:cNvSpPr>
            <a:spLocks noGrp="1"/>
          </p:cNvSpPr>
          <p:nvPr>
            <p:ph/>
          </p:nvPr>
        </p:nvSpPr>
        <p:spPr>
          <a:xfrm>
            <a:off x="577850" y="1387475"/>
            <a:ext cx="8197850" cy="4814888"/>
          </a:xfrm>
          <a:prstGeom prst="rect">
            <a:avLst/>
          </a:prstGeom>
          <a:noFill/>
          <a:ln w="9525">
            <a:noFill/>
          </a:ln>
        </p:spPr>
        <p:txBody>
          <a:bodyPr wrap="square" lIns="92075" tIns="46038" rIns="92075" bIns="46038" anchor="t" anchorCtr="0"/>
          <a:lstStyle/>
          <a:p>
            <a:pPr marL="0" indent="0">
              <a:buNone/>
            </a:pPr>
            <a:r>
              <a:rPr lang="en-US" altLang="zh-CN" dirty="0"/>
              <a:t>1</a:t>
            </a:r>
            <a:r>
              <a:rPr lang="zh-CN" altLang="zh-CN" dirty="0"/>
              <a:t>．基本存储单元</a:t>
            </a:r>
          </a:p>
          <a:p>
            <a:pPr lvl="1"/>
            <a:r>
              <a:rPr lang="en-US" altLang="zh-CN" dirty="0"/>
              <a:t>SRAM</a:t>
            </a:r>
            <a:r>
              <a:rPr lang="zh-CN" altLang="zh-CN" dirty="0"/>
              <a:t>的基本存储电路（即存储元）一般是由</a:t>
            </a:r>
            <a:r>
              <a:rPr lang="en-US" altLang="zh-CN" dirty="0"/>
              <a:t>6</a:t>
            </a:r>
            <a:r>
              <a:rPr lang="zh-CN" altLang="zh-CN" dirty="0"/>
              <a:t>个</a:t>
            </a:r>
            <a:r>
              <a:rPr lang="en-US" altLang="zh-CN" dirty="0"/>
              <a:t>MOS</a:t>
            </a:r>
            <a:r>
              <a:rPr lang="zh-CN" altLang="zh-CN" dirty="0"/>
              <a:t>管组成的双稳态电路</a:t>
            </a:r>
            <a:r>
              <a:rPr lang="zh-CN" altLang="en-US" dirty="0"/>
              <a:t>。</a:t>
            </a:r>
            <a:endParaRPr lang="en-US" altLang="zh-CN" dirty="0"/>
          </a:p>
          <a:p>
            <a:pPr lvl="1"/>
            <a:r>
              <a:rPr lang="zh-CN" altLang="zh-CN" dirty="0"/>
              <a:t>图</a:t>
            </a:r>
            <a:r>
              <a:rPr lang="en-US" altLang="zh-CN" dirty="0"/>
              <a:t>5-3</a:t>
            </a:r>
            <a:r>
              <a:rPr lang="zh-CN" altLang="zh-CN" dirty="0"/>
              <a:t>中，</a:t>
            </a:r>
            <a:r>
              <a:rPr lang="en-US" altLang="zh-CN" dirty="0"/>
              <a:t>T</a:t>
            </a:r>
            <a:r>
              <a:rPr lang="en-US" altLang="zh-CN" baseline="-25000" dirty="0"/>
              <a:t>3</a:t>
            </a:r>
            <a:r>
              <a:rPr lang="zh-CN" altLang="zh-CN" dirty="0"/>
              <a:t>、</a:t>
            </a:r>
            <a:r>
              <a:rPr lang="en-US" altLang="zh-CN" dirty="0"/>
              <a:t>T</a:t>
            </a:r>
            <a:r>
              <a:rPr lang="en-US" altLang="zh-CN" baseline="-25000" dirty="0"/>
              <a:t>4</a:t>
            </a:r>
            <a:r>
              <a:rPr lang="zh-CN" altLang="zh-CN" dirty="0"/>
              <a:t>是负载管，</a:t>
            </a:r>
            <a:r>
              <a:rPr lang="en-US" altLang="zh-CN" dirty="0"/>
              <a:t>T</a:t>
            </a:r>
            <a:r>
              <a:rPr lang="en-US" altLang="zh-CN" baseline="-25000" dirty="0"/>
              <a:t>1</a:t>
            </a:r>
            <a:r>
              <a:rPr lang="zh-CN" altLang="zh-CN" dirty="0"/>
              <a:t>、</a:t>
            </a:r>
            <a:r>
              <a:rPr lang="en-US" altLang="zh-CN" dirty="0"/>
              <a:t>T</a:t>
            </a:r>
            <a:r>
              <a:rPr lang="en-US" altLang="zh-CN" baseline="-25000" dirty="0"/>
              <a:t>2</a:t>
            </a:r>
            <a:r>
              <a:rPr lang="zh-CN" altLang="zh-CN" dirty="0"/>
              <a:t>是工作管，</a:t>
            </a:r>
            <a:r>
              <a:rPr lang="en-US" altLang="zh-CN" dirty="0"/>
              <a:t>T</a:t>
            </a:r>
            <a:r>
              <a:rPr lang="en-US" altLang="zh-CN" baseline="-25000" dirty="0"/>
              <a:t>5</a:t>
            </a:r>
            <a:r>
              <a:rPr lang="zh-CN" altLang="zh-CN" dirty="0"/>
              <a:t>、</a:t>
            </a:r>
            <a:r>
              <a:rPr lang="en-US" altLang="zh-CN" dirty="0"/>
              <a:t>T</a:t>
            </a:r>
            <a:r>
              <a:rPr lang="en-US" altLang="zh-CN" baseline="-25000" dirty="0"/>
              <a:t>6</a:t>
            </a:r>
            <a:r>
              <a:rPr lang="zh-CN" altLang="zh-CN" dirty="0"/>
              <a:t>、</a:t>
            </a:r>
            <a:r>
              <a:rPr lang="en-US" altLang="zh-CN" dirty="0"/>
              <a:t>T</a:t>
            </a:r>
            <a:r>
              <a:rPr lang="en-US" altLang="zh-CN" baseline="-25000" dirty="0"/>
              <a:t>7</a:t>
            </a:r>
            <a:r>
              <a:rPr lang="zh-CN" altLang="zh-CN" dirty="0"/>
              <a:t>、</a:t>
            </a:r>
            <a:r>
              <a:rPr lang="en-US" altLang="zh-CN" dirty="0"/>
              <a:t>T</a:t>
            </a:r>
            <a:r>
              <a:rPr lang="en-US" altLang="zh-CN" baseline="-25000" dirty="0"/>
              <a:t>8</a:t>
            </a:r>
            <a:r>
              <a:rPr lang="zh-CN" altLang="zh-CN" dirty="0"/>
              <a:t>是控制管，其中</a:t>
            </a:r>
            <a:r>
              <a:rPr lang="en-US" altLang="zh-CN" dirty="0"/>
              <a:t>T</a:t>
            </a:r>
            <a:r>
              <a:rPr lang="en-US" altLang="zh-CN" baseline="-25000" dirty="0"/>
              <a:t>7</a:t>
            </a:r>
            <a:r>
              <a:rPr lang="zh-CN" altLang="zh-CN" dirty="0"/>
              <a:t>、</a:t>
            </a:r>
            <a:r>
              <a:rPr lang="en-US" altLang="zh-CN" dirty="0"/>
              <a:t>T</a:t>
            </a:r>
            <a:r>
              <a:rPr lang="en-US" altLang="zh-CN" baseline="-25000" dirty="0"/>
              <a:t>8</a:t>
            </a:r>
            <a:r>
              <a:rPr lang="zh-CN" altLang="zh-CN" dirty="0"/>
              <a:t>为所有存储元所共用的。</a:t>
            </a:r>
            <a:endParaRPr lang="zh-CN" altLang="en-US" dirty="0"/>
          </a:p>
        </p:txBody>
      </p:sp>
      <p:pic>
        <p:nvPicPr>
          <p:cNvPr id="15363" name="Picture 3" descr="5"/>
          <p:cNvPicPr>
            <a:picLocks noChangeAspect="1"/>
          </p:cNvPicPr>
          <p:nvPr/>
        </p:nvPicPr>
        <p:blipFill>
          <a:blip r:embed="rId2"/>
          <a:stretch>
            <a:fillRect/>
          </a:stretch>
        </p:blipFill>
        <p:spPr>
          <a:xfrm>
            <a:off x="3833813" y="3632200"/>
            <a:ext cx="3162300" cy="2730500"/>
          </a:xfrm>
          <a:prstGeom prst="rect">
            <a:avLst/>
          </a:prstGeom>
          <a:noFill/>
          <a:ln w="9525">
            <a:noFill/>
          </a:ln>
        </p:spPr>
      </p:pic>
      <p:sp>
        <p:nvSpPr>
          <p:cNvPr id="15364" name="矩形 3"/>
          <p:cNvSpPr/>
          <p:nvPr/>
        </p:nvSpPr>
        <p:spPr>
          <a:xfrm>
            <a:off x="3848100" y="6438900"/>
            <a:ext cx="3146425" cy="379413"/>
          </a:xfrm>
          <a:prstGeom prst="rect">
            <a:avLst/>
          </a:prstGeom>
          <a:noFill/>
          <a:ln w="9525">
            <a:noFill/>
          </a:ln>
        </p:spPr>
        <p:txBody>
          <a:bodyPr wrap="none" anchor="t" anchorCtr="0">
            <a:spAutoFit/>
          </a:bodyPr>
          <a:lstStyle/>
          <a:p>
            <a:r>
              <a:rPr lang="zh-CN" altLang="zh-CN" sz="2000" b="0" dirty="0">
                <a:latin typeface="Times New Roman" panose="02020603050405020304" pitchFamily="18" charset="0"/>
                <a:ea typeface="宋体" panose="02010600030101010101" pitchFamily="2" charset="-122"/>
              </a:rPr>
              <a:t>图</a:t>
            </a:r>
            <a:r>
              <a:rPr lang="en-US" altLang="zh-CN" sz="2000" b="0" dirty="0">
                <a:latin typeface="Times New Roman" panose="02020603050405020304" pitchFamily="18" charset="0"/>
                <a:ea typeface="宋体" panose="02010600030101010101" pitchFamily="2" charset="-122"/>
              </a:rPr>
              <a:t>5-3  SRAM</a:t>
            </a:r>
            <a:r>
              <a:rPr lang="zh-CN" altLang="zh-CN" sz="2000" b="0" dirty="0">
                <a:latin typeface="Times New Roman" panose="02020603050405020304" pitchFamily="18" charset="0"/>
                <a:ea typeface="宋体" panose="02010600030101010101" pitchFamily="2" charset="-122"/>
              </a:rPr>
              <a:t>基本存储电路</a:t>
            </a:r>
          </a:p>
        </p:txBody>
      </p:sp>
    </p:spTree>
  </p:cSld>
  <p:clrMapOvr>
    <a:masterClrMapping/>
  </p:clrMapOvr>
  <p:transition spd="med">
    <p:random/>
  </p:transition>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6385" name="内容占位符 2"/>
          <p:cNvSpPr>
            <a:spLocks noGrp="1"/>
          </p:cNvSpPr>
          <p:nvPr>
            <p:ph/>
          </p:nvPr>
        </p:nvSpPr>
        <p:spPr>
          <a:xfrm>
            <a:off x="577850" y="1387475"/>
            <a:ext cx="8197850" cy="4814888"/>
          </a:xfrm>
          <a:prstGeom prst="rect">
            <a:avLst/>
          </a:prstGeom>
          <a:noFill/>
          <a:ln w="9525">
            <a:noFill/>
          </a:ln>
        </p:spPr>
        <p:txBody>
          <a:bodyPr wrap="square" lIns="92075" tIns="46038" rIns="92075" bIns="46038" anchor="t" anchorCtr="0"/>
          <a:lstStyle/>
          <a:p>
            <a:r>
              <a:rPr lang="zh-CN" altLang="zh-CN" dirty="0"/>
              <a:t>在写操作时，若要写入“</a:t>
            </a:r>
            <a:r>
              <a:rPr lang="en-US" altLang="zh-CN" dirty="0"/>
              <a:t>1</a:t>
            </a:r>
            <a:r>
              <a:rPr lang="zh-CN" altLang="zh-CN" dirty="0"/>
              <a:t>”，则</a:t>
            </a:r>
            <a:r>
              <a:rPr lang="en-US" altLang="zh-CN" dirty="0"/>
              <a:t>I/O=1</a:t>
            </a:r>
            <a:r>
              <a:rPr lang="zh-CN" altLang="zh-CN" dirty="0"/>
              <a:t>，</a:t>
            </a:r>
            <a:r>
              <a:rPr lang="en-US" altLang="zh-CN" dirty="0"/>
              <a:t> </a:t>
            </a:r>
            <a:r>
              <a:rPr lang="zh-CN" altLang="en-US" dirty="0"/>
              <a:t>非</a:t>
            </a:r>
            <a:r>
              <a:rPr lang="en-US" altLang="zh-CN" dirty="0"/>
              <a:t>I/O =0</a:t>
            </a:r>
            <a:r>
              <a:rPr lang="zh-CN" altLang="zh-CN" dirty="0"/>
              <a:t>，</a:t>
            </a:r>
            <a:r>
              <a:rPr lang="en-US" altLang="zh-CN" dirty="0"/>
              <a:t>X</a:t>
            </a:r>
            <a:r>
              <a:rPr lang="zh-CN" altLang="zh-CN" dirty="0"/>
              <a:t>地址选择线为高电平，使</a:t>
            </a:r>
            <a:r>
              <a:rPr lang="en-US" altLang="zh-CN" dirty="0"/>
              <a:t>T</a:t>
            </a:r>
            <a:r>
              <a:rPr lang="en-US" altLang="zh-CN" baseline="-25000" dirty="0"/>
              <a:t>5</a:t>
            </a:r>
            <a:r>
              <a:rPr lang="zh-CN" altLang="zh-CN" dirty="0"/>
              <a:t>、</a:t>
            </a:r>
            <a:r>
              <a:rPr lang="en-US" altLang="zh-CN" dirty="0"/>
              <a:t>T</a:t>
            </a:r>
            <a:r>
              <a:rPr lang="en-US" altLang="zh-CN" baseline="-25000" dirty="0"/>
              <a:t>6</a:t>
            </a:r>
            <a:r>
              <a:rPr lang="zh-CN" altLang="zh-CN" dirty="0"/>
              <a:t>导通，同时</a:t>
            </a:r>
            <a:r>
              <a:rPr lang="en-US" altLang="zh-CN" dirty="0"/>
              <a:t>Y</a:t>
            </a:r>
            <a:r>
              <a:rPr lang="zh-CN" altLang="zh-CN" dirty="0"/>
              <a:t>地址选择线也为高电平，使</a:t>
            </a:r>
            <a:r>
              <a:rPr lang="en-US" altLang="zh-CN" dirty="0"/>
              <a:t>T</a:t>
            </a:r>
            <a:r>
              <a:rPr lang="en-US" altLang="zh-CN" baseline="-25000" dirty="0"/>
              <a:t>7</a:t>
            </a:r>
            <a:r>
              <a:rPr lang="zh-CN" altLang="zh-CN" dirty="0"/>
              <a:t>、</a:t>
            </a:r>
            <a:r>
              <a:rPr lang="en-US" altLang="zh-CN" dirty="0"/>
              <a:t>T</a:t>
            </a:r>
            <a:r>
              <a:rPr lang="en-US" altLang="zh-CN" baseline="-25000" dirty="0"/>
              <a:t>8</a:t>
            </a:r>
            <a:r>
              <a:rPr lang="zh-CN" altLang="zh-CN" dirty="0"/>
              <a:t>导通，要写入的内容经</a:t>
            </a:r>
            <a:r>
              <a:rPr lang="en-US" altLang="zh-CN" dirty="0"/>
              <a:t>I/O</a:t>
            </a:r>
            <a:r>
              <a:rPr lang="zh-CN" altLang="zh-CN" dirty="0"/>
              <a:t>端和</a:t>
            </a:r>
            <a:r>
              <a:rPr lang="en-US" altLang="zh-CN" dirty="0"/>
              <a:t>’</a:t>
            </a:r>
            <a:r>
              <a:rPr lang="zh-CN" altLang="en-US" dirty="0"/>
              <a:t>非</a:t>
            </a:r>
            <a:r>
              <a:rPr lang="en-US" altLang="zh-CN" dirty="0"/>
              <a:t>I/O’ </a:t>
            </a:r>
            <a:r>
              <a:rPr lang="zh-CN" altLang="zh-CN" dirty="0"/>
              <a:t>端进入，通过</a:t>
            </a:r>
            <a:r>
              <a:rPr lang="en-US" altLang="zh-CN" dirty="0"/>
              <a:t>T</a:t>
            </a:r>
            <a:r>
              <a:rPr lang="en-US" altLang="zh-CN" baseline="-25000" dirty="0"/>
              <a:t>7</a:t>
            </a:r>
            <a:r>
              <a:rPr lang="zh-CN" altLang="zh-CN" dirty="0"/>
              <a:t>、</a:t>
            </a:r>
            <a:r>
              <a:rPr lang="en-US" altLang="zh-CN" dirty="0"/>
              <a:t>T</a:t>
            </a:r>
            <a:r>
              <a:rPr lang="en-US" altLang="zh-CN" baseline="-25000" dirty="0"/>
              <a:t>8</a:t>
            </a:r>
            <a:r>
              <a:rPr lang="zh-CN" altLang="zh-CN" dirty="0"/>
              <a:t>和</a:t>
            </a:r>
            <a:r>
              <a:rPr lang="en-US" altLang="zh-CN" dirty="0"/>
              <a:t>T</a:t>
            </a:r>
            <a:r>
              <a:rPr lang="en-US" altLang="zh-CN" baseline="-25000" dirty="0"/>
              <a:t>5</a:t>
            </a:r>
            <a:r>
              <a:rPr lang="zh-CN" altLang="zh-CN" dirty="0"/>
              <a:t>、</a:t>
            </a:r>
            <a:r>
              <a:rPr lang="en-US" altLang="zh-CN" dirty="0"/>
              <a:t>T</a:t>
            </a:r>
            <a:r>
              <a:rPr lang="en-US" altLang="zh-CN" baseline="-25000" dirty="0"/>
              <a:t>6</a:t>
            </a:r>
            <a:r>
              <a:rPr lang="zh-CN" altLang="zh-CN" dirty="0"/>
              <a:t>与</a:t>
            </a:r>
            <a:r>
              <a:rPr lang="en-US" altLang="zh-CN" dirty="0"/>
              <a:t>A</a:t>
            </a:r>
            <a:r>
              <a:rPr lang="zh-CN" altLang="zh-CN" dirty="0"/>
              <a:t>、</a:t>
            </a:r>
            <a:r>
              <a:rPr lang="en-US" altLang="zh-CN" dirty="0"/>
              <a:t>B</a:t>
            </a:r>
            <a:r>
              <a:rPr lang="zh-CN" altLang="zh-CN" dirty="0"/>
              <a:t>端相连，使</a:t>
            </a:r>
            <a:r>
              <a:rPr lang="en-US" altLang="zh-CN" dirty="0"/>
              <a:t>A=</a:t>
            </a:r>
            <a:r>
              <a:rPr lang="zh-CN" altLang="zh-CN" dirty="0"/>
              <a:t>“</a:t>
            </a:r>
            <a:r>
              <a:rPr lang="en-US" altLang="zh-CN" dirty="0"/>
              <a:t>1</a:t>
            </a:r>
            <a:r>
              <a:rPr lang="zh-CN" altLang="zh-CN" dirty="0"/>
              <a:t>”，</a:t>
            </a:r>
            <a:r>
              <a:rPr lang="en-US" altLang="zh-CN" dirty="0"/>
              <a:t>B=</a:t>
            </a:r>
            <a:r>
              <a:rPr lang="zh-CN" altLang="zh-CN" dirty="0"/>
              <a:t>“</a:t>
            </a:r>
            <a:r>
              <a:rPr lang="en-US" altLang="zh-CN" dirty="0"/>
              <a:t>0</a:t>
            </a:r>
            <a:r>
              <a:rPr lang="zh-CN" altLang="zh-CN" dirty="0"/>
              <a:t>”，这样就迫使</a:t>
            </a:r>
            <a:r>
              <a:rPr lang="en-US" altLang="zh-CN" dirty="0"/>
              <a:t>T</a:t>
            </a:r>
            <a:r>
              <a:rPr lang="en-US" altLang="zh-CN" baseline="-25000" dirty="0"/>
              <a:t>2</a:t>
            </a:r>
            <a:r>
              <a:rPr lang="zh-CN" altLang="zh-CN" dirty="0"/>
              <a:t>导通，</a:t>
            </a:r>
            <a:r>
              <a:rPr lang="en-US" altLang="zh-CN" dirty="0"/>
              <a:t>T</a:t>
            </a:r>
            <a:r>
              <a:rPr lang="en-US" altLang="zh-CN" baseline="-25000" dirty="0"/>
              <a:t>1</a:t>
            </a:r>
            <a:r>
              <a:rPr lang="zh-CN" altLang="zh-CN" dirty="0"/>
              <a:t>截止。当输入信号和地址选择信号消失后，</a:t>
            </a:r>
            <a:r>
              <a:rPr lang="en-US" altLang="zh-CN" dirty="0"/>
              <a:t>T</a:t>
            </a:r>
            <a:r>
              <a:rPr lang="en-US" altLang="zh-CN" baseline="-25000" dirty="0"/>
              <a:t>5</a:t>
            </a:r>
            <a:r>
              <a:rPr lang="zh-CN" altLang="zh-CN" dirty="0"/>
              <a:t>、</a:t>
            </a:r>
            <a:r>
              <a:rPr lang="en-US" altLang="zh-CN" dirty="0"/>
              <a:t>T</a:t>
            </a:r>
            <a:r>
              <a:rPr lang="en-US" altLang="zh-CN" baseline="-25000" dirty="0"/>
              <a:t>6</a:t>
            </a:r>
            <a:r>
              <a:rPr lang="zh-CN" altLang="zh-CN" dirty="0"/>
              <a:t>、</a:t>
            </a:r>
            <a:r>
              <a:rPr lang="en-US" altLang="zh-CN" dirty="0"/>
              <a:t>T</a:t>
            </a:r>
            <a:r>
              <a:rPr lang="en-US" altLang="zh-CN" baseline="-25000" dirty="0"/>
              <a:t>7</a:t>
            </a:r>
            <a:r>
              <a:rPr lang="zh-CN" altLang="zh-CN" dirty="0"/>
              <a:t>、</a:t>
            </a:r>
            <a:r>
              <a:rPr lang="en-US" altLang="zh-CN" dirty="0"/>
              <a:t>T</a:t>
            </a:r>
            <a:r>
              <a:rPr lang="en-US" altLang="zh-CN" baseline="-25000" dirty="0"/>
              <a:t>8</a:t>
            </a:r>
            <a:r>
              <a:rPr lang="zh-CN" altLang="zh-CN" dirty="0"/>
              <a:t>截止，</a:t>
            </a:r>
            <a:r>
              <a:rPr lang="en-US" altLang="zh-CN" dirty="0"/>
              <a:t>T</a:t>
            </a:r>
            <a:r>
              <a:rPr lang="en-US" altLang="zh-CN" baseline="-25000" dirty="0"/>
              <a:t>1</a:t>
            </a:r>
            <a:r>
              <a:rPr lang="zh-CN" altLang="zh-CN" dirty="0"/>
              <a:t>、</a:t>
            </a:r>
            <a:r>
              <a:rPr lang="en-US" altLang="zh-CN" dirty="0"/>
              <a:t>T</a:t>
            </a:r>
            <a:r>
              <a:rPr lang="en-US" altLang="zh-CN" baseline="-25000" dirty="0"/>
              <a:t>2</a:t>
            </a:r>
            <a:r>
              <a:rPr lang="zh-CN" altLang="zh-CN" dirty="0"/>
              <a:t>保持被写入的状态不变，使得只要不掉电写入的信息“</a:t>
            </a:r>
            <a:r>
              <a:rPr lang="en-US" altLang="zh-CN" dirty="0"/>
              <a:t>1</a:t>
            </a:r>
            <a:r>
              <a:rPr lang="zh-CN" altLang="zh-CN" dirty="0"/>
              <a:t>”就能保持不变。写入“</a:t>
            </a:r>
            <a:r>
              <a:rPr lang="en-US" altLang="zh-CN" dirty="0"/>
              <a:t>0</a:t>
            </a:r>
            <a:r>
              <a:rPr lang="zh-CN" altLang="zh-CN" dirty="0"/>
              <a:t>”的原理与此类似。</a:t>
            </a:r>
          </a:p>
        </p:txBody>
      </p:sp>
    </p:spTree>
  </p:cSld>
  <p:clrMapOvr>
    <a:masterClrMapping/>
  </p:clrMapOvr>
  <p:transition spd="med">
    <p:random/>
  </p:transition>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409" name="内容占位符 2"/>
          <p:cNvSpPr>
            <a:spLocks noGrp="1"/>
          </p:cNvSpPr>
          <p:nvPr>
            <p:ph/>
          </p:nvPr>
        </p:nvSpPr>
        <p:spPr>
          <a:xfrm>
            <a:off x="577850" y="1387475"/>
            <a:ext cx="8197850" cy="4814888"/>
          </a:xfrm>
          <a:prstGeom prst="rect">
            <a:avLst/>
          </a:prstGeom>
          <a:noFill/>
          <a:ln w="9525">
            <a:noFill/>
          </a:ln>
        </p:spPr>
        <p:txBody>
          <a:bodyPr wrap="square" lIns="92075" tIns="46038" rIns="92075" bIns="46038" anchor="t" anchorCtr="0"/>
          <a:lstStyle/>
          <a:p>
            <a:r>
              <a:rPr lang="zh-CN" altLang="zh-CN" dirty="0"/>
              <a:t>读操作时，若某个存储元被选中（</a:t>
            </a:r>
            <a:r>
              <a:rPr lang="en-US" altLang="zh-CN" dirty="0"/>
              <a:t>X</a:t>
            </a:r>
            <a:r>
              <a:rPr lang="zh-CN" altLang="zh-CN" dirty="0"/>
              <a:t>、</a:t>
            </a:r>
            <a:r>
              <a:rPr lang="en-US" altLang="zh-CN" dirty="0"/>
              <a:t>Y</a:t>
            </a:r>
            <a:r>
              <a:rPr lang="zh-CN" altLang="zh-CN" dirty="0"/>
              <a:t>地址选择线均为高电平），则</a:t>
            </a:r>
            <a:r>
              <a:rPr lang="en-US" altLang="zh-CN" dirty="0"/>
              <a:t>T</a:t>
            </a:r>
            <a:r>
              <a:rPr lang="en-US" altLang="zh-CN" baseline="-25000" dirty="0"/>
              <a:t>5</a:t>
            </a:r>
            <a:r>
              <a:rPr lang="zh-CN" altLang="zh-CN" dirty="0"/>
              <a:t>、</a:t>
            </a:r>
            <a:r>
              <a:rPr lang="en-US" altLang="zh-CN" dirty="0"/>
              <a:t>T</a:t>
            </a:r>
            <a:r>
              <a:rPr lang="en-US" altLang="zh-CN" baseline="-25000" dirty="0"/>
              <a:t>6</a:t>
            </a:r>
            <a:r>
              <a:rPr lang="zh-CN" altLang="zh-CN" dirty="0"/>
              <a:t>、</a:t>
            </a:r>
            <a:r>
              <a:rPr lang="en-US" altLang="zh-CN" dirty="0"/>
              <a:t>T</a:t>
            </a:r>
            <a:r>
              <a:rPr lang="en-US" altLang="zh-CN" baseline="-25000" dirty="0"/>
              <a:t>7</a:t>
            </a:r>
            <a:r>
              <a:rPr lang="zh-CN" altLang="zh-CN" dirty="0"/>
              <a:t>、</a:t>
            </a:r>
            <a:r>
              <a:rPr lang="en-US" altLang="zh-CN" dirty="0"/>
              <a:t>T</a:t>
            </a:r>
            <a:r>
              <a:rPr lang="en-US" altLang="zh-CN" baseline="-25000" dirty="0"/>
              <a:t>8</a:t>
            </a:r>
            <a:r>
              <a:rPr lang="zh-CN" altLang="zh-CN" dirty="0"/>
              <a:t>都导通，于是存储元的信息被送到</a:t>
            </a:r>
            <a:r>
              <a:rPr lang="en-US" altLang="zh-CN" dirty="0"/>
              <a:t>I/O</a:t>
            </a:r>
            <a:r>
              <a:rPr lang="zh-CN" altLang="zh-CN" dirty="0"/>
              <a:t>端和</a:t>
            </a:r>
            <a:r>
              <a:rPr lang="zh-CN" altLang="en-US" dirty="0"/>
              <a:t>非</a:t>
            </a:r>
            <a:r>
              <a:rPr lang="en-US" altLang="zh-CN" dirty="0"/>
              <a:t>I/O</a:t>
            </a:r>
            <a:r>
              <a:rPr lang="zh-CN" altLang="zh-CN" dirty="0"/>
              <a:t>线上。</a:t>
            </a:r>
            <a:r>
              <a:rPr lang="en-US" altLang="zh-CN" dirty="0"/>
              <a:t>I/O</a:t>
            </a:r>
            <a:r>
              <a:rPr lang="zh-CN" altLang="zh-CN" dirty="0"/>
              <a:t>端和</a:t>
            </a:r>
            <a:r>
              <a:rPr lang="zh-CN" altLang="en-US" dirty="0"/>
              <a:t>非</a:t>
            </a:r>
            <a:r>
              <a:rPr lang="en-US" altLang="zh-CN" dirty="0"/>
              <a:t>I/O</a:t>
            </a:r>
            <a:r>
              <a:rPr lang="zh-CN" altLang="zh-CN" dirty="0"/>
              <a:t>线连接到一个差动读出放大器上，从其电流方向即可判断出所存信息是“</a:t>
            </a:r>
            <a:r>
              <a:rPr lang="en-US" altLang="zh-CN" dirty="0"/>
              <a:t>1</a:t>
            </a:r>
            <a:r>
              <a:rPr lang="zh-CN" altLang="zh-CN" dirty="0"/>
              <a:t>”还是“</a:t>
            </a:r>
            <a:r>
              <a:rPr lang="en-US" altLang="zh-CN" dirty="0"/>
              <a:t>0</a:t>
            </a:r>
            <a:r>
              <a:rPr lang="zh-CN" altLang="zh-CN" dirty="0"/>
              <a:t>”。</a:t>
            </a:r>
            <a:endParaRPr lang="zh-CN" altLang="en-US" dirty="0"/>
          </a:p>
          <a:p>
            <a:r>
              <a:rPr lang="zh-CN" altLang="zh-CN" dirty="0"/>
              <a:t>常用的典型</a:t>
            </a:r>
            <a:r>
              <a:rPr lang="en-US" altLang="zh-CN" dirty="0"/>
              <a:t>SRAM</a:t>
            </a:r>
            <a:r>
              <a:rPr lang="zh-CN" altLang="zh-CN" dirty="0"/>
              <a:t>芯片有</a:t>
            </a:r>
            <a:r>
              <a:rPr lang="en-US" altLang="zh-CN" dirty="0"/>
              <a:t>2114</a:t>
            </a:r>
            <a:r>
              <a:rPr lang="zh-CN" altLang="zh-CN" dirty="0"/>
              <a:t>、</a:t>
            </a:r>
            <a:r>
              <a:rPr lang="en-US" altLang="zh-CN" dirty="0"/>
              <a:t>6116</a:t>
            </a:r>
            <a:r>
              <a:rPr lang="zh-CN" altLang="zh-CN" dirty="0"/>
              <a:t>、</a:t>
            </a:r>
            <a:r>
              <a:rPr lang="en-US" altLang="zh-CN" dirty="0"/>
              <a:t>6264</a:t>
            </a:r>
            <a:r>
              <a:rPr lang="zh-CN" altLang="zh-CN" dirty="0"/>
              <a:t>、</a:t>
            </a:r>
            <a:r>
              <a:rPr lang="en-US" altLang="zh-CN" dirty="0"/>
              <a:t>62256</a:t>
            </a:r>
            <a:r>
              <a:rPr lang="zh-CN" altLang="zh-CN" dirty="0"/>
              <a:t>、</a:t>
            </a:r>
            <a:r>
              <a:rPr lang="en-US" altLang="zh-CN" dirty="0"/>
              <a:t>62812</a:t>
            </a:r>
            <a:r>
              <a:rPr lang="zh-CN" altLang="zh-CN" dirty="0"/>
              <a:t>等。</a:t>
            </a:r>
            <a:endParaRPr lang="zh-CN" altLang="en-US" dirty="0"/>
          </a:p>
        </p:txBody>
      </p:sp>
    </p:spTree>
  </p:cSld>
  <p:clrMapOvr>
    <a:masterClrMapping/>
  </p:clrMapOvr>
  <p:transition spd="med">
    <p:random/>
  </p:transition>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内容占位符 2"/>
          <p:cNvSpPr>
            <a:spLocks noGrp="1" noRot="1" noChangeAspect="1" noMove="1" noResize="1" noEditPoints="1" noAdjustHandles="1" noChangeArrowheads="1" noChangeShapeType="1" noTextEdit="1"/>
          </p:cNvSpPr>
          <p:nvPr>
            <p:ph idx="1"/>
          </p:nvPr>
        </p:nvSpPr>
        <p:spPr bwMode="auto">
          <a:xfrm>
            <a:off x="577850" y="1379219"/>
            <a:ext cx="8197850" cy="4814888"/>
          </a:xfrm>
          <a:prstGeom prst="rect">
            <a:avLst/>
          </a:prstGeom>
          <a:blipFill rotWithShape="1">
            <a:blip r:embed="rId2"/>
            <a:stretch>
              <a:fillRect l="-1561" t="-1648" r="-372"/>
            </a:stretch>
          </a:blipFill>
          <a:ln w="9525" cap="flat" cmpd="sng" algn="ctr">
            <a:noFill/>
            <a:prstDash val="solid"/>
            <a:miter/>
          </a:ln>
          <a:effectLst/>
          <a:scene3d>
            <a:camera prst="orthographicFront"/>
            <a:lightRig rig="balanced" dir="t"/>
          </a:scene3d>
          <a:sp3d prstMaterial="plastic"/>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2075" tIns="46038" rIns="92075" bIns="46038" numCol="1" anchor="t" anchorCtr="0" compatLnSpc="1"/>
          <a:lstStyle/>
          <a:p>
            <a:pPr marL="0" marR="0" lvl="0" indent="0" algn="l" defTabSz="914400" rtl="0" eaLnBrk="0" fontAlgn="base" latinLnBrk="0" hangingPunct="0">
              <a:spcBef>
                <a:spcPct val="20000"/>
              </a:spcBef>
              <a:spcAft>
                <a:spcPct val="0"/>
              </a:spcAft>
              <a:buClr>
                <a:schemeClr val="accent2"/>
              </a:buClr>
              <a:buSzPct val="70000"/>
              <a:buFont typeface="Wingdings" panose="05000000000000000000" pitchFamily="2" charset="2"/>
              <a:buNone/>
              <a:defRPr/>
            </a:pPr>
            <a:r>
              <a:rPr kumimoji="1" lang="zh-CN" altLang="en-US" sz="2800" b="1" i="0" u="none" strike="noStrike" kern="0" cap="none" spc="0" normalizeH="0" baseline="0" noProof="0">
                <a:ln>
                  <a:noFill/>
                </a:ln>
                <a:noFill/>
                <a:effectLst/>
                <a:uLnTx/>
                <a:uFillTx/>
                <a:latin typeface="+mn-lt"/>
                <a:ea typeface="+mn-ea"/>
                <a:cs typeface="+mn-cs"/>
              </a:rPr>
              <a:t> </a:t>
            </a:r>
          </a:p>
        </p:txBody>
      </p:sp>
      <p:pic>
        <p:nvPicPr>
          <p:cNvPr id="18434" name="Picture 2" descr="5"/>
          <p:cNvPicPr>
            <a:picLocks noChangeAspect="1"/>
          </p:cNvPicPr>
          <p:nvPr/>
        </p:nvPicPr>
        <p:blipFill>
          <a:blip r:embed="rId3"/>
          <a:stretch>
            <a:fillRect/>
          </a:stretch>
        </p:blipFill>
        <p:spPr>
          <a:xfrm>
            <a:off x="6035675" y="3168650"/>
            <a:ext cx="1768475" cy="2925763"/>
          </a:xfrm>
          <a:prstGeom prst="rect">
            <a:avLst/>
          </a:prstGeom>
          <a:noFill/>
          <a:ln w="9525">
            <a:noFill/>
          </a:ln>
        </p:spPr>
      </p:pic>
      <p:sp>
        <p:nvSpPr>
          <p:cNvPr id="18435" name="矩形 3"/>
          <p:cNvSpPr/>
          <p:nvPr/>
        </p:nvSpPr>
        <p:spPr>
          <a:xfrm>
            <a:off x="5124450" y="6273800"/>
            <a:ext cx="3463925" cy="379413"/>
          </a:xfrm>
          <a:prstGeom prst="rect">
            <a:avLst/>
          </a:prstGeom>
          <a:noFill/>
          <a:ln w="9525">
            <a:noFill/>
          </a:ln>
        </p:spPr>
        <p:txBody>
          <a:bodyPr wrap="none" anchor="t" anchorCtr="0">
            <a:spAutoFit/>
          </a:bodyPr>
          <a:lstStyle/>
          <a:p>
            <a:r>
              <a:rPr lang="zh-CN" altLang="zh-CN" sz="2000" b="0" dirty="0">
                <a:latin typeface="Times New Roman" panose="02020603050405020304" pitchFamily="18" charset="0"/>
                <a:ea typeface="宋体" panose="02010600030101010101" pitchFamily="2" charset="-122"/>
              </a:rPr>
              <a:t>图</a:t>
            </a:r>
            <a:r>
              <a:rPr lang="en-US" altLang="zh-CN" sz="2000" b="0" dirty="0">
                <a:latin typeface="Times New Roman" panose="02020603050405020304" pitchFamily="18" charset="0"/>
                <a:ea typeface="宋体" panose="02010600030101010101" pitchFamily="2" charset="-122"/>
              </a:rPr>
              <a:t>5-4  SRAM 6264</a:t>
            </a:r>
            <a:r>
              <a:rPr lang="zh-CN" altLang="zh-CN" sz="2000" b="0" dirty="0">
                <a:latin typeface="Times New Roman" panose="02020603050405020304" pitchFamily="18" charset="0"/>
                <a:ea typeface="宋体" panose="02010600030101010101" pitchFamily="2" charset="-122"/>
              </a:rPr>
              <a:t>外部引线图</a:t>
            </a:r>
          </a:p>
        </p:txBody>
      </p:sp>
    </p:spTree>
  </p:cSld>
  <p:clrMapOvr>
    <a:masterClrMapping/>
  </p:clrMapOvr>
  <p:transition spd="med">
    <p:random/>
  </p:transition>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363" name="内容占位符 2"/>
          <p:cNvSpPr>
            <a:spLocks noGrp="1" noRot="1" noChangeAspect="1" noMove="1" noResize="1" noEditPoints="1" noAdjustHandles="1" noChangeArrowheads="1" noChangeShapeType="1" noTextEdit="1"/>
          </p:cNvSpPr>
          <p:nvPr>
            <p:ph idx="1"/>
          </p:nvPr>
        </p:nvSpPr>
        <p:spPr bwMode="auto">
          <a:xfrm>
            <a:off x="577850" y="1387475"/>
            <a:ext cx="8197850" cy="4814887"/>
          </a:xfrm>
          <a:prstGeom prst="rect">
            <a:avLst/>
          </a:prstGeom>
          <a:blipFill rotWithShape="1">
            <a:blip r:embed="rId2"/>
            <a:stretch>
              <a:fillRect l="-1561" t="-1648"/>
            </a:stretch>
          </a:blipFill>
          <a:ln w="9525" cap="flat" cmpd="sng" algn="ctr">
            <a:noFill/>
            <a:prstDash val="solid"/>
            <a:miter/>
          </a:ln>
          <a:effectLst/>
          <a:scene3d>
            <a:camera prst="orthographicFront"/>
            <a:lightRig rig="balanced" dir="t"/>
          </a:scene3d>
          <a:sp3d prstMaterial="plastic"/>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2075" tIns="46038" rIns="92075" bIns="46038" numCol="1" anchor="t" anchorCtr="0" compatLnSpc="1"/>
          <a:lstStyle/>
          <a:p>
            <a:pPr marL="0" marR="0" lvl="0" indent="0" algn="l" defTabSz="914400" rtl="0" eaLnBrk="0" fontAlgn="base" latinLnBrk="0" hangingPunct="0">
              <a:spcBef>
                <a:spcPct val="20000"/>
              </a:spcBef>
              <a:spcAft>
                <a:spcPct val="0"/>
              </a:spcAft>
              <a:buClr>
                <a:schemeClr val="accent2"/>
              </a:buClr>
              <a:buSzPct val="70000"/>
              <a:buFont typeface="Wingdings" panose="05000000000000000000" pitchFamily="2" charset="2"/>
              <a:buNone/>
              <a:defRPr/>
            </a:pPr>
            <a:endParaRPr kumimoji="1" lang="zh-CN" altLang="en-US" sz="2800" b="1" i="0" u="none" strike="noStrike" kern="0" cap="none" spc="0" normalizeH="0" baseline="0" noProof="0">
              <a:ln>
                <a:noFill/>
              </a:ln>
              <a:noFill/>
              <a:effectLst/>
              <a:uLnTx/>
              <a:uFillTx/>
              <a:latin typeface="+mn-lt"/>
              <a:ea typeface="+mn-ea"/>
              <a:cs typeface="+mn-cs"/>
            </a:endParaRPr>
          </a:p>
        </p:txBody>
      </p:sp>
      <p:sp>
        <p:nvSpPr>
          <p:cNvPr id="19458" name="Rectangle 9"/>
          <p:cNvSpPr/>
          <p:nvPr/>
        </p:nvSpPr>
        <p:spPr>
          <a:xfrm>
            <a:off x="3021013" y="2851150"/>
            <a:ext cx="3670300" cy="438150"/>
          </a:xfrm>
          <a:prstGeom prst="rect">
            <a:avLst/>
          </a:prstGeom>
          <a:noFill/>
          <a:ln w="9525">
            <a:noFill/>
          </a:ln>
        </p:spPr>
        <p:txBody>
          <a:bodyPr lIns="92075" tIns="46038" rIns="92075" bIns="46038" anchor="ctr" anchorCtr="0">
            <a:spAutoFit/>
          </a:bodyPr>
          <a:lstStyle/>
          <a:p>
            <a:pPr eaLnBrk="0" hangingPunct="0"/>
            <a:r>
              <a:rPr lang="zh-CN" altLang="zh-CN" b="0" dirty="0">
                <a:latin typeface="Arial" panose="020B0604020202020204" pitchFamily="34" charset="0"/>
                <a:ea typeface="宋体" panose="02010600030101010101" pitchFamily="2" charset="-122"/>
              </a:rPr>
              <a:t>表</a:t>
            </a:r>
            <a:r>
              <a:rPr lang="en-US" altLang="zh-CN" b="0" dirty="0">
                <a:latin typeface="Arial" panose="020B0604020202020204" pitchFamily="34" charset="0"/>
                <a:ea typeface="宋体" panose="02010600030101010101" pitchFamily="2" charset="-122"/>
              </a:rPr>
              <a:t>5-2  6264</a:t>
            </a:r>
            <a:r>
              <a:rPr lang="zh-CN" altLang="en-US" b="0" dirty="0">
                <a:latin typeface="Arial" panose="020B0604020202020204" pitchFamily="34" charset="0"/>
                <a:ea typeface="宋体" panose="02010600030101010101" pitchFamily="2" charset="-122"/>
              </a:rPr>
              <a:t>真值表</a:t>
            </a:r>
            <a:endParaRPr lang="zh-CN" altLang="en-US" b="0" dirty="0">
              <a:latin typeface="宋体" panose="02010600030101010101" pitchFamily="2" charset="-122"/>
              <a:ea typeface="宋体" panose="02010600030101010101" pitchFamily="2" charset="-122"/>
            </a:endParaRPr>
          </a:p>
        </p:txBody>
      </p:sp>
      <p:pic>
        <p:nvPicPr>
          <p:cNvPr id="19459" name="Picture 11"/>
          <p:cNvPicPr>
            <a:picLocks noChangeAspect="1"/>
          </p:cNvPicPr>
          <p:nvPr/>
        </p:nvPicPr>
        <p:blipFill>
          <a:blip r:embed="rId3"/>
          <a:stretch>
            <a:fillRect/>
          </a:stretch>
        </p:blipFill>
        <p:spPr>
          <a:xfrm>
            <a:off x="1157288" y="3438525"/>
            <a:ext cx="6765925" cy="2814638"/>
          </a:xfrm>
          <a:prstGeom prst="rect">
            <a:avLst/>
          </a:prstGeom>
          <a:noFill/>
          <a:ln w="9525">
            <a:noFill/>
          </a:ln>
        </p:spPr>
      </p:pic>
    </p:spTree>
  </p:cSld>
  <p:clrMapOvr>
    <a:masterClrMapping/>
  </p:clrMapOvr>
  <p:transition spd="med">
    <p:random/>
  </p:transition>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0481" name="Picture 4" descr="5"/>
          <p:cNvPicPr>
            <a:picLocks noChangeAspect="1"/>
          </p:cNvPicPr>
          <p:nvPr/>
        </p:nvPicPr>
        <p:blipFill>
          <a:blip r:embed="rId2"/>
          <a:stretch>
            <a:fillRect/>
          </a:stretch>
        </p:blipFill>
        <p:spPr>
          <a:xfrm>
            <a:off x="1319213" y="1566863"/>
            <a:ext cx="7083425" cy="3619500"/>
          </a:xfrm>
          <a:prstGeom prst="rect">
            <a:avLst/>
          </a:prstGeom>
          <a:noFill/>
          <a:ln w="9525">
            <a:noFill/>
          </a:ln>
        </p:spPr>
      </p:pic>
      <p:sp>
        <p:nvSpPr>
          <p:cNvPr id="20482" name="矩形 2"/>
          <p:cNvSpPr/>
          <p:nvPr/>
        </p:nvSpPr>
        <p:spPr>
          <a:xfrm>
            <a:off x="2286000" y="5362575"/>
            <a:ext cx="5538788" cy="425450"/>
          </a:xfrm>
          <a:prstGeom prst="rect">
            <a:avLst/>
          </a:prstGeom>
          <a:noFill/>
          <a:ln w="9525">
            <a:noFill/>
          </a:ln>
        </p:spPr>
        <p:txBody>
          <a:bodyPr anchor="t" anchorCtr="0">
            <a:spAutoFit/>
          </a:bodyPr>
          <a:lstStyle/>
          <a:p>
            <a:r>
              <a:rPr lang="zh-CN" altLang="zh-CN" b="0" dirty="0">
                <a:latin typeface="宋体" panose="02010600030101010101" pitchFamily="2" charset="-122"/>
                <a:ea typeface="宋体" panose="02010600030101010101" pitchFamily="2" charset="-122"/>
              </a:rPr>
              <a:t>图</a:t>
            </a:r>
            <a:r>
              <a:rPr lang="en-US" altLang="zh-CN" b="0" dirty="0">
                <a:latin typeface="宋体" panose="02010600030101010101" pitchFamily="2" charset="-122"/>
                <a:ea typeface="宋体" panose="02010600030101010101" pitchFamily="2" charset="-122"/>
              </a:rPr>
              <a:t>5-5  </a:t>
            </a:r>
            <a:r>
              <a:rPr lang="zh-CN" altLang="zh-CN" b="0" dirty="0">
                <a:latin typeface="宋体" panose="02010600030101010101" pitchFamily="2" charset="-122"/>
                <a:ea typeface="宋体" panose="02010600030101010101" pitchFamily="2" charset="-122"/>
              </a:rPr>
              <a:t>静态存储器</a:t>
            </a:r>
            <a:r>
              <a:rPr lang="en-US" altLang="zh-CN" b="0" dirty="0">
                <a:latin typeface="宋体" panose="02010600030101010101" pitchFamily="2" charset="-122"/>
                <a:ea typeface="宋体" panose="02010600030101010101" pitchFamily="2" charset="-122"/>
              </a:rPr>
              <a:t>6264</a:t>
            </a:r>
            <a:r>
              <a:rPr lang="zh-CN" altLang="zh-CN" b="0" dirty="0">
                <a:latin typeface="宋体" panose="02010600030101010101" pitchFamily="2" charset="-122"/>
                <a:ea typeface="宋体" panose="02010600030101010101" pitchFamily="2" charset="-122"/>
              </a:rPr>
              <a:t>读周期时序</a:t>
            </a:r>
          </a:p>
        </p:txBody>
      </p:sp>
    </p:spTree>
  </p:cSld>
  <p:clrMapOvr>
    <a:masterClrMapping/>
  </p:clrMapOvr>
  <p:transition spd="med">
    <p:random/>
  </p:transition>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1505" name="对象 5"/>
          <p:cNvGraphicFramePr>
            <a:graphicFrameLocks noChangeAspect="1"/>
          </p:cNvGraphicFramePr>
          <p:nvPr/>
        </p:nvGraphicFramePr>
        <p:xfrm>
          <a:off x="1227138" y="954088"/>
          <a:ext cx="6689725" cy="4940300"/>
        </p:xfrm>
        <a:graphic>
          <a:graphicData uri="http://schemas.openxmlformats.org/presentationml/2006/ole">
            <mc:AlternateContent xmlns:mc="http://schemas.openxmlformats.org/markup-compatibility/2006">
              <mc:Choice xmlns:v="urn:schemas-microsoft-com:vml" Requires="v">
                <p:oleObj spid="_x0000_s3087" r:id="rId4" imgW="9982200" imgH="8293100" progId="Visio.Drawing.11">
                  <p:embed/>
                </p:oleObj>
              </mc:Choice>
              <mc:Fallback>
                <p:oleObj r:id="rId4" imgW="9982200" imgH="8293100" progId="Visio.Drawing.11">
                  <p:embed/>
                  <p:pic>
                    <p:nvPicPr>
                      <p:cNvPr id="0" name="图片 3075"/>
                      <p:cNvPicPr/>
                      <p:nvPr/>
                    </p:nvPicPr>
                    <p:blipFill>
                      <a:blip r:embed="rId5"/>
                      <a:stretch>
                        <a:fillRect/>
                      </a:stretch>
                    </p:blipFill>
                    <p:spPr>
                      <a:xfrm>
                        <a:off x="1227138" y="954088"/>
                        <a:ext cx="6689725" cy="4940300"/>
                      </a:xfrm>
                      <a:prstGeom prst="rect">
                        <a:avLst/>
                      </a:prstGeom>
                      <a:solidFill>
                        <a:schemeClr val="tx1"/>
                      </a:solidFill>
                      <a:ln w="38100">
                        <a:noFill/>
                        <a:miter/>
                      </a:ln>
                    </p:spPr>
                  </p:pic>
                </p:oleObj>
              </mc:Fallback>
            </mc:AlternateContent>
          </a:graphicData>
        </a:graphic>
      </p:graphicFrame>
      <p:sp>
        <p:nvSpPr>
          <p:cNvPr id="21506" name="矩形 6"/>
          <p:cNvSpPr/>
          <p:nvPr/>
        </p:nvSpPr>
        <p:spPr>
          <a:xfrm>
            <a:off x="1946275" y="6192838"/>
            <a:ext cx="5564188" cy="423862"/>
          </a:xfrm>
          <a:prstGeom prst="rect">
            <a:avLst/>
          </a:prstGeom>
          <a:noFill/>
          <a:ln w="9525">
            <a:noFill/>
          </a:ln>
        </p:spPr>
        <p:txBody>
          <a:bodyPr anchor="t" anchorCtr="0">
            <a:spAutoFit/>
          </a:bodyPr>
          <a:lstStyle/>
          <a:p>
            <a:r>
              <a:rPr lang="zh-CN" altLang="zh-CN" b="0" dirty="0">
                <a:latin typeface="宋体" panose="02010600030101010101" pitchFamily="2" charset="-122"/>
                <a:ea typeface="宋体" panose="02010600030101010101" pitchFamily="2" charset="-122"/>
              </a:rPr>
              <a:t>图</a:t>
            </a:r>
            <a:r>
              <a:rPr lang="en-US" altLang="zh-CN" b="0" dirty="0">
                <a:latin typeface="宋体" panose="02010600030101010101" pitchFamily="2" charset="-122"/>
                <a:ea typeface="宋体" panose="02010600030101010101" pitchFamily="2" charset="-122"/>
              </a:rPr>
              <a:t>5-6  </a:t>
            </a:r>
            <a:r>
              <a:rPr lang="zh-CN" altLang="zh-CN" b="0" dirty="0">
                <a:latin typeface="宋体" panose="02010600030101010101" pitchFamily="2" charset="-122"/>
                <a:ea typeface="宋体" panose="02010600030101010101" pitchFamily="2" charset="-122"/>
              </a:rPr>
              <a:t>静态存储器</a:t>
            </a:r>
            <a:r>
              <a:rPr lang="en-US" altLang="zh-CN" b="0" dirty="0">
                <a:latin typeface="宋体" panose="02010600030101010101" pitchFamily="2" charset="-122"/>
                <a:ea typeface="宋体" panose="02010600030101010101" pitchFamily="2" charset="-122"/>
              </a:rPr>
              <a:t>6264</a:t>
            </a:r>
            <a:r>
              <a:rPr lang="zh-CN" altLang="zh-CN" b="0" dirty="0">
                <a:latin typeface="宋体" panose="02010600030101010101" pitchFamily="2" charset="-122"/>
                <a:ea typeface="宋体" panose="02010600030101010101" pitchFamily="2" charset="-122"/>
              </a:rPr>
              <a:t>写周期时序</a:t>
            </a:r>
          </a:p>
        </p:txBody>
      </p:sp>
    </p:spTree>
  </p:cSld>
  <p:clrMapOvr>
    <a:masterClrMapping/>
  </p:clrMapOvr>
  <p:transition spd="med">
    <p:random/>
  </p:transition>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417513" y="546100"/>
            <a:ext cx="8331200" cy="827088"/>
          </a:xfrm>
          <a:prstGeom prst="rect">
            <a:avLst/>
          </a:prstGeom>
          <a:ln w="9525" cap="flat" cmpd="sng" algn="ctr">
            <a:noFill/>
            <a:prstDash val="solid"/>
          </a:ln>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800" b="1" i="0" u="none" strike="noStrike" kern="0" cap="none" spc="0" normalizeH="0" baseline="0" noProof="0" dirty="0">
                <a:ln>
                  <a:noFill/>
                </a:ln>
                <a:solidFill>
                  <a:srgbClr val="E8E8E8"/>
                </a:solidFill>
                <a:effectLst/>
                <a:uLnTx/>
                <a:uFillTx/>
                <a:latin typeface="+mj-lt"/>
                <a:ea typeface="+mj-ea"/>
                <a:cs typeface="+mj-cs"/>
              </a:rPr>
              <a:t>5.2.2  </a:t>
            </a:r>
            <a:r>
              <a:rPr kumimoji="1" lang="zh-CN" altLang="zh-CN" sz="2800" b="1" i="0" u="none" strike="noStrike" kern="0" cap="none" spc="0" normalizeH="0" baseline="0" noProof="0" dirty="0">
                <a:ln>
                  <a:noFill/>
                </a:ln>
                <a:solidFill>
                  <a:srgbClr val="E8E8E8"/>
                </a:solidFill>
                <a:effectLst/>
                <a:uLnTx/>
                <a:uFillTx/>
                <a:latin typeface="+mj-lt"/>
                <a:ea typeface="+mj-ea"/>
                <a:cs typeface="+mj-cs"/>
              </a:rPr>
              <a:t>静态随机存储器（</a:t>
            </a:r>
            <a:r>
              <a:rPr kumimoji="1" lang="en-US" altLang="zh-CN" sz="2800" b="1" i="0" u="none" strike="noStrike" kern="0" cap="none" spc="0" normalizeH="0" baseline="0" noProof="0" dirty="0">
                <a:ln>
                  <a:noFill/>
                </a:ln>
                <a:solidFill>
                  <a:srgbClr val="E8E8E8"/>
                </a:solidFill>
                <a:effectLst/>
                <a:uLnTx/>
                <a:uFillTx/>
                <a:latin typeface="+mj-lt"/>
                <a:ea typeface="+mj-ea"/>
                <a:cs typeface="+mj-cs"/>
              </a:rPr>
              <a:t>SRAM</a:t>
            </a:r>
            <a:r>
              <a:rPr kumimoji="1" lang="zh-CN" altLang="zh-CN" sz="2800" b="1" i="0" u="none" strike="noStrike" kern="0" cap="none" spc="0" normalizeH="0" baseline="0" noProof="0" dirty="0">
                <a:ln>
                  <a:noFill/>
                </a:ln>
                <a:solidFill>
                  <a:srgbClr val="E8E8E8"/>
                </a:solidFill>
                <a:effectLst/>
                <a:uLnTx/>
                <a:uFillTx/>
                <a:latin typeface="+mj-lt"/>
                <a:ea typeface="+mj-ea"/>
                <a:cs typeface="+mj-cs"/>
              </a:rPr>
              <a:t>）</a:t>
            </a:r>
            <a:br>
              <a:rPr kumimoji="1" lang="zh-CN" altLang="zh-CN" sz="2800" b="1" i="0" u="none" strike="noStrike" kern="0" cap="none" spc="0" normalizeH="0" baseline="0" noProof="0" dirty="0">
                <a:ln>
                  <a:noFill/>
                </a:ln>
                <a:solidFill>
                  <a:srgbClr val="E8E8E8"/>
                </a:solidFill>
                <a:effectLst/>
                <a:uLnTx/>
                <a:uFillTx/>
                <a:latin typeface="+mj-lt"/>
                <a:ea typeface="+mj-ea"/>
                <a:cs typeface="+mj-cs"/>
              </a:rPr>
            </a:br>
            <a:endParaRPr kumimoji="1" lang="zh-CN" altLang="en-US" sz="28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endParaRPr>
          </a:p>
        </p:txBody>
      </p:sp>
      <p:sp>
        <p:nvSpPr>
          <p:cNvPr id="23554" name="内容占位符 2"/>
          <p:cNvSpPr>
            <a:spLocks noGrp="1"/>
          </p:cNvSpPr>
          <p:nvPr>
            <p:ph/>
          </p:nvPr>
        </p:nvSpPr>
        <p:spPr>
          <a:xfrm>
            <a:off x="654050" y="1631950"/>
            <a:ext cx="8088313" cy="4913313"/>
          </a:xfrm>
          <a:prstGeom prst="rect">
            <a:avLst/>
          </a:prstGeom>
          <a:noFill/>
          <a:ln w="9525">
            <a:noFill/>
          </a:ln>
        </p:spPr>
        <p:txBody>
          <a:bodyPr wrap="square" lIns="92075" tIns="46038" rIns="92075" bIns="46038" anchor="t" anchorCtr="0"/>
          <a:lstStyle/>
          <a:p>
            <a:pPr marL="0" indent="0">
              <a:buNone/>
            </a:pPr>
            <a:r>
              <a:rPr lang="en-US" altLang="zh-CN" sz="2400" dirty="0"/>
              <a:t>4</a:t>
            </a:r>
            <a:r>
              <a:rPr lang="zh-CN" altLang="zh-CN" sz="2400" dirty="0"/>
              <a:t>．SRAM芯片的应用</a:t>
            </a:r>
          </a:p>
          <a:p>
            <a:pPr marL="0" indent="0">
              <a:buNone/>
            </a:pPr>
            <a:r>
              <a:rPr lang="zh-CN" altLang="en-US" sz="2400" dirty="0"/>
              <a:t>1）地址译码</a:t>
            </a:r>
          </a:p>
          <a:p>
            <a:pPr marL="0" indent="0">
              <a:buNone/>
            </a:pPr>
            <a:r>
              <a:rPr lang="zh-CN" altLang="en-US" sz="2400" dirty="0"/>
              <a:t>所谓译码，简单地讲就是将一组输入信号转换为一个确定的输出。在存储器技术中，译码就是将高位地址信号通过一组电路（译码器）转换为一个确定的输出信号并将其连接到存储器芯片的片选端，使芯片被选中，从而使系统能够对该芯片上的单元进行读写操作。</a:t>
            </a:r>
          </a:p>
          <a:p>
            <a:pPr marL="0" indent="0">
              <a:buNone/>
            </a:pPr>
            <a:r>
              <a:rPr lang="zh-CN" altLang="en-US" sz="2400" dirty="0"/>
              <a:t>2）地址译码方式</a:t>
            </a:r>
          </a:p>
          <a:p>
            <a:pPr marL="0" indent="0">
              <a:buNone/>
            </a:pPr>
            <a:r>
              <a:rPr lang="zh-CN" altLang="en-US" sz="2400" dirty="0"/>
              <a:t>存储器的地址译码方式可以分为两种：全地址译码和部分地址译码。</a:t>
            </a:r>
          </a:p>
        </p:txBody>
      </p:sp>
    </p:spTree>
  </p:cSld>
  <p:clrMapOvr>
    <a:masterClrMapping/>
  </p:clrMapOvr>
  <p:transition spd="med">
    <p:random/>
  </p:transition>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417513" y="546100"/>
            <a:ext cx="8331200" cy="827088"/>
          </a:xfrm>
          <a:prstGeom prst="rect">
            <a:avLst/>
          </a:prstGeom>
          <a:ln w="9525" cap="flat" cmpd="sng" algn="ctr">
            <a:noFill/>
            <a:prstDash val="solid"/>
          </a:ln>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800" b="1" i="0" u="none" strike="noStrike" kern="0" cap="none" spc="0" normalizeH="0" baseline="0" noProof="0" dirty="0">
                <a:ln>
                  <a:noFill/>
                </a:ln>
                <a:solidFill>
                  <a:srgbClr val="E8E8E8"/>
                </a:solidFill>
                <a:effectLst/>
                <a:uLnTx/>
                <a:uFillTx/>
                <a:latin typeface="+mj-lt"/>
                <a:ea typeface="+mj-ea"/>
                <a:cs typeface="+mj-cs"/>
              </a:rPr>
              <a:t>5.2.2  </a:t>
            </a:r>
            <a:r>
              <a:rPr kumimoji="1" lang="zh-CN" altLang="zh-CN" sz="2800" b="1" i="0" u="none" strike="noStrike" kern="0" cap="none" spc="0" normalizeH="0" baseline="0" noProof="0" dirty="0">
                <a:ln>
                  <a:noFill/>
                </a:ln>
                <a:solidFill>
                  <a:srgbClr val="E8E8E8"/>
                </a:solidFill>
                <a:effectLst/>
                <a:uLnTx/>
                <a:uFillTx/>
                <a:latin typeface="+mj-lt"/>
                <a:ea typeface="+mj-ea"/>
                <a:cs typeface="+mj-cs"/>
              </a:rPr>
              <a:t>静态随机存储器（</a:t>
            </a:r>
            <a:r>
              <a:rPr kumimoji="1" lang="en-US" altLang="zh-CN" sz="2800" b="1" i="0" u="none" strike="noStrike" kern="0" cap="none" spc="0" normalizeH="0" baseline="0" noProof="0" dirty="0">
                <a:ln>
                  <a:noFill/>
                </a:ln>
                <a:solidFill>
                  <a:srgbClr val="E8E8E8"/>
                </a:solidFill>
                <a:effectLst/>
                <a:uLnTx/>
                <a:uFillTx/>
                <a:latin typeface="+mj-lt"/>
                <a:ea typeface="+mj-ea"/>
                <a:cs typeface="+mj-cs"/>
              </a:rPr>
              <a:t>SRAM</a:t>
            </a:r>
            <a:r>
              <a:rPr kumimoji="1" lang="zh-CN" altLang="zh-CN" sz="2800" b="1" i="0" u="none" strike="noStrike" kern="0" cap="none" spc="0" normalizeH="0" baseline="0" noProof="0" dirty="0">
                <a:ln>
                  <a:noFill/>
                </a:ln>
                <a:solidFill>
                  <a:srgbClr val="E8E8E8"/>
                </a:solidFill>
                <a:effectLst/>
                <a:uLnTx/>
                <a:uFillTx/>
                <a:latin typeface="+mj-lt"/>
                <a:ea typeface="+mj-ea"/>
                <a:cs typeface="+mj-cs"/>
              </a:rPr>
              <a:t>）</a:t>
            </a:r>
            <a:br>
              <a:rPr kumimoji="1" lang="zh-CN" altLang="zh-CN" sz="2800" b="1" i="0" u="none" strike="noStrike" kern="0" cap="none" spc="0" normalizeH="0" baseline="0" noProof="0" dirty="0">
                <a:ln>
                  <a:noFill/>
                </a:ln>
                <a:solidFill>
                  <a:srgbClr val="E8E8E8"/>
                </a:solidFill>
                <a:effectLst/>
                <a:uLnTx/>
                <a:uFillTx/>
                <a:latin typeface="+mj-lt"/>
                <a:ea typeface="+mj-ea"/>
                <a:cs typeface="+mj-cs"/>
              </a:rPr>
            </a:br>
            <a:endParaRPr kumimoji="1" lang="zh-CN" altLang="en-US" sz="28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endParaRPr>
          </a:p>
        </p:txBody>
      </p:sp>
      <p:sp>
        <p:nvSpPr>
          <p:cNvPr id="24578" name="内容占位符 2"/>
          <p:cNvSpPr>
            <a:spLocks noGrp="1"/>
          </p:cNvSpPr>
          <p:nvPr>
            <p:ph/>
          </p:nvPr>
        </p:nvSpPr>
        <p:spPr>
          <a:xfrm>
            <a:off x="577850" y="1662113"/>
            <a:ext cx="8197850" cy="4875212"/>
          </a:xfrm>
          <a:prstGeom prst="rect">
            <a:avLst/>
          </a:prstGeom>
          <a:noFill/>
          <a:ln w="9525">
            <a:noFill/>
          </a:ln>
        </p:spPr>
        <p:txBody>
          <a:bodyPr wrap="square" lIns="92075" tIns="46038" rIns="92075" bIns="46038" anchor="t" anchorCtr="0"/>
          <a:lstStyle/>
          <a:p>
            <a:pPr marL="0" indent="0">
              <a:buNone/>
            </a:pPr>
            <a:r>
              <a:rPr lang="en-US" altLang="zh-CN" sz="2400" dirty="0"/>
              <a:t>（1）全地址译码方式</a:t>
            </a:r>
          </a:p>
          <a:p>
            <a:pPr marL="0" indent="0">
              <a:buNone/>
            </a:pPr>
            <a:r>
              <a:rPr lang="en-US" altLang="zh-CN" sz="2400" dirty="0"/>
              <a:t>所谓全地址译码就是构成存储器时要使用全部20位地址总线信号，即所有的高位地址信号都用来作为译码器的输入，低位地址信号接存储器芯片的地址输入线，从而使得存储器芯片上的每一个单元在整个内存空间中具有唯一的地址。</a:t>
            </a:r>
          </a:p>
          <a:p>
            <a:pPr marL="0" indent="0">
              <a:buNone/>
            </a:pPr>
            <a:r>
              <a:rPr lang="en-US" altLang="zh-CN" sz="2400" dirty="0"/>
              <a:t>（2）部分地址译码方式</a:t>
            </a:r>
          </a:p>
          <a:p>
            <a:pPr marL="0" indent="0">
              <a:buNone/>
            </a:pPr>
            <a:r>
              <a:rPr lang="en-US" altLang="zh-CN" sz="2400" dirty="0"/>
              <a:t>部分地址译码就是仅把地址总线的一部分地址信号线与存储器连接，通常是用高位地址信号的一部分（而不是全部）作为片选译码信号。</a:t>
            </a:r>
          </a:p>
        </p:txBody>
      </p:sp>
    </p:spTree>
  </p:cSld>
  <p:clrMapOvr>
    <a:masterClrMapping/>
  </p:clrMapOvr>
  <p:transition spd="med">
    <p:random/>
  </p:transition>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417513" y="546100"/>
            <a:ext cx="8331200" cy="827088"/>
          </a:xfrm>
          <a:prstGeom prst="rect">
            <a:avLst/>
          </a:prstGeom>
          <a:ln w="9525" cap="flat" cmpd="sng" algn="ctr">
            <a:noFill/>
            <a:prstDash val="solid"/>
          </a:ln>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800" b="1" i="0" u="none" strike="noStrike" kern="0" cap="none" spc="0" normalizeH="0" baseline="0" noProof="0" dirty="0">
                <a:ln>
                  <a:noFill/>
                </a:ln>
                <a:solidFill>
                  <a:srgbClr val="E8E8E8"/>
                </a:solidFill>
                <a:effectLst/>
                <a:uLnTx/>
                <a:uFillTx/>
                <a:latin typeface="+mj-lt"/>
                <a:ea typeface="+mj-ea"/>
                <a:cs typeface="+mj-cs"/>
              </a:rPr>
              <a:t>5.2.2  </a:t>
            </a:r>
            <a:r>
              <a:rPr kumimoji="1" lang="zh-CN" altLang="zh-CN" sz="2800" b="1" i="0" u="none" strike="noStrike" kern="0" cap="none" spc="0" normalizeH="0" baseline="0" noProof="0" dirty="0">
                <a:ln>
                  <a:noFill/>
                </a:ln>
                <a:solidFill>
                  <a:srgbClr val="E8E8E8"/>
                </a:solidFill>
                <a:effectLst/>
                <a:uLnTx/>
                <a:uFillTx/>
                <a:latin typeface="+mj-lt"/>
                <a:ea typeface="+mj-ea"/>
                <a:cs typeface="+mj-cs"/>
              </a:rPr>
              <a:t>静态随机存储器（</a:t>
            </a:r>
            <a:r>
              <a:rPr kumimoji="1" lang="en-US" altLang="zh-CN" sz="2800" b="1" i="0" u="none" strike="noStrike" kern="0" cap="none" spc="0" normalizeH="0" baseline="0" noProof="0" dirty="0">
                <a:ln>
                  <a:noFill/>
                </a:ln>
                <a:solidFill>
                  <a:srgbClr val="E8E8E8"/>
                </a:solidFill>
                <a:effectLst/>
                <a:uLnTx/>
                <a:uFillTx/>
                <a:latin typeface="+mj-lt"/>
                <a:ea typeface="+mj-ea"/>
                <a:cs typeface="+mj-cs"/>
              </a:rPr>
              <a:t>SRAM</a:t>
            </a:r>
            <a:r>
              <a:rPr kumimoji="1" lang="zh-CN" altLang="zh-CN" sz="2800" b="1" i="0" u="none" strike="noStrike" kern="0" cap="none" spc="0" normalizeH="0" baseline="0" noProof="0" dirty="0">
                <a:ln>
                  <a:noFill/>
                </a:ln>
                <a:solidFill>
                  <a:srgbClr val="E8E8E8"/>
                </a:solidFill>
                <a:effectLst/>
                <a:uLnTx/>
                <a:uFillTx/>
                <a:latin typeface="+mj-lt"/>
                <a:ea typeface="+mj-ea"/>
                <a:cs typeface="+mj-cs"/>
              </a:rPr>
              <a:t>）</a:t>
            </a:r>
            <a:br>
              <a:rPr kumimoji="1" lang="zh-CN" altLang="zh-CN" sz="2800" b="1" i="0" u="none" strike="noStrike" kern="0" cap="none" spc="0" normalizeH="0" baseline="0" noProof="0" dirty="0">
                <a:ln>
                  <a:noFill/>
                </a:ln>
                <a:solidFill>
                  <a:srgbClr val="E8E8E8"/>
                </a:solidFill>
                <a:effectLst/>
                <a:uLnTx/>
                <a:uFillTx/>
                <a:latin typeface="+mj-lt"/>
                <a:ea typeface="+mj-ea"/>
                <a:cs typeface="+mj-cs"/>
              </a:rPr>
            </a:br>
            <a:endParaRPr kumimoji="1" lang="zh-CN" altLang="en-US" sz="28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endParaRPr>
          </a:p>
        </p:txBody>
      </p:sp>
      <p:graphicFrame>
        <p:nvGraphicFramePr>
          <p:cNvPr id="25602" name="Picture 68"/>
          <p:cNvGraphicFramePr>
            <a:graphicFrameLocks noChangeAspect="1"/>
          </p:cNvGraphicFramePr>
          <p:nvPr/>
        </p:nvGraphicFramePr>
        <p:xfrm>
          <a:off x="617538" y="1455738"/>
          <a:ext cx="3500437" cy="4470400"/>
        </p:xfrm>
        <a:graphic>
          <a:graphicData uri="http://schemas.openxmlformats.org/presentationml/2006/ole">
            <mc:AlternateContent xmlns:mc="http://schemas.openxmlformats.org/markup-compatibility/2006">
              <mc:Choice xmlns:v="urn:schemas-microsoft-com:vml" Requires="v">
                <p:oleObj spid="_x0000_s4115" r:id="rId3" imgW="5772150" imgH="7315200" progId="Visio.Drawing.11">
                  <p:embed/>
                </p:oleObj>
              </mc:Choice>
              <mc:Fallback>
                <p:oleObj r:id="rId3" imgW="5772150" imgH="7315200" progId="Visio.Drawing.11">
                  <p:embed/>
                  <p:pic>
                    <p:nvPicPr>
                      <p:cNvPr id="0" name="图片 3076"/>
                      <p:cNvPicPr/>
                      <p:nvPr/>
                    </p:nvPicPr>
                    <p:blipFill>
                      <a:blip r:embed="rId4"/>
                      <a:stretch>
                        <a:fillRect/>
                      </a:stretch>
                    </p:blipFill>
                    <p:spPr>
                      <a:xfrm>
                        <a:off x="617538" y="1455738"/>
                        <a:ext cx="3500437" cy="4470400"/>
                      </a:xfrm>
                      <a:prstGeom prst="rect">
                        <a:avLst/>
                      </a:prstGeom>
                      <a:solidFill>
                        <a:schemeClr val="tx1"/>
                      </a:solidFill>
                      <a:ln w="38100">
                        <a:noFill/>
                        <a:miter/>
                      </a:ln>
                    </p:spPr>
                  </p:pic>
                </p:oleObj>
              </mc:Fallback>
            </mc:AlternateContent>
          </a:graphicData>
        </a:graphic>
      </p:graphicFrame>
      <p:graphicFrame>
        <p:nvGraphicFramePr>
          <p:cNvPr id="25603" name="Picture 69"/>
          <p:cNvGraphicFramePr>
            <a:graphicFrameLocks noChangeAspect="1"/>
          </p:cNvGraphicFramePr>
          <p:nvPr/>
        </p:nvGraphicFramePr>
        <p:xfrm>
          <a:off x="4603750" y="1462088"/>
          <a:ext cx="3509963" cy="4494212"/>
        </p:xfrm>
        <a:graphic>
          <a:graphicData uri="http://schemas.openxmlformats.org/presentationml/2006/ole">
            <mc:AlternateContent xmlns:mc="http://schemas.openxmlformats.org/markup-compatibility/2006">
              <mc:Choice xmlns:v="urn:schemas-microsoft-com:vml" Requires="v">
                <p:oleObj spid="_x0000_s4116" r:id="rId5" imgW="5772150" imgH="7315200" progId="Visio.Drawing.11">
                  <p:embed/>
                </p:oleObj>
              </mc:Choice>
              <mc:Fallback>
                <p:oleObj r:id="rId5" imgW="5772150" imgH="7315200" progId="Visio.Drawing.11">
                  <p:embed/>
                  <p:pic>
                    <p:nvPicPr>
                      <p:cNvPr id="0" name="图片 3077"/>
                      <p:cNvPicPr/>
                      <p:nvPr/>
                    </p:nvPicPr>
                    <p:blipFill>
                      <a:blip r:embed="rId6"/>
                      <a:stretch>
                        <a:fillRect/>
                      </a:stretch>
                    </p:blipFill>
                    <p:spPr>
                      <a:xfrm>
                        <a:off x="4603750" y="1462088"/>
                        <a:ext cx="3509963" cy="4494212"/>
                      </a:xfrm>
                      <a:prstGeom prst="rect">
                        <a:avLst/>
                      </a:prstGeom>
                      <a:solidFill>
                        <a:schemeClr val="tx1"/>
                      </a:solidFill>
                      <a:ln w="38100">
                        <a:noFill/>
                        <a:miter/>
                      </a:ln>
                    </p:spPr>
                  </p:pic>
                </p:oleObj>
              </mc:Fallback>
            </mc:AlternateContent>
          </a:graphicData>
        </a:graphic>
      </p:graphicFrame>
      <p:sp>
        <p:nvSpPr>
          <p:cNvPr id="25604" name="文本框 99"/>
          <p:cNvSpPr txBox="1"/>
          <p:nvPr/>
        </p:nvSpPr>
        <p:spPr>
          <a:xfrm>
            <a:off x="1085850" y="6057900"/>
            <a:ext cx="2571750" cy="654050"/>
          </a:xfrm>
          <a:prstGeom prst="rect">
            <a:avLst/>
          </a:prstGeom>
          <a:noFill/>
          <a:ln w="9525">
            <a:noFill/>
          </a:ln>
        </p:spPr>
        <p:txBody>
          <a:bodyPr wrap="square" anchor="t" anchorCtr="0">
            <a:spAutoFit/>
          </a:bodyPr>
          <a:lstStyle/>
          <a:p>
            <a:r>
              <a:rPr lang="zh-CN" altLang="en-US" sz="2000" b="0">
                <a:latin typeface="宋体" panose="02010600030101010101" pitchFamily="2" charset="-122"/>
                <a:ea typeface="宋体" panose="02010600030101010101" pitchFamily="2" charset="-122"/>
              </a:rPr>
              <a:t>图</a:t>
            </a:r>
            <a:r>
              <a:rPr lang="en-US" altLang="zh-CN" sz="2000" b="0">
                <a:latin typeface="Times New Roman" panose="02020603050405020304" pitchFamily="18" charset="0"/>
                <a:ea typeface="宋体" panose="02010600030101010101" pitchFamily="2" charset="-122"/>
              </a:rPr>
              <a:t>5-7 SRAM 6264</a:t>
            </a:r>
            <a:r>
              <a:rPr lang="zh-CN" altLang="en-US" sz="2000" b="0">
                <a:latin typeface="宋体" panose="02010600030101010101" pitchFamily="2" charset="-122"/>
                <a:ea typeface="宋体" panose="02010600030101010101" pitchFamily="2" charset="-122"/>
              </a:rPr>
              <a:t>的全地址译码连接图</a:t>
            </a:r>
            <a:endParaRPr lang="zh-CN" altLang="en-US" sz="2000">
              <a:latin typeface="宋体" panose="02010600030101010101" pitchFamily="2" charset="-122"/>
              <a:ea typeface="宋体" panose="02010600030101010101" pitchFamily="2" charset="-122"/>
            </a:endParaRPr>
          </a:p>
        </p:txBody>
      </p:sp>
      <p:sp>
        <p:nvSpPr>
          <p:cNvPr id="25605" name="文本框 3"/>
          <p:cNvSpPr txBox="1"/>
          <p:nvPr/>
        </p:nvSpPr>
        <p:spPr>
          <a:xfrm>
            <a:off x="5124450" y="6075363"/>
            <a:ext cx="2689225" cy="654050"/>
          </a:xfrm>
          <a:prstGeom prst="rect">
            <a:avLst/>
          </a:prstGeom>
          <a:noFill/>
          <a:ln w="9525">
            <a:noFill/>
          </a:ln>
        </p:spPr>
        <p:txBody>
          <a:bodyPr wrap="square" anchor="t" anchorCtr="0">
            <a:spAutoFit/>
          </a:bodyPr>
          <a:lstStyle/>
          <a:p>
            <a:r>
              <a:rPr lang="zh-CN" altLang="en-US" sz="2000" b="0">
                <a:latin typeface="宋体" panose="02010600030101010101" pitchFamily="2" charset="-122"/>
                <a:ea typeface="宋体" panose="02010600030101010101" pitchFamily="2" charset="-122"/>
              </a:rPr>
              <a:t>图</a:t>
            </a:r>
            <a:r>
              <a:rPr lang="en-US" altLang="zh-CN" sz="2000" b="0">
                <a:latin typeface="Times New Roman" panose="02020603050405020304" pitchFamily="18" charset="0"/>
                <a:ea typeface="宋体" panose="02010600030101010101" pitchFamily="2" charset="-122"/>
              </a:rPr>
              <a:t>5-8 </a:t>
            </a:r>
            <a:r>
              <a:rPr lang="zh-CN" altLang="en-US" sz="2000" b="0">
                <a:latin typeface="宋体" panose="02010600030101010101" pitchFamily="2" charset="-122"/>
                <a:ea typeface="宋体" panose="02010600030101010101" pitchFamily="2" charset="-122"/>
              </a:rPr>
              <a:t>利用</a:t>
            </a:r>
            <a:r>
              <a:rPr lang="en-US" altLang="zh-CN" sz="2000" b="0">
                <a:latin typeface="Times New Roman" panose="02020603050405020304" pitchFamily="18" charset="0"/>
                <a:ea typeface="宋体" panose="02010600030101010101" pitchFamily="2" charset="-122"/>
              </a:rPr>
              <a:t>138</a:t>
            </a:r>
            <a:r>
              <a:rPr lang="zh-CN" altLang="en-US" sz="2000" b="0">
                <a:latin typeface="宋体" panose="02010600030101010101" pitchFamily="2" charset="-122"/>
                <a:ea typeface="宋体" panose="02010600030101010101" pitchFamily="2" charset="-122"/>
              </a:rPr>
              <a:t>译码器实现全地址译码连接</a:t>
            </a:r>
            <a:endParaRPr lang="zh-CN" altLang="en-US" sz="2000">
              <a:latin typeface="宋体" panose="02010600030101010101" pitchFamily="2" charset="-122"/>
              <a:ea typeface="宋体" panose="02010600030101010101" pitchFamily="2" charset="-122"/>
            </a:endParaRPr>
          </a:p>
        </p:txBody>
      </p:sp>
    </p:spTree>
  </p:cSld>
  <p:clrMapOvr>
    <a:masterClrMapping/>
  </p:clrMapOvr>
  <p:transition spd="med">
    <p:random/>
  </p:transition>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417513" y="546100"/>
            <a:ext cx="8331200" cy="827088"/>
          </a:xfrm>
          <a:prstGeom prst="rect">
            <a:avLst/>
          </a:prstGeom>
          <a:ln w="9525" cap="flat" cmpd="sng" algn="ctr">
            <a:noFill/>
            <a:prstDash val="solid"/>
          </a:ln>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800" b="1" i="0" u="none" strike="noStrike" kern="0" cap="none" spc="0" normalizeH="0" baseline="0" noProof="0" dirty="0">
                <a:ln>
                  <a:noFill/>
                </a:ln>
                <a:solidFill>
                  <a:srgbClr val="E8E8E8"/>
                </a:solidFill>
                <a:effectLst/>
                <a:uLnTx/>
                <a:uFillTx/>
                <a:latin typeface="+mj-lt"/>
                <a:ea typeface="+mj-ea"/>
                <a:cs typeface="+mj-cs"/>
              </a:rPr>
              <a:t>5.2.2  </a:t>
            </a:r>
            <a:r>
              <a:rPr kumimoji="1" lang="zh-CN" altLang="zh-CN" sz="2800" b="1" i="0" u="none" strike="noStrike" kern="0" cap="none" spc="0" normalizeH="0" baseline="0" noProof="0" dirty="0">
                <a:ln>
                  <a:noFill/>
                </a:ln>
                <a:solidFill>
                  <a:srgbClr val="E8E8E8"/>
                </a:solidFill>
                <a:effectLst/>
                <a:uLnTx/>
                <a:uFillTx/>
                <a:latin typeface="+mj-lt"/>
                <a:ea typeface="+mj-ea"/>
                <a:cs typeface="+mj-cs"/>
              </a:rPr>
              <a:t>静态随机存储器（</a:t>
            </a:r>
            <a:r>
              <a:rPr kumimoji="1" lang="en-US" altLang="zh-CN" sz="2800" b="1" i="0" u="none" strike="noStrike" kern="0" cap="none" spc="0" normalizeH="0" baseline="0" noProof="0" dirty="0">
                <a:ln>
                  <a:noFill/>
                </a:ln>
                <a:solidFill>
                  <a:srgbClr val="E8E8E8"/>
                </a:solidFill>
                <a:effectLst/>
                <a:uLnTx/>
                <a:uFillTx/>
                <a:latin typeface="+mj-lt"/>
                <a:ea typeface="+mj-ea"/>
                <a:cs typeface="+mj-cs"/>
              </a:rPr>
              <a:t>SRAM</a:t>
            </a:r>
            <a:r>
              <a:rPr kumimoji="1" lang="zh-CN" altLang="zh-CN" sz="2800" b="1" i="0" u="none" strike="noStrike" kern="0" cap="none" spc="0" normalizeH="0" baseline="0" noProof="0" dirty="0">
                <a:ln>
                  <a:noFill/>
                </a:ln>
                <a:solidFill>
                  <a:srgbClr val="E8E8E8"/>
                </a:solidFill>
                <a:effectLst/>
                <a:uLnTx/>
                <a:uFillTx/>
                <a:latin typeface="+mj-lt"/>
                <a:ea typeface="+mj-ea"/>
                <a:cs typeface="+mj-cs"/>
              </a:rPr>
              <a:t>）</a:t>
            </a:r>
            <a:br>
              <a:rPr kumimoji="1" lang="zh-CN" altLang="zh-CN" sz="2800" b="1" i="0" u="none" strike="noStrike" kern="0" cap="none" spc="0" normalizeH="0" baseline="0" noProof="0" dirty="0">
                <a:ln>
                  <a:noFill/>
                </a:ln>
                <a:solidFill>
                  <a:srgbClr val="E8E8E8"/>
                </a:solidFill>
                <a:effectLst/>
                <a:uLnTx/>
                <a:uFillTx/>
                <a:latin typeface="+mj-lt"/>
                <a:ea typeface="+mj-ea"/>
                <a:cs typeface="+mj-cs"/>
              </a:rPr>
            </a:br>
            <a:endParaRPr kumimoji="1" lang="zh-CN" altLang="en-US" sz="28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endParaRPr>
          </a:p>
        </p:txBody>
      </p:sp>
      <p:sp>
        <p:nvSpPr>
          <p:cNvPr id="26626" name="文本框 99"/>
          <p:cNvSpPr txBox="1"/>
          <p:nvPr/>
        </p:nvSpPr>
        <p:spPr>
          <a:xfrm>
            <a:off x="866775" y="6134100"/>
            <a:ext cx="2790825" cy="369888"/>
          </a:xfrm>
          <a:prstGeom prst="rect">
            <a:avLst/>
          </a:prstGeom>
          <a:noFill/>
          <a:ln w="9525">
            <a:noFill/>
          </a:ln>
        </p:spPr>
        <p:txBody>
          <a:bodyPr wrap="square" anchor="t" anchorCtr="0">
            <a:spAutoFit/>
          </a:bodyPr>
          <a:lstStyle/>
          <a:p>
            <a:r>
              <a:rPr lang="zh-CN" altLang="en-US" sz="2000" b="0">
                <a:latin typeface="宋体" panose="02010600030101010101" pitchFamily="2" charset="-122"/>
                <a:ea typeface="宋体" panose="02010600030101010101" pitchFamily="2" charset="-122"/>
              </a:rPr>
              <a:t>图</a:t>
            </a:r>
            <a:r>
              <a:rPr lang="en-US" altLang="zh-CN" sz="2000" b="0">
                <a:latin typeface="宋体" panose="02010600030101010101" pitchFamily="2" charset="-122"/>
                <a:ea typeface="宋体" panose="02010600030101010101" pitchFamily="2" charset="-122"/>
              </a:rPr>
              <a:t>5-9 </a:t>
            </a:r>
            <a:r>
              <a:rPr lang="zh-CN" altLang="en-US" sz="2000" b="0">
                <a:latin typeface="宋体" panose="02010600030101010101" pitchFamily="2" charset="-122"/>
                <a:ea typeface="宋体" panose="02010600030101010101" pitchFamily="2" charset="-122"/>
              </a:rPr>
              <a:t>另一种译码电路</a:t>
            </a:r>
          </a:p>
        </p:txBody>
      </p:sp>
      <p:sp>
        <p:nvSpPr>
          <p:cNvPr id="26627" name="文本框 3"/>
          <p:cNvSpPr txBox="1"/>
          <p:nvPr/>
        </p:nvSpPr>
        <p:spPr>
          <a:xfrm>
            <a:off x="5124450" y="6075363"/>
            <a:ext cx="2689225" cy="644525"/>
          </a:xfrm>
          <a:prstGeom prst="rect">
            <a:avLst/>
          </a:prstGeom>
          <a:noFill/>
          <a:ln w="9525">
            <a:noFill/>
          </a:ln>
        </p:spPr>
        <p:txBody>
          <a:bodyPr wrap="square" anchor="t" anchorCtr="0">
            <a:spAutoFit/>
          </a:bodyPr>
          <a:lstStyle/>
          <a:p>
            <a:r>
              <a:rPr lang="zh-CN" altLang="en-US" sz="2000" b="0">
                <a:latin typeface="宋体" panose="02010600030101010101" pitchFamily="2" charset="-122"/>
                <a:ea typeface="宋体" panose="02010600030101010101" pitchFamily="2" charset="-122"/>
              </a:rPr>
              <a:t>图</a:t>
            </a:r>
            <a:r>
              <a:rPr lang="en-US" altLang="zh-CN" sz="2000" b="0">
                <a:latin typeface="宋体" panose="02010600030101010101" pitchFamily="2" charset="-122"/>
                <a:ea typeface="宋体" panose="02010600030101010101" pitchFamily="2" charset="-122"/>
              </a:rPr>
              <a:t>5-10 SRAM 6264</a:t>
            </a:r>
            <a:r>
              <a:rPr lang="zh-CN" altLang="en-US" sz="2000" b="0">
                <a:latin typeface="宋体" panose="02010600030101010101" pitchFamily="2" charset="-122"/>
                <a:ea typeface="宋体" panose="02010600030101010101" pitchFamily="2" charset="-122"/>
              </a:rPr>
              <a:t>的部分地址译码连接图</a:t>
            </a:r>
          </a:p>
        </p:txBody>
      </p:sp>
      <p:graphicFrame>
        <p:nvGraphicFramePr>
          <p:cNvPr id="26628" name="Picture 71"/>
          <p:cNvGraphicFramePr>
            <a:graphicFrameLocks noChangeAspect="1"/>
          </p:cNvGraphicFramePr>
          <p:nvPr/>
        </p:nvGraphicFramePr>
        <p:xfrm>
          <a:off x="4519613" y="1481138"/>
          <a:ext cx="3584575" cy="4578350"/>
        </p:xfrm>
        <a:graphic>
          <a:graphicData uri="http://schemas.openxmlformats.org/presentationml/2006/ole">
            <mc:AlternateContent xmlns:mc="http://schemas.openxmlformats.org/markup-compatibility/2006">
              <mc:Choice xmlns:v="urn:schemas-microsoft-com:vml" Requires="v">
                <p:oleObj spid="_x0000_s5139" r:id="rId3" imgW="5772150" imgH="7315200" progId="Visio.Drawing.11">
                  <p:embed/>
                </p:oleObj>
              </mc:Choice>
              <mc:Fallback>
                <p:oleObj r:id="rId3" imgW="5772150" imgH="7315200" progId="Visio.Drawing.11">
                  <p:embed/>
                  <p:pic>
                    <p:nvPicPr>
                      <p:cNvPr id="0" name="图片 3079"/>
                      <p:cNvPicPr/>
                      <p:nvPr/>
                    </p:nvPicPr>
                    <p:blipFill>
                      <a:blip r:embed="rId4"/>
                      <a:stretch>
                        <a:fillRect/>
                      </a:stretch>
                    </p:blipFill>
                    <p:spPr>
                      <a:xfrm>
                        <a:off x="4519613" y="1481138"/>
                        <a:ext cx="3584575" cy="4578350"/>
                      </a:xfrm>
                      <a:prstGeom prst="rect">
                        <a:avLst/>
                      </a:prstGeom>
                      <a:solidFill>
                        <a:schemeClr val="tx1"/>
                      </a:solidFill>
                      <a:ln w="38100">
                        <a:noFill/>
                        <a:miter/>
                      </a:ln>
                    </p:spPr>
                  </p:pic>
                </p:oleObj>
              </mc:Fallback>
            </mc:AlternateContent>
          </a:graphicData>
        </a:graphic>
      </p:graphicFrame>
      <p:graphicFrame>
        <p:nvGraphicFramePr>
          <p:cNvPr id="26629" name="Picture 70"/>
          <p:cNvGraphicFramePr>
            <a:graphicFrameLocks noChangeAspect="1"/>
          </p:cNvGraphicFramePr>
          <p:nvPr/>
        </p:nvGraphicFramePr>
        <p:xfrm>
          <a:off x="530225" y="1865313"/>
          <a:ext cx="3548063" cy="3897312"/>
        </p:xfrm>
        <a:graphic>
          <a:graphicData uri="http://schemas.openxmlformats.org/presentationml/2006/ole">
            <mc:AlternateContent xmlns:mc="http://schemas.openxmlformats.org/markup-compatibility/2006">
              <mc:Choice xmlns:v="urn:schemas-microsoft-com:vml" Requires="v">
                <p:oleObj spid="_x0000_s5140" r:id="rId5" imgW="4371975" imgH="4800600" progId="Visio.Drawing.11">
                  <p:embed/>
                </p:oleObj>
              </mc:Choice>
              <mc:Fallback>
                <p:oleObj r:id="rId5" imgW="4371975" imgH="4800600" progId="Visio.Drawing.11">
                  <p:embed/>
                  <p:pic>
                    <p:nvPicPr>
                      <p:cNvPr id="0" name="图片 3078"/>
                      <p:cNvPicPr/>
                      <p:nvPr/>
                    </p:nvPicPr>
                    <p:blipFill>
                      <a:blip r:embed="rId6"/>
                      <a:stretch>
                        <a:fillRect/>
                      </a:stretch>
                    </p:blipFill>
                    <p:spPr>
                      <a:xfrm>
                        <a:off x="530225" y="1865313"/>
                        <a:ext cx="3548063" cy="3897312"/>
                      </a:xfrm>
                      <a:prstGeom prst="rect">
                        <a:avLst/>
                      </a:prstGeom>
                      <a:solidFill>
                        <a:schemeClr val="tx1"/>
                      </a:solidFill>
                      <a:ln w="38100">
                        <a:noFill/>
                        <a:miter/>
                      </a:ln>
                    </p:spPr>
                  </p:pic>
                </p:oleObj>
              </mc:Fallback>
            </mc:AlternateContent>
          </a:graphicData>
        </a:graphic>
      </p:graphicFrame>
    </p:spTree>
  </p:cSld>
  <p:clrMapOvr>
    <a:masterClrMapping/>
  </p:clrMapOvr>
  <p:transition spd="med">
    <p:random/>
  </p:transition>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417513" y="546100"/>
            <a:ext cx="8331200" cy="827088"/>
          </a:xfrm>
          <a:prstGeom prst="rect">
            <a:avLst/>
          </a:prstGeom>
          <a:ln w="9525" cap="flat" cmpd="sng" algn="ctr">
            <a:noFill/>
            <a:prstDash val="solid"/>
          </a:ln>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800" b="1" i="0" u="none" strike="noStrike" kern="0" cap="none" spc="0" normalizeH="0" baseline="0" noProof="0" dirty="0">
                <a:ln>
                  <a:noFill/>
                </a:ln>
                <a:solidFill>
                  <a:srgbClr val="E8E8E8"/>
                </a:solidFill>
                <a:effectLst/>
                <a:uLnTx/>
                <a:uFillTx/>
                <a:latin typeface="+mj-lt"/>
                <a:ea typeface="+mj-ea"/>
                <a:cs typeface="+mj-cs"/>
              </a:rPr>
              <a:t>5.2.2  </a:t>
            </a:r>
            <a:r>
              <a:rPr kumimoji="1" lang="zh-CN" altLang="zh-CN" sz="2800" b="1" i="0" u="none" strike="noStrike" kern="0" cap="none" spc="0" normalizeH="0" baseline="0" noProof="0" dirty="0">
                <a:ln>
                  <a:noFill/>
                </a:ln>
                <a:solidFill>
                  <a:srgbClr val="E8E8E8"/>
                </a:solidFill>
                <a:effectLst/>
                <a:uLnTx/>
                <a:uFillTx/>
                <a:latin typeface="+mj-lt"/>
                <a:ea typeface="+mj-ea"/>
                <a:cs typeface="+mj-cs"/>
              </a:rPr>
              <a:t>静态随机存储器（</a:t>
            </a:r>
            <a:r>
              <a:rPr kumimoji="1" lang="en-US" altLang="zh-CN" sz="2800" b="1" i="0" u="none" strike="noStrike" kern="0" cap="none" spc="0" normalizeH="0" baseline="0" noProof="0" dirty="0">
                <a:ln>
                  <a:noFill/>
                </a:ln>
                <a:solidFill>
                  <a:srgbClr val="E8E8E8"/>
                </a:solidFill>
                <a:effectLst/>
                <a:uLnTx/>
                <a:uFillTx/>
                <a:latin typeface="+mj-lt"/>
                <a:ea typeface="+mj-ea"/>
                <a:cs typeface="+mj-cs"/>
              </a:rPr>
              <a:t>SRAM</a:t>
            </a:r>
            <a:r>
              <a:rPr kumimoji="1" lang="zh-CN" altLang="zh-CN" sz="2800" b="1" i="0" u="none" strike="noStrike" kern="0" cap="none" spc="0" normalizeH="0" baseline="0" noProof="0" dirty="0">
                <a:ln>
                  <a:noFill/>
                </a:ln>
                <a:solidFill>
                  <a:srgbClr val="E8E8E8"/>
                </a:solidFill>
                <a:effectLst/>
                <a:uLnTx/>
                <a:uFillTx/>
                <a:latin typeface="+mj-lt"/>
                <a:ea typeface="+mj-ea"/>
                <a:cs typeface="+mj-cs"/>
              </a:rPr>
              <a:t>）</a:t>
            </a:r>
            <a:br>
              <a:rPr kumimoji="1" lang="zh-CN" altLang="zh-CN" sz="2800" b="1" i="0" u="none" strike="noStrike" kern="0" cap="none" spc="0" normalizeH="0" baseline="0" noProof="0" dirty="0">
                <a:ln>
                  <a:noFill/>
                </a:ln>
                <a:solidFill>
                  <a:srgbClr val="E8E8E8"/>
                </a:solidFill>
                <a:effectLst/>
                <a:uLnTx/>
                <a:uFillTx/>
                <a:latin typeface="+mj-lt"/>
                <a:ea typeface="+mj-ea"/>
                <a:cs typeface="+mj-cs"/>
              </a:rPr>
            </a:br>
            <a:endParaRPr kumimoji="1" lang="zh-CN" altLang="en-US" sz="28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endParaRPr>
          </a:p>
        </p:txBody>
      </p:sp>
      <p:sp>
        <p:nvSpPr>
          <p:cNvPr id="27650" name="内容占位符 2"/>
          <p:cNvSpPr>
            <a:spLocks noGrp="1"/>
          </p:cNvSpPr>
          <p:nvPr>
            <p:ph/>
          </p:nvPr>
        </p:nvSpPr>
        <p:spPr>
          <a:xfrm>
            <a:off x="577850" y="1543050"/>
            <a:ext cx="8197850" cy="4994275"/>
          </a:xfrm>
          <a:prstGeom prst="rect">
            <a:avLst/>
          </a:prstGeom>
          <a:noFill/>
          <a:ln w="9525">
            <a:noFill/>
          </a:ln>
        </p:spPr>
        <p:txBody>
          <a:bodyPr wrap="square" lIns="92075" tIns="46038" rIns="92075" bIns="46038" anchor="t" anchorCtr="0"/>
          <a:lstStyle/>
          <a:p>
            <a:pPr marL="0" indent="0">
              <a:buNone/>
            </a:pPr>
            <a:r>
              <a:rPr lang="en-US" altLang="zh-CN" sz="2400" dirty="0"/>
              <a:t>3）SRAM的应用实例</a:t>
            </a:r>
          </a:p>
          <a:p>
            <a:pPr marL="0" indent="0">
              <a:buNone/>
            </a:pPr>
            <a:r>
              <a:rPr lang="en-US" altLang="zh-CN" sz="2400" dirty="0"/>
              <a:t>【例5.1】用存储器芯片SRAM 6116构成一个6KB的存储器。要求其地址范围在0C1000H～0C27FFH之间。</a:t>
            </a:r>
          </a:p>
        </p:txBody>
      </p:sp>
      <p:pic>
        <p:nvPicPr>
          <p:cNvPr id="27651" name="Picture 52" descr="5"/>
          <p:cNvPicPr>
            <a:picLocks noChangeAspect="1"/>
          </p:cNvPicPr>
          <p:nvPr/>
        </p:nvPicPr>
        <p:blipFill>
          <a:blip r:embed="rId2"/>
          <a:stretch>
            <a:fillRect/>
          </a:stretch>
        </p:blipFill>
        <p:spPr>
          <a:xfrm>
            <a:off x="838200" y="2832100"/>
            <a:ext cx="2166938" cy="3595688"/>
          </a:xfrm>
          <a:prstGeom prst="rect">
            <a:avLst/>
          </a:prstGeom>
          <a:noFill/>
          <a:ln w="9525">
            <a:noFill/>
          </a:ln>
        </p:spPr>
      </p:pic>
      <p:pic>
        <p:nvPicPr>
          <p:cNvPr id="27652" name="Picture 53" descr="5"/>
          <p:cNvPicPr>
            <a:picLocks noChangeAspect="1"/>
          </p:cNvPicPr>
          <p:nvPr/>
        </p:nvPicPr>
        <p:blipFill>
          <a:blip r:embed="rId3"/>
          <a:stretch>
            <a:fillRect/>
          </a:stretch>
        </p:blipFill>
        <p:spPr>
          <a:xfrm>
            <a:off x="3468688" y="2828925"/>
            <a:ext cx="4887912" cy="3633788"/>
          </a:xfrm>
          <a:prstGeom prst="rect">
            <a:avLst/>
          </a:prstGeom>
          <a:noFill/>
          <a:ln w="9525">
            <a:noFill/>
          </a:ln>
        </p:spPr>
      </p:pic>
    </p:spTree>
  </p:cSld>
  <p:clrMapOvr>
    <a:masterClrMapping/>
  </p:clrMapOvr>
  <p:transition spd="med">
    <p:random/>
  </p:transition>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417513" y="546100"/>
            <a:ext cx="8331200" cy="827088"/>
          </a:xfrm>
          <a:prstGeom prst="rect">
            <a:avLst/>
          </a:prstGeom>
          <a:ln w="9525" cap="flat" cmpd="sng" algn="ctr">
            <a:noFill/>
            <a:prstDash val="solid"/>
          </a:ln>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800" b="1" i="0" u="none" strike="noStrike" kern="0" cap="none" spc="0" normalizeH="0" baseline="0" noProof="0" dirty="0">
                <a:ln>
                  <a:noFill/>
                </a:ln>
                <a:solidFill>
                  <a:srgbClr val="E8E8E8"/>
                </a:solidFill>
                <a:effectLst/>
                <a:uLnTx/>
                <a:uFillTx/>
                <a:latin typeface="+mj-lt"/>
                <a:ea typeface="+mj-ea"/>
                <a:cs typeface="+mj-cs"/>
              </a:rPr>
              <a:t>5.2.2  </a:t>
            </a:r>
            <a:r>
              <a:rPr kumimoji="1" lang="zh-CN" altLang="zh-CN" sz="2800" b="1" i="0" u="none" strike="noStrike" kern="0" cap="none" spc="0" normalizeH="0" baseline="0" noProof="0" dirty="0">
                <a:ln>
                  <a:noFill/>
                </a:ln>
                <a:solidFill>
                  <a:srgbClr val="E8E8E8"/>
                </a:solidFill>
                <a:effectLst/>
                <a:uLnTx/>
                <a:uFillTx/>
                <a:latin typeface="+mj-lt"/>
                <a:ea typeface="+mj-ea"/>
                <a:cs typeface="+mj-cs"/>
              </a:rPr>
              <a:t>静态随机存储器（</a:t>
            </a:r>
            <a:r>
              <a:rPr kumimoji="1" lang="en-US" altLang="zh-CN" sz="2800" b="1" i="0" u="none" strike="noStrike" kern="0" cap="none" spc="0" normalizeH="0" baseline="0" noProof="0" dirty="0">
                <a:ln>
                  <a:noFill/>
                </a:ln>
                <a:solidFill>
                  <a:srgbClr val="E8E8E8"/>
                </a:solidFill>
                <a:effectLst/>
                <a:uLnTx/>
                <a:uFillTx/>
                <a:latin typeface="+mj-lt"/>
                <a:ea typeface="+mj-ea"/>
                <a:cs typeface="+mj-cs"/>
              </a:rPr>
              <a:t>SRAM</a:t>
            </a:r>
            <a:r>
              <a:rPr kumimoji="1" lang="zh-CN" altLang="zh-CN" sz="2800" b="1" i="0" u="none" strike="noStrike" kern="0" cap="none" spc="0" normalizeH="0" baseline="0" noProof="0" dirty="0">
                <a:ln>
                  <a:noFill/>
                </a:ln>
                <a:solidFill>
                  <a:srgbClr val="E8E8E8"/>
                </a:solidFill>
                <a:effectLst/>
                <a:uLnTx/>
                <a:uFillTx/>
                <a:latin typeface="+mj-lt"/>
                <a:ea typeface="+mj-ea"/>
                <a:cs typeface="+mj-cs"/>
              </a:rPr>
              <a:t>）</a:t>
            </a:r>
            <a:br>
              <a:rPr kumimoji="1" lang="zh-CN" altLang="zh-CN" sz="2800" b="1" i="0" u="none" strike="noStrike" kern="0" cap="none" spc="0" normalizeH="0" baseline="0" noProof="0" dirty="0">
                <a:ln>
                  <a:noFill/>
                </a:ln>
                <a:solidFill>
                  <a:srgbClr val="E8E8E8"/>
                </a:solidFill>
                <a:effectLst/>
                <a:uLnTx/>
                <a:uFillTx/>
                <a:latin typeface="+mj-lt"/>
                <a:ea typeface="+mj-ea"/>
                <a:cs typeface="+mj-cs"/>
              </a:rPr>
            </a:br>
            <a:endParaRPr kumimoji="1" lang="zh-CN" altLang="en-US" sz="28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endParaRPr>
          </a:p>
        </p:txBody>
      </p:sp>
      <p:sp>
        <p:nvSpPr>
          <p:cNvPr id="28674" name="内容占位符 2"/>
          <p:cNvSpPr>
            <a:spLocks noGrp="1"/>
          </p:cNvSpPr>
          <p:nvPr>
            <p:ph/>
          </p:nvPr>
        </p:nvSpPr>
        <p:spPr>
          <a:xfrm>
            <a:off x="358775" y="1606550"/>
            <a:ext cx="8245475" cy="4995863"/>
          </a:xfrm>
          <a:prstGeom prst="rect">
            <a:avLst/>
          </a:prstGeom>
          <a:noFill/>
          <a:ln w="9525">
            <a:noFill/>
          </a:ln>
        </p:spPr>
        <p:txBody>
          <a:bodyPr wrap="square" lIns="92075" tIns="46038" rIns="92075" bIns="46038" anchor="t" anchorCtr="0"/>
          <a:lstStyle/>
          <a:p>
            <a:pPr marL="0" indent="0" algn="just">
              <a:buNone/>
            </a:pPr>
            <a:r>
              <a:rPr lang="en-US" altLang="en-US" sz="2400" dirty="0"/>
              <a:t>        </a:t>
            </a:r>
            <a:r>
              <a:rPr lang="en-US" altLang="zh-CN" sz="2400" dirty="0"/>
              <a:t>图5-11是6116芯片的外部引线图。由芯片的地址线和数据线的根数可以看出，6116为2K×8b的存储芯片。6116芯片有11根地址线(A0～A10)、8根数据线(D0～D7)、读写控制信号（=0时写入；=l时读出）、输出允许信号及片选信号。要构成一个6KB的存储器，需要三片6116芯片。由题目所给的地址范围可知，其容量正好为6KB，即表明三片存储器芯片都具有唯一的地址范围。因此，需要采用全地址译码方式。</a:t>
            </a:r>
          </a:p>
          <a:p>
            <a:pPr marL="0" indent="0" algn="just">
              <a:buNone/>
            </a:pPr>
            <a:r>
              <a:rPr lang="en-US" altLang="zh-CN" sz="2400" dirty="0"/>
              <a:t>译码电路的构成不是唯一的，可以利用基本逻辑门电路（如“与”、“或”、“非”门等）构成，也可以利用3-8译码器74LS138构成。本例中采用全地址译码方式使三片6116具有唯一的地址范围。因需要多个片选信号，选用74LS138作为地址译码器可以更方便、高效，且译码电路更简洁。</a:t>
            </a:r>
          </a:p>
        </p:txBody>
      </p:sp>
    </p:spTree>
  </p:cSld>
  <p:clrMapOvr>
    <a:masterClrMapping/>
  </p:clrMapOvr>
  <p:transition spd="med">
    <p:random/>
  </p:transition>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417513" y="546100"/>
            <a:ext cx="8331200" cy="827088"/>
          </a:xfrm>
          <a:prstGeom prst="rect">
            <a:avLst/>
          </a:prstGeom>
          <a:ln w="9525" cap="flat" cmpd="sng" algn="ctr">
            <a:noFill/>
            <a:prstDash val="solid"/>
          </a:ln>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800" b="1" i="0" u="none" strike="noStrike" kern="0" cap="none" spc="0" normalizeH="0" baseline="0" noProof="0" dirty="0">
                <a:ln>
                  <a:noFill/>
                </a:ln>
                <a:solidFill>
                  <a:srgbClr val="E8E8E8"/>
                </a:solidFill>
                <a:effectLst/>
                <a:uLnTx/>
                <a:uFillTx/>
                <a:latin typeface="+mj-lt"/>
                <a:ea typeface="+mj-ea"/>
                <a:cs typeface="+mj-cs"/>
              </a:rPr>
              <a:t>5.2.2  </a:t>
            </a:r>
            <a:r>
              <a:rPr kumimoji="1" lang="zh-CN" altLang="zh-CN" sz="2800" b="1" i="0" u="none" strike="noStrike" kern="0" cap="none" spc="0" normalizeH="0" baseline="0" noProof="0" dirty="0">
                <a:ln>
                  <a:noFill/>
                </a:ln>
                <a:solidFill>
                  <a:srgbClr val="E8E8E8"/>
                </a:solidFill>
                <a:effectLst/>
                <a:uLnTx/>
                <a:uFillTx/>
                <a:latin typeface="+mj-lt"/>
                <a:ea typeface="+mj-ea"/>
                <a:cs typeface="+mj-cs"/>
              </a:rPr>
              <a:t>静态随机存储器（</a:t>
            </a:r>
            <a:r>
              <a:rPr kumimoji="1" lang="en-US" altLang="zh-CN" sz="2800" b="1" i="0" u="none" strike="noStrike" kern="0" cap="none" spc="0" normalizeH="0" baseline="0" noProof="0" dirty="0">
                <a:ln>
                  <a:noFill/>
                </a:ln>
                <a:solidFill>
                  <a:srgbClr val="E8E8E8"/>
                </a:solidFill>
                <a:effectLst/>
                <a:uLnTx/>
                <a:uFillTx/>
                <a:latin typeface="+mj-lt"/>
                <a:ea typeface="+mj-ea"/>
                <a:cs typeface="+mj-cs"/>
              </a:rPr>
              <a:t>SRAM</a:t>
            </a:r>
            <a:r>
              <a:rPr kumimoji="1" lang="zh-CN" altLang="zh-CN" sz="2800" b="1" i="0" u="none" strike="noStrike" kern="0" cap="none" spc="0" normalizeH="0" baseline="0" noProof="0" dirty="0">
                <a:ln>
                  <a:noFill/>
                </a:ln>
                <a:solidFill>
                  <a:srgbClr val="E8E8E8"/>
                </a:solidFill>
                <a:effectLst/>
                <a:uLnTx/>
                <a:uFillTx/>
                <a:latin typeface="+mj-lt"/>
                <a:ea typeface="+mj-ea"/>
                <a:cs typeface="+mj-cs"/>
              </a:rPr>
              <a:t>）</a:t>
            </a:r>
            <a:r>
              <a:rPr kumimoji="1" lang="zh-CN" altLang="en-US" sz="2800" b="1" i="0" u="none" strike="noStrike" kern="0" cap="none" spc="0" normalizeH="0" baseline="0" noProof="0" dirty="0">
                <a:ln>
                  <a:noFill/>
                </a:ln>
                <a:solidFill>
                  <a:srgbClr val="E8E8E8"/>
                </a:solidFill>
                <a:effectLst/>
                <a:uLnTx/>
                <a:uFillTx/>
                <a:latin typeface="+mj-lt"/>
                <a:ea typeface="+mj-ea"/>
                <a:cs typeface="+mj-cs"/>
              </a:rPr>
              <a:t>尊</a:t>
            </a:r>
            <a:br>
              <a:rPr kumimoji="1" lang="zh-CN" altLang="zh-CN" sz="2800" b="1" i="0" u="none" strike="noStrike" kern="0" cap="none" spc="0" normalizeH="0" baseline="0" noProof="0" dirty="0">
                <a:ln>
                  <a:noFill/>
                </a:ln>
                <a:solidFill>
                  <a:srgbClr val="E8E8E8"/>
                </a:solidFill>
                <a:effectLst/>
                <a:uLnTx/>
                <a:uFillTx/>
                <a:latin typeface="+mj-lt"/>
                <a:ea typeface="+mj-ea"/>
                <a:cs typeface="+mj-cs"/>
              </a:rPr>
            </a:br>
            <a:endParaRPr kumimoji="1" lang="zh-CN" altLang="en-US" sz="28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endParaRPr>
          </a:p>
        </p:txBody>
      </p:sp>
      <p:sp>
        <p:nvSpPr>
          <p:cNvPr id="29698" name="内容占位符 2"/>
          <p:cNvSpPr>
            <a:spLocks noGrp="1"/>
          </p:cNvSpPr>
          <p:nvPr>
            <p:ph/>
          </p:nvPr>
        </p:nvSpPr>
        <p:spPr>
          <a:xfrm>
            <a:off x="577850" y="1543050"/>
            <a:ext cx="8197850" cy="4994275"/>
          </a:xfrm>
          <a:prstGeom prst="rect">
            <a:avLst/>
          </a:prstGeom>
          <a:noFill/>
          <a:ln w="9525">
            <a:noFill/>
          </a:ln>
        </p:spPr>
        <p:txBody>
          <a:bodyPr wrap="square" lIns="92075" tIns="46038" rIns="92075" bIns="46038" anchor="t" anchorCtr="0"/>
          <a:lstStyle/>
          <a:p>
            <a:pPr marL="0" indent="0">
              <a:buNone/>
            </a:pPr>
            <a:r>
              <a:rPr lang="en-US" altLang="zh-CN" sz="2400" dirty="0"/>
              <a:t>3）SRAM的应用实例</a:t>
            </a:r>
          </a:p>
          <a:p>
            <a:pPr marL="0" indent="0">
              <a:buNone/>
            </a:pPr>
            <a:r>
              <a:rPr lang="en-US" altLang="zh-CN" sz="2400" dirty="0"/>
              <a:t>【例5.2】用8256存储器芯片构成1MB的存储器。</a:t>
            </a:r>
          </a:p>
        </p:txBody>
      </p:sp>
      <p:pic>
        <p:nvPicPr>
          <p:cNvPr id="29699" name="Picture 57" descr="5"/>
          <p:cNvPicPr>
            <a:picLocks noChangeAspect="1"/>
          </p:cNvPicPr>
          <p:nvPr/>
        </p:nvPicPr>
        <p:blipFill>
          <a:blip r:embed="rId2"/>
          <a:stretch>
            <a:fillRect/>
          </a:stretch>
        </p:blipFill>
        <p:spPr>
          <a:xfrm>
            <a:off x="766763" y="2554288"/>
            <a:ext cx="2303462" cy="4035425"/>
          </a:xfrm>
          <a:prstGeom prst="rect">
            <a:avLst/>
          </a:prstGeom>
          <a:noFill/>
          <a:ln w="9525">
            <a:noFill/>
          </a:ln>
        </p:spPr>
      </p:pic>
      <p:pic>
        <p:nvPicPr>
          <p:cNvPr id="29700" name="Picture 58" descr="5"/>
          <p:cNvPicPr>
            <a:picLocks noChangeAspect="1"/>
          </p:cNvPicPr>
          <p:nvPr/>
        </p:nvPicPr>
        <p:blipFill>
          <a:blip r:embed="rId3"/>
          <a:stretch>
            <a:fillRect/>
          </a:stretch>
        </p:blipFill>
        <p:spPr>
          <a:xfrm>
            <a:off x="3552825" y="2520950"/>
            <a:ext cx="4014788" cy="4044950"/>
          </a:xfrm>
          <a:prstGeom prst="rect">
            <a:avLst/>
          </a:prstGeom>
          <a:noFill/>
          <a:ln w="9525">
            <a:noFill/>
          </a:ln>
        </p:spPr>
      </p:pic>
    </p:spTree>
  </p:cSld>
  <p:clrMapOvr>
    <a:masterClrMapping/>
  </p:clrMapOvr>
  <p:transition spd="med">
    <p:random/>
  </p:transition>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417513" y="546100"/>
            <a:ext cx="8331200" cy="827088"/>
          </a:xfrm>
          <a:prstGeom prst="rect">
            <a:avLst/>
          </a:prstGeom>
          <a:ln w="9525" cap="flat" cmpd="sng" algn="ctr">
            <a:noFill/>
            <a:prstDash val="solid"/>
          </a:ln>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800" b="1" i="0" u="none" strike="noStrike" kern="0" cap="none" spc="0" normalizeH="0" baseline="0" noProof="0" dirty="0">
                <a:ln>
                  <a:noFill/>
                </a:ln>
                <a:solidFill>
                  <a:srgbClr val="E8E8E8"/>
                </a:solidFill>
                <a:effectLst/>
                <a:uLnTx/>
                <a:uFillTx/>
                <a:latin typeface="+mj-lt"/>
                <a:ea typeface="+mj-ea"/>
                <a:cs typeface="+mj-cs"/>
              </a:rPr>
              <a:t>5.2.2  </a:t>
            </a:r>
            <a:r>
              <a:rPr kumimoji="1" lang="zh-CN" altLang="zh-CN" sz="2800" b="1" i="0" u="none" strike="noStrike" kern="0" cap="none" spc="0" normalizeH="0" baseline="0" noProof="0" dirty="0">
                <a:ln>
                  <a:noFill/>
                </a:ln>
                <a:solidFill>
                  <a:srgbClr val="E8E8E8"/>
                </a:solidFill>
                <a:effectLst/>
                <a:uLnTx/>
                <a:uFillTx/>
                <a:latin typeface="+mj-lt"/>
                <a:ea typeface="+mj-ea"/>
                <a:cs typeface="+mj-cs"/>
              </a:rPr>
              <a:t>静态随机存储器（</a:t>
            </a:r>
            <a:r>
              <a:rPr kumimoji="1" lang="en-US" altLang="zh-CN" sz="2800" b="1" i="0" u="none" strike="noStrike" kern="0" cap="none" spc="0" normalizeH="0" baseline="0" noProof="0" dirty="0">
                <a:ln>
                  <a:noFill/>
                </a:ln>
                <a:solidFill>
                  <a:srgbClr val="E8E8E8"/>
                </a:solidFill>
                <a:effectLst/>
                <a:uLnTx/>
                <a:uFillTx/>
                <a:latin typeface="+mj-lt"/>
                <a:ea typeface="+mj-ea"/>
                <a:cs typeface="+mj-cs"/>
              </a:rPr>
              <a:t>SRAM</a:t>
            </a:r>
            <a:r>
              <a:rPr kumimoji="1" lang="zh-CN" altLang="zh-CN" sz="2800" b="1" i="0" u="none" strike="noStrike" kern="0" cap="none" spc="0" normalizeH="0" baseline="0" noProof="0" dirty="0">
                <a:ln>
                  <a:noFill/>
                </a:ln>
                <a:solidFill>
                  <a:srgbClr val="E8E8E8"/>
                </a:solidFill>
                <a:effectLst/>
                <a:uLnTx/>
                <a:uFillTx/>
                <a:latin typeface="+mj-lt"/>
                <a:ea typeface="+mj-ea"/>
                <a:cs typeface="+mj-cs"/>
              </a:rPr>
              <a:t>）</a:t>
            </a:r>
            <a:br>
              <a:rPr kumimoji="1" lang="zh-CN" altLang="zh-CN" sz="2800" b="1" i="0" u="none" strike="noStrike" kern="0" cap="none" spc="0" normalizeH="0" baseline="0" noProof="0" dirty="0">
                <a:ln>
                  <a:noFill/>
                </a:ln>
                <a:solidFill>
                  <a:srgbClr val="E8E8E8"/>
                </a:solidFill>
                <a:effectLst/>
                <a:uLnTx/>
                <a:uFillTx/>
                <a:latin typeface="+mj-lt"/>
                <a:ea typeface="+mj-ea"/>
                <a:cs typeface="+mj-cs"/>
              </a:rPr>
            </a:br>
            <a:endParaRPr kumimoji="1" lang="zh-CN" altLang="en-US" sz="28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endParaRPr>
          </a:p>
        </p:txBody>
      </p:sp>
      <p:sp>
        <p:nvSpPr>
          <p:cNvPr id="30722" name="内容占位符 2"/>
          <p:cNvSpPr>
            <a:spLocks noGrp="1"/>
          </p:cNvSpPr>
          <p:nvPr>
            <p:ph/>
          </p:nvPr>
        </p:nvSpPr>
        <p:spPr>
          <a:xfrm>
            <a:off x="463550" y="1517650"/>
            <a:ext cx="8197850" cy="4995863"/>
          </a:xfrm>
          <a:prstGeom prst="rect">
            <a:avLst/>
          </a:prstGeom>
          <a:noFill/>
          <a:ln w="9525">
            <a:noFill/>
          </a:ln>
        </p:spPr>
        <p:txBody>
          <a:bodyPr wrap="square" lIns="92075" tIns="46038" rIns="92075" bIns="46038" anchor="t" anchorCtr="0"/>
          <a:lstStyle/>
          <a:p>
            <a:pPr marL="0" indent="0" algn="just">
              <a:buNone/>
            </a:pPr>
            <a:r>
              <a:rPr lang="en-US" altLang="zh-CN" sz="2000" dirty="0"/>
              <a:t>分析：8256为256K×8b的SRAM芯片。其外部引线图如图5-13所示。其中，A0～Al7为地址线；D0～D7为数据线；是写信号线（低电平有效）；为读出允许信号（低电平有效）；为选片信号（低电平有效）。所需存储芯片数量为1024KB/256KB=4片，4片8256的地址范围分别为：</a:t>
            </a:r>
          </a:p>
          <a:p>
            <a:pPr marL="0" indent="0" algn="just">
              <a:buNone/>
            </a:pPr>
            <a:r>
              <a:rPr lang="en-US" altLang="zh-CN" sz="2000" dirty="0"/>
              <a:t>   00000H～3FFFFH</a:t>
            </a:r>
          </a:p>
          <a:p>
            <a:pPr marL="0" indent="0" algn="just">
              <a:buNone/>
            </a:pPr>
            <a:r>
              <a:rPr lang="en-US" altLang="zh-CN" sz="2000" dirty="0"/>
              <a:t>   40000H～7FFFFH</a:t>
            </a:r>
          </a:p>
          <a:p>
            <a:pPr marL="0" indent="0" algn="just">
              <a:buNone/>
            </a:pPr>
            <a:r>
              <a:rPr lang="en-US" altLang="zh-CN" sz="2000" dirty="0"/>
              <a:t>   80000H～BFFFFH</a:t>
            </a:r>
          </a:p>
          <a:p>
            <a:pPr marL="0" indent="0" algn="just">
              <a:buNone/>
            </a:pPr>
            <a:r>
              <a:rPr lang="en-US" altLang="zh-CN" sz="2000" dirty="0"/>
              <a:t>   C0000H～FFFFFH</a:t>
            </a:r>
          </a:p>
          <a:p>
            <a:pPr marL="0" indent="0" algn="just">
              <a:buNone/>
            </a:pPr>
            <a:r>
              <a:rPr lang="en-US" altLang="zh-CN" sz="2000" dirty="0"/>
              <a:t>采用74LS138译码器构成译码电路。由于8256芯片有18根地址线，只有两根高位地址信号A19和A18可以用于片选译码，因此将74LS138的输入端C直接接低电平，而使另外两个输入端A和B分别接到A18和A19，这两路高位地址信号的4种不同的组合分别选中4片8256。</a:t>
            </a:r>
          </a:p>
        </p:txBody>
      </p:sp>
    </p:spTree>
  </p:cSld>
  <p:clrMapOvr>
    <a:masterClrMapping/>
  </p:clrMapOvr>
  <p:transition spd="med">
    <p:random/>
  </p:transition>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417513" y="228600"/>
            <a:ext cx="8331200" cy="1143000"/>
          </a:xfrm>
          <a:prstGeom prst="rect">
            <a:avLst/>
          </a:prstGeom>
          <a:ln w="9525" cap="flat" cmpd="sng" algn="ctr">
            <a:noFill/>
            <a:prstDash val="solid"/>
          </a:ln>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800" b="1" i="0" u="none" strike="noStrike" kern="0" cap="none" spc="0" normalizeH="0" baseline="0" noProof="0" dirty="0">
                <a:ln>
                  <a:noFill/>
                </a:ln>
                <a:solidFill>
                  <a:srgbClr val="E8E8E8"/>
                </a:solidFill>
                <a:effectLst/>
                <a:uLnTx/>
                <a:uFillTx/>
                <a:latin typeface="+mj-lt"/>
                <a:ea typeface="+mj-ea"/>
                <a:cs typeface="+mj-cs"/>
              </a:rPr>
              <a:t>5.2.3  </a:t>
            </a:r>
            <a:r>
              <a:rPr kumimoji="1" lang="zh-CN" altLang="zh-CN" sz="2800" b="1" i="0" u="none" strike="noStrike" kern="0" cap="none" spc="0" normalizeH="0" baseline="0" noProof="0" dirty="0">
                <a:ln>
                  <a:noFill/>
                </a:ln>
                <a:solidFill>
                  <a:srgbClr val="E8E8E8"/>
                </a:solidFill>
                <a:effectLst/>
                <a:uLnTx/>
                <a:uFillTx/>
                <a:latin typeface="+mj-lt"/>
                <a:ea typeface="+mj-ea"/>
                <a:cs typeface="+mj-cs"/>
              </a:rPr>
              <a:t>动态随机存储器</a:t>
            </a:r>
            <a:endParaRPr kumimoji="1" lang="zh-CN" altLang="en-US" sz="28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endParaRPr>
          </a:p>
        </p:txBody>
      </p:sp>
      <p:sp>
        <p:nvSpPr>
          <p:cNvPr id="18435" name="内容占位符 2"/>
          <p:cNvSpPr>
            <a:spLocks noGrp="1"/>
          </p:cNvSpPr>
          <p:nvPr>
            <p:ph idx="1"/>
          </p:nvPr>
        </p:nvSpPr>
        <p:spPr>
          <a:xfrm>
            <a:off x="569913" y="1817688"/>
            <a:ext cx="7861300" cy="4579938"/>
          </a:xfrm>
          <a:prstGeom prst="rect">
            <a:avLst/>
          </a:prstGeom>
          <a:ln w="9525" cap="flat" cmpd="sng" algn="ctr">
            <a:noFill/>
            <a:prstDash val="solid"/>
            <a:miter/>
          </a:ln>
        </p:spPr>
        <p:txBody>
          <a:bodyPr vert="horz" wrap="square" lIns="92075" tIns="46038" rIns="92075" bIns="46038" numCol="1" anchor="t" anchorCtr="0" compatLnSpc="1"/>
          <a:lstStyle/>
          <a:p>
            <a:pPr marL="0" marR="0" lvl="0" indent="0" algn="l" defTabSz="914400" rtl="0" eaLnBrk="0" fontAlgn="base" latinLnBrk="0" hangingPunct="0">
              <a:lnSpc>
                <a:spcPct val="100000"/>
              </a:lnSpc>
              <a:spcBef>
                <a:spcPct val="20000"/>
              </a:spcBef>
              <a:spcAft>
                <a:spcPct val="0"/>
              </a:spcAft>
              <a:buClr>
                <a:schemeClr val="accent2"/>
              </a:buClr>
              <a:buSzPct val="70000"/>
              <a:buFont typeface="Wingdings" panose="05000000000000000000" pitchFamily="2" charset="2"/>
              <a:buNone/>
              <a:defRPr/>
            </a:pPr>
            <a:r>
              <a:rPr kumimoji="1" lang="en-US" altLang="zh-CN" sz="2400" b="1" i="0" u="none" strike="noStrike" kern="0" cap="none" spc="0" normalizeH="0" baseline="0" noProof="0" dirty="0">
                <a:ln>
                  <a:noFill/>
                </a:ln>
                <a:solidFill>
                  <a:schemeClr val="tx1"/>
                </a:solidFill>
                <a:effectLst/>
                <a:uLnTx/>
                <a:uFillTx/>
                <a:latin typeface="+mn-lt"/>
                <a:ea typeface="+mn-ea"/>
                <a:cs typeface="+mn-cs"/>
              </a:rPr>
              <a:t>        </a:t>
            </a:r>
            <a:r>
              <a:rPr kumimoji="1" lang="zh-CN" altLang="zh-CN" sz="2400" b="1" i="0" u="none" strike="noStrike" kern="0" cap="none" spc="0" normalizeH="0" baseline="0" noProof="0" dirty="0">
                <a:ln>
                  <a:noFill/>
                </a:ln>
                <a:solidFill>
                  <a:schemeClr val="tx1"/>
                </a:solidFill>
                <a:effectLst/>
                <a:uLnTx/>
                <a:uFillTx/>
                <a:latin typeface="+mn-lt"/>
                <a:ea typeface="+mn-ea"/>
                <a:cs typeface="+mn-cs"/>
              </a:rPr>
              <a:t>动态</a:t>
            </a:r>
            <a:r>
              <a:rPr kumimoji="1" lang="en-US" altLang="zh-CN" sz="2400" b="1" i="0" u="none" strike="noStrike" kern="0" cap="none" spc="0" normalizeH="0" baseline="0" noProof="0" dirty="0">
                <a:ln>
                  <a:noFill/>
                </a:ln>
                <a:solidFill>
                  <a:schemeClr val="tx1"/>
                </a:solidFill>
                <a:effectLst/>
                <a:uLnTx/>
                <a:uFillTx/>
                <a:latin typeface="+mn-lt"/>
                <a:ea typeface="+mn-ea"/>
                <a:cs typeface="+mn-cs"/>
              </a:rPr>
              <a:t>RAM</a:t>
            </a:r>
            <a:r>
              <a:rPr kumimoji="1" lang="zh-CN" altLang="zh-CN" sz="2400" b="1" i="0" u="none" strike="noStrike" kern="0" cap="none" spc="0" normalizeH="0" baseline="0" noProof="0" dirty="0">
                <a:ln>
                  <a:noFill/>
                </a:ln>
                <a:solidFill>
                  <a:schemeClr val="tx1"/>
                </a:solidFill>
                <a:effectLst/>
                <a:uLnTx/>
                <a:uFillTx/>
                <a:latin typeface="+mn-lt"/>
                <a:ea typeface="+mn-ea"/>
                <a:cs typeface="+mn-cs"/>
              </a:rPr>
              <a:t>的基本存储电路主要有六管、四管、三管和单管几种形式，在这里介绍四管和单管动态</a:t>
            </a:r>
            <a:r>
              <a:rPr kumimoji="1" lang="en-US" altLang="zh-CN" sz="2400" b="1" i="0" u="none" strike="noStrike" kern="0" cap="none" spc="0" normalizeH="0" baseline="0" noProof="0" dirty="0">
                <a:ln>
                  <a:noFill/>
                </a:ln>
                <a:solidFill>
                  <a:schemeClr val="tx1"/>
                </a:solidFill>
                <a:effectLst/>
                <a:uLnTx/>
                <a:uFillTx/>
                <a:latin typeface="+mn-lt"/>
                <a:ea typeface="+mn-ea"/>
                <a:cs typeface="+mn-cs"/>
              </a:rPr>
              <a:t>RAM</a:t>
            </a:r>
            <a:r>
              <a:rPr kumimoji="1" lang="zh-CN" altLang="zh-CN" sz="2400" b="1" i="0" u="none" strike="noStrike" kern="0" cap="none" spc="0" normalizeH="0" baseline="0" noProof="0" dirty="0">
                <a:ln>
                  <a:noFill/>
                </a:ln>
                <a:solidFill>
                  <a:schemeClr val="tx1"/>
                </a:solidFill>
                <a:effectLst/>
                <a:uLnTx/>
                <a:uFillTx/>
                <a:latin typeface="+mn-lt"/>
                <a:ea typeface="+mn-ea"/>
                <a:cs typeface="+mn-cs"/>
              </a:rPr>
              <a:t>基本存储电路。</a:t>
            </a:r>
            <a:endParaRPr kumimoji="1" lang="en-US" altLang="zh-CN" sz="2400" b="1"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accent2"/>
              </a:buClr>
              <a:buSzPct val="70000"/>
              <a:buFont typeface="Wingdings" panose="05000000000000000000" pitchFamily="2" charset="2"/>
              <a:buNone/>
              <a:defRPr/>
            </a:pPr>
            <a:r>
              <a:rPr kumimoji="1" lang="en-US" altLang="zh-CN" sz="2400" b="1" i="0" u="none" strike="noStrike" kern="0" cap="none" spc="0" normalizeH="0" baseline="0" noProof="0" dirty="0">
                <a:ln>
                  <a:noFill/>
                </a:ln>
                <a:solidFill>
                  <a:schemeClr val="tx1"/>
                </a:solidFill>
                <a:effectLst/>
                <a:uLnTx/>
                <a:uFillTx/>
                <a:latin typeface="+mn-lt"/>
                <a:ea typeface="+mn-ea"/>
                <a:cs typeface="+mn-cs"/>
              </a:rPr>
              <a:t>1</a:t>
            </a:r>
            <a:r>
              <a:rPr kumimoji="1" lang="zh-CN" altLang="zh-CN" sz="2400" b="1" i="0" u="none" strike="noStrike" kern="0" cap="none" spc="0" normalizeH="0" baseline="0" noProof="0" dirty="0">
                <a:ln>
                  <a:noFill/>
                </a:ln>
                <a:solidFill>
                  <a:schemeClr val="tx1"/>
                </a:solidFill>
                <a:effectLst/>
                <a:uLnTx/>
                <a:uFillTx/>
                <a:latin typeface="+mn-lt"/>
                <a:ea typeface="+mn-ea"/>
                <a:cs typeface="+mn-cs"/>
              </a:rPr>
              <a:t>．四管动态存储元</a:t>
            </a:r>
          </a:p>
          <a:p>
            <a:pPr marL="342900" marR="0" lvl="0" indent="-342900" algn="l" defTabSz="914400" rtl="0" eaLnBrk="0" fontAlgn="base" latinLnBrk="0" hangingPunct="0">
              <a:lnSpc>
                <a:spcPct val="100000"/>
              </a:lnSpc>
              <a:spcBef>
                <a:spcPct val="20000"/>
              </a:spcBef>
              <a:spcAft>
                <a:spcPct val="0"/>
              </a:spcAft>
              <a:buClr>
                <a:schemeClr val="accent2"/>
              </a:buClr>
              <a:buSzPct val="70000"/>
              <a:buFont typeface="Wingdings" panose="05000000000000000000" pitchFamily="2" charset="2"/>
              <a:buChar char="u"/>
              <a:defRPr/>
            </a:pPr>
            <a:r>
              <a:rPr kumimoji="1" lang="zh-CN" altLang="zh-CN" sz="2400" b="1" i="0" u="none" strike="noStrike" kern="0" cap="none" spc="0" normalizeH="0" baseline="0" noProof="0" dirty="0">
                <a:ln>
                  <a:noFill/>
                </a:ln>
                <a:solidFill>
                  <a:schemeClr val="tx1"/>
                </a:solidFill>
                <a:effectLst/>
                <a:uLnTx/>
                <a:uFillTx/>
                <a:latin typeface="+mn-lt"/>
                <a:ea typeface="+mn-ea"/>
                <a:cs typeface="+mn-cs"/>
              </a:rPr>
              <a:t>四管动态存储元电路是将六管静态存储元电路中的负载管</a:t>
            </a:r>
            <a:r>
              <a:rPr kumimoji="1" lang="en-US" altLang="zh-CN" sz="2400" b="1" i="0" u="none" strike="noStrike" kern="0" cap="none" spc="0" normalizeH="0" baseline="0" noProof="0" dirty="0">
                <a:ln>
                  <a:noFill/>
                </a:ln>
                <a:solidFill>
                  <a:schemeClr val="tx1"/>
                </a:solidFill>
                <a:effectLst/>
                <a:uLnTx/>
                <a:uFillTx/>
                <a:latin typeface="+mn-lt"/>
                <a:ea typeface="+mn-ea"/>
                <a:cs typeface="+mn-cs"/>
              </a:rPr>
              <a:t>T</a:t>
            </a:r>
            <a:r>
              <a:rPr kumimoji="1" lang="en-US" altLang="zh-CN" sz="2400" b="1" i="0" u="none" strike="noStrike" kern="0" cap="none" spc="0" normalizeH="0" baseline="-25000" noProof="0" dirty="0">
                <a:ln>
                  <a:noFill/>
                </a:ln>
                <a:solidFill>
                  <a:schemeClr val="tx1"/>
                </a:solidFill>
                <a:effectLst/>
                <a:uLnTx/>
                <a:uFillTx/>
                <a:latin typeface="+mn-lt"/>
                <a:ea typeface="+mn-ea"/>
                <a:cs typeface="+mn-cs"/>
              </a:rPr>
              <a:t>3</a:t>
            </a:r>
            <a:r>
              <a:rPr kumimoji="1" lang="zh-CN" altLang="zh-CN" sz="2400" b="1" i="0" u="none" strike="noStrike" kern="0" cap="none" spc="0" normalizeH="0" baseline="0" noProof="0" dirty="0">
                <a:ln>
                  <a:noFill/>
                </a:ln>
                <a:solidFill>
                  <a:schemeClr val="tx1"/>
                </a:solidFill>
                <a:effectLst/>
                <a:uLnTx/>
                <a:uFillTx/>
                <a:latin typeface="+mn-lt"/>
                <a:ea typeface="+mn-ea"/>
                <a:cs typeface="+mn-cs"/>
              </a:rPr>
              <a:t>、</a:t>
            </a:r>
            <a:r>
              <a:rPr kumimoji="1" lang="en-US" altLang="zh-CN" sz="2400" b="1" i="0" u="none" strike="noStrike" kern="0" cap="none" spc="0" normalizeH="0" baseline="0" noProof="0" dirty="0">
                <a:ln>
                  <a:noFill/>
                </a:ln>
                <a:solidFill>
                  <a:schemeClr val="tx1"/>
                </a:solidFill>
                <a:effectLst/>
                <a:uLnTx/>
                <a:uFillTx/>
                <a:latin typeface="+mn-lt"/>
                <a:ea typeface="+mn-ea"/>
                <a:cs typeface="+mn-cs"/>
              </a:rPr>
              <a:t>T</a:t>
            </a:r>
            <a:r>
              <a:rPr kumimoji="1" lang="en-US" altLang="zh-CN" sz="2400" b="1" i="0" u="none" strike="noStrike" kern="0" cap="none" spc="0" normalizeH="0" baseline="-25000" noProof="0" dirty="0">
                <a:ln>
                  <a:noFill/>
                </a:ln>
                <a:solidFill>
                  <a:schemeClr val="tx1"/>
                </a:solidFill>
                <a:effectLst/>
                <a:uLnTx/>
                <a:uFillTx/>
                <a:latin typeface="+mn-lt"/>
                <a:ea typeface="+mn-ea"/>
                <a:cs typeface="+mn-cs"/>
              </a:rPr>
              <a:t>4</a:t>
            </a:r>
            <a:r>
              <a:rPr kumimoji="1" lang="zh-CN" altLang="zh-CN" sz="2400" b="1" i="0" u="none" strike="noStrike" kern="0" cap="none" spc="0" normalizeH="0" baseline="0" noProof="0" dirty="0">
                <a:ln>
                  <a:noFill/>
                </a:ln>
                <a:solidFill>
                  <a:schemeClr val="tx1"/>
                </a:solidFill>
                <a:effectLst/>
                <a:uLnTx/>
                <a:uFillTx/>
                <a:latin typeface="+mn-lt"/>
                <a:ea typeface="+mn-ea"/>
                <a:cs typeface="+mn-cs"/>
              </a:rPr>
              <a:t>去掉而成的。</a:t>
            </a:r>
            <a:endParaRPr kumimoji="1" lang="zh-CN" altLang="en-US" sz="2400" b="1" i="0" u="none" strike="noStrike" kern="0" cap="none" spc="0" normalizeH="0" baseline="0" noProof="0" dirty="0">
              <a:ln>
                <a:noFill/>
              </a:ln>
              <a:solidFill>
                <a:schemeClr val="tx1"/>
              </a:solidFill>
              <a:effectLst/>
              <a:uLnTx/>
              <a:uFillTx/>
              <a:latin typeface="+mn-lt"/>
              <a:ea typeface="+mn-ea"/>
              <a:cs typeface="+mn-cs"/>
            </a:endParaRPr>
          </a:p>
        </p:txBody>
      </p:sp>
    </p:spTree>
  </p:cSld>
  <p:clrMapOvr>
    <a:masterClrMapping/>
  </p:clrMapOvr>
  <p:transition spd="med">
    <p:random/>
  </p:transition>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2769" name="Rectangle 5"/>
          <p:cNvSpPr/>
          <p:nvPr/>
        </p:nvSpPr>
        <p:spPr>
          <a:xfrm>
            <a:off x="0" y="0"/>
            <a:ext cx="9144000" cy="0"/>
          </a:xfrm>
          <a:prstGeom prst="rect">
            <a:avLst/>
          </a:prstGeom>
          <a:noFill/>
          <a:ln w="9525">
            <a:noFill/>
          </a:ln>
        </p:spPr>
        <p:txBody>
          <a:bodyPr wrap="none" lIns="92075" tIns="46038" rIns="92075" bIns="46038" anchor="ctr" anchorCtr="0">
            <a:spAutoFit/>
          </a:bodyPr>
          <a:lstStyle/>
          <a:p>
            <a:endParaRPr lang="zh-CN" altLang="en-US" b="0" dirty="0">
              <a:latin typeface="宋体" panose="02010600030101010101" pitchFamily="2" charset="-122"/>
              <a:ea typeface="宋体" panose="02010600030101010101" pitchFamily="2" charset="-122"/>
            </a:endParaRPr>
          </a:p>
        </p:txBody>
      </p:sp>
      <p:graphicFrame>
        <p:nvGraphicFramePr>
          <p:cNvPr id="32770" name="对象 3"/>
          <p:cNvGraphicFramePr>
            <a:graphicFrameLocks noChangeAspect="1"/>
          </p:cNvGraphicFramePr>
          <p:nvPr/>
        </p:nvGraphicFramePr>
        <p:xfrm>
          <a:off x="1998663" y="587375"/>
          <a:ext cx="5146675" cy="5283200"/>
        </p:xfrm>
        <a:graphic>
          <a:graphicData uri="http://schemas.openxmlformats.org/presentationml/2006/ole">
            <mc:AlternateContent xmlns:mc="http://schemas.openxmlformats.org/markup-compatibility/2006">
              <mc:Choice xmlns:v="urn:schemas-microsoft-com:vml" Requires="v">
                <p:oleObj spid="_x0000_s6154" r:id="rId3" imgW="5270500" imgH="5422900" progId="Visio.Drawing.11">
                  <p:embed/>
                </p:oleObj>
              </mc:Choice>
              <mc:Fallback>
                <p:oleObj r:id="rId3" imgW="5270500" imgH="5422900" progId="Visio.Drawing.11">
                  <p:embed/>
                  <p:pic>
                    <p:nvPicPr>
                      <p:cNvPr id="0" name="图片 3080"/>
                      <p:cNvPicPr/>
                      <p:nvPr/>
                    </p:nvPicPr>
                    <p:blipFill>
                      <a:blip r:embed="rId4"/>
                      <a:stretch>
                        <a:fillRect/>
                      </a:stretch>
                    </p:blipFill>
                    <p:spPr>
                      <a:xfrm>
                        <a:off x="1998663" y="587375"/>
                        <a:ext cx="5146675" cy="5283200"/>
                      </a:xfrm>
                      <a:prstGeom prst="rect">
                        <a:avLst/>
                      </a:prstGeom>
                      <a:solidFill>
                        <a:schemeClr val="tx1"/>
                      </a:solidFill>
                      <a:ln w="38100">
                        <a:noFill/>
                        <a:miter/>
                      </a:ln>
                    </p:spPr>
                  </p:pic>
                </p:oleObj>
              </mc:Fallback>
            </mc:AlternateContent>
          </a:graphicData>
        </a:graphic>
      </p:graphicFrame>
      <p:sp>
        <p:nvSpPr>
          <p:cNvPr id="32771" name="矩形 4"/>
          <p:cNvSpPr/>
          <p:nvPr/>
        </p:nvSpPr>
        <p:spPr>
          <a:xfrm>
            <a:off x="2425700" y="6038850"/>
            <a:ext cx="4144963" cy="425450"/>
          </a:xfrm>
          <a:prstGeom prst="rect">
            <a:avLst/>
          </a:prstGeom>
          <a:noFill/>
          <a:ln w="9525">
            <a:noFill/>
          </a:ln>
        </p:spPr>
        <p:txBody>
          <a:bodyPr wrap="none" anchor="t" anchorCtr="0">
            <a:spAutoFit/>
          </a:bodyPr>
          <a:lstStyle/>
          <a:p>
            <a:r>
              <a:rPr lang="zh-CN" altLang="zh-CN" b="0" dirty="0">
                <a:latin typeface="宋体" panose="02010600030101010101" pitchFamily="2" charset="-122"/>
                <a:ea typeface="宋体" panose="02010600030101010101" pitchFamily="2" charset="-122"/>
              </a:rPr>
              <a:t>图</a:t>
            </a:r>
            <a:r>
              <a:rPr lang="en-US" altLang="zh-CN" b="0" dirty="0">
                <a:latin typeface="宋体" panose="02010600030101010101" pitchFamily="2" charset="-122"/>
                <a:ea typeface="宋体" panose="02010600030101010101" pitchFamily="2" charset="-122"/>
              </a:rPr>
              <a:t>5-15  </a:t>
            </a:r>
            <a:r>
              <a:rPr lang="zh-CN" altLang="zh-CN" b="0" dirty="0">
                <a:latin typeface="宋体" panose="02010600030101010101" pitchFamily="2" charset="-122"/>
                <a:ea typeface="宋体" panose="02010600030101010101" pitchFamily="2" charset="-122"/>
              </a:rPr>
              <a:t>单管动态存储元电路</a:t>
            </a:r>
          </a:p>
        </p:txBody>
      </p:sp>
    </p:spTree>
  </p:cSld>
  <p:clrMapOvr>
    <a:masterClrMapping/>
  </p:clrMapOvr>
  <p:transition spd="med">
    <p:random/>
  </p:transition>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483" name="内容占位符 2"/>
          <p:cNvSpPr>
            <a:spLocks noGrp="1"/>
          </p:cNvSpPr>
          <p:nvPr>
            <p:ph idx="1"/>
          </p:nvPr>
        </p:nvSpPr>
        <p:spPr>
          <a:xfrm>
            <a:off x="577850" y="1387475"/>
            <a:ext cx="4464050" cy="4814888"/>
          </a:xfrm>
          <a:prstGeom prst="rect">
            <a:avLst/>
          </a:prstGeom>
          <a:ln w="9525" cap="flat" cmpd="sng" algn="ctr">
            <a:noFill/>
            <a:prstDash val="solid"/>
            <a:miter/>
          </a:ln>
        </p:spPr>
        <p:txBody>
          <a:bodyPr vert="horz" wrap="square" lIns="92075" tIns="46038" rIns="92075" bIns="46038" numCol="1" anchor="t" anchorCtr="0" compatLnSpc="1"/>
          <a:lstStyle/>
          <a:p>
            <a:pPr marL="0" marR="0" lvl="0" indent="0" algn="just" defTabSz="914400" rtl="0" eaLnBrk="0" fontAlgn="base" latinLnBrk="0" hangingPunct="0">
              <a:lnSpc>
                <a:spcPct val="100000"/>
              </a:lnSpc>
              <a:spcBef>
                <a:spcPct val="20000"/>
              </a:spcBef>
              <a:spcAft>
                <a:spcPct val="0"/>
              </a:spcAft>
              <a:buClr>
                <a:schemeClr val="accent2"/>
              </a:buClr>
              <a:buSzPct val="70000"/>
              <a:buFont typeface="Wingdings" panose="05000000000000000000" pitchFamily="2" charset="2"/>
              <a:buNone/>
              <a:defRPr/>
            </a:pPr>
            <a:r>
              <a:rPr kumimoji="1" lang="en-US" altLang="zh-CN" sz="2400" b="1" i="0" u="none" strike="noStrike" kern="0" cap="none" spc="0" normalizeH="0" baseline="0" noProof="0" dirty="0">
                <a:ln>
                  <a:noFill/>
                </a:ln>
                <a:solidFill>
                  <a:schemeClr val="tx1"/>
                </a:solidFill>
                <a:effectLst/>
                <a:uLnTx/>
                <a:uFillTx/>
                <a:latin typeface="+mn-lt"/>
                <a:ea typeface="+mn-ea"/>
                <a:cs typeface="+mn-cs"/>
              </a:rPr>
              <a:t>2</a:t>
            </a:r>
            <a:r>
              <a:rPr kumimoji="1" lang="zh-CN" altLang="zh-CN" sz="2400" b="1" i="0" u="none" strike="noStrike" kern="0" cap="none" spc="0" normalizeH="0" baseline="0" noProof="0" dirty="0">
                <a:ln>
                  <a:noFill/>
                </a:ln>
                <a:solidFill>
                  <a:schemeClr val="tx1"/>
                </a:solidFill>
                <a:effectLst/>
                <a:uLnTx/>
                <a:uFillTx/>
                <a:latin typeface="+mn-lt"/>
                <a:ea typeface="+mn-ea"/>
                <a:cs typeface="+mn-cs"/>
              </a:rPr>
              <a:t>．单管动态存储元</a:t>
            </a:r>
          </a:p>
          <a:p>
            <a:pPr marL="342900" marR="0" lvl="0" indent="-342900" algn="just" defTabSz="914400" rtl="0" eaLnBrk="0" fontAlgn="base" latinLnBrk="0" hangingPunct="0">
              <a:lnSpc>
                <a:spcPct val="100000"/>
              </a:lnSpc>
              <a:spcBef>
                <a:spcPct val="20000"/>
              </a:spcBef>
              <a:spcAft>
                <a:spcPct val="0"/>
              </a:spcAft>
              <a:buClr>
                <a:schemeClr val="accent2"/>
              </a:buClr>
              <a:buSzPct val="70000"/>
              <a:buFont typeface="Wingdings" panose="05000000000000000000" pitchFamily="2" charset="2"/>
              <a:buChar char="u"/>
              <a:defRPr/>
            </a:pPr>
            <a:r>
              <a:rPr kumimoji="1" lang="zh-CN" altLang="zh-CN" sz="2400" b="1" i="0" u="none" strike="noStrike" kern="0" cap="none" spc="0" normalizeH="0" baseline="0" noProof="0" dirty="0">
                <a:ln>
                  <a:noFill/>
                </a:ln>
                <a:solidFill>
                  <a:schemeClr val="tx1"/>
                </a:solidFill>
                <a:effectLst/>
                <a:uLnTx/>
                <a:uFillTx/>
                <a:latin typeface="+mn-lt"/>
                <a:ea typeface="+mn-ea"/>
                <a:cs typeface="+mn-cs"/>
              </a:rPr>
              <a:t>单管动态基本存储元电路只有一个电容和一个</a:t>
            </a:r>
            <a:r>
              <a:rPr kumimoji="1" lang="en-US" altLang="zh-CN" sz="2400" b="1" i="0" u="none" strike="noStrike" kern="0" cap="none" spc="0" normalizeH="0" baseline="0" noProof="0" dirty="0">
                <a:ln>
                  <a:noFill/>
                </a:ln>
                <a:solidFill>
                  <a:schemeClr val="tx1"/>
                </a:solidFill>
                <a:effectLst/>
                <a:uLnTx/>
                <a:uFillTx/>
                <a:latin typeface="+mn-lt"/>
                <a:ea typeface="+mn-ea"/>
                <a:cs typeface="+mn-cs"/>
              </a:rPr>
              <a:t>MOS</a:t>
            </a:r>
            <a:r>
              <a:rPr kumimoji="1" lang="zh-CN" altLang="zh-CN" sz="2400" b="1" i="0" u="none" strike="noStrike" kern="0" cap="none" spc="0" normalizeH="0" baseline="0" noProof="0" dirty="0">
                <a:ln>
                  <a:noFill/>
                </a:ln>
                <a:solidFill>
                  <a:schemeClr val="tx1"/>
                </a:solidFill>
                <a:effectLst/>
                <a:uLnTx/>
                <a:uFillTx/>
                <a:latin typeface="+mn-lt"/>
                <a:ea typeface="+mn-ea"/>
                <a:cs typeface="+mn-cs"/>
              </a:rPr>
              <a:t>管，是最简单的存储元结构，如图</a:t>
            </a:r>
            <a:r>
              <a:rPr kumimoji="1" lang="en-US" altLang="zh-CN" sz="2400" b="1" i="0" u="none" strike="noStrike" kern="0" cap="none" spc="0" normalizeH="0" baseline="0" noProof="0" dirty="0">
                <a:ln>
                  <a:noFill/>
                </a:ln>
                <a:solidFill>
                  <a:schemeClr val="tx1"/>
                </a:solidFill>
                <a:effectLst/>
                <a:uLnTx/>
                <a:uFillTx/>
                <a:latin typeface="+mn-lt"/>
                <a:ea typeface="+mn-ea"/>
                <a:cs typeface="+mn-cs"/>
              </a:rPr>
              <a:t>5-16</a:t>
            </a:r>
            <a:r>
              <a:rPr kumimoji="1" lang="zh-CN" altLang="zh-CN" sz="2400" b="1" i="0" u="none" strike="noStrike" kern="0" cap="none" spc="0" normalizeH="0" baseline="0" noProof="0" dirty="0">
                <a:ln>
                  <a:noFill/>
                </a:ln>
                <a:solidFill>
                  <a:schemeClr val="tx1"/>
                </a:solidFill>
                <a:effectLst/>
                <a:uLnTx/>
                <a:uFillTx/>
                <a:latin typeface="+mn-lt"/>
                <a:ea typeface="+mn-ea"/>
                <a:cs typeface="+mn-cs"/>
              </a:rPr>
              <a:t>所示。</a:t>
            </a:r>
          </a:p>
          <a:p>
            <a:pPr marL="342900" marR="0" lvl="0" indent="-342900" algn="just" defTabSz="914400" rtl="0" eaLnBrk="0" fontAlgn="base" latinLnBrk="0" hangingPunct="0">
              <a:lnSpc>
                <a:spcPct val="100000"/>
              </a:lnSpc>
              <a:spcBef>
                <a:spcPct val="20000"/>
              </a:spcBef>
              <a:spcAft>
                <a:spcPct val="0"/>
              </a:spcAft>
              <a:buClr>
                <a:schemeClr val="accent2"/>
              </a:buClr>
              <a:buSzPct val="70000"/>
              <a:buFont typeface="Wingdings" panose="05000000000000000000" pitchFamily="2" charset="2"/>
              <a:buChar char="u"/>
              <a:defRPr/>
            </a:pPr>
            <a:endParaRPr kumimoji="1" lang="zh-CN" altLang="en-US" sz="2400" b="1" i="0" u="none" strike="noStrike" kern="0" cap="none" spc="0" normalizeH="0" baseline="0" noProof="0" dirty="0">
              <a:ln>
                <a:noFill/>
              </a:ln>
              <a:solidFill>
                <a:schemeClr val="tx1"/>
              </a:solidFill>
              <a:effectLst/>
              <a:uLnTx/>
              <a:uFillTx/>
              <a:latin typeface="+mn-lt"/>
              <a:ea typeface="+mn-ea"/>
              <a:cs typeface="+mn-cs"/>
            </a:endParaRPr>
          </a:p>
        </p:txBody>
      </p:sp>
      <p:pic>
        <p:nvPicPr>
          <p:cNvPr id="33794" name="Picture 4" descr="5"/>
          <p:cNvPicPr>
            <a:picLocks noChangeAspect="1"/>
          </p:cNvPicPr>
          <p:nvPr/>
        </p:nvPicPr>
        <p:blipFill>
          <a:blip r:embed="rId2"/>
          <a:stretch>
            <a:fillRect/>
          </a:stretch>
        </p:blipFill>
        <p:spPr>
          <a:xfrm>
            <a:off x="5173663" y="1878013"/>
            <a:ext cx="3479800" cy="3451225"/>
          </a:xfrm>
          <a:prstGeom prst="rect">
            <a:avLst/>
          </a:prstGeom>
          <a:noFill/>
          <a:ln w="9525">
            <a:noFill/>
          </a:ln>
        </p:spPr>
      </p:pic>
      <p:sp>
        <p:nvSpPr>
          <p:cNvPr id="33795" name="矩形 2"/>
          <p:cNvSpPr/>
          <p:nvPr/>
        </p:nvSpPr>
        <p:spPr>
          <a:xfrm>
            <a:off x="4881563" y="5775325"/>
            <a:ext cx="4144962" cy="425450"/>
          </a:xfrm>
          <a:prstGeom prst="rect">
            <a:avLst/>
          </a:prstGeom>
          <a:noFill/>
          <a:ln w="9525">
            <a:noFill/>
          </a:ln>
        </p:spPr>
        <p:txBody>
          <a:bodyPr wrap="none" anchor="t" anchorCtr="0">
            <a:spAutoFit/>
          </a:bodyPr>
          <a:lstStyle/>
          <a:p>
            <a:r>
              <a:rPr lang="zh-CN" altLang="zh-CN" b="0" dirty="0">
                <a:latin typeface="宋体" panose="02010600030101010101" pitchFamily="2" charset="-122"/>
                <a:ea typeface="宋体" panose="02010600030101010101" pitchFamily="2" charset="-122"/>
              </a:rPr>
              <a:t>图</a:t>
            </a:r>
            <a:r>
              <a:rPr lang="en-US" altLang="zh-CN" b="0" dirty="0">
                <a:latin typeface="宋体" panose="02010600030101010101" pitchFamily="2" charset="-122"/>
                <a:ea typeface="宋体" panose="02010600030101010101" pitchFamily="2" charset="-122"/>
              </a:rPr>
              <a:t>5-16  </a:t>
            </a:r>
            <a:r>
              <a:rPr lang="zh-CN" altLang="zh-CN" b="0" dirty="0">
                <a:latin typeface="宋体" panose="02010600030101010101" pitchFamily="2" charset="-122"/>
                <a:ea typeface="宋体" panose="02010600030101010101" pitchFamily="2" charset="-122"/>
              </a:rPr>
              <a:t>单管动态存储元电路</a:t>
            </a:r>
          </a:p>
        </p:txBody>
      </p:sp>
    </p:spTree>
  </p:cSld>
  <p:clrMapOvr>
    <a:masterClrMapping/>
  </p:clrMapOvr>
  <p:transition spd="med">
    <p:random/>
  </p:transition>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1507" name="内容占位符 2"/>
          <p:cNvSpPr>
            <a:spLocks noGrp="1"/>
          </p:cNvSpPr>
          <p:nvPr>
            <p:ph idx="1"/>
          </p:nvPr>
        </p:nvSpPr>
        <p:spPr>
          <a:xfrm>
            <a:off x="577850" y="1387475"/>
            <a:ext cx="8197850" cy="4814888"/>
          </a:xfrm>
          <a:prstGeom prst="rect">
            <a:avLst/>
          </a:prstGeom>
          <a:ln w="9525" cap="flat" cmpd="sng" algn="ctr">
            <a:noFill/>
            <a:prstDash val="solid"/>
            <a:miter/>
          </a:ln>
        </p:spPr>
        <p:txBody>
          <a:bodyPr vert="horz" wrap="square" lIns="92075" tIns="46038" rIns="92075" bIns="46038" numCol="1" anchor="t" anchorCtr="0" compatLnSpc="1"/>
          <a:lstStyle/>
          <a:p>
            <a:pPr marL="0" marR="0" lvl="0" indent="0" algn="l" defTabSz="914400" rtl="0" eaLnBrk="0" fontAlgn="base" latinLnBrk="0" hangingPunct="0">
              <a:lnSpc>
                <a:spcPct val="100000"/>
              </a:lnSpc>
              <a:spcBef>
                <a:spcPct val="20000"/>
              </a:spcBef>
              <a:spcAft>
                <a:spcPct val="0"/>
              </a:spcAft>
              <a:buClr>
                <a:schemeClr val="accent2"/>
              </a:buClr>
              <a:buSzPct val="70000"/>
              <a:buFont typeface="Wingdings" panose="05000000000000000000" pitchFamily="2" charset="2"/>
              <a:buNone/>
              <a:defRPr/>
            </a:pPr>
            <a:r>
              <a:rPr kumimoji="1" lang="en-US" altLang="zh-CN" sz="2400" b="1" i="0" u="none" strike="noStrike" kern="0" cap="none" spc="0" normalizeH="0" baseline="0" noProof="0" dirty="0">
                <a:ln>
                  <a:noFill/>
                </a:ln>
                <a:solidFill>
                  <a:schemeClr val="tx1"/>
                </a:solidFill>
                <a:effectLst/>
                <a:uLnTx/>
                <a:uFillTx/>
                <a:latin typeface="+mn-lt"/>
                <a:ea typeface="+mn-ea"/>
                <a:cs typeface="+mn-cs"/>
              </a:rPr>
              <a:t>3</a:t>
            </a:r>
            <a:r>
              <a:rPr kumimoji="1" lang="zh-CN" altLang="zh-CN" sz="2400" b="1" i="0" u="none" strike="noStrike" kern="0" cap="none" spc="0" normalizeH="0" baseline="0" noProof="0" dirty="0">
                <a:ln>
                  <a:noFill/>
                </a:ln>
                <a:solidFill>
                  <a:schemeClr val="tx1"/>
                </a:solidFill>
                <a:effectLst/>
                <a:uLnTx/>
                <a:uFillTx/>
                <a:latin typeface="+mn-lt"/>
                <a:ea typeface="+mn-ea"/>
                <a:cs typeface="+mn-cs"/>
              </a:rPr>
              <a:t>．动态</a:t>
            </a:r>
            <a:r>
              <a:rPr kumimoji="1" lang="en-US" altLang="zh-CN" sz="2400" b="1" i="0" u="none" strike="noStrike" kern="0" cap="none" spc="0" normalizeH="0" baseline="0" noProof="0" dirty="0">
                <a:ln>
                  <a:noFill/>
                </a:ln>
                <a:solidFill>
                  <a:schemeClr val="tx1"/>
                </a:solidFill>
                <a:effectLst/>
                <a:uLnTx/>
                <a:uFillTx/>
                <a:latin typeface="+mn-lt"/>
                <a:ea typeface="+mn-ea"/>
                <a:cs typeface="+mn-cs"/>
              </a:rPr>
              <a:t>RAM</a:t>
            </a:r>
            <a:r>
              <a:rPr kumimoji="1" lang="zh-CN" altLang="zh-CN" sz="2400" b="1" i="0" u="none" strike="noStrike" kern="0" cap="none" spc="0" normalizeH="0" baseline="0" noProof="0" dirty="0">
                <a:ln>
                  <a:noFill/>
                </a:ln>
                <a:solidFill>
                  <a:schemeClr val="tx1"/>
                </a:solidFill>
                <a:effectLst/>
                <a:uLnTx/>
                <a:uFillTx/>
                <a:latin typeface="+mn-lt"/>
                <a:ea typeface="+mn-ea"/>
                <a:cs typeface="+mn-cs"/>
              </a:rPr>
              <a:t>的刷新</a:t>
            </a:r>
            <a:endParaRPr kumimoji="1" lang="en-US" altLang="zh-CN" sz="2400" b="1"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
                <a:schemeClr val="accent2"/>
              </a:buClr>
              <a:buSzPct val="70000"/>
              <a:buFont typeface="Wingdings" panose="05000000000000000000" pitchFamily="2" charset="2"/>
              <a:buChar char="u"/>
              <a:defRPr/>
            </a:pPr>
            <a:r>
              <a:rPr kumimoji="1" lang="zh-CN" altLang="zh-CN" sz="2400" b="1" i="0" u="none" strike="noStrike" kern="0" cap="none" spc="0" normalizeH="0" baseline="0" noProof="0" dirty="0">
                <a:ln>
                  <a:noFill/>
                </a:ln>
                <a:solidFill>
                  <a:schemeClr val="tx1"/>
                </a:solidFill>
                <a:effectLst/>
                <a:uLnTx/>
                <a:uFillTx/>
                <a:latin typeface="+mn-lt"/>
                <a:ea typeface="+mn-ea"/>
                <a:cs typeface="+mn-cs"/>
              </a:rPr>
              <a:t>动态</a:t>
            </a:r>
            <a:r>
              <a:rPr kumimoji="1" lang="en-US" altLang="zh-CN" sz="2400" b="1" i="0" u="none" strike="noStrike" kern="0" cap="none" spc="0" normalizeH="0" baseline="0" noProof="0" dirty="0">
                <a:ln>
                  <a:noFill/>
                </a:ln>
                <a:solidFill>
                  <a:schemeClr val="tx1"/>
                </a:solidFill>
                <a:effectLst/>
                <a:uLnTx/>
                <a:uFillTx/>
                <a:latin typeface="+mn-lt"/>
                <a:ea typeface="+mn-ea"/>
                <a:cs typeface="+mn-cs"/>
              </a:rPr>
              <a:t>RAM</a:t>
            </a:r>
            <a:r>
              <a:rPr kumimoji="1" lang="zh-CN" altLang="zh-CN" sz="2400" b="1" i="0" u="none" strike="noStrike" kern="0" cap="none" spc="0" normalizeH="0" baseline="0" noProof="0" dirty="0">
                <a:ln>
                  <a:noFill/>
                </a:ln>
                <a:solidFill>
                  <a:schemeClr val="tx1"/>
                </a:solidFill>
                <a:effectLst/>
                <a:uLnTx/>
                <a:uFillTx/>
                <a:latin typeface="+mn-lt"/>
                <a:ea typeface="+mn-ea"/>
                <a:cs typeface="+mn-cs"/>
              </a:rPr>
              <a:t>是利用电容</a:t>
            </a:r>
            <a:r>
              <a:rPr kumimoji="1" lang="en-US" altLang="zh-CN" sz="2400" b="1" i="0" u="none" strike="noStrike" kern="0" cap="none" spc="0" normalizeH="0" baseline="0" noProof="0" dirty="0">
                <a:ln>
                  <a:noFill/>
                </a:ln>
                <a:solidFill>
                  <a:schemeClr val="tx1"/>
                </a:solidFill>
                <a:effectLst/>
                <a:uLnTx/>
                <a:uFillTx/>
                <a:latin typeface="+mn-lt"/>
                <a:ea typeface="+mn-ea"/>
                <a:cs typeface="+mn-cs"/>
              </a:rPr>
              <a:t>C</a:t>
            </a:r>
            <a:r>
              <a:rPr kumimoji="1" lang="zh-CN" altLang="zh-CN" sz="2400" b="1" i="0" u="none" strike="noStrike" kern="0" cap="none" spc="0" normalizeH="0" baseline="0" noProof="0" dirty="0">
                <a:ln>
                  <a:noFill/>
                </a:ln>
                <a:solidFill>
                  <a:schemeClr val="tx1"/>
                </a:solidFill>
                <a:effectLst/>
                <a:uLnTx/>
                <a:uFillTx/>
                <a:latin typeface="+mn-lt"/>
                <a:ea typeface="+mn-ea"/>
                <a:cs typeface="+mn-cs"/>
              </a:rPr>
              <a:t>上充积的电荷来存储信息的。当电容</a:t>
            </a:r>
            <a:r>
              <a:rPr kumimoji="1" lang="en-US" altLang="zh-CN" sz="2400" b="1" i="0" u="none" strike="noStrike" kern="0" cap="none" spc="0" normalizeH="0" baseline="0" noProof="0" dirty="0">
                <a:ln>
                  <a:noFill/>
                </a:ln>
                <a:solidFill>
                  <a:schemeClr val="tx1"/>
                </a:solidFill>
                <a:effectLst/>
                <a:uLnTx/>
                <a:uFillTx/>
                <a:latin typeface="+mn-lt"/>
                <a:ea typeface="+mn-ea"/>
                <a:cs typeface="+mn-cs"/>
              </a:rPr>
              <a:t>C</a:t>
            </a:r>
            <a:r>
              <a:rPr kumimoji="1" lang="zh-CN" altLang="zh-CN" sz="2400" b="1" i="0" u="none" strike="noStrike" kern="0" cap="none" spc="0" normalizeH="0" baseline="0" noProof="0" dirty="0">
                <a:ln>
                  <a:noFill/>
                </a:ln>
                <a:solidFill>
                  <a:schemeClr val="tx1"/>
                </a:solidFill>
                <a:effectLst/>
                <a:uLnTx/>
                <a:uFillTx/>
                <a:latin typeface="+mn-lt"/>
                <a:ea typeface="+mn-ea"/>
                <a:cs typeface="+mn-cs"/>
              </a:rPr>
              <a:t>有电荷时，为逻辑“</a:t>
            </a:r>
            <a:r>
              <a:rPr kumimoji="1" lang="en-US" altLang="zh-CN" sz="2400" b="1" i="0" u="none" strike="noStrike" kern="0" cap="none" spc="0" normalizeH="0" baseline="0" noProof="0" dirty="0">
                <a:ln>
                  <a:noFill/>
                </a:ln>
                <a:solidFill>
                  <a:schemeClr val="tx1"/>
                </a:solidFill>
                <a:effectLst/>
                <a:uLnTx/>
                <a:uFillTx/>
                <a:latin typeface="+mn-lt"/>
                <a:ea typeface="+mn-ea"/>
                <a:cs typeface="+mn-cs"/>
              </a:rPr>
              <a:t>1</a:t>
            </a:r>
            <a:r>
              <a:rPr kumimoji="1" lang="zh-CN" altLang="zh-CN" sz="2400" b="1" i="0" u="none" strike="noStrike" kern="0" cap="none" spc="0" normalizeH="0" baseline="0" noProof="0" dirty="0">
                <a:ln>
                  <a:noFill/>
                </a:ln>
                <a:solidFill>
                  <a:schemeClr val="tx1"/>
                </a:solidFill>
                <a:effectLst/>
                <a:uLnTx/>
                <a:uFillTx/>
                <a:latin typeface="+mn-lt"/>
                <a:ea typeface="+mn-ea"/>
                <a:cs typeface="+mn-cs"/>
              </a:rPr>
              <a:t>”，没有电荷时，为逻辑“</a:t>
            </a:r>
            <a:r>
              <a:rPr kumimoji="1" lang="en-US" altLang="zh-CN" sz="2400" b="1" i="0" u="none" strike="noStrike" kern="0" cap="none" spc="0" normalizeH="0" baseline="0" noProof="0" dirty="0">
                <a:ln>
                  <a:noFill/>
                </a:ln>
                <a:solidFill>
                  <a:schemeClr val="tx1"/>
                </a:solidFill>
                <a:effectLst/>
                <a:uLnTx/>
                <a:uFillTx/>
                <a:latin typeface="+mn-lt"/>
                <a:ea typeface="+mn-ea"/>
                <a:cs typeface="+mn-cs"/>
              </a:rPr>
              <a:t>0</a:t>
            </a:r>
            <a:r>
              <a:rPr kumimoji="1" lang="zh-CN" altLang="zh-CN" sz="2400" b="1" i="0" u="none" strike="noStrike" kern="0" cap="none" spc="0" normalizeH="0" baseline="0" noProof="0" dirty="0">
                <a:ln>
                  <a:noFill/>
                </a:ln>
                <a:solidFill>
                  <a:schemeClr val="tx1"/>
                </a:solidFill>
                <a:effectLst/>
                <a:uLnTx/>
                <a:uFillTx/>
                <a:latin typeface="+mn-lt"/>
                <a:ea typeface="+mn-ea"/>
                <a:cs typeface="+mn-cs"/>
              </a:rPr>
              <a:t>”。但由于任何电容都存在漏电，因此当电容</a:t>
            </a:r>
            <a:r>
              <a:rPr kumimoji="1" lang="en-US" altLang="zh-CN" sz="2400" b="1" i="0" u="none" strike="noStrike" kern="0" cap="none" spc="0" normalizeH="0" baseline="0" noProof="0" dirty="0">
                <a:ln>
                  <a:noFill/>
                </a:ln>
                <a:solidFill>
                  <a:schemeClr val="tx1"/>
                </a:solidFill>
                <a:effectLst/>
                <a:uLnTx/>
                <a:uFillTx/>
                <a:latin typeface="+mn-lt"/>
                <a:ea typeface="+mn-ea"/>
                <a:cs typeface="+mn-cs"/>
              </a:rPr>
              <a:t>C</a:t>
            </a:r>
            <a:r>
              <a:rPr kumimoji="1" lang="zh-CN" altLang="zh-CN" sz="2400" b="1" i="0" u="none" strike="noStrike" kern="0" cap="none" spc="0" normalizeH="0" baseline="0" noProof="0" dirty="0">
                <a:ln>
                  <a:noFill/>
                </a:ln>
                <a:solidFill>
                  <a:schemeClr val="tx1"/>
                </a:solidFill>
                <a:effectLst/>
                <a:uLnTx/>
                <a:uFillTx/>
                <a:latin typeface="+mn-lt"/>
                <a:ea typeface="+mn-ea"/>
                <a:cs typeface="+mn-cs"/>
              </a:rPr>
              <a:t>存有电荷时，过一段时间由于电容的放电过程而导致电荷流失，信息也就丢失。因此需要周期性地对电容进行充电，以补充泄漏的电荷，通常把这种补充电荷的过程叫刷新或再生。</a:t>
            </a:r>
            <a:endParaRPr kumimoji="1" lang="en-US" altLang="zh-CN" sz="2400" b="1"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
                <a:schemeClr val="accent2"/>
              </a:buClr>
              <a:buSzPct val="70000"/>
              <a:buFont typeface="Wingdings" panose="05000000000000000000" pitchFamily="2" charset="2"/>
              <a:buChar char="u"/>
              <a:defRPr/>
            </a:pPr>
            <a:r>
              <a:rPr kumimoji="1" lang="zh-CN" altLang="zh-CN" sz="2400" b="1" i="0" u="none" strike="noStrike" kern="0" cap="none" spc="0" normalizeH="0" baseline="0" noProof="0" dirty="0">
                <a:ln>
                  <a:noFill/>
                </a:ln>
                <a:solidFill>
                  <a:schemeClr val="tx1"/>
                </a:solidFill>
                <a:effectLst/>
                <a:uLnTx/>
                <a:uFillTx/>
                <a:latin typeface="+mn-lt"/>
                <a:ea typeface="+mn-ea"/>
                <a:cs typeface="+mn-cs"/>
              </a:rPr>
              <a:t>刷新时间间隔一般要求在</a:t>
            </a:r>
            <a:r>
              <a:rPr kumimoji="1" lang="en-US" altLang="zh-CN" sz="2400" b="1" i="0" u="none" strike="noStrike" kern="0" cap="none" spc="0" normalizeH="0" baseline="0" noProof="0" dirty="0">
                <a:ln>
                  <a:noFill/>
                </a:ln>
                <a:solidFill>
                  <a:schemeClr val="tx1"/>
                </a:solidFill>
                <a:effectLst/>
                <a:uLnTx/>
                <a:uFillTx/>
                <a:latin typeface="+mn-lt"/>
                <a:ea typeface="+mn-ea"/>
                <a:cs typeface="+mn-cs"/>
              </a:rPr>
              <a:t>1</a:t>
            </a:r>
            <a:r>
              <a:rPr kumimoji="1" lang="zh-CN" altLang="zh-CN" sz="2400" b="1" i="0" u="none" strike="noStrike" kern="0" cap="none" spc="0" normalizeH="0" baseline="0" noProof="0" dirty="0">
                <a:ln>
                  <a:noFill/>
                </a:ln>
                <a:solidFill>
                  <a:schemeClr val="tx1"/>
                </a:solidFill>
                <a:effectLst/>
                <a:uLnTx/>
                <a:uFillTx/>
                <a:latin typeface="+mn-lt"/>
                <a:ea typeface="+mn-ea"/>
                <a:cs typeface="+mn-cs"/>
              </a:rPr>
              <a:t>～</a:t>
            </a:r>
            <a:r>
              <a:rPr kumimoji="1" lang="en-US" altLang="zh-CN" sz="2400" b="1" i="0" u="none" strike="noStrike" kern="0" cap="none" spc="0" normalizeH="0" baseline="0" noProof="0" dirty="0">
                <a:ln>
                  <a:noFill/>
                </a:ln>
                <a:solidFill>
                  <a:schemeClr val="tx1"/>
                </a:solidFill>
                <a:effectLst/>
                <a:uLnTx/>
                <a:uFillTx/>
                <a:latin typeface="+mn-lt"/>
                <a:ea typeface="+mn-ea"/>
                <a:cs typeface="+mn-cs"/>
              </a:rPr>
              <a:t>100ms</a:t>
            </a:r>
            <a:r>
              <a:rPr kumimoji="1" lang="zh-CN" altLang="zh-CN" sz="2400" b="1" i="0" u="none" strike="noStrike" kern="0" cap="none" spc="0" normalizeH="0" baseline="0" noProof="0" dirty="0">
                <a:ln>
                  <a:noFill/>
                </a:ln>
                <a:solidFill>
                  <a:schemeClr val="tx1"/>
                </a:solidFill>
                <a:effectLst/>
                <a:uLnTx/>
                <a:uFillTx/>
                <a:latin typeface="+mn-lt"/>
                <a:ea typeface="+mn-ea"/>
                <a:cs typeface="+mn-cs"/>
              </a:rPr>
              <a:t>，工作温度为</a:t>
            </a:r>
            <a:r>
              <a:rPr kumimoji="1" lang="en-US" altLang="zh-CN" sz="2400" b="1" i="0" u="none" strike="noStrike" kern="0" cap="none" spc="0" normalizeH="0" baseline="0" noProof="0" dirty="0">
                <a:ln>
                  <a:noFill/>
                </a:ln>
                <a:solidFill>
                  <a:schemeClr val="tx1"/>
                </a:solidFill>
                <a:effectLst/>
                <a:uLnTx/>
                <a:uFillTx/>
                <a:latin typeface="+mn-lt"/>
                <a:ea typeface="+mn-ea"/>
                <a:cs typeface="+mn-cs"/>
              </a:rPr>
              <a:t>70</a:t>
            </a:r>
            <a:r>
              <a:rPr kumimoji="1" lang="zh-CN" altLang="zh-CN" sz="2400" b="1" i="0" u="none" strike="noStrike" kern="0" cap="none" spc="0" normalizeH="0" baseline="0" noProof="0" dirty="0">
                <a:ln>
                  <a:noFill/>
                </a:ln>
                <a:solidFill>
                  <a:schemeClr val="tx1"/>
                </a:solidFill>
                <a:effectLst/>
                <a:uLnTx/>
                <a:uFillTx/>
                <a:latin typeface="+mn-lt"/>
                <a:ea typeface="+mn-ea"/>
                <a:cs typeface="+mn-cs"/>
              </a:rPr>
              <a:t>℃时，典型的刷新时间间隔为</a:t>
            </a:r>
            <a:r>
              <a:rPr kumimoji="1" lang="en-US" altLang="zh-CN" sz="2400" b="1" i="0" u="none" strike="noStrike" kern="0" cap="none" spc="0" normalizeH="0" baseline="0" noProof="0" dirty="0">
                <a:ln>
                  <a:noFill/>
                </a:ln>
                <a:solidFill>
                  <a:schemeClr val="tx1"/>
                </a:solidFill>
                <a:effectLst/>
                <a:uLnTx/>
                <a:uFillTx/>
                <a:latin typeface="+mn-lt"/>
                <a:ea typeface="+mn-ea"/>
                <a:cs typeface="+mn-cs"/>
              </a:rPr>
              <a:t>2ms</a:t>
            </a:r>
            <a:r>
              <a:rPr kumimoji="1" lang="zh-CN" altLang="zh-CN" sz="2400" b="1" i="0" u="none" strike="noStrike" kern="0" cap="none" spc="0" normalizeH="0" baseline="0" noProof="0" dirty="0">
                <a:ln>
                  <a:noFill/>
                </a:ln>
                <a:solidFill>
                  <a:schemeClr val="tx1"/>
                </a:solidFill>
                <a:effectLst/>
                <a:uLnTx/>
                <a:uFillTx/>
                <a:latin typeface="+mn-lt"/>
                <a:ea typeface="+mn-ea"/>
                <a:cs typeface="+mn-cs"/>
              </a:rPr>
              <a:t>，因此</a:t>
            </a:r>
            <a:r>
              <a:rPr kumimoji="1" lang="en-US" altLang="zh-CN" sz="2400" b="1" i="0" u="none" strike="noStrike" kern="0" cap="none" spc="0" normalizeH="0" baseline="0" noProof="0" dirty="0">
                <a:ln>
                  <a:noFill/>
                </a:ln>
                <a:solidFill>
                  <a:schemeClr val="tx1"/>
                </a:solidFill>
                <a:effectLst/>
                <a:uLnTx/>
                <a:uFillTx/>
                <a:latin typeface="+mn-lt"/>
                <a:ea typeface="+mn-ea"/>
                <a:cs typeface="+mn-cs"/>
              </a:rPr>
              <a:t>2ms</a:t>
            </a:r>
            <a:r>
              <a:rPr kumimoji="1" lang="zh-CN" altLang="zh-CN" sz="2400" b="1" i="0" u="none" strike="noStrike" kern="0" cap="none" spc="0" normalizeH="0" baseline="0" noProof="0" dirty="0">
                <a:ln>
                  <a:noFill/>
                </a:ln>
                <a:solidFill>
                  <a:schemeClr val="tx1"/>
                </a:solidFill>
                <a:effectLst/>
                <a:uLnTx/>
                <a:uFillTx/>
                <a:latin typeface="+mn-lt"/>
                <a:ea typeface="+mn-ea"/>
                <a:cs typeface="+mn-cs"/>
              </a:rPr>
              <a:t>内必须对存储的信息刷新一遍。</a:t>
            </a:r>
            <a:endParaRPr kumimoji="1" lang="zh-CN" altLang="en-US" sz="2400" b="1" i="0" u="none" strike="noStrike" kern="0" cap="none" spc="0" normalizeH="0" baseline="0" noProof="0" dirty="0">
              <a:ln>
                <a:noFill/>
              </a:ln>
              <a:solidFill>
                <a:schemeClr val="tx1"/>
              </a:solidFill>
              <a:effectLst/>
              <a:uLnTx/>
              <a:uFillTx/>
              <a:latin typeface="+mn-lt"/>
              <a:ea typeface="+mn-ea"/>
              <a:cs typeface="+mn-cs"/>
            </a:endParaRPr>
          </a:p>
        </p:txBody>
      </p:sp>
    </p:spTree>
  </p:cSld>
  <p:clrMapOvr>
    <a:masterClrMapping/>
  </p:clrMapOvr>
  <p:transition spd="med">
    <p:random/>
  </p:transition>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841" name="内容占位符 2"/>
          <p:cNvSpPr>
            <a:spLocks noGrp="1"/>
          </p:cNvSpPr>
          <p:nvPr>
            <p:ph/>
          </p:nvPr>
        </p:nvSpPr>
        <p:spPr>
          <a:xfrm>
            <a:off x="577850" y="1387475"/>
            <a:ext cx="8197850" cy="4814888"/>
          </a:xfrm>
          <a:prstGeom prst="rect">
            <a:avLst/>
          </a:prstGeom>
          <a:noFill/>
          <a:ln w="9525">
            <a:noFill/>
          </a:ln>
        </p:spPr>
        <p:txBody>
          <a:bodyPr wrap="square" lIns="92075" tIns="46038" rIns="92075" bIns="46038" anchor="t" anchorCtr="0"/>
          <a:lstStyle/>
          <a:p>
            <a:r>
              <a:rPr lang="zh-CN" altLang="zh-CN" sz="2400" dirty="0"/>
              <a:t>对每块</a:t>
            </a:r>
            <a:r>
              <a:rPr lang="en-US" altLang="zh-CN" sz="2400" dirty="0"/>
              <a:t>DRAM</a:t>
            </a:r>
            <a:r>
              <a:rPr lang="zh-CN" altLang="zh-CN" sz="2400" dirty="0"/>
              <a:t>芯片来说，则是按行刷新，每次刷新一行，所需时间为一个刷新周期。如果某存储器有若干块</a:t>
            </a:r>
            <a:r>
              <a:rPr lang="en-US" altLang="zh-CN" sz="2400" dirty="0"/>
              <a:t>DRAM</a:t>
            </a:r>
            <a:r>
              <a:rPr lang="zh-CN" altLang="zh-CN" sz="2400" dirty="0"/>
              <a:t>芯片，其中容量最大的一块芯片的行数为</a:t>
            </a:r>
            <a:r>
              <a:rPr lang="en-US" altLang="zh-CN" sz="2400" dirty="0"/>
              <a:t>128</a:t>
            </a:r>
            <a:r>
              <a:rPr lang="zh-CN" altLang="zh-CN" sz="2400" dirty="0"/>
              <a:t>，则在</a:t>
            </a:r>
            <a:r>
              <a:rPr lang="en-US" altLang="zh-CN" sz="2400" dirty="0"/>
              <a:t>2ms</a:t>
            </a:r>
            <a:r>
              <a:rPr lang="zh-CN" altLang="zh-CN" sz="2400" dirty="0"/>
              <a:t>之内至少应安排</a:t>
            </a:r>
            <a:r>
              <a:rPr lang="en-US" altLang="zh-CN" sz="2400" dirty="0"/>
              <a:t>128</a:t>
            </a:r>
            <a:r>
              <a:rPr lang="zh-CN" altLang="zh-CN" sz="2400" dirty="0"/>
              <a:t>个刷新周期。</a:t>
            </a:r>
            <a:endParaRPr lang="en-US" altLang="zh-CN" sz="2400" dirty="0"/>
          </a:p>
          <a:p>
            <a:r>
              <a:rPr lang="zh-CN" altLang="zh-CN" sz="2400" dirty="0"/>
              <a:t>在存储器刷新周期中，将一个刷新地址计数器提供的行地址发送给存储器，然后执行一次读操作，便可完成对选中行各基本存储电路的刷新。但读出的数据不会被送到数据总线上。</a:t>
            </a:r>
            <a:endParaRPr lang="zh-CN" altLang="en-US" sz="2400" dirty="0"/>
          </a:p>
        </p:txBody>
      </p:sp>
    </p:spTree>
  </p:cSld>
  <p:clrMapOvr>
    <a:masterClrMapping/>
  </p:clrMapOvr>
  <p:transition spd="med">
    <p:random/>
  </p:transition>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6865" name="Picture 2" descr="5"/>
          <p:cNvPicPr>
            <a:picLocks noChangeAspect="1"/>
          </p:cNvPicPr>
          <p:nvPr/>
        </p:nvPicPr>
        <p:blipFill>
          <a:blip r:embed="rId2"/>
          <a:stretch>
            <a:fillRect/>
          </a:stretch>
        </p:blipFill>
        <p:spPr>
          <a:xfrm>
            <a:off x="334963" y="1089025"/>
            <a:ext cx="8547100" cy="4687888"/>
          </a:xfrm>
          <a:prstGeom prst="rect">
            <a:avLst/>
          </a:prstGeom>
          <a:noFill/>
          <a:ln w="9525">
            <a:noFill/>
          </a:ln>
        </p:spPr>
      </p:pic>
      <p:sp>
        <p:nvSpPr>
          <p:cNvPr id="36866" name="Rectangle 4"/>
          <p:cNvSpPr/>
          <p:nvPr/>
        </p:nvSpPr>
        <p:spPr>
          <a:xfrm>
            <a:off x="2066925" y="6018213"/>
            <a:ext cx="5019675" cy="438150"/>
          </a:xfrm>
          <a:prstGeom prst="rect">
            <a:avLst/>
          </a:prstGeom>
          <a:noFill/>
          <a:ln w="9525">
            <a:noFill/>
          </a:ln>
        </p:spPr>
        <p:txBody>
          <a:bodyPr lIns="92075" tIns="46038" rIns="92075" bIns="46038" anchor="ctr" anchorCtr="0">
            <a:spAutoFit/>
          </a:bodyPr>
          <a:lstStyle/>
          <a:p>
            <a:pPr algn="ctr" eaLnBrk="0" hangingPunct="0"/>
            <a:r>
              <a:rPr lang="zh-CN" altLang="zh-CN" b="0" dirty="0">
                <a:latin typeface="宋体" panose="02010600030101010101" pitchFamily="2" charset="-122"/>
                <a:ea typeface="宋体" panose="02010600030101010101" pitchFamily="2" charset="-122"/>
              </a:rPr>
              <a:t>图</a:t>
            </a:r>
            <a:r>
              <a:rPr lang="en-US" altLang="zh-CN" b="0" dirty="0">
                <a:latin typeface="Times New Roman" panose="02020603050405020304" pitchFamily="18" charset="0"/>
                <a:ea typeface="宋体" panose="02010600030101010101" pitchFamily="2" charset="-122"/>
              </a:rPr>
              <a:t>5-17</a:t>
            </a:r>
            <a:r>
              <a:rPr lang="zh-CN" altLang="en-US" b="0" dirty="0">
                <a:latin typeface="宋体" panose="02010600030101010101" pitchFamily="2" charset="-122"/>
                <a:ea typeface="宋体" panose="02010600030101010101" pitchFamily="2" charset="-122"/>
              </a:rPr>
              <a:t>　</a:t>
            </a:r>
            <a:r>
              <a:rPr lang="en-US" altLang="zh-CN" b="0" dirty="0">
                <a:latin typeface="Times New Roman" panose="02020603050405020304" pitchFamily="18" charset="0"/>
                <a:ea typeface="宋体" panose="02010600030101010101" pitchFamily="2" charset="-122"/>
              </a:rPr>
              <a:t>Intel 2164A</a:t>
            </a:r>
            <a:r>
              <a:rPr lang="zh-CN" altLang="en-US" b="0" dirty="0">
                <a:latin typeface="宋体" panose="02010600030101010101" pitchFamily="2" charset="-122"/>
                <a:ea typeface="宋体" panose="02010600030101010101" pitchFamily="2" charset="-122"/>
              </a:rPr>
              <a:t>内部结构示意图</a:t>
            </a:r>
            <a:endParaRPr lang="zh-CN" altLang="en-US" sz="6600" b="0" dirty="0">
              <a:latin typeface="宋体" panose="02010600030101010101" pitchFamily="2" charset="-122"/>
              <a:ea typeface="宋体" panose="02010600030101010101" pitchFamily="2" charset="-122"/>
            </a:endParaRPr>
          </a:p>
        </p:txBody>
      </p:sp>
      <p:sp>
        <p:nvSpPr>
          <p:cNvPr id="36867" name="文本框 99"/>
          <p:cNvSpPr txBox="1"/>
          <p:nvPr/>
        </p:nvSpPr>
        <p:spPr>
          <a:xfrm>
            <a:off x="250825" y="527050"/>
            <a:ext cx="5326063" cy="436563"/>
          </a:xfrm>
          <a:prstGeom prst="rect">
            <a:avLst/>
          </a:prstGeom>
          <a:noFill/>
          <a:ln w="9525">
            <a:noFill/>
          </a:ln>
        </p:spPr>
        <p:txBody>
          <a:bodyPr wrap="square" anchor="t" anchorCtr="0">
            <a:spAutoFit/>
          </a:bodyPr>
          <a:lstStyle/>
          <a:p>
            <a:pPr indent="266700"/>
            <a:r>
              <a:rPr lang="en-US" altLang="zh-CN" dirty="0">
                <a:latin typeface="Times New Roman" panose="02020603050405020304" pitchFamily="18" charset="0"/>
                <a:ea typeface="宋体" panose="02010600030101010101" pitchFamily="2" charset="-122"/>
              </a:rPr>
              <a:t>4．2164A存储芯片的引线及其功能</a:t>
            </a:r>
            <a:endParaRPr lang="zh-CN" altLang="en-US" b="0">
              <a:latin typeface="楷体_GB2312" charset="0"/>
              <a:ea typeface="楷体_GB2312" charset="0"/>
            </a:endParaRPr>
          </a:p>
        </p:txBody>
      </p:sp>
    </p:spTree>
  </p:cSld>
  <p:clrMapOvr>
    <a:masterClrMapping/>
  </p:clrMapOvr>
  <p:transition spd="med">
    <p:random/>
  </p:transition>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7889" name="Picture 2" descr="5"/>
          <p:cNvPicPr>
            <a:picLocks noChangeAspect="1"/>
          </p:cNvPicPr>
          <p:nvPr/>
        </p:nvPicPr>
        <p:blipFill>
          <a:blip r:embed="rId2"/>
          <a:stretch>
            <a:fillRect/>
          </a:stretch>
        </p:blipFill>
        <p:spPr>
          <a:xfrm>
            <a:off x="1235075" y="1550988"/>
            <a:ext cx="6711950" cy="3438525"/>
          </a:xfrm>
          <a:prstGeom prst="rect">
            <a:avLst/>
          </a:prstGeom>
          <a:noFill/>
          <a:ln w="9525">
            <a:noFill/>
          </a:ln>
        </p:spPr>
      </p:pic>
      <p:sp>
        <p:nvSpPr>
          <p:cNvPr id="37890" name="Rectangle 3"/>
          <p:cNvSpPr/>
          <p:nvPr/>
        </p:nvSpPr>
        <p:spPr>
          <a:xfrm>
            <a:off x="2032000" y="5640388"/>
            <a:ext cx="5081588" cy="436562"/>
          </a:xfrm>
          <a:prstGeom prst="rect">
            <a:avLst/>
          </a:prstGeom>
          <a:noFill/>
          <a:ln w="9525">
            <a:noFill/>
          </a:ln>
        </p:spPr>
        <p:txBody>
          <a:bodyPr lIns="92075" tIns="46038" rIns="92075" bIns="46038" anchor="ctr" anchorCtr="0">
            <a:spAutoFit/>
          </a:bodyPr>
          <a:lstStyle/>
          <a:p>
            <a:pPr algn="ctr" eaLnBrk="0" hangingPunct="0"/>
            <a:r>
              <a:rPr lang="zh-CN" altLang="zh-CN" b="0" dirty="0">
                <a:latin typeface="宋体" panose="02010600030101010101" pitchFamily="2" charset="-122"/>
                <a:ea typeface="宋体" panose="02010600030101010101" pitchFamily="2" charset="-122"/>
              </a:rPr>
              <a:t>图</a:t>
            </a:r>
            <a:r>
              <a:rPr lang="en-US" altLang="zh-CN" b="0" dirty="0">
                <a:latin typeface="Times New Roman" panose="02020603050405020304" pitchFamily="18" charset="0"/>
                <a:ea typeface="宋体" panose="02010600030101010101" pitchFamily="2" charset="-122"/>
              </a:rPr>
              <a:t>5-18   Intel 2164A</a:t>
            </a:r>
            <a:r>
              <a:rPr lang="zh-CN" altLang="en-US" b="0" dirty="0">
                <a:latin typeface="宋体" panose="02010600030101010101" pitchFamily="2" charset="-122"/>
                <a:ea typeface="宋体" panose="02010600030101010101" pitchFamily="2" charset="-122"/>
              </a:rPr>
              <a:t>引脚与逻辑符号</a:t>
            </a:r>
            <a:endParaRPr lang="zh-CN" altLang="en-US" sz="6600" b="0" dirty="0">
              <a:latin typeface="宋体" panose="02010600030101010101" pitchFamily="2" charset="-122"/>
              <a:ea typeface="宋体" panose="02010600030101010101" pitchFamily="2" charset="-122"/>
            </a:endParaRPr>
          </a:p>
        </p:txBody>
      </p:sp>
    </p:spTree>
  </p:cSld>
  <p:clrMapOvr>
    <a:masterClrMapping/>
  </p:clrMapOvr>
  <p:transition spd="med">
    <p:random/>
  </p:transition>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722" name="内容占位符 2"/>
          <p:cNvSpPr>
            <a:spLocks noGrp="1"/>
          </p:cNvSpPr>
          <p:nvPr>
            <p:ph idx="1"/>
          </p:nvPr>
        </p:nvSpPr>
        <p:spPr>
          <a:xfrm>
            <a:off x="485775" y="1304925"/>
            <a:ext cx="8197850" cy="4814888"/>
          </a:xfrm>
          <a:prstGeom prst="rect">
            <a:avLst/>
          </a:prstGeom>
        </p:spPr>
        <p:txBody>
          <a:bodyPr wrap="square" lIns="92075" tIns="46038" rIns="92075" bIns="46038" anchor="t"/>
          <a:lstStyle/>
          <a:p>
            <a:pPr marL="457200" marR="0" lvl="1" indent="0" algn="l" defTabSz="914400" rtl="0" eaLnBrk="0" fontAlgn="base" latinLnBrk="0" hangingPunct="0">
              <a:lnSpc>
                <a:spcPct val="100000"/>
              </a:lnSpc>
              <a:spcBef>
                <a:spcPct val="20000"/>
              </a:spcBef>
              <a:spcAft>
                <a:spcPct val="0"/>
              </a:spcAft>
              <a:buClr>
                <a:schemeClr val="accent2"/>
              </a:buClr>
              <a:buSzPct val="85000"/>
              <a:buFont typeface="Wingdings" panose="05000000000000000000" pitchFamily="2" charset="2"/>
              <a:buNone/>
            </a:pPr>
            <a:r>
              <a:rPr kumimoji="1" lang="en-US" altLang="zh-CN" sz="2400" b="1" i="0" u="none" strike="noStrike" kern="0" cap="none" spc="0" normalizeH="0" baseline="0" noProof="1">
                <a:solidFill>
                  <a:schemeClr val="tx1"/>
                </a:solidFill>
                <a:latin typeface="+mn-lt"/>
                <a:ea typeface="+mn-ea"/>
                <a:cs typeface="+mn-ea"/>
              </a:rPr>
              <a:t>1</a:t>
            </a:r>
            <a:r>
              <a:rPr kumimoji="1" lang="zh-CN" altLang="zh-CN" sz="2400" b="1" i="0" u="none" strike="noStrike" kern="0" cap="none" spc="0" normalizeH="0" baseline="0" noProof="1">
                <a:solidFill>
                  <a:schemeClr val="tx1"/>
                </a:solidFill>
                <a:latin typeface="+mn-lt"/>
                <a:ea typeface="+mn-ea"/>
                <a:cs typeface="+mn-ea"/>
              </a:rPr>
              <a:t>）读操作时序</a:t>
            </a:r>
          </a:p>
          <a:p>
            <a:pPr marL="742950" marR="0" lvl="1" indent="-285750" algn="l" defTabSz="914400" rtl="0" eaLnBrk="0" fontAlgn="base" latinLnBrk="0" hangingPunct="0">
              <a:lnSpc>
                <a:spcPct val="100000"/>
              </a:lnSpc>
              <a:spcBef>
                <a:spcPct val="20000"/>
              </a:spcBef>
              <a:spcAft>
                <a:spcPct val="0"/>
              </a:spcAft>
              <a:buClr>
                <a:schemeClr val="accent2"/>
              </a:buClr>
              <a:buSzPct val="85000"/>
              <a:buFont typeface="Wingdings" panose="05000000000000000000" pitchFamily="2" charset="2"/>
              <a:buChar char="Ø"/>
            </a:pPr>
            <a:endParaRPr kumimoji="1" lang="zh-CN" altLang="en-US" sz="2400" b="1" i="0" u="none" strike="noStrike" kern="0" cap="none" spc="0" normalizeH="0" baseline="0" noProof="1">
              <a:solidFill>
                <a:schemeClr val="tx1"/>
              </a:solidFill>
              <a:latin typeface="+mn-lt"/>
              <a:ea typeface="+mn-ea"/>
              <a:cs typeface="+mn-ea"/>
            </a:endParaRPr>
          </a:p>
        </p:txBody>
      </p:sp>
      <p:graphicFrame>
        <p:nvGraphicFramePr>
          <p:cNvPr id="38914" name="对象 4"/>
          <p:cNvGraphicFramePr>
            <a:graphicFrameLocks noChangeAspect="1"/>
          </p:cNvGraphicFramePr>
          <p:nvPr/>
        </p:nvGraphicFramePr>
        <p:xfrm>
          <a:off x="977900" y="2090738"/>
          <a:ext cx="7188200" cy="3395662"/>
        </p:xfrm>
        <a:graphic>
          <a:graphicData uri="http://schemas.openxmlformats.org/presentationml/2006/ole">
            <mc:AlternateContent xmlns:mc="http://schemas.openxmlformats.org/markup-compatibility/2006">
              <mc:Choice xmlns:v="urn:schemas-microsoft-com:vml" Requires="v">
                <p:oleObj spid="_x0000_s7178" r:id="rId3" imgW="9563100" imgH="4508500" progId="Visio.Drawing.11">
                  <p:embed/>
                </p:oleObj>
              </mc:Choice>
              <mc:Fallback>
                <p:oleObj r:id="rId3" imgW="9563100" imgH="4508500" progId="Visio.Drawing.11">
                  <p:embed/>
                  <p:pic>
                    <p:nvPicPr>
                      <p:cNvPr id="0" name="图片 3083"/>
                      <p:cNvPicPr/>
                      <p:nvPr/>
                    </p:nvPicPr>
                    <p:blipFill>
                      <a:blip r:embed="rId4"/>
                      <a:stretch>
                        <a:fillRect/>
                      </a:stretch>
                    </p:blipFill>
                    <p:spPr>
                      <a:xfrm>
                        <a:off x="977900" y="2090738"/>
                        <a:ext cx="7188200" cy="3395662"/>
                      </a:xfrm>
                      <a:prstGeom prst="rect">
                        <a:avLst/>
                      </a:prstGeom>
                      <a:solidFill>
                        <a:schemeClr val="tx1"/>
                      </a:solidFill>
                      <a:ln w="38100">
                        <a:noFill/>
                        <a:miter/>
                      </a:ln>
                    </p:spPr>
                  </p:pic>
                </p:oleObj>
              </mc:Fallback>
            </mc:AlternateContent>
          </a:graphicData>
        </a:graphic>
      </p:graphicFrame>
      <p:sp>
        <p:nvSpPr>
          <p:cNvPr id="38915" name="Rectangle 3"/>
          <p:cNvSpPr/>
          <p:nvPr/>
        </p:nvSpPr>
        <p:spPr>
          <a:xfrm>
            <a:off x="2481263" y="5792788"/>
            <a:ext cx="4964112" cy="438150"/>
          </a:xfrm>
          <a:prstGeom prst="rect">
            <a:avLst/>
          </a:prstGeom>
          <a:noFill/>
          <a:ln w="9525">
            <a:noFill/>
          </a:ln>
        </p:spPr>
        <p:txBody>
          <a:bodyPr lIns="92075" tIns="46038" rIns="92075" bIns="46038" anchor="ctr" anchorCtr="0">
            <a:spAutoFit/>
          </a:bodyPr>
          <a:lstStyle/>
          <a:p>
            <a:pPr algn="ctr" eaLnBrk="0" hangingPunct="0"/>
            <a:r>
              <a:rPr lang="zh-CN" altLang="zh-CN" b="0" dirty="0">
                <a:latin typeface="宋体" panose="02010600030101010101" pitchFamily="2" charset="-122"/>
                <a:ea typeface="宋体" panose="02010600030101010101" pitchFamily="2" charset="-122"/>
              </a:rPr>
              <a:t>图</a:t>
            </a:r>
            <a:r>
              <a:rPr lang="en-US" altLang="zh-CN" b="0" dirty="0">
                <a:latin typeface="Times New Roman" panose="02020603050405020304" pitchFamily="18" charset="0"/>
                <a:ea typeface="宋体" panose="02010600030101010101" pitchFamily="2" charset="-122"/>
              </a:rPr>
              <a:t>5-19  Intel 2164A</a:t>
            </a:r>
            <a:r>
              <a:rPr lang="zh-CN" altLang="en-US" b="0" dirty="0">
                <a:latin typeface="宋体" panose="02010600030101010101" pitchFamily="2" charset="-122"/>
                <a:ea typeface="宋体" panose="02010600030101010101" pitchFamily="2" charset="-122"/>
              </a:rPr>
              <a:t>读操作的时序</a:t>
            </a:r>
            <a:endParaRPr lang="zh-CN" altLang="en-US" sz="6600" b="0" dirty="0">
              <a:latin typeface="宋体" panose="02010600030101010101" pitchFamily="2" charset="-122"/>
              <a:ea typeface="宋体" panose="02010600030101010101" pitchFamily="2" charset="-122"/>
            </a:endParaRPr>
          </a:p>
        </p:txBody>
      </p:sp>
    </p:spTree>
  </p:cSld>
  <p:clrMapOvr>
    <a:masterClrMapping/>
  </p:clrMapOvr>
  <p:transition spd="med">
    <p:random/>
  </p:transition>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746" name="内容占位符 2"/>
          <p:cNvSpPr>
            <a:spLocks noGrp="1"/>
          </p:cNvSpPr>
          <p:nvPr>
            <p:ph idx="1"/>
          </p:nvPr>
        </p:nvSpPr>
        <p:spPr>
          <a:xfrm>
            <a:off x="577850" y="1387475"/>
            <a:ext cx="8197850" cy="4814888"/>
          </a:xfrm>
          <a:prstGeom prst="rect">
            <a:avLst/>
          </a:prstGeom>
        </p:spPr>
        <p:txBody>
          <a:bodyPr wrap="square" lIns="92075" tIns="46038" rIns="92075" bIns="46038" anchor="t"/>
          <a:lstStyle/>
          <a:p>
            <a:pPr marL="457200" marR="0" lvl="1" indent="0" algn="l" defTabSz="914400" rtl="0" eaLnBrk="0" fontAlgn="base" latinLnBrk="0" hangingPunct="0">
              <a:lnSpc>
                <a:spcPct val="100000"/>
              </a:lnSpc>
              <a:spcBef>
                <a:spcPct val="20000"/>
              </a:spcBef>
              <a:spcAft>
                <a:spcPct val="0"/>
              </a:spcAft>
              <a:buClr>
                <a:schemeClr val="accent2"/>
              </a:buClr>
              <a:buSzPct val="85000"/>
              <a:buFont typeface="Wingdings" panose="05000000000000000000" pitchFamily="2" charset="2"/>
              <a:buNone/>
            </a:pPr>
            <a:r>
              <a:rPr kumimoji="1" lang="en-US" altLang="zh-CN" sz="2400" b="1" i="0" u="none" strike="noStrike" kern="0" cap="none" spc="0" normalizeH="0" baseline="0" noProof="1">
                <a:solidFill>
                  <a:schemeClr val="tx1"/>
                </a:solidFill>
                <a:latin typeface="+mn-lt"/>
                <a:ea typeface="+mn-ea"/>
                <a:cs typeface="+mn-ea"/>
              </a:rPr>
              <a:t>2</a:t>
            </a:r>
            <a:r>
              <a:rPr kumimoji="1" lang="zh-CN" altLang="zh-CN" sz="2400" b="1" i="0" u="none" strike="noStrike" kern="0" cap="none" spc="0" normalizeH="0" baseline="0" noProof="1">
                <a:solidFill>
                  <a:schemeClr val="tx1"/>
                </a:solidFill>
                <a:latin typeface="+mn-lt"/>
                <a:ea typeface="+mn-ea"/>
                <a:cs typeface="+mn-ea"/>
              </a:rPr>
              <a:t>）写操作时序</a:t>
            </a:r>
          </a:p>
          <a:p>
            <a:pPr marL="742950" marR="0" lvl="1" indent="-285750" algn="l" defTabSz="914400" rtl="0" eaLnBrk="0" fontAlgn="base" latinLnBrk="0" hangingPunct="0">
              <a:lnSpc>
                <a:spcPct val="100000"/>
              </a:lnSpc>
              <a:spcBef>
                <a:spcPct val="20000"/>
              </a:spcBef>
              <a:spcAft>
                <a:spcPct val="0"/>
              </a:spcAft>
              <a:buClr>
                <a:schemeClr val="accent2"/>
              </a:buClr>
              <a:buSzPct val="85000"/>
              <a:buFont typeface="Wingdings" panose="05000000000000000000" pitchFamily="2" charset="2"/>
              <a:buChar char="Ø"/>
            </a:pPr>
            <a:endParaRPr kumimoji="1" lang="zh-CN" altLang="en-US" sz="2400" b="1" i="0" u="none" strike="noStrike" kern="0" cap="none" spc="0" normalizeH="0" baseline="0" noProof="1">
              <a:solidFill>
                <a:schemeClr val="tx1"/>
              </a:solidFill>
              <a:latin typeface="+mn-lt"/>
              <a:ea typeface="+mn-ea"/>
              <a:cs typeface="+mn-ea"/>
            </a:endParaRPr>
          </a:p>
        </p:txBody>
      </p:sp>
      <p:pic>
        <p:nvPicPr>
          <p:cNvPr id="39938" name="Picture 2" descr="5"/>
          <p:cNvPicPr>
            <a:picLocks noChangeAspect="1"/>
          </p:cNvPicPr>
          <p:nvPr/>
        </p:nvPicPr>
        <p:blipFill>
          <a:blip r:embed="rId2"/>
          <a:stretch>
            <a:fillRect/>
          </a:stretch>
        </p:blipFill>
        <p:spPr>
          <a:xfrm>
            <a:off x="1084263" y="1997075"/>
            <a:ext cx="6832600" cy="3933825"/>
          </a:xfrm>
          <a:prstGeom prst="rect">
            <a:avLst/>
          </a:prstGeom>
          <a:noFill/>
          <a:ln w="9525">
            <a:noFill/>
          </a:ln>
        </p:spPr>
      </p:pic>
      <p:sp>
        <p:nvSpPr>
          <p:cNvPr id="39939" name="Rectangle 3"/>
          <p:cNvSpPr/>
          <p:nvPr/>
        </p:nvSpPr>
        <p:spPr>
          <a:xfrm>
            <a:off x="1736725" y="6165850"/>
            <a:ext cx="5526088" cy="438150"/>
          </a:xfrm>
          <a:prstGeom prst="rect">
            <a:avLst/>
          </a:prstGeom>
          <a:noFill/>
          <a:ln w="9525">
            <a:noFill/>
          </a:ln>
        </p:spPr>
        <p:txBody>
          <a:bodyPr lIns="92075" tIns="46038" rIns="92075" bIns="46038" anchor="ctr" anchorCtr="0">
            <a:spAutoFit/>
          </a:bodyPr>
          <a:lstStyle/>
          <a:p>
            <a:pPr algn="ctr" eaLnBrk="0" hangingPunct="0"/>
            <a:r>
              <a:rPr lang="zh-CN" altLang="zh-CN" b="0" dirty="0">
                <a:latin typeface="宋体" panose="02010600030101010101" pitchFamily="2" charset="-122"/>
                <a:ea typeface="宋体" panose="02010600030101010101" pitchFamily="2" charset="-122"/>
              </a:rPr>
              <a:t>图</a:t>
            </a:r>
            <a:r>
              <a:rPr lang="en-US" altLang="zh-CN" b="0" dirty="0">
                <a:latin typeface="Times New Roman" panose="02020603050405020304" pitchFamily="18" charset="0"/>
                <a:ea typeface="宋体" panose="02010600030101010101" pitchFamily="2" charset="-122"/>
              </a:rPr>
              <a:t>5-20</a:t>
            </a:r>
            <a:r>
              <a:rPr lang="zh-CN" altLang="en-US" b="0" dirty="0">
                <a:latin typeface="宋体" panose="02010600030101010101" pitchFamily="2" charset="-122"/>
                <a:ea typeface="宋体" panose="02010600030101010101" pitchFamily="2" charset="-122"/>
              </a:rPr>
              <a:t>　</a:t>
            </a:r>
            <a:r>
              <a:rPr lang="en-US" altLang="zh-CN" b="0" dirty="0">
                <a:latin typeface="Times New Roman" panose="02020603050405020304" pitchFamily="18" charset="0"/>
                <a:ea typeface="宋体" panose="02010600030101010101" pitchFamily="2" charset="-122"/>
              </a:rPr>
              <a:t>Intel 2164A</a:t>
            </a:r>
            <a:r>
              <a:rPr lang="zh-CN" altLang="en-US" b="0" dirty="0">
                <a:latin typeface="宋体" panose="02010600030101010101" pitchFamily="2" charset="-122"/>
                <a:ea typeface="宋体" panose="02010600030101010101" pitchFamily="2" charset="-122"/>
              </a:rPr>
              <a:t>的写操作时序</a:t>
            </a:r>
            <a:endParaRPr lang="zh-CN" altLang="en-US" sz="6600" b="0" dirty="0">
              <a:latin typeface="宋体" panose="02010600030101010101" pitchFamily="2" charset="-122"/>
              <a:ea typeface="宋体" panose="02010600030101010101" pitchFamily="2" charset="-122"/>
            </a:endParaRPr>
          </a:p>
        </p:txBody>
      </p:sp>
    </p:spTree>
  </p:cSld>
  <p:clrMapOvr>
    <a:masterClrMapping/>
  </p:clrMapOvr>
  <p:transition spd="med">
    <p:random/>
  </p:transition>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2770" name="内容占位符 2"/>
          <p:cNvSpPr>
            <a:spLocks noGrp="1"/>
          </p:cNvSpPr>
          <p:nvPr>
            <p:ph idx="1"/>
          </p:nvPr>
        </p:nvSpPr>
        <p:spPr>
          <a:xfrm>
            <a:off x="577850" y="1387475"/>
            <a:ext cx="8197850" cy="4814888"/>
          </a:xfrm>
          <a:prstGeom prst="rect">
            <a:avLst/>
          </a:prstGeom>
        </p:spPr>
        <p:txBody>
          <a:bodyPr wrap="square" lIns="92075" tIns="46038" rIns="92075" bIns="46038" anchor="t"/>
          <a:lstStyle/>
          <a:p>
            <a:pPr marL="0" marR="0" indent="0" algn="l" defTabSz="914400" rtl="0" eaLnBrk="0" fontAlgn="base" latinLnBrk="0" hangingPunct="0">
              <a:lnSpc>
                <a:spcPct val="100000"/>
              </a:lnSpc>
              <a:spcBef>
                <a:spcPct val="20000"/>
              </a:spcBef>
              <a:spcAft>
                <a:spcPct val="0"/>
              </a:spcAft>
              <a:buClr>
                <a:schemeClr val="accent2"/>
              </a:buClr>
              <a:buSzPct val="70000"/>
              <a:buFont typeface="Wingdings" panose="05000000000000000000" pitchFamily="2" charset="2"/>
              <a:buNone/>
            </a:pPr>
            <a:r>
              <a:rPr kumimoji="1" lang="en-US" altLang="zh-CN" sz="2400" b="1" i="0" u="none" strike="noStrike" kern="0" cap="none" spc="0" normalizeH="0" baseline="0" noProof="1">
                <a:solidFill>
                  <a:schemeClr val="tx1"/>
                </a:solidFill>
                <a:latin typeface="+mn-lt"/>
                <a:ea typeface="+mn-ea"/>
                <a:cs typeface="+mn-cs"/>
              </a:rPr>
              <a:t>3</a:t>
            </a:r>
            <a:r>
              <a:rPr kumimoji="1" lang="zh-CN" altLang="zh-CN" sz="2400" b="1" i="0" u="none" strike="noStrike" kern="0" cap="none" spc="0" normalizeH="0" baseline="0" noProof="1">
                <a:solidFill>
                  <a:schemeClr val="tx1"/>
                </a:solidFill>
                <a:latin typeface="+mn-lt"/>
                <a:ea typeface="+mn-ea"/>
                <a:cs typeface="+mn-cs"/>
              </a:rPr>
              <a:t>）读</a:t>
            </a:r>
            <a:r>
              <a:rPr kumimoji="1" lang="en-US" altLang="zh-CN" sz="2400" b="1" i="0" u="none" strike="noStrike" kern="0" cap="none" spc="0" normalizeH="0" baseline="0" noProof="1">
                <a:solidFill>
                  <a:schemeClr val="tx1"/>
                </a:solidFill>
                <a:latin typeface="+mn-lt"/>
                <a:ea typeface="+mn-ea"/>
                <a:cs typeface="+mn-cs"/>
              </a:rPr>
              <a:t>-</a:t>
            </a:r>
            <a:r>
              <a:rPr kumimoji="1" lang="zh-CN" altLang="zh-CN" sz="2400" b="1" i="0" u="none" strike="noStrike" kern="0" cap="none" spc="0" normalizeH="0" baseline="0" noProof="1">
                <a:solidFill>
                  <a:schemeClr val="tx1"/>
                </a:solidFill>
                <a:latin typeface="+mn-lt"/>
                <a:ea typeface="+mn-ea"/>
                <a:cs typeface="+mn-cs"/>
              </a:rPr>
              <a:t>修改</a:t>
            </a:r>
            <a:r>
              <a:rPr kumimoji="1" lang="en-US" altLang="zh-CN" sz="2400" b="1" i="0" u="none" strike="noStrike" kern="0" cap="none" spc="0" normalizeH="0" baseline="0" noProof="1">
                <a:solidFill>
                  <a:schemeClr val="tx1"/>
                </a:solidFill>
                <a:latin typeface="+mn-lt"/>
                <a:ea typeface="+mn-ea"/>
                <a:cs typeface="+mn-cs"/>
              </a:rPr>
              <a:t>-</a:t>
            </a:r>
            <a:r>
              <a:rPr kumimoji="1" lang="zh-CN" altLang="zh-CN" sz="2400" b="1" i="0" u="none" strike="noStrike" kern="0" cap="none" spc="0" normalizeH="0" baseline="0" noProof="1">
                <a:solidFill>
                  <a:schemeClr val="tx1"/>
                </a:solidFill>
                <a:latin typeface="+mn-lt"/>
                <a:ea typeface="+mn-ea"/>
                <a:cs typeface="+mn-cs"/>
              </a:rPr>
              <a:t>写操作时序</a:t>
            </a:r>
          </a:p>
          <a:p>
            <a:pPr marL="342900" marR="0" indent="-342900" algn="l" defTabSz="914400" rtl="0" eaLnBrk="0" fontAlgn="base" latinLnBrk="0" hangingPunct="0">
              <a:lnSpc>
                <a:spcPct val="100000"/>
              </a:lnSpc>
              <a:spcBef>
                <a:spcPct val="20000"/>
              </a:spcBef>
              <a:spcAft>
                <a:spcPct val="0"/>
              </a:spcAft>
              <a:buClr>
                <a:schemeClr val="accent2"/>
              </a:buClr>
              <a:buSzPct val="70000"/>
              <a:buFont typeface="Wingdings" panose="05000000000000000000" pitchFamily="2" charset="2"/>
              <a:buChar char="u"/>
            </a:pPr>
            <a:endParaRPr kumimoji="1" lang="zh-CN" altLang="en-US" sz="2400" b="1" i="0" u="none" strike="noStrike" kern="0" cap="none" spc="0" normalizeH="0" baseline="0" noProof="1">
              <a:solidFill>
                <a:schemeClr val="tx1"/>
              </a:solidFill>
              <a:latin typeface="+mn-lt"/>
              <a:ea typeface="+mn-ea"/>
              <a:cs typeface="+mn-cs"/>
            </a:endParaRPr>
          </a:p>
        </p:txBody>
      </p:sp>
      <p:pic>
        <p:nvPicPr>
          <p:cNvPr id="40962" name="Picture 4" descr="5"/>
          <p:cNvPicPr>
            <a:picLocks noChangeAspect="1"/>
          </p:cNvPicPr>
          <p:nvPr/>
        </p:nvPicPr>
        <p:blipFill>
          <a:blip r:embed="rId2"/>
          <a:stretch>
            <a:fillRect/>
          </a:stretch>
        </p:blipFill>
        <p:spPr>
          <a:xfrm>
            <a:off x="1517650" y="1935163"/>
            <a:ext cx="6070600" cy="4367212"/>
          </a:xfrm>
          <a:prstGeom prst="rect">
            <a:avLst/>
          </a:prstGeom>
          <a:noFill/>
          <a:ln w="9525">
            <a:noFill/>
          </a:ln>
        </p:spPr>
      </p:pic>
      <p:sp>
        <p:nvSpPr>
          <p:cNvPr id="40963" name="Rectangle 5"/>
          <p:cNvSpPr/>
          <p:nvPr/>
        </p:nvSpPr>
        <p:spPr>
          <a:xfrm>
            <a:off x="2176463" y="6367463"/>
            <a:ext cx="4791075" cy="379412"/>
          </a:xfrm>
          <a:prstGeom prst="rect">
            <a:avLst/>
          </a:prstGeom>
          <a:noFill/>
          <a:ln w="9525">
            <a:noFill/>
          </a:ln>
        </p:spPr>
        <p:txBody>
          <a:bodyPr wrap="none" lIns="92075" tIns="46038" rIns="92075" bIns="46038" anchor="ctr" anchorCtr="0">
            <a:spAutoFit/>
          </a:bodyPr>
          <a:lstStyle/>
          <a:p>
            <a:pPr algn="ctr" eaLnBrk="0" hangingPunct="0"/>
            <a:r>
              <a:rPr lang="zh-CN" altLang="zh-CN" sz="2000" b="0" dirty="0">
                <a:latin typeface="宋体" panose="02010600030101010101" pitchFamily="2" charset="-122"/>
                <a:ea typeface="宋体" panose="02010600030101010101" pitchFamily="2" charset="-122"/>
              </a:rPr>
              <a:t>图</a:t>
            </a:r>
            <a:r>
              <a:rPr lang="en-US" altLang="zh-CN" sz="2000" b="0" dirty="0">
                <a:latin typeface="Times New Roman" panose="02020603050405020304" pitchFamily="18" charset="0"/>
                <a:ea typeface="宋体" panose="02010600030101010101" pitchFamily="2" charset="-122"/>
              </a:rPr>
              <a:t>5-21  Intel 2164A</a:t>
            </a:r>
            <a:r>
              <a:rPr lang="zh-CN" altLang="en-US" sz="2000" b="0" dirty="0">
                <a:latin typeface="宋体" panose="02010600030101010101" pitchFamily="2" charset="-122"/>
                <a:ea typeface="宋体" panose="02010600030101010101" pitchFamily="2" charset="-122"/>
              </a:rPr>
              <a:t>的读</a:t>
            </a:r>
            <a:r>
              <a:rPr lang="en-US" altLang="zh-CN" sz="2000" b="0" dirty="0">
                <a:latin typeface="宋体" panose="02010600030101010101" pitchFamily="2" charset="-122"/>
                <a:ea typeface="宋体" panose="02010600030101010101" pitchFamily="2" charset="-122"/>
              </a:rPr>
              <a:t>-</a:t>
            </a:r>
            <a:r>
              <a:rPr lang="zh-CN" altLang="en-US" sz="2000" b="0" dirty="0">
                <a:latin typeface="宋体" panose="02010600030101010101" pitchFamily="2" charset="-122"/>
                <a:ea typeface="宋体" panose="02010600030101010101" pitchFamily="2" charset="-122"/>
              </a:rPr>
              <a:t>修改</a:t>
            </a:r>
            <a:r>
              <a:rPr lang="en-US" altLang="zh-CN" sz="2000" b="0" dirty="0">
                <a:latin typeface="宋体" panose="02010600030101010101" pitchFamily="2" charset="-122"/>
                <a:ea typeface="宋体" panose="02010600030101010101" pitchFamily="2" charset="-122"/>
              </a:rPr>
              <a:t>-</a:t>
            </a:r>
            <a:r>
              <a:rPr lang="zh-CN" altLang="en-US" sz="2000" b="0" dirty="0">
                <a:latin typeface="宋体" panose="02010600030101010101" pitchFamily="2" charset="-122"/>
                <a:ea typeface="宋体" panose="02010600030101010101" pitchFamily="2" charset="-122"/>
              </a:rPr>
              <a:t>写操作时序</a:t>
            </a:r>
            <a:endParaRPr lang="zh-CN" altLang="en-US" sz="6000" b="0" dirty="0">
              <a:latin typeface="宋体" panose="02010600030101010101" pitchFamily="2" charset="-122"/>
              <a:ea typeface="宋体" panose="02010600030101010101" pitchFamily="2" charset="-122"/>
            </a:endParaRPr>
          </a:p>
        </p:txBody>
      </p:sp>
    </p:spTree>
  </p:cSld>
  <p:clrMapOvr>
    <a:masterClrMapping/>
  </p:clrMapOvr>
  <p:transition spd="med">
    <p:random/>
  </p:transition>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1985" name="内容占位符 2"/>
          <p:cNvSpPr>
            <a:spLocks noGrp="1"/>
          </p:cNvSpPr>
          <p:nvPr>
            <p:ph/>
          </p:nvPr>
        </p:nvSpPr>
        <p:spPr>
          <a:xfrm>
            <a:off x="461963" y="1012825"/>
            <a:ext cx="8197850" cy="4814888"/>
          </a:xfrm>
          <a:prstGeom prst="rect">
            <a:avLst/>
          </a:prstGeom>
          <a:solidFill>
            <a:srgbClr val="FFFFFF"/>
          </a:solidFill>
          <a:ln w="9525">
            <a:noFill/>
          </a:ln>
        </p:spPr>
        <p:txBody>
          <a:bodyPr wrap="square" lIns="92075" tIns="46038" rIns="92075" bIns="46038" anchor="t" anchorCtr="0"/>
          <a:lstStyle/>
          <a:p>
            <a:pPr marL="0" indent="0">
              <a:buNone/>
            </a:pPr>
            <a:r>
              <a:rPr lang="en-US" altLang="zh-CN" dirty="0"/>
              <a:t>4</a:t>
            </a:r>
            <a:r>
              <a:rPr lang="zh-CN" altLang="zh-CN" dirty="0"/>
              <a:t>）刷新操作时序</a:t>
            </a:r>
          </a:p>
        </p:txBody>
      </p:sp>
      <p:pic>
        <p:nvPicPr>
          <p:cNvPr id="41986" name="Picture 4" descr="5"/>
          <p:cNvPicPr>
            <a:picLocks noChangeAspect="1"/>
          </p:cNvPicPr>
          <p:nvPr/>
        </p:nvPicPr>
        <p:blipFill>
          <a:blip r:embed="rId3"/>
          <a:stretch>
            <a:fillRect/>
          </a:stretch>
        </p:blipFill>
        <p:spPr>
          <a:xfrm>
            <a:off x="679450" y="2322513"/>
            <a:ext cx="7727950" cy="3190875"/>
          </a:xfrm>
          <a:prstGeom prst="rect">
            <a:avLst/>
          </a:prstGeom>
          <a:noFill/>
          <a:ln w="9525">
            <a:noFill/>
          </a:ln>
        </p:spPr>
      </p:pic>
      <p:sp>
        <p:nvSpPr>
          <p:cNvPr id="41987" name="Rectangle 6"/>
          <p:cNvSpPr/>
          <p:nvPr/>
        </p:nvSpPr>
        <p:spPr>
          <a:xfrm>
            <a:off x="1511300" y="5940425"/>
            <a:ext cx="6294438" cy="379413"/>
          </a:xfrm>
          <a:prstGeom prst="rect">
            <a:avLst/>
          </a:prstGeom>
          <a:noFill/>
          <a:ln w="9525">
            <a:noFill/>
          </a:ln>
        </p:spPr>
        <p:txBody>
          <a:bodyPr wrap="square" lIns="92075" tIns="46038" rIns="92075" bIns="46038" anchor="ctr" anchorCtr="0">
            <a:spAutoFit/>
          </a:bodyPr>
          <a:lstStyle/>
          <a:p>
            <a:pPr algn="ctr" eaLnBrk="0" hangingPunct="0"/>
            <a:r>
              <a:rPr lang="zh-CN" altLang="zh-CN" sz="2000" b="0" dirty="0">
                <a:latin typeface="宋体" panose="02010600030101010101" pitchFamily="2" charset="-122"/>
                <a:ea typeface="宋体" panose="02010600030101010101" pitchFamily="2" charset="-122"/>
              </a:rPr>
              <a:t>图</a:t>
            </a:r>
            <a:r>
              <a:rPr lang="en-US" altLang="zh-CN" sz="2000" b="0" dirty="0">
                <a:latin typeface="Times New Roman" panose="02020603050405020304" pitchFamily="18" charset="0"/>
                <a:ea typeface="宋体" panose="02010600030101010101" pitchFamily="2" charset="-122"/>
              </a:rPr>
              <a:t>5-22</a:t>
            </a:r>
            <a:r>
              <a:rPr lang="zh-CN" altLang="en-US" sz="2000" b="0" dirty="0">
                <a:latin typeface="宋体" panose="02010600030101010101" pitchFamily="2" charset="-122"/>
                <a:ea typeface="宋体" panose="02010600030101010101" pitchFamily="2" charset="-122"/>
              </a:rPr>
              <a:t>　</a:t>
            </a:r>
            <a:r>
              <a:rPr lang="en-US" altLang="zh-CN" sz="2000" b="0" dirty="0">
                <a:latin typeface="Times New Roman" panose="02020603050405020304" pitchFamily="18" charset="0"/>
                <a:ea typeface="宋体" panose="02010600030101010101" pitchFamily="2" charset="-122"/>
              </a:rPr>
              <a:t>Intel 2164A</a:t>
            </a:r>
            <a:r>
              <a:rPr lang="zh-CN" altLang="en-US" sz="2000" b="0" dirty="0">
                <a:latin typeface="宋体" panose="02010600030101010101" pitchFamily="2" charset="-122"/>
                <a:ea typeface="宋体" panose="02010600030101010101" pitchFamily="2" charset="-122"/>
              </a:rPr>
              <a:t>中     </a:t>
            </a:r>
            <a:r>
              <a:rPr lang="zh-CN" altLang="zh-CN" sz="2000" b="0" dirty="0">
                <a:latin typeface="宋体" panose="02010600030101010101" pitchFamily="2" charset="-122"/>
                <a:ea typeface="宋体" panose="02010600030101010101" pitchFamily="2" charset="-122"/>
              </a:rPr>
              <a:t>有效刷新操作的时序</a:t>
            </a:r>
            <a:r>
              <a:rPr lang="en-US" altLang="zh-CN" sz="2000" b="0" dirty="0">
                <a:latin typeface="Times New Roman" panose="02020603050405020304" pitchFamily="18" charset="0"/>
                <a:ea typeface="宋体" panose="02010600030101010101" pitchFamily="2" charset="-122"/>
              </a:rPr>
              <a:t> </a:t>
            </a:r>
            <a:endParaRPr lang="zh-CN" altLang="zh-CN" sz="6000" b="0" dirty="0">
              <a:latin typeface="宋体" panose="02010600030101010101" pitchFamily="2" charset="-122"/>
              <a:ea typeface="宋体" panose="02010600030101010101" pitchFamily="2" charset="-122"/>
            </a:endParaRPr>
          </a:p>
        </p:txBody>
      </p:sp>
      <p:graphicFrame>
        <p:nvGraphicFramePr>
          <p:cNvPr id="41988" name="对象 3"/>
          <p:cNvGraphicFramePr>
            <a:graphicFrameLocks noChangeAspect="1"/>
          </p:cNvGraphicFramePr>
          <p:nvPr/>
        </p:nvGraphicFramePr>
        <p:xfrm>
          <a:off x="4540250" y="6005513"/>
          <a:ext cx="377825" cy="247650"/>
        </p:xfrm>
        <a:graphic>
          <a:graphicData uri="http://schemas.openxmlformats.org/presentationml/2006/ole">
            <mc:AlternateContent xmlns:mc="http://schemas.openxmlformats.org/markup-compatibility/2006">
              <mc:Choice xmlns:v="urn:schemas-microsoft-com:vml" Requires="v">
                <p:oleObj spid="_x0000_s8202" r:id="rId4" imgW="306070" imgH="203835" progId="Equation.DSMT4">
                  <p:embed/>
                </p:oleObj>
              </mc:Choice>
              <mc:Fallback>
                <p:oleObj r:id="rId4" imgW="306070" imgH="203835" progId="Equation.DSMT4">
                  <p:embed/>
                  <p:pic>
                    <p:nvPicPr>
                      <p:cNvPr id="0" name="图片 3084"/>
                      <p:cNvPicPr/>
                      <p:nvPr/>
                    </p:nvPicPr>
                    <p:blipFill>
                      <a:blip r:embed="rId5"/>
                      <a:stretch>
                        <a:fillRect/>
                      </a:stretch>
                    </p:blipFill>
                    <p:spPr>
                      <a:xfrm>
                        <a:off x="4540250" y="6005513"/>
                        <a:ext cx="377825" cy="247650"/>
                      </a:xfrm>
                      <a:prstGeom prst="rect">
                        <a:avLst/>
                      </a:prstGeom>
                      <a:solidFill>
                        <a:schemeClr val="tx1"/>
                      </a:solidFill>
                      <a:ln w="38100">
                        <a:noFill/>
                        <a:miter/>
                      </a:ln>
                    </p:spPr>
                  </p:pic>
                </p:oleObj>
              </mc:Fallback>
            </mc:AlternateContent>
          </a:graphicData>
        </a:graphic>
      </p:graphicFrame>
    </p:spTree>
  </p:cSld>
  <p:clrMapOvr>
    <a:masterClrMapping/>
  </p:clrMapOvr>
  <p:transition spd="med">
    <p:random/>
  </p:transition>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417513" y="546100"/>
            <a:ext cx="8331200" cy="827088"/>
          </a:xfrm>
          <a:prstGeom prst="rect">
            <a:avLst/>
          </a:prstGeom>
          <a:ln w="9525" cap="flat" cmpd="sng" algn="ctr">
            <a:noFill/>
            <a:prstDash val="solid"/>
          </a:ln>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800" b="1" i="0" u="none" strike="noStrike" kern="0" cap="none" spc="0" normalizeH="0" baseline="0" noProof="0" dirty="0">
                <a:ln>
                  <a:noFill/>
                </a:ln>
                <a:solidFill>
                  <a:srgbClr val="E8E8E8"/>
                </a:solidFill>
                <a:effectLst/>
                <a:uLnTx/>
                <a:uFillTx/>
                <a:latin typeface="+mj-lt"/>
                <a:ea typeface="+mj-ea"/>
                <a:cs typeface="+mj-cs"/>
              </a:rPr>
              <a:t>5.2.3  </a:t>
            </a:r>
            <a:r>
              <a:rPr kumimoji="1" lang="zh-CN" altLang="zh-CN" sz="2800" b="1" i="0" u="none" strike="noStrike" kern="0" cap="none" spc="0" normalizeH="0" baseline="0" noProof="0" dirty="0">
                <a:ln>
                  <a:noFill/>
                </a:ln>
                <a:solidFill>
                  <a:srgbClr val="E8E8E8"/>
                </a:solidFill>
                <a:effectLst/>
                <a:uLnTx/>
                <a:uFillTx/>
                <a:latin typeface="+mj-lt"/>
                <a:ea typeface="+mj-ea"/>
                <a:cs typeface="+mj-cs"/>
              </a:rPr>
              <a:t>动态随机存储器（</a:t>
            </a:r>
            <a:r>
              <a:rPr kumimoji="1" lang="en-US" altLang="zh-CN" sz="2800" b="1" i="0" u="none" strike="noStrike" kern="0" cap="none" spc="0" normalizeH="0" baseline="0" noProof="0" dirty="0">
                <a:ln>
                  <a:noFill/>
                </a:ln>
                <a:solidFill>
                  <a:srgbClr val="E8E8E8"/>
                </a:solidFill>
                <a:effectLst/>
                <a:uLnTx/>
                <a:uFillTx/>
                <a:latin typeface="+mj-lt"/>
                <a:ea typeface="+mj-ea"/>
                <a:cs typeface="+mj-cs"/>
              </a:rPr>
              <a:t>DRAM</a:t>
            </a:r>
            <a:r>
              <a:rPr kumimoji="1" lang="zh-CN" altLang="zh-CN" sz="2800" b="1" i="0" u="none" strike="noStrike" kern="0" cap="none" spc="0" normalizeH="0" baseline="0" noProof="0" dirty="0">
                <a:ln>
                  <a:noFill/>
                </a:ln>
                <a:solidFill>
                  <a:srgbClr val="E8E8E8"/>
                </a:solidFill>
                <a:effectLst/>
                <a:uLnTx/>
                <a:uFillTx/>
                <a:latin typeface="+mj-lt"/>
                <a:ea typeface="+mj-ea"/>
                <a:cs typeface="+mj-cs"/>
              </a:rPr>
              <a:t>）</a:t>
            </a:r>
            <a:br>
              <a:rPr kumimoji="1" lang="zh-CN" altLang="zh-CN" sz="2800" b="1" i="0" u="none" strike="noStrike" kern="0" cap="none" spc="0" normalizeH="0" baseline="0" noProof="0" dirty="0">
                <a:ln>
                  <a:noFill/>
                </a:ln>
                <a:solidFill>
                  <a:srgbClr val="E8E8E8"/>
                </a:solidFill>
                <a:effectLst/>
                <a:uLnTx/>
                <a:uFillTx/>
                <a:latin typeface="+mj-lt"/>
                <a:ea typeface="+mj-ea"/>
                <a:cs typeface="+mj-cs"/>
              </a:rPr>
            </a:br>
            <a:endParaRPr kumimoji="1" lang="zh-CN" altLang="en-US" sz="28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endParaRPr>
          </a:p>
        </p:txBody>
      </p:sp>
      <p:sp>
        <p:nvSpPr>
          <p:cNvPr id="43010" name="内容占位符 2"/>
          <p:cNvSpPr>
            <a:spLocks noGrp="1"/>
          </p:cNvSpPr>
          <p:nvPr>
            <p:ph/>
          </p:nvPr>
        </p:nvSpPr>
        <p:spPr>
          <a:xfrm>
            <a:off x="439738" y="1370013"/>
            <a:ext cx="8197850" cy="5240337"/>
          </a:xfrm>
          <a:prstGeom prst="rect">
            <a:avLst/>
          </a:prstGeom>
          <a:noFill/>
          <a:ln w="9525">
            <a:noFill/>
          </a:ln>
        </p:spPr>
        <p:txBody>
          <a:bodyPr wrap="square" lIns="92075" tIns="46038" rIns="92075" bIns="46038" anchor="t" anchorCtr="0"/>
          <a:lstStyle/>
          <a:p>
            <a:pPr marL="0" indent="0" algn="just">
              <a:buNone/>
            </a:pPr>
            <a:r>
              <a:rPr lang="en-US" altLang="zh-CN" sz="2400" dirty="0"/>
              <a:t>【例5.3】用动态RAM芯片Intel 2116组成一个16K×8b的存储器，其地址范围为4000H～7FFFH。画出连线图。</a:t>
            </a:r>
          </a:p>
          <a:p>
            <a:pPr marL="0" indent="0" algn="just">
              <a:buNone/>
            </a:pPr>
            <a:r>
              <a:rPr lang="en-US" altLang="zh-CN" sz="2400" dirty="0"/>
              <a:t>分析：单片2116芯片的容量为16K×1b，共需要8片2116才能组成16K×8b的存储器。8片2116上的I/O线（共8根）正好与CPU的8条数据总线D7～D0相连。每片2116芯片上共有7根地址输入线，分时传送14位地址信号。因此CPU在读或写存储器时，由信号经过行列选通信号发生器与其他控制信号一起产生相应的行地址选通信号RAS、，列地址选通信号CAS、和读/写控制信号，分别送到2116和地址多路转换器。A15=0，A14=1及=0时，利用信号使动态RAM被选中。CPU的地址总线A13～A0上的行地址A6～A0和列地址A13～A7分别在RAS和CAS的控制下，经地址多路转换器被分别送入2116芯片内部的行地址锁存器和列地址锁存器。经译码后选中被寻址的存储单元。</a:t>
            </a:r>
          </a:p>
        </p:txBody>
      </p:sp>
    </p:spTree>
  </p:cSld>
  <p:clrMapOvr>
    <a:masterClrMapping/>
  </p:clrMapOvr>
  <p:transition spd="med">
    <p:random/>
  </p:transition>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417513" y="546100"/>
            <a:ext cx="8331200" cy="827088"/>
          </a:xfrm>
          <a:prstGeom prst="rect">
            <a:avLst/>
          </a:prstGeom>
          <a:ln w="9525" cap="flat" cmpd="sng" algn="ctr">
            <a:noFill/>
            <a:prstDash val="solid"/>
          </a:ln>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800" b="1" i="0" u="none" strike="noStrike" kern="0" cap="none" spc="0" normalizeH="0" baseline="0" noProof="0" dirty="0">
                <a:ln>
                  <a:noFill/>
                </a:ln>
                <a:solidFill>
                  <a:srgbClr val="E8E8E8"/>
                </a:solidFill>
                <a:effectLst/>
                <a:uLnTx/>
                <a:uFillTx/>
                <a:latin typeface="+mj-lt"/>
                <a:ea typeface="+mj-ea"/>
                <a:cs typeface="+mj-cs"/>
              </a:rPr>
              <a:t>5.2.3  </a:t>
            </a:r>
            <a:r>
              <a:rPr kumimoji="1" lang="zh-CN" altLang="zh-CN" sz="2800" b="1" i="0" u="none" strike="noStrike" kern="0" cap="none" spc="0" normalizeH="0" baseline="0" noProof="0" dirty="0">
                <a:ln>
                  <a:noFill/>
                </a:ln>
                <a:solidFill>
                  <a:srgbClr val="E8E8E8"/>
                </a:solidFill>
                <a:effectLst/>
                <a:uLnTx/>
                <a:uFillTx/>
                <a:latin typeface="+mj-lt"/>
                <a:ea typeface="+mj-ea"/>
                <a:cs typeface="+mj-cs"/>
              </a:rPr>
              <a:t>动态随机存储器（</a:t>
            </a:r>
            <a:r>
              <a:rPr kumimoji="1" lang="en-US" altLang="zh-CN" sz="2800" b="1" i="0" u="none" strike="noStrike" kern="0" cap="none" spc="0" normalizeH="0" baseline="0" noProof="0" dirty="0">
                <a:ln>
                  <a:noFill/>
                </a:ln>
                <a:solidFill>
                  <a:srgbClr val="E8E8E8"/>
                </a:solidFill>
                <a:effectLst/>
                <a:uLnTx/>
                <a:uFillTx/>
                <a:latin typeface="+mj-lt"/>
                <a:ea typeface="+mj-ea"/>
                <a:cs typeface="+mj-cs"/>
              </a:rPr>
              <a:t>DRAM</a:t>
            </a:r>
            <a:r>
              <a:rPr kumimoji="1" lang="zh-CN" altLang="zh-CN" sz="2800" b="1" i="0" u="none" strike="noStrike" kern="0" cap="none" spc="0" normalizeH="0" baseline="0" noProof="0" dirty="0">
                <a:ln>
                  <a:noFill/>
                </a:ln>
                <a:solidFill>
                  <a:srgbClr val="E8E8E8"/>
                </a:solidFill>
                <a:effectLst/>
                <a:uLnTx/>
                <a:uFillTx/>
                <a:latin typeface="+mj-lt"/>
                <a:ea typeface="+mj-ea"/>
                <a:cs typeface="+mj-cs"/>
              </a:rPr>
              <a:t>）</a:t>
            </a:r>
            <a:br>
              <a:rPr kumimoji="1" lang="zh-CN" altLang="zh-CN" sz="2800" b="1" i="0" u="none" strike="noStrike" kern="0" cap="none" spc="0" normalizeH="0" baseline="0" noProof="0" dirty="0">
                <a:ln>
                  <a:noFill/>
                </a:ln>
                <a:solidFill>
                  <a:srgbClr val="E8E8E8"/>
                </a:solidFill>
                <a:effectLst/>
                <a:uLnTx/>
                <a:uFillTx/>
                <a:latin typeface="+mj-lt"/>
                <a:ea typeface="+mj-ea"/>
                <a:cs typeface="+mj-cs"/>
              </a:rPr>
            </a:br>
            <a:endParaRPr kumimoji="1" lang="zh-CN" altLang="en-US" sz="28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endParaRPr>
          </a:p>
        </p:txBody>
      </p:sp>
      <p:sp>
        <p:nvSpPr>
          <p:cNvPr id="44034" name="内容占位符 2"/>
          <p:cNvSpPr>
            <a:spLocks noGrp="1"/>
          </p:cNvSpPr>
          <p:nvPr>
            <p:ph/>
          </p:nvPr>
        </p:nvSpPr>
        <p:spPr>
          <a:xfrm>
            <a:off x="439738" y="1420813"/>
            <a:ext cx="8197850" cy="5240337"/>
          </a:xfrm>
          <a:prstGeom prst="rect">
            <a:avLst/>
          </a:prstGeom>
          <a:noFill/>
          <a:ln w="9525">
            <a:noFill/>
          </a:ln>
        </p:spPr>
        <p:txBody>
          <a:bodyPr wrap="square" lIns="92075" tIns="46038" rIns="92075" bIns="46038" anchor="t" anchorCtr="0"/>
          <a:lstStyle/>
          <a:p>
            <a:pPr marL="0" indent="0">
              <a:buNone/>
            </a:pPr>
            <a:r>
              <a:rPr lang="en-US" altLang="zh-CN" sz="2400" dirty="0"/>
              <a:t>动态RAM存储芯片2116与CPU的连接线路图如图5-24所示。</a:t>
            </a:r>
          </a:p>
        </p:txBody>
      </p:sp>
      <p:pic>
        <p:nvPicPr>
          <p:cNvPr id="44035" name="Picture 130" descr="5"/>
          <p:cNvPicPr>
            <a:picLocks noChangeAspect="1"/>
          </p:cNvPicPr>
          <p:nvPr/>
        </p:nvPicPr>
        <p:blipFill>
          <a:blip r:embed="rId2"/>
          <a:stretch>
            <a:fillRect/>
          </a:stretch>
        </p:blipFill>
        <p:spPr>
          <a:xfrm>
            <a:off x="590550" y="2005013"/>
            <a:ext cx="7626350" cy="4498975"/>
          </a:xfrm>
          <a:prstGeom prst="rect">
            <a:avLst/>
          </a:prstGeom>
          <a:noFill/>
          <a:ln w="9525">
            <a:noFill/>
          </a:ln>
        </p:spPr>
      </p:pic>
    </p:spTree>
  </p:cSld>
  <p:clrMapOvr>
    <a:masterClrMapping/>
  </p:clrMapOvr>
  <p:transition spd="med">
    <p:random/>
  </p:transition>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417513" y="546100"/>
            <a:ext cx="8331200" cy="827088"/>
          </a:xfrm>
          <a:prstGeom prst="rect">
            <a:avLst/>
          </a:prstGeom>
          <a:ln w="9525" cap="flat" cmpd="sng" algn="ctr">
            <a:noFill/>
            <a:prstDash val="solid"/>
          </a:ln>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800" b="1" i="0" u="none" strike="noStrike" kern="0" cap="none" spc="0" normalizeH="0" baseline="0" noProof="0" dirty="0">
                <a:ln>
                  <a:noFill/>
                </a:ln>
                <a:solidFill>
                  <a:srgbClr val="E8E8E8"/>
                </a:solidFill>
                <a:effectLst/>
                <a:uLnTx/>
                <a:uFillTx/>
                <a:latin typeface="+mj-lt"/>
                <a:ea typeface="+mj-ea"/>
                <a:cs typeface="+mj-cs"/>
              </a:rPr>
              <a:t>5.2.4  </a:t>
            </a:r>
            <a:r>
              <a:rPr kumimoji="1" altLang="zh-CN" sz="2800" b="1" i="0" u="none" strike="noStrike" kern="0" cap="none" spc="0" normalizeH="0" baseline="0" noProof="0" dirty="0">
                <a:ln>
                  <a:noFill/>
                </a:ln>
                <a:solidFill>
                  <a:srgbClr val="E8E8E8"/>
                </a:solidFill>
                <a:effectLst/>
                <a:uLnTx/>
                <a:uFillTx/>
                <a:latin typeface="+mj-lt"/>
                <a:ea typeface="+mj-ea"/>
                <a:cs typeface="+mj-cs"/>
              </a:rPr>
              <a:t>存储器扩展技术</a:t>
            </a:r>
            <a:br>
              <a:rPr kumimoji="1" lang="zh-CN" altLang="zh-CN" sz="2800" b="1" i="0" u="none" strike="noStrike" kern="0" cap="none" spc="0" normalizeH="0" baseline="0" noProof="0" dirty="0">
                <a:ln>
                  <a:noFill/>
                </a:ln>
                <a:solidFill>
                  <a:srgbClr val="E8E8E8"/>
                </a:solidFill>
                <a:effectLst/>
                <a:uLnTx/>
                <a:uFillTx/>
                <a:latin typeface="+mj-lt"/>
                <a:ea typeface="+mj-ea"/>
                <a:cs typeface="+mj-cs"/>
              </a:rPr>
            </a:br>
            <a:endParaRPr kumimoji="1" lang="zh-CN" altLang="en-US" sz="28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endParaRPr>
          </a:p>
        </p:txBody>
      </p:sp>
      <p:sp>
        <p:nvSpPr>
          <p:cNvPr id="45058" name="内容占位符 2"/>
          <p:cNvSpPr>
            <a:spLocks noGrp="1"/>
          </p:cNvSpPr>
          <p:nvPr>
            <p:ph/>
          </p:nvPr>
        </p:nvSpPr>
        <p:spPr>
          <a:xfrm>
            <a:off x="439738" y="1619250"/>
            <a:ext cx="8197850" cy="5041900"/>
          </a:xfrm>
          <a:prstGeom prst="rect">
            <a:avLst/>
          </a:prstGeom>
          <a:noFill/>
          <a:ln w="9525">
            <a:noFill/>
          </a:ln>
        </p:spPr>
        <p:txBody>
          <a:bodyPr wrap="square" lIns="92075" tIns="46038" rIns="92075" bIns="46038" anchor="t" anchorCtr="0"/>
          <a:lstStyle/>
          <a:p>
            <a:pPr marL="0" indent="0">
              <a:buNone/>
            </a:pPr>
            <a:r>
              <a:rPr lang="en-US" altLang="en-US" sz="2400" dirty="0"/>
              <a:t>        </a:t>
            </a:r>
            <a:r>
              <a:rPr lang="en-US" altLang="zh-CN" sz="2400" dirty="0"/>
              <a:t>一个系统的存储系统容量取决于地址线的位数，一般都远远大于单片存储器芯片的容量。每一个存储器芯片的容量都是有限的，而且其字长有时也不能正好满足计算机系统对字长的要求。因此，微机系统的存储器总是由多个存储器芯片共同构成的。对存储芯片进行扩展与连接时要考虑两方面问题，一是如何用容量较小、字长较短的芯片组成满足系统容量要求的存储器；另一个是存储器如何与CPU连接。存储器芯片的扩展包括位扩展、字扩展和字位扩展等三种情况。 </a:t>
            </a:r>
          </a:p>
          <a:p>
            <a:pPr marL="0" indent="0">
              <a:buNone/>
            </a:pPr>
            <a:r>
              <a:rPr lang="en-US" altLang="zh-CN" sz="2400" dirty="0"/>
              <a:t>1．位扩展 </a:t>
            </a:r>
          </a:p>
          <a:p>
            <a:pPr marL="0" indent="0">
              <a:buNone/>
            </a:pPr>
            <a:r>
              <a:rPr lang="en-US" altLang="zh-CN" sz="2400" dirty="0"/>
              <a:t>位扩展是指存储器芯片的字（单元）数满足要求而位数不够，需对每个存储单元的位数进行扩展。</a:t>
            </a:r>
          </a:p>
        </p:txBody>
      </p:sp>
    </p:spTree>
  </p:cSld>
  <p:clrMapOvr>
    <a:masterClrMapping/>
  </p:clrMapOvr>
  <p:transition spd="med">
    <p:random/>
  </p:transition>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417513" y="546100"/>
            <a:ext cx="8331200" cy="827088"/>
          </a:xfrm>
          <a:prstGeom prst="rect">
            <a:avLst/>
          </a:prstGeom>
          <a:ln w="9525" cap="flat" cmpd="sng" algn="ctr">
            <a:noFill/>
            <a:prstDash val="solid"/>
          </a:ln>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800" b="1" i="0" u="none" strike="noStrike" kern="0" cap="none" spc="0" normalizeH="0" baseline="0" noProof="0" dirty="0">
                <a:ln>
                  <a:noFill/>
                </a:ln>
                <a:solidFill>
                  <a:srgbClr val="E8E8E8"/>
                </a:solidFill>
                <a:effectLst/>
                <a:uLnTx/>
                <a:uFillTx/>
                <a:latin typeface="+mj-lt"/>
                <a:ea typeface="+mj-ea"/>
                <a:cs typeface="+mj-cs"/>
              </a:rPr>
              <a:t>5.2.4  </a:t>
            </a:r>
            <a:r>
              <a:rPr kumimoji="1" altLang="zh-CN" sz="2800" b="1" i="0" u="none" strike="noStrike" kern="0" cap="none" spc="0" normalizeH="0" baseline="0" noProof="0" dirty="0">
                <a:ln>
                  <a:noFill/>
                </a:ln>
                <a:solidFill>
                  <a:srgbClr val="E8E8E8"/>
                </a:solidFill>
                <a:effectLst/>
                <a:uLnTx/>
                <a:uFillTx/>
                <a:latin typeface="+mj-lt"/>
                <a:ea typeface="+mj-ea"/>
                <a:cs typeface="+mj-cs"/>
              </a:rPr>
              <a:t>存储器扩展技术</a:t>
            </a:r>
            <a:br>
              <a:rPr kumimoji="1" lang="zh-CN" altLang="zh-CN" sz="2800" b="1" i="0" u="none" strike="noStrike" kern="0" cap="none" spc="0" normalizeH="0" baseline="0" noProof="0" dirty="0">
                <a:ln>
                  <a:noFill/>
                </a:ln>
                <a:solidFill>
                  <a:srgbClr val="E8E8E8"/>
                </a:solidFill>
                <a:effectLst/>
                <a:uLnTx/>
                <a:uFillTx/>
                <a:latin typeface="+mj-lt"/>
                <a:ea typeface="+mj-ea"/>
                <a:cs typeface="+mj-cs"/>
              </a:rPr>
            </a:br>
            <a:endParaRPr kumimoji="1" lang="zh-CN" altLang="en-US" sz="28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endParaRPr>
          </a:p>
        </p:txBody>
      </p:sp>
      <p:sp>
        <p:nvSpPr>
          <p:cNvPr id="46082" name="内容占位符 2"/>
          <p:cNvSpPr>
            <a:spLocks noGrp="1"/>
          </p:cNvSpPr>
          <p:nvPr>
            <p:ph/>
          </p:nvPr>
        </p:nvSpPr>
        <p:spPr>
          <a:xfrm>
            <a:off x="322263" y="1338263"/>
            <a:ext cx="8629650" cy="2187575"/>
          </a:xfrm>
          <a:prstGeom prst="rect">
            <a:avLst/>
          </a:prstGeom>
          <a:noFill/>
          <a:ln w="9525">
            <a:noFill/>
          </a:ln>
        </p:spPr>
        <p:txBody>
          <a:bodyPr wrap="square" lIns="92075" tIns="46038" rIns="92075" bIns="46038" anchor="t" anchorCtr="0"/>
          <a:lstStyle/>
          <a:p>
            <a:pPr marL="0" indent="0">
              <a:buNone/>
            </a:pPr>
            <a:r>
              <a:rPr lang="en-US" altLang="zh-CN" sz="2000" dirty="0"/>
              <a:t>【例5.4】用8K×1b的RAM芯片通过扩展构成8KB的存储器系统。</a:t>
            </a:r>
          </a:p>
          <a:p>
            <a:pPr marL="0" indent="0">
              <a:buNone/>
            </a:pPr>
            <a:r>
              <a:rPr lang="en-US" altLang="zh-CN" sz="2000" dirty="0"/>
              <a:t>分析：由于存储器的字数与存储器芯片的字数一致，都是8K，</a:t>
            </a:r>
            <a:r>
              <a:rPr lang="en-US" altLang="zh-CN" sz="2000"/>
              <a:t>即2^13</a:t>
            </a:r>
            <a:r>
              <a:rPr lang="en-US" altLang="zh-CN" sz="2000" dirty="0"/>
              <a:t>，所以需要13根地址线(A0～A12)对各芯片内的存储单元寻址。而每个一芯片只有一条数据线，要组成8KB的存储器系统则需要有8片8K×1b的芯片，将每片数据线分别接到数据总线（D0～D7）的相应位。</a:t>
            </a:r>
          </a:p>
          <a:p>
            <a:pPr marL="0" indent="0">
              <a:buNone/>
            </a:pPr>
            <a:r>
              <a:rPr lang="en-US" altLang="zh-CN" sz="2000" dirty="0"/>
              <a:t>所需的芯片数=总容量/单个芯片容量=（8K×8b）/（8K×1b）=8</a:t>
            </a:r>
          </a:p>
        </p:txBody>
      </p:sp>
      <p:pic>
        <p:nvPicPr>
          <p:cNvPr id="46083" name="Picture 129" descr="5"/>
          <p:cNvPicPr>
            <a:picLocks noChangeAspect="1"/>
          </p:cNvPicPr>
          <p:nvPr/>
        </p:nvPicPr>
        <p:blipFill>
          <a:blip r:embed="rId2"/>
          <a:stretch>
            <a:fillRect/>
          </a:stretch>
        </p:blipFill>
        <p:spPr>
          <a:xfrm>
            <a:off x="1865313" y="3384550"/>
            <a:ext cx="4640262" cy="3317875"/>
          </a:xfrm>
          <a:prstGeom prst="rect">
            <a:avLst/>
          </a:prstGeom>
          <a:noFill/>
          <a:ln w="9525">
            <a:noFill/>
          </a:ln>
        </p:spPr>
      </p:pic>
    </p:spTree>
  </p:cSld>
  <p:clrMapOvr>
    <a:masterClrMapping/>
  </p:clrMapOvr>
  <p:transition spd="med">
    <p:random/>
  </p:transition>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417513" y="546100"/>
            <a:ext cx="8331200" cy="827088"/>
          </a:xfrm>
          <a:prstGeom prst="rect">
            <a:avLst/>
          </a:prstGeom>
          <a:ln w="9525" cap="flat" cmpd="sng" algn="ctr">
            <a:noFill/>
            <a:prstDash val="solid"/>
          </a:ln>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800" b="1" i="0" u="none" strike="noStrike" kern="0" cap="none" spc="0" normalizeH="0" baseline="0" noProof="0" dirty="0">
                <a:ln>
                  <a:noFill/>
                </a:ln>
                <a:solidFill>
                  <a:srgbClr val="E8E8E8"/>
                </a:solidFill>
                <a:effectLst/>
                <a:uLnTx/>
                <a:uFillTx/>
                <a:latin typeface="+mj-lt"/>
                <a:ea typeface="+mj-ea"/>
                <a:cs typeface="+mj-cs"/>
              </a:rPr>
              <a:t>5.2.4  </a:t>
            </a:r>
            <a:r>
              <a:rPr kumimoji="1" altLang="zh-CN" sz="2800" b="1" i="0" u="none" strike="noStrike" kern="0" cap="none" spc="0" normalizeH="0" baseline="0" noProof="0" dirty="0">
                <a:ln>
                  <a:noFill/>
                </a:ln>
                <a:solidFill>
                  <a:srgbClr val="E8E8E8"/>
                </a:solidFill>
                <a:effectLst/>
                <a:uLnTx/>
                <a:uFillTx/>
                <a:latin typeface="+mj-lt"/>
                <a:ea typeface="+mj-ea"/>
                <a:cs typeface="+mj-cs"/>
              </a:rPr>
              <a:t>存储器扩展技术</a:t>
            </a:r>
            <a:br>
              <a:rPr kumimoji="1" lang="zh-CN" altLang="zh-CN" sz="2800" b="1" i="0" u="none" strike="noStrike" kern="0" cap="none" spc="0" normalizeH="0" baseline="0" noProof="0" dirty="0">
                <a:ln>
                  <a:noFill/>
                </a:ln>
                <a:solidFill>
                  <a:srgbClr val="E8E8E8"/>
                </a:solidFill>
                <a:effectLst/>
                <a:uLnTx/>
                <a:uFillTx/>
                <a:latin typeface="+mj-lt"/>
                <a:ea typeface="+mj-ea"/>
                <a:cs typeface="+mj-cs"/>
              </a:rPr>
            </a:br>
            <a:endParaRPr kumimoji="1" lang="zh-CN" altLang="en-US" sz="28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endParaRPr>
          </a:p>
        </p:txBody>
      </p:sp>
      <p:sp>
        <p:nvSpPr>
          <p:cNvPr id="47106" name="内容占位符 2"/>
          <p:cNvSpPr>
            <a:spLocks noGrp="1"/>
          </p:cNvSpPr>
          <p:nvPr>
            <p:ph/>
          </p:nvPr>
        </p:nvSpPr>
        <p:spPr>
          <a:xfrm>
            <a:off x="371475" y="1316038"/>
            <a:ext cx="8512175" cy="2408237"/>
          </a:xfrm>
          <a:prstGeom prst="rect">
            <a:avLst/>
          </a:prstGeom>
          <a:noFill/>
          <a:ln w="9525">
            <a:noFill/>
          </a:ln>
        </p:spPr>
        <p:txBody>
          <a:bodyPr wrap="square" lIns="92075" tIns="46038" rIns="92075" bIns="46038" anchor="t" anchorCtr="0"/>
          <a:lstStyle/>
          <a:p>
            <a:pPr marL="0" indent="0">
              <a:buNone/>
            </a:pPr>
            <a:r>
              <a:rPr lang="en-US" altLang="zh-CN" sz="2000" dirty="0"/>
              <a:t>2．字扩展 </a:t>
            </a:r>
          </a:p>
          <a:p>
            <a:pPr marL="0" indent="0">
              <a:buNone/>
            </a:pPr>
            <a:r>
              <a:rPr lang="en-US" altLang="zh-CN" sz="2000" dirty="0"/>
              <a:t>字扩展用于存储芯片的位数满足要求而字数不够的情况，是对存储单元数量的扩展。</a:t>
            </a:r>
          </a:p>
          <a:p>
            <a:pPr marL="0" indent="0">
              <a:buNone/>
            </a:pPr>
            <a:r>
              <a:rPr lang="en-US" altLang="zh-CN" sz="2000" dirty="0"/>
              <a:t>【例5.5】用16K×8b的芯片构成一个64KB的存储器系统。 </a:t>
            </a:r>
          </a:p>
          <a:p>
            <a:pPr marL="0" indent="0">
              <a:buNone/>
            </a:pPr>
            <a:r>
              <a:rPr lang="en-US" altLang="zh-CN" sz="2000" dirty="0"/>
              <a:t>分析：所给芯片与要求构成的存储器系统的字长相同，都是8b，因此需要进行字扩展。要达到所要求的容量，需要增加芯片的数量来实现字节数的增加，即需要进行字的扩展。所需芯片数=（64K×8b）/（16K×8b）=4。</a:t>
            </a:r>
          </a:p>
        </p:txBody>
      </p:sp>
      <p:pic>
        <p:nvPicPr>
          <p:cNvPr id="47107" name="Picture 131" descr="5"/>
          <p:cNvPicPr>
            <a:picLocks noChangeAspect="1"/>
          </p:cNvPicPr>
          <p:nvPr/>
        </p:nvPicPr>
        <p:blipFill>
          <a:blip r:embed="rId2"/>
          <a:stretch>
            <a:fillRect/>
          </a:stretch>
        </p:blipFill>
        <p:spPr>
          <a:xfrm>
            <a:off x="1927225" y="3730625"/>
            <a:ext cx="4402138" cy="3098800"/>
          </a:xfrm>
          <a:prstGeom prst="rect">
            <a:avLst/>
          </a:prstGeom>
          <a:noFill/>
          <a:ln w="9525">
            <a:noFill/>
          </a:ln>
        </p:spPr>
      </p:pic>
    </p:spTree>
  </p:cSld>
  <p:clrMapOvr>
    <a:masterClrMapping/>
  </p:clrMapOvr>
  <p:transition spd="med">
    <p:random/>
  </p:transition>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417513" y="546100"/>
            <a:ext cx="8331200" cy="827088"/>
          </a:xfrm>
          <a:prstGeom prst="rect">
            <a:avLst/>
          </a:prstGeom>
          <a:ln w="9525" cap="flat" cmpd="sng" algn="ctr">
            <a:noFill/>
            <a:prstDash val="solid"/>
          </a:ln>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800" b="1" i="0" u="none" strike="noStrike" kern="0" cap="none" spc="0" normalizeH="0" baseline="0" noProof="0" dirty="0">
                <a:ln>
                  <a:noFill/>
                </a:ln>
                <a:solidFill>
                  <a:srgbClr val="E8E8E8"/>
                </a:solidFill>
                <a:effectLst/>
                <a:uLnTx/>
                <a:uFillTx/>
                <a:latin typeface="+mj-lt"/>
                <a:ea typeface="+mj-ea"/>
                <a:cs typeface="+mj-cs"/>
              </a:rPr>
              <a:t>5.2.4  </a:t>
            </a:r>
            <a:r>
              <a:rPr kumimoji="1" altLang="zh-CN" sz="2800" b="1" i="0" u="none" strike="noStrike" kern="0" cap="none" spc="0" normalizeH="0" baseline="0" noProof="0" dirty="0">
                <a:ln>
                  <a:noFill/>
                </a:ln>
                <a:solidFill>
                  <a:srgbClr val="E8E8E8"/>
                </a:solidFill>
                <a:effectLst/>
                <a:uLnTx/>
                <a:uFillTx/>
                <a:latin typeface="+mj-lt"/>
                <a:ea typeface="+mj-ea"/>
                <a:cs typeface="+mj-cs"/>
              </a:rPr>
              <a:t>存储器扩展技术</a:t>
            </a:r>
            <a:br>
              <a:rPr kumimoji="1" lang="zh-CN" altLang="zh-CN" sz="2400" b="1" i="0" u="none" strike="noStrike" kern="0" cap="none" spc="0" normalizeH="0" baseline="0" noProof="0" dirty="0">
                <a:ln>
                  <a:noFill/>
                </a:ln>
                <a:solidFill>
                  <a:srgbClr val="E8E8E8"/>
                </a:solidFill>
                <a:effectLst/>
                <a:uLnTx/>
                <a:uFillTx/>
                <a:latin typeface="+mj-lt"/>
                <a:ea typeface="+mj-ea"/>
                <a:cs typeface="+mj-cs"/>
              </a:rPr>
            </a:br>
            <a:endParaRPr kumimoji="1" lang="zh-CN" altLang="en-US" sz="24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endParaRPr>
          </a:p>
        </p:txBody>
      </p:sp>
      <p:sp>
        <p:nvSpPr>
          <p:cNvPr id="48130" name="内容占位符 2"/>
          <p:cNvSpPr>
            <a:spLocks noGrp="1"/>
          </p:cNvSpPr>
          <p:nvPr>
            <p:ph/>
          </p:nvPr>
        </p:nvSpPr>
        <p:spPr>
          <a:xfrm>
            <a:off x="193675" y="1331913"/>
            <a:ext cx="8682038" cy="2147887"/>
          </a:xfrm>
          <a:prstGeom prst="rect">
            <a:avLst/>
          </a:prstGeom>
          <a:noFill/>
          <a:ln w="9525">
            <a:noFill/>
          </a:ln>
        </p:spPr>
        <p:txBody>
          <a:bodyPr wrap="square" lIns="92075" tIns="46038" rIns="92075" bIns="46038" anchor="t" anchorCtr="0"/>
          <a:lstStyle/>
          <a:p>
            <a:pPr marL="0" indent="0" algn="just">
              <a:buNone/>
            </a:pPr>
            <a:r>
              <a:rPr lang="en-US" altLang="zh-CN" sz="2000" dirty="0"/>
              <a:t>3．字位扩展 </a:t>
            </a:r>
          </a:p>
          <a:p>
            <a:pPr marL="0" indent="0" algn="just">
              <a:buNone/>
            </a:pPr>
            <a:r>
              <a:rPr lang="en-US" altLang="zh-CN" sz="2000" dirty="0"/>
              <a:t>在实际应用中，往往会遇到字数和位数都需要扩展的情况。若使用l×k位存储器芯片构成一个容量为M×N位（M&gt;l，N&gt;k）的存储器，那么这个存储器共需要（M/l）×（N/k）个存储器芯片。连接时可将这些芯片分成（M/l）个组，每组有（N/k）个芯片，组内采用位扩展法，组间采用字扩展法。 </a:t>
            </a:r>
          </a:p>
          <a:p>
            <a:pPr marL="0" indent="0" algn="just">
              <a:buNone/>
            </a:pPr>
            <a:r>
              <a:rPr lang="en-US" altLang="zh-CN" sz="2000" dirty="0"/>
              <a:t>【例5.6】用2114（1K×4b）RAM芯片构成4K×8b的存储器系统。</a:t>
            </a:r>
          </a:p>
        </p:txBody>
      </p:sp>
      <p:pic>
        <p:nvPicPr>
          <p:cNvPr id="48131" name="Picture 132" descr="5"/>
          <p:cNvPicPr>
            <a:picLocks noChangeAspect="1"/>
          </p:cNvPicPr>
          <p:nvPr/>
        </p:nvPicPr>
        <p:blipFill>
          <a:blip r:embed="rId2"/>
          <a:stretch>
            <a:fillRect/>
          </a:stretch>
        </p:blipFill>
        <p:spPr>
          <a:xfrm>
            <a:off x="2236788" y="3408363"/>
            <a:ext cx="3748087" cy="3327400"/>
          </a:xfrm>
          <a:prstGeom prst="rect">
            <a:avLst/>
          </a:prstGeom>
          <a:noFill/>
          <a:ln w="9525">
            <a:noFill/>
          </a:ln>
        </p:spPr>
      </p:pic>
    </p:spTree>
  </p:cSld>
  <p:clrMapOvr>
    <a:masterClrMapping/>
  </p:clrMapOvr>
  <p:transition spd="med">
    <p:random/>
  </p:transition>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417513" y="546100"/>
            <a:ext cx="8331200" cy="827088"/>
          </a:xfrm>
          <a:prstGeom prst="rect">
            <a:avLst/>
          </a:prstGeom>
          <a:ln w="9525" cap="flat" cmpd="sng" algn="ctr">
            <a:noFill/>
            <a:prstDash val="solid"/>
          </a:ln>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800" b="1" i="0" u="none" strike="noStrike" kern="0" cap="none" spc="0" normalizeH="0" baseline="0" noProof="0" dirty="0">
                <a:ln>
                  <a:noFill/>
                </a:ln>
                <a:solidFill>
                  <a:srgbClr val="E8E8E8"/>
                </a:solidFill>
                <a:effectLst/>
                <a:uLnTx/>
                <a:uFillTx/>
                <a:latin typeface="+mj-lt"/>
                <a:ea typeface="+mj-ea"/>
                <a:cs typeface="+mj-cs"/>
              </a:rPr>
              <a:t>5.2.5  </a:t>
            </a:r>
            <a:r>
              <a:rPr kumimoji="1" altLang="zh-CN" sz="2800" b="1" i="0" u="none" strike="noStrike" kern="0" cap="none" spc="0" normalizeH="0" baseline="0" noProof="0" dirty="0">
                <a:ln>
                  <a:noFill/>
                </a:ln>
                <a:solidFill>
                  <a:srgbClr val="E8E8E8"/>
                </a:solidFill>
                <a:effectLst/>
                <a:uLnTx/>
                <a:uFillTx/>
                <a:latin typeface="+mj-lt"/>
                <a:ea typeface="+mj-ea"/>
                <a:cs typeface="+mj-cs"/>
              </a:rPr>
              <a:t>存储器与系统的连线</a:t>
            </a:r>
            <a:br>
              <a:rPr kumimoji="1" lang="zh-CN" altLang="zh-CN" sz="2800" b="1" i="0" u="none" strike="noStrike" kern="0" cap="none" spc="0" normalizeH="0" baseline="0" noProof="0" dirty="0">
                <a:ln>
                  <a:noFill/>
                </a:ln>
                <a:solidFill>
                  <a:srgbClr val="E8E8E8"/>
                </a:solidFill>
                <a:effectLst/>
                <a:uLnTx/>
                <a:uFillTx/>
                <a:latin typeface="+mj-lt"/>
                <a:ea typeface="+mj-ea"/>
                <a:cs typeface="+mj-cs"/>
              </a:rPr>
            </a:br>
            <a:endParaRPr kumimoji="1" lang="zh-CN" altLang="en-US" sz="28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endParaRPr>
          </a:p>
        </p:txBody>
      </p:sp>
      <p:sp>
        <p:nvSpPr>
          <p:cNvPr id="49154" name="内容占位符 2"/>
          <p:cNvSpPr>
            <a:spLocks noGrp="1"/>
          </p:cNvSpPr>
          <p:nvPr>
            <p:ph/>
          </p:nvPr>
        </p:nvSpPr>
        <p:spPr>
          <a:xfrm>
            <a:off x="369888" y="1647825"/>
            <a:ext cx="8148637" cy="4335463"/>
          </a:xfrm>
          <a:prstGeom prst="rect">
            <a:avLst/>
          </a:prstGeom>
          <a:noFill/>
          <a:ln w="9525">
            <a:noFill/>
          </a:ln>
        </p:spPr>
        <p:txBody>
          <a:bodyPr wrap="square" lIns="92075" tIns="46038" rIns="92075" bIns="46038" anchor="t" anchorCtr="0"/>
          <a:lstStyle/>
          <a:p>
            <a:pPr marL="0" indent="0" algn="just">
              <a:buNone/>
            </a:pPr>
            <a:r>
              <a:rPr lang="en-US" altLang="en-US" sz="2000" dirty="0"/>
              <a:t>        </a:t>
            </a:r>
            <a:r>
              <a:rPr lang="en-US" altLang="zh-CN" sz="2000" dirty="0"/>
              <a:t>存储器应用到系统中实际上就是如何将存储器与系统总线连接在一起。CPU对存储器进行读/写操作，首先要由地址总线给出地址信号，选择要进行读/写操作的存储单元，然后通过控制总线发出相应的读/写控制信号，最后才能在数据总线上进行数据交换。因此存储器与系统的连线主要包括地址线、数据线、控制线。</a:t>
            </a:r>
          </a:p>
          <a:p>
            <a:pPr marL="0" indent="0" algn="just">
              <a:buNone/>
            </a:pPr>
            <a:r>
              <a:rPr lang="en-US" altLang="zh-CN" sz="2000" dirty="0"/>
              <a:t>在实际连线时，需要考虑以下几个问题。</a:t>
            </a:r>
          </a:p>
          <a:p>
            <a:pPr marL="0" indent="0" algn="just">
              <a:buNone/>
            </a:pPr>
            <a:r>
              <a:rPr lang="en-US" altLang="zh-CN" sz="2000" dirty="0"/>
              <a:t>（1）CPU总线的负载能力。</a:t>
            </a:r>
          </a:p>
          <a:p>
            <a:pPr marL="0" indent="0" algn="just">
              <a:buNone/>
            </a:pPr>
            <a:r>
              <a:rPr lang="en-US" altLang="zh-CN" sz="2000" dirty="0"/>
              <a:t>（2）CPU的时序和存储器的存取速度之间的配合问题。</a:t>
            </a:r>
          </a:p>
          <a:p>
            <a:pPr marL="0" indent="0" algn="just">
              <a:buNone/>
            </a:pPr>
            <a:r>
              <a:rPr lang="en-US" altLang="zh-CN" sz="2000" dirty="0"/>
              <a:t>（3）片选信号和存储器的地址分配问题。</a:t>
            </a:r>
          </a:p>
          <a:p>
            <a:pPr marL="0" indent="0" algn="just">
              <a:buNone/>
            </a:pPr>
            <a:r>
              <a:rPr lang="en-US" altLang="zh-CN" sz="2000" dirty="0"/>
              <a:t>（4）控制信号的连接。</a:t>
            </a:r>
          </a:p>
        </p:txBody>
      </p:sp>
    </p:spTree>
  </p:cSld>
  <p:clrMapOvr>
    <a:masterClrMapping/>
  </p:clrMapOvr>
  <p:transition spd="med">
    <p:random/>
  </p:transition>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722" name="标题 1"/>
          <p:cNvSpPr>
            <a:spLocks noGrp="1"/>
          </p:cNvSpPr>
          <p:nvPr>
            <p:ph type="title" idx="4294967295"/>
          </p:nvPr>
        </p:nvSpPr>
        <p:spPr>
          <a:xfrm>
            <a:off x="417513" y="228600"/>
            <a:ext cx="8331200" cy="1143000"/>
          </a:xfrm>
          <a:prstGeom prst="rect">
            <a:avLst/>
          </a:prstGeom>
          <a:ln w="9525" cap="flat" cmpd="sng" algn="ctr">
            <a:noFill/>
            <a:prstDash val="solid"/>
            <a:miter/>
          </a:ln>
        </p:spPr>
        <p:txBody>
          <a:bodyPr vert="horz" wrap="square" lIns="92075" tIns="46038" rIns="92075" bIns="46038" numCol="1" anchor="ctr" anchorCtr="0" compatLnSpc="1"/>
          <a:lstStyle/>
          <a:p>
            <a:pPr marL="0" marR="0" indent="0" algn="l"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5.3  只读存储器（ROM）</a:t>
            </a:r>
          </a:p>
        </p:txBody>
      </p:sp>
      <p:sp>
        <p:nvSpPr>
          <p:cNvPr id="50178" name="内容占位符 2"/>
          <p:cNvSpPr>
            <a:spLocks noGrp="1"/>
          </p:cNvSpPr>
          <p:nvPr>
            <p:ph/>
          </p:nvPr>
        </p:nvSpPr>
        <p:spPr>
          <a:xfrm>
            <a:off x="536575" y="1727200"/>
            <a:ext cx="8197850" cy="4529138"/>
          </a:xfrm>
          <a:prstGeom prst="rect">
            <a:avLst/>
          </a:prstGeom>
          <a:noFill/>
          <a:ln w="9525">
            <a:noFill/>
          </a:ln>
        </p:spPr>
        <p:txBody>
          <a:bodyPr wrap="square" lIns="92075" tIns="46038" rIns="92075" bIns="46038" anchor="t" anchorCtr="0"/>
          <a:lstStyle/>
          <a:p>
            <a:pPr marL="0" indent="457200" eaLnBrk="1">
              <a:buNone/>
            </a:pPr>
            <a:r>
              <a:rPr lang="en-US" altLang="zh-CN" dirty="0"/>
              <a:t>   </a:t>
            </a:r>
            <a:r>
              <a:rPr lang="zh-CN" altLang="zh-CN" dirty="0"/>
              <a:t>只读存储器（</a:t>
            </a:r>
            <a:r>
              <a:rPr lang="en-US" altLang="zh-CN" dirty="0"/>
              <a:t>ROM</a:t>
            </a:r>
            <a:r>
              <a:rPr lang="zh-CN" altLang="zh-CN" dirty="0"/>
              <a:t>）的结构简单，集成度高，断电后信息不会丢失，是一种非易失性器件，可靠性比较高，因此一般用于存放一些固定的程序，如监控程序、</a:t>
            </a:r>
            <a:r>
              <a:rPr lang="en-US" altLang="zh-CN" dirty="0"/>
              <a:t>BIOS</a:t>
            </a:r>
            <a:r>
              <a:rPr lang="zh-CN" altLang="zh-CN" dirty="0"/>
              <a:t>程序等。</a:t>
            </a:r>
            <a:endParaRPr lang="zh-CN" altLang="en-US" dirty="0"/>
          </a:p>
        </p:txBody>
      </p:sp>
    </p:spTree>
  </p:cSld>
  <p:clrMapOvr>
    <a:masterClrMapping/>
  </p:clrMapOvr>
  <p:transition spd="med">
    <p:random/>
  </p:transition>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417513" y="228600"/>
            <a:ext cx="8331200" cy="1143000"/>
          </a:xfrm>
          <a:prstGeom prst="rect">
            <a:avLst/>
          </a:prstGeom>
          <a:ln w="9525" cap="flat" cmpd="sng" algn="ctr">
            <a:noFill/>
            <a:prstDash val="solid"/>
          </a:ln>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800" b="1" i="0" u="none" strike="noStrike" kern="0" cap="none" spc="0" normalizeH="0" baseline="0" noProof="0" dirty="0">
                <a:ln>
                  <a:noFill/>
                </a:ln>
                <a:solidFill>
                  <a:srgbClr val="E8E8E8"/>
                </a:solidFill>
                <a:effectLst/>
                <a:uLnTx/>
                <a:uFillTx/>
                <a:latin typeface="+mj-lt"/>
                <a:ea typeface="+mj-ea"/>
                <a:cs typeface="+mj-cs"/>
              </a:rPr>
              <a:t>5.3.1  </a:t>
            </a:r>
            <a:r>
              <a:rPr kumimoji="1" lang="zh-CN" altLang="zh-CN" sz="2800" b="1" i="0" u="none" strike="noStrike" kern="0" cap="none" spc="0" normalizeH="0" baseline="0" noProof="0" dirty="0">
                <a:ln>
                  <a:noFill/>
                </a:ln>
                <a:solidFill>
                  <a:srgbClr val="E8E8E8"/>
                </a:solidFill>
                <a:effectLst/>
                <a:uLnTx/>
                <a:uFillTx/>
                <a:latin typeface="+mj-lt"/>
                <a:ea typeface="+mj-ea"/>
                <a:cs typeface="+mj-cs"/>
              </a:rPr>
              <a:t>掩膜式只读存储器（</a:t>
            </a:r>
            <a:r>
              <a:rPr kumimoji="1" lang="en-US" altLang="zh-CN" sz="2800" b="1" i="0" u="none" strike="noStrike" kern="0" cap="none" spc="0" normalizeH="0" baseline="0" noProof="0" dirty="0">
                <a:ln>
                  <a:noFill/>
                </a:ln>
                <a:solidFill>
                  <a:srgbClr val="E8E8E8"/>
                </a:solidFill>
                <a:effectLst/>
                <a:uLnTx/>
                <a:uFillTx/>
                <a:latin typeface="+mj-lt"/>
                <a:ea typeface="+mj-ea"/>
                <a:cs typeface="+mj-cs"/>
              </a:rPr>
              <a:t>MROM</a:t>
            </a:r>
            <a:r>
              <a:rPr kumimoji="1" lang="zh-CN" altLang="zh-CN" sz="2800" b="1" i="0" u="none" strike="noStrike" kern="0" cap="none" spc="0" normalizeH="0" baseline="0" noProof="0" dirty="0">
                <a:ln>
                  <a:noFill/>
                </a:ln>
                <a:solidFill>
                  <a:srgbClr val="E8E8E8"/>
                </a:solidFill>
                <a:effectLst/>
                <a:uLnTx/>
                <a:uFillTx/>
                <a:latin typeface="+mj-lt"/>
                <a:ea typeface="+mj-ea"/>
                <a:cs typeface="+mj-cs"/>
              </a:rPr>
              <a:t>） </a:t>
            </a:r>
            <a:endParaRPr kumimoji="1" lang="zh-CN" altLang="en-US" sz="28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endParaRPr>
          </a:p>
        </p:txBody>
      </p:sp>
      <p:sp>
        <p:nvSpPr>
          <p:cNvPr id="51202" name="内容占位符 2"/>
          <p:cNvSpPr>
            <a:spLocks noGrp="1"/>
          </p:cNvSpPr>
          <p:nvPr>
            <p:ph/>
          </p:nvPr>
        </p:nvSpPr>
        <p:spPr>
          <a:xfrm>
            <a:off x="577850" y="1641475"/>
            <a:ext cx="8061325" cy="4560888"/>
          </a:xfrm>
          <a:prstGeom prst="rect">
            <a:avLst/>
          </a:prstGeom>
          <a:noFill/>
          <a:ln w="9525">
            <a:noFill/>
          </a:ln>
        </p:spPr>
        <p:txBody>
          <a:bodyPr wrap="square" lIns="92075" tIns="46038" rIns="92075" bIns="46038" anchor="t" anchorCtr="0"/>
          <a:lstStyle/>
          <a:p>
            <a:pPr marL="0" indent="0">
              <a:buNone/>
            </a:pPr>
            <a:r>
              <a:rPr lang="en-US" altLang="zh-CN" sz="2400" dirty="0"/>
              <a:t>        MROM</a:t>
            </a:r>
            <a:r>
              <a:rPr lang="zh-CN" altLang="zh-CN" sz="2400" dirty="0"/>
              <a:t>采用二次光刻掩膜工艺制成，首先要制作一个掩膜板，然后通过掩膜板曝光在硅片上刻出图形。制作掩膜板的工艺较复杂，生产周期长，因此生产第一片</a:t>
            </a:r>
            <a:r>
              <a:rPr lang="en-US" altLang="zh-CN" sz="2400" dirty="0"/>
              <a:t>MROM</a:t>
            </a:r>
            <a:r>
              <a:rPr lang="zh-CN" altLang="zh-CN" sz="2400" dirty="0"/>
              <a:t>的费用很大，而复制同样的</a:t>
            </a:r>
            <a:r>
              <a:rPr lang="en-US" altLang="zh-CN" sz="2400" dirty="0"/>
              <a:t>ROM</a:t>
            </a:r>
            <a:r>
              <a:rPr lang="zh-CN" altLang="zh-CN" sz="2400" dirty="0"/>
              <a:t>就很便宜了，所以适用于大批量生产，不适用于科学研究。</a:t>
            </a:r>
            <a:r>
              <a:rPr lang="en-US" altLang="zh-CN" sz="2400" dirty="0"/>
              <a:t>MROM</a:t>
            </a:r>
            <a:r>
              <a:rPr lang="zh-CN" altLang="zh-CN" sz="2400" dirty="0"/>
              <a:t>有双极型、</a:t>
            </a:r>
            <a:r>
              <a:rPr lang="en-US" altLang="zh-CN" sz="2400" dirty="0"/>
              <a:t>MOS</a:t>
            </a:r>
            <a:r>
              <a:rPr lang="zh-CN" altLang="zh-CN" sz="2400" dirty="0"/>
              <a:t>型等几种电路形式。其应用场合有家电等。厂家将程序写入</a:t>
            </a:r>
            <a:r>
              <a:rPr lang="en-US" altLang="zh-CN" sz="2400" dirty="0"/>
              <a:t>MROM</a:t>
            </a:r>
            <a:r>
              <a:rPr lang="zh-CN" altLang="zh-CN" sz="2400" dirty="0"/>
              <a:t>之后只能读出。用户使用的时候只要根据需要选择地址就可以调用这些程序了。</a:t>
            </a:r>
            <a:endParaRPr lang="zh-CN" altLang="en-US" sz="2400" dirty="0"/>
          </a:p>
        </p:txBody>
      </p:sp>
    </p:spTree>
  </p:cSld>
  <p:clrMapOvr>
    <a:masterClrMapping/>
  </p:clrMapOvr>
  <p:transition spd="med">
    <p:random/>
  </p:transition>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2225" name="Picture 4" descr="5"/>
          <p:cNvPicPr>
            <a:picLocks noChangeAspect="1"/>
          </p:cNvPicPr>
          <p:nvPr/>
        </p:nvPicPr>
        <p:blipFill>
          <a:blip r:embed="rId2"/>
          <a:stretch>
            <a:fillRect/>
          </a:stretch>
        </p:blipFill>
        <p:spPr>
          <a:xfrm>
            <a:off x="1743075" y="1501775"/>
            <a:ext cx="5708650" cy="3717925"/>
          </a:xfrm>
          <a:prstGeom prst="rect">
            <a:avLst/>
          </a:prstGeom>
          <a:noFill/>
          <a:ln w="9525">
            <a:noFill/>
          </a:ln>
        </p:spPr>
      </p:pic>
      <p:sp>
        <p:nvSpPr>
          <p:cNvPr id="52226" name="矩形 2"/>
          <p:cNvSpPr/>
          <p:nvPr/>
        </p:nvSpPr>
        <p:spPr>
          <a:xfrm>
            <a:off x="2687638" y="5605463"/>
            <a:ext cx="2925762" cy="425450"/>
          </a:xfrm>
          <a:prstGeom prst="rect">
            <a:avLst/>
          </a:prstGeom>
          <a:noFill/>
          <a:ln w="9525">
            <a:noFill/>
          </a:ln>
        </p:spPr>
        <p:txBody>
          <a:bodyPr wrap="none" anchor="t" anchorCtr="0">
            <a:spAutoFit/>
          </a:bodyPr>
          <a:lstStyle/>
          <a:p>
            <a:r>
              <a:rPr lang="zh-CN" altLang="zh-CN" b="0" dirty="0">
                <a:latin typeface="宋体" panose="02010600030101010101" pitchFamily="2" charset="-122"/>
                <a:ea typeface="宋体" panose="02010600030101010101" pitchFamily="2" charset="-122"/>
              </a:rPr>
              <a:t>图</a:t>
            </a:r>
            <a:r>
              <a:rPr lang="en-US" altLang="zh-CN" b="0" dirty="0">
                <a:latin typeface="宋体" panose="02010600030101010101" pitchFamily="2" charset="-122"/>
                <a:ea typeface="宋体" panose="02010600030101010101" pitchFamily="2" charset="-122"/>
              </a:rPr>
              <a:t>5-28  MROM</a:t>
            </a:r>
            <a:r>
              <a:rPr lang="zh-CN" altLang="zh-CN" b="0" dirty="0">
                <a:latin typeface="宋体" panose="02010600030101010101" pitchFamily="2" charset="-122"/>
                <a:ea typeface="宋体" panose="02010600030101010101" pitchFamily="2" charset="-122"/>
              </a:rPr>
              <a:t>示意图</a:t>
            </a:r>
          </a:p>
        </p:txBody>
      </p:sp>
    </p:spTree>
  </p:cSld>
  <p:clrMapOvr>
    <a:masterClrMapping/>
  </p:clrMapOvr>
  <p:transition spd="med">
    <p:random/>
  </p:transition>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4" name="内容占位符 3"/>
          <p:cNvGraphicFramePr>
            <a:graphicFrameLocks noGrp="1"/>
          </p:cNvGraphicFramePr>
          <p:nvPr>
            <p:ph idx="1"/>
          </p:nvPr>
        </p:nvGraphicFramePr>
        <p:xfrm>
          <a:off x="727075" y="2235200"/>
          <a:ext cx="7546975" cy="3484563"/>
        </p:xfrm>
        <a:graphic>
          <a:graphicData uri="http://schemas.openxmlformats.org/drawingml/2006/table">
            <a:tbl>
              <a:tblPr/>
              <a:tblGrid>
                <a:gridCol w="2643438">
                  <a:extLst>
                    <a:ext uri="{9D8B030D-6E8A-4147-A177-3AD203B41FA5}">
                      <a16:colId xmlns:a16="http://schemas.microsoft.com/office/drawing/2014/main" val="20000"/>
                    </a:ext>
                  </a:extLst>
                </a:gridCol>
                <a:gridCol w="1224553">
                  <a:extLst>
                    <a:ext uri="{9D8B030D-6E8A-4147-A177-3AD203B41FA5}">
                      <a16:colId xmlns:a16="http://schemas.microsoft.com/office/drawing/2014/main" val="20001"/>
                    </a:ext>
                  </a:extLst>
                </a:gridCol>
                <a:gridCol w="1227216">
                  <a:extLst>
                    <a:ext uri="{9D8B030D-6E8A-4147-A177-3AD203B41FA5}">
                      <a16:colId xmlns:a16="http://schemas.microsoft.com/office/drawing/2014/main" val="20002"/>
                    </a:ext>
                  </a:extLst>
                </a:gridCol>
                <a:gridCol w="1224553">
                  <a:extLst>
                    <a:ext uri="{9D8B030D-6E8A-4147-A177-3AD203B41FA5}">
                      <a16:colId xmlns:a16="http://schemas.microsoft.com/office/drawing/2014/main" val="20003"/>
                    </a:ext>
                  </a:extLst>
                </a:gridCol>
                <a:gridCol w="1227216">
                  <a:extLst>
                    <a:ext uri="{9D8B030D-6E8A-4147-A177-3AD203B41FA5}">
                      <a16:colId xmlns:a16="http://schemas.microsoft.com/office/drawing/2014/main" val="20004"/>
                    </a:ext>
                  </a:extLst>
                </a:gridCol>
              </a:tblGrid>
              <a:tr h="1161415">
                <a:tc>
                  <a:txBody>
                    <a:bodyPr/>
                    <a:lstStyle/>
                    <a:p>
                      <a:pPr algn="ctr">
                        <a:lnSpc>
                          <a:spcPts val="1200"/>
                        </a:lnSpc>
                        <a:spcAft>
                          <a:spcPts val="0"/>
                        </a:spcAft>
                      </a:pPr>
                      <a:r>
                        <a:rPr lang="en-US" sz="2400" kern="100" dirty="0">
                          <a:effectLst/>
                          <a:latin typeface="Times New Roman" panose="02020603050405020304"/>
                          <a:ea typeface="宋体" panose="02010600030101010101" pitchFamily="2" charset="-122"/>
                        </a:rPr>
                        <a:t>                 </a:t>
                      </a:r>
                      <a:r>
                        <a:rPr lang="zh-CN" sz="2400" kern="100" dirty="0">
                          <a:effectLst/>
                          <a:latin typeface="Times New Roman" panose="02020603050405020304"/>
                          <a:ea typeface="宋体" panose="02010600030101010101" pitchFamily="2" charset="-122"/>
                        </a:rPr>
                        <a:t>位</a:t>
                      </a:r>
                    </a:p>
                    <a:p>
                      <a:pPr indent="142875" algn="just">
                        <a:lnSpc>
                          <a:spcPts val="1200"/>
                        </a:lnSpc>
                        <a:spcAft>
                          <a:spcPts val="0"/>
                        </a:spcAft>
                      </a:pPr>
                      <a:r>
                        <a:rPr lang="zh-CN" sz="2400" kern="100" dirty="0">
                          <a:effectLst/>
                          <a:latin typeface="Times New Roman" panose="02020603050405020304"/>
                          <a:ea typeface="宋体" panose="02010600030101010101" pitchFamily="2" charset="-122"/>
                        </a:rPr>
                        <a:t>单元</a:t>
                      </a: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6350" cap="flat" cmpd="sng" algn="ctr">
                      <a:solidFill>
                        <a:srgbClr val="FFFFFF"/>
                      </a:solidFill>
                      <a:prstDash val="solid"/>
                      <a:round/>
                      <a:headEnd type="none" w="med" len="med"/>
                      <a:tailEnd type="none" w="med" len="med"/>
                    </a:lnTlToBr>
                  </a:tcPr>
                </a:tc>
                <a:tc>
                  <a:txBody>
                    <a:bodyPr/>
                    <a:lstStyle/>
                    <a:p>
                      <a:pPr algn="ctr">
                        <a:lnSpc>
                          <a:spcPts val="1200"/>
                        </a:lnSpc>
                        <a:spcAft>
                          <a:spcPts val="0"/>
                        </a:spcAft>
                      </a:pPr>
                      <a:r>
                        <a:rPr lang="en-US" sz="2400" kern="100">
                          <a:effectLst/>
                          <a:latin typeface="Times New Roman" panose="02020603050405020304"/>
                          <a:ea typeface="宋体" panose="02010600030101010101" pitchFamily="2" charset="-122"/>
                        </a:rPr>
                        <a:t>D</a:t>
                      </a:r>
                      <a:r>
                        <a:rPr lang="en-US" sz="2400" kern="100" baseline="-25000">
                          <a:effectLst/>
                          <a:latin typeface="Times New Roman" panose="02020603050405020304"/>
                          <a:ea typeface="宋体" panose="02010600030101010101" pitchFamily="2" charset="-122"/>
                        </a:rPr>
                        <a:t>3</a:t>
                      </a:r>
                      <a:endParaRPr lang="zh-CN" sz="2400" kern="100">
                        <a:effectLst/>
                        <a:latin typeface="Times New Roman" panose="02020603050405020304"/>
                        <a:ea typeface="宋体" panose="02010600030101010101" pitchFamily="2" charset="-122"/>
                      </a:endParaRP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ts val="1200"/>
                        </a:lnSpc>
                        <a:spcAft>
                          <a:spcPts val="0"/>
                        </a:spcAft>
                      </a:pPr>
                      <a:r>
                        <a:rPr lang="en-US" sz="2400" kern="100">
                          <a:effectLst/>
                          <a:latin typeface="Times New Roman" panose="02020603050405020304"/>
                          <a:ea typeface="宋体" panose="02010600030101010101" pitchFamily="2" charset="-122"/>
                        </a:rPr>
                        <a:t>D</a:t>
                      </a:r>
                      <a:r>
                        <a:rPr lang="en-US" sz="2400" kern="100" baseline="-25000">
                          <a:effectLst/>
                          <a:latin typeface="Times New Roman" panose="02020603050405020304"/>
                          <a:ea typeface="宋体" panose="02010600030101010101" pitchFamily="2" charset="-122"/>
                        </a:rPr>
                        <a:t>2</a:t>
                      </a:r>
                      <a:endParaRPr lang="zh-CN" sz="2400" kern="100">
                        <a:effectLst/>
                        <a:latin typeface="Times New Roman" panose="02020603050405020304"/>
                        <a:ea typeface="宋体" panose="02010600030101010101" pitchFamily="2" charset="-122"/>
                      </a:endParaRP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ts val="1200"/>
                        </a:lnSpc>
                        <a:spcAft>
                          <a:spcPts val="0"/>
                        </a:spcAft>
                      </a:pPr>
                      <a:r>
                        <a:rPr lang="en-US" sz="2400" kern="100">
                          <a:effectLst/>
                          <a:latin typeface="Times New Roman" panose="02020603050405020304"/>
                          <a:ea typeface="宋体" panose="02010600030101010101" pitchFamily="2" charset="-122"/>
                        </a:rPr>
                        <a:t>D</a:t>
                      </a:r>
                      <a:r>
                        <a:rPr lang="en-US" sz="2400" kern="100" baseline="-25000">
                          <a:effectLst/>
                          <a:latin typeface="Times New Roman" panose="02020603050405020304"/>
                          <a:ea typeface="宋体" panose="02010600030101010101" pitchFamily="2" charset="-122"/>
                        </a:rPr>
                        <a:t>1</a:t>
                      </a:r>
                      <a:endParaRPr lang="zh-CN" sz="2400" kern="100">
                        <a:effectLst/>
                        <a:latin typeface="Times New Roman" panose="02020603050405020304"/>
                        <a:ea typeface="宋体" panose="02010600030101010101" pitchFamily="2" charset="-122"/>
                      </a:endParaRP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ts val="1200"/>
                        </a:lnSpc>
                        <a:spcAft>
                          <a:spcPts val="0"/>
                        </a:spcAft>
                      </a:pPr>
                      <a:r>
                        <a:rPr lang="en-US" sz="2400" kern="100">
                          <a:effectLst/>
                          <a:latin typeface="Times New Roman" panose="02020603050405020304"/>
                          <a:ea typeface="宋体" panose="02010600030101010101" pitchFamily="2" charset="-122"/>
                        </a:rPr>
                        <a:t>D</a:t>
                      </a:r>
                      <a:r>
                        <a:rPr lang="en-US" sz="2400" kern="100" baseline="-25000">
                          <a:effectLst/>
                          <a:latin typeface="Times New Roman" panose="02020603050405020304"/>
                          <a:ea typeface="宋体" panose="02010600030101010101" pitchFamily="2" charset="-122"/>
                        </a:rPr>
                        <a:t>0</a:t>
                      </a:r>
                      <a:endParaRPr lang="zh-CN" sz="2400" kern="100">
                        <a:effectLst/>
                        <a:latin typeface="Times New Roman" panose="02020603050405020304"/>
                        <a:ea typeface="宋体" panose="02010600030101010101" pitchFamily="2" charset="-122"/>
                      </a:endParaRP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580760">
                <a:tc>
                  <a:txBody>
                    <a:bodyPr/>
                    <a:lstStyle/>
                    <a:p>
                      <a:pPr algn="ctr">
                        <a:lnSpc>
                          <a:spcPts val="1200"/>
                        </a:lnSpc>
                        <a:spcAft>
                          <a:spcPts val="0"/>
                        </a:spcAft>
                      </a:pPr>
                      <a:r>
                        <a:rPr lang="en-US" sz="2400" kern="100">
                          <a:effectLst/>
                          <a:latin typeface="Times New Roman" panose="02020603050405020304"/>
                          <a:ea typeface="宋体" panose="02010600030101010101" pitchFamily="2" charset="-122"/>
                        </a:rPr>
                        <a:t>0</a:t>
                      </a:r>
                      <a:endParaRPr lang="zh-CN" sz="2400" kern="100">
                        <a:effectLst/>
                        <a:latin typeface="Times New Roman" panose="02020603050405020304"/>
                        <a:ea typeface="宋体" panose="02010600030101010101" pitchFamily="2" charset="-122"/>
                      </a:endParaRP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ts val="1200"/>
                        </a:lnSpc>
                        <a:spcAft>
                          <a:spcPts val="0"/>
                        </a:spcAft>
                      </a:pPr>
                      <a:r>
                        <a:rPr lang="en-US" sz="2400" kern="100">
                          <a:effectLst/>
                          <a:latin typeface="Times New Roman" panose="02020603050405020304"/>
                          <a:ea typeface="宋体" panose="02010600030101010101" pitchFamily="2" charset="-122"/>
                        </a:rPr>
                        <a:t>1</a:t>
                      </a:r>
                      <a:endParaRPr lang="zh-CN" sz="2400" kern="100">
                        <a:effectLst/>
                        <a:latin typeface="Times New Roman" panose="02020603050405020304"/>
                        <a:ea typeface="宋体" panose="02010600030101010101" pitchFamily="2" charset="-122"/>
                      </a:endParaRP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ts val="1200"/>
                        </a:lnSpc>
                        <a:spcAft>
                          <a:spcPts val="0"/>
                        </a:spcAft>
                      </a:pPr>
                      <a:r>
                        <a:rPr lang="en-US" sz="2400" kern="100">
                          <a:effectLst/>
                          <a:latin typeface="Times New Roman" panose="02020603050405020304"/>
                          <a:ea typeface="宋体" panose="02010600030101010101" pitchFamily="2" charset="-122"/>
                        </a:rPr>
                        <a:t>0</a:t>
                      </a:r>
                      <a:endParaRPr lang="zh-CN" sz="2400" kern="100">
                        <a:effectLst/>
                        <a:latin typeface="Times New Roman" panose="02020603050405020304"/>
                        <a:ea typeface="宋体" panose="02010600030101010101" pitchFamily="2" charset="-122"/>
                      </a:endParaRP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ts val="1200"/>
                        </a:lnSpc>
                        <a:spcAft>
                          <a:spcPts val="0"/>
                        </a:spcAft>
                      </a:pPr>
                      <a:r>
                        <a:rPr lang="en-US" sz="2400" kern="100">
                          <a:effectLst/>
                          <a:latin typeface="Times New Roman" panose="02020603050405020304"/>
                          <a:ea typeface="宋体" panose="02010600030101010101" pitchFamily="2" charset="-122"/>
                        </a:rPr>
                        <a:t>1</a:t>
                      </a:r>
                      <a:endParaRPr lang="zh-CN" sz="2400" kern="100">
                        <a:effectLst/>
                        <a:latin typeface="Times New Roman" panose="02020603050405020304"/>
                        <a:ea typeface="宋体" panose="02010600030101010101" pitchFamily="2" charset="-122"/>
                      </a:endParaRP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ts val="1200"/>
                        </a:lnSpc>
                        <a:spcAft>
                          <a:spcPts val="0"/>
                        </a:spcAft>
                      </a:pPr>
                      <a:r>
                        <a:rPr lang="en-US" sz="2400" kern="100">
                          <a:effectLst/>
                          <a:latin typeface="Times New Roman" panose="02020603050405020304"/>
                          <a:ea typeface="宋体" panose="02010600030101010101" pitchFamily="2" charset="-122"/>
                        </a:rPr>
                        <a:t>0</a:t>
                      </a:r>
                      <a:endParaRPr lang="zh-CN" sz="2400" kern="100">
                        <a:effectLst/>
                        <a:latin typeface="Times New Roman" panose="02020603050405020304"/>
                        <a:ea typeface="宋体" panose="02010600030101010101" pitchFamily="2" charset="-122"/>
                      </a:endParaRP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580760">
                <a:tc>
                  <a:txBody>
                    <a:bodyPr/>
                    <a:lstStyle/>
                    <a:p>
                      <a:pPr algn="ctr">
                        <a:lnSpc>
                          <a:spcPts val="1200"/>
                        </a:lnSpc>
                        <a:spcAft>
                          <a:spcPts val="0"/>
                        </a:spcAft>
                      </a:pPr>
                      <a:r>
                        <a:rPr lang="en-US" sz="2400" kern="100">
                          <a:effectLst/>
                          <a:latin typeface="Times New Roman" panose="02020603050405020304"/>
                          <a:ea typeface="宋体" panose="02010600030101010101" pitchFamily="2" charset="-122"/>
                        </a:rPr>
                        <a:t>1</a:t>
                      </a:r>
                      <a:endParaRPr lang="zh-CN" sz="2400" kern="100">
                        <a:effectLst/>
                        <a:latin typeface="Times New Roman" panose="02020603050405020304"/>
                        <a:ea typeface="宋体" panose="02010600030101010101" pitchFamily="2" charset="-122"/>
                      </a:endParaRP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ts val="1200"/>
                        </a:lnSpc>
                        <a:spcAft>
                          <a:spcPts val="0"/>
                        </a:spcAft>
                      </a:pPr>
                      <a:r>
                        <a:rPr lang="en-US" sz="2400" kern="100">
                          <a:effectLst/>
                          <a:latin typeface="Times New Roman" panose="02020603050405020304"/>
                          <a:ea typeface="宋体" panose="02010600030101010101" pitchFamily="2" charset="-122"/>
                        </a:rPr>
                        <a:t>1</a:t>
                      </a:r>
                      <a:endParaRPr lang="zh-CN" sz="2400" kern="100">
                        <a:effectLst/>
                        <a:latin typeface="Times New Roman" panose="02020603050405020304"/>
                        <a:ea typeface="宋体" panose="02010600030101010101" pitchFamily="2" charset="-122"/>
                      </a:endParaRP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ts val="1200"/>
                        </a:lnSpc>
                        <a:spcAft>
                          <a:spcPts val="0"/>
                        </a:spcAft>
                      </a:pPr>
                      <a:r>
                        <a:rPr lang="en-US" sz="2400" kern="100">
                          <a:effectLst/>
                          <a:latin typeface="Times New Roman" panose="02020603050405020304"/>
                          <a:ea typeface="宋体" panose="02010600030101010101" pitchFamily="2" charset="-122"/>
                        </a:rPr>
                        <a:t>1</a:t>
                      </a:r>
                      <a:endParaRPr lang="zh-CN" sz="2400" kern="100">
                        <a:effectLst/>
                        <a:latin typeface="Times New Roman" panose="02020603050405020304"/>
                        <a:ea typeface="宋体" panose="02010600030101010101" pitchFamily="2" charset="-122"/>
                      </a:endParaRP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ts val="1200"/>
                        </a:lnSpc>
                        <a:spcAft>
                          <a:spcPts val="0"/>
                        </a:spcAft>
                      </a:pPr>
                      <a:r>
                        <a:rPr lang="en-US" sz="2400" kern="100">
                          <a:effectLst/>
                          <a:latin typeface="Times New Roman" panose="02020603050405020304"/>
                          <a:ea typeface="宋体" panose="02010600030101010101" pitchFamily="2" charset="-122"/>
                        </a:rPr>
                        <a:t>0</a:t>
                      </a:r>
                      <a:endParaRPr lang="zh-CN" sz="2400" kern="100">
                        <a:effectLst/>
                        <a:latin typeface="Times New Roman" panose="02020603050405020304"/>
                        <a:ea typeface="宋体" panose="02010600030101010101" pitchFamily="2" charset="-122"/>
                      </a:endParaRP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ts val="1200"/>
                        </a:lnSpc>
                        <a:spcAft>
                          <a:spcPts val="0"/>
                        </a:spcAft>
                      </a:pPr>
                      <a:r>
                        <a:rPr lang="en-US" sz="2400" kern="100">
                          <a:effectLst/>
                          <a:latin typeface="Times New Roman" panose="02020603050405020304"/>
                          <a:ea typeface="宋体" panose="02010600030101010101" pitchFamily="2" charset="-122"/>
                        </a:rPr>
                        <a:t>1</a:t>
                      </a:r>
                      <a:endParaRPr lang="zh-CN" sz="2400" kern="100">
                        <a:effectLst/>
                        <a:latin typeface="Times New Roman" panose="02020603050405020304"/>
                        <a:ea typeface="宋体" panose="02010600030101010101" pitchFamily="2" charset="-122"/>
                      </a:endParaRP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580760">
                <a:tc>
                  <a:txBody>
                    <a:bodyPr/>
                    <a:lstStyle/>
                    <a:p>
                      <a:pPr algn="ctr">
                        <a:lnSpc>
                          <a:spcPts val="1200"/>
                        </a:lnSpc>
                        <a:spcAft>
                          <a:spcPts val="0"/>
                        </a:spcAft>
                      </a:pPr>
                      <a:r>
                        <a:rPr lang="en-US" sz="2400" kern="100">
                          <a:effectLst/>
                          <a:latin typeface="Times New Roman" panose="02020603050405020304"/>
                          <a:ea typeface="宋体" panose="02010600030101010101" pitchFamily="2" charset="-122"/>
                        </a:rPr>
                        <a:t>2</a:t>
                      </a:r>
                      <a:endParaRPr lang="zh-CN" sz="2400" kern="100">
                        <a:effectLst/>
                        <a:latin typeface="Times New Roman" panose="02020603050405020304"/>
                        <a:ea typeface="宋体" panose="02010600030101010101" pitchFamily="2" charset="-122"/>
                      </a:endParaRP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ts val="1200"/>
                        </a:lnSpc>
                        <a:spcAft>
                          <a:spcPts val="0"/>
                        </a:spcAft>
                      </a:pPr>
                      <a:r>
                        <a:rPr lang="en-US" sz="2400" kern="100">
                          <a:effectLst/>
                          <a:latin typeface="Times New Roman" panose="02020603050405020304"/>
                          <a:ea typeface="宋体" panose="02010600030101010101" pitchFamily="2" charset="-122"/>
                        </a:rPr>
                        <a:t>0</a:t>
                      </a:r>
                      <a:endParaRPr lang="zh-CN" sz="2400" kern="100">
                        <a:effectLst/>
                        <a:latin typeface="Times New Roman" panose="02020603050405020304"/>
                        <a:ea typeface="宋体" panose="02010600030101010101" pitchFamily="2" charset="-122"/>
                      </a:endParaRP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ts val="1200"/>
                        </a:lnSpc>
                        <a:spcAft>
                          <a:spcPts val="0"/>
                        </a:spcAft>
                      </a:pPr>
                      <a:r>
                        <a:rPr lang="en-US" sz="2400" kern="100">
                          <a:effectLst/>
                          <a:latin typeface="Times New Roman" panose="02020603050405020304"/>
                          <a:ea typeface="宋体" panose="02010600030101010101" pitchFamily="2" charset="-122"/>
                        </a:rPr>
                        <a:t>1</a:t>
                      </a:r>
                      <a:endParaRPr lang="zh-CN" sz="2400" kern="100">
                        <a:effectLst/>
                        <a:latin typeface="Times New Roman" panose="02020603050405020304"/>
                        <a:ea typeface="宋体" panose="02010600030101010101" pitchFamily="2" charset="-122"/>
                      </a:endParaRP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ts val="1200"/>
                        </a:lnSpc>
                        <a:spcAft>
                          <a:spcPts val="0"/>
                        </a:spcAft>
                      </a:pPr>
                      <a:r>
                        <a:rPr lang="en-US" sz="2400" kern="100">
                          <a:effectLst/>
                          <a:latin typeface="Times New Roman" panose="02020603050405020304"/>
                          <a:ea typeface="宋体" panose="02010600030101010101" pitchFamily="2" charset="-122"/>
                        </a:rPr>
                        <a:t>0</a:t>
                      </a:r>
                      <a:endParaRPr lang="zh-CN" sz="2400" kern="100">
                        <a:effectLst/>
                        <a:latin typeface="Times New Roman" panose="02020603050405020304"/>
                        <a:ea typeface="宋体" panose="02010600030101010101" pitchFamily="2" charset="-122"/>
                      </a:endParaRP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ts val="1200"/>
                        </a:lnSpc>
                        <a:spcAft>
                          <a:spcPts val="0"/>
                        </a:spcAft>
                      </a:pPr>
                      <a:r>
                        <a:rPr lang="en-US" sz="2400" kern="100">
                          <a:effectLst/>
                          <a:latin typeface="Times New Roman" panose="02020603050405020304"/>
                          <a:ea typeface="宋体" panose="02010600030101010101" pitchFamily="2" charset="-122"/>
                        </a:rPr>
                        <a:t>1</a:t>
                      </a:r>
                      <a:endParaRPr lang="zh-CN" sz="2400" kern="100">
                        <a:effectLst/>
                        <a:latin typeface="Times New Roman" panose="02020603050405020304"/>
                        <a:ea typeface="宋体" panose="02010600030101010101" pitchFamily="2" charset="-122"/>
                      </a:endParaRP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580760">
                <a:tc>
                  <a:txBody>
                    <a:bodyPr/>
                    <a:lstStyle/>
                    <a:p>
                      <a:pPr algn="ctr">
                        <a:lnSpc>
                          <a:spcPts val="1200"/>
                        </a:lnSpc>
                        <a:spcAft>
                          <a:spcPts val="0"/>
                        </a:spcAft>
                      </a:pPr>
                      <a:r>
                        <a:rPr lang="en-US" sz="2400" kern="100">
                          <a:effectLst/>
                          <a:latin typeface="Times New Roman" panose="02020603050405020304"/>
                          <a:ea typeface="宋体" panose="02010600030101010101" pitchFamily="2" charset="-122"/>
                        </a:rPr>
                        <a:t>3</a:t>
                      </a:r>
                      <a:endParaRPr lang="zh-CN" sz="2400" kern="100">
                        <a:effectLst/>
                        <a:latin typeface="Times New Roman" panose="02020603050405020304"/>
                        <a:ea typeface="宋体" panose="02010600030101010101" pitchFamily="2" charset="-122"/>
                      </a:endParaRP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ts val="1200"/>
                        </a:lnSpc>
                        <a:spcAft>
                          <a:spcPts val="0"/>
                        </a:spcAft>
                      </a:pPr>
                      <a:r>
                        <a:rPr lang="en-US" sz="2400" kern="100">
                          <a:effectLst/>
                          <a:latin typeface="Times New Roman" panose="02020603050405020304"/>
                          <a:ea typeface="宋体" panose="02010600030101010101" pitchFamily="2" charset="-122"/>
                        </a:rPr>
                        <a:t>0</a:t>
                      </a:r>
                      <a:endParaRPr lang="zh-CN" sz="2400" kern="100">
                        <a:effectLst/>
                        <a:latin typeface="Times New Roman" panose="02020603050405020304"/>
                        <a:ea typeface="宋体" panose="02010600030101010101" pitchFamily="2" charset="-122"/>
                      </a:endParaRP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ts val="1200"/>
                        </a:lnSpc>
                        <a:spcAft>
                          <a:spcPts val="0"/>
                        </a:spcAft>
                      </a:pPr>
                      <a:r>
                        <a:rPr lang="en-US" sz="2400" kern="100">
                          <a:effectLst/>
                          <a:latin typeface="Times New Roman" panose="02020603050405020304"/>
                          <a:ea typeface="宋体" panose="02010600030101010101" pitchFamily="2" charset="-122"/>
                        </a:rPr>
                        <a:t>1</a:t>
                      </a:r>
                      <a:endParaRPr lang="zh-CN" sz="2400" kern="100">
                        <a:effectLst/>
                        <a:latin typeface="Times New Roman" panose="02020603050405020304"/>
                        <a:ea typeface="宋体" panose="02010600030101010101" pitchFamily="2" charset="-122"/>
                      </a:endParaRP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ts val="1200"/>
                        </a:lnSpc>
                        <a:spcAft>
                          <a:spcPts val="0"/>
                        </a:spcAft>
                      </a:pPr>
                      <a:r>
                        <a:rPr lang="en-US" sz="2400" kern="100">
                          <a:effectLst/>
                          <a:latin typeface="Times New Roman" panose="02020603050405020304"/>
                          <a:ea typeface="宋体" panose="02010600030101010101" pitchFamily="2" charset="-122"/>
                        </a:rPr>
                        <a:t>1</a:t>
                      </a:r>
                      <a:endParaRPr lang="zh-CN" sz="2400" kern="100">
                        <a:effectLst/>
                        <a:latin typeface="Times New Roman" panose="02020603050405020304"/>
                        <a:ea typeface="宋体" panose="02010600030101010101" pitchFamily="2" charset="-122"/>
                      </a:endParaRP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ts val="1200"/>
                        </a:lnSpc>
                        <a:spcAft>
                          <a:spcPts val="0"/>
                        </a:spcAft>
                      </a:pPr>
                      <a:r>
                        <a:rPr lang="en-US" sz="2400" kern="100" dirty="0">
                          <a:effectLst/>
                          <a:latin typeface="Times New Roman" panose="02020603050405020304"/>
                          <a:ea typeface="宋体" panose="02010600030101010101" pitchFamily="2" charset="-122"/>
                        </a:rPr>
                        <a:t>0</a:t>
                      </a:r>
                      <a:endParaRPr lang="zh-CN" sz="2400" kern="100" dirty="0">
                        <a:effectLst/>
                        <a:latin typeface="Times New Roman" panose="02020603050405020304"/>
                        <a:ea typeface="宋体" panose="02010600030101010101" pitchFamily="2" charset="-122"/>
                      </a:endParaRP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3288" name="矩形 2"/>
          <p:cNvSpPr/>
          <p:nvPr/>
        </p:nvSpPr>
        <p:spPr>
          <a:xfrm>
            <a:off x="966788" y="1465263"/>
            <a:ext cx="2773362" cy="425450"/>
          </a:xfrm>
          <a:prstGeom prst="rect">
            <a:avLst/>
          </a:prstGeom>
          <a:noFill/>
          <a:ln w="9525">
            <a:noFill/>
          </a:ln>
        </p:spPr>
        <p:txBody>
          <a:bodyPr wrap="none" anchor="t" anchorCtr="0">
            <a:spAutoFit/>
          </a:bodyPr>
          <a:lstStyle/>
          <a:p>
            <a:r>
              <a:rPr lang="zh-CN" altLang="zh-CN" b="0" dirty="0">
                <a:latin typeface="宋体" panose="02010600030101010101" pitchFamily="2" charset="-122"/>
                <a:ea typeface="宋体" panose="02010600030101010101" pitchFamily="2" charset="-122"/>
              </a:rPr>
              <a:t>表</a:t>
            </a:r>
            <a:r>
              <a:rPr lang="en-US" altLang="zh-CN" b="0" dirty="0">
                <a:latin typeface="宋体" panose="02010600030101010101" pitchFamily="2" charset="-122"/>
                <a:ea typeface="宋体" panose="02010600030101010101" pitchFamily="2" charset="-122"/>
              </a:rPr>
              <a:t>5-4  MROM</a:t>
            </a:r>
            <a:r>
              <a:rPr lang="zh-CN" altLang="zh-CN" b="0" dirty="0">
                <a:latin typeface="宋体" panose="02010600030101010101" pitchFamily="2" charset="-122"/>
                <a:ea typeface="宋体" panose="02010600030101010101" pitchFamily="2" charset="-122"/>
              </a:rPr>
              <a:t>的内容</a:t>
            </a:r>
          </a:p>
        </p:txBody>
      </p:sp>
    </p:spTree>
  </p:cSld>
  <p:clrMapOvr>
    <a:masterClrMapping/>
  </p:clrMapOvr>
  <p:transition spd="med">
    <p:random/>
  </p:transition>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417513" y="228600"/>
            <a:ext cx="8331200" cy="1143000"/>
          </a:xfrm>
          <a:prstGeom prst="rect">
            <a:avLst/>
          </a:prstGeom>
          <a:ln w="9525" cap="flat" cmpd="sng" algn="ctr">
            <a:noFill/>
            <a:prstDash val="solid"/>
          </a:ln>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800" b="1" i="0" u="none" strike="noStrike" kern="0" cap="none" spc="0" normalizeH="0" baseline="0" noProof="0" dirty="0">
                <a:ln>
                  <a:noFill/>
                </a:ln>
                <a:solidFill>
                  <a:srgbClr val="E8E8E8"/>
                </a:solidFill>
                <a:effectLst/>
                <a:uLnTx/>
                <a:uFillTx/>
                <a:latin typeface="+mj-lt"/>
                <a:ea typeface="+mj-ea"/>
                <a:cs typeface="+mj-cs"/>
              </a:rPr>
              <a:t>5.3.2  </a:t>
            </a:r>
            <a:r>
              <a:rPr kumimoji="1" lang="zh-CN" altLang="zh-CN" sz="2800" b="1" i="0" u="none" strike="noStrike" kern="0" cap="none" spc="0" normalizeH="0" baseline="0" noProof="0" dirty="0">
                <a:ln>
                  <a:noFill/>
                </a:ln>
                <a:solidFill>
                  <a:srgbClr val="E8E8E8"/>
                </a:solidFill>
                <a:effectLst/>
                <a:uLnTx/>
                <a:uFillTx/>
                <a:latin typeface="+mj-lt"/>
                <a:ea typeface="+mj-ea"/>
                <a:cs typeface="+mj-cs"/>
              </a:rPr>
              <a:t>可编程只读存储器（</a:t>
            </a:r>
            <a:r>
              <a:rPr kumimoji="1" lang="en-US" altLang="zh-CN" sz="2800" b="1" i="0" u="none" strike="noStrike" kern="0" cap="none" spc="0" normalizeH="0" baseline="0" noProof="0" dirty="0">
                <a:ln>
                  <a:noFill/>
                </a:ln>
                <a:solidFill>
                  <a:srgbClr val="E8E8E8"/>
                </a:solidFill>
                <a:effectLst/>
                <a:uLnTx/>
                <a:uFillTx/>
                <a:latin typeface="+mj-lt"/>
                <a:ea typeface="+mj-ea"/>
                <a:cs typeface="+mj-cs"/>
              </a:rPr>
              <a:t>PROM</a:t>
            </a:r>
            <a:r>
              <a:rPr kumimoji="1" lang="zh-CN" altLang="zh-CN" sz="2800" b="1" i="0" u="none" strike="noStrike" kern="0" cap="none" spc="0" normalizeH="0" baseline="0" noProof="0" dirty="0">
                <a:ln>
                  <a:noFill/>
                </a:ln>
                <a:solidFill>
                  <a:srgbClr val="E8E8E8"/>
                </a:solidFill>
                <a:effectLst/>
                <a:uLnTx/>
                <a:uFillTx/>
                <a:latin typeface="+mj-lt"/>
                <a:ea typeface="+mj-ea"/>
                <a:cs typeface="+mj-cs"/>
              </a:rPr>
              <a:t>）</a:t>
            </a:r>
            <a:endParaRPr kumimoji="1" lang="zh-CN" altLang="en-US" sz="28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endParaRPr>
          </a:p>
        </p:txBody>
      </p:sp>
      <p:sp>
        <p:nvSpPr>
          <p:cNvPr id="54274" name="内容占位符 2"/>
          <p:cNvSpPr>
            <a:spLocks noGrp="1"/>
          </p:cNvSpPr>
          <p:nvPr>
            <p:ph/>
          </p:nvPr>
        </p:nvSpPr>
        <p:spPr>
          <a:xfrm>
            <a:off x="577850" y="1876425"/>
            <a:ext cx="8197850" cy="4325938"/>
          </a:xfrm>
          <a:prstGeom prst="rect">
            <a:avLst/>
          </a:prstGeom>
          <a:noFill/>
          <a:ln w="9525">
            <a:noFill/>
          </a:ln>
        </p:spPr>
        <p:txBody>
          <a:bodyPr wrap="square" lIns="92075" tIns="46038" rIns="92075" bIns="46038" anchor="t" anchorCtr="0"/>
          <a:lstStyle/>
          <a:p>
            <a:pPr marL="0" indent="719455">
              <a:buNone/>
            </a:pPr>
            <a:r>
              <a:rPr lang="zh-CN" altLang="zh-CN" dirty="0"/>
              <a:t>可编程只读存储器出厂时各单元内容全为</a:t>
            </a:r>
            <a:r>
              <a:rPr lang="en-US" altLang="zh-CN" dirty="0"/>
              <a:t>0</a:t>
            </a:r>
            <a:r>
              <a:rPr lang="zh-CN" altLang="zh-CN" dirty="0"/>
              <a:t>，用户可用专门的</a:t>
            </a:r>
            <a:r>
              <a:rPr lang="en-US" altLang="zh-CN" dirty="0"/>
              <a:t>PROM</a:t>
            </a:r>
            <a:r>
              <a:rPr lang="zh-CN" altLang="zh-CN" dirty="0"/>
              <a:t>写入设备将信息写入，这种写入是破坏性的，对这种存储器只能进行一次编程。</a:t>
            </a:r>
            <a:endParaRPr lang="en-US" altLang="zh-CN" dirty="0"/>
          </a:p>
          <a:p>
            <a:pPr marL="0" indent="719455">
              <a:buNone/>
            </a:pPr>
            <a:r>
              <a:rPr lang="zh-CN" altLang="zh-CN" dirty="0"/>
              <a:t>根据写入原理，</a:t>
            </a:r>
            <a:r>
              <a:rPr lang="en-US" altLang="zh-CN" dirty="0"/>
              <a:t>PROM</a:t>
            </a:r>
            <a:r>
              <a:rPr lang="zh-CN" altLang="zh-CN" dirty="0"/>
              <a:t>可分为两类：结破坏型和熔丝型。</a:t>
            </a:r>
            <a:endParaRPr lang="zh-CN" altLang="en-US" dirty="0"/>
          </a:p>
        </p:txBody>
      </p:sp>
    </p:spTree>
  </p:cSld>
  <p:clrMapOvr>
    <a:masterClrMapping/>
  </p:clrMapOvr>
  <p:transition spd="med">
    <p:random/>
  </p:transition>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5297" name="Rectangle 2"/>
          <p:cNvSpPr/>
          <p:nvPr/>
        </p:nvSpPr>
        <p:spPr>
          <a:xfrm>
            <a:off x="0" y="0"/>
            <a:ext cx="9144000" cy="0"/>
          </a:xfrm>
          <a:prstGeom prst="rect">
            <a:avLst/>
          </a:prstGeom>
          <a:noFill/>
          <a:ln w="9525">
            <a:noFill/>
          </a:ln>
        </p:spPr>
        <p:txBody>
          <a:bodyPr wrap="none" lIns="92075" tIns="46038" rIns="92075" bIns="46038" anchor="ctr" anchorCtr="0">
            <a:spAutoFit/>
          </a:bodyPr>
          <a:lstStyle/>
          <a:p>
            <a:endParaRPr lang="zh-CN" altLang="en-US" b="0" dirty="0">
              <a:latin typeface="宋体" panose="02010600030101010101" pitchFamily="2" charset="-122"/>
              <a:ea typeface="宋体" panose="02010600030101010101" pitchFamily="2" charset="-122"/>
            </a:endParaRPr>
          </a:p>
        </p:txBody>
      </p:sp>
      <p:graphicFrame>
        <p:nvGraphicFramePr>
          <p:cNvPr id="55298" name="对象 4"/>
          <p:cNvGraphicFramePr>
            <a:graphicFrameLocks noChangeAspect="1"/>
          </p:cNvGraphicFramePr>
          <p:nvPr/>
        </p:nvGraphicFramePr>
        <p:xfrm>
          <a:off x="2524125" y="1787525"/>
          <a:ext cx="3425825" cy="3562350"/>
        </p:xfrm>
        <a:graphic>
          <a:graphicData uri="http://schemas.openxmlformats.org/presentationml/2006/ole">
            <mc:AlternateContent xmlns:mc="http://schemas.openxmlformats.org/markup-compatibility/2006">
              <mc:Choice xmlns:v="urn:schemas-microsoft-com:vml" Requires="v">
                <p:oleObj spid="_x0000_s9226" r:id="rId3" imgW="2997200" imgH="3124200" progId="Visio.Drawing.11">
                  <p:embed/>
                </p:oleObj>
              </mc:Choice>
              <mc:Fallback>
                <p:oleObj r:id="rId3" imgW="2997200" imgH="3124200" progId="Visio.Drawing.11">
                  <p:embed/>
                  <p:pic>
                    <p:nvPicPr>
                      <p:cNvPr id="0" name="图片 3087"/>
                      <p:cNvPicPr/>
                      <p:nvPr/>
                    </p:nvPicPr>
                    <p:blipFill>
                      <a:blip r:embed="rId4"/>
                      <a:stretch>
                        <a:fillRect/>
                      </a:stretch>
                    </p:blipFill>
                    <p:spPr>
                      <a:xfrm>
                        <a:off x="2524125" y="1787525"/>
                        <a:ext cx="3425825" cy="3562350"/>
                      </a:xfrm>
                      <a:prstGeom prst="rect">
                        <a:avLst/>
                      </a:prstGeom>
                      <a:solidFill>
                        <a:schemeClr val="tx1"/>
                      </a:solidFill>
                      <a:ln w="38100">
                        <a:noFill/>
                        <a:miter/>
                      </a:ln>
                    </p:spPr>
                  </p:pic>
                </p:oleObj>
              </mc:Fallback>
            </mc:AlternateContent>
          </a:graphicData>
        </a:graphic>
      </p:graphicFrame>
      <p:sp>
        <p:nvSpPr>
          <p:cNvPr id="55299" name="矩形 5"/>
          <p:cNvSpPr/>
          <p:nvPr/>
        </p:nvSpPr>
        <p:spPr>
          <a:xfrm>
            <a:off x="2441575" y="5618163"/>
            <a:ext cx="3840163" cy="425450"/>
          </a:xfrm>
          <a:prstGeom prst="rect">
            <a:avLst/>
          </a:prstGeom>
          <a:noFill/>
          <a:ln w="9525">
            <a:noFill/>
          </a:ln>
        </p:spPr>
        <p:txBody>
          <a:bodyPr wrap="none" anchor="t" anchorCtr="0">
            <a:spAutoFit/>
          </a:bodyPr>
          <a:lstStyle/>
          <a:p>
            <a:r>
              <a:rPr lang="zh-CN" altLang="zh-CN" b="0" dirty="0">
                <a:latin typeface="宋体" panose="02010600030101010101" pitchFamily="2" charset="-122"/>
                <a:ea typeface="宋体" panose="02010600030101010101" pitchFamily="2" charset="-122"/>
              </a:rPr>
              <a:t>图</a:t>
            </a:r>
            <a:r>
              <a:rPr lang="en-US" altLang="zh-CN" b="0" dirty="0">
                <a:latin typeface="宋体" panose="02010600030101010101" pitchFamily="2" charset="-122"/>
                <a:ea typeface="宋体" panose="02010600030101010101" pitchFamily="2" charset="-122"/>
              </a:rPr>
              <a:t>5-29  PROM</a:t>
            </a:r>
            <a:r>
              <a:rPr lang="zh-CN" altLang="zh-CN" b="0" dirty="0">
                <a:latin typeface="宋体" panose="02010600030101010101" pitchFamily="2" charset="-122"/>
                <a:ea typeface="宋体" panose="02010600030101010101" pitchFamily="2" charset="-122"/>
              </a:rPr>
              <a:t>存储元示意图</a:t>
            </a:r>
          </a:p>
        </p:txBody>
      </p:sp>
    </p:spTree>
  </p:cSld>
  <p:clrMapOvr>
    <a:masterClrMapping/>
  </p:clrMapOvr>
  <p:transition spd="med">
    <p:random/>
  </p:transition>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417513" y="228600"/>
            <a:ext cx="8331200" cy="1143000"/>
          </a:xfrm>
          <a:prstGeom prst="rect">
            <a:avLst/>
          </a:prstGeom>
          <a:ln w="9525" cap="flat" cmpd="sng" algn="ctr">
            <a:noFill/>
            <a:prstDash val="solid"/>
          </a:ln>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800" b="1" i="0" u="none" strike="noStrike" kern="0" cap="none" spc="0" normalizeH="0" baseline="0" noProof="0" dirty="0">
                <a:ln>
                  <a:noFill/>
                </a:ln>
                <a:solidFill>
                  <a:srgbClr val="E8E8E8"/>
                </a:solidFill>
                <a:effectLst/>
                <a:uLnTx/>
                <a:uFillTx/>
                <a:latin typeface="+mj-lt"/>
                <a:ea typeface="+mj-ea"/>
                <a:cs typeface="+mj-cs"/>
              </a:rPr>
              <a:t>5.3.3  </a:t>
            </a:r>
            <a:r>
              <a:rPr kumimoji="1" lang="zh-CN" altLang="zh-CN" sz="2800" b="1" i="0" u="none" strike="noStrike" kern="0" cap="none" spc="0" normalizeH="0" baseline="0" noProof="0" dirty="0">
                <a:ln>
                  <a:noFill/>
                </a:ln>
                <a:solidFill>
                  <a:srgbClr val="E8E8E8"/>
                </a:solidFill>
                <a:effectLst/>
                <a:uLnTx/>
                <a:uFillTx/>
                <a:latin typeface="+mj-lt"/>
                <a:ea typeface="+mj-ea"/>
                <a:cs typeface="+mj-cs"/>
              </a:rPr>
              <a:t>可擦除、可再编程的只读存储器</a:t>
            </a:r>
            <a:endParaRPr kumimoji="1" lang="zh-CN" altLang="en-US" sz="28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endParaRPr>
          </a:p>
        </p:txBody>
      </p:sp>
      <p:sp>
        <p:nvSpPr>
          <p:cNvPr id="56322" name="内容占位符 2"/>
          <p:cNvSpPr>
            <a:spLocks noGrp="1"/>
          </p:cNvSpPr>
          <p:nvPr>
            <p:ph/>
          </p:nvPr>
        </p:nvSpPr>
        <p:spPr>
          <a:xfrm>
            <a:off x="579438" y="1828800"/>
            <a:ext cx="7885112" cy="4375150"/>
          </a:xfrm>
          <a:prstGeom prst="rect">
            <a:avLst/>
          </a:prstGeom>
          <a:noFill/>
          <a:ln w="9525">
            <a:noFill/>
          </a:ln>
        </p:spPr>
        <p:txBody>
          <a:bodyPr wrap="square" lIns="92075" tIns="46038" rIns="92075" bIns="46038" anchor="t" anchorCtr="0"/>
          <a:lstStyle/>
          <a:p>
            <a:pPr algn="just"/>
            <a:r>
              <a:rPr lang="en-US" altLang="zh-CN" sz="2400" dirty="0"/>
              <a:t>PROM</a:t>
            </a:r>
            <a:r>
              <a:rPr lang="zh-CN" altLang="zh-CN" sz="2400" dirty="0"/>
              <a:t>虽然可供用户进行一次编程，但仍有局限性。为了便于研究，实验各种</a:t>
            </a:r>
            <a:r>
              <a:rPr lang="en-US" altLang="zh-CN" sz="2400" dirty="0"/>
              <a:t>ROM</a:t>
            </a:r>
            <a:r>
              <a:rPr lang="zh-CN" altLang="zh-CN" sz="2400" dirty="0"/>
              <a:t>程序方案，可擦除、可再编程</a:t>
            </a:r>
            <a:r>
              <a:rPr lang="en-US" altLang="zh-CN" sz="2400" dirty="0"/>
              <a:t>ROM</a:t>
            </a:r>
            <a:r>
              <a:rPr lang="zh-CN" altLang="zh-CN" sz="2400" dirty="0"/>
              <a:t>在实际应用中得到广泛应用。这种存储器利用编程器写入信息后，便可作为只读存储器来使用。</a:t>
            </a:r>
            <a:endParaRPr lang="en-US" altLang="zh-CN" sz="2400" dirty="0"/>
          </a:p>
          <a:p>
            <a:pPr algn="just"/>
            <a:r>
              <a:rPr lang="zh-CN" altLang="zh-CN" sz="2400" dirty="0"/>
              <a:t>根据擦除芯片内信息的不同手段和方法，可擦除、可再编程</a:t>
            </a:r>
            <a:r>
              <a:rPr lang="en-US" altLang="zh-CN" sz="2400" dirty="0"/>
              <a:t>ROM</a:t>
            </a:r>
            <a:r>
              <a:rPr lang="zh-CN" altLang="zh-CN" sz="2400" dirty="0"/>
              <a:t>可分为两种类型：紫外光擦除</a:t>
            </a:r>
            <a:r>
              <a:rPr lang="en-US" altLang="zh-CN" sz="2400" dirty="0"/>
              <a:t>PROM</a:t>
            </a:r>
            <a:r>
              <a:rPr lang="zh-CN" altLang="zh-CN" sz="2400" dirty="0"/>
              <a:t>（简称</a:t>
            </a:r>
            <a:r>
              <a:rPr lang="en-US" altLang="zh-CN" sz="2400" dirty="0"/>
              <a:t>EPROM</a:t>
            </a:r>
            <a:r>
              <a:rPr lang="zh-CN" altLang="zh-CN" sz="2400" dirty="0"/>
              <a:t>）和电擦除</a:t>
            </a:r>
            <a:r>
              <a:rPr lang="en-US" altLang="zh-CN" sz="2400" dirty="0"/>
              <a:t>PROM</a:t>
            </a:r>
            <a:r>
              <a:rPr lang="zh-CN" altLang="zh-CN" sz="2400" dirty="0"/>
              <a:t>（简称</a:t>
            </a:r>
            <a:r>
              <a:rPr lang="en-US" altLang="zh-CN" sz="2400" dirty="0"/>
              <a:t>EEPROM</a:t>
            </a:r>
            <a:r>
              <a:rPr lang="zh-CN" altLang="zh-CN" sz="2400" dirty="0"/>
              <a:t>或</a:t>
            </a:r>
            <a:r>
              <a:rPr lang="en-US" altLang="zh-CN" sz="2400" dirty="0"/>
              <a:t>E</a:t>
            </a:r>
            <a:r>
              <a:rPr lang="en-US" altLang="zh-CN" sz="2400" baseline="30000" dirty="0"/>
              <a:t>2</a:t>
            </a:r>
            <a:r>
              <a:rPr lang="en-US" altLang="zh-CN" sz="2400" dirty="0"/>
              <a:t>PROM</a:t>
            </a:r>
            <a:r>
              <a:rPr lang="zh-CN" altLang="zh-CN" sz="2400" dirty="0"/>
              <a:t>）。 </a:t>
            </a:r>
          </a:p>
          <a:p>
            <a:pPr algn="just"/>
            <a:endParaRPr lang="zh-CN" altLang="en-US" sz="2400" dirty="0"/>
          </a:p>
        </p:txBody>
      </p:sp>
    </p:spTree>
  </p:cSld>
  <p:clrMapOvr>
    <a:masterClrMapping/>
  </p:clrMapOvr>
  <p:transition spd="med">
    <p:random/>
  </p:transition>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7345" name="内容占位符 2"/>
          <p:cNvSpPr>
            <a:spLocks noGrp="1"/>
          </p:cNvSpPr>
          <p:nvPr>
            <p:ph/>
          </p:nvPr>
        </p:nvSpPr>
        <p:spPr>
          <a:xfrm>
            <a:off x="577850" y="1387475"/>
            <a:ext cx="8197850" cy="4814888"/>
          </a:xfrm>
          <a:prstGeom prst="rect">
            <a:avLst/>
          </a:prstGeom>
          <a:noFill/>
          <a:ln w="9525">
            <a:noFill/>
          </a:ln>
        </p:spPr>
        <p:txBody>
          <a:bodyPr wrap="square" lIns="92075" tIns="46038" rIns="92075" bIns="46038" anchor="t" anchorCtr="0"/>
          <a:lstStyle/>
          <a:p>
            <a:pPr algn="just"/>
            <a:r>
              <a:rPr lang="en-US" altLang="zh-CN" dirty="0"/>
              <a:t>EPROM</a:t>
            </a:r>
            <a:r>
              <a:rPr lang="zh-CN" altLang="zh-CN" dirty="0"/>
              <a:t>（</a:t>
            </a:r>
            <a:r>
              <a:rPr lang="en-US" altLang="zh-CN" dirty="0"/>
              <a:t>Erasable Programmable Read-Only Memory</a:t>
            </a:r>
            <a:r>
              <a:rPr lang="zh-CN" altLang="zh-CN" dirty="0"/>
              <a:t>）</a:t>
            </a:r>
            <a:endParaRPr lang="en-US" altLang="zh-CN" dirty="0"/>
          </a:p>
          <a:p>
            <a:pPr lvl="1" algn="just"/>
            <a:r>
              <a:rPr lang="en-US" altLang="zh-CN" dirty="0"/>
              <a:t>EPROM</a:t>
            </a:r>
            <a:r>
              <a:rPr lang="zh-CN" altLang="zh-CN" dirty="0"/>
              <a:t>芯片可重复擦除和写入，解决了</a:t>
            </a:r>
            <a:r>
              <a:rPr lang="en-US" altLang="zh-CN" dirty="0"/>
              <a:t>PROM</a:t>
            </a:r>
            <a:r>
              <a:rPr lang="zh-CN" altLang="zh-CN" dirty="0"/>
              <a:t>只能写一次的弊端。</a:t>
            </a:r>
            <a:r>
              <a:rPr lang="en-US" altLang="zh-CN" dirty="0"/>
              <a:t>EPROM</a:t>
            </a:r>
            <a:r>
              <a:rPr lang="zh-CN" altLang="zh-CN" dirty="0"/>
              <a:t>芯片在其正面的陶瓷封装上开有一个玻璃窗口，透过该窗口可以看到其内部的集成电路。</a:t>
            </a:r>
            <a:endParaRPr lang="en-US" altLang="zh-CN" dirty="0"/>
          </a:p>
          <a:p>
            <a:pPr lvl="1" algn="just"/>
            <a:r>
              <a:rPr lang="en-US" altLang="zh-CN" dirty="0"/>
              <a:t>EPROM</a:t>
            </a:r>
            <a:r>
              <a:rPr lang="zh-CN" altLang="zh-CN" dirty="0"/>
              <a:t>的擦除是对整个芯片进行的，不能只擦除个别单元或个别位，擦除时间较长，且擦写均需离线操作，使用起来不方便。</a:t>
            </a:r>
            <a:endParaRPr lang="zh-CN" altLang="en-US" dirty="0"/>
          </a:p>
        </p:txBody>
      </p:sp>
    </p:spTree>
  </p:cSld>
  <p:clrMapOvr>
    <a:masterClrMapping/>
  </p:clrMapOvr>
  <p:transition spd="med">
    <p:random/>
  </p:transition>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8369" name="内容占位符 2"/>
          <p:cNvSpPr>
            <a:spLocks noGrp="1"/>
          </p:cNvSpPr>
          <p:nvPr>
            <p:ph/>
          </p:nvPr>
        </p:nvSpPr>
        <p:spPr>
          <a:xfrm>
            <a:off x="577850" y="1387475"/>
            <a:ext cx="8197850" cy="4814888"/>
          </a:xfrm>
          <a:prstGeom prst="rect">
            <a:avLst/>
          </a:prstGeom>
          <a:noFill/>
          <a:ln w="9525">
            <a:noFill/>
          </a:ln>
        </p:spPr>
        <p:txBody>
          <a:bodyPr wrap="square" lIns="92075" tIns="46038" rIns="92075" bIns="46038" anchor="t" anchorCtr="0"/>
          <a:lstStyle/>
          <a:p>
            <a:pPr algn="just"/>
            <a:r>
              <a:rPr lang="en-US" altLang="zh-CN" dirty="0"/>
              <a:t>EEPROM (Electrically Erasable Programmable </a:t>
            </a:r>
            <a:r>
              <a:rPr lang="en-US" altLang="zh-CN" dirty="0">
                <a:hlinkClick r:id="rId2"/>
              </a:rPr>
              <a:t>Read-Only Memory</a:t>
            </a:r>
            <a:r>
              <a:rPr lang="en-US" altLang="zh-CN" dirty="0"/>
              <a:t>)</a:t>
            </a:r>
            <a:r>
              <a:rPr lang="zh-CN" altLang="zh-CN" dirty="0"/>
              <a:t>，又称为</a:t>
            </a:r>
            <a:r>
              <a:rPr lang="en-US" altLang="zh-CN" dirty="0"/>
              <a:t>E</a:t>
            </a:r>
            <a:r>
              <a:rPr lang="en-US" altLang="zh-CN" baseline="30000" dirty="0"/>
              <a:t>2</a:t>
            </a:r>
            <a:r>
              <a:rPr lang="en-US" altLang="zh-CN" dirty="0"/>
              <a:t>PROM</a:t>
            </a:r>
            <a:r>
              <a:rPr lang="zh-CN" altLang="zh-CN" dirty="0"/>
              <a:t>。</a:t>
            </a:r>
            <a:endParaRPr lang="en-US" altLang="zh-CN" dirty="0"/>
          </a:p>
          <a:p>
            <a:pPr lvl="1" algn="just"/>
            <a:r>
              <a:rPr lang="zh-CN" altLang="zh-CN" dirty="0"/>
              <a:t>这种存储器在系统掉电后数据不丢失，用户可在计算机上或使用专用设备擦除已有信息，重新编程。</a:t>
            </a:r>
            <a:endParaRPr lang="en-US" altLang="zh-CN" dirty="0"/>
          </a:p>
          <a:p>
            <a:pPr lvl="1" algn="just"/>
            <a:r>
              <a:rPr lang="en-US" altLang="zh-CN" dirty="0"/>
              <a:t>EEPROM</a:t>
            </a:r>
            <a:r>
              <a:rPr lang="zh-CN" altLang="zh-CN" dirty="0"/>
              <a:t>不需从计算机中取出即可修改，常用在接口卡中，用来存放硬件设置数据。</a:t>
            </a:r>
            <a:endParaRPr lang="en-US" altLang="zh-CN" dirty="0"/>
          </a:p>
          <a:p>
            <a:pPr lvl="1" algn="just"/>
            <a:r>
              <a:rPr lang="en-US" altLang="zh-CN" dirty="0"/>
              <a:t>EEPROM</a:t>
            </a:r>
            <a:r>
              <a:rPr lang="zh-CN" altLang="zh-CN" dirty="0"/>
              <a:t>可对以字节为单位的信息进行擦除和重写</a:t>
            </a:r>
            <a:r>
              <a:rPr lang="zh-CN" altLang="en-US" dirty="0"/>
              <a:t>。</a:t>
            </a:r>
          </a:p>
        </p:txBody>
      </p:sp>
    </p:spTree>
  </p:cSld>
  <p:clrMapOvr>
    <a:masterClrMapping/>
  </p:clrMapOvr>
  <p:transition spd="med">
    <p:random/>
  </p:transition>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77850" y="1387475"/>
            <a:ext cx="8197850" cy="4814888"/>
          </a:xfrm>
          <a:prstGeom prst="rect">
            <a:avLst/>
          </a:prstGeom>
          <a:ln w="9525" cap="flat" cmpd="sng" algn="ctr">
            <a:noFill/>
            <a:prstDash val="solid"/>
            <a:miter/>
          </a:ln>
        </p:spPr>
        <p:txBody>
          <a:bodyPr vert="horz" wrap="square" lIns="92075" tIns="46038" rIns="92075" bIns="46038" numCol="1" anchor="t" anchorCtr="0" compatLnSpc="1"/>
          <a:lstStyle/>
          <a:p>
            <a:pPr marL="0" marR="0" lvl="0" indent="0" algn="just" defTabSz="914400" rtl="0" eaLnBrk="0" fontAlgn="base" latinLnBrk="0" hangingPunct="0">
              <a:lnSpc>
                <a:spcPct val="100000"/>
              </a:lnSpc>
              <a:spcBef>
                <a:spcPct val="20000"/>
              </a:spcBef>
              <a:spcAft>
                <a:spcPct val="0"/>
              </a:spcAft>
              <a:buClr>
                <a:schemeClr val="accent2"/>
              </a:buClr>
              <a:buSzPct val="70000"/>
              <a:buFont typeface="Wingdings" panose="05000000000000000000" pitchFamily="2" charset="2"/>
              <a:buNone/>
              <a:defRPr/>
            </a:pPr>
            <a:r>
              <a:rPr kumimoji="1" lang="en-US" altLang="zh-CN" sz="2400" b="0" i="0" u="none" strike="noStrike" kern="0" cap="none" spc="0" normalizeH="0" baseline="0" noProof="0" dirty="0">
                <a:ln>
                  <a:noFill/>
                </a:ln>
                <a:solidFill>
                  <a:schemeClr val="tx1"/>
                </a:solidFill>
                <a:effectLst/>
                <a:uLnTx/>
                <a:uFillTx/>
                <a:latin typeface="+mn-lt"/>
                <a:ea typeface="+mn-ea"/>
                <a:cs typeface="+mn-cs"/>
              </a:rPr>
              <a:t>1</a:t>
            </a:r>
            <a:r>
              <a:rPr kumimoji="1" lang="zh-CN" altLang="zh-CN" sz="2400" b="0" i="0" u="none" strike="noStrike" kern="0" cap="none" spc="0" normalizeH="0" baseline="0" noProof="0" dirty="0">
                <a:ln>
                  <a:noFill/>
                </a:ln>
                <a:solidFill>
                  <a:schemeClr val="tx1"/>
                </a:solidFill>
                <a:effectLst/>
                <a:uLnTx/>
                <a:uFillTx/>
                <a:latin typeface="+mn-lt"/>
                <a:ea typeface="+mn-ea"/>
                <a:cs typeface="+mn-cs"/>
              </a:rPr>
              <a:t>．</a:t>
            </a:r>
            <a:r>
              <a:rPr kumimoji="1" lang="en-US" altLang="zh-CN" sz="2400" b="0" i="0" u="none" strike="noStrike" kern="0" cap="none" spc="0" normalizeH="0" baseline="0" noProof="0" dirty="0">
                <a:ln>
                  <a:noFill/>
                </a:ln>
                <a:solidFill>
                  <a:schemeClr val="tx1"/>
                </a:solidFill>
                <a:effectLst/>
                <a:uLnTx/>
                <a:uFillTx/>
                <a:latin typeface="+mn-lt"/>
                <a:ea typeface="+mn-ea"/>
                <a:cs typeface="+mn-cs"/>
              </a:rPr>
              <a:t>EPROM</a:t>
            </a:r>
            <a:r>
              <a:rPr kumimoji="1" lang="zh-CN" altLang="zh-CN" sz="2400" b="0" i="0" u="none" strike="noStrike" kern="0" cap="none" spc="0" normalizeH="0" baseline="0" noProof="0" dirty="0">
                <a:ln>
                  <a:noFill/>
                </a:ln>
                <a:solidFill>
                  <a:schemeClr val="tx1"/>
                </a:solidFill>
                <a:effectLst/>
                <a:uLnTx/>
                <a:uFillTx/>
                <a:latin typeface="+mn-lt"/>
                <a:ea typeface="+mn-ea"/>
                <a:cs typeface="+mn-cs"/>
              </a:rPr>
              <a:t>芯片 </a:t>
            </a:r>
            <a:endParaRPr kumimoji="1" lang="zh-CN" altLang="zh-CN" sz="2400" b="1" i="0" u="none" strike="noStrike" kern="0" cap="none" spc="0" normalizeH="0" baseline="0" noProof="0" dirty="0">
              <a:ln>
                <a:noFill/>
              </a:ln>
              <a:solidFill>
                <a:schemeClr val="tx1"/>
              </a:solidFill>
              <a:effectLst/>
              <a:uLnTx/>
              <a:uFillTx/>
              <a:latin typeface="+mn-lt"/>
              <a:ea typeface="+mn-ea"/>
              <a:cs typeface="+mn-cs"/>
            </a:endParaRPr>
          </a:p>
          <a:p>
            <a:pPr marL="0" marR="0" lvl="0" indent="0" algn="just" defTabSz="914400" rtl="0" eaLnBrk="0" fontAlgn="base" latinLnBrk="0" hangingPunct="0">
              <a:lnSpc>
                <a:spcPct val="100000"/>
              </a:lnSpc>
              <a:spcBef>
                <a:spcPct val="20000"/>
              </a:spcBef>
              <a:spcAft>
                <a:spcPct val="0"/>
              </a:spcAft>
              <a:buClr>
                <a:schemeClr val="accent2"/>
              </a:buClr>
              <a:buSzPct val="70000"/>
              <a:buFont typeface="Wingdings" panose="05000000000000000000" pitchFamily="2" charset="2"/>
              <a:buNone/>
              <a:defRPr/>
            </a:pPr>
            <a:r>
              <a:rPr kumimoji="1" lang="en-US" altLang="zh-CN" sz="2400" b="1" i="0" u="none" strike="noStrike" kern="0" cap="none" spc="0" normalizeH="0" baseline="0" noProof="0" dirty="0">
                <a:ln>
                  <a:noFill/>
                </a:ln>
                <a:solidFill>
                  <a:schemeClr val="tx1"/>
                </a:solidFill>
                <a:effectLst/>
                <a:uLnTx/>
                <a:uFillTx/>
                <a:latin typeface="+mn-lt"/>
                <a:ea typeface="+mn-ea"/>
                <a:cs typeface="+mn-cs"/>
              </a:rPr>
              <a:t>EPROM</a:t>
            </a:r>
            <a:r>
              <a:rPr kumimoji="1" lang="zh-CN" altLang="zh-CN" sz="2400" b="1" i="0" u="none" strike="noStrike" kern="0" cap="none" spc="0" normalizeH="0" baseline="0" noProof="0" dirty="0">
                <a:ln>
                  <a:noFill/>
                </a:ln>
                <a:solidFill>
                  <a:schemeClr val="tx1"/>
                </a:solidFill>
                <a:effectLst/>
                <a:uLnTx/>
                <a:uFillTx/>
                <a:latin typeface="+mn-lt"/>
                <a:ea typeface="+mn-ea"/>
                <a:cs typeface="+mn-cs"/>
              </a:rPr>
              <a:t>芯片有多种型号，一般都是以</a:t>
            </a:r>
            <a:r>
              <a:rPr kumimoji="1" lang="en-US" altLang="zh-CN" sz="2400" b="1" i="0" u="none" strike="noStrike" kern="0" cap="none" spc="0" normalizeH="0" baseline="0" noProof="0" dirty="0">
                <a:ln>
                  <a:noFill/>
                </a:ln>
                <a:solidFill>
                  <a:schemeClr val="tx1"/>
                </a:solidFill>
                <a:effectLst/>
                <a:uLnTx/>
                <a:uFillTx/>
                <a:latin typeface="+mn-lt"/>
                <a:ea typeface="+mn-ea"/>
                <a:cs typeface="+mn-cs"/>
              </a:rPr>
              <a:t>27</a:t>
            </a:r>
            <a:r>
              <a:rPr kumimoji="1" lang="zh-CN" altLang="zh-CN" sz="2400" b="1" i="0" u="none" strike="noStrike" kern="0" cap="none" spc="0" normalizeH="0" baseline="0" noProof="0" dirty="0">
                <a:ln>
                  <a:noFill/>
                </a:ln>
                <a:solidFill>
                  <a:schemeClr val="tx1"/>
                </a:solidFill>
                <a:effectLst/>
                <a:uLnTx/>
                <a:uFillTx/>
                <a:latin typeface="+mn-lt"/>
                <a:ea typeface="+mn-ea"/>
                <a:cs typeface="+mn-cs"/>
              </a:rPr>
              <a:t>开头的。常用的有</a:t>
            </a:r>
            <a:r>
              <a:rPr kumimoji="1" lang="en-US" altLang="zh-CN" sz="2400" b="1" i="0" u="none" strike="noStrike" kern="0" cap="none" spc="0" normalizeH="0" baseline="0" noProof="0" dirty="0">
                <a:ln>
                  <a:noFill/>
                </a:ln>
                <a:solidFill>
                  <a:schemeClr val="tx1"/>
                </a:solidFill>
                <a:effectLst/>
                <a:uLnTx/>
                <a:uFillTx/>
                <a:latin typeface="+mn-lt"/>
                <a:ea typeface="+mn-ea"/>
                <a:cs typeface="+mn-cs"/>
              </a:rPr>
              <a:t>2716</a:t>
            </a:r>
            <a:r>
              <a:rPr kumimoji="1" lang="zh-CN" altLang="zh-CN" sz="2400" b="1" i="0" u="none" strike="noStrike" kern="0" cap="none" spc="0" normalizeH="0" baseline="0" noProof="0" dirty="0">
                <a:ln>
                  <a:noFill/>
                </a:ln>
                <a:solidFill>
                  <a:schemeClr val="tx1"/>
                </a:solidFill>
                <a:effectLst/>
                <a:uLnTx/>
                <a:uFillTx/>
                <a:latin typeface="+mn-lt"/>
                <a:ea typeface="+mn-ea"/>
                <a:cs typeface="+mn-cs"/>
              </a:rPr>
              <a:t>（</a:t>
            </a:r>
            <a:r>
              <a:rPr kumimoji="1" lang="en-US" altLang="zh-CN" sz="2400" b="1" i="0" u="none" strike="noStrike" kern="0" cap="none" spc="0" normalizeH="0" baseline="0" noProof="0" dirty="0">
                <a:ln>
                  <a:noFill/>
                </a:ln>
                <a:solidFill>
                  <a:schemeClr val="tx1"/>
                </a:solidFill>
                <a:effectLst/>
                <a:uLnTx/>
                <a:uFillTx/>
                <a:latin typeface="+mn-lt"/>
                <a:ea typeface="+mn-ea"/>
                <a:cs typeface="+mn-cs"/>
              </a:rPr>
              <a:t>2K</a:t>
            </a:r>
            <a:r>
              <a:rPr kumimoji="1" lang="zh-CN" altLang="zh-CN" sz="2400" b="1" i="0" u="none" strike="noStrike" kern="0" cap="none" spc="0" normalizeH="0" baseline="0" noProof="0" dirty="0">
                <a:ln>
                  <a:noFill/>
                </a:ln>
                <a:solidFill>
                  <a:schemeClr val="tx1"/>
                </a:solidFill>
                <a:effectLst/>
                <a:uLnTx/>
                <a:uFillTx/>
                <a:latin typeface="+mn-lt"/>
                <a:ea typeface="+mn-ea"/>
                <a:cs typeface="+mn-cs"/>
              </a:rPr>
              <a:t>×</a:t>
            </a:r>
            <a:r>
              <a:rPr kumimoji="1" lang="en-US" altLang="zh-CN" sz="2400" b="1" i="0" u="none" strike="noStrike" kern="0" cap="none" spc="0" normalizeH="0" baseline="0" noProof="0" dirty="0">
                <a:ln>
                  <a:noFill/>
                </a:ln>
                <a:solidFill>
                  <a:schemeClr val="tx1"/>
                </a:solidFill>
                <a:effectLst/>
                <a:uLnTx/>
                <a:uFillTx/>
                <a:latin typeface="+mn-lt"/>
                <a:ea typeface="+mn-ea"/>
                <a:cs typeface="+mn-cs"/>
              </a:rPr>
              <a:t>8</a:t>
            </a:r>
            <a:r>
              <a:rPr kumimoji="1" lang="zh-CN" altLang="zh-CN" sz="2400" b="1" i="0" u="none" strike="noStrike" kern="0" cap="none" spc="0" normalizeH="0" baseline="0" noProof="0" dirty="0">
                <a:ln>
                  <a:noFill/>
                </a:ln>
                <a:solidFill>
                  <a:schemeClr val="tx1"/>
                </a:solidFill>
                <a:effectLst/>
                <a:uLnTx/>
                <a:uFillTx/>
                <a:latin typeface="+mn-lt"/>
                <a:ea typeface="+mn-ea"/>
                <a:cs typeface="+mn-cs"/>
              </a:rPr>
              <a:t>）、</a:t>
            </a:r>
            <a:r>
              <a:rPr kumimoji="1" lang="en-US" altLang="zh-CN" sz="2400" b="1" i="0" u="none" strike="noStrike" kern="0" cap="none" spc="0" normalizeH="0" baseline="0" noProof="0" dirty="0">
                <a:ln>
                  <a:noFill/>
                </a:ln>
                <a:solidFill>
                  <a:schemeClr val="tx1"/>
                </a:solidFill>
                <a:effectLst/>
                <a:uLnTx/>
                <a:uFillTx/>
                <a:latin typeface="+mn-lt"/>
                <a:ea typeface="+mn-ea"/>
                <a:cs typeface="+mn-cs"/>
              </a:rPr>
              <a:t>2732</a:t>
            </a:r>
            <a:r>
              <a:rPr kumimoji="1" lang="zh-CN" altLang="zh-CN" sz="2400" b="1" i="0" u="none" strike="noStrike" kern="0" cap="none" spc="0" normalizeH="0" baseline="0" noProof="0" dirty="0">
                <a:ln>
                  <a:noFill/>
                </a:ln>
                <a:solidFill>
                  <a:schemeClr val="tx1"/>
                </a:solidFill>
                <a:effectLst/>
                <a:uLnTx/>
                <a:uFillTx/>
                <a:latin typeface="+mn-lt"/>
                <a:ea typeface="+mn-ea"/>
                <a:cs typeface="+mn-cs"/>
              </a:rPr>
              <a:t>（</a:t>
            </a:r>
            <a:r>
              <a:rPr kumimoji="1" lang="en-US" altLang="zh-CN" sz="2400" b="1" i="0" u="none" strike="noStrike" kern="0" cap="none" spc="0" normalizeH="0" baseline="0" noProof="0" dirty="0">
                <a:ln>
                  <a:noFill/>
                </a:ln>
                <a:solidFill>
                  <a:schemeClr val="tx1"/>
                </a:solidFill>
                <a:effectLst/>
                <a:uLnTx/>
                <a:uFillTx/>
                <a:latin typeface="+mn-lt"/>
                <a:ea typeface="+mn-ea"/>
                <a:cs typeface="+mn-cs"/>
              </a:rPr>
              <a:t>4K</a:t>
            </a:r>
            <a:r>
              <a:rPr kumimoji="1" lang="zh-CN" altLang="zh-CN" sz="2400" b="1" i="0" u="none" strike="noStrike" kern="0" cap="none" spc="0" normalizeH="0" baseline="0" noProof="0" dirty="0">
                <a:ln>
                  <a:noFill/>
                </a:ln>
                <a:solidFill>
                  <a:schemeClr val="tx1"/>
                </a:solidFill>
                <a:effectLst/>
                <a:uLnTx/>
                <a:uFillTx/>
                <a:latin typeface="+mn-lt"/>
                <a:ea typeface="+mn-ea"/>
                <a:cs typeface="+mn-cs"/>
              </a:rPr>
              <a:t>×</a:t>
            </a:r>
            <a:r>
              <a:rPr kumimoji="1" lang="en-US" altLang="zh-CN" sz="2400" b="1" i="0" u="none" strike="noStrike" kern="0" cap="none" spc="0" normalizeH="0" baseline="0" noProof="0" dirty="0">
                <a:ln>
                  <a:noFill/>
                </a:ln>
                <a:solidFill>
                  <a:schemeClr val="tx1"/>
                </a:solidFill>
                <a:effectLst/>
                <a:uLnTx/>
                <a:uFillTx/>
                <a:latin typeface="+mn-lt"/>
                <a:ea typeface="+mn-ea"/>
                <a:cs typeface="+mn-cs"/>
              </a:rPr>
              <a:t>8</a:t>
            </a:r>
            <a:r>
              <a:rPr kumimoji="1" lang="zh-CN" altLang="zh-CN" sz="2400" b="1" i="0" u="none" strike="noStrike" kern="0" cap="none" spc="0" normalizeH="0" baseline="0" noProof="0" dirty="0">
                <a:ln>
                  <a:noFill/>
                </a:ln>
                <a:solidFill>
                  <a:schemeClr val="tx1"/>
                </a:solidFill>
                <a:effectLst/>
                <a:uLnTx/>
                <a:uFillTx/>
                <a:latin typeface="+mn-lt"/>
                <a:ea typeface="+mn-ea"/>
                <a:cs typeface="+mn-cs"/>
              </a:rPr>
              <a:t>）、</a:t>
            </a:r>
            <a:r>
              <a:rPr kumimoji="1" lang="en-US" altLang="zh-CN" sz="2400" b="1" i="0" u="none" strike="noStrike" kern="0" cap="none" spc="0" normalizeH="0" baseline="0" noProof="0" dirty="0">
                <a:ln>
                  <a:noFill/>
                </a:ln>
                <a:solidFill>
                  <a:schemeClr val="tx1"/>
                </a:solidFill>
                <a:effectLst/>
                <a:uLnTx/>
                <a:uFillTx/>
                <a:latin typeface="+mn-lt"/>
                <a:ea typeface="+mn-ea"/>
                <a:cs typeface="+mn-cs"/>
              </a:rPr>
              <a:t>2764</a:t>
            </a:r>
            <a:r>
              <a:rPr kumimoji="1" lang="zh-CN" altLang="zh-CN" sz="2400" b="1" i="0" u="none" strike="noStrike" kern="0" cap="none" spc="0" normalizeH="0" baseline="0" noProof="0" dirty="0">
                <a:ln>
                  <a:noFill/>
                </a:ln>
                <a:solidFill>
                  <a:schemeClr val="tx1"/>
                </a:solidFill>
                <a:effectLst/>
                <a:uLnTx/>
                <a:uFillTx/>
                <a:latin typeface="+mn-lt"/>
                <a:ea typeface="+mn-ea"/>
                <a:cs typeface="+mn-cs"/>
              </a:rPr>
              <a:t>（</a:t>
            </a:r>
            <a:r>
              <a:rPr kumimoji="1" lang="en-US" altLang="zh-CN" sz="2400" b="1" i="0" u="none" strike="noStrike" kern="0" cap="none" spc="0" normalizeH="0" baseline="0" noProof="0" dirty="0">
                <a:ln>
                  <a:noFill/>
                </a:ln>
                <a:solidFill>
                  <a:schemeClr val="tx1"/>
                </a:solidFill>
                <a:effectLst/>
                <a:uLnTx/>
                <a:uFillTx/>
                <a:latin typeface="+mn-lt"/>
                <a:ea typeface="+mn-ea"/>
                <a:cs typeface="+mn-cs"/>
              </a:rPr>
              <a:t>8K</a:t>
            </a:r>
            <a:r>
              <a:rPr kumimoji="1" lang="zh-CN" altLang="zh-CN" sz="2400" b="1" i="0" u="none" strike="noStrike" kern="0" cap="none" spc="0" normalizeH="0" baseline="0" noProof="0" dirty="0">
                <a:ln>
                  <a:noFill/>
                </a:ln>
                <a:solidFill>
                  <a:schemeClr val="tx1"/>
                </a:solidFill>
                <a:effectLst/>
                <a:uLnTx/>
                <a:uFillTx/>
                <a:latin typeface="+mn-lt"/>
                <a:ea typeface="+mn-ea"/>
                <a:cs typeface="+mn-cs"/>
              </a:rPr>
              <a:t>×</a:t>
            </a:r>
            <a:r>
              <a:rPr kumimoji="1" lang="en-US" altLang="zh-CN" sz="2400" b="1" i="0" u="none" strike="noStrike" kern="0" cap="none" spc="0" normalizeH="0" baseline="0" noProof="0" dirty="0">
                <a:ln>
                  <a:noFill/>
                </a:ln>
                <a:solidFill>
                  <a:schemeClr val="tx1"/>
                </a:solidFill>
                <a:effectLst/>
                <a:uLnTx/>
                <a:uFillTx/>
                <a:latin typeface="+mn-lt"/>
                <a:ea typeface="+mn-ea"/>
                <a:cs typeface="+mn-cs"/>
              </a:rPr>
              <a:t>8</a:t>
            </a:r>
            <a:r>
              <a:rPr kumimoji="1" lang="zh-CN" altLang="zh-CN" sz="2400" b="1" i="0" u="none" strike="noStrike" kern="0" cap="none" spc="0" normalizeH="0" baseline="0" noProof="0" dirty="0">
                <a:ln>
                  <a:noFill/>
                </a:ln>
                <a:solidFill>
                  <a:schemeClr val="tx1"/>
                </a:solidFill>
                <a:effectLst/>
                <a:uLnTx/>
                <a:uFillTx/>
                <a:latin typeface="+mn-lt"/>
                <a:ea typeface="+mn-ea"/>
                <a:cs typeface="+mn-cs"/>
              </a:rPr>
              <a:t>）、</a:t>
            </a:r>
            <a:r>
              <a:rPr kumimoji="1" lang="en-US" altLang="zh-CN" sz="2400" b="1" i="0" u="none" strike="noStrike" kern="0" cap="none" spc="0" normalizeH="0" baseline="0" noProof="0" dirty="0">
                <a:ln>
                  <a:noFill/>
                </a:ln>
                <a:solidFill>
                  <a:schemeClr val="tx1"/>
                </a:solidFill>
                <a:effectLst/>
                <a:uLnTx/>
                <a:uFillTx/>
                <a:latin typeface="+mn-lt"/>
                <a:ea typeface="+mn-ea"/>
                <a:cs typeface="+mn-cs"/>
              </a:rPr>
              <a:t>27128</a:t>
            </a:r>
            <a:r>
              <a:rPr kumimoji="1" lang="zh-CN" altLang="zh-CN" sz="2400" b="1" i="0" u="none" strike="noStrike" kern="0" cap="none" spc="0" normalizeH="0" baseline="0" noProof="0" dirty="0">
                <a:ln>
                  <a:noFill/>
                </a:ln>
                <a:solidFill>
                  <a:schemeClr val="tx1"/>
                </a:solidFill>
                <a:effectLst/>
                <a:uLnTx/>
                <a:uFillTx/>
                <a:latin typeface="+mn-lt"/>
                <a:ea typeface="+mn-ea"/>
                <a:cs typeface="+mn-cs"/>
              </a:rPr>
              <a:t>（</a:t>
            </a:r>
            <a:r>
              <a:rPr kumimoji="1" lang="en-US" altLang="zh-CN" sz="2400" b="1" i="0" u="none" strike="noStrike" kern="0" cap="none" spc="0" normalizeH="0" baseline="0" noProof="0" dirty="0">
                <a:ln>
                  <a:noFill/>
                </a:ln>
                <a:solidFill>
                  <a:schemeClr val="tx1"/>
                </a:solidFill>
                <a:effectLst/>
                <a:uLnTx/>
                <a:uFillTx/>
                <a:latin typeface="+mn-lt"/>
                <a:ea typeface="+mn-ea"/>
                <a:cs typeface="+mn-cs"/>
              </a:rPr>
              <a:t>16K</a:t>
            </a:r>
            <a:r>
              <a:rPr kumimoji="1" lang="zh-CN" altLang="zh-CN" sz="2400" b="1" i="0" u="none" strike="noStrike" kern="0" cap="none" spc="0" normalizeH="0" baseline="0" noProof="0" dirty="0">
                <a:ln>
                  <a:noFill/>
                </a:ln>
                <a:solidFill>
                  <a:schemeClr val="tx1"/>
                </a:solidFill>
                <a:effectLst/>
                <a:uLnTx/>
                <a:uFillTx/>
                <a:latin typeface="+mn-lt"/>
                <a:ea typeface="+mn-ea"/>
                <a:cs typeface="+mn-cs"/>
              </a:rPr>
              <a:t>×</a:t>
            </a:r>
            <a:r>
              <a:rPr kumimoji="1" lang="en-US" altLang="zh-CN" sz="2400" b="1" i="0" u="none" strike="noStrike" kern="0" cap="none" spc="0" normalizeH="0" baseline="0" noProof="0" dirty="0">
                <a:ln>
                  <a:noFill/>
                </a:ln>
                <a:solidFill>
                  <a:schemeClr val="tx1"/>
                </a:solidFill>
                <a:effectLst/>
                <a:uLnTx/>
                <a:uFillTx/>
                <a:latin typeface="+mn-lt"/>
                <a:ea typeface="+mn-ea"/>
                <a:cs typeface="+mn-cs"/>
              </a:rPr>
              <a:t>8</a:t>
            </a:r>
            <a:r>
              <a:rPr kumimoji="1" lang="zh-CN" altLang="zh-CN" sz="2400" b="1" i="0" u="none" strike="noStrike" kern="0" cap="none" spc="0" normalizeH="0" baseline="0" noProof="0" dirty="0">
                <a:ln>
                  <a:noFill/>
                </a:ln>
                <a:solidFill>
                  <a:schemeClr val="tx1"/>
                </a:solidFill>
                <a:effectLst/>
                <a:uLnTx/>
                <a:uFillTx/>
                <a:latin typeface="+mn-lt"/>
                <a:ea typeface="+mn-ea"/>
                <a:cs typeface="+mn-cs"/>
              </a:rPr>
              <a:t>）、</a:t>
            </a:r>
            <a:r>
              <a:rPr kumimoji="1" lang="en-US" altLang="zh-CN" sz="2400" b="1" i="0" u="none" strike="noStrike" kern="0" cap="none" spc="0" normalizeH="0" baseline="0" noProof="0" dirty="0">
                <a:ln>
                  <a:noFill/>
                </a:ln>
                <a:solidFill>
                  <a:schemeClr val="tx1"/>
                </a:solidFill>
                <a:effectLst/>
                <a:uLnTx/>
                <a:uFillTx/>
                <a:latin typeface="+mn-lt"/>
                <a:ea typeface="+mn-ea"/>
                <a:cs typeface="+mn-cs"/>
              </a:rPr>
              <a:t>27256</a:t>
            </a:r>
            <a:r>
              <a:rPr kumimoji="1" lang="zh-CN" altLang="zh-CN" sz="2400" b="1" i="0" u="none" strike="noStrike" kern="0" cap="none" spc="0" normalizeH="0" baseline="0" noProof="0" dirty="0">
                <a:ln>
                  <a:noFill/>
                </a:ln>
                <a:solidFill>
                  <a:schemeClr val="tx1"/>
                </a:solidFill>
                <a:effectLst/>
                <a:uLnTx/>
                <a:uFillTx/>
                <a:latin typeface="+mn-lt"/>
                <a:ea typeface="+mn-ea"/>
                <a:cs typeface="+mn-cs"/>
              </a:rPr>
              <a:t>（</a:t>
            </a:r>
            <a:r>
              <a:rPr kumimoji="1" lang="en-US" altLang="zh-CN" sz="2400" b="1" i="0" u="none" strike="noStrike" kern="0" cap="none" spc="0" normalizeH="0" baseline="0" noProof="0" dirty="0">
                <a:ln>
                  <a:noFill/>
                </a:ln>
                <a:solidFill>
                  <a:schemeClr val="tx1"/>
                </a:solidFill>
                <a:effectLst/>
                <a:uLnTx/>
                <a:uFillTx/>
                <a:latin typeface="+mn-lt"/>
                <a:ea typeface="+mn-ea"/>
                <a:cs typeface="+mn-cs"/>
              </a:rPr>
              <a:t>32K</a:t>
            </a:r>
            <a:r>
              <a:rPr kumimoji="1" lang="zh-CN" altLang="zh-CN" sz="2400" b="1" i="0" u="none" strike="noStrike" kern="0" cap="none" spc="0" normalizeH="0" baseline="0" noProof="0" dirty="0">
                <a:ln>
                  <a:noFill/>
                </a:ln>
                <a:solidFill>
                  <a:schemeClr val="tx1"/>
                </a:solidFill>
                <a:effectLst/>
                <a:uLnTx/>
                <a:uFillTx/>
                <a:latin typeface="+mn-lt"/>
                <a:ea typeface="+mn-ea"/>
                <a:cs typeface="+mn-cs"/>
              </a:rPr>
              <a:t>×</a:t>
            </a:r>
            <a:r>
              <a:rPr kumimoji="1" lang="en-US" altLang="zh-CN" sz="2400" b="1" i="0" u="none" strike="noStrike" kern="0" cap="none" spc="0" normalizeH="0" baseline="0" noProof="0" dirty="0">
                <a:ln>
                  <a:noFill/>
                </a:ln>
                <a:solidFill>
                  <a:schemeClr val="tx1"/>
                </a:solidFill>
                <a:effectLst/>
                <a:uLnTx/>
                <a:uFillTx/>
                <a:latin typeface="+mn-lt"/>
                <a:ea typeface="+mn-ea"/>
                <a:cs typeface="+mn-cs"/>
              </a:rPr>
              <a:t>8</a:t>
            </a:r>
            <a:r>
              <a:rPr kumimoji="1" lang="zh-CN" altLang="zh-CN" sz="2400" b="1" i="0" u="none" strike="noStrike" kern="0" cap="none" spc="0" normalizeH="0" baseline="0" noProof="0" dirty="0">
                <a:ln>
                  <a:noFill/>
                </a:ln>
                <a:solidFill>
                  <a:schemeClr val="tx1"/>
                </a:solidFill>
                <a:effectLst/>
                <a:uLnTx/>
                <a:uFillTx/>
                <a:latin typeface="+mn-lt"/>
                <a:ea typeface="+mn-ea"/>
                <a:cs typeface="+mn-cs"/>
              </a:rPr>
              <a:t>）等。下面以</a:t>
            </a:r>
            <a:r>
              <a:rPr kumimoji="1" lang="en-US" altLang="zh-CN" sz="2400" b="1" i="0" u="none" strike="noStrike" kern="0" cap="none" spc="0" normalizeH="0" baseline="0" noProof="0" dirty="0">
                <a:ln>
                  <a:noFill/>
                </a:ln>
                <a:solidFill>
                  <a:schemeClr val="tx1"/>
                </a:solidFill>
                <a:effectLst/>
                <a:uLnTx/>
                <a:uFillTx/>
                <a:latin typeface="+mn-lt"/>
                <a:ea typeface="+mn-ea"/>
                <a:cs typeface="+mn-cs"/>
              </a:rPr>
              <a:t>2716</a:t>
            </a:r>
            <a:r>
              <a:rPr kumimoji="1" lang="zh-CN" altLang="zh-CN" sz="2400" b="1" i="0" u="none" strike="noStrike" kern="0" cap="none" spc="0" normalizeH="0" baseline="0" noProof="0" dirty="0">
                <a:ln>
                  <a:noFill/>
                </a:ln>
                <a:solidFill>
                  <a:schemeClr val="tx1"/>
                </a:solidFill>
                <a:effectLst/>
                <a:uLnTx/>
                <a:uFillTx/>
                <a:latin typeface="+mn-lt"/>
                <a:ea typeface="+mn-ea"/>
                <a:cs typeface="+mn-cs"/>
              </a:rPr>
              <a:t>为例对其性能及工作方式作一介绍。</a:t>
            </a:r>
            <a:r>
              <a:rPr kumimoji="1" lang="en-US" altLang="zh-CN" sz="2400" b="1" i="0" u="none" strike="noStrike" kern="0" cap="none" spc="0" normalizeH="0" baseline="0" noProof="0" dirty="0">
                <a:ln>
                  <a:noFill/>
                </a:ln>
                <a:solidFill>
                  <a:schemeClr val="tx1"/>
                </a:solidFill>
                <a:effectLst/>
                <a:uLnTx/>
                <a:uFillTx/>
                <a:latin typeface="+mn-lt"/>
                <a:ea typeface="+mn-ea"/>
                <a:cs typeface="+mn-cs"/>
              </a:rPr>
              <a:t> </a:t>
            </a:r>
            <a:endParaRPr kumimoji="1" lang="zh-CN" altLang="zh-CN" sz="2400" b="1" i="0" u="none" strike="noStrike" kern="0" cap="none" spc="0" normalizeH="0" baseline="0" noProof="0" dirty="0">
              <a:ln>
                <a:noFill/>
              </a:ln>
              <a:solidFill>
                <a:schemeClr val="tx1"/>
              </a:solidFill>
              <a:effectLst/>
              <a:uLnTx/>
              <a:uFillTx/>
              <a:latin typeface="+mn-lt"/>
              <a:ea typeface="+mn-ea"/>
              <a:cs typeface="+mn-cs"/>
            </a:endParaRPr>
          </a:p>
          <a:p>
            <a:pPr marL="0" marR="0" lvl="0" indent="0" algn="just" defTabSz="914400" rtl="0" eaLnBrk="0" fontAlgn="base" latinLnBrk="0" hangingPunct="0">
              <a:lnSpc>
                <a:spcPct val="100000"/>
              </a:lnSpc>
              <a:spcBef>
                <a:spcPct val="20000"/>
              </a:spcBef>
              <a:spcAft>
                <a:spcPct val="0"/>
              </a:spcAft>
              <a:buClr>
                <a:schemeClr val="accent2"/>
              </a:buClr>
              <a:buSzPct val="70000"/>
              <a:buFont typeface="Wingdings" panose="05000000000000000000" pitchFamily="2" charset="2"/>
              <a:buNone/>
              <a:defRPr/>
            </a:pPr>
            <a:r>
              <a:rPr kumimoji="1" lang="en-US" altLang="zh-CN" sz="2400" b="0" i="0" u="none" strike="noStrike" kern="0" cap="none" spc="0" normalizeH="0" baseline="0" noProof="0" dirty="0">
                <a:ln>
                  <a:noFill/>
                </a:ln>
                <a:solidFill>
                  <a:schemeClr val="tx1"/>
                </a:solidFill>
                <a:effectLst/>
                <a:uLnTx/>
                <a:uFillTx/>
                <a:latin typeface="+mn-lt"/>
                <a:ea typeface="+mn-ea"/>
                <a:cs typeface="+mn-cs"/>
              </a:rPr>
              <a:t>1</a:t>
            </a:r>
            <a:r>
              <a:rPr kumimoji="1" lang="zh-CN" altLang="zh-CN" sz="2400" b="0" i="0" u="none" strike="noStrike" kern="0" cap="none" spc="0" normalizeH="0" baseline="0" noProof="0" dirty="0">
                <a:ln>
                  <a:noFill/>
                </a:ln>
                <a:solidFill>
                  <a:schemeClr val="tx1"/>
                </a:solidFill>
                <a:effectLst/>
                <a:uLnTx/>
                <a:uFillTx/>
                <a:latin typeface="+mn-lt"/>
                <a:ea typeface="+mn-ea"/>
                <a:cs typeface="+mn-cs"/>
              </a:rPr>
              <a:t>）</a:t>
            </a:r>
            <a:r>
              <a:rPr kumimoji="1" lang="en-US" altLang="zh-CN" sz="2400" b="1" i="0" u="none" strike="noStrike" kern="0" cap="none" spc="0" normalizeH="0" baseline="0" noProof="0" dirty="0">
                <a:ln>
                  <a:noFill/>
                </a:ln>
                <a:solidFill>
                  <a:schemeClr val="tx1"/>
                </a:solidFill>
                <a:effectLst/>
                <a:uLnTx/>
                <a:uFillTx/>
                <a:latin typeface="+mn-lt"/>
                <a:ea typeface="+mn-ea"/>
                <a:cs typeface="+mn-cs"/>
              </a:rPr>
              <a:t>2716</a:t>
            </a:r>
            <a:r>
              <a:rPr kumimoji="1" lang="zh-CN" altLang="zh-CN" sz="2400" b="0" i="0" u="none" strike="noStrike" kern="0" cap="none" spc="0" normalizeH="0" baseline="0" noProof="0" dirty="0">
                <a:ln>
                  <a:noFill/>
                </a:ln>
                <a:solidFill>
                  <a:schemeClr val="tx1"/>
                </a:solidFill>
                <a:effectLst/>
                <a:uLnTx/>
                <a:uFillTx/>
                <a:latin typeface="+mn-lt"/>
                <a:ea typeface="+mn-ea"/>
                <a:cs typeface="+mn-cs"/>
              </a:rPr>
              <a:t>的内部结构和外部引脚</a:t>
            </a:r>
            <a:endParaRPr kumimoji="1" lang="zh-CN" altLang="zh-CN" sz="2400" b="1" i="0" u="none" strike="noStrike" kern="0" cap="none" spc="0" normalizeH="0" baseline="0" noProof="0" dirty="0">
              <a:ln>
                <a:noFill/>
              </a:ln>
              <a:solidFill>
                <a:schemeClr val="tx1"/>
              </a:solidFill>
              <a:effectLst/>
              <a:uLnTx/>
              <a:uFillTx/>
              <a:latin typeface="+mn-lt"/>
              <a:ea typeface="+mn-ea"/>
              <a:cs typeface="+mn-cs"/>
            </a:endParaRPr>
          </a:p>
          <a:p>
            <a:pPr marL="742950" marR="0" lvl="0" indent="-285750" algn="just" defTabSz="914400" rtl="0" eaLnBrk="0" fontAlgn="base" latinLnBrk="0" hangingPunct="0">
              <a:lnSpc>
                <a:spcPct val="100000"/>
              </a:lnSpc>
              <a:spcBef>
                <a:spcPct val="20000"/>
              </a:spcBef>
              <a:spcAft>
                <a:spcPct val="0"/>
              </a:spcAft>
              <a:buClr>
                <a:schemeClr val="accent2"/>
              </a:buClr>
              <a:buSzPct val="70000"/>
              <a:buFont typeface="Wingdings" panose="05000000000000000000" pitchFamily="2" charset="2"/>
              <a:buChar char="Ø"/>
              <a:defRPr/>
            </a:pPr>
            <a:endParaRPr kumimoji="1" lang="zh-CN" altLang="en-US" sz="2400" b="1" i="0" u="none" strike="noStrike" kern="0" cap="none" spc="0" normalizeH="0" baseline="0" noProof="0" dirty="0">
              <a:ln>
                <a:noFill/>
              </a:ln>
              <a:solidFill>
                <a:schemeClr val="tx1"/>
              </a:solidFill>
              <a:effectLst/>
              <a:uLnTx/>
              <a:uFillTx/>
              <a:latin typeface="+mn-lt"/>
              <a:ea typeface="+mn-ea"/>
              <a:cs typeface="+mn-cs"/>
            </a:endParaRPr>
          </a:p>
        </p:txBody>
      </p:sp>
    </p:spTree>
  </p:cSld>
  <p:clrMapOvr>
    <a:masterClrMapping/>
  </p:clrMapOvr>
  <p:transition spd="med">
    <p:random/>
  </p:transition>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60417" name="Picture 2" descr="5"/>
          <p:cNvPicPr>
            <a:picLocks noChangeAspect="1"/>
          </p:cNvPicPr>
          <p:nvPr/>
        </p:nvPicPr>
        <p:blipFill>
          <a:blip r:embed="rId2"/>
          <a:stretch>
            <a:fillRect/>
          </a:stretch>
        </p:blipFill>
        <p:spPr>
          <a:xfrm>
            <a:off x="904875" y="1577975"/>
            <a:ext cx="7240588" cy="3600450"/>
          </a:xfrm>
          <a:prstGeom prst="rect">
            <a:avLst/>
          </a:prstGeom>
          <a:noFill/>
          <a:ln w="9525">
            <a:noFill/>
          </a:ln>
        </p:spPr>
      </p:pic>
      <p:sp>
        <p:nvSpPr>
          <p:cNvPr id="60418" name="矩形 3"/>
          <p:cNvSpPr/>
          <p:nvPr/>
        </p:nvSpPr>
        <p:spPr>
          <a:xfrm>
            <a:off x="1825625" y="5565775"/>
            <a:ext cx="5643563" cy="425450"/>
          </a:xfrm>
          <a:prstGeom prst="rect">
            <a:avLst/>
          </a:prstGeom>
          <a:noFill/>
          <a:ln w="9525">
            <a:noFill/>
          </a:ln>
        </p:spPr>
        <p:txBody>
          <a:bodyPr anchor="t" anchorCtr="0">
            <a:spAutoFit/>
          </a:bodyPr>
          <a:lstStyle/>
          <a:p>
            <a:r>
              <a:rPr lang="zh-CN" altLang="zh-CN" b="0" dirty="0">
                <a:latin typeface="宋体" panose="02010600030101010101" pitchFamily="2" charset="-122"/>
                <a:ea typeface="宋体" panose="02010600030101010101" pitchFamily="2" charset="-122"/>
              </a:rPr>
              <a:t>图</a:t>
            </a:r>
            <a:r>
              <a:rPr lang="en-US" altLang="zh-CN" b="0" dirty="0">
                <a:latin typeface="宋体" panose="02010600030101010101" pitchFamily="2" charset="-122"/>
                <a:ea typeface="宋体" panose="02010600030101010101" pitchFamily="2" charset="-122"/>
              </a:rPr>
              <a:t>5-30  Intel 2716</a:t>
            </a:r>
            <a:r>
              <a:rPr lang="zh-CN" altLang="zh-CN" b="0" dirty="0">
                <a:latin typeface="宋体" panose="02010600030101010101" pitchFamily="2" charset="-122"/>
                <a:ea typeface="宋体" panose="02010600030101010101" pitchFamily="2" charset="-122"/>
              </a:rPr>
              <a:t>的引脚及内部结构</a:t>
            </a:r>
          </a:p>
        </p:txBody>
      </p:sp>
    </p:spTree>
  </p:cSld>
  <p:clrMapOvr>
    <a:masterClrMapping/>
  </p:clrMapOvr>
  <p:transition spd="med">
    <p:random/>
  </p:transition>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8369" name="内容占位符 2"/>
          <p:cNvSpPr>
            <a:spLocks noGrp="1"/>
          </p:cNvSpPr>
          <p:nvPr>
            <p:ph idx="4294967295"/>
          </p:nvPr>
        </p:nvSpPr>
        <p:spPr>
          <a:xfrm>
            <a:off x="577850" y="1387475"/>
            <a:ext cx="8197850" cy="4814888"/>
          </a:xfrm>
          <a:prstGeom prst="rect">
            <a:avLst/>
          </a:prstGeom>
          <a:noFill/>
          <a:ln w="9525" cap="flat" cmpd="sng" algn="ctr">
            <a:noFill/>
            <a:prstDash val="solid"/>
            <a:miter/>
          </a:ln>
        </p:spPr>
        <p:txBody>
          <a:bodyPr wrap="square" lIns="92075" tIns="46038" rIns="92075" bIns="46038" anchor="t"/>
          <a:lstStyle/>
          <a:p>
            <a:pPr marL="0" marR="0" lvl="0" indent="0" algn="l" defTabSz="914400" rtl="0" eaLnBrk="0" fontAlgn="base" latinLnBrk="0" hangingPunct="0">
              <a:lnSpc>
                <a:spcPct val="100000"/>
              </a:lnSpc>
              <a:spcBef>
                <a:spcPct val="20000"/>
              </a:spcBef>
              <a:spcAft>
                <a:spcPct val="0"/>
              </a:spcAft>
              <a:buClr>
                <a:schemeClr val="accent2"/>
              </a:buClr>
              <a:buSzPct val="70000"/>
              <a:buFont typeface="Wingdings" panose="05000000000000000000" pitchFamily="2" charset="2"/>
              <a:buNone/>
            </a:pPr>
            <a:r>
              <a:rPr kumimoji="1" lang="en-US" altLang="zh-CN" sz="2800" b="1" i="0" u="none" strike="noStrike" kern="0" cap="none" spc="0" normalizeH="0" baseline="0" noProof="1">
                <a:solidFill>
                  <a:schemeClr val="tx1"/>
                </a:solidFill>
                <a:latin typeface="+mn-lt"/>
                <a:ea typeface="+mn-ea"/>
                <a:cs typeface="+mn-cs"/>
              </a:rPr>
              <a:t>2</a:t>
            </a:r>
            <a:r>
              <a:rPr kumimoji="1" lang="zh-CN" altLang="zh-CN" sz="2800" b="1" i="0" u="none" strike="noStrike" kern="0" cap="none" spc="0" normalizeH="0" baseline="0" noProof="1">
                <a:solidFill>
                  <a:schemeClr val="tx1"/>
                </a:solidFill>
                <a:latin typeface="+mn-lt"/>
                <a:ea typeface="+mn-ea"/>
                <a:cs typeface="+mn-cs"/>
              </a:rPr>
              <a:t>）</a:t>
            </a:r>
            <a:r>
              <a:rPr kumimoji="1" lang="en-US" altLang="zh-CN" sz="2800" b="1" i="0" u="none" strike="noStrike" kern="0" cap="none" spc="0" normalizeH="0" baseline="0" noProof="1">
                <a:solidFill>
                  <a:schemeClr val="tx1"/>
                </a:solidFill>
                <a:latin typeface="+mn-lt"/>
                <a:ea typeface="+mn-ea"/>
                <a:cs typeface="+mn-cs"/>
              </a:rPr>
              <a:t>2716</a:t>
            </a:r>
            <a:r>
              <a:rPr kumimoji="1" lang="zh-CN" altLang="zh-CN" sz="2800" b="1" i="0" u="none" strike="noStrike" kern="0" cap="none" spc="0" normalizeH="0" baseline="0" noProof="1">
                <a:solidFill>
                  <a:schemeClr val="tx1"/>
                </a:solidFill>
                <a:latin typeface="+mn-lt"/>
                <a:ea typeface="+mn-ea"/>
                <a:cs typeface="+mn-cs"/>
              </a:rPr>
              <a:t>的工作方式 </a:t>
            </a:r>
          </a:p>
          <a:p>
            <a:pPr marL="342900" marR="0" lvl="0" indent="-342900" algn="l" defTabSz="914400" rtl="0" eaLnBrk="0" fontAlgn="base" latinLnBrk="0" hangingPunct="0">
              <a:lnSpc>
                <a:spcPct val="100000"/>
              </a:lnSpc>
              <a:spcBef>
                <a:spcPct val="20000"/>
              </a:spcBef>
              <a:spcAft>
                <a:spcPct val="0"/>
              </a:spcAft>
              <a:buClr>
                <a:schemeClr val="accent2"/>
              </a:buClr>
              <a:buSzPct val="70000"/>
              <a:buFont typeface="Wingdings" panose="05000000000000000000" pitchFamily="2" charset="2"/>
              <a:buChar char="u"/>
            </a:pPr>
            <a:endParaRPr kumimoji="1" lang="zh-CN" altLang="en-US" sz="2800" b="1" i="0" u="none" strike="noStrike" kern="0" cap="none" spc="0" normalizeH="0" baseline="0" noProof="1">
              <a:solidFill>
                <a:schemeClr val="tx1"/>
              </a:solidFill>
              <a:latin typeface="+mn-lt"/>
              <a:ea typeface="+mn-ea"/>
              <a:cs typeface="+mn-cs"/>
            </a:endParaRPr>
          </a:p>
        </p:txBody>
      </p:sp>
      <p:sp>
        <p:nvSpPr>
          <p:cNvPr id="61442" name="矩形 3"/>
          <p:cNvSpPr/>
          <p:nvPr/>
        </p:nvSpPr>
        <p:spPr>
          <a:xfrm>
            <a:off x="1241425" y="1881188"/>
            <a:ext cx="3382963" cy="427037"/>
          </a:xfrm>
          <a:prstGeom prst="rect">
            <a:avLst/>
          </a:prstGeom>
          <a:noFill/>
          <a:ln w="9525">
            <a:noFill/>
          </a:ln>
        </p:spPr>
        <p:txBody>
          <a:bodyPr wrap="none" anchor="t" anchorCtr="0">
            <a:spAutoFit/>
          </a:bodyPr>
          <a:lstStyle/>
          <a:p>
            <a:r>
              <a:rPr lang="zh-CN" altLang="zh-CN" b="0" dirty="0">
                <a:latin typeface="宋体" panose="02010600030101010101" pitchFamily="2" charset="-122"/>
                <a:ea typeface="宋体" panose="02010600030101010101" pitchFamily="2" charset="-122"/>
              </a:rPr>
              <a:t>表</a:t>
            </a:r>
            <a:r>
              <a:rPr lang="en-US" altLang="zh-CN" b="0" dirty="0">
                <a:latin typeface="宋体" panose="02010600030101010101" pitchFamily="2" charset="-122"/>
                <a:ea typeface="宋体" panose="02010600030101010101" pitchFamily="2" charset="-122"/>
              </a:rPr>
              <a:t>5-5  2716</a:t>
            </a:r>
            <a:r>
              <a:rPr lang="zh-CN" altLang="zh-CN" b="0" dirty="0">
                <a:latin typeface="宋体" panose="02010600030101010101" pitchFamily="2" charset="-122"/>
                <a:ea typeface="宋体" panose="02010600030101010101" pitchFamily="2" charset="-122"/>
              </a:rPr>
              <a:t>的工作方式</a:t>
            </a:r>
          </a:p>
        </p:txBody>
      </p:sp>
      <p:graphicFrame>
        <p:nvGraphicFramePr>
          <p:cNvPr id="5" name="表格 4"/>
          <p:cNvGraphicFramePr>
            <a:graphicFrameLocks noGrp="1"/>
          </p:cNvGraphicFramePr>
          <p:nvPr/>
        </p:nvGraphicFramePr>
        <p:xfrm>
          <a:off x="382588" y="2446338"/>
          <a:ext cx="8405813" cy="4213225"/>
        </p:xfrm>
        <a:graphic>
          <a:graphicData uri="http://schemas.openxmlformats.org/drawingml/2006/table">
            <a:tbl>
              <a:tblPr/>
              <a:tblGrid>
                <a:gridCol w="2034211">
                  <a:extLst>
                    <a:ext uri="{9D8B030D-6E8A-4147-A177-3AD203B41FA5}">
                      <a16:colId xmlns:a16="http://schemas.microsoft.com/office/drawing/2014/main" val="20000"/>
                    </a:ext>
                  </a:extLst>
                </a:gridCol>
                <a:gridCol w="2444187">
                  <a:extLst>
                    <a:ext uri="{9D8B030D-6E8A-4147-A177-3AD203B41FA5}">
                      <a16:colId xmlns:a16="http://schemas.microsoft.com/office/drawing/2014/main" val="20001"/>
                    </a:ext>
                  </a:extLst>
                </a:gridCol>
                <a:gridCol w="967491">
                  <a:extLst>
                    <a:ext uri="{9D8B030D-6E8A-4147-A177-3AD203B41FA5}">
                      <a16:colId xmlns:a16="http://schemas.microsoft.com/office/drawing/2014/main" val="20002"/>
                    </a:ext>
                  </a:extLst>
                </a:gridCol>
                <a:gridCol w="968798">
                  <a:extLst>
                    <a:ext uri="{9D8B030D-6E8A-4147-A177-3AD203B41FA5}">
                      <a16:colId xmlns:a16="http://schemas.microsoft.com/office/drawing/2014/main" val="20003"/>
                    </a:ext>
                  </a:extLst>
                </a:gridCol>
                <a:gridCol w="1991125">
                  <a:extLst>
                    <a:ext uri="{9D8B030D-6E8A-4147-A177-3AD203B41FA5}">
                      <a16:colId xmlns:a16="http://schemas.microsoft.com/office/drawing/2014/main" val="20004"/>
                    </a:ext>
                  </a:extLst>
                </a:gridCol>
              </a:tblGrid>
              <a:tr h="1039321">
                <a:tc>
                  <a:txBody>
                    <a:bodyPr/>
                    <a:lstStyle/>
                    <a:p>
                      <a:pPr algn="ctr">
                        <a:lnSpc>
                          <a:spcPts val="1200"/>
                        </a:lnSpc>
                        <a:spcAft>
                          <a:spcPts val="0"/>
                        </a:spcAft>
                      </a:pPr>
                      <a:r>
                        <a:rPr lang="en-US" sz="1800" b="1" kern="100" dirty="0">
                          <a:effectLst/>
                          <a:latin typeface="Times New Roman" panose="02020603050405020304"/>
                          <a:ea typeface="宋体" panose="02010600030101010101" pitchFamily="2" charset="-122"/>
                        </a:rPr>
                        <a:t>               </a:t>
                      </a:r>
                      <a:r>
                        <a:rPr lang="zh-CN" sz="1800" b="1" kern="100" dirty="0">
                          <a:effectLst/>
                          <a:latin typeface="Times New Roman" panose="02020603050405020304"/>
                          <a:ea typeface="宋体" panose="02010600030101010101" pitchFamily="2" charset="-122"/>
                        </a:rPr>
                        <a:t>引脚</a:t>
                      </a:r>
                    </a:p>
                    <a:p>
                      <a:pPr algn="just">
                        <a:lnSpc>
                          <a:spcPts val="1200"/>
                        </a:lnSpc>
                        <a:spcAft>
                          <a:spcPts val="0"/>
                        </a:spcAft>
                      </a:pPr>
                      <a:r>
                        <a:rPr lang="zh-CN" sz="1800" b="1" kern="100" dirty="0">
                          <a:effectLst/>
                          <a:latin typeface="Times New Roman" panose="02020603050405020304"/>
                          <a:ea typeface="宋体" panose="02010600030101010101" pitchFamily="2" charset="-122"/>
                        </a:rPr>
                        <a:t>方式</a:t>
                      </a:r>
                    </a:p>
                  </a:txBody>
                  <a:tcPr marL="68570" marR="6857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ts val="1200"/>
                        </a:lnSpc>
                        <a:spcAft>
                          <a:spcPts val="0"/>
                        </a:spcAft>
                      </a:pPr>
                      <a:r>
                        <a:rPr lang="en-US" sz="1800" b="1" kern="100">
                          <a:effectLst/>
                          <a:latin typeface="Times New Roman" panose="02020603050405020304"/>
                          <a:ea typeface="宋体" panose="02010600030101010101" pitchFamily="2" charset="-122"/>
                        </a:rPr>
                        <a:t>/PGM</a:t>
                      </a:r>
                      <a:endParaRPr lang="zh-CN" sz="1800" b="1" kern="100">
                        <a:effectLst/>
                        <a:latin typeface="Times New Roman" panose="02020603050405020304"/>
                        <a:ea typeface="宋体" panose="02010600030101010101" pitchFamily="2" charset="-122"/>
                      </a:endParaRPr>
                    </a:p>
                  </a:txBody>
                  <a:tcPr marL="68570" marR="6857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ts val="1200"/>
                        </a:lnSpc>
                        <a:spcAft>
                          <a:spcPts val="0"/>
                        </a:spcAft>
                      </a:pPr>
                      <a:endParaRPr lang="en-US" sz="1800" b="1" kern="100">
                        <a:effectLst/>
                        <a:latin typeface="Times New Roman" panose="02020603050405020304"/>
                        <a:ea typeface="宋体" panose="02010600030101010101" pitchFamily="2" charset="-122"/>
                      </a:endParaRPr>
                    </a:p>
                  </a:txBody>
                  <a:tcPr marL="68570" marR="6857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ts val="1200"/>
                        </a:lnSpc>
                        <a:spcAft>
                          <a:spcPts val="0"/>
                        </a:spcAft>
                      </a:pPr>
                      <a:r>
                        <a:rPr lang="en-US" sz="1800" b="1" kern="100">
                          <a:effectLst/>
                          <a:latin typeface="Times New Roman" panose="02020603050405020304"/>
                          <a:ea typeface="宋体" panose="02010600030101010101" pitchFamily="2" charset="-122"/>
                        </a:rPr>
                        <a:t>V</a:t>
                      </a:r>
                      <a:r>
                        <a:rPr lang="en-US" sz="1800" b="1" kern="100" baseline="-25000">
                          <a:effectLst/>
                          <a:latin typeface="Times New Roman" panose="02020603050405020304"/>
                          <a:ea typeface="宋体" panose="02010600030101010101" pitchFamily="2" charset="-122"/>
                        </a:rPr>
                        <a:t>PP</a:t>
                      </a:r>
                      <a:endParaRPr lang="zh-CN" sz="1800" b="1" kern="100">
                        <a:effectLst/>
                        <a:latin typeface="Times New Roman" panose="02020603050405020304"/>
                        <a:ea typeface="宋体" panose="02010600030101010101" pitchFamily="2" charset="-122"/>
                      </a:endParaRPr>
                    </a:p>
                  </a:txBody>
                  <a:tcPr marL="68570" marR="6857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ts val="1200"/>
                        </a:lnSpc>
                        <a:spcAft>
                          <a:spcPts val="0"/>
                        </a:spcAft>
                      </a:pPr>
                      <a:r>
                        <a:rPr lang="zh-CN" sz="1800" b="1" kern="100">
                          <a:effectLst/>
                          <a:latin typeface="Times New Roman" panose="02020603050405020304"/>
                          <a:ea typeface="宋体" panose="02010600030101010101" pitchFamily="2" charset="-122"/>
                        </a:rPr>
                        <a:t>数据总线状态</a:t>
                      </a:r>
                    </a:p>
                  </a:txBody>
                  <a:tcPr marL="68570" marR="6857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519660">
                <a:tc>
                  <a:txBody>
                    <a:bodyPr/>
                    <a:lstStyle/>
                    <a:p>
                      <a:pPr algn="ctr">
                        <a:lnSpc>
                          <a:spcPts val="1200"/>
                        </a:lnSpc>
                        <a:spcAft>
                          <a:spcPts val="0"/>
                        </a:spcAft>
                      </a:pPr>
                      <a:r>
                        <a:rPr lang="zh-CN" sz="1800" b="1" kern="100">
                          <a:effectLst/>
                          <a:latin typeface="Times New Roman" panose="02020603050405020304"/>
                          <a:ea typeface="宋体" panose="02010600030101010101" pitchFamily="2" charset="-122"/>
                        </a:rPr>
                        <a:t>读出方式</a:t>
                      </a:r>
                    </a:p>
                  </a:txBody>
                  <a:tcPr marL="68570" marR="6857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ts val="1200"/>
                        </a:lnSpc>
                        <a:spcAft>
                          <a:spcPts val="0"/>
                        </a:spcAft>
                      </a:pPr>
                      <a:r>
                        <a:rPr lang="en-US" sz="1800" b="1" kern="100">
                          <a:effectLst/>
                          <a:latin typeface="Times New Roman" panose="02020603050405020304"/>
                          <a:ea typeface="宋体" panose="02010600030101010101" pitchFamily="2" charset="-122"/>
                        </a:rPr>
                        <a:t>0</a:t>
                      </a:r>
                      <a:endParaRPr lang="zh-CN" sz="1800" b="1" kern="100">
                        <a:effectLst/>
                        <a:latin typeface="Times New Roman" panose="02020603050405020304"/>
                        <a:ea typeface="宋体" panose="02010600030101010101" pitchFamily="2" charset="-122"/>
                      </a:endParaRPr>
                    </a:p>
                  </a:txBody>
                  <a:tcPr marL="68570" marR="6857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ts val="1200"/>
                        </a:lnSpc>
                        <a:spcAft>
                          <a:spcPts val="0"/>
                        </a:spcAft>
                      </a:pPr>
                      <a:r>
                        <a:rPr lang="en-US" sz="1800" b="1" kern="100">
                          <a:effectLst/>
                          <a:latin typeface="Times New Roman" panose="02020603050405020304"/>
                          <a:ea typeface="宋体" panose="02010600030101010101" pitchFamily="2" charset="-122"/>
                        </a:rPr>
                        <a:t>0</a:t>
                      </a:r>
                      <a:endParaRPr lang="zh-CN" sz="1800" b="1" kern="100">
                        <a:effectLst/>
                        <a:latin typeface="Times New Roman" panose="02020603050405020304"/>
                        <a:ea typeface="宋体" panose="02010600030101010101" pitchFamily="2" charset="-122"/>
                      </a:endParaRPr>
                    </a:p>
                  </a:txBody>
                  <a:tcPr marL="68570" marR="6857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ts val="1200"/>
                        </a:lnSpc>
                        <a:spcAft>
                          <a:spcPts val="0"/>
                        </a:spcAft>
                      </a:pPr>
                      <a:r>
                        <a:rPr lang="en-US" sz="1800" b="1" kern="100">
                          <a:effectLst/>
                          <a:latin typeface="Times New Roman" panose="02020603050405020304"/>
                          <a:ea typeface="宋体" panose="02010600030101010101" pitchFamily="2" charset="-122"/>
                        </a:rPr>
                        <a:t>+5V</a:t>
                      </a:r>
                      <a:endParaRPr lang="zh-CN" sz="1800" b="1" kern="100">
                        <a:effectLst/>
                        <a:latin typeface="Times New Roman" panose="02020603050405020304"/>
                        <a:ea typeface="宋体" panose="02010600030101010101" pitchFamily="2" charset="-122"/>
                      </a:endParaRPr>
                    </a:p>
                  </a:txBody>
                  <a:tcPr marL="68570" marR="6857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ts val="1200"/>
                        </a:lnSpc>
                        <a:spcAft>
                          <a:spcPts val="0"/>
                        </a:spcAft>
                      </a:pPr>
                      <a:r>
                        <a:rPr lang="en-US" sz="1800" b="1" kern="100">
                          <a:effectLst/>
                          <a:latin typeface="Times New Roman" panose="02020603050405020304"/>
                          <a:ea typeface="宋体" panose="02010600030101010101" pitchFamily="2" charset="-122"/>
                        </a:rPr>
                        <a:t>D</a:t>
                      </a:r>
                      <a:r>
                        <a:rPr lang="en-US" sz="1800" b="1" kern="100" baseline="-25000">
                          <a:effectLst/>
                          <a:latin typeface="Times New Roman" panose="02020603050405020304"/>
                          <a:ea typeface="宋体" panose="02010600030101010101" pitchFamily="2" charset="-122"/>
                        </a:rPr>
                        <a:t>OUT</a:t>
                      </a:r>
                      <a:r>
                        <a:rPr lang="en-US" sz="1800" b="1" kern="100">
                          <a:effectLst/>
                          <a:latin typeface="Times New Roman" panose="02020603050405020304"/>
                          <a:ea typeface="宋体" panose="02010600030101010101" pitchFamily="2" charset="-122"/>
                        </a:rPr>
                        <a:t>(</a:t>
                      </a:r>
                      <a:r>
                        <a:rPr lang="zh-CN" sz="1800" b="1" kern="100">
                          <a:effectLst/>
                          <a:latin typeface="Times New Roman" panose="02020603050405020304"/>
                          <a:ea typeface="宋体" panose="02010600030101010101" pitchFamily="2" charset="-122"/>
                        </a:rPr>
                        <a:t>输出</a:t>
                      </a:r>
                      <a:r>
                        <a:rPr lang="en-US" sz="1800" b="1" kern="100">
                          <a:effectLst/>
                          <a:latin typeface="Times New Roman" panose="02020603050405020304"/>
                          <a:ea typeface="宋体" panose="02010600030101010101" pitchFamily="2" charset="-122"/>
                        </a:rPr>
                        <a:t>)</a:t>
                      </a:r>
                      <a:endParaRPr lang="zh-CN" sz="1800" b="1" kern="100">
                        <a:effectLst/>
                        <a:latin typeface="Times New Roman" panose="02020603050405020304"/>
                        <a:ea typeface="宋体" panose="02010600030101010101" pitchFamily="2" charset="-122"/>
                      </a:endParaRPr>
                    </a:p>
                  </a:txBody>
                  <a:tcPr marL="68570" marR="6857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519660">
                <a:tc>
                  <a:txBody>
                    <a:bodyPr/>
                    <a:lstStyle/>
                    <a:p>
                      <a:pPr algn="ctr">
                        <a:lnSpc>
                          <a:spcPts val="1200"/>
                        </a:lnSpc>
                        <a:spcAft>
                          <a:spcPts val="0"/>
                        </a:spcAft>
                      </a:pPr>
                      <a:r>
                        <a:rPr lang="zh-CN" sz="1800" b="1" kern="100">
                          <a:effectLst/>
                          <a:latin typeface="Times New Roman" panose="02020603050405020304"/>
                          <a:ea typeface="宋体" panose="02010600030101010101" pitchFamily="2" charset="-122"/>
                        </a:rPr>
                        <a:t>未选中方式</a:t>
                      </a:r>
                    </a:p>
                  </a:txBody>
                  <a:tcPr marL="68570" marR="6857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ts val="1200"/>
                        </a:lnSpc>
                        <a:spcAft>
                          <a:spcPts val="0"/>
                        </a:spcAft>
                      </a:pPr>
                      <a:r>
                        <a:rPr lang="en-US" sz="1800" b="1" kern="100">
                          <a:effectLst/>
                          <a:latin typeface="Times New Roman" panose="02020603050405020304"/>
                          <a:ea typeface="宋体" panose="02010600030101010101" pitchFamily="2" charset="-122"/>
                        </a:rPr>
                        <a:t>×</a:t>
                      </a:r>
                      <a:endParaRPr lang="zh-CN" sz="1800" b="1" kern="100">
                        <a:effectLst/>
                        <a:latin typeface="Times New Roman" panose="02020603050405020304"/>
                        <a:ea typeface="宋体" panose="02010600030101010101" pitchFamily="2" charset="-122"/>
                      </a:endParaRPr>
                    </a:p>
                  </a:txBody>
                  <a:tcPr marL="68570" marR="6857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ts val="1200"/>
                        </a:lnSpc>
                        <a:spcAft>
                          <a:spcPts val="0"/>
                        </a:spcAft>
                      </a:pPr>
                      <a:r>
                        <a:rPr lang="en-US" sz="1800" b="1" kern="100">
                          <a:effectLst/>
                          <a:latin typeface="Times New Roman" panose="02020603050405020304"/>
                          <a:ea typeface="宋体" panose="02010600030101010101" pitchFamily="2" charset="-122"/>
                        </a:rPr>
                        <a:t>1</a:t>
                      </a:r>
                      <a:endParaRPr lang="zh-CN" sz="1800" b="1" kern="100">
                        <a:effectLst/>
                        <a:latin typeface="Times New Roman" panose="02020603050405020304"/>
                        <a:ea typeface="宋体" panose="02010600030101010101" pitchFamily="2" charset="-122"/>
                      </a:endParaRPr>
                    </a:p>
                  </a:txBody>
                  <a:tcPr marL="68570" marR="6857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ts val="1200"/>
                        </a:lnSpc>
                        <a:spcAft>
                          <a:spcPts val="0"/>
                        </a:spcAft>
                      </a:pPr>
                      <a:r>
                        <a:rPr lang="en-US" sz="1800" b="1" kern="100">
                          <a:effectLst/>
                          <a:latin typeface="Times New Roman" panose="02020603050405020304"/>
                          <a:ea typeface="宋体" panose="02010600030101010101" pitchFamily="2" charset="-122"/>
                        </a:rPr>
                        <a:t>+5V</a:t>
                      </a:r>
                      <a:endParaRPr lang="zh-CN" sz="1800" b="1" kern="100">
                        <a:effectLst/>
                        <a:latin typeface="Times New Roman" panose="02020603050405020304"/>
                        <a:ea typeface="宋体" panose="02010600030101010101" pitchFamily="2" charset="-122"/>
                      </a:endParaRPr>
                    </a:p>
                  </a:txBody>
                  <a:tcPr marL="68570" marR="6857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ts val="1200"/>
                        </a:lnSpc>
                        <a:spcAft>
                          <a:spcPts val="0"/>
                        </a:spcAft>
                      </a:pPr>
                      <a:r>
                        <a:rPr lang="zh-CN" sz="1800" b="1" kern="100">
                          <a:effectLst/>
                          <a:latin typeface="Times New Roman" panose="02020603050405020304"/>
                          <a:ea typeface="宋体" panose="02010600030101010101" pitchFamily="2" charset="-122"/>
                        </a:rPr>
                        <a:t>高阻</a:t>
                      </a:r>
                    </a:p>
                  </a:txBody>
                  <a:tcPr marL="68570" marR="6857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519660">
                <a:tc>
                  <a:txBody>
                    <a:bodyPr/>
                    <a:lstStyle/>
                    <a:p>
                      <a:pPr algn="ctr">
                        <a:lnSpc>
                          <a:spcPts val="1200"/>
                        </a:lnSpc>
                        <a:spcAft>
                          <a:spcPts val="0"/>
                        </a:spcAft>
                      </a:pPr>
                      <a:r>
                        <a:rPr lang="zh-CN" sz="1800" b="1" kern="100">
                          <a:effectLst/>
                          <a:latin typeface="Times New Roman" panose="02020603050405020304"/>
                          <a:ea typeface="宋体" panose="02010600030101010101" pitchFamily="2" charset="-122"/>
                        </a:rPr>
                        <a:t>待机方式</a:t>
                      </a:r>
                    </a:p>
                  </a:txBody>
                  <a:tcPr marL="68570" marR="6857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ts val="1200"/>
                        </a:lnSpc>
                        <a:spcAft>
                          <a:spcPts val="0"/>
                        </a:spcAft>
                      </a:pPr>
                      <a:r>
                        <a:rPr lang="en-US" sz="1800" b="1" kern="100">
                          <a:effectLst/>
                          <a:latin typeface="Times New Roman" panose="02020603050405020304"/>
                          <a:ea typeface="宋体" panose="02010600030101010101" pitchFamily="2" charset="-122"/>
                        </a:rPr>
                        <a:t>1</a:t>
                      </a:r>
                      <a:endParaRPr lang="zh-CN" sz="1800" b="1" kern="100">
                        <a:effectLst/>
                        <a:latin typeface="Times New Roman" panose="02020603050405020304"/>
                        <a:ea typeface="宋体" panose="02010600030101010101" pitchFamily="2" charset="-122"/>
                      </a:endParaRPr>
                    </a:p>
                  </a:txBody>
                  <a:tcPr marL="68570" marR="6857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ts val="1200"/>
                        </a:lnSpc>
                        <a:spcAft>
                          <a:spcPts val="0"/>
                        </a:spcAft>
                      </a:pPr>
                      <a:r>
                        <a:rPr lang="en-US" sz="1800" b="1" kern="100">
                          <a:effectLst/>
                          <a:latin typeface="Times New Roman" panose="02020603050405020304"/>
                          <a:ea typeface="宋体" panose="02010600030101010101" pitchFamily="2" charset="-122"/>
                        </a:rPr>
                        <a:t>×</a:t>
                      </a:r>
                      <a:endParaRPr lang="zh-CN" sz="1800" b="1" kern="100">
                        <a:effectLst/>
                        <a:latin typeface="Times New Roman" panose="02020603050405020304"/>
                        <a:ea typeface="宋体" panose="02010600030101010101" pitchFamily="2" charset="-122"/>
                      </a:endParaRPr>
                    </a:p>
                  </a:txBody>
                  <a:tcPr marL="68570" marR="6857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ts val="1200"/>
                        </a:lnSpc>
                        <a:spcAft>
                          <a:spcPts val="0"/>
                        </a:spcAft>
                      </a:pPr>
                      <a:r>
                        <a:rPr lang="en-US" sz="1800" b="1" kern="100">
                          <a:effectLst/>
                          <a:latin typeface="Times New Roman" panose="02020603050405020304"/>
                          <a:ea typeface="宋体" panose="02010600030101010101" pitchFamily="2" charset="-122"/>
                        </a:rPr>
                        <a:t>+5V</a:t>
                      </a:r>
                      <a:endParaRPr lang="zh-CN" sz="1800" b="1" kern="100">
                        <a:effectLst/>
                        <a:latin typeface="Times New Roman" panose="02020603050405020304"/>
                        <a:ea typeface="宋体" panose="02010600030101010101" pitchFamily="2" charset="-122"/>
                      </a:endParaRPr>
                    </a:p>
                  </a:txBody>
                  <a:tcPr marL="68570" marR="6857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ts val="1200"/>
                        </a:lnSpc>
                        <a:spcAft>
                          <a:spcPts val="0"/>
                        </a:spcAft>
                      </a:pPr>
                      <a:r>
                        <a:rPr lang="zh-CN" sz="1800" b="1" kern="100">
                          <a:effectLst/>
                          <a:latin typeface="Times New Roman" panose="02020603050405020304"/>
                          <a:ea typeface="宋体" panose="02010600030101010101" pitchFamily="2" charset="-122"/>
                        </a:rPr>
                        <a:t>高阻</a:t>
                      </a:r>
                    </a:p>
                  </a:txBody>
                  <a:tcPr marL="68570" marR="6857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547632">
                <a:tc>
                  <a:txBody>
                    <a:bodyPr/>
                    <a:lstStyle/>
                    <a:p>
                      <a:pPr algn="ctr">
                        <a:lnSpc>
                          <a:spcPts val="1200"/>
                        </a:lnSpc>
                        <a:spcAft>
                          <a:spcPts val="0"/>
                        </a:spcAft>
                      </a:pPr>
                      <a:r>
                        <a:rPr lang="zh-CN" sz="1800" b="1" kern="100">
                          <a:effectLst/>
                          <a:latin typeface="Times New Roman" panose="02020603050405020304"/>
                          <a:ea typeface="宋体" panose="02010600030101010101" pitchFamily="2" charset="-122"/>
                        </a:rPr>
                        <a:t>编程方式</a:t>
                      </a:r>
                    </a:p>
                  </a:txBody>
                  <a:tcPr marL="68570" marR="6857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ts val="1200"/>
                        </a:lnSpc>
                        <a:spcAft>
                          <a:spcPts val="0"/>
                        </a:spcAft>
                      </a:pPr>
                      <a:r>
                        <a:rPr lang="zh-CN" sz="1800" b="1" kern="100">
                          <a:effectLst/>
                          <a:latin typeface="Times New Roman" panose="02020603050405020304"/>
                          <a:ea typeface="宋体" panose="02010600030101010101" pitchFamily="2" charset="-122"/>
                        </a:rPr>
                        <a:t>约</a:t>
                      </a:r>
                      <a:r>
                        <a:rPr lang="en-US" sz="1800" b="1" kern="100">
                          <a:effectLst/>
                          <a:latin typeface="Times New Roman" panose="02020603050405020304"/>
                          <a:ea typeface="宋体" panose="02010600030101010101" pitchFamily="2" charset="-122"/>
                        </a:rPr>
                        <a:t>50ms</a:t>
                      </a:r>
                      <a:r>
                        <a:rPr lang="zh-CN" sz="1800" b="1" kern="100">
                          <a:effectLst/>
                          <a:latin typeface="Times New Roman" panose="02020603050405020304"/>
                          <a:ea typeface="宋体" panose="02010600030101010101" pitchFamily="2" charset="-122"/>
                        </a:rPr>
                        <a:t>宽的正脉冲</a:t>
                      </a:r>
                    </a:p>
                  </a:txBody>
                  <a:tcPr marL="68570" marR="6857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ts val="1200"/>
                        </a:lnSpc>
                        <a:spcAft>
                          <a:spcPts val="0"/>
                        </a:spcAft>
                      </a:pPr>
                      <a:r>
                        <a:rPr lang="en-US" sz="1800" b="1" kern="100">
                          <a:effectLst/>
                          <a:latin typeface="Times New Roman" panose="02020603050405020304"/>
                          <a:ea typeface="宋体" panose="02010600030101010101" pitchFamily="2" charset="-122"/>
                        </a:rPr>
                        <a:t>1</a:t>
                      </a:r>
                      <a:endParaRPr lang="zh-CN" sz="1800" b="1" kern="100">
                        <a:effectLst/>
                        <a:latin typeface="Times New Roman" panose="02020603050405020304"/>
                        <a:ea typeface="宋体" panose="02010600030101010101" pitchFamily="2" charset="-122"/>
                      </a:endParaRPr>
                    </a:p>
                  </a:txBody>
                  <a:tcPr marL="68570" marR="6857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ts val="1200"/>
                        </a:lnSpc>
                        <a:spcAft>
                          <a:spcPts val="0"/>
                        </a:spcAft>
                      </a:pPr>
                      <a:r>
                        <a:rPr lang="en-US" sz="1800" b="1" kern="100">
                          <a:effectLst/>
                          <a:latin typeface="Times New Roman" panose="02020603050405020304"/>
                          <a:ea typeface="宋体" panose="02010600030101010101" pitchFamily="2" charset="-122"/>
                        </a:rPr>
                        <a:t>+25V</a:t>
                      </a:r>
                      <a:endParaRPr lang="zh-CN" sz="1800" b="1" kern="100">
                        <a:effectLst/>
                        <a:latin typeface="Times New Roman" panose="02020603050405020304"/>
                        <a:ea typeface="宋体" panose="02010600030101010101" pitchFamily="2" charset="-122"/>
                      </a:endParaRPr>
                    </a:p>
                  </a:txBody>
                  <a:tcPr marL="68570" marR="6857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ts val="1200"/>
                        </a:lnSpc>
                        <a:spcAft>
                          <a:spcPts val="0"/>
                        </a:spcAft>
                      </a:pPr>
                      <a:r>
                        <a:rPr lang="en-US" sz="1800" b="1" kern="100">
                          <a:effectLst/>
                          <a:latin typeface="Times New Roman" panose="02020603050405020304"/>
                          <a:ea typeface="宋体" panose="02010600030101010101" pitchFamily="2" charset="-122"/>
                        </a:rPr>
                        <a:t>D</a:t>
                      </a:r>
                      <a:r>
                        <a:rPr lang="en-US" sz="1800" b="1" kern="100" baseline="-25000">
                          <a:effectLst/>
                          <a:latin typeface="Times New Roman" panose="02020603050405020304"/>
                          <a:ea typeface="宋体" panose="02010600030101010101" pitchFamily="2" charset="-122"/>
                        </a:rPr>
                        <a:t>IN</a:t>
                      </a:r>
                      <a:r>
                        <a:rPr lang="en-US" sz="1800" b="1" kern="100">
                          <a:effectLst/>
                          <a:latin typeface="Times New Roman" panose="02020603050405020304"/>
                          <a:ea typeface="宋体" panose="02010600030101010101" pitchFamily="2" charset="-122"/>
                        </a:rPr>
                        <a:t>(</a:t>
                      </a:r>
                      <a:r>
                        <a:rPr lang="zh-CN" sz="1800" b="1" kern="100">
                          <a:effectLst/>
                          <a:latin typeface="Times New Roman" panose="02020603050405020304"/>
                          <a:ea typeface="宋体" panose="02010600030101010101" pitchFamily="2" charset="-122"/>
                        </a:rPr>
                        <a:t>输入</a:t>
                      </a:r>
                      <a:r>
                        <a:rPr lang="en-US" sz="1800" b="1" kern="100">
                          <a:effectLst/>
                          <a:latin typeface="Times New Roman" panose="02020603050405020304"/>
                          <a:ea typeface="宋体" panose="02010600030101010101" pitchFamily="2" charset="-122"/>
                        </a:rPr>
                        <a:t>)</a:t>
                      </a:r>
                      <a:endParaRPr lang="zh-CN" sz="1800" b="1" kern="100">
                        <a:effectLst/>
                        <a:latin typeface="Times New Roman" panose="02020603050405020304"/>
                        <a:ea typeface="宋体" panose="02010600030101010101" pitchFamily="2" charset="-122"/>
                      </a:endParaRPr>
                    </a:p>
                  </a:txBody>
                  <a:tcPr marL="68570" marR="6857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547632">
                <a:tc>
                  <a:txBody>
                    <a:bodyPr/>
                    <a:lstStyle/>
                    <a:p>
                      <a:pPr algn="ctr">
                        <a:lnSpc>
                          <a:spcPts val="1200"/>
                        </a:lnSpc>
                        <a:spcAft>
                          <a:spcPts val="0"/>
                        </a:spcAft>
                      </a:pPr>
                      <a:r>
                        <a:rPr lang="zh-CN" sz="1800" b="1" kern="100">
                          <a:effectLst/>
                          <a:latin typeface="Times New Roman" panose="02020603050405020304"/>
                          <a:ea typeface="宋体" panose="02010600030101010101" pitchFamily="2" charset="-122"/>
                        </a:rPr>
                        <a:t>校验编程内容方式</a:t>
                      </a:r>
                    </a:p>
                  </a:txBody>
                  <a:tcPr marL="68570" marR="6857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ts val="1200"/>
                        </a:lnSpc>
                        <a:spcAft>
                          <a:spcPts val="0"/>
                        </a:spcAft>
                      </a:pPr>
                      <a:r>
                        <a:rPr lang="en-US" sz="1800" b="1" kern="100">
                          <a:effectLst/>
                          <a:latin typeface="Times New Roman" panose="02020603050405020304"/>
                          <a:ea typeface="宋体" panose="02010600030101010101" pitchFamily="2" charset="-122"/>
                        </a:rPr>
                        <a:t>0</a:t>
                      </a:r>
                      <a:endParaRPr lang="zh-CN" sz="1800" b="1" kern="100">
                        <a:effectLst/>
                        <a:latin typeface="Times New Roman" panose="02020603050405020304"/>
                        <a:ea typeface="宋体" panose="02010600030101010101" pitchFamily="2" charset="-122"/>
                      </a:endParaRPr>
                    </a:p>
                  </a:txBody>
                  <a:tcPr marL="68570" marR="6857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ts val="1200"/>
                        </a:lnSpc>
                        <a:spcAft>
                          <a:spcPts val="0"/>
                        </a:spcAft>
                      </a:pPr>
                      <a:r>
                        <a:rPr lang="en-US" sz="1800" b="1" kern="100">
                          <a:effectLst/>
                          <a:latin typeface="Times New Roman" panose="02020603050405020304"/>
                          <a:ea typeface="宋体" panose="02010600030101010101" pitchFamily="2" charset="-122"/>
                        </a:rPr>
                        <a:t>0</a:t>
                      </a:r>
                      <a:endParaRPr lang="zh-CN" sz="1800" b="1" kern="100">
                        <a:effectLst/>
                        <a:latin typeface="Times New Roman" panose="02020603050405020304"/>
                        <a:ea typeface="宋体" panose="02010600030101010101" pitchFamily="2" charset="-122"/>
                      </a:endParaRPr>
                    </a:p>
                  </a:txBody>
                  <a:tcPr marL="68570" marR="6857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ts val="1200"/>
                        </a:lnSpc>
                        <a:spcAft>
                          <a:spcPts val="0"/>
                        </a:spcAft>
                      </a:pPr>
                      <a:r>
                        <a:rPr lang="en-US" sz="1800" b="1" kern="100">
                          <a:effectLst/>
                          <a:latin typeface="Times New Roman" panose="02020603050405020304"/>
                          <a:ea typeface="宋体" panose="02010600030101010101" pitchFamily="2" charset="-122"/>
                        </a:rPr>
                        <a:t>+25V</a:t>
                      </a:r>
                      <a:endParaRPr lang="zh-CN" sz="1800" b="1" kern="100">
                        <a:effectLst/>
                        <a:latin typeface="Times New Roman" panose="02020603050405020304"/>
                        <a:ea typeface="宋体" panose="02010600030101010101" pitchFamily="2" charset="-122"/>
                      </a:endParaRPr>
                    </a:p>
                  </a:txBody>
                  <a:tcPr marL="68570" marR="6857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ts val="1200"/>
                        </a:lnSpc>
                        <a:spcAft>
                          <a:spcPts val="0"/>
                        </a:spcAft>
                      </a:pPr>
                      <a:r>
                        <a:rPr lang="en-US" sz="1800" b="1" kern="100" dirty="0">
                          <a:effectLst/>
                          <a:latin typeface="Times New Roman" panose="02020603050405020304"/>
                          <a:ea typeface="宋体" panose="02010600030101010101" pitchFamily="2" charset="-122"/>
                        </a:rPr>
                        <a:t>D</a:t>
                      </a:r>
                      <a:r>
                        <a:rPr lang="en-US" sz="1800" b="1" kern="100" baseline="-25000" dirty="0">
                          <a:effectLst/>
                          <a:latin typeface="Times New Roman" panose="02020603050405020304"/>
                          <a:ea typeface="宋体" panose="02010600030101010101" pitchFamily="2" charset="-122"/>
                        </a:rPr>
                        <a:t>OUT</a:t>
                      </a:r>
                      <a:endParaRPr lang="zh-CN" sz="1800" b="1" kern="100" dirty="0">
                        <a:effectLst/>
                        <a:latin typeface="Times New Roman" panose="02020603050405020304"/>
                        <a:ea typeface="宋体" panose="02010600030101010101" pitchFamily="2" charset="-122"/>
                      </a:endParaRPr>
                    </a:p>
                  </a:txBody>
                  <a:tcPr marL="68570" marR="6857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519660">
                <a:tc>
                  <a:txBody>
                    <a:bodyPr/>
                    <a:lstStyle/>
                    <a:p>
                      <a:pPr algn="ctr">
                        <a:lnSpc>
                          <a:spcPts val="1200"/>
                        </a:lnSpc>
                        <a:spcAft>
                          <a:spcPts val="0"/>
                        </a:spcAft>
                      </a:pPr>
                      <a:r>
                        <a:rPr lang="zh-CN" sz="1800" b="1" kern="100">
                          <a:effectLst/>
                          <a:latin typeface="Times New Roman" panose="02020603050405020304"/>
                          <a:ea typeface="宋体" panose="02010600030101010101" pitchFamily="2" charset="-122"/>
                        </a:rPr>
                        <a:t>禁止编程方式</a:t>
                      </a:r>
                    </a:p>
                  </a:txBody>
                  <a:tcPr marL="68570" marR="6857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ts val="1200"/>
                        </a:lnSpc>
                        <a:spcAft>
                          <a:spcPts val="0"/>
                        </a:spcAft>
                      </a:pPr>
                      <a:r>
                        <a:rPr lang="en-US" sz="1800" b="1" kern="100" dirty="0">
                          <a:effectLst/>
                          <a:latin typeface="Times New Roman" panose="02020603050405020304"/>
                          <a:ea typeface="宋体" panose="02010600030101010101" pitchFamily="2" charset="-122"/>
                        </a:rPr>
                        <a:t>0</a:t>
                      </a:r>
                      <a:endParaRPr lang="zh-CN" sz="1800" b="1" kern="100" dirty="0">
                        <a:effectLst/>
                        <a:latin typeface="Times New Roman" panose="02020603050405020304"/>
                        <a:ea typeface="宋体" panose="02010600030101010101" pitchFamily="2" charset="-122"/>
                      </a:endParaRPr>
                    </a:p>
                  </a:txBody>
                  <a:tcPr marL="68570" marR="6857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ts val="1200"/>
                        </a:lnSpc>
                        <a:spcAft>
                          <a:spcPts val="0"/>
                        </a:spcAft>
                      </a:pPr>
                      <a:r>
                        <a:rPr lang="en-US" sz="1800" b="1" kern="100">
                          <a:effectLst/>
                          <a:latin typeface="Times New Roman" panose="02020603050405020304"/>
                          <a:ea typeface="宋体" panose="02010600030101010101" pitchFamily="2" charset="-122"/>
                        </a:rPr>
                        <a:t>1</a:t>
                      </a:r>
                      <a:endParaRPr lang="zh-CN" sz="1800" b="1" kern="100">
                        <a:effectLst/>
                        <a:latin typeface="Times New Roman" panose="02020603050405020304"/>
                        <a:ea typeface="宋体" panose="02010600030101010101" pitchFamily="2" charset="-122"/>
                      </a:endParaRPr>
                    </a:p>
                  </a:txBody>
                  <a:tcPr marL="68570" marR="6857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ts val="1200"/>
                        </a:lnSpc>
                        <a:spcAft>
                          <a:spcPts val="0"/>
                        </a:spcAft>
                      </a:pPr>
                      <a:r>
                        <a:rPr lang="en-US" sz="1800" b="1" kern="100">
                          <a:effectLst/>
                          <a:latin typeface="Times New Roman" panose="02020603050405020304"/>
                          <a:ea typeface="宋体" panose="02010600030101010101" pitchFamily="2" charset="-122"/>
                        </a:rPr>
                        <a:t>+25V</a:t>
                      </a:r>
                      <a:endParaRPr lang="zh-CN" sz="1800" b="1" kern="100">
                        <a:effectLst/>
                        <a:latin typeface="Times New Roman" panose="02020603050405020304"/>
                        <a:ea typeface="宋体" panose="02010600030101010101" pitchFamily="2" charset="-122"/>
                      </a:endParaRPr>
                    </a:p>
                  </a:txBody>
                  <a:tcPr marL="68570" marR="6857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ts val="1200"/>
                        </a:lnSpc>
                        <a:spcAft>
                          <a:spcPts val="0"/>
                        </a:spcAft>
                      </a:pPr>
                      <a:r>
                        <a:rPr lang="zh-CN" sz="1800" b="1" kern="100" dirty="0">
                          <a:effectLst/>
                          <a:latin typeface="Times New Roman" panose="02020603050405020304"/>
                          <a:ea typeface="宋体" panose="02010600030101010101" pitchFamily="2" charset="-122"/>
                        </a:rPr>
                        <a:t>高阻</a:t>
                      </a:r>
                    </a:p>
                  </a:txBody>
                  <a:tcPr marL="68570" marR="6857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graphicFrame>
        <p:nvGraphicFramePr>
          <p:cNvPr id="61493" name="对象 5"/>
          <p:cNvGraphicFramePr>
            <a:graphicFrameLocks noChangeAspect="1"/>
          </p:cNvGraphicFramePr>
          <p:nvPr/>
        </p:nvGraphicFramePr>
        <p:xfrm>
          <a:off x="2852738" y="2698750"/>
          <a:ext cx="419100" cy="374650"/>
        </p:xfrm>
        <a:graphic>
          <a:graphicData uri="http://schemas.openxmlformats.org/presentationml/2006/ole">
            <mc:AlternateContent xmlns:mc="http://schemas.openxmlformats.org/markup-compatibility/2006">
              <mc:Choice xmlns:v="urn:schemas-microsoft-com:vml" Requires="v">
                <p:oleObj spid="_x0000_s10259" r:id="rId3" imgW="179070" imgH="166370" progId="Equation.DSMT4">
                  <p:embed/>
                </p:oleObj>
              </mc:Choice>
              <mc:Fallback>
                <p:oleObj r:id="rId3" imgW="179070" imgH="166370" progId="Equation.DSMT4">
                  <p:embed/>
                  <p:pic>
                    <p:nvPicPr>
                      <p:cNvPr id="0" name="图片 3086"/>
                      <p:cNvPicPr/>
                      <p:nvPr/>
                    </p:nvPicPr>
                    <p:blipFill>
                      <a:blip r:embed="rId4"/>
                      <a:stretch>
                        <a:fillRect/>
                      </a:stretch>
                    </p:blipFill>
                    <p:spPr>
                      <a:xfrm>
                        <a:off x="2852738" y="2698750"/>
                        <a:ext cx="419100" cy="374650"/>
                      </a:xfrm>
                      <a:prstGeom prst="rect">
                        <a:avLst/>
                      </a:prstGeom>
                      <a:solidFill>
                        <a:schemeClr val="tx1"/>
                      </a:solidFill>
                      <a:ln w="38100">
                        <a:noFill/>
                        <a:miter/>
                      </a:ln>
                    </p:spPr>
                  </p:pic>
                </p:oleObj>
              </mc:Fallback>
            </mc:AlternateContent>
          </a:graphicData>
        </a:graphic>
      </p:graphicFrame>
      <p:graphicFrame>
        <p:nvGraphicFramePr>
          <p:cNvPr id="61494" name="对象 6"/>
          <p:cNvGraphicFramePr>
            <a:graphicFrameLocks noChangeAspect="1"/>
          </p:cNvGraphicFramePr>
          <p:nvPr/>
        </p:nvGraphicFramePr>
        <p:xfrm>
          <a:off x="5146675" y="2743200"/>
          <a:ext cx="490538" cy="376238"/>
        </p:xfrm>
        <a:graphic>
          <a:graphicData uri="http://schemas.openxmlformats.org/presentationml/2006/ole">
            <mc:AlternateContent xmlns:mc="http://schemas.openxmlformats.org/markup-compatibility/2006">
              <mc:Choice xmlns:v="urn:schemas-microsoft-com:vml" Requires="v">
                <p:oleObj spid="_x0000_s10260" r:id="rId5" imgW="192405" imgH="167005" progId="Equation.DSMT4">
                  <p:embed/>
                </p:oleObj>
              </mc:Choice>
              <mc:Fallback>
                <p:oleObj r:id="rId5" imgW="192405" imgH="167005" progId="Equation.DSMT4">
                  <p:embed/>
                  <p:pic>
                    <p:nvPicPr>
                      <p:cNvPr id="0" name="图片 3085"/>
                      <p:cNvPicPr/>
                      <p:nvPr/>
                    </p:nvPicPr>
                    <p:blipFill>
                      <a:blip r:embed="rId6"/>
                      <a:stretch>
                        <a:fillRect/>
                      </a:stretch>
                    </p:blipFill>
                    <p:spPr>
                      <a:xfrm>
                        <a:off x="5146675" y="2743200"/>
                        <a:ext cx="490538" cy="376238"/>
                      </a:xfrm>
                      <a:prstGeom prst="rect">
                        <a:avLst/>
                      </a:prstGeom>
                      <a:solidFill>
                        <a:schemeClr val="tx1"/>
                      </a:solidFill>
                      <a:ln w="38100">
                        <a:noFill/>
                        <a:miter/>
                      </a:ln>
                    </p:spPr>
                  </p:pic>
                </p:oleObj>
              </mc:Fallback>
            </mc:AlternateContent>
          </a:graphicData>
        </a:graphic>
      </p:graphicFrame>
    </p:spTree>
  </p:cSld>
  <p:clrMapOvr>
    <a:masterClrMapping/>
  </p:clrMapOvr>
  <p:transition spd="med">
    <p:random/>
  </p:transition>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2465" name="内容占位符 2"/>
          <p:cNvSpPr>
            <a:spLocks noGrp="1"/>
          </p:cNvSpPr>
          <p:nvPr>
            <p:ph/>
          </p:nvPr>
        </p:nvSpPr>
        <p:spPr>
          <a:xfrm>
            <a:off x="315913" y="1504950"/>
            <a:ext cx="8197850" cy="4814888"/>
          </a:xfrm>
          <a:prstGeom prst="rect">
            <a:avLst/>
          </a:prstGeom>
          <a:noFill/>
          <a:ln w="9525">
            <a:noFill/>
          </a:ln>
        </p:spPr>
        <p:txBody>
          <a:bodyPr wrap="square" lIns="92075" tIns="46038" rIns="92075" bIns="46038" anchor="t" anchorCtr="0"/>
          <a:lstStyle/>
          <a:p>
            <a:pPr marL="457200" lvl="1" indent="0" algn="just">
              <a:buNone/>
            </a:pPr>
            <a:r>
              <a:rPr lang="zh-CN" altLang="zh-CN" dirty="0"/>
              <a:t>（</a:t>
            </a:r>
            <a:r>
              <a:rPr lang="en-US" altLang="zh-CN" dirty="0"/>
              <a:t>1</a:t>
            </a:r>
            <a:r>
              <a:rPr lang="zh-CN" altLang="zh-CN" dirty="0"/>
              <a:t>）读出方式。在</a:t>
            </a:r>
            <a:r>
              <a:rPr lang="en-US" altLang="zh-CN" dirty="0"/>
              <a:t> </a:t>
            </a:r>
            <a:r>
              <a:rPr lang="zh-CN" altLang="zh-CN" dirty="0"/>
              <a:t>＝</a:t>
            </a:r>
            <a:r>
              <a:rPr lang="en-US" altLang="zh-CN" dirty="0"/>
              <a:t>0</a:t>
            </a:r>
            <a:r>
              <a:rPr lang="zh-CN" altLang="zh-CN" dirty="0"/>
              <a:t>时，此方式可以将选中存储单元的内容读出。 </a:t>
            </a:r>
          </a:p>
          <a:p>
            <a:pPr marL="457200" lvl="1" indent="0" algn="just">
              <a:buNone/>
            </a:pPr>
            <a:r>
              <a:rPr lang="zh-CN" altLang="zh-CN" dirty="0"/>
              <a:t>（</a:t>
            </a:r>
            <a:r>
              <a:rPr lang="en-US" altLang="zh-CN" dirty="0"/>
              <a:t>2</a:t>
            </a:r>
            <a:r>
              <a:rPr lang="zh-CN" altLang="zh-CN" dirty="0"/>
              <a:t>）未选中方式。当</a:t>
            </a:r>
            <a:r>
              <a:rPr lang="en-US" altLang="zh-CN" dirty="0"/>
              <a:t> </a:t>
            </a:r>
            <a:r>
              <a:rPr lang="zh-CN" altLang="zh-CN" dirty="0"/>
              <a:t>＝</a:t>
            </a:r>
            <a:r>
              <a:rPr lang="en-US" altLang="zh-CN" dirty="0"/>
              <a:t>l</a:t>
            </a:r>
            <a:r>
              <a:rPr lang="zh-CN" altLang="zh-CN" dirty="0"/>
              <a:t>时，不论</a:t>
            </a:r>
            <a:r>
              <a:rPr lang="en-US" altLang="zh-CN" dirty="0"/>
              <a:t>PGM</a:t>
            </a:r>
            <a:r>
              <a:rPr lang="zh-CN" altLang="zh-CN" dirty="0"/>
              <a:t>的状态如何，</a:t>
            </a:r>
            <a:r>
              <a:rPr lang="en-US" altLang="zh-CN" dirty="0"/>
              <a:t>2716</a:t>
            </a:r>
            <a:r>
              <a:rPr lang="zh-CN" altLang="zh-CN" dirty="0"/>
              <a:t>均未被选中，数据线呈高阻抗。</a:t>
            </a:r>
          </a:p>
          <a:p>
            <a:pPr marL="457200" lvl="1" indent="0" algn="just">
              <a:buNone/>
            </a:pPr>
            <a:r>
              <a:rPr lang="zh-CN" altLang="zh-CN" dirty="0"/>
              <a:t>（</a:t>
            </a:r>
            <a:r>
              <a:rPr lang="en-US" altLang="zh-CN" dirty="0"/>
              <a:t>3</a:t>
            </a:r>
            <a:r>
              <a:rPr lang="zh-CN" altLang="zh-CN" dirty="0"/>
              <a:t>）待机（备用）方式。当</a:t>
            </a:r>
            <a:r>
              <a:rPr lang="en-US" altLang="zh-CN" dirty="0"/>
              <a:t> /PGM</a:t>
            </a:r>
            <a:r>
              <a:rPr lang="zh-CN" altLang="zh-CN" dirty="0"/>
              <a:t>＝</a:t>
            </a:r>
            <a:r>
              <a:rPr lang="en-US" altLang="zh-CN" dirty="0"/>
              <a:t>1</a:t>
            </a:r>
            <a:r>
              <a:rPr lang="zh-CN" altLang="zh-CN" dirty="0"/>
              <a:t>时，</a:t>
            </a:r>
            <a:r>
              <a:rPr lang="en-US" altLang="zh-CN" dirty="0"/>
              <a:t>2716</a:t>
            </a:r>
            <a:r>
              <a:rPr lang="zh-CN" altLang="zh-CN" dirty="0"/>
              <a:t>处于待机方式。这种方式和未选中方式类似，但其功耗由</a:t>
            </a:r>
            <a:r>
              <a:rPr lang="en-US" altLang="zh-CN" dirty="0"/>
              <a:t>525mW</a:t>
            </a:r>
            <a:r>
              <a:rPr lang="zh-CN" altLang="zh-CN" dirty="0"/>
              <a:t>下降到</a:t>
            </a:r>
            <a:r>
              <a:rPr lang="en-US" altLang="zh-CN" dirty="0"/>
              <a:t>132mW</a:t>
            </a:r>
            <a:r>
              <a:rPr lang="zh-CN" altLang="zh-CN" dirty="0"/>
              <a:t>，下降了</a:t>
            </a:r>
            <a:r>
              <a:rPr lang="en-US" altLang="zh-CN" dirty="0"/>
              <a:t>75%</a:t>
            </a:r>
            <a:r>
              <a:rPr lang="zh-CN" altLang="zh-CN" dirty="0"/>
              <a:t>，所以又称为功率下降方式。这时数据线呈高阻抗。</a:t>
            </a:r>
            <a:r>
              <a:rPr lang="en-US" altLang="zh-CN" dirty="0"/>
              <a:t> </a:t>
            </a:r>
            <a:endParaRPr lang="zh-CN" altLang="zh-CN" dirty="0"/>
          </a:p>
        </p:txBody>
      </p:sp>
    </p:spTree>
  </p:cSld>
  <p:clrMapOvr>
    <a:masterClrMapping/>
  </p:clrMapOvr>
  <p:transition spd="med">
    <p:random/>
  </p:transition>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00050" y="1362075"/>
            <a:ext cx="8197850" cy="5262563"/>
          </a:xfrm>
          <a:prstGeom prst="rect">
            <a:avLst/>
          </a:prstGeom>
          <a:ln w="9525" cap="flat" cmpd="sng" algn="ctr">
            <a:noFill/>
            <a:prstDash val="solid"/>
            <a:miter/>
          </a:ln>
        </p:spPr>
        <p:txBody>
          <a:bodyPr vert="horz" wrap="square" lIns="92075" tIns="46038" rIns="92075" bIns="46038" numCol="1" anchor="t" anchorCtr="0" compatLnSpc="1"/>
          <a:lstStyle/>
          <a:p>
            <a:pPr marL="457200" marR="0" lvl="1" indent="0" algn="just" defTabSz="914400" rtl="0" eaLnBrk="0" fontAlgn="base" latinLnBrk="0" hangingPunct="0">
              <a:lnSpc>
                <a:spcPct val="100000"/>
              </a:lnSpc>
              <a:spcBef>
                <a:spcPct val="20000"/>
              </a:spcBef>
              <a:spcAft>
                <a:spcPct val="0"/>
              </a:spcAft>
              <a:buClr>
                <a:schemeClr val="accent2"/>
              </a:buClr>
              <a:buSzPct val="85000"/>
              <a:buFont typeface="Wingdings" panose="05000000000000000000" pitchFamily="2" charset="2"/>
              <a:buNone/>
              <a:defRPr/>
            </a:pPr>
            <a:r>
              <a:rPr kumimoji="1" lang="zh-CN" altLang="zh-CN" sz="2400" b="1" i="0" u="none" strike="noStrike" kern="0" cap="none" spc="0" normalizeH="0" baseline="0" noProof="0" dirty="0">
                <a:ln>
                  <a:noFill/>
                </a:ln>
                <a:solidFill>
                  <a:schemeClr val="tx1"/>
                </a:solidFill>
                <a:effectLst/>
                <a:uLnTx/>
                <a:uFillTx/>
                <a:latin typeface="+mn-lt"/>
                <a:ea typeface="+mn-ea"/>
                <a:cs typeface="+mn-ea"/>
              </a:rPr>
              <a:t>（</a:t>
            </a:r>
            <a:r>
              <a:rPr kumimoji="1" lang="en-US" altLang="zh-CN" sz="2400" b="1" i="0" u="none" strike="noStrike" kern="0" cap="none" spc="0" normalizeH="0" baseline="0" noProof="0" dirty="0">
                <a:ln>
                  <a:noFill/>
                </a:ln>
                <a:solidFill>
                  <a:schemeClr val="tx1"/>
                </a:solidFill>
                <a:effectLst/>
                <a:uLnTx/>
                <a:uFillTx/>
                <a:latin typeface="+mn-lt"/>
                <a:ea typeface="+mn-ea"/>
                <a:cs typeface="+mn-ea"/>
              </a:rPr>
              <a:t>4</a:t>
            </a:r>
            <a:r>
              <a:rPr kumimoji="1" lang="zh-CN" altLang="zh-CN" sz="2400" b="1" i="0" u="none" strike="noStrike" kern="0" cap="none" spc="0" normalizeH="0" baseline="0" noProof="0" dirty="0">
                <a:ln>
                  <a:noFill/>
                </a:ln>
                <a:solidFill>
                  <a:schemeClr val="tx1"/>
                </a:solidFill>
                <a:effectLst/>
                <a:uLnTx/>
                <a:uFillTx/>
                <a:latin typeface="+mn-lt"/>
                <a:ea typeface="+mn-ea"/>
                <a:cs typeface="+mn-ea"/>
              </a:rPr>
              <a:t>）编程方式。当</a:t>
            </a:r>
            <a:r>
              <a:rPr kumimoji="1" lang="en-US" altLang="zh-CN" sz="2400" b="1" i="0" u="none" strike="noStrike" kern="0" cap="none" spc="0" normalizeH="0" baseline="0" noProof="0" dirty="0">
                <a:ln>
                  <a:noFill/>
                </a:ln>
                <a:solidFill>
                  <a:schemeClr val="tx1"/>
                </a:solidFill>
                <a:effectLst/>
                <a:uLnTx/>
                <a:uFillTx/>
                <a:latin typeface="+mn-lt"/>
                <a:ea typeface="+mn-ea"/>
                <a:cs typeface="+mn-ea"/>
              </a:rPr>
              <a:t>V</a:t>
            </a:r>
            <a:r>
              <a:rPr kumimoji="1" lang="en-US" altLang="zh-CN" sz="2400" b="1" i="0" u="none" strike="noStrike" kern="0" cap="none" spc="0" normalizeH="0" baseline="-25000" noProof="0" dirty="0">
                <a:ln>
                  <a:noFill/>
                </a:ln>
                <a:solidFill>
                  <a:schemeClr val="tx1"/>
                </a:solidFill>
                <a:effectLst/>
                <a:uLnTx/>
                <a:uFillTx/>
                <a:latin typeface="+mn-lt"/>
                <a:ea typeface="+mn-ea"/>
                <a:cs typeface="+mn-ea"/>
              </a:rPr>
              <a:t>PP</a:t>
            </a:r>
            <a:r>
              <a:rPr kumimoji="1" lang="zh-CN" altLang="zh-CN" sz="2400" b="1" i="0" u="none" strike="noStrike" kern="0" cap="none" spc="0" normalizeH="0" baseline="0" noProof="0" dirty="0">
                <a:ln>
                  <a:noFill/>
                </a:ln>
                <a:solidFill>
                  <a:schemeClr val="tx1"/>
                </a:solidFill>
                <a:effectLst/>
                <a:uLnTx/>
                <a:uFillTx/>
                <a:latin typeface="+mn-lt"/>
                <a:ea typeface="+mn-ea"/>
                <a:cs typeface="+mn-ea"/>
              </a:rPr>
              <a:t>＝</a:t>
            </a:r>
            <a:r>
              <a:rPr kumimoji="1" lang="en-US" altLang="zh-CN" sz="2400" b="1" i="0" u="none" strike="noStrike" kern="0" cap="none" spc="0" normalizeH="0" baseline="0" noProof="0" dirty="0">
                <a:ln>
                  <a:noFill/>
                </a:ln>
                <a:solidFill>
                  <a:schemeClr val="tx1"/>
                </a:solidFill>
                <a:effectLst/>
                <a:uLnTx/>
                <a:uFillTx/>
                <a:latin typeface="+mn-lt"/>
                <a:ea typeface="+mn-ea"/>
                <a:cs typeface="+mn-ea"/>
              </a:rPr>
              <a:t>+25V</a:t>
            </a:r>
            <a:r>
              <a:rPr kumimoji="1" lang="zh-CN" altLang="zh-CN" sz="2400" b="1" i="0" u="none" strike="noStrike" kern="0" cap="none" spc="0" normalizeH="0" baseline="0" noProof="0" dirty="0">
                <a:ln>
                  <a:noFill/>
                </a:ln>
                <a:solidFill>
                  <a:schemeClr val="tx1"/>
                </a:solidFill>
                <a:effectLst/>
                <a:uLnTx/>
                <a:uFillTx/>
                <a:latin typeface="+mn-lt"/>
                <a:ea typeface="+mn-ea"/>
                <a:cs typeface="+mn-ea"/>
              </a:rPr>
              <a:t>，在</a:t>
            </a:r>
            <a:r>
              <a:rPr kumimoji="1" lang="en-US" altLang="zh-CN" sz="2400" b="1" i="0" u="none" strike="noStrike" kern="0" cap="none" spc="0" normalizeH="0" baseline="0" noProof="0" dirty="0">
                <a:ln>
                  <a:noFill/>
                </a:ln>
                <a:solidFill>
                  <a:schemeClr val="tx1"/>
                </a:solidFill>
                <a:effectLst/>
                <a:uLnTx/>
                <a:uFillTx/>
                <a:latin typeface="+mn-lt"/>
                <a:ea typeface="+mn-ea"/>
                <a:cs typeface="+mn-ea"/>
              </a:rPr>
              <a:t> /PGM</a:t>
            </a:r>
            <a:r>
              <a:rPr kumimoji="1" lang="zh-CN" altLang="zh-CN" sz="2400" b="1" i="0" u="none" strike="noStrike" kern="0" cap="none" spc="0" normalizeH="0" baseline="0" noProof="0" dirty="0">
                <a:ln>
                  <a:noFill/>
                </a:ln>
                <a:solidFill>
                  <a:schemeClr val="tx1"/>
                </a:solidFill>
                <a:effectLst/>
                <a:uLnTx/>
                <a:uFillTx/>
                <a:latin typeface="+mn-lt"/>
                <a:ea typeface="+mn-ea"/>
                <a:cs typeface="+mn-ea"/>
              </a:rPr>
              <a:t>端加上约</a:t>
            </a:r>
            <a:r>
              <a:rPr kumimoji="1" lang="en-US" altLang="zh-CN" sz="2400" b="1" i="0" u="none" strike="noStrike" kern="0" cap="none" spc="0" normalizeH="0" baseline="0" noProof="0" dirty="0">
                <a:ln>
                  <a:noFill/>
                </a:ln>
                <a:solidFill>
                  <a:schemeClr val="tx1"/>
                </a:solidFill>
                <a:effectLst/>
                <a:uLnTx/>
                <a:uFillTx/>
                <a:latin typeface="+mn-lt"/>
                <a:ea typeface="+mn-ea"/>
                <a:cs typeface="+mn-ea"/>
              </a:rPr>
              <a:t>50ms</a:t>
            </a:r>
            <a:r>
              <a:rPr kumimoji="1" lang="zh-CN" altLang="zh-CN" sz="2400" b="1" i="0" u="none" strike="noStrike" kern="0" cap="none" spc="0" normalizeH="0" baseline="0" noProof="0" dirty="0">
                <a:ln>
                  <a:noFill/>
                </a:ln>
                <a:solidFill>
                  <a:schemeClr val="tx1"/>
                </a:solidFill>
                <a:effectLst/>
                <a:uLnTx/>
                <a:uFillTx/>
                <a:latin typeface="+mn-lt"/>
                <a:ea typeface="+mn-ea"/>
                <a:cs typeface="+mn-ea"/>
              </a:rPr>
              <a:t>宽的正脉冲时，可以将数据线上的信息写入指定的地址单元。数据线为输入状态。</a:t>
            </a:r>
            <a:endParaRPr kumimoji="1" lang="zh-CN" altLang="en-US" sz="2400" b="1" i="0" u="none" strike="noStrike" kern="0" cap="none" spc="0" normalizeH="0" baseline="0" noProof="0" dirty="0">
              <a:ln>
                <a:noFill/>
              </a:ln>
              <a:solidFill>
                <a:schemeClr val="tx1"/>
              </a:solidFill>
              <a:effectLst/>
              <a:uLnTx/>
              <a:uFillTx/>
              <a:latin typeface="+mn-lt"/>
              <a:ea typeface="+mn-ea"/>
              <a:cs typeface="+mn-ea"/>
            </a:endParaRPr>
          </a:p>
          <a:p>
            <a:pPr marL="1143000" marR="0" lvl="2" indent="-228600" algn="just" defTabSz="914400" rtl="0" eaLnBrk="0" fontAlgn="base" latinLnBrk="0" hangingPunct="0">
              <a:lnSpc>
                <a:spcPct val="100000"/>
              </a:lnSpc>
              <a:spcBef>
                <a:spcPct val="20000"/>
              </a:spcBef>
              <a:spcAft>
                <a:spcPct val="0"/>
              </a:spcAft>
              <a:buClr>
                <a:schemeClr val="accent2"/>
              </a:buClr>
              <a:buSzPct val="80000"/>
              <a:buFont typeface="Wingdings" panose="05000000000000000000" pitchFamily="2" charset="2"/>
              <a:buChar char="v"/>
              <a:defRPr/>
            </a:pPr>
            <a:r>
              <a:rPr kumimoji="1" lang="zh-CN" altLang="zh-CN" sz="2000" b="1" i="0" u="none" strike="noStrike" kern="0" cap="none" spc="0" normalizeH="0" baseline="0" noProof="0" dirty="0">
                <a:ln>
                  <a:noFill/>
                </a:ln>
                <a:solidFill>
                  <a:schemeClr val="tx1"/>
                </a:solidFill>
                <a:effectLst/>
                <a:uLnTx/>
                <a:uFillTx/>
                <a:latin typeface="+mn-lt"/>
                <a:ea typeface="+mn-ea"/>
                <a:cs typeface="+mn-ea"/>
              </a:rPr>
              <a:t>一种是标准编程。</a:t>
            </a:r>
            <a:endParaRPr kumimoji="1" lang="en-US" altLang="zh-CN" sz="2000" b="1" i="0" u="none" strike="noStrike" kern="0" cap="none" spc="0" normalizeH="0" baseline="0" noProof="0" dirty="0">
              <a:ln>
                <a:noFill/>
              </a:ln>
              <a:solidFill>
                <a:schemeClr val="tx1"/>
              </a:solidFill>
              <a:effectLst/>
              <a:uLnTx/>
              <a:uFillTx/>
              <a:latin typeface="+mn-lt"/>
              <a:ea typeface="+mn-ea"/>
              <a:cs typeface="+mn-ea"/>
            </a:endParaRPr>
          </a:p>
          <a:p>
            <a:pPr marL="914400" marR="0" lvl="2" indent="0" algn="just" defTabSz="914400" rtl="0" eaLnBrk="0" fontAlgn="base" latinLnBrk="0" hangingPunct="0">
              <a:lnSpc>
                <a:spcPct val="100000"/>
              </a:lnSpc>
              <a:spcBef>
                <a:spcPct val="20000"/>
              </a:spcBef>
              <a:spcAft>
                <a:spcPct val="0"/>
              </a:spcAft>
              <a:buClr>
                <a:schemeClr val="accent2"/>
              </a:buClr>
              <a:buSzPct val="80000"/>
              <a:buFont typeface="Wingdings" panose="05000000000000000000" pitchFamily="2" charset="2"/>
              <a:buNone/>
              <a:defRPr/>
            </a:pPr>
            <a:r>
              <a:rPr kumimoji="1" lang="zh-CN" altLang="zh-CN" sz="2000" b="1" i="0" u="none" strike="noStrike" kern="0" cap="none" spc="0" normalizeH="0" baseline="0" noProof="0" dirty="0">
                <a:ln>
                  <a:noFill/>
                </a:ln>
                <a:solidFill>
                  <a:schemeClr val="tx1"/>
                </a:solidFill>
                <a:effectLst/>
                <a:uLnTx/>
                <a:uFillTx/>
                <a:latin typeface="+mn-lt"/>
                <a:ea typeface="+mn-ea"/>
                <a:cs typeface="+mn-ea"/>
              </a:rPr>
              <a:t>对双极型电路小容量芯片，如</a:t>
            </a:r>
            <a:r>
              <a:rPr kumimoji="1" lang="en-US" altLang="zh-CN" sz="2000" b="1" i="0" u="none" strike="noStrike" kern="0" cap="none" spc="0" normalizeH="0" baseline="0" noProof="0" dirty="0">
                <a:ln>
                  <a:noFill/>
                </a:ln>
                <a:solidFill>
                  <a:schemeClr val="tx1"/>
                </a:solidFill>
                <a:effectLst/>
                <a:uLnTx/>
                <a:uFillTx/>
                <a:latin typeface="+mn-lt"/>
                <a:ea typeface="+mn-ea"/>
                <a:cs typeface="+mn-ea"/>
              </a:rPr>
              <a:t>2716</a:t>
            </a:r>
            <a:r>
              <a:rPr kumimoji="1" lang="zh-CN" altLang="zh-CN" sz="2000" b="1" i="0" u="none" strike="noStrike" kern="0" cap="none" spc="0" normalizeH="0" baseline="0" noProof="0" dirty="0">
                <a:ln>
                  <a:noFill/>
                </a:ln>
                <a:solidFill>
                  <a:schemeClr val="tx1"/>
                </a:solidFill>
                <a:effectLst/>
                <a:uLnTx/>
                <a:uFillTx/>
                <a:latin typeface="+mn-lt"/>
                <a:ea typeface="+mn-ea"/>
                <a:cs typeface="+mn-ea"/>
              </a:rPr>
              <a:t>，</a:t>
            </a:r>
            <a:r>
              <a:rPr kumimoji="1" lang="en-US" altLang="zh-CN" sz="2000" b="1" i="0" u="none" strike="noStrike" kern="0" cap="none" spc="0" normalizeH="0" baseline="0" noProof="0" dirty="0">
                <a:ln>
                  <a:noFill/>
                </a:ln>
                <a:solidFill>
                  <a:schemeClr val="tx1"/>
                </a:solidFill>
                <a:effectLst/>
                <a:uLnTx/>
                <a:uFillTx/>
                <a:latin typeface="+mn-lt"/>
                <a:ea typeface="+mn-ea"/>
                <a:cs typeface="+mn-ea"/>
              </a:rPr>
              <a:t>2764</a:t>
            </a:r>
            <a:r>
              <a:rPr kumimoji="1" lang="zh-CN" altLang="zh-CN" sz="2000" b="1" i="0" u="none" strike="noStrike" kern="0" cap="none" spc="0" normalizeH="0" baseline="0" noProof="0" dirty="0">
                <a:ln>
                  <a:noFill/>
                </a:ln>
                <a:solidFill>
                  <a:schemeClr val="tx1"/>
                </a:solidFill>
                <a:effectLst/>
                <a:uLnTx/>
                <a:uFillTx/>
                <a:latin typeface="+mn-lt"/>
                <a:ea typeface="+mn-ea"/>
                <a:cs typeface="+mn-ea"/>
              </a:rPr>
              <a:t>等，采用标准的</a:t>
            </a:r>
            <a:r>
              <a:rPr kumimoji="1" lang="en-US" altLang="zh-CN" sz="2000" b="1" i="0" u="none" strike="noStrike" kern="0" cap="none" spc="0" normalizeH="0" baseline="0" noProof="0" dirty="0">
                <a:ln>
                  <a:noFill/>
                </a:ln>
                <a:solidFill>
                  <a:schemeClr val="tx1"/>
                </a:solidFill>
                <a:effectLst/>
                <a:uLnTx/>
                <a:uFillTx/>
                <a:latin typeface="+mn-lt"/>
                <a:ea typeface="+mn-ea"/>
                <a:cs typeface="+mn-ea"/>
              </a:rPr>
              <a:t>50ms</a:t>
            </a:r>
            <a:r>
              <a:rPr kumimoji="1" lang="zh-CN" altLang="zh-CN" sz="2000" b="1" i="0" u="none" strike="noStrike" kern="0" cap="none" spc="0" normalizeH="0" baseline="0" noProof="0" dirty="0">
                <a:ln>
                  <a:noFill/>
                </a:ln>
                <a:solidFill>
                  <a:schemeClr val="tx1"/>
                </a:solidFill>
                <a:effectLst/>
                <a:uLnTx/>
                <a:uFillTx/>
                <a:latin typeface="+mn-lt"/>
                <a:ea typeface="+mn-ea"/>
                <a:cs typeface="+mn-ea"/>
              </a:rPr>
              <a:t>脉冲宽度，即采用标准编程。标准编程方式就是每给出一个编程负脉冲就写入一个字节的数据。针对本芯片，编程方式即以上给出的方式。</a:t>
            </a:r>
            <a:endParaRPr kumimoji="1" lang="en-US" altLang="zh-CN" sz="2000" b="1" i="0" u="none" strike="noStrike" kern="0" cap="none" spc="0" normalizeH="0" baseline="0" noProof="0" dirty="0">
              <a:ln>
                <a:noFill/>
              </a:ln>
              <a:solidFill>
                <a:schemeClr val="tx1"/>
              </a:solidFill>
              <a:effectLst/>
              <a:uLnTx/>
              <a:uFillTx/>
              <a:latin typeface="+mn-lt"/>
              <a:ea typeface="+mn-ea"/>
              <a:cs typeface="+mn-ea"/>
            </a:endParaRPr>
          </a:p>
          <a:p>
            <a:pPr marL="1143000" marR="0" lvl="2" indent="-228600" algn="just" defTabSz="914400" rtl="0" eaLnBrk="0" fontAlgn="base" latinLnBrk="0" hangingPunct="0">
              <a:lnSpc>
                <a:spcPct val="100000"/>
              </a:lnSpc>
              <a:spcBef>
                <a:spcPct val="20000"/>
              </a:spcBef>
              <a:spcAft>
                <a:spcPct val="0"/>
              </a:spcAft>
              <a:buClr>
                <a:schemeClr val="accent2"/>
              </a:buClr>
              <a:buSzPct val="80000"/>
              <a:buFont typeface="Wingdings" panose="05000000000000000000" pitchFamily="2" charset="2"/>
              <a:buChar char="v"/>
              <a:defRPr/>
            </a:pPr>
            <a:r>
              <a:rPr kumimoji="1" lang="zh-CN" altLang="zh-CN" sz="2000" b="1" i="0" u="none" strike="noStrike" kern="0" cap="none" spc="0" normalizeH="0" baseline="0" noProof="0" dirty="0">
                <a:ln>
                  <a:noFill/>
                </a:ln>
                <a:solidFill>
                  <a:schemeClr val="tx1"/>
                </a:solidFill>
                <a:effectLst/>
                <a:uLnTx/>
                <a:uFillTx/>
                <a:latin typeface="+mn-lt"/>
                <a:ea typeface="+mn-ea"/>
                <a:cs typeface="+mn-ea"/>
              </a:rPr>
              <a:t>另一种是快速编程方式。快速编程方式与标准编程的工作过程一样，只是编程脉冲要窄得多。</a:t>
            </a:r>
            <a:endParaRPr kumimoji="1" lang="en-US" altLang="zh-CN" sz="2000" b="1" i="0" u="none" strike="noStrike" kern="0" cap="none" spc="0" normalizeH="0" baseline="0" noProof="0" dirty="0">
              <a:ln>
                <a:noFill/>
              </a:ln>
              <a:solidFill>
                <a:schemeClr val="tx1"/>
              </a:solidFill>
              <a:effectLst/>
              <a:uLnTx/>
              <a:uFillTx/>
              <a:latin typeface="+mn-lt"/>
              <a:ea typeface="+mn-ea"/>
              <a:cs typeface="+mn-ea"/>
            </a:endParaRPr>
          </a:p>
          <a:p>
            <a:pPr marL="914400" marR="0" lvl="2" indent="0" algn="just" defTabSz="914400" rtl="0" eaLnBrk="0" fontAlgn="base" latinLnBrk="0" hangingPunct="0">
              <a:lnSpc>
                <a:spcPct val="100000"/>
              </a:lnSpc>
              <a:spcBef>
                <a:spcPct val="20000"/>
              </a:spcBef>
              <a:spcAft>
                <a:spcPct val="0"/>
              </a:spcAft>
              <a:buClr>
                <a:schemeClr val="accent2"/>
              </a:buClr>
              <a:buSzPct val="80000"/>
              <a:buFont typeface="Wingdings" panose="05000000000000000000" pitchFamily="2" charset="2"/>
              <a:buNone/>
              <a:defRPr/>
            </a:pPr>
            <a:r>
              <a:rPr kumimoji="1" lang="zh-CN" altLang="zh-CN" sz="2000" b="1" i="0" u="none" strike="noStrike" kern="0" cap="none" spc="0" normalizeH="0" baseline="0" noProof="0" dirty="0">
                <a:ln>
                  <a:noFill/>
                </a:ln>
                <a:solidFill>
                  <a:schemeClr val="tx1"/>
                </a:solidFill>
                <a:effectLst/>
                <a:uLnTx/>
                <a:uFillTx/>
                <a:latin typeface="+mn-lt"/>
                <a:ea typeface="+mn-ea"/>
                <a:cs typeface="+mn-ea"/>
              </a:rPr>
              <a:t>先用</a:t>
            </a:r>
            <a:r>
              <a:rPr kumimoji="1" lang="en-US" altLang="zh-CN" sz="2000" b="1" i="0" u="none" strike="noStrike" kern="0" cap="none" spc="0" normalizeH="0" baseline="0" noProof="0" dirty="0">
                <a:ln>
                  <a:noFill/>
                </a:ln>
                <a:solidFill>
                  <a:schemeClr val="tx1"/>
                </a:solidFill>
                <a:effectLst/>
                <a:uLnTx/>
                <a:uFillTx/>
                <a:latin typeface="+mn-lt"/>
                <a:ea typeface="+mn-ea"/>
                <a:cs typeface="+mn-ea"/>
              </a:rPr>
              <a:t>100µs</a:t>
            </a:r>
            <a:r>
              <a:rPr kumimoji="1" lang="zh-CN" altLang="zh-CN" sz="2000" b="1" i="0" u="none" strike="noStrike" kern="0" cap="none" spc="0" normalizeH="0" baseline="0" noProof="0" dirty="0">
                <a:ln>
                  <a:noFill/>
                </a:ln>
                <a:solidFill>
                  <a:schemeClr val="tx1"/>
                </a:solidFill>
                <a:effectLst/>
                <a:uLnTx/>
                <a:uFillTx/>
                <a:latin typeface="+mn-lt"/>
                <a:ea typeface="+mn-ea"/>
                <a:cs typeface="+mn-ea"/>
              </a:rPr>
              <a:t>的编程脉冲依次写完所有要编程的单元，然后再从头校验每个所写入的字节。若不正确，则重新写入此单元。写完后再校验，直至写入正确。若连续</a:t>
            </a:r>
            <a:r>
              <a:rPr kumimoji="1" lang="en-US" altLang="zh-CN" sz="2000" b="1" i="0" u="none" strike="noStrike" kern="0" cap="none" spc="0" normalizeH="0" baseline="0" noProof="0" dirty="0">
                <a:ln>
                  <a:noFill/>
                </a:ln>
                <a:solidFill>
                  <a:schemeClr val="tx1"/>
                </a:solidFill>
                <a:effectLst/>
                <a:uLnTx/>
                <a:uFillTx/>
                <a:latin typeface="+mn-lt"/>
                <a:ea typeface="+mn-ea"/>
                <a:cs typeface="+mn-ea"/>
              </a:rPr>
              <a:t>10</a:t>
            </a:r>
            <a:r>
              <a:rPr kumimoji="1" lang="zh-CN" altLang="zh-CN" sz="2000" b="1" i="0" u="none" strike="noStrike" kern="0" cap="none" spc="0" normalizeH="0" baseline="0" noProof="0" dirty="0">
                <a:ln>
                  <a:noFill/>
                </a:ln>
                <a:solidFill>
                  <a:schemeClr val="tx1"/>
                </a:solidFill>
                <a:effectLst/>
                <a:uLnTx/>
                <a:uFillTx/>
                <a:latin typeface="+mn-lt"/>
                <a:ea typeface="+mn-ea"/>
                <a:cs typeface="+mn-ea"/>
              </a:rPr>
              <a:t>次仍不能正确写入，则认为芯片已损坏。最后再从头到尾对每一个编程单元校验一遍，全部正确，则编程完成。</a:t>
            </a:r>
            <a:endParaRPr kumimoji="1" lang="zh-CN" altLang="en-US" sz="2000" b="1" i="0" u="none" strike="noStrike" kern="0" cap="none" spc="0" normalizeH="0" baseline="0" noProof="0" dirty="0">
              <a:ln>
                <a:noFill/>
              </a:ln>
              <a:solidFill>
                <a:schemeClr val="tx1"/>
              </a:solidFill>
              <a:effectLst/>
              <a:uLnTx/>
              <a:uFillTx/>
              <a:latin typeface="+mn-lt"/>
              <a:ea typeface="+mn-ea"/>
              <a:cs typeface="+mn-ea"/>
            </a:endParaRPr>
          </a:p>
        </p:txBody>
      </p:sp>
    </p:spTree>
  </p:cSld>
  <p:clrMapOvr>
    <a:masterClrMapping/>
  </p:clrMapOvr>
  <p:transition spd="med">
    <p:random/>
  </p:transition>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1441" name="内容占位符 2"/>
          <p:cNvSpPr>
            <a:spLocks noGrp="1"/>
          </p:cNvSpPr>
          <p:nvPr>
            <p:ph idx="4294967295"/>
          </p:nvPr>
        </p:nvSpPr>
        <p:spPr>
          <a:xfrm>
            <a:off x="501650" y="1455738"/>
            <a:ext cx="8197850" cy="4814888"/>
          </a:xfrm>
          <a:prstGeom prst="rect">
            <a:avLst/>
          </a:prstGeom>
          <a:noFill/>
          <a:ln w="9525" cap="flat" cmpd="sng" algn="ctr">
            <a:noFill/>
            <a:prstDash val="solid"/>
            <a:miter/>
          </a:ln>
        </p:spPr>
        <p:txBody>
          <a:bodyPr wrap="square" lIns="92075" tIns="46038" rIns="92075" bIns="46038" anchor="t"/>
          <a:lstStyle/>
          <a:p>
            <a:pPr marL="457200" marR="0" lvl="1" indent="0" algn="just" defTabSz="914400" rtl="0" eaLnBrk="0" fontAlgn="base" latinLnBrk="0" hangingPunct="0">
              <a:lnSpc>
                <a:spcPct val="100000"/>
              </a:lnSpc>
              <a:spcBef>
                <a:spcPct val="20000"/>
              </a:spcBef>
              <a:spcAft>
                <a:spcPct val="0"/>
              </a:spcAft>
              <a:buClr>
                <a:schemeClr val="accent2"/>
              </a:buClr>
              <a:buSzPct val="85000"/>
              <a:buFont typeface="Wingdings" panose="05000000000000000000" pitchFamily="2" charset="2"/>
              <a:buNone/>
            </a:pPr>
            <a:r>
              <a:rPr kumimoji="1" lang="zh-CN" altLang="zh-CN" sz="2400" b="1" i="0" u="none" strike="noStrike" kern="0" cap="none" spc="0" normalizeH="0" baseline="0" noProof="1">
                <a:solidFill>
                  <a:schemeClr val="tx1"/>
                </a:solidFill>
                <a:latin typeface="+mn-lt"/>
                <a:ea typeface="+mn-ea"/>
                <a:cs typeface="+mn-ea"/>
              </a:rPr>
              <a:t>（</a:t>
            </a:r>
            <a:r>
              <a:rPr kumimoji="1" lang="en-US" altLang="zh-CN" sz="2400" b="1" i="0" u="none" strike="noStrike" kern="0" cap="none" spc="0" normalizeH="0" baseline="0" noProof="1">
                <a:solidFill>
                  <a:schemeClr val="tx1"/>
                </a:solidFill>
                <a:latin typeface="+mn-lt"/>
                <a:ea typeface="+mn-ea"/>
                <a:cs typeface="+mn-ea"/>
              </a:rPr>
              <a:t>5</a:t>
            </a:r>
            <a:r>
              <a:rPr kumimoji="1" lang="zh-CN" altLang="zh-CN" sz="2400" b="1" i="0" u="none" strike="noStrike" kern="0" cap="none" spc="0" normalizeH="0" baseline="0" noProof="1">
                <a:solidFill>
                  <a:schemeClr val="tx1"/>
                </a:solidFill>
                <a:latin typeface="+mn-lt"/>
                <a:ea typeface="+mn-ea"/>
                <a:cs typeface="+mn-ea"/>
              </a:rPr>
              <a:t>）校验编程内容方式。此方式与读出方式基本相同，只是</a:t>
            </a:r>
            <a:r>
              <a:rPr kumimoji="1" lang="en-US" altLang="zh-CN" sz="2400" b="1" i="0" u="none" strike="noStrike" kern="0" cap="none" spc="0" normalizeH="0" baseline="0" noProof="1">
                <a:solidFill>
                  <a:schemeClr val="tx1"/>
                </a:solidFill>
                <a:latin typeface="+mn-lt"/>
                <a:ea typeface="+mn-ea"/>
                <a:cs typeface="+mn-ea"/>
              </a:rPr>
              <a:t>V</a:t>
            </a:r>
            <a:r>
              <a:rPr kumimoji="1" lang="en-US" altLang="zh-CN" sz="2400" b="1" i="0" u="none" strike="noStrike" kern="0" cap="none" spc="0" normalizeH="0" baseline="-25000" noProof="1">
                <a:solidFill>
                  <a:schemeClr val="tx1"/>
                </a:solidFill>
                <a:latin typeface="+mn-lt"/>
                <a:ea typeface="+mn-ea"/>
                <a:cs typeface="+mn-ea"/>
              </a:rPr>
              <a:t>PP</a:t>
            </a:r>
            <a:r>
              <a:rPr kumimoji="1" lang="zh-CN" altLang="zh-CN" sz="2400" b="1" i="0" u="none" strike="noStrike" kern="0" cap="none" spc="0" normalizeH="0" baseline="0" noProof="1">
                <a:solidFill>
                  <a:schemeClr val="tx1"/>
                </a:solidFill>
                <a:latin typeface="+mn-lt"/>
                <a:ea typeface="+mn-ea"/>
                <a:cs typeface="+mn-ea"/>
              </a:rPr>
              <a:t>＝</a:t>
            </a:r>
            <a:r>
              <a:rPr kumimoji="1" lang="en-US" altLang="zh-CN" sz="2400" b="1" i="0" u="none" strike="noStrike" kern="0" cap="none" spc="0" normalizeH="0" baseline="0" noProof="1">
                <a:solidFill>
                  <a:schemeClr val="tx1"/>
                </a:solidFill>
                <a:latin typeface="+mn-lt"/>
                <a:ea typeface="+mn-ea"/>
                <a:cs typeface="+mn-ea"/>
              </a:rPr>
              <a:t>+25V</a:t>
            </a:r>
            <a:r>
              <a:rPr kumimoji="1" lang="zh-CN" altLang="zh-CN" sz="2400" b="1" i="0" u="none" strike="noStrike" kern="0" cap="none" spc="0" normalizeH="0" baseline="0" noProof="1">
                <a:solidFill>
                  <a:schemeClr val="tx1"/>
                </a:solidFill>
                <a:latin typeface="+mn-lt"/>
                <a:ea typeface="+mn-ea"/>
                <a:cs typeface="+mn-ea"/>
              </a:rPr>
              <a:t>。在编程后，可将</a:t>
            </a:r>
            <a:r>
              <a:rPr kumimoji="1" lang="en-US" altLang="zh-CN" sz="2400" b="1" i="0" u="none" strike="noStrike" kern="0" cap="none" spc="0" normalizeH="0" baseline="0" noProof="1">
                <a:solidFill>
                  <a:schemeClr val="tx1"/>
                </a:solidFill>
                <a:latin typeface="+mn-lt"/>
                <a:ea typeface="+mn-ea"/>
                <a:cs typeface="+mn-ea"/>
              </a:rPr>
              <a:t>2716</a:t>
            </a:r>
            <a:r>
              <a:rPr kumimoji="1" lang="zh-CN" altLang="zh-CN" sz="2400" b="1" i="0" u="none" strike="noStrike" kern="0" cap="none" spc="0" normalizeH="0" baseline="0" noProof="1">
                <a:solidFill>
                  <a:schemeClr val="tx1"/>
                </a:solidFill>
                <a:latin typeface="+mn-lt"/>
                <a:ea typeface="+mn-ea"/>
                <a:cs typeface="+mn-ea"/>
              </a:rPr>
              <a:t>中的信息读出，与写入的内容进行比较，以验证写入内容是否正确。数据线为输入状态。 </a:t>
            </a:r>
          </a:p>
          <a:p>
            <a:pPr marL="457200" marR="0" lvl="1" indent="0" algn="just" defTabSz="914400" rtl="0" eaLnBrk="0" fontAlgn="base" latinLnBrk="0" hangingPunct="0">
              <a:lnSpc>
                <a:spcPct val="100000"/>
              </a:lnSpc>
              <a:spcBef>
                <a:spcPct val="20000"/>
              </a:spcBef>
              <a:spcAft>
                <a:spcPct val="0"/>
              </a:spcAft>
              <a:buClr>
                <a:schemeClr val="accent2"/>
              </a:buClr>
              <a:buSzPct val="85000"/>
              <a:buFont typeface="Wingdings" panose="05000000000000000000" pitchFamily="2" charset="2"/>
              <a:buNone/>
            </a:pPr>
            <a:r>
              <a:rPr kumimoji="1" lang="zh-CN" altLang="zh-CN" sz="2400" b="1" i="0" u="none" strike="noStrike" kern="0" cap="none" spc="0" normalizeH="0" baseline="0" noProof="1">
                <a:solidFill>
                  <a:schemeClr val="tx1"/>
                </a:solidFill>
                <a:latin typeface="+mn-lt"/>
                <a:ea typeface="+mn-ea"/>
                <a:cs typeface="+mn-ea"/>
              </a:rPr>
              <a:t>（</a:t>
            </a:r>
            <a:r>
              <a:rPr kumimoji="1" lang="en-US" altLang="zh-CN" sz="2400" b="1" i="0" u="none" strike="noStrike" kern="0" cap="none" spc="0" normalizeH="0" baseline="0" noProof="1">
                <a:solidFill>
                  <a:schemeClr val="tx1"/>
                </a:solidFill>
                <a:latin typeface="+mn-lt"/>
                <a:ea typeface="+mn-ea"/>
                <a:cs typeface="+mn-ea"/>
              </a:rPr>
              <a:t>6</a:t>
            </a:r>
            <a:r>
              <a:rPr kumimoji="1" lang="zh-CN" altLang="zh-CN" sz="2400" b="1" i="0" u="none" strike="noStrike" kern="0" cap="none" spc="0" normalizeH="0" baseline="0" noProof="1">
                <a:solidFill>
                  <a:schemeClr val="tx1"/>
                </a:solidFill>
                <a:latin typeface="+mn-lt"/>
                <a:ea typeface="+mn-ea"/>
                <a:cs typeface="+mn-ea"/>
              </a:rPr>
              <a:t>）禁止编程方式。此方式禁止将数据总线上的信息写入</a:t>
            </a:r>
            <a:r>
              <a:rPr kumimoji="1" lang="en-US" altLang="zh-CN" sz="2400" b="1" i="0" u="none" strike="noStrike" kern="0" cap="none" spc="0" normalizeH="0" baseline="0" noProof="1">
                <a:solidFill>
                  <a:schemeClr val="tx1"/>
                </a:solidFill>
                <a:latin typeface="+mn-lt"/>
                <a:ea typeface="+mn-ea"/>
                <a:cs typeface="+mn-ea"/>
              </a:rPr>
              <a:t>2716</a:t>
            </a:r>
            <a:r>
              <a:rPr kumimoji="1" lang="zh-CN" altLang="zh-CN" sz="2400" b="1" i="0" u="none" strike="noStrike" kern="0" cap="none" spc="0" normalizeH="0" baseline="0" noProof="1">
                <a:solidFill>
                  <a:schemeClr val="tx1"/>
                </a:solidFill>
                <a:latin typeface="+mn-lt"/>
                <a:ea typeface="+mn-ea"/>
                <a:cs typeface="+mn-ea"/>
              </a:rPr>
              <a:t>。</a:t>
            </a:r>
            <a:r>
              <a:rPr kumimoji="1" lang="en-US" altLang="zh-CN" sz="2400" b="1" i="0" u="none" strike="noStrike" kern="0" cap="none" spc="0" normalizeH="0" baseline="0" noProof="1">
                <a:solidFill>
                  <a:schemeClr val="tx1"/>
                </a:solidFill>
                <a:latin typeface="+mn-lt"/>
                <a:ea typeface="+mn-ea"/>
                <a:cs typeface="+mn-ea"/>
              </a:rPr>
              <a:t> </a:t>
            </a:r>
          </a:p>
          <a:p>
            <a:pPr marL="457200" marR="0" lvl="1" indent="0" algn="just" defTabSz="914400" rtl="0" eaLnBrk="0" fontAlgn="base" latinLnBrk="0" hangingPunct="0">
              <a:lnSpc>
                <a:spcPct val="100000"/>
              </a:lnSpc>
              <a:spcBef>
                <a:spcPct val="20000"/>
              </a:spcBef>
              <a:spcAft>
                <a:spcPct val="0"/>
              </a:spcAft>
              <a:buClr>
                <a:schemeClr val="accent2"/>
              </a:buClr>
              <a:buSzPct val="85000"/>
              <a:buFont typeface="Wingdings" panose="05000000000000000000" pitchFamily="2" charset="2"/>
              <a:buNone/>
            </a:pPr>
            <a:r>
              <a:rPr kumimoji="1" lang="zh-CN" altLang="zh-CN" sz="2400" b="1" i="0" u="none" strike="noStrike" kern="0" cap="none" spc="0" normalizeH="0" baseline="0" noProof="1">
                <a:solidFill>
                  <a:schemeClr val="tx1"/>
                </a:solidFill>
                <a:latin typeface="+mn-lt"/>
                <a:ea typeface="+mn-ea"/>
                <a:cs typeface="+mn-ea"/>
              </a:rPr>
              <a:t>         当</a:t>
            </a:r>
            <a:r>
              <a:rPr kumimoji="1" lang="en-US" altLang="zh-CN" sz="2400" b="1" i="0" u="none" strike="noStrike" kern="0" cap="none" spc="0" normalizeH="0" baseline="0" noProof="1">
                <a:solidFill>
                  <a:schemeClr val="tx1"/>
                </a:solidFill>
                <a:latin typeface="+mn-lt"/>
                <a:ea typeface="+mn-ea"/>
                <a:cs typeface="+mn-ea"/>
              </a:rPr>
              <a:t>2716</a:t>
            </a:r>
            <a:r>
              <a:rPr kumimoji="1" lang="zh-CN" altLang="zh-CN" sz="2400" b="1" i="0" u="none" strike="noStrike" kern="0" cap="none" spc="0" normalizeH="0" baseline="0" noProof="1">
                <a:solidFill>
                  <a:schemeClr val="tx1"/>
                </a:solidFill>
                <a:latin typeface="+mn-lt"/>
                <a:ea typeface="+mn-ea"/>
                <a:cs typeface="+mn-ea"/>
              </a:rPr>
              <a:t>需要写入信息时，通过专用</a:t>
            </a:r>
            <a:r>
              <a:rPr kumimoji="1" lang="en-US" altLang="zh-CN" sz="2400" b="1" i="0" u="none" strike="noStrike" kern="0" cap="none" spc="0" normalizeH="0" baseline="0" noProof="1">
                <a:solidFill>
                  <a:schemeClr val="tx1"/>
                </a:solidFill>
                <a:latin typeface="+mn-lt"/>
                <a:ea typeface="+mn-ea"/>
                <a:cs typeface="+mn-ea"/>
              </a:rPr>
              <a:t>EPROM</a:t>
            </a:r>
            <a:r>
              <a:rPr kumimoji="1" lang="zh-CN" altLang="zh-CN" sz="2400" b="1" i="0" u="none" strike="noStrike" kern="0" cap="none" spc="0" normalizeH="0" baseline="0" noProof="1">
                <a:solidFill>
                  <a:schemeClr val="tx1"/>
                </a:solidFill>
                <a:latin typeface="+mn-lt"/>
                <a:ea typeface="+mn-ea"/>
                <a:cs typeface="+mn-ea"/>
              </a:rPr>
              <a:t>的编程器对存储器芯片进行编程，且芯片要与电路隔离，在编程器上进行操作。</a:t>
            </a:r>
          </a:p>
          <a:p>
            <a:pPr marL="742950" marR="0" lvl="1" indent="-285750" algn="just" defTabSz="914400" rtl="0" eaLnBrk="0" fontAlgn="base" latinLnBrk="0" hangingPunct="0">
              <a:lnSpc>
                <a:spcPct val="100000"/>
              </a:lnSpc>
              <a:spcBef>
                <a:spcPct val="20000"/>
              </a:spcBef>
              <a:spcAft>
                <a:spcPct val="0"/>
              </a:spcAft>
              <a:buClr>
                <a:schemeClr val="accent2"/>
              </a:buClr>
              <a:buSzPct val="85000"/>
              <a:buFont typeface="Wingdings" panose="05000000000000000000" pitchFamily="2" charset="2"/>
              <a:buChar char="Ø"/>
            </a:pPr>
            <a:endParaRPr kumimoji="1" lang="zh-CN" altLang="zh-CN" sz="2400" b="1" i="0" u="none" strike="noStrike" kern="0" cap="none" spc="0" normalizeH="0" baseline="0" noProof="1">
              <a:solidFill>
                <a:schemeClr val="tx1"/>
              </a:solidFill>
              <a:latin typeface="+mn-lt"/>
              <a:ea typeface="+mn-ea"/>
              <a:cs typeface="+mn-ea"/>
            </a:endParaRPr>
          </a:p>
        </p:txBody>
      </p:sp>
    </p:spTree>
  </p:cSld>
  <p:clrMapOvr>
    <a:masterClrMapping/>
  </p:clrMapOvr>
  <p:transition spd="med">
    <p:random/>
  </p:transition>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5537" name="内容占位符 2"/>
          <p:cNvSpPr>
            <a:spLocks noGrp="1"/>
          </p:cNvSpPr>
          <p:nvPr>
            <p:ph/>
          </p:nvPr>
        </p:nvSpPr>
        <p:spPr>
          <a:xfrm>
            <a:off x="217488" y="1054100"/>
            <a:ext cx="8729662" cy="5051425"/>
          </a:xfrm>
          <a:prstGeom prst="rect">
            <a:avLst/>
          </a:prstGeom>
          <a:noFill/>
          <a:ln w="9525">
            <a:noFill/>
          </a:ln>
        </p:spPr>
        <p:txBody>
          <a:bodyPr wrap="square" lIns="92075" tIns="46038" rIns="92075" bIns="46038" anchor="t" anchorCtr="0"/>
          <a:lstStyle/>
          <a:p>
            <a:pPr marL="0" indent="0" algn="just">
              <a:buNone/>
            </a:pPr>
            <a:r>
              <a:rPr lang="en-US" altLang="zh-CN" sz="2400" dirty="0"/>
              <a:t>【例5.7】一个8088微机系统，其内存地址空间分配为0000H～1FFFH的8KB为EPROM；2000H～2FFFH的4KB为静态RAM；3000H～3FFFH的4KB为待扩存储空间。要求EPROM用Intel 2716，RAM用Intel 2114，用74LS138译码器作片选控制。试画出其连接图。</a:t>
            </a:r>
          </a:p>
          <a:p>
            <a:pPr marL="0" indent="0" algn="just">
              <a:buNone/>
            </a:pPr>
            <a:r>
              <a:rPr lang="en-US" altLang="zh-CN" sz="2400" dirty="0"/>
              <a:t>分析：EPROM 2716的容量为2K×8b，按照容量要求，需要4片进行字扩展。其8条数据线与CPU的数据总线D7～D0相连。11位地址线（A11～A0）与CPU的低11位（A11～A0）相连，SRAM2114芯片是1K×4b，要用此芯片构成4K×8b的存储器需要字位同时扩展，共需要8片芯片。其中，每两片组成一组进行位扩展，</a:t>
            </a:r>
          </a:p>
          <a:p>
            <a:pPr marL="0" indent="0" algn="just">
              <a:buNone/>
            </a:pPr>
            <a:r>
              <a:rPr lang="en-US" altLang="zh-CN" sz="2400" dirty="0"/>
              <a:t>根据表5-6给出的地址范围，可以确定其中地址线的分配及连接情况。如图5-32所示，具体情况可以根据地址分配表自行分析。</a:t>
            </a:r>
          </a:p>
          <a:p>
            <a:pPr lvl="1" algn="just"/>
            <a:endParaRPr lang="zh-CN" altLang="zh-CN" dirty="0"/>
          </a:p>
        </p:txBody>
      </p:sp>
    </p:spTree>
  </p:cSld>
  <p:clrMapOvr>
    <a:masterClrMapping/>
  </p:clrMapOvr>
  <p:transition spd="med">
    <p:random/>
  </p:transition>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6561" name="文本框 99"/>
          <p:cNvSpPr txBox="1"/>
          <p:nvPr/>
        </p:nvSpPr>
        <p:spPr>
          <a:xfrm>
            <a:off x="1466850" y="769938"/>
            <a:ext cx="5973763" cy="436562"/>
          </a:xfrm>
          <a:prstGeom prst="rect">
            <a:avLst/>
          </a:prstGeom>
          <a:noFill/>
          <a:ln w="9525">
            <a:noFill/>
          </a:ln>
        </p:spPr>
        <p:txBody>
          <a:bodyPr wrap="square" anchor="t" anchorCtr="0">
            <a:spAutoFit/>
          </a:bodyPr>
          <a:lstStyle/>
          <a:p>
            <a:r>
              <a:rPr lang="zh-CN" altLang="en-US" b="0">
                <a:latin typeface="宋体" panose="02010600030101010101" pitchFamily="2" charset="-122"/>
                <a:ea typeface="宋体" panose="02010600030101010101" pitchFamily="2" charset="-122"/>
              </a:rPr>
              <a:t>表</a:t>
            </a:r>
            <a:r>
              <a:rPr lang="en-US" altLang="zh-CN" b="0">
                <a:latin typeface="Times New Roman" panose="02020603050405020304" pitchFamily="18" charset="0"/>
                <a:ea typeface="宋体" panose="02010600030101010101" pitchFamily="2" charset="-122"/>
              </a:rPr>
              <a:t>5-</a:t>
            </a:r>
            <a:r>
              <a:rPr lang="en-US" altLang="zh-CN" b="0">
                <a:latin typeface="宋体" panose="02010600030101010101" pitchFamily="2" charset="-122"/>
                <a:ea typeface="宋体" panose="02010600030101010101" pitchFamily="2" charset="-122"/>
              </a:rPr>
              <a:t>6 </a:t>
            </a:r>
            <a:r>
              <a:rPr lang="en-US" altLang="zh-CN" b="0">
                <a:latin typeface="Times New Roman" panose="02020603050405020304" pitchFamily="18" charset="0"/>
                <a:ea typeface="宋体" panose="02010600030101010101" pitchFamily="2" charset="-122"/>
              </a:rPr>
              <a:t> EPROM</a:t>
            </a:r>
            <a:r>
              <a:rPr lang="zh-CN" altLang="en-US" b="0">
                <a:latin typeface="宋体" panose="02010600030101010101" pitchFamily="2" charset="-122"/>
                <a:ea typeface="宋体" panose="02010600030101010101" pitchFamily="2" charset="-122"/>
              </a:rPr>
              <a:t>和</a:t>
            </a:r>
            <a:r>
              <a:rPr lang="en-US" altLang="zh-CN" b="0">
                <a:latin typeface="Times New Roman" panose="02020603050405020304" pitchFamily="18" charset="0"/>
                <a:ea typeface="宋体" panose="02010600030101010101" pitchFamily="2" charset="-122"/>
              </a:rPr>
              <a:t>RAM</a:t>
            </a:r>
            <a:r>
              <a:rPr lang="zh-CN" altLang="en-US" b="0">
                <a:latin typeface="宋体" panose="02010600030101010101" pitchFamily="2" charset="-122"/>
                <a:ea typeface="宋体" panose="02010600030101010101" pitchFamily="2" charset="-122"/>
              </a:rPr>
              <a:t>芯片组地址范围</a:t>
            </a:r>
            <a:endParaRPr lang="zh-CN" altLang="en-US">
              <a:latin typeface="宋体" panose="02010600030101010101" pitchFamily="2" charset="-122"/>
              <a:ea typeface="宋体" panose="02010600030101010101" pitchFamily="2" charset="-122"/>
            </a:endParaRPr>
          </a:p>
        </p:txBody>
      </p:sp>
      <p:graphicFrame>
        <p:nvGraphicFramePr>
          <p:cNvPr id="2" name="表格 -1"/>
          <p:cNvGraphicFramePr/>
          <p:nvPr/>
        </p:nvGraphicFramePr>
        <p:xfrm>
          <a:off x="747713" y="1579563"/>
          <a:ext cx="7661275" cy="4818063"/>
        </p:xfrm>
        <a:graphic>
          <a:graphicData uri="http://schemas.openxmlformats.org/drawingml/2006/table">
            <a:tbl>
              <a:tblPr firstRow="1" bandRow="1">
                <a:tableStyleId>{5940675A-B579-460E-94D1-54222C63F5DA}</a:tableStyleId>
              </a:tblPr>
              <a:tblGrid>
                <a:gridCol w="897890">
                  <a:extLst>
                    <a:ext uri="{9D8B030D-6E8A-4147-A177-3AD203B41FA5}">
                      <a16:colId xmlns:a16="http://schemas.microsoft.com/office/drawing/2014/main" val="20000"/>
                    </a:ext>
                  </a:extLst>
                </a:gridCol>
                <a:gridCol w="764540">
                  <a:extLst>
                    <a:ext uri="{9D8B030D-6E8A-4147-A177-3AD203B41FA5}">
                      <a16:colId xmlns:a16="http://schemas.microsoft.com/office/drawing/2014/main" val="20001"/>
                    </a:ext>
                  </a:extLst>
                </a:gridCol>
                <a:gridCol w="1018540">
                  <a:extLst>
                    <a:ext uri="{9D8B030D-6E8A-4147-A177-3AD203B41FA5}">
                      <a16:colId xmlns:a16="http://schemas.microsoft.com/office/drawing/2014/main" val="20002"/>
                    </a:ext>
                  </a:extLst>
                </a:gridCol>
                <a:gridCol w="508635">
                  <a:extLst>
                    <a:ext uri="{9D8B030D-6E8A-4147-A177-3AD203B41FA5}">
                      <a16:colId xmlns:a16="http://schemas.microsoft.com/office/drawing/2014/main" val="20003"/>
                    </a:ext>
                  </a:extLst>
                </a:gridCol>
                <a:gridCol w="1402715">
                  <a:extLst>
                    <a:ext uri="{9D8B030D-6E8A-4147-A177-3AD203B41FA5}">
                      <a16:colId xmlns:a16="http://schemas.microsoft.com/office/drawing/2014/main" val="20004"/>
                    </a:ext>
                  </a:extLst>
                </a:gridCol>
                <a:gridCol w="1402080">
                  <a:extLst>
                    <a:ext uri="{9D8B030D-6E8A-4147-A177-3AD203B41FA5}">
                      <a16:colId xmlns:a16="http://schemas.microsoft.com/office/drawing/2014/main" val="20005"/>
                    </a:ext>
                  </a:extLst>
                </a:gridCol>
                <a:gridCol w="1666875">
                  <a:extLst>
                    <a:ext uri="{9D8B030D-6E8A-4147-A177-3AD203B41FA5}">
                      <a16:colId xmlns:a16="http://schemas.microsoft.com/office/drawing/2014/main" val="20006"/>
                    </a:ext>
                  </a:extLst>
                </a:gridCol>
              </a:tblGrid>
              <a:tr h="493395">
                <a:tc rowSpan="2">
                  <a:txBody>
                    <a:bodyPr/>
                    <a:lstStyle/>
                    <a:p>
                      <a:pPr marL="0" indent="0" algn="ctr">
                        <a:buNone/>
                      </a:pPr>
                      <a:r>
                        <a:rPr lang="zh-CN" altLang="en-US" sz="1600" b="0" u="none">
                          <a:latin typeface="宋体" panose="02010600030101010101" pitchFamily="2" charset="-122"/>
                          <a:ea typeface="宋体" panose="02010600030101010101" pitchFamily="2" charset="-122"/>
                          <a:cs typeface="宋体" panose="02010600030101010101" pitchFamily="2" charset="-122"/>
                        </a:rPr>
                        <a:t>芯片</a:t>
                      </a:r>
                    </a:p>
                  </a:txBody>
                  <a:tcPr marL="0" marR="0" marT="0" marB="1" anchor="ctr">
                    <a:lnL w="9525" cap="flat" cmpd="sng">
                      <a:solidFill>
                        <a:srgbClr val="000000"/>
                      </a:solidFill>
                      <a:prstDash val="solid"/>
                      <a:headEnd type="none" w="med" len="med"/>
                      <a:tailEnd type="none" w="med" len="med"/>
                    </a:lnL>
                    <a:lnR w="635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a:noFill/>
                    </a:lnB>
                    <a:lnTlToBr>
                      <a:noFill/>
                    </a:lnTlToBr>
                    <a:lnBlToTr>
                      <a:noFill/>
                    </a:lnBlToTr>
                    <a:noFill/>
                  </a:tcPr>
                </a:tc>
                <a:tc rowSpan="2">
                  <a:txBody>
                    <a:bodyPr/>
                    <a:lstStyle/>
                    <a:p>
                      <a:pPr marL="0" indent="0" algn="ctr">
                        <a:buNone/>
                      </a:pPr>
                      <a:r>
                        <a:rPr lang="en-US" altLang="zh-CN" sz="1600" b="0" u="none">
                          <a:latin typeface="Times New Roman" panose="02020603050405020304" pitchFamily="18" charset="0"/>
                          <a:ea typeface="Times New Roman" panose="02020603050405020304" pitchFamily="18" charset="0"/>
                          <a:cs typeface="Times New Roman" panose="02020603050405020304" pitchFamily="18" charset="0"/>
                        </a:rPr>
                        <a:t>A</a:t>
                      </a:r>
                      <a:r>
                        <a:rPr lang="en-US" altLang="zh-CN" sz="1600" b="0" u="none" baseline="-25000">
                          <a:latin typeface="Times New Roman" panose="02020603050405020304" pitchFamily="18" charset="0"/>
                          <a:ea typeface="Times New Roman" panose="02020603050405020304" pitchFamily="18" charset="0"/>
                          <a:cs typeface="Times New Roman" panose="02020603050405020304" pitchFamily="18" charset="0"/>
                        </a:rPr>
                        <a:t>15</a:t>
                      </a:r>
                      <a:r>
                        <a:rPr lang="en-US" altLang="zh-CN" sz="1600" b="0" u="none">
                          <a:latin typeface="Times New Roman" panose="02020603050405020304" pitchFamily="18" charset="0"/>
                          <a:ea typeface="Times New Roman" panose="02020603050405020304" pitchFamily="18" charset="0"/>
                          <a:cs typeface="Times New Roman" panose="02020603050405020304" pitchFamily="18" charset="0"/>
                        </a:rPr>
                        <a:t>A</a:t>
                      </a:r>
                      <a:r>
                        <a:rPr lang="en-US" altLang="zh-CN" sz="1600" b="0" u="none" baseline="-25000">
                          <a:latin typeface="Times New Roman" panose="02020603050405020304" pitchFamily="18" charset="0"/>
                          <a:ea typeface="Times New Roman" panose="02020603050405020304" pitchFamily="18" charset="0"/>
                          <a:cs typeface="Times New Roman" panose="02020603050405020304" pitchFamily="18" charset="0"/>
                        </a:rPr>
                        <a:t>14</a:t>
                      </a:r>
                      <a:endParaRPr lang="en-US" altLang="zh-CN" sz="16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anchor="ctr">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a:noFill/>
                    </a:lnB>
                    <a:lnTlToBr>
                      <a:noFill/>
                    </a:lnTlToBr>
                    <a:lnBlToTr>
                      <a:noFill/>
                    </a:lnBlToTr>
                    <a:noFill/>
                  </a:tcPr>
                </a:tc>
                <a:tc rowSpan="2">
                  <a:txBody>
                    <a:bodyPr/>
                    <a:lstStyle/>
                    <a:p>
                      <a:pPr marL="0" indent="0" algn="ctr">
                        <a:buNone/>
                      </a:pPr>
                      <a:r>
                        <a:rPr lang="en-US" altLang="zh-CN" sz="1600" b="0" u="none">
                          <a:latin typeface="Times New Roman" panose="02020603050405020304" pitchFamily="18" charset="0"/>
                          <a:ea typeface="Times New Roman" panose="02020603050405020304" pitchFamily="18" charset="0"/>
                          <a:cs typeface="Times New Roman" panose="02020603050405020304" pitchFamily="18" charset="0"/>
                        </a:rPr>
                        <a:t>A</a:t>
                      </a:r>
                      <a:r>
                        <a:rPr lang="en-US" altLang="zh-CN" sz="1600" b="0" u="none" baseline="-25000">
                          <a:latin typeface="Times New Roman" panose="02020603050405020304" pitchFamily="18" charset="0"/>
                          <a:ea typeface="Times New Roman" panose="02020603050405020304" pitchFamily="18" charset="0"/>
                          <a:cs typeface="Times New Roman" panose="02020603050405020304" pitchFamily="18" charset="0"/>
                        </a:rPr>
                        <a:t>13</a:t>
                      </a:r>
                      <a:r>
                        <a:rPr lang="en-US" altLang="zh-CN" sz="1600" b="0" u="none">
                          <a:latin typeface="Times New Roman" panose="02020603050405020304" pitchFamily="18" charset="0"/>
                          <a:ea typeface="Times New Roman" panose="02020603050405020304" pitchFamily="18" charset="0"/>
                          <a:cs typeface="Times New Roman" panose="02020603050405020304" pitchFamily="18" charset="0"/>
                        </a:rPr>
                        <a:t>A</a:t>
                      </a:r>
                      <a:r>
                        <a:rPr lang="en-US" altLang="zh-CN" sz="1600" b="0" u="none" baseline="-25000">
                          <a:latin typeface="Times New Roman" panose="02020603050405020304" pitchFamily="18" charset="0"/>
                          <a:ea typeface="Times New Roman" panose="02020603050405020304" pitchFamily="18" charset="0"/>
                          <a:cs typeface="Times New Roman" panose="02020603050405020304" pitchFamily="18" charset="0"/>
                        </a:rPr>
                        <a:t>12</a:t>
                      </a:r>
                      <a:r>
                        <a:rPr lang="en-US" altLang="zh-CN" sz="1600" b="0" u="none">
                          <a:latin typeface="Times New Roman" panose="02020603050405020304" pitchFamily="18" charset="0"/>
                          <a:ea typeface="Times New Roman" panose="02020603050405020304" pitchFamily="18" charset="0"/>
                          <a:cs typeface="Times New Roman" panose="02020603050405020304" pitchFamily="18" charset="0"/>
                        </a:rPr>
                        <a:t>A</a:t>
                      </a:r>
                      <a:r>
                        <a:rPr lang="en-US" altLang="zh-CN" sz="1600" b="0" u="none" baseline="-25000">
                          <a:latin typeface="Times New Roman" panose="02020603050405020304" pitchFamily="18" charset="0"/>
                          <a:ea typeface="Times New Roman" panose="02020603050405020304" pitchFamily="18" charset="0"/>
                          <a:cs typeface="Times New Roman" panose="02020603050405020304" pitchFamily="18" charset="0"/>
                        </a:rPr>
                        <a:t>11</a:t>
                      </a:r>
                      <a:endParaRPr lang="en-US" altLang="zh-CN" sz="16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anchor="ctr">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a:noFill/>
                    </a:lnB>
                    <a:lnTlToBr>
                      <a:noFill/>
                    </a:lnTlToBr>
                    <a:lnBlToTr>
                      <a:noFill/>
                    </a:lnBlToTr>
                    <a:noFill/>
                  </a:tcPr>
                </a:tc>
                <a:tc rowSpan="2">
                  <a:txBody>
                    <a:bodyPr/>
                    <a:lstStyle/>
                    <a:p>
                      <a:pPr marL="0" indent="0" algn="ctr">
                        <a:buNone/>
                      </a:pPr>
                      <a:r>
                        <a:rPr lang="en-US" altLang="zh-CN" sz="1600" b="0" u="none">
                          <a:latin typeface="Times New Roman" panose="02020603050405020304" pitchFamily="18" charset="0"/>
                          <a:ea typeface="Times New Roman" panose="02020603050405020304" pitchFamily="18" charset="0"/>
                          <a:cs typeface="Times New Roman" panose="02020603050405020304" pitchFamily="18" charset="0"/>
                        </a:rPr>
                        <a:t>A</a:t>
                      </a:r>
                      <a:r>
                        <a:rPr lang="en-US" altLang="zh-CN" sz="1600" b="0" u="none" baseline="-25000">
                          <a:latin typeface="Times New Roman" panose="02020603050405020304" pitchFamily="18" charset="0"/>
                          <a:ea typeface="Times New Roman" panose="02020603050405020304" pitchFamily="18" charset="0"/>
                          <a:cs typeface="Times New Roman" panose="02020603050405020304" pitchFamily="18" charset="0"/>
                        </a:rPr>
                        <a:t>10</a:t>
                      </a:r>
                      <a:endParaRPr lang="en-US" altLang="zh-CN" sz="16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anchor="ctr">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a:noFill/>
                    </a:lnB>
                    <a:lnTlToBr>
                      <a:noFill/>
                    </a:lnTlToBr>
                    <a:lnBlToTr>
                      <a:noFill/>
                    </a:lnBlToTr>
                    <a:noFill/>
                  </a:tcPr>
                </a:tc>
                <a:tc gridSpan="2">
                  <a:txBody>
                    <a:bodyPr/>
                    <a:lstStyle/>
                    <a:p>
                      <a:pPr marL="0" indent="0" algn="ctr">
                        <a:buNone/>
                      </a:pPr>
                      <a:r>
                        <a:rPr lang="en-US" altLang="zh-CN" sz="1600" b="0" u="none">
                          <a:latin typeface="Times New Roman" panose="02020603050405020304" pitchFamily="18" charset="0"/>
                          <a:ea typeface="Times New Roman" panose="02020603050405020304" pitchFamily="18" charset="0"/>
                          <a:cs typeface="Times New Roman" panose="02020603050405020304" pitchFamily="18" charset="0"/>
                        </a:rPr>
                        <a:t>A</a:t>
                      </a:r>
                      <a:r>
                        <a:rPr lang="en-US" altLang="zh-CN" sz="1600" b="0" u="none" baseline="-25000">
                          <a:latin typeface="Times New Roman" panose="02020603050405020304" pitchFamily="18" charset="0"/>
                          <a:ea typeface="Times New Roman" panose="02020603050405020304" pitchFamily="18" charset="0"/>
                          <a:cs typeface="Times New Roman" panose="02020603050405020304" pitchFamily="18" charset="0"/>
                        </a:rPr>
                        <a:t>15</a:t>
                      </a:r>
                      <a:r>
                        <a:rPr lang="zh-CN" altLang="en-US" sz="1600" b="0" u="none">
                          <a:latin typeface="Times New Roman" panose="02020603050405020304" pitchFamily="18" charset="0"/>
                          <a:ea typeface="Times New Roman" panose="02020603050405020304" pitchFamily="18" charset="0"/>
                          <a:cs typeface="Times New Roman" panose="02020603050405020304" pitchFamily="18" charset="0"/>
                        </a:rPr>
                        <a:t>～</a:t>
                      </a:r>
                      <a:r>
                        <a:rPr lang="en-US" altLang="zh-CN" sz="1600" b="0" u="none">
                          <a:latin typeface="Times New Roman" panose="02020603050405020304" pitchFamily="18" charset="0"/>
                          <a:ea typeface="Times New Roman" panose="02020603050405020304" pitchFamily="18" charset="0"/>
                          <a:cs typeface="Times New Roman" panose="02020603050405020304" pitchFamily="18" charset="0"/>
                        </a:rPr>
                        <a:t>AA</a:t>
                      </a:r>
                      <a:r>
                        <a:rPr lang="en-US" altLang="zh-CN" sz="1600" b="0" u="none" baseline="-25000">
                          <a:latin typeface="Times New Roman" panose="02020603050405020304" pitchFamily="18" charset="0"/>
                          <a:ea typeface="Times New Roman" panose="02020603050405020304" pitchFamily="18" charset="0"/>
                          <a:cs typeface="Times New Roman" panose="02020603050405020304" pitchFamily="18" charset="0"/>
                        </a:rPr>
                        <a:t>0</a:t>
                      </a:r>
                      <a:endParaRPr lang="en-US" altLang="zh-CN" sz="16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anchor="ctr">
                    <a:lnL w="6350" cap="flat" cmpd="sng">
                      <a:solidFill>
                        <a:srgbClr val="080000"/>
                      </a:solidFill>
                      <a:prstDash val="solid"/>
                      <a:headEnd type="none" w="med" len="med"/>
                      <a:tailEnd type="none" w="med" len="med"/>
                    </a:lnL>
                    <a:lnR>
                      <a:noFill/>
                    </a:lnR>
                    <a:lnT w="1270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hMerge="1">
                  <a:txBody>
                    <a:bodyPr/>
                    <a:lstStyle/>
                    <a:p>
                      <a:endParaRPr lang="zh-CN"/>
                    </a:p>
                  </a:txBody>
                  <a:tcPr>
                    <a:lnR w="635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tcPr>
                </a:tc>
                <a:tc rowSpan="2">
                  <a:txBody>
                    <a:bodyPr/>
                    <a:lstStyle/>
                    <a:p>
                      <a:pPr marL="0" indent="0" algn="ctr">
                        <a:buNone/>
                      </a:pPr>
                      <a:r>
                        <a:rPr lang="zh-CN" altLang="en-US" sz="1600" b="0" u="none">
                          <a:latin typeface="宋体" panose="02010600030101010101" pitchFamily="2" charset="-122"/>
                          <a:ea typeface="宋体" panose="02010600030101010101" pitchFamily="2" charset="-122"/>
                          <a:cs typeface="宋体" panose="02010600030101010101" pitchFamily="2" charset="-122"/>
                        </a:rPr>
                        <a:t>地址范围</a:t>
                      </a:r>
                    </a:p>
                  </a:txBody>
                  <a:tcPr marL="0" marR="0" marT="0" marB="1" anchor="ctr">
                    <a:lnL w="6350" cap="flat" cmpd="sng">
                      <a:no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a:noFill/>
                    </a:lnB>
                    <a:lnTlToBr>
                      <a:noFill/>
                    </a:lnTlToBr>
                    <a:lnBlToTr>
                      <a:noFill/>
                    </a:lnBlToTr>
                    <a:noFill/>
                  </a:tcPr>
                </a:tc>
                <a:extLst>
                  <a:ext uri="{0D108BD9-81ED-4DB2-BD59-A6C34878D82A}">
                    <a16:rowId xmlns:a16="http://schemas.microsoft.com/office/drawing/2014/main" val="10000"/>
                  </a:ext>
                </a:extLst>
              </a:tr>
              <a:tr h="422910">
                <a:tc vMerge="1">
                  <a:txBody>
                    <a:bodyPr/>
                    <a:lstStyle/>
                    <a:p>
                      <a:endParaRPr lang="zh-CN"/>
                    </a:p>
                  </a:txBody>
                  <a:tcPr>
                    <a:lnL w="9525" cap="flat" cmpd="sng">
                      <a:solidFill>
                        <a:srgbClr val="000000"/>
                      </a:solidFill>
                      <a:prstDash val="solid"/>
                      <a:headEnd type="none" w="med" len="med"/>
                      <a:tailEnd type="none" w="med" len="med"/>
                    </a:lnL>
                    <a:lnR w="6350" cap="flat" cmpd="sng">
                      <a:solidFill>
                        <a:srgbClr val="080000"/>
                      </a:solidFill>
                      <a:prstDash val="solid"/>
                      <a:headEnd type="none" w="med" len="med"/>
                      <a:tailEnd type="none" w="med" len="med"/>
                    </a:lnR>
                    <a:lnB w="6350" cap="flat" cmpd="sng">
                      <a:solidFill>
                        <a:srgbClr val="080000"/>
                      </a:solidFill>
                      <a:prstDash val="solid"/>
                      <a:headEnd type="none" w="med" len="med"/>
                      <a:tailEnd type="none" w="med" len="med"/>
                    </a:lnB>
                  </a:tcPr>
                </a:tc>
                <a:tc vMerge="1">
                  <a:txBody>
                    <a:bodyPr/>
                    <a:lstStyle/>
                    <a:p>
                      <a:endParaRPr lang="zh-CN"/>
                    </a:p>
                  </a:txBody>
                  <a:tcPr>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B w="6350" cap="flat" cmpd="sng">
                      <a:solidFill>
                        <a:srgbClr val="080000"/>
                      </a:solidFill>
                      <a:prstDash val="solid"/>
                      <a:headEnd type="none" w="med" len="med"/>
                      <a:tailEnd type="none" w="med" len="med"/>
                    </a:lnB>
                  </a:tcPr>
                </a:tc>
                <a:tc vMerge="1">
                  <a:txBody>
                    <a:bodyPr/>
                    <a:lstStyle/>
                    <a:p>
                      <a:endParaRPr lang="zh-CN"/>
                    </a:p>
                  </a:txBody>
                  <a:tcPr>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B w="6350" cap="flat" cmpd="sng">
                      <a:solidFill>
                        <a:srgbClr val="080000"/>
                      </a:solidFill>
                      <a:prstDash val="solid"/>
                      <a:headEnd type="none" w="med" len="med"/>
                      <a:tailEnd type="none" w="med" len="med"/>
                    </a:lnB>
                  </a:tcPr>
                </a:tc>
                <a:tc vMerge="1">
                  <a:txBody>
                    <a:bodyPr/>
                    <a:lstStyle/>
                    <a:p>
                      <a:endParaRPr lang="zh-CN"/>
                    </a:p>
                  </a:txBody>
                  <a:tcPr>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B w="6350" cap="flat" cmpd="sng">
                      <a:solidFill>
                        <a:srgbClr val="080000"/>
                      </a:solidFill>
                      <a:prstDash val="solid"/>
                      <a:headEnd type="none" w="med" len="med"/>
                      <a:tailEnd type="none" w="med" len="med"/>
                    </a:lnB>
                  </a:tcPr>
                </a:tc>
                <a:tc>
                  <a:txBody>
                    <a:bodyPr/>
                    <a:lstStyle/>
                    <a:p>
                      <a:pPr marL="0" indent="0" algn="ctr">
                        <a:buNone/>
                      </a:pPr>
                      <a:r>
                        <a:rPr lang="zh-CN" altLang="en-US" sz="1600" b="0" u="none">
                          <a:latin typeface="宋体" panose="02010600030101010101" pitchFamily="2" charset="-122"/>
                          <a:ea typeface="宋体" panose="02010600030101010101" pitchFamily="2" charset="-122"/>
                          <a:cs typeface="宋体" panose="02010600030101010101" pitchFamily="2" charset="-122"/>
                        </a:rPr>
                        <a:t>最低地址</a:t>
                      </a:r>
                    </a:p>
                  </a:txBody>
                  <a:tcPr marL="0" marR="0" marT="0" marB="1" anchor="ctr">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zh-CN" altLang="en-US" sz="1600" b="0" u="none">
                          <a:latin typeface="宋体" panose="02010600030101010101" pitchFamily="2" charset="-122"/>
                          <a:ea typeface="宋体" panose="02010600030101010101" pitchFamily="2" charset="-122"/>
                          <a:cs typeface="宋体" panose="02010600030101010101" pitchFamily="2" charset="-122"/>
                        </a:rPr>
                        <a:t>最高地址</a:t>
                      </a:r>
                    </a:p>
                  </a:txBody>
                  <a:tcPr marL="0" marR="0" marT="0" marB="1" anchor="ctr">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vMerge="1">
                  <a:txBody>
                    <a:bodyPr/>
                    <a:lstStyle/>
                    <a:p>
                      <a:endParaRPr lang="zh-CN"/>
                    </a:p>
                  </a:txBody>
                  <a:tcPr>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B w="6350" cap="flat" cmpd="sng">
                      <a:solidFill>
                        <a:srgbClr val="080000"/>
                      </a:solidFill>
                      <a:prstDash val="solid"/>
                      <a:headEnd type="none" w="med" len="med"/>
                      <a:tailEnd type="none" w="med" len="med"/>
                    </a:lnB>
                  </a:tcPr>
                </a:tc>
                <a:extLst>
                  <a:ext uri="{0D108BD9-81ED-4DB2-BD59-A6C34878D82A}">
                    <a16:rowId xmlns:a16="http://schemas.microsoft.com/office/drawing/2014/main" val="10001"/>
                  </a:ext>
                </a:extLst>
              </a:tr>
              <a:tr h="423545">
                <a:tc>
                  <a:txBody>
                    <a:bodyPr/>
                    <a:lstStyle/>
                    <a:p>
                      <a:pPr marL="0" indent="0" algn="ctr">
                        <a:buNone/>
                      </a:pPr>
                      <a:r>
                        <a:rPr lang="en-US" altLang="zh-CN" sz="1600" b="0" u="none">
                          <a:latin typeface="Times New Roman" panose="02020603050405020304" pitchFamily="18" charset="0"/>
                          <a:ea typeface="Times New Roman" panose="02020603050405020304" pitchFamily="18" charset="0"/>
                          <a:cs typeface="Times New Roman" panose="02020603050405020304" pitchFamily="18" charset="0"/>
                        </a:rPr>
                        <a:t>2716</a:t>
                      </a:r>
                      <a:r>
                        <a:rPr lang="en-US" altLang="zh-CN" sz="1600" b="0" u="none">
                          <a:latin typeface="宋体" panose="02010600030101010101" pitchFamily="2" charset="-122"/>
                          <a:ea typeface="宋体" panose="02010600030101010101" pitchFamily="2" charset="-122"/>
                          <a:cs typeface="宋体" panose="02010600030101010101" pitchFamily="2" charset="-122"/>
                        </a:rPr>
                        <a:t>Ⅰ</a:t>
                      </a:r>
                      <a:endParaRPr lang="en-US" altLang="zh-CN" sz="16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anchor="ctr">
                    <a:lnL w="9525" cap="flat" cmpd="sng">
                      <a:solidFill>
                        <a:srgbClr val="00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no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Times New Roman" panose="02020603050405020304" pitchFamily="18" charset="0"/>
                          <a:ea typeface="Times New Roman" panose="02020603050405020304" pitchFamily="18" charset="0"/>
                          <a:cs typeface="Times New Roman" panose="02020603050405020304" pitchFamily="18" charset="0"/>
                        </a:rPr>
                        <a:t>0  0</a:t>
                      </a:r>
                    </a:p>
                  </a:txBody>
                  <a:tcPr marL="0" marR="0" marT="0" marB="1" anchor="ctr">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no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Times New Roman" panose="02020603050405020304" pitchFamily="18" charset="0"/>
                          <a:ea typeface="Times New Roman" panose="02020603050405020304" pitchFamily="18" charset="0"/>
                          <a:cs typeface="Times New Roman" panose="02020603050405020304" pitchFamily="18" charset="0"/>
                        </a:rPr>
                        <a:t>0 0 0</a:t>
                      </a:r>
                    </a:p>
                  </a:txBody>
                  <a:tcPr marL="0" marR="0" marT="0" marB="1" anchor="ctr">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no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Times New Roman" panose="02020603050405020304" pitchFamily="18" charset="0"/>
                          <a:ea typeface="Times New Roman" panose="02020603050405020304" pitchFamily="18" charset="0"/>
                          <a:cs typeface="Times New Roman" panose="02020603050405020304" pitchFamily="18" charset="0"/>
                        </a:rPr>
                        <a:t>0/1</a:t>
                      </a:r>
                    </a:p>
                  </a:txBody>
                  <a:tcPr marL="0" marR="0" marT="0" marB="1" anchor="ctr">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no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Times New Roman" panose="02020603050405020304" pitchFamily="18" charset="0"/>
                          <a:ea typeface="Times New Roman" panose="02020603050405020304" pitchFamily="18" charset="0"/>
                          <a:cs typeface="Times New Roman" panose="02020603050405020304" pitchFamily="18" charset="0"/>
                        </a:rPr>
                        <a:t>0000000000</a:t>
                      </a:r>
                    </a:p>
                  </a:txBody>
                  <a:tcPr marL="0" marR="0" marT="0" marB="1" anchor="ctr">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Times New Roman" panose="02020603050405020304" pitchFamily="18" charset="0"/>
                          <a:ea typeface="Times New Roman" panose="02020603050405020304" pitchFamily="18" charset="0"/>
                          <a:cs typeface="Times New Roman" panose="02020603050405020304" pitchFamily="18" charset="0"/>
                        </a:rPr>
                        <a:t>1111111111</a:t>
                      </a:r>
                    </a:p>
                  </a:txBody>
                  <a:tcPr marL="0" marR="0" marT="0" marB="1" anchor="ctr">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Times New Roman" panose="02020603050405020304" pitchFamily="18" charset="0"/>
                          <a:ea typeface="Times New Roman" panose="02020603050405020304" pitchFamily="18" charset="0"/>
                          <a:cs typeface="Times New Roman" panose="02020603050405020304" pitchFamily="18" charset="0"/>
                        </a:rPr>
                        <a:t>0000H</a:t>
                      </a:r>
                      <a:r>
                        <a:rPr lang="zh-CN" altLang="en-US" sz="1600" b="0" u="none">
                          <a:latin typeface="Times New Roman" panose="02020603050405020304" pitchFamily="18" charset="0"/>
                          <a:ea typeface="Times New Roman" panose="02020603050405020304" pitchFamily="18" charset="0"/>
                          <a:cs typeface="Times New Roman" panose="02020603050405020304" pitchFamily="18" charset="0"/>
                        </a:rPr>
                        <a:t>～</a:t>
                      </a:r>
                      <a:r>
                        <a:rPr lang="en-US" altLang="zh-CN" sz="1600" b="0" u="none">
                          <a:latin typeface="Times New Roman" panose="02020603050405020304" pitchFamily="18" charset="0"/>
                          <a:ea typeface="Times New Roman" panose="02020603050405020304" pitchFamily="18" charset="0"/>
                          <a:cs typeface="Times New Roman" panose="02020603050405020304" pitchFamily="18" charset="0"/>
                        </a:rPr>
                        <a:t>07FFH</a:t>
                      </a:r>
                      <a:r>
                        <a:rPr lang="zh-CN" altLang="en-US" sz="1600" b="0" u="none">
                          <a:latin typeface="Times New Roman" panose="02020603050405020304" pitchFamily="18" charset="0"/>
                          <a:ea typeface="Times New Roman" panose="02020603050405020304" pitchFamily="18" charset="0"/>
                          <a:cs typeface="Times New Roman" panose="02020603050405020304" pitchFamily="18" charset="0"/>
                        </a:rPr>
                        <a:t>～</a:t>
                      </a:r>
                      <a:r>
                        <a:rPr lang="en-US" altLang="zh-CN" sz="1600" b="0" u="none">
                          <a:latin typeface="Times New Roman" panose="02020603050405020304" pitchFamily="18" charset="0"/>
                          <a:ea typeface="Times New Roman" panose="02020603050405020304" pitchFamily="18" charset="0"/>
                          <a:cs typeface="Times New Roman" panose="02020603050405020304" pitchFamily="18" charset="0"/>
                        </a:rPr>
                        <a:t>07FFH</a:t>
                      </a:r>
                    </a:p>
                  </a:txBody>
                  <a:tcPr marL="0" marR="0" marT="0" marB="1" anchor="ctr">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no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22275">
                <a:tc>
                  <a:txBody>
                    <a:bodyPr/>
                    <a:lstStyle/>
                    <a:p>
                      <a:pPr marL="0" indent="0" algn="ctr">
                        <a:buNone/>
                      </a:pPr>
                      <a:r>
                        <a:rPr lang="en-US" altLang="zh-CN" sz="1600" b="0" u="none">
                          <a:latin typeface="Times New Roman" panose="02020603050405020304" pitchFamily="18" charset="0"/>
                          <a:ea typeface="Times New Roman" panose="02020603050405020304" pitchFamily="18" charset="0"/>
                          <a:cs typeface="Times New Roman" panose="02020603050405020304" pitchFamily="18" charset="0"/>
                        </a:rPr>
                        <a:t>2716</a:t>
                      </a:r>
                      <a:r>
                        <a:rPr lang="en-US" altLang="zh-CN" sz="1600" b="0" u="none">
                          <a:latin typeface="宋体" panose="02010600030101010101" pitchFamily="2" charset="-122"/>
                          <a:ea typeface="宋体" panose="02010600030101010101" pitchFamily="2" charset="-122"/>
                          <a:cs typeface="宋体" panose="02010600030101010101" pitchFamily="2" charset="-122"/>
                        </a:rPr>
                        <a:t>Ⅱ</a:t>
                      </a:r>
                      <a:endParaRPr lang="en-US" altLang="zh-CN" sz="16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anchor="ctr">
                    <a:lnL w="9525" cap="flat" cmpd="sng">
                      <a:solidFill>
                        <a:srgbClr val="00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Times New Roman" panose="02020603050405020304" pitchFamily="18" charset="0"/>
                          <a:ea typeface="Times New Roman" panose="02020603050405020304" pitchFamily="18" charset="0"/>
                          <a:cs typeface="Times New Roman" panose="02020603050405020304" pitchFamily="18" charset="0"/>
                        </a:rPr>
                        <a:t>0  0</a:t>
                      </a:r>
                    </a:p>
                  </a:txBody>
                  <a:tcPr marL="0" marR="0" marT="0" marB="1" anchor="ctr">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Times New Roman" panose="02020603050405020304" pitchFamily="18" charset="0"/>
                          <a:ea typeface="Times New Roman" panose="02020603050405020304" pitchFamily="18" charset="0"/>
                          <a:cs typeface="Times New Roman" panose="02020603050405020304" pitchFamily="18" charset="0"/>
                        </a:rPr>
                        <a:t>0 0 1</a:t>
                      </a:r>
                    </a:p>
                  </a:txBody>
                  <a:tcPr marL="0" marR="0" marT="0" marB="1" anchor="ctr">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Times New Roman" panose="02020603050405020304" pitchFamily="18" charset="0"/>
                          <a:ea typeface="Times New Roman" panose="02020603050405020304" pitchFamily="18" charset="0"/>
                          <a:cs typeface="Times New Roman" panose="02020603050405020304" pitchFamily="18" charset="0"/>
                        </a:rPr>
                        <a:t>0/1</a:t>
                      </a:r>
                    </a:p>
                  </a:txBody>
                  <a:tcPr marL="0" marR="0" marT="0" marB="1" anchor="ctr">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Times New Roman" panose="02020603050405020304" pitchFamily="18" charset="0"/>
                          <a:ea typeface="Times New Roman" panose="02020603050405020304" pitchFamily="18" charset="0"/>
                          <a:cs typeface="Times New Roman" panose="02020603050405020304" pitchFamily="18" charset="0"/>
                        </a:rPr>
                        <a:t>0000000000</a:t>
                      </a:r>
                    </a:p>
                  </a:txBody>
                  <a:tcPr marL="0" marR="0" marT="0" marB="1" anchor="ctr">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Times New Roman" panose="02020603050405020304" pitchFamily="18" charset="0"/>
                          <a:ea typeface="Times New Roman" panose="02020603050405020304" pitchFamily="18" charset="0"/>
                          <a:cs typeface="Times New Roman" panose="02020603050405020304" pitchFamily="18" charset="0"/>
                        </a:rPr>
                        <a:t>1111111111</a:t>
                      </a:r>
                    </a:p>
                  </a:txBody>
                  <a:tcPr marL="0" marR="0" marT="0" marB="1" anchor="ctr">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Times New Roman" panose="02020603050405020304" pitchFamily="18" charset="0"/>
                          <a:ea typeface="Times New Roman" panose="02020603050405020304" pitchFamily="18" charset="0"/>
                          <a:cs typeface="Times New Roman" panose="02020603050405020304" pitchFamily="18" charset="0"/>
                        </a:rPr>
                        <a:t>0800H</a:t>
                      </a:r>
                      <a:r>
                        <a:rPr lang="zh-CN" altLang="en-US" sz="1600" b="0" u="none">
                          <a:latin typeface="Times New Roman" panose="02020603050405020304" pitchFamily="18" charset="0"/>
                          <a:ea typeface="Times New Roman" panose="02020603050405020304" pitchFamily="18" charset="0"/>
                          <a:cs typeface="Times New Roman" panose="02020603050405020304" pitchFamily="18" charset="0"/>
                        </a:rPr>
                        <a:t>～</a:t>
                      </a:r>
                      <a:r>
                        <a:rPr lang="en-US" altLang="zh-CN" sz="1600" b="0" u="none">
                          <a:latin typeface="Times New Roman" panose="02020603050405020304" pitchFamily="18" charset="0"/>
                          <a:ea typeface="Times New Roman" panose="02020603050405020304" pitchFamily="18" charset="0"/>
                          <a:cs typeface="Times New Roman" panose="02020603050405020304" pitchFamily="18" charset="0"/>
                        </a:rPr>
                        <a:t>0FFFH</a:t>
                      </a:r>
                      <a:r>
                        <a:rPr lang="zh-CN" altLang="en-US" sz="1600" b="0" u="none">
                          <a:latin typeface="Times New Roman" panose="02020603050405020304" pitchFamily="18" charset="0"/>
                          <a:ea typeface="Times New Roman" panose="02020603050405020304" pitchFamily="18" charset="0"/>
                          <a:cs typeface="Times New Roman" panose="02020603050405020304" pitchFamily="18" charset="0"/>
                        </a:rPr>
                        <a:t>～</a:t>
                      </a:r>
                      <a:r>
                        <a:rPr lang="en-US" altLang="zh-CN" sz="1600" b="0" u="none">
                          <a:latin typeface="Times New Roman" panose="02020603050405020304" pitchFamily="18" charset="0"/>
                          <a:ea typeface="Times New Roman" panose="02020603050405020304" pitchFamily="18" charset="0"/>
                          <a:cs typeface="Times New Roman" panose="02020603050405020304" pitchFamily="18" charset="0"/>
                        </a:rPr>
                        <a:t>0FFFH</a:t>
                      </a:r>
                    </a:p>
                  </a:txBody>
                  <a:tcPr marL="0" marR="0" marT="0" marB="1" anchor="ctr">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23545">
                <a:tc>
                  <a:txBody>
                    <a:bodyPr/>
                    <a:lstStyle/>
                    <a:p>
                      <a:pPr marL="0" indent="0" algn="ctr">
                        <a:buNone/>
                      </a:pPr>
                      <a:r>
                        <a:rPr lang="en-US" altLang="zh-CN" sz="1600" b="0" u="none">
                          <a:latin typeface="Times New Roman" panose="02020603050405020304" pitchFamily="18" charset="0"/>
                          <a:ea typeface="Times New Roman" panose="02020603050405020304" pitchFamily="18" charset="0"/>
                          <a:cs typeface="Times New Roman" panose="02020603050405020304" pitchFamily="18" charset="0"/>
                        </a:rPr>
                        <a:t>2716</a:t>
                      </a:r>
                      <a:r>
                        <a:rPr lang="en-US" altLang="zh-CN" sz="1600" b="0" u="none">
                          <a:latin typeface="宋体" panose="02010600030101010101" pitchFamily="2" charset="-122"/>
                          <a:ea typeface="宋体" panose="02010600030101010101" pitchFamily="2" charset="-122"/>
                          <a:cs typeface="宋体" panose="02010600030101010101" pitchFamily="2" charset="-122"/>
                        </a:rPr>
                        <a:t>Ⅲ</a:t>
                      </a:r>
                      <a:endParaRPr lang="en-US" altLang="zh-CN" sz="16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anchor="ctr">
                    <a:lnL w="9525" cap="flat" cmpd="sng">
                      <a:solidFill>
                        <a:srgbClr val="00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Times New Roman" panose="02020603050405020304" pitchFamily="18" charset="0"/>
                          <a:ea typeface="Times New Roman" panose="02020603050405020304" pitchFamily="18" charset="0"/>
                          <a:cs typeface="Times New Roman" panose="02020603050405020304" pitchFamily="18" charset="0"/>
                        </a:rPr>
                        <a:t>0  0</a:t>
                      </a:r>
                    </a:p>
                  </a:txBody>
                  <a:tcPr marL="0" marR="0" marT="0" marB="1" anchor="ctr">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Times New Roman" panose="02020603050405020304" pitchFamily="18" charset="0"/>
                          <a:ea typeface="Times New Roman" panose="02020603050405020304" pitchFamily="18" charset="0"/>
                          <a:cs typeface="Times New Roman" panose="02020603050405020304" pitchFamily="18" charset="0"/>
                        </a:rPr>
                        <a:t>0 1 0</a:t>
                      </a:r>
                    </a:p>
                  </a:txBody>
                  <a:tcPr marL="0" marR="0" marT="0" marB="1" anchor="ctr">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Times New Roman" panose="02020603050405020304" pitchFamily="18" charset="0"/>
                          <a:ea typeface="Times New Roman" panose="02020603050405020304" pitchFamily="18" charset="0"/>
                          <a:cs typeface="Times New Roman" panose="02020603050405020304" pitchFamily="18" charset="0"/>
                        </a:rPr>
                        <a:t>0/1</a:t>
                      </a:r>
                    </a:p>
                  </a:txBody>
                  <a:tcPr marL="0" marR="0" marT="0" marB="1" anchor="ctr">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Times New Roman" panose="02020603050405020304" pitchFamily="18" charset="0"/>
                          <a:ea typeface="Times New Roman" panose="02020603050405020304" pitchFamily="18" charset="0"/>
                          <a:cs typeface="Times New Roman" panose="02020603050405020304" pitchFamily="18" charset="0"/>
                        </a:rPr>
                        <a:t>0000000000</a:t>
                      </a:r>
                    </a:p>
                  </a:txBody>
                  <a:tcPr marL="0" marR="0" marT="0" marB="1" anchor="ctr">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Times New Roman" panose="02020603050405020304" pitchFamily="18" charset="0"/>
                          <a:ea typeface="Times New Roman" panose="02020603050405020304" pitchFamily="18" charset="0"/>
                          <a:cs typeface="Times New Roman" panose="02020603050405020304" pitchFamily="18" charset="0"/>
                        </a:rPr>
                        <a:t>1111111111</a:t>
                      </a:r>
                    </a:p>
                  </a:txBody>
                  <a:tcPr marL="0" marR="0" marT="0" marB="1" anchor="ctr">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Times New Roman" panose="02020603050405020304" pitchFamily="18" charset="0"/>
                          <a:ea typeface="Times New Roman" panose="02020603050405020304" pitchFamily="18" charset="0"/>
                          <a:cs typeface="Times New Roman" panose="02020603050405020304" pitchFamily="18" charset="0"/>
                        </a:rPr>
                        <a:t>1000H</a:t>
                      </a:r>
                      <a:r>
                        <a:rPr lang="zh-CN" altLang="en-US" sz="1600" b="0" u="none">
                          <a:latin typeface="Times New Roman" panose="02020603050405020304" pitchFamily="18" charset="0"/>
                          <a:ea typeface="Times New Roman" panose="02020603050405020304" pitchFamily="18" charset="0"/>
                          <a:cs typeface="Times New Roman" panose="02020603050405020304" pitchFamily="18" charset="0"/>
                        </a:rPr>
                        <a:t>～</a:t>
                      </a:r>
                      <a:r>
                        <a:rPr lang="en-US" altLang="zh-CN" sz="1600" b="0" u="none">
                          <a:latin typeface="Times New Roman" panose="02020603050405020304" pitchFamily="18" charset="0"/>
                          <a:ea typeface="Times New Roman" panose="02020603050405020304" pitchFamily="18" charset="0"/>
                          <a:cs typeface="Times New Roman" panose="02020603050405020304" pitchFamily="18" charset="0"/>
                        </a:rPr>
                        <a:t>17FFH</a:t>
                      </a:r>
                      <a:r>
                        <a:rPr lang="zh-CN" altLang="en-US" sz="1600" b="0" u="none">
                          <a:latin typeface="Times New Roman" panose="02020603050405020304" pitchFamily="18" charset="0"/>
                          <a:ea typeface="Times New Roman" panose="02020603050405020304" pitchFamily="18" charset="0"/>
                          <a:cs typeface="Times New Roman" panose="02020603050405020304" pitchFamily="18" charset="0"/>
                        </a:rPr>
                        <a:t>～</a:t>
                      </a:r>
                      <a:r>
                        <a:rPr lang="en-US" altLang="zh-CN" sz="1600" b="0" u="none">
                          <a:latin typeface="Times New Roman" panose="02020603050405020304" pitchFamily="18" charset="0"/>
                          <a:ea typeface="Times New Roman" panose="02020603050405020304" pitchFamily="18" charset="0"/>
                          <a:cs typeface="Times New Roman" panose="02020603050405020304" pitchFamily="18" charset="0"/>
                        </a:rPr>
                        <a:t>17FFH</a:t>
                      </a:r>
                    </a:p>
                  </a:txBody>
                  <a:tcPr marL="0" marR="0" marT="0" marB="1" anchor="ctr">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23545">
                <a:tc>
                  <a:txBody>
                    <a:bodyPr/>
                    <a:lstStyle/>
                    <a:p>
                      <a:pPr marL="0" indent="0" algn="ctr">
                        <a:buNone/>
                      </a:pPr>
                      <a:r>
                        <a:rPr lang="en-US" altLang="zh-CN" sz="1600" b="0" u="none">
                          <a:latin typeface="Times New Roman" panose="02020603050405020304" pitchFamily="18" charset="0"/>
                          <a:ea typeface="Times New Roman" panose="02020603050405020304" pitchFamily="18" charset="0"/>
                          <a:cs typeface="Times New Roman" panose="02020603050405020304" pitchFamily="18" charset="0"/>
                        </a:rPr>
                        <a:t>2716</a:t>
                      </a:r>
                      <a:r>
                        <a:rPr lang="en-US" altLang="zh-CN" sz="1600" b="0" u="none">
                          <a:latin typeface="宋体" panose="02010600030101010101" pitchFamily="2" charset="-122"/>
                          <a:ea typeface="宋体" panose="02010600030101010101" pitchFamily="2" charset="-122"/>
                          <a:cs typeface="宋体" panose="02010600030101010101" pitchFamily="2" charset="-122"/>
                        </a:rPr>
                        <a:t>Ⅳ</a:t>
                      </a:r>
                      <a:endParaRPr lang="en-US" altLang="zh-CN" sz="16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anchor="ctr">
                    <a:lnL w="9525" cap="flat" cmpd="sng">
                      <a:solidFill>
                        <a:srgbClr val="00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Times New Roman" panose="02020603050405020304" pitchFamily="18" charset="0"/>
                          <a:ea typeface="Times New Roman" panose="02020603050405020304" pitchFamily="18" charset="0"/>
                          <a:cs typeface="Times New Roman" panose="02020603050405020304" pitchFamily="18" charset="0"/>
                        </a:rPr>
                        <a:t>0  0</a:t>
                      </a:r>
                    </a:p>
                  </a:txBody>
                  <a:tcPr marL="0" marR="0" marT="0" marB="1" anchor="ctr">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Times New Roman" panose="02020603050405020304" pitchFamily="18" charset="0"/>
                          <a:ea typeface="Times New Roman" panose="02020603050405020304" pitchFamily="18" charset="0"/>
                          <a:cs typeface="Times New Roman" panose="02020603050405020304" pitchFamily="18" charset="0"/>
                        </a:rPr>
                        <a:t>0 1 1</a:t>
                      </a:r>
                    </a:p>
                  </a:txBody>
                  <a:tcPr marL="0" marR="0" marT="0" marB="1" anchor="ctr">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Times New Roman" panose="02020603050405020304" pitchFamily="18" charset="0"/>
                          <a:ea typeface="Times New Roman" panose="02020603050405020304" pitchFamily="18" charset="0"/>
                          <a:cs typeface="Times New Roman" panose="02020603050405020304" pitchFamily="18" charset="0"/>
                        </a:rPr>
                        <a:t>0/1</a:t>
                      </a:r>
                    </a:p>
                  </a:txBody>
                  <a:tcPr marL="0" marR="0" marT="0" marB="1" anchor="ctr">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Times New Roman" panose="02020603050405020304" pitchFamily="18" charset="0"/>
                          <a:ea typeface="Times New Roman" panose="02020603050405020304" pitchFamily="18" charset="0"/>
                          <a:cs typeface="Times New Roman" panose="02020603050405020304" pitchFamily="18" charset="0"/>
                        </a:rPr>
                        <a:t>0000000000</a:t>
                      </a:r>
                    </a:p>
                  </a:txBody>
                  <a:tcPr marL="0" marR="0" marT="0" marB="1" anchor="ctr">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Times New Roman" panose="02020603050405020304" pitchFamily="18" charset="0"/>
                          <a:ea typeface="Times New Roman" panose="02020603050405020304" pitchFamily="18" charset="0"/>
                          <a:cs typeface="Times New Roman" panose="02020603050405020304" pitchFamily="18" charset="0"/>
                        </a:rPr>
                        <a:t>1111111111</a:t>
                      </a:r>
                    </a:p>
                  </a:txBody>
                  <a:tcPr marL="0" marR="0" marT="0" marB="1" anchor="ctr">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Times New Roman" panose="02020603050405020304" pitchFamily="18" charset="0"/>
                          <a:ea typeface="Times New Roman" panose="02020603050405020304" pitchFamily="18" charset="0"/>
                          <a:cs typeface="Times New Roman" panose="02020603050405020304" pitchFamily="18" charset="0"/>
                        </a:rPr>
                        <a:t>1800H</a:t>
                      </a:r>
                      <a:r>
                        <a:rPr lang="zh-CN" altLang="en-US" sz="1600" b="0" u="none">
                          <a:latin typeface="Times New Roman" panose="02020603050405020304" pitchFamily="18" charset="0"/>
                          <a:ea typeface="Times New Roman" panose="02020603050405020304" pitchFamily="18" charset="0"/>
                          <a:cs typeface="Times New Roman" panose="02020603050405020304" pitchFamily="18" charset="0"/>
                        </a:rPr>
                        <a:t>～</a:t>
                      </a:r>
                      <a:r>
                        <a:rPr lang="en-US" altLang="zh-CN" sz="1600" b="0" u="none">
                          <a:latin typeface="Times New Roman" panose="02020603050405020304" pitchFamily="18" charset="0"/>
                          <a:ea typeface="Times New Roman" panose="02020603050405020304" pitchFamily="18" charset="0"/>
                          <a:cs typeface="Times New Roman" panose="02020603050405020304" pitchFamily="18" charset="0"/>
                        </a:rPr>
                        <a:t>1FFFH</a:t>
                      </a:r>
                      <a:r>
                        <a:rPr lang="zh-CN" altLang="en-US" sz="1600" b="0" u="none">
                          <a:latin typeface="Times New Roman" panose="02020603050405020304" pitchFamily="18" charset="0"/>
                          <a:ea typeface="Times New Roman" panose="02020603050405020304" pitchFamily="18" charset="0"/>
                          <a:cs typeface="Times New Roman" panose="02020603050405020304" pitchFamily="18" charset="0"/>
                        </a:rPr>
                        <a:t>～</a:t>
                      </a:r>
                      <a:r>
                        <a:rPr lang="en-US" altLang="zh-CN" sz="1600" b="0" u="none">
                          <a:latin typeface="Times New Roman" panose="02020603050405020304" pitchFamily="18" charset="0"/>
                          <a:ea typeface="Times New Roman" panose="02020603050405020304" pitchFamily="18" charset="0"/>
                          <a:cs typeface="Times New Roman" panose="02020603050405020304" pitchFamily="18" charset="0"/>
                        </a:rPr>
                        <a:t>1FFFH</a:t>
                      </a:r>
                    </a:p>
                  </a:txBody>
                  <a:tcPr marL="0" marR="0" marT="0" marB="1" anchor="ctr">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22275">
                <a:tc>
                  <a:txBody>
                    <a:bodyPr/>
                    <a:lstStyle/>
                    <a:p>
                      <a:pPr marL="0" indent="0" algn="ctr">
                        <a:buNone/>
                      </a:pPr>
                      <a:r>
                        <a:rPr lang="en-US" altLang="zh-CN" sz="1600" b="0" u="none">
                          <a:latin typeface="Times New Roman" panose="02020603050405020304" pitchFamily="18" charset="0"/>
                          <a:ea typeface="Times New Roman" panose="02020603050405020304" pitchFamily="18" charset="0"/>
                          <a:cs typeface="Times New Roman" panose="02020603050405020304" pitchFamily="18" charset="0"/>
                        </a:rPr>
                        <a:t>2114</a:t>
                      </a:r>
                      <a:r>
                        <a:rPr lang="en-US" altLang="zh-CN" sz="1600" b="0" u="none">
                          <a:latin typeface="宋体" panose="02010600030101010101" pitchFamily="2" charset="-122"/>
                          <a:ea typeface="宋体" panose="02010600030101010101" pitchFamily="2" charset="-122"/>
                          <a:cs typeface="宋体" panose="02010600030101010101" pitchFamily="2" charset="-122"/>
                        </a:rPr>
                        <a:t>Ⅰ</a:t>
                      </a:r>
                      <a:endParaRPr lang="en-US" altLang="zh-CN" sz="16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anchor="ctr">
                    <a:lnL w="9525" cap="flat" cmpd="sng">
                      <a:solidFill>
                        <a:srgbClr val="00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Times New Roman" panose="02020603050405020304" pitchFamily="18" charset="0"/>
                          <a:ea typeface="Times New Roman" panose="02020603050405020304" pitchFamily="18" charset="0"/>
                          <a:cs typeface="Times New Roman" panose="02020603050405020304" pitchFamily="18" charset="0"/>
                        </a:rPr>
                        <a:t>0  0</a:t>
                      </a:r>
                    </a:p>
                  </a:txBody>
                  <a:tcPr marL="0" marR="0" marT="0" marB="1" anchor="ctr">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Times New Roman" panose="02020603050405020304" pitchFamily="18" charset="0"/>
                          <a:ea typeface="Times New Roman" panose="02020603050405020304" pitchFamily="18" charset="0"/>
                          <a:cs typeface="Times New Roman" panose="02020603050405020304" pitchFamily="18" charset="0"/>
                        </a:rPr>
                        <a:t>1 0 0</a:t>
                      </a:r>
                    </a:p>
                  </a:txBody>
                  <a:tcPr marL="0" marR="0" marT="0" marB="1" anchor="ctr">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Times New Roman" panose="02020603050405020304" pitchFamily="18" charset="0"/>
                          <a:ea typeface="Times New Roman" panose="02020603050405020304" pitchFamily="18" charset="0"/>
                          <a:cs typeface="Times New Roman" panose="02020603050405020304" pitchFamily="18" charset="0"/>
                        </a:rPr>
                        <a:t>0</a:t>
                      </a:r>
                    </a:p>
                  </a:txBody>
                  <a:tcPr marL="0" marR="0" marT="0" marB="1" anchor="ctr">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Times New Roman" panose="02020603050405020304" pitchFamily="18" charset="0"/>
                          <a:ea typeface="Times New Roman" panose="02020603050405020304" pitchFamily="18" charset="0"/>
                          <a:cs typeface="Times New Roman" panose="02020603050405020304" pitchFamily="18" charset="0"/>
                        </a:rPr>
                        <a:t>0000000000</a:t>
                      </a:r>
                    </a:p>
                  </a:txBody>
                  <a:tcPr marL="0" marR="0" marT="0" marB="1" anchor="ctr">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Times New Roman" panose="02020603050405020304" pitchFamily="18" charset="0"/>
                          <a:ea typeface="Times New Roman" panose="02020603050405020304" pitchFamily="18" charset="0"/>
                          <a:cs typeface="Times New Roman" panose="02020603050405020304" pitchFamily="18" charset="0"/>
                        </a:rPr>
                        <a:t>1111111111</a:t>
                      </a:r>
                    </a:p>
                  </a:txBody>
                  <a:tcPr marL="0" marR="0" marT="0" marB="1" anchor="ctr">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Times New Roman" panose="02020603050405020304" pitchFamily="18" charset="0"/>
                          <a:ea typeface="Times New Roman" panose="02020603050405020304" pitchFamily="18" charset="0"/>
                          <a:cs typeface="Times New Roman" panose="02020603050405020304" pitchFamily="18" charset="0"/>
                        </a:rPr>
                        <a:t>2000H</a:t>
                      </a:r>
                      <a:r>
                        <a:rPr lang="zh-CN" altLang="en-US" sz="1600" b="0" u="none">
                          <a:latin typeface="Times New Roman" panose="02020603050405020304" pitchFamily="18" charset="0"/>
                          <a:ea typeface="Times New Roman" panose="02020603050405020304" pitchFamily="18" charset="0"/>
                          <a:cs typeface="Times New Roman" panose="02020603050405020304" pitchFamily="18" charset="0"/>
                        </a:rPr>
                        <a:t>～</a:t>
                      </a:r>
                      <a:r>
                        <a:rPr lang="en-US" altLang="zh-CN" sz="1600" b="0" u="none">
                          <a:latin typeface="Times New Roman" panose="02020603050405020304" pitchFamily="18" charset="0"/>
                          <a:ea typeface="Times New Roman" panose="02020603050405020304" pitchFamily="18" charset="0"/>
                          <a:cs typeface="Times New Roman" panose="02020603050405020304" pitchFamily="18" charset="0"/>
                        </a:rPr>
                        <a:t>23FFH</a:t>
                      </a:r>
                      <a:r>
                        <a:rPr lang="zh-CN" altLang="en-US" sz="1600" b="0" u="none">
                          <a:latin typeface="Times New Roman" panose="02020603050405020304" pitchFamily="18" charset="0"/>
                          <a:ea typeface="Times New Roman" panose="02020603050405020304" pitchFamily="18" charset="0"/>
                          <a:cs typeface="Times New Roman" panose="02020603050405020304" pitchFamily="18" charset="0"/>
                        </a:rPr>
                        <a:t>～</a:t>
                      </a:r>
                      <a:r>
                        <a:rPr lang="en-US" altLang="zh-CN" sz="1600" b="0" u="none">
                          <a:latin typeface="Times New Roman" panose="02020603050405020304" pitchFamily="18" charset="0"/>
                          <a:ea typeface="Times New Roman" panose="02020603050405020304" pitchFamily="18" charset="0"/>
                          <a:cs typeface="Times New Roman" panose="02020603050405020304" pitchFamily="18" charset="0"/>
                        </a:rPr>
                        <a:t>23FFH</a:t>
                      </a:r>
                    </a:p>
                  </a:txBody>
                  <a:tcPr marL="0" marR="0" marT="0" marB="1" anchor="ctr">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23545">
                <a:tc>
                  <a:txBody>
                    <a:bodyPr/>
                    <a:lstStyle/>
                    <a:p>
                      <a:pPr marL="0" indent="0" algn="ctr">
                        <a:buNone/>
                      </a:pPr>
                      <a:r>
                        <a:rPr lang="en-US" altLang="zh-CN" sz="1600" b="0" u="none">
                          <a:latin typeface="Times New Roman" panose="02020603050405020304" pitchFamily="18" charset="0"/>
                          <a:ea typeface="Times New Roman" panose="02020603050405020304" pitchFamily="18" charset="0"/>
                          <a:cs typeface="Times New Roman" panose="02020603050405020304" pitchFamily="18" charset="0"/>
                        </a:rPr>
                        <a:t>2114</a:t>
                      </a:r>
                      <a:r>
                        <a:rPr lang="en-US" altLang="zh-CN" sz="1600" b="0" u="none">
                          <a:latin typeface="宋体" panose="02010600030101010101" pitchFamily="2" charset="-122"/>
                          <a:ea typeface="宋体" panose="02010600030101010101" pitchFamily="2" charset="-122"/>
                          <a:cs typeface="宋体" panose="02010600030101010101" pitchFamily="2" charset="-122"/>
                        </a:rPr>
                        <a:t>Ⅱ</a:t>
                      </a:r>
                      <a:endParaRPr lang="en-US" altLang="zh-CN" sz="16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anchor="ctr">
                    <a:lnL w="9525" cap="flat" cmpd="sng">
                      <a:solidFill>
                        <a:srgbClr val="00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Times New Roman" panose="02020603050405020304" pitchFamily="18" charset="0"/>
                          <a:ea typeface="Times New Roman" panose="02020603050405020304" pitchFamily="18" charset="0"/>
                          <a:cs typeface="Times New Roman" panose="02020603050405020304" pitchFamily="18" charset="0"/>
                        </a:rPr>
                        <a:t>0  0</a:t>
                      </a:r>
                    </a:p>
                  </a:txBody>
                  <a:tcPr marL="0" marR="0" marT="0" marB="1" anchor="ctr">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Times New Roman" panose="02020603050405020304" pitchFamily="18" charset="0"/>
                          <a:ea typeface="Times New Roman" panose="02020603050405020304" pitchFamily="18" charset="0"/>
                          <a:cs typeface="Times New Roman" panose="02020603050405020304" pitchFamily="18" charset="0"/>
                        </a:rPr>
                        <a:t>1 0 0</a:t>
                      </a:r>
                    </a:p>
                  </a:txBody>
                  <a:tcPr marL="0" marR="0" marT="0" marB="1" anchor="ctr">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Times New Roman" panose="02020603050405020304" pitchFamily="18" charset="0"/>
                          <a:ea typeface="Times New Roman" panose="02020603050405020304" pitchFamily="18" charset="0"/>
                          <a:cs typeface="Times New Roman" panose="02020603050405020304" pitchFamily="18" charset="0"/>
                        </a:rPr>
                        <a:t>1</a:t>
                      </a:r>
                    </a:p>
                  </a:txBody>
                  <a:tcPr marL="0" marR="0" marT="0" marB="1" anchor="ctr">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Times New Roman" panose="02020603050405020304" pitchFamily="18" charset="0"/>
                          <a:ea typeface="Times New Roman" panose="02020603050405020304" pitchFamily="18" charset="0"/>
                          <a:cs typeface="Times New Roman" panose="02020603050405020304" pitchFamily="18" charset="0"/>
                        </a:rPr>
                        <a:t>0000000000</a:t>
                      </a:r>
                    </a:p>
                  </a:txBody>
                  <a:tcPr marL="0" marR="0" marT="0" marB="1" anchor="ctr">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Times New Roman" panose="02020603050405020304" pitchFamily="18" charset="0"/>
                          <a:ea typeface="Times New Roman" panose="02020603050405020304" pitchFamily="18" charset="0"/>
                          <a:cs typeface="Times New Roman" panose="02020603050405020304" pitchFamily="18" charset="0"/>
                        </a:rPr>
                        <a:t>1111111111</a:t>
                      </a:r>
                    </a:p>
                  </a:txBody>
                  <a:tcPr marL="0" marR="0" marT="0" marB="1" anchor="ctr">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Times New Roman" panose="02020603050405020304" pitchFamily="18" charset="0"/>
                          <a:ea typeface="Times New Roman" panose="02020603050405020304" pitchFamily="18" charset="0"/>
                          <a:cs typeface="Times New Roman" panose="02020603050405020304" pitchFamily="18" charset="0"/>
                        </a:rPr>
                        <a:t>2400H</a:t>
                      </a:r>
                      <a:r>
                        <a:rPr lang="zh-CN" altLang="en-US" sz="1600" b="0" u="none">
                          <a:latin typeface="Times New Roman" panose="02020603050405020304" pitchFamily="18" charset="0"/>
                          <a:ea typeface="Times New Roman" panose="02020603050405020304" pitchFamily="18" charset="0"/>
                          <a:cs typeface="Times New Roman" panose="02020603050405020304" pitchFamily="18" charset="0"/>
                        </a:rPr>
                        <a:t>～</a:t>
                      </a:r>
                      <a:r>
                        <a:rPr lang="en-US" altLang="zh-CN" sz="1600" b="0" u="none">
                          <a:latin typeface="Times New Roman" panose="02020603050405020304" pitchFamily="18" charset="0"/>
                          <a:ea typeface="Times New Roman" panose="02020603050405020304" pitchFamily="18" charset="0"/>
                          <a:cs typeface="Times New Roman" panose="02020603050405020304" pitchFamily="18" charset="0"/>
                        </a:rPr>
                        <a:t>27FFH</a:t>
                      </a:r>
                      <a:r>
                        <a:rPr lang="zh-CN" altLang="en-US" sz="1600" b="0" u="none">
                          <a:latin typeface="Times New Roman" panose="02020603050405020304" pitchFamily="18" charset="0"/>
                          <a:ea typeface="Times New Roman" panose="02020603050405020304" pitchFamily="18" charset="0"/>
                          <a:cs typeface="Times New Roman" panose="02020603050405020304" pitchFamily="18" charset="0"/>
                        </a:rPr>
                        <a:t>～</a:t>
                      </a:r>
                      <a:r>
                        <a:rPr lang="en-US" altLang="zh-CN" sz="1600" b="0" u="none">
                          <a:latin typeface="Times New Roman" panose="02020603050405020304" pitchFamily="18" charset="0"/>
                          <a:ea typeface="Times New Roman" panose="02020603050405020304" pitchFamily="18" charset="0"/>
                          <a:cs typeface="Times New Roman" panose="02020603050405020304" pitchFamily="18" charset="0"/>
                        </a:rPr>
                        <a:t>27FFH</a:t>
                      </a:r>
                    </a:p>
                  </a:txBody>
                  <a:tcPr marL="0" marR="0" marT="0" marB="1" anchor="ctr">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22275">
                <a:tc>
                  <a:txBody>
                    <a:bodyPr/>
                    <a:lstStyle/>
                    <a:p>
                      <a:pPr marL="0" indent="0" algn="ctr">
                        <a:buNone/>
                      </a:pPr>
                      <a:r>
                        <a:rPr lang="en-US" altLang="zh-CN" sz="1600" b="0" u="none">
                          <a:latin typeface="Times New Roman" panose="02020603050405020304" pitchFamily="18" charset="0"/>
                          <a:ea typeface="Times New Roman" panose="02020603050405020304" pitchFamily="18" charset="0"/>
                          <a:cs typeface="Times New Roman" panose="02020603050405020304" pitchFamily="18" charset="0"/>
                        </a:rPr>
                        <a:t>2114</a:t>
                      </a:r>
                      <a:r>
                        <a:rPr lang="en-US" altLang="zh-CN" sz="1600" b="0" u="none">
                          <a:latin typeface="宋体" panose="02010600030101010101" pitchFamily="2" charset="-122"/>
                          <a:ea typeface="宋体" panose="02010600030101010101" pitchFamily="2" charset="-122"/>
                          <a:cs typeface="宋体" panose="02010600030101010101" pitchFamily="2" charset="-122"/>
                        </a:rPr>
                        <a:t>Ⅲ</a:t>
                      </a:r>
                      <a:endParaRPr lang="en-US" altLang="zh-CN" sz="16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anchor="ctr">
                    <a:lnL w="9525" cap="flat" cmpd="sng">
                      <a:solidFill>
                        <a:srgbClr val="00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Times New Roman" panose="02020603050405020304" pitchFamily="18" charset="0"/>
                          <a:ea typeface="Times New Roman" panose="02020603050405020304" pitchFamily="18" charset="0"/>
                          <a:cs typeface="Times New Roman" panose="02020603050405020304" pitchFamily="18" charset="0"/>
                        </a:rPr>
                        <a:t>0  0</a:t>
                      </a:r>
                    </a:p>
                  </a:txBody>
                  <a:tcPr marL="0" marR="0" marT="0" marB="1" anchor="ctr">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Times New Roman" panose="02020603050405020304" pitchFamily="18" charset="0"/>
                          <a:ea typeface="Times New Roman" panose="02020603050405020304" pitchFamily="18" charset="0"/>
                          <a:cs typeface="Times New Roman" panose="02020603050405020304" pitchFamily="18" charset="0"/>
                        </a:rPr>
                        <a:t>1 0 1</a:t>
                      </a:r>
                    </a:p>
                  </a:txBody>
                  <a:tcPr marL="0" marR="0" marT="0" marB="1" anchor="ctr">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Times New Roman" panose="02020603050405020304" pitchFamily="18" charset="0"/>
                          <a:ea typeface="Times New Roman" panose="02020603050405020304" pitchFamily="18" charset="0"/>
                          <a:cs typeface="Times New Roman" panose="02020603050405020304" pitchFamily="18" charset="0"/>
                        </a:rPr>
                        <a:t>0</a:t>
                      </a:r>
                    </a:p>
                  </a:txBody>
                  <a:tcPr marL="0" marR="0" marT="0" marB="1" anchor="ctr">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Times New Roman" panose="02020603050405020304" pitchFamily="18" charset="0"/>
                          <a:ea typeface="Times New Roman" panose="02020603050405020304" pitchFamily="18" charset="0"/>
                          <a:cs typeface="Times New Roman" panose="02020603050405020304" pitchFamily="18" charset="0"/>
                        </a:rPr>
                        <a:t>0000000000</a:t>
                      </a:r>
                    </a:p>
                  </a:txBody>
                  <a:tcPr marL="0" marR="0" marT="0" marB="1" anchor="ctr">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Times New Roman" panose="02020603050405020304" pitchFamily="18" charset="0"/>
                          <a:ea typeface="Times New Roman" panose="02020603050405020304" pitchFamily="18" charset="0"/>
                          <a:cs typeface="Times New Roman" panose="02020603050405020304" pitchFamily="18" charset="0"/>
                        </a:rPr>
                        <a:t>1111111111</a:t>
                      </a:r>
                    </a:p>
                  </a:txBody>
                  <a:tcPr marL="0" marR="0" marT="0" marB="1" anchor="ctr">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Times New Roman" panose="02020603050405020304" pitchFamily="18" charset="0"/>
                          <a:ea typeface="Times New Roman" panose="02020603050405020304" pitchFamily="18" charset="0"/>
                          <a:cs typeface="Times New Roman" panose="02020603050405020304" pitchFamily="18" charset="0"/>
                        </a:rPr>
                        <a:t>2800H</a:t>
                      </a:r>
                      <a:r>
                        <a:rPr lang="zh-CN" altLang="en-US" sz="1600" b="0" u="none">
                          <a:latin typeface="Times New Roman" panose="02020603050405020304" pitchFamily="18" charset="0"/>
                          <a:ea typeface="Times New Roman" panose="02020603050405020304" pitchFamily="18" charset="0"/>
                          <a:cs typeface="Times New Roman" panose="02020603050405020304" pitchFamily="18" charset="0"/>
                        </a:rPr>
                        <a:t>～</a:t>
                      </a:r>
                      <a:r>
                        <a:rPr lang="en-US" altLang="zh-CN" sz="1600" b="0" u="none">
                          <a:latin typeface="Times New Roman" panose="02020603050405020304" pitchFamily="18" charset="0"/>
                          <a:ea typeface="Times New Roman" panose="02020603050405020304" pitchFamily="18" charset="0"/>
                          <a:cs typeface="Times New Roman" panose="02020603050405020304" pitchFamily="18" charset="0"/>
                        </a:rPr>
                        <a:t>2BFFH</a:t>
                      </a:r>
                      <a:r>
                        <a:rPr lang="zh-CN" altLang="en-US" sz="1600" b="0" u="none">
                          <a:latin typeface="Times New Roman" panose="02020603050405020304" pitchFamily="18" charset="0"/>
                          <a:ea typeface="Times New Roman" panose="02020603050405020304" pitchFamily="18" charset="0"/>
                          <a:cs typeface="Times New Roman" panose="02020603050405020304" pitchFamily="18" charset="0"/>
                        </a:rPr>
                        <a:t>～</a:t>
                      </a:r>
                      <a:r>
                        <a:rPr lang="en-US" altLang="zh-CN" sz="1600" b="0" u="none">
                          <a:latin typeface="Times New Roman" panose="02020603050405020304" pitchFamily="18" charset="0"/>
                          <a:ea typeface="Times New Roman" panose="02020603050405020304" pitchFamily="18" charset="0"/>
                          <a:cs typeface="Times New Roman" panose="02020603050405020304" pitchFamily="18" charset="0"/>
                        </a:rPr>
                        <a:t>2BFFH</a:t>
                      </a:r>
                    </a:p>
                  </a:txBody>
                  <a:tcPr marL="0" marR="0" marT="0" marB="1" anchor="ctr">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423545">
                <a:tc>
                  <a:txBody>
                    <a:bodyPr/>
                    <a:lstStyle/>
                    <a:p>
                      <a:pPr marL="0" indent="0" algn="ctr">
                        <a:buNone/>
                      </a:pPr>
                      <a:r>
                        <a:rPr lang="en-US" altLang="zh-CN" sz="1600" b="0" u="none">
                          <a:latin typeface="Times New Roman" panose="02020603050405020304" pitchFamily="18" charset="0"/>
                          <a:ea typeface="Times New Roman" panose="02020603050405020304" pitchFamily="18" charset="0"/>
                          <a:cs typeface="Times New Roman" panose="02020603050405020304" pitchFamily="18" charset="0"/>
                        </a:rPr>
                        <a:t>2114</a:t>
                      </a:r>
                      <a:r>
                        <a:rPr lang="en-US" altLang="zh-CN" sz="1600" b="0" u="none">
                          <a:latin typeface="宋体" panose="02010600030101010101" pitchFamily="2" charset="-122"/>
                          <a:ea typeface="宋体" panose="02010600030101010101" pitchFamily="2" charset="-122"/>
                          <a:cs typeface="宋体" panose="02010600030101010101" pitchFamily="2" charset="-122"/>
                        </a:rPr>
                        <a:t>Ⅳ</a:t>
                      </a:r>
                      <a:endParaRPr lang="en-US" altLang="zh-CN" sz="1600" b="0" u="none">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1" anchor="ctr">
                    <a:lnL w="9525" cap="flat" cmpd="sng">
                      <a:solidFill>
                        <a:srgbClr val="00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Times New Roman" panose="02020603050405020304" pitchFamily="18" charset="0"/>
                          <a:ea typeface="Times New Roman" panose="02020603050405020304" pitchFamily="18" charset="0"/>
                          <a:cs typeface="Times New Roman" panose="02020603050405020304" pitchFamily="18" charset="0"/>
                        </a:rPr>
                        <a:t>0  0</a:t>
                      </a:r>
                    </a:p>
                  </a:txBody>
                  <a:tcPr marL="0" marR="0" marT="0" marB="1" anchor="ctr">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Times New Roman" panose="02020603050405020304" pitchFamily="18" charset="0"/>
                          <a:ea typeface="Times New Roman" panose="02020603050405020304" pitchFamily="18" charset="0"/>
                          <a:cs typeface="Times New Roman" panose="02020603050405020304" pitchFamily="18" charset="0"/>
                        </a:rPr>
                        <a:t>1 0 1</a:t>
                      </a:r>
                    </a:p>
                  </a:txBody>
                  <a:tcPr marL="0" marR="0" marT="0" marB="1" anchor="ctr">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Times New Roman" panose="02020603050405020304" pitchFamily="18" charset="0"/>
                          <a:ea typeface="Times New Roman" panose="02020603050405020304" pitchFamily="18" charset="0"/>
                          <a:cs typeface="Times New Roman" panose="02020603050405020304" pitchFamily="18" charset="0"/>
                        </a:rPr>
                        <a:t>1</a:t>
                      </a:r>
                    </a:p>
                  </a:txBody>
                  <a:tcPr marL="0" marR="0" marT="0" marB="1" anchor="ctr">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Times New Roman" panose="02020603050405020304" pitchFamily="18" charset="0"/>
                          <a:ea typeface="Times New Roman" panose="02020603050405020304" pitchFamily="18" charset="0"/>
                          <a:cs typeface="Times New Roman" panose="02020603050405020304" pitchFamily="18" charset="0"/>
                        </a:rPr>
                        <a:t>0000000000</a:t>
                      </a:r>
                    </a:p>
                  </a:txBody>
                  <a:tcPr marL="0" marR="0" marT="0" marB="1" anchor="ctr">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Times New Roman" panose="02020603050405020304" pitchFamily="18" charset="0"/>
                          <a:ea typeface="Times New Roman" panose="02020603050405020304" pitchFamily="18" charset="0"/>
                          <a:cs typeface="Times New Roman" panose="02020603050405020304" pitchFamily="18" charset="0"/>
                        </a:rPr>
                        <a:t>1111111111</a:t>
                      </a:r>
                    </a:p>
                  </a:txBody>
                  <a:tcPr marL="0" marR="0" marT="0" marB="1" anchor="ctr">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en-US" altLang="zh-CN" sz="1600" b="0" u="none">
                          <a:latin typeface="Times New Roman" panose="02020603050405020304" pitchFamily="18" charset="0"/>
                          <a:ea typeface="Times New Roman" panose="02020603050405020304" pitchFamily="18" charset="0"/>
                          <a:cs typeface="Times New Roman" panose="02020603050405020304" pitchFamily="18" charset="0"/>
                        </a:rPr>
                        <a:t>2C00H</a:t>
                      </a:r>
                      <a:r>
                        <a:rPr lang="zh-CN" altLang="en-US" sz="1600" b="0" u="none">
                          <a:latin typeface="Times New Roman" panose="02020603050405020304" pitchFamily="18" charset="0"/>
                          <a:ea typeface="Times New Roman" panose="02020603050405020304" pitchFamily="18" charset="0"/>
                          <a:cs typeface="Times New Roman" panose="02020603050405020304" pitchFamily="18" charset="0"/>
                        </a:rPr>
                        <a:t>～</a:t>
                      </a:r>
                      <a:r>
                        <a:rPr lang="en-US" altLang="zh-CN" sz="1600" b="0" u="none">
                          <a:latin typeface="Times New Roman" panose="02020603050405020304" pitchFamily="18" charset="0"/>
                          <a:ea typeface="Times New Roman" panose="02020603050405020304" pitchFamily="18" charset="0"/>
                          <a:cs typeface="Times New Roman" panose="02020603050405020304" pitchFamily="18" charset="0"/>
                        </a:rPr>
                        <a:t>2FFFH</a:t>
                      </a:r>
                      <a:r>
                        <a:rPr lang="zh-CN" altLang="en-US" sz="1600" b="0" u="none">
                          <a:latin typeface="Times New Roman" panose="02020603050405020304" pitchFamily="18" charset="0"/>
                          <a:ea typeface="Times New Roman" panose="02020603050405020304" pitchFamily="18" charset="0"/>
                          <a:cs typeface="Times New Roman" panose="02020603050405020304" pitchFamily="18" charset="0"/>
                        </a:rPr>
                        <a:t>～</a:t>
                      </a:r>
                      <a:r>
                        <a:rPr lang="en-US" altLang="zh-CN" sz="1600" b="0" u="none">
                          <a:latin typeface="Times New Roman" panose="02020603050405020304" pitchFamily="18" charset="0"/>
                          <a:ea typeface="Times New Roman" panose="02020603050405020304" pitchFamily="18" charset="0"/>
                          <a:cs typeface="Times New Roman" panose="02020603050405020304" pitchFamily="18" charset="0"/>
                        </a:rPr>
                        <a:t>2FFFH</a:t>
                      </a:r>
                    </a:p>
                  </a:txBody>
                  <a:tcPr marL="0" marR="0" marT="0" marB="1" anchor="ctr">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Tree>
  </p:cSld>
  <p:clrMapOvr>
    <a:masterClrMapping/>
  </p:clrMapOvr>
  <p:transition spd="med">
    <p:random/>
  </p:transition>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67585" name="Picture 154" descr="5"/>
          <p:cNvPicPr>
            <a:picLocks noChangeAspect="1"/>
          </p:cNvPicPr>
          <p:nvPr/>
        </p:nvPicPr>
        <p:blipFill>
          <a:blip r:embed="rId2"/>
          <a:stretch>
            <a:fillRect/>
          </a:stretch>
        </p:blipFill>
        <p:spPr>
          <a:xfrm>
            <a:off x="1990725" y="431800"/>
            <a:ext cx="5153025" cy="5716588"/>
          </a:xfrm>
          <a:prstGeom prst="rect">
            <a:avLst/>
          </a:prstGeom>
          <a:noFill/>
          <a:ln w="9525">
            <a:noFill/>
          </a:ln>
        </p:spPr>
      </p:pic>
      <p:sp>
        <p:nvSpPr>
          <p:cNvPr id="67586" name="文本框 1"/>
          <p:cNvSpPr txBox="1"/>
          <p:nvPr/>
        </p:nvSpPr>
        <p:spPr>
          <a:xfrm>
            <a:off x="2182813" y="6269038"/>
            <a:ext cx="5080000" cy="379412"/>
          </a:xfrm>
          <a:prstGeom prst="rect">
            <a:avLst/>
          </a:prstGeom>
          <a:noFill/>
          <a:ln w="9525">
            <a:noFill/>
          </a:ln>
        </p:spPr>
        <p:txBody>
          <a:bodyPr anchor="t" anchorCtr="0">
            <a:spAutoFit/>
          </a:bodyPr>
          <a:lstStyle/>
          <a:p>
            <a:r>
              <a:rPr lang="zh-CN" altLang="en-US" sz="2000" b="0">
                <a:latin typeface="宋体" panose="02010600030101010101" pitchFamily="2" charset="-122"/>
                <a:ea typeface="宋体" panose="02010600030101010101" pitchFamily="2" charset="-122"/>
              </a:rPr>
              <a:t>图</a:t>
            </a:r>
            <a:r>
              <a:rPr lang="en-US" altLang="zh-CN" sz="2000" b="0">
                <a:latin typeface="Times New Roman" panose="02020603050405020304" pitchFamily="18" charset="0"/>
                <a:ea typeface="宋体" panose="02010600030101010101" pitchFamily="2" charset="-122"/>
              </a:rPr>
              <a:t>5-32</a:t>
            </a:r>
            <a:r>
              <a:rPr lang="en-US" altLang="zh-CN" sz="2000" b="0">
                <a:latin typeface="宋体" panose="02010600030101010101" pitchFamily="2" charset="-122"/>
                <a:ea typeface="宋体" panose="02010600030101010101" pitchFamily="2" charset="-122"/>
              </a:rPr>
              <a:t>  </a:t>
            </a:r>
            <a:r>
              <a:rPr lang="en-US" altLang="zh-CN" sz="2000" b="0">
                <a:latin typeface="Times New Roman" panose="02020603050405020304" pitchFamily="18" charset="0"/>
                <a:ea typeface="宋体" panose="02010600030101010101" pitchFamily="2" charset="-122"/>
              </a:rPr>
              <a:t> 8088</a:t>
            </a:r>
            <a:r>
              <a:rPr lang="zh-CN" altLang="en-US" sz="2000" b="0">
                <a:latin typeface="宋体" panose="02010600030101010101" pitchFamily="2" charset="-122"/>
                <a:ea typeface="宋体" panose="02010600030101010101" pitchFamily="2" charset="-122"/>
              </a:rPr>
              <a:t>系统扩展</a:t>
            </a:r>
            <a:r>
              <a:rPr lang="en-US" altLang="zh-CN" sz="2000" b="0">
                <a:latin typeface="Times New Roman" panose="02020603050405020304" pitchFamily="18" charset="0"/>
                <a:ea typeface="宋体" panose="02010600030101010101" pitchFamily="2" charset="-122"/>
              </a:rPr>
              <a:t>ROM</a:t>
            </a:r>
            <a:r>
              <a:rPr lang="zh-CN" altLang="en-US" sz="2000" b="0">
                <a:latin typeface="宋体" panose="02010600030101010101" pitchFamily="2" charset="-122"/>
                <a:ea typeface="宋体" panose="02010600030101010101" pitchFamily="2" charset="-122"/>
              </a:rPr>
              <a:t>和</a:t>
            </a:r>
            <a:r>
              <a:rPr lang="en-US" altLang="zh-CN" sz="2000" b="0">
                <a:latin typeface="Times New Roman" panose="02020603050405020304" pitchFamily="18" charset="0"/>
                <a:ea typeface="宋体" panose="02010600030101010101" pitchFamily="2" charset="-122"/>
              </a:rPr>
              <a:t>RAM</a:t>
            </a:r>
            <a:r>
              <a:rPr lang="zh-CN" altLang="en-US" sz="2000" b="0">
                <a:latin typeface="宋体" panose="02010600030101010101" pitchFamily="2" charset="-122"/>
                <a:ea typeface="宋体" panose="02010600030101010101" pitchFamily="2" charset="-122"/>
              </a:rPr>
              <a:t>连线图</a:t>
            </a:r>
            <a:endParaRPr lang="zh-CN" altLang="en-US" sz="2000">
              <a:latin typeface="宋体" panose="02010600030101010101" pitchFamily="2" charset="-122"/>
              <a:ea typeface="宋体" panose="02010600030101010101" pitchFamily="2" charset="-122"/>
            </a:endParaRPr>
          </a:p>
        </p:txBody>
      </p:sp>
    </p:spTree>
  </p:cSld>
  <p:clrMapOvr>
    <a:masterClrMapping/>
  </p:clrMapOvr>
  <p:transition spd="med">
    <p:random/>
  </p:transition>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6083" name="内容占位符 2"/>
          <p:cNvSpPr>
            <a:spLocks noGrp="1"/>
          </p:cNvSpPr>
          <p:nvPr>
            <p:ph idx="1"/>
          </p:nvPr>
        </p:nvSpPr>
        <p:spPr>
          <a:xfrm>
            <a:off x="577850" y="1387475"/>
            <a:ext cx="8197850" cy="4814888"/>
          </a:xfrm>
          <a:prstGeom prst="rect">
            <a:avLst/>
          </a:prstGeom>
          <a:ln w="9525" cap="flat" cmpd="sng" algn="ctr">
            <a:noFill/>
            <a:prstDash val="solid"/>
            <a:miter/>
          </a:ln>
        </p:spPr>
        <p:txBody>
          <a:bodyPr vert="horz" wrap="square" lIns="92075" tIns="46038" rIns="92075" bIns="46038" numCol="1" anchor="t" anchorCtr="0" compatLnSpc="1"/>
          <a:lstStyle/>
          <a:p>
            <a:pPr marL="0" marR="0" lvl="0" indent="0" algn="l" defTabSz="914400" rtl="0" eaLnBrk="0" fontAlgn="base" latinLnBrk="0" hangingPunct="0">
              <a:lnSpc>
                <a:spcPct val="100000"/>
              </a:lnSpc>
              <a:spcBef>
                <a:spcPct val="20000"/>
              </a:spcBef>
              <a:spcAft>
                <a:spcPct val="0"/>
              </a:spcAft>
              <a:buClr>
                <a:schemeClr val="accent2"/>
              </a:buClr>
              <a:buSzPct val="70000"/>
              <a:buFont typeface="Wingdings" panose="05000000000000000000" pitchFamily="2" charset="2"/>
              <a:buNone/>
              <a:defRPr/>
            </a:pPr>
            <a:r>
              <a:rPr kumimoji="1" lang="en-GB" altLang="zh-CN" sz="2800" b="0" i="0" u="none" strike="noStrike" kern="0" cap="none" spc="0" normalizeH="0" baseline="0" noProof="0" dirty="0">
                <a:ln>
                  <a:noFill/>
                </a:ln>
                <a:solidFill>
                  <a:schemeClr val="tx1"/>
                </a:solidFill>
                <a:effectLst/>
                <a:uLnTx/>
                <a:uFillTx/>
                <a:latin typeface="+mn-lt"/>
                <a:ea typeface="+mn-ea"/>
                <a:cs typeface="+mn-cs"/>
              </a:rPr>
              <a:t>2</a:t>
            </a:r>
            <a:r>
              <a:rPr kumimoji="1" lang="zh-CN" altLang="zh-CN" sz="2800" b="0" i="0" u="none" strike="noStrike" kern="0" cap="none" spc="0" normalizeH="0" baseline="0" noProof="0" dirty="0">
                <a:ln>
                  <a:noFill/>
                </a:ln>
                <a:solidFill>
                  <a:schemeClr val="tx1"/>
                </a:solidFill>
                <a:effectLst/>
                <a:uLnTx/>
                <a:uFillTx/>
                <a:latin typeface="+mn-lt"/>
                <a:ea typeface="+mn-ea"/>
                <a:cs typeface="+mn-cs"/>
              </a:rPr>
              <a:t>．</a:t>
            </a:r>
            <a:r>
              <a:rPr kumimoji="1" lang="en-US" altLang="zh-CN" sz="2800" b="0" i="0" u="none" strike="noStrike" kern="0" cap="none" spc="0" normalizeH="0" baseline="0" noProof="0" dirty="0">
                <a:ln>
                  <a:noFill/>
                </a:ln>
                <a:solidFill>
                  <a:schemeClr val="tx1"/>
                </a:solidFill>
                <a:effectLst/>
                <a:uLnTx/>
                <a:uFillTx/>
                <a:latin typeface="+mn-lt"/>
                <a:ea typeface="+mn-ea"/>
                <a:cs typeface="+mn-cs"/>
              </a:rPr>
              <a:t>E</a:t>
            </a:r>
            <a:r>
              <a:rPr kumimoji="1" lang="en-US" altLang="zh-CN" sz="2800" b="0" i="0" u="none" strike="noStrike" kern="0" cap="none" spc="0" normalizeH="0" baseline="30000" noProof="0" dirty="0">
                <a:ln>
                  <a:noFill/>
                </a:ln>
                <a:solidFill>
                  <a:schemeClr val="tx1"/>
                </a:solidFill>
                <a:effectLst/>
                <a:uLnTx/>
                <a:uFillTx/>
                <a:latin typeface="+mn-lt"/>
                <a:ea typeface="+mn-ea"/>
                <a:cs typeface="+mn-cs"/>
              </a:rPr>
              <a:t>2</a:t>
            </a:r>
            <a:r>
              <a:rPr kumimoji="1" lang="en-US" altLang="zh-CN" sz="2800" b="0" i="0" u="none" strike="noStrike" kern="0" cap="none" spc="0" normalizeH="0" baseline="0" noProof="0" dirty="0">
                <a:ln>
                  <a:noFill/>
                </a:ln>
                <a:solidFill>
                  <a:schemeClr val="tx1"/>
                </a:solidFill>
                <a:effectLst/>
                <a:uLnTx/>
                <a:uFillTx/>
                <a:latin typeface="+mn-lt"/>
                <a:ea typeface="+mn-ea"/>
                <a:cs typeface="+mn-cs"/>
              </a:rPr>
              <a:t>PROM</a:t>
            </a:r>
            <a:r>
              <a:rPr kumimoji="1" lang="zh-CN" altLang="zh-CN" sz="2800" b="0" i="0" u="none" strike="noStrike" kern="0" cap="none" spc="0" normalizeH="0" baseline="0" noProof="0" dirty="0">
                <a:ln>
                  <a:noFill/>
                </a:ln>
                <a:solidFill>
                  <a:schemeClr val="tx1"/>
                </a:solidFill>
                <a:effectLst/>
                <a:uLnTx/>
                <a:uFillTx/>
                <a:latin typeface="+mn-lt"/>
                <a:ea typeface="+mn-ea"/>
                <a:cs typeface="+mn-cs"/>
              </a:rPr>
              <a:t>芯片</a:t>
            </a:r>
            <a:endParaRPr kumimoji="1" lang="zh-CN" altLang="zh-CN" sz="2800" b="1"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accent2"/>
              </a:buClr>
              <a:buSzPct val="70000"/>
              <a:buFont typeface="Wingdings" panose="05000000000000000000" pitchFamily="2" charset="2"/>
              <a:buNone/>
              <a:defRPr/>
            </a:pPr>
            <a:r>
              <a:rPr kumimoji="1" lang="zh-CN" altLang="zh-CN" sz="2800" b="0" i="0" u="none" strike="noStrike" kern="0" cap="none" spc="0" normalizeH="0" baseline="0" noProof="0" dirty="0">
                <a:ln>
                  <a:noFill/>
                </a:ln>
                <a:solidFill>
                  <a:schemeClr val="tx1"/>
                </a:solidFill>
                <a:effectLst/>
                <a:uLnTx/>
                <a:uFillTx/>
                <a:latin typeface="+mn-lt"/>
                <a:ea typeface="+mn-ea"/>
                <a:cs typeface="+mn-cs"/>
              </a:rPr>
              <a:t>由于</a:t>
            </a:r>
            <a:r>
              <a:rPr kumimoji="1" lang="en-US" altLang="zh-CN" sz="2800" b="0" i="0" u="none" strike="noStrike" kern="0" cap="none" spc="0" normalizeH="0" baseline="0" noProof="0" dirty="0">
                <a:ln>
                  <a:noFill/>
                </a:ln>
                <a:solidFill>
                  <a:schemeClr val="tx1"/>
                </a:solidFill>
                <a:effectLst/>
                <a:uLnTx/>
                <a:uFillTx/>
                <a:latin typeface="+mn-lt"/>
                <a:ea typeface="+mn-ea"/>
                <a:cs typeface="+mn-cs"/>
              </a:rPr>
              <a:t>E</a:t>
            </a:r>
            <a:r>
              <a:rPr kumimoji="1" lang="en-US" altLang="zh-CN" sz="2800" b="0" i="0" u="none" strike="noStrike" kern="0" cap="none" spc="0" normalizeH="0" baseline="30000" noProof="0" dirty="0">
                <a:ln>
                  <a:noFill/>
                </a:ln>
                <a:solidFill>
                  <a:schemeClr val="tx1"/>
                </a:solidFill>
                <a:effectLst/>
                <a:uLnTx/>
                <a:uFillTx/>
                <a:latin typeface="+mn-lt"/>
                <a:ea typeface="+mn-ea"/>
                <a:cs typeface="+mn-cs"/>
              </a:rPr>
              <a:t>2</a:t>
            </a:r>
            <a:r>
              <a:rPr kumimoji="1" lang="en-US" altLang="zh-CN" sz="2800" b="0" i="0" u="none" strike="noStrike" kern="0" cap="none" spc="0" normalizeH="0" baseline="0" noProof="0" dirty="0">
                <a:ln>
                  <a:noFill/>
                </a:ln>
                <a:solidFill>
                  <a:schemeClr val="tx1"/>
                </a:solidFill>
                <a:effectLst/>
                <a:uLnTx/>
                <a:uFillTx/>
                <a:latin typeface="+mn-lt"/>
                <a:ea typeface="+mn-ea"/>
                <a:cs typeface="+mn-cs"/>
              </a:rPr>
              <a:t>PROM</a:t>
            </a:r>
            <a:r>
              <a:rPr kumimoji="1" lang="zh-CN" altLang="zh-CN" sz="2800" b="0" i="0" u="none" strike="noStrike" kern="0" cap="none" spc="0" normalizeH="0" baseline="0" noProof="0" dirty="0">
                <a:ln>
                  <a:noFill/>
                </a:ln>
                <a:solidFill>
                  <a:schemeClr val="tx1"/>
                </a:solidFill>
                <a:effectLst/>
                <a:uLnTx/>
                <a:uFillTx/>
                <a:latin typeface="+mn-lt"/>
                <a:ea typeface="+mn-ea"/>
                <a:cs typeface="+mn-cs"/>
              </a:rPr>
              <a:t>芯片的特性，</a:t>
            </a:r>
            <a:r>
              <a:rPr kumimoji="1" lang="en-US" altLang="zh-CN" sz="2800" b="0" i="0" u="none" strike="noStrike" kern="0" cap="none" spc="0" normalizeH="0" baseline="0" noProof="0" dirty="0">
                <a:ln>
                  <a:noFill/>
                </a:ln>
                <a:solidFill>
                  <a:schemeClr val="tx1"/>
                </a:solidFill>
                <a:effectLst/>
                <a:uLnTx/>
                <a:uFillTx/>
                <a:latin typeface="+mn-lt"/>
                <a:ea typeface="+mn-ea"/>
                <a:cs typeface="+mn-cs"/>
              </a:rPr>
              <a:t>E</a:t>
            </a:r>
            <a:r>
              <a:rPr kumimoji="1" lang="en-US" altLang="zh-CN" sz="2800" b="0" i="0" u="none" strike="noStrike" kern="0" cap="none" spc="0" normalizeH="0" baseline="30000" noProof="0" dirty="0">
                <a:ln>
                  <a:noFill/>
                </a:ln>
                <a:solidFill>
                  <a:schemeClr val="tx1"/>
                </a:solidFill>
                <a:effectLst/>
                <a:uLnTx/>
                <a:uFillTx/>
                <a:latin typeface="+mn-lt"/>
                <a:ea typeface="+mn-ea"/>
                <a:cs typeface="+mn-cs"/>
              </a:rPr>
              <a:t>2</a:t>
            </a:r>
            <a:r>
              <a:rPr kumimoji="1" lang="en-US" altLang="zh-CN" sz="2800" b="0" i="0" u="none" strike="noStrike" kern="0" cap="none" spc="0" normalizeH="0" baseline="0" noProof="0" dirty="0">
                <a:ln>
                  <a:noFill/>
                </a:ln>
                <a:solidFill>
                  <a:schemeClr val="tx1"/>
                </a:solidFill>
                <a:effectLst/>
                <a:uLnTx/>
                <a:uFillTx/>
                <a:latin typeface="+mn-lt"/>
                <a:ea typeface="+mn-ea"/>
                <a:cs typeface="+mn-cs"/>
              </a:rPr>
              <a:t>PROM</a:t>
            </a:r>
            <a:r>
              <a:rPr kumimoji="1" lang="zh-CN" altLang="zh-CN" sz="2800" b="0" i="0" u="none" strike="noStrike" kern="0" cap="none" spc="0" normalizeH="0" baseline="0" noProof="0" dirty="0">
                <a:ln>
                  <a:noFill/>
                </a:ln>
                <a:solidFill>
                  <a:schemeClr val="tx1"/>
                </a:solidFill>
                <a:effectLst/>
                <a:uLnTx/>
                <a:uFillTx/>
                <a:latin typeface="+mn-lt"/>
                <a:ea typeface="+mn-ea"/>
                <a:cs typeface="+mn-cs"/>
              </a:rPr>
              <a:t>的使用场合非常多。这里介绍一个</a:t>
            </a:r>
            <a:r>
              <a:rPr kumimoji="1" lang="en-US" altLang="zh-CN" sz="2800" b="0" i="0" u="none" strike="noStrike" kern="0" cap="none" spc="0" normalizeH="0" baseline="0" noProof="0" dirty="0">
                <a:ln>
                  <a:noFill/>
                </a:ln>
                <a:solidFill>
                  <a:schemeClr val="tx1"/>
                </a:solidFill>
                <a:effectLst/>
                <a:uLnTx/>
                <a:uFillTx/>
                <a:latin typeface="+mn-lt"/>
                <a:ea typeface="+mn-ea"/>
                <a:cs typeface="+mn-cs"/>
              </a:rPr>
              <a:t>Intel 28</a:t>
            </a:r>
            <a:r>
              <a:rPr kumimoji="1" lang="zh-CN" altLang="zh-CN" sz="2800" b="0" i="0" u="none" strike="noStrike" kern="0" cap="none" spc="0" normalizeH="0" baseline="0" noProof="0" dirty="0">
                <a:ln>
                  <a:noFill/>
                </a:ln>
                <a:solidFill>
                  <a:schemeClr val="tx1"/>
                </a:solidFill>
                <a:effectLst/>
                <a:uLnTx/>
                <a:uFillTx/>
                <a:latin typeface="+mn-lt"/>
                <a:ea typeface="+mn-ea"/>
                <a:cs typeface="+mn-cs"/>
              </a:rPr>
              <a:t>系列</a:t>
            </a:r>
            <a:r>
              <a:rPr kumimoji="1" lang="en-US" altLang="zh-CN" sz="2800" b="0" i="0" u="none" strike="noStrike" kern="0" cap="none" spc="0" normalizeH="0" baseline="0" noProof="0" dirty="0">
                <a:ln>
                  <a:noFill/>
                </a:ln>
                <a:solidFill>
                  <a:schemeClr val="tx1"/>
                </a:solidFill>
                <a:effectLst/>
                <a:uLnTx/>
                <a:uFillTx/>
                <a:latin typeface="+mn-lt"/>
                <a:ea typeface="+mn-ea"/>
                <a:cs typeface="+mn-cs"/>
              </a:rPr>
              <a:t>E</a:t>
            </a:r>
            <a:r>
              <a:rPr kumimoji="1" lang="en-US" altLang="zh-CN" sz="2800" b="0" i="0" u="none" strike="noStrike" kern="0" cap="none" spc="0" normalizeH="0" baseline="30000" noProof="0" dirty="0">
                <a:ln>
                  <a:noFill/>
                </a:ln>
                <a:solidFill>
                  <a:schemeClr val="tx1"/>
                </a:solidFill>
                <a:effectLst/>
                <a:uLnTx/>
                <a:uFillTx/>
                <a:latin typeface="+mn-lt"/>
                <a:ea typeface="+mn-ea"/>
                <a:cs typeface="+mn-cs"/>
              </a:rPr>
              <a:t>2</a:t>
            </a:r>
            <a:r>
              <a:rPr kumimoji="1" lang="en-US" altLang="zh-CN" sz="2800" b="0" i="0" u="none" strike="noStrike" kern="0" cap="none" spc="0" normalizeH="0" baseline="0" noProof="0" dirty="0">
                <a:ln>
                  <a:noFill/>
                </a:ln>
                <a:solidFill>
                  <a:schemeClr val="tx1"/>
                </a:solidFill>
                <a:effectLst/>
                <a:uLnTx/>
                <a:uFillTx/>
                <a:latin typeface="+mn-lt"/>
                <a:ea typeface="+mn-ea"/>
                <a:cs typeface="+mn-cs"/>
              </a:rPr>
              <a:t>PROM</a:t>
            </a:r>
            <a:r>
              <a:rPr kumimoji="1" lang="zh-CN" altLang="zh-CN" sz="2800" b="0" i="0" u="none" strike="noStrike" kern="0" cap="none" spc="0" normalizeH="0" baseline="0" noProof="0" dirty="0">
                <a:ln>
                  <a:noFill/>
                </a:ln>
                <a:solidFill>
                  <a:schemeClr val="tx1"/>
                </a:solidFill>
                <a:effectLst/>
                <a:uLnTx/>
                <a:uFillTx/>
                <a:latin typeface="+mn-lt"/>
                <a:ea typeface="+mn-ea"/>
                <a:cs typeface="+mn-cs"/>
              </a:rPr>
              <a:t>芯片。</a:t>
            </a:r>
            <a:endParaRPr kumimoji="1" lang="zh-CN" altLang="zh-CN" sz="2800" b="1"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accent2"/>
              </a:buClr>
              <a:buSzPct val="70000"/>
              <a:buFont typeface="Wingdings" panose="05000000000000000000" pitchFamily="2" charset="2"/>
              <a:buNone/>
              <a:defRPr/>
            </a:pPr>
            <a:r>
              <a:rPr kumimoji="1" lang="en-US" altLang="zh-CN" sz="2800" b="0" i="0" u="none" strike="noStrike" kern="0" cap="none" spc="0" normalizeH="0" baseline="0" noProof="0" dirty="0">
                <a:ln>
                  <a:noFill/>
                </a:ln>
                <a:solidFill>
                  <a:schemeClr val="tx1"/>
                </a:solidFill>
                <a:effectLst/>
                <a:uLnTx/>
                <a:uFillTx/>
                <a:latin typeface="+mn-lt"/>
                <a:ea typeface="+mn-ea"/>
                <a:cs typeface="+mn-cs"/>
              </a:rPr>
              <a:t>1</a:t>
            </a:r>
            <a:r>
              <a:rPr kumimoji="1" lang="zh-CN" altLang="zh-CN" sz="2800" b="0" i="0" u="none" strike="noStrike" kern="0" cap="none" spc="0" normalizeH="0" baseline="0" noProof="0" dirty="0">
                <a:ln>
                  <a:noFill/>
                </a:ln>
                <a:solidFill>
                  <a:schemeClr val="tx1"/>
                </a:solidFill>
                <a:effectLst/>
                <a:uLnTx/>
                <a:uFillTx/>
                <a:latin typeface="+mn-lt"/>
                <a:ea typeface="+mn-ea"/>
                <a:cs typeface="+mn-cs"/>
              </a:rPr>
              <a:t>）</a:t>
            </a:r>
            <a:r>
              <a:rPr kumimoji="1" lang="en-US" altLang="zh-CN" sz="2800" b="1" i="0" u="none" strike="noStrike" kern="0" cap="none" spc="0" normalizeH="0" baseline="0" noProof="0" dirty="0">
                <a:ln>
                  <a:noFill/>
                </a:ln>
                <a:solidFill>
                  <a:schemeClr val="tx1"/>
                </a:solidFill>
                <a:effectLst/>
                <a:uLnTx/>
                <a:uFillTx/>
                <a:latin typeface="+mn-lt"/>
                <a:ea typeface="+mn-ea"/>
                <a:cs typeface="+mn-cs"/>
              </a:rPr>
              <a:t>2816</a:t>
            </a:r>
            <a:r>
              <a:rPr kumimoji="1" lang="zh-CN" altLang="zh-CN" sz="2800" b="0" i="0" u="none" strike="noStrike" kern="0" cap="none" spc="0" normalizeH="0" baseline="0" noProof="0" dirty="0">
                <a:ln>
                  <a:noFill/>
                </a:ln>
                <a:solidFill>
                  <a:schemeClr val="tx1"/>
                </a:solidFill>
                <a:effectLst/>
                <a:uLnTx/>
                <a:uFillTx/>
                <a:latin typeface="+mn-lt"/>
                <a:ea typeface="+mn-ea"/>
                <a:cs typeface="+mn-cs"/>
              </a:rPr>
              <a:t>芯片引线</a:t>
            </a:r>
            <a:endParaRPr kumimoji="1" lang="zh-CN" altLang="zh-CN" sz="2800" b="1"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
                <a:schemeClr val="accent2"/>
              </a:buClr>
              <a:buSzPct val="70000"/>
              <a:buFont typeface="Wingdings" panose="05000000000000000000" pitchFamily="2" charset="2"/>
              <a:buChar char="u"/>
              <a:defRPr/>
            </a:pPr>
            <a:endParaRPr kumimoji="1" lang="zh-CN" altLang="en-US" sz="2800" b="1" i="0" u="none" strike="noStrike" kern="0" cap="none" spc="0" normalizeH="0" baseline="0" noProof="0" dirty="0">
              <a:ln>
                <a:noFill/>
              </a:ln>
              <a:solidFill>
                <a:schemeClr val="tx1"/>
              </a:solidFill>
              <a:effectLst/>
              <a:uLnTx/>
              <a:uFillTx/>
              <a:latin typeface="+mn-lt"/>
              <a:ea typeface="+mn-ea"/>
              <a:cs typeface="+mn-cs"/>
            </a:endParaRPr>
          </a:p>
        </p:txBody>
      </p:sp>
      <p:pic>
        <p:nvPicPr>
          <p:cNvPr id="68610" name="Picture 4" descr="5"/>
          <p:cNvPicPr>
            <a:picLocks noChangeAspect="1"/>
          </p:cNvPicPr>
          <p:nvPr/>
        </p:nvPicPr>
        <p:blipFill>
          <a:blip r:embed="rId2"/>
          <a:stretch>
            <a:fillRect/>
          </a:stretch>
        </p:blipFill>
        <p:spPr>
          <a:xfrm>
            <a:off x="3863975" y="2921000"/>
            <a:ext cx="2089150" cy="3287713"/>
          </a:xfrm>
          <a:prstGeom prst="rect">
            <a:avLst/>
          </a:prstGeom>
          <a:noFill/>
          <a:ln w="9525">
            <a:noFill/>
          </a:ln>
        </p:spPr>
      </p:pic>
      <p:sp>
        <p:nvSpPr>
          <p:cNvPr id="68611" name="矩形 2"/>
          <p:cNvSpPr/>
          <p:nvPr/>
        </p:nvSpPr>
        <p:spPr>
          <a:xfrm>
            <a:off x="2922588" y="6340475"/>
            <a:ext cx="3840162" cy="425450"/>
          </a:xfrm>
          <a:prstGeom prst="rect">
            <a:avLst/>
          </a:prstGeom>
          <a:noFill/>
          <a:ln w="9525">
            <a:noFill/>
          </a:ln>
        </p:spPr>
        <p:txBody>
          <a:bodyPr wrap="none" anchor="t" anchorCtr="0">
            <a:spAutoFit/>
          </a:bodyPr>
          <a:lstStyle/>
          <a:p>
            <a:r>
              <a:rPr lang="zh-CN" altLang="zh-CN" b="0" dirty="0">
                <a:latin typeface="宋体" panose="02010600030101010101" pitchFamily="2" charset="-122"/>
                <a:ea typeface="宋体" panose="02010600030101010101" pitchFamily="2" charset="-122"/>
              </a:rPr>
              <a:t>图</a:t>
            </a:r>
            <a:r>
              <a:rPr lang="en-US" altLang="zh-CN" b="0" dirty="0">
                <a:latin typeface="宋体" panose="02010600030101010101" pitchFamily="2" charset="-122"/>
                <a:ea typeface="宋体" panose="02010600030101010101" pitchFamily="2" charset="-122"/>
              </a:rPr>
              <a:t>5-33  Intel 2816</a:t>
            </a:r>
            <a:r>
              <a:rPr lang="zh-CN" altLang="zh-CN" b="0" dirty="0">
                <a:latin typeface="宋体" panose="02010600030101010101" pitchFamily="2" charset="-122"/>
                <a:ea typeface="宋体" panose="02010600030101010101" pitchFamily="2" charset="-122"/>
              </a:rPr>
              <a:t>的引脚</a:t>
            </a:r>
          </a:p>
        </p:txBody>
      </p:sp>
    </p:spTree>
  </p:cSld>
  <p:clrMapOvr>
    <a:masterClrMapping/>
  </p:clrMapOvr>
  <p:transition spd="med">
    <p:random/>
  </p:transition>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3489" name="内容占位符 2"/>
          <p:cNvSpPr>
            <a:spLocks noGrp="1"/>
          </p:cNvSpPr>
          <p:nvPr>
            <p:ph idx="4294967295"/>
          </p:nvPr>
        </p:nvSpPr>
        <p:spPr>
          <a:xfrm>
            <a:off x="577850" y="1387475"/>
            <a:ext cx="8197850" cy="4814888"/>
          </a:xfrm>
          <a:prstGeom prst="rect">
            <a:avLst/>
          </a:prstGeom>
          <a:noFill/>
          <a:ln w="9525" cap="flat" cmpd="sng" algn="ctr">
            <a:noFill/>
            <a:prstDash val="solid"/>
            <a:miter/>
          </a:ln>
        </p:spPr>
        <p:txBody>
          <a:bodyPr wrap="square" lIns="92075" tIns="46038" rIns="92075" bIns="46038" anchor="t"/>
          <a:lstStyle/>
          <a:p>
            <a:pPr marL="0" marR="0" lvl="0" indent="0" algn="l" defTabSz="914400" rtl="0" eaLnBrk="0" fontAlgn="base" latinLnBrk="0" hangingPunct="0">
              <a:lnSpc>
                <a:spcPct val="100000"/>
              </a:lnSpc>
              <a:spcBef>
                <a:spcPct val="20000"/>
              </a:spcBef>
              <a:spcAft>
                <a:spcPct val="0"/>
              </a:spcAft>
              <a:buClr>
                <a:schemeClr val="accent2"/>
              </a:buClr>
              <a:buSzPct val="70000"/>
              <a:buFont typeface="Wingdings" panose="05000000000000000000" pitchFamily="2" charset="2"/>
              <a:buNone/>
            </a:pPr>
            <a:r>
              <a:rPr kumimoji="1" lang="en-US" altLang="zh-CN" sz="2800" b="1" i="0" u="none" strike="noStrike" kern="0" cap="none" spc="0" normalizeH="0" baseline="0" noProof="1">
                <a:solidFill>
                  <a:schemeClr val="tx1"/>
                </a:solidFill>
                <a:latin typeface="+mn-lt"/>
                <a:ea typeface="+mn-ea"/>
                <a:cs typeface="+mn-cs"/>
              </a:rPr>
              <a:t>2</a:t>
            </a:r>
            <a:r>
              <a:rPr kumimoji="1" lang="zh-CN" altLang="zh-CN" sz="2800" b="1" i="0" u="none" strike="noStrike" kern="0" cap="none" spc="0" normalizeH="0" baseline="0" noProof="1">
                <a:solidFill>
                  <a:schemeClr val="tx1"/>
                </a:solidFill>
                <a:latin typeface="+mn-lt"/>
                <a:ea typeface="+mn-ea"/>
                <a:cs typeface="+mn-cs"/>
              </a:rPr>
              <a:t>）</a:t>
            </a:r>
            <a:r>
              <a:rPr kumimoji="1" lang="en-US" altLang="zh-CN" sz="2800" b="1" i="0" u="none" strike="noStrike" kern="0" cap="none" spc="0" normalizeH="0" baseline="0" noProof="1">
                <a:solidFill>
                  <a:schemeClr val="tx1"/>
                </a:solidFill>
                <a:latin typeface="+mn-lt"/>
                <a:ea typeface="+mn-ea"/>
                <a:cs typeface="+mn-cs"/>
              </a:rPr>
              <a:t>2816</a:t>
            </a:r>
            <a:r>
              <a:rPr kumimoji="1" lang="zh-CN" altLang="zh-CN" sz="2800" b="1" i="0" u="none" strike="noStrike" kern="0" cap="none" spc="0" normalizeH="0" baseline="0" noProof="1">
                <a:solidFill>
                  <a:schemeClr val="tx1"/>
                </a:solidFill>
                <a:latin typeface="+mn-lt"/>
                <a:ea typeface="+mn-ea"/>
                <a:cs typeface="+mn-cs"/>
              </a:rPr>
              <a:t>的工作方式</a:t>
            </a:r>
          </a:p>
          <a:p>
            <a:pPr marL="342900" marR="0" lvl="0" indent="-342900" algn="l" defTabSz="914400" rtl="0" eaLnBrk="0" fontAlgn="base" latinLnBrk="0" hangingPunct="0">
              <a:lnSpc>
                <a:spcPct val="100000"/>
              </a:lnSpc>
              <a:spcBef>
                <a:spcPct val="20000"/>
              </a:spcBef>
              <a:spcAft>
                <a:spcPct val="0"/>
              </a:spcAft>
              <a:buClr>
                <a:schemeClr val="accent2"/>
              </a:buClr>
              <a:buSzPct val="70000"/>
              <a:buFont typeface="Wingdings" panose="05000000000000000000" pitchFamily="2" charset="2"/>
              <a:buChar char="u"/>
            </a:pPr>
            <a:endParaRPr kumimoji="1" lang="zh-CN" altLang="en-US" sz="2800" b="1" i="0" u="none" strike="noStrike" kern="0" cap="none" spc="0" normalizeH="0" baseline="0" noProof="1">
              <a:solidFill>
                <a:schemeClr val="tx1"/>
              </a:solidFill>
              <a:latin typeface="+mn-lt"/>
              <a:ea typeface="+mn-ea"/>
              <a:cs typeface="+mn-cs"/>
            </a:endParaRPr>
          </a:p>
        </p:txBody>
      </p:sp>
      <p:sp>
        <p:nvSpPr>
          <p:cNvPr id="69634" name="矩形 2"/>
          <p:cNvSpPr/>
          <p:nvPr/>
        </p:nvSpPr>
        <p:spPr>
          <a:xfrm>
            <a:off x="804863" y="2124075"/>
            <a:ext cx="3382962" cy="425450"/>
          </a:xfrm>
          <a:prstGeom prst="rect">
            <a:avLst/>
          </a:prstGeom>
          <a:noFill/>
          <a:ln w="9525">
            <a:noFill/>
          </a:ln>
        </p:spPr>
        <p:txBody>
          <a:bodyPr wrap="none" anchor="t" anchorCtr="0">
            <a:spAutoFit/>
          </a:bodyPr>
          <a:lstStyle/>
          <a:p>
            <a:r>
              <a:rPr lang="zh-CN" altLang="zh-CN" b="0" dirty="0">
                <a:latin typeface="宋体" panose="02010600030101010101" pitchFamily="2" charset="-122"/>
                <a:ea typeface="宋体" panose="02010600030101010101" pitchFamily="2" charset="-122"/>
              </a:rPr>
              <a:t>表</a:t>
            </a:r>
            <a:r>
              <a:rPr lang="en-US" altLang="zh-CN" b="0" dirty="0">
                <a:latin typeface="宋体" panose="02010600030101010101" pitchFamily="2" charset="-122"/>
                <a:ea typeface="宋体" panose="02010600030101010101" pitchFamily="2" charset="-122"/>
              </a:rPr>
              <a:t>5-7  2816</a:t>
            </a:r>
            <a:r>
              <a:rPr lang="zh-CN" altLang="zh-CN" b="0" dirty="0">
                <a:latin typeface="宋体" panose="02010600030101010101" pitchFamily="2" charset="-122"/>
                <a:ea typeface="宋体" panose="02010600030101010101" pitchFamily="2" charset="-122"/>
              </a:rPr>
              <a:t>的工作方式</a:t>
            </a:r>
          </a:p>
        </p:txBody>
      </p:sp>
      <p:graphicFrame>
        <p:nvGraphicFramePr>
          <p:cNvPr id="4" name="表格 3"/>
          <p:cNvGraphicFramePr>
            <a:graphicFrameLocks noGrp="1"/>
          </p:cNvGraphicFramePr>
          <p:nvPr/>
        </p:nvGraphicFramePr>
        <p:xfrm>
          <a:off x="490538" y="2549525"/>
          <a:ext cx="8297863" cy="4110038"/>
        </p:xfrm>
        <a:graphic>
          <a:graphicData uri="http://schemas.openxmlformats.org/drawingml/2006/table">
            <a:tbl>
              <a:tblPr firstRow="1" firstCol="1" bandRow="1" bandCol="1"/>
              <a:tblGrid>
                <a:gridCol w="2183648">
                  <a:extLst>
                    <a:ext uri="{9D8B030D-6E8A-4147-A177-3AD203B41FA5}">
                      <a16:colId xmlns:a16="http://schemas.microsoft.com/office/drawing/2014/main" val="20000"/>
                    </a:ext>
                  </a:extLst>
                </a:gridCol>
                <a:gridCol w="894754">
                  <a:extLst>
                    <a:ext uri="{9D8B030D-6E8A-4147-A177-3AD203B41FA5}">
                      <a16:colId xmlns:a16="http://schemas.microsoft.com/office/drawing/2014/main" val="20001"/>
                    </a:ext>
                  </a:extLst>
                </a:gridCol>
                <a:gridCol w="1530404">
                  <a:extLst>
                    <a:ext uri="{9D8B030D-6E8A-4147-A177-3AD203B41FA5}">
                      <a16:colId xmlns:a16="http://schemas.microsoft.com/office/drawing/2014/main" val="20002"/>
                    </a:ext>
                  </a:extLst>
                </a:gridCol>
                <a:gridCol w="1360780">
                  <a:extLst>
                    <a:ext uri="{9D8B030D-6E8A-4147-A177-3AD203B41FA5}">
                      <a16:colId xmlns:a16="http://schemas.microsoft.com/office/drawing/2014/main" val="20003"/>
                    </a:ext>
                  </a:extLst>
                </a:gridCol>
                <a:gridCol w="2328276">
                  <a:extLst>
                    <a:ext uri="{9D8B030D-6E8A-4147-A177-3AD203B41FA5}">
                      <a16:colId xmlns:a16="http://schemas.microsoft.com/office/drawing/2014/main" val="20004"/>
                    </a:ext>
                  </a:extLst>
                </a:gridCol>
              </a:tblGrid>
              <a:tr h="1370013">
                <a:tc>
                  <a:txBody>
                    <a:bodyPr/>
                    <a:lstStyle/>
                    <a:p>
                      <a:pPr algn="ctr">
                        <a:lnSpc>
                          <a:spcPts val="1200"/>
                        </a:lnSpc>
                        <a:spcAft>
                          <a:spcPts val="0"/>
                        </a:spcAft>
                      </a:pPr>
                      <a:r>
                        <a:rPr lang="en-US" sz="2000" kern="100" dirty="0">
                          <a:effectLst/>
                          <a:latin typeface="Times New Roman" panose="02020603050405020304"/>
                          <a:ea typeface="宋体" panose="02010600030101010101" pitchFamily="2" charset="-122"/>
                        </a:rPr>
                        <a:t>   </a:t>
                      </a:r>
                      <a:r>
                        <a:rPr lang="zh-CN" sz="2000" kern="100" dirty="0">
                          <a:effectLst/>
                          <a:latin typeface="Times New Roman" panose="02020603050405020304"/>
                          <a:ea typeface="宋体" panose="02010600030101010101" pitchFamily="2" charset="-122"/>
                        </a:rPr>
                        <a:t>引脚</a:t>
                      </a:r>
                      <a:r>
                        <a:rPr lang="en-US" altLang="zh-CN" sz="2000" kern="100" dirty="0">
                          <a:effectLst/>
                          <a:latin typeface="Times New Roman" panose="02020603050405020304"/>
                          <a:ea typeface="宋体" panose="02010600030101010101" pitchFamily="2" charset="-122"/>
                        </a:rPr>
                        <a:t>   </a:t>
                      </a:r>
                    </a:p>
                    <a:p>
                      <a:pPr algn="ctr">
                        <a:lnSpc>
                          <a:spcPts val="1200"/>
                        </a:lnSpc>
                        <a:spcAft>
                          <a:spcPts val="0"/>
                        </a:spcAft>
                      </a:pPr>
                      <a:endParaRPr lang="en-US" altLang="zh-CN" sz="2000" kern="100" dirty="0">
                        <a:effectLst/>
                        <a:latin typeface="Times New Roman" panose="02020603050405020304"/>
                        <a:ea typeface="宋体" panose="02010600030101010101" pitchFamily="2" charset="-122"/>
                      </a:endParaRPr>
                    </a:p>
                    <a:p>
                      <a:pPr algn="ctr">
                        <a:lnSpc>
                          <a:spcPts val="1200"/>
                        </a:lnSpc>
                        <a:spcAft>
                          <a:spcPts val="0"/>
                        </a:spcAft>
                      </a:pPr>
                      <a:endParaRPr lang="en-US" altLang="zh-CN" sz="2000" kern="100" dirty="0">
                        <a:effectLst/>
                        <a:latin typeface="Times New Roman" panose="02020603050405020304"/>
                        <a:ea typeface="宋体" panose="02010600030101010101" pitchFamily="2" charset="-122"/>
                      </a:endParaRPr>
                    </a:p>
                    <a:p>
                      <a:pPr algn="ctr">
                        <a:lnSpc>
                          <a:spcPts val="1200"/>
                        </a:lnSpc>
                        <a:spcAft>
                          <a:spcPts val="0"/>
                        </a:spcAft>
                      </a:pPr>
                      <a:endParaRPr lang="zh-CN" sz="2000" kern="100" dirty="0">
                        <a:effectLst/>
                        <a:latin typeface="Times New Roman" panose="02020603050405020304"/>
                        <a:ea typeface="宋体" panose="02010600030101010101" pitchFamily="2" charset="-122"/>
                      </a:endParaRPr>
                    </a:p>
                    <a:p>
                      <a:pPr algn="l">
                        <a:lnSpc>
                          <a:spcPts val="1200"/>
                        </a:lnSpc>
                        <a:spcAft>
                          <a:spcPts val="0"/>
                        </a:spcAft>
                      </a:pPr>
                      <a:r>
                        <a:rPr lang="en-US" sz="2000" kern="100" dirty="0">
                          <a:effectLst/>
                          <a:latin typeface="Times New Roman" panose="02020603050405020304"/>
                          <a:ea typeface="宋体" panose="02010600030101010101" pitchFamily="2" charset="-122"/>
                        </a:rPr>
                        <a:t>     </a:t>
                      </a:r>
                      <a:r>
                        <a:rPr lang="zh-CN" sz="2000" kern="100" dirty="0">
                          <a:effectLst/>
                          <a:latin typeface="Times New Roman" panose="02020603050405020304"/>
                          <a:ea typeface="宋体" panose="02010600030101010101" pitchFamily="2" charset="-122"/>
                        </a:rPr>
                        <a:t>方式</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6350" cap="flat" cmpd="sng" algn="ctr">
                      <a:solidFill>
                        <a:srgbClr val="000000"/>
                      </a:solidFill>
                      <a:prstDash val="solid"/>
                      <a:round/>
                      <a:headEnd type="none" w="med" len="med"/>
                      <a:tailEnd type="none" w="med" len="med"/>
                    </a:lnTlToBr>
                  </a:tcPr>
                </a:tc>
                <a:tc>
                  <a:txBody>
                    <a:bodyPr/>
                    <a:lstStyle/>
                    <a:p>
                      <a:pPr algn="ctr">
                        <a:lnSpc>
                          <a:spcPts val="1200"/>
                        </a:lnSpc>
                        <a:spcAft>
                          <a:spcPts val="0"/>
                        </a:spcAft>
                      </a:pPr>
                      <a:endParaRPr lang="en-US" sz="2000" kern="100">
                        <a:effectLst/>
                        <a:latin typeface="Times New Roman" panose="02020603050405020304"/>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200"/>
                        </a:lnSpc>
                        <a:spcAft>
                          <a:spcPts val="0"/>
                        </a:spcAft>
                      </a:pPr>
                      <a:endParaRPr lang="en-US" sz="2000" kern="100">
                        <a:effectLst/>
                        <a:latin typeface="Times New Roman" panose="02020603050405020304"/>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200"/>
                        </a:lnSpc>
                        <a:spcAft>
                          <a:spcPts val="0"/>
                        </a:spcAft>
                      </a:pPr>
                      <a:r>
                        <a:rPr lang="en-US" sz="2000" kern="100">
                          <a:effectLst/>
                          <a:latin typeface="Times New Roman" panose="02020603050405020304"/>
                          <a:ea typeface="宋体" panose="02010600030101010101" pitchFamily="2" charset="-122"/>
                        </a:rPr>
                        <a:t>V</a:t>
                      </a:r>
                      <a:r>
                        <a:rPr lang="en-US" sz="2000" kern="100" baseline="-25000">
                          <a:effectLst/>
                          <a:latin typeface="Times New Roman" panose="02020603050405020304"/>
                          <a:ea typeface="宋体" panose="02010600030101010101" pitchFamily="2" charset="-122"/>
                        </a:rPr>
                        <a:t>PP</a:t>
                      </a:r>
                      <a:r>
                        <a:rPr lang="en-US" sz="2000" kern="100">
                          <a:effectLst/>
                          <a:latin typeface="Times New Roman" panose="02020603050405020304"/>
                          <a:ea typeface="宋体" panose="02010600030101010101" pitchFamily="2" charset="-122"/>
                        </a:rPr>
                        <a:t>(V)</a:t>
                      </a:r>
                      <a:endParaRPr lang="zh-CN" sz="2000" kern="100">
                        <a:effectLst/>
                        <a:latin typeface="Times New Roman" panose="02020603050405020304"/>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200"/>
                        </a:lnSpc>
                        <a:spcAft>
                          <a:spcPts val="0"/>
                        </a:spcAft>
                      </a:pPr>
                      <a:r>
                        <a:rPr lang="zh-CN" sz="2000" kern="100">
                          <a:effectLst/>
                          <a:latin typeface="Times New Roman" panose="02020603050405020304"/>
                          <a:ea typeface="宋体" panose="02010600030101010101" pitchFamily="2" charset="-122"/>
                        </a:rPr>
                        <a:t>数据线状态</a:t>
                      </a: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56671">
                <a:tc>
                  <a:txBody>
                    <a:bodyPr/>
                    <a:lstStyle/>
                    <a:p>
                      <a:pPr algn="ctr">
                        <a:lnSpc>
                          <a:spcPts val="1200"/>
                        </a:lnSpc>
                        <a:spcAft>
                          <a:spcPts val="0"/>
                        </a:spcAft>
                      </a:pPr>
                      <a:r>
                        <a:rPr lang="zh-CN" sz="2000" kern="100">
                          <a:effectLst/>
                          <a:latin typeface="Times New Roman" panose="02020603050405020304"/>
                          <a:ea typeface="宋体" panose="02010600030101010101" pitchFamily="2" charset="-122"/>
                        </a:rPr>
                        <a:t>读出方式</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200"/>
                        </a:lnSpc>
                        <a:spcAft>
                          <a:spcPts val="0"/>
                        </a:spcAft>
                      </a:pPr>
                      <a:r>
                        <a:rPr lang="zh-CN" sz="2000" kern="100">
                          <a:effectLst/>
                          <a:latin typeface="Times New Roman" panose="02020603050405020304"/>
                          <a:ea typeface="宋体" panose="02010600030101010101" pitchFamily="2" charset="-122"/>
                        </a:rPr>
                        <a:t>低</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200"/>
                        </a:lnSpc>
                        <a:spcAft>
                          <a:spcPts val="0"/>
                        </a:spcAft>
                      </a:pPr>
                      <a:r>
                        <a:rPr lang="zh-CN" sz="2000" kern="100">
                          <a:effectLst/>
                          <a:latin typeface="Times New Roman" panose="02020603050405020304"/>
                          <a:ea typeface="宋体" panose="02010600030101010101" pitchFamily="2" charset="-122"/>
                        </a:rPr>
                        <a:t>低</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200"/>
                        </a:lnSpc>
                        <a:spcAft>
                          <a:spcPts val="0"/>
                        </a:spcAft>
                      </a:pPr>
                      <a:r>
                        <a:rPr lang="en-US" sz="2000" kern="100">
                          <a:effectLst/>
                          <a:latin typeface="Times New Roman" panose="02020603050405020304"/>
                          <a:ea typeface="宋体" panose="02010600030101010101" pitchFamily="2" charset="-122"/>
                        </a:rPr>
                        <a:t>+4</a:t>
                      </a:r>
                      <a:r>
                        <a:rPr lang="zh-CN" sz="2000" kern="100">
                          <a:effectLst/>
                          <a:latin typeface="Times New Roman" panose="02020603050405020304"/>
                          <a:ea typeface="宋体" panose="02010600030101010101" pitchFamily="2" charset="-122"/>
                        </a:rPr>
                        <a:t>～</a:t>
                      </a:r>
                      <a:r>
                        <a:rPr lang="en-US" sz="2000" kern="100">
                          <a:effectLst/>
                          <a:latin typeface="Times New Roman" panose="02020603050405020304"/>
                          <a:ea typeface="宋体" panose="02010600030101010101" pitchFamily="2" charset="-122"/>
                        </a:rPr>
                        <a:t>+6</a:t>
                      </a:r>
                      <a:endParaRPr lang="zh-CN" sz="2000" kern="100">
                        <a:effectLst/>
                        <a:latin typeface="Times New Roman" panose="02020603050405020304"/>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200"/>
                        </a:lnSpc>
                        <a:spcAft>
                          <a:spcPts val="0"/>
                        </a:spcAft>
                      </a:pPr>
                      <a:r>
                        <a:rPr lang="zh-CN" sz="2000" kern="100">
                          <a:effectLst/>
                          <a:latin typeface="Times New Roman" panose="02020603050405020304"/>
                          <a:ea typeface="宋体" panose="02010600030101010101" pitchFamily="2" charset="-122"/>
                        </a:rPr>
                        <a:t>输出</a:t>
                      </a: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56671">
                <a:tc>
                  <a:txBody>
                    <a:bodyPr/>
                    <a:lstStyle/>
                    <a:p>
                      <a:pPr algn="ctr">
                        <a:lnSpc>
                          <a:spcPts val="1200"/>
                        </a:lnSpc>
                        <a:spcAft>
                          <a:spcPts val="0"/>
                        </a:spcAft>
                      </a:pPr>
                      <a:r>
                        <a:rPr lang="zh-CN" sz="2000" kern="100">
                          <a:effectLst/>
                          <a:latin typeface="Times New Roman" panose="02020603050405020304"/>
                          <a:ea typeface="宋体" panose="02010600030101010101" pitchFamily="2" charset="-122"/>
                        </a:rPr>
                        <a:t>待机（备用）方式</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200"/>
                        </a:lnSpc>
                        <a:spcAft>
                          <a:spcPts val="0"/>
                        </a:spcAft>
                      </a:pPr>
                      <a:r>
                        <a:rPr lang="zh-CN" sz="2000" kern="100">
                          <a:effectLst/>
                          <a:latin typeface="Times New Roman" panose="02020603050405020304"/>
                          <a:ea typeface="宋体" panose="02010600030101010101" pitchFamily="2" charset="-122"/>
                        </a:rPr>
                        <a:t>高</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200"/>
                        </a:lnSpc>
                        <a:spcAft>
                          <a:spcPts val="0"/>
                        </a:spcAft>
                      </a:pPr>
                      <a:r>
                        <a:rPr lang="zh-CN" sz="2000" kern="100">
                          <a:effectLst/>
                          <a:latin typeface="Times New Roman" panose="02020603050405020304"/>
                          <a:ea typeface="宋体" panose="02010600030101010101" pitchFamily="2" charset="-122"/>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200"/>
                        </a:lnSpc>
                        <a:spcAft>
                          <a:spcPts val="0"/>
                        </a:spcAft>
                      </a:pPr>
                      <a:r>
                        <a:rPr lang="en-US" sz="2000" kern="100">
                          <a:effectLst/>
                          <a:latin typeface="Times New Roman" panose="02020603050405020304"/>
                          <a:ea typeface="宋体" panose="02010600030101010101" pitchFamily="2" charset="-122"/>
                        </a:rPr>
                        <a:t>+4</a:t>
                      </a:r>
                      <a:r>
                        <a:rPr lang="zh-CN" sz="2000" kern="100">
                          <a:effectLst/>
                          <a:latin typeface="Times New Roman" panose="02020603050405020304"/>
                          <a:ea typeface="宋体" panose="02010600030101010101" pitchFamily="2" charset="-122"/>
                        </a:rPr>
                        <a:t>～</a:t>
                      </a:r>
                      <a:r>
                        <a:rPr lang="en-US" sz="2000" kern="100">
                          <a:effectLst/>
                          <a:latin typeface="Times New Roman" panose="02020603050405020304"/>
                          <a:ea typeface="宋体" panose="02010600030101010101" pitchFamily="2" charset="-122"/>
                        </a:rPr>
                        <a:t>+6</a:t>
                      </a:r>
                      <a:endParaRPr lang="zh-CN" sz="2000" kern="100">
                        <a:effectLst/>
                        <a:latin typeface="Times New Roman" panose="02020603050405020304"/>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200"/>
                        </a:lnSpc>
                        <a:spcAft>
                          <a:spcPts val="0"/>
                        </a:spcAft>
                      </a:pPr>
                      <a:r>
                        <a:rPr lang="zh-CN" sz="2000" kern="100">
                          <a:effectLst/>
                          <a:latin typeface="Times New Roman" panose="02020603050405020304"/>
                          <a:ea typeface="宋体" panose="02010600030101010101" pitchFamily="2" charset="-122"/>
                        </a:rPr>
                        <a:t>高阻</a:t>
                      </a: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56671">
                <a:tc>
                  <a:txBody>
                    <a:bodyPr/>
                    <a:lstStyle/>
                    <a:p>
                      <a:pPr algn="ctr">
                        <a:lnSpc>
                          <a:spcPts val="1200"/>
                        </a:lnSpc>
                        <a:spcAft>
                          <a:spcPts val="0"/>
                        </a:spcAft>
                      </a:pPr>
                      <a:r>
                        <a:rPr lang="zh-CN" sz="2000" kern="100">
                          <a:effectLst/>
                          <a:latin typeface="Times New Roman" panose="02020603050405020304"/>
                          <a:ea typeface="宋体" panose="02010600030101010101" pitchFamily="2" charset="-122"/>
                        </a:rPr>
                        <a:t>字节擦除方式</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200"/>
                        </a:lnSpc>
                        <a:spcAft>
                          <a:spcPts val="0"/>
                        </a:spcAft>
                      </a:pPr>
                      <a:r>
                        <a:rPr lang="zh-CN" sz="2000" kern="100">
                          <a:effectLst/>
                          <a:latin typeface="Times New Roman" panose="02020603050405020304"/>
                          <a:ea typeface="宋体" panose="02010600030101010101" pitchFamily="2" charset="-122"/>
                        </a:rPr>
                        <a:t>低</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200"/>
                        </a:lnSpc>
                        <a:spcAft>
                          <a:spcPts val="0"/>
                        </a:spcAft>
                      </a:pPr>
                      <a:r>
                        <a:rPr lang="zh-CN" sz="2000" kern="100">
                          <a:effectLst/>
                          <a:latin typeface="Times New Roman" panose="02020603050405020304"/>
                          <a:ea typeface="宋体" panose="02010600030101010101" pitchFamily="2" charset="-122"/>
                        </a:rPr>
                        <a:t>高</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200"/>
                        </a:lnSpc>
                        <a:spcAft>
                          <a:spcPts val="0"/>
                        </a:spcAft>
                      </a:pPr>
                      <a:r>
                        <a:rPr lang="en-US" sz="2000" kern="100">
                          <a:effectLst/>
                          <a:latin typeface="Times New Roman" panose="02020603050405020304"/>
                          <a:ea typeface="宋体" panose="02010600030101010101" pitchFamily="2" charset="-122"/>
                        </a:rPr>
                        <a:t>+21</a:t>
                      </a:r>
                      <a:endParaRPr lang="zh-CN" sz="2000" kern="100">
                        <a:effectLst/>
                        <a:latin typeface="Times New Roman" panose="02020603050405020304"/>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200"/>
                        </a:lnSpc>
                        <a:spcAft>
                          <a:spcPts val="0"/>
                        </a:spcAft>
                      </a:pPr>
                      <a:r>
                        <a:rPr lang="zh-CN" sz="2000" kern="100">
                          <a:effectLst/>
                          <a:latin typeface="Times New Roman" panose="02020603050405020304"/>
                          <a:ea typeface="宋体" panose="02010600030101010101" pitchFamily="2" charset="-122"/>
                        </a:rPr>
                        <a:t>输入为高电平</a:t>
                      </a: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56671">
                <a:tc>
                  <a:txBody>
                    <a:bodyPr/>
                    <a:lstStyle/>
                    <a:p>
                      <a:pPr algn="ctr">
                        <a:lnSpc>
                          <a:spcPts val="1200"/>
                        </a:lnSpc>
                        <a:spcAft>
                          <a:spcPts val="0"/>
                        </a:spcAft>
                      </a:pPr>
                      <a:r>
                        <a:rPr lang="zh-CN" sz="2000" kern="100">
                          <a:effectLst/>
                          <a:latin typeface="Times New Roman" panose="02020603050405020304"/>
                          <a:ea typeface="宋体" panose="02010600030101010101" pitchFamily="2" charset="-122"/>
                        </a:rPr>
                        <a:t>字节写入方式</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200"/>
                        </a:lnSpc>
                        <a:spcAft>
                          <a:spcPts val="0"/>
                        </a:spcAft>
                      </a:pPr>
                      <a:r>
                        <a:rPr lang="zh-CN" sz="2000" kern="100">
                          <a:effectLst/>
                          <a:latin typeface="Times New Roman" panose="02020603050405020304"/>
                          <a:ea typeface="宋体" panose="02010600030101010101" pitchFamily="2" charset="-122"/>
                        </a:rPr>
                        <a:t>低</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200"/>
                        </a:lnSpc>
                        <a:spcAft>
                          <a:spcPts val="0"/>
                        </a:spcAft>
                      </a:pPr>
                      <a:r>
                        <a:rPr lang="zh-CN" sz="2000" kern="100">
                          <a:effectLst/>
                          <a:latin typeface="Times New Roman" panose="02020603050405020304"/>
                          <a:ea typeface="宋体" panose="02010600030101010101" pitchFamily="2" charset="-122"/>
                        </a:rPr>
                        <a:t>高</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200"/>
                        </a:lnSpc>
                        <a:spcAft>
                          <a:spcPts val="0"/>
                        </a:spcAft>
                      </a:pPr>
                      <a:r>
                        <a:rPr lang="en-US" sz="2000" kern="100">
                          <a:effectLst/>
                          <a:latin typeface="Times New Roman" panose="02020603050405020304"/>
                          <a:ea typeface="宋体" panose="02010600030101010101" pitchFamily="2" charset="-122"/>
                        </a:rPr>
                        <a:t>+21</a:t>
                      </a:r>
                      <a:endParaRPr lang="zh-CN" sz="2000" kern="100">
                        <a:effectLst/>
                        <a:latin typeface="Times New Roman" panose="02020603050405020304"/>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200"/>
                        </a:lnSpc>
                        <a:spcAft>
                          <a:spcPts val="0"/>
                        </a:spcAft>
                      </a:pPr>
                      <a:r>
                        <a:rPr lang="zh-CN" sz="2000" kern="100">
                          <a:effectLst/>
                          <a:latin typeface="Times New Roman" panose="02020603050405020304"/>
                          <a:ea typeface="宋体" panose="02010600030101010101" pitchFamily="2" charset="-122"/>
                        </a:rPr>
                        <a:t>输入</a:t>
                      </a: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56671">
                <a:tc>
                  <a:txBody>
                    <a:bodyPr/>
                    <a:lstStyle/>
                    <a:p>
                      <a:pPr algn="ctr">
                        <a:lnSpc>
                          <a:spcPts val="1200"/>
                        </a:lnSpc>
                        <a:spcAft>
                          <a:spcPts val="0"/>
                        </a:spcAft>
                      </a:pPr>
                      <a:r>
                        <a:rPr lang="zh-CN" sz="2000" kern="100">
                          <a:effectLst/>
                          <a:latin typeface="Times New Roman" panose="02020603050405020304"/>
                          <a:ea typeface="宋体" panose="02010600030101010101" pitchFamily="2" charset="-122"/>
                        </a:rPr>
                        <a:t>整片擦除方式</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200"/>
                        </a:lnSpc>
                        <a:spcAft>
                          <a:spcPts val="0"/>
                        </a:spcAft>
                      </a:pPr>
                      <a:r>
                        <a:rPr lang="zh-CN" sz="2000" kern="100">
                          <a:effectLst/>
                          <a:latin typeface="Times New Roman" panose="02020603050405020304"/>
                          <a:ea typeface="宋体" panose="02010600030101010101" pitchFamily="2" charset="-122"/>
                        </a:rPr>
                        <a:t>低</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200"/>
                        </a:lnSpc>
                        <a:spcAft>
                          <a:spcPts val="0"/>
                        </a:spcAft>
                      </a:pPr>
                      <a:r>
                        <a:rPr lang="en-US" sz="2000" kern="100">
                          <a:effectLst/>
                          <a:latin typeface="Times New Roman" panose="02020603050405020304"/>
                          <a:ea typeface="宋体" panose="02010600030101010101" pitchFamily="2" charset="-122"/>
                        </a:rPr>
                        <a:t>+9</a:t>
                      </a:r>
                      <a:r>
                        <a:rPr lang="zh-CN" sz="2000" kern="100">
                          <a:effectLst/>
                          <a:latin typeface="Times New Roman" panose="02020603050405020304"/>
                          <a:ea typeface="宋体" panose="02010600030101010101" pitchFamily="2" charset="-122"/>
                        </a:rPr>
                        <a:t>～</a:t>
                      </a:r>
                      <a:r>
                        <a:rPr lang="en-US" sz="2000" kern="100">
                          <a:effectLst/>
                          <a:latin typeface="Times New Roman" panose="02020603050405020304"/>
                          <a:ea typeface="宋体" panose="02010600030101010101" pitchFamily="2" charset="-122"/>
                        </a:rPr>
                        <a:t>+15V</a:t>
                      </a:r>
                      <a:endParaRPr lang="zh-CN" sz="2000" kern="100">
                        <a:effectLst/>
                        <a:latin typeface="Times New Roman" panose="02020603050405020304"/>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200"/>
                        </a:lnSpc>
                        <a:spcAft>
                          <a:spcPts val="0"/>
                        </a:spcAft>
                      </a:pPr>
                      <a:r>
                        <a:rPr lang="en-US" sz="2000" kern="100">
                          <a:effectLst/>
                          <a:latin typeface="Times New Roman" panose="02020603050405020304"/>
                          <a:ea typeface="宋体" panose="02010600030101010101" pitchFamily="2" charset="-122"/>
                        </a:rPr>
                        <a:t>+21</a:t>
                      </a:r>
                      <a:endParaRPr lang="zh-CN" sz="2000" kern="100">
                        <a:effectLst/>
                        <a:latin typeface="Times New Roman" panose="02020603050405020304"/>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200"/>
                        </a:lnSpc>
                        <a:spcAft>
                          <a:spcPts val="0"/>
                        </a:spcAft>
                      </a:pPr>
                      <a:r>
                        <a:rPr lang="zh-CN" sz="2000" kern="100">
                          <a:effectLst/>
                          <a:latin typeface="Times New Roman" panose="02020603050405020304"/>
                          <a:ea typeface="宋体" panose="02010600030101010101" pitchFamily="2" charset="-122"/>
                        </a:rPr>
                        <a:t>输入为高电平</a:t>
                      </a: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456671">
                <a:tc>
                  <a:txBody>
                    <a:bodyPr/>
                    <a:lstStyle/>
                    <a:p>
                      <a:pPr algn="ctr">
                        <a:lnSpc>
                          <a:spcPts val="1200"/>
                        </a:lnSpc>
                        <a:spcAft>
                          <a:spcPts val="0"/>
                        </a:spcAft>
                      </a:pPr>
                      <a:r>
                        <a:rPr lang="zh-CN" sz="2000" kern="100">
                          <a:effectLst/>
                          <a:latin typeface="Times New Roman" panose="02020603050405020304"/>
                          <a:ea typeface="宋体" panose="02010600030101010101" pitchFamily="2" charset="-122"/>
                        </a:rPr>
                        <a:t>擦写禁止方式</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200"/>
                        </a:lnSpc>
                        <a:spcAft>
                          <a:spcPts val="0"/>
                        </a:spcAft>
                      </a:pPr>
                      <a:r>
                        <a:rPr lang="zh-CN" sz="2000" kern="100">
                          <a:effectLst/>
                          <a:latin typeface="Times New Roman" panose="02020603050405020304"/>
                          <a:ea typeface="宋体" panose="02010600030101010101" pitchFamily="2" charset="-122"/>
                        </a:rPr>
                        <a:t>高</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200"/>
                        </a:lnSpc>
                        <a:spcAft>
                          <a:spcPts val="0"/>
                        </a:spcAft>
                      </a:pPr>
                      <a:r>
                        <a:rPr lang="zh-CN" sz="2000" kern="100">
                          <a:effectLst/>
                          <a:latin typeface="Times New Roman" panose="02020603050405020304"/>
                          <a:ea typeface="宋体" panose="02010600030101010101" pitchFamily="2" charset="-122"/>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200"/>
                        </a:lnSpc>
                        <a:spcAft>
                          <a:spcPts val="0"/>
                        </a:spcAft>
                      </a:pPr>
                      <a:r>
                        <a:rPr lang="en-US" sz="2000" kern="100">
                          <a:effectLst/>
                          <a:latin typeface="Times New Roman" panose="02020603050405020304"/>
                          <a:ea typeface="宋体" panose="02010600030101010101" pitchFamily="2" charset="-122"/>
                        </a:rPr>
                        <a:t>+4</a:t>
                      </a:r>
                      <a:r>
                        <a:rPr lang="zh-CN" sz="2000" kern="100">
                          <a:effectLst/>
                          <a:latin typeface="Times New Roman" panose="02020603050405020304"/>
                          <a:ea typeface="宋体" panose="02010600030101010101" pitchFamily="2" charset="-122"/>
                        </a:rPr>
                        <a:t>～</a:t>
                      </a:r>
                      <a:r>
                        <a:rPr lang="en-US" sz="2000" kern="100">
                          <a:effectLst/>
                          <a:latin typeface="Times New Roman" panose="02020603050405020304"/>
                          <a:ea typeface="宋体" panose="02010600030101010101" pitchFamily="2" charset="-122"/>
                        </a:rPr>
                        <a:t>+22</a:t>
                      </a:r>
                      <a:endParaRPr lang="zh-CN" sz="2000" kern="100">
                        <a:effectLst/>
                        <a:latin typeface="Times New Roman" panose="02020603050405020304"/>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200"/>
                        </a:lnSpc>
                        <a:spcAft>
                          <a:spcPts val="0"/>
                        </a:spcAft>
                      </a:pPr>
                      <a:r>
                        <a:rPr lang="zh-CN" sz="2000" kern="100" dirty="0">
                          <a:effectLst/>
                          <a:latin typeface="Times New Roman" panose="02020603050405020304"/>
                          <a:ea typeface="宋体" panose="02010600030101010101" pitchFamily="2" charset="-122"/>
                        </a:rPr>
                        <a:t>高阻</a:t>
                      </a: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graphicFrame>
        <p:nvGraphicFramePr>
          <p:cNvPr id="69686" name="对象 4"/>
          <p:cNvGraphicFramePr>
            <a:graphicFrameLocks noChangeAspect="1"/>
          </p:cNvGraphicFramePr>
          <p:nvPr/>
        </p:nvGraphicFramePr>
        <p:xfrm>
          <a:off x="2913063" y="3057525"/>
          <a:ext cx="512762" cy="457200"/>
        </p:xfrm>
        <a:graphic>
          <a:graphicData uri="http://schemas.openxmlformats.org/presentationml/2006/ole">
            <mc:AlternateContent xmlns:mc="http://schemas.openxmlformats.org/markup-compatibility/2006">
              <mc:Choice xmlns:v="urn:schemas-microsoft-com:vml" Requires="v">
                <p:oleObj spid="_x0000_s11283" r:id="rId3" imgW="179070" imgH="166370" progId="Equation.DSMT4">
                  <p:embed/>
                </p:oleObj>
              </mc:Choice>
              <mc:Fallback>
                <p:oleObj r:id="rId3" imgW="179070" imgH="166370" progId="Equation.DSMT4">
                  <p:embed/>
                  <p:pic>
                    <p:nvPicPr>
                      <p:cNvPr id="0" name="图片 3082"/>
                      <p:cNvPicPr/>
                      <p:nvPr/>
                    </p:nvPicPr>
                    <p:blipFill>
                      <a:blip r:embed="rId4"/>
                      <a:stretch>
                        <a:fillRect/>
                      </a:stretch>
                    </p:blipFill>
                    <p:spPr>
                      <a:xfrm>
                        <a:off x="2913063" y="3057525"/>
                        <a:ext cx="512762" cy="457200"/>
                      </a:xfrm>
                      <a:prstGeom prst="rect">
                        <a:avLst/>
                      </a:prstGeom>
                      <a:solidFill>
                        <a:schemeClr val="tx1"/>
                      </a:solidFill>
                      <a:ln w="38100">
                        <a:noFill/>
                        <a:miter/>
                      </a:ln>
                    </p:spPr>
                  </p:pic>
                </p:oleObj>
              </mc:Fallback>
            </mc:AlternateContent>
          </a:graphicData>
        </a:graphic>
      </p:graphicFrame>
      <p:graphicFrame>
        <p:nvGraphicFramePr>
          <p:cNvPr id="69687" name="对象 5"/>
          <p:cNvGraphicFramePr>
            <a:graphicFrameLocks noChangeAspect="1"/>
          </p:cNvGraphicFramePr>
          <p:nvPr/>
        </p:nvGraphicFramePr>
        <p:xfrm>
          <a:off x="4081463" y="3036888"/>
          <a:ext cx="536575" cy="457200"/>
        </p:xfrm>
        <a:graphic>
          <a:graphicData uri="http://schemas.openxmlformats.org/presentationml/2006/ole">
            <mc:AlternateContent xmlns:mc="http://schemas.openxmlformats.org/markup-compatibility/2006">
              <mc:Choice xmlns:v="urn:schemas-microsoft-com:vml" Requires="v">
                <p:oleObj spid="_x0000_s11284" r:id="rId5" imgW="192405" imgH="167005" progId="Equation.DSMT4">
                  <p:embed/>
                </p:oleObj>
              </mc:Choice>
              <mc:Fallback>
                <p:oleObj r:id="rId5" imgW="192405" imgH="167005" progId="Equation.DSMT4">
                  <p:embed/>
                  <p:pic>
                    <p:nvPicPr>
                      <p:cNvPr id="0" name="图片 3081"/>
                      <p:cNvPicPr/>
                      <p:nvPr/>
                    </p:nvPicPr>
                    <p:blipFill>
                      <a:blip r:embed="rId6"/>
                      <a:stretch>
                        <a:fillRect/>
                      </a:stretch>
                    </p:blipFill>
                    <p:spPr>
                      <a:xfrm>
                        <a:off x="4081463" y="3036888"/>
                        <a:ext cx="536575" cy="457200"/>
                      </a:xfrm>
                      <a:prstGeom prst="rect">
                        <a:avLst/>
                      </a:prstGeom>
                      <a:solidFill>
                        <a:schemeClr val="tx1"/>
                      </a:solidFill>
                      <a:ln w="38100">
                        <a:noFill/>
                        <a:miter/>
                      </a:ln>
                    </p:spPr>
                  </p:pic>
                </p:oleObj>
              </mc:Fallback>
            </mc:AlternateContent>
          </a:graphicData>
        </a:graphic>
      </p:graphicFrame>
    </p:spTree>
  </p:cSld>
  <p:clrMapOvr>
    <a:masterClrMapping/>
  </p:clrMapOvr>
  <p:transition spd="med">
    <p:random/>
  </p:transition>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417513" y="228600"/>
            <a:ext cx="8331200" cy="1143000"/>
          </a:xfrm>
          <a:prstGeom prst="rect">
            <a:avLst/>
          </a:prstGeom>
          <a:ln w="9525" cap="flat" cmpd="sng" algn="ctr">
            <a:noFill/>
            <a:prstDash val="solid"/>
          </a:ln>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800" b="1" i="0" u="none" strike="noStrike" kern="0" cap="none" spc="0" normalizeH="0" baseline="0" noProof="0" dirty="0">
                <a:ln>
                  <a:noFill/>
                </a:ln>
                <a:solidFill>
                  <a:srgbClr val="E8E8E8"/>
                </a:solidFill>
                <a:effectLst/>
                <a:uLnTx/>
                <a:uFillTx/>
                <a:latin typeface="+mj-lt"/>
                <a:ea typeface="+mj-ea"/>
                <a:cs typeface="+mj-cs"/>
              </a:rPr>
              <a:t>5.3.4  </a:t>
            </a:r>
            <a:r>
              <a:rPr kumimoji="1" lang="zh-CN" altLang="zh-CN" sz="2800" b="1" i="0" u="none" strike="noStrike" kern="0" cap="none" spc="0" normalizeH="0" baseline="0" noProof="0" dirty="0">
                <a:ln>
                  <a:noFill/>
                </a:ln>
                <a:solidFill>
                  <a:srgbClr val="E8E8E8"/>
                </a:solidFill>
                <a:effectLst/>
                <a:uLnTx/>
                <a:uFillTx/>
                <a:latin typeface="+mj-lt"/>
                <a:ea typeface="+mj-ea"/>
                <a:cs typeface="+mj-cs"/>
              </a:rPr>
              <a:t>闪存</a:t>
            </a:r>
            <a:r>
              <a:rPr kumimoji="1" lang="en-US" altLang="zh-CN" sz="2800" b="1" i="0" u="none" strike="noStrike" kern="0" cap="none" spc="0" normalizeH="0" baseline="0" noProof="0" dirty="0">
                <a:ln>
                  <a:noFill/>
                </a:ln>
                <a:solidFill>
                  <a:srgbClr val="E8E8E8"/>
                </a:solidFill>
                <a:effectLst/>
                <a:uLnTx/>
                <a:uFillTx/>
                <a:latin typeface="+mj-lt"/>
                <a:ea typeface="+mj-ea"/>
                <a:cs typeface="+mj-cs"/>
              </a:rPr>
              <a:t>(Flash Memory)</a:t>
            </a:r>
            <a:endParaRPr kumimoji="1" lang="zh-CN" altLang="en-US" sz="28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endParaRPr>
          </a:p>
        </p:txBody>
      </p:sp>
      <p:sp>
        <p:nvSpPr>
          <p:cNvPr id="70658" name="内容占位符 2"/>
          <p:cNvSpPr>
            <a:spLocks noGrp="1"/>
          </p:cNvSpPr>
          <p:nvPr>
            <p:ph/>
          </p:nvPr>
        </p:nvSpPr>
        <p:spPr>
          <a:xfrm>
            <a:off x="577850" y="1835150"/>
            <a:ext cx="8197850" cy="4368800"/>
          </a:xfrm>
          <a:prstGeom prst="rect">
            <a:avLst/>
          </a:prstGeom>
          <a:noFill/>
          <a:ln w="9525">
            <a:noFill/>
          </a:ln>
        </p:spPr>
        <p:txBody>
          <a:bodyPr wrap="square" lIns="92075" tIns="46038" rIns="92075" bIns="46038" anchor="t" anchorCtr="0"/>
          <a:lstStyle/>
          <a:p>
            <a:r>
              <a:rPr lang="zh-CN" altLang="zh-CN" sz="2400" dirty="0"/>
              <a:t>闪存，也叫快擦型存储器，它是不用电池供电的、高速耐用的非易失性半导体存储器，它以性能好、功耗低、体积小、质量轻等特点活跃于便携机存储器市场，但价格较贵。</a:t>
            </a:r>
            <a:endParaRPr lang="en-US" altLang="zh-CN" sz="2400" dirty="0"/>
          </a:p>
          <a:p>
            <a:pPr algn="just"/>
            <a:r>
              <a:rPr lang="zh-CN" altLang="zh-CN" sz="2400" dirty="0"/>
              <a:t>闪存具有</a:t>
            </a:r>
            <a:r>
              <a:rPr lang="en-US" altLang="zh-CN" sz="2400" dirty="0"/>
              <a:t>EEPROM</a:t>
            </a:r>
            <a:r>
              <a:rPr lang="zh-CN" altLang="zh-CN" sz="2400" dirty="0"/>
              <a:t>的特点，又可在计算机内进行擦除和编程，它的读取时间与</a:t>
            </a:r>
            <a:r>
              <a:rPr lang="en-US" altLang="zh-CN" sz="2400" dirty="0"/>
              <a:t>DRAM</a:t>
            </a:r>
            <a:r>
              <a:rPr lang="zh-CN" altLang="zh-CN" sz="2400" dirty="0"/>
              <a:t>相似，而写时间与磁盘驱动器相当。</a:t>
            </a:r>
            <a:endParaRPr lang="en-US" altLang="zh-CN" sz="2400" dirty="0"/>
          </a:p>
          <a:p>
            <a:endParaRPr lang="zh-CN" altLang="en-US" sz="2400" dirty="0"/>
          </a:p>
        </p:txBody>
      </p:sp>
    </p:spTree>
  </p:cSld>
  <p:clrMapOvr>
    <a:masterClrMapping/>
  </p:clrMapOvr>
  <p:transition spd="med">
    <p:random/>
  </p:transition>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1681" name="内容占位符 2"/>
          <p:cNvSpPr>
            <a:spLocks noGrp="1"/>
          </p:cNvSpPr>
          <p:nvPr>
            <p:ph/>
          </p:nvPr>
        </p:nvSpPr>
        <p:spPr>
          <a:xfrm>
            <a:off x="552450" y="1809750"/>
            <a:ext cx="8197850" cy="3006725"/>
          </a:xfrm>
          <a:prstGeom prst="rect">
            <a:avLst/>
          </a:prstGeom>
          <a:noFill/>
          <a:ln w="9525">
            <a:noFill/>
          </a:ln>
        </p:spPr>
        <p:txBody>
          <a:bodyPr wrap="square" lIns="92075" tIns="46038" rIns="92075" bIns="46038" anchor="t" anchorCtr="0"/>
          <a:lstStyle/>
          <a:p>
            <a:pPr algn="just"/>
            <a:r>
              <a:rPr lang="zh-CN" altLang="zh-CN" sz="2400" dirty="0"/>
              <a:t>闪存可替代</a:t>
            </a:r>
            <a:r>
              <a:rPr lang="en-US" altLang="zh-CN" sz="2400" dirty="0"/>
              <a:t>EEPROM</a:t>
            </a:r>
            <a:r>
              <a:rPr lang="zh-CN" altLang="zh-CN" sz="2400" dirty="0"/>
              <a:t>，在某些应用场合还可取代</a:t>
            </a:r>
            <a:r>
              <a:rPr lang="en-US" altLang="zh-CN" sz="2400" dirty="0"/>
              <a:t>SRAM</a:t>
            </a:r>
            <a:r>
              <a:rPr lang="zh-CN" altLang="zh-CN" sz="2400" dirty="0"/>
              <a:t>，尤其是对于需要配备电池后援的</a:t>
            </a:r>
            <a:r>
              <a:rPr lang="en-US" altLang="zh-CN" sz="2400" dirty="0"/>
              <a:t>SRAM</a:t>
            </a:r>
            <a:r>
              <a:rPr lang="zh-CN" altLang="zh-CN" sz="2400" dirty="0"/>
              <a:t>系统，使用闪存后可省去电池。闪存的非易失性和快速读取的特点能满足固态盘驱动器的要求，同时可替代便携机中的</a:t>
            </a:r>
            <a:r>
              <a:rPr lang="en-US" altLang="zh-CN" sz="2400" dirty="0"/>
              <a:t>ROM</a:t>
            </a:r>
            <a:r>
              <a:rPr lang="zh-CN" altLang="zh-CN" sz="2400" dirty="0"/>
              <a:t>，以便随时写入最新版本的操作系统。闪存还可应用于激光打印机、条形码阅读器、各种仪器设备及计算机的外部设备中。典型的芯片有</a:t>
            </a:r>
            <a:r>
              <a:rPr lang="en-US" altLang="zh-CN" sz="2400" dirty="0"/>
              <a:t>27F256/28F016/28F020</a:t>
            </a:r>
            <a:r>
              <a:rPr lang="zh-CN" altLang="zh-CN" sz="2400" dirty="0"/>
              <a:t>等。</a:t>
            </a:r>
          </a:p>
          <a:p>
            <a:pPr algn="just"/>
            <a:endParaRPr lang="zh-CN" altLang="en-US" sz="2400" dirty="0"/>
          </a:p>
        </p:txBody>
      </p:sp>
    </p:spTree>
  </p:cSld>
  <p:clrMapOvr>
    <a:masterClrMapping/>
  </p:clrMapOvr>
  <p:transition spd="med">
    <p:random/>
  </p:transition>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417513" y="228600"/>
            <a:ext cx="8331200" cy="1143000"/>
          </a:xfrm>
          <a:prstGeom prst="rect">
            <a:avLst/>
          </a:prstGeom>
          <a:ln w="9525" cap="flat" cmpd="sng" algn="ctr">
            <a:noFill/>
            <a:prstDash val="solid"/>
          </a:ln>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5.4　存储器的分级体系</a:t>
            </a:r>
          </a:p>
        </p:txBody>
      </p:sp>
      <p:sp>
        <p:nvSpPr>
          <p:cNvPr id="72706" name="内容占位符 2"/>
          <p:cNvSpPr>
            <a:spLocks noGrp="1"/>
          </p:cNvSpPr>
          <p:nvPr>
            <p:ph/>
          </p:nvPr>
        </p:nvSpPr>
        <p:spPr>
          <a:xfrm>
            <a:off x="577850" y="1971675"/>
            <a:ext cx="8008938" cy="4230688"/>
          </a:xfrm>
          <a:prstGeom prst="rect">
            <a:avLst/>
          </a:prstGeom>
          <a:noFill/>
          <a:ln w="9525">
            <a:noFill/>
          </a:ln>
        </p:spPr>
        <p:txBody>
          <a:bodyPr wrap="square" lIns="92075" tIns="46038" rIns="92075" bIns="46038" anchor="t" anchorCtr="0"/>
          <a:lstStyle/>
          <a:p>
            <a:r>
              <a:rPr lang="zh-CN" altLang="zh-CN" sz="2400" dirty="0"/>
              <a:t>在一个系统中，存储器系统通常由多种存储器有机组合在一起，扬长避短，构成多层次的存储系统。</a:t>
            </a:r>
            <a:endParaRPr lang="en-US" altLang="zh-CN" sz="2400" dirty="0"/>
          </a:p>
          <a:p>
            <a:r>
              <a:rPr lang="zh-CN" altLang="zh-CN" sz="2400" dirty="0"/>
              <a:t>体系就是把几种不同容量、不同速度的存储器合理地组织在一起，使之能较好地同时满足大容量、高速度、低价格的要求。实现的技术难度也有相应的增加。</a:t>
            </a:r>
            <a:endParaRPr lang="zh-CN" altLang="en-US" sz="2400" dirty="0"/>
          </a:p>
        </p:txBody>
      </p:sp>
    </p:spTree>
  </p:cSld>
  <p:clrMapOvr>
    <a:masterClrMapping/>
  </p:clrMapOvr>
  <p:transition spd="med">
    <p:random/>
  </p:transition>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417513" y="228600"/>
            <a:ext cx="8331200" cy="1143000"/>
          </a:xfrm>
          <a:prstGeom prst="rect">
            <a:avLst/>
          </a:prstGeom>
          <a:ln w="9525" cap="flat" cmpd="sng" algn="ctr">
            <a:noFill/>
            <a:prstDash val="solid"/>
          </a:ln>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800" b="1" i="0" u="none" strike="noStrike" kern="0" cap="none" spc="0" normalizeH="0" baseline="0" noProof="0" dirty="0">
                <a:ln>
                  <a:noFill/>
                </a:ln>
                <a:solidFill>
                  <a:srgbClr val="E8E8E8"/>
                </a:solidFill>
                <a:effectLst/>
                <a:uLnTx/>
                <a:uFillTx/>
                <a:latin typeface="+mj-lt"/>
                <a:ea typeface="+mj-ea"/>
                <a:cs typeface="+mj-cs"/>
              </a:rPr>
              <a:t>5.4.1  </a:t>
            </a:r>
            <a:r>
              <a:rPr kumimoji="1" lang="zh-CN" altLang="zh-CN" sz="2800" b="1" i="0" u="none" strike="noStrike" kern="0" cap="none" spc="0" normalizeH="0" baseline="0" noProof="0" dirty="0">
                <a:ln>
                  <a:noFill/>
                </a:ln>
                <a:solidFill>
                  <a:srgbClr val="E8E8E8"/>
                </a:solidFill>
                <a:effectLst/>
                <a:uLnTx/>
                <a:uFillTx/>
                <a:latin typeface="+mj-lt"/>
                <a:ea typeface="+mj-ea"/>
                <a:cs typeface="+mj-cs"/>
              </a:rPr>
              <a:t>存储器的分级结构</a:t>
            </a:r>
            <a:endParaRPr kumimoji="1" lang="zh-CN" altLang="en-US" sz="28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endParaRPr>
          </a:p>
        </p:txBody>
      </p:sp>
      <p:pic>
        <p:nvPicPr>
          <p:cNvPr id="73730" name="Picture 4" descr="5"/>
          <p:cNvPicPr>
            <a:picLocks noChangeAspect="1"/>
          </p:cNvPicPr>
          <p:nvPr/>
        </p:nvPicPr>
        <p:blipFill>
          <a:blip r:embed="rId2"/>
          <a:stretch>
            <a:fillRect/>
          </a:stretch>
        </p:blipFill>
        <p:spPr>
          <a:xfrm>
            <a:off x="971550" y="2206625"/>
            <a:ext cx="7004050" cy="2078038"/>
          </a:xfrm>
          <a:prstGeom prst="rect">
            <a:avLst/>
          </a:prstGeom>
          <a:noFill/>
          <a:ln w="9525">
            <a:noFill/>
          </a:ln>
        </p:spPr>
      </p:pic>
      <p:sp>
        <p:nvSpPr>
          <p:cNvPr id="73731" name="矩形 2"/>
          <p:cNvSpPr/>
          <p:nvPr/>
        </p:nvSpPr>
        <p:spPr>
          <a:xfrm>
            <a:off x="2311400" y="4651375"/>
            <a:ext cx="4521200" cy="425450"/>
          </a:xfrm>
          <a:prstGeom prst="rect">
            <a:avLst/>
          </a:prstGeom>
          <a:noFill/>
          <a:ln w="9525">
            <a:noFill/>
          </a:ln>
        </p:spPr>
        <p:txBody>
          <a:bodyPr wrap="none" anchor="t" anchorCtr="0">
            <a:spAutoFit/>
          </a:bodyPr>
          <a:lstStyle/>
          <a:p>
            <a:r>
              <a:rPr lang="zh-CN" altLang="zh-CN" dirty="0">
                <a:latin typeface="宋体" panose="02010600030101010101" pitchFamily="2" charset="-122"/>
                <a:ea typeface="宋体" panose="02010600030101010101" pitchFamily="2" charset="-122"/>
              </a:rPr>
              <a:t>图</a:t>
            </a:r>
            <a:r>
              <a:rPr lang="en-US" altLang="zh-CN" dirty="0">
                <a:latin typeface="宋体" panose="02010600030101010101" pitchFamily="2" charset="-122"/>
                <a:ea typeface="宋体" panose="02010600030101010101" pitchFamily="2" charset="-122"/>
              </a:rPr>
              <a:t>5-34  </a:t>
            </a:r>
            <a:r>
              <a:rPr lang="zh-CN" altLang="zh-CN" dirty="0">
                <a:latin typeface="宋体" panose="02010600030101010101" pitchFamily="2" charset="-122"/>
                <a:ea typeface="宋体" panose="02010600030101010101" pitchFamily="2" charset="-122"/>
              </a:rPr>
              <a:t>存储器系统的层次结构</a:t>
            </a:r>
          </a:p>
        </p:txBody>
      </p:sp>
    </p:spTree>
  </p:cSld>
  <p:clrMapOvr>
    <a:masterClrMapping/>
  </p:clrMapOvr>
  <p:transition spd="med">
    <p:random/>
  </p:transition>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4753" name="内容占位符 2"/>
          <p:cNvSpPr>
            <a:spLocks noGrp="1"/>
          </p:cNvSpPr>
          <p:nvPr>
            <p:ph/>
          </p:nvPr>
        </p:nvSpPr>
        <p:spPr>
          <a:xfrm>
            <a:off x="158750" y="701675"/>
            <a:ext cx="8593138" cy="5770563"/>
          </a:xfrm>
          <a:prstGeom prst="rect">
            <a:avLst/>
          </a:prstGeom>
          <a:noFill/>
          <a:ln w="9525">
            <a:noFill/>
          </a:ln>
        </p:spPr>
        <p:txBody>
          <a:bodyPr wrap="square" lIns="92075" tIns="46038" rIns="92075" bIns="46038" anchor="t" anchorCtr="0"/>
          <a:lstStyle/>
          <a:p>
            <a:pPr marL="0" indent="0" algn="just">
              <a:buNone/>
            </a:pPr>
            <a:r>
              <a:rPr lang="en-US" altLang="zh-CN" dirty="0"/>
              <a:t>       1</a:t>
            </a:r>
            <a:r>
              <a:rPr lang="zh-CN" altLang="zh-CN" dirty="0"/>
              <a:t>．高速缓存—主存层次</a:t>
            </a:r>
          </a:p>
          <a:p>
            <a:pPr marL="0" lvl="1" algn="just">
              <a:buNone/>
            </a:pPr>
            <a:r>
              <a:rPr lang="zh-CN" altLang="zh-CN" dirty="0"/>
              <a:t>        在这个层次主要解决存储器系统的访问速度问题。</a:t>
            </a:r>
            <a:endParaRPr lang="en-US" altLang="zh-CN" dirty="0"/>
          </a:p>
          <a:p>
            <a:pPr marL="0" lvl="1" algn="just">
              <a:buNone/>
            </a:pPr>
            <a:r>
              <a:rPr lang="zh-CN" altLang="zh-CN" dirty="0"/>
              <a:t>高速缓存，即</a:t>
            </a:r>
            <a:r>
              <a:rPr lang="en-US" altLang="zh-CN" dirty="0"/>
              <a:t>Cache</a:t>
            </a:r>
            <a:r>
              <a:rPr lang="zh-CN" altLang="zh-CN" dirty="0"/>
              <a:t>，由静态</a:t>
            </a:r>
            <a:r>
              <a:rPr lang="en-US" altLang="zh-CN" dirty="0"/>
              <a:t>RAM</a:t>
            </a:r>
            <a:r>
              <a:rPr lang="zh-CN" altLang="zh-CN" dirty="0"/>
              <a:t>（</a:t>
            </a:r>
            <a:r>
              <a:rPr lang="en-US" altLang="zh-CN" dirty="0"/>
              <a:t>SRAM</a:t>
            </a:r>
            <a:r>
              <a:rPr lang="zh-CN" altLang="zh-CN" dirty="0"/>
              <a:t>）构成，速度可与</a:t>
            </a:r>
            <a:r>
              <a:rPr lang="en-US" altLang="zh-CN" dirty="0"/>
              <a:t>CPU</a:t>
            </a:r>
            <a:r>
              <a:rPr lang="zh-CN" altLang="zh-CN" dirty="0"/>
              <a:t>速度相匹配，容量很小，可存放一小段时间内</a:t>
            </a:r>
            <a:r>
              <a:rPr lang="en-US" altLang="zh-CN" dirty="0"/>
              <a:t>CPU</a:t>
            </a:r>
            <a:r>
              <a:rPr lang="zh-CN" altLang="zh-CN" dirty="0"/>
              <a:t>要用到的指令和数据，供</a:t>
            </a:r>
            <a:r>
              <a:rPr lang="en-US" altLang="zh-CN" dirty="0"/>
              <a:t>CPU</a:t>
            </a:r>
            <a:r>
              <a:rPr lang="zh-CN" altLang="zh-CN" dirty="0"/>
              <a:t>高速访问，</a:t>
            </a:r>
            <a:r>
              <a:rPr lang="en-US" altLang="zh-CN" dirty="0"/>
              <a:t>CPU</a:t>
            </a:r>
            <a:r>
              <a:rPr lang="zh-CN" altLang="zh-CN" dirty="0"/>
              <a:t>在这一小段时间内可以不必与主存交换信息而直接访问</a:t>
            </a:r>
            <a:r>
              <a:rPr lang="en-US" altLang="zh-CN" dirty="0"/>
              <a:t>Cache</a:t>
            </a:r>
            <a:r>
              <a:rPr lang="zh-CN" altLang="zh-CN" dirty="0"/>
              <a:t>，从而提高了指令的执行速度。</a:t>
            </a:r>
            <a:endParaRPr lang="en-US" altLang="zh-CN" dirty="0"/>
          </a:p>
          <a:p>
            <a:pPr marL="0" lvl="1" algn="just">
              <a:buNone/>
            </a:pPr>
            <a:r>
              <a:rPr lang="zh-CN" altLang="zh-CN" dirty="0"/>
              <a:t>        若在</a:t>
            </a:r>
            <a:r>
              <a:rPr lang="en-US" altLang="zh-CN" dirty="0"/>
              <a:t>Cache</a:t>
            </a:r>
            <a:r>
              <a:rPr lang="zh-CN" altLang="zh-CN" dirty="0"/>
              <a:t>中找到所需的内容，则访问“命中”，信息在</a:t>
            </a:r>
            <a:r>
              <a:rPr lang="en-US" altLang="zh-CN" dirty="0"/>
              <a:t>Cache</a:t>
            </a:r>
            <a:r>
              <a:rPr lang="zh-CN" altLang="zh-CN" dirty="0"/>
              <a:t>中存取，否则访问“失败”，</a:t>
            </a:r>
            <a:r>
              <a:rPr lang="en-US" altLang="zh-CN" dirty="0"/>
              <a:t>CPU</a:t>
            </a:r>
            <a:r>
              <a:rPr lang="zh-CN" altLang="zh-CN" dirty="0"/>
              <a:t>将所需信息页从主存装入</a:t>
            </a:r>
            <a:r>
              <a:rPr lang="en-US" altLang="zh-CN" dirty="0"/>
              <a:t>Cache</a:t>
            </a:r>
            <a:r>
              <a:rPr lang="zh-CN" altLang="zh-CN" dirty="0"/>
              <a:t>并进行数据存取。</a:t>
            </a:r>
            <a:endParaRPr lang="en-US" altLang="zh-CN" dirty="0"/>
          </a:p>
          <a:p>
            <a:pPr marL="0" lvl="1" algn="just">
              <a:buNone/>
            </a:pPr>
            <a:r>
              <a:rPr lang="zh-CN" altLang="zh-CN" dirty="0"/>
              <a:t>        主存一般由大容量的动态存储器组成，它的单位成本低于</a:t>
            </a:r>
            <a:r>
              <a:rPr lang="en-US" altLang="zh-CN" dirty="0"/>
              <a:t>Cache</a:t>
            </a:r>
            <a:r>
              <a:rPr lang="zh-CN" altLang="zh-CN" dirty="0"/>
              <a:t>，速度相对较慢。</a:t>
            </a:r>
            <a:r>
              <a:rPr lang="en-US" altLang="zh-CN" dirty="0"/>
              <a:t>Cache</a:t>
            </a:r>
            <a:r>
              <a:rPr lang="zh-CN" altLang="zh-CN" dirty="0"/>
              <a:t>和主存构成计算机的内存储器。</a:t>
            </a:r>
            <a:r>
              <a:rPr lang="en-US" altLang="zh-CN" dirty="0"/>
              <a:t>Cache</a:t>
            </a:r>
            <a:r>
              <a:rPr lang="zh-CN" altLang="zh-CN" dirty="0"/>
              <a:t>与主存之间以页为单位进行读</a:t>
            </a:r>
            <a:r>
              <a:rPr lang="en-US" altLang="zh-CN" dirty="0"/>
              <a:t>/</a:t>
            </a:r>
            <a:r>
              <a:rPr lang="zh-CN" altLang="zh-CN" dirty="0"/>
              <a:t>写操作。</a:t>
            </a:r>
            <a:endParaRPr lang="zh-CN" altLang="en-US" dirty="0"/>
          </a:p>
        </p:txBody>
      </p:sp>
    </p:spTree>
  </p:cSld>
  <p:clrMapOvr>
    <a:masterClrMapping/>
  </p:clrMapOvr>
  <p:transition spd="med">
    <p:random/>
  </p:transition>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5777" name="内容占位符 2"/>
          <p:cNvSpPr>
            <a:spLocks noGrp="1"/>
          </p:cNvSpPr>
          <p:nvPr>
            <p:ph/>
          </p:nvPr>
        </p:nvSpPr>
        <p:spPr>
          <a:xfrm>
            <a:off x="422275" y="1438275"/>
            <a:ext cx="8197850" cy="4814888"/>
          </a:xfrm>
          <a:prstGeom prst="rect">
            <a:avLst/>
          </a:prstGeom>
          <a:noFill/>
          <a:ln w="9525">
            <a:noFill/>
          </a:ln>
        </p:spPr>
        <p:txBody>
          <a:bodyPr wrap="square" lIns="92075" tIns="46038" rIns="92075" bIns="46038" anchor="t" anchorCtr="0"/>
          <a:lstStyle/>
          <a:p>
            <a:pPr marL="0" indent="0" algn="just">
              <a:buNone/>
            </a:pPr>
            <a:r>
              <a:rPr lang="en-US" altLang="zh-CN" dirty="0"/>
              <a:t>       2</a:t>
            </a:r>
            <a:r>
              <a:rPr lang="zh-CN" altLang="zh-CN" dirty="0"/>
              <a:t>．主存—辅存层次</a:t>
            </a:r>
          </a:p>
          <a:p>
            <a:pPr marL="0" lvl="1" algn="just">
              <a:buNone/>
            </a:pPr>
            <a:r>
              <a:rPr lang="zh-CN" altLang="zh-CN" dirty="0"/>
              <a:t>        这个层次主要解决存储系统的容量问题。</a:t>
            </a:r>
          </a:p>
          <a:p>
            <a:pPr marL="0" lvl="1" algn="just">
              <a:buNone/>
            </a:pPr>
            <a:r>
              <a:rPr lang="zh-CN" altLang="zh-CN" dirty="0"/>
              <a:t>        辅助存储器由大容量的磁表面存储器或光存储器构成，它的显著特征是具有很低的位存储价格。辅助存储器上存储着大量的程序和数据，在大部分时间里，它们处于静止状态，也就是说没有被使用。处理器仅把目前使用的程序和数据装入主存。辅存和主存之间以页为单位进行读</a:t>
            </a:r>
            <a:r>
              <a:rPr lang="en-US" altLang="zh-CN" dirty="0"/>
              <a:t>/</a:t>
            </a:r>
            <a:r>
              <a:rPr lang="zh-CN" altLang="zh-CN" dirty="0"/>
              <a:t>写交换。</a:t>
            </a:r>
          </a:p>
          <a:p>
            <a:pPr marL="0" lvl="1" algn="just">
              <a:buNone/>
            </a:pPr>
            <a:r>
              <a:rPr lang="zh-CN" altLang="zh-CN" dirty="0"/>
              <a:t>        可见，存储器系统的容量以辅助存储器容量的大小来衡量。</a:t>
            </a:r>
          </a:p>
          <a:p>
            <a:pPr marL="0" lvl="2" algn="just">
              <a:buNone/>
            </a:pPr>
            <a:endParaRPr lang="zh-CN" altLang="en-US" dirty="0"/>
          </a:p>
        </p:txBody>
      </p:sp>
    </p:spTree>
  </p:cSld>
  <p:clrMapOvr>
    <a:masterClrMapping/>
  </p:clrMapOvr>
  <p:transition spd="med">
    <p:random/>
  </p:transition>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417513" y="228600"/>
            <a:ext cx="8331200" cy="1143000"/>
          </a:xfrm>
          <a:prstGeom prst="rect">
            <a:avLst/>
          </a:prstGeom>
          <a:ln w="9525" cap="flat" cmpd="sng" algn="ctr">
            <a:noFill/>
            <a:prstDash val="solid"/>
          </a:ln>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2800" b="1" i="0" u="none" strike="noStrike" kern="0" cap="none" spc="0" normalizeH="0" baseline="0" noProof="0" dirty="0">
                <a:ln>
                  <a:noFill/>
                </a:ln>
                <a:solidFill>
                  <a:srgbClr val="E8E8E8"/>
                </a:solidFill>
                <a:effectLst/>
                <a:uLnTx/>
                <a:uFillTx/>
                <a:latin typeface="+mj-lt"/>
                <a:ea typeface="+mj-ea"/>
                <a:cs typeface="+mj-cs"/>
              </a:rPr>
              <a:t>5.4.2  </a:t>
            </a:r>
            <a:r>
              <a:rPr kumimoji="1" lang="zh-CN" altLang="zh-CN" sz="2800" b="1" i="0" u="none" strike="noStrike" kern="0" cap="none" spc="0" normalizeH="0" baseline="0" noProof="0" dirty="0">
                <a:ln>
                  <a:noFill/>
                </a:ln>
                <a:solidFill>
                  <a:srgbClr val="E8E8E8"/>
                </a:solidFill>
                <a:effectLst/>
                <a:uLnTx/>
                <a:uFillTx/>
                <a:latin typeface="+mj-lt"/>
                <a:ea typeface="+mj-ea"/>
                <a:cs typeface="+mj-cs"/>
              </a:rPr>
              <a:t>高速缓存系统</a:t>
            </a:r>
            <a:endParaRPr kumimoji="1" lang="zh-CN" altLang="en-US" sz="28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endParaRPr>
          </a:p>
        </p:txBody>
      </p:sp>
      <p:sp>
        <p:nvSpPr>
          <p:cNvPr id="76802" name="内容占位符 2"/>
          <p:cNvSpPr>
            <a:spLocks noGrp="1"/>
          </p:cNvSpPr>
          <p:nvPr>
            <p:ph/>
          </p:nvPr>
        </p:nvSpPr>
        <p:spPr>
          <a:xfrm>
            <a:off x="285750" y="1517650"/>
            <a:ext cx="8197850" cy="4814888"/>
          </a:xfrm>
          <a:prstGeom prst="rect">
            <a:avLst/>
          </a:prstGeom>
          <a:noFill/>
          <a:ln w="9525">
            <a:noFill/>
          </a:ln>
        </p:spPr>
        <p:txBody>
          <a:bodyPr wrap="square" lIns="92075" tIns="46038" rIns="92075" bIns="46038" anchor="t" anchorCtr="0"/>
          <a:lstStyle/>
          <a:p>
            <a:pPr marL="0" indent="0" algn="just">
              <a:buNone/>
            </a:pPr>
            <a:r>
              <a:rPr lang="en-US" altLang="zh-CN" dirty="0"/>
              <a:t>      </a:t>
            </a:r>
            <a:r>
              <a:rPr lang="en-US" altLang="zh-CN" sz="2400" dirty="0"/>
              <a:t> 1</a:t>
            </a:r>
            <a:r>
              <a:rPr lang="zh-CN" altLang="zh-CN" sz="2400" dirty="0"/>
              <a:t>．</a:t>
            </a:r>
            <a:r>
              <a:rPr lang="en-US" altLang="zh-CN" sz="2400" dirty="0"/>
              <a:t>Cache</a:t>
            </a:r>
            <a:r>
              <a:rPr lang="zh-CN" altLang="zh-CN" sz="2400" dirty="0"/>
              <a:t>的工作原理</a:t>
            </a:r>
          </a:p>
          <a:p>
            <a:pPr marL="0" lvl="1" algn="just">
              <a:buNone/>
            </a:pPr>
            <a:r>
              <a:rPr lang="en-US" altLang="zh-CN" dirty="0"/>
              <a:t>        Cache</a:t>
            </a:r>
            <a:r>
              <a:rPr lang="zh-CN" altLang="zh-CN" dirty="0"/>
              <a:t>使</a:t>
            </a:r>
            <a:r>
              <a:rPr lang="en-US" altLang="zh-CN" dirty="0"/>
              <a:t>CPU</a:t>
            </a:r>
            <a:r>
              <a:rPr lang="zh-CN" altLang="zh-CN" dirty="0"/>
              <a:t>访问内存的速度大大加快。读取数据时，</a:t>
            </a:r>
            <a:r>
              <a:rPr lang="en-US" altLang="zh-CN" dirty="0"/>
              <a:t>CPU</a:t>
            </a:r>
            <a:r>
              <a:rPr lang="zh-CN" altLang="zh-CN" dirty="0"/>
              <a:t>首先在一级缓存中寻找数据，如果找不到，则在二级缓存中寻找；若数据在二级缓存中，在传输数据的同时，装入并修改一级缓存的相关内容；若数据既不在一级缓存也不在二级缓存中，则从内存中读取数据并修改两级缓存。</a:t>
            </a:r>
          </a:p>
          <a:p>
            <a:pPr marL="0" lvl="1" algn="just">
              <a:buNone/>
            </a:pPr>
            <a:endParaRPr lang="zh-CN" altLang="en-US" dirty="0"/>
          </a:p>
        </p:txBody>
      </p:sp>
    </p:spTree>
  </p:cSld>
  <p:clrMapOvr>
    <a:masterClrMapping/>
  </p:clrMapOvr>
  <p:transition spd="med">
    <p:random/>
  </p:transition>
</p:sld>
</file>

<file path=ppt/slides/slide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7825" name="内容占位符 2"/>
          <p:cNvSpPr>
            <a:spLocks noGrp="1"/>
          </p:cNvSpPr>
          <p:nvPr>
            <p:ph/>
          </p:nvPr>
        </p:nvSpPr>
        <p:spPr>
          <a:xfrm>
            <a:off x="449263" y="1422400"/>
            <a:ext cx="8197850" cy="4756150"/>
          </a:xfrm>
          <a:prstGeom prst="rect">
            <a:avLst/>
          </a:prstGeom>
          <a:noFill/>
          <a:ln w="9525">
            <a:noFill/>
          </a:ln>
        </p:spPr>
        <p:txBody>
          <a:bodyPr wrap="square" lIns="92075" tIns="46038" rIns="92075" bIns="46038" anchor="t" anchorCtr="0"/>
          <a:lstStyle/>
          <a:p>
            <a:pPr marL="0" indent="0" algn="just">
              <a:buNone/>
            </a:pPr>
            <a:r>
              <a:rPr lang="en-US" altLang="zh-CN" sz="2400" dirty="0"/>
              <a:t>        </a:t>
            </a:r>
            <a:r>
              <a:rPr lang="zh-CN" altLang="zh-CN" sz="2400" dirty="0"/>
              <a:t>访问存储器时，</a:t>
            </a:r>
            <a:r>
              <a:rPr lang="en-US" altLang="zh-CN" sz="2400" dirty="0"/>
              <a:t>CPU</a:t>
            </a:r>
            <a:r>
              <a:rPr lang="zh-CN" altLang="zh-CN" sz="2400" dirty="0"/>
              <a:t>输出访问主存的地址，经地址总线送到</a:t>
            </a:r>
            <a:r>
              <a:rPr lang="en-US" altLang="zh-CN" sz="2400" dirty="0"/>
              <a:t>Cache</a:t>
            </a:r>
            <a:r>
              <a:rPr lang="zh-CN" altLang="zh-CN" sz="2400" dirty="0"/>
              <a:t>的主存地址寄存器，</a:t>
            </a:r>
            <a:r>
              <a:rPr lang="en-US" altLang="zh-CN" sz="2400" dirty="0"/>
              <a:t>Cache</a:t>
            </a:r>
            <a:r>
              <a:rPr lang="zh-CN" altLang="zh-CN" sz="2400" dirty="0"/>
              <a:t>—主存地址转换机构从主存地址寄存器中获得地址并判断该单元的内容是否已经在</a:t>
            </a:r>
            <a:r>
              <a:rPr lang="en-US" altLang="zh-CN" sz="2400" dirty="0"/>
              <a:t>Cache</a:t>
            </a:r>
            <a:r>
              <a:rPr lang="zh-CN" altLang="zh-CN" sz="2400" dirty="0"/>
              <a:t>中存储，如果在，则命中，立即把访问地址转换成其在</a:t>
            </a:r>
            <a:r>
              <a:rPr lang="en-US" altLang="zh-CN" sz="2400" dirty="0"/>
              <a:t>Cache</a:t>
            </a:r>
            <a:r>
              <a:rPr lang="zh-CN" altLang="zh-CN" sz="2400" dirty="0"/>
              <a:t>中的地址，随即访问</a:t>
            </a:r>
            <a:r>
              <a:rPr lang="en-US" altLang="zh-CN" sz="2400" dirty="0"/>
              <a:t>Cache</a:t>
            </a:r>
            <a:r>
              <a:rPr lang="zh-CN" altLang="zh-CN" sz="2400" dirty="0"/>
              <a:t>存储器。如果被访问的单元内容不在</a:t>
            </a:r>
            <a:r>
              <a:rPr lang="en-US" altLang="zh-CN" sz="2400" dirty="0"/>
              <a:t>Cache</a:t>
            </a:r>
            <a:r>
              <a:rPr lang="zh-CN" altLang="zh-CN" sz="2400" dirty="0"/>
              <a:t>中，则未命中，</a:t>
            </a:r>
            <a:r>
              <a:rPr lang="en-US" altLang="zh-CN" sz="2400" dirty="0"/>
              <a:t>CPU</a:t>
            </a:r>
            <a:r>
              <a:rPr lang="zh-CN" altLang="zh-CN" sz="2400" dirty="0"/>
              <a:t>直接访问主存，并将包含该单元的一个存储页的内容及该页的地址信息装入</a:t>
            </a:r>
            <a:r>
              <a:rPr lang="en-US" altLang="zh-CN" sz="2400" dirty="0"/>
              <a:t>Cache</a:t>
            </a:r>
            <a:r>
              <a:rPr lang="zh-CN" altLang="zh-CN" sz="2400" dirty="0"/>
              <a:t>中；若</a:t>
            </a:r>
            <a:r>
              <a:rPr lang="en-US" altLang="zh-CN" sz="2400" dirty="0"/>
              <a:t>Cache</a:t>
            </a:r>
            <a:r>
              <a:rPr lang="zh-CN" altLang="zh-CN" sz="2400" dirty="0"/>
              <a:t>已满，则在替换控制部件的控制下按照某种置换算法将从主存中读取到的信息页替换</a:t>
            </a:r>
            <a:r>
              <a:rPr lang="en-US" altLang="zh-CN" sz="2400" dirty="0"/>
              <a:t>Cache</a:t>
            </a:r>
            <a:r>
              <a:rPr lang="zh-CN" altLang="zh-CN" sz="2400" dirty="0"/>
              <a:t>中原来的某页信息。</a:t>
            </a:r>
          </a:p>
          <a:p>
            <a:pPr lvl="1" algn="just"/>
            <a:endParaRPr lang="zh-CN" altLang="en-US" dirty="0"/>
          </a:p>
        </p:txBody>
      </p:sp>
    </p:spTree>
  </p:cSld>
  <p:clrMapOvr>
    <a:masterClrMapping/>
  </p:clrMapOvr>
  <p:transition spd="med">
    <p:random/>
  </p:transition>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5777" name="内容占位符 2"/>
          <p:cNvSpPr>
            <a:spLocks noGrp="1"/>
          </p:cNvSpPr>
          <p:nvPr>
            <p:ph idx="4294967295"/>
          </p:nvPr>
        </p:nvSpPr>
        <p:spPr>
          <a:xfrm>
            <a:off x="457200" y="1370013"/>
            <a:ext cx="8197850" cy="4814888"/>
          </a:xfrm>
          <a:prstGeom prst="rect">
            <a:avLst/>
          </a:prstGeom>
          <a:noFill/>
          <a:ln w="9525" cap="flat" cmpd="sng" algn="ctr">
            <a:noFill/>
            <a:prstDash val="solid"/>
            <a:miter/>
          </a:ln>
        </p:spPr>
        <p:txBody>
          <a:bodyPr wrap="square" lIns="92075" tIns="46038" rIns="92075" bIns="46038" anchor="t"/>
          <a:lstStyle/>
          <a:p>
            <a:pPr marL="0" marR="0" lvl="0" indent="0" algn="just" defTabSz="914400" rtl="0" eaLnBrk="0" fontAlgn="base" latinLnBrk="0" hangingPunct="0">
              <a:lnSpc>
                <a:spcPct val="100000"/>
              </a:lnSpc>
              <a:spcBef>
                <a:spcPct val="20000"/>
              </a:spcBef>
              <a:spcAft>
                <a:spcPct val="0"/>
              </a:spcAft>
              <a:buClr>
                <a:schemeClr val="accent2"/>
              </a:buClr>
              <a:buSzPct val="70000"/>
              <a:buFont typeface="Wingdings" panose="05000000000000000000" pitchFamily="2" charset="2"/>
              <a:buNone/>
            </a:pPr>
            <a:r>
              <a:rPr kumimoji="1" lang="en-US" altLang="zh-CN" sz="2400" b="1" i="0" u="none" strike="noStrike" kern="0" cap="none" spc="0" normalizeH="0" baseline="0" noProof="1">
                <a:solidFill>
                  <a:schemeClr val="tx1"/>
                </a:solidFill>
                <a:latin typeface="+mn-lt"/>
                <a:ea typeface="+mn-ea"/>
                <a:cs typeface="+mn-cs"/>
              </a:rPr>
              <a:t>         2</a:t>
            </a:r>
            <a:r>
              <a:rPr kumimoji="1" lang="zh-CN" altLang="zh-CN" sz="2400" b="1" i="0" u="none" strike="noStrike" kern="0" cap="none" spc="0" normalizeH="0" baseline="0" noProof="1">
                <a:solidFill>
                  <a:schemeClr val="tx1"/>
                </a:solidFill>
                <a:latin typeface="+mn-lt"/>
                <a:ea typeface="+mn-ea"/>
                <a:cs typeface="+mn-cs"/>
              </a:rPr>
              <a:t>．</a:t>
            </a:r>
            <a:r>
              <a:rPr kumimoji="1" lang="en-US" altLang="zh-CN" sz="2400" b="1" i="0" u="none" strike="noStrike" kern="0" cap="none" spc="0" normalizeH="0" baseline="0" noProof="1">
                <a:solidFill>
                  <a:schemeClr val="tx1"/>
                </a:solidFill>
                <a:latin typeface="+mn-lt"/>
                <a:ea typeface="+mn-ea"/>
                <a:cs typeface="+mn-cs"/>
              </a:rPr>
              <a:t>Cache</a:t>
            </a:r>
            <a:r>
              <a:rPr kumimoji="1" lang="zh-CN" altLang="zh-CN" sz="2400" b="1" i="0" u="none" strike="noStrike" kern="0" cap="none" spc="0" normalizeH="0" baseline="0" noProof="1">
                <a:solidFill>
                  <a:schemeClr val="tx1"/>
                </a:solidFill>
                <a:latin typeface="+mn-lt"/>
                <a:ea typeface="+mn-ea"/>
                <a:cs typeface="+mn-cs"/>
              </a:rPr>
              <a:t>的基本操作</a:t>
            </a:r>
          </a:p>
          <a:p>
            <a:pPr marL="0" marR="0" lvl="0" indent="-342900" algn="just" defTabSz="914400" rtl="0" eaLnBrk="0" fontAlgn="base" latinLnBrk="0" hangingPunct="0">
              <a:lnSpc>
                <a:spcPct val="100000"/>
              </a:lnSpc>
              <a:spcBef>
                <a:spcPct val="20000"/>
              </a:spcBef>
              <a:spcAft>
                <a:spcPct val="0"/>
              </a:spcAft>
              <a:buClr>
                <a:schemeClr val="accent2"/>
              </a:buClr>
              <a:buSzPct val="70000"/>
              <a:buFont typeface="Wingdings" panose="05000000000000000000" pitchFamily="2" charset="2"/>
              <a:buNone/>
            </a:pPr>
            <a:r>
              <a:rPr kumimoji="1" lang="en-US" altLang="zh-CN" sz="2400" b="1" i="0" u="none" strike="noStrike" kern="0" cap="none" spc="0" normalizeH="0" baseline="0" noProof="1">
                <a:solidFill>
                  <a:schemeClr val="tx1"/>
                </a:solidFill>
                <a:latin typeface="+mn-lt"/>
                <a:ea typeface="+mn-ea"/>
                <a:cs typeface="+mn-cs"/>
              </a:rPr>
              <a:t>         Cache</a:t>
            </a:r>
            <a:r>
              <a:rPr kumimoji="1" lang="zh-CN" altLang="zh-CN" sz="2400" b="1" i="0" u="none" strike="noStrike" kern="0" cap="none" spc="0" normalizeH="0" baseline="0" noProof="1">
                <a:solidFill>
                  <a:schemeClr val="tx1"/>
                </a:solidFill>
                <a:latin typeface="+mn-lt"/>
                <a:ea typeface="+mn-ea"/>
                <a:cs typeface="+mn-cs"/>
              </a:rPr>
              <a:t>和其他存储器一样，有读和写两种基本操作。</a:t>
            </a:r>
          </a:p>
          <a:p>
            <a:pPr marL="0" marR="0" lvl="1" indent="-285750" algn="just" defTabSz="914400" rtl="0" eaLnBrk="0" fontAlgn="base" latinLnBrk="0" hangingPunct="0">
              <a:lnSpc>
                <a:spcPct val="100000"/>
              </a:lnSpc>
              <a:spcBef>
                <a:spcPct val="20000"/>
              </a:spcBef>
              <a:spcAft>
                <a:spcPct val="0"/>
              </a:spcAft>
              <a:buClr>
                <a:schemeClr val="accent2"/>
              </a:buClr>
              <a:buSzPct val="85000"/>
              <a:buFont typeface="Wingdings" panose="05000000000000000000" pitchFamily="2" charset="2"/>
              <a:buNone/>
            </a:pPr>
            <a:r>
              <a:rPr kumimoji="1" lang="en-US" altLang="zh-CN" sz="2400" b="1" i="0" u="none" strike="noStrike" kern="0" cap="none" spc="0" normalizeH="0" baseline="0" noProof="1">
                <a:solidFill>
                  <a:schemeClr val="tx1"/>
                </a:solidFill>
                <a:latin typeface="+mn-lt"/>
                <a:ea typeface="+mn-ea"/>
                <a:cs typeface="+mn-ea"/>
              </a:rPr>
              <a:t>         1</a:t>
            </a:r>
            <a:r>
              <a:rPr kumimoji="1" lang="zh-CN" altLang="zh-CN" sz="2400" b="1" i="0" u="none" strike="noStrike" kern="0" cap="none" spc="0" normalizeH="0" baseline="0" noProof="1">
                <a:solidFill>
                  <a:schemeClr val="tx1"/>
                </a:solidFill>
                <a:latin typeface="+mn-lt"/>
                <a:ea typeface="+mn-ea"/>
                <a:cs typeface="+mn-ea"/>
              </a:rPr>
              <a:t>）读操作</a:t>
            </a:r>
            <a:endParaRPr kumimoji="1" lang="en-US" altLang="zh-CN" sz="2400" b="1" i="0" u="none" strike="noStrike" kern="0" cap="none" spc="0" normalizeH="0" baseline="0" noProof="1">
              <a:solidFill>
                <a:schemeClr val="tx1"/>
              </a:solidFill>
              <a:latin typeface="+mn-lt"/>
              <a:ea typeface="+mn-ea"/>
              <a:cs typeface="+mn-ea"/>
            </a:endParaRPr>
          </a:p>
          <a:p>
            <a:pPr marL="0" marR="0" lvl="1" indent="-285750" algn="just" defTabSz="914400" rtl="0" eaLnBrk="0" fontAlgn="base" latinLnBrk="0" hangingPunct="0">
              <a:lnSpc>
                <a:spcPct val="100000"/>
              </a:lnSpc>
              <a:spcBef>
                <a:spcPct val="20000"/>
              </a:spcBef>
              <a:spcAft>
                <a:spcPct val="0"/>
              </a:spcAft>
              <a:buClr>
                <a:schemeClr val="accent2"/>
              </a:buClr>
              <a:buSzPct val="85000"/>
              <a:buFont typeface="Wingdings" panose="05000000000000000000" pitchFamily="2" charset="2"/>
              <a:buNone/>
            </a:pPr>
            <a:r>
              <a:rPr kumimoji="1" lang="en-US" altLang="zh-CN" sz="2400" b="1" i="0" u="none" strike="noStrike" kern="0" cap="none" spc="0" normalizeH="0" baseline="0" noProof="1">
                <a:solidFill>
                  <a:schemeClr val="tx1"/>
                </a:solidFill>
                <a:latin typeface="+mn-lt"/>
                <a:ea typeface="+mn-ea"/>
                <a:cs typeface="+mn-ea"/>
              </a:rPr>
              <a:t>         CPU</a:t>
            </a:r>
            <a:r>
              <a:rPr kumimoji="1" lang="zh-CN" altLang="zh-CN" sz="2400" b="1" i="0" u="none" strike="noStrike" kern="0" cap="none" spc="0" normalizeH="0" baseline="0" noProof="1">
                <a:solidFill>
                  <a:schemeClr val="tx1"/>
                </a:solidFill>
                <a:latin typeface="+mn-lt"/>
                <a:ea typeface="+mn-ea"/>
                <a:cs typeface="+mn-ea"/>
              </a:rPr>
              <a:t>将主存地址同时送往主存和</a:t>
            </a:r>
            <a:r>
              <a:rPr kumimoji="1" lang="en-US" altLang="zh-CN" sz="2400" b="1" i="0" u="none" strike="noStrike" kern="0" cap="none" spc="0" normalizeH="0" baseline="0" noProof="1">
                <a:solidFill>
                  <a:schemeClr val="tx1"/>
                </a:solidFill>
                <a:latin typeface="+mn-lt"/>
                <a:ea typeface="+mn-ea"/>
                <a:cs typeface="+mn-ea"/>
              </a:rPr>
              <a:t>Cache</a:t>
            </a:r>
            <a:r>
              <a:rPr kumimoji="1" lang="zh-CN" altLang="zh-CN" sz="2400" b="1" i="0" u="none" strike="noStrike" kern="0" cap="none" spc="0" normalizeH="0" baseline="0" noProof="1">
                <a:solidFill>
                  <a:schemeClr val="tx1"/>
                </a:solidFill>
                <a:latin typeface="+mn-lt"/>
                <a:ea typeface="+mn-ea"/>
                <a:cs typeface="+mn-ea"/>
              </a:rPr>
              <a:t>，启动存储器读，如果命中</a:t>
            </a:r>
            <a:r>
              <a:rPr kumimoji="1" lang="en-US" altLang="zh-CN" sz="2400" b="1" i="0" u="none" strike="noStrike" kern="0" cap="none" spc="0" normalizeH="0" baseline="0" noProof="1">
                <a:solidFill>
                  <a:schemeClr val="tx1"/>
                </a:solidFill>
                <a:latin typeface="+mn-lt"/>
                <a:ea typeface="+mn-ea"/>
                <a:cs typeface="+mn-ea"/>
              </a:rPr>
              <a:t>Cache</a:t>
            </a:r>
            <a:r>
              <a:rPr kumimoji="1" lang="zh-CN" altLang="zh-CN" sz="2400" b="1" i="0" u="none" strike="noStrike" kern="0" cap="none" spc="0" normalizeH="0" baseline="0" noProof="1">
                <a:solidFill>
                  <a:schemeClr val="tx1"/>
                </a:solidFill>
                <a:latin typeface="+mn-lt"/>
                <a:ea typeface="+mn-ea"/>
                <a:cs typeface="+mn-ea"/>
              </a:rPr>
              <a:t>，则从</a:t>
            </a:r>
            <a:r>
              <a:rPr kumimoji="1" lang="en-US" altLang="zh-CN" sz="2400" b="1" i="0" u="none" strike="noStrike" kern="0" cap="none" spc="0" normalizeH="0" baseline="0" noProof="1">
                <a:solidFill>
                  <a:schemeClr val="tx1"/>
                </a:solidFill>
                <a:latin typeface="+mn-lt"/>
                <a:ea typeface="+mn-ea"/>
                <a:cs typeface="+mn-ea"/>
              </a:rPr>
              <a:t>Cache</a:t>
            </a:r>
            <a:r>
              <a:rPr kumimoji="1" lang="zh-CN" altLang="zh-CN" sz="2400" b="1" i="0" u="none" strike="noStrike" kern="0" cap="none" spc="0" normalizeH="0" baseline="0" noProof="1">
                <a:solidFill>
                  <a:schemeClr val="tx1"/>
                </a:solidFill>
                <a:latin typeface="+mn-lt"/>
                <a:ea typeface="+mn-ea"/>
                <a:cs typeface="+mn-ea"/>
              </a:rPr>
              <a:t>中读出数据到数据总线，并立即进行下一次访问操作；如果未命中</a:t>
            </a:r>
            <a:r>
              <a:rPr kumimoji="1" lang="en-US" altLang="zh-CN" sz="2400" b="1" i="0" u="none" strike="noStrike" kern="0" cap="none" spc="0" normalizeH="0" baseline="0" noProof="1">
                <a:solidFill>
                  <a:schemeClr val="tx1"/>
                </a:solidFill>
                <a:latin typeface="+mn-lt"/>
                <a:ea typeface="+mn-ea"/>
                <a:cs typeface="+mn-ea"/>
              </a:rPr>
              <a:t>Cache</a:t>
            </a:r>
            <a:r>
              <a:rPr kumimoji="1" lang="zh-CN" altLang="zh-CN" sz="2400" b="1" i="0" u="none" strike="noStrike" kern="0" cap="none" spc="0" normalizeH="0" baseline="0" noProof="1">
                <a:solidFill>
                  <a:schemeClr val="tx1"/>
                </a:solidFill>
                <a:latin typeface="+mn-lt"/>
                <a:ea typeface="+mn-ea"/>
                <a:cs typeface="+mn-ea"/>
              </a:rPr>
              <a:t>，</a:t>
            </a:r>
            <a:r>
              <a:rPr kumimoji="1" lang="en-US" altLang="zh-CN" sz="2400" b="1" i="0" u="none" strike="noStrike" kern="0" cap="none" spc="0" normalizeH="0" baseline="0" noProof="1">
                <a:solidFill>
                  <a:schemeClr val="tx1"/>
                </a:solidFill>
                <a:latin typeface="+mn-lt"/>
                <a:ea typeface="+mn-ea"/>
                <a:cs typeface="+mn-ea"/>
              </a:rPr>
              <a:t>CPU</a:t>
            </a:r>
            <a:r>
              <a:rPr kumimoji="1" lang="zh-CN" altLang="zh-CN" sz="2400" b="1" i="0" u="none" strike="noStrike" kern="0" cap="none" spc="0" normalizeH="0" baseline="0" noProof="1">
                <a:solidFill>
                  <a:schemeClr val="tx1"/>
                </a:solidFill>
                <a:latin typeface="+mn-lt"/>
                <a:ea typeface="+mn-ea"/>
                <a:cs typeface="+mn-ea"/>
              </a:rPr>
              <a:t>就从主存中读出数据，同时</a:t>
            </a:r>
            <a:r>
              <a:rPr kumimoji="1" lang="en-US" altLang="zh-CN" sz="2400" b="1" i="0" u="none" strike="noStrike" kern="0" cap="none" spc="0" normalizeH="0" baseline="0" noProof="1">
                <a:solidFill>
                  <a:schemeClr val="tx1"/>
                </a:solidFill>
                <a:latin typeface="+mn-lt"/>
                <a:ea typeface="+mn-ea"/>
                <a:cs typeface="+mn-ea"/>
              </a:rPr>
              <a:t>Cache</a:t>
            </a:r>
            <a:r>
              <a:rPr kumimoji="1" lang="zh-CN" altLang="zh-CN" sz="2400" b="1" i="0" u="none" strike="noStrike" kern="0" cap="none" spc="0" normalizeH="0" baseline="0" noProof="1">
                <a:solidFill>
                  <a:schemeClr val="tx1"/>
                </a:solidFill>
                <a:latin typeface="+mn-lt"/>
                <a:ea typeface="+mn-ea"/>
                <a:cs typeface="+mn-ea"/>
              </a:rPr>
              <a:t>替换部件把被读单元所在的存储块从主存复制到</a:t>
            </a:r>
            <a:r>
              <a:rPr kumimoji="1" lang="en-US" altLang="zh-CN" sz="2400" b="1" i="0" u="none" strike="noStrike" kern="0" cap="none" spc="0" normalizeH="0" baseline="0" noProof="1">
                <a:solidFill>
                  <a:schemeClr val="tx1"/>
                </a:solidFill>
                <a:latin typeface="+mn-lt"/>
                <a:ea typeface="+mn-ea"/>
                <a:cs typeface="+mn-ea"/>
              </a:rPr>
              <a:t>Cache</a:t>
            </a:r>
            <a:r>
              <a:rPr kumimoji="1" lang="zh-CN" altLang="zh-CN" sz="2400" b="1" i="0" u="none" strike="noStrike" kern="0" cap="none" spc="0" normalizeH="0" baseline="0" noProof="1">
                <a:solidFill>
                  <a:schemeClr val="tx1"/>
                </a:solidFill>
                <a:latin typeface="+mn-lt"/>
                <a:ea typeface="+mn-ea"/>
                <a:cs typeface="+mn-ea"/>
              </a:rPr>
              <a:t>中。</a:t>
            </a:r>
          </a:p>
          <a:p>
            <a:pPr marL="0" marR="0" lvl="1" indent="-285750" algn="just" defTabSz="914400" rtl="0" eaLnBrk="0" fontAlgn="base" latinLnBrk="0" hangingPunct="0">
              <a:lnSpc>
                <a:spcPct val="100000"/>
              </a:lnSpc>
              <a:spcBef>
                <a:spcPct val="20000"/>
              </a:spcBef>
              <a:spcAft>
                <a:spcPct val="0"/>
              </a:spcAft>
              <a:buClr>
                <a:schemeClr val="accent2"/>
              </a:buClr>
              <a:buSzPct val="85000"/>
              <a:buFont typeface="Wingdings" panose="05000000000000000000" pitchFamily="2" charset="2"/>
              <a:buNone/>
            </a:pPr>
            <a:endParaRPr kumimoji="1" lang="zh-CN" altLang="zh-CN" sz="2400" b="1" i="0" u="none" strike="noStrike" kern="0" cap="none" spc="0" normalizeH="0" baseline="0" noProof="1">
              <a:solidFill>
                <a:schemeClr val="tx1"/>
              </a:solidFill>
              <a:latin typeface="+mn-lt"/>
              <a:ea typeface="+mn-ea"/>
              <a:cs typeface="+mn-ea"/>
            </a:endParaRPr>
          </a:p>
        </p:txBody>
      </p:sp>
    </p:spTree>
  </p:cSld>
  <p:clrMapOvr>
    <a:masterClrMapping/>
  </p:clrMapOvr>
  <p:transition spd="med">
    <p:random/>
  </p:transition>
</p:sld>
</file>

<file path=ppt/slides/slide7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6801" name="内容占位符 2"/>
          <p:cNvSpPr>
            <a:spLocks noGrp="1"/>
          </p:cNvSpPr>
          <p:nvPr>
            <p:ph idx="4294967295"/>
          </p:nvPr>
        </p:nvSpPr>
        <p:spPr>
          <a:xfrm>
            <a:off x="192088" y="1527175"/>
            <a:ext cx="8370888" cy="4221163"/>
          </a:xfrm>
          <a:prstGeom prst="rect">
            <a:avLst/>
          </a:prstGeom>
          <a:noFill/>
          <a:ln w="9525" cap="flat" cmpd="sng" algn="ctr">
            <a:noFill/>
            <a:prstDash val="solid"/>
            <a:miter/>
          </a:ln>
        </p:spPr>
        <p:txBody>
          <a:bodyPr wrap="square" lIns="92075" tIns="46038" rIns="92075" bIns="46038" anchor="t"/>
          <a:lstStyle/>
          <a:p>
            <a:pPr marL="0" marR="0" lvl="0" indent="0" algn="just" defTabSz="914400" rtl="0" eaLnBrk="0" fontAlgn="base" latinLnBrk="0" hangingPunct="0">
              <a:lnSpc>
                <a:spcPct val="100000"/>
              </a:lnSpc>
              <a:spcBef>
                <a:spcPct val="20000"/>
              </a:spcBef>
              <a:spcAft>
                <a:spcPct val="0"/>
              </a:spcAft>
              <a:buClr>
                <a:schemeClr val="accent2"/>
              </a:buClr>
              <a:buSzPct val="70000"/>
              <a:buFont typeface="Wingdings" panose="05000000000000000000" pitchFamily="2" charset="2"/>
              <a:buNone/>
            </a:pPr>
            <a:r>
              <a:rPr kumimoji="1" lang="en-US" altLang="zh-CN" sz="2800" b="1" i="0" u="none" strike="noStrike" kern="0" cap="none" spc="0" normalizeH="0" baseline="0" noProof="1">
                <a:solidFill>
                  <a:schemeClr val="tx1"/>
                </a:solidFill>
                <a:latin typeface="+mn-lt"/>
                <a:ea typeface="+mn-ea"/>
                <a:cs typeface="+mn-cs"/>
              </a:rPr>
              <a:t>  </a:t>
            </a:r>
            <a:r>
              <a:rPr kumimoji="1" lang="en-US" altLang="zh-CN" sz="2400" b="1" i="0" u="none" strike="noStrike" kern="0" cap="none" spc="0" normalizeH="0" baseline="0" noProof="1">
                <a:solidFill>
                  <a:schemeClr val="tx1"/>
                </a:solidFill>
                <a:latin typeface="+mn-lt"/>
                <a:ea typeface="+mn-ea"/>
                <a:cs typeface="+mn-cs"/>
              </a:rPr>
              <a:t>          2</a:t>
            </a:r>
            <a:r>
              <a:rPr kumimoji="1" lang="zh-CN" altLang="zh-CN" sz="2400" b="1" i="0" u="none" strike="noStrike" kern="0" cap="none" spc="0" normalizeH="0" baseline="0" noProof="1">
                <a:solidFill>
                  <a:schemeClr val="tx1"/>
                </a:solidFill>
                <a:latin typeface="+mn-lt"/>
                <a:ea typeface="+mn-ea"/>
                <a:cs typeface="+mn-cs"/>
              </a:rPr>
              <a:t>）写操作</a:t>
            </a:r>
          </a:p>
          <a:p>
            <a:pPr marL="342900" marR="0" lvl="0" indent="-228600" algn="just" defTabSz="914400" rtl="0" eaLnBrk="0" fontAlgn="base" latinLnBrk="0" hangingPunct="0">
              <a:lnSpc>
                <a:spcPct val="100000"/>
              </a:lnSpc>
              <a:spcBef>
                <a:spcPct val="20000"/>
              </a:spcBef>
              <a:spcAft>
                <a:spcPct val="0"/>
              </a:spcAft>
              <a:buClr>
                <a:schemeClr val="accent2"/>
              </a:buClr>
              <a:buSzPct val="70000"/>
              <a:buFont typeface="Wingdings" panose="05000000000000000000" pitchFamily="2" charset="2"/>
              <a:buNone/>
            </a:pPr>
            <a:r>
              <a:rPr kumimoji="1" lang="zh-CN" altLang="zh-CN" sz="2400" b="1" i="0" u="none" strike="noStrike" kern="0" cap="none" spc="0" normalizeH="0" baseline="0" noProof="1">
                <a:solidFill>
                  <a:schemeClr val="tx1"/>
                </a:solidFill>
                <a:latin typeface="+mn-lt"/>
                <a:ea typeface="+mn-ea"/>
                <a:cs typeface="+mn-cs"/>
              </a:rPr>
              <a:t>（</a:t>
            </a:r>
            <a:r>
              <a:rPr kumimoji="1" lang="en-US" altLang="zh-CN" sz="2400" b="1" i="0" u="none" strike="noStrike" kern="0" cap="none" spc="0" normalizeH="0" baseline="0" noProof="1">
                <a:solidFill>
                  <a:schemeClr val="tx1"/>
                </a:solidFill>
                <a:latin typeface="+mn-lt"/>
                <a:ea typeface="+mn-ea"/>
                <a:cs typeface="+mn-cs"/>
              </a:rPr>
              <a:t>1</a:t>
            </a:r>
            <a:r>
              <a:rPr kumimoji="1" lang="zh-CN" altLang="zh-CN" sz="2400" b="1" i="0" u="none" strike="noStrike" kern="0" cap="none" spc="0" normalizeH="0" baseline="0" noProof="1">
                <a:solidFill>
                  <a:schemeClr val="tx1"/>
                </a:solidFill>
                <a:latin typeface="+mn-lt"/>
                <a:ea typeface="+mn-ea"/>
                <a:cs typeface="+mn-cs"/>
              </a:rPr>
              <a:t>）通写（</a:t>
            </a:r>
            <a:r>
              <a:rPr kumimoji="1" lang="en-US" altLang="zh-CN" sz="2400" b="1" i="0" u="none" strike="noStrike" kern="0" cap="none" spc="0" normalizeH="0" baseline="0" noProof="1">
                <a:solidFill>
                  <a:schemeClr val="tx1"/>
                </a:solidFill>
                <a:latin typeface="+mn-lt"/>
                <a:ea typeface="+mn-ea"/>
                <a:cs typeface="+mn-cs"/>
              </a:rPr>
              <a:t>Write-through</a:t>
            </a:r>
            <a:r>
              <a:rPr kumimoji="1" lang="zh-CN" altLang="zh-CN" sz="2400" b="1" i="0" u="none" strike="noStrike" kern="0" cap="none" spc="0" normalizeH="0" baseline="0" noProof="1">
                <a:solidFill>
                  <a:schemeClr val="tx1"/>
                </a:solidFill>
                <a:latin typeface="+mn-lt"/>
                <a:ea typeface="+mn-ea"/>
                <a:cs typeface="+mn-cs"/>
              </a:rPr>
              <a:t>），即每次写入</a:t>
            </a:r>
            <a:r>
              <a:rPr kumimoji="1" lang="en-US" altLang="zh-CN" sz="2400" b="1" i="0" u="none" strike="noStrike" kern="0" cap="none" spc="0" normalizeH="0" baseline="0" noProof="1">
                <a:solidFill>
                  <a:schemeClr val="tx1"/>
                </a:solidFill>
                <a:latin typeface="+mn-lt"/>
                <a:ea typeface="+mn-ea"/>
                <a:cs typeface="+mn-cs"/>
              </a:rPr>
              <a:t>Cache</a:t>
            </a:r>
            <a:r>
              <a:rPr kumimoji="1" lang="zh-CN" altLang="zh-CN" sz="2400" b="1" i="0" u="none" strike="noStrike" kern="0" cap="none" spc="0" normalizeH="0" baseline="0" noProof="1">
                <a:solidFill>
                  <a:schemeClr val="tx1"/>
                </a:solidFill>
                <a:latin typeface="+mn-lt"/>
                <a:ea typeface="+mn-ea"/>
                <a:cs typeface="+mn-cs"/>
              </a:rPr>
              <a:t>时，同时也写入主存，使主存与</a:t>
            </a:r>
            <a:r>
              <a:rPr kumimoji="1" lang="en-US" altLang="zh-CN" sz="2400" b="1" i="0" u="none" strike="noStrike" kern="0" cap="none" spc="0" normalizeH="0" baseline="0" noProof="1">
                <a:solidFill>
                  <a:schemeClr val="tx1"/>
                </a:solidFill>
                <a:latin typeface="+mn-lt"/>
                <a:ea typeface="+mn-ea"/>
                <a:cs typeface="+mn-cs"/>
              </a:rPr>
              <a:t>Cache</a:t>
            </a:r>
            <a:r>
              <a:rPr kumimoji="1" lang="zh-CN" altLang="zh-CN" sz="2400" b="1" i="0" u="none" strike="noStrike" kern="0" cap="none" spc="0" normalizeH="0" baseline="0" noProof="1">
                <a:solidFill>
                  <a:schemeClr val="tx1"/>
                </a:solidFill>
                <a:latin typeface="+mn-lt"/>
                <a:ea typeface="+mn-ea"/>
                <a:cs typeface="+mn-cs"/>
              </a:rPr>
              <a:t>对应单元的内容始终保持一致。</a:t>
            </a:r>
            <a:endParaRPr kumimoji="1" lang="en-US" altLang="zh-CN" sz="2400" b="1" i="0" u="none" strike="noStrike" kern="0" cap="none" spc="0" normalizeH="0" baseline="0" noProof="1">
              <a:solidFill>
                <a:schemeClr val="tx1"/>
              </a:solidFill>
              <a:latin typeface="+mn-lt"/>
              <a:ea typeface="+mn-ea"/>
              <a:cs typeface="+mn-cs"/>
            </a:endParaRPr>
          </a:p>
          <a:p>
            <a:pPr marL="342900" marR="0" lvl="0" indent="-228600" algn="just" defTabSz="914400" rtl="0" eaLnBrk="0" fontAlgn="base" latinLnBrk="0" hangingPunct="0">
              <a:lnSpc>
                <a:spcPct val="100000"/>
              </a:lnSpc>
              <a:spcBef>
                <a:spcPct val="20000"/>
              </a:spcBef>
              <a:spcAft>
                <a:spcPct val="0"/>
              </a:spcAft>
              <a:buClr>
                <a:schemeClr val="accent2"/>
              </a:buClr>
              <a:buSzPct val="70000"/>
              <a:buFont typeface="Wingdings" panose="05000000000000000000" pitchFamily="2" charset="2"/>
              <a:buNone/>
            </a:pPr>
            <a:r>
              <a:rPr kumimoji="1" lang="zh-CN" altLang="zh-CN" sz="2400" b="1" i="0" u="none" strike="noStrike" kern="0" cap="none" spc="0" normalizeH="0" baseline="0" noProof="1">
                <a:solidFill>
                  <a:schemeClr val="tx1"/>
                </a:solidFill>
                <a:latin typeface="+mn-lt"/>
                <a:ea typeface="+mn-ea"/>
                <a:cs typeface="+mn-cs"/>
              </a:rPr>
              <a:t>（</a:t>
            </a:r>
            <a:r>
              <a:rPr kumimoji="1" lang="en-US" altLang="zh-CN" sz="2400" b="1" i="0" u="none" strike="noStrike" kern="0" cap="none" spc="0" normalizeH="0" baseline="0" noProof="1">
                <a:solidFill>
                  <a:schemeClr val="tx1"/>
                </a:solidFill>
                <a:latin typeface="+mn-lt"/>
                <a:ea typeface="+mn-ea"/>
                <a:cs typeface="+mn-cs"/>
              </a:rPr>
              <a:t>2</a:t>
            </a:r>
            <a:r>
              <a:rPr kumimoji="1" lang="zh-CN" altLang="zh-CN" sz="2400" b="1" i="0" u="none" strike="noStrike" kern="0" cap="none" spc="0" normalizeH="0" baseline="0" noProof="1">
                <a:solidFill>
                  <a:schemeClr val="tx1"/>
                </a:solidFill>
                <a:latin typeface="+mn-lt"/>
                <a:ea typeface="+mn-ea"/>
                <a:cs typeface="+mn-cs"/>
              </a:rPr>
              <a:t>）改进通写（</a:t>
            </a:r>
            <a:r>
              <a:rPr kumimoji="1" lang="en-US" altLang="zh-CN" sz="2400" b="1" i="0" u="none" strike="noStrike" kern="0" cap="none" spc="0" normalizeH="0" baseline="0" noProof="1">
                <a:solidFill>
                  <a:schemeClr val="tx1"/>
                </a:solidFill>
                <a:latin typeface="+mn-lt"/>
                <a:ea typeface="+mn-ea"/>
                <a:cs typeface="+mn-cs"/>
              </a:rPr>
              <a:t>Improve Write-through</a:t>
            </a:r>
            <a:r>
              <a:rPr kumimoji="1" lang="zh-CN" altLang="zh-CN" sz="2400" b="1" i="0" u="none" strike="noStrike" kern="0" cap="none" spc="0" normalizeH="0" baseline="0" noProof="1">
                <a:solidFill>
                  <a:schemeClr val="tx1"/>
                </a:solidFill>
                <a:latin typeface="+mn-lt"/>
                <a:ea typeface="+mn-ea"/>
                <a:cs typeface="+mn-cs"/>
              </a:rPr>
              <a:t>）。如果对</a:t>
            </a:r>
            <a:r>
              <a:rPr kumimoji="1" lang="en-US" altLang="zh-CN" sz="2400" b="1" i="0" u="none" strike="noStrike" kern="0" cap="none" spc="0" normalizeH="0" baseline="0" noProof="1">
                <a:solidFill>
                  <a:schemeClr val="tx1"/>
                </a:solidFill>
                <a:latin typeface="+mn-lt"/>
                <a:ea typeface="+mn-ea"/>
                <a:cs typeface="+mn-cs"/>
              </a:rPr>
              <a:t>Cache</a:t>
            </a:r>
            <a:r>
              <a:rPr kumimoji="1" lang="zh-CN" altLang="zh-CN" sz="2400" b="1" i="0" u="none" strike="noStrike" kern="0" cap="none" spc="0" normalizeH="0" baseline="0" noProof="1">
                <a:solidFill>
                  <a:schemeClr val="tx1"/>
                </a:solidFill>
                <a:latin typeface="+mn-lt"/>
                <a:ea typeface="+mn-ea"/>
                <a:cs typeface="+mn-cs"/>
              </a:rPr>
              <a:t>写入的后面紧接着进行的是读操作，那么在主存写入完成前即让</a:t>
            </a:r>
            <a:r>
              <a:rPr kumimoji="1" lang="en-US" altLang="zh-CN" sz="2400" b="1" i="0" u="none" strike="noStrike" kern="0" cap="none" spc="0" normalizeH="0" baseline="0" noProof="1">
                <a:solidFill>
                  <a:schemeClr val="tx1"/>
                </a:solidFill>
                <a:latin typeface="+mn-lt"/>
                <a:ea typeface="+mn-ea"/>
                <a:cs typeface="+mn-cs"/>
              </a:rPr>
              <a:t>CPU</a:t>
            </a:r>
            <a:r>
              <a:rPr kumimoji="1" lang="zh-CN" altLang="zh-CN" sz="2400" b="1" i="0" u="none" strike="noStrike" kern="0" cap="none" spc="0" normalizeH="0" baseline="0" noProof="1">
                <a:solidFill>
                  <a:schemeClr val="tx1"/>
                </a:solidFill>
                <a:latin typeface="+mn-lt"/>
                <a:ea typeface="+mn-ea"/>
                <a:cs typeface="+mn-cs"/>
              </a:rPr>
              <a:t>开始下一个操作</a:t>
            </a:r>
            <a:endParaRPr kumimoji="1" lang="en-US" altLang="zh-CN" sz="2400" b="1" i="0" u="none" strike="noStrike" kern="0" cap="none" spc="0" normalizeH="0" baseline="0" noProof="1">
              <a:solidFill>
                <a:schemeClr val="tx1"/>
              </a:solidFill>
              <a:latin typeface="+mn-lt"/>
              <a:ea typeface="+mn-ea"/>
              <a:cs typeface="+mn-cs"/>
            </a:endParaRPr>
          </a:p>
          <a:p>
            <a:pPr marL="342900" marR="0" lvl="0" indent="-228600" algn="just" defTabSz="914400" rtl="0" eaLnBrk="0" fontAlgn="base" latinLnBrk="0" hangingPunct="0">
              <a:lnSpc>
                <a:spcPct val="100000"/>
              </a:lnSpc>
              <a:spcBef>
                <a:spcPct val="20000"/>
              </a:spcBef>
              <a:spcAft>
                <a:spcPct val="0"/>
              </a:spcAft>
              <a:buClr>
                <a:schemeClr val="accent2"/>
              </a:buClr>
              <a:buSzPct val="70000"/>
              <a:buFont typeface="Wingdings" panose="05000000000000000000" pitchFamily="2" charset="2"/>
              <a:buNone/>
            </a:pPr>
            <a:r>
              <a:rPr kumimoji="1" lang="zh-CN" altLang="zh-CN" sz="2400" b="1" i="0" u="none" strike="noStrike" kern="0" cap="none" spc="0" normalizeH="0" baseline="0" noProof="1">
                <a:solidFill>
                  <a:schemeClr val="tx1"/>
                </a:solidFill>
                <a:latin typeface="+mn-lt"/>
                <a:ea typeface="+mn-ea"/>
                <a:cs typeface="+mn-cs"/>
              </a:rPr>
              <a:t>（</a:t>
            </a:r>
            <a:r>
              <a:rPr kumimoji="1" lang="en-US" altLang="zh-CN" sz="2400" b="1" i="0" u="none" strike="noStrike" kern="0" cap="none" spc="0" normalizeH="0" baseline="0" noProof="1">
                <a:solidFill>
                  <a:schemeClr val="tx1"/>
                </a:solidFill>
                <a:latin typeface="+mn-lt"/>
                <a:ea typeface="+mn-ea"/>
                <a:cs typeface="+mn-cs"/>
              </a:rPr>
              <a:t>3</a:t>
            </a:r>
            <a:r>
              <a:rPr kumimoji="1" lang="zh-CN" altLang="zh-CN" sz="2400" b="1" i="0" u="none" strike="noStrike" kern="0" cap="none" spc="0" normalizeH="0" baseline="0" noProof="1">
                <a:solidFill>
                  <a:schemeClr val="tx1"/>
                </a:solidFill>
                <a:latin typeface="+mn-lt"/>
                <a:ea typeface="+mn-ea"/>
                <a:cs typeface="+mn-cs"/>
              </a:rPr>
              <a:t>）回写（</a:t>
            </a:r>
            <a:r>
              <a:rPr kumimoji="1" lang="en-US" altLang="zh-CN" sz="2400" b="1" i="0" u="none" strike="noStrike" kern="0" cap="none" spc="0" normalizeH="0" baseline="0" noProof="1">
                <a:solidFill>
                  <a:schemeClr val="tx1"/>
                </a:solidFill>
                <a:latin typeface="+mn-lt"/>
                <a:ea typeface="+mn-ea"/>
                <a:cs typeface="+mn-cs"/>
              </a:rPr>
              <a:t>Write-back</a:t>
            </a:r>
            <a:r>
              <a:rPr kumimoji="1" lang="zh-CN" altLang="zh-CN" sz="2400" b="1" i="0" u="none" strike="noStrike" kern="0" cap="none" spc="0" normalizeH="0" baseline="0" noProof="1">
                <a:solidFill>
                  <a:schemeClr val="tx1"/>
                </a:solidFill>
                <a:latin typeface="+mn-lt"/>
                <a:ea typeface="+mn-ea"/>
                <a:cs typeface="+mn-cs"/>
              </a:rPr>
              <a:t>）。该方法不是每次写入</a:t>
            </a:r>
            <a:r>
              <a:rPr kumimoji="1" lang="en-US" altLang="zh-CN" sz="2400" b="1" i="0" u="none" strike="noStrike" kern="0" cap="none" spc="0" normalizeH="0" baseline="0" noProof="1">
                <a:solidFill>
                  <a:schemeClr val="tx1"/>
                </a:solidFill>
                <a:latin typeface="+mn-lt"/>
                <a:ea typeface="+mn-ea"/>
                <a:cs typeface="+mn-cs"/>
              </a:rPr>
              <a:t>Cache</a:t>
            </a:r>
            <a:r>
              <a:rPr kumimoji="1" lang="zh-CN" altLang="zh-CN" sz="2400" b="1" i="0" u="none" strike="noStrike" kern="0" cap="none" spc="0" normalizeH="0" baseline="0" noProof="1">
                <a:solidFill>
                  <a:schemeClr val="tx1"/>
                </a:solidFill>
                <a:latin typeface="+mn-lt"/>
                <a:ea typeface="+mn-ea"/>
                <a:cs typeface="+mn-cs"/>
              </a:rPr>
              <a:t>后就立即向主存写入，只是在相应内容被替换出</a:t>
            </a:r>
            <a:r>
              <a:rPr kumimoji="1" lang="en-US" altLang="zh-CN" sz="2400" b="1" i="0" u="none" strike="noStrike" kern="0" cap="none" spc="0" normalizeH="0" baseline="0" noProof="1">
                <a:solidFill>
                  <a:schemeClr val="tx1"/>
                </a:solidFill>
                <a:latin typeface="+mn-lt"/>
                <a:ea typeface="+mn-ea"/>
                <a:cs typeface="+mn-cs"/>
              </a:rPr>
              <a:t>Cache</a:t>
            </a:r>
            <a:r>
              <a:rPr kumimoji="1" lang="zh-CN" altLang="zh-CN" sz="2400" b="1" i="0" u="none" strike="noStrike" kern="0" cap="none" spc="0" normalizeH="0" baseline="0" noProof="1">
                <a:solidFill>
                  <a:schemeClr val="tx1"/>
                </a:solidFill>
                <a:latin typeface="+mn-lt"/>
                <a:ea typeface="+mn-ea"/>
                <a:cs typeface="+mn-cs"/>
              </a:rPr>
              <a:t>时才考虑向主存回写。</a:t>
            </a:r>
            <a:endParaRPr kumimoji="1" lang="zh-CN" altLang="en-US" sz="2400" b="1" i="0" u="none" strike="noStrike" kern="0" cap="none" spc="0" normalizeH="0" baseline="0" noProof="1">
              <a:solidFill>
                <a:schemeClr val="tx1"/>
              </a:solidFill>
              <a:latin typeface="+mn-lt"/>
              <a:ea typeface="+mn-ea"/>
              <a:cs typeface="+mn-cs"/>
            </a:endParaRPr>
          </a:p>
          <a:p>
            <a:pPr marL="342900" marR="0" lvl="0" indent="-342900" algn="just" defTabSz="914400" rtl="0" eaLnBrk="0" fontAlgn="base" latinLnBrk="0" hangingPunct="0">
              <a:lnSpc>
                <a:spcPct val="100000"/>
              </a:lnSpc>
              <a:spcBef>
                <a:spcPct val="20000"/>
              </a:spcBef>
              <a:spcAft>
                <a:spcPct val="0"/>
              </a:spcAft>
              <a:buClr>
                <a:schemeClr val="accent2"/>
              </a:buClr>
              <a:buSzPct val="70000"/>
              <a:buFont typeface="Wingdings" panose="05000000000000000000" pitchFamily="2" charset="2"/>
              <a:buNone/>
            </a:pPr>
            <a:endParaRPr kumimoji="1" lang="zh-CN" altLang="en-US" sz="2400" b="1" i="0" u="none" strike="noStrike" kern="0" cap="none" spc="0" normalizeH="0" baseline="0" noProof="1">
              <a:solidFill>
                <a:schemeClr val="tx1"/>
              </a:solidFill>
              <a:latin typeface="+mn-lt"/>
              <a:ea typeface="+mn-ea"/>
              <a:cs typeface="+mn-cs"/>
            </a:endParaRPr>
          </a:p>
        </p:txBody>
      </p:sp>
    </p:spTree>
  </p:cSld>
  <p:clrMapOvr>
    <a:masterClrMapping/>
  </p:clrMapOvr>
  <p:transition spd="med">
    <p:random/>
  </p:transition>
</p:sld>
</file>

<file path=ppt/slides/slide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7825" name="内容占位符 2"/>
          <p:cNvSpPr>
            <a:spLocks noGrp="1"/>
          </p:cNvSpPr>
          <p:nvPr>
            <p:ph idx="4294967295"/>
          </p:nvPr>
        </p:nvSpPr>
        <p:spPr>
          <a:xfrm>
            <a:off x="379413" y="1473200"/>
            <a:ext cx="8197850" cy="3575050"/>
          </a:xfrm>
          <a:prstGeom prst="rect">
            <a:avLst/>
          </a:prstGeom>
          <a:noFill/>
          <a:ln w="9525" cap="flat" cmpd="sng" algn="ctr">
            <a:noFill/>
            <a:prstDash val="solid"/>
            <a:miter/>
          </a:ln>
        </p:spPr>
        <p:txBody>
          <a:bodyPr wrap="square" lIns="92075" tIns="46038" rIns="92075" bIns="46038" anchor="t"/>
          <a:lstStyle/>
          <a:p>
            <a:pPr marL="0" marR="0" lvl="0" indent="0" algn="just" defTabSz="914400" rtl="0" eaLnBrk="0" fontAlgn="base" latinLnBrk="0" hangingPunct="0">
              <a:lnSpc>
                <a:spcPct val="100000"/>
              </a:lnSpc>
              <a:spcBef>
                <a:spcPct val="20000"/>
              </a:spcBef>
              <a:spcAft>
                <a:spcPct val="0"/>
              </a:spcAft>
              <a:buClr>
                <a:schemeClr val="accent2"/>
              </a:buClr>
              <a:buSzPct val="70000"/>
              <a:buFont typeface="Wingdings" panose="05000000000000000000" pitchFamily="2" charset="2"/>
              <a:buNone/>
            </a:pPr>
            <a:r>
              <a:rPr kumimoji="1" lang="en-US" altLang="zh-CN" sz="2400" b="1" i="0" u="none" strike="noStrike" kern="0" cap="none" spc="0" normalizeH="0" baseline="0" noProof="1">
                <a:solidFill>
                  <a:schemeClr val="tx1"/>
                </a:solidFill>
                <a:latin typeface="+mn-lt"/>
                <a:ea typeface="+mn-ea"/>
                <a:cs typeface="+mn-cs"/>
              </a:rPr>
              <a:t>         3</a:t>
            </a:r>
            <a:r>
              <a:rPr kumimoji="1" lang="zh-CN" altLang="zh-CN" sz="2400" b="1" i="0" u="none" strike="noStrike" kern="0" cap="none" spc="0" normalizeH="0" baseline="0" noProof="1">
                <a:solidFill>
                  <a:schemeClr val="tx1"/>
                </a:solidFill>
                <a:latin typeface="+mn-lt"/>
                <a:ea typeface="+mn-ea"/>
                <a:cs typeface="+mn-cs"/>
              </a:rPr>
              <a:t>．地址映射</a:t>
            </a:r>
          </a:p>
          <a:p>
            <a:pPr marL="0" marR="0" lvl="0" indent="0" algn="just" defTabSz="914400" rtl="0" eaLnBrk="0" fontAlgn="base" latinLnBrk="0" hangingPunct="0">
              <a:lnSpc>
                <a:spcPct val="100000"/>
              </a:lnSpc>
              <a:spcBef>
                <a:spcPct val="20000"/>
              </a:spcBef>
              <a:spcAft>
                <a:spcPct val="0"/>
              </a:spcAft>
              <a:buClr>
                <a:schemeClr val="accent2"/>
              </a:buClr>
              <a:buSzPct val="70000"/>
              <a:buFont typeface="Wingdings" panose="05000000000000000000" pitchFamily="2" charset="2"/>
              <a:buNone/>
            </a:pPr>
            <a:r>
              <a:rPr kumimoji="1" lang="zh-CN" altLang="zh-CN" sz="2400" b="1" i="0" u="none" strike="noStrike" kern="0" cap="none" spc="0" normalizeH="0" baseline="0" noProof="1">
                <a:solidFill>
                  <a:schemeClr val="tx1"/>
                </a:solidFill>
                <a:latin typeface="+mn-lt"/>
                <a:ea typeface="+mn-ea"/>
                <a:cs typeface="+mn-cs"/>
              </a:rPr>
              <a:t>        为了保证</a:t>
            </a:r>
            <a:r>
              <a:rPr kumimoji="1" lang="en-US" altLang="zh-CN" sz="2400" b="1" i="0" u="none" strike="noStrike" kern="0" cap="none" spc="0" normalizeH="0" baseline="0" noProof="1">
                <a:solidFill>
                  <a:schemeClr val="tx1"/>
                </a:solidFill>
                <a:latin typeface="+mn-lt"/>
                <a:ea typeface="+mn-ea"/>
                <a:cs typeface="+mn-cs"/>
              </a:rPr>
              <a:t>Cache</a:t>
            </a:r>
            <a:r>
              <a:rPr kumimoji="1" lang="zh-CN" altLang="zh-CN" sz="2400" b="1" i="0" u="none" strike="noStrike" kern="0" cap="none" spc="0" normalizeH="0" baseline="0" noProof="1">
                <a:solidFill>
                  <a:schemeClr val="tx1"/>
                </a:solidFill>
                <a:latin typeface="+mn-lt"/>
                <a:ea typeface="+mn-ea"/>
                <a:cs typeface="+mn-cs"/>
              </a:rPr>
              <a:t>读</a:t>
            </a:r>
            <a:r>
              <a:rPr kumimoji="1" lang="en-US" altLang="zh-CN" sz="2400" b="1" i="0" u="none" strike="noStrike" kern="0" cap="none" spc="0" normalizeH="0" baseline="0" noProof="1">
                <a:solidFill>
                  <a:schemeClr val="tx1"/>
                </a:solidFill>
                <a:latin typeface="+mn-lt"/>
                <a:ea typeface="+mn-ea"/>
                <a:cs typeface="+mn-cs"/>
              </a:rPr>
              <a:t>/</a:t>
            </a:r>
            <a:r>
              <a:rPr kumimoji="1" lang="zh-CN" altLang="zh-CN" sz="2400" b="1" i="0" u="none" strike="noStrike" kern="0" cap="none" spc="0" normalizeH="0" baseline="0" noProof="1">
                <a:solidFill>
                  <a:schemeClr val="tx1"/>
                </a:solidFill>
                <a:latin typeface="+mn-lt"/>
                <a:ea typeface="+mn-ea"/>
                <a:cs typeface="+mn-cs"/>
              </a:rPr>
              <a:t>写操作的正确、有效，必须在</a:t>
            </a:r>
            <a:r>
              <a:rPr kumimoji="1" lang="en-US" altLang="zh-CN" sz="2400" b="1" i="0" u="none" strike="noStrike" kern="0" cap="none" spc="0" normalizeH="0" baseline="0" noProof="1">
                <a:solidFill>
                  <a:schemeClr val="tx1"/>
                </a:solidFill>
                <a:latin typeface="+mn-lt"/>
                <a:ea typeface="+mn-ea"/>
                <a:cs typeface="+mn-cs"/>
              </a:rPr>
              <a:t>Cache</a:t>
            </a:r>
            <a:r>
              <a:rPr kumimoji="1" lang="zh-CN" altLang="zh-CN" sz="2400" b="1" i="0" u="none" strike="noStrike" kern="0" cap="none" spc="0" normalizeH="0" baseline="0" noProof="1">
                <a:solidFill>
                  <a:schemeClr val="tx1"/>
                </a:solidFill>
                <a:latin typeface="+mn-lt"/>
                <a:ea typeface="+mn-ea"/>
                <a:cs typeface="+mn-cs"/>
              </a:rPr>
              <a:t>中的存储块与主存中的存储块之间建立起对应关系。</a:t>
            </a:r>
            <a:endParaRPr kumimoji="1" lang="en-US" altLang="zh-CN" sz="2400" b="1" i="0" u="none" strike="noStrike" kern="0" cap="none" spc="0" normalizeH="0" baseline="0" noProof="1">
              <a:solidFill>
                <a:schemeClr val="tx1"/>
              </a:solidFill>
              <a:latin typeface="+mn-lt"/>
              <a:ea typeface="+mn-ea"/>
              <a:cs typeface="+mn-cs"/>
            </a:endParaRPr>
          </a:p>
          <a:p>
            <a:pPr marL="0" marR="0" lvl="0" indent="0" algn="just" defTabSz="914400" rtl="0" eaLnBrk="0" fontAlgn="base" latinLnBrk="0" hangingPunct="0">
              <a:lnSpc>
                <a:spcPct val="100000"/>
              </a:lnSpc>
              <a:spcBef>
                <a:spcPct val="20000"/>
              </a:spcBef>
              <a:spcAft>
                <a:spcPct val="0"/>
              </a:spcAft>
              <a:buClr>
                <a:schemeClr val="accent2"/>
              </a:buClr>
              <a:buSzPct val="70000"/>
              <a:buFont typeface="Wingdings" panose="05000000000000000000" pitchFamily="2" charset="2"/>
              <a:buNone/>
            </a:pPr>
            <a:r>
              <a:rPr kumimoji="1" lang="zh-CN" altLang="zh-CN" sz="2400" b="1" i="0" u="none" strike="noStrike" kern="0" cap="none" spc="0" normalizeH="0" baseline="0" noProof="1">
                <a:solidFill>
                  <a:schemeClr val="tx1"/>
                </a:solidFill>
                <a:latin typeface="+mn-lt"/>
                <a:ea typeface="+mn-ea"/>
                <a:cs typeface="+mn-cs"/>
              </a:rPr>
              <a:t>        按某种函数关系把主存单元地址映射到</a:t>
            </a:r>
            <a:r>
              <a:rPr kumimoji="1" lang="en-US" altLang="zh-CN" sz="2400" b="1" i="0" u="none" strike="noStrike" kern="0" cap="none" spc="0" normalizeH="0" baseline="0" noProof="1">
                <a:solidFill>
                  <a:schemeClr val="tx1"/>
                </a:solidFill>
                <a:latin typeface="+mn-lt"/>
                <a:ea typeface="+mn-ea"/>
                <a:cs typeface="+mn-cs"/>
              </a:rPr>
              <a:t>Cache</a:t>
            </a:r>
            <a:r>
              <a:rPr kumimoji="1" lang="zh-CN" altLang="zh-CN" sz="2400" b="1" i="0" u="none" strike="noStrike" kern="0" cap="none" spc="0" normalizeH="0" baseline="0" noProof="1">
                <a:solidFill>
                  <a:schemeClr val="tx1"/>
                </a:solidFill>
                <a:latin typeface="+mn-lt"/>
                <a:ea typeface="+mn-ea"/>
                <a:cs typeface="+mn-cs"/>
              </a:rPr>
              <a:t>中并进行定位，称为地址映射。在程序运行中，把主存地址变换为</a:t>
            </a:r>
            <a:r>
              <a:rPr kumimoji="1" lang="en-US" altLang="zh-CN" sz="2400" b="1" i="0" u="none" strike="noStrike" kern="0" cap="none" spc="0" normalizeH="0" baseline="0" noProof="1">
                <a:solidFill>
                  <a:schemeClr val="tx1"/>
                </a:solidFill>
                <a:latin typeface="+mn-lt"/>
                <a:ea typeface="+mn-ea"/>
                <a:cs typeface="+mn-cs"/>
              </a:rPr>
              <a:t>Cache</a:t>
            </a:r>
            <a:r>
              <a:rPr kumimoji="1" lang="zh-CN" altLang="zh-CN" sz="2400" b="1" i="0" u="none" strike="noStrike" kern="0" cap="none" spc="0" normalizeH="0" baseline="0" noProof="1">
                <a:solidFill>
                  <a:schemeClr val="tx1"/>
                </a:solidFill>
                <a:latin typeface="+mn-lt"/>
                <a:ea typeface="+mn-ea"/>
                <a:cs typeface="+mn-cs"/>
              </a:rPr>
              <a:t>地址，或者相反地将</a:t>
            </a:r>
            <a:r>
              <a:rPr kumimoji="1" lang="en-US" altLang="zh-CN" sz="2400" b="1" i="0" u="none" strike="noStrike" kern="0" cap="none" spc="0" normalizeH="0" baseline="0" noProof="1">
                <a:solidFill>
                  <a:schemeClr val="tx1"/>
                </a:solidFill>
                <a:latin typeface="+mn-lt"/>
                <a:ea typeface="+mn-ea"/>
                <a:cs typeface="+mn-cs"/>
              </a:rPr>
              <a:t>Cache</a:t>
            </a:r>
            <a:r>
              <a:rPr kumimoji="1" lang="zh-CN" altLang="zh-CN" sz="2400" b="1" i="0" u="none" strike="noStrike" kern="0" cap="none" spc="0" normalizeH="0" baseline="0" noProof="1">
                <a:solidFill>
                  <a:schemeClr val="tx1"/>
                </a:solidFill>
                <a:latin typeface="+mn-lt"/>
                <a:ea typeface="+mn-ea"/>
                <a:cs typeface="+mn-cs"/>
              </a:rPr>
              <a:t>地址变换为主存地址，这个过程称为地址变换。地址映射有直接映射、全相联映射和组相联映射</a:t>
            </a:r>
            <a:r>
              <a:rPr kumimoji="1" lang="en-US" altLang="zh-CN" sz="2400" b="1" i="0" u="none" strike="noStrike" kern="0" cap="none" spc="0" normalizeH="0" baseline="0" noProof="1">
                <a:solidFill>
                  <a:schemeClr val="tx1"/>
                </a:solidFill>
                <a:latin typeface="+mn-lt"/>
                <a:ea typeface="+mn-ea"/>
                <a:cs typeface="+mn-cs"/>
              </a:rPr>
              <a:t>3</a:t>
            </a:r>
            <a:r>
              <a:rPr kumimoji="1" lang="zh-CN" altLang="zh-CN" sz="2400" b="1" i="0" u="none" strike="noStrike" kern="0" cap="none" spc="0" normalizeH="0" baseline="0" noProof="1">
                <a:solidFill>
                  <a:schemeClr val="tx1"/>
                </a:solidFill>
                <a:latin typeface="+mn-lt"/>
                <a:ea typeface="+mn-ea"/>
                <a:cs typeface="+mn-cs"/>
              </a:rPr>
              <a:t>种。</a:t>
            </a:r>
          </a:p>
          <a:p>
            <a:pPr marL="342900" marR="0" lvl="0" indent="-342900" algn="just" defTabSz="914400" rtl="0" eaLnBrk="0" fontAlgn="base" latinLnBrk="0" hangingPunct="0">
              <a:lnSpc>
                <a:spcPct val="100000"/>
              </a:lnSpc>
              <a:spcBef>
                <a:spcPct val="20000"/>
              </a:spcBef>
              <a:spcAft>
                <a:spcPct val="0"/>
              </a:spcAft>
              <a:buClr>
                <a:schemeClr val="accent2"/>
              </a:buClr>
              <a:buSzPct val="70000"/>
              <a:buFont typeface="Wingdings" panose="05000000000000000000" pitchFamily="2" charset="2"/>
              <a:buChar char="u"/>
            </a:pPr>
            <a:endParaRPr kumimoji="1" lang="zh-CN" altLang="en-US" sz="2400" b="1" i="0" u="none" strike="noStrike" kern="0" cap="none" spc="0" normalizeH="0" baseline="0" noProof="1">
              <a:solidFill>
                <a:schemeClr val="tx1"/>
              </a:solidFill>
              <a:latin typeface="+mn-lt"/>
              <a:ea typeface="+mn-ea"/>
              <a:cs typeface="+mn-cs"/>
            </a:endParaRPr>
          </a:p>
        </p:txBody>
      </p:sp>
    </p:spTree>
  </p:cSld>
  <p:clrMapOvr>
    <a:masterClrMapping/>
  </p:clrMapOvr>
  <p:transition spd="med">
    <p:random/>
  </p:transition>
</p:sld>
</file>

<file path=ppt/slides/slide7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21" name="内容占位符 2"/>
          <p:cNvSpPr>
            <a:spLocks noGrp="1"/>
          </p:cNvSpPr>
          <p:nvPr>
            <p:ph/>
          </p:nvPr>
        </p:nvSpPr>
        <p:spPr>
          <a:xfrm>
            <a:off x="431800" y="1387475"/>
            <a:ext cx="8197850" cy="4814888"/>
          </a:xfrm>
          <a:prstGeom prst="rect">
            <a:avLst/>
          </a:prstGeom>
          <a:noFill/>
          <a:ln w="9525">
            <a:noFill/>
          </a:ln>
        </p:spPr>
        <p:txBody>
          <a:bodyPr wrap="square" lIns="92075" tIns="46038" rIns="92075" bIns="46038" anchor="t" anchorCtr="0"/>
          <a:lstStyle/>
          <a:p>
            <a:pPr marL="0" indent="0" algn="just">
              <a:buNone/>
            </a:pPr>
            <a:r>
              <a:rPr lang="zh-CN" altLang="zh-CN" sz="2400" dirty="0"/>
              <a:t>（</a:t>
            </a:r>
            <a:r>
              <a:rPr lang="en-US" altLang="zh-CN" sz="2400" dirty="0"/>
              <a:t>1</a:t>
            </a:r>
            <a:r>
              <a:rPr lang="zh-CN" altLang="zh-CN" sz="2400" dirty="0"/>
              <a:t>）直接映射。直接映射法规定：主存中的一页只能进入与它页号相同的</a:t>
            </a:r>
            <a:r>
              <a:rPr lang="en-US" altLang="zh-CN" sz="2400" dirty="0"/>
              <a:t>Cache</a:t>
            </a:r>
            <a:r>
              <a:rPr lang="zh-CN" altLang="zh-CN" sz="2400" dirty="0"/>
              <a:t>页中。</a:t>
            </a:r>
          </a:p>
          <a:p>
            <a:pPr marL="0" indent="0" algn="just">
              <a:buNone/>
            </a:pPr>
            <a:r>
              <a:rPr lang="zh-CN" altLang="zh-CN" sz="2400" dirty="0"/>
              <a:t>（</a:t>
            </a:r>
            <a:r>
              <a:rPr lang="en-US" altLang="zh-CN" sz="2400" dirty="0"/>
              <a:t>2</a:t>
            </a:r>
            <a:r>
              <a:rPr lang="zh-CN" altLang="zh-CN" sz="2400" dirty="0"/>
              <a:t>）全相联映射。主存中的每个页可映射到</a:t>
            </a:r>
            <a:r>
              <a:rPr lang="en-US" altLang="zh-CN" sz="2400" dirty="0"/>
              <a:t>Cache</a:t>
            </a:r>
            <a:r>
              <a:rPr lang="zh-CN" altLang="zh-CN" sz="2400" dirty="0"/>
              <a:t>中任意一个页的位置上，称为全相联映射（</a:t>
            </a:r>
            <a:r>
              <a:rPr lang="en-US" altLang="zh-CN" sz="2400" dirty="0"/>
              <a:t>Full Association</a:t>
            </a:r>
            <a:r>
              <a:rPr lang="zh-CN" altLang="zh-CN" sz="2400" dirty="0"/>
              <a:t>）。全相联映射具有相当高的</a:t>
            </a:r>
            <a:r>
              <a:rPr lang="en-US" altLang="zh-CN" sz="2400" dirty="0"/>
              <a:t>Cache</a:t>
            </a:r>
            <a:r>
              <a:rPr lang="zh-CN" altLang="zh-CN" sz="2400" dirty="0"/>
              <a:t>命中率，只有在</a:t>
            </a:r>
            <a:r>
              <a:rPr lang="en-US" altLang="zh-CN" sz="2400" dirty="0"/>
              <a:t>Cache</a:t>
            </a:r>
            <a:r>
              <a:rPr lang="zh-CN" altLang="zh-CN" sz="2400" dirty="0"/>
              <a:t>中的页全部装满后才会出现页冲突，页冲突的概率低，</a:t>
            </a:r>
            <a:r>
              <a:rPr lang="en-US" altLang="zh-CN" sz="2400" dirty="0"/>
              <a:t>Cache</a:t>
            </a:r>
            <a:r>
              <a:rPr lang="zh-CN" altLang="zh-CN" sz="2400" dirty="0"/>
              <a:t>利用率高。</a:t>
            </a:r>
          </a:p>
          <a:p>
            <a:pPr marL="0" indent="0" algn="just">
              <a:buNone/>
            </a:pPr>
            <a:r>
              <a:rPr lang="zh-CN" altLang="zh-CN" sz="2400" dirty="0"/>
              <a:t>（</a:t>
            </a:r>
            <a:r>
              <a:rPr lang="en-US" altLang="zh-CN" sz="2400" dirty="0"/>
              <a:t>3</a:t>
            </a:r>
            <a:r>
              <a:rPr lang="zh-CN" altLang="zh-CN" sz="2400" dirty="0"/>
              <a:t>）组相联映射。组相联映射将</a:t>
            </a:r>
            <a:r>
              <a:rPr lang="en-US" altLang="zh-CN" sz="2400" dirty="0"/>
              <a:t>Cache</a:t>
            </a:r>
            <a:r>
              <a:rPr lang="zh-CN" altLang="zh-CN" sz="2400" dirty="0"/>
              <a:t>和主存各自分为若干组，各组之间采用直接映射，组内各页之间采用全相联映射，主存中的某一存储页可调入</a:t>
            </a:r>
            <a:r>
              <a:rPr lang="en-US" altLang="zh-CN" sz="2400" dirty="0"/>
              <a:t>Cache</a:t>
            </a:r>
            <a:r>
              <a:rPr lang="zh-CN" altLang="zh-CN" sz="2400" dirty="0"/>
              <a:t>中一个对应组内的任意页中，它是全相联映射和直接映射的一个折中，组数为</a:t>
            </a:r>
            <a:r>
              <a:rPr lang="en-US" altLang="zh-CN" sz="2400" dirty="0"/>
              <a:t>1</a:t>
            </a:r>
            <a:r>
              <a:rPr lang="zh-CN" altLang="zh-CN" sz="2400" dirty="0"/>
              <a:t>时就成了直接映射，分组数和页数相等时就成了全相联映射。</a:t>
            </a:r>
            <a:endParaRPr lang="zh-CN" altLang="en-US" sz="2400" dirty="0"/>
          </a:p>
        </p:txBody>
      </p:sp>
    </p:spTree>
  </p:cSld>
  <p:clrMapOvr>
    <a:masterClrMapping/>
  </p:clrMapOvr>
  <p:transition spd="med">
    <p:random/>
  </p:transition>
</p:sld>
</file>

<file path=ppt/slides/slide7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2945" name="内容占位符 2"/>
          <p:cNvSpPr>
            <a:spLocks noGrp="1"/>
          </p:cNvSpPr>
          <p:nvPr>
            <p:ph/>
          </p:nvPr>
        </p:nvSpPr>
        <p:spPr>
          <a:xfrm>
            <a:off x="450850" y="1371600"/>
            <a:ext cx="8197850" cy="4814888"/>
          </a:xfrm>
          <a:prstGeom prst="rect">
            <a:avLst/>
          </a:prstGeom>
          <a:noFill/>
          <a:ln w="9525">
            <a:noFill/>
          </a:ln>
        </p:spPr>
        <p:txBody>
          <a:bodyPr wrap="square" lIns="92075" tIns="46038" rIns="92075" bIns="46038" anchor="t" anchorCtr="0"/>
          <a:lstStyle/>
          <a:p>
            <a:pPr marL="0" indent="0" algn="just">
              <a:buNone/>
            </a:pPr>
            <a:r>
              <a:rPr lang="en-US" altLang="zh-CN" sz="2400" dirty="0"/>
              <a:t>        4</a:t>
            </a:r>
            <a:r>
              <a:rPr lang="zh-CN" altLang="zh-CN" sz="2400" dirty="0"/>
              <a:t>．替换规则</a:t>
            </a:r>
            <a:endParaRPr lang="en-US" altLang="zh-CN" sz="2400" dirty="0"/>
          </a:p>
          <a:p>
            <a:pPr marL="0" indent="0" algn="just">
              <a:buNone/>
            </a:pPr>
            <a:r>
              <a:rPr lang="zh-CN" altLang="zh-CN" sz="2400" dirty="0"/>
              <a:t>        在对存储器进行读</a:t>
            </a:r>
            <a:r>
              <a:rPr lang="en-US" altLang="zh-CN" sz="2400" dirty="0"/>
              <a:t>/</a:t>
            </a:r>
            <a:r>
              <a:rPr lang="zh-CN" altLang="zh-CN" sz="2400" dirty="0"/>
              <a:t>写操作的过程中，当需要从主存复制新页到</a:t>
            </a:r>
            <a:r>
              <a:rPr lang="en-US" altLang="zh-CN" sz="2400" dirty="0"/>
              <a:t>Cache</a:t>
            </a:r>
            <a:r>
              <a:rPr lang="zh-CN" altLang="zh-CN" sz="2400" dirty="0"/>
              <a:t>时，若</a:t>
            </a:r>
            <a:r>
              <a:rPr lang="en-US" altLang="zh-CN" sz="2400" dirty="0"/>
              <a:t>Cache</a:t>
            </a:r>
            <a:r>
              <a:rPr lang="zh-CN" altLang="zh-CN" sz="2400" dirty="0"/>
              <a:t>已满，就必须在控制部件的控制下用新页替换</a:t>
            </a:r>
            <a:r>
              <a:rPr lang="en-US" altLang="zh-CN" sz="2400" dirty="0"/>
              <a:t>Cache</a:t>
            </a:r>
            <a:r>
              <a:rPr lang="zh-CN" altLang="zh-CN" sz="2400" dirty="0"/>
              <a:t>中的旧页。替换按一定的规则进行，这些规则称为替换策略或替换方法。替换规则应尽量使被替换下的页在下一时间段内最少用到。常用的替换规则有以下两种。</a:t>
            </a:r>
          </a:p>
          <a:p>
            <a:pPr marL="0" indent="0" algn="just">
              <a:buNone/>
            </a:pPr>
            <a:r>
              <a:rPr lang="zh-CN" altLang="zh-CN" sz="2400" dirty="0"/>
              <a:t>（</a:t>
            </a:r>
            <a:r>
              <a:rPr lang="en-US" altLang="zh-CN" sz="2400" dirty="0"/>
              <a:t>1</a:t>
            </a:r>
            <a:r>
              <a:rPr lang="zh-CN" altLang="zh-CN" sz="2400" dirty="0"/>
              <a:t>）先进先出规则（</a:t>
            </a:r>
            <a:r>
              <a:rPr lang="en-US" altLang="zh-CN" sz="2400" dirty="0"/>
              <a:t>FIFO</a:t>
            </a:r>
            <a:r>
              <a:rPr lang="zh-CN" altLang="zh-CN" sz="2400" dirty="0"/>
              <a:t>）。</a:t>
            </a:r>
            <a:r>
              <a:rPr lang="en-US" altLang="zh-CN" sz="2400" dirty="0"/>
              <a:t>FIFO</a:t>
            </a:r>
            <a:r>
              <a:rPr lang="zh-CN" altLang="zh-CN" sz="2400" dirty="0"/>
              <a:t>规则总是把最先调进</a:t>
            </a:r>
            <a:r>
              <a:rPr lang="en-US" altLang="zh-CN" sz="2400" dirty="0"/>
              <a:t>Cache</a:t>
            </a:r>
            <a:r>
              <a:rPr lang="zh-CN" altLang="zh-CN" sz="2400" dirty="0"/>
              <a:t>的页替换出去。</a:t>
            </a:r>
          </a:p>
          <a:p>
            <a:pPr marL="0" indent="0" algn="just">
              <a:buNone/>
            </a:pPr>
            <a:r>
              <a:rPr lang="zh-CN" altLang="zh-CN" sz="2400" dirty="0"/>
              <a:t>（</a:t>
            </a:r>
            <a:r>
              <a:rPr lang="en-US" altLang="zh-CN" sz="2400" dirty="0"/>
              <a:t>2</a:t>
            </a:r>
            <a:r>
              <a:rPr lang="zh-CN" altLang="zh-CN" sz="2400" dirty="0"/>
              <a:t>）近期最少使用规则（</a:t>
            </a:r>
            <a:r>
              <a:rPr lang="en-US" altLang="zh-CN" sz="2400" dirty="0"/>
              <a:t>LRU</a:t>
            </a:r>
            <a:r>
              <a:rPr lang="zh-CN" altLang="zh-CN" sz="2400" dirty="0"/>
              <a:t>）。</a:t>
            </a:r>
            <a:r>
              <a:rPr lang="en-US" altLang="zh-CN" sz="2400" dirty="0"/>
              <a:t>LRU</a:t>
            </a:r>
            <a:r>
              <a:rPr lang="zh-CN" altLang="zh-CN" sz="2400" dirty="0"/>
              <a:t>（</a:t>
            </a:r>
            <a:r>
              <a:rPr lang="en-US" altLang="zh-CN" sz="2400" dirty="0"/>
              <a:t>Least Recently Used</a:t>
            </a:r>
            <a:r>
              <a:rPr lang="zh-CN" altLang="zh-CN" sz="2400" dirty="0"/>
              <a:t>）规则是将</a:t>
            </a:r>
            <a:r>
              <a:rPr lang="en-US" altLang="zh-CN" sz="2400" dirty="0"/>
              <a:t>Cache</a:t>
            </a:r>
            <a:r>
              <a:rPr lang="zh-CN" altLang="zh-CN" sz="2400" dirty="0"/>
              <a:t>中近期使用最少的信息块替换出去。</a:t>
            </a:r>
          </a:p>
        </p:txBody>
      </p:sp>
    </p:spTree>
  </p:cSld>
  <p:clrMapOvr>
    <a:masterClrMapping/>
  </p:clrMapOvr>
  <p:transition spd="med">
    <p:random/>
  </p:transition>
</p:sld>
</file>

<file path=ppt/slides/slide7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3969" name="内容占位符 2"/>
          <p:cNvSpPr>
            <a:spLocks noGrp="1"/>
          </p:cNvSpPr>
          <p:nvPr>
            <p:ph/>
          </p:nvPr>
        </p:nvSpPr>
        <p:spPr>
          <a:xfrm>
            <a:off x="327025" y="1352550"/>
            <a:ext cx="8197850" cy="4814888"/>
          </a:xfrm>
          <a:prstGeom prst="rect">
            <a:avLst/>
          </a:prstGeom>
          <a:noFill/>
          <a:ln w="9525">
            <a:noFill/>
          </a:ln>
        </p:spPr>
        <p:txBody>
          <a:bodyPr wrap="square" lIns="92075" tIns="46038" rIns="92075" bIns="46038" anchor="t" anchorCtr="0"/>
          <a:lstStyle/>
          <a:p>
            <a:pPr marL="0" indent="0" algn="just">
              <a:buNone/>
            </a:pPr>
            <a:r>
              <a:rPr lang="en-US" altLang="zh-CN" sz="2400" dirty="0"/>
              <a:t>         5</a:t>
            </a:r>
            <a:r>
              <a:rPr lang="zh-CN" altLang="zh-CN" sz="2400" dirty="0"/>
              <a:t>．突发总线周期（</a:t>
            </a:r>
            <a:r>
              <a:rPr lang="en-US" altLang="zh-CN" sz="2400" dirty="0"/>
              <a:t>Brust Bus Cycle</a:t>
            </a:r>
            <a:r>
              <a:rPr lang="zh-CN" altLang="zh-CN" sz="2400" dirty="0"/>
              <a:t>）</a:t>
            </a:r>
          </a:p>
          <a:p>
            <a:pPr marL="0" indent="0" algn="just">
              <a:buNone/>
            </a:pPr>
            <a:r>
              <a:rPr lang="zh-CN" altLang="zh-CN" sz="2400" dirty="0"/>
              <a:t>        所谓突发总线传输就是向主存储器发送起始地址之后连续传送多个字的数据。以</a:t>
            </a:r>
            <a:r>
              <a:rPr lang="en-US" altLang="zh-CN" sz="2400" dirty="0"/>
              <a:t>Pentium</a:t>
            </a:r>
            <a:r>
              <a:rPr lang="zh-CN" altLang="zh-CN" sz="2400" dirty="0"/>
              <a:t>为例，它的</a:t>
            </a:r>
            <a:r>
              <a:rPr lang="en-US" altLang="zh-CN" sz="2400" dirty="0"/>
              <a:t>Cache</a:t>
            </a:r>
            <a:r>
              <a:rPr lang="zh-CN" altLang="zh-CN" sz="2400" dirty="0"/>
              <a:t>每页为</a:t>
            </a:r>
            <a:r>
              <a:rPr lang="en-US" altLang="zh-CN" sz="2400" dirty="0"/>
              <a:t>64b</a:t>
            </a:r>
            <a:r>
              <a:rPr lang="zh-CN" altLang="zh-CN" sz="2400" dirty="0"/>
              <a:t>，与主存之间可以同时传输</a:t>
            </a:r>
            <a:r>
              <a:rPr lang="en-US" altLang="zh-CN" sz="2400" dirty="0"/>
              <a:t>64b</a:t>
            </a:r>
            <a:r>
              <a:rPr lang="zh-CN" altLang="zh-CN" sz="2400" dirty="0"/>
              <a:t>也就是</a:t>
            </a:r>
            <a:r>
              <a:rPr lang="en-US" altLang="zh-CN" sz="2400" dirty="0"/>
              <a:t>8B</a:t>
            </a:r>
            <a:r>
              <a:rPr lang="zh-CN" altLang="zh-CN" sz="2400" dirty="0"/>
              <a:t>的信息。主存页调入</a:t>
            </a:r>
            <a:r>
              <a:rPr lang="en-US" altLang="zh-CN" sz="2400" dirty="0"/>
              <a:t>Cache</a:t>
            </a:r>
            <a:r>
              <a:rPr lang="zh-CN" altLang="zh-CN" sz="2400" dirty="0"/>
              <a:t>时，管理逻辑向主存发出该页的起始地址，同时发出突发总线请求信号。主存在收到上述信号并适当延时之后在连续的多个周期内每次发送</a:t>
            </a:r>
            <a:r>
              <a:rPr lang="en-US" altLang="zh-CN" sz="2400" dirty="0"/>
              <a:t>8B</a:t>
            </a:r>
            <a:r>
              <a:rPr lang="zh-CN" altLang="zh-CN" sz="2400" dirty="0"/>
              <a:t>（</a:t>
            </a:r>
            <a:r>
              <a:rPr lang="en-US" altLang="zh-CN" sz="2400" dirty="0"/>
              <a:t>64b</a:t>
            </a:r>
            <a:r>
              <a:rPr lang="zh-CN" altLang="zh-CN" sz="2400" dirty="0"/>
              <a:t>）信息，最终把一页内容写入</a:t>
            </a:r>
            <a:r>
              <a:rPr lang="en-US" altLang="zh-CN" sz="2400" dirty="0"/>
              <a:t>Cache</a:t>
            </a:r>
            <a:r>
              <a:rPr lang="zh-CN" altLang="zh-CN" sz="2400" dirty="0"/>
              <a:t>中。</a:t>
            </a:r>
            <a:endParaRPr lang="en-US" altLang="zh-CN" sz="2400" dirty="0"/>
          </a:p>
          <a:p>
            <a:pPr marL="0" indent="0" algn="just">
              <a:buNone/>
            </a:pPr>
            <a:r>
              <a:rPr lang="zh-CN" altLang="zh-CN" sz="2400" dirty="0"/>
              <a:t>        使用突发总线传输方式减少了发送地址信号和重复启动读</a:t>
            </a:r>
            <a:r>
              <a:rPr lang="en-US" altLang="zh-CN" sz="2400" dirty="0"/>
              <a:t>/</a:t>
            </a:r>
            <a:r>
              <a:rPr lang="zh-CN" altLang="zh-CN" sz="2400" dirty="0"/>
              <a:t>写的时间，可以获得很高的数据传输速率。</a:t>
            </a:r>
            <a:endParaRPr lang="zh-CN" altLang="en-US" sz="2400" dirty="0"/>
          </a:p>
        </p:txBody>
      </p:sp>
    </p:spTree>
  </p:cSld>
  <p:clrMapOvr>
    <a:masterClrMapping/>
  </p:clrMapOvr>
  <p:transition spd="med">
    <p:random/>
  </p:transition>
</p:sld>
</file>

<file path=ppt/slides/slide7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9426" name="Rectangle 2"/>
          <p:cNvSpPr>
            <a:spLocks noGrp="1" noChangeArrowheads="1"/>
          </p:cNvSpPr>
          <p:nvPr/>
        </p:nvSpPr>
        <p:spPr>
          <a:xfrm>
            <a:off x="1101725" y="268288"/>
            <a:ext cx="6710363" cy="1143000"/>
          </a:xfrm>
          <a:prstGeom prst="rect">
            <a:avLst/>
          </a:prstGeom>
          <a:noFill/>
          <a:ln w="9525">
            <a:noFill/>
            <a:miter/>
          </a:ln>
        </p:spPr>
        <p:txBody>
          <a:bodyPr vert="horz" wrap="square" lIns="92075" tIns="46038" rIns="92075" bIns="46038" numCol="1" anchor="ctr" anchorCtr="0" compatLnSpc="1"/>
          <a:lstStyle>
            <a:lvl1pPr algn="l" rtl="0" eaLnBrk="0" fontAlgn="base" hangingPunct="0">
              <a:spcBef>
                <a:spcPct val="0"/>
              </a:spcBef>
              <a:spcAft>
                <a:spcPct val="0"/>
              </a:spcAft>
              <a:defRPr sz="3200" b="1">
                <a:solidFill>
                  <a:srgbClr val="E8E8E8"/>
                </a:solidFill>
                <a:latin typeface="+mj-lt"/>
                <a:ea typeface="+mj-ea"/>
                <a:cs typeface="+mj-cs"/>
              </a:defRPr>
            </a:lvl1pPr>
            <a:lvl2pPr algn="l" rtl="0" eaLnBrk="0" fontAlgn="base" hangingPunct="0">
              <a:spcBef>
                <a:spcPct val="0"/>
              </a:spcBef>
              <a:spcAft>
                <a:spcPct val="0"/>
              </a:spcAft>
              <a:defRPr sz="3200" b="1">
                <a:solidFill>
                  <a:srgbClr val="E8E8E8"/>
                </a:solidFill>
                <a:latin typeface="Times New Roman" panose="02020603050405020304" pitchFamily="18" charset="0"/>
                <a:ea typeface="宋体" panose="02010600030101010101" pitchFamily="2" charset="-122"/>
              </a:defRPr>
            </a:lvl2pPr>
            <a:lvl3pPr algn="l" rtl="0" eaLnBrk="0" fontAlgn="base" hangingPunct="0">
              <a:spcBef>
                <a:spcPct val="0"/>
              </a:spcBef>
              <a:spcAft>
                <a:spcPct val="0"/>
              </a:spcAft>
              <a:defRPr sz="3200" b="1">
                <a:solidFill>
                  <a:srgbClr val="E8E8E8"/>
                </a:solidFill>
                <a:latin typeface="Times New Roman" panose="02020603050405020304" pitchFamily="18" charset="0"/>
                <a:ea typeface="宋体" panose="02010600030101010101" pitchFamily="2" charset="-122"/>
              </a:defRPr>
            </a:lvl3pPr>
            <a:lvl4pPr algn="l" rtl="0" eaLnBrk="0" fontAlgn="base" hangingPunct="0">
              <a:spcBef>
                <a:spcPct val="0"/>
              </a:spcBef>
              <a:spcAft>
                <a:spcPct val="0"/>
              </a:spcAft>
              <a:defRPr sz="3200" b="1">
                <a:solidFill>
                  <a:srgbClr val="E8E8E8"/>
                </a:solidFill>
                <a:latin typeface="Times New Roman" panose="02020603050405020304" pitchFamily="18" charset="0"/>
                <a:ea typeface="宋体" panose="02010600030101010101" pitchFamily="2" charset="-122"/>
              </a:defRPr>
            </a:lvl4pPr>
            <a:lvl5pPr algn="l" rtl="0" eaLnBrk="0" fontAlgn="base" hangingPunct="0">
              <a:spcBef>
                <a:spcPct val="0"/>
              </a:spcBef>
              <a:spcAft>
                <a:spcPct val="0"/>
              </a:spcAft>
              <a:defRPr sz="3200" b="1">
                <a:solidFill>
                  <a:srgbClr val="E8E8E8"/>
                </a:solidFill>
                <a:latin typeface="Times New Roman" panose="02020603050405020304" pitchFamily="18" charset="0"/>
                <a:ea typeface="宋体" panose="02010600030101010101" pitchFamily="2" charset="-122"/>
              </a:defRPr>
            </a:lvl5pPr>
            <a:lvl6pPr marL="457200" algn="l" rtl="0" eaLnBrk="0" fontAlgn="base" hangingPunct="0">
              <a:spcBef>
                <a:spcPct val="0"/>
              </a:spcBef>
              <a:spcAft>
                <a:spcPct val="0"/>
              </a:spcAft>
              <a:defRPr sz="3200" b="1">
                <a:solidFill>
                  <a:srgbClr val="E8E8E8"/>
                </a:solidFill>
                <a:latin typeface="Times New Roman" panose="02020603050405020304" pitchFamily="18" charset="0"/>
                <a:ea typeface="宋体" panose="02010600030101010101" pitchFamily="2" charset="-122"/>
              </a:defRPr>
            </a:lvl6pPr>
            <a:lvl7pPr marL="914400" algn="l" rtl="0" eaLnBrk="0" fontAlgn="base" hangingPunct="0">
              <a:spcBef>
                <a:spcPct val="0"/>
              </a:spcBef>
              <a:spcAft>
                <a:spcPct val="0"/>
              </a:spcAft>
              <a:defRPr sz="3200" b="1">
                <a:solidFill>
                  <a:srgbClr val="E8E8E8"/>
                </a:solidFill>
                <a:latin typeface="Times New Roman" panose="02020603050405020304" pitchFamily="18" charset="0"/>
                <a:ea typeface="宋体" panose="02010600030101010101" pitchFamily="2" charset="-122"/>
              </a:defRPr>
            </a:lvl7pPr>
            <a:lvl8pPr marL="1371600" algn="l" rtl="0" eaLnBrk="0" fontAlgn="base" hangingPunct="0">
              <a:spcBef>
                <a:spcPct val="0"/>
              </a:spcBef>
              <a:spcAft>
                <a:spcPct val="0"/>
              </a:spcAft>
              <a:defRPr sz="3200" b="1">
                <a:solidFill>
                  <a:srgbClr val="E8E8E8"/>
                </a:solidFill>
                <a:latin typeface="Times New Roman" panose="02020603050405020304" pitchFamily="18" charset="0"/>
                <a:ea typeface="宋体" panose="02010600030101010101" pitchFamily="2" charset="-122"/>
              </a:defRPr>
            </a:lvl8pPr>
            <a:lvl9pPr marL="1828800" algn="l" rtl="0" eaLnBrk="0" fontAlgn="base" hangingPunct="0">
              <a:spcBef>
                <a:spcPct val="0"/>
              </a:spcBef>
              <a:spcAft>
                <a:spcPct val="0"/>
              </a:spcAft>
              <a:defRPr sz="3200" b="1">
                <a:solidFill>
                  <a:srgbClr val="E8E8E8"/>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spcBef>
                <a:spcPct val="0"/>
              </a:spcBef>
              <a:spcAft>
                <a:spcPct val="0"/>
              </a:spcAft>
              <a:buClrTx/>
              <a:buSzTx/>
              <a:buFontTx/>
              <a:buNone/>
              <a:defRPr/>
            </a:pPr>
            <a:r>
              <a:rPr kumimoji="1" lang="zh-CN" altLang="zh-CN" sz="3200" b="1" i="0" u="none" strike="noStrike" kern="0" cap="none" spc="0" normalizeH="0" baseline="0" noProof="0" dirty="0">
                <a:ln>
                  <a:noFill/>
                </a:ln>
                <a:solidFill>
                  <a:srgbClr val="FF0000"/>
                </a:solidFill>
                <a:effectLst>
                  <a:outerShdw blurRad="38100" dist="38100" dir="2700000" algn="tl">
                    <a:srgbClr val="000000"/>
                  </a:outerShdw>
                </a:effectLst>
                <a:uLnTx/>
                <a:uFillTx/>
                <a:latin typeface="+mj-lt"/>
                <a:ea typeface="+mj-ea"/>
                <a:cs typeface="+mj-cs"/>
              </a:rPr>
              <a:t>思考与练习</a:t>
            </a:r>
          </a:p>
        </p:txBody>
      </p:sp>
      <p:sp>
        <p:nvSpPr>
          <p:cNvPr id="84994" name="内容占位符 4"/>
          <p:cNvSpPr>
            <a:spLocks noGrp="1"/>
          </p:cNvSpPr>
          <p:nvPr/>
        </p:nvSpPr>
        <p:spPr>
          <a:xfrm>
            <a:off x="280988" y="1249363"/>
            <a:ext cx="8496300" cy="5330825"/>
          </a:xfrm>
          <a:prstGeom prst="rect">
            <a:avLst/>
          </a:prstGeom>
          <a:noFill/>
          <a:ln w="9525">
            <a:noFill/>
          </a:ln>
        </p:spPr>
        <p:txBody>
          <a:bodyPr wrap="square" lIns="92075" tIns="46038" rIns="92075" bIns="46038" anchor="t" anchorCtr="0"/>
          <a:lstStyle/>
          <a:p>
            <a:pPr marL="342900" indent="-342900" algn="just" eaLnBrk="0" hangingPunct="0">
              <a:lnSpc>
                <a:spcPct val="150000"/>
              </a:lnSpc>
              <a:buClr>
                <a:schemeClr val="accent2"/>
              </a:buClr>
              <a:buSzPct val="70000"/>
            </a:pPr>
            <a:r>
              <a:rPr lang="en-US" altLang="zh-CN" dirty="0">
                <a:latin typeface="Times New Roman" panose="02020603050405020304" pitchFamily="18" charset="0"/>
                <a:ea typeface="宋体" panose="02010600030101010101" pitchFamily="2" charset="-122"/>
              </a:rPr>
              <a:t>    5-1  什么是RAM和ROM？它们的主要区别和特点是什么？</a:t>
            </a:r>
          </a:p>
          <a:p>
            <a:pPr marL="342900" indent="-342900" algn="just" eaLnBrk="0" hangingPunct="0">
              <a:lnSpc>
                <a:spcPct val="150000"/>
              </a:lnSpc>
              <a:buClr>
                <a:schemeClr val="accent2"/>
              </a:buClr>
              <a:buSzPct val="70000"/>
            </a:pPr>
            <a:r>
              <a:rPr lang="en-US" altLang="zh-CN" dirty="0">
                <a:latin typeface="Times New Roman" panose="02020603050405020304" pitchFamily="18" charset="0"/>
                <a:ea typeface="宋体" panose="02010600030101010101" pitchFamily="2" charset="-122"/>
              </a:rPr>
              <a:t>    5-2  简要分析微型计算机存储器系统的组成。</a:t>
            </a:r>
          </a:p>
          <a:p>
            <a:pPr marL="342900" indent="-342900" algn="just" eaLnBrk="0" hangingPunct="0">
              <a:lnSpc>
                <a:spcPct val="150000"/>
              </a:lnSpc>
              <a:buClr>
                <a:schemeClr val="accent2"/>
              </a:buClr>
              <a:buSzPct val="70000"/>
            </a:pPr>
            <a:r>
              <a:rPr lang="en-US" altLang="zh-CN" dirty="0">
                <a:latin typeface="Times New Roman" panose="02020603050405020304" pitchFamily="18" charset="0"/>
                <a:ea typeface="宋体" panose="02010600030101010101" pitchFamily="2" charset="-122"/>
              </a:rPr>
              <a:t>    5-3  利用全地址译码将6264芯片接到8088系统总线上，使其所占地址范围为：32000H~33FFFH。</a:t>
            </a:r>
          </a:p>
          <a:p>
            <a:pPr marL="342900" indent="-342900" algn="just" eaLnBrk="0" hangingPunct="0">
              <a:lnSpc>
                <a:spcPct val="150000"/>
              </a:lnSpc>
              <a:buClr>
                <a:schemeClr val="accent2"/>
              </a:buClr>
              <a:buSzPct val="70000"/>
            </a:pPr>
            <a:r>
              <a:rPr lang="en-US" altLang="zh-CN" dirty="0">
                <a:latin typeface="Times New Roman" panose="02020603050405020304" pitchFamily="18" charset="0"/>
                <a:ea typeface="宋体" panose="02010600030101010101" pitchFamily="2" charset="-122"/>
              </a:rPr>
              <a:t>    5-4  什么是字扩展？什么是位扩展？什么是字位扩展？它们各自有什么特点？   </a:t>
            </a:r>
          </a:p>
          <a:p>
            <a:pPr marL="342900" indent="-342900" algn="just" eaLnBrk="0" hangingPunct="0">
              <a:lnSpc>
                <a:spcPct val="150000"/>
              </a:lnSpc>
              <a:buClr>
                <a:schemeClr val="accent2"/>
              </a:buClr>
              <a:buSzPct val="70000"/>
            </a:pPr>
            <a:r>
              <a:rPr lang="en-US" altLang="zh-CN" dirty="0">
                <a:latin typeface="Times New Roman" panose="02020603050405020304" pitchFamily="18" charset="0"/>
                <a:ea typeface="宋体" panose="02010600030101010101" pitchFamily="2" charset="-122"/>
              </a:rPr>
              <a:t>    5-9  什么是多层次存储结构？有什么作用？</a:t>
            </a:r>
          </a:p>
          <a:p>
            <a:pPr marL="342900" indent="-342900" algn="just" eaLnBrk="0" hangingPunct="0">
              <a:lnSpc>
                <a:spcPct val="150000"/>
              </a:lnSpc>
              <a:buClr>
                <a:schemeClr val="accent2"/>
              </a:buClr>
              <a:buSzPct val="70000"/>
            </a:pPr>
            <a:r>
              <a:rPr lang="en-US" altLang="zh-CN" dirty="0">
                <a:latin typeface="Times New Roman" panose="02020603050405020304" pitchFamily="18" charset="0"/>
                <a:ea typeface="宋体" panose="02010600030101010101" pitchFamily="2" charset="-122"/>
              </a:rPr>
              <a:t>    5-10 什么是Cache？它能够极大地提高计算机的处理能力是基于什么原理？</a:t>
            </a:r>
          </a:p>
        </p:txBody>
      </p:sp>
    </p:spTree>
  </p:cSld>
  <p:clrMapOvr>
    <a:masterClrMapping/>
  </p:clrMapOvr>
  <p:transition spd="med">
    <p:random/>
  </p:transition>
</p:sld>
</file>

<file path=ppt/tags/tag1.xml><?xml version="1.0" encoding="utf-8"?>
<p:tagLst xmlns:a="http://schemas.openxmlformats.org/drawingml/2006/main" xmlns:r="http://schemas.openxmlformats.org/officeDocument/2006/relationships" xmlns:p="http://schemas.openxmlformats.org/presentationml/2006/main">
  <p:tag name="COMMONDATA" val="eyJoZGlkIjoiOTAwNWQ1MGFjZWY2ZGU4NzY5ZmZjNDc2ZWQwNjNjYzUifQ=="/>
</p:tagLst>
</file>

<file path=ppt/theme/theme1.xml><?xml version="1.0" encoding="utf-8"?>
<a:theme xmlns:a="http://schemas.openxmlformats.org/drawingml/2006/main" name="项目总览">
  <a:themeElements>
    <a:clrScheme name="">
      <a:dk1>
        <a:srgbClr val="000000"/>
      </a:dk1>
      <a:lt1>
        <a:srgbClr val="FFFFFF"/>
      </a:lt1>
      <a:dk2>
        <a:srgbClr val="0066CC"/>
      </a:dk2>
      <a:lt2>
        <a:srgbClr val="CBCBCB"/>
      </a:lt2>
      <a:accent1>
        <a:srgbClr val="00CCFF"/>
      </a:accent1>
      <a:accent2>
        <a:srgbClr val="00FFCC"/>
      </a:accent2>
      <a:accent3>
        <a:srgbClr val="AAB8E2"/>
      </a:accent3>
      <a:accent4>
        <a:srgbClr val="DADADA"/>
      </a:accent4>
      <a:accent5>
        <a:srgbClr val="AAE2FF"/>
      </a:accent5>
      <a:accent6>
        <a:srgbClr val="00E7B9"/>
      </a:accent6>
      <a:hlink>
        <a:srgbClr val="FFFF00"/>
      </a:hlink>
      <a:folHlink>
        <a:srgbClr val="FF7C80"/>
      </a:folHlink>
    </a:clrScheme>
    <a:fontScheme name="项目总览">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spPr>
      <a:bodyPr vert="horz" wrap="square" lIns="92075" tIns="46038" rIns="92075" bIns="46038" numCol="1" anchor="t" anchorCtr="0" compatLnSpc="1"/>
      <a:lstStyle>
        <a:defPPr marL="0" marR="0" indent="0" algn="l" defTabSz="914400" rtl="0" eaLnBrk="1" fontAlgn="base" latinLnBrk="0" hangingPunct="1">
          <a:lnSpc>
            <a:spcPct val="90000"/>
          </a:lnSpc>
          <a:spcBef>
            <a:spcPct val="20000"/>
          </a:spcBef>
          <a:spcAft>
            <a:spcPct val="0"/>
          </a:spcAft>
          <a:buClrTx/>
          <a:buSzTx/>
          <a:buFontTx/>
          <a:buNone/>
          <a:defRPr kumimoji="1" lang="zh-CN" altLang="en-US" sz="24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defRPr>
        </a:defPPr>
      </a:lstStyle>
    </a:spDef>
    <a:lnDef>
      <a:spPr bwMode="auto">
        <a:xfrm>
          <a:off x="0" y="0"/>
          <a:ext cx="1" cy="1"/>
        </a:xfrm>
        <a:custGeom>
          <a:avLst/>
          <a:gdLst/>
          <a:ahLst/>
          <a:cxnLst/>
          <a:rect l="0" t="0" r="0" b="0"/>
          <a:pathLst/>
        </a:custGeom>
        <a:noFill/>
        <a:ln>
          <a:noFill/>
        </a:ln>
      </a:spPr>
      <a:bodyPr vert="horz" wrap="square" lIns="92075" tIns="46038" rIns="92075" bIns="46038" numCol="1" anchor="t" anchorCtr="0" compatLnSpc="1"/>
      <a:lstStyle>
        <a:defPPr marL="0" marR="0" indent="0" algn="l" defTabSz="914400" rtl="0" eaLnBrk="1" fontAlgn="base" latinLnBrk="0" hangingPunct="1">
          <a:lnSpc>
            <a:spcPct val="90000"/>
          </a:lnSpc>
          <a:spcBef>
            <a:spcPct val="20000"/>
          </a:spcBef>
          <a:spcAft>
            <a:spcPct val="0"/>
          </a:spcAft>
          <a:buClrTx/>
          <a:buSzTx/>
          <a:buFontTx/>
          <a:buNone/>
          <a:defRPr kumimoji="1" lang="zh-CN" altLang="en-US" sz="24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defRPr>
        </a:defPPr>
      </a:lstStyle>
    </a:lnDef>
  </a:objectDefaults>
  <a:extraClrSchemeLst>
    <a:extraClrScheme>
      <a:clrScheme name="项目总览 1">
        <a:dk1>
          <a:srgbClr val="000000"/>
        </a:dk1>
        <a:lt1>
          <a:srgbClr val="FFFFFF"/>
        </a:lt1>
        <a:dk2>
          <a:srgbClr val="0066CC"/>
        </a:dk2>
        <a:lt2>
          <a:srgbClr val="CBCBCB"/>
        </a:lt2>
        <a:accent1>
          <a:srgbClr val="00CCFF"/>
        </a:accent1>
        <a:accent2>
          <a:srgbClr val="00FFCC"/>
        </a:accent2>
        <a:accent3>
          <a:srgbClr val="AAB8E2"/>
        </a:accent3>
        <a:accent4>
          <a:srgbClr val="DADADA"/>
        </a:accent4>
        <a:accent5>
          <a:srgbClr val="AAE2FF"/>
        </a:accent5>
        <a:accent6>
          <a:srgbClr val="00E7B9"/>
        </a:accent6>
        <a:hlink>
          <a:srgbClr val="FF3300"/>
        </a:hlink>
        <a:folHlink>
          <a:srgbClr val="FF7C80"/>
        </a:folHlink>
      </a:clrScheme>
      <a:clrMap bg1="dk2" tx1="lt1" bg2="dk1" tx2="lt2" accent1="accent1" accent2="accent2" accent3="accent3" accent4="accent4" accent5="accent5" accent6="accent6" hlink="hlink" folHlink="folHlink"/>
    </a:extraClrScheme>
    <a:extraClrScheme>
      <a:clrScheme name="项目总览 2">
        <a:dk1>
          <a:srgbClr val="000000"/>
        </a:dk1>
        <a:lt1>
          <a:srgbClr val="FFFFFF"/>
        </a:lt1>
        <a:dk2>
          <a:srgbClr val="000000"/>
        </a:dk2>
        <a:lt2>
          <a:srgbClr val="868686"/>
        </a:lt2>
        <a:accent1>
          <a:srgbClr val="3366FF"/>
        </a:accent1>
        <a:accent2>
          <a:srgbClr val="009900"/>
        </a:accent2>
        <a:accent3>
          <a:srgbClr val="FFFFFF"/>
        </a:accent3>
        <a:accent4>
          <a:srgbClr val="000000"/>
        </a:accent4>
        <a:accent5>
          <a:srgbClr val="ADB8FF"/>
        </a:accent5>
        <a:accent6>
          <a:srgbClr val="008A00"/>
        </a:accent6>
        <a:hlink>
          <a:srgbClr val="FF0033"/>
        </a:hlink>
        <a:folHlink>
          <a:srgbClr val="CCCCCC"/>
        </a:folHlink>
      </a:clrScheme>
      <a:clrMap bg1="lt1" tx1="dk1" bg2="lt2" tx2="dk2" accent1="accent1" accent2="accent2" accent3="accent3" accent4="accent4" accent5="accent5" accent6="accent6" hlink="hlink" folHlink="folHlink"/>
    </a:extraClrScheme>
    <a:extraClrScheme>
      <a:clrScheme name="项目总览 3">
        <a:dk1>
          <a:srgbClr val="000000"/>
        </a:dk1>
        <a:lt1>
          <a:srgbClr val="FFFFFF"/>
        </a:lt1>
        <a:dk2>
          <a:srgbClr val="000000"/>
        </a:dk2>
        <a:lt2>
          <a:srgbClr val="868686"/>
        </a:lt2>
        <a:accent1>
          <a:srgbClr val="EAEAEA"/>
        </a:accent1>
        <a:accent2>
          <a:srgbClr val="5F5F5F"/>
        </a:accent2>
        <a:accent3>
          <a:srgbClr val="FFFFFF"/>
        </a:accent3>
        <a:accent4>
          <a:srgbClr val="000000"/>
        </a:accent4>
        <a:accent5>
          <a:srgbClr val="F3F3F3"/>
        </a:accent5>
        <a:accent6>
          <a:srgbClr val="555555"/>
        </a:accent6>
        <a:hlink>
          <a:srgbClr val="969696"/>
        </a:hlink>
        <a:folHlink>
          <a:srgbClr val="CBCBC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D:\Program Files\Microsoft Office\Templates\2052\项目总览.pot</Template>
  <TotalTime>903</TotalTime>
  <Words>5283</Words>
  <Application>Microsoft Office PowerPoint</Application>
  <PresentationFormat>On-screen Show (4:3)</PresentationFormat>
  <Paragraphs>404</Paragraphs>
  <Slides>76</Slides>
  <Notes>3</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2</vt:i4>
      </vt:variant>
      <vt:variant>
        <vt:lpstr>Slide Titles</vt:lpstr>
      </vt:variant>
      <vt:variant>
        <vt:i4>76</vt:i4>
      </vt:variant>
    </vt:vector>
  </HeadingPairs>
  <TitlesOfParts>
    <vt:vector size="85" baseType="lpstr">
      <vt:lpstr>楷体_GB2312</vt:lpstr>
      <vt:lpstr>隶书</vt:lpstr>
      <vt:lpstr>宋体</vt:lpstr>
      <vt:lpstr>Arial</vt:lpstr>
      <vt:lpstr>Times New Roman</vt:lpstr>
      <vt:lpstr>Wingdings</vt:lpstr>
      <vt:lpstr>项目总览</vt:lpstr>
      <vt:lpstr>Visio.Drawing.11</vt:lpstr>
      <vt:lpstr>MathType 6.0 Equation</vt:lpstr>
      <vt:lpstr>PowerPoint Presentation</vt:lpstr>
      <vt:lpstr>第5章  存储器</vt:lpstr>
      <vt:lpstr>5.1  概述</vt:lpstr>
      <vt:lpstr>5.1  概述-----5.1.1  存储器的分类</vt:lpstr>
      <vt:lpstr>5.1  概述----5.1.2  存储器芯片的主要技术指标</vt:lpstr>
      <vt:lpstr>5.2  随机存取存储器RAM</vt:lpstr>
      <vt:lpstr>5.2.1  存储器的系统结构</vt:lpstr>
      <vt:lpstr>PowerPoint Presentation</vt:lpstr>
      <vt:lpstr>5.2.2  静态随机存储器（SRAM） </vt:lpstr>
      <vt:lpstr>PowerPoint Presentation</vt:lpstr>
      <vt:lpstr>PowerPoint Presentation</vt:lpstr>
      <vt:lpstr>PowerPoint Presentation</vt:lpstr>
      <vt:lpstr>PowerPoint Presentation</vt:lpstr>
      <vt:lpstr>PowerPoint Presentation</vt:lpstr>
      <vt:lpstr>PowerPoint Presentation</vt:lpstr>
      <vt:lpstr>5.2.2  静态随机存储器（SRAM） </vt:lpstr>
      <vt:lpstr>5.2.2  静态随机存储器（SRAM） </vt:lpstr>
      <vt:lpstr>5.2.2  静态随机存储器（SRAM） </vt:lpstr>
      <vt:lpstr>5.2.2  静态随机存储器（SRAM） </vt:lpstr>
      <vt:lpstr>5.2.2  静态随机存储器（SRAM） </vt:lpstr>
      <vt:lpstr>5.2.2  静态随机存储器（SRAM） </vt:lpstr>
      <vt:lpstr>5.2.2  静态随机存储器（SRAM）尊 </vt:lpstr>
      <vt:lpstr>5.2.2  静态随机存储器（SRAM） </vt:lpstr>
      <vt:lpstr>5.2.3  动态随机存储器</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5.2.3  动态随机存储器（DRAM） </vt:lpstr>
      <vt:lpstr>5.2.3  动态随机存储器（DRAM） </vt:lpstr>
      <vt:lpstr>5.2.4  存储器扩展技术 </vt:lpstr>
      <vt:lpstr>5.2.4  存储器扩展技术 </vt:lpstr>
      <vt:lpstr>5.2.4  存储器扩展技术 </vt:lpstr>
      <vt:lpstr>5.2.4  存储器扩展技术 </vt:lpstr>
      <vt:lpstr>5.2.5  存储器与系统的连线 </vt:lpstr>
      <vt:lpstr>5.3  只读存储器（ROM）</vt:lpstr>
      <vt:lpstr>5.3.1  掩膜式只读存储器（MROM） </vt:lpstr>
      <vt:lpstr>PowerPoint Presentation</vt:lpstr>
      <vt:lpstr>PowerPoint Presentation</vt:lpstr>
      <vt:lpstr>5.3.2  可编程只读存储器（PROM）</vt:lpstr>
      <vt:lpstr>PowerPoint Presentation</vt:lpstr>
      <vt:lpstr>5.3.3  可擦除、可再编程的只读存储器</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5.3.4  闪存(Flash Memory)</vt:lpstr>
      <vt:lpstr>PowerPoint Presentation</vt:lpstr>
      <vt:lpstr>5.4　存储器的分级体系</vt:lpstr>
      <vt:lpstr>5.4.1  存储器的分级结构</vt:lpstr>
      <vt:lpstr>PowerPoint Presentation</vt:lpstr>
      <vt:lpstr>PowerPoint Presentation</vt:lpstr>
      <vt:lpstr>5.4.2  高速缓存系统</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Dongming Guo</cp:lastModifiedBy>
  <cp:revision>652</cp:revision>
  <dcterms:created xsi:type="dcterms:W3CDTF">2016-01-26T02:22:41Z</dcterms:created>
  <dcterms:modified xsi:type="dcterms:W3CDTF">2025-10-28T04:30:15Z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2052-12.1.0.17133</vt:lpwstr>
  </property>
  <property fmtid="{D5CDD505-2E9C-101B-9397-08002B2CF9AE}" pid="3" name="ICV">
    <vt:lpwstr>697C0635C0D74B709E2B6C5EC1EDE7A8_12</vt:lpwstr>
  </property>
</Properties>
</file>