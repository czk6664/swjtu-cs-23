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2" r:id="rId2"/>
  </p:sldMasterIdLst>
  <p:notesMasterIdLst>
    <p:notesMasterId r:id="rId80"/>
  </p:notesMasterIdLst>
  <p:handoutMasterIdLst>
    <p:handoutMasterId r:id="rId81"/>
  </p:handoutMasterIdLst>
  <p:sldIdLst>
    <p:sldId id="589" r:id="rId3"/>
    <p:sldId id="525" r:id="rId4"/>
    <p:sldId id="526" r:id="rId5"/>
    <p:sldId id="444" r:id="rId6"/>
    <p:sldId id="411" r:id="rId7"/>
    <p:sldId id="445" r:id="rId8"/>
    <p:sldId id="446" r:id="rId9"/>
    <p:sldId id="447" r:id="rId10"/>
    <p:sldId id="448" r:id="rId11"/>
    <p:sldId id="449" r:id="rId12"/>
    <p:sldId id="450" r:id="rId13"/>
    <p:sldId id="451" r:id="rId14"/>
    <p:sldId id="452" r:id="rId15"/>
    <p:sldId id="453" r:id="rId16"/>
    <p:sldId id="454" r:id="rId17"/>
    <p:sldId id="455" r:id="rId18"/>
    <p:sldId id="456" r:id="rId19"/>
    <p:sldId id="457" r:id="rId20"/>
    <p:sldId id="458" r:id="rId21"/>
    <p:sldId id="459" r:id="rId22"/>
    <p:sldId id="460" r:id="rId23"/>
    <p:sldId id="461" r:id="rId24"/>
    <p:sldId id="462" r:id="rId25"/>
    <p:sldId id="463" r:id="rId26"/>
    <p:sldId id="464" r:id="rId27"/>
    <p:sldId id="465" r:id="rId28"/>
    <p:sldId id="466" r:id="rId29"/>
    <p:sldId id="467" r:id="rId30"/>
    <p:sldId id="468" r:id="rId31"/>
    <p:sldId id="590" r:id="rId32"/>
    <p:sldId id="554" r:id="rId33"/>
    <p:sldId id="555" r:id="rId34"/>
    <p:sldId id="591" r:id="rId35"/>
    <p:sldId id="556" r:id="rId36"/>
    <p:sldId id="557" r:id="rId37"/>
    <p:sldId id="558" r:id="rId38"/>
    <p:sldId id="573" r:id="rId39"/>
    <p:sldId id="559" r:id="rId40"/>
    <p:sldId id="575" r:id="rId41"/>
    <p:sldId id="576" r:id="rId42"/>
    <p:sldId id="577" r:id="rId43"/>
    <p:sldId id="469" r:id="rId44"/>
    <p:sldId id="470" r:id="rId45"/>
    <p:sldId id="471" r:id="rId46"/>
    <p:sldId id="472" r:id="rId47"/>
    <p:sldId id="473" r:id="rId48"/>
    <p:sldId id="474" r:id="rId49"/>
    <p:sldId id="475" r:id="rId50"/>
    <p:sldId id="476" r:id="rId51"/>
    <p:sldId id="477" r:id="rId52"/>
    <p:sldId id="478" r:id="rId53"/>
    <p:sldId id="479" r:id="rId54"/>
    <p:sldId id="480" r:id="rId55"/>
    <p:sldId id="481" r:id="rId56"/>
    <p:sldId id="482" r:id="rId57"/>
    <p:sldId id="483" r:id="rId58"/>
    <p:sldId id="484" r:id="rId59"/>
    <p:sldId id="504" r:id="rId60"/>
    <p:sldId id="501" r:id="rId61"/>
    <p:sldId id="502" r:id="rId62"/>
    <p:sldId id="503" r:id="rId63"/>
    <p:sldId id="486" r:id="rId64"/>
    <p:sldId id="487" r:id="rId65"/>
    <p:sldId id="488" r:id="rId66"/>
    <p:sldId id="489" r:id="rId67"/>
    <p:sldId id="490" r:id="rId68"/>
    <p:sldId id="491" r:id="rId69"/>
    <p:sldId id="492" r:id="rId70"/>
    <p:sldId id="493" r:id="rId71"/>
    <p:sldId id="494" r:id="rId72"/>
    <p:sldId id="495" r:id="rId73"/>
    <p:sldId id="496" r:id="rId74"/>
    <p:sldId id="497" r:id="rId75"/>
    <p:sldId id="498" r:id="rId76"/>
    <p:sldId id="499" r:id="rId77"/>
    <p:sldId id="500" r:id="rId78"/>
    <p:sldId id="505" r:id="rId79"/>
  </p:sldIdLst>
  <p:sldSz cx="9144000" cy="6858000" type="screen4x3"/>
  <p:notesSz cx="6858000" cy="9144000"/>
  <p:custDataLst>
    <p:tags r:id="rId82"/>
  </p:custDataLst>
  <p:defaultTextStyle>
    <a:defPPr>
      <a:defRPr lang="zh-CN"/>
    </a:defPPr>
    <a:lvl1pPr marL="0" lvl="0" indent="0" algn="l" defTabSz="914400" rtl="0" eaLnBrk="1" fontAlgn="base" latinLnBrk="0" hangingPunct="1">
      <a:lnSpc>
        <a:spcPct val="90000"/>
      </a:lnSpc>
      <a:spcBef>
        <a:spcPct val="20000"/>
      </a:spcBef>
      <a:spcAft>
        <a:spcPct val="0"/>
      </a:spcAft>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90000"/>
      </a:lnSpc>
      <a:spcBef>
        <a:spcPct val="20000"/>
      </a:spcBef>
      <a:spcAft>
        <a:spcPct val="0"/>
      </a:spcAft>
      <a:buFontTx/>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88" userDrawn="1">
          <p15:clr>
            <a:srgbClr val="A4A3A4"/>
          </p15:clr>
        </p15:guide>
        <p15:guide id="2" pos="6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00"/>
    <a:srgbClr val="FF3300"/>
    <a:srgbClr val="FFFF66"/>
    <a:srgbClr val="FF9933"/>
    <a:srgbClr val="FF7C80"/>
    <a:srgbClr val="66FFCC"/>
    <a:srgbClr val="99FFCC"/>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671"/>
    <p:restoredTop sz="94614"/>
  </p:normalViewPr>
  <p:slideViewPr>
    <p:cSldViewPr snapToGrid="0" showGuides="1">
      <p:cViewPr varScale="1">
        <p:scale>
          <a:sx n="113" d="100"/>
          <a:sy n="113" d="100"/>
        </p:scale>
        <p:origin x="2070" y="84"/>
      </p:cViewPr>
      <p:guideLst>
        <p:guide orient="horz" pos="2188"/>
        <p:guide pos="694"/>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viewProps" Target="view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notesMaster" Target="notesMasters/notesMaster1.xml"/><Relationship Id="rId85"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handoutMaster" Target="handoutMasters/handoutMaster1.xml"/><Relationship Id="rId86"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61" Type="http://schemas.openxmlformats.org/officeDocument/2006/relationships/slide" Target="slides/slide59.xml"/><Relationship Id="rId82"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latinLnBrk="1">
              <a:spcBef>
                <a:spcPct val="0"/>
              </a:spcBef>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4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latinLnBrk="1">
              <a:spcBef>
                <a:spcPct val="0"/>
              </a:spcBef>
              <a:defRPr sz="1200" b="0">
                <a:latin typeface="Times New Roman" panose="02020603050405020304" pitchFamily="18" charset="0"/>
              </a:defRPr>
            </a:lvl1pPr>
          </a:lstStyle>
          <a:p>
            <a:pPr marL="0" marR="0" lvl="0" indent="0" algn="r"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4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latinLnBrk="1">
              <a:spcBef>
                <a:spcPct val="0"/>
              </a:spcBef>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74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latinLnBrk="1" hangingPunct="1">
              <a:spcBef>
                <a:spcPct val="0"/>
              </a:spcBef>
            </a:pPr>
            <a:fld id="{9A0DB2DC-4C9A-4742-B13C-FB6460FD3503}" type="slidenum">
              <a:rPr lang="en-US" altLang="zh-CN" sz="1200" b="0" strike="noStrike" noProof="1" dirty="0">
                <a:latin typeface="Times New Roman" panose="02020603050405020304" pitchFamily="18" charset="0"/>
                <a:ea typeface="宋体" panose="02010600030101010101" pitchFamily="2" charset="-122"/>
                <a:cs typeface="+mn-ea"/>
              </a:rPr>
              <a:t>‹#›</a:t>
            </a:fld>
            <a:endParaRPr lang="en-US" altLang="zh-CN" sz="1200" b="0" strike="noStrike" noProof="1">
              <a:latin typeface="Times New Roman" panose="02020603050405020304" pitchFamily="18"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latinLnBrk="1">
              <a:spcBef>
                <a:spcPct val="0"/>
              </a:spcBef>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23"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latinLnBrk="1">
              <a:spcBef>
                <a:spcPct val="0"/>
              </a:spcBef>
              <a:defRPr sz="1200" b="0">
                <a:latin typeface="Times New Roman" panose="02020603050405020304" pitchFamily="18" charset="0"/>
              </a:defRPr>
            </a:lvl1pPr>
          </a:lstStyle>
          <a:p>
            <a:pPr marL="0" marR="0" lvl="0" indent="0" algn="r"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4"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25"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30726"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latinLnBrk="1">
              <a:spcBef>
                <a:spcPct val="0"/>
              </a:spcBef>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27"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fontAlgn="base" latinLnBrk="1" hangingPunct="1">
              <a:spcBef>
                <a:spcPct val="0"/>
              </a:spcBef>
            </a:pPr>
            <a:fld id="{9A0DB2DC-4C9A-4742-B13C-FB6460FD3503}" type="slidenum">
              <a:rPr lang="en-US" altLang="zh-CN" sz="1200" b="0" strike="noStrike" noProof="1" dirty="0">
                <a:latin typeface="Times New Roman" panose="02020603050405020304" pitchFamily="18" charset="0"/>
                <a:ea typeface="宋体" panose="02010600030101010101" pitchFamily="2" charset="-122"/>
                <a:cs typeface="+mn-ea"/>
              </a:rPr>
              <a:t>‹#›</a:t>
            </a:fld>
            <a:endParaRPr lang="en-US" altLang="zh-CN" sz="1200" b="0" strike="noStrike" noProof="1">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t>2</a:t>
            </a:fld>
            <a:endParaRPr lang="en-US" altLang="zh-CN" sz="1200" b="0" dirty="0"/>
          </a:p>
        </p:txBody>
      </p:sp>
      <p:sp>
        <p:nvSpPr>
          <p:cNvPr id="8194" name="Rectangle 2"/>
          <p:cNvSpPr>
            <a:spLocks noGrp="1" noRot="1" noChangeAspect="1" noTextEdit="1"/>
          </p:cNvSpPr>
          <p:nvPr>
            <p:ph type="sldImg"/>
          </p:nvPr>
        </p:nvSpPr>
        <p:spPr>
          <a:ln/>
        </p:spPr>
      </p:sp>
      <p:sp>
        <p:nvSpPr>
          <p:cNvPr id="819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t>3</a:t>
            </a:fld>
            <a:endParaRPr lang="en-US" altLang="zh-CN" sz="1200" b="0" dirty="0"/>
          </a:p>
        </p:txBody>
      </p:sp>
      <p:sp>
        <p:nvSpPr>
          <p:cNvPr id="10242" name="Rectangle 2"/>
          <p:cNvSpPr>
            <a:spLocks noGrp="1" noRot="1" noChangeAspect="1" noTextEdit="1"/>
          </p:cNvSpPr>
          <p:nvPr>
            <p:ph type="sldImg"/>
          </p:nvPr>
        </p:nvSpPr>
        <p:spPr>
          <a:ln/>
        </p:spPr>
      </p:sp>
      <p:sp>
        <p:nvSpPr>
          <p:cNvPr id="1024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4</a:t>
            </a:fld>
            <a:endParaRPr lang="en-US" altLang="zh-CN" sz="1200" b="0" dirty="0"/>
          </a:p>
        </p:txBody>
      </p:sp>
      <p:sp>
        <p:nvSpPr>
          <p:cNvPr id="12290" name="Rectangle 2"/>
          <p:cNvSpPr>
            <a:spLocks noGrp="1" noRot="1" noChangeAspect="1" noTextEdit="1"/>
          </p:cNvSpPr>
          <p:nvPr>
            <p:ph type="sldImg"/>
          </p:nvPr>
        </p:nvSpPr>
        <p:spPr>
          <a:ln/>
        </p:spPr>
      </p:sp>
      <p:sp>
        <p:nvSpPr>
          <p:cNvPr id="1229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5</a:t>
            </a:fld>
            <a:endParaRPr lang="en-US" altLang="zh-CN" sz="1200" b="0" dirty="0"/>
          </a:p>
        </p:txBody>
      </p:sp>
      <p:sp>
        <p:nvSpPr>
          <p:cNvPr id="14338" name="Rectangle 2"/>
          <p:cNvSpPr>
            <a:spLocks noGrp="1" noRot="1" noChangeAspect="1" noTextEdit="1"/>
          </p:cNvSpPr>
          <p:nvPr>
            <p:ph type="sldImg"/>
          </p:nvPr>
        </p:nvSpPr>
        <p:spPr>
          <a:ln/>
        </p:spPr>
      </p:sp>
      <p:sp>
        <p:nvSpPr>
          <p:cNvPr id="1433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6</a:t>
            </a:fld>
            <a:endParaRPr lang="en-US" altLang="zh-CN" sz="1200" b="0" dirty="0"/>
          </a:p>
        </p:txBody>
      </p:sp>
      <p:sp>
        <p:nvSpPr>
          <p:cNvPr id="16386" name="Rectangle 2"/>
          <p:cNvSpPr>
            <a:spLocks noGrp="1" noRot="1" noChangeAspect="1" noTextEdit="1"/>
          </p:cNvSpPr>
          <p:nvPr>
            <p:ph type="sldImg"/>
          </p:nvPr>
        </p:nvSpPr>
        <p:spPr>
          <a:ln/>
        </p:spPr>
      </p:sp>
      <p:sp>
        <p:nvSpPr>
          <p:cNvPr id="1638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7</a:t>
            </a:fld>
            <a:endParaRPr lang="en-US" altLang="zh-CN" sz="1200" b="0" dirty="0"/>
          </a:p>
        </p:txBody>
      </p:sp>
      <p:sp>
        <p:nvSpPr>
          <p:cNvPr id="18434" name="Rectangle 2"/>
          <p:cNvSpPr>
            <a:spLocks noGrp="1" noRot="1" noChangeAspect="1" noTextEdit="1"/>
          </p:cNvSpPr>
          <p:nvPr>
            <p:ph type="sldImg"/>
          </p:nvPr>
        </p:nvSpPr>
        <p:spPr>
          <a:ln/>
        </p:spPr>
      </p:sp>
      <p:sp>
        <p:nvSpPr>
          <p:cNvPr id="1843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8</a:t>
            </a:fld>
            <a:endParaRPr lang="en-US" altLang="zh-CN" sz="1200" b="0" dirty="0"/>
          </a:p>
        </p:txBody>
      </p:sp>
      <p:sp>
        <p:nvSpPr>
          <p:cNvPr id="20482" name="Rectangle 2"/>
          <p:cNvSpPr>
            <a:spLocks noGrp="1" noRot="1" noChangeAspect="1" noTextEdit="1"/>
          </p:cNvSpPr>
          <p:nvPr>
            <p:ph type="sldImg"/>
          </p:nvPr>
        </p:nvSpPr>
        <p:spPr>
          <a:ln/>
        </p:spPr>
      </p:sp>
      <p:sp>
        <p:nvSpPr>
          <p:cNvPr id="2048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9</a:t>
            </a:fld>
            <a:endParaRPr lang="en-US" altLang="zh-CN" sz="1200" b="0" dirty="0"/>
          </a:p>
        </p:txBody>
      </p:sp>
      <p:sp>
        <p:nvSpPr>
          <p:cNvPr id="22530" name="Rectangle 2"/>
          <p:cNvSpPr>
            <a:spLocks noGrp="1" noRot="1" noChangeAspect="1" noTextEdit="1"/>
          </p:cNvSpPr>
          <p:nvPr>
            <p:ph type="sldImg"/>
          </p:nvPr>
        </p:nvSpPr>
        <p:spPr>
          <a:ln/>
        </p:spPr>
      </p:sp>
      <p:sp>
        <p:nvSpPr>
          <p:cNvPr id="2253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10</a:t>
            </a:fld>
            <a:endParaRPr lang="en-US" altLang="zh-CN" sz="1200" b="0" dirty="0"/>
          </a:p>
        </p:txBody>
      </p:sp>
      <p:sp>
        <p:nvSpPr>
          <p:cNvPr id="24578" name="Rectangle 2"/>
          <p:cNvSpPr>
            <a:spLocks noGrp="1" noRot="1" noChangeAspect="1" noTextEdit="1"/>
          </p:cNvSpPr>
          <p:nvPr>
            <p:ph type="sldImg"/>
          </p:nvPr>
        </p:nvSpPr>
        <p:spPr>
          <a:ln/>
        </p:spPr>
      </p:sp>
      <p:sp>
        <p:nvSpPr>
          <p:cNvPr id="2457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11</a:t>
            </a:fld>
            <a:endParaRPr lang="en-US" altLang="zh-CN" sz="1200" b="0" dirty="0"/>
          </a:p>
        </p:txBody>
      </p:sp>
      <p:sp>
        <p:nvSpPr>
          <p:cNvPr id="26626" name="Rectangle 2"/>
          <p:cNvSpPr>
            <a:spLocks noGrp="1" noRot="1" noChangeAspect="1" noTextEdit="1"/>
          </p:cNvSpPr>
          <p:nvPr>
            <p:ph type="sldImg"/>
          </p:nvPr>
        </p:nvSpPr>
        <p:spPr>
          <a:ln/>
        </p:spPr>
      </p:sp>
      <p:sp>
        <p:nvSpPr>
          <p:cNvPr id="2662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12</a:t>
            </a:fld>
            <a:endParaRPr lang="en-US" altLang="zh-CN" sz="1200" b="0" dirty="0"/>
          </a:p>
        </p:txBody>
      </p:sp>
      <p:sp>
        <p:nvSpPr>
          <p:cNvPr id="28674" name="Rectangle 2"/>
          <p:cNvSpPr>
            <a:spLocks noGrp="1" noRot="1" noChangeAspect="1" noTextEdit="1"/>
          </p:cNvSpPr>
          <p:nvPr>
            <p:ph type="sldImg"/>
          </p:nvPr>
        </p:nvSpPr>
        <p:spPr>
          <a:ln/>
        </p:spPr>
      </p:sp>
      <p:sp>
        <p:nvSpPr>
          <p:cNvPr id="2867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13</a:t>
            </a:fld>
            <a:endParaRPr lang="en-US" altLang="zh-CN" sz="1200" b="0" dirty="0"/>
          </a:p>
        </p:txBody>
      </p:sp>
      <p:sp>
        <p:nvSpPr>
          <p:cNvPr id="30722" name="Rectangle 2"/>
          <p:cNvSpPr>
            <a:spLocks noGrp="1" noRot="1" noChangeAspect="1" noTextEdit="1"/>
          </p:cNvSpPr>
          <p:nvPr>
            <p:ph type="sldImg"/>
          </p:nvPr>
        </p:nvSpPr>
        <p:spPr>
          <a:ln/>
        </p:spPr>
      </p:sp>
      <p:sp>
        <p:nvSpPr>
          <p:cNvPr id="3072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14</a:t>
            </a:fld>
            <a:endParaRPr lang="en-US" altLang="zh-CN" sz="1200" b="0" dirty="0"/>
          </a:p>
        </p:txBody>
      </p:sp>
      <p:sp>
        <p:nvSpPr>
          <p:cNvPr id="32770" name="Rectangle 2"/>
          <p:cNvSpPr>
            <a:spLocks noGrp="1" noRot="1" noChangeAspect="1" noTextEdit="1"/>
          </p:cNvSpPr>
          <p:nvPr>
            <p:ph type="sldImg"/>
          </p:nvPr>
        </p:nvSpPr>
        <p:spPr>
          <a:ln/>
        </p:spPr>
      </p:sp>
      <p:sp>
        <p:nvSpPr>
          <p:cNvPr id="3277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15</a:t>
            </a:fld>
            <a:endParaRPr lang="en-US" altLang="zh-CN" sz="1200" b="0" dirty="0"/>
          </a:p>
        </p:txBody>
      </p:sp>
      <p:sp>
        <p:nvSpPr>
          <p:cNvPr id="34818" name="Rectangle 2"/>
          <p:cNvSpPr>
            <a:spLocks noGrp="1" noRot="1" noChangeAspect="1" noTextEdit="1"/>
          </p:cNvSpPr>
          <p:nvPr>
            <p:ph type="sldImg"/>
          </p:nvPr>
        </p:nvSpPr>
        <p:spPr>
          <a:ln/>
        </p:spPr>
      </p:sp>
      <p:sp>
        <p:nvSpPr>
          <p:cNvPr id="3481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16</a:t>
            </a:fld>
            <a:endParaRPr lang="en-US" altLang="zh-CN" sz="1200" b="0" dirty="0"/>
          </a:p>
        </p:txBody>
      </p:sp>
      <p:sp>
        <p:nvSpPr>
          <p:cNvPr id="36866" name="Rectangle 2"/>
          <p:cNvSpPr>
            <a:spLocks noGrp="1" noRot="1" noChangeAspect="1" noTextEdit="1"/>
          </p:cNvSpPr>
          <p:nvPr>
            <p:ph type="sldImg"/>
          </p:nvPr>
        </p:nvSpPr>
        <p:spPr>
          <a:ln/>
        </p:spPr>
      </p:sp>
      <p:sp>
        <p:nvSpPr>
          <p:cNvPr id="3686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17</a:t>
            </a:fld>
            <a:endParaRPr lang="en-US" altLang="zh-CN" sz="1200" b="0" dirty="0"/>
          </a:p>
        </p:txBody>
      </p:sp>
      <p:sp>
        <p:nvSpPr>
          <p:cNvPr id="38914" name="Rectangle 2"/>
          <p:cNvSpPr>
            <a:spLocks noGrp="1" noRot="1" noChangeAspect="1" noTextEdit="1"/>
          </p:cNvSpPr>
          <p:nvPr>
            <p:ph type="sldImg"/>
          </p:nvPr>
        </p:nvSpPr>
        <p:spPr>
          <a:ln/>
        </p:spPr>
      </p:sp>
      <p:sp>
        <p:nvSpPr>
          <p:cNvPr id="3891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18</a:t>
            </a:fld>
            <a:endParaRPr lang="en-US" altLang="zh-CN" sz="1200" b="0" dirty="0"/>
          </a:p>
        </p:txBody>
      </p:sp>
      <p:sp>
        <p:nvSpPr>
          <p:cNvPr id="40962" name="Rectangle 2"/>
          <p:cNvSpPr>
            <a:spLocks noGrp="1" noRot="1" noChangeAspect="1" noTextEdit="1"/>
          </p:cNvSpPr>
          <p:nvPr>
            <p:ph type="sldImg"/>
          </p:nvPr>
        </p:nvSpPr>
        <p:spPr>
          <a:ln/>
        </p:spPr>
      </p:sp>
      <p:sp>
        <p:nvSpPr>
          <p:cNvPr id="4096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19</a:t>
            </a:fld>
            <a:endParaRPr lang="en-US" altLang="zh-CN" sz="1200" b="0" dirty="0"/>
          </a:p>
        </p:txBody>
      </p:sp>
      <p:sp>
        <p:nvSpPr>
          <p:cNvPr id="43010" name="Rectangle 2"/>
          <p:cNvSpPr>
            <a:spLocks noGrp="1" noRot="1" noChangeAspect="1" noTextEdit="1"/>
          </p:cNvSpPr>
          <p:nvPr>
            <p:ph type="sldImg"/>
          </p:nvPr>
        </p:nvSpPr>
        <p:spPr>
          <a:ln/>
        </p:spPr>
      </p:sp>
      <p:sp>
        <p:nvSpPr>
          <p:cNvPr id="4301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20</a:t>
            </a:fld>
            <a:endParaRPr lang="en-US" altLang="zh-CN" sz="1200" b="0" dirty="0"/>
          </a:p>
        </p:txBody>
      </p:sp>
      <p:sp>
        <p:nvSpPr>
          <p:cNvPr id="45058" name="Rectangle 2"/>
          <p:cNvSpPr>
            <a:spLocks noGrp="1" noRot="1" noChangeAspect="1" noTextEdit="1"/>
          </p:cNvSpPr>
          <p:nvPr>
            <p:ph type="sldImg"/>
          </p:nvPr>
        </p:nvSpPr>
        <p:spPr>
          <a:ln/>
        </p:spPr>
      </p:sp>
      <p:sp>
        <p:nvSpPr>
          <p:cNvPr id="4505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21</a:t>
            </a:fld>
            <a:endParaRPr lang="en-US" altLang="zh-CN" sz="1200" b="0" dirty="0"/>
          </a:p>
        </p:txBody>
      </p:sp>
      <p:sp>
        <p:nvSpPr>
          <p:cNvPr id="47106" name="Rectangle 2"/>
          <p:cNvSpPr>
            <a:spLocks noGrp="1" noRot="1" noChangeAspect="1" noTextEdit="1"/>
          </p:cNvSpPr>
          <p:nvPr>
            <p:ph type="sldImg"/>
          </p:nvPr>
        </p:nvSpPr>
        <p:spPr>
          <a:ln/>
        </p:spPr>
      </p:sp>
      <p:sp>
        <p:nvSpPr>
          <p:cNvPr id="4710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22</a:t>
            </a:fld>
            <a:endParaRPr lang="en-US" altLang="zh-CN" sz="1200" b="0" dirty="0"/>
          </a:p>
        </p:txBody>
      </p:sp>
      <p:sp>
        <p:nvSpPr>
          <p:cNvPr id="49154" name="Rectangle 2"/>
          <p:cNvSpPr>
            <a:spLocks noGrp="1" noRot="1" noChangeAspect="1" noTextEdit="1"/>
          </p:cNvSpPr>
          <p:nvPr>
            <p:ph type="sldImg"/>
          </p:nvPr>
        </p:nvSpPr>
        <p:spPr>
          <a:ln/>
        </p:spPr>
      </p:sp>
      <p:sp>
        <p:nvSpPr>
          <p:cNvPr id="4915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23</a:t>
            </a:fld>
            <a:endParaRPr lang="en-US" altLang="zh-CN" sz="1200" b="0" dirty="0"/>
          </a:p>
        </p:txBody>
      </p:sp>
      <p:sp>
        <p:nvSpPr>
          <p:cNvPr id="51202" name="Rectangle 2"/>
          <p:cNvSpPr>
            <a:spLocks noGrp="1" noRot="1" noChangeAspect="1" noTextEdit="1"/>
          </p:cNvSpPr>
          <p:nvPr>
            <p:ph type="sldImg"/>
          </p:nvPr>
        </p:nvSpPr>
        <p:spPr>
          <a:ln/>
        </p:spPr>
      </p:sp>
      <p:sp>
        <p:nvSpPr>
          <p:cNvPr id="5120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24</a:t>
            </a:fld>
            <a:endParaRPr lang="en-US" altLang="zh-CN" sz="1200" b="0" dirty="0"/>
          </a:p>
        </p:txBody>
      </p:sp>
      <p:sp>
        <p:nvSpPr>
          <p:cNvPr id="53250" name="Rectangle 2"/>
          <p:cNvSpPr>
            <a:spLocks noGrp="1" noRot="1" noChangeAspect="1" noTextEdit="1"/>
          </p:cNvSpPr>
          <p:nvPr>
            <p:ph type="sldImg"/>
          </p:nvPr>
        </p:nvSpPr>
        <p:spPr>
          <a:ln/>
        </p:spPr>
      </p:sp>
      <p:sp>
        <p:nvSpPr>
          <p:cNvPr id="5325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25</a:t>
            </a:fld>
            <a:endParaRPr lang="en-US" altLang="zh-CN" sz="1200" b="0" dirty="0"/>
          </a:p>
        </p:txBody>
      </p:sp>
      <p:sp>
        <p:nvSpPr>
          <p:cNvPr id="55298" name="Rectangle 2"/>
          <p:cNvSpPr>
            <a:spLocks noGrp="1" noRot="1" noChangeAspect="1" noTextEdit="1"/>
          </p:cNvSpPr>
          <p:nvPr>
            <p:ph type="sldImg"/>
          </p:nvPr>
        </p:nvSpPr>
        <p:spPr>
          <a:ln/>
        </p:spPr>
      </p:sp>
      <p:sp>
        <p:nvSpPr>
          <p:cNvPr id="5529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26</a:t>
            </a:fld>
            <a:endParaRPr lang="en-US" altLang="zh-CN" sz="1200" b="0" dirty="0"/>
          </a:p>
        </p:txBody>
      </p:sp>
      <p:sp>
        <p:nvSpPr>
          <p:cNvPr id="57346" name="Rectangle 2"/>
          <p:cNvSpPr>
            <a:spLocks noGrp="1" noRot="1" noChangeAspect="1" noTextEdit="1"/>
          </p:cNvSpPr>
          <p:nvPr>
            <p:ph type="sldImg"/>
          </p:nvPr>
        </p:nvSpPr>
        <p:spPr>
          <a:ln/>
        </p:spPr>
      </p:sp>
      <p:sp>
        <p:nvSpPr>
          <p:cNvPr id="5734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27</a:t>
            </a:fld>
            <a:endParaRPr lang="en-US" altLang="zh-CN" sz="1200" b="0" dirty="0"/>
          </a:p>
        </p:txBody>
      </p:sp>
      <p:sp>
        <p:nvSpPr>
          <p:cNvPr id="59394" name="Rectangle 2"/>
          <p:cNvSpPr>
            <a:spLocks noGrp="1" noRot="1" noChangeAspect="1" noTextEdit="1"/>
          </p:cNvSpPr>
          <p:nvPr>
            <p:ph type="sldImg"/>
          </p:nvPr>
        </p:nvSpPr>
        <p:spPr>
          <a:ln/>
        </p:spPr>
      </p:sp>
      <p:sp>
        <p:nvSpPr>
          <p:cNvPr id="5939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28</a:t>
            </a:fld>
            <a:endParaRPr lang="en-US" altLang="zh-CN" sz="1200" b="0" dirty="0"/>
          </a:p>
        </p:txBody>
      </p:sp>
      <p:sp>
        <p:nvSpPr>
          <p:cNvPr id="61442" name="Rectangle 2"/>
          <p:cNvSpPr>
            <a:spLocks noGrp="1" noRot="1" noChangeAspect="1" noTextEdit="1"/>
          </p:cNvSpPr>
          <p:nvPr>
            <p:ph type="sldImg"/>
          </p:nvPr>
        </p:nvSpPr>
        <p:spPr>
          <a:ln/>
        </p:spPr>
      </p:sp>
      <p:sp>
        <p:nvSpPr>
          <p:cNvPr id="6144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29</a:t>
            </a:fld>
            <a:endParaRPr lang="en-US" altLang="zh-CN" sz="1200" b="0" dirty="0"/>
          </a:p>
        </p:txBody>
      </p:sp>
      <p:sp>
        <p:nvSpPr>
          <p:cNvPr id="63490" name="Rectangle 2"/>
          <p:cNvSpPr>
            <a:spLocks noGrp="1" noRot="1" noChangeAspect="1" noTextEdit="1"/>
          </p:cNvSpPr>
          <p:nvPr>
            <p:ph type="sldImg"/>
          </p:nvPr>
        </p:nvSpPr>
        <p:spPr>
          <a:ln/>
        </p:spPr>
      </p:sp>
      <p:sp>
        <p:nvSpPr>
          <p:cNvPr id="6349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42</a:t>
            </a:fld>
            <a:endParaRPr lang="en-US" altLang="zh-CN" sz="1200" b="0" dirty="0"/>
          </a:p>
        </p:txBody>
      </p:sp>
      <p:sp>
        <p:nvSpPr>
          <p:cNvPr id="65538" name="Rectangle 2"/>
          <p:cNvSpPr>
            <a:spLocks noGrp="1" noRot="1" noChangeAspect="1" noTextEdit="1"/>
          </p:cNvSpPr>
          <p:nvPr>
            <p:ph type="sldImg"/>
          </p:nvPr>
        </p:nvSpPr>
        <p:spPr>
          <a:ln/>
        </p:spPr>
      </p:sp>
      <p:sp>
        <p:nvSpPr>
          <p:cNvPr id="6553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43</a:t>
            </a:fld>
            <a:endParaRPr lang="en-US" altLang="zh-CN" sz="1200" b="0" dirty="0"/>
          </a:p>
        </p:txBody>
      </p:sp>
      <p:sp>
        <p:nvSpPr>
          <p:cNvPr id="67586" name="Rectangle 2"/>
          <p:cNvSpPr>
            <a:spLocks noGrp="1" noRot="1" noChangeAspect="1" noTextEdit="1"/>
          </p:cNvSpPr>
          <p:nvPr>
            <p:ph type="sldImg"/>
          </p:nvPr>
        </p:nvSpPr>
        <p:spPr>
          <a:ln/>
        </p:spPr>
      </p:sp>
      <p:sp>
        <p:nvSpPr>
          <p:cNvPr id="6758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44</a:t>
            </a:fld>
            <a:endParaRPr lang="en-US" altLang="zh-CN" sz="1200" b="0" dirty="0"/>
          </a:p>
        </p:txBody>
      </p:sp>
      <p:sp>
        <p:nvSpPr>
          <p:cNvPr id="69634" name="Rectangle 2"/>
          <p:cNvSpPr>
            <a:spLocks noGrp="1" noRot="1" noChangeAspect="1" noTextEdit="1"/>
          </p:cNvSpPr>
          <p:nvPr>
            <p:ph type="sldImg"/>
          </p:nvPr>
        </p:nvSpPr>
        <p:spPr>
          <a:ln/>
        </p:spPr>
      </p:sp>
      <p:sp>
        <p:nvSpPr>
          <p:cNvPr id="6963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45</a:t>
            </a:fld>
            <a:endParaRPr lang="en-US" altLang="zh-CN" sz="1200" b="0" dirty="0"/>
          </a:p>
        </p:txBody>
      </p:sp>
      <p:sp>
        <p:nvSpPr>
          <p:cNvPr id="71682" name="Rectangle 2"/>
          <p:cNvSpPr>
            <a:spLocks noGrp="1" noRot="1" noChangeAspect="1" noTextEdit="1"/>
          </p:cNvSpPr>
          <p:nvPr>
            <p:ph type="sldImg"/>
          </p:nvPr>
        </p:nvSpPr>
        <p:spPr>
          <a:ln/>
        </p:spPr>
      </p:sp>
      <p:sp>
        <p:nvSpPr>
          <p:cNvPr id="7168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46</a:t>
            </a:fld>
            <a:endParaRPr lang="en-US" altLang="zh-CN" sz="1200" b="0" dirty="0"/>
          </a:p>
        </p:txBody>
      </p:sp>
      <p:sp>
        <p:nvSpPr>
          <p:cNvPr id="73730" name="Rectangle 2"/>
          <p:cNvSpPr>
            <a:spLocks noGrp="1" noRot="1" noChangeAspect="1" noTextEdit="1"/>
          </p:cNvSpPr>
          <p:nvPr>
            <p:ph type="sldImg"/>
          </p:nvPr>
        </p:nvSpPr>
        <p:spPr>
          <a:ln/>
        </p:spPr>
      </p:sp>
      <p:sp>
        <p:nvSpPr>
          <p:cNvPr id="7373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47</a:t>
            </a:fld>
            <a:endParaRPr lang="en-US" altLang="zh-CN" sz="1200" b="0" dirty="0"/>
          </a:p>
        </p:txBody>
      </p:sp>
      <p:sp>
        <p:nvSpPr>
          <p:cNvPr id="75778" name="Rectangle 2"/>
          <p:cNvSpPr>
            <a:spLocks noGrp="1" noRot="1" noChangeAspect="1" noTextEdit="1"/>
          </p:cNvSpPr>
          <p:nvPr>
            <p:ph type="sldImg"/>
          </p:nvPr>
        </p:nvSpPr>
        <p:spPr>
          <a:ln/>
        </p:spPr>
      </p:sp>
      <p:sp>
        <p:nvSpPr>
          <p:cNvPr id="7577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48</a:t>
            </a:fld>
            <a:endParaRPr lang="en-US" altLang="zh-CN" sz="1200" b="0" dirty="0"/>
          </a:p>
        </p:txBody>
      </p:sp>
      <p:sp>
        <p:nvSpPr>
          <p:cNvPr id="77826" name="Rectangle 2"/>
          <p:cNvSpPr>
            <a:spLocks noGrp="1" noRot="1" noChangeAspect="1" noTextEdit="1"/>
          </p:cNvSpPr>
          <p:nvPr>
            <p:ph type="sldImg"/>
          </p:nvPr>
        </p:nvSpPr>
        <p:spPr>
          <a:ln/>
        </p:spPr>
      </p:sp>
      <p:sp>
        <p:nvSpPr>
          <p:cNvPr id="7782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49</a:t>
            </a:fld>
            <a:endParaRPr lang="en-US" altLang="zh-CN" sz="1200" b="0" dirty="0"/>
          </a:p>
        </p:txBody>
      </p:sp>
      <p:sp>
        <p:nvSpPr>
          <p:cNvPr id="79874" name="Rectangle 2"/>
          <p:cNvSpPr>
            <a:spLocks noGrp="1" noRot="1" noChangeAspect="1" noTextEdit="1"/>
          </p:cNvSpPr>
          <p:nvPr>
            <p:ph type="sldImg"/>
          </p:nvPr>
        </p:nvSpPr>
        <p:spPr>
          <a:ln/>
        </p:spPr>
      </p:sp>
      <p:sp>
        <p:nvSpPr>
          <p:cNvPr id="7987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50</a:t>
            </a:fld>
            <a:endParaRPr lang="en-US" altLang="zh-CN" sz="1200" b="0" dirty="0"/>
          </a:p>
        </p:txBody>
      </p:sp>
      <p:sp>
        <p:nvSpPr>
          <p:cNvPr id="81922" name="Rectangle 2"/>
          <p:cNvSpPr>
            <a:spLocks noGrp="1" noRot="1" noChangeAspect="1" noTextEdit="1"/>
          </p:cNvSpPr>
          <p:nvPr>
            <p:ph type="sldImg"/>
          </p:nvPr>
        </p:nvSpPr>
        <p:spPr>
          <a:ln/>
        </p:spPr>
      </p:sp>
      <p:sp>
        <p:nvSpPr>
          <p:cNvPr id="8192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51</a:t>
            </a:fld>
            <a:endParaRPr lang="en-US" altLang="zh-CN" sz="1200" b="0" dirty="0"/>
          </a:p>
        </p:txBody>
      </p:sp>
      <p:sp>
        <p:nvSpPr>
          <p:cNvPr id="83970" name="Rectangle 2"/>
          <p:cNvSpPr>
            <a:spLocks noGrp="1" noRot="1" noChangeAspect="1" noTextEdit="1"/>
          </p:cNvSpPr>
          <p:nvPr>
            <p:ph type="sldImg"/>
          </p:nvPr>
        </p:nvSpPr>
        <p:spPr>
          <a:ln/>
        </p:spPr>
      </p:sp>
      <p:sp>
        <p:nvSpPr>
          <p:cNvPr id="8397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52</a:t>
            </a:fld>
            <a:endParaRPr lang="en-US" altLang="zh-CN" sz="1200" b="0" dirty="0"/>
          </a:p>
        </p:txBody>
      </p:sp>
      <p:sp>
        <p:nvSpPr>
          <p:cNvPr id="86018" name="Rectangle 2"/>
          <p:cNvSpPr>
            <a:spLocks noGrp="1" noRot="1" noChangeAspect="1" noTextEdit="1"/>
          </p:cNvSpPr>
          <p:nvPr>
            <p:ph type="sldImg"/>
          </p:nvPr>
        </p:nvSpPr>
        <p:spPr>
          <a:ln/>
        </p:spPr>
      </p:sp>
      <p:sp>
        <p:nvSpPr>
          <p:cNvPr id="8601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53</a:t>
            </a:fld>
            <a:endParaRPr lang="en-US" altLang="zh-CN" sz="1200" b="0" dirty="0"/>
          </a:p>
        </p:txBody>
      </p:sp>
      <p:sp>
        <p:nvSpPr>
          <p:cNvPr id="88066" name="Rectangle 2"/>
          <p:cNvSpPr>
            <a:spLocks noGrp="1" noRot="1" noChangeAspect="1" noTextEdit="1"/>
          </p:cNvSpPr>
          <p:nvPr>
            <p:ph type="sldImg"/>
          </p:nvPr>
        </p:nvSpPr>
        <p:spPr>
          <a:ln/>
        </p:spPr>
      </p:sp>
      <p:sp>
        <p:nvSpPr>
          <p:cNvPr id="8806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54</a:t>
            </a:fld>
            <a:endParaRPr lang="en-US" altLang="zh-CN" sz="1200" b="0" dirty="0"/>
          </a:p>
        </p:txBody>
      </p:sp>
      <p:sp>
        <p:nvSpPr>
          <p:cNvPr id="90114" name="Rectangle 2"/>
          <p:cNvSpPr>
            <a:spLocks noGrp="1" noRot="1" noChangeAspect="1" noTextEdit="1"/>
          </p:cNvSpPr>
          <p:nvPr>
            <p:ph type="sldImg"/>
          </p:nvPr>
        </p:nvSpPr>
        <p:spPr>
          <a:ln/>
        </p:spPr>
      </p:sp>
      <p:sp>
        <p:nvSpPr>
          <p:cNvPr id="9011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55</a:t>
            </a:fld>
            <a:endParaRPr lang="en-US" altLang="zh-CN" sz="1200" b="0" dirty="0"/>
          </a:p>
        </p:txBody>
      </p:sp>
      <p:sp>
        <p:nvSpPr>
          <p:cNvPr id="92162" name="Rectangle 2"/>
          <p:cNvSpPr>
            <a:spLocks noGrp="1" noRot="1" noChangeAspect="1" noTextEdit="1"/>
          </p:cNvSpPr>
          <p:nvPr>
            <p:ph type="sldImg"/>
          </p:nvPr>
        </p:nvSpPr>
        <p:spPr>
          <a:ln/>
        </p:spPr>
      </p:sp>
      <p:sp>
        <p:nvSpPr>
          <p:cNvPr id="9216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56</a:t>
            </a:fld>
            <a:endParaRPr lang="en-US" altLang="zh-CN" sz="1200" b="0" dirty="0"/>
          </a:p>
        </p:txBody>
      </p:sp>
      <p:sp>
        <p:nvSpPr>
          <p:cNvPr id="94210" name="Rectangle 2"/>
          <p:cNvSpPr>
            <a:spLocks noGrp="1" noRot="1" noChangeAspect="1" noTextEdit="1"/>
          </p:cNvSpPr>
          <p:nvPr>
            <p:ph type="sldImg"/>
          </p:nvPr>
        </p:nvSpPr>
        <p:spPr>
          <a:ln/>
        </p:spPr>
      </p:sp>
      <p:sp>
        <p:nvSpPr>
          <p:cNvPr id="9421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57</a:t>
            </a:fld>
            <a:endParaRPr lang="en-US" altLang="zh-CN" sz="1200" b="0" dirty="0"/>
          </a:p>
        </p:txBody>
      </p:sp>
      <p:sp>
        <p:nvSpPr>
          <p:cNvPr id="96258" name="Rectangle 2"/>
          <p:cNvSpPr>
            <a:spLocks noGrp="1" noRot="1" noChangeAspect="1" noTextEdit="1"/>
          </p:cNvSpPr>
          <p:nvPr>
            <p:ph type="sldImg"/>
          </p:nvPr>
        </p:nvSpPr>
        <p:spPr>
          <a:ln/>
        </p:spPr>
      </p:sp>
      <p:sp>
        <p:nvSpPr>
          <p:cNvPr id="9625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58</a:t>
            </a:fld>
            <a:endParaRPr lang="en-US" altLang="zh-CN" sz="1200" b="0" dirty="0"/>
          </a:p>
        </p:txBody>
      </p:sp>
      <p:sp>
        <p:nvSpPr>
          <p:cNvPr id="98306" name="Rectangle 2"/>
          <p:cNvSpPr>
            <a:spLocks noGrp="1" noRot="1" noChangeAspect="1" noTextEdit="1"/>
          </p:cNvSpPr>
          <p:nvPr>
            <p:ph type="sldImg"/>
          </p:nvPr>
        </p:nvSpPr>
        <p:spPr>
          <a:ln/>
        </p:spPr>
      </p:sp>
      <p:sp>
        <p:nvSpPr>
          <p:cNvPr id="9830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59</a:t>
            </a:fld>
            <a:endParaRPr lang="en-US" altLang="zh-CN" sz="1200" b="0" dirty="0"/>
          </a:p>
        </p:txBody>
      </p:sp>
      <p:sp>
        <p:nvSpPr>
          <p:cNvPr id="100354" name="Rectangle 2"/>
          <p:cNvSpPr>
            <a:spLocks noGrp="1" noRot="1" noChangeAspect="1" noTextEdit="1"/>
          </p:cNvSpPr>
          <p:nvPr>
            <p:ph type="sldImg"/>
          </p:nvPr>
        </p:nvSpPr>
        <p:spPr>
          <a:ln/>
        </p:spPr>
      </p:sp>
      <p:sp>
        <p:nvSpPr>
          <p:cNvPr id="10035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60</a:t>
            </a:fld>
            <a:endParaRPr lang="en-US" altLang="zh-CN" sz="1200" b="0" dirty="0"/>
          </a:p>
        </p:txBody>
      </p:sp>
      <p:sp>
        <p:nvSpPr>
          <p:cNvPr id="102402" name="Rectangle 2"/>
          <p:cNvSpPr>
            <a:spLocks noGrp="1" noRot="1" noChangeAspect="1" noTextEdit="1"/>
          </p:cNvSpPr>
          <p:nvPr>
            <p:ph type="sldImg"/>
          </p:nvPr>
        </p:nvSpPr>
        <p:spPr>
          <a:ln/>
        </p:spPr>
      </p:sp>
      <p:sp>
        <p:nvSpPr>
          <p:cNvPr id="10240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61</a:t>
            </a:fld>
            <a:endParaRPr lang="en-US" altLang="zh-CN" sz="1200" b="0" dirty="0"/>
          </a:p>
        </p:txBody>
      </p:sp>
      <p:sp>
        <p:nvSpPr>
          <p:cNvPr id="104450" name="Rectangle 2"/>
          <p:cNvSpPr>
            <a:spLocks noGrp="1" noRot="1" noChangeAspect="1" noTextEdit="1"/>
          </p:cNvSpPr>
          <p:nvPr>
            <p:ph type="sldImg"/>
          </p:nvPr>
        </p:nvSpPr>
        <p:spPr>
          <a:ln/>
        </p:spPr>
      </p:sp>
      <p:sp>
        <p:nvSpPr>
          <p:cNvPr id="10445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62</a:t>
            </a:fld>
            <a:endParaRPr lang="en-US" altLang="zh-CN" sz="1200" b="0" dirty="0"/>
          </a:p>
        </p:txBody>
      </p:sp>
      <p:sp>
        <p:nvSpPr>
          <p:cNvPr id="106498" name="Rectangle 2"/>
          <p:cNvSpPr>
            <a:spLocks noGrp="1" noRot="1" noChangeAspect="1" noTextEdit="1"/>
          </p:cNvSpPr>
          <p:nvPr>
            <p:ph type="sldImg"/>
          </p:nvPr>
        </p:nvSpPr>
        <p:spPr>
          <a:ln/>
        </p:spPr>
      </p:sp>
      <p:sp>
        <p:nvSpPr>
          <p:cNvPr id="10649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63</a:t>
            </a:fld>
            <a:endParaRPr lang="en-US" altLang="zh-CN" sz="1200" b="0" dirty="0"/>
          </a:p>
        </p:txBody>
      </p:sp>
      <p:sp>
        <p:nvSpPr>
          <p:cNvPr id="108546" name="Rectangle 2"/>
          <p:cNvSpPr>
            <a:spLocks noGrp="1" noRot="1" noChangeAspect="1" noTextEdit="1"/>
          </p:cNvSpPr>
          <p:nvPr>
            <p:ph type="sldImg"/>
          </p:nvPr>
        </p:nvSpPr>
        <p:spPr>
          <a:ln/>
        </p:spPr>
      </p:sp>
      <p:sp>
        <p:nvSpPr>
          <p:cNvPr id="10854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64</a:t>
            </a:fld>
            <a:endParaRPr lang="en-US" altLang="zh-CN" sz="1200" b="0" dirty="0"/>
          </a:p>
        </p:txBody>
      </p:sp>
      <p:sp>
        <p:nvSpPr>
          <p:cNvPr id="110594" name="Rectangle 2"/>
          <p:cNvSpPr>
            <a:spLocks noGrp="1" noRot="1" noChangeAspect="1" noTextEdit="1"/>
          </p:cNvSpPr>
          <p:nvPr>
            <p:ph type="sldImg"/>
          </p:nvPr>
        </p:nvSpPr>
        <p:spPr>
          <a:ln/>
        </p:spPr>
      </p:sp>
      <p:sp>
        <p:nvSpPr>
          <p:cNvPr id="11059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65</a:t>
            </a:fld>
            <a:endParaRPr lang="en-US" altLang="zh-CN" sz="1200" b="0" dirty="0"/>
          </a:p>
        </p:txBody>
      </p:sp>
      <p:sp>
        <p:nvSpPr>
          <p:cNvPr id="112642" name="Rectangle 2"/>
          <p:cNvSpPr>
            <a:spLocks noGrp="1" noRot="1" noChangeAspect="1" noTextEdit="1"/>
          </p:cNvSpPr>
          <p:nvPr>
            <p:ph type="sldImg"/>
          </p:nvPr>
        </p:nvSpPr>
        <p:spPr>
          <a:ln/>
        </p:spPr>
      </p:sp>
      <p:sp>
        <p:nvSpPr>
          <p:cNvPr id="11264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66</a:t>
            </a:fld>
            <a:endParaRPr lang="en-US" altLang="zh-CN" sz="1200" b="0" dirty="0"/>
          </a:p>
        </p:txBody>
      </p:sp>
      <p:sp>
        <p:nvSpPr>
          <p:cNvPr id="114690" name="Rectangle 2"/>
          <p:cNvSpPr>
            <a:spLocks noGrp="1" noRot="1" noChangeAspect="1" noTextEdit="1"/>
          </p:cNvSpPr>
          <p:nvPr>
            <p:ph type="sldImg"/>
          </p:nvPr>
        </p:nvSpPr>
        <p:spPr>
          <a:ln/>
        </p:spPr>
      </p:sp>
      <p:sp>
        <p:nvSpPr>
          <p:cNvPr id="11469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67</a:t>
            </a:fld>
            <a:endParaRPr lang="en-US" altLang="zh-CN" sz="1200" b="0" dirty="0"/>
          </a:p>
        </p:txBody>
      </p:sp>
      <p:sp>
        <p:nvSpPr>
          <p:cNvPr id="116738" name="Rectangle 2"/>
          <p:cNvSpPr>
            <a:spLocks noGrp="1" noRot="1" noChangeAspect="1" noTextEdit="1"/>
          </p:cNvSpPr>
          <p:nvPr>
            <p:ph type="sldImg"/>
          </p:nvPr>
        </p:nvSpPr>
        <p:spPr>
          <a:ln/>
        </p:spPr>
      </p:sp>
      <p:sp>
        <p:nvSpPr>
          <p:cNvPr id="11673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68</a:t>
            </a:fld>
            <a:endParaRPr lang="en-US" altLang="zh-CN" sz="1200" b="0" dirty="0"/>
          </a:p>
        </p:txBody>
      </p:sp>
      <p:sp>
        <p:nvSpPr>
          <p:cNvPr id="118786" name="Rectangle 2"/>
          <p:cNvSpPr>
            <a:spLocks noGrp="1" noRot="1" noChangeAspect="1" noTextEdit="1"/>
          </p:cNvSpPr>
          <p:nvPr>
            <p:ph type="sldImg"/>
          </p:nvPr>
        </p:nvSpPr>
        <p:spPr>
          <a:ln/>
        </p:spPr>
      </p:sp>
      <p:sp>
        <p:nvSpPr>
          <p:cNvPr id="11878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69</a:t>
            </a:fld>
            <a:endParaRPr lang="en-US" altLang="zh-CN" sz="1200" b="0" dirty="0"/>
          </a:p>
        </p:txBody>
      </p:sp>
      <p:sp>
        <p:nvSpPr>
          <p:cNvPr id="120834" name="Rectangle 2"/>
          <p:cNvSpPr>
            <a:spLocks noGrp="1" noRot="1" noChangeAspect="1" noTextEdit="1"/>
          </p:cNvSpPr>
          <p:nvPr>
            <p:ph type="sldImg"/>
          </p:nvPr>
        </p:nvSpPr>
        <p:spPr>
          <a:ln/>
        </p:spPr>
      </p:sp>
      <p:sp>
        <p:nvSpPr>
          <p:cNvPr id="12083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70</a:t>
            </a:fld>
            <a:endParaRPr lang="en-US" altLang="zh-CN" sz="1200" b="0" dirty="0"/>
          </a:p>
        </p:txBody>
      </p:sp>
      <p:sp>
        <p:nvSpPr>
          <p:cNvPr id="122882" name="Rectangle 2"/>
          <p:cNvSpPr>
            <a:spLocks noGrp="1" noRot="1" noChangeAspect="1" noTextEdit="1"/>
          </p:cNvSpPr>
          <p:nvPr>
            <p:ph type="sldImg"/>
          </p:nvPr>
        </p:nvSpPr>
        <p:spPr>
          <a:ln/>
        </p:spPr>
      </p:sp>
      <p:sp>
        <p:nvSpPr>
          <p:cNvPr id="12288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71</a:t>
            </a:fld>
            <a:endParaRPr lang="en-US" altLang="zh-CN" sz="1200" b="0" dirty="0"/>
          </a:p>
        </p:txBody>
      </p:sp>
      <p:sp>
        <p:nvSpPr>
          <p:cNvPr id="124930" name="Rectangle 2"/>
          <p:cNvSpPr>
            <a:spLocks noGrp="1" noRot="1" noChangeAspect="1" noTextEdit="1"/>
          </p:cNvSpPr>
          <p:nvPr>
            <p:ph type="sldImg"/>
          </p:nvPr>
        </p:nvSpPr>
        <p:spPr>
          <a:ln/>
        </p:spPr>
      </p:sp>
      <p:sp>
        <p:nvSpPr>
          <p:cNvPr id="12493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72</a:t>
            </a:fld>
            <a:endParaRPr lang="en-US" altLang="zh-CN" sz="1200" b="0" dirty="0"/>
          </a:p>
        </p:txBody>
      </p:sp>
      <p:sp>
        <p:nvSpPr>
          <p:cNvPr id="126978" name="Rectangle 2"/>
          <p:cNvSpPr>
            <a:spLocks noGrp="1" noRot="1" noChangeAspect="1" noTextEdit="1"/>
          </p:cNvSpPr>
          <p:nvPr>
            <p:ph type="sldImg"/>
          </p:nvPr>
        </p:nvSpPr>
        <p:spPr>
          <a:ln/>
        </p:spPr>
      </p:sp>
      <p:sp>
        <p:nvSpPr>
          <p:cNvPr id="12697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73</a:t>
            </a:fld>
            <a:endParaRPr lang="en-US" altLang="zh-CN" sz="1200" b="0" dirty="0"/>
          </a:p>
        </p:txBody>
      </p:sp>
      <p:sp>
        <p:nvSpPr>
          <p:cNvPr id="129026" name="Rectangle 2"/>
          <p:cNvSpPr>
            <a:spLocks noGrp="1" noRot="1" noChangeAspect="1" noTextEdit="1"/>
          </p:cNvSpPr>
          <p:nvPr>
            <p:ph type="sldImg"/>
          </p:nvPr>
        </p:nvSpPr>
        <p:spPr>
          <a:ln/>
        </p:spPr>
      </p:sp>
      <p:sp>
        <p:nvSpPr>
          <p:cNvPr id="129027"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74</a:t>
            </a:fld>
            <a:endParaRPr lang="en-US" altLang="zh-CN" sz="1200" b="0" dirty="0"/>
          </a:p>
        </p:txBody>
      </p:sp>
      <p:sp>
        <p:nvSpPr>
          <p:cNvPr id="131074" name="Rectangle 2"/>
          <p:cNvSpPr>
            <a:spLocks noGrp="1" noRot="1" noChangeAspect="1" noTextEdit="1"/>
          </p:cNvSpPr>
          <p:nvPr>
            <p:ph type="sldImg"/>
          </p:nvPr>
        </p:nvSpPr>
        <p:spPr>
          <a:ln/>
        </p:spPr>
      </p:sp>
      <p:sp>
        <p:nvSpPr>
          <p:cNvPr id="131075"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75</a:t>
            </a:fld>
            <a:endParaRPr lang="en-US" altLang="zh-CN" sz="1200" b="0" dirty="0"/>
          </a:p>
        </p:txBody>
      </p:sp>
      <p:sp>
        <p:nvSpPr>
          <p:cNvPr id="133122" name="Rectangle 2"/>
          <p:cNvSpPr>
            <a:spLocks noGrp="1" noRot="1" noChangeAspect="1" noTextEdit="1"/>
          </p:cNvSpPr>
          <p:nvPr>
            <p:ph type="sldImg"/>
          </p:nvPr>
        </p:nvSpPr>
        <p:spPr>
          <a:ln/>
        </p:spPr>
      </p:sp>
      <p:sp>
        <p:nvSpPr>
          <p:cNvPr id="133123"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76</a:t>
            </a:fld>
            <a:endParaRPr lang="en-US" altLang="zh-CN" sz="1200" b="0" dirty="0"/>
          </a:p>
        </p:txBody>
      </p:sp>
      <p:sp>
        <p:nvSpPr>
          <p:cNvPr id="135170" name="Rectangle 2"/>
          <p:cNvSpPr>
            <a:spLocks noGrp="1" noRot="1" noChangeAspect="1" noTextEdit="1"/>
          </p:cNvSpPr>
          <p:nvPr>
            <p:ph type="sldImg"/>
          </p:nvPr>
        </p:nvSpPr>
        <p:spPr>
          <a:ln/>
        </p:spPr>
      </p:sp>
      <p:sp>
        <p:nvSpPr>
          <p:cNvPr id="13517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lnSpc>
                <a:spcPct val="100000"/>
              </a:lnSpc>
              <a:spcBef>
                <a:spcPct val="0"/>
              </a:spcBef>
            </a:pPr>
            <a:fld id="{9A0DB2DC-4C9A-4742-B13C-FB6460FD3503}" type="slidenum">
              <a:rPr lang="en-US" altLang="zh-CN" sz="1200" b="0" dirty="0"/>
              <a:t>77</a:t>
            </a:fld>
            <a:endParaRPr lang="en-US" altLang="zh-CN" sz="1200" b="0" dirty="0"/>
          </a:p>
        </p:txBody>
      </p:sp>
      <p:sp>
        <p:nvSpPr>
          <p:cNvPr id="137218" name="Rectangle 2"/>
          <p:cNvSpPr>
            <a:spLocks noGrp="1" noRot="1" noChangeAspect="1" noTextEdit="1"/>
          </p:cNvSpPr>
          <p:nvPr>
            <p:ph type="sldImg"/>
          </p:nvPr>
        </p:nvSpPr>
        <p:spPr>
          <a:ln/>
        </p:spPr>
      </p:sp>
      <p:sp>
        <p:nvSpPr>
          <p:cNvPr id="137219"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1" name="Rectangle 2"/>
          <p:cNvSpPr>
            <a:spLocks noChangeArrowheads="1"/>
          </p:cNvSpPr>
          <p:nvPr/>
        </p:nvSpPr>
        <p:spPr bwMode="auto">
          <a:xfrm>
            <a:off x="381000" y="0"/>
            <a:ext cx="1447800" cy="6856413"/>
          </a:xfrm>
          <a:prstGeom prst="rect">
            <a:avLst/>
          </a:prstGeom>
          <a:gradFill rotWithShape="0">
            <a:gsLst>
              <a:gs pos="0">
                <a:schemeClr val="bg1">
                  <a:gamma/>
                  <a:shade val="61961"/>
                  <a:invGamma/>
                </a:schemeClr>
              </a:gs>
              <a:gs pos="50000">
                <a:schemeClr val="bg1">
                  <a:alpha val="50000"/>
                </a:schemeClr>
              </a:gs>
              <a:gs pos="100000">
                <a:schemeClr val="bg1">
                  <a:gamma/>
                  <a:shade val="61961"/>
                  <a:invGamma/>
                </a:schemeClr>
              </a:gs>
            </a:gsLst>
            <a:lin ang="540000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 name="Rectangle 3"/>
          <p:cNvSpPr>
            <a:spLocks noChangeArrowheads="1"/>
          </p:cNvSpPr>
          <p:nvPr/>
        </p:nvSpPr>
        <p:spPr bwMode="auto">
          <a:xfrm>
            <a:off x="685800" y="1733550"/>
            <a:ext cx="8456613" cy="1466850"/>
          </a:xfrm>
          <a:prstGeom prst="rect">
            <a:avLst/>
          </a:prstGeom>
          <a:gradFill rotWithShape="0">
            <a:gsLst>
              <a:gs pos="0">
                <a:schemeClr val="bg1"/>
              </a:gs>
              <a:gs pos="100000">
                <a:schemeClr val="bg1">
                  <a:gamma/>
                  <a:shade val="15294"/>
                  <a:invGamma/>
                </a:schemeClr>
              </a:gs>
            </a:gsLst>
            <a:lin ang="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 name="Rectangle 9"/>
          <p:cNvSpPr>
            <a:spLocks noChangeArrowheads="1"/>
          </p:cNvSpPr>
          <p:nvPr/>
        </p:nvSpPr>
        <p:spPr bwMode="auto">
          <a:xfrm>
            <a:off x="0" y="3352800"/>
            <a:ext cx="4724400" cy="152400"/>
          </a:xfrm>
          <a:prstGeom prst="rect">
            <a:avLst/>
          </a:prstGeom>
          <a:solidFill>
            <a:schemeClr val="accent1">
              <a:alpha val="50000"/>
            </a:schemeClr>
          </a:soli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0" name="Rectangle 4"/>
          <p:cNvSpPr>
            <a:spLocks noGrp="1" noChangeArrowheads="1"/>
          </p:cNvSpPr>
          <p:nvPr>
            <p:ph type="ctrTitle" sz="quarter"/>
          </p:nvPr>
        </p:nvSpPr>
        <p:spPr>
          <a:xfrm>
            <a:off x="685800" y="1717675"/>
            <a:ext cx="7772400" cy="1711325"/>
          </a:xfrm>
        </p:spPr>
        <p:txBody>
          <a:bodyPr/>
          <a:lstStyle>
            <a:lvl1pPr>
              <a:defRPr sz="4000"/>
            </a:lvl1pPr>
          </a:lstStyle>
          <a:p>
            <a:pPr fontAlgn="base"/>
            <a:r>
              <a:rPr lang="zh-CN" altLang="en-US" strike="noStrike" noProof="1"/>
              <a:t>单击此处编辑母版标题样式</a:t>
            </a:r>
          </a:p>
        </p:txBody>
      </p:sp>
      <p:sp>
        <p:nvSpPr>
          <p:cNvPr id="4101" name="Rectangle 5"/>
          <p:cNvSpPr>
            <a:spLocks noGrp="1" noChangeArrowheads="1"/>
          </p:cNvSpPr>
          <p:nvPr>
            <p:ph type="subTitle" sz="quarter" idx="1"/>
          </p:nvPr>
        </p:nvSpPr>
        <p:spPr>
          <a:xfrm>
            <a:off x="1828800" y="3810000"/>
            <a:ext cx="6400800" cy="1752600"/>
          </a:xfrm>
        </p:spPr>
        <p:txBody>
          <a:bodyPr/>
          <a:lstStyle>
            <a:lvl1pPr marL="0" indent="0" algn="ctr">
              <a:buFont typeface="Wingdings" panose="05000000000000000000" pitchFamily="2" charset="2"/>
              <a:buNone/>
              <a:defRPr b="0"/>
            </a:lvl1pPr>
          </a:lstStyle>
          <a:p>
            <a:pPr fontAlgn="base"/>
            <a:r>
              <a:rPr lang="zh-CN" altLang="en-US" strike="noStrike" noProof="1"/>
              <a:t>单击此处编辑母版副标题样式</a:t>
            </a:r>
          </a:p>
        </p:txBody>
      </p:sp>
      <p:sp>
        <p:nvSpPr>
          <p:cNvPr id="14" name="Rectangle 6"/>
          <p:cNvSpPr>
            <a:spLocks noGrp="1" noChangeArrowheads="1"/>
          </p:cNvSpPr>
          <p:nvPr>
            <p:ph type="dt" sz="quarter" idx="2"/>
          </p:nvPr>
        </p:nvSpPr>
        <p:spPr bwMode="auto">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lvl1pPr>
              <a:defRPr/>
            </a:lvl1pPr>
          </a:lstStyle>
          <a:p>
            <a:pPr marL="0" marR="0" indent="0" algn="l"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15" name="Rectangle 7"/>
          <p:cNvSpPr>
            <a:spLocks noGrp="1" noChangeArrowheads="1"/>
          </p:cNvSpPr>
          <p:nvPr>
            <p:ph type="ftr" sz="quarter" idx="3"/>
          </p:nvPr>
        </p:nvSpPr>
        <p:spPr bwMode="auto">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lvl1pPr>
              <a:defRPr/>
            </a:lvl1pPr>
          </a:lstStyle>
          <a:p>
            <a:pPr marL="0" marR="0" indent="0" defTabSz="914400" rtl="0" eaLnBrk="1" fontAlgn="base" latinLnBrk="0" hangingPunct="1">
              <a:spcAft>
                <a:spcPct val="0"/>
              </a:spcAft>
              <a:buClrTx/>
              <a:buSzTx/>
              <a:buFontTx/>
              <a:buNone/>
              <a:defRPr/>
            </a:pPr>
            <a:endParaRPr kumimoji="1" lang="en-US" altLang="zh-CN" i="0" strike="noStrike" kern="1200" cap="none" spc="0" normalizeH="0" baseline="0" noProof="0">
              <a:solidFill>
                <a:schemeClr val="tx1"/>
              </a:solidFill>
              <a:latin typeface="+mn-lt"/>
              <a:ea typeface="宋体" panose="02010600030101010101" pitchFamily="2" charset="-122"/>
              <a:cs typeface="+mn-cs"/>
            </a:endParaRPr>
          </a:p>
        </p:txBody>
      </p:sp>
      <p:sp>
        <p:nvSpPr>
          <p:cNvPr id="16" name="Rectangle 8"/>
          <p:cNvSpPr>
            <a:spLocks noGrp="1" noChangeArrowheads="1"/>
          </p:cNvSpPr>
          <p:nvPr>
            <p:ph type="sldNum" sz="quarter" idx="4"/>
          </p:nvPr>
        </p:nvSpPr>
        <p:spPr bwMode="auto">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Only">
  <p:cSld name="Content">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D29D52-D35E-4DA6-BC83-BB08B4FFE314}"/>
              </a:ext>
            </a:extLst>
          </p:cNvPr>
          <p:cNvSpPr>
            <a:spLocks noGrp="1"/>
          </p:cNvSpPr>
          <p:nvPr>
            <p:ph/>
          </p:nvPr>
        </p:nvSpPr>
        <p:spPr>
          <a:xfrm>
            <a:off x="457200" y="274638"/>
            <a:ext cx="8229600" cy="585152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3" name="Date Placeholder 2">
            <a:extLst>
              <a:ext uri="{FF2B5EF4-FFF2-40B4-BE49-F238E27FC236}">
                <a16:creationId xmlns:a16="http://schemas.microsoft.com/office/drawing/2014/main" id="{B350C896-E974-44E1-9200-EAD5659B4D73}"/>
              </a:ext>
            </a:extLst>
          </p:cNvPr>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4" name="Footer Placeholder 3">
            <a:extLst>
              <a:ext uri="{FF2B5EF4-FFF2-40B4-BE49-F238E27FC236}">
                <a16:creationId xmlns:a16="http://schemas.microsoft.com/office/drawing/2014/main" id="{D2B47E6E-ADF0-41D0-85F4-EA7DE138EBDA}"/>
              </a:ext>
            </a:extLst>
          </p:cNvPr>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5" name="Slide Number Placeholder 4">
            <a:extLst>
              <a:ext uri="{FF2B5EF4-FFF2-40B4-BE49-F238E27FC236}">
                <a16:creationId xmlns:a16="http://schemas.microsoft.com/office/drawing/2014/main" id="{836567B4-3F86-4ADA-883F-E751E22CE211}"/>
              </a:ext>
            </a:extLst>
          </p:cNvPr>
          <p:cNvSpPr>
            <a:spLocks noGrp="1"/>
          </p:cNvSpPr>
          <p:nvPr>
            <p:ph type="sldNum" sz="quarter" idx="12"/>
          </p:nvPr>
        </p:nvSpPr>
        <p:spPr>
          <a:xfrm>
            <a:off x="6553200" y="6245225"/>
            <a:ext cx="2133600" cy="476250"/>
          </a:xfrm>
        </p:spPr>
        <p:txBody>
          <a:bodyPr/>
          <a:lstStyle>
            <a:lvl1pPr>
              <a:defRPr/>
            </a:lvl1pPr>
          </a:lstStyle>
          <a:p>
            <a:fld id="{CE15A1B9-7C7E-4F44-958F-344534DB5FF3}" type="slidenum">
              <a:rPr lang="en-US" altLang="zh-CN"/>
              <a:pPr/>
              <a:t>‹#›</a:t>
            </a:fld>
            <a:endParaRPr lang="en-US" altLang="zh-CN"/>
          </a:p>
        </p:txBody>
      </p:sp>
    </p:spTree>
    <p:extLst>
      <p:ext uri="{BB962C8B-B14F-4D97-AF65-F5344CB8AC3E}">
        <p14:creationId xmlns:p14="http://schemas.microsoft.com/office/powerpoint/2010/main" val="307934003"/>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chemeClr val="bg1">
                  <a:gamma/>
                  <a:shade val="61961"/>
                  <a:invGamma/>
                </a:schemeClr>
              </a:gs>
            </a:gsLst>
            <a:lin ang="540000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ChangeArrowheads="1"/>
          </p:cNvSpPr>
          <p:nvPr/>
        </p:nvSpPr>
        <p:spPr bwMode="auto">
          <a:xfrm>
            <a:off x="0" y="1219200"/>
            <a:ext cx="4724400" cy="152400"/>
          </a:xfrm>
          <a:prstGeom prst="rect">
            <a:avLst/>
          </a:prstGeom>
          <a:solidFill>
            <a:schemeClr val="accent1">
              <a:alpha val="50000"/>
            </a:schemeClr>
          </a:soli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7" name="Rectangle 5"/>
          <p:cNvSpPr>
            <a:spLocks noChangeArrowheads="1"/>
          </p:cNvSpPr>
          <p:nvPr/>
        </p:nvSpPr>
        <p:spPr bwMode="auto">
          <a:xfrm>
            <a:off x="763588" y="457200"/>
            <a:ext cx="8380413" cy="762000"/>
          </a:xfrm>
          <a:prstGeom prst="rect">
            <a:avLst/>
          </a:prstGeom>
          <a:gradFill rotWithShape="0">
            <a:gsLst>
              <a:gs pos="0">
                <a:schemeClr val="bg1"/>
              </a:gs>
              <a:gs pos="100000">
                <a:schemeClr val="bg1">
                  <a:gamma/>
                  <a:shade val="15294"/>
                  <a:invGamma/>
                </a:schemeClr>
              </a:gs>
            </a:gsLst>
            <a:lin ang="0" scaled="1"/>
          </a:gradFill>
          <a:ln w="9525">
            <a:noFill/>
            <a:miter lim="800000"/>
          </a:ln>
          <a:effectLst/>
        </p:spPr>
        <p:txBody>
          <a:bodyPr/>
          <a:lstStyle/>
          <a:p>
            <a:pPr marL="0" marR="0" lvl="0" indent="0" algn="l" defTabSz="914400" rtl="0" eaLnBrk="1" fontAlgn="base" latinLnBrk="0" hangingPunct="1">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8" name="Rectangle 6"/>
          <p:cNvSpPr>
            <a:spLocks noGrp="1" noChangeArrowheads="1"/>
          </p:cNvSpPr>
          <p:nvPr>
            <p:ph type="title"/>
          </p:nvPr>
        </p:nvSpPr>
        <p:spPr bwMode="auto">
          <a:xfrm>
            <a:off x="417513" y="228600"/>
            <a:ext cx="8331200" cy="1143000"/>
          </a:xfrm>
          <a:prstGeom prst="rect">
            <a:avLst/>
          </a:prstGeom>
          <a:noFill/>
          <a:ln w="9525">
            <a:noFill/>
            <a:miter lim="800000"/>
          </a:ln>
          <a:effectLst/>
        </p:spPr>
        <p:txBody>
          <a:bodyPr vert="horz" wrap="square" lIns="92075" tIns="46038" rIns="92075" bIns="46038" numCol="1" anchor="ctr" anchorCtr="0" compatLnSpc="1"/>
          <a:lstStyle/>
          <a:p>
            <a:pPr lvl="0" fontAlgn="base"/>
            <a:r>
              <a:rPr lang="zh-CN" altLang="en-US" strike="noStrike" noProof="1"/>
              <a:t>单击此处编辑母版标题样式</a:t>
            </a:r>
          </a:p>
        </p:txBody>
      </p:sp>
      <p:sp>
        <p:nvSpPr>
          <p:cNvPr id="1030" name="Rectangle 7"/>
          <p:cNvSpPr>
            <a:spLocks noGrp="1"/>
          </p:cNvSpPr>
          <p:nvPr>
            <p:ph type="body"/>
          </p:nvPr>
        </p:nvSpPr>
        <p:spPr>
          <a:xfrm>
            <a:off x="577850" y="1387475"/>
            <a:ext cx="8197850" cy="4814888"/>
          </a:xfrm>
          <a:prstGeom prst="rect">
            <a:avLst/>
          </a:prstGeom>
          <a:noFill/>
          <a:ln w="9525">
            <a:noFill/>
          </a:ln>
        </p:spPr>
        <p:txBody>
          <a:bodyPr lIns="92075" tIns="46038" rIns="92075" bIns="46038" anchor="t" anchorCtr="0"/>
          <a:lstStyle/>
          <a:p>
            <a:pPr lvl="0"/>
            <a:r>
              <a:rPr lang="zh-CN" altLang="en-US" dirty="0"/>
              <a:t>单击此处编辑母版文本样式</a:t>
            </a:r>
          </a:p>
          <a:p>
            <a:pPr lvl="1"/>
            <a:r>
              <a:rPr lang="zh-CN" altLang="en-US" dirty="0"/>
              <a:t>第二层</a:t>
            </a:r>
          </a:p>
          <a:p>
            <a:pPr lvl="2"/>
            <a:r>
              <a:rPr lang="zh-CN" altLang="en-US" dirty="0"/>
              <a:t>第三层</a:t>
            </a:r>
          </a:p>
          <a:p>
            <a:pPr lvl="3"/>
            <a:r>
              <a:rPr lang="zh-CN" altLang="en-US" dirty="0"/>
              <a:t>第四层</a:t>
            </a:r>
          </a:p>
          <a:p>
            <a:pPr lvl="4"/>
            <a:r>
              <a:rPr lang="zh-CN" altLang="en-US" dirty="0"/>
              <a:t>第五层</a:t>
            </a:r>
          </a:p>
        </p:txBody>
      </p:sp>
      <p:sp>
        <p:nvSpPr>
          <p:cNvPr id="3080" name="Rectangle 8"/>
          <p:cNvSpPr>
            <a:spLocks noGrp="1" noChangeArrowheads="1"/>
          </p:cNvSpPr>
          <p:nvPr>
            <p:ph type="dt" sz="half" idx="2"/>
          </p:nvPr>
        </p:nvSpPr>
        <p:spPr bwMode="auto">
          <a:xfrm>
            <a:off x="685800" y="6172200"/>
            <a:ext cx="1905000" cy="457200"/>
          </a:xfrm>
          <a:prstGeom prst="rect">
            <a:avLst/>
          </a:prstGeom>
          <a:noFill/>
          <a:ln w="9525">
            <a:noFill/>
            <a:miter lim="800000"/>
          </a:ln>
          <a:effectLst/>
        </p:spPr>
        <p:txBody>
          <a:bodyPr vert="horz" wrap="square" lIns="92075" tIns="46038" rIns="92075" bIns="46038" numCol="1" anchor="ctr" anchorCtr="0" compatLnSpc="1"/>
          <a:lstStyle>
            <a:lvl1pPr>
              <a:spcBef>
                <a:spcPct val="0"/>
              </a:spcBef>
              <a:defRPr sz="1400" b="0">
                <a:latin typeface="+mn-lt"/>
              </a:defRPr>
            </a:lvl1pPr>
          </a:lstStyle>
          <a:p>
            <a:pPr marL="0" marR="0" lvl="0" indent="0" algn="l"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81" name="Rectangle 9"/>
          <p:cNvSpPr>
            <a:spLocks noGrp="1" noChangeArrowheads="1"/>
          </p:cNvSpPr>
          <p:nvPr>
            <p:ph type="ftr" sz="quarter" idx="3"/>
          </p:nvPr>
        </p:nvSpPr>
        <p:spPr bwMode="auto">
          <a:xfrm>
            <a:off x="3124200" y="6172200"/>
            <a:ext cx="2895600" cy="457200"/>
          </a:xfrm>
          <a:prstGeom prst="rect">
            <a:avLst/>
          </a:prstGeom>
          <a:noFill/>
          <a:ln w="9525">
            <a:noFill/>
            <a:miter lim="800000"/>
          </a:ln>
          <a:effectLst/>
        </p:spPr>
        <p:txBody>
          <a:bodyPr vert="horz" wrap="square" lIns="92075" tIns="46038" rIns="92075" bIns="46038" numCol="1" anchor="ctr" anchorCtr="0" compatLnSpc="1"/>
          <a:lstStyle>
            <a:lvl1pPr algn="ctr">
              <a:spcBef>
                <a:spcPct val="0"/>
              </a:spcBef>
              <a:defRPr sz="1400" b="0">
                <a:latin typeface="+mn-lt"/>
              </a:defRPr>
            </a:lvl1pPr>
          </a:lstStyle>
          <a:p>
            <a:pPr marL="0" marR="0" lvl="0" indent="0" algn="ctr" defTabSz="914400" rtl="0" eaLnBrk="1" fontAlgn="base" latinLnBrk="0" hangingPunct="1">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082" name="Rectangle 10"/>
          <p:cNvSpPr>
            <a:spLocks noGrp="1" noChangeArrowheads="1"/>
          </p:cNvSpPr>
          <p:nvPr>
            <p:ph type="sldNum" sz="quarter" idx="4"/>
          </p:nvPr>
        </p:nvSpPr>
        <p:spPr bwMode="auto">
          <a:xfrm>
            <a:off x="6553200" y="6172200"/>
            <a:ext cx="1905000" cy="457200"/>
          </a:xfrm>
          <a:prstGeom prst="rect">
            <a:avLst/>
          </a:prstGeom>
          <a:noFill/>
          <a:ln w="9525">
            <a:noFill/>
            <a:miter lim="800000"/>
          </a:ln>
          <a:effectLst/>
        </p:spPr>
        <p:txBody>
          <a:bodyPr vert="horz" wrap="none" lIns="92075" tIns="46038" rIns="92075" bIns="46038" numCol="1" anchor="ctr" anchorCtr="0" compatLnSpc="1"/>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Lst>
  <p:transition spd="med">
    <p:random/>
  </p:transition>
  <p:hf sldNum="0" hdr="0" ftr="0" dt="0"/>
  <p:txStyles>
    <p:titleStyle>
      <a:lvl1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3200" b="1">
          <a:solidFill>
            <a:srgbClr val="E8E8E8"/>
          </a:solidFill>
          <a:effectLst>
            <a:outerShdw blurRad="38100" dist="38100" dir="2700000" algn="tl">
              <a:srgbClr val="000000"/>
            </a:outerShdw>
          </a:effectLst>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70000"/>
        <a:buFont typeface="Wingdings" panose="05000000000000000000" pitchFamily="2" charset="2"/>
        <a:buChar char="u"/>
        <a:defRPr kumimoji="1"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Ø"/>
        <a:defRPr kumimoji="1" sz="24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80000"/>
        <a:buFont typeface="Wingdings" panose="05000000000000000000" pitchFamily="2" charset="2"/>
        <a:buChar char="v"/>
        <a:defRPr kumimoji="1" sz="20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Char char="•"/>
        <a:defRPr kumimoji="1" sz="2000" b="1">
          <a:solidFill>
            <a:schemeClr val="tx1"/>
          </a:solidFill>
          <a:latin typeface="+mn-lt"/>
          <a:ea typeface="+mn-ea"/>
        </a:defRPr>
      </a:lvl5pPr>
      <a:lvl6pPr marL="2514600" indent="-228600" algn="l" rtl="0" fontAlgn="base">
        <a:spcBef>
          <a:spcPct val="20000"/>
        </a:spcBef>
        <a:spcAft>
          <a:spcPct val="0"/>
        </a:spcAft>
        <a:buClr>
          <a:schemeClr val="accent2"/>
        </a:buClr>
        <a:buChar char="•"/>
        <a:defRPr kumimoji="1" sz="2000" b="1">
          <a:solidFill>
            <a:schemeClr val="tx1"/>
          </a:solidFill>
          <a:latin typeface="+mn-lt"/>
          <a:ea typeface="+mn-ea"/>
        </a:defRPr>
      </a:lvl6pPr>
      <a:lvl7pPr marL="2971800" indent="-228600" algn="l" rtl="0" fontAlgn="base">
        <a:spcBef>
          <a:spcPct val="20000"/>
        </a:spcBef>
        <a:spcAft>
          <a:spcPct val="0"/>
        </a:spcAft>
        <a:buClr>
          <a:schemeClr val="accent2"/>
        </a:buClr>
        <a:buChar char="•"/>
        <a:defRPr kumimoji="1" sz="2000" b="1">
          <a:solidFill>
            <a:schemeClr val="tx1"/>
          </a:solidFill>
          <a:latin typeface="+mn-lt"/>
          <a:ea typeface="+mn-ea"/>
        </a:defRPr>
      </a:lvl7pPr>
      <a:lvl8pPr marL="3429000" indent="-228600" algn="l" rtl="0" fontAlgn="base">
        <a:spcBef>
          <a:spcPct val="20000"/>
        </a:spcBef>
        <a:spcAft>
          <a:spcPct val="0"/>
        </a:spcAft>
        <a:buClr>
          <a:schemeClr val="accent2"/>
        </a:buClr>
        <a:buChar char="•"/>
        <a:defRPr kumimoji="1" sz="2000" b="1">
          <a:solidFill>
            <a:schemeClr val="tx1"/>
          </a:solidFill>
          <a:latin typeface="+mn-lt"/>
          <a:ea typeface="+mn-ea"/>
        </a:defRPr>
      </a:lvl8pPr>
      <a:lvl9pPr marL="3886200" indent="-228600" algn="l" rtl="0" fontAlgn="base">
        <a:spcBef>
          <a:spcPct val="20000"/>
        </a:spcBef>
        <a:spcAft>
          <a:spcPct val="0"/>
        </a:spcAft>
        <a:buClr>
          <a:schemeClr val="accent2"/>
        </a:buClr>
        <a:buChar char="•"/>
        <a:defRPr kumimoji="1"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75000"/>
          </a:schemeClr>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rgbClr val="003F7E"/>
              </a:gs>
            </a:gsLst>
            <a:lin ang="5400000" scaled="1"/>
          </a:gradFill>
          <a:ln w="9525">
            <a:noFill/>
            <a:miter lim="800000"/>
          </a:ln>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7" name="Rectangle 3"/>
          <p:cNvSpPr>
            <a:spLocks noChangeArrowheads="1"/>
          </p:cNvSpPr>
          <p:nvPr/>
        </p:nvSpPr>
        <p:spPr bwMode="auto">
          <a:xfrm>
            <a:off x="0" y="1219200"/>
            <a:ext cx="4724400" cy="152400"/>
          </a:xfrm>
          <a:prstGeom prst="rect">
            <a:avLst/>
          </a:prstGeom>
          <a:solidFill>
            <a:schemeClr val="accent1">
              <a:alpha val="50000"/>
            </a:schemeClr>
          </a:solidFill>
          <a:ln w="9525">
            <a:noFill/>
            <a:miter lim="800000"/>
          </a:ln>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8" name="Rectangle 5"/>
          <p:cNvSpPr>
            <a:spLocks noChangeArrowheads="1"/>
          </p:cNvSpPr>
          <p:nvPr/>
        </p:nvSpPr>
        <p:spPr bwMode="auto">
          <a:xfrm>
            <a:off x="763588" y="457200"/>
            <a:ext cx="8380413" cy="762000"/>
          </a:xfrm>
          <a:prstGeom prst="rect">
            <a:avLst/>
          </a:prstGeom>
          <a:gradFill rotWithShape="0">
            <a:gsLst>
              <a:gs pos="0">
                <a:schemeClr val="bg1"/>
              </a:gs>
              <a:gs pos="100000">
                <a:srgbClr val="00101F"/>
              </a:gs>
            </a:gsLst>
            <a:lin ang="0" scaled="1"/>
          </a:gradFill>
          <a:ln w="9525">
            <a:noFill/>
            <a:miter lim="800000"/>
          </a:ln>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3" name="Rectangle 6"/>
          <p:cNvSpPr>
            <a:spLocks noGrp="1"/>
          </p:cNvSpPr>
          <p:nvPr>
            <p:ph type="title"/>
          </p:nvPr>
        </p:nvSpPr>
        <p:spPr>
          <a:xfrm>
            <a:off x="417513" y="228600"/>
            <a:ext cx="8331200" cy="1143000"/>
          </a:xfrm>
          <a:prstGeom prst="rect">
            <a:avLst/>
          </a:prstGeom>
          <a:noFill/>
          <a:ln w="9525">
            <a:noFill/>
          </a:ln>
        </p:spPr>
        <p:txBody>
          <a:bodyPr lIns="92075" tIns="46038" rIns="92075" bIns="46038" anchor="ctr" anchorCtr="0"/>
          <a:lstStyle/>
          <a:p>
            <a:pPr lvl="0"/>
            <a:r>
              <a:rPr lang="zh-CN" altLang="en-US" dirty="0"/>
              <a:t>单击此处编辑母版标题样式</a:t>
            </a:r>
          </a:p>
        </p:txBody>
      </p:sp>
      <p:sp>
        <p:nvSpPr>
          <p:cNvPr id="2054" name="Rectangle 7"/>
          <p:cNvSpPr>
            <a:spLocks noGrp="1"/>
          </p:cNvSpPr>
          <p:nvPr>
            <p:ph type="body"/>
          </p:nvPr>
        </p:nvSpPr>
        <p:spPr>
          <a:xfrm>
            <a:off x="577850" y="1387475"/>
            <a:ext cx="8197850" cy="4814888"/>
          </a:xfrm>
          <a:prstGeom prst="rect">
            <a:avLst/>
          </a:prstGeom>
          <a:noFill/>
          <a:ln w="9525">
            <a:noFill/>
          </a:ln>
        </p:spPr>
        <p:txBody>
          <a:bodyPr lIns="92075" tIns="46038" rIns="92075" bIns="46038" anchor="t" anchorCtr="0"/>
          <a:lstStyle/>
          <a:p>
            <a:pPr lvl="0"/>
            <a:r>
              <a:rPr lang="zh-CN" altLang="en-US" dirty="0"/>
              <a:t>单击此处编辑母版文本样式</a:t>
            </a:r>
          </a:p>
          <a:p>
            <a:pPr lvl="1"/>
            <a:r>
              <a:rPr lang="zh-CN" altLang="en-US" dirty="0"/>
              <a:t>第二层</a:t>
            </a:r>
          </a:p>
          <a:p>
            <a:pPr lvl="2"/>
            <a:r>
              <a:rPr lang="zh-CN" altLang="en-US" dirty="0"/>
              <a:t>第三层</a:t>
            </a:r>
          </a:p>
          <a:p>
            <a:pPr lvl="3"/>
            <a:r>
              <a:rPr lang="zh-CN" altLang="en-US" dirty="0"/>
              <a:t>第四层</a:t>
            </a:r>
          </a:p>
          <a:p>
            <a:pPr lvl="4"/>
            <a:r>
              <a:rPr lang="zh-CN" altLang="en-US" dirty="0"/>
              <a:t>第五层</a:t>
            </a:r>
          </a:p>
        </p:txBody>
      </p:sp>
      <p:sp>
        <p:nvSpPr>
          <p:cNvPr id="1031" name="Rectangle 8"/>
          <p:cNvSpPr>
            <a:spLocks noGrp="1" noChangeArrowheads="1"/>
          </p:cNvSpPr>
          <p:nvPr>
            <p:ph type="dt" sz="half" idx="2"/>
          </p:nvPr>
        </p:nvSpPr>
        <p:spPr bwMode="auto">
          <a:xfrm>
            <a:off x="685800" y="6172200"/>
            <a:ext cx="1905000" cy="457200"/>
          </a:xfrm>
          <a:prstGeom prst="rect">
            <a:avLst/>
          </a:prstGeom>
          <a:noFill/>
          <a:ln w="9525">
            <a:noFill/>
            <a:miter lim="800000"/>
          </a:ln>
        </p:spPr>
        <p:txBody>
          <a:bodyPr vert="horz" wrap="square" lIns="92075" tIns="46038" rIns="92075" bIns="46038" numCol="1" anchor="ctr" anchorCtr="0" compatLnSpc="1"/>
          <a:lstStyle>
            <a:lvl1pPr>
              <a:spcBef>
                <a:spcPct val="0"/>
              </a:spcBef>
              <a:buFont typeface="Arial" panose="020B0604020202020204" pitchFamily="34" charset="0"/>
              <a:buNone/>
              <a:defRPr sz="1400" b="0">
                <a:latin typeface="+mn-lt"/>
              </a:defRPr>
            </a:lvl1p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2" name="Rectangle 9"/>
          <p:cNvSpPr>
            <a:spLocks noGrp="1" noChangeArrowheads="1"/>
          </p:cNvSpPr>
          <p:nvPr>
            <p:ph type="ftr" sz="quarter" idx="3"/>
          </p:nvPr>
        </p:nvSpPr>
        <p:spPr bwMode="auto">
          <a:xfrm>
            <a:off x="3124200" y="6172200"/>
            <a:ext cx="2895600" cy="457200"/>
          </a:xfrm>
          <a:prstGeom prst="rect">
            <a:avLst/>
          </a:prstGeom>
          <a:noFill/>
          <a:ln w="9525">
            <a:noFill/>
            <a:miter lim="800000"/>
          </a:ln>
        </p:spPr>
        <p:txBody>
          <a:bodyPr vert="horz" wrap="square" lIns="92075" tIns="46038" rIns="92075" bIns="46038" numCol="1" anchor="ctr" anchorCtr="0" compatLnSpc="1"/>
          <a:lstStyle>
            <a:lvl1pPr algn="ctr">
              <a:spcBef>
                <a:spcPct val="0"/>
              </a:spcBef>
              <a:buFont typeface="Arial" panose="020B0604020202020204" pitchFamily="34" charset="0"/>
              <a:buNone/>
              <a:defRPr sz="1400" b="0">
                <a:latin typeface="+mn-lt"/>
              </a:defRPr>
            </a:lvl1p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3" name="Rectangle 10"/>
          <p:cNvSpPr>
            <a:spLocks noGrp="1" noChangeArrowheads="1"/>
          </p:cNvSpPr>
          <p:nvPr>
            <p:ph type="sldNum" sz="quarter" idx="4"/>
          </p:nvPr>
        </p:nvSpPr>
        <p:spPr bwMode="auto">
          <a:xfrm>
            <a:off x="6553200" y="6172200"/>
            <a:ext cx="1905000" cy="457200"/>
          </a:xfrm>
          <a:prstGeom prst="rect">
            <a:avLst/>
          </a:prstGeom>
          <a:noFill/>
          <a:ln w="9525">
            <a:noFill/>
            <a:miter lim="800000"/>
          </a:ln>
        </p:spPr>
        <p:txBody>
          <a:bodyPr vert="horz" wrap="none" lIns="92075" tIns="46038" rIns="92075" bIns="46038" numCol="1" anchor="ctr" anchorCtr="0" compatLnSpc="1"/>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 bg1="dk2" tx1="lt1" bg2="dk1" tx2="lt2" accent1="accent1" accent2="accent2" accent3="accent3" accent4="accent4" accent5="accent5" accent6="accent6" hlink="hlink" folHlink="folHlink"/>
  <p:sldLayoutIdLst>
    <p:sldLayoutId id="2147483653" r:id="rId1"/>
  </p:sldLayoutIdLst>
  <p:transition spd="med">
    <p:random/>
  </p:transition>
  <p:hf sldNum="0" hdr="0" ftr="0" dt="0"/>
  <p:txStyles>
    <p:titleStyle>
      <a:lvl1pPr algn="l" rtl="0" eaLnBrk="0" fontAlgn="base" hangingPunct="0">
        <a:spcBef>
          <a:spcPct val="0"/>
        </a:spcBef>
        <a:spcAft>
          <a:spcPct val="0"/>
        </a:spcAft>
        <a:defRPr sz="3200" b="1">
          <a:solidFill>
            <a:srgbClr val="E8E8E8"/>
          </a:solidFill>
          <a:latin typeface="+mj-lt"/>
          <a:ea typeface="+mj-ea"/>
          <a:cs typeface="+mj-cs"/>
        </a:defRPr>
      </a:lvl1pPr>
      <a:lvl2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5pPr>
      <a:lvl6pPr marL="4572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6pPr>
      <a:lvl7pPr marL="9144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7pPr>
      <a:lvl8pPr marL="13716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8pPr>
      <a:lvl9pPr marL="18288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70000"/>
        <a:buFont typeface="Wingdings" panose="05000000000000000000" pitchFamily="2" charset="2"/>
        <a:buChar char="u"/>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Ø"/>
        <a:defRPr sz="24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0000"/>
        <a:buFont typeface="Wingdings" panose="05000000000000000000" pitchFamily="2" charset="2"/>
        <a:buChar char="v"/>
        <a:defRPr sz="20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146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29718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290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8862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4.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3.vml"/><Relationship Id="rId4" Type="http://schemas.openxmlformats.org/officeDocument/2006/relationships/image" Target="../media/image4.e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4.vml"/><Relationship Id="rId4" Type="http://schemas.openxmlformats.org/officeDocument/2006/relationships/image" Target="../media/image5.e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1035"/>
          <p:cNvSpPr>
            <a:spLocks noGrp="1" noChangeArrowheads="1"/>
          </p:cNvSpPr>
          <p:nvPr/>
        </p:nvSpPr>
        <p:spPr bwMode="auto">
          <a:xfrm>
            <a:off x="685800" y="1549400"/>
            <a:ext cx="7772400" cy="1285875"/>
          </a:xfrm>
          <a:prstGeom prst="rect">
            <a:avLst/>
          </a:prstGeom>
          <a:noFill/>
          <a:ln w="9525">
            <a:noFill/>
            <a:miter lim="800000"/>
          </a:ln>
        </p:spPr>
        <p:txBody>
          <a:bodyPr lIns="92075" tIns="46038" rIns="92075" bIns="46038" anchor="ctr"/>
          <a:lstStyle/>
          <a:p>
            <a:pPr marL="0" marR="0" lvl="0" indent="0" algn="ctr" defTabSz="914400" rtl="0" eaLnBrk="0" fontAlgn="base" latinLnBrk="0" hangingPunct="0">
              <a:spcBef>
                <a:spcPct val="0"/>
              </a:spcBef>
              <a:spcAft>
                <a:spcPct val="0"/>
              </a:spcAft>
              <a:buClrTx/>
              <a:buSzTx/>
              <a:buFont typeface="Arial" panose="020B0604020202020204" pitchFamily="34" charset="0"/>
              <a:buNone/>
              <a:defRPr/>
            </a:pPr>
            <a:r>
              <a:rPr kumimoji="0" lang="zh-CN" altLang="en-US" sz="6600" b="0" i="0" u="none" strike="noStrike" kern="1200" cap="none" spc="0" normalizeH="0" baseline="0" noProof="0" dirty="0">
                <a:ln>
                  <a:noFill/>
                </a:ln>
                <a:solidFill>
                  <a:srgbClr val="FF0000"/>
                </a:solidFill>
                <a:effectLst>
                  <a:outerShdw blurRad="38100" dist="38100" dir="2700000" algn="tl">
                    <a:srgbClr val="FFFFFF"/>
                  </a:outerShdw>
                </a:effectLst>
                <a:uLnTx/>
                <a:uFillTx/>
                <a:latin typeface="隶书" panose="02010509060101010101" pitchFamily="49" charset="-122"/>
                <a:ea typeface="隶书" panose="02010509060101010101" pitchFamily="49" charset="-122"/>
                <a:cs typeface="+mn-cs"/>
              </a:rPr>
              <a:t>微机原理及应用</a:t>
            </a:r>
            <a:endParaRPr kumimoji="0" lang="zh-CN" altLang="en-US" sz="5400" b="0" i="0" u="none" strike="noStrike" kern="1200" cap="none" spc="0" normalizeH="0" baseline="0" noProof="0" dirty="0">
              <a:ln>
                <a:noFill/>
              </a:ln>
              <a:solidFill>
                <a:srgbClr val="FF0000"/>
              </a:solidFill>
              <a:effectLst>
                <a:outerShdw blurRad="38100" dist="38100" dir="2700000" algn="tl">
                  <a:srgbClr val="FFFFFF"/>
                </a:outerShdw>
              </a:effectLst>
              <a:uLnTx/>
              <a:uFillTx/>
              <a:latin typeface="隶书" panose="02010509060101010101" pitchFamily="49" charset="-122"/>
              <a:ea typeface="隶书" panose="02010509060101010101" pitchFamily="49" charset="-122"/>
              <a:cs typeface="+mn-cs"/>
            </a:endParaRPr>
          </a:p>
        </p:txBody>
      </p:sp>
    </p:spTree>
  </p:cSld>
  <p:clrMapOvr>
    <a:masterClrMapping/>
  </p:clrMapOvr>
  <p:transition spd="med">
    <p:random/>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a:xfrm>
            <a:off x="1025525" y="268288"/>
            <a:ext cx="7070725" cy="114300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宋体" panose="02010600030101010101" pitchFamily="2" charset="-122"/>
                <a:ea typeface="+mj-ea"/>
                <a:cs typeface="+mj-cs"/>
              </a:rPr>
              <a:t>第</a:t>
            </a:r>
            <a:r>
              <a:rPr kumimoji="1" lang="en-US" altLang="zh-CN"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4</a:t>
            </a:r>
            <a:r>
              <a:rPr kumimoji="1" lang="zh-CN" altLang="en-US"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宋体" panose="02010600030101010101" pitchFamily="2" charset="-122"/>
                <a:ea typeface="+mj-ea"/>
                <a:cs typeface="+mj-cs"/>
              </a:rPr>
              <a:t>章  </a:t>
            </a:r>
            <a:r>
              <a:rPr kumimoji="1" lang="zh-CN" altLang="zh-CN" sz="36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rPr>
              <a:t>汇编语言程序设计</a:t>
            </a:r>
            <a:endParaRPr kumimoji="1" lang="zh-CN" altLang="en-US" sz="3200" b="1" i="0" u="none" strike="noStrike" kern="0" cap="none" spc="0" normalizeH="0" baseline="0" noProof="0" dirty="0">
              <a:ln>
                <a:noFill/>
              </a:ln>
              <a:solidFill>
                <a:srgbClr val="E8E8E8"/>
              </a:solidFill>
              <a:effectLst>
                <a:outerShdw blurRad="38100" dist="38100" dir="2700000" algn="tl">
                  <a:srgbClr val="000000"/>
                </a:outerShdw>
              </a:effectLst>
              <a:uLnTx/>
              <a:uFillTx/>
              <a:latin typeface="+mj-lt"/>
              <a:ea typeface="+mj-ea"/>
              <a:cs typeface="+mj-cs"/>
            </a:endParaRPr>
          </a:p>
        </p:txBody>
      </p:sp>
      <p:sp>
        <p:nvSpPr>
          <p:cNvPr id="7170" name="Rectangle 3"/>
          <p:cNvSpPr>
            <a:spLocks noGrp="1"/>
          </p:cNvSpPr>
          <p:nvPr>
            <p:ph idx="1"/>
          </p:nvPr>
        </p:nvSpPr>
        <p:spPr>
          <a:xfrm>
            <a:off x="1411288" y="1995488"/>
            <a:ext cx="6870700" cy="3543300"/>
          </a:xfrm>
          <a:ln/>
        </p:spPr>
        <p:txBody>
          <a:bodyPr wrap="square" lIns="92075" tIns="46038" rIns="92075" bIns="46038" anchor="t" anchorCtr="0"/>
          <a:lstStyle/>
          <a:p>
            <a:pPr eaLnBrk="1" hangingPunct="1">
              <a:lnSpc>
                <a:spcPct val="130000"/>
              </a:lnSpc>
              <a:buNone/>
            </a:pPr>
            <a:endParaRPr lang="en-US" altLang="zh-CN" sz="3200" dirty="0">
              <a:solidFill>
                <a:srgbClr val="FFCC00"/>
              </a:solidFill>
            </a:endParaRPr>
          </a:p>
          <a:p>
            <a:pPr algn="just" eaLnBrk="1" hangingPunct="1">
              <a:lnSpc>
                <a:spcPct val="150000"/>
              </a:lnSpc>
            </a:pPr>
            <a:r>
              <a:rPr lang="en-US" altLang="zh-CN" dirty="0"/>
              <a:t>  </a:t>
            </a:r>
            <a:r>
              <a:rPr lang="zh-CN" altLang="en-US" dirty="0"/>
              <a:t>掌握</a:t>
            </a:r>
            <a:r>
              <a:rPr lang="zh-CN" altLang="zh-CN" dirty="0"/>
              <a:t>伪指令的使用方法</a:t>
            </a:r>
            <a:endParaRPr lang="zh-CN" altLang="en-US" dirty="0">
              <a:latin typeface="宋体" panose="02010600030101010101" pitchFamily="2" charset="-122"/>
            </a:endParaRPr>
          </a:p>
          <a:p>
            <a:pPr algn="just" eaLnBrk="1" hangingPunct="1">
              <a:lnSpc>
                <a:spcPct val="150000"/>
              </a:lnSpc>
            </a:pPr>
            <a:r>
              <a:rPr lang="en-US" altLang="zh-CN" dirty="0"/>
              <a:t>  </a:t>
            </a:r>
            <a:r>
              <a:rPr lang="zh-CN" altLang="en-US" dirty="0"/>
              <a:t>理解</a:t>
            </a:r>
            <a:r>
              <a:rPr lang="zh-CN" altLang="zh-CN" dirty="0"/>
              <a:t>汇编程序的段式结构</a:t>
            </a:r>
            <a:endParaRPr lang="zh-CN" altLang="en-US" dirty="0">
              <a:latin typeface="宋体" panose="02010600030101010101" pitchFamily="2" charset="-122"/>
            </a:endParaRPr>
          </a:p>
          <a:p>
            <a:pPr algn="just" eaLnBrk="1" hangingPunct="1">
              <a:lnSpc>
                <a:spcPct val="150000"/>
              </a:lnSpc>
            </a:pPr>
            <a:r>
              <a:rPr lang="en-US" altLang="zh-CN" dirty="0"/>
              <a:t>  </a:t>
            </a:r>
            <a:r>
              <a:rPr lang="zh-CN" altLang="zh-CN" dirty="0"/>
              <a:t>掌握汇编程序的基本设计方法</a:t>
            </a:r>
            <a:endParaRPr lang="en-US" altLang="zh-CN" dirty="0"/>
          </a:p>
          <a:p>
            <a:pPr algn="just" eaLnBrk="1" hangingPunct="1">
              <a:lnSpc>
                <a:spcPct val="150000"/>
              </a:lnSpc>
            </a:pPr>
            <a:r>
              <a:rPr lang="en-US" altLang="zh-CN" dirty="0"/>
              <a:t>  </a:t>
            </a:r>
            <a:r>
              <a:rPr lang="zh-CN" altLang="en-US" dirty="0"/>
              <a:t>学会</a:t>
            </a:r>
            <a:r>
              <a:rPr lang="zh-CN" altLang="zh-CN" dirty="0"/>
              <a:t>汇编程序的调试</a:t>
            </a:r>
            <a:r>
              <a:rPr lang="zh-CN" altLang="en-US" dirty="0"/>
              <a:t>方法</a:t>
            </a:r>
          </a:p>
        </p:txBody>
      </p:sp>
      <p:sp>
        <p:nvSpPr>
          <p:cNvPr id="7171" name="Rectangle 12"/>
          <p:cNvSpPr/>
          <p:nvPr/>
        </p:nvSpPr>
        <p:spPr>
          <a:xfrm>
            <a:off x="947738" y="1798638"/>
            <a:ext cx="3106737" cy="825500"/>
          </a:xfrm>
          <a:prstGeom prst="rect">
            <a:avLst/>
          </a:prstGeom>
          <a:noFill/>
          <a:ln w="9525">
            <a:noFill/>
          </a:ln>
        </p:spPr>
        <p:txBody>
          <a:bodyPr lIns="92075" tIns="46038" rIns="92075" bIns="46038" anchor="t" anchorCtr="0"/>
          <a:lstStyle/>
          <a:p>
            <a:pPr marL="342900" indent="-342900">
              <a:lnSpc>
                <a:spcPct val="130000"/>
              </a:lnSpc>
              <a:buClr>
                <a:schemeClr val="accent2"/>
              </a:buClr>
              <a:buSzPct val="70000"/>
            </a:pPr>
            <a:r>
              <a:rPr lang="zh-CN" altLang="en-US" sz="3200" dirty="0">
                <a:solidFill>
                  <a:srgbClr val="FFCC00"/>
                </a:solidFill>
                <a:latin typeface="Times New Roman" panose="02020603050405020304" pitchFamily="18" charset="0"/>
                <a:ea typeface="宋体" panose="02010600030101010101" pitchFamily="2" charset="-122"/>
              </a:rPr>
              <a:t>学习目标：</a:t>
            </a:r>
            <a:endParaRPr lang="zh-CN" altLang="en-US" sz="280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5368925" cy="1143000"/>
          </a:xfrm>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C000"/>
                </a:solidFill>
                <a:effectLst>
                  <a:outerShdw blurRad="38100" dist="38100" dir="2700000" algn="tl">
                    <a:srgbClr val="000000"/>
                  </a:outerShdw>
                </a:effectLst>
                <a:uLnTx/>
                <a:uFillTx/>
                <a:latin typeface="+mj-lt"/>
                <a:ea typeface="+mj-ea"/>
                <a:cs typeface="+mj-cs"/>
              </a:rPr>
              <a:t>4. 1  </a:t>
            </a:r>
            <a:r>
              <a:rPr kumimoji="1" lang="zh-CN" altLang="zh-CN" sz="3200" b="1" i="0" u="none" strike="noStrike" kern="0" cap="none" spc="0" normalizeH="0" baseline="0" noProof="0" dirty="0">
                <a:ln>
                  <a:noFill/>
                </a:ln>
                <a:solidFill>
                  <a:srgbClr val="FFC000"/>
                </a:solidFill>
                <a:effectLst>
                  <a:outerShdw blurRad="38100" dist="38100" dir="2700000" algn="tl">
                    <a:srgbClr val="000000"/>
                  </a:outerShdw>
                </a:effectLst>
                <a:uLnTx/>
                <a:uFillTx/>
                <a:latin typeface="+mj-lt"/>
                <a:ea typeface="+mj-ea"/>
                <a:cs typeface="+mj-cs"/>
              </a:rPr>
              <a:t>汇编语言概述</a:t>
            </a:r>
            <a:endParaRPr kumimoji="1" lang="zh-CN" altLang="en-US" sz="3200" b="1" i="0" u="none" strike="noStrike" kern="0" cap="none" spc="0" normalizeH="0" baseline="0" noProof="0" dirty="0">
              <a:ln>
                <a:noFill/>
              </a:ln>
              <a:solidFill>
                <a:srgbClr val="FFC000"/>
              </a:solidFill>
              <a:effectLst>
                <a:outerShdw blurRad="38100" dist="38100" dir="2700000" algn="tl">
                  <a:srgbClr val="000000"/>
                </a:outerShdw>
              </a:effectLst>
              <a:uLnTx/>
              <a:uFillTx/>
              <a:latin typeface="+mj-lt"/>
              <a:ea typeface="+mj-ea"/>
              <a:cs typeface="+mj-cs"/>
            </a:endParaRPr>
          </a:p>
        </p:txBody>
      </p:sp>
      <p:sp>
        <p:nvSpPr>
          <p:cNvPr id="9218"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 action="ppaction://noaction"/>
              </a:rPr>
              <a:t>返回</a:t>
            </a:r>
            <a:endParaRPr lang="zh-CN" altLang="en-US" sz="1800" dirty="0">
              <a:solidFill>
                <a:schemeClr val="bg2"/>
              </a:solidFill>
              <a:latin typeface="宋体" panose="02010600030101010101" pitchFamily="2" charset="-122"/>
              <a:ea typeface="宋体" panose="02010600030101010101" pitchFamily="2" charset="-122"/>
            </a:endParaRPr>
          </a:p>
        </p:txBody>
      </p:sp>
      <p:sp>
        <p:nvSpPr>
          <p:cNvPr id="9219" name="内容占位符 4"/>
          <p:cNvSpPr>
            <a:spLocks noGrp="1"/>
          </p:cNvSpPr>
          <p:nvPr>
            <p:ph idx="1"/>
          </p:nvPr>
        </p:nvSpPr>
        <p:spPr>
          <a:xfrm>
            <a:off x="231775" y="1387475"/>
            <a:ext cx="8302625" cy="5191125"/>
          </a:xfrm>
          <a:ln/>
        </p:spPr>
        <p:txBody>
          <a:bodyPr wrap="square" lIns="92075" tIns="46038" rIns="92075" bIns="46038" anchor="t" anchorCtr="0"/>
          <a:lstStyle/>
          <a:p>
            <a:pPr algn="just">
              <a:buNone/>
            </a:pPr>
            <a:r>
              <a:rPr lang="en-US" altLang="zh-CN" sz="2400" dirty="0"/>
              <a:t>            </a:t>
            </a:r>
            <a:r>
              <a:rPr lang="zh-CN" altLang="zh-CN" sz="2400" dirty="0"/>
              <a:t>程序设计语言是实现人机信息交换</a:t>
            </a:r>
            <a:r>
              <a:rPr lang="zh-CN" altLang="en-US" sz="2400" dirty="0"/>
              <a:t>（</a:t>
            </a:r>
            <a:r>
              <a:rPr lang="zh-CN" altLang="zh-CN" sz="2400" dirty="0"/>
              <a:t>对话</a:t>
            </a:r>
            <a:r>
              <a:rPr lang="zh-CN" altLang="en-US" sz="2400" dirty="0"/>
              <a:t>）</a:t>
            </a:r>
            <a:r>
              <a:rPr lang="zh-CN" altLang="zh-CN" sz="2400" dirty="0"/>
              <a:t>的基本工具</a:t>
            </a:r>
            <a:r>
              <a:rPr lang="zh-CN" altLang="en-US" sz="2400" dirty="0"/>
              <a:t>，</a:t>
            </a:r>
            <a:r>
              <a:rPr lang="zh-CN" altLang="zh-CN" sz="2400" dirty="0"/>
              <a:t>可分为机器语言、汇编语言、高级语言</a:t>
            </a:r>
            <a:r>
              <a:rPr lang="en-US" altLang="zh-CN" sz="2400" dirty="0"/>
              <a:t>:</a:t>
            </a:r>
            <a:endParaRPr lang="zh-CN" altLang="zh-CN" sz="2400" dirty="0"/>
          </a:p>
          <a:p>
            <a:pPr algn="just">
              <a:buNone/>
            </a:pPr>
            <a:r>
              <a:rPr lang="en-US" altLang="zh-CN" sz="2400" dirty="0"/>
              <a:t>   </a:t>
            </a:r>
            <a:r>
              <a:rPr lang="zh-CN" altLang="zh-CN" sz="2400" dirty="0"/>
              <a:t>（</a:t>
            </a:r>
            <a:r>
              <a:rPr lang="en-US" altLang="zh-CN" sz="2400" dirty="0"/>
              <a:t>1</a:t>
            </a:r>
            <a:r>
              <a:rPr lang="zh-CN" altLang="zh-CN" sz="2400" dirty="0"/>
              <a:t>）机器语言（</a:t>
            </a:r>
            <a:r>
              <a:rPr lang="en-US" altLang="zh-CN" sz="2400" dirty="0"/>
              <a:t>Machine Language</a:t>
            </a:r>
            <a:r>
              <a:rPr lang="zh-CN" altLang="zh-CN" sz="2400" dirty="0"/>
              <a:t>）用二进制数表示指令和数据。它的优点是执行速度快，占用内存少。缺点是不直观，不易理解和记忆。因此编写、阅读和修改机器语言程序比较烦琐。</a:t>
            </a:r>
          </a:p>
          <a:p>
            <a:pPr algn="just">
              <a:buNone/>
            </a:pPr>
            <a:r>
              <a:rPr lang="en-US" altLang="zh-CN" sz="2400" dirty="0"/>
              <a:t>   </a:t>
            </a:r>
            <a:r>
              <a:rPr lang="zh-CN" altLang="zh-CN" sz="2400" dirty="0"/>
              <a:t>（</a:t>
            </a:r>
            <a:r>
              <a:rPr lang="en-US" altLang="zh-CN" sz="2400" dirty="0"/>
              <a:t>2</a:t>
            </a:r>
            <a:r>
              <a:rPr lang="zh-CN" altLang="zh-CN" sz="2400" dirty="0"/>
              <a:t>）汇编语言（</a:t>
            </a:r>
            <a:r>
              <a:rPr lang="en-US" altLang="zh-CN" sz="2400" dirty="0"/>
              <a:t>Assembly Language</a:t>
            </a:r>
            <a:r>
              <a:rPr lang="zh-CN" altLang="zh-CN" sz="2400" dirty="0"/>
              <a:t>）弥补了机器语言的不足，它用助记符来书写指令、地址数据，也可用符号进行表示。优点：与机器语言相比，编写、阅读和修改程序都比较方便，不易出错，且其程序的执行速度和机器语言差不多，但需要用汇编程序对其进行汇编。</a:t>
            </a:r>
            <a:endParaRPr lang="en-US" altLang="zh-CN" sz="2400" dirty="0"/>
          </a:p>
          <a:p>
            <a:pPr algn="just">
              <a:buNone/>
            </a:pPr>
            <a:r>
              <a:rPr lang="en-US" altLang="zh-CN" sz="2400" dirty="0"/>
              <a:t>   </a:t>
            </a:r>
            <a:r>
              <a:rPr lang="zh-CN" altLang="zh-CN" sz="2400" dirty="0"/>
              <a:t>（</a:t>
            </a:r>
            <a:r>
              <a:rPr lang="en-US" altLang="zh-CN" sz="2400" dirty="0"/>
              <a:t>3</a:t>
            </a:r>
            <a:r>
              <a:rPr lang="zh-CN" altLang="zh-CN" sz="2400" dirty="0"/>
              <a:t>）高级语言（</a:t>
            </a:r>
            <a:r>
              <a:rPr lang="en-US" altLang="zh-CN" sz="2400" dirty="0"/>
              <a:t>High Level Language</a:t>
            </a:r>
            <a:r>
              <a:rPr lang="zh-CN" altLang="zh-CN" sz="2400" dirty="0"/>
              <a:t>）不针对具体的计算机，通用性强。</a:t>
            </a:r>
            <a:endParaRPr lang="zh-CN" altLang="en-US" sz="2400" dirty="0"/>
          </a:p>
        </p:txBody>
      </p:sp>
    </p:spTree>
  </p:cSld>
  <p:clrMapOvr>
    <a:masterClrMapping/>
  </p:clrMapOvr>
  <p:transition spd="med">
    <p:random/>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89738"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C000"/>
                </a:solidFill>
                <a:effectLst>
                  <a:outerShdw blurRad="38100" dist="38100" dir="2700000" algn="tl">
                    <a:srgbClr val="000000"/>
                  </a:outerShdw>
                </a:effectLst>
                <a:uLnTx/>
                <a:uFillTx/>
                <a:latin typeface="+mj-lt"/>
                <a:ea typeface="+mj-ea"/>
                <a:cs typeface="+mj-cs"/>
              </a:rPr>
              <a:t>4. 2  </a:t>
            </a:r>
            <a:r>
              <a:rPr kumimoji="1" lang="zh-CN" altLang="zh-CN" sz="3200" b="1" i="0" u="none" strike="noStrike" kern="0" cap="none" spc="0" normalizeH="0" baseline="0" noProof="0" dirty="0">
                <a:ln>
                  <a:noFill/>
                </a:ln>
                <a:solidFill>
                  <a:srgbClr val="FFC000"/>
                </a:solidFill>
                <a:effectLst>
                  <a:outerShdw blurRad="38100" dist="38100" dir="2700000" algn="tl">
                    <a:srgbClr val="000000"/>
                  </a:outerShdw>
                </a:effectLst>
                <a:uLnTx/>
                <a:uFillTx/>
                <a:latin typeface="+mj-lt"/>
                <a:ea typeface="+mj-ea"/>
                <a:cs typeface="+mj-cs"/>
              </a:rPr>
              <a:t>汇编语言源程序的结构及组成</a:t>
            </a:r>
          </a:p>
        </p:txBody>
      </p:sp>
      <p:sp>
        <p:nvSpPr>
          <p:cNvPr id="1126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1267" name="Rectangle 11"/>
          <p:cNvSpPr>
            <a:spLocks noGrp="1"/>
          </p:cNvSpPr>
          <p:nvPr>
            <p:ph idx="1"/>
          </p:nvPr>
        </p:nvSpPr>
        <p:spPr>
          <a:xfrm>
            <a:off x="1250950" y="2763838"/>
            <a:ext cx="6364288" cy="2155825"/>
          </a:xfrm>
          <a:ln/>
        </p:spPr>
        <p:txBody>
          <a:bodyPr wrap="square" lIns="92075" tIns="46038" rIns="92075" bIns="46038" anchor="t" anchorCtr="0"/>
          <a:lstStyle/>
          <a:p>
            <a:pPr eaLnBrk="1" hangingPunct="1">
              <a:buNone/>
            </a:pPr>
            <a:r>
              <a:rPr lang="zh-CN" altLang="en-US" dirty="0">
                <a:solidFill>
                  <a:srgbClr val="66FFCC"/>
                </a:solidFill>
              </a:rPr>
              <a:t>4.2.1  源程序的基本结构</a:t>
            </a:r>
          </a:p>
          <a:p>
            <a:pPr eaLnBrk="1" hangingPunct="1"/>
            <a:endParaRPr lang="zh-CN" altLang="en-US" dirty="0">
              <a:solidFill>
                <a:srgbClr val="66FFCC"/>
              </a:solidFill>
            </a:endParaRPr>
          </a:p>
          <a:p>
            <a:pPr eaLnBrk="1" hangingPunct="1">
              <a:buNone/>
            </a:pPr>
            <a:r>
              <a:rPr lang="zh-CN" altLang="en-US" dirty="0">
                <a:solidFill>
                  <a:srgbClr val="66FFCC"/>
                </a:solidFill>
              </a:rPr>
              <a:t>4.2.2  汇编语言语句的类型和组成</a:t>
            </a:r>
          </a:p>
        </p:txBody>
      </p:sp>
    </p:spTree>
  </p:cSld>
  <p:clrMapOvr>
    <a:masterClrMapping/>
  </p:clrMapOvr>
  <p:transition spd="med">
    <p:random/>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5983288"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4.2.1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源程序的基本结构</a:t>
            </a:r>
          </a:p>
        </p:txBody>
      </p:sp>
      <p:sp>
        <p:nvSpPr>
          <p:cNvPr id="1331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3315" name="Rectangle 11"/>
          <p:cNvSpPr>
            <a:spLocks noGrp="1"/>
          </p:cNvSpPr>
          <p:nvPr>
            <p:ph idx="1"/>
          </p:nvPr>
        </p:nvSpPr>
        <p:spPr>
          <a:xfrm>
            <a:off x="311150" y="1455738"/>
            <a:ext cx="8256588" cy="4999037"/>
          </a:xfrm>
          <a:ln/>
        </p:spPr>
        <p:txBody>
          <a:bodyPr wrap="square" lIns="92075" tIns="46038" rIns="92075" bIns="46038" anchor="t" anchorCtr="0"/>
          <a:lstStyle/>
          <a:p>
            <a:pPr algn="just" eaLnBrk="1" hangingPunct="1">
              <a:buNone/>
            </a:pPr>
            <a:r>
              <a:rPr lang="en-US" altLang="zh-CN" sz="2400" dirty="0"/>
              <a:t>             </a:t>
            </a:r>
            <a:r>
              <a:rPr lang="zh-CN" altLang="zh-CN" sz="2400" dirty="0"/>
              <a:t>一个汇编语言源程序是由若干个程序段组成的，这些程序段只能是数据段、堆栈段、附加段中的一个、若干个或者全部。在这些段中，代码段是必不可少的。每个段以</a:t>
            </a:r>
            <a:r>
              <a:rPr lang="en-US" altLang="zh-CN" sz="2400" dirty="0"/>
              <a:t>Segment</a:t>
            </a:r>
            <a:r>
              <a:rPr lang="zh-CN" altLang="zh-CN" sz="2400" dirty="0"/>
              <a:t>语句开始，以</a:t>
            </a:r>
            <a:r>
              <a:rPr lang="en-US" altLang="zh-CN" sz="2400" dirty="0"/>
              <a:t>Ends</a:t>
            </a:r>
            <a:r>
              <a:rPr lang="zh-CN" altLang="zh-CN" sz="2400" dirty="0"/>
              <a:t>语句结束。整个源程序的结束用</a:t>
            </a:r>
            <a:r>
              <a:rPr lang="en-US" altLang="zh-CN" sz="2400" dirty="0"/>
              <a:t>End</a:t>
            </a:r>
            <a:r>
              <a:rPr lang="zh-CN" altLang="zh-CN" sz="2400" dirty="0"/>
              <a:t>语句。</a:t>
            </a:r>
            <a:endParaRPr lang="en-US" altLang="zh-CN" sz="2400" dirty="0"/>
          </a:p>
          <a:p>
            <a:pPr algn="just" eaLnBrk="1" hangingPunct="1">
              <a:buNone/>
            </a:pPr>
            <a:r>
              <a:rPr lang="en-US" altLang="zh-CN" sz="2400" dirty="0"/>
              <a:t>             </a:t>
            </a:r>
            <a:r>
              <a:rPr lang="zh-CN" altLang="zh-CN" sz="2400" dirty="0"/>
              <a:t>汇编语言源程序中的段与前面讨论的</a:t>
            </a:r>
            <a:r>
              <a:rPr lang="en-US" altLang="zh-CN" sz="2400" dirty="0"/>
              <a:t>CPU</a:t>
            </a:r>
            <a:r>
              <a:rPr lang="zh-CN" altLang="zh-CN" sz="2400" dirty="0"/>
              <a:t>管理的存储器的段既有联系又在概念上有所区别。由前述可知，微处理器对存储器的管理是分段进行的，因而在汇编语言程序中也要求分段组织指令、数据和堆栈等，以便将源程序汇编成目标程序后可以分别装入存储器相应的段中。以</a:t>
            </a:r>
            <a:r>
              <a:rPr lang="en-US" altLang="zh-CN" sz="2400" dirty="0"/>
              <a:t>8086/8088</a:t>
            </a:r>
            <a:r>
              <a:rPr lang="zh-CN" altLang="zh-CN" sz="2400" dirty="0"/>
              <a:t>微处理器为例，它有四个段寄存器（</a:t>
            </a:r>
            <a:r>
              <a:rPr lang="en-US" altLang="zh-CN" sz="2400" dirty="0"/>
              <a:t>DS</a:t>
            </a:r>
            <a:r>
              <a:rPr lang="zh-CN" altLang="zh-CN" sz="2400" dirty="0"/>
              <a:t>、</a:t>
            </a:r>
            <a:r>
              <a:rPr lang="en-US" altLang="zh-CN" sz="2400" dirty="0"/>
              <a:t>ES</a:t>
            </a:r>
            <a:r>
              <a:rPr lang="zh-CN" altLang="zh-CN" sz="2400" dirty="0"/>
              <a:t>、</a:t>
            </a:r>
            <a:r>
              <a:rPr lang="en-US" altLang="zh-CN" sz="2400" dirty="0"/>
              <a:t>SS</a:t>
            </a:r>
            <a:r>
              <a:rPr lang="zh-CN" altLang="zh-CN" sz="2400" dirty="0"/>
              <a:t>和</a:t>
            </a:r>
            <a:r>
              <a:rPr lang="en-US" altLang="zh-CN" sz="2400" dirty="0"/>
              <a:t>CS</a:t>
            </a:r>
            <a:r>
              <a:rPr lang="zh-CN" altLang="zh-CN" sz="2400" dirty="0"/>
              <a:t>），因此</a:t>
            </a:r>
            <a:r>
              <a:rPr lang="en-US" altLang="zh-CN" sz="2400" dirty="0"/>
              <a:t>CPU</a:t>
            </a:r>
            <a:r>
              <a:rPr lang="zh-CN" altLang="zh-CN" sz="2400" dirty="0"/>
              <a:t>对存储器按照四个物理段进行管理，即数据段、附加段、堆栈段和代码段。</a:t>
            </a:r>
            <a:endParaRPr lang="zh-CN" altLang="en-US" sz="2400" dirty="0"/>
          </a:p>
        </p:txBody>
      </p:sp>
    </p:spTree>
  </p:cSld>
  <p:clrMapOvr>
    <a:masterClrMapping/>
  </p:clrMapOvr>
  <p:transition spd="med">
    <p:random/>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1"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5362" name="Rectangle 11"/>
          <p:cNvSpPr>
            <a:spLocks noGrp="1"/>
          </p:cNvSpPr>
          <p:nvPr>
            <p:ph idx="1"/>
          </p:nvPr>
        </p:nvSpPr>
        <p:spPr>
          <a:xfrm>
            <a:off x="1330325" y="352425"/>
            <a:ext cx="6294438" cy="6408738"/>
          </a:xfrm>
          <a:ln/>
        </p:spPr>
        <p:txBody>
          <a:bodyPr wrap="square" lIns="92075" tIns="46038" rIns="92075" bIns="46038" anchor="t" anchorCtr="0"/>
          <a:lstStyle/>
          <a:p>
            <a:pPr>
              <a:buNone/>
            </a:pPr>
            <a:r>
              <a:rPr lang="en-US" altLang="zh-CN" sz="1400" dirty="0"/>
              <a:t>DATA  SEGMENT            		;</a:t>
            </a:r>
            <a:r>
              <a:rPr lang="zh-CN" altLang="zh-CN" sz="1400" dirty="0"/>
              <a:t>定义数据段</a:t>
            </a:r>
          </a:p>
          <a:p>
            <a:pPr>
              <a:buNone/>
            </a:pPr>
            <a:r>
              <a:rPr lang="en-US" altLang="zh-CN" sz="1400" dirty="0"/>
              <a:t>      ARRAY  DB   0, 1, 2, 3, 4, 5, 6 	;</a:t>
            </a:r>
            <a:r>
              <a:rPr lang="zh-CN" altLang="zh-CN" sz="1400" dirty="0"/>
              <a:t>变量定义</a:t>
            </a:r>
          </a:p>
          <a:p>
            <a:pPr>
              <a:buNone/>
            </a:pPr>
            <a:r>
              <a:rPr lang="en-US" altLang="zh-CN" sz="1400" dirty="0"/>
              <a:t>DATA  ENDS</a:t>
            </a:r>
            <a:endParaRPr lang="zh-CN" altLang="zh-CN" sz="1400" dirty="0"/>
          </a:p>
          <a:p>
            <a:pPr>
              <a:buNone/>
            </a:pPr>
            <a:r>
              <a:rPr lang="en-US" altLang="zh-CN" sz="1400" dirty="0"/>
              <a:t>SSEG  SEGMENT  STACK      	;</a:t>
            </a:r>
            <a:r>
              <a:rPr lang="zh-CN" altLang="zh-CN" sz="1400" dirty="0"/>
              <a:t>定义堆栈段</a:t>
            </a:r>
          </a:p>
          <a:p>
            <a:pPr>
              <a:buNone/>
            </a:pPr>
            <a:r>
              <a:rPr lang="en-US" altLang="zh-CN" sz="1400" dirty="0"/>
              <a:t>     DB   100 DUP ( ? )     	                        ;</a:t>
            </a:r>
            <a:r>
              <a:rPr lang="zh-CN" altLang="zh-CN" sz="1400" dirty="0"/>
              <a:t>开辟堆栈空间</a:t>
            </a:r>
          </a:p>
          <a:p>
            <a:pPr>
              <a:buNone/>
            </a:pPr>
            <a:r>
              <a:rPr lang="en-US" altLang="zh-CN" sz="1400" dirty="0"/>
              <a:t>SSEG  ENDS</a:t>
            </a:r>
            <a:endParaRPr lang="zh-CN" altLang="zh-CN" sz="1400" dirty="0"/>
          </a:p>
          <a:p>
            <a:pPr>
              <a:buNone/>
            </a:pPr>
            <a:r>
              <a:rPr lang="en-US" altLang="zh-CN" sz="1400" dirty="0"/>
              <a:t>ESEG  SEGMENT              		;</a:t>
            </a:r>
            <a:r>
              <a:rPr lang="zh-CN" altLang="zh-CN" sz="1400" dirty="0"/>
              <a:t>定义附加段</a:t>
            </a:r>
          </a:p>
          <a:p>
            <a:pPr>
              <a:buNone/>
            </a:pPr>
            <a:r>
              <a:rPr lang="en-US" altLang="zh-CN" sz="1400" dirty="0"/>
              <a:t>     NUM    DB   ‘Hello World!’  	;</a:t>
            </a:r>
            <a:r>
              <a:rPr lang="zh-CN" altLang="zh-CN" sz="1400" dirty="0"/>
              <a:t>字符串定义</a:t>
            </a:r>
          </a:p>
          <a:p>
            <a:pPr>
              <a:buNone/>
            </a:pPr>
            <a:r>
              <a:rPr lang="en-US" altLang="zh-CN" sz="1400" dirty="0"/>
              <a:t>ESEG  ENDS</a:t>
            </a:r>
            <a:endParaRPr lang="zh-CN" altLang="zh-CN" sz="1400" dirty="0"/>
          </a:p>
          <a:p>
            <a:pPr>
              <a:buNone/>
            </a:pPr>
            <a:r>
              <a:rPr lang="en-US" altLang="zh-CN" sz="1400" dirty="0"/>
              <a:t>CODE  SEGMENT              		;</a:t>
            </a:r>
            <a:r>
              <a:rPr lang="zh-CN" altLang="zh-CN" sz="1400" dirty="0"/>
              <a:t>定义代码段</a:t>
            </a:r>
          </a:p>
          <a:p>
            <a:pPr>
              <a:buNone/>
            </a:pPr>
            <a:r>
              <a:rPr lang="en-US" altLang="zh-CN" sz="1400" dirty="0"/>
              <a:t>      ASSUME  CS</a:t>
            </a:r>
            <a:r>
              <a:rPr lang="zh-CN" altLang="zh-CN" sz="1400" dirty="0"/>
              <a:t>：</a:t>
            </a:r>
            <a:r>
              <a:rPr lang="en-US" altLang="zh-CN" sz="1400" dirty="0"/>
              <a:t>CODE</a:t>
            </a:r>
            <a:r>
              <a:rPr lang="zh-CN" altLang="zh-CN" sz="1400" dirty="0"/>
              <a:t>，</a:t>
            </a:r>
            <a:r>
              <a:rPr lang="en-US" altLang="zh-CN" sz="1400" dirty="0"/>
              <a:t>DS</a:t>
            </a:r>
            <a:r>
              <a:rPr lang="zh-CN" altLang="zh-CN" sz="1400" dirty="0"/>
              <a:t>：</a:t>
            </a:r>
            <a:r>
              <a:rPr lang="en-US" altLang="zh-CN" sz="1400" dirty="0"/>
              <a:t>DATA</a:t>
            </a:r>
            <a:r>
              <a:rPr lang="zh-CN" altLang="zh-CN" sz="1400" dirty="0"/>
              <a:t>，</a:t>
            </a:r>
            <a:r>
              <a:rPr lang="en-US" altLang="zh-CN" sz="1400" dirty="0"/>
              <a:t>SS</a:t>
            </a:r>
            <a:r>
              <a:rPr lang="zh-CN" altLang="zh-CN" sz="1400" dirty="0"/>
              <a:t>：</a:t>
            </a:r>
            <a:r>
              <a:rPr lang="en-US" altLang="zh-CN" sz="1400" dirty="0"/>
              <a:t>SSEG</a:t>
            </a:r>
            <a:r>
              <a:rPr lang="zh-CN" altLang="zh-CN" sz="1400" dirty="0"/>
              <a:t>，</a:t>
            </a:r>
            <a:r>
              <a:rPr lang="en-US" altLang="zh-CN" sz="1400" dirty="0"/>
              <a:t>ES</a:t>
            </a:r>
            <a:r>
              <a:rPr lang="zh-CN" altLang="zh-CN" sz="1400" dirty="0"/>
              <a:t>：</a:t>
            </a:r>
            <a:r>
              <a:rPr lang="en-US" altLang="zh-CN" sz="1400" dirty="0"/>
              <a:t>ESEG</a:t>
            </a:r>
            <a:endParaRPr lang="zh-CN" altLang="zh-CN" sz="1400" dirty="0"/>
          </a:p>
          <a:p>
            <a:pPr>
              <a:buNone/>
            </a:pPr>
            <a:r>
              <a:rPr lang="en-US" altLang="zh-CN" sz="1400" dirty="0"/>
              <a:t>START</a:t>
            </a:r>
            <a:r>
              <a:rPr lang="zh-CN" altLang="zh-CN" sz="1400" dirty="0"/>
              <a:t>：</a:t>
            </a:r>
            <a:r>
              <a:rPr lang="en-US" altLang="zh-CN" sz="1400" dirty="0"/>
              <a:t>MOV    AX</a:t>
            </a:r>
            <a:r>
              <a:rPr lang="zh-CN" altLang="zh-CN" sz="1400" dirty="0"/>
              <a:t>，</a:t>
            </a:r>
            <a:r>
              <a:rPr lang="en-US" altLang="zh-CN" sz="1400" dirty="0"/>
              <a:t>DATA    	;</a:t>
            </a:r>
            <a:r>
              <a:rPr lang="zh-CN" altLang="zh-CN" sz="1400" dirty="0"/>
              <a:t>初始化数据段</a:t>
            </a:r>
          </a:p>
          <a:p>
            <a:pPr>
              <a:buNone/>
            </a:pPr>
            <a:r>
              <a:rPr lang="en-US" altLang="zh-CN" sz="1400" dirty="0"/>
              <a:t>                 MOV    DS</a:t>
            </a:r>
            <a:r>
              <a:rPr lang="zh-CN" altLang="zh-CN" sz="1400" dirty="0"/>
              <a:t>，</a:t>
            </a:r>
            <a:r>
              <a:rPr lang="en-US" altLang="zh-CN" sz="1400" dirty="0"/>
              <a:t>AX</a:t>
            </a:r>
            <a:endParaRPr lang="zh-CN" altLang="zh-CN" sz="1400" dirty="0"/>
          </a:p>
          <a:p>
            <a:pPr>
              <a:buNone/>
            </a:pPr>
            <a:r>
              <a:rPr lang="en-US" altLang="zh-CN" sz="1400" dirty="0"/>
              <a:t>                 MOV    AX</a:t>
            </a:r>
            <a:r>
              <a:rPr lang="zh-CN" altLang="zh-CN" sz="1400" dirty="0"/>
              <a:t>，</a:t>
            </a:r>
            <a:r>
              <a:rPr lang="en-US" altLang="zh-CN" sz="1400" dirty="0"/>
              <a:t>SSEG    	;</a:t>
            </a:r>
            <a:r>
              <a:rPr lang="zh-CN" altLang="zh-CN" sz="1400" dirty="0"/>
              <a:t>初始化堆栈段</a:t>
            </a:r>
          </a:p>
          <a:p>
            <a:pPr>
              <a:buNone/>
            </a:pPr>
            <a:r>
              <a:rPr lang="en-US" altLang="zh-CN" sz="1400" dirty="0"/>
              <a:t>                 MOV    SS</a:t>
            </a:r>
            <a:r>
              <a:rPr lang="zh-CN" altLang="zh-CN" sz="1400" dirty="0"/>
              <a:t>，</a:t>
            </a:r>
            <a:r>
              <a:rPr lang="en-US" altLang="zh-CN" sz="1400" dirty="0"/>
              <a:t>AX</a:t>
            </a:r>
            <a:endParaRPr lang="zh-CN" altLang="zh-CN" sz="1400" dirty="0"/>
          </a:p>
          <a:p>
            <a:pPr>
              <a:buNone/>
            </a:pPr>
            <a:r>
              <a:rPr lang="en-US" altLang="zh-CN" sz="1400" dirty="0"/>
              <a:t>                 MOV    AX</a:t>
            </a:r>
            <a:r>
              <a:rPr lang="zh-CN" altLang="zh-CN" sz="1400" dirty="0"/>
              <a:t>，</a:t>
            </a:r>
            <a:r>
              <a:rPr lang="en-US" altLang="zh-CN" sz="1400" dirty="0"/>
              <a:t>ESEG    	;</a:t>
            </a:r>
            <a:r>
              <a:rPr lang="zh-CN" altLang="zh-CN" sz="1400" dirty="0"/>
              <a:t>初始化附加段</a:t>
            </a:r>
          </a:p>
          <a:p>
            <a:pPr>
              <a:buNone/>
            </a:pPr>
            <a:r>
              <a:rPr lang="en-US" altLang="zh-CN" sz="1400" dirty="0"/>
              <a:t>                  MOV    ES</a:t>
            </a:r>
            <a:r>
              <a:rPr lang="zh-CN" altLang="zh-CN" sz="1400" dirty="0"/>
              <a:t>，</a:t>
            </a:r>
            <a:r>
              <a:rPr lang="en-US" altLang="zh-CN" sz="1400" dirty="0"/>
              <a:t>AX</a:t>
            </a:r>
            <a:endParaRPr lang="zh-CN" altLang="zh-CN" sz="1400" dirty="0"/>
          </a:p>
          <a:p>
            <a:pPr>
              <a:buNone/>
            </a:pPr>
            <a:r>
              <a:rPr lang="en-US" altLang="zh-CN" sz="1400" dirty="0"/>
              <a:t>                  </a:t>
            </a:r>
            <a:r>
              <a:rPr lang="zh-CN" altLang="zh-CN" sz="1400" dirty="0"/>
              <a:t>……</a:t>
            </a:r>
          </a:p>
          <a:p>
            <a:pPr>
              <a:buNone/>
            </a:pPr>
            <a:r>
              <a:rPr lang="en-US" altLang="zh-CN" sz="1400" dirty="0"/>
              <a:t>                 &lt;</a:t>
            </a:r>
            <a:r>
              <a:rPr lang="zh-CN" altLang="zh-CN" sz="1400" dirty="0"/>
              <a:t>伪指令语句系列</a:t>
            </a:r>
            <a:r>
              <a:rPr lang="en-US" altLang="zh-CN" sz="1400" dirty="0"/>
              <a:t>&gt;</a:t>
            </a:r>
            <a:endParaRPr lang="zh-CN" altLang="zh-CN" sz="1400" dirty="0"/>
          </a:p>
          <a:p>
            <a:pPr>
              <a:buNone/>
            </a:pPr>
            <a:r>
              <a:rPr lang="en-US" altLang="zh-CN" sz="1400" dirty="0"/>
              <a:t>                  </a:t>
            </a:r>
            <a:r>
              <a:rPr lang="zh-CN" altLang="zh-CN" sz="1400" dirty="0"/>
              <a:t>……</a:t>
            </a:r>
          </a:p>
          <a:p>
            <a:pPr>
              <a:buNone/>
            </a:pPr>
            <a:r>
              <a:rPr lang="en-US" altLang="zh-CN" sz="1400" dirty="0"/>
              <a:t>                  MOV    AH</a:t>
            </a:r>
            <a:r>
              <a:rPr lang="zh-CN" altLang="zh-CN" sz="1400" dirty="0"/>
              <a:t>，</a:t>
            </a:r>
            <a:r>
              <a:rPr lang="en-US" altLang="zh-CN" sz="1400" dirty="0"/>
              <a:t>4CH      	;</a:t>
            </a:r>
            <a:r>
              <a:rPr lang="zh-CN" altLang="zh-CN" sz="1400" dirty="0"/>
              <a:t>返回操作系统</a:t>
            </a:r>
          </a:p>
          <a:p>
            <a:pPr>
              <a:buNone/>
            </a:pPr>
            <a:r>
              <a:rPr lang="en-US" altLang="zh-CN" sz="1400" dirty="0"/>
              <a:t>                  INT     21H</a:t>
            </a:r>
            <a:endParaRPr lang="zh-CN" altLang="zh-CN" sz="1400" dirty="0"/>
          </a:p>
          <a:p>
            <a:pPr>
              <a:buNone/>
            </a:pPr>
            <a:r>
              <a:rPr lang="en-US" altLang="zh-CN" sz="1400" dirty="0"/>
              <a:t>CODE  ENDS</a:t>
            </a:r>
            <a:endParaRPr lang="zh-CN" altLang="zh-CN" sz="1400" dirty="0"/>
          </a:p>
          <a:p>
            <a:pPr>
              <a:buNone/>
            </a:pPr>
            <a:r>
              <a:rPr lang="en-US" altLang="zh-CN" sz="1400" dirty="0"/>
              <a:t>END    START</a:t>
            </a:r>
            <a:endParaRPr lang="zh-CN" altLang="en-US" sz="1400" dirty="0"/>
          </a:p>
        </p:txBody>
      </p:sp>
    </p:spTree>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5983288"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4.2.1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源程序的基本结构</a:t>
            </a:r>
          </a:p>
        </p:txBody>
      </p:sp>
      <p:sp>
        <p:nvSpPr>
          <p:cNvPr id="17410"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7411" name="Rectangle 11"/>
          <p:cNvSpPr>
            <a:spLocks noGrp="1"/>
          </p:cNvSpPr>
          <p:nvPr>
            <p:ph idx="1"/>
          </p:nvPr>
        </p:nvSpPr>
        <p:spPr>
          <a:xfrm>
            <a:off x="1393825" y="1330325"/>
            <a:ext cx="7750175" cy="5403850"/>
          </a:xfrm>
          <a:ln/>
        </p:spPr>
        <p:txBody>
          <a:bodyPr wrap="square" lIns="92075" tIns="46038" rIns="92075" bIns="46038" anchor="t" anchorCtr="0"/>
          <a:lstStyle/>
          <a:p>
            <a:pPr>
              <a:buNone/>
            </a:pPr>
            <a:r>
              <a:rPr lang="zh-CN" altLang="zh-CN" sz="2400" dirty="0">
                <a:solidFill>
                  <a:srgbClr val="FF3300"/>
                </a:solidFill>
              </a:rPr>
              <a:t>【例</a:t>
            </a:r>
            <a:r>
              <a:rPr lang="en-US" altLang="zh-CN" sz="2400" dirty="0">
                <a:solidFill>
                  <a:srgbClr val="FF3300"/>
                </a:solidFill>
              </a:rPr>
              <a:t>4.1</a:t>
            </a:r>
            <a:r>
              <a:rPr lang="zh-CN" altLang="zh-CN" sz="2400" dirty="0">
                <a:solidFill>
                  <a:srgbClr val="FF3300"/>
                </a:solidFill>
              </a:rPr>
              <a:t>】</a:t>
            </a:r>
            <a:r>
              <a:rPr lang="zh-CN" altLang="zh-CN" sz="2400" dirty="0"/>
              <a:t>实现两个十进制数求和的源程序。</a:t>
            </a:r>
            <a:endParaRPr lang="en-US" altLang="zh-CN" sz="2400" dirty="0"/>
          </a:p>
          <a:p>
            <a:pPr>
              <a:buNone/>
            </a:pPr>
            <a:endParaRPr lang="en-US" altLang="zh-CN" sz="1400" dirty="0"/>
          </a:p>
          <a:p>
            <a:pPr>
              <a:buNone/>
            </a:pPr>
            <a:r>
              <a:rPr lang="en-US" altLang="zh-CN" sz="1400" dirty="0"/>
              <a:t>DATA   SEGMENT           		;</a:t>
            </a:r>
            <a:r>
              <a:rPr lang="zh-CN" altLang="zh-CN" sz="1400" dirty="0"/>
              <a:t>数据段开始</a:t>
            </a:r>
          </a:p>
          <a:p>
            <a:pPr>
              <a:buNone/>
            </a:pPr>
            <a:r>
              <a:rPr lang="en-US" altLang="zh-CN" sz="1400" dirty="0"/>
              <a:t>     X       DB    6          			         ;</a:t>
            </a:r>
            <a:r>
              <a:rPr lang="zh-CN" altLang="zh-CN" sz="1400" dirty="0"/>
              <a:t>定义字节变量</a:t>
            </a:r>
          </a:p>
          <a:p>
            <a:pPr>
              <a:buNone/>
            </a:pPr>
            <a:r>
              <a:rPr lang="en-US" altLang="zh-CN" sz="1400" dirty="0"/>
              <a:t>     Y       DB    126    </a:t>
            </a:r>
            <a:endParaRPr lang="zh-CN" altLang="zh-CN" sz="1400" dirty="0"/>
          </a:p>
          <a:p>
            <a:pPr>
              <a:buNone/>
            </a:pPr>
            <a:r>
              <a:rPr lang="en-US" altLang="zh-CN" sz="1400" dirty="0"/>
              <a:t>  SUM    DB    </a:t>
            </a:r>
            <a:r>
              <a:rPr lang="zh-CN" altLang="zh-CN" sz="1400" dirty="0"/>
              <a:t>？</a:t>
            </a:r>
            <a:r>
              <a:rPr lang="en-US" altLang="zh-CN" sz="1400" dirty="0"/>
              <a:t>                  			;</a:t>
            </a:r>
            <a:r>
              <a:rPr lang="zh-CN" altLang="zh-CN" sz="1400" dirty="0"/>
              <a:t>定义字节存储空间</a:t>
            </a:r>
          </a:p>
          <a:p>
            <a:pPr>
              <a:buNone/>
            </a:pPr>
            <a:r>
              <a:rPr lang="en-US" altLang="zh-CN" sz="1400" dirty="0"/>
              <a:t>DATA   ENDS               			      ;</a:t>
            </a:r>
            <a:r>
              <a:rPr lang="zh-CN" altLang="zh-CN" sz="1400" dirty="0"/>
              <a:t>数据段结束</a:t>
            </a:r>
          </a:p>
          <a:p>
            <a:pPr>
              <a:buNone/>
            </a:pPr>
            <a:r>
              <a:rPr lang="en-US" altLang="zh-CN" sz="1400" dirty="0"/>
              <a:t>CODE	SEGMENT               		;</a:t>
            </a:r>
            <a:r>
              <a:rPr lang="zh-CN" altLang="zh-CN" sz="1400" dirty="0"/>
              <a:t>代码段开始</a:t>
            </a:r>
          </a:p>
          <a:p>
            <a:pPr>
              <a:buNone/>
            </a:pPr>
            <a:r>
              <a:rPr lang="en-US" altLang="zh-CN" sz="1400" dirty="0"/>
              <a:t>  ASSUME  CS</a:t>
            </a:r>
            <a:r>
              <a:rPr lang="zh-CN" altLang="zh-CN" sz="1400" dirty="0"/>
              <a:t>：</a:t>
            </a:r>
            <a:r>
              <a:rPr lang="en-US" altLang="zh-CN" sz="1400" dirty="0"/>
              <a:t>CODE</a:t>
            </a:r>
            <a:r>
              <a:rPr lang="zh-CN" altLang="zh-CN" sz="1400" dirty="0"/>
              <a:t>，</a:t>
            </a:r>
            <a:r>
              <a:rPr lang="en-US" altLang="zh-CN" sz="1400" dirty="0"/>
              <a:t>DS</a:t>
            </a:r>
            <a:r>
              <a:rPr lang="zh-CN" altLang="zh-CN" sz="1400" dirty="0"/>
              <a:t>：</a:t>
            </a:r>
            <a:r>
              <a:rPr lang="en-US" altLang="zh-CN" sz="1400" dirty="0"/>
              <a:t>DATA  	;</a:t>
            </a:r>
            <a:r>
              <a:rPr lang="zh-CN" altLang="zh-CN" sz="1400" dirty="0"/>
              <a:t>指示段与段寄存器的关系</a:t>
            </a:r>
            <a:r>
              <a:rPr lang="en-US" altLang="zh-CN" sz="1400" dirty="0"/>
              <a:t>   </a:t>
            </a:r>
            <a:endParaRPr lang="zh-CN" altLang="zh-CN" sz="1400" dirty="0"/>
          </a:p>
          <a:p>
            <a:pPr>
              <a:buNone/>
            </a:pPr>
            <a:r>
              <a:rPr lang="en-US" altLang="zh-CN" sz="1400" dirty="0"/>
              <a:t>    START</a:t>
            </a:r>
            <a:r>
              <a:rPr lang="zh-CN" altLang="zh-CN" sz="1400" dirty="0"/>
              <a:t>：</a:t>
            </a:r>
            <a:r>
              <a:rPr lang="en-US" altLang="zh-CN" sz="1400" dirty="0"/>
              <a:t>MOV   AX ,  DATA  		           ;</a:t>
            </a:r>
            <a:r>
              <a:rPr lang="zh-CN" altLang="zh-CN" sz="1400" dirty="0"/>
              <a:t>给</a:t>
            </a:r>
            <a:r>
              <a:rPr lang="en-US" altLang="zh-CN" sz="1400" dirty="0"/>
              <a:t>AX</a:t>
            </a:r>
            <a:r>
              <a:rPr lang="zh-CN" altLang="zh-CN" sz="1400" dirty="0"/>
              <a:t>赋值</a:t>
            </a:r>
          </a:p>
          <a:p>
            <a:pPr>
              <a:buNone/>
            </a:pPr>
            <a:r>
              <a:rPr lang="en-US" altLang="zh-CN" sz="1400" dirty="0"/>
              <a:t>        MOV   DS ,   AX    			                            ;</a:t>
            </a:r>
            <a:r>
              <a:rPr lang="zh-CN" altLang="zh-CN" sz="1400" dirty="0"/>
              <a:t>设置</a:t>
            </a:r>
            <a:r>
              <a:rPr lang="en-US" altLang="zh-CN" sz="1400" dirty="0"/>
              <a:t>DS</a:t>
            </a:r>
            <a:endParaRPr lang="zh-CN" altLang="zh-CN" sz="1400" dirty="0"/>
          </a:p>
          <a:p>
            <a:pPr>
              <a:buNone/>
            </a:pPr>
            <a:r>
              <a:rPr lang="en-US" altLang="zh-CN" sz="1400" dirty="0"/>
              <a:t>        MOV   AL,   X  </a:t>
            </a:r>
            <a:endParaRPr lang="zh-CN" altLang="zh-CN" sz="1400" dirty="0"/>
          </a:p>
          <a:p>
            <a:pPr>
              <a:buNone/>
            </a:pPr>
            <a:r>
              <a:rPr lang="en-US" altLang="zh-CN" sz="1400" dirty="0"/>
              <a:t>        ADD   AL ,    Y      		                             ;</a:t>
            </a:r>
            <a:r>
              <a:rPr lang="zh-CN" altLang="zh-CN" sz="1400" dirty="0"/>
              <a:t>实现</a:t>
            </a:r>
            <a:r>
              <a:rPr lang="en-US" altLang="zh-CN" sz="1400" dirty="0"/>
              <a:t>X+Y</a:t>
            </a:r>
            <a:endParaRPr lang="zh-CN" altLang="zh-CN" sz="1400" dirty="0"/>
          </a:p>
          <a:p>
            <a:pPr>
              <a:buNone/>
            </a:pPr>
            <a:r>
              <a:rPr lang="en-US" altLang="zh-CN" sz="1400" dirty="0"/>
              <a:t>        MOV  SUM ,  AL         		;</a:t>
            </a:r>
            <a:r>
              <a:rPr lang="zh-CN" altLang="zh-CN" sz="1400" dirty="0"/>
              <a:t>结果存入</a:t>
            </a:r>
            <a:r>
              <a:rPr lang="en-US" altLang="zh-CN" sz="1400" dirty="0"/>
              <a:t>SUM</a:t>
            </a:r>
            <a:r>
              <a:rPr lang="zh-CN" altLang="zh-CN" sz="1400" dirty="0"/>
              <a:t>中</a:t>
            </a:r>
          </a:p>
          <a:p>
            <a:pPr>
              <a:buNone/>
            </a:pPr>
            <a:r>
              <a:rPr lang="en-US" altLang="zh-CN" sz="1400" dirty="0"/>
              <a:t>        MOV   AH,     4CH      		;</a:t>
            </a:r>
            <a:r>
              <a:rPr lang="zh-CN" altLang="zh-CN" sz="1400" dirty="0"/>
              <a:t>设置</a:t>
            </a:r>
            <a:r>
              <a:rPr lang="en-US" altLang="zh-CN" sz="1400" dirty="0"/>
              <a:t>DOS</a:t>
            </a:r>
            <a:r>
              <a:rPr lang="zh-CN" altLang="zh-CN" sz="1400" dirty="0"/>
              <a:t>功能调用功能号</a:t>
            </a:r>
          </a:p>
          <a:p>
            <a:pPr>
              <a:buNone/>
            </a:pPr>
            <a:r>
              <a:rPr lang="en-US" altLang="zh-CN" sz="1400" dirty="0"/>
              <a:t>        INT     21H          		          ;</a:t>
            </a:r>
            <a:r>
              <a:rPr lang="zh-CN" altLang="zh-CN" sz="1400" dirty="0"/>
              <a:t>执行</a:t>
            </a:r>
            <a:r>
              <a:rPr lang="en-US" altLang="zh-CN" sz="1400" dirty="0"/>
              <a:t>DOS</a:t>
            </a:r>
            <a:r>
              <a:rPr lang="zh-CN" altLang="zh-CN" sz="1400" dirty="0"/>
              <a:t>功能调用，返回</a:t>
            </a:r>
            <a:r>
              <a:rPr lang="en-US" altLang="zh-CN" sz="1400" dirty="0"/>
              <a:t>DOS</a:t>
            </a:r>
            <a:endParaRPr lang="zh-CN" altLang="zh-CN" sz="1400" dirty="0"/>
          </a:p>
          <a:p>
            <a:pPr>
              <a:buNone/>
            </a:pPr>
            <a:r>
              <a:rPr lang="en-US" altLang="zh-CN" sz="1400" dirty="0"/>
              <a:t>CODE   ENDS                      		;</a:t>
            </a:r>
            <a:r>
              <a:rPr lang="zh-CN" altLang="zh-CN" sz="1400" dirty="0"/>
              <a:t>代码段结束</a:t>
            </a:r>
          </a:p>
          <a:p>
            <a:pPr>
              <a:buNone/>
            </a:pPr>
            <a:r>
              <a:rPr lang="en-US" altLang="zh-CN" sz="1400" dirty="0"/>
              <a:t>END  START                       			;</a:t>
            </a:r>
            <a:r>
              <a:rPr lang="zh-CN" altLang="zh-CN" sz="1400" dirty="0"/>
              <a:t>程序结束，表明源程序从</a:t>
            </a:r>
            <a:r>
              <a:rPr lang="en-US" altLang="zh-CN" sz="1400" dirty="0"/>
              <a:t>START</a:t>
            </a:r>
            <a:r>
              <a:rPr lang="zh-CN" altLang="zh-CN" sz="1400" dirty="0"/>
              <a:t>语句处开始执行</a:t>
            </a:r>
            <a:endParaRPr lang="zh-CN" altLang="en-US" sz="1400" dirty="0"/>
          </a:p>
        </p:txBody>
      </p:sp>
    </p:spTree>
  </p:cSld>
  <p:clrMapOvr>
    <a:masterClrMapping/>
  </p:clrMapOvr>
  <p:transition spd="med">
    <p:random/>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4.2.2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汇编语言语句的类型和组成</a:t>
            </a:r>
          </a:p>
        </p:txBody>
      </p:sp>
      <p:sp>
        <p:nvSpPr>
          <p:cNvPr id="19458"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9459" name="Rectangle 11"/>
          <p:cNvSpPr>
            <a:spLocks noGrp="1"/>
          </p:cNvSpPr>
          <p:nvPr>
            <p:ph idx="1"/>
          </p:nvPr>
        </p:nvSpPr>
        <p:spPr>
          <a:xfrm>
            <a:off x="79375" y="1455738"/>
            <a:ext cx="8531225" cy="5229225"/>
          </a:xfrm>
          <a:ln/>
        </p:spPr>
        <p:txBody>
          <a:bodyPr wrap="square" lIns="92075" tIns="46038" rIns="92075" bIns="46038" anchor="t" anchorCtr="0"/>
          <a:lstStyle/>
          <a:p>
            <a:pPr algn="just">
              <a:buNone/>
            </a:pPr>
            <a:r>
              <a:rPr lang="en-US" altLang="zh-CN" sz="2400" dirty="0"/>
              <a:t>             </a:t>
            </a:r>
            <a:r>
              <a:rPr lang="zh-CN" altLang="zh-CN" sz="2400" dirty="0"/>
              <a:t>总的来说，一个汇编语言源程序是由一行一行的语句组成的。汇编语言源程序中的语句主要有两种类型：指令性语句、指示性语句。汇编语句一般由以下</a:t>
            </a:r>
            <a:r>
              <a:rPr lang="en-US" altLang="zh-CN" sz="2400" dirty="0"/>
              <a:t>1</a:t>
            </a:r>
            <a:r>
              <a:rPr lang="zh-CN" altLang="zh-CN" sz="2400" dirty="0"/>
              <a:t>～</a:t>
            </a:r>
            <a:r>
              <a:rPr lang="en-US" altLang="zh-CN" sz="2400" dirty="0"/>
              <a:t>4</a:t>
            </a:r>
            <a:r>
              <a:rPr lang="zh-CN" altLang="zh-CN" sz="2400" dirty="0"/>
              <a:t>部分组成，中括号内为可选项。</a:t>
            </a:r>
          </a:p>
          <a:p>
            <a:pPr algn="just">
              <a:buNone/>
            </a:pPr>
            <a:r>
              <a:rPr lang="en-US" altLang="zh-CN" sz="2400" dirty="0">
                <a:solidFill>
                  <a:srgbClr val="FF3300"/>
                </a:solidFill>
              </a:rPr>
              <a:t>              [</a:t>
            </a:r>
            <a:r>
              <a:rPr lang="zh-CN" altLang="zh-CN" sz="2400" dirty="0">
                <a:solidFill>
                  <a:srgbClr val="FF3300"/>
                </a:solidFill>
              </a:rPr>
              <a:t>名字</a:t>
            </a:r>
            <a:r>
              <a:rPr lang="en-US" altLang="zh-CN" sz="2400" dirty="0">
                <a:solidFill>
                  <a:srgbClr val="FF3300"/>
                </a:solidFill>
              </a:rPr>
              <a:t>]   </a:t>
            </a:r>
            <a:r>
              <a:rPr lang="zh-CN" altLang="zh-CN" sz="2400" dirty="0">
                <a:solidFill>
                  <a:srgbClr val="FF3300"/>
                </a:solidFill>
              </a:rPr>
              <a:t>操作码</a:t>
            </a:r>
            <a:r>
              <a:rPr lang="en-US" altLang="zh-CN" sz="2400" dirty="0">
                <a:solidFill>
                  <a:srgbClr val="FF3300"/>
                </a:solidFill>
              </a:rPr>
              <a:t>/</a:t>
            </a:r>
            <a:r>
              <a:rPr lang="zh-CN" altLang="zh-CN" sz="2400" dirty="0">
                <a:solidFill>
                  <a:srgbClr val="FF3300"/>
                </a:solidFill>
              </a:rPr>
              <a:t>伪指令</a:t>
            </a:r>
            <a:r>
              <a:rPr lang="en-US" altLang="zh-CN" sz="2400" dirty="0">
                <a:solidFill>
                  <a:srgbClr val="FF3300"/>
                </a:solidFill>
              </a:rPr>
              <a:t>   [</a:t>
            </a:r>
            <a:r>
              <a:rPr lang="zh-CN" altLang="zh-CN" sz="2400" dirty="0">
                <a:solidFill>
                  <a:srgbClr val="FF3300"/>
                </a:solidFill>
              </a:rPr>
              <a:t>操作数</a:t>
            </a:r>
            <a:r>
              <a:rPr lang="en-US" altLang="zh-CN" sz="2400" dirty="0">
                <a:solidFill>
                  <a:srgbClr val="FF3300"/>
                </a:solidFill>
              </a:rPr>
              <a:t>][</a:t>
            </a:r>
            <a:r>
              <a:rPr lang="zh-CN" altLang="zh-CN" sz="2400" dirty="0">
                <a:solidFill>
                  <a:srgbClr val="FF3300"/>
                </a:solidFill>
              </a:rPr>
              <a:t>；注释</a:t>
            </a:r>
            <a:r>
              <a:rPr lang="en-US" altLang="zh-CN" sz="2400" dirty="0">
                <a:solidFill>
                  <a:srgbClr val="FF3300"/>
                </a:solidFill>
              </a:rPr>
              <a:t>]</a:t>
            </a:r>
            <a:endParaRPr lang="zh-CN" altLang="zh-CN" sz="2400" dirty="0">
              <a:solidFill>
                <a:srgbClr val="FF3300"/>
              </a:solidFill>
            </a:endParaRPr>
          </a:p>
          <a:p>
            <a:pPr algn="just">
              <a:buNone/>
            </a:pPr>
            <a:r>
              <a:rPr lang="en-US" altLang="zh-CN" sz="2400" dirty="0"/>
              <a:t>             </a:t>
            </a:r>
            <a:r>
              <a:rPr lang="zh-CN" altLang="zh-CN" sz="2400" dirty="0"/>
              <a:t>指令性语句简称指令语句，是能产生目标代码的语句，这些目标代码可供</a:t>
            </a:r>
            <a:r>
              <a:rPr lang="en-US" altLang="zh-CN" sz="2400" dirty="0"/>
              <a:t>CPU</a:t>
            </a:r>
            <a:r>
              <a:rPr lang="zh-CN" altLang="zh-CN" sz="2400" dirty="0"/>
              <a:t>执行并完成特定操作，主要由指令组成。</a:t>
            </a:r>
          </a:p>
          <a:p>
            <a:pPr algn="just">
              <a:buNone/>
            </a:pPr>
            <a:r>
              <a:rPr lang="en-US" altLang="zh-CN" sz="2400" dirty="0"/>
              <a:t>              </a:t>
            </a:r>
            <a:r>
              <a:rPr lang="zh-CN" altLang="zh-CN" sz="2400" dirty="0">
                <a:solidFill>
                  <a:srgbClr val="FF3300"/>
                </a:solidFill>
              </a:rPr>
              <a:t>例：</a:t>
            </a:r>
            <a:r>
              <a:rPr lang="en-US" altLang="zh-CN" sz="2400" dirty="0"/>
              <a:t>START</a:t>
            </a:r>
            <a:r>
              <a:rPr lang="zh-CN" altLang="zh-CN" sz="2400" dirty="0"/>
              <a:t>：</a:t>
            </a:r>
            <a:r>
              <a:rPr lang="en-US" altLang="zh-CN" sz="2400" dirty="0"/>
              <a:t>MOV   AX ,  DATA    </a:t>
            </a:r>
            <a:r>
              <a:rPr lang="zh-CN" altLang="zh-CN" sz="2400" dirty="0">
                <a:solidFill>
                  <a:srgbClr val="00CC00"/>
                </a:solidFill>
              </a:rPr>
              <a:t>；给</a:t>
            </a:r>
            <a:r>
              <a:rPr lang="en-US" altLang="zh-CN" sz="2400" dirty="0">
                <a:solidFill>
                  <a:srgbClr val="00CC00"/>
                </a:solidFill>
              </a:rPr>
              <a:t>AX</a:t>
            </a:r>
            <a:r>
              <a:rPr lang="zh-CN" altLang="zh-CN" sz="2400" dirty="0">
                <a:solidFill>
                  <a:srgbClr val="00CC00"/>
                </a:solidFill>
              </a:rPr>
              <a:t>赋值</a:t>
            </a:r>
          </a:p>
          <a:p>
            <a:pPr algn="just">
              <a:buNone/>
            </a:pPr>
            <a:r>
              <a:rPr lang="en-US" altLang="zh-CN" sz="2400" dirty="0"/>
              <a:t>             </a:t>
            </a:r>
            <a:r>
              <a:rPr lang="zh-CN" altLang="zh-CN" sz="2400" dirty="0"/>
              <a:t>指示性语句又称为伪操作语句，是一种不产生目标代码的语句，它仅仅在汇编过程中告诉汇编程序应如何汇编，主要由伪指令组成。</a:t>
            </a:r>
          </a:p>
          <a:p>
            <a:pPr algn="just">
              <a:buNone/>
            </a:pPr>
            <a:r>
              <a:rPr lang="en-US" altLang="zh-CN" sz="2400" dirty="0"/>
              <a:t>             </a:t>
            </a:r>
            <a:r>
              <a:rPr lang="en-US" altLang="zh-CN" sz="2400" dirty="0">
                <a:solidFill>
                  <a:srgbClr val="FF3300"/>
                </a:solidFill>
              </a:rPr>
              <a:t> </a:t>
            </a:r>
            <a:r>
              <a:rPr lang="zh-CN" altLang="zh-CN" sz="2400" dirty="0">
                <a:solidFill>
                  <a:srgbClr val="FF3300"/>
                </a:solidFill>
              </a:rPr>
              <a:t>例：</a:t>
            </a:r>
            <a:r>
              <a:rPr lang="en-US" altLang="zh-CN" sz="2400" dirty="0">
                <a:solidFill>
                  <a:srgbClr val="FF3300"/>
                </a:solidFill>
              </a:rPr>
              <a:t> </a:t>
            </a:r>
            <a:r>
              <a:rPr lang="en-US" altLang="zh-CN" sz="2400" dirty="0"/>
              <a:t>X    DB    6                 </a:t>
            </a:r>
            <a:r>
              <a:rPr lang="zh-CN" altLang="zh-CN" sz="2400" dirty="0">
                <a:solidFill>
                  <a:srgbClr val="00CC00"/>
                </a:solidFill>
              </a:rPr>
              <a:t>；定义字节变量</a:t>
            </a:r>
            <a:endParaRPr lang="zh-CN" altLang="en-US" sz="2400" dirty="0">
              <a:solidFill>
                <a:srgbClr val="00CC00"/>
              </a:solidFill>
            </a:endParaRPr>
          </a:p>
        </p:txBody>
      </p:sp>
    </p:spTree>
  </p:cSld>
  <p:clrMapOvr>
    <a:masterClrMapping/>
  </p:clrMapOvr>
  <p:transition spd="med">
    <p:random/>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4.2.2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汇编语言语句的类型和组成</a:t>
            </a:r>
          </a:p>
        </p:txBody>
      </p:sp>
      <p:sp>
        <p:nvSpPr>
          <p:cNvPr id="2150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21507" name="Rectangle 11"/>
          <p:cNvSpPr>
            <a:spLocks noGrp="1"/>
          </p:cNvSpPr>
          <p:nvPr>
            <p:ph idx="1"/>
          </p:nvPr>
        </p:nvSpPr>
        <p:spPr>
          <a:xfrm>
            <a:off x="79375" y="1425575"/>
            <a:ext cx="8572500" cy="4994275"/>
          </a:xfrm>
          <a:ln/>
        </p:spPr>
        <p:txBody>
          <a:bodyPr wrap="square" lIns="92075" tIns="46038" rIns="92075" bIns="46038" anchor="t" anchorCtr="0"/>
          <a:lstStyle/>
          <a:p>
            <a:pPr algn="just">
              <a:buNone/>
            </a:pPr>
            <a:r>
              <a:rPr lang="en-US" altLang="zh-CN" sz="2100" dirty="0"/>
              <a:t>     1</a:t>
            </a:r>
            <a:r>
              <a:rPr lang="zh-CN" altLang="zh-CN" sz="2100" dirty="0"/>
              <a:t>．名字</a:t>
            </a:r>
          </a:p>
          <a:p>
            <a:pPr algn="just">
              <a:buNone/>
            </a:pPr>
            <a:r>
              <a:rPr lang="en-US" altLang="zh-CN" sz="2100" dirty="0"/>
              <a:t>              </a:t>
            </a:r>
            <a:r>
              <a:rPr lang="zh-CN" altLang="zh-CN" sz="2100" dirty="0"/>
              <a:t>汇编语言语句的第一个组成部分是名字（</a:t>
            </a:r>
            <a:r>
              <a:rPr lang="en-US" altLang="zh-CN" sz="2100" dirty="0"/>
              <a:t>Name</a:t>
            </a:r>
            <a:r>
              <a:rPr lang="zh-CN" altLang="zh-CN" sz="2100" dirty="0"/>
              <a:t>）。变量名、常量名、段名、宏名和过程名等统称为名字。名字的命名规则如下。</a:t>
            </a:r>
            <a:endParaRPr lang="en-US" altLang="zh-CN" sz="2100" dirty="0"/>
          </a:p>
          <a:p>
            <a:pPr algn="just">
              <a:buNone/>
            </a:pPr>
            <a:r>
              <a:rPr lang="en-US" altLang="zh-CN" sz="2100" dirty="0"/>
              <a:t>     2</a:t>
            </a:r>
            <a:r>
              <a:rPr lang="zh-CN" altLang="zh-CN" sz="2100" dirty="0"/>
              <a:t>．助记符和伪操作</a:t>
            </a:r>
          </a:p>
          <a:p>
            <a:pPr algn="just">
              <a:buNone/>
            </a:pPr>
            <a:r>
              <a:rPr lang="en-US" altLang="zh-CN" sz="2100" dirty="0"/>
              <a:t>              </a:t>
            </a:r>
            <a:r>
              <a:rPr lang="zh-CN" altLang="zh-CN" sz="2100" dirty="0"/>
              <a:t>汇编语言语句的第二个组成部分是助记符或伪操作（伪指令）。指令性语句中的第二部分是</a:t>
            </a:r>
            <a:r>
              <a:rPr lang="en-US" altLang="zh-CN" sz="2100" dirty="0"/>
              <a:t>8086/8088 CPU</a:t>
            </a:r>
            <a:r>
              <a:rPr lang="zh-CN" altLang="zh-CN" sz="2100" dirty="0"/>
              <a:t>指令的助记符，共</a:t>
            </a:r>
            <a:r>
              <a:rPr lang="en-US" altLang="zh-CN" sz="2100" dirty="0"/>
              <a:t>90</a:t>
            </a:r>
            <a:r>
              <a:rPr lang="zh-CN" altLang="zh-CN" sz="2100" dirty="0"/>
              <a:t>余条。指示性语句中的第二部分是伪指令，伪指令在程序中的作用是定义变量类型、定义段及命令汇编程序结束汇编等。这些都是由汇编程序来完成的。</a:t>
            </a:r>
          </a:p>
          <a:p>
            <a:pPr algn="just">
              <a:buNone/>
            </a:pPr>
            <a:r>
              <a:rPr lang="en-US" altLang="zh-CN" sz="2100" dirty="0"/>
              <a:t>      3</a:t>
            </a:r>
            <a:r>
              <a:rPr lang="zh-CN" altLang="zh-CN" sz="2100" dirty="0"/>
              <a:t>．操作数</a:t>
            </a:r>
          </a:p>
          <a:p>
            <a:pPr algn="just">
              <a:buNone/>
            </a:pPr>
            <a:r>
              <a:rPr lang="en-US" altLang="zh-CN" sz="2100" dirty="0"/>
              <a:t>               </a:t>
            </a:r>
            <a:r>
              <a:rPr lang="zh-CN" altLang="zh-CN" sz="2100" dirty="0"/>
              <a:t>汇编语言语句中的第三个组成部分是操作数（</a:t>
            </a:r>
            <a:r>
              <a:rPr lang="en-US" altLang="zh-CN" sz="2100" dirty="0"/>
              <a:t>Operand</a:t>
            </a:r>
            <a:r>
              <a:rPr lang="zh-CN" altLang="zh-CN" sz="2100" dirty="0"/>
              <a:t>）。对于</a:t>
            </a:r>
            <a:r>
              <a:rPr lang="en-US" altLang="zh-CN" sz="2100" dirty="0"/>
              <a:t>CPU</a:t>
            </a:r>
            <a:r>
              <a:rPr lang="zh-CN" altLang="zh-CN" sz="2100" dirty="0"/>
              <a:t>指令，可能有单操作数或双操作数，也可能是无操作数，而伪指令则可能有多个操作数，当操作数不止一个时互相之间用逗号隔开。可以作为操作数的有常量、变量、标号、寄存器和表达式等。</a:t>
            </a:r>
          </a:p>
        </p:txBody>
      </p:sp>
    </p:spTree>
  </p:cSld>
  <p:clrMapOvr>
    <a:masterClrMapping/>
  </p:clrMapOvr>
  <p:transition spd="med">
    <p:random/>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4.2.2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汇编语言语句的类型和组成</a:t>
            </a:r>
          </a:p>
        </p:txBody>
      </p:sp>
      <p:sp>
        <p:nvSpPr>
          <p:cNvPr id="2355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23555" name="Rectangle 11"/>
          <p:cNvSpPr>
            <a:spLocks noGrp="1"/>
          </p:cNvSpPr>
          <p:nvPr>
            <p:ph idx="1"/>
          </p:nvPr>
        </p:nvSpPr>
        <p:spPr>
          <a:xfrm>
            <a:off x="96838" y="1322388"/>
            <a:ext cx="8488362" cy="5535612"/>
          </a:xfrm>
          <a:ln/>
        </p:spPr>
        <p:txBody>
          <a:bodyPr wrap="square" lIns="92075" tIns="46038" rIns="92075" bIns="46038" anchor="t" anchorCtr="0"/>
          <a:lstStyle/>
          <a:p>
            <a:pPr algn="just">
              <a:buNone/>
            </a:pPr>
            <a:r>
              <a:rPr lang="en-US" altLang="zh-CN" sz="2000" dirty="0"/>
              <a:t>    </a:t>
            </a:r>
            <a:r>
              <a:rPr lang="zh-CN" altLang="zh-CN" sz="2000" dirty="0"/>
              <a:t>（</a:t>
            </a:r>
            <a:r>
              <a:rPr lang="en-US" altLang="zh-CN" sz="2000" dirty="0"/>
              <a:t>1</a:t>
            </a:r>
            <a:r>
              <a:rPr lang="zh-CN" altLang="zh-CN" sz="2000" dirty="0"/>
              <a:t>）常量。</a:t>
            </a:r>
          </a:p>
          <a:p>
            <a:pPr algn="just">
              <a:buNone/>
            </a:pPr>
            <a:r>
              <a:rPr lang="en-US" altLang="zh-CN" sz="2000" dirty="0"/>
              <a:t>              </a:t>
            </a:r>
            <a:r>
              <a:rPr lang="zh-CN" altLang="zh-CN" sz="2000" dirty="0"/>
              <a:t>常量（</a:t>
            </a:r>
            <a:r>
              <a:rPr lang="en-US" altLang="zh-CN" sz="2000" dirty="0"/>
              <a:t>Constant</a:t>
            </a:r>
            <a:r>
              <a:rPr lang="zh-CN" altLang="zh-CN" sz="2000" dirty="0"/>
              <a:t>）是具有一定值的量，并且其值不能改变。汇编语言程序中的常量有数字常量、字符常量和符号常量。</a:t>
            </a:r>
            <a:endParaRPr lang="en-US" altLang="zh-CN" sz="2000" dirty="0"/>
          </a:p>
          <a:p>
            <a:pPr algn="just">
              <a:buNone/>
            </a:pPr>
            <a:r>
              <a:rPr lang="en-US" altLang="zh-CN" sz="2000" dirty="0"/>
              <a:t>    </a:t>
            </a:r>
            <a:r>
              <a:rPr lang="zh-CN" altLang="zh-CN" sz="2000" dirty="0"/>
              <a:t>（</a:t>
            </a:r>
            <a:r>
              <a:rPr lang="en-US" altLang="zh-CN" sz="2000" dirty="0"/>
              <a:t>2</a:t>
            </a:r>
            <a:r>
              <a:rPr lang="zh-CN" altLang="zh-CN" sz="2000" dirty="0"/>
              <a:t>）寄存器。</a:t>
            </a:r>
          </a:p>
          <a:p>
            <a:pPr algn="just">
              <a:buNone/>
            </a:pPr>
            <a:r>
              <a:rPr lang="en-US" altLang="zh-CN" sz="2000" dirty="0"/>
              <a:t>               8086/8088 CPU</a:t>
            </a:r>
            <a:r>
              <a:rPr lang="zh-CN" altLang="zh-CN" sz="2000" dirty="0"/>
              <a:t>中的寄存器可作为操作数。</a:t>
            </a:r>
          </a:p>
          <a:p>
            <a:pPr algn="just">
              <a:buNone/>
            </a:pPr>
            <a:r>
              <a:rPr lang="en-US" altLang="zh-CN" sz="2000" dirty="0"/>
              <a:t>    </a:t>
            </a:r>
            <a:r>
              <a:rPr lang="zh-CN" altLang="zh-CN" sz="2000" dirty="0"/>
              <a:t>（</a:t>
            </a:r>
            <a:r>
              <a:rPr lang="en-US" altLang="zh-CN" sz="2000" dirty="0"/>
              <a:t>3</a:t>
            </a:r>
            <a:r>
              <a:rPr lang="zh-CN" altLang="zh-CN" sz="2000" dirty="0"/>
              <a:t>）标号。</a:t>
            </a:r>
          </a:p>
          <a:p>
            <a:pPr algn="just">
              <a:buNone/>
            </a:pPr>
            <a:r>
              <a:rPr lang="en-US" altLang="zh-CN" sz="2000" dirty="0"/>
              <a:t>               </a:t>
            </a:r>
            <a:r>
              <a:rPr lang="zh-CN" altLang="zh-CN" sz="2000" dirty="0"/>
              <a:t>由于标号（</a:t>
            </a:r>
            <a:r>
              <a:rPr lang="en-US" altLang="zh-CN" sz="2000" dirty="0"/>
              <a:t>Label</a:t>
            </a:r>
            <a:r>
              <a:rPr lang="zh-CN" altLang="zh-CN" sz="2000" dirty="0"/>
              <a:t>）代表一条指令的符号地址，因此可作为转移指令、过程调用和循环控制等指令的操作数。</a:t>
            </a:r>
          </a:p>
          <a:p>
            <a:pPr algn="just">
              <a:buNone/>
            </a:pPr>
            <a:r>
              <a:rPr lang="en-US" altLang="zh-CN" sz="2000" dirty="0"/>
              <a:t>    </a:t>
            </a:r>
            <a:r>
              <a:rPr lang="zh-CN" altLang="zh-CN" sz="2000" dirty="0"/>
              <a:t>（</a:t>
            </a:r>
            <a:r>
              <a:rPr lang="en-US" altLang="zh-CN" sz="2000" dirty="0"/>
              <a:t>4</a:t>
            </a:r>
            <a:r>
              <a:rPr lang="zh-CN" altLang="zh-CN" sz="2000" dirty="0"/>
              <a:t>）变量。</a:t>
            </a:r>
          </a:p>
          <a:p>
            <a:pPr algn="just">
              <a:buNone/>
            </a:pPr>
            <a:r>
              <a:rPr lang="en-US" altLang="zh-CN" sz="2000" dirty="0"/>
              <a:t>               </a:t>
            </a:r>
            <a:r>
              <a:rPr lang="zh-CN" altLang="zh-CN" sz="2000" dirty="0"/>
              <a:t>变量（</a:t>
            </a:r>
            <a:r>
              <a:rPr lang="en-US" altLang="zh-CN" sz="2000" dirty="0"/>
              <a:t>Variable</a:t>
            </a:r>
            <a:r>
              <a:rPr lang="zh-CN" altLang="zh-CN" sz="2000" dirty="0"/>
              <a:t>）通过数据定义伪指令进行定义，变量代表存储器中某个数据区的名字，因此在指令中可作为存储器操作数。</a:t>
            </a:r>
          </a:p>
          <a:p>
            <a:pPr algn="just">
              <a:buNone/>
            </a:pPr>
            <a:r>
              <a:rPr lang="en-US" altLang="zh-CN" sz="2000" dirty="0"/>
              <a:t>    </a:t>
            </a:r>
            <a:r>
              <a:rPr lang="zh-CN" altLang="zh-CN" sz="2000" dirty="0"/>
              <a:t>（</a:t>
            </a:r>
            <a:r>
              <a:rPr lang="en-US" altLang="zh-CN" sz="2000" dirty="0"/>
              <a:t>5</a:t>
            </a:r>
            <a:r>
              <a:rPr lang="zh-CN" altLang="zh-CN" sz="2000" dirty="0"/>
              <a:t>）表达式。</a:t>
            </a:r>
          </a:p>
          <a:p>
            <a:pPr algn="just">
              <a:buNone/>
            </a:pPr>
            <a:r>
              <a:rPr lang="en-US" altLang="zh-CN" sz="2000" dirty="0"/>
              <a:t>               </a:t>
            </a:r>
            <a:r>
              <a:rPr lang="zh-CN" altLang="zh-CN" sz="2000" dirty="0"/>
              <a:t>表达式（</a:t>
            </a:r>
            <a:r>
              <a:rPr lang="en-US" altLang="zh-CN" sz="2000" dirty="0"/>
              <a:t>Expression</a:t>
            </a:r>
            <a:r>
              <a:rPr lang="zh-CN" altLang="zh-CN" sz="2000" dirty="0"/>
              <a:t>）按性质可分为两种：数值表达式和地址表达式。数值表达式产生一个数值结果，只有大小，没有属性。地址表达式不只是一个单纯的数值，而是一个表示存储器地址的变量或标号，它有三种属性：段、偏移量和类型</a:t>
            </a:r>
            <a:r>
              <a:rPr lang="zh-CN" altLang="en-US" sz="2000" dirty="0"/>
              <a:t>。</a:t>
            </a:r>
            <a:endParaRPr lang="zh-CN" altLang="zh-CN" sz="2000" dirty="0"/>
          </a:p>
        </p:txBody>
      </p:sp>
    </p:spTree>
  </p:cSld>
  <p:clrMapOvr>
    <a:masterClrMapping/>
  </p:clrMapOvr>
  <p:transition spd="med">
    <p:random/>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4.2.2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汇编语言语句的类型和组成</a:t>
            </a:r>
          </a:p>
        </p:txBody>
      </p:sp>
      <p:sp>
        <p:nvSpPr>
          <p:cNvPr id="25602"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25603" name="TextBox 6"/>
          <p:cNvSpPr txBox="1"/>
          <p:nvPr/>
        </p:nvSpPr>
        <p:spPr>
          <a:xfrm>
            <a:off x="390525" y="1606550"/>
            <a:ext cx="8264525" cy="4802188"/>
          </a:xfrm>
          <a:prstGeom prst="rect">
            <a:avLst/>
          </a:prstGeom>
          <a:noFill/>
          <a:ln w="9525">
            <a:noFill/>
          </a:ln>
        </p:spPr>
        <p:txBody>
          <a:bodyPr anchor="t" anchorCtr="0">
            <a:spAutoFit/>
          </a:bodyPr>
          <a:lstStyle/>
          <a:p>
            <a:pPr algn="just"/>
            <a:r>
              <a:rPr lang="zh-CN" altLang="zh-CN" sz="2000" dirty="0">
                <a:latin typeface="Times New Roman" panose="02020603050405020304" pitchFamily="18" charset="0"/>
                <a:ea typeface="宋体" panose="02010600030101010101" pitchFamily="2" charset="-122"/>
              </a:rPr>
              <a:t>表达式中常用的运算符有以下几种。</a:t>
            </a:r>
          </a:p>
          <a:p>
            <a:pPr algn="just"/>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a:t>
            </a:r>
            <a:r>
              <a:rPr lang="zh-CN" altLang="zh-CN" sz="2000" dirty="0">
                <a:latin typeface="Times New Roman" panose="02020603050405020304" pitchFamily="18" charset="0"/>
                <a:ea typeface="宋体" panose="02010600030101010101" pitchFamily="2" charset="-122"/>
              </a:rPr>
              <a:t>）算术运算符。</a:t>
            </a:r>
          </a:p>
          <a:p>
            <a:pPr algn="just"/>
            <a:r>
              <a:rPr lang="zh-CN" altLang="zh-CN" sz="2000" dirty="0">
                <a:latin typeface="Times New Roman" panose="02020603050405020304" pitchFamily="18" charset="0"/>
                <a:ea typeface="宋体" panose="02010600030101010101" pitchFamily="2" charset="-122"/>
              </a:rPr>
              <a:t>算术运算符可用于数值表达式，运算结果是一个数值。算术运算符有五种：“</a:t>
            </a:r>
            <a:r>
              <a:rPr lang="en-US" altLang="zh-CN" sz="2000" dirty="0">
                <a:latin typeface="Times New Roman" panose="02020603050405020304" pitchFamily="18" charset="0"/>
                <a:ea typeface="宋体" panose="02010600030101010101" pitchFamily="2" charset="-122"/>
              </a:rPr>
              <a:t>+</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a:t>
            </a:r>
            <a:r>
              <a:rPr lang="zh-CN" altLang="zh-CN" sz="2000" dirty="0">
                <a:latin typeface="Times New Roman" panose="02020603050405020304" pitchFamily="18" charset="0"/>
                <a:ea typeface="宋体" panose="02010600030101010101" pitchFamily="2" charset="-122"/>
              </a:rPr>
              <a:t>”和</a:t>
            </a:r>
            <a:r>
              <a:rPr lang="en-US" altLang="zh-CN" sz="2000" dirty="0">
                <a:latin typeface="Times New Roman" panose="02020603050405020304" pitchFamily="18" charset="0"/>
                <a:ea typeface="宋体" panose="02010600030101010101" pitchFamily="2" charset="-122"/>
              </a:rPr>
              <a:t>MOD</a:t>
            </a:r>
            <a:r>
              <a:rPr lang="zh-CN" altLang="zh-CN" sz="2000" dirty="0">
                <a:latin typeface="Times New Roman" panose="02020603050405020304" pitchFamily="18" charset="0"/>
                <a:ea typeface="宋体" panose="02010600030101010101" pitchFamily="2" charset="-122"/>
              </a:rPr>
              <a:t>（求余）。</a:t>
            </a:r>
            <a:r>
              <a:rPr lang="en-US" altLang="zh-CN" sz="2000" dirty="0">
                <a:latin typeface="Times New Roman" panose="02020603050405020304" pitchFamily="18" charset="0"/>
                <a:ea typeface="宋体" panose="02010600030101010101" pitchFamily="2" charset="-122"/>
              </a:rPr>
              <a:t>MOD</a:t>
            </a:r>
            <a:r>
              <a:rPr lang="zh-CN" altLang="zh-CN" sz="2000" dirty="0">
                <a:latin typeface="Times New Roman" panose="02020603050405020304" pitchFamily="18" charset="0"/>
                <a:ea typeface="宋体" panose="02010600030101010101" pitchFamily="2" charset="-122"/>
              </a:rPr>
              <a:t>操作是将两个整数相除后取余数。地址表达式中只能用“</a:t>
            </a:r>
            <a:r>
              <a:rPr lang="en-US" altLang="zh-CN" sz="2000" dirty="0">
                <a:latin typeface="Times New Roman" panose="02020603050405020304" pitchFamily="18" charset="0"/>
                <a:ea typeface="宋体" panose="02010600030101010101" pitchFamily="2" charset="-122"/>
              </a:rPr>
              <a:t>+</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a:t>
            </a:r>
            <a:r>
              <a:rPr lang="zh-CN" altLang="zh-CN" sz="2000" dirty="0">
                <a:latin typeface="Times New Roman" panose="02020603050405020304" pitchFamily="18" charset="0"/>
                <a:ea typeface="宋体" panose="02010600030101010101" pitchFamily="2" charset="-122"/>
              </a:rPr>
              <a:t>”两种运算符。</a:t>
            </a:r>
          </a:p>
          <a:p>
            <a:pPr algn="just"/>
            <a:r>
              <a:rPr lang="zh-CN" altLang="zh-CN" sz="2000" dirty="0">
                <a:latin typeface="Times New Roman" panose="02020603050405020304" pitchFamily="18" charset="0"/>
                <a:ea typeface="宋体" panose="02010600030101010101" pitchFamily="2" charset="-122"/>
              </a:rPr>
              <a:t>例：</a:t>
            </a:r>
            <a:r>
              <a:rPr lang="en-US" altLang="zh-CN" sz="2000" dirty="0">
                <a:latin typeface="Times New Roman" panose="02020603050405020304" pitchFamily="18" charset="0"/>
                <a:ea typeface="宋体" panose="02010600030101010101" pitchFamily="2" charset="-122"/>
              </a:rPr>
              <a:t>NUMBER  DB  12H, 34H, 56H, 78H</a:t>
            </a:r>
            <a:endParaRPr lang="zh-CN" altLang="zh-CN" sz="2000" dirty="0">
              <a:latin typeface="Times New Roman" panose="02020603050405020304" pitchFamily="18" charset="0"/>
              <a:ea typeface="宋体" panose="02010600030101010101" pitchFamily="2" charset="-122"/>
            </a:endParaRPr>
          </a:p>
          <a:p>
            <a:pPr algn="just"/>
            <a:r>
              <a:rPr lang="en-US" altLang="zh-CN" sz="2000" dirty="0">
                <a:latin typeface="Times New Roman" panose="02020603050405020304" pitchFamily="18" charset="0"/>
                <a:ea typeface="宋体" panose="02010600030101010101" pitchFamily="2" charset="-122"/>
              </a:rPr>
              <a:t>MOV   AX ,  NUMBER+1      </a:t>
            </a:r>
            <a:r>
              <a:rPr lang="en-US" altLang="zh-CN" sz="2000" dirty="0">
                <a:solidFill>
                  <a:srgbClr val="00CC00"/>
                </a:solidFill>
                <a:latin typeface="Times New Roman" panose="02020603050405020304" pitchFamily="18" charset="0"/>
                <a:ea typeface="宋体" panose="02010600030101010101" pitchFamily="2" charset="-122"/>
              </a:rPr>
              <a:t>;NUMBER+1</a:t>
            </a:r>
            <a:r>
              <a:rPr lang="zh-CN" altLang="zh-CN" sz="2000" dirty="0">
                <a:solidFill>
                  <a:srgbClr val="00CC00"/>
                </a:solidFill>
                <a:latin typeface="Times New Roman" panose="02020603050405020304" pitchFamily="18" charset="0"/>
                <a:ea typeface="宋体" panose="02010600030101010101" pitchFamily="2" charset="-122"/>
              </a:rPr>
              <a:t>为地址表达式</a:t>
            </a:r>
          </a:p>
          <a:p>
            <a:pPr algn="just"/>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2</a:t>
            </a:r>
            <a:r>
              <a:rPr lang="zh-CN" altLang="zh-CN" sz="2000" dirty="0">
                <a:latin typeface="Times New Roman" panose="02020603050405020304" pitchFamily="18" charset="0"/>
                <a:ea typeface="宋体" panose="02010600030101010101" pitchFamily="2" charset="-122"/>
              </a:rPr>
              <a:t>）逻辑运算符。</a:t>
            </a:r>
          </a:p>
          <a:p>
            <a:pPr algn="just"/>
            <a:r>
              <a:rPr lang="zh-CN" altLang="zh-CN" sz="2000" dirty="0">
                <a:latin typeface="Times New Roman" panose="02020603050405020304" pitchFamily="18" charset="0"/>
                <a:ea typeface="宋体" panose="02010600030101010101" pitchFamily="2" charset="-122"/>
              </a:rPr>
              <a:t>逻辑运算符只用于数值表达式中对数值进行按位逻辑运算，并得到一个数值结果。逻辑运算符包括</a:t>
            </a:r>
            <a:r>
              <a:rPr lang="en-US" altLang="zh-CN" sz="2000" dirty="0">
                <a:latin typeface="Times New Roman" panose="02020603050405020304" pitchFamily="18" charset="0"/>
                <a:ea typeface="宋体" panose="02010600030101010101" pitchFamily="2" charset="-122"/>
              </a:rPr>
              <a:t>AND</a:t>
            </a:r>
            <a:r>
              <a:rPr lang="zh-CN" altLang="zh-CN" sz="2000" dirty="0">
                <a:latin typeface="Times New Roman" panose="02020603050405020304" pitchFamily="18" charset="0"/>
                <a:ea typeface="宋体" panose="02010600030101010101" pitchFamily="2" charset="-122"/>
              </a:rPr>
              <a:t>（与）、</a:t>
            </a:r>
            <a:r>
              <a:rPr lang="en-US" altLang="zh-CN" sz="2000" dirty="0">
                <a:latin typeface="Times New Roman" panose="02020603050405020304" pitchFamily="18" charset="0"/>
                <a:ea typeface="宋体" panose="02010600030101010101" pitchFamily="2" charset="-122"/>
              </a:rPr>
              <a:t>OR</a:t>
            </a:r>
            <a:r>
              <a:rPr lang="zh-CN" altLang="zh-CN" sz="2000" dirty="0">
                <a:latin typeface="Times New Roman" panose="02020603050405020304" pitchFamily="18" charset="0"/>
                <a:ea typeface="宋体" panose="02010600030101010101" pitchFamily="2" charset="-122"/>
              </a:rPr>
              <a:t>（或）、</a:t>
            </a:r>
            <a:r>
              <a:rPr lang="en-US" altLang="zh-CN" sz="2000" dirty="0">
                <a:latin typeface="Times New Roman" panose="02020603050405020304" pitchFamily="18" charset="0"/>
                <a:ea typeface="宋体" panose="02010600030101010101" pitchFamily="2" charset="-122"/>
              </a:rPr>
              <a:t>NOT</a:t>
            </a:r>
            <a:r>
              <a:rPr lang="zh-CN" altLang="zh-CN" sz="2000" dirty="0">
                <a:latin typeface="Times New Roman" panose="02020603050405020304" pitchFamily="18" charset="0"/>
                <a:ea typeface="宋体" panose="02010600030101010101" pitchFamily="2" charset="-122"/>
              </a:rPr>
              <a:t>（非）和</a:t>
            </a:r>
            <a:r>
              <a:rPr lang="en-US" altLang="zh-CN" sz="2000" dirty="0">
                <a:latin typeface="Times New Roman" panose="02020603050405020304" pitchFamily="18" charset="0"/>
                <a:ea typeface="宋体" panose="02010600030101010101" pitchFamily="2" charset="-122"/>
              </a:rPr>
              <a:t>XOR</a:t>
            </a:r>
            <a:r>
              <a:rPr lang="zh-CN" altLang="zh-CN" sz="2000" dirty="0">
                <a:latin typeface="Times New Roman" panose="02020603050405020304" pitchFamily="18" charset="0"/>
                <a:ea typeface="宋体" panose="02010600030101010101" pitchFamily="2" charset="-122"/>
              </a:rPr>
              <a:t>（异或）。表达式中的逻辑运算是在汇编过程中完成的，注意逻辑运算符与逻辑指令的区别。对地址进行逻辑运算无意义。</a:t>
            </a:r>
          </a:p>
          <a:p>
            <a:pPr algn="just"/>
            <a:r>
              <a:rPr lang="zh-CN" altLang="zh-CN" sz="2000" dirty="0">
                <a:latin typeface="Times New Roman" panose="02020603050405020304" pitchFamily="18" charset="0"/>
                <a:ea typeface="宋体" panose="02010600030101010101" pitchFamily="2" charset="-122"/>
              </a:rPr>
              <a:t>例：</a:t>
            </a:r>
            <a:r>
              <a:rPr lang="en-US" altLang="zh-CN" sz="2000" dirty="0">
                <a:latin typeface="Times New Roman" panose="02020603050405020304" pitchFamily="18" charset="0"/>
                <a:ea typeface="宋体" panose="02010600030101010101" pitchFamily="2" charset="-122"/>
              </a:rPr>
              <a:t>CONST  EQU  0FH</a:t>
            </a:r>
            <a:endParaRPr lang="zh-CN" altLang="zh-CN" sz="2000" dirty="0">
              <a:latin typeface="Times New Roman" panose="02020603050405020304" pitchFamily="18" charset="0"/>
              <a:ea typeface="宋体" panose="02010600030101010101" pitchFamily="2" charset="-122"/>
            </a:endParaRPr>
          </a:p>
          <a:p>
            <a:pPr algn="just"/>
            <a:r>
              <a:rPr lang="zh-CN" altLang="zh-CN" sz="2000" dirty="0">
                <a:solidFill>
                  <a:srgbClr val="00CC00"/>
                </a:solidFill>
                <a:latin typeface="Times New Roman" panose="02020603050405020304" pitchFamily="18" charset="0"/>
                <a:ea typeface="宋体" panose="02010600030101010101" pitchFamily="2" charset="-122"/>
              </a:rPr>
              <a:t>；助记符中的</a:t>
            </a:r>
            <a:r>
              <a:rPr lang="en-US" altLang="zh-CN" sz="2000" dirty="0">
                <a:solidFill>
                  <a:srgbClr val="00CC00"/>
                </a:solidFill>
                <a:latin typeface="Times New Roman" panose="02020603050405020304" pitchFamily="18" charset="0"/>
                <a:ea typeface="宋体" panose="02010600030101010101" pitchFamily="2" charset="-122"/>
              </a:rPr>
              <a:t>AND</a:t>
            </a:r>
            <a:r>
              <a:rPr lang="zh-CN" altLang="zh-CN" sz="2000" dirty="0">
                <a:solidFill>
                  <a:srgbClr val="00CC00"/>
                </a:solidFill>
                <a:latin typeface="Times New Roman" panose="02020603050405020304" pitchFamily="18" charset="0"/>
                <a:ea typeface="宋体" panose="02010600030101010101" pitchFamily="2" charset="-122"/>
              </a:rPr>
              <a:t>在目标程序中执行，表达式中的</a:t>
            </a:r>
            <a:r>
              <a:rPr lang="en-US" altLang="zh-CN" sz="2000" dirty="0">
                <a:solidFill>
                  <a:srgbClr val="00CC00"/>
                </a:solidFill>
                <a:latin typeface="Times New Roman" panose="02020603050405020304" pitchFamily="18" charset="0"/>
                <a:ea typeface="宋体" panose="02010600030101010101" pitchFamily="2" charset="-122"/>
              </a:rPr>
              <a:t>AND</a:t>
            </a:r>
            <a:r>
              <a:rPr lang="zh-CN" altLang="zh-CN" sz="2000" dirty="0">
                <a:solidFill>
                  <a:srgbClr val="00CC00"/>
                </a:solidFill>
                <a:latin typeface="Times New Roman" panose="02020603050405020304" pitchFamily="18" charset="0"/>
                <a:ea typeface="宋体" panose="02010600030101010101" pitchFamily="2" charset="-122"/>
              </a:rPr>
              <a:t>在汇编中执行</a:t>
            </a:r>
          </a:p>
          <a:p>
            <a:pPr algn="just"/>
            <a:r>
              <a:rPr lang="en-US" altLang="zh-CN" sz="2000" dirty="0">
                <a:latin typeface="Times New Roman" panose="02020603050405020304" pitchFamily="18" charset="0"/>
                <a:ea typeface="宋体" panose="02010600030101010101" pitchFamily="2" charset="-122"/>
              </a:rPr>
              <a:t>AND   AL,  CONST AND 78H  </a:t>
            </a:r>
            <a:endParaRPr lang="zh-CN" altLang="zh-CN" sz="2000" dirty="0">
              <a:latin typeface="Times New Roman" panose="02020603050405020304" pitchFamily="18" charset="0"/>
              <a:ea typeface="宋体" panose="02010600030101010101" pitchFamily="2" charset="-122"/>
            </a:endParaRPr>
          </a:p>
        </p:txBody>
      </p:sp>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4.2.2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汇编语言语句的类型和组成</a:t>
            </a:r>
          </a:p>
        </p:txBody>
      </p:sp>
      <p:sp>
        <p:nvSpPr>
          <p:cNvPr id="27650"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27651" name="TextBox 6"/>
          <p:cNvSpPr txBox="1"/>
          <p:nvPr/>
        </p:nvSpPr>
        <p:spPr>
          <a:xfrm>
            <a:off x="390525" y="1606550"/>
            <a:ext cx="8264525" cy="4646613"/>
          </a:xfrm>
          <a:prstGeom prst="rect">
            <a:avLst/>
          </a:prstGeom>
          <a:noFill/>
          <a:ln w="9525">
            <a:noFill/>
          </a:ln>
        </p:spPr>
        <p:txBody>
          <a:bodyPr anchor="t" anchorCtr="0">
            <a:spAutoFit/>
          </a:bodyPr>
          <a:lstStyle/>
          <a:p>
            <a:pPr algn="just"/>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3</a:t>
            </a:r>
            <a:r>
              <a:rPr lang="zh-CN" altLang="zh-CN" sz="2000" dirty="0">
                <a:latin typeface="Times New Roman" panose="02020603050405020304" pitchFamily="18" charset="0"/>
                <a:ea typeface="宋体" panose="02010600030101010101" pitchFamily="2" charset="-122"/>
              </a:rPr>
              <a:t>）关系运算符。</a:t>
            </a:r>
          </a:p>
          <a:p>
            <a:pPr algn="just"/>
            <a:r>
              <a:rPr lang="zh-CN" altLang="zh-CN" sz="2000" dirty="0">
                <a:latin typeface="Times New Roman" panose="02020603050405020304" pitchFamily="18" charset="0"/>
                <a:ea typeface="宋体" panose="02010600030101010101" pitchFamily="2" charset="-122"/>
              </a:rPr>
              <a:t>关系运算符用于数的比较，关系运算符有</a:t>
            </a:r>
            <a:r>
              <a:rPr lang="en-US" altLang="zh-CN" sz="2000" dirty="0">
                <a:latin typeface="Times New Roman" panose="02020603050405020304" pitchFamily="18" charset="0"/>
                <a:ea typeface="宋体" panose="02010600030101010101" pitchFamily="2" charset="-122"/>
              </a:rPr>
              <a:t>EQ</a:t>
            </a:r>
            <a:r>
              <a:rPr lang="zh-CN" altLang="zh-CN" sz="2000" dirty="0">
                <a:latin typeface="Times New Roman" panose="02020603050405020304" pitchFamily="18" charset="0"/>
                <a:ea typeface="宋体" panose="02010600030101010101" pitchFamily="2" charset="-122"/>
              </a:rPr>
              <a:t>（等于）、</a:t>
            </a:r>
            <a:r>
              <a:rPr lang="en-US" altLang="zh-CN" sz="2000" dirty="0">
                <a:latin typeface="Times New Roman" panose="02020603050405020304" pitchFamily="18" charset="0"/>
                <a:ea typeface="宋体" panose="02010600030101010101" pitchFamily="2" charset="-122"/>
              </a:rPr>
              <a:t>NE</a:t>
            </a:r>
            <a:r>
              <a:rPr lang="zh-CN" altLang="zh-CN" sz="2000" dirty="0">
                <a:latin typeface="Times New Roman" panose="02020603050405020304" pitchFamily="18" charset="0"/>
                <a:ea typeface="宋体" panose="02010600030101010101" pitchFamily="2" charset="-122"/>
              </a:rPr>
              <a:t>（不等于）、</a:t>
            </a:r>
            <a:r>
              <a:rPr lang="en-US" altLang="zh-CN" sz="2000" dirty="0">
                <a:latin typeface="Times New Roman" panose="02020603050405020304" pitchFamily="18" charset="0"/>
                <a:ea typeface="宋体" panose="02010600030101010101" pitchFamily="2" charset="-122"/>
              </a:rPr>
              <a:t>LT</a:t>
            </a:r>
            <a:r>
              <a:rPr lang="zh-CN" altLang="zh-CN" sz="2000" dirty="0">
                <a:latin typeface="Times New Roman" panose="02020603050405020304" pitchFamily="18" charset="0"/>
                <a:ea typeface="宋体" panose="02010600030101010101" pitchFamily="2" charset="-122"/>
              </a:rPr>
              <a:t>（小于）、</a:t>
            </a:r>
            <a:r>
              <a:rPr lang="en-US" altLang="zh-CN" sz="2000" dirty="0">
                <a:latin typeface="Times New Roman" panose="02020603050405020304" pitchFamily="18" charset="0"/>
                <a:ea typeface="宋体" panose="02010600030101010101" pitchFamily="2" charset="-122"/>
              </a:rPr>
              <a:t>GT</a:t>
            </a:r>
            <a:r>
              <a:rPr lang="zh-CN" altLang="zh-CN" sz="2000" dirty="0">
                <a:latin typeface="Times New Roman" panose="02020603050405020304" pitchFamily="18" charset="0"/>
                <a:ea typeface="宋体" panose="02010600030101010101" pitchFamily="2" charset="-122"/>
              </a:rPr>
              <a:t>（大于）、</a:t>
            </a:r>
            <a:r>
              <a:rPr lang="en-US" altLang="zh-CN" sz="2000" dirty="0">
                <a:latin typeface="Times New Roman" panose="02020603050405020304" pitchFamily="18" charset="0"/>
                <a:ea typeface="宋体" panose="02010600030101010101" pitchFamily="2" charset="-122"/>
              </a:rPr>
              <a:t>LE</a:t>
            </a:r>
            <a:r>
              <a:rPr lang="zh-CN" altLang="zh-CN" sz="2000" dirty="0">
                <a:latin typeface="Times New Roman" panose="02020603050405020304" pitchFamily="18" charset="0"/>
                <a:ea typeface="宋体" panose="02010600030101010101" pitchFamily="2" charset="-122"/>
              </a:rPr>
              <a:t>（小于或等于）等。</a:t>
            </a:r>
          </a:p>
          <a:p>
            <a:pPr algn="just"/>
            <a:r>
              <a:rPr lang="zh-CN" altLang="zh-CN" sz="2000" dirty="0">
                <a:latin typeface="Times New Roman" panose="02020603050405020304" pitchFamily="18" charset="0"/>
                <a:ea typeface="宋体" panose="02010600030101010101" pitchFamily="2" charset="-122"/>
              </a:rPr>
              <a:t>参与关系运算的必须是两个数值，或同一个段中的两个存储单元地址，但运算结果只可能是两个特定的数值之一：当关系成立时，结果为</a:t>
            </a:r>
            <a:r>
              <a:rPr lang="en-US" altLang="zh-CN" sz="2000" dirty="0">
                <a:latin typeface="Times New Roman" panose="02020603050405020304" pitchFamily="18" charset="0"/>
                <a:ea typeface="宋体" panose="02010600030101010101" pitchFamily="2" charset="-122"/>
              </a:rPr>
              <a:t>0FFFFH</a:t>
            </a:r>
            <a:r>
              <a:rPr lang="zh-CN" altLang="zh-CN" sz="2000" dirty="0">
                <a:latin typeface="Times New Roman" panose="02020603050405020304" pitchFamily="18" charset="0"/>
                <a:ea typeface="宋体" panose="02010600030101010101" pitchFamily="2" charset="-122"/>
              </a:rPr>
              <a:t>；当关系不成立时，结果为</a:t>
            </a:r>
            <a:r>
              <a:rPr lang="en-US" altLang="zh-CN" sz="2000" dirty="0">
                <a:latin typeface="Times New Roman" panose="02020603050405020304" pitchFamily="18" charset="0"/>
                <a:ea typeface="宋体" panose="02010600030101010101" pitchFamily="2" charset="-122"/>
              </a:rPr>
              <a:t>0</a:t>
            </a:r>
            <a:r>
              <a:rPr lang="zh-CN" altLang="zh-CN" sz="2000" dirty="0">
                <a:latin typeface="Times New Roman" panose="02020603050405020304" pitchFamily="18" charset="0"/>
                <a:ea typeface="宋体" panose="02010600030101010101" pitchFamily="2" charset="-122"/>
              </a:rPr>
              <a:t>。</a:t>
            </a:r>
          </a:p>
          <a:p>
            <a:pPr algn="just"/>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4</a:t>
            </a:r>
            <a:r>
              <a:rPr lang="zh-CN" altLang="zh-CN" sz="2000" dirty="0">
                <a:latin typeface="Times New Roman" panose="02020603050405020304" pitchFamily="18" charset="0"/>
                <a:ea typeface="宋体" panose="02010600030101010101" pitchFamily="2" charset="-122"/>
              </a:rPr>
              <a:t>）分析运算符。</a:t>
            </a:r>
          </a:p>
          <a:p>
            <a:pPr algn="just"/>
            <a:r>
              <a:rPr lang="zh-CN" altLang="zh-CN" sz="2000" dirty="0">
                <a:latin typeface="Times New Roman" panose="02020603050405020304" pitchFamily="18" charset="0"/>
                <a:ea typeface="宋体" panose="02010600030101010101" pitchFamily="2" charset="-122"/>
              </a:rPr>
              <a:t>分析运算符用于分析一个标号或存储器操作数的属性，如段、偏移量或类型等。合成运算符则可以规定操作数的某个属性，如类型。</a:t>
            </a:r>
            <a:endParaRPr lang="en-US" altLang="zh-CN" sz="2000" dirty="0">
              <a:latin typeface="Times New Roman" panose="02020603050405020304" pitchFamily="18" charset="0"/>
              <a:ea typeface="宋体" panose="02010600030101010101" pitchFamily="2" charset="-122"/>
            </a:endParaRPr>
          </a:p>
          <a:p>
            <a:pPr algn="just"/>
            <a:r>
              <a:rPr lang="zh-CN" altLang="zh-CN" sz="2000" dirty="0">
                <a:latin typeface="Times New Roman" panose="02020603050405020304" pitchFamily="18" charset="0"/>
                <a:ea typeface="宋体" panose="02010600030101010101" pitchFamily="2" charset="-122"/>
              </a:rPr>
              <a:t>① </a:t>
            </a:r>
            <a:r>
              <a:rPr lang="en-US" altLang="zh-CN" sz="2000" dirty="0">
                <a:latin typeface="Times New Roman" panose="02020603050405020304" pitchFamily="18" charset="0"/>
                <a:ea typeface="宋体" panose="02010600030101010101" pitchFamily="2" charset="-122"/>
              </a:rPr>
              <a:t>OFFSET</a:t>
            </a:r>
            <a:r>
              <a:rPr lang="zh-CN" altLang="zh-CN" sz="2000" dirty="0">
                <a:latin typeface="Times New Roman" panose="02020603050405020304" pitchFamily="18" charset="0"/>
                <a:ea typeface="宋体" panose="02010600030101010101" pitchFamily="2" charset="-122"/>
              </a:rPr>
              <a:t>。利用</a:t>
            </a:r>
            <a:r>
              <a:rPr lang="en-US" altLang="zh-CN" sz="2000" dirty="0">
                <a:latin typeface="Times New Roman" panose="02020603050405020304" pitchFamily="18" charset="0"/>
                <a:ea typeface="宋体" panose="02010600030101010101" pitchFamily="2" charset="-122"/>
              </a:rPr>
              <a:t>OFFSET</a:t>
            </a:r>
            <a:r>
              <a:rPr lang="zh-CN" altLang="zh-CN" sz="2000" dirty="0">
                <a:latin typeface="Times New Roman" panose="02020603050405020304" pitchFamily="18" charset="0"/>
                <a:ea typeface="宋体" panose="02010600030101010101" pitchFamily="2" charset="-122"/>
              </a:rPr>
              <a:t>可得到一个标号或变量的偏移地址。</a:t>
            </a:r>
          </a:p>
          <a:p>
            <a:pPr algn="just"/>
            <a:r>
              <a:rPr lang="zh-CN" altLang="zh-CN" sz="2000" dirty="0">
                <a:latin typeface="Times New Roman" panose="02020603050405020304" pitchFamily="18" charset="0"/>
                <a:ea typeface="宋体" panose="02010600030101010101" pitchFamily="2" charset="-122"/>
              </a:rPr>
              <a:t>② </a:t>
            </a:r>
            <a:r>
              <a:rPr lang="en-US" altLang="zh-CN" sz="2000" dirty="0">
                <a:latin typeface="Times New Roman" panose="02020603050405020304" pitchFamily="18" charset="0"/>
                <a:ea typeface="宋体" panose="02010600030101010101" pitchFamily="2" charset="-122"/>
              </a:rPr>
              <a:t>SEG</a:t>
            </a:r>
            <a:r>
              <a:rPr lang="zh-CN" altLang="zh-CN" sz="2000" dirty="0">
                <a:latin typeface="Times New Roman" panose="02020603050405020304" pitchFamily="18" charset="0"/>
                <a:ea typeface="宋体" panose="02010600030101010101" pitchFamily="2" charset="-122"/>
              </a:rPr>
              <a:t>。利用运算符</a:t>
            </a:r>
            <a:r>
              <a:rPr lang="en-US" altLang="zh-CN" sz="2000" dirty="0">
                <a:latin typeface="Times New Roman" panose="02020603050405020304" pitchFamily="18" charset="0"/>
                <a:ea typeface="宋体" panose="02010600030101010101" pitchFamily="2" charset="-122"/>
              </a:rPr>
              <a:t>SEG</a:t>
            </a:r>
            <a:r>
              <a:rPr lang="zh-CN" altLang="zh-CN" sz="2000" dirty="0">
                <a:latin typeface="Times New Roman" panose="02020603050405020304" pitchFamily="18" charset="0"/>
                <a:ea typeface="宋体" panose="02010600030101010101" pitchFamily="2" charset="-122"/>
              </a:rPr>
              <a:t>可得到一个标号或变量的段值。</a:t>
            </a:r>
          </a:p>
          <a:p>
            <a:pPr algn="just"/>
            <a:r>
              <a:rPr lang="zh-CN" altLang="zh-CN" sz="2000" dirty="0">
                <a:latin typeface="Times New Roman" panose="02020603050405020304" pitchFamily="18" charset="0"/>
                <a:ea typeface="宋体" panose="02010600030101010101" pitchFamily="2" charset="-122"/>
              </a:rPr>
              <a:t>③ </a:t>
            </a:r>
            <a:r>
              <a:rPr lang="en-US" altLang="zh-CN" sz="2000" dirty="0">
                <a:latin typeface="Times New Roman" panose="02020603050405020304" pitchFamily="18" charset="0"/>
                <a:ea typeface="宋体" panose="02010600030101010101" pitchFamily="2" charset="-122"/>
              </a:rPr>
              <a:t>TYPE</a:t>
            </a:r>
            <a:r>
              <a:rPr lang="zh-CN" altLang="zh-CN" sz="2000" dirty="0">
                <a:latin typeface="Times New Roman" panose="02020603050405020304" pitchFamily="18" charset="0"/>
                <a:ea typeface="宋体" panose="02010600030101010101" pitchFamily="2" charset="-122"/>
              </a:rPr>
              <a:t>。运算符</a:t>
            </a:r>
            <a:r>
              <a:rPr lang="en-US" altLang="zh-CN" sz="2000" dirty="0">
                <a:latin typeface="Times New Roman" panose="02020603050405020304" pitchFamily="18" charset="0"/>
                <a:ea typeface="宋体" panose="02010600030101010101" pitchFamily="2" charset="-122"/>
              </a:rPr>
              <a:t>TYPE</a:t>
            </a:r>
            <a:r>
              <a:rPr lang="zh-CN" altLang="zh-CN" sz="2000" dirty="0">
                <a:latin typeface="Times New Roman" panose="02020603050405020304" pitchFamily="18" charset="0"/>
                <a:ea typeface="宋体" panose="02010600030101010101" pitchFamily="2" charset="-122"/>
              </a:rPr>
              <a:t>的运算结果是一个数值，这个数值与存储器操作数类型属性一一对应。如果是变量，则汇编程序将回送该变量以字节表示的类型：</a:t>
            </a:r>
            <a:r>
              <a:rPr lang="en-US" altLang="zh-CN" sz="2000" dirty="0">
                <a:latin typeface="Times New Roman" panose="02020603050405020304" pitchFamily="18" charset="0"/>
                <a:ea typeface="宋体" panose="02010600030101010101" pitchFamily="2" charset="-122"/>
              </a:rPr>
              <a:t>DB</a:t>
            </a:r>
            <a:r>
              <a:rPr lang="zh-CN" altLang="zh-CN" sz="2000" dirty="0">
                <a:latin typeface="Times New Roman" panose="02020603050405020304" pitchFamily="18" charset="0"/>
                <a:ea typeface="宋体" panose="02010600030101010101" pitchFamily="2" charset="-122"/>
              </a:rPr>
              <a:t>为</a:t>
            </a:r>
            <a:r>
              <a:rPr lang="en-US" altLang="zh-CN" sz="2000" dirty="0">
                <a:latin typeface="Times New Roman" panose="02020603050405020304" pitchFamily="18" charset="0"/>
                <a:ea typeface="宋体" panose="02010600030101010101" pitchFamily="2" charset="-122"/>
              </a:rPr>
              <a:t>1</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DW</a:t>
            </a:r>
            <a:r>
              <a:rPr lang="zh-CN" altLang="zh-CN" sz="2000" dirty="0">
                <a:latin typeface="Times New Roman" panose="02020603050405020304" pitchFamily="18" charset="0"/>
                <a:ea typeface="宋体" panose="02010600030101010101" pitchFamily="2" charset="-122"/>
              </a:rPr>
              <a:t>为</a:t>
            </a:r>
            <a:r>
              <a:rPr lang="en-US" altLang="zh-CN" sz="2000" dirty="0">
                <a:latin typeface="Times New Roman" panose="02020603050405020304" pitchFamily="18" charset="0"/>
                <a:ea typeface="宋体" panose="02010600030101010101" pitchFamily="2" charset="-122"/>
              </a:rPr>
              <a:t>2</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DD</a:t>
            </a:r>
            <a:r>
              <a:rPr lang="zh-CN" altLang="zh-CN" sz="2000" dirty="0">
                <a:latin typeface="Times New Roman" panose="02020603050405020304" pitchFamily="18" charset="0"/>
                <a:ea typeface="宋体" panose="02010600030101010101" pitchFamily="2" charset="-122"/>
              </a:rPr>
              <a:t>为</a:t>
            </a:r>
            <a:r>
              <a:rPr lang="en-US" altLang="zh-CN" sz="2000" dirty="0">
                <a:latin typeface="Times New Roman" panose="02020603050405020304" pitchFamily="18" charset="0"/>
                <a:ea typeface="宋体" panose="02010600030101010101" pitchFamily="2" charset="-122"/>
              </a:rPr>
              <a:t>4</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DQ</a:t>
            </a:r>
            <a:r>
              <a:rPr lang="zh-CN" altLang="zh-CN" sz="2000" dirty="0">
                <a:latin typeface="Times New Roman" panose="02020603050405020304" pitchFamily="18" charset="0"/>
                <a:ea typeface="宋体" panose="02010600030101010101" pitchFamily="2" charset="-122"/>
              </a:rPr>
              <a:t>为</a:t>
            </a:r>
            <a:r>
              <a:rPr lang="en-US" altLang="zh-CN" sz="2000" dirty="0">
                <a:latin typeface="Times New Roman" panose="02020603050405020304" pitchFamily="18" charset="0"/>
                <a:ea typeface="宋体" panose="02010600030101010101" pitchFamily="2" charset="-122"/>
              </a:rPr>
              <a:t>8</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DT</a:t>
            </a:r>
            <a:r>
              <a:rPr lang="zh-CN" altLang="zh-CN" sz="2000" dirty="0">
                <a:latin typeface="Times New Roman" panose="02020603050405020304" pitchFamily="18" charset="0"/>
                <a:ea typeface="宋体" panose="02010600030101010101" pitchFamily="2" charset="-122"/>
              </a:rPr>
              <a:t>为</a:t>
            </a:r>
            <a:r>
              <a:rPr lang="en-US" altLang="zh-CN" sz="2000" dirty="0">
                <a:latin typeface="Times New Roman" panose="02020603050405020304" pitchFamily="18" charset="0"/>
                <a:ea typeface="宋体" panose="02010600030101010101" pitchFamily="2" charset="-122"/>
              </a:rPr>
              <a:t>10</a:t>
            </a:r>
            <a:r>
              <a:rPr lang="zh-CN" altLang="zh-CN" sz="2000" dirty="0">
                <a:latin typeface="Times New Roman" panose="02020603050405020304" pitchFamily="18" charset="0"/>
                <a:ea typeface="宋体" panose="02010600030101010101" pitchFamily="2" charset="-122"/>
              </a:rPr>
              <a:t>。如果是标号，则汇编程序将回送代表该标号类型的数值：</a:t>
            </a:r>
            <a:r>
              <a:rPr lang="en-US" altLang="zh-CN" sz="2000" dirty="0">
                <a:latin typeface="Times New Roman" panose="02020603050405020304" pitchFamily="18" charset="0"/>
                <a:ea typeface="宋体" panose="02010600030101010101" pitchFamily="2" charset="-122"/>
              </a:rPr>
              <a:t>NEAR</a:t>
            </a:r>
            <a:r>
              <a:rPr lang="zh-CN" altLang="zh-CN" sz="2000" dirty="0">
                <a:latin typeface="Times New Roman" panose="02020603050405020304" pitchFamily="18" charset="0"/>
                <a:ea typeface="宋体" panose="02010600030101010101" pitchFamily="2" charset="-122"/>
              </a:rPr>
              <a:t>为</a:t>
            </a:r>
            <a:r>
              <a:rPr lang="en-US" altLang="zh-CN" sz="2000" dirty="0">
                <a:latin typeface="Times New Roman" panose="02020603050405020304" pitchFamily="18" charset="0"/>
                <a:ea typeface="宋体" panose="02010600030101010101" pitchFamily="2" charset="-122"/>
              </a:rPr>
              <a:t>-1</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FAR</a:t>
            </a:r>
            <a:r>
              <a:rPr lang="zh-CN" altLang="zh-CN" sz="2000" dirty="0">
                <a:latin typeface="Times New Roman" panose="02020603050405020304" pitchFamily="18" charset="0"/>
                <a:ea typeface="宋体" panose="02010600030101010101" pitchFamily="2" charset="-122"/>
              </a:rPr>
              <a:t>为</a:t>
            </a:r>
            <a:r>
              <a:rPr lang="en-US" altLang="zh-CN" sz="2000" dirty="0">
                <a:latin typeface="Times New Roman" panose="02020603050405020304" pitchFamily="18" charset="0"/>
                <a:ea typeface="宋体" panose="02010600030101010101" pitchFamily="2" charset="-122"/>
              </a:rPr>
              <a:t>-2</a:t>
            </a:r>
            <a:r>
              <a:rPr lang="zh-CN" altLang="zh-CN" sz="2000" dirty="0">
                <a:latin typeface="Times New Roman" panose="02020603050405020304" pitchFamily="18" charset="0"/>
                <a:ea typeface="宋体" panose="02010600030101010101" pitchFamily="2" charset="-122"/>
              </a:rPr>
              <a:t>。</a:t>
            </a:r>
          </a:p>
        </p:txBody>
      </p:sp>
    </p:spTree>
  </p:cSld>
  <p:clrMapOvr>
    <a:masterClrMapping/>
  </p:clrMapOvr>
  <p:transition spd="med">
    <p:random/>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4.2.2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汇编语言语句的类型和组成</a:t>
            </a:r>
          </a:p>
        </p:txBody>
      </p:sp>
      <p:sp>
        <p:nvSpPr>
          <p:cNvPr id="29698"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29699" name="TextBox 6"/>
          <p:cNvSpPr txBox="1"/>
          <p:nvPr/>
        </p:nvSpPr>
        <p:spPr>
          <a:xfrm>
            <a:off x="390525" y="1606550"/>
            <a:ext cx="8264525" cy="4860925"/>
          </a:xfrm>
          <a:prstGeom prst="rect">
            <a:avLst/>
          </a:prstGeom>
          <a:noFill/>
          <a:ln w="9525">
            <a:noFill/>
          </a:ln>
        </p:spPr>
        <p:txBody>
          <a:bodyPr anchor="t" anchorCtr="0">
            <a:spAutoFit/>
          </a:bodyPr>
          <a:lstStyle/>
          <a:p>
            <a:pPr algn="just"/>
            <a:r>
              <a:rPr lang="zh-CN" altLang="zh-CN" sz="2000" dirty="0">
                <a:latin typeface="Times New Roman" panose="02020603050405020304" pitchFamily="18" charset="0"/>
                <a:ea typeface="宋体" panose="02010600030101010101" pitchFamily="2" charset="-122"/>
              </a:rPr>
              <a:t>④</a:t>
            </a:r>
            <a:r>
              <a:rPr lang="en-US" altLang="zh-CN" sz="2000" dirty="0">
                <a:latin typeface="Times New Roman" panose="02020603050405020304" pitchFamily="18" charset="0"/>
                <a:ea typeface="宋体" panose="02010600030101010101" pitchFamily="2" charset="-122"/>
              </a:rPr>
              <a:t> LENGTH</a:t>
            </a:r>
            <a:r>
              <a:rPr lang="zh-CN" altLang="zh-CN" sz="2000" dirty="0">
                <a:latin typeface="Times New Roman" panose="02020603050405020304" pitchFamily="18" charset="0"/>
                <a:ea typeface="宋体" panose="02010600030101010101" pitchFamily="2" charset="-122"/>
              </a:rPr>
              <a:t>。如果一个变量已用</a:t>
            </a:r>
            <a:r>
              <a:rPr lang="en-US" altLang="zh-CN" sz="2000" dirty="0">
                <a:latin typeface="Times New Roman" panose="02020603050405020304" pitchFamily="18" charset="0"/>
                <a:ea typeface="宋体" panose="02010600030101010101" pitchFamily="2" charset="-122"/>
              </a:rPr>
              <a:t>DUP</a:t>
            </a:r>
            <a:r>
              <a:rPr lang="zh-CN" altLang="zh-CN" sz="2000" dirty="0">
                <a:latin typeface="Times New Roman" panose="02020603050405020304" pitchFamily="18" charset="0"/>
                <a:ea typeface="宋体" panose="02010600030101010101" pitchFamily="2" charset="-122"/>
              </a:rPr>
              <a:t>重复操作符说明其变量的个数，则利用</a:t>
            </a:r>
            <a:r>
              <a:rPr lang="en-US" altLang="zh-CN" sz="2000" dirty="0">
                <a:latin typeface="Times New Roman" panose="02020603050405020304" pitchFamily="18" charset="0"/>
                <a:ea typeface="宋体" panose="02010600030101010101" pitchFamily="2" charset="-122"/>
              </a:rPr>
              <a:t>LENGTH</a:t>
            </a:r>
            <a:r>
              <a:rPr lang="zh-CN" altLang="zh-CN" sz="2000" dirty="0">
                <a:latin typeface="Times New Roman" panose="02020603050405020304" pitchFamily="18" charset="0"/>
                <a:ea typeface="宋体" panose="02010600030101010101" pitchFamily="2" charset="-122"/>
              </a:rPr>
              <a:t>运算符可得到变量的个数。非</a:t>
            </a:r>
            <a:r>
              <a:rPr lang="en-US" altLang="zh-CN" sz="2000" dirty="0">
                <a:latin typeface="Times New Roman" panose="02020603050405020304" pitchFamily="18" charset="0"/>
                <a:ea typeface="宋体" panose="02010600030101010101" pitchFamily="2" charset="-122"/>
              </a:rPr>
              <a:t>DUP</a:t>
            </a:r>
            <a:r>
              <a:rPr lang="zh-CN" altLang="zh-CN" sz="2000" dirty="0">
                <a:latin typeface="Times New Roman" panose="02020603050405020304" pitchFamily="18" charset="0"/>
                <a:ea typeface="宋体" panose="02010600030101010101" pitchFamily="2" charset="-122"/>
              </a:rPr>
              <a:t>定义的数据，返回</a:t>
            </a:r>
            <a:r>
              <a:rPr lang="en-US" altLang="zh-CN" sz="2000" dirty="0">
                <a:latin typeface="Times New Roman" panose="02020603050405020304" pitchFamily="18" charset="0"/>
                <a:ea typeface="宋体" panose="02010600030101010101" pitchFamily="2" charset="-122"/>
              </a:rPr>
              <a:t>1</a:t>
            </a:r>
            <a:r>
              <a:rPr lang="zh-CN" altLang="zh-CN" sz="2000" dirty="0">
                <a:latin typeface="Times New Roman" panose="02020603050405020304" pitchFamily="18" charset="0"/>
                <a:ea typeface="宋体" panose="02010600030101010101" pitchFamily="2" charset="-122"/>
              </a:rPr>
              <a:t>。</a:t>
            </a:r>
          </a:p>
          <a:p>
            <a:pPr algn="just"/>
            <a:r>
              <a:rPr lang="zh-CN" altLang="zh-CN" sz="2000" dirty="0">
                <a:latin typeface="Times New Roman" panose="02020603050405020304" pitchFamily="18" charset="0"/>
                <a:ea typeface="宋体" panose="02010600030101010101" pitchFamily="2" charset="-122"/>
              </a:rPr>
              <a:t>⑤</a:t>
            </a:r>
            <a:r>
              <a:rPr lang="en-US" altLang="zh-CN" sz="2000" dirty="0">
                <a:latin typeface="Times New Roman" panose="02020603050405020304" pitchFamily="18" charset="0"/>
                <a:ea typeface="宋体" panose="02010600030101010101" pitchFamily="2" charset="-122"/>
              </a:rPr>
              <a:t> SIZE</a:t>
            </a:r>
            <a:r>
              <a:rPr lang="zh-CN" altLang="zh-CN" sz="2000" dirty="0">
                <a:latin typeface="Times New Roman" panose="02020603050405020304" pitchFamily="18" charset="0"/>
                <a:ea typeface="宋体" panose="02010600030101010101" pitchFamily="2" charset="-122"/>
              </a:rPr>
              <a:t>。如果一个变量已用</a:t>
            </a:r>
            <a:r>
              <a:rPr lang="en-US" altLang="zh-CN" sz="2000" dirty="0">
                <a:latin typeface="Times New Roman" panose="02020603050405020304" pitchFamily="18" charset="0"/>
                <a:ea typeface="宋体" panose="02010600030101010101" pitchFamily="2" charset="-122"/>
              </a:rPr>
              <a:t>DUP</a:t>
            </a:r>
            <a:r>
              <a:rPr lang="zh-CN" altLang="zh-CN" sz="2000" dirty="0">
                <a:latin typeface="Times New Roman" panose="02020603050405020304" pitchFamily="18" charset="0"/>
                <a:ea typeface="宋体" panose="02010600030101010101" pitchFamily="2" charset="-122"/>
              </a:rPr>
              <a:t>说明，则利用</a:t>
            </a:r>
            <a:r>
              <a:rPr lang="en-US" altLang="zh-CN" sz="2000" dirty="0">
                <a:latin typeface="Times New Roman" panose="02020603050405020304" pitchFamily="18" charset="0"/>
                <a:ea typeface="宋体" panose="02010600030101010101" pitchFamily="2" charset="-122"/>
              </a:rPr>
              <a:t>SIZE</a:t>
            </a:r>
            <a:r>
              <a:rPr lang="zh-CN" altLang="zh-CN" sz="2000" dirty="0">
                <a:latin typeface="Times New Roman" panose="02020603050405020304" pitchFamily="18" charset="0"/>
                <a:ea typeface="宋体" panose="02010600030101010101" pitchFamily="2" charset="-122"/>
              </a:rPr>
              <a:t>运算符可得到分配给该位变量的字节数。显然，</a:t>
            </a:r>
            <a:r>
              <a:rPr lang="en-US" altLang="zh-CN" sz="2000" dirty="0">
                <a:latin typeface="Times New Roman" panose="02020603050405020304" pitchFamily="18" charset="0"/>
                <a:ea typeface="宋体" panose="02010600030101010101" pitchFamily="2" charset="-122"/>
              </a:rPr>
              <a:t>SIZE = TYPE * LENGTH</a:t>
            </a:r>
            <a:r>
              <a:rPr lang="zh-CN" altLang="zh-CN" sz="2000" dirty="0">
                <a:latin typeface="Times New Roman" panose="02020603050405020304" pitchFamily="18" charset="0"/>
                <a:ea typeface="宋体" panose="02010600030101010101" pitchFamily="2" charset="-122"/>
              </a:rPr>
              <a:t>。</a:t>
            </a:r>
            <a:endParaRPr lang="en-US" altLang="zh-CN" sz="2000" dirty="0">
              <a:latin typeface="Times New Roman" panose="02020603050405020304" pitchFamily="18" charset="0"/>
              <a:ea typeface="宋体" panose="02010600030101010101" pitchFamily="2" charset="-122"/>
            </a:endParaRPr>
          </a:p>
          <a:p>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5</a:t>
            </a:r>
            <a:r>
              <a:rPr lang="zh-CN" altLang="zh-CN" sz="2000" dirty="0">
                <a:latin typeface="Times New Roman" panose="02020603050405020304" pitchFamily="18" charset="0"/>
                <a:ea typeface="宋体" panose="02010600030101010101" pitchFamily="2" charset="-122"/>
              </a:rPr>
              <a:t>）属性运算符。</a:t>
            </a:r>
          </a:p>
          <a:p>
            <a:r>
              <a:rPr lang="zh-CN" altLang="zh-CN" sz="2000" dirty="0">
                <a:latin typeface="Times New Roman" panose="02020603050405020304" pitchFamily="18" charset="0"/>
                <a:ea typeface="宋体" panose="02010600030101010101" pitchFamily="2" charset="-122"/>
              </a:rPr>
              <a:t>属性运算符用来建立或改变已定义变量、内存操作数或标号的类型属性。属性运算符有</a:t>
            </a:r>
            <a:r>
              <a:rPr lang="en-US" altLang="zh-CN" sz="2000" dirty="0">
                <a:latin typeface="Times New Roman" panose="02020603050405020304" pitchFamily="18" charset="0"/>
                <a:ea typeface="宋体" panose="02010600030101010101" pitchFamily="2" charset="-122"/>
              </a:rPr>
              <a:t>PTR</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THIS</a:t>
            </a:r>
            <a:r>
              <a:rPr lang="zh-CN" altLang="zh-CN" sz="2000" dirty="0">
                <a:latin typeface="Times New Roman" panose="02020603050405020304" pitchFamily="18" charset="0"/>
                <a:ea typeface="宋体" panose="02010600030101010101" pitchFamily="2" charset="-122"/>
              </a:rPr>
              <a:t>和是</a:t>
            </a:r>
            <a:r>
              <a:rPr lang="en-US" altLang="zh-CN" sz="2000" dirty="0">
                <a:latin typeface="Times New Roman" panose="02020603050405020304" pitchFamily="18" charset="0"/>
                <a:ea typeface="宋体" panose="02010600030101010101" pitchFamily="2" charset="-122"/>
              </a:rPr>
              <a:t>SHORT</a:t>
            </a:r>
            <a:r>
              <a:rPr lang="zh-CN" altLang="zh-CN" sz="2000" dirty="0">
                <a:latin typeface="Times New Roman" panose="02020603050405020304" pitchFamily="18" charset="0"/>
                <a:ea typeface="宋体" panose="02010600030101010101" pitchFamily="2" charset="-122"/>
              </a:rPr>
              <a:t>。</a:t>
            </a:r>
          </a:p>
          <a:p>
            <a:r>
              <a:rPr lang="zh-CN" altLang="zh-CN" sz="2000" dirty="0">
                <a:latin typeface="Times New Roman" panose="02020603050405020304" pitchFamily="18" charset="0"/>
                <a:ea typeface="宋体" panose="02010600030101010101" pitchFamily="2" charset="-122"/>
              </a:rPr>
              <a:t>① </a:t>
            </a:r>
            <a:r>
              <a:rPr lang="en-US" altLang="zh-CN" sz="2000" dirty="0">
                <a:latin typeface="Times New Roman" panose="02020603050405020304" pitchFamily="18" charset="0"/>
                <a:ea typeface="宋体" panose="02010600030101010101" pitchFamily="2" charset="-122"/>
              </a:rPr>
              <a:t>PTR</a:t>
            </a:r>
            <a:r>
              <a:rPr lang="zh-CN" altLang="zh-CN" sz="2000" dirty="0">
                <a:latin typeface="Times New Roman" panose="02020603050405020304" pitchFamily="18" charset="0"/>
                <a:ea typeface="宋体" panose="02010600030101010101" pitchFamily="2" charset="-122"/>
              </a:rPr>
              <a:t>。</a:t>
            </a:r>
          </a:p>
          <a:p>
            <a:r>
              <a:rPr lang="zh-CN" altLang="zh-CN" sz="2000" dirty="0">
                <a:latin typeface="Times New Roman" panose="02020603050405020304" pitchFamily="18" charset="0"/>
                <a:ea typeface="宋体" panose="02010600030101010101" pitchFamily="2" charset="-122"/>
              </a:rPr>
              <a:t>格式：类型</a:t>
            </a:r>
            <a:r>
              <a:rPr lang="en-US" altLang="zh-CN" sz="2000" dirty="0">
                <a:latin typeface="Times New Roman" panose="02020603050405020304" pitchFamily="18" charset="0"/>
                <a:ea typeface="宋体" panose="02010600030101010101" pitchFamily="2" charset="-122"/>
              </a:rPr>
              <a:t> PTR  </a:t>
            </a:r>
            <a:r>
              <a:rPr lang="zh-CN" altLang="zh-CN" sz="2000" dirty="0">
                <a:latin typeface="Times New Roman" panose="02020603050405020304" pitchFamily="18" charset="0"/>
                <a:ea typeface="宋体" panose="02010600030101010101" pitchFamily="2" charset="-122"/>
              </a:rPr>
              <a:t>变量</a:t>
            </a:r>
            <a:r>
              <a:rPr lang="en-US" altLang="zh-CN" sz="2000" dirty="0">
                <a:latin typeface="Times New Roman" panose="02020603050405020304" pitchFamily="18" charset="0"/>
                <a:ea typeface="宋体" panose="02010600030101010101" pitchFamily="2" charset="-122"/>
              </a:rPr>
              <a:t>/</a:t>
            </a:r>
            <a:r>
              <a:rPr lang="zh-CN" altLang="zh-CN" sz="2000" dirty="0">
                <a:latin typeface="Times New Roman" panose="02020603050405020304" pitchFamily="18" charset="0"/>
                <a:ea typeface="宋体" panose="02010600030101010101" pitchFamily="2" charset="-122"/>
              </a:rPr>
              <a:t>标号，返回值：具有规定类型属性的变量或标号。</a:t>
            </a:r>
          </a:p>
          <a:p>
            <a:r>
              <a:rPr lang="en-US" altLang="zh-CN" sz="2000" dirty="0">
                <a:latin typeface="Times New Roman" panose="02020603050405020304" pitchFamily="18" charset="0"/>
                <a:ea typeface="宋体" panose="02010600030101010101" pitchFamily="2" charset="-122"/>
              </a:rPr>
              <a:t>PTR</a:t>
            </a:r>
            <a:r>
              <a:rPr lang="zh-CN" altLang="zh-CN" sz="2000" dirty="0">
                <a:latin typeface="Times New Roman" panose="02020603050405020304" pitchFamily="18" charset="0"/>
                <a:ea typeface="宋体" panose="02010600030101010101" pitchFamily="2" charset="-122"/>
              </a:rPr>
              <a:t>在重新指定变量类型时使用。</a:t>
            </a:r>
            <a:endParaRPr lang="en-US" altLang="zh-CN" sz="2000" dirty="0">
              <a:latin typeface="Times New Roman" panose="02020603050405020304" pitchFamily="18" charset="0"/>
              <a:ea typeface="宋体" panose="02010600030101010101" pitchFamily="2" charset="-122"/>
            </a:endParaRPr>
          </a:p>
          <a:p>
            <a:r>
              <a:rPr lang="zh-CN" altLang="zh-CN" sz="2000" dirty="0">
                <a:latin typeface="Times New Roman" panose="02020603050405020304" pitchFamily="18" charset="0"/>
                <a:ea typeface="宋体" panose="02010600030101010101" pitchFamily="2" charset="-122"/>
              </a:rPr>
              <a:t>例：</a:t>
            </a:r>
            <a:r>
              <a:rPr lang="en-US" altLang="zh-CN" sz="2000" dirty="0">
                <a:latin typeface="Times New Roman" panose="02020603050405020304" pitchFamily="18" charset="0"/>
                <a:ea typeface="宋体" panose="02010600030101010101" pitchFamily="2" charset="-122"/>
              </a:rPr>
              <a:t>DATAW  DW  1122H, 3344H, 5566H</a:t>
            </a:r>
            <a:endParaRPr lang="zh-CN" altLang="zh-CN" sz="2000" dirty="0">
              <a:latin typeface="Times New Roman" panose="02020603050405020304" pitchFamily="18" charset="0"/>
              <a:ea typeface="宋体" panose="02010600030101010101" pitchFamily="2" charset="-122"/>
            </a:endParaRPr>
          </a:p>
          <a:p>
            <a:r>
              <a:rPr lang="pt-BR" altLang="zh-CN" sz="2000" dirty="0">
                <a:latin typeface="Times New Roman" panose="02020603050405020304" pitchFamily="18" charset="0"/>
                <a:ea typeface="宋体" panose="02010600030101010101" pitchFamily="2" charset="-122"/>
              </a:rPr>
              <a:t>MOV    AX, DATAW</a:t>
            </a:r>
            <a:endParaRPr lang="zh-CN" altLang="zh-CN" sz="2000" dirty="0">
              <a:latin typeface="Times New Roman" panose="02020603050405020304" pitchFamily="18" charset="0"/>
              <a:ea typeface="宋体" panose="02010600030101010101" pitchFamily="2" charset="-122"/>
            </a:endParaRPr>
          </a:p>
          <a:p>
            <a:r>
              <a:rPr lang="pt-BR" altLang="zh-CN" sz="2000" dirty="0">
                <a:latin typeface="Times New Roman" panose="02020603050405020304" pitchFamily="18" charset="0"/>
                <a:ea typeface="宋体" panose="02010600030101010101" pitchFamily="2" charset="-122"/>
              </a:rPr>
              <a:t>MOV    A</a:t>
            </a:r>
            <a:r>
              <a:rPr lang="en-US" altLang="pt-BR" sz="2000" dirty="0">
                <a:latin typeface="Times New Roman" panose="02020603050405020304" pitchFamily="18" charset="0"/>
                <a:ea typeface="宋体" panose="02010600030101010101" pitchFamily="2" charset="-122"/>
              </a:rPr>
              <a:t>L</a:t>
            </a:r>
            <a:r>
              <a:rPr lang="pt-BR" altLang="zh-CN" sz="2000" dirty="0">
                <a:latin typeface="Times New Roman" panose="02020603050405020304" pitchFamily="18" charset="0"/>
                <a:ea typeface="宋体" panose="02010600030101010101" pitchFamily="2" charset="-122"/>
              </a:rPr>
              <a:t>, BYTE  PTR  DATAW</a:t>
            </a:r>
            <a:r>
              <a:rPr lang="pt-BR" altLang="zh-CN" sz="2000" dirty="0">
                <a:solidFill>
                  <a:srgbClr val="00CC00"/>
                </a:solidFill>
                <a:latin typeface="Times New Roman" panose="02020603050405020304" pitchFamily="18" charset="0"/>
                <a:ea typeface="宋体" panose="02010600030101010101" pitchFamily="2" charset="-122"/>
              </a:rPr>
              <a:t>;</a:t>
            </a:r>
            <a:r>
              <a:rPr lang="zh-CN" altLang="zh-CN" sz="2000" dirty="0">
                <a:solidFill>
                  <a:srgbClr val="00CC00"/>
                </a:solidFill>
                <a:latin typeface="Times New Roman" panose="02020603050405020304" pitchFamily="18" charset="0"/>
                <a:ea typeface="宋体" panose="02010600030101010101" pitchFamily="2" charset="-122"/>
              </a:rPr>
              <a:t>临时改变</a:t>
            </a:r>
            <a:r>
              <a:rPr lang="pt-BR" altLang="zh-CN" sz="2000" dirty="0">
                <a:solidFill>
                  <a:srgbClr val="00CC00"/>
                </a:solidFill>
                <a:latin typeface="Times New Roman" panose="02020603050405020304" pitchFamily="18" charset="0"/>
                <a:ea typeface="宋体" panose="02010600030101010101" pitchFamily="2" charset="-122"/>
              </a:rPr>
              <a:t>DATAW</a:t>
            </a:r>
            <a:r>
              <a:rPr lang="zh-CN" altLang="zh-CN" sz="2000" dirty="0">
                <a:solidFill>
                  <a:srgbClr val="00CC00"/>
                </a:solidFill>
                <a:latin typeface="Times New Roman" panose="02020603050405020304" pitchFamily="18" charset="0"/>
                <a:ea typeface="宋体" panose="02010600030101010101" pitchFamily="2" charset="-122"/>
              </a:rPr>
              <a:t>变量的字属性为字节属性</a:t>
            </a:r>
          </a:p>
          <a:p>
            <a:r>
              <a:rPr lang="pt-BR" altLang="zh-CN" sz="2000" dirty="0">
                <a:latin typeface="Times New Roman" panose="02020603050405020304" pitchFamily="18" charset="0"/>
                <a:ea typeface="宋体" panose="02010600030101010101" pitchFamily="2" charset="-122"/>
              </a:rPr>
              <a:t>PTR</a:t>
            </a:r>
            <a:r>
              <a:rPr lang="zh-CN" altLang="zh-CN" sz="2000" dirty="0">
                <a:latin typeface="Times New Roman" panose="02020603050405020304" pitchFamily="18" charset="0"/>
                <a:ea typeface="宋体" panose="02010600030101010101" pitchFamily="2" charset="-122"/>
              </a:rPr>
              <a:t>在指定内存操作数的类型时使用。</a:t>
            </a:r>
          </a:p>
        </p:txBody>
      </p:sp>
    </p:spTree>
  </p:cSld>
  <p:clrMapOvr>
    <a:masterClrMapping/>
  </p:clrMapOvr>
  <p:transition spd="med">
    <p:random/>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4.2.2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汇编语言语句的类型和组成</a:t>
            </a:r>
          </a:p>
        </p:txBody>
      </p:sp>
      <p:sp>
        <p:nvSpPr>
          <p:cNvPr id="3174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31747" name="TextBox 6"/>
          <p:cNvSpPr txBox="1"/>
          <p:nvPr/>
        </p:nvSpPr>
        <p:spPr>
          <a:xfrm>
            <a:off x="207963" y="1582738"/>
            <a:ext cx="8783637" cy="4676775"/>
          </a:xfrm>
          <a:prstGeom prst="rect">
            <a:avLst/>
          </a:prstGeom>
          <a:noFill/>
          <a:ln w="9525">
            <a:noFill/>
          </a:ln>
        </p:spPr>
        <p:txBody>
          <a:bodyPr wrap="square" anchor="t" anchorCtr="0">
            <a:spAutoFit/>
          </a:bodyPr>
          <a:lstStyle/>
          <a:p>
            <a:r>
              <a:rPr lang="zh-CN" altLang="zh-CN" sz="2000" dirty="0">
                <a:latin typeface="Times New Roman" panose="02020603050405020304" pitchFamily="18" charset="0"/>
                <a:ea typeface="宋体" panose="02010600030101010101" pitchFamily="2" charset="-122"/>
              </a:rPr>
              <a:t>例：</a:t>
            </a:r>
            <a:r>
              <a:rPr lang="pt-BR" altLang="zh-CN" sz="2000" dirty="0">
                <a:latin typeface="Times New Roman" panose="02020603050405020304" pitchFamily="18" charset="0"/>
                <a:ea typeface="宋体" panose="02010600030101010101" pitchFamily="2" charset="-122"/>
              </a:rPr>
              <a:t>MOV    AL, BYTE  PTR  [BX]   </a:t>
            </a:r>
            <a:r>
              <a:rPr lang="pt-BR" altLang="zh-CN" sz="2000" dirty="0">
                <a:solidFill>
                  <a:srgbClr val="00CC00"/>
                </a:solidFill>
                <a:latin typeface="Times New Roman" panose="02020603050405020304" pitchFamily="18" charset="0"/>
                <a:ea typeface="宋体" panose="02010600030101010101" pitchFamily="2" charset="-122"/>
              </a:rPr>
              <a:t>;</a:t>
            </a:r>
            <a:r>
              <a:rPr lang="zh-CN" altLang="zh-CN" sz="2000" dirty="0">
                <a:solidFill>
                  <a:srgbClr val="00CC00"/>
                </a:solidFill>
                <a:latin typeface="Times New Roman" panose="02020603050405020304" pitchFamily="18" charset="0"/>
                <a:ea typeface="宋体" panose="02010600030101010101" pitchFamily="2" charset="-122"/>
              </a:rPr>
              <a:t>内存操作数为字节属性</a:t>
            </a:r>
          </a:p>
          <a:p>
            <a:r>
              <a:rPr lang="pt-BR" altLang="zh-CN" sz="2000" dirty="0">
                <a:latin typeface="Times New Roman" panose="02020603050405020304" pitchFamily="18" charset="0"/>
                <a:ea typeface="宋体" panose="02010600030101010101" pitchFamily="2" charset="-122"/>
              </a:rPr>
              <a:t>MOV    AX, WORD  PTR  [BX]         </a:t>
            </a:r>
            <a:r>
              <a:rPr lang="pt-BR" altLang="zh-CN" sz="2000" dirty="0">
                <a:solidFill>
                  <a:srgbClr val="00CC00"/>
                </a:solidFill>
                <a:latin typeface="Times New Roman" panose="02020603050405020304" pitchFamily="18" charset="0"/>
                <a:ea typeface="宋体" panose="02010600030101010101" pitchFamily="2" charset="-122"/>
              </a:rPr>
              <a:t>;</a:t>
            </a:r>
            <a:r>
              <a:rPr lang="zh-CN" altLang="zh-CN" sz="2000" dirty="0">
                <a:solidFill>
                  <a:srgbClr val="00CC00"/>
                </a:solidFill>
                <a:latin typeface="Times New Roman" panose="02020603050405020304" pitchFamily="18" charset="0"/>
                <a:ea typeface="宋体" panose="02010600030101010101" pitchFamily="2" charset="-122"/>
              </a:rPr>
              <a:t>内存操作数为字属性</a:t>
            </a:r>
          </a:p>
          <a:p>
            <a:r>
              <a:rPr lang="en-US" altLang="zh-CN" sz="2000" dirty="0">
                <a:latin typeface="Times New Roman" panose="02020603050405020304" pitchFamily="18" charset="0"/>
                <a:ea typeface="宋体" panose="02010600030101010101" pitchFamily="2" charset="-122"/>
              </a:rPr>
              <a:t>PTR</a:t>
            </a:r>
            <a:r>
              <a:rPr lang="zh-CN" altLang="zh-CN" sz="2000" dirty="0">
                <a:latin typeface="Times New Roman" panose="02020603050405020304" pitchFamily="18" charset="0"/>
                <a:ea typeface="宋体" panose="02010600030101010101" pitchFamily="2" charset="-122"/>
              </a:rPr>
              <a:t>与</a:t>
            </a:r>
            <a:r>
              <a:rPr lang="en-US" altLang="zh-CN" sz="2000" dirty="0">
                <a:latin typeface="Times New Roman" panose="02020603050405020304" pitchFamily="18" charset="0"/>
                <a:ea typeface="宋体" panose="02010600030101010101" pitchFamily="2" charset="-122"/>
              </a:rPr>
              <a:t>EQU</a:t>
            </a:r>
            <a:r>
              <a:rPr lang="zh-CN" altLang="zh-CN" sz="2000" dirty="0">
                <a:latin typeface="Times New Roman" panose="02020603050405020304" pitchFamily="18" charset="0"/>
                <a:ea typeface="宋体" panose="02010600030101010101" pitchFamily="2" charset="-122"/>
              </a:rPr>
              <a:t>一起定义一个新变量时使用。</a:t>
            </a:r>
          </a:p>
          <a:p>
            <a:r>
              <a:rPr lang="zh-CN" altLang="zh-CN" sz="2000" dirty="0">
                <a:latin typeface="Times New Roman" panose="02020603050405020304" pitchFamily="18" charset="0"/>
                <a:ea typeface="宋体" panose="02010600030101010101" pitchFamily="2" charset="-122"/>
              </a:rPr>
              <a:t>例：</a:t>
            </a:r>
            <a:r>
              <a:rPr lang="en-US" altLang="zh-CN" sz="2000" dirty="0">
                <a:latin typeface="Times New Roman" panose="02020603050405020304" pitchFamily="18" charset="0"/>
                <a:ea typeface="宋体" panose="02010600030101010101" pitchFamily="2" charset="-122"/>
              </a:rPr>
              <a:t>DATAW  DW  1122H, 3344H, 5566H</a:t>
            </a:r>
            <a:endParaRPr lang="zh-CN" altLang="zh-CN" sz="2000" dirty="0">
              <a:latin typeface="Times New Roman" panose="02020603050405020304" pitchFamily="18" charset="0"/>
              <a:ea typeface="宋体" panose="02010600030101010101" pitchFamily="2" charset="-122"/>
            </a:endParaRPr>
          </a:p>
          <a:p>
            <a:r>
              <a:rPr lang="pt-BR" altLang="zh-CN" sz="2000" dirty="0">
                <a:latin typeface="Times New Roman" panose="02020603050405020304" pitchFamily="18" charset="0"/>
                <a:ea typeface="宋体" panose="02010600030101010101" pitchFamily="2" charset="-122"/>
              </a:rPr>
              <a:t>DATAB  EQU  BYTE  PTR  DATAW   </a:t>
            </a:r>
            <a:r>
              <a:rPr lang="pt-BR" altLang="zh-CN" sz="2000" dirty="0">
                <a:solidFill>
                  <a:srgbClr val="00CC00"/>
                </a:solidFill>
                <a:latin typeface="Times New Roman" panose="02020603050405020304" pitchFamily="18" charset="0"/>
                <a:ea typeface="宋体" panose="02010600030101010101" pitchFamily="2" charset="-122"/>
              </a:rPr>
              <a:t>;</a:t>
            </a:r>
            <a:r>
              <a:rPr lang="zh-CN" altLang="zh-CN" sz="2000" dirty="0">
                <a:solidFill>
                  <a:srgbClr val="00CC00"/>
                </a:solidFill>
                <a:latin typeface="Times New Roman" panose="02020603050405020304" pitchFamily="18" charset="0"/>
                <a:ea typeface="宋体" panose="02010600030101010101" pitchFamily="2" charset="-122"/>
              </a:rPr>
              <a:t>变量</a:t>
            </a:r>
            <a:r>
              <a:rPr lang="pt-BR" altLang="zh-CN" sz="2000" dirty="0">
                <a:solidFill>
                  <a:srgbClr val="00CC00"/>
                </a:solidFill>
                <a:latin typeface="Times New Roman" panose="02020603050405020304" pitchFamily="18" charset="0"/>
                <a:ea typeface="宋体" panose="02010600030101010101" pitchFamily="2" charset="-122"/>
              </a:rPr>
              <a:t>DATAW</a:t>
            </a:r>
            <a:r>
              <a:rPr lang="zh-CN" altLang="zh-CN" sz="2000" dirty="0">
                <a:solidFill>
                  <a:srgbClr val="00CC00"/>
                </a:solidFill>
                <a:latin typeface="Times New Roman" panose="02020603050405020304" pitchFamily="18" charset="0"/>
                <a:ea typeface="宋体" panose="02010600030101010101" pitchFamily="2" charset="-122"/>
              </a:rPr>
              <a:t>和</a:t>
            </a:r>
            <a:r>
              <a:rPr lang="pt-BR" altLang="zh-CN" sz="2000" dirty="0">
                <a:solidFill>
                  <a:srgbClr val="00CC00"/>
                </a:solidFill>
                <a:latin typeface="Times New Roman" panose="02020603050405020304" pitchFamily="18" charset="0"/>
                <a:ea typeface="宋体" panose="02010600030101010101" pitchFamily="2" charset="-122"/>
              </a:rPr>
              <a:t>DATAB</a:t>
            </a:r>
            <a:r>
              <a:rPr lang="zh-CN" altLang="zh-CN" sz="2000" dirty="0">
                <a:solidFill>
                  <a:srgbClr val="00CC00"/>
                </a:solidFill>
                <a:latin typeface="Times New Roman" panose="02020603050405020304" pitchFamily="18" charset="0"/>
                <a:ea typeface="宋体" panose="02010600030101010101" pitchFamily="2" charset="-122"/>
              </a:rPr>
              <a:t>的起始地址相同</a:t>
            </a:r>
          </a:p>
          <a:p>
            <a:r>
              <a:rPr lang="pt-BR" altLang="zh-CN" sz="2000" dirty="0">
                <a:latin typeface="Times New Roman" panose="02020603050405020304" pitchFamily="18" charset="0"/>
                <a:ea typeface="宋体" panose="02010600030101010101" pitchFamily="2" charset="-122"/>
              </a:rPr>
              <a:t>MOV   AX, DATAW                                </a:t>
            </a:r>
            <a:r>
              <a:rPr lang="pt-BR" altLang="zh-CN" sz="2000" dirty="0">
                <a:solidFill>
                  <a:srgbClr val="00CC00"/>
                </a:solidFill>
                <a:latin typeface="Times New Roman" panose="02020603050405020304" pitchFamily="18" charset="0"/>
                <a:ea typeface="宋体" panose="02010600030101010101" pitchFamily="2" charset="-122"/>
              </a:rPr>
              <a:t>;</a:t>
            </a:r>
            <a:r>
              <a:rPr lang="zh-CN" altLang="zh-CN" sz="2000" dirty="0">
                <a:solidFill>
                  <a:srgbClr val="00CC00"/>
                </a:solidFill>
                <a:latin typeface="Times New Roman" panose="02020603050405020304" pitchFamily="18" charset="0"/>
                <a:ea typeface="宋体" panose="02010600030101010101" pitchFamily="2" charset="-122"/>
              </a:rPr>
              <a:t>进行字存取时可用变量</a:t>
            </a:r>
            <a:r>
              <a:rPr lang="pt-BR" altLang="zh-CN" sz="2000" dirty="0">
                <a:solidFill>
                  <a:srgbClr val="00CC00"/>
                </a:solidFill>
                <a:latin typeface="Times New Roman" panose="02020603050405020304" pitchFamily="18" charset="0"/>
                <a:ea typeface="宋体" panose="02010600030101010101" pitchFamily="2" charset="-122"/>
              </a:rPr>
              <a:t>DATAW</a:t>
            </a:r>
            <a:endParaRPr lang="zh-CN" altLang="zh-CN" sz="2000" dirty="0">
              <a:solidFill>
                <a:srgbClr val="00CC00"/>
              </a:solidFill>
              <a:latin typeface="Times New Roman" panose="02020603050405020304" pitchFamily="18" charset="0"/>
              <a:ea typeface="宋体" panose="02010600030101010101" pitchFamily="2" charset="-122"/>
            </a:endParaRPr>
          </a:p>
          <a:p>
            <a:r>
              <a:rPr lang="pt-BR" altLang="zh-CN" sz="2000" dirty="0">
                <a:latin typeface="Times New Roman" panose="02020603050405020304" pitchFamily="18" charset="0"/>
                <a:ea typeface="宋体" panose="02010600030101010101" pitchFamily="2" charset="-122"/>
              </a:rPr>
              <a:t>MOV   AL, DATAB                                 </a:t>
            </a:r>
            <a:r>
              <a:rPr lang="pt-BR" altLang="zh-CN" sz="2000" dirty="0">
                <a:solidFill>
                  <a:srgbClr val="00CC00"/>
                </a:solidFill>
                <a:latin typeface="Times New Roman" panose="02020603050405020304" pitchFamily="18" charset="0"/>
                <a:ea typeface="宋体" panose="02010600030101010101" pitchFamily="2" charset="-122"/>
              </a:rPr>
              <a:t>;</a:t>
            </a:r>
            <a:r>
              <a:rPr lang="zh-CN" altLang="zh-CN" sz="2000" dirty="0">
                <a:solidFill>
                  <a:srgbClr val="00CC00"/>
                </a:solidFill>
                <a:latin typeface="Times New Roman" panose="02020603050405020304" pitchFamily="18" charset="0"/>
                <a:ea typeface="宋体" panose="02010600030101010101" pitchFamily="2" charset="-122"/>
              </a:rPr>
              <a:t>进行字节存取时可用变量</a:t>
            </a:r>
            <a:r>
              <a:rPr lang="pt-BR" altLang="zh-CN" sz="2000" dirty="0">
                <a:solidFill>
                  <a:srgbClr val="00CC00"/>
                </a:solidFill>
                <a:latin typeface="Times New Roman" panose="02020603050405020304" pitchFamily="18" charset="0"/>
                <a:ea typeface="宋体" panose="02010600030101010101" pitchFamily="2" charset="-122"/>
              </a:rPr>
              <a:t>DATAB</a:t>
            </a:r>
            <a:endParaRPr lang="zh-CN" altLang="zh-CN" sz="2000" dirty="0">
              <a:solidFill>
                <a:srgbClr val="00CC00"/>
              </a:solidFill>
              <a:latin typeface="Times New Roman" panose="02020603050405020304" pitchFamily="18" charset="0"/>
              <a:ea typeface="宋体" panose="02010600030101010101" pitchFamily="2" charset="-122"/>
            </a:endParaRPr>
          </a:p>
          <a:p>
            <a:r>
              <a:rPr lang="zh-CN" altLang="zh-CN" sz="2000" dirty="0">
                <a:latin typeface="Times New Roman" panose="02020603050405020304" pitchFamily="18" charset="0"/>
                <a:ea typeface="宋体" panose="02010600030101010101" pitchFamily="2" charset="-122"/>
              </a:rPr>
              <a:t>② </a:t>
            </a:r>
            <a:r>
              <a:rPr lang="pt-BR" altLang="zh-CN" sz="2000" dirty="0">
                <a:latin typeface="Times New Roman" panose="02020603050405020304" pitchFamily="18" charset="0"/>
                <a:ea typeface="宋体" panose="02010600030101010101" pitchFamily="2" charset="-122"/>
              </a:rPr>
              <a:t>THIS</a:t>
            </a:r>
            <a:r>
              <a:rPr lang="zh-CN" altLang="zh-CN" sz="2000" dirty="0">
                <a:latin typeface="Times New Roman" panose="02020603050405020304" pitchFamily="18" charset="0"/>
                <a:ea typeface="宋体" panose="02010600030101010101" pitchFamily="2" charset="-122"/>
              </a:rPr>
              <a:t>。</a:t>
            </a:r>
          </a:p>
          <a:p>
            <a:r>
              <a:rPr lang="pt-BR" altLang="zh-CN" sz="2000" dirty="0">
                <a:latin typeface="Times New Roman" panose="02020603050405020304" pitchFamily="18" charset="0"/>
                <a:ea typeface="宋体" panose="02010600030101010101" pitchFamily="2" charset="-122"/>
              </a:rPr>
              <a:t>THIS</a:t>
            </a:r>
            <a:r>
              <a:rPr lang="zh-CN" altLang="zh-CN" sz="2000" dirty="0">
                <a:latin typeface="Times New Roman" panose="02020603050405020304" pitchFamily="18" charset="0"/>
                <a:ea typeface="宋体" panose="02010600030101010101" pitchFamily="2" charset="-122"/>
              </a:rPr>
              <a:t>可以像</a:t>
            </a:r>
            <a:r>
              <a:rPr lang="pt-BR" altLang="zh-CN" sz="2000" dirty="0">
                <a:latin typeface="Times New Roman" panose="02020603050405020304" pitchFamily="18" charset="0"/>
                <a:ea typeface="宋体" panose="02010600030101010101" pitchFamily="2" charset="-122"/>
              </a:rPr>
              <a:t>PTR</a:t>
            </a:r>
            <a:r>
              <a:rPr lang="zh-CN" altLang="zh-CN" sz="2000" dirty="0">
                <a:latin typeface="Times New Roman" panose="02020603050405020304" pitchFamily="18" charset="0"/>
                <a:ea typeface="宋体" panose="02010600030101010101" pitchFamily="2" charset="-122"/>
              </a:rPr>
              <a:t>一样建立一个指定类型的地址操作数，该操作数的段地址和偏移地址与紧靠它的下一个存储单元地址相同。</a:t>
            </a:r>
          </a:p>
          <a:p>
            <a:r>
              <a:rPr lang="zh-CN" altLang="zh-CN" sz="2000" dirty="0">
                <a:latin typeface="Times New Roman" panose="02020603050405020304" pitchFamily="18" charset="0"/>
                <a:ea typeface="宋体" panose="02010600030101010101" pitchFamily="2" charset="-122"/>
              </a:rPr>
              <a:t>例：</a:t>
            </a:r>
            <a:r>
              <a:rPr lang="pt-BR" altLang="zh-CN" sz="2000" dirty="0">
                <a:latin typeface="Times New Roman" panose="02020603050405020304" pitchFamily="18" charset="0"/>
                <a:ea typeface="宋体" panose="02010600030101010101" pitchFamily="2" charset="-122"/>
              </a:rPr>
              <a:t>DATAB  EQU  THIS  BYTE          </a:t>
            </a:r>
            <a:r>
              <a:rPr lang="pt-BR" altLang="zh-CN" sz="2000" dirty="0">
                <a:solidFill>
                  <a:srgbClr val="00CC00"/>
                </a:solidFill>
                <a:latin typeface="Times New Roman" panose="02020603050405020304" pitchFamily="18" charset="0"/>
                <a:ea typeface="宋体" panose="02010600030101010101" pitchFamily="2" charset="-122"/>
              </a:rPr>
              <a:t>;</a:t>
            </a:r>
            <a:r>
              <a:rPr lang="zh-CN" altLang="zh-CN" sz="2000" dirty="0">
                <a:solidFill>
                  <a:srgbClr val="00CC00"/>
                </a:solidFill>
                <a:latin typeface="Times New Roman" panose="02020603050405020304" pitchFamily="18" charset="0"/>
                <a:ea typeface="宋体" panose="02010600030101010101" pitchFamily="2" charset="-122"/>
              </a:rPr>
              <a:t>变量</a:t>
            </a:r>
            <a:r>
              <a:rPr lang="pt-BR" altLang="zh-CN" sz="2000" dirty="0">
                <a:solidFill>
                  <a:srgbClr val="00CC00"/>
                </a:solidFill>
                <a:latin typeface="Times New Roman" panose="02020603050405020304" pitchFamily="18" charset="0"/>
                <a:ea typeface="宋体" panose="02010600030101010101" pitchFamily="2" charset="-122"/>
              </a:rPr>
              <a:t>DATAB</a:t>
            </a:r>
            <a:r>
              <a:rPr lang="zh-CN" altLang="zh-CN" sz="2000" dirty="0">
                <a:solidFill>
                  <a:srgbClr val="00CC00"/>
                </a:solidFill>
                <a:latin typeface="Times New Roman" panose="02020603050405020304" pitchFamily="18" charset="0"/>
                <a:ea typeface="宋体" panose="02010600030101010101" pitchFamily="2" charset="-122"/>
              </a:rPr>
              <a:t>为字节类型</a:t>
            </a:r>
          </a:p>
          <a:p>
            <a:r>
              <a:rPr lang="pt-BR" altLang="zh-CN" sz="2000" dirty="0">
                <a:latin typeface="Times New Roman" panose="02020603050405020304" pitchFamily="18" charset="0"/>
                <a:ea typeface="宋体" panose="02010600030101010101" pitchFamily="2" charset="-122"/>
              </a:rPr>
              <a:t>DATAW  DW  1122H, 3344H, 5566H    </a:t>
            </a:r>
            <a:r>
              <a:rPr lang="pt-BR" altLang="zh-CN" sz="2000" dirty="0">
                <a:solidFill>
                  <a:srgbClr val="00CC00"/>
                </a:solidFill>
                <a:latin typeface="Times New Roman" panose="02020603050405020304" pitchFamily="18" charset="0"/>
                <a:ea typeface="宋体" panose="02010600030101010101" pitchFamily="2" charset="-122"/>
              </a:rPr>
              <a:t>;</a:t>
            </a:r>
            <a:r>
              <a:rPr lang="zh-CN" altLang="zh-CN" sz="2000" dirty="0">
                <a:solidFill>
                  <a:srgbClr val="00CC00"/>
                </a:solidFill>
                <a:latin typeface="Times New Roman" panose="02020603050405020304" pitchFamily="18" charset="0"/>
                <a:ea typeface="宋体" panose="02010600030101010101" pitchFamily="2" charset="-122"/>
              </a:rPr>
              <a:t>变量</a:t>
            </a:r>
            <a:r>
              <a:rPr lang="pt-BR" altLang="zh-CN" sz="2000" dirty="0">
                <a:solidFill>
                  <a:srgbClr val="00CC00"/>
                </a:solidFill>
                <a:latin typeface="Times New Roman" panose="02020603050405020304" pitchFamily="18" charset="0"/>
                <a:ea typeface="宋体" panose="02010600030101010101" pitchFamily="2" charset="-122"/>
              </a:rPr>
              <a:t>DATAB</a:t>
            </a:r>
            <a:r>
              <a:rPr lang="zh-CN" altLang="zh-CN" sz="2000" dirty="0">
                <a:solidFill>
                  <a:srgbClr val="00CC00"/>
                </a:solidFill>
                <a:latin typeface="Times New Roman" panose="02020603050405020304" pitchFamily="18" charset="0"/>
                <a:ea typeface="宋体" panose="02010600030101010101" pitchFamily="2" charset="-122"/>
              </a:rPr>
              <a:t>和</a:t>
            </a:r>
            <a:r>
              <a:rPr lang="pt-BR" altLang="zh-CN" sz="2000" dirty="0">
                <a:solidFill>
                  <a:srgbClr val="00CC00"/>
                </a:solidFill>
                <a:latin typeface="Times New Roman" panose="02020603050405020304" pitchFamily="18" charset="0"/>
                <a:ea typeface="宋体" panose="02010600030101010101" pitchFamily="2" charset="-122"/>
              </a:rPr>
              <a:t>DATAW</a:t>
            </a:r>
            <a:r>
              <a:rPr lang="zh-CN" altLang="zh-CN" sz="2000" dirty="0">
                <a:solidFill>
                  <a:srgbClr val="00CC00"/>
                </a:solidFill>
                <a:latin typeface="Times New Roman" panose="02020603050405020304" pitchFamily="18" charset="0"/>
                <a:ea typeface="宋体" panose="02010600030101010101" pitchFamily="2" charset="-122"/>
              </a:rPr>
              <a:t>的起始地址相同</a:t>
            </a:r>
          </a:p>
          <a:p>
            <a:r>
              <a:rPr lang="zh-CN" altLang="zh-CN" sz="2000" dirty="0">
                <a:latin typeface="Times New Roman" panose="02020603050405020304" pitchFamily="18" charset="0"/>
                <a:ea typeface="宋体" panose="02010600030101010101" pitchFamily="2" charset="-122"/>
              </a:rPr>
              <a:t>③ </a:t>
            </a:r>
            <a:r>
              <a:rPr lang="pt-BR" altLang="zh-CN" sz="2000" dirty="0">
                <a:latin typeface="Times New Roman" panose="02020603050405020304" pitchFamily="18" charset="0"/>
                <a:ea typeface="宋体" panose="02010600030101010101" pitchFamily="2" charset="-122"/>
              </a:rPr>
              <a:t>SHORT</a:t>
            </a:r>
            <a:r>
              <a:rPr lang="zh-CN" altLang="zh-CN" sz="2000" dirty="0">
                <a:latin typeface="Times New Roman" panose="02020603050405020304" pitchFamily="18" charset="0"/>
                <a:ea typeface="宋体" panose="02010600030101010101" pitchFamily="2" charset="-122"/>
              </a:rPr>
              <a:t>。</a:t>
            </a:r>
          </a:p>
          <a:p>
            <a:r>
              <a:rPr lang="pt-BR" altLang="zh-CN" sz="2000" dirty="0">
                <a:latin typeface="Times New Roman" panose="02020603050405020304" pitchFamily="18" charset="0"/>
                <a:ea typeface="宋体" panose="02010600030101010101" pitchFamily="2" charset="-122"/>
              </a:rPr>
              <a:t>SHORT</a:t>
            </a:r>
            <a:r>
              <a:rPr lang="zh-CN" altLang="zh-CN" sz="2000" dirty="0">
                <a:latin typeface="Times New Roman" panose="02020603050405020304" pitchFamily="18" charset="0"/>
                <a:ea typeface="宋体" panose="02010600030101010101" pitchFamily="2" charset="-122"/>
              </a:rPr>
              <a:t>用于</a:t>
            </a:r>
            <a:r>
              <a:rPr lang="pt-BR" altLang="zh-CN" sz="2000" dirty="0">
                <a:latin typeface="Times New Roman" panose="02020603050405020304" pitchFamily="18" charset="0"/>
                <a:ea typeface="宋体" panose="02010600030101010101" pitchFamily="2" charset="-122"/>
              </a:rPr>
              <a:t>JMP</a:t>
            </a:r>
            <a:r>
              <a:rPr lang="zh-CN" altLang="zh-CN" sz="2000" dirty="0">
                <a:latin typeface="Times New Roman" panose="02020603050405020304" pitchFamily="18" charset="0"/>
                <a:ea typeface="宋体" panose="02010600030101010101" pitchFamily="2" charset="-122"/>
              </a:rPr>
              <a:t>指令，指明是短转移。</a:t>
            </a:r>
          </a:p>
        </p:txBody>
      </p:sp>
    </p:spTree>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4.2.2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汇编语言语句的类型和组成</a:t>
            </a:r>
          </a:p>
        </p:txBody>
      </p:sp>
      <p:sp>
        <p:nvSpPr>
          <p:cNvPr id="3379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33795" name="TextBox 6"/>
          <p:cNvSpPr txBox="1"/>
          <p:nvPr/>
        </p:nvSpPr>
        <p:spPr>
          <a:xfrm>
            <a:off x="639763" y="1855788"/>
            <a:ext cx="7785100" cy="4219575"/>
          </a:xfrm>
          <a:prstGeom prst="rect">
            <a:avLst/>
          </a:prstGeom>
          <a:noFill/>
          <a:ln w="9525">
            <a:noFill/>
          </a:ln>
        </p:spPr>
        <p:txBody>
          <a:bodyPr anchor="t" anchorCtr="0">
            <a:spAutoFit/>
          </a:bodyPr>
          <a:lstStyle/>
          <a:p>
            <a:pPr algn="just"/>
            <a:r>
              <a:rPr lang="zh-CN" altLang="zh-CN" sz="2000" dirty="0">
                <a:latin typeface="Times New Roman" panose="02020603050405020304" pitchFamily="18" charset="0"/>
                <a:ea typeface="宋体" panose="02010600030101010101" pitchFamily="2" charset="-122"/>
              </a:rPr>
              <a:t>（</a:t>
            </a:r>
            <a:r>
              <a:rPr lang="pt-BR" altLang="zh-CN" sz="2000" dirty="0">
                <a:latin typeface="Times New Roman" panose="02020603050405020304" pitchFamily="18" charset="0"/>
                <a:ea typeface="宋体" panose="02010600030101010101" pitchFamily="2" charset="-122"/>
              </a:rPr>
              <a:t>6</a:t>
            </a:r>
            <a:r>
              <a:rPr lang="zh-CN" altLang="zh-CN" sz="2000" dirty="0">
                <a:latin typeface="Times New Roman" panose="02020603050405020304" pitchFamily="18" charset="0"/>
                <a:ea typeface="宋体" panose="02010600030101010101" pitchFamily="2" charset="-122"/>
              </a:rPr>
              <a:t>）其他运算符。</a:t>
            </a:r>
          </a:p>
          <a:p>
            <a:pPr algn="just"/>
            <a:r>
              <a:rPr lang="zh-CN" altLang="zh-CN" sz="2000" dirty="0">
                <a:latin typeface="Times New Roman" panose="02020603050405020304" pitchFamily="18" charset="0"/>
                <a:ea typeface="宋体" panose="02010600030101010101" pitchFamily="2" charset="-122"/>
              </a:rPr>
              <a:t>① 方括号</a:t>
            </a:r>
            <a:r>
              <a:rPr lang="pt-BR" altLang="zh-CN" sz="2000" dirty="0">
                <a:latin typeface="Times New Roman" panose="02020603050405020304" pitchFamily="18" charset="0"/>
                <a:ea typeface="宋体" panose="02010600030101010101" pitchFamily="2" charset="-122"/>
              </a:rPr>
              <a:t>[]</a:t>
            </a:r>
            <a:r>
              <a:rPr lang="zh-CN" altLang="zh-CN" sz="2000" dirty="0">
                <a:latin typeface="Times New Roman" panose="02020603050405020304" pitchFamily="18" charset="0"/>
                <a:ea typeface="宋体" panose="02010600030101010101" pitchFamily="2" charset="-122"/>
              </a:rPr>
              <a:t>。</a:t>
            </a:r>
            <a:r>
              <a:rPr lang="pt-BR" altLang="zh-CN" sz="2000" dirty="0">
                <a:latin typeface="Times New Roman" panose="02020603050405020304" pitchFamily="18" charset="0"/>
                <a:ea typeface="宋体" panose="02010600030101010101" pitchFamily="2" charset="-122"/>
              </a:rPr>
              <a:t> </a:t>
            </a:r>
            <a:endParaRPr lang="zh-CN" altLang="zh-CN" sz="2000" dirty="0">
              <a:latin typeface="Times New Roman" panose="02020603050405020304" pitchFamily="18" charset="0"/>
              <a:ea typeface="宋体" panose="02010600030101010101" pitchFamily="2" charset="-122"/>
            </a:endParaRPr>
          </a:p>
          <a:p>
            <a:pPr algn="just"/>
            <a:r>
              <a:rPr lang="zh-CN" altLang="zh-CN" sz="2000" dirty="0">
                <a:latin typeface="Times New Roman" panose="02020603050405020304" pitchFamily="18" charset="0"/>
                <a:ea typeface="宋体" panose="02010600030101010101" pitchFamily="2" charset="-122"/>
              </a:rPr>
              <a:t>例：</a:t>
            </a:r>
            <a:r>
              <a:rPr lang="en-US" altLang="zh-CN" sz="2000" dirty="0">
                <a:latin typeface="Times New Roman" panose="02020603050405020304" pitchFamily="18" charset="0"/>
                <a:ea typeface="宋体" panose="02010600030101010101" pitchFamily="2" charset="-122"/>
              </a:rPr>
              <a:t>MOV    AX,  [1000H]         </a:t>
            </a:r>
            <a:r>
              <a:rPr lang="en-US" altLang="zh-CN" sz="2000" dirty="0">
                <a:solidFill>
                  <a:srgbClr val="00CC00"/>
                </a:solidFill>
                <a:latin typeface="Times New Roman" panose="02020603050405020304" pitchFamily="18" charset="0"/>
                <a:ea typeface="宋体" panose="02010600030101010101" pitchFamily="2" charset="-122"/>
              </a:rPr>
              <a:t>;</a:t>
            </a:r>
            <a:r>
              <a:rPr lang="zh-CN" altLang="zh-CN" sz="2000" dirty="0">
                <a:solidFill>
                  <a:srgbClr val="00CC00"/>
                </a:solidFill>
                <a:latin typeface="Times New Roman" panose="02020603050405020304" pitchFamily="18" charset="0"/>
                <a:ea typeface="宋体" panose="02010600030101010101" pitchFamily="2" charset="-122"/>
              </a:rPr>
              <a:t>方括号中的数据为有效地址，</a:t>
            </a:r>
            <a:endParaRPr lang="en-US" altLang="zh-CN" sz="2000" dirty="0">
              <a:solidFill>
                <a:srgbClr val="00CC00"/>
              </a:solidFill>
              <a:latin typeface="Times New Roman" panose="02020603050405020304" pitchFamily="18" charset="0"/>
              <a:ea typeface="宋体" panose="02010600030101010101" pitchFamily="2" charset="-122"/>
            </a:endParaRPr>
          </a:p>
          <a:p>
            <a:pPr algn="just"/>
            <a:r>
              <a:rPr lang="en-US" altLang="zh-CN" sz="2000" dirty="0">
                <a:latin typeface="Times New Roman" panose="02020603050405020304" pitchFamily="18" charset="0"/>
                <a:ea typeface="宋体" panose="02010600030101010101" pitchFamily="2" charset="-122"/>
              </a:rPr>
              <a:t>                                                     </a:t>
            </a:r>
            <a:r>
              <a:rPr lang="en-US" altLang="zh-CN" sz="2000" dirty="0">
                <a:solidFill>
                  <a:srgbClr val="00CC00"/>
                </a:solidFill>
                <a:latin typeface="Times New Roman" panose="02020603050405020304" pitchFamily="18" charset="0"/>
                <a:ea typeface="宋体" panose="02010600030101010101" pitchFamily="2" charset="-122"/>
              </a:rPr>
              <a:t>;</a:t>
            </a:r>
            <a:r>
              <a:rPr lang="zh-CN" altLang="zh-CN" sz="2000" dirty="0">
                <a:solidFill>
                  <a:srgbClr val="00CC00"/>
                </a:solidFill>
                <a:latin typeface="Times New Roman" panose="02020603050405020304" pitchFamily="18" charset="0"/>
                <a:ea typeface="宋体" panose="02010600030101010101" pitchFamily="2" charset="-122"/>
              </a:rPr>
              <a:t>默认为数据段</a:t>
            </a:r>
          </a:p>
          <a:p>
            <a:pPr algn="just"/>
            <a:r>
              <a:rPr lang="zh-CN" altLang="zh-CN" sz="2000" dirty="0">
                <a:latin typeface="Times New Roman" panose="02020603050405020304" pitchFamily="18" charset="0"/>
                <a:ea typeface="宋体" panose="02010600030101010101" pitchFamily="2" charset="-122"/>
              </a:rPr>
              <a:t>② 段超越。</a:t>
            </a:r>
          </a:p>
          <a:p>
            <a:pPr algn="just"/>
            <a:r>
              <a:rPr lang="zh-CN" altLang="zh-CN" sz="2000" dirty="0">
                <a:latin typeface="Times New Roman" panose="02020603050405020304" pitchFamily="18" charset="0"/>
                <a:ea typeface="宋体" panose="02010600030101010101" pitchFamily="2" charset="-122"/>
              </a:rPr>
              <a:t>例：</a:t>
            </a:r>
            <a:r>
              <a:rPr lang="en-US" altLang="zh-CN" sz="2000" dirty="0">
                <a:latin typeface="Times New Roman" panose="02020603050405020304" pitchFamily="18" charset="0"/>
                <a:ea typeface="宋体" panose="02010600030101010101" pitchFamily="2" charset="-122"/>
              </a:rPr>
              <a:t>MOV    AX,  ES: [1000H]  </a:t>
            </a:r>
            <a:r>
              <a:rPr lang="en-US" altLang="zh-CN" sz="2000" dirty="0">
                <a:solidFill>
                  <a:srgbClr val="00CC00"/>
                </a:solidFill>
                <a:latin typeface="Times New Roman" panose="02020603050405020304" pitchFamily="18" charset="0"/>
                <a:ea typeface="宋体" panose="02010600030101010101" pitchFamily="2" charset="-122"/>
              </a:rPr>
              <a:t>;</a:t>
            </a:r>
            <a:r>
              <a:rPr lang="zh-CN" altLang="zh-CN" sz="2000" dirty="0">
                <a:solidFill>
                  <a:srgbClr val="00CC00"/>
                </a:solidFill>
                <a:latin typeface="Times New Roman" panose="02020603050405020304" pitchFamily="18" charset="0"/>
                <a:ea typeface="宋体" panose="02010600030101010101" pitchFamily="2" charset="-122"/>
              </a:rPr>
              <a:t>读取的数据在附加段中</a:t>
            </a:r>
          </a:p>
          <a:p>
            <a:pPr algn="just"/>
            <a:r>
              <a:rPr lang="zh-CN" altLang="zh-CN" sz="2000" dirty="0">
                <a:latin typeface="Times New Roman" panose="02020603050405020304" pitchFamily="18" charset="0"/>
                <a:ea typeface="宋体" panose="02010600030101010101" pitchFamily="2" charset="-122"/>
              </a:rPr>
              <a:t>③ 字节分离运算符</a:t>
            </a:r>
            <a:r>
              <a:rPr lang="en-US" altLang="zh-CN" sz="2000" dirty="0">
                <a:latin typeface="Times New Roman" panose="02020603050405020304" pitchFamily="18" charset="0"/>
                <a:ea typeface="宋体" panose="02010600030101010101" pitchFamily="2" charset="-122"/>
              </a:rPr>
              <a:t>High</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Low</a:t>
            </a:r>
            <a:r>
              <a:rPr lang="zh-CN" altLang="zh-CN" sz="2000" dirty="0">
                <a:latin typeface="Times New Roman" panose="02020603050405020304" pitchFamily="18" charset="0"/>
                <a:ea typeface="宋体" panose="02010600030101010101" pitchFamily="2" charset="-122"/>
              </a:rPr>
              <a:t>。</a:t>
            </a:r>
          </a:p>
          <a:p>
            <a:pPr algn="just"/>
            <a:r>
              <a:rPr lang="en-US" altLang="zh-CN" sz="2000" dirty="0">
                <a:latin typeface="Times New Roman" panose="02020603050405020304" pitchFamily="18" charset="0"/>
                <a:ea typeface="宋体" panose="02010600030101010101" pitchFamily="2" charset="-122"/>
              </a:rPr>
              <a:t>High</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Low</a:t>
            </a:r>
            <a:r>
              <a:rPr lang="zh-CN" altLang="zh-CN" sz="2000" dirty="0">
                <a:latin typeface="Times New Roman" panose="02020603050405020304" pitchFamily="18" charset="0"/>
                <a:ea typeface="宋体" panose="02010600030101010101" pitchFamily="2" charset="-122"/>
              </a:rPr>
              <a:t>将分别得到一个数值或地址表达式的高位和低位字节。</a:t>
            </a:r>
          </a:p>
          <a:p>
            <a:pPr algn="just"/>
            <a:r>
              <a:rPr lang="en-US" altLang="zh-CN" sz="2000" dirty="0">
                <a:latin typeface="Times New Roman" panose="02020603050405020304" pitchFamily="18" charset="0"/>
                <a:ea typeface="宋体" panose="02010600030101010101" pitchFamily="2" charset="-122"/>
              </a:rPr>
              <a:t>4</a:t>
            </a:r>
            <a:r>
              <a:rPr lang="zh-CN" altLang="zh-CN" sz="2000" dirty="0">
                <a:latin typeface="Times New Roman" panose="02020603050405020304" pitchFamily="18" charset="0"/>
                <a:ea typeface="宋体" panose="02010600030101010101" pitchFamily="2" charset="-122"/>
              </a:rPr>
              <a:t>．注释项</a:t>
            </a:r>
          </a:p>
          <a:p>
            <a:pPr algn="just"/>
            <a:r>
              <a:rPr lang="en-US" altLang="zh-CN" sz="2000" dirty="0">
                <a:latin typeface="Times New Roman" panose="02020603050405020304" pitchFamily="18" charset="0"/>
                <a:ea typeface="宋体" panose="02010600030101010101" pitchFamily="2" charset="-122"/>
              </a:rPr>
              <a:t>    </a:t>
            </a:r>
            <a:r>
              <a:rPr lang="zh-CN" altLang="zh-CN" sz="2000" dirty="0">
                <a:latin typeface="Times New Roman" panose="02020603050405020304" pitchFamily="18" charset="0"/>
                <a:ea typeface="宋体" panose="02010600030101010101" pitchFamily="2" charset="-122"/>
              </a:rPr>
              <a:t>注释项用来说明一段程序、一条或几条指令的功能，此项为可选项，不会影响程序的执行。对编程者而言，注释项是一种“备忘录”。好的注释，使程序容易读懂，便于维护。注释前面应加“</a:t>
            </a:r>
            <a:r>
              <a:rPr lang="zh-CN" altLang="zh-CN" sz="2000" dirty="0">
                <a:solidFill>
                  <a:srgbClr val="00CC00"/>
                </a:solidFill>
                <a:latin typeface="Times New Roman" panose="02020603050405020304" pitchFamily="18" charset="0"/>
                <a:ea typeface="宋体" panose="02010600030101010101" pitchFamily="2" charset="-122"/>
              </a:rPr>
              <a:t>；</a:t>
            </a:r>
            <a:r>
              <a:rPr lang="zh-CN" altLang="zh-CN" sz="2000" dirty="0">
                <a:latin typeface="Times New Roman" panose="02020603050405020304" pitchFamily="18" charset="0"/>
                <a:ea typeface="宋体" panose="02010600030101010101" pitchFamily="2" charset="-122"/>
              </a:rPr>
              <a:t>”号。</a:t>
            </a:r>
          </a:p>
        </p:txBody>
      </p:sp>
    </p:spTree>
  </p:cSld>
  <p:clrMapOvr>
    <a:masterClrMapping/>
  </p:clrMapOvr>
  <p:transition spd="med">
    <p:random/>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89738"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9933"/>
                </a:solidFill>
                <a:effectLst>
                  <a:outerShdw blurRad="38100" dist="38100" dir="2700000" algn="tl">
                    <a:srgbClr val="000000"/>
                  </a:outerShdw>
                </a:effectLst>
                <a:uLnTx/>
                <a:uFillTx/>
                <a:latin typeface="+mj-lt"/>
                <a:ea typeface="+mj-ea"/>
                <a:cs typeface="+mj-cs"/>
              </a:rPr>
              <a:t>4.3  </a:t>
            </a:r>
            <a:r>
              <a:rPr kumimoji="1" lang="zh-CN" altLang="zh-CN" sz="3200" b="1" i="0" u="none" strike="noStrike" kern="0" cap="none" spc="0" normalizeH="0" baseline="0" noProof="0" dirty="0">
                <a:ln>
                  <a:noFill/>
                </a:ln>
                <a:solidFill>
                  <a:srgbClr val="FF9933"/>
                </a:solidFill>
                <a:effectLst>
                  <a:outerShdw blurRad="38100" dist="38100" dir="2700000" algn="tl">
                    <a:srgbClr val="000000"/>
                  </a:outerShdw>
                </a:effectLst>
                <a:uLnTx/>
                <a:uFillTx/>
                <a:latin typeface="+mj-lt"/>
                <a:ea typeface="+mj-ea"/>
                <a:cs typeface="+mj-cs"/>
              </a:rPr>
              <a:t>伪操作指令</a:t>
            </a:r>
          </a:p>
        </p:txBody>
      </p:sp>
      <p:sp>
        <p:nvSpPr>
          <p:cNvPr id="35842"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8436" name="Rectangle 11"/>
          <p:cNvSpPr>
            <a:spLocks noGrp="1"/>
          </p:cNvSpPr>
          <p:nvPr>
            <p:ph idx="1"/>
          </p:nvPr>
        </p:nvSpPr>
        <p:spPr>
          <a:xfrm>
            <a:off x="1439863" y="1958975"/>
            <a:ext cx="6364288" cy="4127500"/>
          </a:xfrm>
          <a:ln>
            <a:miter/>
          </a:ln>
        </p:spPr>
        <p:txBody>
          <a:bodyPr vert="horz" wrap="square" lIns="92075" tIns="46038" rIns="92075" bIns="46038" anchor="t"/>
          <a:lstStyle/>
          <a:p>
            <a:pPr marL="342900" marR="0" indent="-34290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pPr>
            <a:r>
              <a:rPr kumimoji="0" lang="zh-CN" altLang="en-US" sz="2800" b="1" i="0" u="none" strike="noStrike" kern="0" cap="none" spc="0" normalizeH="0" baseline="0" noProof="1">
                <a:solidFill>
                  <a:srgbClr val="66FFCC"/>
                </a:solidFill>
                <a:latin typeface="+mn-lt"/>
                <a:ea typeface="+mn-ea"/>
                <a:cs typeface="+mn-cs"/>
              </a:rPr>
              <a:t>4.3.1  处理器方式伪指令</a:t>
            </a:r>
          </a:p>
          <a:p>
            <a:pPr marL="0" marR="0" indent="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pPr>
            <a:r>
              <a:rPr kumimoji="0" lang="zh-CN" altLang="en-US" sz="2800" b="1" i="0" u="none" strike="noStrike" kern="0" cap="none" spc="0" normalizeH="0" baseline="0" noProof="1">
                <a:solidFill>
                  <a:srgbClr val="66FFCC"/>
                </a:solidFill>
                <a:latin typeface="+mn-lt"/>
                <a:ea typeface="+mn-ea"/>
                <a:cs typeface="+mn-cs"/>
                <a:sym typeface="+mn-ea"/>
              </a:rPr>
              <a:t>4.3.</a:t>
            </a:r>
            <a:r>
              <a:rPr kumimoji="0" lang="en-US" altLang="zh-CN" sz="2800" b="1" i="0" u="none" strike="noStrike" kern="0" cap="none" spc="0" normalizeH="0" baseline="0" noProof="1">
                <a:solidFill>
                  <a:srgbClr val="66FFCC"/>
                </a:solidFill>
                <a:latin typeface="+mn-lt"/>
                <a:ea typeface="+mn-ea"/>
                <a:cs typeface="+mn-cs"/>
                <a:sym typeface="+mn-ea"/>
              </a:rPr>
              <a:t>2</a:t>
            </a:r>
            <a:r>
              <a:rPr kumimoji="0" lang="zh-CN" altLang="en-US" sz="2800" b="1" i="0" u="none" strike="noStrike" kern="0" cap="none" spc="0" normalizeH="0" baseline="0" noProof="1">
                <a:solidFill>
                  <a:srgbClr val="66FFCC"/>
                </a:solidFill>
                <a:latin typeface="+mn-lt"/>
                <a:ea typeface="+mn-ea"/>
                <a:cs typeface="+mn-cs"/>
                <a:sym typeface="+mn-ea"/>
              </a:rPr>
              <a:t>  </a:t>
            </a:r>
            <a:r>
              <a:rPr kumimoji="0" lang="zh-CN" altLang="en-US" sz="2800" b="1" i="0" u="none" strike="noStrike" kern="0" cap="none" spc="0" normalizeH="0" baseline="0" noProof="1">
                <a:solidFill>
                  <a:srgbClr val="66FFCC"/>
                </a:solidFill>
                <a:latin typeface="+mn-lt"/>
                <a:ea typeface="+mn-ea"/>
                <a:cs typeface="+mn-cs"/>
              </a:rPr>
              <a:t>数据定义伪指令</a:t>
            </a:r>
          </a:p>
          <a:p>
            <a:pPr marL="0" marR="0" indent="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pPr>
            <a:r>
              <a:rPr kumimoji="0" lang="zh-CN" altLang="en-US" sz="2800" b="1" i="0" u="none" strike="noStrike" kern="0" cap="none" spc="0" normalizeH="0" baseline="0" noProof="1">
                <a:solidFill>
                  <a:srgbClr val="66FFCC"/>
                </a:solidFill>
                <a:latin typeface="+mn-lt"/>
                <a:ea typeface="+mn-ea"/>
                <a:cs typeface="+mn-cs"/>
                <a:sym typeface="+mn-ea"/>
              </a:rPr>
              <a:t>4.3.</a:t>
            </a:r>
            <a:r>
              <a:rPr kumimoji="0" lang="en-US" altLang="zh-CN" sz="2800" b="1" i="0" u="none" strike="noStrike" kern="0" cap="none" spc="0" normalizeH="0" baseline="0" noProof="1">
                <a:solidFill>
                  <a:srgbClr val="66FFCC"/>
                </a:solidFill>
                <a:latin typeface="+mn-lt"/>
                <a:ea typeface="+mn-ea"/>
                <a:cs typeface="+mn-cs"/>
                <a:sym typeface="+mn-ea"/>
              </a:rPr>
              <a:t>3</a:t>
            </a:r>
            <a:r>
              <a:rPr kumimoji="0" lang="zh-CN" altLang="en-US" sz="2800" b="1" i="0" u="none" strike="noStrike" kern="0" cap="none" spc="0" normalizeH="0" baseline="0" noProof="1">
                <a:solidFill>
                  <a:srgbClr val="66FFCC"/>
                </a:solidFill>
                <a:latin typeface="+mn-lt"/>
                <a:ea typeface="+mn-ea"/>
                <a:cs typeface="+mn-cs"/>
                <a:sym typeface="+mn-ea"/>
              </a:rPr>
              <a:t>  </a:t>
            </a:r>
            <a:r>
              <a:rPr kumimoji="0" lang="zh-CN" altLang="en-US" sz="2800" b="1" i="0" u="none" strike="noStrike" kern="0" cap="none" spc="0" normalizeH="0" baseline="0" noProof="1">
                <a:solidFill>
                  <a:srgbClr val="66FFCC"/>
                </a:solidFill>
                <a:latin typeface="+mn-lt"/>
                <a:ea typeface="+mn-ea"/>
                <a:cs typeface="+mn-cs"/>
              </a:rPr>
              <a:t>符号定义伪指令</a:t>
            </a:r>
          </a:p>
          <a:p>
            <a:pPr marL="0" marR="0" indent="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pPr>
            <a:r>
              <a:rPr kumimoji="0" lang="zh-CN" altLang="en-US" sz="2800" b="1" i="0" u="none" strike="noStrike" kern="0" cap="none" spc="0" normalizeH="0" baseline="0" noProof="1">
                <a:solidFill>
                  <a:srgbClr val="66FFCC"/>
                </a:solidFill>
                <a:latin typeface="+mn-lt"/>
                <a:ea typeface="+mn-ea"/>
                <a:cs typeface="+mn-cs"/>
                <a:sym typeface="+mn-ea"/>
              </a:rPr>
              <a:t>4.3.</a:t>
            </a:r>
            <a:r>
              <a:rPr kumimoji="0" lang="en-US" altLang="zh-CN" sz="2800" b="1" i="0" u="none" strike="noStrike" kern="0" cap="none" spc="0" normalizeH="0" baseline="0" noProof="1">
                <a:solidFill>
                  <a:srgbClr val="66FFCC"/>
                </a:solidFill>
                <a:latin typeface="+mn-lt"/>
                <a:ea typeface="+mn-ea"/>
                <a:cs typeface="+mn-cs"/>
                <a:sym typeface="+mn-ea"/>
              </a:rPr>
              <a:t>4</a:t>
            </a:r>
            <a:r>
              <a:rPr kumimoji="0" lang="zh-CN" altLang="en-US" sz="2800" b="1" i="0" u="none" strike="noStrike" kern="0" cap="none" spc="0" normalizeH="0" baseline="0" noProof="1">
                <a:solidFill>
                  <a:srgbClr val="66FFCC"/>
                </a:solidFill>
                <a:latin typeface="+mn-lt"/>
                <a:ea typeface="+mn-ea"/>
                <a:cs typeface="+mn-cs"/>
                <a:sym typeface="+mn-ea"/>
              </a:rPr>
              <a:t>  </a:t>
            </a:r>
            <a:r>
              <a:rPr kumimoji="0" lang="zh-CN" altLang="en-US" sz="2800" b="1" i="0" u="none" strike="noStrike" kern="0" cap="none" spc="0" normalizeH="0" baseline="0" noProof="1">
                <a:solidFill>
                  <a:srgbClr val="66FFCC"/>
                </a:solidFill>
                <a:latin typeface="+mn-lt"/>
                <a:ea typeface="+mn-ea"/>
                <a:cs typeface="+mn-cs"/>
              </a:rPr>
              <a:t>段定义伪指令</a:t>
            </a:r>
          </a:p>
          <a:p>
            <a:pPr marL="0" marR="0" indent="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pPr>
            <a:r>
              <a:rPr kumimoji="0" lang="zh-CN" altLang="en-US" sz="2800" b="1" i="0" u="none" strike="noStrike" kern="0" cap="none" spc="0" normalizeH="0" baseline="0" noProof="1">
                <a:solidFill>
                  <a:srgbClr val="66FFCC"/>
                </a:solidFill>
                <a:latin typeface="+mn-lt"/>
                <a:ea typeface="+mn-ea"/>
                <a:cs typeface="+mn-cs"/>
                <a:sym typeface="+mn-ea"/>
              </a:rPr>
              <a:t>4.3.</a:t>
            </a:r>
            <a:r>
              <a:rPr kumimoji="0" lang="en-US" altLang="zh-CN" sz="2800" b="1" i="0" u="none" strike="noStrike" kern="0" cap="none" spc="0" normalizeH="0" baseline="0" noProof="1">
                <a:solidFill>
                  <a:srgbClr val="66FFCC"/>
                </a:solidFill>
                <a:latin typeface="+mn-lt"/>
                <a:ea typeface="+mn-ea"/>
                <a:cs typeface="+mn-cs"/>
                <a:sym typeface="+mn-ea"/>
              </a:rPr>
              <a:t>5</a:t>
            </a:r>
            <a:r>
              <a:rPr kumimoji="0" lang="zh-CN" altLang="en-US" sz="2800" b="1" i="0" u="none" strike="noStrike" kern="0" cap="none" spc="0" normalizeH="0" baseline="0" noProof="1">
                <a:solidFill>
                  <a:srgbClr val="66FFCC"/>
                </a:solidFill>
                <a:latin typeface="+mn-lt"/>
                <a:ea typeface="+mn-ea"/>
                <a:cs typeface="+mn-cs"/>
                <a:sym typeface="+mn-ea"/>
              </a:rPr>
              <a:t>  </a:t>
            </a:r>
            <a:r>
              <a:rPr kumimoji="0" lang="zh-CN" altLang="en-US" sz="2800" b="1" i="0" u="none" strike="noStrike" kern="0" cap="none" spc="0" normalizeH="0" baseline="0" noProof="1">
                <a:solidFill>
                  <a:srgbClr val="66FFCC"/>
                </a:solidFill>
                <a:latin typeface="+mn-lt"/>
                <a:ea typeface="+mn-ea"/>
                <a:cs typeface="+mn-cs"/>
              </a:rPr>
              <a:t>过程定义伪指令</a:t>
            </a:r>
          </a:p>
          <a:p>
            <a:pPr marL="0" marR="0" indent="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pPr>
            <a:r>
              <a:rPr kumimoji="0" lang="zh-CN" altLang="en-US" sz="2800" b="1" i="0" u="none" strike="noStrike" kern="0" cap="none" spc="0" normalizeH="0" baseline="0" noProof="1">
                <a:solidFill>
                  <a:srgbClr val="66FFCC"/>
                </a:solidFill>
                <a:latin typeface="+mn-lt"/>
                <a:ea typeface="+mn-ea"/>
                <a:cs typeface="+mn-cs"/>
                <a:sym typeface="+mn-ea"/>
              </a:rPr>
              <a:t>4.3.</a:t>
            </a:r>
            <a:r>
              <a:rPr kumimoji="0" lang="en-US" altLang="zh-CN" sz="2800" b="1" i="0" u="none" strike="noStrike" kern="0" cap="none" spc="0" normalizeH="0" baseline="0" noProof="1">
                <a:solidFill>
                  <a:srgbClr val="66FFCC"/>
                </a:solidFill>
                <a:latin typeface="+mn-lt"/>
                <a:ea typeface="+mn-ea"/>
                <a:cs typeface="+mn-cs"/>
                <a:sym typeface="+mn-ea"/>
              </a:rPr>
              <a:t>6</a:t>
            </a:r>
            <a:r>
              <a:rPr kumimoji="0" lang="zh-CN" altLang="en-US" sz="2800" b="1" i="0" u="none" strike="noStrike" kern="0" cap="none" spc="0" normalizeH="0" baseline="0" noProof="1">
                <a:solidFill>
                  <a:srgbClr val="66FFCC"/>
                </a:solidFill>
                <a:latin typeface="+mn-lt"/>
                <a:ea typeface="+mn-ea"/>
                <a:cs typeface="+mn-cs"/>
                <a:sym typeface="+mn-ea"/>
              </a:rPr>
              <a:t>  </a:t>
            </a:r>
            <a:r>
              <a:rPr kumimoji="0" lang="zh-CN" altLang="en-US" sz="2800" b="1" i="0" u="none" strike="noStrike" kern="0" cap="none" spc="0" normalizeH="0" baseline="0" noProof="1">
                <a:solidFill>
                  <a:srgbClr val="66FFCC"/>
                </a:solidFill>
                <a:latin typeface="+mn-lt"/>
                <a:ea typeface="+mn-ea"/>
                <a:cs typeface="+mn-cs"/>
              </a:rPr>
              <a:t>模块定义和结束伪指令</a:t>
            </a:r>
          </a:p>
          <a:p>
            <a:pPr marL="0" marR="0" indent="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pPr>
            <a:r>
              <a:rPr kumimoji="0" lang="zh-CN" altLang="en-US" sz="2800" b="1" i="0" u="none" strike="noStrike" kern="0" cap="none" spc="0" normalizeH="0" baseline="0" noProof="1">
                <a:solidFill>
                  <a:srgbClr val="66FFCC"/>
                </a:solidFill>
                <a:latin typeface="+mn-lt"/>
                <a:ea typeface="+mn-ea"/>
                <a:cs typeface="+mn-cs"/>
                <a:sym typeface="+mn-ea"/>
              </a:rPr>
              <a:t>4.3.</a:t>
            </a:r>
            <a:r>
              <a:rPr kumimoji="0" lang="en-US" altLang="zh-CN" sz="2800" b="1" i="0" u="none" strike="noStrike" kern="0" cap="none" spc="0" normalizeH="0" baseline="0" noProof="1">
                <a:solidFill>
                  <a:srgbClr val="66FFCC"/>
                </a:solidFill>
                <a:latin typeface="+mn-lt"/>
                <a:ea typeface="+mn-ea"/>
                <a:cs typeface="+mn-cs"/>
                <a:sym typeface="+mn-ea"/>
              </a:rPr>
              <a:t>7</a:t>
            </a:r>
            <a:r>
              <a:rPr kumimoji="0" lang="zh-CN" altLang="en-US" sz="2800" b="1" i="0" u="none" strike="noStrike" kern="0" cap="none" spc="0" normalizeH="0" baseline="0" noProof="1">
                <a:solidFill>
                  <a:srgbClr val="66FFCC"/>
                </a:solidFill>
                <a:latin typeface="+mn-lt"/>
                <a:ea typeface="+mn-ea"/>
                <a:cs typeface="+mn-cs"/>
                <a:sym typeface="+mn-ea"/>
              </a:rPr>
              <a:t>  </a:t>
            </a:r>
            <a:r>
              <a:rPr kumimoji="0" lang="zh-CN" altLang="en-US" sz="2800" b="1" i="0" u="none" strike="noStrike" kern="0" cap="none" spc="0" normalizeH="0" baseline="0" noProof="1">
                <a:solidFill>
                  <a:srgbClr val="66FFCC"/>
                </a:solidFill>
                <a:latin typeface="+mn-lt"/>
                <a:ea typeface="+mn-ea"/>
                <a:cs typeface="+mn-cs"/>
              </a:rPr>
              <a:t>宏处理伪指令</a:t>
            </a:r>
          </a:p>
          <a:p>
            <a:pPr marL="0" marR="0" indent="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pPr>
            <a:r>
              <a:rPr kumimoji="0" lang="zh-CN" altLang="en-US" sz="2800" b="1" i="0" u="none" strike="noStrike" kern="0" cap="none" spc="0" normalizeH="0" baseline="0" noProof="1">
                <a:solidFill>
                  <a:srgbClr val="66FFCC"/>
                </a:solidFill>
                <a:latin typeface="+mn-lt"/>
                <a:ea typeface="+mn-ea"/>
                <a:cs typeface="+mn-cs"/>
                <a:sym typeface="+mn-ea"/>
              </a:rPr>
              <a:t>4.3.</a:t>
            </a:r>
            <a:r>
              <a:rPr kumimoji="0" lang="en-US" altLang="zh-CN" sz="2800" b="1" i="0" u="none" strike="noStrike" kern="0" cap="none" spc="0" normalizeH="0" baseline="0" noProof="1">
                <a:solidFill>
                  <a:srgbClr val="66FFCC"/>
                </a:solidFill>
                <a:latin typeface="+mn-lt"/>
                <a:ea typeface="+mn-ea"/>
                <a:cs typeface="+mn-cs"/>
                <a:sym typeface="+mn-ea"/>
              </a:rPr>
              <a:t>8</a:t>
            </a:r>
            <a:r>
              <a:rPr kumimoji="0" lang="zh-CN" altLang="en-US" sz="2800" b="1" i="0" u="none" strike="noStrike" kern="0" cap="none" spc="0" normalizeH="0" baseline="0" noProof="1">
                <a:solidFill>
                  <a:srgbClr val="66FFCC"/>
                </a:solidFill>
                <a:latin typeface="+mn-lt"/>
                <a:ea typeface="+mn-ea"/>
                <a:cs typeface="+mn-cs"/>
                <a:sym typeface="+mn-ea"/>
              </a:rPr>
              <a:t>  </a:t>
            </a:r>
            <a:r>
              <a:rPr kumimoji="0" lang="zh-CN" altLang="en-US" sz="2800" b="1" i="0" u="none" strike="noStrike" kern="0" cap="none" spc="0" normalizeH="0" baseline="0" noProof="1">
                <a:solidFill>
                  <a:srgbClr val="66FFCC"/>
                </a:solidFill>
                <a:latin typeface="+mn-lt"/>
                <a:ea typeface="+mn-ea"/>
                <a:cs typeface="+mn-cs"/>
              </a:rPr>
              <a:t>模块连接伪指令</a:t>
            </a:r>
          </a:p>
        </p:txBody>
      </p:sp>
    </p:spTree>
  </p:cSld>
  <p:clrMapOvr>
    <a:masterClrMapping/>
  </p:clrMapOvr>
  <p:transition spd="med">
    <p:random/>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4.3.1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处理器方式伪指令</a:t>
            </a:r>
          </a:p>
        </p:txBody>
      </p:sp>
      <p:sp>
        <p:nvSpPr>
          <p:cNvPr id="37890"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37891" name="TextBox 6"/>
          <p:cNvSpPr txBox="1"/>
          <p:nvPr/>
        </p:nvSpPr>
        <p:spPr>
          <a:xfrm>
            <a:off x="620713" y="2006600"/>
            <a:ext cx="7975600" cy="2874963"/>
          </a:xfrm>
          <a:prstGeom prst="rect">
            <a:avLst/>
          </a:prstGeom>
          <a:noFill/>
          <a:ln w="9525">
            <a:noFill/>
          </a:ln>
        </p:spPr>
        <p:txBody>
          <a:bodyPr wrap="square" anchor="t" anchorCtr="0">
            <a:spAutoFit/>
          </a:bodyPr>
          <a:lstStyle/>
          <a:p>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处理器方式伪指令用以设置</a:t>
            </a:r>
            <a:r>
              <a:rPr lang="en-US" altLang="zh-CN" dirty="0">
                <a:latin typeface="宋体" panose="02010600030101010101" pitchFamily="2" charset="-122"/>
                <a:ea typeface="宋体" panose="02010600030101010101" pitchFamily="2" charset="-122"/>
              </a:rPr>
              <a:t>CPU</a:t>
            </a:r>
            <a:r>
              <a:rPr lang="zh-CN" altLang="zh-CN" dirty="0">
                <a:latin typeface="宋体" panose="02010600030101010101" pitchFamily="2" charset="-122"/>
                <a:ea typeface="宋体" panose="02010600030101010101" pitchFamily="2" charset="-122"/>
              </a:rPr>
              <a:t>的方式。</a:t>
            </a:r>
          </a:p>
          <a:p>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处理器方式伪指令的格式是在处理器名称前加一个点，如</a:t>
            </a:r>
            <a:r>
              <a:rPr lang="en-US" altLang="zh-CN" dirty="0">
                <a:latin typeface="宋体" panose="02010600030101010101" pitchFamily="2" charset="-122"/>
                <a:ea typeface="宋体" panose="02010600030101010101" pitchFamily="2" charset="-122"/>
              </a:rPr>
              <a:t>.8086</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.8086</a:t>
            </a:r>
            <a:r>
              <a:rPr lang="zh-CN" altLang="zh-CN" dirty="0">
                <a:latin typeface="宋体" panose="02010600030101010101" pitchFamily="2" charset="-122"/>
                <a:ea typeface="宋体" panose="02010600030101010101" pitchFamily="2" charset="-122"/>
              </a:rPr>
              <a:t>伪指令将通知汇编程序只汇编</a:t>
            </a:r>
            <a:r>
              <a:rPr lang="en-US" altLang="zh-CN" dirty="0">
                <a:latin typeface="宋体" panose="02010600030101010101" pitchFamily="2" charset="-122"/>
                <a:ea typeface="宋体" panose="02010600030101010101" pitchFamily="2" charset="-122"/>
              </a:rPr>
              <a:t>8086/8088CPU</a:t>
            </a:r>
            <a:r>
              <a:rPr lang="zh-CN" altLang="zh-CN" dirty="0">
                <a:latin typeface="宋体" panose="02010600030101010101" pitchFamily="2" charset="-122"/>
                <a:ea typeface="宋体" panose="02010600030101010101" pitchFamily="2" charset="-122"/>
              </a:rPr>
              <a:t>的指令系统。此时若在源程序中出现</a:t>
            </a:r>
            <a:r>
              <a:rPr lang="en-US" altLang="zh-CN" dirty="0">
                <a:latin typeface="宋体" panose="02010600030101010101" pitchFamily="2" charset="-122"/>
                <a:ea typeface="宋体" panose="02010600030101010101" pitchFamily="2" charset="-122"/>
              </a:rPr>
              <a:t>80286</a:t>
            </a:r>
            <a:r>
              <a:rPr lang="zh-CN" altLang="zh-CN" dirty="0">
                <a:latin typeface="宋体" panose="02010600030101010101" pitchFamily="2" charset="-122"/>
                <a:ea typeface="宋体" panose="02010600030101010101" pitchFamily="2" charset="-122"/>
              </a:rPr>
              <a:t>或</a:t>
            </a:r>
            <a:r>
              <a:rPr lang="en-US" altLang="zh-CN" dirty="0">
                <a:latin typeface="宋体" panose="02010600030101010101" pitchFamily="2" charset="-122"/>
                <a:ea typeface="宋体" panose="02010600030101010101" pitchFamily="2" charset="-122"/>
              </a:rPr>
              <a:t>80386</a:t>
            </a:r>
            <a:r>
              <a:rPr lang="zh-CN" altLang="zh-CN" dirty="0">
                <a:latin typeface="宋体" panose="02010600030101010101" pitchFamily="2" charset="-122"/>
                <a:ea typeface="宋体" panose="02010600030101010101" pitchFamily="2" charset="-122"/>
              </a:rPr>
              <a:t>指令，将提示错误。如果不写任何处理器方式伪指令，则汇编程序默认为</a:t>
            </a:r>
            <a:r>
              <a:rPr lang="en-US" altLang="zh-CN" dirty="0">
                <a:latin typeface="宋体" panose="02010600030101010101" pitchFamily="2" charset="-122"/>
                <a:ea typeface="宋体" panose="02010600030101010101" pitchFamily="2" charset="-122"/>
              </a:rPr>
              <a:t>.8086</a:t>
            </a:r>
            <a:r>
              <a:rPr lang="zh-CN" altLang="zh-CN" dirty="0">
                <a:latin typeface="宋体" panose="02010600030101010101" pitchFamily="2" charset="-122"/>
                <a:ea typeface="宋体" panose="02010600030101010101" pitchFamily="2" charset="-122"/>
              </a:rPr>
              <a:t>方式。</a:t>
            </a:r>
          </a:p>
          <a:p>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一般情况下，各种处理器方式伪指令置于整个汇编语言源程序的开关，用以设定源程序的指令系统。</a:t>
            </a:r>
          </a:p>
        </p:txBody>
      </p:sp>
    </p:spTree>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4.3.2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数据定义伪指令</a:t>
            </a:r>
          </a:p>
        </p:txBody>
      </p:sp>
      <p:sp>
        <p:nvSpPr>
          <p:cNvPr id="39938"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39939" name="TextBox 6"/>
          <p:cNvSpPr txBox="1"/>
          <p:nvPr/>
        </p:nvSpPr>
        <p:spPr>
          <a:xfrm>
            <a:off x="398463" y="1384300"/>
            <a:ext cx="8301037" cy="5262563"/>
          </a:xfrm>
          <a:prstGeom prst="rect">
            <a:avLst/>
          </a:prstGeom>
          <a:noFill/>
          <a:ln w="9525">
            <a:noFill/>
          </a:ln>
        </p:spPr>
        <p:txBody>
          <a:bodyPr anchor="t" anchorCtr="0">
            <a:spAutoFit/>
          </a:bodyPr>
          <a:lstStyle/>
          <a:p>
            <a:pPr algn="just"/>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数据定义伪指令的用途是定义一个变量的类型，给存储器赋初值，或者仅仅给变量分配存储单元，不赋予特定的值。</a:t>
            </a:r>
          </a:p>
          <a:p>
            <a:pPr algn="just"/>
            <a:r>
              <a:rPr lang="zh-CN" altLang="zh-CN" dirty="0">
                <a:latin typeface="宋体" panose="02010600030101010101" pitchFamily="2" charset="-122"/>
                <a:ea typeface="宋体" panose="02010600030101010101" pitchFamily="2" charset="-122"/>
              </a:rPr>
              <a:t>数据定义伪指令有</a:t>
            </a:r>
            <a:r>
              <a:rPr lang="en-US" altLang="zh-CN" dirty="0">
                <a:latin typeface="宋体" panose="02010600030101010101" pitchFamily="2" charset="-122"/>
                <a:ea typeface="宋体" panose="02010600030101010101" pitchFamily="2" charset="-122"/>
              </a:rPr>
              <a:t>DB</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DW</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DD</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DQ</a:t>
            </a:r>
            <a:r>
              <a:rPr lang="zh-CN" altLang="zh-CN" dirty="0">
                <a:latin typeface="宋体" panose="02010600030101010101" pitchFamily="2" charset="-122"/>
                <a:ea typeface="宋体" panose="02010600030101010101" pitchFamily="2" charset="-122"/>
              </a:rPr>
              <a:t>和</a:t>
            </a:r>
            <a:r>
              <a:rPr lang="en-US" altLang="zh-CN" dirty="0">
                <a:latin typeface="宋体" panose="02010600030101010101" pitchFamily="2" charset="-122"/>
                <a:ea typeface="宋体" panose="02010600030101010101" pitchFamily="2" charset="-122"/>
              </a:rPr>
              <a:t>DT</a:t>
            </a:r>
            <a:r>
              <a:rPr lang="zh-CN" altLang="zh-CN" dirty="0">
                <a:latin typeface="宋体" panose="02010600030101010101" pitchFamily="2" charset="-122"/>
                <a:ea typeface="宋体" panose="02010600030101010101" pitchFamily="2" charset="-122"/>
              </a:rPr>
              <a:t>，分别用来定义类型属性为字节（</a:t>
            </a:r>
            <a:r>
              <a:rPr lang="en-US" altLang="zh-CN" dirty="0">
                <a:latin typeface="宋体" panose="02010600030101010101" pitchFamily="2" charset="-122"/>
                <a:ea typeface="宋体" panose="02010600030101010101" pitchFamily="2" charset="-122"/>
              </a:rPr>
              <a:t>DB</a:t>
            </a:r>
            <a:r>
              <a:rPr lang="zh-CN" altLang="zh-CN" dirty="0">
                <a:latin typeface="宋体" panose="02010600030101010101" pitchFamily="2" charset="-122"/>
                <a:ea typeface="宋体" panose="02010600030101010101" pitchFamily="2" charset="-122"/>
              </a:rPr>
              <a:t>）、字（</a:t>
            </a:r>
            <a:r>
              <a:rPr lang="en-US" altLang="zh-CN" dirty="0">
                <a:latin typeface="宋体" panose="02010600030101010101" pitchFamily="2" charset="-122"/>
                <a:ea typeface="宋体" panose="02010600030101010101" pitchFamily="2" charset="-122"/>
              </a:rPr>
              <a:t>DW</a:t>
            </a:r>
            <a:r>
              <a:rPr lang="zh-CN" altLang="zh-CN" dirty="0">
                <a:latin typeface="宋体" panose="02010600030101010101" pitchFamily="2" charset="-122"/>
                <a:ea typeface="宋体" panose="02010600030101010101" pitchFamily="2" charset="-122"/>
              </a:rPr>
              <a:t>）、双字（</a:t>
            </a:r>
            <a:r>
              <a:rPr lang="en-US" altLang="zh-CN" dirty="0">
                <a:latin typeface="宋体" panose="02010600030101010101" pitchFamily="2" charset="-122"/>
                <a:ea typeface="宋体" panose="02010600030101010101" pitchFamily="2" charset="-122"/>
              </a:rPr>
              <a:t>DD</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4</a:t>
            </a:r>
            <a:r>
              <a:rPr lang="zh-CN" altLang="zh-CN" dirty="0">
                <a:latin typeface="宋体" panose="02010600030101010101" pitchFamily="2" charset="-122"/>
                <a:ea typeface="宋体" panose="02010600030101010101" pitchFamily="2" charset="-122"/>
              </a:rPr>
              <a:t>字（</a:t>
            </a:r>
            <a:r>
              <a:rPr lang="en-US" altLang="zh-CN" dirty="0">
                <a:latin typeface="宋体" panose="02010600030101010101" pitchFamily="2" charset="-122"/>
                <a:ea typeface="宋体" panose="02010600030101010101" pitchFamily="2" charset="-122"/>
              </a:rPr>
              <a:t>DQ</a:t>
            </a:r>
            <a:r>
              <a:rPr lang="zh-CN" altLang="zh-CN" dirty="0">
                <a:latin typeface="宋体" panose="02010600030101010101" pitchFamily="2" charset="-122"/>
                <a:ea typeface="宋体" panose="02010600030101010101" pitchFamily="2" charset="-122"/>
              </a:rPr>
              <a:t>）和</a:t>
            </a:r>
            <a:r>
              <a:rPr lang="en-US" altLang="zh-CN" dirty="0">
                <a:latin typeface="宋体" panose="02010600030101010101" pitchFamily="2" charset="-122"/>
                <a:ea typeface="宋体" panose="02010600030101010101" pitchFamily="2" charset="-122"/>
              </a:rPr>
              <a:t>5</a:t>
            </a:r>
            <a:r>
              <a:rPr lang="zh-CN" altLang="zh-CN" dirty="0">
                <a:latin typeface="宋体" panose="02010600030101010101" pitchFamily="2" charset="-122"/>
                <a:ea typeface="宋体" panose="02010600030101010101" pitchFamily="2" charset="-122"/>
              </a:rPr>
              <a:t>字（</a:t>
            </a:r>
            <a:r>
              <a:rPr lang="en-US" altLang="zh-CN" dirty="0">
                <a:latin typeface="宋体" panose="02010600030101010101" pitchFamily="2" charset="-122"/>
                <a:ea typeface="宋体" panose="02010600030101010101" pitchFamily="2" charset="-122"/>
              </a:rPr>
              <a:t>DT</a:t>
            </a:r>
            <a:r>
              <a:rPr lang="zh-CN" altLang="zh-CN" dirty="0">
                <a:latin typeface="宋体" panose="02010600030101010101" pitchFamily="2" charset="-122"/>
                <a:ea typeface="宋体" panose="02010600030101010101" pitchFamily="2" charset="-122"/>
              </a:rPr>
              <a:t>）。</a:t>
            </a:r>
          </a:p>
          <a:p>
            <a:pPr algn="just"/>
            <a:r>
              <a:rPr lang="zh-CN" altLang="zh-CN" dirty="0">
                <a:latin typeface="宋体" panose="02010600030101010101" pitchFamily="2" charset="-122"/>
                <a:ea typeface="宋体" panose="02010600030101010101" pitchFamily="2" charset="-122"/>
              </a:rPr>
              <a:t>格式：</a:t>
            </a:r>
            <a:r>
              <a:rPr lang="en-US" altLang="zh-CN"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变量名</a:t>
            </a: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伪指令</a:t>
            </a: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操作数</a:t>
            </a: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，操作数</a:t>
            </a: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a:t>
            </a:r>
            <a:endParaRPr lang="zh-CN" altLang="zh-CN" dirty="0">
              <a:latin typeface="宋体" panose="02010600030101010101" pitchFamily="2" charset="-122"/>
              <a:ea typeface="宋体" panose="02010600030101010101" pitchFamily="2" charset="-122"/>
            </a:endParaRPr>
          </a:p>
          <a:p>
            <a:pPr algn="just"/>
            <a:r>
              <a:rPr lang="zh-CN" altLang="zh-CN" dirty="0">
                <a:latin typeface="宋体" panose="02010600030101010101" pitchFamily="2" charset="-122"/>
                <a:ea typeface="宋体" panose="02010600030101010101" pitchFamily="2" charset="-122"/>
              </a:rPr>
              <a:t>功能：用来为数据分配存储单元，建立变量与存储单元之间的联系。</a:t>
            </a:r>
          </a:p>
          <a:p>
            <a:pPr algn="just"/>
            <a:r>
              <a:rPr lang="zh-CN" altLang="zh-CN" dirty="0">
                <a:latin typeface="宋体" panose="02010600030101010101" pitchFamily="2" charset="-122"/>
                <a:ea typeface="宋体" panose="02010600030101010101" pitchFamily="2" charset="-122"/>
              </a:rPr>
              <a:t>说明：① 括号中的变量名为可选项，可以有也可以没有；</a:t>
            </a:r>
          </a:p>
          <a:p>
            <a:pPr algn="just"/>
            <a:r>
              <a:rPr lang="zh-CN" altLang="zh-CN" dirty="0">
                <a:latin typeface="宋体" panose="02010600030101010101" pitchFamily="2" charset="-122"/>
                <a:ea typeface="宋体" panose="02010600030101010101" pitchFamily="2" charset="-122"/>
              </a:rPr>
              <a:t>② 变量名后面没有冒号；</a:t>
            </a:r>
          </a:p>
          <a:p>
            <a:pPr algn="just"/>
            <a:r>
              <a:rPr lang="zh-CN" altLang="zh-CN" dirty="0">
                <a:latin typeface="宋体" panose="02010600030101010101" pitchFamily="2" charset="-122"/>
                <a:ea typeface="宋体" panose="02010600030101010101" pitchFamily="2" charset="-122"/>
              </a:rPr>
              <a:t>③ 操作数可以不止一个，如有多个操作数，用逗号隔开。</a:t>
            </a:r>
            <a:endParaRPr lang="en-US" altLang="zh-CN" dirty="0">
              <a:latin typeface="宋体" panose="02010600030101010101" pitchFamily="2" charset="-122"/>
              <a:ea typeface="宋体" panose="02010600030101010101" pitchFamily="2" charset="-122"/>
            </a:endParaRPr>
          </a:p>
          <a:p>
            <a:pPr algn="just"/>
            <a:r>
              <a:rPr lang="zh-CN" altLang="zh-CN" dirty="0">
                <a:latin typeface="宋体" panose="02010600030101010101" pitchFamily="2" charset="-122"/>
                <a:ea typeface="宋体" panose="02010600030101010101" pitchFamily="2" charset="-122"/>
              </a:rPr>
              <a:t>注意：</a:t>
            </a:r>
            <a:r>
              <a:rPr lang="en-US" altLang="zh-CN" dirty="0">
                <a:latin typeface="宋体" panose="02010600030101010101" pitchFamily="2" charset="-122"/>
                <a:ea typeface="宋体" panose="02010600030101010101" pitchFamily="2" charset="-122"/>
              </a:rPr>
              <a:t>DW</a:t>
            </a:r>
            <a:r>
              <a:rPr lang="zh-CN" altLang="zh-CN" dirty="0">
                <a:latin typeface="宋体" panose="02010600030101010101" pitchFamily="2" charset="-122"/>
                <a:ea typeface="宋体" panose="02010600030101010101" pitchFamily="2" charset="-122"/>
              </a:rPr>
              <a:t>伪指令后面的操作数每个占两个字节。在内存中存放时，采用小端模式，即低位字节占用低地址，高位字节占用高地址，汇编时为每个操作数分配两个存储单元。</a:t>
            </a:r>
          </a:p>
        </p:txBody>
      </p:sp>
    </p:spTree>
  </p:cSld>
  <p:clrMapOvr>
    <a:masterClrMapping/>
  </p:clrMapOvr>
  <p:transition spd="med">
    <p:random/>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4.3.3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符号定义伪指令</a:t>
            </a:r>
          </a:p>
        </p:txBody>
      </p:sp>
      <p:sp>
        <p:nvSpPr>
          <p:cNvPr id="4198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41987" name="TextBox 6"/>
          <p:cNvSpPr txBox="1"/>
          <p:nvPr/>
        </p:nvSpPr>
        <p:spPr>
          <a:xfrm>
            <a:off x="620713" y="1535113"/>
            <a:ext cx="8034337" cy="4929187"/>
          </a:xfrm>
          <a:prstGeom prst="rect">
            <a:avLst/>
          </a:prstGeom>
          <a:noFill/>
          <a:ln w="9525">
            <a:noFill/>
          </a:ln>
        </p:spPr>
        <p:txBody>
          <a:bodyPr anchor="t" anchorCtr="0">
            <a:spAutoFit/>
          </a:bodyPr>
          <a:lstStyle/>
          <a:p>
            <a:pPr algn="just"/>
            <a:r>
              <a:rPr lang="en-US" altLang="zh-CN" sz="2200" dirty="0">
                <a:latin typeface="Times New Roman" panose="02020603050405020304" pitchFamily="18" charset="0"/>
                <a:ea typeface="宋体" panose="02010600030101010101" pitchFamily="2" charset="-122"/>
              </a:rPr>
              <a:t>    </a:t>
            </a:r>
            <a:r>
              <a:rPr lang="zh-CN" altLang="zh-CN" sz="2200" dirty="0">
                <a:latin typeface="Times New Roman" panose="02020603050405020304" pitchFamily="18" charset="0"/>
                <a:ea typeface="宋体" panose="02010600030101010101" pitchFamily="2" charset="-122"/>
              </a:rPr>
              <a:t>符号定义伪指令是给一个符号重新命名或定义新的类型属性等。上述符号是指汇编语言中的变量名、标号名、过程名、寄存器名及指令助记符等。</a:t>
            </a:r>
          </a:p>
          <a:p>
            <a:pPr algn="just"/>
            <a:r>
              <a:rPr lang="zh-CN" altLang="zh-CN" sz="2200" dirty="0">
                <a:latin typeface="Times New Roman" panose="02020603050405020304" pitchFamily="18" charset="0"/>
                <a:ea typeface="宋体" panose="02010600030101010101" pitchFamily="2" charset="-122"/>
              </a:rPr>
              <a:t>常用的符号定义伪指令有</a:t>
            </a:r>
            <a:r>
              <a:rPr lang="en-US" altLang="zh-CN" sz="2200" dirty="0">
                <a:latin typeface="Times New Roman" panose="02020603050405020304" pitchFamily="18" charset="0"/>
                <a:ea typeface="宋体" panose="02010600030101010101" pitchFamily="2" charset="-122"/>
              </a:rPr>
              <a:t>EQU</a:t>
            </a:r>
            <a:r>
              <a:rPr lang="zh-CN" altLang="zh-CN"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a:t>
            </a:r>
            <a:r>
              <a:rPr lang="zh-CN" altLang="zh-CN" sz="2200" dirty="0">
                <a:latin typeface="Times New Roman" panose="02020603050405020304" pitchFamily="18" charset="0"/>
                <a:ea typeface="宋体" panose="02010600030101010101" pitchFamily="2" charset="-122"/>
              </a:rPr>
              <a:t>”（等号）和</a:t>
            </a:r>
            <a:r>
              <a:rPr lang="en-US" altLang="zh-CN" sz="2200" dirty="0">
                <a:latin typeface="Times New Roman" panose="02020603050405020304" pitchFamily="18" charset="0"/>
                <a:ea typeface="宋体" panose="02010600030101010101" pitchFamily="2" charset="-122"/>
              </a:rPr>
              <a:t>LABEL</a:t>
            </a:r>
            <a:r>
              <a:rPr lang="zh-CN" altLang="zh-CN" sz="2200" dirty="0">
                <a:latin typeface="Times New Roman" panose="02020603050405020304" pitchFamily="18" charset="0"/>
                <a:ea typeface="宋体" panose="02010600030101010101" pitchFamily="2" charset="-122"/>
              </a:rPr>
              <a:t>。</a:t>
            </a:r>
          </a:p>
          <a:p>
            <a:pPr algn="just"/>
            <a:r>
              <a:rPr lang="zh-CN" altLang="zh-CN"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1</a:t>
            </a:r>
            <a:r>
              <a:rPr lang="zh-CN" altLang="zh-CN"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EQU</a:t>
            </a:r>
            <a:r>
              <a:rPr lang="zh-CN" altLang="zh-CN" sz="2200" dirty="0">
                <a:latin typeface="Times New Roman" panose="02020603050405020304" pitchFamily="18" charset="0"/>
                <a:ea typeface="宋体" panose="02010600030101010101" pitchFamily="2" charset="-122"/>
              </a:rPr>
              <a:t>。</a:t>
            </a:r>
          </a:p>
          <a:p>
            <a:pPr algn="just"/>
            <a:r>
              <a:rPr lang="zh-CN" altLang="zh-CN" sz="2200" dirty="0">
                <a:latin typeface="Times New Roman" panose="02020603050405020304" pitchFamily="18" charset="0"/>
                <a:ea typeface="宋体" panose="02010600030101010101" pitchFamily="2" charset="-122"/>
              </a:rPr>
              <a:t>格式：名字</a:t>
            </a:r>
            <a:r>
              <a:rPr lang="en-US" altLang="zh-CN" sz="2200" dirty="0">
                <a:latin typeface="Times New Roman" panose="02020603050405020304" pitchFamily="18" charset="0"/>
                <a:ea typeface="宋体" panose="02010600030101010101" pitchFamily="2" charset="-122"/>
              </a:rPr>
              <a:t>  EQU  </a:t>
            </a:r>
            <a:r>
              <a:rPr lang="zh-CN" altLang="zh-CN" sz="2200" dirty="0">
                <a:latin typeface="Times New Roman" panose="02020603050405020304" pitchFamily="18" charset="0"/>
                <a:ea typeface="宋体" panose="02010600030101010101" pitchFamily="2" charset="-122"/>
              </a:rPr>
              <a:t>表达式</a:t>
            </a:r>
          </a:p>
          <a:p>
            <a:pPr algn="just"/>
            <a:r>
              <a:rPr lang="zh-CN" altLang="zh-CN" sz="2200" dirty="0">
                <a:latin typeface="Times New Roman" panose="02020603050405020304" pitchFamily="18" charset="0"/>
                <a:ea typeface="宋体" panose="02010600030101010101" pitchFamily="2" charset="-122"/>
              </a:rPr>
              <a:t>功能：用名字来代替表达式的值。</a:t>
            </a:r>
          </a:p>
          <a:p>
            <a:pPr algn="just"/>
            <a:r>
              <a:rPr lang="zh-CN" altLang="zh-CN" sz="2200" dirty="0">
                <a:latin typeface="Times New Roman" panose="02020603050405020304" pitchFamily="18" charset="0"/>
                <a:ea typeface="宋体" panose="02010600030101010101" pitchFamily="2" charset="-122"/>
              </a:rPr>
              <a:t>说明：格式中的表达式可以是一个常数、符号、数值表达式或地址表达式。</a:t>
            </a:r>
            <a:endParaRPr lang="en-US" altLang="zh-CN" sz="2200" dirty="0">
              <a:latin typeface="Times New Roman" panose="02020603050405020304" pitchFamily="18" charset="0"/>
              <a:ea typeface="宋体" panose="02010600030101010101" pitchFamily="2" charset="-122"/>
            </a:endParaRPr>
          </a:p>
          <a:p>
            <a:pPr algn="just"/>
            <a:r>
              <a:rPr lang="zh-CN" altLang="zh-CN"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2</a:t>
            </a:r>
            <a:r>
              <a:rPr lang="zh-CN" altLang="zh-CN"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a:t>
            </a:r>
            <a:r>
              <a:rPr lang="zh-CN" altLang="zh-CN" sz="2200" dirty="0">
                <a:latin typeface="Times New Roman" panose="02020603050405020304" pitchFamily="18" charset="0"/>
                <a:ea typeface="宋体" panose="02010600030101010101" pitchFamily="2" charset="-122"/>
              </a:rPr>
              <a:t>”（等号）。</a:t>
            </a:r>
          </a:p>
          <a:p>
            <a:pPr algn="just"/>
            <a:r>
              <a:rPr lang="zh-CN" altLang="zh-CN" sz="2200" dirty="0">
                <a:latin typeface="Times New Roman" panose="02020603050405020304" pitchFamily="18" charset="0"/>
                <a:ea typeface="宋体" panose="02010600030101010101" pitchFamily="2" charset="-122"/>
              </a:rPr>
              <a:t>格式：名字</a:t>
            </a:r>
            <a:r>
              <a:rPr lang="en-US" altLang="zh-CN" sz="2200" dirty="0">
                <a:latin typeface="Times New Roman" panose="02020603050405020304" pitchFamily="18" charset="0"/>
                <a:ea typeface="宋体" panose="02010600030101010101" pitchFamily="2" charset="-122"/>
              </a:rPr>
              <a:t>  =  </a:t>
            </a:r>
            <a:r>
              <a:rPr lang="zh-CN" altLang="zh-CN" sz="2200" dirty="0">
                <a:latin typeface="Times New Roman" panose="02020603050405020304" pitchFamily="18" charset="0"/>
                <a:ea typeface="宋体" panose="02010600030101010101" pitchFamily="2" charset="-122"/>
              </a:rPr>
              <a:t>表达式</a:t>
            </a:r>
          </a:p>
          <a:p>
            <a:pPr algn="just"/>
            <a:r>
              <a:rPr lang="zh-CN" altLang="zh-CN" sz="2200" dirty="0">
                <a:latin typeface="Times New Roman" panose="02020603050405020304" pitchFamily="18" charset="0"/>
                <a:ea typeface="宋体" panose="02010600030101010101" pitchFamily="2" charset="-122"/>
              </a:rPr>
              <a:t>功能：用名字代替表达式的值。</a:t>
            </a:r>
          </a:p>
          <a:p>
            <a:pPr algn="just"/>
            <a:r>
              <a:rPr lang="zh-CN" altLang="zh-CN" sz="2200" dirty="0">
                <a:latin typeface="Times New Roman" panose="02020603050405020304" pitchFamily="18" charset="0"/>
                <a:ea typeface="宋体" panose="02010600030101010101" pitchFamily="2" charset="-122"/>
              </a:rPr>
              <a:t>说明：“</a:t>
            </a:r>
            <a:r>
              <a:rPr lang="en-US" altLang="zh-CN" sz="2200" dirty="0">
                <a:latin typeface="Times New Roman" panose="02020603050405020304" pitchFamily="18" charset="0"/>
                <a:ea typeface="宋体" panose="02010600030101010101" pitchFamily="2" charset="-122"/>
              </a:rPr>
              <a:t>=</a:t>
            </a:r>
            <a:r>
              <a:rPr lang="zh-CN" altLang="zh-CN" sz="2200" dirty="0">
                <a:latin typeface="Times New Roman" panose="02020603050405020304" pitchFamily="18" charset="0"/>
                <a:ea typeface="宋体" panose="02010600030101010101" pitchFamily="2" charset="-122"/>
              </a:rPr>
              <a:t>”等号伪指令的功能与</a:t>
            </a:r>
            <a:r>
              <a:rPr lang="en-US" altLang="zh-CN" sz="2200" dirty="0">
                <a:latin typeface="Times New Roman" panose="02020603050405020304" pitchFamily="18" charset="0"/>
                <a:ea typeface="宋体" panose="02010600030101010101" pitchFamily="2" charset="-122"/>
              </a:rPr>
              <a:t>EQU</a:t>
            </a:r>
            <a:r>
              <a:rPr lang="zh-CN" altLang="zh-CN" sz="2200" dirty="0">
                <a:latin typeface="Times New Roman" panose="02020603050405020304" pitchFamily="18" charset="0"/>
                <a:ea typeface="宋体" panose="02010600030101010101" pitchFamily="2" charset="-122"/>
              </a:rPr>
              <a:t>伪指令基本相同，其主要区别在于它可以对同一个名字重复定义。</a:t>
            </a:r>
          </a:p>
        </p:txBody>
      </p:sp>
    </p:spTree>
  </p:cSld>
  <p:clrMapOvr>
    <a:masterClrMapping/>
  </p:clrMapOvr>
  <p:transition spd="med">
    <p:random/>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4.3.3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符号定义伪指令</a:t>
            </a:r>
          </a:p>
        </p:txBody>
      </p:sp>
      <p:sp>
        <p:nvSpPr>
          <p:cNvPr id="4403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44035" name="TextBox 6"/>
          <p:cNvSpPr txBox="1"/>
          <p:nvPr/>
        </p:nvSpPr>
        <p:spPr>
          <a:xfrm>
            <a:off x="585788" y="1668463"/>
            <a:ext cx="8034337" cy="4432300"/>
          </a:xfrm>
          <a:prstGeom prst="rect">
            <a:avLst/>
          </a:prstGeom>
          <a:noFill/>
          <a:ln w="9525">
            <a:noFill/>
          </a:ln>
        </p:spPr>
        <p:txBody>
          <a:bodyPr anchor="t" anchorCtr="0">
            <a:spAutoFit/>
          </a:bodyPr>
          <a:lstStyle/>
          <a:p>
            <a:pPr algn="just"/>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3</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LABEL</a:t>
            </a:r>
            <a:r>
              <a:rPr lang="zh-CN" altLang="zh-CN" sz="2000" dirty="0">
                <a:latin typeface="Times New Roman" panose="02020603050405020304" pitchFamily="18" charset="0"/>
                <a:ea typeface="宋体" panose="02010600030101010101" pitchFamily="2" charset="-122"/>
              </a:rPr>
              <a:t>。</a:t>
            </a:r>
          </a:p>
          <a:p>
            <a:pPr algn="just"/>
            <a:r>
              <a:rPr lang="zh-CN" altLang="zh-CN" sz="2000" dirty="0">
                <a:latin typeface="Times New Roman" panose="02020603050405020304" pitchFamily="18" charset="0"/>
                <a:ea typeface="宋体" panose="02010600030101010101" pitchFamily="2" charset="-122"/>
              </a:rPr>
              <a:t>格式：变量</a:t>
            </a:r>
            <a:r>
              <a:rPr lang="en-US" altLang="zh-CN" sz="2000" dirty="0">
                <a:latin typeface="Times New Roman" panose="02020603050405020304" pitchFamily="18" charset="0"/>
                <a:ea typeface="宋体" panose="02010600030101010101" pitchFamily="2" charset="-122"/>
              </a:rPr>
              <a:t>/</a:t>
            </a:r>
            <a:r>
              <a:rPr lang="zh-CN" altLang="zh-CN" sz="2000" dirty="0">
                <a:latin typeface="Times New Roman" panose="02020603050405020304" pitchFamily="18" charset="0"/>
                <a:ea typeface="宋体" panose="02010600030101010101" pitchFamily="2" charset="-122"/>
              </a:rPr>
              <a:t>标号</a:t>
            </a:r>
            <a:r>
              <a:rPr lang="en-US" altLang="zh-CN" sz="2000" dirty="0">
                <a:latin typeface="Times New Roman" panose="02020603050405020304" pitchFamily="18" charset="0"/>
                <a:ea typeface="宋体" panose="02010600030101010101" pitchFamily="2" charset="-122"/>
              </a:rPr>
              <a:t>  LABEL  </a:t>
            </a:r>
            <a:r>
              <a:rPr lang="zh-CN" altLang="zh-CN" sz="2000" dirty="0">
                <a:latin typeface="Times New Roman" panose="02020603050405020304" pitchFamily="18" charset="0"/>
                <a:ea typeface="宋体" panose="02010600030101010101" pitchFamily="2" charset="-122"/>
              </a:rPr>
              <a:t>类型</a:t>
            </a:r>
          </a:p>
          <a:p>
            <a:pPr algn="just"/>
            <a:r>
              <a:rPr lang="zh-CN" altLang="zh-CN" sz="2000" dirty="0">
                <a:latin typeface="Times New Roman" panose="02020603050405020304" pitchFamily="18" charset="0"/>
                <a:ea typeface="宋体" panose="02010600030101010101" pitchFamily="2" charset="-122"/>
              </a:rPr>
              <a:t>功能：定义变量或标号的类型，而变量或标号的段属性和偏移量属性由该语句所处的位置确定。</a:t>
            </a:r>
          </a:p>
          <a:p>
            <a:pPr algn="just"/>
            <a:r>
              <a:rPr lang="zh-CN" altLang="zh-CN" sz="2000" dirty="0">
                <a:latin typeface="Times New Roman" panose="02020603050405020304" pitchFamily="18" charset="0"/>
                <a:ea typeface="宋体" panose="02010600030101010101" pitchFamily="2" charset="-122"/>
              </a:rPr>
              <a:t>说明：在定义中，若是变量，其类型可以是</a:t>
            </a:r>
            <a:r>
              <a:rPr lang="en-US" altLang="zh-CN" sz="2000" dirty="0">
                <a:latin typeface="Times New Roman" panose="02020603050405020304" pitchFamily="18" charset="0"/>
                <a:ea typeface="宋体" panose="02010600030101010101" pitchFamily="2" charset="-122"/>
              </a:rPr>
              <a:t>BYTE</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WORD</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DWORD</a:t>
            </a:r>
            <a:r>
              <a:rPr lang="zh-CN" altLang="zh-CN" sz="2000" dirty="0">
                <a:latin typeface="Times New Roman" panose="02020603050405020304" pitchFamily="18" charset="0"/>
                <a:ea typeface="宋体" panose="02010600030101010101" pitchFamily="2" charset="-122"/>
              </a:rPr>
              <a:t>等，若是标号则其定义类型只能是</a:t>
            </a:r>
            <a:r>
              <a:rPr lang="en-US" altLang="zh-CN" sz="2000" dirty="0">
                <a:latin typeface="Times New Roman" panose="02020603050405020304" pitchFamily="18" charset="0"/>
                <a:ea typeface="宋体" panose="02010600030101010101" pitchFamily="2" charset="-122"/>
              </a:rPr>
              <a:t>NEAR</a:t>
            </a:r>
            <a:r>
              <a:rPr lang="zh-CN" altLang="zh-CN" sz="2000" dirty="0">
                <a:latin typeface="Times New Roman" panose="02020603050405020304" pitchFamily="18" charset="0"/>
                <a:ea typeface="宋体" panose="02010600030101010101" pitchFamily="2" charset="-122"/>
              </a:rPr>
              <a:t>或</a:t>
            </a:r>
            <a:r>
              <a:rPr lang="en-US" altLang="zh-CN" sz="2000" dirty="0">
                <a:latin typeface="Times New Roman" panose="02020603050405020304" pitchFamily="18" charset="0"/>
                <a:ea typeface="宋体" panose="02010600030101010101" pitchFamily="2" charset="-122"/>
              </a:rPr>
              <a:t>FAR</a:t>
            </a:r>
            <a:r>
              <a:rPr lang="zh-CN" altLang="zh-CN" sz="2000" dirty="0">
                <a:latin typeface="Times New Roman" panose="02020603050405020304" pitchFamily="18" charset="0"/>
                <a:ea typeface="宋体" panose="02010600030101010101" pitchFamily="2" charset="-122"/>
              </a:rPr>
              <a:t>类型。</a:t>
            </a:r>
          </a:p>
          <a:p>
            <a:pPr algn="just"/>
            <a:r>
              <a:rPr lang="zh-CN" altLang="zh-CN" sz="2000" dirty="0">
                <a:latin typeface="Times New Roman" panose="02020603050405020304" pitchFamily="18" charset="0"/>
                <a:ea typeface="宋体" panose="02010600030101010101" pitchFamily="2" charset="-122"/>
              </a:rPr>
              <a:t>利用</a:t>
            </a:r>
            <a:r>
              <a:rPr lang="en-US" altLang="zh-CN" sz="2000" dirty="0">
                <a:latin typeface="Times New Roman" panose="02020603050405020304" pitchFamily="18" charset="0"/>
                <a:ea typeface="宋体" panose="02010600030101010101" pitchFamily="2" charset="-122"/>
              </a:rPr>
              <a:t>LABEL</a:t>
            </a:r>
            <a:r>
              <a:rPr lang="zh-CN" altLang="zh-CN" sz="2000" dirty="0">
                <a:latin typeface="Times New Roman" panose="02020603050405020304" pitchFamily="18" charset="0"/>
                <a:ea typeface="宋体" panose="02010600030101010101" pitchFamily="2" charset="-122"/>
              </a:rPr>
              <a:t>伪指令可以使用一数据区兼有</a:t>
            </a:r>
            <a:r>
              <a:rPr lang="en-US" altLang="zh-CN" sz="2000" dirty="0">
                <a:latin typeface="Times New Roman" panose="02020603050405020304" pitchFamily="18" charset="0"/>
                <a:ea typeface="宋体" panose="02010600030101010101" pitchFamily="2" charset="-122"/>
              </a:rPr>
              <a:t>BYTE</a:t>
            </a:r>
            <a:r>
              <a:rPr lang="zh-CN" altLang="zh-CN" sz="2000" dirty="0">
                <a:latin typeface="Times New Roman" panose="02020603050405020304" pitchFamily="18" charset="0"/>
                <a:ea typeface="宋体" panose="02010600030101010101" pitchFamily="2" charset="-122"/>
              </a:rPr>
              <a:t>和</a:t>
            </a:r>
            <a:r>
              <a:rPr lang="en-US" altLang="zh-CN" sz="2000" dirty="0">
                <a:latin typeface="Times New Roman" panose="02020603050405020304" pitchFamily="18" charset="0"/>
                <a:ea typeface="宋体" panose="02010600030101010101" pitchFamily="2" charset="-122"/>
              </a:rPr>
              <a:t>WORD</a:t>
            </a:r>
            <a:r>
              <a:rPr lang="zh-CN" altLang="zh-CN" sz="2000" dirty="0">
                <a:latin typeface="Times New Roman" panose="02020603050405020304" pitchFamily="18" charset="0"/>
                <a:ea typeface="宋体" panose="02010600030101010101" pitchFamily="2" charset="-122"/>
              </a:rPr>
              <a:t>两种属性。这样在以后的程序中可以根据不同需要分别以字节为单位或以字为单位存取其中的数据。</a:t>
            </a:r>
          </a:p>
          <a:p>
            <a:pPr algn="just"/>
            <a:r>
              <a:rPr lang="en-US" altLang="zh-CN" sz="2000" dirty="0">
                <a:latin typeface="Times New Roman" panose="02020603050405020304" pitchFamily="18" charset="0"/>
                <a:ea typeface="宋体" panose="02010600030101010101" pitchFamily="2" charset="-122"/>
              </a:rPr>
              <a:t>LABEL</a:t>
            </a:r>
            <a:r>
              <a:rPr lang="zh-CN" altLang="zh-CN" sz="2000" dirty="0">
                <a:latin typeface="Times New Roman" panose="02020603050405020304" pitchFamily="18" charset="0"/>
                <a:ea typeface="宋体" panose="02010600030101010101" pitchFamily="2" charset="-122"/>
              </a:rPr>
              <a:t>伪指令也可以将一个属性已定义的</a:t>
            </a:r>
            <a:r>
              <a:rPr lang="en-US" altLang="zh-CN" sz="2000" dirty="0">
                <a:latin typeface="Times New Roman" panose="02020603050405020304" pitchFamily="18" charset="0"/>
                <a:ea typeface="宋体" panose="02010600030101010101" pitchFamily="2" charset="-122"/>
              </a:rPr>
              <a:t>NEAR</a:t>
            </a:r>
            <a:r>
              <a:rPr lang="zh-CN" altLang="zh-CN" sz="2000" dirty="0">
                <a:latin typeface="Times New Roman" panose="02020603050405020304" pitchFamily="18" charset="0"/>
                <a:ea typeface="宋体" panose="02010600030101010101" pitchFamily="2" charset="-122"/>
              </a:rPr>
              <a:t>或者后面跟有冒号（隐含属性为</a:t>
            </a:r>
            <a:r>
              <a:rPr lang="en-US" altLang="zh-CN" sz="2000" dirty="0">
                <a:latin typeface="Times New Roman" panose="02020603050405020304" pitchFamily="18" charset="0"/>
                <a:ea typeface="宋体" panose="02010600030101010101" pitchFamily="2" charset="-122"/>
              </a:rPr>
              <a:t>Near</a:t>
            </a:r>
            <a:r>
              <a:rPr lang="zh-CN" altLang="zh-CN" sz="2000" dirty="0">
                <a:latin typeface="Times New Roman" panose="02020603050405020304" pitchFamily="18" charset="0"/>
                <a:ea typeface="宋体" panose="02010600030101010101" pitchFamily="2" charset="-122"/>
              </a:rPr>
              <a:t>）的标号再定义为</a:t>
            </a:r>
            <a:r>
              <a:rPr lang="en-US" altLang="zh-CN" sz="2000" dirty="0">
                <a:latin typeface="Times New Roman" panose="02020603050405020304" pitchFamily="18" charset="0"/>
                <a:ea typeface="宋体" panose="02010600030101010101" pitchFamily="2" charset="-122"/>
              </a:rPr>
              <a:t>FAR</a:t>
            </a:r>
            <a:r>
              <a:rPr lang="zh-CN" altLang="zh-CN" sz="2000" dirty="0">
                <a:latin typeface="Times New Roman" panose="02020603050405020304" pitchFamily="18" charset="0"/>
                <a:ea typeface="宋体" panose="02010600030101010101" pitchFamily="2" charset="-122"/>
              </a:rPr>
              <a:t>。</a:t>
            </a:r>
          </a:p>
          <a:p>
            <a:pPr algn="just"/>
            <a:r>
              <a:rPr lang="zh-CN" altLang="zh-CN" sz="2000" dirty="0">
                <a:solidFill>
                  <a:srgbClr val="FF3300"/>
                </a:solidFill>
                <a:latin typeface="Times New Roman" panose="02020603050405020304" pitchFamily="18" charset="0"/>
                <a:ea typeface="宋体" panose="02010600030101010101" pitchFamily="2" charset="-122"/>
              </a:rPr>
              <a:t>【例</a:t>
            </a:r>
            <a:r>
              <a:rPr lang="en-US" altLang="zh-CN" sz="2000" dirty="0">
                <a:solidFill>
                  <a:srgbClr val="FF3300"/>
                </a:solidFill>
                <a:latin typeface="Times New Roman" panose="02020603050405020304" pitchFamily="18" charset="0"/>
                <a:ea typeface="宋体" panose="02010600030101010101" pitchFamily="2" charset="-122"/>
              </a:rPr>
              <a:t>4.3</a:t>
            </a:r>
            <a:r>
              <a:rPr lang="zh-CN" altLang="zh-CN" sz="2000" dirty="0">
                <a:solidFill>
                  <a:srgbClr val="FF3300"/>
                </a:solidFill>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 </a:t>
            </a:r>
            <a:endParaRPr lang="zh-CN" altLang="zh-CN" sz="2000" dirty="0">
              <a:latin typeface="Times New Roman" panose="02020603050405020304" pitchFamily="18" charset="0"/>
              <a:ea typeface="宋体" panose="02010600030101010101" pitchFamily="2" charset="-122"/>
            </a:endParaRPr>
          </a:p>
          <a:p>
            <a:pPr algn="just"/>
            <a:r>
              <a:rPr lang="en-US" altLang="zh-CN" sz="2000" dirty="0">
                <a:latin typeface="Times New Roman" panose="02020603050405020304" pitchFamily="18" charset="0"/>
                <a:ea typeface="宋体" panose="02010600030101010101" pitchFamily="2" charset="-122"/>
              </a:rPr>
              <a:t>DATAW   LABEL  WORD</a:t>
            </a:r>
            <a:endParaRPr lang="zh-CN" altLang="zh-CN" sz="2000" dirty="0">
              <a:latin typeface="Times New Roman" panose="02020603050405020304" pitchFamily="18" charset="0"/>
              <a:ea typeface="宋体" panose="02010600030101010101" pitchFamily="2" charset="-122"/>
            </a:endParaRPr>
          </a:p>
          <a:p>
            <a:pPr algn="just"/>
            <a:r>
              <a:rPr lang="en-US" altLang="zh-CN" sz="2000" dirty="0">
                <a:latin typeface="Times New Roman" panose="02020603050405020304" pitchFamily="18" charset="0"/>
                <a:ea typeface="宋体" panose="02010600030101010101" pitchFamily="2" charset="-122"/>
              </a:rPr>
              <a:t>DATAB   DB   10H</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20H</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30H  </a:t>
            </a:r>
            <a:r>
              <a:rPr lang="en-US" altLang="zh-CN" sz="2000" dirty="0">
                <a:solidFill>
                  <a:srgbClr val="00CC00"/>
                </a:solidFill>
                <a:latin typeface="Times New Roman" panose="02020603050405020304" pitchFamily="18" charset="0"/>
                <a:ea typeface="宋体" panose="02010600030101010101" pitchFamily="2" charset="-122"/>
              </a:rPr>
              <a:t> ;DATAW</a:t>
            </a:r>
            <a:r>
              <a:rPr lang="zh-CN" altLang="zh-CN" sz="2000" dirty="0">
                <a:solidFill>
                  <a:srgbClr val="00CC00"/>
                </a:solidFill>
                <a:latin typeface="Times New Roman" panose="02020603050405020304" pitchFamily="18" charset="0"/>
                <a:ea typeface="宋体" panose="02010600030101010101" pitchFamily="2" charset="-122"/>
              </a:rPr>
              <a:t>与</a:t>
            </a:r>
            <a:r>
              <a:rPr lang="en-US" altLang="zh-CN" sz="2000" dirty="0">
                <a:solidFill>
                  <a:srgbClr val="00CC00"/>
                </a:solidFill>
                <a:latin typeface="Times New Roman" panose="02020603050405020304" pitchFamily="18" charset="0"/>
                <a:ea typeface="宋体" panose="02010600030101010101" pitchFamily="2" charset="-122"/>
              </a:rPr>
              <a:t>DATAB</a:t>
            </a:r>
            <a:r>
              <a:rPr lang="zh-CN" altLang="zh-CN" sz="2000" dirty="0">
                <a:solidFill>
                  <a:srgbClr val="00CC00"/>
                </a:solidFill>
                <a:latin typeface="Times New Roman" panose="02020603050405020304" pitchFamily="18" charset="0"/>
                <a:ea typeface="宋体" panose="02010600030101010101" pitchFamily="2" charset="-122"/>
              </a:rPr>
              <a:t>指向相同的数据区</a:t>
            </a:r>
          </a:p>
        </p:txBody>
      </p:sp>
    </p:spTree>
  </p:cSld>
  <p:clrMapOvr>
    <a:masterClrMapping/>
  </p:clrMapOvr>
  <p:transition spd="med">
    <p:random/>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4.3.4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段定义伪指令</a:t>
            </a:r>
          </a:p>
        </p:txBody>
      </p:sp>
      <p:sp>
        <p:nvSpPr>
          <p:cNvPr id="46082"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46083" name="TextBox 6"/>
          <p:cNvSpPr txBox="1"/>
          <p:nvPr/>
        </p:nvSpPr>
        <p:spPr>
          <a:xfrm>
            <a:off x="523875" y="1341438"/>
            <a:ext cx="8034338" cy="5440362"/>
          </a:xfrm>
          <a:prstGeom prst="rect">
            <a:avLst/>
          </a:prstGeom>
          <a:noFill/>
          <a:ln w="9525">
            <a:noFill/>
          </a:ln>
        </p:spPr>
        <p:txBody>
          <a:bodyPr anchor="t" anchorCtr="0">
            <a:spAutoFit/>
          </a:bodyPr>
          <a:lstStyle/>
          <a:p>
            <a:pPr algn="just"/>
            <a:r>
              <a:rPr lang="en-US" altLang="zh-CN" sz="2100" dirty="0">
                <a:latin typeface="Times New Roman" panose="02020603050405020304" pitchFamily="18" charset="0"/>
                <a:ea typeface="宋体" panose="02010600030101010101" pitchFamily="2" charset="-122"/>
              </a:rPr>
              <a:t>    8086/8088 </a:t>
            </a:r>
            <a:r>
              <a:rPr lang="zh-CN" altLang="zh-CN" sz="2100" dirty="0">
                <a:latin typeface="Times New Roman" panose="02020603050405020304" pitchFamily="18" charset="0"/>
                <a:ea typeface="宋体" panose="02010600030101010101" pitchFamily="2" charset="-122"/>
              </a:rPr>
              <a:t>微处理器对存储器的管理是分段进行的，因而汇编语言程序中也要求分段组织指令、数据和堆栈等，以便将源程序汇编成为目标代码后可分别装入存储器的相应段中。</a:t>
            </a:r>
          </a:p>
          <a:p>
            <a:pPr algn="just"/>
            <a:r>
              <a:rPr lang="en-US" altLang="zh-CN" sz="2100" dirty="0">
                <a:latin typeface="Times New Roman" panose="02020603050405020304" pitchFamily="18" charset="0"/>
                <a:ea typeface="宋体" panose="02010600030101010101" pitchFamily="2" charset="-122"/>
              </a:rPr>
              <a:t>    </a:t>
            </a:r>
            <a:r>
              <a:rPr lang="zh-CN" altLang="zh-CN" sz="2100" dirty="0">
                <a:latin typeface="Times New Roman" panose="02020603050405020304" pitchFamily="18" charset="0"/>
                <a:ea typeface="宋体" panose="02010600030101010101" pitchFamily="2" charset="-122"/>
              </a:rPr>
              <a:t>段定义伪指令的功能就是把源程序划分为逻辑段，便于汇编程序在相应段名下生成目标代码，同时也便于连接程序，组合、定位、生成可执行的目标程序。常用的段定义伪指令有</a:t>
            </a:r>
            <a:r>
              <a:rPr lang="en-US" altLang="zh-CN" sz="2100" dirty="0">
                <a:latin typeface="Times New Roman" panose="02020603050405020304" pitchFamily="18" charset="0"/>
                <a:ea typeface="宋体" panose="02010600030101010101" pitchFamily="2" charset="-122"/>
              </a:rPr>
              <a:t>SEGMENT/ENDS</a:t>
            </a:r>
            <a:r>
              <a:rPr lang="zh-CN" altLang="zh-CN" sz="2100" dirty="0">
                <a:latin typeface="Times New Roman" panose="02020603050405020304" pitchFamily="18" charset="0"/>
                <a:ea typeface="宋体" panose="02010600030101010101" pitchFamily="2" charset="-122"/>
              </a:rPr>
              <a:t>和</a:t>
            </a:r>
            <a:r>
              <a:rPr lang="en-US" altLang="zh-CN" sz="2100" dirty="0">
                <a:latin typeface="Times New Roman" panose="02020603050405020304" pitchFamily="18" charset="0"/>
                <a:ea typeface="宋体" panose="02010600030101010101" pitchFamily="2" charset="-122"/>
              </a:rPr>
              <a:t>ASSUME</a:t>
            </a:r>
            <a:r>
              <a:rPr lang="zh-CN" altLang="zh-CN" sz="2100" dirty="0">
                <a:latin typeface="Times New Roman" panose="02020603050405020304" pitchFamily="18" charset="0"/>
                <a:ea typeface="宋体" panose="02010600030101010101" pitchFamily="2" charset="-122"/>
              </a:rPr>
              <a:t>等。</a:t>
            </a:r>
          </a:p>
          <a:p>
            <a:pPr algn="just"/>
            <a:r>
              <a:rPr lang="zh-CN" altLang="zh-CN" sz="2100" dirty="0">
                <a:latin typeface="Times New Roman" panose="02020603050405020304" pitchFamily="18" charset="0"/>
                <a:ea typeface="宋体" panose="02010600030101010101" pitchFamily="2" charset="-122"/>
              </a:rPr>
              <a:t>（</a:t>
            </a:r>
            <a:r>
              <a:rPr lang="en-US" altLang="zh-CN" sz="2100" dirty="0">
                <a:latin typeface="Times New Roman" panose="02020603050405020304" pitchFamily="18" charset="0"/>
                <a:ea typeface="宋体" panose="02010600030101010101" pitchFamily="2" charset="-122"/>
              </a:rPr>
              <a:t>1</a:t>
            </a:r>
            <a:r>
              <a:rPr lang="zh-CN" altLang="zh-CN" sz="2100" dirty="0">
                <a:latin typeface="Times New Roman" panose="02020603050405020304" pitchFamily="18" charset="0"/>
                <a:ea typeface="宋体" panose="02010600030101010101" pitchFamily="2" charset="-122"/>
              </a:rPr>
              <a:t>）</a:t>
            </a:r>
            <a:r>
              <a:rPr lang="en-US" altLang="zh-CN" sz="2100" dirty="0">
                <a:latin typeface="Times New Roman" panose="02020603050405020304" pitchFamily="18" charset="0"/>
                <a:ea typeface="宋体" panose="02010600030101010101" pitchFamily="2" charset="-122"/>
              </a:rPr>
              <a:t>SEGMENT/ENDS</a:t>
            </a:r>
            <a:r>
              <a:rPr lang="zh-CN" altLang="zh-CN" sz="2100" dirty="0">
                <a:latin typeface="Times New Roman" panose="02020603050405020304" pitchFamily="18" charset="0"/>
                <a:ea typeface="宋体" panose="02010600030101010101" pitchFamily="2" charset="-122"/>
              </a:rPr>
              <a:t>（程序段定义伪指令）。</a:t>
            </a:r>
          </a:p>
          <a:p>
            <a:pPr algn="just"/>
            <a:r>
              <a:rPr lang="zh-CN" altLang="zh-CN" sz="2100" dirty="0">
                <a:latin typeface="Times New Roman" panose="02020603050405020304" pitchFamily="18" charset="0"/>
                <a:ea typeface="宋体" panose="02010600030101010101" pitchFamily="2" charset="-122"/>
              </a:rPr>
              <a:t>格式：段名</a:t>
            </a:r>
            <a:r>
              <a:rPr lang="en-US" altLang="zh-CN" sz="2100" dirty="0">
                <a:latin typeface="Times New Roman" panose="02020603050405020304" pitchFamily="18" charset="0"/>
                <a:ea typeface="宋体" panose="02010600030101010101" pitchFamily="2" charset="-122"/>
              </a:rPr>
              <a:t>   SEGMENT   [</a:t>
            </a:r>
            <a:r>
              <a:rPr lang="zh-CN" altLang="zh-CN" sz="2100" dirty="0">
                <a:latin typeface="Times New Roman" panose="02020603050405020304" pitchFamily="18" charset="0"/>
                <a:ea typeface="宋体" panose="02010600030101010101" pitchFamily="2" charset="-122"/>
              </a:rPr>
              <a:t>定位类型</a:t>
            </a:r>
            <a:r>
              <a:rPr lang="en-US" altLang="zh-CN" sz="2100" dirty="0">
                <a:latin typeface="Times New Roman" panose="02020603050405020304" pitchFamily="18" charset="0"/>
                <a:ea typeface="宋体" panose="02010600030101010101" pitchFamily="2" charset="-122"/>
              </a:rPr>
              <a:t>][</a:t>
            </a:r>
            <a:r>
              <a:rPr lang="zh-CN" altLang="zh-CN" sz="2100" dirty="0">
                <a:latin typeface="Times New Roman" panose="02020603050405020304" pitchFamily="18" charset="0"/>
                <a:ea typeface="宋体" panose="02010600030101010101" pitchFamily="2" charset="-122"/>
              </a:rPr>
              <a:t>组合类型</a:t>
            </a:r>
            <a:r>
              <a:rPr lang="en-US" altLang="zh-CN" sz="2100" dirty="0">
                <a:latin typeface="Times New Roman" panose="02020603050405020304" pitchFamily="18" charset="0"/>
                <a:ea typeface="宋体" panose="02010600030101010101" pitchFamily="2" charset="-122"/>
              </a:rPr>
              <a:t>][</a:t>
            </a:r>
            <a:r>
              <a:rPr lang="zh-CN" altLang="zh-CN" sz="2100" dirty="0">
                <a:latin typeface="Times New Roman" panose="02020603050405020304" pitchFamily="18" charset="0"/>
                <a:ea typeface="宋体" panose="02010600030101010101" pitchFamily="2" charset="-122"/>
              </a:rPr>
              <a:t>类别</a:t>
            </a:r>
            <a:r>
              <a:rPr lang="en-US" altLang="zh-CN" sz="2100" dirty="0">
                <a:latin typeface="Times New Roman" panose="02020603050405020304" pitchFamily="18" charset="0"/>
                <a:ea typeface="宋体" panose="02010600030101010101" pitchFamily="2" charset="-122"/>
              </a:rPr>
              <a:t>]</a:t>
            </a:r>
            <a:endParaRPr lang="zh-CN" altLang="zh-CN" sz="2100" dirty="0">
              <a:latin typeface="Times New Roman" panose="02020603050405020304" pitchFamily="18" charset="0"/>
              <a:ea typeface="宋体" panose="02010600030101010101" pitchFamily="2" charset="-122"/>
            </a:endParaRPr>
          </a:p>
          <a:p>
            <a:pPr algn="just"/>
            <a:r>
              <a:rPr lang="zh-CN" altLang="zh-CN" sz="2100" dirty="0">
                <a:latin typeface="Times New Roman" panose="02020603050405020304" pitchFamily="18" charset="0"/>
                <a:ea typeface="宋体" panose="02010600030101010101" pitchFamily="2" charset="-122"/>
              </a:rPr>
              <a:t>……</a:t>
            </a:r>
          </a:p>
          <a:p>
            <a:pPr algn="just"/>
            <a:r>
              <a:rPr lang="zh-CN" altLang="zh-CN" sz="2100" dirty="0">
                <a:latin typeface="Times New Roman" panose="02020603050405020304" pitchFamily="18" charset="0"/>
                <a:ea typeface="宋体" panose="02010600030101010101" pitchFamily="2" charset="-122"/>
              </a:rPr>
              <a:t>段名</a:t>
            </a:r>
            <a:r>
              <a:rPr lang="en-US" altLang="zh-CN" sz="2100" dirty="0">
                <a:latin typeface="Times New Roman" panose="02020603050405020304" pitchFamily="18" charset="0"/>
                <a:ea typeface="宋体" panose="02010600030101010101" pitchFamily="2" charset="-122"/>
              </a:rPr>
              <a:t>   ENDS</a:t>
            </a:r>
            <a:endParaRPr lang="zh-CN" altLang="zh-CN" sz="2100" dirty="0">
              <a:latin typeface="Times New Roman" panose="02020603050405020304" pitchFamily="18" charset="0"/>
              <a:ea typeface="宋体" panose="02010600030101010101" pitchFamily="2" charset="-122"/>
            </a:endParaRPr>
          </a:p>
          <a:p>
            <a:pPr algn="just"/>
            <a:r>
              <a:rPr lang="zh-CN" altLang="zh-CN" sz="2100" dirty="0">
                <a:latin typeface="Times New Roman" panose="02020603050405020304" pitchFamily="18" charset="0"/>
                <a:ea typeface="宋体" panose="02010600030101010101" pitchFamily="2" charset="-122"/>
              </a:rPr>
              <a:t>功能：用来定义程序中的一个段，指明当前数据或指令在哪一个程序段上。</a:t>
            </a:r>
          </a:p>
          <a:p>
            <a:pPr algn="just"/>
            <a:r>
              <a:rPr lang="zh-CN" altLang="zh-CN" sz="2100" dirty="0">
                <a:latin typeface="Times New Roman" panose="02020603050405020304" pitchFamily="18" charset="0"/>
                <a:ea typeface="宋体" panose="02010600030101010101" pitchFamily="2" charset="-122"/>
              </a:rPr>
              <a:t>说明：①</a:t>
            </a:r>
            <a:r>
              <a:rPr lang="en-US" altLang="zh-CN" sz="2100" dirty="0">
                <a:latin typeface="Times New Roman" panose="02020603050405020304" pitchFamily="18" charset="0"/>
                <a:ea typeface="宋体" panose="02010600030101010101" pitchFamily="2" charset="-122"/>
              </a:rPr>
              <a:t> SEGMENT</a:t>
            </a:r>
            <a:r>
              <a:rPr lang="zh-CN" altLang="zh-CN" sz="2100" dirty="0">
                <a:latin typeface="Times New Roman" panose="02020603050405020304" pitchFamily="18" charset="0"/>
                <a:ea typeface="宋体" panose="02010600030101010101" pitchFamily="2" charset="-122"/>
              </a:rPr>
              <a:t>伪指令位于一个逻辑段的开始部分，而</a:t>
            </a:r>
            <a:r>
              <a:rPr lang="en-US" altLang="zh-CN" sz="2100" dirty="0">
                <a:latin typeface="Times New Roman" panose="02020603050405020304" pitchFamily="18" charset="0"/>
                <a:ea typeface="宋体" panose="02010600030101010101" pitchFamily="2" charset="-122"/>
              </a:rPr>
              <a:t>ENDS</a:t>
            </a:r>
            <a:r>
              <a:rPr lang="zh-CN" altLang="zh-CN" sz="2100" dirty="0">
                <a:latin typeface="Times New Roman" panose="02020603050405020304" pitchFamily="18" charset="0"/>
                <a:ea typeface="宋体" panose="02010600030101010101" pitchFamily="2" charset="-122"/>
              </a:rPr>
              <a:t>伪指令则表示一个逻辑段的结束。在汇编语言源程序中，这两个伪指令总成对出现，且两者前面段名必须一致。</a:t>
            </a:r>
            <a:r>
              <a:rPr lang="en-US" altLang="zh-CN" sz="2100" dirty="0">
                <a:latin typeface="Times New Roman" panose="02020603050405020304" pitchFamily="18" charset="0"/>
                <a:ea typeface="宋体" panose="02010600030101010101" pitchFamily="2" charset="-122"/>
              </a:rPr>
              <a:t>SEGMENT</a:t>
            </a:r>
            <a:r>
              <a:rPr lang="zh-CN" altLang="zh-CN" sz="2100" dirty="0">
                <a:latin typeface="Times New Roman" panose="02020603050405020304" pitchFamily="18" charset="0"/>
                <a:ea typeface="宋体" panose="02010600030101010101" pitchFamily="2" charset="-122"/>
              </a:rPr>
              <a:t>后面括号中的内容为可选项。</a:t>
            </a:r>
          </a:p>
        </p:txBody>
      </p:sp>
    </p:spTree>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4.3.4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段定义伪指令</a:t>
            </a:r>
          </a:p>
        </p:txBody>
      </p:sp>
      <p:sp>
        <p:nvSpPr>
          <p:cNvPr id="48130"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48131" name="TextBox 6"/>
          <p:cNvSpPr txBox="1"/>
          <p:nvPr/>
        </p:nvSpPr>
        <p:spPr>
          <a:xfrm>
            <a:off x="487363" y="1349375"/>
            <a:ext cx="8034337" cy="5434013"/>
          </a:xfrm>
          <a:prstGeom prst="rect">
            <a:avLst/>
          </a:prstGeom>
          <a:noFill/>
          <a:ln w="9525">
            <a:noFill/>
          </a:ln>
        </p:spPr>
        <p:txBody>
          <a:bodyPr anchor="t" anchorCtr="0">
            <a:spAutoFit/>
          </a:bodyPr>
          <a:lstStyle/>
          <a:p>
            <a:pPr algn="just"/>
            <a:r>
              <a:rPr lang="zh-CN" altLang="zh-CN" sz="2200" dirty="0">
                <a:latin typeface="Times New Roman" panose="02020603050405020304" pitchFamily="18" charset="0"/>
                <a:ea typeface="宋体" panose="02010600030101010101" pitchFamily="2" charset="-122"/>
              </a:rPr>
              <a:t>②</a:t>
            </a:r>
            <a:r>
              <a:rPr lang="en-US" altLang="zh-CN" sz="2200" dirty="0">
                <a:latin typeface="Times New Roman" panose="02020603050405020304" pitchFamily="18" charset="0"/>
                <a:ea typeface="宋体" panose="02010600030101010101" pitchFamily="2" charset="-122"/>
              </a:rPr>
              <a:t> </a:t>
            </a:r>
            <a:r>
              <a:rPr lang="zh-CN" altLang="zh-CN" sz="2200" dirty="0">
                <a:latin typeface="Times New Roman" panose="02020603050405020304" pitchFamily="18" charset="0"/>
                <a:ea typeface="宋体" panose="02010600030101010101" pitchFamily="2" charset="-122"/>
              </a:rPr>
              <a:t>定位类型用来指定段的地址边界。定位类型可以是</a:t>
            </a:r>
            <a:r>
              <a:rPr lang="en-US" altLang="zh-CN" sz="2200" dirty="0">
                <a:latin typeface="Times New Roman" panose="02020603050405020304" pitchFamily="18" charset="0"/>
                <a:ea typeface="宋体" panose="02010600030101010101" pitchFamily="2" charset="-122"/>
              </a:rPr>
              <a:t>BYTE</a:t>
            </a:r>
            <a:r>
              <a:rPr lang="zh-CN" altLang="zh-CN" sz="2200" dirty="0">
                <a:latin typeface="Times New Roman" panose="02020603050405020304" pitchFamily="18" charset="0"/>
                <a:ea typeface="宋体" panose="02010600030101010101" pitchFamily="2" charset="-122"/>
              </a:rPr>
              <a:t>（段可从任何地址开始）、</a:t>
            </a:r>
            <a:r>
              <a:rPr lang="en-US" altLang="zh-CN" sz="2200" dirty="0">
                <a:latin typeface="Times New Roman" panose="02020603050405020304" pitchFamily="18" charset="0"/>
                <a:ea typeface="宋体" panose="02010600030101010101" pitchFamily="2" charset="-122"/>
              </a:rPr>
              <a:t>WORD</a:t>
            </a:r>
            <a:r>
              <a:rPr lang="zh-CN" altLang="zh-CN" sz="2200" dirty="0">
                <a:latin typeface="Times New Roman" panose="02020603050405020304" pitchFamily="18" charset="0"/>
                <a:ea typeface="宋体" panose="02010600030101010101" pitchFamily="2" charset="-122"/>
              </a:rPr>
              <a:t>（段的起始地址应为偶地址）、</a:t>
            </a:r>
            <a:r>
              <a:rPr lang="en-US" altLang="zh-CN" sz="2200" dirty="0">
                <a:latin typeface="Times New Roman" panose="02020603050405020304" pitchFamily="18" charset="0"/>
                <a:ea typeface="宋体" panose="02010600030101010101" pitchFamily="2" charset="-122"/>
              </a:rPr>
              <a:t>PARA</a:t>
            </a:r>
            <a:r>
              <a:rPr lang="zh-CN" altLang="zh-CN" sz="2200" dirty="0">
                <a:latin typeface="Times New Roman" panose="02020603050405020304" pitchFamily="18" charset="0"/>
                <a:ea typeface="宋体" panose="02010600030101010101" pitchFamily="2" charset="-122"/>
              </a:rPr>
              <a:t>（段的起始地址应为</a:t>
            </a:r>
            <a:r>
              <a:rPr lang="en-US" altLang="zh-CN" sz="2200" dirty="0">
                <a:latin typeface="Times New Roman" panose="02020603050405020304" pitchFamily="18" charset="0"/>
                <a:ea typeface="宋体" panose="02010600030101010101" pitchFamily="2" charset="-122"/>
              </a:rPr>
              <a:t>16</a:t>
            </a:r>
            <a:r>
              <a:rPr lang="zh-CN" altLang="zh-CN" sz="2200" dirty="0">
                <a:latin typeface="Times New Roman" panose="02020603050405020304" pitchFamily="18" charset="0"/>
                <a:ea typeface="宋体" panose="02010600030101010101" pitchFamily="2" charset="-122"/>
              </a:rPr>
              <a:t>的倍数）和</a:t>
            </a:r>
            <a:r>
              <a:rPr lang="en-US" altLang="zh-CN" sz="2200" dirty="0">
                <a:latin typeface="Times New Roman" panose="02020603050405020304" pitchFamily="18" charset="0"/>
                <a:ea typeface="宋体" panose="02010600030101010101" pitchFamily="2" charset="-122"/>
              </a:rPr>
              <a:t>PAGE</a:t>
            </a:r>
            <a:r>
              <a:rPr lang="zh-CN" altLang="zh-CN" sz="2200" dirty="0">
                <a:latin typeface="Times New Roman" panose="02020603050405020304" pitchFamily="18" charset="0"/>
                <a:ea typeface="宋体" panose="02010600030101010101" pitchFamily="2" charset="-122"/>
              </a:rPr>
              <a:t>（段的起始地址应为</a:t>
            </a:r>
            <a:r>
              <a:rPr lang="en-US" altLang="zh-CN" sz="2200" dirty="0">
                <a:latin typeface="Times New Roman" panose="02020603050405020304" pitchFamily="18" charset="0"/>
                <a:ea typeface="宋体" panose="02010600030101010101" pitchFamily="2" charset="-122"/>
              </a:rPr>
              <a:t>256</a:t>
            </a:r>
            <a:r>
              <a:rPr lang="zh-CN" altLang="zh-CN" sz="2200" dirty="0">
                <a:latin typeface="Times New Roman" panose="02020603050405020304" pitchFamily="18" charset="0"/>
                <a:ea typeface="宋体" panose="02010600030101010101" pitchFamily="2" charset="-122"/>
              </a:rPr>
              <a:t>的倍数）。</a:t>
            </a:r>
          </a:p>
          <a:p>
            <a:pPr algn="just"/>
            <a:r>
              <a:rPr lang="zh-CN" altLang="zh-CN" sz="2200" dirty="0">
                <a:latin typeface="Times New Roman" panose="02020603050405020304" pitchFamily="18" charset="0"/>
                <a:ea typeface="宋体" panose="02010600030101010101" pitchFamily="2" charset="-122"/>
              </a:rPr>
              <a:t>③</a:t>
            </a:r>
            <a:r>
              <a:rPr lang="en-US" altLang="zh-CN" sz="2200" dirty="0">
                <a:latin typeface="Times New Roman" panose="02020603050405020304" pitchFamily="18" charset="0"/>
                <a:ea typeface="宋体" panose="02010600030101010101" pitchFamily="2" charset="-122"/>
              </a:rPr>
              <a:t> </a:t>
            </a:r>
            <a:r>
              <a:rPr lang="zh-CN" altLang="zh-CN" sz="2200" dirty="0">
                <a:latin typeface="Times New Roman" panose="02020603050405020304" pitchFamily="18" charset="0"/>
                <a:ea typeface="宋体" panose="02010600030101010101" pitchFamily="2" charset="-122"/>
              </a:rPr>
              <a:t>组合类型告诉汇编程序当装入存储器时各逻辑段应如何组合。组合类型可以是</a:t>
            </a:r>
            <a:r>
              <a:rPr lang="en-US" altLang="zh-CN" sz="2200" dirty="0">
                <a:latin typeface="Times New Roman" panose="02020603050405020304" pitchFamily="18" charset="0"/>
                <a:ea typeface="宋体" panose="02010600030101010101" pitchFamily="2" charset="-122"/>
              </a:rPr>
              <a:t>PRIVATE</a:t>
            </a:r>
            <a:r>
              <a:rPr lang="zh-CN" altLang="zh-CN" sz="2200" dirty="0">
                <a:latin typeface="Times New Roman" panose="02020603050405020304" pitchFamily="18" charset="0"/>
                <a:ea typeface="宋体" panose="02010600030101010101" pitchFamily="2" charset="-122"/>
              </a:rPr>
              <a:t>（默认值，连接时不与其他模块中的同类别名段合并）、</a:t>
            </a:r>
            <a:r>
              <a:rPr lang="en-US" altLang="zh-CN" sz="2200" dirty="0">
                <a:latin typeface="Times New Roman" panose="02020603050405020304" pitchFamily="18" charset="0"/>
                <a:ea typeface="宋体" panose="02010600030101010101" pitchFamily="2" charset="-122"/>
              </a:rPr>
              <a:t>PUBLIC</a:t>
            </a:r>
            <a:r>
              <a:rPr lang="zh-CN" altLang="zh-CN" sz="2200" dirty="0">
                <a:latin typeface="Times New Roman" panose="02020603050405020304" pitchFamily="18" charset="0"/>
                <a:ea typeface="宋体" panose="02010600030101010101" pitchFamily="2" charset="-122"/>
              </a:rPr>
              <a:t>（连接时与其他模块中的同类别名段合并）、</a:t>
            </a:r>
            <a:r>
              <a:rPr lang="en-US" altLang="zh-CN" sz="2200" dirty="0">
                <a:latin typeface="Times New Roman" panose="02020603050405020304" pitchFamily="18" charset="0"/>
                <a:ea typeface="宋体" panose="02010600030101010101" pitchFamily="2" charset="-122"/>
              </a:rPr>
              <a:t>STACK</a:t>
            </a:r>
            <a:r>
              <a:rPr lang="zh-CN" altLang="zh-CN" sz="2200" dirty="0">
                <a:latin typeface="Times New Roman" panose="02020603050405020304" pitchFamily="18" charset="0"/>
                <a:ea typeface="宋体" panose="02010600030101010101" pitchFamily="2" charset="-122"/>
              </a:rPr>
              <a:t>（同</a:t>
            </a:r>
            <a:r>
              <a:rPr lang="en-US" altLang="zh-CN" sz="2200" dirty="0">
                <a:latin typeface="Times New Roman" panose="02020603050405020304" pitchFamily="18" charset="0"/>
                <a:ea typeface="宋体" panose="02010600030101010101" pitchFamily="2" charset="-122"/>
              </a:rPr>
              <a:t>PUBLIC</a:t>
            </a:r>
            <a:r>
              <a:rPr lang="zh-CN" altLang="zh-CN" sz="2200" dirty="0">
                <a:latin typeface="Times New Roman" panose="02020603050405020304" pitchFamily="18" charset="0"/>
                <a:ea typeface="宋体" panose="02010600030101010101" pitchFamily="2" charset="-122"/>
              </a:rPr>
              <a:t>，只用于堆栈段，汇编及连接后系统自动为</a:t>
            </a:r>
            <a:r>
              <a:rPr lang="en-US" altLang="zh-CN" sz="2200" dirty="0">
                <a:latin typeface="Times New Roman" panose="02020603050405020304" pitchFamily="18" charset="0"/>
                <a:ea typeface="宋体" panose="02010600030101010101" pitchFamily="2" charset="-122"/>
              </a:rPr>
              <a:t>SS</a:t>
            </a:r>
            <a:r>
              <a:rPr lang="zh-CN" altLang="zh-CN" sz="2200" dirty="0">
                <a:latin typeface="Times New Roman" panose="02020603050405020304" pitchFamily="18" charset="0"/>
                <a:ea typeface="宋体" panose="02010600030101010101" pitchFamily="2" charset="-122"/>
              </a:rPr>
              <a:t>及</a:t>
            </a:r>
            <a:r>
              <a:rPr lang="en-US" altLang="zh-CN" sz="2200" dirty="0">
                <a:latin typeface="Times New Roman" panose="02020603050405020304" pitchFamily="18" charset="0"/>
                <a:ea typeface="宋体" panose="02010600030101010101" pitchFamily="2" charset="-122"/>
              </a:rPr>
              <a:t>SP</a:t>
            </a:r>
            <a:r>
              <a:rPr lang="zh-CN" altLang="zh-CN" sz="2200" dirty="0">
                <a:latin typeface="Times New Roman" panose="02020603050405020304" pitchFamily="18" charset="0"/>
                <a:ea typeface="宋体" panose="02010600030101010101" pitchFamily="2" charset="-122"/>
              </a:rPr>
              <a:t>分配值）、</a:t>
            </a:r>
            <a:r>
              <a:rPr lang="en-US" altLang="zh-CN" sz="2200" dirty="0">
                <a:latin typeface="Times New Roman" panose="02020603050405020304" pitchFamily="18" charset="0"/>
                <a:ea typeface="宋体" panose="02010600030101010101" pitchFamily="2" charset="-122"/>
              </a:rPr>
              <a:t>COMMON</a:t>
            </a:r>
            <a:r>
              <a:rPr lang="zh-CN" altLang="zh-CN" sz="2200" dirty="0">
                <a:latin typeface="Times New Roman" panose="02020603050405020304" pitchFamily="18" charset="0"/>
                <a:ea typeface="宋体" panose="02010600030101010101" pitchFamily="2" charset="-122"/>
              </a:rPr>
              <a:t>（为各模块相同类别名的段指派同一基地址）、</a:t>
            </a:r>
            <a:r>
              <a:rPr lang="en-US" altLang="zh-CN" sz="2200" dirty="0">
                <a:latin typeface="Times New Roman" panose="02020603050405020304" pitchFamily="18" charset="0"/>
                <a:ea typeface="宋体" panose="02010600030101010101" pitchFamily="2" charset="-122"/>
              </a:rPr>
              <a:t>MEMORY</a:t>
            </a:r>
            <a:r>
              <a:rPr lang="zh-CN" altLang="zh-CN" sz="2200" dirty="0">
                <a:latin typeface="Times New Roman" panose="02020603050405020304" pitchFamily="18" charset="0"/>
                <a:ea typeface="宋体" panose="02010600030101010101" pitchFamily="2" charset="-122"/>
              </a:rPr>
              <a:t>（与</a:t>
            </a:r>
            <a:r>
              <a:rPr lang="en-US" altLang="zh-CN" sz="2200" dirty="0">
                <a:latin typeface="Times New Roman" panose="02020603050405020304" pitchFamily="18" charset="0"/>
                <a:ea typeface="宋体" panose="02010600030101010101" pitchFamily="2" charset="-122"/>
              </a:rPr>
              <a:t>PUBLIC</a:t>
            </a:r>
            <a:r>
              <a:rPr lang="zh-CN" altLang="zh-CN" sz="2200" dirty="0">
                <a:latin typeface="Times New Roman" panose="02020603050405020304" pitchFamily="18" charset="0"/>
                <a:ea typeface="宋体" panose="02010600030101010101" pitchFamily="2" charset="-122"/>
              </a:rPr>
              <a:t>同义，装在所有同类别名段最后）和</a:t>
            </a:r>
            <a:r>
              <a:rPr lang="en-US" altLang="zh-CN" sz="2200" dirty="0">
                <a:latin typeface="Times New Roman" panose="02020603050405020304" pitchFamily="18" charset="0"/>
                <a:ea typeface="宋体" panose="02010600030101010101" pitchFamily="2" charset="-122"/>
              </a:rPr>
              <a:t>AT exp</a:t>
            </a:r>
            <a:r>
              <a:rPr lang="zh-CN" altLang="zh-CN" sz="2200" dirty="0">
                <a:latin typeface="Times New Roman" panose="02020603050405020304" pitchFamily="18" charset="0"/>
                <a:ea typeface="宋体" panose="02010600030101010101" pitchFamily="2" charset="-122"/>
              </a:rPr>
              <a:t>（段地址为表达式</a:t>
            </a:r>
            <a:r>
              <a:rPr lang="en-US" altLang="zh-CN" sz="2200" dirty="0">
                <a:latin typeface="Times New Roman" panose="02020603050405020304" pitchFamily="18" charset="0"/>
                <a:ea typeface="宋体" panose="02010600030101010101" pitchFamily="2" charset="-122"/>
              </a:rPr>
              <a:t>exp</a:t>
            </a:r>
            <a:r>
              <a:rPr lang="zh-CN" altLang="zh-CN" sz="2200" dirty="0">
                <a:latin typeface="Times New Roman" panose="02020603050405020304" pitchFamily="18" charset="0"/>
                <a:ea typeface="宋体" panose="02010600030101010101" pitchFamily="2" charset="-122"/>
              </a:rPr>
              <a:t>的值）。</a:t>
            </a:r>
          </a:p>
          <a:p>
            <a:pPr algn="just"/>
            <a:r>
              <a:rPr lang="zh-CN" altLang="zh-CN" sz="2200" dirty="0">
                <a:latin typeface="Times New Roman" panose="02020603050405020304" pitchFamily="18" charset="0"/>
                <a:ea typeface="宋体" panose="02010600030101010101" pitchFamily="2" charset="-122"/>
              </a:rPr>
              <a:t>④</a:t>
            </a:r>
            <a:r>
              <a:rPr lang="en-US" altLang="zh-CN" sz="2200" dirty="0">
                <a:latin typeface="Times New Roman" panose="02020603050405020304" pitchFamily="18" charset="0"/>
                <a:ea typeface="宋体" panose="02010600030101010101" pitchFamily="2" charset="-122"/>
              </a:rPr>
              <a:t> </a:t>
            </a:r>
            <a:r>
              <a:rPr lang="zh-CN" altLang="zh-CN" sz="2200" dirty="0">
                <a:latin typeface="Times New Roman" panose="02020603050405020304" pitchFamily="18" charset="0"/>
                <a:ea typeface="宋体" panose="02010600030101010101" pitchFamily="2" charset="-122"/>
              </a:rPr>
              <a:t>类别主要用于控制段的存放次序，必须用单引号括起。</a:t>
            </a:r>
          </a:p>
          <a:p>
            <a:pPr algn="just"/>
            <a:r>
              <a:rPr lang="zh-CN" altLang="zh-CN" sz="2200" dirty="0">
                <a:latin typeface="Times New Roman" panose="02020603050405020304" pitchFamily="18" charset="0"/>
                <a:ea typeface="宋体" panose="02010600030101010101" pitchFamily="2" charset="-122"/>
              </a:rPr>
              <a:t>三个选项的顺序必须符合格式中的规定，这些可选项是给汇编程序和连接程序（</a:t>
            </a:r>
            <a:r>
              <a:rPr lang="en-US" altLang="zh-CN" sz="2200" dirty="0">
                <a:latin typeface="Times New Roman" panose="02020603050405020304" pitchFamily="18" charset="0"/>
                <a:ea typeface="宋体" panose="02010600030101010101" pitchFamily="2" charset="-122"/>
              </a:rPr>
              <a:t>Link</a:t>
            </a:r>
            <a:r>
              <a:rPr lang="zh-CN" altLang="zh-CN" sz="2200" dirty="0">
                <a:latin typeface="Times New Roman" panose="02020603050405020304" pitchFamily="18" charset="0"/>
                <a:ea typeface="宋体" panose="02010600030101010101" pitchFamily="2" charset="-122"/>
              </a:rPr>
              <a:t>）的命令。汇编程序</a:t>
            </a:r>
            <a:r>
              <a:rPr lang="en-US" altLang="zh-CN" sz="2200" dirty="0">
                <a:latin typeface="Times New Roman" panose="02020603050405020304" pitchFamily="18" charset="0"/>
                <a:ea typeface="宋体" panose="02010600030101010101" pitchFamily="2" charset="-122"/>
              </a:rPr>
              <a:t>MASM</a:t>
            </a:r>
            <a:r>
              <a:rPr lang="zh-CN" altLang="zh-CN" sz="2200" dirty="0">
                <a:latin typeface="Times New Roman" panose="02020603050405020304" pitchFamily="18" charset="0"/>
                <a:ea typeface="宋体" panose="02010600030101010101" pitchFamily="2" charset="-122"/>
              </a:rPr>
              <a:t>或</a:t>
            </a:r>
            <a:r>
              <a:rPr lang="en-US" altLang="zh-CN" sz="2200" dirty="0">
                <a:latin typeface="Times New Roman" panose="02020603050405020304" pitchFamily="18" charset="0"/>
                <a:ea typeface="宋体" panose="02010600030101010101" pitchFamily="2" charset="-122"/>
              </a:rPr>
              <a:t>ASM</a:t>
            </a:r>
            <a:r>
              <a:rPr lang="zh-CN" altLang="zh-CN" sz="2200" dirty="0">
                <a:latin typeface="Times New Roman" panose="02020603050405020304" pitchFamily="18" charset="0"/>
                <a:ea typeface="宋体" panose="02010600030101010101" pitchFamily="2" charset="-122"/>
              </a:rPr>
              <a:t>可将源程序汇编成二进制目标程序（</a:t>
            </a:r>
            <a:r>
              <a:rPr lang="en-US" altLang="zh-CN" sz="2200" dirty="0">
                <a:latin typeface="Times New Roman" panose="02020603050405020304" pitchFamily="18" charset="0"/>
                <a:ea typeface="宋体" panose="02010600030101010101" pitchFamily="2" charset="-122"/>
              </a:rPr>
              <a:t>.OBJ</a:t>
            </a:r>
            <a:r>
              <a:rPr lang="zh-CN" altLang="zh-CN" sz="2200" dirty="0">
                <a:latin typeface="Times New Roman" panose="02020603050405020304" pitchFamily="18" charset="0"/>
                <a:ea typeface="宋体" panose="02010600030101010101" pitchFamily="2" charset="-122"/>
              </a:rPr>
              <a:t>）。但是由于目标程序中的地址是浮动的，因此必须通过</a:t>
            </a:r>
            <a:r>
              <a:rPr lang="en-US" altLang="zh-CN" sz="2200" dirty="0">
                <a:latin typeface="Times New Roman" panose="02020603050405020304" pitchFamily="18" charset="0"/>
                <a:ea typeface="宋体" panose="02010600030101010101" pitchFamily="2" charset="-122"/>
              </a:rPr>
              <a:t>Link</a:t>
            </a:r>
            <a:r>
              <a:rPr lang="zh-CN" altLang="zh-CN" sz="2200" dirty="0">
                <a:latin typeface="Times New Roman" panose="02020603050405020304" pitchFamily="18" charset="0"/>
                <a:ea typeface="宋体" panose="02010600030101010101" pitchFamily="2" charset="-122"/>
              </a:rPr>
              <a:t>（连接程序）进行连接，将地址最终确定下来才可得到可执行程序（</a:t>
            </a:r>
            <a:r>
              <a:rPr lang="en-US" altLang="zh-CN" sz="2200" dirty="0">
                <a:latin typeface="Times New Roman" panose="02020603050405020304" pitchFamily="18" charset="0"/>
                <a:ea typeface="宋体" panose="02010600030101010101" pitchFamily="2" charset="-122"/>
              </a:rPr>
              <a:t>.EXE</a:t>
            </a:r>
            <a:r>
              <a:rPr lang="zh-CN" altLang="zh-CN" sz="2200" dirty="0">
                <a:latin typeface="Times New Roman" panose="02020603050405020304" pitchFamily="18" charset="0"/>
                <a:ea typeface="宋体" panose="02010600030101010101" pitchFamily="2" charset="-122"/>
              </a:rPr>
              <a:t>）。</a:t>
            </a:r>
          </a:p>
        </p:txBody>
      </p:sp>
    </p:spTree>
  </p:cSld>
  <p:clrMapOvr>
    <a:masterClrMapping/>
  </p:clrMapOvr>
  <p:transition spd="med">
    <p:random/>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4.3.4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段定义伪指令</a:t>
            </a:r>
          </a:p>
        </p:txBody>
      </p:sp>
      <p:sp>
        <p:nvSpPr>
          <p:cNvPr id="50178"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50179" name="TextBox 6"/>
          <p:cNvSpPr txBox="1"/>
          <p:nvPr/>
        </p:nvSpPr>
        <p:spPr>
          <a:xfrm>
            <a:off x="568325" y="1455738"/>
            <a:ext cx="8034338" cy="5265737"/>
          </a:xfrm>
          <a:prstGeom prst="rect">
            <a:avLst/>
          </a:prstGeom>
          <a:noFill/>
          <a:ln w="9525">
            <a:noFill/>
          </a:ln>
        </p:spPr>
        <p:txBody>
          <a:bodyPr anchor="t" anchorCtr="0">
            <a:spAutoFit/>
          </a:bodyPr>
          <a:lstStyle/>
          <a:p>
            <a:pPr algn="just"/>
            <a:r>
              <a:rPr lang="zh-CN" altLang="zh-CN"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2</a:t>
            </a:r>
            <a:r>
              <a:rPr lang="zh-CN" altLang="zh-CN"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ASSUME</a:t>
            </a:r>
            <a:r>
              <a:rPr lang="zh-CN" altLang="zh-CN" sz="2200" dirty="0">
                <a:latin typeface="Times New Roman" panose="02020603050405020304" pitchFamily="18" charset="0"/>
                <a:ea typeface="宋体" panose="02010600030101010101" pitchFamily="2" charset="-122"/>
              </a:rPr>
              <a:t>（指定段寄存器伪指令）。</a:t>
            </a:r>
          </a:p>
          <a:p>
            <a:pPr algn="just"/>
            <a:r>
              <a:rPr lang="zh-CN" altLang="zh-CN" sz="2200" dirty="0">
                <a:latin typeface="Times New Roman" panose="02020603050405020304" pitchFamily="18" charset="0"/>
                <a:ea typeface="宋体" panose="02010600030101010101" pitchFamily="2" charset="-122"/>
              </a:rPr>
              <a:t>在代码段中的可执行指令前必须要有指定段寄存器的伪指令</a:t>
            </a:r>
            <a:r>
              <a:rPr lang="en-US" altLang="zh-CN" sz="2200" dirty="0">
                <a:latin typeface="Times New Roman" panose="02020603050405020304" pitchFamily="18" charset="0"/>
                <a:ea typeface="宋体" panose="02010600030101010101" pitchFamily="2" charset="-122"/>
              </a:rPr>
              <a:t>ASSUME</a:t>
            </a:r>
            <a:r>
              <a:rPr lang="zh-CN" altLang="zh-CN" sz="2200" dirty="0">
                <a:latin typeface="Times New Roman" panose="02020603050405020304" pitchFamily="18" charset="0"/>
                <a:ea typeface="宋体" panose="02010600030101010101" pitchFamily="2" charset="-122"/>
              </a:rPr>
              <a:t>，它主要用来指出程序中各逻辑段应通过哪个段寄存器寻址。在一个源程序中，至少应该有一个</a:t>
            </a:r>
            <a:r>
              <a:rPr lang="en-US" altLang="zh-CN" sz="2200" dirty="0">
                <a:latin typeface="Times New Roman" panose="02020603050405020304" pitchFamily="18" charset="0"/>
                <a:ea typeface="宋体" panose="02010600030101010101" pitchFamily="2" charset="-122"/>
              </a:rPr>
              <a:t>ASSUME</a:t>
            </a:r>
            <a:r>
              <a:rPr lang="zh-CN" altLang="zh-CN" sz="2200" dirty="0">
                <a:latin typeface="Times New Roman" panose="02020603050405020304" pitchFamily="18" charset="0"/>
                <a:ea typeface="宋体" panose="02010600030101010101" pitchFamily="2" charset="-122"/>
              </a:rPr>
              <a:t>伪指令指出</a:t>
            </a:r>
            <a:r>
              <a:rPr lang="en-US" altLang="zh-CN" sz="2200" dirty="0">
                <a:latin typeface="Times New Roman" panose="02020603050405020304" pitchFamily="18" charset="0"/>
                <a:ea typeface="宋体" panose="02010600030101010101" pitchFamily="2" charset="-122"/>
              </a:rPr>
              <a:t>CS</a:t>
            </a:r>
            <a:r>
              <a:rPr lang="zh-CN" altLang="zh-CN" sz="2200" dirty="0">
                <a:latin typeface="Times New Roman" panose="02020603050405020304" pitchFamily="18" charset="0"/>
                <a:ea typeface="宋体" panose="02010600030101010101" pitchFamily="2" charset="-122"/>
              </a:rPr>
              <a:t>段寄存器所对应的程序代码段。</a:t>
            </a:r>
          </a:p>
          <a:p>
            <a:pPr algn="just"/>
            <a:r>
              <a:rPr lang="zh-CN" altLang="zh-CN" sz="2200" dirty="0">
                <a:latin typeface="Times New Roman" panose="02020603050405020304" pitchFamily="18" charset="0"/>
                <a:ea typeface="宋体" panose="02010600030101010101" pitchFamily="2" charset="-122"/>
              </a:rPr>
              <a:t>格式：</a:t>
            </a:r>
            <a:r>
              <a:rPr lang="en-US" altLang="zh-CN" sz="2200" dirty="0">
                <a:latin typeface="Times New Roman" panose="02020603050405020304" pitchFamily="18" charset="0"/>
                <a:ea typeface="宋体" panose="02010600030101010101" pitchFamily="2" charset="-122"/>
              </a:rPr>
              <a:t>ASSUME  </a:t>
            </a:r>
            <a:r>
              <a:rPr lang="zh-CN" altLang="zh-CN" sz="2200" dirty="0">
                <a:latin typeface="Times New Roman" panose="02020603050405020304" pitchFamily="18" charset="0"/>
                <a:ea typeface="宋体" panose="02010600030101010101" pitchFamily="2" charset="-122"/>
              </a:rPr>
              <a:t>段寄存器名：段名</a:t>
            </a:r>
            <a:r>
              <a:rPr lang="en-US" altLang="zh-CN" sz="2200" dirty="0">
                <a:latin typeface="Times New Roman" panose="02020603050405020304" pitchFamily="18" charset="0"/>
                <a:ea typeface="宋体" panose="02010600030101010101" pitchFamily="2" charset="-122"/>
              </a:rPr>
              <a:t>[</a:t>
            </a:r>
            <a:r>
              <a:rPr lang="zh-CN" altLang="zh-CN" sz="2200" dirty="0">
                <a:latin typeface="Times New Roman" panose="02020603050405020304" pitchFamily="18" charset="0"/>
                <a:ea typeface="宋体" panose="02010600030101010101" pitchFamily="2" charset="-122"/>
              </a:rPr>
              <a:t>，段寄存器名：段名</a:t>
            </a:r>
            <a:r>
              <a:rPr lang="en-US" altLang="zh-CN" sz="2200" dirty="0">
                <a:latin typeface="Times New Roman" panose="02020603050405020304" pitchFamily="18" charset="0"/>
                <a:ea typeface="宋体" panose="02010600030101010101" pitchFamily="2" charset="-122"/>
              </a:rPr>
              <a:t>…]</a:t>
            </a:r>
            <a:endParaRPr lang="zh-CN" altLang="zh-CN" sz="2200" dirty="0">
              <a:latin typeface="Times New Roman" panose="02020603050405020304" pitchFamily="18" charset="0"/>
              <a:ea typeface="宋体" panose="02010600030101010101" pitchFamily="2" charset="-122"/>
            </a:endParaRPr>
          </a:p>
          <a:p>
            <a:pPr algn="just"/>
            <a:r>
              <a:rPr lang="zh-CN" altLang="zh-CN" sz="2200" dirty="0">
                <a:latin typeface="Times New Roman" panose="02020603050405020304" pitchFamily="18" charset="0"/>
                <a:ea typeface="宋体" panose="02010600030101010101" pitchFamily="2" charset="-122"/>
              </a:rPr>
              <a:t>功能：该伪指令用来告诉源程序中所定义的段由哪个寄存器去寻址。段寄存器可以是</a:t>
            </a:r>
            <a:r>
              <a:rPr lang="en-US" altLang="zh-CN" sz="2200" dirty="0">
                <a:latin typeface="Times New Roman" panose="02020603050405020304" pitchFamily="18" charset="0"/>
                <a:ea typeface="宋体" panose="02010600030101010101" pitchFamily="2" charset="-122"/>
              </a:rPr>
              <a:t>CS</a:t>
            </a:r>
            <a:r>
              <a:rPr lang="zh-CN" altLang="zh-CN"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DS</a:t>
            </a:r>
            <a:r>
              <a:rPr lang="zh-CN" altLang="zh-CN"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ES</a:t>
            </a:r>
            <a:r>
              <a:rPr lang="zh-CN" altLang="zh-CN"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SS</a:t>
            </a:r>
            <a:r>
              <a:rPr lang="zh-CN" altLang="zh-CN" sz="2200" dirty="0">
                <a:latin typeface="Times New Roman" panose="02020603050405020304" pitchFamily="18" charset="0"/>
                <a:ea typeface="宋体" panose="02010600030101010101" pitchFamily="2" charset="-122"/>
              </a:rPr>
              <a:t>，段名是程序中由</a:t>
            </a:r>
            <a:r>
              <a:rPr lang="en-US" altLang="zh-CN" sz="2200" dirty="0">
                <a:latin typeface="Times New Roman" panose="02020603050405020304" pitchFamily="18" charset="0"/>
                <a:ea typeface="宋体" panose="02010600030101010101" pitchFamily="2" charset="-122"/>
              </a:rPr>
              <a:t>SEGMENT</a:t>
            </a:r>
            <a:r>
              <a:rPr lang="zh-CN" altLang="zh-CN" sz="2200" dirty="0">
                <a:latin typeface="Times New Roman" panose="02020603050405020304" pitchFamily="18" charset="0"/>
                <a:ea typeface="宋体" panose="02010600030101010101" pitchFamily="2" charset="-122"/>
              </a:rPr>
              <a:t>所定义的段之名。</a:t>
            </a:r>
          </a:p>
          <a:p>
            <a:pPr algn="just"/>
            <a:r>
              <a:rPr lang="zh-CN" altLang="zh-CN" sz="2200" dirty="0">
                <a:latin typeface="Times New Roman" panose="02020603050405020304" pitchFamily="18" charset="0"/>
                <a:ea typeface="宋体" panose="02010600030101010101" pitchFamily="2" charset="-122"/>
              </a:rPr>
              <a:t>说明：①</a:t>
            </a:r>
            <a:r>
              <a:rPr lang="en-US" altLang="zh-CN" sz="2200" dirty="0">
                <a:latin typeface="Times New Roman" panose="02020603050405020304" pitchFamily="18" charset="0"/>
                <a:ea typeface="宋体" panose="02010600030101010101" pitchFamily="2" charset="-122"/>
              </a:rPr>
              <a:t> ASSUME</a:t>
            </a:r>
            <a:r>
              <a:rPr lang="zh-CN" altLang="zh-CN" sz="2200" dirty="0">
                <a:latin typeface="Times New Roman" panose="02020603050405020304" pitchFamily="18" charset="0"/>
                <a:ea typeface="宋体" panose="02010600030101010101" pitchFamily="2" charset="-122"/>
              </a:rPr>
              <a:t>伪操作明确指出了程序中逻辑段与物理段之间的关系。当汇编一个逻辑段时，即可利用相应的段寄存器寻址该逻辑段中的指令或数据。</a:t>
            </a:r>
          </a:p>
          <a:p>
            <a:pPr algn="just"/>
            <a:r>
              <a:rPr lang="zh-CN" altLang="zh-CN" sz="2200" dirty="0">
                <a:latin typeface="Times New Roman" panose="02020603050405020304" pitchFamily="18" charset="0"/>
                <a:ea typeface="宋体" panose="02010600030101010101" pitchFamily="2" charset="-122"/>
              </a:rPr>
              <a:t>②</a:t>
            </a:r>
            <a:r>
              <a:rPr lang="en-US" altLang="zh-CN" sz="2200" dirty="0">
                <a:latin typeface="Times New Roman" panose="02020603050405020304" pitchFamily="18" charset="0"/>
                <a:ea typeface="宋体" panose="02010600030101010101" pitchFamily="2" charset="-122"/>
              </a:rPr>
              <a:t> ASSUME</a:t>
            </a:r>
            <a:r>
              <a:rPr lang="zh-CN" altLang="zh-CN" sz="2200" dirty="0">
                <a:latin typeface="Times New Roman" panose="02020603050405020304" pitchFamily="18" charset="0"/>
                <a:ea typeface="宋体" panose="02010600030101010101" pitchFamily="2" charset="-122"/>
              </a:rPr>
              <a:t>伪指令只是告诉汇编程序段与段寄存器之间的关系，并没有给段寄存器赋初值，必须在程序中用指令给段寄存器赋初值。</a:t>
            </a:r>
            <a:r>
              <a:rPr lang="en-US" altLang="zh-CN" sz="2200" dirty="0">
                <a:latin typeface="Times New Roman" panose="02020603050405020304" pitchFamily="18" charset="0"/>
                <a:ea typeface="宋体" panose="02010600030101010101" pitchFamily="2" charset="-122"/>
              </a:rPr>
              <a:t>DS</a:t>
            </a:r>
            <a:r>
              <a:rPr lang="zh-CN" altLang="zh-CN"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ES</a:t>
            </a:r>
            <a:r>
              <a:rPr lang="zh-CN" altLang="zh-CN" sz="2200" dirty="0">
                <a:latin typeface="Times New Roman" panose="02020603050405020304" pitchFamily="18" charset="0"/>
                <a:ea typeface="宋体" panose="02010600030101010101" pitchFamily="2" charset="-122"/>
              </a:rPr>
              <a:t>的值必须在程序段中用指令语句进行赋值，而</a:t>
            </a:r>
            <a:r>
              <a:rPr lang="en-US" altLang="zh-CN" sz="2200" dirty="0">
                <a:latin typeface="Times New Roman" panose="02020603050405020304" pitchFamily="18" charset="0"/>
                <a:ea typeface="宋体" panose="02010600030101010101" pitchFamily="2" charset="-122"/>
              </a:rPr>
              <a:t>CS</a:t>
            </a:r>
            <a:r>
              <a:rPr lang="zh-CN" altLang="zh-CN" sz="2200" dirty="0">
                <a:latin typeface="Times New Roman" panose="02020603050405020304" pitchFamily="18" charset="0"/>
                <a:ea typeface="宋体" panose="02010600030101010101" pitchFamily="2" charset="-122"/>
              </a:rPr>
              <a:t>、</a:t>
            </a:r>
            <a:r>
              <a:rPr lang="en-US" altLang="zh-CN" sz="2200" dirty="0">
                <a:latin typeface="Times New Roman" panose="02020603050405020304" pitchFamily="18" charset="0"/>
                <a:ea typeface="宋体" panose="02010600030101010101" pitchFamily="2" charset="-122"/>
              </a:rPr>
              <a:t>SS</a:t>
            </a:r>
            <a:r>
              <a:rPr lang="zh-CN" altLang="zh-CN" sz="2200" dirty="0">
                <a:latin typeface="Times New Roman" panose="02020603050405020304" pitchFamily="18" charset="0"/>
                <a:ea typeface="宋体" panose="02010600030101010101" pitchFamily="2" charset="-122"/>
              </a:rPr>
              <a:t>由系统负责设置。</a:t>
            </a:r>
          </a:p>
        </p:txBody>
      </p:sp>
    </p:spTree>
  </p:cSld>
  <p:clrMapOvr>
    <a:masterClrMapping/>
  </p:clrMapOvr>
  <p:transition spd="med">
    <p:random/>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4.3.5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过程定义伪指令</a:t>
            </a:r>
          </a:p>
        </p:txBody>
      </p:sp>
      <p:sp>
        <p:nvSpPr>
          <p:cNvPr id="5222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52227" name="TextBox 6"/>
          <p:cNvSpPr txBox="1"/>
          <p:nvPr/>
        </p:nvSpPr>
        <p:spPr>
          <a:xfrm>
            <a:off x="576263" y="1366838"/>
            <a:ext cx="8034337" cy="5408612"/>
          </a:xfrm>
          <a:prstGeom prst="rect">
            <a:avLst/>
          </a:prstGeom>
          <a:noFill/>
          <a:ln w="9525">
            <a:noFill/>
          </a:ln>
        </p:spPr>
        <p:txBody>
          <a:bodyPr anchor="t" anchorCtr="0">
            <a:spAutoFit/>
          </a:bodyPr>
          <a:lstStyle/>
          <a:p>
            <a:pPr algn="just"/>
            <a:r>
              <a:rPr lang="en-US" altLang="zh-CN" sz="2000" dirty="0">
                <a:latin typeface="Times New Roman" panose="02020603050405020304" pitchFamily="18" charset="0"/>
                <a:ea typeface="宋体" panose="02010600030101010101" pitchFamily="2" charset="-122"/>
              </a:rPr>
              <a:t>    </a:t>
            </a:r>
            <a:r>
              <a:rPr lang="zh-CN" altLang="zh-CN" sz="2000" dirty="0">
                <a:latin typeface="Times New Roman" panose="02020603050405020304" pitchFamily="18" charset="0"/>
                <a:ea typeface="宋体" panose="02010600030101010101" pitchFamily="2" charset="-122"/>
              </a:rPr>
              <a:t>在程序设计中，常把具有一定功能的程序段设计成一个子程序。汇编程序用过程来构造子程序。过程定义伪指令是由</a:t>
            </a:r>
            <a:r>
              <a:rPr lang="en-US" altLang="zh-CN" sz="2000" dirty="0">
                <a:latin typeface="Times New Roman" panose="02020603050405020304" pitchFamily="18" charset="0"/>
                <a:ea typeface="宋体" panose="02010600030101010101" pitchFamily="2" charset="-122"/>
              </a:rPr>
              <a:t>PROC</a:t>
            </a:r>
            <a:r>
              <a:rPr lang="zh-CN" altLang="zh-CN" sz="2000" dirty="0">
                <a:latin typeface="Times New Roman" panose="02020603050405020304" pitchFamily="18" charset="0"/>
                <a:ea typeface="宋体" panose="02010600030101010101" pitchFamily="2" charset="-122"/>
              </a:rPr>
              <a:t>和</a:t>
            </a:r>
            <a:r>
              <a:rPr lang="en-US" altLang="zh-CN" sz="2000" dirty="0">
                <a:latin typeface="Times New Roman" panose="02020603050405020304" pitchFamily="18" charset="0"/>
                <a:ea typeface="宋体" panose="02010600030101010101" pitchFamily="2" charset="-122"/>
              </a:rPr>
              <a:t>ENDP</a:t>
            </a:r>
            <a:r>
              <a:rPr lang="zh-CN" altLang="zh-CN" sz="2000" dirty="0">
                <a:latin typeface="Times New Roman" panose="02020603050405020304" pitchFamily="18" charset="0"/>
                <a:ea typeface="宋体" panose="02010600030101010101" pitchFamily="2" charset="-122"/>
              </a:rPr>
              <a:t>这两个伪指令助记符来完成的。其中</a:t>
            </a:r>
            <a:r>
              <a:rPr lang="en-US" altLang="zh-CN" sz="2000" dirty="0">
                <a:latin typeface="Times New Roman" panose="02020603050405020304" pitchFamily="18" charset="0"/>
                <a:ea typeface="宋体" panose="02010600030101010101" pitchFamily="2" charset="-122"/>
              </a:rPr>
              <a:t>PROC</a:t>
            </a:r>
            <a:r>
              <a:rPr lang="zh-CN" altLang="zh-CN" sz="2000" dirty="0">
                <a:latin typeface="Times New Roman" panose="02020603050405020304" pitchFamily="18" charset="0"/>
                <a:ea typeface="宋体" panose="02010600030101010101" pitchFamily="2" charset="-122"/>
              </a:rPr>
              <a:t>伪指令用来表示过程的开始，而</a:t>
            </a:r>
            <a:r>
              <a:rPr lang="en-US" altLang="zh-CN" sz="2000" dirty="0">
                <a:latin typeface="Times New Roman" panose="02020603050405020304" pitchFamily="18" charset="0"/>
                <a:ea typeface="宋体" panose="02010600030101010101" pitchFamily="2" charset="-122"/>
              </a:rPr>
              <a:t>ENDP</a:t>
            </a:r>
            <a:r>
              <a:rPr lang="zh-CN" altLang="zh-CN" sz="2000" dirty="0">
                <a:latin typeface="Times New Roman" panose="02020603050405020304" pitchFamily="18" charset="0"/>
                <a:ea typeface="宋体" panose="02010600030101010101" pitchFamily="2" charset="-122"/>
              </a:rPr>
              <a:t>伪指令用来表示过程的结束。</a:t>
            </a:r>
          </a:p>
          <a:p>
            <a:pPr algn="just"/>
            <a:r>
              <a:rPr lang="zh-CN" altLang="zh-CN" sz="2000" dirty="0">
                <a:latin typeface="Times New Roman" panose="02020603050405020304" pitchFamily="18" charset="0"/>
                <a:ea typeface="宋体" panose="02010600030101010101" pitchFamily="2" charset="-122"/>
              </a:rPr>
              <a:t>格式：过程名</a:t>
            </a:r>
            <a:r>
              <a:rPr lang="en-US" altLang="zh-CN" sz="2000" dirty="0">
                <a:latin typeface="Times New Roman" panose="02020603050405020304" pitchFamily="18" charset="0"/>
                <a:ea typeface="宋体" panose="02010600030101010101" pitchFamily="2" charset="-122"/>
              </a:rPr>
              <a:t>    PROC  [</a:t>
            </a:r>
            <a:r>
              <a:rPr lang="zh-CN" altLang="zh-CN" sz="2000" dirty="0">
                <a:latin typeface="Times New Roman" panose="02020603050405020304" pitchFamily="18" charset="0"/>
                <a:ea typeface="宋体" panose="02010600030101010101" pitchFamily="2" charset="-122"/>
              </a:rPr>
              <a:t>类型</a:t>
            </a:r>
            <a:r>
              <a:rPr lang="en-US" altLang="zh-CN" sz="2000" dirty="0">
                <a:latin typeface="Times New Roman" panose="02020603050405020304" pitchFamily="18" charset="0"/>
                <a:ea typeface="宋体" panose="02010600030101010101" pitchFamily="2" charset="-122"/>
              </a:rPr>
              <a:t>]</a:t>
            </a:r>
            <a:endParaRPr lang="zh-CN" altLang="zh-CN" sz="2000" dirty="0">
              <a:latin typeface="Times New Roman" panose="02020603050405020304" pitchFamily="18" charset="0"/>
              <a:ea typeface="宋体" panose="02010600030101010101" pitchFamily="2" charset="-122"/>
            </a:endParaRPr>
          </a:p>
          <a:p>
            <a:pPr algn="just"/>
            <a:r>
              <a:rPr lang="zh-CN" altLang="zh-CN" sz="2000" dirty="0">
                <a:latin typeface="Times New Roman" panose="02020603050405020304" pitchFamily="18" charset="0"/>
                <a:ea typeface="宋体" panose="02010600030101010101" pitchFamily="2" charset="-122"/>
              </a:rPr>
              <a:t>……</a:t>
            </a:r>
          </a:p>
          <a:p>
            <a:pPr algn="just"/>
            <a:r>
              <a:rPr lang="en-US" altLang="zh-CN" sz="2000" dirty="0">
                <a:latin typeface="Times New Roman" panose="02020603050405020304" pitchFamily="18" charset="0"/>
                <a:ea typeface="宋体" panose="02010600030101010101" pitchFamily="2" charset="-122"/>
              </a:rPr>
              <a:t>RET</a:t>
            </a:r>
            <a:endParaRPr lang="zh-CN" altLang="zh-CN" sz="2000" dirty="0">
              <a:latin typeface="Times New Roman" panose="02020603050405020304" pitchFamily="18" charset="0"/>
              <a:ea typeface="宋体" panose="02010600030101010101" pitchFamily="2" charset="-122"/>
            </a:endParaRPr>
          </a:p>
          <a:p>
            <a:pPr algn="just"/>
            <a:r>
              <a:rPr lang="zh-CN" altLang="zh-CN" sz="2000" dirty="0">
                <a:latin typeface="Times New Roman" panose="02020603050405020304" pitchFamily="18" charset="0"/>
                <a:ea typeface="宋体" panose="02010600030101010101" pitchFamily="2" charset="-122"/>
              </a:rPr>
              <a:t>过程名</a:t>
            </a:r>
            <a:r>
              <a:rPr lang="en-US" altLang="zh-CN" sz="2000" dirty="0">
                <a:latin typeface="Times New Roman" panose="02020603050405020304" pitchFamily="18" charset="0"/>
                <a:ea typeface="宋体" panose="02010600030101010101" pitchFamily="2" charset="-122"/>
              </a:rPr>
              <a:t>    ENDP</a:t>
            </a:r>
            <a:endParaRPr lang="zh-CN" altLang="zh-CN" sz="2000" dirty="0">
              <a:latin typeface="Times New Roman" panose="02020603050405020304" pitchFamily="18" charset="0"/>
              <a:ea typeface="宋体" panose="02010600030101010101" pitchFamily="2" charset="-122"/>
            </a:endParaRPr>
          </a:p>
          <a:p>
            <a:pPr algn="just"/>
            <a:r>
              <a:rPr lang="zh-CN" altLang="zh-CN" sz="2000" dirty="0">
                <a:latin typeface="Times New Roman" panose="02020603050405020304" pitchFamily="18" charset="0"/>
                <a:ea typeface="宋体" panose="02010600030101010101" pitchFamily="2" charset="-122"/>
              </a:rPr>
              <a:t>功能：用来定义一个过程。</a:t>
            </a:r>
          </a:p>
          <a:p>
            <a:pPr algn="just"/>
            <a:r>
              <a:rPr lang="zh-CN" altLang="zh-CN" sz="2000" dirty="0">
                <a:latin typeface="Times New Roman" panose="02020603050405020304" pitchFamily="18" charset="0"/>
                <a:ea typeface="宋体" panose="02010600030101010101" pitchFamily="2" charset="-122"/>
              </a:rPr>
              <a:t>说明：</a:t>
            </a:r>
            <a:r>
              <a:rPr lang="en-US" altLang="zh-CN" sz="2000" dirty="0">
                <a:latin typeface="Times New Roman" panose="02020603050405020304" pitchFamily="18" charset="0"/>
                <a:ea typeface="宋体" panose="02010600030101010101" pitchFamily="2" charset="-122"/>
              </a:rPr>
              <a:t> </a:t>
            </a:r>
            <a:r>
              <a:rPr lang="zh-CN" altLang="zh-CN" sz="2000" dirty="0">
                <a:latin typeface="Times New Roman" panose="02020603050405020304" pitchFamily="18" charset="0"/>
                <a:ea typeface="宋体" panose="02010600030101010101" pitchFamily="2" charset="-122"/>
              </a:rPr>
              <a:t>当一个程序被定义为过程后，程序中其他地方就可以用</a:t>
            </a:r>
            <a:r>
              <a:rPr lang="en-US" altLang="zh-CN" sz="2000" dirty="0">
                <a:latin typeface="Times New Roman" panose="02020603050405020304" pitchFamily="18" charset="0"/>
                <a:ea typeface="宋体" panose="02010600030101010101" pitchFamily="2" charset="-122"/>
              </a:rPr>
              <a:t>CALL</a:t>
            </a:r>
            <a:r>
              <a:rPr lang="zh-CN" altLang="zh-CN" sz="2000" dirty="0">
                <a:latin typeface="Times New Roman" panose="02020603050405020304" pitchFamily="18" charset="0"/>
                <a:ea typeface="宋体" panose="02010600030101010101" pitchFamily="2" charset="-122"/>
              </a:rPr>
              <a:t>指令来调用这个过程。</a:t>
            </a:r>
            <a:r>
              <a:rPr lang="en-US" altLang="zh-CN" sz="2000" dirty="0">
                <a:latin typeface="Times New Roman" panose="02020603050405020304" pitchFamily="18" charset="0"/>
                <a:ea typeface="宋体" panose="02010600030101010101" pitchFamily="2" charset="-122"/>
              </a:rPr>
              <a:t>CALL  </a:t>
            </a:r>
            <a:r>
              <a:rPr lang="zh-CN" altLang="zh-CN" sz="2000" dirty="0">
                <a:latin typeface="Times New Roman" panose="02020603050405020304" pitchFamily="18" charset="0"/>
                <a:ea typeface="宋体" panose="02010600030101010101" pitchFamily="2" charset="-122"/>
              </a:rPr>
              <a:t>过程名。过程名实际上是过程入口的符号地址，它和标号一样，有三种属性：段、偏移量和类型。过程名由用户自己定义。过程名的类型取值为</a:t>
            </a:r>
            <a:r>
              <a:rPr lang="en-US" altLang="zh-CN" sz="2000" dirty="0">
                <a:latin typeface="Times New Roman" panose="02020603050405020304" pitchFamily="18" charset="0"/>
                <a:ea typeface="宋体" panose="02010600030101010101" pitchFamily="2" charset="-122"/>
              </a:rPr>
              <a:t>NEAR</a:t>
            </a:r>
            <a:r>
              <a:rPr lang="zh-CN" altLang="zh-CN" sz="2000" dirty="0">
                <a:latin typeface="Times New Roman" panose="02020603050405020304" pitchFamily="18" charset="0"/>
                <a:ea typeface="宋体" panose="02010600030101010101" pitchFamily="2" charset="-122"/>
              </a:rPr>
              <a:t>或</a:t>
            </a:r>
            <a:r>
              <a:rPr lang="en-US" altLang="zh-CN" sz="2000" dirty="0">
                <a:latin typeface="Times New Roman" panose="02020603050405020304" pitchFamily="18" charset="0"/>
                <a:ea typeface="宋体" panose="02010600030101010101" pitchFamily="2" charset="-122"/>
              </a:rPr>
              <a:t>FAR</a:t>
            </a:r>
            <a:r>
              <a:rPr lang="zh-CN" altLang="zh-CN" sz="2000" dirty="0">
                <a:latin typeface="Times New Roman" panose="02020603050405020304" pitchFamily="18" charset="0"/>
                <a:ea typeface="宋体" panose="02010600030101010101" pitchFamily="2" charset="-122"/>
              </a:rPr>
              <a:t>，表示该过程是段内调用或段间调用，默认为</a:t>
            </a:r>
            <a:r>
              <a:rPr lang="en-US" altLang="zh-CN" sz="2000" dirty="0">
                <a:latin typeface="Times New Roman" panose="02020603050405020304" pitchFamily="18" charset="0"/>
                <a:ea typeface="宋体" panose="02010600030101010101" pitchFamily="2" charset="-122"/>
              </a:rPr>
              <a:t>NEAR</a:t>
            </a:r>
            <a:r>
              <a:rPr lang="zh-CN" altLang="zh-CN" sz="2000" dirty="0">
                <a:latin typeface="Times New Roman" panose="02020603050405020304" pitchFamily="18" charset="0"/>
                <a:ea typeface="宋体" panose="02010600030101010101" pitchFamily="2" charset="-122"/>
              </a:rPr>
              <a:t>。当用</a:t>
            </a:r>
            <a:r>
              <a:rPr lang="en-US" altLang="zh-CN" sz="2000" dirty="0">
                <a:latin typeface="Times New Roman" panose="02020603050405020304" pitchFamily="18" charset="0"/>
                <a:ea typeface="宋体" panose="02010600030101010101" pitchFamily="2" charset="-122"/>
              </a:rPr>
              <a:t>CALL</a:t>
            </a:r>
            <a:r>
              <a:rPr lang="zh-CN" altLang="zh-CN" sz="2000" dirty="0">
                <a:latin typeface="Times New Roman" panose="02020603050405020304" pitchFamily="18" charset="0"/>
                <a:ea typeface="宋体" panose="02010600030101010101" pitchFamily="2" charset="-122"/>
              </a:rPr>
              <a:t>指令对该过程进行调用时，由类型属性决定是段内调用还是段间调用。在子程序中，</a:t>
            </a:r>
            <a:r>
              <a:rPr lang="en-US" altLang="zh-CN" sz="2000" dirty="0">
                <a:latin typeface="Times New Roman" panose="02020603050405020304" pitchFamily="18" charset="0"/>
                <a:ea typeface="宋体" panose="02010600030101010101" pitchFamily="2" charset="-122"/>
              </a:rPr>
              <a:t>RET</a:t>
            </a:r>
            <a:r>
              <a:rPr lang="zh-CN" altLang="zh-CN" sz="2000" dirty="0">
                <a:latin typeface="Times New Roman" panose="02020603050405020304" pitchFamily="18" charset="0"/>
                <a:ea typeface="宋体" panose="02010600030101010101" pitchFamily="2" charset="-122"/>
              </a:rPr>
              <a:t>为过程返回主程序的出口语句，该语句不可默认。伪指令</a:t>
            </a:r>
            <a:r>
              <a:rPr lang="en-US" altLang="zh-CN" sz="2000" dirty="0">
                <a:latin typeface="Times New Roman" panose="02020603050405020304" pitchFamily="18" charset="0"/>
                <a:ea typeface="宋体" panose="02010600030101010101" pitchFamily="2" charset="-122"/>
              </a:rPr>
              <a:t>PROC</a:t>
            </a:r>
            <a:r>
              <a:rPr lang="zh-CN" altLang="zh-CN" sz="2000" dirty="0">
                <a:latin typeface="Times New Roman" panose="02020603050405020304" pitchFamily="18" charset="0"/>
                <a:ea typeface="宋体" panose="02010600030101010101" pitchFamily="2" charset="-122"/>
              </a:rPr>
              <a:t>和</a:t>
            </a:r>
            <a:r>
              <a:rPr lang="en-US" altLang="zh-CN" sz="2000" dirty="0">
                <a:latin typeface="Times New Roman" panose="02020603050405020304" pitchFamily="18" charset="0"/>
                <a:ea typeface="宋体" panose="02010600030101010101" pitchFamily="2" charset="-122"/>
              </a:rPr>
              <a:t>ENDP</a:t>
            </a:r>
            <a:r>
              <a:rPr lang="zh-CN" altLang="zh-CN" sz="2000" dirty="0">
                <a:latin typeface="Times New Roman" panose="02020603050405020304" pitchFamily="18" charset="0"/>
                <a:ea typeface="宋体" panose="02010600030101010101" pitchFamily="2" charset="-122"/>
              </a:rPr>
              <a:t>必须成对出现，它们组成一个完整的过程定义。若过程的属性为</a:t>
            </a:r>
            <a:r>
              <a:rPr lang="en-US" altLang="zh-CN" sz="2000" dirty="0">
                <a:latin typeface="Times New Roman" panose="02020603050405020304" pitchFamily="18" charset="0"/>
                <a:ea typeface="宋体" panose="02010600030101010101" pitchFamily="2" charset="-122"/>
              </a:rPr>
              <a:t>NEAR</a:t>
            </a:r>
            <a:r>
              <a:rPr lang="zh-CN" altLang="zh-CN" sz="2000" dirty="0">
                <a:latin typeface="Times New Roman" panose="02020603050405020304" pitchFamily="18" charset="0"/>
                <a:ea typeface="宋体" panose="02010600030101010101" pitchFamily="2" charset="-122"/>
              </a:rPr>
              <a:t>，则只能被它所在代码段中的</a:t>
            </a:r>
            <a:r>
              <a:rPr lang="en-US" altLang="zh-CN" sz="2000" dirty="0">
                <a:latin typeface="Times New Roman" panose="02020603050405020304" pitchFamily="18" charset="0"/>
                <a:ea typeface="宋体" panose="02010600030101010101" pitchFamily="2" charset="-122"/>
              </a:rPr>
              <a:t>CALL</a:t>
            </a:r>
            <a:r>
              <a:rPr lang="zh-CN" altLang="zh-CN" sz="2000" dirty="0">
                <a:latin typeface="Times New Roman" panose="02020603050405020304" pitchFamily="18" charset="0"/>
                <a:ea typeface="宋体" panose="02010600030101010101" pitchFamily="2" charset="-122"/>
              </a:rPr>
              <a:t>指令调用。</a:t>
            </a:r>
          </a:p>
        </p:txBody>
      </p:sp>
    </p:spTree>
  </p:cSld>
  <p:clrMapOvr>
    <a:masterClrMapping/>
  </p:clrMapOvr>
  <p:transition spd="med">
    <p:random/>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4.3.6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模块定义和结束伪指令</a:t>
            </a:r>
          </a:p>
        </p:txBody>
      </p:sp>
      <p:sp>
        <p:nvSpPr>
          <p:cNvPr id="5427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54275" name="TextBox 6"/>
          <p:cNvSpPr txBox="1"/>
          <p:nvPr/>
        </p:nvSpPr>
        <p:spPr>
          <a:xfrm>
            <a:off x="487363" y="1455738"/>
            <a:ext cx="8034337" cy="5224462"/>
          </a:xfrm>
          <a:prstGeom prst="rect">
            <a:avLst/>
          </a:prstGeom>
          <a:noFill/>
          <a:ln w="9525">
            <a:noFill/>
          </a:ln>
        </p:spPr>
        <p:txBody>
          <a:bodyPr anchor="t" anchorCtr="0">
            <a:spAutoFit/>
          </a:bodyPr>
          <a:lstStyle/>
          <a:p>
            <a:pPr algn="just"/>
            <a:r>
              <a:rPr lang="zh-CN" altLang="zh-CN"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a:t>
            </a:r>
            <a:r>
              <a:rPr lang="zh-CN" altLang="zh-CN"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NAME</a:t>
            </a:r>
            <a:r>
              <a:rPr lang="zh-CN" altLang="zh-CN" dirty="0">
                <a:latin typeface="Times New Roman" panose="02020603050405020304" pitchFamily="18" charset="0"/>
                <a:ea typeface="宋体" panose="02010600030101010101" pitchFamily="2" charset="-122"/>
              </a:rPr>
              <a:t>。</a:t>
            </a:r>
          </a:p>
          <a:p>
            <a:pPr algn="just"/>
            <a:r>
              <a:rPr lang="zh-CN" altLang="zh-CN" dirty="0">
                <a:latin typeface="Times New Roman" panose="02020603050405020304" pitchFamily="18" charset="0"/>
                <a:ea typeface="宋体" panose="02010600030101010101" pitchFamily="2" charset="-122"/>
              </a:rPr>
              <a:t>格式：</a:t>
            </a:r>
            <a:r>
              <a:rPr lang="en-US" altLang="zh-CN" dirty="0">
                <a:latin typeface="Times New Roman" panose="02020603050405020304" pitchFamily="18" charset="0"/>
                <a:ea typeface="宋体" panose="02010600030101010101" pitchFamily="2" charset="-122"/>
              </a:rPr>
              <a:t>NAME    </a:t>
            </a:r>
            <a:r>
              <a:rPr lang="zh-CN" altLang="zh-CN" dirty="0">
                <a:latin typeface="Times New Roman" panose="02020603050405020304" pitchFamily="18" charset="0"/>
                <a:ea typeface="宋体" panose="02010600030101010101" pitchFamily="2" charset="-122"/>
              </a:rPr>
              <a:t>模块名</a:t>
            </a:r>
          </a:p>
          <a:p>
            <a:pPr algn="just"/>
            <a:r>
              <a:rPr lang="zh-CN" altLang="zh-CN" dirty="0">
                <a:latin typeface="Times New Roman" panose="02020603050405020304" pitchFamily="18" charset="0"/>
                <a:ea typeface="宋体" panose="02010600030101010101" pitchFamily="2" charset="-122"/>
              </a:rPr>
              <a:t>功能：为源程序的目标程序指定一个模块名。</a:t>
            </a:r>
          </a:p>
          <a:p>
            <a:pPr algn="just"/>
            <a:r>
              <a:rPr lang="zh-CN" altLang="zh-CN" dirty="0">
                <a:latin typeface="Times New Roman" panose="02020603050405020304" pitchFamily="18" charset="0"/>
                <a:ea typeface="宋体" panose="02010600030101010101" pitchFamily="2" charset="-122"/>
              </a:rPr>
              <a:t>说明：如果程序中没有</a:t>
            </a:r>
            <a:r>
              <a:rPr lang="en-US" altLang="zh-CN" dirty="0">
                <a:latin typeface="Times New Roman" panose="02020603050405020304" pitchFamily="18" charset="0"/>
                <a:ea typeface="宋体" panose="02010600030101010101" pitchFamily="2" charset="-122"/>
              </a:rPr>
              <a:t>NAME</a:t>
            </a:r>
            <a:r>
              <a:rPr lang="zh-CN" altLang="zh-CN" dirty="0">
                <a:latin typeface="Times New Roman" panose="02020603050405020304" pitchFamily="18" charset="0"/>
                <a:ea typeface="宋体" panose="02010600030101010101" pitchFamily="2" charset="-122"/>
              </a:rPr>
              <a:t>伪指令，则汇编程序将</a:t>
            </a:r>
            <a:r>
              <a:rPr lang="en-US" altLang="zh-CN" dirty="0">
                <a:latin typeface="Times New Roman" panose="02020603050405020304" pitchFamily="18" charset="0"/>
                <a:ea typeface="宋体" panose="02010600030101010101" pitchFamily="2" charset="-122"/>
              </a:rPr>
              <a:t>TITLE</a:t>
            </a:r>
            <a:r>
              <a:rPr lang="zh-CN" altLang="zh-CN" dirty="0">
                <a:latin typeface="Times New Roman" panose="02020603050405020304" pitchFamily="18" charset="0"/>
                <a:ea typeface="宋体" panose="02010600030101010101" pitchFamily="2" charset="-122"/>
              </a:rPr>
              <a:t>伪指令定义的标题名前</a:t>
            </a:r>
            <a:r>
              <a:rPr lang="en-US" altLang="zh-CN" dirty="0">
                <a:latin typeface="Times New Roman" panose="02020603050405020304" pitchFamily="18" charset="0"/>
                <a:ea typeface="宋体" panose="02010600030101010101" pitchFamily="2" charset="-122"/>
              </a:rPr>
              <a:t>6</a:t>
            </a:r>
            <a:r>
              <a:rPr lang="zh-CN" altLang="zh-CN" dirty="0">
                <a:latin typeface="Times New Roman" panose="02020603050405020304" pitchFamily="18" charset="0"/>
                <a:ea typeface="宋体" panose="02010600030101010101" pitchFamily="2" charset="-122"/>
              </a:rPr>
              <a:t>个字符作为模块名；如果程序中既没有</a:t>
            </a:r>
            <a:r>
              <a:rPr lang="en-US" altLang="zh-CN" dirty="0">
                <a:latin typeface="Times New Roman" panose="02020603050405020304" pitchFamily="18" charset="0"/>
                <a:ea typeface="宋体" panose="02010600030101010101" pitchFamily="2" charset="-122"/>
              </a:rPr>
              <a:t>NAME</a:t>
            </a:r>
            <a:r>
              <a:rPr lang="zh-CN" altLang="zh-CN" dirty="0">
                <a:latin typeface="Times New Roman" panose="02020603050405020304" pitchFamily="18" charset="0"/>
                <a:ea typeface="宋体" panose="02010600030101010101" pitchFamily="2" charset="-122"/>
              </a:rPr>
              <a:t>，也没有</a:t>
            </a:r>
            <a:r>
              <a:rPr lang="en-US" altLang="zh-CN" dirty="0">
                <a:latin typeface="Times New Roman" panose="02020603050405020304" pitchFamily="18" charset="0"/>
                <a:ea typeface="宋体" panose="02010600030101010101" pitchFamily="2" charset="-122"/>
              </a:rPr>
              <a:t>TITLE</a:t>
            </a:r>
            <a:r>
              <a:rPr lang="zh-CN" altLang="zh-CN" dirty="0">
                <a:latin typeface="Times New Roman" panose="02020603050405020304" pitchFamily="18" charset="0"/>
                <a:ea typeface="宋体" panose="02010600030101010101" pitchFamily="2" charset="-122"/>
              </a:rPr>
              <a:t>，则汇编程序将源程序的文件名作为目标程序的模块名。</a:t>
            </a:r>
          </a:p>
          <a:p>
            <a:pPr algn="just"/>
            <a:r>
              <a:rPr lang="zh-CN" altLang="zh-CN"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zh-CN"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END</a:t>
            </a:r>
            <a:r>
              <a:rPr lang="zh-CN" altLang="zh-CN" dirty="0">
                <a:latin typeface="Times New Roman" panose="02020603050405020304" pitchFamily="18" charset="0"/>
                <a:ea typeface="宋体" panose="02010600030101010101" pitchFamily="2" charset="-122"/>
              </a:rPr>
              <a:t>。</a:t>
            </a:r>
          </a:p>
          <a:p>
            <a:pPr algn="just"/>
            <a:r>
              <a:rPr lang="zh-CN" altLang="zh-CN" dirty="0">
                <a:latin typeface="Times New Roman" panose="02020603050405020304" pitchFamily="18" charset="0"/>
                <a:ea typeface="宋体" panose="02010600030101010101" pitchFamily="2" charset="-122"/>
              </a:rPr>
              <a:t>格式：</a:t>
            </a:r>
            <a:r>
              <a:rPr lang="en-US" altLang="zh-CN" dirty="0">
                <a:latin typeface="Times New Roman" panose="02020603050405020304" pitchFamily="18" charset="0"/>
                <a:ea typeface="宋体" panose="02010600030101010101" pitchFamily="2" charset="-122"/>
              </a:rPr>
              <a:t>END    [</a:t>
            </a:r>
            <a:r>
              <a:rPr lang="zh-CN" altLang="zh-CN" dirty="0">
                <a:latin typeface="Times New Roman" panose="02020603050405020304" pitchFamily="18" charset="0"/>
                <a:ea typeface="宋体" panose="02010600030101010101" pitchFamily="2" charset="-122"/>
              </a:rPr>
              <a:t>起始地址</a:t>
            </a:r>
            <a:r>
              <a:rPr lang="en-US" altLang="zh-CN" dirty="0">
                <a:latin typeface="Times New Roman" panose="02020603050405020304" pitchFamily="18" charset="0"/>
                <a:ea typeface="宋体" panose="02010600030101010101" pitchFamily="2" charset="-122"/>
              </a:rPr>
              <a:t>]</a:t>
            </a:r>
            <a:endParaRPr lang="zh-CN" altLang="zh-CN" dirty="0">
              <a:latin typeface="Times New Roman" panose="02020603050405020304" pitchFamily="18" charset="0"/>
              <a:ea typeface="宋体" panose="02010600030101010101" pitchFamily="2" charset="-122"/>
            </a:endParaRPr>
          </a:p>
          <a:p>
            <a:pPr algn="just"/>
            <a:r>
              <a:rPr lang="zh-CN" altLang="zh-CN" dirty="0">
                <a:latin typeface="Times New Roman" panose="02020603050405020304" pitchFamily="18" charset="0"/>
                <a:ea typeface="宋体" panose="02010600030101010101" pitchFamily="2" charset="-122"/>
              </a:rPr>
              <a:t>功能：</a:t>
            </a:r>
            <a:r>
              <a:rPr lang="en-US" altLang="zh-CN" dirty="0">
                <a:latin typeface="Times New Roman" panose="02020603050405020304" pitchFamily="18" charset="0"/>
                <a:ea typeface="宋体" panose="02010600030101010101" pitchFamily="2" charset="-122"/>
              </a:rPr>
              <a:t>END</a:t>
            </a:r>
            <a:r>
              <a:rPr lang="zh-CN" altLang="zh-CN" dirty="0">
                <a:latin typeface="Times New Roman" panose="02020603050405020304" pitchFamily="18" charset="0"/>
                <a:ea typeface="宋体" panose="02010600030101010101" pitchFamily="2" charset="-122"/>
              </a:rPr>
              <a:t>伪指令表示源程序的结束。</a:t>
            </a:r>
          </a:p>
          <a:p>
            <a:pPr algn="just"/>
            <a:r>
              <a:rPr lang="zh-CN" altLang="zh-CN" dirty="0">
                <a:latin typeface="Times New Roman" panose="02020603050405020304" pitchFamily="18" charset="0"/>
                <a:ea typeface="宋体" panose="02010600030101010101" pitchFamily="2" charset="-122"/>
              </a:rPr>
              <a:t>说明：该指令中的起始地址为可选项，表示第一条要执行指令的地址。它可以是标号。如果多个程序模块相连接，则只有主程序要使用标号，其他子模块只用</a:t>
            </a:r>
            <a:r>
              <a:rPr lang="en-US" altLang="zh-CN" dirty="0">
                <a:latin typeface="Times New Roman" panose="02020603050405020304" pitchFamily="18" charset="0"/>
                <a:ea typeface="宋体" panose="02010600030101010101" pitchFamily="2" charset="-122"/>
              </a:rPr>
              <a:t>END</a:t>
            </a:r>
            <a:r>
              <a:rPr lang="zh-CN" altLang="zh-CN" dirty="0">
                <a:latin typeface="Times New Roman" panose="02020603050405020304" pitchFamily="18" charset="0"/>
                <a:ea typeface="宋体" panose="02010600030101010101" pitchFamily="2" charset="-122"/>
              </a:rPr>
              <a:t>而不必指定标号。</a:t>
            </a:r>
          </a:p>
        </p:txBody>
      </p:sp>
    </p:spTree>
  </p:cSld>
  <p:clrMapOvr>
    <a:masterClrMapping/>
  </p:clrMapOvr>
  <p:transition spd="med">
    <p:random/>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4.3.7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宏处理伪指令</a:t>
            </a:r>
          </a:p>
        </p:txBody>
      </p:sp>
      <p:sp>
        <p:nvSpPr>
          <p:cNvPr id="56322"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56323" name="TextBox 6"/>
          <p:cNvSpPr txBox="1"/>
          <p:nvPr/>
        </p:nvSpPr>
        <p:spPr>
          <a:xfrm>
            <a:off x="585788" y="1562100"/>
            <a:ext cx="7802562" cy="5116513"/>
          </a:xfrm>
          <a:prstGeom prst="rect">
            <a:avLst/>
          </a:prstGeom>
          <a:noFill/>
          <a:ln w="9525">
            <a:noFill/>
          </a:ln>
        </p:spPr>
        <p:txBody>
          <a:bodyPr anchor="t" anchorCtr="0">
            <a:spAutoFit/>
          </a:bodyPr>
          <a:lstStyle/>
          <a:p>
            <a:pPr algn="just"/>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．宏处理伪指令的特点</a:t>
            </a:r>
          </a:p>
          <a:p>
            <a:pPr algn="just"/>
            <a:r>
              <a:rPr lang="zh-CN" altLang="zh-CN" dirty="0">
                <a:latin typeface="宋体" panose="02010600030101010101" pitchFamily="2" charset="-122"/>
                <a:ea typeface="宋体" panose="02010600030101010101" pitchFamily="2" charset="-122"/>
              </a:rPr>
              <a:t>如果程序中需要多次使用同一个程序段，则可以将这个程序段定义为一个宏指令，然后每次需要时，即可简单地用宏指令名来代替（称为宏调用），从而避免了重复书写，使源程序更加简洁、易读。</a:t>
            </a:r>
          </a:p>
          <a:p>
            <a:pPr algn="just"/>
            <a:r>
              <a:rPr lang="zh-CN" altLang="zh-CN" dirty="0">
                <a:latin typeface="宋体" panose="02010600030101010101" pitchFamily="2" charset="-122"/>
                <a:ea typeface="宋体" panose="02010600030101010101" pitchFamily="2" charset="-122"/>
              </a:rPr>
              <a:t>显然，利用子程序（过程）也能将某些需要多次调用的指令编写成一个程序段。然后在需要的地方调用这个过程，从而使程序易于实现模块化，增强源程序的可读性。</a:t>
            </a:r>
          </a:p>
          <a:p>
            <a:pPr algn="just"/>
            <a:r>
              <a:rPr lang="zh-CN" altLang="zh-CN" dirty="0">
                <a:latin typeface="宋体" panose="02010600030101010101" pitchFamily="2" charset="-122"/>
                <a:ea typeface="宋体" panose="02010600030101010101" pitchFamily="2" charset="-122"/>
              </a:rPr>
              <a:t>从某种意义上讲，“宏处理”与“过程”有相似之处，也可以将构成一条宏指令程序段定义为一个过程，但两者间有明显的区别。</a:t>
            </a:r>
            <a:endParaRPr lang="en-US" altLang="zh-CN" dirty="0">
              <a:latin typeface="宋体" panose="02010600030101010101" pitchFamily="2" charset="-122"/>
              <a:ea typeface="宋体" panose="02010600030101010101" pitchFamily="2" charset="-122"/>
            </a:endParaRPr>
          </a:p>
          <a:p>
            <a:pPr algn="just"/>
            <a:r>
              <a:rPr lang="zh-CN" altLang="zh-CN" dirty="0">
                <a:latin typeface="宋体" panose="02010600030101010101" pitchFamily="2" charset="-122"/>
                <a:ea typeface="宋体" panose="02010600030101010101" pitchFamily="2" charset="-122"/>
              </a:rPr>
              <a:t>①</a:t>
            </a: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宏调用语句由宏汇编程序</a:t>
            </a:r>
            <a:r>
              <a:rPr lang="en-US" altLang="zh-CN" dirty="0">
                <a:latin typeface="宋体" panose="02010600030101010101" pitchFamily="2" charset="-122"/>
                <a:ea typeface="宋体" panose="02010600030101010101" pitchFamily="2" charset="-122"/>
              </a:rPr>
              <a:t>MASM</a:t>
            </a:r>
            <a:r>
              <a:rPr lang="zh-CN" altLang="zh-CN" dirty="0">
                <a:latin typeface="宋体" panose="02010600030101010101" pitchFamily="2" charset="-122"/>
                <a:ea typeface="宋体" panose="02010600030101010101" pitchFamily="2" charset="-122"/>
              </a:rPr>
              <a:t>中的宏处理程序来识别，并完成相应的处理；而调用过程用</a:t>
            </a:r>
            <a:r>
              <a:rPr lang="en-US" altLang="zh-CN" dirty="0">
                <a:latin typeface="宋体" panose="02010600030101010101" pitchFamily="2" charset="-122"/>
                <a:ea typeface="宋体" panose="02010600030101010101" pitchFamily="2" charset="-122"/>
              </a:rPr>
              <a:t>CALL</a:t>
            </a:r>
            <a:r>
              <a:rPr lang="zh-CN" altLang="zh-CN" dirty="0">
                <a:latin typeface="宋体" panose="02010600030101010101" pitchFamily="2" charset="-122"/>
                <a:ea typeface="宋体" panose="02010600030101010101" pitchFamily="2" charset="-122"/>
              </a:rPr>
              <a:t>语句由</a:t>
            </a:r>
            <a:r>
              <a:rPr lang="en-US" altLang="zh-CN" dirty="0">
                <a:latin typeface="宋体" panose="02010600030101010101" pitchFamily="2" charset="-122"/>
                <a:ea typeface="宋体" panose="02010600030101010101" pitchFamily="2" charset="-122"/>
              </a:rPr>
              <a:t>CPU</a:t>
            </a:r>
            <a:r>
              <a:rPr lang="zh-CN" altLang="zh-CN" dirty="0">
                <a:latin typeface="宋体" panose="02010600030101010101" pitchFamily="2" charset="-122"/>
                <a:ea typeface="宋体" panose="02010600030101010101" pitchFamily="2" charset="-122"/>
              </a:rPr>
              <a:t>来执行。</a:t>
            </a:r>
          </a:p>
          <a:p>
            <a:pPr algn="just"/>
            <a:endParaRPr lang="zh-CN" altLang="zh-CN"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4.3.7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宏处理伪指令</a:t>
            </a:r>
          </a:p>
        </p:txBody>
      </p:sp>
      <p:sp>
        <p:nvSpPr>
          <p:cNvPr id="58370"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58371" name="TextBox 6"/>
          <p:cNvSpPr txBox="1"/>
          <p:nvPr/>
        </p:nvSpPr>
        <p:spPr>
          <a:xfrm>
            <a:off x="523875" y="1598613"/>
            <a:ext cx="8034338" cy="4984750"/>
          </a:xfrm>
          <a:prstGeom prst="rect">
            <a:avLst/>
          </a:prstGeom>
          <a:noFill/>
          <a:ln w="9525">
            <a:noFill/>
          </a:ln>
        </p:spPr>
        <p:txBody>
          <a:bodyPr anchor="t" anchorCtr="0">
            <a:spAutoFit/>
          </a:bodyPr>
          <a:lstStyle/>
          <a:p>
            <a:pPr algn="just"/>
            <a:r>
              <a:rPr lang="zh-CN" altLang="zh-CN" sz="2000" dirty="0">
                <a:latin typeface="宋体" panose="02010600030101010101" pitchFamily="2" charset="-122"/>
                <a:ea typeface="宋体" panose="02010600030101010101" pitchFamily="2" charset="-122"/>
              </a:rPr>
              <a:t>②</a:t>
            </a:r>
            <a:r>
              <a:rPr lang="en-US" altLang="zh-CN" sz="2000" dirty="0">
                <a:latin typeface="宋体" panose="02010600030101010101" pitchFamily="2" charset="-122"/>
                <a:ea typeface="宋体" panose="02010600030101010101" pitchFamily="2" charset="-122"/>
              </a:rPr>
              <a:t> </a:t>
            </a:r>
            <a:r>
              <a:rPr lang="zh-CN" altLang="zh-CN" sz="2000" dirty="0">
                <a:latin typeface="宋体" panose="02010600030101010101" pitchFamily="2" charset="-122"/>
                <a:ea typeface="宋体" panose="02010600030101010101" pitchFamily="2" charset="-122"/>
              </a:rPr>
              <a:t>汇编语言在汇编过程中要将宏指令所代替的程序段汇编成相应的机器代码，并插入到源程序的目标代码中，每次调用均要插入，这样使用宏调用并不能缩短目标代码的长度，但被定义的“过程”经汇编后的代码是与主程序分开而独立存在的，其目标代码在存储器中只保留一段，因此采用过程调用能有效缩短目标代码的长度，即节省内存空间，而宏指令没有这个优点。</a:t>
            </a:r>
          </a:p>
          <a:p>
            <a:pPr algn="just"/>
            <a:r>
              <a:rPr lang="zh-CN" altLang="zh-CN" sz="2000" dirty="0">
                <a:latin typeface="宋体" panose="02010600030101010101" pitchFamily="2" charset="-122"/>
                <a:ea typeface="宋体" panose="02010600030101010101" pitchFamily="2" charset="-122"/>
              </a:rPr>
              <a:t>③</a:t>
            </a:r>
            <a:r>
              <a:rPr lang="en-US" altLang="zh-CN" sz="2000" dirty="0">
                <a:latin typeface="宋体" panose="02010600030101010101" pitchFamily="2" charset="-122"/>
                <a:ea typeface="宋体" panose="02010600030101010101" pitchFamily="2" charset="-122"/>
              </a:rPr>
              <a:t> </a:t>
            </a:r>
            <a:r>
              <a:rPr lang="zh-CN" altLang="zh-CN" sz="2000" dirty="0">
                <a:latin typeface="宋体" panose="02010600030101010101" pitchFamily="2" charset="-122"/>
                <a:ea typeface="宋体" panose="02010600030101010101" pitchFamily="2" charset="-122"/>
              </a:rPr>
              <a:t>过程调用时需要保留程序的断点和现场，待执行完毕还要恢复现场和断点，这些操作需要耗费</a:t>
            </a:r>
            <a:r>
              <a:rPr lang="en-US" altLang="zh-CN" sz="2000" dirty="0">
                <a:latin typeface="宋体" panose="02010600030101010101" pitchFamily="2" charset="-122"/>
                <a:ea typeface="宋体" panose="02010600030101010101" pitchFamily="2" charset="-122"/>
              </a:rPr>
              <a:t>CPU</a:t>
            </a:r>
            <a:r>
              <a:rPr lang="zh-CN" altLang="zh-CN" sz="2000" dirty="0">
                <a:latin typeface="宋体" panose="02010600030101010101" pitchFamily="2" charset="-122"/>
                <a:ea typeface="宋体" panose="02010600030101010101" pitchFamily="2" charset="-122"/>
              </a:rPr>
              <a:t>的时间，而宏调用则不需要这些操作。因此，过程调用可以节省程序占用的存储空间，但却降低了程序的执行速度；而宏调用不能节省存储空间，却有较快的执行速度。</a:t>
            </a:r>
          </a:p>
          <a:p>
            <a:pPr algn="just"/>
            <a:r>
              <a:rPr lang="zh-CN" altLang="zh-CN" sz="2000" dirty="0">
                <a:latin typeface="宋体" panose="02010600030101010101" pitchFamily="2" charset="-122"/>
                <a:ea typeface="宋体" panose="02010600030101010101" pitchFamily="2" charset="-122"/>
              </a:rPr>
              <a:t>④</a:t>
            </a:r>
            <a:r>
              <a:rPr lang="en-US" altLang="zh-CN" sz="2000" dirty="0">
                <a:latin typeface="宋体" panose="02010600030101010101" pitchFamily="2" charset="-122"/>
                <a:ea typeface="宋体" panose="02010600030101010101" pitchFamily="2" charset="-122"/>
              </a:rPr>
              <a:t> </a:t>
            </a:r>
            <a:r>
              <a:rPr lang="zh-CN" altLang="zh-CN" sz="2000" dirty="0">
                <a:latin typeface="宋体" panose="02010600030101010101" pitchFamily="2" charset="-122"/>
                <a:ea typeface="宋体" panose="02010600030101010101" pitchFamily="2" charset="-122"/>
              </a:rPr>
              <a:t>在每次宏调用时，允许修改有关参数，使得同一条宏指令在各次调用中可完成不同的操作；而“过程”一旦被定义，一般不允许修改。因此，任何一个“过程”在各次调用中完成相同的功能。</a:t>
            </a:r>
            <a:endParaRPr lang="en-US" altLang="zh-CN" sz="2000" dirty="0">
              <a:latin typeface="宋体" panose="02010600030101010101" pitchFamily="2" charset="-122"/>
              <a:ea typeface="宋体" panose="02010600030101010101" pitchFamily="2" charset="-122"/>
            </a:endParaRPr>
          </a:p>
          <a:p>
            <a:pPr algn="just"/>
            <a:r>
              <a:rPr lang="zh-CN" altLang="zh-CN" sz="2000" dirty="0">
                <a:latin typeface="宋体" panose="02010600030101010101" pitchFamily="2" charset="-122"/>
                <a:ea typeface="宋体" panose="02010600030101010101" pitchFamily="2" charset="-122"/>
              </a:rPr>
              <a:t>从上述特点可以看出，在需要多次执行的程序段比较长，对速度要求不高，并且不要求修改参数的情况下，宜采用过程调用方式；若要求多次执行的程序段比较短，或希望在各次调用中能修改某些参数时，宜采用宏调用方式。</a:t>
            </a:r>
          </a:p>
        </p:txBody>
      </p:sp>
    </p:spTree>
  </p:cSld>
  <p:clrMapOvr>
    <a:masterClrMapping/>
  </p:clrMapOvr>
  <p:transition spd="med">
    <p:random/>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4.3.7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宏处理伪指令</a:t>
            </a:r>
          </a:p>
        </p:txBody>
      </p:sp>
      <p:sp>
        <p:nvSpPr>
          <p:cNvPr id="60418"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60419" name="TextBox 6"/>
          <p:cNvSpPr txBox="1"/>
          <p:nvPr/>
        </p:nvSpPr>
        <p:spPr>
          <a:xfrm>
            <a:off x="523875" y="1598613"/>
            <a:ext cx="8034338" cy="5041900"/>
          </a:xfrm>
          <a:prstGeom prst="rect">
            <a:avLst/>
          </a:prstGeom>
          <a:noFill/>
          <a:ln w="9525">
            <a:noFill/>
          </a:ln>
        </p:spPr>
        <p:txBody>
          <a:bodyPr anchor="t" anchorCtr="0">
            <a:spAutoFit/>
          </a:bodyPr>
          <a:lstStyle/>
          <a:p>
            <a:pPr algn="just"/>
            <a:r>
              <a:rPr lang="en-US" altLang="zh-CN" sz="2000" dirty="0">
                <a:latin typeface="Times New Roman" panose="02020603050405020304" pitchFamily="18" charset="0"/>
                <a:ea typeface="宋体" panose="02010600030101010101" pitchFamily="2" charset="-122"/>
              </a:rPr>
              <a:t>2</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MACRO/ENDM</a:t>
            </a:r>
            <a:endParaRPr lang="zh-CN" altLang="zh-CN" sz="2000" dirty="0">
              <a:latin typeface="Times New Roman" panose="02020603050405020304" pitchFamily="18" charset="0"/>
              <a:ea typeface="宋体" panose="02010600030101010101" pitchFamily="2" charset="-122"/>
            </a:endParaRPr>
          </a:p>
          <a:p>
            <a:pPr algn="just"/>
            <a:r>
              <a:rPr lang="zh-CN" altLang="zh-CN" sz="2000" dirty="0">
                <a:latin typeface="Times New Roman" panose="02020603050405020304" pitchFamily="18" charset="0"/>
                <a:ea typeface="宋体" panose="02010600030101010101" pitchFamily="2" charset="-122"/>
              </a:rPr>
              <a:t>格式：宏名</a:t>
            </a:r>
            <a:r>
              <a:rPr lang="en-US" altLang="zh-CN" sz="2000" dirty="0">
                <a:latin typeface="Times New Roman" panose="02020603050405020304" pitchFamily="18" charset="0"/>
                <a:ea typeface="宋体" panose="02010600030101010101" pitchFamily="2" charset="-122"/>
              </a:rPr>
              <a:t>    MACRO  [</a:t>
            </a:r>
            <a:r>
              <a:rPr lang="zh-CN" altLang="zh-CN" sz="2000" dirty="0">
                <a:latin typeface="Times New Roman" panose="02020603050405020304" pitchFamily="18" charset="0"/>
                <a:ea typeface="宋体" panose="02010600030101010101" pitchFamily="2" charset="-122"/>
              </a:rPr>
              <a:t>形式参数</a:t>
            </a:r>
            <a:r>
              <a:rPr lang="en-US" altLang="zh-CN" sz="2000" dirty="0">
                <a:latin typeface="Times New Roman" panose="02020603050405020304" pitchFamily="18" charset="0"/>
                <a:ea typeface="宋体" panose="02010600030101010101" pitchFamily="2" charset="-122"/>
              </a:rPr>
              <a:t>1</a:t>
            </a:r>
            <a:r>
              <a:rPr lang="zh-CN" altLang="zh-CN" sz="2000" dirty="0">
                <a:latin typeface="Times New Roman" panose="02020603050405020304" pitchFamily="18" charset="0"/>
                <a:ea typeface="宋体" panose="02010600030101010101" pitchFamily="2" charset="-122"/>
              </a:rPr>
              <a:t>，形式参数</a:t>
            </a:r>
            <a:r>
              <a:rPr lang="en-US" altLang="zh-CN" sz="2000" dirty="0">
                <a:latin typeface="Times New Roman" panose="02020603050405020304" pitchFamily="18" charset="0"/>
                <a:ea typeface="宋体" panose="02010600030101010101" pitchFamily="2" charset="-122"/>
              </a:rPr>
              <a:t>2</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a:t>
            </a:r>
            <a:endParaRPr lang="zh-CN" altLang="zh-CN" sz="2000" dirty="0">
              <a:latin typeface="Times New Roman" panose="02020603050405020304" pitchFamily="18" charset="0"/>
              <a:ea typeface="宋体" panose="02010600030101010101" pitchFamily="2" charset="-122"/>
            </a:endParaRPr>
          </a:p>
          <a:p>
            <a:pPr algn="just"/>
            <a:r>
              <a:rPr lang="en-US" altLang="zh-CN" sz="2000" dirty="0">
                <a:latin typeface="Times New Roman" panose="02020603050405020304" pitchFamily="18" charset="0"/>
                <a:ea typeface="宋体" panose="02010600030101010101" pitchFamily="2" charset="-122"/>
              </a:rPr>
              <a:t> </a:t>
            </a:r>
            <a:endParaRPr lang="zh-CN" altLang="zh-CN" sz="2000" dirty="0">
              <a:latin typeface="Times New Roman" panose="02020603050405020304" pitchFamily="18" charset="0"/>
              <a:ea typeface="宋体" panose="02010600030101010101" pitchFamily="2" charset="-122"/>
            </a:endParaRPr>
          </a:p>
          <a:p>
            <a:pPr algn="just"/>
            <a:r>
              <a:rPr lang="en-US" altLang="zh-CN" sz="2000" dirty="0">
                <a:latin typeface="Times New Roman" panose="02020603050405020304" pitchFamily="18" charset="0"/>
                <a:ea typeface="宋体" panose="02010600030101010101" pitchFamily="2" charset="-122"/>
              </a:rPr>
              <a:t> </a:t>
            </a:r>
            <a:endParaRPr lang="zh-CN" altLang="zh-CN" sz="2000" dirty="0">
              <a:latin typeface="Times New Roman" panose="02020603050405020304" pitchFamily="18" charset="0"/>
              <a:ea typeface="宋体" panose="02010600030101010101" pitchFamily="2" charset="-122"/>
            </a:endParaRPr>
          </a:p>
          <a:p>
            <a:pPr algn="just"/>
            <a:r>
              <a:rPr lang="en-US" altLang="zh-CN" sz="2000" dirty="0">
                <a:latin typeface="Times New Roman" panose="02020603050405020304" pitchFamily="18" charset="0"/>
                <a:ea typeface="宋体" panose="02010600030101010101" pitchFamily="2" charset="-122"/>
              </a:rPr>
              <a:t>                        ENDM</a:t>
            </a:r>
            <a:endParaRPr lang="zh-CN" altLang="zh-CN" sz="2000" dirty="0">
              <a:latin typeface="Times New Roman" panose="02020603050405020304" pitchFamily="18" charset="0"/>
              <a:ea typeface="宋体" panose="02010600030101010101" pitchFamily="2" charset="-122"/>
            </a:endParaRPr>
          </a:p>
          <a:p>
            <a:pPr algn="just"/>
            <a:r>
              <a:rPr lang="zh-CN" altLang="zh-CN" sz="2000" dirty="0">
                <a:latin typeface="Times New Roman" panose="02020603050405020304" pitchFamily="18" charset="0"/>
                <a:ea typeface="宋体" panose="02010600030101010101" pitchFamily="2" charset="-122"/>
              </a:rPr>
              <a:t>功能：宏定义伪指令定义的宏名可以像指令一样在程序中被引用。</a:t>
            </a:r>
          </a:p>
          <a:p>
            <a:pPr algn="just"/>
            <a:r>
              <a:rPr lang="zh-CN" altLang="zh-CN" sz="2000" dirty="0">
                <a:latin typeface="Times New Roman" panose="02020603050405020304" pitchFamily="18" charset="0"/>
                <a:ea typeface="宋体" panose="02010600030101010101" pitchFamily="2" charset="-122"/>
              </a:rPr>
              <a:t>说明：①</a:t>
            </a:r>
            <a:r>
              <a:rPr lang="en-US" altLang="zh-CN" sz="2000" dirty="0">
                <a:latin typeface="Times New Roman" panose="02020603050405020304" pitchFamily="18" charset="0"/>
                <a:ea typeface="宋体" panose="02010600030101010101" pitchFamily="2" charset="-122"/>
              </a:rPr>
              <a:t> MACRO</a:t>
            </a:r>
            <a:r>
              <a:rPr lang="zh-CN" altLang="zh-CN" sz="2000" dirty="0">
                <a:latin typeface="Times New Roman" panose="02020603050405020304" pitchFamily="18" charset="0"/>
                <a:ea typeface="宋体" panose="02010600030101010101" pitchFamily="2" charset="-122"/>
              </a:rPr>
              <a:t>伪操作是宏定义符，它将一个宏指令名定义为宏定义阵中包含的程序段，</a:t>
            </a:r>
            <a:r>
              <a:rPr lang="en-US" altLang="zh-CN" sz="2000" dirty="0">
                <a:latin typeface="Times New Roman" panose="02020603050405020304" pitchFamily="18" charset="0"/>
                <a:ea typeface="宋体" panose="02010600030101010101" pitchFamily="2" charset="-122"/>
              </a:rPr>
              <a:t>ENDM</a:t>
            </a:r>
            <a:r>
              <a:rPr lang="zh-CN" altLang="zh-CN" sz="2000" dirty="0">
                <a:latin typeface="Times New Roman" panose="02020603050405020304" pitchFamily="18" charset="0"/>
                <a:ea typeface="宋体" panose="02010600030101010101" pitchFamily="2" charset="-122"/>
              </a:rPr>
              <a:t>表示宏定义结束，前面不要加宏指令名；</a:t>
            </a:r>
          </a:p>
          <a:p>
            <a:pPr algn="just"/>
            <a:r>
              <a:rPr lang="zh-CN" altLang="zh-CN" sz="2000" dirty="0">
                <a:latin typeface="Times New Roman" panose="02020603050405020304" pitchFamily="18" charset="0"/>
                <a:ea typeface="宋体" panose="02010600030101010101" pitchFamily="2" charset="-122"/>
              </a:rPr>
              <a:t>②</a:t>
            </a:r>
            <a:r>
              <a:rPr lang="en-US" altLang="zh-CN" sz="2000" dirty="0">
                <a:latin typeface="Times New Roman" panose="02020603050405020304" pitchFamily="18" charset="0"/>
                <a:ea typeface="宋体" panose="02010600030101010101" pitchFamily="2" charset="-122"/>
              </a:rPr>
              <a:t> </a:t>
            </a:r>
            <a:r>
              <a:rPr lang="zh-CN" altLang="zh-CN" sz="2000" dirty="0">
                <a:latin typeface="Times New Roman" panose="02020603050405020304" pitchFamily="18" charset="0"/>
                <a:ea typeface="宋体" panose="02010600030101010101" pitchFamily="2" charset="-122"/>
              </a:rPr>
              <a:t>进行一次宏定义，可以多次利用宏指令名进行宏调用，但必须先定义后引用；</a:t>
            </a:r>
          </a:p>
          <a:p>
            <a:pPr algn="just"/>
            <a:r>
              <a:rPr lang="zh-CN" altLang="zh-CN" sz="2000" dirty="0">
                <a:latin typeface="Times New Roman" panose="02020603050405020304" pitchFamily="18" charset="0"/>
                <a:ea typeface="宋体" panose="02010600030101010101" pitchFamily="2" charset="-122"/>
              </a:rPr>
              <a:t>③</a:t>
            </a:r>
            <a:r>
              <a:rPr lang="en-US" altLang="zh-CN" sz="2000" dirty="0">
                <a:latin typeface="Times New Roman" panose="02020603050405020304" pitchFamily="18" charset="0"/>
                <a:ea typeface="宋体" panose="02010600030101010101" pitchFamily="2" charset="-122"/>
              </a:rPr>
              <a:t> </a:t>
            </a:r>
            <a:r>
              <a:rPr lang="zh-CN" altLang="zh-CN" sz="2000" dirty="0">
                <a:latin typeface="Times New Roman" panose="02020603050405020304" pitchFamily="18" charset="0"/>
                <a:ea typeface="宋体" panose="02010600030101010101" pitchFamily="2" charset="-122"/>
              </a:rPr>
              <a:t>宏定义伪操作允许带参数，此时可定义的宏指令具有较强的通用性，宏定义中的参数称为形式参数（</a:t>
            </a:r>
            <a:r>
              <a:rPr lang="en-US" altLang="zh-CN" sz="2000" dirty="0">
                <a:latin typeface="Times New Roman" panose="02020603050405020304" pitchFamily="18" charset="0"/>
                <a:ea typeface="宋体" panose="02010600030101010101" pitchFamily="2" charset="-122"/>
              </a:rPr>
              <a:t>Dummy Parameter</a:t>
            </a:r>
            <a:r>
              <a:rPr lang="zh-CN" altLang="zh-CN" sz="2000" dirty="0">
                <a:latin typeface="Times New Roman" panose="02020603050405020304" pitchFamily="18" charset="0"/>
                <a:ea typeface="宋体" panose="02010600030101010101" pitchFamily="2" charset="-122"/>
              </a:rPr>
              <a:t>）或称为哑元，当形式参数不止一个时，它们之间用“，”号隔开；</a:t>
            </a:r>
          </a:p>
          <a:p>
            <a:pPr algn="just"/>
            <a:r>
              <a:rPr lang="zh-CN" altLang="zh-CN" sz="2000" dirty="0">
                <a:latin typeface="Times New Roman" panose="02020603050405020304" pitchFamily="18" charset="0"/>
                <a:ea typeface="宋体" panose="02010600030101010101" pitchFamily="2" charset="-122"/>
              </a:rPr>
              <a:t>④</a:t>
            </a:r>
            <a:r>
              <a:rPr lang="en-US" altLang="zh-CN" sz="2000" dirty="0">
                <a:latin typeface="Times New Roman" panose="02020603050405020304" pitchFamily="18" charset="0"/>
                <a:ea typeface="宋体" panose="02010600030101010101" pitchFamily="2" charset="-122"/>
              </a:rPr>
              <a:t> </a:t>
            </a:r>
            <a:r>
              <a:rPr lang="zh-CN" altLang="zh-CN" sz="2000" dirty="0">
                <a:latin typeface="Times New Roman" panose="02020603050405020304" pitchFamily="18" charset="0"/>
                <a:ea typeface="宋体" panose="02010600030101010101" pitchFamily="2" charset="-122"/>
              </a:rPr>
              <a:t>宏调用时，应在宏指令名后面写上相应的实际参数（</a:t>
            </a:r>
            <a:r>
              <a:rPr lang="en-US" altLang="zh-CN" sz="2000" dirty="0">
                <a:latin typeface="Times New Roman" panose="02020603050405020304" pitchFamily="18" charset="0"/>
                <a:ea typeface="宋体" panose="02010600030101010101" pitchFamily="2" charset="-122"/>
              </a:rPr>
              <a:t>Actual Parameter</a:t>
            </a:r>
            <a:r>
              <a:rPr lang="zh-CN" altLang="zh-CN" sz="2000" dirty="0">
                <a:latin typeface="Times New Roman" panose="02020603050405020304" pitchFamily="18" charset="0"/>
                <a:ea typeface="宋体" panose="02010600030101010101" pitchFamily="2" charset="-122"/>
              </a:rPr>
              <a:t>），称为实元。</a:t>
            </a:r>
          </a:p>
        </p:txBody>
      </p:sp>
      <p:pic>
        <p:nvPicPr>
          <p:cNvPr id="60420" name="Picture 2" descr="83页-1"/>
          <p:cNvPicPr>
            <a:picLocks noChangeAspect="1"/>
          </p:cNvPicPr>
          <p:nvPr/>
        </p:nvPicPr>
        <p:blipFill>
          <a:blip r:embed="rId3"/>
          <a:stretch>
            <a:fillRect/>
          </a:stretch>
        </p:blipFill>
        <p:spPr>
          <a:xfrm>
            <a:off x="3106738" y="2449513"/>
            <a:ext cx="1797050" cy="479425"/>
          </a:xfrm>
          <a:prstGeom prst="rect">
            <a:avLst/>
          </a:prstGeom>
          <a:noFill/>
          <a:ln w="9525">
            <a:noFill/>
          </a:ln>
        </p:spPr>
      </p:pic>
    </p:spTree>
  </p:cSld>
  <p:clrMapOvr>
    <a:masterClrMapping/>
  </p:clrMapOvr>
  <p:transition spd="med">
    <p:random/>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4.3.8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模块连接伪指令</a:t>
            </a:r>
          </a:p>
        </p:txBody>
      </p:sp>
      <p:sp>
        <p:nvSpPr>
          <p:cNvPr id="6246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62467" name="TextBox 6"/>
          <p:cNvSpPr txBox="1"/>
          <p:nvPr/>
        </p:nvSpPr>
        <p:spPr>
          <a:xfrm>
            <a:off x="523875" y="1428750"/>
            <a:ext cx="8034338" cy="5256213"/>
          </a:xfrm>
          <a:prstGeom prst="rect">
            <a:avLst/>
          </a:prstGeom>
          <a:noFill/>
          <a:ln w="9525">
            <a:noFill/>
          </a:ln>
        </p:spPr>
        <p:txBody>
          <a:bodyPr anchor="t" anchorCtr="0">
            <a:spAutoFit/>
          </a:bodyPr>
          <a:lstStyle/>
          <a:p>
            <a:pPr algn="just"/>
            <a:r>
              <a:rPr lang="en-US" altLang="zh-CN" sz="2000" dirty="0">
                <a:latin typeface="Times New Roman" panose="02020603050405020304" pitchFamily="18" charset="0"/>
                <a:ea typeface="宋体" panose="02010600030101010101" pitchFamily="2" charset="-122"/>
              </a:rPr>
              <a:t>    </a:t>
            </a:r>
            <a:r>
              <a:rPr lang="zh-CN" altLang="zh-CN" sz="2000" dirty="0">
                <a:latin typeface="Times New Roman" panose="02020603050405020304" pitchFamily="18" charset="0"/>
                <a:ea typeface="宋体" panose="02010600030101010101" pitchFamily="2" charset="-122"/>
              </a:rPr>
              <a:t>当一个程序较大时，可把整个程序划分为几个相对独立又相互联系的源程序模块，分别单独汇编后用</a:t>
            </a:r>
            <a:r>
              <a:rPr lang="en-US" altLang="zh-CN" sz="2000" dirty="0">
                <a:latin typeface="Times New Roman" panose="02020603050405020304" pitchFamily="18" charset="0"/>
                <a:ea typeface="宋体" panose="02010600030101010101" pitchFamily="2" charset="-122"/>
              </a:rPr>
              <a:t>LINK</a:t>
            </a:r>
            <a:r>
              <a:rPr lang="zh-CN" altLang="zh-CN" sz="2000" dirty="0">
                <a:latin typeface="Times New Roman" panose="02020603050405020304" pitchFamily="18" charset="0"/>
                <a:ea typeface="宋体" panose="02010600030101010101" pitchFamily="2" charset="-122"/>
              </a:rPr>
              <a:t>连接程序将这些目标模块连接在一起形成一个统一的可执行代码文件。这种设计的程序称为多模块程序。每一个独立汇编的源程序称为一个模块。由于每个模块都和其他模块相关联，允许相互访问，可能</a:t>
            </a:r>
            <a:r>
              <a:rPr lang="en-US" altLang="zh-CN" sz="2000" dirty="0">
                <a:latin typeface="Times New Roman" panose="02020603050405020304" pitchFamily="18" charset="0"/>
                <a:ea typeface="宋体" panose="02010600030101010101" pitchFamily="2" charset="-122"/>
              </a:rPr>
              <a:t>A</a:t>
            </a:r>
            <a:r>
              <a:rPr lang="zh-CN" altLang="zh-CN" sz="2000" dirty="0">
                <a:latin typeface="Times New Roman" panose="02020603050405020304" pitchFamily="18" charset="0"/>
                <a:ea typeface="宋体" panose="02010600030101010101" pitchFamily="2" charset="-122"/>
              </a:rPr>
              <a:t>模块的变量或标号被</a:t>
            </a:r>
            <a:r>
              <a:rPr lang="en-US" altLang="zh-CN" sz="2000" dirty="0">
                <a:latin typeface="Times New Roman" panose="02020603050405020304" pitchFamily="18" charset="0"/>
                <a:ea typeface="宋体" panose="02010600030101010101" pitchFamily="2" charset="-122"/>
              </a:rPr>
              <a:t>B</a:t>
            </a:r>
            <a:r>
              <a:rPr lang="zh-CN" altLang="zh-CN" sz="2000" dirty="0">
                <a:latin typeface="Times New Roman" panose="02020603050405020304" pitchFamily="18" charset="0"/>
                <a:ea typeface="宋体" panose="02010600030101010101" pitchFamily="2" charset="-122"/>
              </a:rPr>
              <a:t>模块使用，这样必须在编程时加以说明，否则在汇编时就会产生错误。</a:t>
            </a:r>
          </a:p>
          <a:p>
            <a:pPr algn="just"/>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EXTRN</a:t>
            </a:r>
            <a:r>
              <a:rPr lang="zh-CN" altLang="zh-CN" sz="2000" dirty="0">
                <a:latin typeface="Times New Roman" panose="02020603050405020304" pitchFamily="18" charset="0"/>
                <a:ea typeface="宋体" panose="02010600030101010101" pitchFamily="2" charset="-122"/>
              </a:rPr>
              <a:t>。</a:t>
            </a:r>
          </a:p>
          <a:p>
            <a:pPr algn="just"/>
            <a:r>
              <a:rPr lang="zh-CN" altLang="zh-CN" sz="2000" dirty="0">
                <a:latin typeface="Times New Roman" panose="02020603050405020304" pitchFamily="18" charset="0"/>
                <a:ea typeface="宋体" panose="02010600030101010101" pitchFamily="2" charset="-122"/>
              </a:rPr>
              <a:t>格式：</a:t>
            </a:r>
            <a:r>
              <a:rPr lang="en-US" altLang="zh-CN" sz="2000" dirty="0">
                <a:latin typeface="Times New Roman" panose="02020603050405020304" pitchFamily="18" charset="0"/>
                <a:ea typeface="宋体" panose="02010600030101010101" pitchFamily="2" charset="-122"/>
              </a:rPr>
              <a:t>EXTRN  </a:t>
            </a:r>
            <a:r>
              <a:rPr lang="zh-CN" altLang="zh-CN" sz="2000" dirty="0">
                <a:latin typeface="Times New Roman" panose="02020603050405020304" pitchFamily="18" charset="0"/>
                <a:ea typeface="宋体" panose="02010600030101010101" pitchFamily="2" charset="-122"/>
              </a:rPr>
              <a:t>符号名</a:t>
            </a:r>
            <a:r>
              <a:rPr lang="en-US" altLang="zh-CN" sz="2000" dirty="0">
                <a:latin typeface="Times New Roman" panose="02020603050405020304" pitchFamily="18" charset="0"/>
                <a:ea typeface="宋体" panose="02010600030101010101" pitchFamily="2" charset="-122"/>
              </a:rPr>
              <a:t>1</a:t>
            </a:r>
            <a:r>
              <a:rPr lang="zh-CN" altLang="zh-CN" sz="2000" dirty="0">
                <a:latin typeface="Times New Roman" panose="02020603050405020304" pitchFamily="18" charset="0"/>
                <a:ea typeface="宋体" panose="02010600030101010101" pitchFamily="2" charset="-122"/>
              </a:rPr>
              <a:t>：类型</a:t>
            </a:r>
            <a:r>
              <a:rPr lang="en-US" altLang="zh-CN" sz="2000" dirty="0">
                <a:latin typeface="Times New Roman" panose="02020603050405020304" pitchFamily="18" charset="0"/>
                <a:ea typeface="宋体" panose="02010600030101010101" pitchFamily="2" charset="-122"/>
              </a:rPr>
              <a:t> [</a:t>
            </a:r>
            <a:r>
              <a:rPr lang="zh-CN" altLang="zh-CN" sz="2000" dirty="0">
                <a:latin typeface="Times New Roman" panose="02020603050405020304" pitchFamily="18" charset="0"/>
                <a:ea typeface="宋体" panose="02010600030101010101" pitchFamily="2" charset="-122"/>
              </a:rPr>
              <a:t>符号名</a:t>
            </a:r>
            <a:r>
              <a:rPr lang="en-US" altLang="zh-CN" sz="2000" dirty="0">
                <a:latin typeface="Times New Roman" panose="02020603050405020304" pitchFamily="18" charset="0"/>
                <a:ea typeface="宋体" panose="02010600030101010101" pitchFamily="2" charset="-122"/>
              </a:rPr>
              <a:t>2</a:t>
            </a:r>
            <a:r>
              <a:rPr lang="zh-CN" altLang="zh-CN" sz="2000" dirty="0">
                <a:latin typeface="Times New Roman" panose="02020603050405020304" pitchFamily="18" charset="0"/>
                <a:ea typeface="宋体" panose="02010600030101010101" pitchFamily="2" charset="-122"/>
              </a:rPr>
              <a:t>：类型，…</a:t>
            </a:r>
            <a:r>
              <a:rPr lang="en-US" altLang="zh-CN" sz="2000" dirty="0">
                <a:latin typeface="Times New Roman" panose="02020603050405020304" pitchFamily="18" charset="0"/>
                <a:ea typeface="宋体" panose="02010600030101010101" pitchFamily="2" charset="-122"/>
              </a:rPr>
              <a:t>]</a:t>
            </a:r>
            <a:endParaRPr lang="zh-CN" altLang="zh-CN" sz="2000" dirty="0">
              <a:latin typeface="Times New Roman" panose="02020603050405020304" pitchFamily="18" charset="0"/>
              <a:ea typeface="宋体" panose="02010600030101010101" pitchFamily="2" charset="-122"/>
            </a:endParaRPr>
          </a:p>
          <a:p>
            <a:pPr algn="just"/>
            <a:r>
              <a:rPr lang="zh-CN" altLang="zh-CN" sz="2000" dirty="0">
                <a:latin typeface="Times New Roman" panose="02020603050405020304" pitchFamily="18" charset="0"/>
                <a:ea typeface="宋体" panose="02010600030101010101" pitchFamily="2" charset="-122"/>
              </a:rPr>
              <a:t>功能：指明本模块中引用了哪些外部的符号名及其类型。</a:t>
            </a:r>
          </a:p>
          <a:p>
            <a:pPr algn="just"/>
            <a:r>
              <a:rPr lang="zh-CN" altLang="zh-CN" sz="2000" dirty="0">
                <a:latin typeface="Times New Roman" panose="02020603050405020304" pitchFamily="18" charset="0"/>
                <a:ea typeface="宋体" panose="02010600030101010101" pitchFamily="2" charset="-122"/>
              </a:rPr>
              <a:t>说明：在定义符号时，必须给出其类型。类型可以是</a:t>
            </a:r>
            <a:r>
              <a:rPr lang="en-US" altLang="zh-CN" sz="2000" dirty="0">
                <a:latin typeface="Times New Roman" panose="02020603050405020304" pitchFamily="18" charset="0"/>
                <a:ea typeface="宋体" panose="02010600030101010101" pitchFamily="2" charset="-122"/>
              </a:rPr>
              <a:t>BYTE</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WORD</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DWORD</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NEAR</a:t>
            </a:r>
            <a:r>
              <a:rPr lang="zh-CN" altLang="zh-CN" sz="2000" dirty="0">
                <a:latin typeface="Times New Roman" panose="02020603050405020304" pitchFamily="18" charset="0"/>
                <a:ea typeface="宋体" panose="02010600030101010101" pitchFamily="2" charset="-122"/>
              </a:rPr>
              <a:t>和</a:t>
            </a:r>
            <a:r>
              <a:rPr lang="en-US" altLang="zh-CN" sz="2000" dirty="0">
                <a:latin typeface="Times New Roman" panose="02020603050405020304" pitchFamily="18" charset="0"/>
                <a:ea typeface="宋体" panose="02010600030101010101" pitchFamily="2" charset="-122"/>
              </a:rPr>
              <a:t>FAR</a:t>
            </a:r>
            <a:r>
              <a:rPr lang="zh-CN" altLang="zh-CN" sz="2000" dirty="0">
                <a:latin typeface="Times New Roman" panose="02020603050405020304" pitchFamily="18" charset="0"/>
                <a:ea typeface="宋体" panose="02010600030101010101" pitchFamily="2" charset="-122"/>
              </a:rPr>
              <a:t>等。其类型必须与其他模块定义该符号时的类型保持一致。</a:t>
            </a:r>
          </a:p>
          <a:p>
            <a:pPr algn="just"/>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2</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PUBLIC</a:t>
            </a:r>
            <a:r>
              <a:rPr lang="zh-CN" altLang="zh-CN" sz="2000" dirty="0">
                <a:latin typeface="Times New Roman" panose="02020603050405020304" pitchFamily="18" charset="0"/>
                <a:ea typeface="宋体" panose="02010600030101010101" pitchFamily="2" charset="-122"/>
              </a:rPr>
              <a:t>。</a:t>
            </a:r>
          </a:p>
          <a:p>
            <a:pPr algn="just"/>
            <a:r>
              <a:rPr lang="zh-CN" altLang="zh-CN" sz="2000" dirty="0">
                <a:latin typeface="Times New Roman" panose="02020603050405020304" pitchFamily="18" charset="0"/>
                <a:ea typeface="宋体" panose="02010600030101010101" pitchFamily="2" charset="-122"/>
              </a:rPr>
              <a:t>格式：</a:t>
            </a:r>
            <a:r>
              <a:rPr lang="en-US" altLang="zh-CN" sz="2000" dirty="0">
                <a:latin typeface="Times New Roman" panose="02020603050405020304" pitchFamily="18" charset="0"/>
                <a:ea typeface="宋体" panose="02010600030101010101" pitchFamily="2" charset="-122"/>
              </a:rPr>
              <a:t>PUBLIC  </a:t>
            </a:r>
            <a:r>
              <a:rPr lang="zh-CN" altLang="zh-CN" sz="2000" dirty="0">
                <a:latin typeface="Times New Roman" panose="02020603050405020304" pitchFamily="18" charset="0"/>
                <a:ea typeface="宋体" panose="02010600030101010101" pitchFamily="2" charset="-122"/>
              </a:rPr>
              <a:t>符号名</a:t>
            </a:r>
            <a:r>
              <a:rPr lang="en-US" altLang="zh-CN" sz="2000" dirty="0">
                <a:latin typeface="Times New Roman" panose="02020603050405020304" pitchFamily="18" charset="0"/>
                <a:ea typeface="宋体" panose="02010600030101010101" pitchFamily="2" charset="-122"/>
              </a:rPr>
              <a:t>1 [</a:t>
            </a:r>
            <a:r>
              <a:rPr lang="zh-CN" altLang="zh-CN" sz="2000" dirty="0">
                <a:latin typeface="Times New Roman" panose="02020603050405020304" pitchFamily="18" charset="0"/>
                <a:ea typeface="宋体" panose="02010600030101010101" pitchFamily="2" charset="-122"/>
              </a:rPr>
              <a:t>符号名</a:t>
            </a:r>
            <a:r>
              <a:rPr lang="en-US" altLang="zh-CN" sz="2000" dirty="0">
                <a:latin typeface="Times New Roman" panose="02020603050405020304" pitchFamily="18" charset="0"/>
                <a:ea typeface="宋体" panose="02010600030101010101" pitchFamily="2" charset="-122"/>
              </a:rPr>
              <a:t>2</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a:t>
            </a:r>
            <a:endParaRPr lang="zh-CN" altLang="zh-CN" sz="2000" dirty="0">
              <a:latin typeface="Times New Roman" panose="02020603050405020304" pitchFamily="18" charset="0"/>
              <a:ea typeface="宋体" panose="02010600030101010101" pitchFamily="2" charset="-122"/>
            </a:endParaRPr>
          </a:p>
          <a:p>
            <a:pPr algn="just"/>
            <a:r>
              <a:rPr lang="zh-CN" altLang="zh-CN" sz="2000" dirty="0">
                <a:latin typeface="Times New Roman" panose="02020603050405020304" pitchFamily="18" charset="0"/>
                <a:ea typeface="宋体" panose="02010600030101010101" pitchFamily="2" charset="-122"/>
              </a:rPr>
              <a:t>功能：指明本模块中所定义的变量、标号和符号常量可以被其他模块所引用。</a:t>
            </a:r>
          </a:p>
          <a:p>
            <a:pPr algn="just"/>
            <a:r>
              <a:rPr lang="zh-CN" altLang="zh-CN" sz="2000" dirty="0">
                <a:latin typeface="Times New Roman" panose="02020603050405020304" pitchFamily="18" charset="0"/>
                <a:ea typeface="宋体" panose="02010600030101010101" pitchFamily="2" charset="-122"/>
              </a:rPr>
              <a:t>说明：符号名是本模块中所定义的变量、标号和符号常量。</a:t>
            </a:r>
          </a:p>
        </p:txBody>
      </p:sp>
    </p:spTree>
  </p:cSld>
  <p:clrMapOvr>
    <a:masterClrMapping/>
  </p:clrMapOvr>
  <p:transition spd="med">
    <p:random/>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1CB4DC0E-2960-470A-A4DA-38FFBBE3381F}"/>
              </a:ext>
            </a:extLst>
          </p:cNvPr>
          <p:cNvSpPr>
            <a:spLocks noGrp="1"/>
          </p:cNvSpPr>
          <p:nvPr>
            <p:ph type="sldNum" sz="quarter" idx="12"/>
          </p:nvPr>
        </p:nvSpPr>
        <p:spPr/>
        <p:txBody>
          <a:bodyPr/>
          <a:lstStyle/>
          <a:p>
            <a:fld id="{72CAADC8-4416-4E25-9CB0-7867225688A8}" type="slidenum">
              <a:rPr lang="en-US" altLang="zh-CN"/>
              <a:pPr/>
              <a:t>30</a:t>
            </a:fld>
            <a:endParaRPr lang="en-US" altLang="zh-CN"/>
          </a:p>
        </p:txBody>
      </p:sp>
      <p:sp>
        <p:nvSpPr>
          <p:cNvPr id="231426" name="Rectangle 2">
            <a:extLst>
              <a:ext uri="{FF2B5EF4-FFF2-40B4-BE49-F238E27FC236}">
                <a16:creationId xmlns:a16="http://schemas.microsoft.com/office/drawing/2014/main" id="{82676037-C0B2-4082-86AE-BA930781276F}"/>
              </a:ext>
            </a:extLst>
          </p:cNvPr>
          <p:cNvSpPr>
            <a:spLocks noGrp="1" noChangeArrowheads="1"/>
          </p:cNvSpPr>
          <p:nvPr>
            <p:ph type="title"/>
          </p:nvPr>
        </p:nvSpPr>
        <p:spPr>
          <a:xfrm>
            <a:off x="457200" y="0"/>
            <a:ext cx="8229600" cy="1143000"/>
          </a:xfrm>
        </p:spPr>
        <p:txBody>
          <a:bodyPr/>
          <a:lstStyle/>
          <a:p>
            <a:pPr algn="l"/>
            <a:r>
              <a:rPr lang="en-US" altLang="zh-CN" dirty="0">
                <a:ea typeface="黑体" panose="02010609060101010101" pitchFamily="49" charset="-122"/>
              </a:rPr>
              <a:t>4.3  DOS</a:t>
            </a:r>
            <a:r>
              <a:rPr lang="zh-CN" altLang="en-US" dirty="0">
                <a:ea typeface="黑体" panose="02010609060101010101" pitchFamily="49" charset="-122"/>
              </a:rPr>
              <a:t>系统功能调用</a:t>
            </a:r>
          </a:p>
        </p:txBody>
      </p:sp>
      <p:sp>
        <p:nvSpPr>
          <p:cNvPr id="231428" name="Rectangle 4">
            <a:extLst>
              <a:ext uri="{FF2B5EF4-FFF2-40B4-BE49-F238E27FC236}">
                <a16:creationId xmlns:a16="http://schemas.microsoft.com/office/drawing/2014/main" id="{33166AA4-8CDB-4914-8C05-DC41688D7F64}"/>
              </a:ext>
            </a:extLst>
          </p:cNvPr>
          <p:cNvSpPr>
            <a:spLocks noGrp="1" noChangeArrowheads="1"/>
          </p:cNvSpPr>
          <p:nvPr>
            <p:ph type="body" idx="1"/>
          </p:nvPr>
        </p:nvSpPr>
        <p:spPr>
          <a:xfrm>
            <a:off x="457200" y="990600"/>
            <a:ext cx="8229600" cy="5638800"/>
          </a:xfrm>
        </p:spPr>
        <p:txBody>
          <a:bodyPr/>
          <a:lstStyle/>
          <a:p>
            <a:pPr>
              <a:buFontTx/>
              <a:buNone/>
            </a:pPr>
            <a:r>
              <a:rPr kumimoji="1" lang="en-US" altLang="zh-CN" sz="2800" b="1">
                <a:solidFill>
                  <a:srgbClr val="FF0000"/>
                </a:solidFill>
              </a:rPr>
              <a:t>BIOS:</a:t>
            </a:r>
          </a:p>
          <a:p>
            <a:pPr>
              <a:buFontTx/>
              <a:buNone/>
            </a:pPr>
            <a:r>
              <a:rPr kumimoji="1" lang="en-US" altLang="zh-CN" sz="2800" b="1"/>
              <a:t>        </a:t>
            </a:r>
            <a:r>
              <a:rPr kumimoji="1" lang="zh-CN" altLang="en-US" sz="2800" b="1"/>
              <a:t>在存储器系统中，从地址</a:t>
            </a:r>
            <a:r>
              <a:rPr kumimoji="1" lang="en-US" altLang="zh-CN" sz="2800" b="1"/>
              <a:t>0FE00H</a:t>
            </a:r>
            <a:r>
              <a:rPr kumimoji="1" lang="zh-CN" altLang="en-US" sz="2800" b="1"/>
              <a:t>开始的</a:t>
            </a:r>
            <a:r>
              <a:rPr kumimoji="1" lang="en-US" altLang="zh-CN" sz="2800" b="1"/>
              <a:t>8KBROM</a:t>
            </a:r>
            <a:r>
              <a:rPr kumimoji="1" lang="zh-CN" altLang="en-US" sz="2800" b="1"/>
              <a:t>（只读存储器）中装有基本输入输出系统（</a:t>
            </a:r>
            <a:r>
              <a:rPr kumimoji="1" lang="en-US" altLang="zh-CN" sz="2800" b="1"/>
              <a:t>basic  input/output  system,BIOS)</a:t>
            </a:r>
            <a:r>
              <a:rPr kumimoji="1" lang="zh-CN" altLang="en-US" sz="2800" b="1"/>
              <a:t>例行程序。驻留在</a:t>
            </a:r>
            <a:r>
              <a:rPr kumimoji="1" lang="en-US" altLang="zh-CN" sz="2800" b="1"/>
              <a:t>ROM</a:t>
            </a:r>
            <a:r>
              <a:rPr kumimoji="1" lang="zh-CN" altLang="en-US" sz="2800" b="1"/>
              <a:t>中的</a:t>
            </a:r>
            <a:r>
              <a:rPr kumimoji="1" lang="en-US" altLang="zh-CN" sz="2800" b="1"/>
              <a:t>BIOS</a:t>
            </a:r>
            <a:r>
              <a:rPr kumimoji="1" lang="zh-CN" altLang="en-US" sz="2800" b="1"/>
              <a:t>给</a:t>
            </a:r>
            <a:r>
              <a:rPr kumimoji="1" lang="en-US" altLang="zh-CN" sz="2800" b="1"/>
              <a:t>PC</a:t>
            </a:r>
            <a:r>
              <a:rPr kumimoji="1" lang="zh-CN" altLang="en-US" sz="2800" b="1"/>
              <a:t>系列的不同微处理器提供了兼容的系统加电自检、引导装入、主要</a:t>
            </a:r>
            <a:r>
              <a:rPr kumimoji="1" lang="en-US" altLang="zh-CN" sz="2800" b="1"/>
              <a:t>I/O</a:t>
            </a:r>
            <a:r>
              <a:rPr kumimoji="1" lang="zh-CN" altLang="en-US" sz="2800" b="1"/>
              <a:t>设备的处理程序以及接口控制等功能模块来处理所有的系统中断。</a:t>
            </a:r>
          </a:p>
          <a:p>
            <a:pPr>
              <a:buFontTx/>
              <a:buNone/>
            </a:pPr>
            <a:endParaRPr kumimoji="1" lang="zh-CN" altLang="en-US" sz="2800" b="1"/>
          </a:p>
          <a:p>
            <a:pPr>
              <a:buFontTx/>
              <a:buNone/>
            </a:pPr>
            <a:r>
              <a:rPr kumimoji="1" lang="zh-CN" altLang="en-US" sz="2800" b="1"/>
              <a:t>      利用</a:t>
            </a:r>
            <a:r>
              <a:rPr kumimoji="1" lang="en-US" altLang="zh-CN" sz="2800" b="1"/>
              <a:t>BIOS</a:t>
            </a:r>
            <a:r>
              <a:rPr kumimoji="1" lang="zh-CN" altLang="en-US" sz="2800" b="1"/>
              <a:t>功能编写的程序简洁，可读性好，而且易于移植</a:t>
            </a:r>
          </a:p>
          <a:p>
            <a:endParaRPr lang="en-US" altLang="zh-CN" sz="2800"/>
          </a:p>
        </p:txBody>
      </p:sp>
    </p:spTree>
  </p:cSld>
  <p:clrMapOvr>
    <a:masterClrMapping/>
  </p:clrMapOvr>
  <p:transition spd="med">
    <p:random/>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62CB72-62EA-4C67-A758-25726E1214DE}"/>
              </a:ext>
            </a:extLst>
          </p:cNvPr>
          <p:cNvSpPr>
            <a:spLocks noGrp="1"/>
          </p:cNvSpPr>
          <p:nvPr>
            <p:ph type="sldNum" sz="quarter" idx="12"/>
          </p:nvPr>
        </p:nvSpPr>
        <p:spPr/>
        <p:txBody>
          <a:bodyPr/>
          <a:lstStyle/>
          <a:p>
            <a:fld id="{BE0B811D-6BBB-4053-BB7B-6420B76C223D}" type="slidenum">
              <a:rPr lang="en-US" altLang="zh-CN"/>
              <a:pPr/>
              <a:t>31</a:t>
            </a:fld>
            <a:endParaRPr lang="en-US" altLang="zh-CN"/>
          </a:p>
        </p:txBody>
      </p:sp>
      <p:sp>
        <p:nvSpPr>
          <p:cNvPr id="314370" name="Text Box 2">
            <a:extLst>
              <a:ext uri="{FF2B5EF4-FFF2-40B4-BE49-F238E27FC236}">
                <a16:creationId xmlns:a16="http://schemas.microsoft.com/office/drawing/2014/main" id="{6F4B3B3E-FE28-42AD-AE81-8E2FAEBD8E17}"/>
              </a:ext>
            </a:extLst>
          </p:cNvPr>
          <p:cNvSpPr txBox="1">
            <a:spLocks noChangeArrowheads="1"/>
          </p:cNvSpPr>
          <p:nvPr/>
        </p:nvSpPr>
        <p:spPr bwMode="auto">
          <a:xfrm>
            <a:off x="0" y="304800"/>
            <a:ext cx="9144000" cy="3841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800" b="1" dirty="0">
                <a:solidFill>
                  <a:srgbClr val="FF0000"/>
                </a:solidFill>
                <a:latin typeface="Times New Roman" panose="02020603050405020304" pitchFamily="18" charset="0"/>
              </a:rPr>
              <a:t>DOS</a:t>
            </a:r>
            <a:r>
              <a:rPr kumimoji="1" lang="zh-CN" altLang="en-US" sz="2800" b="1" dirty="0">
                <a:solidFill>
                  <a:srgbClr val="FF0000"/>
                </a:solidFill>
                <a:latin typeface="Times New Roman" panose="02020603050405020304" pitchFamily="18" charset="0"/>
              </a:rPr>
              <a:t>（</a:t>
            </a:r>
            <a:r>
              <a:rPr kumimoji="1" lang="en-US" altLang="zh-CN" sz="2800" b="1" dirty="0">
                <a:solidFill>
                  <a:srgbClr val="FF0000"/>
                </a:solidFill>
                <a:latin typeface="Times New Roman" panose="02020603050405020304" pitchFamily="18" charset="0"/>
              </a:rPr>
              <a:t>disk  operating system):</a:t>
            </a:r>
          </a:p>
          <a:p>
            <a:pPr>
              <a:spcBef>
                <a:spcPct val="50000"/>
              </a:spcBef>
            </a:pPr>
            <a:r>
              <a:rPr kumimoji="1" lang="en-US" altLang="zh-CN" sz="2800" b="1" dirty="0">
                <a:latin typeface="Times New Roman" panose="02020603050405020304" pitchFamily="18" charset="0"/>
              </a:rPr>
              <a:t>        </a:t>
            </a:r>
            <a:r>
              <a:rPr kumimoji="1" lang="zh-CN" altLang="en-US" sz="2800" b="1" dirty="0">
                <a:latin typeface="Times New Roman" panose="02020603050405020304" pitchFamily="18" charset="0"/>
              </a:rPr>
              <a:t>是</a:t>
            </a:r>
            <a:r>
              <a:rPr kumimoji="1" lang="en-US" altLang="zh-CN" sz="2800" b="1" dirty="0">
                <a:latin typeface="Times New Roman" panose="02020603050405020304" pitchFamily="18" charset="0"/>
              </a:rPr>
              <a:t>PC</a:t>
            </a:r>
            <a:r>
              <a:rPr kumimoji="1" lang="zh-CN" altLang="en-US" sz="2800" b="1" dirty="0">
                <a:latin typeface="Times New Roman" panose="02020603050405020304" pitchFamily="18" charset="0"/>
              </a:rPr>
              <a:t>机上最重要的操作系统，它是由软盘或硬盘提供的。它的两个</a:t>
            </a:r>
            <a:r>
              <a:rPr kumimoji="1" lang="en-US" altLang="zh-CN" sz="2800" b="1" dirty="0">
                <a:latin typeface="Times New Roman" panose="02020603050405020304" pitchFamily="18" charset="0"/>
              </a:rPr>
              <a:t>DOS</a:t>
            </a:r>
            <a:r>
              <a:rPr kumimoji="1" lang="zh-CN" altLang="en-US" sz="2800" b="1" dirty="0">
                <a:latin typeface="Times New Roman" panose="02020603050405020304" pitchFamily="18" charset="0"/>
              </a:rPr>
              <a:t>模块</a:t>
            </a:r>
            <a:r>
              <a:rPr kumimoji="1" lang="en-US" altLang="zh-CN" sz="2800" b="1" dirty="0">
                <a:latin typeface="Times New Roman" panose="02020603050405020304" pitchFamily="18" charset="0"/>
              </a:rPr>
              <a:t>IBMBIO.COM</a:t>
            </a:r>
            <a:r>
              <a:rPr kumimoji="1" lang="zh-CN" altLang="en-US" sz="2800" b="1" dirty="0">
                <a:latin typeface="Times New Roman" panose="02020603050405020304" pitchFamily="18" charset="0"/>
              </a:rPr>
              <a:t>和</a:t>
            </a:r>
            <a:r>
              <a:rPr kumimoji="1" lang="en-US" altLang="zh-CN" sz="2800" b="1" dirty="0">
                <a:latin typeface="Times New Roman" panose="02020603050405020304" pitchFamily="18" charset="0"/>
              </a:rPr>
              <a:t>IBMDOS.COM</a:t>
            </a:r>
            <a:r>
              <a:rPr kumimoji="1" lang="zh-CN" altLang="en-US" sz="2800" b="1" dirty="0">
                <a:latin typeface="Times New Roman" panose="02020603050405020304" pitchFamily="18" charset="0"/>
              </a:rPr>
              <a:t>使</a:t>
            </a:r>
            <a:r>
              <a:rPr kumimoji="1" lang="en-US" altLang="zh-CN" sz="2800" b="1" dirty="0">
                <a:latin typeface="Times New Roman" panose="02020603050405020304" pitchFamily="18" charset="0"/>
              </a:rPr>
              <a:t>BIOS</a:t>
            </a:r>
            <a:r>
              <a:rPr kumimoji="1" lang="zh-CN" altLang="en-US" sz="2800" b="1" dirty="0">
                <a:latin typeface="Times New Roman" panose="02020603050405020304" pitchFamily="18" charset="0"/>
              </a:rPr>
              <a:t>用起来更方便。</a:t>
            </a:r>
          </a:p>
          <a:p>
            <a:pPr>
              <a:spcBef>
                <a:spcPct val="50000"/>
              </a:spcBef>
            </a:pPr>
            <a:r>
              <a:rPr kumimoji="1" lang="zh-CN" altLang="en-US" sz="2800" b="1" dirty="0">
                <a:latin typeface="Times New Roman" panose="02020603050405020304" pitchFamily="18" charset="0"/>
              </a:rPr>
              <a:t>   该模块提供了更多更必要的测试，使</a:t>
            </a:r>
            <a:r>
              <a:rPr kumimoji="1" lang="en-US" altLang="zh-CN" sz="2800" b="1" dirty="0">
                <a:latin typeface="Times New Roman" panose="02020603050405020304" pitchFamily="18" charset="0"/>
              </a:rPr>
              <a:t>DOS</a:t>
            </a:r>
            <a:r>
              <a:rPr kumimoji="1" lang="zh-CN" altLang="en-US" sz="2800" b="1" dirty="0">
                <a:latin typeface="Times New Roman" panose="02020603050405020304" pitchFamily="18" charset="0"/>
              </a:rPr>
              <a:t>操作比使用相应功能的</a:t>
            </a:r>
            <a:r>
              <a:rPr kumimoji="1" lang="en-US" altLang="zh-CN" sz="2800" b="1" dirty="0">
                <a:latin typeface="Times New Roman" panose="02020603050405020304" pitchFamily="18" charset="0"/>
              </a:rPr>
              <a:t>BIOS</a:t>
            </a:r>
            <a:r>
              <a:rPr kumimoji="1" lang="zh-CN" altLang="en-US" sz="2800" b="1" dirty="0">
                <a:latin typeface="Times New Roman" panose="02020603050405020304" pitchFamily="18" charset="0"/>
              </a:rPr>
              <a:t>操作更简易，而且</a:t>
            </a:r>
            <a:r>
              <a:rPr kumimoji="1" lang="en-US" altLang="zh-CN" sz="2800" b="1" dirty="0">
                <a:latin typeface="Times New Roman" panose="02020603050405020304" pitchFamily="18" charset="0"/>
              </a:rPr>
              <a:t>DOS</a:t>
            </a:r>
            <a:r>
              <a:rPr kumimoji="1" lang="zh-CN" altLang="en-US" sz="2800" b="1" dirty="0">
                <a:latin typeface="Times New Roman" panose="02020603050405020304" pitchFamily="18" charset="0"/>
              </a:rPr>
              <a:t>对硬件的依赖性更少些。</a:t>
            </a:r>
          </a:p>
          <a:p>
            <a:pPr>
              <a:spcBef>
                <a:spcPct val="50000"/>
              </a:spcBef>
            </a:pPr>
            <a:endParaRPr kumimoji="1" lang="en-US" altLang="zh-CN" sz="2800" b="1" dirty="0">
              <a:latin typeface="Times New Roman" panose="02020603050405020304" pitchFamily="18" charset="0"/>
            </a:endParaRPr>
          </a:p>
        </p:txBody>
      </p:sp>
      <p:sp>
        <p:nvSpPr>
          <p:cNvPr id="314371" name="Text Box 3">
            <a:extLst>
              <a:ext uri="{FF2B5EF4-FFF2-40B4-BE49-F238E27FC236}">
                <a16:creationId xmlns:a16="http://schemas.microsoft.com/office/drawing/2014/main" id="{CAFFD693-2C2F-4829-AA75-93BF6AF275A8}"/>
              </a:ext>
            </a:extLst>
          </p:cNvPr>
          <p:cNvSpPr txBox="1">
            <a:spLocks noChangeArrowheads="1"/>
          </p:cNvSpPr>
          <p:nvPr/>
        </p:nvSpPr>
        <p:spPr bwMode="auto">
          <a:xfrm>
            <a:off x="0" y="4327525"/>
            <a:ext cx="8915400" cy="1255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20000"/>
              </a:spcBef>
              <a:buClr>
                <a:schemeClr val="accent2"/>
              </a:buClr>
              <a:buSzPct val="90000"/>
              <a:buFont typeface="Wingdings" panose="05000000000000000000" pitchFamily="2" charset="2"/>
              <a:buChar char="Ø"/>
            </a:pPr>
            <a:r>
              <a:rPr kumimoji="1" lang="zh-CN" altLang="en-US" sz="2800" b="1" dirty="0">
                <a:solidFill>
                  <a:srgbClr val="FF0000"/>
                </a:solidFill>
                <a:latin typeface="宋体" panose="02010600030101010101" pitchFamily="2" charset="-122"/>
              </a:rPr>
              <a:t>在一些情况下，即能使用</a:t>
            </a:r>
            <a:r>
              <a:rPr kumimoji="1" lang="en-US" altLang="zh-CN" sz="2800" b="1" dirty="0">
                <a:solidFill>
                  <a:srgbClr val="FF0000"/>
                </a:solidFill>
                <a:latin typeface="宋体" panose="02010600030101010101" pitchFamily="2" charset="-122"/>
              </a:rPr>
              <a:t>DOS</a:t>
            </a:r>
            <a:r>
              <a:rPr kumimoji="1" lang="zh-CN" altLang="en-US" sz="2800" b="1" dirty="0">
                <a:solidFill>
                  <a:srgbClr val="FF0000"/>
                </a:solidFill>
                <a:latin typeface="宋体" panose="02010600030101010101" pitchFamily="2" charset="-122"/>
              </a:rPr>
              <a:t>中断也能使用</a:t>
            </a:r>
            <a:r>
              <a:rPr kumimoji="1" lang="en-US" altLang="zh-CN" sz="2800" b="1" dirty="0">
                <a:solidFill>
                  <a:srgbClr val="FF0000"/>
                </a:solidFill>
                <a:latin typeface="宋体" panose="02010600030101010101" pitchFamily="2" charset="-122"/>
              </a:rPr>
              <a:t>BIOS</a:t>
            </a:r>
            <a:r>
              <a:rPr kumimoji="1" lang="zh-CN" altLang="en-US" sz="2800" b="1" dirty="0">
                <a:solidFill>
                  <a:srgbClr val="FF0000"/>
                </a:solidFill>
                <a:latin typeface="宋体" panose="02010600030101010101" pitchFamily="2" charset="-122"/>
              </a:rPr>
              <a:t>中断来执行同样的功能。由于</a:t>
            </a:r>
            <a:r>
              <a:rPr kumimoji="1" lang="en-US" altLang="zh-CN" sz="2800" b="1" dirty="0">
                <a:solidFill>
                  <a:srgbClr val="FF0000"/>
                </a:solidFill>
                <a:latin typeface="宋体" panose="02010600030101010101" pitchFamily="2" charset="-122"/>
              </a:rPr>
              <a:t>BIOS</a:t>
            </a:r>
            <a:r>
              <a:rPr kumimoji="1" lang="zh-CN" altLang="en-US" sz="2800" b="1" dirty="0">
                <a:solidFill>
                  <a:srgbClr val="FF0000"/>
                </a:solidFill>
                <a:latin typeface="宋体" panose="02010600030101010101" pitchFamily="2" charset="-122"/>
              </a:rPr>
              <a:t>更靠近硬件，建议尽可能使用</a:t>
            </a:r>
            <a:r>
              <a:rPr kumimoji="1" lang="en-US" altLang="zh-CN" sz="2800" b="1" dirty="0">
                <a:solidFill>
                  <a:srgbClr val="FF0000"/>
                </a:solidFill>
                <a:latin typeface="宋体" panose="02010600030101010101" pitchFamily="2" charset="-122"/>
              </a:rPr>
              <a:t>DOS</a:t>
            </a:r>
            <a:r>
              <a:rPr kumimoji="1" lang="zh-CN" altLang="en-US" sz="2800" b="1" dirty="0">
                <a:solidFill>
                  <a:srgbClr val="FF0000"/>
                </a:solidFill>
                <a:latin typeface="宋体" panose="02010600030101010101" pitchFamily="2" charset="-122"/>
              </a:rPr>
              <a:t>中断，但在少数情况必须使用</a:t>
            </a:r>
            <a:r>
              <a:rPr kumimoji="1" lang="en-US" altLang="zh-CN" sz="2800" b="1" dirty="0">
                <a:solidFill>
                  <a:srgbClr val="FF0000"/>
                </a:solidFill>
                <a:latin typeface="宋体" panose="02010600030101010101" pitchFamily="2" charset="-122"/>
              </a:rPr>
              <a:t>BIOS</a:t>
            </a:r>
            <a:r>
              <a:rPr kumimoji="1" lang="zh-CN" altLang="en-US" sz="2800" b="1" dirty="0">
                <a:solidFill>
                  <a:srgbClr val="FF0000"/>
                </a:solidFill>
                <a:latin typeface="宋体" panose="02010600030101010101" pitchFamily="2" charset="-122"/>
              </a:rPr>
              <a:t>功能。</a:t>
            </a:r>
            <a:endParaRPr kumimoji="1" lang="zh-CN" altLang="en-US" sz="2800" b="1" dirty="0">
              <a:solidFill>
                <a:srgbClr val="FF0000"/>
              </a:solidFill>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4370"/>
                                        </p:tgtEl>
                                        <p:attrNameLst>
                                          <p:attrName>style.visibility</p:attrName>
                                        </p:attrNameLst>
                                      </p:cBhvr>
                                      <p:to>
                                        <p:strVal val="visible"/>
                                      </p:to>
                                    </p:set>
                                    <p:anim calcmode="lin" valueType="num">
                                      <p:cBhvr additive="base">
                                        <p:cTn id="7" dur="500" fill="hold"/>
                                        <p:tgtEl>
                                          <p:spTgt spid="314370"/>
                                        </p:tgtEl>
                                        <p:attrNameLst>
                                          <p:attrName>ppt_x</p:attrName>
                                        </p:attrNameLst>
                                      </p:cBhvr>
                                      <p:tavLst>
                                        <p:tav tm="0">
                                          <p:val>
                                            <p:strVal val="0-#ppt_w/2"/>
                                          </p:val>
                                        </p:tav>
                                        <p:tav tm="100000">
                                          <p:val>
                                            <p:strVal val="#ppt_x"/>
                                          </p:val>
                                        </p:tav>
                                      </p:tavLst>
                                    </p:anim>
                                    <p:anim calcmode="lin" valueType="num">
                                      <p:cBhvr additive="base">
                                        <p:cTn id="8" dur="500" fill="hold"/>
                                        <p:tgtEl>
                                          <p:spTgt spid="31437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14371"/>
                                        </p:tgtEl>
                                        <p:attrNameLst>
                                          <p:attrName>style.visibility</p:attrName>
                                        </p:attrNameLst>
                                      </p:cBhvr>
                                      <p:to>
                                        <p:strVal val="visible"/>
                                      </p:to>
                                    </p:set>
                                    <p:anim calcmode="lin" valueType="num">
                                      <p:cBhvr additive="base">
                                        <p:cTn id="13" dur="500" fill="hold"/>
                                        <p:tgtEl>
                                          <p:spTgt spid="314371"/>
                                        </p:tgtEl>
                                        <p:attrNameLst>
                                          <p:attrName>ppt_x</p:attrName>
                                        </p:attrNameLst>
                                      </p:cBhvr>
                                      <p:tavLst>
                                        <p:tav tm="0">
                                          <p:val>
                                            <p:strVal val="0-#ppt_w/2"/>
                                          </p:val>
                                        </p:tav>
                                        <p:tav tm="100000">
                                          <p:val>
                                            <p:strVal val="#ppt_x"/>
                                          </p:val>
                                        </p:tav>
                                      </p:tavLst>
                                    </p:anim>
                                    <p:anim calcmode="lin" valueType="num">
                                      <p:cBhvr additive="base">
                                        <p:cTn id="14" dur="500" fill="hold"/>
                                        <p:tgtEl>
                                          <p:spTgt spid="3143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0" grpId="0" autoUpdateAnimBg="0"/>
      <p:bldP spid="314371"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Slide Number Placeholder 3">
            <a:extLst>
              <a:ext uri="{FF2B5EF4-FFF2-40B4-BE49-F238E27FC236}">
                <a16:creationId xmlns:a16="http://schemas.microsoft.com/office/drawing/2014/main" id="{E7E4F676-61D5-4C93-8158-7FBBD1834CF2}"/>
              </a:ext>
            </a:extLst>
          </p:cNvPr>
          <p:cNvSpPr>
            <a:spLocks noGrp="1"/>
          </p:cNvSpPr>
          <p:nvPr>
            <p:ph type="sldNum" sz="quarter" idx="12"/>
          </p:nvPr>
        </p:nvSpPr>
        <p:spPr/>
        <p:txBody>
          <a:bodyPr/>
          <a:lstStyle/>
          <a:p>
            <a:fld id="{3AA8F12D-0CDA-48AE-86A9-76B606AC08DA}" type="slidenum">
              <a:rPr lang="en-US" altLang="zh-CN"/>
              <a:pPr/>
              <a:t>32</a:t>
            </a:fld>
            <a:endParaRPr lang="en-US" altLang="zh-CN"/>
          </a:p>
        </p:txBody>
      </p:sp>
      <p:sp>
        <p:nvSpPr>
          <p:cNvPr id="315394" name="Rectangle 2">
            <a:extLst>
              <a:ext uri="{FF2B5EF4-FFF2-40B4-BE49-F238E27FC236}">
                <a16:creationId xmlns:a16="http://schemas.microsoft.com/office/drawing/2014/main" id="{C4986B34-D627-44EB-94D8-4FB985E3FA20}"/>
              </a:ext>
            </a:extLst>
          </p:cNvPr>
          <p:cNvSpPr>
            <a:spLocks noChangeArrowheads="1"/>
          </p:cNvSpPr>
          <p:nvPr/>
        </p:nvSpPr>
        <p:spPr bwMode="auto">
          <a:xfrm>
            <a:off x="0" y="1371600"/>
            <a:ext cx="1676400" cy="838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65000"/>
              </a:lnSpc>
              <a:spcBef>
                <a:spcPct val="50000"/>
              </a:spcBef>
            </a:pPr>
            <a:r>
              <a:rPr kumimoji="1" lang="zh-CN" altLang="en-US" b="1">
                <a:latin typeface="Times New Roman" panose="02020603050405020304" pitchFamily="18" charset="0"/>
              </a:rPr>
              <a:t>对</a:t>
            </a:r>
            <a:r>
              <a:rPr kumimoji="1" lang="en-US" altLang="zh-CN" b="1">
                <a:latin typeface="Times New Roman" panose="02020603050405020304" pitchFamily="18" charset="0"/>
              </a:rPr>
              <a:t>I/O</a:t>
            </a:r>
            <a:r>
              <a:rPr kumimoji="1" lang="zh-CN" altLang="en-US" b="1">
                <a:latin typeface="Times New Roman" panose="02020603050405020304" pitchFamily="18" charset="0"/>
              </a:rPr>
              <a:t>的</a:t>
            </a:r>
          </a:p>
          <a:p>
            <a:pPr algn="ctr">
              <a:lnSpc>
                <a:spcPct val="65000"/>
              </a:lnSpc>
              <a:spcBef>
                <a:spcPct val="50000"/>
              </a:spcBef>
            </a:pPr>
            <a:r>
              <a:rPr kumimoji="1" lang="zh-CN" altLang="en-US" b="1">
                <a:latin typeface="Times New Roman" panose="02020603050405020304" pitchFamily="18" charset="0"/>
              </a:rPr>
              <a:t>程序请求</a:t>
            </a:r>
          </a:p>
        </p:txBody>
      </p:sp>
      <p:sp>
        <p:nvSpPr>
          <p:cNvPr id="315395" name="Rectangle 3">
            <a:extLst>
              <a:ext uri="{FF2B5EF4-FFF2-40B4-BE49-F238E27FC236}">
                <a16:creationId xmlns:a16="http://schemas.microsoft.com/office/drawing/2014/main" id="{9D4E24D4-BB3A-4D13-9366-CF657E528548}"/>
              </a:ext>
            </a:extLst>
          </p:cNvPr>
          <p:cNvSpPr>
            <a:spLocks noChangeArrowheads="1"/>
          </p:cNvSpPr>
          <p:nvPr/>
        </p:nvSpPr>
        <p:spPr bwMode="auto">
          <a:xfrm>
            <a:off x="2133600" y="1371600"/>
            <a:ext cx="1676400" cy="838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pPr>
            <a:r>
              <a:rPr kumimoji="1" lang="en-US" altLang="zh-CN" b="1">
                <a:latin typeface="Times New Roman" panose="02020603050405020304" pitchFamily="18" charset="0"/>
              </a:rPr>
              <a:t>DOS</a:t>
            </a:r>
          </a:p>
          <a:p>
            <a:pPr algn="ctr">
              <a:spcBef>
                <a:spcPct val="50000"/>
              </a:spcBef>
            </a:pPr>
            <a:r>
              <a:rPr kumimoji="1" lang="en-US" altLang="zh-CN" sz="2000" b="1">
                <a:latin typeface="Times New Roman" panose="02020603050405020304" pitchFamily="18" charset="0"/>
              </a:rPr>
              <a:t>IBMDOS.COM</a:t>
            </a:r>
          </a:p>
        </p:txBody>
      </p:sp>
      <p:sp>
        <p:nvSpPr>
          <p:cNvPr id="315396" name="Rectangle 4">
            <a:extLst>
              <a:ext uri="{FF2B5EF4-FFF2-40B4-BE49-F238E27FC236}">
                <a16:creationId xmlns:a16="http://schemas.microsoft.com/office/drawing/2014/main" id="{2C4FEFB2-C649-45AB-9E49-165D83F48F1C}"/>
              </a:ext>
            </a:extLst>
          </p:cNvPr>
          <p:cNvSpPr>
            <a:spLocks noChangeArrowheads="1"/>
          </p:cNvSpPr>
          <p:nvPr/>
        </p:nvSpPr>
        <p:spPr bwMode="auto">
          <a:xfrm>
            <a:off x="4267200" y="1371600"/>
            <a:ext cx="1676400" cy="838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pPr>
            <a:r>
              <a:rPr kumimoji="1" lang="en-US" altLang="zh-CN" b="1">
                <a:latin typeface="Times New Roman" panose="02020603050405020304" pitchFamily="18" charset="0"/>
              </a:rPr>
              <a:t>DOS</a:t>
            </a:r>
          </a:p>
          <a:p>
            <a:pPr algn="ctr">
              <a:spcBef>
                <a:spcPct val="50000"/>
              </a:spcBef>
            </a:pPr>
            <a:r>
              <a:rPr kumimoji="1" lang="en-US" altLang="zh-CN" sz="2000" b="1">
                <a:latin typeface="Times New Roman" panose="02020603050405020304" pitchFamily="18" charset="0"/>
              </a:rPr>
              <a:t>IBMBIO.COM</a:t>
            </a:r>
          </a:p>
        </p:txBody>
      </p:sp>
      <p:sp>
        <p:nvSpPr>
          <p:cNvPr id="315397" name="Rectangle 5">
            <a:extLst>
              <a:ext uri="{FF2B5EF4-FFF2-40B4-BE49-F238E27FC236}">
                <a16:creationId xmlns:a16="http://schemas.microsoft.com/office/drawing/2014/main" id="{B2A6AC85-8FC2-408C-8EE4-EC358EC88D5E}"/>
              </a:ext>
            </a:extLst>
          </p:cNvPr>
          <p:cNvSpPr>
            <a:spLocks noChangeArrowheads="1"/>
          </p:cNvSpPr>
          <p:nvPr/>
        </p:nvSpPr>
        <p:spPr bwMode="auto">
          <a:xfrm>
            <a:off x="6553200" y="1371600"/>
            <a:ext cx="1066800" cy="838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pPr>
            <a:r>
              <a:rPr kumimoji="1" lang="en-US" altLang="zh-CN" sz="3200" b="1">
                <a:latin typeface="Times New Roman" panose="02020603050405020304" pitchFamily="18" charset="0"/>
              </a:rPr>
              <a:t>BIOS</a:t>
            </a:r>
          </a:p>
        </p:txBody>
      </p:sp>
      <p:sp>
        <p:nvSpPr>
          <p:cNvPr id="315398" name="Rectangle 6">
            <a:extLst>
              <a:ext uri="{FF2B5EF4-FFF2-40B4-BE49-F238E27FC236}">
                <a16:creationId xmlns:a16="http://schemas.microsoft.com/office/drawing/2014/main" id="{A1B9C4F1-6BB0-43CA-96EA-7B0ECF187306}"/>
              </a:ext>
            </a:extLst>
          </p:cNvPr>
          <p:cNvSpPr>
            <a:spLocks noChangeArrowheads="1"/>
          </p:cNvSpPr>
          <p:nvPr/>
        </p:nvSpPr>
        <p:spPr bwMode="auto">
          <a:xfrm>
            <a:off x="8153400" y="1371600"/>
            <a:ext cx="990600" cy="838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spcBef>
                <a:spcPct val="50000"/>
              </a:spcBef>
            </a:pPr>
            <a:r>
              <a:rPr kumimoji="1" lang="zh-CN" altLang="en-US" sz="3200" b="1">
                <a:latin typeface="Times New Roman" panose="02020603050405020304" pitchFamily="18" charset="0"/>
              </a:rPr>
              <a:t>外设</a:t>
            </a:r>
          </a:p>
        </p:txBody>
      </p:sp>
      <p:sp>
        <p:nvSpPr>
          <p:cNvPr id="315399" name="AutoShape 7">
            <a:extLst>
              <a:ext uri="{FF2B5EF4-FFF2-40B4-BE49-F238E27FC236}">
                <a16:creationId xmlns:a16="http://schemas.microsoft.com/office/drawing/2014/main" id="{AAEF78D9-61D3-4724-8E1B-A4CC28C9AE48}"/>
              </a:ext>
            </a:extLst>
          </p:cNvPr>
          <p:cNvSpPr>
            <a:spLocks noChangeArrowheads="1"/>
          </p:cNvSpPr>
          <p:nvPr/>
        </p:nvSpPr>
        <p:spPr bwMode="auto">
          <a:xfrm>
            <a:off x="1676400" y="1752600"/>
            <a:ext cx="457200" cy="152400"/>
          </a:xfrm>
          <a:prstGeom prst="leftRightArrow">
            <a:avLst>
              <a:gd name="adj1" fmla="val 50000"/>
              <a:gd name="adj2" fmla="val 60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5400" name="AutoShape 8">
            <a:extLst>
              <a:ext uri="{FF2B5EF4-FFF2-40B4-BE49-F238E27FC236}">
                <a16:creationId xmlns:a16="http://schemas.microsoft.com/office/drawing/2014/main" id="{497A44C3-5209-4A73-B534-80FA6D666CBE}"/>
              </a:ext>
            </a:extLst>
          </p:cNvPr>
          <p:cNvSpPr>
            <a:spLocks noChangeArrowheads="1"/>
          </p:cNvSpPr>
          <p:nvPr/>
        </p:nvSpPr>
        <p:spPr bwMode="auto">
          <a:xfrm>
            <a:off x="3810000" y="1752600"/>
            <a:ext cx="457200" cy="152400"/>
          </a:xfrm>
          <a:prstGeom prst="leftRightArrow">
            <a:avLst>
              <a:gd name="adj1" fmla="val 50000"/>
              <a:gd name="adj2" fmla="val 60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5401" name="AutoShape 9">
            <a:extLst>
              <a:ext uri="{FF2B5EF4-FFF2-40B4-BE49-F238E27FC236}">
                <a16:creationId xmlns:a16="http://schemas.microsoft.com/office/drawing/2014/main" id="{19721224-5AAC-4D17-9E44-36821D844719}"/>
              </a:ext>
            </a:extLst>
          </p:cNvPr>
          <p:cNvSpPr>
            <a:spLocks noChangeArrowheads="1"/>
          </p:cNvSpPr>
          <p:nvPr/>
        </p:nvSpPr>
        <p:spPr bwMode="auto">
          <a:xfrm>
            <a:off x="6019800" y="1752600"/>
            <a:ext cx="457200" cy="152400"/>
          </a:xfrm>
          <a:prstGeom prst="leftRightArrow">
            <a:avLst>
              <a:gd name="adj1" fmla="val 50000"/>
              <a:gd name="adj2" fmla="val 60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5402" name="AutoShape 10">
            <a:extLst>
              <a:ext uri="{FF2B5EF4-FFF2-40B4-BE49-F238E27FC236}">
                <a16:creationId xmlns:a16="http://schemas.microsoft.com/office/drawing/2014/main" id="{7FD891BB-1A50-4680-8CBB-4AC28D75CE10}"/>
              </a:ext>
            </a:extLst>
          </p:cNvPr>
          <p:cNvSpPr>
            <a:spLocks noChangeArrowheads="1"/>
          </p:cNvSpPr>
          <p:nvPr/>
        </p:nvSpPr>
        <p:spPr bwMode="auto">
          <a:xfrm>
            <a:off x="7620000" y="1676400"/>
            <a:ext cx="457200" cy="152400"/>
          </a:xfrm>
          <a:prstGeom prst="leftRightArrow">
            <a:avLst>
              <a:gd name="adj1" fmla="val 50000"/>
              <a:gd name="adj2" fmla="val 60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5403" name="Text Box 11">
            <a:extLst>
              <a:ext uri="{FF2B5EF4-FFF2-40B4-BE49-F238E27FC236}">
                <a16:creationId xmlns:a16="http://schemas.microsoft.com/office/drawing/2014/main" id="{57DFFA40-2169-4B19-A44F-7B395F257D0A}"/>
              </a:ext>
            </a:extLst>
          </p:cNvPr>
          <p:cNvSpPr txBox="1">
            <a:spLocks noChangeArrowheads="1"/>
          </p:cNvSpPr>
          <p:nvPr/>
        </p:nvSpPr>
        <p:spPr bwMode="auto">
          <a:xfrm>
            <a:off x="304800" y="533400"/>
            <a:ext cx="8839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3200" b="1">
                <a:latin typeface="Times New Roman" panose="02020603050405020304" pitchFamily="18" charset="0"/>
              </a:rPr>
              <a:t>用户             高级              低级          </a:t>
            </a:r>
            <a:r>
              <a:rPr kumimoji="1" lang="en-US" altLang="zh-CN" sz="3200" b="1">
                <a:latin typeface="Times New Roman" panose="02020603050405020304" pitchFamily="18" charset="0"/>
              </a:rPr>
              <a:t>ROM</a:t>
            </a:r>
          </a:p>
        </p:txBody>
      </p:sp>
      <p:sp>
        <p:nvSpPr>
          <p:cNvPr id="315404" name="Text Box 12">
            <a:extLst>
              <a:ext uri="{FF2B5EF4-FFF2-40B4-BE49-F238E27FC236}">
                <a16:creationId xmlns:a16="http://schemas.microsoft.com/office/drawing/2014/main" id="{6DC53B27-0DEA-4DB0-99A7-0A8C8D44A262}"/>
              </a:ext>
            </a:extLst>
          </p:cNvPr>
          <p:cNvSpPr txBox="1">
            <a:spLocks noChangeArrowheads="1"/>
          </p:cNvSpPr>
          <p:nvPr/>
        </p:nvSpPr>
        <p:spPr bwMode="auto">
          <a:xfrm>
            <a:off x="0" y="2895600"/>
            <a:ext cx="9144000" cy="329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b="1">
                <a:latin typeface="Times New Roman" panose="02020603050405020304" pitchFamily="18" charset="0"/>
              </a:rPr>
              <a:t>    </a:t>
            </a:r>
            <a:r>
              <a:rPr kumimoji="1" lang="en-US" altLang="zh-CN" b="1">
                <a:solidFill>
                  <a:srgbClr val="FF0000"/>
                </a:solidFill>
                <a:latin typeface="Times New Roman" panose="02020603050405020304" pitchFamily="18" charset="0"/>
              </a:rPr>
              <a:t>IBMBIO.COM</a:t>
            </a:r>
            <a:r>
              <a:rPr kumimoji="1" lang="zh-CN" altLang="en-US" b="1">
                <a:latin typeface="Times New Roman" panose="02020603050405020304" pitchFamily="18" charset="0"/>
              </a:rPr>
              <a:t>是一个输入输出设备处理程序，它提供了</a:t>
            </a:r>
            <a:r>
              <a:rPr kumimoji="1" lang="en-US" altLang="zh-CN" b="1">
                <a:latin typeface="Times New Roman" panose="02020603050405020304" pitchFamily="18" charset="0"/>
              </a:rPr>
              <a:t>DOS</a:t>
            </a:r>
            <a:r>
              <a:rPr kumimoji="1" lang="zh-CN" altLang="en-US" b="1">
                <a:latin typeface="Times New Roman" panose="02020603050405020304" pitchFamily="18" charset="0"/>
              </a:rPr>
              <a:t>到</a:t>
            </a:r>
            <a:r>
              <a:rPr kumimoji="1" lang="en-US" altLang="zh-CN" b="1">
                <a:latin typeface="Times New Roman" panose="02020603050405020304" pitchFamily="18" charset="0"/>
              </a:rPr>
              <a:t>ROM BIOS</a:t>
            </a:r>
            <a:r>
              <a:rPr kumimoji="1" lang="zh-CN" altLang="en-US" b="1">
                <a:latin typeface="Times New Roman" panose="02020603050405020304" pitchFamily="18" charset="0"/>
              </a:rPr>
              <a:t>的低级接口，它完成将数据从外设读入内存，或把数据从内存写到外设去的工作。</a:t>
            </a:r>
          </a:p>
          <a:p>
            <a:pPr>
              <a:spcBef>
                <a:spcPct val="50000"/>
              </a:spcBef>
            </a:pPr>
            <a:r>
              <a:rPr kumimoji="1" lang="zh-CN" altLang="en-US" b="1">
                <a:latin typeface="Times New Roman" panose="02020603050405020304" pitchFamily="18" charset="0"/>
              </a:rPr>
              <a:t>   </a:t>
            </a:r>
            <a:r>
              <a:rPr kumimoji="1" lang="en-US" altLang="zh-CN" b="1">
                <a:solidFill>
                  <a:srgbClr val="FF0000"/>
                </a:solidFill>
                <a:latin typeface="Times New Roman" panose="02020603050405020304" pitchFamily="18" charset="0"/>
              </a:rPr>
              <a:t>IBMDOS.COM</a:t>
            </a:r>
            <a:r>
              <a:rPr kumimoji="1" lang="zh-CN" altLang="en-US" b="1">
                <a:latin typeface="Times New Roman" panose="02020603050405020304" pitchFamily="18" charset="0"/>
              </a:rPr>
              <a:t>包括一个文件管理程序和一些处理程序，在</a:t>
            </a:r>
            <a:r>
              <a:rPr kumimoji="1" lang="en-US" altLang="zh-CN" b="1">
                <a:latin typeface="Times New Roman" panose="02020603050405020304" pitchFamily="18" charset="0"/>
              </a:rPr>
              <a:t>DOS</a:t>
            </a:r>
            <a:r>
              <a:rPr kumimoji="1" lang="zh-CN" altLang="en-US" b="1">
                <a:latin typeface="Times New Roman" panose="02020603050405020304" pitchFamily="18" charset="0"/>
              </a:rPr>
              <a:t>下运行的程序可以调用这些处理程序。为了完成</a:t>
            </a:r>
            <a:r>
              <a:rPr kumimoji="1" lang="en-US" altLang="zh-CN" b="1">
                <a:latin typeface="Times New Roman" panose="02020603050405020304" pitchFamily="18" charset="0"/>
              </a:rPr>
              <a:t>DOS</a:t>
            </a:r>
            <a:r>
              <a:rPr kumimoji="1" lang="zh-CN" altLang="en-US" b="1">
                <a:latin typeface="Times New Roman" panose="02020603050405020304" pitchFamily="18" charset="0"/>
              </a:rPr>
              <a:t>功能调用， </a:t>
            </a:r>
            <a:r>
              <a:rPr kumimoji="1" lang="en-US" altLang="zh-CN" b="1">
                <a:latin typeface="Times New Roman" panose="02020603050405020304" pitchFamily="18" charset="0"/>
              </a:rPr>
              <a:t>IBMDOS.COM</a:t>
            </a:r>
            <a:r>
              <a:rPr kumimoji="1" lang="zh-CN" altLang="en-US" b="1">
                <a:latin typeface="Times New Roman" panose="02020603050405020304" pitchFamily="18" charset="0"/>
              </a:rPr>
              <a:t>把信息传送给</a:t>
            </a:r>
            <a:r>
              <a:rPr kumimoji="1" lang="en-US" altLang="zh-CN" b="1">
                <a:latin typeface="Times New Roman" panose="02020603050405020304" pitchFamily="18" charset="0"/>
              </a:rPr>
              <a:t>IBMBIO.COM</a:t>
            </a:r>
            <a:r>
              <a:rPr kumimoji="1" lang="zh-CN" altLang="en-US" b="1">
                <a:latin typeface="Times New Roman" panose="02020603050405020304" pitchFamily="18" charset="0"/>
              </a:rPr>
              <a:t>，形成</a:t>
            </a:r>
            <a:r>
              <a:rPr kumimoji="1" lang="zh-CN" altLang="en-US" b="1">
                <a:solidFill>
                  <a:srgbClr val="FF0000"/>
                </a:solidFill>
                <a:latin typeface="Times New Roman" panose="02020603050405020304" pitchFamily="18" charset="0"/>
              </a:rPr>
              <a:t>一个或多个</a:t>
            </a:r>
            <a:r>
              <a:rPr kumimoji="1" lang="en-US" altLang="zh-CN" b="1">
                <a:solidFill>
                  <a:srgbClr val="FF0000"/>
                </a:solidFill>
                <a:latin typeface="Times New Roman" panose="02020603050405020304" pitchFamily="18" charset="0"/>
              </a:rPr>
              <a:t>BIOS</a:t>
            </a:r>
            <a:r>
              <a:rPr kumimoji="1" lang="zh-CN" altLang="en-US" b="1">
                <a:latin typeface="Times New Roman" panose="02020603050405020304" pitchFamily="18" charset="0"/>
              </a:rPr>
              <a:t>调用。</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15404"/>
                                        </p:tgtEl>
                                        <p:attrNameLst>
                                          <p:attrName>style.visibility</p:attrName>
                                        </p:attrNameLst>
                                      </p:cBhvr>
                                      <p:to>
                                        <p:strVal val="visible"/>
                                      </p:to>
                                    </p:set>
                                    <p:animEffect transition="in" filter="diamond(in)">
                                      <p:cBhvr>
                                        <p:cTn id="7" dur="2000"/>
                                        <p:tgtEl>
                                          <p:spTgt spid="315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404" grpId="0"/>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0E8CD95C-1B6C-40C7-92E0-7330B4207A75}"/>
              </a:ext>
            </a:extLst>
          </p:cNvPr>
          <p:cNvSpPr>
            <a:spLocks noGrp="1"/>
          </p:cNvSpPr>
          <p:nvPr>
            <p:ph type="sldNum" sz="quarter" idx="12"/>
          </p:nvPr>
        </p:nvSpPr>
        <p:spPr/>
        <p:txBody>
          <a:bodyPr/>
          <a:lstStyle/>
          <a:p>
            <a:fld id="{74832E08-8932-4079-8DF6-A81C2F5CADC7}" type="slidenum">
              <a:rPr lang="en-US" altLang="zh-CN"/>
              <a:pPr/>
              <a:t>33</a:t>
            </a:fld>
            <a:endParaRPr lang="en-US" altLang="zh-CN"/>
          </a:p>
        </p:txBody>
      </p:sp>
      <p:sp>
        <p:nvSpPr>
          <p:cNvPr id="232450" name="Rectangle 2">
            <a:extLst>
              <a:ext uri="{FF2B5EF4-FFF2-40B4-BE49-F238E27FC236}">
                <a16:creationId xmlns:a16="http://schemas.microsoft.com/office/drawing/2014/main" id="{AADC433F-27CB-4975-BAA7-6BE4226354CA}"/>
              </a:ext>
            </a:extLst>
          </p:cNvPr>
          <p:cNvSpPr>
            <a:spLocks noGrp="1" noChangeArrowheads="1"/>
          </p:cNvSpPr>
          <p:nvPr>
            <p:ph type="title"/>
          </p:nvPr>
        </p:nvSpPr>
        <p:spPr/>
        <p:txBody>
          <a:bodyPr/>
          <a:lstStyle/>
          <a:p>
            <a:pPr algn="l"/>
            <a:r>
              <a:rPr lang="en-US" altLang="zh-CN" b="1">
                <a:ea typeface="楷体_GB2312" pitchFamily="49" charset="-122"/>
              </a:rPr>
              <a:t>1.  </a:t>
            </a:r>
            <a:r>
              <a:rPr lang="zh-CN" altLang="en-US" b="1">
                <a:latin typeface="Times New Roman" panose="02020603050405020304" pitchFamily="18" charset="0"/>
                <a:ea typeface="楷体_GB2312" pitchFamily="49" charset="-122"/>
              </a:rPr>
              <a:t>系统功能调用的方法</a:t>
            </a:r>
          </a:p>
        </p:txBody>
      </p:sp>
      <p:sp>
        <p:nvSpPr>
          <p:cNvPr id="232451" name="Rectangle 3">
            <a:extLst>
              <a:ext uri="{FF2B5EF4-FFF2-40B4-BE49-F238E27FC236}">
                <a16:creationId xmlns:a16="http://schemas.microsoft.com/office/drawing/2014/main" id="{4E1F5AB5-3814-459E-9F1B-4206D7C1C3BA}"/>
              </a:ext>
            </a:extLst>
          </p:cNvPr>
          <p:cNvSpPr>
            <a:spLocks noGrp="1" noChangeArrowheads="1"/>
          </p:cNvSpPr>
          <p:nvPr>
            <p:ph type="body" idx="1"/>
          </p:nvPr>
        </p:nvSpPr>
        <p:spPr>
          <a:xfrm>
            <a:off x="685800" y="1524000"/>
            <a:ext cx="7772400" cy="4572000"/>
          </a:xfrm>
        </p:spPr>
        <p:txBody>
          <a:bodyPr/>
          <a:lstStyle/>
          <a:p>
            <a:pPr algn="just"/>
            <a:endParaRPr lang="en-US" altLang="zh-CN">
              <a:ea typeface="楷体_GB2312" pitchFamily="49" charset="-122"/>
            </a:endParaRPr>
          </a:p>
          <a:p>
            <a:pPr algn="just">
              <a:buFontTx/>
              <a:buNone/>
            </a:pPr>
            <a:r>
              <a:rPr lang="zh-CN" altLang="en-US" sz="2800" b="1">
                <a:latin typeface="华文中宋" panose="02010600040101010101" pitchFamily="2" charset="-122"/>
                <a:ea typeface="华文中宋" panose="02010600040101010101" pitchFamily="2" charset="-122"/>
              </a:rPr>
              <a:t>要完成系统功能调用，基本按如下步骤：</a:t>
            </a:r>
          </a:p>
          <a:p>
            <a:pPr algn="just">
              <a:buFontTx/>
              <a:buNone/>
            </a:pPr>
            <a:endParaRPr lang="zh-CN" altLang="en-US" sz="2800" b="1">
              <a:latin typeface="华文中宋" panose="02010600040101010101" pitchFamily="2" charset="-122"/>
              <a:ea typeface="华文中宋" panose="02010600040101010101" pitchFamily="2" charset="-122"/>
            </a:endParaRPr>
          </a:p>
          <a:p>
            <a:pPr algn="just">
              <a:buFont typeface="Wingdings" panose="05000000000000000000" pitchFamily="2" charset="2"/>
              <a:buChar char="l"/>
            </a:pPr>
            <a:r>
              <a:rPr lang="zh-CN" altLang="en-US" sz="2800" b="1">
                <a:latin typeface="华文中宋" panose="02010600040101010101" pitchFamily="2" charset="-122"/>
                <a:ea typeface="华文中宋" panose="02010600040101010101" pitchFamily="2" charset="-122"/>
                <a:cs typeface="Times New Roman" panose="02020603050405020304" pitchFamily="18" charset="0"/>
              </a:rPr>
              <a:t>     </a:t>
            </a:r>
            <a:r>
              <a:rPr lang="zh-CN" altLang="en-US" sz="2800" b="1">
                <a:latin typeface="华文中宋" panose="02010600040101010101" pitchFamily="2" charset="-122"/>
                <a:ea typeface="华文中宋" panose="02010600040101010101" pitchFamily="2" charset="-122"/>
              </a:rPr>
              <a:t>将入口参数送到指定寄存器中；</a:t>
            </a:r>
          </a:p>
          <a:p>
            <a:pPr algn="just">
              <a:buFont typeface="Wingdings" panose="05000000000000000000" pitchFamily="2" charset="2"/>
              <a:buChar char="l"/>
            </a:pPr>
            <a:r>
              <a:rPr lang="zh-CN" altLang="en-US" sz="2800" b="1">
                <a:latin typeface="华文中宋" panose="02010600040101010101" pitchFamily="2" charset="-122"/>
                <a:ea typeface="华文中宋" panose="02010600040101010101" pitchFamily="2" charset="-122"/>
              </a:rPr>
              <a:t>    子程序功能号送入</a:t>
            </a:r>
            <a:r>
              <a:rPr lang="en-US" altLang="zh-CN" sz="2800" b="1">
                <a:latin typeface="华文中宋" panose="02010600040101010101" pitchFamily="2" charset="-122"/>
                <a:ea typeface="华文中宋" panose="02010600040101010101" pitchFamily="2" charset="-122"/>
              </a:rPr>
              <a:t>AH</a:t>
            </a:r>
            <a:r>
              <a:rPr lang="zh-CN" altLang="en-US" sz="2800" b="1">
                <a:latin typeface="华文中宋" panose="02010600040101010101" pitchFamily="2" charset="-122"/>
                <a:ea typeface="华文中宋" panose="02010600040101010101" pitchFamily="2" charset="-122"/>
              </a:rPr>
              <a:t>寄存器中；</a:t>
            </a:r>
          </a:p>
          <a:p>
            <a:pPr>
              <a:buFont typeface="Wingdings" panose="05000000000000000000" pitchFamily="2" charset="2"/>
              <a:buChar char="l"/>
            </a:pPr>
            <a:r>
              <a:rPr lang="zh-CN" altLang="en-US" sz="2800" b="1">
                <a:latin typeface="华文中宋" panose="02010600040101010101" pitchFamily="2" charset="-122"/>
                <a:ea typeface="华文中宋" panose="02010600040101010101" pitchFamily="2" charset="-122"/>
              </a:rPr>
              <a:t>    使用</a:t>
            </a:r>
            <a:r>
              <a:rPr lang="en-US" altLang="zh-CN" sz="2800" b="1">
                <a:latin typeface="华文中宋" panose="02010600040101010101" pitchFamily="2" charset="-122"/>
                <a:ea typeface="华文中宋" panose="02010600040101010101" pitchFamily="2" charset="-122"/>
              </a:rPr>
              <a:t>INT</a:t>
            </a:r>
            <a:r>
              <a:rPr lang="zh-CN" altLang="en-US" sz="2800" b="1">
                <a:latin typeface="华文中宋" panose="02010600040101010101" pitchFamily="2" charset="-122"/>
                <a:ea typeface="华文中宋" panose="02010600040101010101" pitchFamily="2" charset="-122"/>
              </a:rPr>
              <a:t>　</a:t>
            </a:r>
            <a:r>
              <a:rPr lang="en-US" altLang="zh-CN" sz="2800" b="1">
                <a:latin typeface="华文中宋" panose="02010600040101010101" pitchFamily="2" charset="-122"/>
                <a:ea typeface="华文中宋" panose="02010600040101010101" pitchFamily="2" charset="-122"/>
              </a:rPr>
              <a:t>21H</a:t>
            </a:r>
            <a:r>
              <a:rPr lang="zh-CN" altLang="en-US" sz="2800" b="1">
                <a:latin typeface="华文中宋" panose="02010600040101010101" pitchFamily="2" charset="-122"/>
                <a:ea typeface="华文中宋" panose="02010600040101010101" pitchFamily="2" charset="-122"/>
              </a:rPr>
              <a:t>指令。</a:t>
            </a:r>
          </a:p>
          <a:p>
            <a:endParaRPr lang="en-US" altLang="zh-CN" sz="2800" b="1">
              <a:latin typeface="华文中宋" panose="02010600040101010101" pitchFamily="2" charset="-122"/>
              <a:ea typeface="华文中宋" panose="02010600040101010101" pitchFamily="2" charset="-122"/>
            </a:endParaRPr>
          </a:p>
        </p:txBody>
      </p:sp>
    </p:spTree>
  </p:cSld>
  <p:clrMapOvr>
    <a:masterClrMapping/>
  </p:clrMapOvr>
  <p:transition spd="med">
    <p:random/>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892ACF1-FE85-4FF0-B2BA-624266D1020C}"/>
              </a:ext>
            </a:extLst>
          </p:cNvPr>
          <p:cNvSpPr>
            <a:spLocks noGrp="1"/>
          </p:cNvSpPr>
          <p:nvPr>
            <p:ph type="sldNum" sz="quarter" idx="12"/>
          </p:nvPr>
        </p:nvSpPr>
        <p:spPr/>
        <p:txBody>
          <a:bodyPr/>
          <a:lstStyle/>
          <a:p>
            <a:fld id="{B42B44F8-1116-4C0A-BEF7-75CDE24CEAF5}" type="slidenum">
              <a:rPr lang="en-US" altLang="zh-CN"/>
              <a:pPr/>
              <a:t>34</a:t>
            </a:fld>
            <a:endParaRPr lang="en-US" altLang="zh-CN"/>
          </a:p>
        </p:txBody>
      </p:sp>
      <p:sp>
        <p:nvSpPr>
          <p:cNvPr id="316418" name="Rectangle 2">
            <a:extLst>
              <a:ext uri="{FF2B5EF4-FFF2-40B4-BE49-F238E27FC236}">
                <a16:creationId xmlns:a16="http://schemas.microsoft.com/office/drawing/2014/main" id="{FD56C71B-D5FB-4F23-9EE1-ACC8EF0E23C5}"/>
              </a:ext>
            </a:extLst>
          </p:cNvPr>
          <p:cNvSpPr>
            <a:spLocks noGrp="1" noChangeArrowheads="1"/>
          </p:cNvSpPr>
          <p:nvPr>
            <p:ph type="title"/>
          </p:nvPr>
        </p:nvSpPr>
        <p:spPr/>
        <p:txBody>
          <a:bodyPr/>
          <a:lstStyle/>
          <a:p>
            <a:r>
              <a:rPr lang="en-US" altLang="zh-CN">
                <a:ea typeface="黑体" panose="02010609060101010101" pitchFamily="49" charset="-122"/>
              </a:rPr>
              <a:t>2</a:t>
            </a:r>
            <a:r>
              <a:rPr lang="zh-CN" altLang="en-US">
                <a:ea typeface="黑体" panose="02010609060101010101" pitchFamily="49" charset="-122"/>
              </a:rPr>
              <a:t>、常用的</a:t>
            </a:r>
            <a:r>
              <a:rPr lang="en-US" altLang="zh-CN">
                <a:cs typeface="Arial" panose="020B0604020202020204" pitchFamily="34" charset="0"/>
              </a:rPr>
              <a:t>DOS</a:t>
            </a:r>
            <a:r>
              <a:rPr lang="zh-CN" altLang="en-US">
                <a:ea typeface="黑体" panose="02010609060101010101" pitchFamily="49" charset="-122"/>
              </a:rPr>
              <a:t>系统功能调用</a:t>
            </a:r>
            <a:endParaRPr lang="zh-CN" altLang="en-US">
              <a:cs typeface="Arial" panose="020B0604020202020204" pitchFamily="34" charset="0"/>
            </a:endParaRPr>
          </a:p>
        </p:txBody>
      </p:sp>
      <p:sp>
        <p:nvSpPr>
          <p:cNvPr id="316419" name="Rectangle 3">
            <a:extLst>
              <a:ext uri="{FF2B5EF4-FFF2-40B4-BE49-F238E27FC236}">
                <a16:creationId xmlns:a16="http://schemas.microsoft.com/office/drawing/2014/main" id="{BB7593CE-26D2-499C-B18B-A4301D4EFCE0}"/>
              </a:ext>
            </a:extLst>
          </p:cNvPr>
          <p:cNvSpPr>
            <a:spLocks noGrp="1" noChangeArrowheads="1"/>
          </p:cNvSpPr>
          <p:nvPr>
            <p:ph type="body" idx="1"/>
          </p:nvPr>
        </p:nvSpPr>
        <p:spPr>
          <a:xfrm>
            <a:off x="1990725" y="1600200"/>
            <a:ext cx="6546850" cy="4525963"/>
          </a:xfrm>
        </p:spPr>
        <p:txBody>
          <a:bodyPr/>
          <a:lstStyle/>
          <a:p>
            <a:pPr algn="just"/>
            <a:r>
              <a:rPr lang="en-US" altLang="zh-CN" dirty="0">
                <a:latin typeface="+mj-ea"/>
                <a:ea typeface="+mj-ea"/>
              </a:rPr>
              <a:t>1</a:t>
            </a:r>
            <a:r>
              <a:rPr lang="zh-CN" altLang="en-US" dirty="0">
                <a:latin typeface="+mj-ea"/>
                <a:ea typeface="+mj-ea"/>
              </a:rPr>
              <a:t>．</a:t>
            </a:r>
            <a:r>
              <a:rPr lang="zh-CN" altLang="en-US" b="1" dirty="0">
                <a:latin typeface="+mj-ea"/>
                <a:ea typeface="+mj-ea"/>
              </a:rPr>
              <a:t>单字符输入（</a:t>
            </a:r>
            <a:r>
              <a:rPr lang="en-US" altLang="zh-CN" b="1" dirty="0">
                <a:latin typeface="+mj-ea"/>
                <a:ea typeface="+mj-ea"/>
              </a:rPr>
              <a:t>1</a:t>
            </a:r>
            <a:r>
              <a:rPr lang="zh-CN" altLang="en-US" b="1" dirty="0">
                <a:latin typeface="+mj-ea"/>
                <a:ea typeface="+mj-ea"/>
              </a:rPr>
              <a:t>号调用）</a:t>
            </a:r>
          </a:p>
          <a:p>
            <a:pPr algn="just"/>
            <a:r>
              <a:rPr lang="en-US" altLang="zh-CN" b="1" dirty="0">
                <a:latin typeface="+mj-ea"/>
                <a:ea typeface="+mj-ea"/>
              </a:rPr>
              <a:t>2</a:t>
            </a:r>
            <a:r>
              <a:rPr lang="zh-CN" altLang="en-US" b="1" dirty="0">
                <a:latin typeface="+mj-ea"/>
                <a:ea typeface="+mj-ea"/>
              </a:rPr>
              <a:t>．单字符显示（</a:t>
            </a:r>
            <a:r>
              <a:rPr lang="en-US" altLang="zh-CN" b="1" dirty="0">
                <a:latin typeface="+mj-ea"/>
                <a:ea typeface="+mj-ea"/>
              </a:rPr>
              <a:t>2</a:t>
            </a:r>
            <a:r>
              <a:rPr lang="zh-CN" altLang="en-US" b="1" dirty="0">
                <a:latin typeface="+mj-ea"/>
                <a:ea typeface="+mj-ea"/>
              </a:rPr>
              <a:t>号调用）</a:t>
            </a:r>
          </a:p>
          <a:p>
            <a:pPr algn="just"/>
            <a:r>
              <a:rPr lang="en-US" altLang="zh-CN" b="1" dirty="0">
                <a:latin typeface="+mj-ea"/>
                <a:ea typeface="+mj-ea"/>
              </a:rPr>
              <a:t>3</a:t>
            </a:r>
            <a:r>
              <a:rPr lang="zh-CN" altLang="en-US" b="1" dirty="0">
                <a:latin typeface="+mj-ea"/>
                <a:ea typeface="+mj-ea"/>
              </a:rPr>
              <a:t>．打印输出（</a:t>
            </a:r>
            <a:r>
              <a:rPr lang="en-US" altLang="zh-CN" b="1" dirty="0">
                <a:latin typeface="+mj-ea"/>
                <a:ea typeface="+mj-ea"/>
              </a:rPr>
              <a:t>5</a:t>
            </a:r>
            <a:r>
              <a:rPr lang="zh-CN" altLang="en-US" b="1" dirty="0">
                <a:latin typeface="+mj-ea"/>
                <a:ea typeface="+mj-ea"/>
              </a:rPr>
              <a:t>号调用）</a:t>
            </a:r>
          </a:p>
          <a:p>
            <a:pPr algn="just"/>
            <a:r>
              <a:rPr lang="en-US" altLang="zh-CN" b="1" dirty="0">
                <a:latin typeface="+mj-ea"/>
                <a:ea typeface="+mj-ea"/>
              </a:rPr>
              <a:t>4</a:t>
            </a:r>
            <a:r>
              <a:rPr lang="zh-CN" altLang="en-US" b="1" dirty="0">
                <a:latin typeface="+mj-ea"/>
                <a:ea typeface="+mj-ea"/>
              </a:rPr>
              <a:t>．结束调用（</a:t>
            </a:r>
            <a:r>
              <a:rPr lang="en-US" altLang="zh-CN" b="1" dirty="0">
                <a:latin typeface="+mj-ea"/>
                <a:ea typeface="+mj-ea"/>
              </a:rPr>
              <a:t>4CH</a:t>
            </a:r>
            <a:r>
              <a:rPr lang="zh-CN" altLang="en-US" b="1" dirty="0">
                <a:latin typeface="+mj-ea"/>
                <a:ea typeface="+mj-ea"/>
              </a:rPr>
              <a:t>号调用）</a:t>
            </a:r>
          </a:p>
          <a:p>
            <a:pPr algn="just"/>
            <a:r>
              <a:rPr lang="en-US" altLang="zh-CN" b="1" dirty="0">
                <a:latin typeface="+mj-ea"/>
                <a:ea typeface="+mj-ea"/>
              </a:rPr>
              <a:t>5</a:t>
            </a:r>
            <a:r>
              <a:rPr lang="zh-CN" altLang="en-US" b="1" dirty="0">
                <a:latin typeface="+mj-ea"/>
                <a:ea typeface="+mj-ea"/>
              </a:rPr>
              <a:t>．显示字符串（</a:t>
            </a:r>
            <a:r>
              <a:rPr lang="en-US" altLang="zh-CN" b="1" dirty="0">
                <a:latin typeface="+mj-ea"/>
                <a:ea typeface="+mj-ea"/>
              </a:rPr>
              <a:t>9</a:t>
            </a:r>
            <a:r>
              <a:rPr lang="zh-CN" altLang="en-US" b="1" dirty="0">
                <a:latin typeface="+mj-ea"/>
                <a:ea typeface="+mj-ea"/>
              </a:rPr>
              <a:t>号调用）</a:t>
            </a:r>
          </a:p>
          <a:p>
            <a:pPr algn="just"/>
            <a:r>
              <a:rPr lang="en-US" altLang="zh-CN" b="1" dirty="0">
                <a:latin typeface="+mj-ea"/>
                <a:ea typeface="+mj-ea"/>
              </a:rPr>
              <a:t>6</a:t>
            </a:r>
            <a:r>
              <a:rPr lang="zh-CN" altLang="en-US" b="1" dirty="0">
                <a:latin typeface="+mj-ea"/>
                <a:ea typeface="+mj-ea"/>
              </a:rPr>
              <a:t>．字符串输入（</a:t>
            </a:r>
            <a:r>
              <a:rPr lang="en-US" altLang="zh-CN" b="1" dirty="0">
                <a:latin typeface="+mj-ea"/>
                <a:ea typeface="+mj-ea"/>
              </a:rPr>
              <a:t>10</a:t>
            </a:r>
            <a:r>
              <a:rPr lang="zh-CN" altLang="en-US" b="1" dirty="0">
                <a:latin typeface="+mj-ea"/>
                <a:ea typeface="+mj-ea"/>
              </a:rPr>
              <a:t>号调用</a:t>
            </a:r>
            <a:r>
              <a:rPr lang="zh-CN" altLang="en-US" dirty="0">
                <a:latin typeface="+mj-ea"/>
                <a:ea typeface="+mj-ea"/>
              </a:rPr>
              <a:t>）</a:t>
            </a:r>
          </a:p>
          <a:p>
            <a:endParaRPr lang="en-US" altLang="zh-CN" dirty="0">
              <a:latin typeface="+mj-ea"/>
              <a:ea typeface="+mj-ea"/>
            </a:endParaRPr>
          </a:p>
        </p:txBody>
      </p:sp>
    </p:spTree>
  </p:cSld>
  <p:clrMapOvr>
    <a:masterClrMapping/>
  </p:clrMapOvr>
  <p:transition spd="med">
    <p:random/>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8BCD21E-DCEC-41FC-826E-FA2572A685D1}"/>
              </a:ext>
            </a:extLst>
          </p:cNvPr>
          <p:cNvSpPr>
            <a:spLocks noGrp="1"/>
          </p:cNvSpPr>
          <p:nvPr>
            <p:ph type="sldNum" sz="quarter" idx="12"/>
          </p:nvPr>
        </p:nvSpPr>
        <p:spPr/>
        <p:txBody>
          <a:bodyPr/>
          <a:lstStyle/>
          <a:p>
            <a:fld id="{33313D5F-F543-40D8-B2D6-3ACADB98BBE2}" type="slidenum">
              <a:rPr lang="en-US" altLang="zh-CN"/>
              <a:pPr/>
              <a:t>35</a:t>
            </a:fld>
            <a:endParaRPr lang="en-US" altLang="zh-CN"/>
          </a:p>
        </p:txBody>
      </p:sp>
      <p:sp>
        <p:nvSpPr>
          <p:cNvPr id="317442" name="Rectangle 2">
            <a:extLst>
              <a:ext uri="{FF2B5EF4-FFF2-40B4-BE49-F238E27FC236}">
                <a16:creationId xmlns:a16="http://schemas.microsoft.com/office/drawing/2014/main" id="{A9A2F8A9-E8BD-4C9B-8B13-E8787F6102CA}"/>
              </a:ext>
            </a:extLst>
          </p:cNvPr>
          <p:cNvSpPr>
            <a:spLocks noGrp="1" noChangeArrowheads="1"/>
          </p:cNvSpPr>
          <p:nvPr>
            <p:ph type="body" idx="1"/>
          </p:nvPr>
        </p:nvSpPr>
        <p:spPr>
          <a:xfrm>
            <a:off x="228600" y="533400"/>
            <a:ext cx="8686800" cy="6324600"/>
          </a:xfrm>
        </p:spPr>
        <p:txBody>
          <a:bodyPr/>
          <a:lstStyle/>
          <a:p>
            <a:pPr marL="0" indent="0" algn="just"/>
            <a:r>
              <a:rPr lang="en-US" altLang="zh-CN" b="1">
                <a:ea typeface="楷体_GB2312" pitchFamily="49" charset="-122"/>
              </a:rPr>
              <a:t>1</a:t>
            </a:r>
            <a:r>
              <a:rPr lang="zh-CN" altLang="en-US" b="1">
                <a:ea typeface="楷体_GB2312" pitchFamily="49" charset="-122"/>
              </a:rPr>
              <a:t>．单字符输入（</a:t>
            </a:r>
            <a:r>
              <a:rPr lang="en-US" altLang="zh-CN" b="1">
                <a:ea typeface="楷体_GB2312" pitchFamily="49" charset="-122"/>
              </a:rPr>
              <a:t>1</a:t>
            </a:r>
            <a:r>
              <a:rPr lang="zh-CN" altLang="en-US" b="1">
                <a:ea typeface="楷体_GB2312" pitchFamily="49" charset="-122"/>
              </a:rPr>
              <a:t>号调用）</a:t>
            </a:r>
          </a:p>
          <a:p>
            <a:pPr marL="0" indent="0" algn="just">
              <a:buFontTx/>
              <a:buNone/>
            </a:pPr>
            <a:r>
              <a:rPr lang="zh-CN" altLang="en-US" b="1"/>
              <a:t>格式：</a:t>
            </a:r>
            <a:r>
              <a:rPr lang="en-US" altLang="zh-CN" b="1"/>
              <a:t>MOV	AH</a:t>
            </a:r>
            <a:r>
              <a:rPr lang="zh-CN" altLang="en-US" b="1"/>
              <a:t>，</a:t>
            </a:r>
            <a:r>
              <a:rPr lang="en-US" altLang="zh-CN" b="1"/>
              <a:t>1</a:t>
            </a:r>
          </a:p>
          <a:p>
            <a:pPr marL="0" indent="0" algn="just">
              <a:buFontTx/>
              <a:buNone/>
            </a:pPr>
            <a:r>
              <a:rPr lang="zh-CN" altLang="en-US" b="1"/>
              <a:t>　        </a:t>
            </a:r>
            <a:r>
              <a:rPr lang="en-US" altLang="zh-CN" b="1"/>
              <a:t>INT	21H</a:t>
            </a:r>
          </a:p>
          <a:p>
            <a:pPr marL="0" indent="0">
              <a:buFontTx/>
              <a:buNone/>
            </a:pPr>
            <a:r>
              <a:rPr lang="zh-CN" altLang="en-US" b="1"/>
              <a:t>功能：从键盘输入字符的</a:t>
            </a:r>
            <a:r>
              <a:rPr lang="en-US" altLang="zh-CN" b="1"/>
              <a:t>ASCII</a:t>
            </a:r>
            <a:r>
              <a:rPr lang="zh-CN" altLang="en-US" b="1"/>
              <a:t>码送入寄存器</a:t>
            </a:r>
            <a:r>
              <a:rPr lang="en-US" altLang="zh-CN" b="1"/>
              <a:t>AL</a:t>
            </a:r>
            <a:r>
              <a:rPr lang="zh-CN" altLang="en-US" b="1"/>
              <a:t>中，并送显示器显示。</a:t>
            </a:r>
          </a:p>
          <a:p>
            <a:pPr marL="0" indent="0">
              <a:buFontTx/>
              <a:buNone/>
            </a:pPr>
            <a:endParaRPr lang="en-US" altLang="zh-CN" b="1"/>
          </a:p>
        </p:txBody>
      </p:sp>
      <p:sp>
        <p:nvSpPr>
          <p:cNvPr id="317443" name="Text Box 3">
            <a:extLst>
              <a:ext uri="{FF2B5EF4-FFF2-40B4-BE49-F238E27FC236}">
                <a16:creationId xmlns:a16="http://schemas.microsoft.com/office/drawing/2014/main" id="{13D19F3D-E750-4812-A694-95C08C2AEE14}"/>
              </a:ext>
            </a:extLst>
          </p:cNvPr>
          <p:cNvSpPr txBox="1">
            <a:spLocks noChangeArrowheads="1"/>
          </p:cNvSpPr>
          <p:nvPr/>
        </p:nvSpPr>
        <p:spPr bwMode="auto">
          <a:xfrm>
            <a:off x="250825" y="3933825"/>
            <a:ext cx="8713788" cy="2528888"/>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539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buSzPct val="60000"/>
              <a:buFont typeface="Wingdings" panose="05000000000000000000" pitchFamily="2" charset="2"/>
              <a:buChar char="l"/>
            </a:pPr>
            <a:r>
              <a:rPr kumimoji="1" lang="en-US" altLang="zh-CN" sz="3200" b="1">
                <a:latin typeface="Times New Roman" panose="02020603050405020304" pitchFamily="18" charset="0"/>
              </a:rPr>
              <a:t>2</a:t>
            </a:r>
            <a:r>
              <a:rPr kumimoji="1" lang="zh-CN" altLang="en-US" sz="3200" b="1">
                <a:latin typeface="Times New Roman" panose="02020603050405020304" pitchFamily="18" charset="0"/>
              </a:rPr>
              <a:t>．单字符显示（</a:t>
            </a:r>
            <a:r>
              <a:rPr kumimoji="1" lang="en-US" altLang="zh-CN" sz="3200" b="1">
                <a:latin typeface="Times New Roman" panose="02020603050405020304" pitchFamily="18" charset="0"/>
              </a:rPr>
              <a:t>2</a:t>
            </a:r>
            <a:r>
              <a:rPr kumimoji="1" lang="zh-CN" altLang="en-US" sz="3200" b="1">
                <a:latin typeface="Times New Roman" panose="02020603050405020304" pitchFamily="18" charset="0"/>
              </a:rPr>
              <a:t>号调用）</a:t>
            </a:r>
          </a:p>
          <a:p>
            <a:r>
              <a:rPr kumimoji="1" lang="zh-CN" altLang="en-US" sz="3200" b="1">
                <a:latin typeface="Times New Roman" panose="02020603050405020304" pitchFamily="18" charset="0"/>
              </a:rPr>
              <a:t>格式：</a:t>
            </a:r>
            <a:r>
              <a:rPr kumimoji="1" lang="en-US" altLang="zh-CN" sz="3200" b="1">
                <a:latin typeface="Times New Roman" panose="02020603050405020304" pitchFamily="18" charset="0"/>
              </a:rPr>
              <a:t>MOV  DL</a:t>
            </a:r>
            <a:r>
              <a:rPr kumimoji="1" lang="zh-CN" altLang="en-US" sz="3200" b="1">
                <a:latin typeface="Times New Roman" panose="02020603050405020304" pitchFamily="18" charset="0"/>
              </a:rPr>
              <a:t>，待显示字符的</a:t>
            </a:r>
            <a:r>
              <a:rPr kumimoji="1" lang="en-US" altLang="zh-CN" sz="3200" b="1">
                <a:latin typeface="Times New Roman" panose="02020603050405020304" pitchFamily="18" charset="0"/>
              </a:rPr>
              <a:t>ASCII</a:t>
            </a:r>
            <a:r>
              <a:rPr kumimoji="1" lang="zh-CN" altLang="en-US" sz="3200" b="1">
                <a:latin typeface="Times New Roman" panose="02020603050405020304" pitchFamily="18" charset="0"/>
              </a:rPr>
              <a:t>码</a:t>
            </a:r>
          </a:p>
          <a:p>
            <a:r>
              <a:rPr kumimoji="1" lang="zh-CN" altLang="en-US" sz="3200" b="1">
                <a:latin typeface="Times New Roman" panose="02020603050405020304" pitchFamily="18" charset="0"/>
              </a:rPr>
              <a:t>　        </a:t>
            </a:r>
            <a:r>
              <a:rPr kumimoji="1" lang="en-US" altLang="zh-CN" sz="3200" b="1">
                <a:latin typeface="Times New Roman" panose="02020603050405020304" pitchFamily="18" charset="0"/>
              </a:rPr>
              <a:t>MOV  AH</a:t>
            </a:r>
            <a:r>
              <a:rPr kumimoji="1" lang="zh-CN" altLang="en-US" sz="3200" b="1">
                <a:latin typeface="Times New Roman" panose="02020603050405020304" pitchFamily="18" charset="0"/>
              </a:rPr>
              <a:t>，</a:t>
            </a:r>
            <a:r>
              <a:rPr kumimoji="1" lang="en-US" altLang="zh-CN" sz="3200" b="1">
                <a:latin typeface="Times New Roman" panose="02020603050405020304" pitchFamily="18" charset="0"/>
              </a:rPr>
              <a:t>2</a:t>
            </a:r>
          </a:p>
          <a:p>
            <a:r>
              <a:rPr kumimoji="1" lang="zh-CN" altLang="en-US" sz="3200" b="1">
                <a:latin typeface="Times New Roman" panose="02020603050405020304" pitchFamily="18" charset="0"/>
              </a:rPr>
              <a:t>　         </a:t>
            </a:r>
            <a:r>
              <a:rPr kumimoji="1" lang="en-US" altLang="zh-CN" sz="3200" b="1">
                <a:latin typeface="Times New Roman" panose="02020603050405020304" pitchFamily="18" charset="0"/>
              </a:rPr>
              <a:t>INT   21H</a:t>
            </a:r>
          </a:p>
          <a:p>
            <a:r>
              <a:rPr kumimoji="1" lang="zh-CN" altLang="en-US" sz="3200" b="1">
                <a:latin typeface="Times New Roman" panose="02020603050405020304" pitchFamily="18" charset="0"/>
              </a:rPr>
              <a:t>功能：将</a:t>
            </a:r>
            <a:r>
              <a:rPr kumimoji="1" lang="en-US" altLang="zh-CN" sz="3200" b="1">
                <a:latin typeface="Times New Roman" panose="02020603050405020304" pitchFamily="18" charset="0"/>
              </a:rPr>
              <a:t>DL</a:t>
            </a:r>
            <a:r>
              <a:rPr kumimoji="1" lang="zh-CN" altLang="en-US" sz="3200" b="1">
                <a:latin typeface="Times New Roman" panose="02020603050405020304" pitchFamily="18" charset="0"/>
              </a:rPr>
              <a:t>寄存器中的字符送显示器显示</a:t>
            </a:r>
            <a:r>
              <a:rPr kumimoji="1" lang="en-US" altLang="zh-CN" sz="3200" b="1">
                <a:latin typeface="Times New Roman" panose="02020603050405020304" pitchFamily="18" charset="0"/>
              </a:rPr>
              <a: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17442"/>
                                        </p:tgtEl>
                                        <p:attrNameLst>
                                          <p:attrName>style.visibility</p:attrName>
                                        </p:attrNameLst>
                                      </p:cBhvr>
                                      <p:to>
                                        <p:strVal val="visible"/>
                                      </p:to>
                                    </p:set>
                                    <p:anim to="" calcmode="lin" valueType="num">
                                      <p:cBhvr>
                                        <p:cTn id="7" dur="1" fill="hold"/>
                                        <p:tgtEl>
                                          <p:spTgt spid="317442"/>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317443"/>
                                        </p:tgtEl>
                                        <p:attrNameLst>
                                          <p:attrName>style.visibility</p:attrName>
                                        </p:attrNameLst>
                                      </p:cBhvr>
                                      <p:to>
                                        <p:strVal val="visible"/>
                                      </p:to>
                                    </p:set>
                                    <p:anim to="" calcmode="lin" valueType="num">
                                      <p:cBhvr>
                                        <p:cTn id="12" dur="1" fill="hold"/>
                                        <p:tgtEl>
                                          <p:spTgt spid="317443"/>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42" grpId="0"/>
      <p:bldP spid="317443" grpId="0"/>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A55C7080-1761-406A-84D1-BD7E56FC15C4}"/>
              </a:ext>
            </a:extLst>
          </p:cNvPr>
          <p:cNvSpPr>
            <a:spLocks noGrp="1"/>
          </p:cNvSpPr>
          <p:nvPr>
            <p:ph type="sldNum" sz="quarter" idx="12"/>
          </p:nvPr>
        </p:nvSpPr>
        <p:spPr/>
        <p:txBody>
          <a:bodyPr/>
          <a:lstStyle/>
          <a:p>
            <a:fld id="{DF659BDA-87EE-4C7E-94AC-038168CE994F}" type="slidenum">
              <a:rPr lang="en-US" altLang="zh-CN"/>
              <a:pPr/>
              <a:t>36</a:t>
            </a:fld>
            <a:endParaRPr lang="en-US" altLang="zh-CN"/>
          </a:p>
        </p:txBody>
      </p:sp>
      <p:sp>
        <p:nvSpPr>
          <p:cNvPr id="318466" name="Rectangle 2">
            <a:extLst>
              <a:ext uri="{FF2B5EF4-FFF2-40B4-BE49-F238E27FC236}">
                <a16:creationId xmlns:a16="http://schemas.microsoft.com/office/drawing/2014/main" id="{B2D80199-2416-489F-A37A-0F8E0BB2898F}"/>
              </a:ext>
            </a:extLst>
          </p:cNvPr>
          <p:cNvSpPr>
            <a:spLocks noGrp="1" noChangeArrowheads="1"/>
          </p:cNvSpPr>
          <p:nvPr>
            <p:ph type="body" idx="1"/>
          </p:nvPr>
        </p:nvSpPr>
        <p:spPr>
          <a:xfrm>
            <a:off x="685800" y="609600"/>
            <a:ext cx="8229600" cy="3179763"/>
          </a:xfrm>
        </p:spPr>
        <p:txBody>
          <a:bodyPr/>
          <a:lstStyle/>
          <a:p>
            <a:pPr algn="just"/>
            <a:r>
              <a:rPr lang="en-US" altLang="zh-CN" b="1">
                <a:ea typeface="楷体_GB2312" pitchFamily="49" charset="-122"/>
              </a:rPr>
              <a:t>3</a:t>
            </a:r>
            <a:r>
              <a:rPr lang="zh-CN" altLang="en-US" b="1">
                <a:ea typeface="楷体_GB2312" pitchFamily="49" charset="-122"/>
              </a:rPr>
              <a:t>．打印输出（</a:t>
            </a:r>
            <a:r>
              <a:rPr lang="en-US" altLang="zh-CN" b="1">
                <a:ea typeface="楷体_GB2312" pitchFamily="49" charset="-122"/>
              </a:rPr>
              <a:t>5</a:t>
            </a:r>
            <a:r>
              <a:rPr lang="zh-CN" altLang="en-US" b="1">
                <a:ea typeface="楷体_GB2312" pitchFamily="49" charset="-122"/>
              </a:rPr>
              <a:t>号调用）</a:t>
            </a:r>
          </a:p>
          <a:p>
            <a:pPr algn="just">
              <a:buFontTx/>
              <a:buNone/>
            </a:pPr>
            <a:r>
              <a:rPr lang="zh-CN" altLang="en-US" b="1"/>
              <a:t>格式：</a:t>
            </a:r>
            <a:r>
              <a:rPr lang="en-US" altLang="zh-CN" b="1"/>
              <a:t>MOV	DL</a:t>
            </a:r>
            <a:r>
              <a:rPr lang="zh-CN" altLang="en-US" b="1"/>
              <a:t>，待打印字符的</a:t>
            </a:r>
            <a:r>
              <a:rPr lang="en-US" altLang="zh-CN" b="1"/>
              <a:t>ASCII</a:t>
            </a:r>
            <a:r>
              <a:rPr lang="zh-CN" altLang="en-US" b="1"/>
              <a:t>码</a:t>
            </a:r>
          </a:p>
          <a:p>
            <a:pPr algn="just">
              <a:buFontTx/>
              <a:buNone/>
            </a:pPr>
            <a:r>
              <a:rPr lang="zh-CN" altLang="en-US" b="1"/>
              <a:t>　        </a:t>
            </a:r>
            <a:r>
              <a:rPr lang="en-US" altLang="zh-CN" b="1"/>
              <a:t>MOV	AH</a:t>
            </a:r>
            <a:r>
              <a:rPr lang="zh-CN" altLang="en-US" b="1"/>
              <a:t>，</a:t>
            </a:r>
            <a:r>
              <a:rPr lang="en-US" altLang="zh-CN" b="1"/>
              <a:t>5</a:t>
            </a:r>
          </a:p>
          <a:p>
            <a:pPr algn="just">
              <a:buFontTx/>
              <a:buNone/>
            </a:pPr>
            <a:r>
              <a:rPr lang="zh-CN" altLang="en-US" b="1"/>
              <a:t>　        </a:t>
            </a:r>
            <a:r>
              <a:rPr lang="en-US" altLang="zh-CN" b="1"/>
              <a:t>INT	21H</a:t>
            </a:r>
          </a:p>
          <a:p>
            <a:pPr algn="just">
              <a:buFontTx/>
              <a:buNone/>
            </a:pPr>
            <a:r>
              <a:rPr lang="zh-CN" altLang="en-US" b="1"/>
              <a:t>功能：将</a:t>
            </a:r>
            <a:r>
              <a:rPr lang="en-US" altLang="zh-CN" b="1"/>
              <a:t>DL</a:t>
            </a:r>
            <a:r>
              <a:rPr lang="zh-CN" altLang="en-US" b="1"/>
              <a:t>寄存器中的字符送打印机打印。</a:t>
            </a:r>
          </a:p>
        </p:txBody>
      </p:sp>
      <p:sp>
        <p:nvSpPr>
          <p:cNvPr id="318467" name="Text Box 3">
            <a:extLst>
              <a:ext uri="{FF2B5EF4-FFF2-40B4-BE49-F238E27FC236}">
                <a16:creationId xmlns:a16="http://schemas.microsoft.com/office/drawing/2014/main" id="{0B51185A-E3D7-46AD-874E-46F029667F3B}"/>
              </a:ext>
            </a:extLst>
          </p:cNvPr>
          <p:cNvSpPr txBox="1">
            <a:spLocks noChangeArrowheads="1"/>
          </p:cNvSpPr>
          <p:nvPr/>
        </p:nvSpPr>
        <p:spPr bwMode="auto">
          <a:xfrm>
            <a:off x="611188" y="4005263"/>
            <a:ext cx="8281987" cy="2041525"/>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539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r>
              <a:rPr kumimoji="1" lang="en-US" altLang="zh-CN" sz="3200" b="1">
                <a:latin typeface="Times New Roman" panose="02020603050405020304" pitchFamily="18" charset="0"/>
              </a:rPr>
              <a:t>4</a:t>
            </a:r>
            <a:r>
              <a:rPr kumimoji="1" lang="zh-CN" altLang="en-US" sz="3200" b="1">
                <a:latin typeface="Times New Roman" panose="02020603050405020304" pitchFamily="18" charset="0"/>
              </a:rPr>
              <a:t>．结束调用（</a:t>
            </a:r>
            <a:r>
              <a:rPr kumimoji="1" lang="en-US" altLang="zh-CN" sz="3200" b="1">
                <a:latin typeface="Times New Roman" panose="02020603050405020304" pitchFamily="18" charset="0"/>
              </a:rPr>
              <a:t>4CH</a:t>
            </a:r>
            <a:r>
              <a:rPr kumimoji="1" lang="zh-CN" altLang="en-US" sz="3200" b="1">
                <a:latin typeface="Times New Roman" panose="02020603050405020304" pitchFamily="18" charset="0"/>
              </a:rPr>
              <a:t>号调用）</a:t>
            </a:r>
          </a:p>
          <a:p>
            <a:r>
              <a:rPr kumimoji="1" lang="zh-CN" altLang="en-US" sz="3200" b="1">
                <a:latin typeface="Times New Roman" panose="02020603050405020304" pitchFamily="18" charset="0"/>
              </a:rPr>
              <a:t>格式：</a:t>
            </a:r>
            <a:r>
              <a:rPr kumimoji="1" lang="en-US" altLang="zh-CN" sz="3200" b="1">
                <a:latin typeface="Times New Roman" panose="02020603050405020304" pitchFamily="18" charset="0"/>
              </a:rPr>
              <a:t>MOV	AH</a:t>
            </a:r>
            <a:r>
              <a:rPr kumimoji="1" lang="zh-CN" altLang="en-US" sz="3200" b="1">
                <a:latin typeface="Times New Roman" panose="02020603050405020304" pitchFamily="18" charset="0"/>
              </a:rPr>
              <a:t>，</a:t>
            </a:r>
            <a:r>
              <a:rPr kumimoji="1" lang="en-US" altLang="zh-CN" sz="3200" b="1">
                <a:latin typeface="Times New Roman" panose="02020603050405020304" pitchFamily="18" charset="0"/>
              </a:rPr>
              <a:t>4CH</a:t>
            </a:r>
          </a:p>
          <a:p>
            <a:r>
              <a:rPr kumimoji="1" lang="zh-CN" altLang="en-US" sz="3200" b="1">
                <a:latin typeface="Times New Roman" panose="02020603050405020304" pitchFamily="18" charset="0"/>
              </a:rPr>
              <a:t>　        </a:t>
            </a:r>
            <a:r>
              <a:rPr kumimoji="1" lang="en-US" altLang="zh-CN" sz="3200" b="1">
                <a:latin typeface="Times New Roman" panose="02020603050405020304" pitchFamily="18" charset="0"/>
              </a:rPr>
              <a:t>INT	21H</a:t>
            </a:r>
          </a:p>
          <a:p>
            <a:r>
              <a:rPr kumimoji="1" lang="zh-CN" altLang="en-US" sz="3200" b="1">
                <a:latin typeface="Times New Roman" panose="02020603050405020304" pitchFamily="18" charset="0"/>
              </a:rPr>
              <a:t>功能：终止当前程序并返回调用程序。</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18466"/>
                                        </p:tgtEl>
                                        <p:attrNameLst>
                                          <p:attrName>style.visibility</p:attrName>
                                        </p:attrNameLst>
                                      </p:cBhvr>
                                      <p:to>
                                        <p:strVal val="visible"/>
                                      </p:to>
                                    </p:set>
                                    <p:anim to="" calcmode="lin" valueType="num">
                                      <p:cBhvr>
                                        <p:cTn id="7" dur="1" fill="hold"/>
                                        <p:tgtEl>
                                          <p:spTgt spid="318466"/>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318467"/>
                                        </p:tgtEl>
                                        <p:attrNameLst>
                                          <p:attrName>style.visibility</p:attrName>
                                        </p:attrNameLst>
                                      </p:cBhvr>
                                      <p:to>
                                        <p:strVal val="visible"/>
                                      </p:to>
                                    </p:set>
                                    <p:anim to="" calcmode="lin" valueType="num">
                                      <p:cBhvr>
                                        <p:cTn id="12" dur="1" fill="hold"/>
                                        <p:tgtEl>
                                          <p:spTgt spid="318467"/>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466" grpId="0"/>
      <p:bldP spid="318467" grpId="0"/>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4" name="Slide Number Placeholder 4">
            <a:extLst>
              <a:ext uri="{FF2B5EF4-FFF2-40B4-BE49-F238E27FC236}">
                <a16:creationId xmlns:a16="http://schemas.microsoft.com/office/drawing/2014/main" id="{4ECCE7E3-5B8D-449A-A049-12766668B98E}"/>
              </a:ext>
            </a:extLst>
          </p:cNvPr>
          <p:cNvSpPr>
            <a:spLocks noGrp="1"/>
          </p:cNvSpPr>
          <p:nvPr>
            <p:ph type="sldNum" sz="quarter" idx="12"/>
          </p:nvPr>
        </p:nvSpPr>
        <p:spPr/>
        <p:txBody>
          <a:bodyPr/>
          <a:lstStyle/>
          <a:p>
            <a:fld id="{64CE6838-DA72-4A15-8A7E-20F9BC50094D}" type="slidenum">
              <a:rPr lang="en-US" altLang="zh-CN"/>
              <a:pPr/>
              <a:t>37</a:t>
            </a:fld>
            <a:endParaRPr lang="en-US" altLang="zh-CN"/>
          </a:p>
        </p:txBody>
      </p:sp>
      <p:graphicFrame>
        <p:nvGraphicFramePr>
          <p:cNvPr id="348165" name="Object 5">
            <a:extLst>
              <a:ext uri="{FF2B5EF4-FFF2-40B4-BE49-F238E27FC236}">
                <a16:creationId xmlns:a16="http://schemas.microsoft.com/office/drawing/2014/main" id="{CDE2A8A7-C4F9-4CD6-8F47-19C644836515}"/>
              </a:ext>
            </a:extLst>
          </p:cNvPr>
          <p:cNvGraphicFramePr>
            <a:graphicFrameLocks noGrp="1" noChangeAspect="1"/>
          </p:cNvGraphicFramePr>
          <p:nvPr>
            <p:ph/>
          </p:nvPr>
        </p:nvGraphicFramePr>
        <p:xfrm>
          <a:off x="1676400" y="381000"/>
          <a:ext cx="5854700" cy="6248400"/>
        </p:xfrm>
        <a:graphic>
          <a:graphicData uri="http://schemas.openxmlformats.org/presentationml/2006/ole">
            <mc:AlternateContent xmlns:mc="http://schemas.openxmlformats.org/markup-compatibility/2006">
              <mc:Choice xmlns:v="urn:schemas-microsoft-com:vml" Requires="v">
                <p:oleObj spid="_x0000_s1034" name="Visio" r:id="rId3" imgW="1976387" imgH="2109537" progId="Visio.Drawing.11">
                  <p:embed/>
                </p:oleObj>
              </mc:Choice>
              <mc:Fallback>
                <p:oleObj name="Visio" r:id="rId3" imgW="1976387" imgH="2109537" progId="Visio.Drawing.11">
                  <p:embed/>
                  <p:pic>
                    <p:nvPicPr>
                      <p:cNvPr id="348165" name="Object 5">
                        <a:extLst>
                          <a:ext uri="{FF2B5EF4-FFF2-40B4-BE49-F238E27FC236}">
                            <a16:creationId xmlns:a16="http://schemas.microsoft.com/office/drawing/2014/main" id="{CDE2A8A7-C4F9-4CD6-8F47-19C6448365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381000"/>
                        <a:ext cx="5854700"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6A3BCB6A-427B-426C-8BB2-A54DAE649989}"/>
              </a:ext>
            </a:extLst>
          </p:cNvPr>
          <p:cNvSpPr>
            <a:spLocks noGrp="1"/>
          </p:cNvSpPr>
          <p:nvPr>
            <p:ph type="sldNum" sz="quarter" idx="12"/>
          </p:nvPr>
        </p:nvSpPr>
        <p:spPr/>
        <p:txBody>
          <a:bodyPr/>
          <a:lstStyle/>
          <a:p>
            <a:fld id="{ABE43406-D500-4C7F-9499-AF63EE6581CB}" type="slidenum">
              <a:rPr lang="en-US" altLang="zh-CN"/>
              <a:pPr/>
              <a:t>38</a:t>
            </a:fld>
            <a:endParaRPr lang="en-US" altLang="zh-CN"/>
          </a:p>
        </p:txBody>
      </p:sp>
      <p:sp>
        <p:nvSpPr>
          <p:cNvPr id="319490" name="Rectangle 2">
            <a:extLst>
              <a:ext uri="{FF2B5EF4-FFF2-40B4-BE49-F238E27FC236}">
                <a16:creationId xmlns:a16="http://schemas.microsoft.com/office/drawing/2014/main" id="{B67D4532-A0E6-4420-ACF6-771C43BD32DF}"/>
              </a:ext>
            </a:extLst>
          </p:cNvPr>
          <p:cNvSpPr>
            <a:spLocks noGrp="1" noChangeArrowheads="1"/>
          </p:cNvSpPr>
          <p:nvPr>
            <p:ph type="body" idx="1"/>
          </p:nvPr>
        </p:nvSpPr>
        <p:spPr>
          <a:xfrm>
            <a:off x="179388" y="304800"/>
            <a:ext cx="8713787" cy="3916363"/>
          </a:xfrm>
        </p:spPr>
        <p:txBody>
          <a:bodyPr/>
          <a:lstStyle/>
          <a:p>
            <a:pPr algn="just"/>
            <a:r>
              <a:rPr lang="en-US" altLang="zh-CN" b="1" dirty="0">
                <a:ea typeface="楷体_GB2312" pitchFamily="49" charset="-122"/>
              </a:rPr>
              <a:t>5</a:t>
            </a:r>
            <a:r>
              <a:rPr lang="zh-CN" altLang="en-US" b="1" dirty="0">
                <a:ea typeface="楷体_GB2312" pitchFamily="49" charset="-122"/>
              </a:rPr>
              <a:t>．显示字符串（</a:t>
            </a:r>
            <a:r>
              <a:rPr lang="en-US" altLang="zh-CN" b="1" dirty="0">
                <a:ea typeface="楷体_GB2312" pitchFamily="49" charset="-122"/>
              </a:rPr>
              <a:t>9</a:t>
            </a:r>
            <a:r>
              <a:rPr lang="zh-CN" altLang="en-US" b="1" dirty="0">
                <a:ea typeface="楷体_GB2312" pitchFamily="49" charset="-122"/>
              </a:rPr>
              <a:t>号调用）</a:t>
            </a:r>
          </a:p>
          <a:p>
            <a:pPr algn="just">
              <a:buFontTx/>
              <a:buNone/>
            </a:pPr>
            <a:r>
              <a:rPr lang="zh-CN" altLang="en-US" b="1" dirty="0"/>
              <a:t>格式：</a:t>
            </a:r>
            <a:r>
              <a:rPr lang="en-US" altLang="zh-CN" b="1" dirty="0"/>
              <a:t>LEA	 DX</a:t>
            </a:r>
            <a:r>
              <a:rPr lang="zh-CN" altLang="en-US" b="1" dirty="0"/>
              <a:t>，待显示字符串首偏移地址</a:t>
            </a:r>
          </a:p>
          <a:p>
            <a:pPr algn="just">
              <a:buFontTx/>
              <a:buNone/>
            </a:pPr>
            <a:r>
              <a:rPr lang="zh-CN" altLang="en-US" b="1" dirty="0"/>
              <a:t>　        </a:t>
            </a:r>
            <a:r>
              <a:rPr lang="en-US" altLang="zh-CN" b="1" dirty="0"/>
              <a:t>MOV	AH</a:t>
            </a:r>
            <a:r>
              <a:rPr lang="zh-CN" altLang="en-US" b="1" dirty="0"/>
              <a:t>，</a:t>
            </a:r>
            <a:r>
              <a:rPr lang="en-US" altLang="zh-CN" b="1" dirty="0"/>
              <a:t>9</a:t>
            </a:r>
          </a:p>
          <a:p>
            <a:pPr algn="just">
              <a:buFontTx/>
              <a:buNone/>
            </a:pPr>
            <a:r>
              <a:rPr lang="zh-CN" altLang="en-US" b="1" dirty="0"/>
              <a:t>　        </a:t>
            </a:r>
            <a:r>
              <a:rPr lang="en-US" altLang="zh-CN" b="1" dirty="0"/>
              <a:t>INT	21H</a:t>
            </a:r>
          </a:p>
          <a:p>
            <a:pPr>
              <a:buFontTx/>
              <a:buNone/>
            </a:pPr>
            <a:r>
              <a:rPr lang="zh-CN" altLang="en-US" b="1" dirty="0"/>
              <a:t>功能：将当前数据区中以‘＄’结尾的字符串送显示器显示。 </a:t>
            </a:r>
          </a:p>
        </p:txBody>
      </p:sp>
      <p:sp>
        <p:nvSpPr>
          <p:cNvPr id="319491" name="Text Box 3">
            <a:extLst>
              <a:ext uri="{FF2B5EF4-FFF2-40B4-BE49-F238E27FC236}">
                <a16:creationId xmlns:a16="http://schemas.microsoft.com/office/drawing/2014/main" id="{36F896F7-3F68-465C-8368-CADECAB6840C}"/>
              </a:ext>
            </a:extLst>
          </p:cNvPr>
          <p:cNvSpPr txBox="1">
            <a:spLocks noChangeArrowheads="1"/>
          </p:cNvSpPr>
          <p:nvPr/>
        </p:nvSpPr>
        <p:spPr bwMode="auto">
          <a:xfrm>
            <a:off x="250825" y="3644900"/>
            <a:ext cx="8424863" cy="3016250"/>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539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r>
              <a:rPr kumimoji="1" lang="en-US" altLang="zh-CN" sz="3200" b="1">
                <a:latin typeface="Times New Roman" panose="02020603050405020304" pitchFamily="18" charset="0"/>
              </a:rPr>
              <a:t>6</a:t>
            </a:r>
            <a:r>
              <a:rPr kumimoji="1" lang="zh-CN" altLang="en-US" sz="3200" b="1">
                <a:latin typeface="Times New Roman" panose="02020603050405020304" pitchFamily="18" charset="0"/>
              </a:rPr>
              <a:t>．字符串输入（</a:t>
            </a:r>
            <a:r>
              <a:rPr kumimoji="1" lang="en-US" altLang="zh-CN" sz="3200" b="1">
                <a:latin typeface="Times New Roman" panose="02020603050405020304" pitchFamily="18" charset="0"/>
              </a:rPr>
              <a:t>10</a:t>
            </a:r>
            <a:r>
              <a:rPr kumimoji="1" lang="zh-CN" altLang="en-US" sz="3200" b="1">
                <a:latin typeface="Times New Roman" panose="02020603050405020304" pitchFamily="18" charset="0"/>
              </a:rPr>
              <a:t>号调用）</a:t>
            </a:r>
          </a:p>
          <a:p>
            <a:r>
              <a:rPr kumimoji="1" lang="zh-CN" altLang="en-US" sz="3200" b="1">
                <a:latin typeface="Times New Roman" panose="02020603050405020304" pitchFamily="18" charset="0"/>
              </a:rPr>
              <a:t>格式：</a:t>
            </a:r>
            <a:r>
              <a:rPr kumimoji="1" lang="en-US" altLang="zh-CN" sz="3200" b="1">
                <a:latin typeface="Times New Roman" panose="02020603050405020304" pitchFamily="18" charset="0"/>
              </a:rPr>
              <a:t>LEA     DX</a:t>
            </a:r>
            <a:r>
              <a:rPr kumimoji="1" lang="zh-CN" altLang="en-US" sz="3200" b="1">
                <a:latin typeface="Times New Roman" panose="02020603050405020304" pitchFamily="18" charset="0"/>
              </a:rPr>
              <a:t>，缓冲区首偏移地址</a:t>
            </a:r>
          </a:p>
          <a:p>
            <a:r>
              <a:rPr kumimoji="1" lang="zh-CN" altLang="en-US" sz="3200" b="1">
                <a:latin typeface="Times New Roman" panose="02020603050405020304" pitchFamily="18" charset="0"/>
              </a:rPr>
              <a:t>            </a:t>
            </a:r>
            <a:r>
              <a:rPr kumimoji="1" lang="en-US" altLang="zh-CN" sz="3200" b="1">
                <a:latin typeface="Times New Roman" panose="02020603050405020304" pitchFamily="18" charset="0"/>
              </a:rPr>
              <a:t>MOV    AH</a:t>
            </a:r>
            <a:r>
              <a:rPr kumimoji="1" lang="zh-CN" altLang="en-US" sz="3200" b="1">
                <a:latin typeface="Times New Roman" panose="02020603050405020304" pitchFamily="18" charset="0"/>
              </a:rPr>
              <a:t>，</a:t>
            </a:r>
            <a:r>
              <a:rPr kumimoji="1" lang="en-US" altLang="zh-CN" sz="3200" b="1">
                <a:latin typeface="Times New Roman" panose="02020603050405020304" pitchFamily="18" charset="0"/>
              </a:rPr>
              <a:t>10</a:t>
            </a:r>
          </a:p>
          <a:p>
            <a:r>
              <a:rPr kumimoji="1" lang="en-US" altLang="zh-CN" sz="3200" b="1">
                <a:latin typeface="Times New Roman" panose="02020603050405020304" pitchFamily="18" charset="0"/>
              </a:rPr>
              <a:t>            INT      21H</a:t>
            </a:r>
          </a:p>
          <a:p>
            <a:r>
              <a:rPr kumimoji="1" lang="zh-CN" altLang="en-US" sz="3200" b="1">
                <a:latin typeface="Times New Roman" panose="02020603050405020304" pitchFamily="18" charset="0"/>
              </a:rPr>
              <a:t>功能：从键盘上输入一字符串到用户定义的输入缓冲区中，并送显示器显示。</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319490"/>
                                        </p:tgtEl>
                                        <p:attrNameLst>
                                          <p:attrName>style.visibility</p:attrName>
                                        </p:attrNameLst>
                                      </p:cBhvr>
                                      <p:to>
                                        <p:strVal val="visible"/>
                                      </p:to>
                                    </p:set>
                                    <p:anim to="" calcmode="lin" valueType="num">
                                      <p:cBhvr>
                                        <p:cTn id="7" dur="1" fill="hold"/>
                                        <p:tgtEl>
                                          <p:spTgt spid="319490"/>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319491"/>
                                        </p:tgtEl>
                                        <p:attrNameLst>
                                          <p:attrName>style.visibility</p:attrName>
                                        </p:attrNameLst>
                                      </p:cBhvr>
                                      <p:to>
                                        <p:strVal val="visible"/>
                                      </p:to>
                                    </p:set>
                                    <p:anim to="" calcmode="lin" valueType="num">
                                      <p:cBhvr>
                                        <p:cTn id="12" dur="1" fill="hold"/>
                                        <p:tgtEl>
                                          <p:spTgt spid="319491"/>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0" grpId="0"/>
      <p:bldP spid="319491" grpId="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427CDC31-A03B-42EC-9B64-F56B6AB6F073}"/>
              </a:ext>
            </a:extLst>
          </p:cNvPr>
          <p:cNvSpPr>
            <a:spLocks noGrp="1"/>
          </p:cNvSpPr>
          <p:nvPr>
            <p:ph type="sldNum" sz="quarter" idx="12"/>
          </p:nvPr>
        </p:nvSpPr>
        <p:spPr/>
        <p:txBody>
          <a:bodyPr/>
          <a:lstStyle/>
          <a:p>
            <a:fld id="{5FB618CE-00E1-4F5F-82AE-698A44C720C2}" type="slidenum">
              <a:rPr lang="en-US" altLang="zh-CN"/>
              <a:pPr/>
              <a:t>39</a:t>
            </a:fld>
            <a:endParaRPr lang="en-US" altLang="zh-CN"/>
          </a:p>
        </p:txBody>
      </p:sp>
      <p:graphicFrame>
        <p:nvGraphicFramePr>
          <p:cNvPr id="352260" name="Object 4">
            <a:extLst>
              <a:ext uri="{FF2B5EF4-FFF2-40B4-BE49-F238E27FC236}">
                <a16:creationId xmlns:a16="http://schemas.microsoft.com/office/drawing/2014/main" id="{5B44ECA1-0E72-48F7-9867-8C795BACD183}"/>
              </a:ext>
            </a:extLst>
          </p:cNvPr>
          <p:cNvGraphicFramePr>
            <a:graphicFrameLocks noGrp="1" noChangeAspect="1"/>
          </p:cNvGraphicFramePr>
          <p:nvPr>
            <p:ph/>
            <p:extLst>
              <p:ext uri="{D42A27DB-BD31-4B8C-83A1-F6EECF244321}">
                <p14:modId xmlns:p14="http://schemas.microsoft.com/office/powerpoint/2010/main" val="573093451"/>
              </p:ext>
            </p:extLst>
          </p:nvPr>
        </p:nvGraphicFramePr>
        <p:xfrm>
          <a:off x="399876" y="899020"/>
          <a:ext cx="8001000" cy="4221163"/>
        </p:xfrm>
        <a:graphic>
          <a:graphicData uri="http://schemas.openxmlformats.org/presentationml/2006/ole">
            <mc:AlternateContent xmlns:mc="http://schemas.openxmlformats.org/markup-compatibility/2006">
              <mc:Choice xmlns:v="urn:schemas-microsoft-com:vml" Requires="v">
                <p:oleObj spid="_x0000_s3082" name="Visio" r:id="rId3" imgW="2974607" imgH="1569720" progId="Visio.Drawing.11">
                  <p:embed/>
                </p:oleObj>
              </mc:Choice>
              <mc:Fallback>
                <p:oleObj name="Visio" r:id="rId3" imgW="2974607" imgH="1569720" progId="Visio.Drawing.11">
                  <p:embed/>
                  <p:pic>
                    <p:nvPicPr>
                      <p:cNvPr id="352260" name="Object 4">
                        <a:extLst>
                          <a:ext uri="{FF2B5EF4-FFF2-40B4-BE49-F238E27FC236}">
                            <a16:creationId xmlns:a16="http://schemas.microsoft.com/office/drawing/2014/main" id="{5B44ECA1-0E72-48F7-9867-8C795BACD1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876" y="899020"/>
                        <a:ext cx="8001000" cy="422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00263BBA-E4FB-4A71-A42F-CFF550DF9D3B}"/>
              </a:ext>
            </a:extLst>
          </p:cNvPr>
          <p:cNvSpPr>
            <a:spLocks noGrp="1"/>
          </p:cNvSpPr>
          <p:nvPr>
            <p:ph type="sldNum" sz="quarter" idx="12"/>
          </p:nvPr>
        </p:nvSpPr>
        <p:spPr/>
        <p:txBody>
          <a:bodyPr/>
          <a:lstStyle/>
          <a:p>
            <a:fld id="{12C83841-B73C-4885-AA15-AC7ABDC6D8A3}" type="slidenum">
              <a:rPr lang="en-US" altLang="zh-CN"/>
              <a:pPr/>
              <a:t>40</a:t>
            </a:fld>
            <a:endParaRPr lang="en-US" altLang="zh-CN"/>
          </a:p>
        </p:txBody>
      </p:sp>
      <p:graphicFrame>
        <p:nvGraphicFramePr>
          <p:cNvPr id="354308" name="Object 4">
            <a:extLst>
              <a:ext uri="{FF2B5EF4-FFF2-40B4-BE49-F238E27FC236}">
                <a16:creationId xmlns:a16="http://schemas.microsoft.com/office/drawing/2014/main" id="{85E2EF00-12F2-46D0-BDED-6412E5BE2B59}"/>
              </a:ext>
            </a:extLst>
          </p:cNvPr>
          <p:cNvGraphicFramePr>
            <a:graphicFrameLocks noGrp="1" noChangeAspect="1"/>
          </p:cNvGraphicFramePr>
          <p:nvPr>
            <p:ph/>
          </p:nvPr>
        </p:nvGraphicFramePr>
        <p:xfrm>
          <a:off x="990600" y="561975"/>
          <a:ext cx="6096000" cy="4491038"/>
        </p:xfrm>
        <a:graphic>
          <a:graphicData uri="http://schemas.openxmlformats.org/presentationml/2006/ole">
            <mc:AlternateContent xmlns:mc="http://schemas.openxmlformats.org/markup-compatibility/2006">
              <mc:Choice xmlns:v="urn:schemas-microsoft-com:vml" Requires="v">
                <p:oleObj spid="_x0000_s4106" name="Visio" r:id="rId3" imgW="2913647" imgH="2145632" progId="Visio.Drawing.11">
                  <p:embed/>
                </p:oleObj>
              </mc:Choice>
              <mc:Fallback>
                <p:oleObj name="Visio" r:id="rId3" imgW="2913647" imgH="2145632" progId="Visio.Drawing.11">
                  <p:embed/>
                  <p:pic>
                    <p:nvPicPr>
                      <p:cNvPr id="354308" name="Object 4">
                        <a:extLst>
                          <a:ext uri="{FF2B5EF4-FFF2-40B4-BE49-F238E27FC236}">
                            <a16:creationId xmlns:a16="http://schemas.microsoft.com/office/drawing/2014/main" id="{85E2EF00-12F2-46D0-BDED-6412E5BE2B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561975"/>
                        <a:ext cx="6096000" cy="449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Slide Number Placeholder 4">
            <a:extLst>
              <a:ext uri="{FF2B5EF4-FFF2-40B4-BE49-F238E27FC236}">
                <a16:creationId xmlns:a16="http://schemas.microsoft.com/office/drawing/2014/main" id="{B85725F2-BAA5-446A-81B5-88CE483630FC}"/>
              </a:ext>
            </a:extLst>
          </p:cNvPr>
          <p:cNvSpPr>
            <a:spLocks noGrp="1"/>
          </p:cNvSpPr>
          <p:nvPr>
            <p:ph type="sldNum" sz="quarter" idx="12"/>
          </p:nvPr>
        </p:nvSpPr>
        <p:spPr/>
        <p:txBody>
          <a:bodyPr/>
          <a:lstStyle/>
          <a:p>
            <a:fld id="{DA01CD28-2EF9-4724-B951-4DF6A556FDAF}" type="slidenum">
              <a:rPr lang="en-US" altLang="zh-CN"/>
              <a:pPr/>
              <a:t>41</a:t>
            </a:fld>
            <a:endParaRPr lang="en-US" altLang="zh-CN"/>
          </a:p>
        </p:txBody>
      </p:sp>
      <p:sp>
        <p:nvSpPr>
          <p:cNvPr id="356356" name="Rectangle 4">
            <a:extLst>
              <a:ext uri="{FF2B5EF4-FFF2-40B4-BE49-F238E27FC236}">
                <a16:creationId xmlns:a16="http://schemas.microsoft.com/office/drawing/2014/main" id="{781D3B9A-1B06-4413-8FB3-4090330E5A8A}"/>
              </a:ext>
            </a:extLst>
          </p:cNvPr>
          <p:cNvSpPr>
            <a:spLocks noChangeArrowheads="1"/>
          </p:cNvSpPr>
          <p:nvPr/>
        </p:nvSpPr>
        <p:spPr bwMode="auto">
          <a:xfrm>
            <a:off x="685800" y="685800"/>
            <a:ext cx="23177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t>以回车键结束</a:t>
            </a:r>
          </a:p>
        </p:txBody>
      </p:sp>
      <p:sp>
        <p:nvSpPr>
          <p:cNvPr id="356357" name="Rectangle 5">
            <a:extLst>
              <a:ext uri="{FF2B5EF4-FFF2-40B4-BE49-F238E27FC236}">
                <a16:creationId xmlns:a16="http://schemas.microsoft.com/office/drawing/2014/main" id="{963D3A59-F115-4BAA-98CE-2404921712FB}"/>
              </a:ext>
            </a:extLst>
          </p:cNvPr>
          <p:cNvSpPr>
            <a:spLocks noChangeArrowheads="1"/>
          </p:cNvSpPr>
          <p:nvPr/>
        </p:nvSpPr>
        <p:spPr bwMode="auto">
          <a:xfrm>
            <a:off x="762000" y="1371600"/>
            <a:ext cx="18272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t>不足时补</a:t>
            </a:r>
            <a:r>
              <a:rPr lang="en-US" altLang="zh-CN" b="1"/>
              <a:t>0</a:t>
            </a:r>
          </a:p>
        </p:txBody>
      </p:sp>
      <p:sp>
        <p:nvSpPr>
          <p:cNvPr id="356358" name="Rectangle 6">
            <a:extLst>
              <a:ext uri="{FF2B5EF4-FFF2-40B4-BE49-F238E27FC236}">
                <a16:creationId xmlns:a16="http://schemas.microsoft.com/office/drawing/2014/main" id="{6A9DE45B-9C6D-4D82-9D16-EF73811F55BF}"/>
              </a:ext>
            </a:extLst>
          </p:cNvPr>
          <p:cNvSpPr>
            <a:spLocks noChangeArrowheads="1"/>
          </p:cNvSpPr>
          <p:nvPr/>
        </p:nvSpPr>
        <p:spPr bwMode="auto">
          <a:xfrm>
            <a:off x="838200" y="2057400"/>
            <a:ext cx="58531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t>键盘输入字符’</a:t>
            </a:r>
            <a:r>
              <a:rPr lang="en-US" altLang="zh-CN" b="1"/>
              <a:t>7’,</a:t>
            </a:r>
            <a:r>
              <a:rPr lang="zh-CN" altLang="en-US" b="1"/>
              <a:t>下图是内存情况</a:t>
            </a:r>
          </a:p>
        </p:txBody>
      </p:sp>
      <p:graphicFrame>
        <p:nvGraphicFramePr>
          <p:cNvPr id="356359" name="Object 7">
            <a:extLst>
              <a:ext uri="{FF2B5EF4-FFF2-40B4-BE49-F238E27FC236}">
                <a16:creationId xmlns:a16="http://schemas.microsoft.com/office/drawing/2014/main" id="{EC6384F3-7A25-4F4F-8769-DC173B1052C8}"/>
              </a:ext>
            </a:extLst>
          </p:cNvPr>
          <p:cNvGraphicFramePr>
            <a:graphicFrameLocks noGrp="1" noChangeAspect="1"/>
          </p:cNvGraphicFramePr>
          <p:nvPr>
            <p:ph/>
          </p:nvPr>
        </p:nvGraphicFramePr>
        <p:xfrm>
          <a:off x="2057400" y="2895600"/>
          <a:ext cx="2820988" cy="1516063"/>
        </p:xfrm>
        <a:graphic>
          <a:graphicData uri="http://schemas.openxmlformats.org/presentationml/2006/ole">
            <mc:AlternateContent xmlns:mc="http://schemas.openxmlformats.org/markup-compatibility/2006">
              <mc:Choice xmlns:v="urn:schemas-microsoft-com:vml" Requires="v">
                <p:oleObj spid="_x0000_s5130" name="Visio" r:id="rId3" imgW="915603" imgH="492493" progId="Visio.Drawing.11">
                  <p:embed/>
                </p:oleObj>
              </mc:Choice>
              <mc:Fallback>
                <p:oleObj name="Visio" r:id="rId3" imgW="915603" imgH="492493" progId="Visio.Drawing.11">
                  <p:embed/>
                  <p:pic>
                    <p:nvPicPr>
                      <p:cNvPr id="356359" name="Object 7">
                        <a:extLst>
                          <a:ext uri="{FF2B5EF4-FFF2-40B4-BE49-F238E27FC236}">
                            <a16:creationId xmlns:a16="http://schemas.microsoft.com/office/drawing/2014/main" id="{EC6384F3-7A25-4F4F-8769-DC173B1052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895600"/>
                        <a:ext cx="2820988"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56361" name="Rectangle 9">
            <a:extLst>
              <a:ext uri="{FF2B5EF4-FFF2-40B4-BE49-F238E27FC236}">
                <a16:creationId xmlns:a16="http://schemas.microsoft.com/office/drawing/2014/main" id="{20D8A754-B3CE-488A-9558-5D9035C435B2}"/>
              </a:ext>
            </a:extLst>
          </p:cNvPr>
          <p:cNvSpPr>
            <a:spLocks noChangeArrowheads="1"/>
          </p:cNvSpPr>
          <p:nvPr/>
        </p:nvSpPr>
        <p:spPr bwMode="auto">
          <a:xfrm>
            <a:off x="838200" y="4876800"/>
            <a:ext cx="43164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t>这种情况最多输入</a:t>
            </a:r>
            <a:r>
              <a:rPr lang="en-US" altLang="zh-CN" b="1"/>
              <a:t>2</a:t>
            </a:r>
            <a:r>
              <a:rPr lang="zh-CN" altLang="en-US" b="1"/>
              <a:t>个字符</a:t>
            </a:r>
          </a:p>
        </p:txBody>
      </p:sp>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89738"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9933"/>
                </a:solidFill>
                <a:effectLst>
                  <a:outerShdw blurRad="38100" dist="38100" dir="2700000" algn="tl">
                    <a:srgbClr val="000000"/>
                  </a:outerShdw>
                </a:effectLst>
                <a:uLnTx/>
                <a:uFillTx/>
                <a:latin typeface="+mj-lt"/>
                <a:ea typeface="+mj-ea"/>
                <a:cs typeface="+mj-cs"/>
              </a:rPr>
              <a:t>4.4  </a:t>
            </a:r>
            <a:r>
              <a:rPr kumimoji="1" lang="zh-CN" altLang="zh-CN" sz="3200" b="1" i="0" u="none" strike="noStrike" kern="0" cap="none" spc="0" normalizeH="0" baseline="0" noProof="0" dirty="0">
                <a:ln>
                  <a:noFill/>
                </a:ln>
                <a:solidFill>
                  <a:srgbClr val="FF9933"/>
                </a:solidFill>
                <a:effectLst>
                  <a:outerShdw blurRad="38100" dist="38100" dir="2700000" algn="tl">
                    <a:srgbClr val="000000"/>
                  </a:outerShdw>
                </a:effectLst>
                <a:uLnTx/>
                <a:uFillTx/>
                <a:latin typeface="+mj-lt"/>
                <a:ea typeface="+mj-ea"/>
                <a:cs typeface="+mj-cs"/>
              </a:rPr>
              <a:t>汇编程序的功能及汇编过程</a:t>
            </a:r>
          </a:p>
        </p:txBody>
      </p:sp>
      <p:sp>
        <p:nvSpPr>
          <p:cNvPr id="6451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64515" name="Rectangle 11"/>
          <p:cNvSpPr>
            <a:spLocks noGrp="1"/>
          </p:cNvSpPr>
          <p:nvPr>
            <p:ph idx="1"/>
          </p:nvPr>
        </p:nvSpPr>
        <p:spPr>
          <a:xfrm>
            <a:off x="1430338" y="2595563"/>
            <a:ext cx="6364287" cy="2643187"/>
          </a:xfrm>
          <a:ln/>
        </p:spPr>
        <p:txBody>
          <a:bodyPr wrap="square" lIns="92075" tIns="46038" rIns="92075" bIns="46038" anchor="t" anchorCtr="0"/>
          <a:lstStyle/>
          <a:p>
            <a:pPr eaLnBrk="1" hangingPunct="1">
              <a:buNone/>
            </a:pPr>
            <a:r>
              <a:rPr lang="zh-CN" altLang="en-US" dirty="0">
                <a:solidFill>
                  <a:srgbClr val="66FFCC"/>
                </a:solidFill>
              </a:rPr>
              <a:t>4.4.1  汇编程序的功能数据定义伪指令</a:t>
            </a:r>
          </a:p>
          <a:p>
            <a:pPr eaLnBrk="1" hangingPunct="1"/>
            <a:endParaRPr lang="zh-CN" altLang="en-US" dirty="0">
              <a:solidFill>
                <a:srgbClr val="66FFCC"/>
              </a:solidFill>
            </a:endParaRPr>
          </a:p>
          <a:p>
            <a:pPr eaLnBrk="1" hangingPunct="1">
              <a:buNone/>
            </a:pPr>
            <a:r>
              <a:rPr lang="zh-CN" altLang="en-US" dirty="0">
                <a:solidFill>
                  <a:srgbClr val="66FFCC"/>
                </a:solidFill>
              </a:rPr>
              <a:t>4.4.2  程序的编辑、汇编及连接过程</a:t>
            </a:r>
          </a:p>
        </p:txBody>
      </p:sp>
    </p:spTree>
  </p:cSld>
  <p:clrMapOvr>
    <a:masterClrMapping/>
  </p:clrMapOvr>
  <p:transition spd="med">
    <p:random/>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4.4.1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汇编程序的功能</a:t>
            </a:r>
          </a:p>
        </p:txBody>
      </p:sp>
      <p:sp>
        <p:nvSpPr>
          <p:cNvPr id="66562"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66563" name="TextBox 6"/>
          <p:cNvSpPr txBox="1"/>
          <p:nvPr/>
        </p:nvSpPr>
        <p:spPr>
          <a:xfrm>
            <a:off x="674688" y="1927225"/>
            <a:ext cx="7616825" cy="1089025"/>
          </a:xfrm>
          <a:prstGeom prst="rect">
            <a:avLst/>
          </a:prstGeom>
          <a:noFill/>
          <a:ln w="9525">
            <a:noFill/>
          </a:ln>
        </p:spPr>
        <p:txBody>
          <a:bodyPr anchor="t" anchorCtr="0">
            <a:spAutoFit/>
          </a:bodyPr>
          <a:lstStyle/>
          <a:p>
            <a:pPr algn="just"/>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汇编程序的主要功能是将由汇编语言（助记符）编写的程序翻译成用机器语言（二进制代码）编写的目标程序。汇编程序的功能如图</a:t>
            </a:r>
            <a:r>
              <a:rPr lang="en-US" altLang="zh-CN" dirty="0">
                <a:latin typeface="宋体" panose="02010600030101010101" pitchFamily="2" charset="-122"/>
                <a:ea typeface="宋体" panose="02010600030101010101" pitchFamily="2" charset="-122"/>
              </a:rPr>
              <a:t>4-1</a:t>
            </a:r>
            <a:r>
              <a:rPr lang="zh-CN" altLang="zh-CN" dirty="0">
                <a:latin typeface="宋体" panose="02010600030101010101" pitchFamily="2" charset="-122"/>
                <a:ea typeface="宋体" panose="02010600030101010101" pitchFamily="2" charset="-122"/>
              </a:rPr>
              <a:t>所示。</a:t>
            </a:r>
          </a:p>
        </p:txBody>
      </p:sp>
      <p:pic>
        <p:nvPicPr>
          <p:cNvPr id="66564" name="Picture 2" descr="4"/>
          <p:cNvPicPr>
            <a:picLocks noChangeAspect="1"/>
          </p:cNvPicPr>
          <p:nvPr/>
        </p:nvPicPr>
        <p:blipFill>
          <a:blip r:embed="rId3"/>
          <a:stretch>
            <a:fillRect/>
          </a:stretch>
        </p:blipFill>
        <p:spPr>
          <a:xfrm>
            <a:off x="904875" y="3409950"/>
            <a:ext cx="7278688" cy="2636838"/>
          </a:xfrm>
          <a:prstGeom prst="rect">
            <a:avLst/>
          </a:prstGeom>
          <a:noFill/>
          <a:ln w="9525">
            <a:noFill/>
          </a:ln>
        </p:spPr>
      </p:pic>
    </p:spTree>
  </p:cSld>
  <p:clrMapOvr>
    <a:masterClrMapping/>
  </p:clrMapOvr>
  <p:transition spd="med">
    <p:random/>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4.4.2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程序的编辑、汇编及连接过程</a:t>
            </a:r>
          </a:p>
        </p:txBody>
      </p:sp>
      <p:sp>
        <p:nvSpPr>
          <p:cNvPr id="68610"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68611" name="TextBox 6"/>
          <p:cNvSpPr txBox="1"/>
          <p:nvPr/>
        </p:nvSpPr>
        <p:spPr>
          <a:xfrm>
            <a:off x="914400" y="1890713"/>
            <a:ext cx="4572000" cy="4371975"/>
          </a:xfrm>
          <a:prstGeom prst="rect">
            <a:avLst/>
          </a:prstGeom>
          <a:noFill/>
          <a:ln w="9525">
            <a:noFill/>
          </a:ln>
        </p:spPr>
        <p:txBody>
          <a:bodyPr wrap="square" anchor="t" anchorCtr="0">
            <a:spAutoFit/>
          </a:bodyPr>
          <a:lstStyle/>
          <a:p>
            <a:pPr algn="just"/>
            <a:r>
              <a:rPr lang="en-US" altLang="zh-CN" sz="2000" dirty="0">
                <a:latin typeface="Times New Roman" panose="02020603050405020304" pitchFamily="18" charset="0"/>
                <a:ea typeface="宋体" panose="02010600030101010101" pitchFamily="2" charset="-122"/>
              </a:rPr>
              <a:t>    </a:t>
            </a:r>
            <a:r>
              <a:rPr lang="zh-CN" altLang="zh-CN" sz="2000" dirty="0">
                <a:latin typeface="Times New Roman" panose="02020603050405020304" pitchFamily="18" charset="0"/>
                <a:ea typeface="宋体" panose="02010600030101010101" pitchFamily="2" charset="-122"/>
              </a:rPr>
              <a:t>汇编语言的程序一般要经过编辑、汇编（</a:t>
            </a:r>
            <a:r>
              <a:rPr lang="en-US" altLang="zh-CN" sz="2000" dirty="0">
                <a:latin typeface="Times New Roman" panose="02020603050405020304" pitchFamily="18" charset="0"/>
                <a:ea typeface="宋体" panose="02010600030101010101" pitchFamily="2" charset="-122"/>
              </a:rPr>
              <a:t>MASM</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ASM</a:t>
            </a:r>
            <a:r>
              <a:rPr lang="zh-CN" altLang="zh-CN" sz="2000" dirty="0">
                <a:latin typeface="Times New Roman" panose="02020603050405020304" pitchFamily="18" charset="0"/>
                <a:ea typeface="宋体" panose="02010600030101010101" pitchFamily="2" charset="-122"/>
              </a:rPr>
              <a:t>）、连接（</a:t>
            </a:r>
            <a:r>
              <a:rPr lang="en-US" altLang="zh-CN" sz="2000" dirty="0">
                <a:latin typeface="Times New Roman" panose="02020603050405020304" pitchFamily="18" charset="0"/>
                <a:ea typeface="宋体" panose="02010600030101010101" pitchFamily="2" charset="-122"/>
              </a:rPr>
              <a:t>Link</a:t>
            </a:r>
            <a:r>
              <a:rPr lang="zh-CN" altLang="zh-CN" sz="2000" dirty="0">
                <a:latin typeface="Times New Roman" panose="02020603050405020304" pitchFamily="18" charset="0"/>
                <a:ea typeface="宋体" panose="02010600030101010101" pitchFamily="2" charset="-122"/>
              </a:rPr>
              <a:t>）和调试（</a:t>
            </a:r>
            <a:r>
              <a:rPr lang="en-US" altLang="zh-CN" sz="2000" dirty="0">
                <a:latin typeface="Times New Roman" panose="02020603050405020304" pitchFamily="18" charset="0"/>
                <a:ea typeface="宋体" panose="02010600030101010101" pitchFamily="2" charset="-122"/>
              </a:rPr>
              <a:t>Debug</a:t>
            </a:r>
            <a:r>
              <a:rPr lang="zh-CN" altLang="zh-CN" sz="2000" dirty="0">
                <a:latin typeface="Times New Roman" panose="02020603050405020304" pitchFamily="18" charset="0"/>
                <a:ea typeface="宋体" panose="02010600030101010101" pitchFamily="2" charset="-122"/>
              </a:rPr>
              <a:t>）等步骤。汇编语言程序实现的流程如图</a:t>
            </a:r>
            <a:r>
              <a:rPr lang="en-US" altLang="zh-CN" sz="2000" dirty="0">
                <a:latin typeface="Times New Roman" panose="02020603050405020304" pitchFamily="18" charset="0"/>
                <a:ea typeface="宋体" panose="02010600030101010101" pitchFamily="2" charset="-122"/>
              </a:rPr>
              <a:t>4-2</a:t>
            </a:r>
            <a:r>
              <a:rPr lang="zh-CN" altLang="zh-CN" sz="2000" dirty="0">
                <a:latin typeface="Times New Roman" panose="02020603050405020304" pitchFamily="18" charset="0"/>
                <a:ea typeface="宋体" panose="02010600030101010101" pitchFamily="2" charset="-122"/>
              </a:rPr>
              <a:t>所示。</a:t>
            </a:r>
            <a:endParaRPr lang="en-US" altLang="zh-CN" sz="2000" dirty="0">
              <a:latin typeface="Times New Roman" panose="02020603050405020304" pitchFamily="18" charset="0"/>
              <a:ea typeface="宋体" panose="02010600030101010101" pitchFamily="2" charset="-122"/>
            </a:endParaRPr>
          </a:p>
          <a:p>
            <a:pPr algn="just"/>
            <a:r>
              <a:rPr lang="zh-CN" altLang="zh-CN" sz="2000" dirty="0">
                <a:latin typeface="Times New Roman" panose="02020603050405020304" pitchFamily="18" charset="0"/>
                <a:ea typeface="宋体" panose="02010600030101010101" pitchFamily="2" charset="-122"/>
              </a:rPr>
              <a:t>从具体问题到编程解决问题，一般需要经过如下几个步骤：</a:t>
            </a:r>
          </a:p>
          <a:p>
            <a:pPr algn="just"/>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a:t>
            </a:r>
            <a:r>
              <a:rPr lang="zh-CN" altLang="zh-CN" sz="2000" dirty="0">
                <a:latin typeface="Times New Roman" panose="02020603050405020304" pitchFamily="18" charset="0"/>
                <a:ea typeface="宋体" panose="02010600030101010101" pitchFamily="2" charset="-122"/>
              </a:rPr>
              <a:t>）分析问题，抽象出描述问题的数学模型；</a:t>
            </a:r>
          </a:p>
          <a:p>
            <a:pPr algn="just"/>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2</a:t>
            </a:r>
            <a:r>
              <a:rPr lang="zh-CN" altLang="zh-CN" sz="2000" dirty="0">
                <a:latin typeface="Times New Roman" panose="02020603050405020304" pitchFamily="18" charset="0"/>
                <a:ea typeface="宋体" panose="02010600030101010101" pitchFamily="2" charset="-122"/>
              </a:rPr>
              <a:t>）确定解决问题的算法或算法思想；</a:t>
            </a:r>
          </a:p>
          <a:p>
            <a:pPr algn="just"/>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3</a:t>
            </a:r>
            <a:r>
              <a:rPr lang="zh-CN" altLang="zh-CN" sz="2000" dirty="0">
                <a:latin typeface="Times New Roman" panose="02020603050405020304" pitchFamily="18" charset="0"/>
                <a:ea typeface="宋体" panose="02010600030101010101" pitchFamily="2" charset="-122"/>
              </a:rPr>
              <a:t>）绘制流程图或结构图；</a:t>
            </a:r>
          </a:p>
          <a:p>
            <a:pPr algn="just"/>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4</a:t>
            </a:r>
            <a:r>
              <a:rPr lang="zh-CN" altLang="zh-CN" sz="2000" dirty="0">
                <a:latin typeface="Times New Roman" panose="02020603050405020304" pitchFamily="18" charset="0"/>
                <a:ea typeface="宋体" panose="02010600030101010101" pitchFamily="2" charset="-122"/>
              </a:rPr>
              <a:t>）分配存储空间及相应的寄存器；</a:t>
            </a:r>
          </a:p>
          <a:p>
            <a:pPr algn="just"/>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5</a:t>
            </a:r>
            <a:r>
              <a:rPr lang="zh-CN" altLang="zh-CN" sz="2000" dirty="0">
                <a:latin typeface="Times New Roman" panose="02020603050405020304" pitchFamily="18" charset="0"/>
                <a:ea typeface="宋体" panose="02010600030101010101" pitchFamily="2" charset="-122"/>
              </a:rPr>
              <a:t>）编写程序，排除语法错误；</a:t>
            </a:r>
          </a:p>
          <a:p>
            <a:pPr algn="just"/>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6</a:t>
            </a:r>
            <a:r>
              <a:rPr lang="zh-CN" altLang="zh-CN" sz="2000" dirty="0">
                <a:latin typeface="Times New Roman" panose="02020603050405020304" pitchFamily="18" charset="0"/>
                <a:ea typeface="宋体" panose="02010600030101010101" pitchFamily="2" charset="-122"/>
              </a:rPr>
              <a:t>）上机调试。</a:t>
            </a:r>
          </a:p>
        </p:txBody>
      </p:sp>
      <p:pic>
        <p:nvPicPr>
          <p:cNvPr id="68612" name="Picture 2" descr="4"/>
          <p:cNvPicPr>
            <a:picLocks noChangeAspect="1"/>
          </p:cNvPicPr>
          <p:nvPr/>
        </p:nvPicPr>
        <p:blipFill>
          <a:blip r:embed="rId3"/>
          <a:stretch>
            <a:fillRect/>
          </a:stretch>
        </p:blipFill>
        <p:spPr>
          <a:xfrm>
            <a:off x="5761038" y="1225550"/>
            <a:ext cx="2560637" cy="5632450"/>
          </a:xfrm>
          <a:prstGeom prst="rect">
            <a:avLst/>
          </a:prstGeom>
          <a:noFill/>
          <a:ln w="9525">
            <a:noFill/>
          </a:ln>
        </p:spPr>
      </p:pic>
    </p:spTree>
  </p:cSld>
  <p:clrMapOvr>
    <a:masterClrMapping/>
  </p:clrMapOvr>
  <p:transition spd="med">
    <p:random/>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4.4.2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程序的编辑、汇编及连接过程</a:t>
            </a:r>
          </a:p>
        </p:txBody>
      </p:sp>
      <p:sp>
        <p:nvSpPr>
          <p:cNvPr id="70658"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70659" name="TextBox 6"/>
          <p:cNvSpPr txBox="1"/>
          <p:nvPr/>
        </p:nvSpPr>
        <p:spPr>
          <a:xfrm>
            <a:off x="400050" y="1643063"/>
            <a:ext cx="8202613" cy="4768850"/>
          </a:xfrm>
          <a:prstGeom prst="rect">
            <a:avLst/>
          </a:prstGeom>
          <a:noFill/>
          <a:ln w="9525">
            <a:noFill/>
          </a:ln>
        </p:spPr>
        <p:txBody>
          <a:bodyPr anchor="t" anchorCtr="0">
            <a:spAutoFit/>
          </a:bodyPr>
          <a:lstStyle/>
          <a:p>
            <a:pPr algn="just"/>
            <a:r>
              <a:rPr lang="en-US" altLang="zh-CN" sz="2000" dirty="0">
                <a:latin typeface="Times New Roman" panose="02020603050405020304" pitchFamily="18" charset="0"/>
                <a:ea typeface="宋体" panose="02010600030101010101" pitchFamily="2" charset="-122"/>
              </a:rPr>
              <a:t>1</a:t>
            </a:r>
            <a:r>
              <a:rPr lang="zh-CN" altLang="zh-CN" sz="2000" dirty="0">
                <a:latin typeface="Times New Roman" panose="02020603050405020304" pitchFamily="18" charset="0"/>
                <a:ea typeface="宋体" panose="02010600030101010101" pitchFamily="2" charset="-122"/>
              </a:rPr>
              <a:t>．建立源文件</a:t>
            </a:r>
          </a:p>
          <a:p>
            <a:pPr algn="just"/>
            <a:r>
              <a:rPr lang="zh-CN" altLang="zh-CN" sz="2000" dirty="0">
                <a:latin typeface="Times New Roman" panose="02020603050405020304" pitchFamily="18" charset="0"/>
                <a:ea typeface="宋体" panose="02010600030101010101" pitchFamily="2" charset="-122"/>
              </a:rPr>
              <a:t>建立源文件用编辑软件来完成，常用的编辑工具有</a:t>
            </a:r>
            <a:r>
              <a:rPr lang="en-US" altLang="zh-CN" sz="2000" dirty="0">
                <a:latin typeface="Times New Roman" panose="02020603050405020304" pitchFamily="18" charset="0"/>
                <a:ea typeface="宋体" panose="02010600030101010101" pitchFamily="2" charset="-122"/>
              </a:rPr>
              <a:t>Edit.com</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Quickbasic</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C</a:t>
            </a:r>
            <a:r>
              <a:rPr lang="zh-CN" altLang="zh-CN" sz="2000" dirty="0">
                <a:latin typeface="Times New Roman" panose="02020603050405020304" pitchFamily="18" charset="0"/>
                <a:ea typeface="宋体" panose="02010600030101010101" pitchFamily="2" charset="-122"/>
              </a:rPr>
              <a:t>语言、记事本、</a:t>
            </a:r>
            <a:r>
              <a:rPr lang="en-US" altLang="zh-CN" sz="2000" dirty="0">
                <a:latin typeface="Times New Roman" panose="02020603050405020304" pitchFamily="18" charset="0"/>
                <a:ea typeface="宋体" panose="02010600030101010101" pitchFamily="2" charset="-122"/>
              </a:rPr>
              <a:t>WORD</a:t>
            </a:r>
            <a:r>
              <a:rPr lang="zh-CN" altLang="zh-CN" sz="2000" dirty="0">
                <a:latin typeface="Times New Roman" panose="02020603050405020304" pitchFamily="18" charset="0"/>
                <a:ea typeface="宋体" panose="02010600030101010101" pitchFamily="2" charset="-122"/>
              </a:rPr>
              <a:t>等。</a:t>
            </a:r>
          </a:p>
          <a:p>
            <a:pPr algn="just"/>
            <a:r>
              <a:rPr lang="en-US" altLang="zh-CN" sz="2000" dirty="0">
                <a:latin typeface="Times New Roman" panose="02020603050405020304" pitchFamily="18" charset="0"/>
                <a:ea typeface="宋体" panose="02010600030101010101" pitchFamily="2" charset="-122"/>
              </a:rPr>
              <a:t>2</a:t>
            </a:r>
            <a:r>
              <a:rPr lang="zh-CN" altLang="zh-CN" sz="2000" dirty="0">
                <a:latin typeface="Times New Roman" panose="02020603050405020304" pitchFamily="18" charset="0"/>
                <a:ea typeface="宋体" panose="02010600030101010101" pitchFamily="2" charset="-122"/>
              </a:rPr>
              <a:t>．汇编</a:t>
            </a:r>
          </a:p>
          <a:p>
            <a:pPr algn="just"/>
            <a:r>
              <a:rPr lang="zh-CN" altLang="zh-CN" sz="2000" dirty="0">
                <a:latin typeface="Times New Roman" panose="02020603050405020304" pitchFamily="18" charset="0"/>
                <a:ea typeface="宋体" panose="02010600030101010101" pitchFamily="2" charset="-122"/>
              </a:rPr>
              <a:t>用汇编工具对源程序文件（</a:t>
            </a:r>
            <a:r>
              <a:rPr lang="en-US" altLang="zh-CN" sz="2000" dirty="0">
                <a:latin typeface="Times New Roman" panose="02020603050405020304" pitchFamily="18" charset="0"/>
                <a:ea typeface="宋体" panose="02010600030101010101" pitchFamily="2" charset="-122"/>
              </a:rPr>
              <a:t>.asm</a:t>
            </a:r>
            <a:r>
              <a:rPr lang="zh-CN" altLang="zh-CN" sz="2000" dirty="0">
                <a:latin typeface="Times New Roman" panose="02020603050405020304" pitchFamily="18" charset="0"/>
                <a:ea typeface="宋体" panose="02010600030101010101" pitchFamily="2" charset="-122"/>
              </a:rPr>
              <a:t>）进行汇编产生目标文件（</a:t>
            </a:r>
            <a:r>
              <a:rPr lang="en-US" altLang="zh-CN" sz="2000" dirty="0">
                <a:latin typeface="Times New Roman" panose="02020603050405020304" pitchFamily="18" charset="0"/>
                <a:ea typeface="宋体" panose="02010600030101010101" pitchFamily="2" charset="-122"/>
              </a:rPr>
              <a:t>.obj</a:t>
            </a:r>
            <a:r>
              <a:rPr lang="zh-CN" altLang="zh-CN" sz="2000" dirty="0">
                <a:latin typeface="Times New Roman" panose="02020603050405020304" pitchFamily="18" charset="0"/>
                <a:ea typeface="宋体" panose="02010600030101010101" pitchFamily="2" charset="-122"/>
              </a:rPr>
              <a:t>）等。</a:t>
            </a:r>
          </a:p>
          <a:p>
            <a:pPr algn="just"/>
            <a:r>
              <a:rPr lang="en-US" altLang="zh-CN" sz="2000" dirty="0">
                <a:latin typeface="Times New Roman" panose="02020603050405020304" pitchFamily="18" charset="0"/>
                <a:ea typeface="宋体" panose="02010600030101010101" pitchFamily="2" charset="-122"/>
              </a:rPr>
              <a:t>3</a:t>
            </a:r>
            <a:r>
              <a:rPr lang="zh-CN" altLang="zh-CN" sz="2000" dirty="0">
                <a:latin typeface="Times New Roman" panose="02020603050405020304" pitchFamily="18" charset="0"/>
                <a:ea typeface="宋体" panose="02010600030101010101" pitchFamily="2" charset="-122"/>
              </a:rPr>
              <a:t>．程序连接</a:t>
            </a:r>
          </a:p>
          <a:p>
            <a:pPr algn="just"/>
            <a:r>
              <a:rPr lang="zh-CN" altLang="zh-CN" sz="2000" dirty="0">
                <a:latin typeface="Times New Roman" panose="02020603050405020304" pitchFamily="18" charset="0"/>
                <a:ea typeface="宋体" panose="02010600030101010101" pitchFamily="2" charset="-122"/>
              </a:rPr>
              <a:t>汇编产生的二进制目标文件（</a:t>
            </a:r>
            <a:r>
              <a:rPr lang="en-US" altLang="zh-CN" sz="2000" dirty="0">
                <a:latin typeface="Times New Roman" panose="02020603050405020304" pitchFamily="18" charset="0"/>
                <a:ea typeface="宋体" panose="02010600030101010101" pitchFamily="2" charset="-122"/>
              </a:rPr>
              <a:t>.obj</a:t>
            </a:r>
            <a:r>
              <a:rPr lang="zh-CN" altLang="zh-CN" sz="2000" dirty="0">
                <a:latin typeface="Times New Roman" panose="02020603050405020304" pitchFamily="18" charset="0"/>
                <a:ea typeface="宋体" panose="02010600030101010101" pitchFamily="2" charset="-122"/>
              </a:rPr>
              <a:t>）并不是可执行程序，还要用连接程序把它转换为可执行文件（</a:t>
            </a:r>
            <a:r>
              <a:rPr lang="en-US" altLang="zh-CN" sz="2000" dirty="0">
                <a:latin typeface="Times New Roman" panose="02020603050405020304" pitchFamily="18" charset="0"/>
                <a:ea typeface="宋体" panose="02010600030101010101" pitchFamily="2" charset="-122"/>
              </a:rPr>
              <a:t>.exe</a:t>
            </a:r>
            <a:r>
              <a:rPr lang="zh-CN" altLang="zh-CN" sz="2000" dirty="0">
                <a:latin typeface="Times New Roman" panose="02020603050405020304" pitchFamily="18" charset="0"/>
                <a:ea typeface="宋体" panose="02010600030101010101" pitchFamily="2" charset="-122"/>
              </a:rPr>
              <a:t>）。</a:t>
            </a:r>
          </a:p>
          <a:p>
            <a:pPr algn="just"/>
            <a:r>
              <a:rPr lang="en-US" altLang="zh-CN" sz="2000" dirty="0">
                <a:latin typeface="Times New Roman" panose="02020603050405020304" pitchFamily="18" charset="0"/>
                <a:ea typeface="宋体" panose="02010600030101010101" pitchFamily="2" charset="-122"/>
              </a:rPr>
              <a:t>4</a:t>
            </a:r>
            <a:r>
              <a:rPr lang="zh-CN" altLang="zh-CN" sz="2000" dirty="0">
                <a:latin typeface="Times New Roman" panose="02020603050405020304" pitchFamily="18" charset="0"/>
                <a:ea typeface="宋体" panose="02010600030101010101" pitchFamily="2" charset="-122"/>
              </a:rPr>
              <a:t>．执行程序</a:t>
            </a:r>
          </a:p>
          <a:p>
            <a:pPr algn="just"/>
            <a:r>
              <a:rPr lang="zh-CN" altLang="zh-CN" sz="2000" dirty="0">
                <a:latin typeface="Times New Roman" panose="02020603050405020304" pitchFamily="18" charset="0"/>
                <a:ea typeface="宋体" panose="02010600030101010101" pitchFamily="2" charset="-122"/>
              </a:rPr>
              <a:t>建立了可执行文件（</a:t>
            </a:r>
            <a:r>
              <a:rPr lang="en-US" altLang="zh-CN" sz="2000" dirty="0">
                <a:latin typeface="Times New Roman" panose="02020603050405020304" pitchFamily="18" charset="0"/>
                <a:ea typeface="宋体" panose="02010600030101010101" pitchFamily="2" charset="-122"/>
              </a:rPr>
              <a:t>.exe</a:t>
            </a:r>
            <a:r>
              <a:rPr lang="zh-CN" altLang="zh-CN" sz="2000" dirty="0">
                <a:latin typeface="Times New Roman" panose="02020603050405020304" pitchFamily="18" charset="0"/>
                <a:ea typeface="宋体" panose="02010600030101010101" pitchFamily="2" charset="-122"/>
              </a:rPr>
              <a:t>）后，只需在命令提示符下输入文件名即可运行程序。若程序能够运行但不能得到预期结果，则需要静态或动态查错。</a:t>
            </a:r>
          </a:p>
          <a:p>
            <a:pPr algn="just"/>
            <a:r>
              <a:rPr lang="en-US" altLang="zh-CN" sz="2000" dirty="0">
                <a:latin typeface="Times New Roman" panose="02020603050405020304" pitchFamily="18" charset="0"/>
                <a:ea typeface="宋体" panose="02010600030101010101" pitchFamily="2" charset="-122"/>
              </a:rPr>
              <a:t>5</a:t>
            </a:r>
            <a:r>
              <a:rPr lang="zh-CN" altLang="zh-CN" sz="2000" dirty="0">
                <a:latin typeface="Times New Roman" panose="02020603050405020304" pitchFamily="18" charset="0"/>
                <a:ea typeface="宋体" panose="02010600030101010101" pitchFamily="2" charset="-122"/>
              </a:rPr>
              <a:t>．程序调试</a:t>
            </a:r>
          </a:p>
          <a:p>
            <a:pPr algn="just"/>
            <a:r>
              <a:rPr lang="zh-CN" altLang="zh-CN" sz="2000" dirty="0">
                <a:latin typeface="Times New Roman" panose="02020603050405020304" pitchFamily="18" charset="0"/>
                <a:ea typeface="宋体" panose="02010600030101010101" pitchFamily="2" charset="-122"/>
              </a:rPr>
              <a:t>有时静态检查不容易发现问题，尤其是碰到复杂程序时更是如此，这时就需要使用调试工具动态查错，即通过运行程序发现错误。当程序结果不能在屏幕上显示时也需要调试工具查看结果。</a:t>
            </a:r>
          </a:p>
        </p:txBody>
      </p:sp>
    </p:spTree>
  </p:cSld>
  <p:clrMapOvr>
    <a:masterClrMapping/>
  </p:clrMapOvr>
  <p:transition spd="med">
    <p:random/>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4.4.2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程序的编辑、汇编及连接过程</a:t>
            </a:r>
          </a:p>
        </p:txBody>
      </p:sp>
      <p:sp>
        <p:nvSpPr>
          <p:cNvPr id="7270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72707" name="TextBox 6"/>
          <p:cNvSpPr txBox="1"/>
          <p:nvPr/>
        </p:nvSpPr>
        <p:spPr>
          <a:xfrm>
            <a:off x="434975" y="1643063"/>
            <a:ext cx="8202613" cy="4889500"/>
          </a:xfrm>
          <a:prstGeom prst="rect">
            <a:avLst/>
          </a:prstGeom>
          <a:noFill/>
          <a:ln w="9525">
            <a:noFill/>
          </a:ln>
        </p:spPr>
        <p:txBody>
          <a:bodyPr anchor="t" anchorCtr="0">
            <a:spAutoFit/>
          </a:bodyPr>
          <a:lstStyle/>
          <a:p>
            <a:pPr algn="just"/>
            <a:r>
              <a:rPr lang="en-US" altLang="zh-CN" sz="2000" dirty="0">
                <a:latin typeface="Times New Roman" panose="02020603050405020304" pitchFamily="18" charset="0"/>
                <a:ea typeface="宋体" panose="02010600030101010101" pitchFamily="2" charset="-122"/>
              </a:rPr>
              <a:t>        Debug</a:t>
            </a:r>
            <a:r>
              <a:rPr lang="zh-CN" altLang="zh-CN" sz="2000" dirty="0">
                <a:latin typeface="Times New Roman" panose="02020603050405020304" pitchFamily="18" charset="0"/>
                <a:ea typeface="宋体" panose="02010600030101010101" pitchFamily="2" charset="-122"/>
              </a:rPr>
              <a:t>调试工具是专为宏汇编语言设计的一种调试手段，是必须掌握的一种调试工具。</a:t>
            </a:r>
            <a:r>
              <a:rPr lang="en-US" altLang="zh-CN" sz="2000" dirty="0">
                <a:latin typeface="Times New Roman" panose="02020603050405020304" pitchFamily="18" charset="0"/>
                <a:ea typeface="宋体" panose="02010600030101010101" pitchFamily="2" charset="-122"/>
              </a:rPr>
              <a:t>Debug</a:t>
            </a:r>
            <a:r>
              <a:rPr lang="zh-CN" altLang="zh-CN" sz="2000" dirty="0">
                <a:latin typeface="Times New Roman" panose="02020603050405020304" pitchFamily="18" charset="0"/>
                <a:ea typeface="宋体" panose="02010600030101010101" pitchFamily="2" charset="-122"/>
              </a:rPr>
              <a:t>调试工具提供了</a:t>
            </a:r>
            <a:r>
              <a:rPr lang="en-US" altLang="zh-CN" sz="2000" dirty="0">
                <a:latin typeface="Times New Roman" panose="02020603050405020304" pitchFamily="18" charset="0"/>
                <a:ea typeface="宋体" panose="02010600030101010101" pitchFamily="2" charset="-122"/>
              </a:rPr>
              <a:t>18</a:t>
            </a:r>
            <a:r>
              <a:rPr lang="zh-CN" altLang="zh-CN" sz="2000" dirty="0">
                <a:latin typeface="Times New Roman" panose="02020603050405020304" pitchFamily="18" charset="0"/>
                <a:ea typeface="宋体" panose="02010600030101010101" pitchFamily="2" charset="-122"/>
              </a:rPr>
              <a:t>条子命令，利用它们可以对程序进行汇编和反汇编，可以观察和修改内存及存储器的内容，可以执行跟踪程序并观察每一步执行结果。</a:t>
            </a:r>
          </a:p>
          <a:p>
            <a:pPr algn="just"/>
            <a:r>
              <a:rPr lang="zh-CN" altLang="zh-CN" sz="2000" dirty="0">
                <a:solidFill>
                  <a:srgbClr val="FF3300"/>
                </a:solidFill>
                <a:latin typeface="Times New Roman" panose="02020603050405020304" pitchFamily="18" charset="0"/>
                <a:ea typeface="宋体" panose="02010600030101010101" pitchFamily="2" charset="-122"/>
              </a:rPr>
              <a:t>【例</a:t>
            </a:r>
            <a:r>
              <a:rPr lang="en-US" altLang="zh-CN" sz="2000" dirty="0">
                <a:solidFill>
                  <a:srgbClr val="FF3300"/>
                </a:solidFill>
                <a:latin typeface="Times New Roman" panose="02020603050405020304" pitchFamily="18" charset="0"/>
                <a:ea typeface="宋体" panose="02010600030101010101" pitchFamily="2" charset="-122"/>
              </a:rPr>
              <a:t>4.4</a:t>
            </a:r>
            <a:r>
              <a:rPr lang="zh-CN" altLang="zh-CN" sz="2000" dirty="0">
                <a:solidFill>
                  <a:srgbClr val="FF3300"/>
                </a:solidFill>
                <a:latin typeface="Times New Roman" panose="02020603050405020304" pitchFamily="18" charset="0"/>
                <a:ea typeface="宋体" panose="02010600030101010101" pitchFamily="2" charset="-122"/>
              </a:rPr>
              <a:t>】</a:t>
            </a:r>
            <a:r>
              <a:rPr lang="zh-CN" altLang="zh-CN" sz="2000" dirty="0">
                <a:latin typeface="Times New Roman" panose="02020603050405020304" pitchFamily="18" charset="0"/>
                <a:ea typeface="宋体" panose="02010600030101010101" pitchFamily="2" charset="-122"/>
              </a:rPr>
              <a:t>程序调试过程如下：</a:t>
            </a:r>
          </a:p>
          <a:p>
            <a:pPr algn="just"/>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a:t>
            </a:r>
            <a:r>
              <a:rPr lang="zh-CN" altLang="zh-CN" sz="2000" dirty="0">
                <a:latin typeface="Times New Roman" panose="02020603050405020304" pitchFamily="18" charset="0"/>
                <a:ea typeface="宋体" panose="02010600030101010101" pitchFamily="2" charset="-122"/>
              </a:rPr>
              <a:t>）用鼠标单击开始菜单（针对</a:t>
            </a:r>
            <a:r>
              <a:rPr lang="en-US" altLang="zh-CN" sz="2000" dirty="0">
                <a:latin typeface="Times New Roman" panose="02020603050405020304" pitchFamily="18" charset="0"/>
                <a:ea typeface="宋体" panose="02010600030101010101" pitchFamily="2" charset="-122"/>
              </a:rPr>
              <a:t>Windows</a:t>
            </a:r>
            <a:r>
              <a:rPr lang="zh-CN" altLang="zh-CN" sz="2000" dirty="0">
                <a:latin typeface="Times New Roman" panose="02020603050405020304" pitchFamily="18" charset="0"/>
                <a:ea typeface="宋体" panose="02010600030101010101" pitchFamily="2" charset="-122"/>
              </a:rPr>
              <a:t>操作系统），单击运行。</a:t>
            </a:r>
          </a:p>
          <a:p>
            <a:pPr algn="just"/>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2</a:t>
            </a:r>
            <a:r>
              <a:rPr lang="zh-CN" altLang="zh-CN" sz="2000" dirty="0">
                <a:latin typeface="Times New Roman" panose="02020603050405020304" pitchFamily="18" charset="0"/>
                <a:ea typeface="宋体" panose="02010600030101010101" pitchFamily="2" charset="-122"/>
              </a:rPr>
              <a:t>）在运行窗口中输入</a:t>
            </a:r>
            <a:r>
              <a:rPr lang="en-US" altLang="zh-CN" sz="2000" dirty="0">
                <a:latin typeface="Times New Roman" panose="02020603050405020304" pitchFamily="18" charset="0"/>
                <a:ea typeface="宋体" panose="02010600030101010101" pitchFamily="2" charset="-122"/>
              </a:rPr>
              <a:t>cmd</a:t>
            </a:r>
            <a:r>
              <a:rPr lang="zh-CN" altLang="zh-CN" sz="2000" dirty="0">
                <a:latin typeface="Times New Roman" panose="02020603050405020304" pitchFamily="18" charset="0"/>
                <a:ea typeface="宋体" panose="02010600030101010101" pitchFamily="2" charset="-122"/>
              </a:rPr>
              <a:t>，回车进入命令提示符。</a:t>
            </a:r>
          </a:p>
          <a:p>
            <a:pPr algn="just"/>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3</a:t>
            </a:r>
            <a:r>
              <a:rPr lang="zh-CN" altLang="zh-CN" sz="2000" dirty="0">
                <a:latin typeface="Times New Roman" panose="02020603050405020304" pitchFamily="18" charset="0"/>
                <a:ea typeface="宋体" panose="02010600030101010101" pitchFamily="2" charset="-122"/>
              </a:rPr>
              <a:t>）在命令提示符中编译汇编源程序并连接</a:t>
            </a:r>
            <a:r>
              <a:rPr lang="en-US" altLang="zh-CN" sz="2000" dirty="0">
                <a:latin typeface="Times New Roman" panose="02020603050405020304" pitchFamily="18" charset="0"/>
                <a:ea typeface="宋体" panose="02010600030101010101" pitchFamily="2" charset="-122"/>
              </a:rPr>
              <a:t>*.obj</a:t>
            </a:r>
            <a:r>
              <a:rPr lang="zh-CN" altLang="zh-CN" sz="2000" dirty="0">
                <a:latin typeface="Times New Roman" panose="02020603050405020304" pitchFamily="18" charset="0"/>
                <a:ea typeface="宋体" panose="02010600030101010101" pitchFamily="2" charset="-122"/>
              </a:rPr>
              <a:t>文件。</a:t>
            </a:r>
          </a:p>
          <a:p>
            <a:pPr algn="just"/>
            <a:r>
              <a:rPr lang="en-US" altLang="zh-CN" sz="2000" dirty="0">
                <a:latin typeface="Times New Roman" panose="02020603050405020304" pitchFamily="18" charset="0"/>
                <a:ea typeface="宋体" panose="02010600030101010101" pitchFamily="2" charset="-122"/>
              </a:rPr>
              <a:t>C:\&gt;D:  </a:t>
            </a:r>
            <a:r>
              <a:rPr lang="zh-CN" altLang="zh-CN" sz="2000" dirty="0">
                <a:latin typeface="Times New Roman" panose="02020603050405020304" pitchFamily="18" charset="0"/>
                <a:ea typeface="宋体" panose="02010600030101010101" pitchFamily="2" charset="-122"/>
              </a:rPr>
              <a:t>↓（回车）</a:t>
            </a:r>
          </a:p>
          <a:p>
            <a:pPr algn="just"/>
            <a:r>
              <a:rPr lang="en-US" altLang="zh-CN" sz="2000" dirty="0">
                <a:latin typeface="Times New Roman" panose="02020603050405020304" pitchFamily="18" charset="0"/>
                <a:ea typeface="宋体" panose="02010600030101010101" pitchFamily="2" charset="-122"/>
              </a:rPr>
              <a:t>D:\ &gt;CD  MASM </a:t>
            </a:r>
            <a:r>
              <a:rPr lang="zh-CN" altLang="zh-CN" sz="2000" dirty="0">
                <a:latin typeface="Times New Roman" panose="02020603050405020304" pitchFamily="18" charset="0"/>
                <a:ea typeface="宋体" panose="02010600030101010101" pitchFamily="2" charset="-122"/>
              </a:rPr>
              <a:t>↓</a:t>
            </a:r>
          </a:p>
          <a:p>
            <a:pPr algn="just"/>
            <a:r>
              <a:rPr lang="en-US" altLang="zh-CN" sz="2000" dirty="0">
                <a:latin typeface="Times New Roman" panose="02020603050405020304" pitchFamily="18" charset="0"/>
                <a:ea typeface="宋体" panose="02010600030101010101" pitchFamily="2" charset="-122"/>
              </a:rPr>
              <a:t>D:\MASM&gt;MASM  SY1.ASM</a:t>
            </a:r>
            <a:r>
              <a:rPr lang="zh-CN" altLang="zh-CN" sz="2000" dirty="0">
                <a:latin typeface="Times New Roman" panose="02020603050405020304" pitchFamily="18" charset="0"/>
                <a:ea typeface="宋体" panose="02010600030101010101" pitchFamily="2" charset="-122"/>
              </a:rPr>
              <a:t>↓</a:t>
            </a:r>
          </a:p>
          <a:p>
            <a:pPr algn="just"/>
            <a:r>
              <a:rPr lang="en-US" altLang="zh-CN" sz="2000" dirty="0">
                <a:latin typeface="Times New Roman" panose="02020603050405020304" pitchFamily="18" charset="0"/>
                <a:ea typeface="宋体" panose="02010600030101010101" pitchFamily="2" charset="-122"/>
              </a:rPr>
              <a:t>D:\MASM&gt;LINK  SY1.OBJ</a:t>
            </a:r>
            <a:r>
              <a:rPr lang="zh-CN" altLang="zh-CN" sz="2000" dirty="0">
                <a:latin typeface="Times New Roman" panose="02020603050405020304" pitchFamily="18" charset="0"/>
                <a:ea typeface="宋体" panose="02010600030101010101" pitchFamily="2" charset="-122"/>
              </a:rPr>
              <a:t>↓</a:t>
            </a:r>
          </a:p>
          <a:p>
            <a:pPr algn="just"/>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4</a:t>
            </a:r>
            <a:r>
              <a:rPr lang="zh-CN" altLang="zh-CN" sz="2000" dirty="0">
                <a:latin typeface="Times New Roman" panose="02020603050405020304" pitchFamily="18" charset="0"/>
                <a:ea typeface="宋体" panose="02010600030101010101" pitchFamily="2" charset="-122"/>
              </a:rPr>
              <a:t>）在命令提示行中运行并调试汇编程序。</a:t>
            </a:r>
          </a:p>
          <a:p>
            <a:pPr algn="just"/>
            <a:r>
              <a:rPr lang="en-US" altLang="zh-CN" sz="2000" dirty="0">
                <a:latin typeface="Times New Roman" panose="02020603050405020304" pitchFamily="18" charset="0"/>
                <a:ea typeface="宋体" panose="02010600030101010101" pitchFamily="2" charset="-122"/>
              </a:rPr>
              <a:t>D:\MASM&gt;SY1.EXE  </a:t>
            </a:r>
            <a:r>
              <a:rPr lang="zh-CN" altLang="zh-CN" sz="2000" dirty="0">
                <a:latin typeface="Times New Roman" panose="02020603050405020304" pitchFamily="18" charset="0"/>
                <a:ea typeface="宋体" panose="02010600030101010101" pitchFamily="2" charset="-122"/>
              </a:rPr>
              <a:t>↓（回车）</a:t>
            </a:r>
          </a:p>
          <a:p>
            <a:pPr algn="just"/>
            <a:r>
              <a:rPr lang="en-US" altLang="zh-CN" sz="2000" dirty="0">
                <a:latin typeface="Times New Roman" panose="02020603050405020304" pitchFamily="18" charset="0"/>
                <a:ea typeface="宋体" panose="02010600030101010101" pitchFamily="2" charset="-122"/>
              </a:rPr>
              <a:t>D:\MASM&gt;DEBUG  SY1.EXE </a:t>
            </a:r>
            <a:r>
              <a:rPr lang="zh-CN" altLang="zh-CN" sz="2000" dirty="0">
                <a:latin typeface="Times New Roman" panose="02020603050405020304" pitchFamily="18" charset="0"/>
                <a:ea typeface="宋体" panose="02010600030101010101" pitchFamily="2" charset="-122"/>
              </a:rPr>
              <a:t>↓</a:t>
            </a:r>
          </a:p>
        </p:txBody>
      </p:sp>
    </p:spTree>
  </p:cSld>
  <p:clrMapOvr>
    <a:masterClrMapping/>
  </p:clrMapOvr>
  <p:transition spd="med">
    <p:random/>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89738"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9933"/>
                </a:solidFill>
                <a:effectLst>
                  <a:outerShdw blurRad="38100" dist="38100" dir="2700000" algn="tl">
                    <a:srgbClr val="000000"/>
                  </a:outerShdw>
                </a:effectLst>
                <a:uLnTx/>
                <a:uFillTx/>
                <a:latin typeface="+mj-lt"/>
                <a:ea typeface="+mj-ea"/>
                <a:cs typeface="+mj-cs"/>
              </a:rPr>
              <a:t>4.5  </a:t>
            </a:r>
            <a:r>
              <a:rPr kumimoji="1" lang="zh-CN" altLang="zh-CN" sz="3200" b="1" i="0" u="none" strike="noStrike" kern="0" cap="none" spc="0" normalizeH="0" baseline="0" noProof="0" dirty="0">
                <a:ln>
                  <a:noFill/>
                </a:ln>
                <a:solidFill>
                  <a:srgbClr val="FF9933"/>
                </a:solidFill>
                <a:effectLst>
                  <a:outerShdw blurRad="38100" dist="38100" dir="2700000" algn="tl">
                    <a:srgbClr val="000000"/>
                  </a:outerShdw>
                </a:effectLst>
                <a:uLnTx/>
                <a:uFillTx/>
                <a:latin typeface="+mj-lt"/>
                <a:ea typeface="+mj-ea"/>
                <a:cs typeface="+mj-cs"/>
              </a:rPr>
              <a:t>汇编程序设计方法及应用</a:t>
            </a:r>
          </a:p>
        </p:txBody>
      </p:sp>
      <p:sp>
        <p:nvSpPr>
          <p:cNvPr id="7475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74755" name="Rectangle 11"/>
          <p:cNvSpPr>
            <a:spLocks noGrp="1"/>
          </p:cNvSpPr>
          <p:nvPr>
            <p:ph idx="1"/>
          </p:nvPr>
        </p:nvSpPr>
        <p:spPr>
          <a:xfrm>
            <a:off x="1422400" y="2070100"/>
            <a:ext cx="6364288" cy="3975100"/>
          </a:xfrm>
          <a:ln/>
        </p:spPr>
        <p:txBody>
          <a:bodyPr wrap="square" lIns="92075" tIns="46038" rIns="92075" bIns="46038" anchor="t" anchorCtr="0"/>
          <a:lstStyle/>
          <a:p>
            <a:pPr marL="0" indent="0" eaLnBrk="1" hangingPunct="1">
              <a:buNone/>
            </a:pPr>
            <a:r>
              <a:rPr lang="zh-CN" altLang="en-US" dirty="0">
                <a:solidFill>
                  <a:srgbClr val="66FFCC"/>
                </a:solidFill>
              </a:rPr>
              <a:t>4.5.1  概述</a:t>
            </a:r>
          </a:p>
          <a:p>
            <a:pPr marL="0" indent="0" eaLnBrk="1" hangingPunct="1">
              <a:buNone/>
            </a:pPr>
            <a:r>
              <a:rPr lang="zh-CN" altLang="en-US" dirty="0">
                <a:solidFill>
                  <a:srgbClr val="66FFCC"/>
                </a:solidFill>
                <a:sym typeface="Arial" panose="020B0604020202020204" pitchFamily="34" charset="0"/>
              </a:rPr>
              <a:t>4.5.2  </a:t>
            </a:r>
            <a:r>
              <a:rPr lang="zh-CN" altLang="en-US" dirty="0">
                <a:solidFill>
                  <a:srgbClr val="66FFCC"/>
                </a:solidFill>
              </a:rPr>
              <a:t>顺序结构程序设计</a:t>
            </a:r>
          </a:p>
          <a:p>
            <a:pPr marL="0" indent="0" eaLnBrk="1" hangingPunct="1">
              <a:buNone/>
            </a:pPr>
            <a:r>
              <a:rPr lang="zh-CN" altLang="en-US" dirty="0">
                <a:solidFill>
                  <a:srgbClr val="66FFCC"/>
                </a:solidFill>
                <a:sym typeface="Arial" panose="020B0604020202020204" pitchFamily="34" charset="0"/>
              </a:rPr>
              <a:t>4.5.3  </a:t>
            </a:r>
            <a:r>
              <a:rPr lang="zh-CN" altLang="en-US" dirty="0">
                <a:solidFill>
                  <a:srgbClr val="66FFCC"/>
                </a:solidFill>
              </a:rPr>
              <a:t>分支程序设计</a:t>
            </a:r>
          </a:p>
          <a:p>
            <a:pPr marL="0" indent="0" eaLnBrk="1" hangingPunct="1">
              <a:buNone/>
            </a:pPr>
            <a:r>
              <a:rPr lang="zh-CN" altLang="en-US" dirty="0">
                <a:solidFill>
                  <a:srgbClr val="66FFCC"/>
                </a:solidFill>
                <a:sym typeface="Arial" panose="020B0604020202020204" pitchFamily="34" charset="0"/>
              </a:rPr>
              <a:t>4.5.4  </a:t>
            </a:r>
            <a:r>
              <a:rPr lang="zh-CN" altLang="en-US" dirty="0">
                <a:solidFill>
                  <a:srgbClr val="66FFCC"/>
                </a:solidFill>
              </a:rPr>
              <a:t>循环结构程序设计</a:t>
            </a:r>
          </a:p>
          <a:p>
            <a:pPr marL="0" indent="0" eaLnBrk="1" hangingPunct="1">
              <a:buNone/>
            </a:pPr>
            <a:r>
              <a:rPr lang="zh-CN" altLang="en-US" dirty="0">
                <a:solidFill>
                  <a:srgbClr val="66FFCC"/>
                </a:solidFill>
                <a:sym typeface="Arial" panose="020B0604020202020204" pitchFamily="34" charset="0"/>
              </a:rPr>
              <a:t>4.5.5  </a:t>
            </a:r>
            <a:r>
              <a:rPr lang="zh-CN" altLang="en-US" dirty="0">
                <a:solidFill>
                  <a:srgbClr val="66FFCC"/>
                </a:solidFill>
              </a:rPr>
              <a:t>子程序设计</a:t>
            </a:r>
          </a:p>
          <a:p>
            <a:pPr marL="0" indent="0" eaLnBrk="1" hangingPunct="1">
              <a:buNone/>
            </a:pPr>
            <a:r>
              <a:rPr lang="zh-CN" altLang="en-US" dirty="0">
                <a:solidFill>
                  <a:srgbClr val="66FFCC"/>
                </a:solidFill>
                <a:sym typeface="Arial" panose="020B0604020202020204" pitchFamily="34" charset="0"/>
              </a:rPr>
              <a:t>4.5.6  </a:t>
            </a:r>
            <a:r>
              <a:rPr lang="zh-CN" altLang="en-US" dirty="0">
                <a:solidFill>
                  <a:srgbClr val="66FFCC"/>
                </a:solidFill>
              </a:rPr>
              <a:t>宏定义与使用</a:t>
            </a:r>
          </a:p>
          <a:p>
            <a:pPr marL="0" indent="0" eaLnBrk="1" hangingPunct="1">
              <a:buNone/>
            </a:pPr>
            <a:r>
              <a:rPr lang="zh-CN" altLang="en-US" dirty="0">
                <a:solidFill>
                  <a:srgbClr val="66FFCC"/>
                </a:solidFill>
                <a:sym typeface="Arial" panose="020B0604020202020204" pitchFamily="34" charset="0"/>
              </a:rPr>
              <a:t>4.5.7  </a:t>
            </a:r>
            <a:r>
              <a:rPr lang="zh-CN" altLang="en-US" dirty="0">
                <a:solidFill>
                  <a:srgbClr val="66FFCC"/>
                </a:solidFill>
              </a:rPr>
              <a:t>系统功能调用</a:t>
            </a:r>
          </a:p>
        </p:txBody>
      </p:sp>
    </p:spTree>
  </p:cSld>
  <p:clrMapOvr>
    <a:masterClrMapping/>
  </p:clrMapOvr>
  <p:transition spd="med">
    <p:random/>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4.5.1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概述</a:t>
            </a:r>
          </a:p>
        </p:txBody>
      </p:sp>
      <p:sp>
        <p:nvSpPr>
          <p:cNvPr id="76802"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76803" name="TextBox 6"/>
          <p:cNvSpPr txBox="1"/>
          <p:nvPr/>
        </p:nvSpPr>
        <p:spPr>
          <a:xfrm>
            <a:off x="355600" y="1531938"/>
            <a:ext cx="8415338" cy="4764087"/>
          </a:xfrm>
          <a:prstGeom prst="rect">
            <a:avLst/>
          </a:prstGeom>
          <a:noFill/>
          <a:ln w="9525">
            <a:noFill/>
          </a:ln>
        </p:spPr>
        <p:txBody>
          <a:bodyPr anchor="t" anchorCtr="0">
            <a:spAutoFit/>
          </a:bodyPr>
          <a:lstStyle/>
          <a:p>
            <a:r>
              <a:rPr lang="en-US" altLang="zh-CN" sz="2200" dirty="0">
                <a:latin typeface="Times New Roman" panose="02020603050405020304" pitchFamily="18" charset="0"/>
                <a:ea typeface="宋体" panose="02010600030101010101" pitchFamily="2" charset="-122"/>
              </a:rPr>
              <a:t>        </a:t>
            </a:r>
            <a:r>
              <a:rPr lang="zh-CN" altLang="zh-CN" sz="2200" dirty="0">
                <a:latin typeface="Times New Roman" panose="02020603050405020304" pitchFamily="18" charset="0"/>
                <a:ea typeface="宋体" panose="02010600030101010101" pitchFamily="2" charset="-122"/>
              </a:rPr>
              <a:t>程序（</a:t>
            </a:r>
            <a:r>
              <a:rPr lang="en-US" altLang="zh-CN" sz="2200" dirty="0">
                <a:latin typeface="Times New Roman" panose="02020603050405020304" pitchFamily="18" charset="0"/>
                <a:ea typeface="宋体" panose="02010600030101010101" pitchFamily="2" charset="-122"/>
              </a:rPr>
              <a:t>Program</a:t>
            </a:r>
            <a:r>
              <a:rPr lang="zh-CN" altLang="zh-CN" sz="2200" dirty="0">
                <a:latin typeface="Times New Roman" panose="02020603050405020304" pitchFamily="18" charset="0"/>
                <a:ea typeface="宋体" panose="02010600030101010101" pitchFamily="2" charset="-122"/>
              </a:rPr>
              <a:t>）是为实现特定目标或解决特定问题而用计算机语言编写的命令序列集合。为了使程序结构良好、易于阅读和便于维护，应当在设计中严格遵守结构化程序设计的要求。</a:t>
            </a:r>
          </a:p>
          <a:p>
            <a:pPr algn="just"/>
            <a:r>
              <a:rPr lang="en-US" altLang="zh-CN" sz="2200" dirty="0">
                <a:latin typeface="Times New Roman" panose="02020603050405020304" pitchFamily="18" charset="0"/>
                <a:ea typeface="宋体" panose="02010600030101010101" pitchFamily="2" charset="-122"/>
              </a:rPr>
              <a:t>        </a:t>
            </a:r>
            <a:r>
              <a:rPr lang="zh-CN" altLang="zh-CN" sz="2200" dirty="0">
                <a:latin typeface="Times New Roman" panose="02020603050405020304" pitchFamily="18" charset="0"/>
                <a:ea typeface="宋体" panose="02010600030101010101" pitchFamily="2" charset="-122"/>
              </a:rPr>
              <a:t>结构化程序设计的主要观点：采用自顶向下、逐步求精的程序设计方法；使用三种基本控制结构构造程序，任何程序都可由顺序、选择、循环三种基本控制结构构造。结构化程序设计理论认为，随着计算机运算速度的提高和内存价格的下降，软件的设计和维护成本在系统中所占的比重越来越大。因此，过分追求节省时间和空间而采用若干小技巧以致破坏程序易读性和易维护性的方法是不可取的。保持良好的程序结构应当作为程序设计的首要考虑。</a:t>
            </a:r>
          </a:p>
          <a:p>
            <a:r>
              <a:rPr lang="en-US" altLang="zh-CN" sz="2200" dirty="0">
                <a:latin typeface="Times New Roman" panose="02020603050405020304" pitchFamily="18" charset="0"/>
                <a:ea typeface="宋体" panose="02010600030101010101" pitchFamily="2" charset="-122"/>
              </a:rPr>
              <a:t>        </a:t>
            </a:r>
            <a:r>
              <a:rPr lang="zh-CN" altLang="zh-CN" sz="2200" dirty="0">
                <a:latin typeface="Times New Roman" panose="02020603050405020304" pitchFamily="18" charset="0"/>
                <a:ea typeface="宋体" panose="02010600030101010101" pitchFamily="2" charset="-122"/>
              </a:rPr>
              <a:t>程序设计时，应先考虑总体，后考虑细节；先考虑全局目标，后考虑局部目标。对复杂问题，应设计一些子目标作为过渡，逐步细化，并采用模块化的设计思想。模块化是把程序要解决的总目标分解为子目标，再进一步分解为具体的小目标，把每一个小目标称为一个模块。汇编语言程序设计中可将子过程视为一个子模块。</a:t>
            </a:r>
          </a:p>
        </p:txBody>
      </p:sp>
    </p:spTree>
  </p:cSld>
  <p:clrMapOvr>
    <a:masterClrMapping/>
  </p:clrMapOvr>
  <p:transition spd="med">
    <p:random/>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4.5.2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顺序结构程序设计</a:t>
            </a:r>
          </a:p>
        </p:txBody>
      </p:sp>
      <p:sp>
        <p:nvSpPr>
          <p:cNvPr id="78850"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78851" name="TextBox 6"/>
          <p:cNvSpPr txBox="1"/>
          <p:nvPr/>
        </p:nvSpPr>
        <p:spPr>
          <a:xfrm>
            <a:off x="407988" y="1349375"/>
            <a:ext cx="8229600" cy="5478463"/>
          </a:xfrm>
          <a:prstGeom prst="rect">
            <a:avLst/>
          </a:prstGeom>
          <a:noFill/>
          <a:ln w="9525">
            <a:noFill/>
          </a:ln>
        </p:spPr>
        <p:txBody>
          <a:bodyPr anchor="t" anchorCtr="0">
            <a:spAutoFit/>
          </a:bodyPr>
          <a:lstStyle/>
          <a:p>
            <a:r>
              <a:rPr lang="zh-CN" altLang="zh-CN" sz="1600" dirty="0">
                <a:solidFill>
                  <a:srgbClr val="FF3300"/>
                </a:solidFill>
                <a:latin typeface="宋体" panose="02010600030101010101" pitchFamily="2" charset="-122"/>
                <a:ea typeface="宋体" panose="02010600030101010101" pitchFamily="2" charset="-122"/>
              </a:rPr>
              <a:t>【例】</a:t>
            </a:r>
            <a:r>
              <a:rPr lang="zh-CN" altLang="zh-CN" sz="1600" dirty="0">
                <a:latin typeface="宋体" panose="02010600030101010101" pitchFamily="2" charset="-122"/>
                <a:ea typeface="宋体" panose="02010600030101010101" pitchFamily="2" charset="-122"/>
              </a:rPr>
              <a:t>将存储单元</a:t>
            </a:r>
            <a:r>
              <a:rPr lang="en-US" altLang="zh-CN" sz="1600" dirty="0">
                <a:latin typeface="宋体" panose="02010600030101010101" pitchFamily="2" charset="-122"/>
                <a:ea typeface="宋体" panose="02010600030101010101" pitchFamily="2" charset="-122"/>
              </a:rPr>
              <a:t>A</a:t>
            </a:r>
            <a:r>
              <a:rPr lang="zh-CN" altLang="zh-CN" sz="1600" dirty="0">
                <a:latin typeface="宋体" panose="02010600030101010101" pitchFamily="2" charset="-122"/>
                <a:ea typeface="宋体" panose="02010600030101010101" pitchFamily="2" charset="-122"/>
              </a:rPr>
              <a:t>中</a:t>
            </a:r>
            <a:r>
              <a:rPr lang="en-US" altLang="zh-CN" sz="1600" dirty="0">
                <a:latin typeface="宋体" panose="02010600030101010101" pitchFamily="2" charset="-122"/>
                <a:ea typeface="宋体" panose="02010600030101010101" pitchFamily="2" charset="-122"/>
              </a:rPr>
              <a:t>2</a:t>
            </a:r>
            <a:r>
              <a:rPr lang="zh-CN" altLang="zh-CN" sz="1600" dirty="0">
                <a:latin typeface="宋体" panose="02010600030101010101" pitchFamily="2" charset="-122"/>
                <a:ea typeface="宋体" panose="02010600030101010101" pitchFamily="2" charset="-122"/>
              </a:rPr>
              <a:t>位压缩的</a:t>
            </a:r>
            <a:r>
              <a:rPr lang="en-US" altLang="zh-CN" sz="1600" dirty="0">
                <a:latin typeface="宋体" panose="02010600030101010101" pitchFamily="2" charset="-122"/>
                <a:ea typeface="宋体" panose="02010600030101010101" pitchFamily="2" charset="-122"/>
              </a:rPr>
              <a:t>BCD</a:t>
            </a:r>
            <a:r>
              <a:rPr lang="zh-CN" altLang="zh-CN" sz="1600" dirty="0">
                <a:latin typeface="宋体" panose="02010600030101010101" pitchFamily="2" charset="-122"/>
                <a:ea typeface="宋体" panose="02010600030101010101" pitchFamily="2" charset="-122"/>
              </a:rPr>
              <a:t>码转换成相应的</a:t>
            </a:r>
            <a:r>
              <a:rPr lang="en-US" altLang="zh-CN" sz="1600" dirty="0">
                <a:latin typeface="宋体" panose="02010600030101010101" pitchFamily="2" charset="-122"/>
                <a:ea typeface="宋体" panose="02010600030101010101" pitchFamily="2" charset="-122"/>
              </a:rPr>
              <a:t>ASCII</a:t>
            </a:r>
            <a:r>
              <a:rPr lang="zh-CN" altLang="zh-CN" sz="1600" dirty="0">
                <a:latin typeface="宋体" panose="02010600030101010101" pitchFamily="2" charset="-122"/>
                <a:ea typeface="宋体" panose="02010600030101010101" pitchFamily="2" charset="-122"/>
              </a:rPr>
              <a:t>码存入存储单元</a:t>
            </a:r>
            <a:r>
              <a:rPr lang="en-US" altLang="zh-CN" sz="1600" dirty="0">
                <a:latin typeface="宋体" panose="02010600030101010101" pitchFamily="2" charset="-122"/>
                <a:ea typeface="宋体" panose="02010600030101010101" pitchFamily="2" charset="-122"/>
              </a:rPr>
              <a:t>B</a:t>
            </a:r>
            <a:r>
              <a:rPr lang="zh-CN" altLang="zh-CN" sz="1600" dirty="0">
                <a:latin typeface="宋体" panose="02010600030101010101" pitchFamily="2" charset="-122"/>
                <a:ea typeface="宋体" panose="02010600030101010101" pitchFamily="2" charset="-122"/>
              </a:rPr>
              <a:t>和</a:t>
            </a:r>
            <a:r>
              <a:rPr lang="en-US" altLang="zh-CN" sz="1600" dirty="0">
                <a:latin typeface="宋体" panose="02010600030101010101" pitchFamily="2" charset="-122"/>
                <a:ea typeface="宋体" panose="02010600030101010101" pitchFamily="2" charset="-122"/>
              </a:rPr>
              <a:t>C</a:t>
            </a:r>
            <a:r>
              <a:rPr lang="zh-CN" altLang="zh-CN" sz="1600" dirty="0">
                <a:latin typeface="宋体" panose="02010600030101010101" pitchFamily="2" charset="-122"/>
                <a:ea typeface="宋体" panose="02010600030101010101" pitchFamily="2" charset="-122"/>
              </a:rPr>
              <a:t>中。</a:t>
            </a:r>
          </a:p>
          <a:p>
            <a:r>
              <a:rPr lang="zh-CN" altLang="zh-CN" sz="1600" dirty="0">
                <a:latin typeface="宋体" panose="02010600030101010101" pitchFamily="2" charset="-122"/>
                <a:ea typeface="宋体" panose="02010600030101010101" pitchFamily="2" charset="-122"/>
              </a:rPr>
              <a:t>说明：得到低位</a:t>
            </a:r>
            <a:r>
              <a:rPr lang="en-US" altLang="zh-CN" sz="1600" dirty="0">
                <a:latin typeface="宋体" panose="02010600030101010101" pitchFamily="2" charset="-122"/>
                <a:ea typeface="宋体" panose="02010600030101010101" pitchFamily="2" charset="-122"/>
              </a:rPr>
              <a:t>BCD</a:t>
            </a:r>
            <a:r>
              <a:rPr lang="zh-CN" altLang="zh-CN" sz="1600" dirty="0">
                <a:latin typeface="宋体" panose="02010600030101010101" pitchFamily="2" charset="-122"/>
                <a:ea typeface="宋体" panose="02010600030101010101" pitchFamily="2" charset="-122"/>
              </a:rPr>
              <a:t>码的方法是屏蔽操作数高</a:t>
            </a:r>
            <a:r>
              <a:rPr lang="en-US" altLang="zh-CN" sz="1600" dirty="0">
                <a:latin typeface="宋体" panose="02010600030101010101" pitchFamily="2" charset="-122"/>
                <a:ea typeface="宋体" panose="02010600030101010101" pitchFamily="2" charset="-122"/>
              </a:rPr>
              <a:t>4</a:t>
            </a:r>
            <a:r>
              <a:rPr lang="zh-CN" altLang="zh-CN" sz="1600" dirty="0">
                <a:latin typeface="宋体" panose="02010600030101010101" pitchFamily="2" charset="-122"/>
                <a:ea typeface="宋体" panose="02010600030101010101" pitchFamily="2" charset="-122"/>
              </a:rPr>
              <a:t>位，保留低</a:t>
            </a:r>
            <a:r>
              <a:rPr lang="en-US" altLang="zh-CN" sz="1600" dirty="0">
                <a:latin typeface="宋体" panose="02010600030101010101" pitchFamily="2" charset="-122"/>
                <a:ea typeface="宋体" panose="02010600030101010101" pitchFamily="2" charset="-122"/>
              </a:rPr>
              <a:t>4</a:t>
            </a:r>
            <a:r>
              <a:rPr lang="zh-CN" altLang="zh-CN" sz="1600" dirty="0">
                <a:latin typeface="宋体" panose="02010600030101010101" pitchFamily="2" charset="-122"/>
                <a:ea typeface="宋体" panose="02010600030101010101" pitchFamily="2" charset="-122"/>
              </a:rPr>
              <a:t>位；得到高位</a:t>
            </a:r>
            <a:r>
              <a:rPr lang="en-US" altLang="zh-CN" sz="1600" dirty="0">
                <a:latin typeface="宋体" panose="02010600030101010101" pitchFamily="2" charset="-122"/>
                <a:ea typeface="宋体" panose="02010600030101010101" pitchFamily="2" charset="-122"/>
              </a:rPr>
              <a:t>BCD</a:t>
            </a:r>
            <a:r>
              <a:rPr lang="zh-CN" altLang="zh-CN" sz="1600" dirty="0">
                <a:latin typeface="宋体" panose="02010600030101010101" pitchFamily="2" charset="-122"/>
                <a:ea typeface="宋体" panose="02010600030101010101" pitchFamily="2" charset="-122"/>
              </a:rPr>
              <a:t>码的方法是操作数右移</a:t>
            </a:r>
            <a:r>
              <a:rPr lang="en-US" altLang="zh-CN" sz="1600" dirty="0">
                <a:latin typeface="宋体" panose="02010600030101010101" pitchFamily="2" charset="-122"/>
                <a:ea typeface="宋体" panose="02010600030101010101" pitchFamily="2" charset="-122"/>
              </a:rPr>
              <a:t>4</a:t>
            </a:r>
            <a:r>
              <a:rPr lang="zh-CN" altLang="zh-CN" sz="1600" dirty="0">
                <a:latin typeface="宋体" panose="02010600030101010101" pitchFamily="2" charset="-122"/>
                <a:ea typeface="宋体" panose="02010600030101010101" pitchFamily="2" charset="-122"/>
              </a:rPr>
              <a:t>位后再屏蔽高</a:t>
            </a:r>
            <a:r>
              <a:rPr lang="en-US" altLang="zh-CN" sz="1600" dirty="0">
                <a:latin typeface="宋体" panose="02010600030101010101" pitchFamily="2" charset="-122"/>
                <a:ea typeface="宋体" panose="02010600030101010101" pitchFamily="2" charset="-122"/>
              </a:rPr>
              <a:t>4</a:t>
            </a:r>
            <a:r>
              <a:rPr lang="zh-CN" altLang="zh-CN" sz="1600" dirty="0">
                <a:latin typeface="宋体" panose="02010600030101010101" pitchFamily="2" charset="-122"/>
                <a:ea typeface="宋体" panose="02010600030101010101" pitchFamily="2" charset="-122"/>
              </a:rPr>
              <a:t>位，保留低</a:t>
            </a:r>
            <a:r>
              <a:rPr lang="en-US" altLang="zh-CN" sz="1600" dirty="0">
                <a:latin typeface="宋体" panose="02010600030101010101" pitchFamily="2" charset="-122"/>
                <a:ea typeface="宋体" panose="02010600030101010101" pitchFamily="2" charset="-122"/>
              </a:rPr>
              <a:t>4</a:t>
            </a:r>
            <a:r>
              <a:rPr lang="zh-CN" altLang="zh-CN" sz="1600" dirty="0">
                <a:latin typeface="宋体" panose="02010600030101010101" pitchFamily="2" charset="-122"/>
                <a:ea typeface="宋体" panose="02010600030101010101" pitchFamily="2" charset="-122"/>
              </a:rPr>
              <a:t>位。</a:t>
            </a:r>
          </a:p>
          <a:p>
            <a:r>
              <a:rPr lang="en-US" altLang="zh-CN" sz="1200" dirty="0">
                <a:latin typeface="宋体" panose="02010600030101010101" pitchFamily="2" charset="-122"/>
                <a:ea typeface="宋体" panose="02010600030101010101" pitchFamily="2" charset="-122"/>
              </a:rPr>
              <a:t> DSEG  SEGMENT            </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A       DB    56H         		;2</a:t>
            </a:r>
            <a:r>
              <a:rPr lang="zh-CN" altLang="zh-CN" sz="1200" dirty="0">
                <a:latin typeface="宋体" panose="02010600030101010101" pitchFamily="2" charset="-122"/>
                <a:ea typeface="宋体" panose="02010600030101010101" pitchFamily="2" charset="-122"/>
              </a:rPr>
              <a:t>位压缩</a:t>
            </a:r>
            <a:r>
              <a:rPr lang="en-US" altLang="zh-CN" sz="1200" dirty="0">
                <a:latin typeface="宋体" panose="02010600030101010101" pitchFamily="2" charset="-122"/>
                <a:ea typeface="宋体" panose="02010600030101010101" pitchFamily="2" charset="-122"/>
              </a:rPr>
              <a:t>BCD</a:t>
            </a:r>
            <a:r>
              <a:rPr lang="zh-CN" altLang="zh-CN" sz="1200" dirty="0">
                <a:latin typeface="宋体" panose="02010600030101010101" pitchFamily="2" charset="-122"/>
                <a:ea typeface="宋体" panose="02010600030101010101" pitchFamily="2" charset="-122"/>
              </a:rPr>
              <a:t>码</a:t>
            </a:r>
          </a:p>
          <a:p>
            <a:r>
              <a:rPr lang="en-US" altLang="zh-CN" sz="1200" dirty="0">
                <a:latin typeface="宋体" panose="02010600030101010101" pitchFamily="2" charset="-122"/>
                <a:ea typeface="宋体" panose="02010600030101010101" pitchFamily="2" charset="-122"/>
              </a:rPr>
              <a:t>  B       DB    </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    </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C       DB    </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          </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DSEG   ENDS               </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CSEG	SEGMENT          </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ASSUME  CS</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CSEG</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DS</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DSEG        </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START</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MOV   AX ,  DSEG  		;</a:t>
            </a:r>
            <a:r>
              <a:rPr lang="zh-CN" altLang="zh-CN" sz="1200" dirty="0">
                <a:latin typeface="宋体" panose="02010600030101010101" pitchFamily="2" charset="-122"/>
                <a:ea typeface="宋体" panose="02010600030101010101" pitchFamily="2" charset="-122"/>
              </a:rPr>
              <a:t>给</a:t>
            </a:r>
            <a:r>
              <a:rPr lang="en-US" altLang="zh-CN" sz="1200" dirty="0">
                <a:latin typeface="宋体" panose="02010600030101010101" pitchFamily="2" charset="-122"/>
                <a:ea typeface="宋体" panose="02010600030101010101" pitchFamily="2" charset="-122"/>
              </a:rPr>
              <a:t>AX</a:t>
            </a:r>
            <a:r>
              <a:rPr lang="zh-CN" altLang="zh-CN" sz="1200" dirty="0">
                <a:latin typeface="宋体" panose="02010600030101010101" pitchFamily="2" charset="-122"/>
                <a:ea typeface="宋体" panose="02010600030101010101" pitchFamily="2" charset="-122"/>
              </a:rPr>
              <a:t>赋值</a:t>
            </a:r>
          </a:p>
          <a:p>
            <a:r>
              <a:rPr lang="en-US" altLang="zh-CN" sz="1200" dirty="0">
                <a:latin typeface="宋体" panose="02010600030101010101" pitchFamily="2" charset="-122"/>
                <a:ea typeface="宋体" panose="02010600030101010101" pitchFamily="2" charset="-122"/>
              </a:rPr>
              <a:t>        MOV   DS ,  AX    		;</a:t>
            </a:r>
            <a:r>
              <a:rPr lang="zh-CN" altLang="zh-CN" sz="1200" dirty="0">
                <a:latin typeface="宋体" panose="02010600030101010101" pitchFamily="2" charset="-122"/>
                <a:ea typeface="宋体" panose="02010600030101010101" pitchFamily="2" charset="-122"/>
              </a:rPr>
              <a:t>设置</a:t>
            </a:r>
            <a:r>
              <a:rPr lang="en-US" altLang="zh-CN" sz="1200" dirty="0">
                <a:latin typeface="宋体" panose="02010600030101010101" pitchFamily="2" charset="-122"/>
                <a:ea typeface="宋体" panose="02010600030101010101" pitchFamily="2" charset="-122"/>
              </a:rPr>
              <a:t>DS</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MOV   AL,  A       </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AND   AL ,  0FH   		;</a:t>
            </a:r>
            <a:r>
              <a:rPr lang="zh-CN" altLang="zh-CN" sz="1200" dirty="0">
                <a:latin typeface="宋体" panose="02010600030101010101" pitchFamily="2" charset="-122"/>
                <a:ea typeface="宋体" panose="02010600030101010101" pitchFamily="2" charset="-122"/>
              </a:rPr>
              <a:t>屏蔽高</a:t>
            </a:r>
            <a:r>
              <a:rPr lang="en-US" altLang="zh-CN" sz="1200" dirty="0">
                <a:latin typeface="宋体" panose="02010600030101010101" pitchFamily="2" charset="-122"/>
                <a:ea typeface="宋体" panose="02010600030101010101" pitchFamily="2" charset="-122"/>
              </a:rPr>
              <a:t>4</a:t>
            </a:r>
            <a:r>
              <a:rPr lang="zh-CN" altLang="zh-CN" sz="1200" dirty="0">
                <a:latin typeface="宋体" panose="02010600030101010101" pitchFamily="2" charset="-122"/>
                <a:ea typeface="宋体" panose="02010600030101010101" pitchFamily="2" charset="-122"/>
              </a:rPr>
              <a:t>位，取低位</a:t>
            </a:r>
            <a:r>
              <a:rPr lang="en-US" altLang="zh-CN" sz="1200" dirty="0">
                <a:latin typeface="宋体" panose="02010600030101010101" pitchFamily="2" charset="-122"/>
                <a:ea typeface="宋体" panose="02010600030101010101" pitchFamily="2" charset="-122"/>
              </a:rPr>
              <a:t>BCD</a:t>
            </a:r>
            <a:r>
              <a:rPr lang="zh-CN" altLang="zh-CN" sz="1200" dirty="0">
                <a:latin typeface="宋体" panose="02010600030101010101" pitchFamily="2" charset="-122"/>
                <a:ea typeface="宋体" panose="02010600030101010101" pitchFamily="2" charset="-122"/>
              </a:rPr>
              <a:t>码</a:t>
            </a:r>
          </a:p>
          <a:p>
            <a:r>
              <a:rPr lang="en-US" altLang="zh-CN" sz="1200" dirty="0">
                <a:latin typeface="宋体" panose="02010600030101010101" pitchFamily="2" charset="-122"/>
                <a:ea typeface="宋体" panose="02010600030101010101" pitchFamily="2" charset="-122"/>
              </a:rPr>
              <a:t>        OR    AL,  30H    		;</a:t>
            </a:r>
            <a:r>
              <a:rPr lang="zh-CN" altLang="zh-CN" sz="1200" dirty="0">
                <a:latin typeface="宋体" panose="02010600030101010101" pitchFamily="2" charset="-122"/>
                <a:ea typeface="宋体" panose="02010600030101010101" pitchFamily="2" charset="-122"/>
              </a:rPr>
              <a:t>将低位</a:t>
            </a:r>
            <a:r>
              <a:rPr lang="en-US" altLang="zh-CN" sz="1200" dirty="0">
                <a:latin typeface="宋体" panose="02010600030101010101" pitchFamily="2" charset="-122"/>
                <a:ea typeface="宋体" panose="02010600030101010101" pitchFamily="2" charset="-122"/>
              </a:rPr>
              <a:t>BCD</a:t>
            </a:r>
            <a:r>
              <a:rPr lang="zh-CN" altLang="zh-CN" sz="1200" dirty="0">
                <a:latin typeface="宋体" panose="02010600030101010101" pitchFamily="2" charset="-122"/>
                <a:ea typeface="宋体" panose="02010600030101010101" pitchFamily="2" charset="-122"/>
              </a:rPr>
              <a:t>码转换成</a:t>
            </a:r>
            <a:r>
              <a:rPr lang="en-US" altLang="zh-CN" sz="1200" dirty="0">
                <a:latin typeface="宋体" panose="02010600030101010101" pitchFamily="2" charset="-122"/>
                <a:ea typeface="宋体" panose="02010600030101010101" pitchFamily="2" charset="-122"/>
              </a:rPr>
              <a:t>ASCII</a:t>
            </a:r>
            <a:r>
              <a:rPr lang="zh-CN" altLang="zh-CN" sz="1200" dirty="0">
                <a:latin typeface="宋体" panose="02010600030101010101" pitchFamily="2" charset="-122"/>
                <a:ea typeface="宋体" panose="02010600030101010101" pitchFamily="2" charset="-122"/>
              </a:rPr>
              <a:t>码</a:t>
            </a:r>
          </a:p>
          <a:p>
            <a:r>
              <a:rPr lang="en-US" altLang="zh-CN" sz="1200" dirty="0">
                <a:latin typeface="宋体" panose="02010600030101010101" pitchFamily="2" charset="-122"/>
                <a:ea typeface="宋体" panose="02010600030101010101" pitchFamily="2" charset="-122"/>
              </a:rPr>
              <a:t>        MOV   B ,  AL       		;</a:t>
            </a:r>
            <a:r>
              <a:rPr lang="zh-CN" altLang="zh-CN" sz="1200" dirty="0">
                <a:latin typeface="宋体" panose="02010600030101010101" pitchFamily="2" charset="-122"/>
                <a:ea typeface="宋体" panose="02010600030101010101" pitchFamily="2" charset="-122"/>
              </a:rPr>
              <a:t>存入单元</a:t>
            </a:r>
            <a:r>
              <a:rPr lang="en-US" altLang="zh-CN" sz="1200" dirty="0">
                <a:latin typeface="宋体" panose="02010600030101010101" pitchFamily="2" charset="-122"/>
                <a:ea typeface="宋体" panose="02010600030101010101" pitchFamily="2" charset="-122"/>
              </a:rPr>
              <a:t>B</a:t>
            </a:r>
            <a:r>
              <a:rPr lang="zh-CN" altLang="zh-CN" sz="1200" dirty="0">
                <a:latin typeface="宋体" panose="02010600030101010101" pitchFamily="2" charset="-122"/>
                <a:ea typeface="宋体" panose="02010600030101010101" pitchFamily="2" charset="-122"/>
              </a:rPr>
              <a:t>中</a:t>
            </a:r>
          </a:p>
          <a:p>
            <a:r>
              <a:rPr lang="en-US" altLang="zh-CN" sz="1200" dirty="0">
                <a:latin typeface="宋体" panose="02010600030101010101" pitchFamily="2" charset="-122"/>
                <a:ea typeface="宋体" panose="02010600030101010101" pitchFamily="2" charset="-122"/>
              </a:rPr>
              <a:t>        MOV   AL,  A  </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MOV   CL,  4</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a:t>
            </a:r>
            <a:r>
              <a:rPr lang="it-IT" altLang="zh-CN" sz="1200" dirty="0">
                <a:latin typeface="宋体" panose="02010600030101010101" pitchFamily="2" charset="-122"/>
                <a:ea typeface="宋体" panose="02010600030101010101" pitchFamily="2" charset="-122"/>
              </a:rPr>
              <a:t>SHR    AL, CL        		</a:t>
            </a:r>
            <a:r>
              <a:rPr lang="en-US" altLang="zh-CN" sz="1200" dirty="0">
                <a:latin typeface="宋体" panose="02010600030101010101" pitchFamily="2" charset="-122"/>
                <a:ea typeface="宋体" panose="02010600030101010101" pitchFamily="2" charset="-122"/>
              </a:rPr>
              <a:t>;</a:t>
            </a:r>
            <a:r>
              <a:rPr lang="zh-CN" altLang="zh-CN" sz="1200" dirty="0">
                <a:latin typeface="宋体" panose="02010600030101010101" pitchFamily="2" charset="-122"/>
                <a:ea typeface="宋体" panose="02010600030101010101" pitchFamily="2" charset="-122"/>
              </a:rPr>
              <a:t>高位</a:t>
            </a:r>
            <a:r>
              <a:rPr lang="it-IT" altLang="zh-CN" sz="1200" dirty="0">
                <a:latin typeface="宋体" panose="02010600030101010101" pitchFamily="2" charset="-122"/>
                <a:ea typeface="宋体" panose="02010600030101010101" pitchFamily="2" charset="-122"/>
              </a:rPr>
              <a:t>BCD</a:t>
            </a:r>
            <a:r>
              <a:rPr lang="zh-CN" altLang="zh-CN" sz="1200" dirty="0">
                <a:latin typeface="宋体" panose="02010600030101010101" pitchFamily="2" charset="-122"/>
                <a:ea typeface="宋体" panose="02010600030101010101" pitchFamily="2" charset="-122"/>
              </a:rPr>
              <a:t>码移入</a:t>
            </a:r>
            <a:r>
              <a:rPr lang="it-IT" altLang="zh-CN" sz="1200" dirty="0">
                <a:latin typeface="宋体" panose="02010600030101010101" pitchFamily="2" charset="-122"/>
                <a:ea typeface="宋体" panose="02010600030101010101" pitchFamily="2" charset="-122"/>
              </a:rPr>
              <a:t>AL</a:t>
            </a:r>
            <a:r>
              <a:rPr lang="zh-CN" altLang="zh-CN" sz="1200" dirty="0">
                <a:latin typeface="宋体" panose="02010600030101010101" pitchFamily="2" charset="-122"/>
                <a:ea typeface="宋体" panose="02010600030101010101" pitchFamily="2" charset="-122"/>
              </a:rPr>
              <a:t>的低</a:t>
            </a:r>
            <a:r>
              <a:rPr lang="it-IT" altLang="zh-CN" sz="1200" dirty="0">
                <a:latin typeface="宋体" panose="02010600030101010101" pitchFamily="2" charset="-122"/>
                <a:ea typeface="宋体" panose="02010600030101010101" pitchFamily="2" charset="-122"/>
              </a:rPr>
              <a:t>4</a:t>
            </a:r>
            <a:r>
              <a:rPr lang="zh-CN" altLang="zh-CN" sz="1200" dirty="0">
                <a:latin typeface="宋体" panose="02010600030101010101" pitchFamily="2" charset="-122"/>
                <a:ea typeface="宋体" panose="02010600030101010101" pitchFamily="2" charset="-122"/>
              </a:rPr>
              <a:t>位</a:t>
            </a:r>
          </a:p>
          <a:p>
            <a:r>
              <a:rPr lang="it-IT" altLang="zh-CN" sz="1200" dirty="0">
                <a:latin typeface="宋体" panose="02010600030101010101" pitchFamily="2" charset="-122"/>
                <a:ea typeface="宋体" panose="02010600030101010101" pitchFamily="2" charset="-122"/>
              </a:rPr>
              <a:t>        AND   AL ,  0FH</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OR    AL,  30H      </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MOV   C ,  AL     </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MOV   AH,  4CH     </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INT    21H          		;</a:t>
            </a:r>
            <a:r>
              <a:rPr lang="zh-CN" altLang="zh-CN" sz="1200" dirty="0">
                <a:latin typeface="宋体" panose="02010600030101010101" pitchFamily="2" charset="-122"/>
                <a:ea typeface="宋体" panose="02010600030101010101" pitchFamily="2" charset="-122"/>
              </a:rPr>
              <a:t>执行</a:t>
            </a:r>
            <a:r>
              <a:rPr lang="en-US" altLang="zh-CN" sz="1200" dirty="0">
                <a:latin typeface="宋体" panose="02010600030101010101" pitchFamily="2" charset="-122"/>
                <a:ea typeface="宋体" panose="02010600030101010101" pitchFamily="2" charset="-122"/>
              </a:rPr>
              <a:t>DOS</a:t>
            </a:r>
            <a:r>
              <a:rPr lang="zh-CN" altLang="zh-CN" sz="1200" dirty="0">
                <a:latin typeface="宋体" panose="02010600030101010101" pitchFamily="2" charset="-122"/>
                <a:ea typeface="宋体" panose="02010600030101010101" pitchFamily="2" charset="-122"/>
              </a:rPr>
              <a:t>功能调用，返回</a:t>
            </a:r>
            <a:r>
              <a:rPr lang="en-US" altLang="zh-CN" sz="1200" dirty="0">
                <a:latin typeface="宋体" panose="02010600030101010101" pitchFamily="2" charset="-122"/>
                <a:ea typeface="宋体" panose="02010600030101010101" pitchFamily="2" charset="-122"/>
              </a:rPr>
              <a:t>DOS</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CSEG   ENDS                </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END  START</a:t>
            </a:r>
            <a:endParaRPr lang="zh-CN" altLang="zh-CN" sz="120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4.5.3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分支程序设计</a:t>
            </a:r>
          </a:p>
        </p:txBody>
      </p:sp>
      <p:sp>
        <p:nvSpPr>
          <p:cNvPr id="80898"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80899" name="TextBox 4"/>
          <p:cNvSpPr txBox="1"/>
          <p:nvPr/>
        </p:nvSpPr>
        <p:spPr>
          <a:xfrm>
            <a:off x="434975" y="1784350"/>
            <a:ext cx="8202613" cy="4451350"/>
          </a:xfrm>
          <a:prstGeom prst="rect">
            <a:avLst/>
          </a:prstGeom>
          <a:noFill/>
          <a:ln w="9525">
            <a:noFill/>
          </a:ln>
        </p:spPr>
        <p:txBody>
          <a:bodyPr anchor="t" anchorCtr="0">
            <a:spAutoFit/>
          </a:bodyPr>
          <a:lstStyle/>
          <a:p>
            <a:pPr algn="just"/>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分支程序是指程序的运行过程中要求计算机作一些判断，并根据判断选择不同的处理。在</a:t>
            </a:r>
            <a:r>
              <a:rPr lang="en-US" altLang="zh-CN" dirty="0">
                <a:latin typeface="宋体" panose="02010600030101010101" pitchFamily="2" charset="-122"/>
                <a:ea typeface="宋体" panose="02010600030101010101" pitchFamily="2" charset="-122"/>
              </a:rPr>
              <a:t>8086/8088</a:t>
            </a:r>
            <a:r>
              <a:rPr lang="zh-CN" altLang="zh-CN" dirty="0">
                <a:latin typeface="宋体" panose="02010600030101010101" pitchFamily="2" charset="-122"/>
                <a:ea typeface="宋体" panose="02010600030101010101" pitchFamily="2" charset="-122"/>
              </a:rPr>
              <a:t>指令系统中，判断的依据主要是运算结果及运算标志寄存器中的状态位。</a:t>
            </a:r>
          </a:p>
          <a:p>
            <a:pPr algn="just"/>
            <a:r>
              <a:rPr lang="zh-CN" altLang="zh-CN" dirty="0">
                <a:latin typeface="宋体" panose="02010600030101010101" pitchFamily="2" charset="-122"/>
                <a:ea typeface="宋体" panose="02010600030101010101" pitchFamily="2" charset="-122"/>
              </a:rPr>
              <a:t>分支程序分为双分支和多分支两种结构。</a:t>
            </a:r>
          </a:p>
          <a:p>
            <a:pPr algn="just"/>
            <a:r>
              <a:rPr lang="zh-CN" altLang="zh-CN" dirty="0">
                <a:latin typeface="宋体" panose="02010600030101010101" pitchFamily="2" charset="-122"/>
                <a:ea typeface="宋体" panose="02010600030101010101" pitchFamily="2" charset="-122"/>
              </a:rPr>
              <a:t>双分支结构一般由以下三部分组成。</a:t>
            </a:r>
          </a:p>
          <a:p>
            <a:pPr algn="just"/>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）条件产生语句。在进行判定以前必须要有条件产生语句，如算术运算指令、比较指令等，通过它们影响标志寄存器状态位</a:t>
            </a:r>
            <a:r>
              <a:rPr lang="en-US" altLang="zh-CN" dirty="0">
                <a:latin typeface="宋体" panose="02010600030101010101" pitchFamily="2" charset="-122"/>
                <a:ea typeface="宋体" panose="02010600030101010101" pitchFamily="2" charset="-122"/>
              </a:rPr>
              <a:t>SF</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CF</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OF</a:t>
            </a:r>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ZF</a:t>
            </a:r>
            <a:r>
              <a:rPr lang="zh-CN" altLang="zh-CN" dirty="0">
                <a:latin typeface="宋体" panose="02010600030101010101" pitchFamily="2" charset="-122"/>
                <a:ea typeface="宋体" panose="02010600030101010101" pitchFamily="2" charset="-122"/>
              </a:rPr>
              <a:t>等，为条件测试做准备。</a:t>
            </a:r>
          </a:p>
          <a:p>
            <a:pPr algn="just"/>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）条件测试语句。利用条件转移指令进行测试。满足条件，跳转到标号处；不满足条件，顺序执行条件测试语句下面的指令。执行分支段程序后必须保证程序顺序执行下去。</a:t>
            </a:r>
          </a:p>
          <a:p>
            <a:pPr algn="just"/>
            <a:r>
              <a:rPr lang="zh-CN" altLang="zh-CN" dirty="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3</a:t>
            </a:r>
            <a:r>
              <a:rPr lang="zh-CN" altLang="zh-CN" dirty="0">
                <a:latin typeface="宋体" panose="02010600030101010101" pitchFamily="2" charset="-122"/>
                <a:ea typeface="宋体" panose="02010600030101010101" pitchFamily="2" charset="-122"/>
              </a:rPr>
              <a:t>）标号。在分支程序段前设置标号以便于跳转。</a:t>
            </a:r>
          </a:p>
        </p:txBody>
      </p:sp>
    </p:spTree>
  </p:cSld>
  <p:clrMapOvr>
    <a:masterClrMapping/>
  </p:clrMapOvr>
  <p:transition spd="med">
    <p:random/>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4.5.3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分支程序设计</a:t>
            </a:r>
          </a:p>
        </p:txBody>
      </p:sp>
      <p:sp>
        <p:nvSpPr>
          <p:cNvPr id="8294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82947" name="TextBox 6"/>
          <p:cNvSpPr txBox="1"/>
          <p:nvPr/>
        </p:nvSpPr>
        <p:spPr>
          <a:xfrm>
            <a:off x="407988" y="1366838"/>
            <a:ext cx="6623050" cy="5189537"/>
          </a:xfrm>
          <a:prstGeom prst="rect">
            <a:avLst/>
          </a:prstGeom>
          <a:noFill/>
          <a:ln w="9525">
            <a:noFill/>
          </a:ln>
        </p:spPr>
        <p:txBody>
          <a:bodyPr anchor="t" anchorCtr="0">
            <a:spAutoFit/>
          </a:bodyPr>
          <a:lstStyle/>
          <a:p>
            <a:r>
              <a:rPr lang="zh-CN" altLang="zh-CN" sz="1600">
                <a:solidFill>
                  <a:srgbClr val="FF3300"/>
                </a:solidFill>
                <a:latin typeface="宋体" panose="02010600030101010101" pitchFamily="2" charset="-122"/>
                <a:ea typeface="宋体" panose="02010600030101010101" pitchFamily="2" charset="-122"/>
              </a:rPr>
              <a:t>【例】</a:t>
            </a:r>
            <a:r>
              <a:rPr lang="zh-CN" altLang="zh-CN" sz="1600" dirty="0">
                <a:latin typeface="宋体" panose="02010600030101010101" pitchFamily="2" charset="-122"/>
                <a:ea typeface="宋体" panose="02010600030101010101" pitchFamily="2" charset="-122"/>
              </a:rPr>
              <a:t>比较两个无符号数的大小，把较大的数存入</a:t>
            </a:r>
            <a:r>
              <a:rPr lang="en-US" altLang="zh-CN" sz="1600" dirty="0">
                <a:latin typeface="宋体" panose="02010600030101010101" pitchFamily="2" charset="-122"/>
                <a:ea typeface="宋体" panose="02010600030101010101" pitchFamily="2" charset="-122"/>
              </a:rPr>
              <a:t>MAX</a:t>
            </a:r>
            <a:r>
              <a:rPr lang="zh-CN" altLang="zh-CN" sz="1600" dirty="0">
                <a:latin typeface="宋体" panose="02010600030101010101" pitchFamily="2" charset="-122"/>
                <a:ea typeface="宋体" panose="02010600030101010101" pitchFamily="2" charset="-122"/>
              </a:rPr>
              <a:t>单元中。</a:t>
            </a:r>
          </a:p>
          <a:p>
            <a:r>
              <a:rPr lang="zh-CN" altLang="zh-CN" sz="1600" dirty="0">
                <a:latin typeface="宋体" panose="02010600030101010101" pitchFamily="2" charset="-122"/>
                <a:ea typeface="宋体" panose="02010600030101010101" pitchFamily="2" charset="-122"/>
              </a:rPr>
              <a:t>说明：绘制流程图，并根据流程图编写程序。流程图如图</a:t>
            </a:r>
            <a:r>
              <a:rPr lang="en-US" altLang="zh-CN" sz="1600" dirty="0">
                <a:latin typeface="宋体" panose="02010600030101010101" pitchFamily="2" charset="-122"/>
                <a:ea typeface="宋体" panose="02010600030101010101" pitchFamily="2" charset="-122"/>
              </a:rPr>
              <a:t>4-3</a:t>
            </a:r>
            <a:r>
              <a:rPr lang="zh-CN" altLang="zh-CN" sz="1600" dirty="0">
                <a:latin typeface="宋体" panose="02010600030101010101" pitchFamily="2" charset="-122"/>
                <a:ea typeface="宋体" panose="02010600030101010101" pitchFamily="2" charset="-122"/>
              </a:rPr>
              <a:t>所示。</a:t>
            </a:r>
            <a:endParaRPr lang="en-US" altLang="zh-CN" sz="1600" dirty="0">
              <a:latin typeface="宋体" panose="02010600030101010101" pitchFamily="2" charset="-122"/>
              <a:ea typeface="宋体" panose="02010600030101010101" pitchFamily="2" charset="-122"/>
            </a:endParaRPr>
          </a:p>
          <a:p>
            <a:r>
              <a:rPr lang="pt-BR" altLang="zh-CN" sz="1600" dirty="0">
                <a:latin typeface="宋体" panose="02010600030101010101" pitchFamily="2" charset="-122"/>
                <a:ea typeface="宋体" panose="02010600030101010101" pitchFamily="2" charset="-122"/>
              </a:rPr>
              <a:t>DATA   SEGMENT</a:t>
            </a:r>
            <a:endParaRPr lang="zh-CN" altLang="zh-CN" sz="1600" dirty="0">
              <a:latin typeface="宋体" panose="02010600030101010101" pitchFamily="2" charset="-122"/>
              <a:ea typeface="宋体" panose="02010600030101010101" pitchFamily="2" charset="-122"/>
            </a:endParaRPr>
          </a:p>
          <a:p>
            <a:r>
              <a:rPr lang="pt-BR" altLang="zh-CN" sz="1600" dirty="0">
                <a:latin typeface="宋体" panose="02010600030101010101" pitchFamily="2" charset="-122"/>
                <a:ea typeface="宋体" panose="02010600030101010101" pitchFamily="2" charset="-122"/>
              </a:rPr>
              <a:t>   NUM   DB     60H</a:t>
            </a:r>
            <a:r>
              <a:rPr lang="zh-CN" altLang="zh-CN" sz="1600" dirty="0">
                <a:latin typeface="宋体" panose="02010600030101010101" pitchFamily="2" charset="-122"/>
                <a:ea typeface="宋体" panose="02010600030101010101" pitchFamily="2" charset="-122"/>
              </a:rPr>
              <a:t>，</a:t>
            </a:r>
            <a:r>
              <a:rPr lang="pt-BR" altLang="zh-CN" sz="1600" dirty="0">
                <a:latin typeface="宋体" panose="02010600030101010101" pitchFamily="2" charset="-122"/>
                <a:ea typeface="宋体" panose="02010600030101010101" pitchFamily="2" charset="-122"/>
              </a:rPr>
              <a:t>66H</a:t>
            </a:r>
            <a:endParaRPr lang="zh-CN" altLang="zh-CN" sz="1600" dirty="0">
              <a:latin typeface="宋体" panose="02010600030101010101" pitchFamily="2" charset="-122"/>
              <a:ea typeface="宋体" panose="02010600030101010101" pitchFamily="2" charset="-122"/>
            </a:endParaRPr>
          </a:p>
          <a:p>
            <a:r>
              <a:rPr lang="pt-BR" altLang="zh-CN" sz="1600" dirty="0">
                <a:latin typeface="宋体" panose="02010600030101010101" pitchFamily="2" charset="-122"/>
                <a:ea typeface="宋体" panose="02010600030101010101" pitchFamily="2" charset="-122"/>
              </a:rPr>
              <a:t>   MAX   DB     ?</a:t>
            </a:r>
            <a:endParaRPr lang="zh-CN" altLang="zh-CN" sz="1600" dirty="0">
              <a:latin typeface="宋体" panose="02010600030101010101" pitchFamily="2" charset="-122"/>
              <a:ea typeface="宋体" panose="02010600030101010101" pitchFamily="2" charset="-122"/>
            </a:endParaRPr>
          </a:p>
          <a:p>
            <a:r>
              <a:rPr lang="pt-BR" altLang="zh-CN" sz="1600" dirty="0">
                <a:latin typeface="宋体" panose="02010600030101010101" pitchFamily="2" charset="-122"/>
                <a:ea typeface="宋体" panose="02010600030101010101" pitchFamily="2" charset="-122"/>
              </a:rPr>
              <a:t>DATA   ENDS</a:t>
            </a:r>
            <a:endParaRPr lang="zh-CN" altLang="zh-CN" sz="1600" dirty="0">
              <a:latin typeface="宋体" panose="02010600030101010101" pitchFamily="2" charset="-122"/>
              <a:ea typeface="宋体" panose="02010600030101010101" pitchFamily="2" charset="-122"/>
            </a:endParaRPr>
          </a:p>
          <a:p>
            <a:r>
              <a:rPr lang="pt-BR" altLang="zh-CN" sz="1600" dirty="0">
                <a:latin typeface="宋体" panose="02010600030101010101" pitchFamily="2" charset="-122"/>
                <a:ea typeface="宋体" panose="02010600030101010101" pitchFamily="2" charset="-122"/>
              </a:rPr>
              <a:t>CODE   SEGMENT</a:t>
            </a:r>
            <a:endParaRPr lang="zh-CN" altLang="zh-CN" sz="1600" dirty="0">
              <a:latin typeface="宋体" panose="02010600030101010101" pitchFamily="2" charset="-122"/>
              <a:ea typeface="宋体" panose="02010600030101010101" pitchFamily="2" charset="-122"/>
            </a:endParaRPr>
          </a:p>
          <a:p>
            <a:r>
              <a:rPr lang="pt-BR" altLang="zh-CN" sz="1600" dirty="0">
                <a:latin typeface="宋体" panose="02010600030101010101" pitchFamily="2" charset="-122"/>
                <a:ea typeface="宋体" panose="02010600030101010101" pitchFamily="2" charset="-122"/>
              </a:rPr>
              <a:t>       </a:t>
            </a:r>
            <a:r>
              <a:rPr lang="fr-FR" altLang="zh-CN" sz="1600" dirty="0">
                <a:latin typeface="宋体" panose="02010600030101010101" pitchFamily="2" charset="-122"/>
                <a:ea typeface="宋体" panose="02010600030101010101" pitchFamily="2" charset="-122"/>
              </a:rPr>
              <a:t>ASSUME    CS</a:t>
            </a:r>
            <a:r>
              <a:rPr lang="zh-CN" altLang="zh-CN" sz="1600" dirty="0">
                <a:latin typeface="宋体" panose="02010600030101010101" pitchFamily="2" charset="-122"/>
                <a:ea typeface="宋体" panose="02010600030101010101" pitchFamily="2" charset="-122"/>
              </a:rPr>
              <a:t>： </a:t>
            </a:r>
            <a:r>
              <a:rPr lang="fr-FR" altLang="zh-CN" sz="1600" dirty="0">
                <a:latin typeface="宋体" panose="02010600030101010101" pitchFamily="2" charset="-122"/>
                <a:ea typeface="宋体" panose="02010600030101010101" pitchFamily="2" charset="-122"/>
              </a:rPr>
              <a:t>CODE, DS</a:t>
            </a:r>
            <a:r>
              <a:rPr lang="zh-CN" altLang="zh-CN" sz="1600" dirty="0">
                <a:latin typeface="宋体" panose="02010600030101010101" pitchFamily="2" charset="-122"/>
                <a:ea typeface="宋体" panose="02010600030101010101" pitchFamily="2" charset="-122"/>
              </a:rPr>
              <a:t>：</a:t>
            </a:r>
            <a:r>
              <a:rPr lang="fr-FR" altLang="zh-CN" sz="1600" dirty="0">
                <a:latin typeface="宋体" panose="02010600030101010101" pitchFamily="2" charset="-122"/>
                <a:ea typeface="宋体" panose="02010600030101010101" pitchFamily="2" charset="-122"/>
              </a:rPr>
              <a:t>DATA</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START</a:t>
            </a:r>
            <a:r>
              <a:rPr lang="zh-CN" altLang="zh-CN" sz="1600" dirty="0">
                <a:latin typeface="宋体" panose="02010600030101010101" pitchFamily="2" charset="-122"/>
                <a:ea typeface="宋体" panose="02010600030101010101" pitchFamily="2" charset="-122"/>
              </a:rPr>
              <a:t>：</a:t>
            </a:r>
            <a:r>
              <a:rPr lang="en-US" altLang="zh-CN" sz="1600" dirty="0">
                <a:latin typeface="宋体" panose="02010600030101010101" pitchFamily="2" charset="-122"/>
                <a:ea typeface="宋体" panose="02010600030101010101" pitchFamily="2" charset="-122"/>
              </a:rPr>
              <a:t>	MOV     	  AX,DATA</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MOV     	  DS,AX</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MOV    	  AL,NUM     </a:t>
            </a:r>
            <a:r>
              <a:rPr lang="en-US" altLang="zh-CN" sz="1600" dirty="0">
                <a:solidFill>
                  <a:srgbClr val="00CC00"/>
                </a:solidFill>
                <a:latin typeface="宋体" panose="02010600030101010101" pitchFamily="2" charset="-122"/>
                <a:ea typeface="宋体" panose="02010600030101010101" pitchFamily="2" charset="-122"/>
              </a:rPr>
              <a:t>;</a:t>
            </a:r>
            <a:r>
              <a:rPr lang="zh-CN" altLang="zh-CN" sz="1600" dirty="0">
                <a:solidFill>
                  <a:srgbClr val="00CC00"/>
                </a:solidFill>
                <a:latin typeface="宋体" panose="02010600030101010101" pitchFamily="2" charset="-122"/>
                <a:ea typeface="宋体" panose="02010600030101010101" pitchFamily="2" charset="-122"/>
              </a:rPr>
              <a:t>取第一个数</a:t>
            </a:r>
          </a:p>
          <a:p>
            <a:r>
              <a:rPr lang="en-US" altLang="zh-CN" sz="1600" dirty="0">
                <a:latin typeface="宋体" panose="02010600030101010101" pitchFamily="2" charset="-122"/>
                <a:ea typeface="宋体" panose="02010600030101010101" pitchFamily="2" charset="-122"/>
              </a:rPr>
              <a:t>         	CMP    	  AL,NUM+1   </a:t>
            </a:r>
            <a:r>
              <a:rPr lang="en-US" altLang="zh-CN" sz="1600" dirty="0">
                <a:solidFill>
                  <a:srgbClr val="00CC00"/>
                </a:solidFill>
                <a:latin typeface="宋体" panose="02010600030101010101" pitchFamily="2" charset="-122"/>
                <a:ea typeface="宋体" panose="02010600030101010101" pitchFamily="2" charset="-122"/>
              </a:rPr>
              <a:t>;</a:t>
            </a:r>
            <a:r>
              <a:rPr lang="zh-CN" altLang="zh-CN" sz="1600" dirty="0">
                <a:solidFill>
                  <a:srgbClr val="00CC00"/>
                </a:solidFill>
                <a:latin typeface="宋体" panose="02010600030101010101" pitchFamily="2" charset="-122"/>
                <a:ea typeface="宋体" panose="02010600030101010101" pitchFamily="2" charset="-122"/>
              </a:rPr>
              <a:t>两数相减比较大小</a:t>
            </a:r>
          </a:p>
          <a:p>
            <a:r>
              <a:rPr lang="en-US" altLang="zh-CN" sz="1600" dirty="0">
                <a:latin typeface="宋体" panose="02010600030101010101" pitchFamily="2" charset="-122"/>
                <a:ea typeface="宋体" panose="02010600030101010101" pitchFamily="2" charset="-122"/>
              </a:rPr>
              <a:t>         	JNC     	  BIG        </a:t>
            </a:r>
            <a:r>
              <a:rPr lang="en-US" altLang="zh-CN" sz="1600" dirty="0">
                <a:solidFill>
                  <a:srgbClr val="00CC00"/>
                </a:solidFill>
                <a:latin typeface="宋体" panose="02010600030101010101" pitchFamily="2" charset="-122"/>
                <a:ea typeface="宋体" panose="02010600030101010101" pitchFamily="2" charset="-122"/>
              </a:rPr>
              <a:t>;</a:t>
            </a:r>
            <a:r>
              <a:rPr lang="zh-CN" altLang="zh-CN" sz="1600" dirty="0">
                <a:solidFill>
                  <a:srgbClr val="00CC00"/>
                </a:solidFill>
                <a:latin typeface="宋体" panose="02010600030101010101" pitchFamily="2" charset="-122"/>
                <a:ea typeface="宋体" panose="02010600030101010101" pitchFamily="2" charset="-122"/>
              </a:rPr>
              <a:t>第一个数大，跳转</a:t>
            </a:r>
            <a:r>
              <a:rPr lang="en-US" altLang="zh-CN" sz="1600" dirty="0">
                <a:solidFill>
                  <a:srgbClr val="00CC00"/>
                </a:solidFill>
                <a:latin typeface="宋体" panose="02010600030101010101" pitchFamily="2" charset="-122"/>
                <a:ea typeface="宋体" panose="02010600030101010101" pitchFamily="2" charset="-122"/>
              </a:rPr>
              <a:t>BIG</a:t>
            </a:r>
            <a:r>
              <a:rPr lang="zh-CN" altLang="zh-CN" sz="1600" dirty="0">
                <a:solidFill>
                  <a:srgbClr val="00CC00"/>
                </a:solidFill>
                <a:latin typeface="宋体" panose="02010600030101010101" pitchFamily="2" charset="-122"/>
                <a:ea typeface="宋体" panose="02010600030101010101" pitchFamily="2" charset="-122"/>
              </a:rPr>
              <a:t>处</a:t>
            </a:r>
          </a:p>
          <a:p>
            <a:r>
              <a:rPr lang="en-US" altLang="zh-CN" sz="1600" dirty="0">
                <a:latin typeface="宋体" panose="02010600030101010101" pitchFamily="2" charset="-122"/>
                <a:ea typeface="宋体" panose="02010600030101010101" pitchFamily="2" charset="-122"/>
              </a:rPr>
              <a:t>         	MOV    	  AL,NUM+1      </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BIG</a:t>
            </a:r>
            <a:r>
              <a:rPr lang="zh-CN" altLang="zh-CN" sz="1600" dirty="0">
                <a:latin typeface="宋体" panose="02010600030101010101" pitchFamily="2" charset="-122"/>
                <a:ea typeface="宋体" panose="02010600030101010101" pitchFamily="2" charset="-122"/>
              </a:rPr>
              <a:t>：</a:t>
            </a:r>
            <a:r>
              <a:rPr lang="en-US" altLang="zh-CN" sz="1600" dirty="0">
                <a:latin typeface="宋体" panose="02010600030101010101" pitchFamily="2" charset="-122"/>
                <a:ea typeface="宋体" panose="02010600030101010101" pitchFamily="2" charset="-122"/>
              </a:rPr>
              <a:t>	MOV     	  MAX,AL     </a:t>
            </a:r>
            <a:r>
              <a:rPr lang="en-US" altLang="zh-CN" sz="1600" dirty="0">
                <a:solidFill>
                  <a:srgbClr val="00CC00"/>
                </a:solidFill>
                <a:latin typeface="宋体" panose="02010600030101010101" pitchFamily="2" charset="-122"/>
                <a:ea typeface="宋体" panose="02010600030101010101" pitchFamily="2" charset="-122"/>
              </a:rPr>
              <a:t>;</a:t>
            </a:r>
            <a:r>
              <a:rPr lang="zh-CN" altLang="zh-CN" sz="1600" dirty="0">
                <a:solidFill>
                  <a:srgbClr val="00CC00"/>
                </a:solidFill>
                <a:latin typeface="宋体" panose="02010600030101010101" pitchFamily="2" charset="-122"/>
                <a:ea typeface="宋体" panose="02010600030101010101" pitchFamily="2" charset="-122"/>
              </a:rPr>
              <a:t>保存较大数</a:t>
            </a:r>
          </a:p>
          <a:p>
            <a:r>
              <a:rPr lang="en-US" altLang="zh-CN" sz="1600" dirty="0">
                <a:latin typeface="宋体" panose="02010600030101010101" pitchFamily="2" charset="-122"/>
                <a:ea typeface="宋体" panose="02010600030101010101" pitchFamily="2" charset="-122"/>
              </a:rPr>
              <a:t>         	MOV     	  AH,4CH</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INT     	  21H</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CODE   ENDS</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END     	  START</a:t>
            </a:r>
            <a:endParaRPr lang="zh-CN" altLang="zh-CN" sz="1600" dirty="0">
              <a:latin typeface="宋体" panose="02010600030101010101" pitchFamily="2" charset="-122"/>
              <a:ea typeface="宋体" panose="02010600030101010101" pitchFamily="2" charset="-122"/>
            </a:endParaRPr>
          </a:p>
        </p:txBody>
      </p:sp>
      <p:pic>
        <p:nvPicPr>
          <p:cNvPr id="82948" name="Picture 2" descr="4"/>
          <p:cNvPicPr>
            <a:picLocks noChangeAspect="1"/>
          </p:cNvPicPr>
          <p:nvPr/>
        </p:nvPicPr>
        <p:blipFill>
          <a:blip r:embed="rId3"/>
          <a:stretch>
            <a:fillRect/>
          </a:stretch>
        </p:blipFill>
        <p:spPr>
          <a:xfrm>
            <a:off x="6465888" y="1208088"/>
            <a:ext cx="2662237" cy="3381375"/>
          </a:xfrm>
          <a:prstGeom prst="rect">
            <a:avLst/>
          </a:prstGeom>
          <a:noFill/>
          <a:ln w="9525">
            <a:noFill/>
          </a:ln>
        </p:spPr>
      </p:pic>
    </p:spTree>
  </p:cSld>
  <p:clrMapOvr>
    <a:masterClrMapping/>
  </p:clrMapOvr>
  <p:transition spd="med">
    <p:random/>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4.5.4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循环结构程序设计</a:t>
            </a:r>
          </a:p>
        </p:txBody>
      </p:sp>
      <p:sp>
        <p:nvSpPr>
          <p:cNvPr id="8499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84995" name="TextBox 4"/>
          <p:cNvSpPr txBox="1"/>
          <p:nvPr/>
        </p:nvSpPr>
        <p:spPr>
          <a:xfrm>
            <a:off x="407988" y="1544638"/>
            <a:ext cx="8202612" cy="5002212"/>
          </a:xfrm>
          <a:prstGeom prst="rect">
            <a:avLst/>
          </a:prstGeom>
          <a:noFill/>
          <a:ln w="9525">
            <a:noFill/>
          </a:ln>
        </p:spPr>
        <p:txBody>
          <a:bodyPr anchor="t" anchorCtr="0">
            <a:spAutoFit/>
          </a:bodyPr>
          <a:lstStyle/>
          <a:p>
            <a:pPr algn="just"/>
            <a:r>
              <a:rPr lang="en-US" altLang="zh-CN" sz="2200" dirty="0">
                <a:latin typeface="宋体" panose="02010600030101010101" pitchFamily="2" charset="-122"/>
                <a:ea typeface="宋体" panose="02010600030101010101" pitchFamily="2" charset="-122"/>
              </a:rPr>
              <a:t>    </a:t>
            </a:r>
            <a:r>
              <a:rPr lang="zh-CN" altLang="zh-CN" sz="2200" dirty="0">
                <a:latin typeface="宋体" panose="02010600030101010101" pitchFamily="2" charset="-122"/>
                <a:ea typeface="宋体" panose="02010600030101010101" pitchFamily="2" charset="-122"/>
              </a:rPr>
              <a:t>循环指程序段在一定条件下重复执行。循环结构一般由三部分组成</a:t>
            </a:r>
            <a:r>
              <a:rPr lang="en-US" altLang="zh-CN" sz="2200" dirty="0">
                <a:latin typeface="宋体" panose="02010600030101010101" pitchFamily="2" charset="-122"/>
                <a:ea typeface="宋体" panose="02010600030101010101" pitchFamily="2" charset="-122"/>
              </a:rPr>
              <a:t>:</a:t>
            </a:r>
            <a:r>
              <a:rPr lang="zh-CN" altLang="zh-CN" sz="2200" dirty="0">
                <a:latin typeface="宋体" panose="02010600030101010101" pitchFamily="2" charset="-122"/>
                <a:ea typeface="宋体" panose="02010600030101010101" pitchFamily="2" charset="-122"/>
              </a:rPr>
              <a:t> </a:t>
            </a:r>
            <a:endParaRPr lang="en-US" altLang="zh-CN" sz="2200" dirty="0">
              <a:latin typeface="宋体" panose="02010600030101010101" pitchFamily="2" charset="-122"/>
              <a:ea typeface="宋体" panose="02010600030101010101" pitchFamily="2" charset="-122"/>
            </a:endParaRPr>
          </a:p>
          <a:p>
            <a:pPr algn="just"/>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1</a:t>
            </a:r>
            <a:r>
              <a:rPr lang="zh-CN" altLang="zh-CN" sz="2200" dirty="0">
                <a:latin typeface="宋体" panose="02010600030101010101" pitchFamily="2" charset="-122"/>
                <a:ea typeface="宋体" panose="02010600030101010101" pitchFamily="2" charset="-122"/>
              </a:rPr>
              <a:t>）设置循环初值。为程序操作、地址指针、循环计数、结束条件等设置初始值。</a:t>
            </a:r>
          </a:p>
          <a:p>
            <a:pPr algn="just"/>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2</a:t>
            </a:r>
            <a:r>
              <a:rPr lang="zh-CN" altLang="zh-CN" sz="2200" dirty="0">
                <a:latin typeface="宋体" panose="02010600030101010101" pitchFamily="2" charset="-122"/>
                <a:ea typeface="宋体" panose="02010600030101010101" pitchFamily="2" charset="-122"/>
              </a:rPr>
              <a:t>）循环主体。完成程序的基本操作，使用循环结构的目的就是为了重复执行这段程序。</a:t>
            </a:r>
          </a:p>
          <a:p>
            <a:pPr algn="just"/>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3</a:t>
            </a:r>
            <a:r>
              <a:rPr lang="zh-CN" altLang="zh-CN" sz="2200" dirty="0">
                <a:latin typeface="宋体" panose="02010600030101010101" pitchFamily="2" charset="-122"/>
                <a:ea typeface="宋体" panose="02010600030101010101" pitchFamily="2" charset="-122"/>
              </a:rPr>
              <a:t>）循环控制。循环控制包括修改循环计数值和检测循环结束条件等，保证循环条件满足时进入循环，循环条件不满足时退出循环，执行循环体外的后续语句。</a:t>
            </a:r>
          </a:p>
          <a:p>
            <a:pPr algn="just"/>
            <a:r>
              <a:rPr lang="zh-CN" altLang="zh-CN" sz="2200" dirty="0">
                <a:solidFill>
                  <a:srgbClr val="FF3300"/>
                </a:solidFill>
                <a:latin typeface="宋体" panose="02010600030101010101" pitchFamily="2" charset="-122"/>
                <a:ea typeface="宋体" panose="02010600030101010101" pitchFamily="2" charset="-122"/>
              </a:rPr>
              <a:t>【例</a:t>
            </a:r>
            <a:r>
              <a:rPr lang="en-US" altLang="zh-CN" sz="2200" dirty="0">
                <a:solidFill>
                  <a:srgbClr val="FF3300"/>
                </a:solidFill>
                <a:latin typeface="宋体" panose="02010600030101010101" pitchFamily="2" charset="-122"/>
                <a:ea typeface="宋体" panose="02010600030101010101" pitchFamily="2" charset="-122"/>
              </a:rPr>
              <a:t>4.7</a:t>
            </a:r>
            <a:r>
              <a:rPr lang="zh-CN" altLang="zh-CN" sz="2200" dirty="0">
                <a:solidFill>
                  <a:srgbClr val="FF3300"/>
                </a:solidFill>
                <a:latin typeface="宋体" panose="02010600030101010101" pitchFamily="2" charset="-122"/>
                <a:ea typeface="宋体" panose="02010600030101010101" pitchFamily="2" charset="-122"/>
              </a:rPr>
              <a:t>】</a:t>
            </a:r>
            <a:r>
              <a:rPr lang="zh-CN" altLang="zh-CN" sz="2200" dirty="0">
                <a:latin typeface="宋体" panose="02010600030101010101" pitchFamily="2" charset="-122"/>
                <a:ea typeface="宋体" panose="02010600030101010101" pitchFamily="2" charset="-122"/>
              </a:rPr>
              <a:t>编程实现在</a:t>
            </a:r>
            <a:r>
              <a:rPr lang="en-US" altLang="zh-CN" sz="2200" dirty="0">
                <a:latin typeface="宋体" panose="02010600030101010101" pitchFamily="2" charset="-122"/>
                <a:ea typeface="宋体" panose="02010600030101010101" pitchFamily="2" charset="-122"/>
              </a:rPr>
              <a:t>10</a:t>
            </a:r>
            <a:r>
              <a:rPr lang="zh-CN" altLang="zh-CN" sz="2200" dirty="0">
                <a:latin typeface="宋体" panose="02010600030101010101" pitchFamily="2" charset="-122"/>
                <a:ea typeface="宋体" panose="02010600030101010101" pitchFamily="2" charset="-122"/>
              </a:rPr>
              <a:t>个无符号字节整数的数组中找出最大数。</a:t>
            </a:r>
          </a:p>
          <a:p>
            <a:pPr algn="just"/>
            <a:r>
              <a:rPr lang="zh-CN" altLang="zh-CN" sz="2200" dirty="0">
                <a:latin typeface="宋体" panose="02010600030101010101" pitchFamily="2" charset="-122"/>
                <a:ea typeface="宋体" panose="02010600030101010101" pitchFamily="2" charset="-122"/>
              </a:rPr>
              <a:t>说明：首先建立一个数据指针指向数据区的首地址，将第一个数取到某个寄存器中（如</a:t>
            </a:r>
            <a:r>
              <a:rPr lang="en-US" altLang="zh-CN" sz="2200" dirty="0">
                <a:latin typeface="宋体" panose="02010600030101010101" pitchFamily="2" charset="-122"/>
                <a:ea typeface="宋体" panose="02010600030101010101" pitchFamily="2" charset="-122"/>
              </a:rPr>
              <a:t>AL</a:t>
            </a:r>
            <a:r>
              <a:rPr lang="zh-CN" altLang="zh-CN" sz="2200" dirty="0">
                <a:latin typeface="宋体" panose="02010600030101010101" pitchFamily="2" charset="-122"/>
                <a:ea typeface="宋体" panose="02010600030101010101" pitchFamily="2" charset="-122"/>
              </a:rPr>
              <a:t>）与下一个数相比较，若下一个数大，就将它存到</a:t>
            </a:r>
            <a:r>
              <a:rPr lang="en-US" altLang="zh-CN" sz="2200" dirty="0">
                <a:latin typeface="宋体" panose="02010600030101010101" pitchFamily="2" charset="-122"/>
                <a:ea typeface="宋体" panose="02010600030101010101" pitchFamily="2" charset="-122"/>
              </a:rPr>
              <a:t>AL</a:t>
            </a:r>
            <a:r>
              <a:rPr lang="zh-CN" altLang="zh-CN" sz="2200" dirty="0">
                <a:latin typeface="宋体" panose="02010600030101010101" pitchFamily="2" charset="-122"/>
                <a:ea typeface="宋体" panose="02010600030101010101" pitchFamily="2" charset="-122"/>
              </a:rPr>
              <a:t>中，替换原来的数；然后调整数据指针，将</a:t>
            </a:r>
            <a:r>
              <a:rPr lang="en-US" altLang="zh-CN" sz="2200" dirty="0">
                <a:latin typeface="宋体" panose="02010600030101010101" pitchFamily="2" charset="-122"/>
                <a:ea typeface="宋体" panose="02010600030101010101" pitchFamily="2" charset="-122"/>
              </a:rPr>
              <a:t>AL</a:t>
            </a:r>
            <a:r>
              <a:rPr lang="zh-CN" altLang="zh-CN" sz="2200" dirty="0">
                <a:latin typeface="宋体" panose="02010600030101010101" pitchFamily="2" charset="-122"/>
                <a:ea typeface="宋体" panose="02010600030101010101" pitchFamily="2" charset="-122"/>
              </a:rPr>
              <a:t>的数与此指针所指的数进行比较，再重复上述步骤，两两比较下去，直到比较完毕结果</a:t>
            </a:r>
            <a:r>
              <a:rPr lang="en-US" altLang="zh-CN" sz="2200" dirty="0">
                <a:latin typeface="宋体" panose="02010600030101010101" pitchFamily="2" charset="-122"/>
                <a:ea typeface="宋体" panose="02010600030101010101" pitchFamily="2" charset="-122"/>
              </a:rPr>
              <a:t>AL</a:t>
            </a:r>
            <a:r>
              <a:rPr lang="zh-CN" altLang="zh-CN" sz="2200" dirty="0">
                <a:latin typeface="宋体" panose="02010600030101010101" pitchFamily="2" charset="-122"/>
                <a:ea typeface="宋体" panose="02010600030101010101" pitchFamily="2" charset="-122"/>
              </a:rPr>
              <a:t>中留下最大数为止。</a:t>
            </a:r>
          </a:p>
        </p:txBody>
      </p:sp>
    </p:spTree>
  </p:cSld>
  <p:clrMapOvr>
    <a:masterClrMapping/>
  </p:clrMapOvr>
  <p:transition spd="med">
    <p:random/>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7041"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87042" name="TextBox 4"/>
          <p:cNvSpPr txBox="1"/>
          <p:nvPr/>
        </p:nvSpPr>
        <p:spPr>
          <a:xfrm>
            <a:off x="368300" y="776288"/>
            <a:ext cx="6196013" cy="5500687"/>
          </a:xfrm>
          <a:prstGeom prst="rect">
            <a:avLst/>
          </a:prstGeom>
          <a:noFill/>
          <a:ln w="9525">
            <a:noFill/>
          </a:ln>
        </p:spPr>
        <p:txBody>
          <a:bodyPr anchor="t" anchorCtr="0">
            <a:spAutoFit/>
          </a:bodyPr>
          <a:lstStyle/>
          <a:p>
            <a:r>
              <a:rPr lang="en-US" altLang="zh-CN" sz="1400" dirty="0">
                <a:latin typeface="宋体" panose="02010600030101010101" pitchFamily="2" charset="-122"/>
                <a:ea typeface="宋体" panose="02010600030101010101" pitchFamily="2" charset="-122"/>
              </a:rPr>
              <a:t>DATA   SEGMENT</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ARRAY  DB        25</a:t>
            </a:r>
            <a:r>
              <a:rPr lang="zh-CN" altLang="zh-CN" sz="1400" dirty="0">
                <a:latin typeface="宋体" panose="02010600030101010101" pitchFamily="2" charset="-122"/>
                <a:ea typeface="宋体" panose="02010600030101010101" pitchFamily="2" charset="-122"/>
              </a:rPr>
              <a:t>，</a:t>
            </a:r>
            <a:r>
              <a:rPr lang="en-US" altLang="zh-CN" sz="1400" dirty="0">
                <a:latin typeface="宋体" panose="02010600030101010101" pitchFamily="2" charset="-122"/>
                <a:ea typeface="宋体" panose="02010600030101010101" pitchFamily="2" charset="-122"/>
              </a:rPr>
              <a:t>56</a:t>
            </a:r>
            <a:r>
              <a:rPr lang="zh-CN" altLang="zh-CN" sz="1400" dirty="0">
                <a:latin typeface="宋体" panose="02010600030101010101" pitchFamily="2" charset="-122"/>
                <a:ea typeface="宋体" panose="02010600030101010101" pitchFamily="2" charset="-122"/>
              </a:rPr>
              <a:t>，</a:t>
            </a:r>
            <a:r>
              <a:rPr lang="en-US" altLang="zh-CN" sz="1400" dirty="0">
                <a:latin typeface="宋体" panose="02010600030101010101" pitchFamily="2" charset="-122"/>
                <a:ea typeface="宋体" panose="02010600030101010101" pitchFamily="2" charset="-122"/>
              </a:rPr>
              <a:t>78</a:t>
            </a:r>
            <a:r>
              <a:rPr lang="zh-CN" altLang="zh-CN" sz="1400" dirty="0">
                <a:latin typeface="宋体" panose="02010600030101010101" pitchFamily="2" charset="-122"/>
                <a:ea typeface="宋体" panose="02010600030101010101" pitchFamily="2" charset="-122"/>
              </a:rPr>
              <a:t>，</a:t>
            </a:r>
            <a:r>
              <a:rPr lang="en-US" altLang="zh-CN" sz="1400" dirty="0">
                <a:latin typeface="宋体" panose="02010600030101010101" pitchFamily="2" charset="-122"/>
                <a:ea typeface="宋体" panose="02010600030101010101" pitchFamily="2" charset="-122"/>
              </a:rPr>
              <a:t>8</a:t>
            </a:r>
            <a:r>
              <a:rPr lang="zh-CN" altLang="zh-CN" sz="1400" dirty="0">
                <a:latin typeface="宋体" panose="02010600030101010101" pitchFamily="2" charset="-122"/>
                <a:ea typeface="宋体" panose="02010600030101010101" pitchFamily="2" charset="-122"/>
              </a:rPr>
              <a:t>，</a:t>
            </a:r>
            <a:r>
              <a:rPr lang="en-US" altLang="zh-CN" sz="1400" dirty="0">
                <a:latin typeface="宋体" panose="02010600030101010101" pitchFamily="2" charset="-122"/>
                <a:ea typeface="宋体" panose="02010600030101010101" pitchFamily="2" charset="-122"/>
              </a:rPr>
              <a:t>76</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DB        90</a:t>
            </a:r>
            <a:r>
              <a:rPr lang="zh-CN" altLang="zh-CN" sz="1400" dirty="0">
                <a:latin typeface="宋体" panose="02010600030101010101" pitchFamily="2" charset="-122"/>
                <a:ea typeface="宋体" panose="02010600030101010101" pitchFamily="2" charset="-122"/>
              </a:rPr>
              <a:t>，</a:t>
            </a:r>
            <a:r>
              <a:rPr lang="en-US" altLang="zh-CN" sz="1400" dirty="0">
                <a:latin typeface="宋体" panose="02010600030101010101" pitchFamily="2" charset="-122"/>
                <a:ea typeface="宋体" panose="02010600030101010101" pitchFamily="2" charset="-122"/>
              </a:rPr>
              <a:t>96</a:t>
            </a:r>
            <a:r>
              <a:rPr lang="zh-CN" altLang="zh-CN" sz="1400" dirty="0">
                <a:latin typeface="宋体" panose="02010600030101010101" pitchFamily="2" charset="-122"/>
                <a:ea typeface="宋体" panose="02010600030101010101" pitchFamily="2" charset="-122"/>
              </a:rPr>
              <a:t>，</a:t>
            </a:r>
            <a:r>
              <a:rPr lang="en-US" altLang="zh-CN" sz="1400" dirty="0">
                <a:latin typeface="宋体" panose="02010600030101010101" pitchFamily="2" charset="-122"/>
                <a:ea typeface="宋体" panose="02010600030101010101" pitchFamily="2" charset="-122"/>
              </a:rPr>
              <a:t>33</a:t>
            </a:r>
            <a:r>
              <a:rPr lang="zh-CN" altLang="zh-CN" sz="1400" dirty="0">
                <a:latin typeface="宋体" panose="02010600030101010101" pitchFamily="2" charset="-122"/>
                <a:ea typeface="宋体" panose="02010600030101010101" pitchFamily="2" charset="-122"/>
              </a:rPr>
              <a:t>，</a:t>
            </a:r>
            <a:r>
              <a:rPr lang="en-US" altLang="zh-CN" sz="1400" dirty="0">
                <a:latin typeface="宋体" panose="02010600030101010101" pitchFamily="2" charset="-122"/>
                <a:ea typeface="宋体" panose="02010600030101010101" pitchFamily="2" charset="-122"/>
              </a:rPr>
              <a:t>21</a:t>
            </a:r>
            <a:r>
              <a:rPr lang="zh-CN" altLang="zh-CN" sz="1400" dirty="0">
                <a:latin typeface="宋体" panose="02010600030101010101" pitchFamily="2" charset="-122"/>
                <a:ea typeface="宋体" panose="02010600030101010101" pitchFamily="2" charset="-122"/>
              </a:rPr>
              <a:t>，</a:t>
            </a:r>
            <a:r>
              <a:rPr lang="en-US" altLang="zh-CN" sz="1400" dirty="0">
                <a:latin typeface="宋体" panose="02010600030101010101" pitchFamily="2" charset="-122"/>
                <a:ea typeface="宋体" panose="02010600030101010101" pitchFamily="2" charset="-122"/>
              </a:rPr>
              <a:t>06</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COUNT  DW        $ - ARRAY</a:t>
            </a:r>
            <a:endParaRPr lang="zh-CN" altLang="zh-CN" sz="1400" dirty="0">
              <a:latin typeface="宋体" panose="02010600030101010101" pitchFamily="2" charset="-122"/>
              <a:ea typeface="宋体" panose="02010600030101010101" pitchFamily="2" charset="-122"/>
            </a:endParaRPr>
          </a:p>
          <a:p>
            <a:r>
              <a:rPr lang="fr-FR" altLang="zh-CN" sz="1400" dirty="0">
                <a:latin typeface="宋体" panose="02010600030101010101" pitchFamily="2" charset="-122"/>
                <a:ea typeface="宋体" panose="02010600030101010101" pitchFamily="2" charset="-122"/>
              </a:rPr>
              <a:t>DATA   ENDS</a:t>
            </a:r>
            <a:endParaRPr lang="zh-CN" altLang="zh-CN" sz="1400" dirty="0">
              <a:latin typeface="宋体" panose="02010600030101010101" pitchFamily="2" charset="-122"/>
              <a:ea typeface="宋体" panose="02010600030101010101" pitchFamily="2" charset="-122"/>
            </a:endParaRPr>
          </a:p>
          <a:p>
            <a:r>
              <a:rPr lang="fr-FR" altLang="zh-CN" sz="1400" dirty="0">
                <a:latin typeface="宋体" panose="02010600030101010101" pitchFamily="2" charset="-122"/>
                <a:ea typeface="宋体" panose="02010600030101010101" pitchFamily="2" charset="-122"/>
              </a:rPr>
              <a:t>CODE  SEGMENT</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ASSUME    CS </a:t>
            </a:r>
            <a:r>
              <a:rPr lang="zh-CN" altLang="zh-CN" sz="1400" dirty="0">
                <a:latin typeface="宋体" panose="02010600030101010101" pitchFamily="2" charset="-122"/>
                <a:ea typeface="宋体" panose="02010600030101010101" pitchFamily="2" charset="-122"/>
              </a:rPr>
              <a:t>：</a:t>
            </a:r>
            <a:r>
              <a:rPr lang="en-US" altLang="zh-CN" sz="1400" dirty="0">
                <a:latin typeface="宋体" panose="02010600030101010101" pitchFamily="2" charset="-122"/>
                <a:ea typeface="宋体" panose="02010600030101010101" pitchFamily="2" charset="-122"/>
              </a:rPr>
              <a:t>CODE</a:t>
            </a:r>
            <a:r>
              <a:rPr lang="zh-CN" altLang="zh-CN" sz="1400" dirty="0">
                <a:latin typeface="宋体" panose="02010600030101010101" pitchFamily="2" charset="-122"/>
                <a:ea typeface="宋体" panose="02010600030101010101" pitchFamily="2" charset="-122"/>
              </a:rPr>
              <a:t>，</a:t>
            </a:r>
            <a:r>
              <a:rPr lang="en-US" altLang="zh-CN" sz="1400" dirty="0">
                <a:latin typeface="宋体" panose="02010600030101010101" pitchFamily="2" charset="-122"/>
                <a:ea typeface="宋体" panose="02010600030101010101" pitchFamily="2" charset="-122"/>
              </a:rPr>
              <a:t>DS</a:t>
            </a:r>
            <a:r>
              <a:rPr lang="zh-CN" altLang="zh-CN" sz="1400" dirty="0">
                <a:latin typeface="宋体" panose="02010600030101010101" pitchFamily="2" charset="-122"/>
                <a:ea typeface="宋体" panose="02010600030101010101" pitchFamily="2" charset="-122"/>
              </a:rPr>
              <a:t>：</a:t>
            </a:r>
            <a:r>
              <a:rPr lang="en-US" altLang="zh-CN" sz="1400" dirty="0">
                <a:latin typeface="宋体" panose="02010600030101010101" pitchFamily="2" charset="-122"/>
                <a:ea typeface="宋体" panose="02010600030101010101" pitchFamily="2" charset="-122"/>
              </a:rPr>
              <a:t>DATA     </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START</a:t>
            </a:r>
            <a:r>
              <a:rPr lang="zh-CN" altLang="zh-CN" sz="1400" dirty="0">
                <a:latin typeface="宋体" panose="02010600030101010101" pitchFamily="2" charset="-122"/>
                <a:ea typeface="宋体" panose="02010600030101010101" pitchFamily="2" charset="-122"/>
              </a:rPr>
              <a:t>： </a:t>
            </a:r>
            <a:r>
              <a:rPr lang="en-US" altLang="zh-CN" sz="1400" dirty="0">
                <a:latin typeface="宋体" panose="02010600030101010101" pitchFamily="2" charset="-122"/>
                <a:ea typeface="宋体" panose="02010600030101010101" pitchFamily="2" charset="-122"/>
              </a:rPr>
              <a:t>   MOV      AX</a:t>
            </a:r>
            <a:r>
              <a:rPr lang="zh-CN" altLang="zh-CN" sz="1400" dirty="0">
                <a:latin typeface="宋体" panose="02010600030101010101" pitchFamily="2" charset="-122"/>
                <a:ea typeface="宋体" panose="02010600030101010101" pitchFamily="2" charset="-122"/>
              </a:rPr>
              <a:t>，</a:t>
            </a:r>
            <a:r>
              <a:rPr lang="en-US" altLang="zh-CN" sz="1400" dirty="0">
                <a:latin typeface="宋体" panose="02010600030101010101" pitchFamily="2" charset="-122"/>
                <a:ea typeface="宋体" panose="02010600030101010101" pitchFamily="2" charset="-122"/>
              </a:rPr>
              <a:t> DATA</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MOV   	 DS</a:t>
            </a:r>
            <a:r>
              <a:rPr lang="zh-CN" altLang="zh-CN" sz="1400" dirty="0">
                <a:latin typeface="宋体" panose="02010600030101010101" pitchFamily="2" charset="-122"/>
                <a:ea typeface="宋体" panose="02010600030101010101" pitchFamily="2" charset="-122"/>
              </a:rPr>
              <a:t>， </a:t>
            </a:r>
            <a:r>
              <a:rPr lang="en-US" altLang="zh-CN" sz="1400" dirty="0">
                <a:latin typeface="宋体" panose="02010600030101010101" pitchFamily="2" charset="-122"/>
                <a:ea typeface="宋体" panose="02010600030101010101" pitchFamily="2" charset="-122"/>
              </a:rPr>
              <a:t>AX</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MOV  	 BX</a:t>
            </a:r>
            <a:r>
              <a:rPr lang="zh-CN" altLang="zh-CN" sz="1400" dirty="0">
                <a:latin typeface="宋体" panose="02010600030101010101" pitchFamily="2" charset="-122"/>
                <a:ea typeface="宋体" panose="02010600030101010101" pitchFamily="2" charset="-122"/>
              </a:rPr>
              <a:t>， </a:t>
            </a:r>
            <a:r>
              <a:rPr lang="en-US" altLang="zh-CN" sz="1400" dirty="0">
                <a:latin typeface="宋体" panose="02010600030101010101" pitchFamily="2" charset="-122"/>
                <a:ea typeface="宋体" panose="02010600030101010101" pitchFamily="2" charset="-122"/>
              </a:rPr>
              <a:t>OFFSET  ARRAY	 ;</a:t>
            </a:r>
            <a:r>
              <a:rPr lang="zh-CN" altLang="zh-CN" sz="1400" dirty="0">
                <a:latin typeface="宋体" panose="02010600030101010101" pitchFamily="2" charset="-122"/>
                <a:ea typeface="宋体" panose="02010600030101010101" pitchFamily="2" charset="-122"/>
              </a:rPr>
              <a:t>设置数据区指针首地址</a:t>
            </a:r>
          </a:p>
          <a:p>
            <a:r>
              <a:rPr lang="en-US" altLang="zh-CN" sz="1400" dirty="0">
                <a:latin typeface="宋体" panose="02010600030101010101" pitchFamily="2" charset="-122"/>
                <a:ea typeface="宋体" panose="02010600030101010101" pitchFamily="2" charset="-122"/>
              </a:rPr>
              <a:t>            MOV   	 CX</a:t>
            </a:r>
            <a:r>
              <a:rPr lang="zh-CN" altLang="zh-CN" sz="1400" dirty="0">
                <a:latin typeface="宋体" panose="02010600030101010101" pitchFamily="2" charset="-122"/>
                <a:ea typeface="宋体" panose="02010600030101010101" pitchFamily="2" charset="-122"/>
              </a:rPr>
              <a:t>， </a:t>
            </a:r>
            <a:r>
              <a:rPr lang="en-US" altLang="zh-CN" sz="1400" dirty="0">
                <a:latin typeface="宋体" panose="02010600030101010101" pitchFamily="2" charset="-122"/>
                <a:ea typeface="宋体" panose="02010600030101010101" pitchFamily="2" charset="-122"/>
              </a:rPr>
              <a:t>COUNT           ;</a:t>
            </a:r>
            <a:r>
              <a:rPr lang="zh-CN" altLang="zh-CN" sz="1400" dirty="0">
                <a:latin typeface="宋体" panose="02010600030101010101" pitchFamily="2" charset="-122"/>
                <a:ea typeface="宋体" panose="02010600030101010101" pitchFamily="2" charset="-122"/>
              </a:rPr>
              <a:t>设置计数器初值</a:t>
            </a:r>
          </a:p>
          <a:p>
            <a:r>
              <a:rPr lang="en-US" altLang="zh-CN" sz="1400" dirty="0">
                <a:latin typeface="宋体" panose="02010600030101010101" pitchFamily="2" charset="-122"/>
                <a:ea typeface="宋体" panose="02010600030101010101" pitchFamily="2" charset="-122"/>
              </a:rPr>
              <a:t>            DEC   	 CX                   ;</a:t>
            </a:r>
            <a:r>
              <a:rPr lang="zh-CN" altLang="zh-CN" sz="1400" dirty="0">
                <a:latin typeface="宋体" panose="02010600030101010101" pitchFamily="2" charset="-122"/>
                <a:ea typeface="宋体" panose="02010600030101010101" pitchFamily="2" charset="-122"/>
              </a:rPr>
              <a:t>设置比较次数</a:t>
            </a:r>
          </a:p>
          <a:p>
            <a:r>
              <a:rPr lang="en-US" altLang="zh-CN" sz="1400" dirty="0">
                <a:latin typeface="宋体" panose="02010600030101010101" pitchFamily="2" charset="-122"/>
                <a:ea typeface="宋体" panose="02010600030101010101" pitchFamily="2" charset="-122"/>
              </a:rPr>
              <a:t>            MOV   	 AL</a:t>
            </a:r>
            <a:r>
              <a:rPr lang="zh-CN" altLang="zh-CN" sz="1400" dirty="0">
                <a:latin typeface="宋体" panose="02010600030101010101" pitchFamily="2" charset="-122"/>
                <a:ea typeface="宋体" panose="02010600030101010101" pitchFamily="2" charset="-122"/>
              </a:rPr>
              <a:t>， </a:t>
            </a:r>
            <a:r>
              <a:rPr lang="en-US" altLang="zh-CN" sz="1400" dirty="0">
                <a:latin typeface="宋体" panose="02010600030101010101" pitchFamily="2" charset="-122"/>
                <a:ea typeface="宋体" panose="02010600030101010101" pitchFamily="2" charset="-122"/>
              </a:rPr>
              <a:t>[BX]            ;</a:t>
            </a:r>
            <a:r>
              <a:rPr lang="zh-CN" altLang="zh-CN" sz="1400" dirty="0">
                <a:latin typeface="宋体" panose="02010600030101010101" pitchFamily="2" charset="-122"/>
                <a:ea typeface="宋体" panose="02010600030101010101" pitchFamily="2" charset="-122"/>
              </a:rPr>
              <a:t>取数到</a:t>
            </a:r>
            <a:r>
              <a:rPr lang="en-US" altLang="zh-CN" sz="1400" dirty="0">
                <a:latin typeface="宋体" panose="02010600030101010101" pitchFamily="2" charset="-122"/>
                <a:ea typeface="宋体" panose="02010600030101010101" pitchFamily="2" charset="-122"/>
              </a:rPr>
              <a:t>AL</a:t>
            </a:r>
            <a:r>
              <a:rPr lang="zh-CN" altLang="zh-CN" sz="1400" dirty="0">
                <a:latin typeface="宋体" panose="02010600030101010101" pitchFamily="2" charset="-122"/>
                <a:ea typeface="宋体" panose="02010600030101010101" pitchFamily="2" charset="-122"/>
              </a:rPr>
              <a:t>中</a:t>
            </a:r>
          </a:p>
          <a:p>
            <a:r>
              <a:rPr lang="en-US" altLang="zh-CN" sz="1400" dirty="0">
                <a:latin typeface="宋体" panose="02010600030101010101" pitchFamily="2" charset="-122"/>
                <a:ea typeface="宋体" panose="02010600030101010101" pitchFamily="2" charset="-122"/>
              </a:rPr>
              <a:t>AGAIN</a:t>
            </a:r>
            <a:r>
              <a:rPr lang="zh-CN" altLang="zh-CN" sz="1400" dirty="0">
                <a:latin typeface="宋体" panose="02010600030101010101" pitchFamily="2" charset="-122"/>
                <a:ea typeface="宋体" panose="02010600030101010101" pitchFamily="2" charset="-122"/>
              </a:rPr>
              <a:t>： </a:t>
            </a:r>
            <a:r>
              <a:rPr lang="en-US" altLang="zh-CN" sz="1400" dirty="0">
                <a:latin typeface="宋体" panose="02010600030101010101" pitchFamily="2" charset="-122"/>
                <a:ea typeface="宋体" panose="02010600030101010101" pitchFamily="2" charset="-122"/>
              </a:rPr>
              <a:t>   INC   	 BX               	 ;</a:t>
            </a:r>
            <a:r>
              <a:rPr lang="zh-CN" altLang="zh-CN" sz="1400" dirty="0">
                <a:latin typeface="宋体" panose="02010600030101010101" pitchFamily="2" charset="-122"/>
                <a:ea typeface="宋体" panose="02010600030101010101" pitchFamily="2" charset="-122"/>
              </a:rPr>
              <a:t>指向数据区下一个数据</a:t>
            </a:r>
          </a:p>
          <a:p>
            <a:r>
              <a:rPr lang="en-US" altLang="zh-CN" sz="1400" dirty="0">
                <a:latin typeface="宋体" panose="02010600030101010101" pitchFamily="2" charset="-122"/>
                <a:ea typeface="宋体" panose="02010600030101010101" pitchFamily="2" charset="-122"/>
              </a:rPr>
              <a:t>            CMP   	 AL</a:t>
            </a:r>
            <a:r>
              <a:rPr lang="zh-CN" altLang="zh-CN" sz="1400" dirty="0">
                <a:latin typeface="宋体" panose="02010600030101010101" pitchFamily="2" charset="-122"/>
                <a:ea typeface="宋体" panose="02010600030101010101" pitchFamily="2" charset="-122"/>
              </a:rPr>
              <a:t>， </a:t>
            </a:r>
            <a:r>
              <a:rPr lang="en-US" altLang="zh-CN" sz="1400" dirty="0">
                <a:latin typeface="宋体" panose="02010600030101010101" pitchFamily="2" charset="-122"/>
                <a:ea typeface="宋体" panose="02010600030101010101" pitchFamily="2" charset="-122"/>
              </a:rPr>
              <a:t>[BX]            ;</a:t>
            </a:r>
            <a:r>
              <a:rPr lang="zh-CN" altLang="zh-CN" sz="1400" dirty="0">
                <a:latin typeface="宋体" panose="02010600030101010101" pitchFamily="2" charset="-122"/>
                <a:ea typeface="宋体" panose="02010600030101010101" pitchFamily="2" charset="-122"/>
              </a:rPr>
              <a:t>两数相比较</a:t>
            </a:r>
          </a:p>
          <a:p>
            <a:r>
              <a:rPr lang="en-US" altLang="zh-CN" sz="1400" dirty="0">
                <a:latin typeface="宋体" panose="02010600030101010101" pitchFamily="2" charset="-122"/>
                <a:ea typeface="宋体" panose="02010600030101010101" pitchFamily="2" charset="-122"/>
              </a:rPr>
              <a:t>            JNB   	 NEXT             	 ;AL</a:t>
            </a:r>
            <a:r>
              <a:rPr lang="zh-CN" altLang="zh-CN" sz="1400" dirty="0">
                <a:latin typeface="宋体" panose="02010600030101010101" pitchFamily="2" charset="-122"/>
                <a:ea typeface="宋体" panose="02010600030101010101" pitchFamily="2" charset="-122"/>
              </a:rPr>
              <a:t>≥</a:t>
            </a:r>
            <a:r>
              <a:rPr lang="en-US" altLang="zh-CN" sz="1400" dirty="0">
                <a:latin typeface="宋体" panose="02010600030101010101" pitchFamily="2" charset="-122"/>
                <a:ea typeface="宋体" panose="02010600030101010101" pitchFamily="2" charset="-122"/>
              </a:rPr>
              <a:t>[BX]</a:t>
            </a:r>
            <a:r>
              <a:rPr lang="zh-CN" altLang="zh-CN" sz="1400" dirty="0">
                <a:latin typeface="宋体" panose="02010600030101010101" pitchFamily="2" charset="-122"/>
                <a:ea typeface="宋体" panose="02010600030101010101" pitchFamily="2" charset="-122"/>
              </a:rPr>
              <a:t>，转</a:t>
            </a:r>
            <a:r>
              <a:rPr lang="en-US" altLang="zh-CN" sz="1400" dirty="0">
                <a:latin typeface="宋体" panose="02010600030101010101" pitchFamily="2" charset="-122"/>
                <a:ea typeface="宋体" panose="02010600030101010101" pitchFamily="2" charset="-122"/>
              </a:rPr>
              <a:t>NEXT</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MOV   	 AL</a:t>
            </a:r>
            <a:r>
              <a:rPr lang="zh-CN" altLang="zh-CN" sz="1400" dirty="0">
                <a:latin typeface="宋体" panose="02010600030101010101" pitchFamily="2" charset="-122"/>
                <a:ea typeface="宋体" panose="02010600030101010101" pitchFamily="2" charset="-122"/>
              </a:rPr>
              <a:t>， </a:t>
            </a:r>
            <a:r>
              <a:rPr lang="en-US" altLang="zh-CN" sz="1400" dirty="0">
                <a:latin typeface="宋体" panose="02010600030101010101" pitchFamily="2" charset="-122"/>
                <a:ea typeface="宋体" panose="02010600030101010101" pitchFamily="2" charset="-122"/>
              </a:rPr>
              <a:t>[BX]            ;</a:t>
            </a:r>
            <a:r>
              <a:rPr lang="zh-CN" altLang="zh-CN" sz="1400" dirty="0">
                <a:latin typeface="宋体" panose="02010600030101010101" pitchFamily="2" charset="-122"/>
                <a:ea typeface="宋体" panose="02010600030101010101" pitchFamily="2" charset="-122"/>
              </a:rPr>
              <a:t>否则，把较大数送入</a:t>
            </a:r>
            <a:r>
              <a:rPr lang="en-US" altLang="zh-CN" sz="1400" dirty="0">
                <a:latin typeface="宋体" panose="02010600030101010101" pitchFamily="2" charset="-122"/>
                <a:ea typeface="宋体" panose="02010600030101010101" pitchFamily="2" charset="-122"/>
              </a:rPr>
              <a:t>AL</a:t>
            </a:r>
            <a:r>
              <a:rPr lang="zh-CN" altLang="zh-CN" sz="1400" dirty="0">
                <a:latin typeface="宋体" panose="02010600030101010101" pitchFamily="2" charset="-122"/>
                <a:ea typeface="宋体" panose="02010600030101010101" pitchFamily="2" charset="-122"/>
              </a:rPr>
              <a:t>中</a:t>
            </a:r>
          </a:p>
          <a:p>
            <a:r>
              <a:rPr lang="en-US" altLang="zh-CN" sz="1400" dirty="0">
                <a:latin typeface="宋体" panose="02010600030101010101" pitchFamily="2" charset="-122"/>
                <a:ea typeface="宋体" panose="02010600030101010101" pitchFamily="2" charset="-122"/>
              </a:rPr>
              <a:t>NEXT</a:t>
            </a:r>
            <a:r>
              <a:rPr lang="zh-CN" altLang="zh-CN" sz="1400" dirty="0">
                <a:latin typeface="宋体" panose="02010600030101010101" pitchFamily="2" charset="-122"/>
                <a:ea typeface="宋体" panose="02010600030101010101" pitchFamily="2" charset="-122"/>
              </a:rPr>
              <a:t>：</a:t>
            </a:r>
            <a:r>
              <a:rPr lang="en-US" altLang="zh-CN" sz="1400" dirty="0">
                <a:latin typeface="宋体" panose="02010600030101010101" pitchFamily="2" charset="-122"/>
                <a:ea typeface="宋体" panose="02010600030101010101" pitchFamily="2" charset="-122"/>
              </a:rPr>
              <a:t>     DEC   	 CX                   ;</a:t>
            </a:r>
            <a:r>
              <a:rPr lang="zh-CN" altLang="zh-CN" sz="1400" dirty="0">
                <a:latin typeface="宋体" panose="02010600030101010101" pitchFamily="2" charset="-122"/>
                <a:ea typeface="宋体" panose="02010600030101010101" pitchFamily="2" charset="-122"/>
              </a:rPr>
              <a:t>全部数据比较完否</a:t>
            </a:r>
          </a:p>
          <a:p>
            <a:r>
              <a:rPr lang="en-US" altLang="zh-CN" sz="1400" dirty="0">
                <a:latin typeface="宋体" panose="02010600030101010101" pitchFamily="2" charset="-122"/>
                <a:ea typeface="宋体" panose="02010600030101010101" pitchFamily="2" charset="-122"/>
              </a:rPr>
              <a:t>            JNZ   	 AGAIN                ;</a:t>
            </a:r>
            <a:r>
              <a:rPr lang="zh-CN" altLang="zh-CN" sz="1400" dirty="0">
                <a:latin typeface="宋体" panose="02010600030101010101" pitchFamily="2" charset="-122"/>
                <a:ea typeface="宋体" panose="02010600030101010101" pitchFamily="2" charset="-122"/>
              </a:rPr>
              <a:t>否，转</a:t>
            </a:r>
            <a:r>
              <a:rPr lang="en-US" altLang="zh-CN" sz="1400" dirty="0">
                <a:latin typeface="宋体" panose="02010600030101010101" pitchFamily="2" charset="-122"/>
                <a:ea typeface="宋体" panose="02010600030101010101" pitchFamily="2" charset="-122"/>
              </a:rPr>
              <a:t>AGAIN</a:t>
            </a:r>
            <a:r>
              <a:rPr lang="zh-CN" altLang="zh-CN" sz="1400" dirty="0">
                <a:latin typeface="宋体" panose="02010600030101010101" pitchFamily="2" charset="-122"/>
                <a:ea typeface="宋体" panose="02010600030101010101" pitchFamily="2" charset="-122"/>
              </a:rPr>
              <a:t>处</a:t>
            </a:r>
          </a:p>
          <a:p>
            <a:r>
              <a:rPr lang="en-US" altLang="zh-CN" sz="1400" dirty="0">
                <a:latin typeface="宋体" panose="02010600030101010101" pitchFamily="2" charset="-122"/>
                <a:ea typeface="宋体" panose="02010600030101010101" pitchFamily="2" charset="-122"/>
              </a:rPr>
              <a:t>            MOV  	 AH</a:t>
            </a:r>
            <a:r>
              <a:rPr lang="zh-CN" altLang="zh-CN" sz="1400" dirty="0">
                <a:latin typeface="宋体" panose="02010600030101010101" pitchFamily="2" charset="-122"/>
                <a:ea typeface="宋体" panose="02010600030101010101" pitchFamily="2" charset="-122"/>
              </a:rPr>
              <a:t>，</a:t>
            </a:r>
            <a:r>
              <a:rPr lang="en-US" altLang="zh-CN" sz="1400" dirty="0">
                <a:latin typeface="宋体" panose="02010600030101010101" pitchFamily="2" charset="-122"/>
                <a:ea typeface="宋体" panose="02010600030101010101" pitchFamily="2" charset="-122"/>
              </a:rPr>
              <a:t> 4CH</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INT  	 21H     </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CODE       ENDS</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END   	 START</a:t>
            </a:r>
            <a:endParaRPr lang="zh-CN" altLang="zh-CN" sz="1400" dirty="0">
              <a:latin typeface="宋体" panose="02010600030101010101" pitchFamily="2" charset="-122"/>
              <a:ea typeface="宋体" panose="02010600030101010101" pitchFamily="2" charset="-122"/>
            </a:endParaRPr>
          </a:p>
        </p:txBody>
      </p:sp>
      <p:pic>
        <p:nvPicPr>
          <p:cNvPr id="87043" name="Picture 2" descr="4"/>
          <p:cNvPicPr>
            <a:picLocks noChangeAspect="1"/>
          </p:cNvPicPr>
          <p:nvPr/>
        </p:nvPicPr>
        <p:blipFill>
          <a:blip r:embed="rId3"/>
          <a:stretch>
            <a:fillRect/>
          </a:stretch>
        </p:blipFill>
        <p:spPr>
          <a:xfrm>
            <a:off x="6543675" y="455613"/>
            <a:ext cx="2209800" cy="6011862"/>
          </a:xfrm>
          <a:prstGeom prst="rect">
            <a:avLst/>
          </a:prstGeom>
          <a:noFill/>
          <a:ln w="9525">
            <a:noFill/>
          </a:ln>
        </p:spPr>
      </p:pic>
    </p:spTree>
  </p:cSld>
  <p:clrMapOvr>
    <a:masterClrMapping/>
  </p:clrMapOvr>
  <p:transition spd="med">
    <p:random/>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4.5.4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循环结构程序设计</a:t>
            </a:r>
          </a:p>
        </p:txBody>
      </p:sp>
      <p:sp>
        <p:nvSpPr>
          <p:cNvPr id="89090"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89091" name="TextBox 4"/>
          <p:cNvSpPr txBox="1"/>
          <p:nvPr/>
        </p:nvSpPr>
        <p:spPr>
          <a:xfrm>
            <a:off x="417513" y="1492250"/>
            <a:ext cx="8202612" cy="5108575"/>
          </a:xfrm>
          <a:prstGeom prst="rect">
            <a:avLst/>
          </a:prstGeom>
          <a:noFill/>
          <a:ln w="9525">
            <a:noFill/>
          </a:ln>
        </p:spPr>
        <p:txBody>
          <a:bodyPr anchor="t" anchorCtr="0">
            <a:spAutoFit/>
          </a:bodyPr>
          <a:lstStyle/>
          <a:p>
            <a:pPr algn="just"/>
            <a:r>
              <a:rPr lang="zh-CN" altLang="zh-CN" sz="2000" dirty="0">
                <a:solidFill>
                  <a:srgbClr val="FF3300"/>
                </a:solidFill>
                <a:latin typeface="宋体" panose="02010600030101010101" pitchFamily="2" charset="-122"/>
                <a:ea typeface="宋体" panose="02010600030101010101" pitchFamily="2" charset="-122"/>
              </a:rPr>
              <a:t>【例</a:t>
            </a:r>
            <a:r>
              <a:rPr lang="en-US" altLang="zh-CN" sz="2000" dirty="0">
                <a:solidFill>
                  <a:srgbClr val="FF3300"/>
                </a:solidFill>
                <a:latin typeface="宋体" panose="02010600030101010101" pitchFamily="2" charset="-122"/>
                <a:ea typeface="宋体" panose="02010600030101010101" pitchFamily="2" charset="-122"/>
              </a:rPr>
              <a:t>4.8</a:t>
            </a:r>
            <a:r>
              <a:rPr lang="zh-CN" altLang="zh-CN" sz="2000" dirty="0">
                <a:solidFill>
                  <a:srgbClr val="FF3300"/>
                </a:solidFill>
                <a:latin typeface="宋体" panose="02010600030101010101" pitchFamily="2" charset="-122"/>
                <a:ea typeface="宋体" panose="02010600030101010101" pitchFamily="2" charset="-122"/>
              </a:rPr>
              <a:t>】</a:t>
            </a:r>
            <a:r>
              <a:rPr lang="zh-CN" altLang="zh-CN" sz="2000" dirty="0">
                <a:latin typeface="宋体" panose="02010600030101010101" pitchFamily="2" charset="-122"/>
                <a:ea typeface="宋体" panose="02010600030101010101" pitchFamily="2" charset="-122"/>
              </a:rPr>
              <a:t>设在内存数据区</a:t>
            </a:r>
            <a:r>
              <a:rPr lang="en-US" altLang="zh-CN" sz="2000" dirty="0">
                <a:latin typeface="宋体" panose="02010600030101010101" pitchFamily="2" charset="-122"/>
                <a:ea typeface="宋体" panose="02010600030101010101" pitchFamily="2" charset="-122"/>
              </a:rPr>
              <a:t>TABLE</a:t>
            </a:r>
            <a:r>
              <a:rPr lang="zh-CN" altLang="zh-CN" sz="2000" dirty="0">
                <a:latin typeface="宋体" panose="02010600030101010101" pitchFamily="2" charset="-122"/>
                <a:ea typeface="宋体" panose="02010600030101010101" pitchFamily="2" charset="-122"/>
              </a:rPr>
              <a:t>地址开始存放一列表，表长在</a:t>
            </a:r>
            <a:r>
              <a:rPr lang="en-US" altLang="zh-CN" sz="2000" dirty="0">
                <a:latin typeface="宋体" panose="02010600030101010101" pitchFamily="2" charset="-122"/>
                <a:ea typeface="宋体" panose="02010600030101010101" pitchFamily="2" charset="-122"/>
              </a:rPr>
              <a:t>LEN</a:t>
            </a:r>
            <a:r>
              <a:rPr lang="zh-CN" altLang="zh-CN" sz="2000" dirty="0">
                <a:latin typeface="宋体" panose="02010600030101010101" pitchFamily="2" charset="-122"/>
                <a:ea typeface="宋体" panose="02010600030101010101" pitchFamily="2" charset="-122"/>
              </a:rPr>
              <a:t>单元，表中数据为有符号字节数据，用冒泡排序法编程将表中数据从小到大排序。</a:t>
            </a:r>
          </a:p>
          <a:p>
            <a:pPr algn="just"/>
            <a:r>
              <a:rPr lang="zh-CN" altLang="zh-CN" sz="2000" dirty="0">
                <a:latin typeface="宋体" panose="02010600030101010101" pitchFamily="2" charset="-122"/>
                <a:ea typeface="宋体" panose="02010600030101010101" pitchFamily="2" charset="-122"/>
              </a:rPr>
              <a:t>说明：排序的目的是为检索提供方便，一组数据按照由小到大的顺序排列称为升序，反之称为降序。排序的方法很多，如交换排序、选择排序、快速排序等。下面介绍交换排序中冒泡法排序的基本思想。</a:t>
            </a:r>
          </a:p>
          <a:p>
            <a:pPr algn="just"/>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）对</a:t>
            </a:r>
            <a:r>
              <a:rPr lang="en-US" altLang="zh-CN" sz="2000" i="1" dirty="0">
                <a:latin typeface="宋体" panose="02010600030101010101" pitchFamily="2" charset="-122"/>
                <a:ea typeface="宋体" panose="02010600030101010101" pitchFamily="2" charset="-122"/>
              </a:rPr>
              <a:t>N</a:t>
            </a:r>
            <a:r>
              <a:rPr lang="zh-CN" altLang="zh-CN" sz="2000" dirty="0">
                <a:latin typeface="宋体" panose="02010600030101010101" pitchFamily="2" charset="-122"/>
                <a:ea typeface="宋体" panose="02010600030101010101" pitchFamily="2" charset="-122"/>
              </a:rPr>
              <a:t>个数进行相邻两数比较，若两数为正序，保持原位序，若两数为逆序，交换位置，共进行</a:t>
            </a:r>
            <a:r>
              <a:rPr lang="en-US" altLang="zh-CN" sz="2000" i="1" dirty="0">
                <a:latin typeface="宋体" panose="02010600030101010101" pitchFamily="2" charset="-122"/>
                <a:ea typeface="宋体" panose="02010600030101010101" pitchFamily="2" charset="-122"/>
              </a:rPr>
              <a:t>N</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次，结果最小数（升序）冒到顶部或最大数沉到底部，成为有序序列。</a:t>
            </a:r>
          </a:p>
          <a:p>
            <a:pPr algn="just"/>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a:t>
            </a:r>
            <a:r>
              <a:rPr lang="zh-CN" altLang="zh-CN" sz="2000" dirty="0">
                <a:latin typeface="宋体" panose="02010600030101010101" pitchFamily="2" charset="-122"/>
                <a:ea typeface="宋体" panose="02010600030101010101" pitchFamily="2" charset="-122"/>
              </a:rPr>
              <a:t>）对剩余无序的</a:t>
            </a:r>
            <a:r>
              <a:rPr lang="en-US" altLang="zh-CN" sz="2000" i="1" dirty="0">
                <a:latin typeface="宋体" panose="02010600030101010101" pitchFamily="2" charset="-122"/>
                <a:ea typeface="宋体" panose="02010600030101010101" pitchFamily="2" charset="-122"/>
              </a:rPr>
              <a:t>N</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个数进行与第一步类似的第二轮两两比较，比较次数为</a:t>
            </a:r>
            <a:r>
              <a:rPr lang="en-US" altLang="zh-CN" sz="2000" i="1" dirty="0">
                <a:latin typeface="宋体" panose="02010600030101010101" pitchFamily="2" charset="-122"/>
                <a:ea typeface="宋体" panose="02010600030101010101" pitchFamily="2" charset="-122"/>
              </a:rPr>
              <a:t>N</a:t>
            </a:r>
            <a:r>
              <a:rPr lang="en-US" altLang="zh-CN" sz="2000" dirty="0">
                <a:latin typeface="宋体" panose="02010600030101010101" pitchFamily="2" charset="-122"/>
                <a:ea typeface="宋体" panose="02010600030101010101" pitchFamily="2" charset="-122"/>
              </a:rPr>
              <a:t>-2</a:t>
            </a:r>
            <a:r>
              <a:rPr lang="zh-CN" altLang="zh-CN" sz="2000" dirty="0">
                <a:latin typeface="宋体" panose="02010600030101010101" pitchFamily="2" charset="-122"/>
                <a:ea typeface="宋体" panose="02010600030101010101" pitchFamily="2" charset="-122"/>
              </a:rPr>
              <a:t>。</a:t>
            </a:r>
          </a:p>
          <a:p>
            <a:pPr algn="just"/>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3</a:t>
            </a:r>
            <a:r>
              <a:rPr lang="zh-CN" altLang="zh-CN" sz="2000" dirty="0">
                <a:latin typeface="宋体" panose="02010600030101010101" pitchFamily="2" charset="-122"/>
                <a:ea typeface="宋体" panose="02010600030101010101" pitchFamily="2" charset="-122"/>
              </a:rPr>
              <a:t>）每完成一轮，有序序列中数的个数增</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，无序序列中数的个数减</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，共做</a:t>
            </a:r>
            <a:r>
              <a:rPr lang="en-US" altLang="zh-CN" sz="2000" i="1" dirty="0">
                <a:latin typeface="宋体" panose="02010600030101010101" pitchFamily="2" charset="-122"/>
                <a:ea typeface="宋体" panose="02010600030101010101" pitchFamily="2" charset="-122"/>
              </a:rPr>
              <a:t>N</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轮，所有数均归为有序序列中，排序结束。</a:t>
            </a:r>
          </a:p>
          <a:p>
            <a:pPr algn="just"/>
            <a:r>
              <a:rPr lang="zh-CN" altLang="zh-CN" sz="2000" dirty="0">
                <a:latin typeface="宋体" panose="02010600030101010101" pitchFamily="2" charset="-122"/>
                <a:ea typeface="宋体" panose="02010600030101010101" pitchFamily="2" charset="-122"/>
              </a:rPr>
              <a:t>源程序中引入的交换标志</a:t>
            </a:r>
            <a:r>
              <a:rPr lang="en-US" altLang="zh-CN" sz="2000" dirty="0">
                <a:latin typeface="宋体" panose="02010600030101010101" pitchFamily="2" charset="-122"/>
                <a:ea typeface="宋体" panose="02010600030101010101" pitchFamily="2" charset="-122"/>
              </a:rPr>
              <a:t>DX</a:t>
            </a:r>
            <a:r>
              <a:rPr lang="zh-CN" altLang="zh-CN" sz="2000" dirty="0">
                <a:latin typeface="宋体" panose="02010600030101010101" pitchFamily="2" charset="-122"/>
                <a:ea typeface="宋体" panose="02010600030101010101" pitchFamily="2" charset="-122"/>
              </a:rPr>
              <a:t>，其初值为</a:t>
            </a:r>
            <a:r>
              <a:rPr lang="en-US" altLang="zh-CN" sz="2000" dirty="0">
                <a:latin typeface="宋体" panose="02010600030101010101" pitchFamily="2" charset="-122"/>
                <a:ea typeface="宋体" panose="02010600030101010101" pitchFamily="2" charset="-122"/>
              </a:rPr>
              <a:t>0</a:t>
            </a:r>
            <a:r>
              <a:rPr lang="zh-CN" altLang="zh-CN" sz="2000" dirty="0">
                <a:latin typeface="宋体" panose="02010600030101010101" pitchFamily="2" charset="-122"/>
                <a:ea typeface="宋体" panose="02010600030101010101" pitchFamily="2" charset="-122"/>
              </a:rPr>
              <a:t>，在每一轮比较过程中只要发生过数据交换则</a:t>
            </a:r>
            <a:r>
              <a:rPr lang="en-US" altLang="zh-CN" sz="2000" dirty="0">
                <a:latin typeface="宋体" panose="02010600030101010101" pitchFamily="2" charset="-122"/>
                <a:ea typeface="宋体" panose="02010600030101010101" pitchFamily="2" charset="-122"/>
              </a:rPr>
              <a:t>DX</a:t>
            </a:r>
            <a:r>
              <a:rPr lang="zh-CN" altLang="zh-CN" sz="2000" dirty="0">
                <a:latin typeface="宋体" panose="02010600030101010101" pitchFamily="2" charset="-122"/>
                <a:ea typeface="宋体" panose="02010600030101010101" pitchFamily="2" charset="-122"/>
              </a:rPr>
              <a:t>置为</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。每一轮比较后检查该交换标志，若</a:t>
            </a:r>
            <a:r>
              <a:rPr lang="en-US" altLang="zh-CN" sz="2000" dirty="0">
                <a:latin typeface="宋体" panose="02010600030101010101" pitchFamily="2" charset="-122"/>
                <a:ea typeface="宋体" panose="02010600030101010101" pitchFamily="2" charset="-122"/>
              </a:rPr>
              <a:t>DX</a:t>
            </a:r>
            <a:r>
              <a:rPr lang="zh-CN" altLang="zh-CN" sz="2000" dirty="0">
                <a:latin typeface="宋体" panose="02010600030101010101" pitchFamily="2" charset="-122"/>
                <a:ea typeface="宋体" panose="02010600030101010101" pitchFamily="2" charset="-122"/>
              </a:rPr>
              <a:t>等于初值，说明未发生过交换，即有序表已形成，无须继续循环，排序结束，否则，还要进一步排序比较。程序流程图如图</a:t>
            </a:r>
            <a:r>
              <a:rPr lang="en-US" altLang="zh-CN" sz="2000" dirty="0">
                <a:latin typeface="宋体" panose="02010600030101010101" pitchFamily="2" charset="-122"/>
                <a:ea typeface="宋体" panose="02010600030101010101" pitchFamily="2" charset="-122"/>
              </a:rPr>
              <a:t>4-5</a:t>
            </a:r>
            <a:r>
              <a:rPr lang="zh-CN" altLang="zh-CN" sz="2000" dirty="0">
                <a:latin typeface="宋体" panose="02010600030101010101" pitchFamily="2" charset="-122"/>
                <a:ea typeface="宋体" panose="02010600030101010101" pitchFamily="2" charset="-122"/>
              </a:rPr>
              <a:t>所示。</a:t>
            </a:r>
          </a:p>
        </p:txBody>
      </p:sp>
    </p:spTree>
  </p:cSld>
  <p:clrMapOvr>
    <a:masterClrMapping/>
  </p:clrMapOvr>
  <p:transition spd="med">
    <p:random/>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137"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91138" name="TextBox 4"/>
          <p:cNvSpPr txBox="1"/>
          <p:nvPr/>
        </p:nvSpPr>
        <p:spPr>
          <a:xfrm>
            <a:off x="171450" y="500063"/>
            <a:ext cx="5343525" cy="5876925"/>
          </a:xfrm>
          <a:prstGeom prst="rect">
            <a:avLst/>
          </a:prstGeom>
          <a:noFill/>
          <a:ln w="9525">
            <a:noFill/>
          </a:ln>
        </p:spPr>
        <p:txBody>
          <a:bodyPr anchor="t" anchorCtr="0">
            <a:spAutoFit/>
          </a:bodyPr>
          <a:lstStyle/>
          <a:p>
            <a:r>
              <a:rPr lang="en-US" altLang="zh-CN" sz="1200" dirty="0">
                <a:latin typeface="宋体" panose="02010600030101010101" pitchFamily="2" charset="-122"/>
                <a:ea typeface="宋体" panose="02010600030101010101" pitchFamily="2" charset="-122"/>
              </a:rPr>
              <a:t>DSEG  SEGMENT</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ARRAY    DB    23, 54, 62, -12, 83, -53, 0, 36</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LEN      EQU   $- ARRAY</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DSEG  ENDS</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CSEG  SEGMENT</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ASSUME  CS: CSEG,  DS:DSEG</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START:  MOV  AX,  DSEG</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MOV  DS,  AX</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MOV  BX,  LEN-1         	;</a:t>
            </a:r>
            <a:r>
              <a:rPr lang="zh-CN" altLang="zh-CN" sz="1200" dirty="0">
                <a:latin typeface="宋体" panose="02010600030101010101" pitchFamily="2" charset="-122"/>
                <a:ea typeface="宋体" panose="02010600030101010101" pitchFamily="2" charset="-122"/>
              </a:rPr>
              <a:t>比较轮数送入</a:t>
            </a:r>
            <a:r>
              <a:rPr lang="en-US" altLang="zh-CN" sz="1200" dirty="0">
                <a:latin typeface="宋体" panose="02010600030101010101" pitchFamily="2" charset="-122"/>
                <a:ea typeface="宋体" panose="02010600030101010101" pitchFamily="2" charset="-122"/>
              </a:rPr>
              <a:t>BX</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LP:     MOV  SI,  LEN-1           	;</a:t>
            </a:r>
            <a:r>
              <a:rPr lang="zh-CN" altLang="zh-CN" sz="1200" dirty="0">
                <a:latin typeface="宋体" panose="02010600030101010101" pitchFamily="2" charset="-122"/>
                <a:ea typeface="宋体" panose="02010600030101010101" pitchFamily="2" charset="-122"/>
              </a:rPr>
              <a:t>比较起始位置送入</a:t>
            </a:r>
            <a:r>
              <a:rPr lang="en-US" altLang="zh-CN" sz="1200" dirty="0">
                <a:latin typeface="宋体" panose="02010600030101010101" pitchFamily="2" charset="-122"/>
                <a:ea typeface="宋体" panose="02010600030101010101" pitchFamily="2" charset="-122"/>
              </a:rPr>
              <a:t>SI</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MOV  CX,  BX             	;</a:t>
            </a:r>
            <a:r>
              <a:rPr lang="zh-CN" altLang="zh-CN" sz="1200" dirty="0">
                <a:latin typeface="宋体" panose="02010600030101010101" pitchFamily="2" charset="-122"/>
                <a:ea typeface="宋体" panose="02010600030101010101" pitchFamily="2" charset="-122"/>
              </a:rPr>
              <a:t>比较次数计数送入</a:t>
            </a:r>
            <a:r>
              <a:rPr lang="en-US" altLang="zh-CN" sz="1200" dirty="0">
                <a:latin typeface="宋体" panose="02010600030101010101" pitchFamily="2" charset="-122"/>
                <a:ea typeface="宋体" panose="02010600030101010101" pitchFamily="2" charset="-122"/>
              </a:rPr>
              <a:t>CX</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MOV  DX,  0             	;</a:t>
            </a:r>
            <a:r>
              <a:rPr lang="zh-CN" altLang="zh-CN" sz="1200" dirty="0">
                <a:latin typeface="宋体" panose="02010600030101010101" pitchFamily="2" charset="-122"/>
                <a:ea typeface="宋体" panose="02010600030101010101" pitchFamily="2" charset="-122"/>
              </a:rPr>
              <a:t>交换标志清零</a:t>
            </a:r>
          </a:p>
          <a:p>
            <a:r>
              <a:rPr lang="it-IT" altLang="zh-CN" sz="1200" dirty="0">
                <a:latin typeface="宋体" panose="02010600030101010101" pitchFamily="2" charset="-122"/>
                <a:ea typeface="宋体" panose="02010600030101010101" pitchFamily="2" charset="-122"/>
              </a:rPr>
              <a:t> LP1:    MOV  AL,  ARRAY [SI]      	</a:t>
            </a:r>
            <a:r>
              <a:rPr lang="en-US" altLang="zh-CN" sz="1200" dirty="0">
                <a:latin typeface="宋体" panose="02010600030101010101" pitchFamily="2" charset="-122"/>
                <a:ea typeface="宋体" panose="02010600030101010101" pitchFamily="2" charset="-122"/>
              </a:rPr>
              <a:t>;</a:t>
            </a:r>
            <a:r>
              <a:rPr lang="zh-CN" altLang="zh-CN" sz="1200" dirty="0">
                <a:latin typeface="宋体" panose="02010600030101010101" pitchFamily="2" charset="-122"/>
                <a:ea typeface="宋体" panose="02010600030101010101" pitchFamily="2" charset="-122"/>
              </a:rPr>
              <a:t>相邻两数比较</a:t>
            </a:r>
          </a:p>
          <a:p>
            <a:r>
              <a:rPr lang="it-IT" altLang="zh-CN" sz="1200" dirty="0">
                <a:latin typeface="宋体" panose="02010600030101010101" pitchFamily="2" charset="-122"/>
                <a:ea typeface="宋体" panose="02010600030101010101" pitchFamily="2" charset="-122"/>
              </a:rPr>
              <a:t>         CMP  AL,  ARRAY [SI-1]</a:t>
            </a:r>
            <a:endParaRPr lang="zh-CN" altLang="zh-CN" sz="1200" dirty="0">
              <a:latin typeface="宋体" panose="02010600030101010101" pitchFamily="2" charset="-122"/>
              <a:ea typeface="宋体" panose="02010600030101010101" pitchFamily="2" charset="-122"/>
            </a:endParaRPr>
          </a:p>
          <a:p>
            <a:r>
              <a:rPr lang="it-IT" altLang="zh-CN" sz="1200" dirty="0">
                <a:latin typeface="宋体" panose="02010600030101010101" pitchFamily="2" charset="-122"/>
                <a:ea typeface="宋体" panose="02010600030101010101" pitchFamily="2" charset="-122"/>
              </a:rPr>
              <a:t>        JGE   NEXT                	</a:t>
            </a:r>
            <a:r>
              <a:rPr lang="en-US" altLang="zh-CN" sz="1200" dirty="0">
                <a:latin typeface="宋体" panose="02010600030101010101" pitchFamily="2" charset="-122"/>
                <a:ea typeface="宋体" panose="02010600030101010101" pitchFamily="2" charset="-122"/>
              </a:rPr>
              <a:t>;</a:t>
            </a:r>
            <a:r>
              <a:rPr lang="zh-CN" altLang="zh-CN" sz="1200" dirty="0">
                <a:latin typeface="宋体" panose="02010600030101010101" pitchFamily="2" charset="-122"/>
                <a:ea typeface="宋体" panose="02010600030101010101" pitchFamily="2" charset="-122"/>
              </a:rPr>
              <a:t>大于等于时跳转</a:t>
            </a:r>
          </a:p>
          <a:p>
            <a:r>
              <a:rPr lang="it-IT" altLang="zh-CN" sz="1200" dirty="0">
                <a:latin typeface="宋体" panose="02010600030101010101" pitchFamily="2" charset="-122"/>
                <a:ea typeface="宋体" panose="02010600030101010101" pitchFamily="2" charset="-122"/>
              </a:rPr>
              <a:t>         MOV  AH,  ARRAY [SI-1]    	</a:t>
            </a:r>
            <a:r>
              <a:rPr lang="en-US" altLang="zh-CN" sz="1200" dirty="0">
                <a:latin typeface="宋体" panose="02010600030101010101" pitchFamily="2" charset="-122"/>
                <a:ea typeface="宋体" panose="02010600030101010101" pitchFamily="2" charset="-122"/>
              </a:rPr>
              <a:t>;</a:t>
            </a:r>
            <a:r>
              <a:rPr lang="zh-CN" altLang="zh-CN" sz="1200" dirty="0">
                <a:latin typeface="宋体" panose="02010600030101010101" pitchFamily="2" charset="-122"/>
                <a:ea typeface="宋体" panose="02010600030101010101" pitchFamily="2" charset="-122"/>
              </a:rPr>
              <a:t>否则，相邻两数交换</a:t>
            </a:r>
          </a:p>
          <a:p>
            <a:r>
              <a:rPr lang="it-IT" altLang="zh-CN" sz="1200" dirty="0">
                <a:latin typeface="宋体" panose="02010600030101010101" pitchFamily="2" charset="-122"/>
                <a:ea typeface="宋体" panose="02010600030101010101" pitchFamily="2" charset="-122"/>
              </a:rPr>
              <a:t>         MOV  ARRAY [SI-1],  AL</a:t>
            </a:r>
            <a:endParaRPr lang="zh-CN" altLang="zh-CN" sz="1200" dirty="0">
              <a:latin typeface="宋体" panose="02010600030101010101" pitchFamily="2" charset="-122"/>
              <a:ea typeface="宋体" panose="02010600030101010101" pitchFamily="2" charset="-122"/>
            </a:endParaRPr>
          </a:p>
          <a:p>
            <a:r>
              <a:rPr lang="it-IT" altLang="zh-CN" sz="1200" dirty="0">
                <a:latin typeface="宋体" panose="02010600030101010101" pitchFamily="2" charset="-122"/>
                <a:ea typeface="宋体" panose="02010600030101010101" pitchFamily="2" charset="-122"/>
              </a:rPr>
              <a:t>         MOV  ARRAY [SI],  AH</a:t>
            </a:r>
            <a:endParaRPr lang="zh-CN" altLang="zh-CN" sz="1200" dirty="0">
              <a:latin typeface="宋体" panose="02010600030101010101" pitchFamily="2" charset="-122"/>
              <a:ea typeface="宋体" panose="02010600030101010101" pitchFamily="2" charset="-122"/>
            </a:endParaRPr>
          </a:p>
          <a:p>
            <a:r>
              <a:rPr lang="it-IT" altLang="zh-CN" sz="1200" dirty="0">
                <a:latin typeface="宋体" panose="02010600030101010101" pitchFamily="2" charset="-122"/>
                <a:ea typeface="宋体" panose="02010600030101010101" pitchFamily="2" charset="-122"/>
              </a:rPr>
              <a:t>         MOV  DX,  1               	</a:t>
            </a:r>
            <a:r>
              <a:rPr lang="en-US" altLang="zh-CN" sz="1200" dirty="0">
                <a:latin typeface="宋体" panose="02010600030101010101" pitchFamily="2" charset="-122"/>
                <a:ea typeface="宋体" panose="02010600030101010101" pitchFamily="2" charset="-122"/>
              </a:rPr>
              <a:t>;</a:t>
            </a:r>
            <a:r>
              <a:rPr lang="zh-CN" altLang="zh-CN" sz="1200" dirty="0">
                <a:latin typeface="宋体" panose="02010600030101010101" pitchFamily="2" charset="-122"/>
                <a:ea typeface="宋体" panose="02010600030101010101" pitchFamily="2" charset="-122"/>
              </a:rPr>
              <a:t>交换标志置</a:t>
            </a:r>
            <a:r>
              <a:rPr lang="it-IT" altLang="zh-CN" sz="1200" dirty="0">
                <a:latin typeface="宋体" panose="02010600030101010101" pitchFamily="2" charset="-122"/>
                <a:ea typeface="宋体" panose="02010600030101010101" pitchFamily="2" charset="-122"/>
              </a:rPr>
              <a:t>1</a:t>
            </a:r>
            <a:endParaRPr lang="zh-CN" altLang="zh-CN" sz="1200" dirty="0">
              <a:latin typeface="宋体" panose="02010600030101010101" pitchFamily="2" charset="-122"/>
              <a:ea typeface="宋体" panose="02010600030101010101" pitchFamily="2" charset="-122"/>
            </a:endParaRPr>
          </a:p>
          <a:p>
            <a:r>
              <a:rPr lang="it-IT" altLang="zh-CN" sz="1200" dirty="0">
                <a:latin typeface="宋体" panose="02010600030101010101" pitchFamily="2" charset="-122"/>
                <a:ea typeface="宋体" panose="02010600030101010101" pitchFamily="2" charset="-122"/>
              </a:rPr>
              <a:t> NEXT:   DEC  SI                    ;</a:t>
            </a:r>
            <a:r>
              <a:rPr lang="zh-CN" altLang="zh-CN" sz="1200" dirty="0">
                <a:latin typeface="宋体" panose="02010600030101010101" pitchFamily="2" charset="-122"/>
                <a:ea typeface="宋体" panose="02010600030101010101" pitchFamily="2" charset="-122"/>
              </a:rPr>
              <a:t>修改地址，指向数组中低地址元素</a:t>
            </a:r>
          </a:p>
          <a:p>
            <a:r>
              <a:rPr lang="it-IT" altLang="zh-CN" sz="1200" dirty="0">
                <a:latin typeface="宋体" panose="02010600030101010101" pitchFamily="2" charset="-122"/>
                <a:ea typeface="宋体" panose="02010600030101010101" pitchFamily="2" charset="-122"/>
              </a:rPr>
              <a:t>         LOOP  LP1                  ;</a:t>
            </a:r>
            <a:r>
              <a:rPr lang="zh-CN" altLang="zh-CN" sz="1200" dirty="0">
                <a:latin typeface="宋体" panose="02010600030101010101" pitchFamily="2" charset="-122"/>
                <a:ea typeface="宋体" panose="02010600030101010101" pitchFamily="2" charset="-122"/>
              </a:rPr>
              <a:t>判断内循环是否结束</a:t>
            </a:r>
          </a:p>
          <a:p>
            <a:r>
              <a:rPr lang="it-IT" altLang="zh-CN" sz="1200" dirty="0">
                <a:latin typeface="宋体" panose="02010600030101010101" pitchFamily="2" charset="-122"/>
                <a:ea typeface="宋体" panose="02010600030101010101" pitchFamily="2" charset="-122"/>
              </a:rPr>
              <a:t>         CMP  DX,  0                ;</a:t>
            </a:r>
            <a:r>
              <a:rPr lang="zh-CN" altLang="zh-CN" sz="1200" dirty="0">
                <a:latin typeface="宋体" panose="02010600030101010101" pitchFamily="2" charset="-122"/>
                <a:ea typeface="宋体" panose="02010600030101010101" pitchFamily="2" charset="-122"/>
              </a:rPr>
              <a:t>需要下一轮吗</a:t>
            </a:r>
          </a:p>
          <a:p>
            <a:r>
              <a:rPr lang="it-IT" altLang="zh-CN" sz="1200" dirty="0">
                <a:latin typeface="宋体" panose="02010600030101010101" pitchFamily="2" charset="-122"/>
                <a:ea typeface="宋体" panose="02010600030101010101" pitchFamily="2" charset="-122"/>
              </a:rPr>
              <a:t>         </a:t>
            </a:r>
            <a:r>
              <a:rPr lang="en-US" altLang="zh-CN" sz="1200" dirty="0">
                <a:latin typeface="宋体" panose="02010600030101010101" pitchFamily="2" charset="-122"/>
                <a:ea typeface="宋体" panose="02010600030101010101" pitchFamily="2" charset="-122"/>
              </a:rPr>
              <a:t>JZ   OVER                  ;</a:t>
            </a:r>
            <a:r>
              <a:rPr lang="zh-CN" altLang="zh-CN" sz="1200" dirty="0">
                <a:latin typeface="宋体" panose="02010600030101010101" pitchFamily="2" charset="-122"/>
                <a:ea typeface="宋体" panose="02010600030101010101" pitchFamily="2" charset="-122"/>
              </a:rPr>
              <a:t>数组已排序好，转到程序结束处</a:t>
            </a:r>
          </a:p>
          <a:p>
            <a:r>
              <a:rPr lang="en-US" altLang="zh-CN" sz="1200" dirty="0">
                <a:latin typeface="宋体" panose="02010600030101010101" pitchFamily="2" charset="-122"/>
                <a:ea typeface="宋体" panose="02010600030101010101" pitchFamily="2" charset="-122"/>
              </a:rPr>
              <a:t>         DEC  BX                    ;</a:t>
            </a:r>
            <a:r>
              <a:rPr lang="zh-CN" altLang="zh-CN" sz="1200" dirty="0">
                <a:latin typeface="宋体" panose="02010600030101010101" pitchFamily="2" charset="-122"/>
                <a:ea typeface="宋体" panose="02010600030101010101" pitchFamily="2" charset="-122"/>
              </a:rPr>
              <a:t>外循环所有轮是否结束</a:t>
            </a:r>
          </a:p>
          <a:p>
            <a:r>
              <a:rPr lang="en-US" altLang="zh-CN" sz="1200" dirty="0">
                <a:latin typeface="宋体" panose="02010600030101010101" pitchFamily="2" charset="-122"/>
                <a:ea typeface="宋体" panose="02010600030101010101" pitchFamily="2" charset="-122"/>
              </a:rPr>
              <a:t>         JNZ  LP                    ;</a:t>
            </a:r>
            <a:r>
              <a:rPr lang="zh-CN" altLang="zh-CN" sz="1200" dirty="0">
                <a:latin typeface="宋体" panose="02010600030101010101" pitchFamily="2" charset="-122"/>
                <a:ea typeface="宋体" panose="02010600030101010101" pitchFamily="2" charset="-122"/>
              </a:rPr>
              <a:t>未完继续</a:t>
            </a:r>
          </a:p>
          <a:p>
            <a:r>
              <a:rPr lang="en-US" altLang="zh-CN" sz="1200" dirty="0">
                <a:latin typeface="宋体" panose="02010600030101010101" pitchFamily="2" charset="-122"/>
                <a:ea typeface="宋体" panose="02010600030101010101" pitchFamily="2" charset="-122"/>
              </a:rPr>
              <a:t> OVER:   MOV  AH,  4CH               </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INT  21H                   ;</a:t>
            </a:r>
            <a:r>
              <a:rPr lang="zh-CN" altLang="zh-CN" sz="1200" dirty="0">
                <a:latin typeface="宋体" panose="02010600030101010101" pitchFamily="2" charset="-122"/>
                <a:ea typeface="宋体" panose="02010600030101010101" pitchFamily="2" charset="-122"/>
              </a:rPr>
              <a:t>返回</a:t>
            </a:r>
            <a:r>
              <a:rPr lang="en-US" altLang="zh-CN" sz="1200" dirty="0">
                <a:latin typeface="宋体" panose="02010600030101010101" pitchFamily="2" charset="-122"/>
                <a:ea typeface="宋体" panose="02010600030101010101" pitchFamily="2" charset="-122"/>
              </a:rPr>
              <a:t>DOS</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CSEG   ENDS</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END  START</a:t>
            </a:r>
            <a:endParaRPr lang="zh-CN" altLang="zh-CN" sz="1200" dirty="0">
              <a:latin typeface="宋体" panose="02010600030101010101" pitchFamily="2" charset="-122"/>
              <a:ea typeface="宋体" panose="02010600030101010101" pitchFamily="2" charset="-122"/>
            </a:endParaRPr>
          </a:p>
        </p:txBody>
      </p:sp>
      <p:pic>
        <p:nvPicPr>
          <p:cNvPr id="91139" name="Picture 2" descr="4"/>
          <p:cNvPicPr>
            <a:picLocks noChangeAspect="1"/>
          </p:cNvPicPr>
          <p:nvPr/>
        </p:nvPicPr>
        <p:blipFill>
          <a:blip r:embed="rId3"/>
          <a:stretch>
            <a:fillRect/>
          </a:stretch>
        </p:blipFill>
        <p:spPr>
          <a:xfrm>
            <a:off x="5416550" y="1216025"/>
            <a:ext cx="3711575" cy="5078413"/>
          </a:xfrm>
          <a:prstGeom prst="rect">
            <a:avLst/>
          </a:prstGeom>
          <a:noFill/>
          <a:ln w="9525">
            <a:noFill/>
          </a:ln>
        </p:spPr>
      </p:pic>
    </p:spTree>
  </p:cSld>
  <p:clrMapOvr>
    <a:masterClrMapping/>
  </p:clrMapOvr>
  <p:transition spd="med">
    <p:random/>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4.5.5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子程序设计</a:t>
            </a:r>
          </a:p>
        </p:txBody>
      </p:sp>
      <p:sp>
        <p:nvSpPr>
          <p:cNvPr id="9318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93187" name="TextBox 4"/>
          <p:cNvSpPr txBox="1"/>
          <p:nvPr/>
        </p:nvSpPr>
        <p:spPr>
          <a:xfrm>
            <a:off x="417513" y="1660525"/>
            <a:ext cx="8202612" cy="4616450"/>
          </a:xfrm>
          <a:prstGeom prst="rect">
            <a:avLst/>
          </a:prstGeom>
          <a:noFill/>
          <a:ln w="9525">
            <a:noFill/>
          </a:ln>
        </p:spPr>
        <p:txBody>
          <a:bodyPr anchor="t" anchorCtr="0">
            <a:spAutoFit/>
          </a:bodyPr>
          <a:lstStyle/>
          <a:p>
            <a:pPr algn="just"/>
            <a:r>
              <a:rPr lang="en-US" altLang="zh-CN" sz="2000" dirty="0">
                <a:latin typeface="宋体" panose="02010600030101010101" pitchFamily="2" charset="-122"/>
                <a:ea typeface="宋体" panose="02010600030101010101" pitchFamily="2" charset="-122"/>
              </a:rPr>
              <a:t>    </a:t>
            </a:r>
            <a:r>
              <a:rPr lang="zh-CN" altLang="zh-CN" sz="2000" dirty="0">
                <a:latin typeface="宋体" panose="02010600030101010101" pitchFamily="2" charset="-122"/>
                <a:ea typeface="宋体" panose="02010600030101010101" pitchFamily="2" charset="-122"/>
              </a:rPr>
              <a:t>如果在一个程序中的多个地方或在多个程序中都要用到同一段程序，可以把该程序段独立出来，以供其他程序调用，这段程序称为“子程序”或“过程”。子程序是供其他程序调用的相对固定的程序段，调用子程序的程序体称为“主程序”或“调用程序”。</a:t>
            </a:r>
          </a:p>
          <a:p>
            <a:pPr algn="just"/>
            <a:r>
              <a:rPr lang="zh-CN" altLang="zh-CN" sz="2000" dirty="0">
                <a:latin typeface="宋体" panose="02010600030101010101" pitchFamily="2" charset="-122"/>
                <a:ea typeface="宋体" panose="02010600030101010101" pitchFamily="2" charset="-122"/>
              </a:rPr>
              <a:t>采用子程序结构，具有以下优点。</a:t>
            </a:r>
          </a:p>
          <a:p>
            <a:pPr algn="just"/>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）简化程序设计过程，大量节省程序设计时间。</a:t>
            </a:r>
          </a:p>
          <a:p>
            <a:pPr algn="just"/>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a:t>
            </a:r>
            <a:r>
              <a:rPr lang="zh-CN" altLang="zh-CN" sz="2000" dirty="0">
                <a:latin typeface="宋体" panose="02010600030101010101" pitchFamily="2" charset="-122"/>
                <a:ea typeface="宋体" panose="02010600030101010101" pitchFamily="2" charset="-122"/>
              </a:rPr>
              <a:t>）缩短程序长度，节省计算机汇编源程序的时间和程序所占的存储单元。</a:t>
            </a:r>
          </a:p>
          <a:p>
            <a:pPr algn="just"/>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3</a:t>
            </a:r>
            <a:r>
              <a:rPr lang="zh-CN" altLang="zh-CN" sz="2000" dirty="0">
                <a:latin typeface="宋体" panose="02010600030101010101" pitchFamily="2" charset="-122"/>
                <a:ea typeface="宋体" panose="02010600030101010101" pitchFamily="2" charset="-122"/>
              </a:rPr>
              <a:t>）增加程序的可读性，便于程序修改。</a:t>
            </a:r>
          </a:p>
          <a:p>
            <a:pPr algn="just"/>
            <a:r>
              <a:rPr lang="zh-CN" altLang="zh-CN" sz="2000" dirty="0">
                <a:latin typeface="宋体" panose="02010600030101010101" pitchFamily="2" charset="-122"/>
                <a:ea typeface="宋体" panose="02010600030101010101" pitchFamily="2" charset="-122"/>
              </a:rPr>
              <a:t>在程序设计中，一个程序可以调用某个子程序，该子程序可以调用其他子程序，这就形成了子程序嵌套。子程序嵌套调用的层次不受限制，其嵌套层数称为“嵌套深度”。</a:t>
            </a:r>
          </a:p>
          <a:p>
            <a:pPr algn="just"/>
            <a:r>
              <a:rPr lang="zh-CN" altLang="zh-CN" sz="2000" dirty="0">
                <a:latin typeface="宋体" panose="02010600030101010101" pitchFamily="2" charset="-122"/>
                <a:ea typeface="宋体" panose="02010600030101010101" pitchFamily="2" charset="-122"/>
              </a:rPr>
              <a:t>子程序中使用堆栈来保护断点，堆栈操作的特性（后进先出）能自动保证各个层次子程序断点的正确入栈和返回，因此在子程序中使用</a:t>
            </a:r>
            <a:r>
              <a:rPr lang="en-US" altLang="zh-CN" sz="2000" dirty="0">
                <a:latin typeface="宋体" panose="02010600030101010101" pitchFamily="2" charset="-122"/>
                <a:ea typeface="宋体" panose="02010600030101010101" pitchFamily="2" charset="-122"/>
              </a:rPr>
              <a:t>PUSH</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POP</a:t>
            </a:r>
            <a:r>
              <a:rPr lang="zh-CN" altLang="zh-CN" sz="2000" dirty="0">
                <a:latin typeface="宋体" panose="02010600030101010101" pitchFamily="2" charset="-122"/>
                <a:ea typeface="宋体" panose="02010600030101010101" pitchFamily="2" charset="-122"/>
              </a:rPr>
              <a:t>指令时要格外小心，以免造成子程序无法正确返回。</a:t>
            </a:r>
          </a:p>
        </p:txBody>
      </p:sp>
    </p:spTree>
  </p:cSld>
  <p:clrMapOvr>
    <a:masterClrMapping/>
  </p:clrMapOvr>
  <p:transition spd="med">
    <p:random/>
  </p:transition>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4.5.5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子程序设计</a:t>
            </a:r>
          </a:p>
        </p:txBody>
      </p:sp>
      <p:sp>
        <p:nvSpPr>
          <p:cNvPr id="9523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95235" name="TextBox 4"/>
          <p:cNvSpPr txBox="1"/>
          <p:nvPr/>
        </p:nvSpPr>
        <p:spPr>
          <a:xfrm>
            <a:off x="417513" y="1465263"/>
            <a:ext cx="8202612" cy="1816100"/>
          </a:xfrm>
          <a:prstGeom prst="rect">
            <a:avLst/>
          </a:prstGeom>
          <a:noFill/>
          <a:ln w="9525">
            <a:noFill/>
          </a:ln>
        </p:spPr>
        <p:txBody>
          <a:bodyPr anchor="t" anchorCtr="0">
            <a:spAutoFit/>
          </a:bodyPr>
          <a:lstStyle/>
          <a:p>
            <a:pPr algn="just"/>
            <a:r>
              <a:rPr lang="zh-CN" altLang="zh-CN" sz="2000" dirty="0">
                <a:solidFill>
                  <a:srgbClr val="FF3300"/>
                </a:solidFill>
                <a:latin typeface="宋体" panose="02010600030101010101" pitchFamily="2" charset="-122"/>
                <a:ea typeface="宋体" panose="02010600030101010101" pitchFamily="2" charset="-122"/>
              </a:rPr>
              <a:t>【例</a:t>
            </a:r>
            <a:r>
              <a:rPr lang="en-US" altLang="zh-CN" sz="2000" dirty="0">
                <a:solidFill>
                  <a:srgbClr val="FF3300"/>
                </a:solidFill>
                <a:latin typeface="宋体" panose="02010600030101010101" pitchFamily="2" charset="-122"/>
                <a:ea typeface="宋体" panose="02010600030101010101" pitchFamily="2" charset="-122"/>
              </a:rPr>
              <a:t>4.9</a:t>
            </a:r>
            <a:r>
              <a:rPr lang="zh-CN" altLang="zh-CN" sz="2000" dirty="0">
                <a:solidFill>
                  <a:srgbClr val="FF3300"/>
                </a:solidFill>
                <a:latin typeface="宋体" panose="02010600030101010101" pitchFamily="2" charset="-122"/>
                <a:ea typeface="宋体" panose="02010600030101010101" pitchFamily="2" charset="-122"/>
              </a:rPr>
              <a:t>】</a:t>
            </a:r>
            <a:r>
              <a:rPr lang="zh-CN" altLang="zh-CN" sz="2000" dirty="0">
                <a:latin typeface="宋体" panose="02010600030101010101" pitchFamily="2" charset="-122"/>
                <a:ea typeface="宋体" panose="02010600030101010101" pitchFamily="2" charset="-122"/>
              </a:rPr>
              <a:t>利用堆栈，采用递归子程序的方法，编程实现求</a:t>
            </a:r>
            <a:r>
              <a:rPr lang="en-US" altLang="zh-CN" sz="2000" i="1" dirty="0">
                <a:latin typeface="宋体" panose="02010600030101010101" pitchFamily="2" charset="-122"/>
                <a:ea typeface="宋体" panose="02010600030101010101" pitchFamily="2" charset="-122"/>
              </a:rPr>
              <a:t>N</a:t>
            </a:r>
            <a:r>
              <a:rPr lang="zh-CN" altLang="zh-CN" sz="2000" dirty="0">
                <a:latin typeface="宋体" panose="02010600030101010101" pitchFamily="2" charset="-122"/>
                <a:ea typeface="宋体" panose="02010600030101010101" pitchFamily="2" charset="-122"/>
              </a:rPr>
              <a:t>！。</a:t>
            </a:r>
          </a:p>
          <a:p>
            <a:pPr algn="just"/>
            <a:r>
              <a:rPr lang="zh-CN" altLang="zh-CN" sz="2000" dirty="0">
                <a:latin typeface="宋体" panose="02010600030101010101" pitchFamily="2" charset="-122"/>
                <a:ea typeface="宋体" panose="02010600030101010101" pitchFamily="2" charset="-122"/>
              </a:rPr>
              <a:t>说明：由于用</a:t>
            </a:r>
            <a:r>
              <a:rPr lang="en-US" altLang="zh-CN" sz="2000" dirty="0">
                <a:latin typeface="宋体" panose="02010600030101010101" pitchFamily="2" charset="-122"/>
                <a:ea typeface="宋体" panose="02010600030101010101" pitchFamily="2" charset="-122"/>
              </a:rPr>
              <a:t>AX</a:t>
            </a:r>
            <a:r>
              <a:rPr lang="zh-CN" altLang="zh-CN" sz="2000" dirty="0">
                <a:latin typeface="宋体" panose="02010600030101010101" pitchFamily="2" charset="-122"/>
                <a:ea typeface="宋体" panose="02010600030101010101" pitchFamily="2" charset="-122"/>
              </a:rPr>
              <a:t>作为出口参数存放阶乘值，所以</a:t>
            </a:r>
            <a:r>
              <a:rPr lang="en-US" altLang="zh-CN" sz="2000" i="1" dirty="0">
                <a:latin typeface="宋体" panose="02010600030101010101" pitchFamily="2" charset="-122"/>
                <a:ea typeface="宋体" panose="02010600030101010101" pitchFamily="2" charset="-122"/>
              </a:rPr>
              <a:t>N</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9</a:t>
            </a:r>
            <a:r>
              <a:rPr lang="zh-CN" altLang="zh-CN" sz="2000" dirty="0">
                <a:latin typeface="宋体" panose="02010600030101010101" pitchFamily="2" charset="-122"/>
                <a:ea typeface="宋体" panose="02010600030101010101" pitchFamily="2" charset="-122"/>
              </a:rPr>
              <a:t>，即（</a:t>
            </a:r>
            <a:r>
              <a:rPr lang="en-US" altLang="zh-CN" sz="2000" i="1" dirty="0">
                <a:latin typeface="宋体" panose="02010600030101010101" pitchFamily="2" charset="-122"/>
                <a:ea typeface="宋体" panose="02010600030101010101" pitchFamily="2" charset="-122"/>
              </a:rPr>
              <a:t>N</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0FFFFH</a:t>
            </a:r>
            <a:r>
              <a:rPr lang="zh-CN" altLang="zh-CN" sz="2000" dirty="0">
                <a:latin typeface="宋体" panose="02010600030101010101" pitchFamily="2" charset="-122"/>
                <a:ea typeface="宋体" panose="02010600030101010101" pitchFamily="2" charset="-122"/>
              </a:rPr>
              <a:t>。子程序中</a:t>
            </a:r>
            <a:r>
              <a:rPr lang="en-US" altLang="zh-CN" sz="2000" dirty="0">
                <a:latin typeface="宋体" panose="02010600030101010101" pitchFamily="2" charset="-122"/>
                <a:ea typeface="宋体" panose="02010600030101010101" pitchFamily="2" charset="-122"/>
              </a:rPr>
              <a:t>BX</a:t>
            </a:r>
            <a:r>
              <a:rPr lang="zh-CN" altLang="zh-CN" sz="2000" dirty="0">
                <a:latin typeface="宋体" panose="02010600030101010101" pitchFamily="2" charset="-122"/>
                <a:ea typeface="宋体" panose="02010600030101010101" pitchFamily="2" charset="-122"/>
              </a:rPr>
              <a:t>有两个作用：保存并恢复原始数据；保存并恢复求连乘积时所需要的乘数</a:t>
            </a:r>
            <a:r>
              <a:rPr lang="en-US" altLang="zh-CN" sz="2000" i="1" dirty="0">
                <a:latin typeface="宋体" panose="02010600030101010101" pitchFamily="2" charset="-122"/>
                <a:ea typeface="宋体" panose="02010600030101010101" pitchFamily="2" charset="-122"/>
              </a:rPr>
              <a:t>N</a:t>
            </a:r>
            <a:r>
              <a:rPr lang="zh-CN" altLang="zh-CN" sz="2000" dirty="0">
                <a:latin typeface="宋体" panose="02010600030101010101" pitchFamily="2" charset="-122"/>
                <a:ea typeface="宋体" panose="02010600030101010101" pitchFamily="2" charset="-122"/>
              </a:rPr>
              <a:t>，</a:t>
            </a:r>
            <a:r>
              <a:rPr lang="en-US" altLang="zh-CN" sz="2000" i="1" dirty="0">
                <a:latin typeface="宋体" panose="02010600030101010101" pitchFamily="2" charset="-122"/>
                <a:ea typeface="宋体" panose="02010600030101010101" pitchFamily="2" charset="-122"/>
              </a:rPr>
              <a:t>N</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3</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a:t>
            </a:r>
            <a:r>
              <a:rPr lang="zh-CN" altLang="zh-CN" sz="2000" dirty="0">
                <a:latin typeface="宋体" panose="02010600030101010101" pitchFamily="2" charset="-122"/>
                <a:ea typeface="宋体" panose="02010600030101010101" pitchFamily="2" charset="-122"/>
              </a:rPr>
              <a:t>。堆栈区也不应设置过小，否则会限制递归调用的次数。用递归子程序求阶乘示意图如图</a:t>
            </a:r>
            <a:r>
              <a:rPr lang="en-US" altLang="zh-CN" sz="2000" dirty="0">
                <a:latin typeface="宋体" panose="02010600030101010101" pitchFamily="2" charset="-122"/>
                <a:ea typeface="宋体" panose="02010600030101010101" pitchFamily="2" charset="-122"/>
              </a:rPr>
              <a:t>4-6</a:t>
            </a:r>
            <a:r>
              <a:rPr lang="zh-CN" altLang="zh-CN" sz="2000" dirty="0">
                <a:latin typeface="宋体" panose="02010600030101010101" pitchFamily="2" charset="-122"/>
                <a:ea typeface="宋体" panose="02010600030101010101" pitchFamily="2" charset="-122"/>
              </a:rPr>
              <a:t>所示。当程序执行到</a:t>
            </a:r>
            <a:r>
              <a:rPr lang="en-US" altLang="zh-CN" sz="2000" dirty="0">
                <a:latin typeface="宋体" panose="02010600030101010101" pitchFamily="2" charset="-122"/>
                <a:ea typeface="宋体" panose="02010600030101010101" pitchFamily="2" charset="-122"/>
              </a:rPr>
              <a:t>EXIT</a:t>
            </a:r>
            <a:r>
              <a:rPr lang="zh-CN" altLang="zh-CN" sz="2000" dirty="0">
                <a:latin typeface="宋体" panose="02010600030101010101" pitchFamily="2" charset="-122"/>
                <a:ea typeface="宋体" panose="02010600030101010101" pitchFamily="2" charset="-122"/>
              </a:rPr>
              <a:t>时，堆栈空间示意图如图</a:t>
            </a:r>
            <a:r>
              <a:rPr lang="en-US" altLang="zh-CN" sz="2000" dirty="0">
                <a:latin typeface="宋体" panose="02010600030101010101" pitchFamily="2" charset="-122"/>
                <a:ea typeface="宋体" panose="02010600030101010101" pitchFamily="2" charset="-122"/>
              </a:rPr>
              <a:t>4-7</a:t>
            </a:r>
            <a:r>
              <a:rPr lang="zh-CN" altLang="zh-CN" sz="2000" dirty="0">
                <a:latin typeface="宋体" panose="02010600030101010101" pitchFamily="2" charset="-122"/>
                <a:ea typeface="宋体" panose="02010600030101010101" pitchFamily="2" charset="-122"/>
              </a:rPr>
              <a:t>所示。</a:t>
            </a:r>
          </a:p>
        </p:txBody>
      </p:sp>
      <p:pic>
        <p:nvPicPr>
          <p:cNvPr id="95236" name="Picture 2" descr="4"/>
          <p:cNvPicPr>
            <a:picLocks noChangeAspect="1"/>
          </p:cNvPicPr>
          <p:nvPr/>
        </p:nvPicPr>
        <p:blipFill>
          <a:blip r:embed="rId3"/>
          <a:stretch>
            <a:fillRect/>
          </a:stretch>
        </p:blipFill>
        <p:spPr>
          <a:xfrm>
            <a:off x="1012825" y="3622675"/>
            <a:ext cx="4579938" cy="2520950"/>
          </a:xfrm>
          <a:prstGeom prst="rect">
            <a:avLst/>
          </a:prstGeom>
          <a:noFill/>
          <a:ln w="9525">
            <a:noFill/>
          </a:ln>
        </p:spPr>
      </p:pic>
      <p:pic>
        <p:nvPicPr>
          <p:cNvPr id="95237" name="图片 21" descr="4-7"/>
          <p:cNvPicPr>
            <a:picLocks noChangeAspect="1"/>
          </p:cNvPicPr>
          <p:nvPr/>
        </p:nvPicPr>
        <p:blipFill>
          <a:blip r:embed="rId4"/>
          <a:stretch>
            <a:fillRect/>
          </a:stretch>
        </p:blipFill>
        <p:spPr>
          <a:xfrm>
            <a:off x="6064250" y="3354388"/>
            <a:ext cx="1928813" cy="3302000"/>
          </a:xfrm>
          <a:prstGeom prst="rect">
            <a:avLst/>
          </a:prstGeom>
          <a:noFill/>
          <a:ln w="9525">
            <a:noFill/>
          </a:ln>
        </p:spPr>
      </p:pic>
    </p:spTree>
  </p:cSld>
  <p:clrMapOvr>
    <a:masterClrMapping/>
  </p:clrMapOvr>
  <p:transition spd="med">
    <p:random/>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281"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97282" name="TextBox 4"/>
          <p:cNvSpPr txBox="1"/>
          <p:nvPr/>
        </p:nvSpPr>
        <p:spPr>
          <a:xfrm>
            <a:off x="938213" y="381000"/>
            <a:ext cx="7537450" cy="6352508"/>
          </a:xfrm>
          <a:prstGeom prst="rect">
            <a:avLst/>
          </a:prstGeom>
          <a:noFill/>
          <a:ln w="9525">
            <a:noFill/>
          </a:ln>
        </p:spPr>
        <p:txBody>
          <a:bodyPr wrap="square" anchor="t" anchorCtr="0">
            <a:spAutoFit/>
          </a:bodyPr>
          <a:lstStyle/>
          <a:p>
            <a:r>
              <a:rPr lang="en-US" altLang="zh-CN" sz="1200" dirty="0">
                <a:latin typeface="宋体" panose="02010600030101010101" pitchFamily="2" charset="-122"/>
                <a:ea typeface="宋体" panose="02010600030101010101" pitchFamily="2" charset="-122"/>
              </a:rPr>
              <a:t>DSEG   SEGMENT</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N      DW       5            ;</a:t>
            </a:r>
            <a:r>
              <a:rPr lang="zh-CN" altLang="zh-CN" sz="1200" dirty="0">
                <a:latin typeface="宋体" panose="02010600030101010101" pitchFamily="2" charset="-122"/>
                <a:ea typeface="宋体" panose="02010600030101010101" pitchFamily="2" charset="-122"/>
              </a:rPr>
              <a:t>此变量要送入</a:t>
            </a:r>
            <a:r>
              <a:rPr lang="en-US" altLang="zh-CN" sz="1200" dirty="0">
                <a:latin typeface="宋体" panose="02010600030101010101" pitchFamily="2" charset="-122"/>
                <a:ea typeface="宋体" panose="02010600030101010101" pitchFamily="2" charset="-122"/>
              </a:rPr>
              <a:t>AX</a:t>
            </a:r>
            <a:r>
              <a:rPr lang="zh-CN" altLang="zh-CN" sz="1200" dirty="0">
                <a:latin typeface="宋体" panose="02010600030101010101" pitchFamily="2" charset="-122"/>
                <a:ea typeface="宋体" panose="02010600030101010101" pitchFamily="2" charset="-122"/>
              </a:rPr>
              <a:t>中，应定义为字类型</a:t>
            </a:r>
          </a:p>
          <a:p>
            <a:r>
              <a:rPr lang="en-US" altLang="zh-CN" sz="1200" dirty="0">
                <a:latin typeface="宋体" panose="02010600030101010101" pitchFamily="2" charset="-122"/>
                <a:ea typeface="宋体" panose="02010600030101010101" pitchFamily="2" charset="-122"/>
              </a:rPr>
              <a:t>     RLTL     DW       ?           	;</a:t>
            </a:r>
            <a:r>
              <a:rPr lang="zh-CN" altLang="zh-CN" sz="1200" dirty="0">
                <a:latin typeface="宋体" panose="02010600030101010101" pitchFamily="2" charset="-122"/>
                <a:ea typeface="宋体" panose="02010600030101010101" pitchFamily="2" charset="-122"/>
              </a:rPr>
              <a:t>存放运算结果低</a:t>
            </a:r>
            <a:r>
              <a:rPr lang="en-US" altLang="zh-CN" sz="1200" dirty="0">
                <a:latin typeface="宋体" panose="02010600030101010101" pitchFamily="2" charset="-122"/>
                <a:ea typeface="宋体" panose="02010600030101010101" pitchFamily="2" charset="-122"/>
              </a:rPr>
              <a:t>16</a:t>
            </a:r>
            <a:r>
              <a:rPr lang="zh-CN" altLang="zh-CN" sz="1200" dirty="0">
                <a:latin typeface="宋体" panose="02010600030101010101" pitchFamily="2" charset="-122"/>
                <a:ea typeface="宋体" panose="02010600030101010101" pitchFamily="2" charset="-122"/>
              </a:rPr>
              <a:t>位</a:t>
            </a:r>
          </a:p>
          <a:p>
            <a:r>
              <a:rPr lang="en-US" altLang="zh-CN" sz="1200" dirty="0">
                <a:latin typeface="宋体" panose="02010600030101010101" pitchFamily="2" charset="-122"/>
                <a:ea typeface="宋体" panose="02010600030101010101" pitchFamily="2" charset="-122"/>
              </a:rPr>
              <a:t>     RLTH     DW       ?           	;</a:t>
            </a:r>
            <a:r>
              <a:rPr lang="zh-CN" altLang="zh-CN" sz="1200" dirty="0">
                <a:latin typeface="宋体" panose="02010600030101010101" pitchFamily="2" charset="-122"/>
                <a:ea typeface="宋体" panose="02010600030101010101" pitchFamily="2" charset="-122"/>
              </a:rPr>
              <a:t>存放运算结果高</a:t>
            </a:r>
            <a:r>
              <a:rPr lang="en-US" altLang="zh-CN" sz="1200" dirty="0">
                <a:latin typeface="宋体" panose="02010600030101010101" pitchFamily="2" charset="-122"/>
                <a:ea typeface="宋体" panose="02010600030101010101" pitchFamily="2" charset="-122"/>
              </a:rPr>
              <a:t>16</a:t>
            </a:r>
            <a:r>
              <a:rPr lang="zh-CN" altLang="zh-CN" sz="1200" dirty="0">
                <a:latin typeface="宋体" panose="02010600030101010101" pitchFamily="2" charset="-122"/>
                <a:ea typeface="宋体" panose="02010600030101010101" pitchFamily="2" charset="-122"/>
              </a:rPr>
              <a:t>位</a:t>
            </a:r>
          </a:p>
          <a:p>
            <a:r>
              <a:rPr lang="en-US" altLang="zh-CN" sz="1200" dirty="0">
                <a:latin typeface="宋体" panose="02010600030101010101" pitchFamily="2" charset="-122"/>
                <a:ea typeface="宋体" panose="02010600030101010101" pitchFamily="2" charset="-122"/>
              </a:rPr>
              <a:t>DSEG   ENDS</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SSEG   SEGMENT  STACK  ‘STACK’ 	;</a:t>
            </a:r>
            <a:r>
              <a:rPr lang="zh-CN" altLang="zh-CN" sz="1200" dirty="0">
                <a:latin typeface="宋体" panose="02010600030101010101" pitchFamily="2" charset="-122"/>
                <a:ea typeface="宋体" panose="02010600030101010101" pitchFamily="2" charset="-122"/>
              </a:rPr>
              <a:t>声明组合类型后系统自动为</a:t>
            </a:r>
            <a:r>
              <a:rPr lang="en-US" altLang="zh-CN" sz="1200" dirty="0">
                <a:latin typeface="宋体" panose="02010600030101010101" pitchFamily="2" charset="-122"/>
                <a:ea typeface="宋体" panose="02010600030101010101" pitchFamily="2" charset="-122"/>
              </a:rPr>
              <a:t>SS</a:t>
            </a:r>
            <a:r>
              <a:rPr lang="zh-CN" altLang="zh-CN" sz="1200" dirty="0">
                <a:latin typeface="宋体" panose="02010600030101010101" pitchFamily="2" charset="-122"/>
                <a:ea typeface="宋体" panose="02010600030101010101" pitchFamily="2" charset="-122"/>
              </a:rPr>
              <a:t>及</a:t>
            </a:r>
            <a:r>
              <a:rPr lang="en-US" altLang="zh-CN" sz="1200" dirty="0">
                <a:latin typeface="宋体" panose="02010600030101010101" pitchFamily="2" charset="-122"/>
                <a:ea typeface="宋体" panose="02010600030101010101" pitchFamily="2" charset="-122"/>
              </a:rPr>
              <a:t>SP </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DW   100  DUP  (?)       	;</a:t>
            </a:r>
            <a:r>
              <a:rPr lang="zh-CN" altLang="zh-CN" sz="1200" dirty="0">
                <a:latin typeface="宋体" panose="02010600030101010101" pitchFamily="2" charset="-122"/>
                <a:ea typeface="宋体" panose="02010600030101010101" pitchFamily="2" charset="-122"/>
              </a:rPr>
              <a:t>分配值</a:t>
            </a:r>
          </a:p>
          <a:p>
            <a:r>
              <a:rPr lang="en-US" altLang="zh-CN" sz="1200" dirty="0">
                <a:latin typeface="宋体" panose="02010600030101010101" pitchFamily="2" charset="-122"/>
                <a:ea typeface="宋体" panose="02010600030101010101" pitchFamily="2" charset="-122"/>
              </a:rPr>
              <a:t>SSEG   ENDS </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CSEG   SEGMENT</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ASSUME    CS </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CSEG</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DS</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DSEG</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SS</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SSEG</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START</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 MOV      AX</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 DSEG</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MOV      DS</a:t>
            </a:r>
            <a:r>
              <a:rPr lang="zh-CN" altLang="zh-CN" sz="1200" dirty="0">
                <a:latin typeface="宋体" panose="02010600030101010101" pitchFamily="2" charset="-122"/>
                <a:ea typeface="宋体" panose="02010600030101010101" pitchFamily="2" charset="-122"/>
              </a:rPr>
              <a:t>， </a:t>
            </a:r>
            <a:r>
              <a:rPr lang="en-US" altLang="zh-CN" sz="1200" dirty="0">
                <a:latin typeface="宋体" panose="02010600030101010101" pitchFamily="2" charset="-122"/>
                <a:ea typeface="宋体" panose="02010600030101010101" pitchFamily="2" charset="-122"/>
              </a:rPr>
              <a:t>AX</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MOV     AX</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 N</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CALL    REC               	;</a:t>
            </a:r>
            <a:r>
              <a:rPr lang="zh-CN" altLang="zh-CN" sz="1200" dirty="0">
                <a:latin typeface="宋体" panose="02010600030101010101" pitchFamily="2" charset="-122"/>
                <a:ea typeface="宋体" panose="02010600030101010101" pitchFamily="2" charset="-122"/>
              </a:rPr>
              <a:t>调用求阶乘递归子程序</a:t>
            </a:r>
          </a:p>
          <a:p>
            <a:r>
              <a:rPr lang="en-US" altLang="zh-CN" sz="1200" dirty="0">
                <a:latin typeface="宋体" panose="02010600030101010101" pitchFamily="2" charset="-122"/>
                <a:ea typeface="宋体" panose="02010600030101010101" pitchFamily="2" charset="-122"/>
              </a:rPr>
              <a:t>BRK</a:t>
            </a:r>
            <a:r>
              <a:rPr lang="zh-CN" altLang="zh-CN" sz="1200" dirty="0">
                <a:latin typeface="宋体" panose="02010600030101010101" pitchFamily="2" charset="-122"/>
                <a:ea typeface="宋体" panose="02010600030101010101" pitchFamily="2" charset="-122"/>
              </a:rPr>
              <a:t>： </a:t>
            </a:r>
            <a:r>
              <a:rPr lang="en-US" altLang="zh-CN" sz="1200" dirty="0">
                <a:latin typeface="宋体" panose="02010600030101010101" pitchFamily="2" charset="-122"/>
                <a:ea typeface="宋体" panose="02010600030101010101" pitchFamily="2" charset="-122"/>
              </a:rPr>
              <a:t>  MOV      RLTL</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AX     	;</a:t>
            </a:r>
            <a:r>
              <a:rPr lang="zh-CN" altLang="zh-CN" sz="1200" dirty="0">
                <a:latin typeface="宋体" panose="02010600030101010101" pitchFamily="2" charset="-122"/>
                <a:ea typeface="宋体" panose="02010600030101010101" pitchFamily="2" charset="-122"/>
              </a:rPr>
              <a:t>运算结果低</a:t>
            </a:r>
            <a:r>
              <a:rPr lang="en-US" altLang="zh-CN" sz="1200" dirty="0">
                <a:latin typeface="宋体" panose="02010600030101010101" pitchFamily="2" charset="-122"/>
                <a:ea typeface="宋体" panose="02010600030101010101" pitchFamily="2" charset="-122"/>
              </a:rPr>
              <a:t>16</a:t>
            </a:r>
            <a:r>
              <a:rPr lang="zh-CN" altLang="zh-CN" sz="1200" dirty="0">
                <a:latin typeface="宋体" panose="02010600030101010101" pitchFamily="2" charset="-122"/>
                <a:ea typeface="宋体" panose="02010600030101010101" pitchFamily="2" charset="-122"/>
              </a:rPr>
              <a:t>位送入</a:t>
            </a:r>
            <a:r>
              <a:rPr lang="en-US" altLang="zh-CN" sz="1200" dirty="0">
                <a:latin typeface="宋体" panose="02010600030101010101" pitchFamily="2" charset="-122"/>
                <a:ea typeface="宋体" panose="02010600030101010101" pitchFamily="2" charset="-122"/>
              </a:rPr>
              <a:t>RLTL</a:t>
            </a:r>
            <a:r>
              <a:rPr lang="zh-CN" altLang="zh-CN" sz="1200" dirty="0">
                <a:latin typeface="宋体" panose="02010600030101010101" pitchFamily="2" charset="-122"/>
                <a:ea typeface="宋体" panose="02010600030101010101" pitchFamily="2" charset="-122"/>
              </a:rPr>
              <a:t>中</a:t>
            </a:r>
          </a:p>
          <a:p>
            <a:r>
              <a:rPr lang="en-US" altLang="zh-CN" sz="1200" dirty="0">
                <a:latin typeface="宋体" panose="02010600030101010101" pitchFamily="2" charset="-122"/>
                <a:ea typeface="宋体" panose="02010600030101010101" pitchFamily="2" charset="-122"/>
              </a:rPr>
              <a:t>         MOV     RLTH</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DX          	;</a:t>
            </a:r>
            <a:r>
              <a:rPr lang="zh-CN" altLang="zh-CN" sz="1200" dirty="0">
                <a:latin typeface="宋体" panose="02010600030101010101" pitchFamily="2" charset="-122"/>
                <a:ea typeface="宋体" panose="02010600030101010101" pitchFamily="2" charset="-122"/>
              </a:rPr>
              <a:t>运算结果高</a:t>
            </a:r>
            <a:r>
              <a:rPr lang="en-US" altLang="zh-CN" sz="1200" dirty="0">
                <a:latin typeface="宋体" panose="02010600030101010101" pitchFamily="2" charset="-122"/>
                <a:ea typeface="宋体" panose="02010600030101010101" pitchFamily="2" charset="-122"/>
              </a:rPr>
              <a:t>16</a:t>
            </a:r>
            <a:r>
              <a:rPr lang="zh-CN" altLang="zh-CN" sz="1200" dirty="0">
                <a:latin typeface="宋体" panose="02010600030101010101" pitchFamily="2" charset="-122"/>
                <a:ea typeface="宋体" panose="02010600030101010101" pitchFamily="2" charset="-122"/>
              </a:rPr>
              <a:t>位送入</a:t>
            </a:r>
            <a:r>
              <a:rPr lang="en-US" altLang="zh-CN" sz="1200" dirty="0">
                <a:latin typeface="宋体" panose="02010600030101010101" pitchFamily="2" charset="-122"/>
                <a:ea typeface="宋体" panose="02010600030101010101" pitchFamily="2" charset="-122"/>
              </a:rPr>
              <a:t>RLTH</a:t>
            </a:r>
            <a:r>
              <a:rPr lang="zh-CN" altLang="zh-CN" sz="1200" dirty="0">
                <a:latin typeface="宋体" panose="02010600030101010101" pitchFamily="2" charset="-122"/>
                <a:ea typeface="宋体" panose="02010600030101010101" pitchFamily="2" charset="-122"/>
              </a:rPr>
              <a:t>中</a:t>
            </a:r>
          </a:p>
          <a:p>
            <a:r>
              <a:rPr lang="en-US" altLang="zh-CN" sz="1200" dirty="0">
                <a:latin typeface="宋体" panose="02010600030101010101" pitchFamily="2" charset="-122"/>
                <a:ea typeface="宋体" panose="02010600030101010101" pitchFamily="2" charset="-122"/>
              </a:rPr>
              <a:t>         MOV     AH</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 4CH</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INT     21H</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REC     PROC    NEAR</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PUSH    </a:t>
            </a:r>
            <a:r>
              <a:rPr lang="en-US" altLang="zh-CN" sz="1200" dirty="0">
                <a:solidFill>
                  <a:srgbClr val="FF0000"/>
                </a:solidFill>
                <a:latin typeface="宋体" panose="02010600030101010101" pitchFamily="2" charset="-122"/>
                <a:ea typeface="宋体" panose="02010600030101010101" pitchFamily="2" charset="-122"/>
              </a:rPr>
              <a:t>A</a:t>
            </a:r>
            <a:r>
              <a:rPr lang="en-US" altLang="zh-CN" sz="1200" dirty="0">
                <a:latin typeface="宋体" panose="02010600030101010101" pitchFamily="2" charset="-122"/>
                <a:ea typeface="宋体" panose="02010600030101010101" pitchFamily="2" charset="-122"/>
              </a:rPr>
              <a:t>X            	;</a:t>
            </a:r>
            <a:r>
              <a:rPr lang="zh-CN" altLang="zh-CN" sz="1200" dirty="0">
                <a:latin typeface="宋体" panose="02010600030101010101" pitchFamily="2" charset="-122"/>
                <a:ea typeface="宋体" panose="02010600030101010101" pitchFamily="2" charset="-122"/>
              </a:rPr>
              <a:t>递归调用时</a:t>
            </a:r>
            <a:r>
              <a:rPr lang="en-US" altLang="zh-CN" sz="1200" dirty="0">
                <a:latin typeface="宋体" panose="02010600030101010101" pitchFamily="2" charset="-122"/>
                <a:ea typeface="宋体" panose="02010600030101010101" pitchFamily="2" charset="-122"/>
              </a:rPr>
              <a:t>BX</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5</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4</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3</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2</a:t>
            </a:r>
            <a:r>
              <a:rPr lang="zh-CN" altLang="zh-CN" sz="1200" dirty="0">
                <a:latin typeface="宋体" panose="02010600030101010101" pitchFamily="2" charset="-122"/>
                <a:ea typeface="宋体" panose="02010600030101010101" pitchFamily="2" charset="-122"/>
              </a:rPr>
              <a:t>）依次压入堆栈</a:t>
            </a:r>
          </a:p>
          <a:p>
            <a:r>
              <a:rPr lang="en-US" altLang="zh-CN" sz="1200" dirty="0">
                <a:latin typeface="宋体" panose="02010600030101010101" pitchFamily="2" charset="-122"/>
                <a:ea typeface="宋体" panose="02010600030101010101" pitchFamily="2" charset="-122"/>
              </a:rPr>
              <a:t>         MOV    BX,  AX            </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CMP     AX</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1</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JZ       EXIT</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DEC     AX</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CALL    REC           	;</a:t>
            </a:r>
            <a:r>
              <a:rPr lang="zh-CN" altLang="zh-CN" sz="1200" dirty="0">
                <a:latin typeface="宋体" panose="02010600030101010101" pitchFamily="2" charset="-122"/>
                <a:ea typeface="宋体" panose="02010600030101010101" pitchFamily="2" charset="-122"/>
              </a:rPr>
              <a:t>递归调用</a:t>
            </a:r>
          </a:p>
          <a:p>
            <a:r>
              <a:rPr lang="en-US" altLang="zh-CN" sz="1200" dirty="0">
                <a:latin typeface="宋体" panose="02010600030101010101" pitchFamily="2" charset="-122"/>
                <a:ea typeface="宋体" panose="02010600030101010101" pitchFamily="2" charset="-122"/>
              </a:rPr>
              <a:t>AMD</a:t>
            </a:r>
            <a:r>
              <a:rPr lang="zh-CN" altLang="zh-CN" sz="1200" dirty="0">
                <a:latin typeface="宋体" panose="02010600030101010101" pitchFamily="2" charset="-122"/>
                <a:ea typeface="宋体" panose="02010600030101010101" pitchFamily="2" charset="-122"/>
              </a:rPr>
              <a:t>： </a:t>
            </a:r>
            <a:r>
              <a:rPr lang="en-US" altLang="zh-CN" sz="1200" dirty="0">
                <a:latin typeface="宋体" panose="02010600030101010101" pitchFamily="2" charset="-122"/>
                <a:ea typeface="宋体" panose="02010600030101010101" pitchFamily="2" charset="-122"/>
              </a:rPr>
              <a:t>   MUL    BX             	;AX * BX→DX AX</a:t>
            </a:r>
          </a:p>
          <a:p>
            <a:r>
              <a:rPr lang="en-US" altLang="zh-CN" sz="1200" dirty="0">
                <a:latin typeface="宋体" panose="02010600030101010101" pitchFamily="2" charset="-122"/>
                <a:ea typeface="宋体" panose="02010600030101010101" pitchFamily="2" charset="-122"/>
              </a:rPr>
              <a:t>EXIT</a:t>
            </a:r>
            <a:r>
              <a:rPr lang="zh-CN" altLang="zh-CN" sz="1200" dirty="0">
                <a:latin typeface="宋体" panose="02010600030101010101" pitchFamily="2" charset="-122"/>
                <a:ea typeface="宋体" panose="02010600030101010101" pitchFamily="2" charset="-122"/>
              </a:rPr>
              <a:t>：  </a:t>
            </a:r>
            <a:r>
              <a:rPr lang="en-US" altLang="zh-CN" sz="1200" dirty="0">
                <a:latin typeface="宋体" panose="02010600030101010101" pitchFamily="2" charset="-122"/>
                <a:ea typeface="宋体" panose="02010600030101010101" pitchFamily="2" charset="-122"/>
              </a:rPr>
              <a:t>POP     BX</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RET</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REC      ENDP</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CSEG    ENDS</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END    START</a:t>
            </a:r>
            <a:endParaRPr lang="zh-CN" altLang="zh-CN" sz="120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4.5.5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子程序设计</a:t>
            </a:r>
          </a:p>
        </p:txBody>
      </p:sp>
      <p:sp>
        <p:nvSpPr>
          <p:cNvPr id="99330"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99331" name="TextBox 4"/>
          <p:cNvSpPr txBox="1"/>
          <p:nvPr/>
        </p:nvSpPr>
        <p:spPr>
          <a:xfrm>
            <a:off x="417513" y="1465263"/>
            <a:ext cx="8202612" cy="5089525"/>
          </a:xfrm>
          <a:prstGeom prst="rect">
            <a:avLst/>
          </a:prstGeom>
          <a:noFill/>
          <a:ln w="9525">
            <a:noFill/>
          </a:ln>
        </p:spPr>
        <p:txBody>
          <a:bodyPr anchor="t" anchorCtr="0">
            <a:spAutoFit/>
          </a:bodyPr>
          <a:lstStyle/>
          <a:p>
            <a:pPr algn="just"/>
            <a:r>
              <a:rPr lang="zh-CN" altLang="zh-CN" sz="2000" dirty="0">
                <a:solidFill>
                  <a:srgbClr val="FF3300"/>
                </a:solidFill>
                <a:latin typeface="宋体" panose="02010600030101010101" pitchFamily="2" charset="-122"/>
                <a:ea typeface="宋体" panose="02010600030101010101" pitchFamily="2" charset="-122"/>
              </a:rPr>
              <a:t>【例</a:t>
            </a:r>
            <a:r>
              <a:rPr lang="en-US" altLang="zh-CN" sz="2000" dirty="0">
                <a:solidFill>
                  <a:srgbClr val="FF3300"/>
                </a:solidFill>
                <a:latin typeface="宋体" panose="02010600030101010101" pitchFamily="2" charset="-122"/>
                <a:ea typeface="宋体" panose="02010600030101010101" pitchFamily="2" charset="-122"/>
              </a:rPr>
              <a:t>4.10</a:t>
            </a:r>
            <a:r>
              <a:rPr lang="zh-CN" altLang="zh-CN" sz="2000" dirty="0">
                <a:solidFill>
                  <a:srgbClr val="FF3300"/>
                </a:solidFill>
                <a:latin typeface="宋体" panose="02010600030101010101" pitchFamily="2" charset="-122"/>
                <a:ea typeface="宋体" panose="02010600030101010101" pitchFamily="2" charset="-122"/>
              </a:rPr>
              <a:t>】</a:t>
            </a:r>
            <a:r>
              <a:rPr lang="zh-CN" altLang="zh-CN" sz="2000" dirty="0">
                <a:latin typeface="宋体" panose="02010600030101010101" pitchFamily="2" charset="-122"/>
                <a:ea typeface="宋体" panose="02010600030101010101" pitchFamily="2" charset="-122"/>
              </a:rPr>
              <a:t>实现两个无符号数相加，并将结果显示在屏幕上。</a:t>
            </a:r>
          </a:p>
          <a:p>
            <a:pPr algn="just"/>
            <a:r>
              <a:rPr lang="zh-CN" altLang="zh-CN" sz="2000" dirty="0">
                <a:latin typeface="宋体" panose="02010600030101010101" pitchFamily="2" charset="-122"/>
                <a:ea typeface="宋体" panose="02010600030101010101" pitchFamily="2" charset="-122"/>
              </a:rPr>
              <a:t>说明：源程序包括模块</a:t>
            </a:r>
            <a:r>
              <a:rPr lang="en-US" altLang="zh-CN" sz="2000" dirty="0">
                <a:latin typeface="宋体" panose="02010600030101010101" pitchFamily="2" charset="-122"/>
                <a:ea typeface="宋体" panose="02010600030101010101" pitchFamily="2" charset="-122"/>
              </a:rPr>
              <a:t>a</a:t>
            </a:r>
            <a:r>
              <a:rPr lang="zh-CN" altLang="zh-CN" sz="2000" dirty="0">
                <a:latin typeface="宋体" panose="02010600030101010101" pitchFamily="2" charset="-122"/>
                <a:ea typeface="宋体" panose="02010600030101010101" pitchFamily="2" charset="-122"/>
              </a:rPr>
              <a:t>和模块</a:t>
            </a:r>
            <a:r>
              <a:rPr lang="en-US" altLang="zh-CN" sz="2000" dirty="0">
                <a:latin typeface="宋体" panose="02010600030101010101" pitchFamily="2" charset="-122"/>
                <a:ea typeface="宋体" panose="02010600030101010101" pitchFamily="2" charset="-122"/>
              </a:rPr>
              <a:t>b</a:t>
            </a:r>
            <a:r>
              <a:rPr lang="zh-CN" altLang="zh-CN" sz="2000" dirty="0">
                <a:latin typeface="宋体" panose="02010600030101010101" pitchFamily="2" charset="-122"/>
                <a:ea typeface="宋体" panose="02010600030101010101" pitchFamily="2" charset="-122"/>
              </a:rPr>
              <a:t>，分别编译模块</a:t>
            </a:r>
            <a:r>
              <a:rPr lang="en-US" altLang="zh-CN" sz="2000" dirty="0">
                <a:latin typeface="宋体" panose="02010600030101010101" pitchFamily="2" charset="-122"/>
                <a:ea typeface="宋体" panose="02010600030101010101" pitchFamily="2" charset="-122"/>
              </a:rPr>
              <a:t>a</a:t>
            </a:r>
            <a:r>
              <a:rPr lang="zh-CN" altLang="zh-CN" sz="2000" dirty="0">
                <a:latin typeface="宋体" panose="02010600030101010101" pitchFamily="2" charset="-122"/>
                <a:ea typeface="宋体" panose="02010600030101010101" pitchFamily="2" charset="-122"/>
              </a:rPr>
              <a:t>和模块</a:t>
            </a:r>
            <a:r>
              <a:rPr lang="en-US" altLang="zh-CN" sz="2000" dirty="0">
                <a:latin typeface="宋体" panose="02010600030101010101" pitchFamily="2" charset="-122"/>
                <a:ea typeface="宋体" panose="02010600030101010101" pitchFamily="2" charset="-122"/>
              </a:rPr>
              <a:t>b</a:t>
            </a:r>
            <a:r>
              <a:rPr lang="zh-CN" altLang="zh-CN" sz="2000" dirty="0">
                <a:latin typeface="宋体" panose="02010600030101010101" pitchFamily="2" charset="-122"/>
                <a:ea typeface="宋体" panose="02010600030101010101" pitchFamily="2" charset="-122"/>
              </a:rPr>
              <a:t>，并把生成的两个</a:t>
            </a:r>
            <a:r>
              <a:rPr lang="en-US" altLang="zh-CN" sz="2000" dirty="0">
                <a:latin typeface="宋体" panose="02010600030101010101" pitchFamily="2" charset="-122"/>
                <a:ea typeface="宋体" panose="02010600030101010101" pitchFamily="2" charset="-122"/>
              </a:rPr>
              <a:t>OBJ</a:t>
            </a:r>
            <a:r>
              <a:rPr lang="zh-CN" altLang="zh-CN" sz="2000" dirty="0">
                <a:latin typeface="宋体" panose="02010600030101010101" pitchFamily="2" charset="-122"/>
                <a:ea typeface="宋体" panose="02010600030101010101" pitchFamily="2" charset="-122"/>
              </a:rPr>
              <a:t>文件连接成一个可执行文件。各模块内的</a:t>
            </a:r>
            <a:r>
              <a:rPr lang="en-US" altLang="zh-CN" sz="2000" dirty="0">
                <a:latin typeface="宋体" panose="02010600030101010101" pitchFamily="2" charset="-122"/>
                <a:ea typeface="宋体" panose="02010600030101010101" pitchFamily="2" charset="-122"/>
              </a:rPr>
              <a:t>PUBLIC</a:t>
            </a:r>
            <a:r>
              <a:rPr lang="zh-CN" altLang="zh-CN" sz="2000" dirty="0">
                <a:latin typeface="宋体" panose="02010600030101010101" pitchFamily="2" charset="-122"/>
                <a:ea typeface="宋体" panose="02010600030101010101" pitchFamily="2" charset="-122"/>
              </a:rPr>
              <a:t>语句与</a:t>
            </a:r>
            <a:r>
              <a:rPr lang="en-US" altLang="zh-CN" sz="2000" dirty="0">
                <a:latin typeface="宋体" panose="02010600030101010101" pitchFamily="2" charset="-122"/>
                <a:ea typeface="宋体" panose="02010600030101010101" pitchFamily="2" charset="-122"/>
              </a:rPr>
              <a:t>EXTRN</a:t>
            </a:r>
            <a:r>
              <a:rPr lang="zh-CN" altLang="zh-CN" sz="2000" dirty="0">
                <a:latin typeface="宋体" panose="02010600030101010101" pitchFamily="2" charset="-122"/>
                <a:ea typeface="宋体" panose="02010600030101010101" pitchFamily="2" charset="-122"/>
              </a:rPr>
              <a:t>语句应该相互照应。在</a:t>
            </a:r>
            <a:r>
              <a:rPr lang="en-US" altLang="zh-CN" sz="2000" dirty="0">
                <a:latin typeface="宋体" panose="02010600030101010101" pitchFamily="2" charset="-122"/>
                <a:ea typeface="宋体" panose="02010600030101010101" pitchFamily="2" charset="-122"/>
              </a:rPr>
              <a:t>EXTRN</a:t>
            </a:r>
            <a:r>
              <a:rPr lang="zh-CN" altLang="zh-CN" sz="2000" dirty="0">
                <a:latin typeface="宋体" panose="02010600030101010101" pitchFamily="2" charset="-122"/>
                <a:ea typeface="宋体" panose="02010600030101010101" pitchFamily="2" charset="-122"/>
              </a:rPr>
              <a:t>出现的符号应在其他模块的</a:t>
            </a:r>
            <a:r>
              <a:rPr lang="en-US" altLang="zh-CN" sz="2000" dirty="0">
                <a:latin typeface="宋体" panose="02010600030101010101" pitchFamily="2" charset="-122"/>
                <a:ea typeface="宋体" panose="02010600030101010101" pitchFamily="2" charset="-122"/>
              </a:rPr>
              <a:t>PUBLIC</a:t>
            </a:r>
            <a:r>
              <a:rPr lang="zh-CN" altLang="zh-CN" sz="2000" dirty="0">
                <a:latin typeface="宋体" panose="02010600030101010101" pitchFamily="2" charset="-122"/>
                <a:ea typeface="宋体" panose="02010600030101010101" pitchFamily="2" charset="-122"/>
              </a:rPr>
              <a:t>语句中找到，并且类型相互一致，否则在连接时会出错。多目标文件（</a:t>
            </a:r>
            <a:r>
              <a:rPr lang="en-US" altLang="zh-CN" sz="2000" dirty="0">
                <a:latin typeface="宋体" panose="02010600030101010101" pitchFamily="2" charset="-122"/>
                <a:ea typeface="宋体" panose="02010600030101010101" pitchFamily="2" charset="-122"/>
              </a:rPr>
              <a:t>.OBJ</a:t>
            </a:r>
            <a:r>
              <a:rPr lang="zh-CN" altLang="zh-CN" sz="2000" dirty="0">
                <a:latin typeface="宋体" panose="02010600030101010101" pitchFamily="2" charset="-122"/>
                <a:ea typeface="宋体" panose="02010600030101010101" pitchFamily="2" charset="-122"/>
              </a:rPr>
              <a:t>）连接格式为：</a:t>
            </a:r>
            <a:r>
              <a:rPr lang="en-US" altLang="zh-CN" sz="2000" dirty="0">
                <a:latin typeface="宋体" panose="02010600030101010101" pitchFamily="2" charset="-122"/>
                <a:ea typeface="宋体" panose="02010600030101010101" pitchFamily="2" charset="-122"/>
              </a:rPr>
              <a:t>D:\MASM&gt;LINK  A.OBJ+B.OBJ</a:t>
            </a:r>
            <a:r>
              <a:rPr lang="zh-CN" altLang="zh-CN"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algn="just"/>
            <a:r>
              <a:rPr lang="zh-CN" altLang="zh-CN" sz="1400" dirty="0">
                <a:latin typeface="宋体" panose="02010600030101010101" pitchFamily="2" charset="-122"/>
                <a:ea typeface="宋体" panose="02010600030101010101" pitchFamily="2" charset="-122"/>
              </a:rPr>
              <a:t>；模块</a:t>
            </a:r>
            <a:r>
              <a:rPr lang="en-US" altLang="zh-CN" sz="1400" dirty="0">
                <a:latin typeface="宋体" panose="02010600030101010101" pitchFamily="2" charset="-122"/>
                <a:ea typeface="宋体" panose="02010600030101010101" pitchFamily="2" charset="-122"/>
              </a:rPr>
              <a:t>a</a:t>
            </a:r>
            <a:r>
              <a:rPr lang="zh-CN" altLang="zh-CN" sz="1400" dirty="0">
                <a:latin typeface="宋体" panose="02010600030101010101" pitchFamily="2" charset="-122"/>
                <a:ea typeface="宋体" panose="02010600030101010101" pitchFamily="2" charset="-122"/>
              </a:rPr>
              <a:t>：源文件名</a:t>
            </a:r>
            <a:r>
              <a:rPr lang="en-US" altLang="zh-CN" sz="1400" dirty="0">
                <a:latin typeface="宋体" panose="02010600030101010101" pitchFamily="2" charset="-122"/>
                <a:ea typeface="宋体" panose="02010600030101010101" pitchFamily="2" charset="-122"/>
              </a:rPr>
              <a:t>A.ASM</a:t>
            </a:r>
            <a:endParaRPr lang="zh-CN" altLang="zh-CN" sz="1400" dirty="0">
              <a:latin typeface="宋体" panose="02010600030101010101" pitchFamily="2" charset="-122"/>
              <a:ea typeface="宋体" panose="02010600030101010101" pitchFamily="2" charset="-122"/>
            </a:endParaRPr>
          </a:p>
          <a:p>
            <a:pPr algn="just"/>
            <a:r>
              <a:rPr lang="en-US" altLang="zh-CN" sz="1400" dirty="0">
                <a:latin typeface="宋体" panose="02010600030101010101" pitchFamily="2" charset="-122"/>
                <a:ea typeface="宋体" panose="02010600030101010101" pitchFamily="2" charset="-122"/>
              </a:rPr>
              <a:t>PUBLIC  SUM                        		;</a:t>
            </a:r>
            <a:r>
              <a:rPr lang="zh-CN" altLang="zh-CN" sz="1400" dirty="0">
                <a:latin typeface="宋体" panose="02010600030101010101" pitchFamily="2" charset="-122"/>
                <a:ea typeface="宋体" panose="02010600030101010101" pitchFamily="2" charset="-122"/>
              </a:rPr>
              <a:t>模块</a:t>
            </a:r>
            <a:r>
              <a:rPr lang="en-US" altLang="zh-CN" sz="1400" dirty="0">
                <a:latin typeface="宋体" panose="02010600030101010101" pitchFamily="2" charset="-122"/>
                <a:ea typeface="宋体" panose="02010600030101010101" pitchFamily="2" charset="-122"/>
              </a:rPr>
              <a:t>b</a:t>
            </a:r>
            <a:r>
              <a:rPr lang="zh-CN" altLang="zh-CN" sz="1400" dirty="0">
                <a:latin typeface="宋体" panose="02010600030101010101" pitchFamily="2" charset="-122"/>
                <a:ea typeface="宋体" panose="02010600030101010101" pitchFamily="2" charset="-122"/>
              </a:rPr>
              <a:t>中引用的变量</a:t>
            </a:r>
          </a:p>
          <a:p>
            <a:pPr algn="just"/>
            <a:r>
              <a:rPr lang="en-US" altLang="zh-CN" sz="1400" dirty="0">
                <a:latin typeface="宋体" panose="02010600030101010101" pitchFamily="2" charset="-122"/>
                <a:ea typeface="宋体" panose="02010600030101010101" pitchFamily="2" charset="-122"/>
              </a:rPr>
              <a:t>EXTRN  PROC2: NEAR                		;</a:t>
            </a:r>
            <a:r>
              <a:rPr lang="zh-CN" altLang="zh-CN" sz="1400" dirty="0">
                <a:latin typeface="宋体" panose="02010600030101010101" pitchFamily="2" charset="-122"/>
                <a:ea typeface="宋体" panose="02010600030101010101" pitchFamily="2" charset="-122"/>
              </a:rPr>
              <a:t>本模块引用的</a:t>
            </a:r>
            <a:r>
              <a:rPr lang="en-US" altLang="zh-CN" sz="1400" dirty="0">
                <a:latin typeface="宋体" panose="02010600030101010101" pitchFamily="2" charset="-122"/>
                <a:ea typeface="宋体" panose="02010600030101010101" pitchFamily="2" charset="-122"/>
              </a:rPr>
              <a:t>b</a:t>
            </a:r>
            <a:r>
              <a:rPr lang="zh-CN" altLang="zh-CN" sz="1400" dirty="0">
                <a:latin typeface="宋体" panose="02010600030101010101" pitchFamily="2" charset="-122"/>
                <a:ea typeface="宋体" panose="02010600030101010101" pitchFamily="2" charset="-122"/>
              </a:rPr>
              <a:t>模块定义过程</a:t>
            </a:r>
          </a:p>
          <a:p>
            <a:pPr algn="just"/>
            <a:r>
              <a:rPr lang="pt-BR" altLang="zh-CN" sz="1400" dirty="0">
                <a:latin typeface="宋体" panose="02010600030101010101" pitchFamily="2" charset="-122"/>
                <a:ea typeface="宋体" panose="02010600030101010101" pitchFamily="2" charset="-122"/>
              </a:rPr>
              <a:t>DATA   SEGMENT   PUBLIC  'DATA'</a:t>
            </a:r>
            <a:endParaRPr lang="zh-CN" altLang="zh-CN" sz="1400" dirty="0">
              <a:latin typeface="宋体" panose="02010600030101010101" pitchFamily="2" charset="-122"/>
              <a:ea typeface="宋体" panose="02010600030101010101" pitchFamily="2" charset="-122"/>
            </a:endParaRPr>
          </a:p>
          <a:p>
            <a:pPr algn="just"/>
            <a:r>
              <a:rPr lang="pt-BR" altLang="zh-CN" sz="1400" dirty="0">
                <a:latin typeface="宋体" panose="02010600030101010101" pitchFamily="2" charset="-122"/>
                <a:ea typeface="宋体" panose="02010600030101010101" pitchFamily="2" charset="-122"/>
              </a:rPr>
              <a:t>   ARRAY   DW     166H,  288H      		</a:t>
            </a:r>
            <a:r>
              <a:rPr lang="en-US" altLang="zh-CN" sz="1400" dirty="0">
                <a:latin typeface="宋体" panose="02010600030101010101" pitchFamily="2" charset="-122"/>
                <a:ea typeface="宋体" panose="02010600030101010101" pitchFamily="2" charset="-122"/>
              </a:rPr>
              <a:t>;</a:t>
            </a:r>
            <a:r>
              <a:rPr lang="zh-CN" altLang="zh-CN" sz="1400" dirty="0">
                <a:latin typeface="宋体" panose="02010600030101010101" pitchFamily="2" charset="-122"/>
                <a:ea typeface="宋体" panose="02010600030101010101" pitchFamily="2" charset="-122"/>
              </a:rPr>
              <a:t>定义两个无符号数据</a:t>
            </a:r>
          </a:p>
          <a:p>
            <a:pPr algn="just"/>
            <a:r>
              <a:rPr lang="pt-BR" altLang="zh-CN" sz="1400" dirty="0">
                <a:latin typeface="宋体" panose="02010600030101010101" pitchFamily="2" charset="-122"/>
                <a:ea typeface="宋体" panose="02010600030101010101" pitchFamily="2" charset="-122"/>
              </a:rPr>
              <a:t>   SUM     DW      ?                		</a:t>
            </a:r>
            <a:r>
              <a:rPr lang="en-US" altLang="zh-CN" sz="1400" dirty="0">
                <a:latin typeface="宋体" panose="02010600030101010101" pitchFamily="2" charset="-122"/>
                <a:ea typeface="宋体" panose="02010600030101010101" pitchFamily="2" charset="-122"/>
              </a:rPr>
              <a:t>;</a:t>
            </a:r>
            <a:r>
              <a:rPr lang="zh-CN" altLang="zh-CN" sz="1400" dirty="0">
                <a:latin typeface="宋体" panose="02010600030101010101" pitchFamily="2" charset="-122"/>
                <a:ea typeface="宋体" panose="02010600030101010101" pitchFamily="2" charset="-122"/>
              </a:rPr>
              <a:t>定义字类型变量，用于保存运算后的</a:t>
            </a:r>
          </a:p>
          <a:p>
            <a:pPr algn="just"/>
            <a:r>
              <a:rPr lang="pt-BR" altLang="zh-CN" sz="1400" dirty="0">
                <a:latin typeface="宋体" panose="02010600030101010101" pitchFamily="2" charset="-122"/>
                <a:ea typeface="宋体" panose="02010600030101010101" pitchFamily="2" charset="-122"/>
              </a:rPr>
              <a:t>DATA   ENDS</a:t>
            </a:r>
            <a:endParaRPr lang="zh-CN" altLang="zh-CN" sz="1400" dirty="0">
              <a:latin typeface="宋体" panose="02010600030101010101" pitchFamily="2" charset="-122"/>
              <a:ea typeface="宋体" panose="02010600030101010101" pitchFamily="2" charset="-122"/>
            </a:endParaRPr>
          </a:p>
          <a:p>
            <a:pPr algn="just"/>
            <a:r>
              <a:rPr lang="pt-BR" altLang="zh-CN" sz="1400" dirty="0">
                <a:latin typeface="宋体" panose="02010600030101010101" pitchFamily="2" charset="-122"/>
                <a:ea typeface="宋体" panose="02010600030101010101" pitchFamily="2" charset="-122"/>
              </a:rPr>
              <a:t>SSEG   SEGMENT   STACK</a:t>
            </a:r>
            <a:endParaRPr lang="zh-CN" altLang="zh-CN" sz="1400" dirty="0">
              <a:latin typeface="宋体" panose="02010600030101010101" pitchFamily="2" charset="-122"/>
              <a:ea typeface="宋体" panose="02010600030101010101" pitchFamily="2" charset="-122"/>
            </a:endParaRPr>
          </a:p>
          <a:p>
            <a:pPr algn="just"/>
            <a:r>
              <a:rPr lang="pt-BR" altLang="zh-CN" sz="1400" dirty="0">
                <a:latin typeface="宋体" panose="02010600030101010101" pitchFamily="2" charset="-122"/>
                <a:ea typeface="宋体" panose="02010600030101010101" pitchFamily="2" charset="-122"/>
              </a:rPr>
              <a:t>           DW     100  DUP  ( ? )     		;</a:t>
            </a:r>
            <a:r>
              <a:rPr lang="zh-CN" altLang="zh-CN" sz="1400" dirty="0">
                <a:latin typeface="宋体" panose="02010600030101010101" pitchFamily="2" charset="-122"/>
                <a:ea typeface="宋体" panose="02010600030101010101" pitchFamily="2" charset="-122"/>
              </a:rPr>
              <a:t>声明</a:t>
            </a:r>
            <a:r>
              <a:rPr lang="pt-BR" altLang="zh-CN" sz="1400" dirty="0">
                <a:latin typeface="宋体" panose="02010600030101010101" pitchFamily="2" charset="-122"/>
                <a:ea typeface="宋体" panose="02010600030101010101" pitchFamily="2" charset="-122"/>
              </a:rPr>
              <a:t>200</a:t>
            </a:r>
            <a:r>
              <a:rPr lang="zh-CN" altLang="zh-CN" sz="1400" dirty="0">
                <a:latin typeface="宋体" panose="02010600030101010101" pitchFamily="2" charset="-122"/>
                <a:ea typeface="宋体" panose="02010600030101010101" pitchFamily="2" charset="-122"/>
              </a:rPr>
              <a:t>个字节堆栈空间</a:t>
            </a:r>
          </a:p>
          <a:p>
            <a:pPr algn="just"/>
            <a:r>
              <a:rPr lang="pt-BR" altLang="zh-CN" sz="1400" dirty="0">
                <a:latin typeface="宋体" panose="02010600030101010101" pitchFamily="2" charset="-122"/>
                <a:ea typeface="宋体" panose="02010600030101010101" pitchFamily="2" charset="-122"/>
              </a:rPr>
              <a:t>    TOS    LABEL     WORD</a:t>
            </a:r>
            <a:endParaRPr lang="zh-CN" altLang="zh-CN" sz="1400" dirty="0">
              <a:latin typeface="宋体" panose="02010600030101010101" pitchFamily="2" charset="-122"/>
              <a:ea typeface="宋体" panose="02010600030101010101" pitchFamily="2" charset="-122"/>
            </a:endParaRPr>
          </a:p>
          <a:p>
            <a:pPr algn="just"/>
            <a:r>
              <a:rPr lang="pt-BR" altLang="zh-CN" sz="1400" dirty="0">
                <a:latin typeface="宋体" panose="02010600030101010101" pitchFamily="2" charset="-122"/>
                <a:ea typeface="宋体" panose="02010600030101010101" pitchFamily="2" charset="-122"/>
              </a:rPr>
              <a:t>SSEG   ENDS</a:t>
            </a:r>
            <a:endParaRPr lang="zh-CN" altLang="zh-CN" sz="1400" dirty="0">
              <a:latin typeface="宋体" panose="02010600030101010101" pitchFamily="2" charset="-122"/>
              <a:ea typeface="宋体" panose="02010600030101010101" pitchFamily="2" charset="-122"/>
            </a:endParaRPr>
          </a:p>
          <a:p>
            <a:pPr algn="just"/>
            <a:r>
              <a:rPr lang="pt-BR" altLang="zh-CN" sz="1400" dirty="0">
                <a:latin typeface="宋体" panose="02010600030101010101" pitchFamily="2" charset="-122"/>
                <a:ea typeface="宋体" panose="02010600030101010101" pitchFamily="2" charset="-122"/>
              </a:rPr>
              <a:t>CODE  SEGMENT   PUBLIC  'CODE'</a:t>
            </a:r>
            <a:endParaRPr lang="zh-CN" altLang="zh-CN" sz="1400" dirty="0">
              <a:latin typeface="宋体" panose="02010600030101010101" pitchFamily="2" charset="-122"/>
              <a:ea typeface="宋体" panose="02010600030101010101" pitchFamily="2" charset="-122"/>
            </a:endParaRPr>
          </a:p>
          <a:p>
            <a:pPr algn="just"/>
            <a:r>
              <a:rPr lang="pt-BR" altLang="zh-CN" sz="1400" dirty="0">
                <a:latin typeface="宋体" panose="02010600030101010101" pitchFamily="2" charset="-122"/>
                <a:ea typeface="宋体" panose="02010600030101010101" pitchFamily="2" charset="-122"/>
              </a:rPr>
              <a:t>       </a:t>
            </a:r>
            <a:r>
              <a:rPr lang="en-US" altLang="zh-CN" sz="1400" dirty="0">
                <a:latin typeface="宋体" panose="02010600030101010101" pitchFamily="2" charset="-122"/>
                <a:ea typeface="宋体" panose="02010600030101010101" pitchFamily="2" charset="-122"/>
              </a:rPr>
              <a:t>ASSUME    CS:CODE,  DS:DATA,  SS:SSEG</a:t>
            </a:r>
            <a:endParaRPr lang="zh-CN" altLang="zh-CN" sz="140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1377"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01378" name="TextBox 4"/>
          <p:cNvSpPr txBox="1"/>
          <p:nvPr/>
        </p:nvSpPr>
        <p:spPr>
          <a:xfrm>
            <a:off x="1071563" y="155575"/>
            <a:ext cx="7483475" cy="6613525"/>
          </a:xfrm>
          <a:prstGeom prst="rect">
            <a:avLst/>
          </a:prstGeom>
          <a:noFill/>
          <a:ln w="9525">
            <a:noFill/>
          </a:ln>
        </p:spPr>
        <p:txBody>
          <a:bodyPr anchor="t" anchorCtr="0">
            <a:spAutoFit/>
          </a:bodyPr>
          <a:lstStyle/>
          <a:p>
            <a:r>
              <a:rPr lang="en-US" altLang="zh-CN" sz="1400" dirty="0">
                <a:latin typeface="宋体" panose="02010600030101010101" pitchFamily="2" charset="-122"/>
                <a:ea typeface="宋体" panose="02010600030101010101" pitchFamily="2" charset="-122"/>
              </a:rPr>
              <a:t>  START:  MOV       AX,  DATA</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MOV       DS,  AX</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MOV       AX,  SSEG</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MOV       SS,  AX</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MOV       SP,  OFFSET  TOS     	;SP</a:t>
            </a:r>
            <a:r>
              <a:rPr lang="zh-CN" altLang="zh-CN" sz="1400" dirty="0">
                <a:latin typeface="宋体" panose="02010600030101010101" pitchFamily="2" charset="-122"/>
                <a:ea typeface="宋体" panose="02010600030101010101" pitchFamily="2" charset="-122"/>
              </a:rPr>
              <a:t>指向栈顶</a:t>
            </a:r>
          </a:p>
          <a:p>
            <a:r>
              <a:rPr lang="en-US" altLang="zh-CN" sz="1400" dirty="0">
                <a:latin typeface="宋体" panose="02010600030101010101" pitchFamily="2" charset="-122"/>
                <a:ea typeface="宋体" panose="02010600030101010101" pitchFamily="2" charset="-122"/>
              </a:rPr>
              <a:t>          MOV       SI,  OFFSET  ARRAY   	;</a:t>
            </a:r>
            <a:r>
              <a:rPr lang="zh-CN" altLang="zh-CN" sz="1400" dirty="0">
                <a:latin typeface="宋体" panose="02010600030101010101" pitchFamily="2" charset="-122"/>
                <a:ea typeface="宋体" panose="02010600030101010101" pitchFamily="2" charset="-122"/>
              </a:rPr>
              <a:t>无符号数首地址送入</a:t>
            </a:r>
            <a:r>
              <a:rPr lang="en-US" altLang="zh-CN" sz="1400" dirty="0">
                <a:latin typeface="宋体" panose="02010600030101010101" pitchFamily="2" charset="-122"/>
                <a:ea typeface="宋体" panose="02010600030101010101" pitchFamily="2" charset="-122"/>
              </a:rPr>
              <a:t>SI</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CALL      PROC1            	;</a:t>
            </a:r>
            <a:r>
              <a:rPr lang="zh-CN" altLang="zh-CN" sz="1400" dirty="0">
                <a:latin typeface="宋体" panose="02010600030101010101" pitchFamily="2" charset="-122"/>
                <a:ea typeface="宋体" panose="02010600030101010101" pitchFamily="2" charset="-122"/>
              </a:rPr>
              <a:t>调用本模块的求和子程序</a:t>
            </a:r>
          </a:p>
          <a:p>
            <a:r>
              <a:rPr lang="en-US" altLang="zh-CN" sz="1400" dirty="0">
                <a:latin typeface="宋体" panose="02010600030101010101" pitchFamily="2" charset="-122"/>
                <a:ea typeface="宋体" panose="02010600030101010101" pitchFamily="2" charset="-122"/>
              </a:rPr>
              <a:t>          MOV       AH,  4CH          	;</a:t>
            </a:r>
            <a:r>
              <a:rPr lang="zh-CN" altLang="zh-CN" sz="1400" dirty="0">
                <a:latin typeface="宋体" panose="02010600030101010101" pitchFamily="2" charset="-122"/>
                <a:ea typeface="宋体" panose="02010600030101010101" pitchFamily="2" charset="-122"/>
              </a:rPr>
              <a:t>返回</a:t>
            </a:r>
            <a:r>
              <a:rPr lang="en-US" altLang="zh-CN" sz="1400" dirty="0">
                <a:latin typeface="宋体" panose="02010600030101010101" pitchFamily="2" charset="-122"/>
                <a:ea typeface="宋体" panose="02010600030101010101" pitchFamily="2" charset="-122"/>
              </a:rPr>
              <a:t>DOS</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INT       21H</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PROC1    PROC      NEAR              	;</a:t>
            </a:r>
            <a:r>
              <a:rPr lang="zh-CN" altLang="zh-CN" sz="1400" dirty="0">
                <a:latin typeface="宋体" panose="02010600030101010101" pitchFamily="2" charset="-122"/>
                <a:ea typeface="宋体" panose="02010600030101010101" pitchFamily="2" charset="-122"/>
              </a:rPr>
              <a:t>实现两个无符号数相加</a:t>
            </a:r>
          </a:p>
          <a:p>
            <a:r>
              <a:rPr lang="en-US" altLang="zh-CN" sz="1400" dirty="0">
                <a:latin typeface="宋体" panose="02010600030101010101" pitchFamily="2" charset="-122"/>
                <a:ea typeface="宋体" panose="02010600030101010101" pitchFamily="2" charset="-122"/>
              </a:rPr>
              <a:t>          PUSH      DX</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PUSH      BX</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PUSH      AX</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PUSH      SI</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PUSH      CX</a:t>
            </a:r>
            <a:endParaRPr lang="zh-CN" altLang="zh-CN" sz="1400" dirty="0">
              <a:latin typeface="宋体" panose="02010600030101010101" pitchFamily="2" charset="-122"/>
              <a:ea typeface="宋体" panose="02010600030101010101" pitchFamily="2" charset="-122"/>
            </a:endParaRPr>
          </a:p>
          <a:p>
            <a:r>
              <a:rPr lang="it-IT" altLang="zh-CN" sz="1400" dirty="0">
                <a:latin typeface="宋体" panose="02010600030101010101" pitchFamily="2" charset="-122"/>
                <a:ea typeface="宋体" panose="02010600030101010101" pitchFamily="2" charset="-122"/>
              </a:rPr>
              <a:t>      </a:t>
            </a:r>
            <a:r>
              <a:rPr lang="en-US" altLang="zh-CN" sz="1400" dirty="0">
                <a:latin typeface="宋体" panose="02010600030101010101" pitchFamily="2" charset="-122"/>
                <a:ea typeface="宋体" panose="02010600030101010101" pitchFamily="2" charset="-122"/>
              </a:rPr>
              <a:t> </a:t>
            </a:r>
            <a:r>
              <a:rPr lang="it-IT" altLang="zh-CN" sz="1400" dirty="0">
                <a:latin typeface="宋体" panose="02010600030101010101" pitchFamily="2" charset="-122"/>
                <a:ea typeface="宋体" panose="02010600030101010101" pitchFamily="2" charset="-122"/>
              </a:rPr>
              <a:t>   MOV       AX,  [SI]          	</a:t>
            </a:r>
            <a:r>
              <a:rPr lang="en-US" altLang="zh-CN" sz="1400" dirty="0">
                <a:latin typeface="宋体" panose="02010600030101010101" pitchFamily="2" charset="-122"/>
                <a:ea typeface="宋体" panose="02010600030101010101" pitchFamily="2" charset="-122"/>
              </a:rPr>
              <a:t>;</a:t>
            </a:r>
            <a:r>
              <a:rPr lang="zh-CN" altLang="zh-CN" sz="1400" dirty="0">
                <a:latin typeface="宋体" panose="02010600030101010101" pitchFamily="2" charset="-122"/>
                <a:ea typeface="宋体" panose="02010600030101010101" pitchFamily="2" charset="-122"/>
              </a:rPr>
              <a:t>首个无符号数送入</a:t>
            </a:r>
            <a:r>
              <a:rPr lang="it-IT" altLang="zh-CN" sz="1400" dirty="0">
                <a:latin typeface="宋体" panose="02010600030101010101" pitchFamily="2" charset="-122"/>
                <a:ea typeface="宋体" panose="02010600030101010101" pitchFamily="2" charset="-122"/>
              </a:rPr>
              <a:t>AX</a:t>
            </a:r>
            <a:endParaRPr lang="zh-CN" altLang="zh-CN" sz="1400" dirty="0">
              <a:latin typeface="宋体" panose="02010600030101010101" pitchFamily="2" charset="-122"/>
              <a:ea typeface="宋体" panose="02010600030101010101" pitchFamily="2" charset="-122"/>
            </a:endParaRPr>
          </a:p>
          <a:p>
            <a:r>
              <a:rPr lang="it-IT" altLang="zh-CN" sz="1400" dirty="0">
                <a:latin typeface="宋体" panose="02010600030101010101" pitchFamily="2" charset="-122"/>
                <a:ea typeface="宋体" panose="02010600030101010101" pitchFamily="2" charset="-122"/>
              </a:rPr>
              <a:t>      </a:t>
            </a:r>
            <a:r>
              <a:rPr lang="en-US" altLang="zh-CN" sz="1400" dirty="0">
                <a:latin typeface="宋体" panose="02010600030101010101" pitchFamily="2" charset="-122"/>
                <a:ea typeface="宋体" panose="02010600030101010101" pitchFamily="2" charset="-122"/>
              </a:rPr>
              <a:t> </a:t>
            </a:r>
            <a:r>
              <a:rPr lang="it-IT" altLang="zh-CN" sz="1400" dirty="0">
                <a:latin typeface="宋体" panose="02010600030101010101" pitchFamily="2" charset="-122"/>
                <a:ea typeface="宋体" panose="02010600030101010101" pitchFamily="2" charset="-122"/>
              </a:rPr>
              <a:t>   ADD       AX,  [SI+2]        	</a:t>
            </a:r>
            <a:r>
              <a:rPr lang="en-US" altLang="zh-CN" sz="1400" dirty="0">
                <a:latin typeface="宋体" panose="02010600030101010101" pitchFamily="2" charset="-122"/>
                <a:ea typeface="宋体" panose="02010600030101010101" pitchFamily="2" charset="-122"/>
              </a:rPr>
              <a:t>;</a:t>
            </a:r>
            <a:r>
              <a:rPr lang="zh-CN" altLang="zh-CN" sz="1400" dirty="0">
                <a:latin typeface="宋体" panose="02010600030101010101" pitchFamily="2" charset="-122"/>
                <a:ea typeface="宋体" panose="02010600030101010101" pitchFamily="2" charset="-122"/>
              </a:rPr>
              <a:t>两个无符号数相加</a:t>
            </a:r>
          </a:p>
          <a:p>
            <a:r>
              <a:rPr lang="en-US" altLang="zh-CN" sz="1400" dirty="0">
                <a:latin typeface="宋体" panose="02010600030101010101" pitchFamily="2" charset="-122"/>
                <a:ea typeface="宋体" panose="02010600030101010101" pitchFamily="2" charset="-122"/>
              </a:rPr>
              <a:t>          MOV      SUM,  AX          	;</a:t>
            </a:r>
            <a:r>
              <a:rPr lang="zh-CN" altLang="zh-CN" sz="1400" dirty="0">
                <a:latin typeface="宋体" panose="02010600030101010101" pitchFamily="2" charset="-122"/>
                <a:ea typeface="宋体" panose="02010600030101010101" pitchFamily="2" charset="-122"/>
              </a:rPr>
              <a:t>和送入</a:t>
            </a:r>
            <a:r>
              <a:rPr lang="en-US" altLang="zh-CN" sz="1400" dirty="0">
                <a:latin typeface="宋体" panose="02010600030101010101" pitchFamily="2" charset="-122"/>
                <a:ea typeface="宋体" panose="02010600030101010101" pitchFamily="2" charset="-122"/>
              </a:rPr>
              <a:t>SUM</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CALL      PROC2             	;</a:t>
            </a:r>
            <a:r>
              <a:rPr lang="zh-CN" altLang="zh-CN" sz="1400" dirty="0">
                <a:latin typeface="宋体" panose="02010600030101010101" pitchFamily="2" charset="-122"/>
                <a:ea typeface="宋体" panose="02010600030101010101" pitchFamily="2" charset="-122"/>
              </a:rPr>
              <a:t>调用</a:t>
            </a:r>
            <a:r>
              <a:rPr lang="en-US" altLang="zh-CN" sz="1400" dirty="0">
                <a:latin typeface="宋体" panose="02010600030101010101" pitchFamily="2" charset="-122"/>
                <a:ea typeface="宋体" panose="02010600030101010101" pitchFamily="2" charset="-122"/>
              </a:rPr>
              <a:t>b</a:t>
            </a:r>
            <a:r>
              <a:rPr lang="zh-CN" altLang="zh-CN" sz="1400" dirty="0">
                <a:latin typeface="宋体" panose="02010600030101010101" pitchFamily="2" charset="-122"/>
                <a:ea typeface="宋体" panose="02010600030101010101" pitchFamily="2" charset="-122"/>
              </a:rPr>
              <a:t>模块中的显示子程序</a:t>
            </a:r>
          </a:p>
          <a:p>
            <a:r>
              <a:rPr lang="en-US" altLang="zh-CN" sz="1400" dirty="0">
                <a:latin typeface="宋体" panose="02010600030101010101" pitchFamily="2" charset="-122"/>
                <a:ea typeface="宋体" panose="02010600030101010101" pitchFamily="2" charset="-122"/>
              </a:rPr>
              <a:t>          POP       CX</a:t>
            </a:r>
            <a:endParaRPr lang="zh-CN" altLang="zh-CN" sz="1400" dirty="0">
              <a:latin typeface="宋体" panose="02010600030101010101" pitchFamily="2" charset="-122"/>
              <a:ea typeface="宋体" panose="02010600030101010101" pitchFamily="2" charset="-122"/>
            </a:endParaRPr>
          </a:p>
          <a:p>
            <a:r>
              <a:rPr lang="fr-FR" altLang="zh-CN" sz="1400" dirty="0">
                <a:latin typeface="宋体" panose="02010600030101010101" pitchFamily="2" charset="-122"/>
                <a:ea typeface="宋体" panose="02010600030101010101" pitchFamily="2" charset="-122"/>
              </a:rPr>
              <a:t>      </a:t>
            </a:r>
            <a:r>
              <a:rPr lang="en-US" altLang="zh-CN" sz="1400" dirty="0">
                <a:latin typeface="宋体" panose="02010600030101010101" pitchFamily="2" charset="-122"/>
                <a:ea typeface="宋体" panose="02010600030101010101" pitchFamily="2" charset="-122"/>
              </a:rPr>
              <a:t> </a:t>
            </a:r>
            <a:r>
              <a:rPr lang="fr-FR" altLang="zh-CN" sz="1400" dirty="0">
                <a:latin typeface="宋体" panose="02010600030101010101" pitchFamily="2" charset="-122"/>
                <a:ea typeface="宋体" panose="02010600030101010101" pitchFamily="2" charset="-122"/>
              </a:rPr>
              <a:t>   POP       SI</a:t>
            </a:r>
            <a:endParaRPr lang="zh-CN" altLang="zh-CN" sz="1400" dirty="0">
              <a:latin typeface="宋体" panose="02010600030101010101" pitchFamily="2" charset="-122"/>
              <a:ea typeface="宋体" panose="02010600030101010101" pitchFamily="2" charset="-122"/>
            </a:endParaRPr>
          </a:p>
          <a:p>
            <a:r>
              <a:rPr lang="fr-FR" altLang="zh-CN" sz="1400" dirty="0">
                <a:latin typeface="宋体" panose="02010600030101010101" pitchFamily="2" charset="-122"/>
                <a:ea typeface="宋体" panose="02010600030101010101" pitchFamily="2" charset="-122"/>
              </a:rPr>
              <a:t>      </a:t>
            </a:r>
            <a:r>
              <a:rPr lang="en-US" altLang="zh-CN" sz="1400" dirty="0">
                <a:latin typeface="宋体" panose="02010600030101010101" pitchFamily="2" charset="-122"/>
                <a:ea typeface="宋体" panose="02010600030101010101" pitchFamily="2" charset="-122"/>
              </a:rPr>
              <a:t> </a:t>
            </a:r>
            <a:r>
              <a:rPr lang="fr-FR" altLang="zh-CN" sz="1400" dirty="0">
                <a:latin typeface="宋体" panose="02010600030101010101" pitchFamily="2" charset="-122"/>
                <a:ea typeface="宋体" panose="02010600030101010101" pitchFamily="2" charset="-122"/>
              </a:rPr>
              <a:t>   POP       AX</a:t>
            </a:r>
            <a:endParaRPr lang="zh-CN" altLang="zh-CN" sz="1400" dirty="0">
              <a:latin typeface="宋体" panose="02010600030101010101" pitchFamily="2" charset="-122"/>
              <a:ea typeface="宋体" panose="02010600030101010101" pitchFamily="2" charset="-122"/>
            </a:endParaRPr>
          </a:p>
          <a:p>
            <a:r>
              <a:rPr lang="fr-FR" altLang="zh-CN" sz="1400" dirty="0">
                <a:latin typeface="宋体" panose="02010600030101010101" pitchFamily="2" charset="-122"/>
                <a:ea typeface="宋体" panose="02010600030101010101" pitchFamily="2" charset="-122"/>
              </a:rPr>
              <a:t>      </a:t>
            </a:r>
            <a:r>
              <a:rPr lang="en-US" altLang="zh-CN" sz="1400" dirty="0">
                <a:latin typeface="宋体" panose="02010600030101010101" pitchFamily="2" charset="-122"/>
                <a:ea typeface="宋体" panose="02010600030101010101" pitchFamily="2" charset="-122"/>
              </a:rPr>
              <a:t> </a:t>
            </a:r>
            <a:r>
              <a:rPr lang="fr-FR" altLang="zh-CN" sz="1400" dirty="0">
                <a:latin typeface="宋体" panose="02010600030101010101" pitchFamily="2" charset="-122"/>
                <a:ea typeface="宋体" panose="02010600030101010101" pitchFamily="2" charset="-122"/>
              </a:rPr>
              <a:t>   POP       BX</a:t>
            </a:r>
            <a:endParaRPr lang="zh-CN" altLang="zh-CN" sz="1400" dirty="0">
              <a:latin typeface="宋体" panose="02010600030101010101" pitchFamily="2" charset="-122"/>
              <a:ea typeface="宋体" panose="02010600030101010101" pitchFamily="2" charset="-122"/>
            </a:endParaRPr>
          </a:p>
          <a:p>
            <a:r>
              <a:rPr lang="fr-FR" altLang="zh-CN" sz="1400" dirty="0">
                <a:latin typeface="宋体" panose="02010600030101010101" pitchFamily="2" charset="-122"/>
                <a:ea typeface="宋体" panose="02010600030101010101" pitchFamily="2" charset="-122"/>
              </a:rPr>
              <a:t>      </a:t>
            </a:r>
            <a:r>
              <a:rPr lang="en-US" altLang="zh-CN" sz="1400" dirty="0">
                <a:latin typeface="宋体" panose="02010600030101010101" pitchFamily="2" charset="-122"/>
                <a:ea typeface="宋体" panose="02010600030101010101" pitchFamily="2" charset="-122"/>
              </a:rPr>
              <a:t> </a:t>
            </a:r>
            <a:r>
              <a:rPr lang="fr-FR" altLang="zh-CN" sz="1400" dirty="0">
                <a:latin typeface="宋体" panose="02010600030101010101" pitchFamily="2" charset="-122"/>
                <a:ea typeface="宋体" panose="02010600030101010101" pitchFamily="2" charset="-122"/>
              </a:rPr>
              <a:t>   POP       DX</a:t>
            </a:r>
            <a:endParaRPr lang="zh-CN" altLang="zh-CN" sz="1400" dirty="0">
              <a:latin typeface="宋体" panose="02010600030101010101" pitchFamily="2" charset="-122"/>
              <a:ea typeface="宋体" panose="02010600030101010101" pitchFamily="2" charset="-122"/>
            </a:endParaRPr>
          </a:p>
          <a:p>
            <a:r>
              <a:rPr lang="fr-FR" altLang="zh-CN" sz="1400" dirty="0">
                <a:latin typeface="宋体" panose="02010600030101010101" pitchFamily="2" charset="-122"/>
                <a:ea typeface="宋体" panose="02010600030101010101" pitchFamily="2" charset="-122"/>
              </a:rPr>
              <a:t>      </a:t>
            </a:r>
            <a:r>
              <a:rPr lang="en-US" altLang="zh-CN" sz="1400" dirty="0">
                <a:latin typeface="宋体" panose="02010600030101010101" pitchFamily="2" charset="-122"/>
                <a:ea typeface="宋体" panose="02010600030101010101" pitchFamily="2" charset="-122"/>
              </a:rPr>
              <a:t> </a:t>
            </a:r>
            <a:r>
              <a:rPr lang="fr-FR" altLang="zh-CN" sz="1400" dirty="0">
                <a:latin typeface="宋体" panose="02010600030101010101" pitchFamily="2" charset="-122"/>
                <a:ea typeface="宋体" panose="02010600030101010101" pitchFamily="2" charset="-122"/>
              </a:rPr>
              <a:t>   RET</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PROC1  ENDP</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CODE   ENDS</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END     START</a:t>
            </a:r>
            <a:endParaRPr lang="zh-CN" altLang="zh-CN" sz="140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3425"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03426" name="TextBox 4"/>
          <p:cNvSpPr txBox="1"/>
          <p:nvPr/>
        </p:nvSpPr>
        <p:spPr>
          <a:xfrm>
            <a:off x="1192213" y="727075"/>
            <a:ext cx="6826250" cy="5910263"/>
          </a:xfrm>
          <a:prstGeom prst="rect">
            <a:avLst/>
          </a:prstGeom>
          <a:noFill/>
          <a:ln w="9525">
            <a:noFill/>
          </a:ln>
        </p:spPr>
        <p:txBody>
          <a:bodyPr wrap="square" anchor="t" anchorCtr="0">
            <a:spAutoFit/>
          </a:bodyPr>
          <a:lstStyle/>
          <a:p>
            <a:r>
              <a:rPr lang="zh-CN" altLang="zh-CN" sz="1400" dirty="0">
                <a:latin typeface="宋体" panose="02010600030101010101" pitchFamily="2" charset="-122"/>
                <a:ea typeface="宋体" panose="02010600030101010101" pitchFamily="2" charset="-122"/>
              </a:rPr>
              <a:t>；模块</a:t>
            </a:r>
            <a:r>
              <a:rPr lang="en-US" altLang="zh-CN" sz="1400" dirty="0">
                <a:latin typeface="宋体" panose="02010600030101010101" pitchFamily="2" charset="-122"/>
                <a:ea typeface="宋体" panose="02010600030101010101" pitchFamily="2" charset="-122"/>
              </a:rPr>
              <a:t>b</a:t>
            </a:r>
            <a:r>
              <a:rPr lang="zh-CN" altLang="zh-CN" sz="1400" dirty="0">
                <a:latin typeface="宋体" panose="02010600030101010101" pitchFamily="2" charset="-122"/>
                <a:ea typeface="宋体" panose="02010600030101010101" pitchFamily="2" charset="-122"/>
              </a:rPr>
              <a:t>：源文件名</a:t>
            </a:r>
            <a:r>
              <a:rPr lang="en-US" altLang="zh-CN" sz="1400" dirty="0">
                <a:latin typeface="宋体" panose="02010600030101010101" pitchFamily="2" charset="-122"/>
                <a:ea typeface="宋体" panose="02010600030101010101" pitchFamily="2" charset="-122"/>
              </a:rPr>
              <a:t>B.ASM</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PUBLIC  PROC2                      	;</a:t>
            </a:r>
            <a:r>
              <a:rPr lang="zh-CN" altLang="zh-CN" sz="1400" dirty="0">
                <a:latin typeface="宋体" panose="02010600030101010101" pitchFamily="2" charset="-122"/>
                <a:ea typeface="宋体" panose="02010600030101010101" pitchFamily="2" charset="-122"/>
              </a:rPr>
              <a:t>模块</a:t>
            </a:r>
            <a:r>
              <a:rPr lang="en-US" altLang="zh-CN" sz="1400" dirty="0">
                <a:latin typeface="宋体" panose="02010600030101010101" pitchFamily="2" charset="-122"/>
                <a:ea typeface="宋体" panose="02010600030101010101" pitchFamily="2" charset="-122"/>
              </a:rPr>
              <a:t>a</a:t>
            </a:r>
            <a:r>
              <a:rPr lang="zh-CN" altLang="zh-CN" sz="1400" dirty="0">
                <a:latin typeface="宋体" panose="02010600030101010101" pitchFamily="2" charset="-122"/>
                <a:ea typeface="宋体" panose="02010600030101010101" pitchFamily="2" charset="-122"/>
              </a:rPr>
              <a:t>中引用的过程</a:t>
            </a:r>
          </a:p>
          <a:p>
            <a:r>
              <a:rPr lang="en-US" altLang="zh-CN" sz="1400" dirty="0">
                <a:latin typeface="宋体" panose="02010600030101010101" pitchFamily="2" charset="-122"/>
                <a:ea typeface="宋体" panose="02010600030101010101" pitchFamily="2" charset="-122"/>
              </a:rPr>
              <a:t>EXTRN  SUM:WORD                  	;</a:t>
            </a:r>
            <a:r>
              <a:rPr lang="zh-CN" altLang="zh-CN" sz="1400" dirty="0">
                <a:latin typeface="宋体" panose="02010600030101010101" pitchFamily="2" charset="-122"/>
                <a:ea typeface="宋体" panose="02010600030101010101" pitchFamily="2" charset="-122"/>
              </a:rPr>
              <a:t>本模块引用的</a:t>
            </a:r>
            <a:r>
              <a:rPr lang="en-US" altLang="zh-CN" sz="1400" dirty="0">
                <a:latin typeface="宋体" panose="02010600030101010101" pitchFamily="2" charset="-122"/>
                <a:ea typeface="宋体" panose="02010600030101010101" pitchFamily="2" charset="-122"/>
              </a:rPr>
              <a:t>a</a:t>
            </a:r>
            <a:r>
              <a:rPr lang="zh-CN" altLang="zh-CN" sz="1400" dirty="0">
                <a:latin typeface="宋体" panose="02010600030101010101" pitchFamily="2" charset="-122"/>
                <a:ea typeface="宋体" panose="02010600030101010101" pitchFamily="2" charset="-122"/>
              </a:rPr>
              <a:t>模块定义的变量</a:t>
            </a:r>
          </a:p>
          <a:p>
            <a:r>
              <a:rPr lang="en-US" altLang="zh-CN" sz="1400" dirty="0">
                <a:latin typeface="宋体" panose="02010600030101010101" pitchFamily="2" charset="-122"/>
                <a:ea typeface="宋体" panose="02010600030101010101" pitchFamily="2" charset="-122"/>
              </a:rPr>
              <a:t>CODE  SEGMENT   PUBLIC 'CODE'</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ASSUME    CS:CODE</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PROC2  PROC      NEAR</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MOV      BX,  SUM        	;</a:t>
            </a:r>
            <a:r>
              <a:rPr lang="zh-CN" altLang="zh-CN" sz="1400" dirty="0">
                <a:latin typeface="宋体" panose="02010600030101010101" pitchFamily="2" charset="-122"/>
                <a:ea typeface="宋体" panose="02010600030101010101" pitchFamily="2" charset="-122"/>
              </a:rPr>
              <a:t>和送入</a:t>
            </a:r>
            <a:r>
              <a:rPr lang="en-US" altLang="zh-CN" sz="1400" dirty="0">
                <a:latin typeface="宋体" panose="02010600030101010101" pitchFamily="2" charset="-122"/>
                <a:ea typeface="宋体" panose="02010600030101010101" pitchFamily="2" charset="-122"/>
              </a:rPr>
              <a:t>BX</a:t>
            </a:r>
            <a:r>
              <a:rPr lang="zh-CN" altLang="zh-CN" sz="1400" dirty="0">
                <a:latin typeface="宋体" panose="02010600030101010101" pitchFamily="2" charset="-122"/>
                <a:ea typeface="宋体" panose="02010600030101010101" pitchFamily="2" charset="-122"/>
              </a:rPr>
              <a:t>中待用</a:t>
            </a:r>
          </a:p>
          <a:p>
            <a:r>
              <a:rPr lang="en-US" altLang="zh-CN" sz="1400" dirty="0">
                <a:latin typeface="宋体" panose="02010600030101010101" pitchFamily="2" charset="-122"/>
                <a:ea typeface="宋体" panose="02010600030101010101" pitchFamily="2" charset="-122"/>
              </a:rPr>
              <a:t>         MOV      CH,  4           	;</a:t>
            </a:r>
            <a:r>
              <a:rPr lang="zh-CN" altLang="zh-CN" sz="1400" dirty="0">
                <a:latin typeface="宋体" panose="02010600030101010101" pitchFamily="2" charset="-122"/>
                <a:ea typeface="宋体" panose="02010600030101010101" pitchFamily="2" charset="-122"/>
              </a:rPr>
              <a:t>循环执行</a:t>
            </a:r>
            <a:r>
              <a:rPr lang="en-US" altLang="zh-CN" sz="1400" dirty="0">
                <a:latin typeface="宋体" panose="02010600030101010101" pitchFamily="2" charset="-122"/>
                <a:ea typeface="宋体" panose="02010600030101010101" pitchFamily="2" charset="-122"/>
              </a:rPr>
              <a:t>4</a:t>
            </a:r>
            <a:r>
              <a:rPr lang="zh-CN" altLang="zh-CN" sz="1400" dirty="0">
                <a:latin typeface="宋体" panose="02010600030101010101" pitchFamily="2" charset="-122"/>
                <a:ea typeface="宋体" panose="02010600030101010101" pitchFamily="2" charset="-122"/>
              </a:rPr>
              <a:t>次</a:t>
            </a:r>
          </a:p>
          <a:p>
            <a:r>
              <a:rPr lang="en-US" altLang="zh-CN" sz="1400" dirty="0">
                <a:latin typeface="宋体" panose="02010600030101010101" pitchFamily="2" charset="-122"/>
                <a:ea typeface="宋体" panose="02010600030101010101" pitchFamily="2" charset="-122"/>
              </a:rPr>
              <a:t>  AGAIN: MOV      CL,  4</a:t>
            </a:r>
            <a:endParaRPr lang="zh-CN" altLang="zh-CN" sz="1400" dirty="0">
              <a:latin typeface="宋体" panose="02010600030101010101" pitchFamily="2" charset="-122"/>
              <a:ea typeface="宋体" panose="02010600030101010101" pitchFamily="2" charset="-122"/>
            </a:endParaRPr>
          </a:p>
          <a:p>
            <a:r>
              <a:rPr lang="en-US" altLang="zh-CN" sz="1400" dirty="0">
                <a:latin typeface="宋体" panose="02010600030101010101" pitchFamily="2" charset="-122"/>
                <a:ea typeface="宋体" panose="02010600030101010101" pitchFamily="2" charset="-122"/>
              </a:rPr>
              <a:t>         ROL      BX,  CL          	;</a:t>
            </a:r>
            <a:r>
              <a:rPr lang="zh-CN" altLang="zh-CN" sz="1400" dirty="0">
                <a:latin typeface="宋体" panose="02010600030101010101" pitchFamily="2" charset="-122"/>
                <a:ea typeface="宋体" panose="02010600030101010101" pitchFamily="2" charset="-122"/>
              </a:rPr>
              <a:t>高</a:t>
            </a:r>
            <a:r>
              <a:rPr lang="en-US" altLang="zh-CN" sz="1400" dirty="0">
                <a:latin typeface="宋体" panose="02010600030101010101" pitchFamily="2" charset="-122"/>
                <a:ea typeface="宋体" panose="02010600030101010101" pitchFamily="2" charset="-122"/>
              </a:rPr>
              <a:t>4</a:t>
            </a:r>
            <a:r>
              <a:rPr lang="zh-CN" altLang="zh-CN" sz="1400" dirty="0">
                <a:latin typeface="宋体" panose="02010600030101010101" pitchFamily="2" charset="-122"/>
                <a:ea typeface="宋体" panose="02010600030101010101" pitchFamily="2" charset="-122"/>
              </a:rPr>
              <a:t>位循环移入低</a:t>
            </a:r>
            <a:r>
              <a:rPr lang="en-US" altLang="zh-CN" sz="1400" dirty="0">
                <a:latin typeface="宋体" panose="02010600030101010101" pitchFamily="2" charset="-122"/>
                <a:ea typeface="宋体" panose="02010600030101010101" pitchFamily="2" charset="-122"/>
              </a:rPr>
              <a:t>4</a:t>
            </a:r>
            <a:r>
              <a:rPr lang="zh-CN" altLang="zh-CN" sz="1400" dirty="0">
                <a:latin typeface="宋体" panose="02010600030101010101" pitchFamily="2" charset="-122"/>
                <a:ea typeface="宋体" panose="02010600030101010101" pitchFamily="2" charset="-122"/>
              </a:rPr>
              <a:t>位</a:t>
            </a:r>
          </a:p>
          <a:p>
            <a:r>
              <a:rPr lang="en-US" altLang="zh-CN" sz="1400" dirty="0">
                <a:latin typeface="宋体" panose="02010600030101010101" pitchFamily="2" charset="-122"/>
                <a:ea typeface="宋体" panose="02010600030101010101" pitchFamily="2" charset="-122"/>
              </a:rPr>
              <a:t>         </a:t>
            </a:r>
            <a:r>
              <a:rPr lang="it-IT" altLang="zh-CN" sz="1400" dirty="0">
                <a:latin typeface="宋体" panose="02010600030101010101" pitchFamily="2" charset="-122"/>
                <a:ea typeface="宋体" panose="02010600030101010101" pitchFamily="2" charset="-122"/>
              </a:rPr>
              <a:t>MOV      AL,  BL</a:t>
            </a:r>
            <a:endParaRPr lang="zh-CN" altLang="zh-CN" sz="1400" dirty="0">
              <a:latin typeface="宋体" panose="02010600030101010101" pitchFamily="2" charset="-122"/>
              <a:ea typeface="宋体" panose="02010600030101010101" pitchFamily="2" charset="-122"/>
            </a:endParaRPr>
          </a:p>
          <a:p>
            <a:r>
              <a:rPr lang="it-IT" altLang="zh-CN" sz="1400" dirty="0">
                <a:latin typeface="宋体" panose="02010600030101010101" pitchFamily="2" charset="-122"/>
                <a:ea typeface="宋体" panose="02010600030101010101" pitchFamily="2" charset="-122"/>
              </a:rPr>
              <a:t>       </a:t>
            </a:r>
            <a:r>
              <a:rPr lang="en-US" altLang="zh-CN" sz="1400" dirty="0">
                <a:latin typeface="宋体" panose="02010600030101010101" pitchFamily="2" charset="-122"/>
                <a:ea typeface="宋体" panose="02010600030101010101" pitchFamily="2" charset="-122"/>
              </a:rPr>
              <a:t> </a:t>
            </a:r>
            <a:r>
              <a:rPr lang="it-IT" altLang="zh-CN" sz="1400" dirty="0">
                <a:latin typeface="宋体" panose="02010600030101010101" pitchFamily="2" charset="-122"/>
                <a:ea typeface="宋体" panose="02010600030101010101" pitchFamily="2" charset="-122"/>
              </a:rPr>
              <a:t> AND      AL,  0FH         	</a:t>
            </a:r>
            <a:r>
              <a:rPr lang="en-US" altLang="zh-CN" sz="1400" dirty="0">
                <a:latin typeface="宋体" panose="02010600030101010101" pitchFamily="2" charset="-122"/>
                <a:ea typeface="宋体" panose="02010600030101010101" pitchFamily="2" charset="-122"/>
              </a:rPr>
              <a:t>;</a:t>
            </a:r>
            <a:r>
              <a:rPr lang="zh-CN" altLang="zh-CN" sz="1400" dirty="0">
                <a:latin typeface="宋体" panose="02010600030101010101" pitchFamily="2" charset="-122"/>
                <a:ea typeface="宋体" panose="02010600030101010101" pitchFamily="2" charset="-122"/>
              </a:rPr>
              <a:t>移入的低</a:t>
            </a:r>
            <a:r>
              <a:rPr lang="it-IT" altLang="zh-CN" sz="1400" dirty="0">
                <a:latin typeface="宋体" panose="02010600030101010101" pitchFamily="2" charset="-122"/>
                <a:ea typeface="宋体" panose="02010600030101010101" pitchFamily="2" charset="-122"/>
              </a:rPr>
              <a:t>4</a:t>
            </a:r>
            <a:r>
              <a:rPr lang="zh-CN" altLang="zh-CN" sz="1400" dirty="0">
                <a:latin typeface="宋体" panose="02010600030101010101" pitchFamily="2" charset="-122"/>
                <a:ea typeface="宋体" panose="02010600030101010101" pitchFamily="2" charset="-122"/>
              </a:rPr>
              <a:t>位保留，其他位清零</a:t>
            </a:r>
          </a:p>
          <a:p>
            <a:r>
              <a:rPr lang="it-IT" altLang="zh-CN" sz="1400" dirty="0">
                <a:latin typeface="宋体" panose="02010600030101010101" pitchFamily="2" charset="-122"/>
                <a:ea typeface="宋体" panose="02010600030101010101" pitchFamily="2" charset="-122"/>
              </a:rPr>
              <a:t>       </a:t>
            </a:r>
            <a:r>
              <a:rPr lang="en-US" altLang="zh-CN" sz="1400" dirty="0">
                <a:latin typeface="宋体" panose="02010600030101010101" pitchFamily="2" charset="-122"/>
                <a:ea typeface="宋体" panose="02010600030101010101" pitchFamily="2" charset="-122"/>
              </a:rPr>
              <a:t> </a:t>
            </a:r>
            <a:r>
              <a:rPr lang="it-IT" altLang="zh-CN" sz="1400" dirty="0">
                <a:latin typeface="宋体" panose="02010600030101010101" pitchFamily="2" charset="-122"/>
                <a:ea typeface="宋体" panose="02010600030101010101" pitchFamily="2" charset="-122"/>
              </a:rPr>
              <a:t> ADD      AL,  30H         	;</a:t>
            </a:r>
            <a:r>
              <a:rPr lang="zh-CN" altLang="zh-CN" sz="1400" dirty="0">
                <a:latin typeface="宋体" panose="02010600030101010101" pitchFamily="2" charset="-122"/>
                <a:ea typeface="宋体" panose="02010600030101010101" pitchFamily="2" charset="-122"/>
              </a:rPr>
              <a:t>低</a:t>
            </a:r>
            <a:r>
              <a:rPr lang="it-IT" altLang="zh-CN" sz="1400" dirty="0">
                <a:latin typeface="宋体" panose="02010600030101010101" pitchFamily="2" charset="-122"/>
                <a:ea typeface="宋体" panose="02010600030101010101" pitchFamily="2" charset="-122"/>
              </a:rPr>
              <a:t>4</a:t>
            </a:r>
            <a:r>
              <a:rPr lang="zh-CN" altLang="zh-CN" sz="1400" dirty="0">
                <a:latin typeface="宋体" panose="02010600030101010101" pitchFamily="2" charset="-122"/>
                <a:ea typeface="宋体" panose="02010600030101010101" pitchFamily="2" charset="-122"/>
              </a:rPr>
              <a:t>位转换成</a:t>
            </a:r>
            <a:r>
              <a:rPr lang="it-IT" altLang="zh-CN" sz="1400" dirty="0">
                <a:latin typeface="宋体" panose="02010600030101010101" pitchFamily="2" charset="-122"/>
                <a:ea typeface="宋体" panose="02010600030101010101" pitchFamily="2" charset="-122"/>
              </a:rPr>
              <a:t>ASCII</a:t>
            </a:r>
            <a:r>
              <a:rPr lang="zh-CN" altLang="zh-CN" sz="1400" dirty="0">
                <a:latin typeface="宋体" panose="02010600030101010101" pitchFamily="2" charset="-122"/>
                <a:ea typeface="宋体" panose="02010600030101010101" pitchFamily="2" charset="-122"/>
              </a:rPr>
              <a:t>码</a:t>
            </a:r>
          </a:p>
          <a:p>
            <a:r>
              <a:rPr lang="it-IT" altLang="zh-CN" sz="1400" dirty="0">
                <a:latin typeface="宋体" panose="02010600030101010101" pitchFamily="2" charset="-122"/>
                <a:ea typeface="宋体" panose="02010600030101010101" pitchFamily="2" charset="-122"/>
              </a:rPr>
              <a:t>         CMP      AL,  3AH         	;</a:t>
            </a:r>
            <a:r>
              <a:rPr lang="zh-CN" altLang="zh-CN" sz="1400" dirty="0">
                <a:latin typeface="宋体" panose="02010600030101010101" pitchFamily="2" charset="-122"/>
                <a:ea typeface="宋体" panose="02010600030101010101" pitchFamily="2" charset="-122"/>
              </a:rPr>
              <a:t>判断是否为</a:t>
            </a:r>
            <a:r>
              <a:rPr lang="it-IT" altLang="zh-CN" sz="1400" dirty="0">
                <a:latin typeface="宋体" panose="02010600030101010101" pitchFamily="2" charset="-122"/>
                <a:ea typeface="宋体" panose="02010600030101010101" pitchFamily="2" charset="-122"/>
              </a:rPr>
              <a:t>0</a:t>
            </a:r>
            <a:r>
              <a:rPr lang="zh-CN" altLang="zh-CN" sz="1400" dirty="0">
                <a:latin typeface="宋体" panose="02010600030101010101" pitchFamily="2" charset="-122"/>
                <a:ea typeface="宋体" panose="02010600030101010101" pitchFamily="2" charset="-122"/>
              </a:rPr>
              <a:t>～</a:t>
            </a:r>
            <a:r>
              <a:rPr lang="it-IT" altLang="zh-CN" sz="1400" dirty="0">
                <a:latin typeface="宋体" panose="02010600030101010101" pitchFamily="2" charset="-122"/>
                <a:ea typeface="宋体" panose="02010600030101010101" pitchFamily="2" charset="-122"/>
              </a:rPr>
              <a:t>9</a:t>
            </a:r>
            <a:r>
              <a:rPr lang="zh-CN" altLang="zh-CN" sz="1400" dirty="0">
                <a:latin typeface="宋体" panose="02010600030101010101" pitchFamily="2" charset="-122"/>
                <a:ea typeface="宋体" panose="02010600030101010101" pitchFamily="2" charset="-122"/>
              </a:rPr>
              <a:t>的</a:t>
            </a:r>
            <a:r>
              <a:rPr lang="it-IT" altLang="zh-CN" sz="1400" dirty="0">
                <a:latin typeface="宋体" panose="02010600030101010101" pitchFamily="2" charset="-122"/>
                <a:ea typeface="宋体" panose="02010600030101010101" pitchFamily="2" charset="-122"/>
              </a:rPr>
              <a:t>ASCII</a:t>
            </a:r>
            <a:r>
              <a:rPr lang="zh-CN" altLang="zh-CN" sz="1400" dirty="0">
                <a:latin typeface="宋体" panose="02010600030101010101" pitchFamily="2" charset="-122"/>
                <a:ea typeface="宋体" panose="02010600030101010101" pitchFamily="2" charset="-122"/>
              </a:rPr>
              <a:t>码</a:t>
            </a:r>
          </a:p>
          <a:p>
            <a:r>
              <a:rPr lang="it-IT" altLang="zh-CN" sz="1400" dirty="0">
                <a:latin typeface="宋体" panose="02010600030101010101" pitchFamily="2" charset="-122"/>
                <a:ea typeface="宋体" panose="02010600030101010101" pitchFamily="2" charset="-122"/>
              </a:rPr>
              <a:t>         JL       NEXT              	;</a:t>
            </a:r>
            <a:r>
              <a:rPr lang="zh-CN" altLang="zh-CN" sz="1400" dirty="0">
                <a:latin typeface="宋体" panose="02010600030101010101" pitchFamily="2" charset="-122"/>
                <a:ea typeface="宋体" panose="02010600030101010101" pitchFamily="2" charset="-122"/>
              </a:rPr>
              <a:t>如果是</a:t>
            </a:r>
            <a:r>
              <a:rPr lang="it-IT" altLang="zh-CN" sz="1400" dirty="0">
                <a:latin typeface="宋体" panose="02010600030101010101" pitchFamily="2" charset="-122"/>
                <a:ea typeface="宋体" panose="02010600030101010101" pitchFamily="2" charset="-122"/>
              </a:rPr>
              <a:t>0</a:t>
            </a:r>
            <a:r>
              <a:rPr lang="zh-CN" altLang="zh-CN" sz="1400" dirty="0">
                <a:latin typeface="宋体" panose="02010600030101010101" pitchFamily="2" charset="-122"/>
                <a:ea typeface="宋体" panose="02010600030101010101" pitchFamily="2" charset="-122"/>
              </a:rPr>
              <a:t>～</a:t>
            </a:r>
            <a:r>
              <a:rPr lang="it-IT" altLang="zh-CN" sz="1400" dirty="0">
                <a:latin typeface="宋体" panose="02010600030101010101" pitchFamily="2" charset="-122"/>
                <a:ea typeface="宋体" panose="02010600030101010101" pitchFamily="2" charset="-122"/>
              </a:rPr>
              <a:t>9</a:t>
            </a:r>
            <a:r>
              <a:rPr lang="zh-CN" altLang="zh-CN" sz="1400" dirty="0">
                <a:latin typeface="宋体" panose="02010600030101010101" pitchFamily="2" charset="-122"/>
                <a:ea typeface="宋体" panose="02010600030101010101" pitchFamily="2" charset="-122"/>
              </a:rPr>
              <a:t>的</a:t>
            </a:r>
            <a:r>
              <a:rPr lang="it-IT" altLang="zh-CN" sz="1400" dirty="0">
                <a:latin typeface="宋体" panose="02010600030101010101" pitchFamily="2" charset="-122"/>
                <a:ea typeface="宋体" panose="02010600030101010101" pitchFamily="2" charset="-122"/>
              </a:rPr>
              <a:t>ASCII</a:t>
            </a:r>
            <a:r>
              <a:rPr lang="zh-CN" altLang="zh-CN" sz="1400" dirty="0">
                <a:latin typeface="宋体" panose="02010600030101010101" pitchFamily="2" charset="-122"/>
                <a:ea typeface="宋体" panose="02010600030101010101" pitchFamily="2" charset="-122"/>
              </a:rPr>
              <a:t>码，则跳转</a:t>
            </a:r>
          </a:p>
          <a:p>
            <a:r>
              <a:rPr lang="it-IT" altLang="zh-CN" sz="1400" dirty="0">
                <a:latin typeface="宋体" panose="02010600030101010101" pitchFamily="2" charset="-122"/>
                <a:ea typeface="宋体" panose="02010600030101010101" pitchFamily="2" charset="-122"/>
              </a:rPr>
              <a:t>         ADD      AL,  07H         	;</a:t>
            </a:r>
            <a:r>
              <a:rPr lang="zh-CN" altLang="zh-CN" sz="1400" dirty="0">
                <a:latin typeface="宋体" panose="02010600030101010101" pitchFamily="2" charset="-122"/>
                <a:ea typeface="宋体" panose="02010600030101010101" pitchFamily="2" charset="-122"/>
              </a:rPr>
              <a:t>转换成</a:t>
            </a:r>
            <a:r>
              <a:rPr lang="it-IT" altLang="zh-CN" sz="1400" dirty="0">
                <a:latin typeface="宋体" panose="02010600030101010101" pitchFamily="2" charset="-122"/>
                <a:ea typeface="宋体" panose="02010600030101010101" pitchFamily="2" charset="-122"/>
              </a:rPr>
              <a:t>A</a:t>
            </a:r>
            <a:r>
              <a:rPr lang="zh-CN" altLang="zh-CN" sz="1400" dirty="0">
                <a:latin typeface="宋体" panose="02010600030101010101" pitchFamily="2" charset="-122"/>
                <a:ea typeface="宋体" panose="02010600030101010101" pitchFamily="2" charset="-122"/>
              </a:rPr>
              <a:t>～</a:t>
            </a:r>
            <a:r>
              <a:rPr lang="it-IT" altLang="zh-CN" sz="1400" dirty="0">
                <a:latin typeface="宋体" panose="02010600030101010101" pitchFamily="2" charset="-122"/>
                <a:ea typeface="宋体" panose="02010600030101010101" pitchFamily="2" charset="-122"/>
              </a:rPr>
              <a:t>F</a:t>
            </a:r>
            <a:r>
              <a:rPr lang="zh-CN" altLang="zh-CN" sz="1400" dirty="0">
                <a:latin typeface="宋体" panose="02010600030101010101" pitchFamily="2" charset="-122"/>
                <a:ea typeface="宋体" panose="02010600030101010101" pitchFamily="2" charset="-122"/>
              </a:rPr>
              <a:t>的</a:t>
            </a:r>
            <a:r>
              <a:rPr lang="it-IT" altLang="zh-CN" sz="1400" dirty="0">
                <a:latin typeface="宋体" panose="02010600030101010101" pitchFamily="2" charset="-122"/>
                <a:ea typeface="宋体" panose="02010600030101010101" pitchFamily="2" charset="-122"/>
              </a:rPr>
              <a:t>ASCII</a:t>
            </a:r>
            <a:r>
              <a:rPr lang="zh-CN" altLang="zh-CN" sz="1400" dirty="0">
                <a:latin typeface="宋体" panose="02010600030101010101" pitchFamily="2" charset="-122"/>
                <a:ea typeface="宋体" panose="02010600030101010101" pitchFamily="2" charset="-122"/>
              </a:rPr>
              <a:t>码</a:t>
            </a:r>
          </a:p>
          <a:p>
            <a:r>
              <a:rPr lang="it-IT" altLang="zh-CN" sz="1400" dirty="0">
                <a:latin typeface="宋体" panose="02010600030101010101" pitchFamily="2" charset="-122"/>
                <a:ea typeface="宋体" panose="02010600030101010101" pitchFamily="2" charset="-122"/>
              </a:rPr>
              <a:t> NEXT:   MOV      DL,  AL          	;</a:t>
            </a:r>
            <a:r>
              <a:rPr lang="zh-CN" altLang="zh-CN" sz="1400" dirty="0">
                <a:latin typeface="宋体" panose="02010600030101010101" pitchFamily="2" charset="-122"/>
                <a:ea typeface="宋体" panose="02010600030101010101" pitchFamily="2" charset="-122"/>
              </a:rPr>
              <a:t>入口参数</a:t>
            </a:r>
            <a:r>
              <a:rPr lang="it-IT" altLang="zh-CN" sz="1400" dirty="0">
                <a:latin typeface="宋体" panose="02010600030101010101" pitchFamily="2" charset="-122"/>
                <a:ea typeface="宋体" panose="02010600030101010101" pitchFamily="2" charset="-122"/>
              </a:rPr>
              <a:t>DL = </a:t>
            </a:r>
            <a:r>
              <a:rPr lang="zh-CN" altLang="zh-CN" sz="1400" dirty="0">
                <a:latin typeface="宋体" panose="02010600030101010101" pitchFamily="2" charset="-122"/>
                <a:ea typeface="宋体" panose="02010600030101010101" pitchFamily="2" charset="-122"/>
              </a:rPr>
              <a:t>输出字符</a:t>
            </a:r>
          </a:p>
          <a:p>
            <a:r>
              <a:rPr lang="it-IT" altLang="zh-CN" sz="1400" dirty="0">
                <a:latin typeface="宋体" panose="02010600030101010101" pitchFamily="2" charset="-122"/>
                <a:ea typeface="宋体" panose="02010600030101010101" pitchFamily="2" charset="-122"/>
              </a:rPr>
              <a:t>         MOV      AH,  2           	;2</a:t>
            </a:r>
            <a:r>
              <a:rPr lang="zh-CN" altLang="zh-CN" sz="1400" dirty="0">
                <a:latin typeface="宋体" panose="02010600030101010101" pitchFamily="2" charset="-122"/>
                <a:ea typeface="宋体" panose="02010600030101010101" pitchFamily="2" charset="-122"/>
              </a:rPr>
              <a:t>号功能为显示输出</a:t>
            </a:r>
          </a:p>
          <a:p>
            <a:r>
              <a:rPr lang="it-IT" altLang="zh-CN" sz="1400" dirty="0">
                <a:latin typeface="宋体" panose="02010600030101010101" pitchFamily="2" charset="-122"/>
                <a:ea typeface="宋体" panose="02010600030101010101" pitchFamily="2" charset="-122"/>
              </a:rPr>
              <a:t>         INT      21H               	;DOS</a:t>
            </a:r>
            <a:r>
              <a:rPr lang="zh-CN" altLang="zh-CN" sz="1400" dirty="0">
                <a:latin typeface="宋体" panose="02010600030101010101" pitchFamily="2" charset="-122"/>
                <a:ea typeface="宋体" panose="02010600030101010101" pitchFamily="2" charset="-122"/>
              </a:rPr>
              <a:t>功能调用</a:t>
            </a:r>
          </a:p>
          <a:p>
            <a:r>
              <a:rPr lang="it-IT" altLang="zh-CN" sz="1400" dirty="0">
                <a:latin typeface="宋体" panose="02010600030101010101" pitchFamily="2" charset="-122"/>
                <a:ea typeface="宋体" panose="02010600030101010101" pitchFamily="2" charset="-122"/>
              </a:rPr>
              <a:t>         DEC      CH               	;</a:t>
            </a:r>
            <a:r>
              <a:rPr lang="zh-CN" altLang="zh-CN" sz="1400" dirty="0">
                <a:latin typeface="宋体" panose="02010600030101010101" pitchFamily="2" charset="-122"/>
                <a:ea typeface="宋体" panose="02010600030101010101" pitchFamily="2" charset="-122"/>
              </a:rPr>
              <a:t>循环次数减</a:t>
            </a:r>
            <a:r>
              <a:rPr lang="it-IT" altLang="zh-CN" sz="1400" dirty="0">
                <a:latin typeface="宋体" panose="02010600030101010101" pitchFamily="2" charset="-122"/>
                <a:ea typeface="宋体" panose="02010600030101010101" pitchFamily="2" charset="-122"/>
              </a:rPr>
              <a:t>1</a:t>
            </a:r>
            <a:endParaRPr lang="zh-CN" altLang="zh-CN" sz="1400" dirty="0">
              <a:latin typeface="宋体" panose="02010600030101010101" pitchFamily="2" charset="-122"/>
              <a:ea typeface="宋体" panose="02010600030101010101" pitchFamily="2" charset="-122"/>
            </a:endParaRPr>
          </a:p>
          <a:p>
            <a:r>
              <a:rPr lang="it-IT" altLang="zh-CN" sz="1400" dirty="0">
                <a:latin typeface="宋体" panose="02010600030101010101" pitchFamily="2" charset="-122"/>
                <a:ea typeface="宋体" panose="02010600030101010101" pitchFamily="2" charset="-122"/>
              </a:rPr>
              <a:t>         JNZ      AGAIN            	;</a:t>
            </a:r>
            <a:r>
              <a:rPr lang="zh-CN" altLang="zh-CN" sz="1400" dirty="0">
                <a:latin typeface="宋体" panose="02010600030101010101" pitchFamily="2" charset="-122"/>
                <a:ea typeface="宋体" panose="02010600030101010101" pitchFamily="2" charset="-122"/>
              </a:rPr>
              <a:t>循环</a:t>
            </a:r>
            <a:r>
              <a:rPr lang="it-IT" altLang="zh-CN" sz="1400" dirty="0">
                <a:latin typeface="宋体" panose="02010600030101010101" pitchFamily="2" charset="-122"/>
                <a:ea typeface="宋体" panose="02010600030101010101" pitchFamily="2" charset="-122"/>
              </a:rPr>
              <a:t>4</a:t>
            </a:r>
            <a:r>
              <a:rPr lang="zh-CN" altLang="zh-CN" sz="1400" dirty="0">
                <a:latin typeface="宋体" panose="02010600030101010101" pitchFamily="2" charset="-122"/>
                <a:ea typeface="宋体" panose="02010600030101010101" pitchFamily="2" charset="-122"/>
              </a:rPr>
              <a:t>次退出</a:t>
            </a:r>
          </a:p>
          <a:p>
            <a:r>
              <a:rPr lang="it-IT" altLang="zh-CN" sz="1400" dirty="0">
                <a:latin typeface="宋体" panose="02010600030101010101" pitchFamily="2" charset="-122"/>
                <a:ea typeface="宋体" panose="02010600030101010101" pitchFamily="2" charset="-122"/>
              </a:rPr>
              <a:t>         RET</a:t>
            </a:r>
            <a:endParaRPr lang="zh-CN" altLang="zh-CN" sz="1400" dirty="0">
              <a:latin typeface="宋体" panose="02010600030101010101" pitchFamily="2" charset="-122"/>
              <a:ea typeface="宋体" panose="02010600030101010101" pitchFamily="2" charset="-122"/>
            </a:endParaRPr>
          </a:p>
          <a:p>
            <a:r>
              <a:rPr lang="it-IT" altLang="zh-CN" sz="1400" dirty="0">
                <a:latin typeface="宋体" panose="02010600030101010101" pitchFamily="2" charset="-122"/>
                <a:ea typeface="宋体" panose="02010600030101010101" pitchFamily="2" charset="-122"/>
              </a:rPr>
              <a:t> PROC2   ENDP</a:t>
            </a:r>
            <a:endParaRPr lang="zh-CN" altLang="zh-CN" sz="1400" dirty="0">
              <a:latin typeface="宋体" panose="02010600030101010101" pitchFamily="2" charset="-122"/>
              <a:ea typeface="宋体" panose="02010600030101010101" pitchFamily="2" charset="-122"/>
            </a:endParaRPr>
          </a:p>
          <a:p>
            <a:r>
              <a:rPr lang="it-IT" altLang="zh-CN" sz="1400" dirty="0">
                <a:latin typeface="宋体" panose="02010600030101010101" pitchFamily="2" charset="-122"/>
                <a:ea typeface="宋体" panose="02010600030101010101" pitchFamily="2" charset="-122"/>
              </a:rPr>
              <a:t>CODE     ENDS</a:t>
            </a:r>
            <a:endParaRPr lang="zh-CN" altLang="zh-CN" sz="1400" dirty="0">
              <a:latin typeface="宋体" panose="02010600030101010101" pitchFamily="2" charset="-122"/>
              <a:ea typeface="宋体" panose="02010600030101010101" pitchFamily="2" charset="-122"/>
            </a:endParaRPr>
          </a:p>
          <a:p>
            <a:r>
              <a:rPr lang="it-IT" altLang="zh-CN" sz="1400" dirty="0">
                <a:latin typeface="宋体" panose="02010600030101010101" pitchFamily="2" charset="-122"/>
                <a:ea typeface="宋体" panose="02010600030101010101" pitchFamily="2" charset="-122"/>
              </a:rPr>
              <a:t>         END</a:t>
            </a:r>
            <a:endParaRPr lang="zh-CN" altLang="zh-CN" sz="140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4.5.6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宏定义与使用</a:t>
            </a:r>
          </a:p>
        </p:txBody>
      </p:sp>
      <p:sp>
        <p:nvSpPr>
          <p:cNvPr id="10547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05475" name="TextBox 4"/>
          <p:cNvSpPr txBox="1"/>
          <p:nvPr/>
        </p:nvSpPr>
        <p:spPr>
          <a:xfrm>
            <a:off x="417513" y="1465263"/>
            <a:ext cx="8202612" cy="5145087"/>
          </a:xfrm>
          <a:prstGeom prst="rect">
            <a:avLst/>
          </a:prstGeom>
          <a:noFill/>
          <a:ln w="9525">
            <a:noFill/>
          </a:ln>
        </p:spPr>
        <p:txBody>
          <a:bodyPr anchor="t" anchorCtr="0">
            <a:spAutoFit/>
          </a:bodyPr>
          <a:lstStyle/>
          <a:p>
            <a:r>
              <a:rPr lang="zh-CN" altLang="zh-CN" sz="2000" dirty="0">
                <a:latin typeface="宋体" panose="02010600030101010101" pitchFamily="2" charset="-122"/>
                <a:ea typeface="宋体" panose="02010600030101010101" pitchFamily="2" charset="-122"/>
              </a:rPr>
              <a:t>宏是源程序中一段有独立功能的程序代码。它只需在汇编语言源程序中定义一次便可以多次反复调用。调用时只需要一条宏指令即可。</a:t>
            </a:r>
          </a:p>
          <a:p>
            <a:r>
              <a:rPr lang="zh-CN" altLang="zh-CN" sz="2000" dirty="0">
                <a:solidFill>
                  <a:srgbClr val="FF3300"/>
                </a:solidFill>
                <a:latin typeface="宋体" panose="02010600030101010101" pitchFamily="2" charset="-122"/>
                <a:ea typeface="宋体" panose="02010600030101010101" pitchFamily="2" charset="-122"/>
              </a:rPr>
              <a:t>【例</a:t>
            </a:r>
            <a:r>
              <a:rPr lang="en-US" altLang="zh-CN" sz="2000" dirty="0">
                <a:solidFill>
                  <a:srgbClr val="FF3300"/>
                </a:solidFill>
                <a:latin typeface="宋体" panose="02010600030101010101" pitchFamily="2" charset="-122"/>
                <a:ea typeface="宋体" panose="02010600030101010101" pitchFamily="2" charset="-122"/>
              </a:rPr>
              <a:t>4.11</a:t>
            </a:r>
            <a:r>
              <a:rPr lang="zh-CN" altLang="zh-CN" sz="2000" dirty="0">
                <a:solidFill>
                  <a:srgbClr val="FF3300"/>
                </a:solidFill>
                <a:latin typeface="宋体" panose="02010600030101010101" pitchFamily="2" charset="-122"/>
                <a:ea typeface="宋体" panose="02010600030101010101" pitchFamily="2" charset="-122"/>
              </a:rPr>
              <a:t>】</a:t>
            </a:r>
            <a:r>
              <a:rPr lang="zh-CN" altLang="zh-CN" sz="2000" dirty="0">
                <a:latin typeface="宋体" panose="02010600030101010101" pitchFamily="2" charset="-122"/>
                <a:ea typeface="宋体" panose="02010600030101010101" pitchFamily="2" charset="-122"/>
              </a:rPr>
              <a:t>实现无符号数组的求和。</a:t>
            </a:r>
          </a:p>
          <a:p>
            <a:r>
              <a:rPr lang="zh-CN" altLang="zh-CN" sz="2000" dirty="0">
                <a:latin typeface="宋体" panose="02010600030101010101" pitchFamily="2" charset="-122"/>
                <a:ea typeface="宋体" panose="02010600030101010101" pitchFamily="2" charset="-122"/>
              </a:rPr>
              <a:t>说明：当源程序被汇编时，汇编程序对每个宏调用进行宏扩展。宏调用中实参数之间用逗号隔开。实参数是形式参数的实际代替。实参数和形式参数的顺序一致。原则上，实参数的个数应和形式参数的个数相等。若实参数的个数大于形式参数的个数，则在替换时多余的实参数不予考虑。若实参数的个数小于形式参数的个数，则多余的形式参数作为空（字符）或零（数字）处理。</a:t>
            </a:r>
            <a:endParaRPr lang="en-US" altLang="zh-CN" sz="20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SUM_W  MACRO  OP1</a:t>
            </a:r>
            <a:r>
              <a:rPr lang="zh-CN" altLang="zh-CN" sz="1600" dirty="0">
                <a:latin typeface="宋体" panose="02010600030101010101" pitchFamily="2" charset="-122"/>
                <a:ea typeface="宋体" panose="02010600030101010101" pitchFamily="2" charset="-122"/>
              </a:rPr>
              <a:t>，</a:t>
            </a:r>
            <a:r>
              <a:rPr lang="en-US" altLang="zh-CN" sz="1600" dirty="0">
                <a:latin typeface="宋体" panose="02010600030101010101" pitchFamily="2" charset="-122"/>
                <a:ea typeface="宋体" panose="02010600030101010101" pitchFamily="2" charset="-122"/>
              </a:rPr>
              <a:t>OP2      	    ;</a:t>
            </a:r>
            <a:r>
              <a:rPr lang="zh-CN" altLang="zh-CN" sz="1600" dirty="0">
                <a:latin typeface="宋体" panose="02010600030101010101" pitchFamily="2" charset="-122"/>
                <a:ea typeface="宋体" panose="02010600030101010101" pitchFamily="2" charset="-122"/>
              </a:rPr>
              <a:t>数组元素连续相加宏指令</a:t>
            </a:r>
          </a:p>
          <a:p>
            <a:r>
              <a:rPr lang="en-US" altLang="zh-CN" sz="1600" dirty="0">
                <a:latin typeface="宋体" panose="02010600030101010101" pitchFamily="2" charset="-122"/>
                <a:ea typeface="宋体" panose="02010600030101010101" pitchFamily="2" charset="-122"/>
              </a:rPr>
              <a:t>      NEXT</a:t>
            </a:r>
            <a:r>
              <a:rPr lang="zh-CN" altLang="zh-CN" sz="1600" dirty="0">
                <a:latin typeface="宋体" panose="02010600030101010101" pitchFamily="2" charset="-122"/>
                <a:ea typeface="宋体" panose="02010600030101010101" pitchFamily="2" charset="-122"/>
              </a:rPr>
              <a:t>：</a:t>
            </a:r>
            <a:r>
              <a:rPr lang="en-US" altLang="zh-CN" sz="1600" dirty="0">
                <a:latin typeface="宋体" panose="02010600030101010101" pitchFamily="2" charset="-122"/>
                <a:ea typeface="宋体" panose="02010600030101010101" pitchFamily="2" charset="-122"/>
              </a:rPr>
              <a:t>ADD     OP1</a:t>
            </a:r>
            <a:r>
              <a:rPr lang="zh-CN" altLang="zh-CN" sz="1600" dirty="0">
                <a:latin typeface="宋体" panose="02010600030101010101" pitchFamily="2" charset="-122"/>
                <a:ea typeface="宋体" panose="02010600030101010101" pitchFamily="2" charset="-122"/>
              </a:rPr>
              <a:t>，</a:t>
            </a:r>
            <a:r>
              <a:rPr lang="en-US" altLang="zh-CN" sz="1600" dirty="0">
                <a:latin typeface="宋体" panose="02010600030101010101" pitchFamily="2" charset="-122"/>
                <a:ea typeface="宋体" panose="02010600030101010101" pitchFamily="2" charset="-122"/>
              </a:rPr>
              <a:t>[OP2]</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ADD     OP2</a:t>
            </a:r>
            <a:r>
              <a:rPr lang="zh-CN" altLang="zh-CN" sz="1600" dirty="0">
                <a:latin typeface="宋体" panose="02010600030101010101" pitchFamily="2" charset="-122"/>
                <a:ea typeface="宋体" panose="02010600030101010101" pitchFamily="2" charset="-122"/>
              </a:rPr>
              <a:t>， </a:t>
            </a:r>
            <a:r>
              <a:rPr lang="en-US" altLang="zh-CN" sz="1600" dirty="0">
                <a:latin typeface="宋体" panose="02010600030101010101" pitchFamily="2" charset="-122"/>
                <a:ea typeface="宋体" panose="02010600030101010101" pitchFamily="2" charset="-122"/>
              </a:rPr>
              <a:t>2</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LOOP     NEXT            </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ENDM</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EXIT   MACRO                       ;</a:t>
            </a:r>
            <a:r>
              <a:rPr lang="zh-CN" altLang="zh-CN" sz="1600" dirty="0">
                <a:latin typeface="宋体" panose="02010600030101010101" pitchFamily="2" charset="-122"/>
                <a:ea typeface="宋体" panose="02010600030101010101" pitchFamily="2" charset="-122"/>
              </a:rPr>
              <a:t>返回</a:t>
            </a:r>
            <a:r>
              <a:rPr lang="en-US" altLang="zh-CN" sz="1600" dirty="0">
                <a:latin typeface="宋体" panose="02010600030101010101" pitchFamily="2" charset="-122"/>
                <a:ea typeface="宋体" panose="02010600030101010101" pitchFamily="2" charset="-122"/>
              </a:rPr>
              <a:t>DOS</a:t>
            </a:r>
            <a:r>
              <a:rPr lang="zh-CN" altLang="zh-CN" sz="1600" dirty="0">
                <a:latin typeface="宋体" panose="02010600030101010101" pitchFamily="2" charset="-122"/>
                <a:ea typeface="宋体" panose="02010600030101010101" pitchFamily="2" charset="-122"/>
              </a:rPr>
              <a:t>宏指令</a:t>
            </a:r>
          </a:p>
          <a:p>
            <a:r>
              <a:rPr lang="en-US" altLang="zh-CN" sz="1600" dirty="0">
                <a:latin typeface="宋体" panose="02010600030101010101" pitchFamily="2" charset="-122"/>
                <a:ea typeface="宋体" panose="02010600030101010101" pitchFamily="2" charset="-122"/>
              </a:rPr>
              <a:t>            MOV     AH</a:t>
            </a:r>
            <a:r>
              <a:rPr lang="zh-CN" altLang="zh-CN" sz="1600" dirty="0">
                <a:latin typeface="宋体" panose="02010600030101010101" pitchFamily="2" charset="-122"/>
                <a:ea typeface="宋体" panose="02010600030101010101" pitchFamily="2" charset="-122"/>
              </a:rPr>
              <a:t>，</a:t>
            </a:r>
            <a:r>
              <a:rPr lang="en-US" altLang="zh-CN" sz="1600" dirty="0">
                <a:latin typeface="宋体" panose="02010600030101010101" pitchFamily="2" charset="-122"/>
                <a:ea typeface="宋体" panose="02010600030101010101" pitchFamily="2" charset="-122"/>
              </a:rPr>
              <a:t>4CH</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INT     21H</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ENDM</a:t>
            </a:r>
            <a:endParaRPr lang="zh-CN" altLang="zh-CN" sz="160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4.5.6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宏定义与使用</a:t>
            </a:r>
          </a:p>
        </p:txBody>
      </p:sp>
      <p:sp>
        <p:nvSpPr>
          <p:cNvPr id="107522"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07523" name="TextBox 4"/>
          <p:cNvSpPr txBox="1"/>
          <p:nvPr/>
        </p:nvSpPr>
        <p:spPr>
          <a:xfrm>
            <a:off x="417513" y="1428750"/>
            <a:ext cx="8202612" cy="5218113"/>
          </a:xfrm>
          <a:prstGeom prst="rect">
            <a:avLst/>
          </a:prstGeom>
          <a:noFill/>
          <a:ln w="9525">
            <a:noFill/>
          </a:ln>
        </p:spPr>
        <p:txBody>
          <a:bodyPr anchor="t" anchorCtr="0">
            <a:spAutoFit/>
          </a:bodyPr>
          <a:lstStyle/>
          <a:p>
            <a:r>
              <a:rPr lang="en-US" altLang="zh-CN" sz="1800" dirty="0">
                <a:latin typeface="宋体" panose="02010600030101010101" pitchFamily="2" charset="-122"/>
                <a:ea typeface="宋体" panose="02010600030101010101" pitchFamily="2" charset="-122"/>
              </a:rPr>
              <a:t>    DSEG   SEGMENT</a:t>
            </a:r>
            <a:endParaRPr lang="zh-CN" altLang="zh-CN" sz="1800" dirty="0">
              <a:latin typeface="宋体" panose="02010600030101010101" pitchFamily="2" charset="-122"/>
              <a:ea typeface="宋体" panose="02010600030101010101" pitchFamily="2" charset="-122"/>
            </a:endParaRPr>
          </a:p>
          <a:p>
            <a:r>
              <a:rPr lang="en-US" altLang="zh-CN" sz="1800" dirty="0">
                <a:latin typeface="宋体" panose="02010600030101010101" pitchFamily="2" charset="-122"/>
                <a:ea typeface="宋体" panose="02010600030101010101" pitchFamily="2" charset="-122"/>
              </a:rPr>
              <a:t>      ARRAY  DW        1, 2, 3, 4, 5, 6, 7, 8, 9, 10</a:t>
            </a:r>
            <a:endParaRPr lang="zh-CN" altLang="zh-CN" sz="1800" dirty="0">
              <a:latin typeface="宋体" panose="02010600030101010101" pitchFamily="2" charset="-122"/>
              <a:ea typeface="宋体" panose="02010600030101010101" pitchFamily="2" charset="-122"/>
            </a:endParaRPr>
          </a:p>
          <a:p>
            <a:r>
              <a:rPr lang="en-US" altLang="zh-CN" sz="1800" dirty="0">
                <a:latin typeface="宋体" panose="02010600030101010101" pitchFamily="2" charset="-122"/>
                <a:ea typeface="宋体" panose="02010600030101010101" pitchFamily="2" charset="-122"/>
              </a:rPr>
              <a:t>      COUNT  DW        ($-ARRAY)/2</a:t>
            </a:r>
            <a:endParaRPr lang="zh-CN" altLang="zh-CN" sz="1800" dirty="0">
              <a:latin typeface="宋体" panose="02010600030101010101" pitchFamily="2" charset="-122"/>
              <a:ea typeface="宋体" panose="02010600030101010101" pitchFamily="2" charset="-122"/>
            </a:endParaRPr>
          </a:p>
          <a:p>
            <a:r>
              <a:rPr lang="en-US" altLang="zh-CN" sz="1800" dirty="0">
                <a:latin typeface="宋体" panose="02010600030101010101" pitchFamily="2" charset="-122"/>
                <a:ea typeface="宋体" panose="02010600030101010101" pitchFamily="2" charset="-122"/>
              </a:rPr>
              <a:t>        SUM  DW        ?</a:t>
            </a:r>
            <a:endParaRPr lang="zh-CN" altLang="zh-CN" sz="1800" dirty="0">
              <a:latin typeface="宋体" panose="02010600030101010101" pitchFamily="2" charset="-122"/>
              <a:ea typeface="宋体" panose="02010600030101010101" pitchFamily="2" charset="-122"/>
            </a:endParaRPr>
          </a:p>
          <a:p>
            <a:r>
              <a:rPr lang="en-US" altLang="zh-CN" sz="1800" dirty="0">
                <a:latin typeface="宋体" panose="02010600030101010101" pitchFamily="2" charset="-122"/>
                <a:ea typeface="宋体" panose="02010600030101010101" pitchFamily="2" charset="-122"/>
              </a:rPr>
              <a:t>    DSEG  ENDS</a:t>
            </a:r>
            <a:endParaRPr lang="zh-CN" altLang="zh-CN" sz="1800" dirty="0">
              <a:latin typeface="宋体" panose="02010600030101010101" pitchFamily="2" charset="-122"/>
              <a:ea typeface="宋体" panose="02010600030101010101" pitchFamily="2" charset="-122"/>
            </a:endParaRPr>
          </a:p>
          <a:p>
            <a:r>
              <a:rPr lang="en-US" altLang="zh-CN" sz="1800" dirty="0">
                <a:latin typeface="宋体" panose="02010600030101010101" pitchFamily="2" charset="-122"/>
                <a:ea typeface="宋体" panose="02010600030101010101" pitchFamily="2" charset="-122"/>
              </a:rPr>
              <a:t>    CSEG  SEGMENT</a:t>
            </a:r>
            <a:endParaRPr lang="zh-CN" altLang="zh-CN" sz="1800" dirty="0">
              <a:latin typeface="宋体" panose="02010600030101010101" pitchFamily="2" charset="-122"/>
              <a:ea typeface="宋体" panose="02010600030101010101" pitchFamily="2" charset="-122"/>
            </a:endParaRPr>
          </a:p>
          <a:p>
            <a:r>
              <a:rPr lang="en-US" altLang="zh-CN" sz="1800" dirty="0">
                <a:latin typeface="宋体" panose="02010600030101010101" pitchFamily="2" charset="-122"/>
                <a:ea typeface="宋体" panose="02010600030101010101" pitchFamily="2" charset="-122"/>
              </a:rPr>
              <a:t>           ASSUME    CS</a:t>
            </a:r>
            <a:r>
              <a:rPr lang="zh-CN" altLang="zh-CN"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CSEG,  DS</a:t>
            </a:r>
            <a:r>
              <a:rPr lang="zh-CN" altLang="zh-CN"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DSEG  </a:t>
            </a:r>
            <a:endParaRPr lang="zh-CN" altLang="zh-CN" sz="1800" dirty="0">
              <a:latin typeface="宋体" panose="02010600030101010101" pitchFamily="2" charset="-122"/>
              <a:ea typeface="宋体" panose="02010600030101010101" pitchFamily="2" charset="-122"/>
            </a:endParaRPr>
          </a:p>
          <a:p>
            <a:r>
              <a:rPr lang="en-US" altLang="zh-CN" sz="1800" dirty="0">
                <a:latin typeface="宋体" panose="02010600030101010101" pitchFamily="2" charset="-122"/>
                <a:ea typeface="宋体" panose="02010600030101010101" pitchFamily="2" charset="-122"/>
              </a:rPr>
              <a:t>     START</a:t>
            </a:r>
            <a:r>
              <a:rPr lang="zh-CN" altLang="zh-CN"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MOV      AX</a:t>
            </a:r>
            <a:r>
              <a:rPr lang="zh-CN" altLang="zh-CN"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DSEG</a:t>
            </a:r>
            <a:endParaRPr lang="zh-CN" altLang="zh-CN" sz="1800" dirty="0">
              <a:latin typeface="宋体" panose="02010600030101010101" pitchFamily="2" charset="-122"/>
              <a:ea typeface="宋体" panose="02010600030101010101" pitchFamily="2" charset="-122"/>
            </a:endParaRPr>
          </a:p>
          <a:p>
            <a:r>
              <a:rPr lang="en-US" altLang="zh-CN" sz="1800" dirty="0">
                <a:latin typeface="宋体" panose="02010600030101010101" pitchFamily="2" charset="-122"/>
                <a:ea typeface="宋体" panose="02010600030101010101" pitchFamily="2" charset="-122"/>
              </a:rPr>
              <a:t>            MOV       DS</a:t>
            </a:r>
            <a:r>
              <a:rPr lang="zh-CN" altLang="zh-CN"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AX</a:t>
            </a:r>
            <a:endParaRPr lang="zh-CN" altLang="zh-CN" sz="1800" dirty="0">
              <a:latin typeface="宋体" panose="02010600030101010101" pitchFamily="2" charset="-122"/>
              <a:ea typeface="宋体" panose="02010600030101010101" pitchFamily="2" charset="-122"/>
            </a:endParaRPr>
          </a:p>
          <a:p>
            <a:r>
              <a:rPr lang="en-US" altLang="zh-CN" sz="1800" dirty="0">
                <a:latin typeface="宋体" panose="02010600030101010101" pitchFamily="2" charset="-122"/>
                <a:ea typeface="宋体" panose="02010600030101010101" pitchFamily="2" charset="-122"/>
              </a:rPr>
              <a:t>            LEA       SI</a:t>
            </a:r>
            <a:r>
              <a:rPr lang="zh-CN" altLang="zh-CN"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ARRAY    		;</a:t>
            </a:r>
            <a:r>
              <a:rPr lang="zh-CN" altLang="zh-CN" sz="1800" dirty="0">
                <a:latin typeface="宋体" panose="02010600030101010101" pitchFamily="2" charset="-122"/>
                <a:ea typeface="宋体" panose="02010600030101010101" pitchFamily="2" charset="-122"/>
              </a:rPr>
              <a:t>取数组的首地址</a:t>
            </a:r>
          </a:p>
          <a:p>
            <a:r>
              <a:rPr lang="en-US" altLang="zh-CN" sz="1800" dirty="0">
                <a:latin typeface="宋体" panose="02010600030101010101" pitchFamily="2" charset="-122"/>
                <a:ea typeface="宋体" panose="02010600030101010101" pitchFamily="2" charset="-122"/>
              </a:rPr>
              <a:t>            MOV       CX</a:t>
            </a:r>
            <a:r>
              <a:rPr lang="zh-CN" altLang="zh-CN"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COUNT   		;</a:t>
            </a:r>
            <a:r>
              <a:rPr lang="zh-CN" altLang="zh-CN" sz="1800" dirty="0">
                <a:latin typeface="宋体" panose="02010600030101010101" pitchFamily="2" charset="-122"/>
                <a:ea typeface="宋体" panose="02010600030101010101" pitchFamily="2" charset="-122"/>
              </a:rPr>
              <a:t>取数组中元素的个数</a:t>
            </a:r>
          </a:p>
          <a:p>
            <a:r>
              <a:rPr lang="en-US" altLang="zh-CN" sz="1800" dirty="0">
                <a:latin typeface="宋体" panose="02010600030101010101" pitchFamily="2" charset="-122"/>
                <a:ea typeface="宋体" panose="02010600030101010101" pitchFamily="2" charset="-122"/>
              </a:rPr>
              <a:t>            XOR       AX</a:t>
            </a:r>
            <a:r>
              <a:rPr lang="zh-CN" altLang="zh-CN"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AX      		;AX</a:t>
            </a:r>
            <a:r>
              <a:rPr lang="zh-CN" altLang="zh-CN" sz="1800" dirty="0">
                <a:latin typeface="宋体" panose="02010600030101010101" pitchFamily="2" charset="-122"/>
                <a:ea typeface="宋体" panose="02010600030101010101" pitchFamily="2" charset="-122"/>
              </a:rPr>
              <a:t>清零</a:t>
            </a:r>
          </a:p>
          <a:p>
            <a:r>
              <a:rPr lang="en-US" altLang="zh-CN" sz="1800" dirty="0">
                <a:latin typeface="宋体" panose="02010600030101010101" pitchFamily="2" charset="-122"/>
                <a:ea typeface="宋体" panose="02010600030101010101" pitchFamily="2" charset="-122"/>
              </a:rPr>
              <a:t>            SUM_W     AX</a:t>
            </a:r>
            <a:r>
              <a:rPr lang="zh-CN" altLang="zh-CN"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SI       		;</a:t>
            </a:r>
            <a:r>
              <a:rPr lang="zh-CN" altLang="zh-CN" sz="1800" dirty="0">
                <a:latin typeface="宋体" panose="02010600030101010101" pitchFamily="2" charset="-122"/>
                <a:ea typeface="宋体" panose="02010600030101010101" pitchFamily="2" charset="-122"/>
              </a:rPr>
              <a:t>数组求和宏调用</a:t>
            </a:r>
          </a:p>
          <a:p>
            <a:r>
              <a:rPr lang="en-US" altLang="zh-CN" sz="1800" dirty="0">
                <a:latin typeface="宋体" panose="02010600030101010101" pitchFamily="2" charset="-122"/>
                <a:ea typeface="宋体" panose="02010600030101010101" pitchFamily="2" charset="-122"/>
              </a:rPr>
              <a:t>            MOV       SUM</a:t>
            </a:r>
            <a:r>
              <a:rPr lang="zh-CN" altLang="zh-CN"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AX</a:t>
            </a:r>
            <a:endParaRPr lang="zh-CN" altLang="zh-CN" sz="1800" dirty="0">
              <a:latin typeface="宋体" panose="02010600030101010101" pitchFamily="2" charset="-122"/>
              <a:ea typeface="宋体" panose="02010600030101010101" pitchFamily="2" charset="-122"/>
            </a:endParaRPr>
          </a:p>
          <a:p>
            <a:r>
              <a:rPr lang="en-US" altLang="zh-CN" sz="1800" dirty="0">
                <a:latin typeface="宋体" panose="02010600030101010101" pitchFamily="2" charset="-122"/>
                <a:ea typeface="宋体" panose="02010600030101010101" pitchFamily="2" charset="-122"/>
              </a:rPr>
              <a:t>            EXIT</a:t>
            </a:r>
            <a:endParaRPr lang="zh-CN" altLang="zh-CN" sz="1800" dirty="0">
              <a:latin typeface="宋体" panose="02010600030101010101" pitchFamily="2" charset="-122"/>
              <a:ea typeface="宋体" panose="02010600030101010101" pitchFamily="2" charset="-122"/>
            </a:endParaRPr>
          </a:p>
          <a:p>
            <a:r>
              <a:rPr lang="en-US" altLang="zh-CN" sz="1800" dirty="0">
                <a:latin typeface="宋体" panose="02010600030101010101" pitchFamily="2" charset="-122"/>
                <a:ea typeface="宋体" panose="02010600030101010101" pitchFamily="2" charset="-122"/>
              </a:rPr>
              <a:t>     CSEG  ENDS</a:t>
            </a:r>
            <a:endParaRPr lang="zh-CN" altLang="zh-CN" sz="1800" dirty="0">
              <a:latin typeface="宋体" panose="02010600030101010101" pitchFamily="2" charset="-122"/>
              <a:ea typeface="宋体" panose="02010600030101010101" pitchFamily="2" charset="-122"/>
            </a:endParaRPr>
          </a:p>
          <a:p>
            <a:r>
              <a:rPr lang="en-US" altLang="zh-CN" sz="1800" dirty="0">
                <a:latin typeface="宋体" panose="02010600030101010101" pitchFamily="2" charset="-122"/>
                <a:ea typeface="宋体" panose="02010600030101010101" pitchFamily="2" charset="-122"/>
              </a:rPr>
              <a:t>            END       START</a:t>
            </a:r>
            <a:endParaRPr lang="zh-CN" altLang="zh-CN" sz="180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4.5.7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系统功能调用</a:t>
            </a:r>
          </a:p>
        </p:txBody>
      </p:sp>
      <p:sp>
        <p:nvSpPr>
          <p:cNvPr id="109570"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09571" name="TextBox 4"/>
          <p:cNvSpPr txBox="1"/>
          <p:nvPr/>
        </p:nvSpPr>
        <p:spPr>
          <a:xfrm>
            <a:off x="417513" y="1428750"/>
            <a:ext cx="8202612" cy="5167313"/>
          </a:xfrm>
          <a:prstGeom prst="rect">
            <a:avLst/>
          </a:prstGeom>
          <a:noFill/>
          <a:ln w="9525">
            <a:noFill/>
          </a:ln>
        </p:spPr>
        <p:txBody>
          <a:bodyPr anchor="t" anchorCtr="0">
            <a:spAutoFit/>
          </a:bodyPr>
          <a:lstStyle/>
          <a:p>
            <a:pPr algn="just"/>
            <a:r>
              <a:rPr lang="en-US" altLang="zh-CN" sz="1800" dirty="0">
                <a:latin typeface="Times New Roman" panose="02020603050405020304" pitchFamily="18" charset="0"/>
                <a:ea typeface="宋体" panose="02010600030101010101" pitchFamily="2" charset="-122"/>
              </a:rPr>
              <a:t>1</a:t>
            </a:r>
            <a:r>
              <a:rPr lang="zh-CN" altLang="zh-CN" sz="1800" dirty="0">
                <a:latin typeface="Times New Roman" panose="02020603050405020304" pitchFamily="18" charset="0"/>
                <a:ea typeface="宋体" panose="02010600030101010101" pitchFamily="2" charset="-122"/>
              </a:rPr>
              <a:t>．概述</a:t>
            </a:r>
          </a:p>
          <a:p>
            <a:pPr algn="just"/>
            <a:r>
              <a:rPr lang="en-US" altLang="zh-CN" sz="1800" dirty="0">
                <a:latin typeface="Times New Roman" panose="02020603050405020304" pitchFamily="18" charset="0"/>
                <a:ea typeface="宋体" panose="02010600030101010101" pitchFamily="2" charset="-122"/>
              </a:rPr>
              <a:t>         DOS</a:t>
            </a:r>
            <a:r>
              <a:rPr lang="zh-CN" altLang="zh-CN" sz="1800" dirty="0">
                <a:latin typeface="Times New Roman" panose="02020603050405020304" pitchFamily="18" charset="0"/>
                <a:ea typeface="宋体" panose="02010600030101010101" pitchFamily="2" charset="-122"/>
              </a:rPr>
              <a:t>（</a:t>
            </a:r>
            <a:r>
              <a:rPr lang="en-US" altLang="zh-CN" sz="1800" dirty="0">
                <a:latin typeface="Times New Roman" panose="02020603050405020304" pitchFamily="18" charset="0"/>
                <a:ea typeface="宋体" panose="02010600030101010101" pitchFamily="2" charset="-122"/>
              </a:rPr>
              <a:t>Disk Operation System</a:t>
            </a:r>
            <a:r>
              <a:rPr lang="zh-CN" altLang="zh-CN" sz="1800" dirty="0">
                <a:latin typeface="Times New Roman" panose="02020603050405020304" pitchFamily="18" charset="0"/>
                <a:ea typeface="宋体" panose="02010600030101010101" pitchFamily="2" charset="-122"/>
              </a:rPr>
              <a:t>）和</a:t>
            </a:r>
            <a:r>
              <a:rPr lang="en-US" altLang="zh-CN" sz="1800" dirty="0">
                <a:latin typeface="Times New Roman" panose="02020603050405020304" pitchFamily="18" charset="0"/>
                <a:ea typeface="宋体" panose="02010600030101010101" pitchFamily="2" charset="-122"/>
              </a:rPr>
              <a:t>BIOS</a:t>
            </a:r>
            <a:r>
              <a:rPr lang="zh-CN" altLang="zh-CN" sz="1800" dirty="0">
                <a:latin typeface="Times New Roman" panose="02020603050405020304" pitchFamily="18" charset="0"/>
                <a:ea typeface="宋体" panose="02010600030101010101" pitchFamily="2" charset="-122"/>
              </a:rPr>
              <a:t>（</a:t>
            </a:r>
            <a:r>
              <a:rPr lang="en-US" altLang="zh-CN" sz="1800" dirty="0">
                <a:latin typeface="Times New Roman" panose="02020603050405020304" pitchFamily="18" charset="0"/>
                <a:ea typeface="宋体" panose="02010600030101010101" pitchFamily="2" charset="-122"/>
              </a:rPr>
              <a:t>Basic Input and Output System</a:t>
            </a:r>
            <a:r>
              <a:rPr lang="zh-CN" altLang="zh-CN" sz="1800" dirty="0">
                <a:latin typeface="Times New Roman" panose="02020603050405020304" pitchFamily="18" charset="0"/>
                <a:ea typeface="宋体" panose="02010600030101010101" pitchFamily="2" charset="-122"/>
              </a:rPr>
              <a:t>）为用户提供了两组系统服务程序。用户程序可以调用这些系统服务程序。在调用时有如下特点。</a:t>
            </a:r>
          </a:p>
          <a:p>
            <a:pPr algn="just"/>
            <a:r>
              <a:rPr lang="zh-CN" altLang="zh-CN" sz="1800" dirty="0">
                <a:latin typeface="Times New Roman" panose="02020603050405020304" pitchFamily="18" charset="0"/>
                <a:ea typeface="宋体" panose="02010600030101010101" pitchFamily="2" charset="-122"/>
              </a:rPr>
              <a:t>（</a:t>
            </a:r>
            <a:r>
              <a:rPr lang="en-US" altLang="zh-CN" sz="1800" dirty="0">
                <a:latin typeface="Times New Roman" panose="02020603050405020304" pitchFamily="18" charset="0"/>
                <a:ea typeface="宋体" panose="02010600030101010101" pitchFamily="2" charset="-122"/>
              </a:rPr>
              <a:t>1</a:t>
            </a:r>
            <a:r>
              <a:rPr lang="zh-CN" altLang="zh-CN" sz="1800" dirty="0">
                <a:latin typeface="Times New Roman" panose="02020603050405020304" pitchFamily="18" charset="0"/>
                <a:ea typeface="宋体" panose="02010600030101010101" pitchFamily="2" charset="-122"/>
              </a:rPr>
              <a:t>）与过程调用不同，不用</a:t>
            </a:r>
            <a:r>
              <a:rPr lang="en-US" altLang="zh-CN" sz="1800" dirty="0">
                <a:latin typeface="Times New Roman" panose="02020603050405020304" pitchFamily="18" charset="0"/>
                <a:ea typeface="宋体" panose="02010600030101010101" pitchFamily="2" charset="-122"/>
              </a:rPr>
              <a:t>CALL</a:t>
            </a:r>
            <a:r>
              <a:rPr lang="zh-CN" altLang="zh-CN" sz="1800" dirty="0">
                <a:latin typeface="Times New Roman" panose="02020603050405020304" pitchFamily="18" charset="0"/>
                <a:ea typeface="宋体" panose="02010600030101010101" pitchFamily="2" charset="-122"/>
              </a:rPr>
              <a:t>指令。</a:t>
            </a:r>
          </a:p>
          <a:p>
            <a:pPr algn="just"/>
            <a:r>
              <a:rPr lang="zh-CN" altLang="zh-CN" sz="1800" dirty="0">
                <a:latin typeface="Times New Roman" panose="02020603050405020304" pitchFamily="18" charset="0"/>
                <a:ea typeface="宋体" panose="02010600030101010101" pitchFamily="2" charset="-122"/>
              </a:rPr>
              <a:t>（</a:t>
            </a:r>
            <a:r>
              <a:rPr lang="en-US" altLang="zh-CN" sz="1800" dirty="0">
                <a:latin typeface="Times New Roman" panose="02020603050405020304" pitchFamily="18" charset="0"/>
                <a:ea typeface="宋体" panose="02010600030101010101" pitchFamily="2" charset="-122"/>
              </a:rPr>
              <a:t>2</a:t>
            </a:r>
            <a:r>
              <a:rPr lang="zh-CN" altLang="zh-CN" sz="1800" dirty="0">
                <a:latin typeface="Times New Roman" panose="02020603050405020304" pitchFamily="18" charset="0"/>
                <a:ea typeface="宋体" panose="02010600030101010101" pitchFamily="2" charset="-122"/>
              </a:rPr>
              <a:t>）与宏调用不同，不用这些系统服务的名称，而采用软中断指令</a:t>
            </a:r>
            <a:r>
              <a:rPr lang="en-US" altLang="zh-CN" sz="1800" dirty="0">
                <a:latin typeface="Times New Roman" panose="02020603050405020304" pitchFamily="18" charset="0"/>
                <a:ea typeface="宋体" panose="02010600030101010101" pitchFamily="2" charset="-122"/>
              </a:rPr>
              <a:t>INT  n </a:t>
            </a:r>
            <a:r>
              <a:rPr lang="zh-CN" altLang="zh-CN" sz="1800" dirty="0">
                <a:latin typeface="Times New Roman" panose="02020603050405020304" pitchFamily="18" charset="0"/>
                <a:ea typeface="宋体" panose="02010600030101010101" pitchFamily="2" charset="-122"/>
              </a:rPr>
              <a:t>。</a:t>
            </a:r>
          </a:p>
          <a:p>
            <a:pPr algn="just"/>
            <a:r>
              <a:rPr lang="zh-CN" altLang="zh-CN" sz="1800" dirty="0">
                <a:latin typeface="Times New Roman" panose="02020603050405020304" pitchFamily="18" charset="0"/>
                <a:ea typeface="宋体" panose="02010600030101010101" pitchFamily="2" charset="-122"/>
              </a:rPr>
              <a:t>（</a:t>
            </a:r>
            <a:r>
              <a:rPr lang="en-US" altLang="zh-CN" sz="1800" dirty="0">
                <a:latin typeface="Times New Roman" panose="02020603050405020304" pitchFamily="18" charset="0"/>
                <a:ea typeface="宋体" panose="02010600030101010101" pitchFamily="2" charset="-122"/>
              </a:rPr>
              <a:t>3</a:t>
            </a:r>
            <a:r>
              <a:rPr lang="zh-CN" altLang="zh-CN" sz="1800" dirty="0">
                <a:latin typeface="Times New Roman" panose="02020603050405020304" pitchFamily="18" charset="0"/>
                <a:ea typeface="宋体" panose="02010600030101010101" pitchFamily="2" charset="-122"/>
              </a:rPr>
              <a:t>）用户程序不必与这些服务程序的代码连接。</a:t>
            </a:r>
          </a:p>
          <a:p>
            <a:pPr algn="just"/>
            <a:r>
              <a:rPr lang="zh-CN" altLang="zh-CN" sz="1800" dirty="0">
                <a:latin typeface="Times New Roman" panose="02020603050405020304" pitchFamily="18" charset="0"/>
                <a:ea typeface="宋体" panose="02010600030101010101" pitchFamily="2" charset="-122"/>
              </a:rPr>
              <a:t>         使用</a:t>
            </a:r>
            <a:r>
              <a:rPr lang="en-US" altLang="zh-CN" sz="1800" dirty="0">
                <a:latin typeface="Times New Roman" panose="02020603050405020304" pitchFamily="18" charset="0"/>
                <a:ea typeface="宋体" panose="02010600030101010101" pitchFamily="2" charset="-122"/>
              </a:rPr>
              <a:t>DOS</a:t>
            </a:r>
            <a:r>
              <a:rPr lang="zh-CN" altLang="zh-CN" sz="1800" dirty="0">
                <a:latin typeface="Times New Roman" panose="02020603050405020304" pitchFamily="18" charset="0"/>
                <a:ea typeface="宋体" panose="02010600030101010101" pitchFamily="2" charset="-122"/>
              </a:rPr>
              <a:t>和</a:t>
            </a:r>
            <a:r>
              <a:rPr lang="en-US" altLang="zh-CN" sz="1800" dirty="0">
                <a:latin typeface="Times New Roman" panose="02020603050405020304" pitchFamily="18" charset="0"/>
                <a:ea typeface="宋体" panose="02010600030101010101" pitchFamily="2" charset="-122"/>
              </a:rPr>
              <a:t>BIOS</a:t>
            </a:r>
            <a:r>
              <a:rPr lang="zh-CN" altLang="zh-CN" sz="1800" dirty="0">
                <a:latin typeface="Times New Roman" panose="02020603050405020304" pitchFamily="18" charset="0"/>
                <a:ea typeface="宋体" panose="02010600030101010101" pitchFamily="2" charset="-122"/>
              </a:rPr>
              <a:t>调用所编写的程序简单、清晰，可读性好，而且代码紧凑，调试方便。</a:t>
            </a:r>
          </a:p>
          <a:p>
            <a:pPr algn="just"/>
            <a:r>
              <a:rPr lang="en-US" altLang="zh-CN" sz="1800" dirty="0">
                <a:latin typeface="Times New Roman" panose="02020603050405020304" pitchFamily="18" charset="0"/>
                <a:ea typeface="宋体" panose="02010600030101010101" pitchFamily="2" charset="-122"/>
              </a:rPr>
              <a:t>          BIOS</a:t>
            </a:r>
            <a:r>
              <a:rPr lang="zh-CN" altLang="zh-CN" sz="1800" dirty="0">
                <a:latin typeface="Times New Roman" panose="02020603050405020304" pitchFamily="18" charset="0"/>
                <a:ea typeface="宋体" panose="02010600030101010101" pitchFamily="2" charset="-122"/>
              </a:rPr>
              <a:t>是</a:t>
            </a:r>
            <a:r>
              <a:rPr lang="en-US" altLang="zh-CN" sz="1800" dirty="0">
                <a:latin typeface="Times New Roman" panose="02020603050405020304" pitchFamily="18" charset="0"/>
                <a:ea typeface="宋体" panose="02010600030101010101" pitchFamily="2" charset="-122"/>
              </a:rPr>
              <a:t>IBM PC</a:t>
            </a:r>
            <a:r>
              <a:rPr lang="zh-CN" altLang="zh-CN" sz="1800" dirty="0">
                <a:latin typeface="Times New Roman" panose="02020603050405020304" pitchFamily="18" charset="0"/>
                <a:ea typeface="宋体" panose="02010600030101010101" pitchFamily="2" charset="-122"/>
              </a:rPr>
              <a:t>与</a:t>
            </a:r>
            <a:r>
              <a:rPr lang="en-US" altLang="zh-CN" sz="1800" dirty="0">
                <a:latin typeface="Times New Roman" panose="02020603050405020304" pitchFamily="18" charset="0"/>
                <a:ea typeface="宋体" panose="02010600030101010101" pitchFamily="2" charset="-122"/>
              </a:rPr>
              <a:t>PC/XT</a:t>
            </a:r>
            <a:r>
              <a:rPr lang="zh-CN" altLang="zh-CN" sz="1800" dirty="0">
                <a:latin typeface="Times New Roman" panose="02020603050405020304" pitchFamily="18" charset="0"/>
                <a:ea typeface="宋体" panose="02010600030101010101" pitchFamily="2" charset="-122"/>
              </a:rPr>
              <a:t>的基本</a:t>
            </a:r>
            <a:r>
              <a:rPr lang="en-US" altLang="zh-CN" sz="1800" dirty="0">
                <a:latin typeface="Times New Roman" panose="02020603050405020304" pitchFamily="18" charset="0"/>
                <a:ea typeface="宋体" panose="02010600030101010101" pitchFamily="2" charset="-122"/>
              </a:rPr>
              <a:t>I/O</a:t>
            </a:r>
            <a:r>
              <a:rPr lang="zh-CN" altLang="zh-CN" sz="1800" dirty="0">
                <a:latin typeface="Times New Roman" panose="02020603050405020304" pitchFamily="18" charset="0"/>
                <a:ea typeface="宋体" panose="02010600030101010101" pitchFamily="2" charset="-122"/>
              </a:rPr>
              <a:t>系统，包括系统测试程序、初始化引导程序、部分矢量装入程序及外部设备的服务程序，由于这些程序固化在</a:t>
            </a:r>
            <a:r>
              <a:rPr lang="en-US" altLang="zh-CN" sz="1800" dirty="0">
                <a:latin typeface="Times New Roman" panose="02020603050405020304" pitchFamily="18" charset="0"/>
                <a:ea typeface="宋体" panose="02010600030101010101" pitchFamily="2" charset="-122"/>
              </a:rPr>
              <a:t>ROM</a:t>
            </a:r>
            <a:r>
              <a:rPr lang="zh-CN" altLang="zh-CN" sz="1800" dirty="0">
                <a:latin typeface="Times New Roman" panose="02020603050405020304" pitchFamily="18" charset="0"/>
                <a:ea typeface="宋体" panose="02010600030101010101" pitchFamily="2" charset="-122"/>
              </a:rPr>
              <a:t>中，只要机器通电就可以调用它们。</a:t>
            </a:r>
          </a:p>
          <a:p>
            <a:pPr algn="just"/>
            <a:r>
              <a:rPr lang="en-US" altLang="zh-CN" sz="1800" dirty="0">
                <a:latin typeface="Times New Roman" panose="02020603050405020304" pitchFamily="18" charset="0"/>
                <a:ea typeface="宋体" panose="02010600030101010101" pitchFamily="2" charset="-122"/>
              </a:rPr>
              <a:t>          DOS</a:t>
            </a:r>
            <a:r>
              <a:rPr lang="zh-CN" altLang="zh-CN" sz="1800" dirty="0">
                <a:latin typeface="Times New Roman" panose="02020603050405020304" pitchFamily="18" charset="0"/>
                <a:ea typeface="宋体" panose="02010600030101010101" pitchFamily="2" charset="-122"/>
              </a:rPr>
              <a:t>是</a:t>
            </a:r>
            <a:r>
              <a:rPr lang="en-US" altLang="zh-CN" sz="1800" dirty="0">
                <a:latin typeface="Times New Roman" panose="02020603050405020304" pitchFamily="18" charset="0"/>
                <a:ea typeface="宋体" panose="02010600030101010101" pitchFamily="2" charset="-122"/>
              </a:rPr>
              <a:t>IBM PC</a:t>
            </a:r>
            <a:r>
              <a:rPr lang="zh-CN" altLang="zh-CN" sz="1800" dirty="0">
                <a:latin typeface="Times New Roman" panose="02020603050405020304" pitchFamily="18" charset="0"/>
                <a:ea typeface="宋体" panose="02010600030101010101" pitchFamily="2" charset="-122"/>
              </a:rPr>
              <a:t>及</a:t>
            </a:r>
            <a:r>
              <a:rPr lang="en-US" altLang="zh-CN" sz="1800" dirty="0">
                <a:latin typeface="Times New Roman" panose="02020603050405020304" pitchFamily="18" charset="0"/>
                <a:ea typeface="宋体" panose="02010600030101010101" pitchFamily="2" charset="-122"/>
              </a:rPr>
              <a:t>PC/XT</a:t>
            </a:r>
            <a:r>
              <a:rPr lang="zh-CN" altLang="zh-CN" sz="1800" dirty="0">
                <a:latin typeface="Times New Roman" panose="02020603050405020304" pitchFamily="18" charset="0"/>
                <a:ea typeface="宋体" panose="02010600030101010101" pitchFamily="2" charset="-122"/>
              </a:rPr>
              <a:t>的操作系统，负责管理系统的所有资源，协调微机各组成部分的操作，其中包括大量可供用户调用的服务程序，完成设备及磁盘文件的管理。</a:t>
            </a:r>
            <a:r>
              <a:rPr lang="en-US" altLang="zh-CN" sz="1800" dirty="0">
                <a:latin typeface="Times New Roman" panose="02020603050405020304" pitchFamily="18" charset="0"/>
                <a:ea typeface="宋体" panose="02010600030101010101" pitchFamily="2" charset="-122"/>
              </a:rPr>
              <a:t>DOS</a:t>
            </a:r>
            <a:r>
              <a:rPr lang="zh-CN" altLang="zh-CN" sz="1800" dirty="0">
                <a:latin typeface="Times New Roman" panose="02020603050405020304" pitchFamily="18" charset="0"/>
                <a:ea typeface="宋体" panose="02010600030101010101" pitchFamily="2" charset="-122"/>
              </a:rPr>
              <a:t>含有三个模块，即</a:t>
            </a:r>
            <a:r>
              <a:rPr lang="en-US" altLang="zh-CN" sz="1800" dirty="0">
                <a:latin typeface="Times New Roman" panose="02020603050405020304" pitchFamily="18" charset="0"/>
                <a:ea typeface="宋体" panose="02010600030101010101" pitchFamily="2" charset="-122"/>
              </a:rPr>
              <a:t>Command.com</a:t>
            </a:r>
            <a:r>
              <a:rPr lang="zh-CN" altLang="zh-CN" sz="1800" dirty="0">
                <a:latin typeface="Times New Roman" panose="02020603050405020304" pitchFamily="18" charset="0"/>
                <a:ea typeface="宋体" panose="02010600030101010101" pitchFamily="2" charset="-122"/>
              </a:rPr>
              <a:t>、</a:t>
            </a:r>
            <a:r>
              <a:rPr lang="en-US" altLang="zh-CN" sz="1800" dirty="0">
                <a:latin typeface="Times New Roman" panose="02020603050405020304" pitchFamily="18" charset="0"/>
                <a:ea typeface="宋体" panose="02010600030101010101" pitchFamily="2" charset="-122"/>
              </a:rPr>
              <a:t>Msdos.sys</a:t>
            </a:r>
            <a:r>
              <a:rPr lang="zh-CN" altLang="zh-CN" sz="1800" dirty="0">
                <a:latin typeface="Times New Roman" panose="02020603050405020304" pitchFamily="18" charset="0"/>
                <a:ea typeface="宋体" panose="02010600030101010101" pitchFamily="2" charset="-122"/>
              </a:rPr>
              <a:t>、</a:t>
            </a:r>
            <a:r>
              <a:rPr lang="en-US" altLang="zh-CN" sz="1800" dirty="0">
                <a:latin typeface="Times New Roman" panose="02020603050405020304" pitchFamily="18" charset="0"/>
                <a:ea typeface="宋体" panose="02010600030101010101" pitchFamily="2" charset="-122"/>
              </a:rPr>
              <a:t>IO.sys</a:t>
            </a:r>
            <a:r>
              <a:rPr lang="zh-CN" altLang="zh-CN" sz="1800" dirty="0">
                <a:latin typeface="Times New Roman" panose="02020603050405020304" pitchFamily="18" charset="0"/>
                <a:ea typeface="宋体" panose="02010600030101010101" pitchFamily="2" charset="-122"/>
              </a:rPr>
              <a:t>。三个模块间可单项调用。用户可通过两种途径使用</a:t>
            </a:r>
            <a:r>
              <a:rPr lang="en-US" altLang="zh-CN" sz="1800" dirty="0">
                <a:latin typeface="Times New Roman" panose="02020603050405020304" pitchFamily="18" charset="0"/>
                <a:ea typeface="宋体" panose="02010600030101010101" pitchFamily="2" charset="-122"/>
              </a:rPr>
              <a:t>DOS</a:t>
            </a:r>
            <a:r>
              <a:rPr lang="zh-CN" altLang="zh-CN" sz="1800" dirty="0">
                <a:latin typeface="Times New Roman" panose="02020603050405020304" pitchFamily="18" charset="0"/>
                <a:ea typeface="宋体" panose="02010600030101010101" pitchFamily="2" charset="-122"/>
              </a:rPr>
              <a:t>功能。第一种途径是普通用户从键盘输入命令，</a:t>
            </a:r>
            <a:r>
              <a:rPr lang="en-US" altLang="zh-CN" sz="1800" dirty="0">
                <a:latin typeface="Times New Roman" panose="02020603050405020304" pitchFamily="18" charset="0"/>
                <a:ea typeface="宋体" panose="02010600030101010101" pitchFamily="2" charset="-122"/>
              </a:rPr>
              <a:t>DOS</a:t>
            </a:r>
            <a:r>
              <a:rPr lang="zh-CN" altLang="zh-CN" sz="1800" dirty="0">
                <a:latin typeface="Times New Roman" panose="02020603050405020304" pitchFamily="18" charset="0"/>
                <a:ea typeface="宋体" panose="02010600030101010101" pitchFamily="2" charset="-122"/>
              </a:rPr>
              <a:t>的</a:t>
            </a:r>
            <a:r>
              <a:rPr lang="en-US" altLang="zh-CN" sz="1800" dirty="0">
                <a:latin typeface="Times New Roman" panose="02020603050405020304" pitchFamily="18" charset="0"/>
                <a:ea typeface="宋体" panose="02010600030101010101" pitchFamily="2" charset="-122"/>
              </a:rPr>
              <a:t>Command.com</a:t>
            </a:r>
            <a:r>
              <a:rPr lang="zh-CN" altLang="zh-CN" sz="1800" dirty="0">
                <a:latin typeface="Times New Roman" panose="02020603050405020304" pitchFamily="18" charset="0"/>
                <a:ea typeface="宋体" panose="02010600030101010101" pitchFamily="2" charset="-122"/>
              </a:rPr>
              <a:t>模块接收识别处理输入的命令。第二种途径是高级用户通过用户程序去调用</a:t>
            </a:r>
            <a:r>
              <a:rPr lang="en-US" altLang="zh-CN" sz="1800" dirty="0">
                <a:latin typeface="Times New Roman" panose="02020603050405020304" pitchFamily="18" charset="0"/>
                <a:ea typeface="宋体" panose="02010600030101010101" pitchFamily="2" charset="-122"/>
              </a:rPr>
              <a:t>DOS</a:t>
            </a:r>
            <a:r>
              <a:rPr lang="zh-CN" altLang="zh-CN" sz="1800" dirty="0">
                <a:latin typeface="Times New Roman" panose="02020603050405020304" pitchFamily="18" charset="0"/>
                <a:ea typeface="宋体" panose="02010600030101010101" pitchFamily="2" charset="-122"/>
              </a:rPr>
              <a:t>和</a:t>
            </a:r>
            <a:r>
              <a:rPr lang="en-US" altLang="zh-CN" sz="1800" dirty="0">
                <a:latin typeface="Times New Roman" panose="02020603050405020304" pitchFamily="18" charset="0"/>
                <a:ea typeface="宋体" panose="02010600030101010101" pitchFamily="2" charset="-122"/>
              </a:rPr>
              <a:t>BIOS</a:t>
            </a:r>
            <a:r>
              <a:rPr lang="zh-CN" altLang="zh-CN" sz="1800" dirty="0">
                <a:latin typeface="Times New Roman" panose="02020603050405020304" pitchFamily="18" charset="0"/>
                <a:ea typeface="宋体" panose="02010600030101010101" pitchFamily="2" charset="-122"/>
              </a:rPr>
              <a:t>中的服务程序。当然，高级用户需要对操作系统有较深入的了解。</a:t>
            </a:r>
          </a:p>
        </p:txBody>
      </p:sp>
    </p:spTree>
  </p:cSld>
  <p:clrMapOvr>
    <a:masterClrMapping/>
  </p:clrMapOvr>
  <p:transition spd="med">
    <p:random/>
  </p:transition>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4.5.7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系统功能调用</a:t>
            </a:r>
          </a:p>
        </p:txBody>
      </p:sp>
      <p:sp>
        <p:nvSpPr>
          <p:cNvPr id="111618"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11619" name="TextBox 4"/>
          <p:cNvSpPr txBox="1"/>
          <p:nvPr/>
        </p:nvSpPr>
        <p:spPr>
          <a:xfrm>
            <a:off x="417513" y="1500188"/>
            <a:ext cx="8202612" cy="5046662"/>
          </a:xfrm>
          <a:prstGeom prst="rect">
            <a:avLst/>
          </a:prstGeom>
          <a:noFill/>
          <a:ln w="9525">
            <a:noFill/>
          </a:ln>
        </p:spPr>
        <p:txBody>
          <a:bodyPr anchor="t" anchorCtr="0">
            <a:spAutoFit/>
          </a:bodyPr>
          <a:lstStyle/>
          <a:p>
            <a:pPr algn="just"/>
            <a:r>
              <a:rPr lang="en-US" altLang="zh-CN" sz="2000" dirty="0">
                <a:latin typeface="宋体" panose="02010600030101010101" pitchFamily="2" charset="-122"/>
                <a:ea typeface="宋体" panose="02010600030101010101" pitchFamily="2" charset="-122"/>
              </a:rPr>
              <a:t>    </a:t>
            </a:r>
            <a:r>
              <a:rPr lang="zh-CN" altLang="zh-CN" sz="2000" dirty="0">
                <a:latin typeface="宋体" panose="02010600030101010101" pitchFamily="2" charset="-122"/>
                <a:ea typeface="宋体" panose="02010600030101010101" pitchFamily="2" charset="-122"/>
              </a:rPr>
              <a:t>一般来说，用户程序通过以下四种方式控制</a:t>
            </a:r>
            <a:r>
              <a:rPr lang="en-US" altLang="zh-CN" sz="2000" dirty="0">
                <a:latin typeface="宋体" panose="02010600030101010101" pitchFamily="2" charset="-122"/>
                <a:ea typeface="宋体" panose="02010600030101010101" pitchFamily="2" charset="-122"/>
              </a:rPr>
              <a:t>PC</a:t>
            </a:r>
            <a:r>
              <a:rPr lang="zh-CN" altLang="zh-CN" sz="2000" dirty="0">
                <a:latin typeface="宋体" panose="02010600030101010101" pitchFamily="2" charset="-122"/>
                <a:ea typeface="宋体" panose="02010600030101010101" pitchFamily="2" charset="-122"/>
              </a:rPr>
              <a:t>的硬件</a:t>
            </a:r>
            <a:r>
              <a:rPr lang="en-US" altLang="zh-CN" sz="200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algn="just"/>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）使用高级语言提供的功能控制。高级语言一般提供一些</a:t>
            </a:r>
            <a:r>
              <a:rPr lang="en-US" altLang="zh-CN" sz="2000" dirty="0">
                <a:latin typeface="宋体" panose="02010600030101010101" pitchFamily="2" charset="-122"/>
                <a:ea typeface="宋体" panose="02010600030101010101" pitchFamily="2" charset="-122"/>
              </a:rPr>
              <a:t>I/O</a:t>
            </a:r>
            <a:r>
              <a:rPr lang="zh-CN" altLang="zh-CN" sz="2000" dirty="0">
                <a:latin typeface="宋体" panose="02010600030101010101" pitchFamily="2" charset="-122"/>
                <a:ea typeface="宋体" panose="02010600030101010101" pitchFamily="2" charset="-122"/>
              </a:rPr>
              <a:t>语句及使用方法，但高级语言的</a:t>
            </a:r>
            <a:r>
              <a:rPr lang="en-US" altLang="zh-CN" sz="2000" dirty="0">
                <a:latin typeface="宋体" panose="02010600030101010101" pitchFamily="2" charset="-122"/>
                <a:ea typeface="宋体" panose="02010600030101010101" pitchFamily="2" charset="-122"/>
              </a:rPr>
              <a:t>I/O</a:t>
            </a:r>
            <a:r>
              <a:rPr lang="zh-CN" altLang="zh-CN" sz="2000" dirty="0">
                <a:latin typeface="宋体" panose="02010600030101010101" pitchFamily="2" charset="-122"/>
                <a:ea typeface="宋体" panose="02010600030101010101" pitchFamily="2" charset="-122"/>
              </a:rPr>
              <a:t>语句较少，执行速度慢。</a:t>
            </a:r>
          </a:p>
          <a:p>
            <a:pPr algn="just"/>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a:t>
            </a:r>
            <a:r>
              <a:rPr lang="zh-CN" altLang="zh-CN" sz="2000" dirty="0">
                <a:latin typeface="宋体" panose="02010600030101010101" pitchFamily="2" charset="-122"/>
                <a:ea typeface="宋体" panose="02010600030101010101" pitchFamily="2" charset="-122"/>
              </a:rPr>
              <a:t>）使用</a:t>
            </a:r>
            <a:r>
              <a:rPr lang="en-US" altLang="zh-CN" sz="2000" dirty="0">
                <a:latin typeface="宋体" panose="02010600030101010101" pitchFamily="2" charset="-122"/>
                <a:ea typeface="宋体" panose="02010600030101010101" pitchFamily="2" charset="-122"/>
              </a:rPr>
              <a:t>DOS</a:t>
            </a:r>
            <a:r>
              <a:rPr lang="zh-CN" altLang="zh-CN" sz="2000" dirty="0">
                <a:latin typeface="宋体" panose="02010600030101010101" pitchFamily="2" charset="-122"/>
                <a:ea typeface="宋体" panose="02010600030101010101" pitchFamily="2" charset="-122"/>
              </a:rPr>
              <a:t>提供的程序控制硬件。</a:t>
            </a:r>
            <a:r>
              <a:rPr lang="en-US" altLang="zh-CN" sz="2000" dirty="0">
                <a:latin typeface="宋体" panose="02010600030101010101" pitchFamily="2" charset="-122"/>
                <a:ea typeface="宋体" panose="02010600030101010101" pitchFamily="2" charset="-122"/>
              </a:rPr>
              <a:t>DOS</a:t>
            </a:r>
            <a:r>
              <a:rPr lang="zh-CN" altLang="zh-CN" sz="2000" dirty="0">
                <a:latin typeface="宋体" panose="02010600030101010101" pitchFamily="2" charset="-122"/>
                <a:ea typeface="宋体" panose="02010600030101010101" pitchFamily="2" charset="-122"/>
              </a:rPr>
              <a:t>用户提供的</a:t>
            </a:r>
            <a:r>
              <a:rPr lang="en-US" altLang="zh-CN" sz="2000" dirty="0">
                <a:latin typeface="宋体" panose="02010600030101010101" pitchFamily="2" charset="-122"/>
                <a:ea typeface="宋体" panose="02010600030101010101" pitchFamily="2" charset="-122"/>
              </a:rPr>
              <a:t>I/O</a:t>
            </a:r>
            <a:r>
              <a:rPr lang="zh-CN" altLang="zh-CN" sz="2000" dirty="0">
                <a:latin typeface="宋体" panose="02010600030101010101" pitchFamily="2" charset="-122"/>
                <a:ea typeface="宋体" panose="02010600030101010101" pitchFamily="2" charset="-122"/>
              </a:rPr>
              <a:t>程序近百种，而且是在较高层次上提供的，不需要用户对硬件有太多的了解。使用</a:t>
            </a:r>
            <a:r>
              <a:rPr lang="en-US" altLang="zh-CN" sz="2000" dirty="0">
                <a:latin typeface="宋体" panose="02010600030101010101" pitchFamily="2" charset="-122"/>
                <a:ea typeface="宋体" panose="02010600030101010101" pitchFamily="2" charset="-122"/>
              </a:rPr>
              <a:t>DOS</a:t>
            </a:r>
            <a:r>
              <a:rPr lang="zh-CN" altLang="zh-CN" sz="2000" dirty="0">
                <a:latin typeface="宋体" panose="02010600030101010101" pitchFamily="2" charset="-122"/>
                <a:ea typeface="宋体" panose="02010600030101010101" pitchFamily="2" charset="-122"/>
              </a:rPr>
              <a:t>调用的程序可移植性好，</a:t>
            </a:r>
            <a:r>
              <a:rPr lang="en-US" altLang="zh-CN" sz="2000" dirty="0">
                <a:latin typeface="宋体" panose="02010600030101010101" pitchFamily="2" charset="-122"/>
                <a:ea typeface="宋体" panose="02010600030101010101" pitchFamily="2" charset="-122"/>
              </a:rPr>
              <a:t>I/O</a:t>
            </a:r>
            <a:r>
              <a:rPr lang="zh-CN" altLang="zh-CN" sz="2000" dirty="0">
                <a:latin typeface="宋体" panose="02010600030101010101" pitchFamily="2" charset="-122"/>
                <a:ea typeface="宋体" panose="02010600030101010101" pitchFamily="2" charset="-122"/>
              </a:rPr>
              <a:t>功能多，编程简单，调试方便，但执行效率较低。</a:t>
            </a:r>
          </a:p>
          <a:p>
            <a:pPr algn="just"/>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3</a:t>
            </a:r>
            <a:r>
              <a:rPr lang="zh-CN" altLang="zh-CN" sz="2000" dirty="0">
                <a:latin typeface="宋体" panose="02010600030101010101" pitchFamily="2" charset="-122"/>
                <a:ea typeface="宋体" panose="02010600030101010101" pitchFamily="2" charset="-122"/>
              </a:rPr>
              <a:t>）使用</a:t>
            </a:r>
            <a:r>
              <a:rPr lang="en-US" altLang="zh-CN" sz="2000" dirty="0">
                <a:latin typeface="宋体" panose="02010600030101010101" pitchFamily="2" charset="-122"/>
                <a:ea typeface="宋体" panose="02010600030101010101" pitchFamily="2" charset="-122"/>
              </a:rPr>
              <a:t>BIOS</a:t>
            </a:r>
            <a:r>
              <a:rPr lang="zh-CN" altLang="zh-CN" sz="2000" dirty="0">
                <a:latin typeface="宋体" panose="02010600030101010101" pitchFamily="2" charset="-122"/>
                <a:ea typeface="宋体" panose="02010600030101010101" pitchFamily="2" charset="-122"/>
              </a:rPr>
              <a:t>提供的程序控制硬件。</a:t>
            </a:r>
            <a:r>
              <a:rPr lang="en-US" altLang="zh-CN" sz="2000" dirty="0">
                <a:latin typeface="宋体" panose="02010600030101010101" pitchFamily="2" charset="-122"/>
                <a:ea typeface="宋体" panose="02010600030101010101" pitchFamily="2" charset="-122"/>
              </a:rPr>
              <a:t>BIOS</a:t>
            </a:r>
            <a:r>
              <a:rPr lang="zh-CN" altLang="zh-CN" sz="2000" dirty="0">
                <a:latin typeface="宋体" panose="02010600030101010101" pitchFamily="2" charset="-122"/>
                <a:ea typeface="宋体" panose="02010600030101010101" pitchFamily="2" charset="-122"/>
              </a:rPr>
              <a:t>在较低层次上为用户提供了一组</a:t>
            </a:r>
            <a:r>
              <a:rPr lang="en-US" altLang="zh-CN" sz="2000" dirty="0">
                <a:latin typeface="宋体" panose="02010600030101010101" pitchFamily="2" charset="-122"/>
                <a:ea typeface="宋体" panose="02010600030101010101" pitchFamily="2" charset="-122"/>
              </a:rPr>
              <a:t>I/O</a:t>
            </a:r>
            <a:r>
              <a:rPr lang="zh-CN" altLang="zh-CN" sz="2000" dirty="0">
                <a:latin typeface="宋体" panose="02010600030101010101" pitchFamily="2" charset="-122"/>
                <a:ea typeface="宋体" panose="02010600030101010101" pitchFamily="2" charset="-122"/>
              </a:rPr>
              <a:t>程序，要求用户对硬件有相当的了解。</a:t>
            </a:r>
            <a:r>
              <a:rPr lang="en-US" altLang="zh-CN" sz="2000" dirty="0">
                <a:latin typeface="宋体" panose="02010600030101010101" pitchFamily="2" charset="-122"/>
                <a:ea typeface="宋体" panose="02010600030101010101" pitchFamily="2" charset="-122"/>
              </a:rPr>
              <a:t>BIOS</a:t>
            </a:r>
            <a:r>
              <a:rPr lang="zh-CN" altLang="zh-CN" sz="2000" dirty="0">
                <a:latin typeface="宋体" panose="02010600030101010101" pitchFamily="2" charset="-122"/>
                <a:ea typeface="宋体" panose="02010600030101010101" pitchFamily="2" charset="-122"/>
              </a:rPr>
              <a:t>驻留在</a:t>
            </a:r>
            <a:r>
              <a:rPr lang="en-US" altLang="zh-CN" sz="2000" dirty="0">
                <a:latin typeface="宋体" panose="02010600030101010101" pitchFamily="2" charset="-122"/>
                <a:ea typeface="宋体" panose="02010600030101010101" pitchFamily="2" charset="-122"/>
              </a:rPr>
              <a:t>ROM</a:t>
            </a:r>
            <a:r>
              <a:rPr lang="zh-CN" altLang="zh-CN" sz="2000" dirty="0">
                <a:latin typeface="宋体" panose="02010600030101010101" pitchFamily="2" charset="-122"/>
                <a:ea typeface="宋体" panose="02010600030101010101" pitchFamily="2" charset="-122"/>
              </a:rPr>
              <a:t>中，独立于任何操作系统，使应用</a:t>
            </a:r>
            <a:r>
              <a:rPr lang="en-US" altLang="zh-CN" sz="2000" dirty="0">
                <a:latin typeface="宋体" panose="02010600030101010101" pitchFamily="2" charset="-122"/>
                <a:ea typeface="宋体" panose="02010600030101010101" pitchFamily="2" charset="-122"/>
              </a:rPr>
              <a:t>BIOS</a:t>
            </a:r>
            <a:r>
              <a:rPr lang="zh-CN" altLang="zh-CN" sz="2000" dirty="0">
                <a:latin typeface="宋体" panose="02010600030101010101" pitchFamily="2" charset="-122"/>
                <a:ea typeface="宋体" panose="02010600030101010101" pitchFamily="2" charset="-122"/>
              </a:rPr>
              <a:t>调用的汇编、</a:t>
            </a:r>
            <a:r>
              <a:rPr lang="en-US" altLang="zh-CN" sz="2000" dirty="0">
                <a:latin typeface="宋体" panose="02010600030101010101" pitchFamily="2" charset="-122"/>
                <a:ea typeface="宋体" panose="02010600030101010101" pitchFamily="2" charset="-122"/>
              </a:rPr>
              <a:t>C</a:t>
            </a:r>
            <a:r>
              <a:rPr lang="zh-CN" altLang="zh-CN" sz="2000" dirty="0">
                <a:latin typeface="宋体" panose="02010600030101010101" pitchFamily="2" charset="-122"/>
                <a:ea typeface="宋体" panose="02010600030101010101" pitchFamily="2" charset="-122"/>
              </a:rPr>
              <a:t>和</a:t>
            </a:r>
            <a:r>
              <a:rPr lang="en-US" altLang="zh-CN" sz="2000" dirty="0">
                <a:latin typeface="宋体" panose="02010600030101010101" pitchFamily="2" charset="-122"/>
                <a:ea typeface="宋体" panose="02010600030101010101" pitchFamily="2" charset="-122"/>
              </a:rPr>
              <a:t>PASAL</a:t>
            </a:r>
            <a:r>
              <a:rPr lang="zh-CN" altLang="zh-CN" sz="2000" dirty="0">
                <a:latin typeface="宋体" panose="02010600030101010101" pitchFamily="2" charset="-122"/>
                <a:ea typeface="宋体" panose="02010600030101010101" pitchFamily="2" charset="-122"/>
              </a:rPr>
              <a:t>语言的可移植性较差。当</a:t>
            </a:r>
            <a:r>
              <a:rPr lang="en-US" altLang="zh-CN" sz="2000" dirty="0">
                <a:latin typeface="宋体" panose="02010600030101010101" pitchFamily="2" charset="-122"/>
                <a:ea typeface="宋体" panose="02010600030101010101" pitchFamily="2" charset="-122"/>
              </a:rPr>
              <a:t>DOS</a:t>
            </a:r>
            <a:r>
              <a:rPr lang="zh-CN" altLang="zh-CN" sz="2000" dirty="0">
                <a:latin typeface="宋体" panose="02010600030101010101" pitchFamily="2" charset="-122"/>
                <a:ea typeface="宋体" panose="02010600030101010101" pitchFamily="2" charset="-122"/>
              </a:rPr>
              <a:t>和</a:t>
            </a:r>
            <a:r>
              <a:rPr lang="en-US" altLang="zh-CN" sz="2000" dirty="0">
                <a:latin typeface="宋体" panose="02010600030101010101" pitchFamily="2" charset="-122"/>
                <a:ea typeface="宋体" panose="02010600030101010101" pitchFamily="2" charset="-122"/>
              </a:rPr>
              <a:t>BIOS</a:t>
            </a:r>
            <a:r>
              <a:rPr lang="zh-CN" altLang="zh-CN" sz="2000" dirty="0">
                <a:latin typeface="宋体" panose="02010600030101010101" pitchFamily="2" charset="-122"/>
                <a:ea typeface="宋体" panose="02010600030101010101" pitchFamily="2" charset="-122"/>
              </a:rPr>
              <a:t>提供的功能相当时，用户应当首选</a:t>
            </a:r>
            <a:r>
              <a:rPr lang="en-US" altLang="zh-CN" sz="2000" dirty="0">
                <a:latin typeface="宋体" panose="02010600030101010101" pitchFamily="2" charset="-122"/>
                <a:ea typeface="宋体" panose="02010600030101010101" pitchFamily="2" charset="-122"/>
              </a:rPr>
              <a:t>DOS</a:t>
            </a:r>
            <a:r>
              <a:rPr lang="zh-CN" altLang="zh-CN" sz="2000" dirty="0">
                <a:latin typeface="宋体" panose="02010600030101010101" pitchFamily="2" charset="-122"/>
                <a:ea typeface="宋体" panose="02010600030101010101" pitchFamily="2" charset="-122"/>
              </a:rPr>
              <a:t>调用，但</a:t>
            </a:r>
            <a:r>
              <a:rPr lang="en-US" altLang="zh-CN" sz="2000" dirty="0">
                <a:latin typeface="宋体" panose="02010600030101010101" pitchFamily="2" charset="-122"/>
                <a:ea typeface="宋体" panose="02010600030101010101" pitchFamily="2" charset="-122"/>
              </a:rPr>
              <a:t>BIOS</a:t>
            </a:r>
            <a:r>
              <a:rPr lang="zh-CN" altLang="zh-CN" sz="2000" dirty="0">
                <a:latin typeface="宋体" panose="02010600030101010101" pitchFamily="2" charset="-122"/>
                <a:ea typeface="宋体" panose="02010600030101010101" pitchFamily="2" charset="-122"/>
              </a:rPr>
              <a:t>调用效率高，并且</a:t>
            </a:r>
            <a:r>
              <a:rPr lang="en-US" altLang="zh-CN" sz="2000" dirty="0">
                <a:latin typeface="宋体" panose="02010600030101010101" pitchFamily="2" charset="-122"/>
                <a:ea typeface="宋体" panose="02010600030101010101" pitchFamily="2" charset="-122"/>
              </a:rPr>
              <a:t>BIOS</a:t>
            </a:r>
            <a:r>
              <a:rPr lang="zh-CN" altLang="zh-CN" sz="2000" dirty="0">
                <a:latin typeface="宋体" panose="02010600030101010101" pitchFamily="2" charset="-122"/>
                <a:ea typeface="宋体" panose="02010600030101010101" pitchFamily="2" charset="-122"/>
              </a:rPr>
              <a:t>调用中的一部分功能是</a:t>
            </a:r>
            <a:r>
              <a:rPr lang="en-US" altLang="zh-CN" sz="2000" dirty="0">
                <a:latin typeface="宋体" panose="02010600030101010101" pitchFamily="2" charset="-122"/>
                <a:ea typeface="宋体" panose="02010600030101010101" pitchFamily="2" charset="-122"/>
              </a:rPr>
              <a:t>DOS</a:t>
            </a:r>
            <a:r>
              <a:rPr lang="zh-CN" altLang="zh-CN" sz="2000" dirty="0">
                <a:latin typeface="宋体" panose="02010600030101010101" pitchFamily="2" charset="-122"/>
                <a:ea typeface="宋体" panose="02010600030101010101" pitchFamily="2" charset="-122"/>
              </a:rPr>
              <a:t>没有的。</a:t>
            </a:r>
          </a:p>
          <a:p>
            <a:pPr algn="just"/>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4</a:t>
            </a:r>
            <a:r>
              <a:rPr lang="zh-CN" altLang="zh-CN" sz="2000" dirty="0">
                <a:latin typeface="宋体" panose="02010600030101010101" pitchFamily="2" charset="-122"/>
                <a:ea typeface="宋体" panose="02010600030101010101" pitchFamily="2" charset="-122"/>
              </a:rPr>
              <a:t>）直接访问硬件。这种方式直接访问硬件，这就要求用户对微型机的硬件和外设非常熟悉。此种方式只用于两种情况：为获得较高的效率和为获得</a:t>
            </a:r>
            <a:r>
              <a:rPr lang="en-US" altLang="zh-CN" sz="2000" dirty="0">
                <a:latin typeface="宋体" panose="02010600030101010101" pitchFamily="2" charset="-122"/>
                <a:ea typeface="宋体" panose="02010600030101010101" pitchFamily="2" charset="-122"/>
              </a:rPr>
              <a:t>DOS</a:t>
            </a:r>
            <a:r>
              <a:rPr lang="zh-CN" altLang="zh-CN" sz="2000" dirty="0">
                <a:latin typeface="宋体" panose="02010600030101010101" pitchFamily="2" charset="-122"/>
                <a:ea typeface="宋体" panose="02010600030101010101" pitchFamily="2" charset="-122"/>
              </a:rPr>
              <a:t>和</a:t>
            </a:r>
            <a:r>
              <a:rPr lang="en-US" altLang="zh-CN" sz="2000" dirty="0">
                <a:latin typeface="宋体" panose="02010600030101010101" pitchFamily="2" charset="-122"/>
                <a:ea typeface="宋体" panose="02010600030101010101" pitchFamily="2" charset="-122"/>
              </a:rPr>
              <a:t>BIOS</a:t>
            </a:r>
            <a:r>
              <a:rPr lang="zh-CN" altLang="zh-CN" sz="2000" dirty="0">
                <a:latin typeface="宋体" panose="02010600030101010101" pitchFamily="2" charset="-122"/>
                <a:ea typeface="宋体" panose="02010600030101010101" pitchFamily="2" charset="-122"/>
              </a:rPr>
              <a:t>中不支持的功能。显然直接访问硬件的程序可移植性差，在一个厂商生产的机器上可以运行的程序在另一个厂商生产的兼容机上可能无法运行。</a:t>
            </a:r>
          </a:p>
        </p:txBody>
      </p:sp>
    </p:spTree>
  </p:cSld>
  <p:clrMapOvr>
    <a:masterClrMapping/>
  </p:clrMapOvr>
  <p:transition spd="med">
    <p:random/>
  </p:transition>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4.5.7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系统功能调用</a:t>
            </a:r>
          </a:p>
        </p:txBody>
      </p:sp>
      <p:sp>
        <p:nvSpPr>
          <p:cNvPr id="11366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13667" name="TextBox 4"/>
          <p:cNvSpPr txBox="1"/>
          <p:nvPr/>
        </p:nvSpPr>
        <p:spPr>
          <a:xfrm>
            <a:off x="506413" y="1643063"/>
            <a:ext cx="8061325" cy="4629150"/>
          </a:xfrm>
          <a:prstGeom prst="rect">
            <a:avLst/>
          </a:prstGeom>
          <a:noFill/>
          <a:ln w="9525">
            <a:noFill/>
          </a:ln>
        </p:spPr>
        <p:txBody>
          <a:bodyPr anchor="t" anchorCtr="0">
            <a:spAutoFit/>
          </a:bodyPr>
          <a:lstStyle/>
          <a:p>
            <a:pPr algn="just"/>
            <a:r>
              <a:rPr lang="en-US" altLang="zh-CN" sz="2200" dirty="0">
                <a:latin typeface="宋体" panose="02010600030101010101" pitchFamily="2" charset="-122"/>
                <a:ea typeface="宋体" panose="02010600030101010101" pitchFamily="2" charset="-122"/>
              </a:rPr>
              <a:t>2</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DOS</a:t>
            </a:r>
            <a:r>
              <a:rPr lang="zh-CN" altLang="zh-CN" sz="2200" dirty="0">
                <a:latin typeface="宋体" panose="02010600030101010101" pitchFamily="2" charset="-122"/>
                <a:ea typeface="宋体" panose="02010600030101010101" pitchFamily="2" charset="-122"/>
              </a:rPr>
              <a:t>系统功能调用</a:t>
            </a:r>
          </a:p>
          <a:p>
            <a:pPr algn="just"/>
            <a:r>
              <a:rPr lang="en-US" altLang="zh-CN" sz="2200" dirty="0">
                <a:latin typeface="宋体" panose="02010600030101010101" pitchFamily="2" charset="-122"/>
                <a:ea typeface="宋体" panose="02010600030101010101" pitchFamily="2" charset="-122"/>
              </a:rPr>
              <a:t>    8086/8088</a:t>
            </a:r>
            <a:r>
              <a:rPr lang="zh-CN" altLang="zh-CN" sz="2200" dirty="0">
                <a:latin typeface="宋体" panose="02010600030101010101" pitchFamily="2" charset="-122"/>
                <a:ea typeface="宋体" panose="02010600030101010101" pitchFamily="2" charset="-122"/>
              </a:rPr>
              <a:t>指令系统中有一种软中断指令</a:t>
            </a:r>
            <a:r>
              <a:rPr lang="en-US" altLang="zh-CN" sz="2200" dirty="0">
                <a:latin typeface="宋体" panose="02010600030101010101" pitchFamily="2" charset="-122"/>
                <a:ea typeface="宋体" panose="02010600030101010101" pitchFamily="2" charset="-122"/>
              </a:rPr>
              <a:t>INT  n </a:t>
            </a:r>
            <a:r>
              <a:rPr lang="zh-CN" altLang="zh-CN" sz="2200" dirty="0">
                <a:latin typeface="宋体" panose="02010600030101010101" pitchFamily="2" charset="-122"/>
                <a:ea typeface="宋体" panose="02010600030101010101" pitchFamily="2" charset="-122"/>
              </a:rPr>
              <a:t>。每执行一条软中断指令就调用一个相应的中断服务程序。</a:t>
            </a:r>
          </a:p>
          <a:p>
            <a:pPr algn="just"/>
            <a:r>
              <a:rPr lang="zh-CN" altLang="zh-CN" sz="2200" dirty="0">
                <a:latin typeface="宋体" panose="02010600030101010101" pitchFamily="2" charset="-122"/>
                <a:ea typeface="宋体" panose="02010600030101010101" pitchFamily="2" charset="-122"/>
              </a:rPr>
              <a:t>当</a:t>
            </a:r>
            <a:r>
              <a:rPr lang="en-US" altLang="zh-CN" sz="2200" i="1" dirty="0">
                <a:latin typeface="宋体" panose="02010600030101010101" pitchFamily="2" charset="-122"/>
                <a:ea typeface="宋体" panose="02010600030101010101" pitchFamily="2" charset="-122"/>
              </a:rPr>
              <a:t>n</a:t>
            </a:r>
            <a:r>
              <a:rPr lang="en-US" altLang="zh-CN" sz="2200" dirty="0">
                <a:latin typeface="宋体" panose="02010600030101010101" pitchFamily="2" charset="-122"/>
                <a:ea typeface="宋体" panose="02010600030101010101" pitchFamily="2" charset="-122"/>
              </a:rPr>
              <a:t>=5</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1FH</a:t>
            </a:r>
            <a:r>
              <a:rPr lang="zh-CN" altLang="zh-CN" sz="2200" dirty="0">
                <a:latin typeface="宋体" panose="02010600030101010101" pitchFamily="2" charset="-122"/>
                <a:ea typeface="宋体" panose="02010600030101010101" pitchFamily="2" charset="-122"/>
              </a:rPr>
              <a:t>时，调用</a:t>
            </a:r>
            <a:r>
              <a:rPr lang="en-US" altLang="zh-CN" sz="2200" dirty="0">
                <a:latin typeface="宋体" panose="02010600030101010101" pitchFamily="2" charset="-122"/>
                <a:ea typeface="宋体" panose="02010600030101010101" pitchFamily="2" charset="-122"/>
              </a:rPr>
              <a:t>BIOS</a:t>
            </a:r>
            <a:r>
              <a:rPr lang="zh-CN" altLang="zh-CN" sz="2200" dirty="0">
                <a:latin typeface="宋体" panose="02010600030101010101" pitchFamily="2" charset="-122"/>
                <a:ea typeface="宋体" panose="02010600030101010101" pitchFamily="2" charset="-122"/>
              </a:rPr>
              <a:t>中的服务程序。当</a:t>
            </a:r>
            <a:r>
              <a:rPr lang="en-US" altLang="zh-CN" sz="2200" i="1" dirty="0">
                <a:latin typeface="宋体" panose="02010600030101010101" pitchFamily="2" charset="-122"/>
                <a:ea typeface="宋体" panose="02010600030101010101" pitchFamily="2" charset="-122"/>
              </a:rPr>
              <a:t>n</a:t>
            </a:r>
            <a:r>
              <a:rPr lang="en-US" altLang="zh-CN" sz="2200" dirty="0">
                <a:latin typeface="宋体" panose="02010600030101010101" pitchFamily="2" charset="-122"/>
                <a:ea typeface="宋体" panose="02010600030101010101" pitchFamily="2" charset="-122"/>
              </a:rPr>
              <a:t>=20H</a:t>
            </a:r>
            <a:r>
              <a:rPr lang="zh-CN" altLang="zh-CN" sz="2200" dirty="0">
                <a:latin typeface="宋体" panose="02010600030101010101" pitchFamily="2" charset="-122"/>
                <a:ea typeface="宋体" panose="02010600030101010101" pitchFamily="2" charset="-122"/>
              </a:rPr>
              <a:t>～</a:t>
            </a:r>
            <a:r>
              <a:rPr lang="en-US" altLang="zh-CN" sz="2200" dirty="0">
                <a:latin typeface="宋体" panose="02010600030101010101" pitchFamily="2" charset="-122"/>
                <a:ea typeface="宋体" panose="02010600030101010101" pitchFamily="2" charset="-122"/>
              </a:rPr>
              <a:t>3FH</a:t>
            </a:r>
            <a:r>
              <a:rPr lang="zh-CN" altLang="zh-CN" sz="2200" dirty="0">
                <a:latin typeface="宋体" panose="02010600030101010101" pitchFamily="2" charset="-122"/>
                <a:ea typeface="宋体" panose="02010600030101010101" pitchFamily="2" charset="-122"/>
              </a:rPr>
              <a:t>时，调用</a:t>
            </a:r>
            <a:r>
              <a:rPr lang="en-US" altLang="zh-CN" sz="2200" dirty="0">
                <a:latin typeface="宋体" panose="02010600030101010101" pitchFamily="2" charset="-122"/>
                <a:ea typeface="宋体" panose="02010600030101010101" pitchFamily="2" charset="-122"/>
              </a:rPr>
              <a:t>DOS</a:t>
            </a:r>
            <a:r>
              <a:rPr lang="zh-CN" altLang="zh-CN" sz="2200" dirty="0">
                <a:latin typeface="宋体" panose="02010600030101010101" pitchFamily="2" charset="-122"/>
                <a:ea typeface="宋体" panose="02010600030101010101" pitchFamily="2" charset="-122"/>
              </a:rPr>
              <a:t>中的服务程序。其中，</a:t>
            </a:r>
            <a:r>
              <a:rPr lang="en-US" altLang="zh-CN" sz="2200" dirty="0">
                <a:latin typeface="宋体" panose="02010600030101010101" pitchFamily="2" charset="-122"/>
                <a:ea typeface="宋体" panose="02010600030101010101" pitchFamily="2" charset="-122"/>
              </a:rPr>
              <a:t>INT  21H</a:t>
            </a:r>
            <a:r>
              <a:rPr lang="zh-CN" altLang="zh-CN" sz="2200" dirty="0">
                <a:latin typeface="宋体" panose="02010600030101010101" pitchFamily="2" charset="-122"/>
                <a:ea typeface="宋体" panose="02010600030101010101" pitchFamily="2" charset="-122"/>
              </a:rPr>
              <a:t>是一个具有多种功能的服务程序，一般称为</a:t>
            </a:r>
            <a:r>
              <a:rPr lang="en-US" altLang="zh-CN" sz="2200" dirty="0">
                <a:latin typeface="宋体" panose="02010600030101010101" pitchFamily="2" charset="-122"/>
                <a:ea typeface="宋体" panose="02010600030101010101" pitchFamily="2" charset="-122"/>
              </a:rPr>
              <a:t>DOS</a:t>
            </a:r>
            <a:r>
              <a:rPr lang="zh-CN" altLang="zh-CN" sz="2200" dirty="0">
                <a:latin typeface="宋体" panose="02010600030101010101" pitchFamily="2" charset="-122"/>
                <a:ea typeface="宋体" panose="02010600030101010101" pitchFamily="2" charset="-122"/>
              </a:rPr>
              <a:t>系统功能调用。</a:t>
            </a:r>
          </a:p>
          <a:p>
            <a:pPr algn="just"/>
            <a:r>
              <a:rPr lang="en-US" altLang="zh-CN" sz="2200" dirty="0">
                <a:latin typeface="宋体" panose="02010600030101010101" pitchFamily="2" charset="-122"/>
                <a:ea typeface="宋体" panose="02010600030101010101" pitchFamily="2" charset="-122"/>
              </a:rPr>
              <a:t>    </a:t>
            </a:r>
            <a:r>
              <a:rPr lang="zh-CN" altLang="zh-CN" sz="2200" dirty="0">
                <a:latin typeface="宋体" panose="02010600030101010101" pitchFamily="2" charset="-122"/>
                <a:ea typeface="宋体" panose="02010600030101010101" pitchFamily="2" charset="-122"/>
              </a:rPr>
              <a:t>系统功能调用</a:t>
            </a:r>
            <a:r>
              <a:rPr lang="en-US" altLang="zh-CN" sz="2200" dirty="0">
                <a:latin typeface="宋体" panose="02010600030101010101" pitchFamily="2" charset="-122"/>
                <a:ea typeface="宋体" panose="02010600030101010101" pitchFamily="2" charset="-122"/>
              </a:rPr>
              <a:t>INT  21H</a:t>
            </a:r>
            <a:r>
              <a:rPr lang="zh-CN" altLang="zh-CN" sz="2200" dirty="0">
                <a:latin typeface="宋体" panose="02010600030101010101" pitchFamily="2" charset="-122"/>
                <a:ea typeface="宋体" panose="02010600030101010101" pitchFamily="2" charset="-122"/>
              </a:rPr>
              <a:t>是一个具有近</a:t>
            </a:r>
            <a:r>
              <a:rPr lang="en-US" altLang="zh-CN" sz="2200" dirty="0">
                <a:latin typeface="宋体" panose="02010600030101010101" pitchFamily="2" charset="-122"/>
                <a:ea typeface="宋体" panose="02010600030101010101" pitchFamily="2" charset="-122"/>
              </a:rPr>
              <a:t>90</a:t>
            </a:r>
            <a:r>
              <a:rPr lang="zh-CN" altLang="zh-CN" sz="2200" dirty="0">
                <a:latin typeface="宋体" panose="02010600030101010101" pitchFamily="2" charset="-122"/>
                <a:ea typeface="宋体" panose="02010600030101010101" pitchFamily="2" charset="-122"/>
              </a:rPr>
              <a:t>个子功能的中断服务程序，这些子功能的编号称为功能号。</a:t>
            </a:r>
            <a:r>
              <a:rPr lang="en-US" altLang="zh-CN" sz="2200" dirty="0">
                <a:latin typeface="宋体" panose="02010600030101010101" pitchFamily="2" charset="-122"/>
                <a:ea typeface="宋体" panose="02010600030101010101" pitchFamily="2" charset="-122"/>
              </a:rPr>
              <a:t>INT  21H</a:t>
            </a:r>
            <a:r>
              <a:rPr lang="zh-CN" altLang="zh-CN" sz="2200" dirty="0">
                <a:latin typeface="宋体" panose="02010600030101010101" pitchFamily="2" charset="-122"/>
                <a:ea typeface="宋体" panose="02010600030101010101" pitchFamily="2" charset="-122"/>
              </a:rPr>
              <a:t>的功能大致可分为四个方面，即设备管理、目录管理、文件管理和其他功能。</a:t>
            </a:r>
          </a:p>
          <a:p>
            <a:pPr algn="just"/>
            <a:r>
              <a:rPr lang="en-US" altLang="zh-CN" sz="2200" dirty="0">
                <a:latin typeface="宋体" panose="02010600030101010101" pitchFamily="2" charset="-122"/>
                <a:ea typeface="宋体" panose="02010600030101010101" pitchFamily="2" charset="-122"/>
              </a:rPr>
              <a:t>    </a:t>
            </a:r>
            <a:r>
              <a:rPr lang="zh-CN" altLang="zh-CN" sz="2200" dirty="0">
                <a:latin typeface="宋体" panose="02010600030101010101" pitchFamily="2" charset="-122"/>
                <a:ea typeface="宋体" panose="02010600030101010101" pitchFamily="2" charset="-122"/>
              </a:rPr>
              <a:t>设备管理主要包括键盘输入、显示输出、打印机输出、串行设备输入</a:t>
            </a:r>
            <a:r>
              <a:rPr lang="en-US" altLang="zh-CN" sz="2200" dirty="0">
                <a:latin typeface="宋体" panose="02010600030101010101" pitchFamily="2" charset="-122"/>
                <a:ea typeface="宋体" panose="02010600030101010101" pitchFamily="2" charset="-122"/>
              </a:rPr>
              <a:t>/</a:t>
            </a:r>
            <a:r>
              <a:rPr lang="zh-CN" altLang="zh-CN" sz="2200" dirty="0">
                <a:latin typeface="宋体" panose="02010600030101010101" pitchFamily="2" charset="-122"/>
                <a:ea typeface="宋体" panose="02010600030101010101" pitchFamily="2" charset="-122"/>
              </a:rPr>
              <a:t>输出、初始化磁盘、取剩余磁盘空间等。目录管理主要包括查找目录项、查找文件、置</a:t>
            </a:r>
            <a:r>
              <a:rPr lang="en-US" altLang="zh-CN" sz="2200" dirty="0">
                <a:latin typeface="宋体" panose="02010600030101010101" pitchFamily="2" charset="-122"/>
                <a:ea typeface="宋体" panose="02010600030101010101" pitchFamily="2" charset="-122"/>
              </a:rPr>
              <a:t>/</a:t>
            </a:r>
            <a:r>
              <a:rPr lang="zh-CN" altLang="zh-CN" sz="2200" dirty="0">
                <a:latin typeface="宋体" panose="02010600030101010101" pitchFamily="2" charset="-122"/>
                <a:ea typeface="宋体" panose="02010600030101010101" pitchFamily="2" charset="-122"/>
              </a:rPr>
              <a:t>取文件属性、文件设备等。文件管理主要包括打开、关闭、读写</a:t>
            </a:r>
            <a:r>
              <a:rPr lang="en-US" altLang="zh-CN" sz="2200" dirty="0">
                <a:latin typeface="宋体" panose="02010600030101010101" pitchFamily="2" charset="-122"/>
                <a:ea typeface="宋体" panose="02010600030101010101" pitchFamily="2" charset="-122"/>
              </a:rPr>
              <a:t>/</a:t>
            </a:r>
            <a:r>
              <a:rPr lang="zh-CN" altLang="zh-CN" sz="2200" dirty="0">
                <a:latin typeface="宋体" panose="02010600030101010101" pitchFamily="2" charset="-122"/>
                <a:ea typeface="宋体" panose="02010600030101010101" pitchFamily="2" charset="-122"/>
              </a:rPr>
              <a:t>删除文件等。其他功能包括终止程序、置</a:t>
            </a:r>
            <a:r>
              <a:rPr lang="en-US" altLang="zh-CN" sz="2200" dirty="0">
                <a:latin typeface="宋体" panose="02010600030101010101" pitchFamily="2" charset="-122"/>
                <a:ea typeface="宋体" panose="02010600030101010101" pitchFamily="2" charset="-122"/>
              </a:rPr>
              <a:t>/</a:t>
            </a:r>
            <a:r>
              <a:rPr lang="zh-CN" altLang="zh-CN" sz="2200" dirty="0">
                <a:latin typeface="宋体" panose="02010600030101010101" pitchFamily="2" charset="-122"/>
                <a:ea typeface="宋体" panose="02010600030101010101" pitchFamily="2" charset="-122"/>
              </a:rPr>
              <a:t>取中断矢量、分配内存、置</a:t>
            </a:r>
            <a:r>
              <a:rPr lang="en-US" altLang="zh-CN" sz="2200" dirty="0">
                <a:latin typeface="宋体" panose="02010600030101010101" pitchFamily="2" charset="-122"/>
                <a:ea typeface="宋体" panose="02010600030101010101" pitchFamily="2" charset="-122"/>
              </a:rPr>
              <a:t>/</a:t>
            </a:r>
            <a:r>
              <a:rPr lang="zh-CN" altLang="zh-CN" sz="2200" dirty="0">
                <a:latin typeface="宋体" panose="02010600030101010101" pitchFamily="2" charset="-122"/>
                <a:ea typeface="宋体" panose="02010600030101010101" pitchFamily="2" charset="-122"/>
              </a:rPr>
              <a:t>取日期及时间等。</a:t>
            </a:r>
          </a:p>
        </p:txBody>
      </p:sp>
    </p:spTree>
  </p:cSld>
  <p:clrMapOvr>
    <a:masterClrMapping/>
  </p:clrMapOvr>
  <p:transition spd="med">
    <p:random/>
  </p:transition>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4.5.7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系统功能调用</a:t>
            </a:r>
          </a:p>
        </p:txBody>
      </p:sp>
      <p:sp>
        <p:nvSpPr>
          <p:cNvPr id="11571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15715" name="TextBox 4"/>
          <p:cNvSpPr txBox="1"/>
          <p:nvPr/>
        </p:nvSpPr>
        <p:spPr>
          <a:xfrm>
            <a:off x="381000" y="1317625"/>
            <a:ext cx="8362950" cy="5540375"/>
          </a:xfrm>
          <a:prstGeom prst="rect">
            <a:avLst/>
          </a:prstGeom>
          <a:noFill/>
          <a:ln w="9525">
            <a:noFill/>
          </a:ln>
        </p:spPr>
        <p:txBody>
          <a:bodyPr anchor="t" anchorCtr="0">
            <a:spAutoFit/>
          </a:bodyPr>
          <a:lstStyle/>
          <a:p>
            <a:pPr algn="just"/>
            <a:r>
              <a:rPr lang="en-US" altLang="zh-CN" sz="2000" dirty="0">
                <a:latin typeface="宋体" panose="02010600030101010101" pitchFamily="2" charset="-122"/>
                <a:ea typeface="宋体" panose="02010600030101010101" pitchFamily="2" charset="-122"/>
              </a:rPr>
              <a:t>DOS</a:t>
            </a:r>
            <a:r>
              <a:rPr lang="zh-CN" altLang="zh-CN" sz="2000" dirty="0">
                <a:latin typeface="宋体" panose="02010600030101010101" pitchFamily="2" charset="-122"/>
                <a:ea typeface="宋体" panose="02010600030101010101" pitchFamily="2" charset="-122"/>
              </a:rPr>
              <a:t>系统功能调用的方法如下</a:t>
            </a:r>
            <a:r>
              <a:rPr lang="en-US" altLang="zh-CN" sz="2000" dirty="0">
                <a:latin typeface="宋体" panose="02010600030101010101" pitchFamily="2" charset="-122"/>
                <a:ea typeface="宋体" panose="02010600030101010101" pitchFamily="2" charset="-122"/>
              </a:rPr>
              <a:t>:</a:t>
            </a:r>
            <a:endParaRPr lang="zh-CN" altLang="zh-CN" sz="2000" dirty="0">
              <a:latin typeface="宋体" panose="02010600030101010101" pitchFamily="2" charset="-122"/>
              <a:ea typeface="宋体" panose="02010600030101010101" pitchFamily="2" charset="-122"/>
            </a:endParaRPr>
          </a:p>
          <a:p>
            <a:pPr algn="just"/>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）根据需要的功能调用设置入口参数。</a:t>
            </a:r>
          </a:p>
          <a:p>
            <a:pPr algn="just"/>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a:t>
            </a:r>
            <a:r>
              <a:rPr lang="zh-CN" altLang="zh-CN" sz="2000" dirty="0">
                <a:latin typeface="宋体" panose="02010600030101010101" pitchFamily="2" charset="-122"/>
                <a:ea typeface="宋体" panose="02010600030101010101" pitchFamily="2" charset="-122"/>
              </a:rPr>
              <a:t>）把功能调用号送入</a:t>
            </a:r>
            <a:r>
              <a:rPr lang="en-US" altLang="zh-CN" sz="2000" dirty="0">
                <a:latin typeface="宋体" panose="02010600030101010101" pitchFamily="2" charset="-122"/>
                <a:ea typeface="宋体" panose="02010600030101010101" pitchFamily="2" charset="-122"/>
              </a:rPr>
              <a:t>AH</a:t>
            </a:r>
            <a:r>
              <a:rPr lang="zh-CN" altLang="zh-CN" sz="2000" dirty="0">
                <a:latin typeface="宋体" panose="02010600030101010101" pitchFamily="2" charset="-122"/>
                <a:ea typeface="宋体" panose="02010600030101010101" pitchFamily="2" charset="-122"/>
              </a:rPr>
              <a:t>寄存器。</a:t>
            </a:r>
          </a:p>
          <a:p>
            <a:pPr algn="just"/>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3</a:t>
            </a:r>
            <a:r>
              <a:rPr lang="zh-CN" altLang="zh-CN" sz="2000" dirty="0">
                <a:latin typeface="宋体" panose="02010600030101010101" pitchFamily="2" charset="-122"/>
                <a:ea typeface="宋体" panose="02010600030101010101" pitchFamily="2" charset="-122"/>
              </a:rPr>
              <a:t>）发软中断指令“</a:t>
            </a:r>
            <a:r>
              <a:rPr lang="en-US" altLang="zh-CN" sz="2000" dirty="0">
                <a:latin typeface="宋体" panose="02010600030101010101" pitchFamily="2" charset="-122"/>
                <a:ea typeface="宋体" panose="02010600030101010101" pitchFamily="2" charset="-122"/>
              </a:rPr>
              <a:t>INT  21H</a:t>
            </a:r>
            <a:r>
              <a:rPr lang="zh-CN" altLang="zh-CN" sz="2000" dirty="0">
                <a:latin typeface="宋体" panose="02010600030101010101" pitchFamily="2" charset="-122"/>
                <a:ea typeface="宋体" panose="02010600030101010101" pitchFamily="2" charset="-122"/>
              </a:rPr>
              <a:t>”。</a:t>
            </a:r>
          </a:p>
          <a:p>
            <a:pPr algn="just"/>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4</a:t>
            </a:r>
            <a:r>
              <a:rPr lang="zh-CN" altLang="zh-CN" sz="2000" dirty="0">
                <a:latin typeface="宋体" panose="02010600030101010101" pitchFamily="2" charset="-122"/>
                <a:ea typeface="宋体" panose="02010600030101010101" pitchFamily="2" charset="-122"/>
              </a:rPr>
              <a:t>）可根据有关功能调用的说明取得出口参数。</a:t>
            </a:r>
          </a:p>
          <a:p>
            <a:pPr algn="just"/>
            <a:r>
              <a:rPr lang="zh-CN" altLang="zh-CN" sz="2000" dirty="0">
                <a:latin typeface="宋体" panose="02010600030101010101" pitchFamily="2" charset="-122"/>
                <a:ea typeface="宋体" panose="02010600030101010101" pitchFamily="2" charset="-122"/>
              </a:rPr>
              <a:t>下面介绍</a:t>
            </a:r>
            <a:r>
              <a:rPr lang="en-US" altLang="zh-CN" sz="2000" dirty="0">
                <a:latin typeface="宋体" panose="02010600030101010101" pitchFamily="2" charset="-122"/>
                <a:ea typeface="宋体" panose="02010600030101010101" pitchFamily="2" charset="-122"/>
              </a:rPr>
              <a:t>INT  21H</a:t>
            </a:r>
            <a:r>
              <a:rPr lang="zh-CN" altLang="zh-CN" sz="2000" dirty="0">
                <a:latin typeface="宋体" panose="02010600030101010101" pitchFamily="2" charset="-122"/>
                <a:ea typeface="宋体" panose="02010600030101010101" pitchFamily="2" charset="-122"/>
              </a:rPr>
              <a:t>的主要功能。</a:t>
            </a:r>
          </a:p>
          <a:p>
            <a:pPr algn="just"/>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）键盘输入。</a:t>
            </a:r>
          </a:p>
          <a:p>
            <a:pPr algn="just"/>
            <a:r>
              <a:rPr lang="zh-CN" altLang="zh-CN" sz="2000" dirty="0">
                <a:latin typeface="宋体" panose="02010600030101010101" pitchFamily="2" charset="-122"/>
                <a:ea typeface="宋体" panose="02010600030101010101" pitchFamily="2" charset="-122"/>
              </a:rPr>
              <a:t>有关键盘的系统功能调用的功能号有</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7</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8</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A</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B</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C</a:t>
            </a:r>
            <a:r>
              <a:rPr lang="zh-CN" altLang="zh-CN" sz="2000" dirty="0">
                <a:latin typeface="宋体" panose="02010600030101010101" pitchFamily="2" charset="-122"/>
                <a:ea typeface="宋体" panose="02010600030101010101" pitchFamily="2" charset="-122"/>
              </a:rPr>
              <a:t>。功能包括单字符输入、字符串输入、键盘状态检验等。</a:t>
            </a:r>
          </a:p>
          <a:p>
            <a:pPr algn="just"/>
            <a:r>
              <a:rPr lang="zh-CN" altLang="zh-CN" sz="2000" dirty="0">
                <a:latin typeface="宋体" panose="02010600030101010101" pitchFamily="2" charset="-122"/>
                <a:ea typeface="宋体" panose="02010600030101010101" pitchFamily="2" charset="-122"/>
              </a:rPr>
              <a:t>①</a:t>
            </a:r>
            <a:r>
              <a:rPr lang="en-US" altLang="zh-CN" sz="2000" dirty="0">
                <a:latin typeface="宋体" panose="02010600030101010101" pitchFamily="2" charset="-122"/>
                <a:ea typeface="宋体" panose="02010600030101010101" pitchFamily="2" charset="-122"/>
              </a:rPr>
              <a:t> </a:t>
            </a:r>
            <a:r>
              <a:rPr lang="zh-CN" altLang="zh-CN" sz="2000" dirty="0">
                <a:latin typeface="宋体" panose="02010600030101010101" pitchFamily="2" charset="-122"/>
                <a:ea typeface="宋体" panose="02010600030101010101" pitchFamily="2" charset="-122"/>
              </a:rPr>
              <a:t>键盘状态检验。</a:t>
            </a:r>
          </a:p>
          <a:p>
            <a:pPr algn="just"/>
            <a:r>
              <a:rPr lang="en-US" altLang="zh-CN" sz="2000" dirty="0">
                <a:latin typeface="宋体" panose="02010600030101010101" pitchFamily="2" charset="-122"/>
                <a:ea typeface="宋体" panose="02010600030101010101" pitchFamily="2" charset="-122"/>
              </a:rPr>
              <a:t>DOS</a:t>
            </a:r>
            <a:r>
              <a:rPr lang="zh-CN" altLang="zh-CN" sz="2000" dirty="0">
                <a:latin typeface="宋体" panose="02010600030101010101" pitchFamily="2" charset="-122"/>
                <a:ea typeface="宋体" panose="02010600030101010101" pitchFamily="2" charset="-122"/>
              </a:rPr>
              <a:t>系统功能调用的</a:t>
            </a:r>
            <a:r>
              <a:rPr lang="en-US" altLang="zh-CN" sz="2000" dirty="0">
                <a:latin typeface="宋体" panose="02010600030101010101" pitchFamily="2" charset="-122"/>
                <a:ea typeface="宋体" panose="02010600030101010101" pitchFamily="2" charset="-122"/>
              </a:rPr>
              <a:t>0BH</a:t>
            </a:r>
            <a:r>
              <a:rPr lang="zh-CN" altLang="zh-CN" sz="2000" dirty="0">
                <a:latin typeface="宋体" panose="02010600030101010101" pitchFamily="2" charset="-122"/>
                <a:ea typeface="宋体" panose="02010600030101010101" pitchFamily="2" charset="-122"/>
              </a:rPr>
              <a:t>号功能可以检验是否有字符输入。如果有键按下时</a:t>
            </a:r>
            <a:r>
              <a:rPr lang="en-US" altLang="zh-CN" sz="2000" dirty="0">
                <a:latin typeface="宋体" panose="02010600030101010101" pitchFamily="2" charset="-122"/>
                <a:ea typeface="宋体" panose="02010600030101010101" pitchFamily="2" charset="-122"/>
              </a:rPr>
              <a:t>AL=0FFH</a:t>
            </a:r>
            <a:r>
              <a:rPr lang="zh-CN" altLang="zh-CN" sz="2000" dirty="0">
                <a:latin typeface="宋体" panose="02010600030101010101" pitchFamily="2" charset="-122"/>
                <a:ea typeface="宋体" panose="02010600030101010101" pitchFamily="2" charset="-122"/>
              </a:rPr>
              <a:t>，否则</a:t>
            </a:r>
            <a:r>
              <a:rPr lang="en-US" altLang="zh-CN" sz="2000" dirty="0">
                <a:latin typeface="宋体" panose="02010600030101010101" pitchFamily="2" charset="-122"/>
                <a:ea typeface="宋体" panose="02010600030101010101" pitchFamily="2" charset="-122"/>
              </a:rPr>
              <a:t>AL=00H</a:t>
            </a:r>
            <a:r>
              <a:rPr lang="zh-CN" altLang="zh-CN" sz="2000" dirty="0">
                <a:latin typeface="宋体" panose="02010600030101010101" pitchFamily="2" charset="-122"/>
                <a:ea typeface="宋体" panose="02010600030101010101" pitchFamily="2" charset="-122"/>
              </a:rPr>
              <a:t>。</a:t>
            </a:r>
            <a:endParaRPr lang="en-US" altLang="zh-CN" sz="2000" dirty="0">
              <a:latin typeface="宋体" panose="02010600030101010101" pitchFamily="2" charset="-122"/>
              <a:ea typeface="宋体" panose="02010600030101010101" pitchFamily="2" charset="-122"/>
            </a:endParaRPr>
          </a:p>
          <a:p>
            <a:pPr algn="just"/>
            <a:r>
              <a:rPr lang="zh-CN" altLang="zh-CN" sz="2000" dirty="0">
                <a:latin typeface="宋体" panose="02010600030101010101" pitchFamily="2" charset="-122"/>
                <a:ea typeface="宋体" panose="02010600030101010101" pitchFamily="2" charset="-122"/>
              </a:rPr>
              <a:t>②</a:t>
            </a:r>
            <a:r>
              <a:rPr lang="en-US" altLang="zh-CN" sz="2000" dirty="0">
                <a:latin typeface="宋体" panose="02010600030101010101" pitchFamily="2" charset="-122"/>
                <a:ea typeface="宋体" panose="02010600030101010101" pitchFamily="2" charset="-122"/>
              </a:rPr>
              <a:t> </a:t>
            </a:r>
            <a:r>
              <a:rPr lang="zh-CN" altLang="zh-CN" sz="2000" dirty="0">
                <a:latin typeface="宋体" panose="02010600030101010101" pitchFamily="2" charset="-122"/>
                <a:ea typeface="宋体" panose="02010600030101010101" pitchFamily="2" charset="-122"/>
              </a:rPr>
              <a:t>单字符输入。</a:t>
            </a:r>
          </a:p>
          <a:p>
            <a:pPr algn="just"/>
            <a:r>
              <a:rPr lang="zh-CN" altLang="zh-CN" sz="2000" dirty="0">
                <a:latin typeface="宋体" panose="02010600030101010101" pitchFamily="2" charset="-122"/>
                <a:ea typeface="宋体" panose="02010600030101010101" pitchFamily="2" charset="-122"/>
              </a:rPr>
              <a:t>功能号</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7</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8</a:t>
            </a:r>
            <a:r>
              <a:rPr lang="zh-CN" altLang="zh-CN" sz="2000" dirty="0">
                <a:latin typeface="宋体" panose="02010600030101010101" pitchFamily="2" charset="-122"/>
                <a:ea typeface="宋体" panose="02010600030101010101" pitchFamily="2" charset="-122"/>
              </a:rPr>
              <a:t>都可以直接接收输入的字符。程序中常利用这些功能回答程序中的提示信息，或选择菜单中的可选项来执行不同的程序段。其中功能号</a:t>
            </a:r>
            <a:r>
              <a:rPr lang="en-US" altLang="zh-CN" sz="2000" dirty="0">
                <a:latin typeface="宋体" panose="02010600030101010101" pitchFamily="2" charset="-122"/>
                <a:ea typeface="宋体" panose="02010600030101010101" pitchFamily="2" charset="-122"/>
              </a:rPr>
              <a:t>7</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8</a:t>
            </a:r>
            <a:r>
              <a:rPr lang="zh-CN" altLang="zh-CN" sz="2000" dirty="0">
                <a:latin typeface="宋体" panose="02010600030101010101" pitchFamily="2" charset="-122"/>
                <a:ea typeface="宋体" panose="02010600030101010101" pitchFamily="2" charset="-122"/>
              </a:rPr>
              <a:t>有不回显的特性，可输入需要保密的信息。</a:t>
            </a:r>
          </a:p>
          <a:p>
            <a:pPr algn="just"/>
            <a:r>
              <a:rPr lang="zh-CN" altLang="zh-CN" sz="2000" dirty="0">
                <a:latin typeface="宋体" panose="02010600030101010101" pitchFamily="2" charset="-122"/>
                <a:ea typeface="宋体" panose="02010600030101010101" pitchFamily="2" charset="-122"/>
              </a:rPr>
              <a:t>入口参数没有，出口参数为</a:t>
            </a:r>
            <a:r>
              <a:rPr lang="en-US" altLang="zh-CN" sz="2000" dirty="0">
                <a:latin typeface="宋体" panose="02010600030101010101" pitchFamily="2" charset="-122"/>
                <a:ea typeface="宋体" panose="02010600030101010101" pitchFamily="2" charset="-122"/>
              </a:rPr>
              <a:t>AL=</a:t>
            </a:r>
            <a:r>
              <a:rPr lang="zh-CN" altLang="zh-CN" sz="2000" dirty="0">
                <a:latin typeface="宋体" panose="02010600030101010101" pitchFamily="2" charset="-122"/>
                <a:ea typeface="宋体" panose="02010600030101010101" pitchFamily="2" charset="-122"/>
              </a:rPr>
              <a:t>输入字符的</a:t>
            </a:r>
            <a:r>
              <a:rPr lang="en-US" altLang="zh-CN" sz="2000" dirty="0">
                <a:latin typeface="宋体" panose="02010600030101010101" pitchFamily="2" charset="-122"/>
                <a:ea typeface="宋体" panose="02010600030101010101" pitchFamily="2" charset="-122"/>
              </a:rPr>
              <a:t>ASCII</a:t>
            </a:r>
            <a:r>
              <a:rPr lang="zh-CN" altLang="zh-CN" sz="2000" dirty="0">
                <a:latin typeface="宋体" panose="02010600030101010101" pitchFamily="2" charset="-122"/>
                <a:ea typeface="宋体" panose="02010600030101010101" pitchFamily="2" charset="-122"/>
              </a:rPr>
              <a:t>码。</a:t>
            </a:r>
          </a:p>
        </p:txBody>
      </p:sp>
    </p:spTree>
  </p:cSld>
  <p:clrMapOvr>
    <a:masterClrMapping/>
  </p:clrMapOvr>
  <p:transition spd="med">
    <p:random/>
  </p:transition>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4.5.7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系统功能调用</a:t>
            </a:r>
          </a:p>
        </p:txBody>
      </p:sp>
      <p:sp>
        <p:nvSpPr>
          <p:cNvPr id="117762"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17763" name="TextBox 4"/>
          <p:cNvSpPr txBox="1"/>
          <p:nvPr/>
        </p:nvSpPr>
        <p:spPr>
          <a:xfrm>
            <a:off x="417513" y="1455738"/>
            <a:ext cx="8362950" cy="5016500"/>
          </a:xfrm>
          <a:prstGeom prst="rect">
            <a:avLst/>
          </a:prstGeom>
          <a:noFill/>
          <a:ln w="9525">
            <a:noFill/>
          </a:ln>
        </p:spPr>
        <p:txBody>
          <a:bodyPr anchor="t" anchorCtr="0">
            <a:spAutoFit/>
          </a:bodyPr>
          <a:lstStyle/>
          <a:p>
            <a:pPr algn="just"/>
            <a:r>
              <a:rPr lang="zh-CN" altLang="zh-CN" sz="2000" dirty="0">
                <a:latin typeface="宋体" panose="02010600030101010101" pitchFamily="2" charset="-122"/>
                <a:ea typeface="宋体" panose="02010600030101010101" pitchFamily="2" charset="-122"/>
              </a:rPr>
              <a:t>③</a:t>
            </a:r>
            <a:r>
              <a:rPr lang="en-US" altLang="zh-CN" sz="2000" dirty="0">
                <a:latin typeface="宋体" panose="02010600030101010101" pitchFamily="2" charset="-122"/>
                <a:ea typeface="宋体" panose="02010600030101010101" pitchFamily="2" charset="-122"/>
              </a:rPr>
              <a:t> </a:t>
            </a:r>
            <a:r>
              <a:rPr lang="zh-CN" altLang="zh-CN" sz="2000" dirty="0">
                <a:latin typeface="宋体" panose="02010600030101010101" pitchFamily="2" charset="-122"/>
                <a:ea typeface="宋体" panose="02010600030101010101" pitchFamily="2" charset="-122"/>
              </a:rPr>
              <a:t>字符串输入。</a:t>
            </a:r>
          </a:p>
          <a:p>
            <a:pPr algn="just"/>
            <a:r>
              <a:rPr lang="zh-CN" altLang="zh-CN" sz="2000" dirty="0">
                <a:latin typeface="宋体" panose="02010600030101010101" pitchFamily="2" charset="-122"/>
                <a:ea typeface="宋体" panose="02010600030101010101" pitchFamily="2" charset="-122"/>
              </a:rPr>
              <a:t>用户程序经常需要从键盘上接收一串字符。</a:t>
            </a:r>
            <a:r>
              <a:rPr lang="en-US" altLang="zh-CN" sz="2000" dirty="0">
                <a:latin typeface="宋体" panose="02010600030101010101" pitchFamily="2" charset="-122"/>
                <a:ea typeface="宋体" panose="02010600030101010101" pitchFamily="2" charset="-122"/>
              </a:rPr>
              <a:t>0AH</a:t>
            </a:r>
            <a:r>
              <a:rPr lang="zh-CN" altLang="zh-CN" sz="2000" dirty="0">
                <a:latin typeface="宋体" panose="02010600030101010101" pitchFamily="2" charset="-122"/>
                <a:ea typeface="宋体" panose="02010600030101010101" pitchFamily="2" charset="-122"/>
              </a:rPr>
              <a:t>号功能可以接收输入的字符串并将其存入内存中用户定义的缓冲区。缓冲区的第一个字节为用户定义的最大输入字符数，若用户输入的字符数（包括回车符）大于此数，则机器响铃，且光标不再右移，直到输入回车符为止。缓冲区的第二个字节为实际输入字符数（不包括回车符），由</a:t>
            </a:r>
            <a:r>
              <a:rPr lang="en-US" altLang="zh-CN" sz="2000" dirty="0">
                <a:latin typeface="宋体" panose="02010600030101010101" pitchFamily="2" charset="-122"/>
                <a:ea typeface="宋体" panose="02010600030101010101" pitchFamily="2" charset="-122"/>
              </a:rPr>
              <a:t>DOS</a:t>
            </a:r>
            <a:r>
              <a:rPr lang="zh-CN" altLang="zh-CN" sz="2000" dirty="0">
                <a:latin typeface="宋体" panose="02010600030101010101" pitchFamily="2" charset="-122"/>
                <a:ea typeface="宋体" panose="02010600030101010101" pitchFamily="2" charset="-122"/>
              </a:rPr>
              <a:t>自动填入，从第三个字节开始存放输入的字符。显然，缓冲区的大小等于最大字符数加</a:t>
            </a:r>
            <a:r>
              <a:rPr lang="en-US" altLang="zh-CN" sz="2000" dirty="0">
                <a:latin typeface="宋体" panose="02010600030101010101" pitchFamily="2" charset="-122"/>
                <a:ea typeface="宋体" panose="02010600030101010101" pitchFamily="2" charset="-122"/>
              </a:rPr>
              <a:t>2</a:t>
            </a:r>
            <a:r>
              <a:rPr lang="zh-CN" altLang="zh-CN" sz="2000" dirty="0">
                <a:latin typeface="宋体" panose="02010600030101010101" pitchFamily="2" charset="-122"/>
                <a:ea typeface="宋体" panose="02010600030101010101" pitchFamily="2" charset="-122"/>
              </a:rPr>
              <a:t>。</a:t>
            </a:r>
          </a:p>
          <a:p>
            <a:pPr algn="just"/>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a:t>
            </a:r>
            <a:r>
              <a:rPr lang="zh-CN" altLang="zh-CN" sz="2000" dirty="0">
                <a:latin typeface="宋体" panose="02010600030101010101" pitchFamily="2" charset="-122"/>
                <a:ea typeface="宋体" panose="02010600030101010101" pitchFamily="2" charset="-122"/>
              </a:rPr>
              <a:t>）显示器（</a:t>
            </a:r>
            <a:r>
              <a:rPr lang="en-US" altLang="zh-CN" sz="2000" dirty="0">
                <a:latin typeface="宋体" panose="02010600030101010101" pitchFamily="2" charset="-122"/>
                <a:ea typeface="宋体" panose="02010600030101010101" pitchFamily="2" charset="-122"/>
              </a:rPr>
              <a:t>CRT</a:t>
            </a:r>
            <a:r>
              <a:rPr lang="zh-CN" altLang="zh-CN" sz="2000" dirty="0">
                <a:latin typeface="宋体" panose="02010600030101010101" pitchFamily="2" charset="-122"/>
                <a:ea typeface="宋体" panose="02010600030101010101" pitchFamily="2" charset="-122"/>
              </a:rPr>
              <a:t>）输入。</a:t>
            </a:r>
          </a:p>
          <a:p>
            <a:pPr algn="just"/>
            <a:r>
              <a:rPr lang="zh-CN" altLang="zh-CN" sz="2000" dirty="0">
                <a:latin typeface="宋体" panose="02010600030101010101" pitchFamily="2" charset="-122"/>
                <a:ea typeface="宋体" panose="02010600030101010101" pitchFamily="2" charset="-122"/>
              </a:rPr>
              <a:t>功能号</a:t>
            </a:r>
            <a:r>
              <a:rPr lang="en-US" altLang="zh-CN" sz="2000" dirty="0">
                <a:latin typeface="宋体" panose="02010600030101010101" pitchFamily="2" charset="-122"/>
                <a:ea typeface="宋体" panose="02010600030101010101" pitchFamily="2" charset="-122"/>
              </a:rPr>
              <a:t>2</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6</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9</a:t>
            </a:r>
            <a:r>
              <a:rPr lang="zh-CN" altLang="zh-CN" sz="2000" dirty="0">
                <a:latin typeface="宋体" panose="02010600030101010101" pitchFamily="2" charset="-122"/>
                <a:ea typeface="宋体" panose="02010600030101010101" pitchFamily="2" charset="-122"/>
              </a:rPr>
              <a:t>是关于显示器的系统功能调用。</a:t>
            </a:r>
          </a:p>
          <a:p>
            <a:pPr algn="just"/>
            <a:r>
              <a:rPr lang="zh-CN" altLang="zh-CN" sz="2000" dirty="0">
                <a:latin typeface="宋体" panose="02010600030101010101" pitchFamily="2" charset="-122"/>
                <a:ea typeface="宋体" panose="02010600030101010101" pitchFamily="2" charset="-122"/>
              </a:rPr>
              <a:t>使用功能调用</a:t>
            </a:r>
            <a:r>
              <a:rPr lang="en-US" altLang="zh-CN" sz="2000" dirty="0">
                <a:latin typeface="宋体" panose="02010600030101010101" pitchFamily="2" charset="-122"/>
                <a:ea typeface="宋体" panose="02010600030101010101" pitchFamily="2" charset="-122"/>
              </a:rPr>
              <a:t>9</a:t>
            </a:r>
            <a:r>
              <a:rPr lang="zh-CN" altLang="zh-CN" sz="2000" dirty="0">
                <a:latin typeface="宋体" panose="02010600030101010101" pitchFamily="2" charset="-122"/>
                <a:ea typeface="宋体" panose="02010600030101010101" pitchFamily="2" charset="-122"/>
              </a:rPr>
              <a:t>时，需要注意两点：第一，被显示的字符串必须以“</a:t>
            </a:r>
            <a:r>
              <a:rPr lang="en-US" altLang="zh-CN" sz="2000" dirty="0">
                <a:latin typeface="宋体" panose="02010600030101010101" pitchFamily="2" charset="-122"/>
                <a:ea typeface="宋体" panose="02010600030101010101" pitchFamily="2" charset="-122"/>
              </a:rPr>
              <a:t>$</a:t>
            </a:r>
            <a:r>
              <a:rPr lang="zh-CN" altLang="zh-CN" sz="2000" dirty="0">
                <a:latin typeface="宋体" panose="02010600030101010101" pitchFamily="2" charset="-122"/>
                <a:ea typeface="宋体" panose="02010600030101010101" pitchFamily="2" charset="-122"/>
              </a:rPr>
              <a:t>”为结束符；第二，当显示由功能</a:t>
            </a:r>
            <a:r>
              <a:rPr lang="en-US" altLang="zh-CN" sz="2000" dirty="0">
                <a:latin typeface="宋体" panose="02010600030101010101" pitchFamily="2" charset="-122"/>
                <a:ea typeface="宋体" panose="02010600030101010101" pitchFamily="2" charset="-122"/>
              </a:rPr>
              <a:t>0A</a:t>
            </a:r>
            <a:r>
              <a:rPr lang="zh-CN" altLang="zh-CN" sz="2000" dirty="0">
                <a:latin typeface="宋体" panose="02010600030101010101" pitchFamily="2" charset="-122"/>
                <a:ea typeface="宋体" panose="02010600030101010101" pitchFamily="2" charset="-122"/>
              </a:rPr>
              <a:t>输入的字符串时，</a:t>
            </a:r>
            <a:r>
              <a:rPr lang="en-US" altLang="zh-CN" sz="2000" dirty="0">
                <a:latin typeface="宋体" panose="02010600030101010101" pitchFamily="2" charset="-122"/>
                <a:ea typeface="宋体" panose="02010600030101010101" pitchFamily="2" charset="-122"/>
              </a:rPr>
              <a:t>DS:DX</a:t>
            </a:r>
            <a:r>
              <a:rPr lang="zh-CN" altLang="zh-CN" sz="2000" dirty="0">
                <a:latin typeface="宋体" panose="02010600030101010101" pitchFamily="2" charset="-122"/>
                <a:ea typeface="宋体" panose="02010600030101010101" pitchFamily="2" charset="-122"/>
              </a:rPr>
              <a:t>应指向用户定义缓冲区的第三个字节，即输入的第一个字符的存储单元。</a:t>
            </a:r>
          </a:p>
          <a:p>
            <a:pPr algn="just"/>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3</a:t>
            </a:r>
            <a:r>
              <a:rPr lang="zh-CN" altLang="zh-CN" sz="2000" dirty="0">
                <a:latin typeface="宋体" panose="02010600030101010101" pitchFamily="2" charset="-122"/>
                <a:ea typeface="宋体" panose="02010600030101010101" pitchFamily="2" charset="-122"/>
              </a:rPr>
              <a:t>）返回操作系统。</a:t>
            </a:r>
          </a:p>
          <a:p>
            <a:pPr algn="just"/>
            <a:r>
              <a:rPr lang="zh-CN" altLang="zh-CN" sz="2000" dirty="0">
                <a:latin typeface="宋体" panose="02010600030101010101" pitchFamily="2" charset="-122"/>
                <a:ea typeface="宋体" panose="02010600030101010101" pitchFamily="2" charset="-122"/>
              </a:rPr>
              <a:t>这是</a:t>
            </a:r>
            <a:r>
              <a:rPr lang="en-US" altLang="zh-CN" sz="2000" dirty="0">
                <a:latin typeface="宋体" panose="02010600030101010101" pitchFamily="2" charset="-122"/>
                <a:ea typeface="宋体" panose="02010600030101010101" pitchFamily="2" charset="-122"/>
              </a:rPr>
              <a:t>4CH</a:t>
            </a:r>
            <a:r>
              <a:rPr lang="zh-CN" altLang="zh-CN" sz="2000" dirty="0">
                <a:latin typeface="宋体" panose="02010600030101010101" pitchFamily="2" charset="-122"/>
                <a:ea typeface="宋体" panose="02010600030101010101" pitchFamily="2" charset="-122"/>
              </a:rPr>
              <a:t>号系统功能调用，其格式如下：</a:t>
            </a:r>
          </a:p>
          <a:p>
            <a:pPr algn="just"/>
            <a:r>
              <a:rPr lang="en-US" altLang="zh-CN" sz="2000" dirty="0">
                <a:latin typeface="宋体" panose="02010600030101010101" pitchFamily="2" charset="-122"/>
                <a:ea typeface="宋体" panose="02010600030101010101" pitchFamily="2" charset="-122"/>
              </a:rPr>
              <a:t> MOV    AH</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4CH</a:t>
            </a:r>
            <a:endParaRPr lang="zh-CN" altLang="zh-CN" sz="2000" dirty="0">
              <a:latin typeface="宋体" panose="02010600030101010101" pitchFamily="2" charset="-122"/>
              <a:ea typeface="宋体" panose="02010600030101010101" pitchFamily="2" charset="-122"/>
            </a:endParaRPr>
          </a:p>
          <a:p>
            <a:pPr algn="just"/>
            <a:r>
              <a:rPr lang="zh-CN" altLang="zh-CN" sz="2000" dirty="0">
                <a:latin typeface="宋体" panose="02010600030101010101" pitchFamily="2" charset="-122"/>
                <a:ea typeface="宋体" panose="02010600030101010101" pitchFamily="2" charset="-122"/>
              </a:rPr>
              <a:t>它没有入口参数，执行结果是结束当前正在执行的程序。</a:t>
            </a:r>
          </a:p>
        </p:txBody>
      </p:sp>
    </p:spTree>
  </p:cSld>
  <p:clrMapOvr>
    <a:masterClrMapping/>
  </p:clrMapOvr>
  <p:transition spd="med">
    <p:random/>
  </p:transition>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4.5.7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系统功能调用</a:t>
            </a:r>
          </a:p>
        </p:txBody>
      </p:sp>
      <p:sp>
        <p:nvSpPr>
          <p:cNvPr id="119810"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19811" name="TextBox 4"/>
          <p:cNvSpPr txBox="1"/>
          <p:nvPr/>
        </p:nvSpPr>
        <p:spPr>
          <a:xfrm>
            <a:off x="292100" y="1677988"/>
            <a:ext cx="8567738" cy="4432300"/>
          </a:xfrm>
          <a:prstGeom prst="rect">
            <a:avLst/>
          </a:prstGeom>
          <a:noFill/>
          <a:ln w="9525">
            <a:noFill/>
          </a:ln>
        </p:spPr>
        <p:txBody>
          <a:bodyPr anchor="t" anchorCtr="0">
            <a:spAutoFit/>
          </a:bodyPr>
          <a:lstStyle/>
          <a:p>
            <a:r>
              <a:rPr lang="zh-CN" altLang="zh-CN" sz="2000" dirty="0">
                <a:solidFill>
                  <a:srgbClr val="FF3300"/>
                </a:solidFill>
                <a:latin typeface="宋体" panose="02010600030101010101" pitchFamily="2" charset="-122"/>
                <a:ea typeface="宋体" panose="02010600030101010101" pitchFamily="2" charset="-122"/>
              </a:rPr>
              <a:t>【例</a:t>
            </a:r>
            <a:r>
              <a:rPr lang="en-US" altLang="zh-CN" sz="2000" dirty="0">
                <a:solidFill>
                  <a:srgbClr val="FF3300"/>
                </a:solidFill>
                <a:latin typeface="宋体" panose="02010600030101010101" pitchFamily="2" charset="-122"/>
                <a:ea typeface="宋体" panose="02010600030101010101" pitchFamily="2" charset="-122"/>
              </a:rPr>
              <a:t>4.12</a:t>
            </a:r>
            <a:r>
              <a:rPr lang="zh-CN" altLang="zh-CN" sz="2000" dirty="0">
                <a:solidFill>
                  <a:srgbClr val="FF3300"/>
                </a:solidFill>
                <a:latin typeface="宋体" panose="02010600030101010101" pitchFamily="2" charset="-122"/>
                <a:ea typeface="宋体" panose="02010600030101010101" pitchFamily="2" charset="-122"/>
              </a:rPr>
              <a:t>】</a:t>
            </a:r>
            <a:r>
              <a:rPr lang="zh-CN" altLang="zh-CN" sz="2000" dirty="0">
                <a:latin typeface="宋体" panose="02010600030101010101" pitchFamily="2" charset="-122"/>
                <a:ea typeface="宋体" panose="02010600030101010101" pitchFamily="2" charset="-122"/>
              </a:rPr>
              <a:t>接收键盘输入并在屏幕上显示。如果是“</a:t>
            </a:r>
            <a:r>
              <a:rPr lang="en-US" altLang="zh-CN" sz="2000" dirty="0">
                <a:latin typeface="宋体" panose="02010600030101010101" pitchFamily="2" charset="-122"/>
                <a:ea typeface="宋体" panose="02010600030101010101" pitchFamily="2" charset="-122"/>
              </a:rPr>
              <a:t>Esc</a:t>
            </a:r>
            <a:r>
              <a:rPr lang="zh-CN" altLang="zh-CN" sz="2000" dirty="0">
                <a:latin typeface="宋体" panose="02010600030101010101" pitchFamily="2" charset="-122"/>
                <a:ea typeface="宋体" panose="02010600030101010101" pitchFamily="2" charset="-122"/>
              </a:rPr>
              <a:t>”键，则退出程序。</a:t>
            </a:r>
          </a:p>
          <a:p>
            <a:r>
              <a:rPr lang="en-US" altLang="zh-CN" sz="2000" dirty="0">
                <a:latin typeface="宋体" panose="02010600030101010101" pitchFamily="2" charset="-122"/>
                <a:ea typeface="宋体" panose="02010600030101010101" pitchFamily="2" charset="-122"/>
              </a:rPr>
              <a:t> </a:t>
            </a:r>
            <a:endParaRPr lang="zh-CN" altLang="zh-CN" sz="2000" dirty="0">
              <a:latin typeface="宋体" panose="02010600030101010101" pitchFamily="2" charset="-122"/>
              <a:ea typeface="宋体" panose="02010600030101010101" pitchFamily="2" charset="-122"/>
            </a:endParaRPr>
          </a:p>
          <a:p>
            <a:r>
              <a:rPr lang="en-US" altLang="zh-CN" sz="2000" dirty="0">
                <a:latin typeface="宋体" panose="02010600030101010101" pitchFamily="2" charset="-122"/>
                <a:ea typeface="宋体" panose="02010600030101010101" pitchFamily="2" charset="-122"/>
              </a:rPr>
              <a:t>  CSEG    SEGMENT</a:t>
            </a:r>
            <a:endParaRPr lang="zh-CN" altLang="zh-CN" sz="2000" dirty="0">
              <a:latin typeface="宋体" panose="02010600030101010101" pitchFamily="2" charset="-122"/>
              <a:ea typeface="宋体" panose="02010600030101010101" pitchFamily="2" charset="-122"/>
            </a:endParaRPr>
          </a:p>
          <a:p>
            <a:r>
              <a:rPr lang="en-US" altLang="zh-CN" sz="2000" dirty="0">
                <a:latin typeface="宋体" panose="02010600030101010101" pitchFamily="2" charset="-122"/>
                <a:ea typeface="宋体" panose="02010600030101010101" pitchFamily="2" charset="-122"/>
              </a:rPr>
              <a:t>        ASSUME   CS: CSEG</a:t>
            </a:r>
            <a:endParaRPr lang="zh-CN" altLang="zh-CN" sz="2000" dirty="0">
              <a:latin typeface="宋体" panose="02010600030101010101" pitchFamily="2" charset="-122"/>
              <a:ea typeface="宋体" panose="02010600030101010101" pitchFamily="2" charset="-122"/>
            </a:endParaRPr>
          </a:p>
          <a:p>
            <a:r>
              <a:rPr lang="en-US" altLang="zh-CN" sz="2000" dirty="0">
                <a:latin typeface="宋体" panose="02010600030101010101" pitchFamily="2" charset="-122"/>
                <a:ea typeface="宋体" panose="02010600030101010101" pitchFamily="2" charset="-122"/>
              </a:rPr>
              <a:t>   START:  MOV    AH , 01H    </a:t>
            </a:r>
            <a:r>
              <a:rPr lang="en-US" altLang="zh-CN" sz="2000" dirty="0">
                <a:solidFill>
                  <a:srgbClr val="00CC00"/>
                </a:solidFill>
                <a:latin typeface="宋体" panose="02010600030101010101" pitchFamily="2" charset="-122"/>
                <a:ea typeface="宋体" panose="02010600030101010101" pitchFamily="2" charset="-122"/>
              </a:rPr>
              <a:t>;</a:t>
            </a:r>
            <a:r>
              <a:rPr lang="zh-CN" altLang="zh-CN" sz="2000" dirty="0">
                <a:solidFill>
                  <a:srgbClr val="00CC00"/>
                </a:solidFill>
                <a:latin typeface="宋体" panose="02010600030101010101" pitchFamily="2" charset="-122"/>
                <a:ea typeface="宋体" panose="02010600030101010101" pitchFamily="2" charset="-122"/>
              </a:rPr>
              <a:t>功能号为</a:t>
            </a:r>
            <a:r>
              <a:rPr lang="en-US" altLang="zh-CN" sz="2000" dirty="0">
                <a:solidFill>
                  <a:srgbClr val="00CC00"/>
                </a:solidFill>
                <a:latin typeface="宋体" panose="02010600030101010101" pitchFamily="2" charset="-122"/>
                <a:ea typeface="宋体" panose="02010600030101010101" pitchFamily="2" charset="-122"/>
              </a:rPr>
              <a:t>01H</a:t>
            </a:r>
            <a:r>
              <a:rPr lang="zh-CN" altLang="zh-CN" sz="2000" dirty="0">
                <a:solidFill>
                  <a:srgbClr val="00CC00"/>
                </a:solidFill>
                <a:latin typeface="宋体" panose="02010600030101010101" pitchFamily="2" charset="-122"/>
                <a:ea typeface="宋体" panose="02010600030101010101" pitchFamily="2" charset="-122"/>
              </a:rPr>
              <a:t>的功能是键盘输入并回显</a:t>
            </a:r>
          </a:p>
          <a:p>
            <a:r>
              <a:rPr lang="en-US" altLang="zh-CN" sz="2000" dirty="0">
                <a:latin typeface="宋体" panose="02010600030101010101" pitchFamily="2" charset="-122"/>
                <a:ea typeface="宋体" panose="02010600030101010101" pitchFamily="2" charset="-122"/>
              </a:rPr>
              <a:t>   INPUT:  INT    21H</a:t>
            </a:r>
            <a:endParaRPr lang="zh-CN" altLang="zh-CN" sz="2000" dirty="0">
              <a:latin typeface="宋体" panose="02010600030101010101" pitchFamily="2" charset="-122"/>
              <a:ea typeface="宋体" panose="02010600030101010101" pitchFamily="2" charset="-122"/>
            </a:endParaRPr>
          </a:p>
          <a:p>
            <a:r>
              <a:rPr lang="en-US" altLang="zh-CN" sz="2000" dirty="0">
                <a:latin typeface="宋体" panose="02010600030101010101" pitchFamily="2" charset="-122"/>
                <a:ea typeface="宋体" panose="02010600030101010101" pitchFamily="2" charset="-122"/>
              </a:rPr>
              <a:t>           CMP    AL , 1BH    </a:t>
            </a:r>
            <a:r>
              <a:rPr lang="en-US" altLang="zh-CN" sz="2000" dirty="0">
                <a:solidFill>
                  <a:srgbClr val="00CC00"/>
                </a:solidFill>
                <a:latin typeface="宋体" panose="02010600030101010101" pitchFamily="2" charset="-122"/>
                <a:ea typeface="宋体" panose="02010600030101010101" pitchFamily="2" charset="-122"/>
              </a:rPr>
              <a:t>;</a:t>
            </a:r>
            <a:r>
              <a:rPr lang="zh-CN" altLang="zh-CN" sz="2000" dirty="0">
                <a:solidFill>
                  <a:srgbClr val="00CC00"/>
                </a:solidFill>
                <a:latin typeface="宋体" panose="02010600030101010101" pitchFamily="2" charset="-122"/>
                <a:ea typeface="宋体" panose="02010600030101010101" pitchFamily="2" charset="-122"/>
              </a:rPr>
              <a:t>“</a:t>
            </a:r>
            <a:r>
              <a:rPr lang="en-US" altLang="zh-CN" sz="2000" dirty="0">
                <a:solidFill>
                  <a:srgbClr val="00CC00"/>
                </a:solidFill>
                <a:latin typeface="宋体" panose="02010600030101010101" pitchFamily="2" charset="-122"/>
                <a:ea typeface="宋体" panose="02010600030101010101" pitchFamily="2" charset="-122"/>
              </a:rPr>
              <a:t>Esc</a:t>
            </a:r>
            <a:r>
              <a:rPr lang="zh-CN" altLang="zh-CN" sz="2000" dirty="0">
                <a:solidFill>
                  <a:srgbClr val="00CC00"/>
                </a:solidFill>
                <a:latin typeface="宋体" panose="02010600030101010101" pitchFamily="2" charset="-122"/>
                <a:ea typeface="宋体" panose="02010600030101010101" pitchFamily="2" charset="-122"/>
              </a:rPr>
              <a:t>”键的</a:t>
            </a:r>
            <a:r>
              <a:rPr lang="en-US" altLang="zh-CN" sz="2000" dirty="0">
                <a:solidFill>
                  <a:srgbClr val="00CC00"/>
                </a:solidFill>
                <a:latin typeface="宋体" panose="02010600030101010101" pitchFamily="2" charset="-122"/>
                <a:ea typeface="宋体" panose="02010600030101010101" pitchFamily="2" charset="-122"/>
              </a:rPr>
              <a:t>ASCII</a:t>
            </a:r>
            <a:r>
              <a:rPr lang="zh-CN" altLang="zh-CN" sz="2000" dirty="0">
                <a:solidFill>
                  <a:srgbClr val="00CC00"/>
                </a:solidFill>
                <a:latin typeface="宋体" panose="02010600030101010101" pitchFamily="2" charset="-122"/>
                <a:ea typeface="宋体" panose="02010600030101010101" pitchFamily="2" charset="-122"/>
              </a:rPr>
              <a:t>是</a:t>
            </a:r>
            <a:r>
              <a:rPr lang="en-US" altLang="zh-CN" sz="2000" dirty="0">
                <a:solidFill>
                  <a:srgbClr val="00CC00"/>
                </a:solidFill>
                <a:latin typeface="宋体" panose="02010600030101010101" pitchFamily="2" charset="-122"/>
                <a:ea typeface="宋体" panose="02010600030101010101" pitchFamily="2" charset="-122"/>
              </a:rPr>
              <a:t>1BH</a:t>
            </a:r>
            <a:endParaRPr lang="zh-CN" altLang="zh-CN" sz="2000" dirty="0">
              <a:solidFill>
                <a:srgbClr val="00CC00"/>
              </a:solidFill>
              <a:latin typeface="宋体" panose="02010600030101010101" pitchFamily="2" charset="-122"/>
              <a:ea typeface="宋体" panose="02010600030101010101" pitchFamily="2" charset="-122"/>
            </a:endParaRPr>
          </a:p>
          <a:p>
            <a:r>
              <a:rPr lang="en-US" altLang="zh-CN" sz="2000" dirty="0">
                <a:latin typeface="宋体" panose="02010600030101010101" pitchFamily="2" charset="-122"/>
                <a:ea typeface="宋体" panose="02010600030101010101" pitchFamily="2" charset="-122"/>
              </a:rPr>
              <a:t>           JZ     OVER        </a:t>
            </a:r>
            <a:r>
              <a:rPr lang="en-US" altLang="zh-CN" sz="2000" dirty="0">
                <a:solidFill>
                  <a:srgbClr val="00CC00"/>
                </a:solidFill>
                <a:latin typeface="宋体" panose="02010600030101010101" pitchFamily="2" charset="-122"/>
                <a:ea typeface="宋体" panose="02010600030101010101" pitchFamily="2" charset="-122"/>
              </a:rPr>
              <a:t>;</a:t>
            </a:r>
            <a:r>
              <a:rPr lang="zh-CN" altLang="zh-CN" sz="2000" dirty="0">
                <a:solidFill>
                  <a:srgbClr val="00CC00"/>
                </a:solidFill>
                <a:latin typeface="宋体" panose="02010600030101010101" pitchFamily="2" charset="-122"/>
                <a:ea typeface="宋体" panose="02010600030101010101" pitchFamily="2" charset="-122"/>
              </a:rPr>
              <a:t>输入为“</a:t>
            </a:r>
            <a:r>
              <a:rPr lang="en-US" altLang="zh-CN" sz="2000" dirty="0">
                <a:solidFill>
                  <a:srgbClr val="00CC00"/>
                </a:solidFill>
                <a:latin typeface="宋体" panose="02010600030101010101" pitchFamily="2" charset="-122"/>
                <a:ea typeface="宋体" panose="02010600030101010101" pitchFamily="2" charset="-122"/>
              </a:rPr>
              <a:t>Esc</a:t>
            </a:r>
            <a:r>
              <a:rPr lang="zh-CN" altLang="zh-CN" sz="2000" dirty="0">
                <a:solidFill>
                  <a:srgbClr val="00CC00"/>
                </a:solidFill>
                <a:latin typeface="宋体" panose="02010600030101010101" pitchFamily="2" charset="-122"/>
                <a:ea typeface="宋体" panose="02010600030101010101" pitchFamily="2" charset="-122"/>
              </a:rPr>
              <a:t>”键时，返回</a:t>
            </a:r>
            <a:r>
              <a:rPr lang="en-US" altLang="zh-CN" sz="2000" dirty="0">
                <a:solidFill>
                  <a:srgbClr val="00CC00"/>
                </a:solidFill>
                <a:latin typeface="宋体" panose="02010600030101010101" pitchFamily="2" charset="-122"/>
                <a:ea typeface="宋体" panose="02010600030101010101" pitchFamily="2" charset="-122"/>
              </a:rPr>
              <a:t>DOS</a:t>
            </a:r>
            <a:endParaRPr lang="zh-CN" altLang="zh-CN" sz="2000" dirty="0">
              <a:solidFill>
                <a:srgbClr val="00CC00"/>
              </a:solidFill>
              <a:latin typeface="宋体" panose="02010600030101010101" pitchFamily="2" charset="-122"/>
              <a:ea typeface="宋体" panose="02010600030101010101" pitchFamily="2" charset="-122"/>
            </a:endParaRPr>
          </a:p>
          <a:p>
            <a:r>
              <a:rPr lang="en-US" altLang="zh-CN" sz="2000" dirty="0">
                <a:latin typeface="宋体" panose="02010600030101010101" pitchFamily="2" charset="-122"/>
                <a:ea typeface="宋体" panose="02010600030101010101" pitchFamily="2" charset="-122"/>
              </a:rPr>
              <a:t>           JMP    INPUT</a:t>
            </a:r>
            <a:endParaRPr lang="zh-CN" altLang="zh-CN" sz="2000" dirty="0">
              <a:latin typeface="宋体" panose="02010600030101010101" pitchFamily="2" charset="-122"/>
              <a:ea typeface="宋体" panose="02010600030101010101" pitchFamily="2" charset="-122"/>
            </a:endParaRPr>
          </a:p>
          <a:p>
            <a:r>
              <a:rPr lang="en-US" altLang="zh-CN" sz="2000" dirty="0">
                <a:latin typeface="宋体" panose="02010600030101010101" pitchFamily="2" charset="-122"/>
                <a:ea typeface="宋体" panose="02010600030101010101" pitchFamily="2" charset="-122"/>
              </a:rPr>
              <a:t>    OVER:  MOV    AH , 4CH</a:t>
            </a:r>
            <a:endParaRPr lang="zh-CN" altLang="zh-CN" sz="2000" dirty="0">
              <a:latin typeface="宋体" panose="02010600030101010101" pitchFamily="2" charset="-122"/>
              <a:ea typeface="宋体" panose="02010600030101010101" pitchFamily="2" charset="-122"/>
            </a:endParaRPr>
          </a:p>
          <a:p>
            <a:r>
              <a:rPr lang="en-US" altLang="zh-CN" sz="2000" dirty="0">
                <a:latin typeface="宋体" panose="02010600030101010101" pitchFamily="2" charset="-122"/>
                <a:ea typeface="宋体" panose="02010600030101010101" pitchFamily="2" charset="-122"/>
              </a:rPr>
              <a:t>           INT    21H</a:t>
            </a:r>
            <a:endParaRPr lang="zh-CN" altLang="zh-CN" sz="2000" dirty="0">
              <a:latin typeface="宋体" panose="02010600030101010101" pitchFamily="2" charset="-122"/>
              <a:ea typeface="宋体" panose="02010600030101010101" pitchFamily="2" charset="-122"/>
            </a:endParaRPr>
          </a:p>
          <a:p>
            <a:r>
              <a:rPr lang="en-US" altLang="zh-CN" sz="2000" dirty="0">
                <a:latin typeface="宋体" panose="02010600030101010101" pitchFamily="2" charset="-122"/>
                <a:ea typeface="宋体" panose="02010600030101010101" pitchFamily="2" charset="-122"/>
              </a:rPr>
              <a:t>  CSEG     ENDS</a:t>
            </a:r>
            <a:endParaRPr lang="zh-CN" altLang="zh-CN" sz="2000" dirty="0">
              <a:latin typeface="宋体" panose="02010600030101010101" pitchFamily="2" charset="-122"/>
              <a:ea typeface="宋体" panose="02010600030101010101" pitchFamily="2" charset="-122"/>
            </a:endParaRPr>
          </a:p>
          <a:p>
            <a:r>
              <a:rPr lang="en-US" altLang="zh-CN" sz="2000" dirty="0">
                <a:latin typeface="宋体" panose="02010600030101010101" pitchFamily="2" charset="-122"/>
                <a:ea typeface="宋体" panose="02010600030101010101" pitchFamily="2" charset="-122"/>
              </a:rPr>
              <a:t>           END     START</a:t>
            </a:r>
            <a:endParaRPr lang="zh-CN" altLang="zh-CN" sz="200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4.5.7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系统功能调用</a:t>
            </a:r>
          </a:p>
        </p:txBody>
      </p:sp>
      <p:sp>
        <p:nvSpPr>
          <p:cNvPr id="121858"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21859" name="TextBox 4"/>
          <p:cNvSpPr txBox="1"/>
          <p:nvPr/>
        </p:nvSpPr>
        <p:spPr>
          <a:xfrm>
            <a:off x="417513" y="1287463"/>
            <a:ext cx="8362950" cy="5583237"/>
          </a:xfrm>
          <a:prstGeom prst="rect">
            <a:avLst/>
          </a:prstGeom>
          <a:noFill/>
          <a:ln w="9525">
            <a:noFill/>
          </a:ln>
        </p:spPr>
        <p:txBody>
          <a:bodyPr anchor="t" anchorCtr="0">
            <a:spAutoFit/>
          </a:bodyPr>
          <a:lstStyle/>
          <a:p>
            <a:r>
              <a:rPr lang="zh-CN" altLang="zh-CN" sz="2000" dirty="0">
                <a:solidFill>
                  <a:srgbClr val="FF3300"/>
                </a:solidFill>
                <a:latin typeface="宋体" panose="02010600030101010101" pitchFamily="2" charset="-122"/>
                <a:ea typeface="宋体" panose="02010600030101010101" pitchFamily="2" charset="-122"/>
              </a:rPr>
              <a:t>【例</a:t>
            </a:r>
            <a:r>
              <a:rPr lang="en-US" altLang="zh-CN" sz="2000" dirty="0">
                <a:solidFill>
                  <a:srgbClr val="FF3300"/>
                </a:solidFill>
                <a:latin typeface="宋体" panose="02010600030101010101" pitchFamily="2" charset="-122"/>
                <a:ea typeface="宋体" panose="02010600030101010101" pitchFamily="2" charset="-122"/>
              </a:rPr>
              <a:t>4.13</a:t>
            </a:r>
            <a:r>
              <a:rPr lang="zh-CN" altLang="zh-CN" sz="2000" dirty="0">
                <a:solidFill>
                  <a:srgbClr val="FF3300"/>
                </a:solidFill>
                <a:latin typeface="宋体" panose="02010600030101010101" pitchFamily="2" charset="-122"/>
                <a:ea typeface="宋体" panose="02010600030101010101" pitchFamily="2" charset="-122"/>
              </a:rPr>
              <a:t>】</a:t>
            </a:r>
            <a:r>
              <a:rPr lang="zh-CN" altLang="zh-CN" sz="2000" dirty="0">
                <a:latin typeface="宋体" panose="02010600030101010101" pitchFamily="2" charset="-122"/>
                <a:ea typeface="宋体" panose="02010600030101010101" pitchFamily="2" charset="-122"/>
              </a:rPr>
              <a:t>输出</a:t>
            </a:r>
            <a:r>
              <a:rPr lang="en-US" altLang="zh-CN" sz="2000" dirty="0">
                <a:latin typeface="宋体" panose="02010600030101010101" pitchFamily="2" charset="-122"/>
                <a:ea typeface="宋体" panose="02010600030101010101" pitchFamily="2" charset="-122"/>
              </a:rPr>
              <a:t>MESS</a:t>
            </a:r>
            <a:r>
              <a:rPr lang="zh-CN" altLang="zh-CN" sz="2000" dirty="0">
                <a:latin typeface="宋体" panose="02010600030101010101" pitchFamily="2" charset="-122"/>
                <a:ea typeface="宋体" panose="02010600030101010101" pitchFamily="2" charset="-122"/>
              </a:rPr>
              <a:t>中的字符串。按“</a:t>
            </a:r>
            <a:r>
              <a:rPr lang="en-US" altLang="zh-CN" sz="2000" dirty="0">
                <a:latin typeface="宋体" panose="02010600030101010101" pitchFamily="2" charset="-122"/>
                <a:ea typeface="宋体" panose="02010600030101010101" pitchFamily="2" charset="-122"/>
              </a:rPr>
              <a:t>Esc</a:t>
            </a:r>
            <a:r>
              <a:rPr lang="zh-CN" altLang="zh-CN" sz="2000" dirty="0">
                <a:latin typeface="宋体" panose="02010600030101010101" pitchFamily="2" charset="-122"/>
                <a:ea typeface="宋体" panose="02010600030101010101" pitchFamily="2" charset="-122"/>
              </a:rPr>
              <a:t>”键退出程序。</a:t>
            </a:r>
          </a:p>
          <a:p>
            <a:r>
              <a:rPr lang="en-US" altLang="zh-CN" sz="2000" dirty="0">
                <a:latin typeface="宋体" panose="02010600030101010101" pitchFamily="2" charset="-122"/>
                <a:ea typeface="宋体" panose="02010600030101010101" pitchFamily="2" charset="-122"/>
              </a:rPr>
              <a:t> </a:t>
            </a:r>
            <a:r>
              <a:rPr lang="en-US" altLang="zh-CN" sz="1600" dirty="0">
                <a:latin typeface="宋体" panose="02010600030101010101" pitchFamily="2" charset="-122"/>
                <a:ea typeface="宋体" panose="02010600030101010101" pitchFamily="2" charset="-122"/>
              </a:rPr>
              <a:t>DSEG  SEGMENT</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MESS  DB        'HuaBeiShuiYuan!$'    </a:t>
            </a:r>
            <a:r>
              <a:rPr lang="en-US" altLang="zh-CN" sz="1600" dirty="0">
                <a:solidFill>
                  <a:srgbClr val="00CC00"/>
                </a:solidFill>
                <a:latin typeface="宋体" panose="02010600030101010101" pitchFamily="2" charset="-122"/>
                <a:ea typeface="宋体" panose="02010600030101010101" pitchFamily="2" charset="-122"/>
              </a:rPr>
              <a:t>;</a:t>
            </a:r>
            <a:r>
              <a:rPr lang="zh-CN" altLang="zh-CN" sz="1600" dirty="0">
                <a:solidFill>
                  <a:srgbClr val="00CC00"/>
                </a:solidFill>
                <a:latin typeface="宋体" panose="02010600030101010101" pitchFamily="2" charset="-122"/>
                <a:ea typeface="宋体" panose="02010600030101010101" pitchFamily="2" charset="-122"/>
              </a:rPr>
              <a:t>显示信息</a:t>
            </a:r>
          </a:p>
          <a:p>
            <a:r>
              <a:rPr lang="en-US" altLang="zh-CN" sz="1600" dirty="0">
                <a:latin typeface="宋体" panose="02010600030101010101" pitchFamily="2" charset="-122"/>
                <a:ea typeface="宋体" panose="02010600030101010101" pitchFamily="2" charset="-122"/>
              </a:rPr>
              <a:t>  DSEG  ENDS</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CSEG  SEGMENT</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ASSUME    CS: CSEG,  DS:DSEG</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START:  MOV     AX,   DSEG</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MOV     DS,   AX                 </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LEA     DX,   MESS</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MOV     AH,   9</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INT     21H</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MOV     AH ,  07H                  </a:t>
            </a:r>
            <a:r>
              <a:rPr lang="en-US" altLang="zh-CN" sz="1600" dirty="0">
                <a:solidFill>
                  <a:srgbClr val="00CC00"/>
                </a:solidFill>
                <a:latin typeface="宋体" panose="02010600030101010101" pitchFamily="2" charset="-122"/>
                <a:ea typeface="宋体" panose="02010600030101010101" pitchFamily="2" charset="-122"/>
              </a:rPr>
              <a:t>;</a:t>
            </a:r>
            <a:r>
              <a:rPr lang="zh-CN" altLang="zh-CN" sz="1600" dirty="0">
                <a:solidFill>
                  <a:srgbClr val="00CC00"/>
                </a:solidFill>
                <a:latin typeface="宋体" panose="02010600030101010101" pitchFamily="2" charset="-122"/>
                <a:ea typeface="宋体" panose="02010600030101010101" pitchFamily="2" charset="-122"/>
              </a:rPr>
              <a:t>功能号为</a:t>
            </a:r>
            <a:r>
              <a:rPr lang="en-US" altLang="zh-CN" sz="1600" dirty="0">
                <a:solidFill>
                  <a:srgbClr val="00CC00"/>
                </a:solidFill>
                <a:latin typeface="宋体" panose="02010600030101010101" pitchFamily="2" charset="-122"/>
                <a:ea typeface="宋体" panose="02010600030101010101" pitchFamily="2" charset="-122"/>
              </a:rPr>
              <a:t>07H</a:t>
            </a:r>
            <a:r>
              <a:rPr lang="zh-CN" altLang="zh-CN" sz="1600" dirty="0">
                <a:solidFill>
                  <a:srgbClr val="00CC00"/>
                </a:solidFill>
                <a:latin typeface="宋体" panose="02010600030101010101" pitchFamily="2" charset="-122"/>
                <a:ea typeface="宋体" panose="02010600030101010101" pitchFamily="2" charset="-122"/>
              </a:rPr>
              <a:t>的功能是键盘输入无回显</a:t>
            </a:r>
            <a:endParaRPr lang="en-US" altLang="zh-CN" sz="1600" dirty="0">
              <a:solidFill>
                <a:srgbClr val="00CC00"/>
              </a:solidFill>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INPUT:  INT     21H</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CMP     AL ,  1BH                  </a:t>
            </a:r>
            <a:r>
              <a:rPr lang="en-US" altLang="zh-CN" sz="1600" dirty="0">
                <a:solidFill>
                  <a:srgbClr val="00CC00"/>
                </a:solidFill>
                <a:latin typeface="宋体" panose="02010600030101010101" pitchFamily="2" charset="-122"/>
                <a:ea typeface="宋体" panose="02010600030101010101" pitchFamily="2" charset="-122"/>
              </a:rPr>
              <a:t>;</a:t>
            </a:r>
            <a:r>
              <a:rPr lang="zh-CN" altLang="zh-CN" sz="1600" dirty="0">
                <a:solidFill>
                  <a:srgbClr val="00CC00"/>
                </a:solidFill>
                <a:latin typeface="宋体" panose="02010600030101010101" pitchFamily="2" charset="-122"/>
                <a:ea typeface="宋体" panose="02010600030101010101" pitchFamily="2" charset="-122"/>
              </a:rPr>
              <a:t>“</a:t>
            </a:r>
            <a:r>
              <a:rPr lang="en-US" altLang="zh-CN" sz="1600" dirty="0">
                <a:solidFill>
                  <a:srgbClr val="00CC00"/>
                </a:solidFill>
                <a:latin typeface="宋体" panose="02010600030101010101" pitchFamily="2" charset="-122"/>
                <a:ea typeface="宋体" panose="02010600030101010101" pitchFamily="2" charset="-122"/>
              </a:rPr>
              <a:t>Esc</a:t>
            </a:r>
            <a:r>
              <a:rPr lang="zh-CN" altLang="zh-CN" sz="1600" dirty="0">
                <a:solidFill>
                  <a:srgbClr val="00CC00"/>
                </a:solidFill>
                <a:latin typeface="宋体" panose="02010600030101010101" pitchFamily="2" charset="-122"/>
                <a:ea typeface="宋体" panose="02010600030101010101" pitchFamily="2" charset="-122"/>
              </a:rPr>
              <a:t>”键的</a:t>
            </a:r>
            <a:r>
              <a:rPr lang="en-US" altLang="zh-CN" sz="1600" dirty="0">
                <a:solidFill>
                  <a:srgbClr val="00CC00"/>
                </a:solidFill>
                <a:latin typeface="宋体" panose="02010600030101010101" pitchFamily="2" charset="-122"/>
                <a:ea typeface="宋体" panose="02010600030101010101" pitchFamily="2" charset="-122"/>
              </a:rPr>
              <a:t>ASCII</a:t>
            </a:r>
            <a:r>
              <a:rPr lang="zh-CN" altLang="zh-CN" sz="1600" dirty="0">
                <a:solidFill>
                  <a:srgbClr val="00CC00"/>
                </a:solidFill>
                <a:latin typeface="宋体" panose="02010600030101010101" pitchFamily="2" charset="-122"/>
                <a:ea typeface="宋体" panose="02010600030101010101" pitchFamily="2" charset="-122"/>
              </a:rPr>
              <a:t>是</a:t>
            </a:r>
            <a:r>
              <a:rPr lang="en-US" altLang="zh-CN" sz="1600" dirty="0">
                <a:solidFill>
                  <a:srgbClr val="00CC00"/>
                </a:solidFill>
                <a:latin typeface="宋体" panose="02010600030101010101" pitchFamily="2" charset="-122"/>
                <a:ea typeface="宋体" panose="02010600030101010101" pitchFamily="2" charset="-122"/>
              </a:rPr>
              <a:t>1BH</a:t>
            </a:r>
            <a:endParaRPr lang="zh-CN" altLang="zh-CN" sz="1600" dirty="0">
              <a:solidFill>
                <a:srgbClr val="00CC00"/>
              </a:solidFill>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JZ      EXIT   	                 </a:t>
            </a:r>
            <a:r>
              <a:rPr lang="en-US" altLang="zh-CN" sz="1600" dirty="0">
                <a:solidFill>
                  <a:srgbClr val="00CC00"/>
                </a:solidFill>
                <a:latin typeface="宋体" panose="02010600030101010101" pitchFamily="2" charset="-122"/>
                <a:ea typeface="宋体" panose="02010600030101010101" pitchFamily="2" charset="-122"/>
              </a:rPr>
              <a:t>;</a:t>
            </a:r>
            <a:r>
              <a:rPr lang="zh-CN" altLang="zh-CN" sz="1600" dirty="0">
                <a:solidFill>
                  <a:srgbClr val="00CC00"/>
                </a:solidFill>
                <a:latin typeface="宋体" panose="02010600030101010101" pitchFamily="2" charset="-122"/>
                <a:ea typeface="宋体" panose="02010600030101010101" pitchFamily="2" charset="-122"/>
              </a:rPr>
              <a:t>按“</a:t>
            </a:r>
            <a:r>
              <a:rPr lang="en-US" altLang="zh-CN" sz="1600" dirty="0">
                <a:solidFill>
                  <a:srgbClr val="00CC00"/>
                </a:solidFill>
                <a:latin typeface="宋体" panose="02010600030101010101" pitchFamily="2" charset="-122"/>
                <a:ea typeface="宋体" panose="02010600030101010101" pitchFamily="2" charset="-122"/>
              </a:rPr>
              <a:t>Esc</a:t>
            </a:r>
            <a:r>
              <a:rPr lang="zh-CN" altLang="zh-CN" sz="1600" dirty="0">
                <a:solidFill>
                  <a:srgbClr val="00CC00"/>
                </a:solidFill>
                <a:latin typeface="宋体" panose="02010600030101010101" pitchFamily="2" charset="-122"/>
                <a:ea typeface="宋体" panose="02010600030101010101" pitchFamily="2" charset="-122"/>
              </a:rPr>
              <a:t>”键退出程序</a:t>
            </a:r>
          </a:p>
          <a:p>
            <a:r>
              <a:rPr lang="en-US" altLang="zh-CN" sz="1600" dirty="0">
                <a:latin typeface="宋体" panose="02010600030101010101" pitchFamily="2" charset="-122"/>
                <a:ea typeface="宋体" panose="02010600030101010101" pitchFamily="2" charset="-122"/>
              </a:rPr>
              <a:t>        JMP     INPUT </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EXIT: MOV     AH ,  4CH</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INT     21H</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CSEG  ENDS</a:t>
            </a:r>
            <a:endParaRPr lang="zh-CN"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END    START</a:t>
            </a:r>
            <a:endParaRPr lang="zh-CN" altLang="zh-CN" sz="160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4.5.7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系统功能调用</a:t>
            </a:r>
          </a:p>
        </p:txBody>
      </p:sp>
      <p:sp>
        <p:nvSpPr>
          <p:cNvPr id="12390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23907" name="TextBox 4"/>
          <p:cNvSpPr txBox="1"/>
          <p:nvPr/>
        </p:nvSpPr>
        <p:spPr>
          <a:xfrm>
            <a:off x="373063" y="1571625"/>
            <a:ext cx="8362950" cy="4737100"/>
          </a:xfrm>
          <a:prstGeom prst="rect">
            <a:avLst/>
          </a:prstGeom>
          <a:noFill/>
          <a:ln w="9525">
            <a:noFill/>
          </a:ln>
        </p:spPr>
        <p:txBody>
          <a:bodyPr anchor="t" anchorCtr="0">
            <a:spAutoFit/>
          </a:bodyPr>
          <a:lstStyle/>
          <a:p>
            <a:pPr algn="just"/>
            <a:r>
              <a:rPr lang="en-US" altLang="zh-CN" sz="2000" dirty="0">
                <a:latin typeface="Times New Roman" panose="02020603050405020304" pitchFamily="18" charset="0"/>
                <a:ea typeface="宋体" panose="02010600030101010101" pitchFamily="2" charset="-122"/>
              </a:rPr>
              <a:t>3</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BIOS</a:t>
            </a:r>
            <a:r>
              <a:rPr lang="zh-CN" altLang="zh-CN" sz="2000" dirty="0">
                <a:latin typeface="Times New Roman" panose="02020603050405020304" pitchFamily="18" charset="0"/>
                <a:ea typeface="宋体" panose="02010600030101010101" pitchFamily="2" charset="-122"/>
              </a:rPr>
              <a:t>功能调用</a:t>
            </a:r>
          </a:p>
          <a:p>
            <a:pPr algn="just"/>
            <a:r>
              <a:rPr lang="en-US" altLang="zh-CN" sz="2000" dirty="0">
                <a:latin typeface="Times New Roman" panose="02020603050405020304" pitchFamily="18" charset="0"/>
                <a:ea typeface="宋体" panose="02010600030101010101" pitchFamily="2" charset="-122"/>
              </a:rPr>
              <a:t>        BIOS</a:t>
            </a:r>
            <a:r>
              <a:rPr lang="zh-CN" altLang="zh-CN" sz="2000" dirty="0">
                <a:latin typeface="Times New Roman" panose="02020603050405020304" pitchFamily="18" charset="0"/>
                <a:ea typeface="宋体" panose="02010600030101010101" pitchFamily="2" charset="-122"/>
              </a:rPr>
              <a:t>常驻</a:t>
            </a:r>
            <a:r>
              <a:rPr lang="en-US" altLang="zh-CN" sz="2000" dirty="0">
                <a:latin typeface="Times New Roman" panose="02020603050405020304" pitchFamily="18" charset="0"/>
                <a:ea typeface="宋体" panose="02010600030101010101" pitchFamily="2" charset="-122"/>
              </a:rPr>
              <a:t>ROM</a:t>
            </a:r>
            <a:r>
              <a:rPr lang="zh-CN" altLang="zh-CN" sz="2000" dirty="0">
                <a:latin typeface="Times New Roman" panose="02020603050405020304" pitchFamily="18" charset="0"/>
                <a:ea typeface="宋体" panose="02010600030101010101" pitchFamily="2" charset="-122"/>
              </a:rPr>
              <a:t>，独立于</a:t>
            </a:r>
            <a:r>
              <a:rPr lang="en-US" altLang="zh-CN" sz="2000" dirty="0">
                <a:latin typeface="Times New Roman" panose="02020603050405020304" pitchFamily="18" charset="0"/>
                <a:ea typeface="宋体" panose="02010600030101010101" pitchFamily="2" charset="-122"/>
              </a:rPr>
              <a:t>DOS</a:t>
            </a:r>
            <a:r>
              <a:rPr lang="zh-CN" altLang="zh-CN" sz="2000" dirty="0">
                <a:latin typeface="Times New Roman" panose="02020603050405020304" pitchFamily="18" charset="0"/>
                <a:ea typeface="宋体" panose="02010600030101010101" pitchFamily="2" charset="-122"/>
              </a:rPr>
              <a:t>，可与任何操作系统一起工作。它的主要功能是驱动系统所配置的外部设备，如磁盘驱动器、显示器、打印机及异步通信接口等。通过</a:t>
            </a:r>
            <a:r>
              <a:rPr lang="en-US" altLang="zh-CN" sz="2000" dirty="0">
                <a:latin typeface="Times New Roman" panose="02020603050405020304" pitchFamily="18" charset="0"/>
                <a:ea typeface="宋体" panose="02010600030101010101" pitchFamily="2" charset="-122"/>
              </a:rPr>
              <a:t>INT 10H</a:t>
            </a:r>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INT 1AH</a:t>
            </a:r>
            <a:r>
              <a:rPr lang="zh-CN" altLang="zh-CN" sz="2000" dirty="0">
                <a:latin typeface="Times New Roman" panose="02020603050405020304" pitchFamily="18" charset="0"/>
                <a:ea typeface="宋体" panose="02010600030101010101" pitchFamily="2" charset="-122"/>
              </a:rPr>
              <a:t>向用户提供服务程序入口，使用户无须对硬件有深入了解就可完成对</a:t>
            </a:r>
            <a:r>
              <a:rPr lang="en-US" altLang="zh-CN" sz="2000" dirty="0">
                <a:latin typeface="Times New Roman" panose="02020603050405020304" pitchFamily="18" charset="0"/>
                <a:ea typeface="宋体" panose="02010600030101010101" pitchFamily="2" charset="-122"/>
              </a:rPr>
              <a:t>I/O</a:t>
            </a:r>
            <a:r>
              <a:rPr lang="zh-CN" altLang="zh-CN" sz="2000" dirty="0">
                <a:latin typeface="Times New Roman" panose="02020603050405020304" pitchFamily="18" charset="0"/>
                <a:ea typeface="宋体" panose="02010600030101010101" pitchFamily="2" charset="-122"/>
              </a:rPr>
              <a:t>设备的控制与操作。</a:t>
            </a:r>
            <a:r>
              <a:rPr lang="en-US" altLang="zh-CN" sz="2000" dirty="0">
                <a:latin typeface="Times New Roman" panose="02020603050405020304" pitchFamily="18" charset="0"/>
                <a:ea typeface="宋体" panose="02010600030101010101" pitchFamily="2" charset="-122"/>
              </a:rPr>
              <a:t>BIOS</a:t>
            </a:r>
            <a:r>
              <a:rPr lang="zh-CN" altLang="zh-CN" sz="2000" dirty="0">
                <a:latin typeface="Times New Roman" panose="02020603050405020304" pitchFamily="18" charset="0"/>
                <a:ea typeface="宋体" panose="02010600030101010101" pitchFamily="2" charset="-122"/>
              </a:rPr>
              <a:t>的中断调用与</a:t>
            </a:r>
            <a:r>
              <a:rPr lang="en-US" altLang="zh-CN" sz="2000" dirty="0">
                <a:latin typeface="Times New Roman" panose="02020603050405020304" pitchFamily="18" charset="0"/>
                <a:ea typeface="宋体" panose="02010600030101010101" pitchFamily="2" charset="-122"/>
              </a:rPr>
              <a:t>DOS</a:t>
            </a:r>
            <a:r>
              <a:rPr lang="zh-CN" altLang="zh-CN" sz="2000" dirty="0">
                <a:latin typeface="Times New Roman" panose="02020603050405020304" pitchFamily="18" charset="0"/>
                <a:ea typeface="宋体" panose="02010600030101010101" pitchFamily="2" charset="-122"/>
              </a:rPr>
              <a:t>功能调用类似。下面作为</a:t>
            </a:r>
            <a:r>
              <a:rPr lang="en-US" altLang="zh-CN" sz="2000" dirty="0">
                <a:latin typeface="Times New Roman" panose="02020603050405020304" pitchFamily="18" charset="0"/>
                <a:ea typeface="宋体" panose="02010600030101010101" pitchFamily="2" charset="-122"/>
              </a:rPr>
              <a:t>BIOS</a:t>
            </a:r>
            <a:r>
              <a:rPr lang="zh-CN" altLang="zh-CN" sz="2000" dirty="0">
                <a:latin typeface="Times New Roman" panose="02020603050405020304" pitchFamily="18" charset="0"/>
                <a:ea typeface="宋体" panose="02010600030101010101" pitchFamily="2" charset="-122"/>
              </a:rPr>
              <a:t>功能调用入门对键盘</a:t>
            </a:r>
            <a:r>
              <a:rPr lang="en-US" altLang="zh-CN" sz="2000" dirty="0">
                <a:latin typeface="Times New Roman" panose="02020603050405020304" pitchFamily="18" charset="0"/>
                <a:ea typeface="宋体" panose="02010600030101010101" pitchFamily="2" charset="-122"/>
              </a:rPr>
              <a:t>I/O</a:t>
            </a:r>
            <a:r>
              <a:rPr lang="zh-CN" altLang="zh-CN" sz="2000" dirty="0">
                <a:latin typeface="Times New Roman" panose="02020603050405020304" pitchFamily="18" charset="0"/>
                <a:ea typeface="宋体" panose="02010600030101010101" pitchFamily="2" charset="-122"/>
              </a:rPr>
              <a:t>（中断类型</a:t>
            </a:r>
            <a:r>
              <a:rPr lang="en-US" altLang="zh-CN" sz="2000" dirty="0">
                <a:latin typeface="Times New Roman" panose="02020603050405020304" pitchFamily="18" charset="0"/>
                <a:ea typeface="宋体" panose="02010600030101010101" pitchFamily="2" charset="-122"/>
              </a:rPr>
              <a:t>16H</a:t>
            </a:r>
            <a:r>
              <a:rPr lang="zh-CN" altLang="zh-CN" sz="2000" dirty="0">
                <a:latin typeface="Times New Roman" panose="02020603050405020304" pitchFamily="18" charset="0"/>
                <a:ea typeface="宋体" panose="02010600030101010101" pitchFamily="2" charset="-122"/>
              </a:rPr>
              <a:t>）和显示调用（中断类型</a:t>
            </a:r>
            <a:r>
              <a:rPr lang="en-US" altLang="zh-CN" sz="2000" dirty="0">
                <a:latin typeface="Times New Roman" panose="02020603050405020304" pitchFamily="18" charset="0"/>
                <a:ea typeface="宋体" panose="02010600030101010101" pitchFamily="2" charset="-122"/>
              </a:rPr>
              <a:t>10H</a:t>
            </a:r>
            <a:r>
              <a:rPr lang="zh-CN" altLang="zh-CN" sz="2000" dirty="0">
                <a:latin typeface="Times New Roman" panose="02020603050405020304" pitchFamily="18" charset="0"/>
                <a:ea typeface="宋体" panose="02010600030101010101" pitchFamily="2" charset="-122"/>
              </a:rPr>
              <a:t>）加以介绍。</a:t>
            </a:r>
          </a:p>
          <a:p>
            <a:pPr algn="just"/>
            <a:r>
              <a:rPr lang="zh-CN" altLang="zh-CN" sz="2000" dirty="0">
                <a:latin typeface="Times New Roman" panose="02020603050405020304" pitchFamily="18" charset="0"/>
                <a:ea typeface="宋体" panose="02010600030101010101" pitchFamily="2" charset="-122"/>
              </a:rPr>
              <a:t>（</a:t>
            </a:r>
            <a:r>
              <a:rPr lang="en-US" altLang="zh-CN" sz="2000" dirty="0">
                <a:latin typeface="Times New Roman" panose="02020603050405020304" pitchFamily="18" charset="0"/>
                <a:ea typeface="宋体" panose="02010600030101010101" pitchFamily="2" charset="-122"/>
              </a:rPr>
              <a:t>1</a:t>
            </a:r>
            <a:r>
              <a:rPr lang="zh-CN" altLang="zh-CN" sz="2000" dirty="0">
                <a:latin typeface="Times New Roman" panose="02020603050405020304" pitchFamily="18" charset="0"/>
                <a:ea typeface="宋体" panose="02010600030101010101" pitchFamily="2" charset="-122"/>
              </a:rPr>
              <a:t>）键盘输入。</a:t>
            </a:r>
          </a:p>
          <a:p>
            <a:pPr algn="just"/>
            <a:r>
              <a:rPr lang="zh-CN" altLang="zh-CN" sz="2000" dirty="0">
                <a:latin typeface="Times New Roman" panose="02020603050405020304" pitchFamily="18" charset="0"/>
                <a:ea typeface="宋体" panose="02010600030101010101" pitchFamily="2" charset="-122"/>
              </a:rPr>
              <a:t>        当用户按键时，键盘接口会得到一个被按键的键盘扫描码，同时产生一个中断请求。如果键盘中断是允许的，并且</a:t>
            </a:r>
            <a:r>
              <a:rPr lang="en-US" altLang="zh-CN" sz="2000" dirty="0">
                <a:latin typeface="Times New Roman" panose="02020603050405020304" pitchFamily="18" charset="0"/>
                <a:ea typeface="宋体" panose="02010600030101010101" pitchFamily="2" charset="-122"/>
              </a:rPr>
              <a:t>CPU</a:t>
            </a:r>
            <a:r>
              <a:rPr lang="zh-CN" altLang="zh-CN" sz="2000" dirty="0">
                <a:latin typeface="Times New Roman" panose="02020603050405020304" pitchFamily="18" charset="0"/>
                <a:ea typeface="宋体" panose="02010600030101010101" pitchFamily="2" charset="-122"/>
              </a:rPr>
              <a:t>处于中断状态，那么</a:t>
            </a:r>
            <a:r>
              <a:rPr lang="en-US" altLang="zh-CN" sz="2000" dirty="0">
                <a:latin typeface="Times New Roman" panose="02020603050405020304" pitchFamily="18" charset="0"/>
                <a:ea typeface="宋体" panose="02010600030101010101" pitchFamily="2" charset="-122"/>
              </a:rPr>
              <a:t>CPU</a:t>
            </a:r>
            <a:r>
              <a:rPr lang="zh-CN" altLang="zh-CN" sz="2000" dirty="0">
                <a:latin typeface="Times New Roman" panose="02020603050405020304" pitchFamily="18" charset="0"/>
                <a:ea typeface="宋体" panose="02010600030101010101" pitchFamily="2" charset="-122"/>
              </a:rPr>
              <a:t>通常就会响应中断请求转入键盘中断处理程序。</a:t>
            </a:r>
          </a:p>
          <a:p>
            <a:pPr algn="just"/>
            <a:r>
              <a:rPr lang="zh-CN" altLang="zh-CN" sz="2000" dirty="0">
                <a:latin typeface="Times New Roman" panose="02020603050405020304" pitchFamily="18" charset="0"/>
                <a:ea typeface="宋体" panose="02010600030101010101" pitchFamily="2" charset="-122"/>
              </a:rPr>
              <a:t>键盘中断处理程序首先从键盘接口取得被按键的扫描码，然后根据扫描码判别用户所按的键并做相应的处理。键盘</a:t>
            </a:r>
            <a:r>
              <a:rPr lang="en-US" altLang="zh-CN" sz="2000" dirty="0">
                <a:latin typeface="Times New Roman" panose="02020603050405020304" pitchFamily="18" charset="0"/>
                <a:ea typeface="宋体" panose="02010600030101010101" pitchFamily="2" charset="-122"/>
              </a:rPr>
              <a:t>I/O</a:t>
            </a:r>
            <a:r>
              <a:rPr lang="zh-CN" altLang="zh-CN" sz="2000" dirty="0">
                <a:latin typeface="Times New Roman" panose="02020603050405020304" pitchFamily="18" charset="0"/>
                <a:ea typeface="宋体" panose="02010600030101010101" pitchFamily="2" charset="-122"/>
              </a:rPr>
              <a:t>程序以</a:t>
            </a:r>
            <a:r>
              <a:rPr lang="en-US" altLang="zh-CN" sz="2000" dirty="0">
                <a:latin typeface="Times New Roman" panose="02020603050405020304" pitchFamily="18" charset="0"/>
                <a:ea typeface="宋体" panose="02010600030101010101" pitchFamily="2" charset="-122"/>
              </a:rPr>
              <a:t>16H</a:t>
            </a:r>
            <a:r>
              <a:rPr lang="zh-CN" altLang="zh-CN" sz="2000" dirty="0">
                <a:latin typeface="Times New Roman" panose="02020603050405020304" pitchFamily="18" charset="0"/>
                <a:ea typeface="宋体" panose="02010600030101010101" pitchFamily="2" charset="-122"/>
              </a:rPr>
              <a:t>号中断处理程序的形式存在。它提供若干功能，每一个功能有一个编号。在调用键盘</a:t>
            </a:r>
            <a:r>
              <a:rPr lang="en-US" altLang="zh-CN" sz="2000" dirty="0">
                <a:latin typeface="Times New Roman" panose="02020603050405020304" pitchFamily="18" charset="0"/>
                <a:ea typeface="宋体" panose="02010600030101010101" pitchFamily="2" charset="-122"/>
              </a:rPr>
              <a:t>I/O</a:t>
            </a:r>
            <a:r>
              <a:rPr lang="zh-CN" altLang="zh-CN" sz="2000" dirty="0">
                <a:latin typeface="Times New Roman" panose="02020603050405020304" pitchFamily="18" charset="0"/>
                <a:ea typeface="宋体" panose="02010600030101010101" pitchFamily="2" charset="-122"/>
              </a:rPr>
              <a:t>程序时，把功能编号置入</a:t>
            </a:r>
            <a:r>
              <a:rPr lang="en-US" altLang="zh-CN" sz="2000" dirty="0">
                <a:latin typeface="Times New Roman" panose="02020603050405020304" pitchFamily="18" charset="0"/>
                <a:ea typeface="宋体" panose="02010600030101010101" pitchFamily="2" charset="-122"/>
              </a:rPr>
              <a:t>AH</a:t>
            </a:r>
            <a:r>
              <a:rPr lang="zh-CN" altLang="zh-CN" sz="2000" dirty="0">
                <a:latin typeface="Times New Roman" panose="02020603050405020304" pitchFamily="18" charset="0"/>
                <a:ea typeface="宋体" panose="02010600030101010101" pitchFamily="2" charset="-122"/>
              </a:rPr>
              <a:t>寄存器中，然后发出中断指令</a:t>
            </a:r>
            <a:r>
              <a:rPr lang="en-US" altLang="zh-CN" sz="2000" dirty="0">
                <a:latin typeface="Times New Roman" panose="02020603050405020304" pitchFamily="18" charset="0"/>
                <a:ea typeface="宋体" panose="02010600030101010101" pitchFamily="2" charset="-122"/>
              </a:rPr>
              <a:t>INT  16H</a:t>
            </a:r>
            <a:r>
              <a:rPr lang="zh-CN" altLang="zh-CN" sz="2000" dirty="0">
                <a:latin typeface="Times New Roman" panose="02020603050405020304" pitchFamily="18" charset="0"/>
                <a:ea typeface="宋体" panose="02010600030101010101" pitchFamily="2" charset="-122"/>
              </a:rPr>
              <a:t>。调用返回后从有关寄存器中取得出口参数。</a:t>
            </a:r>
          </a:p>
        </p:txBody>
      </p:sp>
    </p:spTree>
  </p:cSld>
  <p:clrMapOvr>
    <a:masterClrMapping/>
  </p:clrMapOvr>
  <p:transition spd="med">
    <p:random/>
  </p:transition>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4.5.7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系统功能调用</a:t>
            </a:r>
          </a:p>
        </p:txBody>
      </p:sp>
      <p:sp>
        <p:nvSpPr>
          <p:cNvPr id="12595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25955" name="TextBox 4"/>
          <p:cNvSpPr txBox="1"/>
          <p:nvPr/>
        </p:nvSpPr>
        <p:spPr>
          <a:xfrm>
            <a:off x="407988" y="1393825"/>
            <a:ext cx="8362950" cy="4586288"/>
          </a:xfrm>
          <a:prstGeom prst="rect">
            <a:avLst/>
          </a:prstGeom>
          <a:noFill/>
          <a:ln w="9525">
            <a:noFill/>
          </a:ln>
        </p:spPr>
        <p:txBody>
          <a:bodyPr anchor="t" anchorCtr="0">
            <a:spAutoFit/>
          </a:bodyPr>
          <a:lstStyle/>
          <a:p>
            <a:pPr algn="just"/>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a:t>
            </a:r>
            <a:r>
              <a:rPr lang="zh-CN" altLang="zh-CN" sz="2000" dirty="0">
                <a:latin typeface="宋体" panose="02010600030101010101" pitchFamily="2" charset="-122"/>
                <a:ea typeface="宋体" panose="02010600030101010101" pitchFamily="2" charset="-122"/>
              </a:rPr>
              <a:t>）显示器输出。</a:t>
            </a:r>
          </a:p>
          <a:p>
            <a:pPr algn="just"/>
            <a:r>
              <a:rPr lang="en-US" altLang="zh-CN" sz="2000" dirty="0">
                <a:latin typeface="宋体" panose="02010600030101010101" pitchFamily="2" charset="-122"/>
                <a:ea typeface="宋体" panose="02010600030101010101" pitchFamily="2" charset="-122"/>
              </a:rPr>
              <a:t>    </a:t>
            </a:r>
            <a:r>
              <a:rPr lang="zh-CN" altLang="zh-CN" sz="2000" dirty="0">
                <a:latin typeface="宋体" panose="02010600030101010101" pitchFamily="2" charset="-122"/>
                <a:ea typeface="宋体" panose="02010600030101010101" pitchFamily="2" charset="-122"/>
              </a:rPr>
              <a:t>显示器的显示方式分为图形显示方式和文本显示方式。图形显示方式以像素为单位，较为复杂；文本显示方式以字符为单位，较易掌握。文本显示模式下，显示器的屏幕被划分为</a:t>
            </a:r>
            <a:r>
              <a:rPr lang="en-US" altLang="zh-CN" sz="2000" dirty="0">
                <a:latin typeface="宋体" panose="02010600030101010101" pitchFamily="2" charset="-122"/>
                <a:ea typeface="宋体" panose="02010600030101010101" pitchFamily="2" charset="-122"/>
              </a:rPr>
              <a:t>80</a:t>
            </a:r>
            <a:r>
              <a:rPr lang="zh-CN" altLang="zh-CN" sz="2000" dirty="0">
                <a:latin typeface="宋体" panose="02010600030101010101" pitchFamily="2" charset="-122"/>
                <a:ea typeface="宋体" panose="02010600030101010101" pitchFamily="2" charset="-122"/>
              </a:rPr>
              <a:t>列</a:t>
            </a:r>
            <a:r>
              <a:rPr lang="en-US" altLang="zh-CN" sz="2000" dirty="0">
                <a:latin typeface="宋体" panose="02010600030101010101" pitchFamily="2" charset="-122"/>
                <a:ea typeface="宋体" panose="02010600030101010101" pitchFamily="2" charset="-122"/>
              </a:rPr>
              <a:t>25</a:t>
            </a:r>
            <a:r>
              <a:rPr lang="zh-CN" altLang="zh-CN" sz="2000" dirty="0">
                <a:latin typeface="宋体" panose="02010600030101010101" pitchFamily="2" charset="-122"/>
                <a:ea typeface="宋体" panose="02010600030101010101" pitchFamily="2" charset="-122"/>
              </a:rPr>
              <a:t>行，所以每一屏最多可显示</a:t>
            </a:r>
            <a:r>
              <a:rPr lang="en-US" altLang="zh-CN" sz="2000" dirty="0">
                <a:latin typeface="宋体" panose="02010600030101010101" pitchFamily="2" charset="-122"/>
                <a:ea typeface="宋体" panose="02010600030101010101" pitchFamily="2" charset="-122"/>
              </a:rPr>
              <a:t>2000</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80</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25</a:t>
            </a:r>
            <a:r>
              <a:rPr lang="zh-CN" altLang="zh-CN" sz="2000" dirty="0">
                <a:latin typeface="宋体" panose="02010600030101010101" pitchFamily="2" charset="-122"/>
                <a:ea typeface="宋体" panose="02010600030101010101" pitchFamily="2" charset="-122"/>
              </a:rPr>
              <a:t>）个字符。字符通常是指字母、数字、普通符号（如运算符）和一些特殊符号（如菱形块）。文本显示方式用行号和列号组成的坐标来定位屏幕上的每个可显示位置，左上角的坐标规定为（</a:t>
            </a:r>
            <a:r>
              <a:rPr lang="en-US" altLang="zh-CN" sz="2000" dirty="0">
                <a:latin typeface="宋体" panose="02010600030101010101" pitchFamily="2" charset="-122"/>
                <a:ea typeface="宋体" panose="02010600030101010101" pitchFamily="2" charset="-122"/>
              </a:rPr>
              <a:t>0,0</a:t>
            </a:r>
            <a:r>
              <a:rPr lang="zh-CN" altLang="zh-CN" sz="2000" dirty="0">
                <a:latin typeface="宋体" panose="02010600030101010101" pitchFamily="2" charset="-122"/>
                <a:ea typeface="宋体" panose="02010600030101010101" pitchFamily="2" charset="-122"/>
              </a:rPr>
              <a:t>），向右增加列号，向下增加行号，这样右下角的坐标便是（</a:t>
            </a:r>
            <a:r>
              <a:rPr lang="en-US" altLang="zh-CN" sz="2000" dirty="0">
                <a:latin typeface="宋体" panose="02010600030101010101" pitchFamily="2" charset="-122"/>
                <a:ea typeface="宋体" panose="02010600030101010101" pitchFamily="2" charset="-122"/>
              </a:rPr>
              <a:t>79</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24</a:t>
            </a:r>
            <a:r>
              <a:rPr lang="zh-CN" altLang="zh-CN" sz="2000" dirty="0">
                <a:latin typeface="宋体" panose="02010600030101010101" pitchFamily="2" charset="-122"/>
                <a:ea typeface="宋体" panose="02010600030101010101" pitchFamily="2" charset="-122"/>
              </a:rPr>
              <a:t>）。显示器的显示属性分为单色显示和彩色显示。屏幕上显示的每个字符在存储中用两个字节来表示，一个字节保存字符的</a:t>
            </a:r>
            <a:r>
              <a:rPr lang="en-US" altLang="zh-CN" sz="2000" dirty="0">
                <a:latin typeface="宋体" panose="02010600030101010101" pitchFamily="2" charset="-122"/>
                <a:ea typeface="宋体" panose="02010600030101010101" pitchFamily="2" charset="-122"/>
              </a:rPr>
              <a:t>ASCII</a:t>
            </a:r>
            <a:r>
              <a:rPr lang="zh-CN" altLang="zh-CN" sz="2000" dirty="0">
                <a:latin typeface="宋体" panose="02010600030101010101" pitchFamily="2" charset="-122"/>
                <a:ea typeface="宋体" panose="02010600030101010101" pitchFamily="2" charset="-122"/>
              </a:rPr>
              <a:t>码，另一个字节保存字符的属性。字符的属性确定了每个要显示字符的特性。在单色显示时，显示属性定义了闪烁、反相和高亮度等显示特性；在彩色显示时，属性还定义了前景色和背景色。在彩色显示属性字节中，</a:t>
            </a:r>
            <a:r>
              <a:rPr lang="en-US" altLang="zh-CN" sz="2000" dirty="0">
                <a:latin typeface="宋体" panose="02010600030101010101" pitchFamily="2" charset="-122"/>
                <a:ea typeface="宋体" panose="02010600030101010101" pitchFamily="2" charset="-122"/>
              </a:rPr>
              <a:t>RGB</a:t>
            </a:r>
            <a:r>
              <a:rPr lang="zh-CN" altLang="zh-CN" sz="2000" dirty="0">
                <a:latin typeface="宋体" panose="02010600030101010101" pitchFamily="2" charset="-122"/>
                <a:ea typeface="宋体" panose="02010600030101010101" pitchFamily="2" charset="-122"/>
              </a:rPr>
              <a:t>分别表示红、绿、蓝，</a:t>
            </a:r>
            <a:r>
              <a:rPr lang="en-US" altLang="zh-CN" sz="2000" dirty="0">
                <a:latin typeface="宋体" panose="02010600030101010101" pitchFamily="2" charset="-122"/>
                <a:ea typeface="宋体" panose="02010600030101010101" pitchFamily="2" charset="-122"/>
              </a:rPr>
              <a:t>I</a:t>
            </a:r>
            <a:r>
              <a:rPr lang="zh-CN" altLang="zh-CN" sz="2000" dirty="0">
                <a:latin typeface="宋体" panose="02010600030101010101" pitchFamily="2" charset="-122"/>
                <a:ea typeface="宋体" panose="02010600030101010101" pitchFamily="2" charset="-122"/>
              </a:rPr>
              <a:t>表示亮度，</a:t>
            </a:r>
            <a:r>
              <a:rPr lang="en-US" altLang="zh-CN" sz="2000" dirty="0">
                <a:latin typeface="宋体" panose="02010600030101010101" pitchFamily="2" charset="-122"/>
                <a:ea typeface="宋体" panose="02010600030101010101" pitchFamily="2" charset="-122"/>
              </a:rPr>
              <a:t>BL</a:t>
            </a:r>
            <a:r>
              <a:rPr lang="zh-CN" altLang="zh-CN" sz="2000" dirty="0">
                <a:latin typeface="宋体" panose="02010600030101010101" pitchFamily="2" charset="-122"/>
                <a:ea typeface="宋体" panose="02010600030101010101" pitchFamily="2" charset="-122"/>
              </a:rPr>
              <a:t>表示闪烁。位</a:t>
            </a:r>
            <a:r>
              <a:rPr lang="en-US" altLang="zh-CN" sz="2000" dirty="0">
                <a:latin typeface="宋体" panose="02010600030101010101" pitchFamily="2" charset="-122"/>
                <a:ea typeface="宋体" panose="02010600030101010101" pitchFamily="2" charset="-122"/>
              </a:rPr>
              <a:t>0</a:t>
            </a:r>
            <a:r>
              <a:rPr lang="zh-CN" altLang="zh-CN" sz="2000" dirty="0">
                <a:latin typeface="宋体" panose="02010600030101010101" pitchFamily="2" charset="-122"/>
                <a:ea typeface="宋体" panose="02010600030101010101" pitchFamily="2" charset="-122"/>
              </a:rPr>
              <a:t>到位</a:t>
            </a:r>
            <a:r>
              <a:rPr lang="en-US" altLang="zh-CN" sz="2000" dirty="0">
                <a:latin typeface="宋体" panose="02010600030101010101" pitchFamily="2" charset="-122"/>
                <a:ea typeface="宋体" panose="02010600030101010101" pitchFamily="2" charset="-122"/>
              </a:rPr>
              <a:t>3</a:t>
            </a:r>
            <a:r>
              <a:rPr lang="zh-CN" altLang="zh-CN" sz="2000" dirty="0">
                <a:latin typeface="宋体" panose="02010600030101010101" pitchFamily="2" charset="-122"/>
                <a:ea typeface="宋体" panose="02010600030101010101" pitchFamily="2" charset="-122"/>
              </a:rPr>
              <a:t>组合</a:t>
            </a:r>
            <a:r>
              <a:rPr lang="en-US" altLang="zh-CN" sz="2000" dirty="0">
                <a:latin typeface="宋体" panose="02010600030101010101" pitchFamily="2" charset="-122"/>
                <a:ea typeface="宋体" panose="02010600030101010101" pitchFamily="2" charset="-122"/>
              </a:rPr>
              <a:t>16</a:t>
            </a:r>
            <a:r>
              <a:rPr lang="zh-CN" altLang="zh-CN" sz="2000" dirty="0">
                <a:latin typeface="宋体" panose="02010600030101010101" pitchFamily="2" charset="-122"/>
                <a:ea typeface="宋体" panose="02010600030101010101" pitchFamily="2" charset="-122"/>
              </a:rPr>
              <a:t>种前景色。亮度和闪烁只能用于前景。当</a:t>
            </a:r>
            <a:r>
              <a:rPr lang="en-US" altLang="zh-CN" sz="2000" dirty="0">
                <a:latin typeface="宋体" panose="02010600030101010101" pitchFamily="2" charset="-122"/>
                <a:ea typeface="宋体" panose="02010600030101010101" pitchFamily="2" charset="-122"/>
              </a:rPr>
              <a:t>I</a:t>
            </a:r>
            <a:r>
              <a:rPr lang="zh-CN" altLang="zh-CN" sz="2000" dirty="0">
                <a:latin typeface="宋体" panose="02010600030101010101" pitchFamily="2" charset="-122"/>
                <a:ea typeface="宋体" panose="02010600030101010101" pitchFamily="2" charset="-122"/>
              </a:rPr>
              <a:t>位为</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时，表示高亮度，为</a:t>
            </a:r>
            <a:r>
              <a:rPr lang="en-US" altLang="zh-CN" sz="2000" dirty="0">
                <a:latin typeface="宋体" panose="02010600030101010101" pitchFamily="2" charset="-122"/>
                <a:ea typeface="宋体" panose="02010600030101010101" pitchFamily="2" charset="-122"/>
              </a:rPr>
              <a:t>0</a:t>
            </a:r>
            <a:r>
              <a:rPr lang="zh-CN" altLang="zh-CN" sz="2000" dirty="0">
                <a:latin typeface="宋体" panose="02010600030101010101" pitchFamily="2" charset="-122"/>
                <a:ea typeface="宋体" panose="02010600030101010101" pitchFamily="2" charset="-122"/>
              </a:rPr>
              <a:t>时表示普通亮度。当</a:t>
            </a:r>
            <a:r>
              <a:rPr lang="en-US" altLang="zh-CN" sz="2000" dirty="0">
                <a:latin typeface="宋体" panose="02010600030101010101" pitchFamily="2" charset="-122"/>
                <a:ea typeface="宋体" panose="02010600030101010101" pitchFamily="2" charset="-122"/>
              </a:rPr>
              <a:t>BL</a:t>
            </a:r>
            <a:r>
              <a:rPr lang="zh-CN" altLang="zh-CN" sz="2000" dirty="0">
                <a:latin typeface="宋体" panose="02010600030101010101" pitchFamily="2" charset="-122"/>
                <a:ea typeface="宋体" panose="02010600030101010101" pitchFamily="2" charset="-122"/>
              </a:rPr>
              <a:t>为</a:t>
            </a:r>
            <a:r>
              <a:rPr lang="en-US" altLang="zh-CN" sz="2000" dirty="0">
                <a:latin typeface="宋体" panose="02010600030101010101" pitchFamily="2" charset="-122"/>
                <a:ea typeface="宋体" panose="02010600030101010101" pitchFamily="2" charset="-122"/>
              </a:rPr>
              <a:t>1</a:t>
            </a:r>
            <a:r>
              <a:rPr lang="zh-CN" altLang="zh-CN" sz="2000" dirty="0">
                <a:latin typeface="宋体" panose="02010600030101010101" pitchFamily="2" charset="-122"/>
                <a:ea typeface="宋体" panose="02010600030101010101" pitchFamily="2" charset="-122"/>
              </a:rPr>
              <a:t>时，表示闪烁，为</a:t>
            </a:r>
            <a:r>
              <a:rPr lang="en-US" altLang="zh-CN" sz="2000" dirty="0">
                <a:latin typeface="宋体" panose="02010600030101010101" pitchFamily="2" charset="-122"/>
                <a:ea typeface="宋体" panose="02010600030101010101" pitchFamily="2" charset="-122"/>
              </a:rPr>
              <a:t>0</a:t>
            </a:r>
            <a:r>
              <a:rPr lang="zh-CN" altLang="zh-CN" sz="2000" dirty="0">
                <a:latin typeface="宋体" panose="02010600030101010101" pitchFamily="2" charset="-122"/>
                <a:ea typeface="宋体" panose="02010600030101010101" pitchFamily="2" charset="-122"/>
              </a:rPr>
              <a:t>时表示不闪烁。彩色显示属性字节如图</a:t>
            </a:r>
            <a:r>
              <a:rPr lang="en-US" altLang="zh-CN" sz="2000" dirty="0">
                <a:latin typeface="宋体" panose="02010600030101010101" pitchFamily="2" charset="-122"/>
                <a:ea typeface="宋体" panose="02010600030101010101" pitchFamily="2" charset="-122"/>
              </a:rPr>
              <a:t>4-8</a:t>
            </a:r>
            <a:r>
              <a:rPr lang="zh-CN" altLang="zh-CN" sz="2000" dirty="0">
                <a:latin typeface="宋体" panose="02010600030101010101" pitchFamily="2" charset="-122"/>
                <a:ea typeface="宋体" panose="02010600030101010101" pitchFamily="2" charset="-122"/>
              </a:rPr>
              <a:t>所示。</a:t>
            </a:r>
          </a:p>
        </p:txBody>
      </p:sp>
      <p:pic>
        <p:nvPicPr>
          <p:cNvPr id="125956" name="Picture 2" descr="4"/>
          <p:cNvPicPr>
            <a:picLocks noChangeAspect="1"/>
          </p:cNvPicPr>
          <p:nvPr/>
        </p:nvPicPr>
        <p:blipFill>
          <a:blip r:embed="rId3"/>
          <a:stretch>
            <a:fillRect/>
          </a:stretch>
        </p:blipFill>
        <p:spPr>
          <a:xfrm>
            <a:off x="2787650" y="5940425"/>
            <a:ext cx="3417888" cy="828675"/>
          </a:xfrm>
          <a:prstGeom prst="rect">
            <a:avLst/>
          </a:prstGeom>
          <a:noFill/>
          <a:ln w="9525">
            <a:noFill/>
          </a:ln>
        </p:spPr>
      </p:pic>
    </p:spTree>
  </p:cSld>
  <p:clrMapOvr>
    <a:masterClrMapping/>
  </p:clrMapOvr>
  <p:transition spd="med">
    <p:random/>
  </p:transition>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4.5.7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系统功能调用</a:t>
            </a:r>
          </a:p>
        </p:txBody>
      </p:sp>
      <p:sp>
        <p:nvSpPr>
          <p:cNvPr id="128002"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28003" name="TextBox 4"/>
          <p:cNvSpPr txBox="1"/>
          <p:nvPr/>
        </p:nvSpPr>
        <p:spPr>
          <a:xfrm>
            <a:off x="293688" y="1855788"/>
            <a:ext cx="8504237" cy="3970337"/>
          </a:xfrm>
          <a:prstGeom prst="rect">
            <a:avLst/>
          </a:prstGeom>
          <a:noFill/>
          <a:ln w="9525">
            <a:noFill/>
          </a:ln>
        </p:spPr>
        <p:txBody>
          <a:bodyPr anchor="t" anchorCtr="0">
            <a:spAutoFit/>
          </a:bodyPr>
          <a:lstStyle/>
          <a:p>
            <a:pPr algn="just"/>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彩色显示属性字节的典型值：</a:t>
            </a:r>
            <a:r>
              <a:rPr lang="en-US" altLang="zh-CN" dirty="0">
                <a:latin typeface="宋体" panose="02010600030101010101" pitchFamily="2" charset="-122"/>
                <a:ea typeface="宋体" panose="02010600030101010101" pitchFamily="2" charset="-122"/>
              </a:rPr>
              <a:t>01H</a:t>
            </a:r>
            <a:r>
              <a:rPr lang="zh-CN" altLang="zh-CN" dirty="0">
                <a:latin typeface="宋体" panose="02010600030101010101" pitchFamily="2" charset="-122"/>
                <a:ea typeface="宋体" panose="02010600030101010101" pitchFamily="2" charset="-122"/>
              </a:rPr>
              <a:t>（黑底蓝字）、</a:t>
            </a:r>
            <a:r>
              <a:rPr lang="en-US" altLang="zh-CN" dirty="0">
                <a:latin typeface="宋体" panose="02010600030101010101" pitchFamily="2" charset="-122"/>
                <a:ea typeface="宋体" panose="02010600030101010101" pitchFamily="2" charset="-122"/>
              </a:rPr>
              <a:t>04H</a:t>
            </a:r>
            <a:r>
              <a:rPr lang="zh-CN" altLang="zh-CN" dirty="0">
                <a:latin typeface="宋体" panose="02010600030101010101" pitchFamily="2" charset="-122"/>
                <a:ea typeface="宋体" panose="02010600030101010101" pitchFamily="2" charset="-122"/>
              </a:rPr>
              <a:t>（黑底红字）、</a:t>
            </a:r>
            <a:r>
              <a:rPr lang="en-US" altLang="zh-CN" dirty="0">
                <a:latin typeface="宋体" panose="02010600030101010101" pitchFamily="2" charset="-122"/>
                <a:ea typeface="宋体" panose="02010600030101010101" pitchFamily="2" charset="-122"/>
              </a:rPr>
              <a:t>07H</a:t>
            </a:r>
            <a:r>
              <a:rPr lang="zh-CN" altLang="zh-CN" dirty="0">
                <a:latin typeface="宋体" panose="02010600030101010101" pitchFamily="2" charset="-122"/>
                <a:ea typeface="宋体" panose="02010600030101010101" pitchFamily="2" charset="-122"/>
              </a:rPr>
              <a:t>（黑底白字）、</a:t>
            </a:r>
            <a:r>
              <a:rPr lang="en-US" altLang="zh-CN" dirty="0">
                <a:latin typeface="宋体" panose="02010600030101010101" pitchFamily="2" charset="-122"/>
                <a:ea typeface="宋体" panose="02010600030101010101" pitchFamily="2" charset="-122"/>
              </a:rPr>
              <a:t>0EH</a:t>
            </a:r>
            <a:r>
              <a:rPr lang="zh-CN" altLang="zh-CN" dirty="0">
                <a:latin typeface="宋体" panose="02010600030101010101" pitchFamily="2" charset="-122"/>
                <a:ea typeface="宋体" panose="02010600030101010101" pitchFamily="2" charset="-122"/>
              </a:rPr>
              <a:t>（黑底黄字）、</a:t>
            </a:r>
            <a:r>
              <a:rPr lang="en-US" altLang="zh-CN" dirty="0">
                <a:latin typeface="宋体" panose="02010600030101010101" pitchFamily="2" charset="-122"/>
                <a:ea typeface="宋体" panose="02010600030101010101" pitchFamily="2" charset="-122"/>
              </a:rPr>
              <a:t>0FH</a:t>
            </a:r>
            <a:r>
              <a:rPr lang="zh-CN" altLang="zh-CN" dirty="0">
                <a:latin typeface="宋体" panose="02010600030101010101" pitchFamily="2" charset="-122"/>
                <a:ea typeface="宋体" panose="02010600030101010101" pitchFamily="2" charset="-122"/>
              </a:rPr>
              <a:t>（黑底亮白字）、</a:t>
            </a:r>
            <a:r>
              <a:rPr lang="en-US" altLang="zh-CN" dirty="0">
                <a:latin typeface="宋体" panose="02010600030101010101" pitchFamily="2" charset="-122"/>
                <a:ea typeface="宋体" panose="02010600030101010101" pitchFamily="2" charset="-122"/>
              </a:rPr>
              <a:t>70H</a:t>
            </a:r>
            <a:r>
              <a:rPr lang="zh-CN" altLang="zh-CN" dirty="0">
                <a:latin typeface="宋体" panose="02010600030101010101" pitchFamily="2" charset="-122"/>
                <a:ea typeface="宋体" panose="02010600030101010101" pitchFamily="2" charset="-122"/>
              </a:rPr>
              <a:t>（白底黑字）、</a:t>
            </a:r>
            <a:r>
              <a:rPr lang="en-US" altLang="zh-CN" dirty="0">
                <a:latin typeface="宋体" panose="02010600030101010101" pitchFamily="2" charset="-122"/>
                <a:ea typeface="宋体" panose="02010600030101010101" pitchFamily="2" charset="-122"/>
              </a:rPr>
              <a:t>74H</a:t>
            </a:r>
            <a:r>
              <a:rPr lang="zh-CN" altLang="zh-CN" dirty="0">
                <a:latin typeface="宋体" panose="02010600030101010101" pitchFamily="2" charset="-122"/>
                <a:ea typeface="宋体" panose="02010600030101010101" pitchFamily="2" charset="-122"/>
              </a:rPr>
              <a:t>（白底红字）、</a:t>
            </a:r>
            <a:r>
              <a:rPr lang="en-US" altLang="zh-CN" dirty="0">
                <a:latin typeface="宋体" panose="02010600030101010101" pitchFamily="2" charset="-122"/>
                <a:ea typeface="宋体" panose="02010600030101010101" pitchFamily="2" charset="-122"/>
              </a:rPr>
              <a:t>87H</a:t>
            </a:r>
            <a:r>
              <a:rPr lang="zh-CN" altLang="zh-CN" dirty="0">
                <a:latin typeface="宋体" panose="02010600030101010101" pitchFamily="2" charset="-122"/>
                <a:ea typeface="宋体" panose="02010600030101010101" pitchFamily="2" charset="-122"/>
              </a:rPr>
              <a:t>（黑底灰白闪烁字）、</a:t>
            </a:r>
            <a:r>
              <a:rPr lang="en-US" altLang="zh-CN" dirty="0">
                <a:latin typeface="宋体" panose="02010600030101010101" pitchFamily="2" charset="-122"/>
                <a:ea typeface="宋体" panose="02010600030101010101" pitchFamily="2" charset="-122"/>
              </a:rPr>
              <a:t>0F4H</a:t>
            </a:r>
            <a:r>
              <a:rPr lang="zh-CN" altLang="zh-CN" dirty="0">
                <a:latin typeface="宋体" panose="02010600030101010101" pitchFamily="2" charset="-122"/>
                <a:ea typeface="宋体" panose="02010600030101010101" pitchFamily="2" charset="-122"/>
              </a:rPr>
              <a:t>（白底红闪烁字）。</a:t>
            </a:r>
          </a:p>
          <a:p>
            <a:pPr algn="just"/>
            <a:r>
              <a:rPr lang="zh-CN" altLang="zh-CN" dirty="0">
                <a:solidFill>
                  <a:srgbClr val="FF3300"/>
                </a:solidFill>
                <a:latin typeface="宋体" panose="02010600030101010101" pitchFamily="2" charset="-122"/>
                <a:ea typeface="宋体" panose="02010600030101010101" pitchFamily="2" charset="-122"/>
              </a:rPr>
              <a:t>【例</a:t>
            </a:r>
            <a:r>
              <a:rPr lang="en-US" altLang="zh-CN" dirty="0">
                <a:solidFill>
                  <a:srgbClr val="FF3300"/>
                </a:solidFill>
                <a:latin typeface="宋体" panose="02010600030101010101" pitchFamily="2" charset="-122"/>
                <a:ea typeface="宋体" panose="02010600030101010101" pitchFamily="2" charset="-122"/>
              </a:rPr>
              <a:t>4.14</a:t>
            </a:r>
            <a:r>
              <a:rPr lang="zh-CN" altLang="zh-CN" dirty="0">
                <a:solidFill>
                  <a:srgbClr val="FF3300"/>
                </a:solidFill>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采用</a:t>
            </a:r>
            <a:r>
              <a:rPr lang="en-US" altLang="zh-CN" dirty="0">
                <a:latin typeface="宋体" panose="02010600030101010101" pitchFamily="2" charset="-122"/>
                <a:ea typeface="宋体" panose="02010600030101010101" pitchFamily="2" charset="-122"/>
              </a:rPr>
              <a:t>BIOS</a:t>
            </a:r>
            <a:r>
              <a:rPr lang="zh-CN" altLang="zh-CN" dirty="0">
                <a:latin typeface="宋体" panose="02010600030101010101" pitchFamily="2" charset="-122"/>
                <a:ea typeface="宋体" panose="02010600030101010101" pitchFamily="2" charset="-122"/>
              </a:rPr>
              <a:t>功能调用在屏幕上用多种属性显示字符串。</a:t>
            </a:r>
          </a:p>
          <a:p>
            <a:pPr algn="just"/>
            <a:r>
              <a:rPr lang="zh-CN" altLang="zh-CN" dirty="0">
                <a:latin typeface="宋体" panose="02010600030101010101" pitchFamily="2" charset="-122"/>
                <a:ea typeface="宋体" panose="02010600030101010101" pitchFamily="2" charset="-122"/>
              </a:rPr>
              <a:t>说明：先用一种属性在屏幕上显示指定信息，然后按一键后再换一种属性显示，当按下“</a:t>
            </a:r>
            <a:r>
              <a:rPr lang="en-US" altLang="zh-CN" dirty="0">
                <a:latin typeface="宋体" panose="02010600030101010101" pitchFamily="2" charset="-122"/>
                <a:ea typeface="宋体" panose="02010600030101010101" pitchFamily="2" charset="-122"/>
              </a:rPr>
              <a:t>ESC</a:t>
            </a:r>
            <a:r>
              <a:rPr lang="zh-CN" altLang="zh-CN" dirty="0">
                <a:latin typeface="宋体" panose="02010600030101010101" pitchFamily="2" charset="-122"/>
                <a:ea typeface="宋体" panose="02010600030101010101" pitchFamily="2" charset="-122"/>
              </a:rPr>
              <a:t>”键时，返回</a:t>
            </a:r>
            <a:r>
              <a:rPr lang="en-US" altLang="zh-CN" dirty="0">
                <a:latin typeface="宋体" panose="02010600030101010101" pitchFamily="2" charset="-122"/>
                <a:ea typeface="宋体" panose="02010600030101010101" pitchFamily="2" charset="-122"/>
              </a:rPr>
              <a:t>DOS</a:t>
            </a:r>
            <a:r>
              <a:rPr lang="zh-CN" altLang="zh-CN" dirty="0">
                <a:latin typeface="宋体" panose="02010600030101010101" pitchFamily="2" charset="-122"/>
                <a:ea typeface="宋体" panose="02010600030101010101" pitchFamily="2" charset="-122"/>
              </a:rPr>
              <a:t>。</a:t>
            </a:r>
          </a:p>
          <a:p>
            <a:pPr algn="just"/>
            <a:r>
              <a:rPr lang="zh-CN" altLang="zh-CN" dirty="0">
                <a:latin typeface="宋体" panose="02010600030101010101" pitchFamily="2" charset="-122"/>
                <a:ea typeface="宋体" panose="02010600030101010101" pitchFamily="2" charset="-122"/>
              </a:rPr>
              <a:t>显示子程序为</a:t>
            </a:r>
            <a:r>
              <a:rPr lang="pt-BR" altLang="zh-CN" dirty="0">
                <a:latin typeface="宋体" panose="02010600030101010101" pitchFamily="2" charset="-122"/>
                <a:ea typeface="宋体" panose="02010600030101010101" pitchFamily="2" charset="-122"/>
              </a:rPr>
              <a:t>ECHO</a:t>
            </a:r>
            <a:r>
              <a:rPr lang="zh-CN" altLang="zh-CN" dirty="0">
                <a:latin typeface="宋体" panose="02010600030101010101" pitchFamily="2" charset="-122"/>
                <a:ea typeface="宋体" panose="02010600030101010101" pitchFamily="2" charset="-122"/>
              </a:rPr>
              <a:t>，先调用</a:t>
            </a:r>
            <a:r>
              <a:rPr lang="pt-BR" altLang="zh-CN" dirty="0">
                <a:latin typeface="宋体" panose="02010600030101010101" pitchFamily="2" charset="-122"/>
                <a:ea typeface="宋体" panose="02010600030101010101" pitchFamily="2" charset="-122"/>
              </a:rPr>
              <a:t>BIOS</a:t>
            </a:r>
            <a:r>
              <a:rPr lang="zh-CN" altLang="zh-CN" dirty="0">
                <a:latin typeface="宋体" panose="02010600030101010101" pitchFamily="2" charset="-122"/>
                <a:ea typeface="宋体" panose="02010600030101010101" pitchFamily="2" charset="-122"/>
              </a:rPr>
              <a:t>显示程序的</a:t>
            </a:r>
            <a:r>
              <a:rPr lang="pt-BR"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号功能把光标定到指定位置，然后利用</a:t>
            </a:r>
            <a:r>
              <a:rPr lang="pt-BR" altLang="zh-CN" dirty="0">
                <a:latin typeface="宋体" panose="02010600030101010101" pitchFamily="2" charset="-122"/>
                <a:ea typeface="宋体" panose="02010600030101010101" pitchFamily="2" charset="-122"/>
              </a:rPr>
              <a:t>BIOS</a:t>
            </a:r>
            <a:r>
              <a:rPr lang="zh-CN" altLang="zh-CN" dirty="0">
                <a:latin typeface="宋体" panose="02010600030101010101" pitchFamily="2" charset="-122"/>
                <a:ea typeface="宋体" panose="02010600030101010101" pitchFamily="2" charset="-122"/>
              </a:rPr>
              <a:t>显示程序的</a:t>
            </a:r>
            <a:r>
              <a:rPr lang="pt-BR" altLang="zh-CN" dirty="0">
                <a:latin typeface="宋体" panose="02010600030101010101" pitchFamily="2" charset="-122"/>
                <a:ea typeface="宋体" panose="02010600030101010101" pitchFamily="2" charset="-122"/>
              </a:rPr>
              <a:t>0EH</a:t>
            </a:r>
            <a:r>
              <a:rPr lang="zh-CN" altLang="zh-CN" dirty="0">
                <a:latin typeface="宋体" panose="02010600030101010101" pitchFamily="2" charset="-122"/>
                <a:ea typeface="宋体" panose="02010600030101010101" pitchFamily="2" charset="-122"/>
              </a:rPr>
              <a:t>号功能逐个显示字符串中的字符。由于该方式显示不含属性，因此先调用</a:t>
            </a:r>
            <a:r>
              <a:rPr lang="pt-BR" altLang="zh-CN" dirty="0">
                <a:latin typeface="宋体" panose="02010600030101010101" pitchFamily="2" charset="-122"/>
                <a:ea typeface="宋体" panose="02010600030101010101" pitchFamily="2" charset="-122"/>
              </a:rPr>
              <a:t>9</a:t>
            </a:r>
            <a:r>
              <a:rPr lang="zh-CN" altLang="zh-CN" dirty="0">
                <a:latin typeface="宋体" panose="02010600030101010101" pitchFamily="2" charset="-122"/>
                <a:ea typeface="宋体" panose="02010600030101010101" pitchFamily="2" charset="-122"/>
              </a:rPr>
              <a:t>号功能把指定属性写到显示字符串的位置处。</a:t>
            </a:r>
          </a:p>
        </p:txBody>
      </p:sp>
    </p:spTree>
  </p:cSld>
  <p:clrMapOvr>
    <a:masterClrMapping/>
  </p:clrMapOvr>
  <p:transition spd="med">
    <p:random/>
  </p:transition>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0049"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30050" name="TextBox 4"/>
          <p:cNvSpPr txBox="1"/>
          <p:nvPr/>
        </p:nvSpPr>
        <p:spPr>
          <a:xfrm>
            <a:off x="1366838" y="355600"/>
            <a:ext cx="6332537" cy="6283325"/>
          </a:xfrm>
          <a:prstGeom prst="rect">
            <a:avLst/>
          </a:prstGeom>
          <a:noFill/>
          <a:ln w="9525">
            <a:noFill/>
          </a:ln>
        </p:spPr>
        <p:txBody>
          <a:bodyPr wrap="square" anchor="t" anchorCtr="0">
            <a:spAutoFit/>
          </a:bodyPr>
          <a:lstStyle/>
          <a:p>
            <a:r>
              <a:rPr lang="en-US" altLang="zh-CN" sz="1200" dirty="0">
                <a:latin typeface="宋体" panose="02010600030101010101" pitchFamily="2" charset="-122"/>
                <a:ea typeface="宋体" panose="02010600030101010101" pitchFamily="2" charset="-122"/>
              </a:rPr>
              <a:t>ROW=5                      		;</a:t>
            </a:r>
            <a:r>
              <a:rPr lang="zh-CN" altLang="zh-CN" sz="1200" dirty="0">
                <a:latin typeface="宋体" panose="02010600030101010101" pitchFamily="2" charset="-122"/>
                <a:ea typeface="宋体" panose="02010600030101010101" pitchFamily="2" charset="-122"/>
              </a:rPr>
              <a:t>常量定义，显示信息的行号</a:t>
            </a:r>
          </a:p>
          <a:p>
            <a:r>
              <a:rPr lang="en-US" altLang="zh-CN" sz="1200" dirty="0">
                <a:latin typeface="宋体" panose="02010600030101010101" pitchFamily="2" charset="-122"/>
                <a:ea typeface="宋体" panose="02010600030101010101" pitchFamily="2" charset="-122"/>
              </a:rPr>
              <a:t>COLUM=10                  		;</a:t>
            </a:r>
            <a:r>
              <a:rPr lang="zh-CN" altLang="zh-CN" sz="1200" dirty="0">
                <a:latin typeface="宋体" panose="02010600030101010101" pitchFamily="2" charset="-122"/>
                <a:ea typeface="宋体" panose="02010600030101010101" pitchFamily="2" charset="-122"/>
              </a:rPr>
              <a:t>显示信息的列号</a:t>
            </a:r>
          </a:p>
          <a:p>
            <a:r>
              <a:rPr lang="en-US" altLang="zh-CN" sz="1200" dirty="0">
                <a:latin typeface="宋体" panose="02010600030101010101" pitchFamily="2" charset="-122"/>
                <a:ea typeface="宋体" panose="02010600030101010101" pitchFamily="2" charset="-122"/>
              </a:rPr>
              <a:t>ESCKEY=1BH                		;ESC</a:t>
            </a:r>
            <a:r>
              <a:rPr lang="zh-CN" altLang="zh-CN" sz="1200" dirty="0">
                <a:latin typeface="宋体" panose="02010600030101010101" pitchFamily="2" charset="-122"/>
                <a:ea typeface="宋体" panose="02010600030101010101" pitchFamily="2" charset="-122"/>
              </a:rPr>
              <a:t>键的</a:t>
            </a:r>
            <a:r>
              <a:rPr lang="en-US" altLang="zh-CN" sz="1200" dirty="0">
                <a:latin typeface="宋体" panose="02010600030101010101" pitchFamily="2" charset="-122"/>
                <a:ea typeface="宋体" panose="02010600030101010101" pitchFamily="2" charset="-122"/>
              </a:rPr>
              <a:t>ASCII</a:t>
            </a:r>
            <a:r>
              <a:rPr lang="zh-CN" altLang="zh-CN" sz="1200" dirty="0">
                <a:latin typeface="宋体" panose="02010600030101010101" pitchFamily="2" charset="-122"/>
                <a:ea typeface="宋体" panose="02010600030101010101" pitchFamily="2" charset="-122"/>
              </a:rPr>
              <a:t>码值</a:t>
            </a:r>
          </a:p>
          <a:p>
            <a:r>
              <a:rPr lang="en-US" altLang="zh-CN" sz="1200" dirty="0">
                <a:latin typeface="宋体" panose="02010600030101010101" pitchFamily="2" charset="-122"/>
                <a:ea typeface="宋体" panose="02010600030101010101" pitchFamily="2" charset="-122"/>
              </a:rPr>
              <a:t>DSEG  SEGMENT</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MESS  DB        'HuaBeiShuiYuan!'    	;</a:t>
            </a:r>
            <a:r>
              <a:rPr lang="zh-CN" altLang="zh-CN" sz="1200" dirty="0">
                <a:latin typeface="宋体" panose="02010600030101010101" pitchFamily="2" charset="-122"/>
                <a:ea typeface="宋体" panose="02010600030101010101" pitchFamily="2" charset="-122"/>
              </a:rPr>
              <a:t>显示信息</a:t>
            </a:r>
          </a:p>
          <a:p>
            <a:r>
              <a:rPr lang="en-US" altLang="zh-CN" sz="1200" dirty="0">
                <a:latin typeface="宋体" panose="02010600030101010101" pitchFamily="2" charset="-122"/>
                <a:ea typeface="宋体" panose="02010600030101010101" pitchFamily="2" charset="-122"/>
              </a:rPr>
              <a:t>MESS_LEN  =         $ - OFFSET  MESS    	;</a:t>
            </a:r>
            <a:r>
              <a:rPr lang="zh-CN" altLang="zh-CN" sz="1200" dirty="0">
                <a:latin typeface="宋体" panose="02010600030101010101" pitchFamily="2" charset="-122"/>
                <a:ea typeface="宋体" panose="02010600030101010101" pitchFamily="2" charset="-122"/>
              </a:rPr>
              <a:t>显示信息的长度</a:t>
            </a:r>
          </a:p>
          <a:p>
            <a:r>
              <a:rPr lang="en-US" altLang="zh-CN" sz="1200" dirty="0">
                <a:latin typeface="宋体" panose="02010600030101010101" pitchFamily="2" charset="-122"/>
                <a:ea typeface="宋体" panose="02010600030101010101" pitchFamily="2" charset="-122"/>
              </a:rPr>
              <a:t>    COLORB  DB        07H,01H,0FH,70H,74H 	;</a:t>
            </a:r>
            <a:r>
              <a:rPr lang="zh-CN" altLang="zh-CN" sz="1200" dirty="0">
                <a:latin typeface="宋体" panose="02010600030101010101" pitchFamily="2" charset="-122"/>
                <a:ea typeface="宋体" panose="02010600030101010101" pitchFamily="2" charset="-122"/>
              </a:rPr>
              <a:t>颜色属性</a:t>
            </a:r>
          </a:p>
          <a:p>
            <a:r>
              <a:rPr lang="en-US" altLang="zh-CN" sz="1200" dirty="0">
                <a:latin typeface="宋体" panose="02010600030101010101" pitchFamily="2" charset="-122"/>
                <a:ea typeface="宋体" panose="02010600030101010101" pitchFamily="2" charset="-122"/>
              </a:rPr>
              <a:t>    COLORE  LABEL     BYTE</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DSEG  ENDS</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CSEG  SEGMENT</a:t>
            </a:r>
            <a:endParaRPr lang="zh-CN" altLang="zh-CN" sz="1200" dirty="0">
              <a:latin typeface="宋体" panose="02010600030101010101" pitchFamily="2" charset="-122"/>
              <a:ea typeface="宋体" panose="02010600030101010101" pitchFamily="2" charset="-122"/>
            </a:endParaRPr>
          </a:p>
          <a:p>
            <a:r>
              <a:rPr lang="fr-FR" altLang="zh-CN" sz="1200" dirty="0">
                <a:latin typeface="宋体" panose="02010600030101010101" pitchFamily="2" charset="-122"/>
                <a:ea typeface="宋体" panose="02010600030101010101" pitchFamily="2" charset="-122"/>
              </a:rPr>
              <a:t>       ASSUME    CS: CSEG, DS:DSEG, ES:DSEG</a:t>
            </a:r>
            <a:endParaRPr lang="zh-CN" altLang="zh-CN" sz="1200" dirty="0">
              <a:latin typeface="宋体" panose="02010600030101010101" pitchFamily="2" charset="-122"/>
              <a:ea typeface="宋体" panose="02010600030101010101" pitchFamily="2" charset="-122"/>
            </a:endParaRPr>
          </a:p>
          <a:p>
            <a:r>
              <a:rPr lang="fr-FR" altLang="zh-CN" sz="1200" dirty="0">
                <a:latin typeface="宋体" panose="02010600030101010101" pitchFamily="2" charset="-122"/>
                <a:ea typeface="宋体" panose="02010600030101010101" pitchFamily="2" charset="-122"/>
              </a:rPr>
              <a:t>   START: MOV       DI,  OFFSET COLORB-1 	;</a:t>
            </a:r>
            <a:r>
              <a:rPr lang="zh-CN" altLang="zh-CN" sz="1200" dirty="0">
                <a:latin typeface="宋体" panose="02010600030101010101" pitchFamily="2" charset="-122"/>
                <a:ea typeface="宋体" panose="02010600030101010101" pitchFamily="2" charset="-122"/>
              </a:rPr>
              <a:t>颜色指针初值</a:t>
            </a:r>
          </a:p>
          <a:p>
            <a:r>
              <a:rPr lang="fr-FR" altLang="zh-CN" sz="1200" dirty="0">
                <a:latin typeface="宋体" panose="02010600030101010101" pitchFamily="2" charset="-122"/>
                <a:ea typeface="宋体" panose="02010600030101010101" pitchFamily="2" charset="-122"/>
              </a:rPr>
              <a:t>  NEXTC:  MOV       AX,  DSEG</a:t>
            </a:r>
            <a:endParaRPr lang="zh-CN" altLang="zh-CN" sz="1200" dirty="0">
              <a:latin typeface="宋体" panose="02010600030101010101" pitchFamily="2" charset="-122"/>
              <a:ea typeface="宋体" panose="02010600030101010101" pitchFamily="2" charset="-122"/>
            </a:endParaRPr>
          </a:p>
          <a:p>
            <a:r>
              <a:rPr lang="fr-FR" altLang="zh-CN" sz="1200" dirty="0">
                <a:latin typeface="宋体" panose="02010600030101010101" pitchFamily="2" charset="-122"/>
                <a:ea typeface="宋体" panose="02010600030101010101" pitchFamily="2" charset="-122"/>
              </a:rPr>
              <a:t>          MOV       DS,  AX                  	;</a:t>
            </a:r>
            <a:r>
              <a:rPr lang="zh-CN" altLang="zh-CN" sz="1200" dirty="0">
                <a:latin typeface="宋体" panose="02010600030101010101" pitchFamily="2" charset="-122"/>
                <a:ea typeface="宋体" panose="02010600030101010101" pitchFamily="2" charset="-122"/>
              </a:rPr>
              <a:t>设置数据段段值</a:t>
            </a:r>
          </a:p>
          <a:p>
            <a:r>
              <a:rPr lang="fr-FR" altLang="zh-CN" sz="1200" dirty="0">
                <a:latin typeface="宋体" panose="02010600030101010101" pitchFamily="2" charset="-122"/>
                <a:ea typeface="宋体" panose="02010600030101010101" pitchFamily="2" charset="-122"/>
              </a:rPr>
              <a:t>          MOV       ES,  AX                  	; ES</a:t>
            </a:r>
            <a:r>
              <a:rPr lang="zh-CN" altLang="zh-CN" sz="1200" dirty="0">
                <a:latin typeface="宋体" panose="02010600030101010101" pitchFamily="2" charset="-122"/>
                <a:ea typeface="宋体" panose="02010600030101010101" pitchFamily="2" charset="-122"/>
              </a:rPr>
              <a:t>指向数据段</a:t>
            </a:r>
          </a:p>
          <a:p>
            <a:r>
              <a:rPr lang="fr-FR" altLang="zh-CN" sz="1200" dirty="0">
                <a:latin typeface="宋体" panose="02010600030101010101" pitchFamily="2" charset="-122"/>
                <a:ea typeface="宋体" panose="02010600030101010101" pitchFamily="2" charset="-122"/>
              </a:rPr>
              <a:t>          INC       DI                      	;</a:t>
            </a:r>
            <a:r>
              <a:rPr lang="zh-CN" altLang="zh-CN" sz="1200" dirty="0">
                <a:latin typeface="宋体" panose="02010600030101010101" pitchFamily="2" charset="-122"/>
                <a:ea typeface="宋体" panose="02010600030101010101" pitchFamily="2" charset="-122"/>
              </a:rPr>
              <a:t>调整颜色指针</a:t>
            </a:r>
          </a:p>
          <a:p>
            <a:r>
              <a:rPr lang="fr-FR" altLang="zh-CN" sz="1200" dirty="0">
                <a:latin typeface="宋体" panose="02010600030101010101" pitchFamily="2" charset="-122"/>
                <a:ea typeface="宋体" panose="02010600030101010101" pitchFamily="2" charset="-122"/>
              </a:rPr>
              <a:t>          CMP       DI,  OFFSET COLORE    	;</a:t>
            </a:r>
            <a:r>
              <a:rPr lang="zh-CN" altLang="zh-CN" sz="1200" dirty="0">
                <a:latin typeface="宋体" panose="02010600030101010101" pitchFamily="2" charset="-122"/>
                <a:ea typeface="宋体" panose="02010600030101010101" pitchFamily="2" charset="-122"/>
              </a:rPr>
              <a:t>是否超过指定的颜色</a:t>
            </a:r>
          </a:p>
          <a:p>
            <a:r>
              <a:rPr lang="fr-FR" altLang="zh-CN" sz="1200" dirty="0">
                <a:latin typeface="宋体" panose="02010600030101010101" pitchFamily="2" charset="-122"/>
                <a:ea typeface="宋体" panose="02010600030101010101" pitchFamily="2" charset="-122"/>
              </a:rPr>
              <a:t>          JNZ       NEXTE                   	;</a:t>
            </a:r>
            <a:r>
              <a:rPr lang="zh-CN" altLang="zh-CN" sz="1200" dirty="0">
                <a:latin typeface="宋体" panose="02010600030101010101" pitchFamily="2" charset="-122"/>
                <a:ea typeface="宋体" panose="02010600030101010101" pitchFamily="2" charset="-122"/>
              </a:rPr>
              <a:t>没有超过则跳转</a:t>
            </a:r>
          </a:p>
          <a:p>
            <a:r>
              <a:rPr lang="fr-FR" altLang="zh-CN" sz="1200" dirty="0">
                <a:latin typeface="宋体" panose="02010600030101010101" pitchFamily="2" charset="-122"/>
                <a:ea typeface="宋体" panose="02010600030101010101" pitchFamily="2" charset="-122"/>
              </a:rPr>
              <a:t>          MOV       DI,  OFFSET COLORB     	;</a:t>
            </a:r>
            <a:r>
              <a:rPr lang="zh-CN" altLang="zh-CN" sz="1200" dirty="0">
                <a:latin typeface="宋体" panose="02010600030101010101" pitchFamily="2" charset="-122"/>
                <a:ea typeface="宋体" panose="02010600030101010101" pitchFamily="2" charset="-122"/>
              </a:rPr>
              <a:t>超过则重新指定为第一种颜色</a:t>
            </a:r>
          </a:p>
          <a:p>
            <a:r>
              <a:rPr lang="fr-FR" altLang="zh-CN" sz="1200" dirty="0">
                <a:latin typeface="宋体" panose="02010600030101010101" pitchFamily="2" charset="-122"/>
                <a:ea typeface="宋体" panose="02010600030101010101" pitchFamily="2" charset="-122"/>
              </a:rPr>
              <a:t>  NEXTE:  MOV       BL,  [DI]              	 ;</a:t>
            </a:r>
            <a:r>
              <a:rPr lang="zh-CN" altLang="zh-CN" sz="1200" dirty="0">
                <a:latin typeface="宋体" panose="02010600030101010101" pitchFamily="2" charset="-122"/>
                <a:ea typeface="宋体" panose="02010600030101010101" pitchFamily="2" charset="-122"/>
              </a:rPr>
              <a:t>取颜色</a:t>
            </a:r>
          </a:p>
          <a:p>
            <a:r>
              <a:rPr lang="fr-FR" altLang="zh-CN" sz="1200" dirty="0">
                <a:latin typeface="宋体" panose="02010600030101010101" pitchFamily="2" charset="-122"/>
                <a:ea typeface="宋体" panose="02010600030101010101" pitchFamily="2" charset="-122"/>
              </a:rPr>
              <a:t>          MOV       SI,  OFFSET  MESS      	;</a:t>
            </a:r>
            <a:r>
              <a:rPr lang="zh-CN" altLang="zh-CN" sz="1200" dirty="0">
                <a:latin typeface="宋体" panose="02010600030101010101" pitchFamily="2" charset="-122"/>
                <a:ea typeface="宋体" panose="02010600030101010101" pitchFamily="2" charset="-122"/>
              </a:rPr>
              <a:t>取显示信息指针</a:t>
            </a:r>
          </a:p>
          <a:p>
            <a:r>
              <a:rPr lang="fr-FR" altLang="zh-CN" sz="1200" dirty="0">
                <a:latin typeface="宋体" panose="02010600030101010101" pitchFamily="2" charset="-122"/>
                <a:ea typeface="宋体" panose="02010600030101010101" pitchFamily="2" charset="-122"/>
              </a:rPr>
              <a:t>          MOV       CX,  MESS_LEN         	;</a:t>
            </a:r>
            <a:r>
              <a:rPr lang="zh-CN" altLang="zh-CN" sz="1200" dirty="0">
                <a:latin typeface="宋体" panose="02010600030101010101" pitchFamily="2" charset="-122"/>
                <a:ea typeface="宋体" panose="02010600030101010101" pitchFamily="2" charset="-122"/>
              </a:rPr>
              <a:t>取显示信息长度</a:t>
            </a:r>
          </a:p>
          <a:p>
            <a:r>
              <a:rPr lang="fr-FR" altLang="zh-CN" sz="1200" dirty="0">
                <a:latin typeface="宋体" panose="02010600030101010101" pitchFamily="2" charset="-122"/>
                <a:ea typeface="宋体" panose="02010600030101010101" pitchFamily="2" charset="-122"/>
              </a:rPr>
              <a:t>          MOV       DH,  ROW              	;</a:t>
            </a:r>
            <a:r>
              <a:rPr lang="zh-CN" altLang="zh-CN" sz="1200" dirty="0">
                <a:latin typeface="宋体" panose="02010600030101010101" pitchFamily="2" charset="-122"/>
                <a:ea typeface="宋体" panose="02010600030101010101" pitchFamily="2" charset="-122"/>
              </a:rPr>
              <a:t>设置显示开始的行号</a:t>
            </a:r>
          </a:p>
          <a:p>
            <a:r>
              <a:rPr lang="fr-FR" altLang="zh-CN" sz="1200" dirty="0">
                <a:latin typeface="宋体" panose="02010600030101010101" pitchFamily="2" charset="-122"/>
                <a:ea typeface="宋体" panose="02010600030101010101" pitchFamily="2" charset="-122"/>
              </a:rPr>
              <a:t>          MOV       DL,  COLUM            	;</a:t>
            </a:r>
            <a:r>
              <a:rPr lang="zh-CN" altLang="zh-CN" sz="1200" dirty="0">
                <a:latin typeface="宋体" panose="02010600030101010101" pitchFamily="2" charset="-122"/>
                <a:ea typeface="宋体" panose="02010600030101010101" pitchFamily="2" charset="-122"/>
              </a:rPr>
              <a:t>设置显示开始的列号</a:t>
            </a:r>
          </a:p>
          <a:p>
            <a:r>
              <a:rPr lang="fr-FR" altLang="zh-CN" sz="1200" dirty="0">
                <a:latin typeface="宋体" panose="02010600030101010101" pitchFamily="2" charset="-122"/>
                <a:ea typeface="宋体" panose="02010600030101010101" pitchFamily="2" charset="-122"/>
              </a:rPr>
              <a:t>          CALL      ECHO                   	;</a:t>
            </a:r>
            <a:r>
              <a:rPr lang="zh-CN" altLang="zh-CN" sz="1200" dirty="0">
                <a:latin typeface="宋体" panose="02010600030101010101" pitchFamily="2" charset="-122"/>
                <a:ea typeface="宋体" panose="02010600030101010101" pitchFamily="2" charset="-122"/>
              </a:rPr>
              <a:t>调用显示子程序</a:t>
            </a:r>
          </a:p>
          <a:p>
            <a:r>
              <a:rPr lang="fr-FR" altLang="zh-CN" sz="1200" dirty="0">
                <a:latin typeface="宋体" panose="02010600030101010101" pitchFamily="2" charset="-122"/>
                <a:ea typeface="宋体" panose="02010600030101010101" pitchFamily="2" charset="-122"/>
              </a:rPr>
              <a:t>          </a:t>
            </a:r>
            <a:r>
              <a:rPr lang="en-US" altLang="zh-CN" sz="1200" dirty="0">
                <a:latin typeface="宋体" panose="02010600030101010101" pitchFamily="2" charset="-122"/>
                <a:ea typeface="宋体" panose="02010600030101010101" pitchFamily="2" charset="-122"/>
              </a:rPr>
              <a:t>MOV       AH,  0                 	 ; 0</a:t>
            </a:r>
            <a:r>
              <a:rPr lang="zh-CN" altLang="zh-CN" sz="1200" dirty="0">
                <a:latin typeface="宋体" panose="02010600030101010101" pitchFamily="2" charset="-122"/>
                <a:ea typeface="宋体" panose="02010600030101010101" pitchFamily="2" charset="-122"/>
              </a:rPr>
              <a:t>号功能为从键盘读字符</a:t>
            </a:r>
          </a:p>
          <a:p>
            <a:r>
              <a:rPr lang="en-US" altLang="zh-CN" sz="1200" dirty="0">
                <a:latin typeface="宋体" panose="02010600030101010101" pitchFamily="2" charset="-122"/>
                <a:ea typeface="宋体" panose="02010600030101010101" pitchFamily="2" charset="-122"/>
              </a:rPr>
              <a:t>          INT       16H                    	  ;</a:t>
            </a:r>
            <a:r>
              <a:rPr lang="zh-CN" altLang="zh-CN" sz="1200" dirty="0">
                <a:latin typeface="宋体" panose="02010600030101010101" pitchFamily="2" charset="-122"/>
                <a:ea typeface="宋体" panose="02010600030101010101" pitchFamily="2" charset="-122"/>
              </a:rPr>
              <a:t>执行</a:t>
            </a:r>
            <a:r>
              <a:rPr lang="en-US" altLang="zh-CN" sz="1200" dirty="0">
                <a:latin typeface="宋体" panose="02010600030101010101" pitchFamily="2" charset="-122"/>
                <a:ea typeface="宋体" panose="02010600030101010101" pitchFamily="2" charset="-122"/>
              </a:rPr>
              <a:t>INT  16H</a:t>
            </a:r>
            <a:r>
              <a:rPr lang="zh-CN" altLang="zh-CN" sz="1200" dirty="0">
                <a:latin typeface="宋体" panose="02010600030101010101" pitchFamily="2" charset="-122"/>
                <a:ea typeface="宋体" panose="02010600030101010101" pitchFamily="2" charset="-122"/>
              </a:rPr>
              <a:t>的</a:t>
            </a:r>
            <a:r>
              <a:rPr lang="en-US" altLang="zh-CN" sz="1200" dirty="0">
                <a:latin typeface="宋体" panose="02010600030101010101" pitchFamily="2" charset="-122"/>
                <a:ea typeface="宋体" panose="02010600030101010101" pitchFamily="2" charset="-122"/>
              </a:rPr>
              <a:t>0</a:t>
            </a:r>
            <a:r>
              <a:rPr lang="zh-CN" altLang="zh-CN" sz="1200" dirty="0">
                <a:latin typeface="宋体" panose="02010600030101010101" pitchFamily="2" charset="-122"/>
                <a:ea typeface="宋体" panose="02010600030101010101" pitchFamily="2" charset="-122"/>
              </a:rPr>
              <a:t>号功能</a:t>
            </a:r>
          </a:p>
          <a:p>
            <a:r>
              <a:rPr lang="en-US" altLang="zh-CN" sz="1200" dirty="0">
                <a:latin typeface="宋体" panose="02010600030101010101" pitchFamily="2" charset="-122"/>
                <a:ea typeface="宋体" panose="02010600030101010101" pitchFamily="2" charset="-122"/>
              </a:rPr>
              <a:t>          CMP       AL,  ESCKEY           	 ;</a:t>
            </a:r>
            <a:r>
              <a:rPr lang="zh-CN" altLang="zh-CN" sz="1200" dirty="0">
                <a:latin typeface="宋体" panose="02010600030101010101" pitchFamily="2" charset="-122"/>
                <a:ea typeface="宋体" panose="02010600030101010101" pitchFamily="2" charset="-122"/>
              </a:rPr>
              <a:t>是否为“</a:t>
            </a:r>
            <a:r>
              <a:rPr lang="en-US" altLang="zh-CN" sz="1200" dirty="0">
                <a:latin typeface="宋体" panose="02010600030101010101" pitchFamily="2" charset="-122"/>
                <a:ea typeface="宋体" panose="02010600030101010101" pitchFamily="2" charset="-122"/>
              </a:rPr>
              <a:t>ESC</a:t>
            </a:r>
            <a:r>
              <a:rPr lang="zh-CN" altLang="zh-CN" sz="1200" dirty="0">
                <a:latin typeface="宋体" panose="02010600030101010101" pitchFamily="2" charset="-122"/>
                <a:ea typeface="宋体" panose="02010600030101010101" pitchFamily="2" charset="-122"/>
              </a:rPr>
              <a:t>”键</a:t>
            </a:r>
          </a:p>
          <a:p>
            <a:r>
              <a:rPr lang="en-US" altLang="zh-CN" sz="1200" dirty="0">
                <a:latin typeface="宋体" panose="02010600030101010101" pitchFamily="2" charset="-122"/>
                <a:ea typeface="宋体" panose="02010600030101010101" pitchFamily="2" charset="-122"/>
              </a:rPr>
              <a:t>          JNZ       NEXTC                  	 ;</a:t>
            </a:r>
            <a:r>
              <a:rPr lang="zh-CN" altLang="zh-CN" sz="1200" dirty="0">
                <a:latin typeface="宋体" panose="02010600030101010101" pitchFamily="2" charset="-122"/>
                <a:ea typeface="宋体" panose="02010600030101010101" pitchFamily="2" charset="-122"/>
              </a:rPr>
              <a:t>不是，继续循环</a:t>
            </a:r>
          </a:p>
          <a:p>
            <a:r>
              <a:rPr lang="en-US" altLang="zh-CN" sz="1200" dirty="0">
                <a:latin typeface="宋体" panose="02010600030101010101" pitchFamily="2" charset="-122"/>
                <a:ea typeface="宋体" panose="02010600030101010101" pitchFamily="2" charset="-122"/>
              </a:rPr>
              <a:t>          MOV       AH,  4CH               	 ;</a:t>
            </a:r>
            <a:r>
              <a:rPr lang="zh-CN" altLang="zh-CN" sz="1200" dirty="0">
                <a:latin typeface="宋体" panose="02010600030101010101" pitchFamily="2" charset="-122"/>
                <a:ea typeface="宋体" panose="02010600030101010101" pitchFamily="2" charset="-122"/>
              </a:rPr>
              <a:t>结束程序，返回</a:t>
            </a:r>
            <a:r>
              <a:rPr lang="en-US" altLang="zh-CN" sz="1200" dirty="0">
                <a:latin typeface="宋体" panose="02010600030101010101" pitchFamily="2" charset="-122"/>
                <a:ea typeface="宋体" panose="02010600030101010101" pitchFamily="2" charset="-122"/>
              </a:rPr>
              <a:t>DOS</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INT       21H       </a:t>
            </a:r>
            <a:endParaRPr lang="zh-CN" altLang="zh-CN" sz="120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2097"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32098" name="TextBox 4"/>
          <p:cNvSpPr txBox="1"/>
          <p:nvPr/>
        </p:nvSpPr>
        <p:spPr>
          <a:xfrm>
            <a:off x="1397000" y="280988"/>
            <a:ext cx="6292850" cy="6480175"/>
          </a:xfrm>
          <a:prstGeom prst="rect">
            <a:avLst/>
          </a:prstGeom>
          <a:noFill/>
          <a:ln w="9525">
            <a:noFill/>
          </a:ln>
        </p:spPr>
        <p:txBody>
          <a:bodyPr anchor="t" anchorCtr="0">
            <a:spAutoFit/>
          </a:bodyPr>
          <a:lstStyle/>
          <a:p>
            <a:r>
              <a:rPr lang="en-US" altLang="zh-CN" sz="1200" dirty="0">
                <a:latin typeface="宋体" panose="02010600030101010101" pitchFamily="2" charset="-122"/>
                <a:ea typeface="宋体" panose="02010600030101010101" pitchFamily="2" charset="-122"/>
              </a:rPr>
              <a:t>;</a:t>
            </a:r>
            <a:r>
              <a:rPr lang="zh-CN" altLang="zh-CN" sz="1200" dirty="0">
                <a:latin typeface="宋体" panose="02010600030101010101" pitchFamily="2" charset="-122"/>
                <a:ea typeface="宋体" panose="02010600030101010101" pitchFamily="2" charset="-122"/>
              </a:rPr>
              <a:t>子程序入口参数包括</a:t>
            </a:r>
            <a:r>
              <a:rPr lang="en-US" altLang="zh-CN" sz="1200" dirty="0">
                <a:latin typeface="宋体" panose="02010600030101010101" pitchFamily="2" charset="-122"/>
                <a:ea typeface="宋体" panose="02010600030101010101" pitchFamily="2" charset="-122"/>
              </a:rPr>
              <a:t>DS</a:t>
            </a:r>
            <a:r>
              <a:rPr lang="zh-CN" altLang="zh-CN"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SI = </a:t>
            </a:r>
            <a:r>
              <a:rPr lang="zh-CN" altLang="zh-CN" sz="1200" dirty="0">
                <a:latin typeface="宋体" panose="02010600030101010101" pitchFamily="2" charset="-122"/>
                <a:ea typeface="宋体" panose="02010600030101010101" pitchFamily="2" charset="-122"/>
              </a:rPr>
              <a:t>字符串首地址</a:t>
            </a:r>
          </a:p>
          <a:p>
            <a:r>
              <a:rPr lang="en-US" altLang="zh-CN" sz="1200" dirty="0">
                <a:latin typeface="宋体" panose="02010600030101010101" pitchFamily="2" charset="-122"/>
                <a:ea typeface="宋体" panose="02010600030101010101" pitchFamily="2" charset="-122"/>
              </a:rPr>
              <a:t>;CX = </a:t>
            </a:r>
            <a:r>
              <a:rPr lang="zh-CN" altLang="zh-CN" sz="1200" dirty="0">
                <a:latin typeface="宋体" panose="02010600030101010101" pitchFamily="2" charset="-122"/>
                <a:ea typeface="宋体" panose="02010600030101010101" pitchFamily="2" charset="-122"/>
              </a:rPr>
              <a:t>字符串长度，</a:t>
            </a:r>
            <a:r>
              <a:rPr lang="en-US" altLang="zh-CN" sz="1200" dirty="0">
                <a:latin typeface="宋体" panose="02010600030101010101" pitchFamily="2" charset="-122"/>
                <a:ea typeface="宋体" panose="02010600030101010101" pitchFamily="2" charset="-122"/>
              </a:rPr>
              <a:t>BL = </a:t>
            </a:r>
            <a:r>
              <a:rPr lang="zh-CN" altLang="zh-CN" sz="1200" dirty="0">
                <a:latin typeface="宋体" panose="02010600030101010101" pitchFamily="2" charset="-122"/>
                <a:ea typeface="宋体" panose="02010600030101010101" pitchFamily="2" charset="-122"/>
              </a:rPr>
              <a:t>属性，</a:t>
            </a:r>
            <a:r>
              <a:rPr lang="en-US" altLang="zh-CN" sz="1200" dirty="0">
                <a:latin typeface="宋体" panose="02010600030101010101" pitchFamily="2" charset="-122"/>
                <a:ea typeface="宋体" panose="02010600030101010101" pitchFamily="2" charset="-122"/>
              </a:rPr>
              <a:t>DH = </a:t>
            </a:r>
            <a:r>
              <a:rPr lang="zh-CN" altLang="zh-CN" sz="1200" dirty="0">
                <a:latin typeface="宋体" panose="02010600030101010101" pitchFamily="2" charset="-122"/>
                <a:ea typeface="宋体" panose="02010600030101010101" pitchFamily="2" charset="-122"/>
              </a:rPr>
              <a:t>显示开始的行号，</a:t>
            </a:r>
            <a:r>
              <a:rPr lang="en-US" altLang="zh-CN" sz="1200" dirty="0">
                <a:latin typeface="宋体" panose="02010600030101010101" pitchFamily="2" charset="-122"/>
                <a:ea typeface="宋体" panose="02010600030101010101" pitchFamily="2" charset="-122"/>
              </a:rPr>
              <a:t>DL=</a:t>
            </a:r>
            <a:r>
              <a:rPr lang="zh-CN" altLang="zh-CN" sz="1200" dirty="0">
                <a:latin typeface="宋体" panose="02010600030101010101" pitchFamily="2" charset="-122"/>
                <a:ea typeface="宋体" panose="02010600030101010101" pitchFamily="2" charset="-122"/>
              </a:rPr>
              <a:t>显示开始的列号</a:t>
            </a:r>
          </a:p>
          <a:p>
            <a:r>
              <a:rPr lang="en-US" altLang="zh-CN" sz="1200" dirty="0">
                <a:latin typeface="宋体" panose="02010600030101010101" pitchFamily="2" charset="-122"/>
                <a:ea typeface="宋体" panose="02010600030101010101" pitchFamily="2" charset="-122"/>
              </a:rPr>
              <a:t>   </a:t>
            </a:r>
            <a:r>
              <a:rPr lang="pt-BR" altLang="zh-CN" sz="1200" dirty="0">
                <a:latin typeface="宋体" panose="02010600030101010101" pitchFamily="2" charset="-122"/>
                <a:ea typeface="宋体" panose="02010600030101010101" pitchFamily="2" charset="-122"/>
              </a:rPr>
              <a:t>ECHO  PROC    NEAR                      </a:t>
            </a:r>
            <a:endParaRPr lang="zh-CN" altLang="zh-CN" sz="1200" dirty="0">
              <a:latin typeface="宋体" panose="02010600030101010101" pitchFamily="2" charset="-122"/>
              <a:ea typeface="宋体" panose="02010600030101010101" pitchFamily="2" charset="-122"/>
            </a:endParaRPr>
          </a:p>
          <a:p>
            <a:r>
              <a:rPr lang="pt-BR" altLang="zh-CN" sz="1200" dirty="0">
                <a:latin typeface="宋体" panose="02010600030101010101" pitchFamily="2" charset="-122"/>
                <a:ea typeface="宋体" panose="02010600030101010101" pitchFamily="2" charset="-122"/>
              </a:rPr>
              <a:t>          JCXZ     ECHO2                    	</a:t>
            </a:r>
            <a:r>
              <a:rPr lang="en-US" altLang="zh-CN" sz="1200" dirty="0">
                <a:latin typeface="宋体" panose="02010600030101010101" pitchFamily="2" charset="-122"/>
                <a:ea typeface="宋体" panose="02010600030101010101" pitchFamily="2" charset="-122"/>
              </a:rPr>
              <a:t>;</a:t>
            </a:r>
            <a:r>
              <a:rPr lang="zh-CN" altLang="zh-CN" sz="1200" dirty="0">
                <a:latin typeface="宋体" panose="02010600030101010101" pitchFamily="2" charset="-122"/>
                <a:ea typeface="宋体" panose="02010600030101010101" pitchFamily="2" charset="-122"/>
              </a:rPr>
              <a:t>如果字符串长度为</a:t>
            </a:r>
            <a:r>
              <a:rPr lang="pt-BR" altLang="zh-CN" sz="1200" dirty="0">
                <a:latin typeface="宋体" panose="02010600030101010101" pitchFamily="2" charset="-122"/>
                <a:ea typeface="宋体" panose="02010600030101010101" pitchFamily="2" charset="-122"/>
              </a:rPr>
              <a:t>0</a:t>
            </a:r>
            <a:r>
              <a:rPr lang="zh-CN" altLang="zh-CN" sz="1200" dirty="0">
                <a:latin typeface="宋体" panose="02010600030101010101" pitchFamily="2" charset="-122"/>
                <a:ea typeface="宋体" panose="02010600030101010101" pitchFamily="2" charset="-122"/>
              </a:rPr>
              <a:t>，则结束</a:t>
            </a:r>
          </a:p>
          <a:p>
            <a:r>
              <a:rPr lang="pt-BR" altLang="zh-CN" sz="1200" dirty="0">
                <a:latin typeface="宋体" panose="02010600030101010101" pitchFamily="2" charset="-122"/>
                <a:ea typeface="宋体" panose="02010600030101010101" pitchFamily="2" charset="-122"/>
              </a:rPr>
              <a:t>          MOV      BH,  0</a:t>
            </a:r>
            <a:endParaRPr lang="zh-CN" altLang="zh-CN" sz="1200" dirty="0">
              <a:latin typeface="宋体" panose="02010600030101010101" pitchFamily="2" charset="-122"/>
              <a:ea typeface="宋体" panose="02010600030101010101" pitchFamily="2" charset="-122"/>
            </a:endParaRPr>
          </a:p>
          <a:p>
            <a:r>
              <a:rPr lang="pt-BR" altLang="zh-CN" sz="1200" dirty="0">
                <a:latin typeface="宋体" panose="02010600030101010101" pitchFamily="2" charset="-122"/>
                <a:ea typeface="宋体" panose="02010600030101010101" pitchFamily="2" charset="-122"/>
              </a:rPr>
              <a:t>          </a:t>
            </a:r>
            <a:r>
              <a:rPr lang="en-US" altLang="zh-CN" sz="1200" dirty="0">
                <a:latin typeface="宋体" panose="02010600030101010101" pitchFamily="2" charset="-122"/>
                <a:ea typeface="宋体" panose="02010600030101010101" pitchFamily="2" charset="-122"/>
              </a:rPr>
              <a:t>MOV      AH,  2                   	;</a:t>
            </a:r>
            <a:r>
              <a:rPr lang="zh-CN" altLang="zh-CN" sz="1200" dirty="0">
                <a:latin typeface="宋体" panose="02010600030101010101" pitchFamily="2" charset="-122"/>
                <a:ea typeface="宋体" panose="02010600030101010101" pitchFamily="2" charset="-122"/>
              </a:rPr>
              <a:t>设置光标位置</a:t>
            </a:r>
          </a:p>
          <a:p>
            <a:r>
              <a:rPr lang="en-US" altLang="zh-CN" sz="1200" dirty="0">
                <a:latin typeface="宋体" panose="02010600030101010101" pitchFamily="2" charset="-122"/>
                <a:ea typeface="宋体" panose="02010600030101010101" pitchFamily="2" charset="-122"/>
              </a:rPr>
              <a:t>          INT      10H</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MOV      AL,  20H                 	;</a:t>
            </a:r>
            <a:r>
              <a:rPr lang="zh-CN" altLang="zh-CN" sz="1200" dirty="0">
                <a:latin typeface="宋体" panose="02010600030101010101" pitchFamily="2" charset="-122"/>
                <a:ea typeface="宋体" panose="02010600030101010101" pitchFamily="2" charset="-122"/>
              </a:rPr>
              <a:t>用指定属性写一空格</a:t>
            </a:r>
          </a:p>
          <a:p>
            <a:r>
              <a:rPr lang="en-US" altLang="zh-CN" sz="1200" dirty="0">
                <a:latin typeface="宋体" panose="02010600030101010101" pitchFamily="2" charset="-122"/>
                <a:ea typeface="宋体" panose="02010600030101010101" pitchFamily="2" charset="-122"/>
              </a:rPr>
              <a:t>          MOV      AH,  9                   	;AL=</a:t>
            </a:r>
            <a:r>
              <a:rPr lang="zh-CN" altLang="zh-CN" sz="1200" dirty="0">
                <a:latin typeface="宋体" panose="02010600030101010101" pitchFamily="2" charset="-122"/>
                <a:ea typeface="宋体" panose="02010600030101010101" pitchFamily="2" charset="-122"/>
              </a:rPr>
              <a:t>字符</a:t>
            </a:r>
            <a:r>
              <a:rPr lang="en-US" altLang="zh-CN" sz="1200" dirty="0">
                <a:latin typeface="宋体" panose="02010600030101010101" pitchFamily="2" charset="-122"/>
                <a:ea typeface="宋体" panose="02010600030101010101" pitchFamily="2" charset="-122"/>
              </a:rPr>
              <a:t>ASCII</a:t>
            </a:r>
            <a:r>
              <a:rPr lang="zh-CN" altLang="zh-CN" sz="1200" dirty="0">
                <a:latin typeface="宋体" panose="02010600030101010101" pitchFamily="2" charset="-122"/>
                <a:ea typeface="宋体" panose="02010600030101010101" pitchFamily="2" charset="-122"/>
              </a:rPr>
              <a:t>码，</a:t>
            </a:r>
            <a:r>
              <a:rPr lang="en-US" altLang="zh-CN" sz="1200" dirty="0">
                <a:latin typeface="宋体" panose="02010600030101010101" pitchFamily="2" charset="-122"/>
                <a:ea typeface="宋体" panose="02010600030101010101" pitchFamily="2" charset="-122"/>
              </a:rPr>
              <a:t>BL=</a:t>
            </a:r>
            <a:r>
              <a:rPr lang="zh-CN" altLang="zh-CN" sz="1200" dirty="0">
                <a:latin typeface="宋体" panose="02010600030101010101" pitchFamily="2" charset="-122"/>
                <a:ea typeface="宋体" panose="02010600030101010101" pitchFamily="2" charset="-122"/>
              </a:rPr>
              <a:t>字符属性</a:t>
            </a:r>
          </a:p>
          <a:p>
            <a:r>
              <a:rPr lang="en-US" altLang="zh-CN" sz="1200" dirty="0">
                <a:latin typeface="宋体" panose="02010600030101010101" pitchFamily="2" charset="-122"/>
                <a:ea typeface="宋体" panose="02010600030101010101" pitchFamily="2" charset="-122"/>
              </a:rPr>
              <a:t>          INT      10H                      	;</a:t>
            </a:r>
            <a:r>
              <a:rPr lang="zh-CN" altLang="zh-CN" sz="1200" dirty="0">
                <a:latin typeface="宋体" panose="02010600030101010101" pitchFamily="2" charset="-122"/>
                <a:ea typeface="宋体" panose="02010600030101010101" pitchFamily="2" charset="-122"/>
              </a:rPr>
              <a:t>写字符至当前光标处</a:t>
            </a:r>
          </a:p>
          <a:p>
            <a:r>
              <a:rPr lang="en-US" altLang="zh-CN" sz="1200" dirty="0">
                <a:latin typeface="宋体" panose="02010600030101010101" pitchFamily="2" charset="-122"/>
                <a:ea typeface="宋体" panose="02010600030101010101" pitchFamily="2" charset="-122"/>
              </a:rPr>
              <a:t>          MOV      AH,  0EH</a:t>
            </a:r>
            <a:endParaRPr lang="zh-CN" altLang="zh-CN" sz="1200" dirty="0">
              <a:latin typeface="宋体" panose="02010600030101010101" pitchFamily="2" charset="-122"/>
              <a:ea typeface="宋体" panose="02010600030101010101" pitchFamily="2" charset="-122"/>
            </a:endParaRPr>
          </a:p>
          <a:p>
            <a:r>
              <a:rPr lang="it-IT" altLang="zh-CN" sz="1200" dirty="0">
                <a:latin typeface="宋体" panose="02010600030101010101" pitchFamily="2" charset="-122"/>
                <a:ea typeface="宋体" panose="02010600030101010101" pitchFamily="2" charset="-122"/>
              </a:rPr>
              <a:t>ECHO1:  </a:t>
            </a:r>
            <a:r>
              <a:rPr lang="en-US" altLang="zh-CN" sz="1200" dirty="0">
                <a:latin typeface="宋体" panose="02010600030101010101" pitchFamily="2" charset="-122"/>
                <a:ea typeface="宋体" panose="02010600030101010101" pitchFamily="2" charset="-122"/>
              </a:rPr>
              <a:t> </a:t>
            </a:r>
            <a:r>
              <a:rPr lang="it-IT" altLang="zh-CN" sz="1200" dirty="0">
                <a:latin typeface="宋体" panose="02010600030101010101" pitchFamily="2" charset="-122"/>
                <a:ea typeface="宋体" panose="02010600030101010101" pitchFamily="2" charset="-122"/>
              </a:rPr>
              <a:t>MOV      AL,  [SI]</a:t>
            </a:r>
            <a:endParaRPr lang="zh-CN" altLang="zh-CN" sz="1200" dirty="0">
              <a:latin typeface="宋体" panose="02010600030101010101" pitchFamily="2" charset="-122"/>
              <a:ea typeface="宋体" panose="02010600030101010101" pitchFamily="2" charset="-122"/>
            </a:endParaRPr>
          </a:p>
          <a:p>
            <a:r>
              <a:rPr lang="it-IT" altLang="zh-CN" sz="1200" dirty="0">
                <a:latin typeface="宋体" panose="02010600030101010101" pitchFamily="2" charset="-122"/>
                <a:ea typeface="宋体" panose="02010600030101010101" pitchFamily="2" charset="-122"/>
              </a:rPr>
              <a:t>     </a:t>
            </a:r>
            <a:r>
              <a:rPr lang="en-US" altLang="zh-CN" sz="1200" dirty="0">
                <a:latin typeface="宋体" panose="02010600030101010101" pitchFamily="2" charset="-122"/>
                <a:ea typeface="宋体" panose="02010600030101010101" pitchFamily="2" charset="-122"/>
              </a:rPr>
              <a:t> </a:t>
            </a:r>
            <a:r>
              <a:rPr lang="it-IT" altLang="zh-CN" sz="1200" dirty="0">
                <a:latin typeface="宋体" panose="02010600030101010101" pitchFamily="2" charset="-122"/>
                <a:ea typeface="宋体" panose="02010600030101010101" pitchFamily="2" charset="-122"/>
              </a:rPr>
              <a:t>    INC      SI</a:t>
            </a:r>
            <a:endParaRPr lang="zh-CN" altLang="zh-CN" sz="1200" dirty="0">
              <a:latin typeface="宋体" panose="02010600030101010101" pitchFamily="2" charset="-122"/>
              <a:ea typeface="宋体" panose="02010600030101010101" pitchFamily="2" charset="-122"/>
            </a:endParaRPr>
          </a:p>
          <a:p>
            <a:r>
              <a:rPr lang="it-IT" altLang="zh-CN" sz="1200" dirty="0">
                <a:latin typeface="宋体" panose="02010600030101010101" pitchFamily="2" charset="-122"/>
                <a:ea typeface="宋体" panose="02010600030101010101" pitchFamily="2" charset="-122"/>
              </a:rPr>
              <a:t>          </a:t>
            </a:r>
            <a:r>
              <a:rPr lang="pt-BR" altLang="zh-CN" sz="1200" dirty="0">
                <a:latin typeface="宋体" panose="02010600030101010101" pitchFamily="2" charset="-122"/>
                <a:ea typeface="宋体" panose="02010600030101010101" pitchFamily="2" charset="-122"/>
              </a:rPr>
              <a:t>INT      10H                       	</a:t>
            </a:r>
            <a:r>
              <a:rPr lang="it-IT" altLang="zh-CN" sz="1200" dirty="0">
                <a:latin typeface="宋体" panose="02010600030101010101" pitchFamily="2" charset="-122"/>
                <a:ea typeface="宋体" panose="02010600030101010101" pitchFamily="2" charset="-122"/>
              </a:rPr>
              <a:t>;</a:t>
            </a:r>
            <a:r>
              <a:rPr lang="zh-CN" altLang="zh-CN" sz="1200" dirty="0">
                <a:latin typeface="宋体" panose="02010600030101010101" pitchFamily="2" charset="-122"/>
                <a:ea typeface="宋体" panose="02010600030101010101" pitchFamily="2" charset="-122"/>
              </a:rPr>
              <a:t>逐个显示字符</a:t>
            </a:r>
          </a:p>
          <a:p>
            <a:r>
              <a:rPr lang="it-IT" altLang="zh-CN" sz="1200" dirty="0">
                <a:latin typeface="宋体" panose="02010600030101010101" pitchFamily="2" charset="-122"/>
                <a:ea typeface="宋体" panose="02010600030101010101" pitchFamily="2" charset="-122"/>
              </a:rPr>
              <a:t> </a:t>
            </a:r>
            <a:r>
              <a:rPr lang="pt-BR" altLang="zh-CN" sz="1200" dirty="0">
                <a:latin typeface="宋体" panose="02010600030101010101" pitchFamily="2" charset="-122"/>
                <a:ea typeface="宋体" panose="02010600030101010101" pitchFamily="2" charset="-122"/>
              </a:rPr>
              <a:t>CALL    DELAY                    	            ;</a:t>
            </a:r>
            <a:r>
              <a:rPr lang="zh-CN" altLang="zh-CN" sz="1200" dirty="0">
                <a:latin typeface="宋体" panose="02010600030101010101" pitchFamily="2" charset="-122"/>
                <a:ea typeface="宋体" panose="02010600030101010101" pitchFamily="2" charset="-122"/>
              </a:rPr>
              <a:t>调用延时子程序</a:t>
            </a:r>
          </a:p>
          <a:p>
            <a:r>
              <a:rPr lang="pt-BR" altLang="zh-CN" sz="1200" dirty="0">
                <a:latin typeface="宋体" panose="02010600030101010101" pitchFamily="2" charset="-122"/>
                <a:ea typeface="宋体" panose="02010600030101010101" pitchFamily="2" charset="-122"/>
              </a:rPr>
              <a:t>         </a:t>
            </a:r>
            <a:r>
              <a:rPr lang="it-IT" altLang="zh-CN" sz="1200" dirty="0">
                <a:latin typeface="宋体" panose="02010600030101010101" pitchFamily="2" charset="-122"/>
                <a:ea typeface="宋体" panose="02010600030101010101" pitchFamily="2" charset="-122"/>
              </a:rPr>
              <a:t> </a:t>
            </a:r>
            <a:r>
              <a:rPr lang="pt-BR" altLang="zh-CN" sz="1200" dirty="0">
                <a:latin typeface="宋体" panose="02010600030101010101" pitchFamily="2" charset="-122"/>
                <a:ea typeface="宋体" panose="02010600030101010101" pitchFamily="2" charset="-122"/>
              </a:rPr>
              <a:t>LOOP     ECHO1</a:t>
            </a:r>
            <a:endParaRPr lang="zh-CN" altLang="zh-CN" sz="1200" dirty="0">
              <a:latin typeface="宋体" panose="02010600030101010101" pitchFamily="2" charset="-122"/>
              <a:ea typeface="宋体" panose="02010600030101010101" pitchFamily="2" charset="-122"/>
            </a:endParaRPr>
          </a:p>
          <a:p>
            <a:r>
              <a:rPr lang="pt-BR" altLang="zh-CN" sz="1200" dirty="0">
                <a:latin typeface="宋体" panose="02010600030101010101" pitchFamily="2" charset="-122"/>
                <a:ea typeface="宋体" panose="02010600030101010101" pitchFamily="2" charset="-122"/>
              </a:rPr>
              <a:t>ECHO2: RET</a:t>
            </a:r>
            <a:endParaRPr lang="zh-CN" altLang="zh-CN" sz="1200" dirty="0">
              <a:latin typeface="宋体" panose="02010600030101010101" pitchFamily="2" charset="-122"/>
              <a:ea typeface="宋体" panose="02010600030101010101" pitchFamily="2" charset="-122"/>
            </a:endParaRPr>
          </a:p>
          <a:p>
            <a:r>
              <a:rPr lang="it-IT" altLang="zh-CN" sz="1200" dirty="0">
                <a:latin typeface="宋体" panose="02010600030101010101" pitchFamily="2" charset="-122"/>
                <a:ea typeface="宋体" panose="02010600030101010101" pitchFamily="2" charset="-122"/>
              </a:rPr>
              <a:t>ECHO  ENDP</a:t>
            </a:r>
            <a:endParaRPr lang="zh-CN" altLang="zh-CN" sz="1200" dirty="0">
              <a:latin typeface="宋体" panose="02010600030101010101" pitchFamily="2" charset="-122"/>
              <a:ea typeface="宋体" panose="02010600030101010101" pitchFamily="2" charset="-122"/>
            </a:endParaRPr>
          </a:p>
          <a:p>
            <a:r>
              <a:rPr lang="it-IT" altLang="zh-CN" sz="1200" dirty="0">
                <a:latin typeface="宋体" panose="02010600030101010101" pitchFamily="2" charset="-122"/>
                <a:ea typeface="宋体" panose="02010600030101010101" pitchFamily="2" charset="-122"/>
              </a:rPr>
              <a:t>DELAY  PROC  NEAR                      	;</a:t>
            </a:r>
            <a:r>
              <a:rPr lang="zh-CN" altLang="zh-CN" sz="1200" dirty="0">
                <a:latin typeface="宋体" panose="02010600030101010101" pitchFamily="2" charset="-122"/>
                <a:ea typeface="宋体" panose="02010600030101010101" pitchFamily="2" charset="-122"/>
              </a:rPr>
              <a:t>延时子程序</a:t>
            </a:r>
          </a:p>
          <a:p>
            <a:r>
              <a:rPr lang="it-IT" altLang="zh-CN" sz="1200" dirty="0">
                <a:latin typeface="宋体" panose="02010600030101010101" pitchFamily="2" charset="-122"/>
                <a:ea typeface="宋体" panose="02010600030101010101" pitchFamily="2" charset="-122"/>
              </a:rPr>
              <a:t>          </a:t>
            </a:r>
            <a:r>
              <a:rPr lang="en-US" altLang="zh-CN" sz="1200" dirty="0">
                <a:latin typeface="宋体" panose="02010600030101010101" pitchFamily="2" charset="-122"/>
                <a:ea typeface="宋体" panose="02010600030101010101" pitchFamily="2" charset="-122"/>
              </a:rPr>
              <a:t>PUSH   BX</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PUSH   CX</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MOV   BX,  500</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WAIT0: MOV   CX,  0FFFFH</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WAIT1: LOOP   WAIT1</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DEC   BX</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JNZ   WAIT0</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POP   CX</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POP   BX</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RET</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DELAY   ENDP</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CSEG   ENDS</a:t>
            </a:r>
            <a:endParaRPr lang="zh-CN" altLang="zh-CN" sz="1200" dirty="0">
              <a:latin typeface="宋体" panose="02010600030101010101" pitchFamily="2" charset="-122"/>
              <a:ea typeface="宋体" panose="02010600030101010101" pitchFamily="2" charset="-122"/>
            </a:endParaRPr>
          </a:p>
          <a:p>
            <a:r>
              <a:rPr lang="en-US" altLang="zh-CN" sz="1200" dirty="0">
                <a:latin typeface="宋体" panose="02010600030101010101" pitchFamily="2" charset="-122"/>
                <a:ea typeface="宋体" panose="02010600030101010101" pitchFamily="2" charset="-122"/>
              </a:rPr>
              <a:t>         END    START</a:t>
            </a:r>
            <a:endParaRPr lang="zh-CN" altLang="zh-CN" sz="120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27825" cy="1143000"/>
          </a:xfrm>
        </p:spPr>
        <p:txBody>
          <a:bodyPr vert="horz" wrap="square" lIns="92075" tIns="46038" rIns="92075" bIns="46038" numCol="1" anchor="ctr"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4.5.7  </a:t>
            </a:r>
            <a:r>
              <a:rPr kumimoji="1" lang="zh-CN" altLang="zh-CN" sz="3200" b="1" i="0" u="none" strike="noStrike" kern="0" cap="none" spc="0" normalizeH="0" baseline="0" noProof="0" dirty="0">
                <a:ln>
                  <a:noFill/>
                </a:ln>
                <a:solidFill>
                  <a:srgbClr val="FFFF66"/>
                </a:solidFill>
                <a:effectLst>
                  <a:outerShdw blurRad="38100" dist="38100" dir="2700000" algn="tl">
                    <a:srgbClr val="000000"/>
                  </a:outerShdw>
                </a:effectLst>
                <a:uLnTx/>
                <a:uFillTx/>
                <a:latin typeface="+mj-lt"/>
                <a:ea typeface="+mj-ea"/>
                <a:cs typeface="+mj-cs"/>
              </a:rPr>
              <a:t>系统功能调用</a:t>
            </a:r>
          </a:p>
        </p:txBody>
      </p:sp>
      <p:sp>
        <p:nvSpPr>
          <p:cNvPr id="134146"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34147" name="TextBox 4"/>
          <p:cNvSpPr txBox="1"/>
          <p:nvPr/>
        </p:nvSpPr>
        <p:spPr>
          <a:xfrm>
            <a:off x="498475" y="1722438"/>
            <a:ext cx="8069263" cy="4687887"/>
          </a:xfrm>
          <a:prstGeom prst="rect">
            <a:avLst/>
          </a:prstGeom>
          <a:noFill/>
          <a:ln w="9525">
            <a:noFill/>
          </a:ln>
        </p:spPr>
        <p:txBody>
          <a:bodyPr anchor="t" anchorCtr="0">
            <a:spAutoFit/>
          </a:bodyPr>
          <a:lstStyle/>
          <a:p>
            <a:pPr algn="just"/>
            <a:r>
              <a:rPr lang="zh-CN" altLang="zh-CN" sz="2200" dirty="0">
                <a:solidFill>
                  <a:srgbClr val="FF3300"/>
                </a:solidFill>
                <a:latin typeface="宋体" panose="02010600030101010101" pitchFamily="2" charset="-122"/>
                <a:ea typeface="宋体" panose="02010600030101010101" pitchFamily="2" charset="-122"/>
              </a:rPr>
              <a:t>【例</a:t>
            </a:r>
            <a:r>
              <a:rPr lang="en-US" altLang="zh-CN" sz="2200" dirty="0">
                <a:solidFill>
                  <a:srgbClr val="FF3300"/>
                </a:solidFill>
                <a:latin typeface="宋体" panose="02010600030101010101" pitchFamily="2" charset="-122"/>
                <a:ea typeface="宋体" panose="02010600030101010101" pitchFamily="2" charset="-122"/>
              </a:rPr>
              <a:t>4.15</a:t>
            </a:r>
            <a:r>
              <a:rPr lang="zh-CN" altLang="zh-CN" sz="2200" dirty="0">
                <a:solidFill>
                  <a:srgbClr val="FF3300"/>
                </a:solidFill>
                <a:latin typeface="宋体" panose="02010600030101010101" pitchFamily="2" charset="-122"/>
                <a:ea typeface="宋体" panose="02010600030101010101" pitchFamily="2" charset="-122"/>
              </a:rPr>
              <a:t>】</a:t>
            </a:r>
            <a:r>
              <a:rPr lang="zh-CN" altLang="zh-CN" sz="2200" dirty="0">
                <a:latin typeface="宋体" panose="02010600030101010101" pitchFamily="2" charset="-122"/>
                <a:ea typeface="宋体" panose="02010600030101010101" pitchFamily="2" charset="-122"/>
              </a:rPr>
              <a:t>将用户编写的显示系统时间的中断服务子程序驻留在内存中，通过定时器中断（向量号为</a:t>
            </a:r>
            <a:r>
              <a:rPr lang="en-US" altLang="zh-CN" sz="2200" dirty="0">
                <a:latin typeface="宋体" panose="02010600030101010101" pitchFamily="2" charset="-122"/>
                <a:ea typeface="宋体" panose="02010600030101010101" pitchFamily="2" charset="-122"/>
              </a:rPr>
              <a:t>1CH</a:t>
            </a:r>
            <a:r>
              <a:rPr lang="zh-CN" altLang="zh-CN" sz="2200" dirty="0">
                <a:latin typeface="宋体" panose="02010600030101010101" pitchFamily="2" charset="-122"/>
                <a:ea typeface="宋体" panose="02010600030101010101" pitchFamily="2" charset="-122"/>
              </a:rPr>
              <a:t>）定时调用中断服务子程序来显示系统的时间，同时可以在命令提示符下运行并调试其他程序，实现多任务操作。 </a:t>
            </a:r>
          </a:p>
          <a:p>
            <a:pPr algn="just"/>
            <a:r>
              <a:rPr lang="en-US" altLang="zh-CN" sz="2200" dirty="0">
                <a:latin typeface="宋体" panose="02010600030101010101" pitchFamily="2" charset="-122"/>
                <a:ea typeface="宋体" panose="02010600030101010101" pitchFamily="2" charset="-122"/>
              </a:rPr>
              <a:t>    </a:t>
            </a:r>
            <a:r>
              <a:rPr lang="zh-CN" altLang="zh-CN" sz="2200" dirty="0">
                <a:latin typeface="宋体" panose="02010600030101010101" pitchFamily="2" charset="-122"/>
                <a:ea typeface="宋体" panose="02010600030101010101" pitchFamily="2" charset="-122"/>
              </a:rPr>
              <a:t>说明：本程序综合运用了</a:t>
            </a:r>
            <a:r>
              <a:rPr lang="en-US" altLang="zh-CN" sz="2200" dirty="0">
                <a:latin typeface="宋体" panose="02010600030101010101" pitchFamily="2" charset="-122"/>
                <a:ea typeface="宋体" panose="02010600030101010101" pitchFamily="2" charset="-122"/>
              </a:rPr>
              <a:t>DOS</a:t>
            </a:r>
            <a:r>
              <a:rPr lang="zh-CN" altLang="zh-CN" sz="2200" dirty="0">
                <a:latin typeface="宋体" panose="02010600030101010101" pitchFamily="2" charset="-122"/>
                <a:ea typeface="宋体" panose="02010600030101010101" pitchFamily="2" charset="-122"/>
              </a:rPr>
              <a:t>功能调用和</a:t>
            </a:r>
            <a:r>
              <a:rPr lang="en-US" altLang="zh-CN" sz="2200" dirty="0">
                <a:latin typeface="宋体" panose="02010600030101010101" pitchFamily="2" charset="-122"/>
                <a:ea typeface="宋体" panose="02010600030101010101" pitchFamily="2" charset="-122"/>
              </a:rPr>
              <a:t>BIOS</a:t>
            </a:r>
            <a:r>
              <a:rPr lang="zh-CN" altLang="zh-CN" sz="2200" dirty="0">
                <a:latin typeface="宋体" panose="02010600030101010101" pitchFamily="2" charset="-122"/>
                <a:ea typeface="宋体" panose="02010600030101010101" pitchFamily="2" charset="-122"/>
              </a:rPr>
              <a:t>功能调用。程序中将用户编写的定时器中断服务子程序的入口地址写入中断向量表中，通过定时器中断定时显示系统的时间。</a:t>
            </a:r>
            <a:r>
              <a:rPr lang="en-US" altLang="zh-CN" sz="2200" dirty="0">
                <a:latin typeface="宋体" panose="02010600030101010101" pitchFamily="2" charset="-122"/>
                <a:ea typeface="宋体" panose="02010600030101010101" pitchFamily="2" charset="-122"/>
              </a:rPr>
              <a:t>IBM PC/AT</a:t>
            </a:r>
            <a:r>
              <a:rPr lang="zh-CN" altLang="zh-CN" sz="2200" dirty="0">
                <a:latin typeface="宋体" panose="02010600030101010101" pitchFamily="2" charset="-122"/>
                <a:ea typeface="宋体" panose="02010600030101010101" pitchFamily="2" charset="-122"/>
              </a:rPr>
              <a:t>中定时器时钟中断是由硬件电路产生的，中断类型号为</a:t>
            </a:r>
            <a:r>
              <a:rPr lang="en-US" altLang="zh-CN" sz="2200" dirty="0">
                <a:latin typeface="宋体" panose="02010600030101010101" pitchFamily="2" charset="-122"/>
                <a:ea typeface="宋体" panose="02010600030101010101" pitchFamily="2" charset="-122"/>
              </a:rPr>
              <a:t>08H</a:t>
            </a:r>
            <a:r>
              <a:rPr lang="zh-CN" altLang="zh-CN" sz="2200" dirty="0">
                <a:latin typeface="宋体" panose="02010600030101010101" pitchFamily="2" charset="-122"/>
                <a:ea typeface="宋体" panose="02010600030101010101" pitchFamily="2" charset="-122"/>
              </a:rPr>
              <a:t>，只要计算机正常启动，定时器时钟中断就会每秒产生</a:t>
            </a:r>
            <a:r>
              <a:rPr lang="en-US" altLang="zh-CN" sz="2200" dirty="0">
                <a:latin typeface="宋体" panose="02010600030101010101" pitchFamily="2" charset="-122"/>
                <a:ea typeface="宋体" panose="02010600030101010101" pitchFamily="2" charset="-122"/>
              </a:rPr>
              <a:t>18.2</a:t>
            </a:r>
            <a:r>
              <a:rPr lang="zh-CN" altLang="zh-CN" sz="2200" dirty="0">
                <a:latin typeface="宋体" panose="02010600030101010101" pitchFamily="2" charset="-122"/>
                <a:ea typeface="宋体" panose="02010600030101010101" pitchFamily="2" charset="-122"/>
              </a:rPr>
              <a:t>次。定时器时钟中断服务子程序中要调用一次</a:t>
            </a:r>
            <a:r>
              <a:rPr lang="en-US" altLang="zh-CN" sz="2200" dirty="0">
                <a:latin typeface="宋体" panose="02010600030101010101" pitchFamily="2" charset="-122"/>
                <a:ea typeface="宋体" panose="02010600030101010101" pitchFamily="2" charset="-122"/>
              </a:rPr>
              <a:t>INT 1CH</a:t>
            </a:r>
            <a:r>
              <a:rPr lang="zh-CN" altLang="zh-CN" sz="2200" dirty="0">
                <a:latin typeface="宋体" panose="02010600030101010101" pitchFamily="2" charset="-122"/>
                <a:ea typeface="宋体" panose="02010600030101010101" pitchFamily="2" charset="-122"/>
              </a:rPr>
              <a:t>指令，</a:t>
            </a:r>
            <a:r>
              <a:rPr lang="en-US" altLang="zh-CN" sz="2200" dirty="0">
                <a:latin typeface="宋体" panose="02010600030101010101" pitchFamily="2" charset="-122"/>
                <a:ea typeface="宋体" panose="02010600030101010101" pitchFamily="2" charset="-122"/>
              </a:rPr>
              <a:t>INT  1CH</a:t>
            </a:r>
            <a:r>
              <a:rPr lang="zh-CN" altLang="zh-CN" sz="2200" dirty="0">
                <a:latin typeface="宋体" panose="02010600030101010101" pitchFamily="2" charset="-122"/>
                <a:ea typeface="宋体" panose="02010600030101010101" pitchFamily="2" charset="-122"/>
              </a:rPr>
              <a:t>为定时器定时软中断指令。在</a:t>
            </a:r>
            <a:r>
              <a:rPr lang="en-US" altLang="zh-CN" sz="2200" dirty="0">
                <a:latin typeface="宋体" panose="02010600030101010101" pitchFamily="2" charset="-122"/>
                <a:ea typeface="宋体" panose="02010600030101010101" pitchFamily="2" charset="-122"/>
              </a:rPr>
              <a:t>ROM BIOS</a:t>
            </a:r>
            <a:r>
              <a:rPr lang="zh-CN" altLang="zh-CN" sz="2200" dirty="0">
                <a:latin typeface="宋体" panose="02010600030101010101" pitchFamily="2" charset="-122"/>
                <a:ea typeface="宋体" panose="02010600030101010101" pitchFamily="2" charset="-122"/>
              </a:rPr>
              <a:t>中，</a:t>
            </a:r>
            <a:r>
              <a:rPr lang="en-US" altLang="zh-CN" sz="2200" dirty="0">
                <a:latin typeface="宋体" panose="02010600030101010101" pitchFamily="2" charset="-122"/>
                <a:ea typeface="宋体" panose="02010600030101010101" pitchFamily="2" charset="-122"/>
              </a:rPr>
              <a:t>INT  1CH</a:t>
            </a:r>
            <a:r>
              <a:rPr lang="zh-CN" altLang="zh-CN" sz="2200" dirty="0">
                <a:latin typeface="宋体" panose="02010600030101010101" pitchFamily="2" charset="-122"/>
                <a:ea typeface="宋体" panose="02010600030101010101" pitchFamily="2" charset="-122"/>
              </a:rPr>
              <a:t>中断服务子程序中只有一条</a:t>
            </a:r>
            <a:r>
              <a:rPr lang="en-US" altLang="zh-CN" sz="2200" dirty="0">
                <a:latin typeface="宋体" panose="02010600030101010101" pitchFamily="2" charset="-122"/>
                <a:ea typeface="宋体" panose="02010600030101010101" pitchFamily="2" charset="-122"/>
              </a:rPr>
              <a:t>IRET</a:t>
            </a:r>
            <a:r>
              <a:rPr lang="zh-CN" altLang="zh-CN" sz="2200" dirty="0">
                <a:latin typeface="宋体" panose="02010600030101010101" pitchFamily="2" charset="-122"/>
                <a:ea typeface="宋体" panose="02010600030101010101" pitchFamily="2" charset="-122"/>
              </a:rPr>
              <a:t>中断返回指令，用户可利用它完成周期性任务。注意，当</a:t>
            </a:r>
            <a:r>
              <a:rPr lang="en-US" altLang="zh-CN" sz="2200" dirty="0">
                <a:latin typeface="宋体" panose="02010600030101010101" pitchFamily="2" charset="-122"/>
                <a:ea typeface="宋体" panose="02010600030101010101" pitchFamily="2" charset="-122"/>
              </a:rPr>
              <a:t>1CH</a:t>
            </a:r>
            <a:r>
              <a:rPr lang="zh-CN" altLang="zh-CN" sz="2200" dirty="0">
                <a:latin typeface="宋体" panose="02010600030101010101" pitchFamily="2" charset="-122"/>
                <a:ea typeface="宋体" panose="02010600030101010101" pitchFamily="2" charset="-122"/>
              </a:rPr>
              <a:t>中断发生时，执行用户中断服务子程序后必须调用一次原中断服务子程序才能完成周期性任务。中断概念的理解可参考后续章节。</a:t>
            </a:r>
          </a:p>
        </p:txBody>
      </p:sp>
    </p:spTree>
  </p:cSld>
  <p:clrMapOvr>
    <a:masterClrMapping/>
  </p:clrMapOvr>
  <p:transition spd="med">
    <p:random/>
  </p:transition>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10363" cy="1143000"/>
          </a:xfrm>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32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思考与练习</a:t>
            </a:r>
          </a:p>
        </p:txBody>
      </p:sp>
      <p:sp>
        <p:nvSpPr>
          <p:cNvPr id="136194" name="AutoShape 8"/>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rPr>
              <a:t>返回</a:t>
            </a:r>
          </a:p>
        </p:txBody>
      </p:sp>
      <p:sp>
        <p:nvSpPr>
          <p:cNvPr id="136195" name="TextBox 4"/>
          <p:cNvSpPr txBox="1"/>
          <p:nvPr/>
        </p:nvSpPr>
        <p:spPr>
          <a:xfrm>
            <a:off x="693738" y="1474788"/>
            <a:ext cx="7775575" cy="5164137"/>
          </a:xfrm>
          <a:prstGeom prst="rect">
            <a:avLst/>
          </a:prstGeom>
          <a:noFill/>
          <a:ln w="9525">
            <a:noFill/>
          </a:ln>
        </p:spPr>
        <p:txBody>
          <a:bodyPr anchor="t" anchorCtr="0">
            <a:spAutoFit/>
          </a:bodyPr>
          <a:lstStyle/>
          <a:p>
            <a:pPr algn="just"/>
            <a:r>
              <a:rPr lang="en-US" altLang="zh-CN" sz="2200" dirty="0">
                <a:latin typeface="Times New Roman" panose="02020603050405020304" pitchFamily="18" charset="0"/>
                <a:ea typeface="宋体" panose="02010600030101010101" pitchFamily="2" charset="-122"/>
              </a:rPr>
              <a:t>4-1  </a:t>
            </a:r>
            <a:r>
              <a:rPr lang="zh-CN" altLang="zh-CN" sz="2200" dirty="0">
                <a:latin typeface="Times New Roman" panose="02020603050405020304" pitchFamily="18" charset="0"/>
                <a:ea typeface="宋体" panose="02010600030101010101" pitchFamily="2" charset="-122"/>
              </a:rPr>
              <a:t>什么是标号？它有哪些属性？</a:t>
            </a:r>
          </a:p>
          <a:p>
            <a:pPr algn="just"/>
            <a:r>
              <a:rPr lang="en-US" altLang="zh-CN" sz="2200" dirty="0">
                <a:latin typeface="Times New Roman" panose="02020603050405020304" pitchFamily="18" charset="0"/>
                <a:ea typeface="宋体" panose="02010600030101010101" pitchFamily="2" charset="-122"/>
              </a:rPr>
              <a:t>4-2  </a:t>
            </a:r>
            <a:r>
              <a:rPr lang="zh-CN" altLang="zh-CN" sz="2200" dirty="0">
                <a:latin typeface="Times New Roman" panose="02020603050405020304" pitchFamily="18" charset="0"/>
                <a:ea typeface="宋体" panose="02010600030101010101" pitchFamily="2" charset="-122"/>
              </a:rPr>
              <a:t>什么是变量？它有哪些属性？</a:t>
            </a:r>
          </a:p>
          <a:p>
            <a:pPr algn="just"/>
            <a:r>
              <a:rPr lang="en-US" altLang="zh-CN" sz="2200" dirty="0">
                <a:latin typeface="Times New Roman" panose="02020603050405020304" pitchFamily="18" charset="0"/>
                <a:ea typeface="宋体" panose="02010600030101010101" pitchFamily="2" charset="-122"/>
              </a:rPr>
              <a:t>4-3  </a:t>
            </a:r>
            <a:r>
              <a:rPr lang="zh-CN" altLang="zh-CN" sz="2200" dirty="0">
                <a:latin typeface="Times New Roman" panose="02020603050405020304" pitchFamily="18" charset="0"/>
                <a:ea typeface="宋体" panose="02010600030101010101" pitchFamily="2" charset="-122"/>
              </a:rPr>
              <a:t>什么是伪指令？什么是宏指令？伪指令在什么时候被执行？</a:t>
            </a:r>
            <a:r>
              <a:rPr lang="en-US" altLang="zh-CN" sz="2200" dirty="0">
                <a:latin typeface="Times New Roman" panose="02020603050405020304" pitchFamily="18" charset="0"/>
                <a:ea typeface="宋体" panose="02010600030101010101" pitchFamily="2" charset="-122"/>
              </a:rPr>
              <a:t> </a:t>
            </a:r>
            <a:r>
              <a:rPr lang="zh-CN" altLang="zh-CN" sz="2200" dirty="0">
                <a:latin typeface="Times New Roman" panose="02020603050405020304" pitchFamily="18" charset="0"/>
                <a:ea typeface="宋体" panose="02010600030101010101" pitchFamily="2" charset="-122"/>
              </a:rPr>
              <a:t>宏指令在程序中如何被调用？</a:t>
            </a:r>
          </a:p>
          <a:p>
            <a:pPr algn="just"/>
            <a:r>
              <a:rPr lang="en-US" altLang="zh-CN" sz="2200" dirty="0">
                <a:latin typeface="Times New Roman" panose="02020603050405020304" pitchFamily="18" charset="0"/>
                <a:ea typeface="宋体" panose="02010600030101010101" pitchFamily="2" charset="-122"/>
              </a:rPr>
              <a:t>4-4  </a:t>
            </a:r>
            <a:r>
              <a:rPr lang="zh-CN" altLang="zh-CN" sz="2200" dirty="0">
                <a:latin typeface="Times New Roman" panose="02020603050405020304" pitchFamily="18" charset="0"/>
                <a:ea typeface="宋体" panose="02010600030101010101" pitchFamily="2" charset="-122"/>
              </a:rPr>
              <a:t>汇编语言表达式中有哪些运算符？它们所完成的运算是在什么时候进行的？</a:t>
            </a:r>
          </a:p>
          <a:p>
            <a:pPr algn="just"/>
            <a:r>
              <a:rPr lang="en-US" altLang="zh-CN" sz="2200" dirty="0">
                <a:latin typeface="Times New Roman" panose="02020603050405020304" pitchFamily="18" charset="0"/>
                <a:ea typeface="宋体" panose="02010600030101010101" pitchFamily="2" charset="-122"/>
              </a:rPr>
              <a:t>4-6  </a:t>
            </a:r>
            <a:r>
              <a:rPr lang="zh-CN" altLang="zh-CN" sz="2200" dirty="0">
                <a:latin typeface="Times New Roman" panose="02020603050405020304" pitchFamily="18" charset="0"/>
                <a:ea typeface="宋体" panose="02010600030101010101" pitchFamily="2" charset="-122"/>
              </a:rPr>
              <a:t>试编程实现统计字符串中空格的个数。</a:t>
            </a:r>
          </a:p>
          <a:p>
            <a:pPr algn="just"/>
            <a:r>
              <a:rPr lang="en-US" altLang="zh-CN" sz="2200" dirty="0">
                <a:latin typeface="Times New Roman" panose="02020603050405020304" pitchFamily="18" charset="0"/>
                <a:ea typeface="宋体" panose="02010600030101010101" pitchFamily="2" charset="-122"/>
              </a:rPr>
              <a:t>4-7  </a:t>
            </a:r>
            <a:r>
              <a:rPr lang="zh-CN" altLang="zh-CN" sz="2200" dirty="0">
                <a:latin typeface="Times New Roman" panose="02020603050405020304" pitchFamily="18" charset="0"/>
                <a:ea typeface="宋体" panose="02010600030101010101" pitchFamily="2" charset="-122"/>
              </a:rPr>
              <a:t>设从</a:t>
            </a:r>
            <a:r>
              <a:rPr lang="en-US" altLang="zh-CN" sz="2200" dirty="0">
                <a:latin typeface="Times New Roman" panose="02020603050405020304" pitchFamily="18" charset="0"/>
                <a:ea typeface="宋体" panose="02010600030101010101" pitchFamily="2" charset="-122"/>
              </a:rPr>
              <a:t>BLOCK</a:t>
            </a:r>
            <a:r>
              <a:rPr lang="zh-CN" altLang="zh-CN" sz="2200" dirty="0">
                <a:latin typeface="Times New Roman" panose="02020603050405020304" pitchFamily="18" charset="0"/>
                <a:ea typeface="宋体" panose="02010600030101010101" pitchFamily="2" charset="-122"/>
              </a:rPr>
              <a:t>开始有</a:t>
            </a:r>
            <a:r>
              <a:rPr lang="en-US" altLang="zh-CN" sz="2200" dirty="0">
                <a:latin typeface="Times New Roman" panose="02020603050405020304" pitchFamily="18" charset="0"/>
                <a:ea typeface="宋体" panose="02010600030101010101" pitchFamily="2" charset="-122"/>
              </a:rPr>
              <a:t>20</a:t>
            </a:r>
            <a:r>
              <a:rPr lang="zh-CN" altLang="zh-CN" sz="2200" dirty="0">
                <a:latin typeface="Times New Roman" panose="02020603050405020304" pitchFamily="18" charset="0"/>
                <a:ea typeface="宋体" panose="02010600030101010101" pitchFamily="2" charset="-122"/>
              </a:rPr>
              <a:t>个单字节的数，找出最大的数，并保存到</a:t>
            </a:r>
            <a:r>
              <a:rPr lang="en-US" altLang="zh-CN" sz="2200" dirty="0">
                <a:latin typeface="Times New Roman" panose="02020603050405020304" pitchFamily="18" charset="0"/>
                <a:ea typeface="宋体" panose="02010600030101010101" pitchFamily="2" charset="-122"/>
              </a:rPr>
              <a:t>SUM</a:t>
            </a:r>
            <a:r>
              <a:rPr lang="zh-CN" altLang="zh-CN" sz="2200" dirty="0">
                <a:latin typeface="Times New Roman" panose="02020603050405020304" pitchFamily="18" charset="0"/>
                <a:ea typeface="宋体" panose="02010600030101010101" pitchFamily="2" charset="-122"/>
              </a:rPr>
              <a:t>中。</a:t>
            </a:r>
          </a:p>
          <a:p>
            <a:pPr algn="just"/>
            <a:r>
              <a:rPr lang="en-US" altLang="zh-CN" sz="2200" dirty="0">
                <a:latin typeface="Times New Roman" panose="02020603050405020304" pitchFamily="18" charset="0"/>
                <a:ea typeface="宋体" panose="02010600030101010101" pitchFamily="2" charset="-122"/>
              </a:rPr>
              <a:t>4-8  </a:t>
            </a:r>
            <a:r>
              <a:rPr lang="zh-CN" altLang="zh-CN" sz="2200" dirty="0">
                <a:latin typeface="Times New Roman" panose="02020603050405020304" pitchFamily="18" charset="0"/>
                <a:ea typeface="宋体" panose="02010600030101010101" pitchFamily="2" charset="-122"/>
              </a:rPr>
              <a:t>试编写一个汇编语言程序，要求对键盘输入的小写字母用大写字母显示出来。</a:t>
            </a:r>
          </a:p>
          <a:p>
            <a:pPr algn="just"/>
            <a:r>
              <a:rPr lang="en-US" altLang="zh-CN" sz="2200" dirty="0">
                <a:latin typeface="Times New Roman" panose="02020603050405020304" pitchFamily="18" charset="0"/>
                <a:ea typeface="宋体" panose="02010600030101010101" pitchFamily="2" charset="-122"/>
              </a:rPr>
              <a:t>4-9  </a:t>
            </a:r>
            <a:r>
              <a:rPr lang="zh-CN" altLang="zh-CN" sz="2200" dirty="0">
                <a:latin typeface="Times New Roman" panose="02020603050405020304" pitchFamily="18" charset="0"/>
                <a:ea typeface="宋体" panose="02010600030101010101" pitchFamily="2" charset="-122"/>
              </a:rPr>
              <a:t>在</a:t>
            </a:r>
            <a:r>
              <a:rPr lang="en-US" altLang="zh-CN" sz="2200" dirty="0">
                <a:latin typeface="Times New Roman" panose="02020603050405020304" pitchFamily="18" charset="0"/>
                <a:ea typeface="宋体" panose="02010600030101010101" pitchFamily="2" charset="-122"/>
              </a:rPr>
              <a:t>DATA</a:t>
            </a:r>
            <a:r>
              <a:rPr lang="zh-CN" altLang="zh-CN" sz="2200" dirty="0">
                <a:latin typeface="Times New Roman" panose="02020603050405020304" pitchFamily="18" charset="0"/>
                <a:ea typeface="宋体" panose="02010600030101010101" pitchFamily="2" charset="-122"/>
              </a:rPr>
              <a:t>数据区中有</a:t>
            </a:r>
            <a:r>
              <a:rPr lang="en-US" altLang="zh-CN" sz="2200" dirty="0">
                <a:latin typeface="Times New Roman" panose="02020603050405020304" pitchFamily="18" charset="0"/>
                <a:ea typeface="宋体" panose="02010600030101010101" pitchFamily="2" charset="-122"/>
              </a:rPr>
              <a:t>20</a:t>
            </a:r>
            <a:r>
              <a:rPr lang="zh-CN" altLang="zh-CN" sz="2200" dirty="0">
                <a:latin typeface="Times New Roman" panose="02020603050405020304" pitchFamily="18" charset="0"/>
                <a:ea typeface="宋体" panose="02010600030101010101" pitchFamily="2" charset="-122"/>
              </a:rPr>
              <a:t>个字符的字符串，试编程实现按</a:t>
            </a:r>
            <a:r>
              <a:rPr lang="en-US" altLang="zh-CN" sz="2200" dirty="0">
                <a:latin typeface="Times New Roman" panose="02020603050405020304" pitchFamily="18" charset="0"/>
                <a:ea typeface="宋体" panose="02010600030101010101" pitchFamily="2" charset="-122"/>
              </a:rPr>
              <a:t>ASCII</a:t>
            </a:r>
            <a:r>
              <a:rPr lang="zh-CN" altLang="zh-CN" sz="2200" dirty="0">
                <a:latin typeface="Times New Roman" panose="02020603050405020304" pitchFamily="18" charset="0"/>
                <a:ea typeface="宋体" panose="02010600030101010101" pitchFamily="2" charset="-122"/>
              </a:rPr>
              <a:t>码值进行升序的排序。</a:t>
            </a:r>
          </a:p>
          <a:p>
            <a:pPr algn="just"/>
            <a:r>
              <a:rPr lang="en-US" altLang="zh-CN" sz="2200" dirty="0">
                <a:latin typeface="Times New Roman" panose="02020603050405020304" pitchFamily="18" charset="0"/>
                <a:ea typeface="宋体" panose="02010600030101010101" pitchFamily="2" charset="-122"/>
              </a:rPr>
              <a:t>4-10 </a:t>
            </a:r>
            <a:r>
              <a:rPr lang="zh-CN" altLang="zh-CN" sz="2200" dirty="0">
                <a:latin typeface="Times New Roman" panose="02020603050405020304" pitchFamily="18" charset="0"/>
                <a:ea typeface="宋体" panose="02010600030101010101" pitchFamily="2" charset="-122"/>
              </a:rPr>
              <a:t>调用</a:t>
            </a:r>
            <a:r>
              <a:rPr lang="en-US" altLang="zh-CN" sz="2200" dirty="0">
                <a:latin typeface="Times New Roman" panose="02020603050405020304" pitchFamily="18" charset="0"/>
                <a:ea typeface="宋体" panose="02010600030101010101" pitchFamily="2" charset="-122"/>
              </a:rPr>
              <a:t>BIOS</a:t>
            </a:r>
            <a:r>
              <a:rPr lang="zh-CN" altLang="zh-CN" sz="2200" dirty="0">
                <a:latin typeface="Times New Roman" panose="02020603050405020304" pitchFamily="18" charset="0"/>
                <a:ea typeface="宋体" panose="02010600030101010101" pitchFamily="2" charset="-122"/>
              </a:rPr>
              <a:t>显示程序中的</a:t>
            </a:r>
            <a:r>
              <a:rPr lang="en-US" altLang="zh-CN" sz="2200" dirty="0">
                <a:latin typeface="Times New Roman" panose="02020603050405020304" pitchFamily="18" charset="0"/>
                <a:ea typeface="宋体" panose="02010600030101010101" pitchFamily="2" charset="-122"/>
              </a:rPr>
              <a:t>13H</a:t>
            </a:r>
            <a:r>
              <a:rPr lang="zh-CN" altLang="zh-CN" sz="2200" dirty="0">
                <a:latin typeface="Times New Roman" panose="02020603050405020304" pitchFamily="18" charset="0"/>
                <a:ea typeface="宋体" panose="02010600030101010101" pitchFamily="2" charset="-122"/>
              </a:rPr>
              <a:t>功能在屏幕上显示多种属性的字符串。</a:t>
            </a:r>
          </a:p>
        </p:txBody>
      </p:sp>
    </p:spTree>
  </p:cSld>
  <p:clrMapOvr>
    <a:masterClrMapping/>
  </p:clrMapOvr>
  <p:transition spd="med">
    <p:random/>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TAwNWQ1MGFjZWY2ZGU4NzY5ZmZjNDc2ZWQwNjNjYzUifQ=="/>
</p:tagLst>
</file>

<file path=ppt/theme/theme1.xml><?xml version="1.0" encoding="utf-8"?>
<a:theme xmlns:a="http://schemas.openxmlformats.org/drawingml/2006/main" name="项目总览">
  <a:themeElements>
    <a:clrScheme name="">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FF00"/>
      </a:hlink>
      <a:folHlink>
        <a:srgbClr val="FF7C80"/>
      </a:folHlink>
    </a:clrScheme>
    <a:fontScheme name="项目总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Tx/>
          <a:buNone/>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Tx/>
          <a:buNone/>
          <a:defRPr kumimoji="1" lang="zh-CN" altLang="en-US"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项目总览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项目总览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项目总览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项目总览">
  <a:themeElements>
    <a:clrScheme name="">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FF00"/>
      </a:hlink>
      <a:folHlink>
        <a:srgbClr val="FF7C80"/>
      </a:folHlink>
    </a:clrScheme>
    <a:fontScheme name="项目总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 typeface="Arial" panose="020B0604020202020204" pitchFamily="34" charset="0"/>
          <a:buNone/>
          <a:defRPr kumimoji="0" lang="zh-CN"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 typeface="Arial" panose="020B0604020202020204" pitchFamily="34" charset="0"/>
          <a:buNone/>
          <a:defRPr kumimoji="0" lang="zh-CN"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项目总览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项目总览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项目总览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Office\Templates\2052\项目总览.pot</Template>
  <TotalTime>3498</TotalTime>
  <Words>13233</Words>
  <Application>Microsoft Office PowerPoint</Application>
  <PresentationFormat>On-screen Show (4:3)</PresentationFormat>
  <Paragraphs>945</Paragraphs>
  <Slides>77</Slides>
  <Notes>64</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77</vt:i4>
      </vt:variant>
    </vt:vector>
  </HeadingPairs>
  <TitlesOfParts>
    <vt:vector size="86" baseType="lpstr">
      <vt:lpstr>华文中宋</vt:lpstr>
      <vt:lpstr>隶书</vt:lpstr>
      <vt:lpstr>宋体</vt:lpstr>
      <vt:lpstr>Arial</vt:lpstr>
      <vt:lpstr>Times New Roman</vt:lpstr>
      <vt:lpstr>Wingdings</vt:lpstr>
      <vt:lpstr>项目总览</vt:lpstr>
      <vt:lpstr>1_项目总览</vt:lpstr>
      <vt:lpstr>Visio</vt:lpstr>
      <vt:lpstr>PowerPoint Presentation</vt:lpstr>
      <vt:lpstr>第4章  汇编语言程序设计</vt:lpstr>
      <vt:lpstr>4. 1  汇编语言概述</vt:lpstr>
      <vt:lpstr>4. 2  汇编语言源程序的结构及组成</vt:lpstr>
      <vt:lpstr>4.2.1  源程序的基本结构</vt:lpstr>
      <vt:lpstr>PowerPoint Presentation</vt:lpstr>
      <vt:lpstr>4.2.1  源程序的基本结构</vt:lpstr>
      <vt:lpstr>4.2.2  汇编语言语句的类型和组成</vt:lpstr>
      <vt:lpstr>4.2.2  汇编语言语句的类型和组成</vt:lpstr>
      <vt:lpstr>4.2.2  汇编语言语句的类型和组成</vt:lpstr>
      <vt:lpstr>4.2.2  汇编语言语句的类型和组成</vt:lpstr>
      <vt:lpstr>4.2.2  汇编语言语句的类型和组成</vt:lpstr>
      <vt:lpstr>4.2.2  汇编语言语句的类型和组成</vt:lpstr>
      <vt:lpstr>4.2.2  汇编语言语句的类型和组成</vt:lpstr>
      <vt:lpstr>4.2.2  汇编语言语句的类型和组成</vt:lpstr>
      <vt:lpstr>4.3  伪操作指令</vt:lpstr>
      <vt:lpstr>4.3.1  处理器方式伪指令</vt:lpstr>
      <vt:lpstr>4.3.2  数据定义伪指令</vt:lpstr>
      <vt:lpstr>4.3.3  符号定义伪指令</vt:lpstr>
      <vt:lpstr>4.3.3  符号定义伪指令</vt:lpstr>
      <vt:lpstr>4.3.4  段定义伪指令</vt:lpstr>
      <vt:lpstr>4.3.4  段定义伪指令</vt:lpstr>
      <vt:lpstr>4.3.4  段定义伪指令</vt:lpstr>
      <vt:lpstr>4.3.5  过程定义伪指令</vt:lpstr>
      <vt:lpstr>4.3.6  模块定义和结束伪指令</vt:lpstr>
      <vt:lpstr>4.3.7  宏处理伪指令</vt:lpstr>
      <vt:lpstr>4.3.7  宏处理伪指令</vt:lpstr>
      <vt:lpstr>4.3.7  宏处理伪指令</vt:lpstr>
      <vt:lpstr>4.3.8  模块连接伪指令</vt:lpstr>
      <vt:lpstr>4.3  DOS系统功能调用</vt:lpstr>
      <vt:lpstr>PowerPoint Presentation</vt:lpstr>
      <vt:lpstr>PowerPoint Presentation</vt:lpstr>
      <vt:lpstr>1.  系统功能调用的方法</vt:lpstr>
      <vt:lpstr>2、常用的DOS系统功能调用</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4.4  汇编程序的功能及汇编过程</vt:lpstr>
      <vt:lpstr>4.4.1  汇编程序的功能</vt:lpstr>
      <vt:lpstr>4.4.2  程序的编辑、汇编及连接过程</vt:lpstr>
      <vt:lpstr>4.4.2  程序的编辑、汇编及连接过程</vt:lpstr>
      <vt:lpstr>4.4.2  程序的编辑、汇编及连接过程</vt:lpstr>
      <vt:lpstr>4.5  汇编程序设计方法及应用</vt:lpstr>
      <vt:lpstr>4.5.1  概述</vt:lpstr>
      <vt:lpstr>4.5.2  顺序结构程序设计</vt:lpstr>
      <vt:lpstr>4.5.3  分支程序设计</vt:lpstr>
      <vt:lpstr>4.5.3  分支程序设计</vt:lpstr>
      <vt:lpstr>4.5.4  循环结构程序设计</vt:lpstr>
      <vt:lpstr>PowerPoint Presentation</vt:lpstr>
      <vt:lpstr>4.5.4  循环结构程序设计</vt:lpstr>
      <vt:lpstr>PowerPoint Presentation</vt:lpstr>
      <vt:lpstr>4.5.5  子程序设计</vt:lpstr>
      <vt:lpstr>4.5.5  子程序设计</vt:lpstr>
      <vt:lpstr>PowerPoint Presentation</vt:lpstr>
      <vt:lpstr>4.5.5  子程序设计</vt:lpstr>
      <vt:lpstr>PowerPoint Presentation</vt:lpstr>
      <vt:lpstr>PowerPoint Presentation</vt:lpstr>
      <vt:lpstr>4.5.6  宏定义与使用</vt:lpstr>
      <vt:lpstr>4.5.6  宏定义与使用</vt:lpstr>
      <vt:lpstr>4.5.7  系统功能调用</vt:lpstr>
      <vt:lpstr>4.5.7  系统功能调用</vt:lpstr>
      <vt:lpstr>4.5.7  系统功能调用</vt:lpstr>
      <vt:lpstr>4.5.7  系统功能调用</vt:lpstr>
      <vt:lpstr>4.5.7  系统功能调用</vt:lpstr>
      <vt:lpstr>4.5.7  系统功能调用</vt:lpstr>
      <vt:lpstr>4.5.7  系统功能调用</vt:lpstr>
      <vt:lpstr>4.5.7  系统功能调用</vt:lpstr>
      <vt:lpstr>4.5.7  系统功能调用</vt:lpstr>
      <vt:lpstr>4.5.7  系统功能调用</vt:lpstr>
      <vt:lpstr>PowerPoint Presentation</vt:lpstr>
      <vt:lpstr>PowerPoint Presentation</vt:lpstr>
      <vt:lpstr>4.5.7  系统功能调用</vt:lpstr>
      <vt:lpstr>思考与练习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Dongming Guo</cp:lastModifiedBy>
  <cp:revision>661</cp:revision>
  <dcterms:created xsi:type="dcterms:W3CDTF">2016-01-26T02:05:00Z</dcterms:created>
  <dcterms:modified xsi:type="dcterms:W3CDTF">2025-10-22T08:25:23Z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2052-12.1.0.17133</vt:lpwstr>
  </property>
  <property fmtid="{D5CDD505-2E9C-101B-9397-08002B2CF9AE}" pid="3" name="ICV">
    <vt:lpwstr>3D753B0F46E24789BA67546562A752EC_12</vt:lpwstr>
  </property>
</Properties>
</file>